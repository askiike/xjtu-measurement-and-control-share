
<file path=[Content_Types].xml><?xml version="1.0" encoding="utf-8"?>
<Types xmlns="http://schemas.openxmlformats.org/package/2006/content-types">
  <Default Extension="png" ContentType="image/png"/>
  <Default Extension="bin" ContentType="application/vnd.openxmlformats-officedocument.oleObject"/>
  <Default Extension="vsd" ContentType="application/vnd.visio"/>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5" r:id="rId2"/>
    <p:sldId id="358" r:id="rId3"/>
    <p:sldId id="359" r:id="rId4"/>
    <p:sldId id="335" r:id="rId5"/>
    <p:sldId id="376" r:id="rId6"/>
    <p:sldId id="377" r:id="rId7"/>
    <p:sldId id="378" r:id="rId8"/>
    <p:sldId id="379" r:id="rId9"/>
    <p:sldId id="380" r:id="rId10"/>
    <p:sldId id="381" r:id="rId11"/>
    <p:sldId id="382" r:id="rId12"/>
    <p:sldId id="383" r:id="rId13"/>
    <p:sldId id="384" r:id="rId14"/>
    <p:sldId id="385" r:id="rId15"/>
    <p:sldId id="386" r:id="rId16"/>
    <p:sldId id="387" r:id="rId17"/>
    <p:sldId id="388" r:id="rId18"/>
    <p:sldId id="389" r:id="rId19"/>
    <p:sldId id="390" r:id="rId20"/>
    <p:sldId id="391" r:id="rId21"/>
    <p:sldId id="392" r:id="rId22"/>
    <p:sldId id="393" r:id="rId23"/>
    <p:sldId id="394" r:id="rId24"/>
    <p:sldId id="395" r:id="rId25"/>
    <p:sldId id="396" r:id="rId26"/>
    <p:sldId id="397" r:id="rId27"/>
    <p:sldId id="398" r:id="rId28"/>
    <p:sldId id="399" r:id="rId29"/>
    <p:sldId id="400" r:id="rId30"/>
    <p:sldId id="401" r:id="rId31"/>
    <p:sldId id="402" r:id="rId32"/>
    <p:sldId id="403" r:id="rId33"/>
    <p:sldId id="404" r:id="rId34"/>
    <p:sldId id="405" r:id="rId35"/>
    <p:sldId id="406" r:id="rId36"/>
    <p:sldId id="407" r:id="rId37"/>
    <p:sldId id="408" r:id="rId38"/>
    <p:sldId id="409" r:id="rId39"/>
    <p:sldId id="410" r:id="rId40"/>
    <p:sldId id="411" r:id="rId41"/>
    <p:sldId id="412" r:id="rId42"/>
    <p:sldId id="413" r:id="rId43"/>
  </p:sldIdLst>
  <p:sldSz cx="13717588" cy="7715250"/>
  <p:notesSz cx="6858000" cy="9144000"/>
  <p:defaultTextStyle>
    <a:defPPr>
      <a:defRPr lang="zh-CN"/>
    </a:defPPr>
    <a:lvl1pPr algn="l" defTabSz="1028700" rtl="0" fontAlgn="base">
      <a:spcBef>
        <a:spcPct val="0"/>
      </a:spcBef>
      <a:spcAft>
        <a:spcPct val="0"/>
      </a:spcAft>
      <a:defRPr sz="2000" kern="1200">
        <a:solidFill>
          <a:schemeClr val="tx1"/>
        </a:solidFill>
        <a:latin typeface="Arial" pitchFamily="34" charset="0"/>
        <a:ea typeface="宋体" pitchFamily="2" charset="-122"/>
        <a:cs typeface="+mn-cs"/>
      </a:defRPr>
    </a:lvl1pPr>
    <a:lvl2pPr marL="514350" indent="-571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2pPr>
    <a:lvl3pPr marL="1028700" indent="-1143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3pPr>
    <a:lvl4pPr marL="1543050" indent="-1714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4pPr>
    <a:lvl5pPr marL="2057400" indent="-2286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430">
          <p15:clr>
            <a:srgbClr val="A4A3A4"/>
          </p15:clr>
        </p15:guide>
        <p15:guide id="2" pos="4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96" d="100"/>
          <a:sy n="96" d="100"/>
        </p:scale>
        <p:origin x="1248" y="192"/>
      </p:cViewPr>
      <p:guideLst>
        <p:guide orient="horz" pos="2430"/>
        <p:guide pos="43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oleObject" Target="file:///E:\2013&#24180;&#20809;&#30005;&#25216;&#26415;&#35762;&#20041;&#32534;&#20889;\2014&#20809;&#30005;&#25216;&#26415;&#36164;&#28304;&#20849;&#20139;&#35838;\&#31532;8&#31456;\&#22270;&#20687;&#20256;&#24863;&#22120;&#29992;&#25143;&#24066;&#22330;.xls"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endParaRPr lang="zh-CN" dirty="0"/>
          </a:p>
        </c:rich>
      </c:tx>
      <c:layout>
        <c:manualLayout>
          <c:xMode val="edge"/>
          <c:yMode val="edge"/>
          <c:x val="1.6660408669192991E-2"/>
          <c:y val="0.86740240954860603"/>
        </c:manualLayout>
      </c:layout>
      <c:overlay val="0"/>
    </c:title>
    <c:autoTitleDeleted val="0"/>
    <c:plotArea>
      <c:layout/>
      <c:pieChart>
        <c:varyColors val="1"/>
        <c:ser>
          <c:idx val="0"/>
          <c:order val="0"/>
          <c:explosion val="25"/>
          <c:dLbls>
            <c:dLbl>
              <c:idx val="0"/>
              <c:layout>
                <c:manualLayout>
                  <c:x val="0.12701401846328833"/>
                  <c:y val="0.21423406776972156"/>
                </c:manualLayout>
              </c:layout>
              <c:numFmt formatCode="0.0%" sourceLinked="0"/>
              <c:spPr/>
              <c:txPr>
                <a:bodyPr/>
                <a:lstStyle/>
                <a:p>
                  <a:pPr>
                    <a:defRPr sz="2000">
                      <a:solidFill>
                        <a:srgbClr val="0000CC"/>
                      </a:solidFill>
                      <a:latin typeface="微软雅黑" pitchFamily="34" charset="-122"/>
                      <a:ea typeface="微软雅黑" pitchFamily="34" charset="-122"/>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1"/>
              <c:layout>
                <c:manualLayout>
                  <c:x val="8.4436030914507521E-2"/>
                  <c:y val="1.1086536577163163E-4"/>
                </c:manualLayout>
              </c:layout>
              <c:numFmt formatCode="0.0%" sourceLinked="0"/>
              <c:spPr/>
              <c:txPr>
                <a:bodyPr/>
                <a:lstStyle/>
                <a:p>
                  <a:pPr>
                    <a:defRPr sz="2000">
                      <a:solidFill>
                        <a:srgbClr val="FF0000"/>
                      </a:solidFill>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2"/>
              <c:layout>
                <c:manualLayout>
                  <c:x val="0.1186724234753956"/>
                  <c:y val="-1.7985625897381601E-2"/>
                </c:manualLayout>
              </c:layout>
              <c:numFmt formatCode="0.0%" sourceLinked="0"/>
              <c:spPr/>
              <c:txPr>
                <a:bodyPr/>
                <a:lstStyle/>
                <a:p>
                  <a:pPr>
                    <a:defRPr sz="1800">
                      <a:solidFill>
                        <a:srgbClr val="0000CC"/>
                      </a:solidFill>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3"/>
              <c:layout>
                <c:manualLayout>
                  <c:x val="0.10838906519241388"/>
                  <c:y val="-4.6592031670001591E-3"/>
                </c:manualLayout>
              </c:layout>
              <c:numFmt formatCode="0.0%" sourceLinked="0"/>
              <c:spPr/>
              <c:txPr>
                <a:bodyPr/>
                <a:lstStyle/>
                <a:p>
                  <a:pPr>
                    <a:defRPr>
                      <a:solidFill>
                        <a:srgbClr val="FF0000"/>
                      </a:solidFill>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4"/>
              <c:numFmt formatCode="0.0%" sourceLinked="0"/>
              <c:spPr/>
              <c:txPr>
                <a:bodyPr/>
                <a:lstStyle/>
                <a:p>
                  <a:pPr>
                    <a:defRPr>
                      <a:solidFill>
                        <a:srgbClr val="FF00FF"/>
                      </a:solidFill>
                    </a:defRPr>
                  </a:pPr>
                  <a:endParaRPr lang="zh-CN"/>
                </a:p>
              </c:txPr>
              <c:showLegendKey val="0"/>
              <c:showVal val="0"/>
              <c:showCatName val="1"/>
              <c:showSerName val="0"/>
              <c:showPercent val="1"/>
              <c:showBubbleSize val="0"/>
            </c:dLbl>
            <c:dLbl>
              <c:idx val="5"/>
              <c:layout>
                <c:manualLayout>
                  <c:x val="-7.8864834939827502E-2"/>
                  <c:y val="2.6697203241899409E-2"/>
                </c:manualLayout>
              </c:layout>
              <c:numFmt formatCode="0.0%" sourceLinked="0"/>
              <c:spPr/>
              <c:txPr>
                <a:bodyPr/>
                <a:lstStyle/>
                <a:p>
                  <a:pPr>
                    <a:defRPr sz="1800">
                      <a:solidFill>
                        <a:srgbClr val="FF0000"/>
                      </a:solidFill>
                      <a:latin typeface="Times New Roman" pitchFamily="18" charset="0"/>
                      <a:ea typeface="微软雅黑" pitchFamily="34" charset="-122"/>
                      <a:cs typeface="Times New Roman" pitchFamily="18" charset="0"/>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6"/>
              <c:layout>
                <c:manualLayout>
                  <c:x val="-4.1474466546886413E-2"/>
                  <c:y val="3.0260085668691754E-2"/>
                </c:manualLayout>
              </c:layout>
              <c:numFmt formatCode="0.0%" sourceLinked="0"/>
              <c:spPr/>
              <c:txPr>
                <a:bodyPr/>
                <a:lstStyle/>
                <a:p>
                  <a:pPr>
                    <a:defRPr sz="1800">
                      <a:solidFill>
                        <a:srgbClr val="0000CC"/>
                      </a:solidFill>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7"/>
              <c:layout>
                <c:manualLayout>
                  <c:x val="-3.9241761263983814E-2"/>
                  <c:y val="3.6150134848866609E-2"/>
                </c:manualLayout>
              </c:layout>
              <c:numFmt formatCode="0.0%" sourceLinked="0"/>
              <c:spPr/>
              <c:txPr>
                <a:bodyPr/>
                <a:lstStyle/>
                <a:p>
                  <a:pPr>
                    <a:defRPr sz="1800">
                      <a:solidFill>
                        <a:srgbClr val="FF0000"/>
                      </a:solidFill>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8"/>
              <c:layout>
                <c:manualLayout>
                  <c:x val="-8.8598010944908226E-2"/>
                  <c:y val="5.5824817790718323E-2"/>
                </c:manualLayout>
              </c:layout>
              <c:numFmt formatCode="0.0%" sourceLinked="0"/>
              <c:spPr/>
              <c:txPr>
                <a:bodyPr/>
                <a:lstStyle/>
                <a:p>
                  <a:pPr>
                    <a:defRPr sz="1800">
                      <a:solidFill>
                        <a:srgbClr val="0000CC"/>
                      </a:solidFill>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9"/>
              <c:layout>
                <c:manualLayout>
                  <c:x val="-0.15229241700879842"/>
                  <c:y val="3.7540617971761198E-2"/>
                </c:manualLayout>
              </c:layout>
              <c:numFmt formatCode="0.0%" sourceLinked="0"/>
              <c:spPr/>
              <c:txPr>
                <a:bodyPr/>
                <a:lstStyle/>
                <a:p>
                  <a:pPr>
                    <a:defRPr sz="1800">
                      <a:solidFill>
                        <a:srgbClr val="FF0000"/>
                      </a:solidFill>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10"/>
              <c:layout>
                <c:manualLayout>
                  <c:x val="-0.19466928404666323"/>
                  <c:y val="-1.5348134046305936E-2"/>
                </c:manualLayout>
              </c:layout>
              <c:numFmt formatCode="0.0%" sourceLinked="0"/>
              <c:spPr/>
              <c:txPr>
                <a:bodyPr/>
                <a:lstStyle/>
                <a:p>
                  <a:pPr>
                    <a:defRPr sz="1800">
                      <a:solidFill>
                        <a:srgbClr val="0000CC"/>
                      </a:solidFill>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11"/>
              <c:layout>
                <c:manualLayout>
                  <c:x val="-9.542066917755114E-2"/>
                  <c:y val="-4.7498343551984477E-2"/>
                </c:manualLayout>
              </c:layout>
              <c:numFmt formatCode="0.0%" sourceLinked="0"/>
              <c:spPr/>
              <c:txPr>
                <a:bodyPr/>
                <a:lstStyle/>
                <a:p>
                  <a:pPr>
                    <a:defRPr sz="1800">
                      <a:solidFill>
                        <a:srgbClr val="FF0000"/>
                      </a:solidFill>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12"/>
              <c:layout>
                <c:manualLayout>
                  <c:x val="-2.6297313068400618E-2"/>
                  <c:y val="-3.7479959312037493E-2"/>
                </c:manualLayout>
              </c:layout>
              <c:numFmt formatCode="0.0%" sourceLinked="0"/>
              <c:spPr/>
              <c:txPr>
                <a:bodyPr/>
                <a:lstStyle/>
                <a:p>
                  <a:pPr>
                    <a:defRPr>
                      <a:solidFill>
                        <a:srgbClr val="0000CC"/>
                      </a:solidFill>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13"/>
              <c:layout>
                <c:manualLayout>
                  <c:x val="2.2269138905037088E-2"/>
                  <c:y val="-3.0292561381897589E-2"/>
                </c:manualLayout>
              </c:layout>
              <c:numFmt formatCode="0.0%" sourceLinked="0"/>
              <c:spPr/>
              <c:txPr>
                <a:bodyPr/>
                <a:lstStyle/>
                <a:p>
                  <a:pPr>
                    <a:defRPr>
                      <a:solidFill>
                        <a:srgbClr val="FF0000"/>
                      </a:solidFill>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14"/>
              <c:layout>
                <c:manualLayout>
                  <c:x val="0.20463198857750822"/>
                  <c:y val="5.9258844499192808E-4"/>
                </c:manualLayout>
              </c:layout>
              <c:tx>
                <c:rich>
                  <a:bodyPr/>
                  <a:lstStyle/>
                  <a:p>
                    <a:pPr>
                      <a:defRPr sz="1600">
                        <a:solidFill>
                          <a:srgbClr val="0000CC"/>
                        </a:solidFill>
                      </a:defRPr>
                    </a:pPr>
                    <a:r>
                      <a:rPr lang="zh-CN" altLang="en-US" sz="1600" dirty="0">
                        <a:solidFill>
                          <a:srgbClr val="0000CC"/>
                        </a:solidFill>
                      </a:rPr>
                      <a:t>航空航天</a:t>
                    </a:r>
                    <a:r>
                      <a:rPr lang="zh-CN" altLang="en-US" sz="1600" dirty="0" smtClean="0">
                        <a:solidFill>
                          <a:srgbClr val="0000CC"/>
                        </a:solidFill>
                      </a:rPr>
                      <a:t>和</a:t>
                    </a:r>
                  </a:p>
                  <a:p>
                    <a:pPr>
                      <a:defRPr sz="1600">
                        <a:solidFill>
                          <a:srgbClr val="0000CC"/>
                        </a:solidFill>
                      </a:defRPr>
                    </a:pPr>
                    <a:r>
                      <a:rPr lang="zh-CN" altLang="en-US" sz="1600" dirty="0" smtClean="0">
                        <a:solidFill>
                          <a:srgbClr val="0000CC"/>
                        </a:solidFill>
                      </a:rPr>
                      <a:t>国防</a:t>
                    </a:r>
                    <a:r>
                      <a:rPr lang="zh-CN" altLang="en-US" sz="1600" dirty="0">
                        <a:solidFill>
                          <a:srgbClr val="0000CC"/>
                        </a:solidFill>
                      </a:rPr>
                      <a:t>
</a:t>
                    </a:r>
                    <a:r>
                      <a:rPr lang="en-US" altLang="zh-CN" sz="1600" dirty="0">
                        <a:solidFill>
                          <a:srgbClr val="0000CC"/>
                        </a:solidFill>
                      </a:rPr>
                      <a:t>1.0%</a:t>
                    </a:r>
                  </a:p>
                </c:rich>
              </c:tx>
              <c:numFmt formatCode="0.0%" sourceLinked="0"/>
              <c:spPr/>
              <c:showLegendKey val="0"/>
              <c:showVal val="0"/>
              <c:showCatName val="1"/>
              <c:showSerName val="0"/>
              <c:showPercent val="1"/>
              <c:showBubbleSize val="0"/>
              <c:extLst>
                <c:ext xmlns:c15="http://schemas.microsoft.com/office/drawing/2012/chart" uri="{CE6537A1-D6FC-4f65-9D91-7224C49458BB}">
                  <c15:layout/>
                </c:ext>
              </c:extLst>
            </c:dLbl>
            <c:dLbl>
              <c:idx val="15"/>
              <c:layout>
                <c:manualLayout>
                  <c:x val="0.37431333573772291"/>
                  <c:y val="-2.8600042976145428E-2"/>
                </c:manualLayout>
              </c:layout>
              <c:numFmt formatCode="0.0%" sourceLinked="0"/>
              <c:spPr/>
              <c:txPr>
                <a:bodyPr/>
                <a:lstStyle/>
                <a:p>
                  <a:pPr>
                    <a:defRPr sz="1600">
                      <a:solidFill>
                        <a:srgbClr val="FF0000"/>
                      </a:solidFill>
                    </a:defRPr>
                  </a:pPr>
                  <a:endParaRPr lang="zh-CN"/>
                </a:p>
              </c:txPr>
              <c:showLegendKey val="0"/>
              <c:showVal val="0"/>
              <c:showCatName val="1"/>
              <c:showSerName val="0"/>
              <c:showPercent val="1"/>
              <c:showBubbleSize val="0"/>
              <c:extLst>
                <c:ext xmlns:c15="http://schemas.microsoft.com/office/drawing/2012/chart" uri="{CE6537A1-D6FC-4f65-9D91-7224C49458BB}">
                  <c15:layout/>
                </c:ext>
              </c:extLst>
            </c:dLbl>
            <c:dLbl>
              <c:idx val="16"/>
              <c:layout>
                <c:manualLayout>
                  <c:x val="0.38395078908407859"/>
                  <c:y val="7.4935563051132012E-2"/>
                </c:manualLayout>
              </c:layout>
              <c:tx>
                <c:rich>
                  <a:bodyPr anchor="t" anchorCtr="0"/>
                  <a:lstStyle/>
                  <a:p>
                    <a:pPr>
                      <a:defRPr>
                        <a:solidFill>
                          <a:srgbClr val="00B050"/>
                        </a:solidFill>
                      </a:defRPr>
                    </a:pPr>
                    <a:r>
                      <a:rPr lang="zh-CN" altLang="en-US" dirty="0">
                        <a:solidFill>
                          <a:srgbClr val="00B050"/>
                        </a:solidFill>
                      </a:rPr>
                      <a:t>其它手</a:t>
                    </a:r>
                    <a:r>
                      <a:rPr lang="zh-CN" altLang="en-US" dirty="0" smtClean="0">
                        <a:solidFill>
                          <a:srgbClr val="00B050"/>
                        </a:solidFill>
                      </a:rPr>
                      <a:t>持通信</a:t>
                    </a:r>
                    <a:r>
                      <a:rPr lang="zh-CN" altLang="en-US" dirty="0">
                        <a:solidFill>
                          <a:srgbClr val="00B050"/>
                        </a:solidFill>
                      </a:rPr>
                      <a:t>
</a:t>
                    </a:r>
                    <a:r>
                      <a:rPr lang="en-US" altLang="zh-CN" dirty="0">
                        <a:solidFill>
                          <a:srgbClr val="00B050"/>
                        </a:solidFill>
                      </a:rPr>
                      <a:t>0.1%</a:t>
                    </a:r>
                  </a:p>
                </c:rich>
              </c:tx>
              <c:numFmt formatCode="0.0%" sourceLinked="0"/>
              <c:spPr/>
              <c:showLegendKey val="0"/>
              <c:showVal val="0"/>
              <c:showCatName val="1"/>
              <c:showSerName val="0"/>
              <c:showPercent val="1"/>
              <c:showBubbleSize val="0"/>
              <c:extLst>
                <c:ext xmlns:c15="http://schemas.microsoft.com/office/drawing/2012/chart" uri="{CE6537A1-D6FC-4f65-9D91-7224C49458BB}">
                  <c15:layout/>
                </c:ext>
              </c:extLst>
            </c:dLbl>
            <c:numFmt formatCode="0.0%" sourceLinked="0"/>
            <c:spPr>
              <a:noFill/>
              <a:ln>
                <a:noFill/>
              </a:ln>
              <a:effectLst/>
            </c:spPr>
            <c:txPr>
              <a:bodyPr/>
              <a:lstStyle/>
              <a:p>
                <a:pPr>
                  <a:defRPr>
                    <a:solidFill>
                      <a:schemeClr val="tx1"/>
                    </a:solidFill>
                  </a:defRPr>
                </a:pPr>
                <a:endParaRPr lang="zh-CN"/>
              </a:p>
            </c:txPr>
            <c:showLegendKey val="0"/>
            <c:showVal val="0"/>
            <c:showCatName val="1"/>
            <c:showSerName val="0"/>
            <c:showPercent val="1"/>
            <c:showBubbleSize val="0"/>
            <c:showLeaderLines val="1"/>
            <c:leaderLines>
              <c:spPr>
                <a:ln w="31750">
                  <a:solidFill>
                    <a:srgbClr val="FF0000"/>
                  </a:solidFill>
                  <a:tailEnd type="triangle" w="sm" len="lg"/>
                </a:ln>
              </c:spPr>
            </c:leaderLines>
            <c:extLst>
              <c:ext xmlns:c15="http://schemas.microsoft.com/office/drawing/2012/chart" uri="{CE6537A1-D6FC-4f65-9D91-7224C49458BB}">
                <c15:layout/>
              </c:ext>
            </c:extLst>
          </c:dLbls>
          <c:cat>
            <c:strRef>
              <c:f>Sheet1!$A$1:$A$17</c:f>
              <c:strCache>
                <c:ptCount val="17"/>
                <c:pt idx="0">
                  <c:v>数码相机</c:v>
                </c:pt>
                <c:pt idx="1">
                  <c:v>手机</c:v>
                </c:pt>
                <c:pt idx="2">
                  <c:v>机器视觉</c:v>
                </c:pt>
                <c:pt idx="3">
                  <c:v>安全和监视</c:v>
                </c:pt>
                <c:pt idx="4">
                  <c:v>摄像机</c:v>
                </c:pt>
                <c:pt idx="5">
                  <c:v>光学鼠标</c:v>
                </c:pt>
                <c:pt idx="6">
                  <c:v>其它消费电子</c:v>
                </c:pt>
                <c:pt idx="7">
                  <c:v>电脑摄像头</c:v>
                </c:pt>
                <c:pt idx="8">
                  <c:v>医学成像</c:v>
                </c:pt>
                <c:pt idx="9">
                  <c:v>文件扫描</c:v>
                </c:pt>
                <c:pt idx="10">
                  <c:v>条形码识别</c:v>
                </c:pt>
                <c:pt idx="11">
                  <c:v>科学成像</c:v>
                </c:pt>
                <c:pt idx="12">
                  <c:v>玩具</c:v>
                </c:pt>
                <c:pt idx="13">
                  <c:v>汽车</c:v>
                </c:pt>
                <c:pt idx="14">
                  <c:v>航空航天和国防</c:v>
                </c:pt>
                <c:pt idx="15">
                  <c:v>生物识别</c:v>
                </c:pt>
                <c:pt idx="16">
                  <c:v>其它手持式通信</c:v>
                </c:pt>
              </c:strCache>
            </c:strRef>
          </c:cat>
          <c:val>
            <c:numRef>
              <c:f>Sheet1!$B$1:$B$17</c:f>
              <c:numCache>
                <c:formatCode>0.0%</c:formatCode>
                <c:ptCount val="17"/>
                <c:pt idx="0">
                  <c:v>0.251</c:v>
                </c:pt>
                <c:pt idx="1">
                  <c:v>9.3000000000000235E-2</c:v>
                </c:pt>
                <c:pt idx="2">
                  <c:v>9.0000000000000066E-2</c:v>
                </c:pt>
                <c:pt idx="3">
                  <c:v>8.2000000000000003E-2</c:v>
                </c:pt>
                <c:pt idx="4">
                  <c:v>7.3000000000000037E-2</c:v>
                </c:pt>
                <c:pt idx="5">
                  <c:v>6.8000000000000033E-2</c:v>
                </c:pt>
                <c:pt idx="6">
                  <c:v>6.400000000000014E-2</c:v>
                </c:pt>
                <c:pt idx="7">
                  <c:v>6.400000000000014E-2</c:v>
                </c:pt>
                <c:pt idx="8">
                  <c:v>5.7000000000000127E-2</c:v>
                </c:pt>
                <c:pt idx="9">
                  <c:v>5.3000000000000033E-2</c:v>
                </c:pt>
                <c:pt idx="10">
                  <c:v>4.6000000000000013E-2</c:v>
                </c:pt>
                <c:pt idx="11">
                  <c:v>2.0000000000000021E-2</c:v>
                </c:pt>
                <c:pt idx="12">
                  <c:v>1.2000000000000007E-2</c:v>
                </c:pt>
                <c:pt idx="13">
                  <c:v>1.0999999999999998E-2</c:v>
                </c:pt>
                <c:pt idx="14">
                  <c:v>1.0000000000000011E-2</c:v>
                </c:pt>
                <c:pt idx="15">
                  <c:v>5.0000000000000122E-3</c:v>
                </c:pt>
                <c:pt idx="16">
                  <c:v>1.0000000000000035E-3</c:v>
                </c:pt>
              </c:numCache>
            </c:numRef>
          </c:val>
        </c:ser>
        <c:dLbls>
          <c:showLegendKey val="0"/>
          <c:showVal val="0"/>
          <c:showCatName val="1"/>
          <c:showSerName val="0"/>
          <c:showPercent val="1"/>
          <c:showBubbleSize val="0"/>
          <c:showLeaderLines val="1"/>
        </c:dLbls>
        <c:firstSliceAng val="0"/>
      </c:pieChart>
    </c:plotArea>
    <c:plotVisOnly val="1"/>
    <c:dispBlanksAs val="zero"/>
    <c:showDLblsOverMax val="0"/>
  </c:chart>
  <c:txPr>
    <a:bodyPr/>
    <a:lstStyle/>
    <a:p>
      <a:pPr>
        <a:defRPr sz="1600" b="1">
          <a:latin typeface="Times New Roman" pitchFamily="18" charset="0"/>
          <a:ea typeface="微软雅黑" pitchFamily="34" charset="-122"/>
          <a:cs typeface="Times New Roman" pitchFamily="18" charset="0"/>
        </a:defRPr>
      </a:pPr>
      <a:endParaRPr lang="zh-CN"/>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6DC8910A-C6A2-4D7C-BD93-C521D6BD6433}" type="datetimeFigureOut">
              <a:rPr lang="zh-CN" altLang="en-US"/>
              <a:pPr>
                <a:defRPr/>
              </a:pPr>
              <a:t>2022/10/20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8DF2088-823D-4D74-BE43-AD67773FB7FD}"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C951E60-6BA1-4729-9952-A43C217C343F}" type="datetimeFigureOut">
              <a:rPr lang="zh-CN" altLang="en-US"/>
              <a:pPr>
                <a:defRPr/>
              </a:pPr>
              <a:t>2022/10/20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00E123A-E67D-40E3-B244-7617A12C2EE8}"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1A473570-153D-4E02-9B57-64B7AE234C02}" type="datetimeFigureOut">
              <a:rPr lang="zh-CN" altLang="en-US"/>
              <a:pPr>
                <a:defRPr/>
              </a:pPr>
              <a:t>2022/10/20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49FADF3-1172-4E10-BBFB-CD0D60E871ED}"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43084" y="2053828"/>
            <a:ext cx="5829975" cy="489525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944529" y="2053828"/>
            <a:ext cx="5829975" cy="489525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6E9F5236-A7BF-4450-8619-512ACA2E5FAD}" type="datetimeFigureOut">
              <a:rPr lang="zh-CN" altLang="en-US"/>
              <a:pPr>
                <a:defRPr/>
              </a:pPr>
              <a:t>2022/10/20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0C65772-221E-4F74-BD7F-FDFD69183D86}"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smtClean="0"/>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smtClean="0"/>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FC21871A-3028-487B-9EE1-8ED6715DC044}" type="datetimeFigureOut">
              <a:rPr lang="zh-CN" altLang="en-US"/>
              <a:pPr>
                <a:defRPr/>
              </a:pPr>
              <a:t>2022/10/20</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0FF4EAC7-6345-4B8D-B93E-4DFEAE352C21}"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B53F73B8-BA7E-4CC2-B89A-F0852AC23335}" type="datetimeFigureOut">
              <a:rPr lang="zh-CN" altLang="en-US"/>
              <a:pPr>
                <a:defRPr/>
              </a:pPr>
              <a:t>2022/10/20</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A36513F5-2B26-45DB-A013-1F71E20F2395}"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FBB5DA72-EEA7-43F5-9B90-8DB50555F6AB}" type="datetimeFigureOut">
              <a:rPr lang="zh-CN" altLang="en-US"/>
              <a:pPr>
                <a:defRPr/>
              </a:pPr>
              <a:t>2022/10/20</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F86CCFF-D900-45E3-BEA1-DE43A272A078}"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BCAEA50-34BE-4426-A910-2520FAFCAC32}" type="datetimeFigureOut">
              <a:rPr lang="zh-CN" altLang="en-US"/>
              <a:pPr>
                <a:defRPr/>
              </a:pPr>
              <a:t>2022/10/20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C983F9C-D08E-443A-A77C-64039F525605}"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15D67478-E260-4CA5-B605-C5F018A2C076}" type="datetimeFigureOut">
              <a:rPr lang="zh-CN" altLang="en-US"/>
              <a:pPr>
                <a:defRPr/>
              </a:pPr>
              <a:t>2022/10/20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03D8454-3055-4313-9BC7-07DCCF0B062C}"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A1F52409-8E00-4C9A-ACA4-A595AA3510FE}" type="datetimeFigureOut">
              <a:rPr lang="zh-CN" altLang="en-US"/>
              <a:pPr>
                <a:defRPr/>
              </a:pPr>
              <a:t>2022/10/20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A9D8A56-4C8B-471F-89F1-E6E96F65C161}"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5B17A0C6-4079-4817-AB4E-EC1FB4DDB6D1}" type="datetimeFigureOut">
              <a:rPr lang="zh-CN" altLang="en-US"/>
              <a:pPr>
                <a:defRPr/>
              </a:pPr>
              <a:t>2022/10/20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3E2E52F-068F-459C-B9D5-8CECFD67EB5F}"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942975" y="411163"/>
            <a:ext cx="11831638" cy="1490662"/>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942975" y="2054225"/>
            <a:ext cx="11831638" cy="4894263"/>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C54C5F86-DB3F-402D-9A6D-81B1C8924029}" type="datetimeFigureOut">
              <a:rPr lang="zh-CN" altLang="en-US"/>
              <a:pPr>
                <a:defRPr/>
              </a:pPr>
              <a:t>2022/10/20</a:t>
            </a:fld>
            <a:endParaRPr lang="zh-CN" altLang="en-US"/>
          </a:p>
        </p:txBody>
      </p:sp>
      <p:sp>
        <p:nvSpPr>
          <p:cNvPr id="5" name="页脚占位符 4"/>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9688513" y="7151688"/>
            <a:ext cx="3086100" cy="4095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DBB6104A-D9DC-4DBB-8498-2F8B6390F50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l" defTabSz="1028700" rtl="0" fontAlgn="base">
        <a:lnSpc>
          <a:spcPct val="90000"/>
        </a:lnSpc>
        <a:spcBef>
          <a:spcPct val="0"/>
        </a:spcBef>
        <a:spcAft>
          <a:spcPct val="0"/>
        </a:spcAft>
        <a:defRPr sz="5000" kern="1200">
          <a:solidFill>
            <a:schemeClr val="tx1"/>
          </a:solidFill>
          <a:latin typeface="+mj-lt"/>
          <a:ea typeface="+mj-ea"/>
          <a:cs typeface="+mj-cs"/>
        </a:defRPr>
      </a:lvl1pPr>
      <a:lvl2pPr algn="l" defTabSz="1028700" rtl="0" fontAlgn="base">
        <a:lnSpc>
          <a:spcPct val="90000"/>
        </a:lnSpc>
        <a:spcBef>
          <a:spcPct val="0"/>
        </a:spcBef>
        <a:spcAft>
          <a:spcPct val="0"/>
        </a:spcAft>
        <a:defRPr sz="5000">
          <a:solidFill>
            <a:schemeClr val="tx1"/>
          </a:solidFill>
          <a:latin typeface="Calibri Light"/>
          <a:ea typeface="宋体" pitchFamily="2" charset="-122"/>
        </a:defRPr>
      </a:lvl2pPr>
      <a:lvl3pPr algn="l" defTabSz="1028700" rtl="0" fontAlgn="base">
        <a:lnSpc>
          <a:spcPct val="90000"/>
        </a:lnSpc>
        <a:spcBef>
          <a:spcPct val="0"/>
        </a:spcBef>
        <a:spcAft>
          <a:spcPct val="0"/>
        </a:spcAft>
        <a:defRPr sz="5000">
          <a:solidFill>
            <a:schemeClr val="tx1"/>
          </a:solidFill>
          <a:latin typeface="Calibri Light"/>
          <a:ea typeface="宋体" pitchFamily="2" charset="-122"/>
        </a:defRPr>
      </a:lvl3pPr>
      <a:lvl4pPr algn="l" defTabSz="1028700" rtl="0" fontAlgn="base">
        <a:lnSpc>
          <a:spcPct val="90000"/>
        </a:lnSpc>
        <a:spcBef>
          <a:spcPct val="0"/>
        </a:spcBef>
        <a:spcAft>
          <a:spcPct val="0"/>
        </a:spcAft>
        <a:defRPr sz="5000">
          <a:solidFill>
            <a:schemeClr val="tx1"/>
          </a:solidFill>
          <a:latin typeface="Calibri Light"/>
          <a:ea typeface="宋体" pitchFamily="2" charset="-122"/>
        </a:defRPr>
      </a:lvl4pPr>
      <a:lvl5pPr algn="l" defTabSz="1028700" rtl="0" fontAlgn="base">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fontAlgn="base">
        <a:lnSpc>
          <a:spcPct val="90000"/>
        </a:lnSpc>
        <a:spcBef>
          <a:spcPts val="1125"/>
        </a:spcBef>
        <a:spcAft>
          <a:spcPct val="0"/>
        </a:spcAft>
        <a:buFont typeface="Arial" pitchFamily="34" charset="0"/>
        <a:buChar char="•"/>
        <a:defRPr sz="3200" kern="1200">
          <a:solidFill>
            <a:schemeClr val="tx1"/>
          </a:solidFill>
          <a:latin typeface="+mn-lt"/>
          <a:ea typeface="+mn-ea"/>
          <a:cs typeface="+mn-cs"/>
        </a:defRPr>
      </a:lvl1pPr>
      <a:lvl2pPr marL="771525" indent="-257175" algn="l" defTabSz="1028700" rtl="0" fontAlgn="base">
        <a:lnSpc>
          <a:spcPct val="90000"/>
        </a:lnSpc>
        <a:spcBef>
          <a:spcPts val="563"/>
        </a:spcBef>
        <a:spcAft>
          <a:spcPct val="0"/>
        </a:spcAft>
        <a:buFont typeface="Arial" pitchFamily="34" charset="0"/>
        <a:buChar char="•"/>
        <a:defRPr sz="2700" kern="1200">
          <a:solidFill>
            <a:schemeClr val="tx1"/>
          </a:solidFill>
          <a:latin typeface="+mn-lt"/>
          <a:ea typeface="+mn-ea"/>
          <a:cs typeface="+mn-cs"/>
        </a:defRPr>
      </a:lvl2pPr>
      <a:lvl3pPr marL="1285875" indent="-257175" algn="l" defTabSz="1028700" rtl="0" fontAlgn="base">
        <a:lnSpc>
          <a:spcPct val="90000"/>
        </a:lnSpc>
        <a:spcBef>
          <a:spcPts val="563"/>
        </a:spcBef>
        <a:spcAft>
          <a:spcPct val="0"/>
        </a:spcAft>
        <a:buFont typeface="Arial" pitchFamily="34" charset="0"/>
        <a:buChar char="•"/>
        <a:defRPr sz="2300" kern="1200">
          <a:solidFill>
            <a:schemeClr val="tx1"/>
          </a:solidFill>
          <a:latin typeface="+mn-lt"/>
          <a:ea typeface="+mn-ea"/>
          <a:cs typeface="+mn-cs"/>
        </a:defRPr>
      </a:lvl3pPr>
      <a:lvl4pPr marL="180022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4pPr>
      <a:lvl5pPr marL="231457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2.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5.png"/><Relationship Id="rId5" Type="http://schemas.openxmlformats.org/officeDocument/2006/relationships/image" Target="../media/image13.e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Microsoft_Visio_2003-2010___1.vsd"/><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9.wmf"/><Relationship Id="rId5" Type="http://schemas.openxmlformats.org/officeDocument/2006/relationships/oleObject" Target="../embeddings/oleObject3.bin"/><Relationship Id="rId4" Type="http://schemas.openxmlformats.org/officeDocument/2006/relationships/image" Target="../media/image18.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1.wmf"/><Relationship Id="rId5" Type="http://schemas.openxmlformats.org/officeDocument/2006/relationships/oleObject" Target="../embeddings/oleObject5.bin"/><Relationship Id="rId4" Type="http://schemas.openxmlformats.org/officeDocument/2006/relationships/image" Target="../media/image20.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2.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Microsoft_Visio_2003-2010___2.vsd"/><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31.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42.jpeg"/></Relationships>
</file>

<file path=ppt/slides/_rels/slide4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71B2A563-AC54-5347-B843-4478DF223CDE}"/>
              </a:ext>
            </a:extLst>
          </p:cNvPr>
          <p:cNvSpPr/>
          <p:nvPr/>
        </p:nvSpPr>
        <p:spPr>
          <a:xfrm>
            <a:off x="1053348" y="2672562"/>
            <a:ext cx="2686050" cy="1178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smtClean="0">
                <a:solidFill>
                  <a:srgbClr val="0066FF"/>
                </a:solidFill>
                <a:latin typeface="Microsoft YaHei" panose="020B0503020204020204" pitchFamily="34" charset="-122"/>
                <a:ea typeface="Microsoft YaHei" panose="020B0503020204020204" pitchFamily="34" charset="-122"/>
              </a:rPr>
              <a:t>第</a:t>
            </a:r>
            <a:r>
              <a:rPr kumimoji="1" lang="en-US" altLang="zh-CN" sz="7200" b="1" dirty="0" smtClean="0">
                <a:solidFill>
                  <a:srgbClr val="0066FF"/>
                </a:solidFill>
                <a:latin typeface="Microsoft YaHei" panose="020B0503020204020204" pitchFamily="34" charset="-122"/>
                <a:ea typeface="Microsoft YaHei" panose="020B0503020204020204" pitchFamily="34" charset="-122"/>
              </a:rPr>
              <a:t>7</a:t>
            </a:r>
            <a:r>
              <a:rPr kumimoji="1" lang="zh-CN" altLang="en-US" sz="7200" b="1" dirty="0" smtClean="0">
                <a:solidFill>
                  <a:srgbClr val="0066FF"/>
                </a:solidFill>
                <a:latin typeface="Microsoft YaHei" panose="020B0503020204020204" pitchFamily="34" charset="-122"/>
                <a:ea typeface="Microsoft YaHei" panose="020B0503020204020204" pitchFamily="34" charset="-122"/>
              </a:rPr>
              <a:t>章</a:t>
            </a:r>
            <a:endParaRPr kumimoji="1" lang="zh-CN" altLang="en-US" sz="7200" b="1" dirty="0">
              <a:solidFill>
                <a:srgbClr val="0066FF"/>
              </a:solidFill>
              <a:latin typeface="Microsoft YaHei" panose="020B0503020204020204" pitchFamily="34" charset="-122"/>
              <a:ea typeface="Microsoft YaHei" panose="020B0503020204020204" pitchFamily="34" charset="-122"/>
            </a:endParaRPr>
          </a:p>
        </p:txBody>
      </p:sp>
      <p:sp>
        <p:nvSpPr>
          <p:cNvPr id="6" name="矩形 5"/>
          <p:cNvSpPr/>
          <p:nvPr/>
        </p:nvSpPr>
        <p:spPr>
          <a:xfrm>
            <a:off x="1460180" y="1793603"/>
            <a:ext cx="1723550" cy="553998"/>
          </a:xfrm>
          <a:prstGeom prst="rect">
            <a:avLst/>
          </a:prstGeom>
          <a:noFill/>
        </p:spPr>
        <p:txBody>
          <a:bodyPr wrap="none" lIns="91440" tIns="45720" rIns="91440" bIns="45720">
            <a:spAutoFit/>
          </a:bodyPr>
          <a:lstStyle/>
          <a:p>
            <a:pPr algn="ctr"/>
            <a:r>
              <a:rPr lang="zh-CN" altLang="en-US" sz="3000" dirty="0">
                <a:latin typeface="Microsoft Yi Baiti" panose="03000500000000000000" pitchFamily="66" charset="0"/>
                <a:ea typeface="冬青黑体简体中文 W6" panose="020B0600000000000000" pitchFamily="34" charset="-122"/>
                <a:cs typeface="阿里巴巴普惠体 M" panose="00020600040101010101" pitchFamily="18" charset="-122"/>
              </a:rPr>
              <a:t>光电技术</a:t>
            </a:r>
            <a:endParaRPr lang="en-US" altLang="zh-CN" sz="3000" dirty="0">
              <a:latin typeface="Microsoft Yi Baiti" panose="03000500000000000000" pitchFamily="66" charset="0"/>
              <a:ea typeface="Microsoft Yi Baiti" panose="03000500000000000000" pitchFamily="66" charset="0"/>
              <a:cs typeface="阿里巴巴普惠体 M" panose="00020600040101010101" pitchFamily="18" charset="-122"/>
            </a:endParaRPr>
          </a:p>
        </p:txBody>
      </p:sp>
      <p:sp>
        <p:nvSpPr>
          <p:cNvPr id="7" name="矩形 6">
            <a:extLst>
              <a:ext uri="{FF2B5EF4-FFF2-40B4-BE49-F238E27FC236}">
                <a16:creationId xmlns:a16="http://schemas.microsoft.com/office/drawing/2014/main" xmlns="" id="{5441AE38-A11D-4793-BDA3-DCA36976B496}"/>
              </a:ext>
            </a:extLst>
          </p:cNvPr>
          <p:cNvSpPr/>
          <p:nvPr/>
        </p:nvSpPr>
        <p:spPr>
          <a:xfrm>
            <a:off x="3998268" y="2700290"/>
            <a:ext cx="6639252" cy="1122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smtClean="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rPr>
              <a:t>光电图像探测器</a:t>
            </a:r>
            <a:endParaRPr kumimoji="1" lang="zh-CN" altLang="en-US" sz="7200" b="1" dirty="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endParaRPr>
          </a:p>
        </p:txBody>
      </p:sp>
      <p:sp>
        <p:nvSpPr>
          <p:cNvPr id="8" name="矩形 7">
            <a:extLst>
              <a:ext uri="{FF2B5EF4-FFF2-40B4-BE49-F238E27FC236}">
                <a16:creationId xmlns:a16="http://schemas.microsoft.com/office/drawing/2014/main" xmlns="" id="{B4AF438E-361B-42EE-9E70-DDB98227F7D7}"/>
              </a:ext>
            </a:extLst>
          </p:cNvPr>
          <p:cNvSpPr/>
          <p:nvPr/>
        </p:nvSpPr>
        <p:spPr>
          <a:xfrm>
            <a:off x="3190512" y="1836129"/>
            <a:ext cx="1238613" cy="477054"/>
          </a:xfrm>
          <a:prstGeom prst="rect">
            <a:avLst/>
          </a:prstGeom>
          <a:noFill/>
        </p:spPr>
        <p:txBody>
          <a:bodyPr wrap="square" lIns="91440" tIns="45720" rIns="91440" bIns="45720">
            <a:spAutoFit/>
          </a:bodyPr>
          <a:lstStyle/>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Photoelectric</a:t>
            </a:r>
          </a:p>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Technology</a:t>
            </a:r>
            <a:endParaRPr lang="zh-CN" altLang="en-US" sz="1200" b="1" spc="40" dirty="0">
              <a:ln w="22225">
                <a:solidFill>
                  <a:schemeClr val="accent2"/>
                </a:solidFill>
                <a:prstDash val="solid"/>
              </a:ln>
              <a:latin typeface="Times New Roman" panose="02020603050405020304" pitchFamily="18" charset="0"/>
              <a:ea typeface="Yu Gothic UI" panose="020B0500000000000000" pitchFamily="34" charset="-128"/>
              <a:cs typeface="Times New Roman" panose="02020603050405020304" pitchFamily="18" charset="0"/>
            </a:endParaRPr>
          </a:p>
        </p:txBody>
      </p:sp>
      <p:cxnSp>
        <p:nvCxnSpPr>
          <p:cNvPr id="9" name="直接连接符 58">
            <a:extLst>
              <a:ext uri="{FF2B5EF4-FFF2-40B4-BE49-F238E27FC236}">
                <a16:creationId xmlns:a16="http://schemas.microsoft.com/office/drawing/2014/main" xmlns="" id="{19E605B0-7A69-4DF3-BD2D-6C50DF5A8F84}"/>
              </a:ext>
            </a:extLst>
          </p:cNvPr>
          <p:cNvCxnSpPr>
            <a:cxnSpLocks/>
          </p:cNvCxnSpPr>
          <p:nvPr/>
        </p:nvCxnSpPr>
        <p:spPr>
          <a:xfrm>
            <a:off x="1209675" y="4175630"/>
            <a:ext cx="4795114" cy="11690"/>
          </a:xfrm>
          <a:prstGeom prst="line">
            <a:avLst/>
          </a:prstGeom>
          <a:ln w="95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xmlns="" id="{1C44C9C7-7166-4DA9-8A1A-D2BB836F3F54}"/>
              </a:ext>
            </a:extLst>
          </p:cNvPr>
          <p:cNvSpPr/>
          <p:nvPr/>
        </p:nvSpPr>
        <p:spPr>
          <a:xfrm>
            <a:off x="1143001" y="4512279"/>
            <a:ext cx="4602479" cy="461665"/>
          </a:xfrm>
          <a:prstGeom prst="rect">
            <a:avLst/>
          </a:prstGeom>
          <a:noFill/>
        </p:spPr>
        <p:txBody>
          <a:bodyPr wrap="square" lIns="91440" tIns="45720" rIns="91440" bIns="45720">
            <a:spAutoFit/>
          </a:bodyPr>
          <a:lstStyle/>
          <a:p>
            <a:r>
              <a:rPr lang="en-US" altLang="zh-CN" sz="2400" dirty="0" smtClean="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Photoelectric image detector</a:t>
            </a:r>
            <a:endParaRPr lang="zh-CN" altLang="en-US" sz="2400" dirty="0">
              <a:ln w="22225">
                <a:solidFill>
                  <a:schemeClr val="accent2"/>
                </a:solidFill>
                <a:prstDash val="solid"/>
              </a:ln>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endParaRPr>
          </a:p>
        </p:txBody>
      </p:sp>
      <p:sp>
        <p:nvSpPr>
          <p:cNvPr id="11" name="矩形 10">
            <a:extLst>
              <a:ext uri="{FF2B5EF4-FFF2-40B4-BE49-F238E27FC236}">
                <a16:creationId xmlns:a16="http://schemas.microsoft.com/office/drawing/2014/main" xmlns="" id="{AE184DEE-FEA5-431F-856D-B2DD56F698B6}"/>
              </a:ext>
            </a:extLst>
          </p:cNvPr>
          <p:cNvSpPr/>
          <p:nvPr/>
        </p:nvSpPr>
        <p:spPr>
          <a:xfrm>
            <a:off x="1209675" y="1869039"/>
            <a:ext cx="167523" cy="403125"/>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389757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夜视仪~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7669" y="4161862"/>
            <a:ext cx="2530475"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14"/>
          <p:cNvGrpSpPr>
            <a:grpSpLocks/>
          </p:cNvGrpSpPr>
          <p:nvPr/>
        </p:nvGrpSpPr>
        <p:grpSpPr bwMode="auto">
          <a:xfrm>
            <a:off x="5912784" y="1126472"/>
            <a:ext cx="2500313" cy="596900"/>
            <a:chOff x="2786050" y="857232"/>
            <a:chExt cx="2500330" cy="596642"/>
          </a:xfrm>
        </p:grpSpPr>
        <p:sp>
          <p:nvSpPr>
            <p:cNvPr id="4" name="圆角矩形 3"/>
            <p:cNvSpPr/>
            <p:nvPr/>
          </p:nvSpPr>
          <p:spPr>
            <a:xfrm>
              <a:off x="2786050" y="858818"/>
              <a:ext cx="2286016" cy="595056"/>
            </a:xfrm>
            <a:prstGeom prst="roundRect">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Text Box 8"/>
            <p:cNvSpPr txBox="1">
              <a:spLocks noChangeArrowheads="1"/>
            </p:cNvSpPr>
            <p:nvPr/>
          </p:nvSpPr>
          <p:spPr bwMode="auto">
            <a:xfrm>
              <a:off x="2857488" y="857232"/>
              <a:ext cx="242889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0000CC"/>
                  </a:solidFill>
                  <a:ea typeface="微软雅黑" panose="020B0503020204020204" pitchFamily="34" charset="-122"/>
                  <a:cs typeface="Times New Roman" panose="02020603050405020304" pitchFamily="18" charset="0"/>
                </a:rPr>
                <a:t>图像探测器</a:t>
              </a:r>
            </a:p>
          </p:txBody>
        </p:sp>
      </p:grpSp>
      <p:sp>
        <p:nvSpPr>
          <p:cNvPr id="6" name="AutoShape 9"/>
          <p:cNvSpPr>
            <a:spLocks/>
          </p:cNvSpPr>
          <p:nvPr/>
        </p:nvSpPr>
        <p:spPr bwMode="auto">
          <a:xfrm rot="5400000">
            <a:off x="6728478" y="-772551"/>
            <a:ext cx="339725" cy="5423646"/>
          </a:xfrm>
          <a:prstGeom prst="leftBrace">
            <a:avLst>
              <a:gd name="adj1" fmla="val 58300"/>
              <a:gd name="adj2" fmla="val 50000"/>
            </a:avLst>
          </a:prstGeom>
          <a:noFill/>
          <a:ln w="508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ea typeface="微软雅黑" panose="020B0503020204020204" pitchFamily="34" charset="-122"/>
              <a:cs typeface="Times New Roman" panose="02020603050405020304" pitchFamily="18" charset="0"/>
            </a:endParaRPr>
          </a:p>
        </p:txBody>
      </p:sp>
      <p:grpSp>
        <p:nvGrpSpPr>
          <p:cNvPr id="7" name="组合 17"/>
          <p:cNvGrpSpPr>
            <a:grpSpLocks/>
          </p:cNvGrpSpPr>
          <p:nvPr/>
        </p:nvGrpSpPr>
        <p:grpSpPr bwMode="auto">
          <a:xfrm>
            <a:off x="3162360" y="2155172"/>
            <a:ext cx="2071687" cy="1000125"/>
            <a:chOff x="1357290" y="2071678"/>
            <a:chExt cx="2071702" cy="1000132"/>
          </a:xfrm>
        </p:grpSpPr>
        <p:sp>
          <p:nvSpPr>
            <p:cNvPr id="8" name="圆角矩形 7"/>
            <p:cNvSpPr/>
            <p:nvPr/>
          </p:nvSpPr>
          <p:spPr>
            <a:xfrm>
              <a:off x="1357290" y="2071678"/>
              <a:ext cx="2071702" cy="1000132"/>
            </a:xfrm>
            <a:prstGeom prst="roundRect">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Text Box 10"/>
            <p:cNvSpPr txBox="1">
              <a:spLocks noChangeArrowheads="1"/>
            </p:cNvSpPr>
            <p:nvPr/>
          </p:nvSpPr>
          <p:spPr bwMode="auto">
            <a:xfrm>
              <a:off x="1428728" y="2071678"/>
              <a:ext cx="200024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0000CC"/>
                  </a:solidFill>
                  <a:ea typeface="微软雅黑" panose="020B0503020204020204" pitchFamily="34" charset="-122"/>
                  <a:cs typeface="Times New Roman" panose="02020603050405020304" pitchFamily="18" charset="0"/>
                </a:rPr>
                <a:t>真空</a:t>
              </a:r>
              <a:endParaRPr lang="en-US" altLang="zh-CN" sz="2800" b="1">
                <a:solidFill>
                  <a:srgbClr val="0000CC"/>
                </a:solidFill>
                <a:ea typeface="微软雅黑" panose="020B0503020204020204" pitchFamily="34" charset="-122"/>
                <a:cs typeface="Times New Roman" panose="02020603050405020304" pitchFamily="18" charset="0"/>
              </a:endParaRPr>
            </a:p>
            <a:p>
              <a:pPr eaLnBrk="1" hangingPunct="1"/>
              <a:r>
                <a:rPr lang="zh-CN" altLang="en-US" sz="2800" b="1">
                  <a:solidFill>
                    <a:srgbClr val="0000CC"/>
                  </a:solidFill>
                  <a:ea typeface="微软雅黑" panose="020B0503020204020204" pitchFamily="34" charset="-122"/>
                  <a:cs typeface="Times New Roman" panose="02020603050405020304" pitchFamily="18" charset="0"/>
                </a:rPr>
                <a:t>图像探测器</a:t>
              </a:r>
            </a:p>
          </p:txBody>
        </p:sp>
      </p:grpSp>
      <p:grpSp>
        <p:nvGrpSpPr>
          <p:cNvPr id="10" name="组合 18"/>
          <p:cNvGrpSpPr>
            <a:grpSpLocks/>
          </p:cNvGrpSpPr>
          <p:nvPr/>
        </p:nvGrpSpPr>
        <p:grpSpPr bwMode="auto">
          <a:xfrm>
            <a:off x="8676246" y="2162465"/>
            <a:ext cx="2071688" cy="1000125"/>
            <a:chOff x="5286380" y="1785926"/>
            <a:chExt cx="2071702" cy="1000132"/>
          </a:xfrm>
        </p:grpSpPr>
        <p:sp>
          <p:nvSpPr>
            <p:cNvPr id="11" name="圆角矩形 10"/>
            <p:cNvSpPr/>
            <p:nvPr/>
          </p:nvSpPr>
          <p:spPr>
            <a:xfrm>
              <a:off x="5286380" y="1785926"/>
              <a:ext cx="2071702" cy="1000132"/>
            </a:xfrm>
            <a:prstGeom prst="roundRect">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Text Box 11"/>
            <p:cNvSpPr txBox="1">
              <a:spLocks noChangeArrowheads="1"/>
            </p:cNvSpPr>
            <p:nvPr/>
          </p:nvSpPr>
          <p:spPr bwMode="auto">
            <a:xfrm>
              <a:off x="5357818" y="1785926"/>
              <a:ext cx="200026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0000CC"/>
                  </a:solidFill>
                  <a:ea typeface="微软雅黑" panose="020B0503020204020204" pitchFamily="34" charset="-122"/>
                  <a:cs typeface="Times New Roman" panose="02020603050405020304" pitchFamily="18" charset="0"/>
                </a:rPr>
                <a:t>固体</a:t>
              </a:r>
              <a:endParaRPr lang="en-US" altLang="zh-CN" sz="2800" b="1">
                <a:solidFill>
                  <a:srgbClr val="0000CC"/>
                </a:solidFill>
                <a:ea typeface="微软雅黑" panose="020B0503020204020204" pitchFamily="34" charset="-122"/>
                <a:cs typeface="Times New Roman" panose="02020603050405020304" pitchFamily="18" charset="0"/>
              </a:endParaRPr>
            </a:p>
            <a:p>
              <a:pPr algn="ctr" eaLnBrk="1" hangingPunct="1"/>
              <a:r>
                <a:rPr lang="zh-CN" altLang="en-US" sz="2800" b="1">
                  <a:solidFill>
                    <a:srgbClr val="0000CC"/>
                  </a:solidFill>
                  <a:ea typeface="微软雅黑" panose="020B0503020204020204" pitchFamily="34" charset="-122"/>
                  <a:cs typeface="Times New Roman" panose="02020603050405020304" pitchFamily="18" charset="0"/>
                </a:rPr>
                <a:t>图像探测器</a:t>
              </a:r>
            </a:p>
          </p:txBody>
        </p:sp>
      </p:grpSp>
      <p:sp>
        <p:nvSpPr>
          <p:cNvPr id="13" name="AutoShape 12"/>
          <p:cNvSpPr>
            <a:spLocks/>
          </p:cNvSpPr>
          <p:nvPr/>
        </p:nvSpPr>
        <p:spPr bwMode="auto">
          <a:xfrm rot="5400000">
            <a:off x="9551753" y="1696152"/>
            <a:ext cx="320675" cy="3377359"/>
          </a:xfrm>
          <a:prstGeom prst="leftBrace">
            <a:avLst>
              <a:gd name="adj1" fmla="val 37464"/>
              <a:gd name="adj2" fmla="val 50000"/>
            </a:avLst>
          </a:prstGeom>
          <a:noFill/>
          <a:ln w="508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ea typeface="微软雅黑" panose="020B0503020204020204" pitchFamily="34" charset="-122"/>
              <a:cs typeface="Times New Roman" panose="02020603050405020304" pitchFamily="18" charset="0"/>
            </a:endParaRPr>
          </a:p>
        </p:txBody>
      </p:sp>
      <p:grpSp>
        <p:nvGrpSpPr>
          <p:cNvPr id="14" name="组合 24"/>
          <p:cNvGrpSpPr>
            <a:grpSpLocks/>
          </p:cNvGrpSpPr>
          <p:nvPr/>
        </p:nvGrpSpPr>
        <p:grpSpPr bwMode="auto">
          <a:xfrm>
            <a:off x="7389159" y="3572809"/>
            <a:ext cx="1285875" cy="571500"/>
            <a:chOff x="5072066" y="3322837"/>
            <a:chExt cx="1285884" cy="571504"/>
          </a:xfrm>
        </p:grpSpPr>
        <p:sp>
          <p:nvSpPr>
            <p:cNvPr id="15" name="圆角矩形 14"/>
            <p:cNvSpPr/>
            <p:nvPr/>
          </p:nvSpPr>
          <p:spPr>
            <a:xfrm>
              <a:off x="5072066" y="3322837"/>
              <a:ext cx="1285884" cy="571504"/>
            </a:xfrm>
            <a:prstGeom prst="roundRect">
              <a:avLst/>
            </a:prstGeom>
            <a:solidFill>
              <a:schemeClr val="bg1"/>
            </a:solidFill>
            <a:ln w="3810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Text Box 13"/>
            <p:cNvSpPr txBox="1">
              <a:spLocks noChangeArrowheads="1"/>
            </p:cNvSpPr>
            <p:nvPr/>
          </p:nvSpPr>
          <p:spPr bwMode="auto">
            <a:xfrm>
              <a:off x="5072066" y="3357562"/>
              <a:ext cx="1211276"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a:solidFill>
                    <a:srgbClr val="C00000"/>
                  </a:solidFill>
                  <a:ea typeface="微软雅黑" panose="020B0503020204020204" pitchFamily="34" charset="-122"/>
                  <a:cs typeface="Times New Roman" panose="02020603050405020304" pitchFamily="18" charset="0"/>
                </a:rPr>
                <a:t>CCD</a:t>
              </a:r>
              <a:endParaRPr lang="zh-CN" altLang="en-US" sz="2800" b="1">
                <a:solidFill>
                  <a:srgbClr val="C00000"/>
                </a:solidFill>
                <a:ea typeface="微软雅黑" panose="020B0503020204020204" pitchFamily="34" charset="-122"/>
                <a:cs typeface="Times New Roman" panose="02020603050405020304" pitchFamily="18" charset="0"/>
              </a:endParaRPr>
            </a:p>
          </p:txBody>
        </p:sp>
      </p:grpSp>
      <p:grpSp>
        <p:nvGrpSpPr>
          <p:cNvPr id="17" name="组合 25"/>
          <p:cNvGrpSpPr>
            <a:grpSpLocks/>
          </p:cNvGrpSpPr>
          <p:nvPr/>
        </p:nvGrpSpPr>
        <p:grpSpPr bwMode="auto">
          <a:xfrm>
            <a:off x="10553052" y="3590456"/>
            <a:ext cx="1497012" cy="571500"/>
            <a:chOff x="6643702" y="3345987"/>
            <a:chExt cx="1497028" cy="571504"/>
          </a:xfrm>
        </p:grpSpPr>
        <p:sp>
          <p:nvSpPr>
            <p:cNvPr id="18" name="圆角矩形 17"/>
            <p:cNvSpPr/>
            <p:nvPr/>
          </p:nvSpPr>
          <p:spPr>
            <a:xfrm>
              <a:off x="6750065" y="3345987"/>
              <a:ext cx="1285889" cy="571504"/>
            </a:xfrm>
            <a:prstGeom prst="roundRect">
              <a:avLst/>
            </a:prstGeom>
            <a:solidFill>
              <a:schemeClr val="bg1"/>
            </a:solidFill>
            <a:ln w="3810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Text Box 14"/>
            <p:cNvSpPr txBox="1">
              <a:spLocks noChangeArrowheads="1"/>
            </p:cNvSpPr>
            <p:nvPr/>
          </p:nvSpPr>
          <p:spPr bwMode="auto">
            <a:xfrm>
              <a:off x="6643702" y="3357562"/>
              <a:ext cx="149702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a:solidFill>
                    <a:srgbClr val="C00000"/>
                  </a:solidFill>
                  <a:ea typeface="微软雅黑" panose="020B0503020204020204" pitchFamily="34" charset="-122"/>
                  <a:cs typeface="Times New Roman" panose="02020603050405020304" pitchFamily="18" charset="0"/>
                </a:rPr>
                <a:t>CMOS</a:t>
              </a:r>
              <a:endParaRPr lang="zh-CN" altLang="en-US" sz="2800" b="1">
                <a:solidFill>
                  <a:srgbClr val="C00000"/>
                </a:solidFill>
                <a:ea typeface="微软雅黑" panose="020B0503020204020204" pitchFamily="34" charset="-122"/>
                <a:cs typeface="Times New Roman" panose="02020603050405020304" pitchFamily="18" charset="0"/>
              </a:endParaRPr>
            </a:p>
          </p:txBody>
        </p:sp>
      </p:grpSp>
      <p:grpSp>
        <p:nvGrpSpPr>
          <p:cNvPr id="20" name="组合 20"/>
          <p:cNvGrpSpPr>
            <a:grpSpLocks/>
          </p:cNvGrpSpPr>
          <p:nvPr/>
        </p:nvGrpSpPr>
        <p:grpSpPr bwMode="auto">
          <a:xfrm>
            <a:off x="1848785" y="3626784"/>
            <a:ext cx="1428750" cy="571500"/>
            <a:chOff x="1071538" y="3618176"/>
            <a:chExt cx="1428760" cy="571504"/>
          </a:xfrm>
        </p:grpSpPr>
        <p:sp>
          <p:nvSpPr>
            <p:cNvPr id="21" name="圆角矩形 20"/>
            <p:cNvSpPr/>
            <p:nvPr/>
          </p:nvSpPr>
          <p:spPr>
            <a:xfrm>
              <a:off x="1142975" y="3618176"/>
              <a:ext cx="1285884" cy="571504"/>
            </a:xfrm>
            <a:prstGeom prst="roundRect">
              <a:avLst/>
            </a:prstGeom>
            <a:solidFill>
              <a:schemeClr val="bg1"/>
            </a:solidFill>
            <a:ln w="3810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Text Box 16"/>
            <p:cNvSpPr txBox="1">
              <a:spLocks noChangeArrowheads="1"/>
            </p:cNvSpPr>
            <p:nvPr/>
          </p:nvSpPr>
          <p:spPr bwMode="auto">
            <a:xfrm>
              <a:off x="1071538" y="3631735"/>
              <a:ext cx="14287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solidFill>
                    <a:srgbClr val="C00000"/>
                  </a:solidFill>
                  <a:ea typeface="微软雅黑" panose="020B0503020204020204" pitchFamily="34" charset="-122"/>
                  <a:cs typeface="Times New Roman" panose="02020603050405020304" pitchFamily="18" charset="0"/>
                </a:rPr>
                <a:t>直视型</a:t>
              </a:r>
            </a:p>
          </p:txBody>
        </p:sp>
      </p:grpSp>
      <p:grpSp>
        <p:nvGrpSpPr>
          <p:cNvPr id="23" name="组合 21"/>
          <p:cNvGrpSpPr>
            <a:grpSpLocks/>
          </p:cNvGrpSpPr>
          <p:nvPr/>
        </p:nvGrpSpPr>
        <p:grpSpPr bwMode="auto">
          <a:xfrm>
            <a:off x="5234047" y="3619139"/>
            <a:ext cx="1357312" cy="571500"/>
            <a:chOff x="2928926" y="3597014"/>
            <a:chExt cx="1357322" cy="571504"/>
          </a:xfrm>
        </p:grpSpPr>
        <p:sp>
          <p:nvSpPr>
            <p:cNvPr id="24" name="圆角矩形 23"/>
            <p:cNvSpPr/>
            <p:nvPr/>
          </p:nvSpPr>
          <p:spPr>
            <a:xfrm>
              <a:off x="2963851" y="3597014"/>
              <a:ext cx="1285884" cy="571504"/>
            </a:xfrm>
            <a:prstGeom prst="roundRect">
              <a:avLst/>
            </a:prstGeom>
            <a:solidFill>
              <a:schemeClr val="bg1"/>
            </a:solidFill>
            <a:ln w="3810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5" name="Text Box 17"/>
            <p:cNvSpPr txBox="1">
              <a:spLocks noChangeArrowheads="1"/>
            </p:cNvSpPr>
            <p:nvPr/>
          </p:nvSpPr>
          <p:spPr bwMode="auto">
            <a:xfrm>
              <a:off x="2928926" y="3620160"/>
              <a:ext cx="135732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solidFill>
                    <a:srgbClr val="C00000"/>
                  </a:solidFill>
                  <a:ea typeface="微软雅黑" panose="020B0503020204020204" pitchFamily="34" charset="-122"/>
                  <a:cs typeface="Times New Roman" panose="02020603050405020304" pitchFamily="18" charset="0"/>
                </a:rPr>
                <a:t>摄像型</a:t>
              </a:r>
            </a:p>
          </p:txBody>
        </p:sp>
      </p:grpSp>
      <p:sp>
        <p:nvSpPr>
          <p:cNvPr id="27" name="AutoShape 12"/>
          <p:cNvSpPr>
            <a:spLocks/>
          </p:cNvSpPr>
          <p:nvPr/>
        </p:nvSpPr>
        <p:spPr bwMode="auto">
          <a:xfrm rot="5400000">
            <a:off x="4096683" y="1722905"/>
            <a:ext cx="320675" cy="3311525"/>
          </a:xfrm>
          <a:prstGeom prst="leftBrace">
            <a:avLst>
              <a:gd name="adj1" fmla="val 37464"/>
              <a:gd name="adj2" fmla="val 50000"/>
            </a:avLst>
          </a:prstGeom>
          <a:noFill/>
          <a:ln w="508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ea typeface="微软雅黑" panose="020B0503020204020204" pitchFamily="34" charset="-122"/>
              <a:cs typeface="Times New Roman" panose="02020603050405020304" pitchFamily="18" charset="0"/>
            </a:endParaRPr>
          </a:p>
        </p:txBody>
      </p:sp>
      <p:pic>
        <p:nvPicPr>
          <p:cNvPr id="28" name="图片 27" descr="夜视仪~1.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06331" y="5086344"/>
            <a:ext cx="245745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图片 28" descr="摄像机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12485" y="4559115"/>
            <a:ext cx="26670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图片 29" descr="红外摄像机.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105746" y="4277445"/>
            <a:ext cx="2462212" cy="173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图片 30" descr="CCD相机.jpg"/>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46299" y="4998557"/>
            <a:ext cx="2214563"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图片 31" descr="CMOS相机.jpg"/>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686549" y="4273831"/>
            <a:ext cx="2201863" cy="210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图片 32" descr="摄像机4.jp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0316662" y="5183469"/>
            <a:ext cx="2571750" cy="192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文本框 60">
            <a:extLst>
              <a:ext uri="{FF2B5EF4-FFF2-40B4-BE49-F238E27FC236}">
                <a16:creationId xmlns:a16="http://schemas.microsoft.com/office/drawing/2014/main" xmlns="" id="{791D85D7-F412-9C48-9F2B-E33F5B7B4F3C}"/>
              </a:ext>
            </a:extLst>
          </p:cNvPr>
          <p:cNvSpPr txBox="1"/>
          <p:nvPr/>
        </p:nvSpPr>
        <p:spPr>
          <a:xfrm>
            <a:off x="1545507" y="329189"/>
            <a:ext cx="1836000" cy="369332"/>
          </a:xfrm>
          <a:prstGeom prst="rect">
            <a:avLst/>
          </a:prstGeom>
          <a:noFill/>
          <a:ln w="9525">
            <a:noFill/>
          </a:ln>
        </p:spPr>
        <p:txBody>
          <a:bodyPr wrap="square">
            <a:spAutoFit/>
          </a:bodyPr>
          <a:lstStyle/>
          <a:p>
            <a:pPr algn="ctr"/>
            <a:r>
              <a:rPr lang="zh-CN" altLang="en-US" sz="1800" b="1" dirty="0" smtClean="0">
                <a:latin typeface="微软雅黑" panose="020B0503020204020204" pitchFamily="34" charset="-122"/>
                <a:ea typeface="微软雅黑" panose="020B0503020204020204" pitchFamily="34" charset="-122"/>
              </a:rPr>
              <a:t>光电图像探测器</a:t>
            </a:r>
            <a:endParaRPr lang="zh-CN" altLang="en-US" sz="1800" b="1" dirty="0">
              <a:latin typeface="微软雅黑" panose="020B0503020204020204" pitchFamily="34" charset="-122"/>
              <a:ea typeface="微软雅黑" panose="020B0503020204020204" pitchFamily="34" charset="-122"/>
            </a:endParaRPr>
          </a:p>
        </p:txBody>
      </p:sp>
      <p:sp>
        <p:nvSpPr>
          <p:cNvPr id="49" name="矩形 48"/>
          <p:cNvSpPr/>
          <p:nvPr/>
        </p:nvSpPr>
        <p:spPr>
          <a:xfrm>
            <a:off x="10241280" y="329189"/>
            <a:ext cx="122632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50" name="矩形 49">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52"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836000"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53" name="矩形 52">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4" name="矩形 53">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78178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ox(in)">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ox(in)">
                                      <p:cBhvr>
                                        <p:cTn id="16" dur="500"/>
                                        <p:tgtEl>
                                          <p:spTgt spid="7"/>
                                        </p:tgtEl>
                                      </p:cBhvr>
                                    </p:animEffect>
                                  </p:childTnLst>
                                </p:cTn>
                              </p:par>
                            </p:childTnLst>
                          </p:cTn>
                        </p:par>
                        <p:par>
                          <p:cTn id="17" fill="hold">
                            <p:stCondLst>
                              <p:cond delay="500"/>
                            </p:stCondLst>
                            <p:childTnLst>
                              <p:par>
                                <p:cTn id="18" presetID="4" presetClass="entr" presetSubtype="16" fill="hold" grpId="0" nodeType="after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box(in)">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box(in)">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box(in)">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xit" presetSubtype="16" fill="hold" nodeType="clickEffect">
                                  <p:stCondLst>
                                    <p:cond delay="0"/>
                                  </p:stCondLst>
                                  <p:childTnLst>
                                    <p:animEffect transition="out" filter="box(in)">
                                      <p:cBhvr>
                                        <p:cTn id="34" dur="500"/>
                                        <p:tgtEl>
                                          <p:spTgt spid="2"/>
                                        </p:tgtEl>
                                      </p:cBhvr>
                                    </p:animEffect>
                                    <p:set>
                                      <p:cBhvr>
                                        <p:cTn id="35" dur="1" fill="hold">
                                          <p:stCondLst>
                                            <p:cond delay="499"/>
                                          </p:stCondLst>
                                        </p:cTn>
                                        <p:tgtEl>
                                          <p:spTgt spid="2"/>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nodeType="click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box(in)">
                                      <p:cBhvr>
                                        <p:cTn id="40" dur="5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xit" presetSubtype="16" fill="hold" nodeType="clickEffect">
                                  <p:stCondLst>
                                    <p:cond delay="0"/>
                                  </p:stCondLst>
                                  <p:childTnLst>
                                    <p:animEffect transition="out" filter="box(in)">
                                      <p:cBhvr>
                                        <p:cTn id="44" dur="500"/>
                                        <p:tgtEl>
                                          <p:spTgt spid="28"/>
                                        </p:tgtEl>
                                      </p:cBhvr>
                                    </p:animEffect>
                                    <p:set>
                                      <p:cBhvr>
                                        <p:cTn id="45" dur="1" fill="hold">
                                          <p:stCondLst>
                                            <p:cond delay="499"/>
                                          </p:stCondLst>
                                        </p:cTn>
                                        <p:tgtEl>
                                          <p:spTgt spid="28"/>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box(in)">
                                      <p:cBhvr>
                                        <p:cTn id="50" dur="500"/>
                                        <p:tgtEl>
                                          <p:spTgt spid="23"/>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nodeType="click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box(in)">
                                      <p:cBhvr>
                                        <p:cTn id="55" dur="500"/>
                                        <p:tgtEl>
                                          <p:spTgt spid="29"/>
                                        </p:tgtEl>
                                      </p:cBhvr>
                                    </p:animEffect>
                                  </p:childTnLst>
                                </p:cTn>
                              </p:par>
                            </p:childTnLst>
                          </p:cTn>
                        </p:par>
                      </p:childTnLst>
                    </p:cTn>
                  </p:par>
                  <p:par>
                    <p:cTn id="56" fill="hold">
                      <p:stCondLst>
                        <p:cond delay="indefinite"/>
                      </p:stCondLst>
                      <p:childTnLst>
                        <p:par>
                          <p:cTn id="57" fill="hold">
                            <p:stCondLst>
                              <p:cond delay="0"/>
                            </p:stCondLst>
                            <p:childTnLst>
                              <p:par>
                                <p:cTn id="58" presetID="4" presetClass="exit" presetSubtype="16" fill="hold" nodeType="clickEffect">
                                  <p:stCondLst>
                                    <p:cond delay="0"/>
                                  </p:stCondLst>
                                  <p:childTnLst>
                                    <p:animEffect transition="out" filter="box(in)">
                                      <p:cBhvr>
                                        <p:cTn id="59" dur="500"/>
                                        <p:tgtEl>
                                          <p:spTgt spid="29"/>
                                        </p:tgtEl>
                                      </p:cBhvr>
                                    </p:animEffect>
                                    <p:set>
                                      <p:cBhvr>
                                        <p:cTn id="60" dur="1" fill="hold">
                                          <p:stCondLst>
                                            <p:cond delay="499"/>
                                          </p:stCondLst>
                                        </p:cTn>
                                        <p:tgtEl>
                                          <p:spTgt spid="29"/>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nodeType="click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box(in)">
                                      <p:cBhvr>
                                        <p:cTn id="65" dur="500"/>
                                        <p:tgtEl>
                                          <p:spTgt spid="10"/>
                                        </p:tgtEl>
                                      </p:cBhvr>
                                    </p:animEffect>
                                  </p:childTnLst>
                                </p:cTn>
                              </p:par>
                            </p:childTnLst>
                          </p:cTn>
                        </p:par>
                        <p:par>
                          <p:cTn id="66" fill="hold">
                            <p:stCondLst>
                              <p:cond delay="500"/>
                            </p:stCondLst>
                            <p:childTnLst>
                              <p:par>
                                <p:cTn id="67" presetID="4" presetClass="entr" presetSubtype="16" fill="hold" grpId="0" nodeType="after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box(in)">
                                      <p:cBhvr>
                                        <p:cTn id="69" dur="500"/>
                                        <p:tgtEl>
                                          <p:spTgt spid="13"/>
                                        </p:tgtEl>
                                      </p:cBhvr>
                                    </p:animEffect>
                                  </p:childTnLst>
                                </p:cTn>
                              </p:par>
                            </p:childTnLst>
                          </p:cTn>
                        </p:par>
                      </p:childTnLst>
                    </p:cTn>
                  </p:par>
                  <p:par>
                    <p:cTn id="70" fill="hold">
                      <p:stCondLst>
                        <p:cond delay="indefinite"/>
                      </p:stCondLst>
                      <p:childTnLst>
                        <p:par>
                          <p:cTn id="71" fill="hold">
                            <p:stCondLst>
                              <p:cond delay="0"/>
                            </p:stCondLst>
                            <p:childTnLst>
                              <p:par>
                                <p:cTn id="72" presetID="4" presetClass="entr" presetSubtype="16" fill="hold" nodeType="click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box(in)">
                                      <p:cBhvr>
                                        <p:cTn id="74" dur="500"/>
                                        <p:tgtEl>
                                          <p:spTgt spid="14"/>
                                        </p:tgtEl>
                                      </p:cBhvr>
                                    </p:animEffect>
                                  </p:childTnLst>
                                </p:cTn>
                              </p:par>
                            </p:childTnLst>
                          </p:cTn>
                        </p:par>
                      </p:childTnLst>
                    </p:cTn>
                  </p:par>
                  <p:par>
                    <p:cTn id="75" fill="hold">
                      <p:stCondLst>
                        <p:cond delay="indefinite"/>
                      </p:stCondLst>
                      <p:childTnLst>
                        <p:par>
                          <p:cTn id="76" fill="hold">
                            <p:stCondLst>
                              <p:cond delay="0"/>
                            </p:stCondLst>
                            <p:childTnLst>
                              <p:par>
                                <p:cTn id="77" presetID="4" presetClass="entr" presetSubtype="16" fill="hold"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box(in)">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4" presetClass="exit" presetSubtype="16" fill="hold" nodeType="clickEffect">
                                  <p:stCondLst>
                                    <p:cond delay="0"/>
                                  </p:stCondLst>
                                  <p:childTnLst>
                                    <p:animEffect transition="out" filter="box(in)">
                                      <p:cBhvr>
                                        <p:cTn id="83" dur="500"/>
                                        <p:tgtEl>
                                          <p:spTgt spid="30"/>
                                        </p:tgtEl>
                                      </p:cBhvr>
                                    </p:animEffect>
                                    <p:set>
                                      <p:cBhvr>
                                        <p:cTn id="84" dur="1" fill="hold">
                                          <p:stCondLst>
                                            <p:cond delay="499"/>
                                          </p:stCondLst>
                                        </p:cTn>
                                        <p:tgtEl>
                                          <p:spTgt spid="30"/>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4" presetClass="entr" presetSubtype="16" fill="hold" nodeType="click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box(in)">
                                      <p:cBhvr>
                                        <p:cTn id="89" dur="500"/>
                                        <p:tgtEl>
                                          <p:spTgt spid="31"/>
                                        </p:tgtEl>
                                      </p:cBhvr>
                                    </p:animEffect>
                                  </p:childTnLst>
                                </p:cTn>
                              </p:par>
                            </p:childTnLst>
                          </p:cTn>
                        </p:par>
                      </p:childTnLst>
                    </p:cTn>
                  </p:par>
                  <p:par>
                    <p:cTn id="90" fill="hold">
                      <p:stCondLst>
                        <p:cond delay="indefinite"/>
                      </p:stCondLst>
                      <p:childTnLst>
                        <p:par>
                          <p:cTn id="91" fill="hold">
                            <p:stCondLst>
                              <p:cond delay="0"/>
                            </p:stCondLst>
                            <p:childTnLst>
                              <p:par>
                                <p:cTn id="92" presetID="4" presetClass="exit" presetSubtype="16" fill="hold" nodeType="clickEffect">
                                  <p:stCondLst>
                                    <p:cond delay="0"/>
                                  </p:stCondLst>
                                  <p:childTnLst>
                                    <p:animEffect transition="out" filter="box(in)">
                                      <p:cBhvr>
                                        <p:cTn id="93" dur="500"/>
                                        <p:tgtEl>
                                          <p:spTgt spid="31"/>
                                        </p:tgtEl>
                                      </p:cBhvr>
                                    </p:animEffect>
                                    <p:set>
                                      <p:cBhvr>
                                        <p:cTn id="94" dur="1" fill="hold">
                                          <p:stCondLst>
                                            <p:cond delay="499"/>
                                          </p:stCondLst>
                                        </p:cTn>
                                        <p:tgtEl>
                                          <p:spTgt spid="31"/>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4" presetClass="entr" presetSubtype="16" fill="hold" nodeType="clickEffect">
                                  <p:stCondLst>
                                    <p:cond delay="0"/>
                                  </p:stCondLst>
                                  <p:childTnLst>
                                    <p:set>
                                      <p:cBhvr>
                                        <p:cTn id="98" dur="1" fill="hold">
                                          <p:stCondLst>
                                            <p:cond delay="0"/>
                                          </p:stCondLst>
                                        </p:cTn>
                                        <p:tgtEl>
                                          <p:spTgt spid="17"/>
                                        </p:tgtEl>
                                        <p:attrNameLst>
                                          <p:attrName>style.visibility</p:attrName>
                                        </p:attrNameLst>
                                      </p:cBhvr>
                                      <p:to>
                                        <p:strVal val="visible"/>
                                      </p:to>
                                    </p:set>
                                    <p:animEffect transition="in" filter="box(in)">
                                      <p:cBhvr>
                                        <p:cTn id="99" dur="500"/>
                                        <p:tgtEl>
                                          <p:spTgt spid="17"/>
                                        </p:tgtEl>
                                      </p:cBhvr>
                                    </p:animEffect>
                                  </p:childTnLst>
                                </p:cTn>
                              </p:par>
                            </p:childTnLst>
                          </p:cTn>
                        </p:par>
                      </p:childTnLst>
                    </p:cTn>
                  </p:par>
                  <p:par>
                    <p:cTn id="100" fill="hold">
                      <p:stCondLst>
                        <p:cond delay="indefinite"/>
                      </p:stCondLst>
                      <p:childTnLst>
                        <p:par>
                          <p:cTn id="101" fill="hold">
                            <p:stCondLst>
                              <p:cond delay="0"/>
                            </p:stCondLst>
                            <p:childTnLst>
                              <p:par>
                                <p:cTn id="102" presetID="4" presetClass="entr" presetSubtype="16" fill="hold" nodeType="click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box(in)">
                                      <p:cBhvr>
                                        <p:cTn id="104" dur="500"/>
                                        <p:tgtEl>
                                          <p:spTgt spid="32"/>
                                        </p:tgtEl>
                                      </p:cBhvr>
                                    </p:animEffect>
                                  </p:childTnLst>
                                </p:cTn>
                              </p:par>
                            </p:childTnLst>
                          </p:cTn>
                        </p:par>
                      </p:childTnLst>
                    </p:cTn>
                  </p:par>
                  <p:par>
                    <p:cTn id="105" fill="hold">
                      <p:stCondLst>
                        <p:cond delay="indefinite"/>
                      </p:stCondLst>
                      <p:childTnLst>
                        <p:par>
                          <p:cTn id="106" fill="hold">
                            <p:stCondLst>
                              <p:cond delay="0"/>
                            </p:stCondLst>
                            <p:childTnLst>
                              <p:par>
                                <p:cTn id="107" presetID="4" presetClass="exit" presetSubtype="16" fill="hold" nodeType="clickEffect">
                                  <p:stCondLst>
                                    <p:cond delay="0"/>
                                  </p:stCondLst>
                                  <p:childTnLst>
                                    <p:animEffect transition="out" filter="box(in)">
                                      <p:cBhvr>
                                        <p:cTn id="108" dur="500"/>
                                        <p:tgtEl>
                                          <p:spTgt spid="32"/>
                                        </p:tgtEl>
                                      </p:cBhvr>
                                    </p:animEffect>
                                    <p:set>
                                      <p:cBhvr>
                                        <p:cTn id="109" dur="1" fill="hold">
                                          <p:stCondLst>
                                            <p:cond delay="499"/>
                                          </p:stCondLst>
                                        </p:cTn>
                                        <p:tgtEl>
                                          <p:spTgt spid="32"/>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4" presetClass="entr" presetSubtype="16" fill="hold" nodeType="clickEffect">
                                  <p:stCondLst>
                                    <p:cond delay="0"/>
                                  </p:stCondLst>
                                  <p:childTnLst>
                                    <p:set>
                                      <p:cBhvr>
                                        <p:cTn id="113" dur="1" fill="hold">
                                          <p:stCondLst>
                                            <p:cond delay="0"/>
                                          </p:stCondLst>
                                        </p:cTn>
                                        <p:tgtEl>
                                          <p:spTgt spid="33"/>
                                        </p:tgtEl>
                                        <p:attrNameLst>
                                          <p:attrName>style.visibility</p:attrName>
                                        </p:attrNameLst>
                                      </p:cBhvr>
                                      <p:to>
                                        <p:strVal val="visible"/>
                                      </p:to>
                                    </p:set>
                                    <p:animEffect transition="in" filter="box(in)">
                                      <p:cBhvr>
                                        <p:cTn id="114" dur="500"/>
                                        <p:tgtEl>
                                          <p:spTgt spid="33"/>
                                        </p:tgtEl>
                                      </p:cBhvr>
                                    </p:animEffect>
                                  </p:childTnLst>
                                </p:cTn>
                              </p:par>
                            </p:childTnLst>
                          </p:cTn>
                        </p:par>
                      </p:childTnLst>
                    </p:cTn>
                  </p:par>
                  <p:par>
                    <p:cTn id="115" fill="hold">
                      <p:stCondLst>
                        <p:cond delay="indefinite"/>
                      </p:stCondLst>
                      <p:childTnLst>
                        <p:par>
                          <p:cTn id="116" fill="hold">
                            <p:stCondLst>
                              <p:cond delay="0"/>
                            </p:stCondLst>
                            <p:childTnLst>
                              <p:par>
                                <p:cTn id="117" presetID="4" presetClass="exit" presetSubtype="16" fill="hold" nodeType="clickEffect">
                                  <p:stCondLst>
                                    <p:cond delay="0"/>
                                  </p:stCondLst>
                                  <p:childTnLst>
                                    <p:animEffect transition="out" filter="box(in)">
                                      <p:cBhvr>
                                        <p:cTn id="118" dur="500"/>
                                        <p:tgtEl>
                                          <p:spTgt spid="33"/>
                                        </p:tgtEl>
                                      </p:cBhvr>
                                    </p:animEffect>
                                    <p:set>
                                      <p:cBhvr>
                                        <p:cTn id="119" dur="1" fill="hold">
                                          <p:stCondLst>
                                            <p:cond delay="499"/>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1"/>
          <p:cNvGraphicFramePr/>
          <p:nvPr>
            <p:extLst>
              <p:ext uri="{D42A27DB-BD31-4B8C-83A1-F6EECF244321}">
                <p14:modId xmlns:p14="http://schemas.microsoft.com/office/powerpoint/2010/main" val="3079039129"/>
              </p:ext>
            </p:extLst>
          </p:nvPr>
        </p:nvGraphicFramePr>
        <p:xfrm>
          <a:off x="3865598" y="1301139"/>
          <a:ext cx="7286676" cy="5500726"/>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组合 7"/>
          <p:cNvGrpSpPr>
            <a:grpSpLocks/>
          </p:cNvGrpSpPr>
          <p:nvPr/>
        </p:nvGrpSpPr>
        <p:grpSpPr bwMode="auto">
          <a:xfrm>
            <a:off x="2035176" y="1979350"/>
            <a:ext cx="785812" cy="3714750"/>
            <a:chOff x="214282" y="1428736"/>
            <a:chExt cx="785818" cy="3714776"/>
          </a:xfrm>
        </p:grpSpPr>
        <p:sp>
          <p:nvSpPr>
            <p:cNvPr id="4" name="圆角矩形 3"/>
            <p:cNvSpPr/>
            <p:nvPr/>
          </p:nvSpPr>
          <p:spPr>
            <a:xfrm>
              <a:off x="285720" y="1428736"/>
              <a:ext cx="642943" cy="3714776"/>
            </a:xfrm>
            <a:prstGeom prst="roundRect">
              <a:avLst/>
            </a:prstGeom>
            <a:solidFill>
              <a:schemeClr val="accent4">
                <a:lumMod val="40000"/>
                <a:lumOff val="60000"/>
              </a:schemeClr>
            </a:solidFill>
            <a:ln w="412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TextBox 5"/>
            <p:cNvSpPr txBox="1">
              <a:spLocks noChangeArrowheads="1"/>
            </p:cNvSpPr>
            <p:nvPr/>
          </p:nvSpPr>
          <p:spPr bwMode="auto">
            <a:xfrm>
              <a:off x="214282" y="1500173"/>
              <a:ext cx="785818" cy="353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图像探测器市场</a:t>
              </a:r>
            </a:p>
          </p:txBody>
        </p:sp>
      </p:grpSp>
      <p:sp>
        <p:nvSpPr>
          <p:cNvPr id="14" name="矩形 13"/>
          <p:cNvSpPr/>
          <p:nvPr/>
        </p:nvSpPr>
        <p:spPr>
          <a:xfrm>
            <a:off x="10241280" y="329189"/>
            <a:ext cx="122632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0" name="文本框 60">
            <a:extLst>
              <a:ext uri="{FF2B5EF4-FFF2-40B4-BE49-F238E27FC236}">
                <a16:creationId xmlns:a16="http://schemas.microsoft.com/office/drawing/2014/main" xmlns="" id="{791D85D7-F412-9C48-9F2B-E33F5B7B4F3C}"/>
              </a:ext>
            </a:extLst>
          </p:cNvPr>
          <p:cNvSpPr txBox="1"/>
          <p:nvPr/>
        </p:nvSpPr>
        <p:spPr>
          <a:xfrm>
            <a:off x="1545507" y="329189"/>
            <a:ext cx="1836000" cy="369332"/>
          </a:xfrm>
          <a:prstGeom prst="rect">
            <a:avLst/>
          </a:prstGeom>
          <a:noFill/>
          <a:ln w="9525">
            <a:noFill/>
          </a:ln>
        </p:spPr>
        <p:txBody>
          <a:bodyPr wrap="square">
            <a:spAutoFit/>
          </a:bodyPr>
          <a:lstStyle/>
          <a:p>
            <a:pPr algn="ctr"/>
            <a:r>
              <a:rPr lang="zh-CN" altLang="en-US" sz="1800" b="1" dirty="0" smtClean="0">
                <a:latin typeface="微软雅黑" panose="020B0503020204020204" pitchFamily="34" charset="-122"/>
                <a:ea typeface="微软雅黑" panose="020B0503020204020204" pitchFamily="34" charset="-122"/>
              </a:rPr>
              <a:t>光电图像探测器</a:t>
            </a:r>
            <a:endParaRPr lang="zh-CN" altLang="en-US" sz="1800" b="1" dirty="0">
              <a:latin typeface="微软雅黑" panose="020B0503020204020204" pitchFamily="34" charset="-122"/>
              <a:ea typeface="微软雅黑" panose="020B0503020204020204" pitchFamily="34" charset="-122"/>
            </a:endParaRPr>
          </a:p>
        </p:txBody>
      </p:sp>
      <p:cxnSp>
        <p:nvCxnSpPr>
          <p:cNvPr id="21"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836000"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954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30253" y="304210"/>
            <a:ext cx="749769"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a:t>
            </a:r>
            <a:endParaRPr lang="zh-CN" altLang="en-US" sz="1800" b="1" dirty="0">
              <a:latin typeface="微软雅黑" panose="020B0503020204020204" pitchFamily="34" charset="-122"/>
              <a:ea typeface="微软雅黑" panose="020B0503020204020204" pitchFamily="34" charset="-122"/>
            </a:endParaRPr>
          </a:p>
        </p:txBody>
      </p:sp>
      <p:sp>
        <p:nvSpPr>
          <p:cNvPr id="12" name="矩形: 圆角 18">
            <a:extLst>
              <a:ext uri="{FF2B5EF4-FFF2-40B4-BE49-F238E27FC236}">
                <a16:creationId xmlns:a16="http://schemas.microsoft.com/office/drawing/2014/main" xmlns=""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smtClean="0">
                <a:solidFill>
                  <a:schemeClr val="bg1"/>
                </a:solidFill>
                <a:latin typeface="Microsoft YaHei" panose="020B0503020204020204" pitchFamily="34" charset="-122"/>
                <a:ea typeface="Microsoft YaHei" panose="020B0503020204020204" pitchFamily="34" charset="-122"/>
              </a:rPr>
              <a:t>像管</a:t>
            </a:r>
            <a:endParaRPr kumimoji="1" lang="zh-CN" altLang="en-US" sz="4400" b="1" dirty="0">
              <a:solidFill>
                <a:schemeClr val="bg1"/>
              </a:solidFill>
              <a:latin typeface="Microsoft YaHei" panose="020B0503020204020204" pitchFamily="34" charset="-122"/>
              <a:ea typeface="Microsoft YaHei" panose="020B0503020204020204" pitchFamily="34" charset="-122"/>
            </a:endParaRPr>
          </a:p>
        </p:txBody>
      </p:sp>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7.1</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30253" y="673542"/>
            <a:ext cx="644536" cy="6129"/>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pic>
        <p:nvPicPr>
          <p:cNvPr id="20" name="图片 2" descr="20110417234059_50273.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78579" y="2045093"/>
            <a:ext cx="2966145"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9" descr="微光夜瞄准镜.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57073" y="4315378"/>
            <a:ext cx="4204228" cy="2080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7" descr="an-pvs-4-dvic5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1387" y="4189805"/>
            <a:ext cx="4570501" cy="2238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5"/>
          <p:cNvSpPr>
            <a:spLocks noChangeArrowheads="1"/>
          </p:cNvSpPr>
          <p:nvPr/>
        </p:nvSpPr>
        <p:spPr bwMode="auto">
          <a:xfrm>
            <a:off x="2412361" y="6428688"/>
            <a:ext cx="27860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buClr>
                <a:schemeClr val="folHlink"/>
              </a:buClr>
              <a:buSzPct val="60000"/>
            </a:pPr>
            <a:r>
              <a:rPr lang="zh-CN" altLang="en-US" sz="3600" b="1" dirty="0">
                <a:solidFill>
                  <a:srgbClr val="FF0000"/>
                </a:solidFill>
                <a:latin typeface="华文琥珀" panose="02010800040101010101" pitchFamily="2" charset="-122"/>
                <a:ea typeface="华文琥珀" panose="02010800040101010101" pitchFamily="2" charset="-122"/>
              </a:rPr>
              <a:t>微光夜瞄镜</a:t>
            </a:r>
            <a:r>
              <a:rPr lang="zh-CN" altLang="en-US" sz="3600" dirty="0">
                <a:solidFill>
                  <a:srgbClr val="FF0000"/>
                </a:solidFill>
                <a:latin typeface="华文琥珀" panose="02010800040101010101" pitchFamily="2" charset="-122"/>
                <a:ea typeface="华文琥珀" panose="02010800040101010101" pitchFamily="2" charset="-122"/>
              </a:rPr>
              <a:t>        </a:t>
            </a:r>
            <a:endParaRPr lang="zh-CN" altLang="en-US" sz="3600" b="1" dirty="0">
              <a:solidFill>
                <a:srgbClr val="FF0000"/>
              </a:solidFill>
              <a:latin typeface="华文琥珀" panose="02010800040101010101" pitchFamily="2" charset="-122"/>
              <a:ea typeface="华文琥珀" panose="02010800040101010101" pitchFamily="2" charset="-122"/>
            </a:endParaRPr>
          </a:p>
        </p:txBody>
      </p:sp>
      <p:pic>
        <p:nvPicPr>
          <p:cNvPr id="24" name="图片 10" descr="夜视头盔.bmp"/>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961407" y="2086441"/>
            <a:ext cx="5548062" cy="1907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Rectangle 8"/>
          <p:cNvSpPr>
            <a:spLocks noChangeArrowheads="1"/>
          </p:cNvSpPr>
          <p:nvPr/>
        </p:nvSpPr>
        <p:spPr bwMode="auto">
          <a:xfrm>
            <a:off x="8352850" y="1369683"/>
            <a:ext cx="29543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sz="3600" b="1" dirty="0">
                <a:solidFill>
                  <a:srgbClr val="0000CC"/>
                </a:solidFill>
                <a:latin typeface="华文琥珀" panose="02010800040101010101" pitchFamily="2" charset="-122"/>
                <a:ea typeface="华文琥珀" panose="02010800040101010101" pitchFamily="2" charset="-122"/>
              </a:rPr>
              <a:t>微光夜视眼镜</a:t>
            </a:r>
          </a:p>
        </p:txBody>
      </p:sp>
      <p:sp>
        <p:nvSpPr>
          <p:cNvPr id="26" name="文本框 60">
            <a:extLst>
              <a:ext uri="{FF2B5EF4-FFF2-40B4-BE49-F238E27FC236}">
                <a16:creationId xmlns:a16="http://schemas.microsoft.com/office/drawing/2014/main" xmlns="" id="{791D85D7-F412-9C48-9F2B-E33F5B7B4F3C}"/>
              </a:ext>
            </a:extLst>
          </p:cNvPr>
          <p:cNvSpPr txBox="1"/>
          <p:nvPr/>
        </p:nvSpPr>
        <p:spPr>
          <a:xfrm>
            <a:off x="1530253" y="304210"/>
            <a:ext cx="749769"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a:t>
            </a:r>
            <a:endParaRPr lang="zh-CN" altLang="en-US" sz="1800" b="1" dirty="0">
              <a:latin typeface="微软雅黑" panose="020B0503020204020204" pitchFamily="34" charset="-122"/>
              <a:ea typeface="微软雅黑" panose="020B0503020204020204" pitchFamily="34" charset="-122"/>
            </a:endParaRPr>
          </a:p>
        </p:txBody>
      </p:sp>
      <p:cxnSp>
        <p:nvCxnSpPr>
          <p:cNvPr id="27"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30253" y="673542"/>
            <a:ext cx="644536" cy="6129"/>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6" name="TextBox 1"/>
          <p:cNvSpPr txBox="1">
            <a:spLocks noChangeArrowheads="1"/>
          </p:cNvSpPr>
          <p:nvPr/>
        </p:nvSpPr>
        <p:spPr bwMode="auto">
          <a:xfrm>
            <a:off x="2357697" y="1646530"/>
            <a:ext cx="9182030" cy="1412875"/>
          </a:xfrm>
          <a:prstGeom prst="rect">
            <a:avLst/>
          </a:prstGeom>
          <a:noFill/>
          <a:ln w="3810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sz="2800" b="1" dirty="0">
                <a:solidFill>
                  <a:srgbClr val="FF0000"/>
                </a:solidFill>
                <a:ea typeface="微软雅黑" panose="020B0503020204020204" pitchFamily="34" charset="-122"/>
                <a:cs typeface="Times New Roman" panose="02020603050405020304" pitchFamily="18" charset="0"/>
              </a:rPr>
              <a:t>像管</a:t>
            </a:r>
            <a:r>
              <a:rPr lang="zh-CN" altLang="en-US" sz="2800" b="1" dirty="0">
                <a:ea typeface="微软雅黑" panose="020B0503020204020204" pitchFamily="34" charset="-122"/>
                <a:cs typeface="Times New Roman" panose="02020603050405020304" pitchFamily="18" charset="0"/>
              </a:rPr>
              <a:t>是</a:t>
            </a:r>
            <a:r>
              <a:rPr kumimoji="1" lang="zh-CN" altLang="en-US" sz="2800" b="1" dirty="0">
                <a:ea typeface="微软雅黑" panose="020B0503020204020204" pitchFamily="34" charset="-122"/>
                <a:cs typeface="Times New Roman" panose="02020603050405020304" pitchFamily="18" charset="0"/>
              </a:rPr>
              <a:t>使不可见光或微弱可见光辐射图像转换为人眼可以直接观察图像的真空成像器件。</a:t>
            </a:r>
            <a:endParaRPr lang="zh-CN" altLang="en-US" sz="2800" b="1" dirty="0">
              <a:ea typeface="微软雅黑" panose="020B0503020204020204" pitchFamily="34" charset="-122"/>
              <a:cs typeface="Times New Roman" panose="02020603050405020304" pitchFamily="18" charset="0"/>
            </a:endParaRPr>
          </a:p>
        </p:txBody>
      </p:sp>
      <p:sp>
        <p:nvSpPr>
          <p:cNvPr id="27" name="TextBox 2"/>
          <p:cNvSpPr txBox="1">
            <a:spLocks noChangeArrowheads="1"/>
          </p:cNvSpPr>
          <p:nvPr/>
        </p:nvSpPr>
        <p:spPr bwMode="auto">
          <a:xfrm>
            <a:off x="2211387" y="3990911"/>
            <a:ext cx="576262" cy="1593850"/>
          </a:xfrm>
          <a:prstGeom prst="rect">
            <a:avLst/>
          </a:prstGeom>
          <a:solidFill>
            <a:schemeClr val="accent6">
              <a:lumMod val="60000"/>
              <a:lumOff val="40000"/>
            </a:schemeClr>
          </a:solidFill>
          <a:ln w="38100">
            <a:solidFill>
              <a:srgbClr val="0000CC"/>
            </a:solidFill>
            <a:miter lim="800000"/>
            <a:headEnd/>
            <a:tailEnd/>
          </a:ln>
        </p:spPr>
        <p:txBody>
          <a:bodyPr>
            <a:spAutoFit/>
          </a:bodyPr>
          <a:lstStyle/>
          <a:p>
            <a:pPr>
              <a:lnSpc>
                <a:spcPct val="150000"/>
              </a:lnSpc>
              <a:defRPr/>
            </a:pPr>
            <a:r>
              <a:rPr lang="zh-CN" altLang="en-US" sz="3200" b="1" dirty="0">
                <a:ea typeface="微软雅黑" pitchFamily="34" charset="-122"/>
                <a:cs typeface="Times New Roman" pitchFamily="18" charset="0"/>
              </a:rPr>
              <a:t>像管</a:t>
            </a:r>
          </a:p>
        </p:txBody>
      </p:sp>
      <p:sp>
        <p:nvSpPr>
          <p:cNvPr id="28" name="AutoShape 6"/>
          <p:cNvSpPr>
            <a:spLocks/>
          </p:cNvSpPr>
          <p:nvPr/>
        </p:nvSpPr>
        <p:spPr bwMode="auto">
          <a:xfrm>
            <a:off x="3024378" y="4052824"/>
            <a:ext cx="142875" cy="1643888"/>
          </a:xfrm>
          <a:prstGeom prst="leftBrace">
            <a:avLst>
              <a:gd name="adj1" fmla="val 44337"/>
              <a:gd name="adj2" fmla="val 50000"/>
            </a:avLst>
          </a:prstGeom>
          <a:noFill/>
          <a:ln w="38100">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endParaRPr lang="zh-CN" altLang="en-US" sz="2800" b="1">
              <a:ea typeface="微软雅黑" panose="020B0503020204020204" pitchFamily="34" charset="-122"/>
              <a:cs typeface="Times New Roman" panose="02020603050405020304" pitchFamily="18" charset="0"/>
            </a:endParaRPr>
          </a:p>
        </p:txBody>
      </p:sp>
      <p:sp>
        <p:nvSpPr>
          <p:cNvPr id="29" name="Text Box 7"/>
          <p:cNvSpPr txBox="1">
            <a:spLocks noChangeArrowheads="1"/>
          </p:cNvSpPr>
          <p:nvPr/>
        </p:nvSpPr>
        <p:spPr bwMode="auto">
          <a:xfrm>
            <a:off x="3310128" y="3614674"/>
            <a:ext cx="2133600" cy="752475"/>
          </a:xfrm>
          <a:prstGeom prst="rect">
            <a:avLst/>
          </a:prstGeom>
          <a:noFill/>
          <a:ln w="3810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spcBef>
                <a:spcPct val="50000"/>
              </a:spcBef>
            </a:pPr>
            <a:r>
              <a:rPr kumimoji="1" lang="zh-CN" altLang="en-US" sz="2800" b="1" dirty="0">
                <a:solidFill>
                  <a:srgbClr val="FF0000"/>
                </a:solidFill>
                <a:ea typeface="微软雅黑" panose="020B0503020204020204" pitchFamily="34" charset="-122"/>
                <a:cs typeface="Times New Roman" panose="02020603050405020304" pitchFamily="18" charset="0"/>
              </a:rPr>
              <a:t>变像管 </a:t>
            </a:r>
          </a:p>
        </p:txBody>
      </p:sp>
      <p:sp>
        <p:nvSpPr>
          <p:cNvPr id="30" name="Text Box 8"/>
          <p:cNvSpPr txBox="1">
            <a:spLocks noChangeArrowheads="1"/>
          </p:cNvSpPr>
          <p:nvPr/>
        </p:nvSpPr>
        <p:spPr bwMode="auto">
          <a:xfrm>
            <a:off x="3310128" y="5306822"/>
            <a:ext cx="2133600" cy="771525"/>
          </a:xfrm>
          <a:prstGeom prst="rect">
            <a:avLst/>
          </a:prstGeom>
          <a:noFill/>
          <a:ln w="3810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spcBef>
                <a:spcPct val="50000"/>
              </a:spcBef>
            </a:pPr>
            <a:r>
              <a:rPr kumimoji="1" lang="zh-CN" altLang="en-US" sz="2800" b="1" dirty="0">
                <a:solidFill>
                  <a:srgbClr val="0000CC"/>
                </a:solidFill>
                <a:ea typeface="微软雅黑" panose="020B0503020204020204" pitchFamily="34" charset="-122"/>
                <a:cs typeface="Times New Roman" panose="02020603050405020304" pitchFamily="18" charset="0"/>
              </a:rPr>
              <a:t>图像增强管 </a:t>
            </a:r>
          </a:p>
        </p:txBody>
      </p:sp>
      <p:sp>
        <p:nvSpPr>
          <p:cNvPr id="31" name="Text Box 9"/>
          <p:cNvSpPr txBox="1">
            <a:spLocks noChangeArrowheads="1"/>
          </p:cNvSpPr>
          <p:nvPr/>
        </p:nvSpPr>
        <p:spPr bwMode="auto">
          <a:xfrm>
            <a:off x="5586603" y="3401949"/>
            <a:ext cx="5953125" cy="1412875"/>
          </a:xfrm>
          <a:prstGeom prst="rect">
            <a:avLst/>
          </a:prstGeom>
          <a:solidFill>
            <a:srgbClr val="FFFF00"/>
          </a:solidFill>
          <a:ln w="38100">
            <a:solidFill>
              <a:srgbClr val="0000CC"/>
            </a:solidFill>
            <a:miter lim="800000"/>
            <a:headEnd/>
            <a:tailEnd/>
          </a:ln>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zh-CN" altLang="en-US" sz="2800" b="1" dirty="0">
                <a:ea typeface="微软雅黑" panose="020B0503020204020204" pitchFamily="34" charset="-122"/>
                <a:cs typeface="Times New Roman" panose="02020603050405020304" pitchFamily="18" charset="0"/>
              </a:rPr>
              <a:t>能够把不可见光图像变为可见光图像。</a:t>
            </a:r>
            <a:r>
              <a:rPr kumimoji="1" lang="en-US" altLang="zh-CN" sz="2800" b="1" dirty="0">
                <a:ea typeface="微软雅黑" panose="020B0503020204020204" pitchFamily="34" charset="-122"/>
                <a:cs typeface="Times New Roman" panose="02020603050405020304" pitchFamily="18" charset="0"/>
              </a:rPr>
              <a:t>--</a:t>
            </a:r>
            <a:r>
              <a:rPr kumimoji="1" lang="zh-CN" altLang="en-US" sz="2800" b="1" dirty="0">
                <a:solidFill>
                  <a:srgbClr val="FF0000"/>
                </a:solidFill>
                <a:ea typeface="微软雅黑" panose="020B0503020204020204" pitchFamily="34" charset="-122"/>
                <a:cs typeface="Times New Roman" panose="02020603050405020304" pitchFamily="18" charset="0"/>
              </a:rPr>
              <a:t>光谱变换 </a:t>
            </a:r>
          </a:p>
        </p:txBody>
      </p:sp>
      <p:sp>
        <p:nvSpPr>
          <p:cNvPr id="32" name="Text Box 10"/>
          <p:cNvSpPr txBox="1">
            <a:spLocks noChangeArrowheads="1"/>
          </p:cNvSpPr>
          <p:nvPr/>
        </p:nvSpPr>
        <p:spPr bwMode="auto">
          <a:xfrm>
            <a:off x="5586602" y="5138547"/>
            <a:ext cx="5953125" cy="1155700"/>
          </a:xfrm>
          <a:prstGeom prst="rect">
            <a:avLst/>
          </a:prstGeom>
          <a:solidFill>
            <a:srgbClr val="00B0F0"/>
          </a:solidFill>
          <a:ln w="38100">
            <a:solidFill>
              <a:srgbClr val="0000CC"/>
            </a:solidFill>
            <a:miter lim="800000"/>
            <a:headEnd/>
            <a:tailEnd/>
          </a:ln>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kumimoji="1" lang="zh-CN" altLang="en-US" sz="2800" b="1">
                <a:ea typeface="微软雅黑" panose="020B0503020204020204" pitchFamily="34" charset="-122"/>
                <a:cs typeface="Times New Roman" panose="02020603050405020304" pitchFamily="18" charset="0"/>
              </a:rPr>
              <a:t>能够把亮度很低的光学图像变为有足够亮度图像。</a:t>
            </a:r>
            <a:r>
              <a:rPr kumimoji="1" lang="en-US" altLang="zh-CN" sz="2800" b="1">
                <a:ea typeface="微软雅黑" panose="020B0503020204020204" pitchFamily="34" charset="-122"/>
                <a:cs typeface="Times New Roman" panose="02020603050405020304" pitchFamily="18" charset="0"/>
              </a:rPr>
              <a:t>--</a:t>
            </a:r>
            <a:r>
              <a:rPr kumimoji="1" lang="zh-CN" altLang="en-US" sz="2800" b="1">
                <a:solidFill>
                  <a:srgbClr val="FF0000"/>
                </a:solidFill>
                <a:ea typeface="微软雅黑" panose="020B0503020204020204" pitchFamily="34" charset="-122"/>
                <a:cs typeface="Times New Roman" panose="02020603050405020304" pitchFamily="18" charset="0"/>
              </a:rPr>
              <a:t>亮度增强 </a:t>
            </a:r>
          </a:p>
        </p:txBody>
      </p:sp>
      <p:sp>
        <p:nvSpPr>
          <p:cNvPr id="20" name="文本框 60">
            <a:extLst>
              <a:ext uri="{FF2B5EF4-FFF2-40B4-BE49-F238E27FC236}">
                <a16:creationId xmlns:a16="http://schemas.microsoft.com/office/drawing/2014/main" xmlns="" id="{791D85D7-F412-9C48-9F2B-E33F5B7B4F3C}"/>
              </a:ext>
            </a:extLst>
          </p:cNvPr>
          <p:cNvSpPr txBox="1"/>
          <p:nvPr/>
        </p:nvSpPr>
        <p:spPr>
          <a:xfrm>
            <a:off x="1530253" y="304210"/>
            <a:ext cx="749769"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a:t>
            </a:r>
            <a:endParaRPr lang="zh-CN" altLang="en-US" sz="1800" b="1" dirty="0">
              <a:latin typeface="微软雅黑" panose="020B0503020204020204" pitchFamily="34" charset="-122"/>
              <a:ea typeface="微软雅黑" panose="020B0503020204020204" pitchFamily="34" charset="-122"/>
            </a:endParaRPr>
          </a:p>
        </p:txBody>
      </p:sp>
      <p:cxnSp>
        <p:nvCxnSpPr>
          <p:cNvPr id="21"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30253" y="673542"/>
            <a:ext cx="644536" cy="6129"/>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edge">
                                      <p:cBhvr>
                                        <p:cTn id="7" dur="20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ox(in)">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box(in)">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3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800" decel="100000"/>
                                        <p:tgtEl>
                                          <p:spTgt spid="29"/>
                                        </p:tgtEl>
                                      </p:cBhvr>
                                    </p:animEffect>
                                    <p:anim calcmode="lin" valueType="num">
                                      <p:cBhvr>
                                        <p:cTn id="23" dur="800" decel="100000" fill="hold"/>
                                        <p:tgtEl>
                                          <p:spTgt spid="29"/>
                                        </p:tgtEl>
                                        <p:attrNameLst>
                                          <p:attrName>style.rotation</p:attrName>
                                        </p:attrNameLst>
                                      </p:cBhvr>
                                      <p:tavLst>
                                        <p:tav tm="0">
                                          <p:val>
                                            <p:fltVal val="-90"/>
                                          </p:val>
                                        </p:tav>
                                        <p:tav tm="100000">
                                          <p:val>
                                            <p:fltVal val="0"/>
                                          </p:val>
                                        </p:tav>
                                      </p:tavLst>
                                    </p:anim>
                                    <p:anim calcmode="lin" valueType="num">
                                      <p:cBhvr>
                                        <p:cTn id="24" dur="800" decel="100000" fill="hold"/>
                                        <p:tgtEl>
                                          <p:spTgt spid="29"/>
                                        </p:tgtEl>
                                        <p:attrNameLst>
                                          <p:attrName>ppt_x</p:attrName>
                                        </p:attrNameLst>
                                      </p:cBhvr>
                                      <p:tavLst>
                                        <p:tav tm="0">
                                          <p:val>
                                            <p:strVal val="#ppt_x+0.4"/>
                                          </p:val>
                                        </p:tav>
                                        <p:tav tm="100000">
                                          <p:val>
                                            <p:strVal val="#ppt_x-0.05"/>
                                          </p:val>
                                        </p:tav>
                                      </p:tavLst>
                                    </p:anim>
                                    <p:anim calcmode="lin" valueType="num">
                                      <p:cBhvr>
                                        <p:cTn id="25" dur="800" decel="100000" fill="hold"/>
                                        <p:tgtEl>
                                          <p:spTgt spid="29"/>
                                        </p:tgtEl>
                                        <p:attrNameLst>
                                          <p:attrName>ppt_y</p:attrName>
                                        </p:attrNameLst>
                                      </p:cBhvr>
                                      <p:tavLst>
                                        <p:tav tm="0">
                                          <p:val>
                                            <p:strVal val="#ppt_y-0.4"/>
                                          </p:val>
                                        </p:tav>
                                        <p:tav tm="100000">
                                          <p:val>
                                            <p:strVal val="#ppt_y+0.1"/>
                                          </p:val>
                                        </p:tav>
                                      </p:tavLst>
                                    </p:anim>
                                    <p:anim calcmode="lin" valueType="num">
                                      <p:cBhvr>
                                        <p:cTn id="26" dur="200" accel="100000" fill="hold">
                                          <p:stCondLst>
                                            <p:cond delay="800"/>
                                          </p:stCondLst>
                                        </p:cTn>
                                        <p:tgtEl>
                                          <p:spTgt spid="29"/>
                                        </p:tgtEl>
                                        <p:attrNameLst>
                                          <p:attrName>ppt_x</p:attrName>
                                        </p:attrNameLst>
                                      </p:cBhvr>
                                      <p:tavLst>
                                        <p:tav tm="0">
                                          <p:val>
                                            <p:strVal val="#ppt_x-0.05"/>
                                          </p:val>
                                        </p:tav>
                                        <p:tav tm="100000">
                                          <p:val>
                                            <p:strVal val="#ppt_x"/>
                                          </p:val>
                                        </p:tav>
                                      </p:tavLst>
                                    </p:anim>
                                    <p:anim calcmode="lin" valueType="num">
                                      <p:cBhvr>
                                        <p:cTn id="27" dur="200" accel="100000" fill="hold">
                                          <p:stCondLst>
                                            <p:cond delay="800"/>
                                          </p:stCondLst>
                                        </p:cTn>
                                        <p:tgtEl>
                                          <p:spTgt spid="29"/>
                                        </p:tgtEl>
                                        <p:attrNameLst>
                                          <p:attrName>ppt_y</p:attrName>
                                        </p:attrNameLst>
                                      </p:cBhvr>
                                      <p:tavLst>
                                        <p:tav tm="0">
                                          <p:val>
                                            <p:strVal val="#ppt_y+0.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box(in)">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800" decel="100000"/>
                                        <p:tgtEl>
                                          <p:spTgt spid="30"/>
                                        </p:tgtEl>
                                      </p:cBhvr>
                                    </p:animEffect>
                                    <p:anim calcmode="lin" valueType="num">
                                      <p:cBhvr>
                                        <p:cTn id="38" dur="800" decel="100000" fill="hold"/>
                                        <p:tgtEl>
                                          <p:spTgt spid="30"/>
                                        </p:tgtEl>
                                        <p:attrNameLst>
                                          <p:attrName>style.rotation</p:attrName>
                                        </p:attrNameLst>
                                      </p:cBhvr>
                                      <p:tavLst>
                                        <p:tav tm="0">
                                          <p:val>
                                            <p:fltVal val="-90"/>
                                          </p:val>
                                        </p:tav>
                                        <p:tav tm="100000">
                                          <p:val>
                                            <p:fltVal val="0"/>
                                          </p:val>
                                        </p:tav>
                                      </p:tavLst>
                                    </p:anim>
                                    <p:anim calcmode="lin" valueType="num">
                                      <p:cBhvr>
                                        <p:cTn id="39" dur="800" decel="100000" fill="hold"/>
                                        <p:tgtEl>
                                          <p:spTgt spid="30"/>
                                        </p:tgtEl>
                                        <p:attrNameLst>
                                          <p:attrName>ppt_x</p:attrName>
                                        </p:attrNameLst>
                                      </p:cBhvr>
                                      <p:tavLst>
                                        <p:tav tm="0">
                                          <p:val>
                                            <p:strVal val="#ppt_x+0.4"/>
                                          </p:val>
                                        </p:tav>
                                        <p:tav tm="100000">
                                          <p:val>
                                            <p:strVal val="#ppt_x-0.05"/>
                                          </p:val>
                                        </p:tav>
                                      </p:tavLst>
                                    </p:anim>
                                    <p:anim calcmode="lin" valueType="num">
                                      <p:cBhvr>
                                        <p:cTn id="40" dur="800" decel="100000" fill="hold"/>
                                        <p:tgtEl>
                                          <p:spTgt spid="30"/>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30"/>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30"/>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ox(in)">
                                      <p:cBhvr>
                                        <p:cTn id="4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356514" y="293282"/>
            <a:ext cx="2675878" cy="369332"/>
          </a:xfrm>
          <a:prstGeom prst="rect">
            <a:avLst/>
          </a:prstGeom>
          <a:noFill/>
          <a:ln w="9525">
            <a:noFill/>
          </a:ln>
        </p:spPr>
        <p:txBody>
          <a:bodyPr wrap="square">
            <a:spAutoFit/>
          </a:bodyPr>
          <a:lstStyle/>
          <a:p>
            <a:pPr algn="ctr"/>
            <a:r>
              <a:rPr lang="zh-CN" altLang="en-US" sz="1800" b="1" dirty="0" smtClean="0">
                <a:latin typeface="微软雅黑" panose="020B0503020204020204" pitchFamily="34" charset="-122"/>
                <a:ea typeface="微软雅黑" panose="020B0503020204020204" pitchFamily="34" charset="-122"/>
              </a:rPr>
              <a:t>像管的基本原理与结构</a:t>
            </a:r>
            <a:endParaRPr lang="zh-CN" altLang="en-US" sz="1800" b="1" dirty="0">
              <a:latin typeface="微软雅黑" panose="020B0503020204020204" pitchFamily="34" charset="-122"/>
              <a:ea typeface="微软雅黑" panose="020B0503020204020204" pitchFamily="34" charset="-122"/>
            </a:endParaRPr>
          </a:p>
        </p:txBody>
      </p:sp>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70453" y="716692"/>
            <a:ext cx="2448000" cy="1235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2" name="矩形: 圆角 18">
            <a:extLst>
              <a:ext uri="{FF2B5EF4-FFF2-40B4-BE49-F238E27FC236}">
                <a16:creationId xmlns:a16="http://schemas.microsoft.com/office/drawing/2014/main" xmlns="" id="{71B2A563-AC54-5347-B843-4478DF223CDE}"/>
              </a:ext>
            </a:extLst>
          </p:cNvPr>
          <p:cNvSpPr/>
          <p:nvPr/>
        </p:nvSpPr>
        <p:spPr>
          <a:xfrm>
            <a:off x="5070623" y="3476625"/>
            <a:ext cx="5401136" cy="850403"/>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smtClean="0">
                <a:solidFill>
                  <a:schemeClr val="bg1"/>
                </a:solidFill>
                <a:latin typeface="Microsoft YaHei" panose="020B0503020204020204" pitchFamily="34" charset="-122"/>
                <a:ea typeface="Microsoft YaHei" panose="020B0503020204020204" pitchFamily="34" charset="-122"/>
              </a:rPr>
              <a:t>像管的基本原理与结构</a:t>
            </a:r>
            <a:endParaRPr kumimoji="1" lang="zh-CN" altLang="en-US" sz="4000" b="1" dirty="0">
              <a:solidFill>
                <a:schemeClr val="bg1"/>
              </a:solidFill>
              <a:latin typeface="Microsoft YaHei" panose="020B0503020204020204" pitchFamily="34" charset="-122"/>
              <a:ea typeface="Microsoft YaHei" panose="020B0503020204020204" pitchFamily="34" charset="-122"/>
            </a:endParaRPr>
          </a:p>
        </p:txBody>
      </p:sp>
      <p:sp>
        <p:nvSpPr>
          <p:cNvPr id="23" name="矩形 22">
            <a:extLst>
              <a:ext uri="{FF2B5EF4-FFF2-40B4-BE49-F238E27FC236}">
                <a16:creationId xmlns:a16="http://schemas.microsoft.com/office/drawing/2014/main" xmlns="" id="{045D4FB5-3BA7-4366-9C2A-762F1105D91A}"/>
              </a:ext>
            </a:extLst>
          </p:cNvPr>
          <p:cNvSpPr/>
          <p:nvPr/>
        </p:nvSpPr>
        <p:spPr>
          <a:xfrm>
            <a:off x="2860247" y="3283064"/>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7.1.1</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45058" name="Object 2"/>
          <p:cNvGraphicFramePr>
            <a:graphicFrameLocks noChangeAspect="1"/>
          </p:cNvGraphicFramePr>
          <p:nvPr/>
        </p:nvGraphicFramePr>
        <p:xfrm>
          <a:off x="1879600" y="3136900"/>
          <a:ext cx="9334500" cy="3060700"/>
        </p:xfrm>
        <a:graphic>
          <a:graphicData uri="http://schemas.openxmlformats.org/presentationml/2006/ole">
            <mc:AlternateContent xmlns:mc="http://schemas.openxmlformats.org/markup-compatibility/2006">
              <mc:Choice xmlns:v="urn:schemas-microsoft-com:vml" Requires="v">
                <p:oleObj spid="_x0000_s45062" name="Visio" r:id="rId3" imgW="2444800" imgH="1072000" progId="">
                  <p:embed/>
                </p:oleObj>
              </mc:Choice>
              <mc:Fallback>
                <p:oleObj name="Visio" r:id="rId3" imgW="2444800" imgH="10720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9600" y="3136900"/>
                        <a:ext cx="9334500" cy="306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文本框 60">
            <a:extLst>
              <a:ext uri="{FF2B5EF4-FFF2-40B4-BE49-F238E27FC236}">
                <a16:creationId xmlns:a16="http://schemas.microsoft.com/office/drawing/2014/main" xmlns="" id="{791D85D7-F412-9C48-9F2B-E33F5B7B4F3C}"/>
              </a:ext>
            </a:extLst>
          </p:cNvPr>
          <p:cNvSpPr txBox="1"/>
          <p:nvPr/>
        </p:nvSpPr>
        <p:spPr>
          <a:xfrm>
            <a:off x="1356514" y="293282"/>
            <a:ext cx="2675878" cy="369332"/>
          </a:xfrm>
          <a:prstGeom prst="rect">
            <a:avLst/>
          </a:prstGeom>
          <a:noFill/>
          <a:ln w="9525">
            <a:noFill/>
          </a:ln>
        </p:spPr>
        <p:txBody>
          <a:bodyPr wrap="square">
            <a:spAutoFit/>
          </a:bodyPr>
          <a:lstStyle/>
          <a:p>
            <a:pPr algn="ctr"/>
            <a:r>
              <a:rPr lang="zh-CN" altLang="en-US" sz="1800" b="1" dirty="0" smtClean="0">
                <a:latin typeface="微软雅黑" panose="020B0503020204020204" pitchFamily="34" charset="-122"/>
                <a:ea typeface="微软雅黑" panose="020B0503020204020204" pitchFamily="34" charset="-122"/>
              </a:rPr>
              <a:t>像管的基本原理与结构</a:t>
            </a:r>
            <a:endParaRPr lang="zh-CN" altLang="en-US" sz="1800" b="1" dirty="0">
              <a:latin typeface="微软雅黑" panose="020B0503020204020204" pitchFamily="34" charset="-122"/>
              <a:ea typeface="微软雅黑" panose="020B0503020204020204" pitchFamily="34" charset="-122"/>
            </a:endParaRPr>
          </a:p>
        </p:txBody>
      </p:sp>
      <p:cxnSp>
        <p:nvCxnSpPr>
          <p:cNvPr id="12"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70453" y="716692"/>
            <a:ext cx="2448000" cy="1235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box(in)">
                                      <p:cBhvr>
                                        <p:cTn id="7" dur="500"/>
                                        <p:tgtEl>
                                          <p:spTgt spid="45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9" name="TextBox 1"/>
          <p:cNvSpPr txBox="1">
            <a:spLocks noChangeArrowheads="1"/>
          </p:cNvSpPr>
          <p:nvPr/>
        </p:nvSpPr>
        <p:spPr bwMode="auto">
          <a:xfrm>
            <a:off x="5528404" y="1341351"/>
            <a:ext cx="3500438" cy="617538"/>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solidFill>
                  <a:srgbClr val="0000CC"/>
                </a:solidFill>
                <a:latin typeface="微软雅黑" panose="020B0503020204020204" pitchFamily="34" charset="-122"/>
                <a:ea typeface="微软雅黑" panose="020B0503020204020204" pitchFamily="34" charset="-122"/>
              </a:rPr>
              <a:t>像管由三部分组成</a:t>
            </a:r>
          </a:p>
        </p:txBody>
      </p:sp>
      <p:sp>
        <p:nvSpPr>
          <p:cNvPr id="30" name="TextBox 3"/>
          <p:cNvSpPr txBox="1">
            <a:spLocks noChangeArrowheads="1"/>
          </p:cNvSpPr>
          <p:nvPr/>
        </p:nvSpPr>
        <p:spPr bwMode="auto">
          <a:xfrm>
            <a:off x="2115122" y="2612335"/>
            <a:ext cx="1857375" cy="523220"/>
          </a:xfrm>
          <a:prstGeom prst="rect">
            <a:avLst/>
          </a:prstGeom>
          <a:noFill/>
          <a:ln w="3810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dirty="0">
                <a:solidFill>
                  <a:srgbClr val="FF0000"/>
                </a:solidFill>
                <a:latin typeface="微软雅黑" panose="020B0503020204020204" pitchFamily="34" charset="-122"/>
                <a:ea typeface="微软雅黑" panose="020B0503020204020204" pitchFamily="34" charset="-122"/>
              </a:rPr>
              <a:t>光电阴极</a:t>
            </a:r>
          </a:p>
        </p:txBody>
      </p:sp>
      <p:sp>
        <p:nvSpPr>
          <p:cNvPr id="31" name="TextBox 4"/>
          <p:cNvSpPr txBox="1">
            <a:spLocks noChangeArrowheads="1"/>
          </p:cNvSpPr>
          <p:nvPr/>
        </p:nvSpPr>
        <p:spPr bwMode="auto">
          <a:xfrm>
            <a:off x="6042003" y="2626698"/>
            <a:ext cx="2643188" cy="523220"/>
          </a:xfrm>
          <a:prstGeom prst="rect">
            <a:avLst/>
          </a:prstGeom>
          <a:noFill/>
          <a:ln w="3810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dirty="0">
                <a:solidFill>
                  <a:srgbClr val="C00000"/>
                </a:solidFill>
                <a:latin typeface="微软雅黑" panose="020B0503020204020204" pitchFamily="34" charset="-122"/>
                <a:ea typeface="微软雅黑" panose="020B0503020204020204" pitchFamily="34" charset="-122"/>
              </a:rPr>
              <a:t>电子光学系统</a:t>
            </a:r>
          </a:p>
        </p:txBody>
      </p:sp>
      <p:sp>
        <p:nvSpPr>
          <p:cNvPr id="32" name="TextBox 5"/>
          <p:cNvSpPr txBox="1">
            <a:spLocks noChangeArrowheads="1"/>
          </p:cNvSpPr>
          <p:nvPr/>
        </p:nvSpPr>
        <p:spPr bwMode="auto">
          <a:xfrm>
            <a:off x="10618565" y="2604663"/>
            <a:ext cx="1571625" cy="523220"/>
          </a:xfrm>
          <a:prstGeom prst="rect">
            <a:avLst/>
          </a:prstGeom>
          <a:noFill/>
          <a:ln w="3810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0070C0"/>
                </a:solidFill>
                <a:latin typeface="微软雅黑" panose="020B0503020204020204" pitchFamily="34" charset="-122"/>
                <a:ea typeface="微软雅黑" panose="020B0503020204020204" pitchFamily="34" charset="-122"/>
              </a:rPr>
              <a:t>荧光屏</a:t>
            </a:r>
          </a:p>
        </p:txBody>
      </p:sp>
      <p:sp>
        <p:nvSpPr>
          <p:cNvPr id="33" name="TextBox 6"/>
          <p:cNvSpPr txBox="1">
            <a:spLocks noChangeArrowheads="1"/>
          </p:cNvSpPr>
          <p:nvPr/>
        </p:nvSpPr>
        <p:spPr bwMode="auto">
          <a:xfrm>
            <a:off x="1081088" y="3776472"/>
            <a:ext cx="3697477" cy="2677656"/>
          </a:xfrm>
          <a:prstGeom prst="rect">
            <a:avLst/>
          </a:prstGeom>
          <a:noFill/>
          <a:ln w="3810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pPr>
            <a:r>
              <a:rPr kumimoji="1" lang="zh-CN" altLang="en-US" sz="2800" b="1" dirty="0">
                <a:solidFill>
                  <a:srgbClr val="0000CC"/>
                </a:solidFill>
                <a:latin typeface="微软雅黑" panose="020B0503020204020204" pitchFamily="34" charset="-122"/>
                <a:ea typeface="微软雅黑" panose="020B0503020204020204" pitchFamily="34" charset="-122"/>
              </a:rPr>
              <a:t>光电变换部分，使不可见光图像或亮度很低的光学图像，变成光电子发射图像。</a:t>
            </a:r>
            <a:endParaRPr lang="zh-CN" altLang="en-US" sz="2800" b="1" dirty="0">
              <a:solidFill>
                <a:srgbClr val="0000CC"/>
              </a:solidFill>
              <a:latin typeface="微软雅黑" panose="020B0503020204020204" pitchFamily="34" charset="-122"/>
              <a:ea typeface="微软雅黑" panose="020B0503020204020204" pitchFamily="34" charset="-122"/>
            </a:endParaRPr>
          </a:p>
        </p:txBody>
      </p:sp>
      <p:sp>
        <p:nvSpPr>
          <p:cNvPr id="34" name="TextBox 7"/>
          <p:cNvSpPr txBox="1">
            <a:spLocks noChangeArrowheads="1"/>
          </p:cNvSpPr>
          <p:nvPr/>
        </p:nvSpPr>
        <p:spPr bwMode="auto">
          <a:xfrm>
            <a:off x="4925017" y="3768070"/>
            <a:ext cx="4877161" cy="2677656"/>
          </a:xfrm>
          <a:prstGeom prst="rect">
            <a:avLst/>
          </a:prstGeom>
          <a:noFill/>
          <a:ln w="3810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pPr>
            <a:r>
              <a:rPr kumimoji="1" lang="zh-CN" altLang="en-US" sz="2800" b="1">
                <a:solidFill>
                  <a:srgbClr val="C00000"/>
                </a:solidFill>
                <a:latin typeface="微软雅黑" panose="020B0503020204020204" pitchFamily="34" charset="-122"/>
                <a:ea typeface="微软雅黑" panose="020B0503020204020204" pitchFamily="34" charset="-122"/>
              </a:rPr>
              <a:t>电子透镜，有电聚焦和磁聚焦两种形式，使光电阴极发射出来的光电子图像，在保持相对分布不变的情况下进行加速。</a:t>
            </a:r>
            <a:endParaRPr lang="zh-CN" altLang="en-US" sz="2800" b="1">
              <a:solidFill>
                <a:srgbClr val="C00000"/>
              </a:solidFill>
              <a:latin typeface="微软雅黑" panose="020B0503020204020204" pitchFamily="34" charset="-122"/>
              <a:ea typeface="微软雅黑" panose="020B0503020204020204" pitchFamily="34" charset="-122"/>
            </a:endParaRPr>
          </a:p>
        </p:txBody>
      </p:sp>
      <p:sp>
        <p:nvSpPr>
          <p:cNvPr id="35" name="TextBox 8"/>
          <p:cNvSpPr txBox="1">
            <a:spLocks noChangeArrowheads="1"/>
          </p:cNvSpPr>
          <p:nvPr/>
        </p:nvSpPr>
        <p:spPr bwMode="auto">
          <a:xfrm>
            <a:off x="10025635" y="3768070"/>
            <a:ext cx="2757487" cy="2677656"/>
          </a:xfrm>
          <a:prstGeom prst="rect">
            <a:avLst/>
          </a:prstGeom>
          <a:noFill/>
          <a:ln w="3810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pPr>
            <a:r>
              <a:rPr kumimoji="1" lang="zh-CN" altLang="en-US" sz="2800" b="1">
                <a:solidFill>
                  <a:srgbClr val="0000CC"/>
                </a:solidFill>
                <a:latin typeface="微软雅黑" panose="020B0503020204020204" pitchFamily="34" charset="-122"/>
                <a:ea typeface="微软雅黑" panose="020B0503020204020204" pitchFamily="34" charset="-122"/>
              </a:rPr>
              <a:t>电光变换部分，使打到它上面的电子图像变成可见光</a:t>
            </a:r>
            <a:r>
              <a:rPr kumimoji="1" lang="zh-CN" altLang="en-US" sz="2800">
                <a:solidFill>
                  <a:srgbClr val="0000CC"/>
                </a:solidFill>
                <a:latin typeface="微软雅黑" panose="020B0503020204020204" pitchFamily="34" charset="-122"/>
                <a:ea typeface="微软雅黑" panose="020B0503020204020204" pitchFamily="34" charset="-122"/>
              </a:rPr>
              <a:t>。</a:t>
            </a:r>
            <a:endParaRPr lang="zh-CN" altLang="en-US" sz="2800" b="1">
              <a:solidFill>
                <a:srgbClr val="0000CC"/>
              </a:solidFill>
              <a:latin typeface="微软雅黑" panose="020B0503020204020204" pitchFamily="34" charset="-122"/>
              <a:ea typeface="微软雅黑" panose="020B0503020204020204" pitchFamily="34" charset="-122"/>
            </a:endParaRPr>
          </a:p>
        </p:txBody>
      </p:sp>
      <p:grpSp>
        <p:nvGrpSpPr>
          <p:cNvPr id="36" name="组合 13"/>
          <p:cNvGrpSpPr>
            <a:grpSpLocks/>
          </p:cNvGrpSpPr>
          <p:nvPr/>
        </p:nvGrpSpPr>
        <p:grpSpPr bwMode="auto">
          <a:xfrm>
            <a:off x="3035808" y="2031111"/>
            <a:ext cx="8485632" cy="527727"/>
            <a:chOff x="1424221" y="1509042"/>
            <a:chExt cx="6286500" cy="703057"/>
          </a:xfrm>
        </p:grpSpPr>
        <p:sp>
          <p:nvSpPr>
            <p:cNvPr id="37" name="右大括号 2"/>
            <p:cNvSpPr>
              <a:spLocks/>
            </p:cNvSpPr>
            <p:nvPr/>
          </p:nvSpPr>
          <p:spPr bwMode="auto">
            <a:xfrm rot="16200000">
              <a:off x="4246002" y="-1312739"/>
              <a:ext cx="642937" cy="6286500"/>
            </a:xfrm>
            <a:prstGeom prst="rightBrace">
              <a:avLst>
                <a:gd name="adj1" fmla="val 0"/>
                <a:gd name="adj2" fmla="val 50000"/>
              </a:avLst>
            </a:prstGeom>
            <a:solidFill>
              <a:schemeClr val="bg1"/>
            </a:solidFill>
            <a:ln w="38100" algn="ctr">
              <a:solidFill>
                <a:srgbClr val="0000CC"/>
              </a:solidFill>
              <a:round/>
              <a:headEnd/>
              <a:tailEnd/>
            </a:ln>
          </p:spPr>
          <p:txBody>
            <a:bodyPr rot="10800000"/>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latin typeface="微软雅黑" panose="020B0503020204020204" pitchFamily="34" charset="-122"/>
                <a:ea typeface="微软雅黑" panose="020B0503020204020204" pitchFamily="34" charset="-122"/>
              </a:endParaRPr>
            </a:p>
          </p:txBody>
        </p:sp>
        <p:cxnSp>
          <p:nvCxnSpPr>
            <p:cNvPr id="38" name="直接连接符 10"/>
            <p:cNvCxnSpPr>
              <a:cxnSpLocks noChangeShapeType="1"/>
            </p:cNvCxnSpPr>
            <p:nvPr/>
          </p:nvCxnSpPr>
          <p:spPr bwMode="auto">
            <a:xfrm rot="5400000">
              <a:off x="4389672" y="2032712"/>
              <a:ext cx="357187" cy="1588"/>
            </a:xfrm>
            <a:prstGeom prst="line">
              <a:avLst/>
            </a:prstGeom>
            <a:noFill/>
            <a:ln w="38100" algn="ctr">
              <a:solidFill>
                <a:srgbClr val="0000CC"/>
              </a:solidFill>
              <a:round/>
              <a:headEnd/>
              <a:tailEnd/>
            </a:ln>
            <a:extLst>
              <a:ext uri="{909E8E84-426E-40DD-AFC4-6F175D3DCCD1}">
                <a14:hiddenFill xmlns:a14="http://schemas.microsoft.com/office/drawing/2010/main">
                  <a:noFill/>
                </a14:hiddenFill>
              </a:ext>
            </a:extLst>
          </p:spPr>
        </p:cxnSp>
      </p:grpSp>
      <p:sp>
        <p:nvSpPr>
          <p:cNvPr id="39" name="下箭头 11"/>
          <p:cNvSpPr>
            <a:spLocks noChangeArrowheads="1"/>
          </p:cNvSpPr>
          <p:nvPr/>
        </p:nvSpPr>
        <p:spPr bwMode="auto">
          <a:xfrm>
            <a:off x="2644076" y="3214713"/>
            <a:ext cx="571500" cy="482600"/>
          </a:xfrm>
          <a:prstGeom prst="downArrow">
            <a:avLst>
              <a:gd name="adj1" fmla="val 50000"/>
              <a:gd name="adj2" fmla="val 50000"/>
            </a:avLst>
          </a:prstGeom>
          <a:gradFill rotWithShape="1">
            <a:gsLst>
              <a:gs pos="0">
                <a:srgbClr val="FFF200"/>
              </a:gs>
              <a:gs pos="45000">
                <a:srgbClr val="FF7A00"/>
              </a:gs>
              <a:gs pos="70000">
                <a:srgbClr val="FF0300"/>
              </a:gs>
              <a:gs pos="100000">
                <a:srgbClr val="4D0808"/>
              </a:gs>
            </a:gsLst>
            <a:lin ang="16200000" scaled="1"/>
          </a:gradFill>
          <a:ln w="9525" algn="ctr">
            <a:solidFill>
              <a:srgbClr val="0000CC"/>
            </a:solidFill>
            <a:round/>
            <a:headEnd/>
            <a:tailEnd/>
          </a:ln>
        </p:spPr>
        <p:txBody>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latin typeface="微软雅黑" panose="020B0503020204020204" pitchFamily="34" charset="-122"/>
              <a:ea typeface="微软雅黑" panose="020B0503020204020204" pitchFamily="34" charset="-122"/>
            </a:endParaRPr>
          </a:p>
        </p:txBody>
      </p:sp>
      <p:sp>
        <p:nvSpPr>
          <p:cNvPr id="40" name="下箭头 12"/>
          <p:cNvSpPr>
            <a:spLocks noChangeArrowheads="1"/>
          </p:cNvSpPr>
          <p:nvPr/>
        </p:nvSpPr>
        <p:spPr bwMode="auto">
          <a:xfrm>
            <a:off x="7077847" y="3217694"/>
            <a:ext cx="571500" cy="482600"/>
          </a:xfrm>
          <a:prstGeom prst="downArrow">
            <a:avLst>
              <a:gd name="adj1" fmla="val 50000"/>
              <a:gd name="adj2" fmla="val 50000"/>
            </a:avLst>
          </a:prstGeom>
          <a:gradFill rotWithShape="1">
            <a:gsLst>
              <a:gs pos="0">
                <a:srgbClr val="FFF200"/>
              </a:gs>
              <a:gs pos="45000">
                <a:srgbClr val="FF7A00"/>
              </a:gs>
              <a:gs pos="70000">
                <a:srgbClr val="FF0300"/>
              </a:gs>
              <a:gs pos="100000">
                <a:srgbClr val="4D0808"/>
              </a:gs>
            </a:gsLst>
            <a:lin ang="16200000" scaled="1"/>
          </a:gradFill>
          <a:ln w="9525" algn="ctr">
            <a:solidFill>
              <a:srgbClr val="0000CC"/>
            </a:solidFill>
            <a:round/>
            <a:headEnd/>
            <a:tailEnd/>
          </a:ln>
        </p:spPr>
        <p:txBody>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latin typeface="微软雅黑" panose="020B0503020204020204" pitchFamily="34" charset="-122"/>
              <a:ea typeface="微软雅黑" panose="020B0503020204020204" pitchFamily="34" charset="-122"/>
            </a:endParaRPr>
          </a:p>
        </p:txBody>
      </p:sp>
      <p:sp>
        <p:nvSpPr>
          <p:cNvPr id="41" name="下箭头 13"/>
          <p:cNvSpPr>
            <a:spLocks noChangeArrowheads="1"/>
          </p:cNvSpPr>
          <p:nvPr/>
        </p:nvSpPr>
        <p:spPr bwMode="auto">
          <a:xfrm>
            <a:off x="11235689" y="3206676"/>
            <a:ext cx="571500" cy="482600"/>
          </a:xfrm>
          <a:prstGeom prst="downArrow">
            <a:avLst>
              <a:gd name="adj1" fmla="val 50000"/>
              <a:gd name="adj2" fmla="val 50000"/>
            </a:avLst>
          </a:prstGeom>
          <a:gradFill rotWithShape="1">
            <a:gsLst>
              <a:gs pos="0">
                <a:srgbClr val="FFF200"/>
              </a:gs>
              <a:gs pos="45000">
                <a:srgbClr val="FF7A00"/>
              </a:gs>
              <a:gs pos="70000">
                <a:srgbClr val="FF0300"/>
              </a:gs>
              <a:gs pos="100000">
                <a:srgbClr val="4D0808"/>
              </a:gs>
            </a:gsLst>
            <a:lin ang="16200000" scaled="1"/>
          </a:gradFill>
          <a:ln w="9525" algn="ctr">
            <a:solidFill>
              <a:srgbClr val="0000CC"/>
            </a:solidFill>
            <a:round/>
            <a:headEnd/>
            <a:tailEnd/>
          </a:ln>
        </p:spPr>
        <p:txBody>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latin typeface="微软雅黑" panose="020B0503020204020204" pitchFamily="34" charset="-122"/>
              <a:ea typeface="微软雅黑" panose="020B0503020204020204" pitchFamily="34" charset="-122"/>
            </a:endParaRPr>
          </a:p>
        </p:txBody>
      </p:sp>
      <p:sp>
        <p:nvSpPr>
          <p:cNvPr id="22" name="文本框 60">
            <a:extLst>
              <a:ext uri="{FF2B5EF4-FFF2-40B4-BE49-F238E27FC236}">
                <a16:creationId xmlns:a16="http://schemas.microsoft.com/office/drawing/2014/main" xmlns="" id="{791D85D7-F412-9C48-9F2B-E33F5B7B4F3C}"/>
              </a:ext>
            </a:extLst>
          </p:cNvPr>
          <p:cNvSpPr txBox="1"/>
          <p:nvPr/>
        </p:nvSpPr>
        <p:spPr>
          <a:xfrm>
            <a:off x="1356514" y="293282"/>
            <a:ext cx="2675878" cy="369332"/>
          </a:xfrm>
          <a:prstGeom prst="rect">
            <a:avLst/>
          </a:prstGeom>
          <a:noFill/>
          <a:ln w="9525">
            <a:noFill/>
          </a:ln>
        </p:spPr>
        <p:txBody>
          <a:bodyPr wrap="square">
            <a:spAutoFit/>
          </a:bodyPr>
          <a:lstStyle/>
          <a:p>
            <a:pPr algn="ctr"/>
            <a:r>
              <a:rPr lang="zh-CN" altLang="en-US" sz="1800" b="1" dirty="0" smtClean="0">
                <a:latin typeface="微软雅黑" panose="020B0503020204020204" pitchFamily="34" charset="-122"/>
                <a:ea typeface="微软雅黑" panose="020B0503020204020204" pitchFamily="34" charset="-122"/>
              </a:rPr>
              <a:t>像管的基本原理与结构</a:t>
            </a:r>
            <a:endParaRPr lang="zh-CN" altLang="en-US" sz="1800" b="1" dirty="0">
              <a:latin typeface="微软雅黑" panose="020B0503020204020204" pitchFamily="34" charset="-122"/>
              <a:ea typeface="微软雅黑" panose="020B0503020204020204" pitchFamily="34" charset="-122"/>
            </a:endParaRPr>
          </a:p>
        </p:txBody>
      </p:sp>
      <p:cxnSp>
        <p:nvCxnSpPr>
          <p:cNvPr id="2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70453" y="716692"/>
            <a:ext cx="2448000" cy="1235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ox(i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ox(in)">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box(in)">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box(in)">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box(in)">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box(in)">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box(in)">
                                      <p:cBhvr>
                                        <p:cTn id="37" dur="5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box(in)">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ox(in)">
                                      <p:cBhvr>
                                        <p:cTn id="47" dur="5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box(in)">
                                      <p:cBhvr>
                                        <p:cTn id="52" dur="500"/>
                                        <p:tgtEl>
                                          <p:spTgt spid="41"/>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box(in)">
                                      <p:cBhvr>
                                        <p:cTn id="5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9" grpId="0" animBg="1"/>
      <p:bldP spid="40" grpId="0" animBg="1"/>
      <p:bldP spid="4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2" name="TextBox 1"/>
          <p:cNvSpPr txBox="1">
            <a:spLocks noChangeArrowheads="1"/>
          </p:cNvSpPr>
          <p:nvPr/>
        </p:nvSpPr>
        <p:spPr bwMode="auto">
          <a:xfrm>
            <a:off x="3939921" y="1447170"/>
            <a:ext cx="26431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CC"/>
                </a:solidFill>
                <a:ea typeface="微软雅黑" panose="020B0503020204020204" pitchFamily="34" charset="-122"/>
                <a:cs typeface="Times New Roman" panose="02020603050405020304" pitchFamily="18" charset="0"/>
              </a:rPr>
              <a:t>(1)  </a:t>
            </a:r>
            <a:r>
              <a:rPr lang="zh-CN" altLang="en-US" b="1"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光电阴极</a:t>
            </a:r>
          </a:p>
        </p:txBody>
      </p:sp>
      <p:sp>
        <p:nvSpPr>
          <p:cNvPr id="23" name="TextBox 2"/>
          <p:cNvSpPr txBox="1">
            <a:spLocks noChangeArrowheads="1"/>
          </p:cNvSpPr>
          <p:nvPr/>
        </p:nvSpPr>
        <p:spPr bwMode="auto">
          <a:xfrm>
            <a:off x="3939921" y="2274178"/>
            <a:ext cx="6215063"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sz="2800" b="1" dirty="0">
                <a:ea typeface="微软雅黑" panose="020B0503020204020204" pitchFamily="34" charset="-122"/>
                <a:cs typeface="Times New Roman" panose="02020603050405020304" pitchFamily="18" charset="0"/>
              </a:rPr>
              <a:t>像管常用的红外和可见光电阴极材料</a:t>
            </a:r>
            <a:r>
              <a:rPr lang="en-US" altLang="zh-CN" sz="2800" b="1" dirty="0">
                <a:ea typeface="微软雅黑" panose="020B0503020204020204" pitchFamily="34" charset="-122"/>
                <a:cs typeface="Times New Roman" panose="02020603050405020304" pitchFamily="18" charset="0"/>
              </a:rPr>
              <a:t>:</a:t>
            </a:r>
            <a:endParaRPr lang="zh-CN" altLang="en-US" sz="2800" b="1" dirty="0">
              <a:ea typeface="微软雅黑" panose="020B0503020204020204" pitchFamily="34" charset="-122"/>
              <a:cs typeface="Times New Roman" panose="02020603050405020304" pitchFamily="18" charset="0"/>
            </a:endParaRPr>
          </a:p>
        </p:txBody>
      </p:sp>
      <p:sp>
        <p:nvSpPr>
          <p:cNvPr id="24" name="TextBox 3"/>
          <p:cNvSpPr txBox="1">
            <a:spLocks noChangeArrowheads="1"/>
          </p:cNvSpPr>
          <p:nvPr/>
        </p:nvSpPr>
        <p:spPr bwMode="auto">
          <a:xfrm>
            <a:off x="4662297" y="3136552"/>
            <a:ext cx="38576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Font typeface="Wingdings" panose="05000000000000000000" pitchFamily="2" charset="2"/>
              <a:buChar char="l"/>
            </a:pPr>
            <a:r>
              <a:rPr lang="zh-CN" altLang="en-US" sz="2800" b="1" dirty="0">
                <a:ea typeface="微软雅黑" panose="020B0503020204020204" pitchFamily="34" charset="-122"/>
                <a:cs typeface="Times New Roman" panose="02020603050405020304" pitchFamily="18" charset="0"/>
              </a:rPr>
              <a:t> 银氧铯</a:t>
            </a:r>
            <a:r>
              <a:rPr lang="en-US" altLang="zh-CN" sz="2800" b="1" dirty="0">
                <a:ea typeface="微软雅黑" panose="020B0503020204020204" pitchFamily="34" charset="-122"/>
                <a:cs typeface="Times New Roman" panose="02020603050405020304" pitchFamily="18" charset="0"/>
              </a:rPr>
              <a:t>(Ag-O-Cs)</a:t>
            </a:r>
            <a:endParaRPr lang="zh-CN" altLang="en-US" sz="2800" b="1" dirty="0">
              <a:ea typeface="微软雅黑" panose="020B0503020204020204" pitchFamily="34" charset="-122"/>
              <a:cs typeface="Times New Roman" panose="02020603050405020304" pitchFamily="18" charset="0"/>
            </a:endParaRPr>
          </a:p>
        </p:txBody>
      </p:sp>
      <p:sp>
        <p:nvSpPr>
          <p:cNvPr id="25" name="TextBox 4"/>
          <p:cNvSpPr txBox="1">
            <a:spLocks noChangeArrowheads="1"/>
          </p:cNvSpPr>
          <p:nvPr/>
        </p:nvSpPr>
        <p:spPr bwMode="auto">
          <a:xfrm>
            <a:off x="4662297" y="3926459"/>
            <a:ext cx="385762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Font typeface="Wingdings" panose="05000000000000000000" pitchFamily="2" charset="2"/>
              <a:buChar char="l"/>
            </a:pPr>
            <a:r>
              <a:rPr lang="zh-CN" altLang="en-US" sz="2800" b="1" dirty="0">
                <a:ea typeface="微软雅黑" panose="020B0503020204020204" pitchFamily="34" charset="-122"/>
                <a:cs typeface="Times New Roman" panose="02020603050405020304" pitchFamily="18" charset="0"/>
              </a:rPr>
              <a:t> 单碱锑化物</a:t>
            </a:r>
            <a:r>
              <a:rPr lang="en-US" altLang="zh-CN" sz="2800" b="1" dirty="0">
                <a:ea typeface="微软雅黑" panose="020B0503020204020204" pitchFamily="34" charset="-122"/>
                <a:cs typeface="Times New Roman" panose="02020603050405020304" pitchFamily="18" charset="0"/>
              </a:rPr>
              <a:t>(</a:t>
            </a:r>
            <a:r>
              <a:rPr lang="en-US" altLang="zh-CN" sz="2800" b="1" dirty="0" err="1">
                <a:ea typeface="微软雅黑" panose="020B0503020204020204" pitchFamily="34" charset="-122"/>
                <a:cs typeface="Times New Roman" panose="02020603050405020304" pitchFamily="18" charset="0"/>
              </a:rPr>
              <a:t>Sb</a:t>
            </a:r>
            <a:r>
              <a:rPr lang="en-US" altLang="zh-CN" sz="2800" b="1" dirty="0">
                <a:ea typeface="微软雅黑" panose="020B0503020204020204" pitchFamily="34" charset="-122"/>
                <a:cs typeface="Times New Roman" panose="02020603050405020304" pitchFamily="18" charset="0"/>
              </a:rPr>
              <a:t>-Cs)</a:t>
            </a:r>
            <a:endParaRPr lang="zh-CN" altLang="en-US" sz="2800" b="1" dirty="0">
              <a:ea typeface="微软雅黑" panose="020B0503020204020204" pitchFamily="34" charset="-122"/>
              <a:cs typeface="Times New Roman" panose="02020603050405020304" pitchFamily="18" charset="0"/>
            </a:endParaRPr>
          </a:p>
        </p:txBody>
      </p:sp>
      <p:sp>
        <p:nvSpPr>
          <p:cNvPr id="26" name="TextBox 5"/>
          <p:cNvSpPr txBox="1">
            <a:spLocks noChangeArrowheads="1"/>
          </p:cNvSpPr>
          <p:nvPr/>
        </p:nvSpPr>
        <p:spPr bwMode="auto">
          <a:xfrm>
            <a:off x="4662297" y="4710970"/>
            <a:ext cx="4500562"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Font typeface="Wingdings" panose="05000000000000000000" pitchFamily="2" charset="2"/>
              <a:buChar char="l"/>
            </a:pPr>
            <a:r>
              <a:rPr lang="zh-CN" altLang="en-US" sz="2800" b="1" dirty="0">
                <a:ea typeface="微软雅黑" panose="020B0503020204020204" pitchFamily="34" charset="-122"/>
                <a:cs typeface="Times New Roman" panose="02020603050405020304" pitchFamily="18" charset="0"/>
              </a:rPr>
              <a:t> 多碱锑化物</a:t>
            </a:r>
            <a:r>
              <a:rPr lang="en-US" altLang="zh-CN" sz="2800" b="1" dirty="0">
                <a:ea typeface="微软雅黑" panose="020B0503020204020204" pitchFamily="34" charset="-122"/>
                <a:cs typeface="Times New Roman" panose="02020603050405020304" pitchFamily="18" charset="0"/>
              </a:rPr>
              <a:t>(</a:t>
            </a:r>
            <a:r>
              <a:rPr lang="en-US" altLang="zh-CN" sz="2800" b="1" dirty="0" err="1">
                <a:ea typeface="微软雅黑" panose="020B0503020204020204" pitchFamily="34" charset="-122"/>
                <a:cs typeface="Times New Roman" panose="02020603050405020304" pitchFamily="18" charset="0"/>
              </a:rPr>
              <a:t>Sb</a:t>
            </a:r>
            <a:r>
              <a:rPr lang="en-US" altLang="zh-CN" sz="2800" b="1" dirty="0">
                <a:ea typeface="微软雅黑" panose="020B0503020204020204" pitchFamily="34" charset="-122"/>
                <a:cs typeface="Times New Roman" panose="02020603050405020304" pitchFamily="18" charset="0"/>
              </a:rPr>
              <a:t>-K-Na-Cs)</a:t>
            </a:r>
            <a:endParaRPr lang="zh-CN" altLang="en-US" sz="2800" b="1" dirty="0">
              <a:ea typeface="微软雅黑" panose="020B0503020204020204" pitchFamily="34" charset="-122"/>
              <a:cs typeface="Times New Roman" panose="02020603050405020304" pitchFamily="18" charset="0"/>
            </a:endParaRPr>
          </a:p>
        </p:txBody>
      </p:sp>
      <p:sp>
        <p:nvSpPr>
          <p:cNvPr id="27" name="TextBox 6"/>
          <p:cNvSpPr txBox="1">
            <a:spLocks noChangeArrowheads="1"/>
          </p:cNvSpPr>
          <p:nvPr/>
        </p:nvSpPr>
        <p:spPr bwMode="auto">
          <a:xfrm>
            <a:off x="4662297" y="5484876"/>
            <a:ext cx="45720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Font typeface="Wingdings" panose="05000000000000000000" pitchFamily="2" charset="2"/>
              <a:buChar char="l"/>
            </a:pPr>
            <a:r>
              <a:rPr lang="zh-CN" altLang="en-US" sz="2800" b="1" dirty="0">
                <a:ea typeface="微软雅黑" panose="020B0503020204020204" pitchFamily="34" charset="-122"/>
                <a:cs typeface="Times New Roman" panose="02020603050405020304" pitchFamily="18" charset="0"/>
              </a:rPr>
              <a:t> 负电子亲和势</a:t>
            </a:r>
            <a:r>
              <a:rPr lang="en-US" altLang="zh-CN" sz="2800" b="1" dirty="0">
                <a:ea typeface="微软雅黑" panose="020B0503020204020204" pitchFamily="34" charset="-122"/>
                <a:cs typeface="Times New Roman" panose="02020603050405020304" pitchFamily="18" charset="0"/>
              </a:rPr>
              <a:t>(NEA)</a:t>
            </a:r>
            <a:r>
              <a:rPr lang="zh-CN" altLang="en-US" sz="2800" b="1" dirty="0">
                <a:ea typeface="微软雅黑" panose="020B0503020204020204" pitchFamily="34" charset="-122"/>
                <a:cs typeface="Times New Roman" panose="02020603050405020304" pitchFamily="18" charset="0"/>
              </a:rPr>
              <a:t>等</a:t>
            </a:r>
          </a:p>
        </p:txBody>
      </p:sp>
      <p:sp>
        <p:nvSpPr>
          <p:cNvPr id="20" name="文本框 60">
            <a:extLst>
              <a:ext uri="{FF2B5EF4-FFF2-40B4-BE49-F238E27FC236}">
                <a16:creationId xmlns:a16="http://schemas.microsoft.com/office/drawing/2014/main" xmlns="" id="{791D85D7-F412-9C48-9F2B-E33F5B7B4F3C}"/>
              </a:ext>
            </a:extLst>
          </p:cNvPr>
          <p:cNvSpPr txBox="1"/>
          <p:nvPr/>
        </p:nvSpPr>
        <p:spPr>
          <a:xfrm>
            <a:off x="1356514" y="293282"/>
            <a:ext cx="2675878" cy="369332"/>
          </a:xfrm>
          <a:prstGeom prst="rect">
            <a:avLst/>
          </a:prstGeom>
          <a:noFill/>
          <a:ln w="9525">
            <a:noFill/>
          </a:ln>
        </p:spPr>
        <p:txBody>
          <a:bodyPr wrap="square">
            <a:spAutoFit/>
          </a:bodyPr>
          <a:lstStyle/>
          <a:p>
            <a:pPr algn="ctr"/>
            <a:r>
              <a:rPr lang="zh-CN" altLang="en-US" sz="1800" b="1" dirty="0" smtClean="0">
                <a:latin typeface="微软雅黑" panose="020B0503020204020204" pitchFamily="34" charset="-122"/>
                <a:ea typeface="微软雅黑" panose="020B0503020204020204" pitchFamily="34" charset="-122"/>
              </a:rPr>
              <a:t>像管的基本原理与结构</a:t>
            </a:r>
            <a:endParaRPr lang="zh-CN" altLang="en-US" sz="1800" b="1" dirty="0">
              <a:latin typeface="微软雅黑" panose="020B0503020204020204" pitchFamily="34" charset="-122"/>
              <a:ea typeface="微软雅黑" panose="020B0503020204020204" pitchFamily="34" charset="-122"/>
            </a:endParaRPr>
          </a:p>
        </p:txBody>
      </p:sp>
      <p:cxnSp>
        <p:nvCxnSpPr>
          <p:cNvPr id="21"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70453" y="716692"/>
            <a:ext cx="2448000" cy="1235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ox(in)">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ox(in)">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ox(in)">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box(in)">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box(in)">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box(in)">
                                      <p:cBhvr>
                                        <p:cTn id="3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0" name="Text Box 6"/>
          <p:cNvSpPr txBox="1">
            <a:spLocks noChangeArrowheads="1"/>
          </p:cNvSpPr>
          <p:nvPr/>
        </p:nvSpPr>
        <p:spPr bwMode="auto">
          <a:xfrm>
            <a:off x="1779587" y="4012581"/>
            <a:ext cx="8286750" cy="557212"/>
          </a:xfrm>
          <a:prstGeom prst="rect">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2800" b="1">
                <a:latin typeface="微软雅黑" panose="020B0503020204020204" pitchFamily="34" charset="-122"/>
                <a:ea typeface="微软雅黑" panose="020B0503020204020204" pitchFamily="34" charset="-122"/>
              </a:rPr>
              <a:t>静电聚焦</a:t>
            </a:r>
            <a:r>
              <a:rPr kumimoji="1" lang="en-US" altLang="zh-CN" sz="2800" b="1">
                <a:latin typeface="微软雅黑" panose="020B0503020204020204" pitchFamily="34" charset="-122"/>
                <a:ea typeface="微软雅黑" panose="020B0503020204020204" pitchFamily="34" charset="-122"/>
              </a:rPr>
              <a:t>: </a:t>
            </a:r>
            <a:r>
              <a:rPr lang="zh-CN" altLang="en-US" sz="2800" b="1">
                <a:latin typeface="微软雅黑" panose="020B0503020204020204" pitchFamily="34" charset="-122"/>
                <a:ea typeface="微软雅黑" panose="020B0503020204020204" pitchFamily="34" charset="-122"/>
              </a:rPr>
              <a:t>靠静电场的加速和聚焦作用来完成</a:t>
            </a:r>
            <a:endParaRPr kumimoji="1" lang="zh-CN" altLang="en-US" sz="2800" b="1">
              <a:latin typeface="微软雅黑" panose="020B0503020204020204" pitchFamily="34" charset="-122"/>
              <a:ea typeface="微软雅黑" panose="020B0503020204020204" pitchFamily="34" charset="-122"/>
            </a:endParaRPr>
          </a:p>
        </p:txBody>
      </p:sp>
      <p:sp>
        <p:nvSpPr>
          <p:cNvPr id="21" name="TextBox 5"/>
          <p:cNvSpPr txBox="1">
            <a:spLocks noChangeArrowheads="1"/>
          </p:cNvSpPr>
          <p:nvPr/>
        </p:nvSpPr>
        <p:spPr bwMode="auto">
          <a:xfrm>
            <a:off x="1779587" y="1498072"/>
            <a:ext cx="3286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b="1"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电子光学系统</a:t>
            </a:r>
          </a:p>
        </p:txBody>
      </p:sp>
      <p:sp>
        <p:nvSpPr>
          <p:cNvPr id="28" name="Text Box 6"/>
          <p:cNvSpPr txBox="1">
            <a:spLocks noChangeArrowheads="1"/>
          </p:cNvSpPr>
          <p:nvPr/>
        </p:nvSpPr>
        <p:spPr bwMode="auto">
          <a:xfrm>
            <a:off x="1779587" y="5075418"/>
            <a:ext cx="8358188" cy="557213"/>
          </a:xfrm>
          <a:prstGeom prst="rect">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2800" b="1">
                <a:latin typeface="微软雅黑" panose="020B0503020204020204" pitchFamily="34" charset="-122"/>
                <a:ea typeface="微软雅黑" panose="020B0503020204020204" pitchFamily="34" charset="-122"/>
              </a:rPr>
              <a:t>电磁聚焦</a:t>
            </a:r>
            <a:r>
              <a:rPr kumimoji="1" lang="en-US" altLang="zh-CN" sz="2800" b="1">
                <a:latin typeface="微软雅黑" panose="020B0503020204020204" pitchFamily="34" charset="-122"/>
                <a:ea typeface="微软雅黑" panose="020B0503020204020204" pitchFamily="34" charset="-122"/>
              </a:rPr>
              <a:t>: </a:t>
            </a:r>
            <a:r>
              <a:rPr lang="zh-CN" altLang="en-US" sz="2800" b="1">
                <a:latin typeface="微软雅黑" panose="020B0503020204020204" pitchFamily="34" charset="-122"/>
                <a:ea typeface="微软雅黑" panose="020B0503020204020204" pitchFamily="34" charset="-122"/>
              </a:rPr>
              <a:t>靠静电场的加速和磁场的聚焦作用来完成</a:t>
            </a:r>
            <a:endParaRPr kumimoji="1" lang="zh-CN" altLang="en-US" sz="2800" b="1">
              <a:latin typeface="微软雅黑" panose="020B0503020204020204" pitchFamily="34" charset="-122"/>
              <a:ea typeface="微软雅黑" panose="020B0503020204020204" pitchFamily="34" charset="-122"/>
            </a:endParaRPr>
          </a:p>
        </p:txBody>
      </p:sp>
      <p:sp>
        <p:nvSpPr>
          <p:cNvPr id="29" name="TextBox 8"/>
          <p:cNvSpPr txBox="1">
            <a:spLocks noChangeArrowheads="1"/>
          </p:cNvSpPr>
          <p:nvPr/>
        </p:nvSpPr>
        <p:spPr bwMode="auto">
          <a:xfrm>
            <a:off x="1666304" y="2280437"/>
            <a:ext cx="10038016"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800" b="1" dirty="0">
                <a:ea typeface="微软雅黑" panose="020B0503020204020204" pitchFamily="34" charset="-122"/>
                <a:cs typeface="Times New Roman" panose="02020603050405020304" pitchFamily="18" charset="0"/>
              </a:rPr>
              <a:t>        </a:t>
            </a:r>
            <a:r>
              <a:rPr lang="zh-CN" altLang="en-US" sz="2800" b="1" dirty="0">
                <a:ea typeface="微软雅黑" panose="020B0503020204020204" pitchFamily="34" charset="-122"/>
                <a:cs typeface="Times New Roman" panose="02020603050405020304" pitchFamily="18" charset="0"/>
              </a:rPr>
              <a:t>电子光学系统的任务是加速光电子并使其成像在荧光屏上，它有静电聚焦系统和电磁聚焦复合系统两种形式。</a:t>
            </a:r>
          </a:p>
        </p:txBody>
      </p:sp>
      <p:sp>
        <p:nvSpPr>
          <p:cNvPr id="14" name="文本框 60">
            <a:extLst>
              <a:ext uri="{FF2B5EF4-FFF2-40B4-BE49-F238E27FC236}">
                <a16:creationId xmlns:a16="http://schemas.microsoft.com/office/drawing/2014/main" xmlns="" id="{791D85D7-F412-9C48-9F2B-E33F5B7B4F3C}"/>
              </a:ext>
            </a:extLst>
          </p:cNvPr>
          <p:cNvSpPr txBox="1"/>
          <p:nvPr/>
        </p:nvSpPr>
        <p:spPr>
          <a:xfrm>
            <a:off x="1356514" y="293282"/>
            <a:ext cx="2675878" cy="369332"/>
          </a:xfrm>
          <a:prstGeom prst="rect">
            <a:avLst/>
          </a:prstGeom>
          <a:noFill/>
          <a:ln w="9525">
            <a:noFill/>
          </a:ln>
        </p:spPr>
        <p:txBody>
          <a:bodyPr wrap="square">
            <a:spAutoFit/>
          </a:bodyPr>
          <a:lstStyle/>
          <a:p>
            <a:pPr algn="ctr"/>
            <a:r>
              <a:rPr lang="zh-CN" altLang="en-US" sz="1800" b="1" dirty="0" smtClean="0">
                <a:latin typeface="微软雅黑" panose="020B0503020204020204" pitchFamily="34" charset="-122"/>
                <a:ea typeface="微软雅黑" panose="020B0503020204020204" pitchFamily="34" charset="-122"/>
              </a:rPr>
              <a:t>像管的基本原理与结构</a:t>
            </a:r>
            <a:endParaRPr lang="zh-CN" altLang="en-US" sz="1800" b="1" dirty="0">
              <a:latin typeface="微软雅黑" panose="020B0503020204020204" pitchFamily="34" charset="-122"/>
              <a:ea typeface="微软雅黑" panose="020B0503020204020204" pitchFamily="34" charset="-122"/>
            </a:endParaRPr>
          </a:p>
        </p:txBody>
      </p:sp>
      <p:cxnSp>
        <p:nvCxnSpPr>
          <p:cNvPr id="22"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70453" y="716692"/>
            <a:ext cx="2448000" cy="1235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ox(i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ox(i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ox(in)">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arn(inHorizontal)">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8" grpId="0" animBg="1"/>
      <p:bldP spid="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14" name="组合 31"/>
          <p:cNvGrpSpPr>
            <a:grpSpLocks/>
          </p:cNvGrpSpPr>
          <p:nvPr/>
        </p:nvGrpSpPr>
        <p:grpSpPr bwMode="auto">
          <a:xfrm>
            <a:off x="3016070" y="2537689"/>
            <a:ext cx="1000125" cy="857250"/>
            <a:chOff x="1851025" y="2214563"/>
            <a:chExt cx="1000125" cy="857250"/>
          </a:xfrm>
        </p:grpSpPr>
        <p:pic>
          <p:nvPicPr>
            <p:cNvPr id="22"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5363" y="2214563"/>
              <a:ext cx="161925"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3" name="直接箭头连接符 22"/>
            <p:cNvCxnSpPr/>
            <p:nvPr/>
          </p:nvCxnSpPr>
          <p:spPr>
            <a:xfrm flipV="1">
              <a:off x="1851025" y="2214563"/>
              <a:ext cx="1000125" cy="714375"/>
            </a:xfrm>
            <a:prstGeom prst="straightConnector1">
              <a:avLst/>
            </a:prstGeom>
            <a:ln w="25400">
              <a:solidFill>
                <a:srgbClr val="FF00FF"/>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1922462" y="2214563"/>
              <a:ext cx="928688" cy="857250"/>
            </a:xfrm>
            <a:prstGeom prst="straightConnector1">
              <a:avLst/>
            </a:prstGeom>
            <a:ln w="25400">
              <a:solidFill>
                <a:srgbClr val="FF00FF"/>
              </a:solidFill>
              <a:tailEnd type="stealth" w="med" len="lg"/>
            </a:ln>
          </p:spPr>
          <p:style>
            <a:lnRef idx="1">
              <a:schemeClr val="accent1"/>
            </a:lnRef>
            <a:fillRef idx="0">
              <a:schemeClr val="accent1"/>
            </a:fillRef>
            <a:effectRef idx="0">
              <a:schemeClr val="accent1"/>
            </a:effectRef>
            <a:fontRef idx="minor">
              <a:schemeClr val="tx1"/>
            </a:fontRef>
          </p:style>
        </p:cxnSp>
      </p:grpSp>
      <p:graphicFrame>
        <p:nvGraphicFramePr>
          <p:cNvPr id="25" name="Object 2"/>
          <p:cNvGraphicFramePr>
            <a:graphicFrameLocks noChangeAspect="1"/>
          </p:cNvGraphicFramePr>
          <p:nvPr>
            <p:extLst>
              <p:ext uri="{D42A27DB-BD31-4B8C-83A1-F6EECF244321}">
                <p14:modId xmlns:p14="http://schemas.microsoft.com/office/powerpoint/2010/main" val="1120025245"/>
              </p:ext>
            </p:extLst>
          </p:nvPr>
        </p:nvGraphicFramePr>
        <p:xfrm>
          <a:off x="4159070" y="2037626"/>
          <a:ext cx="3219450" cy="1771650"/>
        </p:xfrm>
        <a:graphic>
          <a:graphicData uri="http://schemas.openxmlformats.org/presentationml/2006/ole">
            <mc:AlternateContent xmlns:mc="http://schemas.openxmlformats.org/markup-compatibility/2006">
              <mc:Choice xmlns:v="urn:schemas-microsoft-com:vml" Requires="v">
                <p:oleObj spid="_x0000_s47110" name="Visio" r:id="rId4" imgW="3218321" imgH="1774151" progId="">
                  <p:embed/>
                </p:oleObj>
              </mc:Choice>
              <mc:Fallback>
                <p:oleObj name="Visio" r:id="rId4" imgW="3218321" imgH="1774151"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9070" y="2037626"/>
                        <a:ext cx="3219450" cy="177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6" name="直接箭头连接符 25"/>
          <p:cNvCxnSpPr/>
          <p:nvPr/>
        </p:nvCxnSpPr>
        <p:spPr>
          <a:xfrm>
            <a:off x="4306707" y="2394814"/>
            <a:ext cx="2787650" cy="714375"/>
          </a:xfrm>
          <a:prstGeom prst="straightConnector1">
            <a:avLst/>
          </a:prstGeom>
          <a:ln w="25400">
            <a:solidFill>
              <a:srgbClr val="FF00FF"/>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4306707" y="2537689"/>
            <a:ext cx="2786063" cy="714375"/>
          </a:xfrm>
          <a:prstGeom prst="straightConnector1">
            <a:avLst/>
          </a:prstGeom>
          <a:ln w="25400">
            <a:solidFill>
              <a:srgbClr val="FF00FF"/>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V="1">
            <a:off x="4306707" y="2680564"/>
            <a:ext cx="2787650" cy="785812"/>
          </a:xfrm>
          <a:prstGeom prst="straightConnector1">
            <a:avLst/>
          </a:prstGeom>
          <a:ln w="25400">
            <a:solidFill>
              <a:srgbClr val="FF00FF"/>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4306707" y="2537689"/>
            <a:ext cx="2787650" cy="785812"/>
          </a:xfrm>
          <a:prstGeom prst="straightConnector1">
            <a:avLst/>
          </a:prstGeom>
          <a:ln w="25400">
            <a:solidFill>
              <a:srgbClr val="FF00FF"/>
            </a:solidFill>
            <a:tailEnd type="stealth" w="med" len="lg"/>
          </a:ln>
        </p:spPr>
        <p:style>
          <a:lnRef idx="1">
            <a:schemeClr val="accent1"/>
          </a:lnRef>
          <a:fillRef idx="0">
            <a:schemeClr val="accent1"/>
          </a:fillRef>
          <a:effectRef idx="0">
            <a:schemeClr val="accent1"/>
          </a:effectRef>
          <a:fontRef idx="minor">
            <a:schemeClr val="tx1"/>
          </a:fontRef>
        </p:style>
      </p:cxnSp>
      <p:grpSp>
        <p:nvGrpSpPr>
          <p:cNvPr id="32" name="组合 42"/>
          <p:cNvGrpSpPr>
            <a:grpSpLocks/>
          </p:cNvGrpSpPr>
          <p:nvPr/>
        </p:nvGrpSpPr>
        <p:grpSpPr bwMode="auto">
          <a:xfrm>
            <a:off x="7348357" y="2394814"/>
            <a:ext cx="147638" cy="1076325"/>
            <a:chOff x="6183313" y="2071688"/>
            <a:chExt cx="147637" cy="1076325"/>
          </a:xfrm>
        </p:grpSpPr>
        <p:pic>
          <p:nvPicPr>
            <p:cNvPr id="33" name="Picture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83313" y="2071688"/>
              <a:ext cx="71437"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54750" y="2076450"/>
              <a:ext cx="76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5" name="组合 29"/>
          <p:cNvGrpSpPr>
            <a:grpSpLocks/>
          </p:cNvGrpSpPr>
          <p:nvPr/>
        </p:nvGrpSpPr>
        <p:grpSpPr bwMode="auto">
          <a:xfrm>
            <a:off x="4694057" y="3394939"/>
            <a:ext cx="2874963" cy="1357312"/>
            <a:chOff x="3528813" y="3071813"/>
            <a:chExt cx="2875425" cy="1357312"/>
          </a:xfrm>
        </p:grpSpPr>
        <p:cxnSp>
          <p:nvCxnSpPr>
            <p:cNvPr id="36" name="直接连接符 35"/>
            <p:cNvCxnSpPr/>
            <p:nvPr/>
          </p:nvCxnSpPr>
          <p:spPr>
            <a:xfrm rot="10800000" flipV="1">
              <a:off x="3600262" y="3894138"/>
              <a:ext cx="2602330" cy="6350"/>
            </a:xfrm>
            <a:prstGeom prst="line">
              <a:avLst/>
            </a:prstGeom>
            <a:ln w="317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rot="16200000" flipH="1">
              <a:off x="3856731" y="3566318"/>
              <a:ext cx="573088" cy="12702"/>
            </a:xfrm>
            <a:prstGeom prst="straightConnector1">
              <a:avLst/>
            </a:prstGeom>
            <a:ln w="31750">
              <a:solidFill>
                <a:schemeClr val="accent6">
                  <a:lumMod val="75000"/>
                </a:schemeClr>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rot="16200000" flipH="1">
              <a:off x="4035371" y="3459162"/>
              <a:ext cx="787400" cy="12702"/>
            </a:xfrm>
            <a:prstGeom prst="straightConnector1">
              <a:avLst/>
            </a:prstGeom>
            <a:ln w="31750">
              <a:solidFill>
                <a:schemeClr val="accent6">
                  <a:lumMod val="75000"/>
                </a:schemeClr>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rot="5400000">
              <a:off x="3161317" y="3858419"/>
              <a:ext cx="855662" cy="0"/>
            </a:xfrm>
            <a:prstGeom prst="line">
              <a:avLst/>
            </a:prstGeom>
            <a:ln w="317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3922576" y="3863975"/>
              <a:ext cx="785939" cy="7143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 name="矩形 40"/>
            <p:cNvSpPr/>
            <p:nvPr/>
          </p:nvSpPr>
          <p:spPr>
            <a:xfrm>
              <a:off x="5270581" y="3863975"/>
              <a:ext cx="223873" cy="7143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2" name="矩形 41"/>
            <p:cNvSpPr/>
            <p:nvPr/>
          </p:nvSpPr>
          <p:spPr>
            <a:xfrm>
              <a:off x="6046993" y="4260850"/>
              <a:ext cx="357245" cy="133350"/>
            </a:xfrm>
            <a:prstGeom prst="rect">
              <a:avLst/>
            </a:prstGeom>
            <a:solidFill>
              <a:srgbClr val="00B050"/>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3" name="椭圆 42"/>
            <p:cNvSpPr/>
            <p:nvPr/>
          </p:nvSpPr>
          <p:spPr>
            <a:xfrm>
              <a:off x="3528813" y="4286250"/>
              <a:ext cx="142898" cy="142875"/>
            </a:xfrm>
            <a:prstGeom prst="ellipse">
              <a:avLst/>
            </a:prstGeom>
            <a:solidFill>
              <a:srgbClr val="FF00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cxnSp>
          <p:nvCxnSpPr>
            <p:cNvPr id="44" name="直接连接符 43"/>
            <p:cNvCxnSpPr/>
            <p:nvPr/>
          </p:nvCxnSpPr>
          <p:spPr>
            <a:xfrm rot="16200000" flipH="1">
              <a:off x="5655700" y="3690144"/>
              <a:ext cx="1116013" cy="3176"/>
            </a:xfrm>
            <a:prstGeom prst="line">
              <a:avLst/>
            </a:prstGeom>
            <a:ln w="317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5" name="Text Box 4"/>
          <p:cNvSpPr txBox="1">
            <a:spLocks noChangeArrowheads="1"/>
          </p:cNvSpPr>
          <p:nvPr/>
        </p:nvSpPr>
        <p:spPr bwMode="auto">
          <a:xfrm>
            <a:off x="3868556" y="6460160"/>
            <a:ext cx="53578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zh-CN" altLang="en-US" b="1">
                <a:latin typeface="微软雅黑" panose="020B0503020204020204" pitchFamily="34" charset="-122"/>
                <a:ea typeface="微软雅黑" panose="020B0503020204020204" pitchFamily="34" charset="-122"/>
              </a:rPr>
              <a:t>静电聚焦型像管结构示意图 </a:t>
            </a:r>
          </a:p>
        </p:txBody>
      </p:sp>
      <p:sp>
        <p:nvSpPr>
          <p:cNvPr id="46" name="Text Box 5"/>
          <p:cNvSpPr txBox="1">
            <a:spLocks noChangeArrowheads="1"/>
          </p:cNvSpPr>
          <p:nvPr/>
        </p:nvSpPr>
        <p:spPr bwMode="auto">
          <a:xfrm>
            <a:off x="4659132" y="1251814"/>
            <a:ext cx="2643188" cy="646112"/>
          </a:xfrm>
          <a:prstGeom prst="rect">
            <a:avLst/>
          </a:prstGeom>
          <a:solidFill>
            <a:schemeClr val="accent4">
              <a:lumMod val="40000"/>
              <a:lumOff val="60000"/>
            </a:schemeClr>
          </a:solidFill>
          <a:ln w="31750">
            <a:noFill/>
            <a:miter lim="800000"/>
            <a:headEnd/>
            <a:tailEnd/>
          </a:ln>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zh-CN" altLang="en-US" sz="2400" b="1">
                <a:latin typeface="微软雅黑" panose="020B0503020204020204" pitchFamily="34" charset="-122"/>
                <a:ea typeface="微软雅黑" panose="020B0503020204020204" pitchFamily="34" charset="-122"/>
              </a:rPr>
              <a:t>几个圆筒形的电极</a:t>
            </a:r>
            <a:endParaRPr kumimoji="1" lang="zh-CN" altLang="en-US" sz="2400">
              <a:latin typeface="微软雅黑" panose="020B0503020204020204" pitchFamily="34" charset="-122"/>
              <a:ea typeface="微软雅黑" panose="020B0503020204020204" pitchFamily="34" charset="-122"/>
            </a:endParaRPr>
          </a:p>
        </p:txBody>
      </p:sp>
      <p:sp>
        <p:nvSpPr>
          <p:cNvPr id="47" name="TextBox 30"/>
          <p:cNvSpPr txBox="1">
            <a:spLocks noChangeArrowheads="1"/>
          </p:cNvSpPr>
          <p:nvPr/>
        </p:nvSpPr>
        <p:spPr bwMode="auto">
          <a:xfrm>
            <a:off x="4516257" y="4823689"/>
            <a:ext cx="3071813" cy="1200150"/>
          </a:xfrm>
          <a:prstGeom prst="rect">
            <a:avLst/>
          </a:prstGeom>
          <a:solidFill>
            <a:schemeClr val="accent4">
              <a:lumMod val="40000"/>
              <a:lumOff val="60000"/>
            </a:schemeClr>
          </a:solidFill>
          <a:ln w="31750">
            <a:noFill/>
            <a:miter lim="800000"/>
            <a:headEnd/>
            <a:tailEnd/>
          </a:ln>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kumimoji="1" lang="zh-CN" altLang="en-US" sz="2400" b="1">
                <a:latin typeface="微软雅黑" panose="020B0503020204020204" pitchFamily="34" charset="-122"/>
                <a:ea typeface="微软雅黑" panose="020B0503020204020204" pitchFamily="34" charset="-122"/>
              </a:rPr>
              <a:t>各电极电压多用电阻链分压的办法供给</a:t>
            </a:r>
            <a:endParaRPr lang="zh-CN" altLang="en-US" sz="2400" b="1">
              <a:latin typeface="微软雅黑" panose="020B0503020204020204" pitchFamily="34" charset="-122"/>
              <a:ea typeface="微软雅黑" panose="020B0503020204020204" pitchFamily="34" charset="-122"/>
            </a:endParaRPr>
          </a:p>
        </p:txBody>
      </p:sp>
      <p:cxnSp>
        <p:nvCxnSpPr>
          <p:cNvPr id="48" name="直接箭头连接符 47"/>
          <p:cNvCxnSpPr/>
          <p:nvPr/>
        </p:nvCxnSpPr>
        <p:spPr>
          <a:xfrm rot="5400000">
            <a:off x="3630432" y="3001239"/>
            <a:ext cx="928687" cy="1588"/>
          </a:xfrm>
          <a:prstGeom prst="straightConnector1">
            <a:avLst/>
          </a:prstGeom>
          <a:ln w="63500">
            <a:solidFill>
              <a:srgbClr val="0000CC"/>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rot="5400000" flipH="1" flipV="1">
            <a:off x="6797495" y="2929801"/>
            <a:ext cx="785812" cy="1588"/>
          </a:xfrm>
          <a:prstGeom prst="straightConnector1">
            <a:avLst/>
          </a:prstGeom>
          <a:ln w="63500">
            <a:solidFill>
              <a:srgbClr val="0000CC"/>
            </a:solidFill>
            <a:tailEnd type="stealth" w="med" len="lg"/>
          </a:ln>
        </p:spPr>
        <p:style>
          <a:lnRef idx="1">
            <a:schemeClr val="accent1"/>
          </a:lnRef>
          <a:fillRef idx="0">
            <a:schemeClr val="accent1"/>
          </a:fillRef>
          <a:effectRef idx="0">
            <a:schemeClr val="accent1"/>
          </a:effectRef>
          <a:fontRef idx="minor">
            <a:schemeClr val="tx1"/>
          </a:fontRef>
        </p:style>
      </p:cxnSp>
      <p:sp>
        <p:nvSpPr>
          <p:cNvPr id="50" name="Text Box 5"/>
          <p:cNvSpPr txBox="1">
            <a:spLocks noChangeArrowheads="1"/>
          </p:cNvSpPr>
          <p:nvPr/>
        </p:nvSpPr>
        <p:spPr bwMode="auto">
          <a:xfrm>
            <a:off x="7896838" y="1910957"/>
            <a:ext cx="1785938" cy="2862262"/>
          </a:xfrm>
          <a:prstGeom prst="rect">
            <a:avLst/>
          </a:prstGeom>
          <a:solidFill>
            <a:schemeClr val="accent4">
              <a:lumMod val="40000"/>
              <a:lumOff val="60000"/>
            </a:schemeClr>
          </a:solidFill>
          <a:ln w="31750">
            <a:noFill/>
            <a:miter lim="800000"/>
            <a:headEnd/>
            <a:tailEnd/>
          </a:ln>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zh-CN" altLang="en-US" sz="2400" b="1" dirty="0">
                <a:latin typeface="微软雅黑" panose="020B0503020204020204" pitchFamily="34" charset="-122"/>
                <a:ea typeface="微软雅黑" panose="020B0503020204020204" pitchFamily="34" charset="-122"/>
              </a:rPr>
              <a:t>电场对光电子聚焦和加速，使电子在荧光屏上呈倒立的像</a:t>
            </a:r>
            <a:r>
              <a:rPr kumimoji="1" lang="zh-CN" altLang="en-US" sz="2400" dirty="0">
                <a:latin typeface="微软雅黑" panose="020B0503020204020204" pitchFamily="34" charset="-122"/>
                <a:ea typeface="微软雅黑" panose="020B0503020204020204" pitchFamily="34" charset="-122"/>
              </a:rPr>
              <a:t>      </a:t>
            </a:r>
          </a:p>
        </p:txBody>
      </p:sp>
      <p:sp>
        <p:nvSpPr>
          <p:cNvPr id="51" name="Text Box 2"/>
          <p:cNvSpPr txBox="1">
            <a:spLocks noChangeArrowheads="1"/>
          </p:cNvSpPr>
          <p:nvPr/>
        </p:nvSpPr>
        <p:spPr bwMode="auto">
          <a:xfrm>
            <a:off x="626763" y="2118278"/>
            <a:ext cx="2298939" cy="3016210"/>
          </a:xfrm>
          <a:prstGeom prst="rect">
            <a:avLst/>
          </a:prstGeom>
          <a:solidFill>
            <a:schemeClr val="accent4">
              <a:lumMod val="20000"/>
              <a:lumOff val="80000"/>
            </a:schemeClr>
          </a:solidFill>
          <a:ln>
            <a:noFill/>
          </a:ln>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zh-CN" altLang="en-US" sz="2000" b="1" dirty="0">
                <a:latin typeface="微软雅黑" panose="020B0503020204020204" pitchFamily="34" charset="-122"/>
                <a:ea typeface="微软雅黑" panose="020B0503020204020204" pitchFamily="34" charset="-122"/>
              </a:rPr>
              <a:t>缺点</a:t>
            </a:r>
            <a:r>
              <a:rPr kumimoji="1" lang="zh-CN" altLang="en-US" sz="2000" b="1" dirty="0" smtClean="0">
                <a:latin typeface="微软雅黑" panose="020B0503020204020204" pitchFamily="34" charset="-122"/>
                <a:ea typeface="微软雅黑" panose="020B0503020204020204" pitchFamily="34" charset="-122"/>
              </a:rPr>
              <a:t>：</a:t>
            </a:r>
            <a:endParaRPr kumimoji="1" lang="en-US" altLang="zh-CN" sz="2000" b="1" dirty="0" smtClean="0">
              <a:latin typeface="微软雅黑" panose="020B0503020204020204" pitchFamily="34" charset="-122"/>
              <a:ea typeface="微软雅黑" panose="020B0503020204020204" pitchFamily="34" charset="-122"/>
            </a:endParaRPr>
          </a:p>
          <a:p>
            <a:pPr eaLnBrk="1" hangingPunct="1">
              <a:lnSpc>
                <a:spcPct val="150000"/>
              </a:lnSpc>
              <a:spcBef>
                <a:spcPct val="50000"/>
              </a:spcBef>
            </a:pPr>
            <a:r>
              <a:rPr kumimoji="1" lang="zh-CN" altLang="en-US" sz="2000" b="1" dirty="0" smtClean="0">
                <a:latin typeface="微软雅黑" panose="020B0503020204020204" pitchFamily="34" charset="-122"/>
                <a:ea typeface="微软雅黑" panose="020B0503020204020204" pitchFamily="34" charset="-122"/>
              </a:rPr>
              <a:t>电</a:t>
            </a:r>
            <a:r>
              <a:rPr kumimoji="1" lang="zh-CN" altLang="en-US" sz="2000" b="1" dirty="0">
                <a:latin typeface="微软雅黑" panose="020B0503020204020204" pitchFamily="34" charset="-122"/>
                <a:ea typeface="微软雅黑" panose="020B0503020204020204" pitchFamily="34" charset="-122"/>
              </a:rPr>
              <a:t>聚焦的球面像差较大，画面的中心部分和边缘部分放大率不等，图象有失真。</a:t>
            </a:r>
          </a:p>
        </p:txBody>
      </p:sp>
      <p:sp>
        <p:nvSpPr>
          <p:cNvPr id="52" name="Text Box 2"/>
          <p:cNvSpPr txBox="1">
            <a:spLocks noChangeArrowheads="1"/>
          </p:cNvSpPr>
          <p:nvPr/>
        </p:nvSpPr>
        <p:spPr bwMode="auto">
          <a:xfrm>
            <a:off x="9953159" y="1895812"/>
            <a:ext cx="3238276" cy="3785652"/>
          </a:xfrm>
          <a:prstGeom prst="rect">
            <a:avLst/>
          </a:prstGeom>
          <a:solidFill>
            <a:schemeClr val="accent4">
              <a:lumMod val="20000"/>
              <a:lumOff val="80000"/>
            </a:schemeClr>
          </a:solidFill>
          <a:ln>
            <a:noFill/>
          </a:ln>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zh-CN" altLang="en-US" sz="2000" b="1" dirty="0" smtClean="0">
                <a:latin typeface="微软雅黑" panose="020B0503020204020204" pitchFamily="34" charset="-122"/>
                <a:ea typeface="微软雅黑" panose="020B0503020204020204" pitchFamily="34" charset="-122"/>
              </a:rPr>
              <a:t>光电阴极</a:t>
            </a:r>
            <a:r>
              <a:rPr kumimoji="1" lang="zh-CN" altLang="en-US" sz="2000" b="1" dirty="0">
                <a:latin typeface="微软雅黑" panose="020B0503020204020204" pitchFamily="34" charset="-122"/>
                <a:ea typeface="微软雅黑" panose="020B0503020204020204" pitchFamily="34" charset="-122"/>
              </a:rPr>
              <a:t>多作成</a:t>
            </a:r>
            <a:r>
              <a:rPr kumimoji="1" lang="zh-CN" altLang="en-US" sz="2000" b="1" dirty="0">
                <a:solidFill>
                  <a:srgbClr val="FF0000"/>
                </a:solidFill>
                <a:latin typeface="微软雅黑" panose="020B0503020204020204" pitchFamily="34" charset="-122"/>
                <a:ea typeface="微软雅黑" panose="020B0503020204020204" pitchFamily="34" charset="-122"/>
              </a:rPr>
              <a:t>曲面状</a:t>
            </a:r>
            <a:r>
              <a:rPr kumimoji="1" lang="zh-CN" altLang="en-US" sz="2000" b="1" dirty="0">
                <a:latin typeface="微软雅黑" panose="020B0503020204020204" pitchFamily="34" charset="-122"/>
                <a:ea typeface="微软雅黑" panose="020B0503020204020204" pitchFamily="34" charset="-122"/>
              </a:rPr>
              <a:t>，以补偿电聚焦引起的像差。但曲率大时，焦距又要变小，使边缘部分的分辨率降低。因此，近年来多采用光纤面板，使</a:t>
            </a:r>
            <a:r>
              <a:rPr kumimoji="1" lang="zh-CN" altLang="en-US" sz="2000" b="1" dirty="0">
                <a:solidFill>
                  <a:srgbClr val="FF0000"/>
                </a:solidFill>
                <a:latin typeface="微软雅黑" panose="020B0503020204020204" pitchFamily="34" charset="-122"/>
                <a:ea typeface="微软雅黑" panose="020B0503020204020204" pitchFamily="34" charset="-122"/>
              </a:rPr>
              <a:t>其外侧为平面，内侧为球面</a:t>
            </a:r>
            <a:r>
              <a:rPr kumimoji="1" lang="zh-CN" altLang="en-US" sz="2000" b="1" dirty="0">
                <a:latin typeface="微软雅黑" panose="020B0503020204020204" pitchFamily="34" charset="-122"/>
                <a:ea typeface="微软雅黑" panose="020B0503020204020204" pitchFamily="34" charset="-122"/>
              </a:rPr>
              <a:t>，以解决</a:t>
            </a:r>
            <a:r>
              <a:rPr kumimoji="1" lang="zh-CN" altLang="en-US" sz="2000" b="1" dirty="0">
                <a:solidFill>
                  <a:srgbClr val="FF0000"/>
                </a:solidFill>
                <a:latin typeface="微软雅黑" panose="020B0503020204020204" pitchFamily="34" charset="-122"/>
                <a:ea typeface="微软雅黑" panose="020B0503020204020204" pitchFamily="34" charset="-122"/>
              </a:rPr>
              <a:t>光学透镜和电透镜</a:t>
            </a:r>
            <a:r>
              <a:rPr kumimoji="1" lang="zh-CN" altLang="en-US" sz="2000" b="1" dirty="0">
                <a:latin typeface="微软雅黑" panose="020B0503020204020204" pitchFamily="34" charset="-122"/>
                <a:ea typeface="微软雅黑" panose="020B0503020204020204" pitchFamily="34" charset="-122"/>
              </a:rPr>
              <a:t>的像差问题</a:t>
            </a:r>
            <a:r>
              <a:rPr kumimoji="1" lang="zh-CN" altLang="en-US" sz="2000" b="1" dirty="0" smtClean="0">
                <a:latin typeface="微软雅黑" panose="020B0503020204020204" pitchFamily="34" charset="-122"/>
                <a:ea typeface="微软雅黑" panose="020B0503020204020204" pitchFamily="34" charset="-122"/>
              </a:rPr>
              <a:t>。</a:t>
            </a:r>
            <a:endParaRPr kumimoji="1" lang="zh-CN" altLang="en-US" sz="2000" b="1" dirty="0">
              <a:latin typeface="微软雅黑" panose="020B0503020204020204" pitchFamily="34" charset="-122"/>
              <a:ea typeface="微软雅黑" panose="020B0503020204020204" pitchFamily="34" charset="-122"/>
            </a:endParaRPr>
          </a:p>
        </p:txBody>
      </p:sp>
      <p:sp>
        <p:nvSpPr>
          <p:cNvPr id="53" name="文本框 60">
            <a:extLst>
              <a:ext uri="{FF2B5EF4-FFF2-40B4-BE49-F238E27FC236}">
                <a16:creationId xmlns:a16="http://schemas.microsoft.com/office/drawing/2014/main" xmlns="" id="{791D85D7-F412-9C48-9F2B-E33F5B7B4F3C}"/>
              </a:ext>
            </a:extLst>
          </p:cNvPr>
          <p:cNvSpPr txBox="1"/>
          <p:nvPr/>
        </p:nvSpPr>
        <p:spPr>
          <a:xfrm>
            <a:off x="1356514" y="293282"/>
            <a:ext cx="2675878" cy="369332"/>
          </a:xfrm>
          <a:prstGeom prst="rect">
            <a:avLst/>
          </a:prstGeom>
          <a:noFill/>
          <a:ln w="9525">
            <a:noFill/>
          </a:ln>
        </p:spPr>
        <p:txBody>
          <a:bodyPr wrap="square">
            <a:spAutoFit/>
          </a:bodyPr>
          <a:lstStyle/>
          <a:p>
            <a:pPr algn="ctr"/>
            <a:r>
              <a:rPr lang="zh-CN" altLang="en-US" sz="1800" b="1" dirty="0" smtClean="0">
                <a:latin typeface="微软雅黑" panose="020B0503020204020204" pitchFamily="34" charset="-122"/>
                <a:ea typeface="微软雅黑" panose="020B0503020204020204" pitchFamily="34" charset="-122"/>
              </a:rPr>
              <a:t>像管的基本原理与结构</a:t>
            </a:r>
            <a:endParaRPr lang="zh-CN" altLang="en-US" sz="1800" b="1" dirty="0">
              <a:latin typeface="微软雅黑" panose="020B0503020204020204" pitchFamily="34" charset="-122"/>
              <a:ea typeface="微软雅黑" panose="020B0503020204020204" pitchFamily="34" charset="-122"/>
            </a:endParaRPr>
          </a:p>
        </p:txBody>
      </p:sp>
      <p:cxnSp>
        <p:nvCxnSpPr>
          <p:cNvPr id="54"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70453" y="716692"/>
            <a:ext cx="2448000" cy="1235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box(in)">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box(in)">
                                      <p:cBhvr>
                                        <p:cTn id="12" dur="500"/>
                                        <p:tgtEl>
                                          <p:spTgt spid="25"/>
                                        </p:tgtEl>
                                      </p:cBhvr>
                                    </p:animEffect>
                                  </p:childTnLst>
                                </p:cTn>
                              </p:par>
                            </p:childTnLst>
                          </p:cTn>
                        </p:par>
                        <p:par>
                          <p:cTn id="13" fill="hold">
                            <p:stCondLst>
                              <p:cond delay="500"/>
                            </p:stCondLst>
                            <p:childTnLst>
                              <p:par>
                                <p:cTn id="14" presetID="4" presetClass="entr" presetSubtype="16" fill="hold" nodeType="after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box(in)">
                                      <p:cBhvr>
                                        <p:cTn id="16" dur="500"/>
                                        <p:tgtEl>
                                          <p:spTgt spid="32"/>
                                        </p:tgtEl>
                                      </p:cBhvr>
                                    </p:animEffect>
                                  </p:childTnLst>
                                </p:cTn>
                              </p:par>
                            </p:childTnLst>
                          </p:cTn>
                        </p:par>
                        <p:par>
                          <p:cTn id="17" fill="hold">
                            <p:stCondLst>
                              <p:cond delay="1000"/>
                            </p:stCondLst>
                            <p:childTnLst>
                              <p:par>
                                <p:cTn id="18" presetID="4" presetClass="entr" presetSubtype="16" fill="hold" grpId="0" nodeType="after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box(in)">
                                      <p:cBhvr>
                                        <p:cTn id="20" dur="5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box(in)">
                                      <p:cBhvr>
                                        <p:cTn id="25" dur="500"/>
                                        <p:tgtEl>
                                          <p:spTgt spid="35"/>
                                        </p:tgtEl>
                                      </p:cBhvr>
                                    </p:animEffect>
                                  </p:childTnLst>
                                </p:cTn>
                              </p:par>
                            </p:childTnLst>
                          </p:cTn>
                        </p:par>
                        <p:par>
                          <p:cTn id="26" fill="hold">
                            <p:stCondLst>
                              <p:cond delay="500"/>
                            </p:stCondLst>
                            <p:childTnLst>
                              <p:par>
                                <p:cTn id="27" presetID="4" presetClass="entr" presetSubtype="16" fill="hold" grpId="0" nodeType="after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box(in)">
                                      <p:cBhvr>
                                        <p:cTn id="29" dur="500"/>
                                        <p:tgtEl>
                                          <p:spTgt spid="47"/>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ox(in)">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12" fill="hold" nodeType="clickEffect">
                                  <p:stCondLst>
                                    <p:cond delay="0"/>
                                  </p:stCondLst>
                                  <p:childTnLst>
                                    <p:set>
                                      <p:cBhvr>
                                        <p:cTn id="38" dur="1" fill="hold">
                                          <p:stCondLst>
                                            <p:cond delay="0"/>
                                          </p:stCondLst>
                                        </p:cTn>
                                        <p:tgtEl>
                                          <p:spTgt spid="48"/>
                                        </p:tgtEl>
                                        <p:attrNameLst>
                                          <p:attrName>style.visibility</p:attrName>
                                        </p:attrNameLst>
                                      </p:cBhvr>
                                      <p:to>
                                        <p:strVal val="visible"/>
                                      </p:to>
                                    </p:set>
                                    <p:animEffect transition="in" filter="strips(downLeft)">
                                      <p:cBhvr>
                                        <p:cTn id="39" dur="500"/>
                                        <p:tgtEl>
                                          <p:spTgt spid="48"/>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6" fill="hold"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strips(downRight)">
                                      <p:cBhvr>
                                        <p:cTn id="44" dur="500"/>
                                        <p:tgtEl>
                                          <p:spTgt spid="26"/>
                                        </p:tgtEl>
                                      </p:cBhvr>
                                    </p:animEffect>
                                  </p:childTnLst>
                                </p:cTn>
                              </p:par>
                              <p:par>
                                <p:cTn id="45" presetID="18" presetClass="entr" presetSubtype="6"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strips(downRight)">
                                      <p:cBhvr>
                                        <p:cTn id="47" dur="500"/>
                                        <p:tgtEl>
                                          <p:spTgt spid="27"/>
                                        </p:tgtEl>
                                      </p:cBhvr>
                                    </p:animEffect>
                                  </p:childTnLst>
                                </p:cTn>
                              </p:par>
                              <p:par>
                                <p:cTn id="48" presetID="18" presetClass="entr" presetSubtype="6" fill="hold"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strips(downRight)">
                                      <p:cBhvr>
                                        <p:cTn id="50" dur="500"/>
                                        <p:tgtEl>
                                          <p:spTgt spid="31"/>
                                        </p:tgtEl>
                                      </p:cBhvr>
                                    </p:animEffect>
                                  </p:childTnLst>
                                </p:cTn>
                              </p:par>
                              <p:par>
                                <p:cTn id="51" presetID="18" presetClass="entr" presetSubtype="6"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strips(downRight)">
                                      <p:cBhvr>
                                        <p:cTn id="53" dur="500"/>
                                        <p:tgtEl>
                                          <p:spTgt spid="30"/>
                                        </p:tgtEl>
                                      </p:cBhvr>
                                    </p:animEffect>
                                  </p:childTnLst>
                                </p:cTn>
                              </p:par>
                            </p:childTnLst>
                          </p:cTn>
                        </p:par>
                      </p:childTnLst>
                    </p:cTn>
                  </p:par>
                  <p:par>
                    <p:cTn id="54" fill="hold">
                      <p:stCondLst>
                        <p:cond delay="indefinite"/>
                      </p:stCondLst>
                      <p:childTnLst>
                        <p:par>
                          <p:cTn id="55" fill="hold">
                            <p:stCondLst>
                              <p:cond delay="0"/>
                            </p:stCondLst>
                            <p:childTnLst>
                              <p:par>
                                <p:cTn id="56" presetID="18" presetClass="entr" presetSubtype="12" fill="hold" nodeType="click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strips(downLeft)">
                                      <p:cBhvr>
                                        <p:cTn id="58" dur="500"/>
                                        <p:tgtEl>
                                          <p:spTgt spid="49"/>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50"/>
                                        </p:tgtEl>
                                        <p:attrNameLst>
                                          <p:attrName>style.visibility</p:attrName>
                                        </p:attrNameLst>
                                      </p:cBhvr>
                                      <p:to>
                                        <p:strVal val="visible"/>
                                      </p:to>
                                    </p:set>
                                    <p:animEffect transition="in" filter="box(in)">
                                      <p:cBhvr>
                                        <p:cTn id="63" dur="500"/>
                                        <p:tgtEl>
                                          <p:spTgt spid="50"/>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16" fill="hold" grpId="0" nodeType="clickEffect">
                                  <p:stCondLst>
                                    <p:cond delay="0"/>
                                  </p:stCondLst>
                                  <p:childTnLst>
                                    <p:set>
                                      <p:cBhvr>
                                        <p:cTn id="67" dur="1" fill="hold">
                                          <p:stCondLst>
                                            <p:cond delay="0"/>
                                          </p:stCondLst>
                                        </p:cTn>
                                        <p:tgtEl>
                                          <p:spTgt spid="51"/>
                                        </p:tgtEl>
                                        <p:attrNameLst>
                                          <p:attrName>style.visibility</p:attrName>
                                        </p:attrNameLst>
                                      </p:cBhvr>
                                      <p:to>
                                        <p:strVal val="visible"/>
                                      </p:to>
                                    </p:set>
                                    <p:animEffect transition="in" filter="box(in)">
                                      <p:cBhvr>
                                        <p:cTn id="68" dur="500"/>
                                        <p:tgtEl>
                                          <p:spTgt spid="51"/>
                                        </p:tgtEl>
                                      </p:cBhvr>
                                    </p:animEffect>
                                  </p:childTnLst>
                                </p:cTn>
                              </p:par>
                            </p:childTnLst>
                          </p:cTn>
                        </p:par>
                      </p:childTnLst>
                    </p:cTn>
                  </p:par>
                  <p:par>
                    <p:cTn id="69" fill="hold">
                      <p:stCondLst>
                        <p:cond delay="indefinite"/>
                      </p:stCondLst>
                      <p:childTnLst>
                        <p:par>
                          <p:cTn id="70" fill="hold">
                            <p:stCondLst>
                              <p:cond delay="0"/>
                            </p:stCondLst>
                            <p:childTnLst>
                              <p:par>
                                <p:cTn id="71" presetID="4" presetClass="entr" presetSubtype="16" fill="hold" grpId="0" nodeType="clickEffect">
                                  <p:stCondLst>
                                    <p:cond delay="0"/>
                                  </p:stCondLst>
                                  <p:childTnLst>
                                    <p:set>
                                      <p:cBhvr>
                                        <p:cTn id="72" dur="1" fill="hold">
                                          <p:stCondLst>
                                            <p:cond delay="0"/>
                                          </p:stCondLst>
                                        </p:cTn>
                                        <p:tgtEl>
                                          <p:spTgt spid="52"/>
                                        </p:tgtEl>
                                        <p:attrNameLst>
                                          <p:attrName>style.visibility</p:attrName>
                                        </p:attrNameLst>
                                      </p:cBhvr>
                                      <p:to>
                                        <p:strVal val="visible"/>
                                      </p:to>
                                    </p:set>
                                    <p:animEffect transition="in" filter="box(in)">
                                      <p:cBhvr>
                                        <p:cTn id="7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animBg="1"/>
      <p:bldP spid="47" grpId="0" animBg="1"/>
      <p:bldP spid="50" grpId="0" animBg="1"/>
      <p:bldP spid="51" grpId="0" animBg="1"/>
      <p:bldP spid="5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53" name="组合 59"/>
          <p:cNvGrpSpPr>
            <a:grpSpLocks/>
          </p:cNvGrpSpPr>
          <p:nvPr/>
        </p:nvGrpSpPr>
        <p:grpSpPr bwMode="auto">
          <a:xfrm>
            <a:off x="4463863" y="2483223"/>
            <a:ext cx="3714750" cy="2500313"/>
            <a:chOff x="2428875" y="2286000"/>
            <a:chExt cx="3714750" cy="2500313"/>
          </a:xfrm>
        </p:grpSpPr>
        <p:sp>
          <p:nvSpPr>
            <p:cNvPr id="54" name="矩形 53"/>
            <p:cNvSpPr/>
            <p:nvPr/>
          </p:nvSpPr>
          <p:spPr>
            <a:xfrm>
              <a:off x="2500313" y="2643188"/>
              <a:ext cx="3571875" cy="1785937"/>
            </a:xfrm>
            <a:prstGeom prst="rect">
              <a:avLst/>
            </a:prstGeom>
            <a:gradFill flip="none" rotWithShape="1">
              <a:gsLst>
                <a:gs pos="0">
                  <a:srgbClr val="5E9EFF"/>
                </a:gs>
                <a:gs pos="39999">
                  <a:srgbClr val="85C2FF"/>
                </a:gs>
                <a:gs pos="70000">
                  <a:srgbClr val="C4D6EB"/>
                </a:gs>
                <a:gs pos="100000">
                  <a:srgbClr val="FFEBFA"/>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latin typeface="微软雅黑" pitchFamily="34" charset="-122"/>
                <a:ea typeface="微软雅黑" pitchFamily="34" charset="-122"/>
              </a:endParaRPr>
            </a:p>
          </p:txBody>
        </p:sp>
        <p:sp>
          <p:nvSpPr>
            <p:cNvPr id="55" name="矩形 54"/>
            <p:cNvSpPr/>
            <p:nvPr/>
          </p:nvSpPr>
          <p:spPr>
            <a:xfrm>
              <a:off x="2428875" y="2286000"/>
              <a:ext cx="3714750" cy="285750"/>
            </a:xfrm>
            <a:prstGeom prst="rect">
              <a:avLst/>
            </a:prstGeom>
            <a:blipFill>
              <a:blip r:embed="rId2"/>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latin typeface="微软雅黑" pitchFamily="34" charset="-122"/>
                <a:ea typeface="微软雅黑" pitchFamily="34" charset="-122"/>
              </a:endParaRPr>
            </a:p>
          </p:txBody>
        </p:sp>
        <p:sp>
          <p:nvSpPr>
            <p:cNvPr id="56" name="矩形 55"/>
            <p:cNvSpPr/>
            <p:nvPr/>
          </p:nvSpPr>
          <p:spPr>
            <a:xfrm>
              <a:off x="2428875" y="4500563"/>
              <a:ext cx="3714750" cy="285750"/>
            </a:xfrm>
            <a:prstGeom prst="rect">
              <a:avLst/>
            </a:prstGeom>
            <a:blipFill>
              <a:blip r:embed="rId2"/>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latin typeface="微软雅黑" pitchFamily="34" charset="-122"/>
                <a:ea typeface="微软雅黑" pitchFamily="34" charset="-122"/>
              </a:endParaRPr>
            </a:p>
          </p:txBody>
        </p:sp>
      </p:grpSp>
      <p:grpSp>
        <p:nvGrpSpPr>
          <p:cNvPr id="57" name="组合 61"/>
          <p:cNvGrpSpPr>
            <a:grpSpLocks/>
          </p:cNvGrpSpPr>
          <p:nvPr/>
        </p:nvGrpSpPr>
        <p:grpSpPr bwMode="auto">
          <a:xfrm>
            <a:off x="5321113" y="2840411"/>
            <a:ext cx="2286000" cy="1714500"/>
            <a:chOff x="3286125" y="2643188"/>
            <a:chExt cx="2286000" cy="1714500"/>
          </a:xfrm>
        </p:grpSpPr>
        <p:sp>
          <p:nvSpPr>
            <p:cNvPr id="58" name="矩形 57"/>
            <p:cNvSpPr/>
            <p:nvPr/>
          </p:nvSpPr>
          <p:spPr>
            <a:xfrm>
              <a:off x="3286125" y="2643188"/>
              <a:ext cx="285750" cy="171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latin typeface="微软雅黑" pitchFamily="34" charset="-122"/>
                <a:ea typeface="微软雅黑" pitchFamily="34" charset="-122"/>
              </a:endParaRPr>
            </a:p>
          </p:txBody>
        </p:sp>
        <p:sp>
          <p:nvSpPr>
            <p:cNvPr id="59" name="矩形 58"/>
            <p:cNvSpPr/>
            <p:nvPr/>
          </p:nvSpPr>
          <p:spPr>
            <a:xfrm>
              <a:off x="3929063" y="2643188"/>
              <a:ext cx="285750" cy="171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latin typeface="微软雅黑" pitchFamily="34" charset="-122"/>
                <a:ea typeface="微软雅黑" pitchFamily="34" charset="-122"/>
              </a:endParaRPr>
            </a:p>
          </p:txBody>
        </p:sp>
        <p:sp>
          <p:nvSpPr>
            <p:cNvPr id="60" name="矩形 59"/>
            <p:cNvSpPr/>
            <p:nvPr/>
          </p:nvSpPr>
          <p:spPr>
            <a:xfrm>
              <a:off x="4572000" y="2643188"/>
              <a:ext cx="285750" cy="171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latin typeface="微软雅黑" pitchFamily="34" charset="-122"/>
                <a:ea typeface="微软雅黑" pitchFamily="34" charset="-122"/>
              </a:endParaRPr>
            </a:p>
          </p:txBody>
        </p:sp>
        <p:sp>
          <p:nvSpPr>
            <p:cNvPr id="61" name="矩形 60"/>
            <p:cNvSpPr/>
            <p:nvPr/>
          </p:nvSpPr>
          <p:spPr>
            <a:xfrm>
              <a:off x="5286375" y="2643188"/>
              <a:ext cx="285750" cy="171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latin typeface="微软雅黑" pitchFamily="34" charset="-122"/>
                <a:ea typeface="微软雅黑" pitchFamily="34" charset="-122"/>
              </a:endParaRPr>
            </a:p>
          </p:txBody>
        </p:sp>
      </p:grpSp>
      <p:cxnSp>
        <p:nvCxnSpPr>
          <p:cNvPr id="62" name="直接连接符 61"/>
          <p:cNvCxnSpPr/>
          <p:nvPr/>
        </p:nvCxnSpPr>
        <p:spPr>
          <a:xfrm rot="10800000">
            <a:off x="4749613" y="3483348"/>
            <a:ext cx="3071813" cy="214313"/>
          </a:xfrm>
          <a:prstGeom prst="line">
            <a:avLst/>
          </a:prstGeom>
          <a:ln w="76200">
            <a:solidFill>
              <a:schemeClr val="accent3">
                <a:lumMod val="60000"/>
                <a:lumOff val="40000"/>
              </a:schemeClr>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4606738" y="2911848"/>
            <a:ext cx="142875" cy="157162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latin typeface="微软雅黑" pitchFamily="34" charset="-122"/>
              <a:ea typeface="微软雅黑" pitchFamily="34" charset="-122"/>
            </a:endParaRPr>
          </a:p>
        </p:txBody>
      </p:sp>
      <p:sp>
        <p:nvSpPr>
          <p:cNvPr id="64" name="矩形 63"/>
          <p:cNvSpPr/>
          <p:nvPr/>
        </p:nvSpPr>
        <p:spPr>
          <a:xfrm>
            <a:off x="7892863" y="2911848"/>
            <a:ext cx="142875" cy="1571625"/>
          </a:xfrm>
          <a:prstGeom prst="rect">
            <a:avLst/>
          </a:prstGeom>
          <a:solidFill>
            <a:srgbClr val="00FF00"/>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latin typeface="微软雅黑" pitchFamily="34" charset="-122"/>
              <a:ea typeface="微软雅黑" pitchFamily="34" charset="-122"/>
            </a:endParaRPr>
          </a:p>
        </p:txBody>
      </p:sp>
      <p:cxnSp>
        <p:nvCxnSpPr>
          <p:cNvPr id="65" name="直接连接符 64"/>
          <p:cNvCxnSpPr/>
          <p:nvPr/>
        </p:nvCxnSpPr>
        <p:spPr>
          <a:xfrm rot="10800000" flipV="1">
            <a:off x="4749613" y="3697661"/>
            <a:ext cx="3071813" cy="285750"/>
          </a:xfrm>
          <a:prstGeom prst="line">
            <a:avLst/>
          </a:prstGeom>
          <a:ln w="76200">
            <a:solidFill>
              <a:schemeClr val="accent3">
                <a:lumMod val="60000"/>
                <a:lumOff val="40000"/>
              </a:schemeClr>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rot="5400000">
            <a:off x="9357332" y="3733379"/>
            <a:ext cx="1358900" cy="1588"/>
          </a:xfrm>
          <a:prstGeom prst="straightConnector1">
            <a:avLst/>
          </a:prstGeom>
          <a:ln w="57150">
            <a:solidFill>
              <a:srgbClr val="00B050"/>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rot="5400000">
            <a:off x="8857269" y="3804817"/>
            <a:ext cx="2644775" cy="1588"/>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68" name="组合 68"/>
          <p:cNvGrpSpPr>
            <a:grpSpLocks/>
          </p:cNvGrpSpPr>
          <p:nvPr/>
        </p:nvGrpSpPr>
        <p:grpSpPr bwMode="auto">
          <a:xfrm>
            <a:off x="8107176" y="3054723"/>
            <a:ext cx="1928812" cy="1357313"/>
            <a:chOff x="6072188" y="2857500"/>
            <a:chExt cx="1928812" cy="1357313"/>
          </a:xfrm>
        </p:grpSpPr>
        <p:cxnSp>
          <p:nvCxnSpPr>
            <p:cNvPr id="69" name="直接箭头连接符 68"/>
            <p:cNvCxnSpPr/>
            <p:nvPr/>
          </p:nvCxnSpPr>
          <p:spPr>
            <a:xfrm flipV="1">
              <a:off x="6072188" y="2857500"/>
              <a:ext cx="1928812" cy="12858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a:xfrm>
              <a:off x="6072188" y="2857500"/>
              <a:ext cx="1928812" cy="135731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1" name="椭圆 70"/>
            <p:cNvSpPr/>
            <p:nvPr/>
          </p:nvSpPr>
          <p:spPr>
            <a:xfrm>
              <a:off x="6929438" y="2928938"/>
              <a:ext cx="214312" cy="1143000"/>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latin typeface="微软雅黑" pitchFamily="34" charset="-122"/>
                <a:ea typeface="微软雅黑" pitchFamily="34" charset="-122"/>
              </a:endParaRPr>
            </a:p>
          </p:txBody>
        </p:sp>
      </p:grpSp>
      <p:grpSp>
        <p:nvGrpSpPr>
          <p:cNvPr id="72" name="组合 67"/>
          <p:cNvGrpSpPr>
            <a:grpSpLocks/>
          </p:cNvGrpSpPr>
          <p:nvPr/>
        </p:nvGrpSpPr>
        <p:grpSpPr bwMode="auto">
          <a:xfrm>
            <a:off x="3106551" y="3054723"/>
            <a:ext cx="1357312" cy="1285875"/>
            <a:chOff x="1071563" y="2857500"/>
            <a:chExt cx="1357312" cy="1285875"/>
          </a:xfrm>
        </p:grpSpPr>
        <p:sp>
          <p:nvSpPr>
            <p:cNvPr id="73" name="椭圆 72"/>
            <p:cNvSpPr/>
            <p:nvPr/>
          </p:nvSpPr>
          <p:spPr>
            <a:xfrm>
              <a:off x="1428750" y="2928938"/>
              <a:ext cx="214313" cy="1143000"/>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latin typeface="微软雅黑" pitchFamily="34" charset="-122"/>
                <a:ea typeface="微软雅黑" pitchFamily="34" charset="-122"/>
              </a:endParaRPr>
            </a:p>
          </p:txBody>
        </p:sp>
        <p:cxnSp>
          <p:nvCxnSpPr>
            <p:cNvPr id="74" name="直接箭头连接符 73"/>
            <p:cNvCxnSpPr/>
            <p:nvPr/>
          </p:nvCxnSpPr>
          <p:spPr>
            <a:xfrm flipV="1">
              <a:off x="1071563" y="2857500"/>
              <a:ext cx="1357312" cy="9286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1071563" y="3000375"/>
              <a:ext cx="1285875" cy="11430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76" name="直接箭头连接符 75"/>
          <p:cNvCxnSpPr/>
          <p:nvPr/>
        </p:nvCxnSpPr>
        <p:spPr>
          <a:xfrm rot="5400000">
            <a:off x="3747901" y="3697661"/>
            <a:ext cx="1430337" cy="1587"/>
          </a:xfrm>
          <a:prstGeom prst="straightConnector1">
            <a:avLst/>
          </a:prstGeom>
          <a:ln w="53975">
            <a:solidFill>
              <a:srgbClr val="00B050"/>
            </a:solidFill>
            <a:tailEnd type="stealth"/>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rot="5400000" flipH="1" flipV="1">
            <a:off x="7892864" y="2340348"/>
            <a:ext cx="1143000" cy="7143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8" name="组合 65"/>
          <p:cNvGrpSpPr>
            <a:grpSpLocks/>
          </p:cNvGrpSpPr>
          <p:nvPr/>
        </p:nvGrpSpPr>
        <p:grpSpPr bwMode="auto">
          <a:xfrm>
            <a:off x="4676588" y="4412036"/>
            <a:ext cx="3289300" cy="1144587"/>
            <a:chOff x="2641600" y="4214813"/>
            <a:chExt cx="3289300" cy="1144587"/>
          </a:xfrm>
        </p:grpSpPr>
        <p:cxnSp>
          <p:nvCxnSpPr>
            <p:cNvPr id="79" name="直接连接符 78"/>
            <p:cNvCxnSpPr/>
            <p:nvPr/>
          </p:nvCxnSpPr>
          <p:spPr>
            <a:xfrm rot="5400000">
              <a:off x="2213769" y="4715669"/>
              <a:ext cx="857250"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2643188" y="5143500"/>
              <a:ext cx="1571625"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4429125" y="5143500"/>
              <a:ext cx="1500188"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rot="5400000" flipH="1" flipV="1">
              <a:off x="5751513" y="4965700"/>
              <a:ext cx="357188" cy="158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rot="5400000" flipH="1" flipV="1">
              <a:off x="5680076" y="4537075"/>
              <a:ext cx="500062" cy="158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2714625" y="4214813"/>
              <a:ext cx="3143250" cy="158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2857500" y="4214813"/>
              <a:ext cx="285750" cy="158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3587750" y="4214813"/>
              <a:ext cx="285750" cy="158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4230688" y="4214813"/>
              <a:ext cx="285750" cy="158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4875213" y="4214813"/>
              <a:ext cx="285750" cy="158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rot="5400000">
              <a:off x="4071144" y="5144294"/>
              <a:ext cx="285750" cy="1588"/>
            </a:xfrm>
            <a:prstGeom prst="line">
              <a:avLst/>
            </a:prstGeom>
            <a:ln w="76200">
              <a:solidFill>
                <a:srgbClr val="0000CC"/>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rot="5400000">
              <a:off x="4214019" y="5144294"/>
              <a:ext cx="428625" cy="1587"/>
            </a:xfrm>
            <a:prstGeom prst="line">
              <a:avLst/>
            </a:prstGeom>
            <a:ln w="76200">
              <a:solidFill>
                <a:srgbClr val="0000CC"/>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a:endCxn id="58" idx="2"/>
            </p:cNvCxnSpPr>
            <p:nvPr/>
          </p:nvCxnSpPr>
          <p:spPr>
            <a:xfrm rot="5400000">
              <a:off x="5391757" y="4484267"/>
              <a:ext cx="142875" cy="158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3281363" y="4386263"/>
              <a:ext cx="285750" cy="158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rot="5400000">
              <a:off x="4001294" y="4285457"/>
              <a:ext cx="142875" cy="158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rot="5400000">
              <a:off x="4644231" y="4285457"/>
              <a:ext cx="142875"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rot="5400000">
              <a:off x="5358606" y="4285457"/>
              <a:ext cx="142875"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3925888" y="4386263"/>
              <a:ext cx="285750" cy="158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4572000" y="4386263"/>
              <a:ext cx="285750" cy="158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5286375" y="4386263"/>
              <a:ext cx="285750" cy="158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99" name="组合 63"/>
          <p:cNvGrpSpPr>
            <a:grpSpLocks/>
          </p:cNvGrpSpPr>
          <p:nvPr/>
        </p:nvGrpSpPr>
        <p:grpSpPr bwMode="auto">
          <a:xfrm>
            <a:off x="2892238" y="1697411"/>
            <a:ext cx="1785938" cy="1428750"/>
            <a:chOff x="857224" y="1500174"/>
            <a:chExt cx="1785950" cy="1428760"/>
          </a:xfrm>
        </p:grpSpPr>
        <p:cxnSp>
          <p:nvCxnSpPr>
            <p:cNvPr id="100" name="直接连接符 99"/>
            <p:cNvCxnSpPr/>
            <p:nvPr/>
          </p:nvCxnSpPr>
          <p:spPr>
            <a:xfrm rot="16200000" flipH="1">
              <a:off x="1893075" y="2178835"/>
              <a:ext cx="928695" cy="571504"/>
            </a:xfrm>
            <a:prstGeom prst="line">
              <a:avLst/>
            </a:prstGeom>
            <a:ln w="3175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101" name="TextBox 46"/>
            <p:cNvSpPr txBox="1">
              <a:spLocks noChangeArrowheads="1"/>
            </p:cNvSpPr>
            <p:nvPr/>
          </p:nvSpPr>
          <p:spPr bwMode="auto">
            <a:xfrm>
              <a:off x="857224" y="1500174"/>
              <a:ext cx="15002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latin typeface="微软雅黑" panose="020B0503020204020204" pitchFamily="34" charset="-122"/>
                  <a:ea typeface="微软雅黑" panose="020B0503020204020204" pitchFamily="34" charset="-122"/>
                </a:rPr>
                <a:t>光电阴极</a:t>
              </a:r>
            </a:p>
          </p:txBody>
        </p:sp>
      </p:grpSp>
      <p:grpSp>
        <p:nvGrpSpPr>
          <p:cNvPr id="102" name="组合 60"/>
          <p:cNvGrpSpPr>
            <a:grpSpLocks/>
          </p:cNvGrpSpPr>
          <p:nvPr/>
        </p:nvGrpSpPr>
        <p:grpSpPr bwMode="auto">
          <a:xfrm>
            <a:off x="4392426" y="1697411"/>
            <a:ext cx="1714500" cy="785812"/>
            <a:chOff x="2357422" y="1500174"/>
            <a:chExt cx="1714491" cy="785826"/>
          </a:xfrm>
        </p:grpSpPr>
        <p:cxnSp>
          <p:nvCxnSpPr>
            <p:cNvPr id="103" name="直接连接符 102"/>
            <p:cNvCxnSpPr/>
            <p:nvPr/>
          </p:nvCxnSpPr>
          <p:spPr>
            <a:xfrm rot="16200000" flipH="1">
              <a:off x="3036070" y="2107404"/>
              <a:ext cx="357193" cy="0"/>
            </a:xfrm>
            <a:prstGeom prst="line">
              <a:avLst/>
            </a:prstGeom>
            <a:ln w="3175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104" name="TextBox 47"/>
            <p:cNvSpPr txBox="1">
              <a:spLocks noChangeArrowheads="1"/>
            </p:cNvSpPr>
            <p:nvPr/>
          </p:nvSpPr>
          <p:spPr bwMode="auto">
            <a:xfrm>
              <a:off x="2357422" y="1500174"/>
              <a:ext cx="17144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latin typeface="微软雅黑" panose="020B0503020204020204" pitchFamily="34" charset="-122"/>
                  <a:ea typeface="微软雅黑" panose="020B0503020204020204" pitchFamily="34" charset="-122"/>
                </a:rPr>
                <a:t>圆筒状线圈</a:t>
              </a:r>
            </a:p>
          </p:txBody>
        </p:sp>
      </p:grpSp>
      <p:grpSp>
        <p:nvGrpSpPr>
          <p:cNvPr id="105" name="组合 62"/>
          <p:cNvGrpSpPr>
            <a:grpSpLocks/>
          </p:cNvGrpSpPr>
          <p:nvPr/>
        </p:nvGrpSpPr>
        <p:grpSpPr bwMode="auto">
          <a:xfrm>
            <a:off x="6321238" y="1697411"/>
            <a:ext cx="928688" cy="1143000"/>
            <a:chOff x="4286248" y="1500174"/>
            <a:chExt cx="928689" cy="1143014"/>
          </a:xfrm>
        </p:grpSpPr>
        <p:cxnSp>
          <p:nvCxnSpPr>
            <p:cNvPr id="106" name="直接连接符 105"/>
            <p:cNvCxnSpPr/>
            <p:nvPr/>
          </p:nvCxnSpPr>
          <p:spPr>
            <a:xfrm rot="5400000">
              <a:off x="4393401" y="2321715"/>
              <a:ext cx="642946" cy="0"/>
            </a:xfrm>
            <a:prstGeom prst="line">
              <a:avLst/>
            </a:prstGeom>
            <a:ln w="3175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107" name="TextBox 48"/>
            <p:cNvSpPr txBox="1">
              <a:spLocks noChangeArrowheads="1"/>
            </p:cNvSpPr>
            <p:nvPr/>
          </p:nvSpPr>
          <p:spPr bwMode="auto">
            <a:xfrm>
              <a:off x="4286248" y="1500174"/>
              <a:ext cx="9286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latin typeface="微软雅黑" panose="020B0503020204020204" pitchFamily="34" charset="-122"/>
                  <a:ea typeface="微软雅黑" panose="020B0503020204020204" pitchFamily="34" charset="-122"/>
                </a:rPr>
                <a:t>电极</a:t>
              </a:r>
            </a:p>
          </p:txBody>
        </p:sp>
      </p:grpSp>
      <p:grpSp>
        <p:nvGrpSpPr>
          <p:cNvPr id="108" name="组合 64"/>
          <p:cNvGrpSpPr>
            <a:grpSpLocks/>
          </p:cNvGrpSpPr>
          <p:nvPr/>
        </p:nvGrpSpPr>
        <p:grpSpPr bwMode="auto">
          <a:xfrm>
            <a:off x="7107051" y="1697411"/>
            <a:ext cx="1357312" cy="1428750"/>
            <a:chOff x="5072062" y="1500174"/>
            <a:chExt cx="1357326" cy="1428764"/>
          </a:xfrm>
        </p:grpSpPr>
        <p:cxnSp>
          <p:nvCxnSpPr>
            <p:cNvPr id="109" name="直接连接符 108"/>
            <p:cNvCxnSpPr/>
            <p:nvPr/>
          </p:nvCxnSpPr>
          <p:spPr>
            <a:xfrm rot="5400000">
              <a:off x="5429253" y="2428871"/>
              <a:ext cx="1000135" cy="0"/>
            </a:xfrm>
            <a:prstGeom prst="line">
              <a:avLst/>
            </a:prstGeom>
            <a:ln w="3175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110" name="TextBox 49"/>
            <p:cNvSpPr txBox="1">
              <a:spLocks noChangeArrowheads="1"/>
            </p:cNvSpPr>
            <p:nvPr/>
          </p:nvSpPr>
          <p:spPr bwMode="auto">
            <a:xfrm>
              <a:off x="5072062" y="1500174"/>
              <a:ext cx="13573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latin typeface="微软雅黑" panose="020B0503020204020204" pitchFamily="34" charset="-122"/>
                  <a:ea typeface="微软雅黑" panose="020B0503020204020204" pitchFamily="34" charset="-122"/>
                </a:rPr>
                <a:t>荧光面</a:t>
              </a:r>
            </a:p>
          </p:txBody>
        </p:sp>
      </p:grpSp>
      <p:sp>
        <p:nvSpPr>
          <p:cNvPr id="111" name="TextBox 50"/>
          <p:cNvSpPr txBox="1">
            <a:spLocks noChangeArrowheads="1"/>
          </p:cNvSpPr>
          <p:nvPr/>
        </p:nvSpPr>
        <p:spPr bwMode="auto">
          <a:xfrm>
            <a:off x="8392926" y="1697411"/>
            <a:ext cx="857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latin typeface="微软雅黑" panose="020B0503020204020204" pitchFamily="34" charset="-122"/>
                <a:ea typeface="微软雅黑" panose="020B0503020204020204" pitchFamily="34" charset="-122"/>
              </a:rPr>
              <a:t>铝膜</a:t>
            </a:r>
          </a:p>
        </p:txBody>
      </p:sp>
      <p:sp>
        <p:nvSpPr>
          <p:cNvPr id="112" name="TextBox 51"/>
          <p:cNvSpPr txBox="1">
            <a:spLocks noChangeArrowheads="1"/>
          </p:cNvSpPr>
          <p:nvPr/>
        </p:nvSpPr>
        <p:spPr bwMode="auto">
          <a:xfrm>
            <a:off x="9321613" y="1697411"/>
            <a:ext cx="1500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latin typeface="微软雅黑" panose="020B0503020204020204" pitchFamily="34" charset="-122"/>
                <a:ea typeface="微软雅黑" panose="020B0503020204020204" pitchFamily="34" charset="-122"/>
              </a:rPr>
              <a:t>感光胶片</a:t>
            </a:r>
          </a:p>
        </p:txBody>
      </p:sp>
      <p:sp>
        <p:nvSpPr>
          <p:cNvPr id="113" name="Text Box 4"/>
          <p:cNvSpPr txBox="1">
            <a:spLocks noChangeArrowheads="1"/>
          </p:cNvSpPr>
          <p:nvPr/>
        </p:nvSpPr>
        <p:spPr bwMode="auto">
          <a:xfrm>
            <a:off x="3892363" y="5697911"/>
            <a:ext cx="5643563" cy="584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zh-CN" altLang="en-US" b="1">
                <a:latin typeface="微软雅黑" panose="020B0503020204020204" pitchFamily="34" charset="-122"/>
                <a:ea typeface="微软雅黑" panose="020B0503020204020204" pitchFamily="34" charset="-122"/>
              </a:rPr>
              <a:t>电磁聚焦型像管结构示意图 </a:t>
            </a:r>
          </a:p>
        </p:txBody>
      </p:sp>
      <p:sp>
        <p:nvSpPr>
          <p:cNvPr id="114" name="Text Box 5"/>
          <p:cNvSpPr txBox="1">
            <a:spLocks noChangeArrowheads="1"/>
          </p:cNvSpPr>
          <p:nvPr/>
        </p:nvSpPr>
        <p:spPr bwMode="auto">
          <a:xfrm>
            <a:off x="566138" y="2483223"/>
            <a:ext cx="1987030" cy="3323987"/>
          </a:xfrm>
          <a:prstGeom prst="rect">
            <a:avLst/>
          </a:prstGeom>
          <a:solidFill>
            <a:schemeClr val="accent2">
              <a:lumMod val="20000"/>
              <a:lumOff val="80000"/>
            </a:schemeClr>
          </a:solidFill>
          <a:ln>
            <a:noFill/>
          </a:ln>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zh-CN" altLang="en-US" sz="2000" b="1" dirty="0" smtClean="0">
                <a:latin typeface="微软雅黑" panose="020B0503020204020204" pitchFamily="34" charset="-122"/>
                <a:ea typeface="微软雅黑" panose="020B0503020204020204" pitchFamily="34" charset="-122"/>
              </a:rPr>
              <a:t>圆筒</a:t>
            </a:r>
            <a:r>
              <a:rPr kumimoji="1" lang="zh-CN" altLang="en-US" sz="2000" b="1" dirty="0">
                <a:latin typeface="微软雅黑" panose="020B0503020204020204" pitchFamily="34" charset="-122"/>
                <a:ea typeface="微软雅黑" panose="020B0503020204020204" pitchFamily="34" charset="-122"/>
              </a:rPr>
              <a:t>形电极用来形成电透镜和加速，管外的线圈用来使管内产生平行于管轴的磁场，以形成磁透镜。</a:t>
            </a:r>
          </a:p>
        </p:txBody>
      </p:sp>
      <p:sp>
        <p:nvSpPr>
          <p:cNvPr id="115" name="Text Box 6"/>
          <p:cNvSpPr txBox="1">
            <a:spLocks noChangeArrowheads="1"/>
          </p:cNvSpPr>
          <p:nvPr/>
        </p:nvSpPr>
        <p:spPr bwMode="auto">
          <a:xfrm>
            <a:off x="10379437" y="2256355"/>
            <a:ext cx="2572322" cy="4708981"/>
          </a:xfrm>
          <a:prstGeom prst="rect">
            <a:avLst/>
          </a:prstGeom>
          <a:solidFill>
            <a:schemeClr val="accent2">
              <a:lumMod val="20000"/>
              <a:lumOff val="80000"/>
            </a:schemeClr>
          </a:solidFill>
          <a:ln>
            <a:noFill/>
          </a:ln>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zh-CN" altLang="en-US" sz="2000" b="1" dirty="0" smtClean="0">
                <a:latin typeface="微软雅黑" panose="020B0503020204020204" pitchFamily="34" charset="-122"/>
                <a:ea typeface="微软雅黑" panose="020B0503020204020204" pitchFamily="34" charset="-122"/>
              </a:rPr>
              <a:t>如果</a:t>
            </a:r>
            <a:r>
              <a:rPr kumimoji="1" lang="zh-CN" altLang="en-US" sz="2000" b="1" dirty="0">
                <a:latin typeface="微软雅黑" panose="020B0503020204020204" pitchFamily="34" charset="-122"/>
                <a:ea typeface="微软雅黑" panose="020B0503020204020204" pitchFamily="34" charset="-122"/>
              </a:rPr>
              <a:t>光电子有偏离于管轴的速度分量，磁场会使它呈螺旋状前进。电子每旋一圈所需的时间与初速度无关，所以光电面上任一点发射出来的电子，不管起初是沿什么方向发射，最终都可以被会聚于一点。 </a:t>
            </a:r>
          </a:p>
        </p:txBody>
      </p:sp>
      <p:sp>
        <p:nvSpPr>
          <p:cNvPr id="116" name="文本框 60">
            <a:extLst>
              <a:ext uri="{FF2B5EF4-FFF2-40B4-BE49-F238E27FC236}">
                <a16:creationId xmlns:a16="http://schemas.microsoft.com/office/drawing/2014/main" xmlns="" id="{791D85D7-F412-9C48-9F2B-E33F5B7B4F3C}"/>
              </a:ext>
            </a:extLst>
          </p:cNvPr>
          <p:cNvSpPr txBox="1"/>
          <p:nvPr/>
        </p:nvSpPr>
        <p:spPr>
          <a:xfrm>
            <a:off x="1356514" y="293282"/>
            <a:ext cx="2675878" cy="369332"/>
          </a:xfrm>
          <a:prstGeom prst="rect">
            <a:avLst/>
          </a:prstGeom>
          <a:noFill/>
          <a:ln w="9525">
            <a:noFill/>
          </a:ln>
        </p:spPr>
        <p:txBody>
          <a:bodyPr wrap="square">
            <a:spAutoFit/>
          </a:bodyPr>
          <a:lstStyle/>
          <a:p>
            <a:pPr algn="ctr"/>
            <a:r>
              <a:rPr lang="zh-CN" altLang="en-US" sz="1800" b="1" dirty="0" smtClean="0">
                <a:latin typeface="微软雅黑" panose="020B0503020204020204" pitchFamily="34" charset="-122"/>
                <a:ea typeface="微软雅黑" panose="020B0503020204020204" pitchFamily="34" charset="-122"/>
              </a:rPr>
              <a:t>像管的基本原理与结构</a:t>
            </a:r>
            <a:endParaRPr lang="zh-CN" altLang="en-US" sz="1800" b="1" dirty="0">
              <a:latin typeface="微软雅黑" panose="020B0503020204020204" pitchFamily="34" charset="-122"/>
              <a:ea typeface="微软雅黑" panose="020B0503020204020204" pitchFamily="34" charset="-122"/>
            </a:endParaRPr>
          </a:p>
        </p:txBody>
      </p:sp>
      <p:cxnSp>
        <p:nvCxnSpPr>
          <p:cNvPr id="117"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70453" y="716692"/>
            <a:ext cx="2448000" cy="1235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box(in)">
                                      <p:cBhvr>
                                        <p:cTn id="7" dur="500"/>
                                        <p:tgtEl>
                                          <p:spTgt spid="11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box(in)">
                                      <p:cBhvr>
                                        <p:cTn id="12" dur="500"/>
                                        <p:tgtEl>
                                          <p:spTgt spid="53"/>
                                        </p:tgtEl>
                                      </p:cBhvr>
                                    </p:animEffect>
                                  </p:childTnLst>
                                </p:cTn>
                              </p:par>
                            </p:childTnLst>
                          </p:cTn>
                        </p:par>
                        <p:par>
                          <p:cTn id="13" fill="hold">
                            <p:stCondLst>
                              <p:cond delay="500"/>
                            </p:stCondLst>
                            <p:childTnLst>
                              <p:par>
                                <p:cTn id="14" presetID="4" presetClass="entr" presetSubtype="16" fill="hold" nodeType="afterEffect">
                                  <p:stCondLst>
                                    <p:cond delay="0"/>
                                  </p:stCondLst>
                                  <p:childTnLst>
                                    <p:set>
                                      <p:cBhvr>
                                        <p:cTn id="15" dur="1" fill="hold">
                                          <p:stCondLst>
                                            <p:cond delay="0"/>
                                          </p:stCondLst>
                                        </p:cTn>
                                        <p:tgtEl>
                                          <p:spTgt spid="102"/>
                                        </p:tgtEl>
                                        <p:attrNameLst>
                                          <p:attrName>style.visibility</p:attrName>
                                        </p:attrNameLst>
                                      </p:cBhvr>
                                      <p:to>
                                        <p:strVal val="visible"/>
                                      </p:to>
                                    </p:set>
                                    <p:animEffect transition="in" filter="box(in)">
                                      <p:cBhvr>
                                        <p:cTn id="16" dur="500"/>
                                        <p:tgtEl>
                                          <p:spTgt spid="102"/>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57"/>
                                        </p:tgtEl>
                                        <p:attrNameLst>
                                          <p:attrName>style.visibility</p:attrName>
                                        </p:attrNameLst>
                                      </p:cBhvr>
                                      <p:to>
                                        <p:strVal val="visible"/>
                                      </p:to>
                                    </p:set>
                                    <p:animEffect transition="in" filter="box(in)">
                                      <p:cBhvr>
                                        <p:cTn id="21" dur="500"/>
                                        <p:tgtEl>
                                          <p:spTgt spid="57"/>
                                        </p:tgtEl>
                                      </p:cBhvr>
                                    </p:animEffect>
                                  </p:childTnLst>
                                </p:cTn>
                              </p:par>
                            </p:childTnLst>
                          </p:cTn>
                        </p:par>
                        <p:par>
                          <p:cTn id="22" fill="hold">
                            <p:stCondLst>
                              <p:cond delay="500"/>
                            </p:stCondLst>
                            <p:childTnLst>
                              <p:par>
                                <p:cTn id="23" presetID="4" presetClass="entr" presetSubtype="16" fill="hold" nodeType="afterEffect">
                                  <p:stCondLst>
                                    <p:cond delay="0"/>
                                  </p:stCondLst>
                                  <p:childTnLst>
                                    <p:set>
                                      <p:cBhvr>
                                        <p:cTn id="24" dur="1" fill="hold">
                                          <p:stCondLst>
                                            <p:cond delay="0"/>
                                          </p:stCondLst>
                                        </p:cTn>
                                        <p:tgtEl>
                                          <p:spTgt spid="105"/>
                                        </p:tgtEl>
                                        <p:attrNameLst>
                                          <p:attrName>style.visibility</p:attrName>
                                        </p:attrNameLst>
                                      </p:cBhvr>
                                      <p:to>
                                        <p:strVal val="visible"/>
                                      </p:to>
                                    </p:set>
                                    <p:animEffect transition="in" filter="box(in)">
                                      <p:cBhvr>
                                        <p:cTn id="25" dur="500"/>
                                        <p:tgtEl>
                                          <p:spTgt spid="105"/>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63"/>
                                        </p:tgtEl>
                                        <p:attrNameLst>
                                          <p:attrName>style.visibility</p:attrName>
                                        </p:attrNameLst>
                                      </p:cBhvr>
                                      <p:to>
                                        <p:strVal val="visible"/>
                                      </p:to>
                                    </p:set>
                                    <p:animEffect transition="in" filter="box(in)">
                                      <p:cBhvr>
                                        <p:cTn id="30" dur="500"/>
                                        <p:tgtEl>
                                          <p:spTgt spid="63"/>
                                        </p:tgtEl>
                                      </p:cBhvr>
                                    </p:animEffect>
                                  </p:childTnLst>
                                </p:cTn>
                              </p:par>
                            </p:childTnLst>
                          </p:cTn>
                        </p:par>
                        <p:par>
                          <p:cTn id="31" fill="hold">
                            <p:stCondLst>
                              <p:cond delay="500"/>
                            </p:stCondLst>
                            <p:childTnLst>
                              <p:par>
                                <p:cTn id="32" presetID="4" presetClass="entr" presetSubtype="16" fill="hold" nodeType="afterEffect">
                                  <p:stCondLst>
                                    <p:cond delay="0"/>
                                  </p:stCondLst>
                                  <p:childTnLst>
                                    <p:set>
                                      <p:cBhvr>
                                        <p:cTn id="33" dur="1" fill="hold">
                                          <p:stCondLst>
                                            <p:cond delay="0"/>
                                          </p:stCondLst>
                                        </p:cTn>
                                        <p:tgtEl>
                                          <p:spTgt spid="99"/>
                                        </p:tgtEl>
                                        <p:attrNameLst>
                                          <p:attrName>style.visibility</p:attrName>
                                        </p:attrNameLst>
                                      </p:cBhvr>
                                      <p:to>
                                        <p:strVal val="visible"/>
                                      </p:to>
                                    </p:set>
                                    <p:animEffect transition="in" filter="box(in)">
                                      <p:cBhvr>
                                        <p:cTn id="34" dur="500"/>
                                        <p:tgtEl>
                                          <p:spTgt spid="99"/>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64"/>
                                        </p:tgtEl>
                                        <p:attrNameLst>
                                          <p:attrName>style.visibility</p:attrName>
                                        </p:attrNameLst>
                                      </p:cBhvr>
                                      <p:to>
                                        <p:strVal val="visible"/>
                                      </p:to>
                                    </p:set>
                                    <p:animEffect transition="in" filter="box(in)">
                                      <p:cBhvr>
                                        <p:cTn id="39" dur="500"/>
                                        <p:tgtEl>
                                          <p:spTgt spid="64"/>
                                        </p:tgtEl>
                                      </p:cBhvr>
                                    </p:animEffect>
                                  </p:childTnLst>
                                </p:cTn>
                              </p:par>
                            </p:childTnLst>
                          </p:cTn>
                        </p:par>
                        <p:par>
                          <p:cTn id="40" fill="hold">
                            <p:stCondLst>
                              <p:cond delay="500"/>
                            </p:stCondLst>
                            <p:childTnLst>
                              <p:par>
                                <p:cTn id="41" presetID="4" presetClass="entr" presetSubtype="16" fill="hold" nodeType="afterEffect">
                                  <p:stCondLst>
                                    <p:cond delay="0"/>
                                  </p:stCondLst>
                                  <p:childTnLst>
                                    <p:set>
                                      <p:cBhvr>
                                        <p:cTn id="42" dur="1" fill="hold">
                                          <p:stCondLst>
                                            <p:cond delay="0"/>
                                          </p:stCondLst>
                                        </p:cTn>
                                        <p:tgtEl>
                                          <p:spTgt spid="108"/>
                                        </p:tgtEl>
                                        <p:attrNameLst>
                                          <p:attrName>style.visibility</p:attrName>
                                        </p:attrNameLst>
                                      </p:cBhvr>
                                      <p:to>
                                        <p:strVal val="visible"/>
                                      </p:to>
                                    </p:set>
                                    <p:animEffect transition="in" filter="box(in)">
                                      <p:cBhvr>
                                        <p:cTn id="43" dur="500"/>
                                        <p:tgtEl>
                                          <p:spTgt spid="108"/>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nodeType="clickEffect">
                                  <p:stCondLst>
                                    <p:cond delay="0"/>
                                  </p:stCondLst>
                                  <p:childTnLst>
                                    <p:set>
                                      <p:cBhvr>
                                        <p:cTn id="47" dur="1" fill="hold">
                                          <p:stCondLst>
                                            <p:cond delay="0"/>
                                          </p:stCondLst>
                                        </p:cTn>
                                        <p:tgtEl>
                                          <p:spTgt spid="78"/>
                                        </p:tgtEl>
                                        <p:attrNameLst>
                                          <p:attrName>style.visibility</p:attrName>
                                        </p:attrNameLst>
                                      </p:cBhvr>
                                      <p:to>
                                        <p:strVal val="visible"/>
                                      </p:to>
                                    </p:set>
                                    <p:animEffect transition="in" filter="box(in)">
                                      <p:cBhvr>
                                        <p:cTn id="48" dur="500"/>
                                        <p:tgtEl>
                                          <p:spTgt spid="78"/>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nodeType="clickEffect">
                                  <p:stCondLst>
                                    <p:cond delay="0"/>
                                  </p:stCondLst>
                                  <p:childTnLst>
                                    <p:set>
                                      <p:cBhvr>
                                        <p:cTn id="52" dur="1" fill="hold">
                                          <p:stCondLst>
                                            <p:cond delay="0"/>
                                          </p:stCondLst>
                                        </p:cTn>
                                        <p:tgtEl>
                                          <p:spTgt spid="77"/>
                                        </p:tgtEl>
                                        <p:attrNameLst>
                                          <p:attrName>style.visibility</p:attrName>
                                        </p:attrNameLst>
                                      </p:cBhvr>
                                      <p:to>
                                        <p:strVal val="visible"/>
                                      </p:to>
                                    </p:set>
                                    <p:animEffect transition="in" filter="box(in)">
                                      <p:cBhvr>
                                        <p:cTn id="53" dur="500"/>
                                        <p:tgtEl>
                                          <p:spTgt spid="77"/>
                                        </p:tgtEl>
                                      </p:cBhvr>
                                    </p:animEffect>
                                  </p:childTnLst>
                                </p:cTn>
                              </p:par>
                              <p:par>
                                <p:cTn id="54" presetID="4" presetClass="entr" presetSubtype="16" fill="hold" nodeType="withEffect">
                                  <p:stCondLst>
                                    <p:cond delay="0"/>
                                  </p:stCondLst>
                                  <p:childTnLst>
                                    <p:set>
                                      <p:cBhvr>
                                        <p:cTn id="55" dur="1" fill="hold">
                                          <p:stCondLst>
                                            <p:cond delay="0"/>
                                          </p:stCondLst>
                                        </p:cTn>
                                        <p:tgtEl>
                                          <p:spTgt spid="111"/>
                                        </p:tgtEl>
                                        <p:attrNameLst>
                                          <p:attrName>style.visibility</p:attrName>
                                        </p:attrNameLst>
                                      </p:cBhvr>
                                      <p:to>
                                        <p:strVal val="visible"/>
                                      </p:to>
                                    </p:set>
                                    <p:animEffect transition="in" filter="box(in)">
                                      <p:cBhvr>
                                        <p:cTn id="56" dur="500"/>
                                        <p:tgtEl>
                                          <p:spTgt spid="111"/>
                                        </p:tgtEl>
                                      </p:cBhvr>
                                    </p:animEffec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nodeType="clickEffect">
                                  <p:stCondLst>
                                    <p:cond delay="0"/>
                                  </p:stCondLst>
                                  <p:childTnLst>
                                    <p:set>
                                      <p:cBhvr>
                                        <p:cTn id="60" dur="1" fill="hold">
                                          <p:stCondLst>
                                            <p:cond delay="0"/>
                                          </p:stCondLst>
                                        </p:cTn>
                                        <p:tgtEl>
                                          <p:spTgt spid="67"/>
                                        </p:tgtEl>
                                        <p:attrNameLst>
                                          <p:attrName>style.visibility</p:attrName>
                                        </p:attrNameLst>
                                      </p:cBhvr>
                                      <p:to>
                                        <p:strVal val="visible"/>
                                      </p:to>
                                    </p:set>
                                    <p:animEffect transition="in" filter="box(in)">
                                      <p:cBhvr>
                                        <p:cTn id="61" dur="500"/>
                                        <p:tgtEl>
                                          <p:spTgt spid="67"/>
                                        </p:tgtEl>
                                      </p:cBhvr>
                                    </p:animEffect>
                                  </p:childTnLst>
                                </p:cTn>
                              </p:par>
                              <p:par>
                                <p:cTn id="62" presetID="4" presetClass="entr" presetSubtype="16" fill="hold" nodeType="withEffect">
                                  <p:stCondLst>
                                    <p:cond delay="0"/>
                                  </p:stCondLst>
                                  <p:childTnLst>
                                    <p:set>
                                      <p:cBhvr>
                                        <p:cTn id="63" dur="1" fill="hold">
                                          <p:stCondLst>
                                            <p:cond delay="0"/>
                                          </p:stCondLst>
                                        </p:cTn>
                                        <p:tgtEl>
                                          <p:spTgt spid="112"/>
                                        </p:tgtEl>
                                        <p:attrNameLst>
                                          <p:attrName>style.visibility</p:attrName>
                                        </p:attrNameLst>
                                      </p:cBhvr>
                                      <p:to>
                                        <p:strVal val="visible"/>
                                      </p:to>
                                    </p:set>
                                    <p:animEffect transition="in" filter="box(in)">
                                      <p:cBhvr>
                                        <p:cTn id="64" dur="500"/>
                                        <p:tgtEl>
                                          <p:spTgt spid="112"/>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ntr" presetSubtype="16" fill="hold" nodeType="clickEffect">
                                  <p:stCondLst>
                                    <p:cond delay="0"/>
                                  </p:stCondLst>
                                  <p:childTnLst>
                                    <p:set>
                                      <p:cBhvr>
                                        <p:cTn id="68" dur="1" fill="hold">
                                          <p:stCondLst>
                                            <p:cond delay="0"/>
                                          </p:stCondLst>
                                        </p:cTn>
                                        <p:tgtEl>
                                          <p:spTgt spid="72"/>
                                        </p:tgtEl>
                                        <p:attrNameLst>
                                          <p:attrName>style.visibility</p:attrName>
                                        </p:attrNameLst>
                                      </p:cBhvr>
                                      <p:to>
                                        <p:strVal val="visible"/>
                                      </p:to>
                                    </p:set>
                                    <p:animEffect transition="in" filter="box(in)">
                                      <p:cBhvr>
                                        <p:cTn id="69" dur="500"/>
                                        <p:tgtEl>
                                          <p:spTgt spid="72"/>
                                        </p:tgtEl>
                                      </p:cBhvr>
                                    </p:animEffect>
                                  </p:childTnLst>
                                </p:cTn>
                              </p:par>
                            </p:childTnLst>
                          </p:cTn>
                        </p:par>
                      </p:childTnLst>
                    </p:cTn>
                  </p:par>
                  <p:par>
                    <p:cTn id="70" fill="hold">
                      <p:stCondLst>
                        <p:cond delay="indefinite"/>
                      </p:stCondLst>
                      <p:childTnLst>
                        <p:par>
                          <p:cTn id="71" fill="hold">
                            <p:stCondLst>
                              <p:cond delay="0"/>
                            </p:stCondLst>
                            <p:childTnLst>
                              <p:par>
                                <p:cTn id="72" presetID="18" presetClass="entr" presetSubtype="12" fill="hold" nodeType="clickEffect">
                                  <p:stCondLst>
                                    <p:cond delay="0"/>
                                  </p:stCondLst>
                                  <p:childTnLst>
                                    <p:set>
                                      <p:cBhvr>
                                        <p:cTn id="73" dur="1" fill="hold">
                                          <p:stCondLst>
                                            <p:cond delay="0"/>
                                          </p:stCondLst>
                                        </p:cTn>
                                        <p:tgtEl>
                                          <p:spTgt spid="76"/>
                                        </p:tgtEl>
                                        <p:attrNameLst>
                                          <p:attrName>style.visibility</p:attrName>
                                        </p:attrNameLst>
                                      </p:cBhvr>
                                      <p:to>
                                        <p:strVal val="visible"/>
                                      </p:to>
                                    </p:set>
                                    <p:animEffect transition="in" filter="strips(downLeft)">
                                      <p:cBhvr>
                                        <p:cTn id="74" dur="500"/>
                                        <p:tgtEl>
                                          <p:spTgt spid="76"/>
                                        </p:tgtEl>
                                      </p:cBhvr>
                                    </p:animEffect>
                                  </p:childTnLst>
                                </p:cTn>
                              </p:par>
                            </p:childTnLst>
                          </p:cTn>
                        </p:par>
                      </p:childTnLst>
                    </p:cTn>
                  </p:par>
                  <p:par>
                    <p:cTn id="75" fill="hold">
                      <p:stCondLst>
                        <p:cond delay="indefinite"/>
                      </p:stCondLst>
                      <p:childTnLst>
                        <p:par>
                          <p:cTn id="76" fill="hold">
                            <p:stCondLst>
                              <p:cond delay="0"/>
                            </p:stCondLst>
                            <p:childTnLst>
                              <p:par>
                                <p:cTn id="77" presetID="18" presetClass="entr" presetSubtype="6" fill="hold" nodeType="clickEffect">
                                  <p:stCondLst>
                                    <p:cond delay="0"/>
                                  </p:stCondLst>
                                  <p:childTnLst>
                                    <p:set>
                                      <p:cBhvr>
                                        <p:cTn id="78" dur="1" fill="hold">
                                          <p:stCondLst>
                                            <p:cond delay="0"/>
                                          </p:stCondLst>
                                        </p:cTn>
                                        <p:tgtEl>
                                          <p:spTgt spid="62"/>
                                        </p:tgtEl>
                                        <p:attrNameLst>
                                          <p:attrName>style.visibility</p:attrName>
                                        </p:attrNameLst>
                                      </p:cBhvr>
                                      <p:to>
                                        <p:strVal val="visible"/>
                                      </p:to>
                                    </p:set>
                                    <p:animEffect transition="in" filter="strips(downRight)">
                                      <p:cBhvr>
                                        <p:cTn id="79" dur="500"/>
                                        <p:tgtEl>
                                          <p:spTgt spid="62"/>
                                        </p:tgtEl>
                                      </p:cBhvr>
                                    </p:animEffect>
                                  </p:childTnLst>
                                </p:cTn>
                              </p:par>
                              <p:par>
                                <p:cTn id="80" presetID="18" presetClass="entr" presetSubtype="6" fill="hold" nodeType="withEffect">
                                  <p:stCondLst>
                                    <p:cond delay="0"/>
                                  </p:stCondLst>
                                  <p:childTnLst>
                                    <p:set>
                                      <p:cBhvr>
                                        <p:cTn id="81" dur="1" fill="hold">
                                          <p:stCondLst>
                                            <p:cond delay="0"/>
                                          </p:stCondLst>
                                        </p:cTn>
                                        <p:tgtEl>
                                          <p:spTgt spid="65"/>
                                        </p:tgtEl>
                                        <p:attrNameLst>
                                          <p:attrName>style.visibility</p:attrName>
                                        </p:attrNameLst>
                                      </p:cBhvr>
                                      <p:to>
                                        <p:strVal val="visible"/>
                                      </p:to>
                                    </p:set>
                                    <p:animEffect transition="in" filter="strips(downRight)">
                                      <p:cBhvr>
                                        <p:cTn id="82" dur="500"/>
                                        <p:tgtEl>
                                          <p:spTgt spid="65"/>
                                        </p:tgtEl>
                                      </p:cBhvr>
                                    </p:animEffect>
                                  </p:childTnLst>
                                </p:cTn>
                              </p:par>
                            </p:childTnLst>
                          </p:cTn>
                        </p:par>
                      </p:childTnLst>
                    </p:cTn>
                  </p:par>
                  <p:par>
                    <p:cTn id="83" fill="hold">
                      <p:stCondLst>
                        <p:cond delay="indefinite"/>
                      </p:stCondLst>
                      <p:childTnLst>
                        <p:par>
                          <p:cTn id="84" fill="hold">
                            <p:stCondLst>
                              <p:cond delay="0"/>
                            </p:stCondLst>
                            <p:childTnLst>
                              <p:par>
                                <p:cTn id="85" presetID="4" presetClass="entr" presetSubtype="16" fill="hold" nodeType="clickEffect">
                                  <p:stCondLst>
                                    <p:cond delay="0"/>
                                  </p:stCondLst>
                                  <p:childTnLst>
                                    <p:set>
                                      <p:cBhvr>
                                        <p:cTn id="86" dur="1" fill="hold">
                                          <p:stCondLst>
                                            <p:cond delay="0"/>
                                          </p:stCondLst>
                                        </p:cTn>
                                        <p:tgtEl>
                                          <p:spTgt spid="68"/>
                                        </p:tgtEl>
                                        <p:attrNameLst>
                                          <p:attrName>style.visibility</p:attrName>
                                        </p:attrNameLst>
                                      </p:cBhvr>
                                      <p:to>
                                        <p:strVal val="visible"/>
                                      </p:to>
                                    </p:set>
                                    <p:animEffect transition="in" filter="box(in)">
                                      <p:cBhvr>
                                        <p:cTn id="87" dur="500"/>
                                        <p:tgtEl>
                                          <p:spTgt spid="68"/>
                                        </p:tgtEl>
                                      </p:cBhvr>
                                    </p:animEffect>
                                  </p:childTnLst>
                                </p:cTn>
                              </p:par>
                            </p:childTnLst>
                          </p:cTn>
                        </p:par>
                      </p:childTnLst>
                    </p:cTn>
                  </p:par>
                  <p:par>
                    <p:cTn id="88" fill="hold">
                      <p:stCondLst>
                        <p:cond delay="indefinite"/>
                      </p:stCondLst>
                      <p:childTnLst>
                        <p:par>
                          <p:cTn id="89" fill="hold">
                            <p:stCondLst>
                              <p:cond delay="0"/>
                            </p:stCondLst>
                            <p:childTnLst>
                              <p:par>
                                <p:cTn id="90" presetID="18" presetClass="entr" presetSubtype="12" fill="hold" nodeType="clickEffect">
                                  <p:stCondLst>
                                    <p:cond delay="0"/>
                                  </p:stCondLst>
                                  <p:childTnLst>
                                    <p:set>
                                      <p:cBhvr>
                                        <p:cTn id="91" dur="1" fill="hold">
                                          <p:stCondLst>
                                            <p:cond delay="0"/>
                                          </p:stCondLst>
                                        </p:cTn>
                                        <p:tgtEl>
                                          <p:spTgt spid="66"/>
                                        </p:tgtEl>
                                        <p:attrNameLst>
                                          <p:attrName>style.visibility</p:attrName>
                                        </p:attrNameLst>
                                      </p:cBhvr>
                                      <p:to>
                                        <p:strVal val="visible"/>
                                      </p:to>
                                    </p:set>
                                    <p:animEffect transition="in" filter="strips(downLeft)">
                                      <p:cBhvr>
                                        <p:cTn id="92" dur="500"/>
                                        <p:tgtEl>
                                          <p:spTgt spid="66"/>
                                        </p:tgtEl>
                                      </p:cBhvr>
                                    </p:animEffect>
                                  </p:childTnLst>
                                </p:cTn>
                              </p:par>
                            </p:childTnLst>
                          </p:cTn>
                        </p:par>
                      </p:childTnLst>
                    </p:cTn>
                  </p:par>
                  <p:par>
                    <p:cTn id="93" fill="hold">
                      <p:stCondLst>
                        <p:cond delay="indefinite"/>
                      </p:stCondLst>
                      <p:childTnLst>
                        <p:par>
                          <p:cTn id="94" fill="hold">
                            <p:stCondLst>
                              <p:cond delay="0"/>
                            </p:stCondLst>
                            <p:childTnLst>
                              <p:par>
                                <p:cTn id="95" presetID="4" presetClass="entr" presetSubtype="16" fill="hold" grpId="0" nodeType="clickEffect">
                                  <p:stCondLst>
                                    <p:cond delay="0"/>
                                  </p:stCondLst>
                                  <p:childTnLst>
                                    <p:set>
                                      <p:cBhvr>
                                        <p:cTn id="96" dur="1" fill="hold">
                                          <p:stCondLst>
                                            <p:cond delay="0"/>
                                          </p:stCondLst>
                                        </p:cTn>
                                        <p:tgtEl>
                                          <p:spTgt spid="114"/>
                                        </p:tgtEl>
                                        <p:attrNameLst>
                                          <p:attrName>style.visibility</p:attrName>
                                        </p:attrNameLst>
                                      </p:cBhvr>
                                      <p:to>
                                        <p:strVal val="visible"/>
                                      </p:to>
                                    </p:set>
                                    <p:animEffect transition="in" filter="box(in)">
                                      <p:cBhvr>
                                        <p:cTn id="97" dur="500"/>
                                        <p:tgtEl>
                                          <p:spTgt spid="114"/>
                                        </p:tgtEl>
                                      </p:cBhvr>
                                    </p:animEffect>
                                  </p:childTnLst>
                                </p:cTn>
                              </p:par>
                            </p:childTnLst>
                          </p:cTn>
                        </p:par>
                      </p:childTnLst>
                    </p:cTn>
                  </p:par>
                  <p:par>
                    <p:cTn id="98" fill="hold">
                      <p:stCondLst>
                        <p:cond delay="indefinite"/>
                      </p:stCondLst>
                      <p:childTnLst>
                        <p:par>
                          <p:cTn id="99" fill="hold">
                            <p:stCondLst>
                              <p:cond delay="0"/>
                            </p:stCondLst>
                            <p:childTnLst>
                              <p:par>
                                <p:cTn id="100" presetID="4" presetClass="entr" presetSubtype="16" fill="hold" grpId="0" nodeType="clickEffect">
                                  <p:stCondLst>
                                    <p:cond delay="0"/>
                                  </p:stCondLst>
                                  <p:childTnLst>
                                    <p:set>
                                      <p:cBhvr>
                                        <p:cTn id="101" dur="1" fill="hold">
                                          <p:stCondLst>
                                            <p:cond delay="0"/>
                                          </p:stCondLst>
                                        </p:cTn>
                                        <p:tgtEl>
                                          <p:spTgt spid="115"/>
                                        </p:tgtEl>
                                        <p:attrNameLst>
                                          <p:attrName>style.visibility</p:attrName>
                                        </p:attrNameLst>
                                      </p:cBhvr>
                                      <p:to>
                                        <p:strVal val="visible"/>
                                      </p:to>
                                    </p:set>
                                    <p:animEffect transition="in" filter="box(in)">
                                      <p:cBhvr>
                                        <p:cTn id="102"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113" grpId="0" animBg="1"/>
      <p:bldP spid="114" grpId="0" animBg="1"/>
      <p:bldP spid="1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99" name="TextBox 5"/>
          <p:cNvSpPr txBox="1">
            <a:spLocks noChangeArrowheads="1"/>
          </p:cNvSpPr>
          <p:nvPr/>
        </p:nvSpPr>
        <p:spPr bwMode="auto">
          <a:xfrm>
            <a:off x="835628" y="1311275"/>
            <a:ext cx="291979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dirty="0">
                <a:solidFill>
                  <a:srgbClr val="0000CC"/>
                </a:solidFill>
                <a:ea typeface="微软雅黑" panose="020B0503020204020204" pitchFamily="34" charset="-122"/>
                <a:cs typeface="Times New Roman" panose="02020603050405020304" pitchFamily="18" charset="0"/>
              </a:rPr>
              <a:t>(</a:t>
            </a:r>
            <a:r>
              <a:rPr lang="en-US" altLang="zh-CN" b="1" dirty="0" smtClean="0">
                <a:solidFill>
                  <a:srgbClr val="0000CC"/>
                </a:solidFill>
                <a:ea typeface="微软雅黑" panose="020B0503020204020204" pitchFamily="34" charset="-122"/>
                <a:cs typeface="Times New Roman" panose="02020603050405020304" pitchFamily="18" charset="0"/>
              </a:rPr>
              <a:t>3</a:t>
            </a:r>
            <a:r>
              <a:rPr lang="en-US" altLang="zh-CN" b="1" dirty="0">
                <a:solidFill>
                  <a:srgbClr val="0000CC"/>
                </a:solidFill>
                <a:ea typeface="微软雅黑" panose="020B0503020204020204" pitchFamily="34" charset="-122"/>
                <a:cs typeface="Times New Roman" panose="02020603050405020304" pitchFamily="18" charset="0"/>
              </a:rPr>
              <a:t>)</a:t>
            </a:r>
            <a:r>
              <a:rPr lang="zh-CN" altLang="en-US" b="1" dirty="0" smtClean="0">
                <a:solidFill>
                  <a:srgbClr val="0000CC"/>
                </a:solidFill>
                <a:ea typeface="微软雅黑" panose="020B0503020204020204" pitchFamily="34" charset="-122"/>
                <a:cs typeface="Times New Roman" panose="02020603050405020304" pitchFamily="18" charset="0"/>
              </a:rPr>
              <a:t>荧光屏</a:t>
            </a:r>
            <a:endParaRPr lang="zh-CN" altLang="en-US" b="1" dirty="0">
              <a:solidFill>
                <a:srgbClr val="0000CC"/>
              </a:solidFill>
              <a:ea typeface="微软雅黑" panose="020B0503020204020204" pitchFamily="34" charset="-122"/>
              <a:cs typeface="Times New Roman" panose="02020603050405020304" pitchFamily="18" charset="0"/>
            </a:endParaRPr>
          </a:p>
        </p:txBody>
      </p:sp>
      <p:sp>
        <p:nvSpPr>
          <p:cNvPr id="102" name="TextBox 5"/>
          <p:cNvSpPr txBox="1">
            <a:spLocks noChangeArrowheads="1"/>
          </p:cNvSpPr>
          <p:nvPr/>
        </p:nvSpPr>
        <p:spPr bwMode="auto">
          <a:xfrm>
            <a:off x="1326452" y="2032835"/>
            <a:ext cx="11264836" cy="4351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sz="2800" b="1" dirty="0">
                <a:ea typeface="微软雅黑" panose="020B0503020204020204" pitchFamily="34" charset="-122"/>
                <a:cs typeface="Times New Roman" panose="02020603050405020304" pitchFamily="18" charset="0"/>
              </a:rPr>
              <a:t>    </a:t>
            </a:r>
            <a:r>
              <a:rPr lang="en-US" altLang="zh-CN" sz="2800" b="1" dirty="0" smtClean="0">
                <a:ea typeface="微软雅黑" panose="020B0503020204020204" pitchFamily="34" charset="-122"/>
                <a:cs typeface="Times New Roman" panose="02020603050405020304" pitchFamily="18" charset="0"/>
              </a:rPr>
              <a:t>    </a:t>
            </a:r>
            <a:r>
              <a:rPr lang="zh-CN" altLang="en-US" sz="2800" b="1" dirty="0" smtClean="0">
                <a:ea typeface="微软雅黑" panose="020B0503020204020204" pitchFamily="34" charset="-122"/>
                <a:cs typeface="Times New Roman" panose="02020603050405020304" pitchFamily="18" charset="0"/>
              </a:rPr>
              <a:t>荧光屏</a:t>
            </a:r>
            <a:r>
              <a:rPr lang="en-US" altLang="zh-CN" sz="2800" b="1" dirty="0">
                <a:ea typeface="微软雅黑" panose="020B0503020204020204" pitchFamily="34" charset="-122"/>
                <a:cs typeface="Times New Roman" panose="02020603050405020304" pitchFamily="18" charset="0"/>
              </a:rPr>
              <a:t>(Fluorescent Screen)</a:t>
            </a:r>
            <a:r>
              <a:rPr lang="zh-CN" altLang="en-US" sz="2800" b="1" dirty="0">
                <a:ea typeface="微软雅黑" panose="020B0503020204020204" pitchFamily="34" charset="-122"/>
                <a:cs typeface="Times New Roman" panose="02020603050405020304" pitchFamily="18" charset="0"/>
              </a:rPr>
              <a:t>的作用是将电子动能转换成光能。高能量电子打在荧光屏上，荧光屏发光。</a:t>
            </a:r>
            <a:endParaRPr lang="en-US" altLang="zh-CN" sz="2800" b="1" dirty="0">
              <a:ea typeface="微软雅黑" panose="020B0503020204020204" pitchFamily="34" charset="-122"/>
              <a:cs typeface="Times New Roman" panose="02020603050405020304" pitchFamily="18" charset="0"/>
            </a:endParaRPr>
          </a:p>
          <a:p>
            <a:pPr eaLnBrk="1" hangingPunct="1">
              <a:lnSpc>
                <a:spcPct val="125000"/>
              </a:lnSpc>
            </a:pPr>
            <a:r>
              <a:rPr lang="en-US" altLang="zh-CN" sz="2800" b="1" dirty="0">
                <a:ea typeface="微软雅黑" panose="020B0503020204020204" pitchFamily="34" charset="-122"/>
                <a:cs typeface="Times New Roman" panose="02020603050405020304" pitchFamily="18" charset="0"/>
              </a:rPr>
              <a:t>    </a:t>
            </a:r>
            <a:r>
              <a:rPr lang="zh-CN" altLang="en-US" sz="2800" b="1" dirty="0">
                <a:ea typeface="微软雅黑" panose="020B0503020204020204" pitchFamily="34" charset="-122"/>
                <a:cs typeface="Times New Roman" panose="02020603050405020304" pitchFamily="18" charset="0"/>
              </a:rPr>
              <a:t>像管对荧光屏的主要要求是：</a:t>
            </a:r>
            <a:endParaRPr lang="en-US" altLang="zh-CN" sz="2800" b="1" dirty="0">
              <a:ea typeface="微软雅黑" panose="020B0503020204020204" pitchFamily="34" charset="-122"/>
              <a:cs typeface="Times New Roman" panose="02020603050405020304" pitchFamily="18" charset="0"/>
            </a:endParaRPr>
          </a:p>
          <a:p>
            <a:pPr eaLnBrk="1" hangingPunct="1">
              <a:lnSpc>
                <a:spcPct val="125000"/>
              </a:lnSpc>
              <a:buFont typeface="Wingdings" panose="05000000000000000000" pitchFamily="2" charset="2"/>
              <a:buChar char="l"/>
            </a:pPr>
            <a:r>
              <a:rPr lang="zh-CN" altLang="en-US" sz="2800" b="1" dirty="0">
                <a:ea typeface="微软雅黑" panose="020B0503020204020204" pitchFamily="34" charset="-122"/>
                <a:cs typeface="Times New Roman" panose="02020603050405020304" pitchFamily="18" charset="0"/>
              </a:rPr>
              <a:t>高转换效率；</a:t>
            </a:r>
            <a:endParaRPr lang="en-US" altLang="zh-CN" sz="2800" b="1" dirty="0">
              <a:ea typeface="微软雅黑" panose="020B0503020204020204" pitchFamily="34" charset="-122"/>
              <a:cs typeface="Times New Roman" panose="02020603050405020304" pitchFamily="18" charset="0"/>
            </a:endParaRPr>
          </a:p>
          <a:p>
            <a:pPr eaLnBrk="1" hangingPunct="1">
              <a:lnSpc>
                <a:spcPct val="125000"/>
              </a:lnSpc>
              <a:buFont typeface="Wingdings" panose="05000000000000000000" pitchFamily="2" charset="2"/>
              <a:buChar char="l"/>
            </a:pPr>
            <a:r>
              <a:rPr lang="zh-CN" altLang="en-US" sz="2800" b="1" dirty="0">
                <a:ea typeface="微软雅黑" panose="020B0503020204020204" pitchFamily="34" charset="-122"/>
                <a:cs typeface="Times New Roman" panose="02020603050405020304" pitchFamily="18" charset="0"/>
              </a:rPr>
              <a:t>足够的光亮度；</a:t>
            </a:r>
            <a:endParaRPr lang="en-US" altLang="zh-CN" sz="2800" b="1" dirty="0">
              <a:ea typeface="微软雅黑" panose="020B0503020204020204" pitchFamily="34" charset="-122"/>
              <a:cs typeface="Times New Roman" panose="02020603050405020304" pitchFamily="18" charset="0"/>
            </a:endParaRPr>
          </a:p>
          <a:p>
            <a:pPr eaLnBrk="1" hangingPunct="1">
              <a:lnSpc>
                <a:spcPct val="125000"/>
              </a:lnSpc>
              <a:buFont typeface="Wingdings" panose="05000000000000000000" pitchFamily="2" charset="2"/>
              <a:buChar char="l"/>
            </a:pPr>
            <a:r>
              <a:rPr lang="zh-CN" altLang="en-US" sz="2800" b="1" dirty="0">
                <a:ea typeface="微软雅黑" panose="020B0503020204020204" pitchFamily="34" charset="-122"/>
                <a:cs typeface="Times New Roman" panose="02020603050405020304" pitchFamily="18" charset="0"/>
              </a:rPr>
              <a:t>发射光谱要同眼睛或与之相耦合的下一级光电阴极的光谱响应相一致；</a:t>
            </a:r>
            <a:endParaRPr lang="en-US" altLang="zh-CN" sz="2800" b="1" dirty="0">
              <a:ea typeface="微软雅黑" panose="020B0503020204020204" pitchFamily="34" charset="-122"/>
              <a:cs typeface="Times New Roman" panose="02020603050405020304" pitchFamily="18" charset="0"/>
            </a:endParaRPr>
          </a:p>
          <a:p>
            <a:pPr eaLnBrk="1" hangingPunct="1">
              <a:lnSpc>
                <a:spcPct val="125000"/>
              </a:lnSpc>
              <a:buFont typeface="Wingdings" panose="05000000000000000000" pitchFamily="2" charset="2"/>
              <a:buChar char="l"/>
            </a:pPr>
            <a:r>
              <a:rPr lang="zh-CN" altLang="en-US" sz="2800" b="1" dirty="0">
                <a:ea typeface="微软雅黑" panose="020B0503020204020204" pitchFamily="34" charset="-122"/>
                <a:cs typeface="Times New Roman" panose="02020603050405020304" pitchFamily="18" charset="0"/>
              </a:rPr>
              <a:t>合适的余辉时间；</a:t>
            </a:r>
            <a:endParaRPr lang="en-US" altLang="zh-CN" sz="2800" b="1" dirty="0">
              <a:ea typeface="微软雅黑" panose="020B0503020204020204" pitchFamily="34" charset="-122"/>
              <a:cs typeface="Times New Roman" panose="02020603050405020304" pitchFamily="18" charset="0"/>
            </a:endParaRPr>
          </a:p>
          <a:p>
            <a:pPr eaLnBrk="1" hangingPunct="1">
              <a:lnSpc>
                <a:spcPct val="125000"/>
              </a:lnSpc>
              <a:buFont typeface="Wingdings" panose="05000000000000000000" pitchFamily="2" charset="2"/>
              <a:buChar char="l"/>
            </a:pPr>
            <a:r>
              <a:rPr lang="zh-CN" altLang="en-US" sz="2800" b="1" dirty="0">
                <a:ea typeface="微软雅黑" panose="020B0503020204020204" pitchFamily="34" charset="-122"/>
                <a:cs typeface="Times New Roman" panose="02020603050405020304" pitchFamily="18" charset="0"/>
              </a:rPr>
              <a:t>良好的机械强度、化学稳定性和热稳定性等基本要求。</a:t>
            </a:r>
          </a:p>
        </p:txBody>
      </p:sp>
      <p:sp>
        <p:nvSpPr>
          <p:cNvPr id="12" name="文本框 60">
            <a:extLst>
              <a:ext uri="{FF2B5EF4-FFF2-40B4-BE49-F238E27FC236}">
                <a16:creationId xmlns:a16="http://schemas.microsoft.com/office/drawing/2014/main" xmlns="" id="{791D85D7-F412-9C48-9F2B-E33F5B7B4F3C}"/>
              </a:ext>
            </a:extLst>
          </p:cNvPr>
          <p:cNvSpPr txBox="1"/>
          <p:nvPr/>
        </p:nvSpPr>
        <p:spPr>
          <a:xfrm>
            <a:off x="1356514" y="293282"/>
            <a:ext cx="2675878" cy="369332"/>
          </a:xfrm>
          <a:prstGeom prst="rect">
            <a:avLst/>
          </a:prstGeom>
          <a:noFill/>
          <a:ln w="9525">
            <a:noFill/>
          </a:ln>
        </p:spPr>
        <p:txBody>
          <a:bodyPr wrap="square">
            <a:spAutoFit/>
          </a:bodyPr>
          <a:lstStyle/>
          <a:p>
            <a:pPr algn="ctr"/>
            <a:r>
              <a:rPr lang="zh-CN" altLang="en-US" sz="1800" b="1" dirty="0" smtClean="0">
                <a:latin typeface="微软雅黑" panose="020B0503020204020204" pitchFamily="34" charset="-122"/>
                <a:ea typeface="微软雅黑" panose="020B0503020204020204" pitchFamily="34" charset="-122"/>
              </a:rPr>
              <a:t>像管的基本原理与结构</a:t>
            </a:r>
            <a:endParaRPr lang="zh-CN" altLang="en-US" sz="1800" b="1" dirty="0">
              <a:latin typeface="微软雅黑" panose="020B0503020204020204" pitchFamily="34" charset="-122"/>
              <a:ea typeface="微软雅黑" panose="020B0503020204020204" pitchFamily="34" charset="-122"/>
            </a:endParaRPr>
          </a:p>
        </p:txBody>
      </p:sp>
      <p:cxnSp>
        <p:nvCxnSpPr>
          <p:cNvPr id="14"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70453" y="716692"/>
            <a:ext cx="2448000" cy="1235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box(in)">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2">
                                            <p:txEl>
                                              <p:pRg st="0" end="0"/>
                                            </p:txEl>
                                          </p:spTgt>
                                        </p:tgtEl>
                                        <p:attrNameLst>
                                          <p:attrName>style.visibility</p:attrName>
                                        </p:attrNameLst>
                                      </p:cBhvr>
                                      <p:to>
                                        <p:strVal val="visible"/>
                                      </p:to>
                                    </p:set>
                                    <p:animEffect transition="in" filter="box(in)">
                                      <p:cBhvr>
                                        <p:cTn id="12" dur="500"/>
                                        <p:tgtEl>
                                          <p:spTgt spid="10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02">
                                            <p:txEl>
                                              <p:pRg st="1" end="1"/>
                                            </p:txEl>
                                          </p:spTgt>
                                        </p:tgtEl>
                                        <p:attrNameLst>
                                          <p:attrName>style.visibility</p:attrName>
                                        </p:attrNameLst>
                                      </p:cBhvr>
                                      <p:to>
                                        <p:strVal val="visible"/>
                                      </p:to>
                                    </p:set>
                                    <p:animEffect transition="in" filter="box(in)">
                                      <p:cBhvr>
                                        <p:cTn id="17" dur="500"/>
                                        <p:tgtEl>
                                          <p:spTgt spid="10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02">
                                            <p:txEl>
                                              <p:pRg st="2" end="2"/>
                                            </p:txEl>
                                          </p:spTgt>
                                        </p:tgtEl>
                                        <p:attrNameLst>
                                          <p:attrName>style.visibility</p:attrName>
                                        </p:attrNameLst>
                                      </p:cBhvr>
                                      <p:to>
                                        <p:strVal val="visible"/>
                                      </p:to>
                                    </p:set>
                                    <p:animEffect transition="in" filter="box(in)">
                                      <p:cBhvr>
                                        <p:cTn id="22" dur="500"/>
                                        <p:tgtEl>
                                          <p:spTgt spid="10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02">
                                            <p:txEl>
                                              <p:pRg st="3" end="3"/>
                                            </p:txEl>
                                          </p:spTgt>
                                        </p:tgtEl>
                                        <p:attrNameLst>
                                          <p:attrName>style.visibility</p:attrName>
                                        </p:attrNameLst>
                                      </p:cBhvr>
                                      <p:to>
                                        <p:strVal val="visible"/>
                                      </p:to>
                                    </p:set>
                                    <p:animEffect transition="in" filter="box(in)">
                                      <p:cBhvr>
                                        <p:cTn id="27" dur="500"/>
                                        <p:tgtEl>
                                          <p:spTgt spid="10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02">
                                            <p:txEl>
                                              <p:pRg st="4" end="4"/>
                                            </p:txEl>
                                          </p:spTgt>
                                        </p:tgtEl>
                                        <p:attrNameLst>
                                          <p:attrName>style.visibility</p:attrName>
                                        </p:attrNameLst>
                                      </p:cBhvr>
                                      <p:to>
                                        <p:strVal val="visible"/>
                                      </p:to>
                                    </p:set>
                                    <p:animEffect transition="in" filter="box(in)">
                                      <p:cBhvr>
                                        <p:cTn id="32" dur="500"/>
                                        <p:tgtEl>
                                          <p:spTgt spid="10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102">
                                            <p:txEl>
                                              <p:pRg st="5" end="5"/>
                                            </p:txEl>
                                          </p:spTgt>
                                        </p:tgtEl>
                                        <p:attrNameLst>
                                          <p:attrName>style.visibility</p:attrName>
                                        </p:attrNameLst>
                                      </p:cBhvr>
                                      <p:to>
                                        <p:strVal val="visible"/>
                                      </p:to>
                                    </p:set>
                                    <p:animEffect transition="in" filter="box(in)">
                                      <p:cBhvr>
                                        <p:cTn id="37" dur="500"/>
                                        <p:tgtEl>
                                          <p:spTgt spid="10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102">
                                            <p:txEl>
                                              <p:pRg st="6" end="6"/>
                                            </p:txEl>
                                          </p:spTgt>
                                        </p:tgtEl>
                                        <p:attrNameLst>
                                          <p:attrName>style.visibility</p:attrName>
                                        </p:attrNameLst>
                                      </p:cBhvr>
                                      <p:to>
                                        <p:strVal val="visible"/>
                                      </p:to>
                                    </p:set>
                                    <p:animEffect transition="in" filter="box(in)">
                                      <p:cBhvr>
                                        <p:cTn id="42" dur="500"/>
                                        <p:tgtEl>
                                          <p:spTgt spid="10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TextBox 11"/>
          <p:cNvSpPr txBox="1">
            <a:spLocks noChangeArrowheads="1"/>
          </p:cNvSpPr>
          <p:nvPr/>
        </p:nvSpPr>
        <p:spPr bwMode="auto">
          <a:xfrm>
            <a:off x="1333500" y="1465994"/>
            <a:ext cx="11268075" cy="370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ea typeface="微软雅黑" panose="020B0503020204020204" pitchFamily="34" charset="-122"/>
                <a:cs typeface="Times New Roman" panose="02020603050405020304" pitchFamily="18" charset="0"/>
              </a:rPr>
              <a:t>	</a:t>
            </a:r>
            <a:r>
              <a:rPr lang="zh-CN" altLang="en-US" b="1" dirty="0">
                <a:ea typeface="微软雅黑" panose="020B0503020204020204" pitchFamily="34" charset="-122"/>
                <a:cs typeface="Times New Roman" panose="02020603050405020304" pitchFamily="18" charset="0"/>
              </a:rPr>
              <a:t>荧光粉材料有</a:t>
            </a:r>
            <a:r>
              <a:rPr lang="en-US" altLang="zh-CN" b="1" dirty="0">
                <a:ea typeface="微软雅黑" panose="020B0503020204020204" pitchFamily="34" charset="-122"/>
                <a:cs typeface="Times New Roman" panose="02020603050405020304" pitchFamily="18" charset="0"/>
              </a:rPr>
              <a:t>:</a:t>
            </a:r>
            <a:endParaRPr lang="en-US" altLang="zh-CN" sz="2800" b="1" dirty="0">
              <a:ea typeface="微软雅黑" panose="020B0503020204020204" pitchFamily="34" charset="-122"/>
              <a:cs typeface="Times New Roman" panose="02020603050405020304" pitchFamily="18" charset="0"/>
            </a:endParaRPr>
          </a:p>
          <a:p>
            <a:pPr eaLnBrk="1" hangingPunct="1">
              <a:lnSpc>
                <a:spcPts val="3800"/>
              </a:lnSpc>
            </a:pPr>
            <a:r>
              <a:rPr lang="en-US" altLang="zh-CN" sz="2800" b="1" dirty="0">
                <a:ea typeface="微软雅黑" panose="020B0503020204020204" pitchFamily="34" charset="-122"/>
                <a:cs typeface="Times New Roman" panose="02020603050405020304" pitchFamily="18" charset="0"/>
                <a:sym typeface="Wingdings" panose="05000000000000000000" pitchFamily="2" charset="2"/>
              </a:rPr>
              <a:t>(1) </a:t>
            </a:r>
            <a:r>
              <a:rPr lang="en-US" altLang="zh-CN" sz="2400" b="1" dirty="0" err="1">
                <a:ea typeface="微软雅黑" panose="020B0503020204020204" pitchFamily="34" charset="-122"/>
                <a:cs typeface="Times New Roman" panose="02020603050405020304" pitchFamily="18" charset="0"/>
              </a:rPr>
              <a:t>ZnS:Ag</a:t>
            </a:r>
            <a:r>
              <a:rPr lang="en-US" altLang="zh-CN" sz="2400" b="1" dirty="0">
                <a:ea typeface="微软雅黑" panose="020B0503020204020204" pitchFamily="34" charset="-122"/>
                <a:cs typeface="Times New Roman" panose="02020603050405020304" pitchFamily="18" charset="0"/>
              </a:rPr>
              <a:t> </a:t>
            </a:r>
            <a:r>
              <a:rPr lang="en-US" altLang="zh-CN" sz="2400" b="1" dirty="0">
                <a:solidFill>
                  <a:srgbClr val="0000CC"/>
                </a:solidFill>
                <a:ea typeface="微软雅黑" panose="020B0503020204020204" pitchFamily="34" charset="-122"/>
                <a:cs typeface="Times New Roman" panose="02020603050405020304" pitchFamily="18" charset="0"/>
              </a:rPr>
              <a:t>(P11);</a:t>
            </a:r>
          </a:p>
          <a:p>
            <a:pPr eaLnBrk="1" hangingPunct="1">
              <a:lnSpc>
                <a:spcPts val="3800"/>
              </a:lnSpc>
            </a:pPr>
            <a:r>
              <a:rPr lang="en-US" altLang="zh-CN" sz="2400" b="1" dirty="0">
                <a:ea typeface="微软雅黑" panose="020B0503020204020204" pitchFamily="34" charset="-122"/>
                <a:cs typeface="Times New Roman" panose="02020603050405020304" pitchFamily="18" charset="0"/>
              </a:rPr>
              <a:t>(2) </a:t>
            </a:r>
            <a:r>
              <a:rPr lang="en-US" altLang="zh-CN" sz="2400" b="1" dirty="0" err="1">
                <a:ea typeface="微软雅黑" panose="020B0503020204020204" pitchFamily="34" charset="-122"/>
                <a:cs typeface="Times New Roman" panose="02020603050405020304" pitchFamily="18" charset="0"/>
              </a:rPr>
              <a:t>ZnS:Cu</a:t>
            </a:r>
            <a:r>
              <a:rPr lang="en-US" altLang="zh-CN" sz="2400" b="1" dirty="0">
                <a:ea typeface="微软雅黑" panose="020B0503020204020204" pitchFamily="34" charset="-122"/>
                <a:cs typeface="Times New Roman" panose="02020603050405020304" pitchFamily="18" charset="0"/>
              </a:rPr>
              <a:t> </a:t>
            </a:r>
            <a:r>
              <a:rPr lang="en-US" altLang="zh-CN" sz="2400" b="1" dirty="0">
                <a:solidFill>
                  <a:srgbClr val="0000CC"/>
                </a:solidFill>
                <a:ea typeface="微软雅黑" panose="020B0503020204020204" pitchFamily="34" charset="-122"/>
                <a:cs typeface="Times New Roman" panose="02020603050405020304" pitchFamily="18" charset="0"/>
              </a:rPr>
              <a:t>(P31);</a:t>
            </a:r>
          </a:p>
          <a:p>
            <a:pPr eaLnBrk="1" hangingPunct="1">
              <a:lnSpc>
                <a:spcPts val="3800"/>
              </a:lnSpc>
            </a:pPr>
            <a:r>
              <a:rPr lang="en-US" altLang="zh-CN" sz="2400" b="1" dirty="0">
                <a:ea typeface="微软雅黑" panose="020B0503020204020204" pitchFamily="34" charset="-122"/>
                <a:cs typeface="Times New Roman" panose="02020603050405020304" pitchFamily="18" charset="0"/>
              </a:rPr>
              <a:t>(3) (Zn</a:t>
            </a:r>
            <a:r>
              <a:rPr lang="zh-CN" altLang="en-US" sz="2400" b="1" dirty="0">
                <a:ea typeface="微软雅黑" panose="020B0503020204020204" pitchFamily="34" charset="-122"/>
                <a:cs typeface="Times New Roman" panose="02020603050405020304" pitchFamily="18" charset="0"/>
              </a:rPr>
              <a:t>，</a:t>
            </a:r>
            <a:r>
              <a:rPr lang="en-US" altLang="zh-CN" sz="2400" b="1" dirty="0">
                <a:ea typeface="微软雅黑" panose="020B0503020204020204" pitchFamily="34" charset="-122"/>
                <a:cs typeface="Times New Roman" panose="02020603050405020304" pitchFamily="18" charset="0"/>
              </a:rPr>
              <a:t>Cd)</a:t>
            </a:r>
            <a:r>
              <a:rPr lang="en-US" altLang="zh-CN" sz="2400" b="1" dirty="0" err="1">
                <a:ea typeface="微软雅黑" panose="020B0503020204020204" pitchFamily="34" charset="-122"/>
                <a:cs typeface="Times New Roman" panose="02020603050405020304" pitchFamily="18" charset="0"/>
              </a:rPr>
              <a:t>S:Ag</a:t>
            </a:r>
            <a:r>
              <a:rPr lang="en-US" altLang="zh-CN" sz="2400" b="1" dirty="0">
                <a:ea typeface="微软雅黑" panose="020B0503020204020204" pitchFamily="34" charset="-122"/>
                <a:cs typeface="Times New Roman" panose="02020603050405020304" pitchFamily="18" charset="0"/>
              </a:rPr>
              <a:t> </a:t>
            </a:r>
            <a:r>
              <a:rPr lang="en-US" altLang="zh-CN" sz="2400" b="1" dirty="0">
                <a:solidFill>
                  <a:srgbClr val="0000CC"/>
                </a:solidFill>
                <a:ea typeface="微软雅黑" panose="020B0503020204020204" pitchFamily="34" charset="-122"/>
                <a:cs typeface="Times New Roman" panose="02020603050405020304" pitchFamily="18" charset="0"/>
              </a:rPr>
              <a:t>(P20)</a:t>
            </a:r>
            <a:r>
              <a:rPr lang="zh-CN" altLang="en-US" sz="2400" b="1" dirty="0">
                <a:ea typeface="微软雅黑" panose="020B0503020204020204" pitchFamily="34" charset="-122"/>
                <a:cs typeface="Times New Roman" panose="02020603050405020304" pitchFamily="18" charset="0"/>
              </a:rPr>
              <a:t>。</a:t>
            </a:r>
            <a:endParaRPr lang="en-US" altLang="zh-CN" sz="2400" b="1" dirty="0">
              <a:ea typeface="微软雅黑" panose="020B0503020204020204" pitchFamily="34" charset="-122"/>
              <a:cs typeface="Times New Roman" panose="02020603050405020304" pitchFamily="18" charset="0"/>
            </a:endParaRPr>
          </a:p>
          <a:p>
            <a:pPr eaLnBrk="1" hangingPunct="1">
              <a:lnSpc>
                <a:spcPct val="150000"/>
              </a:lnSpc>
            </a:pPr>
            <a:r>
              <a:rPr lang="en-US" altLang="zh-CN" sz="2400" b="1" dirty="0">
                <a:ea typeface="微软雅黑" panose="020B0503020204020204" pitchFamily="34" charset="-122"/>
                <a:cs typeface="Times New Roman" panose="02020603050405020304" pitchFamily="18" charset="0"/>
              </a:rPr>
              <a:t>	</a:t>
            </a:r>
            <a:r>
              <a:rPr lang="zh-CN" altLang="en-US" sz="2400" b="1" dirty="0">
                <a:ea typeface="微软雅黑" panose="020B0503020204020204" pitchFamily="34" charset="-122"/>
                <a:cs typeface="Times New Roman" panose="02020603050405020304" pitchFamily="18" charset="0"/>
              </a:rPr>
              <a:t>像管中常用的荧光粉是</a:t>
            </a:r>
            <a:r>
              <a:rPr lang="en-US" altLang="zh-CN" sz="2400" b="1" dirty="0">
                <a:ea typeface="微软雅黑" panose="020B0503020204020204" pitchFamily="34" charset="-122"/>
                <a:cs typeface="Times New Roman" panose="02020603050405020304" pitchFamily="18" charset="0"/>
              </a:rPr>
              <a:t>P20</a:t>
            </a:r>
            <a:r>
              <a:rPr lang="zh-CN" altLang="en-US" sz="2400" b="1" dirty="0">
                <a:ea typeface="微软雅黑" panose="020B0503020204020204" pitchFamily="34" charset="-122"/>
                <a:cs typeface="Times New Roman" panose="02020603050405020304" pitchFamily="18" charset="0"/>
              </a:rPr>
              <a:t>，发光颜色为黄绿光，峰值波长</a:t>
            </a:r>
            <a:r>
              <a:rPr lang="en-US" altLang="zh-CN" sz="2400" b="1" dirty="0">
                <a:ea typeface="微软雅黑" panose="020B0503020204020204" pitchFamily="34" charset="-122"/>
                <a:cs typeface="Times New Roman" panose="02020603050405020304" pitchFamily="18" charset="0"/>
              </a:rPr>
              <a:t>0.56</a:t>
            </a:r>
            <a:r>
              <a:rPr lang="en-US" altLang="zh-CN" sz="2400" b="1" dirty="0">
                <a:ea typeface="微软雅黑" panose="020B0503020204020204" pitchFamily="34" charset="-122"/>
                <a:cs typeface="Times New Roman" panose="02020603050405020304" pitchFamily="18" charset="0"/>
                <a:sym typeface="Symbol" panose="05050102010706020507" pitchFamily="18" charset="2"/>
              </a:rPr>
              <a:t></a:t>
            </a:r>
            <a:r>
              <a:rPr lang="en-US" altLang="zh-CN" sz="2400" b="1" dirty="0">
                <a:ea typeface="微软雅黑" panose="020B0503020204020204" pitchFamily="34" charset="-122"/>
                <a:cs typeface="Times New Roman" panose="02020603050405020304" pitchFamily="18" charset="0"/>
              </a:rPr>
              <a:t>m</a:t>
            </a:r>
            <a:r>
              <a:rPr lang="zh-CN" altLang="en-US" sz="2400" b="1" dirty="0">
                <a:ea typeface="微软雅黑" panose="020B0503020204020204" pitchFamily="34" charset="-122"/>
                <a:cs typeface="Times New Roman" panose="02020603050405020304" pitchFamily="18" charset="0"/>
              </a:rPr>
              <a:t>，余辉时间</a:t>
            </a:r>
            <a:r>
              <a:rPr lang="en-US" altLang="zh-CN" sz="2400" b="1" dirty="0">
                <a:ea typeface="微软雅黑" panose="020B0503020204020204" pitchFamily="34" charset="-122"/>
                <a:cs typeface="Times New Roman" panose="02020603050405020304" pitchFamily="18" charset="0"/>
              </a:rPr>
              <a:t>0.05~2ms</a:t>
            </a:r>
            <a:r>
              <a:rPr lang="zh-CN" altLang="en-US" sz="2400" b="1" dirty="0">
                <a:ea typeface="微软雅黑" panose="020B0503020204020204" pitchFamily="34" charset="-122"/>
                <a:cs typeface="Times New Roman" panose="02020603050405020304" pitchFamily="18" charset="0"/>
              </a:rPr>
              <a:t>，粉的粒度控制在</a:t>
            </a:r>
            <a:r>
              <a:rPr lang="en-US" altLang="zh-CN" sz="2400" b="1" dirty="0">
                <a:ea typeface="微软雅黑" panose="020B0503020204020204" pitchFamily="34" charset="-122"/>
                <a:cs typeface="Times New Roman" panose="02020603050405020304" pitchFamily="18" charset="0"/>
              </a:rPr>
              <a:t>3.5</a:t>
            </a:r>
            <a:r>
              <a:rPr lang="en-US" altLang="zh-CN" sz="2400" b="1" dirty="0">
                <a:ea typeface="微软雅黑" panose="020B0503020204020204" pitchFamily="34" charset="-122"/>
                <a:cs typeface="Times New Roman" panose="02020603050405020304" pitchFamily="18" charset="0"/>
                <a:sym typeface="Symbol" panose="05050102010706020507" pitchFamily="18" charset="2"/>
              </a:rPr>
              <a:t></a:t>
            </a:r>
            <a:r>
              <a:rPr lang="en-US" altLang="zh-CN" sz="2400" b="1" dirty="0">
                <a:ea typeface="微软雅黑" panose="020B0503020204020204" pitchFamily="34" charset="-122"/>
                <a:cs typeface="Times New Roman" panose="02020603050405020304" pitchFamily="18" charset="0"/>
              </a:rPr>
              <a:t>m</a:t>
            </a:r>
            <a:r>
              <a:rPr lang="zh-CN" altLang="en-US" sz="2400" b="1" dirty="0">
                <a:ea typeface="微软雅黑" panose="020B0503020204020204" pitchFamily="34" charset="-122"/>
                <a:cs typeface="Times New Roman" panose="02020603050405020304" pitchFamily="18" charset="0"/>
              </a:rPr>
              <a:t>，以保证屏的分辨率。</a:t>
            </a:r>
            <a:r>
              <a:rPr kumimoji="1" lang="zh-CN" altLang="en-US" sz="2400" b="1" dirty="0">
                <a:ea typeface="微软雅黑" panose="020B0503020204020204" pitchFamily="34" charset="-122"/>
                <a:cs typeface="Times New Roman" panose="02020603050405020304" pitchFamily="18" charset="0"/>
              </a:rPr>
              <a:t>用</a:t>
            </a:r>
            <a:r>
              <a:rPr kumimoji="1" lang="en-US" altLang="zh-CN" sz="2400" b="1" dirty="0">
                <a:ea typeface="微软雅黑" panose="020B0503020204020204" pitchFamily="34" charset="-122"/>
                <a:cs typeface="Times New Roman" panose="02020603050405020304" pitchFamily="18" charset="0"/>
              </a:rPr>
              <a:t>1</a:t>
            </a:r>
            <a:r>
              <a:rPr kumimoji="1" lang="zh-CN" altLang="en-US" sz="2400" b="1" dirty="0">
                <a:ea typeface="微软雅黑" panose="020B0503020204020204" pitchFamily="34" charset="-122"/>
                <a:cs typeface="Times New Roman" panose="02020603050405020304" pitchFamily="18" charset="0"/>
              </a:rPr>
              <a:t>个</a:t>
            </a:r>
            <a:r>
              <a:rPr kumimoji="1" lang="en-US" altLang="zh-CN" sz="2400" b="1" dirty="0">
                <a:ea typeface="微软雅黑" panose="020B0503020204020204" pitchFamily="34" charset="-122"/>
                <a:cs typeface="Times New Roman" panose="02020603050405020304" pitchFamily="18" charset="0"/>
              </a:rPr>
              <a:t>10keV</a:t>
            </a:r>
            <a:r>
              <a:rPr kumimoji="1" lang="zh-CN" altLang="en-US" sz="2400" b="1" dirty="0">
                <a:ea typeface="微软雅黑" panose="020B0503020204020204" pitchFamily="34" charset="-122"/>
                <a:cs typeface="Times New Roman" panose="02020603050405020304" pitchFamily="18" charset="0"/>
              </a:rPr>
              <a:t>的电子去轰击</a:t>
            </a:r>
            <a:r>
              <a:rPr kumimoji="1" lang="en-US" altLang="zh-CN" sz="2400" b="1" dirty="0">
                <a:ea typeface="微软雅黑" panose="020B0503020204020204" pitchFamily="34" charset="-122"/>
                <a:cs typeface="Times New Roman" panose="02020603050405020304" pitchFamily="18" charset="0"/>
              </a:rPr>
              <a:t>P-20</a:t>
            </a:r>
            <a:r>
              <a:rPr kumimoji="1" lang="zh-CN" altLang="en-US" sz="2400" b="1" dirty="0">
                <a:ea typeface="微软雅黑" panose="020B0503020204020204" pitchFamily="34" charset="-122"/>
                <a:cs typeface="Times New Roman" panose="02020603050405020304" pitchFamily="18" charset="0"/>
              </a:rPr>
              <a:t>荧光体时，可产生</a:t>
            </a:r>
            <a:r>
              <a:rPr kumimoji="1" lang="en-US" altLang="zh-CN" sz="2400" b="1" dirty="0">
                <a:ea typeface="微软雅黑" panose="020B0503020204020204" pitchFamily="34" charset="-122"/>
                <a:cs typeface="Times New Roman" panose="02020603050405020304" pitchFamily="18" charset="0"/>
              </a:rPr>
              <a:t>300</a:t>
            </a:r>
            <a:r>
              <a:rPr kumimoji="1" lang="zh-CN" altLang="en-US" sz="2400" b="1" dirty="0">
                <a:ea typeface="微软雅黑" panose="020B0503020204020204" pitchFamily="34" charset="-122"/>
                <a:cs typeface="Times New Roman" panose="02020603050405020304" pitchFamily="18" charset="0"/>
              </a:rPr>
              <a:t>个光子；</a:t>
            </a:r>
            <a:r>
              <a:rPr kumimoji="1" lang="en-US" altLang="zh-CN" sz="2400" b="1" dirty="0">
                <a:ea typeface="微软雅黑" panose="020B0503020204020204" pitchFamily="34" charset="-122"/>
                <a:cs typeface="Times New Roman" panose="02020603050405020304" pitchFamily="18" charset="0"/>
              </a:rPr>
              <a:t>1</a:t>
            </a:r>
            <a:r>
              <a:rPr kumimoji="1" lang="zh-CN" altLang="en-US" sz="2400" b="1" dirty="0">
                <a:ea typeface="微软雅黑" panose="020B0503020204020204" pitchFamily="34" charset="-122"/>
                <a:cs typeface="Times New Roman" panose="02020603050405020304" pitchFamily="18" charset="0"/>
              </a:rPr>
              <a:t>个</a:t>
            </a:r>
            <a:r>
              <a:rPr kumimoji="1" lang="en-US" altLang="zh-CN" sz="2400" b="1" dirty="0">
                <a:ea typeface="微软雅黑" panose="020B0503020204020204" pitchFamily="34" charset="-122"/>
                <a:cs typeface="Times New Roman" panose="02020603050405020304" pitchFamily="18" charset="0"/>
              </a:rPr>
              <a:t>20keV</a:t>
            </a:r>
            <a:r>
              <a:rPr kumimoji="1" lang="zh-CN" altLang="en-US" sz="2400" b="1" dirty="0">
                <a:ea typeface="微软雅黑" panose="020B0503020204020204" pitchFamily="34" charset="-122"/>
                <a:cs typeface="Times New Roman" panose="02020603050405020304" pitchFamily="18" charset="0"/>
              </a:rPr>
              <a:t>的电子，可产生</a:t>
            </a:r>
            <a:r>
              <a:rPr kumimoji="1" lang="en-US" altLang="zh-CN" sz="2400" b="1" dirty="0">
                <a:ea typeface="微软雅黑" panose="020B0503020204020204" pitchFamily="34" charset="-122"/>
                <a:cs typeface="Times New Roman" panose="02020603050405020304" pitchFamily="18" charset="0"/>
              </a:rPr>
              <a:t>1</a:t>
            </a:r>
            <a:r>
              <a:rPr kumimoji="1" lang="zh-CN" altLang="en-US" sz="2400" b="1" dirty="0">
                <a:ea typeface="微软雅黑" panose="020B0503020204020204" pitchFamily="34" charset="-122"/>
                <a:cs typeface="Times New Roman" panose="02020603050405020304" pitchFamily="18" charset="0"/>
              </a:rPr>
              <a:t>千多个光子。</a:t>
            </a:r>
            <a:endParaRPr lang="zh-CN" altLang="en-US" sz="2400" b="1" dirty="0">
              <a:ea typeface="微软雅黑" panose="020B0503020204020204" pitchFamily="34" charset="-122"/>
              <a:cs typeface="Times New Roman" panose="02020603050405020304" pitchFamily="18" charset="0"/>
            </a:endParaRPr>
          </a:p>
        </p:txBody>
      </p:sp>
      <p:sp>
        <p:nvSpPr>
          <p:cNvPr id="14" name="TextBox 13"/>
          <p:cNvSpPr txBox="1">
            <a:spLocks noChangeArrowheads="1"/>
          </p:cNvSpPr>
          <p:nvPr/>
        </p:nvSpPr>
        <p:spPr bwMode="auto">
          <a:xfrm>
            <a:off x="1333500" y="5746847"/>
            <a:ext cx="112680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 当荧光粉受到光电子轰击时，会累积负电荷，电压下降，影响阳极及屏的电位。为此，在屏上蒸铝，能引走累积的负电荷；同时铝还有反射光作用，使光出射强度增加。</a:t>
            </a:r>
          </a:p>
        </p:txBody>
      </p:sp>
      <p:sp>
        <p:nvSpPr>
          <p:cNvPr id="20" name="文本框 60">
            <a:extLst>
              <a:ext uri="{FF2B5EF4-FFF2-40B4-BE49-F238E27FC236}">
                <a16:creationId xmlns:a16="http://schemas.microsoft.com/office/drawing/2014/main" xmlns="" id="{791D85D7-F412-9C48-9F2B-E33F5B7B4F3C}"/>
              </a:ext>
            </a:extLst>
          </p:cNvPr>
          <p:cNvSpPr txBox="1"/>
          <p:nvPr/>
        </p:nvSpPr>
        <p:spPr>
          <a:xfrm>
            <a:off x="1356514" y="293282"/>
            <a:ext cx="2675878" cy="369332"/>
          </a:xfrm>
          <a:prstGeom prst="rect">
            <a:avLst/>
          </a:prstGeom>
          <a:noFill/>
          <a:ln w="9525">
            <a:noFill/>
          </a:ln>
        </p:spPr>
        <p:txBody>
          <a:bodyPr wrap="square">
            <a:spAutoFit/>
          </a:bodyPr>
          <a:lstStyle/>
          <a:p>
            <a:pPr algn="ctr"/>
            <a:r>
              <a:rPr lang="zh-CN" altLang="en-US" sz="1800" b="1" dirty="0" smtClean="0">
                <a:latin typeface="微软雅黑" panose="020B0503020204020204" pitchFamily="34" charset="-122"/>
                <a:ea typeface="微软雅黑" panose="020B0503020204020204" pitchFamily="34" charset="-122"/>
              </a:rPr>
              <a:t>像管的基本原理与结构</a:t>
            </a:r>
            <a:endParaRPr lang="zh-CN" altLang="en-US" sz="1800" b="1" dirty="0">
              <a:latin typeface="微软雅黑" panose="020B0503020204020204" pitchFamily="34" charset="-122"/>
              <a:ea typeface="微软雅黑" panose="020B0503020204020204" pitchFamily="34" charset="-122"/>
            </a:endParaRPr>
          </a:p>
        </p:txBody>
      </p:sp>
      <p:cxnSp>
        <p:nvCxnSpPr>
          <p:cNvPr id="21"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70453" y="716692"/>
            <a:ext cx="2448000" cy="1235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ox(i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box(in)">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box(in)">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box(in)">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box(in)">
                                      <p:cBhvr>
                                        <p:cTn id="27" dur="50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ox(in)">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364781" y="293282"/>
            <a:ext cx="2312697"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像管的主要特性参数</a:t>
            </a:r>
            <a:endParaRPr lang="zh-CN" altLang="en-US" sz="1800" b="1" dirty="0">
              <a:latin typeface="微软雅黑" panose="020B0503020204020204" pitchFamily="34" charset="-122"/>
              <a:ea typeface="微软雅黑" panose="020B0503020204020204" pitchFamily="34" charset="-122"/>
            </a:endParaRPr>
          </a:p>
        </p:txBody>
      </p:sp>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2107096"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2" name="矩形: 圆角 18">
            <a:extLst>
              <a:ext uri="{FF2B5EF4-FFF2-40B4-BE49-F238E27FC236}">
                <a16:creationId xmlns:a16="http://schemas.microsoft.com/office/drawing/2014/main" xmlns="" id="{71B2A563-AC54-5347-B843-4478DF223CDE}"/>
              </a:ext>
            </a:extLst>
          </p:cNvPr>
          <p:cNvSpPr/>
          <p:nvPr/>
        </p:nvSpPr>
        <p:spPr>
          <a:xfrm>
            <a:off x="5070624" y="3476625"/>
            <a:ext cx="4849990" cy="850403"/>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smtClean="0">
                <a:solidFill>
                  <a:schemeClr val="bg1"/>
                </a:solidFill>
                <a:latin typeface="Microsoft YaHei" panose="020B0503020204020204" pitchFamily="34" charset="-122"/>
                <a:ea typeface="Microsoft YaHei" panose="020B0503020204020204" pitchFamily="34" charset="-122"/>
              </a:rPr>
              <a:t>像管的主要特性参数</a:t>
            </a:r>
            <a:endParaRPr kumimoji="1" lang="zh-CN" altLang="en-US" sz="4000" b="1" dirty="0">
              <a:solidFill>
                <a:schemeClr val="bg1"/>
              </a:solidFill>
              <a:latin typeface="Microsoft YaHei" panose="020B0503020204020204" pitchFamily="34" charset="-122"/>
              <a:ea typeface="Microsoft YaHei" panose="020B0503020204020204" pitchFamily="34" charset="-122"/>
            </a:endParaRPr>
          </a:p>
        </p:txBody>
      </p:sp>
      <p:sp>
        <p:nvSpPr>
          <p:cNvPr id="23" name="矩形 22">
            <a:extLst>
              <a:ext uri="{FF2B5EF4-FFF2-40B4-BE49-F238E27FC236}">
                <a16:creationId xmlns:a16="http://schemas.microsoft.com/office/drawing/2014/main" xmlns="" id="{045D4FB5-3BA7-4366-9C2A-762F1105D91A}"/>
              </a:ext>
            </a:extLst>
          </p:cNvPr>
          <p:cNvSpPr/>
          <p:nvPr/>
        </p:nvSpPr>
        <p:spPr>
          <a:xfrm>
            <a:off x="2860247" y="3283064"/>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7.1.2</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Text Box 1027"/>
          <p:cNvSpPr txBox="1">
            <a:spLocks noChangeArrowheads="1"/>
          </p:cNvSpPr>
          <p:nvPr/>
        </p:nvSpPr>
        <p:spPr bwMode="auto">
          <a:xfrm>
            <a:off x="4155340" y="1251814"/>
            <a:ext cx="5588127" cy="584775"/>
          </a:xfrm>
          <a:prstGeom prst="rect">
            <a:avLst/>
          </a:prstGeom>
          <a:gradFill>
            <a:gsLst>
              <a:gs pos="0">
                <a:schemeClr val="accent6"/>
              </a:gs>
              <a:gs pos="50000">
                <a:schemeClr val="accent1">
                  <a:tint val="44500"/>
                  <a:satMod val="160000"/>
                </a:schemeClr>
              </a:gs>
              <a:gs pos="100000">
                <a:schemeClr val="accent1">
                  <a:tint val="23500"/>
                  <a:satMod val="160000"/>
                </a:schemeClr>
              </a:gs>
            </a:gsLst>
            <a:lin ang="5400000" scaled="0"/>
          </a:gradFill>
          <a:ln w="9525">
            <a:noFill/>
            <a:miter lim="800000"/>
            <a:headEnd/>
            <a:tailEnd/>
          </a:ln>
        </p:spPr>
        <p:txBody>
          <a:bodyPr wrap="square">
            <a:spAutoFit/>
          </a:bodyPr>
          <a:lstStyle/>
          <a:p>
            <a:pPr>
              <a:spcBef>
                <a:spcPct val="50000"/>
              </a:spcBef>
              <a:defRPr/>
            </a:pPr>
            <a:r>
              <a:rPr kumimoji="1" lang="en-US" altLang="zh-CN" sz="3200" b="1" dirty="0" smtClean="0">
                <a:latin typeface="微软雅黑" pitchFamily="34" charset="-122"/>
                <a:ea typeface="微软雅黑" pitchFamily="34" charset="-122"/>
              </a:rPr>
              <a:t>1</a:t>
            </a:r>
            <a:r>
              <a:rPr kumimoji="1" lang="en-US" altLang="zh-CN" sz="3200" b="1" dirty="0">
                <a:latin typeface="微软雅黑" pitchFamily="34" charset="-122"/>
                <a:ea typeface="微软雅黑" pitchFamily="34" charset="-122"/>
              </a:rPr>
              <a:t>.</a:t>
            </a:r>
            <a:r>
              <a:rPr kumimoji="1" lang="zh-CN" altLang="en-US" sz="3200" b="1" dirty="0" smtClean="0">
                <a:latin typeface="微软雅黑" pitchFamily="34" charset="-122"/>
                <a:ea typeface="微软雅黑" pitchFamily="34" charset="-122"/>
              </a:rPr>
              <a:t>光谱</a:t>
            </a:r>
            <a:r>
              <a:rPr kumimoji="1" lang="zh-CN" altLang="en-US" sz="3200" b="1" dirty="0">
                <a:latin typeface="微软雅黑" pitchFamily="34" charset="-122"/>
                <a:ea typeface="微软雅黑" pitchFamily="34" charset="-122"/>
              </a:rPr>
              <a:t>响应特性和光谱匹配</a:t>
            </a:r>
          </a:p>
        </p:txBody>
      </p:sp>
      <p:sp>
        <p:nvSpPr>
          <p:cNvPr id="14" name="Text Box 1028"/>
          <p:cNvSpPr txBox="1">
            <a:spLocks noChangeArrowheads="1"/>
          </p:cNvSpPr>
          <p:nvPr/>
        </p:nvSpPr>
        <p:spPr bwMode="auto">
          <a:xfrm>
            <a:off x="1265300" y="4174232"/>
            <a:ext cx="10676763"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spcBef>
                <a:spcPct val="50000"/>
              </a:spcBef>
            </a:pPr>
            <a:r>
              <a:rPr kumimoji="1" lang="en-US" altLang="zh-CN" sz="2800" b="1" dirty="0">
                <a:solidFill>
                  <a:srgbClr val="FF0000"/>
                </a:solidFill>
                <a:latin typeface="微软雅黑" panose="020B0503020204020204" pitchFamily="34" charset="-122"/>
                <a:ea typeface="微软雅黑" panose="020B0503020204020204" pitchFamily="34" charset="-122"/>
              </a:rPr>
              <a:t>       </a:t>
            </a:r>
            <a:r>
              <a:rPr kumimoji="1" lang="zh-CN" altLang="en-US" sz="2800" b="1" dirty="0">
                <a:solidFill>
                  <a:srgbClr val="FF0000"/>
                </a:solidFill>
                <a:latin typeface="微软雅黑" panose="020B0503020204020204" pitchFamily="34" charset="-122"/>
                <a:ea typeface="微软雅黑" panose="020B0503020204020204" pitchFamily="34" charset="-122"/>
              </a:rPr>
              <a:t>光谱匹配</a:t>
            </a:r>
            <a:r>
              <a:rPr kumimoji="1" lang="zh-CN" altLang="en-US" sz="2800" b="1" dirty="0">
                <a:latin typeface="微软雅黑" panose="020B0503020204020204" pitchFamily="34" charset="-122"/>
                <a:ea typeface="微软雅黑" panose="020B0503020204020204" pitchFamily="34" charset="-122"/>
              </a:rPr>
              <a:t>是指在像管的光谱响应范围内</a:t>
            </a:r>
            <a:r>
              <a:rPr kumimoji="1" lang="zh-CN" altLang="en-US" sz="2800" b="1" dirty="0">
                <a:solidFill>
                  <a:srgbClr val="FF0000"/>
                </a:solidFill>
                <a:latin typeface="微软雅黑" panose="020B0503020204020204" pitchFamily="34" charset="-122"/>
                <a:ea typeface="微软雅黑" panose="020B0503020204020204" pitchFamily="34" charset="-122"/>
              </a:rPr>
              <a:t>光源</a:t>
            </a:r>
            <a:r>
              <a:rPr kumimoji="1" lang="zh-CN" altLang="en-US" sz="2800" b="1" dirty="0">
                <a:latin typeface="微软雅黑" panose="020B0503020204020204" pitchFamily="34" charset="-122"/>
                <a:ea typeface="微软雅黑" panose="020B0503020204020204" pitchFamily="34" charset="-122"/>
              </a:rPr>
              <a:t>与</a:t>
            </a:r>
            <a:r>
              <a:rPr kumimoji="1" lang="zh-CN" altLang="en-US" sz="2800" b="1" dirty="0">
                <a:solidFill>
                  <a:srgbClr val="FF0000"/>
                </a:solidFill>
                <a:latin typeface="微软雅黑" panose="020B0503020204020204" pitchFamily="34" charset="-122"/>
                <a:ea typeface="微软雅黑" panose="020B0503020204020204" pitchFamily="34" charset="-122"/>
              </a:rPr>
              <a:t>光电阴极</a:t>
            </a:r>
            <a:r>
              <a:rPr kumimoji="1" lang="zh-CN" altLang="en-US" sz="2800" b="1" dirty="0">
                <a:latin typeface="微软雅黑" panose="020B0503020204020204" pitchFamily="34" charset="-122"/>
                <a:ea typeface="微软雅黑" panose="020B0503020204020204" pitchFamily="34" charset="-122"/>
              </a:rPr>
              <a:t>、</a:t>
            </a:r>
            <a:r>
              <a:rPr kumimoji="1" lang="zh-CN" altLang="en-US" sz="2800" b="1" dirty="0">
                <a:solidFill>
                  <a:srgbClr val="FF0000"/>
                </a:solidFill>
                <a:latin typeface="微软雅黑" panose="020B0503020204020204" pitchFamily="34" charset="-122"/>
                <a:ea typeface="微软雅黑" panose="020B0503020204020204" pitchFamily="34" charset="-122"/>
              </a:rPr>
              <a:t>光电阴极</a:t>
            </a:r>
            <a:r>
              <a:rPr kumimoji="1" lang="zh-CN" altLang="en-US" sz="2800" b="1" dirty="0">
                <a:latin typeface="微软雅黑" panose="020B0503020204020204" pitchFamily="34" charset="-122"/>
                <a:ea typeface="微软雅黑" panose="020B0503020204020204" pitchFamily="34" charset="-122"/>
              </a:rPr>
              <a:t>与</a:t>
            </a:r>
            <a:r>
              <a:rPr kumimoji="1" lang="zh-CN" altLang="en-US" sz="2800" b="1" dirty="0">
                <a:solidFill>
                  <a:srgbClr val="FF0000"/>
                </a:solidFill>
                <a:latin typeface="微软雅黑" panose="020B0503020204020204" pitchFamily="34" charset="-122"/>
                <a:ea typeface="微软雅黑" panose="020B0503020204020204" pitchFamily="34" charset="-122"/>
              </a:rPr>
              <a:t>荧光屏</a:t>
            </a:r>
            <a:r>
              <a:rPr kumimoji="1" lang="zh-CN" altLang="en-US" sz="2800" b="1" dirty="0">
                <a:latin typeface="微软雅黑" panose="020B0503020204020204" pitchFamily="34" charset="-122"/>
                <a:ea typeface="微软雅黑" panose="020B0503020204020204" pitchFamily="34" charset="-122"/>
              </a:rPr>
              <a:t>以及</a:t>
            </a:r>
            <a:r>
              <a:rPr kumimoji="1" lang="zh-CN" altLang="en-US" sz="2800" b="1" dirty="0">
                <a:solidFill>
                  <a:srgbClr val="FF0000"/>
                </a:solidFill>
                <a:latin typeface="微软雅黑" panose="020B0503020204020204" pitchFamily="34" charset="-122"/>
                <a:ea typeface="微软雅黑" panose="020B0503020204020204" pitchFamily="34" charset="-122"/>
              </a:rPr>
              <a:t>荧光屏</a:t>
            </a:r>
            <a:r>
              <a:rPr kumimoji="1" lang="zh-CN" altLang="en-US" sz="2800" b="1" dirty="0">
                <a:latin typeface="微软雅黑" panose="020B0503020204020204" pitchFamily="34" charset="-122"/>
                <a:ea typeface="微软雅黑" panose="020B0503020204020204" pitchFamily="34" charset="-122"/>
              </a:rPr>
              <a:t>与</a:t>
            </a:r>
            <a:r>
              <a:rPr kumimoji="1" lang="zh-CN" altLang="en-US" sz="2800" b="1" dirty="0">
                <a:solidFill>
                  <a:srgbClr val="FF0000"/>
                </a:solidFill>
                <a:latin typeface="微软雅黑" panose="020B0503020204020204" pitchFamily="34" charset="-122"/>
                <a:ea typeface="微软雅黑" panose="020B0503020204020204" pitchFamily="34" charset="-122"/>
              </a:rPr>
              <a:t>人眼视觉函数</a:t>
            </a:r>
            <a:r>
              <a:rPr kumimoji="1" lang="zh-CN" altLang="en-US" sz="2800" b="1" dirty="0">
                <a:latin typeface="微软雅黑" panose="020B0503020204020204" pitchFamily="34" charset="-122"/>
                <a:ea typeface="微软雅黑" panose="020B0503020204020204" pitchFamily="34" charset="-122"/>
              </a:rPr>
              <a:t>之间的光谱分布匹配，如果匹配良好，将获得更高的整管灵敏度。</a:t>
            </a:r>
          </a:p>
        </p:txBody>
      </p:sp>
      <p:sp>
        <p:nvSpPr>
          <p:cNvPr id="22" name="Text Box 1029"/>
          <p:cNvSpPr txBox="1">
            <a:spLocks noChangeArrowheads="1"/>
          </p:cNvSpPr>
          <p:nvPr/>
        </p:nvSpPr>
        <p:spPr bwMode="auto">
          <a:xfrm>
            <a:off x="1390874" y="2596135"/>
            <a:ext cx="1042561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spcBef>
                <a:spcPct val="50000"/>
              </a:spcBef>
            </a:pPr>
            <a:r>
              <a:rPr kumimoji="1" lang="en-US" altLang="zh-CN" sz="2800" b="1" dirty="0">
                <a:solidFill>
                  <a:srgbClr val="FF0000"/>
                </a:solidFill>
                <a:latin typeface="微软雅黑" panose="020B0503020204020204" pitchFamily="34" charset="-122"/>
                <a:ea typeface="微软雅黑" panose="020B0503020204020204" pitchFamily="34" charset="-122"/>
              </a:rPr>
              <a:t>       </a:t>
            </a:r>
            <a:r>
              <a:rPr kumimoji="1" lang="zh-CN" altLang="en-US" sz="2800" b="1" dirty="0">
                <a:solidFill>
                  <a:srgbClr val="FF0000"/>
                </a:solidFill>
                <a:latin typeface="微软雅黑" panose="020B0503020204020204" pitchFamily="34" charset="-122"/>
                <a:ea typeface="微软雅黑" panose="020B0503020204020204" pitchFamily="34" charset="-122"/>
              </a:rPr>
              <a:t>光谱响应</a:t>
            </a:r>
            <a:r>
              <a:rPr kumimoji="1" lang="zh-CN" altLang="en-US" sz="2800" b="1" dirty="0">
                <a:latin typeface="微软雅黑" panose="020B0503020204020204" pitchFamily="34" charset="-122"/>
                <a:ea typeface="微软雅黑" panose="020B0503020204020204" pitchFamily="34" charset="-122"/>
              </a:rPr>
              <a:t>特性主要是指光电阴极的光谱响应特性，它决定了像管的光谱范围。</a:t>
            </a:r>
          </a:p>
        </p:txBody>
      </p:sp>
      <p:sp>
        <p:nvSpPr>
          <p:cNvPr id="20" name="文本框 60">
            <a:extLst>
              <a:ext uri="{FF2B5EF4-FFF2-40B4-BE49-F238E27FC236}">
                <a16:creationId xmlns:a16="http://schemas.microsoft.com/office/drawing/2014/main" xmlns="" id="{791D85D7-F412-9C48-9F2B-E33F5B7B4F3C}"/>
              </a:ext>
            </a:extLst>
          </p:cNvPr>
          <p:cNvSpPr txBox="1"/>
          <p:nvPr/>
        </p:nvSpPr>
        <p:spPr>
          <a:xfrm>
            <a:off x="1364781" y="293282"/>
            <a:ext cx="2312697"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像管的主要特性参数</a:t>
            </a:r>
            <a:endParaRPr lang="zh-CN" altLang="en-US" sz="1800" b="1" dirty="0">
              <a:latin typeface="微软雅黑" panose="020B0503020204020204" pitchFamily="34" charset="-122"/>
              <a:ea typeface="微软雅黑" panose="020B0503020204020204" pitchFamily="34" charset="-122"/>
            </a:endParaRPr>
          </a:p>
        </p:txBody>
      </p:sp>
      <p:cxnSp>
        <p:nvCxnSpPr>
          <p:cNvPr id="21"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2107096"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ox(in)">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ox(in)">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0" name="Text Box 3"/>
          <p:cNvSpPr txBox="1">
            <a:spLocks noChangeArrowheads="1"/>
          </p:cNvSpPr>
          <p:nvPr/>
        </p:nvSpPr>
        <p:spPr bwMode="auto">
          <a:xfrm>
            <a:off x="1554480" y="2071688"/>
            <a:ext cx="64573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en-US" altLang="zh-CN" sz="2800" b="1" dirty="0">
                <a:solidFill>
                  <a:srgbClr val="0000CC"/>
                </a:solidFill>
                <a:ea typeface="微软雅黑" panose="020B0503020204020204" pitchFamily="34" charset="-122"/>
                <a:cs typeface="Times New Roman" panose="02020603050405020304" pitchFamily="18" charset="0"/>
              </a:rPr>
              <a:t>S(</a:t>
            </a:r>
            <a:r>
              <a:rPr kumimoji="1" lang="en-US" altLang="zh-CN" sz="2800" b="1" dirty="0">
                <a:solidFill>
                  <a:srgbClr val="0000CC"/>
                </a:solidFill>
                <a:ea typeface="微软雅黑" panose="020B0503020204020204" pitchFamily="34" charset="-122"/>
                <a:cs typeface="Times New Roman" panose="02020603050405020304" pitchFamily="18" charset="0"/>
                <a:sym typeface="Symbol" panose="05050102010706020507" pitchFamily="18" charset="2"/>
              </a:rPr>
              <a:t></a:t>
            </a:r>
            <a:r>
              <a:rPr kumimoji="1" lang="en-US" altLang="zh-CN" sz="2800" b="1" dirty="0">
                <a:solidFill>
                  <a:srgbClr val="0000CC"/>
                </a:solidFill>
                <a:ea typeface="微软雅黑" panose="020B0503020204020204" pitchFamily="34" charset="-122"/>
                <a:cs typeface="Times New Roman" panose="02020603050405020304" pitchFamily="18" charset="0"/>
              </a:rPr>
              <a:t>)</a:t>
            </a:r>
            <a:r>
              <a:rPr kumimoji="1" lang="zh-CN" altLang="en-US" sz="2800" b="1" dirty="0">
                <a:ea typeface="微软雅黑" panose="020B0503020204020204" pitchFamily="34" charset="-122"/>
                <a:cs typeface="Times New Roman" panose="02020603050405020304" pitchFamily="18" charset="0"/>
              </a:rPr>
              <a:t>为光电阴极的相对光谱灵敏度曲线</a:t>
            </a:r>
          </a:p>
        </p:txBody>
      </p:sp>
      <p:graphicFrame>
        <p:nvGraphicFramePr>
          <p:cNvPr id="21" name="Object 8"/>
          <p:cNvGraphicFramePr>
            <a:graphicFrameLocks noChangeAspect="1"/>
          </p:cNvGraphicFramePr>
          <p:nvPr>
            <p:extLst>
              <p:ext uri="{D42A27DB-BD31-4B8C-83A1-F6EECF244321}">
                <p14:modId xmlns:p14="http://schemas.microsoft.com/office/powerpoint/2010/main" val="4239262865"/>
              </p:ext>
            </p:extLst>
          </p:nvPr>
        </p:nvGraphicFramePr>
        <p:xfrm>
          <a:off x="7876920" y="2725738"/>
          <a:ext cx="4293743" cy="3549354"/>
        </p:xfrm>
        <a:graphic>
          <a:graphicData uri="http://schemas.openxmlformats.org/presentationml/2006/ole">
            <mc:AlternateContent xmlns:mc="http://schemas.openxmlformats.org/markup-compatibility/2006">
              <mc:Choice xmlns:v="urn:schemas-microsoft-com:vml" Requires="v">
                <p:oleObj spid="_x0000_s49162" name="Visio" r:id="rId3" imgW="2124055" imgH="1809810" progId="">
                  <p:embed/>
                </p:oleObj>
              </mc:Choice>
              <mc:Fallback>
                <p:oleObj name="Visio" r:id="rId3" imgW="2124055" imgH="180981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6920" y="2725738"/>
                        <a:ext cx="4293743" cy="35493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9"/>
          <p:cNvGraphicFramePr>
            <a:graphicFrameLocks noChangeAspect="1"/>
          </p:cNvGraphicFramePr>
          <p:nvPr>
            <p:extLst>
              <p:ext uri="{D42A27DB-BD31-4B8C-83A1-F6EECF244321}">
                <p14:modId xmlns:p14="http://schemas.microsoft.com/office/powerpoint/2010/main" val="3269567294"/>
              </p:ext>
            </p:extLst>
          </p:nvPr>
        </p:nvGraphicFramePr>
        <p:xfrm>
          <a:off x="2285551" y="5994321"/>
          <a:ext cx="4632901" cy="694047"/>
        </p:xfrm>
        <a:graphic>
          <a:graphicData uri="http://schemas.openxmlformats.org/presentationml/2006/ole">
            <mc:AlternateContent xmlns:mc="http://schemas.openxmlformats.org/markup-compatibility/2006">
              <mc:Choice xmlns:v="urn:schemas-microsoft-com:vml" Requires="v">
                <p:oleObj spid="_x0000_s49163" name="Equation" r:id="rId5" imgW="1663700" imgH="330200" progId="">
                  <p:embed/>
                </p:oleObj>
              </mc:Choice>
              <mc:Fallback>
                <p:oleObj name="Equation" r:id="rId5" imgW="1663700" imgH="33020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5551" y="5994321"/>
                        <a:ext cx="4632901" cy="694047"/>
                      </a:xfrm>
                      <a:prstGeom prst="rect">
                        <a:avLst/>
                      </a:prstGeom>
                      <a:solidFill>
                        <a:srgbClr val="FFFF00"/>
                      </a:solidFill>
                    </p:spPr>
                  </p:pic>
                </p:oleObj>
              </mc:Fallback>
            </mc:AlternateContent>
          </a:graphicData>
        </a:graphic>
      </p:graphicFrame>
      <p:sp>
        <p:nvSpPr>
          <p:cNvPr id="24" name="TextBox 10"/>
          <p:cNvSpPr txBox="1">
            <a:spLocks noChangeArrowheads="1"/>
          </p:cNvSpPr>
          <p:nvPr/>
        </p:nvSpPr>
        <p:spPr bwMode="auto">
          <a:xfrm>
            <a:off x="4084202" y="1396207"/>
            <a:ext cx="5500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如：光电阴极与光源的光谱匹配</a:t>
            </a:r>
          </a:p>
        </p:txBody>
      </p:sp>
      <p:sp>
        <p:nvSpPr>
          <p:cNvPr id="25" name="Text Box 3"/>
          <p:cNvSpPr txBox="1">
            <a:spLocks noChangeArrowheads="1"/>
          </p:cNvSpPr>
          <p:nvPr/>
        </p:nvSpPr>
        <p:spPr bwMode="auto">
          <a:xfrm>
            <a:off x="1528318" y="2905126"/>
            <a:ext cx="556755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el-GR" altLang="zh-CN" sz="2800" b="1" dirty="0">
                <a:solidFill>
                  <a:srgbClr val="0000CC"/>
                </a:solidFill>
                <a:ea typeface="微软雅黑" panose="020B0503020204020204" pitchFamily="34" charset="-122"/>
                <a:cs typeface="Times New Roman" panose="02020603050405020304" pitchFamily="18" charset="0"/>
                <a:sym typeface="Symbol" panose="05050102010706020507" pitchFamily="18" charset="2"/>
              </a:rPr>
              <a:t>Φ</a:t>
            </a:r>
            <a:r>
              <a:rPr kumimoji="1" lang="zh-CN" altLang="en-US" sz="2800" b="1" dirty="0">
                <a:ea typeface="微软雅黑" panose="020B0503020204020204" pitchFamily="34" charset="-122"/>
                <a:cs typeface="Times New Roman" panose="02020603050405020304" pitchFamily="18" charset="0"/>
              </a:rPr>
              <a:t>为光源的相对幅通量分布曲线</a:t>
            </a:r>
          </a:p>
        </p:txBody>
      </p:sp>
      <p:sp>
        <p:nvSpPr>
          <p:cNvPr id="26" name="Text Box 3"/>
          <p:cNvSpPr txBox="1">
            <a:spLocks noChangeArrowheads="1"/>
          </p:cNvSpPr>
          <p:nvPr/>
        </p:nvSpPr>
        <p:spPr bwMode="auto">
          <a:xfrm>
            <a:off x="1554480" y="3890409"/>
            <a:ext cx="5363972"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2800" b="1" dirty="0">
                <a:ea typeface="微软雅黑" panose="020B0503020204020204" pitchFamily="34" charset="-122"/>
                <a:cs typeface="Times New Roman" panose="02020603050405020304" pitchFamily="18" charset="0"/>
              </a:rPr>
              <a:t>设</a:t>
            </a:r>
            <a:r>
              <a:rPr kumimoji="1" lang="en-US" altLang="zh-CN" sz="2800" b="1" dirty="0" err="1">
                <a:solidFill>
                  <a:srgbClr val="0000CC"/>
                </a:solidFill>
                <a:ea typeface="微软雅黑" panose="020B0503020204020204" pitchFamily="34" charset="-122"/>
                <a:cs typeface="Times New Roman" panose="02020603050405020304" pitchFamily="18" charset="0"/>
              </a:rPr>
              <a:t>S</a:t>
            </a:r>
            <a:r>
              <a:rPr kumimoji="1" lang="en-US" altLang="zh-CN" sz="2800" b="1" baseline="-25000" dirty="0" err="1">
                <a:solidFill>
                  <a:srgbClr val="0000CC"/>
                </a:solidFill>
                <a:ea typeface="微软雅黑" panose="020B0503020204020204" pitchFamily="34" charset="-122"/>
                <a:cs typeface="Times New Roman" panose="02020603050405020304" pitchFamily="18" charset="0"/>
              </a:rPr>
              <a:t>m</a:t>
            </a:r>
            <a:r>
              <a:rPr kumimoji="1" lang="zh-CN" altLang="en-US" sz="2800" b="1" dirty="0">
                <a:ea typeface="微软雅黑" panose="020B0503020204020204" pitchFamily="34" charset="-122"/>
                <a:cs typeface="Times New Roman" panose="02020603050405020304" pitchFamily="18" charset="0"/>
              </a:rPr>
              <a:t>为峰值灵敏度；</a:t>
            </a:r>
            <a:endParaRPr kumimoji="1" lang="en-US" altLang="zh-CN" sz="2800" b="1" dirty="0">
              <a:ea typeface="微软雅黑" panose="020B0503020204020204" pitchFamily="34" charset="-122"/>
              <a:cs typeface="Times New Roman" panose="02020603050405020304" pitchFamily="18" charset="0"/>
            </a:endParaRPr>
          </a:p>
          <a:p>
            <a:pPr eaLnBrk="1" hangingPunct="1">
              <a:spcBef>
                <a:spcPct val="50000"/>
              </a:spcBef>
            </a:pPr>
            <a:r>
              <a:rPr kumimoji="1" lang="en-US" altLang="zh-CN" sz="2800" b="1" dirty="0">
                <a:ea typeface="微软雅黑" panose="020B0503020204020204" pitchFamily="34" charset="-122"/>
                <a:cs typeface="Times New Roman" panose="02020603050405020304" pitchFamily="18" charset="0"/>
                <a:sym typeface="Symbol" panose="05050102010706020507" pitchFamily="18" charset="2"/>
              </a:rPr>
              <a:t>   </a:t>
            </a:r>
            <a:r>
              <a:rPr kumimoji="1" lang="zh-CN" altLang="en-US" sz="2800" b="1" dirty="0">
                <a:ea typeface="微软雅黑" panose="020B0503020204020204" pitchFamily="34" charset="-122"/>
                <a:cs typeface="Times New Roman" panose="02020603050405020304" pitchFamily="18" charset="0"/>
                <a:sym typeface="Symbol" panose="05050102010706020507" pitchFamily="18" charset="2"/>
              </a:rPr>
              <a:t> </a:t>
            </a:r>
            <a:r>
              <a:rPr kumimoji="1" lang="el-GR" altLang="zh-CN" sz="2800" b="1" dirty="0">
                <a:solidFill>
                  <a:srgbClr val="0000CC"/>
                </a:solidFill>
                <a:ea typeface="微软雅黑" panose="020B0503020204020204" pitchFamily="34" charset="-122"/>
                <a:cs typeface="Times New Roman" panose="02020603050405020304" pitchFamily="18" charset="0"/>
                <a:sym typeface="Symbol" panose="05050102010706020507" pitchFamily="18" charset="2"/>
              </a:rPr>
              <a:t>Φ</a:t>
            </a:r>
            <a:r>
              <a:rPr kumimoji="1" lang="en-US" altLang="zh-CN" sz="2800" b="1" baseline="-25000" dirty="0">
                <a:solidFill>
                  <a:srgbClr val="0000CC"/>
                </a:solidFill>
                <a:ea typeface="微软雅黑" panose="020B0503020204020204" pitchFamily="34" charset="-122"/>
                <a:cs typeface="Times New Roman" panose="02020603050405020304" pitchFamily="18" charset="0"/>
                <a:sym typeface="Symbol" panose="05050102010706020507" pitchFamily="18" charset="2"/>
              </a:rPr>
              <a:t>m</a:t>
            </a:r>
            <a:r>
              <a:rPr kumimoji="1" lang="zh-CN" altLang="en-US" sz="2800" b="1" dirty="0">
                <a:ea typeface="微软雅黑" panose="020B0503020204020204" pitchFamily="34" charset="-122"/>
                <a:cs typeface="Times New Roman" panose="02020603050405020304" pitchFamily="18" charset="0"/>
              </a:rPr>
              <a:t>为光源辐通量的最大值。</a:t>
            </a:r>
          </a:p>
        </p:txBody>
      </p:sp>
      <p:sp>
        <p:nvSpPr>
          <p:cNvPr id="27" name="Text Box 6"/>
          <p:cNvSpPr txBox="1">
            <a:spLocks noChangeArrowheads="1"/>
          </p:cNvSpPr>
          <p:nvPr/>
        </p:nvSpPr>
        <p:spPr bwMode="auto">
          <a:xfrm>
            <a:off x="2003425" y="5010459"/>
            <a:ext cx="200025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spcBef>
                <a:spcPct val="50000"/>
              </a:spcBef>
            </a:pPr>
            <a:r>
              <a:rPr kumimoji="1" lang="zh-CN" altLang="en-US" sz="2800" b="1" dirty="0">
                <a:ea typeface="微软雅黑" panose="020B0503020204020204" pitchFamily="34" charset="-122"/>
                <a:cs typeface="Times New Roman" panose="02020603050405020304" pitchFamily="18" charset="0"/>
              </a:rPr>
              <a:t>则光电流为</a:t>
            </a:r>
          </a:p>
        </p:txBody>
      </p:sp>
      <p:sp>
        <p:nvSpPr>
          <p:cNvPr id="28" name="Text Box 3"/>
          <p:cNvSpPr txBox="1">
            <a:spLocks noChangeArrowheads="1"/>
          </p:cNvSpPr>
          <p:nvPr/>
        </p:nvSpPr>
        <p:spPr bwMode="auto">
          <a:xfrm>
            <a:off x="8552410" y="5966292"/>
            <a:ext cx="325414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zh-CN" altLang="en-US" sz="2000" b="1" dirty="0" smtClean="0">
                <a:ea typeface="微软雅黑" panose="020B0503020204020204" pitchFamily="34" charset="-122"/>
                <a:cs typeface="Times New Roman" panose="02020603050405020304" pitchFamily="18" charset="0"/>
              </a:rPr>
              <a:t>光源与光电阴极的光谱匹配</a:t>
            </a:r>
            <a:endParaRPr kumimoji="1" lang="zh-CN" altLang="en-US" sz="2000" b="1" dirty="0">
              <a:ea typeface="微软雅黑" panose="020B0503020204020204" pitchFamily="34" charset="-122"/>
              <a:cs typeface="Times New Roman" panose="02020603050405020304" pitchFamily="18" charset="0"/>
            </a:endParaRPr>
          </a:p>
        </p:txBody>
      </p:sp>
      <p:sp>
        <p:nvSpPr>
          <p:cNvPr id="22" name="文本框 60">
            <a:extLst>
              <a:ext uri="{FF2B5EF4-FFF2-40B4-BE49-F238E27FC236}">
                <a16:creationId xmlns:a16="http://schemas.microsoft.com/office/drawing/2014/main" xmlns="" id="{791D85D7-F412-9C48-9F2B-E33F5B7B4F3C}"/>
              </a:ext>
            </a:extLst>
          </p:cNvPr>
          <p:cNvSpPr txBox="1"/>
          <p:nvPr/>
        </p:nvSpPr>
        <p:spPr>
          <a:xfrm>
            <a:off x="1364781" y="293282"/>
            <a:ext cx="2312697"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像管的主要特性参数</a:t>
            </a:r>
            <a:endParaRPr lang="zh-CN" altLang="en-US" sz="1800" b="1" dirty="0">
              <a:latin typeface="微软雅黑" panose="020B0503020204020204" pitchFamily="34" charset="-122"/>
              <a:ea typeface="微软雅黑" panose="020B0503020204020204" pitchFamily="34" charset="-122"/>
            </a:endParaRPr>
          </a:p>
        </p:txBody>
      </p:sp>
      <p:cxnSp>
        <p:nvCxnSpPr>
          <p:cNvPr id="29"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2107096"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ox(in)">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ox(in)">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ox(in)">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box(in)">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box(in)">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box(in)">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ox(in)">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box(in)">
                                      <p:cBhvr>
                                        <p:cTn id="4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utoUpdateAnimBg="0"/>
      <p:bldP spid="24" grpId="0"/>
      <p:bldP spid="25" grpId="0" autoUpdateAnimBg="0"/>
      <p:bldP spid="26" grpId="0" autoUpdateAnimBg="0"/>
      <p:bldP spid="27" grpId="0" autoUpdateAnimBg="0"/>
      <p:bldP spid="28"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22" name="Object 5"/>
          <p:cNvGraphicFramePr>
            <a:graphicFrameLocks noChangeAspect="1"/>
          </p:cNvGraphicFramePr>
          <p:nvPr>
            <p:extLst>
              <p:ext uri="{D42A27DB-BD31-4B8C-83A1-F6EECF244321}">
                <p14:modId xmlns:p14="http://schemas.microsoft.com/office/powerpoint/2010/main" val="3758955943"/>
              </p:ext>
            </p:extLst>
          </p:nvPr>
        </p:nvGraphicFramePr>
        <p:xfrm>
          <a:off x="2211387" y="3271173"/>
          <a:ext cx="8247062" cy="1150938"/>
        </p:xfrm>
        <a:graphic>
          <a:graphicData uri="http://schemas.openxmlformats.org/presentationml/2006/ole">
            <mc:AlternateContent xmlns:mc="http://schemas.openxmlformats.org/markup-compatibility/2006">
              <mc:Choice xmlns:v="urn:schemas-microsoft-com:vml" Requires="v">
                <p:oleObj spid="_x0000_s50188" name="Equation" r:id="rId3" imgW="3416300" imgH="635000" progId="">
                  <p:embed/>
                </p:oleObj>
              </mc:Choice>
              <mc:Fallback>
                <p:oleObj name="Equation" r:id="rId3" imgW="3416300" imgH="635000" progId="">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1387" y="3271173"/>
                        <a:ext cx="8247062" cy="1150938"/>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sp>
        <p:nvSpPr>
          <p:cNvPr id="29" name="Text Box 4"/>
          <p:cNvSpPr txBox="1">
            <a:spLocks noChangeArrowheads="1"/>
          </p:cNvSpPr>
          <p:nvPr/>
        </p:nvSpPr>
        <p:spPr bwMode="auto">
          <a:xfrm>
            <a:off x="2211387" y="2102743"/>
            <a:ext cx="19812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zh-CN" altLang="en-US" sz="2800" b="1" dirty="0">
                <a:ea typeface="微软雅黑" panose="020B0503020204020204" pitchFamily="34" charset="-122"/>
                <a:cs typeface="Times New Roman" panose="02020603050405020304" pitchFamily="18" charset="0"/>
              </a:rPr>
              <a:t>积分灵敏度</a:t>
            </a:r>
          </a:p>
        </p:txBody>
      </p:sp>
      <p:sp>
        <p:nvSpPr>
          <p:cNvPr id="30" name="Text Box 6"/>
          <p:cNvSpPr txBox="1">
            <a:spLocks noChangeArrowheads="1"/>
          </p:cNvSpPr>
          <p:nvPr/>
        </p:nvSpPr>
        <p:spPr bwMode="auto">
          <a:xfrm>
            <a:off x="2119947" y="5254096"/>
            <a:ext cx="31242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spcBef>
                <a:spcPct val="50000"/>
              </a:spcBef>
            </a:pPr>
            <a:r>
              <a:rPr kumimoji="1" lang="en-US" altLang="zh-CN" sz="2800" b="1" dirty="0">
                <a:ea typeface="微软雅黑" panose="020B0503020204020204" pitchFamily="34" charset="-122"/>
                <a:cs typeface="Times New Roman" panose="02020603050405020304" pitchFamily="18" charset="0"/>
                <a:sym typeface="Symbol" panose="05050102010706020507" pitchFamily="18" charset="2"/>
              </a:rPr>
              <a:t></a:t>
            </a:r>
            <a:r>
              <a:rPr kumimoji="1" lang="zh-CN" altLang="en-US" sz="2800" b="1" dirty="0">
                <a:ea typeface="微软雅黑" panose="020B0503020204020204" pitchFamily="34" charset="-122"/>
                <a:cs typeface="Times New Roman" panose="02020603050405020304" pitchFamily="18" charset="0"/>
                <a:sym typeface="Symbol" panose="05050102010706020507" pitchFamily="18" charset="2"/>
              </a:rPr>
              <a:t>为光谱匹配因数</a:t>
            </a:r>
            <a:endParaRPr kumimoji="1" lang="zh-CN" altLang="en-US" sz="2800" b="1" dirty="0">
              <a:ea typeface="微软雅黑" panose="020B0503020204020204" pitchFamily="34" charset="-122"/>
              <a:cs typeface="Times New Roman" panose="02020603050405020304" pitchFamily="18" charset="0"/>
            </a:endParaRPr>
          </a:p>
        </p:txBody>
      </p:sp>
      <p:graphicFrame>
        <p:nvGraphicFramePr>
          <p:cNvPr id="31" name="Object 4"/>
          <p:cNvGraphicFramePr>
            <a:graphicFrameLocks noChangeAspect="1"/>
          </p:cNvGraphicFramePr>
          <p:nvPr>
            <p:extLst>
              <p:ext uri="{D42A27DB-BD31-4B8C-83A1-F6EECF244321}">
                <p14:modId xmlns:p14="http://schemas.microsoft.com/office/powerpoint/2010/main" val="997421111"/>
              </p:ext>
            </p:extLst>
          </p:nvPr>
        </p:nvGraphicFramePr>
        <p:xfrm>
          <a:off x="6415422" y="4998315"/>
          <a:ext cx="3560428" cy="1250227"/>
        </p:xfrm>
        <a:graphic>
          <a:graphicData uri="http://schemas.openxmlformats.org/presentationml/2006/ole">
            <mc:AlternateContent xmlns:mc="http://schemas.openxmlformats.org/markup-compatibility/2006">
              <mc:Choice xmlns:v="urn:schemas-microsoft-com:vml" Requires="v">
                <p:oleObj spid="_x0000_s50189" name="Equation" r:id="rId5" imgW="1358310" imgH="634725" progId="">
                  <p:embed/>
                </p:oleObj>
              </mc:Choice>
              <mc:Fallback>
                <p:oleObj name="Equation" r:id="rId5" imgW="1358310" imgH="634725" progId="">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5422" y="4998315"/>
                        <a:ext cx="3560428" cy="1250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文本框 60">
            <a:extLst>
              <a:ext uri="{FF2B5EF4-FFF2-40B4-BE49-F238E27FC236}">
                <a16:creationId xmlns:a16="http://schemas.microsoft.com/office/drawing/2014/main" xmlns="" id="{791D85D7-F412-9C48-9F2B-E33F5B7B4F3C}"/>
              </a:ext>
            </a:extLst>
          </p:cNvPr>
          <p:cNvSpPr txBox="1"/>
          <p:nvPr/>
        </p:nvSpPr>
        <p:spPr>
          <a:xfrm>
            <a:off x="1364781" y="293282"/>
            <a:ext cx="2312697"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像管的主要特性参数</a:t>
            </a:r>
            <a:endParaRPr lang="zh-CN" altLang="en-US" sz="1800" b="1" dirty="0">
              <a:latin typeface="微软雅黑" panose="020B0503020204020204" pitchFamily="34" charset="-122"/>
              <a:ea typeface="微软雅黑" panose="020B0503020204020204" pitchFamily="34" charset="-122"/>
            </a:endParaRPr>
          </a:p>
        </p:txBody>
      </p:sp>
      <p:cxnSp>
        <p:nvCxnSpPr>
          <p:cNvPr id="20"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2107096"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ox(i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ox(in)">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box(in)">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box(in)">
                                      <p:cBhvr>
                                        <p:cTn id="2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utoUpdateAnimBg="0"/>
      <p:bldP spid="30"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4" name="Text Box 3"/>
          <p:cNvSpPr txBox="1">
            <a:spLocks noChangeArrowheads="1"/>
          </p:cNvSpPr>
          <p:nvPr/>
        </p:nvSpPr>
        <p:spPr bwMode="auto">
          <a:xfrm>
            <a:off x="5015167" y="1399913"/>
            <a:ext cx="2500312" cy="584200"/>
          </a:xfrm>
          <a:prstGeom prst="rect">
            <a:avLst/>
          </a:prstGeom>
          <a:gradFill>
            <a:gsLst>
              <a:gs pos="0">
                <a:schemeClr val="accent6"/>
              </a:gs>
              <a:gs pos="50000">
                <a:schemeClr val="accent1">
                  <a:tint val="44500"/>
                  <a:satMod val="160000"/>
                </a:schemeClr>
              </a:gs>
              <a:gs pos="100000">
                <a:schemeClr val="accent1">
                  <a:tint val="23500"/>
                  <a:satMod val="160000"/>
                </a:schemeClr>
              </a:gs>
            </a:gsLst>
            <a:lin ang="5400000" scaled="0"/>
          </a:gradFill>
          <a:ln w="9525">
            <a:noFill/>
            <a:miter lim="800000"/>
            <a:headEnd/>
            <a:tailEnd/>
          </a:ln>
        </p:spPr>
        <p:txBody>
          <a:bodyPr>
            <a:spAutoFit/>
          </a:bodyPr>
          <a:lstStyle/>
          <a:p>
            <a:pPr algn="ctr">
              <a:spcBef>
                <a:spcPct val="50000"/>
              </a:spcBef>
              <a:defRPr/>
            </a:pPr>
            <a:r>
              <a:rPr kumimoji="1" lang="en-US" altLang="zh-CN" sz="3200" b="1" dirty="0">
                <a:ea typeface="微软雅黑" pitchFamily="34" charset="-122"/>
                <a:cs typeface="Times New Roman" pitchFamily="18" charset="0"/>
              </a:rPr>
              <a:t>2.</a:t>
            </a:r>
            <a:r>
              <a:rPr kumimoji="1" lang="zh-CN" altLang="en-US" sz="3200" b="1" dirty="0">
                <a:ea typeface="微软雅黑" pitchFamily="34" charset="-122"/>
                <a:cs typeface="Times New Roman" pitchFamily="18" charset="0"/>
              </a:rPr>
              <a:t>增益特性</a:t>
            </a:r>
          </a:p>
        </p:txBody>
      </p:sp>
      <p:sp>
        <p:nvSpPr>
          <p:cNvPr id="20" name="Text Box 3"/>
          <p:cNvSpPr txBox="1">
            <a:spLocks noChangeArrowheads="1"/>
          </p:cNvSpPr>
          <p:nvPr/>
        </p:nvSpPr>
        <p:spPr bwMode="auto">
          <a:xfrm>
            <a:off x="1265238" y="2718220"/>
            <a:ext cx="1000017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en-US" altLang="zh-CN" sz="2800" b="1" dirty="0">
                <a:solidFill>
                  <a:srgbClr val="FF0000"/>
                </a:solidFill>
                <a:ea typeface="微软雅黑" panose="020B0503020204020204" pitchFamily="34" charset="-122"/>
                <a:cs typeface="Times New Roman" panose="02020603050405020304" pitchFamily="18" charset="0"/>
              </a:rPr>
              <a:t>        </a:t>
            </a:r>
            <a:r>
              <a:rPr kumimoji="1" lang="zh-CN" altLang="en-US" sz="2800" b="1" dirty="0">
                <a:solidFill>
                  <a:srgbClr val="FF0000"/>
                </a:solidFill>
                <a:ea typeface="微软雅黑" panose="020B0503020204020204" pitchFamily="34" charset="-122"/>
                <a:cs typeface="Times New Roman" panose="02020603050405020304" pitchFamily="18" charset="0"/>
              </a:rPr>
              <a:t>亮度增益</a:t>
            </a:r>
            <a:r>
              <a:rPr kumimoji="1" lang="zh-CN" altLang="en-US" sz="2400" b="1" dirty="0">
                <a:ea typeface="微软雅黑" panose="020B0503020204020204" pitchFamily="34" charset="-122"/>
                <a:cs typeface="Times New Roman" panose="02020603050405020304" pitchFamily="18" charset="0"/>
              </a:rPr>
              <a:t>是像管的输出亮度和入射至光电阴极上的照度之比的</a:t>
            </a:r>
            <a:r>
              <a:rPr kumimoji="1" lang="el-GR" altLang="zh-CN" sz="2400" b="1" dirty="0">
                <a:ea typeface="微软雅黑" panose="020B0503020204020204" pitchFamily="34" charset="-122"/>
                <a:cs typeface="Times New Roman" panose="02020603050405020304" pitchFamily="18" charset="0"/>
              </a:rPr>
              <a:t>π</a:t>
            </a:r>
            <a:r>
              <a:rPr kumimoji="1" lang="zh-CN" altLang="en-US" sz="2400" b="1" dirty="0">
                <a:ea typeface="微软雅黑" panose="020B0503020204020204" pitchFamily="34" charset="-122"/>
                <a:cs typeface="Times New Roman" panose="02020603050405020304" pitchFamily="18" charset="0"/>
              </a:rPr>
              <a:t>倍。</a:t>
            </a:r>
          </a:p>
        </p:txBody>
      </p:sp>
      <p:graphicFrame>
        <p:nvGraphicFramePr>
          <p:cNvPr id="21" name="Object 6"/>
          <p:cNvGraphicFramePr>
            <a:graphicFrameLocks noChangeAspect="1"/>
          </p:cNvGraphicFramePr>
          <p:nvPr>
            <p:extLst>
              <p:ext uri="{D42A27DB-BD31-4B8C-83A1-F6EECF244321}">
                <p14:modId xmlns:p14="http://schemas.microsoft.com/office/powerpoint/2010/main" val="2058834139"/>
              </p:ext>
            </p:extLst>
          </p:nvPr>
        </p:nvGraphicFramePr>
        <p:xfrm>
          <a:off x="5255641" y="4185546"/>
          <a:ext cx="2672317" cy="1430655"/>
        </p:xfrm>
        <a:graphic>
          <a:graphicData uri="http://schemas.openxmlformats.org/presentationml/2006/ole">
            <mc:AlternateContent xmlns:mc="http://schemas.openxmlformats.org/markup-compatibility/2006">
              <mc:Choice xmlns:v="urn:schemas-microsoft-com:vml" Requires="v">
                <p:oleObj spid="_x0000_s51208" name="Equation" r:id="rId3" imgW="533169" imgH="380835" progId="">
                  <p:embed/>
                </p:oleObj>
              </mc:Choice>
              <mc:Fallback>
                <p:oleObj name="Equation" r:id="rId3" imgW="533169" imgH="380835" progId="">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5641" y="4185546"/>
                        <a:ext cx="2672317" cy="14306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文本框 60">
            <a:extLst>
              <a:ext uri="{FF2B5EF4-FFF2-40B4-BE49-F238E27FC236}">
                <a16:creationId xmlns:a16="http://schemas.microsoft.com/office/drawing/2014/main" xmlns="" id="{791D85D7-F412-9C48-9F2B-E33F5B7B4F3C}"/>
              </a:ext>
            </a:extLst>
          </p:cNvPr>
          <p:cNvSpPr txBox="1"/>
          <p:nvPr/>
        </p:nvSpPr>
        <p:spPr>
          <a:xfrm>
            <a:off x="1364781" y="293282"/>
            <a:ext cx="2312697"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像管的主要特性参数</a:t>
            </a:r>
            <a:endParaRPr lang="zh-CN" altLang="en-US" sz="1800" b="1" dirty="0">
              <a:latin typeface="微软雅黑" panose="020B0503020204020204" pitchFamily="34" charset="-122"/>
              <a:ea typeface="微软雅黑" panose="020B0503020204020204" pitchFamily="34" charset="-122"/>
            </a:endParaRPr>
          </a:p>
        </p:txBody>
      </p:sp>
      <p:cxnSp>
        <p:nvCxnSpPr>
          <p:cNvPr id="22"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2107096"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ox(in)">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ox(in)">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P spid="20"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Text Box 3"/>
          <p:cNvSpPr txBox="1">
            <a:spLocks noChangeArrowheads="1"/>
          </p:cNvSpPr>
          <p:nvPr/>
        </p:nvSpPr>
        <p:spPr bwMode="auto">
          <a:xfrm>
            <a:off x="4088116" y="1446122"/>
            <a:ext cx="4429125" cy="579438"/>
          </a:xfrm>
          <a:prstGeom prst="rect">
            <a:avLst/>
          </a:prstGeom>
          <a:gradFill>
            <a:gsLst>
              <a:gs pos="0">
                <a:srgbClr val="F79646"/>
              </a:gs>
              <a:gs pos="50000">
                <a:srgbClr val="4F81BD">
                  <a:tint val="44500"/>
                  <a:satMod val="160000"/>
                </a:srgbClr>
              </a:gs>
              <a:gs pos="100000">
                <a:srgbClr val="4F81BD">
                  <a:tint val="23500"/>
                  <a:satMod val="160000"/>
                </a:srgbClr>
              </a:gs>
            </a:gsLst>
            <a:lin ang="5400000" scaled="0"/>
          </a:gradFill>
          <a:ln w="9525">
            <a:noFill/>
            <a:miter lim="800000"/>
            <a:headEnd/>
            <a:tailEnd/>
          </a:ln>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3200" b="1"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itchFamily="34" charset="-122"/>
                <a:cs typeface="Times New Roman" pitchFamily="18" charset="0"/>
              </a:rPr>
              <a:t>3</a:t>
            </a:r>
            <a:r>
              <a:rPr kumimoji="1" lang="en-US" altLang="zh-CN" sz="3200" b="1" kern="0" dirty="0" smtClean="0">
                <a:solidFill>
                  <a:prstClr val="black"/>
                </a:solidFill>
                <a:latin typeface="Times New Roman" panose="02020603050405020304" pitchFamily="18" charset="0"/>
                <a:ea typeface="微软雅黑" pitchFamily="34" charset="-122"/>
                <a:cs typeface="Times New Roman" pitchFamily="18" charset="0"/>
              </a:rPr>
              <a:t>. </a:t>
            </a:r>
            <a:r>
              <a:rPr kumimoji="0" lang="zh-CN" altLang="en-US" sz="3200" b="1" i="0" u="none" strike="noStrike" kern="0" cap="none" spc="0" normalizeH="0" baseline="0" noProof="0" dirty="0" smtClean="0">
                <a:ln>
                  <a:noFill/>
                </a:ln>
                <a:solidFill>
                  <a:prstClr val="black"/>
                </a:solidFill>
                <a:effectLst/>
                <a:uLnTx/>
                <a:uFillTx/>
                <a:latin typeface="微软雅黑" pitchFamily="34" charset="-122"/>
                <a:ea typeface="微软雅黑" pitchFamily="34" charset="-122"/>
              </a:rPr>
              <a:t>像</a:t>
            </a:r>
            <a:r>
              <a:rPr kumimoji="0" lang="zh-CN" altLang="en-US" sz="3200" b="1" i="0" u="none" strike="noStrike" kern="0" cap="none" spc="0" normalizeH="0" baseline="0" noProof="0" dirty="0">
                <a:ln>
                  <a:noFill/>
                </a:ln>
                <a:solidFill>
                  <a:prstClr val="black"/>
                </a:solidFill>
                <a:effectLst/>
                <a:uLnTx/>
                <a:uFillTx/>
                <a:latin typeface="微软雅黑" pitchFamily="34" charset="-122"/>
                <a:ea typeface="微软雅黑" pitchFamily="34" charset="-122"/>
              </a:rPr>
              <a:t>管的光传递特性</a:t>
            </a:r>
            <a:endParaRPr kumimoji="1" lang="zh-CN" altLang="en-US" sz="3200" b="1" i="0" u="none" strike="noStrike" kern="0" cap="none" spc="0" normalizeH="0" baseline="0" noProof="0" dirty="0">
              <a:ln>
                <a:noFill/>
              </a:ln>
              <a:solidFill>
                <a:prstClr val="black"/>
              </a:solidFill>
              <a:effectLst/>
              <a:uLnTx/>
              <a:uFillTx/>
              <a:latin typeface="微软雅黑" pitchFamily="34" charset="-122"/>
              <a:ea typeface="微软雅黑" pitchFamily="34" charset="-122"/>
              <a:cs typeface="Times New Roman" pitchFamily="18" charset="0"/>
            </a:endParaRPr>
          </a:p>
        </p:txBody>
      </p:sp>
      <p:sp>
        <p:nvSpPr>
          <p:cNvPr id="22" name="TextBox 4"/>
          <p:cNvSpPr txBox="1">
            <a:spLocks noChangeArrowheads="1"/>
          </p:cNvSpPr>
          <p:nvPr/>
        </p:nvSpPr>
        <p:spPr bwMode="auto">
          <a:xfrm>
            <a:off x="1759585" y="3041301"/>
            <a:ext cx="10475087"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just" defTabSz="914400" eaLnBrk="1" hangingPunct="1">
              <a:lnSpc>
                <a:spcPct val="150000"/>
              </a:lnSpc>
            </a:pPr>
            <a:r>
              <a:rPr lang="en-US" altLang="zh-CN" sz="2800" b="1" dirty="0" smtClean="0">
                <a:solidFill>
                  <a:prstClr val="black"/>
                </a:solidFill>
                <a:ea typeface="微软雅黑" panose="020B0503020204020204" pitchFamily="34" charset="-122"/>
                <a:cs typeface="Times New Roman" panose="02020603050405020304" pitchFamily="18" charset="0"/>
              </a:rPr>
              <a:t>         </a:t>
            </a:r>
            <a:r>
              <a:rPr lang="zh-CN" altLang="en-US" sz="2800" b="1" dirty="0" smtClean="0">
                <a:solidFill>
                  <a:prstClr val="black"/>
                </a:solidFill>
                <a:ea typeface="微软雅黑" panose="020B0503020204020204" pitchFamily="34" charset="-122"/>
                <a:cs typeface="Times New Roman" panose="02020603050405020304" pitchFamily="18" charset="0"/>
              </a:rPr>
              <a:t>像管的光传递特性指输出亮度随入射照度变化的关系。当入射照度较低时，输出亮度同入射照度保持着线性，当入射照度大到某一值后，亮度不再增加，这个现象称为饱和。</a:t>
            </a:r>
          </a:p>
        </p:txBody>
      </p:sp>
      <p:sp>
        <p:nvSpPr>
          <p:cNvPr id="14" name="文本框 60">
            <a:extLst>
              <a:ext uri="{FF2B5EF4-FFF2-40B4-BE49-F238E27FC236}">
                <a16:creationId xmlns:a16="http://schemas.microsoft.com/office/drawing/2014/main" xmlns="" id="{791D85D7-F412-9C48-9F2B-E33F5B7B4F3C}"/>
              </a:ext>
            </a:extLst>
          </p:cNvPr>
          <p:cNvSpPr txBox="1"/>
          <p:nvPr/>
        </p:nvSpPr>
        <p:spPr>
          <a:xfrm>
            <a:off x="1364781" y="293282"/>
            <a:ext cx="2312697"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像管的主要特性参数</a:t>
            </a:r>
            <a:endParaRPr lang="zh-CN" altLang="en-US" sz="1800" b="1" dirty="0">
              <a:latin typeface="微软雅黑" panose="020B0503020204020204" pitchFamily="34" charset="-122"/>
              <a:ea typeface="微软雅黑" panose="020B0503020204020204" pitchFamily="34" charset="-122"/>
            </a:endParaRPr>
          </a:p>
        </p:txBody>
      </p:sp>
      <p:cxnSp>
        <p:nvCxnSpPr>
          <p:cNvPr id="20"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2107096"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ox(in)">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autoUpdateAnimBg="0"/>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4" name="Text Box 3"/>
          <p:cNvSpPr txBox="1">
            <a:spLocks noChangeArrowheads="1"/>
          </p:cNvSpPr>
          <p:nvPr/>
        </p:nvSpPr>
        <p:spPr bwMode="auto">
          <a:xfrm>
            <a:off x="4394711" y="1110349"/>
            <a:ext cx="4286250" cy="584200"/>
          </a:xfrm>
          <a:prstGeom prst="rect">
            <a:avLst/>
          </a:prstGeom>
          <a:gradFill>
            <a:gsLst>
              <a:gs pos="0">
                <a:srgbClr val="F79646"/>
              </a:gs>
              <a:gs pos="50000">
                <a:srgbClr val="4F81BD">
                  <a:tint val="44500"/>
                  <a:satMod val="160000"/>
                </a:srgbClr>
              </a:gs>
              <a:gs pos="100000">
                <a:srgbClr val="4F81BD">
                  <a:tint val="23500"/>
                  <a:satMod val="160000"/>
                </a:srgbClr>
              </a:gs>
            </a:gsLst>
            <a:lin ang="5400000" scaled="0"/>
          </a:gradFill>
          <a:ln w="9525">
            <a:noFill/>
            <a:miter lim="800000"/>
            <a:headEnd/>
            <a:tailEnd/>
          </a:ln>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3200" b="1" i="0" u="none" strike="noStrike" kern="0" cap="none" spc="0" normalizeH="0" baseline="0" noProof="0" dirty="0" smtClean="0">
                <a:ln>
                  <a:noFill/>
                </a:ln>
                <a:solidFill>
                  <a:prstClr val="black"/>
                </a:solidFill>
                <a:effectLst/>
                <a:uLnTx/>
                <a:uFillTx/>
                <a:latin typeface="Times New Roman" panose="02020603050405020304" pitchFamily="18" charset="0"/>
                <a:ea typeface="黑体" pitchFamily="2" charset="-122"/>
                <a:cs typeface="Times New Roman" pitchFamily="18" charset="0"/>
              </a:rPr>
              <a:t>4</a:t>
            </a:r>
            <a:r>
              <a:rPr kumimoji="1" lang="en-US" altLang="zh-CN" sz="3200" b="1" kern="0" dirty="0" smtClean="0">
                <a:solidFill>
                  <a:prstClr val="black"/>
                </a:solidFill>
                <a:latin typeface="Times New Roman" panose="02020603050405020304" pitchFamily="18" charset="0"/>
                <a:ea typeface="黑体" pitchFamily="2" charset="-122"/>
                <a:cs typeface="Times New Roman" pitchFamily="18" charset="0"/>
              </a:rPr>
              <a:t>. </a:t>
            </a:r>
            <a:r>
              <a:rPr kumimoji="0" lang="zh-CN" altLang="en-US" sz="3200" b="1" i="0" u="none" strike="noStrike" kern="0" cap="none" spc="0" normalizeH="0" baseline="0" noProof="0" dirty="0" smtClean="0">
                <a:ln>
                  <a:noFill/>
                </a:ln>
                <a:solidFill>
                  <a:prstClr val="black"/>
                </a:solidFill>
                <a:effectLst/>
                <a:uLnTx/>
                <a:uFillTx/>
                <a:latin typeface="微软雅黑" pitchFamily="34" charset="-122"/>
                <a:ea typeface="微软雅黑" pitchFamily="34" charset="-122"/>
              </a:rPr>
              <a:t>像</a:t>
            </a:r>
            <a:r>
              <a:rPr kumimoji="0" lang="zh-CN" altLang="en-US" sz="3200" b="1" i="0" u="none" strike="noStrike" kern="0" cap="none" spc="0" normalizeH="0" baseline="0" noProof="0" dirty="0">
                <a:ln>
                  <a:noFill/>
                </a:ln>
                <a:solidFill>
                  <a:prstClr val="black"/>
                </a:solidFill>
                <a:effectLst/>
                <a:uLnTx/>
                <a:uFillTx/>
                <a:latin typeface="微软雅黑" pitchFamily="34" charset="-122"/>
                <a:ea typeface="微软雅黑" pitchFamily="34" charset="-122"/>
              </a:rPr>
              <a:t>管的传像特性</a:t>
            </a:r>
            <a:endParaRPr kumimoji="1" lang="zh-CN" altLang="en-US" sz="3200" b="1" i="0" u="none" strike="noStrike" kern="0" cap="none" spc="0" normalizeH="0" baseline="0" noProof="0" dirty="0">
              <a:ln>
                <a:noFill/>
              </a:ln>
              <a:solidFill>
                <a:prstClr val="black"/>
              </a:solidFill>
              <a:effectLst/>
              <a:uLnTx/>
              <a:uFillTx/>
              <a:latin typeface="微软雅黑" pitchFamily="34" charset="-122"/>
              <a:ea typeface="微软雅黑" pitchFamily="34" charset="-122"/>
              <a:cs typeface="Times New Roman" pitchFamily="18" charset="0"/>
            </a:endParaRPr>
          </a:p>
        </p:txBody>
      </p:sp>
      <p:sp>
        <p:nvSpPr>
          <p:cNvPr id="20" name="Text Box 3"/>
          <p:cNvSpPr txBox="1">
            <a:spLocks noChangeArrowheads="1"/>
          </p:cNvSpPr>
          <p:nvPr/>
        </p:nvSpPr>
        <p:spPr bwMode="auto">
          <a:xfrm>
            <a:off x="1842897" y="2123086"/>
            <a:ext cx="10580687" cy="112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lnSpc>
                <a:spcPct val="125000"/>
              </a:lnSpc>
              <a:spcBef>
                <a:spcPct val="50000"/>
              </a:spcBef>
            </a:pPr>
            <a:r>
              <a:rPr lang="zh-CN" altLang="en-US" sz="2800" b="1" dirty="0" smtClean="0">
                <a:solidFill>
                  <a:prstClr val="black"/>
                </a:solidFill>
                <a:latin typeface="微软雅黑" panose="020B0503020204020204" pitchFamily="34" charset="-122"/>
                <a:ea typeface="微软雅黑" panose="020B0503020204020204" pitchFamily="34" charset="-122"/>
              </a:rPr>
              <a:t>        像管的传像特性指像管传递图像时，对图像几何形状的亮度分布的影响，主要研究像几何形状的影响。</a:t>
            </a:r>
          </a:p>
        </p:txBody>
      </p:sp>
      <p:sp>
        <p:nvSpPr>
          <p:cNvPr id="21" name="TextBox 6"/>
          <p:cNvSpPr txBox="1">
            <a:spLocks noChangeArrowheads="1"/>
          </p:cNvSpPr>
          <p:nvPr/>
        </p:nvSpPr>
        <p:spPr bwMode="auto">
          <a:xfrm>
            <a:off x="1842897" y="3411933"/>
            <a:ext cx="10580687" cy="112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lnSpc>
                <a:spcPct val="125000"/>
              </a:lnSpc>
            </a:pPr>
            <a:r>
              <a:rPr lang="en-US" altLang="zh-CN" sz="2800" b="1" dirty="0" smtClean="0">
                <a:solidFill>
                  <a:prstClr val="black"/>
                </a:solidFill>
                <a:latin typeface="微软雅黑" panose="020B0503020204020204" pitchFamily="34" charset="-122"/>
                <a:ea typeface="微软雅黑" panose="020B0503020204020204" pitchFamily="34" charset="-122"/>
              </a:rPr>
              <a:t>        </a:t>
            </a:r>
            <a:r>
              <a:rPr lang="zh-CN" altLang="en-US" sz="2800" b="1" dirty="0" smtClean="0">
                <a:solidFill>
                  <a:prstClr val="black"/>
                </a:solidFill>
                <a:latin typeface="微软雅黑" panose="020B0503020204020204" pitchFamily="34" charset="-122"/>
                <a:ea typeface="微软雅黑" panose="020B0503020204020204" pitchFamily="34" charset="-122"/>
              </a:rPr>
              <a:t>在像管中，影响图像几何形状的因素主要是电子光学系统，如光学系统的放大率及畸变。</a:t>
            </a:r>
          </a:p>
        </p:txBody>
      </p:sp>
      <p:graphicFrame>
        <p:nvGraphicFramePr>
          <p:cNvPr id="23" name="Object 2"/>
          <p:cNvGraphicFramePr>
            <a:graphicFrameLocks noChangeAspect="1"/>
          </p:cNvGraphicFramePr>
          <p:nvPr>
            <p:extLst>
              <p:ext uri="{D42A27DB-BD31-4B8C-83A1-F6EECF244321}">
                <p14:modId xmlns:p14="http://schemas.microsoft.com/office/powerpoint/2010/main" val="2965770181"/>
              </p:ext>
            </p:extLst>
          </p:nvPr>
        </p:nvGraphicFramePr>
        <p:xfrm>
          <a:off x="3788728" y="4832395"/>
          <a:ext cx="5922962" cy="1752600"/>
        </p:xfrm>
        <a:graphic>
          <a:graphicData uri="http://schemas.openxmlformats.org/presentationml/2006/ole">
            <mc:AlternateContent xmlns:mc="http://schemas.openxmlformats.org/markup-compatibility/2006">
              <mc:Choice xmlns:v="urn:schemas-microsoft-com:vml" Requires="v">
                <p:oleObj spid="_x0000_s53254" name="Visio" r:id="rId3" imgW="2533577" imgH="990630" progId="">
                  <p:embed/>
                </p:oleObj>
              </mc:Choice>
              <mc:Fallback>
                <p:oleObj name="Visio" r:id="rId3" imgW="2533577" imgH="99063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8728" y="4832395"/>
                        <a:ext cx="5922962" cy="175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矩形 23"/>
          <p:cNvSpPr/>
          <p:nvPr/>
        </p:nvSpPr>
        <p:spPr>
          <a:xfrm>
            <a:off x="5668628" y="6584995"/>
            <a:ext cx="2492990" cy="400110"/>
          </a:xfrm>
          <a:prstGeom prst="rect">
            <a:avLst/>
          </a:prstGeom>
        </p:spPr>
        <p:txBody>
          <a:bodyPr wrap="none">
            <a:spAutoFit/>
          </a:bodyPr>
          <a:lstStyle/>
          <a:p>
            <a:r>
              <a:rPr lang="zh-CN" altLang="en-US" b="1" dirty="0">
                <a:solidFill>
                  <a:srgbClr val="000000"/>
                </a:solidFill>
                <a:latin typeface="微软雅黑" panose="020B0503020204020204" pitchFamily="34" charset="-122"/>
                <a:ea typeface="微软雅黑" panose="020B0503020204020204" pitchFamily="34" charset="-122"/>
              </a:rPr>
              <a:t>成像器件的畸变图形</a:t>
            </a:r>
            <a:endParaRPr lang="zh-CN" altLang="en-US" dirty="0"/>
          </a:p>
        </p:txBody>
      </p:sp>
      <p:sp>
        <p:nvSpPr>
          <p:cNvPr id="22" name="文本框 60">
            <a:extLst>
              <a:ext uri="{FF2B5EF4-FFF2-40B4-BE49-F238E27FC236}">
                <a16:creationId xmlns:a16="http://schemas.microsoft.com/office/drawing/2014/main" xmlns="" id="{791D85D7-F412-9C48-9F2B-E33F5B7B4F3C}"/>
              </a:ext>
            </a:extLst>
          </p:cNvPr>
          <p:cNvSpPr txBox="1"/>
          <p:nvPr/>
        </p:nvSpPr>
        <p:spPr>
          <a:xfrm>
            <a:off x="1364781" y="293282"/>
            <a:ext cx="2312697"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像管的主要特性参数</a:t>
            </a:r>
            <a:endParaRPr lang="zh-CN" altLang="en-US" sz="1800" b="1" dirty="0">
              <a:latin typeface="微软雅黑" panose="020B0503020204020204" pitchFamily="34" charset="-122"/>
              <a:ea typeface="微软雅黑" panose="020B0503020204020204" pitchFamily="34" charset="-122"/>
            </a:endParaRPr>
          </a:p>
        </p:txBody>
      </p:sp>
      <p:cxnSp>
        <p:nvCxnSpPr>
          <p:cNvPr id="25"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2107096"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ox(in)">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ox(in)">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box(in)">
                                      <p:cBhvr>
                                        <p:cTn id="2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0" grpId="0"/>
      <p:bldP spid="21" grpId="0"/>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2" name="TextBox 21"/>
          <p:cNvSpPr txBox="1">
            <a:spLocks noChangeArrowheads="1"/>
          </p:cNvSpPr>
          <p:nvPr/>
        </p:nvSpPr>
        <p:spPr bwMode="auto">
          <a:xfrm>
            <a:off x="1410697" y="1795678"/>
            <a:ext cx="10636903"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sz="2400" b="1" dirty="0">
                <a:ea typeface="微软雅黑" panose="020B0503020204020204" pitchFamily="34" charset="-122"/>
                <a:cs typeface="Times New Roman" panose="02020603050405020304" pitchFamily="18" charset="0"/>
              </a:rPr>
              <a:t>变像管和像增强管是一种宽束电子光学系统的电真空器件，它的边缘由于透镜对不同的离轴距离的物点单向放大率不同而产生图像畸变。如图</a:t>
            </a:r>
            <a:r>
              <a:rPr lang="en-US" altLang="zh-CN" sz="2400" b="1" dirty="0">
                <a:ea typeface="微软雅黑" panose="020B0503020204020204" pitchFamily="34" charset="-122"/>
                <a:cs typeface="Times New Roman" panose="02020603050405020304" pitchFamily="18" charset="0"/>
              </a:rPr>
              <a:t>8-6</a:t>
            </a:r>
            <a:r>
              <a:rPr lang="zh-CN" altLang="en-US" sz="2400" b="1" dirty="0">
                <a:ea typeface="微软雅黑" panose="020B0503020204020204" pitchFamily="34" charset="-122"/>
                <a:cs typeface="Times New Roman" panose="02020603050405020304" pitchFamily="18" charset="0"/>
              </a:rPr>
              <a:t>所示，如果离轴越远的物点单向放大率比近轴放大率大，则产生</a:t>
            </a:r>
            <a:r>
              <a:rPr lang="en-US" sz="2400" b="1" dirty="0">
                <a:ea typeface="微软雅黑" panose="020B0503020204020204" pitchFamily="34" charset="-122"/>
                <a:cs typeface="Times New Roman" panose="02020603050405020304" pitchFamily="18" charset="0"/>
              </a:rPr>
              <a:t>“</a:t>
            </a:r>
            <a:r>
              <a:rPr lang="zh-CN" altLang="en-US" sz="2400" b="1" dirty="0">
                <a:ea typeface="微软雅黑" panose="020B0503020204020204" pitchFamily="34" charset="-122"/>
                <a:cs typeface="Times New Roman" panose="02020603050405020304" pitchFamily="18" charset="0"/>
              </a:rPr>
              <a:t>枕形</a:t>
            </a:r>
            <a:r>
              <a:rPr lang="en-US" sz="2400" b="1" dirty="0">
                <a:ea typeface="微软雅黑" panose="020B0503020204020204" pitchFamily="34" charset="-122"/>
                <a:cs typeface="Times New Roman" panose="02020603050405020304" pitchFamily="18" charset="0"/>
              </a:rPr>
              <a:t>”</a:t>
            </a:r>
            <a:r>
              <a:rPr lang="zh-CN" altLang="en-US" sz="2400" b="1" dirty="0">
                <a:ea typeface="微软雅黑" panose="020B0503020204020204" pitchFamily="34" charset="-122"/>
                <a:cs typeface="Times New Roman" panose="02020603050405020304" pitchFamily="18" charset="0"/>
              </a:rPr>
              <a:t>畸变</a:t>
            </a:r>
            <a:r>
              <a:rPr lang="en-US" altLang="zh-CN" sz="2400" b="1" dirty="0">
                <a:ea typeface="微软雅黑" panose="020B0503020204020204" pitchFamily="34" charset="-122"/>
                <a:cs typeface="Times New Roman" panose="02020603050405020304" pitchFamily="18" charset="0"/>
              </a:rPr>
              <a:t>(Pincushion Distortion)</a:t>
            </a:r>
            <a:r>
              <a:rPr lang="zh-CN" altLang="en-US" sz="2400" b="1" dirty="0">
                <a:ea typeface="微软雅黑" panose="020B0503020204020204" pitchFamily="34" charset="-122"/>
                <a:cs typeface="Times New Roman" panose="02020603050405020304" pitchFamily="18" charset="0"/>
              </a:rPr>
              <a:t>，如果离轴越远的物点单向放大率比近轴放大率小，则产生</a:t>
            </a:r>
            <a:r>
              <a:rPr lang="en-US" sz="2400" b="1" dirty="0">
                <a:ea typeface="微软雅黑" panose="020B0503020204020204" pitchFamily="34" charset="-122"/>
                <a:cs typeface="Times New Roman" panose="02020603050405020304" pitchFamily="18" charset="0"/>
              </a:rPr>
              <a:t>“</a:t>
            </a:r>
            <a:r>
              <a:rPr lang="zh-CN" altLang="en-US" sz="2400" b="1" dirty="0">
                <a:ea typeface="微软雅黑" panose="020B0503020204020204" pitchFamily="34" charset="-122"/>
                <a:cs typeface="Times New Roman" panose="02020603050405020304" pitchFamily="18" charset="0"/>
              </a:rPr>
              <a:t>桶形</a:t>
            </a:r>
            <a:r>
              <a:rPr lang="en-US" sz="2400" b="1" dirty="0">
                <a:ea typeface="微软雅黑" panose="020B0503020204020204" pitchFamily="34" charset="-122"/>
                <a:cs typeface="Times New Roman" panose="02020603050405020304" pitchFamily="18" charset="0"/>
              </a:rPr>
              <a:t>”</a:t>
            </a:r>
            <a:r>
              <a:rPr lang="zh-CN" altLang="en-US" sz="2400" b="1" dirty="0">
                <a:ea typeface="微软雅黑" panose="020B0503020204020204" pitchFamily="34" charset="-122"/>
                <a:cs typeface="Times New Roman" panose="02020603050405020304" pitchFamily="18" charset="0"/>
              </a:rPr>
              <a:t>畸变</a:t>
            </a:r>
            <a:r>
              <a:rPr lang="en-US" altLang="zh-CN" sz="2400" b="1" dirty="0">
                <a:ea typeface="微软雅黑" panose="020B0503020204020204" pitchFamily="34" charset="-122"/>
                <a:cs typeface="Times New Roman" panose="02020603050405020304" pitchFamily="18" charset="0"/>
              </a:rPr>
              <a:t>(Barrel Distortion)</a:t>
            </a:r>
            <a:r>
              <a:rPr lang="zh-CN" altLang="en-US" sz="2400" b="1" dirty="0">
                <a:ea typeface="微软雅黑" panose="020B0503020204020204" pitchFamily="34" charset="-122"/>
                <a:cs typeface="Times New Roman" panose="02020603050405020304" pitchFamily="18" charset="0"/>
              </a:rPr>
              <a:t>，至于产生</a:t>
            </a:r>
            <a:r>
              <a:rPr lang="en-US" sz="2400" b="1" dirty="0">
                <a:ea typeface="微软雅黑" panose="020B0503020204020204" pitchFamily="34" charset="-122"/>
                <a:cs typeface="Times New Roman" panose="02020603050405020304" pitchFamily="18" charset="0"/>
              </a:rPr>
              <a:t>“</a:t>
            </a:r>
            <a:r>
              <a:rPr lang="zh-CN" altLang="en-US" sz="2400" b="1" dirty="0">
                <a:ea typeface="微软雅黑" panose="020B0503020204020204" pitchFamily="34" charset="-122"/>
                <a:cs typeface="Times New Roman" panose="02020603050405020304" pitchFamily="18" charset="0"/>
              </a:rPr>
              <a:t>枕形</a:t>
            </a:r>
            <a:r>
              <a:rPr lang="en-US" sz="2400" b="1" dirty="0">
                <a:ea typeface="微软雅黑" panose="020B0503020204020204" pitchFamily="34" charset="-122"/>
                <a:cs typeface="Times New Roman" panose="02020603050405020304" pitchFamily="18" charset="0"/>
              </a:rPr>
              <a:t>”</a:t>
            </a:r>
            <a:r>
              <a:rPr lang="zh-CN" altLang="en-US" sz="2400" b="1" dirty="0">
                <a:ea typeface="微软雅黑" panose="020B0503020204020204" pitchFamily="34" charset="-122"/>
                <a:cs typeface="Times New Roman" panose="02020603050405020304" pitchFamily="18" charset="0"/>
              </a:rPr>
              <a:t>畸变还是</a:t>
            </a:r>
            <a:r>
              <a:rPr lang="en-US" sz="2400" b="1" dirty="0">
                <a:ea typeface="微软雅黑" panose="020B0503020204020204" pitchFamily="34" charset="-122"/>
                <a:cs typeface="Times New Roman" panose="02020603050405020304" pitchFamily="18" charset="0"/>
              </a:rPr>
              <a:t>“</a:t>
            </a:r>
            <a:r>
              <a:rPr lang="zh-CN" altLang="en-US" sz="2400" b="1" dirty="0">
                <a:ea typeface="微软雅黑" panose="020B0503020204020204" pitchFamily="34" charset="-122"/>
                <a:cs typeface="Times New Roman" panose="02020603050405020304" pitchFamily="18" charset="0"/>
              </a:rPr>
              <a:t>桶形</a:t>
            </a:r>
            <a:r>
              <a:rPr lang="en-US" sz="2400" b="1" dirty="0">
                <a:ea typeface="微软雅黑" panose="020B0503020204020204" pitchFamily="34" charset="-122"/>
                <a:cs typeface="Times New Roman" panose="02020603050405020304" pitchFamily="18" charset="0"/>
              </a:rPr>
              <a:t>”</a:t>
            </a:r>
            <a:r>
              <a:rPr lang="zh-CN" altLang="en-US" sz="2400" b="1" dirty="0">
                <a:ea typeface="微软雅黑" panose="020B0503020204020204" pitchFamily="34" charset="-122"/>
                <a:cs typeface="Times New Roman" panose="02020603050405020304" pitchFamily="18" charset="0"/>
              </a:rPr>
              <a:t>畸变，由透镜场的结构所决定。</a:t>
            </a:r>
          </a:p>
        </p:txBody>
      </p:sp>
      <p:sp>
        <p:nvSpPr>
          <p:cNvPr id="10" name="文本框 60">
            <a:extLst>
              <a:ext uri="{FF2B5EF4-FFF2-40B4-BE49-F238E27FC236}">
                <a16:creationId xmlns:a16="http://schemas.microsoft.com/office/drawing/2014/main" xmlns="" id="{791D85D7-F412-9C48-9F2B-E33F5B7B4F3C}"/>
              </a:ext>
            </a:extLst>
          </p:cNvPr>
          <p:cNvSpPr txBox="1"/>
          <p:nvPr/>
        </p:nvSpPr>
        <p:spPr>
          <a:xfrm>
            <a:off x="1364781" y="293282"/>
            <a:ext cx="2312697"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像管的主要特性参数</a:t>
            </a:r>
            <a:endParaRPr lang="zh-CN" altLang="en-US" sz="1800" b="1" dirty="0">
              <a:latin typeface="微软雅黑" panose="020B0503020204020204" pitchFamily="34" charset="-122"/>
              <a:ea typeface="微软雅黑" panose="020B0503020204020204" pitchFamily="34" charset="-122"/>
            </a:endParaRPr>
          </a:p>
        </p:txBody>
      </p:sp>
      <p:cxnSp>
        <p:nvCxnSpPr>
          <p:cNvPr id="12"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2107096"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0" name="TextBox 3"/>
          <p:cNvSpPr txBox="1">
            <a:spLocks noChangeArrowheads="1"/>
          </p:cNvSpPr>
          <p:nvPr/>
        </p:nvSpPr>
        <p:spPr bwMode="auto">
          <a:xfrm>
            <a:off x="1185863" y="2410496"/>
            <a:ext cx="1189364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400" b="1" dirty="0">
                <a:ea typeface="微软雅黑" panose="020B0503020204020204" pitchFamily="34" charset="-122"/>
                <a:cs typeface="Times New Roman" panose="02020603050405020304" pitchFamily="18" charset="0"/>
              </a:rPr>
              <a:t>	</a:t>
            </a:r>
            <a:r>
              <a:rPr lang="zh-CN" altLang="en-US" sz="2400" b="1" dirty="0">
                <a:ea typeface="微软雅黑" panose="020B0503020204020204" pitchFamily="34" charset="-122"/>
                <a:cs typeface="Times New Roman" panose="02020603050405020304" pitchFamily="18" charset="0"/>
              </a:rPr>
              <a:t>空间分辨率</a:t>
            </a:r>
            <a:r>
              <a:rPr lang="en-US" altLang="zh-CN" sz="2400" b="1" dirty="0">
                <a:ea typeface="微软雅黑" panose="020B0503020204020204" pitchFamily="34" charset="-122"/>
                <a:cs typeface="Times New Roman" panose="02020603050405020304" pitchFamily="18" charset="0"/>
              </a:rPr>
              <a:t>(Spatial Resolution)</a:t>
            </a:r>
            <a:r>
              <a:rPr lang="zh-CN" altLang="en-US" sz="2400" b="1" dirty="0">
                <a:ea typeface="微软雅黑" panose="020B0503020204020204" pitchFamily="34" charset="-122"/>
                <a:cs typeface="Times New Roman" panose="02020603050405020304" pitchFamily="18" charset="0"/>
              </a:rPr>
              <a:t>指成像系统能够将两个相隔极近目标的像刚好分辨清的能力，它反映了系统的成像和传像能力，单位是线对</a:t>
            </a:r>
            <a:r>
              <a:rPr lang="en-US" altLang="zh-CN" sz="2400" b="1" dirty="0">
                <a:ea typeface="微软雅黑" panose="020B0503020204020204" pitchFamily="34" charset="-122"/>
                <a:cs typeface="Times New Roman" panose="02020603050405020304" pitchFamily="18" charset="0"/>
              </a:rPr>
              <a:t>(Line Pair)</a:t>
            </a:r>
            <a:r>
              <a:rPr lang="zh-CN" altLang="en-US" sz="2400" b="1" dirty="0">
                <a:ea typeface="微软雅黑" panose="020B0503020204020204" pitchFamily="34" charset="-122"/>
                <a:cs typeface="Times New Roman" panose="02020603050405020304" pitchFamily="18" charset="0"/>
              </a:rPr>
              <a:t>每毫米</a:t>
            </a:r>
            <a:r>
              <a:rPr lang="en-US" altLang="zh-CN" sz="2400" b="1" dirty="0">
                <a:ea typeface="微软雅黑" panose="020B0503020204020204" pitchFamily="34" charset="-122"/>
                <a:cs typeface="Times New Roman" panose="02020603050405020304" pitchFamily="18" charset="0"/>
              </a:rPr>
              <a:t>(</a:t>
            </a:r>
            <a:r>
              <a:rPr lang="en-US" altLang="zh-CN" sz="2400" b="1" dirty="0" err="1">
                <a:ea typeface="微软雅黑" panose="020B0503020204020204" pitchFamily="34" charset="-122"/>
                <a:cs typeface="Times New Roman" panose="02020603050405020304" pitchFamily="18" charset="0"/>
              </a:rPr>
              <a:t>lp</a:t>
            </a:r>
            <a:r>
              <a:rPr lang="en-US" altLang="zh-CN" sz="2400" b="1" dirty="0">
                <a:ea typeface="微软雅黑" panose="020B0503020204020204" pitchFamily="34" charset="-122"/>
                <a:cs typeface="Times New Roman" panose="02020603050405020304" pitchFamily="18" charset="0"/>
              </a:rPr>
              <a:t>/mm)</a:t>
            </a:r>
            <a:r>
              <a:rPr lang="zh-CN" altLang="en-US" sz="2400" b="1" dirty="0">
                <a:ea typeface="微软雅黑" panose="020B0503020204020204" pitchFamily="34" charset="-122"/>
                <a:cs typeface="Times New Roman" panose="02020603050405020304" pitchFamily="18" charset="0"/>
              </a:rPr>
              <a:t>。</a:t>
            </a:r>
          </a:p>
        </p:txBody>
      </p:sp>
      <p:sp>
        <p:nvSpPr>
          <p:cNvPr id="12" name="TextBox 11"/>
          <p:cNvSpPr txBox="1">
            <a:spLocks noChangeArrowheads="1"/>
          </p:cNvSpPr>
          <p:nvPr/>
        </p:nvSpPr>
        <p:spPr bwMode="auto">
          <a:xfrm>
            <a:off x="1081088" y="4217055"/>
            <a:ext cx="1183705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400" b="1" dirty="0">
                <a:ea typeface="微软雅黑" panose="020B0503020204020204" pitchFamily="34" charset="-122"/>
                <a:cs typeface="Times New Roman" panose="02020603050405020304" pitchFamily="18" charset="0"/>
              </a:rPr>
              <a:t>	</a:t>
            </a:r>
            <a:r>
              <a:rPr lang="zh-CN" altLang="en-US" sz="2400" b="1" dirty="0">
                <a:ea typeface="微软雅黑" panose="020B0503020204020204" pitchFamily="34" charset="-122"/>
                <a:cs typeface="Times New Roman" panose="02020603050405020304" pitchFamily="18" charset="0"/>
              </a:rPr>
              <a:t>例如：某像管的分辨率是</a:t>
            </a:r>
            <a:r>
              <a:rPr lang="en-US" altLang="zh-CN" sz="2400" b="1" dirty="0">
                <a:ea typeface="微软雅黑" panose="020B0503020204020204" pitchFamily="34" charset="-122"/>
                <a:cs typeface="Times New Roman" panose="02020603050405020304" pitchFamily="18" charset="0"/>
              </a:rPr>
              <a:t>30lp/mm</a:t>
            </a:r>
            <a:r>
              <a:rPr lang="zh-CN" altLang="en-US" sz="2400" b="1" dirty="0">
                <a:ea typeface="微软雅黑" panose="020B0503020204020204" pitchFamily="34" charset="-122"/>
                <a:cs typeface="Times New Roman" panose="02020603050405020304" pitchFamily="18" charset="0"/>
              </a:rPr>
              <a:t>，就是指空间频率数小于或等于</a:t>
            </a:r>
            <a:r>
              <a:rPr lang="en-US" altLang="zh-CN" sz="2400" b="1" dirty="0">
                <a:ea typeface="微软雅黑" panose="020B0503020204020204" pitchFamily="34" charset="-122"/>
                <a:cs typeface="Times New Roman" panose="02020603050405020304" pitchFamily="18" charset="0"/>
              </a:rPr>
              <a:t>30lp/mm</a:t>
            </a:r>
            <a:r>
              <a:rPr lang="zh-CN" altLang="en-US" sz="2400" b="1" dirty="0">
                <a:ea typeface="微软雅黑" panose="020B0503020204020204" pitchFamily="34" charset="-122"/>
                <a:cs typeface="Times New Roman" panose="02020603050405020304" pitchFamily="18" charset="0"/>
              </a:rPr>
              <a:t>，对比度为</a:t>
            </a:r>
            <a:r>
              <a:rPr lang="en-US" altLang="zh-CN" sz="2400" b="1" dirty="0">
                <a:ea typeface="微软雅黑" panose="020B0503020204020204" pitchFamily="34" charset="-122"/>
                <a:cs typeface="Times New Roman" panose="02020603050405020304" pitchFamily="18" charset="0"/>
              </a:rPr>
              <a:t>100%</a:t>
            </a:r>
            <a:r>
              <a:rPr lang="zh-CN" altLang="en-US" sz="2400" b="1" dirty="0">
                <a:ea typeface="微软雅黑" panose="020B0503020204020204" pitchFamily="34" charset="-122"/>
                <a:cs typeface="Times New Roman" panose="02020603050405020304" pitchFamily="18" charset="0"/>
              </a:rPr>
              <a:t>的测试图案经过像管后能看清，而大于</a:t>
            </a:r>
            <a:r>
              <a:rPr lang="en-US" altLang="zh-CN" sz="2400" b="1" dirty="0">
                <a:ea typeface="微软雅黑" panose="020B0503020204020204" pitchFamily="34" charset="-122"/>
                <a:cs typeface="Times New Roman" panose="02020603050405020304" pitchFamily="18" charset="0"/>
              </a:rPr>
              <a:t>30lp/mm</a:t>
            </a:r>
            <a:r>
              <a:rPr lang="zh-CN" altLang="en-US" sz="2400" b="1" dirty="0">
                <a:ea typeface="微软雅黑" panose="020B0503020204020204" pitchFamily="34" charset="-122"/>
                <a:cs typeface="Times New Roman" panose="02020603050405020304" pitchFamily="18" charset="0"/>
              </a:rPr>
              <a:t>的测试图案则模糊不清，就是再放大几倍也分辨不出条纹。</a:t>
            </a:r>
          </a:p>
        </p:txBody>
      </p:sp>
      <p:sp>
        <p:nvSpPr>
          <p:cNvPr id="14" name="Text Box 4"/>
          <p:cNvSpPr txBox="1">
            <a:spLocks noChangeArrowheads="1"/>
          </p:cNvSpPr>
          <p:nvPr/>
        </p:nvSpPr>
        <p:spPr bwMode="auto">
          <a:xfrm>
            <a:off x="3598395" y="1210158"/>
            <a:ext cx="4643438" cy="579437"/>
          </a:xfrm>
          <a:prstGeom prst="rect">
            <a:avLst/>
          </a:prstGeom>
          <a:gradFill>
            <a:gsLst>
              <a:gs pos="0">
                <a:srgbClr val="F79646"/>
              </a:gs>
              <a:gs pos="50000">
                <a:srgbClr val="4F81BD">
                  <a:tint val="44500"/>
                  <a:satMod val="160000"/>
                </a:srgbClr>
              </a:gs>
              <a:gs pos="100000">
                <a:srgbClr val="4F81BD">
                  <a:tint val="23500"/>
                  <a:satMod val="160000"/>
                </a:srgbClr>
              </a:gs>
            </a:gsLst>
            <a:lin ang="5400000" scaled="0"/>
          </a:gradFill>
          <a:ln w="9525">
            <a:noFill/>
            <a:miter lim="800000"/>
            <a:headEnd/>
            <a:tailEnd/>
          </a:ln>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3200" b="1" i="0" u="none" strike="noStrike" kern="0" cap="none" spc="0" normalizeH="0" baseline="0" noProof="0" dirty="0">
                <a:ln>
                  <a:noFill/>
                </a:ln>
                <a:solidFill>
                  <a:prstClr val="black"/>
                </a:solidFill>
                <a:effectLst/>
                <a:uLnTx/>
                <a:uFillTx/>
                <a:latin typeface="微软雅黑" pitchFamily="34" charset="-122"/>
                <a:ea typeface="微软雅黑" pitchFamily="34" charset="-122"/>
              </a:rPr>
              <a:t>5</a:t>
            </a:r>
            <a:r>
              <a:rPr kumimoji="1" lang="zh-CN" altLang="en-US" sz="3200" b="1" i="0" u="none" strike="noStrike" kern="0" cap="none" spc="0" normalizeH="0" baseline="0" noProof="0" dirty="0">
                <a:ln>
                  <a:noFill/>
                </a:ln>
                <a:solidFill>
                  <a:prstClr val="black"/>
                </a:solidFill>
                <a:effectLst/>
                <a:uLnTx/>
                <a:uFillTx/>
                <a:latin typeface="微软雅黑" pitchFamily="34" charset="-122"/>
                <a:ea typeface="微软雅黑" pitchFamily="34" charset="-122"/>
              </a:rPr>
              <a:t>、</a:t>
            </a:r>
            <a:r>
              <a:rPr kumimoji="0" lang="zh-CN" altLang="en-US" sz="3200" b="1" i="0" u="none" strike="noStrike" kern="0" cap="none" spc="0" normalizeH="0" baseline="0" noProof="0" dirty="0">
                <a:ln>
                  <a:noFill/>
                </a:ln>
                <a:solidFill>
                  <a:prstClr val="black"/>
                </a:solidFill>
                <a:effectLst/>
                <a:uLnTx/>
                <a:uFillTx/>
                <a:latin typeface="微软雅黑" pitchFamily="34" charset="-122"/>
                <a:ea typeface="微软雅黑" pitchFamily="34" charset="-122"/>
              </a:rPr>
              <a:t>像管的空间分辨特性</a:t>
            </a:r>
            <a:endParaRPr kumimoji="1" lang="zh-CN" altLang="en-US" sz="3200" b="1"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p:txBody>
      </p:sp>
      <p:sp>
        <p:nvSpPr>
          <p:cNvPr id="20" name="文本框 60">
            <a:extLst>
              <a:ext uri="{FF2B5EF4-FFF2-40B4-BE49-F238E27FC236}">
                <a16:creationId xmlns:a16="http://schemas.microsoft.com/office/drawing/2014/main" xmlns="" id="{791D85D7-F412-9C48-9F2B-E33F5B7B4F3C}"/>
              </a:ext>
            </a:extLst>
          </p:cNvPr>
          <p:cNvSpPr txBox="1"/>
          <p:nvPr/>
        </p:nvSpPr>
        <p:spPr>
          <a:xfrm>
            <a:off x="1364781" y="293282"/>
            <a:ext cx="2312697"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像管的主要特性参数</a:t>
            </a:r>
            <a:endParaRPr lang="zh-CN" altLang="en-US" sz="1800" b="1" dirty="0">
              <a:latin typeface="微软雅黑" panose="020B0503020204020204" pitchFamily="34" charset="-122"/>
              <a:ea typeface="微软雅黑" panose="020B0503020204020204" pitchFamily="34" charset="-122"/>
            </a:endParaRPr>
          </a:p>
        </p:txBody>
      </p:sp>
      <p:cxnSp>
        <p:nvCxnSpPr>
          <p:cNvPr id="21"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2107096"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ox(in)">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364781" y="293282"/>
            <a:ext cx="1445966"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红外变像管</a:t>
            </a:r>
            <a:endParaRPr lang="zh-CN" altLang="en-US" sz="1800" b="1" dirty="0">
              <a:latin typeface="微软雅黑" panose="020B0503020204020204" pitchFamily="34" charset="-122"/>
              <a:ea typeface="微软雅黑" panose="020B0503020204020204" pitchFamily="34" charset="-122"/>
            </a:endParaRPr>
          </a:p>
        </p:txBody>
      </p:sp>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1212574"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2" name="矩形: 圆角 18">
            <a:extLst>
              <a:ext uri="{FF2B5EF4-FFF2-40B4-BE49-F238E27FC236}">
                <a16:creationId xmlns:a16="http://schemas.microsoft.com/office/drawing/2014/main" xmlns="" id="{71B2A563-AC54-5347-B843-4478DF223CDE}"/>
              </a:ext>
            </a:extLst>
          </p:cNvPr>
          <p:cNvSpPr/>
          <p:nvPr/>
        </p:nvSpPr>
        <p:spPr>
          <a:xfrm>
            <a:off x="5070624" y="3476625"/>
            <a:ext cx="4462149" cy="850403"/>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smtClean="0">
                <a:latin typeface="微软雅黑" panose="020B0503020204020204" pitchFamily="34" charset="-122"/>
                <a:ea typeface="微软雅黑" panose="020B0503020204020204" pitchFamily="34" charset="-122"/>
              </a:rPr>
              <a:t>红外变像管</a:t>
            </a:r>
            <a:endParaRPr lang="zh-CN" altLang="en-US" sz="4000" b="1" dirty="0">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xmlns="" id="{045D4FB5-3BA7-4366-9C2A-762F1105D91A}"/>
              </a:ext>
            </a:extLst>
          </p:cNvPr>
          <p:cNvSpPr/>
          <p:nvPr/>
        </p:nvSpPr>
        <p:spPr>
          <a:xfrm>
            <a:off x="2860247" y="3283064"/>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7.1.3</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Text Box 3"/>
          <p:cNvSpPr txBox="1">
            <a:spLocks noChangeArrowheads="1"/>
          </p:cNvSpPr>
          <p:nvPr/>
        </p:nvSpPr>
        <p:spPr bwMode="auto">
          <a:xfrm>
            <a:off x="1506071" y="2296085"/>
            <a:ext cx="11430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en-US" altLang="zh-CN" sz="2400" dirty="0">
                <a:ea typeface="微软雅黑" panose="020B0503020204020204" pitchFamily="34" charset="-122"/>
                <a:cs typeface="Times New Roman" panose="02020603050405020304" pitchFamily="18" charset="0"/>
              </a:rPr>
              <a:t>	 </a:t>
            </a:r>
            <a:r>
              <a:rPr kumimoji="1" lang="zh-CN" altLang="en-US" sz="2400" b="1" dirty="0">
                <a:ea typeface="微软雅黑" panose="020B0503020204020204" pitchFamily="34" charset="-122"/>
                <a:cs typeface="Times New Roman" panose="02020603050405020304" pitchFamily="18" charset="0"/>
              </a:rPr>
              <a:t>红外变像管的光电阴极多为</a:t>
            </a:r>
            <a:r>
              <a:rPr kumimoji="1" lang="en-US" altLang="zh-CN" sz="2400" b="1" dirty="0">
                <a:ea typeface="微软雅黑" panose="020B0503020204020204" pitchFamily="34" charset="-122"/>
                <a:cs typeface="Times New Roman" panose="02020603050405020304" pitchFamily="18" charset="0"/>
              </a:rPr>
              <a:t>Ag-O-Cs</a:t>
            </a:r>
            <a:r>
              <a:rPr kumimoji="1" lang="zh-CN" altLang="en-US" sz="2400" b="1" dirty="0">
                <a:ea typeface="微软雅黑" panose="020B0503020204020204" pitchFamily="34" charset="-122"/>
                <a:cs typeface="Times New Roman" panose="02020603050405020304" pitchFamily="18" charset="0"/>
              </a:rPr>
              <a:t>阴极，它可以使波长小于</a:t>
            </a:r>
            <a:r>
              <a:rPr kumimoji="1" lang="en-US" altLang="zh-CN" sz="2400" b="1" dirty="0">
                <a:ea typeface="微软雅黑" panose="020B0503020204020204" pitchFamily="34" charset="-122"/>
                <a:cs typeface="Times New Roman" panose="02020603050405020304" pitchFamily="18" charset="0"/>
              </a:rPr>
              <a:t>1.15μm</a:t>
            </a:r>
            <a:r>
              <a:rPr kumimoji="1" lang="zh-CN" altLang="en-US" sz="2400" b="1" dirty="0">
                <a:ea typeface="微软雅黑" panose="020B0503020204020204" pitchFamily="34" charset="-122"/>
                <a:cs typeface="Times New Roman" panose="02020603050405020304" pitchFamily="18" charset="0"/>
              </a:rPr>
              <a:t>的红外光变成光电子。</a:t>
            </a:r>
          </a:p>
        </p:txBody>
      </p:sp>
      <p:sp>
        <p:nvSpPr>
          <p:cNvPr id="14" name="Text Box 3"/>
          <p:cNvSpPr txBox="1">
            <a:spLocks noChangeArrowheads="1"/>
          </p:cNvSpPr>
          <p:nvPr/>
        </p:nvSpPr>
        <p:spPr bwMode="auto">
          <a:xfrm>
            <a:off x="2723310" y="3653398"/>
            <a:ext cx="81438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zh-CN" altLang="en-US" sz="2400" b="1">
                <a:ea typeface="微软雅黑" panose="020B0503020204020204" pitchFamily="34" charset="-122"/>
                <a:cs typeface="Times New Roman" panose="02020603050405020304" pitchFamily="18" charset="0"/>
              </a:rPr>
              <a:t>对于波长大于</a:t>
            </a:r>
            <a:r>
              <a:rPr kumimoji="1" lang="en-US" altLang="zh-CN" sz="2400" b="1">
                <a:ea typeface="微软雅黑" panose="020B0503020204020204" pitchFamily="34" charset="-122"/>
                <a:cs typeface="Times New Roman" panose="02020603050405020304" pitchFamily="18" charset="0"/>
              </a:rPr>
              <a:t>1.15μm</a:t>
            </a:r>
            <a:r>
              <a:rPr kumimoji="1" lang="zh-CN" altLang="en-US" sz="2400" b="1">
                <a:ea typeface="微软雅黑" panose="020B0503020204020204" pitchFamily="34" charset="-122"/>
                <a:cs typeface="Times New Roman" panose="02020603050405020304" pitchFamily="18" charset="0"/>
              </a:rPr>
              <a:t>的红外光，采用负电子亲和势阴极。</a:t>
            </a:r>
          </a:p>
        </p:txBody>
      </p:sp>
      <p:sp>
        <p:nvSpPr>
          <p:cNvPr id="22" name="Text Box 3"/>
          <p:cNvSpPr txBox="1">
            <a:spLocks noChangeArrowheads="1"/>
          </p:cNvSpPr>
          <p:nvPr/>
        </p:nvSpPr>
        <p:spPr bwMode="auto">
          <a:xfrm>
            <a:off x="1185864" y="4781955"/>
            <a:ext cx="1160677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en-US" altLang="zh-CN" sz="2400" b="1" dirty="0">
                <a:ea typeface="微软雅黑" panose="020B0503020204020204" pitchFamily="34" charset="-122"/>
                <a:cs typeface="Times New Roman" panose="02020603050405020304" pitchFamily="18" charset="0"/>
              </a:rPr>
              <a:t>	</a:t>
            </a:r>
            <a:r>
              <a:rPr kumimoji="1" lang="zh-CN" altLang="en-US" sz="2400" b="1" dirty="0">
                <a:ea typeface="微软雅黑" panose="020B0503020204020204" pitchFamily="34" charset="-122"/>
                <a:cs typeface="Times New Roman" panose="02020603050405020304" pitchFamily="18" charset="0"/>
              </a:rPr>
              <a:t>有的变像管也采用光电导技术，使红外光成象到光电导靶面上，在靶的另一边形成电势分布图象，使入射的电子流受到调制，利用返回的电子流使荧光面发光。 </a:t>
            </a:r>
          </a:p>
        </p:txBody>
      </p:sp>
      <p:sp>
        <p:nvSpPr>
          <p:cNvPr id="20" name="文本框 60">
            <a:extLst>
              <a:ext uri="{FF2B5EF4-FFF2-40B4-BE49-F238E27FC236}">
                <a16:creationId xmlns:a16="http://schemas.microsoft.com/office/drawing/2014/main" xmlns="" id="{791D85D7-F412-9C48-9F2B-E33F5B7B4F3C}"/>
              </a:ext>
            </a:extLst>
          </p:cNvPr>
          <p:cNvSpPr txBox="1"/>
          <p:nvPr/>
        </p:nvSpPr>
        <p:spPr>
          <a:xfrm>
            <a:off x="1364781" y="293282"/>
            <a:ext cx="1445966"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红外变像管</a:t>
            </a:r>
            <a:endParaRPr lang="zh-CN" altLang="en-US" sz="1800" b="1" dirty="0">
              <a:latin typeface="微软雅黑" panose="020B0503020204020204" pitchFamily="34" charset="-122"/>
              <a:ea typeface="微软雅黑" panose="020B0503020204020204" pitchFamily="34" charset="-122"/>
            </a:endParaRPr>
          </a:p>
        </p:txBody>
      </p:sp>
      <p:cxnSp>
        <p:nvCxnSpPr>
          <p:cNvPr id="21"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1212574"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ox(i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box(in)">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0" name="Text Box 2"/>
          <p:cNvSpPr txBox="1">
            <a:spLocks noChangeArrowheads="1"/>
          </p:cNvSpPr>
          <p:nvPr/>
        </p:nvSpPr>
        <p:spPr bwMode="auto">
          <a:xfrm>
            <a:off x="4092934" y="1078859"/>
            <a:ext cx="4857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defTabSz="914400" eaLnBrk="1" hangingPunct="1">
              <a:spcBef>
                <a:spcPct val="50000"/>
              </a:spcBef>
            </a:pPr>
            <a:r>
              <a:rPr kumimoji="1" lang="en-US" altLang="zh-CN" b="1" dirty="0" smtClean="0">
                <a:solidFill>
                  <a:srgbClr val="0000CC"/>
                </a:solidFill>
                <a:ea typeface="微软雅黑" panose="020B0503020204020204" pitchFamily="34" charset="-122"/>
                <a:cs typeface="Times New Roman" panose="02020603050405020304" pitchFamily="18" charset="0"/>
              </a:rPr>
              <a:t> </a:t>
            </a:r>
            <a:r>
              <a:rPr kumimoji="1" lang="zh-CN" altLang="en-US" b="1" dirty="0" smtClean="0">
                <a:solidFill>
                  <a:srgbClr val="0000CC"/>
                </a:solidFill>
                <a:ea typeface="微软雅黑" panose="020B0503020204020204" pitchFamily="34" charset="-122"/>
                <a:cs typeface="Times New Roman" panose="02020603050405020304" pitchFamily="18" charset="0"/>
              </a:rPr>
              <a:t>红外变像管</a:t>
            </a:r>
          </a:p>
        </p:txBody>
      </p:sp>
      <p:sp>
        <p:nvSpPr>
          <p:cNvPr id="21" name="Text Box 3"/>
          <p:cNvSpPr txBox="1">
            <a:spLocks noChangeArrowheads="1"/>
          </p:cNvSpPr>
          <p:nvPr/>
        </p:nvSpPr>
        <p:spPr bwMode="auto">
          <a:xfrm>
            <a:off x="1245225" y="1833537"/>
            <a:ext cx="1051179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lnSpc>
                <a:spcPct val="150000"/>
              </a:lnSpc>
              <a:spcBef>
                <a:spcPct val="50000"/>
              </a:spcBef>
            </a:pPr>
            <a:r>
              <a:rPr kumimoji="1" lang="en-US" altLang="zh-CN" sz="2800" dirty="0" smtClean="0">
                <a:solidFill>
                  <a:prstClr val="black"/>
                </a:solidFill>
                <a:ea typeface="微软雅黑" panose="020B0503020204020204" pitchFamily="34" charset="-122"/>
                <a:cs typeface="Times New Roman" panose="02020603050405020304" pitchFamily="18" charset="0"/>
              </a:rPr>
              <a:t>        </a:t>
            </a:r>
            <a:r>
              <a:rPr kumimoji="1" lang="zh-CN" altLang="en-US" sz="2800" b="1" dirty="0" smtClean="0">
                <a:solidFill>
                  <a:prstClr val="black"/>
                </a:solidFill>
                <a:ea typeface="微软雅黑" panose="020B0503020204020204" pitchFamily="34" charset="-122"/>
                <a:cs typeface="Times New Roman" panose="02020603050405020304" pitchFamily="18" charset="0"/>
              </a:rPr>
              <a:t>红外变像管是能将不可见的近红外辐射图像转变为可见光图像的光电成像器件。</a:t>
            </a:r>
          </a:p>
        </p:txBody>
      </p:sp>
      <p:pic>
        <p:nvPicPr>
          <p:cNvPr id="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9584" y="4566590"/>
            <a:ext cx="33337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椭圆 23"/>
          <p:cNvSpPr/>
          <p:nvPr/>
        </p:nvSpPr>
        <p:spPr>
          <a:xfrm rot="2589338">
            <a:off x="7134584" y="4018902"/>
            <a:ext cx="447675" cy="79375"/>
          </a:xfrm>
          <a:prstGeom prst="ellipse">
            <a:avLst/>
          </a:prstGeom>
          <a:solidFill>
            <a:srgbClr val="1F497D">
              <a:lumMod val="60000"/>
              <a:lumOff val="40000"/>
            </a:srgbClr>
          </a:solidFill>
          <a:ln w="25400" cap="flat" cmpd="sng" algn="ctr">
            <a:solidFill>
              <a:srgbClr val="1F497D">
                <a:lumMod val="60000"/>
                <a:lumOff val="4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cxnSp>
        <p:nvCxnSpPr>
          <p:cNvPr id="25" name="直接箭头连接符 24"/>
          <p:cNvCxnSpPr/>
          <p:nvPr/>
        </p:nvCxnSpPr>
        <p:spPr>
          <a:xfrm rot="5400000">
            <a:off x="7102834" y="4036364"/>
            <a:ext cx="482600" cy="142875"/>
          </a:xfrm>
          <a:prstGeom prst="straightConnector1">
            <a:avLst/>
          </a:prstGeom>
          <a:noFill/>
          <a:ln w="19050" cap="flat" cmpd="sng" algn="ctr">
            <a:solidFill>
              <a:srgbClr val="FF0000"/>
            </a:solidFill>
            <a:prstDash val="solid"/>
            <a:tailEnd type="arrow"/>
          </a:ln>
          <a:effectLst/>
        </p:spPr>
      </p:cxnSp>
      <p:cxnSp>
        <p:nvCxnSpPr>
          <p:cNvPr id="26" name="直接箭头连接符 25"/>
          <p:cNvCxnSpPr/>
          <p:nvPr/>
        </p:nvCxnSpPr>
        <p:spPr>
          <a:xfrm rot="10800000" flipV="1">
            <a:off x="6902809" y="4015727"/>
            <a:ext cx="714375" cy="53975"/>
          </a:xfrm>
          <a:prstGeom prst="straightConnector1">
            <a:avLst/>
          </a:prstGeom>
          <a:noFill/>
          <a:ln w="19050" cap="flat" cmpd="sng" algn="ctr">
            <a:solidFill>
              <a:srgbClr val="FF0000"/>
            </a:solidFill>
            <a:prstDash val="solid"/>
            <a:tailEnd type="arrow"/>
          </a:ln>
          <a:effectLst/>
        </p:spPr>
      </p:cxnSp>
      <p:pic>
        <p:nvPicPr>
          <p:cNvPr id="2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5334" y="4209402"/>
            <a:ext cx="1647825"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 name="直接连接符 27"/>
          <p:cNvCxnSpPr/>
          <p:nvPr/>
        </p:nvCxnSpPr>
        <p:spPr>
          <a:xfrm rot="16200000" flipV="1">
            <a:off x="6878996" y="4144315"/>
            <a:ext cx="268287" cy="357188"/>
          </a:xfrm>
          <a:prstGeom prst="line">
            <a:avLst/>
          </a:prstGeom>
          <a:noFill/>
          <a:ln w="57150" cap="flat" cmpd="sng" algn="ctr">
            <a:solidFill>
              <a:srgbClr val="1F497D">
                <a:lumMod val="60000"/>
                <a:lumOff val="40000"/>
              </a:srgbClr>
            </a:solidFill>
            <a:prstDash val="solid"/>
          </a:ln>
          <a:effectLst/>
        </p:spPr>
      </p:cxnSp>
      <p:sp>
        <p:nvSpPr>
          <p:cNvPr id="29" name="矩形 28"/>
          <p:cNvSpPr/>
          <p:nvPr/>
        </p:nvSpPr>
        <p:spPr>
          <a:xfrm>
            <a:off x="6283684" y="5455590"/>
            <a:ext cx="501650" cy="34925"/>
          </a:xfrm>
          <a:prstGeom prst="rect">
            <a:avLst/>
          </a:prstGeom>
          <a:solidFill>
            <a:srgbClr val="1F497D">
              <a:lumMod val="60000"/>
              <a:lumOff val="40000"/>
            </a:srgbClr>
          </a:solidFill>
          <a:ln w="25400" cap="flat" cmpd="sng" algn="ctr">
            <a:solidFill>
              <a:srgbClr val="1F497D">
                <a:lumMod val="60000"/>
                <a:lumOff val="4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30" name="椭圆 29"/>
          <p:cNvSpPr/>
          <p:nvPr/>
        </p:nvSpPr>
        <p:spPr>
          <a:xfrm>
            <a:off x="6015396" y="4458640"/>
            <a:ext cx="857250" cy="642937"/>
          </a:xfrm>
          <a:prstGeom prst="ellipse">
            <a:avLst/>
          </a:prstGeom>
          <a:noFill/>
          <a:ln w="25400" cap="flat" cmpd="sng" algn="ctr">
            <a:solidFill>
              <a:srgbClr val="8064A2">
                <a:lumMod val="7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cxnSp>
        <p:nvCxnSpPr>
          <p:cNvPr id="31" name="直接箭头连接符 30"/>
          <p:cNvCxnSpPr/>
          <p:nvPr/>
        </p:nvCxnSpPr>
        <p:spPr>
          <a:xfrm rot="16200000" flipV="1">
            <a:off x="6956784" y="4039540"/>
            <a:ext cx="268287" cy="357187"/>
          </a:xfrm>
          <a:prstGeom prst="straightConnector1">
            <a:avLst/>
          </a:prstGeom>
          <a:noFill/>
          <a:ln w="19050" cap="flat" cmpd="sng" algn="ctr">
            <a:solidFill>
              <a:srgbClr val="00B050"/>
            </a:solidFill>
            <a:prstDash val="solid"/>
            <a:tailEnd type="arrow"/>
          </a:ln>
          <a:effectLst/>
        </p:spPr>
      </p:cxnSp>
      <p:cxnSp>
        <p:nvCxnSpPr>
          <p:cNvPr id="32" name="直接箭头连接符 31"/>
          <p:cNvCxnSpPr/>
          <p:nvPr/>
        </p:nvCxnSpPr>
        <p:spPr>
          <a:xfrm>
            <a:off x="5372459" y="4779315"/>
            <a:ext cx="928687" cy="1587"/>
          </a:xfrm>
          <a:prstGeom prst="straightConnector1">
            <a:avLst/>
          </a:prstGeom>
          <a:noFill/>
          <a:ln w="28575" cap="flat" cmpd="sng" algn="ctr">
            <a:solidFill>
              <a:srgbClr val="FFFF00"/>
            </a:solidFill>
            <a:prstDash val="solid"/>
            <a:tailEnd type="arrow"/>
          </a:ln>
          <a:effectLst/>
        </p:spPr>
      </p:cxnSp>
      <p:sp>
        <p:nvSpPr>
          <p:cNvPr id="33" name="弧形 32"/>
          <p:cNvSpPr/>
          <p:nvPr/>
        </p:nvSpPr>
        <p:spPr>
          <a:xfrm rot="7685565">
            <a:off x="6164621" y="4426890"/>
            <a:ext cx="487363" cy="306387"/>
          </a:xfrm>
          <a:prstGeom prst="arc">
            <a:avLst>
              <a:gd name="adj1" fmla="val 16200000"/>
              <a:gd name="adj2" fmla="val 21191967"/>
            </a:avLst>
          </a:prstGeom>
          <a:noFill/>
          <a:ln w="28575" cap="flat" cmpd="sng" algn="ctr">
            <a:solidFill>
              <a:srgbClr val="FFFF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微软雅黑" pitchFamily="34" charset="-122"/>
              <a:ea typeface="微软雅黑" pitchFamily="34" charset="-122"/>
              <a:cs typeface="+mn-cs"/>
            </a:endParaRPr>
          </a:p>
        </p:txBody>
      </p:sp>
      <p:cxnSp>
        <p:nvCxnSpPr>
          <p:cNvPr id="34" name="直接箭头连接符 33"/>
          <p:cNvCxnSpPr>
            <a:stCxn id="33" idx="0"/>
          </p:cNvCxnSpPr>
          <p:nvPr/>
        </p:nvCxnSpPr>
        <p:spPr>
          <a:xfrm rot="5400000" flipH="1" flipV="1">
            <a:off x="6579753" y="4330846"/>
            <a:ext cx="298450" cy="414337"/>
          </a:xfrm>
          <a:prstGeom prst="straightConnector1">
            <a:avLst/>
          </a:prstGeom>
          <a:noFill/>
          <a:ln w="28575" cap="flat" cmpd="sng" algn="ctr">
            <a:solidFill>
              <a:srgbClr val="FFFF00"/>
            </a:solidFill>
            <a:prstDash val="solid"/>
            <a:tailEnd type="arrow"/>
          </a:ln>
          <a:effectLst/>
        </p:spPr>
      </p:cxnSp>
      <p:cxnSp>
        <p:nvCxnSpPr>
          <p:cNvPr id="35" name="直接箭头连接符 34"/>
          <p:cNvCxnSpPr/>
          <p:nvPr/>
        </p:nvCxnSpPr>
        <p:spPr>
          <a:xfrm rot="5400000">
            <a:off x="6702784" y="4360215"/>
            <a:ext cx="268287" cy="357187"/>
          </a:xfrm>
          <a:prstGeom prst="straightConnector1">
            <a:avLst/>
          </a:prstGeom>
          <a:noFill/>
          <a:ln w="28575" cap="flat" cmpd="sng" algn="ctr">
            <a:solidFill>
              <a:srgbClr val="FFFF00"/>
            </a:solidFill>
            <a:prstDash val="solid"/>
            <a:tailEnd type="arrow"/>
          </a:ln>
          <a:effectLst/>
        </p:spPr>
      </p:cxnSp>
      <p:sp>
        <p:nvSpPr>
          <p:cNvPr id="36" name="弧形 35"/>
          <p:cNvSpPr/>
          <p:nvPr/>
        </p:nvSpPr>
        <p:spPr>
          <a:xfrm rot="17443530">
            <a:off x="6437671" y="4755502"/>
            <a:ext cx="403225" cy="142875"/>
          </a:xfrm>
          <a:prstGeom prst="arc">
            <a:avLst/>
          </a:prstGeom>
          <a:noFill/>
          <a:ln w="28575" cap="flat" cmpd="sng" algn="ctr">
            <a:solidFill>
              <a:srgbClr val="FFFF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微软雅黑" pitchFamily="34" charset="-122"/>
              <a:ea typeface="微软雅黑" pitchFamily="34" charset="-122"/>
              <a:cs typeface="+mn-cs"/>
            </a:endParaRPr>
          </a:p>
        </p:txBody>
      </p:sp>
      <p:cxnSp>
        <p:nvCxnSpPr>
          <p:cNvPr id="37" name="直接箭头连接符 36"/>
          <p:cNvCxnSpPr>
            <a:stCxn id="36" idx="0"/>
          </p:cNvCxnSpPr>
          <p:nvPr/>
        </p:nvCxnSpPr>
        <p:spPr>
          <a:xfrm rot="16200000" flipH="1">
            <a:off x="6264634" y="5099990"/>
            <a:ext cx="622300" cy="0"/>
          </a:xfrm>
          <a:prstGeom prst="straightConnector1">
            <a:avLst/>
          </a:prstGeom>
          <a:noFill/>
          <a:ln w="28575" cap="flat" cmpd="sng" algn="ctr">
            <a:solidFill>
              <a:srgbClr val="FFFF00"/>
            </a:solidFill>
            <a:prstDash val="solid"/>
            <a:tailEnd type="arrow"/>
          </a:ln>
          <a:effectLst/>
        </p:spPr>
      </p:cxnSp>
      <p:cxnSp>
        <p:nvCxnSpPr>
          <p:cNvPr id="38" name="直接连接符 37"/>
          <p:cNvCxnSpPr/>
          <p:nvPr/>
        </p:nvCxnSpPr>
        <p:spPr>
          <a:xfrm>
            <a:off x="5872521" y="3922065"/>
            <a:ext cx="928688" cy="322262"/>
          </a:xfrm>
          <a:prstGeom prst="line">
            <a:avLst/>
          </a:prstGeom>
          <a:noFill/>
          <a:ln w="19050" cap="flat" cmpd="sng" algn="ctr">
            <a:solidFill>
              <a:sysClr val="windowText" lastClr="000000"/>
            </a:solidFill>
            <a:prstDash val="solid"/>
          </a:ln>
          <a:effectLst/>
        </p:spPr>
      </p:cxnSp>
      <p:cxnSp>
        <p:nvCxnSpPr>
          <p:cNvPr id="39" name="直接连接符 38"/>
          <p:cNvCxnSpPr/>
          <p:nvPr/>
        </p:nvCxnSpPr>
        <p:spPr>
          <a:xfrm>
            <a:off x="6658334" y="4780902"/>
            <a:ext cx="500062" cy="160338"/>
          </a:xfrm>
          <a:prstGeom prst="line">
            <a:avLst/>
          </a:prstGeom>
          <a:noFill/>
          <a:ln w="19050" cap="flat" cmpd="sng" algn="ctr">
            <a:solidFill>
              <a:sysClr val="windowText" lastClr="000000"/>
            </a:solidFill>
            <a:prstDash val="solid"/>
          </a:ln>
          <a:effectLst/>
        </p:spPr>
      </p:cxnSp>
      <p:sp>
        <p:nvSpPr>
          <p:cNvPr id="40" name="TextBox 18"/>
          <p:cNvSpPr txBox="1">
            <a:spLocks noChangeArrowheads="1"/>
          </p:cNvSpPr>
          <p:nvPr/>
        </p:nvSpPr>
        <p:spPr bwMode="auto">
          <a:xfrm>
            <a:off x="7594852" y="3426237"/>
            <a:ext cx="277928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lnSpc>
                <a:spcPct val="150000"/>
              </a:lnSpc>
            </a:pPr>
            <a:r>
              <a:rPr lang="zh-CN" altLang="en-US" sz="2400" b="1" dirty="0" smtClean="0">
                <a:solidFill>
                  <a:prstClr val="black"/>
                </a:solidFill>
                <a:latin typeface="微软雅黑" panose="020B0503020204020204" pitchFamily="34" charset="-122"/>
                <a:ea typeface="微软雅黑" panose="020B0503020204020204" pitchFamily="34" charset="-122"/>
              </a:rPr>
              <a:t>入射的红外图像</a:t>
            </a:r>
          </a:p>
        </p:txBody>
      </p:sp>
      <p:sp>
        <p:nvSpPr>
          <p:cNvPr id="41" name="TextBox 19"/>
          <p:cNvSpPr txBox="1">
            <a:spLocks noChangeArrowheads="1"/>
          </p:cNvSpPr>
          <p:nvPr/>
        </p:nvSpPr>
        <p:spPr bwMode="auto">
          <a:xfrm>
            <a:off x="4433444" y="3644733"/>
            <a:ext cx="16430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2400" b="1" dirty="0" smtClean="0">
                <a:solidFill>
                  <a:prstClr val="black"/>
                </a:solidFill>
                <a:latin typeface="微软雅黑" panose="020B0503020204020204" pitchFamily="34" charset="-122"/>
                <a:ea typeface="微软雅黑" panose="020B0503020204020204" pitchFamily="34" charset="-122"/>
              </a:rPr>
              <a:t>光电导靶</a:t>
            </a:r>
          </a:p>
        </p:txBody>
      </p:sp>
      <p:sp>
        <p:nvSpPr>
          <p:cNvPr id="42" name="TextBox 20"/>
          <p:cNvSpPr txBox="1">
            <a:spLocks noChangeArrowheads="1"/>
          </p:cNvSpPr>
          <p:nvPr/>
        </p:nvSpPr>
        <p:spPr bwMode="auto">
          <a:xfrm>
            <a:off x="7245708" y="4918460"/>
            <a:ext cx="18613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2400" b="1" dirty="0" smtClean="0">
                <a:solidFill>
                  <a:prstClr val="black"/>
                </a:solidFill>
                <a:latin typeface="微软雅黑" panose="020B0503020204020204" pitchFamily="34" charset="-122"/>
                <a:ea typeface="微软雅黑" panose="020B0503020204020204" pitchFamily="34" charset="-122"/>
              </a:rPr>
              <a:t>偏转磁场</a:t>
            </a:r>
          </a:p>
        </p:txBody>
      </p:sp>
      <p:sp>
        <p:nvSpPr>
          <p:cNvPr id="43" name="TextBox 21"/>
          <p:cNvSpPr txBox="1">
            <a:spLocks noChangeArrowheads="1"/>
          </p:cNvSpPr>
          <p:nvPr/>
        </p:nvSpPr>
        <p:spPr bwMode="auto">
          <a:xfrm>
            <a:off x="5974914" y="5655605"/>
            <a:ext cx="13287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2400" b="1" dirty="0" smtClean="0">
                <a:solidFill>
                  <a:prstClr val="black"/>
                </a:solidFill>
                <a:latin typeface="微软雅黑" panose="020B0503020204020204" pitchFamily="34" charset="-122"/>
                <a:ea typeface="微软雅黑" panose="020B0503020204020204" pitchFamily="34" charset="-122"/>
              </a:rPr>
              <a:t>荧光面</a:t>
            </a:r>
          </a:p>
        </p:txBody>
      </p:sp>
      <p:sp>
        <p:nvSpPr>
          <p:cNvPr id="44" name="TextBox 22"/>
          <p:cNvSpPr txBox="1">
            <a:spLocks noChangeArrowheads="1"/>
          </p:cNvSpPr>
          <p:nvPr/>
        </p:nvSpPr>
        <p:spPr bwMode="auto">
          <a:xfrm>
            <a:off x="3882706" y="4525612"/>
            <a:ext cx="12858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defTabSz="914400" eaLnBrk="1" hangingPunct="1"/>
            <a:r>
              <a:rPr lang="zh-CN" altLang="en-US" sz="2400" b="1" dirty="0" smtClean="0">
                <a:solidFill>
                  <a:prstClr val="black"/>
                </a:solidFill>
                <a:latin typeface="微软雅黑" panose="020B0503020204020204" pitchFamily="34" charset="-122"/>
                <a:ea typeface="微软雅黑" panose="020B0503020204020204" pitchFamily="34" charset="-122"/>
              </a:rPr>
              <a:t>电子枪</a:t>
            </a:r>
          </a:p>
        </p:txBody>
      </p:sp>
      <p:sp>
        <p:nvSpPr>
          <p:cNvPr id="45" name="Text Box 6"/>
          <p:cNvSpPr txBox="1">
            <a:spLocks noChangeArrowheads="1"/>
          </p:cNvSpPr>
          <p:nvPr/>
        </p:nvSpPr>
        <p:spPr bwMode="auto">
          <a:xfrm>
            <a:off x="4525643" y="6298109"/>
            <a:ext cx="42958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spcBef>
                <a:spcPct val="50000"/>
              </a:spcBef>
            </a:pPr>
            <a:r>
              <a:rPr kumimoji="1" lang="zh-CN" altLang="en-US" sz="2400" b="1" dirty="0" smtClean="0">
                <a:solidFill>
                  <a:prstClr val="black"/>
                </a:solidFill>
                <a:latin typeface="微软雅黑" panose="020B0503020204020204" pitchFamily="34" charset="-122"/>
                <a:ea typeface="微软雅黑" panose="020B0503020204020204" pitchFamily="34" charset="-122"/>
              </a:rPr>
              <a:t>装有光电导靶的反射式变像管 </a:t>
            </a:r>
          </a:p>
        </p:txBody>
      </p:sp>
      <p:sp>
        <p:nvSpPr>
          <p:cNvPr id="46" name="文本框 60">
            <a:extLst>
              <a:ext uri="{FF2B5EF4-FFF2-40B4-BE49-F238E27FC236}">
                <a16:creationId xmlns:a16="http://schemas.microsoft.com/office/drawing/2014/main" xmlns="" id="{791D85D7-F412-9C48-9F2B-E33F5B7B4F3C}"/>
              </a:ext>
            </a:extLst>
          </p:cNvPr>
          <p:cNvSpPr txBox="1"/>
          <p:nvPr/>
        </p:nvSpPr>
        <p:spPr>
          <a:xfrm>
            <a:off x="1364781" y="293282"/>
            <a:ext cx="1445966"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红外变像管</a:t>
            </a:r>
            <a:endParaRPr lang="zh-CN" altLang="en-US" sz="1800" b="1" dirty="0">
              <a:latin typeface="微软雅黑" panose="020B0503020204020204" pitchFamily="34" charset="-122"/>
              <a:ea typeface="微软雅黑" panose="020B0503020204020204" pitchFamily="34" charset="-122"/>
            </a:endParaRPr>
          </a:p>
        </p:txBody>
      </p:sp>
      <p:cxnSp>
        <p:nvCxnSpPr>
          <p:cNvPr id="47"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1212574"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46" name="Text Box 2"/>
          <p:cNvSpPr txBox="1">
            <a:spLocks noChangeArrowheads="1"/>
          </p:cNvSpPr>
          <p:nvPr/>
        </p:nvSpPr>
        <p:spPr bwMode="auto">
          <a:xfrm>
            <a:off x="1529261" y="1910321"/>
            <a:ext cx="1061056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en-US" altLang="zh-CN" sz="2400" b="1" dirty="0">
                <a:latin typeface="微软雅黑" panose="020B0503020204020204" pitchFamily="34" charset="-122"/>
                <a:ea typeface="微软雅黑" panose="020B0503020204020204" pitchFamily="34" charset="-122"/>
              </a:rPr>
              <a:t>	 </a:t>
            </a: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红外变像管多应用于军事、公安等方面，供夜间侦察用。在民用方面，可用于暗室管理、物理实验、激光器校淮和夜间观察生物活动等。</a:t>
            </a:r>
          </a:p>
        </p:txBody>
      </p:sp>
      <p:sp>
        <p:nvSpPr>
          <p:cNvPr id="47" name="Text Box 2"/>
          <p:cNvSpPr txBox="1">
            <a:spLocks noChangeArrowheads="1"/>
          </p:cNvSpPr>
          <p:nvPr/>
        </p:nvSpPr>
        <p:spPr bwMode="auto">
          <a:xfrm>
            <a:off x="1627936" y="4252621"/>
            <a:ext cx="1088679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温度高于</a:t>
            </a:r>
            <a:r>
              <a:rPr kumimoji="1"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400℃</a:t>
            </a: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的物体都会发出大量的红外线，可通过红外变象管观察到它的象。如果与标准光源的亮度比较，即可求出它的强度。这就是夜视温度计的原理。 </a:t>
            </a:r>
          </a:p>
        </p:txBody>
      </p:sp>
      <p:sp>
        <p:nvSpPr>
          <p:cNvPr id="12" name="文本框 60">
            <a:extLst>
              <a:ext uri="{FF2B5EF4-FFF2-40B4-BE49-F238E27FC236}">
                <a16:creationId xmlns:a16="http://schemas.microsoft.com/office/drawing/2014/main" xmlns="" id="{791D85D7-F412-9C48-9F2B-E33F5B7B4F3C}"/>
              </a:ext>
            </a:extLst>
          </p:cNvPr>
          <p:cNvSpPr txBox="1"/>
          <p:nvPr/>
        </p:nvSpPr>
        <p:spPr>
          <a:xfrm>
            <a:off x="1364781" y="293282"/>
            <a:ext cx="1445966"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红外变像管</a:t>
            </a:r>
            <a:endParaRPr lang="zh-CN" altLang="en-US" sz="1800" b="1" dirty="0">
              <a:latin typeface="微软雅黑" panose="020B0503020204020204" pitchFamily="34" charset="-122"/>
              <a:ea typeface="微软雅黑" panose="020B0503020204020204" pitchFamily="34" charset="-122"/>
            </a:endParaRPr>
          </a:p>
        </p:txBody>
      </p:sp>
      <p:cxnSp>
        <p:nvCxnSpPr>
          <p:cNvPr id="14" name="直接连接符 58">
            <a:extLst>
              <a:ext uri="{FF2B5EF4-FFF2-40B4-BE49-F238E27FC236}">
                <a16:creationId xmlns:a16="http://schemas.microsoft.com/office/drawing/2014/main" xmlns="" id="{8C5F82EF-52B4-4531-96F0-44689EA1125E}"/>
              </a:ext>
            </a:extLst>
          </p:cNvPr>
          <p:cNvCxnSpPr>
            <a:cxnSpLocks/>
          </p:cNvCxnSpPr>
          <p:nvPr/>
        </p:nvCxnSpPr>
        <p:spPr>
          <a:xfrm>
            <a:off x="1451113" y="662614"/>
            <a:ext cx="1212574"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ox(in)">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box(in)">
                                      <p:cBhvr>
                                        <p:cTn id="1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364781" y="293282"/>
            <a:ext cx="1445966"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紫外变像管</a:t>
            </a:r>
            <a:endParaRPr lang="zh-CN" altLang="en-US" sz="1800" b="1" dirty="0">
              <a:latin typeface="微软雅黑" panose="020B0503020204020204" pitchFamily="34" charset="-122"/>
              <a:ea typeface="微软雅黑" panose="020B0503020204020204" pitchFamily="34" charset="-122"/>
            </a:endParaRPr>
          </a:p>
        </p:txBody>
      </p:sp>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xmlns="" id="{8C5F82EF-52B4-4531-96F0-44689EA1125E}"/>
              </a:ext>
            </a:extLst>
          </p:cNvPr>
          <p:cNvCxnSpPr>
            <a:cxnSpLocks/>
          </p:cNvCxnSpPr>
          <p:nvPr/>
        </p:nvCxnSpPr>
        <p:spPr>
          <a:xfrm>
            <a:off x="1364781" y="662614"/>
            <a:ext cx="1318784"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2" name="矩形: 圆角 18">
            <a:extLst>
              <a:ext uri="{FF2B5EF4-FFF2-40B4-BE49-F238E27FC236}">
                <a16:creationId xmlns:a16="http://schemas.microsoft.com/office/drawing/2014/main" xmlns="" id="{71B2A563-AC54-5347-B843-4478DF223CDE}"/>
              </a:ext>
            </a:extLst>
          </p:cNvPr>
          <p:cNvSpPr/>
          <p:nvPr/>
        </p:nvSpPr>
        <p:spPr>
          <a:xfrm>
            <a:off x="5070624" y="3476625"/>
            <a:ext cx="4462149" cy="850403"/>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smtClean="0">
                <a:solidFill>
                  <a:schemeClr val="bg1"/>
                </a:solidFill>
                <a:latin typeface="Microsoft YaHei" panose="020B0503020204020204" pitchFamily="34" charset="-122"/>
                <a:ea typeface="Microsoft YaHei" panose="020B0503020204020204" pitchFamily="34" charset="-122"/>
              </a:rPr>
              <a:t>紫外变像管</a:t>
            </a:r>
            <a:endParaRPr kumimoji="1" lang="zh-CN" altLang="en-US" sz="4000" b="1" dirty="0">
              <a:solidFill>
                <a:schemeClr val="bg1"/>
              </a:solidFill>
              <a:latin typeface="Microsoft YaHei" panose="020B0503020204020204" pitchFamily="34" charset="-122"/>
              <a:ea typeface="Microsoft YaHei" panose="020B0503020204020204" pitchFamily="34" charset="-122"/>
            </a:endParaRPr>
          </a:p>
        </p:txBody>
      </p:sp>
      <p:sp>
        <p:nvSpPr>
          <p:cNvPr id="23" name="矩形 22">
            <a:extLst>
              <a:ext uri="{FF2B5EF4-FFF2-40B4-BE49-F238E27FC236}">
                <a16:creationId xmlns:a16="http://schemas.microsoft.com/office/drawing/2014/main" xmlns="" id="{045D4FB5-3BA7-4366-9C2A-762F1105D91A}"/>
              </a:ext>
            </a:extLst>
          </p:cNvPr>
          <p:cNvSpPr/>
          <p:nvPr/>
        </p:nvSpPr>
        <p:spPr>
          <a:xfrm>
            <a:off x="2860247" y="3283064"/>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7.1.4</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Text Box 1026"/>
          <p:cNvSpPr txBox="1">
            <a:spLocks noChangeArrowheads="1"/>
          </p:cNvSpPr>
          <p:nvPr/>
        </p:nvSpPr>
        <p:spPr bwMode="auto">
          <a:xfrm>
            <a:off x="1000125" y="2989673"/>
            <a:ext cx="1181044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en-US" altLang="zh-CN" sz="2800" b="1" dirty="0">
                <a:solidFill>
                  <a:schemeClr val="hlink"/>
                </a:solidFill>
                <a:ea typeface="黑体" panose="02010609060101010101" pitchFamily="49" charset="-122"/>
                <a:cs typeface="Times New Roman" panose="02020603050405020304" pitchFamily="18" charset="0"/>
              </a:rPr>
              <a:t>	</a:t>
            </a:r>
            <a:r>
              <a:rPr kumimoji="1" lang="zh-CN" altLang="en-US" sz="2800" b="1" dirty="0">
                <a:solidFill>
                  <a:schemeClr val="hlink"/>
                </a:solidFill>
                <a:ea typeface="微软雅黑" panose="020B0503020204020204" pitchFamily="34" charset="-122"/>
                <a:cs typeface="Times New Roman" panose="02020603050405020304" pitchFamily="18" charset="0"/>
              </a:rPr>
              <a:t>紫外变像管</a:t>
            </a:r>
            <a:r>
              <a:rPr kumimoji="1" lang="zh-CN" altLang="en-US" sz="2800" b="1" dirty="0">
                <a:ea typeface="微软雅黑" panose="020B0503020204020204" pitchFamily="34" charset="-122"/>
                <a:cs typeface="Times New Roman" panose="02020603050405020304" pitchFamily="18" charset="0"/>
              </a:rPr>
              <a:t>的窗口材料为石英玻璃，光电发射材料为</a:t>
            </a:r>
            <a:r>
              <a:rPr kumimoji="1" lang="en-US" altLang="zh-CN" sz="2800" b="1" dirty="0">
                <a:ea typeface="微软雅黑" panose="020B0503020204020204" pitchFamily="34" charset="-122"/>
                <a:cs typeface="Times New Roman" panose="02020603050405020304" pitchFamily="18" charset="0"/>
              </a:rPr>
              <a:t>Sb-Cs</a:t>
            </a:r>
            <a:r>
              <a:rPr kumimoji="1" lang="zh-CN" altLang="en-US" sz="2800" b="1" dirty="0">
                <a:ea typeface="微软雅黑" panose="020B0503020204020204" pitchFamily="34" charset="-122"/>
                <a:cs typeface="Times New Roman" panose="02020603050405020304" pitchFamily="18" charset="0"/>
              </a:rPr>
              <a:t>阴极。它可以使波长大于</a:t>
            </a:r>
            <a:r>
              <a:rPr kumimoji="1" lang="en-US" altLang="zh-CN" sz="2800" b="1" dirty="0">
                <a:ea typeface="微软雅黑" panose="020B0503020204020204" pitchFamily="34" charset="-122"/>
                <a:cs typeface="Times New Roman" panose="02020603050405020304" pitchFamily="18" charset="0"/>
              </a:rPr>
              <a:t>200nm</a:t>
            </a:r>
            <a:r>
              <a:rPr kumimoji="1" lang="zh-CN" altLang="en-US" sz="2800" b="1" dirty="0">
                <a:ea typeface="微软雅黑" panose="020B0503020204020204" pitchFamily="34" charset="-122"/>
                <a:cs typeface="Times New Roman" panose="02020603050405020304" pitchFamily="18" charset="0"/>
              </a:rPr>
              <a:t>的紫外光变成光电子。紫外变像管与光学显微镜结合起来，可用于医学和生物学等方面的研究</a:t>
            </a:r>
            <a:r>
              <a:rPr kumimoji="1" lang="zh-CN" altLang="en-US" b="1" dirty="0">
                <a:ea typeface="微软雅黑" panose="020B0503020204020204" pitchFamily="34" charset="-122"/>
                <a:cs typeface="Times New Roman" panose="02020603050405020304" pitchFamily="18" charset="0"/>
              </a:rPr>
              <a:t>。 </a:t>
            </a:r>
            <a:endParaRPr kumimoji="1" lang="en-US" altLang="zh-CN" b="1" dirty="0">
              <a:ea typeface="微软雅黑" panose="020B0503020204020204" pitchFamily="34" charset="-122"/>
              <a:cs typeface="Times New Roman" panose="02020603050405020304" pitchFamily="18" charset="0"/>
            </a:endParaRPr>
          </a:p>
        </p:txBody>
      </p:sp>
      <p:sp>
        <p:nvSpPr>
          <p:cNvPr id="10" name="文本框 60">
            <a:extLst>
              <a:ext uri="{FF2B5EF4-FFF2-40B4-BE49-F238E27FC236}">
                <a16:creationId xmlns:a16="http://schemas.microsoft.com/office/drawing/2014/main" xmlns="" id="{791D85D7-F412-9C48-9F2B-E33F5B7B4F3C}"/>
              </a:ext>
            </a:extLst>
          </p:cNvPr>
          <p:cNvSpPr txBox="1"/>
          <p:nvPr/>
        </p:nvSpPr>
        <p:spPr>
          <a:xfrm>
            <a:off x="1364781" y="293282"/>
            <a:ext cx="1445966"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紫外变像管</a:t>
            </a:r>
            <a:endParaRPr lang="zh-CN" altLang="en-US" sz="1800" b="1" dirty="0">
              <a:latin typeface="微软雅黑" panose="020B0503020204020204" pitchFamily="34" charset="-122"/>
              <a:ea typeface="微软雅黑" panose="020B0503020204020204" pitchFamily="34" charset="-122"/>
            </a:endParaRPr>
          </a:p>
        </p:txBody>
      </p:sp>
      <p:cxnSp>
        <p:nvCxnSpPr>
          <p:cNvPr id="14" name="直接连接符 58">
            <a:extLst>
              <a:ext uri="{FF2B5EF4-FFF2-40B4-BE49-F238E27FC236}">
                <a16:creationId xmlns:a16="http://schemas.microsoft.com/office/drawing/2014/main" xmlns="" id="{8C5F82EF-52B4-4531-96F0-44689EA1125E}"/>
              </a:ext>
            </a:extLst>
          </p:cNvPr>
          <p:cNvCxnSpPr>
            <a:cxnSpLocks/>
          </p:cNvCxnSpPr>
          <p:nvPr/>
        </p:nvCxnSpPr>
        <p:spPr>
          <a:xfrm>
            <a:off x="1364781" y="662614"/>
            <a:ext cx="1318784"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pic>
        <p:nvPicPr>
          <p:cNvPr id="1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5718" y="1642221"/>
            <a:ext cx="9990233" cy="4570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60">
            <a:extLst>
              <a:ext uri="{FF2B5EF4-FFF2-40B4-BE49-F238E27FC236}">
                <a16:creationId xmlns:a16="http://schemas.microsoft.com/office/drawing/2014/main" xmlns="" id="{791D85D7-F412-9C48-9F2B-E33F5B7B4F3C}"/>
              </a:ext>
            </a:extLst>
          </p:cNvPr>
          <p:cNvSpPr txBox="1"/>
          <p:nvPr/>
        </p:nvSpPr>
        <p:spPr>
          <a:xfrm>
            <a:off x="1364781" y="293282"/>
            <a:ext cx="1445966"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紫外变像管</a:t>
            </a:r>
            <a:endParaRPr lang="zh-CN" altLang="en-US" sz="1800" b="1" dirty="0">
              <a:latin typeface="微软雅黑" panose="020B0503020204020204" pitchFamily="34" charset="-122"/>
              <a:ea typeface="微软雅黑" panose="020B0503020204020204" pitchFamily="34" charset="-122"/>
            </a:endParaRPr>
          </a:p>
        </p:txBody>
      </p:sp>
      <p:cxnSp>
        <p:nvCxnSpPr>
          <p:cNvPr id="14" name="直接连接符 58">
            <a:extLst>
              <a:ext uri="{FF2B5EF4-FFF2-40B4-BE49-F238E27FC236}">
                <a16:creationId xmlns:a16="http://schemas.microsoft.com/office/drawing/2014/main" xmlns="" id="{8C5F82EF-52B4-4531-96F0-44689EA1125E}"/>
              </a:ext>
            </a:extLst>
          </p:cNvPr>
          <p:cNvCxnSpPr>
            <a:cxnSpLocks/>
          </p:cNvCxnSpPr>
          <p:nvPr/>
        </p:nvCxnSpPr>
        <p:spPr>
          <a:xfrm>
            <a:off x="1364781" y="662614"/>
            <a:ext cx="1318784"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441174" y="293282"/>
            <a:ext cx="1179636"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像增强管</a:t>
            </a:r>
            <a:endParaRPr lang="zh-CN" altLang="en-US" sz="1800" b="1" dirty="0">
              <a:latin typeface="微软雅黑" panose="020B0503020204020204" pitchFamily="34" charset="-122"/>
              <a:ea typeface="微软雅黑" panose="020B0503020204020204" pitchFamily="34" charset="-122"/>
            </a:endParaRPr>
          </a:p>
        </p:txBody>
      </p:sp>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xmlns="" id="{8C5F82EF-52B4-4531-96F0-44689EA1125E}"/>
              </a:ext>
            </a:extLst>
          </p:cNvPr>
          <p:cNvCxnSpPr>
            <a:cxnSpLocks/>
          </p:cNvCxnSpPr>
          <p:nvPr/>
        </p:nvCxnSpPr>
        <p:spPr>
          <a:xfrm>
            <a:off x="1441174" y="662614"/>
            <a:ext cx="1103243"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0" name="矩形: 圆角 18">
            <a:extLst>
              <a:ext uri="{FF2B5EF4-FFF2-40B4-BE49-F238E27FC236}">
                <a16:creationId xmlns:a16="http://schemas.microsoft.com/office/drawing/2014/main" xmlns="" id="{71B2A563-AC54-5347-B843-4478DF223CDE}"/>
              </a:ext>
            </a:extLst>
          </p:cNvPr>
          <p:cNvSpPr/>
          <p:nvPr/>
        </p:nvSpPr>
        <p:spPr>
          <a:xfrm>
            <a:off x="5070624" y="3476625"/>
            <a:ext cx="4462149" cy="850403"/>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smtClean="0">
                <a:solidFill>
                  <a:schemeClr val="bg1"/>
                </a:solidFill>
                <a:latin typeface="Microsoft YaHei" panose="020B0503020204020204" pitchFamily="34" charset="-122"/>
                <a:ea typeface="Microsoft YaHei" panose="020B0503020204020204" pitchFamily="34" charset="-122"/>
              </a:rPr>
              <a:t>像增强管</a:t>
            </a:r>
            <a:endParaRPr kumimoji="1" lang="zh-CN" altLang="en-US" sz="4000" b="1" dirty="0">
              <a:solidFill>
                <a:schemeClr val="bg1"/>
              </a:solidFill>
              <a:latin typeface="Microsoft YaHei" panose="020B0503020204020204" pitchFamily="34" charset="-122"/>
              <a:ea typeface="Microsoft YaHei" panose="020B0503020204020204" pitchFamily="34" charset="-122"/>
            </a:endParaRPr>
          </a:p>
        </p:txBody>
      </p:sp>
      <p:sp>
        <p:nvSpPr>
          <p:cNvPr id="21" name="矩形 20">
            <a:extLst>
              <a:ext uri="{FF2B5EF4-FFF2-40B4-BE49-F238E27FC236}">
                <a16:creationId xmlns:a16="http://schemas.microsoft.com/office/drawing/2014/main" xmlns="" id="{045D4FB5-3BA7-4366-9C2A-762F1105D91A}"/>
              </a:ext>
            </a:extLst>
          </p:cNvPr>
          <p:cNvSpPr/>
          <p:nvPr/>
        </p:nvSpPr>
        <p:spPr>
          <a:xfrm>
            <a:off x="2860247" y="3283064"/>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7.1.5</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0" name="矩形 19"/>
          <p:cNvSpPr/>
          <p:nvPr/>
        </p:nvSpPr>
        <p:spPr>
          <a:xfrm>
            <a:off x="4544695" y="3259139"/>
            <a:ext cx="4567238" cy="171450"/>
          </a:xfrm>
          <a:prstGeom prst="rect">
            <a:avLst/>
          </a:prstGeom>
          <a:solidFill>
            <a:srgbClr val="2243EA"/>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21" name="矩形 20"/>
          <p:cNvSpPr>
            <a:spLocks noChangeArrowheads="1"/>
          </p:cNvSpPr>
          <p:nvPr/>
        </p:nvSpPr>
        <p:spPr bwMode="auto">
          <a:xfrm rot="10800000">
            <a:off x="4557395" y="3971927"/>
            <a:ext cx="4572000" cy="136525"/>
          </a:xfrm>
          <a:prstGeom prst="rect">
            <a:avLst/>
          </a:prstGeom>
          <a:solidFill>
            <a:srgbClr val="2243EA"/>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rot="10800000" anchor="ctr"/>
          <a:lstStyle/>
          <a:p>
            <a:pPr algn="ctr" defTabSz="914400">
              <a:defRPr/>
            </a:pPr>
            <a:endParaRPr lang="zh-CN" altLang="en-US">
              <a:solidFill>
                <a:prstClr val="white"/>
              </a:solidFill>
              <a:latin typeface="微软雅黑" pitchFamily="34" charset="-122"/>
              <a:ea typeface="微软雅黑" pitchFamily="34" charset="-122"/>
            </a:endParaRPr>
          </a:p>
        </p:txBody>
      </p:sp>
      <p:pic>
        <p:nvPicPr>
          <p:cNvPr id="2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7395" y="3352802"/>
            <a:ext cx="4572000"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矩形 22"/>
          <p:cNvSpPr/>
          <p:nvPr/>
        </p:nvSpPr>
        <p:spPr>
          <a:xfrm>
            <a:off x="4546283" y="3198814"/>
            <a:ext cx="4572000" cy="52388"/>
          </a:xfrm>
          <a:prstGeom prst="rect">
            <a:avLst/>
          </a:prstGeom>
          <a:solidFill>
            <a:srgbClr val="8064A2">
              <a:lumMod val="75000"/>
            </a:srgbClr>
          </a:solidFill>
          <a:ln w="25400" cap="flat" cmpd="sng" algn="ctr">
            <a:solidFill>
              <a:srgbClr val="8064A2">
                <a:lumMod val="7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24" name="矩形 23"/>
          <p:cNvSpPr/>
          <p:nvPr/>
        </p:nvSpPr>
        <p:spPr>
          <a:xfrm>
            <a:off x="4560570" y="4084639"/>
            <a:ext cx="4572000" cy="52388"/>
          </a:xfrm>
          <a:prstGeom prst="rect">
            <a:avLst/>
          </a:prstGeom>
          <a:solidFill>
            <a:srgbClr val="8064A2">
              <a:lumMod val="75000"/>
            </a:srgbClr>
          </a:solidFill>
          <a:ln w="25400" cap="flat" cmpd="sng" algn="ctr">
            <a:solidFill>
              <a:srgbClr val="8064A2">
                <a:lumMod val="7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25" name="矩形 24"/>
          <p:cNvSpPr/>
          <p:nvPr/>
        </p:nvSpPr>
        <p:spPr>
          <a:xfrm>
            <a:off x="5414645" y="3344864"/>
            <a:ext cx="214313" cy="642938"/>
          </a:xfrm>
          <a:prstGeom prst="rect">
            <a:avLst/>
          </a:prstGeom>
          <a:gradFill flip="none" rotWithShape="1">
            <a:gsLst>
              <a:gs pos="0">
                <a:srgbClr val="F79646">
                  <a:lumMod val="50000"/>
                  <a:shade val="30000"/>
                  <a:satMod val="115000"/>
                </a:srgbClr>
              </a:gs>
              <a:gs pos="50000">
                <a:srgbClr val="F79646">
                  <a:lumMod val="50000"/>
                  <a:shade val="67500"/>
                  <a:satMod val="115000"/>
                </a:srgbClr>
              </a:gs>
              <a:gs pos="100000">
                <a:srgbClr val="F79646">
                  <a:lumMod val="50000"/>
                  <a:shade val="100000"/>
                  <a:satMod val="115000"/>
                </a:srgbClr>
              </a:gs>
            </a:gsLst>
            <a:lin ang="5400000" scaled="1"/>
            <a:tileRect/>
          </a:gradFill>
          <a:ln w="25400" cap="flat" cmpd="sng" algn="ctr">
            <a:solidFill>
              <a:srgbClr val="1F497D">
                <a:lumMod val="7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26" name="梯形 25"/>
          <p:cNvSpPr/>
          <p:nvPr/>
        </p:nvSpPr>
        <p:spPr>
          <a:xfrm rot="16200000">
            <a:off x="5465446" y="3429001"/>
            <a:ext cx="620712" cy="500063"/>
          </a:xfrm>
          <a:prstGeom prst="trapezoid">
            <a:avLst/>
          </a:prstGeom>
          <a:gradFill flip="none" rotWithShape="1">
            <a:gsLst>
              <a:gs pos="0">
                <a:srgbClr val="F79646">
                  <a:lumMod val="50000"/>
                  <a:shade val="30000"/>
                  <a:satMod val="115000"/>
                </a:srgbClr>
              </a:gs>
              <a:gs pos="50000">
                <a:srgbClr val="F79646">
                  <a:lumMod val="50000"/>
                  <a:shade val="67500"/>
                  <a:satMod val="115000"/>
                </a:srgbClr>
              </a:gs>
              <a:gs pos="100000">
                <a:srgbClr val="F79646">
                  <a:lumMod val="50000"/>
                  <a:shade val="100000"/>
                  <a:satMod val="115000"/>
                </a:srgbClr>
              </a:gs>
            </a:gsLst>
            <a:lin ang="8100000" scaled="1"/>
            <a:tileRect/>
          </a:gradFill>
          <a:ln w="25400" cap="flat" cmpd="sng" algn="ctr">
            <a:solidFill>
              <a:srgbClr val="1F497D">
                <a:lumMod val="7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27" name="矩形 26"/>
          <p:cNvSpPr/>
          <p:nvPr/>
        </p:nvSpPr>
        <p:spPr>
          <a:xfrm>
            <a:off x="6578283" y="3336927"/>
            <a:ext cx="214312" cy="642937"/>
          </a:xfrm>
          <a:prstGeom prst="rect">
            <a:avLst/>
          </a:prstGeom>
          <a:gradFill flip="none" rotWithShape="1">
            <a:gsLst>
              <a:gs pos="0">
                <a:srgbClr val="F79646">
                  <a:lumMod val="50000"/>
                  <a:shade val="30000"/>
                  <a:satMod val="115000"/>
                </a:srgbClr>
              </a:gs>
              <a:gs pos="50000">
                <a:srgbClr val="F79646">
                  <a:lumMod val="50000"/>
                  <a:shade val="67500"/>
                  <a:satMod val="115000"/>
                </a:srgbClr>
              </a:gs>
              <a:gs pos="100000">
                <a:srgbClr val="F79646">
                  <a:lumMod val="50000"/>
                  <a:shade val="100000"/>
                  <a:satMod val="115000"/>
                </a:srgbClr>
              </a:gs>
            </a:gsLst>
            <a:lin ang="5400000" scaled="1"/>
            <a:tileRect/>
          </a:gradFill>
          <a:ln w="25400" cap="flat" cmpd="sng" algn="ctr">
            <a:solidFill>
              <a:srgbClr val="1F497D">
                <a:lumMod val="7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28" name="矩形 27"/>
          <p:cNvSpPr/>
          <p:nvPr/>
        </p:nvSpPr>
        <p:spPr>
          <a:xfrm>
            <a:off x="7732395" y="3336927"/>
            <a:ext cx="214313" cy="642937"/>
          </a:xfrm>
          <a:prstGeom prst="rect">
            <a:avLst/>
          </a:prstGeom>
          <a:gradFill flip="none" rotWithShape="1">
            <a:gsLst>
              <a:gs pos="0">
                <a:srgbClr val="F79646">
                  <a:lumMod val="50000"/>
                  <a:shade val="30000"/>
                  <a:satMod val="115000"/>
                </a:srgbClr>
              </a:gs>
              <a:gs pos="50000">
                <a:srgbClr val="F79646">
                  <a:lumMod val="50000"/>
                  <a:shade val="67500"/>
                  <a:satMod val="115000"/>
                </a:srgbClr>
              </a:gs>
              <a:gs pos="100000">
                <a:srgbClr val="F79646">
                  <a:lumMod val="50000"/>
                  <a:shade val="100000"/>
                  <a:satMod val="115000"/>
                </a:srgbClr>
              </a:gs>
            </a:gsLst>
            <a:lin ang="5400000" scaled="1"/>
            <a:tileRect/>
          </a:gradFill>
          <a:ln w="25400" cap="flat" cmpd="sng" algn="ctr">
            <a:solidFill>
              <a:srgbClr val="1F497D">
                <a:lumMod val="7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29" name="梯形 28"/>
          <p:cNvSpPr/>
          <p:nvPr/>
        </p:nvSpPr>
        <p:spPr>
          <a:xfrm rot="16200000">
            <a:off x="6639402" y="3420270"/>
            <a:ext cx="622300" cy="500063"/>
          </a:xfrm>
          <a:prstGeom prst="trapezoid">
            <a:avLst/>
          </a:prstGeom>
          <a:gradFill flip="none" rotWithShape="1">
            <a:gsLst>
              <a:gs pos="0">
                <a:srgbClr val="F79646">
                  <a:lumMod val="50000"/>
                  <a:shade val="30000"/>
                  <a:satMod val="115000"/>
                </a:srgbClr>
              </a:gs>
              <a:gs pos="50000">
                <a:srgbClr val="F79646">
                  <a:lumMod val="50000"/>
                  <a:shade val="67500"/>
                  <a:satMod val="115000"/>
                </a:srgbClr>
              </a:gs>
              <a:gs pos="100000">
                <a:srgbClr val="F79646">
                  <a:lumMod val="50000"/>
                  <a:shade val="100000"/>
                  <a:satMod val="115000"/>
                </a:srgbClr>
              </a:gs>
            </a:gsLst>
            <a:lin ang="8100000" scaled="1"/>
            <a:tileRect/>
          </a:gradFill>
          <a:ln w="25400" cap="flat" cmpd="sng" algn="ctr">
            <a:solidFill>
              <a:srgbClr val="1F497D">
                <a:lumMod val="7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30" name="梯形 29"/>
          <p:cNvSpPr/>
          <p:nvPr/>
        </p:nvSpPr>
        <p:spPr>
          <a:xfrm rot="16200000">
            <a:off x="7782402" y="3417095"/>
            <a:ext cx="622300" cy="500063"/>
          </a:xfrm>
          <a:prstGeom prst="trapezoid">
            <a:avLst/>
          </a:prstGeom>
          <a:gradFill flip="none" rotWithShape="1">
            <a:gsLst>
              <a:gs pos="0">
                <a:srgbClr val="F79646">
                  <a:lumMod val="50000"/>
                  <a:shade val="30000"/>
                  <a:satMod val="115000"/>
                </a:srgbClr>
              </a:gs>
              <a:gs pos="50000">
                <a:srgbClr val="F79646">
                  <a:lumMod val="50000"/>
                  <a:shade val="67500"/>
                  <a:satMod val="115000"/>
                </a:srgbClr>
              </a:gs>
              <a:gs pos="100000">
                <a:srgbClr val="F79646">
                  <a:lumMod val="50000"/>
                  <a:shade val="100000"/>
                  <a:satMod val="115000"/>
                </a:srgbClr>
              </a:gs>
            </a:gsLst>
            <a:lin ang="8100000" scaled="1"/>
            <a:tileRect/>
          </a:gradFill>
          <a:ln w="25400" cap="flat" cmpd="sng" algn="ctr">
            <a:solidFill>
              <a:srgbClr val="1F497D">
                <a:lumMod val="7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31" name="椭圆 30"/>
          <p:cNvSpPr/>
          <p:nvPr/>
        </p:nvSpPr>
        <p:spPr>
          <a:xfrm>
            <a:off x="4485958" y="3328989"/>
            <a:ext cx="214312" cy="696913"/>
          </a:xfrm>
          <a:prstGeom prst="ellipse">
            <a:avLst/>
          </a:prstGeom>
          <a:solidFill>
            <a:srgbClr val="00B0F0"/>
          </a:solidFill>
          <a:ln w="25400" cap="flat" cmpd="sng" algn="ctr">
            <a:solidFill>
              <a:srgbClr val="00B0F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32" name="椭圆 31"/>
          <p:cNvSpPr/>
          <p:nvPr/>
        </p:nvSpPr>
        <p:spPr>
          <a:xfrm>
            <a:off x="8986520" y="3328989"/>
            <a:ext cx="214313" cy="696913"/>
          </a:xfrm>
          <a:prstGeom prst="ellipse">
            <a:avLst/>
          </a:prstGeom>
          <a:solidFill>
            <a:srgbClr val="00B0F0"/>
          </a:solidFill>
          <a:ln w="25400" cap="flat" cmpd="sng" algn="ctr">
            <a:solidFill>
              <a:srgbClr val="00B0F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cxnSp>
        <p:nvCxnSpPr>
          <p:cNvPr id="33" name="直接箭头连接符 32"/>
          <p:cNvCxnSpPr/>
          <p:nvPr/>
        </p:nvCxnSpPr>
        <p:spPr>
          <a:xfrm>
            <a:off x="4200208" y="3248027"/>
            <a:ext cx="428625" cy="214312"/>
          </a:xfrm>
          <a:prstGeom prst="straightConnector1">
            <a:avLst/>
          </a:prstGeom>
          <a:noFill/>
          <a:ln w="28575" cap="flat" cmpd="sng" algn="ctr">
            <a:solidFill>
              <a:srgbClr val="00B050"/>
            </a:solidFill>
            <a:prstDash val="solid"/>
            <a:tailEnd type="arrow"/>
          </a:ln>
          <a:effectLst/>
        </p:spPr>
      </p:cxnSp>
      <p:cxnSp>
        <p:nvCxnSpPr>
          <p:cNvPr id="34" name="直接箭头连接符 33"/>
          <p:cNvCxnSpPr/>
          <p:nvPr/>
        </p:nvCxnSpPr>
        <p:spPr>
          <a:xfrm rot="16200000" flipH="1">
            <a:off x="4585177" y="3423445"/>
            <a:ext cx="482600" cy="500063"/>
          </a:xfrm>
          <a:prstGeom prst="straightConnector1">
            <a:avLst/>
          </a:prstGeom>
          <a:noFill/>
          <a:ln w="28575" cap="flat" cmpd="sng" algn="ctr">
            <a:solidFill>
              <a:srgbClr val="00B050"/>
            </a:solidFill>
            <a:prstDash val="solid"/>
            <a:tailEnd type="arrow"/>
          </a:ln>
          <a:effectLst/>
        </p:spPr>
      </p:cxnSp>
      <p:cxnSp>
        <p:nvCxnSpPr>
          <p:cNvPr id="35" name="直接箭头连接符 34"/>
          <p:cNvCxnSpPr/>
          <p:nvPr/>
        </p:nvCxnSpPr>
        <p:spPr>
          <a:xfrm>
            <a:off x="4128770" y="3382964"/>
            <a:ext cx="928688" cy="534988"/>
          </a:xfrm>
          <a:prstGeom prst="straightConnector1">
            <a:avLst/>
          </a:prstGeom>
          <a:noFill/>
          <a:ln w="28575" cap="flat" cmpd="sng" algn="ctr">
            <a:solidFill>
              <a:srgbClr val="00B050"/>
            </a:solidFill>
            <a:prstDash val="solid"/>
            <a:tailEnd type="arrow"/>
          </a:ln>
          <a:effectLst/>
        </p:spPr>
      </p:cxnSp>
      <p:cxnSp>
        <p:nvCxnSpPr>
          <p:cNvPr id="36" name="直接箭头连接符 35"/>
          <p:cNvCxnSpPr/>
          <p:nvPr/>
        </p:nvCxnSpPr>
        <p:spPr>
          <a:xfrm>
            <a:off x="9115108" y="3441702"/>
            <a:ext cx="642937" cy="322262"/>
          </a:xfrm>
          <a:prstGeom prst="straightConnector1">
            <a:avLst/>
          </a:prstGeom>
          <a:noFill/>
          <a:ln w="28575" cap="flat" cmpd="sng" algn="ctr">
            <a:solidFill>
              <a:srgbClr val="00B050"/>
            </a:solidFill>
            <a:prstDash val="solid"/>
            <a:tailEnd type="arrow"/>
          </a:ln>
          <a:effectLst/>
        </p:spPr>
      </p:cxnSp>
      <p:cxnSp>
        <p:nvCxnSpPr>
          <p:cNvPr id="37" name="直接箭头连接符 36"/>
          <p:cNvCxnSpPr/>
          <p:nvPr/>
        </p:nvCxnSpPr>
        <p:spPr>
          <a:xfrm>
            <a:off x="8629333" y="3436939"/>
            <a:ext cx="500062" cy="0"/>
          </a:xfrm>
          <a:prstGeom prst="straightConnector1">
            <a:avLst/>
          </a:prstGeom>
          <a:noFill/>
          <a:ln w="28575" cap="flat" cmpd="sng" algn="ctr">
            <a:solidFill>
              <a:srgbClr val="00B050"/>
            </a:solidFill>
            <a:prstDash val="solid"/>
            <a:tailEnd type="arrow"/>
          </a:ln>
          <a:effectLst/>
        </p:spPr>
      </p:cxnSp>
      <p:cxnSp>
        <p:nvCxnSpPr>
          <p:cNvPr id="38" name="直接箭头连接符 37"/>
          <p:cNvCxnSpPr/>
          <p:nvPr/>
        </p:nvCxnSpPr>
        <p:spPr>
          <a:xfrm>
            <a:off x="8640445" y="3432177"/>
            <a:ext cx="1071563" cy="588962"/>
          </a:xfrm>
          <a:prstGeom prst="straightConnector1">
            <a:avLst/>
          </a:prstGeom>
          <a:noFill/>
          <a:ln w="28575" cap="flat" cmpd="sng" algn="ctr">
            <a:solidFill>
              <a:srgbClr val="00B050"/>
            </a:solidFill>
            <a:prstDash val="solid"/>
            <a:tailEnd type="arrow"/>
          </a:ln>
          <a:effectLst/>
        </p:spPr>
      </p:cxnSp>
      <p:pic>
        <p:nvPicPr>
          <p:cNvPr id="3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8895" y="3348039"/>
            <a:ext cx="2143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4258" y="3354389"/>
            <a:ext cx="36195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1" name="直接箭头连接符 40"/>
          <p:cNvCxnSpPr/>
          <p:nvPr/>
        </p:nvCxnSpPr>
        <p:spPr>
          <a:xfrm>
            <a:off x="6414770" y="3489327"/>
            <a:ext cx="857250" cy="428625"/>
          </a:xfrm>
          <a:prstGeom prst="straightConnector1">
            <a:avLst/>
          </a:prstGeom>
          <a:noFill/>
          <a:ln w="28575" cap="flat" cmpd="sng" algn="ctr">
            <a:solidFill>
              <a:srgbClr val="00B050"/>
            </a:solidFill>
            <a:prstDash val="solid"/>
            <a:tailEnd type="arrow"/>
          </a:ln>
          <a:effectLst/>
        </p:spPr>
      </p:cxnSp>
      <p:cxnSp>
        <p:nvCxnSpPr>
          <p:cNvPr id="42" name="直接箭头连接符 41"/>
          <p:cNvCxnSpPr/>
          <p:nvPr/>
        </p:nvCxnSpPr>
        <p:spPr>
          <a:xfrm flipV="1">
            <a:off x="5271770" y="3489327"/>
            <a:ext cx="857250" cy="376237"/>
          </a:xfrm>
          <a:prstGeom prst="straightConnector1">
            <a:avLst/>
          </a:prstGeom>
          <a:noFill/>
          <a:ln w="28575" cap="flat" cmpd="sng" algn="ctr">
            <a:solidFill>
              <a:srgbClr val="00B050"/>
            </a:solidFill>
            <a:prstDash val="solid"/>
            <a:tailEnd type="arrow"/>
          </a:ln>
          <a:effectLst/>
        </p:spPr>
      </p:cxnSp>
      <p:pic>
        <p:nvPicPr>
          <p:cNvPr id="4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9958" y="3351214"/>
            <a:ext cx="36195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5020" y="3351214"/>
            <a:ext cx="2143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5" name="直接箭头连接符 44"/>
          <p:cNvCxnSpPr/>
          <p:nvPr/>
        </p:nvCxnSpPr>
        <p:spPr>
          <a:xfrm flipV="1">
            <a:off x="7629208" y="3489327"/>
            <a:ext cx="857250" cy="376237"/>
          </a:xfrm>
          <a:prstGeom prst="straightConnector1">
            <a:avLst/>
          </a:prstGeom>
          <a:noFill/>
          <a:ln w="28575" cap="flat" cmpd="sng" algn="ctr">
            <a:solidFill>
              <a:srgbClr val="00B050"/>
            </a:solidFill>
            <a:prstDash val="solid"/>
            <a:tailEnd type="arrow"/>
          </a:ln>
          <a:effectLst/>
        </p:spPr>
      </p:cxnSp>
      <p:cxnSp>
        <p:nvCxnSpPr>
          <p:cNvPr id="46" name="直接连接符 45"/>
          <p:cNvCxnSpPr>
            <a:endCxn id="26" idx="1"/>
          </p:cNvCxnSpPr>
          <p:nvPr/>
        </p:nvCxnSpPr>
        <p:spPr>
          <a:xfrm rot="5400000" flipH="1" flipV="1">
            <a:off x="5152708" y="3938589"/>
            <a:ext cx="458787" cy="290513"/>
          </a:xfrm>
          <a:prstGeom prst="line">
            <a:avLst/>
          </a:prstGeom>
          <a:noFill/>
          <a:ln w="28575" cap="flat" cmpd="sng" algn="ctr">
            <a:solidFill>
              <a:sysClr val="windowText" lastClr="000000"/>
            </a:solidFill>
            <a:prstDash val="solid"/>
          </a:ln>
          <a:effectLst/>
        </p:spPr>
      </p:cxnSp>
      <p:cxnSp>
        <p:nvCxnSpPr>
          <p:cNvPr id="47" name="直接连接符 46"/>
          <p:cNvCxnSpPr/>
          <p:nvPr/>
        </p:nvCxnSpPr>
        <p:spPr>
          <a:xfrm rot="16200000" flipV="1">
            <a:off x="6209189" y="4066383"/>
            <a:ext cx="396875" cy="271463"/>
          </a:xfrm>
          <a:prstGeom prst="line">
            <a:avLst/>
          </a:prstGeom>
          <a:noFill/>
          <a:ln w="28575" cap="flat" cmpd="sng" algn="ctr">
            <a:solidFill>
              <a:sysClr val="windowText" lastClr="000000"/>
            </a:solidFill>
            <a:prstDash val="solid"/>
          </a:ln>
          <a:effectLst/>
        </p:spPr>
      </p:cxnSp>
      <p:cxnSp>
        <p:nvCxnSpPr>
          <p:cNvPr id="48" name="直接连接符 47"/>
          <p:cNvCxnSpPr/>
          <p:nvPr/>
        </p:nvCxnSpPr>
        <p:spPr>
          <a:xfrm rot="16200000" flipV="1">
            <a:off x="4855051" y="3013871"/>
            <a:ext cx="404813" cy="285750"/>
          </a:xfrm>
          <a:prstGeom prst="line">
            <a:avLst/>
          </a:prstGeom>
          <a:noFill/>
          <a:ln w="28575" cap="flat" cmpd="sng" algn="ctr">
            <a:solidFill>
              <a:sysClr val="windowText" lastClr="000000"/>
            </a:solidFill>
            <a:prstDash val="solid"/>
          </a:ln>
          <a:effectLst/>
        </p:spPr>
      </p:cxnSp>
      <p:cxnSp>
        <p:nvCxnSpPr>
          <p:cNvPr id="49" name="直接连接符 48"/>
          <p:cNvCxnSpPr>
            <a:endCxn id="51" idx="2"/>
          </p:cNvCxnSpPr>
          <p:nvPr/>
        </p:nvCxnSpPr>
        <p:spPr>
          <a:xfrm flipH="1" flipV="1">
            <a:off x="5832158" y="3113089"/>
            <a:ext cx="285750" cy="334963"/>
          </a:xfrm>
          <a:prstGeom prst="line">
            <a:avLst/>
          </a:prstGeom>
          <a:noFill/>
          <a:ln w="28575" cap="flat" cmpd="sng" algn="ctr">
            <a:solidFill>
              <a:sysClr val="windowText" lastClr="000000"/>
            </a:solidFill>
            <a:prstDash val="solid"/>
          </a:ln>
          <a:effectLst/>
        </p:spPr>
      </p:cxnSp>
      <p:sp>
        <p:nvSpPr>
          <p:cNvPr id="50" name="TextBox 31"/>
          <p:cNvSpPr txBox="1">
            <a:spLocks noChangeArrowheads="1"/>
          </p:cNvSpPr>
          <p:nvPr/>
        </p:nvSpPr>
        <p:spPr bwMode="auto">
          <a:xfrm>
            <a:off x="3974783" y="2716214"/>
            <a:ext cx="1214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2000" b="1" smtClean="0">
                <a:solidFill>
                  <a:prstClr val="black"/>
                </a:solidFill>
                <a:latin typeface="微软雅黑" panose="020B0503020204020204" pitchFamily="34" charset="-122"/>
                <a:ea typeface="微软雅黑" panose="020B0503020204020204" pitchFamily="34" charset="-122"/>
              </a:rPr>
              <a:t>光电阴极</a:t>
            </a:r>
          </a:p>
        </p:txBody>
      </p:sp>
      <p:sp>
        <p:nvSpPr>
          <p:cNvPr id="51" name="TextBox 32"/>
          <p:cNvSpPr txBox="1">
            <a:spLocks noChangeArrowheads="1"/>
          </p:cNvSpPr>
          <p:nvPr/>
        </p:nvSpPr>
        <p:spPr bwMode="auto">
          <a:xfrm>
            <a:off x="5260658" y="2716214"/>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2000" b="1" smtClean="0">
                <a:solidFill>
                  <a:prstClr val="black"/>
                </a:solidFill>
                <a:latin typeface="微软雅黑" panose="020B0503020204020204" pitchFamily="34" charset="-122"/>
                <a:ea typeface="微软雅黑" panose="020B0503020204020204" pitchFamily="34" charset="-122"/>
              </a:rPr>
              <a:t>荧光面</a:t>
            </a:r>
          </a:p>
        </p:txBody>
      </p:sp>
      <p:sp>
        <p:nvSpPr>
          <p:cNvPr id="52" name="TextBox 33"/>
          <p:cNvSpPr txBox="1">
            <a:spLocks noChangeArrowheads="1"/>
          </p:cNvSpPr>
          <p:nvPr/>
        </p:nvSpPr>
        <p:spPr bwMode="auto">
          <a:xfrm>
            <a:off x="4843145" y="4400552"/>
            <a:ext cx="1214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2000" b="1" smtClean="0">
                <a:solidFill>
                  <a:prstClr val="black"/>
                </a:solidFill>
                <a:latin typeface="微软雅黑" panose="020B0503020204020204" pitchFamily="34" charset="-122"/>
                <a:ea typeface="微软雅黑" panose="020B0503020204020204" pitchFamily="34" charset="-122"/>
              </a:rPr>
              <a:t>静电透镜</a:t>
            </a:r>
          </a:p>
        </p:txBody>
      </p:sp>
      <p:sp>
        <p:nvSpPr>
          <p:cNvPr id="53" name="TextBox 34"/>
          <p:cNvSpPr txBox="1">
            <a:spLocks noChangeArrowheads="1"/>
          </p:cNvSpPr>
          <p:nvPr/>
        </p:nvSpPr>
        <p:spPr bwMode="auto">
          <a:xfrm>
            <a:off x="6271895" y="4400552"/>
            <a:ext cx="1214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2000" b="1" smtClean="0">
                <a:solidFill>
                  <a:prstClr val="black"/>
                </a:solidFill>
                <a:latin typeface="微软雅黑" panose="020B0503020204020204" pitchFamily="34" charset="-122"/>
                <a:ea typeface="微软雅黑" panose="020B0503020204020204" pitchFamily="34" charset="-122"/>
              </a:rPr>
              <a:t>光纤面板</a:t>
            </a:r>
          </a:p>
        </p:txBody>
      </p:sp>
      <p:sp>
        <p:nvSpPr>
          <p:cNvPr id="54" name="Text Box 2"/>
          <p:cNvSpPr txBox="1">
            <a:spLocks noChangeArrowheads="1"/>
          </p:cNvSpPr>
          <p:nvPr/>
        </p:nvSpPr>
        <p:spPr bwMode="auto">
          <a:xfrm>
            <a:off x="4557395" y="1882778"/>
            <a:ext cx="4237037" cy="519112"/>
          </a:xfrm>
          <a:prstGeom prst="rect">
            <a:avLst/>
          </a:prstGeom>
          <a:gradFill>
            <a:gsLst>
              <a:gs pos="0">
                <a:srgbClr val="F79646"/>
              </a:gs>
              <a:gs pos="50000">
                <a:srgbClr val="4F81BD">
                  <a:tint val="44500"/>
                  <a:satMod val="160000"/>
                </a:srgbClr>
              </a:gs>
              <a:gs pos="100000">
                <a:srgbClr val="4F81BD">
                  <a:tint val="23500"/>
                  <a:satMod val="160000"/>
                </a:srgbClr>
              </a:gs>
            </a:gsLst>
            <a:lin ang="5400000" scaled="0"/>
          </a:gradFill>
          <a:ln w="9525">
            <a:noFill/>
            <a:miter lim="800000"/>
            <a:headEnd/>
            <a:tailEnd/>
          </a:ln>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2800" b="1"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800" b="1"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级联式图像增强管 </a:t>
            </a:r>
          </a:p>
        </p:txBody>
      </p:sp>
      <p:sp>
        <p:nvSpPr>
          <p:cNvPr id="55" name="Text Box 5"/>
          <p:cNvSpPr txBox="1">
            <a:spLocks noChangeArrowheads="1"/>
          </p:cNvSpPr>
          <p:nvPr/>
        </p:nvSpPr>
        <p:spPr bwMode="auto">
          <a:xfrm>
            <a:off x="1727244" y="4868863"/>
            <a:ext cx="10538055"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lnSpc>
                <a:spcPct val="150000"/>
              </a:lnSpc>
              <a:spcBef>
                <a:spcPct val="50000"/>
              </a:spcBef>
            </a:pPr>
            <a:r>
              <a:rPr kumimoji="1" lang="en-US" altLang="zh-CN" sz="2800" dirty="0" smtClean="0">
                <a:solidFill>
                  <a:prstClr val="black"/>
                </a:solidFill>
                <a:latin typeface="微软雅黑" panose="020B0503020204020204" pitchFamily="34" charset="-122"/>
                <a:ea typeface="微软雅黑" panose="020B0503020204020204" pitchFamily="34" charset="-122"/>
              </a:rPr>
              <a:t>       </a:t>
            </a:r>
            <a:r>
              <a:rPr kumimoji="1" lang="zh-CN" altLang="en-US" sz="2800" b="1"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为了增强图象的亮度，现在采取的方法之一是，使几个独立的象管串联起来，使亮度遂级增益。这种</a:t>
            </a:r>
            <a:r>
              <a:rPr kumimoji="1" lang="en-US" altLang="zh-CN" sz="2800" b="1"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3</a:t>
            </a:r>
            <a:r>
              <a:rPr kumimoji="1" lang="zh-CN" altLang="en-US" sz="2800" b="1"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管式的图象增强管，亮度增益可达</a:t>
            </a:r>
            <a:r>
              <a:rPr kumimoji="1" lang="en-US" altLang="zh-CN" sz="2800" b="1"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10</a:t>
            </a:r>
            <a:r>
              <a:rPr kumimoji="1" lang="en-US" altLang="zh-CN" sz="2800" b="1" baseline="30000"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5</a:t>
            </a:r>
            <a:r>
              <a:rPr kumimoji="1" lang="zh-CN" altLang="en-US" sz="2800" b="1"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56" name="文本框 60">
            <a:extLst>
              <a:ext uri="{FF2B5EF4-FFF2-40B4-BE49-F238E27FC236}">
                <a16:creationId xmlns:a16="http://schemas.microsoft.com/office/drawing/2014/main" xmlns="" id="{791D85D7-F412-9C48-9F2B-E33F5B7B4F3C}"/>
              </a:ext>
            </a:extLst>
          </p:cNvPr>
          <p:cNvSpPr txBox="1"/>
          <p:nvPr/>
        </p:nvSpPr>
        <p:spPr>
          <a:xfrm>
            <a:off x="1441174" y="293282"/>
            <a:ext cx="1179636"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像增强管</a:t>
            </a:r>
            <a:endParaRPr lang="zh-CN" altLang="en-US" sz="1800" b="1" dirty="0">
              <a:latin typeface="微软雅黑" panose="020B0503020204020204" pitchFamily="34" charset="-122"/>
              <a:ea typeface="微软雅黑" panose="020B0503020204020204" pitchFamily="34" charset="-122"/>
            </a:endParaRPr>
          </a:p>
        </p:txBody>
      </p:sp>
      <p:cxnSp>
        <p:nvCxnSpPr>
          <p:cNvPr id="57" name="直接连接符 58">
            <a:extLst>
              <a:ext uri="{FF2B5EF4-FFF2-40B4-BE49-F238E27FC236}">
                <a16:creationId xmlns:a16="http://schemas.microsoft.com/office/drawing/2014/main" xmlns="" id="{8C5F82EF-52B4-4531-96F0-44689EA1125E}"/>
              </a:ext>
            </a:extLst>
          </p:cNvPr>
          <p:cNvCxnSpPr>
            <a:cxnSpLocks/>
          </p:cNvCxnSpPr>
          <p:nvPr/>
        </p:nvCxnSpPr>
        <p:spPr>
          <a:xfrm>
            <a:off x="1441174" y="662614"/>
            <a:ext cx="1103243"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box(in)">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ox(in)">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barn(inHorizontal)">
                                      <p:cBhvr>
                                        <p:cTn id="17" dur="500"/>
                                        <p:tgtEl>
                                          <p:spTgt spid="55"/>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box(in)">
                                      <p:cBhvr>
                                        <p:cTn id="20" dur="500"/>
                                        <p:tgtEl>
                                          <p:spTgt spid="21"/>
                                        </p:tgtEl>
                                      </p:cBhvr>
                                    </p:animEffect>
                                  </p:childTnLst>
                                </p:cTn>
                              </p:par>
                              <p:par>
                                <p:cTn id="21" presetID="4" presetClass="entr" presetSubtype="16"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box(in)">
                                      <p:cBhvr>
                                        <p:cTn id="23" dur="500"/>
                                        <p:tgtEl>
                                          <p:spTgt spid="22"/>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box(in)">
                                      <p:cBhvr>
                                        <p:cTn id="26" dur="500"/>
                                        <p:tgtEl>
                                          <p:spTgt spid="23"/>
                                        </p:tgtEl>
                                      </p:cBhvr>
                                    </p:animEffect>
                                  </p:childTnLst>
                                </p:cTn>
                              </p:par>
                              <p:par>
                                <p:cTn id="27" presetID="4" presetClass="entr" presetSubtype="16"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box(in)">
                                      <p:cBhvr>
                                        <p:cTn id="29" dur="500"/>
                                        <p:tgtEl>
                                          <p:spTgt spid="24"/>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box(in)">
                                      <p:cBhvr>
                                        <p:cTn id="32" dur="500"/>
                                        <p:tgtEl>
                                          <p:spTgt spid="25"/>
                                        </p:tgtEl>
                                      </p:cBhvr>
                                    </p:animEffect>
                                  </p:childTnLst>
                                </p:cTn>
                              </p:par>
                              <p:par>
                                <p:cTn id="33" presetID="4" presetClass="entr" presetSubtype="16"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box(in)">
                                      <p:cBhvr>
                                        <p:cTn id="35" dur="500"/>
                                        <p:tgtEl>
                                          <p:spTgt spid="26"/>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box(in)">
                                      <p:cBhvr>
                                        <p:cTn id="38" dur="500"/>
                                        <p:tgtEl>
                                          <p:spTgt spid="27"/>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box(in)">
                                      <p:cBhvr>
                                        <p:cTn id="41" dur="500"/>
                                        <p:tgtEl>
                                          <p:spTgt spid="28"/>
                                        </p:tgtEl>
                                      </p:cBhvr>
                                    </p:animEffect>
                                  </p:childTnLst>
                                </p:cTn>
                              </p:par>
                              <p:par>
                                <p:cTn id="42" presetID="4" presetClass="entr" presetSubtype="16" fill="hold"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box(in)">
                                      <p:cBhvr>
                                        <p:cTn id="44" dur="500"/>
                                        <p:tgtEl>
                                          <p:spTgt spid="29"/>
                                        </p:tgtEl>
                                      </p:cBhvr>
                                    </p:animEffect>
                                  </p:childTnLst>
                                </p:cTn>
                              </p:par>
                              <p:par>
                                <p:cTn id="45" presetID="4" presetClass="entr" presetSubtype="16"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box(in)">
                                      <p:cBhvr>
                                        <p:cTn id="47" dur="500"/>
                                        <p:tgtEl>
                                          <p:spTgt spid="30"/>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box(in)">
                                      <p:cBhvr>
                                        <p:cTn id="50" dur="500"/>
                                        <p:tgtEl>
                                          <p:spTgt spid="31"/>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box(in)">
                                      <p:cBhvr>
                                        <p:cTn id="53" dur="500"/>
                                        <p:tgtEl>
                                          <p:spTgt spid="32"/>
                                        </p:tgtEl>
                                      </p:cBhvr>
                                    </p:animEffect>
                                  </p:childTnLst>
                                </p:cTn>
                              </p:par>
                              <p:par>
                                <p:cTn id="54" presetID="4" presetClass="entr" presetSubtype="16" fill="hold"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box(in)">
                                      <p:cBhvr>
                                        <p:cTn id="56" dur="500"/>
                                        <p:tgtEl>
                                          <p:spTgt spid="33"/>
                                        </p:tgtEl>
                                      </p:cBhvr>
                                    </p:animEffect>
                                  </p:childTnLst>
                                </p:cTn>
                              </p:par>
                              <p:par>
                                <p:cTn id="57" presetID="4" presetClass="entr" presetSubtype="16" fill="hold"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box(in)">
                                      <p:cBhvr>
                                        <p:cTn id="59" dur="500"/>
                                        <p:tgtEl>
                                          <p:spTgt spid="34"/>
                                        </p:tgtEl>
                                      </p:cBhvr>
                                    </p:animEffect>
                                  </p:childTnLst>
                                </p:cTn>
                              </p:par>
                              <p:par>
                                <p:cTn id="60" presetID="4" presetClass="entr" presetSubtype="16" fill="hold" nodeType="with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box(in)">
                                      <p:cBhvr>
                                        <p:cTn id="62" dur="500"/>
                                        <p:tgtEl>
                                          <p:spTgt spid="35"/>
                                        </p:tgtEl>
                                      </p:cBhvr>
                                    </p:animEffect>
                                  </p:childTnLst>
                                </p:cTn>
                              </p:par>
                              <p:par>
                                <p:cTn id="63" presetID="4" presetClass="entr" presetSubtype="16"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box(in)">
                                      <p:cBhvr>
                                        <p:cTn id="65" dur="500"/>
                                        <p:tgtEl>
                                          <p:spTgt spid="36"/>
                                        </p:tgtEl>
                                      </p:cBhvr>
                                    </p:animEffect>
                                  </p:childTnLst>
                                </p:cTn>
                              </p:par>
                              <p:par>
                                <p:cTn id="66" presetID="4" presetClass="entr" presetSubtype="16" fill="hold"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box(in)">
                                      <p:cBhvr>
                                        <p:cTn id="68" dur="500"/>
                                        <p:tgtEl>
                                          <p:spTgt spid="37"/>
                                        </p:tgtEl>
                                      </p:cBhvr>
                                    </p:animEffect>
                                  </p:childTnLst>
                                </p:cTn>
                              </p:par>
                              <p:par>
                                <p:cTn id="69" presetID="4" presetClass="entr" presetSubtype="16" fill="hold"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box(in)">
                                      <p:cBhvr>
                                        <p:cTn id="71" dur="500"/>
                                        <p:tgtEl>
                                          <p:spTgt spid="38"/>
                                        </p:tgtEl>
                                      </p:cBhvr>
                                    </p:animEffect>
                                  </p:childTnLst>
                                </p:cTn>
                              </p:par>
                              <p:par>
                                <p:cTn id="72" presetID="4" presetClass="entr" presetSubtype="16" fill="hold"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box(in)">
                                      <p:cBhvr>
                                        <p:cTn id="74" dur="500"/>
                                        <p:tgtEl>
                                          <p:spTgt spid="39"/>
                                        </p:tgtEl>
                                      </p:cBhvr>
                                    </p:animEffect>
                                  </p:childTnLst>
                                </p:cTn>
                              </p:par>
                              <p:par>
                                <p:cTn id="75" presetID="4" presetClass="entr" presetSubtype="16" fill="hold"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box(in)">
                                      <p:cBhvr>
                                        <p:cTn id="77" dur="500"/>
                                        <p:tgtEl>
                                          <p:spTgt spid="40"/>
                                        </p:tgtEl>
                                      </p:cBhvr>
                                    </p:animEffect>
                                  </p:childTnLst>
                                </p:cTn>
                              </p:par>
                              <p:par>
                                <p:cTn id="78" presetID="4" presetClass="entr" presetSubtype="16" fill="hold"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box(in)">
                                      <p:cBhvr>
                                        <p:cTn id="80" dur="500"/>
                                        <p:tgtEl>
                                          <p:spTgt spid="41"/>
                                        </p:tgtEl>
                                      </p:cBhvr>
                                    </p:animEffect>
                                  </p:childTnLst>
                                </p:cTn>
                              </p:par>
                              <p:par>
                                <p:cTn id="81" presetID="4" presetClass="entr" presetSubtype="16" fill="hold" nodeType="with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box(in)">
                                      <p:cBhvr>
                                        <p:cTn id="83" dur="500"/>
                                        <p:tgtEl>
                                          <p:spTgt spid="42"/>
                                        </p:tgtEl>
                                      </p:cBhvr>
                                    </p:animEffect>
                                  </p:childTnLst>
                                </p:cTn>
                              </p:par>
                              <p:par>
                                <p:cTn id="84" presetID="4" presetClass="entr" presetSubtype="16" fill="hold"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box(in)">
                                      <p:cBhvr>
                                        <p:cTn id="86" dur="500"/>
                                        <p:tgtEl>
                                          <p:spTgt spid="43"/>
                                        </p:tgtEl>
                                      </p:cBhvr>
                                    </p:animEffect>
                                  </p:childTnLst>
                                </p:cTn>
                              </p:par>
                              <p:par>
                                <p:cTn id="87" presetID="4" presetClass="entr" presetSubtype="16" fill="hold" nodeType="withEffect">
                                  <p:stCondLst>
                                    <p:cond delay="0"/>
                                  </p:stCondLst>
                                  <p:childTnLst>
                                    <p:set>
                                      <p:cBhvr>
                                        <p:cTn id="88" dur="1" fill="hold">
                                          <p:stCondLst>
                                            <p:cond delay="0"/>
                                          </p:stCondLst>
                                        </p:cTn>
                                        <p:tgtEl>
                                          <p:spTgt spid="44"/>
                                        </p:tgtEl>
                                        <p:attrNameLst>
                                          <p:attrName>style.visibility</p:attrName>
                                        </p:attrNameLst>
                                      </p:cBhvr>
                                      <p:to>
                                        <p:strVal val="visible"/>
                                      </p:to>
                                    </p:set>
                                    <p:animEffect transition="in" filter="box(in)">
                                      <p:cBhvr>
                                        <p:cTn id="89" dur="500"/>
                                        <p:tgtEl>
                                          <p:spTgt spid="44"/>
                                        </p:tgtEl>
                                      </p:cBhvr>
                                    </p:animEffect>
                                  </p:childTnLst>
                                </p:cTn>
                              </p:par>
                              <p:par>
                                <p:cTn id="90" presetID="4" presetClass="entr" presetSubtype="16" fill="hold" nodeType="withEffect">
                                  <p:stCondLst>
                                    <p:cond delay="0"/>
                                  </p:stCondLst>
                                  <p:childTnLst>
                                    <p:set>
                                      <p:cBhvr>
                                        <p:cTn id="91" dur="1" fill="hold">
                                          <p:stCondLst>
                                            <p:cond delay="0"/>
                                          </p:stCondLst>
                                        </p:cTn>
                                        <p:tgtEl>
                                          <p:spTgt spid="45"/>
                                        </p:tgtEl>
                                        <p:attrNameLst>
                                          <p:attrName>style.visibility</p:attrName>
                                        </p:attrNameLst>
                                      </p:cBhvr>
                                      <p:to>
                                        <p:strVal val="visible"/>
                                      </p:to>
                                    </p:set>
                                    <p:animEffect transition="in" filter="box(in)">
                                      <p:cBhvr>
                                        <p:cTn id="92" dur="500"/>
                                        <p:tgtEl>
                                          <p:spTgt spid="45"/>
                                        </p:tgtEl>
                                      </p:cBhvr>
                                    </p:animEffect>
                                  </p:childTnLst>
                                </p:cTn>
                              </p:par>
                              <p:par>
                                <p:cTn id="93" presetID="4" presetClass="entr" presetSubtype="16" fill="hold" nodeType="withEffect">
                                  <p:stCondLst>
                                    <p:cond delay="0"/>
                                  </p:stCondLst>
                                  <p:childTnLst>
                                    <p:set>
                                      <p:cBhvr>
                                        <p:cTn id="94" dur="1" fill="hold">
                                          <p:stCondLst>
                                            <p:cond delay="0"/>
                                          </p:stCondLst>
                                        </p:cTn>
                                        <p:tgtEl>
                                          <p:spTgt spid="46"/>
                                        </p:tgtEl>
                                        <p:attrNameLst>
                                          <p:attrName>style.visibility</p:attrName>
                                        </p:attrNameLst>
                                      </p:cBhvr>
                                      <p:to>
                                        <p:strVal val="visible"/>
                                      </p:to>
                                    </p:set>
                                    <p:animEffect transition="in" filter="box(in)">
                                      <p:cBhvr>
                                        <p:cTn id="95" dur="500"/>
                                        <p:tgtEl>
                                          <p:spTgt spid="46"/>
                                        </p:tgtEl>
                                      </p:cBhvr>
                                    </p:animEffect>
                                  </p:childTnLst>
                                </p:cTn>
                              </p:par>
                              <p:par>
                                <p:cTn id="96" presetID="4" presetClass="entr" presetSubtype="16" fill="hold" nodeType="withEffect">
                                  <p:stCondLst>
                                    <p:cond delay="0"/>
                                  </p:stCondLst>
                                  <p:childTnLst>
                                    <p:set>
                                      <p:cBhvr>
                                        <p:cTn id="97" dur="1" fill="hold">
                                          <p:stCondLst>
                                            <p:cond delay="0"/>
                                          </p:stCondLst>
                                        </p:cTn>
                                        <p:tgtEl>
                                          <p:spTgt spid="47"/>
                                        </p:tgtEl>
                                        <p:attrNameLst>
                                          <p:attrName>style.visibility</p:attrName>
                                        </p:attrNameLst>
                                      </p:cBhvr>
                                      <p:to>
                                        <p:strVal val="visible"/>
                                      </p:to>
                                    </p:set>
                                    <p:animEffect transition="in" filter="box(in)">
                                      <p:cBhvr>
                                        <p:cTn id="98" dur="500"/>
                                        <p:tgtEl>
                                          <p:spTgt spid="47"/>
                                        </p:tgtEl>
                                      </p:cBhvr>
                                    </p:animEffect>
                                  </p:childTnLst>
                                </p:cTn>
                              </p:par>
                              <p:par>
                                <p:cTn id="99" presetID="4" presetClass="entr" presetSubtype="16" fill="hold" nodeType="withEffect">
                                  <p:stCondLst>
                                    <p:cond delay="0"/>
                                  </p:stCondLst>
                                  <p:childTnLst>
                                    <p:set>
                                      <p:cBhvr>
                                        <p:cTn id="100" dur="1" fill="hold">
                                          <p:stCondLst>
                                            <p:cond delay="0"/>
                                          </p:stCondLst>
                                        </p:cTn>
                                        <p:tgtEl>
                                          <p:spTgt spid="48"/>
                                        </p:tgtEl>
                                        <p:attrNameLst>
                                          <p:attrName>style.visibility</p:attrName>
                                        </p:attrNameLst>
                                      </p:cBhvr>
                                      <p:to>
                                        <p:strVal val="visible"/>
                                      </p:to>
                                    </p:set>
                                    <p:animEffect transition="in" filter="box(in)">
                                      <p:cBhvr>
                                        <p:cTn id="101" dur="500"/>
                                        <p:tgtEl>
                                          <p:spTgt spid="48"/>
                                        </p:tgtEl>
                                      </p:cBhvr>
                                    </p:animEffect>
                                  </p:childTnLst>
                                </p:cTn>
                              </p:par>
                              <p:par>
                                <p:cTn id="102" presetID="4" presetClass="entr" presetSubtype="16" fill="hold" nodeType="withEffect">
                                  <p:stCondLst>
                                    <p:cond delay="0"/>
                                  </p:stCondLst>
                                  <p:childTnLst>
                                    <p:set>
                                      <p:cBhvr>
                                        <p:cTn id="103" dur="1" fill="hold">
                                          <p:stCondLst>
                                            <p:cond delay="0"/>
                                          </p:stCondLst>
                                        </p:cTn>
                                        <p:tgtEl>
                                          <p:spTgt spid="49"/>
                                        </p:tgtEl>
                                        <p:attrNameLst>
                                          <p:attrName>style.visibility</p:attrName>
                                        </p:attrNameLst>
                                      </p:cBhvr>
                                      <p:to>
                                        <p:strVal val="visible"/>
                                      </p:to>
                                    </p:set>
                                    <p:animEffect transition="in" filter="box(in)">
                                      <p:cBhvr>
                                        <p:cTn id="104" dur="500"/>
                                        <p:tgtEl>
                                          <p:spTgt spid="49"/>
                                        </p:tgtEl>
                                      </p:cBhvr>
                                    </p:animEffect>
                                  </p:childTnLst>
                                </p:cTn>
                              </p:par>
                              <p:par>
                                <p:cTn id="105" presetID="4" presetClass="entr" presetSubtype="16" fill="hold" grpId="0" nodeType="withEffect">
                                  <p:stCondLst>
                                    <p:cond delay="0"/>
                                  </p:stCondLst>
                                  <p:childTnLst>
                                    <p:set>
                                      <p:cBhvr>
                                        <p:cTn id="106" dur="1" fill="hold">
                                          <p:stCondLst>
                                            <p:cond delay="0"/>
                                          </p:stCondLst>
                                        </p:cTn>
                                        <p:tgtEl>
                                          <p:spTgt spid="50"/>
                                        </p:tgtEl>
                                        <p:attrNameLst>
                                          <p:attrName>style.visibility</p:attrName>
                                        </p:attrNameLst>
                                      </p:cBhvr>
                                      <p:to>
                                        <p:strVal val="visible"/>
                                      </p:to>
                                    </p:set>
                                    <p:animEffect transition="in" filter="box(in)">
                                      <p:cBhvr>
                                        <p:cTn id="107" dur="500"/>
                                        <p:tgtEl>
                                          <p:spTgt spid="50"/>
                                        </p:tgtEl>
                                      </p:cBhvr>
                                    </p:animEffect>
                                  </p:childTnLst>
                                </p:cTn>
                              </p:par>
                              <p:par>
                                <p:cTn id="108" presetID="4" presetClass="entr" presetSubtype="16" fill="hold" grpId="0" nodeType="withEffect">
                                  <p:stCondLst>
                                    <p:cond delay="0"/>
                                  </p:stCondLst>
                                  <p:childTnLst>
                                    <p:set>
                                      <p:cBhvr>
                                        <p:cTn id="109" dur="1" fill="hold">
                                          <p:stCondLst>
                                            <p:cond delay="0"/>
                                          </p:stCondLst>
                                        </p:cTn>
                                        <p:tgtEl>
                                          <p:spTgt spid="51"/>
                                        </p:tgtEl>
                                        <p:attrNameLst>
                                          <p:attrName>style.visibility</p:attrName>
                                        </p:attrNameLst>
                                      </p:cBhvr>
                                      <p:to>
                                        <p:strVal val="visible"/>
                                      </p:to>
                                    </p:set>
                                    <p:animEffect transition="in" filter="box(in)">
                                      <p:cBhvr>
                                        <p:cTn id="110" dur="500"/>
                                        <p:tgtEl>
                                          <p:spTgt spid="51"/>
                                        </p:tgtEl>
                                      </p:cBhvr>
                                    </p:animEffect>
                                  </p:childTnLst>
                                </p:cTn>
                              </p:par>
                              <p:par>
                                <p:cTn id="111" presetID="4" presetClass="entr" presetSubtype="16" fill="hold" grpId="0" nodeType="withEffect">
                                  <p:stCondLst>
                                    <p:cond delay="0"/>
                                  </p:stCondLst>
                                  <p:childTnLst>
                                    <p:set>
                                      <p:cBhvr>
                                        <p:cTn id="112" dur="1" fill="hold">
                                          <p:stCondLst>
                                            <p:cond delay="0"/>
                                          </p:stCondLst>
                                        </p:cTn>
                                        <p:tgtEl>
                                          <p:spTgt spid="52"/>
                                        </p:tgtEl>
                                        <p:attrNameLst>
                                          <p:attrName>style.visibility</p:attrName>
                                        </p:attrNameLst>
                                      </p:cBhvr>
                                      <p:to>
                                        <p:strVal val="visible"/>
                                      </p:to>
                                    </p:set>
                                    <p:animEffect transition="in" filter="box(in)">
                                      <p:cBhvr>
                                        <p:cTn id="113" dur="500"/>
                                        <p:tgtEl>
                                          <p:spTgt spid="52"/>
                                        </p:tgtEl>
                                      </p:cBhvr>
                                    </p:animEffect>
                                  </p:childTnLst>
                                </p:cTn>
                              </p:par>
                              <p:par>
                                <p:cTn id="114" presetID="4" presetClass="entr" presetSubtype="16" fill="hold" grpId="0" nodeType="withEffect">
                                  <p:stCondLst>
                                    <p:cond delay="0"/>
                                  </p:stCondLst>
                                  <p:childTnLst>
                                    <p:set>
                                      <p:cBhvr>
                                        <p:cTn id="115" dur="1" fill="hold">
                                          <p:stCondLst>
                                            <p:cond delay="0"/>
                                          </p:stCondLst>
                                        </p:cTn>
                                        <p:tgtEl>
                                          <p:spTgt spid="53"/>
                                        </p:tgtEl>
                                        <p:attrNameLst>
                                          <p:attrName>style.visibility</p:attrName>
                                        </p:attrNameLst>
                                      </p:cBhvr>
                                      <p:to>
                                        <p:strVal val="visible"/>
                                      </p:to>
                                    </p:set>
                                    <p:animEffect transition="in" filter="box(in)">
                                      <p:cBhvr>
                                        <p:cTn id="116"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3" grpId="0" animBg="1"/>
      <p:bldP spid="24" grpId="0" animBg="1"/>
      <p:bldP spid="25" grpId="0" animBg="1"/>
      <p:bldP spid="27" grpId="0" animBg="1"/>
      <p:bldP spid="28" grpId="0" animBg="1"/>
      <p:bldP spid="31" grpId="0" animBg="1"/>
      <p:bldP spid="32" grpId="0" animBg="1"/>
      <p:bldP spid="50" grpId="0"/>
      <p:bldP spid="51" grpId="0"/>
      <p:bldP spid="52" grpId="0"/>
      <p:bldP spid="53" grpId="0"/>
      <p:bldP spid="54" grpId="0" animBg="1"/>
      <p:bldP spid="5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56" name="组合 68"/>
          <p:cNvGrpSpPr>
            <a:grpSpLocks/>
          </p:cNvGrpSpPr>
          <p:nvPr/>
        </p:nvGrpSpPr>
        <p:grpSpPr bwMode="auto">
          <a:xfrm>
            <a:off x="4193696" y="3632634"/>
            <a:ext cx="2079625" cy="1608137"/>
            <a:chOff x="2424113" y="2500313"/>
            <a:chExt cx="2079625" cy="2143125"/>
          </a:xfrm>
        </p:grpSpPr>
        <p:sp>
          <p:nvSpPr>
            <p:cNvPr id="57" name="矩形 56"/>
            <p:cNvSpPr/>
            <p:nvPr/>
          </p:nvSpPr>
          <p:spPr>
            <a:xfrm>
              <a:off x="2428875" y="2500313"/>
              <a:ext cx="2071688" cy="2143125"/>
            </a:xfrm>
            <a:prstGeom prst="rect">
              <a:avLst/>
            </a:prstGeom>
            <a:solidFill>
              <a:srgbClr val="4F81BD">
                <a:lumMod val="40000"/>
                <a:lumOff val="60000"/>
              </a:srgbClr>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itchFamily="18" charset="0"/>
                <a:ea typeface="微软雅黑" pitchFamily="34" charset="-122"/>
                <a:cs typeface="Times New Roman" pitchFamily="18" charset="0"/>
              </a:endParaRPr>
            </a:p>
          </p:txBody>
        </p:sp>
        <p:cxnSp>
          <p:nvCxnSpPr>
            <p:cNvPr id="58" name="直接连接符 57"/>
            <p:cNvCxnSpPr/>
            <p:nvPr/>
          </p:nvCxnSpPr>
          <p:spPr>
            <a:xfrm>
              <a:off x="2428875" y="2595515"/>
              <a:ext cx="2071688" cy="2116"/>
            </a:xfrm>
            <a:prstGeom prst="line">
              <a:avLst/>
            </a:prstGeom>
            <a:noFill/>
            <a:ln w="38100" cap="flat" cmpd="sng" algn="ctr">
              <a:solidFill>
                <a:srgbClr val="7030A0"/>
              </a:solidFill>
              <a:prstDash val="solid"/>
            </a:ln>
            <a:effectLst/>
          </p:spPr>
        </p:cxnSp>
        <p:cxnSp>
          <p:nvCxnSpPr>
            <p:cNvPr id="59" name="直接连接符 58"/>
            <p:cNvCxnSpPr/>
            <p:nvPr/>
          </p:nvCxnSpPr>
          <p:spPr>
            <a:xfrm>
              <a:off x="2430463" y="2701296"/>
              <a:ext cx="2071687" cy="0"/>
            </a:xfrm>
            <a:prstGeom prst="line">
              <a:avLst/>
            </a:prstGeom>
            <a:noFill/>
            <a:ln w="38100" cap="flat" cmpd="sng" algn="ctr">
              <a:solidFill>
                <a:srgbClr val="7030A0"/>
              </a:solidFill>
              <a:prstDash val="solid"/>
            </a:ln>
            <a:effectLst/>
          </p:spPr>
        </p:cxnSp>
        <p:cxnSp>
          <p:nvCxnSpPr>
            <p:cNvPr id="60" name="直接连接符 59"/>
            <p:cNvCxnSpPr/>
            <p:nvPr/>
          </p:nvCxnSpPr>
          <p:spPr>
            <a:xfrm>
              <a:off x="2430463" y="2811309"/>
              <a:ext cx="2071687" cy="2116"/>
            </a:xfrm>
            <a:prstGeom prst="line">
              <a:avLst/>
            </a:prstGeom>
            <a:noFill/>
            <a:ln w="38100" cap="flat" cmpd="sng" algn="ctr">
              <a:solidFill>
                <a:srgbClr val="7030A0"/>
              </a:solidFill>
              <a:prstDash val="solid"/>
            </a:ln>
            <a:effectLst/>
          </p:spPr>
        </p:cxnSp>
        <p:cxnSp>
          <p:nvCxnSpPr>
            <p:cNvPr id="61" name="直接连接符 60"/>
            <p:cNvCxnSpPr/>
            <p:nvPr/>
          </p:nvCxnSpPr>
          <p:spPr>
            <a:xfrm>
              <a:off x="2430463" y="2923438"/>
              <a:ext cx="2071687" cy="0"/>
            </a:xfrm>
            <a:prstGeom prst="line">
              <a:avLst/>
            </a:prstGeom>
            <a:noFill/>
            <a:ln w="38100" cap="flat" cmpd="sng" algn="ctr">
              <a:solidFill>
                <a:srgbClr val="7030A0"/>
              </a:solidFill>
              <a:prstDash val="solid"/>
            </a:ln>
            <a:effectLst/>
          </p:spPr>
        </p:cxnSp>
        <p:cxnSp>
          <p:nvCxnSpPr>
            <p:cNvPr id="62" name="直接连接符 61"/>
            <p:cNvCxnSpPr/>
            <p:nvPr/>
          </p:nvCxnSpPr>
          <p:spPr>
            <a:xfrm>
              <a:off x="2430463" y="3033450"/>
              <a:ext cx="2071687" cy="2115"/>
            </a:xfrm>
            <a:prstGeom prst="line">
              <a:avLst/>
            </a:prstGeom>
            <a:noFill/>
            <a:ln w="38100" cap="flat" cmpd="sng" algn="ctr">
              <a:solidFill>
                <a:srgbClr val="7030A0"/>
              </a:solidFill>
              <a:prstDash val="solid"/>
            </a:ln>
            <a:effectLst/>
          </p:spPr>
        </p:cxnSp>
        <p:cxnSp>
          <p:nvCxnSpPr>
            <p:cNvPr id="63" name="直接连接符 62"/>
            <p:cNvCxnSpPr/>
            <p:nvPr/>
          </p:nvCxnSpPr>
          <p:spPr>
            <a:xfrm>
              <a:off x="2428875" y="3145577"/>
              <a:ext cx="2071688" cy="0"/>
            </a:xfrm>
            <a:prstGeom prst="line">
              <a:avLst/>
            </a:prstGeom>
            <a:noFill/>
            <a:ln w="38100" cap="flat" cmpd="sng" algn="ctr">
              <a:solidFill>
                <a:srgbClr val="7030A0"/>
              </a:solidFill>
              <a:prstDash val="solid"/>
            </a:ln>
            <a:effectLst/>
          </p:spPr>
        </p:cxnSp>
        <p:cxnSp>
          <p:nvCxnSpPr>
            <p:cNvPr id="64" name="直接连接符 63"/>
            <p:cNvCxnSpPr/>
            <p:nvPr/>
          </p:nvCxnSpPr>
          <p:spPr>
            <a:xfrm>
              <a:off x="2430463" y="3255590"/>
              <a:ext cx="2071687" cy="2116"/>
            </a:xfrm>
            <a:prstGeom prst="line">
              <a:avLst/>
            </a:prstGeom>
            <a:noFill/>
            <a:ln w="38100" cap="flat" cmpd="sng" algn="ctr">
              <a:solidFill>
                <a:srgbClr val="7030A0"/>
              </a:solidFill>
              <a:prstDash val="solid"/>
            </a:ln>
            <a:effectLst/>
          </p:spPr>
        </p:cxnSp>
        <p:cxnSp>
          <p:nvCxnSpPr>
            <p:cNvPr id="65" name="直接连接符 64"/>
            <p:cNvCxnSpPr/>
            <p:nvPr/>
          </p:nvCxnSpPr>
          <p:spPr>
            <a:xfrm>
              <a:off x="2430463" y="3367718"/>
              <a:ext cx="2071687" cy="2115"/>
            </a:xfrm>
            <a:prstGeom prst="line">
              <a:avLst/>
            </a:prstGeom>
            <a:noFill/>
            <a:ln w="38100" cap="flat" cmpd="sng" algn="ctr">
              <a:solidFill>
                <a:srgbClr val="7030A0"/>
              </a:solidFill>
              <a:prstDash val="solid"/>
            </a:ln>
            <a:effectLst/>
          </p:spPr>
        </p:cxnSp>
        <p:cxnSp>
          <p:nvCxnSpPr>
            <p:cNvPr id="66" name="直接连接符 65"/>
            <p:cNvCxnSpPr/>
            <p:nvPr/>
          </p:nvCxnSpPr>
          <p:spPr>
            <a:xfrm>
              <a:off x="2430463" y="3479846"/>
              <a:ext cx="2071687" cy="2116"/>
            </a:xfrm>
            <a:prstGeom prst="line">
              <a:avLst/>
            </a:prstGeom>
            <a:noFill/>
            <a:ln w="38100" cap="flat" cmpd="sng" algn="ctr">
              <a:solidFill>
                <a:srgbClr val="7030A0"/>
              </a:solidFill>
              <a:prstDash val="solid"/>
            </a:ln>
            <a:effectLst/>
          </p:spPr>
        </p:cxnSp>
        <p:cxnSp>
          <p:nvCxnSpPr>
            <p:cNvPr id="67" name="直接连接符 66"/>
            <p:cNvCxnSpPr/>
            <p:nvPr/>
          </p:nvCxnSpPr>
          <p:spPr>
            <a:xfrm>
              <a:off x="2428875" y="3591974"/>
              <a:ext cx="2071688" cy="0"/>
            </a:xfrm>
            <a:prstGeom prst="line">
              <a:avLst/>
            </a:prstGeom>
            <a:noFill/>
            <a:ln w="38100" cap="flat" cmpd="sng" algn="ctr">
              <a:solidFill>
                <a:srgbClr val="7030A0"/>
              </a:solidFill>
              <a:prstDash val="solid"/>
            </a:ln>
            <a:effectLst/>
          </p:spPr>
        </p:cxnSp>
        <p:cxnSp>
          <p:nvCxnSpPr>
            <p:cNvPr id="68" name="直接连接符 67"/>
            <p:cNvCxnSpPr/>
            <p:nvPr/>
          </p:nvCxnSpPr>
          <p:spPr>
            <a:xfrm>
              <a:off x="2432050" y="3712564"/>
              <a:ext cx="2071688" cy="0"/>
            </a:xfrm>
            <a:prstGeom prst="line">
              <a:avLst/>
            </a:prstGeom>
            <a:noFill/>
            <a:ln w="38100" cap="flat" cmpd="sng" algn="ctr">
              <a:solidFill>
                <a:srgbClr val="7030A0"/>
              </a:solidFill>
              <a:prstDash val="solid"/>
            </a:ln>
            <a:effectLst/>
          </p:spPr>
        </p:cxnSp>
        <p:cxnSp>
          <p:nvCxnSpPr>
            <p:cNvPr id="69" name="直接连接符 68"/>
            <p:cNvCxnSpPr/>
            <p:nvPr/>
          </p:nvCxnSpPr>
          <p:spPr>
            <a:xfrm>
              <a:off x="2432050" y="3822576"/>
              <a:ext cx="2071688" cy="2116"/>
            </a:xfrm>
            <a:prstGeom prst="line">
              <a:avLst/>
            </a:prstGeom>
            <a:noFill/>
            <a:ln w="38100" cap="flat" cmpd="sng" algn="ctr">
              <a:solidFill>
                <a:srgbClr val="7030A0"/>
              </a:solidFill>
              <a:prstDash val="solid"/>
            </a:ln>
            <a:effectLst/>
          </p:spPr>
        </p:cxnSp>
        <p:cxnSp>
          <p:nvCxnSpPr>
            <p:cNvPr id="70" name="直接连接符 69"/>
            <p:cNvCxnSpPr/>
            <p:nvPr/>
          </p:nvCxnSpPr>
          <p:spPr>
            <a:xfrm>
              <a:off x="2430463" y="3934705"/>
              <a:ext cx="2071687" cy="0"/>
            </a:xfrm>
            <a:prstGeom prst="line">
              <a:avLst/>
            </a:prstGeom>
            <a:noFill/>
            <a:ln w="38100" cap="flat" cmpd="sng" algn="ctr">
              <a:solidFill>
                <a:srgbClr val="7030A0"/>
              </a:solidFill>
              <a:prstDash val="solid"/>
            </a:ln>
            <a:effectLst/>
          </p:spPr>
        </p:cxnSp>
        <p:cxnSp>
          <p:nvCxnSpPr>
            <p:cNvPr id="71" name="直接连接符 70"/>
            <p:cNvCxnSpPr/>
            <p:nvPr/>
          </p:nvCxnSpPr>
          <p:spPr>
            <a:xfrm>
              <a:off x="2428875" y="4378986"/>
              <a:ext cx="2071688" cy="2115"/>
            </a:xfrm>
            <a:prstGeom prst="line">
              <a:avLst/>
            </a:prstGeom>
            <a:noFill/>
            <a:ln w="38100" cap="flat" cmpd="sng" algn="ctr">
              <a:solidFill>
                <a:srgbClr val="7030A0"/>
              </a:solidFill>
              <a:prstDash val="solid"/>
            </a:ln>
            <a:effectLst/>
          </p:spPr>
        </p:cxnSp>
        <p:cxnSp>
          <p:nvCxnSpPr>
            <p:cNvPr id="72" name="直接连接符 71"/>
            <p:cNvCxnSpPr/>
            <p:nvPr/>
          </p:nvCxnSpPr>
          <p:spPr>
            <a:xfrm>
              <a:off x="2432050" y="4044717"/>
              <a:ext cx="2071688" cy="2115"/>
            </a:xfrm>
            <a:prstGeom prst="line">
              <a:avLst/>
            </a:prstGeom>
            <a:noFill/>
            <a:ln w="38100" cap="flat" cmpd="sng" algn="ctr">
              <a:solidFill>
                <a:srgbClr val="7030A0"/>
              </a:solidFill>
              <a:prstDash val="solid"/>
            </a:ln>
            <a:effectLst/>
          </p:spPr>
        </p:cxnSp>
        <p:cxnSp>
          <p:nvCxnSpPr>
            <p:cNvPr id="73" name="直接连接符 72"/>
            <p:cNvCxnSpPr/>
            <p:nvPr/>
          </p:nvCxnSpPr>
          <p:spPr>
            <a:xfrm>
              <a:off x="2432050" y="4156845"/>
              <a:ext cx="2071688" cy="0"/>
            </a:xfrm>
            <a:prstGeom prst="line">
              <a:avLst/>
            </a:prstGeom>
            <a:noFill/>
            <a:ln w="38100" cap="flat" cmpd="sng" algn="ctr">
              <a:solidFill>
                <a:srgbClr val="7030A0"/>
              </a:solidFill>
              <a:prstDash val="solid"/>
            </a:ln>
            <a:effectLst/>
          </p:spPr>
        </p:cxnSp>
        <p:cxnSp>
          <p:nvCxnSpPr>
            <p:cNvPr id="74" name="直接连接符 73"/>
            <p:cNvCxnSpPr/>
            <p:nvPr/>
          </p:nvCxnSpPr>
          <p:spPr>
            <a:xfrm>
              <a:off x="2432050" y="4266857"/>
              <a:ext cx="2071688" cy="2116"/>
            </a:xfrm>
            <a:prstGeom prst="line">
              <a:avLst/>
            </a:prstGeom>
            <a:noFill/>
            <a:ln w="38100" cap="flat" cmpd="sng" algn="ctr">
              <a:solidFill>
                <a:srgbClr val="7030A0"/>
              </a:solidFill>
              <a:prstDash val="solid"/>
            </a:ln>
            <a:effectLst/>
          </p:spPr>
        </p:cxnSp>
        <p:cxnSp>
          <p:nvCxnSpPr>
            <p:cNvPr id="75" name="直接连接符 74"/>
            <p:cNvCxnSpPr/>
            <p:nvPr/>
          </p:nvCxnSpPr>
          <p:spPr>
            <a:xfrm>
              <a:off x="2424113" y="4499576"/>
              <a:ext cx="2073275" cy="0"/>
            </a:xfrm>
            <a:prstGeom prst="line">
              <a:avLst/>
            </a:prstGeom>
            <a:noFill/>
            <a:ln w="38100" cap="flat" cmpd="sng" algn="ctr">
              <a:solidFill>
                <a:srgbClr val="7030A0"/>
              </a:solidFill>
              <a:prstDash val="solid"/>
            </a:ln>
            <a:effectLst/>
          </p:spPr>
        </p:cxnSp>
        <p:cxnSp>
          <p:nvCxnSpPr>
            <p:cNvPr id="76" name="直接连接符 75"/>
            <p:cNvCxnSpPr/>
            <p:nvPr/>
          </p:nvCxnSpPr>
          <p:spPr>
            <a:xfrm>
              <a:off x="2424113" y="4609588"/>
              <a:ext cx="2073275" cy="2116"/>
            </a:xfrm>
            <a:prstGeom prst="line">
              <a:avLst/>
            </a:prstGeom>
            <a:noFill/>
            <a:ln w="38100" cap="flat" cmpd="sng" algn="ctr">
              <a:solidFill>
                <a:srgbClr val="7030A0"/>
              </a:solidFill>
              <a:prstDash val="solid"/>
            </a:ln>
            <a:effectLst/>
          </p:spPr>
        </p:cxnSp>
      </p:grpSp>
      <p:sp>
        <p:nvSpPr>
          <p:cNvPr id="77" name="矩形 76"/>
          <p:cNvSpPr/>
          <p:nvPr/>
        </p:nvSpPr>
        <p:spPr>
          <a:xfrm>
            <a:off x="6270146" y="3632634"/>
            <a:ext cx="71437" cy="1608137"/>
          </a:xfrm>
          <a:prstGeom prst="rect">
            <a:avLst/>
          </a:prstGeom>
          <a:solidFill>
            <a:srgbClr val="4BACC6">
              <a:lumMod val="75000"/>
            </a:srgbClr>
          </a:solidFill>
          <a:ln w="25400" cap="flat" cmpd="sng" algn="ctr">
            <a:solidFill>
              <a:srgbClr val="7030A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itchFamily="18" charset="0"/>
              <a:ea typeface="微软雅黑" pitchFamily="34" charset="-122"/>
              <a:cs typeface="Times New Roman" pitchFamily="18" charset="0"/>
            </a:endParaRPr>
          </a:p>
        </p:txBody>
      </p:sp>
      <p:sp>
        <p:nvSpPr>
          <p:cNvPr id="78" name="椭圆形标注 77"/>
          <p:cNvSpPr/>
          <p:nvPr/>
        </p:nvSpPr>
        <p:spPr>
          <a:xfrm>
            <a:off x="7681433" y="2669021"/>
            <a:ext cx="1857375" cy="1446213"/>
          </a:xfrm>
          <a:prstGeom prst="wedgeEllipseCallout">
            <a:avLst>
              <a:gd name="adj1" fmla="val -135749"/>
              <a:gd name="adj2" fmla="val 29870"/>
            </a:avLst>
          </a:prstGeom>
          <a:gradFill flip="none" rotWithShape="1">
            <a:gsLst>
              <a:gs pos="0">
                <a:srgbClr val="FFF200"/>
              </a:gs>
              <a:gs pos="45000">
                <a:srgbClr val="FF7A00"/>
              </a:gs>
              <a:gs pos="70000">
                <a:srgbClr val="FF0300"/>
              </a:gs>
              <a:gs pos="100000">
                <a:srgbClr val="4D0808"/>
              </a:gs>
            </a:gsLst>
            <a:lin ang="8100000" scaled="1"/>
            <a:tileRect/>
          </a:gra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itchFamily="18" charset="0"/>
              <a:ea typeface="微软雅黑" pitchFamily="34" charset="-122"/>
              <a:cs typeface="Times New Roman" pitchFamily="18" charset="0"/>
            </a:endParaRPr>
          </a:p>
        </p:txBody>
      </p:sp>
      <p:sp>
        <p:nvSpPr>
          <p:cNvPr id="79" name="矩形 78"/>
          <p:cNvSpPr/>
          <p:nvPr/>
        </p:nvSpPr>
        <p:spPr>
          <a:xfrm>
            <a:off x="7841798" y="3089794"/>
            <a:ext cx="1428760" cy="696521"/>
          </a:xfrm>
          <a:prstGeom prst="rect">
            <a:avLst/>
          </a:prstGeom>
          <a:gradFill flip="none" rotWithShape="1">
            <a:gsLst>
              <a:gs pos="0">
                <a:srgbClr val="4BACC6">
                  <a:lumMod val="60000"/>
                  <a:lumOff val="40000"/>
                  <a:shade val="30000"/>
                  <a:satMod val="115000"/>
                </a:srgbClr>
              </a:gs>
              <a:gs pos="50000">
                <a:srgbClr val="4BACC6">
                  <a:lumMod val="60000"/>
                  <a:lumOff val="40000"/>
                  <a:shade val="67500"/>
                  <a:satMod val="115000"/>
                </a:srgbClr>
              </a:gs>
              <a:gs pos="100000">
                <a:srgbClr val="4BACC6">
                  <a:lumMod val="60000"/>
                  <a:lumOff val="40000"/>
                  <a:shade val="100000"/>
                  <a:satMod val="115000"/>
                </a:srgbClr>
              </a:gs>
            </a:gsLst>
            <a:path path="circle">
              <a:fillToRect l="50000" t="50000" r="50000" b="50000"/>
            </a:path>
            <a:tileRect/>
          </a:gra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itchFamily="18" charset="0"/>
              <a:ea typeface="微软雅黑" pitchFamily="34" charset="-122"/>
              <a:cs typeface="Times New Roman" pitchFamily="18" charset="0"/>
            </a:endParaRPr>
          </a:p>
        </p:txBody>
      </p:sp>
      <p:sp>
        <p:nvSpPr>
          <p:cNvPr id="80" name="矩形 79"/>
          <p:cNvSpPr/>
          <p:nvPr/>
        </p:nvSpPr>
        <p:spPr>
          <a:xfrm>
            <a:off x="4127021" y="3632634"/>
            <a:ext cx="71437" cy="1608137"/>
          </a:xfrm>
          <a:prstGeom prst="rect">
            <a:avLst/>
          </a:prstGeom>
          <a:solidFill>
            <a:srgbClr val="2243EA"/>
          </a:solidFill>
          <a:ln w="25400" cap="flat" cmpd="sng" algn="ctr">
            <a:solidFill>
              <a:srgbClr val="7030A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itchFamily="18" charset="0"/>
              <a:ea typeface="微软雅黑" pitchFamily="34" charset="-122"/>
              <a:cs typeface="Times New Roman" pitchFamily="18" charset="0"/>
            </a:endParaRPr>
          </a:p>
        </p:txBody>
      </p:sp>
      <p:sp>
        <p:nvSpPr>
          <p:cNvPr id="81" name="矩形 80"/>
          <p:cNvSpPr/>
          <p:nvPr/>
        </p:nvSpPr>
        <p:spPr>
          <a:xfrm>
            <a:off x="7841771" y="3035734"/>
            <a:ext cx="1428750" cy="53975"/>
          </a:xfrm>
          <a:prstGeom prst="rect">
            <a:avLst/>
          </a:prstGeom>
          <a:solidFill>
            <a:srgbClr val="0070C0"/>
          </a:solidFill>
          <a:ln w="25400" cap="flat" cmpd="sng" algn="ctr">
            <a:solidFill>
              <a:srgbClr val="7030A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itchFamily="18" charset="0"/>
              <a:ea typeface="微软雅黑" pitchFamily="34" charset="-122"/>
              <a:cs typeface="Times New Roman" pitchFamily="18" charset="0"/>
            </a:endParaRPr>
          </a:p>
        </p:txBody>
      </p:sp>
      <p:sp>
        <p:nvSpPr>
          <p:cNvPr id="82" name="矩形 81"/>
          <p:cNvSpPr/>
          <p:nvPr/>
        </p:nvSpPr>
        <p:spPr>
          <a:xfrm>
            <a:off x="7841771" y="3785034"/>
            <a:ext cx="1428750" cy="53975"/>
          </a:xfrm>
          <a:prstGeom prst="rect">
            <a:avLst/>
          </a:prstGeom>
          <a:solidFill>
            <a:srgbClr val="0070C0"/>
          </a:solidFill>
          <a:ln w="25400" cap="flat" cmpd="sng" algn="ctr">
            <a:solidFill>
              <a:srgbClr val="7030A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itchFamily="18" charset="0"/>
              <a:ea typeface="微软雅黑" pitchFamily="34" charset="-122"/>
              <a:cs typeface="Times New Roman" pitchFamily="18" charset="0"/>
            </a:endParaRPr>
          </a:p>
        </p:txBody>
      </p:sp>
      <p:cxnSp>
        <p:nvCxnSpPr>
          <p:cNvPr id="83" name="直接箭头连接符 82"/>
          <p:cNvCxnSpPr/>
          <p:nvPr/>
        </p:nvCxnSpPr>
        <p:spPr>
          <a:xfrm flipV="1">
            <a:off x="7484583" y="3151621"/>
            <a:ext cx="642938" cy="374650"/>
          </a:xfrm>
          <a:prstGeom prst="straightConnector1">
            <a:avLst/>
          </a:prstGeom>
          <a:noFill/>
          <a:ln w="28575" cap="flat" cmpd="sng" algn="ctr">
            <a:solidFill>
              <a:srgbClr val="00FF00"/>
            </a:solidFill>
            <a:prstDash val="solid"/>
            <a:tailEnd type="stealth" w="sm" len="lg"/>
          </a:ln>
          <a:effectLst/>
        </p:spPr>
      </p:cxnSp>
      <p:cxnSp>
        <p:nvCxnSpPr>
          <p:cNvPr id="84" name="直接箭头连接符 83"/>
          <p:cNvCxnSpPr/>
          <p:nvPr/>
        </p:nvCxnSpPr>
        <p:spPr>
          <a:xfrm rot="16200000" flipH="1">
            <a:off x="7940196" y="3331009"/>
            <a:ext cx="588962" cy="214312"/>
          </a:xfrm>
          <a:prstGeom prst="straightConnector1">
            <a:avLst/>
          </a:prstGeom>
          <a:noFill/>
          <a:ln w="28575" cap="flat" cmpd="sng" algn="ctr">
            <a:solidFill>
              <a:srgbClr val="00FF00"/>
            </a:solidFill>
            <a:prstDash val="solid"/>
            <a:tailEnd type="stealth" w="sm" len="lg"/>
          </a:ln>
          <a:effectLst/>
        </p:spPr>
      </p:cxnSp>
      <p:cxnSp>
        <p:nvCxnSpPr>
          <p:cNvPr id="85" name="直接箭头连接符 84"/>
          <p:cNvCxnSpPr/>
          <p:nvPr/>
        </p:nvCxnSpPr>
        <p:spPr>
          <a:xfrm rot="16200000" flipH="1">
            <a:off x="8011634" y="3259571"/>
            <a:ext cx="588962" cy="357187"/>
          </a:xfrm>
          <a:prstGeom prst="straightConnector1">
            <a:avLst/>
          </a:prstGeom>
          <a:noFill/>
          <a:ln w="28575" cap="flat" cmpd="sng" algn="ctr">
            <a:solidFill>
              <a:srgbClr val="00FF00"/>
            </a:solidFill>
            <a:prstDash val="solid"/>
            <a:tailEnd type="stealth" w="sm" len="lg"/>
          </a:ln>
          <a:effectLst/>
        </p:spPr>
      </p:cxnSp>
      <p:cxnSp>
        <p:nvCxnSpPr>
          <p:cNvPr id="86" name="直接箭头连接符 85"/>
          <p:cNvCxnSpPr/>
          <p:nvPr/>
        </p:nvCxnSpPr>
        <p:spPr>
          <a:xfrm rot="5400000" flipH="1" flipV="1">
            <a:off x="8181496" y="3304021"/>
            <a:ext cx="534987" cy="214313"/>
          </a:xfrm>
          <a:prstGeom prst="straightConnector1">
            <a:avLst/>
          </a:prstGeom>
          <a:noFill/>
          <a:ln w="28575" cap="flat" cmpd="sng" algn="ctr">
            <a:solidFill>
              <a:srgbClr val="00FF00"/>
            </a:solidFill>
            <a:prstDash val="solid"/>
            <a:tailEnd type="stealth" w="sm" len="lg"/>
          </a:ln>
          <a:effectLst/>
        </p:spPr>
      </p:cxnSp>
      <p:cxnSp>
        <p:nvCxnSpPr>
          <p:cNvPr id="87" name="直接箭头连接符 86"/>
          <p:cNvCxnSpPr/>
          <p:nvPr/>
        </p:nvCxnSpPr>
        <p:spPr>
          <a:xfrm rot="5400000" flipH="1" flipV="1">
            <a:off x="8225946" y="3259571"/>
            <a:ext cx="588962" cy="357188"/>
          </a:xfrm>
          <a:prstGeom prst="straightConnector1">
            <a:avLst/>
          </a:prstGeom>
          <a:noFill/>
          <a:ln w="28575" cap="flat" cmpd="sng" algn="ctr">
            <a:solidFill>
              <a:srgbClr val="00FF00"/>
            </a:solidFill>
            <a:prstDash val="solid"/>
            <a:tailEnd type="stealth" w="sm" len="lg"/>
          </a:ln>
          <a:effectLst/>
        </p:spPr>
      </p:cxnSp>
      <p:cxnSp>
        <p:nvCxnSpPr>
          <p:cNvPr id="88" name="直接箭头连接符 87"/>
          <p:cNvCxnSpPr/>
          <p:nvPr/>
        </p:nvCxnSpPr>
        <p:spPr>
          <a:xfrm rot="5400000" flipH="1" flipV="1">
            <a:off x="8368821" y="3259571"/>
            <a:ext cx="588962" cy="357188"/>
          </a:xfrm>
          <a:prstGeom prst="straightConnector1">
            <a:avLst/>
          </a:prstGeom>
          <a:noFill/>
          <a:ln w="28575" cap="flat" cmpd="sng" algn="ctr">
            <a:solidFill>
              <a:srgbClr val="00FF00"/>
            </a:solidFill>
            <a:prstDash val="solid"/>
            <a:tailEnd type="stealth" w="sm" len="lg"/>
          </a:ln>
          <a:effectLst/>
        </p:spPr>
      </p:cxnSp>
      <p:cxnSp>
        <p:nvCxnSpPr>
          <p:cNvPr id="89" name="直接箭头连接符 88"/>
          <p:cNvCxnSpPr/>
          <p:nvPr/>
        </p:nvCxnSpPr>
        <p:spPr>
          <a:xfrm rot="5400000" flipH="1" flipV="1">
            <a:off x="8440259" y="3188133"/>
            <a:ext cx="588962" cy="500063"/>
          </a:xfrm>
          <a:prstGeom prst="straightConnector1">
            <a:avLst/>
          </a:prstGeom>
          <a:noFill/>
          <a:ln w="28575" cap="flat" cmpd="sng" algn="ctr">
            <a:solidFill>
              <a:srgbClr val="00FF00"/>
            </a:solidFill>
            <a:prstDash val="solid"/>
            <a:tailEnd type="stealth" w="sm" len="lg"/>
          </a:ln>
          <a:effectLst/>
        </p:spPr>
      </p:cxnSp>
      <p:cxnSp>
        <p:nvCxnSpPr>
          <p:cNvPr id="90" name="直接箭头连接符 89"/>
          <p:cNvCxnSpPr/>
          <p:nvPr/>
        </p:nvCxnSpPr>
        <p:spPr>
          <a:xfrm rot="16200000" flipH="1">
            <a:off x="8400571" y="3299259"/>
            <a:ext cx="596900" cy="285750"/>
          </a:xfrm>
          <a:prstGeom prst="straightConnector1">
            <a:avLst/>
          </a:prstGeom>
          <a:noFill/>
          <a:ln w="28575" cap="flat" cmpd="sng" algn="ctr">
            <a:solidFill>
              <a:srgbClr val="00FF00"/>
            </a:solidFill>
            <a:prstDash val="solid"/>
            <a:tailEnd type="stealth" w="sm" len="lg"/>
          </a:ln>
          <a:effectLst/>
        </p:spPr>
      </p:cxnSp>
      <p:cxnSp>
        <p:nvCxnSpPr>
          <p:cNvPr id="91" name="直接箭头连接符 90"/>
          <p:cNvCxnSpPr/>
          <p:nvPr/>
        </p:nvCxnSpPr>
        <p:spPr>
          <a:xfrm rot="16200000" flipH="1">
            <a:off x="8507727" y="3192103"/>
            <a:ext cx="596900" cy="500062"/>
          </a:xfrm>
          <a:prstGeom prst="straightConnector1">
            <a:avLst/>
          </a:prstGeom>
          <a:noFill/>
          <a:ln w="28575" cap="flat" cmpd="sng" algn="ctr">
            <a:solidFill>
              <a:srgbClr val="00FF00"/>
            </a:solidFill>
            <a:prstDash val="solid"/>
            <a:tailEnd type="stealth" w="sm" len="lg"/>
          </a:ln>
          <a:effectLst/>
        </p:spPr>
      </p:cxnSp>
      <p:cxnSp>
        <p:nvCxnSpPr>
          <p:cNvPr id="92" name="直接箭头连接符 91"/>
          <p:cNvCxnSpPr/>
          <p:nvPr/>
        </p:nvCxnSpPr>
        <p:spPr>
          <a:xfrm rot="16200000" flipH="1">
            <a:off x="8654571" y="3331009"/>
            <a:ext cx="588962" cy="214312"/>
          </a:xfrm>
          <a:prstGeom prst="straightConnector1">
            <a:avLst/>
          </a:prstGeom>
          <a:noFill/>
          <a:ln w="28575" cap="flat" cmpd="sng" algn="ctr">
            <a:solidFill>
              <a:srgbClr val="00FF00"/>
            </a:solidFill>
            <a:prstDash val="solid"/>
            <a:tailEnd type="stealth" w="sm" len="lg"/>
          </a:ln>
          <a:effectLst/>
        </p:spPr>
      </p:cxnSp>
      <p:cxnSp>
        <p:nvCxnSpPr>
          <p:cNvPr id="93" name="直接箭头连接符 92"/>
          <p:cNvCxnSpPr/>
          <p:nvPr/>
        </p:nvCxnSpPr>
        <p:spPr>
          <a:xfrm rot="16200000" flipH="1">
            <a:off x="8726009" y="3259571"/>
            <a:ext cx="588962" cy="357187"/>
          </a:xfrm>
          <a:prstGeom prst="straightConnector1">
            <a:avLst/>
          </a:prstGeom>
          <a:noFill/>
          <a:ln w="28575" cap="flat" cmpd="sng" algn="ctr">
            <a:solidFill>
              <a:srgbClr val="00FF00"/>
            </a:solidFill>
            <a:prstDash val="solid"/>
            <a:tailEnd type="stealth" w="sm" len="lg"/>
          </a:ln>
          <a:effectLst/>
        </p:spPr>
      </p:cxnSp>
      <p:cxnSp>
        <p:nvCxnSpPr>
          <p:cNvPr id="94" name="直接箭头连接符 93"/>
          <p:cNvCxnSpPr/>
          <p:nvPr/>
        </p:nvCxnSpPr>
        <p:spPr>
          <a:xfrm rot="16200000" flipH="1">
            <a:off x="8852215" y="3277827"/>
            <a:ext cx="666750" cy="455613"/>
          </a:xfrm>
          <a:prstGeom prst="straightConnector1">
            <a:avLst/>
          </a:prstGeom>
          <a:noFill/>
          <a:ln w="28575" cap="flat" cmpd="sng" algn="ctr">
            <a:solidFill>
              <a:srgbClr val="00FF00"/>
            </a:solidFill>
            <a:prstDash val="solid"/>
            <a:tailEnd type="stealth" w="sm" len="lg"/>
          </a:ln>
          <a:effectLst/>
        </p:spPr>
      </p:cxnSp>
      <p:cxnSp>
        <p:nvCxnSpPr>
          <p:cNvPr id="95" name="直接箭头连接符 94"/>
          <p:cNvCxnSpPr/>
          <p:nvPr/>
        </p:nvCxnSpPr>
        <p:spPr>
          <a:xfrm rot="16200000" flipH="1">
            <a:off x="8936352" y="3192103"/>
            <a:ext cx="596900" cy="500062"/>
          </a:xfrm>
          <a:prstGeom prst="straightConnector1">
            <a:avLst/>
          </a:prstGeom>
          <a:noFill/>
          <a:ln w="28575" cap="flat" cmpd="sng" algn="ctr">
            <a:solidFill>
              <a:srgbClr val="00FF00"/>
            </a:solidFill>
            <a:prstDash val="solid"/>
            <a:tailEnd type="stealth" w="sm" len="lg"/>
          </a:ln>
          <a:effectLst/>
        </p:spPr>
      </p:cxnSp>
      <p:cxnSp>
        <p:nvCxnSpPr>
          <p:cNvPr id="96" name="直接箭头连接符 95"/>
          <p:cNvCxnSpPr/>
          <p:nvPr/>
        </p:nvCxnSpPr>
        <p:spPr>
          <a:xfrm rot="16200000" flipH="1">
            <a:off x="8976040" y="3152415"/>
            <a:ext cx="588962" cy="571500"/>
          </a:xfrm>
          <a:prstGeom prst="straightConnector1">
            <a:avLst/>
          </a:prstGeom>
          <a:noFill/>
          <a:ln w="28575" cap="flat" cmpd="sng" algn="ctr">
            <a:solidFill>
              <a:srgbClr val="00FF00"/>
            </a:solidFill>
            <a:prstDash val="solid"/>
            <a:tailEnd type="stealth" w="sm" len="lg"/>
          </a:ln>
          <a:effectLst/>
        </p:spPr>
      </p:cxnSp>
      <p:cxnSp>
        <p:nvCxnSpPr>
          <p:cNvPr id="97" name="直接箭头连接符 96"/>
          <p:cNvCxnSpPr/>
          <p:nvPr/>
        </p:nvCxnSpPr>
        <p:spPr>
          <a:xfrm rot="16200000" flipH="1">
            <a:off x="9025252" y="3101615"/>
            <a:ext cx="490538" cy="571500"/>
          </a:xfrm>
          <a:prstGeom prst="straightConnector1">
            <a:avLst/>
          </a:prstGeom>
          <a:noFill/>
          <a:ln w="28575" cap="flat" cmpd="sng" algn="ctr">
            <a:solidFill>
              <a:srgbClr val="00FF00"/>
            </a:solidFill>
            <a:prstDash val="solid"/>
            <a:tailEnd type="stealth" w="sm" len="lg"/>
          </a:ln>
          <a:effectLst/>
        </p:spPr>
      </p:cxnSp>
      <p:cxnSp>
        <p:nvCxnSpPr>
          <p:cNvPr id="98" name="直接箭头连接符 97"/>
          <p:cNvCxnSpPr/>
          <p:nvPr/>
        </p:nvCxnSpPr>
        <p:spPr>
          <a:xfrm rot="5400000" flipH="1" flipV="1">
            <a:off x="8802208" y="3075422"/>
            <a:ext cx="650875" cy="571500"/>
          </a:xfrm>
          <a:prstGeom prst="straightConnector1">
            <a:avLst/>
          </a:prstGeom>
          <a:noFill/>
          <a:ln w="28575" cap="flat" cmpd="sng" algn="ctr">
            <a:solidFill>
              <a:srgbClr val="00FF00"/>
            </a:solidFill>
            <a:prstDash val="solid"/>
            <a:tailEnd type="stealth" w="sm" len="lg"/>
          </a:ln>
          <a:effectLst/>
        </p:spPr>
      </p:cxnSp>
      <p:cxnSp>
        <p:nvCxnSpPr>
          <p:cNvPr id="99" name="直接箭头连接符 98"/>
          <p:cNvCxnSpPr/>
          <p:nvPr/>
        </p:nvCxnSpPr>
        <p:spPr>
          <a:xfrm rot="5400000" flipH="1" flipV="1">
            <a:off x="8864121" y="3094471"/>
            <a:ext cx="598488" cy="642937"/>
          </a:xfrm>
          <a:prstGeom prst="straightConnector1">
            <a:avLst/>
          </a:prstGeom>
          <a:noFill/>
          <a:ln w="28575" cap="flat" cmpd="sng" algn="ctr">
            <a:solidFill>
              <a:srgbClr val="00FF00"/>
            </a:solidFill>
            <a:prstDash val="solid"/>
            <a:tailEnd type="stealth" w="sm" len="lg"/>
          </a:ln>
          <a:effectLst/>
        </p:spPr>
      </p:cxnSp>
      <p:cxnSp>
        <p:nvCxnSpPr>
          <p:cNvPr id="100" name="直接箭头连接符 99"/>
          <p:cNvCxnSpPr/>
          <p:nvPr/>
        </p:nvCxnSpPr>
        <p:spPr>
          <a:xfrm rot="5400000" flipH="1" flipV="1">
            <a:off x="9104627" y="3155590"/>
            <a:ext cx="474662" cy="571500"/>
          </a:xfrm>
          <a:prstGeom prst="straightConnector1">
            <a:avLst/>
          </a:prstGeom>
          <a:noFill/>
          <a:ln w="28575" cap="flat" cmpd="sng" algn="ctr">
            <a:solidFill>
              <a:srgbClr val="00FF00"/>
            </a:solidFill>
            <a:prstDash val="solid"/>
            <a:tailEnd type="stealth" w="sm" len="lg"/>
          </a:ln>
          <a:effectLst/>
        </p:spPr>
      </p:cxnSp>
      <p:cxnSp>
        <p:nvCxnSpPr>
          <p:cNvPr id="101" name="直接箭头连接符 100"/>
          <p:cNvCxnSpPr/>
          <p:nvPr/>
        </p:nvCxnSpPr>
        <p:spPr>
          <a:xfrm rot="5400000" flipH="1" flipV="1">
            <a:off x="9042715" y="3165114"/>
            <a:ext cx="527050" cy="500063"/>
          </a:xfrm>
          <a:prstGeom prst="straightConnector1">
            <a:avLst/>
          </a:prstGeom>
          <a:noFill/>
          <a:ln w="28575" cap="flat" cmpd="sng" algn="ctr">
            <a:solidFill>
              <a:srgbClr val="00FF00"/>
            </a:solidFill>
            <a:prstDash val="solid"/>
            <a:tailEnd type="stealth" w="sm" len="lg"/>
          </a:ln>
          <a:effectLst/>
        </p:spPr>
      </p:cxnSp>
      <p:cxnSp>
        <p:nvCxnSpPr>
          <p:cNvPr id="102" name="直接箭头连接符 101"/>
          <p:cNvCxnSpPr/>
          <p:nvPr/>
        </p:nvCxnSpPr>
        <p:spPr>
          <a:xfrm rot="5400000" flipH="1" flipV="1">
            <a:off x="9207815" y="3241314"/>
            <a:ext cx="482600" cy="500063"/>
          </a:xfrm>
          <a:prstGeom prst="straightConnector1">
            <a:avLst/>
          </a:prstGeom>
          <a:noFill/>
          <a:ln w="28575" cap="flat" cmpd="sng" algn="ctr">
            <a:solidFill>
              <a:srgbClr val="00FF00"/>
            </a:solidFill>
            <a:prstDash val="solid"/>
            <a:tailEnd type="stealth" w="sm" len="lg"/>
          </a:ln>
          <a:effectLst/>
        </p:spPr>
      </p:cxnSp>
      <p:cxnSp>
        <p:nvCxnSpPr>
          <p:cNvPr id="103" name="直接箭头连接符 102"/>
          <p:cNvCxnSpPr/>
          <p:nvPr/>
        </p:nvCxnSpPr>
        <p:spPr>
          <a:xfrm flipV="1">
            <a:off x="9199083" y="3311959"/>
            <a:ext cx="571500" cy="420687"/>
          </a:xfrm>
          <a:prstGeom prst="straightConnector1">
            <a:avLst/>
          </a:prstGeom>
          <a:noFill/>
          <a:ln w="28575" cap="flat" cmpd="sng" algn="ctr">
            <a:solidFill>
              <a:srgbClr val="00FF00"/>
            </a:solidFill>
            <a:prstDash val="solid"/>
            <a:tailEnd type="stealth" w="sm" len="lg"/>
          </a:ln>
          <a:effectLst/>
        </p:spPr>
      </p:cxnSp>
      <p:sp>
        <p:nvSpPr>
          <p:cNvPr id="104" name="TextBox 53"/>
          <p:cNvSpPr txBox="1">
            <a:spLocks noChangeArrowheads="1"/>
          </p:cNvSpPr>
          <p:nvPr/>
        </p:nvSpPr>
        <p:spPr bwMode="auto">
          <a:xfrm>
            <a:off x="3198333" y="3848534"/>
            <a:ext cx="42862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2000" b="1" smtClean="0">
                <a:solidFill>
                  <a:srgbClr val="0000CC"/>
                </a:solidFill>
                <a:ea typeface="微软雅黑" panose="020B0503020204020204" pitchFamily="34" charset="-122"/>
                <a:cs typeface="Times New Roman" panose="02020603050405020304" pitchFamily="18" charset="0"/>
              </a:rPr>
              <a:t>输入图像</a:t>
            </a:r>
          </a:p>
        </p:txBody>
      </p:sp>
      <p:sp>
        <p:nvSpPr>
          <p:cNvPr id="105" name="TextBox 54"/>
          <p:cNvSpPr txBox="1">
            <a:spLocks noChangeArrowheads="1"/>
          </p:cNvSpPr>
          <p:nvPr/>
        </p:nvSpPr>
        <p:spPr bwMode="auto">
          <a:xfrm>
            <a:off x="6698771" y="4008871"/>
            <a:ext cx="428625"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2000" b="1" smtClean="0">
                <a:solidFill>
                  <a:srgbClr val="0000CC"/>
                </a:solidFill>
                <a:ea typeface="微软雅黑" panose="020B0503020204020204" pitchFamily="34" charset="-122"/>
                <a:cs typeface="Times New Roman" panose="02020603050405020304" pitchFamily="18" charset="0"/>
              </a:rPr>
              <a:t>输出图像</a:t>
            </a:r>
          </a:p>
        </p:txBody>
      </p:sp>
      <p:sp>
        <p:nvSpPr>
          <p:cNvPr id="106" name="TextBox 55"/>
          <p:cNvSpPr txBox="1">
            <a:spLocks noChangeArrowheads="1"/>
          </p:cNvSpPr>
          <p:nvPr/>
        </p:nvSpPr>
        <p:spPr bwMode="auto">
          <a:xfrm>
            <a:off x="7127396" y="2883334"/>
            <a:ext cx="428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1800" b="1" smtClean="0">
                <a:solidFill>
                  <a:prstClr val="black"/>
                </a:solidFill>
                <a:ea typeface="微软雅黑" panose="020B0503020204020204" pitchFamily="34" charset="-122"/>
                <a:cs typeface="Times New Roman" panose="02020603050405020304" pitchFamily="18" charset="0"/>
              </a:rPr>
              <a:t>入射电子</a:t>
            </a:r>
          </a:p>
        </p:txBody>
      </p:sp>
      <p:grpSp>
        <p:nvGrpSpPr>
          <p:cNvPr id="107" name="组合 76"/>
          <p:cNvGrpSpPr>
            <a:grpSpLocks/>
          </p:cNvGrpSpPr>
          <p:nvPr/>
        </p:nvGrpSpPr>
        <p:grpSpPr bwMode="auto">
          <a:xfrm>
            <a:off x="7841771" y="2491221"/>
            <a:ext cx="1412875" cy="544513"/>
            <a:chOff x="6072188" y="976313"/>
            <a:chExt cx="1412875" cy="727075"/>
          </a:xfrm>
        </p:grpSpPr>
        <p:cxnSp>
          <p:nvCxnSpPr>
            <p:cNvPr id="108" name="直接连接符 107"/>
            <p:cNvCxnSpPr/>
            <p:nvPr/>
          </p:nvCxnSpPr>
          <p:spPr>
            <a:xfrm rot="5400000">
              <a:off x="5822851" y="1452463"/>
              <a:ext cx="500261" cy="1587"/>
            </a:xfrm>
            <a:prstGeom prst="line">
              <a:avLst/>
            </a:prstGeom>
            <a:noFill/>
            <a:ln w="28575" cap="flat" cmpd="sng" algn="ctr">
              <a:solidFill>
                <a:srgbClr val="FF0000"/>
              </a:solidFill>
              <a:prstDash val="solid"/>
            </a:ln>
            <a:effectLst/>
          </p:spPr>
        </p:cxnSp>
        <p:cxnSp>
          <p:nvCxnSpPr>
            <p:cNvPr id="109" name="直接连接符 108"/>
            <p:cNvCxnSpPr/>
            <p:nvPr/>
          </p:nvCxnSpPr>
          <p:spPr>
            <a:xfrm rot="5400000">
              <a:off x="7234138" y="1452463"/>
              <a:ext cx="500261" cy="1588"/>
            </a:xfrm>
            <a:prstGeom prst="line">
              <a:avLst/>
            </a:prstGeom>
            <a:noFill/>
            <a:ln w="28575" cap="flat" cmpd="sng" algn="ctr">
              <a:solidFill>
                <a:srgbClr val="FF0000"/>
              </a:solidFill>
              <a:prstDash val="solid"/>
            </a:ln>
            <a:effectLst/>
          </p:spPr>
        </p:cxnSp>
        <p:cxnSp>
          <p:nvCxnSpPr>
            <p:cNvPr id="110" name="直接箭头连接符 109"/>
            <p:cNvCxnSpPr/>
            <p:nvPr/>
          </p:nvCxnSpPr>
          <p:spPr>
            <a:xfrm>
              <a:off x="6115050" y="1340910"/>
              <a:ext cx="1357313" cy="2120"/>
            </a:xfrm>
            <a:prstGeom prst="straightConnector1">
              <a:avLst/>
            </a:prstGeom>
            <a:noFill/>
            <a:ln w="28575" cap="flat" cmpd="sng" algn="ctr">
              <a:solidFill>
                <a:srgbClr val="FF0000"/>
              </a:solidFill>
              <a:prstDash val="solid"/>
              <a:headEnd type="stealth" w="med" len="lg"/>
              <a:tailEnd type="stealth" w="med" len="lg"/>
            </a:ln>
            <a:effectLst/>
          </p:spPr>
        </p:cxnSp>
        <p:sp>
          <p:nvSpPr>
            <p:cNvPr id="111" name="TextBox 56"/>
            <p:cNvSpPr txBox="1">
              <a:spLocks noChangeArrowheads="1"/>
            </p:cNvSpPr>
            <p:nvPr/>
          </p:nvSpPr>
          <p:spPr bwMode="auto">
            <a:xfrm>
              <a:off x="6286500" y="976313"/>
              <a:ext cx="10001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高电压</a:t>
              </a:r>
            </a:p>
          </p:txBody>
        </p:sp>
      </p:grpSp>
      <p:cxnSp>
        <p:nvCxnSpPr>
          <p:cNvPr id="112" name="直接箭头连接符 111"/>
          <p:cNvCxnSpPr/>
          <p:nvPr/>
        </p:nvCxnSpPr>
        <p:spPr>
          <a:xfrm rot="16200000" flipH="1">
            <a:off x="3843652" y="3309578"/>
            <a:ext cx="306387" cy="311150"/>
          </a:xfrm>
          <a:prstGeom prst="straightConnector1">
            <a:avLst/>
          </a:prstGeom>
          <a:noFill/>
          <a:ln w="31750" cap="flat" cmpd="sng" algn="ctr">
            <a:solidFill>
              <a:sysClr val="windowText" lastClr="000000"/>
            </a:solidFill>
            <a:prstDash val="solid"/>
            <a:tailEnd type="stealth" w="med" len="lg"/>
          </a:ln>
          <a:effectLst/>
        </p:spPr>
      </p:cxnSp>
      <p:cxnSp>
        <p:nvCxnSpPr>
          <p:cNvPr id="113" name="直接箭头连接符 112"/>
          <p:cNvCxnSpPr/>
          <p:nvPr/>
        </p:nvCxnSpPr>
        <p:spPr>
          <a:xfrm rot="5400000">
            <a:off x="4896164" y="3471503"/>
            <a:ext cx="320675" cy="1588"/>
          </a:xfrm>
          <a:prstGeom prst="straightConnector1">
            <a:avLst/>
          </a:prstGeom>
          <a:noFill/>
          <a:ln w="31750" cap="flat" cmpd="sng" algn="ctr">
            <a:solidFill>
              <a:sysClr val="windowText" lastClr="000000"/>
            </a:solidFill>
            <a:prstDash val="solid"/>
            <a:tailEnd type="stealth" w="med" len="lg"/>
          </a:ln>
          <a:effectLst/>
        </p:spPr>
      </p:cxnSp>
      <p:cxnSp>
        <p:nvCxnSpPr>
          <p:cNvPr id="114" name="直接箭头连接符 113"/>
          <p:cNvCxnSpPr/>
          <p:nvPr/>
        </p:nvCxnSpPr>
        <p:spPr>
          <a:xfrm rot="5400000">
            <a:off x="6120921" y="3483409"/>
            <a:ext cx="344487" cy="1587"/>
          </a:xfrm>
          <a:prstGeom prst="straightConnector1">
            <a:avLst/>
          </a:prstGeom>
          <a:noFill/>
          <a:ln w="31750" cap="flat" cmpd="sng" algn="ctr">
            <a:solidFill>
              <a:sysClr val="windowText" lastClr="000000"/>
            </a:solidFill>
            <a:prstDash val="solid"/>
            <a:tailEnd type="stealth" w="med" len="lg"/>
          </a:ln>
          <a:effectLst/>
        </p:spPr>
      </p:cxnSp>
      <p:sp>
        <p:nvSpPr>
          <p:cNvPr id="115" name="TextBox 60"/>
          <p:cNvSpPr txBox="1">
            <a:spLocks noChangeArrowheads="1"/>
          </p:cNvSpPr>
          <p:nvPr/>
        </p:nvSpPr>
        <p:spPr bwMode="auto">
          <a:xfrm>
            <a:off x="2841146" y="3151621"/>
            <a:ext cx="1143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1800" b="1" smtClean="0">
                <a:solidFill>
                  <a:prstClr val="black"/>
                </a:solidFill>
                <a:ea typeface="微软雅黑" panose="020B0503020204020204" pitchFamily="34" charset="-122"/>
                <a:cs typeface="Times New Roman" panose="02020603050405020304" pitchFamily="18" charset="0"/>
              </a:rPr>
              <a:t>光电阴极</a:t>
            </a:r>
          </a:p>
        </p:txBody>
      </p:sp>
      <p:sp>
        <p:nvSpPr>
          <p:cNvPr id="116" name="TextBox 61"/>
          <p:cNvSpPr txBox="1">
            <a:spLocks noChangeArrowheads="1"/>
          </p:cNvSpPr>
          <p:nvPr/>
        </p:nvSpPr>
        <p:spPr bwMode="auto">
          <a:xfrm>
            <a:off x="4412771" y="2778559"/>
            <a:ext cx="13573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defTabSz="914400" eaLnBrk="1" hangingPunct="1"/>
            <a:r>
              <a:rPr lang="zh-CN" altLang="en-US" sz="1800" b="1" smtClean="0">
                <a:solidFill>
                  <a:prstClr val="black"/>
                </a:solidFill>
                <a:ea typeface="微软雅黑" panose="020B0503020204020204" pitchFamily="34" charset="-122"/>
                <a:cs typeface="Times New Roman" panose="02020603050405020304" pitchFamily="18" charset="0"/>
              </a:rPr>
              <a:t>带细孔的陶瓷或玻璃</a:t>
            </a:r>
          </a:p>
        </p:txBody>
      </p:sp>
      <p:sp>
        <p:nvSpPr>
          <p:cNvPr id="117" name="TextBox 62"/>
          <p:cNvSpPr txBox="1">
            <a:spLocks noChangeArrowheads="1"/>
          </p:cNvSpPr>
          <p:nvPr/>
        </p:nvSpPr>
        <p:spPr bwMode="auto">
          <a:xfrm>
            <a:off x="5912958" y="3043671"/>
            <a:ext cx="1000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1800" b="1" smtClean="0">
                <a:solidFill>
                  <a:prstClr val="black"/>
                </a:solidFill>
                <a:ea typeface="微软雅黑" panose="020B0503020204020204" pitchFamily="34" charset="-122"/>
                <a:cs typeface="Times New Roman" panose="02020603050405020304" pitchFamily="18" charset="0"/>
              </a:rPr>
              <a:t>荧光面</a:t>
            </a:r>
          </a:p>
        </p:txBody>
      </p:sp>
      <p:sp>
        <p:nvSpPr>
          <p:cNvPr id="118" name="TextBox 63"/>
          <p:cNvSpPr txBox="1">
            <a:spLocks noChangeArrowheads="1"/>
          </p:cNvSpPr>
          <p:nvPr/>
        </p:nvSpPr>
        <p:spPr bwMode="auto">
          <a:xfrm>
            <a:off x="9726133" y="2051484"/>
            <a:ext cx="28575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lang="zh-CN" altLang="en-US" sz="1800" b="1" smtClean="0">
                <a:solidFill>
                  <a:prstClr val="black"/>
                </a:solidFill>
                <a:ea typeface="微软雅黑" panose="020B0503020204020204" pitchFamily="34" charset="-122"/>
                <a:cs typeface="Times New Roman" panose="02020603050405020304" pitchFamily="18" charset="0"/>
              </a:rPr>
              <a:t>倍增后的二次电子</a:t>
            </a:r>
          </a:p>
        </p:txBody>
      </p:sp>
      <p:sp>
        <p:nvSpPr>
          <p:cNvPr id="119" name="右箭头 118"/>
          <p:cNvSpPr/>
          <p:nvPr/>
        </p:nvSpPr>
        <p:spPr>
          <a:xfrm>
            <a:off x="3626958" y="4169209"/>
            <a:ext cx="428625" cy="374650"/>
          </a:xfrm>
          <a:prstGeom prst="rightArrow">
            <a:avLst/>
          </a:prstGeom>
          <a:gradFill flip="none" rotWithShape="1">
            <a:gsLst>
              <a:gs pos="0">
                <a:srgbClr val="FFF200"/>
              </a:gs>
              <a:gs pos="45000">
                <a:srgbClr val="FF7A00"/>
              </a:gs>
              <a:gs pos="70000">
                <a:srgbClr val="FF0300"/>
              </a:gs>
              <a:gs pos="100000">
                <a:srgbClr val="4D0808"/>
              </a:gs>
            </a:gsLst>
            <a:lin ang="10800000" scaled="1"/>
            <a:tileRect/>
          </a:gra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0" name="右箭头 119"/>
          <p:cNvSpPr/>
          <p:nvPr/>
        </p:nvSpPr>
        <p:spPr>
          <a:xfrm>
            <a:off x="6371746" y="4223184"/>
            <a:ext cx="428625" cy="374650"/>
          </a:xfrm>
          <a:prstGeom prst="rightArrow">
            <a:avLst/>
          </a:prstGeom>
          <a:gradFill flip="none" rotWithShape="1">
            <a:gsLst>
              <a:gs pos="0">
                <a:srgbClr val="FFF200"/>
              </a:gs>
              <a:gs pos="45000">
                <a:srgbClr val="FF7A00"/>
              </a:gs>
              <a:gs pos="70000">
                <a:srgbClr val="FF0300"/>
              </a:gs>
              <a:gs pos="100000">
                <a:srgbClr val="4D0808"/>
              </a:gs>
            </a:gsLst>
            <a:lin ang="0" scaled="1"/>
            <a:tileRect/>
          </a:gra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1" name="Text Box 2"/>
          <p:cNvSpPr txBox="1">
            <a:spLocks noChangeArrowheads="1"/>
          </p:cNvSpPr>
          <p:nvPr/>
        </p:nvSpPr>
        <p:spPr bwMode="auto">
          <a:xfrm>
            <a:off x="3711096" y="1075748"/>
            <a:ext cx="5072062" cy="584200"/>
          </a:xfrm>
          <a:prstGeom prst="rect">
            <a:avLst/>
          </a:prstGeom>
          <a:gradFill>
            <a:gsLst>
              <a:gs pos="0">
                <a:srgbClr val="F79646"/>
              </a:gs>
              <a:gs pos="50000">
                <a:srgbClr val="4F81BD">
                  <a:tint val="44500"/>
                  <a:satMod val="160000"/>
                </a:srgbClr>
              </a:gs>
              <a:gs pos="100000">
                <a:srgbClr val="4F81BD">
                  <a:tint val="23500"/>
                  <a:satMod val="160000"/>
                </a:srgbClr>
              </a:gs>
            </a:gsLst>
            <a:lin ang="5400000" scaled="0"/>
          </a:gradFill>
          <a:ln w="9525">
            <a:noFill/>
            <a:miter lim="800000"/>
            <a:headEnd/>
            <a:tailEnd/>
          </a:ln>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3200" b="1" i="0" u="none" strike="noStrike" kern="0" cap="none" spc="0" normalizeH="0" baseline="0" noProof="0" dirty="0" smtClean="0">
                <a:ln>
                  <a:noFill/>
                </a:ln>
                <a:solidFill>
                  <a:prstClr val="black"/>
                </a:solidFill>
                <a:effectLst/>
                <a:uLnTx/>
                <a:uFillTx/>
                <a:latin typeface="微软雅黑" pitchFamily="34" charset="-122"/>
                <a:ea typeface="微软雅黑" pitchFamily="34" charset="-122"/>
                <a:cs typeface="Times New Roman" pitchFamily="18" charset="0"/>
              </a:rPr>
              <a:t>2</a:t>
            </a:r>
            <a:r>
              <a:rPr kumimoji="1" lang="en-US" altLang="zh-CN" sz="3200" b="1" kern="0" dirty="0" smtClean="0">
                <a:solidFill>
                  <a:prstClr val="black"/>
                </a:solidFill>
                <a:latin typeface="微软雅黑" pitchFamily="34" charset="-122"/>
                <a:ea typeface="微软雅黑" pitchFamily="34" charset="-122"/>
                <a:cs typeface="Times New Roman" pitchFamily="18" charset="0"/>
              </a:rPr>
              <a:t>. </a:t>
            </a:r>
            <a:r>
              <a:rPr kumimoji="1" lang="zh-CN" altLang="en-US" sz="3200" b="1" i="0" u="none" strike="noStrike" kern="0" cap="none" spc="0" normalizeH="0" baseline="0" noProof="0" dirty="0" smtClean="0">
                <a:ln>
                  <a:noFill/>
                </a:ln>
                <a:solidFill>
                  <a:prstClr val="black"/>
                </a:solidFill>
                <a:effectLst/>
                <a:uLnTx/>
                <a:uFillTx/>
                <a:latin typeface="微软雅黑" pitchFamily="34" charset="-122"/>
                <a:ea typeface="微软雅黑" pitchFamily="34" charset="-122"/>
                <a:cs typeface="Times New Roman" pitchFamily="18" charset="0"/>
              </a:rPr>
              <a:t>微通道板</a:t>
            </a:r>
            <a:r>
              <a:rPr kumimoji="1" lang="zh-CN" altLang="en-US" sz="3200" b="1" i="0" u="none" strike="noStrike" kern="0" cap="none" spc="0" normalizeH="0" baseline="0" noProof="0" dirty="0">
                <a:ln>
                  <a:noFill/>
                </a:ln>
                <a:solidFill>
                  <a:prstClr val="black"/>
                </a:solidFill>
                <a:effectLst/>
                <a:uLnTx/>
                <a:uFillTx/>
                <a:latin typeface="微软雅黑" pitchFamily="34" charset="-122"/>
                <a:ea typeface="微软雅黑" pitchFamily="34" charset="-122"/>
                <a:cs typeface="Times New Roman" pitchFamily="18" charset="0"/>
              </a:rPr>
              <a:t>式图像增强管 </a:t>
            </a:r>
          </a:p>
        </p:txBody>
      </p:sp>
      <p:sp>
        <p:nvSpPr>
          <p:cNvPr id="122" name="Text Box 6"/>
          <p:cNvSpPr txBox="1">
            <a:spLocks noChangeArrowheads="1"/>
          </p:cNvSpPr>
          <p:nvPr/>
        </p:nvSpPr>
        <p:spPr bwMode="auto">
          <a:xfrm>
            <a:off x="1828513" y="5589654"/>
            <a:ext cx="9989536"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lnSpc>
                <a:spcPct val="150000"/>
              </a:lnSpc>
              <a:spcBef>
                <a:spcPct val="50000"/>
              </a:spcBef>
            </a:pPr>
            <a:r>
              <a:rPr kumimoji="1" lang="en-US" altLang="zh-CN" sz="2800" dirty="0" smtClean="0">
                <a:solidFill>
                  <a:prstClr val="black"/>
                </a:solidFill>
                <a:latin typeface="微软雅黑" panose="020B0503020204020204" pitchFamily="34" charset="-122"/>
                <a:ea typeface="微软雅黑" panose="020B0503020204020204" pitchFamily="34" charset="-122"/>
              </a:rPr>
              <a:t>       </a:t>
            </a:r>
            <a:r>
              <a:rPr kumimoji="1" lang="zh-CN" altLang="en-US" sz="2800" b="1"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该管的核心部分是微通道板，它是由若干个极细的空心管道组成，管径约十几微米。</a:t>
            </a:r>
          </a:p>
        </p:txBody>
      </p:sp>
      <p:graphicFrame>
        <p:nvGraphicFramePr>
          <p:cNvPr id="123" name="Object 71"/>
          <p:cNvGraphicFramePr>
            <a:graphicFrameLocks noChangeAspect="1"/>
          </p:cNvGraphicFramePr>
          <p:nvPr>
            <p:extLst>
              <p:ext uri="{D42A27DB-BD31-4B8C-83A1-F6EECF244321}">
                <p14:modId xmlns:p14="http://schemas.microsoft.com/office/powerpoint/2010/main" val="2973831226"/>
              </p:ext>
            </p:extLst>
          </p:nvPr>
        </p:nvGraphicFramePr>
        <p:xfrm>
          <a:off x="7270271" y="4318434"/>
          <a:ext cx="3025775" cy="1190625"/>
        </p:xfrm>
        <a:graphic>
          <a:graphicData uri="http://schemas.openxmlformats.org/presentationml/2006/ole">
            <mc:AlternateContent xmlns:mc="http://schemas.openxmlformats.org/markup-compatibility/2006">
              <mc:Choice xmlns:v="urn:schemas-microsoft-com:vml" Requires="v">
                <p:oleObj spid="_x0000_s55302" name="Visio" r:id="rId3" imgW="1374172" imgH="630936" progId="">
                  <p:embed/>
                </p:oleObj>
              </mc:Choice>
              <mc:Fallback>
                <p:oleObj name="Visio" r:id="rId3" imgW="1374172" imgH="630936"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0271" y="4318434"/>
                        <a:ext cx="3025775" cy="1190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4" name="文本框 60">
            <a:extLst>
              <a:ext uri="{FF2B5EF4-FFF2-40B4-BE49-F238E27FC236}">
                <a16:creationId xmlns:a16="http://schemas.microsoft.com/office/drawing/2014/main" xmlns="" id="{791D85D7-F412-9C48-9F2B-E33F5B7B4F3C}"/>
              </a:ext>
            </a:extLst>
          </p:cNvPr>
          <p:cNvSpPr txBox="1"/>
          <p:nvPr/>
        </p:nvSpPr>
        <p:spPr>
          <a:xfrm>
            <a:off x="1441174" y="293282"/>
            <a:ext cx="1179636"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像增强管</a:t>
            </a:r>
            <a:endParaRPr lang="zh-CN" altLang="en-US" sz="1800" b="1" dirty="0">
              <a:latin typeface="微软雅黑" panose="020B0503020204020204" pitchFamily="34" charset="-122"/>
              <a:ea typeface="微软雅黑" panose="020B0503020204020204" pitchFamily="34" charset="-122"/>
            </a:endParaRPr>
          </a:p>
        </p:txBody>
      </p:sp>
      <p:cxnSp>
        <p:nvCxnSpPr>
          <p:cNvPr id="125" name="直接连接符 58">
            <a:extLst>
              <a:ext uri="{FF2B5EF4-FFF2-40B4-BE49-F238E27FC236}">
                <a16:creationId xmlns:a16="http://schemas.microsoft.com/office/drawing/2014/main" xmlns="" id="{8C5F82EF-52B4-4531-96F0-44689EA1125E}"/>
              </a:ext>
            </a:extLst>
          </p:cNvPr>
          <p:cNvCxnSpPr>
            <a:cxnSpLocks/>
          </p:cNvCxnSpPr>
          <p:nvPr/>
        </p:nvCxnSpPr>
        <p:spPr>
          <a:xfrm>
            <a:off x="1441174" y="662614"/>
            <a:ext cx="1103243" cy="1"/>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box(in)">
                                      <p:cBhvr>
                                        <p:cTn id="7" dur="500"/>
                                        <p:tgtEl>
                                          <p:spTgt spid="12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box(in)">
                                      <p:cBhvr>
                                        <p:cTn id="12" dur="500"/>
                                        <p:tgtEl>
                                          <p:spTgt spid="104"/>
                                        </p:tgtEl>
                                      </p:cBhvr>
                                    </p:animEffect>
                                  </p:childTnLst>
                                </p:cTn>
                              </p:par>
                            </p:childTnLst>
                          </p:cTn>
                        </p:par>
                        <p:par>
                          <p:cTn id="13" fill="hold">
                            <p:stCondLst>
                              <p:cond delay="500"/>
                            </p:stCondLst>
                            <p:childTnLst>
                              <p:par>
                                <p:cTn id="14" presetID="4" presetClass="entr" presetSubtype="16" fill="hold" grpId="0" nodeType="afterEffect">
                                  <p:stCondLst>
                                    <p:cond delay="0"/>
                                  </p:stCondLst>
                                  <p:childTnLst>
                                    <p:set>
                                      <p:cBhvr>
                                        <p:cTn id="15" dur="1" fill="hold">
                                          <p:stCondLst>
                                            <p:cond delay="0"/>
                                          </p:stCondLst>
                                        </p:cTn>
                                        <p:tgtEl>
                                          <p:spTgt spid="119"/>
                                        </p:tgtEl>
                                        <p:attrNameLst>
                                          <p:attrName>style.visibility</p:attrName>
                                        </p:attrNameLst>
                                      </p:cBhvr>
                                      <p:to>
                                        <p:strVal val="visible"/>
                                      </p:to>
                                    </p:set>
                                    <p:animEffect transition="in" filter="box(in)">
                                      <p:cBhvr>
                                        <p:cTn id="16" dur="500"/>
                                        <p:tgtEl>
                                          <p:spTgt spid="11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80"/>
                                        </p:tgtEl>
                                        <p:attrNameLst>
                                          <p:attrName>style.visibility</p:attrName>
                                        </p:attrNameLst>
                                      </p:cBhvr>
                                      <p:to>
                                        <p:strVal val="visible"/>
                                      </p:to>
                                    </p:set>
                                    <p:animEffect transition="in" filter="box(in)">
                                      <p:cBhvr>
                                        <p:cTn id="21" dur="500"/>
                                        <p:tgtEl>
                                          <p:spTgt spid="80"/>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115"/>
                                        </p:tgtEl>
                                        <p:attrNameLst>
                                          <p:attrName>style.visibility</p:attrName>
                                        </p:attrNameLst>
                                      </p:cBhvr>
                                      <p:to>
                                        <p:strVal val="visible"/>
                                      </p:to>
                                    </p:set>
                                    <p:animEffect transition="in" filter="box(in)">
                                      <p:cBhvr>
                                        <p:cTn id="24" dur="500"/>
                                        <p:tgtEl>
                                          <p:spTgt spid="115"/>
                                        </p:tgtEl>
                                      </p:cBhvr>
                                    </p:animEffect>
                                  </p:childTnLst>
                                </p:cTn>
                              </p:par>
                              <p:par>
                                <p:cTn id="25" presetID="4" presetClass="entr" presetSubtype="16" fill="hold" nodeType="withEffect">
                                  <p:stCondLst>
                                    <p:cond delay="0"/>
                                  </p:stCondLst>
                                  <p:childTnLst>
                                    <p:set>
                                      <p:cBhvr>
                                        <p:cTn id="26" dur="1" fill="hold">
                                          <p:stCondLst>
                                            <p:cond delay="0"/>
                                          </p:stCondLst>
                                        </p:cTn>
                                        <p:tgtEl>
                                          <p:spTgt spid="112"/>
                                        </p:tgtEl>
                                        <p:attrNameLst>
                                          <p:attrName>style.visibility</p:attrName>
                                        </p:attrNameLst>
                                      </p:cBhvr>
                                      <p:to>
                                        <p:strVal val="visible"/>
                                      </p:to>
                                    </p:set>
                                    <p:animEffect transition="in" filter="box(in)">
                                      <p:cBhvr>
                                        <p:cTn id="27" dur="500"/>
                                        <p:tgtEl>
                                          <p:spTgt spid="11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box(in)">
                                      <p:cBhvr>
                                        <p:cTn id="32" dur="500"/>
                                        <p:tgtEl>
                                          <p:spTgt spid="56"/>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116"/>
                                        </p:tgtEl>
                                        <p:attrNameLst>
                                          <p:attrName>style.visibility</p:attrName>
                                        </p:attrNameLst>
                                      </p:cBhvr>
                                      <p:to>
                                        <p:strVal val="visible"/>
                                      </p:to>
                                    </p:set>
                                    <p:animEffect transition="in" filter="box(in)">
                                      <p:cBhvr>
                                        <p:cTn id="35" dur="500"/>
                                        <p:tgtEl>
                                          <p:spTgt spid="116"/>
                                        </p:tgtEl>
                                      </p:cBhvr>
                                    </p:animEffect>
                                  </p:childTnLst>
                                </p:cTn>
                              </p:par>
                              <p:par>
                                <p:cTn id="36" presetID="4" presetClass="entr" presetSubtype="16" fill="hold" nodeType="withEffect">
                                  <p:stCondLst>
                                    <p:cond delay="0"/>
                                  </p:stCondLst>
                                  <p:childTnLst>
                                    <p:set>
                                      <p:cBhvr>
                                        <p:cTn id="37" dur="1" fill="hold">
                                          <p:stCondLst>
                                            <p:cond delay="0"/>
                                          </p:stCondLst>
                                        </p:cTn>
                                        <p:tgtEl>
                                          <p:spTgt spid="113"/>
                                        </p:tgtEl>
                                        <p:attrNameLst>
                                          <p:attrName>style.visibility</p:attrName>
                                        </p:attrNameLst>
                                      </p:cBhvr>
                                      <p:to>
                                        <p:strVal val="visible"/>
                                      </p:to>
                                    </p:set>
                                    <p:animEffect transition="in" filter="box(in)">
                                      <p:cBhvr>
                                        <p:cTn id="38" dur="500"/>
                                        <p:tgtEl>
                                          <p:spTgt spid="113"/>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78"/>
                                        </p:tgtEl>
                                        <p:attrNameLst>
                                          <p:attrName>style.visibility</p:attrName>
                                        </p:attrNameLst>
                                      </p:cBhvr>
                                      <p:to>
                                        <p:strVal val="visible"/>
                                      </p:to>
                                    </p:set>
                                    <p:animEffect transition="in" filter="box(in)">
                                      <p:cBhvr>
                                        <p:cTn id="43" dur="500"/>
                                        <p:tgtEl>
                                          <p:spTgt spid="78"/>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81"/>
                                        </p:tgtEl>
                                        <p:attrNameLst>
                                          <p:attrName>style.visibility</p:attrName>
                                        </p:attrNameLst>
                                      </p:cBhvr>
                                      <p:to>
                                        <p:strVal val="visible"/>
                                      </p:to>
                                    </p:set>
                                    <p:animEffect transition="in" filter="box(in)">
                                      <p:cBhvr>
                                        <p:cTn id="48" dur="500"/>
                                        <p:tgtEl>
                                          <p:spTgt spid="81"/>
                                        </p:tgtEl>
                                      </p:cBhvr>
                                    </p:animEffect>
                                  </p:childTnLst>
                                </p:cTn>
                              </p:par>
                              <p:par>
                                <p:cTn id="49" presetID="4" presetClass="entr" presetSubtype="16" fill="hold" grpId="0" nodeType="withEffect">
                                  <p:stCondLst>
                                    <p:cond delay="0"/>
                                  </p:stCondLst>
                                  <p:childTnLst>
                                    <p:set>
                                      <p:cBhvr>
                                        <p:cTn id="50" dur="1" fill="hold">
                                          <p:stCondLst>
                                            <p:cond delay="0"/>
                                          </p:stCondLst>
                                        </p:cTn>
                                        <p:tgtEl>
                                          <p:spTgt spid="82"/>
                                        </p:tgtEl>
                                        <p:attrNameLst>
                                          <p:attrName>style.visibility</p:attrName>
                                        </p:attrNameLst>
                                      </p:cBhvr>
                                      <p:to>
                                        <p:strVal val="visible"/>
                                      </p:to>
                                    </p:set>
                                    <p:animEffect transition="in" filter="box(in)">
                                      <p:cBhvr>
                                        <p:cTn id="51" dur="500"/>
                                        <p:tgtEl>
                                          <p:spTgt spid="82"/>
                                        </p:tgtEl>
                                      </p:cBhvr>
                                    </p:animEffect>
                                  </p:childTnLst>
                                </p:cTn>
                              </p:par>
                              <p:par>
                                <p:cTn id="52" presetID="4" presetClass="entr" presetSubtype="16" fill="hold" nodeType="withEffect">
                                  <p:stCondLst>
                                    <p:cond delay="0"/>
                                  </p:stCondLst>
                                  <p:childTnLst>
                                    <p:set>
                                      <p:cBhvr>
                                        <p:cTn id="53" dur="1" fill="hold">
                                          <p:stCondLst>
                                            <p:cond delay="0"/>
                                          </p:stCondLst>
                                        </p:cTn>
                                        <p:tgtEl>
                                          <p:spTgt spid="79"/>
                                        </p:tgtEl>
                                        <p:attrNameLst>
                                          <p:attrName>style.visibility</p:attrName>
                                        </p:attrNameLst>
                                      </p:cBhvr>
                                      <p:to>
                                        <p:strVal val="visible"/>
                                      </p:to>
                                    </p:set>
                                    <p:animEffect transition="in" filter="box(in)">
                                      <p:cBhvr>
                                        <p:cTn id="54" dur="500"/>
                                        <p:tgtEl>
                                          <p:spTgt spid="79"/>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16" fill="hold" nodeType="clickEffect">
                                  <p:stCondLst>
                                    <p:cond delay="0"/>
                                  </p:stCondLst>
                                  <p:childTnLst>
                                    <p:set>
                                      <p:cBhvr>
                                        <p:cTn id="58" dur="1" fill="hold">
                                          <p:stCondLst>
                                            <p:cond delay="0"/>
                                          </p:stCondLst>
                                        </p:cTn>
                                        <p:tgtEl>
                                          <p:spTgt spid="107"/>
                                        </p:tgtEl>
                                        <p:attrNameLst>
                                          <p:attrName>style.visibility</p:attrName>
                                        </p:attrNameLst>
                                      </p:cBhvr>
                                      <p:to>
                                        <p:strVal val="visible"/>
                                      </p:to>
                                    </p:set>
                                    <p:animEffect transition="in" filter="box(in)">
                                      <p:cBhvr>
                                        <p:cTn id="59" dur="500"/>
                                        <p:tgtEl>
                                          <p:spTgt spid="107"/>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16" fill="hold" grpId="0" nodeType="clickEffect">
                                  <p:stCondLst>
                                    <p:cond delay="0"/>
                                  </p:stCondLst>
                                  <p:childTnLst>
                                    <p:set>
                                      <p:cBhvr>
                                        <p:cTn id="63" dur="1" fill="hold">
                                          <p:stCondLst>
                                            <p:cond delay="0"/>
                                          </p:stCondLst>
                                        </p:cTn>
                                        <p:tgtEl>
                                          <p:spTgt spid="106"/>
                                        </p:tgtEl>
                                        <p:attrNameLst>
                                          <p:attrName>style.visibility</p:attrName>
                                        </p:attrNameLst>
                                      </p:cBhvr>
                                      <p:to>
                                        <p:strVal val="visible"/>
                                      </p:to>
                                    </p:set>
                                    <p:animEffect transition="in" filter="box(in)">
                                      <p:cBhvr>
                                        <p:cTn id="64" dur="500"/>
                                        <p:tgtEl>
                                          <p:spTgt spid="106"/>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ntr" presetSubtype="16" fill="hold" nodeType="clickEffect">
                                  <p:stCondLst>
                                    <p:cond delay="0"/>
                                  </p:stCondLst>
                                  <p:childTnLst>
                                    <p:set>
                                      <p:cBhvr>
                                        <p:cTn id="68" dur="1" fill="hold">
                                          <p:stCondLst>
                                            <p:cond delay="0"/>
                                          </p:stCondLst>
                                        </p:cTn>
                                        <p:tgtEl>
                                          <p:spTgt spid="83"/>
                                        </p:tgtEl>
                                        <p:attrNameLst>
                                          <p:attrName>style.visibility</p:attrName>
                                        </p:attrNameLst>
                                      </p:cBhvr>
                                      <p:to>
                                        <p:strVal val="visible"/>
                                      </p:to>
                                    </p:set>
                                    <p:animEffect transition="in" filter="box(in)">
                                      <p:cBhvr>
                                        <p:cTn id="69" dur="500"/>
                                        <p:tgtEl>
                                          <p:spTgt spid="83"/>
                                        </p:tgtEl>
                                      </p:cBhvr>
                                    </p:animEffect>
                                  </p:childTnLst>
                                </p:cTn>
                              </p:par>
                            </p:childTnLst>
                          </p:cTn>
                        </p:par>
                        <p:par>
                          <p:cTn id="70" fill="hold">
                            <p:stCondLst>
                              <p:cond delay="500"/>
                            </p:stCondLst>
                            <p:childTnLst>
                              <p:par>
                                <p:cTn id="71" presetID="18" presetClass="entr" presetSubtype="12" fill="hold" nodeType="afterEffect">
                                  <p:stCondLst>
                                    <p:cond delay="0"/>
                                  </p:stCondLst>
                                  <p:childTnLst>
                                    <p:set>
                                      <p:cBhvr>
                                        <p:cTn id="72" dur="1" fill="hold">
                                          <p:stCondLst>
                                            <p:cond delay="0"/>
                                          </p:stCondLst>
                                        </p:cTn>
                                        <p:tgtEl>
                                          <p:spTgt spid="84"/>
                                        </p:tgtEl>
                                        <p:attrNameLst>
                                          <p:attrName>style.visibility</p:attrName>
                                        </p:attrNameLst>
                                      </p:cBhvr>
                                      <p:to>
                                        <p:strVal val="visible"/>
                                      </p:to>
                                    </p:set>
                                    <p:animEffect transition="in" filter="strips(downLeft)">
                                      <p:cBhvr>
                                        <p:cTn id="73" dur="500"/>
                                        <p:tgtEl>
                                          <p:spTgt spid="84"/>
                                        </p:tgtEl>
                                      </p:cBhvr>
                                    </p:animEffect>
                                  </p:childTnLst>
                                </p:cTn>
                              </p:par>
                            </p:childTnLst>
                          </p:cTn>
                        </p:par>
                        <p:par>
                          <p:cTn id="74" fill="hold">
                            <p:stCondLst>
                              <p:cond delay="1000"/>
                            </p:stCondLst>
                            <p:childTnLst>
                              <p:par>
                                <p:cTn id="75" presetID="18" presetClass="entr" presetSubtype="12" fill="hold" nodeType="afterEffect">
                                  <p:stCondLst>
                                    <p:cond delay="0"/>
                                  </p:stCondLst>
                                  <p:childTnLst>
                                    <p:set>
                                      <p:cBhvr>
                                        <p:cTn id="76" dur="1" fill="hold">
                                          <p:stCondLst>
                                            <p:cond delay="0"/>
                                          </p:stCondLst>
                                        </p:cTn>
                                        <p:tgtEl>
                                          <p:spTgt spid="85"/>
                                        </p:tgtEl>
                                        <p:attrNameLst>
                                          <p:attrName>style.visibility</p:attrName>
                                        </p:attrNameLst>
                                      </p:cBhvr>
                                      <p:to>
                                        <p:strVal val="visible"/>
                                      </p:to>
                                    </p:set>
                                    <p:animEffect transition="in" filter="strips(downLeft)">
                                      <p:cBhvr>
                                        <p:cTn id="77" dur="500"/>
                                        <p:tgtEl>
                                          <p:spTgt spid="85"/>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3" fill="hold" nodeType="clickEffect">
                                  <p:stCondLst>
                                    <p:cond delay="0"/>
                                  </p:stCondLst>
                                  <p:childTnLst>
                                    <p:set>
                                      <p:cBhvr>
                                        <p:cTn id="81" dur="1" fill="hold">
                                          <p:stCondLst>
                                            <p:cond delay="0"/>
                                          </p:stCondLst>
                                        </p:cTn>
                                        <p:tgtEl>
                                          <p:spTgt spid="86"/>
                                        </p:tgtEl>
                                        <p:attrNameLst>
                                          <p:attrName>style.visibility</p:attrName>
                                        </p:attrNameLst>
                                      </p:cBhvr>
                                      <p:to>
                                        <p:strVal val="visible"/>
                                      </p:to>
                                    </p:set>
                                    <p:animEffect transition="in" filter="strips(upRight)">
                                      <p:cBhvr>
                                        <p:cTn id="82" dur="500"/>
                                        <p:tgtEl>
                                          <p:spTgt spid="86"/>
                                        </p:tgtEl>
                                      </p:cBhvr>
                                    </p:animEffect>
                                  </p:childTnLst>
                                </p:cTn>
                              </p:par>
                              <p:par>
                                <p:cTn id="83" presetID="18" presetClass="entr" presetSubtype="3" fill="hold" nodeType="withEffect">
                                  <p:stCondLst>
                                    <p:cond delay="0"/>
                                  </p:stCondLst>
                                  <p:childTnLst>
                                    <p:set>
                                      <p:cBhvr>
                                        <p:cTn id="84" dur="1" fill="hold">
                                          <p:stCondLst>
                                            <p:cond delay="0"/>
                                          </p:stCondLst>
                                        </p:cTn>
                                        <p:tgtEl>
                                          <p:spTgt spid="87"/>
                                        </p:tgtEl>
                                        <p:attrNameLst>
                                          <p:attrName>style.visibility</p:attrName>
                                        </p:attrNameLst>
                                      </p:cBhvr>
                                      <p:to>
                                        <p:strVal val="visible"/>
                                      </p:to>
                                    </p:set>
                                    <p:animEffect transition="in" filter="strips(upRight)">
                                      <p:cBhvr>
                                        <p:cTn id="85" dur="500"/>
                                        <p:tgtEl>
                                          <p:spTgt spid="87"/>
                                        </p:tgtEl>
                                      </p:cBhvr>
                                    </p:animEffect>
                                  </p:childTnLst>
                                </p:cTn>
                              </p:par>
                              <p:par>
                                <p:cTn id="86" presetID="18" presetClass="entr" presetSubtype="3" fill="hold" nodeType="withEffect">
                                  <p:stCondLst>
                                    <p:cond delay="0"/>
                                  </p:stCondLst>
                                  <p:childTnLst>
                                    <p:set>
                                      <p:cBhvr>
                                        <p:cTn id="87" dur="1" fill="hold">
                                          <p:stCondLst>
                                            <p:cond delay="0"/>
                                          </p:stCondLst>
                                        </p:cTn>
                                        <p:tgtEl>
                                          <p:spTgt spid="89"/>
                                        </p:tgtEl>
                                        <p:attrNameLst>
                                          <p:attrName>style.visibility</p:attrName>
                                        </p:attrNameLst>
                                      </p:cBhvr>
                                      <p:to>
                                        <p:strVal val="visible"/>
                                      </p:to>
                                    </p:set>
                                    <p:animEffect transition="in" filter="strips(upRight)">
                                      <p:cBhvr>
                                        <p:cTn id="88" dur="500"/>
                                        <p:tgtEl>
                                          <p:spTgt spid="89"/>
                                        </p:tgtEl>
                                      </p:cBhvr>
                                    </p:animEffect>
                                  </p:childTnLst>
                                </p:cTn>
                              </p:par>
                              <p:par>
                                <p:cTn id="89" presetID="18" presetClass="entr" presetSubtype="3" fill="hold" nodeType="withEffect">
                                  <p:stCondLst>
                                    <p:cond delay="0"/>
                                  </p:stCondLst>
                                  <p:childTnLst>
                                    <p:set>
                                      <p:cBhvr>
                                        <p:cTn id="90" dur="1" fill="hold">
                                          <p:stCondLst>
                                            <p:cond delay="0"/>
                                          </p:stCondLst>
                                        </p:cTn>
                                        <p:tgtEl>
                                          <p:spTgt spid="88"/>
                                        </p:tgtEl>
                                        <p:attrNameLst>
                                          <p:attrName>style.visibility</p:attrName>
                                        </p:attrNameLst>
                                      </p:cBhvr>
                                      <p:to>
                                        <p:strVal val="visible"/>
                                      </p:to>
                                    </p:set>
                                    <p:animEffect transition="in" filter="strips(upRight)">
                                      <p:cBhvr>
                                        <p:cTn id="91" dur="500"/>
                                        <p:tgtEl>
                                          <p:spTgt spid="88"/>
                                        </p:tgtEl>
                                      </p:cBhvr>
                                    </p:animEffect>
                                  </p:childTnLst>
                                </p:cTn>
                              </p:par>
                            </p:childTnLst>
                          </p:cTn>
                        </p:par>
                      </p:childTnLst>
                    </p:cTn>
                  </p:par>
                  <p:par>
                    <p:cTn id="92" fill="hold">
                      <p:stCondLst>
                        <p:cond delay="indefinite"/>
                      </p:stCondLst>
                      <p:childTnLst>
                        <p:par>
                          <p:cTn id="93" fill="hold">
                            <p:stCondLst>
                              <p:cond delay="0"/>
                            </p:stCondLst>
                            <p:childTnLst>
                              <p:par>
                                <p:cTn id="94" presetID="18" presetClass="entr" presetSubtype="12" fill="hold" nodeType="clickEffect">
                                  <p:stCondLst>
                                    <p:cond delay="0"/>
                                  </p:stCondLst>
                                  <p:childTnLst>
                                    <p:set>
                                      <p:cBhvr>
                                        <p:cTn id="95" dur="1" fill="hold">
                                          <p:stCondLst>
                                            <p:cond delay="0"/>
                                          </p:stCondLst>
                                        </p:cTn>
                                        <p:tgtEl>
                                          <p:spTgt spid="90"/>
                                        </p:tgtEl>
                                        <p:attrNameLst>
                                          <p:attrName>style.visibility</p:attrName>
                                        </p:attrNameLst>
                                      </p:cBhvr>
                                      <p:to>
                                        <p:strVal val="visible"/>
                                      </p:to>
                                    </p:set>
                                    <p:animEffect transition="in" filter="strips(downLeft)">
                                      <p:cBhvr>
                                        <p:cTn id="96" dur="500"/>
                                        <p:tgtEl>
                                          <p:spTgt spid="90"/>
                                        </p:tgtEl>
                                      </p:cBhvr>
                                    </p:animEffect>
                                  </p:childTnLst>
                                </p:cTn>
                              </p:par>
                              <p:par>
                                <p:cTn id="97" presetID="18" presetClass="entr" presetSubtype="12" fill="hold" nodeType="withEffect">
                                  <p:stCondLst>
                                    <p:cond delay="0"/>
                                  </p:stCondLst>
                                  <p:childTnLst>
                                    <p:set>
                                      <p:cBhvr>
                                        <p:cTn id="98" dur="1" fill="hold">
                                          <p:stCondLst>
                                            <p:cond delay="0"/>
                                          </p:stCondLst>
                                        </p:cTn>
                                        <p:tgtEl>
                                          <p:spTgt spid="91"/>
                                        </p:tgtEl>
                                        <p:attrNameLst>
                                          <p:attrName>style.visibility</p:attrName>
                                        </p:attrNameLst>
                                      </p:cBhvr>
                                      <p:to>
                                        <p:strVal val="visible"/>
                                      </p:to>
                                    </p:set>
                                    <p:animEffect transition="in" filter="strips(downLeft)">
                                      <p:cBhvr>
                                        <p:cTn id="99" dur="500"/>
                                        <p:tgtEl>
                                          <p:spTgt spid="91"/>
                                        </p:tgtEl>
                                      </p:cBhvr>
                                    </p:animEffect>
                                  </p:childTnLst>
                                </p:cTn>
                              </p:par>
                              <p:par>
                                <p:cTn id="100" presetID="18" presetClass="entr" presetSubtype="12" fill="hold" nodeType="withEffect">
                                  <p:stCondLst>
                                    <p:cond delay="0"/>
                                  </p:stCondLst>
                                  <p:childTnLst>
                                    <p:set>
                                      <p:cBhvr>
                                        <p:cTn id="101" dur="1" fill="hold">
                                          <p:stCondLst>
                                            <p:cond delay="0"/>
                                          </p:stCondLst>
                                        </p:cTn>
                                        <p:tgtEl>
                                          <p:spTgt spid="92"/>
                                        </p:tgtEl>
                                        <p:attrNameLst>
                                          <p:attrName>style.visibility</p:attrName>
                                        </p:attrNameLst>
                                      </p:cBhvr>
                                      <p:to>
                                        <p:strVal val="visible"/>
                                      </p:to>
                                    </p:set>
                                    <p:animEffect transition="in" filter="strips(downLeft)">
                                      <p:cBhvr>
                                        <p:cTn id="102" dur="500"/>
                                        <p:tgtEl>
                                          <p:spTgt spid="92"/>
                                        </p:tgtEl>
                                      </p:cBhvr>
                                    </p:animEffect>
                                  </p:childTnLst>
                                </p:cTn>
                              </p:par>
                              <p:par>
                                <p:cTn id="103" presetID="18" presetClass="entr" presetSubtype="12" fill="hold" nodeType="withEffect">
                                  <p:stCondLst>
                                    <p:cond delay="0"/>
                                  </p:stCondLst>
                                  <p:childTnLst>
                                    <p:set>
                                      <p:cBhvr>
                                        <p:cTn id="104" dur="1" fill="hold">
                                          <p:stCondLst>
                                            <p:cond delay="0"/>
                                          </p:stCondLst>
                                        </p:cTn>
                                        <p:tgtEl>
                                          <p:spTgt spid="93"/>
                                        </p:tgtEl>
                                        <p:attrNameLst>
                                          <p:attrName>style.visibility</p:attrName>
                                        </p:attrNameLst>
                                      </p:cBhvr>
                                      <p:to>
                                        <p:strVal val="visible"/>
                                      </p:to>
                                    </p:set>
                                    <p:animEffect transition="in" filter="strips(downLeft)">
                                      <p:cBhvr>
                                        <p:cTn id="105" dur="500"/>
                                        <p:tgtEl>
                                          <p:spTgt spid="93"/>
                                        </p:tgtEl>
                                      </p:cBhvr>
                                    </p:animEffect>
                                  </p:childTnLst>
                                </p:cTn>
                              </p:par>
                              <p:par>
                                <p:cTn id="106" presetID="18" presetClass="entr" presetSubtype="12" fill="hold" nodeType="withEffect">
                                  <p:stCondLst>
                                    <p:cond delay="0"/>
                                  </p:stCondLst>
                                  <p:childTnLst>
                                    <p:set>
                                      <p:cBhvr>
                                        <p:cTn id="107" dur="1" fill="hold">
                                          <p:stCondLst>
                                            <p:cond delay="0"/>
                                          </p:stCondLst>
                                        </p:cTn>
                                        <p:tgtEl>
                                          <p:spTgt spid="94"/>
                                        </p:tgtEl>
                                        <p:attrNameLst>
                                          <p:attrName>style.visibility</p:attrName>
                                        </p:attrNameLst>
                                      </p:cBhvr>
                                      <p:to>
                                        <p:strVal val="visible"/>
                                      </p:to>
                                    </p:set>
                                    <p:animEffect transition="in" filter="strips(downLeft)">
                                      <p:cBhvr>
                                        <p:cTn id="108" dur="500"/>
                                        <p:tgtEl>
                                          <p:spTgt spid="94"/>
                                        </p:tgtEl>
                                      </p:cBhvr>
                                    </p:animEffect>
                                  </p:childTnLst>
                                </p:cTn>
                              </p:par>
                              <p:par>
                                <p:cTn id="109" presetID="18" presetClass="entr" presetSubtype="12" fill="hold" nodeType="withEffect">
                                  <p:stCondLst>
                                    <p:cond delay="0"/>
                                  </p:stCondLst>
                                  <p:childTnLst>
                                    <p:set>
                                      <p:cBhvr>
                                        <p:cTn id="110" dur="1" fill="hold">
                                          <p:stCondLst>
                                            <p:cond delay="0"/>
                                          </p:stCondLst>
                                        </p:cTn>
                                        <p:tgtEl>
                                          <p:spTgt spid="95"/>
                                        </p:tgtEl>
                                        <p:attrNameLst>
                                          <p:attrName>style.visibility</p:attrName>
                                        </p:attrNameLst>
                                      </p:cBhvr>
                                      <p:to>
                                        <p:strVal val="visible"/>
                                      </p:to>
                                    </p:set>
                                    <p:animEffect transition="in" filter="strips(downLeft)">
                                      <p:cBhvr>
                                        <p:cTn id="111" dur="500"/>
                                        <p:tgtEl>
                                          <p:spTgt spid="95"/>
                                        </p:tgtEl>
                                      </p:cBhvr>
                                    </p:animEffect>
                                  </p:childTnLst>
                                </p:cTn>
                              </p:par>
                              <p:par>
                                <p:cTn id="112" presetID="18" presetClass="entr" presetSubtype="12" fill="hold" nodeType="withEffect">
                                  <p:stCondLst>
                                    <p:cond delay="0"/>
                                  </p:stCondLst>
                                  <p:childTnLst>
                                    <p:set>
                                      <p:cBhvr>
                                        <p:cTn id="113" dur="1" fill="hold">
                                          <p:stCondLst>
                                            <p:cond delay="0"/>
                                          </p:stCondLst>
                                        </p:cTn>
                                        <p:tgtEl>
                                          <p:spTgt spid="96"/>
                                        </p:tgtEl>
                                        <p:attrNameLst>
                                          <p:attrName>style.visibility</p:attrName>
                                        </p:attrNameLst>
                                      </p:cBhvr>
                                      <p:to>
                                        <p:strVal val="visible"/>
                                      </p:to>
                                    </p:set>
                                    <p:animEffect transition="in" filter="strips(downLeft)">
                                      <p:cBhvr>
                                        <p:cTn id="114" dur="500"/>
                                        <p:tgtEl>
                                          <p:spTgt spid="96"/>
                                        </p:tgtEl>
                                      </p:cBhvr>
                                    </p:animEffect>
                                  </p:childTnLst>
                                </p:cTn>
                              </p:par>
                              <p:par>
                                <p:cTn id="115" presetID="18" presetClass="entr" presetSubtype="12" fill="hold" nodeType="withEffect">
                                  <p:stCondLst>
                                    <p:cond delay="0"/>
                                  </p:stCondLst>
                                  <p:childTnLst>
                                    <p:set>
                                      <p:cBhvr>
                                        <p:cTn id="116" dur="1" fill="hold">
                                          <p:stCondLst>
                                            <p:cond delay="0"/>
                                          </p:stCondLst>
                                        </p:cTn>
                                        <p:tgtEl>
                                          <p:spTgt spid="97"/>
                                        </p:tgtEl>
                                        <p:attrNameLst>
                                          <p:attrName>style.visibility</p:attrName>
                                        </p:attrNameLst>
                                      </p:cBhvr>
                                      <p:to>
                                        <p:strVal val="visible"/>
                                      </p:to>
                                    </p:set>
                                    <p:animEffect transition="in" filter="strips(downLeft)">
                                      <p:cBhvr>
                                        <p:cTn id="117" dur="500"/>
                                        <p:tgtEl>
                                          <p:spTgt spid="97"/>
                                        </p:tgtEl>
                                      </p:cBhvr>
                                    </p:animEffect>
                                  </p:childTnLst>
                                </p:cTn>
                              </p:par>
                            </p:childTnLst>
                          </p:cTn>
                        </p:par>
                      </p:childTnLst>
                    </p:cTn>
                  </p:par>
                  <p:par>
                    <p:cTn id="118" fill="hold">
                      <p:stCondLst>
                        <p:cond delay="indefinite"/>
                      </p:stCondLst>
                      <p:childTnLst>
                        <p:par>
                          <p:cTn id="119" fill="hold">
                            <p:stCondLst>
                              <p:cond delay="0"/>
                            </p:stCondLst>
                            <p:childTnLst>
                              <p:par>
                                <p:cTn id="120" presetID="18" presetClass="entr" presetSubtype="3" fill="hold" nodeType="clickEffect">
                                  <p:stCondLst>
                                    <p:cond delay="0"/>
                                  </p:stCondLst>
                                  <p:childTnLst>
                                    <p:set>
                                      <p:cBhvr>
                                        <p:cTn id="121" dur="1" fill="hold">
                                          <p:stCondLst>
                                            <p:cond delay="0"/>
                                          </p:stCondLst>
                                        </p:cTn>
                                        <p:tgtEl>
                                          <p:spTgt spid="98"/>
                                        </p:tgtEl>
                                        <p:attrNameLst>
                                          <p:attrName>style.visibility</p:attrName>
                                        </p:attrNameLst>
                                      </p:cBhvr>
                                      <p:to>
                                        <p:strVal val="visible"/>
                                      </p:to>
                                    </p:set>
                                    <p:animEffect transition="in" filter="strips(upRight)">
                                      <p:cBhvr>
                                        <p:cTn id="122" dur="500"/>
                                        <p:tgtEl>
                                          <p:spTgt spid="98"/>
                                        </p:tgtEl>
                                      </p:cBhvr>
                                    </p:animEffect>
                                  </p:childTnLst>
                                </p:cTn>
                              </p:par>
                              <p:par>
                                <p:cTn id="123" presetID="18" presetClass="entr" presetSubtype="3" fill="hold" nodeType="withEffect">
                                  <p:stCondLst>
                                    <p:cond delay="0"/>
                                  </p:stCondLst>
                                  <p:childTnLst>
                                    <p:set>
                                      <p:cBhvr>
                                        <p:cTn id="124" dur="1" fill="hold">
                                          <p:stCondLst>
                                            <p:cond delay="0"/>
                                          </p:stCondLst>
                                        </p:cTn>
                                        <p:tgtEl>
                                          <p:spTgt spid="99"/>
                                        </p:tgtEl>
                                        <p:attrNameLst>
                                          <p:attrName>style.visibility</p:attrName>
                                        </p:attrNameLst>
                                      </p:cBhvr>
                                      <p:to>
                                        <p:strVal val="visible"/>
                                      </p:to>
                                    </p:set>
                                    <p:animEffect transition="in" filter="strips(upRight)">
                                      <p:cBhvr>
                                        <p:cTn id="125" dur="500"/>
                                        <p:tgtEl>
                                          <p:spTgt spid="99"/>
                                        </p:tgtEl>
                                      </p:cBhvr>
                                    </p:animEffect>
                                  </p:childTnLst>
                                </p:cTn>
                              </p:par>
                              <p:par>
                                <p:cTn id="126" presetID="18" presetClass="entr" presetSubtype="3" fill="hold" nodeType="withEffect">
                                  <p:stCondLst>
                                    <p:cond delay="0"/>
                                  </p:stCondLst>
                                  <p:childTnLst>
                                    <p:set>
                                      <p:cBhvr>
                                        <p:cTn id="127" dur="1" fill="hold">
                                          <p:stCondLst>
                                            <p:cond delay="0"/>
                                          </p:stCondLst>
                                        </p:cTn>
                                        <p:tgtEl>
                                          <p:spTgt spid="100"/>
                                        </p:tgtEl>
                                        <p:attrNameLst>
                                          <p:attrName>style.visibility</p:attrName>
                                        </p:attrNameLst>
                                      </p:cBhvr>
                                      <p:to>
                                        <p:strVal val="visible"/>
                                      </p:to>
                                    </p:set>
                                    <p:animEffect transition="in" filter="strips(upRight)">
                                      <p:cBhvr>
                                        <p:cTn id="128" dur="500"/>
                                        <p:tgtEl>
                                          <p:spTgt spid="100"/>
                                        </p:tgtEl>
                                      </p:cBhvr>
                                    </p:animEffect>
                                  </p:childTnLst>
                                </p:cTn>
                              </p:par>
                              <p:par>
                                <p:cTn id="129" presetID="18" presetClass="entr" presetSubtype="3" fill="hold" nodeType="withEffect">
                                  <p:stCondLst>
                                    <p:cond delay="0"/>
                                  </p:stCondLst>
                                  <p:childTnLst>
                                    <p:set>
                                      <p:cBhvr>
                                        <p:cTn id="130" dur="1" fill="hold">
                                          <p:stCondLst>
                                            <p:cond delay="0"/>
                                          </p:stCondLst>
                                        </p:cTn>
                                        <p:tgtEl>
                                          <p:spTgt spid="101"/>
                                        </p:tgtEl>
                                        <p:attrNameLst>
                                          <p:attrName>style.visibility</p:attrName>
                                        </p:attrNameLst>
                                      </p:cBhvr>
                                      <p:to>
                                        <p:strVal val="visible"/>
                                      </p:to>
                                    </p:set>
                                    <p:animEffect transition="in" filter="strips(upRight)">
                                      <p:cBhvr>
                                        <p:cTn id="131" dur="500"/>
                                        <p:tgtEl>
                                          <p:spTgt spid="101"/>
                                        </p:tgtEl>
                                      </p:cBhvr>
                                    </p:animEffect>
                                  </p:childTnLst>
                                </p:cTn>
                              </p:par>
                              <p:par>
                                <p:cTn id="132" presetID="18" presetClass="entr" presetSubtype="3" fill="hold" nodeType="withEffect">
                                  <p:stCondLst>
                                    <p:cond delay="0"/>
                                  </p:stCondLst>
                                  <p:childTnLst>
                                    <p:set>
                                      <p:cBhvr>
                                        <p:cTn id="133" dur="1" fill="hold">
                                          <p:stCondLst>
                                            <p:cond delay="0"/>
                                          </p:stCondLst>
                                        </p:cTn>
                                        <p:tgtEl>
                                          <p:spTgt spid="103"/>
                                        </p:tgtEl>
                                        <p:attrNameLst>
                                          <p:attrName>style.visibility</p:attrName>
                                        </p:attrNameLst>
                                      </p:cBhvr>
                                      <p:to>
                                        <p:strVal val="visible"/>
                                      </p:to>
                                    </p:set>
                                    <p:animEffect transition="in" filter="strips(upRight)">
                                      <p:cBhvr>
                                        <p:cTn id="134" dur="500"/>
                                        <p:tgtEl>
                                          <p:spTgt spid="103"/>
                                        </p:tgtEl>
                                      </p:cBhvr>
                                    </p:animEffect>
                                  </p:childTnLst>
                                </p:cTn>
                              </p:par>
                              <p:par>
                                <p:cTn id="135" presetID="18" presetClass="entr" presetSubtype="3" fill="hold" nodeType="withEffect">
                                  <p:stCondLst>
                                    <p:cond delay="0"/>
                                  </p:stCondLst>
                                  <p:childTnLst>
                                    <p:set>
                                      <p:cBhvr>
                                        <p:cTn id="136" dur="1" fill="hold">
                                          <p:stCondLst>
                                            <p:cond delay="0"/>
                                          </p:stCondLst>
                                        </p:cTn>
                                        <p:tgtEl>
                                          <p:spTgt spid="102"/>
                                        </p:tgtEl>
                                        <p:attrNameLst>
                                          <p:attrName>style.visibility</p:attrName>
                                        </p:attrNameLst>
                                      </p:cBhvr>
                                      <p:to>
                                        <p:strVal val="visible"/>
                                      </p:to>
                                    </p:set>
                                    <p:animEffect transition="in" filter="strips(upRight)">
                                      <p:cBhvr>
                                        <p:cTn id="137" dur="500"/>
                                        <p:tgtEl>
                                          <p:spTgt spid="102"/>
                                        </p:tgtEl>
                                      </p:cBhvr>
                                    </p:animEffect>
                                  </p:childTnLst>
                                </p:cTn>
                              </p:par>
                            </p:childTnLst>
                          </p:cTn>
                        </p:par>
                      </p:childTnLst>
                    </p:cTn>
                  </p:par>
                  <p:par>
                    <p:cTn id="138" fill="hold">
                      <p:stCondLst>
                        <p:cond delay="indefinite"/>
                      </p:stCondLst>
                      <p:childTnLst>
                        <p:par>
                          <p:cTn id="139" fill="hold">
                            <p:stCondLst>
                              <p:cond delay="0"/>
                            </p:stCondLst>
                            <p:childTnLst>
                              <p:par>
                                <p:cTn id="140" presetID="4" presetClass="entr" presetSubtype="16" fill="hold" grpId="0" nodeType="clickEffect">
                                  <p:stCondLst>
                                    <p:cond delay="0"/>
                                  </p:stCondLst>
                                  <p:childTnLst>
                                    <p:set>
                                      <p:cBhvr>
                                        <p:cTn id="141" dur="1" fill="hold">
                                          <p:stCondLst>
                                            <p:cond delay="0"/>
                                          </p:stCondLst>
                                        </p:cTn>
                                        <p:tgtEl>
                                          <p:spTgt spid="118"/>
                                        </p:tgtEl>
                                        <p:attrNameLst>
                                          <p:attrName>style.visibility</p:attrName>
                                        </p:attrNameLst>
                                      </p:cBhvr>
                                      <p:to>
                                        <p:strVal val="visible"/>
                                      </p:to>
                                    </p:set>
                                    <p:animEffect transition="in" filter="box(in)">
                                      <p:cBhvr>
                                        <p:cTn id="142" dur="500"/>
                                        <p:tgtEl>
                                          <p:spTgt spid="118"/>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23"/>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77"/>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17"/>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114"/>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20"/>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05"/>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8" grpId="0" animBg="1"/>
      <p:bldP spid="80" grpId="0" animBg="1"/>
      <p:bldP spid="81" grpId="0" animBg="1"/>
      <p:bldP spid="82" grpId="0" animBg="1"/>
      <p:bldP spid="104" grpId="0"/>
      <p:bldP spid="105" grpId="0"/>
      <p:bldP spid="106" grpId="0"/>
      <p:bldP spid="115" grpId="0"/>
      <p:bldP spid="116" grpId="0"/>
      <p:bldP spid="117" grpId="0"/>
      <p:bldP spid="118" grpId="0"/>
      <p:bldP spid="119" grpId="0" animBg="1"/>
      <p:bldP spid="120" grpId="0" animBg="1"/>
      <p:bldP spid="121" grpId="0" animBg="1"/>
      <p:bldP spid="12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462837" y="293282"/>
            <a:ext cx="126775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像管应用</a:t>
            </a:r>
            <a:endParaRPr lang="zh-CN" altLang="en-US" sz="1800" b="1" dirty="0">
              <a:latin typeface="微软雅黑" panose="020B0503020204020204" pitchFamily="34" charset="-122"/>
              <a:ea typeface="微软雅黑" panose="020B0503020204020204" pitchFamily="34" charset="-122"/>
            </a:endParaRPr>
          </a:p>
        </p:txBody>
      </p:sp>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7.1.6</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xmlns="" id="{8C5F82EF-52B4-4531-96F0-44689EA1125E}"/>
              </a:ext>
            </a:extLst>
          </p:cNvPr>
          <p:cNvCxnSpPr>
            <a:cxnSpLocks/>
          </p:cNvCxnSpPr>
          <p:nvPr/>
        </p:nvCxnSpPr>
        <p:spPr>
          <a:xfrm>
            <a:off x="1462837" y="662614"/>
            <a:ext cx="1051763"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0" name="矩形: 圆角 18">
            <a:extLst>
              <a:ext uri="{FF2B5EF4-FFF2-40B4-BE49-F238E27FC236}">
                <a16:creationId xmlns:a16="http://schemas.microsoft.com/office/drawing/2014/main" xmlns="" id="{71B2A563-AC54-5347-B843-4478DF223CDE}"/>
              </a:ext>
            </a:extLst>
          </p:cNvPr>
          <p:cNvSpPr/>
          <p:nvPr/>
        </p:nvSpPr>
        <p:spPr>
          <a:xfrm>
            <a:off x="5070624" y="3476625"/>
            <a:ext cx="4462149" cy="850403"/>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smtClean="0">
                <a:solidFill>
                  <a:schemeClr val="bg1"/>
                </a:solidFill>
                <a:latin typeface="Microsoft YaHei" panose="020B0503020204020204" pitchFamily="34" charset="-122"/>
                <a:ea typeface="Microsoft YaHei" panose="020B0503020204020204" pitchFamily="34" charset="-122"/>
              </a:rPr>
              <a:t>像管应用</a:t>
            </a:r>
            <a:endParaRPr kumimoji="1" lang="zh-CN" altLang="en-US" sz="4000" b="1" dirty="0">
              <a:solidFill>
                <a:schemeClr val="bg1"/>
              </a:solidFill>
              <a:latin typeface="Microsoft YaHei" panose="020B0503020204020204" pitchFamily="34" charset="-122"/>
              <a:ea typeface="Microsoft YaHei" panose="020B0503020204020204" pitchFamily="34" charset="-122"/>
            </a:endParaRPr>
          </a:p>
        </p:txBody>
      </p:sp>
      <p:sp>
        <p:nvSpPr>
          <p:cNvPr id="21" name="矩形 20">
            <a:extLst>
              <a:ext uri="{FF2B5EF4-FFF2-40B4-BE49-F238E27FC236}">
                <a16:creationId xmlns:a16="http://schemas.microsoft.com/office/drawing/2014/main" xmlns="" id="{045D4FB5-3BA7-4366-9C2A-762F1105D91A}"/>
              </a:ext>
            </a:extLst>
          </p:cNvPr>
          <p:cNvSpPr/>
          <p:nvPr/>
        </p:nvSpPr>
        <p:spPr>
          <a:xfrm>
            <a:off x="2860247" y="3283064"/>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7.1.6</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7.1.6</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0" name="Rectangle 2"/>
          <p:cNvSpPr txBox="1">
            <a:spLocks noChangeArrowheads="1"/>
          </p:cNvSpPr>
          <p:nvPr/>
        </p:nvSpPr>
        <p:spPr bwMode="auto">
          <a:xfrm>
            <a:off x="4526480" y="1691241"/>
            <a:ext cx="5605462" cy="7143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870" tIns="51435" rIns="102870" bIns="51435" numCol="1" anchor="ctr" anchorCtr="0" compatLnSpc="1">
            <a:prstTxWarp prst="textNoShape">
              <a:avLst/>
            </a:prstTxWarp>
          </a:bodyPr>
          <a:lstStyle>
            <a:lvl1pPr algn="l" defTabSz="1028700" rtl="0" fontAlgn="base">
              <a:lnSpc>
                <a:spcPct val="90000"/>
              </a:lnSpc>
              <a:spcBef>
                <a:spcPct val="0"/>
              </a:spcBef>
              <a:spcAft>
                <a:spcPct val="0"/>
              </a:spcAft>
              <a:defRPr sz="5000" kern="1200">
                <a:solidFill>
                  <a:schemeClr val="tx1"/>
                </a:solidFill>
                <a:latin typeface="+mj-lt"/>
                <a:ea typeface="+mj-ea"/>
                <a:cs typeface="+mj-cs"/>
              </a:defRPr>
            </a:lvl1pPr>
            <a:lvl2pPr algn="l" defTabSz="1028700" rtl="0" fontAlgn="base">
              <a:lnSpc>
                <a:spcPct val="90000"/>
              </a:lnSpc>
              <a:spcBef>
                <a:spcPct val="0"/>
              </a:spcBef>
              <a:spcAft>
                <a:spcPct val="0"/>
              </a:spcAft>
              <a:defRPr sz="5000">
                <a:solidFill>
                  <a:schemeClr val="tx1"/>
                </a:solidFill>
                <a:latin typeface="Calibri Light"/>
                <a:ea typeface="宋体" pitchFamily="2" charset="-122"/>
              </a:defRPr>
            </a:lvl2pPr>
            <a:lvl3pPr algn="l" defTabSz="1028700" rtl="0" fontAlgn="base">
              <a:lnSpc>
                <a:spcPct val="90000"/>
              </a:lnSpc>
              <a:spcBef>
                <a:spcPct val="0"/>
              </a:spcBef>
              <a:spcAft>
                <a:spcPct val="0"/>
              </a:spcAft>
              <a:defRPr sz="5000">
                <a:solidFill>
                  <a:schemeClr val="tx1"/>
                </a:solidFill>
                <a:latin typeface="Calibri Light"/>
                <a:ea typeface="宋体" pitchFamily="2" charset="-122"/>
              </a:defRPr>
            </a:lvl3pPr>
            <a:lvl4pPr algn="l" defTabSz="1028700" rtl="0" fontAlgn="base">
              <a:lnSpc>
                <a:spcPct val="90000"/>
              </a:lnSpc>
              <a:spcBef>
                <a:spcPct val="0"/>
              </a:spcBef>
              <a:spcAft>
                <a:spcPct val="0"/>
              </a:spcAft>
              <a:defRPr sz="5000">
                <a:solidFill>
                  <a:schemeClr val="tx1"/>
                </a:solidFill>
                <a:latin typeface="Calibri Light"/>
                <a:ea typeface="宋体" pitchFamily="2" charset="-122"/>
              </a:defRPr>
            </a:lvl4pPr>
            <a:lvl5pPr algn="l" defTabSz="1028700" rtl="0" fontAlgn="base">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a:lstStyle>
          <a:p>
            <a:r>
              <a:rPr lang="zh-CN" altLang="en-US" sz="2800" b="1" smtClean="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3200" b="1" smtClean="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像管 </a:t>
            </a:r>
            <a:r>
              <a:rPr lang="en-US" altLang="zh-CN" sz="3200" b="1" smtClean="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smtClean="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变像管和像增强器</a:t>
            </a:r>
            <a:r>
              <a:rPr lang="en-US" altLang="zh-CN" sz="3200" b="1" smtClean="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3200" b="1" smtClean="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Rectangle 3"/>
          <p:cNvSpPr>
            <a:spLocks noChangeArrowheads="1"/>
          </p:cNvSpPr>
          <p:nvPr/>
        </p:nvSpPr>
        <p:spPr bwMode="auto">
          <a:xfrm>
            <a:off x="7172842" y="3245404"/>
            <a:ext cx="719138" cy="2051050"/>
          </a:xfrm>
          <a:prstGeom prst="rect">
            <a:avLst/>
          </a:prstGeom>
          <a:noFill/>
          <a:ln w="3175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solidFill>
                  <a:srgbClr val="FF0000"/>
                </a:solidFill>
                <a:ea typeface="微软雅黑" panose="020B0503020204020204" pitchFamily="34" charset="-122"/>
                <a:cs typeface="Times New Roman" panose="02020603050405020304" pitchFamily="18" charset="0"/>
              </a:rPr>
              <a:t>像增强器</a:t>
            </a:r>
          </a:p>
        </p:txBody>
      </p:sp>
      <p:sp>
        <p:nvSpPr>
          <p:cNvPr id="22" name="Rectangle 6"/>
          <p:cNvSpPr>
            <a:spLocks noChangeArrowheads="1"/>
          </p:cNvSpPr>
          <p:nvPr/>
        </p:nvSpPr>
        <p:spPr bwMode="auto">
          <a:xfrm>
            <a:off x="2740542" y="4850366"/>
            <a:ext cx="1825625" cy="588963"/>
          </a:xfrm>
          <a:prstGeom prst="rect">
            <a:avLst/>
          </a:prstGeom>
          <a:noFill/>
          <a:ln w="3175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ea typeface="微软雅黑" panose="020B0503020204020204" pitchFamily="34" charset="-122"/>
                <a:cs typeface="Times New Roman" panose="02020603050405020304" pitchFamily="18" charset="0"/>
              </a:rPr>
              <a:t>紫外光像</a:t>
            </a:r>
          </a:p>
        </p:txBody>
      </p:sp>
      <p:sp>
        <p:nvSpPr>
          <p:cNvPr id="23" name="Rectangle 7"/>
          <p:cNvSpPr>
            <a:spLocks noChangeArrowheads="1"/>
          </p:cNvSpPr>
          <p:nvPr/>
        </p:nvSpPr>
        <p:spPr bwMode="auto">
          <a:xfrm>
            <a:off x="2740542" y="5715554"/>
            <a:ext cx="1871663" cy="588962"/>
          </a:xfrm>
          <a:prstGeom prst="rect">
            <a:avLst/>
          </a:prstGeom>
          <a:noFill/>
          <a:ln w="3175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ea typeface="微软雅黑" panose="020B0503020204020204" pitchFamily="34" charset="-122"/>
                <a:cs typeface="Times New Roman" panose="02020603050405020304" pitchFamily="18" charset="0"/>
              </a:rPr>
              <a:t>X</a:t>
            </a:r>
            <a:r>
              <a:rPr lang="zh-CN" altLang="en-US" b="1">
                <a:ea typeface="微软雅黑" panose="020B0503020204020204" pitchFamily="34" charset="-122"/>
                <a:cs typeface="Times New Roman" panose="02020603050405020304" pitchFamily="18" charset="0"/>
              </a:rPr>
              <a:t>射线像</a:t>
            </a:r>
          </a:p>
        </p:txBody>
      </p:sp>
      <p:sp>
        <p:nvSpPr>
          <p:cNvPr id="24" name="Rectangle 8"/>
          <p:cNvSpPr>
            <a:spLocks noChangeArrowheads="1"/>
          </p:cNvSpPr>
          <p:nvPr/>
        </p:nvSpPr>
        <p:spPr bwMode="auto">
          <a:xfrm>
            <a:off x="2740542" y="3913741"/>
            <a:ext cx="1825625" cy="588963"/>
          </a:xfrm>
          <a:prstGeom prst="rect">
            <a:avLst/>
          </a:prstGeom>
          <a:noFill/>
          <a:ln w="3175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ea typeface="微软雅黑" panose="020B0503020204020204" pitchFamily="34" charset="-122"/>
                <a:cs typeface="Times New Roman" panose="02020603050405020304" pitchFamily="18" charset="0"/>
              </a:rPr>
              <a:t>红外光像</a:t>
            </a:r>
          </a:p>
        </p:txBody>
      </p:sp>
      <p:sp>
        <p:nvSpPr>
          <p:cNvPr id="25" name="Rectangle 9"/>
          <p:cNvSpPr>
            <a:spLocks noChangeArrowheads="1"/>
          </p:cNvSpPr>
          <p:nvPr/>
        </p:nvSpPr>
        <p:spPr bwMode="auto">
          <a:xfrm>
            <a:off x="2740542" y="2977116"/>
            <a:ext cx="1825625" cy="588963"/>
          </a:xfrm>
          <a:prstGeom prst="rect">
            <a:avLst/>
          </a:prstGeom>
          <a:noFill/>
          <a:ln w="3175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ea typeface="微软雅黑" panose="020B0503020204020204" pitchFamily="34" charset="-122"/>
                <a:cs typeface="Times New Roman" panose="02020603050405020304" pitchFamily="18" charset="0"/>
              </a:rPr>
              <a:t>微弱光像</a:t>
            </a:r>
          </a:p>
        </p:txBody>
      </p:sp>
      <p:sp>
        <p:nvSpPr>
          <p:cNvPr id="26" name="Rectangle 10"/>
          <p:cNvSpPr>
            <a:spLocks noChangeArrowheads="1"/>
          </p:cNvSpPr>
          <p:nvPr/>
        </p:nvSpPr>
        <p:spPr bwMode="auto">
          <a:xfrm>
            <a:off x="6523555" y="5713966"/>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ea typeface="微软雅黑" panose="020B0503020204020204" pitchFamily="34" charset="-122"/>
                <a:cs typeface="Times New Roman" panose="02020603050405020304" pitchFamily="18" charset="0"/>
              </a:rPr>
              <a:t>（</a:t>
            </a:r>
            <a:r>
              <a:rPr lang="zh-CN" altLang="en-US" sz="2400" b="1">
                <a:solidFill>
                  <a:srgbClr val="0000CC"/>
                </a:solidFill>
                <a:ea typeface="微软雅黑" panose="020B0503020204020204" pitchFamily="34" charset="-122"/>
                <a:cs typeface="Times New Roman" panose="02020603050405020304" pitchFamily="18" charset="0"/>
              </a:rPr>
              <a:t>微通道板</a:t>
            </a:r>
            <a:r>
              <a:rPr lang="zh-CN" altLang="en-US" sz="2400" b="1">
                <a:ea typeface="微软雅黑" panose="020B0503020204020204" pitchFamily="34" charset="-122"/>
                <a:cs typeface="Times New Roman" panose="02020603050405020304" pitchFamily="18" charset="0"/>
              </a:rPr>
              <a:t>）</a:t>
            </a:r>
          </a:p>
        </p:txBody>
      </p:sp>
      <p:sp>
        <p:nvSpPr>
          <p:cNvPr id="27" name="Rectangle 11"/>
          <p:cNvSpPr>
            <a:spLocks noChangeArrowheads="1"/>
          </p:cNvSpPr>
          <p:nvPr/>
        </p:nvSpPr>
        <p:spPr bwMode="auto">
          <a:xfrm>
            <a:off x="5740917" y="3570841"/>
            <a:ext cx="719138" cy="1570038"/>
          </a:xfrm>
          <a:prstGeom prst="rect">
            <a:avLst/>
          </a:prstGeom>
          <a:noFill/>
          <a:ln w="381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solidFill>
                  <a:schemeClr val="hlink"/>
                </a:solidFill>
                <a:ea typeface="微软雅黑" panose="020B0503020204020204" pitchFamily="34" charset="-122"/>
                <a:cs typeface="Times New Roman" panose="02020603050405020304" pitchFamily="18" charset="0"/>
              </a:rPr>
              <a:t>光敏面</a:t>
            </a:r>
          </a:p>
        </p:txBody>
      </p:sp>
      <p:sp>
        <p:nvSpPr>
          <p:cNvPr id="28" name="Rectangle 12"/>
          <p:cNvSpPr>
            <a:spLocks noChangeArrowheads="1"/>
          </p:cNvSpPr>
          <p:nvPr/>
        </p:nvSpPr>
        <p:spPr bwMode="auto">
          <a:xfrm>
            <a:off x="8526980" y="3570841"/>
            <a:ext cx="719137" cy="1570038"/>
          </a:xfrm>
          <a:prstGeom prst="rect">
            <a:avLst/>
          </a:prstGeom>
          <a:noFill/>
          <a:ln w="3175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ea typeface="微软雅黑" panose="020B0503020204020204" pitchFamily="34" charset="-122"/>
                <a:cs typeface="Times New Roman" panose="02020603050405020304" pitchFamily="18" charset="0"/>
              </a:rPr>
              <a:t>荧光屏</a:t>
            </a:r>
            <a:endParaRPr lang="zh-CN" altLang="en-US" b="1">
              <a:solidFill>
                <a:srgbClr val="FFFF00"/>
              </a:solidFill>
              <a:ea typeface="微软雅黑" panose="020B0503020204020204" pitchFamily="34" charset="-122"/>
              <a:cs typeface="Times New Roman" panose="02020603050405020304" pitchFamily="18" charset="0"/>
            </a:endParaRPr>
          </a:p>
        </p:txBody>
      </p:sp>
      <p:sp>
        <p:nvSpPr>
          <p:cNvPr id="29" name="Rectangle 13"/>
          <p:cNvSpPr>
            <a:spLocks noChangeArrowheads="1"/>
          </p:cNvSpPr>
          <p:nvPr/>
        </p:nvSpPr>
        <p:spPr bwMode="auto">
          <a:xfrm>
            <a:off x="10197030" y="3245404"/>
            <a:ext cx="719137" cy="2554287"/>
          </a:xfrm>
          <a:prstGeom prst="rect">
            <a:avLst/>
          </a:prstGeom>
          <a:noFill/>
          <a:ln w="3175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ea typeface="微软雅黑" panose="020B0503020204020204" pitchFamily="34" charset="-122"/>
                <a:cs typeface="Times New Roman" panose="02020603050405020304" pitchFamily="18" charset="0"/>
              </a:rPr>
              <a:t>可见光图像</a:t>
            </a:r>
          </a:p>
        </p:txBody>
      </p:sp>
      <p:sp>
        <p:nvSpPr>
          <p:cNvPr id="30" name="Rectangle 14"/>
          <p:cNvSpPr>
            <a:spLocks noChangeArrowheads="1"/>
          </p:cNvSpPr>
          <p:nvPr/>
        </p:nvSpPr>
        <p:spPr bwMode="auto">
          <a:xfrm>
            <a:off x="5515492" y="3064429"/>
            <a:ext cx="4032250" cy="3154362"/>
          </a:xfrm>
          <a:prstGeom prst="rect">
            <a:avLst/>
          </a:prstGeom>
          <a:noFill/>
          <a:ln w="381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1">
              <a:ea typeface="微软雅黑" panose="020B0503020204020204" pitchFamily="34" charset="-122"/>
              <a:cs typeface="Times New Roman" panose="02020603050405020304" pitchFamily="18" charset="0"/>
            </a:endParaRPr>
          </a:p>
        </p:txBody>
      </p:sp>
      <p:sp>
        <p:nvSpPr>
          <p:cNvPr id="31" name="AutoShape 15"/>
          <p:cNvSpPr>
            <a:spLocks noChangeArrowheads="1"/>
          </p:cNvSpPr>
          <p:nvPr/>
        </p:nvSpPr>
        <p:spPr bwMode="auto">
          <a:xfrm>
            <a:off x="9549330" y="3785154"/>
            <a:ext cx="649287" cy="1008062"/>
          </a:xfrm>
          <a:prstGeom prst="rightArrow">
            <a:avLst>
              <a:gd name="adj1" fmla="val 50000"/>
              <a:gd name="adj2" fmla="val 25000"/>
            </a:avLst>
          </a:prstGeom>
          <a:gradFill rotWithShape="1">
            <a:gsLst>
              <a:gs pos="0">
                <a:srgbClr val="FF3399"/>
              </a:gs>
              <a:gs pos="25000">
                <a:srgbClr val="FF6633"/>
              </a:gs>
              <a:gs pos="50000">
                <a:srgbClr val="FFFF00"/>
              </a:gs>
              <a:gs pos="75000">
                <a:srgbClr val="01A78F"/>
              </a:gs>
              <a:gs pos="100000">
                <a:srgbClr val="3366FF"/>
              </a:gs>
            </a:gsLst>
            <a:lin ang="10800000" scaled="1"/>
          </a:gradFill>
          <a:ln w="9525">
            <a:solidFill>
              <a:schemeClr val="tx1"/>
            </a:solidFill>
            <a:miter lim="800000"/>
            <a:headEnd/>
            <a:tailEnd/>
          </a:ln>
        </p:spPr>
        <p:txBody>
          <a:bodyPr wrap="none" anchor="ct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1">
              <a:ea typeface="微软雅黑" panose="020B0503020204020204" pitchFamily="34" charset="-122"/>
              <a:cs typeface="Times New Roman" panose="02020603050405020304" pitchFamily="18" charset="0"/>
            </a:endParaRPr>
          </a:p>
        </p:txBody>
      </p:sp>
      <p:sp>
        <p:nvSpPr>
          <p:cNvPr id="32" name="AutoShape 16"/>
          <p:cNvSpPr>
            <a:spLocks noChangeArrowheads="1"/>
          </p:cNvSpPr>
          <p:nvPr/>
        </p:nvSpPr>
        <p:spPr bwMode="auto">
          <a:xfrm>
            <a:off x="4939230" y="3769279"/>
            <a:ext cx="576262" cy="1008062"/>
          </a:xfrm>
          <a:prstGeom prst="rightArrow">
            <a:avLst>
              <a:gd name="adj1" fmla="val 50000"/>
              <a:gd name="adj2" fmla="val 25000"/>
            </a:avLst>
          </a:prstGeom>
          <a:gradFill rotWithShape="1">
            <a:gsLst>
              <a:gs pos="0">
                <a:srgbClr val="A603AB"/>
              </a:gs>
              <a:gs pos="21001">
                <a:srgbClr val="0819FB"/>
              </a:gs>
              <a:gs pos="35001">
                <a:srgbClr val="1A8D48"/>
              </a:gs>
              <a:gs pos="52000">
                <a:srgbClr val="FFFF00"/>
              </a:gs>
              <a:gs pos="73000">
                <a:srgbClr val="EE3F17"/>
              </a:gs>
              <a:gs pos="88000">
                <a:srgbClr val="E81766"/>
              </a:gs>
              <a:gs pos="100000">
                <a:srgbClr val="A603AB"/>
              </a:gs>
            </a:gsLst>
            <a:lin ang="0" scaled="1"/>
          </a:gradFill>
          <a:ln w="9525">
            <a:solidFill>
              <a:schemeClr val="tx1"/>
            </a:solidFill>
            <a:miter lim="800000"/>
            <a:headEnd/>
            <a:tailEnd/>
          </a:ln>
        </p:spPr>
        <p:txBody>
          <a:bodyPr wrap="none" anchor="ct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1">
              <a:ea typeface="微软雅黑" panose="020B0503020204020204" pitchFamily="34" charset="-122"/>
              <a:cs typeface="Times New Roman" panose="02020603050405020304" pitchFamily="18" charset="0"/>
            </a:endParaRPr>
          </a:p>
        </p:txBody>
      </p:sp>
      <p:sp>
        <p:nvSpPr>
          <p:cNvPr id="33" name="Line 19"/>
          <p:cNvSpPr>
            <a:spLocks noChangeShapeType="1"/>
          </p:cNvSpPr>
          <p:nvPr/>
        </p:nvSpPr>
        <p:spPr bwMode="auto">
          <a:xfrm flipH="1">
            <a:off x="4796355" y="6002891"/>
            <a:ext cx="1943100" cy="0"/>
          </a:xfrm>
          <a:prstGeom prst="line">
            <a:avLst/>
          </a:prstGeom>
          <a:noFill/>
          <a:ln w="762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4" name="AutoShape 22"/>
          <p:cNvSpPr>
            <a:spLocks noChangeArrowheads="1"/>
          </p:cNvSpPr>
          <p:nvPr/>
        </p:nvSpPr>
        <p:spPr bwMode="auto">
          <a:xfrm>
            <a:off x="7026792" y="2262741"/>
            <a:ext cx="1081088" cy="765175"/>
          </a:xfrm>
          <a:prstGeom prst="downArrow">
            <a:avLst>
              <a:gd name="adj1" fmla="val 50000"/>
              <a:gd name="adj2" fmla="val 28009"/>
            </a:avLst>
          </a:prstGeom>
          <a:gradFill rotWithShape="0">
            <a:gsLst>
              <a:gs pos="0">
                <a:srgbClr val="FFF200"/>
              </a:gs>
              <a:gs pos="45000">
                <a:srgbClr val="FF7A00"/>
              </a:gs>
              <a:gs pos="70000">
                <a:srgbClr val="FF0300"/>
              </a:gs>
              <a:gs pos="100000">
                <a:srgbClr val="4D0808"/>
              </a:gs>
            </a:gsLst>
            <a:lin ang="5400000"/>
          </a:gradFill>
          <a:ln w="9525">
            <a:solidFill>
              <a:schemeClr val="tx1"/>
            </a:solidFill>
            <a:miter lim="800000"/>
            <a:headEnd/>
            <a:tailEnd/>
          </a:ln>
        </p:spPr>
        <p:txBody>
          <a:bodyPr vert="eaVert" wrap="none" anchor="ct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1">
              <a:ea typeface="微软雅黑" panose="020B0503020204020204" pitchFamily="34" charset="-122"/>
              <a:cs typeface="Times New Roman" panose="02020603050405020304" pitchFamily="18" charset="0"/>
            </a:endParaRPr>
          </a:p>
        </p:txBody>
      </p:sp>
      <p:sp>
        <p:nvSpPr>
          <p:cNvPr id="35" name="Line 23"/>
          <p:cNvSpPr>
            <a:spLocks noChangeShapeType="1"/>
          </p:cNvSpPr>
          <p:nvPr/>
        </p:nvSpPr>
        <p:spPr bwMode="auto">
          <a:xfrm flipV="1">
            <a:off x="7531617" y="5498066"/>
            <a:ext cx="0" cy="287338"/>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AutoShape 16"/>
          <p:cNvSpPr>
            <a:spLocks noChangeArrowheads="1"/>
          </p:cNvSpPr>
          <p:nvPr/>
        </p:nvSpPr>
        <p:spPr bwMode="auto">
          <a:xfrm>
            <a:off x="6526730" y="3785154"/>
            <a:ext cx="576262" cy="1008062"/>
          </a:xfrm>
          <a:prstGeom prst="rightArrow">
            <a:avLst>
              <a:gd name="adj1" fmla="val 50000"/>
              <a:gd name="adj2" fmla="val 25000"/>
            </a:avLst>
          </a:prstGeom>
          <a:gradFill rotWithShape="1">
            <a:gsLst>
              <a:gs pos="0">
                <a:srgbClr val="000082"/>
              </a:gs>
              <a:gs pos="30000">
                <a:srgbClr val="66008F"/>
              </a:gs>
              <a:gs pos="64999">
                <a:srgbClr val="BA0066"/>
              </a:gs>
              <a:gs pos="89999">
                <a:srgbClr val="FF0000"/>
              </a:gs>
              <a:gs pos="100000">
                <a:srgbClr val="FF8200"/>
              </a:gs>
            </a:gsLst>
            <a:lin ang="0"/>
          </a:gradFill>
          <a:ln w="9525">
            <a:solidFill>
              <a:schemeClr val="tx1"/>
            </a:solidFill>
            <a:miter lim="800000"/>
            <a:headEnd/>
            <a:tailEnd/>
          </a:ln>
        </p:spPr>
        <p:txBody>
          <a:bodyPr wrap="none" anchor="ct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1">
              <a:ea typeface="微软雅黑" panose="020B0503020204020204" pitchFamily="34" charset="-122"/>
              <a:cs typeface="Times New Roman" panose="02020603050405020304" pitchFamily="18" charset="0"/>
            </a:endParaRPr>
          </a:p>
        </p:txBody>
      </p:sp>
      <p:sp>
        <p:nvSpPr>
          <p:cNvPr id="37" name="AutoShape 16"/>
          <p:cNvSpPr>
            <a:spLocks noChangeArrowheads="1"/>
          </p:cNvSpPr>
          <p:nvPr/>
        </p:nvSpPr>
        <p:spPr bwMode="auto">
          <a:xfrm>
            <a:off x="7955480" y="3785154"/>
            <a:ext cx="576262" cy="1008062"/>
          </a:xfrm>
          <a:prstGeom prst="rightArrow">
            <a:avLst>
              <a:gd name="adj1" fmla="val 50000"/>
              <a:gd name="adj2" fmla="val 25000"/>
            </a:avLst>
          </a:prstGeom>
          <a:gradFill rotWithShape="1">
            <a:gsLst>
              <a:gs pos="0">
                <a:srgbClr val="FFF200"/>
              </a:gs>
              <a:gs pos="45000">
                <a:srgbClr val="FF7A00"/>
              </a:gs>
              <a:gs pos="70000">
                <a:srgbClr val="FF0300"/>
              </a:gs>
              <a:gs pos="100000">
                <a:srgbClr val="4D0808"/>
              </a:gs>
            </a:gsLst>
            <a:lin ang="0" scaled="1"/>
          </a:gradFill>
          <a:ln w="9525">
            <a:solidFill>
              <a:schemeClr val="tx1"/>
            </a:solidFill>
            <a:miter lim="800000"/>
            <a:headEnd/>
            <a:tailEnd/>
          </a:ln>
        </p:spPr>
        <p:txBody>
          <a:bodyPr wrap="none" anchor="ct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1">
              <a:ea typeface="微软雅黑" panose="020B0503020204020204" pitchFamily="34" charset="-122"/>
              <a:cs typeface="Times New Roman" panose="02020603050405020304" pitchFamily="18" charset="0"/>
            </a:endParaRPr>
          </a:p>
        </p:txBody>
      </p:sp>
      <p:sp>
        <p:nvSpPr>
          <p:cNvPr id="38" name="右大括号 37"/>
          <p:cNvSpPr/>
          <p:nvPr/>
        </p:nvSpPr>
        <p:spPr>
          <a:xfrm>
            <a:off x="4597917" y="3262866"/>
            <a:ext cx="285750" cy="2000250"/>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39" name="文本框 60">
            <a:extLst>
              <a:ext uri="{FF2B5EF4-FFF2-40B4-BE49-F238E27FC236}">
                <a16:creationId xmlns:a16="http://schemas.microsoft.com/office/drawing/2014/main" xmlns="" id="{791D85D7-F412-9C48-9F2B-E33F5B7B4F3C}"/>
              </a:ext>
            </a:extLst>
          </p:cNvPr>
          <p:cNvSpPr txBox="1"/>
          <p:nvPr/>
        </p:nvSpPr>
        <p:spPr>
          <a:xfrm>
            <a:off x="1462837" y="293282"/>
            <a:ext cx="126775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像管应用</a:t>
            </a:r>
            <a:endParaRPr lang="zh-CN" altLang="en-US" sz="1800" b="1" dirty="0">
              <a:latin typeface="微软雅黑" panose="020B0503020204020204" pitchFamily="34" charset="-122"/>
              <a:ea typeface="微软雅黑" panose="020B0503020204020204" pitchFamily="34" charset="-122"/>
            </a:endParaRPr>
          </a:p>
        </p:txBody>
      </p:sp>
      <p:cxnSp>
        <p:nvCxnSpPr>
          <p:cNvPr id="40" name="直接连接符 58">
            <a:extLst>
              <a:ext uri="{FF2B5EF4-FFF2-40B4-BE49-F238E27FC236}">
                <a16:creationId xmlns:a16="http://schemas.microsoft.com/office/drawing/2014/main" xmlns="" id="{8C5F82EF-52B4-4531-96F0-44689EA1125E}"/>
              </a:ext>
            </a:extLst>
          </p:cNvPr>
          <p:cNvCxnSpPr>
            <a:cxnSpLocks/>
          </p:cNvCxnSpPr>
          <p:nvPr/>
        </p:nvCxnSpPr>
        <p:spPr>
          <a:xfrm>
            <a:off x="1462837" y="662614"/>
            <a:ext cx="1051763"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ox(in)">
                                      <p:cBhvr>
                                        <p:cTn id="7" dur="500"/>
                                        <p:tgtEl>
                                          <p:spTgt spid="25"/>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box(in)">
                                      <p:cBhvr>
                                        <p:cTn id="10" dur="500"/>
                                        <p:tgtEl>
                                          <p:spTgt spid="24"/>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box(in)">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box(in)">
                                      <p:cBhvr>
                                        <p:cTn id="18" dur="500"/>
                                        <p:tgtEl>
                                          <p:spTgt spid="38"/>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box(in)">
                                      <p:cBhvr>
                                        <p:cTn id="21" dur="500"/>
                                        <p:tgtEl>
                                          <p:spTgt spid="32"/>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box(in)">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box(in)">
                                      <p:cBhvr>
                                        <p:cTn id="31" dur="500"/>
                                        <p:tgtEl>
                                          <p:spTgt spid="27"/>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box(in)">
                                      <p:cBhvr>
                                        <p:cTn id="36" dur="500"/>
                                        <p:tgtEl>
                                          <p:spTgt spid="36"/>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box(in)">
                                      <p:cBhvr>
                                        <p:cTn id="41" dur="500"/>
                                        <p:tgtEl>
                                          <p:spTgt spid="34"/>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box(in)">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box(in)">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16" fill="hold" grpId="0"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box(in)">
                                      <p:cBhvr>
                                        <p:cTn id="54" dur="50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16" fill="hold" grpId="0" nodeType="click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box(in)">
                                      <p:cBhvr>
                                        <p:cTn id="59" dur="500"/>
                                        <p:tgtEl>
                                          <p:spTgt spid="33"/>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16" fill="hold" grpId="0" nodeType="click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box(in)">
                                      <p:cBhvr>
                                        <p:cTn id="64" dur="500"/>
                                        <p:tgtEl>
                                          <p:spTgt spid="35"/>
                                        </p:tgtEl>
                                      </p:cBhvr>
                                    </p:animEffect>
                                  </p:childTnLst>
                                </p:cTn>
                              </p:par>
                              <p:par>
                                <p:cTn id="65" presetID="4" presetClass="entr" presetSubtype="16"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box(in)">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box(in)">
                                      <p:cBhvr>
                                        <p:cTn id="72" dur="500"/>
                                        <p:tgtEl>
                                          <p:spTgt spid="37"/>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box(in)">
                                      <p:cBhvr>
                                        <p:cTn id="77" dur="500"/>
                                        <p:tgtEl>
                                          <p:spTgt spid="28"/>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16" fill="hold" grpId="0"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box(in)">
                                      <p:cBhvr>
                                        <p:cTn id="82" dur="50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box(in)">
                                      <p:cBhvr>
                                        <p:cTn id="8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7.1.6</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9" name="Rectangle 4"/>
          <p:cNvSpPr>
            <a:spLocks noChangeArrowheads="1"/>
          </p:cNvSpPr>
          <p:nvPr/>
        </p:nvSpPr>
        <p:spPr bwMode="auto">
          <a:xfrm>
            <a:off x="4591936" y="1651702"/>
            <a:ext cx="35496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CC"/>
                </a:solidFill>
                <a:latin typeface="微软雅黑" panose="020B0503020204020204" pitchFamily="34" charset="-122"/>
                <a:ea typeface="微软雅黑" panose="020B0503020204020204" pitchFamily="34" charset="-122"/>
              </a:rPr>
              <a:t>1. </a:t>
            </a:r>
            <a:r>
              <a:rPr lang="zh-CN" altLang="en-US" b="1">
                <a:solidFill>
                  <a:srgbClr val="0000CC"/>
                </a:solidFill>
                <a:latin typeface="微软雅黑" panose="020B0503020204020204" pitchFamily="34" charset="-122"/>
                <a:ea typeface="微软雅黑" panose="020B0503020204020204" pitchFamily="34" charset="-122"/>
              </a:rPr>
              <a:t>主动红外夜视仪</a:t>
            </a:r>
          </a:p>
        </p:txBody>
      </p:sp>
      <p:sp>
        <p:nvSpPr>
          <p:cNvPr id="40" name="Rectangle 5"/>
          <p:cNvSpPr>
            <a:spLocks noChangeArrowheads="1"/>
          </p:cNvSpPr>
          <p:nvPr/>
        </p:nvSpPr>
        <p:spPr bwMode="auto">
          <a:xfrm>
            <a:off x="6663624" y="4020252"/>
            <a:ext cx="1657350" cy="1727200"/>
          </a:xfrm>
          <a:prstGeom prst="rect">
            <a:avLst/>
          </a:prstGeom>
          <a:noFill/>
          <a:ln w="44450">
            <a:solidFill>
              <a:schemeClr val="tx2">
                <a:lumMod val="50000"/>
              </a:schemeClr>
            </a:solidFill>
            <a:prstDash val="dash"/>
            <a:miter lim="800000"/>
            <a:headEnd/>
            <a:tailEnd/>
          </a:ln>
        </p:spPr>
        <p:txBody>
          <a:bodyPr wrap="none" anchor="ctr"/>
          <a:lstStyle/>
          <a:p>
            <a:pPr>
              <a:defRPr/>
            </a:pPr>
            <a:endParaRPr lang="zh-CN" altLang="en-US"/>
          </a:p>
        </p:txBody>
      </p:sp>
      <p:grpSp>
        <p:nvGrpSpPr>
          <p:cNvPr id="41" name="组合 109"/>
          <p:cNvGrpSpPr/>
          <p:nvPr/>
        </p:nvGrpSpPr>
        <p:grpSpPr>
          <a:xfrm>
            <a:off x="5540618" y="4631745"/>
            <a:ext cx="142876" cy="571504"/>
            <a:chOff x="2214546" y="3714752"/>
            <a:chExt cx="285752" cy="1000132"/>
          </a:xfrm>
          <a:solidFill>
            <a:schemeClr val="accent4">
              <a:lumMod val="60000"/>
              <a:lumOff val="40000"/>
            </a:schemeClr>
          </a:solidFill>
        </p:grpSpPr>
        <p:sp>
          <p:nvSpPr>
            <p:cNvPr id="42" name="矩形 41"/>
            <p:cNvSpPr/>
            <p:nvPr/>
          </p:nvSpPr>
          <p:spPr>
            <a:xfrm>
              <a:off x="2357422" y="3714752"/>
              <a:ext cx="142876" cy="100013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3" name="椭圆 42"/>
            <p:cNvSpPr/>
            <p:nvPr/>
          </p:nvSpPr>
          <p:spPr>
            <a:xfrm>
              <a:off x="2214546" y="3714752"/>
              <a:ext cx="214314" cy="10001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pic>
        <p:nvPicPr>
          <p:cNvPr id="4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4111" y="4444114"/>
            <a:ext cx="14478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矩形 44"/>
          <p:cNvSpPr/>
          <p:nvPr/>
        </p:nvSpPr>
        <p:spPr>
          <a:xfrm>
            <a:off x="6841424" y="5858577"/>
            <a:ext cx="1285875" cy="49688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b="1" dirty="0">
              <a:latin typeface="黑体" pitchFamily="2" charset="-122"/>
              <a:ea typeface="黑体" pitchFamily="2" charset="-122"/>
            </a:endParaRPr>
          </a:p>
        </p:txBody>
      </p:sp>
      <p:sp>
        <p:nvSpPr>
          <p:cNvPr id="46" name="椭圆 45"/>
          <p:cNvSpPr/>
          <p:nvPr/>
        </p:nvSpPr>
        <p:spPr>
          <a:xfrm>
            <a:off x="9092499" y="4739389"/>
            <a:ext cx="428625" cy="2143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7" name="椭圆 46"/>
          <p:cNvSpPr/>
          <p:nvPr/>
        </p:nvSpPr>
        <p:spPr>
          <a:xfrm>
            <a:off x="9222674" y="4777489"/>
            <a:ext cx="214312" cy="14287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8" name="TextBox 5"/>
          <p:cNvSpPr txBox="1">
            <a:spLocks noChangeArrowheads="1"/>
          </p:cNvSpPr>
          <p:nvPr/>
        </p:nvSpPr>
        <p:spPr bwMode="auto">
          <a:xfrm>
            <a:off x="9235374" y="4953702"/>
            <a:ext cx="714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00CC"/>
                </a:solidFill>
                <a:latin typeface="微软雅黑" panose="020B0503020204020204" pitchFamily="34" charset="-122"/>
                <a:ea typeface="微软雅黑" panose="020B0503020204020204" pitchFamily="34" charset="-122"/>
              </a:rPr>
              <a:t>人眼</a:t>
            </a:r>
          </a:p>
        </p:txBody>
      </p:sp>
      <p:sp>
        <p:nvSpPr>
          <p:cNvPr id="49" name="椭圆 48"/>
          <p:cNvSpPr/>
          <p:nvPr/>
        </p:nvSpPr>
        <p:spPr>
          <a:xfrm>
            <a:off x="8552749" y="4596514"/>
            <a:ext cx="142875" cy="428625"/>
          </a:xfrm>
          <a:prstGeom prst="ellipse">
            <a:avLst/>
          </a:prstGeom>
          <a:solidFill>
            <a:srgbClr val="0070C0"/>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0" name="TextBox 7"/>
          <p:cNvSpPr txBox="1">
            <a:spLocks noChangeArrowheads="1"/>
          </p:cNvSpPr>
          <p:nvPr/>
        </p:nvSpPr>
        <p:spPr bwMode="auto">
          <a:xfrm>
            <a:off x="8357486" y="3721802"/>
            <a:ext cx="55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latin typeface="微软雅黑" panose="020B0503020204020204" pitchFamily="34" charset="-122"/>
                <a:ea typeface="微软雅黑" panose="020B0503020204020204" pitchFamily="34" charset="-122"/>
              </a:rPr>
              <a:t>目镜</a:t>
            </a:r>
          </a:p>
        </p:txBody>
      </p:sp>
      <p:cxnSp>
        <p:nvCxnSpPr>
          <p:cNvPr id="51" name="直接箭头连接符 50"/>
          <p:cNvCxnSpPr/>
          <p:nvPr/>
        </p:nvCxnSpPr>
        <p:spPr>
          <a:xfrm rot="5400000" flipH="1" flipV="1">
            <a:off x="8092373" y="4810827"/>
            <a:ext cx="430213" cy="1588"/>
          </a:xfrm>
          <a:prstGeom prst="straightConnector1">
            <a:avLst/>
          </a:prstGeom>
          <a:ln w="4445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sp>
        <p:nvSpPr>
          <p:cNvPr id="52" name="TextBox 12"/>
          <p:cNvSpPr txBox="1">
            <a:spLocks noChangeArrowheads="1"/>
          </p:cNvSpPr>
          <p:nvPr/>
        </p:nvSpPr>
        <p:spPr bwMode="auto">
          <a:xfrm>
            <a:off x="8222549" y="5085464"/>
            <a:ext cx="40163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FF0000"/>
                </a:solidFill>
                <a:latin typeface="微软雅黑" panose="020B0503020204020204" pitchFamily="34" charset="-122"/>
                <a:ea typeface="微软雅黑" panose="020B0503020204020204" pitchFamily="34" charset="-122"/>
              </a:rPr>
              <a:t>可见光像</a:t>
            </a:r>
          </a:p>
        </p:txBody>
      </p:sp>
      <p:cxnSp>
        <p:nvCxnSpPr>
          <p:cNvPr id="53" name="直接连接符 52"/>
          <p:cNvCxnSpPr/>
          <p:nvPr/>
        </p:nvCxnSpPr>
        <p:spPr>
          <a:xfrm rot="10800000" flipV="1">
            <a:off x="3591811" y="4836227"/>
            <a:ext cx="5500688" cy="142875"/>
          </a:xfrm>
          <a:prstGeom prst="line">
            <a:avLst/>
          </a:prstGeom>
          <a:ln w="38100">
            <a:solidFill>
              <a:srgbClr val="0000CC"/>
            </a:solidFill>
            <a:prstDash val="lgDashDot"/>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rot="5400000" flipH="1" flipV="1">
            <a:off x="7891555" y="4843371"/>
            <a:ext cx="428625" cy="1587"/>
          </a:xfrm>
          <a:prstGeom prst="straightConnector1">
            <a:avLst/>
          </a:prstGeom>
          <a:ln w="44450">
            <a:solidFill>
              <a:srgbClr val="0000CC"/>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rot="10800000" flipV="1">
            <a:off x="7235124" y="4667952"/>
            <a:ext cx="857250" cy="71437"/>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rot="10800000">
            <a:off x="7238299" y="5037839"/>
            <a:ext cx="85725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rot="16200000" flipH="1">
            <a:off x="6647749" y="5295014"/>
            <a:ext cx="311150" cy="63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6796974" y="5453764"/>
            <a:ext cx="5715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rot="5400000">
            <a:off x="7145430" y="5657758"/>
            <a:ext cx="42862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rot="5400000">
            <a:off x="7980455" y="5240246"/>
            <a:ext cx="42862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rot="10800000">
            <a:off x="7635174" y="5453764"/>
            <a:ext cx="5715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rot="5400000">
            <a:off x="7429592" y="5659346"/>
            <a:ext cx="428625"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左弧形箭头 62"/>
          <p:cNvSpPr/>
          <p:nvPr/>
        </p:nvSpPr>
        <p:spPr>
          <a:xfrm>
            <a:off x="6806499" y="4596514"/>
            <a:ext cx="142875" cy="500063"/>
          </a:xfrm>
          <a:prstGeom prst="curvedRightArrow">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00CC"/>
              </a:solidFill>
            </a:endParaRPr>
          </a:p>
        </p:txBody>
      </p:sp>
      <p:cxnSp>
        <p:nvCxnSpPr>
          <p:cNvPr id="64" name="直接箭头连接符 63"/>
          <p:cNvCxnSpPr/>
          <p:nvPr/>
        </p:nvCxnSpPr>
        <p:spPr>
          <a:xfrm rot="5400000">
            <a:off x="6404861" y="4874327"/>
            <a:ext cx="573087" cy="1588"/>
          </a:xfrm>
          <a:prstGeom prst="straightConnector1">
            <a:avLst/>
          </a:prstGeom>
          <a:ln w="4445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rot="10800000" flipV="1">
            <a:off x="3806124" y="4596514"/>
            <a:ext cx="2857500" cy="857250"/>
          </a:xfrm>
          <a:prstGeom prst="line">
            <a:avLst/>
          </a:prstGeom>
          <a:ln w="317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rot="5400000" flipH="1" flipV="1">
            <a:off x="3340192" y="4989421"/>
            <a:ext cx="930275" cy="1588"/>
          </a:xfrm>
          <a:prstGeom prst="straightConnector1">
            <a:avLst/>
          </a:prstGeom>
          <a:ln w="38100">
            <a:solidFill>
              <a:srgbClr val="FF00FF"/>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rot="10800000">
            <a:off x="3806124" y="4525077"/>
            <a:ext cx="2928937" cy="642937"/>
          </a:xfrm>
          <a:prstGeom prst="line">
            <a:avLst/>
          </a:prstGeom>
          <a:ln w="317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rot="10800000" flipV="1">
            <a:off x="3806124" y="4158364"/>
            <a:ext cx="2265362" cy="1295400"/>
          </a:xfrm>
          <a:prstGeom prst="line">
            <a:avLst/>
          </a:prstGeom>
          <a:ln w="25400">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rot="10800000" flipV="1">
            <a:off x="3806124" y="3739264"/>
            <a:ext cx="2071687" cy="1214438"/>
          </a:xfrm>
          <a:prstGeom prst="line">
            <a:avLst/>
          </a:prstGeom>
          <a:ln w="25400">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rot="10800000" flipV="1">
            <a:off x="3806124" y="3396364"/>
            <a:ext cx="1795462" cy="1128713"/>
          </a:xfrm>
          <a:prstGeom prst="line">
            <a:avLst/>
          </a:prstGeom>
          <a:ln w="25400">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pic>
        <p:nvPicPr>
          <p:cNvPr id="7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413319">
            <a:off x="5325361" y="3671002"/>
            <a:ext cx="1138238" cy="11906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cxnSp>
        <p:nvCxnSpPr>
          <p:cNvPr id="72" name="直接连接符 71"/>
          <p:cNvCxnSpPr/>
          <p:nvPr/>
        </p:nvCxnSpPr>
        <p:spPr>
          <a:xfrm rot="5400000" flipH="1" flipV="1">
            <a:off x="6368349" y="3728151"/>
            <a:ext cx="300038" cy="57626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73" name="椭圆 72"/>
          <p:cNvSpPr/>
          <p:nvPr/>
        </p:nvSpPr>
        <p:spPr>
          <a:xfrm>
            <a:off x="6163561" y="3342389"/>
            <a:ext cx="285750" cy="285750"/>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74" name="直接连接符 73"/>
          <p:cNvCxnSpPr>
            <a:stCxn id="73" idx="0"/>
            <a:endCxn id="73" idx="4"/>
          </p:cNvCxnSpPr>
          <p:nvPr/>
        </p:nvCxnSpPr>
        <p:spPr>
          <a:xfrm rot="16200000" flipH="1">
            <a:off x="6162768" y="3484470"/>
            <a:ext cx="285750"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endCxn id="73" idx="6"/>
          </p:cNvCxnSpPr>
          <p:nvPr/>
        </p:nvCxnSpPr>
        <p:spPr>
          <a:xfrm>
            <a:off x="6163561" y="3453514"/>
            <a:ext cx="285750" cy="3175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endCxn id="77" idx="0"/>
          </p:cNvCxnSpPr>
          <p:nvPr/>
        </p:nvCxnSpPr>
        <p:spPr>
          <a:xfrm rot="5400000" flipH="1" flipV="1">
            <a:off x="5683342" y="2820896"/>
            <a:ext cx="333375" cy="48101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77" name="弧形 76"/>
          <p:cNvSpPr/>
          <p:nvPr/>
        </p:nvSpPr>
        <p:spPr>
          <a:xfrm>
            <a:off x="5377749" y="2894714"/>
            <a:ext cx="1427162" cy="1954213"/>
          </a:xfrm>
          <a:prstGeom prst="arc">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cxnSp>
        <p:nvCxnSpPr>
          <p:cNvPr id="78" name="直接连接符 77"/>
          <p:cNvCxnSpPr/>
          <p:nvPr/>
        </p:nvCxnSpPr>
        <p:spPr>
          <a:xfrm rot="10800000" flipV="1">
            <a:off x="6449311" y="3167764"/>
            <a:ext cx="357188" cy="21431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a:xfrm rot="5400000" flipH="1" flipV="1">
            <a:off x="6369936" y="5333114"/>
            <a:ext cx="428625" cy="142875"/>
          </a:xfrm>
          <a:prstGeom prst="straightConnector1">
            <a:avLst/>
          </a:prstGeom>
          <a:ln w="3175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80" name="TextBox 97"/>
          <p:cNvSpPr txBox="1">
            <a:spLocks noChangeArrowheads="1"/>
          </p:cNvSpPr>
          <p:nvPr/>
        </p:nvSpPr>
        <p:spPr bwMode="auto">
          <a:xfrm>
            <a:off x="5415849" y="5190239"/>
            <a:ext cx="5159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000CC"/>
                </a:solidFill>
                <a:latin typeface="微软雅黑" panose="020B0503020204020204" pitchFamily="34" charset="-122"/>
                <a:ea typeface="微软雅黑" panose="020B0503020204020204" pitchFamily="34" charset="-122"/>
              </a:rPr>
              <a:t>物镜</a:t>
            </a:r>
          </a:p>
        </p:txBody>
      </p:sp>
      <p:sp>
        <p:nvSpPr>
          <p:cNvPr id="81" name="TextBox 98"/>
          <p:cNvSpPr txBox="1">
            <a:spLocks noChangeArrowheads="1"/>
          </p:cNvSpPr>
          <p:nvPr/>
        </p:nvSpPr>
        <p:spPr bwMode="auto">
          <a:xfrm>
            <a:off x="6182611" y="5433127"/>
            <a:ext cx="4095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FF0000"/>
                </a:solidFill>
                <a:latin typeface="微软雅黑" panose="020B0503020204020204" pitchFamily="34" charset="-122"/>
                <a:ea typeface="微软雅黑" panose="020B0503020204020204" pitchFamily="34" charset="-122"/>
              </a:rPr>
              <a:t>红外像</a:t>
            </a:r>
          </a:p>
        </p:txBody>
      </p:sp>
      <p:sp>
        <p:nvSpPr>
          <p:cNvPr id="82" name="TextBox 100"/>
          <p:cNvSpPr txBox="1">
            <a:spLocks noChangeArrowheads="1"/>
          </p:cNvSpPr>
          <p:nvPr/>
        </p:nvSpPr>
        <p:spPr bwMode="auto">
          <a:xfrm>
            <a:off x="6806499" y="4025014"/>
            <a:ext cx="1571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latin typeface="微软雅黑" panose="020B0503020204020204" pitchFamily="34" charset="-122"/>
                <a:ea typeface="微软雅黑" panose="020B0503020204020204" pitchFamily="34" charset="-122"/>
              </a:rPr>
              <a:t>红外变像管</a:t>
            </a:r>
          </a:p>
        </p:txBody>
      </p:sp>
      <p:sp>
        <p:nvSpPr>
          <p:cNvPr id="83" name="TextBox 101"/>
          <p:cNvSpPr txBox="1">
            <a:spLocks noChangeArrowheads="1"/>
          </p:cNvSpPr>
          <p:nvPr/>
        </p:nvSpPr>
        <p:spPr bwMode="auto">
          <a:xfrm>
            <a:off x="3448936" y="5453764"/>
            <a:ext cx="819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latin typeface="微软雅黑" panose="020B0503020204020204" pitchFamily="34" charset="-122"/>
                <a:ea typeface="微软雅黑" panose="020B0503020204020204" pitchFamily="34" charset="-122"/>
              </a:rPr>
              <a:t>目标</a:t>
            </a:r>
          </a:p>
        </p:txBody>
      </p:sp>
      <p:sp>
        <p:nvSpPr>
          <p:cNvPr id="84" name="TextBox 102"/>
          <p:cNvSpPr txBox="1">
            <a:spLocks noChangeArrowheads="1"/>
          </p:cNvSpPr>
          <p:nvPr/>
        </p:nvSpPr>
        <p:spPr bwMode="auto">
          <a:xfrm>
            <a:off x="6736649" y="2866139"/>
            <a:ext cx="1500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latin typeface="微软雅黑" panose="020B0503020204020204" pitchFamily="34" charset="-122"/>
                <a:ea typeface="微软雅黑" panose="020B0503020204020204" pitchFamily="34" charset="-122"/>
              </a:rPr>
              <a:t>红外探照灯</a:t>
            </a:r>
          </a:p>
        </p:txBody>
      </p:sp>
      <p:sp>
        <p:nvSpPr>
          <p:cNvPr id="85" name="矩形 112"/>
          <p:cNvSpPr>
            <a:spLocks noChangeArrowheads="1"/>
          </p:cNvSpPr>
          <p:nvPr/>
        </p:nvSpPr>
        <p:spPr bwMode="auto">
          <a:xfrm>
            <a:off x="6877936" y="5907789"/>
            <a:ext cx="1211263" cy="400050"/>
          </a:xfrm>
          <a:prstGeom prst="rect">
            <a:avLst/>
          </a:prstGeom>
          <a:solidFill>
            <a:schemeClr val="accent6">
              <a:lumMod val="60000"/>
              <a:lumOff val="40000"/>
            </a:schemeClr>
          </a:solidFill>
          <a:ln w="9525">
            <a:noFill/>
            <a:miter lim="800000"/>
            <a:headEnd/>
            <a:tailEnd/>
          </a:ln>
        </p:spPr>
        <p:txBody>
          <a:bodyPr wrap="none">
            <a:spAutoFit/>
          </a:bodyPr>
          <a:lstStyle/>
          <a:p>
            <a:pPr algn="ctr">
              <a:defRPr/>
            </a:pPr>
            <a:r>
              <a:rPr lang="zh-CN" altLang="en-US" sz="2000" b="1" dirty="0">
                <a:solidFill>
                  <a:srgbClr val="0000CC"/>
                </a:solidFill>
                <a:latin typeface="微软雅黑" pitchFamily="34" charset="-122"/>
                <a:ea typeface="微软雅黑" pitchFamily="34" charset="-122"/>
              </a:rPr>
              <a:t>高压电源</a:t>
            </a:r>
          </a:p>
        </p:txBody>
      </p:sp>
      <p:sp>
        <p:nvSpPr>
          <p:cNvPr id="86" name="文本框 60">
            <a:extLst>
              <a:ext uri="{FF2B5EF4-FFF2-40B4-BE49-F238E27FC236}">
                <a16:creationId xmlns:a16="http://schemas.microsoft.com/office/drawing/2014/main" xmlns="" id="{791D85D7-F412-9C48-9F2B-E33F5B7B4F3C}"/>
              </a:ext>
            </a:extLst>
          </p:cNvPr>
          <p:cNvSpPr txBox="1"/>
          <p:nvPr/>
        </p:nvSpPr>
        <p:spPr>
          <a:xfrm>
            <a:off x="1462837" y="293282"/>
            <a:ext cx="126775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像管应用</a:t>
            </a:r>
            <a:endParaRPr lang="zh-CN" altLang="en-US" sz="1800" b="1" dirty="0">
              <a:latin typeface="微软雅黑" panose="020B0503020204020204" pitchFamily="34" charset="-122"/>
              <a:ea typeface="微软雅黑" panose="020B0503020204020204" pitchFamily="34" charset="-122"/>
            </a:endParaRPr>
          </a:p>
        </p:txBody>
      </p:sp>
      <p:cxnSp>
        <p:nvCxnSpPr>
          <p:cNvPr id="87" name="直接连接符 58">
            <a:extLst>
              <a:ext uri="{FF2B5EF4-FFF2-40B4-BE49-F238E27FC236}">
                <a16:creationId xmlns:a16="http://schemas.microsoft.com/office/drawing/2014/main" xmlns="" id="{8C5F82EF-52B4-4531-96F0-44689EA1125E}"/>
              </a:ext>
            </a:extLst>
          </p:cNvPr>
          <p:cNvCxnSpPr>
            <a:cxnSpLocks/>
          </p:cNvCxnSpPr>
          <p:nvPr/>
        </p:nvCxnSpPr>
        <p:spPr>
          <a:xfrm>
            <a:off x="1462837" y="662614"/>
            <a:ext cx="1051763"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7.1.6</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86" name="直接连接符 85"/>
          <p:cNvCxnSpPr/>
          <p:nvPr/>
        </p:nvCxnSpPr>
        <p:spPr>
          <a:xfrm rot="10800000" flipV="1">
            <a:off x="5537311" y="3755286"/>
            <a:ext cx="1587" cy="9286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87" name="Picture 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0161" y="3864824"/>
            <a:ext cx="233362" cy="76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cxnSp>
        <p:nvCxnSpPr>
          <p:cNvPr id="88" name="直接连接符 87"/>
          <p:cNvCxnSpPr/>
          <p:nvPr/>
        </p:nvCxnSpPr>
        <p:spPr>
          <a:xfrm rot="10800000" flipV="1">
            <a:off x="6394561" y="3755286"/>
            <a:ext cx="1587" cy="9286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rot="10800000" flipV="1">
            <a:off x="6465998" y="3755286"/>
            <a:ext cx="1588" cy="9286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rot="10800000" flipV="1">
            <a:off x="7324836" y="3755286"/>
            <a:ext cx="1587" cy="9286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a:stCxn id="125" idx="1"/>
            <a:endCxn id="126" idx="1"/>
          </p:cNvCxnSpPr>
          <p:nvPr/>
        </p:nvCxnSpPr>
        <p:spPr>
          <a:xfrm rot="10800000" flipV="1">
            <a:off x="7399448" y="3777511"/>
            <a:ext cx="1588" cy="9286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8258286" y="3777511"/>
            <a:ext cx="1587" cy="9064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93"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5886" y="3872761"/>
            <a:ext cx="233362"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94"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7198" y="3853711"/>
            <a:ext cx="354013" cy="785813"/>
          </a:xfrm>
          <a:prstGeom prst="rect">
            <a:avLst/>
          </a:prstGeom>
          <a:noFill/>
          <a:ln w="28575">
            <a:solidFill>
              <a:srgbClr val="FFFFFF"/>
            </a:solidFill>
            <a:miter lim="800000"/>
            <a:headEnd/>
            <a:tailEnd/>
          </a:ln>
          <a:extLst>
            <a:ext uri="{909E8E84-426E-40DD-AFC4-6F175D3DCCD1}">
              <a14:hiddenFill xmlns:a14="http://schemas.microsoft.com/office/drawing/2010/main">
                <a:solidFill>
                  <a:srgbClr val="FFFFFF"/>
                </a:solidFill>
              </a14:hiddenFill>
            </a:ext>
          </a:extLst>
        </p:spPr>
      </p:pic>
      <p:pic>
        <p:nvPicPr>
          <p:cNvPr id="95"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511" y="3847361"/>
            <a:ext cx="354012"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96" name="椭圆 95"/>
          <p:cNvSpPr/>
          <p:nvPr/>
        </p:nvSpPr>
        <p:spPr>
          <a:xfrm>
            <a:off x="9248886" y="3826724"/>
            <a:ext cx="142875" cy="785812"/>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97" name="椭圆 96"/>
          <p:cNvSpPr/>
          <p:nvPr/>
        </p:nvSpPr>
        <p:spPr>
          <a:xfrm>
            <a:off x="8834548" y="3826724"/>
            <a:ext cx="142875" cy="785812"/>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98" name="椭圆 97"/>
          <p:cNvSpPr/>
          <p:nvPr/>
        </p:nvSpPr>
        <p:spPr>
          <a:xfrm>
            <a:off x="10052161" y="4145811"/>
            <a:ext cx="428625" cy="2143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99" name="椭圆 98"/>
          <p:cNvSpPr/>
          <p:nvPr/>
        </p:nvSpPr>
        <p:spPr>
          <a:xfrm>
            <a:off x="10182336" y="4183911"/>
            <a:ext cx="214312" cy="14287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00" name="TextBox 35"/>
          <p:cNvSpPr txBox="1">
            <a:spLocks noChangeArrowheads="1"/>
          </p:cNvSpPr>
          <p:nvPr/>
        </p:nvSpPr>
        <p:spPr bwMode="auto">
          <a:xfrm>
            <a:off x="9825148" y="4612536"/>
            <a:ext cx="857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ea typeface="微软雅黑" panose="020B0503020204020204" pitchFamily="34" charset="-122"/>
                <a:cs typeface="Times New Roman" panose="02020603050405020304" pitchFamily="18" charset="0"/>
              </a:rPr>
              <a:t>人眼</a:t>
            </a:r>
          </a:p>
        </p:txBody>
      </p:sp>
      <p:sp>
        <p:nvSpPr>
          <p:cNvPr id="101" name="TextBox 36"/>
          <p:cNvSpPr txBox="1">
            <a:spLocks noChangeArrowheads="1"/>
          </p:cNvSpPr>
          <p:nvPr/>
        </p:nvSpPr>
        <p:spPr bwMode="auto">
          <a:xfrm>
            <a:off x="8753586" y="4612536"/>
            <a:ext cx="857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ea typeface="微软雅黑" panose="020B0503020204020204" pitchFamily="34" charset="-122"/>
                <a:cs typeface="Times New Roman" panose="02020603050405020304" pitchFamily="18" charset="0"/>
              </a:rPr>
              <a:t>目镜</a:t>
            </a:r>
          </a:p>
        </p:txBody>
      </p:sp>
      <p:cxnSp>
        <p:nvCxnSpPr>
          <p:cNvPr id="102" name="直接箭头连接符 101"/>
          <p:cNvCxnSpPr/>
          <p:nvPr/>
        </p:nvCxnSpPr>
        <p:spPr>
          <a:xfrm rot="5400000" flipH="1" flipV="1">
            <a:off x="2251979" y="4256143"/>
            <a:ext cx="1000125" cy="1588"/>
          </a:xfrm>
          <a:prstGeom prst="straightConnector1">
            <a:avLst/>
          </a:prstGeom>
          <a:ln w="3810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2752836" y="3755286"/>
            <a:ext cx="2643187" cy="78581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4" name="组合 47"/>
          <p:cNvGrpSpPr/>
          <p:nvPr/>
        </p:nvGrpSpPr>
        <p:grpSpPr>
          <a:xfrm>
            <a:off x="4181569" y="3755277"/>
            <a:ext cx="285752" cy="1000132"/>
            <a:chOff x="2214546" y="3714752"/>
            <a:chExt cx="285752" cy="1000132"/>
          </a:xfrm>
          <a:solidFill>
            <a:schemeClr val="accent4">
              <a:lumMod val="60000"/>
              <a:lumOff val="40000"/>
            </a:schemeClr>
          </a:solidFill>
        </p:grpSpPr>
        <p:sp>
          <p:nvSpPr>
            <p:cNvPr id="105" name="矩形 104"/>
            <p:cNvSpPr/>
            <p:nvPr/>
          </p:nvSpPr>
          <p:spPr>
            <a:xfrm>
              <a:off x="2357422" y="3714752"/>
              <a:ext cx="142876" cy="100013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06" name="椭圆 105"/>
            <p:cNvSpPr/>
            <p:nvPr/>
          </p:nvSpPr>
          <p:spPr>
            <a:xfrm>
              <a:off x="2214546" y="3714752"/>
              <a:ext cx="214314" cy="10001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grpSp>
      <p:cxnSp>
        <p:nvCxnSpPr>
          <p:cNvPr id="107" name="直接箭头连接符 106"/>
          <p:cNvCxnSpPr/>
          <p:nvPr/>
        </p:nvCxnSpPr>
        <p:spPr>
          <a:xfrm rot="10800000" flipV="1">
            <a:off x="3133836" y="3140924"/>
            <a:ext cx="642937" cy="500062"/>
          </a:xfrm>
          <a:prstGeom prst="straightConnector1">
            <a:avLst/>
          </a:prstGeom>
          <a:ln w="28575">
            <a:solidFill>
              <a:srgbClr val="FF0000"/>
            </a:solidFill>
            <a:tailEnd type="stealth"/>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rot="10800000" flipV="1">
            <a:off x="3262423" y="3264749"/>
            <a:ext cx="642938" cy="500062"/>
          </a:xfrm>
          <a:prstGeom prst="straightConnector1">
            <a:avLst/>
          </a:prstGeom>
          <a:ln w="28575">
            <a:solidFill>
              <a:srgbClr val="FF0000"/>
            </a:solidFill>
            <a:tailEnd type="stealth"/>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rot="10800000" flipV="1">
            <a:off x="3371961" y="3379049"/>
            <a:ext cx="642937" cy="500062"/>
          </a:xfrm>
          <a:prstGeom prst="straightConnector1">
            <a:avLst/>
          </a:prstGeom>
          <a:ln w="28575">
            <a:solidFill>
              <a:srgbClr val="FF0000"/>
            </a:solidFill>
            <a:tailEnd type="stealth"/>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2752836" y="3755286"/>
            <a:ext cx="2643187" cy="78581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rot="5400000">
            <a:off x="5026135" y="4220424"/>
            <a:ext cx="500063" cy="1588"/>
          </a:xfrm>
          <a:prstGeom prst="straightConnector1">
            <a:avLst/>
          </a:prstGeom>
          <a:ln w="3810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sp>
        <p:nvSpPr>
          <p:cNvPr id="112" name="矩形 111"/>
          <p:cNvSpPr/>
          <p:nvPr/>
        </p:nvSpPr>
        <p:spPr>
          <a:xfrm>
            <a:off x="6515211" y="5336436"/>
            <a:ext cx="928687" cy="523875"/>
          </a:xfrm>
          <a:prstGeom prst="rect">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b="1" dirty="0">
              <a:latin typeface="Times New Roman" pitchFamily="18" charset="0"/>
              <a:ea typeface="微软雅黑" pitchFamily="34" charset="-122"/>
              <a:cs typeface="Times New Roman" pitchFamily="18" charset="0"/>
            </a:endParaRPr>
          </a:p>
        </p:txBody>
      </p:sp>
      <p:cxnSp>
        <p:nvCxnSpPr>
          <p:cNvPr id="113" name="直接连接符 112"/>
          <p:cNvCxnSpPr/>
          <p:nvPr/>
        </p:nvCxnSpPr>
        <p:spPr>
          <a:xfrm rot="10800000">
            <a:off x="6000861" y="5601549"/>
            <a:ext cx="500062"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rot="5400000" flipH="1" flipV="1">
            <a:off x="5714317" y="5318180"/>
            <a:ext cx="5715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肘形连接符 114"/>
          <p:cNvCxnSpPr/>
          <p:nvPr/>
        </p:nvCxnSpPr>
        <p:spPr>
          <a:xfrm rot="10800000" flipV="1">
            <a:off x="5538898" y="5037986"/>
            <a:ext cx="458788" cy="3175"/>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rot="5400000" flipH="1" flipV="1">
            <a:off x="5322204" y="4827643"/>
            <a:ext cx="428625"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a:stCxn id="112" idx="3"/>
          </p:cNvCxnSpPr>
          <p:nvPr/>
        </p:nvCxnSpPr>
        <p:spPr>
          <a:xfrm flipV="1">
            <a:off x="7443898" y="5593611"/>
            <a:ext cx="595313" cy="47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rot="5400000" flipH="1" flipV="1">
            <a:off x="7754255" y="5327705"/>
            <a:ext cx="571500" cy="158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8039211" y="5041161"/>
            <a:ext cx="21431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rot="5400000" flipH="1" flipV="1">
            <a:off x="8080486" y="4863361"/>
            <a:ext cx="357188"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矩形 120"/>
          <p:cNvSpPr/>
          <p:nvPr/>
        </p:nvSpPr>
        <p:spPr>
          <a:xfrm>
            <a:off x="5537311" y="3755286"/>
            <a:ext cx="857250" cy="46038"/>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22" name="矩形 121"/>
          <p:cNvSpPr/>
          <p:nvPr/>
        </p:nvSpPr>
        <p:spPr>
          <a:xfrm>
            <a:off x="5537311" y="4683974"/>
            <a:ext cx="857250" cy="46037"/>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23" name="矩形 122"/>
          <p:cNvSpPr/>
          <p:nvPr/>
        </p:nvSpPr>
        <p:spPr>
          <a:xfrm>
            <a:off x="6467586" y="3755286"/>
            <a:ext cx="857250" cy="46038"/>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24" name="矩形 123"/>
          <p:cNvSpPr/>
          <p:nvPr/>
        </p:nvSpPr>
        <p:spPr>
          <a:xfrm>
            <a:off x="6467586" y="4683974"/>
            <a:ext cx="857250" cy="46037"/>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25" name="矩形 124"/>
          <p:cNvSpPr/>
          <p:nvPr/>
        </p:nvSpPr>
        <p:spPr>
          <a:xfrm>
            <a:off x="7399448" y="3755286"/>
            <a:ext cx="857250" cy="46038"/>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26" name="矩形 125"/>
          <p:cNvSpPr/>
          <p:nvPr/>
        </p:nvSpPr>
        <p:spPr>
          <a:xfrm>
            <a:off x="7399448" y="4683974"/>
            <a:ext cx="857250" cy="46037"/>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cxnSp>
        <p:nvCxnSpPr>
          <p:cNvPr id="127" name="直接连接符 126"/>
          <p:cNvCxnSpPr/>
          <p:nvPr/>
        </p:nvCxnSpPr>
        <p:spPr>
          <a:xfrm rot="5400000">
            <a:off x="6396149" y="4898286"/>
            <a:ext cx="285750"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6539023" y="5041161"/>
            <a:ext cx="28575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rot="5400000">
            <a:off x="6682692" y="5184830"/>
            <a:ext cx="285750"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rot="5400000">
            <a:off x="7325630" y="4899080"/>
            <a:ext cx="285750" cy="158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rot="10800000">
            <a:off x="7110523" y="5041161"/>
            <a:ext cx="357188"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rot="5400000">
            <a:off x="6968442" y="5184830"/>
            <a:ext cx="285750"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3" name="直接连接符 132"/>
          <p:cNvCxnSpPr>
            <a:endCxn id="156" idx="0"/>
          </p:cNvCxnSpPr>
          <p:nvPr/>
        </p:nvCxnSpPr>
        <p:spPr>
          <a:xfrm rot="5400000">
            <a:off x="4717367" y="4719693"/>
            <a:ext cx="928687" cy="571500"/>
          </a:xfrm>
          <a:prstGeom prst="line">
            <a:avLst/>
          </a:prstGeom>
          <a:ln w="31750">
            <a:solidFill>
              <a:schemeClr val="tx1"/>
            </a:solidFill>
            <a:headEnd type="stealth" w="med" len="lg"/>
            <a:tailEnd type="none" w="med" len="lg"/>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rot="16200000" flipH="1">
            <a:off x="8217805" y="4719692"/>
            <a:ext cx="857250" cy="642937"/>
          </a:xfrm>
          <a:prstGeom prst="line">
            <a:avLst/>
          </a:prstGeom>
          <a:ln w="31750">
            <a:solidFill>
              <a:schemeClr val="tx1"/>
            </a:solidFill>
            <a:headEnd type="stealth" w="med" len="lg"/>
            <a:tailEnd type="none"/>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rot="5400000" flipH="1" flipV="1">
            <a:off x="8290035" y="4220424"/>
            <a:ext cx="214313"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rot="10800000">
            <a:off x="7842361" y="4322024"/>
            <a:ext cx="357187" cy="2857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rot="10800000" flipV="1">
            <a:off x="6921611" y="3867999"/>
            <a:ext cx="357187" cy="2857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rot="10800000" flipV="1">
            <a:off x="5986573" y="3853711"/>
            <a:ext cx="357188" cy="2857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rot="10800000">
            <a:off x="6910498" y="4326786"/>
            <a:ext cx="357188" cy="2857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rot="10800000">
            <a:off x="5980223" y="4326786"/>
            <a:ext cx="357188" cy="28575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1" name="等腰三角形 140"/>
          <p:cNvSpPr/>
          <p:nvPr/>
        </p:nvSpPr>
        <p:spPr>
          <a:xfrm rot="5400000">
            <a:off x="5639705" y="4038655"/>
            <a:ext cx="285750" cy="357187"/>
          </a:xfrm>
          <a:prstGeom prst="triangle">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42" name="等腰三角形 141"/>
          <p:cNvSpPr/>
          <p:nvPr/>
        </p:nvSpPr>
        <p:spPr>
          <a:xfrm rot="16200000">
            <a:off x="6020705" y="4038655"/>
            <a:ext cx="285750" cy="357187"/>
          </a:xfrm>
          <a:prstGeom prst="triangle">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43" name="等腰三角形 142"/>
          <p:cNvSpPr/>
          <p:nvPr/>
        </p:nvSpPr>
        <p:spPr>
          <a:xfrm rot="5400000">
            <a:off x="6646180" y="4005317"/>
            <a:ext cx="214312" cy="428625"/>
          </a:xfrm>
          <a:prstGeom prst="triangle">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44" name="等腰三角形 143"/>
          <p:cNvSpPr/>
          <p:nvPr/>
        </p:nvSpPr>
        <p:spPr>
          <a:xfrm rot="5400000">
            <a:off x="7546293" y="4005317"/>
            <a:ext cx="214312" cy="428625"/>
          </a:xfrm>
          <a:prstGeom prst="triangle">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45" name="等腰三角形 144"/>
          <p:cNvSpPr/>
          <p:nvPr/>
        </p:nvSpPr>
        <p:spPr>
          <a:xfrm rot="16200000">
            <a:off x="7012892" y="4052943"/>
            <a:ext cx="171450" cy="328612"/>
          </a:xfrm>
          <a:prstGeom prst="triangle">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46" name="等腰三角形 145"/>
          <p:cNvSpPr/>
          <p:nvPr/>
        </p:nvSpPr>
        <p:spPr>
          <a:xfrm rot="16200000">
            <a:off x="7915386" y="4093423"/>
            <a:ext cx="171450" cy="257175"/>
          </a:xfrm>
          <a:prstGeom prst="triangle">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cxnSp>
        <p:nvCxnSpPr>
          <p:cNvPr id="147" name="直接连接符 146"/>
          <p:cNvCxnSpPr/>
          <p:nvPr/>
        </p:nvCxnSpPr>
        <p:spPr>
          <a:xfrm rot="10800000">
            <a:off x="2476611" y="4226774"/>
            <a:ext cx="7429500" cy="1587"/>
          </a:xfrm>
          <a:prstGeom prst="line">
            <a:avLst/>
          </a:prstGeom>
          <a:ln w="38100">
            <a:solidFill>
              <a:schemeClr val="tx1"/>
            </a:solidFill>
            <a:prstDash val="lgDashDot"/>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rot="10800000" flipV="1">
            <a:off x="7848711" y="3882286"/>
            <a:ext cx="357187" cy="2857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rot="5400000" flipH="1" flipV="1">
            <a:off x="7754255" y="5326117"/>
            <a:ext cx="571500"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rot="5400000">
            <a:off x="6682692" y="5183242"/>
            <a:ext cx="28575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rot="5400000">
            <a:off x="7325630" y="4891142"/>
            <a:ext cx="285750"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rot="10800000">
            <a:off x="7112111" y="5036399"/>
            <a:ext cx="357187"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rot="5400000">
            <a:off x="6968442" y="5183242"/>
            <a:ext cx="28575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rot="10800000" flipV="1">
            <a:off x="2752836" y="3898161"/>
            <a:ext cx="2643187" cy="8572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5" name="TextBox 152"/>
          <p:cNvSpPr txBox="1">
            <a:spLocks noChangeArrowheads="1"/>
          </p:cNvSpPr>
          <p:nvPr/>
        </p:nvSpPr>
        <p:spPr bwMode="auto">
          <a:xfrm>
            <a:off x="8501173" y="5469786"/>
            <a:ext cx="1000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ea typeface="微软雅黑" panose="020B0503020204020204" pitchFamily="34" charset="-122"/>
                <a:cs typeface="Times New Roman" panose="02020603050405020304" pitchFamily="18" charset="0"/>
              </a:rPr>
              <a:t>输出窗</a:t>
            </a:r>
          </a:p>
        </p:txBody>
      </p:sp>
      <p:sp>
        <p:nvSpPr>
          <p:cNvPr id="156" name="TextBox 153"/>
          <p:cNvSpPr txBox="1">
            <a:spLocks noChangeArrowheads="1"/>
          </p:cNvSpPr>
          <p:nvPr/>
        </p:nvSpPr>
        <p:spPr bwMode="auto">
          <a:xfrm>
            <a:off x="4395898" y="5469786"/>
            <a:ext cx="1000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ea typeface="微软雅黑" panose="020B0503020204020204" pitchFamily="34" charset="-122"/>
                <a:cs typeface="Times New Roman" panose="02020603050405020304" pitchFamily="18" charset="0"/>
              </a:rPr>
              <a:t>输入窗</a:t>
            </a:r>
          </a:p>
        </p:txBody>
      </p:sp>
      <p:sp>
        <p:nvSpPr>
          <p:cNvPr id="157" name="TextBox 154"/>
          <p:cNvSpPr txBox="1">
            <a:spLocks noChangeArrowheads="1"/>
          </p:cNvSpPr>
          <p:nvPr/>
        </p:nvSpPr>
        <p:spPr bwMode="auto">
          <a:xfrm>
            <a:off x="3895836" y="2898036"/>
            <a:ext cx="9286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FF"/>
                </a:solidFill>
                <a:ea typeface="微软雅黑" panose="020B0503020204020204" pitchFamily="34" charset="-122"/>
                <a:cs typeface="Times New Roman" panose="02020603050405020304" pitchFamily="18" charset="0"/>
              </a:rPr>
              <a:t>夜光</a:t>
            </a:r>
          </a:p>
        </p:txBody>
      </p:sp>
      <p:sp>
        <p:nvSpPr>
          <p:cNvPr id="158" name="TextBox 155"/>
          <p:cNvSpPr txBox="1">
            <a:spLocks noChangeArrowheads="1"/>
          </p:cNvSpPr>
          <p:nvPr/>
        </p:nvSpPr>
        <p:spPr bwMode="auto">
          <a:xfrm>
            <a:off x="5538898" y="4683974"/>
            <a:ext cx="571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ea typeface="微软雅黑" panose="020B0503020204020204" pitchFamily="34" charset="-122"/>
                <a:cs typeface="Times New Roman" panose="02020603050405020304" pitchFamily="18" charset="0"/>
              </a:rPr>
              <a:t>0V</a:t>
            </a:r>
            <a:endParaRPr lang="zh-CN" altLang="en-US" sz="2000" b="1">
              <a:ea typeface="微软雅黑" panose="020B0503020204020204" pitchFamily="34" charset="-122"/>
              <a:cs typeface="Times New Roman" panose="02020603050405020304" pitchFamily="18" charset="0"/>
            </a:endParaRPr>
          </a:p>
        </p:txBody>
      </p:sp>
      <p:sp>
        <p:nvSpPr>
          <p:cNvPr id="159" name="TextBox 156"/>
          <p:cNvSpPr txBox="1">
            <a:spLocks noChangeArrowheads="1"/>
          </p:cNvSpPr>
          <p:nvPr/>
        </p:nvSpPr>
        <p:spPr bwMode="auto">
          <a:xfrm>
            <a:off x="6467586" y="4683974"/>
            <a:ext cx="1000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ea typeface="微软雅黑" panose="020B0503020204020204" pitchFamily="34" charset="-122"/>
                <a:cs typeface="Times New Roman" panose="02020603050405020304" pitchFamily="18" charset="0"/>
              </a:rPr>
              <a:t>+13KV</a:t>
            </a:r>
            <a:endParaRPr lang="zh-CN" altLang="en-US" sz="2000" b="1">
              <a:ea typeface="微软雅黑" panose="020B0503020204020204" pitchFamily="34" charset="-122"/>
              <a:cs typeface="Times New Roman" panose="02020603050405020304" pitchFamily="18" charset="0"/>
            </a:endParaRPr>
          </a:p>
        </p:txBody>
      </p:sp>
      <p:sp>
        <p:nvSpPr>
          <p:cNvPr id="160" name="TextBox 157"/>
          <p:cNvSpPr txBox="1">
            <a:spLocks noChangeArrowheads="1"/>
          </p:cNvSpPr>
          <p:nvPr/>
        </p:nvSpPr>
        <p:spPr bwMode="auto">
          <a:xfrm>
            <a:off x="7386748" y="4679211"/>
            <a:ext cx="9382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ea typeface="微软雅黑" panose="020B0503020204020204" pitchFamily="34" charset="-122"/>
                <a:cs typeface="Times New Roman" panose="02020603050405020304" pitchFamily="18" charset="0"/>
              </a:rPr>
              <a:t>+26KV</a:t>
            </a:r>
            <a:endParaRPr lang="zh-CN" altLang="en-US" sz="2000" b="1">
              <a:ea typeface="微软雅黑" panose="020B0503020204020204" pitchFamily="34" charset="-122"/>
              <a:cs typeface="Times New Roman" panose="02020603050405020304" pitchFamily="18" charset="0"/>
            </a:endParaRPr>
          </a:p>
        </p:txBody>
      </p:sp>
      <p:sp>
        <p:nvSpPr>
          <p:cNvPr id="161" name="TextBox 158"/>
          <p:cNvSpPr txBox="1">
            <a:spLocks noChangeArrowheads="1"/>
          </p:cNvSpPr>
          <p:nvPr/>
        </p:nvSpPr>
        <p:spPr bwMode="auto">
          <a:xfrm>
            <a:off x="7953486" y="5041161"/>
            <a:ext cx="1000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ea typeface="微软雅黑" panose="020B0503020204020204" pitchFamily="34" charset="-122"/>
                <a:cs typeface="Times New Roman" panose="02020603050405020304" pitchFamily="18" charset="0"/>
              </a:rPr>
              <a:t>+36KV</a:t>
            </a:r>
            <a:endParaRPr lang="zh-CN" altLang="en-US" sz="2000" b="1">
              <a:ea typeface="微软雅黑" panose="020B0503020204020204" pitchFamily="34" charset="-122"/>
              <a:cs typeface="Times New Roman" panose="02020603050405020304" pitchFamily="18" charset="0"/>
            </a:endParaRPr>
          </a:p>
        </p:txBody>
      </p:sp>
      <p:sp>
        <p:nvSpPr>
          <p:cNvPr id="162" name="TextBox 159"/>
          <p:cNvSpPr txBox="1">
            <a:spLocks noChangeArrowheads="1"/>
          </p:cNvSpPr>
          <p:nvPr/>
        </p:nvSpPr>
        <p:spPr bwMode="auto">
          <a:xfrm>
            <a:off x="5681773" y="3255224"/>
            <a:ext cx="2643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000CC"/>
                </a:solidFill>
                <a:ea typeface="微软雅黑" panose="020B0503020204020204" pitchFamily="34" charset="-122"/>
                <a:cs typeface="Times New Roman" panose="02020603050405020304" pitchFamily="18" charset="0"/>
              </a:rPr>
              <a:t>三级级联像增强管</a:t>
            </a:r>
          </a:p>
        </p:txBody>
      </p:sp>
      <p:sp>
        <p:nvSpPr>
          <p:cNvPr id="163" name="矩形 160"/>
          <p:cNvSpPr>
            <a:spLocks noChangeArrowheads="1"/>
          </p:cNvSpPr>
          <p:nvPr/>
        </p:nvSpPr>
        <p:spPr bwMode="auto">
          <a:xfrm>
            <a:off x="6610461" y="5255474"/>
            <a:ext cx="714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ea typeface="微软雅黑" panose="020B0503020204020204" pitchFamily="34" charset="-122"/>
                <a:cs typeface="Times New Roman" panose="02020603050405020304" pitchFamily="18" charset="0"/>
              </a:rPr>
              <a:t>高压</a:t>
            </a:r>
            <a:endParaRPr lang="en-US" altLang="zh-CN" sz="1800" b="1">
              <a:ea typeface="微软雅黑" panose="020B0503020204020204" pitchFamily="34" charset="-122"/>
              <a:cs typeface="Times New Roman" panose="02020603050405020304" pitchFamily="18" charset="0"/>
            </a:endParaRPr>
          </a:p>
          <a:p>
            <a:pPr algn="ctr" eaLnBrk="1" hangingPunct="1"/>
            <a:r>
              <a:rPr lang="zh-CN" altLang="en-US" sz="1800" b="1">
                <a:ea typeface="微软雅黑" panose="020B0503020204020204" pitchFamily="34" charset="-122"/>
                <a:cs typeface="Times New Roman" panose="02020603050405020304" pitchFamily="18" charset="0"/>
              </a:rPr>
              <a:t>电源</a:t>
            </a:r>
          </a:p>
        </p:txBody>
      </p:sp>
      <p:sp>
        <p:nvSpPr>
          <p:cNvPr id="164" name="Rectangle 5"/>
          <p:cNvSpPr>
            <a:spLocks noChangeArrowheads="1"/>
          </p:cNvSpPr>
          <p:nvPr/>
        </p:nvSpPr>
        <p:spPr bwMode="auto">
          <a:xfrm>
            <a:off x="5396023" y="3183786"/>
            <a:ext cx="3071813" cy="2786063"/>
          </a:xfrm>
          <a:prstGeom prst="rect">
            <a:avLst/>
          </a:prstGeom>
          <a:noFill/>
          <a:ln w="5715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5" name="TextBox 36"/>
          <p:cNvSpPr txBox="1">
            <a:spLocks noChangeArrowheads="1"/>
          </p:cNvSpPr>
          <p:nvPr/>
        </p:nvSpPr>
        <p:spPr bwMode="auto">
          <a:xfrm>
            <a:off x="3967273" y="4755411"/>
            <a:ext cx="857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ea typeface="微软雅黑" panose="020B0503020204020204" pitchFamily="34" charset="-122"/>
                <a:cs typeface="Times New Roman" panose="02020603050405020304" pitchFamily="18" charset="0"/>
              </a:rPr>
              <a:t>物镜</a:t>
            </a:r>
          </a:p>
        </p:txBody>
      </p:sp>
      <p:sp>
        <p:nvSpPr>
          <p:cNvPr id="166" name="Rectangle 3"/>
          <p:cNvSpPr>
            <a:spLocks noChangeArrowheads="1"/>
          </p:cNvSpPr>
          <p:nvPr/>
        </p:nvSpPr>
        <p:spPr bwMode="auto">
          <a:xfrm>
            <a:off x="4324461" y="1683599"/>
            <a:ext cx="38766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CC"/>
                </a:solidFill>
                <a:ea typeface="微软雅黑" panose="020B0503020204020204" pitchFamily="34" charset="-122"/>
                <a:cs typeface="Times New Roman" panose="02020603050405020304" pitchFamily="18" charset="0"/>
              </a:rPr>
              <a:t>2. </a:t>
            </a:r>
            <a:r>
              <a:rPr lang="zh-CN" altLang="en-US" b="1">
                <a:solidFill>
                  <a:srgbClr val="0000CC"/>
                </a:solidFill>
                <a:ea typeface="微软雅黑" panose="020B0503020204020204" pitchFamily="34" charset="-122"/>
                <a:cs typeface="Times New Roman" panose="02020603050405020304" pitchFamily="18" charset="0"/>
              </a:rPr>
              <a:t>微光夜视仪</a:t>
            </a:r>
            <a:r>
              <a:rPr lang="en-US" altLang="zh-CN" b="1">
                <a:solidFill>
                  <a:srgbClr val="0000CC"/>
                </a:solidFill>
                <a:ea typeface="微软雅黑" panose="020B0503020204020204" pitchFamily="34" charset="-122"/>
                <a:cs typeface="Times New Roman" panose="02020603050405020304" pitchFamily="18" charset="0"/>
              </a:rPr>
              <a:t>(10</a:t>
            </a:r>
            <a:r>
              <a:rPr lang="en-US" altLang="zh-CN" b="1" baseline="30000">
                <a:solidFill>
                  <a:srgbClr val="0000CC"/>
                </a:solidFill>
                <a:ea typeface="微软雅黑" panose="020B0503020204020204" pitchFamily="34" charset="-122"/>
                <a:cs typeface="Times New Roman" panose="02020603050405020304" pitchFamily="18" charset="0"/>
              </a:rPr>
              <a:t>-5</a:t>
            </a:r>
            <a:r>
              <a:rPr lang="en-US" altLang="zh-CN" b="1">
                <a:solidFill>
                  <a:srgbClr val="0000CC"/>
                </a:solidFill>
                <a:ea typeface="微软雅黑" panose="020B0503020204020204" pitchFamily="34" charset="-122"/>
                <a:cs typeface="Times New Roman" panose="02020603050405020304" pitchFamily="18" charset="0"/>
              </a:rPr>
              <a:t>lx)</a:t>
            </a:r>
            <a:endParaRPr lang="zh-CN" altLang="en-US" b="1">
              <a:solidFill>
                <a:srgbClr val="0000CC"/>
              </a:solidFill>
              <a:ea typeface="微软雅黑" panose="020B0503020204020204" pitchFamily="34" charset="-122"/>
              <a:cs typeface="Times New Roman" panose="02020603050405020304" pitchFamily="18" charset="0"/>
            </a:endParaRPr>
          </a:p>
        </p:txBody>
      </p:sp>
      <p:sp>
        <p:nvSpPr>
          <p:cNvPr id="167" name="文本框 60">
            <a:extLst>
              <a:ext uri="{FF2B5EF4-FFF2-40B4-BE49-F238E27FC236}">
                <a16:creationId xmlns:a16="http://schemas.microsoft.com/office/drawing/2014/main" xmlns="" id="{791D85D7-F412-9C48-9F2B-E33F5B7B4F3C}"/>
              </a:ext>
            </a:extLst>
          </p:cNvPr>
          <p:cNvSpPr txBox="1"/>
          <p:nvPr/>
        </p:nvSpPr>
        <p:spPr>
          <a:xfrm>
            <a:off x="1462837" y="293282"/>
            <a:ext cx="126775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像管应用</a:t>
            </a:r>
            <a:endParaRPr lang="zh-CN" altLang="en-US" sz="1800" b="1" dirty="0">
              <a:latin typeface="微软雅黑" panose="020B0503020204020204" pitchFamily="34" charset="-122"/>
              <a:ea typeface="微软雅黑" panose="020B0503020204020204" pitchFamily="34" charset="-122"/>
            </a:endParaRPr>
          </a:p>
        </p:txBody>
      </p:sp>
      <p:cxnSp>
        <p:nvCxnSpPr>
          <p:cNvPr id="168" name="直接连接符 58">
            <a:extLst>
              <a:ext uri="{FF2B5EF4-FFF2-40B4-BE49-F238E27FC236}">
                <a16:creationId xmlns:a16="http://schemas.microsoft.com/office/drawing/2014/main" xmlns="" id="{8C5F82EF-52B4-4531-96F0-44689EA1125E}"/>
              </a:ext>
            </a:extLst>
          </p:cNvPr>
          <p:cNvCxnSpPr>
            <a:cxnSpLocks/>
          </p:cNvCxnSpPr>
          <p:nvPr/>
        </p:nvCxnSpPr>
        <p:spPr>
          <a:xfrm>
            <a:off x="1462837" y="662614"/>
            <a:ext cx="1051763"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7.1.6</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pic>
        <p:nvPicPr>
          <p:cNvPr id="104" name="Picture 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6312" y="3038254"/>
            <a:ext cx="238125"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4362" y="3065242"/>
            <a:ext cx="314325" cy="217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8" name="直接连接符 167"/>
          <p:cNvCxnSpPr/>
          <p:nvPr/>
        </p:nvCxnSpPr>
        <p:spPr>
          <a:xfrm>
            <a:off x="4783174" y="3306542"/>
            <a:ext cx="1039813" cy="793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flipV="1">
            <a:off x="6148424" y="4147917"/>
            <a:ext cx="384175" cy="17462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a:off x="6148424" y="3960592"/>
            <a:ext cx="384175" cy="1920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71" name="Picture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9174" y="4541617"/>
            <a:ext cx="2286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 name="椭圆 171"/>
          <p:cNvSpPr/>
          <p:nvPr/>
        </p:nvSpPr>
        <p:spPr>
          <a:xfrm>
            <a:off x="9251987" y="3866929"/>
            <a:ext cx="642937"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173" name="椭圆 172"/>
          <p:cNvSpPr/>
          <p:nvPr/>
        </p:nvSpPr>
        <p:spPr>
          <a:xfrm>
            <a:off x="9180549" y="3793904"/>
            <a:ext cx="785813" cy="71437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174" name="任意多边形 173"/>
          <p:cNvSpPr/>
          <p:nvPr/>
        </p:nvSpPr>
        <p:spPr>
          <a:xfrm>
            <a:off x="9332949" y="3976467"/>
            <a:ext cx="82550" cy="357187"/>
          </a:xfrm>
          <a:custGeom>
            <a:avLst/>
            <a:gdLst>
              <a:gd name="connsiteX0" fmla="*/ 14288 w 82154"/>
              <a:gd name="connsiteY0" fmla="*/ 0 h 357188"/>
              <a:gd name="connsiteX1" fmla="*/ 66675 w 82154"/>
              <a:gd name="connsiteY1" fmla="*/ 88106 h 357188"/>
              <a:gd name="connsiteX2" fmla="*/ 80963 w 82154"/>
              <a:gd name="connsiteY2" fmla="*/ 173831 h 357188"/>
              <a:gd name="connsiteX3" fmla="*/ 59531 w 82154"/>
              <a:gd name="connsiteY3" fmla="*/ 276225 h 357188"/>
              <a:gd name="connsiteX4" fmla="*/ 0 w 82154"/>
              <a:gd name="connsiteY4" fmla="*/ 357188 h 357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54" h="357188">
                <a:moveTo>
                  <a:pt x="14288" y="0"/>
                </a:moveTo>
                <a:cubicBezTo>
                  <a:pt x="34925" y="29567"/>
                  <a:pt x="55563" y="59134"/>
                  <a:pt x="66675" y="88106"/>
                </a:cubicBezTo>
                <a:cubicBezTo>
                  <a:pt x="77787" y="117078"/>
                  <a:pt x="82154" y="142478"/>
                  <a:pt x="80963" y="173831"/>
                </a:cubicBezTo>
                <a:cubicBezTo>
                  <a:pt x="79772" y="205184"/>
                  <a:pt x="73025" y="245666"/>
                  <a:pt x="59531" y="276225"/>
                </a:cubicBezTo>
                <a:cubicBezTo>
                  <a:pt x="46037" y="306784"/>
                  <a:pt x="0" y="357188"/>
                  <a:pt x="0" y="357188"/>
                </a:cubicBezTo>
              </a:path>
            </a:pathLst>
          </a:cu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latin typeface="微软雅黑" pitchFamily="34" charset="-122"/>
              <a:ea typeface="微软雅黑" pitchFamily="34" charset="-122"/>
            </a:endParaRPr>
          </a:p>
        </p:txBody>
      </p:sp>
      <p:cxnSp>
        <p:nvCxnSpPr>
          <p:cNvPr id="175" name="直接连接符 174"/>
          <p:cNvCxnSpPr>
            <a:stCxn id="174" idx="4"/>
            <a:endCxn id="172" idx="6"/>
          </p:cNvCxnSpPr>
          <p:nvPr/>
        </p:nvCxnSpPr>
        <p:spPr>
          <a:xfrm flipV="1">
            <a:off x="9332949" y="4152679"/>
            <a:ext cx="561975" cy="180975"/>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6" name="直接连接符 175"/>
          <p:cNvCxnSpPr>
            <a:stCxn id="174" idx="0"/>
            <a:endCxn id="172" idx="6"/>
          </p:cNvCxnSpPr>
          <p:nvPr/>
        </p:nvCxnSpPr>
        <p:spPr>
          <a:xfrm>
            <a:off x="9347237" y="3976467"/>
            <a:ext cx="547687" cy="17621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77" name="椭圆 176"/>
          <p:cNvSpPr/>
          <p:nvPr/>
        </p:nvSpPr>
        <p:spPr>
          <a:xfrm>
            <a:off x="8837649" y="3905029"/>
            <a:ext cx="117475" cy="500063"/>
          </a:xfrm>
          <a:prstGeom prst="ellips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cxnSp>
        <p:nvCxnSpPr>
          <p:cNvPr id="178" name="直接箭头连接符 177"/>
          <p:cNvCxnSpPr/>
          <p:nvPr/>
        </p:nvCxnSpPr>
        <p:spPr>
          <a:xfrm rot="5400000" flipH="1" flipV="1">
            <a:off x="9037674" y="3760567"/>
            <a:ext cx="1588" cy="284162"/>
          </a:xfrm>
          <a:prstGeom prst="straightConnector1">
            <a:avLst/>
          </a:prstGeom>
          <a:ln w="254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79" name="直接箭头连接符 178"/>
          <p:cNvCxnSpPr/>
          <p:nvPr/>
        </p:nvCxnSpPr>
        <p:spPr>
          <a:xfrm rot="5400000" flipH="1" flipV="1">
            <a:off x="9031324" y="4260630"/>
            <a:ext cx="1587" cy="284162"/>
          </a:xfrm>
          <a:prstGeom prst="straightConnector1">
            <a:avLst/>
          </a:prstGeom>
          <a:ln w="254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180" name="椭圆 179"/>
          <p:cNvSpPr/>
          <p:nvPr/>
        </p:nvSpPr>
        <p:spPr>
          <a:xfrm>
            <a:off x="8442362" y="3805017"/>
            <a:ext cx="93662" cy="690562"/>
          </a:xfrm>
          <a:prstGeom prst="ellips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181" name="椭圆 180"/>
          <p:cNvSpPr/>
          <p:nvPr/>
        </p:nvSpPr>
        <p:spPr>
          <a:xfrm>
            <a:off x="8280437" y="3809779"/>
            <a:ext cx="93662" cy="690563"/>
          </a:xfrm>
          <a:prstGeom prst="ellips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grpSp>
        <p:nvGrpSpPr>
          <p:cNvPr id="182" name="组合 47"/>
          <p:cNvGrpSpPr/>
          <p:nvPr/>
        </p:nvGrpSpPr>
        <p:grpSpPr>
          <a:xfrm>
            <a:off x="8587624" y="3814554"/>
            <a:ext cx="161895" cy="676277"/>
            <a:chOff x="2268999" y="3714752"/>
            <a:chExt cx="231299" cy="1000132"/>
          </a:xfrm>
          <a:solidFill>
            <a:schemeClr val="accent4">
              <a:lumMod val="60000"/>
              <a:lumOff val="40000"/>
            </a:schemeClr>
          </a:solidFill>
        </p:grpSpPr>
        <p:sp>
          <p:nvSpPr>
            <p:cNvPr id="183" name="矩形 182"/>
            <p:cNvSpPr/>
            <p:nvPr/>
          </p:nvSpPr>
          <p:spPr>
            <a:xfrm>
              <a:off x="2357422" y="3714752"/>
              <a:ext cx="142876" cy="100013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184" name="椭圆 183"/>
            <p:cNvSpPr/>
            <p:nvPr/>
          </p:nvSpPr>
          <p:spPr>
            <a:xfrm>
              <a:off x="2268999" y="3714752"/>
              <a:ext cx="136078" cy="10001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grpSp>
      <p:cxnSp>
        <p:nvCxnSpPr>
          <p:cNvPr id="185" name="直接连接符 184"/>
          <p:cNvCxnSpPr/>
          <p:nvPr/>
        </p:nvCxnSpPr>
        <p:spPr>
          <a:xfrm rot="5400000" flipH="1" flipV="1">
            <a:off x="8037549" y="3814542"/>
            <a:ext cx="15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rot="5400000" flipH="1" flipV="1">
            <a:off x="8037549" y="3814542"/>
            <a:ext cx="1587" cy="1588"/>
          </a:xfrm>
          <a:prstGeom prst="line">
            <a:avLst/>
          </a:prstGeom>
        </p:spPr>
        <p:style>
          <a:lnRef idx="1">
            <a:schemeClr val="accent1"/>
          </a:lnRef>
          <a:fillRef idx="0">
            <a:schemeClr val="accent1"/>
          </a:fillRef>
          <a:effectRef idx="0">
            <a:schemeClr val="accent1"/>
          </a:effectRef>
          <a:fontRef idx="minor">
            <a:schemeClr val="tx1"/>
          </a:fontRef>
        </p:style>
      </p:cxnSp>
      <p:grpSp>
        <p:nvGrpSpPr>
          <p:cNvPr id="187" name="组合 70"/>
          <p:cNvGrpSpPr>
            <a:grpSpLocks/>
          </p:cNvGrpSpPr>
          <p:nvPr/>
        </p:nvGrpSpPr>
        <p:grpSpPr bwMode="auto">
          <a:xfrm>
            <a:off x="8070887" y="3816129"/>
            <a:ext cx="152400" cy="676275"/>
            <a:chOff x="5576868" y="3671886"/>
            <a:chExt cx="152433" cy="695328"/>
          </a:xfrm>
        </p:grpSpPr>
        <p:grpSp>
          <p:nvGrpSpPr>
            <p:cNvPr id="188" name="组合 47"/>
            <p:cNvGrpSpPr/>
            <p:nvPr/>
          </p:nvGrpSpPr>
          <p:grpSpPr>
            <a:xfrm>
              <a:off x="5576868" y="3671886"/>
              <a:ext cx="152433" cy="695328"/>
              <a:chOff x="2357422" y="3714752"/>
              <a:chExt cx="217781" cy="1000132"/>
            </a:xfrm>
            <a:solidFill>
              <a:schemeClr val="accent4">
                <a:lumMod val="60000"/>
                <a:lumOff val="40000"/>
              </a:schemeClr>
            </a:solidFill>
          </p:grpSpPr>
          <p:sp>
            <p:nvSpPr>
              <p:cNvPr id="190" name="椭圆 189"/>
              <p:cNvSpPr/>
              <p:nvPr/>
            </p:nvSpPr>
            <p:spPr>
              <a:xfrm>
                <a:off x="2439125" y="3714752"/>
                <a:ext cx="136078" cy="10001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b="1">
                  <a:latin typeface="微软雅黑" pitchFamily="34" charset="-122"/>
                  <a:ea typeface="微软雅黑" pitchFamily="34" charset="-122"/>
                </a:endParaRPr>
              </a:p>
            </p:txBody>
          </p:sp>
          <p:sp>
            <p:nvSpPr>
              <p:cNvPr id="191" name="矩形 190"/>
              <p:cNvSpPr/>
              <p:nvPr/>
            </p:nvSpPr>
            <p:spPr>
              <a:xfrm>
                <a:off x="2357422" y="3714752"/>
                <a:ext cx="142876" cy="100013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b="1">
                  <a:latin typeface="微软雅黑" pitchFamily="34" charset="-122"/>
                  <a:ea typeface="微软雅黑" pitchFamily="34" charset="-122"/>
                </a:endParaRPr>
              </a:p>
            </p:txBody>
          </p:sp>
        </p:grpSp>
        <p:cxnSp>
          <p:nvCxnSpPr>
            <p:cNvPr id="189" name="直接连接符 188"/>
            <p:cNvCxnSpPr/>
            <p:nvPr/>
          </p:nvCxnSpPr>
          <p:spPr>
            <a:xfrm rot="16200000" flipH="1">
              <a:off x="5339119" y="4019551"/>
              <a:ext cx="669212" cy="0"/>
            </a:xfrm>
            <a:prstGeom prst="line">
              <a:avLst/>
            </a:prstGeom>
            <a:ln w="38100" cap="flat">
              <a:solidFill>
                <a:schemeClr val="accent4">
                  <a:lumMod val="60000"/>
                  <a:lumOff val="40000"/>
                </a:schemeClr>
              </a:solidFill>
              <a:headEnd type="none"/>
            </a:ln>
          </p:spPr>
          <p:style>
            <a:lnRef idx="1">
              <a:schemeClr val="accent1"/>
            </a:lnRef>
            <a:fillRef idx="0">
              <a:schemeClr val="accent1"/>
            </a:fillRef>
            <a:effectRef idx="0">
              <a:schemeClr val="accent1"/>
            </a:effectRef>
            <a:fontRef idx="minor">
              <a:schemeClr val="tx1"/>
            </a:fontRef>
          </p:style>
        </p:cxnSp>
      </p:grpSp>
      <p:grpSp>
        <p:nvGrpSpPr>
          <p:cNvPr id="192" name="组合 22"/>
          <p:cNvGrpSpPr>
            <a:grpSpLocks/>
          </p:cNvGrpSpPr>
          <p:nvPr/>
        </p:nvGrpSpPr>
        <p:grpSpPr bwMode="auto">
          <a:xfrm>
            <a:off x="6477037" y="3643092"/>
            <a:ext cx="1081087" cy="214312"/>
            <a:chOff x="4329111" y="2552694"/>
            <a:chExt cx="1081095" cy="214314"/>
          </a:xfrm>
        </p:grpSpPr>
        <p:sp>
          <p:nvSpPr>
            <p:cNvPr id="193" name="矩形 192"/>
            <p:cNvSpPr/>
            <p:nvPr/>
          </p:nvSpPr>
          <p:spPr>
            <a:xfrm>
              <a:off x="4329111" y="2571744"/>
              <a:ext cx="142876" cy="103188"/>
            </a:xfrm>
            <a:prstGeom prst="rec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194" name="矩形 193"/>
            <p:cNvSpPr/>
            <p:nvPr/>
          </p:nvSpPr>
          <p:spPr>
            <a:xfrm>
              <a:off x="5257805" y="2562219"/>
              <a:ext cx="142876" cy="103188"/>
            </a:xfrm>
            <a:prstGeom prst="rec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195" name="矩形 194"/>
            <p:cNvSpPr/>
            <p:nvPr/>
          </p:nvSpPr>
          <p:spPr>
            <a:xfrm>
              <a:off x="4429124" y="2552694"/>
              <a:ext cx="857256" cy="214314"/>
            </a:xfrm>
            <a:prstGeom prst="rec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196" name="矩形 195"/>
            <p:cNvSpPr/>
            <p:nvPr/>
          </p:nvSpPr>
          <p:spPr>
            <a:xfrm>
              <a:off x="4338636" y="2571744"/>
              <a:ext cx="1071570" cy="714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197" name="矩形 196"/>
            <p:cNvSpPr/>
            <p:nvPr/>
          </p:nvSpPr>
          <p:spPr>
            <a:xfrm>
              <a:off x="4537075" y="2603494"/>
              <a:ext cx="642943" cy="11112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grpSp>
      <p:cxnSp>
        <p:nvCxnSpPr>
          <p:cNvPr id="198" name="直接箭头连接符 197"/>
          <p:cNvCxnSpPr/>
          <p:nvPr/>
        </p:nvCxnSpPr>
        <p:spPr>
          <a:xfrm rot="5400000">
            <a:off x="6056350" y="4162204"/>
            <a:ext cx="715962" cy="1587"/>
          </a:xfrm>
          <a:prstGeom prst="straightConnector1">
            <a:avLst/>
          </a:prstGeom>
          <a:ln w="31750">
            <a:solidFill>
              <a:srgbClr val="0000CC"/>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99" name="直接箭头连接符 198"/>
          <p:cNvCxnSpPr/>
          <p:nvPr/>
        </p:nvCxnSpPr>
        <p:spPr>
          <a:xfrm rot="5400000" flipH="1" flipV="1">
            <a:off x="7261262" y="4165379"/>
            <a:ext cx="715962" cy="1588"/>
          </a:xfrm>
          <a:prstGeom prst="straightConnector1">
            <a:avLst/>
          </a:prstGeom>
          <a:ln w="4445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grpSp>
        <p:nvGrpSpPr>
          <p:cNvPr id="200" name="组合 33"/>
          <p:cNvGrpSpPr>
            <a:grpSpLocks/>
          </p:cNvGrpSpPr>
          <p:nvPr/>
        </p:nvGrpSpPr>
        <p:grpSpPr bwMode="auto">
          <a:xfrm rot="10800000">
            <a:off x="6467512" y="4428904"/>
            <a:ext cx="1081087" cy="214313"/>
            <a:chOff x="4329111" y="2552694"/>
            <a:chExt cx="1081095" cy="214314"/>
          </a:xfrm>
        </p:grpSpPr>
        <p:sp>
          <p:nvSpPr>
            <p:cNvPr id="201" name="矩形 200"/>
            <p:cNvSpPr/>
            <p:nvPr/>
          </p:nvSpPr>
          <p:spPr>
            <a:xfrm>
              <a:off x="4329111" y="2571744"/>
              <a:ext cx="142876" cy="103188"/>
            </a:xfrm>
            <a:prstGeom prst="rec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202" name="矩形 201"/>
            <p:cNvSpPr/>
            <p:nvPr/>
          </p:nvSpPr>
          <p:spPr>
            <a:xfrm>
              <a:off x="5257805" y="2562219"/>
              <a:ext cx="142876" cy="103188"/>
            </a:xfrm>
            <a:prstGeom prst="rec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203" name="矩形 202"/>
            <p:cNvSpPr/>
            <p:nvPr/>
          </p:nvSpPr>
          <p:spPr>
            <a:xfrm>
              <a:off x="4429124" y="2552694"/>
              <a:ext cx="857256" cy="214314"/>
            </a:xfrm>
            <a:prstGeom prst="rec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204" name="矩形 203"/>
            <p:cNvSpPr/>
            <p:nvPr/>
          </p:nvSpPr>
          <p:spPr>
            <a:xfrm>
              <a:off x="4351336" y="2571744"/>
              <a:ext cx="1071570" cy="714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205" name="矩形 204"/>
            <p:cNvSpPr/>
            <p:nvPr/>
          </p:nvSpPr>
          <p:spPr>
            <a:xfrm>
              <a:off x="4549775" y="2590794"/>
              <a:ext cx="642943" cy="11112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grpSp>
      <p:sp>
        <p:nvSpPr>
          <p:cNvPr id="206" name="矩形 205"/>
          <p:cNvSpPr/>
          <p:nvPr/>
        </p:nvSpPr>
        <p:spPr>
          <a:xfrm>
            <a:off x="6477037" y="3641504"/>
            <a:ext cx="1071562" cy="100171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207" name="椭圆 206"/>
          <p:cNvSpPr/>
          <p:nvPr/>
        </p:nvSpPr>
        <p:spPr>
          <a:xfrm>
            <a:off x="5013362" y="3046192"/>
            <a:ext cx="285750" cy="2214562"/>
          </a:xfrm>
          <a:prstGeom prst="ellips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cxnSp>
        <p:nvCxnSpPr>
          <p:cNvPr id="208" name="直接箭头连接符 207"/>
          <p:cNvCxnSpPr/>
          <p:nvPr/>
        </p:nvCxnSpPr>
        <p:spPr>
          <a:xfrm>
            <a:off x="3900524" y="3306542"/>
            <a:ext cx="939800" cy="6350"/>
          </a:xfrm>
          <a:prstGeom prst="straightConnector1">
            <a:avLst/>
          </a:prstGeom>
          <a:ln w="254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a:off x="5681699" y="3817717"/>
            <a:ext cx="317500" cy="7302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直接箭头连接符 209"/>
          <p:cNvCxnSpPr/>
          <p:nvPr/>
        </p:nvCxnSpPr>
        <p:spPr>
          <a:xfrm flipV="1">
            <a:off x="3913224" y="4990879"/>
            <a:ext cx="914400" cy="4763"/>
          </a:xfrm>
          <a:prstGeom prst="straightConnector1">
            <a:avLst/>
          </a:prstGeom>
          <a:ln w="254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flipV="1">
            <a:off x="5681699" y="4389217"/>
            <a:ext cx="328613" cy="1524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2" name="矩形 211"/>
          <p:cNvSpPr/>
          <p:nvPr/>
        </p:nvSpPr>
        <p:spPr>
          <a:xfrm>
            <a:off x="4814924" y="3019204"/>
            <a:ext cx="1416050" cy="2286000"/>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213" name="矩形 212"/>
          <p:cNvSpPr/>
          <p:nvPr/>
        </p:nvSpPr>
        <p:spPr>
          <a:xfrm>
            <a:off x="4618074" y="2741392"/>
            <a:ext cx="4565650" cy="3111500"/>
          </a:xfrm>
          <a:prstGeom prst="rect">
            <a:avLst/>
          </a:prstGeom>
          <a:no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cxnSp>
        <p:nvCxnSpPr>
          <p:cNvPr id="214" name="直接连接符 213"/>
          <p:cNvCxnSpPr/>
          <p:nvPr/>
        </p:nvCxnSpPr>
        <p:spPr>
          <a:xfrm>
            <a:off x="4806987" y="4987704"/>
            <a:ext cx="1039812" cy="793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rot="16200000" flipH="1">
            <a:off x="5536443" y="4696398"/>
            <a:ext cx="457200" cy="1539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6" name="组合 117"/>
          <p:cNvGrpSpPr>
            <a:grpSpLocks/>
          </p:cNvGrpSpPr>
          <p:nvPr/>
        </p:nvGrpSpPr>
        <p:grpSpPr bwMode="auto">
          <a:xfrm>
            <a:off x="5996024" y="3811367"/>
            <a:ext cx="152400" cy="676275"/>
            <a:chOff x="5730875" y="2725738"/>
            <a:chExt cx="152400" cy="676275"/>
          </a:xfrm>
        </p:grpSpPr>
        <p:grpSp>
          <p:nvGrpSpPr>
            <p:cNvPr id="217" name="组合 47"/>
            <p:cNvGrpSpPr/>
            <p:nvPr/>
          </p:nvGrpSpPr>
          <p:grpSpPr bwMode="auto">
            <a:xfrm rot="10800000">
              <a:off x="5730887" y="2725738"/>
              <a:ext cx="152399" cy="676275"/>
              <a:chOff x="2357422" y="3714752"/>
              <a:chExt cx="217781" cy="1000132"/>
            </a:xfrm>
            <a:solidFill>
              <a:schemeClr val="accent4">
                <a:lumMod val="60000"/>
                <a:lumOff val="40000"/>
              </a:schemeClr>
            </a:solidFill>
          </p:grpSpPr>
          <p:sp>
            <p:nvSpPr>
              <p:cNvPr id="219" name="椭圆 218"/>
              <p:cNvSpPr/>
              <p:nvPr/>
            </p:nvSpPr>
            <p:spPr>
              <a:xfrm>
                <a:off x="2439125" y="3714752"/>
                <a:ext cx="136078" cy="10001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b="1">
                  <a:latin typeface="微软雅黑" pitchFamily="34" charset="-122"/>
                  <a:ea typeface="微软雅黑" pitchFamily="34" charset="-122"/>
                </a:endParaRPr>
              </a:p>
            </p:txBody>
          </p:sp>
          <p:sp>
            <p:nvSpPr>
              <p:cNvPr id="220" name="矩形 219"/>
              <p:cNvSpPr/>
              <p:nvPr/>
            </p:nvSpPr>
            <p:spPr>
              <a:xfrm>
                <a:off x="2357422" y="3714752"/>
                <a:ext cx="142876" cy="100013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b="1">
                  <a:latin typeface="微软雅黑" pitchFamily="34" charset="-122"/>
                  <a:ea typeface="微软雅黑" pitchFamily="34" charset="-122"/>
                </a:endParaRPr>
              </a:p>
            </p:txBody>
          </p:sp>
        </p:grpSp>
        <p:cxnSp>
          <p:nvCxnSpPr>
            <p:cNvPr id="218" name="直接连接符 217"/>
            <p:cNvCxnSpPr/>
            <p:nvPr/>
          </p:nvCxnSpPr>
          <p:spPr bwMode="auto">
            <a:xfrm rot="16200000" flipH="1">
              <a:off x="5465762" y="3065463"/>
              <a:ext cx="650875" cy="0"/>
            </a:xfrm>
            <a:prstGeom prst="line">
              <a:avLst/>
            </a:prstGeom>
            <a:ln w="38100" cap="flat">
              <a:solidFill>
                <a:schemeClr val="accent4">
                  <a:lumMod val="60000"/>
                  <a:lumOff val="40000"/>
                </a:schemeClr>
              </a:solidFill>
              <a:headEnd type="none"/>
            </a:ln>
          </p:spPr>
          <p:style>
            <a:lnRef idx="1">
              <a:schemeClr val="accent1"/>
            </a:lnRef>
            <a:fillRef idx="0">
              <a:schemeClr val="accent1"/>
            </a:fillRef>
            <a:effectRef idx="0">
              <a:schemeClr val="accent1"/>
            </a:effectRef>
            <a:fontRef idx="minor">
              <a:schemeClr val="tx1"/>
            </a:fontRef>
          </p:style>
        </p:cxnSp>
      </p:grpSp>
      <p:sp>
        <p:nvSpPr>
          <p:cNvPr id="221" name="TextBox 102"/>
          <p:cNvSpPr txBox="1">
            <a:spLocks noChangeArrowheads="1"/>
          </p:cNvSpPr>
          <p:nvPr/>
        </p:nvSpPr>
        <p:spPr bwMode="auto">
          <a:xfrm>
            <a:off x="4894299" y="5376642"/>
            <a:ext cx="1162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FF0000"/>
                </a:solidFill>
                <a:latin typeface="微软雅黑" panose="020B0503020204020204" pitchFamily="34" charset="-122"/>
                <a:ea typeface="微软雅黑" panose="020B0503020204020204" pitchFamily="34" charset="-122"/>
              </a:rPr>
              <a:t>物镜</a:t>
            </a:r>
          </a:p>
        </p:txBody>
      </p:sp>
      <p:sp>
        <p:nvSpPr>
          <p:cNvPr id="222" name="TextBox 102"/>
          <p:cNvSpPr txBox="1">
            <a:spLocks noChangeArrowheads="1"/>
          </p:cNvSpPr>
          <p:nvPr/>
        </p:nvSpPr>
        <p:spPr bwMode="auto">
          <a:xfrm>
            <a:off x="6251612" y="5343304"/>
            <a:ext cx="1500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0000CC"/>
                </a:solidFill>
                <a:latin typeface="微软雅黑" panose="020B0503020204020204" pitchFamily="34" charset="-122"/>
                <a:ea typeface="微软雅黑" panose="020B0503020204020204" pitchFamily="34" charset="-122"/>
              </a:rPr>
              <a:t>像增强器</a:t>
            </a:r>
          </a:p>
        </p:txBody>
      </p:sp>
      <p:sp>
        <p:nvSpPr>
          <p:cNvPr id="223" name="TextBox 102"/>
          <p:cNvSpPr txBox="1">
            <a:spLocks noChangeArrowheads="1"/>
          </p:cNvSpPr>
          <p:nvPr/>
        </p:nvSpPr>
        <p:spPr bwMode="auto">
          <a:xfrm>
            <a:off x="7894674" y="5305204"/>
            <a:ext cx="971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C00000"/>
                </a:solidFill>
                <a:latin typeface="微软雅黑" panose="020B0503020204020204" pitchFamily="34" charset="-122"/>
                <a:ea typeface="微软雅黑" panose="020B0503020204020204" pitchFamily="34" charset="-122"/>
              </a:rPr>
              <a:t>目镜</a:t>
            </a:r>
          </a:p>
        </p:txBody>
      </p:sp>
      <p:sp>
        <p:nvSpPr>
          <p:cNvPr id="224" name="TextBox 102"/>
          <p:cNvSpPr txBox="1">
            <a:spLocks noChangeArrowheads="1"/>
          </p:cNvSpPr>
          <p:nvPr/>
        </p:nvSpPr>
        <p:spPr bwMode="auto">
          <a:xfrm>
            <a:off x="9251987" y="4662267"/>
            <a:ext cx="895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FF00FF"/>
                </a:solidFill>
                <a:latin typeface="微软雅黑" panose="020B0503020204020204" pitchFamily="34" charset="-122"/>
                <a:ea typeface="微软雅黑" panose="020B0503020204020204" pitchFamily="34" charset="-122"/>
              </a:rPr>
              <a:t>人眼</a:t>
            </a:r>
          </a:p>
        </p:txBody>
      </p:sp>
      <p:sp>
        <p:nvSpPr>
          <p:cNvPr id="225" name="TextBox 102"/>
          <p:cNvSpPr txBox="1">
            <a:spLocks noChangeArrowheads="1"/>
          </p:cNvSpPr>
          <p:nvPr/>
        </p:nvSpPr>
        <p:spPr bwMode="auto">
          <a:xfrm>
            <a:off x="3465549" y="3162079"/>
            <a:ext cx="41275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b="1">
                <a:solidFill>
                  <a:srgbClr val="FF0000"/>
                </a:solidFill>
                <a:latin typeface="微软雅黑" panose="020B0503020204020204" pitchFamily="34" charset="-122"/>
                <a:ea typeface="微软雅黑" panose="020B0503020204020204" pitchFamily="34" charset="-122"/>
              </a:rPr>
              <a:t>远处目标光</a:t>
            </a:r>
          </a:p>
        </p:txBody>
      </p:sp>
      <p:grpSp>
        <p:nvGrpSpPr>
          <p:cNvPr id="226" name="组合 163"/>
          <p:cNvGrpSpPr>
            <a:grpSpLocks/>
          </p:cNvGrpSpPr>
          <p:nvPr/>
        </p:nvGrpSpPr>
        <p:grpSpPr bwMode="auto">
          <a:xfrm>
            <a:off x="7893087" y="3819304"/>
            <a:ext cx="166687" cy="676275"/>
            <a:chOff x="8078002" y="5429250"/>
            <a:chExt cx="168248" cy="676277"/>
          </a:xfrm>
        </p:grpSpPr>
        <p:grpSp>
          <p:nvGrpSpPr>
            <p:cNvPr id="227" name="组合 47"/>
            <p:cNvGrpSpPr/>
            <p:nvPr/>
          </p:nvGrpSpPr>
          <p:grpSpPr>
            <a:xfrm>
              <a:off x="8078011" y="5429250"/>
              <a:ext cx="168249" cy="676277"/>
              <a:chOff x="2259923" y="3714752"/>
              <a:chExt cx="240375" cy="1000132"/>
            </a:xfrm>
            <a:solidFill>
              <a:schemeClr val="accent4">
                <a:lumMod val="60000"/>
                <a:lumOff val="40000"/>
              </a:schemeClr>
            </a:solidFill>
          </p:grpSpPr>
          <p:sp>
            <p:nvSpPr>
              <p:cNvPr id="229" name="矩形 228"/>
              <p:cNvSpPr/>
              <p:nvPr/>
            </p:nvSpPr>
            <p:spPr>
              <a:xfrm>
                <a:off x="2357422" y="3714752"/>
                <a:ext cx="142876" cy="100013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230" name="椭圆 229"/>
              <p:cNvSpPr/>
              <p:nvPr/>
            </p:nvSpPr>
            <p:spPr>
              <a:xfrm>
                <a:off x="2259923" y="3714752"/>
                <a:ext cx="136078" cy="10001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grpSp>
        <p:sp>
          <p:nvSpPr>
            <p:cNvPr id="228" name="任意多边形 227"/>
            <p:cNvSpPr/>
            <p:nvPr/>
          </p:nvSpPr>
          <p:spPr>
            <a:xfrm>
              <a:off x="8143699" y="5429250"/>
              <a:ext cx="27241" cy="673102"/>
            </a:xfrm>
            <a:custGeom>
              <a:avLst/>
              <a:gdLst>
                <a:gd name="connsiteX0" fmla="*/ 2381 w 27385"/>
                <a:gd name="connsiteY0" fmla="*/ 0 h 673894"/>
                <a:gd name="connsiteX1" fmla="*/ 21431 w 27385"/>
                <a:gd name="connsiteY1" fmla="*/ 147638 h 673894"/>
                <a:gd name="connsiteX2" fmla="*/ 26194 w 27385"/>
                <a:gd name="connsiteY2" fmla="*/ 307181 h 673894"/>
                <a:gd name="connsiteX3" fmla="*/ 26194 w 27385"/>
                <a:gd name="connsiteY3" fmla="*/ 461963 h 673894"/>
                <a:gd name="connsiteX4" fmla="*/ 19050 w 27385"/>
                <a:gd name="connsiteY4" fmla="*/ 573881 h 673894"/>
                <a:gd name="connsiteX5" fmla="*/ 4763 w 27385"/>
                <a:gd name="connsiteY5" fmla="*/ 640556 h 673894"/>
                <a:gd name="connsiteX6" fmla="*/ 0 w 27385"/>
                <a:gd name="connsiteY6" fmla="*/ 673894 h 67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85" h="673894">
                  <a:moveTo>
                    <a:pt x="2381" y="0"/>
                  </a:moveTo>
                  <a:cubicBezTo>
                    <a:pt x="9921" y="48220"/>
                    <a:pt x="17462" y="96441"/>
                    <a:pt x="21431" y="147638"/>
                  </a:cubicBezTo>
                  <a:cubicBezTo>
                    <a:pt x="25400" y="198835"/>
                    <a:pt x="25400" y="254794"/>
                    <a:pt x="26194" y="307181"/>
                  </a:cubicBezTo>
                  <a:cubicBezTo>
                    <a:pt x="26988" y="359568"/>
                    <a:pt x="27385" y="417513"/>
                    <a:pt x="26194" y="461963"/>
                  </a:cubicBezTo>
                  <a:cubicBezTo>
                    <a:pt x="25003" y="506413"/>
                    <a:pt x="22622" y="544116"/>
                    <a:pt x="19050" y="573881"/>
                  </a:cubicBezTo>
                  <a:cubicBezTo>
                    <a:pt x="15478" y="603646"/>
                    <a:pt x="7938" y="623887"/>
                    <a:pt x="4763" y="640556"/>
                  </a:cubicBezTo>
                  <a:cubicBezTo>
                    <a:pt x="1588" y="657225"/>
                    <a:pt x="794" y="665559"/>
                    <a:pt x="0" y="673894"/>
                  </a:cubicBezTo>
                </a:path>
              </a:pathLst>
            </a:cu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latin typeface="微软雅黑" pitchFamily="34" charset="-122"/>
                <a:ea typeface="微软雅黑" pitchFamily="34" charset="-122"/>
              </a:endParaRPr>
            </a:p>
          </p:txBody>
        </p:sp>
      </p:grpSp>
      <p:cxnSp>
        <p:nvCxnSpPr>
          <p:cNvPr id="231" name="直接连接符 230"/>
          <p:cNvCxnSpPr/>
          <p:nvPr/>
        </p:nvCxnSpPr>
        <p:spPr>
          <a:xfrm flipV="1">
            <a:off x="7600987" y="3966942"/>
            <a:ext cx="379412" cy="18573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a:off x="7604162" y="4162204"/>
            <a:ext cx="369887" cy="2349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4160874" y="4151092"/>
            <a:ext cx="6124575" cy="6350"/>
          </a:xfrm>
          <a:prstGeom prst="line">
            <a:avLst/>
          </a:prstGeom>
          <a:ln w="38100">
            <a:solidFill>
              <a:srgbClr val="0000CC"/>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rot="5400000">
            <a:off x="5519774" y="3487517"/>
            <a:ext cx="485775" cy="14922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矩形 234"/>
          <p:cNvSpPr/>
          <p:nvPr/>
        </p:nvSpPr>
        <p:spPr>
          <a:xfrm>
            <a:off x="6323049" y="3376392"/>
            <a:ext cx="1214438" cy="1785937"/>
          </a:xfrm>
          <a:prstGeom prst="rect">
            <a:avLst/>
          </a:prstGeom>
          <a:noFill/>
          <a:ln w="44450">
            <a:solidFill>
              <a:srgbClr val="0000CC"/>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236" name="矩形 235"/>
          <p:cNvSpPr/>
          <p:nvPr/>
        </p:nvSpPr>
        <p:spPr>
          <a:xfrm>
            <a:off x="7751799" y="3590704"/>
            <a:ext cx="1357313" cy="1214438"/>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微软雅黑" pitchFamily="34" charset="-122"/>
              <a:ea typeface="微软雅黑" pitchFamily="34" charset="-122"/>
            </a:endParaRPr>
          </a:p>
        </p:txBody>
      </p:sp>
      <p:sp>
        <p:nvSpPr>
          <p:cNvPr id="237" name="Rectangle 3"/>
          <p:cNvSpPr>
            <a:spLocks noChangeArrowheads="1"/>
          </p:cNvSpPr>
          <p:nvPr/>
        </p:nvSpPr>
        <p:spPr bwMode="auto">
          <a:xfrm>
            <a:off x="5322924" y="1566642"/>
            <a:ext cx="22367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CC"/>
                </a:solidFill>
                <a:ea typeface="微软雅黑" panose="020B0503020204020204" pitchFamily="34" charset="-122"/>
                <a:cs typeface="Times New Roman" panose="02020603050405020304" pitchFamily="18" charset="0"/>
              </a:rPr>
              <a:t>3. </a:t>
            </a:r>
            <a:r>
              <a:rPr lang="zh-CN" altLang="en-US" b="1">
                <a:solidFill>
                  <a:srgbClr val="0000CC"/>
                </a:solidFill>
                <a:ea typeface="微软雅黑" panose="020B0503020204020204" pitchFamily="34" charset="-122"/>
                <a:cs typeface="Times New Roman" panose="02020603050405020304" pitchFamily="18" charset="0"/>
              </a:rPr>
              <a:t>微光瞄准</a:t>
            </a:r>
          </a:p>
        </p:txBody>
      </p:sp>
      <p:sp>
        <p:nvSpPr>
          <p:cNvPr id="81" name="文本框 60">
            <a:extLst>
              <a:ext uri="{FF2B5EF4-FFF2-40B4-BE49-F238E27FC236}">
                <a16:creationId xmlns:a16="http://schemas.microsoft.com/office/drawing/2014/main" xmlns="" id="{791D85D7-F412-9C48-9F2B-E33F5B7B4F3C}"/>
              </a:ext>
            </a:extLst>
          </p:cNvPr>
          <p:cNvSpPr txBox="1"/>
          <p:nvPr/>
        </p:nvSpPr>
        <p:spPr>
          <a:xfrm>
            <a:off x="1462837" y="293282"/>
            <a:ext cx="126775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像管应用</a:t>
            </a:r>
            <a:endParaRPr lang="zh-CN" altLang="en-US" sz="1800" b="1" dirty="0">
              <a:latin typeface="微软雅黑" panose="020B0503020204020204" pitchFamily="34" charset="-122"/>
              <a:ea typeface="微软雅黑" panose="020B0503020204020204" pitchFamily="34" charset="-122"/>
            </a:endParaRPr>
          </a:p>
        </p:txBody>
      </p:sp>
      <p:cxnSp>
        <p:nvCxnSpPr>
          <p:cNvPr id="82" name="直接连接符 58">
            <a:extLst>
              <a:ext uri="{FF2B5EF4-FFF2-40B4-BE49-F238E27FC236}">
                <a16:creationId xmlns:a16="http://schemas.microsoft.com/office/drawing/2014/main" xmlns="" id="{8C5F82EF-52B4-4531-96F0-44689EA1125E}"/>
              </a:ext>
            </a:extLst>
          </p:cNvPr>
          <p:cNvCxnSpPr>
            <a:cxnSpLocks/>
          </p:cNvCxnSpPr>
          <p:nvPr/>
        </p:nvCxnSpPr>
        <p:spPr>
          <a:xfrm>
            <a:off x="1462837" y="662614"/>
            <a:ext cx="1051763"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7.1.6</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pic>
        <p:nvPicPr>
          <p:cNvPr id="81" name="Picture 7" descr="eotech1AN-PVS-14D  (Gen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854" y="4729743"/>
            <a:ext cx="3131330" cy="1982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 name="Picture 4" descr="anvis-6_night_vision_gogg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4854" y="1746285"/>
            <a:ext cx="3073591" cy="236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Picture 5" descr="noxb3-small夜市竟"/>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5951" y="2323540"/>
            <a:ext cx="2835201" cy="1748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Rectangle 6"/>
          <p:cNvSpPr>
            <a:spLocks noChangeArrowheads="1"/>
          </p:cNvSpPr>
          <p:nvPr/>
        </p:nvSpPr>
        <p:spPr bwMode="auto">
          <a:xfrm>
            <a:off x="2963822" y="4200402"/>
            <a:ext cx="2230691"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a:buClr>
                <a:srgbClr val="800080"/>
              </a:buClr>
              <a:buSzPct val="60000"/>
              <a:buFont typeface="Wingdings" panose="05000000000000000000" pitchFamily="2" charset="2"/>
              <a:buNone/>
            </a:pPr>
            <a:r>
              <a:rPr lang="zh-CN" altLang="en-US" sz="2800" b="1" dirty="0" smtClean="0">
                <a:solidFill>
                  <a:prstClr val="black"/>
                </a:solidFill>
                <a:latin typeface="黑体" panose="02010609060101010101" pitchFamily="49" charset="-122"/>
                <a:ea typeface="黑体" panose="02010609060101010101" pitchFamily="49" charset="-122"/>
              </a:rPr>
              <a:t>微光夜瞄镜</a:t>
            </a:r>
            <a:r>
              <a:rPr lang="zh-CN" altLang="en-US" sz="2800" dirty="0" smtClean="0">
                <a:solidFill>
                  <a:prstClr val="black"/>
                </a:solidFill>
                <a:latin typeface="Tahoma" panose="020B0604030504040204" pitchFamily="34" charset="0"/>
              </a:rPr>
              <a:t>        </a:t>
            </a:r>
            <a:endParaRPr lang="zh-CN" altLang="en-US" sz="2800" b="1" dirty="0" smtClean="0">
              <a:solidFill>
                <a:prstClr val="black"/>
              </a:solidFill>
              <a:latin typeface="Tahoma" panose="020B0604030504040204" pitchFamily="34" charset="0"/>
            </a:endParaRPr>
          </a:p>
        </p:txBody>
      </p:sp>
      <p:pic>
        <p:nvPicPr>
          <p:cNvPr id="85" name="Picture 8" descr="an-pvs-4-dvic56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76871" y="4107604"/>
            <a:ext cx="3509705" cy="2128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 name="Rectangle 11"/>
          <p:cNvSpPr>
            <a:spLocks noChangeArrowheads="1"/>
          </p:cNvSpPr>
          <p:nvPr/>
        </p:nvSpPr>
        <p:spPr bwMode="auto">
          <a:xfrm>
            <a:off x="2904808" y="1163965"/>
            <a:ext cx="23487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kumimoji="1" lang="zh-CN" altLang="en-US" sz="2800" b="1" dirty="0" smtClean="0">
                <a:solidFill>
                  <a:prstClr val="black"/>
                </a:solidFill>
                <a:latin typeface="黑体" panose="02010609060101010101" pitchFamily="49" charset="-122"/>
                <a:ea typeface="黑体" panose="02010609060101010101" pitchFamily="49" charset="-122"/>
              </a:rPr>
              <a:t>微光夜视眼镜</a:t>
            </a:r>
          </a:p>
        </p:txBody>
      </p:sp>
      <p:sp>
        <p:nvSpPr>
          <p:cNvPr id="87" name="Rectangle 11"/>
          <p:cNvSpPr>
            <a:spLocks noChangeArrowheads="1"/>
          </p:cNvSpPr>
          <p:nvPr/>
        </p:nvSpPr>
        <p:spPr bwMode="auto">
          <a:xfrm>
            <a:off x="7320175" y="1764601"/>
            <a:ext cx="23487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defTabSz="914400" eaLnBrk="1" hangingPunct="1"/>
            <a:r>
              <a:rPr kumimoji="1" lang="zh-CN" altLang="en-US" sz="2800" b="1" dirty="0" smtClean="0">
                <a:solidFill>
                  <a:prstClr val="black"/>
                </a:solidFill>
                <a:latin typeface="黑体" panose="02010609060101010101" pitchFamily="49" charset="-122"/>
                <a:ea typeface="黑体" panose="02010609060101010101" pitchFamily="49" charset="-122"/>
              </a:rPr>
              <a:t>手持式观察镜</a:t>
            </a:r>
          </a:p>
        </p:txBody>
      </p:sp>
      <p:sp>
        <p:nvSpPr>
          <p:cNvPr id="20" name="文本框 60">
            <a:extLst>
              <a:ext uri="{FF2B5EF4-FFF2-40B4-BE49-F238E27FC236}">
                <a16:creationId xmlns:a16="http://schemas.microsoft.com/office/drawing/2014/main" xmlns="" id="{791D85D7-F412-9C48-9F2B-E33F5B7B4F3C}"/>
              </a:ext>
            </a:extLst>
          </p:cNvPr>
          <p:cNvSpPr txBox="1"/>
          <p:nvPr/>
        </p:nvSpPr>
        <p:spPr>
          <a:xfrm>
            <a:off x="1462837" y="293282"/>
            <a:ext cx="126775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像管应用</a:t>
            </a:r>
            <a:endParaRPr lang="zh-CN" altLang="en-US" sz="1800" b="1" dirty="0">
              <a:latin typeface="微软雅黑" panose="020B0503020204020204" pitchFamily="34" charset="-122"/>
              <a:ea typeface="微软雅黑" panose="020B0503020204020204" pitchFamily="34" charset="-122"/>
            </a:endParaRPr>
          </a:p>
        </p:txBody>
      </p:sp>
      <p:cxnSp>
        <p:nvCxnSpPr>
          <p:cNvPr id="21" name="直接连接符 58">
            <a:extLst>
              <a:ext uri="{FF2B5EF4-FFF2-40B4-BE49-F238E27FC236}">
                <a16:creationId xmlns:a16="http://schemas.microsoft.com/office/drawing/2014/main" xmlns="" id="{8C5F82EF-52B4-4531-96F0-44689EA1125E}"/>
              </a:ext>
            </a:extLst>
          </p:cNvPr>
          <p:cNvCxnSpPr>
            <a:cxnSpLocks/>
          </p:cNvCxnSpPr>
          <p:nvPr/>
        </p:nvCxnSpPr>
        <p:spPr>
          <a:xfrm>
            <a:off x="1462837" y="662614"/>
            <a:ext cx="1051763"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7.1.6</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pic>
        <p:nvPicPr>
          <p:cNvPr id="20" name="Picture 3" descr="xin58m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0297" y="1810513"/>
            <a:ext cx="4401034" cy="2398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6" descr="夜视机枪.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87656" y="3715638"/>
            <a:ext cx="5136631" cy="226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11"/>
          <p:cNvSpPr>
            <a:spLocks noChangeArrowheads="1"/>
          </p:cNvSpPr>
          <p:nvPr/>
        </p:nvSpPr>
        <p:spPr bwMode="auto">
          <a:xfrm>
            <a:off x="7033768" y="2545652"/>
            <a:ext cx="23487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sz="2800" b="1">
                <a:latin typeface="黑体" panose="02010609060101010101" pitchFamily="49" charset="-122"/>
                <a:ea typeface="黑体" panose="02010609060101010101" pitchFamily="49" charset="-122"/>
              </a:rPr>
              <a:t>微光瞄准机枪</a:t>
            </a:r>
          </a:p>
        </p:txBody>
      </p:sp>
      <p:sp>
        <p:nvSpPr>
          <p:cNvPr id="12" name="文本框 60">
            <a:extLst>
              <a:ext uri="{FF2B5EF4-FFF2-40B4-BE49-F238E27FC236}">
                <a16:creationId xmlns:a16="http://schemas.microsoft.com/office/drawing/2014/main" xmlns="" id="{791D85D7-F412-9C48-9F2B-E33F5B7B4F3C}"/>
              </a:ext>
            </a:extLst>
          </p:cNvPr>
          <p:cNvSpPr txBox="1"/>
          <p:nvPr/>
        </p:nvSpPr>
        <p:spPr>
          <a:xfrm>
            <a:off x="1462837" y="293282"/>
            <a:ext cx="126775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像管应用</a:t>
            </a:r>
            <a:endParaRPr lang="zh-CN" altLang="en-US" sz="1800" b="1" dirty="0">
              <a:latin typeface="微软雅黑" panose="020B0503020204020204" pitchFamily="34" charset="-122"/>
              <a:ea typeface="微软雅黑" panose="020B0503020204020204" pitchFamily="34" charset="-122"/>
            </a:endParaRPr>
          </a:p>
        </p:txBody>
      </p:sp>
      <p:cxnSp>
        <p:nvCxnSpPr>
          <p:cNvPr id="14" name="直接连接符 58">
            <a:extLst>
              <a:ext uri="{FF2B5EF4-FFF2-40B4-BE49-F238E27FC236}">
                <a16:creationId xmlns:a16="http://schemas.microsoft.com/office/drawing/2014/main" xmlns="" id="{8C5F82EF-52B4-4531-96F0-44689EA1125E}"/>
              </a:ext>
            </a:extLst>
          </p:cNvPr>
          <p:cNvCxnSpPr>
            <a:cxnSpLocks/>
          </p:cNvCxnSpPr>
          <p:nvPr/>
        </p:nvCxnSpPr>
        <p:spPr>
          <a:xfrm>
            <a:off x="1462837" y="662614"/>
            <a:ext cx="1051763"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25">
            <a:extLst>
              <a:ext uri="{FF2B5EF4-FFF2-40B4-BE49-F238E27FC236}">
                <a16:creationId xmlns:a16="http://schemas.microsoft.com/office/drawing/2014/main" xmlns="" id="{D7400AB1-4BEC-40E5-A53B-E3CB1F48EB8A}"/>
              </a:ext>
            </a:extLst>
          </p:cNvPr>
          <p:cNvSpPr/>
          <p:nvPr/>
        </p:nvSpPr>
        <p:spPr>
          <a:xfrm>
            <a:off x="289560" y="293282"/>
            <a:ext cx="995065"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7.1.6</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Rectangle 2"/>
          <p:cNvSpPr txBox="1">
            <a:spLocks noChangeArrowheads="1"/>
          </p:cNvSpPr>
          <p:nvPr/>
        </p:nvSpPr>
        <p:spPr>
          <a:xfrm>
            <a:off x="2139696" y="1694498"/>
            <a:ext cx="4608513" cy="379412"/>
          </a:xfrm>
          <a:prstGeom prst="rect">
            <a:avLst/>
          </a:prstGeom>
        </p:spPr>
        <p:txBody>
          <a:bodyPr/>
          <a:lstStyle>
            <a:lvl1pPr algn="l" defTabSz="1028700" rtl="0" fontAlgn="base">
              <a:lnSpc>
                <a:spcPct val="90000"/>
              </a:lnSpc>
              <a:spcBef>
                <a:spcPct val="0"/>
              </a:spcBef>
              <a:spcAft>
                <a:spcPct val="0"/>
              </a:spcAft>
              <a:defRPr sz="5000" kern="1200">
                <a:solidFill>
                  <a:schemeClr val="tx1"/>
                </a:solidFill>
                <a:latin typeface="+mj-lt"/>
                <a:ea typeface="+mj-ea"/>
                <a:cs typeface="+mj-cs"/>
              </a:defRPr>
            </a:lvl1pPr>
            <a:lvl2pPr algn="l" defTabSz="1028700" rtl="0" fontAlgn="base">
              <a:lnSpc>
                <a:spcPct val="90000"/>
              </a:lnSpc>
              <a:spcBef>
                <a:spcPct val="0"/>
              </a:spcBef>
              <a:spcAft>
                <a:spcPct val="0"/>
              </a:spcAft>
              <a:defRPr sz="5000">
                <a:solidFill>
                  <a:schemeClr val="tx1"/>
                </a:solidFill>
                <a:latin typeface="Calibri Light"/>
                <a:ea typeface="宋体" pitchFamily="2" charset="-122"/>
              </a:defRPr>
            </a:lvl2pPr>
            <a:lvl3pPr algn="l" defTabSz="1028700" rtl="0" fontAlgn="base">
              <a:lnSpc>
                <a:spcPct val="90000"/>
              </a:lnSpc>
              <a:spcBef>
                <a:spcPct val="0"/>
              </a:spcBef>
              <a:spcAft>
                <a:spcPct val="0"/>
              </a:spcAft>
              <a:defRPr sz="5000">
                <a:solidFill>
                  <a:schemeClr val="tx1"/>
                </a:solidFill>
                <a:latin typeface="Calibri Light"/>
                <a:ea typeface="宋体" pitchFamily="2" charset="-122"/>
              </a:defRPr>
            </a:lvl3pPr>
            <a:lvl4pPr algn="l" defTabSz="1028700" rtl="0" fontAlgn="base">
              <a:lnSpc>
                <a:spcPct val="90000"/>
              </a:lnSpc>
              <a:spcBef>
                <a:spcPct val="0"/>
              </a:spcBef>
              <a:spcAft>
                <a:spcPct val="0"/>
              </a:spcAft>
              <a:defRPr sz="5000">
                <a:solidFill>
                  <a:schemeClr val="tx1"/>
                </a:solidFill>
                <a:latin typeface="Calibri Light"/>
                <a:ea typeface="宋体" pitchFamily="2" charset="-122"/>
              </a:defRPr>
            </a:lvl4pPr>
            <a:lvl5pPr algn="l" defTabSz="1028700" rtl="0" fontAlgn="base">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a:lstStyle>
          <a:p>
            <a:pPr fontAlgn="auto">
              <a:spcAft>
                <a:spcPts val="0"/>
              </a:spcAft>
              <a:defRPr/>
            </a:pPr>
            <a:r>
              <a:rPr lang="zh-CN" altLang="en-US" sz="3200" b="1" dirty="0" smtClean="0">
                <a:solidFill>
                  <a:srgbClr val="0000CC"/>
                </a:solidFill>
                <a:effectLst>
                  <a:outerShdw blurRad="38100" dist="38100" dir="2700000" algn="tl">
                    <a:srgbClr val="000000"/>
                  </a:outerShdw>
                </a:effectLst>
                <a:latin typeface="微软雅黑" pitchFamily="34" charset="-122"/>
                <a:ea typeface="微软雅黑" pitchFamily="34" charset="-122"/>
              </a:rPr>
              <a:t>微光夜视仪的观察效果</a:t>
            </a:r>
          </a:p>
        </p:txBody>
      </p:sp>
      <p:pic>
        <p:nvPicPr>
          <p:cNvPr id="14" name="Picture 4" descr="ANpvs7-7"/>
          <p:cNvPicPr>
            <a:picLocks noChangeAspect="1" noChangeArrowheads="1"/>
          </p:cNvPicPr>
          <p:nvPr/>
        </p:nvPicPr>
        <p:blipFill>
          <a:blip r:embed="rId2">
            <a:lum bright="6000" contrast="30000"/>
            <a:grayscl/>
            <a:extLst>
              <a:ext uri="{28A0092B-C50C-407E-A947-70E740481C1C}">
                <a14:useLocalDpi xmlns:a14="http://schemas.microsoft.com/office/drawing/2010/main" val="0"/>
              </a:ext>
            </a:extLst>
          </a:blip>
          <a:srcRect t="1207" b="6400"/>
          <a:stretch>
            <a:fillRect/>
          </a:stretch>
        </p:blipFill>
        <p:spPr bwMode="auto">
          <a:xfrm>
            <a:off x="2750884" y="2366010"/>
            <a:ext cx="3673475" cy="226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5" descr="ANpvs7-7"/>
          <p:cNvPicPr>
            <a:picLocks noChangeAspect="1" noChangeArrowheads="1"/>
          </p:cNvPicPr>
          <p:nvPr/>
        </p:nvPicPr>
        <p:blipFill>
          <a:blip r:embed="rId2">
            <a:lum bright="48000" contrast="18000"/>
            <a:extLst>
              <a:ext uri="{28A0092B-C50C-407E-A947-70E740481C1C}">
                <a14:useLocalDpi xmlns:a14="http://schemas.microsoft.com/office/drawing/2010/main" val="0"/>
              </a:ext>
            </a:extLst>
          </a:blip>
          <a:srcRect t="1207" b="6400"/>
          <a:stretch>
            <a:fillRect/>
          </a:stretch>
        </p:blipFill>
        <p:spPr bwMode="auto">
          <a:xfrm>
            <a:off x="7216521" y="2366010"/>
            <a:ext cx="3673475" cy="2260600"/>
          </a:xfrm>
          <a:prstGeom prst="rect">
            <a:avLst/>
          </a:prstGeom>
          <a:noFill/>
          <a:ln w="9525">
            <a:solidFill>
              <a:srgbClr val="008000"/>
            </a:solidFill>
            <a:miter lim="800000"/>
            <a:headEnd/>
            <a:tailEnd/>
          </a:ln>
          <a:extLst>
            <a:ext uri="{909E8E84-426E-40DD-AFC4-6F175D3DCCD1}">
              <a14:hiddenFill xmlns:a14="http://schemas.microsoft.com/office/drawing/2010/main">
                <a:solidFill>
                  <a:srgbClr val="FFFFFF"/>
                </a:solidFill>
              </a14:hiddenFill>
            </a:ext>
          </a:extLst>
        </p:spPr>
      </p:pic>
      <p:sp>
        <p:nvSpPr>
          <p:cNvPr id="24" name="AutoShape 6"/>
          <p:cNvSpPr>
            <a:spLocks noChangeArrowheads="1"/>
          </p:cNvSpPr>
          <p:nvPr/>
        </p:nvSpPr>
        <p:spPr bwMode="auto">
          <a:xfrm>
            <a:off x="6424359" y="3299460"/>
            <a:ext cx="792162" cy="703263"/>
          </a:xfrm>
          <a:prstGeom prst="rightArrow">
            <a:avLst>
              <a:gd name="adj1" fmla="val 50000"/>
              <a:gd name="adj2" fmla="val 24974"/>
            </a:avLst>
          </a:prstGeom>
          <a:gradFill rotWithShape="0">
            <a:gsLst>
              <a:gs pos="0">
                <a:srgbClr val="FFF200"/>
              </a:gs>
              <a:gs pos="45000">
                <a:srgbClr val="FF7A00"/>
              </a:gs>
              <a:gs pos="70000">
                <a:srgbClr val="FF0300"/>
              </a:gs>
              <a:gs pos="100000">
                <a:srgbClr val="4D0808"/>
              </a:gs>
            </a:gsLst>
            <a:lin ang="5400000"/>
          </a:gradFill>
          <a:ln w="9525">
            <a:solidFill>
              <a:sysClr val="windowText" lastClr="000000"/>
            </a:solidFill>
            <a:miter lim="800000"/>
            <a:headEnd/>
            <a:tailEnd/>
          </a:ln>
        </p:spPr>
        <p:txBody>
          <a:bodyPr wrap="none" anchor="ct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25" name="Rectangle 7"/>
          <p:cNvSpPr>
            <a:spLocks noChangeArrowheads="1"/>
          </p:cNvSpPr>
          <p:nvPr/>
        </p:nvSpPr>
        <p:spPr bwMode="auto">
          <a:xfrm>
            <a:off x="7713409" y="4906010"/>
            <a:ext cx="26971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defTabSz="914400" eaLnBrk="1" hangingPunct="1"/>
            <a:r>
              <a:rPr lang="zh-CN" altLang="en-US" sz="2800" b="1" smtClean="0">
                <a:solidFill>
                  <a:prstClr val="black"/>
                </a:solidFill>
                <a:latin typeface="微软雅黑" panose="020B0503020204020204" pitchFamily="34" charset="-122"/>
                <a:ea typeface="微软雅黑" panose="020B0503020204020204" pitchFamily="34" charset="-122"/>
              </a:rPr>
              <a:t>可见的目标图像</a:t>
            </a:r>
          </a:p>
        </p:txBody>
      </p:sp>
      <p:sp>
        <p:nvSpPr>
          <p:cNvPr id="26" name="Rectangle 8"/>
          <p:cNvSpPr>
            <a:spLocks noChangeArrowheads="1"/>
          </p:cNvSpPr>
          <p:nvPr/>
        </p:nvSpPr>
        <p:spPr bwMode="auto">
          <a:xfrm>
            <a:off x="2958846" y="4906010"/>
            <a:ext cx="305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宋体" panose="02010600030101010101" pitchFamily="2" charset="-122"/>
              </a:defRPr>
            </a:lvl9pPr>
          </a:lstStyle>
          <a:p>
            <a:pPr algn="ctr" defTabSz="914400" eaLnBrk="1" hangingPunct="1"/>
            <a:r>
              <a:rPr lang="zh-CN" altLang="en-US" sz="2800" b="1" dirty="0" smtClean="0">
                <a:solidFill>
                  <a:prstClr val="black"/>
                </a:solidFill>
                <a:latin typeface="微软雅黑" panose="020B0503020204020204" pitchFamily="34" charset="-122"/>
                <a:ea typeface="微软雅黑" panose="020B0503020204020204" pitchFamily="34" charset="-122"/>
              </a:rPr>
              <a:t>不易见的目标图像</a:t>
            </a:r>
          </a:p>
        </p:txBody>
      </p:sp>
      <p:sp>
        <p:nvSpPr>
          <p:cNvPr id="20" name="文本框 60">
            <a:extLst>
              <a:ext uri="{FF2B5EF4-FFF2-40B4-BE49-F238E27FC236}">
                <a16:creationId xmlns:a16="http://schemas.microsoft.com/office/drawing/2014/main" xmlns="" id="{791D85D7-F412-9C48-9F2B-E33F5B7B4F3C}"/>
              </a:ext>
            </a:extLst>
          </p:cNvPr>
          <p:cNvSpPr txBox="1"/>
          <p:nvPr/>
        </p:nvSpPr>
        <p:spPr>
          <a:xfrm>
            <a:off x="1462837" y="293282"/>
            <a:ext cx="126775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像管应用</a:t>
            </a:r>
            <a:endParaRPr lang="zh-CN" altLang="en-US" sz="1800" b="1" dirty="0">
              <a:latin typeface="微软雅黑" panose="020B0503020204020204" pitchFamily="34" charset="-122"/>
              <a:ea typeface="微软雅黑" panose="020B0503020204020204" pitchFamily="34" charset="-122"/>
            </a:endParaRPr>
          </a:p>
        </p:txBody>
      </p:sp>
      <p:cxnSp>
        <p:nvCxnSpPr>
          <p:cNvPr id="21" name="直接连接符 58">
            <a:extLst>
              <a:ext uri="{FF2B5EF4-FFF2-40B4-BE49-F238E27FC236}">
                <a16:creationId xmlns:a16="http://schemas.microsoft.com/office/drawing/2014/main" xmlns="" id="{8C5F82EF-52B4-4531-96F0-44689EA1125E}"/>
              </a:ext>
            </a:extLst>
          </p:cNvPr>
          <p:cNvCxnSpPr>
            <a:cxnSpLocks/>
          </p:cNvCxnSpPr>
          <p:nvPr/>
        </p:nvCxnSpPr>
        <p:spPr>
          <a:xfrm>
            <a:off x="1462837" y="662614"/>
            <a:ext cx="1051763"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60000"/>
            <a:lumOff val="40000"/>
          </a:schemeClr>
        </a:solidFill>
        <a:ln w="41275">
          <a:solidFill>
            <a:srgbClr val="FF0000"/>
          </a:solid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467</TotalTime>
  <Words>1800</Words>
  <Application>Microsoft Office PowerPoint</Application>
  <PresentationFormat>自定义</PresentationFormat>
  <Paragraphs>408</Paragraphs>
  <Slides>42</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vt:i4>
      </vt:variant>
      <vt:variant>
        <vt:lpstr>幻灯片标题</vt:lpstr>
      </vt:variant>
      <vt:variant>
        <vt:i4>42</vt:i4>
      </vt:variant>
    </vt:vector>
  </HeadingPairs>
  <TitlesOfParts>
    <vt:vector size="63" baseType="lpstr">
      <vt:lpstr>Yu Gothic UI</vt:lpstr>
      <vt:lpstr>阿里巴巴普惠体 M</vt:lpstr>
      <vt:lpstr>阿里巴巴普惠体 R</vt:lpstr>
      <vt:lpstr>冬青黑体简体中文 W3</vt:lpstr>
      <vt:lpstr>冬青黑体简体中文 W6</vt:lpstr>
      <vt:lpstr>黑体</vt:lpstr>
      <vt:lpstr>华文琥珀</vt:lpstr>
      <vt:lpstr>宋体</vt:lpstr>
      <vt:lpstr>Microsoft YaHei</vt:lpstr>
      <vt:lpstr>Microsoft YaHei</vt:lpstr>
      <vt:lpstr>Arial</vt:lpstr>
      <vt:lpstr>Calibri</vt:lpstr>
      <vt:lpstr>Calibri Light</vt:lpstr>
      <vt:lpstr>Microsoft Yi Baiti</vt:lpstr>
      <vt:lpstr>Symbol</vt:lpstr>
      <vt:lpstr>Tahoma</vt:lpstr>
      <vt:lpstr>Times New Roman</vt:lpstr>
      <vt:lpstr>Wingdings</vt:lpstr>
      <vt:lpstr>光电技术模板-2015-6-18</vt:lpstr>
      <vt:lpstr>Visio</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user</cp:lastModifiedBy>
  <cp:revision>56</cp:revision>
  <dcterms:created xsi:type="dcterms:W3CDTF">2015-06-18T01:42:52Z</dcterms:created>
  <dcterms:modified xsi:type="dcterms:W3CDTF">2022-10-20T00:00:22Z</dcterms:modified>
</cp:coreProperties>
</file>