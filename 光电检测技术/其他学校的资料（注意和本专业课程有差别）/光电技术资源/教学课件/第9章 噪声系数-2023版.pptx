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14"/>
  </p:notesMasterIdLst>
  <p:handoutMasterIdLst>
    <p:handoutMasterId r:id="rId15"/>
  </p:handoutMasterIdLst>
  <p:sldIdLst>
    <p:sldId id="336" r:id="rId2"/>
    <p:sldId id="337" r:id="rId3"/>
    <p:sldId id="338" r:id="rId4"/>
    <p:sldId id="339" r:id="rId5"/>
    <p:sldId id="317" r:id="rId6"/>
    <p:sldId id="318" r:id="rId7"/>
    <p:sldId id="335" r:id="rId8"/>
    <p:sldId id="319" r:id="rId9"/>
    <p:sldId id="340" r:id="rId10"/>
    <p:sldId id="320" r:id="rId11"/>
    <p:sldId id="341" r:id="rId12"/>
    <p:sldId id="322" r:id="rId13"/>
  </p:sldIdLst>
  <p:sldSz cx="13717588" cy="7715250"/>
  <p:notesSz cx="6858000" cy="9144000"/>
  <p:defaultTextStyle>
    <a:defPPr>
      <a:defRPr lang="zh-CN"/>
    </a:defPPr>
    <a:lvl1pPr algn="l" rtl="0" fontAlgn="base">
      <a:spcBef>
        <a:spcPct val="0"/>
      </a:spcBef>
      <a:spcAft>
        <a:spcPct val="0"/>
      </a:spcAft>
      <a:defRPr kern="1200">
        <a:solidFill>
          <a:schemeClr val="tx1"/>
        </a:solidFill>
        <a:latin typeface="Tahoma" pitchFamily="34" charset="0"/>
        <a:ea typeface="宋体" charset="-122"/>
        <a:cs typeface="+mn-cs"/>
      </a:defRPr>
    </a:lvl1pPr>
    <a:lvl2pPr marL="685823" algn="l" rtl="0" fontAlgn="base">
      <a:spcBef>
        <a:spcPct val="0"/>
      </a:spcBef>
      <a:spcAft>
        <a:spcPct val="0"/>
      </a:spcAft>
      <a:defRPr kern="1200">
        <a:solidFill>
          <a:schemeClr val="tx1"/>
        </a:solidFill>
        <a:latin typeface="Tahoma" pitchFamily="34" charset="0"/>
        <a:ea typeface="宋体" charset="-122"/>
        <a:cs typeface="+mn-cs"/>
      </a:defRPr>
    </a:lvl2pPr>
    <a:lvl3pPr marL="1371645" algn="l" rtl="0" fontAlgn="base">
      <a:spcBef>
        <a:spcPct val="0"/>
      </a:spcBef>
      <a:spcAft>
        <a:spcPct val="0"/>
      </a:spcAft>
      <a:defRPr kern="1200">
        <a:solidFill>
          <a:schemeClr val="tx1"/>
        </a:solidFill>
        <a:latin typeface="Tahoma" pitchFamily="34" charset="0"/>
        <a:ea typeface="宋体" charset="-122"/>
        <a:cs typeface="+mn-cs"/>
      </a:defRPr>
    </a:lvl3pPr>
    <a:lvl4pPr marL="2057468" algn="l" rtl="0" fontAlgn="base">
      <a:spcBef>
        <a:spcPct val="0"/>
      </a:spcBef>
      <a:spcAft>
        <a:spcPct val="0"/>
      </a:spcAft>
      <a:defRPr kern="1200">
        <a:solidFill>
          <a:schemeClr val="tx1"/>
        </a:solidFill>
        <a:latin typeface="Tahoma" pitchFamily="34" charset="0"/>
        <a:ea typeface="宋体" charset="-122"/>
        <a:cs typeface="+mn-cs"/>
      </a:defRPr>
    </a:lvl4pPr>
    <a:lvl5pPr marL="2743291" algn="l" rtl="0" fontAlgn="base">
      <a:spcBef>
        <a:spcPct val="0"/>
      </a:spcBef>
      <a:spcAft>
        <a:spcPct val="0"/>
      </a:spcAft>
      <a:defRPr kern="1200">
        <a:solidFill>
          <a:schemeClr val="tx1"/>
        </a:solidFill>
        <a:latin typeface="Tahoma" pitchFamily="34" charset="0"/>
        <a:ea typeface="宋体" charset="-122"/>
        <a:cs typeface="+mn-cs"/>
      </a:defRPr>
    </a:lvl5pPr>
    <a:lvl6pPr marL="3429115" algn="l" defTabSz="1371645" rtl="0" eaLnBrk="1" latinLnBrk="0" hangingPunct="1">
      <a:defRPr kern="1200">
        <a:solidFill>
          <a:schemeClr val="tx1"/>
        </a:solidFill>
        <a:latin typeface="Tahoma" pitchFamily="34" charset="0"/>
        <a:ea typeface="宋体" charset="-122"/>
        <a:cs typeface="+mn-cs"/>
      </a:defRPr>
    </a:lvl6pPr>
    <a:lvl7pPr marL="4114936" algn="l" defTabSz="1371645" rtl="0" eaLnBrk="1" latinLnBrk="0" hangingPunct="1">
      <a:defRPr kern="1200">
        <a:solidFill>
          <a:schemeClr val="tx1"/>
        </a:solidFill>
        <a:latin typeface="Tahoma" pitchFamily="34" charset="0"/>
        <a:ea typeface="宋体" charset="-122"/>
        <a:cs typeface="+mn-cs"/>
      </a:defRPr>
    </a:lvl7pPr>
    <a:lvl8pPr marL="4800760" algn="l" defTabSz="1371645" rtl="0" eaLnBrk="1" latinLnBrk="0" hangingPunct="1">
      <a:defRPr kern="1200">
        <a:solidFill>
          <a:schemeClr val="tx1"/>
        </a:solidFill>
        <a:latin typeface="Tahoma" pitchFamily="34" charset="0"/>
        <a:ea typeface="宋体" charset="-122"/>
        <a:cs typeface="+mn-cs"/>
      </a:defRPr>
    </a:lvl8pPr>
    <a:lvl9pPr marL="5486583" algn="l" defTabSz="1371645" rtl="0" eaLnBrk="1" latinLnBrk="0" hangingPunct="1">
      <a:defRPr kern="1200">
        <a:solidFill>
          <a:schemeClr val="tx1"/>
        </a:solidFill>
        <a:latin typeface="Tahoma" pitchFamily="34" charset="0"/>
        <a:ea typeface="宋体" charset="-122"/>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66"/>
    <a:srgbClr val="000000"/>
    <a:srgbClr val="FF006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737" autoAdjust="0"/>
  </p:normalViewPr>
  <p:slideViewPr>
    <p:cSldViewPr>
      <p:cViewPr varScale="1">
        <p:scale>
          <a:sx n="72" d="100"/>
          <a:sy n="72" d="100"/>
        </p:scale>
        <p:origin x="-294" y="-90"/>
      </p:cViewPr>
      <p:guideLst>
        <p:guide orient="horz" pos="2430"/>
        <p:guide pos="432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6" d="100"/>
          <a:sy n="46" d="100"/>
        </p:scale>
        <p:origin x="-1362"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286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ea typeface="宋体" pitchFamily="2" charset="-122"/>
              </a:defRPr>
            </a:lvl1pPr>
          </a:lstStyle>
          <a:p>
            <a:pPr>
              <a:defRPr/>
            </a:pPr>
            <a:endParaRPr lang="en-US" altLang="zh-CN"/>
          </a:p>
        </p:txBody>
      </p:sp>
      <p:sp>
        <p:nvSpPr>
          <p:cNvPr id="286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286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ea typeface="宋体" pitchFamily="2" charset="-122"/>
              </a:defRPr>
            </a:lvl1pPr>
          </a:lstStyle>
          <a:p>
            <a:pPr>
              <a:defRPr/>
            </a:pPr>
            <a:fld id="{6ACBF184-DB0A-4333-BB2D-59222810A47B}" type="slidenum">
              <a:rPr lang="en-US" altLang="zh-CN"/>
              <a:pPr>
                <a:defRPr/>
              </a:pPr>
              <a:t>‹#›</a:t>
            </a:fld>
            <a:endParaRPr lang="en-US" altLang="zh-CN"/>
          </a:p>
        </p:txBody>
      </p:sp>
    </p:spTree>
    <p:extLst>
      <p:ext uri="{BB962C8B-B14F-4D97-AF65-F5344CB8AC3E}">
        <p14:creationId xmlns:p14="http://schemas.microsoft.com/office/powerpoint/2010/main" xmlns="" val="3926577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ea typeface="宋体" pitchFamily="2" charset="-122"/>
              </a:defRPr>
            </a:lvl1pPr>
          </a:lstStyle>
          <a:p>
            <a:pPr>
              <a:defRPr/>
            </a:pPr>
            <a:endParaRPr lang="en-US" altLang="zh-CN"/>
          </a:p>
        </p:txBody>
      </p:sp>
      <p:sp>
        <p:nvSpPr>
          <p:cNvPr id="358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ea typeface="宋体" pitchFamily="2" charset="-122"/>
              </a:defRPr>
            </a:lvl1pPr>
          </a:lstStyle>
          <a:p>
            <a:pPr>
              <a:defRPr/>
            </a:pPr>
            <a:fld id="{79F7CB0A-316D-4F8F-A784-7DC75E23CBF4}" type="slidenum">
              <a:rPr lang="en-US" altLang="zh-CN"/>
              <a:pPr>
                <a:defRPr/>
              </a:pPr>
              <a:t>‹#›</a:t>
            </a:fld>
            <a:endParaRPr lang="en-US" altLang="zh-CN"/>
          </a:p>
        </p:txBody>
      </p:sp>
    </p:spTree>
    <p:extLst>
      <p:ext uri="{BB962C8B-B14F-4D97-AF65-F5344CB8AC3E}">
        <p14:creationId xmlns:p14="http://schemas.microsoft.com/office/powerpoint/2010/main" xmlns="" val="23621738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800" kern="1200">
        <a:solidFill>
          <a:schemeClr val="tx1"/>
        </a:solidFill>
        <a:latin typeface="Times New Roman" pitchFamily="18" charset="0"/>
        <a:ea typeface="宋体" pitchFamily="2" charset="-122"/>
        <a:cs typeface="+mn-cs"/>
      </a:defRPr>
    </a:lvl1pPr>
    <a:lvl2pPr marL="685823" algn="l" rtl="0" eaLnBrk="0" fontAlgn="base" hangingPunct="0">
      <a:spcBef>
        <a:spcPct val="30000"/>
      </a:spcBef>
      <a:spcAft>
        <a:spcPct val="0"/>
      </a:spcAft>
      <a:defRPr sz="1800" kern="1200">
        <a:solidFill>
          <a:schemeClr val="tx1"/>
        </a:solidFill>
        <a:latin typeface="Times New Roman" pitchFamily="18" charset="0"/>
        <a:ea typeface="宋体" pitchFamily="2" charset="-122"/>
        <a:cs typeface="+mn-cs"/>
      </a:defRPr>
    </a:lvl2pPr>
    <a:lvl3pPr marL="1371645" algn="l" rtl="0" eaLnBrk="0" fontAlgn="base" hangingPunct="0">
      <a:spcBef>
        <a:spcPct val="30000"/>
      </a:spcBef>
      <a:spcAft>
        <a:spcPct val="0"/>
      </a:spcAft>
      <a:defRPr sz="1800" kern="1200">
        <a:solidFill>
          <a:schemeClr val="tx1"/>
        </a:solidFill>
        <a:latin typeface="Times New Roman" pitchFamily="18" charset="0"/>
        <a:ea typeface="宋体" pitchFamily="2" charset="-122"/>
        <a:cs typeface="+mn-cs"/>
      </a:defRPr>
    </a:lvl3pPr>
    <a:lvl4pPr marL="2057468" algn="l" rtl="0" eaLnBrk="0" fontAlgn="base" hangingPunct="0">
      <a:spcBef>
        <a:spcPct val="30000"/>
      </a:spcBef>
      <a:spcAft>
        <a:spcPct val="0"/>
      </a:spcAft>
      <a:defRPr sz="1800" kern="1200">
        <a:solidFill>
          <a:schemeClr val="tx1"/>
        </a:solidFill>
        <a:latin typeface="Times New Roman" pitchFamily="18" charset="0"/>
        <a:ea typeface="宋体" pitchFamily="2" charset="-122"/>
        <a:cs typeface="+mn-cs"/>
      </a:defRPr>
    </a:lvl4pPr>
    <a:lvl5pPr marL="2743291" algn="l" rtl="0" eaLnBrk="0" fontAlgn="base" hangingPunct="0">
      <a:spcBef>
        <a:spcPct val="30000"/>
      </a:spcBef>
      <a:spcAft>
        <a:spcPct val="0"/>
      </a:spcAft>
      <a:defRPr sz="1800" kern="1200">
        <a:solidFill>
          <a:schemeClr val="tx1"/>
        </a:solidFill>
        <a:latin typeface="Times New Roman" pitchFamily="18" charset="0"/>
        <a:ea typeface="宋体" pitchFamily="2" charset="-122"/>
        <a:cs typeface="+mn-cs"/>
      </a:defRPr>
    </a:lvl5pPr>
    <a:lvl6pPr marL="3429115" algn="l" defTabSz="1371645" rtl="0" eaLnBrk="1" latinLnBrk="0" hangingPunct="1">
      <a:defRPr sz="1800" kern="1200">
        <a:solidFill>
          <a:schemeClr val="tx1"/>
        </a:solidFill>
        <a:latin typeface="+mn-lt"/>
        <a:ea typeface="+mn-ea"/>
        <a:cs typeface="+mn-cs"/>
      </a:defRPr>
    </a:lvl6pPr>
    <a:lvl7pPr marL="4114936" algn="l" defTabSz="1371645" rtl="0" eaLnBrk="1" latinLnBrk="0" hangingPunct="1">
      <a:defRPr sz="1800" kern="1200">
        <a:solidFill>
          <a:schemeClr val="tx1"/>
        </a:solidFill>
        <a:latin typeface="+mn-lt"/>
        <a:ea typeface="+mn-ea"/>
        <a:cs typeface="+mn-cs"/>
      </a:defRPr>
    </a:lvl7pPr>
    <a:lvl8pPr marL="4800760" algn="l" defTabSz="1371645" rtl="0" eaLnBrk="1" latinLnBrk="0" hangingPunct="1">
      <a:defRPr sz="1800" kern="1200">
        <a:solidFill>
          <a:schemeClr val="tx1"/>
        </a:solidFill>
        <a:latin typeface="+mn-lt"/>
        <a:ea typeface="+mn-ea"/>
        <a:cs typeface="+mn-cs"/>
      </a:defRPr>
    </a:lvl8pPr>
    <a:lvl9pPr marL="5486583" algn="l" defTabSz="1371645" rtl="0" eaLnBrk="1" latinLnBrk="0" hangingPunct="1">
      <a:defRPr sz="1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422093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5880" y="309563"/>
            <a:ext cx="12345829" cy="1285875"/>
          </a:xfrm>
          <a:prstGeom prst="rect">
            <a:avLst/>
          </a:prstGeom>
        </p:spPr>
        <p:txBody>
          <a:bodyPr lIns="137169" tIns="68585" rIns="137169" bIns="68585"/>
          <a:lstStyle/>
          <a:p>
            <a:r>
              <a:rPr lang="zh-CN" altLang="en-US" smtClean="0"/>
              <a:t>单击此处编辑母版标题样式</a:t>
            </a:r>
            <a:endParaRPr lang="zh-CN" altLang="en-US"/>
          </a:p>
        </p:txBody>
      </p:sp>
      <p:sp>
        <p:nvSpPr>
          <p:cNvPr id="3" name="内容占位符 2"/>
          <p:cNvSpPr>
            <a:spLocks noGrp="1"/>
          </p:cNvSpPr>
          <p:nvPr>
            <p:ph idx="1"/>
          </p:nvPr>
        </p:nvSpPr>
        <p:spPr>
          <a:xfrm>
            <a:off x="685880" y="1800226"/>
            <a:ext cx="12345829" cy="5091113"/>
          </a:xfrm>
          <a:prstGeom prst="rect">
            <a:avLst/>
          </a:prstGeom>
        </p:spPr>
        <p:txBody>
          <a:bodyPr lIns="137169" tIns="68585" rIns="137169" bIns="68585"/>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85879" y="7150895"/>
            <a:ext cx="3200771" cy="411956"/>
          </a:xfrm>
          <a:prstGeom prst="rect">
            <a:avLst/>
          </a:prstGeom>
        </p:spPr>
        <p:txBody>
          <a:bodyPr lIns="137169" tIns="68585" rIns="137169" bIns="68585"/>
          <a:lstStyle>
            <a:lvl1pPr>
              <a:defRPr/>
            </a:lvl1pPr>
          </a:lstStyle>
          <a:p>
            <a:pPr>
              <a:defRPr/>
            </a:pPr>
            <a:endParaRPr lang="en-US" altLang="zh-CN"/>
          </a:p>
        </p:txBody>
      </p:sp>
      <p:sp>
        <p:nvSpPr>
          <p:cNvPr id="5" name="页脚占位符 4"/>
          <p:cNvSpPr>
            <a:spLocks noGrp="1"/>
          </p:cNvSpPr>
          <p:nvPr>
            <p:ph type="ftr" sz="quarter" idx="11"/>
          </p:nvPr>
        </p:nvSpPr>
        <p:spPr>
          <a:xfrm>
            <a:off x="4686843" y="7150895"/>
            <a:ext cx="4343903" cy="411956"/>
          </a:xfrm>
          <a:prstGeom prst="rect">
            <a:avLst/>
          </a:prstGeom>
        </p:spPr>
        <p:txBody>
          <a:bodyPr lIns="137169" tIns="68585" rIns="137169" bIns="68585"/>
          <a:lstStyle>
            <a:lvl1pPr>
              <a:defRPr/>
            </a:lvl1pPr>
          </a:lstStyle>
          <a:p>
            <a:pPr>
              <a:defRPr/>
            </a:pPr>
            <a:endParaRPr lang="en-US" altLang="zh-CN"/>
          </a:p>
        </p:txBody>
      </p:sp>
      <p:sp>
        <p:nvSpPr>
          <p:cNvPr id="6" name="灯片编号占位符 5"/>
          <p:cNvSpPr>
            <a:spLocks noGrp="1"/>
          </p:cNvSpPr>
          <p:nvPr>
            <p:ph type="sldNum" sz="quarter" idx="12"/>
          </p:nvPr>
        </p:nvSpPr>
        <p:spPr>
          <a:xfrm>
            <a:off x="9830938" y="7150895"/>
            <a:ext cx="3200771" cy="411956"/>
          </a:xfrm>
          <a:prstGeom prst="rect">
            <a:avLst/>
          </a:prstGeom>
        </p:spPr>
        <p:txBody>
          <a:bodyPr lIns="137169" tIns="68585" rIns="137169" bIns="68585"/>
          <a:lstStyle>
            <a:lvl1pPr>
              <a:defRPr/>
            </a:lvl1pPr>
          </a:lstStyle>
          <a:p>
            <a:pPr>
              <a:defRPr/>
            </a:pPr>
            <a:fld id="{82B07DAA-8C11-4806-9372-AD2DBEF0D57E}" type="slidenum">
              <a:rPr lang="en-US" altLang="zh-CN" smtClean="0"/>
              <a:pPr>
                <a:defRPr/>
              </a:pPr>
              <a:t>‹#›</a:t>
            </a:fld>
            <a:endParaRPr lang="en-US" altLang="zh-CN"/>
          </a:p>
        </p:txBody>
      </p:sp>
    </p:spTree>
    <p:extLst>
      <p:ext uri="{BB962C8B-B14F-4D97-AF65-F5344CB8AC3E}">
        <p14:creationId xmlns:p14="http://schemas.microsoft.com/office/powerpoint/2010/main" xmlns="" val="983617998"/>
      </p:ext>
    </p:extLst>
  </p:cSld>
  <p:clrMapOvr>
    <a:masterClrMapping/>
  </p:clrMapOvr>
  <p:transition spd="slow">
    <p:blinds dir="vert"/>
    <p:sndAc>
      <p:stSnd>
        <p:snd r:embed="rId1" name="projctor.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85879" y="7150895"/>
            <a:ext cx="3200771" cy="411956"/>
          </a:xfrm>
          <a:prstGeom prst="rect">
            <a:avLst/>
          </a:prstGeom>
        </p:spPr>
        <p:txBody>
          <a:bodyPr lIns="137169" tIns="68585" rIns="137169" bIns="68585"/>
          <a:lstStyle>
            <a:lvl1pPr>
              <a:defRPr/>
            </a:lvl1pPr>
          </a:lstStyle>
          <a:p>
            <a:pPr>
              <a:defRPr/>
            </a:pPr>
            <a:endParaRPr lang="en-US" altLang="zh-CN"/>
          </a:p>
        </p:txBody>
      </p:sp>
      <p:sp>
        <p:nvSpPr>
          <p:cNvPr id="3" name="页脚占位符 4"/>
          <p:cNvSpPr>
            <a:spLocks noGrp="1"/>
          </p:cNvSpPr>
          <p:nvPr>
            <p:ph type="ftr" sz="quarter" idx="11"/>
          </p:nvPr>
        </p:nvSpPr>
        <p:spPr>
          <a:xfrm>
            <a:off x="4686843" y="7150895"/>
            <a:ext cx="4343903" cy="411956"/>
          </a:xfrm>
          <a:prstGeom prst="rect">
            <a:avLst/>
          </a:prstGeom>
        </p:spPr>
        <p:txBody>
          <a:bodyPr lIns="137169" tIns="68585" rIns="137169" bIns="68585"/>
          <a:lstStyle>
            <a:lvl1pPr>
              <a:defRPr/>
            </a:lvl1pPr>
          </a:lstStyle>
          <a:p>
            <a:pPr>
              <a:defRPr/>
            </a:pPr>
            <a:endParaRPr lang="en-US" altLang="zh-CN"/>
          </a:p>
        </p:txBody>
      </p:sp>
      <p:sp>
        <p:nvSpPr>
          <p:cNvPr id="4" name="灯片编号占位符 5"/>
          <p:cNvSpPr>
            <a:spLocks noGrp="1"/>
          </p:cNvSpPr>
          <p:nvPr>
            <p:ph type="sldNum" sz="quarter" idx="12"/>
          </p:nvPr>
        </p:nvSpPr>
        <p:spPr>
          <a:xfrm>
            <a:off x="9830938" y="7150895"/>
            <a:ext cx="3200771" cy="411956"/>
          </a:xfrm>
          <a:prstGeom prst="rect">
            <a:avLst/>
          </a:prstGeom>
        </p:spPr>
        <p:txBody>
          <a:bodyPr lIns="137169" tIns="68585" rIns="137169" bIns="68585"/>
          <a:lstStyle>
            <a:lvl1pPr>
              <a:defRPr/>
            </a:lvl1pPr>
          </a:lstStyle>
          <a:p>
            <a:pPr>
              <a:defRPr/>
            </a:pPr>
            <a:fld id="{E26A6670-7B05-461F-9D42-A1DD78F58260}" type="slidenum">
              <a:rPr lang="en-US" altLang="zh-CN" smtClean="0"/>
              <a:pPr>
                <a:defRPr/>
              </a:pPr>
              <a:t>‹#›</a:t>
            </a:fld>
            <a:endParaRPr lang="en-US" altLang="zh-CN"/>
          </a:p>
        </p:txBody>
      </p:sp>
    </p:spTree>
    <p:extLst>
      <p:ext uri="{BB962C8B-B14F-4D97-AF65-F5344CB8AC3E}">
        <p14:creationId xmlns:p14="http://schemas.microsoft.com/office/powerpoint/2010/main" xmlns="" val="1446640470"/>
      </p:ext>
    </p:extLst>
  </p:cSld>
  <p:clrMapOvr>
    <a:masterClrMapping/>
  </p:clrMapOvr>
  <p:transition spd="slow">
    <p:blinds dir="vert"/>
    <p:sndAc>
      <p:stSnd>
        <p:snd r:embed="rId1" name="projctor.wav"/>
      </p:stSnd>
    </p:sndAc>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9" name="Rectangle 4"/>
          <p:cNvSpPr>
            <a:spLocks noChangeArrowheads="1"/>
          </p:cNvSpPr>
          <p:nvPr/>
        </p:nvSpPr>
        <p:spPr bwMode="auto">
          <a:xfrm>
            <a:off x="0" y="0"/>
            <a:ext cx="277082" cy="4155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37169" tIns="68585" rIns="137169" bIns="68585" anchor="ctr">
            <a:spAutoFit/>
          </a:bodyPr>
          <a:lstStyle/>
          <a:p>
            <a:endParaRPr lang="zh-CN" altLang="en-US"/>
          </a:p>
        </p:txBody>
      </p:sp>
      <p:sp>
        <p:nvSpPr>
          <p:cNvPr id="1030" name="Rectangle 5"/>
          <p:cNvSpPr>
            <a:spLocks noChangeArrowheads="1"/>
          </p:cNvSpPr>
          <p:nvPr/>
        </p:nvSpPr>
        <p:spPr bwMode="auto">
          <a:xfrm>
            <a:off x="0" y="2200275"/>
            <a:ext cx="13717588" cy="4155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37169" tIns="68585" rIns="137169" bIns="68585" anchor="ctr">
            <a:spAutoFit/>
          </a:bodyPr>
          <a:lstStyle/>
          <a:p>
            <a:endParaRPr lang="zh-CN" altLang="en-US"/>
          </a:p>
        </p:txBody>
      </p:sp>
      <p:sp>
        <p:nvSpPr>
          <p:cNvPr id="1031" name="Rectangle 6"/>
          <p:cNvSpPr>
            <a:spLocks noChangeArrowheads="1"/>
          </p:cNvSpPr>
          <p:nvPr/>
        </p:nvSpPr>
        <p:spPr bwMode="auto">
          <a:xfrm>
            <a:off x="0" y="3429000"/>
            <a:ext cx="277082" cy="4155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37169" tIns="68585" rIns="137169" bIns="68585" anchor="ctr">
            <a:spAutoFit/>
          </a:bodyPr>
          <a:lstStyle/>
          <a:p>
            <a:endParaRPr lang="zh-CN" altLang="en-US"/>
          </a:p>
        </p:txBody>
      </p:sp>
      <p:sp>
        <p:nvSpPr>
          <p:cNvPr id="1032" name="Rectangle 7"/>
          <p:cNvSpPr>
            <a:spLocks noChangeArrowheads="1"/>
          </p:cNvSpPr>
          <p:nvPr/>
        </p:nvSpPr>
        <p:spPr bwMode="auto">
          <a:xfrm>
            <a:off x="0" y="4471988"/>
            <a:ext cx="277082" cy="4155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37169" tIns="68585" rIns="137169" bIns="68585" anchor="ctr">
            <a:spAutoFit/>
          </a:bodyPr>
          <a:lstStyle/>
          <a:p>
            <a:endParaRPr lang="zh-CN" altLang="zh-CN">
              <a:latin typeface="Arial" charset="0"/>
            </a:endParaRP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Lst>
  <p:transition spd="slow">
    <p:blinds dir="vert"/>
    <p:sndAc>
      <p:stSnd>
        <p:snd r:embed="rId5" name="projctor.wav"/>
      </p:stSnd>
    </p:sndAc>
  </p:transition>
  <p:timing>
    <p:tnLst>
      <p:par>
        <p:cTn id="1" dur="indefinite" restart="never" nodeType="tmRoot"/>
      </p:par>
    </p:tnLst>
  </p:timing>
  <p:txStyles>
    <p:titleStyle>
      <a:lvl1pPr algn="ctr" rtl="0" eaLnBrk="1" fontAlgn="base" hangingPunct="1">
        <a:spcBef>
          <a:spcPct val="0"/>
        </a:spcBef>
        <a:spcAft>
          <a:spcPct val="0"/>
        </a:spcAft>
        <a:defRPr sz="6600" kern="1200">
          <a:solidFill>
            <a:schemeClr val="tx1"/>
          </a:solidFill>
          <a:latin typeface="+mj-lt"/>
          <a:ea typeface="+mj-ea"/>
          <a:cs typeface="+mj-cs"/>
        </a:defRPr>
      </a:lvl1pPr>
      <a:lvl2pPr algn="ctr" rtl="0" eaLnBrk="1" fontAlgn="base" hangingPunct="1">
        <a:spcBef>
          <a:spcPct val="0"/>
        </a:spcBef>
        <a:spcAft>
          <a:spcPct val="0"/>
        </a:spcAft>
        <a:defRPr sz="6600">
          <a:solidFill>
            <a:schemeClr val="tx1"/>
          </a:solidFill>
          <a:latin typeface="Calibri" pitchFamily="34" charset="0"/>
          <a:ea typeface="宋体" pitchFamily="2" charset="-122"/>
        </a:defRPr>
      </a:lvl2pPr>
      <a:lvl3pPr algn="ctr" rtl="0" eaLnBrk="1" fontAlgn="base" hangingPunct="1">
        <a:spcBef>
          <a:spcPct val="0"/>
        </a:spcBef>
        <a:spcAft>
          <a:spcPct val="0"/>
        </a:spcAft>
        <a:defRPr sz="6600">
          <a:solidFill>
            <a:schemeClr val="tx1"/>
          </a:solidFill>
          <a:latin typeface="Calibri" pitchFamily="34" charset="0"/>
          <a:ea typeface="宋体" pitchFamily="2" charset="-122"/>
        </a:defRPr>
      </a:lvl3pPr>
      <a:lvl4pPr algn="ctr" rtl="0" eaLnBrk="1" fontAlgn="base" hangingPunct="1">
        <a:spcBef>
          <a:spcPct val="0"/>
        </a:spcBef>
        <a:spcAft>
          <a:spcPct val="0"/>
        </a:spcAft>
        <a:defRPr sz="6600">
          <a:solidFill>
            <a:schemeClr val="tx1"/>
          </a:solidFill>
          <a:latin typeface="Calibri" pitchFamily="34" charset="0"/>
          <a:ea typeface="宋体" pitchFamily="2" charset="-122"/>
        </a:defRPr>
      </a:lvl4pPr>
      <a:lvl5pPr algn="ctr" rtl="0" eaLnBrk="1" fontAlgn="base" hangingPunct="1">
        <a:spcBef>
          <a:spcPct val="0"/>
        </a:spcBef>
        <a:spcAft>
          <a:spcPct val="0"/>
        </a:spcAft>
        <a:defRPr sz="6600">
          <a:solidFill>
            <a:schemeClr val="tx1"/>
          </a:solidFill>
          <a:latin typeface="Calibri" pitchFamily="34" charset="0"/>
          <a:ea typeface="宋体" pitchFamily="2" charset="-122"/>
        </a:defRPr>
      </a:lvl5pPr>
      <a:lvl6pPr marL="685846" algn="ctr" rtl="0" eaLnBrk="1" fontAlgn="base" hangingPunct="1">
        <a:spcBef>
          <a:spcPct val="0"/>
        </a:spcBef>
        <a:spcAft>
          <a:spcPct val="0"/>
        </a:spcAft>
        <a:defRPr sz="6600">
          <a:solidFill>
            <a:schemeClr val="tx1"/>
          </a:solidFill>
          <a:latin typeface="Calibri" pitchFamily="34" charset="0"/>
          <a:ea typeface="宋体" pitchFamily="2" charset="-122"/>
        </a:defRPr>
      </a:lvl6pPr>
      <a:lvl7pPr marL="1371691" algn="ctr" rtl="0" eaLnBrk="1" fontAlgn="base" hangingPunct="1">
        <a:spcBef>
          <a:spcPct val="0"/>
        </a:spcBef>
        <a:spcAft>
          <a:spcPct val="0"/>
        </a:spcAft>
        <a:defRPr sz="6600">
          <a:solidFill>
            <a:schemeClr val="tx1"/>
          </a:solidFill>
          <a:latin typeface="Calibri" pitchFamily="34" charset="0"/>
          <a:ea typeface="宋体" pitchFamily="2" charset="-122"/>
        </a:defRPr>
      </a:lvl7pPr>
      <a:lvl8pPr marL="2057537" algn="ctr" rtl="0" eaLnBrk="1" fontAlgn="base" hangingPunct="1">
        <a:spcBef>
          <a:spcPct val="0"/>
        </a:spcBef>
        <a:spcAft>
          <a:spcPct val="0"/>
        </a:spcAft>
        <a:defRPr sz="6600">
          <a:solidFill>
            <a:schemeClr val="tx1"/>
          </a:solidFill>
          <a:latin typeface="Calibri" pitchFamily="34" charset="0"/>
          <a:ea typeface="宋体" pitchFamily="2" charset="-122"/>
        </a:defRPr>
      </a:lvl8pPr>
      <a:lvl9pPr marL="2743383" algn="ctr" rtl="0" eaLnBrk="1" fontAlgn="base" hangingPunct="1">
        <a:spcBef>
          <a:spcPct val="0"/>
        </a:spcBef>
        <a:spcAft>
          <a:spcPct val="0"/>
        </a:spcAft>
        <a:defRPr sz="6600">
          <a:solidFill>
            <a:schemeClr val="tx1"/>
          </a:solidFill>
          <a:latin typeface="Calibri" pitchFamily="34" charset="0"/>
          <a:ea typeface="宋体" pitchFamily="2" charset="-122"/>
        </a:defRPr>
      </a:lvl9pPr>
    </p:titleStyle>
    <p:bodyStyle>
      <a:lvl1pPr marL="514384" indent="-514384" algn="l" rtl="0" eaLnBrk="1" fontAlgn="base" hangingPunct="1">
        <a:spcBef>
          <a:spcPct val="20000"/>
        </a:spcBef>
        <a:spcAft>
          <a:spcPct val="0"/>
        </a:spcAft>
        <a:buFont typeface="Arial" charset="0"/>
        <a:buChar char="•"/>
        <a:defRPr sz="4800" kern="1200">
          <a:solidFill>
            <a:schemeClr val="tx1"/>
          </a:solidFill>
          <a:latin typeface="+mn-lt"/>
          <a:ea typeface="+mn-ea"/>
          <a:cs typeface="+mn-cs"/>
        </a:defRPr>
      </a:lvl1pPr>
      <a:lvl2pPr marL="1114499" indent="-428654" algn="l" rtl="0" eaLnBrk="1" fontAlgn="base" hangingPunct="1">
        <a:spcBef>
          <a:spcPct val="20000"/>
        </a:spcBef>
        <a:spcAft>
          <a:spcPct val="0"/>
        </a:spcAft>
        <a:buFont typeface="Arial" charset="0"/>
        <a:buChar char="–"/>
        <a:defRPr sz="4200" kern="1200">
          <a:solidFill>
            <a:schemeClr val="tx1"/>
          </a:solidFill>
          <a:latin typeface="+mn-lt"/>
          <a:ea typeface="+mn-ea"/>
          <a:cs typeface="+mn-cs"/>
        </a:defRPr>
      </a:lvl2pPr>
      <a:lvl3pPr marL="1714614" indent="-342923" algn="l" rtl="0" eaLnBrk="1" fontAlgn="base" hangingPunct="1">
        <a:spcBef>
          <a:spcPct val="20000"/>
        </a:spcBef>
        <a:spcAft>
          <a:spcPct val="0"/>
        </a:spcAft>
        <a:buFont typeface="Arial" charset="0"/>
        <a:buChar char="•"/>
        <a:defRPr sz="3600" kern="1200">
          <a:solidFill>
            <a:schemeClr val="tx1"/>
          </a:solidFill>
          <a:latin typeface="+mn-lt"/>
          <a:ea typeface="+mn-ea"/>
          <a:cs typeface="+mn-cs"/>
        </a:defRPr>
      </a:lvl3pPr>
      <a:lvl4pPr marL="2400460" indent="-342923"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4pPr>
      <a:lvl5pPr marL="3086306" indent="-342923"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5pPr>
      <a:lvl6pPr marL="3772151" indent="-342923" algn="l" defTabSz="1371691" rtl="0" eaLnBrk="1" latinLnBrk="0" hangingPunct="1">
        <a:spcBef>
          <a:spcPct val="20000"/>
        </a:spcBef>
        <a:buFont typeface="Arial" pitchFamily="34" charset="0"/>
        <a:buChar char="•"/>
        <a:defRPr sz="3000" kern="1200">
          <a:solidFill>
            <a:schemeClr val="tx1"/>
          </a:solidFill>
          <a:latin typeface="+mn-lt"/>
          <a:ea typeface="+mn-ea"/>
          <a:cs typeface="+mn-cs"/>
        </a:defRPr>
      </a:lvl6pPr>
      <a:lvl7pPr marL="4457997" indent="-342923" algn="l" defTabSz="1371691" rtl="0" eaLnBrk="1" latinLnBrk="0" hangingPunct="1">
        <a:spcBef>
          <a:spcPct val="20000"/>
        </a:spcBef>
        <a:buFont typeface="Arial" pitchFamily="34" charset="0"/>
        <a:buChar char="•"/>
        <a:defRPr sz="3000" kern="1200">
          <a:solidFill>
            <a:schemeClr val="tx1"/>
          </a:solidFill>
          <a:latin typeface="+mn-lt"/>
          <a:ea typeface="+mn-ea"/>
          <a:cs typeface="+mn-cs"/>
        </a:defRPr>
      </a:lvl7pPr>
      <a:lvl8pPr marL="5143843" indent="-342923" algn="l" defTabSz="1371691" rtl="0" eaLnBrk="1" latinLnBrk="0" hangingPunct="1">
        <a:spcBef>
          <a:spcPct val="20000"/>
        </a:spcBef>
        <a:buFont typeface="Arial" pitchFamily="34" charset="0"/>
        <a:buChar char="•"/>
        <a:defRPr sz="3000" kern="1200">
          <a:solidFill>
            <a:schemeClr val="tx1"/>
          </a:solidFill>
          <a:latin typeface="+mn-lt"/>
          <a:ea typeface="+mn-ea"/>
          <a:cs typeface="+mn-cs"/>
        </a:defRPr>
      </a:lvl8pPr>
      <a:lvl9pPr marL="5829689" indent="-342923" algn="l" defTabSz="1371691" rtl="0" eaLnBrk="1" latinLnBrk="0" hangingPunct="1">
        <a:spcBef>
          <a:spcPct val="20000"/>
        </a:spcBef>
        <a:buFont typeface="Arial" pitchFamily="34" charset="0"/>
        <a:buChar char="•"/>
        <a:defRPr sz="3000" kern="1200">
          <a:solidFill>
            <a:schemeClr val="tx1"/>
          </a:solidFill>
          <a:latin typeface="+mn-lt"/>
          <a:ea typeface="+mn-ea"/>
          <a:cs typeface="+mn-cs"/>
        </a:defRPr>
      </a:lvl9pPr>
    </p:bodyStyle>
    <p:otherStyle>
      <a:defPPr>
        <a:defRPr lang="zh-CN"/>
      </a:defPPr>
      <a:lvl1pPr marL="0" algn="l" defTabSz="1371691" rtl="0" eaLnBrk="1" latinLnBrk="0" hangingPunct="1">
        <a:defRPr sz="2700" kern="1200">
          <a:solidFill>
            <a:schemeClr val="tx1"/>
          </a:solidFill>
          <a:latin typeface="+mn-lt"/>
          <a:ea typeface="+mn-ea"/>
          <a:cs typeface="+mn-cs"/>
        </a:defRPr>
      </a:lvl1pPr>
      <a:lvl2pPr marL="685846" algn="l" defTabSz="1371691" rtl="0" eaLnBrk="1" latinLnBrk="0" hangingPunct="1">
        <a:defRPr sz="2700" kern="1200">
          <a:solidFill>
            <a:schemeClr val="tx1"/>
          </a:solidFill>
          <a:latin typeface="+mn-lt"/>
          <a:ea typeface="+mn-ea"/>
          <a:cs typeface="+mn-cs"/>
        </a:defRPr>
      </a:lvl2pPr>
      <a:lvl3pPr marL="1371691" algn="l" defTabSz="1371691" rtl="0" eaLnBrk="1" latinLnBrk="0" hangingPunct="1">
        <a:defRPr sz="2700" kern="1200">
          <a:solidFill>
            <a:schemeClr val="tx1"/>
          </a:solidFill>
          <a:latin typeface="+mn-lt"/>
          <a:ea typeface="+mn-ea"/>
          <a:cs typeface="+mn-cs"/>
        </a:defRPr>
      </a:lvl3pPr>
      <a:lvl4pPr marL="2057537" algn="l" defTabSz="1371691" rtl="0" eaLnBrk="1" latinLnBrk="0" hangingPunct="1">
        <a:defRPr sz="2700" kern="1200">
          <a:solidFill>
            <a:schemeClr val="tx1"/>
          </a:solidFill>
          <a:latin typeface="+mn-lt"/>
          <a:ea typeface="+mn-ea"/>
          <a:cs typeface="+mn-cs"/>
        </a:defRPr>
      </a:lvl4pPr>
      <a:lvl5pPr marL="2743383" algn="l" defTabSz="1371691" rtl="0" eaLnBrk="1" latinLnBrk="0" hangingPunct="1">
        <a:defRPr sz="2700" kern="1200">
          <a:solidFill>
            <a:schemeClr val="tx1"/>
          </a:solidFill>
          <a:latin typeface="+mn-lt"/>
          <a:ea typeface="+mn-ea"/>
          <a:cs typeface="+mn-cs"/>
        </a:defRPr>
      </a:lvl5pPr>
      <a:lvl6pPr marL="3429229" algn="l" defTabSz="1371691" rtl="0" eaLnBrk="1" latinLnBrk="0" hangingPunct="1">
        <a:defRPr sz="2700" kern="1200">
          <a:solidFill>
            <a:schemeClr val="tx1"/>
          </a:solidFill>
          <a:latin typeface="+mn-lt"/>
          <a:ea typeface="+mn-ea"/>
          <a:cs typeface="+mn-cs"/>
        </a:defRPr>
      </a:lvl6pPr>
      <a:lvl7pPr marL="4115074" algn="l" defTabSz="1371691" rtl="0" eaLnBrk="1" latinLnBrk="0" hangingPunct="1">
        <a:defRPr sz="2700" kern="1200">
          <a:solidFill>
            <a:schemeClr val="tx1"/>
          </a:solidFill>
          <a:latin typeface="+mn-lt"/>
          <a:ea typeface="+mn-ea"/>
          <a:cs typeface="+mn-cs"/>
        </a:defRPr>
      </a:lvl7pPr>
      <a:lvl8pPr marL="4800920" algn="l" defTabSz="1371691" rtl="0" eaLnBrk="1" latinLnBrk="0" hangingPunct="1">
        <a:defRPr sz="2700" kern="1200">
          <a:solidFill>
            <a:schemeClr val="tx1"/>
          </a:solidFill>
          <a:latin typeface="+mn-lt"/>
          <a:ea typeface="+mn-ea"/>
          <a:cs typeface="+mn-cs"/>
        </a:defRPr>
      </a:lvl8pPr>
      <a:lvl9pPr marL="5486766" algn="l" defTabSz="1371691"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audio" Target="../media/audio1.wav"/><Relationship Id="rId7"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 Id="rId9" Type="http://schemas.openxmlformats.org/officeDocument/2006/relationships/oleObject" Target="../embeddings/oleObject16.bin"/></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5"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smtClean="0">
                <a:solidFill>
                  <a:schemeClr val="bg1"/>
                </a:solidFill>
                <a:latin typeface="Microsoft YaHei" panose="020B0503020204020204" pitchFamily="34" charset="-122"/>
                <a:ea typeface="Microsoft YaHei" panose="020B0503020204020204" pitchFamily="34" charset="-122"/>
              </a:rPr>
              <a:t>噪声系数</a:t>
            </a:r>
            <a:endParaRPr kumimoji="1" lang="zh-CN" altLang="en-US" sz="4400" b="1" dirty="0">
              <a:solidFill>
                <a:schemeClr val="bg1"/>
              </a:solidFill>
              <a:latin typeface="Microsoft YaHei" panose="020B0503020204020204" pitchFamily="34" charset="-122"/>
              <a:ea typeface="Microsoft YaHei" panose="020B0503020204020204" pitchFamily="34" charset="-122"/>
            </a:endParaRPr>
          </a:p>
        </p:txBody>
      </p:sp>
      <p:sp>
        <p:nvSpPr>
          <p:cNvPr id="6" name="矩形 5"/>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7" name="矩形 6">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9.5</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0"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2" name="矩形 11">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8744503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8587" y="1265338"/>
            <a:ext cx="12577717" cy="969506"/>
          </a:xfrm>
          <a:prstGeom prst="rect">
            <a:avLst/>
          </a:prstGeom>
          <a:noFill/>
        </p:spPr>
        <p:txBody>
          <a:bodyPr wrap="square" lIns="137169" tIns="68585" rIns="137169" bIns="68585" rtlCol="0">
            <a:spAutoFit/>
          </a:bodyPr>
          <a:lstStyle/>
          <a:p>
            <a:pPr eaLnBrk="1" hangingPunct="1">
              <a:lnSpc>
                <a:spcPct val="150000"/>
              </a:lnSpc>
              <a:buFont typeface="Wingdings" pitchFamily="2" charset="2"/>
              <a:buNone/>
            </a:pPr>
            <a:r>
              <a:rPr lang="zh-CN" altLang="en-US" sz="3600" b="1" dirty="0" smtClean="0">
                <a:latin typeface="Times New Roman" pitchFamily="18" charset="0"/>
                <a:ea typeface="微软雅黑" pitchFamily="34" charset="-122"/>
                <a:cs typeface="Times New Roman" pitchFamily="18" charset="0"/>
              </a:rPr>
              <a:t>在</a:t>
            </a:r>
            <a:r>
              <a:rPr lang="zh-CN" altLang="en-US" sz="3600" b="1" dirty="0">
                <a:latin typeface="Times New Roman" pitchFamily="18" charset="0"/>
                <a:ea typeface="微软雅黑" pitchFamily="34" charset="-122"/>
                <a:cs typeface="Times New Roman" pitchFamily="18" charset="0"/>
              </a:rPr>
              <a:t>实际工作中常常需要考虑放大器、元件及系统的噪声性能</a:t>
            </a:r>
            <a:r>
              <a:rPr lang="zh-CN" altLang="en-US" sz="3600" b="1" dirty="0" smtClean="0">
                <a:latin typeface="Times New Roman" pitchFamily="18" charset="0"/>
                <a:ea typeface="微软雅黑" pitchFamily="34" charset="-122"/>
                <a:cs typeface="Times New Roman" pitchFamily="18" charset="0"/>
              </a:rPr>
              <a:t>。</a:t>
            </a:r>
            <a:endParaRPr lang="zh-CN" altLang="en-US" sz="3600" b="1" dirty="0">
              <a:latin typeface="Times New Roman" pitchFamily="18" charset="0"/>
              <a:ea typeface="微软雅黑" pitchFamily="34" charset="-122"/>
              <a:cs typeface="Times New Roman" pitchFamily="18" charset="0"/>
            </a:endParaRPr>
          </a:p>
        </p:txBody>
      </p:sp>
      <p:sp>
        <p:nvSpPr>
          <p:cNvPr id="3" name="TextBox 2"/>
          <p:cNvSpPr txBox="1"/>
          <p:nvPr/>
        </p:nvSpPr>
        <p:spPr>
          <a:xfrm>
            <a:off x="577879" y="2885518"/>
            <a:ext cx="12469693" cy="1800503"/>
          </a:xfrm>
          <a:prstGeom prst="rect">
            <a:avLst/>
          </a:prstGeom>
          <a:noFill/>
        </p:spPr>
        <p:txBody>
          <a:bodyPr wrap="square" lIns="137169" tIns="68585" rIns="137169" bIns="68585" rtlCol="0">
            <a:spAutoFit/>
          </a:bodyPr>
          <a:lstStyle/>
          <a:p>
            <a:pPr eaLnBrk="1" hangingPunct="1">
              <a:lnSpc>
                <a:spcPct val="150000"/>
              </a:lnSpc>
              <a:buFont typeface="Wingdings" pitchFamily="2" charset="2"/>
              <a:buNone/>
            </a:pPr>
            <a:r>
              <a:rPr lang="zh-CN" altLang="en-US" sz="3600" b="1" dirty="0" smtClean="0">
                <a:latin typeface="Times New Roman" pitchFamily="18" charset="0"/>
                <a:ea typeface="微软雅黑" pitchFamily="34" charset="-122"/>
                <a:cs typeface="Times New Roman" pitchFamily="18" charset="0"/>
              </a:rPr>
              <a:t>     对于</a:t>
            </a:r>
            <a:r>
              <a:rPr lang="zh-CN" altLang="en-US" sz="3600" b="1" dirty="0">
                <a:latin typeface="Times New Roman" pitchFamily="18" charset="0"/>
                <a:ea typeface="微软雅黑" pitchFamily="34" charset="-122"/>
                <a:cs typeface="Times New Roman" pitchFamily="18" charset="0"/>
              </a:rPr>
              <a:t>系统来说，其噪声性能不仅仅是指系统本身元器件产生噪声的大小，还包括它对信号影响的程度</a:t>
            </a:r>
            <a:r>
              <a:rPr lang="zh-CN" altLang="en-US" sz="3600" b="1" dirty="0" smtClean="0">
                <a:latin typeface="Times New Roman" pitchFamily="18" charset="0"/>
                <a:ea typeface="微软雅黑" pitchFamily="34" charset="-122"/>
                <a:cs typeface="Times New Roman" pitchFamily="18" charset="0"/>
              </a:rPr>
              <a:t>。</a:t>
            </a:r>
            <a:endParaRPr lang="zh-CN" altLang="en-US" sz="3600" b="1" dirty="0">
              <a:latin typeface="Times New Roman" pitchFamily="18" charset="0"/>
              <a:ea typeface="微软雅黑" pitchFamily="34" charset="-122"/>
              <a:cs typeface="Times New Roman" pitchFamily="18" charset="0"/>
            </a:endParaRPr>
          </a:p>
        </p:txBody>
      </p:sp>
      <p:sp>
        <p:nvSpPr>
          <p:cNvPr id="4" name="TextBox 3"/>
          <p:cNvSpPr txBox="1"/>
          <p:nvPr/>
        </p:nvSpPr>
        <p:spPr>
          <a:xfrm>
            <a:off x="577880" y="5153770"/>
            <a:ext cx="12576104" cy="1800503"/>
          </a:xfrm>
          <a:prstGeom prst="rect">
            <a:avLst/>
          </a:prstGeom>
          <a:noFill/>
        </p:spPr>
        <p:txBody>
          <a:bodyPr wrap="square" lIns="137169" tIns="68585" rIns="137169" bIns="68585" rtlCol="0">
            <a:spAutoFit/>
          </a:bodyPr>
          <a:lstStyle/>
          <a:p>
            <a:pPr eaLnBrk="1" hangingPunct="1">
              <a:lnSpc>
                <a:spcPct val="150000"/>
              </a:lnSpc>
              <a:buFont typeface="Wingdings" pitchFamily="2" charset="2"/>
              <a:buNone/>
            </a:pPr>
            <a:r>
              <a:rPr lang="zh-CN" altLang="en-US" sz="3600" b="1" dirty="0" smtClean="0">
                <a:latin typeface="Times New Roman" pitchFamily="18" charset="0"/>
                <a:ea typeface="微软雅黑" pitchFamily="34" charset="-122"/>
                <a:cs typeface="Times New Roman" pitchFamily="18" charset="0"/>
              </a:rPr>
              <a:t>       通常</a:t>
            </a:r>
            <a:r>
              <a:rPr lang="zh-CN" altLang="en-US" sz="3600" b="1" dirty="0">
                <a:latin typeface="Times New Roman" pitchFamily="18" charset="0"/>
                <a:ea typeface="微软雅黑" pitchFamily="34" charset="-122"/>
                <a:cs typeface="Times New Roman" pitchFamily="18" charset="0"/>
              </a:rPr>
              <a:t>是用</a:t>
            </a:r>
            <a:r>
              <a:rPr lang="zh-CN" altLang="en-US" sz="3600" b="1" dirty="0">
                <a:solidFill>
                  <a:srgbClr val="0000CC"/>
                </a:solidFill>
                <a:latin typeface="Times New Roman" pitchFamily="18" charset="0"/>
                <a:ea typeface="微软雅黑" pitchFamily="34" charset="-122"/>
                <a:cs typeface="Times New Roman" pitchFamily="18" charset="0"/>
              </a:rPr>
              <a:t>噪声系数</a:t>
            </a:r>
            <a:r>
              <a:rPr lang="en-US" altLang="zh-CN" sz="3600" b="1" dirty="0">
                <a:solidFill>
                  <a:srgbClr val="0000CC"/>
                </a:solidFill>
                <a:latin typeface="Times New Roman" pitchFamily="18" charset="0"/>
                <a:ea typeface="微软雅黑" pitchFamily="34" charset="-122"/>
                <a:cs typeface="Times New Roman" pitchFamily="18" charset="0"/>
              </a:rPr>
              <a:t>NF</a:t>
            </a:r>
            <a:r>
              <a:rPr lang="zh-CN" altLang="en-US" sz="3600" b="1" dirty="0">
                <a:solidFill>
                  <a:srgbClr val="0000CC"/>
                </a:solidFill>
                <a:latin typeface="Times New Roman" pitchFamily="18" charset="0"/>
                <a:ea typeface="微软雅黑" pitchFamily="34" charset="-122"/>
                <a:cs typeface="Times New Roman" pitchFamily="18" charset="0"/>
              </a:rPr>
              <a:t>（</a:t>
            </a:r>
            <a:r>
              <a:rPr lang="en-US" altLang="zh-CN" sz="3600" b="1" dirty="0">
                <a:solidFill>
                  <a:srgbClr val="0000CC"/>
                </a:solidFill>
                <a:latin typeface="Times New Roman" pitchFamily="18" charset="0"/>
                <a:ea typeface="微软雅黑" pitchFamily="34" charset="-122"/>
                <a:cs typeface="Times New Roman" pitchFamily="18" charset="0"/>
              </a:rPr>
              <a:t>Noise Factor</a:t>
            </a:r>
            <a:r>
              <a:rPr lang="zh-CN" altLang="en-US" sz="3600" b="1" dirty="0">
                <a:solidFill>
                  <a:srgbClr val="0000CC"/>
                </a:solidFill>
                <a:latin typeface="Times New Roman" pitchFamily="18" charset="0"/>
                <a:ea typeface="微软雅黑" pitchFamily="34" charset="-122"/>
                <a:cs typeface="Times New Roman" pitchFamily="18" charset="0"/>
              </a:rPr>
              <a:t>）</a:t>
            </a:r>
            <a:r>
              <a:rPr lang="zh-CN" altLang="en-US" sz="3600" b="1" dirty="0">
                <a:latin typeface="Times New Roman" pitchFamily="18" charset="0"/>
                <a:ea typeface="微软雅黑" pitchFamily="34" charset="-122"/>
                <a:cs typeface="Times New Roman" pitchFamily="18" charset="0"/>
              </a:rPr>
              <a:t>作为衡量放大器或元件、或系统噪声性能的指标</a:t>
            </a:r>
            <a:r>
              <a:rPr lang="zh-CN" altLang="en-US" sz="3600" b="1" dirty="0" smtClean="0">
                <a:latin typeface="Times New Roman" pitchFamily="18" charset="0"/>
                <a:ea typeface="微软雅黑" pitchFamily="34" charset="-122"/>
                <a:cs typeface="Times New Roman" pitchFamily="18" charset="0"/>
              </a:rPr>
              <a:t>。</a:t>
            </a:r>
            <a:endParaRPr lang="zh-CN" altLang="en-US" sz="3600" b="1" dirty="0">
              <a:latin typeface="Times New Roman" pitchFamily="18" charset="0"/>
              <a:ea typeface="微软雅黑" pitchFamily="34" charset="-122"/>
              <a:cs typeface="Times New Roman" pitchFamily="18" charset="0"/>
            </a:endParaRPr>
          </a:p>
        </p:txBody>
      </p:sp>
      <p:sp>
        <p:nvSpPr>
          <p:cNvPr id="6"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7" name="矩形 6"/>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0"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2" name="矩形 11">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4239893373"/>
      </p:ext>
    </p:extLst>
  </p:cSld>
  <p:clrMapOvr>
    <a:masterClrMapping/>
  </p:clrMapOvr>
  <p:transition spd="slow">
    <p:blinds dir="vert"/>
    <p:sndAc>
      <p:stSnd>
        <p:snd r:embed="rId2"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1525" y="833290"/>
            <a:ext cx="12252031" cy="1800503"/>
          </a:xfrm>
          <a:prstGeom prst="rect">
            <a:avLst/>
          </a:prstGeom>
          <a:noFill/>
        </p:spPr>
        <p:txBody>
          <a:bodyPr wrap="square" lIns="137169" tIns="68585" rIns="137169" bIns="68585" rtlCol="0">
            <a:spAutoFit/>
          </a:bodyPr>
          <a:lstStyle/>
          <a:p>
            <a:pPr eaLnBrk="1" hangingPunct="1">
              <a:lnSpc>
                <a:spcPct val="150000"/>
              </a:lnSpc>
              <a:buFont typeface="Wingdings" pitchFamily="2" charset="2"/>
              <a:buNone/>
            </a:pPr>
            <a:r>
              <a:rPr lang="zh-CN" altLang="en-US" sz="3600" b="1" dirty="0" smtClean="0">
                <a:solidFill>
                  <a:srgbClr val="0000CC"/>
                </a:solidFill>
                <a:latin typeface="Times New Roman" pitchFamily="18" charset="0"/>
                <a:ea typeface="微软雅黑" pitchFamily="34" charset="-122"/>
                <a:cs typeface="Times New Roman" pitchFamily="18" charset="0"/>
              </a:rPr>
              <a:t>等效</a:t>
            </a:r>
            <a:r>
              <a:rPr lang="zh-CN" altLang="en-US" sz="3600" b="1" dirty="0">
                <a:solidFill>
                  <a:srgbClr val="0000CC"/>
                </a:solidFill>
                <a:latin typeface="Times New Roman" pitchFamily="18" charset="0"/>
                <a:ea typeface="微软雅黑" pitchFamily="34" charset="-122"/>
                <a:cs typeface="Times New Roman" pitchFamily="18" charset="0"/>
              </a:rPr>
              <a:t>输入噪声</a:t>
            </a:r>
            <a:r>
              <a:rPr lang="en-US" altLang="zh-CN" sz="3600" b="1" dirty="0">
                <a:solidFill>
                  <a:srgbClr val="0000CC"/>
                </a:solidFill>
                <a:latin typeface="Times New Roman" pitchFamily="18" charset="0"/>
                <a:ea typeface="微软雅黑" pitchFamily="34" charset="-122"/>
                <a:cs typeface="Times New Roman" pitchFamily="18" charset="0"/>
              </a:rPr>
              <a:t>E</a:t>
            </a:r>
            <a:r>
              <a:rPr lang="en-US" altLang="zh-CN" sz="3600" b="1" baseline="-30000" dirty="0">
                <a:solidFill>
                  <a:srgbClr val="0000CC"/>
                </a:solidFill>
                <a:latin typeface="Times New Roman" pitchFamily="18" charset="0"/>
                <a:ea typeface="微软雅黑" pitchFamily="34" charset="-122"/>
                <a:cs typeface="Times New Roman" pitchFamily="18" charset="0"/>
              </a:rPr>
              <a:t>ni</a:t>
            </a:r>
            <a:r>
              <a:rPr lang="zh-CN" altLang="en-US" sz="3600" b="1" dirty="0">
                <a:latin typeface="Times New Roman" pitchFamily="18" charset="0"/>
                <a:ea typeface="微软雅黑" pitchFamily="34" charset="-122"/>
                <a:cs typeface="Times New Roman" pitchFamily="18" charset="0"/>
              </a:rPr>
              <a:t>的表示式中含</a:t>
            </a:r>
            <a:r>
              <a:rPr lang="zh-CN" altLang="en-US" sz="3600" b="1" dirty="0">
                <a:solidFill>
                  <a:srgbClr val="0000CC"/>
                </a:solidFill>
                <a:latin typeface="Times New Roman" pitchFamily="18" charset="0"/>
                <a:ea typeface="微软雅黑" pitchFamily="34" charset="-122"/>
                <a:cs typeface="Times New Roman" pitchFamily="18" charset="0"/>
              </a:rPr>
              <a:t>有源电阻</a:t>
            </a:r>
            <a:r>
              <a:rPr lang="en-US" altLang="zh-CN" sz="3600" b="1" dirty="0" err="1">
                <a:solidFill>
                  <a:srgbClr val="0000CC"/>
                </a:solidFill>
                <a:latin typeface="Times New Roman" pitchFamily="18" charset="0"/>
                <a:ea typeface="微软雅黑" pitchFamily="34" charset="-122"/>
                <a:cs typeface="Times New Roman" pitchFamily="18" charset="0"/>
              </a:rPr>
              <a:t>R</a:t>
            </a:r>
            <a:r>
              <a:rPr lang="en-US" altLang="zh-CN" sz="3600" b="1" baseline="-30000" dirty="0" err="1">
                <a:solidFill>
                  <a:srgbClr val="0000CC"/>
                </a:solidFill>
                <a:latin typeface="Times New Roman" pitchFamily="18" charset="0"/>
                <a:ea typeface="微软雅黑" pitchFamily="34" charset="-122"/>
                <a:cs typeface="Times New Roman" pitchFamily="18" charset="0"/>
              </a:rPr>
              <a:t>s</a:t>
            </a:r>
            <a:r>
              <a:rPr lang="zh-CN" altLang="en-US" sz="3600" b="1" dirty="0">
                <a:latin typeface="Times New Roman" pitchFamily="18" charset="0"/>
                <a:ea typeface="微软雅黑" pitchFamily="34" charset="-122"/>
                <a:cs typeface="Times New Roman" pitchFamily="18" charset="0"/>
              </a:rPr>
              <a:t>及其热噪声项，故不宜用</a:t>
            </a:r>
            <a:r>
              <a:rPr lang="en-US" altLang="zh-CN" sz="3600" b="1" dirty="0">
                <a:latin typeface="Times New Roman" pitchFamily="18" charset="0"/>
                <a:ea typeface="微软雅黑" pitchFamily="34" charset="-122"/>
                <a:cs typeface="Times New Roman" pitchFamily="18" charset="0"/>
              </a:rPr>
              <a:t>E</a:t>
            </a:r>
            <a:r>
              <a:rPr lang="en-US" altLang="zh-CN" sz="3600" b="1" baseline="-30000" dirty="0">
                <a:latin typeface="Times New Roman" pitchFamily="18" charset="0"/>
                <a:ea typeface="微软雅黑" pitchFamily="34" charset="-122"/>
                <a:cs typeface="Times New Roman" pitchFamily="18" charset="0"/>
              </a:rPr>
              <a:t>ni</a:t>
            </a:r>
            <a:r>
              <a:rPr lang="zh-CN" altLang="en-US" sz="3600" b="1" dirty="0">
                <a:latin typeface="Times New Roman" pitchFamily="18" charset="0"/>
                <a:ea typeface="微软雅黑" pitchFamily="34" charset="-122"/>
                <a:cs typeface="Times New Roman" pitchFamily="18" charset="0"/>
              </a:rPr>
              <a:t>作为衡量的指标</a:t>
            </a:r>
            <a:r>
              <a:rPr lang="zh-CN" altLang="en-US" sz="3600" b="1" dirty="0" smtClean="0">
                <a:latin typeface="Times New Roman" pitchFamily="18" charset="0"/>
                <a:ea typeface="微软雅黑" pitchFamily="34" charset="-122"/>
                <a:cs typeface="Times New Roman" pitchFamily="18" charset="0"/>
              </a:rPr>
              <a:t>。</a:t>
            </a:r>
            <a:endParaRPr lang="zh-CN" altLang="en-US" sz="3600" b="1" dirty="0">
              <a:latin typeface="Times New Roman" pitchFamily="18" charset="0"/>
              <a:ea typeface="微软雅黑" pitchFamily="34" charset="-122"/>
              <a:cs typeface="Times New Roman" pitchFamily="18" charset="0"/>
            </a:endParaRPr>
          </a:p>
        </p:txBody>
      </p:sp>
      <p:sp>
        <p:nvSpPr>
          <p:cNvPr id="3" name="TextBox 2"/>
          <p:cNvSpPr txBox="1"/>
          <p:nvPr/>
        </p:nvSpPr>
        <p:spPr>
          <a:xfrm>
            <a:off x="741529" y="2453470"/>
            <a:ext cx="9227345" cy="969506"/>
          </a:xfrm>
          <a:prstGeom prst="rect">
            <a:avLst/>
          </a:prstGeom>
          <a:noFill/>
        </p:spPr>
        <p:txBody>
          <a:bodyPr wrap="square" lIns="137169" tIns="68585" rIns="137169" bIns="68585" rtlCol="0">
            <a:spAutoFit/>
          </a:bodyPr>
          <a:lstStyle/>
          <a:p>
            <a:pPr eaLnBrk="1" hangingPunct="1">
              <a:lnSpc>
                <a:spcPct val="150000"/>
              </a:lnSpc>
              <a:buFont typeface="Wingdings" pitchFamily="2" charset="2"/>
              <a:buNone/>
            </a:pPr>
            <a:r>
              <a:rPr lang="zh-CN" altLang="en-US" sz="3600" b="1" dirty="0" smtClean="0">
                <a:latin typeface="Times New Roman" pitchFamily="18" charset="0"/>
                <a:ea typeface="微软雅黑" pitchFamily="34" charset="-122"/>
                <a:cs typeface="Times New Roman" pitchFamily="18" charset="0"/>
              </a:rPr>
              <a:t>另一方面</a:t>
            </a:r>
            <a:r>
              <a:rPr lang="zh-CN" altLang="en-US" sz="3600" b="1" dirty="0">
                <a:latin typeface="Times New Roman" pitchFamily="18" charset="0"/>
                <a:ea typeface="微软雅黑" pitchFamily="34" charset="-122"/>
                <a:cs typeface="Times New Roman" pitchFamily="18" charset="0"/>
              </a:rPr>
              <a:t>，同时用</a:t>
            </a:r>
            <a:r>
              <a:rPr lang="en-US" altLang="zh-CN" sz="3600" b="1" dirty="0">
                <a:latin typeface="Times New Roman" pitchFamily="18" charset="0"/>
                <a:ea typeface="微软雅黑" pitchFamily="34" charset="-122"/>
                <a:cs typeface="Times New Roman" pitchFamily="18" charset="0"/>
              </a:rPr>
              <a:t>E</a:t>
            </a:r>
            <a:r>
              <a:rPr lang="en-US" altLang="zh-CN" sz="3600" b="1" baseline="-30000" dirty="0">
                <a:latin typeface="Times New Roman" pitchFamily="18" charset="0"/>
                <a:ea typeface="微软雅黑" pitchFamily="34" charset="-122"/>
                <a:cs typeface="Times New Roman" pitchFamily="18" charset="0"/>
              </a:rPr>
              <a:t>n</a:t>
            </a:r>
            <a:r>
              <a:rPr lang="zh-CN" altLang="en-US" sz="3600" b="1" dirty="0">
                <a:latin typeface="Times New Roman" pitchFamily="18" charset="0"/>
                <a:ea typeface="微软雅黑" pitchFamily="34" charset="-122"/>
                <a:cs typeface="Times New Roman" pitchFamily="18" charset="0"/>
              </a:rPr>
              <a:t>、</a:t>
            </a:r>
            <a:r>
              <a:rPr lang="en-US" altLang="zh-CN" sz="3600" b="1" dirty="0">
                <a:latin typeface="Times New Roman" pitchFamily="18" charset="0"/>
                <a:ea typeface="微软雅黑" pitchFamily="34" charset="-122"/>
                <a:cs typeface="Times New Roman" pitchFamily="18" charset="0"/>
              </a:rPr>
              <a:t>I</a:t>
            </a:r>
            <a:r>
              <a:rPr lang="en-US" altLang="zh-CN" sz="3600" b="1" baseline="-30000" dirty="0">
                <a:latin typeface="Times New Roman" pitchFamily="18" charset="0"/>
                <a:ea typeface="微软雅黑" pitchFamily="34" charset="-122"/>
                <a:cs typeface="Times New Roman" pitchFamily="18" charset="0"/>
              </a:rPr>
              <a:t>n</a:t>
            </a:r>
            <a:r>
              <a:rPr lang="zh-CN" altLang="en-US" sz="3600" b="1" dirty="0">
                <a:latin typeface="Times New Roman" pitchFamily="18" charset="0"/>
                <a:ea typeface="微软雅黑" pitchFamily="34" charset="-122"/>
                <a:cs typeface="Times New Roman" pitchFamily="18" charset="0"/>
              </a:rPr>
              <a:t>来表示又比较麻烦</a:t>
            </a:r>
            <a:r>
              <a:rPr lang="zh-CN" altLang="en-US" sz="3600" b="1" dirty="0" smtClean="0">
                <a:latin typeface="Times New Roman" pitchFamily="18" charset="0"/>
                <a:ea typeface="微软雅黑" pitchFamily="34" charset="-122"/>
                <a:cs typeface="Times New Roman" pitchFamily="18" charset="0"/>
              </a:rPr>
              <a:t>。</a:t>
            </a:r>
            <a:endParaRPr lang="zh-CN" altLang="en-US" sz="3600" b="1" dirty="0">
              <a:latin typeface="Times New Roman" pitchFamily="18" charset="0"/>
              <a:ea typeface="微软雅黑" pitchFamily="34" charset="-122"/>
              <a:cs typeface="Times New Roman" pitchFamily="18" charset="0"/>
            </a:endParaRPr>
          </a:p>
        </p:txBody>
      </p:sp>
      <p:sp>
        <p:nvSpPr>
          <p:cNvPr id="4" name="TextBox 3"/>
          <p:cNvSpPr txBox="1"/>
          <p:nvPr/>
        </p:nvSpPr>
        <p:spPr>
          <a:xfrm>
            <a:off x="582622" y="3317566"/>
            <a:ext cx="12410934" cy="1800503"/>
          </a:xfrm>
          <a:prstGeom prst="rect">
            <a:avLst/>
          </a:prstGeom>
          <a:noFill/>
        </p:spPr>
        <p:txBody>
          <a:bodyPr wrap="square" lIns="137169" tIns="68585" rIns="137169" bIns="68585" rtlCol="0">
            <a:spAutoFit/>
          </a:bodyPr>
          <a:lstStyle/>
          <a:p>
            <a:pPr algn="just" eaLnBrk="1" hangingPunct="1">
              <a:lnSpc>
                <a:spcPct val="150000"/>
              </a:lnSpc>
              <a:buFont typeface="Wingdings" pitchFamily="2" charset="2"/>
              <a:buNone/>
            </a:pPr>
            <a:r>
              <a:rPr lang="zh-CN" altLang="en-US" sz="3600" b="1" dirty="0" smtClean="0">
                <a:latin typeface="微软雅黑" pitchFamily="34" charset="-122"/>
                <a:ea typeface="微软雅黑" pitchFamily="34" charset="-122"/>
              </a:rPr>
              <a:t>信噪比：电路</a:t>
            </a:r>
            <a:r>
              <a:rPr lang="zh-CN" altLang="en-US" sz="3600" b="1" dirty="0">
                <a:latin typeface="微软雅黑" pitchFamily="34" charset="-122"/>
                <a:ea typeface="微软雅黑" pitchFamily="34" charset="-122"/>
              </a:rPr>
              <a:t>信号功率与噪声功率之比</a:t>
            </a:r>
            <a:r>
              <a:rPr lang="zh-CN" altLang="en-US" sz="3600" b="1" dirty="0" smtClean="0">
                <a:latin typeface="微软雅黑" pitchFamily="34" charset="-122"/>
                <a:ea typeface="微软雅黑" pitchFamily="34" charset="-122"/>
              </a:rPr>
              <a:t>，称为信号噪声比，简称信噪比</a:t>
            </a:r>
            <a:r>
              <a:rPr lang="zh-CN" altLang="en-US" sz="3600" b="1" dirty="0">
                <a:latin typeface="微软雅黑" pitchFamily="34" charset="-122"/>
                <a:ea typeface="微软雅黑" pitchFamily="34" charset="-122"/>
              </a:rPr>
              <a:t>。</a:t>
            </a:r>
            <a:endParaRPr lang="zh-CN" altLang="en-US" sz="3600" dirty="0">
              <a:latin typeface="微软雅黑" pitchFamily="34" charset="-122"/>
              <a:ea typeface="微软雅黑" pitchFamily="34"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xmlns="" val="3341699885"/>
              </p:ext>
            </p:extLst>
          </p:nvPr>
        </p:nvGraphicFramePr>
        <p:xfrm>
          <a:off x="3510034" y="5687969"/>
          <a:ext cx="1080245" cy="1121663"/>
        </p:xfrm>
        <a:graphic>
          <a:graphicData uri="http://schemas.openxmlformats.org/presentationml/2006/ole">
            <p:oleObj spid="_x0000_s17480" r:id="rId4" imgW="203112" imgH="393529" progId="Equation.3">
              <p:embed/>
            </p:oleObj>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xmlns="" val="247810947"/>
              </p:ext>
            </p:extLst>
          </p:nvPr>
        </p:nvGraphicFramePr>
        <p:xfrm>
          <a:off x="5022377" y="5670356"/>
          <a:ext cx="1296294" cy="1156890"/>
        </p:xfrm>
        <a:graphic>
          <a:graphicData uri="http://schemas.openxmlformats.org/presentationml/2006/ole">
            <p:oleObj spid="_x0000_s17481" r:id="rId5" imgW="253780" imgH="444114" progId="Equation.3">
              <p:embed/>
            </p:oleObj>
          </a:graphicData>
        </a:graphic>
      </p:graphicFrame>
      <p:sp>
        <p:nvSpPr>
          <p:cNvPr id="7" name="TextBox 6"/>
          <p:cNvSpPr txBox="1"/>
          <p:nvPr/>
        </p:nvSpPr>
        <p:spPr>
          <a:xfrm>
            <a:off x="1565593" y="5902553"/>
            <a:ext cx="2160490" cy="692498"/>
          </a:xfrm>
          <a:prstGeom prst="rect">
            <a:avLst/>
          </a:prstGeom>
          <a:noFill/>
        </p:spPr>
        <p:txBody>
          <a:bodyPr wrap="square" lIns="137169" tIns="68585" rIns="137169" bIns="68585" rtlCol="0">
            <a:spAutoFit/>
          </a:bodyPr>
          <a:lstStyle/>
          <a:p>
            <a:r>
              <a:rPr lang="zh-CN" altLang="en-US" sz="3600" b="1" dirty="0" smtClean="0">
                <a:latin typeface="微软雅黑" pitchFamily="34" charset="-122"/>
                <a:ea typeface="微软雅黑" pitchFamily="34" charset="-122"/>
              </a:rPr>
              <a:t>表示为：</a:t>
            </a:r>
            <a:endParaRPr lang="zh-CN" altLang="en-US" sz="3600" b="1" dirty="0">
              <a:latin typeface="微软雅黑" pitchFamily="34" charset="-122"/>
              <a:ea typeface="微软雅黑" pitchFamily="34" charset="-122"/>
            </a:endParaRPr>
          </a:p>
        </p:txBody>
      </p:sp>
      <p:sp>
        <p:nvSpPr>
          <p:cNvPr id="8" name="TextBox 7"/>
          <p:cNvSpPr txBox="1"/>
          <p:nvPr/>
        </p:nvSpPr>
        <p:spPr>
          <a:xfrm>
            <a:off x="7290892" y="5261782"/>
            <a:ext cx="4753078" cy="1800503"/>
          </a:xfrm>
          <a:prstGeom prst="rect">
            <a:avLst/>
          </a:prstGeom>
          <a:solidFill>
            <a:schemeClr val="accent6">
              <a:lumMod val="60000"/>
              <a:lumOff val="40000"/>
            </a:schemeClr>
          </a:solidFill>
        </p:spPr>
        <p:txBody>
          <a:bodyPr wrap="square" lIns="137169" tIns="68585" rIns="137169" bIns="68585" rtlCol="0">
            <a:spAutoFit/>
          </a:bodyPr>
          <a:lstStyle/>
          <a:p>
            <a:pPr algn="ctr" eaLnBrk="1" hangingPunct="1">
              <a:lnSpc>
                <a:spcPct val="150000"/>
              </a:lnSpc>
              <a:buFont typeface="Wingdings" pitchFamily="2" charset="2"/>
              <a:buNone/>
            </a:pPr>
            <a:r>
              <a:rPr lang="zh-CN" altLang="en-US" sz="3600" b="1" dirty="0" smtClean="0">
                <a:latin typeface="微软雅黑" pitchFamily="34" charset="-122"/>
                <a:ea typeface="微软雅黑" pitchFamily="34" charset="-122"/>
              </a:rPr>
              <a:t>对于</a:t>
            </a:r>
            <a:r>
              <a:rPr lang="zh-CN" altLang="en-US" sz="3600" b="1" dirty="0">
                <a:latin typeface="微软雅黑" pitchFamily="34" charset="-122"/>
                <a:ea typeface="微软雅黑" pitchFamily="34" charset="-122"/>
              </a:rPr>
              <a:t>放大器，输出端的信噪比</a:t>
            </a:r>
            <a:r>
              <a:rPr lang="zh-CN" altLang="en-US" sz="3600" b="1" dirty="0" smtClean="0">
                <a:latin typeface="微软雅黑" pitchFamily="34" charset="-122"/>
                <a:ea typeface="微软雅黑" pitchFamily="34" charset="-122"/>
              </a:rPr>
              <a:t>越高越好。</a:t>
            </a:r>
            <a:endParaRPr lang="zh-CN" altLang="en-US" sz="3600" dirty="0"/>
          </a:p>
        </p:txBody>
      </p:sp>
      <p:sp>
        <p:nvSpPr>
          <p:cNvPr id="10"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11" name="矩形 10"/>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4"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6" name="矩形 15">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854132571"/>
      </p:ext>
    </p:extLst>
  </p:cSld>
  <p:clrMapOvr>
    <a:masterClrMapping/>
  </p:clrMapOvr>
  <p:transition spd="slow">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par>
                                <p:cTn id="31" presetID="53" presetClass="entr" presetSubtype="16"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fltVal val="0"/>
                                          </p:val>
                                        </p:tav>
                                        <p:tav tm="100000">
                                          <p:val>
                                            <p:strVal val="#ppt_w"/>
                                          </p:val>
                                        </p:tav>
                                      </p:tavLst>
                                    </p:anim>
                                    <p:anim calcmode="lin" valueType="num">
                                      <p:cBhvr>
                                        <p:cTn id="34" dur="500" fill="hold"/>
                                        <p:tgtEl>
                                          <p:spTgt spid="6"/>
                                        </p:tgtEl>
                                        <p:attrNameLst>
                                          <p:attrName>ppt_h</p:attrName>
                                        </p:attrNameLst>
                                      </p:cBhvr>
                                      <p:tavLst>
                                        <p:tav tm="0">
                                          <p:val>
                                            <p:fltVal val="0"/>
                                          </p:val>
                                        </p:tav>
                                        <p:tav tm="100000">
                                          <p:val>
                                            <p:strVal val="#ppt_h"/>
                                          </p:val>
                                        </p:tav>
                                      </p:tavLst>
                                    </p:anim>
                                    <p:animEffect transition="in" filter="fade">
                                      <p:cBhvr>
                                        <p:cTn id="35" dur="500"/>
                                        <p:tgtEl>
                                          <p:spTgt spid="6"/>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25471" y="1049314"/>
            <a:ext cx="3996907" cy="692498"/>
          </a:xfrm>
          <a:prstGeom prst="rect">
            <a:avLst/>
          </a:prstGeom>
          <a:noFill/>
        </p:spPr>
        <p:txBody>
          <a:bodyPr wrap="square" lIns="137169" tIns="68585" rIns="137169" bIns="68585" rtlCol="0">
            <a:spAutoFit/>
          </a:bodyPr>
          <a:lstStyle/>
          <a:p>
            <a:r>
              <a:rPr lang="zh-CN" altLang="en-US" sz="3600" b="1" dirty="0">
                <a:latin typeface="微软雅黑" pitchFamily="34" charset="-122"/>
                <a:ea typeface="微软雅黑" pitchFamily="34" charset="-122"/>
              </a:rPr>
              <a:t>定义噪声系数</a:t>
            </a:r>
            <a:r>
              <a:rPr lang="zh-CN" altLang="en-US" sz="3600" b="1" dirty="0" smtClean="0">
                <a:latin typeface="微软雅黑" pitchFamily="34" charset="-122"/>
                <a:ea typeface="微软雅黑" pitchFamily="34" charset="-122"/>
              </a:rPr>
              <a:t>：</a:t>
            </a:r>
            <a:endParaRPr lang="zh-CN" altLang="en-US" sz="3600" dirty="0"/>
          </a:p>
        </p:txBody>
      </p:sp>
      <p:graphicFrame>
        <p:nvGraphicFramePr>
          <p:cNvPr id="6" name="对象 5"/>
          <p:cNvGraphicFramePr>
            <a:graphicFrameLocks noChangeAspect="1"/>
          </p:cNvGraphicFramePr>
          <p:nvPr>
            <p:extLst>
              <p:ext uri="{D42A27DB-BD31-4B8C-83A1-F6EECF244321}">
                <p14:modId xmlns:p14="http://schemas.microsoft.com/office/powerpoint/2010/main" xmlns="" val="2104216467"/>
              </p:ext>
            </p:extLst>
          </p:nvPr>
        </p:nvGraphicFramePr>
        <p:xfrm>
          <a:off x="2645838" y="1805398"/>
          <a:ext cx="5617274" cy="1136312"/>
        </p:xfrm>
        <a:graphic>
          <a:graphicData uri="http://schemas.openxmlformats.org/presentationml/2006/ole">
            <p:oleObj spid="_x0000_s18502" name="公式" r:id="rId4" imgW="2197080" imgH="444240" progId="Equation.3">
              <p:embed/>
            </p:oleObj>
          </a:graphicData>
        </a:graphic>
      </p:graphicFrame>
      <p:sp>
        <p:nvSpPr>
          <p:cNvPr id="7" name="TextBox 6"/>
          <p:cNvSpPr txBox="1"/>
          <p:nvPr/>
        </p:nvSpPr>
        <p:spPr>
          <a:xfrm>
            <a:off x="1085507" y="3101542"/>
            <a:ext cx="4367109" cy="692498"/>
          </a:xfrm>
          <a:prstGeom prst="rect">
            <a:avLst/>
          </a:prstGeom>
          <a:noFill/>
        </p:spPr>
        <p:txBody>
          <a:bodyPr wrap="square" lIns="137169" tIns="68585" rIns="137169" bIns="68585" rtlCol="0">
            <a:spAutoFit/>
          </a:bodyPr>
          <a:lstStyle/>
          <a:p>
            <a:r>
              <a:rPr lang="zh-CN" altLang="en-US" sz="3600" b="1" dirty="0" smtClean="0">
                <a:latin typeface="微软雅黑" pitchFamily="34" charset="-122"/>
                <a:ea typeface="微软雅黑" pitchFamily="34" charset="-122"/>
              </a:rPr>
              <a:t>用分贝表示则为：</a:t>
            </a:r>
            <a:endParaRPr lang="zh-CN" altLang="en-US" sz="3600" b="1" dirty="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xmlns="" val="2968891682"/>
              </p:ext>
            </p:extLst>
          </p:nvPr>
        </p:nvGraphicFramePr>
        <p:xfrm>
          <a:off x="2474407" y="3964782"/>
          <a:ext cx="4329614" cy="1045368"/>
        </p:xfrm>
        <a:graphic>
          <a:graphicData uri="http://schemas.openxmlformats.org/presentationml/2006/ole">
            <p:oleObj spid="_x0000_s18503" name="公式" r:id="rId5" imgW="1384200" imgH="444240" progId="Equation.3">
              <p:embed/>
            </p:oleObj>
          </a:graphicData>
        </a:graphic>
      </p:graphicFrame>
      <p:sp>
        <p:nvSpPr>
          <p:cNvPr id="9" name="TextBox 8"/>
          <p:cNvSpPr txBox="1"/>
          <p:nvPr/>
        </p:nvSpPr>
        <p:spPr>
          <a:xfrm>
            <a:off x="809422" y="5153770"/>
            <a:ext cx="12295804" cy="1800503"/>
          </a:xfrm>
          <a:prstGeom prst="rect">
            <a:avLst/>
          </a:prstGeom>
          <a:noFill/>
        </p:spPr>
        <p:txBody>
          <a:bodyPr wrap="square" lIns="137169" tIns="68585" rIns="137169" bIns="68585" rtlCol="0">
            <a:spAutoFit/>
          </a:bodyPr>
          <a:lstStyle/>
          <a:p>
            <a:pPr>
              <a:lnSpc>
                <a:spcPct val="150000"/>
              </a:lnSpc>
            </a:pPr>
            <a:r>
              <a:rPr lang="zh-CN" altLang="en-US" sz="3600" b="1" dirty="0" smtClean="0">
                <a:latin typeface="微软雅黑" pitchFamily="34" charset="-122"/>
                <a:ea typeface="微软雅黑" pitchFamily="34" charset="-122"/>
                <a:cs typeface="Times New Roman" pitchFamily="18" charset="0"/>
              </a:rPr>
              <a:t>        放大器</a:t>
            </a:r>
            <a:r>
              <a:rPr lang="zh-CN" altLang="en-US" sz="3600" b="1" dirty="0">
                <a:latin typeface="微软雅黑" pitchFamily="34" charset="-122"/>
                <a:ea typeface="微软雅黑" pitchFamily="34" charset="-122"/>
                <a:cs typeface="Times New Roman" pitchFamily="18" charset="0"/>
              </a:rPr>
              <a:t>的噪声系数的定义表示</a:t>
            </a:r>
            <a:r>
              <a:rPr lang="zh-CN" altLang="en-US" sz="3600" b="1" dirty="0">
                <a:solidFill>
                  <a:srgbClr val="FF0000"/>
                </a:solidFill>
                <a:latin typeface="微软雅黑" pitchFamily="34" charset="-122"/>
                <a:ea typeface="微软雅黑" pitchFamily="34" charset="-122"/>
                <a:cs typeface="Times New Roman" pitchFamily="18" charset="0"/>
              </a:rPr>
              <a:t>信号通过放大器</a:t>
            </a:r>
            <a:r>
              <a:rPr lang="zh-CN" altLang="en-US" sz="3600" b="1" dirty="0">
                <a:latin typeface="微软雅黑" pitchFamily="34" charset="-122"/>
                <a:ea typeface="微软雅黑" pitchFamily="34" charset="-122"/>
                <a:cs typeface="Times New Roman" pitchFamily="18" charset="0"/>
              </a:rPr>
              <a:t>后，信噪比</a:t>
            </a:r>
            <a:r>
              <a:rPr lang="zh-CN" altLang="en-US" sz="3600" b="1" dirty="0">
                <a:solidFill>
                  <a:srgbClr val="0000CC"/>
                </a:solidFill>
                <a:latin typeface="微软雅黑" pitchFamily="34" charset="-122"/>
                <a:ea typeface="微软雅黑" pitchFamily="34" charset="-122"/>
                <a:cs typeface="Times New Roman" pitchFamily="18" charset="0"/>
              </a:rPr>
              <a:t>变坏</a:t>
            </a:r>
            <a:r>
              <a:rPr lang="zh-CN" altLang="en-US" sz="3600" b="1" dirty="0">
                <a:latin typeface="微软雅黑" pitchFamily="34" charset="-122"/>
                <a:ea typeface="微软雅黑" pitchFamily="34" charset="-122"/>
                <a:cs typeface="Times New Roman" pitchFamily="18" charset="0"/>
              </a:rPr>
              <a:t>的</a:t>
            </a:r>
            <a:r>
              <a:rPr lang="zh-CN" altLang="en-US" sz="3600" b="1" dirty="0" smtClean="0">
                <a:latin typeface="微软雅黑" pitchFamily="34" charset="-122"/>
                <a:ea typeface="微软雅黑" pitchFamily="34" charset="-122"/>
                <a:cs typeface="Times New Roman" pitchFamily="18" charset="0"/>
              </a:rPr>
              <a:t>程度。 </a:t>
            </a:r>
            <a:endParaRPr lang="zh-CN" altLang="en-US" sz="3600" dirty="0">
              <a:latin typeface="微软雅黑" pitchFamily="34" charset="-122"/>
              <a:ea typeface="微软雅黑" pitchFamily="34" charset="-122"/>
            </a:endParaRPr>
          </a:p>
        </p:txBody>
      </p:sp>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12" name="矩形 11"/>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493830091"/>
      </p:ext>
    </p:extLst>
  </p:cSld>
  <p:clrMapOvr>
    <a:masterClrMapping/>
  </p:clrMapOvr>
  <p:transition spd="slow">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bwMode="auto">
          <a:xfrm>
            <a:off x="485349" y="1157325"/>
            <a:ext cx="12855476" cy="5616624"/>
          </a:xfrm>
          <a:noFill/>
          <a:ln>
            <a:miter lim="800000"/>
            <a:headEnd/>
            <a:tailEnd/>
          </a:ln>
        </p:spPr>
        <p:txBody>
          <a:bodyPr vert="horz" wrap="square" lIns="137165" tIns="68583" rIns="137165" bIns="68583" numCol="1" anchor="t" anchorCtr="0" compatLnSpc="1">
            <a:prstTxWarp prst="textNoShape">
              <a:avLst/>
            </a:prstTxWarp>
          </a:bodyPr>
          <a:lstStyle/>
          <a:p>
            <a:pPr>
              <a:lnSpc>
                <a:spcPct val="150000"/>
              </a:lnSpc>
              <a:spcBef>
                <a:spcPts val="0"/>
              </a:spcBef>
              <a:buFont typeface="Wingdings" pitchFamily="2" charset="2"/>
              <a:buChar char="n"/>
            </a:pPr>
            <a:r>
              <a:rPr lang="zh-CN" altLang="en-US" sz="3000" b="1" dirty="0" smtClean="0">
                <a:latin typeface="Times New Roman" pitchFamily="18" charset="0"/>
                <a:ea typeface="微软雅黑" pitchFamily="34" charset="-122"/>
                <a:cs typeface="Times New Roman" pitchFamily="18" charset="0"/>
              </a:rPr>
              <a:t>信号</a:t>
            </a:r>
            <a:r>
              <a:rPr lang="zh-CN" altLang="en-US" sz="3000" b="1" dirty="0">
                <a:latin typeface="Times New Roman" pitchFamily="18" charset="0"/>
                <a:ea typeface="微软雅黑" pitchFamily="34" charset="-122"/>
                <a:cs typeface="Times New Roman" pitchFamily="18" charset="0"/>
              </a:rPr>
              <a:t>通过放大器后，若放大器</a:t>
            </a:r>
            <a:r>
              <a:rPr lang="zh-CN" altLang="en-US" sz="3000" b="1" dirty="0">
                <a:solidFill>
                  <a:srgbClr val="0000CC"/>
                </a:solidFill>
                <a:latin typeface="Times New Roman" pitchFamily="18" charset="0"/>
                <a:ea typeface="微软雅黑" pitchFamily="34" charset="-122"/>
                <a:cs typeface="Times New Roman" pitchFamily="18" charset="0"/>
              </a:rPr>
              <a:t>无滤波功能</a:t>
            </a:r>
            <a:r>
              <a:rPr lang="zh-CN" altLang="en-US" sz="3000" b="1" dirty="0">
                <a:latin typeface="Times New Roman" pitchFamily="18" charset="0"/>
                <a:ea typeface="微软雅黑" pitchFamily="34" charset="-122"/>
                <a:cs typeface="Times New Roman" pitchFamily="18" charset="0"/>
              </a:rPr>
              <a:t>，则信号和噪声都同样放大了，放大器本身也有噪声，</a:t>
            </a:r>
            <a:r>
              <a:rPr lang="zh-CN" altLang="en-US" sz="3000" b="1" dirty="0">
                <a:solidFill>
                  <a:srgbClr val="0000CC"/>
                </a:solidFill>
                <a:latin typeface="Times New Roman" pitchFamily="18" charset="0"/>
                <a:ea typeface="微软雅黑" pitchFamily="34" charset="-122"/>
                <a:cs typeface="Times New Roman" pitchFamily="18" charset="0"/>
              </a:rPr>
              <a:t>信噪比不可能变好</a:t>
            </a:r>
            <a:r>
              <a:rPr lang="zh-CN" altLang="en-US" sz="3000" b="1" dirty="0" smtClean="0">
                <a:latin typeface="Times New Roman" pitchFamily="18" charset="0"/>
                <a:ea typeface="微软雅黑" pitchFamily="34" charset="-122"/>
                <a:cs typeface="Times New Roman" pitchFamily="18" charset="0"/>
              </a:rPr>
              <a:t>。</a:t>
            </a:r>
            <a:endParaRPr lang="en-US" altLang="zh-CN" sz="3000" b="1" dirty="0" smtClean="0">
              <a:latin typeface="Times New Roman" pitchFamily="18" charset="0"/>
              <a:ea typeface="微软雅黑" pitchFamily="34" charset="-122"/>
              <a:cs typeface="Times New Roman" pitchFamily="18" charset="0"/>
            </a:endParaRPr>
          </a:p>
          <a:p>
            <a:pPr>
              <a:lnSpc>
                <a:spcPct val="150000"/>
              </a:lnSpc>
              <a:spcBef>
                <a:spcPts val="0"/>
              </a:spcBef>
              <a:buFont typeface="Wingdings" pitchFamily="2" charset="2"/>
              <a:buChar char="n"/>
            </a:pPr>
            <a:r>
              <a:rPr lang="zh-CN" altLang="en-US" sz="3000" b="1" dirty="0" smtClean="0">
                <a:latin typeface="Times New Roman" pitchFamily="18" charset="0"/>
                <a:ea typeface="微软雅黑" pitchFamily="34" charset="-122"/>
                <a:cs typeface="Times New Roman" pitchFamily="18" charset="0"/>
              </a:rPr>
              <a:t>如果</a:t>
            </a:r>
            <a:r>
              <a:rPr lang="zh-CN" altLang="en-US" sz="3000" b="1" dirty="0">
                <a:latin typeface="Times New Roman" pitchFamily="18" charset="0"/>
                <a:ea typeface="微软雅黑" pitchFamily="34" charset="-122"/>
                <a:cs typeface="Times New Roman" pitchFamily="18" charset="0"/>
              </a:rPr>
              <a:t>放大器是理想的（无噪声）线性网络，输入端的信号与噪声得到同样的放大，即输出端的信噪比与输入端的信噪比相同，则：</a:t>
            </a:r>
            <a:r>
              <a:rPr lang="en-US" altLang="zh-CN" sz="3000" b="1" dirty="0" smtClean="0">
                <a:latin typeface="Times New Roman" pitchFamily="18" charset="0"/>
                <a:ea typeface="微软雅黑" pitchFamily="34" charset="-122"/>
                <a:cs typeface="Times New Roman" pitchFamily="18" charset="0"/>
              </a:rPr>
              <a:t>NF=1  </a:t>
            </a:r>
            <a:r>
              <a:rPr lang="zh-CN" altLang="en-US" sz="3000" b="1" dirty="0">
                <a:latin typeface="Times New Roman" pitchFamily="18" charset="0"/>
                <a:ea typeface="微软雅黑" pitchFamily="34" charset="-122"/>
                <a:cs typeface="Times New Roman" pitchFamily="18" charset="0"/>
              </a:rPr>
              <a:t>或  </a:t>
            </a:r>
            <a:r>
              <a:rPr lang="en-US" altLang="zh-CN" sz="3000" b="1" dirty="0" smtClean="0">
                <a:latin typeface="Times New Roman" pitchFamily="18" charset="0"/>
                <a:ea typeface="微软雅黑" pitchFamily="34" charset="-122"/>
                <a:cs typeface="Times New Roman" pitchFamily="18" charset="0"/>
              </a:rPr>
              <a:t>NF=0dB</a:t>
            </a:r>
            <a:r>
              <a:rPr lang="zh-CN" altLang="en-US" sz="3000" b="1" dirty="0" smtClean="0">
                <a:latin typeface="Times New Roman" pitchFamily="18" charset="0"/>
                <a:ea typeface="微软雅黑" pitchFamily="34" charset="-122"/>
                <a:cs typeface="Times New Roman" pitchFamily="18" charset="0"/>
              </a:rPr>
              <a:t>。</a:t>
            </a:r>
            <a:endParaRPr lang="en-US" altLang="zh-CN" sz="3000" b="1" dirty="0" smtClean="0">
              <a:latin typeface="Times New Roman" pitchFamily="18" charset="0"/>
              <a:ea typeface="微软雅黑" pitchFamily="34" charset="-122"/>
              <a:cs typeface="Times New Roman" pitchFamily="18" charset="0"/>
            </a:endParaRPr>
          </a:p>
          <a:p>
            <a:pPr>
              <a:lnSpc>
                <a:spcPct val="150000"/>
              </a:lnSpc>
              <a:spcBef>
                <a:spcPts val="0"/>
              </a:spcBef>
              <a:buFont typeface="Wingdings" pitchFamily="2" charset="2"/>
              <a:buChar char="n"/>
            </a:pPr>
            <a:r>
              <a:rPr lang="zh-CN" altLang="en-US" sz="3000" b="1" dirty="0" smtClean="0">
                <a:latin typeface="Times New Roman" pitchFamily="18" charset="0"/>
                <a:ea typeface="微软雅黑" pitchFamily="34" charset="-122"/>
                <a:cs typeface="Times New Roman" pitchFamily="18" charset="0"/>
              </a:rPr>
              <a:t>如果</a:t>
            </a:r>
            <a:r>
              <a:rPr lang="zh-CN" altLang="en-US" sz="3000" b="1" dirty="0">
                <a:latin typeface="Times New Roman" pitchFamily="18" charset="0"/>
                <a:ea typeface="微软雅黑" pitchFamily="34" charset="-122"/>
                <a:cs typeface="Times New Roman" pitchFamily="18" charset="0"/>
              </a:rPr>
              <a:t>放大器本身有噪声，则输出噪声功率等于放大后的输入噪声功率和放大器本身的噪声功率之和，对这样的放大器，信号经放大后，</a:t>
            </a:r>
            <a:r>
              <a:rPr lang="zh-CN" altLang="en-US" sz="3000" b="1" dirty="0">
                <a:solidFill>
                  <a:srgbClr val="0000CC"/>
                </a:solidFill>
                <a:latin typeface="Times New Roman" pitchFamily="18" charset="0"/>
                <a:ea typeface="微软雅黑" pitchFamily="34" charset="-122"/>
                <a:cs typeface="Times New Roman" pitchFamily="18" charset="0"/>
              </a:rPr>
              <a:t>输出端的信噪比就比输入端的信噪比低</a:t>
            </a:r>
            <a:r>
              <a:rPr lang="zh-CN" altLang="en-US" sz="3000" b="1" dirty="0">
                <a:latin typeface="Times New Roman" pitchFamily="18" charset="0"/>
                <a:ea typeface="微软雅黑" pitchFamily="34" charset="-122"/>
                <a:cs typeface="Times New Roman" pitchFamily="18" charset="0"/>
              </a:rPr>
              <a:t>，则</a:t>
            </a:r>
            <a:r>
              <a:rPr lang="en-US" altLang="zh-CN" sz="3000" b="1" dirty="0">
                <a:latin typeface="Times New Roman" pitchFamily="18" charset="0"/>
                <a:ea typeface="微软雅黑" pitchFamily="34" charset="-122"/>
                <a:cs typeface="Times New Roman" pitchFamily="18" charset="0"/>
              </a:rPr>
              <a:t>NF&gt;1</a:t>
            </a:r>
            <a:r>
              <a:rPr lang="zh-CN" altLang="en-US" sz="3000" b="1" dirty="0">
                <a:latin typeface="Times New Roman" pitchFamily="18" charset="0"/>
                <a:ea typeface="微软雅黑" pitchFamily="34" charset="-122"/>
                <a:cs typeface="Times New Roman" pitchFamily="18" charset="0"/>
              </a:rPr>
              <a:t>。</a:t>
            </a:r>
          </a:p>
        </p:txBody>
      </p:sp>
      <p:sp>
        <p:nvSpPr>
          <p:cNvPr id="4"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5" name="矩形 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 name="矩形 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0" name="矩形 9">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 calcmode="lin" valueType="num">
                                      <p:cBhvr>
                                        <p:cTn id="7" dur="500" fill="hold"/>
                                        <p:tgtEl>
                                          <p:spTgt spid="3072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72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072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722">
                                            <p:txEl>
                                              <p:pRg st="1" end="1"/>
                                            </p:txEl>
                                          </p:spTgt>
                                        </p:tgtEl>
                                        <p:attrNameLst>
                                          <p:attrName>style.visibility</p:attrName>
                                        </p:attrNameLst>
                                      </p:cBhvr>
                                      <p:to>
                                        <p:strVal val="visible"/>
                                      </p:to>
                                    </p:set>
                                    <p:anim calcmode="lin" valueType="num">
                                      <p:cBhvr>
                                        <p:cTn id="14" dur="500" fill="hold"/>
                                        <p:tgtEl>
                                          <p:spTgt spid="3072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072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072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0722">
                                            <p:txEl>
                                              <p:pRg st="2" end="2"/>
                                            </p:txEl>
                                          </p:spTgt>
                                        </p:tgtEl>
                                        <p:attrNameLst>
                                          <p:attrName>style.visibility</p:attrName>
                                        </p:attrNameLst>
                                      </p:cBhvr>
                                      <p:to>
                                        <p:strVal val="visible"/>
                                      </p:to>
                                    </p:set>
                                    <p:anim calcmode="lin" valueType="num">
                                      <p:cBhvr>
                                        <p:cTn id="21" dur="500" fill="hold"/>
                                        <p:tgtEl>
                                          <p:spTgt spid="3072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072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07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4"/>
          <p:cNvGraphicFramePr>
            <a:graphicFrameLocks noChangeAspect="1"/>
          </p:cNvGraphicFramePr>
          <p:nvPr>
            <p:extLst>
              <p:ext uri="{D42A27DB-BD31-4B8C-83A1-F6EECF244321}">
                <p14:modId xmlns:p14="http://schemas.microsoft.com/office/powerpoint/2010/main" xmlns="" val="95039326"/>
              </p:ext>
            </p:extLst>
          </p:nvPr>
        </p:nvGraphicFramePr>
        <p:xfrm>
          <a:off x="2423221" y="3857625"/>
          <a:ext cx="8178194" cy="1581630"/>
        </p:xfrm>
        <a:graphic>
          <a:graphicData uri="http://schemas.openxmlformats.org/presentationml/2006/ole">
            <p:oleObj spid="_x0000_s6266" r:id="rId4" imgW="2679700" imgH="901700" progId="Equation.3">
              <p:embed/>
            </p:oleObj>
          </a:graphicData>
        </a:graphic>
      </p:graphicFrame>
      <p:graphicFrame>
        <p:nvGraphicFramePr>
          <p:cNvPr id="6147" name="Object 6"/>
          <p:cNvGraphicFramePr>
            <a:graphicFrameLocks noChangeAspect="1"/>
          </p:cNvGraphicFramePr>
          <p:nvPr>
            <p:extLst>
              <p:ext uri="{D42A27DB-BD31-4B8C-83A1-F6EECF244321}">
                <p14:modId xmlns:p14="http://schemas.microsoft.com/office/powerpoint/2010/main" xmlns="" val="2245281282"/>
              </p:ext>
            </p:extLst>
          </p:nvPr>
        </p:nvGraphicFramePr>
        <p:xfrm>
          <a:off x="2429790" y="5816931"/>
          <a:ext cx="2950711" cy="1028700"/>
        </p:xfrm>
        <a:graphic>
          <a:graphicData uri="http://schemas.openxmlformats.org/presentationml/2006/ole">
            <p:oleObj spid="_x0000_s6267" r:id="rId5" imgW="889000" imgH="457200" progId="Equation.3">
              <p:embed/>
            </p:oleObj>
          </a:graphicData>
        </a:graphic>
      </p:graphicFrame>
      <p:graphicFrame>
        <p:nvGraphicFramePr>
          <p:cNvPr id="6148" name="Object 8"/>
          <p:cNvGraphicFramePr>
            <a:graphicFrameLocks noChangeAspect="1"/>
          </p:cNvGraphicFramePr>
          <p:nvPr>
            <p:extLst>
              <p:ext uri="{D42A27DB-BD31-4B8C-83A1-F6EECF244321}">
                <p14:modId xmlns:p14="http://schemas.microsoft.com/office/powerpoint/2010/main" xmlns="" val="177541058"/>
              </p:ext>
            </p:extLst>
          </p:nvPr>
        </p:nvGraphicFramePr>
        <p:xfrm>
          <a:off x="7831014" y="5818717"/>
          <a:ext cx="2743518" cy="1025129"/>
        </p:xfrm>
        <a:graphic>
          <a:graphicData uri="http://schemas.openxmlformats.org/presentationml/2006/ole">
            <p:oleObj spid="_x0000_s6268" r:id="rId6" imgW="685502" imgH="444307" progId="Equation.3">
              <p:embed/>
            </p:oleObj>
          </a:graphicData>
        </a:graphic>
      </p:graphicFrame>
      <p:sp>
        <p:nvSpPr>
          <p:cNvPr id="6149" name="Rectangle 10"/>
          <p:cNvSpPr>
            <a:spLocks noChangeArrowheads="1"/>
          </p:cNvSpPr>
          <p:nvPr/>
        </p:nvSpPr>
        <p:spPr bwMode="auto">
          <a:xfrm>
            <a:off x="809422" y="1049313"/>
            <a:ext cx="12098745" cy="2484276"/>
          </a:xfrm>
          <a:prstGeom prst="rect">
            <a:avLst/>
          </a:prstGeom>
          <a:noFill/>
          <a:ln w="9525">
            <a:noFill/>
            <a:miter lim="800000"/>
            <a:headEnd/>
            <a:tailEnd/>
          </a:ln>
        </p:spPr>
        <p:txBody>
          <a:bodyPr lIns="137165" tIns="68583" rIns="137165" bIns="68583"/>
          <a:lstStyle/>
          <a:p>
            <a:pPr algn="just">
              <a:lnSpc>
                <a:spcPct val="150000"/>
              </a:lnSpc>
              <a:spcBef>
                <a:spcPts val="0"/>
              </a:spcBef>
              <a:buClr>
                <a:schemeClr val="folHlink"/>
              </a:buClr>
              <a:buSzPct val="60000"/>
            </a:pPr>
            <a:r>
              <a:rPr lang="zh-CN" altLang="en-US" sz="3600" b="1" dirty="0" smtClean="0">
                <a:latin typeface="Times New Roman" pitchFamily="18" charset="0"/>
                <a:ea typeface="微软雅黑" pitchFamily="34" charset="-122"/>
                <a:cs typeface="Times New Roman" pitchFamily="18" charset="0"/>
              </a:rPr>
              <a:t>            由</a:t>
            </a:r>
            <a:r>
              <a:rPr lang="en-US" altLang="zh-CN" sz="3600" b="1" dirty="0" smtClean="0">
                <a:latin typeface="Times New Roman" pitchFamily="18" charset="0"/>
                <a:ea typeface="微软雅黑" pitchFamily="34" charset="-122"/>
                <a:cs typeface="Times New Roman" pitchFamily="18" charset="0"/>
              </a:rPr>
              <a:t>NF</a:t>
            </a:r>
            <a:r>
              <a:rPr lang="zh-CN" altLang="en-US" sz="3600" b="1" dirty="0" smtClean="0">
                <a:latin typeface="Times New Roman" pitchFamily="18" charset="0"/>
                <a:ea typeface="微软雅黑" pitchFamily="34" charset="-122"/>
                <a:cs typeface="Times New Roman" pitchFamily="18" charset="0"/>
              </a:rPr>
              <a:t>的</a:t>
            </a:r>
            <a:r>
              <a:rPr lang="zh-CN" altLang="en-US" sz="3600" b="1" dirty="0">
                <a:latin typeface="Times New Roman" pitchFamily="18" charset="0"/>
                <a:ea typeface="微软雅黑" pitchFamily="34" charset="-122"/>
                <a:cs typeface="Times New Roman" pitchFamily="18" charset="0"/>
              </a:rPr>
              <a:t>定义，且输入端的信号功率</a:t>
            </a:r>
            <a:r>
              <a:rPr lang="en-US" altLang="zh-CN" sz="3600" b="1" dirty="0">
                <a:latin typeface="Times New Roman" pitchFamily="18" charset="0"/>
                <a:ea typeface="微软雅黑" pitchFamily="34" charset="-122"/>
                <a:cs typeface="Times New Roman" pitchFamily="18" charset="0"/>
              </a:rPr>
              <a:t>P</a:t>
            </a:r>
            <a:r>
              <a:rPr lang="en-US" altLang="zh-CN" sz="3600" b="1" baseline="-30000" dirty="0">
                <a:latin typeface="Times New Roman" pitchFamily="18" charset="0"/>
                <a:ea typeface="微软雅黑" pitchFamily="34" charset="-122"/>
                <a:cs typeface="Times New Roman" pitchFamily="18" charset="0"/>
              </a:rPr>
              <a:t>si</a:t>
            </a:r>
            <a:r>
              <a:rPr lang="zh-CN" altLang="en-US" sz="3600" b="1" dirty="0">
                <a:latin typeface="Times New Roman" pitchFamily="18" charset="0"/>
                <a:ea typeface="微软雅黑" pitchFamily="34" charset="-122"/>
                <a:cs typeface="Times New Roman" pitchFamily="18" charset="0"/>
              </a:rPr>
              <a:t>和噪声功率</a:t>
            </a:r>
            <a:r>
              <a:rPr lang="en-US" altLang="zh-CN" sz="3600" b="1" dirty="0" err="1">
                <a:latin typeface="Times New Roman" pitchFamily="18" charset="0"/>
                <a:ea typeface="微软雅黑" pitchFamily="34" charset="-122"/>
                <a:cs typeface="Times New Roman" pitchFamily="18" charset="0"/>
              </a:rPr>
              <a:t>P</a:t>
            </a:r>
            <a:r>
              <a:rPr lang="en-US" altLang="zh-CN" sz="3600" b="1" baseline="-30000" dirty="0" err="1">
                <a:latin typeface="Times New Roman" pitchFamily="18" charset="0"/>
                <a:ea typeface="微软雅黑" pitchFamily="34" charset="-122"/>
                <a:cs typeface="Times New Roman" pitchFamily="18" charset="0"/>
              </a:rPr>
              <a:t>ni</a:t>
            </a:r>
            <a:r>
              <a:rPr lang="zh-CN" altLang="en-US" sz="3600" b="1" dirty="0">
                <a:latin typeface="Times New Roman" pitchFamily="18" charset="0"/>
                <a:ea typeface="微软雅黑" pitchFamily="34" charset="-122"/>
                <a:cs typeface="Times New Roman" pitchFamily="18" charset="0"/>
              </a:rPr>
              <a:t>分别由输入信号源的信号电压</a:t>
            </a:r>
            <a:r>
              <a:rPr lang="en-US" altLang="zh-CN" sz="3600" b="1" dirty="0" err="1">
                <a:latin typeface="Times New Roman" pitchFamily="18" charset="0"/>
                <a:ea typeface="微软雅黑" pitchFamily="34" charset="-122"/>
                <a:cs typeface="Times New Roman" pitchFamily="18" charset="0"/>
              </a:rPr>
              <a:t>V</a:t>
            </a:r>
            <a:r>
              <a:rPr lang="en-US" altLang="zh-CN" sz="3600" b="1" baseline="-30000" dirty="0" err="1">
                <a:latin typeface="Times New Roman" pitchFamily="18" charset="0"/>
                <a:ea typeface="微软雅黑" pitchFamily="34" charset="-122"/>
                <a:cs typeface="Times New Roman" pitchFamily="18" charset="0"/>
              </a:rPr>
              <a:t>s</a:t>
            </a:r>
            <a:r>
              <a:rPr lang="zh-CN" altLang="en-US" sz="3600" b="1" dirty="0">
                <a:latin typeface="Times New Roman" pitchFamily="18" charset="0"/>
                <a:ea typeface="微软雅黑" pitchFamily="34" charset="-122"/>
                <a:cs typeface="Times New Roman" pitchFamily="18" charset="0"/>
              </a:rPr>
              <a:t>和其内阻</a:t>
            </a:r>
            <a:r>
              <a:rPr lang="en-US" altLang="zh-CN" sz="3600" b="1" dirty="0" err="1">
                <a:latin typeface="Times New Roman" pitchFamily="18" charset="0"/>
                <a:ea typeface="微软雅黑" pitchFamily="34" charset="-122"/>
                <a:cs typeface="Times New Roman" pitchFamily="18" charset="0"/>
              </a:rPr>
              <a:t>R</a:t>
            </a:r>
            <a:r>
              <a:rPr lang="en-US" altLang="zh-CN" sz="3600" b="1" baseline="-30000" dirty="0" err="1">
                <a:latin typeface="Times New Roman" pitchFamily="18" charset="0"/>
                <a:ea typeface="微软雅黑" pitchFamily="34" charset="-122"/>
                <a:cs typeface="Times New Roman" pitchFamily="18" charset="0"/>
              </a:rPr>
              <a:t>s</a:t>
            </a:r>
            <a:r>
              <a:rPr lang="zh-CN" altLang="en-US" sz="3600" b="1" dirty="0">
                <a:latin typeface="Times New Roman" pitchFamily="18" charset="0"/>
                <a:ea typeface="微软雅黑" pitchFamily="34" charset="-122"/>
                <a:cs typeface="Times New Roman" pitchFamily="18" charset="0"/>
              </a:rPr>
              <a:t>的热噪声所产生，噪声系数也可以写成另一种形式：</a:t>
            </a:r>
          </a:p>
        </p:txBody>
      </p:sp>
      <p:sp>
        <p:nvSpPr>
          <p:cNvPr id="6150" name="Text Box 11"/>
          <p:cNvSpPr txBox="1">
            <a:spLocks noChangeArrowheads="1"/>
          </p:cNvSpPr>
          <p:nvPr/>
        </p:nvSpPr>
        <p:spPr bwMode="auto">
          <a:xfrm>
            <a:off x="6096855" y="6031200"/>
            <a:ext cx="831007" cy="600170"/>
          </a:xfrm>
          <a:prstGeom prst="rect">
            <a:avLst/>
          </a:prstGeom>
          <a:solidFill>
            <a:srgbClr val="FFFF66"/>
          </a:solidFill>
          <a:ln w="9525">
            <a:noFill/>
            <a:miter lim="800000"/>
            <a:headEnd/>
            <a:tailEnd/>
          </a:ln>
        </p:spPr>
        <p:txBody>
          <a:bodyPr vert="eaVert" wrap="none" lIns="137165" tIns="68583" rIns="137165" bIns="68583">
            <a:spAutoFit/>
          </a:bodyPr>
          <a:lstStyle/>
          <a:p>
            <a:r>
              <a:rPr kumimoji="1" lang="zh-CN" altLang="en-US" sz="3600" dirty="0">
                <a:latin typeface="Times New Roman" pitchFamily="18" charset="0"/>
              </a:rPr>
              <a:t>或</a:t>
            </a:r>
          </a:p>
        </p:txBody>
      </p:sp>
      <p:sp>
        <p:nvSpPr>
          <p:cNvPr id="8"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9" name="矩形 8"/>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0" name="矩形 9">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2"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4" name="矩形 13">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 calcmode="lin" valueType="num">
                                      <p:cBhvr>
                                        <p:cTn id="7" dur="500" fill="hold"/>
                                        <p:tgtEl>
                                          <p:spTgt spid="6149"/>
                                        </p:tgtEl>
                                        <p:attrNameLst>
                                          <p:attrName>ppt_w</p:attrName>
                                        </p:attrNameLst>
                                      </p:cBhvr>
                                      <p:tavLst>
                                        <p:tav tm="0">
                                          <p:val>
                                            <p:fltVal val="0"/>
                                          </p:val>
                                        </p:tav>
                                        <p:tav tm="100000">
                                          <p:val>
                                            <p:strVal val="#ppt_w"/>
                                          </p:val>
                                        </p:tav>
                                      </p:tavLst>
                                    </p:anim>
                                    <p:anim calcmode="lin" valueType="num">
                                      <p:cBhvr>
                                        <p:cTn id="8" dur="500" fill="hold"/>
                                        <p:tgtEl>
                                          <p:spTgt spid="6149"/>
                                        </p:tgtEl>
                                        <p:attrNameLst>
                                          <p:attrName>ppt_h</p:attrName>
                                        </p:attrNameLst>
                                      </p:cBhvr>
                                      <p:tavLst>
                                        <p:tav tm="0">
                                          <p:val>
                                            <p:fltVal val="0"/>
                                          </p:val>
                                        </p:tav>
                                        <p:tav tm="100000">
                                          <p:val>
                                            <p:strVal val="#ppt_h"/>
                                          </p:val>
                                        </p:tav>
                                      </p:tavLst>
                                    </p:anim>
                                    <p:animEffect transition="in" filter="fade">
                                      <p:cBhvr>
                                        <p:cTn id="9" dur="500"/>
                                        <p:tgtEl>
                                          <p:spTgt spid="614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146"/>
                                        </p:tgtEl>
                                        <p:attrNameLst>
                                          <p:attrName>style.visibility</p:attrName>
                                        </p:attrNameLst>
                                      </p:cBhvr>
                                      <p:to>
                                        <p:strVal val="visible"/>
                                      </p:to>
                                    </p:set>
                                    <p:anim calcmode="lin" valueType="num">
                                      <p:cBhvr>
                                        <p:cTn id="14" dur="500" fill="hold"/>
                                        <p:tgtEl>
                                          <p:spTgt spid="6146"/>
                                        </p:tgtEl>
                                        <p:attrNameLst>
                                          <p:attrName>ppt_w</p:attrName>
                                        </p:attrNameLst>
                                      </p:cBhvr>
                                      <p:tavLst>
                                        <p:tav tm="0">
                                          <p:val>
                                            <p:fltVal val="0"/>
                                          </p:val>
                                        </p:tav>
                                        <p:tav tm="100000">
                                          <p:val>
                                            <p:strVal val="#ppt_w"/>
                                          </p:val>
                                        </p:tav>
                                      </p:tavLst>
                                    </p:anim>
                                    <p:anim calcmode="lin" valueType="num">
                                      <p:cBhvr>
                                        <p:cTn id="15" dur="500" fill="hold"/>
                                        <p:tgtEl>
                                          <p:spTgt spid="6146"/>
                                        </p:tgtEl>
                                        <p:attrNameLst>
                                          <p:attrName>ppt_h</p:attrName>
                                        </p:attrNameLst>
                                      </p:cBhvr>
                                      <p:tavLst>
                                        <p:tav tm="0">
                                          <p:val>
                                            <p:fltVal val="0"/>
                                          </p:val>
                                        </p:tav>
                                        <p:tav tm="100000">
                                          <p:val>
                                            <p:strVal val="#ppt_h"/>
                                          </p:val>
                                        </p:tav>
                                      </p:tavLst>
                                    </p:anim>
                                    <p:animEffect transition="in" filter="fade">
                                      <p:cBhvr>
                                        <p:cTn id="16" dur="500"/>
                                        <p:tgtEl>
                                          <p:spTgt spid="614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147"/>
                                        </p:tgtEl>
                                        <p:attrNameLst>
                                          <p:attrName>style.visibility</p:attrName>
                                        </p:attrNameLst>
                                      </p:cBhvr>
                                      <p:to>
                                        <p:strVal val="visible"/>
                                      </p:to>
                                    </p:set>
                                    <p:anim calcmode="lin" valueType="num">
                                      <p:cBhvr>
                                        <p:cTn id="21" dur="500" fill="hold"/>
                                        <p:tgtEl>
                                          <p:spTgt spid="6147"/>
                                        </p:tgtEl>
                                        <p:attrNameLst>
                                          <p:attrName>ppt_w</p:attrName>
                                        </p:attrNameLst>
                                      </p:cBhvr>
                                      <p:tavLst>
                                        <p:tav tm="0">
                                          <p:val>
                                            <p:fltVal val="0"/>
                                          </p:val>
                                        </p:tav>
                                        <p:tav tm="100000">
                                          <p:val>
                                            <p:strVal val="#ppt_w"/>
                                          </p:val>
                                        </p:tav>
                                      </p:tavLst>
                                    </p:anim>
                                    <p:anim calcmode="lin" valueType="num">
                                      <p:cBhvr>
                                        <p:cTn id="22" dur="500" fill="hold"/>
                                        <p:tgtEl>
                                          <p:spTgt spid="6147"/>
                                        </p:tgtEl>
                                        <p:attrNameLst>
                                          <p:attrName>ppt_h</p:attrName>
                                        </p:attrNameLst>
                                      </p:cBhvr>
                                      <p:tavLst>
                                        <p:tav tm="0">
                                          <p:val>
                                            <p:fltVal val="0"/>
                                          </p:val>
                                        </p:tav>
                                        <p:tav tm="100000">
                                          <p:val>
                                            <p:strVal val="#ppt_h"/>
                                          </p:val>
                                        </p:tav>
                                      </p:tavLst>
                                    </p:anim>
                                    <p:animEffect transition="in" filter="fade">
                                      <p:cBhvr>
                                        <p:cTn id="23" dur="500"/>
                                        <p:tgtEl>
                                          <p:spTgt spid="614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150"/>
                                        </p:tgtEl>
                                        <p:attrNameLst>
                                          <p:attrName>style.visibility</p:attrName>
                                        </p:attrNameLst>
                                      </p:cBhvr>
                                      <p:to>
                                        <p:strVal val="visible"/>
                                      </p:to>
                                    </p:set>
                                    <p:anim calcmode="lin" valueType="num">
                                      <p:cBhvr>
                                        <p:cTn id="28" dur="500" fill="hold"/>
                                        <p:tgtEl>
                                          <p:spTgt spid="6150"/>
                                        </p:tgtEl>
                                        <p:attrNameLst>
                                          <p:attrName>ppt_w</p:attrName>
                                        </p:attrNameLst>
                                      </p:cBhvr>
                                      <p:tavLst>
                                        <p:tav tm="0">
                                          <p:val>
                                            <p:fltVal val="0"/>
                                          </p:val>
                                        </p:tav>
                                        <p:tav tm="100000">
                                          <p:val>
                                            <p:strVal val="#ppt_w"/>
                                          </p:val>
                                        </p:tav>
                                      </p:tavLst>
                                    </p:anim>
                                    <p:anim calcmode="lin" valueType="num">
                                      <p:cBhvr>
                                        <p:cTn id="29" dur="500" fill="hold"/>
                                        <p:tgtEl>
                                          <p:spTgt spid="6150"/>
                                        </p:tgtEl>
                                        <p:attrNameLst>
                                          <p:attrName>ppt_h</p:attrName>
                                        </p:attrNameLst>
                                      </p:cBhvr>
                                      <p:tavLst>
                                        <p:tav tm="0">
                                          <p:val>
                                            <p:fltVal val="0"/>
                                          </p:val>
                                        </p:tav>
                                        <p:tav tm="100000">
                                          <p:val>
                                            <p:strVal val="#ppt_h"/>
                                          </p:val>
                                        </p:tav>
                                      </p:tavLst>
                                    </p:anim>
                                    <p:animEffect transition="in" filter="fade">
                                      <p:cBhvr>
                                        <p:cTn id="30" dur="500"/>
                                        <p:tgtEl>
                                          <p:spTgt spid="615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6148"/>
                                        </p:tgtEl>
                                        <p:attrNameLst>
                                          <p:attrName>style.visibility</p:attrName>
                                        </p:attrNameLst>
                                      </p:cBhvr>
                                      <p:to>
                                        <p:strVal val="visible"/>
                                      </p:to>
                                    </p:set>
                                    <p:anim calcmode="lin" valueType="num">
                                      <p:cBhvr>
                                        <p:cTn id="35" dur="500" fill="hold"/>
                                        <p:tgtEl>
                                          <p:spTgt spid="6148"/>
                                        </p:tgtEl>
                                        <p:attrNameLst>
                                          <p:attrName>ppt_w</p:attrName>
                                        </p:attrNameLst>
                                      </p:cBhvr>
                                      <p:tavLst>
                                        <p:tav tm="0">
                                          <p:val>
                                            <p:fltVal val="0"/>
                                          </p:val>
                                        </p:tav>
                                        <p:tav tm="100000">
                                          <p:val>
                                            <p:strVal val="#ppt_w"/>
                                          </p:val>
                                        </p:tav>
                                      </p:tavLst>
                                    </p:anim>
                                    <p:anim calcmode="lin" valueType="num">
                                      <p:cBhvr>
                                        <p:cTn id="36" dur="500" fill="hold"/>
                                        <p:tgtEl>
                                          <p:spTgt spid="6148"/>
                                        </p:tgtEl>
                                        <p:attrNameLst>
                                          <p:attrName>ppt_h</p:attrName>
                                        </p:attrNameLst>
                                      </p:cBhvr>
                                      <p:tavLst>
                                        <p:tav tm="0">
                                          <p:val>
                                            <p:fltVal val="0"/>
                                          </p:val>
                                        </p:tav>
                                        <p:tav tm="100000">
                                          <p:val>
                                            <p:strVal val="#ppt_h"/>
                                          </p:val>
                                        </p:tav>
                                      </p:tavLst>
                                    </p:anim>
                                    <p:animEffect transition="in" filter="fade">
                                      <p:cBhvr>
                                        <p:cTn id="37"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61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txBox="1">
            <a:spLocks noChangeArrowheads="1"/>
          </p:cNvSpPr>
          <p:nvPr/>
        </p:nvSpPr>
        <p:spPr bwMode="auto">
          <a:xfrm>
            <a:off x="436030" y="2021421"/>
            <a:ext cx="13016191" cy="4018359"/>
          </a:xfrm>
          <a:prstGeom prst="rect">
            <a:avLst/>
          </a:prstGeom>
          <a:noFill/>
          <a:ln w="9525">
            <a:noFill/>
            <a:miter lim="800000"/>
            <a:headEnd/>
            <a:tailEnd/>
          </a:ln>
        </p:spPr>
        <p:txBody>
          <a:bodyPr lIns="137165" tIns="68583" rIns="137165" bIns="68583"/>
          <a:lstStyle/>
          <a:p>
            <a:pPr algn="just">
              <a:lnSpc>
                <a:spcPct val="150000"/>
              </a:lnSpc>
              <a:spcBef>
                <a:spcPts val="0"/>
              </a:spcBef>
            </a:pPr>
            <a:r>
              <a:rPr lang="en-US" altLang="zh-CN" sz="3600" b="1" i="1" dirty="0">
                <a:latin typeface="Times New Roman" pitchFamily="18" charset="0"/>
                <a:ea typeface="微软雅黑" pitchFamily="34" charset="-122"/>
                <a:cs typeface="Times New Roman" pitchFamily="18" charset="0"/>
              </a:rPr>
              <a:t>  </a:t>
            </a:r>
            <a:r>
              <a:rPr lang="en-US" altLang="zh-CN" sz="3600" b="1" i="1" dirty="0" err="1">
                <a:solidFill>
                  <a:srgbClr val="0000CC"/>
                </a:solidFill>
                <a:latin typeface="Times New Roman" pitchFamily="18" charset="0"/>
                <a:ea typeface="微软雅黑" pitchFamily="34" charset="-122"/>
                <a:cs typeface="Times New Roman" pitchFamily="18" charset="0"/>
              </a:rPr>
              <a:t>A</a:t>
            </a:r>
            <a:r>
              <a:rPr lang="en-US" altLang="zh-CN" sz="3600" b="1" i="1" baseline="-30000" dirty="0" err="1">
                <a:solidFill>
                  <a:srgbClr val="0000CC"/>
                </a:solidFill>
                <a:latin typeface="Times New Roman" pitchFamily="18" charset="0"/>
                <a:ea typeface="微软雅黑" pitchFamily="34" charset="-122"/>
                <a:cs typeface="Times New Roman" pitchFamily="18" charset="0"/>
              </a:rPr>
              <a:t>p</a:t>
            </a:r>
            <a:r>
              <a:rPr lang="en-US" altLang="zh-CN" sz="3600" b="1" dirty="0">
                <a:solidFill>
                  <a:srgbClr val="0000CC"/>
                </a:solidFill>
                <a:latin typeface="Times New Roman" pitchFamily="18" charset="0"/>
                <a:ea typeface="微软雅黑" pitchFamily="34" charset="-122"/>
                <a:cs typeface="Times New Roman" pitchFamily="18" charset="0"/>
              </a:rPr>
              <a:t>=</a:t>
            </a:r>
            <a:r>
              <a:rPr lang="en-US" altLang="zh-CN" sz="3600" b="1" i="1" dirty="0" err="1">
                <a:solidFill>
                  <a:srgbClr val="0000CC"/>
                </a:solidFill>
                <a:latin typeface="Times New Roman" pitchFamily="18" charset="0"/>
                <a:ea typeface="微软雅黑" pitchFamily="34" charset="-122"/>
                <a:cs typeface="Times New Roman" pitchFamily="18" charset="0"/>
              </a:rPr>
              <a:t>P</a:t>
            </a:r>
            <a:r>
              <a:rPr lang="en-US" altLang="zh-CN" sz="3600" b="1" i="1" baseline="-30000" dirty="0" err="1">
                <a:solidFill>
                  <a:srgbClr val="0000CC"/>
                </a:solidFill>
                <a:latin typeface="Times New Roman" pitchFamily="18" charset="0"/>
                <a:ea typeface="微软雅黑" pitchFamily="34" charset="-122"/>
                <a:cs typeface="Times New Roman" pitchFamily="18" charset="0"/>
              </a:rPr>
              <a:t>so</a:t>
            </a:r>
            <a:r>
              <a:rPr lang="en-US" altLang="zh-CN" sz="3600" b="1" dirty="0">
                <a:solidFill>
                  <a:srgbClr val="0000CC"/>
                </a:solidFill>
                <a:latin typeface="Times New Roman" pitchFamily="18" charset="0"/>
                <a:ea typeface="微软雅黑" pitchFamily="34" charset="-122"/>
                <a:cs typeface="Times New Roman" pitchFamily="18" charset="0"/>
              </a:rPr>
              <a:t>/</a:t>
            </a:r>
            <a:r>
              <a:rPr lang="en-US" altLang="zh-CN" sz="3600" b="1" i="1" dirty="0">
                <a:solidFill>
                  <a:srgbClr val="0000CC"/>
                </a:solidFill>
                <a:latin typeface="Times New Roman" pitchFamily="18" charset="0"/>
                <a:ea typeface="微软雅黑" pitchFamily="34" charset="-122"/>
                <a:cs typeface="Times New Roman" pitchFamily="18" charset="0"/>
              </a:rPr>
              <a:t>P</a:t>
            </a:r>
            <a:r>
              <a:rPr lang="en-US" altLang="zh-CN" sz="3600" b="1" i="1" baseline="-30000" dirty="0">
                <a:solidFill>
                  <a:srgbClr val="0000CC"/>
                </a:solidFill>
                <a:latin typeface="Times New Roman" pitchFamily="18" charset="0"/>
                <a:ea typeface="微软雅黑" pitchFamily="34" charset="-122"/>
                <a:cs typeface="Times New Roman" pitchFamily="18" charset="0"/>
              </a:rPr>
              <a:t>si</a:t>
            </a:r>
            <a:r>
              <a:rPr lang="zh-CN" altLang="en-US" sz="3600" b="1" dirty="0">
                <a:solidFill>
                  <a:srgbClr val="0000CC"/>
                </a:solidFill>
                <a:latin typeface="Times New Roman" pitchFamily="18" charset="0"/>
                <a:ea typeface="微软雅黑" pitchFamily="34" charset="-122"/>
                <a:cs typeface="Times New Roman" pitchFamily="18" charset="0"/>
              </a:rPr>
              <a:t>为放大器的功率增益</a:t>
            </a:r>
            <a:r>
              <a:rPr lang="zh-CN" altLang="en-US" sz="3600" b="1" dirty="0" smtClean="0">
                <a:latin typeface="Times New Roman" pitchFamily="18" charset="0"/>
                <a:ea typeface="微软雅黑" pitchFamily="34" charset="-122"/>
                <a:cs typeface="Times New Roman" pitchFamily="18" charset="0"/>
              </a:rPr>
              <a:t>，</a:t>
            </a:r>
            <a:r>
              <a:rPr lang="zh-CN" altLang="en-US" sz="3600" b="1" i="1" dirty="0" smtClean="0">
                <a:latin typeface="Times New Roman" pitchFamily="18" charset="0"/>
                <a:ea typeface="微软雅黑" pitchFamily="34" charset="-122"/>
                <a:cs typeface="Times New Roman" pitchFamily="18" charset="0"/>
              </a:rPr>
              <a:t> </a:t>
            </a:r>
            <a:r>
              <a:rPr lang="en-US" altLang="zh-CN" sz="3600" b="1" i="1" dirty="0">
                <a:latin typeface="Times New Roman" pitchFamily="18" charset="0"/>
                <a:ea typeface="微软雅黑" pitchFamily="34" charset="-122"/>
                <a:cs typeface="Times New Roman" pitchFamily="18" charset="0"/>
              </a:rPr>
              <a:t>P</a:t>
            </a:r>
            <a:r>
              <a:rPr lang="en-US" altLang="zh-CN" sz="3600" b="1" i="1" baseline="-30000" dirty="0">
                <a:latin typeface="Times New Roman" pitchFamily="18" charset="0"/>
                <a:ea typeface="微软雅黑" pitchFamily="34" charset="-122"/>
                <a:cs typeface="Times New Roman" pitchFamily="18" charset="0"/>
              </a:rPr>
              <a:t>no</a:t>
            </a:r>
            <a:r>
              <a:rPr lang="en-US" altLang="zh-CN" sz="3600" b="1" baseline="-30000" dirty="0">
                <a:latin typeface="Times New Roman" pitchFamily="18" charset="0"/>
                <a:ea typeface="微软雅黑" pitchFamily="34" charset="-122"/>
                <a:cs typeface="Times New Roman" pitchFamily="18" charset="0"/>
              </a:rPr>
              <a:t>1</a:t>
            </a:r>
            <a:r>
              <a:rPr lang="en-US" altLang="zh-CN" sz="3600" b="1" dirty="0">
                <a:latin typeface="Times New Roman" pitchFamily="18" charset="0"/>
                <a:ea typeface="微软雅黑" pitchFamily="34" charset="-122"/>
                <a:cs typeface="Times New Roman" pitchFamily="18" charset="0"/>
              </a:rPr>
              <a:t>=</a:t>
            </a:r>
            <a:r>
              <a:rPr lang="en-US" altLang="zh-CN" sz="3600" b="1" i="1" dirty="0" err="1">
                <a:latin typeface="Times New Roman" pitchFamily="18" charset="0"/>
                <a:ea typeface="微软雅黑" pitchFamily="34" charset="-122"/>
                <a:cs typeface="Times New Roman" pitchFamily="18" charset="0"/>
              </a:rPr>
              <a:t>P</a:t>
            </a:r>
            <a:r>
              <a:rPr lang="en-US" altLang="zh-CN" sz="3600" b="1" i="1" baseline="-30000" dirty="0" err="1">
                <a:latin typeface="Times New Roman" pitchFamily="18" charset="0"/>
                <a:ea typeface="微软雅黑" pitchFamily="34" charset="-122"/>
                <a:cs typeface="Times New Roman" pitchFamily="18" charset="0"/>
              </a:rPr>
              <a:t>ni</a:t>
            </a:r>
            <a:r>
              <a:rPr lang="en-US" altLang="zh-CN" sz="3600" b="1" dirty="0" err="1">
                <a:latin typeface="Times New Roman" pitchFamily="18" charset="0"/>
                <a:ea typeface="微软雅黑" pitchFamily="34" charset="-122"/>
                <a:cs typeface="Times New Roman" pitchFamily="18" charset="0"/>
              </a:rPr>
              <a:t>·</a:t>
            </a:r>
            <a:r>
              <a:rPr lang="en-US" altLang="zh-CN" sz="3600" b="1" i="1" dirty="0" err="1">
                <a:latin typeface="Times New Roman" pitchFamily="18" charset="0"/>
                <a:ea typeface="微软雅黑" pitchFamily="34" charset="-122"/>
                <a:cs typeface="Times New Roman" pitchFamily="18" charset="0"/>
              </a:rPr>
              <a:t>A</a:t>
            </a:r>
            <a:r>
              <a:rPr lang="en-US" altLang="zh-CN" sz="3600" b="1" i="1" baseline="-30000" dirty="0" err="1">
                <a:latin typeface="Times New Roman" pitchFamily="18" charset="0"/>
                <a:ea typeface="微软雅黑" pitchFamily="34" charset="-122"/>
                <a:cs typeface="Times New Roman" pitchFamily="18" charset="0"/>
              </a:rPr>
              <a:t>p</a:t>
            </a:r>
            <a:r>
              <a:rPr lang="en-US" altLang="zh-CN" sz="3600" b="1" i="1" baseline="-30000" dirty="0">
                <a:latin typeface="Times New Roman" pitchFamily="18" charset="0"/>
                <a:ea typeface="微软雅黑" pitchFamily="34" charset="-122"/>
                <a:cs typeface="Times New Roman" pitchFamily="18" charset="0"/>
              </a:rPr>
              <a:t> </a:t>
            </a:r>
            <a:r>
              <a:rPr lang="zh-CN" altLang="en-US" sz="3600" b="1" dirty="0">
                <a:latin typeface="Times New Roman" pitchFamily="18" charset="0"/>
                <a:ea typeface="微软雅黑" pitchFamily="34" charset="-122"/>
                <a:cs typeface="Times New Roman" pitchFamily="18" charset="0"/>
              </a:rPr>
              <a:t>表示信号源内阻产生的噪声，通过</a:t>
            </a:r>
            <a:r>
              <a:rPr lang="zh-CN" altLang="en-US" sz="3600" b="1" dirty="0" smtClean="0">
                <a:latin typeface="Times New Roman" pitchFamily="18" charset="0"/>
                <a:ea typeface="微软雅黑" pitchFamily="34" charset="-122"/>
                <a:cs typeface="Times New Roman" pitchFamily="18" charset="0"/>
              </a:rPr>
              <a:t>放大器</a:t>
            </a:r>
            <a:r>
              <a:rPr lang="zh-CN" altLang="en-US" sz="3600" b="1" dirty="0">
                <a:latin typeface="Times New Roman" pitchFamily="18" charset="0"/>
                <a:ea typeface="微软雅黑" pitchFamily="34" charset="-122"/>
                <a:cs typeface="Times New Roman" pitchFamily="18" charset="0"/>
              </a:rPr>
              <a:t>后在输出端所产生的噪声功率。</a:t>
            </a:r>
          </a:p>
          <a:p>
            <a:pPr>
              <a:lnSpc>
                <a:spcPct val="150000"/>
              </a:lnSpc>
              <a:spcBef>
                <a:spcPts val="0"/>
              </a:spcBef>
            </a:pPr>
            <a:r>
              <a:rPr lang="zh-CN" altLang="en-US" sz="3600" b="1" dirty="0">
                <a:latin typeface="Times New Roman" pitchFamily="18" charset="0"/>
                <a:ea typeface="微软雅黑" pitchFamily="34" charset="-122"/>
                <a:cs typeface="Times New Roman" pitchFamily="18" charset="0"/>
              </a:rPr>
              <a:t>上式表示，噪声系数</a:t>
            </a:r>
            <a:r>
              <a:rPr lang="en-US" altLang="zh-CN" sz="3600" b="1" dirty="0">
                <a:latin typeface="Times New Roman" pitchFamily="18" charset="0"/>
                <a:ea typeface="微软雅黑" pitchFamily="34" charset="-122"/>
                <a:cs typeface="Times New Roman" pitchFamily="18" charset="0"/>
              </a:rPr>
              <a:t>NF</a:t>
            </a:r>
            <a:r>
              <a:rPr lang="zh-CN" altLang="en-US" sz="3600" b="1" dirty="0">
                <a:latin typeface="Times New Roman" pitchFamily="18" charset="0"/>
                <a:ea typeface="微软雅黑" pitchFamily="34" charset="-122"/>
                <a:cs typeface="Times New Roman" pitchFamily="18" charset="0"/>
              </a:rPr>
              <a:t>仅与输出端的两个噪声功率</a:t>
            </a:r>
            <a:r>
              <a:rPr lang="en-US" altLang="zh-CN" sz="3600" b="1" i="1" dirty="0" err="1">
                <a:latin typeface="Times New Roman" pitchFamily="18" charset="0"/>
                <a:ea typeface="微软雅黑" pitchFamily="34" charset="-122"/>
                <a:cs typeface="Times New Roman" pitchFamily="18" charset="0"/>
              </a:rPr>
              <a:t>P</a:t>
            </a:r>
            <a:r>
              <a:rPr lang="en-US" altLang="zh-CN" sz="3600" b="1" i="1" baseline="-30000" dirty="0" err="1">
                <a:latin typeface="Times New Roman" pitchFamily="18" charset="0"/>
                <a:ea typeface="微软雅黑" pitchFamily="34" charset="-122"/>
                <a:cs typeface="Times New Roman" pitchFamily="18" charset="0"/>
              </a:rPr>
              <a:t>no</a:t>
            </a:r>
            <a:r>
              <a:rPr lang="zh-CN" altLang="en-US" sz="3600" b="1" dirty="0">
                <a:latin typeface="Times New Roman" pitchFamily="18" charset="0"/>
                <a:ea typeface="微软雅黑" pitchFamily="34" charset="-122"/>
                <a:cs typeface="Times New Roman" pitchFamily="18" charset="0"/>
              </a:rPr>
              <a:t>和</a:t>
            </a:r>
            <a:r>
              <a:rPr lang="en-US" altLang="zh-CN" sz="3600" b="1" i="1" dirty="0">
                <a:latin typeface="Times New Roman" pitchFamily="18" charset="0"/>
                <a:ea typeface="微软雅黑" pitchFamily="34" charset="-122"/>
                <a:cs typeface="Times New Roman" pitchFamily="18" charset="0"/>
              </a:rPr>
              <a:t>P</a:t>
            </a:r>
            <a:r>
              <a:rPr lang="en-US" altLang="zh-CN" sz="3600" b="1" i="1" baseline="-30000" dirty="0">
                <a:latin typeface="Times New Roman" pitchFamily="18" charset="0"/>
                <a:ea typeface="微软雅黑" pitchFamily="34" charset="-122"/>
                <a:cs typeface="Times New Roman" pitchFamily="18" charset="0"/>
              </a:rPr>
              <a:t>no</a:t>
            </a:r>
            <a:r>
              <a:rPr lang="en-US" altLang="zh-CN" sz="3600" b="1" baseline="-30000" dirty="0">
                <a:latin typeface="Times New Roman" pitchFamily="18" charset="0"/>
                <a:ea typeface="微软雅黑" pitchFamily="34" charset="-122"/>
                <a:cs typeface="Times New Roman" pitchFamily="18" charset="0"/>
              </a:rPr>
              <a:t>1</a:t>
            </a:r>
            <a:r>
              <a:rPr lang="zh-CN" altLang="en-US" sz="3600" b="1" dirty="0">
                <a:latin typeface="Times New Roman" pitchFamily="18" charset="0"/>
                <a:ea typeface="微软雅黑" pitchFamily="34" charset="-122"/>
                <a:cs typeface="Times New Roman" pitchFamily="18" charset="0"/>
              </a:rPr>
              <a:t>有关，而与输入信号的大小无关。 </a:t>
            </a:r>
          </a:p>
        </p:txBody>
      </p:sp>
      <p:sp>
        <p:nvSpPr>
          <p:cNvPr id="4"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5" name="矩形 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 name="矩形 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0" name="矩形 9">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2"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idx="1"/>
          </p:nvPr>
        </p:nvSpPr>
        <p:spPr bwMode="auto">
          <a:xfrm>
            <a:off x="377325" y="873324"/>
            <a:ext cx="13233096" cy="6440685"/>
          </a:xfrm>
          <a:noFill/>
          <a:ln>
            <a:miter lim="800000"/>
            <a:headEnd/>
            <a:tailEnd/>
          </a:ln>
        </p:spPr>
        <p:txBody>
          <a:bodyPr vert="horz" wrap="square" lIns="137165" tIns="68583" rIns="137165" bIns="68583" numCol="1" anchor="t" anchorCtr="0" compatLnSpc="1">
            <a:prstTxWarp prst="textNoShape">
              <a:avLst/>
            </a:prstTxWarp>
          </a:bodyPr>
          <a:lstStyle/>
          <a:p>
            <a:pPr eaLnBrk="1" hangingPunct="1">
              <a:lnSpc>
                <a:spcPct val="150000"/>
              </a:lnSpc>
              <a:buFont typeface="Wingdings" pitchFamily="2" charset="2"/>
              <a:buChar char="l"/>
            </a:pPr>
            <a:r>
              <a:rPr lang="zh-CN" altLang="en-US" sz="3000" b="1" dirty="0">
                <a:latin typeface="Times New Roman" pitchFamily="18" charset="0"/>
                <a:ea typeface="微软雅黑" pitchFamily="34" charset="-122"/>
                <a:cs typeface="Times New Roman" pitchFamily="18" charset="0"/>
              </a:rPr>
              <a:t>放大器的输出噪声功率</a:t>
            </a:r>
            <a:r>
              <a:rPr lang="en-US" altLang="zh-CN" sz="3000" b="1" dirty="0" err="1">
                <a:latin typeface="Times New Roman" pitchFamily="18" charset="0"/>
                <a:ea typeface="微软雅黑" pitchFamily="34" charset="-122"/>
                <a:cs typeface="Times New Roman" pitchFamily="18" charset="0"/>
              </a:rPr>
              <a:t>P</a:t>
            </a:r>
            <a:r>
              <a:rPr lang="en-US" altLang="zh-CN" sz="3000" b="1" baseline="-30000" dirty="0" err="1">
                <a:latin typeface="Times New Roman" pitchFamily="18" charset="0"/>
                <a:ea typeface="微软雅黑" pitchFamily="34" charset="-122"/>
                <a:cs typeface="Times New Roman" pitchFamily="18" charset="0"/>
              </a:rPr>
              <a:t>no</a:t>
            </a:r>
            <a:r>
              <a:rPr lang="zh-CN" altLang="en-US" sz="3000" b="1" dirty="0">
                <a:latin typeface="Times New Roman" pitchFamily="18" charset="0"/>
                <a:ea typeface="微软雅黑" pitchFamily="34" charset="-122"/>
                <a:cs typeface="Times New Roman" pitchFamily="18" charset="0"/>
              </a:rPr>
              <a:t>是由两部分组成的，一部分是</a:t>
            </a:r>
            <a:r>
              <a:rPr lang="en-US" altLang="zh-CN" sz="3000" b="1" dirty="0" err="1">
                <a:latin typeface="Times New Roman" pitchFamily="18" charset="0"/>
                <a:ea typeface="微软雅黑" pitchFamily="34" charset="-122"/>
                <a:cs typeface="Times New Roman" pitchFamily="18" charset="0"/>
              </a:rPr>
              <a:t>P</a:t>
            </a:r>
            <a:r>
              <a:rPr lang="en-US" altLang="zh-CN" sz="3000" b="1" baseline="-30000" dirty="0" err="1">
                <a:latin typeface="Times New Roman" pitchFamily="18" charset="0"/>
                <a:ea typeface="微软雅黑" pitchFamily="34" charset="-122"/>
                <a:cs typeface="Times New Roman" pitchFamily="18" charset="0"/>
              </a:rPr>
              <a:t>ni</a:t>
            </a:r>
            <a:r>
              <a:rPr lang="en-US" altLang="zh-CN" sz="3000" b="1" dirty="0">
                <a:latin typeface="Times New Roman" pitchFamily="18" charset="0"/>
                <a:ea typeface="微软雅黑" pitchFamily="34" charset="-122"/>
                <a:cs typeface="Times New Roman" pitchFamily="18" charset="0"/>
              </a:rPr>
              <a:t> </a:t>
            </a:r>
            <a:r>
              <a:rPr lang="en-US" altLang="zh-CN" sz="3000" b="1" dirty="0" err="1">
                <a:latin typeface="Times New Roman" pitchFamily="18" charset="0"/>
                <a:ea typeface="微软雅黑" pitchFamily="34" charset="-122"/>
                <a:cs typeface="Times New Roman" pitchFamily="18" charset="0"/>
              </a:rPr>
              <a:t>A</a:t>
            </a:r>
            <a:r>
              <a:rPr lang="en-US" altLang="zh-CN" sz="3000" b="1" baseline="-30000" dirty="0" err="1">
                <a:latin typeface="Times New Roman" pitchFamily="18" charset="0"/>
                <a:ea typeface="微软雅黑" pitchFamily="34" charset="-122"/>
                <a:cs typeface="Times New Roman" pitchFamily="18" charset="0"/>
              </a:rPr>
              <a:t>p</a:t>
            </a:r>
            <a:r>
              <a:rPr lang="zh-CN" altLang="en-US" sz="3000" b="1" dirty="0">
                <a:latin typeface="Times New Roman" pitchFamily="18" charset="0"/>
                <a:ea typeface="微软雅黑" pitchFamily="34" charset="-122"/>
                <a:cs typeface="Times New Roman" pitchFamily="18" charset="0"/>
              </a:rPr>
              <a:t>；另一部分是放大器本身（内部）产生的噪声在输出端上呈现的噪声功率</a:t>
            </a:r>
            <a:r>
              <a:rPr lang="en-US" altLang="zh-CN" sz="3000" b="1" dirty="0" err="1">
                <a:latin typeface="Times New Roman" pitchFamily="18" charset="0"/>
                <a:ea typeface="微软雅黑" pitchFamily="34" charset="-122"/>
                <a:cs typeface="Times New Roman" pitchFamily="18" charset="0"/>
              </a:rPr>
              <a:t>P</a:t>
            </a:r>
            <a:r>
              <a:rPr lang="en-US" altLang="zh-CN" sz="3000" b="1" baseline="-30000" dirty="0" err="1">
                <a:latin typeface="Times New Roman" pitchFamily="18" charset="0"/>
                <a:ea typeface="微软雅黑" pitchFamily="34" charset="-122"/>
                <a:cs typeface="Times New Roman" pitchFamily="18" charset="0"/>
              </a:rPr>
              <a:t>n</a:t>
            </a:r>
            <a:r>
              <a:rPr lang="zh-CN" altLang="en-US" sz="3000" b="1" dirty="0">
                <a:latin typeface="Times New Roman" pitchFamily="18" charset="0"/>
                <a:ea typeface="微软雅黑" pitchFamily="34" charset="-122"/>
                <a:cs typeface="Times New Roman" pitchFamily="18" charset="0"/>
              </a:rPr>
              <a:t>，</a:t>
            </a:r>
          </a:p>
          <a:p>
            <a:pPr eaLnBrk="1" hangingPunct="1">
              <a:lnSpc>
                <a:spcPct val="150000"/>
              </a:lnSpc>
              <a:buFont typeface="Wingdings" pitchFamily="2" charset="2"/>
              <a:buChar char="l"/>
            </a:pPr>
            <a:r>
              <a:rPr lang="zh-CN" altLang="en-US" sz="3000" b="1" dirty="0">
                <a:latin typeface="Times New Roman" pitchFamily="18" charset="0"/>
                <a:ea typeface="微软雅黑" pitchFamily="34" charset="-122"/>
                <a:cs typeface="Times New Roman" pitchFamily="18" charset="0"/>
              </a:rPr>
              <a:t>即</a:t>
            </a:r>
          </a:p>
          <a:p>
            <a:pPr eaLnBrk="1" hangingPunct="1">
              <a:lnSpc>
                <a:spcPct val="150000"/>
              </a:lnSpc>
              <a:buFont typeface="Wingdings" pitchFamily="2" charset="2"/>
              <a:buChar char="l"/>
            </a:pPr>
            <a:r>
              <a:rPr lang="zh-CN" altLang="en-US" sz="3000" b="1" dirty="0" smtClean="0">
                <a:latin typeface="Times New Roman" pitchFamily="18" charset="0"/>
                <a:ea typeface="微软雅黑" pitchFamily="34" charset="-122"/>
                <a:cs typeface="Times New Roman" pitchFamily="18" charset="0"/>
              </a:rPr>
              <a:t>所以</a:t>
            </a:r>
            <a:r>
              <a:rPr lang="zh-CN" altLang="en-US" sz="3000" b="1" dirty="0">
                <a:latin typeface="Times New Roman" pitchFamily="18" charset="0"/>
                <a:ea typeface="微软雅黑" pitchFamily="34" charset="-122"/>
                <a:cs typeface="Times New Roman" pitchFamily="18" charset="0"/>
              </a:rPr>
              <a:t>，噪声系数又可写成：</a:t>
            </a:r>
          </a:p>
          <a:p>
            <a:pPr eaLnBrk="1" hangingPunct="1">
              <a:lnSpc>
                <a:spcPct val="150000"/>
              </a:lnSpc>
            </a:pPr>
            <a:endParaRPr lang="zh-CN" altLang="en-US" sz="3000" b="1" dirty="0">
              <a:latin typeface="Times New Roman" pitchFamily="18" charset="0"/>
              <a:ea typeface="微软雅黑" pitchFamily="34" charset="-122"/>
              <a:cs typeface="Times New Roman" pitchFamily="18" charset="0"/>
            </a:endParaRPr>
          </a:p>
          <a:p>
            <a:pPr eaLnBrk="1" hangingPunct="1">
              <a:lnSpc>
                <a:spcPct val="150000"/>
              </a:lnSpc>
              <a:buFont typeface="Wingdings" pitchFamily="2" charset="2"/>
              <a:buChar char="l"/>
            </a:pPr>
            <a:r>
              <a:rPr lang="zh-CN" altLang="en-US" sz="3000" b="1" dirty="0" smtClean="0">
                <a:latin typeface="Times New Roman" pitchFamily="18" charset="0"/>
                <a:ea typeface="微软雅黑" pitchFamily="34" charset="-122"/>
                <a:cs typeface="Times New Roman" pitchFamily="18" charset="0"/>
              </a:rPr>
              <a:t>系数</a:t>
            </a:r>
            <a:r>
              <a:rPr lang="zh-CN" altLang="en-US" sz="3000" b="1" dirty="0">
                <a:latin typeface="Times New Roman" pitchFamily="18" charset="0"/>
                <a:ea typeface="微软雅黑" pitchFamily="34" charset="-122"/>
                <a:cs typeface="Times New Roman" pitchFamily="18" charset="0"/>
              </a:rPr>
              <a:t>与放大器内部噪声的关系。</a:t>
            </a:r>
          </a:p>
          <a:p>
            <a:pPr eaLnBrk="1" hangingPunct="1">
              <a:lnSpc>
                <a:spcPct val="150000"/>
              </a:lnSpc>
              <a:buFont typeface="Wingdings" pitchFamily="2" charset="2"/>
              <a:buChar char="l"/>
            </a:pPr>
            <a:r>
              <a:rPr lang="zh-CN" altLang="en-US" sz="3000" b="1" dirty="0">
                <a:latin typeface="Times New Roman" pitchFamily="18" charset="0"/>
                <a:ea typeface="微软雅黑" pitchFamily="34" charset="-122"/>
                <a:cs typeface="Times New Roman" pitchFamily="18" charset="0"/>
              </a:rPr>
              <a:t>实际放大器总是要产生噪声的</a:t>
            </a:r>
            <a:r>
              <a:rPr lang="zh-CN" altLang="en-US" sz="3000" b="1" dirty="0" smtClean="0">
                <a:latin typeface="Times New Roman" pitchFamily="18" charset="0"/>
                <a:ea typeface="微软雅黑" pitchFamily="34" charset="-122"/>
                <a:cs typeface="Times New Roman" pitchFamily="18" charset="0"/>
              </a:rPr>
              <a:t>，即</a:t>
            </a:r>
            <a:r>
              <a:rPr lang="zh-CN" altLang="en-US" sz="3000" b="1" dirty="0">
                <a:latin typeface="Times New Roman" pitchFamily="18" charset="0"/>
                <a:ea typeface="微软雅黑" pitchFamily="34" charset="-122"/>
                <a:cs typeface="Times New Roman" pitchFamily="18" charset="0"/>
              </a:rPr>
              <a:t>：   </a:t>
            </a:r>
            <a:r>
              <a:rPr lang="en-US" altLang="zh-CN" sz="3000" b="1" dirty="0" err="1">
                <a:latin typeface="Times New Roman" pitchFamily="18" charset="0"/>
                <a:ea typeface="微软雅黑" pitchFamily="34" charset="-122"/>
                <a:cs typeface="Times New Roman" pitchFamily="18" charset="0"/>
              </a:rPr>
              <a:t>P</a:t>
            </a:r>
            <a:r>
              <a:rPr lang="en-US" altLang="zh-CN" sz="3000" b="1" baseline="-30000" dirty="0" err="1">
                <a:latin typeface="Times New Roman" pitchFamily="18" charset="0"/>
                <a:ea typeface="微软雅黑" pitchFamily="34" charset="-122"/>
                <a:cs typeface="Times New Roman" pitchFamily="18" charset="0"/>
              </a:rPr>
              <a:t>n</a:t>
            </a:r>
            <a:r>
              <a:rPr lang="en-US" altLang="zh-CN" sz="3000" b="1" dirty="0">
                <a:latin typeface="Times New Roman" pitchFamily="18" charset="0"/>
                <a:ea typeface="微软雅黑" pitchFamily="34" charset="-122"/>
                <a:cs typeface="Times New Roman" pitchFamily="18" charset="0"/>
              </a:rPr>
              <a:t>&gt;0</a:t>
            </a:r>
            <a:r>
              <a:rPr lang="zh-CN" altLang="en-US" sz="3000" b="1" dirty="0">
                <a:latin typeface="Times New Roman" pitchFamily="18" charset="0"/>
                <a:ea typeface="微软雅黑" pitchFamily="34" charset="-122"/>
                <a:cs typeface="Times New Roman" pitchFamily="18" charset="0"/>
              </a:rPr>
              <a:t>，因此  </a:t>
            </a:r>
            <a:r>
              <a:rPr lang="en-US" altLang="zh-CN" sz="3000" b="1" dirty="0">
                <a:latin typeface="Times New Roman" pitchFamily="18" charset="0"/>
                <a:ea typeface="微软雅黑" pitchFamily="34" charset="-122"/>
                <a:cs typeface="Times New Roman" pitchFamily="18" charset="0"/>
              </a:rPr>
              <a:t>NF&gt;1</a:t>
            </a:r>
            <a:r>
              <a:rPr lang="zh-CN" altLang="en-US" sz="3000" b="1" dirty="0">
                <a:latin typeface="Times New Roman" pitchFamily="18" charset="0"/>
                <a:ea typeface="微软雅黑" pitchFamily="34" charset="-122"/>
                <a:cs typeface="Times New Roman" pitchFamily="18" charset="0"/>
              </a:rPr>
              <a:t>。</a:t>
            </a:r>
          </a:p>
          <a:p>
            <a:pPr eaLnBrk="1" hangingPunct="1">
              <a:lnSpc>
                <a:spcPct val="150000"/>
              </a:lnSpc>
              <a:buFont typeface="Wingdings" pitchFamily="2" charset="2"/>
              <a:buChar char="l"/>
            </a:pPr>
            <a:r>
              <a:rPr lang="zh-CN" altLang="en-US" sz="3000" b="1" dirty="0">
                <a:latin typeface="Times New Roman" pitchFamily="18" charset="0"/>
                <a:ea typeface="微软雅黑" pitchFamily="34" charset="-122"/>
                <a:cs typeface="Times New Roman" pitchFamily="18" charset="0"/>
              </a:rPr>
              <a:t>只有放大器是理想情况，内部无噪声即</a:t>
            </a:r>
            <a:r>
              <a:rPr lang="en-US" altLang="zh-CN" sz="3000" b="1" dirty="0" err="1">
                <a:latin typeface="Times New Roman" pitchFamily="18" charset="0"/>
                <a:ea typeface="微软雅黑" pitchFamily="34" charset="-122"/>
                <a:cs typeface="Times New Roman" pitchFamily="18" charset="0"/>
              </a:rPr>
              <a:t>P</a:t>
            </a:r>
            <a:r>
              <a:rPr lang="en-US" altLang="zh-CN" sz="3000" b="1" baseline="-30000" dirty="0" err="1">
                <a:latin typeface="Times New Roman" pitchFamily="18" charset="0"/>
                <a:ea typeface="微软雅黑" pitchFamily="34" charset="-122"/>
                <a:cs typeface="Times New Roman" pitchFamily="18" charset="0"/>
              </a:rPr>
              <a:t>n</a:t>
            </a:r>
            <a:r>
              <a:rPr lang="en-US" altLang="zh-CN" sz="3000" b="1" dirty="0">
                <a:latin typeface="Times New Roman" pitchFamily="18" charset="0"/>
                <a:ea typeface="微软雅黑" pitchFamily="34" charset="-122"/>
                <a:cs typeface="Times New Roman" pitchFamily="18" charset="0"/>
              </a:rPr>
              <a:t>=0</a:t>
            </a:r>
            <a:r>
              <a:rPr lang="zh-CN" altLang="en-US" sz="3000" b="1" dirty="0">
                <a:latin typeface="Times New Roman" pitchFamily="18" charset="0"/>
                <a:ea typeface="微软雅黑" pitchFamily="34" charset="-122"/>
                <a:cs typeface="Times New Roman" pitchFamily="18" charset="0"/>
              </a:rPr>
              <a:t>则</a:t>
            </a:r>
            <a:r>
              <a:rPr lang="en-US" altLang="zh-CN" sz="3000" b="1" dirty="0">
                <a:latin typeface="Times New Roman" pitchFamily="18" charset="0"/>
                <a:ea typeface="微软雅黑" pitchFamily="34" charset="-122"/>
                <a:cs typeface="Times New Roman" pitchFamily="18" charset="0"/>
              </a:rPr>
              <a:t>NF=1</a:t>
            </a:r>
            <a:r>
              <a:rPr lang="zh-CN" altLang="en-US" sz="3000" b="1" dirty="0">
                <a:latin typeface="Times New Roman" pitchFamily="18" charset="0"/>
                <a:ea typeface="微软雅黑" pitchFamily="34" charset="-122"/>
                <a:cs typeface="Times New Roman" pitchFamily="18" charset="0"/>
              </a:rPr>
              <a:t>。 </a:t>
            </a:r>
          </a:p>
        </p:txBody>
      </p:sp>
      <p:graphicFrame>
        <p:nvGraphicFramePr>
          <p:cNvPr id="7170" name="Object 4"/>
          <p:cNvGraphicFramePr>
            <a:graphicFrameLocks noChangeAspect="1"/>
          </p:cNvGraphicFramePr>
          <p:nvPr>
            <p:extLst>
              <p:ext uri="{D42A27DB-BD31-4B8C-83A1-F6EECF244321}">
                <p14:modId xmlns:p14="http://schemas.microsoft.com/office/powerpoint/2010/main" xmlns="" val="3715291116"/>
              </p:ext>
            </p:extLst>
          </p:nvPr>
        </p:nvGraphicFramePr>
        <p:xfrm>
          <a:off x="1781642" y="2453470"/>
          <a:ext cx="6630168" cy="694730"/>
        </p:xfrm>
        <a:graphic>
          <a:graphicData uri="http://schemas.openxmlformats.org/presentationml/2006/ole">
            <p:oleObj spid="_x0000_s7287" r:id="rId4" imgW="1701800" imgH="241300" progId="Equation.3">
              <p:embed/>
            </p:oleObj>
          </a:graphicData>
        </a:graphic>
      </p:graphicFrame>
      <p:graphicFrame>
        <p:nvGraphicFramePr>
          <p:cNvPr id="7171" name="Object 6"/>
          <p:cNvGraphicFramePr>
            <a:graphicFrameLocks noChangeAspect="1"/>
          </p:cNvGraphicFramePr>
          <p:nvPr>
            <p:extLst>
              <p:ext uri="{D42A27DB-BD31-4B8C-83A1-F6EECF244321}">
                <p14:modId xmlns:p14="http://schemas.microsoft.com/office/powerpoint/2010/main" xmlns="" val="2396583188"/>
              </p:ext>
            </p:extLst>
          </p:nvPr>
        </p:nvGraphicFramePr>
        <p:xfrm>
          <a:off x="1025470" y="3857625"/>
          <a:ext cx="5144096" cy="1005483"/>
        </p:xfrm>
        <a:graphic>
          <a:graphicData uri="http://schemas.openxmlformats.org/presentationml/2006/ole">
            <p:oleObj spid="_x0000_s7288" r:id="rId5" imgW="1625600" imgH="469900" progId="Equation.3">
              <p:embed/>
            </p:oleObj>
          </a:graphicData>
        </a:graphic>
      </p:graphicFrame>
      <p:graphicFrame>
        <p:nvGraphicFramePr>
          <p:cNvPr id="7172" name="Object 8"/>
          <p:cNvGraphicFramePr>
            <a:graphicFrameLocks noChangeAspect="1"/>
          </p:cNvGraphicFramePr>
          <p:nvPr>
            <p:extLst>
              <p:ext uri="{D42A27DB-BD31-4B8C-83A1-F6EECF244321}">
                <p14:modId xmlns:p14="http://schemas.microsoft.com/office/powerpoint/2010/main" xmlns="" val="1708677646"/>
              </p:ext>
            </p:extLst>
          </p:nvPr>
        </p:nvGraphicFramePr>
        <p:xfrm>
          <a:off x="6318672" y="3965637"/>
          <a:ext cx="4572529" cy="1028700"/>
        </p:xfrm>
        <a:graphic>
          <a:graphicData uri="http://schemas.openxmlformats.org/presentationml/2006/ole">
            <p:oleObj spid="_x0000_s7289" r:id="rId6" imgW="1460500" imgH="457200" progId="Equation.3">
              <p:embed/>
            </p:oleObj>
          </a:graphicData>
        </a:graphic>
      </p:graphicFrame>
      <p:sp>
        <p:nvSpPr>
          <p:cNvPr id="7"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8" name="矩形 7"/>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9" name="矩形 8">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1"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3" name="projctor.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7446" y="941302"/>
            <a:ext cx="5941348" cy="692498"/>
          </a:xfrm>
          <a:prstGeom prst="rect">
            <a:avLst/>
          </a:prstGeom>
          <a:noFill/>
        </p:spPr>
        <p:txBody>
          <a:bodyPr wrap="square" lIns="137169" tIns="68585" rIns="137169" bIns="68585" rtlCol="0">
            <a:spAutoFit/>
          </a:bodyPr>
          <a:lstStyle/>
          <a:p>
            <a:r>
              <a:rPr lang="zh-CN" altLang="en-US" sz="3600" b="1" dirty="0">
                <a:latin typeface="Times New Roman" pitchFamily="18" charset="0"/>
                <a:ea typeface="微软雅黑" pitchFamily="34" charset="-122"/>
                <a:cs typeface="Times New Roman" pitchFamily="18" charset="0"/>
              </a:rPr>
              <a:t>有时噪声系数用电压比</a:t>
            </a:r>
            <a:r>
              <a:rPr lang="zh-CN" altLang="en-US" sz="3600" b="1" dirty="0" smtClean="0">
                <a:latin typeface="Times New Roman" pitchFamily="18" charset="0"/>
                <a:ea typeface="微软雅黑" pitchFamily="34" charset="-122"/>
                <a:cs typeface="Times New Roman" pitchFamily="18" charset="0"/>
              </a:rPr>
              <a:t>表示：</a:t>
            </a:r>
            <a:endParaRPr lang="zh-CN" altLang="en-US" sz="3600" b="1" dirty="0">
              <a:latin typeface="Times New Roman" pitchFamily="18" charset="0"/>
              <a:ea typeface="微软雅黑" pitchFamily="34" charset="-122"/>
              <a:cs typeface="Times New Roman"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xmlns="" val="138881632"/>
              </p:ext>
            </p:extLst>
          </p:nvPr>
        </p:nvGraphicFramePr>
        <p:xfrm>
          <a:off x="778760" y="2049869"/>
          <a:ext cx="5065504" cy="1333500"/>
        </p:xfrm>
        <a:graphic>
          <a:graphicData uri="http://schemas.openxmlformats.org/presentationml/2006/ole">
            <p:oleObj spid="_x0000_s19656" name="公式" r:id="rId4" imgW="1536480" imgH="888840" progId="Equation.3">
              <p:embed/>
            </p:oleObj>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xmlns="" val="2429338089"/>
              </p:ext>
            </p:extLst>
          </p:nvPr>
        </p:nvGraphicFramePr>
        <p:xfrm>
          <a:off x="6318671" y="2393364"/>
          <a:ext cx="1714699" cy="704850"/>
        </p:xfrm>
        <a:graphic>
          <a:graphicData uri="http://schemas.openxmlformats.org/presentationml/2006/ole">
            <p:oleObj spid="_x0000_s19657" r:id="rId5" imgW="596641" imgH="444307" progId="Equation.3">
              <p:embed/>
            </p:oleObj>
          </a:graphicData>
        </a:graphic>
      </p:graphicFrame>
      <p:sp>
        <p:nvSpPr>
          <p:cNvPr id="6" name="TextBox 5"/>
          <p:cNvSpPr txBox="1"/>
          <p:nvPr/>
        </p:nvSpPr>
        <p:spPr>
          <a:xfrm>
            <a:off x="8587186" y="2393364"/>
            <a:ext cx="1944441" cy="600165"/>
          </a:xfrm>
          <a:prstGeom prst="rect">
            <a:avLst/>
          </a:prstGeom>
          <a:noFill/>
        </p:spPr>
        <p:txBody>
          <a:bodyPr wrap="square" lIns="137169" tIns="68585" rIns="137169" bIns="68585" rtlCol="0">
            <a:spAutoFit/>
          </a:bodyPr>
          <a:lstStyle/>
          <a:p>
            <a:r>
              <a:rPr lang="zh-CN" altLang="en-US" sz="3000" b="1" dirty="0">
                <a:latin typeface="Times New Roman" pitchFamily="18" charset="0"/>
                <a:ea typeface="微软雅黑" pitchFamily="34" charset="-122"/>
                <a:cs typeface="Times New Roman" pitchFamily="18" charset="0"/>
              </a:rPr>
              <a:t>电压增益</a:t>
            </a:r>
            <a:endParaRPr lang="zh-CN" altLang="en-US" sz="3000" dirty="0"/>
          </a:p>
        </p:txBody>
      </p:sp>
      <p:graphicFrame>
        <p:nvGraphicFramePr>
          <p:cNvPr id="7" name="对象 6"/>
          <p:cNvGraphicFramePr>
            <a:graphicFrameLocks noChangeAspect="1"/>
          </p:cNvGraphicFramePr>
          <p:nvPr>
            <p:extLst>
              <p:ext uri="{D42A27DB-BD31-4B8C-83A1-F6EECF244321}">
                <p14:modId xmlns:p14="http://schemas.microsoft.com/office/powerpoint/2010/main" xmlns="" val="3009776009"/>
              </p:ext>
            </p:extLst>
          </p:nvPr>
        </p:nvGraphicFramePr>
        <p:xfrm>
          <a:off x="2321765" y="3798467"/>
          <a:ext cx="3543710" cy="707231"/>
        </p:xfrm>
        <a:graphic>
          <a:graphicData uri="http://schemas.openxmlformats.org/presentationml/2006/ole">
            <p:oleObj spid="_x0000_s19658" r:id="rId6" imgW="799753" imgH="241195" progId="Equation.3">
              <p:embed/>
            </p:oleObj>
          </a:graphicData>
        </a:graphic>
      </p:graphicFrame>
      <p:sp>
        <p:nvSpPr>
          <p:cNvPr id="8" name="TextBox 7"/>
          <p:cNvSpPr txBox="1"/>
          <p:nvPr/>
        </p:nvSpPr>
        <p:spPr>
          <a:xfrm>
            <a:off x="6318672" y="3864009"/>
            <a:ext cx="3672833" cy="600165"/>
          </a:xfrm>
          <a:prstGeom prst="rect">
            <a:avLst/>
          </a:prstGeom>
          <a:noFill/>
        </p:spPr>
        <p:txBody>
          <a:bodyPr wrap="square" lIns="137169" tIns="68585" rIns="137169" bIns="68585" rtlCol="0">
            <a:spAutoFit/>
          </a:bodyPr>
          <a:lstStyle/>
          <a:p>
            <a:r>
              <a:rPr lang="en-US" altLang="zh-CN" sz="3000" b="1" dirty="0">
                <a:latin typeface="Times New Roman" pitchFamily="18" charset="0"/>
                <a:ea typeface="微软雅黑" pitchFamily="34" charset="-122"/>
                <a:cs typeface="Times New Roman" pitchFamily="18" charset="0"/>
              </a:rPr>
              <a:t>E</a:t>
            </a:r>
            <a:r>
              <a:rPr lang="en-US" altLang="zh-CN" sz="3000" b="1" baseline="-30000" dirty="0">
                <a:latin typeface="Times New Roman" pitchFamily="18" charset="0"/>
                <a:ea typeface="微软雅黑" pitchFamily="34" charset="-122"/>
                <a:cs typeface="Times New Roman" pitchFamily="18" charset="0"/>
              </a:rPr>
              <a:t>ni</a:t>
            </a:r>
            <a:r>
              <a:rPr lang="zh-CN" altLang="en-US" sz="3000" b="1" dirty="0">
                <a:latin typeface="Times New Roman" pitchFamily="18" charset="0"/>
                <a:ea typeface="微软雅黑" pitchFamily="34" charset="-122"/>
                <a:cs typeface="Times New Roman" pitchFamily="18" charset="0"/>
              </a:rPr>
              <a:t>为等效输入</a:t>
            </a:r>
            <a:r>
              <a:rPr lang="zh-CN" altLang="en-US" sz="3000" b="1" dirty="0" smtClean="0">
                <a:latin typeface="Times New Roman" pitchFamily="18" charset="0"/>
                <a:ea typeface="微软雅黑" pitchFamily="34" charset="-122"/>
                <a:cs typeface="Times New Roman" pitchFamily="18" charset="0"/>
              </a:rPr>
              <a:t>噪声</a:t>
            </a:r>
            <a:endParaRPr lang="zh-CN" altLang="en-US" sz="3000" b="1" dirty="0">
              <a:latin typeface="Times New Roman" pitchFamily="18" charset="0"/>
              <a:ea typeface="微软雅黑" pitchFamily="34" charset="-122"/>
              <a:cs typeface="Times New Roman"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xmlns="" val="2178175066"/>
              </p:ext>
            </p:extLst>
          </p:nvPr>
        </p:nvGraphicFramePr>
        <p:xfrm>
          <a:off x="1319323" y="4815795"/>
          <a:ext cx="3200771" cy="942975"/>
        </p:xfrm>
        <a:graphic>
          <a:graphicData uri="http://schemas.openxmlformats.org/presentationml/2006/ole">
            <p:oleObj spid="_x0000_s19659" r:id="rId7" imgW="990600" imgH="457200" progId="Equation.3">
              <p:embed/>
            </p:oleObj>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xmlns="" val="2472350163"/>
              </p:ext>
            </p:extLst>
          </p:nvPr>
        </p:nvGraphicFramePr>
        <p:xfrm>
          <a:off x="4698304" y="4815795"/>
          <a:ext cx="1257446" cy="942975"/>
        </p:xfrm>
        <a:graphic>
          <a:graphicData uri="http://schemas.openxmlformats.org/presentationml/2006/ole">
            <p:oleObj spid="_x0000_s19660" r:id="rId8" imgW="406224" imgH="457002" progId="Equation.3">
              <p:embed/>
            </p:oleObj>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xmlns="" val="2428889252"/>
              </p:ext>
            </p:extLst>
          </p:nvPr>
        </p:nvGraphicFramePr>
        <p:xfrm>
          <a:off x="6245180" y="4815795"/>
          <a:ext cx="3422252" cy="940593"/>
        </p:xfrm>
        <a:graphic>
          <a:graphicData uri="http://schemas.openxmlformats.org/presentationml/2006/ole">
            <p:oleObj spid="_x0000_s19661" r:id="rId9" imgW="1206500" imgH="457200" progId="Equation.3">
              <p:embed/>
            </p:oleObj>
          </a:graphicData>
        </a:graphic>
      </p:graphicFrame>
      <p:sp>
        <p:nvSpPr>
          <p:cNvPr id="12" name="TextBox 11"/>
          <p:cNvSpPr txBox="1"/>
          <p:nvPr/>
        </p:nvSpPr>
        <p:spPr>
          <a:xfrm>
            <a:off x="1349544" y="6327964"/>
            <a:ext cx="10046279" cy="692498"/>
          </a:xfrm>
          <a:prstGeom prst="rect">
            <a:avLst/>
          </a:prstGeom>
          <a:noFill/>
        </p:spPr>
        <p:txBody>
          <a:bodyPr wrap="square" lIns="137169" tIns="68585" rIns="137169" bIns="68585" rtlCol="0">
            <a:spAutoFit/>
          </a:bodyPr>
          <a:lstStyle/>
          <a:p>
            <a:r>
              <a:rPr lang="zh-CN" altLang="en-US" sz="3600" b="1" dirty="0">
                <a:latin typeface="Times New Roman" pitchFamily="18" charset="0"/>
                <a:ea typeface="微软雅黑" pitchFamily="34" charset="-122"/>
                <a:cs typeface="Times New Roman" pitchFamily="18" charset="0"/>
              </a:rPr>
              <a:t>（噪声系数等于等效输入噪声比信号源的噪声</a:t>
            </a:r>
            <a:r>
              <a:rPr lang="zh-CN" altLang="en-US" sz="3600" b="1" dirty="0" smtClean="0">
                <a:latin typeface="Times New Roman" pitchFamily="18" charset="0"/>
                <a:ea typeface="微软雅黑" pitchFamily="34" charset="-122"/>
                <a:cs typeface="Times New Roman" pitchFamily="18" charset="0"/>
              </a:rPr>
              <a:t>）</a:t>
            </a:r>
            <a:endParaRPr lang="zh-CN" altLang="en-US" sz="3600" dirty="0"/>
          </a:p>
        </p:txBody>
      </p:sp>
      <p:sp>
        <p:nvSpPr>
          <p:cNvPr id="14"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15" name="矩形 1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539169172"/>
      </p:ext>
    </p:extLst>
  </p:cSld>
  <p:clrMapOvr>
    <a:masterClrMapping/>
  </p:clrMapOvr>
  <p:transition spd="slow">
    <p:blinds dir="vert"/>
    <p:sndAc>
      <p:stSnd>
        <p:snd r:embed="rId3"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Rectangle 3"/>
          <p:cNvSpPr>
            <a:spLocks noGrp="1" noChangeArrowheads="1"/>
          </p:cNvSpPr>
          <p:nvPr>
            <p:ph idx="1"/>
          </p:nvPr>
        </p:nvSpPr>
        <p:spPr bwMode="auto">
          <a:xfrm>
            <a:off x="2321765" y="2129433"/>
            <a:ext cx="9899481" cy="972108"/>
          </a:xfrm>
          <a:noFill/>
          <a:ln>
            <a:miter lim="800000"/>
            <a:headEnd/>
            <a:tailEnd/>
          </a:ln>
        </p:spPr>
        <p:txBody>
          <a:bodyPr vert="horz" wrap="square" lIns="137165" tIns="68583" rIns="137165" bIns="68583" numCol="1" anchor="t" anchorCtr="0" compatLnSpc="1">
            <a:prstTxWarp prst="textNoShape">
              <a:avLst/>
            </a:prstTxWarp>
          </a:bodyPr>
          <a:lstStyle/>
          <a:p>
            <a:pPr marL="0" indent="0">
              <a:lnSpc>
                <a:spcPct val="150000"/>
              </a:lnSpc>
              <a:spcBef>
                <a:spcPts val="0"/>
              </a:spcBef>
              <a:buNone/>
            </a:pPr>
            <a:r>
              <a:rPr lang="zh-CN" altLang="en-US" sz="3000" b="1" dirty="0" smtClean="0">
                <a:latin typeface="Times New Roman" pitchFamily="18" charset="0"/>
                <a:ea typeface="微软雅黑" pitchFamily="34" charset="-122"/>
                <a:cs typeface="Times New Roman" pitchFamily="18" charset="0"/>
              </a:rPr>
              <a:t>若</a:t>
            </a:r>
            <a:r>
              <a:rPr lang="zh-CN" altLang="en-US" sz="3000" b="1" dirty="0">
                <a:latin typeface="Times New Roman" pitchFamily="18" charset="0"/>
                <a:ea typeface="微软雅黑" pitchFamily="34" charset="-122"/>
                <a:cs typeface="Times New Roman" pitchFamily="18" charset="0"/>
              </a:rPr>
              <a:t>考虑相关系数</a:t>
            </a:r>
            <a:r>
              <a:rPr lang="en-US" altLang="zh-CN" sz="3000" b="1" dirty="0">
                <a:latin typeface="Times New Roman" pitchFamily="18" charset="0"/>
                <a:ea typeface="微软雅黑" pitchFamily="34" charset="-122"/>
                <a:cs typeface="Times New Roman" pitchFamily="18" charset="0"/>
              </a:rPr>
              <a:t>r≠0</a:t>
            </a:r>
            <a:r>
              <a:rPr lang="zh-CN" altLang="en-US" sz="3000" b="1" dirty="0">
                <a:latin typeface="Times New Roman" pitchFamily="18" charset="0"/>
                <a:ea typeface="微软雅黑" pitchFamily="34" charset="-122"/>
                <a:cs typeface="Times New Roman" pitchFamily="18" charset="0"/>
              </a:rPr>
              <a:t>，则噪声系数 ：</a:t>
            </a:r>
          </a:p>
          <a:p>
            <a:pPr>
              <a:lnSpc>
                <a:spcPct val="150000"/>
              </a:lnSpc>
              <a:spcBef>
                <a:spcPts val="0"/>
              </a:spcBef>
            </a:pPr>
            <a:endParaRPr lang="en-US" altLang="zh-CN" sz="4200" dirty="0" smtClean="0">
              <a:latin typeface="Times New Roman" pitchFamily="18" charset="0"/>
              <a:ea typeface="微软雅黑" pitchFamily="34" charset="-122"/>
              <a:cs typeface="Times New Roman" pitchFamily="18" charset="0"/>
            </a:endParaRPr>
          </a:p>
        </p:txBody>
      </p:sp>
      <p:graphicFrame>
        <p:nvGraphicFramePr>
          <p:cNvPr id="8200" name="Object 17"/>
          <p:cNvGraphicFramePr>
            <a:graphicFrameLocks noChangeAspect="1"/>
          </p:cNvGraphicFramePr>
          <p:nvPr>
            <p:extLst>
              <p:ext uri="{D42A27DB-BD31-4B8C-83A1-F6EECF244321}">
                <p14:modId xmlns:p14="http://schemas.microsoft.com/office/powerpoint/2010/main" xmlns="" val="2371967442"/>
              </p:ext>
            </p:extLst>
          </p:nvPr>
        </p:nvGraphicFramePr>
        <p:xfrm>
          <a:off x="2321765" y="4289673"/>
          <a:ext cx="7544673" cy="1084065"/>
        </p:xfrm>
        <a:graphic>
          <a:graphicData uri="http://schemas.openxmlformats.org/presentationml/2006/ole">
            <p:oleObj spid="_x0000_s8291" r:id="rId4" imgW="2184400" imgH="457200" progId="Equation.3">
              <p:embed/>
            </p:oleObj>
          </a:graphicData>
        </a:graphic>
      </p:graphicFrame>
      <p:sp>
        <p:nvSpPr>
          <p:cNvPr id="5"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6" name="矩形 5"/>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7" name="矩形 6">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9"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1" name="矩形 10">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3"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133495" y="941301"/>
            <a:ext cx="1728392" cy="756084"/>
          </a:xfrm>
          <a:prstGeom prst="rect">
            <a:avLst/>
          </a:prstGeom>
          <a:noFill/>
          <a:ln>
            <a:miter lim="800000"/>
            <a:headEnd/>
            <a:tailEnd/>
          </a:ln>
        </p:spPr>
        <p:txBody>
          <a:bodyPr vert="horz" wrap="square" lIns="137165" tIns="68583" rIns="137165" bIns="68583" numCol="1" anchor="t" anchorCtr="0" compatLnSpc="1">
            <a:prstTxWarp prst="textNoShape">
              <a:avLst/>
            </a:prstTxWarp>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pitchFamily="2" charset="-122"/>
              </a:defRPr>
            </a:lvl2pPr>
            <a:lvl3pPr algn="ctr" rtl="0" eaLnBrk="1" fontAlgn="base" hangingPunct="1">
              <a:spcBef>
                <a:spcPct val="0"/>
              </a:spcBef>
              <a:spcAft>
                <a:spcPct val="0"/>
              </a:spcAft>
              <a:defRPr sz="4400">
                <a:solidFill>
                  <a:schemeClr val="tx1"/>
                </a:solidFill>
                <a:latin typeface="Calibri" pitchFamily="34" charset="0"/>
                <a:ea typeface="宋体" pitchFamily="2" charset="-122"/>
              </a:defRPr>
            </a:lvl3pPr>
            <a:lvl4pPr algn="ctr" rtl="0" eaLnBrk="1" fontAlgn="base" hangingPunct="1">
              <a:spcBef>
                <a:spcPct val="0"/>
              </a:spcBef>
              <a:spcAft>
                <a:spcPct val="0"/>
              </a:spcAft>
              <a:defRPr sz="4400">
                <a:solidFill>
                  <a:schemeClr val="tx1"/>
                </a:solidFill>
                <a:latin typeface="Calibri" pitchFamily="34" charset="0"/>
                <a:ea typeface="宋体" pitchFamily="2" charset="-122"/>
              </a:defRPr>
            </a:lvl4pPr>
            <a:lvl5pPr algn="ctr" rtl="0" eaLnBrk="1" fontAlgn="base" hangingPunct="1">
              <a:spcBef>
                <a:spcPct val="0"/>
              </a:spcBef>
              <a:spcAft>
                <a:spcPct val="0"/>
              </a:spcAft>
              <a:defRPr sz="4400">
                <a:solidFill>
                  <a:schemeClr val="tx1"/>
                </a:solidFill>
                <a:latin typeface="Calibri"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a:lstStyle>
          <a:p>
            <a:r>
              <a:rPr lang="zh-CN" altLang="en-US" sz="4200" b="1" dirty="0" smtClean="0">
                <a:latin typeface="微软雅黑" pitchFamily="34" charset="-122"/>
                <a:ea typeface="微软雅黑" pitchFamily="34" charset="-122"/>
              </a:rPr>
              <a:t>结论：</a:t>
            </a:r>
            <a:endParaRPr lang="zh-CN" altLang="en-US" sz="4200" b="1" dirty="0">
              <a:latin typeface="微软雅黑" pitchFamily="34" charset="-122"/>
              <a:ea typeface="微软雅黑" pitchFamily="34" charset="-122"/>
            </a:endParaRPr>
          </a:p>
        </p:txBody>
      </p:sp>
      <p:sp>
        <p:nvSpPr>
          <p:cNvPr id="3" name="TextBox 2"/>
          <p:cNvSpPr txBox="1"/>
          <p:nvPr/>
        </p:nvSpPr>
        <p:spPr>
          <a:xfrm>
            <a:off x="883151" y="1797527"/>
            <a:ext cx="5077152" cy="600165"/>
          </a:xfrm>
          <a:prstGeom prst="rect">
            <a:avLst/>
          </a:prstGeom>
          <a:noFill/>
        </p:spPr>
        <p:txBody>
          <a:bodyPr wrap="square" lIns="137169" tIns="68585" rIns="137169" bIns="68585" rtlCol="0">
            <a:spAutoFit/>
          </a:bodyPr>
          <a:lstStyle/>
          <a:p>
            <a:r>
              <a:rPr lang="zh-CN" altLang="en-US" sz="3000" b="1" dirty="0">
                <a:latin typeface="微软雅黑" pitchFamily="34" charset="-122"/>
                <a:ea typeface="微软雅黑" pitchFamily="34" charset="-122"/>
                <a:cs typeface="Times New Roman" pitchFamily="18" charset="0"/>
              </a:rPr>
              <a:t>噪声系数的三个表达式为</a:t>
            </a:r>
            <a:r>
              <a:rPr lang="zh-CN" altLang="en-US" sz="3000" b="1" dirty="0" smtClean="0">
                <a:latin typeface="微软雅黑" pitchFamily="34" charset="-122"/>
                <a:ea typeface="微软雅黑" pitchFamily="34" charset="-122"/>
                <a:cs typeface="Times New Roman" pitchFamily="18" charset="0"/>
              </a:rPr>
              <a:t>：</a:t>
            </a:r>
            <a:endParaRPr lang="zh-CN" altLang="en-US" sz="3000" dirty="0">
              <a:latin typeface="微软雅黑" pitchFamily="34" charset="-122"/>
              <a:ea typeface="微软雅黑" pitchFamily="34"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xmlns="" val="897784283"/>
              </p:ext>
            </p:extLst>
          </p:nvPr>
        </p:nvGraphicFramePr>
        <p:xfrm>
          <a:off x="4050157" y="2504992"/>
          <a:ext cx="6515854" cy="950120"/>
        </p:xfrm>
        <a:graphic>
          <a:graphicData uri="http://schemas.openxmlformats.org/presentationml/2006/ole">
            <p:oleObj spid="_x0000_s20572" r:id="rId4" imgW="2019300" imgH="444500" progId="Equation.3">
              <p:embed/>
            </p:oleObj>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xmlns="" val="673830522"/>
              </p:ext>
            </p:extLst>
          </p:nvPr>
        </p:nvGraphicFramePr>
        <p:xfrm>
          <a:off x="3822350" y="3674270"/>
          <a:ext cx="8575873" cy="966788"/>
        </p:xfrm>
        <a:graphic>
          <a:graphicData uri="http://schemas.openxmlformats.org/presentationml/2006/ole">
            <p:oleObj spid="_x0000_s20573" name="公式" r:id="rId5" imgW="3073320" imgH="457200" progId="Equation.3">
              <p:embed/>
            </p:oleObj>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xmlns="" val="2904309396"/>
              </p:ext>
            </p:extLst>
          </p:nvPr>
        </p:nvGraphicFramePr>
        <p:xfrm>
          <a:off x="3077936" y="4725859"/>
          <a:ext cx="9945251" cy="1023938"/>
        </p:xfrm>
        <a:graphic>
          <a:graphicData uri="http://schemas.openxmlformats.org/presentationml/2006/ole">
            <p:oleObj spid="_x0000_s20574" r:id="rId6" imgW="3302000" imgH="457200" progId="Equation.3">
              <p:embed/>
            </p:oleObj>
          </a:graphicData>
        </a:graphic>
      </p:graphicFrame>
      <p:sp>
        <p:nvSpPr>
          <p:cNvPr id="7" name="TextBox 6"/>
          <p:cNvSpPr txBox="1"/>
          <p:nvPr/>
        </p:nvSpPr>
        <p:spPr>
          <a:xfrm>
            <a:off x="1133496" y="2679969"/>
            <a:ext cx="2734908" cy="600165"/>
          </a:xfrm>
          <a:prstGeom prst="rect">
            <a:avLst/>
          </a:prstGeom>
          <a:noFill/>
        </p:spPr>
        <p:txBody>
          <a:bodyPr wrap="square" lIns="137169" tIns="68585" rIns="137169" bIns="68585" rtlCol="0">
            <a:spAutoFit/>
          </a:bodyPr>
          <a:lstStyle/>
          <a:p>
            <a:r>
              <a:rPr lang="zh-CN" altLang="en-US" sz="3000" b="1" dirty="0">
                <a:latin typeface="微软雅黑" pitchFamily="34" charset="-122"/>
                <a:ea typeface="微软雅黑" pitchFamily="34" charset="-122"/>
                <a:cs typeface="Times New Roman" pitchFamily="18" charset="0"/>
              </a:rPr>
              <a:t>基本定义式</a:t>
            </a:r>
            <a:r>
              <a:rPr lang="zh-CN" altLang="en-US" sz="3000" b="1" dirty="0" smtClean="0">
                <a:latin typeface="微软雅黑" pitchFamily="34" charset="-122"/>
                <a:ea typeface="微软雅黑" pitchFamily="34" charset="-122"/>
                <a:cs typeface="Times New Roman" pitchFamily="18" charset="0"/>
              </a:rPr>
              <a:t>：</a:t>
            </a:r>
            <a:endParaRPr lang="zh-CN" altLang="en-US" sz="3000" b="1" dirty="0">
              <a:latin typeface="微软雅黑" pitchFamily="34" charset="-122"/>
              <a:ea typeface="微软雅黑" pitchFamily="34" charset="-122"/>
              <a:cs typeface="Times New Roman" pitchFamily="18" charset="0"/>
            </a:endParaRPr>
          </a:p>
        </p:txBody>
      </p:sp>
      <p:sp>
        <p:nvSpPr>
          <p:cNvPr id="8" name="TextBox 7"/>
          <p:cNvSpPr txBox="1"/>
          <p:nvPr/>
        </p:nvSpPr>
        <p:spPr>
          <a:xfrm>
            <a:off x="1582739" y="3808616"/>
            <a:ext cx="1836417" cy="600165"/>
          </a:xfrm>
          <a:prstGeom prst="rect">
            <a:avLst/>
          </a:prstGeom>
          <a:noFill/>
        </p:spPr>
        <p:txBody>
          <a:bodyPr wrap="square" lIns="137169" tIns="68585" rIns="137169" bIns="68585" rtlCol="0">
            <a:spAutoFit/>
          </a:bodyPr>
          <a:lstStyle/>
          <a:p>
            <a:r>
              <a:rPr lang="zh-CN" altLang="en-US" sz="3000" b="1" dirty="0">
                <a:latin typeface="微软雅黑" pitchFamily="34" charset="-122"/>
                <a:ea typeface="微软雅黑" pitchFamily="34" charset="-122"/>
                <a:cs typeface="Times New Roman" pitchFamily="18" charset="0"/>
              </a:rPr>
              <a:t>导出式</a:t>
            </a:r>
            <a:r>
              <a:rPr lang="zh-CN" altLang="en-US" sz="3000" b="1" dirty="0" smtClean="0">
                <a:latin typeface="微软雅黑" pitchFamily="34" charset="-122"/>
                <a:ea typeface="微软雅黑" pitchFamily="34" charset="-122"/>
                <a:cs typeface="Times New Roman" pitchFamily="18" charset="0"/>
              </a:rPr>
              <a:t>：</a:t>
            </a:r>
            <a:endParaRPr lang="zh-CN" altLang="en-US" sz="3000" b="1" dirty="0">
              <a:latin typeface="微软雅黑" pitchFamily="34" charset="-122"/>
              <a:ea typeface="微软雅黑" pitchFamily="34" charset="-122"/>
              <a:cs typeface="Times New Roman" pitchFamily="18" charset="0"/>
            </a:endParaRPr>
          </a:p>
        </p:txBody>
      </p:sp>
      <p:sp>
        <p:nvSpPr>
          <p:cNvPr id="9" name="TextBox 8"/>
          <p:cNvSpPr txBox="1"/>
          <p:nvPr/>
        </p:nvSpPr>
        <p:spPr>
          <a:xfrm>
            <a:off x="2040666" y="4937745"/>
            <a:ext cx="920565" cy="600165"/>
          </a:xfrm>
          <a:prstGeom prst="rect">
            <a:avLst/>
          </a:prstGeom>
          <a:noFill/>
        </p:spPr>
        <p:txBody>
          <a:bodyPr wrap="square" lIns="137169" tIns="68585" rIns="137169" bIns="68585" rtlCol="0">
            <a:spAutoFit/>
          </a:bodyPr>
          <a:lstStyle/>
          <a:p>
            <a:r>
              <a:rPr lang="zh-CN" altLang="en-US" sz="3000" b="1" dirty="0">
                <a:latin typeface="微软雅黑" pitchFamily="34" charset="-122"/>
                <a:ea typeface="微软雅黑" pitchFamily="34" charset="-122"/>
                <a:cs typeface="Times New Roman" pitchFamily="18" charset="0"/>
              </a:rPr>
              <a:t>或</a:t>
            </a:r>
            <a:r>
              <a:rPr lang="zh-CN" altLang="en-US" sz="3000" b="1" dirty="0" smtClean="0">
                <a:latin typeface="微软雅黑" pitchFamily="34" charset="-122"/>
                <a:ea typeface="微软雅黑" pitchFamily="34" charset="-122"/>
                <a:cs typeface="Times New Roman" pitchFamily="18" charset="0"/>
              </a:rPr>
              <a:t>：</a:t>
            </a:r>
            <a:endParaRPr lang="zh-CN" altLang="en-US" sz="3000" b="1" dirty="0">
              <a:latin typeface="微软雅黑" pitchFamily="34" charset="-122"/>
              <a:ea typeface="微软雅黑" pitchFamily="34" charset="-122"/>
              <a:cs typeface="Times New Roman" pitchFamily="18" charset="0"/>
            </a:endParaRPr>
          </a:p>
        </p:txBody>
      </p:sp>
      <p:sp>
        <p:nvSpPr>
          <p:cNvPr id="10" name="TextBox 9"/>
          <p:cNvSpPr txBox="1"/>
          <p:nvPr/>
        </p:nvSpPr>
        <p:spPr>
          <a:xfrm>
            <a:off x="1582739" y="6341901"/>
            <a:ext cx="10910475" cy="600165"/>
          </a:xfrm>
          <a:prstGeom prst="rect">
            <a:avLst/>
          </a:prstGeom>
          <a:noFill/>
        </p:spPr>
        <p:txBody>
          <a:bodyPr wrap="square" lIns="137169" tIns="68585" rIns="137169" bIns="68585" rtlCol="0">
            <a:spAutoFit/>
          </a:bodyPr>
          <a:lstStyle/>
          <a:p>
            <a:r>
              <a:rPr lang="zh-CN" altLang="en-US" sz="3000" b="1" dirty="0">
                <a:latin typeface="微软雅黑" pitchFamily="34" charset="-122"/>
                <a:ea typeface="微软雅黑" pitchFamily="34" charset="-122"/>
                <a:cs typeface="Times New Roman" pitchFamily="18" charset="0"/>
              </a:rPr>
              <a:t>它们分别从不同的角度说明了噪声系数的含义，是完全等效的</a:t>
            </a:r>
            <a:r>
              <a:rPr lang="zh-CN" altLang="en-US" sz="3000" b="1" dirty="0" smtClean="0">
                <a:latin typeface="微软雅黑" pitchFamily="34" charset="-122"/>
                <a:ea typeface="微软雅黑" pitchFamily="34" charset="-122"/>
                <a:cs typeface="Times New Roman" pitchFamily="18" charset="0"/>
              </a:rPr>
              <a:t>。</a:t>
            </a:r>
            <a:endParaRPr lang="zh-CN" altLang="en-US" sz="3000" b="1" dirty="0">
              <a:latin typeface="微软雅黑" pitchFamily="34" charset="-122"/>
              <a:ea typeface="微软雅黑" pitchFamily="34" charset="-122"/>
              <a:cs typeface="Times New Roman" pitchFamily="18" charset="0"/>
            </a:endParaRPr>
          </a:p>
        </p:txBody>
      </p:sp>
      <p:sp>
        <p:nvSpPr>
          <p:cNvPr id="12"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370591177"/>
      </p:ext>
    </p:extLst>
  </p:cSld>
  <p:clrMapOvr>
    <a:masterClrMapping/>
  </p:clrMapOvr>
  <p:transition spd="slow">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fill="hold"/>
                                        <p:tgtEl>
                                          <p:spTgt spid="5"/>
                                        </p:tgtEl>
                                        <p:attrNameLst>
                                          <p:attrName>ppt_w</p:attrName>
                                        </p:attrNameLst>
                                      </p:cBhvr>
                                      <p:tavLst>
                                        <p:tav tm="0">
                                          <p:val>
                                            <p:fltVal val="0"/>
                                          </p:val>
                                        </p:tav>
                                        <p:tav tm="100000">
                                          <p:val>
                                            <p:strVal val="#ppt_w"/>
                                          </p:val>
                                        </p:tav>
                                      </p:tavLst>
                                    </p:anim>
                                    <p:anim calcmode="lin" valueType="num">
                                      <p:cBhvr>
                                        <p:cTn id="43" dur="500" fill="hold"/>
                                        <p:tgtEl>
                                          <p:spTgt spid="5"/>
                                        </p:tgtEl>
                                        <p:attrNameLst>
                                          <p:attrName>ppt_h</p:attrName>
                                        </p:attrNameLst>
                                      </p:cBhvr>
                                      <p:tavLst>
                                        <p:tav tm="0">
                                          <p:val>
                                            <p:fltVal val="0"/>
                                          </p:val>
                                        </p:tav>
                                        <p:tav tm="100000">
                                          <p:val>
                                            <p:strVal val="#ppt_h"/>
                                          </p:val>
                                        </p:tav>
                                      </p:tavLst>
                                    </p:anim>
                                    <p:animEffect transition="in" filter="fade">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p:cTn id="63" dur="500" fill="hold"/>
                                        <p:tgtEl>
                                          <p:spTgt spid="10"/>
                                        </p:tgtEl>
                                        <p:attrNameLst>
                                          <p:attrName>ppt_w</p:attrName>
                                        </p:attrNameLst>
                                      </p:cBhvr>
                                      <p:tavLst>
                                        <p:tav tm="0">
                                          <p:val>
                                            <p:fltVal val="0"/>
                                          </p:val>
                                        </p:tav>
                                        <p:tav tm="100000">
                                          <p:val>
                                            <p:strVal val="#ppt_w"/>
                                          </p:val>
                                        </p:tav>
                                      </p:tavLst>
                                    </p:anim>
                                    <p:anim calcmode="lin" valueType="num">
                                      <p:cBhvr>
                                        <p:cTn id="64" dur="500" fill="hold"/>
                                        <p:tgtEl>
                                          <p:spTgt spid="10"/>
                                        </p:tgtEl>
                                        <p:attrNameLst>
                                          <p:attrName>ppt_h</p:attrName>
                                        </p:attrNameLst>
                                      </p:cBhvr>
                                      <p:tavLst>
                                        <p:tav tm="0">
                                          <p:val>
                                            <p:fltVal val="0"/>
                                          </p:val>
                                        </p:tav>
                                        <p:tav tm="100000">
                                          <p:val>
                                            <p:strVal val="#ppt_h"/>
                                          </p:val>
                                        </p:tav>
                                      </p:tavLst>
                                    </p:anim>
                                    <p:animEffect transition="in" filter="fade">
                                      <p:cBhvr>
                                        <p:cTn id="6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bwMode="auto">
          <a:xfrm>
            <a:off x="377324" y="1200150"/>
            <a:ext cx="13070964" cy="5657850"/>
          </a:xfrm>
          <a:noFill/>
          <a:ln>
            <a:miter lim="800000"/>
            <a:headEnd/>
            <a:tailEnd/>
          </a:ln>
        </p:spPr>
        <p:txBody>
          <a:bodyPr vert="horz" wrap="square" lIns="137165" tIns="68583" rIns="137165" bIns="68583" numCol="1" anchor="t" anchorCtr="0" compatLnSpc="1">
            <a:prstTxWarp prst="textNoShape">
              <a:avLst/>
            </a:prstTxWarp>
          </a:bodyPr>
          <a:lstStyle/>
          <a:p>
            <a:pPr algn="just">
              <a:lnSpc>
                <a:spcPct val="150000"/>
              </a:lnSpc>
              <a:spcBef>
                <a:spcPts val="0"/>
              </a:spcBef>
              <a:buFont typeface="Wingdings" pitchFamily="2" charset="2"/>
              <a:buChar char="l"/>
            </a:pPr>
            <a:r>
              <a:rPr lang="zh-CN" altLang="en-US" sz="3600" b="1" dirty="0" smtClean="0">
                <a:latin typeface="微软雅黑" pitchFamily="34" charset="-122"/>
                <a:ea typeface="微软雅黑" pitchFamily="34" charset="-122"/>
              </a:rPr>
              <a:t>在计算具体电路的噪声系数时，用后面两式比较方便。</a:t>
            </a:r>
          </a:p>
          <a:p>
            <a:pPr>
              <a:lnSpc>
                <a:spcPct val="150000"/>
              </a:lnSpc>
              <a:spcBef>
                <a:spcPts val="0"/>
              </a:spcBef>
              <a:buFont typeface="Wingdings" pitchFamily="2" charset="2"/>
              <a:buChar char="l"/>
            </a:pPr>
            <a:r>
              <a:rPr lang="zh-CN" altLang="en-US" sz="3600" b="1" dirty="0" smtClean="0">
                <a:latin typeface="微软雅黑" pitchFamily="34" charset="-122"/>
                <a:ea typeface="微软雅黑" pitchFamily="34" charset="-122"/>
              </a:rPr>
              <a:t>应该指出，噪声系数的概念仅仅适用于线性电路（线性放大器），因此可以用功率增益来描述。</a:t>
            </a:r>
          </a:p>
          <a:p>
            <a:pPr>
              <a:lnSpc>
                <a:spcPct val="150000"/>
              </a:lnSpc>
              <a:spcBef>
                <a:spcPts val="0"/>
              </a:spcBef>
              <a:buFont typeface="Wingdings" pitchFamily="2" charset="2"/>
              <a:buChar char="l"/>
            </a:pPr>
            <a:r>
              <a:rPr lang="zh-CN" altLang="en-US" sz="3600" b="1" dirty="0" smtClean="0">
                <a:latin typeface="微软雅黑" pitchFamily="34" charset="-122"/>
                <a:ea typeface="微软雅黑" pitchFamily="34" charset="-122"/>
              </a:rPr>
              <a:t>对于非线性电路而言，不仅得不到线性放大，而且信号和噪声、噪声和噪声之间会相互作用，即使电路本身不产生噪声，在输出端的信噪比和输入端的也不相同。因此噪声系数的概念就不能适用。</a:t>
            </a:r>
          </a:p>
        </p:txBody>
      </p:sp>
      <p:sp>
        <p:nvSpPr>
          <p:cNvPr id="4"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噪声系数</a:t>
            </a:r>
            <a:endParaRPr lang="zh-CN" altLang="en-US" sz="1800" b="1" dirty="0">
              <a:latin typeface="微软雅黑" panose="020B0503020204020204" pitchFamily="34" charset="-122"/>
              <a:ea typeface="微软雅黑" panose="020B0503020204020204" pitchFamily="34" charset="-122"/>
            </a:endParaRPr>
          </a:p>
        </p:txBody>
      </p:sp>
      <p:sp>
        <p:nvSpPr>
          <p:cNvPr id="5" name="矩形 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 name="矩形 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5">
            <a:extLst>
              <a:ext uri="{FF2B5EF4-FFF2-40B4-BE49-F238E27FC236}">
                <a16:creationId xmlns=""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a:t>
            </a: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0" name="矩形 9">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ransition spd="slow">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 calcmode="lin" valueType="num">
                                      <p:cBhvr>
                                        <p:cTn id="7" dur="500" fill="hold"/>
                                        <p:tgtEl>
                                          <p:spTgt spid="3277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277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277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2770">
                                            <p:txEl>
                                              <p:pRg st="1" end="1"/>
                                            </p:txEl>
                                          </p:spTgt>
                                        </p:tgtEl>
                                        <p:attrNameLst>
                                          <p:attrName>style.visibility</p:attrName>
                                        </p:attrNameLst>
                                      </p:cBhvr>
                                      <p:to>
                                        <p:strVal val="visible"/>
                                      </p:to>
                                    </p:set>
                                    <p:anim calcmode="lin" valueType="num">
                                      <p:cBhvr>
                                        <p:cTn id="14" dur="500" fill="hold"/>
                                        <p:tgtEl>
                                          <p:spTgt spid="32770">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2770">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277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2770">
                                            <p:txEl>
                                              <p:pRg st="2" end="2"/>
                                            </p:txEl>
                                          </p:spTgt>
                                        </p:tgtEl>
                                        <p:attrNameLst>
                                          <p:attrName>style.visibility</p:attrName>
                                        </p:attrNameLst>
                                      </p:cBhvr>
                                      <p:to>
                                        <p:strVal val="visible"/>
                                      </p:to>
                                    </p:set>
                                    <p:anim calcmode="lin" valueType="num">
                                      <p:cBhvr>
                                        <p:cTn id="21" dur="500" fill="hold"/>
                                        <p:tgtEl>
                                          <p:spTgt spid="32770">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2770">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27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光电系统与信号处理">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演示文稿1</Template>
  <TotalTime>2441</TotalTime>
  <Words>674</Words>
  <Application>Microsoft Office PowerPoint</Application>
  <PresentationFormat>自定义</PresentationFormat>
  <Paragraphs>101</Paragraphs>
  <Slides>12</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12</vt:i4>
      </vt:variant>
    </vt:vector>
  </HeadingPairs>
  <TitlesOfParts>
    <vt:vector size="15" baseType="lpstr">
      <vt:lpstr>光电系统与信号处理</vt:lpstr>
      <vt:lpstr>Microsoft 公式 3.0</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vector>
  </TitlesOfParts>
  <Company>hust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本节主要介绍8051单片机的存贮器结构</dc:title>
  <dc:creator>zy</dc:creator>
  <cp:lastModifiedBy>yyp</cp:lastModifiedBy>
  <cp:revision>131</cp:revision>
  <cp:lastPrinted>1601-01-01T00:00:00Z</cp:lastPrinted>
  <dcterms:created xsi:type="dcterms:W3CDTF">2002-10-11T11:07:31Z</dcterms:created>
  <dcterms:modified xsi:type="dcterms:W3CDTF">2022-05-02T04:27:06Z</dcterms:modified>
</cp:coreProperties>
</file>