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32" r:id="rId4"/>
    <p:sldId id="377" r:id="rId5"/>
    <p:sldId id="334" r:id="rId6"/>
    <p:sldId id="335" r:id="rId7"/>
    <p:sldId id="337" r:id="rId8"/>
    <p:sldId id="339" r:id="rId9"/>
    <p:sldId id="340" r:id="rId10"/>
    <p:sldId id="342" r:id="rId11"/>
    <p:sldId id="344" r:id="rId12"/>
    <p:sldId id="378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79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80" r:id="rId36"/>
    <p:sldId id="371" r:id="rId37"/>
    <p:sldId id="372" r:id="rId38"/>
    <p:sldId id="373" r:id="rId39"/>
    <p:sldId id="374" r:id="rId40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178" y="9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C5E7E-D8EA-4E11-ACE0-A76CD58E28BB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1F77E-9BB8-4E40-97EC-9AD352089B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78F43-9B1B-4EF1-B58D-B4E80A9CC240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9873B-1E51-4D71-A9BD-85FA2BE5B0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07AF8-2E53-4911-A493-6B8D4F98E232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F501E-6079-44B5-9BEB-417E388836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7125E-86C6-4DCE-BF02-AE5E9D5BBA8C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14CC1F-CAEE-4A28-A736-9A6C2CC012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CB9D6-97CB-4C8B-85BA-D9E177FA62DA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3DDC3-91A3-4416-BEF3-CAD6CC9D48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C4CC8-410A-4B5D-8630-3D11C2BD2AE9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BC5F6-F176-4A17-9DD4-28907578A0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2096D-8E3A-4F0F-B11C-0420D826EC72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8D3F4-0677-4405-9FAF-BC890C14E0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31E2-47CC-4075-9D0A-68E91A900C47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521BD-F8EA-4ABC-AF26-D47292CC8C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AF11B-A0D7-4367-A76E-978FF74B5300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83E5A-37AC-4B02-99A1-B268AFBB63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9DB4C-4115-4BDE-AFB9-CAEBE6B8107D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C9ED6-D847-4227-8243-32674F32B9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6E5BA-ECCA-47D3-8B43-31A8103C7795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F184E-D219-4588-8AE3-D2B33DE307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9682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9682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9682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4798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17785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1944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039315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449922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85897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9989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598939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98417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8194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26942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7271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900" y="1008325"/>
            <a:ext cx="12345829" cy="775054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8988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A7B00D5-74C3-4AD4-9F87-92D782068F87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DDD3BD2-B086-45D8-AE1C-014AA02951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3" r:id="rId24"/>
    <p:sldLayoutId id="2147483674" r:id="rId25"/>
    <p:sldLayoutId id="2147483675" r:id="rId26"/>
    <p:sldLayoutId id="2147483676" r:id="rId27"/>
  </p:sldLayoutIdLst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.vsdx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__2.vsd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BPW21R-&#20809;&#30005;&#20108;&#26497;&#31649;.PDF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9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光伏探测器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Photovoltaic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420994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Photodiode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362451" y="3397018"/>
            <a:ext cx="9518247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硅光敏二极管（</a:t>
            </a:r>
            <a:r>
              <a:rPr kumimoji="1" lang="en-US" altLang="zh-CN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Photodiode </a:t>
            </a: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</a:t>
            </a: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266083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890421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12"/>
          <p:cNvSpPr>
            <a:spLocks noChangeArrowheads="1"/>
          </p:cNvSpPr>
          <p:nvPr/>
        </p:nvSpPr>
        <p:spPr bwMode="auto">
          <a:xfrm rot="14742185" flipH="1">
            <a:off x="4538977" y="2383851"/>
            <a:ext cx="2251075" cy="1925638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46" name="AutoShape 12"/>
          <p:cNvSpPr>
            <a:spLocks noChangeArrowheads="1"/>
          </p:cNvSpPr>
          <p:nvPr/>
        </p:nvSpPr>
        <p:spPr bwMode="auto">
          <a:xfrm rot="10993657" flipH="1">
            <a:off x="3334859" y="1798857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47" name="AutoShape 12"/>
          <p:cNvSpPr>
            <a:spLocks noChangeArrowheads="1"/>
          </p:cNvSpPr>
          <p:nvPr/>
        </p:nvSpPr>
        <p:spPr bwMode="auto">
          <a:xfrm rot="3635398" flipH="1">
            <a:off x="2245040" y="3691951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49" name="AutoShape 12"/>
          <p:cNvSpPr>
            <a:spLocks noChangeArrowheads="1"/>
          </p:cNvSpPr>
          <p:nvPr/>
        </p:nvSpPr>
        <p:spPr bwMode="auto">
          <a:xfrm rot="7169457" flipH="1">
            <a:off x="2207733" y="2378295"/>
            <a:ext cx="2251075" cy="192405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50" name="AutoShape 12"/>
          <p:cNvSpPr>
            <a:spLocks noChangeArrowheads="1"/>
          </p:cNvSpPr>
          <p:nvPr/>
        </p:nvSpPr>
        <p:spPr bwMode="auto">
          <a:xfrm rot="18233900" flipH="1">
            <a:off x="4551677" y="3711001"/>
            <a:ext cx="2251075" cy="1925638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51" name="AutoShape 12"/>
          <p:cNvSpPr>
            <a:spLocks noChangeArrowheads="1"/>
          </p:cNvSpPr>
          <p:nvPr/>
        </p:nvSpPr>
        <p:spPr bwMode="auto">
          <a:xfrm flipH="1">
            <a:off x="3374546" y="4297582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3392009" y="2873594"/>
            <a:ext cx="2243137" cy="2181225"/>
          </a:xfrm>
          <a:prstGeom prst="ellipse">
            <a:avLst/>
          </a:prstGeom>
          <a:solidFill>
            <a:srgbClr val="FFFF00">
              <a:alpha val="25098"/>
            </a:srgbClr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3480909" y="2946619"/>
            <a:ext cx="2058987" cy="2005013"/>
          </a:xfrm>
          <a:prstGeom prst="ellipse">
            <a:avLst/>
          </a:prstGeom>
          <a:solidFill>
            <a:srgbClr val="FFFF66">
              <a:alpha val="50195"/>
            </a:srgbClr>
          </a:solidFill>
          <a:ln w="57150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200">
              <a:latin typeface="Arial" pitchFamily="34" charset="0"/>
            </a:endParaRPr>
          </a:p>
        </p:txBody>
      </p:sp>
      <p:sp>
        <p:nvSpPr>
          <p:cNvPr id="54" name="Oval 48"/>
          <p:cNvSpPr>
            <a:spLocks noChangeAspect="1" noChangeArrowheads="1"/>
          </p:cNvSpPr>
          <p:nvPr/>
        </p:nvSpPr>
        <p:spPr bwMode="auto">
          <a:xfrm>
            <a:off x="3626959" y="3129182"/>
            <a:ext cx="1738312" cy="16875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zh-CN" altLang="en-US" sz="2200">
              <a:latin typeface="Arial" pitchFamily="34" charset="0"/>
            </a:endParaRPr>
          </a:p>
        </p:txBody>
      </p:sp>
      <p:grpSp>
        <p:nvGrpSpPr>
          <p:cNvPr id="55" name="组合 67"/>
          <p:cNvGrpSpPr>
            <a:grpSpLocks/>
          </p:cNvGrpSpPr>
          <p:nvPr/>
        </p:nvGrpSpPr>
        <p:grpSpPr bwMode="auto">
          <a:xfrm>
            <a:off x="3765883" y="3211213"/>
            <a:ext cx="1514475" cy="1520608"/>
            <a:chOff x="3728509" y="2516175"/>
            <a:chExt cx="1351296" cy="1226837"/>
          </a:xfrm>
        </p:grpSpPr>
        <p:sp>
          <p:nvSpPr>
            <p:cNvPr id="56" name="Oval 49"/>
            <p:cNvSpPr>
              <a:spLocks noChangeAspect="1" noChangeArrowheads="1"/>
            </p:cNvSpPr>
            <p:nvPr/>
          </p:nvSpPr>
          <p:spPr bwMode="auto">
            <a:xfrm>
              <a:off x="3745971" y="2516175"/>
              <a:ext cx="1297005" cy="122683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latinLnBrk="1" hangingPunct="0"/>
              <a:endParaRPr lang="zh-CN" altLang="en-US" sz="1600">
                <a:latin typeface="Arial" pitchFamily="34" charset="0"/>
                <a:ea typeface="HY견고딕"/>
                <a:cs typeface="HY견고딕"/>
              </a:endParaRPr>
            </a:p>
          </p:txBody>
        </p:sp>
        <p:sp>
          <p:nvSpPr>
            <p:cNvPr id="57" name="TextBox 2"/>
            <p:cNvSpPr txBox="1">
              <a:spLocks noChangeArrowheads="1"/>
            </p:cNvSpPr>
            <p:nvPr/>
          </p:nvSpPr>
          <p:spPr bwMode="auto">
            <a:xfrm>
              <a:off x="3728509" y="2926136"/>
              <a:ext cx="1351296" cy="393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3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特点</a:t>
              </a:r>
            </a:p>
          </p:txBody>
        </p:sp>
      </p:grpSp>
      <p:sp>
        <p:nvSpPr>
          <p:cNvPr id="58" name="TextBox 9"/>
          <p:cNvSpPr txBox="1">
            <a:spLocks noChangeArrowheads="1"/>
          </p:cNvSpPr>
          <p:nvPr/>
        </p:nvSpPr>
        <p:spPr bwMode="auto">
          <a:xfrm>
            <a:off x="3703159" y="1671857"/>
            <a:ext cx="1514475" cy="492443"/>
          </a:xfrm>
          <a:prstGeom prst="rect">
            <a:avLst/>
          </a:prstGeom>
          <a:gradFill flip="none" rotWithShape="1">
            <a:gsLst>
              <a:gs pos="49000">
                <a:srgbClr val="FF0000"/>
              </a:gs>
              <a:gs pos="1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8575">
            <a:solidFill>
              <a:srgbClr val="FF0000"/>
            </a:solidFill>
          </a:ln>
        </p:spPr>
        <p:txBody>
          <a:bodyPr lIns="0" tIns="0" rIns="0" bIns="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线性好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Box 9"/>
          <p:cNvSpPr txBox="1">
            <a:spLocks noChangeArrowheads="1"/>
          </p:cNvSpPr>
          <p:nvPr/>
        </p:nvSpPr>
        <p:spPr bwMode="auto">
          <a:xfrm>
            <a:off x="6105046" y="3041869"/>
            <a:ext cx="2610853" cy="492443"/>
          </a:xfrm>
          <a:prstGeom prst="rect">
            <a:avLst/>
          </a:prstGeom>
          <a:gradFill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/>
          </a:gradFill>
          <a:ln w="28575">
            <a:solidFill>
              <a:srgbClr val="FF00FF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光谱响应宽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Box 9"/>
          <p:cNvSpPr txBox="1">
            <a:spLocks noChangeArrowheads="1"/>
          </p:cNvSpPr>
          <p:nvPr/>
        </p:nvSpPr>
        <p:spPr bwMode="auto">
          <a:xfrm>
            <a:off x="6105046" y="4891147"/>
            <a:ext cx="2834116" cy="492443"/>
          </a:xfrm>
          <a:prstGeom prst="rect">
            <a:avLst/>
          </a:prstGeom>
          <a:gradFill rotWithShape="0">
            <a:gsLst>
              <a:gs pos="0">
                <a:srgbClr val="FBE4AE"/>
              </a:gs>
              <a:gs pos="13000">
                <a:srgbClr val="BD922A"/>
              </a:gs>
              <a:gs pos="21001">
                <a:srgbClr val="BD922A"/>
              </a:gs>
              <a:gs pos="36000">
                <a:srgbClr val="835E17"/>
              </a:gs>
              <a:gs pos="67000">
                <a:srgbClr val="BD922A"/>
              </a:gs>
              <a:gs pos="82001">
                <a:srgbClr val="A28949"/>
              </a:gs>
              <a:gs pos="100000">
                <a:srgbClr val="FAE3B7"/>
              </a:gs>
            </a:gsLst>
            <a:lin ang="16200000"/>
          </a:gra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体积小重量轻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TextBox 9"/>
          <p:cNvSpPr txBox="1">
            <a:spLocks noChangeArrowheads="1"/>
          </p:cNvSpPr>
          <p:nvPr/>
        </p:nvSpPr>
        <p:spPr bwMode="auto">
          <a:xfrm>
            <a:off x="380672" y="2761816"/>
            <a:ext cx="2590878" cy="492443"/>
          </a:xfrm>
          <a:prstGeom prst="rect">
            <a:avLst/>
          </a:prstGeom>
          <a:gradFill rotWithShape="1"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16200000" scaled="1"/>
          </a:gra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机械结构稳定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9"/>
          <p:cNvSpPr txBox="1">
            <a:spLocks noChangeArrowheads="1"/>
          </p:cNvSpPr>
          <p:nvPr/>
        </p:nvSpPr>
        <p:spPr bwMode="auto">
          <a:xfrm>
            <a:off x="1463760" y="4823520"/>
            <a:ext cx="1439694" cy="492443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寿命长</a:t>
            </a:r>
            <a:endParaRPr lang="en-US" altLang="zh-CN" sz="3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9"/>
          <p:cNvSpPr txBox="1">
            <a:spLocks noChangeArrowheads="1"/>
          </p:cNvSpPr>
          <p:nvPr/>
        </p:nvSpPr>
        <p:spPr bwMode="auto">
          <a:xfrm>
            <a:off x="3796433" y="5868333"/>
            <a:ext cx="1473200" cy="492443"/>
          </a:xfrm>
          <a:prstGeom prst="rect">
            <a:avLst/>
          </a:prstGeom>
          <a:gradFill rotWithShape="1">
            <a:gsLst>
              <a:gs pos="0">
                <a:srgbClr val="FC9FCB"/>
              </a:gs>
              <a:gs pos="13000">
                <a:srgbClr val="F8B049"/>
              </a:gs>
              <a:gs pos="21001">
                <a:srgbClr val="F8B049"/>
              </a:gs>
              <a:gs pos="63000">
                <a:srgbClr val="FEE7F2"/>
              </a:gs>
              <a:gs pos="67000">
                <a:srgbClr val="F952A0"/>
              </a:gs>
              <a:gs pos="69000">
                <a:srgbClr val="C50849"/>
              </a:gs>
              <a:gs pos="82001">
                <a:srgbClr val="B43E85"/>
              </a:gs>
              <a:gs pos="100000">
                <a:srgbClr val="F8B049"/>
              </a:gs>
            </a:gsLst>
            <a:lin ang="5400000" scaled="1"/>
          </a:gra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低噪声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4" name="组合 38"/>
          <p:cNvGrpSpPr>
            <a:grpSpLocks/>
          </p:cNvGrpSpPr>
          <p:nvPr/>
        </p:nvGrpSpPr>
        <p:grpSpPr bwMode="auto">
          <a:xfrm>
            <a:off x="4250846" y="2443382"/>
            <a:ext cx="379413" cy="430212"/>
            <a:chOff x="555577" y="982629"/>
            <a:chExt cx="379735" cy="430887"/>
          </a:xfrm>
        </p:grpSpPr>
        <p:sp>
          <p:nvSpPr>
            <p:cNvPr id="65" name="椭圆 64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TextBox 37"/>
            <p:cNvSpPr txBox="1">
              <a:spLocks noChangeArrowheads="1"/>
            </p:cNvSpPr>
            <p:nvPr/>
          </p:nvSpPr>
          <p:spPr bwMode="auto">
            <a:xfrm>
              <a:off x="665109" y="982629"/>
              <a:ext cx="2190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6600"/>
                  </a:solidFill>
                  <a:cs typeface="Times New Roman" pitchFamily="18" charset="0"/>
                </a:rPr>
                <a:t>1</a:t>
              </a:r>
              <a:endParaRPr lang="zh-CN" altLang="en-US">
                <a:solidFill>
                  <a:srgbClr val="FF66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67" name="组合 39"/>
          <p:cNvGrpSpPr>
            <a:grpSpLocks/>
          </p:cNvGrpSpPr>
          <p:nvPr/>
        </p:nvGrpSpPr>
        <p:grpSpPr bwMode="auto">
          <a:xfrm>
            <a:off x="5514496" y="3056157"/>
            <a:ext cx="379413" cy="430212"/>
            <a:chOff x="555577" y="982629"/>
            <a:chExt cx="379735" cy="430887"/>
          </a:xfrm>
        </p:grpSpPr>
        <p:sp>
          <p:nvSpPr>
            <p:cNvPr id="68" name="椭圆 67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TextBox 41"/>
            <p:cNvSpPr txBox="1">
              <a:spLocks noChangeArrowheads="1"/>
            </p:cNvSpPr>
            <p:nvPr/>
          </p:nvSpPr>
          <p:spPr bwMode="auto">
            <a:xfrm>
              <a:off x="665109" y="982629"/>
              <a:ext cx="2190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6600"/>
                  </a:solidFill>
                  <a:cs typeface="Times New Roman" pitchFamily="18" charset="0"/>
                </a:rPr>
                <a:t>2</a:t>
              </a:r>
              <a:endParaRPr lang="zh-CN" altLang="en-US">
                <a:solidFill>
                  <a:srgbClr val="FF66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70" name="组合 42"/>
          <p:cNvGrpSpPr>
            <a:grpSpLocks/>
          </p:cNvGrpSpPr>
          <p:nvPr/>
        </p:nvGrpSpPr>
        <p:grpSpPr bwMode="auto">
          <a:xfrm>
            <a:off x="5441471" y="4443632"/>
            <a:ext cx="379413" cy="430212"/>
            <a:chOff x="555577" y="982629"/>
            <a:chExt cx="379735" cy="430887"/>
          </a:xfrm>
        </p:grpSpPr>
        <p:sp>
          <p:nvSpPr>
            <p:cNvPr id="71" name="椭圆 70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2" name="TextBox 44"/>
            <p:cNvSpPr txBox="1">
              <a:spLocks noChangeArrowheads="1"/>
            </p:cNvSpPr>
            <p:nvPr/>
          </p:nvSpPr>
          <p:spPr bwMode="auto">
            <a:xfrm>
              <a:off x="665109" y="982629"/>
              <a:ext cx="2190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6600"/>
                  </a:solidFill>
                  <a:cs typeface="Times New Roman" pitchFamily="18" charset="0"/>
                </a:rPr>
                <a:t>3</a:t>
              </a:r>
              <a:endParaRPr lang="zh-CN" altLang="en-US">
                <a:solidFill>
                  <a:srgbClr val="FF66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73" name="组合 45"/>
          <p:cNvGrpSpPr>
            <a:grpSpLocks/>
          </p:cNvGrpSpPr>
          <p:nvPr/>
        </p:nvGrpSpPr>
        <p:grpSpPr bwMode="auto">
          <a:xfrm>
            <a:off x="4323871" y="5100857"/>
            <a:ext cx="379413" cy="430212"/>
            <a:chOff x="555577" y="982629"/>
            <a:chExt cx="379735" cy="430887"/>
          </a:xfrm>
        </p:grpSpPr>
        <p:sp>
          <p:nvSpPr>
            <p:cNvPr id="74" name="椭圆 73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5" name="TextBox 47"/>
            <p:cNvSpPr txBox="1">
              <a:spLocks noChangeArrowheads="1"/>
            </p:cNvSpPr>
            <p:nvPr/>
          </p:nvSpPr>
          <p:spPr bwMode="auto">
            <a:xfrm>
              <a:off x="665109" y="982629"/>
              <a:ext cx="2190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6600"/>
                  </a:solidFill>
                  <a:cs typeface="Times New Roman" pitchFamily="18" charset="0"/>
                </a:rPr>
                <a:t>4</a:t>
              </a:r>
              <a:endParaRPr lang="zh-CN" altLang="en-US">
                <a:solidFill>
                  <a:srgbClr val="FF66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76" name="组合 48"/>
          <p:cNvGrpSpPr>
            <a:grpSpLocks/>
          </p:cNvGrpSpPr>
          <p:nvPr/>
        </p:nvGrpSpPr>
        <p:grpSpPr bwMode="auto">
          <a:xfrm>
            <a:off x="3191984" y="4480144"/>
            <a:ext cx="379412" cy="430213"/>
            <a:chOff x="555577" y="982629"/>
            <a:chExt cx="379735" cy="430887"/>
          </a:xfrm>
        </p:grpSpPr>
        <p:sp>
          <p:nvSpPr>
            <p:cNvPr id="77" name="椭圆 76"/>
            <p:cNvSpPr>
              <a:spLocks noChangeAspect="1"/>
            </p:cNvSpPr>
            <p:nvPr/>
          </p:nvSpPr>
          <p:spPr>
            <a:xfrm>
              <a:off x="555577" y="1019199"/>
              <a:ext cx="379735" cy="380006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8" name="TextBox 50"/>
            <p:cNvSpPr txBox="1">
              <a:spLocks noChangeArrowheads="1"/>
            </p:cNvSpPr>
            <p:nvPr/>
          </p:nvSpPr>
          <p:spPr bwMode="auto">
            <a:xfrm>
              <a:off x="665109" y="982629"/>
              <a:ext cx="2190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6600"/>
                  </a:solidFill>
                  <a:cs typeface="Times New Roman" pitchFamily="18" charset="0"/>
                </a:rPr>
                <a:t>5</a:t>
              </a:r>
              <a:endParaRPr lang="zh-CN" altLang="en-US">
                <a:solidFill>
                  <a:srgbClr val="FF66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79" name="组合 51"/>
          <p:cNvGrpSpPr>
            <a:grpSpLocks/>
          </p:cNvGrpSpPr>
          <p:nvPr/>
        </p:nvGrpSpPr>
        <p:grpSpPr bwMode="auto">
          <a:xfrm>
            <a:off x="3031646" y="3100607"/>
            <a:ext cx="379413" cy="430212"/>
            <a:chOff x="555577" y="982629"/>
            <a:chExt cx="379735" cy="430887"/>
          </a:xfrm>
        </p:grpSpPr>
        <p:sp>
          <p:nvSpPr>
            <p:cNvPr id="80" name="椭圆 79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1" name="TextBox 53"/>
            <p:cNvSpPr txBox="1">
              <a:spLocks noChangeArrowheads="1"/>
            </p:cNvSpPr>
            <p:nvPr/>
          </p:nvSpPr>
          <p:spPr bwMode="auto">
            <a:xfrm>
              <a:off x="665109" y="982629"/>
              <a:ext cx="2190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6600"/>
                  </a:solidFill>
                  <a:cs typeface="Times New Roman" pitchFamily="18" charset="0"/>
                </a:rPr>
                <a:t>6</a:t>
              </a:r>
              <a:endParaRPr lang="zh-CN" altLang="en-US">
                <a:solidFill>
                  <a:srgbClr val="FF6600"/>
                </a:solidFill>
                <a:cs typeface="Times New Roman" pitchFamily="18" charset="0"/>
              </a:endParaRPr>
            </a:p>
          </p:txBody>
        </p:sp>
      </p:grp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9430823" y="1290439"/>
            <a:ext cx="3769612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32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光电二极管的应用</a:t>
            </a:r>
            <a:endParaRPr kumimoji="1" lang="en-US" altLang="zh-CN" sz="3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9884745" y="2227263"/>
            <a:ext cx="280156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kumimoji="1" lang="zh-CN" altLang="en-US" sz="3200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精密光学计量</a:t>
            </a:r>
            <a:endParaRPr kumimoji="1" lang="en-US" altLang="zh-CN" sz="3200" dirty="0">
              <a:solidFill>
                <a:schemeClr val="accent6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9805481" y="3129182"/>
            <a:ext cx="2191885" cy="7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32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医疗仪器</a:t>
            </a:r>
            <a:r>
              <a:rPr kumimoji="1" lang="en-US" altLang="zh-CN" sz="32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82" name="Text Box 5"/>
          <p:cNvSpPr txBox="1">
            <a:spLocks noChangeArrowheads="1"/>
          </p:cNvSpPr>
          <p:nvPr/>
        </p:nvSpPr>
        <p:spPr bwMode="auto">
          <a:xfrm>
            <a:off x="9805481" y="3946777"/>
            <a:ext cx="2172857" cy="7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32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分析仪器</a:t>
            </a:r>
            <a:endParaRPr kumimoji="1" lang="en-US" altLang="zh-CN" sz="3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 Box 5"/>
          <p:cNvSpPr txBox="1">
            <a:spLocks noChangeArrowheads="1"/>
          </p:cNvSpPr>
          <p:nvPr/>
        </p:nvSpPr>
        <p:spPr bwMode="auto">
          <a:xfrm>
            <a:off x="9826376" y="4859557"/>
            <a:ext cx="3126019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3200" dirty="0">
                <a:solidFill>
                  <a:srgbClr val="FF3399"/>
                </a:solidFill>
                <a:latin typeface="微软雅黑" pitchFamily="34" charset="-122"/>
                <a:ea typeface="微软雅黑" pitchFamily="34" charset="-122"/>
              </a:rPr>
              <a:t>半导体检查工具</a:t>
            </a:r>
            <a:endParaRPr kumimoji="1" lang="en-US" altLang="zh-CN" sz="3200" dirty="0">
              <a:solidFill>
                <a:srgbClr val="FF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 Box 5"/>
          <p:cNvSpPr txBox="1">
            <a:spLocks noChangeArrowheads="1"/>
          </p:cNvSpPr>
          <p:nvPr/>
        </p:nvSpPr>
        <p:spPr bwMode="auto">
          <a:xfrm>
            <a:off x="9845832" y="5805882"/>
            <a:ext cx="3016653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kumimoji="1" lang="zh-CN" altLang="en-US" sz="3200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工业检测系统</a:t>
            </a:r>
            <a:endParaRPr kumimoji="1" lang="en-US" altLang="zh-CN" sz="32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文本框 60">
            <a:extLst>
              <a:ext uri="{FF2B5EF4-FFF2-40B4-BE49-F238E27FC236}">
                <a16:creationId xmlns:a16="http://schemas.microsoft.com/office/drawing/2014/main" xmlns="" id="{5502D0EC-AE17-4CA6-957D-7840BADD5573}"/>
              </a:ext>
            </a:extLst>
          </p:cNvPr>
          <p:cNvSpPr txBox="1"/>
          <p:nvPr/>
        </p:nvSpPr>
        <p:spPr>
          <a:xfrm>
            <a:off x="1364781" y="293282"/>
            <a:ext cx="420994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Photodiode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xmlns="" id="{4A9EDE5B-BCD5-45D9-B170-A6ADD9647397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xmlns="" id="{3E6E4660-6A5C-4F6C-BD94-EC9B509C0334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xmlns="" id="{F0E752C2-E363-432D-9309-3B9863716E87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1" name="直接连接符 58">
            <a:extLst>
              <a:ext uri="{FF2B5EF4-FFF2-40B4-BE49-F238E27FC236}">
                <a16:creationId xmlns:a16="http://schemas.microsoft.com/office/drawing/2014/main" xmlns="" id="{68D87223-6279-43D5-9133-AF22C63E091B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890421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xmlns="" id="{6724C964-9F46-4EE5-BE32-3D160A2AF9D6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xmlns="" id="{B976D7EC-7690-4471-9F90-0B9D5FC14C66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0573924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42" grpId="0"/>
      <p:bldP spid="45" grpId="0"/>
      <p:bldP spid="48" grpId="0"/>
      <p:bldP spid="82" grpId="0"/>
      <p:bldP spid="83" grpId="0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硅光敏二极管原理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622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126518"/>
              </p:ext>
            </p:extLst>
          </p:nvPr>
        </p:nvGraphicFramePr>
        <p:xfrm>
          <a:off x="5281613" y="1517650"/>
          <a:ext cx="4094162" cy="525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0" name="Visio" r:id="rId3" imgW="2714768" imgH="3476514" progId="Visio.Drawing.11">
                  <p:embed/>
                </p:oleObj>
              </mc:Choice>
              <mc:Fallback>
                <p:oleObj name="Visio" r:id="rId3" imgW="2714768" imgH="347651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3" y="1517650"/>
                        <a:ext cx="4094162" cy="525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9213579" y="5796030"/>
            <a:ext cx="27514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负电极（</a:t>
            </a:r>
            <a:r>
              <a:rPr lang="en-US" altLang="zh-CN" sz="2400" dirty="0">
                <a:ea typeface="微软雅黑" pitchFamily="34" charset="-122"/>
                <a:cs typeface="Times New Roman" pitchFamily="18" charset="0"/>
              </a:rPr>
              <a:t>Cathode</a:t>
            </a: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2400" dirty="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996119" y="5765449"/>
            <a:ext cx="24455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正电极（</a:t>
            </a:r>
            <a:r>
              <a:rPr lang="en-US" altLang="zh-CN" sz="2400" dirty="0">
                <a:ea typeface="微软雅黑" pitchFamily="34" charset="-122"/>
                <a:cs typeface="Times New Roman" pitchFamily="18" charset="0"/>
              </a:rPr>
              <a:t>Anode</a:t>
            </a: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2400" dirty="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230167" y="3245019"/>
            <a:ext cx="32115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dirty="0">
                <a:cs typeface="Times New Roman" pitchFamily="18" charset="0"/>
              </a:rPr>
              <a:t>Shot wavelength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188723" y="4246563"/>
            <a:ext cx="33405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dirty="0">
                <a:cs typeface="Times New Roman" pitchFamily="18" charset="0"/>
              </a:rPr>
              <a:t>Long wavelength</a:t>
            </a:r>
          </a:p>
        </p:txBody>
      </p:sp>
      <p:graphicFrame>
        <p:nvGraphicFramePr>
          <p:cNvPr id="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683976"/>
              </p:ext>
            </p:extLst>
          </p:nvPr>
        </p:nvGraphicFramePr>
        <p:xfrm>
          <a:off x="1566525" y="1042954"/>
          <a:ext cx="2859188" cy="1905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1" name="Visio" r:id="rId5" imgW="1882827" imgH="1254420" progId="Visio.Drawing.11">
                  <p:embed/>
                </p:oleObj>
              </mc:Choice>
              <mc:Fallback>
                <p:oleObj name="Visio" r:id="rId5" imgW="1882827" imgH="12544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525" y="1042954"/>
                        <a:ext cx="2859188" cy="1905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9213580" y="2203451"/>
            <a:ext cx="1528763" cy="584200"/>
          </a:xfrm>
          <a:prstGeom prst="rect">
            <a:avLst/>
          </a:prstGeom>
          <a:gradFill>
            <a:gsLst>
              <a:gs pos="0">
                <a:srgbClr val="FF3399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 scaled="0"/>
          </a:gra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b="0" i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h</a:t>
            </a:r>
            <a:r>
              <a:rPr lang="en-US" altLang="zh-CN" sz="3200" b="0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uclid Symbol" pitchFamily="18" charset="2"/>
                <a:cs typeface="Times New Roman" pitchFamily="18" charset="0"/>
              </a:rPr>
              <a:t>n</a:t>
            </a:r>
            <a:r>
              <a:rPr lang="en-US" altLang="zh-CN" sz="3200" b="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&gt;</a:t>
            </a:r>
            <a:r>
              <a:rPr lang="en-US" altLang="zh-CN" sz="3200" b="0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E</a:t>
            </a:r>
            <a:r>
              <a:rPr lang="en-US" altLang="zh-CN" sz="3200" b="0" baseline="-25000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g</a:t>
            </a:r>
            <a:endParaRPr lang="zh-CN" altLang="en-US" sz="3200" b="0" baseline="-25000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</p:txBody>
      </p:sp>
      <p:sp>
        <p:nvSpPr>
          <p:cNvPr id="22" name="文本框 60">
            <a:extLst>
              <a:ext uri="{FF2B5EF4-FFF2-40B4-BE49-F238E27FC236}">
                <a16:creationId xmlns:a16="http://schemas.microsoft.com/office/drawing/2014/main" xmlns="" id="{CCA10537-7470-4071-BB82-E7529D3EA930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95EBB199-AAB4-4F8B-B106-385BDFADDB05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32BA0CB5-65DB-4083-9BB7-3C57172758CF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xmlns="" id="{A35A7C23-049C-4BD5-849A-A0C1B96E3E19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79479F8C-9213-4614-91A6-7CE8D792E2F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F1680D00-8AA0-493E-AB7B-8CF72D12EF4B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40FDC059-A499-40E7-A839-A69C3DC54DF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8184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370680" y="1011145"/>
            <a:ext cx="8494080" cy="61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P-layer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N 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型衬底构成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PN 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结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光电转换器</a:t>
            </a:r>
            <a:endParaRPr lang="en-US" altLang="zh-CN" sz="3200" dirty="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21014" y="1712372"/>
            <a:ext cx="12898876" cy="22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光敏二极管（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2DU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型和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2CU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型）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	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	P-layer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硼的选择性扩散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厚度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&lt; </a:t>
            </a:r>
            <a:r>
              <a:rPr lang="en-US" altLang="zh-CN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1µm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; 	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结间的中性区域：耗尽层（</a:t>
            </a:r>
            <a:r>
              <a:rPr lang="en-US" altLang="zh-CN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depletion layer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63828" y="5610249"/>
            <a:ext cx="13003130" cy="1416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     当光照射到二极管上，晶体结构中的电子被激发，即：如果光子能量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晶体带隙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dirty="0" err="1"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baseline="-25000" dirty="0" err="1">
                <a:ea typeface="微软雅黑" pitchFamily="34" charset="-122"/>
                <a:cs typeface="Times New Roman" pitchFamily="18" charset="0"/>
              </a:rPr>
              <a:t>g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电子受激励进入导带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在价带留下空穴。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28081" y="4267681"/>
            <a:ext cx="13138877" cy="133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       控制外层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P-layer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厚度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基底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N-layer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和底层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baseline="30000" dirty="0">
                <a:ea typeface="微软雅黑" pitchFamily="34" charset="-122"/>
                <a:cs typeface="Times New Roman" pitchFamily="18" charset="0"/>
              </a:rPr>
              <a:t>+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-layer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掺杂浓度</a:t>
            </a:r>
            <a:r>
              <a:rPr lang="en-US" altLang="zh-CN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控制器件的</a:t>
            </a:r>
            <a:r>
              <a:rPr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光谱响应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和</a:t>
            </a:r>
            <a:r>
              <a:rPr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频率响应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。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AD3E2F58-6DE4-4AA3-85BA-1886DB2C8110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8E0D78E-492C-439C-91D1-C99C0F5C7420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E6090E8E-EFCF-46D6-A80E-5D0B5DA6722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xmlns="" id="{5816BA47-E328-4D32-BC7C-017BFEAFCC61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DD63D069-6340-4921-9513-C1C6F4E493C3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1C79C868-9108-4B1E-A2D3-B34EB1FD193A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5005780E-8F79-4E24-9788-59FFC86A766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0970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3"/>
          <p:cNvSpPr>
            <a:spLocks noGrp="1"/>
          </p:cNvSpPr>
          <p:nvPr>
            <p:ph type="title"/>
          </p:nvPr>
        </p:nvSpPr>
        <p:spPr bwMode="auto">
          <a:xfrm>
            <a:off x="1823411" y="1806724"/>
            <a:ext cx="851695" cy="4224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光敏二极管类型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254236" y="1159984"/>
            <a:ext cx="8570988" cy="569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en-US" u="sng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制造工艺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分类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平面型、生长型、合金型、台面型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en-US" u="sng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特性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分类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结、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PIN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结型、异质结型、肖特基势垒型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en-US" u="sng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光谱</a:t>
            </a:r>
            <a:r>
              <a:rPr lang="zh-CN" altLang="en-US" u="sng" dirty="0">
                <a:latin typeface="微软雅黑" pitchFamily="34" charset="-122"/>
                <a:ea typeface="微软雅黑" pitchFamily="34" charset="-122"/>
              </a:rPr>
              <a:t>响应</a:t>
            </a:r>
            <a:endParaRPr lang="en-US" altLang="zh-CN" u="sng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紫外、可见、红外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en-US" u="sng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工作</a:t>
            </a:r>
            <a:r>
              <a:rPr lang="zh-CN" altLang="en-US" u="sng" dirty="0">
                <a:latin typeface="微软雅黑" pitchFamily="34" charset="-122"/>
                <a:ea typeface="微软雅黑" pitchFamily="34" charset="-122"/>
              </a:rPr>
              <a:t>基础</a:t>
            </a:r>
            <a:endParaRPr lang="en-US" altLang="zh-CN" u="sng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耗尽型、雪崩型</a:t>
            </a:r>
          </a:p>
        </p:txBody>
      </p:sp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F25EB279-5B69-4770-B994-E7DB0B63B30F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BB2C1D8-2514-4AB4-8FB2-83FB1028CD87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F0D4AD94-A11A-4DED-9CFF-1FC404243D2A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4A20212A-FDBE-4A1C-9812-CB28B0D2F83C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B4364F3A-063D-4254-BC77-1DB3382ED604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C543A9D5-E524-42FC-AFEB-9FF91A7F7532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A9091963-15DD-4F02-8563-0958C3DE1CFB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41387853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7"/>
          <p:cNvSpPr txBox="1">
            <a:spLocks noChangeArrowheads="1"/>
          </p:cNvSpPr>
          <p:nvPr/>
        </p:nvSpPr>
        <p:spPr bwMode="auto">
          <a:xfrm>
            <a:off x="7801315" y="5455601"/>
            <a:ext cx="4495861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baseline="-25000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sh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: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分流（并联）电阻</a:t>
            </a:r>
            <a:endParaRPr lang="en-US" altLang="zh-CN" dirty="0">
              <a:solidFill>
                <a:srgbClr val="0000FF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485" name="Text Box 8"/>
          <p:cNvSpPr txBox="1">
            <a:spLocks noChangeArrowheads="1"/>
          </p:cNvSpPr>
          <p:nvPr/>
        </p:nvSpPr>
        <p:spPr bwMode="auto">
          <a:xfrm>
            <a:off x="2223784" y="4672598"/>
            <a:ext cx="2713312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baseline="-25000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 :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光电流</a:t>
            </a:r>
          </a:p>
        </p:txBody>
      </p:sp>
      <p:sp>
        <p:nvSpPr>
          <p:cNvPr id="20486" name="Text Box 9"/>
          <p:cNvSpPr txBox="1">
            <a:spLocks noChangeArrowheads="1"/>
          </p:cNvSpPr>
          <p:nvPr/>
        </p:nvSpPr>
        <p:spPr bwMode="auto">
          <a:xfrm>
            <a:off x="7775683" y="4783867"/>
            <a:ext cx="2371678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d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 :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暗电流</a:t>
            </a:r>
          </a:p>
        </p:txBody>
      </p:sp>
      <p:sp>
        <p:nvSpPr>
          <p:cNvPr id="20487" name="Text Box 10"/>
          <p:cNvSpPr txBox="1">
            <a:spLocks noChangeArrowheads="1"/>
          </p:cNvSpPr>
          <p:nvPr/>
        </p:nvSpPr>
        <p:spPr bwMode="auto">
          <a:xfrm>
            <a:off x="2154718" y="5442012"/>
            <a:ext cx="2535430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baseline="-25000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j</a:t>
            </a:r>
            <a:r>
              <a:rPr lang="en-US" altLang="zh-CN" baseline="-25000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: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结电容</a:t>
            </a:r>
          </a:p>
        </p:txBody>
      </p:sp>
      <p:sp>
        <p:nvSpPr>
          <p:cNvPr id="20488" name="Text Box 11"/>
          <p:cNvSpPr txBox="1">
            <a:spLocks noChangeArrowheads="1"/>
          </p:cNvSpPr>
          <p:nvPr/>
        </p:nvSpPr>
        <p:spPr bwMode="auto">
          <a:xfrm>
            <a:off x="7796553" y="6119740"/>
            <a:ext cx="3751594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000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  :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串联电阻</a:t>
            </a:r>
            <a:endParaRPr lang="en-US" altLang="zh-CN" dirty="0">
              <a:solidFill>
                <a:srgbClr val="0000FF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489" name="Text Box 12"/>
          <p:cNvSpPr txBox="1">
            <a:spLocks noChangeArrowheads="1"/>
          </p:cNvSpPr>
          <p:nvPr/>
        </p:nvSpPr>
        <p:spPr bwMode="auto">
          <a:xfrm>
            <a:off x="2223784" y="6128669"/>
            <a:ext cx="3390490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baseline="-25000" dirty="0" err="1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sh</a:t>
            </a:r>
            <a:r>
              <a:rPr lang="en-US" altLang="zh-CN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en-US" dirty="0">
                <a:solidFill>
                  <a:srgbClr val="0000FF"/>
                </a:solidFill>
                <a:ea typeface="微软雅黑" pitchFamily="34" charset="-122"/>
                <a:cs typeface="Times New Roman" pitchFamily="18" charset="0"/>
              </a:rPr>
              <a:t>分流电阻电流</a:t>
            </a:r>
          </a:p>
        </p:txBody>
      </p:sp>
      <p:graphicFrame>
        <p:nvGraphicFramePr>
          <p:cNvPr id="225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480617"/>
              </p:ext>
            </p:extLst>
          </p:nvPr>
        </p:nvGraphicFramePr>
        <p:xfrm>
          <a:off x="2578100" y="1779588"/>
          <a:ext cx="8180388" cy="279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3" name="Visio" r:id="rId3" imgW="5543616" imgH="2524001" progId="Visio.Drawing.11">
                  <p:embed/>
                </p:oleObj>
              </mc:Choice>
              <mc:Fallback>
                <p:oleObj name="Visio" r:id="rId3" imgW="5543616" imgH="252400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779588"/>
                        <a:ext cx="8180388" cy="279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213945" y="1027181"/>
            <a:ext cx="4630366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36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等效电路</a:t>
            </a:r>
            <a:endParaRPr kumimoji="1" lang="en-US" altLang="zh-CN" sz="36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7" name="文本框 60">
            <a:extLst>
              <a:ext uri="{FF2B5EF4-FFF2-40B4-BE49-F238E27FC236}">
                <a16:creationId xmlns:a16="http://schemas.microsoft.com/office/drawing/2014/main" xmlns="" id="{0AD60EAB-C096-4E9B-B126-D98411AD9E9E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1494F7E5-B6C8-4282-9073-17C88FA6C8CF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663E4A60-D7C6-4D92-8B74-561B60909533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xmlns="" id="{8D17F3B2-5C58-488D-BAD0-618599A13A90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CF6F2FE9-C1EA-4B8F-A23E-B2DFA6804AD1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79AB1CB7-93B1-4E3C-9257-4B2ACB2F4E20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D406CABA-6BFF-4945-9225-68C4B46C4557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72212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/>
      <p:bldP spid="20486" grpId="0"/>
      <p:bldP spid="20487" grpId="0"/>
      <p:bldP spid="20488" grpId="0"/>
      <p:bldP spid="20489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288002"/>
              </p:ext>
            </p:extLst>
          </p:nvPr>
        </p:nvGraphicFramePr>
        <p:xfrm>
          <a:off x="2479675" y="1203325"/>
          <a:ext cx="8007350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8" name="Visio" r:id="rId3" imgW="4251240" imgH="2803680" progId="Visio.Drawing.11">
                  <p:embed/>
                </p:oleObj>
              </mc:Choice>
              <mc:Fallback>
                <p:oleObj name="Visio" r:id="rId3" imgW="4251240" imgH="28036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1203325"/>
                        <a:ext cx="8007350" cy="529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圆角矩形 11"/>
          <p:cNvSpPr/>
          <p:nvPr/>
        </p:nvSpPr>
        <p:spPr>
          <a:xfrm>
            <a:off x="6664794" y="1339772"/>
            <a:ext cx="3060700" cy="1935162"/>
          </a:xfrm>
          <a:prstGeom prst="roundRect">
            <a:avLst/>
          </a:prstGeom>
          <a:solidFill>
            <a:srgbClr val="FF00FF">
              <a:alpha val="21000"/>
            </a:srgb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3565182" y="3274934"/>
            <a:ext cx="3060700" cy="2128838"/>
          </a:xfrm>
          <a:prstGeom prst="roundRect">
            <a:avLst/>
          </a:prstGeom>
          <a:solidFill>
            <a:srgbClr val="00B050">
              <a:alpha val="21000"/>
            </a:srgbClr>
          </a:solidFill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134661" y="1929477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正向偏压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6483" y="3715175"/>
            <a:ext cx="16273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反向偏压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684250" y="3274934"/>
            <a:ext cx="3060700" cy="2128838"/>
          </a:xfrm>
          <a:prstGeom prst="roundRect">
            <a:avLst/>
          </a:prstGeom>
          <a:solidFill>
            <a:srgbClr val="FFFF00">
              <a:alpha val="21000"/>
            </a:srgbClr>
          </a:solidFill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34453" y="6291836"/>
            <a:ext cx="1261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零偏压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1746" y="4339353"/>
            <a:ext cx="1261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自偏置</a:t>
            </a:r>
          </a:p>
        </p:txBody>
      </p:sp>
      <p:sp>
        <p:nvSpPr>
          <p:cNvPr id="3" name="上箭头 2"/>
          <p:cNvSpPr/>
          <p:nvPr/>
        </p:nvSpPr>
        <p:spPr>
          <a:xfrm>
            <a:off x="6421903" y="5403772"/>
            <a:ext cx="485782" cy="875489"/>
          </a:xfrm>
          <a:prstGeom prst="up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60">
            <a:extLst>
              <a:ext uri="{FF2B5EF4-FFF2-40B4-BE49-F238E27FC236}">
                <a16:creationId xmlns:a16="http://schemas.microsoft.com/office/drawing/2014/main" xmlns="" id="{1CEB22CB-960D-428F-BEDC-CAEFA23A207D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C1EBEC87-D360-4ED8-8CE7-6869303EE092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27BC5BD2-C7AC-41C8-BDA6-B6B31EB47AA8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6334ED75-BB6C-46A2-AA47-62F332FE3778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58">
            <a:extLst>
              <a:ext uri="{FF2B5EF4-FFF2-40B4-BE49-F238E27FC236}">
                <a16:creationId xmlns:a16="http://schemas.microsoft.com/office/drawing/2014/main" xmlns="" id="{49DAB21E-E131-4B8F-9540-00235F1F0B6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2D81F0A6-CE06-4E09-860C-2F03B0744F9D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0BF0A16A-56AE-4DA6-AEBA-710B401D4616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149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  <p:bldP spid="16" grpId="0" animBg="1"/>
      <p:bldP spid="17" grpId="0"/>
      <p:bldP spid="20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828160" y="1932613"/>
            <a:ext cx="11707048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ea typeface="宋体" pitchFamily="2" charset="-122"/>
              </a:rPr>
              <a:t>Using the above equivalent circuit, the output current I is given as follows: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0" y="3411521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980985"/>
              </p:ext>
            </p:extLst>
          </p:nvPr>
        </p:nvGraphicFramePr>
        <p:xfrm>
          <a:off x="1706563" y="3265488"/>
          <a:ext cx="9952037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2" name="Equation" r:id="rId3" imgW="2565360" imgH="393480" progId="Equation.DSMT4">
                  <p:embed/>
                </p:oleObj>
              </mc:Choice>
              <mc:Fallback>
                <p:oleObj name="Equation" r:id="rId3" imgW="2565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3265488"/>
                        <a:ext cx="9952037" cy="1154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637542"/>
              </p:ext>
            </p:extLst>
          </p:nvPr>
        </p:nvGraphicFramePr>
        <p:xfrm>
          <a:off x="6143625" y="5141913"/>
          <a:ext cx="472916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3" name="Equation" r:id="rId5" imgW="1218960" imgH="393480" progId="Equation.DSMT4">
                  <p:embed/>
                </p:oleObj>
              </mc:Choice>
              <mc:Fallback>
                <p:oleObj name="Equation" r:id="rId5" imgW="1218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5141913"/>
                        <a:ext cx="4729163" cy="1152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2180015" y="5425754"/>
            <a:ext cx="3512751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ea typeface="宋体" pitchFamily="2" charset="-122"/>
              </a:rPr>
              <a:t>Dark current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307860" y="1096879"/>
            <a:ext cx="4028746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回路电流方程</a:t>
            </a:r>
          </a:p>
        </p:txBody>
      </p:sp>
      <p:sp>
        <p:nvSpPr>
          <p:cNvPr id="15" name="文本框 60">
            <a:extLst>
              <a:ext uri="{FF2B5EF4-FFF2-40B4-BE49-F238E27FC236}">
                <a16:creationId xmlns:a16="http://schemas.microsoft.com/office/drawing/2014/main" xmlns="" id="{7EE52F8A-9050-4BEB-BDF8-B1F09DBE751E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26D93FBA-0BFF-4997-A59F-EC88AE341C6F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74162771-3DB6-46CA-953C-6F935595198F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xmlns="" id="{8D3FB486-E5D8-4EAC-B6BA-1E62D673D15E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2D9877DD-01C5-464C-A99C-376EFA4863BC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E0B43256-FCE8-42D4-B650-393CFF3D5894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0F5CFE00-EE1A-40DC-BF95-AFD3C48C684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1236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/>
      <p:bldP spid="103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849373" y="2286583"/>
            <a:ext cx="11973285" cy="76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短路电流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：当负载电阻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=0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时的输出电流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，近似正比于器件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有源区域的面积</a:t>
            </a:r>
            <a:endParaRPr lang="en-US" altLang="zh-CN" sz="43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47197" y="4455211"/>
            <a:ext cx="12177639" cy="14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开路电压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：当负载电阻趋于无穷大时的光伏电压，是一个与器件有源区域面积无关的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常数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211209"/>
              </p:ext>
            </p:extLst>
          </p:nvPr>
        </p:nvGraphicFramePr>
        <p:xfrm>
          <a:off x="3875539" y="3301152"/>
          <a:ext cx="5201868" cy="100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5" name="公式" r:id="rId3" imgW="1524000" imgH="393700" progId="Equation.3">
                  <p:embed/>
                </p:oleObj>
              </mc:Choice>
              <mc:Fallback>
                <p:oleObj name="公式" r:id="rId3" imgW="1524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539" y="3301152"/>
                        <a:ext cx="5201868" cy="1008144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641503"/>
              </p:ext>
            </p:extLst>
          </p:nvPr>
        </p:nvGraphicFramePr>
        <p:xfrm>
          <a:off x="4824413" y="5932488"/>
          <a:ext cx="34369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6" name="Equation" r:id="rId5" imgW="1155600" imgH="457200" progId="Equation.DSMT4">
                  <p:embed/>
                </p:oleObj>
              </mc:Choice>
              <mc:Fallback>
                <p:oleObj name="Equation" r:id="rId5" imgW="11556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5932488"/>
                        <a:ext cx="3436937" cy="1023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875539" y="1020407"/>
            <a:ext cx="5005813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开路电压和短路电流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651B8D8-C30F-4B88-8F1F-DB81E525EFE9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硅光敏二极管原理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FD43D87C-87C5-4347-BBFC-DC439515037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EEB3680F-9400-4B89-8717-5D0760E61197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xmlns="" id="{C8D6A803-1C8F-400D-A4DE-606B43B099E3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71F8F31F-F7FB-4878-9C60-83F5AD6D8046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04F3095-C8EB-4AE8-A6ED-802EC5D8C18A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3FCF700-7202-4F28-AB1F-E3598D8F1FBF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00949088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硅光敏二极管基本特性参数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硅光敏二极管基本特性参数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3779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170352" y="1007484"/>
            <a:ext cx="7376883" cy="80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电流</a:t>
            </a:r>
            <a:r>
              <a:rPr lang="en-US" altLang="zh-CN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光电特性</a:t>
            </a:r>
          </a:p>
        </p:txBody>
      </p:sp>
      <p:sp>
        <p:nvSpPr>
          <p:cNvPr id="6148" name="TextBox 3"/>
          <p:cNvSpPr txBox="1">
            <a:spLocks noChangeArrowheads="1"/>
          </p:cNvSpPr>
          <p:nvPr/>
        </p:nvSpPr>
        <p:spPr bwMode="auto">
          <a:xfrm>
            <a:off x="1103214" y="1809165"/>
            <a:ext cx="11951305" cy="160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光电特性：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指外加偏置电压一定时，光电二极管输出电流和光照度的关系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线性好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AE3093D2-EF31-4BD5-881F-CCAF450A7CF0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899B6953-0410-4F10-8102-F819B6C2A8EC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DC26F670-0CB2-44DF-8184-51C200FEB19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199B5E7D-C06D-48E7-959D-75B7DD61385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1E53FC16-6416-41E7-8F7A-D20BFBB0C3A3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95AFE427-7B20-4043-A9E5-C4517769360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2F2B5C5E-25CF-44D7-8446-8DC810293E7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72DB84AD-F1B3-4327-A4C8-4FA84ECED7E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134880"/>
              </p:ext>
            </p:extLst>
          </p:nvPr>
        </p:nvGraphicFramePr>
        <p:xfrm>
          <a:off x="3822700" y="3410154"/>
          <a:ext cx="5359400" cy="400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8" name="Visio" r:id="rId3" imgW="2647979" imgH="1962230" progId="Visio.Drawing.15">
                  <p:embed/>
                </p:oleObj>
              </mc:Choice>
              <mc:Fallback>
                <p:oleObj name="Visio" r:id="rId3" imgW="2647979" imgH="1962230" progId="Visio.Drawing.15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3410154"/>
                        <a:ext cx="5359400" cy="400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13382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1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Text Box 2"/>
          <p:cNvSpPr txBox="1">
            <a:spLocks noChangeArrowheads="1"/>
          </p:cNvSpPr>
          <p:nvPr/>
        </p:nvSpPr>
        <p:spPr bwMode="auto">
          <a:xfrm>
            <a:off x="2970776" y="1000278"/>
            <a:ext cx="6669335" cy="739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4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光谱响应特性</a:t>
            </a:r>
            <a:endParaRPr lang="en-US" altLang="zh-CN" sz="40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3459" name="Text Box 3"/>
          <p:cNvSpPr txBox="1">
            <a:spLocks noChangeArrowheads="1"/>
          </p:cNvSpPr>
          <p:nvPr/>
        </p:nvSpPr>
        <p:spPr bwMode="auto">
          <a:xfrm>
            <a:off x="558816" y="2092883"/>
            <a:ext cx="10589082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定义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：对应于不同入射波长、给定光强所产生的光电流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569337" y="3258652"/>
            <a:ext cx="6289457" cy="233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光电灵敏度和波长关系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光谱响应特性。表示为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光子灵敏度、量子效率等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057565"/>
              </p:ext>
            </p:extLst>
          </p:nvPr>
        </p:nvGraphicFramePr>
        <p:xfrm>
          <a:off x="7442200" y="3360738"/>
          <a:ext cx="5703888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1" name="Visio" r:id="rId3" imgW="3324134" imgH="2295440" progId="Visio.Drawing.11">
                  <p:embed/>
                </p:oleObj>
              </mc:Choice>
              <mc:Fallback>
                <p:oleObj name="Visio" r:id="rId3" imgW="3324134" imgH="22954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3360738"/>
                        <a:ext cx="5703888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91D31395-56E5-4D0B-B2B7-BA1A58154A76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B1627860-7F9E-41F6-B8B9-3F9F81D10DA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DD422A6E-0EC6-4BBA-9A77-B30C760DA8B4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F70A577A-FDD3-412B-B2B7-3641BF94F2D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xmlns="" id="{27BFEDAB-F92F-4675-8B86-37FB874812C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xmlns="" id="{38E0B170-EC2A-420B-937D-A26856E8A99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D710BB58-9E3E-42E0-BA9A-790A3A41BA0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FA47BA4D-00A6-4D88-AD2F-FFD28E3BA47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34351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/>
      <p:bldP spid="403459" grpId="0"/>
      <p:bldP spid="2560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24136" y="1122506"/>
            <a:ext cx="6300010" cy="785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3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3  </a:t>
            </a:r>
            <a:r>
              <a:rPr lang="zh-CN" altLang="en-US" sz="43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伏安特性</a:t>
            </a:r>
            <a:endParaRPr lang="en-US" altLang="zh-CN" sz="4300" dirty="0">
              <a:solidFill>
                <a:srgbClr val="0000CC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E3DEC1C8-4572-480B-B6B9-EB5E94087360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F96F232D-93DC-4C60-A288-D58D41AABFA5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200FAF35-3FD2-45C4-92B4-26FE2D5FAEB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E7A7FBE8-237F-4B26-B989-0C114EAA5F1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2918BA8F-F575-42D0-B4A3-991D6FFF9202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CA32A657-57DB-4F77-9CBE-66A6CBA0A80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6A924BB6-DC32-40E2-90BF-F03153804CBE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123374F1-41BD-4C19-98A5-2493D0D32EAF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142144"/>
              </p:ext>
            </p:extLst>
          </p:nvPr>
        </p:nvGraphicFramePr>
        <p:xfrm>
          <a:off x="7386637" y="2507291"/>
          <a:ext cx="4872037" cy="3990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6" name="Visio" r:id="rId4" imgW="2400435" imgH="1952682" progId="Visio.Drawing.15">
                  <p:embed/>
                </p:oleObj>
              </mc:Choice>
              <mc:Fallback>
                <p:oleObj name="Visio" r:id="rId4" imgW="2400435" imgH="1952682" progId="Visio.Drawing.15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637" y="2507291"/>
                        <a:ext cx="4872037" cy="3990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57225" y="2695575"/>
            <a:ext cx="67294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反向偏压较低时，光电流随电压变化比较敏感，这是由于反向偏压加大了耗尽层的宽度和电场强度。当反向偏压加大到一定程度时，光敏二极管对载流子的收集达到极限，光电流趋于饱和，这时光电流与所加偏压几乎无关，只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光照强度。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386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657782" y="957263"/>
            <a:ext cx="7935244" cy="785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3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43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频率特性</a:t>
            </a:r>
            <a:endParaRPr lang="en-US" altLang="zh-CN" sz="43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819245" y="1775616"/>
            <a:ext cx="11869524" cy="76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结硅光电二极管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电流的产生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要经过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三个过程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sp>
        <p:nvSpPr>
          <p:cNvPr id="47108" name="TextBox 3"/>
          <p:cNvSpPr txBox="1">
            <a:spLocks noChangeArrowheads="1"/>
          </p:cNvSpPr>
          <p:nvPr/>
        </p:nvSpPr>
        <p:spPr bwMode="auto">
          <a:xfrm>
            <a:off x="600145" y="2686038"/>
            <a:ext cx="12526825" cy="6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(1)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结区内产生的光生载流子渡越结区的时间</a:t>
            </a:r>
            <a:r>
              <a:rPr lang="en-US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，称为漂移时间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(Drift Time)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；</a:t>
            </a:r>
          </a:p>
        </p:txBody>
      </p:sp>
      <p:sp>
        <p:nvSpPr>
          <p:cNvPr id="47109" name="TextBox 4"/>
          <p:cNvSpPr txBox="1">
            <a:spLocks noChangeArrowheads="1"/>
          </p:cNvSpPr>
          <p:nvPr/>
        </p:nvSpPr>
        <p:spPr bwMode="auto">
          <a:xfrm>
            <a:off x="557277" y="3791166"/>
            <a:ext cx="12536351" cy="133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(2)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结区外产生的光生载流子扩散到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结区内所需要的时间</a:t>
            </a:r>
            <a:r>
              <a:rPr lang="en-US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，称为扩散时间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(Diffusion Time)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；</a:t>
            </a:r>
          </a:p>
        </p:txBody>
      </p:sp>
      <p:sp>
        <p:nvSpPr>
          <p:cNvPr id="47110" name="TextBox 5"/>
          <p:cNvSpPr txBox="1">
            <a:spLocks noChangeArrowheads="1"/>
          </p:cNvSpPr>
          <p:nvPr/>
        </p:nvSpPr>
        <p:spPr bwMode="auto">
          <a:xfrm>
            <a:off x="523936" y="5450681"/>
            <a:ext cx="12460142" cy="6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(3)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由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结电容</a:t>
            </a:r>
            <a:r>
              <a:rPr lang="en-US" altLang="zh-CN" i="1" dirty="0" err="1"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baseline="-25000" dirty="0" err="1">
                <a:ea typeface="微软雅黑" pitchFamily="34" charset="-122"/>
                <a:cs typeface="Times New Roman" pitchFamily="18" charset="0"/>
              </a:rPr>
              <a:t>j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、管芯电阻</a:t>
            </a:r>
            <a:r>
              <a:rPr lang="en-US" altLang="zh-CN" i="1" dirty="0" err="1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baseline="-25000" dirty="0" err="1">
                <a:ea typeface="微软雅黑" pitchFamily="34" charset="-122"/>
                <a:cs typeface="Times New Roman" pitchFamily="18" charset="0"/>
              </a:rPr>
              <a:t>i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及负载电阻</a:t>
            </a:r>
            <a:r>
              <a:rPr lang="en-US" altLang="zh-CN" i="1" dirty="0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L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构成的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RC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延迟时间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(Delay Time)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A78D51D3-B358-4BB3-A80C-3E1686C7FF9F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xmlns="" id="{4E65945B-0909-45D4-BD72-F9B4B360465B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2A6215B6-C3B4-4954-BFEA-36E8BD88F12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85F4B59E-7734-420F-8770-E6E04169C5D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B21A5440-0469-4E5F-94E6-6895A0FA27C4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3A7EF05E-7BEF-41FE-BA2D-38BF4CED17BC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9900594C-7E7D-42FD-915E-958D979EBA3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E6222919-00E8-4D00-AF6F-B3B1A15C94E9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7946416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7107" grpId="0"/>
      <p:bldP spid="47108" grpId="0"/>
      <p:bldP spid="47109" grpId="0"/>
      <p:bldP spid="471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2"/>
          <p:cNvSpPr txBox="1">
            <a:spLocks noChangeArrowheads="1"/>
          </p:cNvSpPr>
          <p:nvPr/>
        </p:nvSpPr>
        <p:spPr bwMode="auto">
          <a:xfrm>
            <a:off x="4649821" y="1082393"/>
            <a:ext cx="4134256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结电容</a:t>
            </a:r>
            <a:r>
              <a:rPr lang="en-US" altLang="zh-CN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: C</a:t>
            </a:r>
            <a:r>
              <a:rPr lang="en-US" altLang="zh-CN" sz="3600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1793348" y="2106952"/>
            <a:ext cx="10551052" cy="421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定义：光敏二极管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结形成的有效电容。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  <a:p>
            <a:pPr marL="612328" indent="-612328" eaLnBrk="1" hangingPunct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决定光敏二极管的响应速度。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  <a:p>
            <a:pPr marL="612328" indent="-612328" eaLnBrk="1" hangingPunct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I-V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转换电路中使用运放，极可能造成增益峰值现象。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		</a:t>
            </a:r>
            <a:r>
              <a:rPr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总电容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=PN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结电容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封装杂散电容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结论：不增大反向偏压，扩展耗尽区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FCDE81C9-B507-4F82-AE66-00C8FB559E9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CCC47C0A-CBA4-47F9-B6F8-0499E2CA6557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1723159C-6682-4629-AD56-A8F68863BBAB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03E1E22F-4C08-4EA1-846D-9A1FC8621BAE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E92EFFB1-3E97-4EFB-B666-680D7E109966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79758B79-B53B-4352-9F02-78C1ED61B213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55FA0E81-595F-4A28-B1F2-B2823074B0B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81A252FA-DCA2-41D4-AB64-E75E5902D7E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43736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/>
      <p:bldP spid="40960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Text Box 2"/>
          <p:cNvSpPr txBox="1">
            <a:spLocks noChangeArrowheads="1"/>
          </p:cNvSpPr>
          <p:nvPr/>
        </p:nvSpPr>
        <p:spPr bwMode="auto">
          <a:xfrm>
            <a:off x="3524658" y="983558"/>
            <a:ext cx="5746622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上升时间</a:t>
            </a:r>
            <a:r>
              <a:rPr lang="en-US" altLang="zh-CN" sz="3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en-US" altLang="zh-CN" sz="3600" dirty="0" err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en-US" altLang="zh-CN" sz="3600" baseline="-25000" dirty="0" err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endParaRPr lang="en-US" altLang="zh-CN" sz="3600" baseline="-250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627" name="Text Box 3"/>
          <p:cNvSpPr txBox="1">
            <a:spLocks noChangeArrowheads="1"/>
          </p:cNvSpPr>
          <p:nvPr/>
        </p:nvSpPr>
        <p:spPr bwMode="auto">
          <a:xfrm>
            <a:off x="595381" y="1812841"/>
            <a:ext cx="12326777" cy="1416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光敏二极管对阶梯式入射光的时间响应的检测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定义为输出从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10%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达到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90%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的稳定输出所需时间。依赖于入射光波长和负载电阻。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863830" y="3593804"/>
            <a:ext cx="3511685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6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截止频率</a:t>
            </a:r>
            <a:r>
              <a:rPr lang="en-US" altLang="zh-CN" sz="36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: f</a:t>
            </a:r>
            <a:r>
              <a:rPr lang="en-US" altLang="zh-CN" sz="3600" baseline="-25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c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653138" y="4529266"/>
            <a:ext cx="5496691" cy="76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上升时间</a:t>
            </a:r>
            <a:r>
              <a:rPr lang="en-US" altLang="zh-CN" i="1" dirty="0" err="1"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baseline="-25000" dirty="0" err="1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与截止频率</a:t>
            </a:r>
            <a:r>
              <a:rPr lang="en-US" altLang="zh-CN" i="1" dirty="0">
                <a:ea typeface="微软雅黑" pitchFamily="34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的关系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: 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648777" y="5450850"/>
          <a:ext cx="1997163" cy="1106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9" name="公式" r:id="rId3" imgW="583947" imgH="431613" progId="Equation.3">
                  <p:embed/>
                </p:oleObj>
              </mc:Choice>
              <mc:Fallback>
                <p:oleObj name="公式" r:id="rId3" imgW="58394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777" y="5450850"/>
                        <a:ext cx="1997163" cy="110693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F041B85A-56A0-4201-9AC4-8AFA0A66F199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xmlns="" id="{26DB7CE8-3A29-43D9-B52D-67D108CCD382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ABCE7BB5-93ED-4ABB-8B8E-26F90E505614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A0097AB2-530B-4EB1-B344-BA89BC4DB94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99821DB9-D2AE-4049-952B-16EC31CBD37D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9C6D1930-98DE-4E61-BEDA-A9627997328B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5044F7E7-9841-43F8-A67D-577371564EB2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07C0288B-9AFC-4E9F-B8BA-8606F03E0840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98735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/>
      <p:bldP spid="410627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 descr="C:\Documents and Settings\Administrator\Application Data\Tencent\Users\729963870\QQ\WinTemp\RichOle\[PWKU]5]P]3_YO{VKZ70R7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100" y="857251"/>
            <a:ext cx="9230794" cy="6191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8925958" y="5907882"/>
            <a:ext cx="3134088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BPW21R</a:t>
            </a:r>
            <a:endParaRPr lang="en-US" altLang="zh-CN" baseline="-25000">
              <a:solidFill>
                <a:srgbClr val="0000FF"/>
              </a:solidFill>
              <a:ea typeface="宋体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465BE8A7-5A11-431D-A597-EBC255118850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914816A2-3EA3-4699-9DE4-71B3B9723633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810659A9-747C-440F-BD74-657577430D8B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E0AB0182-B722-4092-A34F-0E7FEE40057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868F5B03-7FD5-4338-8534-BA5A7DB6F7E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46DFDB7A-7B99-4AA5-9014-C7C2AF636520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FE534F70-4392-41A6-B700-1F50BA48F40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A48EAD81-B909-4E4A-BE48-4C677118C501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71501534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049484" y="1023989"/>
            <a:ext cx="9002167" cy="739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5  </a:t>
            </a: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温度特性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44" name="TextBox 2"/>
          <p:cNvSpPr txBox="1">
            <a:spLocks noChangeArrowheads="1"/>
          </p:cNvSpPr>
          <p:nvPr/>
        </p:nvSpPr>
        <p:spPr bwMode="auto">
          <a:xfrm>
            <a:off x="657301" y="1911637"/>
            <a:ext cx="12536351" cy="612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612328" indent="-612328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光电二极管的温度特性曲线</a:t>
            </a:r>
            <a:r>
              <a:rPr lang="en-US" altLang="zh-CN" sz="2400" dirty="0"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光电二极管的</a:t>
            </a:r>
            <a:r>
              <a:rPr lang="zh-CN" altLang="en-US" sz="24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暗电流</a:t>
            </a: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及</a:t>
            </a:r>
            <a:r>
              <a:rPr lang="zh-CN" altLang="en-US" sz="24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光电流</a:t>
            </a: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与</a:t>
            </a:r>
            <a:r>
              <a:rPr lang="zh-CN" altLang="en-US" sz="24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温度</a:t>
            </a:r>
            <a:r>
              <a:rPr lang="zh-CN" altLang="en-US" sz="2400" dirty="0">
                <a:ea typeface="微软雅黑" pitchFamily="34" charset="-122"/>
                <a:cs typeface="Times New Roman" pitchFamily="18" charset="0"/>
              </a:rPr>
              <a:t>的关系</a:t>
            </a:r>
            <a:endParaRPr lang="zh-CN" altLang="en-US" sz="2400" dirty="0">
              <a:solidFill>
                <a:srgbClr val="FF0000"/>
              </a:solidFill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024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841058"/>
              </p:ext>
            </p:extLst>
          </p:nvPr>
        </p:nvGraphicFramePr>
        <p:xfrm>
          <a:off x="1936750" y="3260724"/>
          <a:ext cx="9975850" cy="3379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93" name="Visio" r:id="rId3" imgW="4171840" imgH="1704903" progId="Visio.Drawing.11">
                  <p:embed/>
                </p:oleObj>
              </mc:Choice>
              <mc:Fallback>
                <p:oleObj name="Visio" r:id="rId3" imgW="4171840" imgH="170490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3260724"/>
                        <a:ext cx="9975850" cy="3379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1B506D9F-B0AF-4FAA-9369-F941FCD642C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DFAA7238-E5D7-4D33-AFAD-6B62C709B3F1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F57BE4D0-9CF3-4996-80AB-5BB65E2DDF6A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2F9FCE50-56C3-4720-AC41-03A87E2F0F0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BFA820F6-B437-494D-B136-131E470F165E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C17CEB2A-BBEC-4ECF-9DFE-E763C37D828E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3DE495F6-6CF1-47C9-986D-B83CF6B451EE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C75CED1B-8D5E-4B56-87BC-9385CED88E96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09617341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2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2659085" y="1299055"/>
            <a:ext cx="8019920" cy="739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6 </a:t>
            </a:r>
            <a:r>
              <a:rPr lang="zh-CN" altLang="en-US" sz="4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暗电流</a:t>
            </a:r>
            <a:r>
              <a:rPr lang="en-US" altLang="zh-CN" sz="4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4000" baseline="-25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en-US" sz="4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和并联电阻</a:t>
            </a:r>
            <a:r>
              <a:rPr lang="en-US" altLang="zh-CN" sz="4000" dirty="0" err="1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4000" baseline="-25000" dirty="0" err="1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sh</a:t>
            </a:r>
            <a:r>
              <a:rPr lang="en-US" altLang="zh-CN" sz="4000" baseline="-250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sp>
        <p:nvSpPr>
          <p:cNvPr id="408579" name="Text Box 3"/>
          <p:cNvSpPr txBox="1">
            <a:spLocks noChangeArrowheads="1"/>
          </p:cNvSpPr>
          <p:nvPr/>
        </p:nvSpPr>
        <p:spPr bwMode="auto">
          <a:xfrm>
            <a:off x="778760" y="2598388"/>
            <a:ext cx="12272001" cy="2832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暗电流：暗态下，在反向偏压下流经光敏二极管的电流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12328" indent="-612328" eaLnBrk="1" hangingPunct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光敏二极管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反偏工作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时主要的噪声源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marL="612328" indent="-612328" eaLnBrk="1" hangingPunct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与此相反，零偏工作时，并联电阻的噪声为主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0" y="3400805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A953F0F5-C6D8-46C0-BA13-0F27A38FA70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0ABF63F2-3EA7-46CF-A33B-B03B2F50EB3A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D7B4754B-40F9-45C2-A4CA-431AC5D1DB5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46505D9D-AD30-46E5-B002-84B2FAB5BCB3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C48810CA-03E9-4AB2-846A-46D66CE9891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4C04FCCA-61F6-4414-B7F9-F4785EE2434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82E6DE98-6516-43BE-9341-8A6394484FEB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B01E895F-4C8A-4D6E-872A-21B3E48B8D0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7132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/>
      <p:bldP spid="4085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1" descr="C:\Documents and Settings\Administrator\Application Data\Tencent\Users\729963870\QQ\WinTemp\RichOle\{43W9S)E_D5STU$1F@U)6$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783" y="1007269"/>
            <a:ext cx="9468946" cy="575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8992641" y="5707857"/>
            <a:ext cx="3134088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BPW21R</a:t>
            </a:r>
            <a:endParaRPr lang="en-US" altLang="zh-CN" baseline="-25000">
              <a:solidFill>
                <a:srgbClr val="0000FF"/>
              </a:solidFill>
              <a:ea typeface="宋体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075B4EFA-D663-477F-BF04-E359C34583E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6D7FEE17-F6D4-448D-A779-B835C4A5F148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E12012E0-92DA-4BFB-BFFD-054A73F77D8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C79CC075-E291-4509-8BD4-E249C3C4FD1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76C13084-D0E8-43A1-9A30-861A9158C514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A7C3ABDC-FF20-4B49-AFFA-CEE8A3DB70E9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E3944892-65F9-4C35-A3EB-993F5F7E065B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7DA54AA7-152D-423D-94C8-2ECC3694399B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6288289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Text Box 2"/>
          <p:cNvSpPr txBox="1">
            <a:spLocks noChangeArrowheads="1"/>
          </p:cNvSpPr>
          <p:nvPr/>
        </p:nvSpPr>
        <p:spPr bwMode="auto">
          <a:xfrm>
            <a:off x="242917" y="2107406"/>
            <a:ext cx="13474672" cy="160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        用经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红外滤波器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的光作为光源获得的输出电流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200" baseline="-25000" dirty="0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与没有滤波器时的短路电流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200" baseline="-25000" dirty="0">
                <a:ea typeface="微软雅黑" pitchFamily="34" charset="-122"/>
                <a:cs typeface="Times New Roman" pitchFamily="18" charset="0"/>
              </a:rPr>
              <a:t>SC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之比，通常表示为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百分比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:</a:t>
            </a:r>
          </a:p>
        </p:txBody>
      </p:sp>
      <p:sp>
        <p:nvSpPr>
          <p:cNvPr id="407555" name="Text Box 3"/>
          <p:cNvSpPr txBox="1">
            <a:spLocks noChangeArrowheads="1"/>
          </p:cNvSpPr>
          <p:nvPr/>
        </p:nvSpPr>
        <p:spPr bwMode="auto">
          <a:xfrm>
            <a:off x="2484096" y="1090563"/>
            <a:ext cx="8461562" cy="80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7  </a:t>
            </a:r>
            <a:r>
              <a:rPr lang="zh-CN" altLang="en-US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红外灵敏度比</a:t>
            </a:r>
            <a:endParaRPr lang="en-US" altLang="zh-CN" sz="44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7556" name="Text Box 4"/>
          <p:cNvSpPr txBox="1">
            <a:spLocks noChangeArrowheads="1"/>
          </p:cNvSpPr>
          <p:nvPr/>
        </p:nvSpPr>
        <p:spPr bwMode="auto">
          <a:xfrm>
            <a:off x="2661119" y="4764617"/>
            <a:ext cx="3885595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红外灵敏度比 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=</a:t>
            </a:r>
          </a:p>
        </p:txBody>
      </p:sp>
      <p:graphicFrame>
        <p:nvGraphicFramePr>
          <p:cNvPr id="407557" name="Object 5"/>
          <p:cNvGraphicFramePr>
            <a:graphicFrameLocks noChangeAspect="1"/>
          </p:cNvGraphicFramePr>
          <p:nvPr/>
        </p:nvGraphicFramePr>
        <p:xfrm>
          <a:off x="6469688" y="4404252"/>
          <a:ext cx="3703273" cy="139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17" name="公式" r:id="rId3" imgW="698197" imgH="431613" progId="Equation.3">
                  <p:embed/>
                </p:oleObj>
              </mc:Choice>
              <mc:Fallback>
                <p:oleObj name="公式" r:id="rId3" imgW="69819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688" y="4404252"/>
                        <a:ext cx="3703273" cy="139839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B02A6A27-3D90-4E1B-B256-D1EA341EBFCD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5DF55790-A467-42D0-B8D4-C9B583AA413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AE7C3F26-3648-48D8-B73F-9F53D35EE1DA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6873C511-EB86-4A41-BBDE-37CFFE60CFC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xmlns="" id="{6C015B0C-77DE-4B24-A860-7E5135D0ABDB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xmlns="" id="{61317757-C650-4C6C-BF20-53916D6755C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11D53D64-59E4-4A37-804F-5623F7D93E4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88BF40CA-6B0E-466F-BF48-2CB6013C8931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397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/>
      <p:bldP spid="407555" grpId="0"/>
      <p:bldP spid="40755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2483132" y="1202955"/>
            <a:ext cx="8051924" cy="80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4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最大反向偏压</a:t>
            </a:r>
            <a:endParaRPr lang="en-US" altLang="zh-CN" sz="5400" baseline="-250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3699" name="Text Box 3"/>
          <p:cNvSpPr txBox="1">
            <a:spLocks noChangeArrowheads="1"/>
          </p:cNvSpPr>
          <p:nvPr/>
        </p:nvSpPr>
        <p:spPr bwMode="auto">
          <a:xfrm>
            <a:off x="847823" y="2380961"/>
            <a:ext cx="11745685" cy="225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    在光敏二极管上加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反向偏压达到一定值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将造成损伤和器件性能的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严重劣化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.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因此，规定的最大反向偏压参数需低于损伤电压值。反向电压，包括瞬间值，将不应超过最大值。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2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4942050" y="5554782"/>
            <a:ext cx="3134088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BPW21R</a:t>
            </a:r>
            <a:endParaRPr lang="en-US" altLang="zh-CN" baseline="-25000" dirty="0">
              <a:solidFill>
                <a:srgbClr val="0000FF"/>
              </a:solidFill>
              <a:ea typeface="宋体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36ACB551-3D44-4394-8E8D-38DD1BE8159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76A648D7-240C-4557-8D5A-A6DF197AB29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硅光敏二极管基本特性参数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AA06A012-1A75-4726-A5A4-352C0CE7BA63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3D20C867-72A1-49D4-A26C-C52FA9EB6A5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35062194-A887-4EDD-9BC0-AA5EB22BDB7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2AA9FB3D-B4D7-40AE-A0F5-31F75F2A7277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41426DA9-7DC9-456D-99CF-CE82A5D777F1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8B98F110-D280-47CE-8F73-7560D3A14BA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3391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硅光敏二极管偏置电路与应用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硅光敏二极管偏置电路与应用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4.2.3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2055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383016"/>
              </p:ext>
            </p:extLst>
          </p:nvPr>
        </p:nvGraphicFramePr>
        <p:xfrm>
          <a:off x="3135313" y="1617663"/>
          <a:ext cx="6897687" cy="455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41" name="Visio" r:id="rId3" imgW="4251240" imgH="2803680" progId="Visio.Drawing.11">
                  <p:embed/>
                </p:oleObj>
              </mc:Choice>
              <mc:Fallback>
                <p:oleObj name="Visio" r:id="rId3" imgW="4251240" imgH="28036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1617663"/>
                        <a:ext cx="6897687" cy="455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821799" y="3410746"/>
            <a:ext cx="863048" cy="3046988"/>
          </a:xfrm>
          <a:prstGeom prst="rect">
            <a:avLst/>
          </a:prstGeom>
          <a:noFill/>
          <a:ln w="254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反向偏置电路 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8327354" y="6358075"/>
            <a:ext cx="2286627" cy="584775"/>
          </a:xfrm>
          <a:prstGeom prst="rect">
            <a:avLst/>
          </a:prstGeom>
          <a:noFill/>
          <a:ln w="25400">
            <a:solidFill>
              <a:srgbClr val="FF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自偏置电路 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5357883" y="6358075"/>
            <a:ext cx="2768707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零伏偏置电路 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11145650" y="898049"/>
            <a:ext cx="768283" cy="3046988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正向偏置电路</a:t>
            </a:r>
            <a:r>
              <a:rPr lang="zh-CN" altLang="en-US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2" name="左箭头 1"/>
          <p:cNvSpPr/>
          <p:nvPr/>
        </p:nvSpPr>
        <p:spPr>
          <a:xfrm>
            <a:off x="9776343" y="2129713"/>
            <a:ext cx="1219606" cy="717659"/>
          </a:xfrm>
          <a:prstGeom prst="leftArrow">
            <a:avLst/>
          </a:prstGeom>
          <a:solidFill>
            <a:srgbClr val="FF33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上箭头 2"/>
          <p:cNvSpPr/>
          <p:nvPr/>
        </p:nvSpPr>
        <p:spPr>
          <a:xfrm>
            <a:off x="8964647" y="5254909"/>
            <a:ext cx="736515" cy="959525"/>
          </a:xfrm>
          <a:prstGeom prst="upArrow">
            <a:avLst/>
          </a:prstGeom>
          <a:gradFill flip="none" rotWithShape="1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6200000" scaled="1"/>
            <a:tileRect/>
          </a:gradFill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上箭头 19"/>
          <p:cNvSpPr/>
          <p:nvPr/>
        </p:nvSpPr>
        <p:spPr>
          <a:xfrm>
            <a:off x="6465696" y="5312310"/>
            <a:ext cx="554477" cy="959525"/>
          </a:xfrm>
          <a:prstGeom prst="up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0"/>
            <a:tileRect r="-100000" b="-100000"/>
          </a:gradFill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箭头 20"/>
          <p:cNvSpPr/>
          <p:nvPr/>
        </p:nvSpPr>
        <p:spPr>
          <a:xfrm rot="10800000">
            <a:off x="2778909" y="4481571"/>
            <a:ext cx="1677343" cy="669162"/>
          </a:xfrm>
          <a:prstGeom prst="leftArrow">
            <a:avLst/>
          </a:prstGeom>
          <a:gradFill flip="none"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0" scaled="1"/>
            <a:tileRect/>
          </a:gra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E102E635-D4F7-4975-950C-822C2B3215A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4" name="文本框 60">
              <a:extLst>
                <a:ext uri="{FF2B5EF4-FFF2-40B4-BE49-F238E27FC236}">
                  <a16:creationId xmlns:a16="http://schemas.microsoft.com/office/drawing/2014/main" xmlns="" id="{8E6BFC9A-7D6D-42CC-A07C-A1501A538B66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5BE3607B-CA96-4529-86CE-C802F684FCE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3E9597C9-BE25-4F6E-9AFF-7A1B6F3003E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xmlns="" id="{50A33DF2-BB17-4D40-8957-777C043B7692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58">
              <a:extLst>
                <a:ext uri="{FF2B5EF4-FFF2-40B4-BE49-F238E27FC236}">
                  <a16:creationId xmlns:a16="http://schemas.microsoft.com/office/drawing/2014/main" xmlns="" id="{4A12C77B-34FE-4CCC-9EC6-2279A829A337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B56E789F-65B4-4A2D-A3C1-D965BB842D7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27FC1884-FDC1-45AE-B6E0-B47DC0407B86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94306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8" grpId="0" animBg="1"/>
      <p:bldP spid="2" grpId="0" animBg="1"/>
      <p:bldP spid="3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3591341" y="2857501"/>
            <a:ext cx="6401541" cy="954659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lIns="122466" tIns="61233" rIns="122466" bIns="61233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z="5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反向偏置电路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583D1060-6506-49D7-B9AA-E4AF3C9D7AB0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9" name="文本框 60">
              <a:extLst>
                <a:ext uri="{FF2B5EF4-FFF2-40B4-BE49-F238E27FC236}">
                  <a16:creationId xmlns:a16="http://schemas.microsoft.com/office/drawing/2014/main" xmlns="" id="{131138B3-D586-4C18-8EA2-31B4D013A64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215D5159-29FC-4ACB-BB7F-E294B1C1357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8B1991CC-5F36-4843-A825-3658227BA1C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xmlns="" id="{9890C708-015C-4300-ADBE-6E07C899821F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连接符 58">
              <a:extLst>
                <a:ext uri="{FF2B5EF4-FFF2-40B4-BE49-F238E27FC236}">
                  <a16:creationId xmlns:a16="http://schemas.microsoft.com/office/drawing/2014/main" xmlns="" id="{FEE3F6FF-68CD-4DC4-9402-B53830067BED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701CA7BB-41D0-46E7-B3DB-C3ADE4C4CB0F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64E77050-494A-4C79-9CCD-C56AA50563C4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4699476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31743"/>
              </p:ext>
            </p:extLst>
          </p:nvPr>
        </p:nvGraphicFramePr>
        <p:xfrm>
          <a:off x="6915528" y="1602726"/>
          <a:ext cx="6421437" cy="4473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9" name="Visio" r:id="rId3" imgW="1953720" imgH="1708920" progId="Visio.Drawing.11">
                  <p:embed/>
                </p:oleObj>
              </mc:Choice>
              <mc:Fallback>
                <p:oleObj name="Visio" r:id="rId3" imgW="1953720" imgH="17089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528" y="1602726"/>
                        <a:ext cx="6421437" cy="4473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TextBox 3"/>
          <p:cNvSpPr txBox="1">
            <a:spLocks noChangeArrowheads="1"/>
          </p:cNvSpPr>
          <p:nvPr/>
        </p:nvSpPr>
        <p:spPr bwMode="auto">
          <a:xfrm>
            <a:off x="2591100" y="957262"/>
            <a:ext cx="7535147" cy="785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43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43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43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）基本反向偏置电路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128662"/>
              </p:ext>
            </p:extLst>
          </p:nvPr>
        </p:nvGraphicFramePr>
        <p:xfrm>
          <a:off x="1390812" y="2157412"/>
          <a:ext cx="4732092" cy="1150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0" name="Equation" r:id="rId5" imgW="1028520" imgH="330120" progId="Equation.DSMT4">
                  <p:embed/>
                </p:oleObj>
              </mc:Choice>
              <mc:Fallback>
                <p:oleObj name="Equation" r:id="rId5" imgW="1028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812" y="2157412"/>
                        <a:ext cx="4732092" cy="115014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TextBox 6"/>
          <p:cNvSpPr txBox="1">
            <a:spLocks noChangeArrowheads="1"/>
          </p:cNvSpPr>
          <p:nvPr/>
        </p:nvSpPr>
        <p:spPr bwMode="auto">
          <a:xfrm>
            <a:off x="1018368" y="4309091"/>
            <a:ext cx="4282837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由于反向偏压，常温下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0" y="-215719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135186"/>
              </p:ext>
            </p:extLst>
          </p:nvPr>
        </p:nvGraphicFramePr>
        <p:xfrm>
          <a:off x="5476875" y="4116388"/>
          <a:ext cx="176371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1" name="Equation" r:id="rId7" imgW="583920" imgH="393480" progId="Equation.DSMT4">
                  <p:embed/>
                </p:oleObj>
              </mc:Choice>
              <mc:Fallback>
                <p:oleObj name="Equation" r:id="rId7" imgW="583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75" y="4116388"/>
                        <a:ext cx="1763713" cy="8794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Rectangle 8"/>
          <p:cNvSpPr>
            <a:spLocks noChangeArrowheads="1"/>
          </p:cNvSpPr>
          <p:nvPr/>
        </p:nvSpPr>
        <p:spPr bwMode="auto">
          <a:xfrm>
            <a:off x="0" y="-215719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141103"/>
              </p:ext>
            </p:extLst>
          </p:nvPr>
        </p:nvGraphicFramePr>
        <p:xfrm>
          <a:off x="1817225" y="5935038"/>
          <a:ext cx="2916018" cy="87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2" name="Equation" r:id="rId9" imgW="571252" imgH="228501" progId="Equation.DSMT4">
                  <p:embed/>
                </p:oleObj>
              </mc:Choice>
              <mc:Fallback>
                <p:oleObj name="Equation" r:id="rId9" imgW="57125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225" y="5935038"/>
                        <a:ext cx="2916018" cy="87436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025338"/>
              </p:ext>
            </p:extLst>
          </p:nvPr>
        </p:nvGraphicFramePr>
        <p:xfrm>
          <a:off x="6262688" y="6011863"/>
          <a:ext cx="457676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3" name="Equation" r:id="rId11" imgW="825480" imgH="203040" progId="Equation.DSMT4">
                  <p:embed/>
                </p:oleObj>
              </mc:Choice>
              <mc:Fallback>
                <p:oleObj name="Equation" r:id="rId11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688" y="6011863"/>
                        <a:ext cx="4576762" cy="835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31CCF4DD-7ED8-4052-9657-F774DBC453E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0" name="文本框 60">
              <a:extLst>
                <a:ext uri="{FF2B5EF4-FFF2-40B4-BE49-F238E27FC236}">
                  <a16:creationId xmlns:a16="http://schemas.microsoft.com/office/drawing/2014/main" xmlns="" id="{7D92E457-57C8-44A3-B557-F1B260D3CBC4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456F9AD5-FF7F-4B7F-A0BA-1CF91AA5D3F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5D8ED9F4-CB22-41A8-B829-0BE92C13655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xmlns="" id="{CDF5C3BB-CBFD-40C3-89D6-3ACEF206EB7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xmlns="" id="{3F56B181-0611-4E11-839E-D8CE1E9916CF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C45574DE-ACCF-41C4-9AB5-91FD9A90B17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4F122F73-7DD0-4D0A-97F6-8D98F462BB2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73006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  <p:bldP spid="112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-215719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0" name="Object 1"/>
          <p:cNvGraphicFramePr>
            <a:graphicFrameLocks noChangeAspect="1"/>
          </p:cNvGraphicFramePr>
          <p:nvPr/>
        </p:nvGraphicFramePr>
        <p:xfrm>
          <a:off x="3509437" y="1197566"/>
          <a:ext cx="5472746" cy="1150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1" name="Equation" r:id="rId3" imgW="1256755" imgH="355446" progId="Equation.DSMT4">
                  <p:embed/>
                </p:oleObj>
              </mc:Choice>
              <mc:Fallback>
                <p:oleObj name="Equation" r:id="rId3" imgW="1256755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437" y="1197566"/>
                        <a:ext cx="5472746" cy="115014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Box 3"/>
          <p:cNvSpPr txBox="1">
            <a:spLocks noChangeArrowheads="1"/>
          </p:cNvSpPr>
          <p:nvPr/>
        </p:nvSpPr>
        <p:spPr bwMode="auto">
          <a:xfrm>
            <a:off x="1546923" y="2607470"/>
            <a:ext cx="8750605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反向偏置电路的输出电压与入射辐射量的关系为</a:t>
            </a: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-215719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859844"/>
              </p:ext>
            </p:extLst>
          </p:nvPr>
        </p:nvGraphicFramePr>
        <p:xfrm>
          <a:off x="4049713" y="3432175"/>
          <a:ext cx="408463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2" name="Equation" r:id="rId5" imgW="1079280" imgH="355320" progId="Equation.DSMT4">
                  <p:embed/>
                </p:oleObj>
              </mc:Choice>
              <mc:Fallback>
                <p:oleObj name="Equation" r:id="rId5" imgW="107928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3432175"/>
                        <a:ext cx="4084637" cy="1000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Box 6"/>
          <p:cNvSpPr txBox="1">
            <a:spLocks noChangeArrowheads="1"/>
          </p:cNvSpPr>
          <p:nvPr/>
        </p:nvSpPr>
        <p:spPr bwMode="auto">
          <a:xfrm>
            <a:off x="1651096" y="4631861"/>
            <a:ext cx="7787567" cy="55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当入射光通量变化时，输出信号电压的变化为</a:t>
            </a:r>
          </a:p>
        </p:txBody>
      </p:sp>
      <p:sp>
        <p:nvSpPr>
          <p:cNvPr id="51208" name="Rectangle 6"/>
          <p:cNvSpPr>
            <a:spLocks noChangeArrowheads="1"/>
          </p:cNvSpPr>
          <p:nvPr/>
        </p:nvSpPr>
        <p:spPr bwMode="auto">
          <a:xfrm>
            <a:off x="0" y="-215719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203249"/>
              </p:ext>
            </p:extLst>
          </p:nvPr>
        </p:nvGraphicFramePr>
        <p:xfrm>
          <a:off x="4151313" y="5457825"/>
          <a:ext cx="4068762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3" name="Equation" r:id="rId7" imgW="977760" imgH="355320" progId="Equation.DSMT4">
                  <p:embed/>
                </p:oleObj>
              </mc:Choice>
              <mc:Fallback>
                <p:oleObj name="Equation" r:id="rId7" imgW="9777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5457825"/>
                        <a:ext cx="4068762" cy="11001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1D17B5E4-E280-4DEA-BB76-E0BF2D097DDF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:a16="http://schemas.microsoft.com/office/drawing/2014/main" xmlns="" id="{49EAACAF-FCE1-4DC6-87EE-0AD4C0FA04FC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57B071DE-CC30-4E0E-AC22-1AF1E97F9E4A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5AC9CDAD-E60C-45EE-A1AF-4CE982DCBB1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xmlns="" id="{56309B90-865C-47C1-B1B1-04278ABA4056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:a16="http://schemas.microsoft.com/office/drawing/2014/main" xmlns="" id="{FFC41F95-4973-45F7-9F53-1D2C2DB7D68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00086471-F3E8-4C65-83D4-6E0315C3E2A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4ABBDDDF-9B4F-4081-8C8A-299CB93F9311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74454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TextBox 1"/>
          <p:cNvSpPr txBox="1">
            <a:spLocks noChangeArrowheads="1"/>
          </p:cNvSpPr>
          <p:nvPr/>
        </p:nvSpPr>
        <p:spPr bwMode="auto">
          <a:xfrm>
            <a:off x="2703768" y="1203134"/>
            <a:ext cx="9021386" cy="67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en-US" sz="3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反向偏置光电二极管的</a:t>
            </a:r>
            <a:r>
              <a:rPr lang="zh-CN" altLang="en-US" sz="3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阻抗变换</a:t>
            </a:r>
            <a:r>
              <a:rPr lang="zh-CN" altLang="en-US" sz="3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电路</a:t>
            </a: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013979"/>
              </p:ext>
            </p:extLst>
          </p:nvPr>
        </p:nvGraphicFramePr>
        <p:xfrm>
          <a:off x="7820025" y="2633663"/>
          <a:ext cx="5380038" cy="314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3" name="Visio" r:id="rId3" imgW="2558160" imgH="1996200" progId="Visio.Drawing.11">
                  <p:embed/>
                </p:oleObj>
              </mc:Choice>
              <mc:Fallback>
                <p:oleObj name="Visio" r:id="rId3" imgW="2558160" imgH="19962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25" y="2633663"/>
                        <a:ext cx="5380038" cy="314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Rectangle 6"/>
          <p:cNvSpPr>
            <a:spLocks noChangeArrowheads="1"/>
          </p:cNvSpPr>
          <p:nvPr/>
        </p:nvSpPr>
        <p:spPr bwMode="auto">
          <a:xfrm>
            <a:off x="3924300" y="-172717"/>
            <a:ext cx="247389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13320" name="TextBox 7"/>
          <p:cNvSpPr txBox="1">
            <a:spLocks noChangeArrowheads="1"/>
          </p:cNvSpPr>
          <p:nvPr/>
        </p:nvSpPr>
        <p:spPr bwMode="auto">
          <a:xfrm>
            <a:off x="451875" y="2458853"/>
            <a:ext cx="8137674" cy="3078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反偏光电二极管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恒流源：</a:t>
            </a:r>
            <a:endParaRPr lang="en-US" altLang="zh-CN" sz="3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612328" indent="-612328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内阻很大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612328" indent="-612328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饱和光电流正比于入射光照度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612328" indent="-612328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很高负载电阻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大的信号电压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39166" y="5990355"/>
            <a:ext cx="9604785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直接连接负载电阻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</a:t>
            </a:r>
            <a:r>
              <a:rPr lang="zh-CN" altLang="en-US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因阻抗的失配而削弱信号幅度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E87612F8-2A2C-403E-B27C-F0CED09E0CE3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xmlns="" id="{B6023753-7615-4378-87CC-8E2C6039875A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E0BA7493-D1DD-48B3-A430-6DA1DA718B2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FF4A2C9A-1A59-4B0B-AEB7-5E33D386D3EB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D19F78BB-4530-4643-92E5-30B1E46E608A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6A1690E8-9511-4D1F-B2BF-A776F572CDB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C483DD3B-DF25-435A-913C-096730DADF0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98F7B1F7-E534-4CD6-B6AF-07919E2DE05B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01031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/>
      <p:bldP spid="13320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188382" y="2185987"/>
          <a:ext cx="306740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8" name="Equation" r:id="rId3" imgW="685800" imgH="203200" progId="Equation.DSMT4">
                  <p:embed/>
                </p:oleObj>
              </mc:Choice>
              <mc:Fallback>
                <p:oleObj name="Equation" r:id="rId3" imgW="6858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382" y="2185987"/>
                        <a:ext cx="3067405" cy="6715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027975"/>
              </p:ext>
            </p:extLst>
          </p:nvPr>
        </p:nvGraphicFramePr>
        <p:xfrm>
          <a:off x="4922838" y="2135188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9" name="Equation" r:id="rId5" imgW="1523880" imgH="228600" progId="Equation.DSMT4">
                  <p:embed/>
                </p:oleObj>
              </mc:Choice>
              <mc:Fallback>
                <p:oleObj name="Equation" r:id="rId5" imgW="1523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135188"/>
                        <a:ext cx="7110412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Box 8"/>
          <p:cNvSpPr txBox="1">
            <a:spLocks noChangeArrowheads="1"/>
          </p:cNvSpPr>
          <p:nvPr/>
        </p:nvSpPr>
        <p:spPr bwMode="auto">
          <a:xfrm>
            <a:off x="966900" y="1057615"/>
            <a:ext cx="8732685" cy="76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阻抗变换器</a:t>
            </a:r>
            <a:r>
              <a:rPr lang="en-US" altLang="zh-CN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高阻抗的电流源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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低阻抗的电压源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09671" y="2996803"/>
            <a:ext cx="12603034" cy="392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与基本反向偏置电路相比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具有极小的负载电阻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无信号失真；</a:t>
            </a:r>
            <a:endParaRPr lang="en-US" altLang="zh-CN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运放的放大作用，</a:t>
            </a: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输出较高的电压信号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与零伏偏置电路相比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具有较高的反向工作偏压，</a:t>
            </a: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光电二极管结电容较小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响应速度快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，又有</a:t>
            </a:r>
            <a:r>
              <a:rPr lang="zh-CN" altLang="en-US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较大线性响应动态范围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AFAC6C2A-D96F-4859-B391-3C2864412750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CBC01ABC-920D-4DEC-8500-2EEE539C9844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8BFDBCE3-622E-4910-9FDD-D33D4C8EE9D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83E032FF-6B2C-40D1-9093-2B657D507508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xmlns="" id="{421A82DD-8A12-4E17-B7DF-F206792ED604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xmlns="" id="{EBE5513B-F517-4DD5-8A11-DC5B3E6FBE7A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E68DB24D-48BA-40C5-AF43-7E2FCA3DA83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8CDD152E-EDE7-4472-842C-29FD0D7F7CDD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6556588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724706" y="3457576"/>
            <a:ext cx="5868079" cy="954659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lIns="122466" tIns="61233" rIns="122466" bIns="61233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z="5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零伏偏置电路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825F48B-FB6B-4723-B4E5-02438EDADBA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1" name="文本框 60">
              <a:extLst>
                <a:ext uri="{FF2B5EF4-FFF2-40B4-BE49-F238E27FC236}">
                  <a16:creationId xmlns:a16="http://schemas.microsoft.com/office/drawing/2014/main" xmlns="" id="{C1896E8F-62BE-4B8D-B0F3-8683CC0F0D09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FA5DD0EE-D253-4E48-BE63-9AFBFDBD8294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DEE82616-72A0-41AD-8CBB-0B256C66EE7F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xmlns="" id="{45A445F3-E944-41F1-97E0-E69AE415AB40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连接符 58">
              <a:extLst>
                <a:ext uri="{FF2B5EF4-FFF2-40B4-BE49-F238E27FC236}">
                  <a16:creationId xmlns:a16="http://schemas.microsoft.com/office/drawing/2014/main" xmlns="" id="{9B9AB258-29DE-4DB6-84B1-E36693F4347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31EF8F3D-6E2E-4A7C-B99A-DD3BDAFD33B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3A13A141-AA6C-4085-8ABE-41EA3C8CF9F8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27141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2"/>
          <p:cNvSpPr txBox="1">
            <a:spLocks noChangeArrowheads="1"/>
          </p:cNvSpPr>
          <p:nvPr/>
        </p:nvSpPr>
        <p:spPr bwMode="auto">
          <a:xfrm>
            <a:off x="457253" y="1057275"/>
            <a:ext cx="12736399" cy="2985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零伏偏置电路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1/</a:t>
            </a:r>
            <a:r>
              <a:rPr lang="en-US" altLang="zh-CN" sz="3200" i="1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噪声最小、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暗电流为零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较高的信噪比</a:t>
            </a:r>
            <a:endParaRPr lang="en-US" altLang="zh-CN" sz="3200" dirty="0">
              <a:ea typeface="微软雅黑" pitchFamily="34" charset="-122"/>
              <a:cs typeface="Times New Roman" pitchFamily="18" charset="0"/>
            </a:endParaRP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可避免偏置电路引入的噪声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质量较好（反向饱和电流小，正、反向特性好）的光电二极管常采用零偏</a:t>
            </a:r>
          </a:p>
        </p:txBody>
      </p:sp>
      <p:sp>
        <p:nvSpPr>
          <p:cNvPr id="57347" name="TextBox 3"/>
          <p:cNvSpPr txBox="1">
            <a:spLocks noChangeArrowheads="1"/>
          </p:cNvSpPr>
          <p:nvPr/>
        </p:nvSpPr>
        <p:spPr bwMode="auto">
          <a:xfrm>
            <a:off x="457253" y="3927277"/>
            <a:ext cx="12869765" cy="2985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光谱响应在</a:t>
            </a:r>
            <a:r>
              <a:rPr lang="zh-CN" altLang="en-US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中远红外波段的光伏探测器</a:t>
            </a:r>
            <a:endParaRPr lang="en-US" altLang="zh-CN" dirty="0">
              <a:ea typeface="微软雅黑" pitchFamily="34" charset="-122"/>
              <a:cs typeface="Times New Roman" pitchFamily="18" charset="0"/>
            </a:endParaRP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PV-</a:t>
            </a:r>
            <a:r>
              <a:rPr lang="en-US" altLang="zh-CN" sz="3200" dirty="0" err="1">
                <a:ea typeface="微软雅黑" pitchFamily="34" charset="-122"/>
                <a:cs typeface="Times New Roman" pitchFamily="18" charset="0"/>
              </a:rPr>
              <a:t>InSb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77K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）：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3~5.5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  <a:sym typeface="Symbol" pitchFamily="18" charset="2"/>
              </a:rPr>
              <a:t></a:t>
            </a:r>
            <a:r>
              <a:rPr lang="en-US" altLang="zh-CN" sz="3200" dirty="0">
                <a:ea typeface="微软雅黑" pitchFamily="34" charset="-122"/>
                <a:cs typeface="Times New Roman" pitchFamily="18" charset="0"/>
              </a:rPr>
              <a:t>m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窄禁带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3200" dirty="0" err="1"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200" baseline="-25000" dirty="0" err="1">
                <a:ea typeface="微软雅黑" pitchFamily="34" charset="-122"/>
                <a:cs typeface="Times New Roman" pitchFamily="18" charset="0"/>
              </a:rPr>
              <a:t>g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很小）半导体材料</a:t>
            </a:r>
            <a:endParaRPr lang="en-US" altLang="zh-CN" sz="3200" dirty="0">
              <a:ea typeface="微软雅黑" pitchFamily="34" charset="-122"/>
              <a:cs typeface="Times New Roman" pitchFamily="18" charset="0"/>
            </a:endParaRPr>
          </a:p>
          <a:p>
            <a:pPr marL="459246" indent="-459246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性能受</a:t>
            </a:r>
            <a:r>
              <a:rPr lang="zh-CN" altLang="en-US" sz="3200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热激发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的影响较大，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能承受的反向偏压不大</a:t>
            </a:r>
            <a:r>
              <a:rPr lang="zh-CN" altLang="en-US" sz="3200" dirty="0">
                <a:ea typeface="微软雅黑" pitchFamily="34" charset="-122"/>
                <a:cs typeface="Times New Roman" pitchFamily="18" charset="0"/>
              </a:rPr>
              <a:t>（一般为几百毫伏至一点几伏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8111E2C4-34E5-49F9-8A52-729ECBF9D8AB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B3E6A22B-09C4-4238-8AF8-540C9255F71C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99662018-9AA0-41A0-BA7B-0C455621702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DBC01690-4B1C-40C0-B782-6C4E850D2A98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3905C3F5-CCDC-4773-A241-5718FF210C03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9AFFE867-0398-4471-83EF-3F40F1D94B7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938328C8-5779-4D39-BF9C-F1FA1B57064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60231C10-8D5F-4548-87BB-41214CAC1A2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77627109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53531"/>
              </p:ext>
            </p:extLst>
          </p:nvPr>
        </p:nvGraphicFramePr>
        <p:xfrm>
          <a:off x="514350" y="1598613"/>
          <a:ext cx="6823075" cy="450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2" name="Visio" r:id="rId3" imgW="2656080" imgH="2337120" progId="Visio.Drawing.11">
                  <p:embed/>
                </p:oleObj>
              </mc:Choice>
              <mc:Fallback>
                <p:oleObj name="Visio" r:id="rId3" imgW="2656080" imgH="23371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1598613"/>
                        <a:ext cx="6823075" cy="450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266481"/>
              </p:ext>
            </p:extLst>
          </p:nvPr>
        </p:nvGraphicFramePr>
        <p:xfrm>
          <a:off x="6896100" y="2454275"/>
          <a:ext cx="6470650" cy="356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3" name="Visio" r:id="rId5" imgW="2800416" imgH="2057400" progId="Visio.Drawing.11">
                  <p:embed/>
                </p:oleObj>
              </mc:Choice>
              <mc:Fallback>
                <p:oleObj name="Visio" r:id="rId5" imgW="2800416" imgH="20574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2454275"/>
                        <a:ext cx="6470650" cy="356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7508DF50-4A3E-4841-8D66-5F49910BE60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C5FB0023-3932-49AE-8742-5D8A489CF32F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硅光敏二极管偏置电路与应用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A83BE3E2-DEDF-40B0-862F-21A5E3F1062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4ECEBFF7-1EBA-45A9-85B3-ED0D2BD5F719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FF7EDD4C-767E-42A5-B609-2796B0C79A78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7AD77205-DCF5-4AE9-9218-903DBD5A71C6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4840D0DC-56B4-42D9-986B-90B636F6BBA7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C5D83E60-AF13-461B-83CC-BE7C83619824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2393818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光电二极管应用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光电二极管应用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4.2.4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00304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1"/>
          <p:cNvSpPr txBox="1">
            <a:spLocks noChangeArrowheads="1"/>
          </p:cNvSpPr>
          <p:nvPr/>
        </p:nvSpPr>
        <p:spPr bwMode="auto">
          <a:xfrm>
            <a:off x="2857831" y="907256"/>
            <a:ext cx="8335340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光电二极管可以用作光控开关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544022"/>
              </p:ext>
            </p:extLst>
          </p:nvPr>
        </p:nvGraphicFramePr>
        <p:xfrm>
          <a:off x="6596182" y="2672522"/>
          <a:ext cx="6367250" cy="4205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5" name="Visio" r:id="rId3" imgW="2111760" imgH="1858320" progId="Visio.Drawing.11">
                  <p:embed/>
                </p:oleObj>
              </mc:Choice>
              <mc:Fallback>
                <p:oleObj name="Visio" r:id="rId3" imgW="2111760" imgH="18583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182" y="2672522"/>
                        <a:ext cx="6367250" cy="4205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TextBox 5"/>
          <p:cNvSpPr txBox="1">
            <a:spLocks noChangeArrowheads="1"/>
          </p:cNvSpPr>
          <p:nvPr/>
        </p:nvSpPr>
        <p:spPr bwMode="auto">
          <a:xfrm>
            <a:off x="716756" y="1873109"/>
            <a:ext cx="12469669" cy="133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无光照时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，光电二极管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VD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因接反向电压而截止，晶体管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因无基极电流也截止，继电器处于释放状态。</a:t>
            </a:r>
          </a:p>
        </p:txBody>
      </p:sp>
      <p:sp>
        <p:nvSpPr>
          <p:cNvPr id="58373" name="TextBox 6"/>
          <p:cNvSpPr txBox="1">
            <a:spLocks noChangeArrowheads="1"/>
          </p:cNvSpPr>
          <p:nvPr/>
        </p:nvSpPr>
        <p:spPr bwMode="auto">
          <a:xfrm>
            <a:off x="590618" y="3807619"/>
            <a:ext cx="6201493" cy="19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有光线照射时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VD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从截止转变为导通，使</a:t>
            </a:r>
            <a:r>
              <a:rPr lang="en-US" altLang="zh-CN" dirty="0" err="1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 err="1">
                <a:ea typeface="微软雅黑" pitchFamily="34" charset="-122"/>
                <a:cs typeface="Times New Roman" pitchFamily="18" charset="0"/>
              </a:rPr>
              <a:t>l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相继导通，继电器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K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吸合，从而接通被控电路。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A3E0CE41-07AA-4D7B-9E9D-EA5F4948E71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0232256C-4D95-4249-A12D-DC9F208DFF98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光电二极管应用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FC176DE2-21C3-4A7F-9A93-CE85B0FC85A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65B7BEAF-E198-4AAE-8024-B4C33B65D22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xmlns="" id="{F464D8B0-94C8-4181-A5A2-0FF963FD67C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xmlns="" id="{669750B7-071F-4F41-A0B3-EA59E69626B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E82189AD-A7EE-4B4E-B687-5CC7522C75A6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2B5294C1-F80F-4489-B339-785C9DEE0C2D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3476487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043455"/>
              </p:ext>
            </p:extLst>
          </p:nvPr>
        </p:nvGraphicFramePr>
        <p:xfrm>
          <a:off x="7326313" y="2589213"/>
          <a:ext cx="5451475" cy="342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9" name="Visio" r:id="rId3" imgW="2228040" imgH="1862280" progId="Visio.Drawing.11">
                  <p:embed/>
                </p:oleObj>
              </mc:Choice>
              <mc:Fallback>
                <p:oleObj name="Visio" r:id="rId3" imgW="2228040" imgH="18622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3" y="2589213"/>
                        <a:ext cx="5451475" cy="342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TextBox 3"/>
          <p:cNvSpPr txBox="1">
            <a:spLocks noChangeArrowheads="1"/>
          </p:cNvSpPr>
          <p:nvPr/>
        </p:nvSpPr>
        <p:spPr bwMode="auto">
          <a:xfrm>
            <a:off x="447473" y="2901307"/>
            <a:ext cx="6211274" cy="2062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5-36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所示为光信号放大电路，光信号由光电二极管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VD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接收并转换为电信号，经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放大后通过耦合电容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输出。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F23AF496-C54F-4585-BBA0-B569748643A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8E760A00-11E0-46CC-9A4E-A5101340357D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光电二极管应用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FB40DC1A-D61F-41EC-9DD5-9EF1EA544D7F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3D6B7279-7CCC-482A-902C-0A1630C3B59E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F4EFB2CD-5BF4-4FD8-9749-3F016D11221F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C017AFD4-F022-4BD3-9BF4-955A7FD4BBEE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003166A2-DA02-46B3-973A-10EC45144FD7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429064A8-D6B1-48EC-B4EA-EF9C73506C9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8804277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307548"/>
              </p:ext>
            </p:extLst>
          </p:nvPr>
        </p:nvGraphicFramePr>
        <p:xfrm>
          <a:off x="5294313" y="1766888"/>
          <a:ext cx="8728075" cy="489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3" name="Visio" r:id="rId3" imgW="2522160" imgH="1888560" progId="Visio.Drawing.11">
                  <p:embed/>
                </p:oleObj>
              </mc:Choice>
              <mc:Fallback>
                <p:oleObj name="Visio" r:id="rId3" imgW="2522160" imgH="1888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313" y="1766888"/>
                        <a:ext cx="8728075" cy="489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TextBox 4"/>
          <p:cNvSpPr txBox="1">
            <a:spLocks noChangeArrowheads="1"/>
          </p:cNvSpPr>
          <p:nvPr/>
        </p:nvSpPr>
        <p:spPr bwMode="auto">
          <a:xfrm>
            <a:off x="4380694" y="1090082"/>
            <a:ext cx="5667980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3. 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用作红外光到可见光的转换</a:t>
            </a:r>
          </a:p>
        </p:txBody>
      </p:sp>
      <p:sp>
        <p:nvSpPr>
          <p:cNvPr id="60420" name="TextBox 5"/>
          <p:cNvSpPr txBox="1">
            <a:spLocks noChangeArrowheads="1"/>
          </p:cNvSpPr>
          <p:nvPr/>
        </p:nvSpPr>
        <p:spPr bwMode="auto">
          <a:xfrm>
            <a:off x="512798" y="2629813"/>
            <a:ext cx="5868079" cy="2062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红外光信号由光电二极管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VD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接收，经晶体管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放大后，驱动发光二极管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VD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发出可见光。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033C385B-8C21-464B-B93E-63810503278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CEE26555-51E0-4DF3-A8FE-DB06B9A6810A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光电二极管应用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72B4C82E-CF83-4A3B-B8FB-2CFD5B446F4B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24732210-CAB9-4F1D-BBD3-705278016CCC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4AF7B952-824A-47F0-89E5-2B6634660067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AEB677A3-00D7-47C8-928F-3E69470D14AD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FAD2037D-0A15-49C4-ADDC-A966818E994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D3097A33-FD18-49A7-917D-9611052BC95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979870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55326"/>
              </p:ext>
            </p:extLst>
          </p:nvPr>
        </p:nvGraphicFramePr>
        <p:xfrm>
          <a:off x="7080250" y="3643313"/>
          <a:ext cx="626110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57" name="Visio" r:id="rId3" imgW="2751840" imgH="1738440" progId="Visio.Drawing.11">
                  <p:embed/>
                </p:oleObj>
              </mc:Choice>
              <mc:Fallback>
                <p:oleObj name="Visio" r:id="rId3" imgW="2751840" imgH="17384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0" y="3643313"/>
                        <a:ext cx="626110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3" name="TextBox 2"/>
          <p:cNvSpPr txBox="1">
            <a:spLocks noChangeArrowheads="1"/>
          </p:cNvSpPr>
          <p:nvPr/>
        </p:nvSpPr>
        <p:spPr bwMode="auto">
          <a:xfrm>
            <a:off x="3824730" y="908169"/>
            <a:ext cx="6116938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4. </a:t>
            </a:r>
            <a:r>
              <a:rPr lang="zh-CN" altLang="en-US" sz="3200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光电二极管可以用作光强测量</a:t>
            </a:r>
          </a:p>
        </p:txBody>
      </p:sp>
      <p:sp>
        <p:nvSpPr>
          <p:cNvPr id="61444" name="TextBox 3"/>
          <p:cNvSpPr txBox="1">
            <a:spLocks noChangeArrowheads="1"/>
          </p:cNvSpPr>
          <p:nvPr/>
        </p:nvSpPr>
        <p:spPr bwMode="auto">
          <a:xfrm>
            <a:off x="1257444" y="1856616"/>
            <a:ext cx="9135533" cy="6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电路由稳压管、光电二极管和电桥组成。</a:t>
            </a:r>
          </a:p>
        </p:txBody>
      </p:sp>
      <p:sp>
        <p:nvSpPr>
          <p:cNvPr id="61445" name="TextBox 4"/>
          <p:cNvSpPr txBox="1">
            <a:spLocks noChangeArrowheads="1"/>
          </p:cNvSpPr>
          <p:nvPr/>
        </p:nvSpPr>
        <p:spPr bwMode="auto">
          <a:xfrm>
            <a:off x="523935" y="2572814"/>
            <a:ext cx="12469669" cy="76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        无光照时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很大，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VT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导通，调整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使电桥平衡，即指针为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；</a:t>
            </a:r>
          </a:p>
        </p:txBody>
      </p:sp>
      <p:sp>
        <p:nvSpPr>
          <p:cNvPr id="61446" name="TextBox 5"/>
          <p:cNvSpPr txBox="1">
            <a:spLocks noChangeArrowheads="1"/>
          </p:cNvSpPr>
          <p:nvPr/>
        </p:nvSpPr>
        <p:spPr bwMode="auto">
          <a:xfrm>
            <a:off x="262647" y="3932634"/>
            <a:ext cx="6736419" cy="2062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       有光照时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下降，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上电流下降，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减小。</a:t>
            </a:r>
            <a:r>
              <a:rPr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光照不同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不同，</a:t>
            </a:r>
            <a:r>
              <a:rPr lang="en-US" altLang="zh-CN" dirty="0"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baseline="-25000" dirty="0"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dirty="0">
                <a:ea typeface="微软雅黑" pitchFamily="34" charset="-122"/>
                <a:cs typeface="Times New Roman" pitchFamily="18" charset="0"/>
              </a:rPr>
              <a:t>上压降不同，光强可以通过电流计读数显示出来。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9A4093FD-5463-4220-B048-2FB734CE317A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xmlns="" id="{F1E1BCD9-921B-452F-B30F-A69CE1456F1F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光电二极管应用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E870F498-9F66-4B10-B6AB-37B4883817BE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B4D05F7B-4666-49D7-9BC3-6C6B4A8A6741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AD6C4F9E-99EE-4DA0-87EC-C005242270F6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4.2.4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F9290017-5729-42CE-91B3-7FC0E3D28B16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924B369D-527F-43FC-8648-285346C845E7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869561F5-B5C3-4335-8061-550908C9196F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894638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537</TotalTime>
  <Words>1663</Words>
  <Application>Microsoft Office PowerPoint</Application>
  <PresentationFormat>自定义</PresentationFormat>
  <Paragraphs>335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39</vt:i4>
      </vt:variant>
    </vt:vector>
  </HeadingPairs>
  <TitlesOfParts>
    <vt:vector size="62" baseType="lpstr">
      <vt:lpstr>HY견고딕</vt:lpstr>
      <vt:lpstr>Yu Gothic UI</vt:lpstr>
      <vt:lpstr>阿里巴巴普惠体 M</vt:lpstr>
      <vt:lpstr>阿里巴巴普惠体 R</vt:lpstr>
      <vt:lpstr>冬青黑体简体中文 W3</vt:lpstr>
      <vt:lpstr>冬青黑体简体中文 W6</vt:lpstr>
      <vt:lpstr>楷体_GB2312</vt:lpstr>
      <vt:lpstr>宋体</vt:lpstr>
      <vt:lpstr>Microsoft YaHei</vt:lpstr>
      <vt:lpstr>Microsoft YaHei</vt:lpstr>
      <vt:lpstr>Arial</vt:lpstr>
      <vt:lpstr>Calibri</vt:lpstr>
      <vt:lpstr>Calibri Light</vt:lpstr>
      <vt:lpstr>Euclid Symbol</vt:lpstr>
      <vt:lpstr>Microsoft Yi Baiti</vt:lpstr>
      <vt:lpstr>Symbol</vt:lpstr>
      <vt:lpstr>Times New Roman</vt:lpstr>
      <vt:lpstr>Wingdings</vt:lpstr>
      <vt:lpstr>光电技术模板-2015-6-18</vt:lpstr>
      <vt:lpstr>Visio</vt:lpstr>
      <vt:lpstr>Equation</vt:lpstr>
      <vt:lpstr>公式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Si光敏二极管类型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user</cp:lastModifiedBy>
  <cp:revision>53</cp:revision>
  <dcterms:created xsi:type="dcterms:W3CDTF">2015-06-18T01:42:52Z</dcterms:created>
  <dcterms:modified xsi:type="dcterms:W3CDTF">2022-09-29T00:53:59Z</dcterms:modified>
</cp:coreProperties>
</file>