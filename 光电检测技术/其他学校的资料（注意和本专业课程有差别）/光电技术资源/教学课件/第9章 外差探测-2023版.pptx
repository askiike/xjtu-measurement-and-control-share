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8" r:id="rId2"/>
    <p:sldId id="297" r:id="rId3"/>
    <p:sldId id="283" r:id="rId4"/>
    <p:sldId id="284" r:id="rId5"/>
    <p:sldId id="285" r:id="rId6"/>
    <p:sldId id="286" r:id="rId7"/>
    <p:sldId id="287" r:id="rId8"/>
    <p:sldId id="288" r:id="rId9"/>
    <p:sldId id="289" r:id="rId10"/>
    <p:sldId id="290" r:id="rId11"/>
    <p:sldId id="291" r:id="rId12"/>
    <p:sldId id="292" r:id="rId13"/>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charset="0"/>
        <a:ea typeface="宋体" charset="-122"/>
        <a:cs typeface="+mn-cs"/>
      </a:defRPr>
    </a:lvl1pPr>
    <a:lvl2pPr marL="514350" indent="-57150" algn="l" defTabSz="1028700" rtl="0" fontAlgn="base">
      <a:spcBef>
        <a:spcPct val="0"/>
      </a:spcBef>
      <a:spcAft>
        <a:spcPct val="0"/>
      </a:spcAft>
      <a:defRPr sz="2000" kern="1200">
        <a:solidFill>
          <a:schemeClr val="tx1"/>
        </a:solidFill>
        <a:latin typeface="Arial" charset="0"/>
        <a:ea typeface="宋体" charset="-122"/>
        <a:cs typeface="+mn-cs"/>
      </a:defRPr>
    </a:lvl2pPr>
    <a:lvl3pPr marL="1028700" indent="-114300" algn="l" defTabSz="1028700" rtl="0" fontAlgn="base">
      <a:spcBef>
        <a:spcPct val="0"/>
      </a:spcBef>
      <a:spcAft>
        <a:spcPct val="0"/>
      </a:spcAft>
      <a:defRPr sz="2000" kern="1200">
        <a:solidFill>
          <a:schemeClr val="tx1"/>
        </a:solidFill>
        <a:latin typeface="Arial" charset="0"/>
        <a:ea typeface="宋体" charset="-122"/>
        <a:cs typeface="+mn-cs"/>
      </a:defRPr>
    </a:lvl3pPr>
    <a:lvl4pPr marL="1543050" indent="-171450" algn="l" defTabSz="1028700" rtl="0" fontAlgn="base">
      <a:spcBef>
        <a:spcPct val="0"/>
      </a:spcBef>
      <a:spcAft>
        <a:spcPct val="0"/>
      </a:spcAft>
      <a:defRPr sz="2000" kern="1200">
        <a:solidFill>
          <a:schemeClr val="tx1"/>
        </a:solidFill>
        <a:latin typeface="Arial" charset="0"/>
        <a:ea typeface="宋体" charset="-122"/>
        <a:cs typeface="+mn-cs"/>
      </a:defRPr>
    </a:lvl4pPr>
    <a:lvl5pPr marL="2057400" indent="-228600" algn="l" defTabSz="1028700" rtl="0" fontAlgn="base">
      <a:spcBef>
        <a:spcPct val="0"/>
      </a:spcBef>
      <a:spcAft>
        <a:spcPct val="0"/>
      </a:spcAft>
      <a:defRPr sz="2000" kern="1200">
        <a:solidFill>
          <a:schemeClr val="tx1"/>
        </a:solidFill>
        <a:latin typeface="Arial" charset="0"/>
        <a:ea typeface="宋体" charset="-122"/>
        <a:cs typeface="+mn-cs"/>
      </a:defRPr>
    </a:lvl5pPr>
    <a:lvl6pPr marL="2286000" algn="l" defTabSz="914400" rtl="0" eaLnBrk="1" latinLnBrk="0" hangingPunct="1">
      <a:defRPr sz="2000" kern="1200">
        <a:solidFill>
          <a:schemeClr val="tx1"/>
        </a:solidFill>
        <a:latin typeface="Arial" charset="0"/>
        <a:ea typeface="宋体" charset="-122"/>
        <a:cs typeface="+mn-cs"/>
      </a:defRPr>
    </a:lvl6pPr>
    <a:lvl7pPr marL="2743200" algn="l" defTabSz="914400" rtl="0" eaLnBrk="1" latinLnBrk="0" hangingPunct="1">
      <a:defRPr sz="2000" kern="1200">
        <a:solidFill>
          <a:schemeClr val="tx1"/>
        </a:solidFill>
        <a:latin typeface="Arial" charset="0"/>
        <a:ea typeface="宋体" charset="-122"/>
        <a:cs typeface="+mn-cs"/>
      </a:defRPr>
    </a:lvl7pPr>
    <a:lvl8pPr marL="3200400" algn="l" defTabSz="914400" rtl="0" eaLnBrk="1" latinLnBrk="0" hangingPunct="1">
      <a:defRPr sz="2000" kern="1200">
        <a:solidFill>
          <a:schemeClr val="tx1"/>
        </a:solidFill>
        <a:latin typeface="Arial" charset="0"/>
        <a:ea typeface="宋体" charset="-122"/>
        <a:cs typeface="+mn-cs"/>
      </a:defRPr>
    </a:lvl8pPr>
    <a:lvl9pPr marL="3657600" algn="l" defTabSz="914400" rtl="0" eaLnBrk="1" latinLnBrk="0" hangingPunct="1">
      <a:defRPr sz="2000"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55" autoAdjust="0"/>
    <p:restoredTop sz="94660"/>
  </p:normalViewPr>
  <p:slideViewPr>
    <p:cSldViewPr snapToGrid="0">
      <p:cViewPr varScale="1">
        <p:scale>
          <a:sx n="60" d="100"/>
          <a:sy n="60" d="100"/>
        </p:scale>
        <p:origin x="400" y="40"/>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F565464F-A856-47FD-B180-3E7919C6BB30}" type="datetimeFigureOut">
              <a:rPr lang="zh-CN" altLang="en-US"/>
              <a:pPr>
                <a:defRPr/>
              </a:pPr>
              <a:t>2023/2/7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27681E2-5C0B-477D-A2A7-980F8FE47E9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BD11E86-2E29-4D5E-B3AC-E9FF143C93E4}" type="datetimeFigureOut">
              <a:rPr lang="zh-CN" altLang="en-US"/>
              <a:pPr>
                <a:defRPr/>
              </a:pPr>
              <a:t>2023/2/7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9EDB8DC-DFF0-4D1B-8408-4721BC620994}"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E34D327-616C-4B47-839E-D64ABA99F51B}" type="datetimeFigureOut">
              <a:rPr lang="zh-CN" altLang="en-US"/>
              <a:pPr>
                <a:defRPr/>
              </a:pPr>
              <a:t>2023/2/7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BEF9B4B-A625-4577-A300-B707FA7E0AD1}"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8F51723B-62F7-4E3D-BE37-A3A570E0C4E9}" type="datetimeFigureOut">
              <a:rPr lang="zh-CN" altLang="en-US"/>
              <a:pPr>
                <a:defRPr/>
              </a:pPr>
              <a:t>2023/2/7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D35D8F2-5CCF-4112-BA41-46C00C8A78E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2F1E71D-105D-4686-8D38-892D9512BBF3}" type="datetimeFigureOut">
              <a:rPr lang="zh-CN" altLang="en-US"/>
              <a:pPr>
                <a:defRPr/>
              </a:pPr>
              <a:t>2023/2/7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256E0DB-7BA9-4467-824D-5AD3C4E105D3}"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6F723CC3-B866-4AED-9383-F4E2C8AE1DB2}" type="datetimeFigureOut">
              <a:rPr lang="zh-CN" altLang="en-US"/>
              <a:pPr>
                <a:defRPr/>
              </a:pPr>
              <a:t>2023/2/7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67F2911-9F69-4B8E-9C0A-E2B46D67170C}"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FAC74DC-C179-47D1-88EE-48CAF13DD192}" type="datetimeFigureOut">
              <a:rPr lang="zh-CN" altLang="en-US"/>
              <a:pPr>
                <a:defRPr/>
              </a:pPr>
              <a:t>2023/2/7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E933BD8-C72D-4B00-9FAB-F8FC7F8AD386}"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9D84C97-75B2-4C20-8978-EBCC5D3E2A0F}" type="datetimeFigureOut">
              <a:rPr lang="zh-CN" altLang="en-US"/>
              <a:pPr>
                <a:defRPr/>
              </a:pPr>
              <a:t>2023/2/7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6F606E3-7E43-47FE-8676-0D010A7A4AB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4AE5007-BCA2-46F7-9C74-B1F162F6CA74}" type="datetimeFigureOut">
              <a:rPr lang="zh-CN" altLang="en-US"/>
              <a:pPr>
                <a:defRPr/>
              </a:pPr>
              <a:t>2023/2/7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6E9FE2A-47F2-49C7-80DC-47819D231E94}"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71F3377-5903-480A-A889-173A31FD0E82}" type="datetimeFigureOut">
              <a:rPr lang="zh-CN" altLang="en-US"/>
              <a:pPr>
                <a:defRPr/>
              </a:pPr>
              <a:t>2023/2/7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40598B1-0A0E-48D8-B9DB-9942AA719013}"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7E33CE6-C1CF-4111-BD21-EB9622EB2C59}" type="datetimeFigureOut">
              <a:rPr lang="zh-CN" altLang="en-US"/>
              <a:pPr>
                <a:defRPr/>
              </a:pPr>
              <a:t>2023/2/7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843A188-7B78-44A6-86B4-4680AD5AE7BD}"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6CAE0A83-FBCF-4F7A-83B9-D06CD666EF2D}" type="datetimeFigureOut">
              <a:rPr lang="zh-CN" altLang="en-US"/>
              <a:pPr>
                <a:defRPr/>
              </a:pPr>
              <a:t>2023/2/7</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EDB029F2-5187-4596-B9F1-BF794AC5226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1028700" rtl="0" eaLnBrk="0" fontAlgn="base" hangingPunct="0">
        <a:lnSpc>
          <a:spcPct val="90000"/>
        </a:lnSpc>
        <a:spcBef>
          <a:spcPct val="0"/>
        </a:spcBef>
        <a:spcAft>
          <a:spcPct val="0"/>
        </a:spcAft>
        <a:defRPr sz="5000" kern="1200">
          <a:solidFill>
            <a:schemeClr val="tx1"/>
          </a:solidFill>
          <a:latin typeface="+mj-lt"/>
          <a:ea typeface="+mj-ea"/>
          <a:cs typeface="+mj-cs"/>
        </a:defRPr>
      </a:lvl1pPr>
      <a:lvl2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2pPr>
      <a:lvl3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3pPr>
      <a:lvl4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4pPr>
      <a:lvl5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eaLnBrk="0" fontAlgn="base" hangingPunct="0">
        <a:lnSpc>
          <a:spcPct val="90000"/>
        </a:lnSpc>
        <a:spcBef>
          <a:spcPts val="1125"/>
        </a:spcBef>
        <a:spcAft>
          <a:spcPct val="0"/>
        </a:spcAft>
        <a:buFont typeface="Arial" charset="0"/>
        <a:buChar char="•"/>
        <a:defRPr sz="3200" kern="1200">
          <a:solidFill>
            <a:schemeClr val="tx1"/>
          </a:solidFill>
          <a:latin typeface="+mn-lt"/>
          <a:ea typeface="+mn-ea"/>
          <a:cs typeface="+mn-cs"/>
        </a:defRPr>
      </a:lvl1pPr>
      <a:lvl2pPr marL="771525" indent="-257175" algn="l" defTabSz="1028700" rtl="0" eaLnBrk="0" fontAlgn="base" hangingPunct="0">
        <a:lnSpc>
          <a:spcPct val="90000"/>
        </a:lnSpc>
        <a:spcBef>
          <a:spcPts val="563"/>
        </a:spcBef>
        <a:spcAft>
          <a:spcPct val="0"/>
        </a:spcAft>
        <a:buFont typeface="Arial" charset="0"/>
        <a:buChar char="•"/>
        <a:defRPr sz="2700" kern="1200">
          <a:solidFill>
            <a:schemeClr val="tx1"/>
          </a:solidFill>
          <a:latin typeface="+mn-lt"/>
          <a:ea typeface="+mn-ea"/>
          <a:cs typeface="+mn-cs"/>
        </a:defRPr>
      </a:lvl2pPr>
      <a:lvl3pPr marL="1285875" indent="-257175" algn="l" defTabSz="1028700" rtl="0" eaLnBrk="0" fontAlgn="base" hangingPunct="0">
        <a:lnSpc>
          <a:spcPct val="90000"/>
        </a:lnSpc>
        <a:spcBef>
          <a:spcPts val="563"/>
        </a:spcBef>
        <a:spcAft>
          <a:spcPct val="0"/>
        </a:spcAft>
        <a:buFont typeface="Arial" charset="0"/>
        <a:buChar char="•"/>
        <a:defRPr sz="2300" kern="1200">
          <a:solidFill>
            <a:schemeClr val="tx1"/>
          </a:solidFill>
          <a:latin typeface="+mn-lt"/>
          <a:ea typeface="+mn-ea"/>
          <a:cs typeface="+mn-cs"/>
        </a:defRPr>
      </a:lvl3pPr>
      <a:lvl4pPr marL="1800225" indent="-257175" algn="l" defTabSz="1028700" rtl="0" eaLnBrk="0" fontAlgn="base" hangingPunct="0">
        <a:lnSpc>
          <a:spcPct val="90000"/>
        </a:lnSpc>
        <a:spcBef>
          <a:spcPts val="563"/>
        </a:spcBef>
        <a:spcAft>
          <a:spcPct val="0"/>
        </a:spcAft>
        <a:buFont typeface="Arial" charset="0"/>
        <a:buChar char="•"/>
        <a:defRPr sz="2000" kern="1200">
          <a:solidFill>
            <a:schemeClr val="tx1"/>
          </a:solidFill>
          <a:latin typeface="+mn-lt"/>
          <a:ea typeface="+mn-ea"/>
          <a:cs typeface="+mn-cs"/>
        </a:defRPr>
      </a:lvl4pPr>
      <a:lvl5pPr marL="2314575" indent="-257175" algn="l" defTabSz="1028700" rtl="0" eaLnBrk="0" fontAlgn="base" hangingPunct="0">
        <a:lnSpc>
          <a:spcPct val="90000"/>
        </a:lnSpc>
        <a:spcBef>
          <a:spcPts val="563"/>
        </a:spcBef>
        <a:spcAft>
          <a:spcPct val="0"/>
        </a:spcAft>
        <a:buFont typeface="Arial"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4.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3.png"/><Relationship Id="rId7" Type="http://schemas.openxmlformats.org/officeDocument/2006/relationships/image" Target="../media/image15.wmf"/><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oleObject" Target="../embeddings/oleObject10.bin"/><Relationship Id="rId5" Type="http://schemas.openxmlformats.org/officeDocument/2006/relationships/image" Target="../media/image14.wmf"/><Relationship Id="rId4" Type="http://schemas.openxmlformats.org/officeDocument/2006/relationships/oleObject" Target="../embeddings/oleObject9.bin"/><Relationship Id="rId9" Type="http://schemas.openxmlformats.org/officeDocument/2006/relationships/image" Target="../media/image16.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20.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5" Type="http://schemas.openxmlformats.org/officeDocument/2006/relationships/image" Target="../media/image23.wmf"/><Relationship Id="rId4" Type="http://schemas.openxmlformats.org/officeDocument/2006/relationships/oleObject" Target="../embeddings/oleObject18.bin"/><Relationship Id="rId9" Type="http://schemas.openxmlformats.org/officeDocument/2006/relationships/image" Target="../media/image25.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8.wmf"/><Relationship Id="rId5" Type="http://schemas.openxmlformats.org/officeDocument/2006/relationships/oleObject" Target="../embeddings/oleObject22.bin"/><Relationship Id="rId4" Type="http://schemas.openxmlformats.org/officeDocument/2006/relationships/image" Target="../media/image27.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2.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28.bin"/><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10"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外差探测</a:t>
            </a:r>
          </a:p>
        </p:txBody>
      </p:sp>
      <p:sp>
        <p:nvSpPr>
          <p:cNvPr id="11" name="矩形 10"/>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4" name="Rectangle 12"/>
          <p:cNvSpPr>
            <a:spLocks noChangeArrowheads="1"/>
          </p:cNvSpPr>
          <p:nvPr/>
        </p:nvSpPr>
        <p:spPr bwMode="auto">
          <a:xfrm>
            <a:off x="855603" y="1740686"/>
            <a:ext cx="12069907" cy="2243050"/>
          </a:xfrm>
          <a:prstGeom prst="rect">
            <a:avLst/>
          </a:prstGeom>
          <a:noFill/>
          <a:ln w="9525" algn="ctr">
            <a:noFill/>
            <a:miter lim="800000"/>
            <a:headEnd/>
            <a:tailEnd/>
          </a:ln>
        </p:spPr>
        <p:txBody>
          <a:bodyPr wrap="square" anchor="ctr">
            <a:spAutoFit/>
          </a:bodyPr>
          <a:lstStyle/>
          <a:p>
            <a:pPr defTabSz="914400">
              <a:lnSpc>
                <a:spcPct val="150000"/>
              </a:lnSpc>
            </a:pPr>
            <a:r>
              <a:rPr lang="zh-CN" altLang="en-US" sz="2400" b="1" dirty="0">
                <a:latin typeface="微软雅黑" pitchFamily="34" charset="-122"/>
                <a:ea typeface="微软雅黑" pitchFamily="34" charset="-122"/>
              </a:rPr>
              <a:t>       将</a:t>
            </a:r>
            <a:r>
              <a:rPr lang="zh-CN" altLang="en-US" sz="2400" b="1" dirty="0">
                <a:solidFill>
                  <a:srgbClr val="006600"/>
                </a:solidFill>
                <a:latin typeface="微软雅黑" pitchFamily="34" charset="-122"/>
                <a:ea typeface="微软雅黑" pitchFamily="34" charset="-122"/>
              </a:rPr>
              <a:t>信号光</a:t>
            </a:r>
            <a:r>
              <a:rPr lang="zh-CN" altLang="en-US" sz="2400" b="1" dirty="0">
                <a:latin typeface="微软雅黑" pitchFamily="34" charset="-122"/>
                <a:ea typeface="微软雅黑" pitchFamily="34" charset="-122"/>
              </a:rPr>
              <a:t>和</a:t>
            </a:r>
            <a:r>
              <a:rPr lang="zh-CN" altLang="en-US" sz="2400" b="1" dirty="0">
                <a:solidFill>
                  <a:srgbClr val="006600"/>
                </a:solidFill>
                <a:latin typeface="微软雅黑" pitchFamily="34" charset="-122"/>
                <a:ea typeface="微软雅黑" pitchFamily="34" charset="-122"/>
              </a:rPr>
              <a:t>参考光</a:t>
            </a:r>
            <a:r>
              <a:rPr lang="zh-CN" altLang="en-US" sz="2400" b="1" dirty="0">
                <a:latin typeface="微软雅黑" pitchFamily="34" charset="-122"/>
                <a:ea typeface="微软雅黑" pitchFamily="34" charset="-122"/>
              </a:rPr>
              <a:t>同时入射到光电探测器的光敏面上，形成光的干涉图样，光电探测器响应两光束的干涉光场，其输出信号不仅与入射光波的强度有关，还与频率和相位等其他特征波动参数有关。光频外差探测是基于两束光波在光电探测器光敏面上的相干效应，因此光频外差探测也称为光波的</a:t>
            </a:r>
            <a:r>
              <a:rPr lang="zh-CN" altLang="en-US" sz="2400" b="1" dirty="0">
                <a:solidFill>
                  <a:srgbClr val="FF0000"/>
                </a:solidFill>
                <a:latin typeface="微软雅黑" pitchFamily="34" charset="-122"/>
                <a:ea typeface="微软雅黑" pitchFamily="34" charset="-122"/>
              </a:rPr>
              <a:t>相干探测</a:t>
            </a:r>
            <a:r>
              <a:rPr lang="zh-CN" altLang="en-US" sz="2400" b="1" dirty="0">
                <a:latin typeface="微软雅黑" pitchFamily="34" charset="-122"/>
                <a:ea typeface="微软雅黑" pitchFamily="34" charset="-122"/>
              </a:rPr>
              <a:t>。</a:t>
            </a:r>
          </a:p>
        </p:txBody>
      </p:sp>
      <p:sp>
        <p:nvSpPr>
          <p:cNvPr id="2" name="矩形 6"/>
          <p:cNvSpPr>
            <a:spLocks noChangeArrowheads="1"/>
          </p:cNvSpPr>
          <p:nvPr/>
        </p:nvSpPr>
        <p:spPr bwMode="auto">
          <a:xfrm>
            <a:off x="900339" y="4651567"/>
            <a:ext cx="12069907" cy="1135054"/>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微软雅黑" pitchFamily="34" charset="-122"/>
                <a:ea typeface="微软雅黑" pitchFamily="34" charset="-122"/>
              </a:rPr>
              <a:t>      它具有灵敏度高（比直接检测高</a:t>
            </a:r>
            <a:r>
              <a:rPr lang="en-US" altLang="en-US" sz="2400" b="1" dirty="0">
                <a:latin typeface="微软雅黑" pitchFamily="34" charset="-122"/>
                <a:ea typeface="微软雅黑" pitchFamily="34" charset="-122"/>
              </a:rPr>
              <a:t>7</a:t>
            </a:r>
            <a:r>
              <a:rPr lang="zh-CN" altLang="en-US" sz="2400" b="1" dirty="0">
                <a:latin typeface="微软雅黑" pitchFamily="34" charset="-122"/>
                <a:ea typeface="微软雅黑" pitchFamily="34" charset="-122"/>
              </a:rPr>
              <a:t>～</a:t>
            </a:r>
            <a:r>
              <a:rPr lang="en-US" altLang="en-US" sz="2400" b="1" dirty="0">
                <a:latin typeface="微软雅黑" pitchFamily="34" charset="-122"/>
                <a:ea typeface="微软雅黑" pitchFamily="34" charset="-122"/>
              </a:rPr>
              <a:t>8</a:t>
            </a:r>
            <a:r>
              <a:rPr lang="zh-CN" altLang="en-US" sz="2400" b="1" dirty="0">
                <a:latin typeface="微软雅黑" pitchFamily="34" charset="-122"/>
                <a:ea typeface="微软雅黑" pitchFamily="34" charset="-122"/>
              </a:rPr>
              <a:t>个数量级）、输出信噪比高、精度高、探测目标的作用距离远等</a:t>
            </a:r>
            <a:r>
              <a:rPr lang="zh-CN" altLang="en-US" sz="2400" b="1" dirty="0">
                <a:solidFill>
                  <a:srgbClr val="FF0000"/>
                </a:solidFill>
                <a:latin typeface="微软雅黑" pitchFamily="34" charset="-122"/>
                <a:ea typeface="微软雅黑" pitchFamily="34" charset="-122"/>
              </a:rPr>
              <a:t>特点</a:t>
            </a:r>
            <a:r>
              <a:rPr lang="zh-CN" altLang="en-US" sz="2400" b="1" dirty="0">
                <a:latin typeface="微软雅黑" pitchFamily="34" charset="-122"/>
                <a:ea typeface="微软雅黑" pitchFamily="34" charset="-122"/>
              </a:rPr>
              <a:t>，在精密测量系统中得到广泛应用。</a:t>
            </a:r>
          </a:p>
        </p:txBody>
      </p:sp>
      <p:sp>
        <p:nvSpPr>
          <p:cNvPr id="9"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11" name="矩形 10"/>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4"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6" name="矩形 15">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84"/>
                                        </p:tgtEl>
                                        <p:attrNameLst>
                                          <p:attrName>style.visibility</p:attrName>
                                        </p:attrNameLst>
                                      </p:cBhvr>
                                      <p:to>
                                        <p:strVal val="visible"/>
                                      </p:to>
                                    </p:set>
                                    <p:animEffect transition="in" filter="blinds(horizontal)">
                                      <p:cBhvr>
                                        <p:cTn id="7" dur="500"/>
                                        <p:tgtEl>
                                          <p:spTgt spid="286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0" name="Rectangle 10"/>
          <p:cNvSpPr>
            <a:spLocks noChangeArrowheads="1"/>
          </p:cNvSpPr>
          <p:nvPr/>
        </p:nvSpPr>
        <p:spPr bwMode="auto">
          <a:xfrm>
            <a:off x="3828603" y="1296197"/>
            <a:ext cx="6574703" cy="646331"/>
          </a:xfrm>
          <a:prstGeom prst="rect">
            <a:avLst/>
          </a:prstGeom>
          <a:noFill/>
          <a:ln w="9525" algn="ctr">
            <a:noFill/>
            <a:miter lim="800000"/>
            <a:headEnd/>
            <a:tailEnd/>
          </a:ln>
        </p:spPr>
        <p:txBody>
          <a:bodyPr wrap="square" anchor="ctr">
            <a:spAutoFit/>
          </a:bodyPr>
          <a:lstStyle/>
          <a:p>
            <a:pPr defTabSz="914400" eaLnBrk="0" hangingPunct="0"/>
            <a:r>
              <a:rPr lang="en-US" altLang="zh-CN" sz="3600" b="1" dirty="0">
                <a:solidFill>
                  <a:srgbClr val="0000CC"/>
                </a:solidFill>
                <a:latin typeface="Times New Roman" pitchFamily="18" charset="0"/>
                <a:ea typeface="微软雅黑" pitchFamily="34" charset="-122"/>
              </a:rPr>
              <a:t>1. </a:t>
            </a:r>
            <a:r>
              <a:rPr lang="zh-CN" altLang="en-US" sz="3600" b="1" dirty="0">
                <a:solidFill>
                  <a:srgbClr val="0000CC"/>
                </a:solidFill>
                <a:latin typeface="Times New Roman" pitchFamily="18" charset="0"/>
                <a:ea typeface="微软雅黑" pitchFamily="34" charset="-122"/>
              </a:rPr>
              <a:t>光频外差探测的基本原理</a:t>
            </a:r>
          </a:p>
        </p:txBody>
      </p:sp>
      <p:sp>
        <p:nvSpPr>
          <p:cNvPr id="27686" name="Rectangle 11"/>
          <p:cNvSpPr>
            <a:spLocks noChangeArrowheads="1"/>
          </p:cNvSpPr>
          <p:nvPr/>
        </p:nvSpPr>
        <p:spPr bwMode="auto">
          <a:xfrm>
            <a:off x="407988" y="15176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7688" name="Rectangle 8"/>
          <p:cNvSpPr>
            <a:spLocks noChangeArrowheads="1"/>
          </p:cNvSpPr>
          <p:nvPr/>
        </p:nvSpPr>
        <p:spPr bwMode="auto">
          <a:xfrm>
            <a:off x="407988" y="12890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7690" name="Rectangle 11"/>
          <p:cNvSpPr>
            <a:spLocks noChangeArrowheads="1"/>
          </p:cNvSpPr>
          <p:nvPr/>
        </p:nvSpPr>
        <p:spPr bwMode="auto">
          <a:xfrm>
            <a:off x="407988" y="14890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 name="Rectangle 11"/>
          <p:cNvSpPr>
            <a:spLocks noChangeArrowheads="1"/>
          </p:cNvSpPr>
          <p:nvPr/>
        </p:nvSpPr>
        <p:spPr bwMode="auto">
          <a:xfrm>
            <a:off x="806738" y="5956139"/>
            <a:ext cx="11967152" cy="581057"/>
          </a:xfrm>
          <a:prstGeom prst="rect">
            <a:avLst/>
          </a:prstGeom>
          <a:noFill/>
          <a:ln w="9525">
            <a:noFill/>
            <a:miter lim="800000"/>
            <a:headEnd/>
            <a:tailEnd/>
          </a:ln>
        </p:spPr>
        <p:txBody>
          <a:bodyPr wrap="square" anchor="ctr">
            <a:spAutoFit/>
          </a:bodyPr>
          <a:lstStyle/>
          <a:p>
            <a:pPr indent="200025" defTabSz="914400" eaLnBrk="0" hangingPunct="0">
              <a:lnSpc>
                <a:spcPct val="150000"/>
              </a:lnSpc>
            </a:pPr>
            <a:r>
              <a:rPr lang="zh-CN" altLang="en-US" sz="2400" b="1" dirty="0">
                <a:solidFill>
                  <a:srgbClr val="FF0000"/>
                </a:solidFill>
                <a:latin typeface="微软雅黑" pitchFamily="34" charset="-122"/>
                <a:ea typeface="微软雅黑" pitchFamily="34" charset="-122"/>
              </a:rPr>
              <a:t>差频信号（或拍频）</a:t>
            </a:r>
            <a:r>
              <a:rPr lang="zh-CN" altLang="en-US" sz="2400" b="1" dirty="0">
                <a:latin typeface="微软雅黑" pitchFamily="34" charset="-122"/>
                <a:ea typeface="微软雅黑" pitchFamily="34" charset="-122"/>
              </a:rPr>
              <a:t>的获得，主要是利用具有平方律特性的光电探测器。</a:t>
            </a:r>
          </a:p>
        </p:txBody>
      </p:sp>
      <p:pic>
        <p:nvPicPr>
          <p:cNvPr id="27695" name="Picture 5"/>
          <p:cNvPicPr>
            <a:picLocks noChangeAspect="1" noChangeArrowheads="1"/>
          </p:cNvPicPr>
          <p:nvPr/>
        </p:nvPicPr>
        <p:blipFill>
          <a:blip r:embed="rId2" cstate="print"/>
          <a:srcRect/>
          <a:stretch>
            <a:fillRect/>
          </a:stretch>
        </p:blipFill>
        <p:spPr bwMode="auto">
          <a:xfrm>
            <a:off x="1218045" y="2401167"/>
            <a:ext cx="6795486" cy="3500870"/>
          </a:xfrm>
          <a:prstGeom prst="rect">
            <a:avLst/>
          </a:prstGeom>
          <a:noFill/>
          <a:ln w="9525">
            <a:noFill/>
            <a:miter lim="800000"/>
            <a:headEnd/>
            <a:tailEnd/>
          </a:ln>
        </p:spPr>
      </p:pic>
      <p:sp>
        <p:nvSpPr>
          <p:cNvPr id="26"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27" name="矩形 26"/>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0"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2" name="矩形 31">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4" name="对象 3">
            <a:extLst>
              <a:ext uri="{FF2B5EF4-FFF2-40B4-BE49-F238E27FC236}">
                <a16:creationId xmlns:a16="http://schemas.microsoft.com/office/drawing/2014/main" id="{3985E3B1-E5EB-E0A3-D1EF-F563C79CE62C}"/>
              </a:ext>
            </a:extLst>
          </p:cNvPr>
          <p:cNvGraphicFramePr>
            <a:graphicFrameLocks noChangeAspect="1"/>
          </p:cNvGraphicFramePr>
          <p:nvPr>
            <p:extLst>
              <p:ext uri="{D42A27DB-BD31-4B8C-83A1-F6EECF244321}">
                <p14:modId xmlns:p14="http://schemas.microsoft.com/office/powerpoint/2010/main" val="3239931920"/>
              </p:ext>
            </p:extLst>
          </p:nvPr>
        </p:nvGraphicFramePr>
        <p:xfrm>
          <a:off x="8817263" y="2854889"/>
          <a:ext cx="3414712" cy="617537"/>
        </p:xfrm>
        <a:graphic>
          <a:graphicData uri="http://schemas.openxmlformats.org/presentationml/2006/ole">
            <mc:AlternateContent xmlns:mc="http://schemas.openxmlformats.org/markup-compatibility/2006">
              <mc:Choice xmlns:v="urn:schemas-microsoft-com:vml" Requires="v">
                <p:oleObj name="Equation" r:id="rId3" imgW="1269720" imgH="228600" progId="Equation.DSMT4">
                  <p:embed/>
                </p:oleObj>
              </mc:Choice>
              <mc:Fallback>
                <p:oleObj name="Equation" r:id="rId3" imgW="1269720" imgH="228600" progId="Equation.DSMT4">
                  <p:embed/>
                  <p:pic>
                    <p:nvPicPr>
                      <p:cNvPr id="4" name="对象 3">
                        <a:extLst>
                          <a:ext uri="{FF2B5EF4-FFF2-40B4-BE49-F238E27FC236}">
                            <a16:creationId xmlns:a16="http://schemas.microsoft.com/office/drawing/2014/main" id="{7E8D99B6-3727-746F-E027-A389A2ADE79B}"/>
                          </a:ext>
                        </a:extLst>
                      </p:cNvPr>
                      <p:cNvPicPr>
                        <a:picLocks noChangeAspect="1" noChangeArrowheads="1"/>
                      </p:cNvPicPr>
                      <p:nvPr/>
                    </p:nvPicPr>
                    <p:blipFill>
                      <a:blip r:embed="rId4"/>
                      <a:srcRect/>
                      <a:stretch>
                        <a:fillRect/>
                      </a:stretch>
                    </p:blipFill>
                    <p:spPr bwMode="auto">
                      <a:xfrm>
                        <a:off x="8817263" y="2854889"/>
                        <a:ext cx="3414712" cy="617537"/>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B8557DA6-E70A-81BE-83CC-DDB71B0C1412}"/>
              </a:ext>
            </a:extLst>
          </p:cNvPr>
          <p:cNvGraphicFramePr>
            <a:graphicFrameLocks noChangeAspect="1"/>
          </p:cNvGraphicFramePr>
          <p:nvPr>
            <p:extLst>
              <p:ext uri="{D42A27DB-BD31-4B8C-83A1-F6EECF244321}">
                <p14:modId xmlns:p14="http://schemas.microsoft.com/office/powerpoint/2010/main" val="3211665481"/>
              </p:ext>
            </p:extLst>
          </p:nvPr>
        </p:nvGraphicFramePr>
        <p:xfrm>
          <a:off x="8783925" y="4405514"/>
          <a:ext cx="3448050" cy="617537"/>
        </p:xfrm>
        <a:graphic>
          <a:graphicData uri="http://schemas.openxmlformats.org/presentationml/2006/ole">
            <mc:AlternateContent xmlns:mc="http://schemas.openxmlformats.org/markup-compatibility/2006">
              <mc:Choice xmlns:v="urn:schemas-microsoft-com:vml" Requires="v">
                <p:oleObj name="Equation" r:id="rId5" imgW="1282680" imgH="228600" progId="Equation.DSMT4">
                  <p:embed/>
                </p:oleObj>
              </mc:Choice>
              <mc:Fallback>
                <p:oleObj name="Equation" r:id="rId5" imgW="1282680" imgH="228600" progId="Equation.DSMT4">
                  <p:embed/>
                  <p:pic>
                    <p:nvPicPr>
                      <p:cNvPr id="4" name="对象 3">
                        <a:extLst>
                          <a:ext uri="{FF2B5EF4-FFF2-40B4-BE49-F238E27FC236}">
                            <a16:creationId xmlns:a16="http://schemas.microsoft.com/office/drawing/2014/main" id="{7E8D99B6-3727-746F-E027-A389A2ADE79B}"/>
                          </a:ext>
                        </a:extLst>
                      </p:cNvPr>
                      <p:cNvPicPr>
                        <a:picLocks noChangeAspect="1" noChangeArrowheads="1"/>
                      </p:cNvPicPr>
                      <p:nvPr/>
                    </p:nvPicPr>
                    <p:blipFill>
                      <a:blip r:embed="rId6"/>
                      <a:srcRect/>
                      <a:stretch>
                        <a:fillRect/>
                      </a:stretch>
                    </p:blipFill>
                    <p:spPr bwMode="auto">
                      <a:xfrm>
                        <a:off x="8783925" y="4405514"/>
                        <a:ext cx="3448050" cy="617537"/>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07" name="Rectangle 17"/>
          <p:cNvSpPr>
            <a:spLocks noChangeArrowheads="1"/>
          </p:cNvSpPr>
          <p:nvPr/>
        </p:nvSpPr>
        <p:spPr bwMode="auto">
          <a:xfrm>
            <a:off x="422275" y="1323975"/>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28708" name="Rectangle 19"/>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09" name="Rectangle 6"/>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0" name="Rectangle 8"/>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1" name="Rectangle 10"/>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2" name="Rectangle 11"/>
          <p:cNvSpPr>
            <a:spLocks noChangeArrowheads="1"/>
          </p:cNvSpPr>
          <p:nvPr/>
        </p:nvSpPr>
        <p:spPr bwMode="auto">
          <a:xfrm>
            <a:off x="422275" y="1673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3" name="Rectangle 7"/>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4" name="Rectangle 8"/>
          <p:cNvSpPr>
            <a:spLocks noChangeArrowheads="1"/>
          </p:cNvSpPr>
          <p:nvPr/>
        </p:nvSpPr>
        <p:spPr bwMode="auto">
          <a:xfrm>
            <a:off x="422275" y="14446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5" name="Rectangle 10"/>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6" name="Rectangle 11"/>
          <p:cNvSpPr>
            <a:spLocks noChangeArrowheads="1"/>
          </p:cNvSpPr>
          <p:nvPr/>
        </p:nvSpPr>
        <p:spPr bwMode="auto">
          <a:xfrm>
            <a:off x="422275" y="16446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7" name="Rectangle 13"/>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8" name="Rectangle 8"/>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19" name="Rectangle 9"/>
          <p:cNvSpPr>
            <a:spLocks noChangeArrowheads="1"/>
          </p:cNvSpPr>
          <p:nvPr/>
        </p:nvSpPr>
        <p:spPr bwMode="auto">
          <a:xfrm>
            <a:off x="422275" y="16446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20" name="Rectangle 11"/>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21" name="Rectangle 2"/>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22" name="Rectangle 4"/>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8723" name="Rectangle 7"/>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pic>
        <p:nvPicPr>
          <p:cNvPr id="184329" name="Picture 9"/>
          <p:cNvPicPr>
            <a:picLocks noChangeAspect="1" noChangeArrowheads="1"/>
          </p:cNvPicPr>
          <p:nvPr/>
        </p:nvPicPr>
        <p:blipFill>
          <a:blip r:embed="rId2" cstate="print"/>
          <a:srcRect l="3497" t="5000" b="27499"/>
          <a:stretch>
            <a:fillRect/>
          </a:stretch>
        </p:blipFill>
        <p:spPr bwMode="auto">
          <a:xfrm>
            <a:off x="4791426" y="3646154"/>
            <a:ext cx="3941762" cy="1928812"/>
          </a:xfrm>
          <a:prstGeom prst="rect">
            <a:avLst/>
          </a:prstGeom>
          <a:noFill/>
          <a:ln w="9525">
            <a:noFill/>
            <a:miter lim="800000"/>
            <a:headEnd/>
            <a:tailEnd/>
          </a:ln>
        </p:spPr>
      </p:pic>
      <p:sp>
        <p:nvSpPr>
          <p:cNvPr id="28725" name="Rectangle 11"/>
          <p:cNvSpPr>
            <a:spLocks noChangeArrowheads="1"/>
          </p:cNvSpPr>
          <p:nvPr/>
        </p:nvSpPr>
        <p:spPr bwMode="auto">
          <a:xfrm>
            <a:off x="422275" y="75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pic>
        <p:nvPicPr>
          <p:cNvPr id="36" name="Picture 9"/>
          <p:cNvPicPr>
            <a:picLocks noChangeAspect="1" noChangeArrowheads="1"/>
          </p:cNvPicPr>
          <p:nvPr/>
        </p:nvPicPr>
        <p:blipFill>
          <a:blip r:embed="rId2" cstate="print"/>
          <a:srcRect l="10495" t="77499"/>
          <a:stretch>
            <a:fillRect/>
          </a:stretch>
        </p:blipFill>
        <p:spPr bwMode="auto">
          <a:xfrm>
            <a:off x="5447063" y="5556094"/>
            <a:ext cx="3286125" cy="577850"/>
          </a:xfrm>
          <a:prstGeom prst="rect">
            <a:avLst/>
          </a:prstGeom>
          <a:noFill/>
          <a:ln w="9525">
            <a:noFill/>
            <a:miter lim="800000"/>
            <a:headEnd/>
            <a:tailEnd/>
          </a:ln>
        </p:spPr>
      </p:pic>
      <p:sp>
        <p:nvSpPr>
          <p:cNvPr id="37" name="矩形 36"/>
          <p:cNvSpPr>
            <a:spLocks noChangeArrowheads="1"/>
          </p:cNvSpPr>
          <p:nvPr/>
        </p:nvSpPr>
        <p:spPr bwMode="auto">
          <a:xfrm>
            <a:off x="1762919" y="6203036"/>
            <a:ext cx="4857750" cy="461665"/>
          </a:xfrm>
          <a:prstGeom prst="rect">
            <a:avLst/>
          </a:prstGeom>
          <a:noFill/>
          <a:ln w="9525">
            <a:noFill/>
            <a:miter lim="800000"/>
            <a:headEnd/>
            <a:tailEnd/>
          </a:ln>
        </p:spPr>
        <p:txBody>
          <a:bodyPr>
            <a:spAutoFit/>
          </a:bodyPr>
          <a:lstStyle/>
          <a:p>
            <a:pPr defTabSz="914400"/>
            <a:r>
              <a:rPr lang="zh-CN" altLang="en-US" sz="2400" b="1" dirty="0">
                <a:solidFill>
                  <a:srgbClr val="0000FF"/>
                </a:solidFill>
                <a:latin typeface="微软雅黑" panose="020B0503020204020204" pitchFamily="34" charset="-122"/>
                <a:ea typeface="微软雅黑" panose="020B0503020204020204" pitchFamily="34" charset="-122"/>
              </a:rPr>
              <a:t>光电探测器输出中频电流</a:t>
            </a:r>
            <a:endParaRPr lang="zh-CN" altLang="en-US" sz="2800" b="1" dirty="0">
              <a:solidFill>
                <a:srgbClr val="0000FF"/>
              </a:solidFill>
              <a:latin typeface="楷体_GB2312" pitchFamily="49" charset="-122"/>
              <a:ea typeface="楷体_GB2312" pitchFamily="49" charset="-122"/>
            </a:endParaRPr>
          </a:p>
        </p:txBody>
      </p:sp>
      <p:sp>
        <p:nvSpPr>
          <p:cNvPr id="3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32" name="矩形 31"/>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3" name="矩形 32">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5"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9" name="矩形 38">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2" name="对象 1">
            <a:extLst>
              <a:ext uri="{FF2B5EF4-FFF2-40B4-BE49-F238E27FC236}">
                <a16:creationId xmlns:a16="http://schemas.microsoft.com/office/drawing/2014/main" id="{B2DD98D3-4D23-BBF4-4B2A-169BA2654232}"/>
              </a:ext>
            </a:extLst>
          </p:cNvPr>
          <p:cNvGraphicFramePr>
            <a:graphicFrameLocks noChangeAspect="1"/>
          </p:cNvGraphicFramePr>
          <p:nvPr>
            <p:extLst>
              <p:ext uri="{D42A27DB-BD31-4B8C-83A1-F6EECF244321}">
                <p14:modId xmlns:p14="http://schemas.microsoft.com/office/powerpoint/2010/main" val="2792916774"/>
              </p:ext>
            </p:extLst>
          </p:nvPr>
        </p:nvGraphicFramePr>
        <p:xfrm>
          <a:off x="1364781" y="1171741"/>
          <a:ext cx="8131131" cy="609517"/>
        </p:xfrm>
        <a:graphic>
          <a:graphicData uri="http://schemas.openxmlformats.org/presentationml/2006/ole">
            <mc:AlternateContent xmlns:mc="http://schemas.openxmlformats.org/markup-compatibility/2006">
              <mc:Choice xmlns:v="urn:schemas-microsoft-com:vml" Requires="v">
                <p:oleObj name="Equation" r:id="rId3" imgW="3403440" imgH="253800" progId="Equation.DSMT4">
                  <p:embed/>
                </p:oleObj>
              </mc:Choice>
              <mc:Fallback>
                <p:oleObj name="Equation" r:id="rId3" imgW="3403440" imgH="253800" progId="Equation.DSMT4">
                  <p:embed/>
                  <p:pic>
                    <p:nvPicPr>
                      <p:cNvPr id="15" name="对象 14">
                        <a:extLst>
                          <a:ext uri="{FF2B5EF4-FFF2-40B4-BE49-F238E27FC236}">
                            <a16:creationId xmlns:a16="http://schemas.microsoft.com/office/drawing/2014/main" id="{5738AC41-C5E2-7192-21D0-A389B8EB80BB}"/>
                          </a:ext>
                        </a:extLst>
                      </p:cNvPr>
                      <p:cNvPicPr>
                        <a:picLocks noChangeAspect="1" noChangeArrowheads="1"/>
                      </p:cNvPicPr>
                      <p:nvPr/>
                    </p:nvPicPr>
                    <p:blipFill>
                      <a:blip r:embed="rId4"/>
                      <a:srcRect/>
                      <a:stretch>
                        <a:fillRect/>
                      </a:stretch>
                    </p:blipFill>
                    <p:spPr bwMode="auto">
                      <a:xfrm>
                        <a:off x="1364781" y="1171741"/>
                        <a:ext cx="8131131" cy="609517"/>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25A5C4B8-F66B-8E78-4D80-6C06CA6331F2}"/>
              </a:ext>
            </a:extLst>
          </p:cNvPr>
          <p:cNvGraphicFramePr>
            <a:graphicFrameLocks noChangeAspect="1"/>
          </p:cNvGraphicFramePr>
          <p:nvPr>
            <p:extLst>
              <p:ext uri="{D42A27DB-BD31-4B8C-83A1-F6EECF244321}">
                <p14:modId xmlns:p14="http://schemas.microsoft.com/office/powerpoint/2010/main" val="2584947482"/>
              </p:ext>
            </p:extLst>
          </p:nvPr>
        </p:nvGraphicFramePr>
        <p:xfrm>
          <a:off x="1877544" y="1857542"/>
          <a:ext cx="7675403" cy="945316"/>
        </p:xfrm>
        <a:graphic>
          <a:graphicData uri="http://schemas.openxmlformats.org/presentationml/2006/ole">
            <mc:AlternateContent xmlns:mc="http://schemas.openxmlformats.org/markup-compatibility/2006">
              <mc:Choice xmlns:v="urn:schemas-microsoft-com:vml" Requires="v">
                <p:oleObj name="Equation" r:id="rId5" imgW="3213000" imgH="393480" progId="Equation.DSMT4">
                  <p:embed/>
                </p:oleObj>
              </mc:Choice>
              <mc:Fallback>
                <p:oleObj name="Equation" r:id="rId5" imgW="3213000" imgH="393480" progId="Equation.DSMT4">
                  <p:embed/>
                  <p:pic>
                    <p:nvPicPr>
                      <p:cNvPr id="16" name="对象 15">
                        <a:extLst>
                          <a:ext uri="{FF2B5EF4-FFF2-40B4-BE49-F238E27FC236}">
                            <a16:creationId xmlns:a16="http://schemas.microsoft.com/office/drawing/2014/main" id="{FE15630E-830F-0C2F-4910-8EB1641575B5}"/>
                          </a:ext>
                        </a:extLst>
                      </p:cNvPr>
                      <p:cNvPicPr>
                        <a:picLocks noChangeAspect="1" noChangeArrowheads="1"/>
                      </p:cNvPicPr>
                      <p:nvPr/>
                    </p:nvPicPr>
                    <p:blipFill>
                      <a:blip r:embed="rId6"/>
                      <a:srcRect/>
                      <a:stretch>
                        <a:fillRect/>
                      </a:stretch>
                    </p:blipFill>
                    <p:spPr bwMode="auto">
                      <a:xfrm>
                        <a:off x="1877544" y="1857542"/>
                        <a:ext cx="7675403" cy="945316"/>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4F354B7B-3E3F-4B09-A3E5-7A44CEF59497}"/>
              </a:ext>
            </a:extLst>
          </p:cNvPr>
          <p:cNvGraphicFramePr>
            <a:graphicFrameLocks noChangeAspect="1"/>
          </p:cNvGraphicFramePr>
          <p:nvPr>
            <p:extLst>
              <p:ext uri="{D42A27DB-BD31-4B8C-83A1-F6EECF244321}">
                <p14:modId xmlns:p14="http://schemas.microsoft.com/office/powerpoint/2010/main" val="747498948"/>
              </p:ext>
            </p:extLst>
          </p:nvPr>
        </p:nvGraphicFramePr>
        <p:xfrm>
          <a:off x="2156626" y="2989429"/>
          <a:ext cx="10316645" cy="548847"/>
        </p:xfrm>
        <a:graphic>
          <a:graphicData uri="http://schemas.openxmlformats.org/presentationml/2006/ole">
            <mc:AlternateContent xmlns:mc="http://schemas.openxmlformats.org/markup-compatibility/2006">
              <mc:Choice xmlns:v="urn:schemas-microsoft-com:vml" Requires="v">
                <p:oleObj name="Equation" r:id="rId7" imgW="4317840" imgH="228600" progId="Equation.DSMT4">
                  <p:embed/>
                </p:oleObj>
              </mc:Choice>
              <mc:Fallback>
                <p:oleObj name="Equation" r:id="rId7" imgW="4317840" imgH="228600" progId="Equation.DSMT4">
                  <p:embed/>
                  <p:pic>
                    <p:nvPicPr>
                      <p:cNvPr id="17" name="对象 16">
                        <a:extLst>
                          <a:ext uri="{FF2B5EF4-FFF2-40B4-BE49-F238E27FC236}">
                            <a16:creationId xmlns:a16="http://schemas.microsoft.com/office/drawing/2014/main" id="{8E569761-9979-8324-046A-A400E02614E7}"/>
                          </a:ext>
                        </a:extLst>
                      </p:cNvPr>
                      <p:cNvPicPr>
                        <a:picLocks noChangeAspect="1" noChangeArrowheads="1"/>
                      </p:cNvPicPr>
                      <p:nvPr/>
                    </p:nvPicPr>
                    <p:blipFill>
                      <a:blip r:embed="rId8"/>
                      <a:srcRect/>
                      <a:stretch>
                        <a:fillRect/>
                      </a:stretch>
                    </p:blipFill>
                    <p:spPr bwMode="auto">
                      <a:xfrm>
                        <a:off x="2156626" y="2989429"/>
                        <a:ext cx="10316645" cy="548847"/>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FB5202F9-5C74-96EF-518B-4B5931127D74}"/>
              </a:ext>
            </a:extLst>
          </p:cNvPr>
          <p:cNvGraphicFramePr>
            <a:graphicFrameLocks noChangeAspect="1"/>
          </p:cNvGraphicFramePr>
          <p:nvPr>
            <p:extLst>
              <p:ext uri="{D42A27DB-BD31-4B8C-83A1-F6EECF244321}">
                <p14:modId xmlns:p14="http://schemas.microsoft.com/office/powerpoint/2010/main" val="4086051974"/>
              </p:ext>
            </p:extLst>
          </p:nvPr>
        </p:nvGraphicFramePr>
        <p:xfrm>
          <a:off x="1687513" y="6768523"/>
          <a:ext cx="9866312" cy="617538"/>
        </p:xfrm>
        <a:graphic>
          <a:graphicData uri="http://schemas.openxmlformats.org/presentationml/2006/ole">
            <mc:AlternateContent xmlns:mc="http://schemas.openxmlformats.org/markup-compatibility/2006">
              <mc:Choice xmlns:v="urn:schemas-microsoft-com:vml" Requires="v">
                <p:oleObj name="Equation" r:id="rId9" imgW="3670200" imgH="228600" progId="Equation.DSMT4">
                  <p:embed/>
                </p:oleObj>
              </mc:Choice>
              <mc:Fallback>
                <p:oleObj name="Equation" r:id="rId9" imgW="3670200" imgH="228600" progId="Equation.DSMT4">
                  <p:embed/>
                  <p:pic>
                    <p:nvPicPr>
                      <p:cNvPr id="18" name="对象 17">
                        <a:extLst>
                          <a:ext uri="{FF2B5EF4-FFF2-40B4-BE49-F238E27FC236}">
                            <a16:creationId xmlns:a16="http://schemas.microsoft.com/office/drawing/2014/main" id="{B2E2387E-0ABF-09DC-418C-04D2398EA905}"/>
                          </a:ext>
                        </a:extLst>
                      </p:cNvPr>
                      <p:cNvPicPr>
                        <a:picLocks noChangeAspect="1" noChangeArrowheads="1"/>
                      </p:cNvPicPr>
                      <p:nvPr/>
                    </p:nvPicPr>
                    <p:blipFill>
                      <a:blip r:embed="rId10"/>
                      <a:srcRect/>
                      <a:stretch>
                        <a:fillRect/>
                      </a:stretch>
                    </p:blipFill>
                    <p:spPr bwMode="auto">
                      <a:xfrm>
                        <a:off x="1687513" y="6768523"/>
                        <a:ext cx="9866312" cy="617538"/>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29"/>
                                        </p:tgtEl>
                                        <p:attrNameLst>
                                          <p:attrName>style.visibility</p:attrName>
                                        </p:attrNameLst>
                                      </p:cBhvr>
                                      <p:to>
                                        <p:strVal val="visible"/>
                                      </p:to>
                                    </p:set>
                                    <p:animEffect transition="in" filter="blinds(horizontal)">
                                      <p:cBhvr>
                                        <p:cTn id="7" dur="500"/>
                                        <p:tgtEl>
                                          <p:spTgt spid="184329"/>
                                        </p:tgtEl>
                                      </p:cBhvr>
                                    </p:animEffect>
                                  </p:childTnLst>
                                </p:cTn>
                              </p:par>
                              <p:par>
                                <p:cTn id="8" presetID="3" presetClass="entr" presetSubtype="10"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blinds(horizontal)">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linds(horizontal)">
                                      <p:cBhvr>
                                        <p:cTn id="1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7" name="Rectangle 17"/>
          <p:cNvSpPr>
            <a:spLocks noChangeArrowheads="1"/>
          </p:cNvSpPr>
          <p:nvPr/>
        </p:nvSpPr>
        <p:spPr bwMode="auto">
          <a:xfrm>
            <a:off x="252413" y="1098550"/>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29742" name="Rectangle 11"/>
          <p:cNvSpPr>
            <a:spLocks noChangeArrowheads="1"/>
          </p:cNvSpPr>
          <p:nvPr/>
        </p:nvSpPr>
        <p:spPr bwMode="auto">
          <a:xfrm>
            <a:off x="252413" y="14478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9744" name="Rectangle 8"/>
          <p:cNvSpPr>
            <a:spLocks noChangeArrowheads="1"/>
          </p:cNvSpPr>
          <p:nvPr/>
        </p:nvSpPr>
        <p:spPr bwMode="auto">
          <a:xfrm>
            <a:off x="252413" y="12192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9746" name="Rectangle 11"/>
          <p:cNvSpPr>
            <a:spLocks noChangeArrowheads="1"/>
          </p:cNvSpPr>
          <p:nvPr/>
        </p:nvSpPr>
        <p:spPr bwMode="auto">
          <a:xfrm>
            <a:off x="252413" y="1419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9749" name="Rectangle 9"/>
          <p:cNvSpPr>
            <a:spLocks noChangeArrowheads="1"/>
          </p:cNvSpPr>
          <p:nvPr/>
        </p:nvSpPr>
        <p:spPr bwMode="auto">
          <a:xfrm>
            <a:off x="252413" y="1419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9753" name="Rectangle 5"/>
          <p:cNvSpPr>
            <a:spLocks noChangeArrowheads="1"/>
          </p:cNvSpPr>
          <p:nvPr/>
        </p:nvSpPr>
        <p:spPr bwMode="auto">
          <a:xfrm>
            <a:off x="252413" y="12192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7" name="矩形 36"/>
          <p:cNvSpPr>
            <a:spLocks noChangeArrowheads="1"/>
          </p:cNvSpPr>
          <p:nvPr/>
        </p:nvSpPr>
        <p:spPr bwMode="auto">
          <a:xfrm>
            <a:off x="974148" y="1343474"/>
            <a:ext cx="11744325" cy="1135054"/>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微软雅黑" panose="020B0503020204020204" pitchFamily="34" charset="-122"/>
                <a:ea typeface="微软雅黑" panose="020B0503020204020204" pitchFamily="34" charset="-122"/>
              </a:rPr>
              <a:t>一个</a:t>
            </a:r>
            <a:r>
              <a:rPr lang="zh-CN" altLang="en-US" sz="2400" b="1" dirty="0">
                <a:solidFill>
                  <a:srgbClr val="FF0000"/>
                </a:solidFill>
                <a:latin typeface="微软雅黑" panose="020B0503020204020204" pitchFamily="34" charset="-122"/>
                <a:ea typeface="微软雅黑" panose="020B0503020204020204" pitchFamily="34" charset="-122"/>
              </a:rPr>
              <a:t>振幅调制</a:t>
            </a: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频率调制</a:t>
            </a:r>
            <a:r>
              <a:rPr lang="zh-CN" altLang="en-US" sz="2400" b="1" dirty="0">
                <a:latin typeface="微软雅黑" panose="020B0503020204020204" pitchFamily="34" charset="-122"/>
                <a:ea typeface="微软雅黑" panose="020B0503020204020204" pitchFamily="34" charset="-122"/>
              </a:rPr>
              <a:t>以及</a:t>
            </a:r>
            <a:r>
              <a:rPr lang="zh-CN" altLang="en-US" sz="2400" b="1" dirty="0">
                <a:solidFill>
                  <a:srgbClr val="FF0000"/>
                </a:solidFill>
                <a:latin typeface="微软雅黑" panose="020B0503020204020204" pitchFamily="34" charset="-122"/>
                <a:ea typeface="微软雅黑" panose="020B0503020204020204" pitchFamily="34" charset="-122"/>
              </a:rPr>
              <a:t>相位调制</a:t>
            </a:r>
            <a:r>
              <a:rPr lang="zh-CN" altLang="en-US" sz="2400" b="1" dirty="0">
                <a:latin typeface="微软雅黑" panose="020B0503020204020204" pitchFamily="34" charset="-122"/>
                <a:ea typeface="微软雅黑" panose="020B0503020204020204" pitchFamily="34" charset="-122"/>
              </a:rPr>
              <a:t>的光波所携带的信息，通过光频外差探测方式均可实现解调。</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31" name="矩形 30"/>
          <p:cNvSpPr>
            <a:spLocks noChangeArrowheads="1"/>
          </p:cNvSpPr>
          <p:nvPr/>
        </p:nvSpPr>
        <p:spPr bwMode="auto">
          <a:xfrm>
            <a:off x="2466109" y="2930524"/>
            <a:ext cx="2928938" cy="461665"/>
          </a:xfrm>
          <a:prstGeom prst="rect">
            <a:avLst/>
          </a:prstGeom>
          <a:noFill/>
          <a:ln w="9525">
            <a:noFill/>
            <a:miter lim="800000"/>
            <a:headEnd/>
            <a:tailEnd/>
          </a:ln>
        </p:spPr>
        <p:txBody>
          <a:bodyPr>
            <a:spAutoFit/>
          </a:bodyPr>
          <a:lstStyle/>
          <a:p>
            <a:pPr defTabSz="914400"/>
            <a:r>
              <a:rPr lang="zh-CN" altLang="en-US" sz="2400" b="1" dirty="0">
                <a:solidFill>
                  <a:srgbClr val="0000FF"/>
                </a:solidFill>
                <a:latin typeface="微软雅黑" panose="020B0503020204020204" pitchFamily="34" charset="-122"/>
                <a:ea typeface="微软雅黑" panose="020B0503020204020204" pitchFamily="34" charset="-122"/>
              </a:rPr>
              <a:t>举例：振幅调制</a:t>
            </a:r>
          </a:p>
        </p:txBody>
      </p:sp>
      <p:grpSp>
        <p:nvGrpSpPr>
          <p:cNvPr id="2" name="组合 45"/>
          <p:cNvGrpSpPr>
            <a:grpSpLocks/>
          </p:cNvGrpSpPr>
          <p:nvPr/>
        </p:nvGrpSpPr>
        <p:grpSpPr bwMode="auto">
          <a:xfrm>
            <a:off x="1092345" y="3644899"/>
            <a:ext cx="3562782" cy="3226956"/>
            <a:chOff x="285720" y="2928934"/>
            <a:chExt cx="3039362" cy="2928958"/>
          </a:xfrm>
        </p:grpSpPr>
        <p:graphicFrame>
          <p:nvGraphicFramePr>
            <p:cNvPr id="29726" name="Object 4"/>
            <p:cNvGraphicFramePr>
              <a:graphicFrameLocks noChangeAspect="1"/>
            </p:cNvGraphicFramePr>
            <p:nvPr/>
          </p:nvGraphicFramePr>
          <p:xfrm>
            <a:off x="1928794" y="3071810"/>
            <a:ext cx="500066" cy="328168"/>
          </p:xfrm>
          <a:graphic>
            <a:graphicData uri="http://schemas.openxmlformats.org/presentationml/2006/ole">
              <mc:AlternateContent xmlns:mc="http://schemas.openxmlformats.org/markup-compatibility/2006">
                <mc:Choice xmlns:v="urn:schemas-microsoft-com:vml" Requires="v">
                  <p:oleObj spid="_x0000_s29733" name="公式" r:id="rId2" imgW="304536" imgH="203024" progId="Equation.3">
                    <p:embed/>
                  </p:oleObj>
                </mc:Choice>
                <mc:Fallback>
                  <p:oleObj name="公式" r:id="rId2" imgW="304536" imgH="203024" progId="Equation.3">
                    <p:embed/>
                    <p:pic>
                      <p:nvPicPr>
                        <p:cNvPr id="0"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794" y="3071810"/>
                          <a:ext cx="500066" cy="328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65" name="矩形 37"/>
            <p:cNvSpPr>
              <a:spLocks noChangeArrowheads="1"/>
            </p:cNvSpPr>
            <p:nvPr/>
          </p:nvSpPr>
          <p:spPr bwMode="auto">
            <a:xfrm>
              <a:off x="357141" y="2928934"/>
              <a:ext cx="2928263" cy="419032"/>
            </a:xfrm>
            <a:prstGeom prst="rect">
              <a:avLst/>
            </a:prstGeom>
            <a:noFill/>
            <a:ln w="9525">
              <a:noFill/>
              <a:miter lim="800000"/>
              <a:headEnd/>
              <a:tailEnd/>
            </a:ln>
          </p:spPr>
          <p:txBody>
            <a:bodyPr>
              <a:spAutoFit/>
            </a:bodyPr>
            <a:lstStyle/>
            <a:p>
              <a:pPr defTabSz="914400"/>
              <a:r>
                <a:rPr lang="zh-CN" altLang="en-US" sz="2400" b="1">
                  <a:latin typeface="微软雅黑" panose="020B0503020204020204" pitchFamily="34" charset="-122"/>
                  <a:ea typeface="微软雅黑" panose="020B0503020204020204" pitchFamily="34" charset="-122"/>
                </a:rPr>
                <a:t>调制信号</a:t>
              </a:r>
            </a:p>
          </p:txBody>
        </p:sp>
        <p:pic>
          <p:nvPicPr>
            <p:cNvPr id="29766" name="Picture 9"/>
            <p:cNvPicPr>
              <a:picLocks noChangeAspect="1" noChangeArrowheads="1"/>
            </p:cNvPicPr>
            <p:nvPr/>
          </p:nvPicPr>
          <p:blipFill>
            <a:blip r:embed="rId4" cstate="print"/>
            <a:srcRect/>
            <a:stretch>
              <a:fillRect/>
            </a:stretch>
          </p:blipFill>
          <p:spPr bwMode="auto">
            <a:xfrm>
              <a:off x="285720" y="3571876"/>
              <a:ext cx="3039362" cy="2286016"/>
            </a:xfrm>
            <a:prstGeom prst="rect">
              <a:avLst/>
            </a:prstGeom>
            <a:noFill/>
            <a:ln w="9525">
              <a:noFill/>
              <a:miter lim="800000"/>
              <a:headEnd/>
              <a:tailEnd/>
            </a:ln>
          </p:spPr>
        </p:pic>
      </p:grpSp>
      <p:sp>
        <p:nvSpPr>
          <p:cNvPr id="29760" name="Rectangle 12"/>
          <p:cNvSpPr>
            <a:spLocks noChangeArrowheads="1"/>
          </p:cNvSpPr>
          <p:nvPr/>
        </p:nvSpPr>
        <p:spPr bwMode="auto">
          <a:xfrm>
            <a:off x="252413" y="1419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2" name="云形标注 41"/>
          <p:cNvSpPr>
            <a:spLocks noChangeArrowheads="1"/>
          </p:cNvSpPr>
          <p:nvPr/>
        </p:nvSpPr>
        <p:spPr bwMode="auto">
          <a:xfrm>
            <a:off x="7042872" y="2535237"/>
            <a:ext cx="1857375" cy="1143000"/>
          </a:xfrm>
          <a:prstGeom prst="cloudCallout">
            <a:avLst>
              <a:gd name="adj1" fmla="val 29705"/>
              <a:gd name="adj2" fmla="val 144103"/>
            </a:avLst>
          </a:prstGeom>
          <a:solidFill>
            <a:srgbClr val="FF0000"/>
          </a:solidFill>
          <a:ln w="25400" algn="ctr">
            <a:solidFill>
              <a:srgbClr val="385D8A"/>
            </a:solidFill>
            <a:round/>
            <a:headEnd/>
            <a:tailEnd/>
          </a:ln>
        </p:spPr>
        <p:txBody>
          <a:bodyPr anchor="ctr"/>
          <a:lstStyle/>
          <a:p>
            <a:pPr algn="ctr" defTabSz="914400">
              <a:defRPr/>
            </a:pPr>
            <a:r>
              <a:rPr lang="zh-CN" altLang="en-US" b="1" dirty="0">
                <a:latin typeface="+mn-lt"/>
                <a:ea typeface="+mn-ea"/>
              </a:rPr>
              <a:t>调制信号的振幅</a:t>
            </a:r>
          </a:p>
        </p:txBody>
      </p:sp>
      <p:sp>
        <p:nvSpPr>
          <p:cNvPr id="43" name="云形标注 42"/>
          <p:cNvSpPr>
            <a:spLocks noChangeArrowheads="1"/>
          </p:cNvSpPr>
          <p:nvPr/>
        </p:nvSpPr>
        <p:spPr bwMode="auto">
          <a:xfrm>
            <a:off x="7268009" y="5853833"/>
            <a:ext cx="2428875" cy="1214438"/>
          </a:xfrm>
          <a:prstGeom prst="cloudCallout">
            <a:avLst>
              <a:gd name="adj1" fmla="val 68641"/>
              <a:gd name="adj2" fmla="val -95371"/>
            </a:avLst>
          </a:prstGeom>
          <a:solidFill>
            <a:srgbClr val="FFFF00"/>
          </a:solidFill>
          <a:ln w="25400" algn="ctr">
            <a:solidFill>
              <a:srgbClr val="385D8A"/>
            </a:solidFill>
            <a:round/>
            <a:headEnd/>
            <a:tailEnd/>
          </a:ln>
        </p:spPr>
        <p:txBody>
          <a:bodyPr anchor="ctr"/>
          <a:lstStyle/>
          <a:p>
            <a:pPr algn="ctr" defTabSz="914400">
              <a:defRPr/>
            </a:pPr>
            <a:r>
              <a:rPr lang="zh-CN" altLang="en-US" b="1" dirty="0">
                <a:latin typeface="+mn-lt"/>
                <a:ea typeface="+mn-ea"/>
              </a:rPr>
              <a:t>各频谱分量的调制度</a:t>
            </a:r>
          </a:p>
        </p:txBody>
      </p:sp>
      <p:sp>
        <p:nvSpPr>
          <p:cNvPr id="44" name="云形标注 43"/>
          <p:cNvSpPr>
            <a:spLocks noChangeArrowheads="1"/>
          </p:cNvSpPr>
          <p:nvPr/>
        </p:nvSpPr>
        <p:spPr bwMode="auto">
          <a:xfrm>
            <a:off x="10015538" y="2466109"/>
            <a:ext cx="2000250" cy="1052945"/>
          </a:xfrm>
          <a:prstGeom prst="cloudCallout">
            <a:avLst>
              <a:gd name="adj1" fmla="val 9531"/>
              <a:gd name="adj2" fmla="val 152984"/>
            </a:avLst>
          </a:prstGeom>
          <a:solidFill>
            <a:srgbClr val="FFFF00"/>
          </a:solidFill>
          <a:ln w="25400" algn="ctr">
            <a:solidFill>
              <a:srgbClr val="385D8A"/>
            </a:solidFill>
            <a:round/>
            <a:headEnd/>
            <a:tailEnd/>
          </a:ln>
        </p:spPr>
        <p:txBody>
          <a:bodyPr anchor="ctr"/>
          <a:lstStyle/>
          <a:p>
            <a:pPr algn="ctr" defTabSz="914400">
              <a:defRPr/>
            </a:pPr>
            <a:r>
              <a:rPr lang="zh-CN" altLang="en-US" b="1" dirty="0">
                <a:latin typeface="+mn-lt"/>
                <a:ea typeface="+mn-ea"/>
              </a:rPr>
              <a:t>调制信号的角频率</a:t>
            </a:r>
          </a:p>
        </p:txBody>
      </p:sp>
      <p:sp>
        <p:nvSpPr>
          <p:cNvPr id="45" name="云形标注 44"/>
          <p:cNvSpPr>
            <a:spLocks noChangeArrowheads="1"/>
          </p:cNvSpPr>
          <p:nvPr/>
        </p:nvSpPr>
        <p:spPr bwMode="auto">
          <a:xfrm>
            <a:off x="10363199" y="5680364"/>
            <a:ext cx="1882919" cy="1358033"/>
          </a:xfrm>
          <a:prstGeom prst="cloudCallout">
            <a:avLst>
              <a:gd name="adj1" fmla="val 47598"/>
              <a:gd name="adj2" fmla="val -76635"/>
            </a:avLst>
          </a:prstGeom>
          <a:solidFill>
            <a:srgbClr val="FF0000"/>
          </a:solidFill>
          <a:ln w="25400" algn="ctr">
            <a:solidFill>
              <a:srgbClr val="385D8A"/>
            </a:solidFill>
            <a:round/>
            <a:headEnd/>
            <a:tailEnd/>
          </a:ln>
        </p:spPr>
        <p:txBody>
          <a:bodyPr anchor="ctr"/>
          <a:lstStyle/>
          <a:p>
            <a:pPr algn="ctr" defTabSz="914400">
              <a:defRPr/>
            </a:pPr>
            <a:r>
              <a:rPr lang="zh-CN" altLang="en-US" b="1" dirty="0">
                <a:latin typeface="+mn-lt"/>
                <a:ea typeface="+mn-ea"/>
              </a:rPr>
              <a:t>调制信号的相位</a:t>
            </a:r>
          </a:p>
        </p:txBody>
      </p:sp>
      <p:sp>
        <p:nvSpPr>
          <p:cNvPr id="40"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41" name="矩形 40"/>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6" name="矩形 45">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8"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0" name="矩形 49">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3" name="对象 2">
            <a:extLst>
              <a:ext uri="{FF2B5EF4-FFF2-40B4-BE49-F238E27FC236}">
                <a16:creationId xmlns:a16="http://schemas.microsoft.com/office/drawing/2014/main" id="{F39297F5-F68B-3C5C-62A1-87CA9E27B5A3}"/>
              </a:ext>
            </a:extLst>
          </p:cNvPr>
          <p:cNvGraphicFramePr>
            <a:graphicFrameLocks noChangeAspect="1"/>
          </p:cNvGraphicFramePr>
          <p:nvPr>
            <p:extLst>
              <p:ext uri="{D42A27DB-BD31-4B8C-83A1-F6EECF244321}">
                <p14:modId xmlns:p14="http://schemas.microsoft.com/office/powerpoint/2010/main" val="1271080350"/>
              </p:ext>
            </p:extLst>
          </p:nvPr>
        </p:nvGraphicFramePr>
        <p:xfrm>
          <a:off x="4974359" y="4381231"/>
          <a:ext cx="7851775" cy="1165225"/>
        </p:xfrm>
        <a:graphic>
          <a:graphicData uri="http://schemas.openxmlformats.org/presentationml/2006/ole">
            <mc:AlternateContent xmlns:mc="http://schemas.openxmlformats.org/markup-compatibility/2006">
              <mc:Choice xmlns:v="urn:schemas-microsoft-com:vml" Requires="v">
                <p:oleObj name="Equation" r:id="rId5" imgW="2920680" imgH="431640" progId="Equation.DSMT4">
                  <p:embed/>
                </p:oleObj>
              </mc:Choice>
              <mc:Fallback>
                <p:oleObj name="Equation" r:id="rId5" imgW="2920680" imgH="431640" progId="Equation.DSMT4">
                  <p:embed/>
                  <p:pic>
                    <p:nvPicPr>
                      <p:cNvPr id="12" name="对象 11">
                        <a:extLst>
                          <a:ext uri="{FF2B5EF4-FFF2-40B4-BE49-F238E27FC236}">
                            <a16:creationId xmlns:a16="http://schemas.microsoft.com/office/drawing/2014/main" id="{1205AC3A-5359-9CB0-EB77-DD81D2EB4598}"/>
                          </a:ext>
                        </a:extLst>
                      </p:cNvPr>
                      <p:cNvPicPr>
                        <a:picLocks noChangeAspect="1" noChangeArrowheads="1"/>
                      </p:cNvPicPr>
                      <p:nvPr/>
                    </p:nvPicPr>
                    <p:blipFill>
                      <a:blip r:embed="rId6"/>
                      <a:srcRect/>
                      <a:stretch>
                        <a:fillRect/>
                      </a:stretch>
                    </p:blipFill>
                    <p:spPr bwMode="auto">
                      <a:xfrm>
                        <a:off x="4974359" y="4381231"/>
                        <a:ext cx="7851775" cy="1165225"/>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ppt_x"/>
                                          </p:val>
                                        </p:tav>
                                        <p:tav tm="100000">
                                          <p:val>
                                            <p:strVal val="#ppt_x"/>
                                          </p:val>
                                        </p:tav>
                                      </p:tavLst>
                                    </p:anim>
                                    <p:anim calcmode="lin" valueType="num">
                                      <p:cBhvr additive="base">
                                        <p:cTn id="2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box(in)">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diamond(in)">
                                      <p:cBhvr>
                                        <p:cTn id="33" dur="500"/>
                                        <p:tgtEl>
                                          <p:spTgt spid="44"/>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checkerboard(across)">
                                      <p:cBhvr>
                                        <p:cTn id="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utoUpdateAnimBg="0"/>
      <p:bldP spid="31" grpId="0" autoUpdateAnimBg="0"/>
      <p:bldP spid="42" grpId="0" animBg="1"/>
      <p:bldP spid="43" grpId="0" animBg="1"/>
      <p:bldP spid="44"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0" name="Rectangle 17"/>
          <p:cNvSpPr>
            <a:spLocks noChangeArrowheads="1"/>
          </p:cNvSpPr>
          <p:nvPr/>
        </p:nvSpPr>
        <p:spPr bwMode="auto">
          <a:xfrm>
            <a:off x="225425" y="971550"/>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30765" name="Rectangle 11"/>
          <p:cNvSpPr>
            <a:spLocks noChangeArrowheads="1"/>
          </p:cNvSpPr>
          <p:nvPr/>
        </p:nvSpPr>
        <p:spPr bwMode="auto">
          <a:xfrm>
            <a:off x="225425" y="13208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67" name="Rectangle 8"/>
          <p:cNvSpPr>
            <a:spLocks noChangeArrowheads="1"/>
          </p:cNvSpPr>
          <p:nvPr/>
        </p:nvSpPr>
        <p:spPr bwMode="auto">
          <a:xfrm>
            <a:off x="225425" y="10922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69" name="Rectangle 11"/>
          <p:cNvSpPr>
            <a:spLocks noChangeArrowheads="1"/>
          </p:cNvSpPr>
          <p:nvPr/>
        </p:nvSpPr>
        <p:spPr bwMode="auto">
          <a:xfrm>
            <a:off x="225425" y="1292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72" name="Rectangle 9"/>
          <p:cNvSpPr>
            <a:spLocks noChangeArrowheads="1"/>
          </p:cNvSpPr>
          <p:nvPr/>
        </p:nvSpPr>
        <p:spPr bwMode="auto">
          <a:xfrm>
            <a:off x="225425" y="1292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76" name="Rectangle 5"/>
          <p:cNvSpPr>
            <a:spLocks noChangeArrowheads="1"/>
          </p:cNvSpPr>
          <p:nvPr/>
        </p:nvSpPr>
        <p:spPr bwMode="auto">
          <a:xfrm>
            <a:off x="368300" y="21209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79" name="矩形 30"/>
          <p:cNvSpPr>
            <a:spLocks noChangeArrowheads="1"/>
          </p:cNvSpPr>
          <p:nvPr/>
        </p:nvSpPr>
        <p:spPr bwMode="auto">
          <a:xfrm>
            <a:off x="4717761" y="1219436"/>
            <a:ext cx="3929063" cy="523220"/>
          </a:xfrm>
          <a:prstGeom prst="rect">
            <a:avLst/>
          </a:prstGeom>
          <a:noFill/>
          <a:ln w="9525">
            <a:noFill/>
            <a:miter lim="800000"/>
            <a:headEnd/>
            <a:tailEnd/>
          </a:ln>
        </p:spPr>
        <p:txBody>
          <a:bodyPr>
            <a:spAutoFit/>
          </a:bodyPr>
          <a:lstStyle/>
          <a:p>
            <a:pPr defTabSz="914400"/>
            <a:r>
              <a:rPr lang="zh-CN" altLang="en-US" sz="2800" b="1" dirty="0">
                <a:solidFill>
                  <a:srgbClr val="0000FF"/>
                </a:solidFill>
                <a:latin typeface="楷体_GB2312" pitchFamily="49" charset="-122"/>
                <a:ea typeface="楷体_GB2312" pitchFamily="49" charset="-122"/>
              </a:rPr>
              <a:t>举例：振幅调制</a:t>
            </a:r>
          </a:p>
        </p:txBody>
      </p:sp>
      <p:sp>
        <p:nvSpPr>
          <p:cNvPr id="30782" name="Rectangle 12"/>
          <p:cNvSpPr>
            <a:spLocks noChangeArrowheads="1"/>
          </p:cNvSpPr>
          <p:nvPr/>
        </p:nvSpPr>
        <p:spPr bwMode="auto">
          <a:xfrm>
            <a:off x="225425" y="1292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9" name="矩形 38"/>
          <p:cNvSpPr>
            <a:spLocks noChangeArrowheads="1"/>
          </p:cNvSpPr>
          <p:nvPr/>
        </p:nvSpPr>
        <p:spPr bwMode="auto">
          <a:xfrm>
            <a:off x="1364781" y="2191543"/>
            <a:ext cx="2063605" cy="461665"/>
          </a:xfrm>
          <a:prstGeom prst="rect">
            <a:avLst/>
          </a:prstGeom>
          <a:noFill/>
          <a:ln w="9525">
            <a:noFill/>
            <a:miter lim="800000"/>
            <a:headEnd/>
            <a:tailEnd/>
          </a:ln>
        </p:spPr>
        <p:txBody>
          <a:bodyPr wrap="square">
            <a:spAutoFit/>
          </a:bodyPr>
          <a:lstStyle/>
          <a:p>
            <a:pPr defTabSz="914400"/>
            <a:r>
              <a:rPr lang="zh-CN" altLang="en-US" sz="2400" b="1" dirty="0">
                <a:solidFill>
                  <a:srgbClr val="0000FF"/>
                </a:solidFill>
                <a:latin typeface="楷体_GB2312" pitchFamily="49" charset="-122"/>
                <a:ea typeface="楷体_GB2312" pitchFamily="49" charset="-122"/>
              </a:rPr>
              <a:t>外差信号</a:t>
            </a:r>
          </a:p>
        </p:txBody>
      </p:sp>
      <p:sp>
        <p:nvSpPr>
          <p:cNvPr id="30785" name="Rectangle 6"/>
          <p:cNvSpPr>
            <a:spLocks noChangeArrowheads="1"/>
          </p:cNvSpPr>
          <p:nvPr/>
        </p:nvSpPr>
        <p:spPr bwMode="auto">
          <a:xfrm>
            <a:off x="225425" y="21875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pSp>
        <p:nvGrpSpPr>
          <p:cNvPr id="36" name="组合 35"/>
          <p:cNvGrpSpPr/>
          <p:nvPr/>
        </p:nvGrpSpPr>
        <p:grpSpPr>
          <a:xfrm>
            <a:off x="2943664" y="4794535"/>
            <a:ext cx="8308254" cy="2456584"/>
            <a:chOff x="2791113" y="4458277"/>
            <a:chExt cx="8308254" cy="2456584"/>
          </a:xfrm>
        </p:grpSpPr>
        <p:pic>
          <p:nvPicPr>
            <p:cNvPr id="130057" name="Picture 9"/>
            <p:cNvPicPr>
              <a:picLocks noChangeAspect="1" noChangeArrowheads="1"/>
            </p:cNvPicPr>
            <p:nvPr/>
          </p:nvPicPr>
          <p:blipFill>
            <a:blip r:embed="rId2" cstate="print"/>
            <a:srcRect/>
            <a:stretch>
              <a:fillRect/>
            </a:stretch>
          </p:blipFill>
          <p:spPr bwMode="auto">
            <a:xfrm>
              <a:off x="2791113" y="4485986"/>
              <a:ext cx="3228975" cy="2428875"/>
            </a:xfrm>
            <a:prstGeom prst="rect">
              <a:avLst/>
            </a:prstGeom>
            <a:noFill/>
            <a:ln w="9525">
              <a:noFill/>
              <a:miter lim="800000"/>
              <a:headEnd/>
              <a:tailEnd/>
            </a:ln>
          </p:spPr>
        </p:pic>
        <p:pic>
          <p:nvPicPr>
            <p:cNvPr id="183303" name="Picture 7"/>
            <p:cNvPicPr>
              <a:picLocks noChangeAspect="1" noChangeArrowheads="1"/>
            </p:cNvPicPr>
            <p:nvPr/>
          </p:nvPicPr>
          <p:blipFill>
            <a:blip r:embed="rId3" cstate="print"/>
            <a:srcRect/>
            <a:stretch>
              <a:fillRect/>
            </a:stretch>
          </p:blipFill>
          <p:spPr bwMode="auto">
            <a:xfrm>
              <a:off x="7268729" y="4458277"/>
              <a:ext cx="3830638" cy="2428875"/>
            </a:xfrm>
            <a:prstGeom prst="rect">
              <a:avLst/>
            </a:prstGeom>
            <a:noFill/>
            <a:ln w="9525">
              <a:noFill/>
              <a:miter lim="800000"/>
              <a:headEnd/>
              <a:tailEnd/>
            </a:ln>
          </p:spPr>
        </p:pic>
      </p:grpSp>
      <p:sp>
        <p:nvSpPr>
          <p:cNvPr id="37"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38" name="矩形 37"/>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2"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4" name="矩形 43">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3" name="对象 2">
            <a:extLst>
              <a:ext uri="{FF2B5EF4-FFF2-40B4-BE49-F238E27FC236}">
                <a16:creationId xmlns:a16="http://schemas.microsoft.com/office/drawing/2014/main" id="{4996FD83-9F39-DC6D-3FB7-83EEA3378780}"/>
              </a:ext>
            </a:extLst>
          </p:cNvPr>
          <p:cNvGraphicFramePr>
            <a:graphicFrameLocks noChangeAspect="1"/>
          </p:cNvGraphicFramePr>
          <p:nvPr>
            <p:extLst>
              <p:ext uri="{D42A27DB-BD31-4B8C-83A1-F6EECF244321}">
                <p14:modId xmlns:p14="http://schemas.microsoft.com/office/powerpoint/2010/main" val="3211935728"/>
              </p:ext>
            </p:extLst>
          </p:nvPr>
        </p:nvGraphicFramePr>
        <p:xfrm>
          <a:off x="3920395" y="2822380"/>
          <a:ext cx="8367713" cy="884238"/>
        </p:xfrm>
        <a:graphic>
          <a:graphicData uri="http://schemas.openxmlformats.org/presentationml/2006/ole">
            <mc:AlternateContent xmlns:mc="http://schemas.openxmlformats.org/markup-compatibility/2006">
              <mc:Choice xmlns:v="urn:schemas-microsoft-com:vml" Requires="v">
                <p:oleObj name="Equation" r:id="rId4" imgW="4101840" imgH="431640" progId="Equation.DSMT4">
                  <p:embed/>
                </p:oleObj>
              </mc:Choice>
              <mc:Fallback>
                <p:oleObj name="Equation" r:id="rId4" imgW="4101840" imgH="431640" progId="Equation.DSMT4">
                  <p:embed/>
                  <p:pic>
                    <p:nvPicPr>
                      <p:cNvPr id="20" name="对象 19">
                        <a:extLst>
                          <a:ext uri="{FF2B5EF4-FFF2-40B4-BE49-F238E27FC236}">
                            <a16:creationId xmlns:a16="http://schemas.microsoft.com/office/drawing/2014/main" id="{F9F56EDD-AE4B-826B-DD7C-9486A7D96BDB}"/>
                          </a:ext>
                        </a:extLst>
                      </p:cNvPr>
                      <p:cNvPicPr>
                        <a:picLocks noChangeAspect="1" noChangeArrowheads="1"/>
                      </p:cNvPicPr>
                      <p:nvPr/>
                    </p:nvPicPr>
                    <p:blipFill>
                      <a:blip r:embed="rId5"/>
                      <a:srcRect/>
                      <a:stretch>
                        <a:fillRect/>
                      </a:stretch>
                    </p:blipFill>
                    <p:spPr bwMode="auto">
                      <a:xfrm>
                        <a:off x="3920395" y="2822380"/>
                        <a:ext cx="8367713" cy="884238"/>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E2394546-058C-CDAE-E3BC-787B9007B715}"/>
              </a:ext>
            </a:extLst>
          </p:cNvPr>
          <p:cNvGraphicFramePr>
            <a:graphicFrameLocks noChangeAspect="1"/>
          </p:cNvGraphicFramePr>
          <p:nvPr>
            <p:extLst>
              <p:ext uri="{D42A27DB-BD31-4B8C-83A1-F6EECF244321}">
                <p14:modId xmlns:p14="http://schemas.microsoft.com/office/powerpoint/2010/main" val="1943368171"/>
              </p:ext>
            </p:extLst>
          </p:nvPr>
        </p:nvGraphicFramePr>
        <p:xfrm>
          <a:off x="3428386" y="1976697"/>
          <a:ext cx="6450012" cy="936625"/>
        </p:xfrm>
        <a:graphic>
          <a:graphicData uri="http://schemas.openxmlformats.org/presentationml/2006/ole">
            <mc:AlternateContent xmlns:mc="http://schemas.openxmlformats.org/markup-compatibility/2006">
              <mc:Choice xmlns:v="urn:schemas-microsoft-com:vml" Requires="v">
                <p:oleObj name="Equation" r:id="rId6" imgW="3162240" imgH="457200" progId="Equation.DSMT4">
                  <p:embed/>
                </p:oleObj>
              </mc:Choice>
              <mc:Fallback>
                <p:oleObj name="Equation" r:id="rId6" imgW="3162240" imgH="457200" progId="Equation.DSMT4">
                  <p:embed/>
                  <p:pic>
                    <p:nvPicPr>
                      <p:cNvPr id="20" name="对象 19">
                        <a:extLst>
                          <a:ext uri="{FF2B5EF4-FFF2-40B4-BE49-F238E27FC236}">
                            <a16:creationId xmlns:a16="http://schemas.microsoft.com/office/drawing/2014/main" id="{F9F56EDD-AE4B-826B-DD7C-9486A7D96BDB}"/>
                          </a:ext>
                        </a:extLst>
                      </p:cNvPr>
                      <p:cNvPicPr>
                        <a:picLocks noChangeAspect="1" noChangeArrowheads="1"/>
                      </p:cNvPicPr>
                      <p:nvPr/>
                    </p:nvPicPr>
                    <p:blipFill>
                      <a:blip r:embed="rId7"/>
                      <a:srcRect/>
                      <a:stretch>
                        <a:fillRect/>
                      </a:stretch>
                    </p:blipFill>
                    <p:spPr bwMode="auto">
                      <a:xfrm>
                        <a:off x="3428386" y="1976697"/>
                        <a:ext cx="6450012" cy="936625"/>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63B5CE29-16C3-243D-236D-064939669859}"/>
              </a:ext>
            </a:extLst>
          </p:cNvPr>
          <p:cNvGraphicFramePr>
            <a:graphicFrameLocks noChangeAspect="1"/>
          </p:cNvGraphicFramePr>
          <p:nvPr>
            <p:extLst>
              <p:ext uri="{D42A27DB-BD31-4B8C-83A1-F6EECF244321}">
                <p14:modId xmlns:p14="http://schemas.microsoft.com/office/powerpoint/2010/main" val="2774034389"/>
              </p:ext>
            </p:extLst>
          </p:nvPr>
        </p:nvGraphicFramePr>
        <p:xfrm>
          <a:off x="3920395" y="3654977"/>
          <a:ext cx="5568950" cy="882650"/>
        </p:xfrm>
        <a:graphic>
          <a:graphicData uri="http://schemas.openxmlformats.org/presentationml/2006/ole">
            <mc:AlternateContent xmlns:mc="http://schemas.openxmlformats.org/markup-compatibility/2006">
              <mc:Choice xmlns:v="urn:schemas-microsoft-com:vml" Requires="v">
                <p:oleObj name="Equation" r:id="rId8" imgW="2730240" imgH="431640" progId="Equation.DSMT4">
                  <p:embed/>
                </p:oleObj>
              </mc:Choice>
              <mc:Fallback>
                <p:oleObj name="Equation" r:id="rId8" imgW="2730240" imgH="431640" progId="Equation.DSMT4">
                  <p:embed/>
                  <p:pic>
                    <p:nvPicPr>
                      <p:cNvPr id="22" name="对象 21">
                        <a:extLst>
                          <a:ext uri="{FF2B5EF4-FFF2-40B4-BE49-F238E27FC236}">
                            <a16:creationId xmlns:a16="http://schemas.microsoft.com/office/drawing/2014/main" id="{CA53D3F0-399D-6F86-8A5C-FA9FEC66974C}"/>
                          </a:ext>
                        </a:extLst>
                      </p:cNvPr>
                      <p:cNvPicPr>
                        <a:picLocks noChangeAspect="1" noChangeArrowheads="1"/>
                      </p:cNvPicPr>
                      <p:nvPr/>
                    </p:nvPicPr>
                    <p:blipFill>
                      <a:blip r:embed="rId9"/>
                      <a:srcRect/>
                      <a:stretch>
                        <a:fillRect/>
                      </a:stretch>
                    </p:blipFill>
                    <p:spPr bwMode="auto">
                      <a:xfrm>
                        <a:off x="3920395" y="3654977"/>
                        <a:ext cx="5568950" cy="882650"/>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96" name="Rectangle 11"/>
          <p:cNvSpPr>
            <a:spLocks noChangeArrowheads="1"/>
          </p:cNvSpPr>
          <p:nvPr/>
        </p:nvSpPr>
        <p:spPr bwMode="auto">
          <a:xfrm>
            <a:off x="0" y="14478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1798" name="Rectangle 8"/>
          <p:cNvSpPr>
            <a:spLocks noChangeArrowheads="1"/>
          </p:cNvSpPr>
          <p:nvPr/>
        </p:nvSpPr>
        <p:spPr bwMode="auto">
          <a:xfrm>
            <a:off x="452438" y="12192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1800" name="Rectangle 11"/>
          <p:cNvSpPr>
            <a:spLocks noChangeArrowheads="1"/>
          </p:cNvSpPr>
          <p:nvPr/>
        </p:nvSpPr>
        <p:spPr bwMode="auto">
          <a:xfrm>
            <a:off x="452438" y="1419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1803" name="Rectangle 9"/>
          <p:cNvSpPr>
            <a:spLocks noChangeArrowheads="1"/>
          </p:cNvSpPr>
          <p:nvPr/>
        </p:nvSpPr>
        <p:spPr bwMode="auto">
          <a:xfrm>
            <a:off x="452438" y="14192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1" name="矩形 30"/>
          <p:cNvSpPr>
            <a:spLocks noChangeArrowheads="1"/>
          </p:cNvSpPr>
          <p:nvPr/>
        </p:nvSpPr>
        <p:spPr bwMode="auto">
          <a:xfrm>
            <a:off x="999692" y="1879311"/>
            <a:ext cx="8858250" cy="461665"/>
          </a:xfrm>
          <a:prstGeom prst="rect">
            <a:avLst/>
          </a:prstGeom>
          <a:noFill/>
          <a:ln w="9525">
            <a:noFill/>
            <a:miter lim="800000"/>
            <a:headEnd/>
            <a:tailEnd/>
          </a:ln>
        </p:spPr>
        <p:txBody>
          <a:bodyPr>
            <a:spAutoFit/>
          </a:bodyPr>
          <a:lstStyle/>
          <a:p>
            <a:pPr defTabSz="914400"/>
            <a:r>
              <a:rPr lang="zh-CN" altLang="en-US" sz="2400" b="1" dirty="0">
                <a:latin typeface="微软雅黑" panose="020B0503020204020204" pitchFamily="34" charset="-122"/>
                <a:ea typeface="微软雅黑" panose="020B0503020204020204" pitchFamily="34" charset="-122"/>
              </a:rPr>
              <a:t>若本振光频率和信号光频率相同，则中频电流为</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38" name="矩形 37"/>
          <p:cNvSpPr>
            <a:spLocks noChangeArrowheads="1"/>
          </p:cNvSpPr>
          <p:nvPr/>
        </p:nvSpPr>
        <p:spPr bwMode="auto">
          <a:xfrm>
            <a:off x="5193291" y="1127704"/>
            <a:ext cx="2571750" cy="701675"/>
          </a:xfrm>
          <a:prstGeom prst="rect">
            <a:avLst/>
          </a:prstGeom>
          <a:noFill/>
          <a:ln w="9525">
            <a:noFill/>
            <a:miter lim="800000"/>
            <a:headEnd/>
            <a:tailEnd/>
          </a:ln>
        </p:spPr>
        <p:txBody>
          <a:bodyPr>
            <a:spAutoFit/>
          </a:bodyPr>
          <a:lstStyle/>
          <a:p>
            <a:pPr defTabSz="914400"/>
            <a:r>
              <a:rPr lang="zh-CN" altLang="en-US" sz="4000" b="1" dirty="0">
                <a:solidFill>
                  <a:srgbClr val="0000FF"/>
                </a:solidFill>
                <a:latin typeface="楷体_GB2312" pitchFamily="49" charset="-122"/>
                <a:ea typeface="楷体_GB2312" pitchFamily="49" charset="-122"/>
              </a:rPr>
              <a:t>零差探测</a:t>
            </a:r>
          </a:p>
        </p:txBody>
      </p:sp>
      <p:sp>
        <p:nvSpPr>
          <p:cNvPr id="40" name="矩形 39"/>
          <p:cNvSpPr>
            <a:spLocks noChangeArrowheads="1"/>
          </p:cNvSpPr>
          <p:nvPr/>
        </p:nvSpPr>
        <p:spPr bwMode="auto">
          <a:xfrm>
            <a:off x="1680297" y="2733531"/>
            <a:ext cx="1714500" cy="461665"/>
          </a:xfrm>
          <a:prstGeom prst="rect">
            <a:avLst/>
          </a:prstGeom>
          <a:noFill/>
          <a:ln w="9525">
            <a:noFill/>
            <a:miter lim="800000"/>
            <a:headEnd/>
            <a:tailEnd/>
          </a:ln>
        </p:spPr>
        <p:txBody>
          <a:bodyPr>
            <a:spAutoFit/>
          </a:bodyPr>
          <a:lstStyle/>
          <a:p>
            <a:pPr defTabSz="914400"/>
            <a:r>
              <a:rPr lang="zh-CN" altLang="en-US" sz="2400" b="1" dirty="0">
                <a:solidFill>
                  <a:srgbClr val="FF0000"/>
                </a:solidFill>
                <a:latin typeface="微软雅黑" panose="020B0503020204020204" pitchFamily="34" charset="-122"/>
                <a:ea typeface="微软雅黑" panose="020B0503020204020204" pitchFamily="34" charset="-122"/>
              </a:rPr>
              <a:t>振幅调制</a:t>
            </a:r>
          </a:p>
        </p:txBody>
      </p:sp>
      <p:sp>
        <p:nvSpPr>
          <p:cNvPr id="46" name="下箭头 45"/>
          <p:cNvSpPr/>
          <p:nvPr/>
        </p:nvSpPr>
        <p:spPr bwMode="auto">
          <a:xfrm>
            <a:off x="6041882" y="4377458"/>
            <a:ext cx="285750" cy="500063"/>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49" name="矩形 48"/>
          <p:cNvSpPr>
            <a:spLocks noChangeArrowheads="1"/>
          </p:cNvSpPr>
          <p:nvPr/>
        </p:nvSpPr>
        <p:spPr bwMode="auto">
          <a:xfrm>
            <a:off x="1206211" y="6275100"/>
            <a:ext cx="11872480" cy="461665"/>
          </a:xfrm>
          <a:prstGeom prst="rect">
            <a:avLst/>
          </a:prstGeom>
          <a:noFill/>
          <a:ln w="9525">
            <a:noFill/>
            <a:miter lim="800000"/>
            <a:headEnd/>
            <a:tailEnd/>
          </a:ln>
        </p:spPr>
        <p:txBody>
          <a:bodyPr wrap="square">
            <a:spAutoFit/>
          </a:bodyPr>
          <a:lstStyle/>
          <a:p>
            <a:pPr defTabSz="914400"/>
            <a:r>
              <a:rPr lang="zh-CN" altLang="en-US" sz="2400" b="1" dirty="0">
                <a:solidFill>
                  <a:srgbClr val="FF0000"/>
                </a:solidFill>
                <a:latin typeface="微软雅黑" panose="020B0503020204020204" pitchFamily="34" charset="-122"/>
                <a:ea typeface="微软雅黑" panose="020B0503020204020204" pitchFamily="34" charset="-122"/>
              </a:rPr>
              <a:t>零差探测能无畸变地获得信号原形，只是包含了本振光振幅的影响。</a:t>
            </a:r>
          </a:p>
        </p:txBody>
      </p:sp>
      <p:sp>
        <p:nvSpPr>
          <p:cNvPr id="42"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43" name="矩形 42"/>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7"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0" name="矩形 49">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3" name="对象 2">
            <a:extLst>
              <a:ext uri="{FF2B5EF4-FFF2-40B4-BE49-F238E27FC236}">
                <a16:creationId xmlns:a16="http://schemas.microsoft.com/office/drawing/2014/main" id="{D1ADBC9F-7937-88F8-58D1-E8A0C7EBEDFD}"/>
              </a:ext>
            </a:extLst>
          </p:cNvPr>
          <p:cNvGraphicFramePr>
            <a:graphicFrameLocks noChangeAspect="1"/>
          </p:cNvGraphicFramePr>
          <p:nvPr>
            <p:extLst>
              <p:ext uri="{D42A27DB-BD31-4B8C-83A1-F6EECF244321}">
                <p14:modId xmlns:p14="http://schemas.microsoft.com/office/powerpoint/2010/main" val="2805761091"/>
              </p:ext>
            </p:extLst>
          </p:nvPr>
        </p:nvGraphicFramePr>
        <p:xfrm>
          <a:off x="8082305" y="1917482"/>
          <a:ext cx="2409825" cy="468312"/>
        </p:xfrm>
        <a:graphic>
          <a:graphicData uri="http://schemas.openxmlformats.org/presentationml/2006/ole">
            <mc:AlternateContent xmlns:mc="http://schemas.openxmlformats.org/markup-compatibility/2006">
              <mc:Choice xmlns:v="urn:schemas-microsoft-com:vml" Requires="v">
                <p:oleObj name="Equation" r:id="rId2" imgW="1180800" imgH="228600" progId="Equation.DSMT4">
                  <p:embed/>
                </p:oleObj>
              </mc:Choice>
              <mc:Fallback>
                <p:oleObj name="Equation" r:id="rId2" imgW="1180800" imgH="228600" progId="Equation.DSMT4">
                  <p:embed/>
                  <p:pic>
                    <p:nvPicPr>
                      <p:cNvPr id="20" name="对象 19">
                        <a:extLst>
                          <a:ext uri="{FF2B5EF4-FFF2-40B4-BE49-F238E27FC236}">
                            <a16:creationId xmlns:a16="http://schemas.microsoft.com/office/drawing/2014/main" id="{F9F56EDD-AE4B-826B-DD7C-9486A7D96BDB}"/>
                          </a:ext>
                        </a:extLst>
                      </p:cNvPr>
                      <p:cNvPicPr>
                        <a:picLocks noChangeAspect="1" noChangeArrowheads="1"/>
                      </p:cNvPicPr>
                      <p:nvPr/>
                    </p:nvPicPr>
                    <p:blipFill>
                      <a:blip r:embed="rId3"/>
                      <a:srcRect/>
                      <a:stretch>
                        <a:fillRect/>
                      </a:stretch>
                    </p:blipFill>
                    <p:spPr bwMode="auto">
                      <a:xfrm>
                        <a:off x="8082305" y="1917482"/>
                        <a:ext cx="2409825" cy="468312"/>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B96AED9E-DC2A-8767-7519-3F37605FC521}"/>
              </a:ext>
            </a:extLst>
          </p:cNvPr>
          <p:cNvGraphicFramePr>
            <a:graphicFrameLocks noChangeAspect="1"/>
          </p:cNvGraphicFramePr>
          <p:nvPr>
            <p:extLst>
              <p:ext uri="{D42A27DB-BD31-4B8C-83A1-F6EECF244321}">
                <p14:modId xmlns:p14="http://schemas.microsoft.com/office/powerpoint/2010/main" val="2610861541"/>
              </p:ext>
            </p:extLst>
          </p:nvPr>
        </p:nvGraphicFramePr>
        <p:xfrm>
          <a:off x="3556398" y="2448786"/>
          <a:ext cx="6788150" cy="936625"/>
        </p:xfrm>
        <a:graphic>
          <a:graphicData uri="http://schemas.openxmlformats.org/presentationml/2006/ole">
            <mc:AlternateContent xmlns:mc="http://schemas.openxmlformats.org/markup-compatibility/2006">
              <mc:Choice xmlns:v="urn:schemas-microsoft-com:vml" Requires="v">
                <p:oleObj name="Equation" r:id="rId4" imgW="3327120" imgH="457200" progId="Equation.DSMT4">
                  <p:embed/>
                </p:oleObj>
              </mc:Choice>
              <mc:Fallback>
                <p:oleObj name="Equation" r:id="rId4" imgW="3327120" imgH="457200" progId="Equation.DSMT4">
                  <p:embed/>
                  <p:pic>
                    <p:nvPicPr>
                      <p:cNvPr id="20" name="对象 19">
                        <a:extLst>
                          <a:ext uri="{FF2B5EF4-FFF2-40B4-BE49-F238E27FC236}">
                            <a16:creationId xmlns:a16="http://schemas.microsoft.com/office/drawing/2014/main" id="{F9F56EDD-AE4B-826B-DD7C-9486A7D96BDB}"/>
                          </a:ext>
                        </a:extLst>
                      </p:cNvPr>
                      <p:cNvPicPr>
                        <a:picLocks noChangeAspect="1" noChangeArrowheads="1"/>
                      </p:cNvPicPr>
                      <p:nvPr/>
                    </p:nvPicPr>
                    <p:blipFill>
                      <a:blip r:embed="rId5"/>
                      <a:srcRect/>
                      <a:stretch>
                        <a:fillRect/>
                      </a:stretch>
                    </p:blipFill>
                    <p:spPr bwMode="auto">
                      <a:xfrm>
                        <a:off x="3556398" y="2448786"/>
                        <a:ext cx="6788150" cy="936625"/>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0A6F7608-AA0D-7698-663B-13E77D28651C}"/>
              </a:ext>
            </a:extLst>
          </p:cNvPr>
          <p:cNvGraphicFramePr>
            <a:graphicFrameLocks noChangeAspect="1"/>
          </p:cNvGraphicFramePr>
          <p:nvPr>
            <p:extLst>
              <p:ext uri="{D42A27DB-BD31-4B8C-83A1-F6EECF244321}">
                <p14:modId xmlns:p14="http://schemas.microsoft.com/office/powerpoint/2010/main" val="736143915"/>
              </p:ext>
            </p:extLst>
          </p:nvPr>
        </p:nvGraphicFramePr>
        <p:xfrm>
          <a:off x="4034488" y="3330655"/>
          <a:ext cx="4300538" cy="884238"/>
        </p:xfrm>
        <a:graphic>
          <a:graphicData uri="http://schemas.openxmlformats.org/presentationml/2006/ole">
            <mc:AlternateContent xmlns:mc="http://schemas.openxmlformats.org/markup-compatibility/2006">
              <mc:Choice xmlns:v="urn:schemas-microsoft-com:vml" Requires="v">
                <p:oleObj name="Equation" r:id="rId6" imgW="2108160" imgH="431640" progId="Equation.DSMT4">
                  <p:embed/>
                </p:oleObj>
              </mc:Choice>
              <mc:Fallback>
                <p:oleObj name="Equation" r:id="rId6" imgW="2108160" imgH="43164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7"/>
                      <a:srcRect/>
                      <a:stretch>
                        <a:fillRect/>
                      </a:stretch>
                    </p:blipFill>
                    <p:spPr bwMode="auto">
                      <a:xfrm>
                        <a:off x="4034488" y="3330655"/>
                        <a:ext cx="4300538" cy="884238"/>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C19AC0DB-E738-A37C-4EA7-E8E4910654AE}"/>
              </a:ext>
            </a:extLst>
          </p:cNvPr>
          <p:cNvGraphicFramePr>
            <a:graphicFrameLocks noChangeAspect="1"/>
          </p:cNvGraphicFramePr>
          <p:nvPr>
            <p:extLst>
              <p:ext uri="{D42A27DB-BD31-4B8C-83A1-F6EECF244321}">
                <p14:modId xmlns:p14="http://schemas.microsoft.com/office/powerpoint/2010/main" val="2789121989"/>
              </p:ext>
            </p:extLst>
          </p:nvPr>
        </p:nvGraphicFramePr>
        <p:xfrm>
          <a:off x="6431108" y="4441236"/>
          <a:ext cx="958850" cy="415925"/>
        </p:xfrm>
        <a:graphic>
          <a:graphicData uri="http://schemas.openxmlformats.org/presentationml/2006/ole">
            <mc:AlternateContent xmlns:mc="http://schemas.openxmlformats.org/markup-compatibility/2006">
              <mc:Choice xmlns:v="urn:schemas-microsoft-com:vml" Requires="v">
                <p:oleObj name="Equation" r:id="rId8" imgW="469800" imgH="203040" progId="Equation.DSMT4">
                  <p:embed/>
                </p:oleObj>
              </mc:Choice>
              <mc:Fallback>
                <p:oleObj name="Equation" r:id="rId8" imgW="469800" imgH="203040" progId="Equation.DSMT4">
                  <p:embed/>
                  <p:pic>
                    <p:nvPicPr>
                      <p:cNvPr id="5" name="对象 4">
                        <a:extLst>
                          <a:ext uri="{FF2B5EF4-FFF2-40B4-BE49-F238E27FC236}">
                            <a16:creationId xmlns:a16="http://schemas.microsoft.com/office/drawing/2014/main" id="{0A6F7608-AA0D-7698-663B-13E77D28651C}"/>
                          </a:ext>
                        </a:extLst>
                      </p:cNvPr>
                      <p:cNvPicPr>
                        <a:picLocks noChangeAspect="1" noChangeArrowheads="1"/>
                      </p:cNvPicPr>
                      <p:nvPr/>
                    </p:nvPicPr>
                    <p:blipFill>
                      <a:blip r:embed="rId9"/>
                      <a:srcRect/>
                      <a:stretch>
                        <a:fillRect/>
                      </a:stretch>
                    </p:blipFill>
                    <p:spPr bwMode="auto">
                      <a:xfrm>
                        <a:off x="6431108" y="4441236"/>
                        <a:ext cx="958850" cy="415925"/>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08C5D652-D473-B29F-9E4A-D9A80D3B5591}"/>
              </a:ext>
            </a:extLst>
          </p:cNvPr>
          <p:cNvGraphicFramePr>
            <a:graphicFrameLocks noChangeAspect="1"/>
          </p:cNvGraphicFramePr>
          <p:nvPr>
            <p:extLst>
              <p:ext uri="{D42A27DB-BD31-4B8C-83A1-F6EECF244321}">
                <p14:modId xmlns:p14="http://schemas.microsoft.com/office/powerpoint/2010/main" val="4062364406"/>
              </p:ext>
            </p:extLst>
          </p:nvPr>
        </p:nvGraphicFramePr>
        <p:xfrm>
          <a:off x="4074464" y="5099405"/>
          <a:ext cx="4713288" cy="933450"/>
        </p:xfrm>
        <a:graphic>
          <a:graphicData uri="http://schemas.openxmlformats.org/presentationml/2006/ole">
            <mc:AlternateContent xmlns:mc="http://schemas.openxmlformats.org/markup-compatibility/2006">
              <mc:Choice xmlns:v="urn:schemas-microsoft-com:vml" Requires="v">
                <p:oleObj name="Equation" r:id="rId10" imgW="2311200" imgH="457200" progId="Equation.DSMT4">
                  <p:embed/>
                </p:oleObj>
              </mc:Choice>
              <mc:Fallback>
                <p:oleObj name="Equation" r:id="rId10" imgW="2311200" imgH="457200" progId="Equation.DSMT4">
                  <p:embed/>
                  <p:pic>
                    <p:nvPicPr>
                      <p:cNvPr id="22" name="对象 21">
                        <a:extLst>
                          <a:ext uri="{FF2B5EF4-FFF2-40B4-BE49-F238E27FC236}">
                            <a16:creationId xmlns:a16="http://schemas.microsoft.com/office/drawing/2014/main" id="{CA53D3F0-399D-6F86-8A5C-FA9FEC66974C}"/>
                          </a:ext>
                        </a:extLst>
                      </p:cNvPr>
                      <p:cNvPicPr>
                        <a:picLocks noChangeAspect="1" noChangeArrowheads="1"/>
                      </p:cNvPicPr>
                      <p:nvPr/>
                    </p:nvPicPr>
                    <p:blipFill>
                      <a:blip r:embed="rId11"/>
                      <a:srcRect/>
                      <a:stretch>
                        <a:fillRect/>
                      </a:stretch>
                    </p:blipFill>
                    <p:spPr bwMode="auto">
                      <a:xfrm>
                        <a:off x="4074464" y="5099405"/>
                        <a:ext cx="4713288" cy="933450"/>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additive="base">
                                        <p:cTn id="12" dur="500" fill="hold"/>
                                        <p:tgtEl>
                                          <p:spTgt spid="38"/>
                                        </p:tgtEl>
                                        <p:attrNameLst>
                                          <p:attrName>ppt_x</p:attrName>
                                        </p:attrNameLst>
                                      </p:cBhvr>
                                      <p:tavLst>
                                        <p:tav tm="0">
                                          <p:val>
                                            <p:strVal val="#ppt_x"/>
                                          </p:val>
                                        </p:tav>
                                        <p:tav tm="100000">
                                          <p:val>
                                            <p:strVal val="#ppt_x"/>
                                          </p:val>
                                        </p:tav>
                                      </p:tavLst>
                                    </p:anim>
                                    <p:anim calcmode="lin" valueType="num">
                                      <p:cBhvr additive="base">
                                        <p:cTn id="13"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box(in)">
                                      <p:cBhvr>
                                        <p:cTn id="18" dur="5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blinds(horizontal)">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8" grpId="0"/>
      <p:bldP spid="40"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09" name="Rectangle 10"/>
          <p:cNvSpPr>
            <a:spLocks noChangeArrowheads="1"/>
          </p:cNvSpPr>
          <p:nvPr/>
        </p:nvSpPr>
        <p:spPr bwMode="auto">
          <a:xfrm>
            <a:off x="4229655" y="1178092"/>
            <a:ext cx="5500687" cy="579438"/>
          </a:xfrm>
          <a:prstGeom prst="rect">
            <a:avLst/>
          </a:prstGeom>
          <a:noFill/>
          <a:ln w="9525" algn="ctr">
            <a:noFill/>
            <a:miter lim="800000"/>
            <a:headEnd/>
            <a:tailEnd/>
          </a:ln>
        </p:spPr>
        <p:txBody>
          <a:bodyPr anchor="ctr">
            <a:spAutoFit/>
          </a:bodyPr>
          <a:lstStyle/>
          <a:p>
            <a:pPr defTabSz="914400" eaLnBrk="0" hangingPunct="0"/>
            <a:r>
              <a:rPr lang="en-US" altLang="zh-CN" sz="3200" b="1" dirty="0">
                <a:solidFill>
                  <a:srgbClr val="0000CC"/>
                </a:solidFill>
                <a:latin typeface="Times New Roman" pitchFamily="18" charset="0"/>
                <a:ea typeface="微软雅黑" pitchFamily="34" charset="-122"/>
              </a:rPr>
              <a:t>2. </a:t>
            </a:r>
            <a:r>
              <a:rPr lang="zh-CN" altLang="en-US" sz="3200" b="1" dirty="0">
                <a:solidFill>
                  <a:srgbClr val="0000CC"/>
                </a:solidFill>
                <a:latin typeface="Times New Roman" pitchFamily="18" charset="0"/>
                <a:ea typeface="微软雅黑" pitchFamily="34" charset="-122"/>
              </a:rPr>
              <a:t>光频外差探测的特性</a:t>
            </a:r>
          </a:p>
        </p:txBody>
      </p:sp>
      <p:sp>
        <p:nvSpPr>
          <p:cNvPr id="32810" name="Rectangle 17"/>
          <p:cNvSpPr>
            <a:spLocks noChangeArrowheads="1"/>
          </p:cNvSpPr>
          <p:nvPr/>
        </p:nvSpPr>
        <p:spPr bwMode="auto">
          <a:xfrm>
            <a:off x="407988" y="1295400"/>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32815" name="Rectangle 11"/>
          <p:cNvSpPr>
            <a:spLocks noChangeArrowheads="1"/>
          </p:cNvSpPr>
          <p:nvPr/>
        </p:nvSpPr>
        <p:spPr bwMode="auto">
          <a:xfrm>
            <a:off x="407988" y="16446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2818" name="Rectangle 11"/>
          <p:cNvSpPr>
            <a:spLocks noChangeArrowheads="1"/>
          </p:cNvSpPr>
          <p:nvPr/>
        </p:nvSpPr>
        <p:spPr bwMode="auto">
          <a:xfrm>
            <a:off x="407988" y="16160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 name="Rectangle 11"/>
          <p:cNvSpPr>
            <a:spLocks noChangeArrowheads="1"/>
          </p:cNvSpPr>
          <p:nvPr/>
        </p:nvSpPr>
        <p:spPr bwMode="auto">
          <a:xfrm>
            <a:off x="1848861" y="2182241"/>
            <a:ext cx="4482666" cy="461665"/>
          </a:xfrm>
          <a:prstGeom prst="rect">
            <a:avLst/>
          </a:prstGeom>
          <a:noFill/>
          <a:ln w="9525">
            <a:noFill/>
            <a:miter lim="800000"/>
            <a:headEnd/>
            <a:tailEnd/>
          </a:ln>
        </p:spPr>
        <p:txBody>
          <a:bodyPr wrap="square" anchor="ctr">
            <a:spAutoFit/>
          </a:bodyPr>
          <a:lstStyle/>
          <a:p>
            <a:pPr indent="200025" defTabSz="914400" eaLnBrk="0" hangingPunct="0"/>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2400" b="1" dirty="0">
                <a:solidFill>
                  <a:srgbClr val="FF0000"/>
                </a:solidFill>
                <a:latin typeface="微软雅黑" panose="020B0503020204020204" pitchFamily="34" charset="-122"/>
                <a:ea typeface="微软雅黑" panose="020B0503020204020204" pitchFamily="34" charset="-122"/>
                <a:cs typeface="Times New Roman" pitchFamily="18" charset="0"/>
              </a:rPr>
              <a:t>1</a:t>
            </a:r>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）转换增益高</a:t>
            </a:r>
          </a:p>
        </p:txBody>
      </p:sp>
      <p:sp>
        <p:nvSpPr>
          <p:cNvPr id="25" name="Rectangle 11"/>
          <p:cNvSpPr>
            <a:spLocks noChangeArrowheads="1"/>
          </p:cNvSpPr>
          <p:nvPr/>
        </p:nvSpPr>
        <p:spPr bwMode="auto">
          <a:xfrm>
            <a:off x="4279900" y="3104434"/>
            <a:ext cx="3214688" cy="461665"/>
          </a:xfrm>
          <a:prstGeom prst="rect">
            <a:avLst/>
          </a:prstGeom>
          <a:noFill/>
          <a:ln w="9525">
            <a:noFill/>
            <a:miter lim="800000"/>
            <a:headEnd/>
            <a:tailEnd/>
          </a:ln>
        </p:spPr>
        <p:txBody>
          <a:bodyPr anchor="ctr">
            <a:spAutoFit/>
          </a:bodyPr>
          <a:lstStyle/>
          <a:p>
            <a:pPr indent="200025" defTabSz="914400" eaLnBrk="0" hangingPunct="0"/>
            <a:r>
              <a:rPr lang="zh-CN" altLang="en-US" sz="2400" b="1" dirty="0">
                <a:latin typeface="微软雅黑" panose="020B0503020204020204" pitchFamily="34" charset="-122"/>
                <a:ea typeface="微软雅黑" panose="020B0503020204020204" pitchFamily="34" charset="-122"/>
                <a:cs typeface="Times New Roman" pitchFamily="18" charset="0"/>
              </a:rPr>
              <a:t>直接探测：</a:t>
            </a:r>
          </a:p>
        </p:txBody>
      </p:sp>
      <p:sp>
        <p:nvSpPr>
          <p:cNvPr id="28" name="Rectangle 11"/>
          <p:cNvSpPr>
            <a:spLocks noChangeArrowheads="1"/>
          </p:cNvSpPr>
          <p:nvPr/>
        </p:nvSpPr>
        <p:spPr bwMode="auto">
          <a:xfrm>
            <a:off x="4279900" y="3890246"/>
            <a:ext cx="3214688" cy="461665"/>
          </a:xfrm>
          <a:prstGeom prst="rect">
            <a:avLst/>
          </a:prstGeom>
          <a:noFill/>
          <a:ln w="9525">
            <a:noFill/>
            <a:miter lim="800000"/>
            <a:headEnd/>
            <a:tailEnd/>
          </a:ln>
        </p:spPr>
        <p:txBody>
          <a:bodyPr anchor="ctr">
            <a:spAutoFit/>
          </a:bodyPr>
          <a:lstStyle/>
          <a:p>
            <a:pPr indent="200025" defTabSz="914400" eaLnBrk="0" hangingPunct="0"/>
            <a:r>
              <a:rPr lang="zh-CN" altLang="en-US" sz="2400" b="1">
                <a:latin typeface="微软雅黑" panose="020B0503020204020204" pitchFamily="34" charset="-122"/>
                <a:ea typeface="微软雅黑" panose="020B0503020204020204" pitchFamily="34" charset="-122"/>
                <a:cs typeface="Times New Roman" pitchFamily="18" charset="0"/>
              </a:rPr>
              <a:t>外差探测：</a:t>
            </a:r>
          </a:p>
        </p:txBody>
      </p:sp>
      <p:sp>
        <p:nvSpPr>
          <p:cNvPr id="32828" name="Rectangle 10"/>
          <p:cNvSpPr>
            <a:spLocks noChangeArrowheads="1"/>
          </p:cNvSpPr>
          <p:nvPr/>
        </p:nvSpPr>
        <p:spPr bwMode="auto">
          <a:xfrm>
            <a:off x="407988" y="14160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pSp>
        <p:nvGrpSpPr>
          <p:cNvPr id="2" name="组合 36"/>
          <p:cNvGrpSpPr>
            <a:grpSpLocks/>
          </p:cNvGrpSpPr>
          <p:nvPr/>
        </p:nvGrpSpPr>
        <p:grpSpPr bwMode="auto">
          <a:xfrm>
            <a:off x="935759" y="5131407"/>
            <a:ext cx="11782714" cy="1134862"/>
            <a:chOff x="447748" y="4513838"/>
            <a:chExt cx="8143932" cy="1134725"/>
          </a:xfrm>
        </p:grpSpPr>
        <p:sp>
          <p:nvSpPr>
            <p:cNvPr id="32831" name="Rectangle 11"/>
            <p:cNvSpPr>
              <a:spLocks noChangeArrowheads="1"/>
            </p:cNvSpPr>
            <p:nvPr/>
          </p:nvSpPr>
          <p:spPr bwMode="auto">
            <a:xfrm>
              <a:off x="447748" y="4513838"/>
              <a:ext cx="8143932" cy="1134725"/>
            </a:xfrm>
            <a:prstGeom prst="rect">
              <a:avLst/>
            </a:prstGeom>
            <a:noFill/>
            <a:ln w="9525">
              <a:noFill/>
              <a:miter lim="800000"/>
              <a:headEnd/>
              <a:tailEnd/>
            </a:ln>
          </p:spPr>
          <p:txBody>
            <a:bodyPr anchor="ctr">
              <a:spAutoFit/>
            </a:bodyPr>
            <a:lstStyle/>
            <a:p>
              <a:pPr indent="200025" defTabSz="914400" eaLnBrk="0" hangingPunct="0">
                <a:lnSpc>
                  <a:spcPct val="150000"/>
                </a:lnSpc>
              </a:pPr>
              <a:r>
                <a:rPr lang="zh-CN" altLang="en-US" sz="2400" b="1" dirty="0">
                  <a:latin typeface="微软雅黑" panose="020B0503020204020204" pitchFamily="34" charset="-122"/>
                  <a:ea typeface="微软雅黑" panose="020B0503020204020204" pitchFamily="34" charset="-122"/>
                </a:rPr>
                <a:t>从物理过程的观点看，直接探测是光功率包络的检波过程；而光频外差探测是一种“转换”过程。即把以   为载频的光频信息转换到以   为载频的中频电流上。</a:t>
              </a:r>
              <a:endPar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graphicFrame>
          <p:nvGraphicFramePr>
            <p:cNvPr id="32801" name="Object 8"/>
            <p:cNvGraphicFramePr>
              <a:graphicFrameLocks noChangeAspect="1"/>
            </p:cNvGraphicFramePr>
            <p:nvPr/>
          </p:nvGraphicFramePr>
          <p:xfrm>
            <a:off x="4218968" y="4905839"/>
            <a:ext cx="357190" cy="428628"/>
          </p:xfrm>
          <a:graphic>
            <a:graphicData uri="http://schemas.openxmlformats.org/presentationml/2006/ole">
              <mc:AlternateContent xmlns:mc="http://schemas.openxmlformats.org/markup-compatibility/2006">
                <mc:Choice xmlns:v="urn:schemas-microsoft-com:vml" Requires="v">
                  <p:oleObj spid="_x0000_s32809" name="公式" r:id="rId2" imgW="190500" imgH="228600" progId="Equation.3">
                    <p:embed/>
                  </p:oleObj>
                </mc:Choice>
                <mc:Fallback>
                  <p:oleObj name="公式" r:id="rId2" imgW="190500" imgH="228600" progId="Equation.3">
                    <p:embed/>
                    <p:pic>
                      <p:nvPicPr>
                        <p:cNvPr id="0"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8968" y="4905839"/>
                          <a:ext cx="357190"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802" name="Object 11"/>
            <p:cNvGraphicFramePr>
              <a:graphicFrameLocks noChangeAspect="1"/>
            </p:cNvGraphicFramePr>
            <p:nvPr/>
          </p:nvGraphicFramePr>
          <p:xfrm>
            <a:off x="7501893" y="4949572"/>
            <a:ext cx="507586" cy="357190"/>
          </p:xfrm>
          <a:graphic>
            <a:graphicData uri="http://schemas.openxmlformats.org/presentationml/2006/ole">
              <mc:AlternateContent xmlns:mc="http://schemas.openxmlformats.org/markup-compatibility/2006">
                <mc:Choice xmlns:v="urn:schemas-microsoft-com:vml" Requires="v">
                  <p:oleObj spid="_x0000_s32810" name="公式" r:id="rId4" imgW="253670" imgH="177569" progId="Equation.3">
                    <p:embed/>
                  </p:oleObj>
                </mc:Choice>
                <mc:Fallback>
                  <p:oleObj name="公式" r:id="rId4" imgW="253670" imgH="177569" progId="Equation.3">
                    <p:embed/>
                    <p:pic>
                      <p:nvPicPr>
                        <p:cNvPr id="0"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1893" y="4949572"/>
                          <a:ext cx="507586"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6"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37" name="矩形 36"/>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8" name="矩形 37">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0"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2" name="矩形 41">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3" name="对象 2">
            <a:extLst>
              <a:ext uri="{FF2B5EF4-FFF2-40B4-BE49-F238E27FC236}">
                <a16:creationId xmlns:a16="http://schemas.microsoft.com/office/drawing/2014/main" id="{C6917790-4AA7-A7FA-16CF-C4A50BC70BCD}"/>
              </a:ext>
            </a:extLst>
          </p:cNvPr>
          <p:cNvGraphicFramePr>
            <a:graphicFrameLocks noChangeAspect="1"/>
          </p:cNvGraphicFramePr>
          <p:nvPr>
            <p:extLst>
              <p:ext uri="{D42A27DB-BD31-4B8C-83A1-F6EECF244321}">
                <p14:modId xmlns:p14="http://schemas.microsoft.com/office/powerpoint/2010/main" val="2580117624"/>
              </p:ext>
            </p:extLst>
          </p:nvPr>
        </p:nvGraphicFramePr>
        <p:xfrm>
          <a:off x="6391994" y="3101110"/>
          <a:ext cx="1631950" cy="493713"/>
        </p:xfrm>
        <a:graphic>
          <a:graphicData uri="http://schemas.openxmlformats.org/presentationml/2006/ole">
            <mc:AlternateContent xmlns:mc="http://schemas.openxmlformats.org/markup-compatibility/2006">
              <mc:Choice xmlns:v="urn:schemas-microsoft-com:vml" Requires="v">
                <p:oleObj name="Equation" r:id="rId6" imgW="799920" imgH="241200" progId="Equation.DSMT4">
                  <p:embed/>
                </p:oleObj>
              </mc:Choice>
              <mc:Fallback>
                <p:oleObj name="Equation" r:id="rId6" imgW="799920" imgH="24120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7"/>
                      <a:srcRect/>
                      <a:stretch>
                        <a:fillRect/>
                      </a:stretch>
                    </p:blipFill>
                    <p:spPr bwMode="auto">
                      <a:xfrm>
                        <a:off x="6391994" y="3101110"/>
                        <a:ext cx="1631950" cy="493713"/>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0BB1F301-9533-C3D0-006C-C645B7240303}"/>
              </a:ext>
            </a:extLst>
          </p:cNvPr>
          <p:cNvGraphicFramePr>
            <a:graphicFrameLocks noChangeAspect="1"/>
          </p:cNvGraphicFramePr>
          <p:nvPr>
            <p:extLst>
              <p:ext uri="{D42A27DB-BD31-4B8C-83A1-F6EECF244321}">
                <p14:modId xmlns:p14="http://schemas.microsoft.com/office/powerpoint/2010/main" val="20321486"/>
              </p:ext>
            </p:extLst>
          </p:nvPr>
        </p:nvGraphicFramePr>
        <p:xfrm>
          <a:off x="6391994" y="3904567"/>
          <a:ext cx="2486025" cy="492125"/>
        </p:xfrm>
        <a:graphic>
          <a:graphicData uri="http://schemas.openxmlformats.org/presentationml/2006/ole">
            <mc:AlternateContent xmlns:mc="http://schemas.openxmlformats.org/markup-compatibility/2006">
              <mc:Choice xmlns:v="urn:schemas-microsoft-com:vml" Requires="v">
                <p:oleObj name="Equation" r:id="rId8" imgW="1218960" imgH="241200" progId="Equation.DSMT4">
                  <p:embed/>
                </p:oleObj>
              </mc:Choice>
              <mc:Fallback>
                <p:oleObj name="Equation" r:id="rId8" imgW="1218960" imgH="241200" progId="Equation.DSMT4">
                  <p:embed/>
                  <p:pic>
                    <p:nvPicPr>
                      <p:cNvPr id="22" name="对象 21">
                        <a:extLst>
                          <a:ext uri="{FF2B5EF4-FFF2-40B4-BE49-F238E27FC236}">
                            <a16:creationId xmlns:a16="http://schemas.microsoft.com/office/drawing/2014/main" id="{CA53D3F0-399D-6F86-8A5C-FA9FEC66974C}"/>
                          </a:ext>
                        </a:extLst>
                      </p:cNvPr>
                      <p:cNvPicPr>
                        <a:picLocks noChangeAspect="1" noChangeArrowheads="1"/>
                      </p:cNvPicPr>
                      <p:nvPr/>
                    </p:nvPicPr>
                    <p:blipFill>
                      <a:blip r:embed="rId9"/>
                      <a:srcRect/>
                      <a:stretch>
                        <a:fillRect/>
                      </a:stretch>
                    </p:blipFill>
                    <p:spPr bwMode="auto">
                      <a:xfrm>
                        <a:off x="6391994" y="3904567"/>
                        <a:ext cx="2486025" cy="492125"/>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linds(horizontal)">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25"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31" name="Rectangle 17"/>
          <p:cNvSpPr>
            <a:spLocks noChangeArrowheads="1"/>
          </p:cNvSpPr>
          <p:nvPr/>
        </p:nvSpPr>
        <p:spPr bwMode="auto">
          <a:xfrm>
            <a:off x="436563" y="1195388"/>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33832" name="Rectangle 19"/>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3" name="Rectangle 6"/>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4" name="Rectangle 8"/>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5" name="Rectangle 10"/>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6" name="Rectangle 11"/>
          <p:cNvSpPr>
            <a:spLocks noChangeArrowheads="1"/>
          </p:cNvSpPr>
          <p:nvPr/>
        </p:nvSpPr>
        <p:spPr bwMode="auto">
          <a:xfrm>
            <a:off x="436563" y="15446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7" name="Rectangle 7"/>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8" name="Rectangle 10"/>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39" name="Rectangle 11"/>
          <p:cNvSpPr>
            <a:spLocks noChangeArrowheads="1"/>
          </p:cNvSpPr>
          <p:nvPr/>
        </p:nvSpPr>
        <p:spPr bwMode="auto">
          <a:xfrm>
            <a:off x="436563" y="15160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0" name="Rectangle 13"/>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2" name="Rectangle 8"/>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3" name="Rectangle 11"/>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5" name="Rectangle 11"/>
          <p:cNvSpPr>
            <a:spLocks noChangeArrowheads="1"/>
          </p:cNvSpPr>
          <p:nvPr/>
        </p:nvSpPr>
        <p:spPr bwMode="auto">
          <a:xfrm>
            <a:off x="754397" y="1970071"/>
            <a:ext cx="12217832" cy="581057"/>
          </a:xfrm>
          <a:prstGeom prst="rect">
            <a:avLst/>
          </a:prstGeom>
          <a:noFill/>
          <a:ln w="9525">
            <a:noFill/>
            <a:miter lim="800000"/>
            <a:headEnd/>
            <a:tailEnd/>
          </a:ln>
        </p:spPr>
        <p:txBody>
          <a:bodyPr wrap="square" anchor="ctr">
            <a:spAutoFit/>
          </a:bodyPr>
          <a:lstStyle/>
          <a:p>
            <a:pPr defTabSz="914400">
              <a:lnSpc>
                <a:spcPct val="150000"/>
              </a:lnSpc>
            </a:pPr>
            <a:r>
              <a:rPr lang="zh-CN" altLang="en-US" sz="2400" b="1" dirty="0">
                <a:latin typeface="微软雅黑" panose="020B0503020204020204" pitchFamily="34" charset="-122"/>
                <a:ea typeface="微软雅黑" panose="020B0503020204020204" pitchFamily="34" charset="-122"/>
                <a:cs typeface="Times New Roman" pitchFamily="18" charset="0"/>
              </a:rPr>
              <a:t>        这一“转换”是本机振荡光波的作用，它使光外差探测天然地具有一种转换增益。</a:t>
            </a:r>
          </a:p>
        </p:txBody>
      </p:sp>
      <p:sp>
        <p:nvSpPr>
          <p:cNvPr id="33845" name="Rectangle 5"/>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6" name="Rectangle 7"/>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7" name="Rectangle 9"/>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8" name="Rectangle 12"/>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49" name="Rectangle 7"/>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57" name="Rectangle 11"/>
          <p:cNvSpPr>
            <a:spLocks noChangeArrowheads="1"/>
          </p:cNvSpPr>
          <p:nvPr/>
        </p:nvSpPr>
        <p:spPr bwMode="auto">
          <a:xfrm>
            <a:off x="3480080" y="3311921"/>
            <a:ext cx="2071687" cy="461665"/>
          </a:xfrm>
          <a:prstGeom prst="rect">
            <a:avLst/>
          </a:prstGeom>
          <a:noFill/>
          <a:ln w="9525">
            <a:noFill/>
            <a:miter lim="800000"/>
            <a:headEnd/>
            <a:tailEnd/>
          </a:ln>
        </p:spPr>
        <p:txBody>
          <a:bodyPr anchor="ctr">
            <a:spAutoFit/>
          </a:bodyPr>
          <a:lstStyle/>
          <a:p>
            <a:pPr indent="200025" defTabSz="914400" eaLnBrk="0" hangingPunct="0"/>
            <a:r>
              <a:rPr lang="zh-CN" altLang="en-US" sz="2400" b="1">
                <a:latin typeface="微软雅黑" panose="020B0503020204020204" pitchFamily="34" charset="-122"/>
                <a:ea typeface="微软雅黑" panose="020B0503020204020204" pitchFamily="34" charset="-122"/>
                <a:cs typeface="Times New Roman" pitchFamily="18" charset="0"/>
              </a:rPr>
              <a:t>转换增益</a:t>
            </a:r>
          </a:p>
        </p:txBody>
      </p:sp>
      <p:sp>
        <p:nvSpPr>
          <p:cNvPr id="36" name="右箭头 35"/>
          <p:cNvSpPr/>
          <p:nvPr/>
        </p:nvSpPr>
        <p:spPr>
          <a:xfrm>
            <a:off x="6775450" y="3442134"/>
            <a:ext cx="1071563" cy="285750"/>
          </a:xfrm>
          <a:prstGeom prst="right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33852" name="Rectangle 9"/>
          <p:cNvSpPr>
            <a:spLocks noChangeArrowheads="1"/>
          </p:cNvSpPr>
          <p:nvPr/>
        </p:nvSpPr>
        <p:spPr bwMode="auto">
          <a:xfrm>
            <a:off x="436563" y="630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3853" name="Rectangle 10"/>
          <p:cNvSpPr>
            <a:spLocks noChangeArrowheads="1"/>
          </p:cNvSpPr>
          <p:nvPr/>
        </p:nvSpPr>
        <p:spPr bwMode="auto">
          <a:xfrm>
            <a:off x="436563" y="15160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pic>
        <p:nvPicPr>
          <p:cNvPr id="186379" name="Picture 11"/>
          <p:cNvPicPr>
            <a:picLocks noChangeAspect="1" noChangeArrowheads="1"/>
          </p:cNvPicPr>
          <p:nvPr/>
        </p:nvPicPr>
        <p:blipFill>
          <a:blip r:embed="rId2" cstate="print"/>
          <a:srcRect/>
          <a:stretch>
            <a:fillRect/>
          </a:stretch>
        </p:blipFill>
        <p:spPr bwMode="auto">
          <a:xfrm>
            <a:off x="863024" y="3952153"/>
            <a:ext cx="11216172" cy="2155969"/>
          </a:xfrm>
          <a:prstGeom prst="rect">
            <a:avLst/>
          </a:prstGeom>
          <a:noFill/>
          <a:ln w="9525">
            <a:noFill/>
            <a:miter lim="800000"/>
            <a:headEnd/>
            <a:tailEnd/>
          </a:ln>
        </p:spPr>
      </p:pic>
      <p:sp>
        <p:nvSpPr>
          <p:cNvPr id="41" name="矩形 40"/>
          <p:cNvSpPr>
            <a:spLocks noChangeArrowheads="1"/>
          </p:cNvSpPr>
          <p:nvPr/>
        </p:nvSpPr>
        <p:spPr bwMode="auto">
          <a:xfrm>
            <a:off x="3207905" y="6210011"/>
            <a:ext cx="7929563" cy="461665"/>
          </a:xfrm>
          <a:prstGeom prst="rect">
            <a:avLst/>
          </a:prstGeom>
          <a:noFill/>
          <a:ln w="9525">
            <a:noFill/>
            <a:miter lim="800000"/>
            <a:headEnd/>
            <a:tailEnd/>
          </a:ln>
        </p:spPr>
        <p:txBody>
          <a:bodyPr>
            <a:spAutoFit/>
          </a:bodyPr>
          <a:lstStyle/>
          <a:p>
            <a:pPr defTabSz="914400"/>
            <a:r>
              <a:rPr lang="zh-CN" altLang="en-US" sz="2400" b="1" dirty="0">
                <a:latin typeface="微软雅黑" panose="020B0503020204020204" pitchFamily="34" charset="-122"/>
                <a:ea typeface="微软雅黑" panose="020B0503020204020204" pitchFamily="34" charset="-122"/>
              </a:rPr>
              <a:t>光外差探测方式具有天然的</a:t>
            </a:r>
            <a:r>
              <a:rPr lang="zh-CN" altLang="en-US" sz="2400" b="1" dirty="0">
                <a:solidFill>
                  <a:srgbClr val="0000FF"/>
                </a:solidFill>
                <a:latin typeface="微软雅黑" panose="020B0503020204020204" pitchFamily="34" charset="-122"/>
                <a:ea typeface="微软雅黑" panose="020B0503020204020204" pitchFamily="34" charset="-122"/>
              </a:rPr>
              <a:t>探测微弱信号</a:t>
            </a:r>
            <a:r>
              <a:rPr lang="zh-CN" altLang="en-US" sz="2400" b="1" dirty="0">
                <a:latin typeface="微软雅黑" panose="020B0503020204020204" pitchFamily="34" charset="-122"/>
                <a:ea typeface="微软雅黑" panose="020B0503020204020204" pitchFamily="34" charset="-122"/>
              </a:rPr>
              <a:t>的能力。</a:t>
            </a:r>
          </a:p>
        </p:txBody>
      </p:sp>
      <p:sp>
        <p:nvSpPr>
          <p:cNvPr id="34"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35" name="矩形 34"/>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8" name="矩形 37">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0"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3" name="矩形 4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3" name="对象 2">
            <a:extLst>
              <a:ext uri="{FF2B5EF4-FFF2-40B4-BE49-F238E27FC236}">
                <a16:creationId xmlns:a16="http://schemas.microsoft.com/office/drawing/2014/main" id="{1A01EB9B-6535-AC62-61B4-DE4A1993AA19}"/>
              </a:ext>
            </a:extLst>
          </p:cNvPr>
          <p:cNvGraphicFramePr>
            <a:graphicFrameLocks noChangeAspect="1"/>
          </p:cNvGraphicFramePr>
          <p:nvPr>
            <p:extLst>
              <p:ext uri="{D42A27DB-BD31-4B8C-83A1-F6EECF244321}">
                <p14:modId xmlns:p14="http://schemas.microsoft.com/office/powerpoint/2010/main" val="3376096878"/>
              </p:ext>
            </p:extLst>
          </p:nvPr>
        </p:nvGraphicFramePr>
        <p:xfrm>
          <a:off x="5235060" y="3187556"/>
          <a:ext cx="1062037" cy="881062"/>
        </p:xfrm>
        <a:graphic>
          <a:graphicData uri="http://schemas.openxmlformats.org/presentationml/2006/ole">
            <mc:AlternateContent xmlns:mc="http://schemas.openxmlformats.org/markup-compatibility/2006">
              <mc:Choice xmlns:v="urn:schemas-microsoft-com:vml" Requires="v">
                <p:oleObj name="Equation" r:id="rId3" imgW="520560" imgH="431640" progId="Equation.DSMT4">
                  <p:embed/>
                </p:oleObj>
              </mc:Choice>
              <mc:Fallback>
                <p:oleObj name="Equation" r:id="rId3" imgW="520560" imgH="431640" progId="Equation.DSMT4">
                  <p:embed/>
                  <p:pic>
                    <p:nvPicPr>
                      <p:cNvPr id="30" name="对象 29">
                        <a:extLst>
                          <a:ext uri="{FF2B5EF4-FFF2-40B4-BE49-F238E27FC236}">
                            <a16:creationId xmlns:a16="http://schemas.microsoft.com/office/drawing/2014/main" id="{C8CBEC2F-588B-038C-E64E-C5EFADCDFCAD}"/>
                          </a:ext>
                        </a:extLst>
                      </p:cNvPr>
                      <p:cNvPicPr>
                        <a:picLocks noChangeAspect="1" noChangeArrowheads="1"/>
                      </p:cNvPicPr>
                      <p:nvPr/>
                    </p:nvPicPr>
                    <p:blipFill>
                      <a:blip r:embed="rId4"/>
                      <a:srcRect/>
                      <a:stretch>
                        <a:fillRect/>
                      </a:stretch>
                    </p:blipFill>
                    <p:spPr bwMode="auto">
                      <a:xfrm>
                        <a:off x="5235060" y="3187556"/>
                        <a:ext cx="1062037" cy="881062"/>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995E419D-B222-5FCC-7C88-1C7FE9997016}"/>
              </a:ext>
            </a:extLst>
          </p:cNvPr>
          <p:cNvGraphicFramePr>
            <a:graphicFrameLocks noChangeAspect="1"/>
          </p:cNvGraphicFramePr>
          <p:nvPr>
            <p:extLst>
              <p:ext uri="{D42A27DB-BD31-4B8C-83A1-F6EECF244321}">
                <p14:modId xmlns:p14="http://schemas.microsoft.com/office/powerpoint/2010/main" val="3377756897"/>
              </p:ext>
            </p:extLst>
          </p:nvPr>
        </p:nvGraphicFramePr>
        <p:xfrm>
          <a:off x="8265197" y="3210932"/>
          <a:ext cx="1112837" cy="882650"/>
        </p:xfrm>
        <a:graphic>
          <a:graphicData uri="http://schemas.openxmlformats.org/presentationml/2006/ole">
            <mc:AlternateContent xmlns:mc="http://schemas.openxmlformats.org/markup-compatibility/2006">
              <mc:Choice xmlns:v="urn:schemas-microsoft-com:vml" Requires="v">
                <p:oleObj name="Equation" r:id="rId5" imgW="545760" imgH="431640" progId="Equation.DSMT4">
                  <p:embed/>
                </p:oleObj>
              </mc:Choice>
              <mc:Fallback>
                <p:oleObj name="Equation" r:id="rId5" imgW="545760" imgH="43164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6"/>
                      <a:srcRect/>
                      <a:stretch>
                        <a:fillRect/>
                      </a:stretch>
                    </p:blipFill>
                    <p:spPr bwMode="auto">
                      <a:xfrm>
                        <a:off x="8265197" y="3210932"/>
                        <a:ext cx="1112837" cy="882650"/>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linds(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6379"/>
                                        </p:tgtEl>
                                        <p:attrNameLst>
                                          <p:attrName>style.visibility</p:attrName>
                                        </p:attrNameLst>
                                      </p:cBhvr>
                                      <p:to>
                                        <p:strVal val="visible"/>
                                      </p:to>
                                    </p:set>
                                    <p:anim calcmode="lin" valueType="num">
                                      <p:cBhvr additive="base">
                                        <p:cTn id="17" dur="500" fill="hold"/>
                                        <p:tgtEl>
                                          <p:spTgt spid="186379"/>
                                        </p:tgtEl>
                                        <p:attrNameLst>
                                          <p:attrName>ppt_x</p:attrName>
                                        </p:attrNameLst>
                                      </p:cBhvr>
                                      <p:tavLst>
                                        <p:tav tm="0">
                                          <p:val>
                                            <p:strVal val="#ppt_x"/>
                                          </p:val>
                                        </p:tav>
                                        <p:tav tm="100000">
                                          <p:val>
                                            <p:strVal val="#ppt_x"/>
                                          </p:val>
                                        </p:tav>
                                      </p:tavLst>
                                    </p:anim>
                                    <p:anim calcmode="lin" valueType="num">
                                      <p:cBhvr additive="base">
                                        <p:cTn id="18" dur="500" fill="hold"/>
                                        <p:tgtEl>
                                          <p:spTgt spid="18637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blinds(horizontal)">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P spid="36" grpId="0" animBg="1"/>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66" name="Rectangle 17"/>
          <p:cNvSpPr>
            <a:spLocks noChangeArrowheads="1"/>
          </p:cNvSpPr>
          <p:nvPr/>
        </p:nvSpPr>
        <p:spPr bwMode="auto">
          <a:xfrm>
            <a:off x="365125" y="1279525"/>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34867" name="Rectangle 19"/>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68" name="Rectangle 6"/>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69" name="Rectangle 8"/>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0" name="Rectangle 10"/>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1" name="Rectangle 7"/>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2" name="Rectangle 10"/>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3" name="Rectangle 11"/>
          <p:cNvSpPr>
            <a:spLocks noChangeArrowheads="1"/>
          </p:cNvSpPr>
          <p:nvPr/>
        </p:nvSpPr>
        <p:spPr bwMode="auto">
          <a:xfrm>
            <a:off x="365125" y="16002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4" name="Rectangle 13"/>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5" name="Rectangle 11"/>
          <p:cNvSpPr>
            <a:spLocks noChangeArrowheads="1"/>
          </p:cNvSpPr>
          <p:nvPr/>
        </p:nvSpPr>
        <p:spPr bwMode="auto">
          <a:xfrm>
            <a:off x="734002" y="1572708"/>
            <a:ext cx="4655416" cy="584775"/>
          </a:xfrm>
          <a:prstGeom prst="rect">
            <a:avLst/>
          </a:prstGeom>
          <a:noFill/>
          <a:ln w="9525">
            <a:noFill/>
            <a:miter lim="800000"/>
            <a:headEnd/>
            <a:tailEnd/>
          </a:ln>
        </p:spPr>
        <p:txBody>
          <a:bodyPr wrap="square" anchor="ctr">
            <a:spAutoFit/>
          </a:bodyPr>
          <a:lstStyle/>
          <a:p>
            <a:pPr indent="200025" defTabSz="914400" eaLnBrk="0" hangingPunct="0"/>
            <a:r>
              <a:rPr lang="zh-CN" altLang="en-US" sz="32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3200" b="1" dirty="0">
                <a:solidFill>
                  <a:srgbClr val="FF0000"/>
                </a:solidFill>
                <a:latin typeface="微软雅黑" panose="020B0503020204020204" pitchFamily="34" charset="-122"/>
                <a:ea typeface="微软雅黑" panose="020B0503020204020204" pitchFamily="34" charset="-122"/>
                <a:cs typeface="Times New Roman" pitchFamily="18" charset="0"/>
              </a:rPr>
              <a:t>2</a:t>
            </a:r>
            <a:r>
              <a:rPr lang="zh-CN" altLang="en-US" sz="3200" b="1" dirty="0">
                <a:solidFill>
                  <a:srgbClr val="FF0000"/>
                </a:solidFill>
                <a:latin typeface="微软雅黑" panose="020B0503020204020204" pitchFamily="34" charset="-122"/>
                <a:ea typeface="微软雅黑" panose="020B0503020204020204" pitchFamily="34" charset="-122"/>
                <a:cs typeface="Times New Roman" pitchFamily="18" charset="0"/>
              </a:rPr>
              <a:t>）良好的滤波性能</a:t>
            </a:r>
          </a:p>
        </p:txBody>
      </p:sp>
      <p:sp>
        <p:nvSpPr>
          <p:cNvPr id="34876" name="Rectangle 8"/>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7" name="Rectangle 11"/>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8" name="Rectangle 5"/>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79" name="Rectangle 7"/>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80" name="Rectangle 9"/>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81" name="Rectangle 12"/>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pSp>
        <p:nvGrpSpPr>
          <p:cNvPr id="2" name="组合 50"/>
          <p:cNvGrpSpPr>
            <a:grpSpLocks/>
          </p:cNvGrpSpPr>
          <p:nvPr/>
        </p:nvGrpSpPr>
        <p:grpSpPr bwMode="auto">
          <a:xfrm>
            <a:off x="1482148" y="2564972"/>
            <a:ext cx="8643938" cy="461665"/>
            <a:chOff x="285720" y="1598692"/>
            <a:chExt cx="8643966" cy="461087"/>
          </a:xfrm>
        </p:grpSpPr>
        <p:sp>
          <p:nvSpPr>
            <p:cNvPr id="34895" name="Rectangle 11"/>
            <p:cNvSpPr>
              <a:spLocks noChangeArrowheads="1"/>
            </p:cNvSpPr>
            <p:nvPr/>
          </p:nvSpPr>
          <p:spPr bwMode="auto">
            <a:xfrm>
              <a:off x="285720" y="1598692"/>
              <a:ext cx="2286008" cy="461087"/>
            </a:xfrm>
            <a:prstGeom prst="rect">
              <a:avLst/>
            </a:prstGeom>
            <a:noFill/>
            <a:ln w="9525">
              <a:noFill/>
              <a:miter lim="800000"/>
              <a:headEnd/>
              <a:tailEnd/>
            </a:ln>
          </p:spPr>
          <p:txBody>
            <a:bodyPr anchor="ctr">
              <a:spAutoFit/>
            </a:bodyPr>
            <a:lstStyle/>
            <a:p>
              <a:pPr indent="200025" defTabSz="914400" eaLnBrk="0" hangingPunct="0"/>
              <a:r>
                <a:rPr lang="zh-CN" altLang="en-US" sz="2400" b="1" dirty="0">
                  <a:latin typeface="微软雅黑" panose="020B0503020204020204" pitchFamily="34" charset="-122"/>
                  <a:ea typeface="微软雅黑" panose="020B0503020204020204" pitchFamily="34" charset="-122"/>
                  <a:cs typeface="Times New Roman" pitchFamily="18" charset="0"/>
                </a:rPr>
                <a:t>直接探测：</a:t>
              </a:r>
            </a:p>
          </p:txBody>
        </p:sp>
        <p:sp>
          <p:nvSpPr>
            <p:cNvPr id="34896" name="Rectangle 11"/>
            <p:cNvSpPr>
              <a:spLocks noChangeArrowheads="1"/>
            </p:cNvSpPr>
            <p:nvPr/>
          </p:nvSpPr>
          <p:spPr bwMode="auto">
            <a:xfrm>
              <a:off x="2000226" y="1598692"/>
              <a:ext cx="6929460" cy="461087"/>
            </a:xfrm>
            <a:prstGeom prst="rect">
              <a:avLst/>
            </a:prstGeom>
            <a:noFill/>
            <a:ln w="9525">
              <a:noFill/>
              <a:miter lim="800000"/>
              <a:headEnd/>
              <a:tailEnd/>
            </a:ln>
          </p:spPr>
          <p:txBody>
            <a:bodyPr anchor="ctr">
              <a:spAutoFit/>
            </a:bodyPr>
            <a:lstStyle/>
            <a:p>
              <a:pPr indent="200025" defTabSz="914400" eaLnBrk="0" hangingPunct="0"/>
              <a:r>
                <a:rPr lang="zh-CN" altLang="en-US" sz="2400" b="1" dirty="0">
                  <a:latin typeface="微软雅黑" panose="020B0503020204020204" pitchFamily="34" charset="-122"/>
                  <a:ea typeface="微软雅黑" panose="020B0503020204020204" pitchFamily="34" charset="-122"/>
                  <a:cs typeface="Times New Roman" pitchFamily="18" charset="0"/>
                </a:rPr>
                <a:t>为抑制杂散光的干扰，采用窄带滤光片。</a:t>
              </a:r>
            </a:p>
          </p:txBody>
        </p:sp>
      </p:grpSp>
      <p:sp>
        <p:nvSpPr>
          <p:cNvPr id="34883" name="Rectangle 7"/>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84" name="Rectangle 9"/>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85" name="Rectangle 10"/>
          <p:cNvSpPr>
            <a:spLocks noChangeArrowheads="1"/>
          </p:cNvSpPr>
          <p:nvPr/>
        </p:nvSpPr>
        <p:spPr bwMode="auto">
          <a:xfrm>
            <a:off x="365125" y="15621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4886" name="Rectangle 12"/>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0" name="右箭头 39"/>
          <p:cNvSpPr/>
          <p:nvPr/>
        </p:nvSpPr>
        <p:spPr bwMode="auto">
          <a:xfrm>
            <a:off x="5059216" y="3491057"/>
            <a:ext cx="1143000" cy="142875"/>
          </a:xfrm>
          <a:prstGeom prst="rightArrow">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grpSp>
        <p:nvGrpSpPr>
          <p:cNvPr id="4" name="组合 52"/>
          <p:cNvGrpSpPr>
            <a:grpSpLocks/>
          </p:cNvGrpSpPr>
          <p:nvPr/>
        </p:nvGrpSpPr>
        <p:grpSpPr bwMode="auto">
          <a:xfrm>
            <a:off x="1399021" y="3998479"/>
            <a:ext cx="8572502" cy="491976"/>
            <a:chOff x="285720" y="2782864"/>
            <a:chExt cx="8572562" cy="491361"/>
          </a:xfrm>
        </p:grpSpPr>
        <p:sp>
          <p:nvSpPr>
            <p:cNvPr id="34892" name="Rectangle 11"/>
            <p:cNvSpPr>
              <a:spLocks noChangeArrowheads="1"/>
            </p:cNvSpPr>
            <p:nvPr/>
          </p:nvSpPr>
          <p:spPr bwMode="auto">
            <a:xfrm>
              <a:off x="285720" y="2813137"/>
              <a:ext cx="3214711" cy="461088"/>
            </a:xfrm>
            <a:prstGeom prst="rect">
              <a:avLst/>
            </a:prstGeom>
            <a:noFill/>
            <a:ln w="9525">
              <a:noFill/>
              <a:miter lim="800000"/>
              <a:headEnd/>
              <a:tailEnd/>
            </a:ln>
          </p:spPr>
          <p:txBody>
            <a:bodyPr anchor="ctr">
              <a:spAutoFit/>
            </a:bodyPr>
            <a:lstStyle/>
            <a:p>
              <a:pPr indent="200025" defTabSz="914400" eaLnBrk="0" hangingPunct="0"/>
              <a:r>
                <a:rPr lang="zh-CN" altLang="en-US" sz="2400" b="1">
                  <a:latin typeface="微软雅黑" panose="020B0503020204020204" pitchFamily="34" charset="-122"/>
                  <a:ea typeface="微软雅黑" panose="020B0503020204020204" pitchFamily="34" charset="-122"/>
                  <a:cs typeface="Times New Roman" pitchFamily="18" charset="0"/>
                </a:rPr>
                <a:t>外差探测：</a:t>
              </a:r>
            </a:p>
          </p:txBody>
        </p:sp>
        <p:sp>
          <p:nvSpPr>
            <p:cNvPr id="34893" name="矩形 43"/>
            <p:cNvSpPr>
              <a:spLocks noChangeArrowheads="1"/>
            </p:cNvSpPr>
            <p:nvPr/>
          </p:nvSpPr>
          <p:spPr bwMode="auto">
            <a:xfrm>
              <a:off x="2214547" y="2782864"/>
              <a:ext cx="6643735" cy="461088"/>
            </a:xfrm>
            <a:prstGeom prst="rect">
              <a:avLst/>
            </a:prstGeom>
            <a:noFill/>
            <a:ln w="9525">
              <a:noFill/>
              <a:miter lim="800000"/>
              <a:headEnd/>
              <a:tailEnd/>
            </a:ln>
          </p:spPr>
          <p:txBody>
            <a:bodyPr>
              <a:spAutoFit/>
            </a:bodyPr>
            <a:lstStyle/>
            <a:p>
              <a:pPr defTabSz="914400"/>
              <a:r>
                <a:rPr lang="zh-CN" altLang="en-US" sz="2400" b="1" dirty="0">
                  <a:latin typeface="微软雅黑" panose="020B0503020204020204" pitchFamily="34" charset="-122"/>
                  <a:ea typeface="微软雅黑" panose="020B0503020204020204" pitchFamily="34" charset="-122"/>
                  <a:cs typeface="Times New Roman" pitchFamily="18" charset="0"/>
                </a:rPr>
                <a:t>如果取差频宽度作为信息处理器的通频带</a:t>
              </a:r>
            </a:p>
          </p:txBody>
        </p:sp>
      </p:grpSp>
      <p:sp>
        <p:nvSpPr>
          <p:cNvPr id="34889" name="Rectangle 15"/>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8" name="矩形 47"/>
          <p:cNvSpPr>
            <a:spLocks noChangeArrowheads="1"/>
          </p:cNvSpPr>
          <p:nvPr/>
        </p:nvSpPr>
        <p:spPr bwMode="auto">
          <a:xfrm>
            <a:off x="793749" y="5549756"/>
            <a:ext cx="12077123" cy="461665"/>
          </a:xfrm>
          <a:prstGeom prst="rect">
            <a:avLst/>
          </a:prstGeom>
          <a:noFill/>
          <a:ln w="9525">
            <a:noFill/>
            <a:miter lim="800000"/>
            <a:headEnd/>
            <a:tailEnd/>
          </a:ln>
        </p:spPr>
        <p:txBody>
          <a:bodyPr wrap="square">
            <a:spAutoFit/>
          </a:bodyPr>
          <a:lstStyle/>
          <a:p>
            <a:pPr defTabSz="914400"/>
            <a:r>
              <a:rPr lang="zh-CN" altLang="en-US" sz="2400" b="1" dirty="0">
                <a:solidFill>
                  <a:srgbClr val="0000FF"/>
                </a:solidFill>
                <a:latin typeface="微软雅黑" panose="020B0503020204020204" pitchFamily="34" charset="-122"/>
                <a:ea typeface="微软雅黑" panose="020B0503020204020204" pitchFamily="34" charset="-122"/>
                <a:cs typeface="Times New Roman" pitchFamily="18" charset="0"/>
              </a:rPr>
              <a:t>例如</a:t>
            </a:r>
            <a:r>
              <a:rPr lang="zh-CN" altLang="en-US" sz="2400" b="1" dirty="0">
                <a:latin typeface="微软雅黑" panose="020B0503020204020204" pitchFamily="34" charset="-122"/>
                <a:ea typeface="微软雅黑" panose="020B0503020204020204" pitchFamily="34" charset="-122"/>
                <a:cs typeface="Times New Roman" pitchFamily="18" charset="0"/>
              </a:rPr>
              <a:t>在</a:t>
            </a:r>
            <a:r>
              <a:rPr lang="en-US" altLang="zh-CN" sz="2400" b="1" dirty="0">
                <a:latin typeface="微软雅黑" panose="020B0503020204020204" pitchFamily="34" charset="-122"/>
                <a:ea typeface="微软雅黑" panose="020B0503020204020204" pitchFamily="34" charset="-122"/>
                <a:cs typeface="Times New Roman" pitchFamily="18" charset="0"/>
              </a:rPr>
              <a:t>10.6um</a:t>
            </a:r>
            <a:r>
              <a:rPr lang="zh-CN" altLang="en-US" sz="2400" b="1" dirty="0">
                <a:latin typeface="微软雅黑" panose="020B0503020204020204" pitchFamily="34" charset="-122"/>
                <a:ea typeface="微软雅黑" panose="020B0503020204020204" pitchFamily="34" charset="-122"/>
                <a:cs typeface="Times New Roman" pitchFamily="18" charset="0"/>
              </a:rPr>
              <a:t>多普勒测速装置中，当运动目标沿光束方向的速度</a:t>
            </a:r>
            <a:r>
              <a:rPr lang="en-US" sz="2400" b="1" dirty="0">
                <a:latin typeface="微软雅黑" panose="020B0503020204020204" pitchFamily="34" charset="-122"/>
                <a:ea typeface="微软雅黑" panose="020B0503020204020204" pitchFamily="34" charset="-122"/>
                <a:cs typeface="Times New Roman" pitchFamily="18" charset="0"/>
              </a:rPr>
              <a:t> </a:t>
            </a:r>
            <a:r>
              <a:rPr lang="zh-CN" altLang="en-US" sz="2400" b="1" dirty="0">
                <a:latin typeface="微软雅黑" panose="020B0503020204020204" pitchFamily="34" charset="-122"/>
                <a:ea typeface="微软雅黑" panose="020B0503020204020204" pitchFamily="34" charset="-122"/>
                <a:cs typeface="Times New Roman" pitchFamily="18" charset="0"/>
              </a:rPr>
              <a:t>为</a:t>
            </a:r>
            <a:r>
              <a:rPr lang="en-US" altLang="zh-CN" sz="2400" b="1" dirty="0">
                <a:latin typeface="微软雅黑" panose="020B0503020204020204" pitchFamily="34" charset="-122"/>
                <a:ea typeface="微软雅黑" panose="020B0503020204020204" pitchFamily="34" charset="-122"/>
                <a:cs typeface="Times New Roman" pitchFamily="18" charset="0"/>
              </a:rPr>
              <a:t>10m/s</a:t>
            </a:r>
            <a:r>
              <a:rPr lang="zh-CN" altLang="en-US" sz="2400" b="1" dirty="0">
                <a:latin typeface="微软雅黑" panose="020B0503020204020204" pitchFamily="34" charset="-122"/>
                <a:ea typeface="微软雅黑" panose="020B0503020204020204" pitchFamily="34" charset="-122"/>
                <a:cs typeface="Times New Roman" pitchFamily="18" charset="0"/>
              </a:rPr>
              <a:t>。</a:t>
            </a:r>
          </a:p>
        </p:txBody>
      </p:sp>
      <p:sp>
        <p:nvSpPr>
          <p:cNvPr id="34891" name="Rectangle 18"/>
          <p:cNvSpPr>
            <a:spLocks noChangeArrowheads="1"/>
          </p:cNvSpPr>
          <p:nvPr/>
        </p:nvSpPr>
        <p:spPr bwMode="auto">
          <a:xfrm>
            <a:off x="365125" y="714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4"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45" name="矩形 44"/>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6" name="矩形 45">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9"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1" name="矩形 50">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5" name="对象 4">
            <a:extLst>
              <a:ext uri="{FF2B5EF4-FFF2-40B4-BE49-F238E27FC236}">
                <a16:creationId xmlns:a16="http://schemas.microsoft.com/office/drawing/2014/main" id="{140D383D-41F0-9EC1-BC95-77D649427078}"/>
              </a:ext>
            </a:extLst>
          </p:cNvPr>
          <p:cNvGraphicFramePr>
            <a:graphicFrameLocks noChangeAspect="1"/>
          </p:cNvGraphicFramePr>
          <p:nvPr>
            <p:extLst>
              <p:ext uri="{D42A27DB-BD31-4B8C-83A1-F6EECF244321}">
                <p14:modId xmlns:p14="http://schemas.microsoft.com/office/powerpoint/2010/main" val="2395715598"/>
              </p:ext>
            </p:extLst>
          </p:nvPr>
        </p:nvGraphicFramePr>
        <p:xfrm>
          <a:off x="6409002" y="3103994"/>
          <a:ext cx="3001963" cy="804863"/>
        </p:xfrm>
        <a:graphic>
          <a:graphicData uri="http://schemas.openxmlformats.org/presentationml/2006/ole">
            <mc:AlternateContent xmlns:mc="http://schemas.openxmlformats.org/markup-compatibility/2006">
              <mc:Choice xmlns:v="urn:schemas-microsoft-com:vml" Requires="v">
                <p:oleObj name="Equation" r:id="rId2" imgW="1473120" imgH="393480" progId="Equation.DSMT4">
                  <p:embed/>
                </p:oleObj>
              </mc:Choice>
              <mc:Fallback>
                <p:oleObj name="Equation" r:id="rId2" imgW="1473120" imgH="39348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3"/>
                      <a:srcRect/>
                      <a:stretch>
                        <a:fillRect/>
                      </a:stretch>
                    </p:blipFill>
                    <p:spPr bwMode="auto">
                      <a:xfrm>
                        <a:off x="6409002" y="3103994"/>
                        <a:ext cx="3001963" cy="804863"/>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056D4419-884F-8354-F9CD-9E50897E5B5A}"/>
              </a:ext>
            </a:extLst>
          </p:cNvPr>
          <p:cNvGraphicFramePr>
            <a:graphicFrameLocks noChangeAspect="1"/>
          </p:cNvGraphicFramePr>
          <p:nvPr>
            <p:extLst>
              <p:ext uri="{D42A27DB-BD31-4B8C-83A1-F6EECF244321}">
                <p14:modId xmlns:p14="http://schemas.microsoft.com/office/powerpoint/2010/main" val="1524225353"/>
              </p:ext>
            </p:extLst>
          </p:nvPr>
        </p:nvGraphicFramePr>
        <p:xfrm>
          <a:off x="3662011" y="3349326"/>
          <a:ext cx="1293812" cy="363538"/>
        </p:xfrm>
        <a:graphic>
          <a:graphicData uri="http://schemas.openxmlformats.org/presentationml/2006/ole">
            <mc:AlternateContent xmlns:mc="http://schemas.openxmlformats.org/markup-compatibility/2006">
              <mc:Choice xmlns:v="urn:schemas-microsoft-com:vml" Requires="v">
                <p:oleObj name="Equation" r:id="rId4" imgW="634680" imgH="177480" progId="Equation.DSMT4">
                  <p:embed/>
                </p:oleObj>
              </mc:Choice>
              <mc:Fallback>
                <p:oleObj name="Equation" r:id="rId4" imgW="634680" imgH="177480" progId="Equation.DSMT4">
                  <p:embed/>
                  <p:pic>
                    <p:nvPicPr>
                      <p:cNvPr id="5" name="对象 4">
                        <a:extLst>
                          <a:ext uri="{FF2B5EF4-FFF2-40B4-BE49-F238E27FC236}">
                            <a16:creationId xmlns:a16="http://schemas.microsoft.com/office/drawing/2014/main" id="{140D383D-41F0-9EC1-BC95-77D649427078}"/>
                          </a:ext>
                        </a:extLst>
                      </p:cNvPr>
                      <p:cNvPicPr>
                        <a:picLocks noChangeAspect="1" noChangeArrowheads="1"/>
                      </p:cNvPicPr>
                      <p:nvPr/>
                    </p:nvPicPr>
                    <p:blipFill>
                      <a:blip r:embed="rId5"/>
                      <a:srcRect/>
                      <a:stretch>
                        <a:fillRect/>
                      </a:stretch>
                    </p:blipFill>
                    <p:spPr bwMode="auto">
                      <a:xfrm>
                        <a:off x="3662011" y="3349326"/>
                        <a:ext cx="1293812" cy="363538"/>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2D5C9236-44C4-E5E3-2901-6446BA14AA56}"/>
              </a:ext>
            </a:extLst>
          </p:cNvPr>
          <p:cNvGraphicFramePr>
            <a:graphicFrameLocks noChangeAspect="1"/>
          </p:cNvGraphicFramePr>
          <p:nvPr>
            <p:extLst>
              <p:ext uri="{D42A27DB-BD31-4B8C-83A1-F6EECF244321}">
                <p14:modId xmlns:p14="http://schemas.microsoft.com/office/powerpoint/2010/main" val="1609567216"/>
              </p:ext>
            </p:extLst>
          </p:nvPr>
        </p:nvGraphicFramePr>
        <p:xfrm>
          <a:off x="5027945" y="3176169"/>
          <a:ext cx="1105694" cy="306228"/>
        </p:xfrm>
        <a:graphic>
          <a:graphicData uri="http://schemas.openxmlformats.org/presentationml/2006/ole">
            <mc:AlternateContent xmlns:mc="http://schemas.openxmlformats.org/markup-compatibility/2006">
              <mc:Choice xmlns:v="urn:schemas-microsoft-com:vml" Requires="v">
                <p:oleObj name="Equation" r:id="rId6" imgW="736560" imgH="203040" progId="Equation.DSMT4">
                  <p:embed/>
                </p:oleObj>
              </mc:Choice>
              <mc:Fallback>
                <p:oleObj name="Equation" r:id="rId6" imgW="736560" imgH="203040" progId="Equation.DSMT4">
                  <p:embed/>
                  <p:pic>
                    <p:nvPicPr>
                      <p:cNvPr id="6" name="对象 5">
                        <a:extLst>
                          <a:ext uri="{FF2B5EF4-FFF2-40B4-BE49-F238E27FC236}">
                            <a16:creationId xmlns:a16="http://schemas.microsoft.com/office/drawing/2014/main" id="{056D4419-884F-8354-F9CD-9E50897E5B5A}"/>
                          </a:ext>
                        </a:extLst>
                      </p:cNvPr>
                      <p:cNvPicPr>
                        <a:picLocks noChangeAspect="1" noChangeArrowheads="1"/>
                      </p:cNvPicPr>
                      <p:nvPr/>
                    </p:nvPicPr>
                    <p:blipFill>
                      <a:blip r:embed="rId7"/>
                      <a:srcRect/>
                      <a:stretch>
                        <a:fillRect/>
                      </a:stretch>
                    </p:blipFill>
                    <p:spPr bwMode="auto">
                      <a:xfrm>
                        <a:off x="5027945" y="3176169"/>
                        <a:ext cx="1105694" cy="306228"/>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4457441B-A195-885F-4D92-19DF37565757}"/>
              </a:ext>
            </a:extLst>
          </p:cNvPr>
          <p:cNvGraphicFramePr>
            <a:graphicFrameLocks noChangeAspect="1"/>
          </p:cNvGraphicFramePr>
          <p:nvPr>
            <p:extLst>
              <p:ext uri="{D42A27DB-BD31-4B8C-83A1-F6EECF244321}">
                <p14:modId xmlns:p14="http://schemas.microsoft.com/office/powerpoint/2010/main" val="796889166"/>
              </p:ext>
            </p:extLst>
          </p:nvPr>
        </p:nvGraphicFramePr>
        <p:xfrm>
          <a:off x="5070624" y="4596495"/>
          <a:ext cx="2974975" cy="804863"/>
        </p:xfrm>
        <a:graphic>
          <a:graphicData uri="http://schemas.openxmlformats.org/presentationml/2006/ole">
            <mc:AlternateContent xmlns:mc="http://schemas.openxmlformats.org/markup-compatibility/2006">
              <mc:Choice xmlns:v="urn:schemas-microsoft-com:vml" Requires="v">
                <p:oleObj name="Equation" r:id="rId8" imgW="1460160" imgH="393480" progId="Equation.DSMT4">
                  <p:embed/>
                </p:oleObj>
              </mc:Choice>
              <mc:Fallback>
                <p:oleObj name="Equation" r:id="rId8" imgW="1460160" imgH="39348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9"/>
                      <a:srcRect/>
                      <a:stretch>
                        <a:fillRect/>
                      </a:stretch>
                    </p:blipFill>
                    <p:spPr bwMode="auto">
                      <a:xfrm>
                        <a:off x="5070624" y="4596495"/>
                        <a:ext cx="2974975" cy="804863"/>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5C58B720-1DC2-C933-9413-9AD9B64CFAEB}"/>
              </a:ext>
            </a:extLst>
          </p:cNvPr>
          <p:cNvGraphicFramePr>
            <a:graphicFrameLocks noChangeAspect="1"/>
          </p:cNvGraphicFramePr>
          <p:nvPr>
            <p:extLst>
              <p:ext uri="{D42A27DB-BD31-4B8C-83A1-F6EECF244321}">
                <p14:modId xmlns:p14="http://schemas.microsoft.com/office/powerpoint/2010/main" val="1448745125"/>
              </p:ext>
            </p:extLst>
          </p:nvPr>
        </p:nvGraphicFramePr>
        <p:xfrm>
          <a:off x="5432573" y="6306751"/>
          <a:ext cx="2251075" cy="493712"/>
        </p:xfrm>
        <a:graphic>
          <a:graphicData uri="http://schemas.openxmlformats.org/presentationml/2006/ole">
            <mc:AlternateContent xmlns:mc="http://schemas.openxmlformats.org/markup-compatibility/2006">
              <mc:Choice xmlns:v="urn:schemas-microsoft-com:vml" Requires="v">
                <p:oleObj name="Equation" r:id="rId10" imgW="1104840" imgH="241200" progId="Equation.DSMT4">
                  <p:embed/>
                </p:oleObj>
              </mc:Choice>
              <mc:Fallback>
                <p:oleObj name="Equation" r:id="rId10" imgW="1104840" imgH="24120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11"/>
                      <a:srcRect/>
                      <a:stretch>
                        <a:fillRect/>
                      </a:stretch>
                    </p:blipFill>
                    <p:spPr bwMode="auto">
                      <a:xfrm>
                        <a:off x="5432573" y="6306751"/>
                        <a:ext cx="2251075" cy="493712"/>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blinds(horizontal)">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89" name="Rectangle 17"/>
          <p:cNvSpPr>
            <a:spLocks noChangeArrowheads="1"/>
          </p:cNvSpPr>
          <p:nvPr/>
        </p:nvSpPr>
        <p:spPr bwMode="auto">
          <a:xfrm>
            <a:off x="323850" y="1041400"/>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35894" name="Rectangle 11"/>
          <p:cNvSpPr>
            <a:spLocks noChangeArrowheads="1"/>
          </p:cNvSpPr>
          <p:nvPr/>
        </p:nvSpPr>
        <p:spPr bwMode="auto">
          <a:xfrm>
            <a:off x="323850" y="13906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5897" name="Rectangle 11"/>
          <p:cNvSpPr>
            <a:spLocks noChangeArrowheads="1"/>
          </p:cNvSpPr>
          <p:nvPr/>
        </p:nvSpPr>
        <p:spPr bwMode="auto">
          <a:xfrm>
            <a:off x="323850" y="13620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5899" name="Rectangle 11"/>
          <p:cNvSpPr>
            <a:spLocks noChangeArrowheads="1"/>
          </p:cNvSpPr>
          <p:nvPr/>
        </p:nvSpPr>
        <p:spPr bwMode="auto">
          <a:xfrm>
            <a:off x="1009239" y="1245646"/>
            <a:ext cx="3214688" cy="584775"/>
          </a:xfrm>
          <a:prstGeom prst="rect">
            <a:avLst/>
          </a:prstGeom>
          <a:noFill/>
          <a:ln w="9525">
            <a:noFill/>
            <a:miter lim="800000"/>
            <a:headEnd/>
            <a:tailEnd/>
          </a:ln>
        </p:spPr>
        <p:txBody>
          <a:bodyPr anchor="ctr">
            <a:spAutoFit/>
          </a:bodyPr>
          <a:lstStyle/>
          <a:p>
            <a:pPr indent="200025" defTabSz="914400" eaLnBrk="0" hangingPunct="0"/>
            <a:r>
              <a:rPr lang="zh-CN" altLang="en-US" sz="32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3200" b="1" dirty="0">
                <a:solidFill>
                  <a:srgbClr val="FF0000"/>
                </a:solidFill>
                <a:latin typeface="微软雅黑" panose="020B0503020204020204" pitchFamily="34" charset="-122"/>
                <a:ea typeface="微软雅黑" panose="020B0503020204020204" pitchFamily="34" charset="-122"/>
                <a:cs typeface="Times New Roman" pitchFamily="18" charset="0"/>
              </a:rPr>
              <a:t>3</a:t>
            </a:r>
            <a:r>
              <a:rPr lang="zh-CN" altLang="en-US" sz="3200" b="1" dirty="0">
                <a:solidFill>
                  <a:srgbClr val="FF0000"/>
                </a:solidFill>
                <a:latin typeface="微软雅黑" panose="020B0503020204020204" pitchFamily="34" charset="-122"/>
                <a:ea typeface="微软雅黑" panose="020B0503020204020204" pitchFamily="34" charset="-122"/>
                <a:cs typeface="Times New Roman" pitchFamily="18" charset="0"/>
              </a:rPr>
              <a:t>）信噪比高</a:t>
            </a:r>
          </a:p>
        </p:txBody>
      </p:sp>
      <p:sp>
        <p:nvSpPr>
          <p:cNvPr id="25" name="Rectangle 11"/>
          <p:cNvSpPr>
            <a:spLocks noChangeArrowheads="1"/>
          </p:cNvSpPr>
          <p:nvPr/>
        </p:nvSpPr>
        <p:spPr bwMode="auto">
          <a:xfrm>
            <a:off x="831273" y="1843886"/>
            <a:ext cx="11956471" cy="1135054"/>
          </a:xfrm>
          <a:prstGeom prst="rect">
            <a:avLst/>
          </a:prstGeom>
          <a:noFill/>
          <a:ln w="9525">
            <a:noFill/>
            <a:miter lim="800000"/>
            <a:headEnd/>
            <a:tailEnd/>
          </a:ln>
        </p:spPr>
        <p:txBody>
          <a:bodyPr wrap="square" anchor="ctr">
            <a:spAutoFit/>
          </a:bodyPr>
          <a:lstStyle/>
          <a:p>
            <a:pPr defTabSz="914400">
              <a:lnSpc>
                <a:spcPct val="150000"/>
              </a:lnSpc>
            </a:pPr>
            <a:r>
              <a:rPr lang="zh-CN" altLang="en-US" sz="2400" b="1" dirty="0">
                <a:latin typeface="微软雅黑" panose="020B0503020204020204" pitchFamily="34" charset="-122"/>
                <a:ea typeface="微软雅黑" panose="020B0503020204020204" pitchFamily="34" charset="-122"/>
              </a:rPr>
              <a:t>      在光频外差探测情况下，本振功率的引入将使</a:t>
            </a:r>
            <a:r>
              <a:rPr lang="zh-CN" altLang="en-US" sz="2400" b="1" dirty="0">
                <a:solidFill>
                  <a:srgbClr val="0000FF"/>
                </a:solidFill>
                <a:latin typeface="微软雅黑" panose="020B0503020204020204" pitchFamily="34" charset="-122"/>
                <a:ea typeface="微软雅黑" panose="020B0503020204020204" pitchFamily="34" charset="-122"/>
              </a:rPr>
              <a:t>本振散粒噪声</a:t>
            </a:r>
            <a:r>
              <a:rPr lang="zh-CN" altLang="en-US" sz="2400" b="1" dirty="0">
                <a:latin typeface="微软雅黑" panose="020B0503020204020204" pitchFamily="34" charset="-122"/>
                <a:ea typeface="微软雅黑" panose="020B0503020204020204" pitchFamily="34" charset="-122"/>
              </a:rPr>
              <a:t>大大超过热噪声及其它散粒噪声。</a:t>
            </a:r>
            <a:endParaRPr lang="zh-CN" altLang="en-US" sz="2400" b="1" dirty="0">
              <a:latin typeface="微软雅黑" panose="020B0503020204020204" pitchFamily="34" charset="-122"/>
              <a:ea typeface="微软雅黑" panose="020B0503020204020204" pitchFamily="34" charset="-122"/>
              <a:cs typeface="Times New Roman" pitchFamily="18" charset="0"/>
            </a:endParaRPr>
          </a:p>
        </p:txBody>
      </p:sp>
      <p:sp>
        <p:nvSpPr>
          <p:cNvPr id="35909" name="Rectangle 10"/>
          <p:cNvSpPr>
            <a:spLocks noChangeArrowheads="1"/>
          </p:cNvSpPr>
          <p:nvPr/>
        </p:nvSpPr>
        <p:spPr bwMode="auto">
          <a:xfrm>
            <a:off x="323850" y="13620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1" name="矩形 40"/>
          <p:cNvSpPr>
            <a:spLocks noChangeArrowheads="1"/>
          </p:cNvSpPr>
          <p:nvPr/>
        </p:nvSpPr>
        <p:spPr bwMode="auto">
          <a:xfrm>
            <a:off x="895350" y="5721350"/>
            <a:ext cx="11961668" cy="581057"/>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微软雅黑" panose="020B0503020204020204" pitchFamily="34" charset="-122"/>
                <a:ea typeface="微软雅黑" panose="020B0503020204020204" pitchFamily="34" charset="-122"/>
              </a:rPr>
              <a:t>     在滤波器带宽相同的情况下，光频外差探测的噪声等效功率为直接探测的一半。</a:t>
            </a:r>
          </a:p>
        </p:txBody>
      </p:sp>
      <p:sp>
        <p:nvSpPr>
          <p:cNvPr id="35914" name="Rectangle 8"/>
          <p:cNvSpPr>
            <a:spLocks noChangeArrowheads="1"/>
          </p:cNvSpPr>
          <p:nvPr/>
        </p:nvSpPr>
        <p:spPr bwMode="auto">
          <a:xfrm>
            <a:off x="323850" y="13620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0" name="右箭头 39"/>
          <p:cNvSpPr/>
          <p:nvPr/>
        </p:nvSpPr>
        <p:spPr>
          <a:xfrm>
            <a:off x="5546581" y="3472584"/>
            <a:ext cx="1357312" cy="28575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43" name="矩形 42"/>
          <p:cNvSpPr>
            <a:spLocks noChangeArrowheads="1"/>
          </p:cNvSpPr>
          <p:nvPr/>
        </p:nvSpPr>
        <p:spPr bwMode="auto">
          <a:xfrm>
            <a:off x="2260456" y="4329834"/>
            <a:ext cx="5500687" cy="461665"/>
          </a:xfrm>
          <a:prstGeom prst="rect">
            <a:avLst/>
          </a:prstGeom>
          <a:noFill/>
          <a:ln w="9525">
            <a:noFill/>
            <a:miter lim="800000"/>
            <a:headEnd/>
            <a:tailEnd/>
          </a:ln>
        </p:spPr>
        <p:txBody>
          <a:bodyPr>
            <a:spAutoFit/>
          </a:bodyPr>
          <a:lstStyle/>
          <a:p>
            <a:pPr defTabSz="914400"/>
            <a:r>
              <a:rPr lang="zh-CN" altLang="en-US" sz="2400" b="1">
                <a:latin typeface="微软雅黑" panose="020B0503020204020204" pitchFamily="34" charset="-122"/>
                <a:ea typeface="微软雅黑" panose="020B0503020204020204" pitchFamily="34" charset="-122"/>
              </a:rPr>
              <a:t>光频外差探测的极限灵敏度为</a:t>
            </a:r>
          </a:p>
        </p:txBody>
      </p:sp>
      <p:sp>
        <p:nvSpPr>
          <p:cNvPr id="35918" name="Rectangle 11"/>
          <p:cNvSpPr>
            <a:spLocks noChangeArrowheads="1"/>
          </p:cNvSpPr>
          <p:nvPr/>
        </p:nvSpPr>
        <p:spPr bwMode="auto">
          <a:xfrm>
            <a:off x="323850" y="13525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5" name="右弧形箭头 44"/>
          <p:cNvSpPr/>
          <p:nvPr/>
        </p:nvSpPr>
        <p:spPr>
          <a:xfrm>
            <a:off x="9761393" y="3401147"/>
            <a:ext cx="642938" cy="12858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solidFill>
                <a:schemeClr val="tx1"/>
              </a:solidFill>
            </a:endParaRPr>
          </a:p>
        </p:txBody>
      </p:sp>
      <p:graphicFrame>
        <p:nvGraphicFramePr>
          <p:cNvPr id="181258" name="Object 10"/>
          <p:cNvGraphicFramePr>
            <a:graphicFrameLocks noChangeAspect="1"/>
          </p:cNvGraphicFramePr>
          <p:nvPr/>
        </p:nvGraphicFramePr>
        <p:xfrm>
          <a:off x="7261081" y="5044209"/>
          <a:ext cx="2000250" cy="846138"/>
        </p:xfrm>
        <a:graphic>
          <a:graphicData uri="http://schemas.openxmlformats.org/presentationml/2006/ole">
            <mc:AlternateContent xmlns:mc="http://schemas.openxmlformats.org/markup-compatibility/2006">
              <mc:Choice xmlns:v="urn:schemas-microsoft-com:vml" Requires="v">
                <p:oleObj spid="_x0000_s35890" name="公式" r:id="rId2" imgW="990600" imgH="419100" progId="Equation.3">
                  <p:embed/>
                </p:oleObj>
              </mc:Choice>
              <mc:Fallback>
                <p:oleObj name="公式" r:id="rId2" imgW="990600" imgH="419100" progId="Equation.3">
                  <p:embed/>
                  <p:pic>
                    <p:nvPicPr>
                      <p:cNvPr id="0"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1081" y="5044209"/>
                        <a:ext cx="2000250" cy="846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矩形 46"/>
          <p:cNvSpPr>
            <a:spLocks noChangeArrowheads="1"/>
          </p:cNvSpPr>
          <p:nvPr/>
        </p:nvSpPr>
        <p:spPr bwMode="auto">
          <a:xfrm>
            <a:off x="2974831" y="5091834"/>
            <a:ext cx="5500687" cy="461665"/>
          </a:xfrm>
          <a:prstGeom prst="rect">
            <a:avLst/>
          </a:prstGeom>
          <a:noFill/>
          <a:ln w="9525">
            <a:noFill/>
            <a:miter lim="800000"/>
            <a:headEnd/>
            <a:tailEnd/>
          </a:ln>
        </p:spPr>
        <p:txBody>
          <a:bodyPr>
            <a:spAutoFit/>
          </a:bodyPr>
          <a:lstStyle/>
          <a:p>
            <a:pPr defTabSz="914400"/>
            <a:r>
              <a:rPr lang="zh-CN" altLang="en-US" sz="2400" b="1">
                <a:latin typeface="微软雅黑" panose="020B0503020204020204" pitchFamily="34" charset="-122"/>
                <a:ea typeface="微软雅黑" panose="020B0503020204020204" pitchFamily="34" charset="-122"/>
              </a:rPr>
              <a:t>直接探测的极限灵敏度为</a:t>
            </a:r>
          </a:p>
        </p:txBody>
      </p:sp>
      <p:sp>
        <p:nvSpPr>
          <p:cNvPr id="42"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46" name="矩形 45"/>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8" name="矩形 47">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0"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2" name="矩形 51">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2" name="对象 1">
            <a:extLst>
              <a:ext uri="{FF2B5EF4-FFF2-40B4-BE49-F238E27FC236}">
                <a16:creationId xmlns:a16="http://schemas.microsoft.com/office/drawing/2014/main" id="{801980FC-8C54-B625-5231-6FF06AF4F77A}"/>
              </a:ext>
            </a:extLst>
          </p:cNvPr>
          <p:cNvGraphicFramePr>
            <a:graphicFrameLocks noChangeAspect="1"/>
          </p:cNvGraphicFramePr>
          <p:nvPr>
            <p:extLst>
              <p:ext uri="{D42A27DB-BD31-4B8C-83A1-F6EECF244321}">
                <p14:modId xmlns:p14="http://schemas.microsoft.com/office/powerpoint/2010/main" val="3607319741"/>
              </p:ext>
            </p:extLst>
          </p:nvPr>
        </p:nvGraphicFramePr>
        <p:xfrm>
          <a:off x="2536902" y="3383721"/>
          <a:ext cx="2616200" cy="493712"/>
        </p:xfrm>
        <a:graphic>
          <a:graphicData uri="http://schemas.openxmlformats.org/presentationml/2006/ole">
            <mc:AlternateContent xmlns:mc="http://schemas.openxmlformats.org/markup-compatibility/2006">
              <mc:Choice xmlns:v="urn:schemas-microsoft-com:vml" Requires="v">
                <p:oleObj name="Equation" r:id="rId4" imgW="1282680" imgH="241200" progId="Equation.DSMT4">
                  <p:embed/>
                </p:oleObj>
              </mc:Choice>
              <mc:Fallback>
                <p:oleObj name="Equation" r:id="rId4" imgW="1282680" imgH="241200" progId="Equation.DSMT4">
                  <p:embed/>
                  <p:pic>
                    <p:nvPicPr>
                      <p:cNvPr id="20" name="对象 19">
                        <a:extLst>
                          <a:ext uri="{FF2B5EF4-FFF2-40B4-BE49-F238E27FC236}">
                            <a16:creationId xmlns:a16="http://schemas.microsoft.com/office/drawing/2014/main" id="{F9F56EDD-AE4B-826B-DD7C-9486A7D96BDB}"/>
                          </a:ext>
                        </a:extLst>
                      </p:cNvPr>
                      <p:cNvPicPr>
                        <a:picLocks noChangeAspect="1" noChangeArrowheads="1"/>
                      </p:cNvPicPr>
                      <p:nvPr/>
                    </p:nvPicPr>
                    <p:blipFill>
                      <a:blip r:embed="rId5"/>
                      <a:srcRect/>
                      <a:stretch>
                        <a:fillRect/>
                      </a:stretch>
                    </p:blipFill>
                    <p:spPr bwMode="auto">
                      <a:xfrm>
                        <a:off x="2536902" y="3383721"/>
                        <a:ext cx="2616200" cy="493712"/>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4107B97F-F778-09BE-B180-AAFA25719A44}"/>
              </a:ext>
            </a:extLst>
          </p:cNvPr>
          <p:cNvGraphicFramePr>
            <a:graphicFrameLocks noChangeAspect="1"/>
          </p:cNvGraphicFramePr>
          <p:nvPr>
            <p:extLst>
              <p:ext uri="{D42A27DB-BD31-4B8C-83A1-F6EECF244321}">
                <p14:modId xmlns:p14="http://schemas.microsoft.com/office/powerpoint/2010/main" val="1115865529"/>
              </p:ext>
            </p:extLst>
          </p:nvPr>
        </p:nvGraphicFramePr>
        <p:xfrm>
          <a:off x="6998349" y="3173340"/>
          <a:ext cx="2668587" cy="884238"/>
        </p:xfrm>
        <a:graphic>
          <a:graphicData uri="http://schemas.openxmlformats.org/presentationml/2006/ole">
            <mc:AlternateContent xmlns:mc="http://schemas.openxmlformats.org/markup-compatibility/2006">
              <mc:Choice xmlns:v="urn:schemas-microsoft-com:vml" Requires="v">
                <p:oleObj name="Equation" r:id="rId6" imgW="1307880" imgH="431640" progId="Equation.DSMT4">
                  <p:embed/>
                </p:oleObj>
              </mc:Choice>
              <mc:Fallback>
                <p:oleObj name="Equation" r:id="rId6" imgW="1307880" imgH="431640" progId="Equation.DSMT4">
                  <p:embed/>
                  <p:pic>
                    <p:nvPicPr>
                      <p:cNvPr id="26" name="对象 25">
                        <a:extLst>
                          <a:ext uri="{FF2B5EF4-FFF2-40B4-BE49-F238E27FC236}">
                            <a16:creationId xmlns:a16="http://schemas.microsoft.com/office/drawing/2014/main" id="{DFD5BA41-4274-C4BA-A281-DD39997ECFF2}"/>
                          </a:ext>
                        </a:extLst>
                      </p:cNvPr>
                      <p:cNvPicPr>
                        <a:picLocks noChangeAspect="1" noChangeArrowheads="1"/>
                      </p:cNvPicPr>
                      <p:nvPr/>
                    </p:nvPicPr>
                    <p:blipFill>
                      <a:blip r:embed="rId7"/>
                      <a:srcRect/>
                      <a:stretch>
                        <a:fillRect/>
                      </a:stretch>
                    </p:blipFill>
                    <p:spPr bwMode="auto">
                      <a:xfrm>
                        <a:off x="6998349" y="3173340"/>
                        <a:ext cx="2668587" cy="884238"/>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5F096A3B-A36F-621D-9B79-E3A1C9BDDBC7}"/>
              </a:ext>
            </a:extLst>
          </p:cNvPr>
          <p:cNvGraphicFramePr>
            <a:graphicFrameLocks noChangeAspect="1"/>
          </p:cNvGraphicFramePr>
          <p:nvPr>
            <p:extLst>
              <p:ext uri="{D42A27DB-BD31-4B8C-83A1-F6EECF244321}">
                <p14:modId xmlns:p14="http://schemas.microsoft.com/office/powerpoint/2010/main" val="3307276584"/>
              </p:ext>
            </p:extLst>
          </p:nvPr>
        </p:nvGraphicFramePr>
        <p:xfrm>
          <a:off x="7261081" y="4193895"/>
          <a:ext cx="2332037" cy="857250"/>
        </p:xfrm>
        <a:graphic>
          <a:graphicData uri="http://schemas.openxmlformats.org/presentationml/2006/ole">
            <mc:AlternateContent xmlns:mc="http://schemas.openxmlformats.org/markup-compatibility/2006">
              <mc:Choice xmlns:v="urn:schemas-microsoft-com:vml" Requires="v">
                <p:oleObj name="Equation" r:id="rId8" imgW="1143000" imgH="419040" progId="Equation.DSMT4">
                  <p:embed/>
                </p:oleObj>
              </mc:Choice>
              <mc:Fallback>
                <p:oleObj name="Equation" r:id="rId8" imgW="1143000" imgH="419040" progId="Equation.DSMT4">
                  <p:embed/>
                  <p:pic>
                    <p:nvPicPr>
                      <p:cNvPr id="24" name="对象 23">
                        <a:extLst>
                          <a:ext uri="{FF2B5EF4-FFF2-40B4-BE49-F238E27FC236}">
                            <a16:creationId xmlns:a16="http://schemas.microsoft.com/office/drawing/2014/main" id="{60955F28-EDA7-B58B-758B-79D5AEF79213}"/>
                          </a:ext>
                        </a:extLst>
                      </p:cNvPr>
                      <p:cNvPicPr>
                        <a:picLocks noChangeAspect="1" noChangeArrowheads="1"/>
                      </p:cNvPicPr>
                      <p:nvPr/>
                    </p:nvPicPr>
                    <p:blipFill>
                      <a:blip r:embed="rId9"/>
                      <a:srcRect/>
                      <a:stretch>
                        <a:fillRect/>
                      </a:stretch>
                    </p:blipFill>
                    <p:spPr bwMode="auto">
                      <a:xfrm>
                        <a:off x="7261081" y="4193895"/>
                        <a:ext cx="2332037" cy="857250"/>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BE7A8B44-7CB3-89DF-E24E-31DA8172143A}"/>
              </a:ext>
            </a:extLst>
          </p:cNvPr>
          <p:cNvGraphicFramePr>
            <a:graphicFrameLocks noChangeAspect="1"/>
          </p:cNvGraphicFramePr>
          <p:nvPr>
            <p:extLst>
              <p:ext uri="{D42A27DB-BD31-4B8C-83A1-F6EECF244321}">
                <p14:modId xmlns:p14="http://schemas.microsoft.com/office/powerpoint/2010/main" val="1119501761"/>
              </p:ext>
            </p:extLst>
          </p:nvPr>
        </p:nvGraphicFramePr>
        <p:xfrm>
          <a:off x="9550400" y="5016500"/>
          <a:ext cx="2176463" cy="858838"/>
        </p:xfrm>
        <a:graphic>
          <a:graphicData uri="http://schemas.openxmlformats.org/presentationml/2006/ole">
            <mc:AlternateContent xmlns:mc="http://schemas.openxmlformats.org/markup-compatibility/2006">
              <mc:Choice xmlns:v="urn:schemas-microsoft-com:vml" Requires="v">
                <p:oleObj name="Equation" r:id="rId10" imgW="1066680" imgH="419040" progId="Equation.DSMT4">
                  <p:embed/>
                </p:oleObj>
              </mc:Choice>
              <mc:Fallback>
                <p:oleObj name="Equation" r:id="rId10" imgW="1066680" imgH="419040" progId="Equation.DSMT4">
                  <p:embed/>
                  <p:pic>
                    <p:nvPicPr>
                      <p:cNvPr id="20" name="对象 19">
                        <a:extLst>
                          <a:ext uri="{FF2B5EF4-FFF2-40B4-BE49-F238E27FC236}">
                            <a16:creationId xmlns:a16="http://schemas.microsoft.com/office/drawing/2014/main" id="{F9F56EDD-AE4B-826B-DD7C-9486A7D96BDB}"/>
                          </a:ext>
                        </a:extLst>
                      </p:cNvPr>
                      <p:cNvPicPr>
                        <a:picLocks noChangeAspect="1" noChangeArrowheads="1"/>
                      </p:cNvPicPr>
                      <p:nvPr/>
                    </p:nvPicPr>
                    <p:blipFill>
                      <a:blip r:embed="rId11"/>
                      <a:srcRect/>
                      <a:stretch>
                        <a:fillRect/>
                      </a:stretch>
                    </p:blipFill>
                    <p:spPr bwMode="auto">
                      <a:xfrm>
                        <a:off x="9550400" y="5016500"/>
                        <a:ext cx="2176463" cy="858838"/>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linds(horizont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blinds(horizontal)">
                                      <p:cBhvr>
                                        <p:cTn id="17" dur="500"/>
                                        <p:tgtEl>
                                          <p:spTgt spid="4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blinds(horizontal)">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blinds(horizontal)">
                                      <p:cBhvr>
                                        <p:cTn id="25" dur="500"/>
                                        <p:tgtEl>
                                          <p:spTgt spid="47"/>
                                        </p:tgtEl>
                                      </p:cBhvr>
                                    </p:animEffect>
                                  </p:childTnLst>
                                </p:cTn>
                              </p:par>
                              <p:par>
                                <p:cTn id="26" presetID="3" presetClass="entr" presetSubtype="10" fill="hold" nodeType="withEffect">
                                  <p:stCondLst>
                                    <p:cond delay="0"/>
                                  </p:stCondLst>
                                  <p:childTnLst>
                                    <p:set>
                                      <p:cBhvr>
                                        <p:cTn id="27" dur="1" fill="hold">
                                          <p:stCondLst>
                                            <p:cond delay="0"/>
                                          </p:stCondLst>
                                        </p:cTn>
                                        <p:tgtEl>
                                          <p:spTgt spid="181258"/>
                                        </p:tgtEl>
                                        <p:attrNameLst>
                                          <p:attrName>style.visibility</p:attrName>
                                        </p:attrNameLst>
                                      </p:cBhvr>
                                      <p:to>
                                        <p:strVal val="visible"/>
                                      </p:to>
                                    </p:set>
                                    <p:animEffect transition="in" filter="blinds(horizontal)">
                                      <p:cBhvr>
                                        <p:cTn id="28" dur="500"/>
                                        <p:tgtEl>
                                          <p:spTgt spid="181258"/>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box(in)">
                                      <p:cBhvr>
                                        <p:cTn id="3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P spid="41" grpId="0"/>
      <p:bldP spid="40" grpId="0" animBg="1"/>
      <p:bldP spid="43" grpId="0"/>
      <p:bldP spid="45" grpId="0" animBg="1"/>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1" name="Rectangle 17"/>
          <p:cNvSpPr>
            <a:spLocks noChangeArrowheads="1"/>
          </p:cNvSpPr>
          <p:nvPr/>
        </p:nvSpPr>
        <p:spPr bwMode="auto">
          <a:xfrm>
            <a:off x="268288" y="1096963"/>
            <a:ext cx="247650" cy="244475"/>
          </a:xfrm>
          <a:prstGeom prst="rect">
            <a:avLst/>
          </a:prstGeom>
          <a:noFill/>
          <a:ln w="9525">
            <a:noFill/>
            <a:miter lim="800000"/>
            <a:headEnd/>
            <a:tailEnd/>
          </a:ln>
        </p:spPr>
        <p:txBody>
          <a:bodyPr wrap="none" anchor="ctr">
            <a:spAutoFit/>
          </a:bodyPr>
          <a:lstStyle/>
          <a:p>
            <a:pPr defTabSz="914400" eaLnBrk="0" hangingPunct="0"/>
            <a:r>
              <a:rPr lang="zh-CN" altLang="zh-CN" sz="1000" b="1">
                <a:latin typeface="楷体_GB2312" pitchFamily="49" charset="-122"/>
                <a:ea typeface="楷体_GB2312" pitchFamily="49" charset="-122"/>
              </a:rPr>
              <a:t> </a:t>
            </a:r>
            <a:endParaRPr lang="zh-CN" altLang="zh-CN" sz="2800" b="1">
              <a:latin typeface="楷体_GB2312" pitchFamily="49" charset="-122"/>
              <a:ea typeface="楷体_GB2312" pitchFamily="49" charset="-122"/>
            </a:endParaRPr>
          </a:p>
        </p:txBody>
      </p:sp>
      <p:sp>
        <p:nvSpPr>
          <p:cNvPr id="36872" name="Rectangle 19"/>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3" name="Rectangle 6"/>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4" name="Rectangle 8"/>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5" name="Rectangle 10"/>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6" name="Rectangle 11"/>
          <p:cNvSpPr>
            <a:spLocks noChangeArrowheads="1"/>
          </p:cNvSpPr>
          <p:nvPr/>
        </p:nvSpPr>
        <p:spPr bwMode="auto">
          <a:xfrm>
            <a:off x="268288" y="14462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7" name="Rectangle 7"/>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8" name="Rectangle 10"/>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79" name="Rectangle 11"/>
          <p:cNvSpPr>
            <a:spLocks noChangeArrowheads="1"/>
          </p:cNvSpPr>
          <p:nvPr/>
        </p:nvSpPr>
        <p:spPr bwMode="auto">
          <a:xfrm>
            <a:off x="268288" y="14176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0" name="Rectangle 13"/>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1" name="Rectangle 11"/>
          <p:cNvSpPr>
            <a:spLocks noChangeArrowheads="1"/>
          </p:cNvSpPr>
          <p:nvPr/>
        </p:nvSpPr>
        <p:spPr bwMode="auto">
          <a:xfrm>
            <a:off x="785236" y="1214452"/>
            <a:ext cx="6215062" cy="519112"/>
          </a:xfrm>
          <a:prstGeom prst="rect">
            <a:avLst/>
          </a:prstGeom>
          <a:noFill/>
          <a:ln w="9525">
            <a:noFill/>
            <a:miter lim="800000"/>
            <a:headEnd/>
            <a:tailEnd/>
          </a:ln>
        </p:spPr>
        <p:txBody>
          <a:bodyPr anchor="ctr">
            <a:spAutoFit/>
          </a:bodyPr>
          <a:lstStyle/>
          <a:p>
            <a:pPr indent="200025" defTabSz="914400" eaLnBrk="0" hangingPunct="0"/>
            <a:r>
              <a:rPr lang="zh-CN" altLang="en-US" sz="28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2800" b="1" dirty="0">
                <a:solidFill>
                  <a:srgbClr val="FF0000"/>
                </a:solidFill>
                <a:latin typeface="微软雅黑" panose="020B0503020204020204" pitchFamily="34" charset="-122"/>
                <a:ea typeface="微软雅黑" panose="020B0503020204020204" pitchFamily="34" charset="-122"/>
                <a:cs typeface="Times New Roman" pitchFamily="18" charset="0"/>
              </a:rPr>
              <a:t>4</a:t>
            </a:r>
            <a:r>
              <a:rPr lang="zh-CN" altLang="en-US" sz="2800" b="1" dirty="0">
                <a:solidFill>
                  <a:srgbClr val="FF0000"/>
                </a:solidFill>
                <a:latin typeface="微软雅黑" panose="020B0503020204020204" pitchFamily="34" charset="-122"/>
                <a:ea typeface="微软雅黑" panose="020B0503020204020204" pitchFamily="34" charset="-122"/>
                <a:cs typeface="Times New Roman" pitchFamily="18" charset="0"/>
              </a:rPr>
              <a:t>）良好的空间和偏振鉴别能力</a:t>
            </a:r>
          </a:p>
        </p:txBody>
      </p:sp>
      <p:sp>
        <p:nvSpPr>
          <p:cNvPr id="36882" name="Rectangle 8"/>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3" name="Rectangle 11"/>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5" name="Rectangle 11"/>
          <p:cNvSpPr>
            <a:spLocks noChangeArrowheads="1"/>
          </p:cNvSpPr>
          <p:nvPr/>
        </p:nvSpPr>
        <p:spPr bwMode="auto">
          <a:xfrm>
            <a:off x="554037" y="1804938"/>
            <a:ext cx="12261417" cy="2308324"/>
          </a:xfrm>
          <a:prstGeom prst="rect">
            <a:avLst/>
          </a:prstGeom>
          <a:noFill/>
          <a:ln w="9525">
            <a:noFill/>
            <a:miter lim="800000"/>
            <a:headEnd/>
            <a:tailEnd/>
          </a:ln>
        </p:spPr>
        <p:txBody>
          <a:bodyPr wrap="square" anchor="ctr">
            <a:spAutoFit/>
          </a:bodyPr>
          <a:lstStyle/>
          <a:p>
            <a:pPr defTabSz="914400">
              <a:lnSpc>
                <a:spcPct val="150000"/>
              </a:lnSpc>
            </a:pPr>
            <a:r>
              <a:rPr lang="zh-CN" altLang="en-US" sz="2400" b="1" dirty="0">
                <a:latin typeface="楷体_GB2312" pitchFamily="49" charset="-122"/>
                <a:ea typeface="楷体_GB2312" pitchFamily="49" charset="-122"/>
              </a:rPr>
              <a:t>      在光频外差探测中，信号光和本振光必须沿同一方向射向光电探测器，而且要保持相同的偏振方向。而背景光入射方向时杂乱的，偏振方向不确定，不能满足空间对准要求，不能形成有效的相干信号。这就意味着光频外差探测装置本身具备了对探测光入射方向和偏振方向的高度鉴别能力。</a:t>
            </a:r>
          </a:p>
        </p:txBody>
      </p:sp>
      <p:sp>
        <p:nvSpPr>
          <p:cNvPr id="36885" name="Rectangle 5"/>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6" name="Rectangle 7"/>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7" name="Rectangle 9"/>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8" name="Rectangle 12"/>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89" name="Rectangle 7"/>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90" name="Rectangle 9"/>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91" name="Rectangle 10"/>
          <p:cNvSpPr>
            <a:spLocks noChangeArrowheads="1"/>
          </p:cNvSpPr>
          <p:nvPr/>
        </p:nvSpPr>
        <p:spPr bwMode="auto">
          <a:xfrm>
            <a:off x="268288" y="14176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1" name="矩形 40"/>
          <p:cNvSpPr>
            <a:spLocks noChangeArrowheads="1"/>
          </p:cNvSpPr>
          <p:nvPr/>
        </p:nvSpPr>
        <p:spPr bwMode="auto">
          <a:xfrm>
            <a:off x="853643" y="5150861"/>
            <a:ext cx="11753994" cy="1754326"/>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楷体_GB2312" pitchFamily="49" charset="-122"/>
                <a:ea typeface="楷体_GB2312" pitchFamily="49" charset="-122"/>
              </a:rPr>
              <a:t>      相干信号通常是交变的射频或中频信号，并且多采用频率或相位调制，即使被测参量为零，载波信号仍保持稳定的幅度。对于这种交流测量系统，系统的直流分量漂移和光信号幅度涨落不会直接影响其检测性能，系统能稳定可靠地工作。</a:t>
            </a:r>
          </a:p>
        </p:txBody>
      </p:sp>
      <p:sp>
        <p:nvSpPr>
          <p:cNvPr id="36893" name="Rectangle 5"/>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94" name="Rectangle 7"/>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95" name="Rectangle 8"/>
          <p:cNvSpPr>
            <a:spLocks noChangeArrowheads="1"/>
          </p:cNvSpPr>
          <p:nvPr/>
        </p:nvSpPr>
        <p:spPr bwMode="auto">
          <a:xfrm>
            <a:off x="268288" y="14176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6896" name="Rectangle 10"/>
          <p:cNvSpPr>
            <a:spLocks noChangeArrowheads="1"/>
          </p:cNvSpPr>
          <p:nvPr/>
        </p:nvSpPr>
        <p:spPr bwMode="auto">
          <a:xfrm>
            <a:off x="268288" y="5318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44" name="Rectangle 11"/>
          <p:cNvSpPr>
            <a:spLocks noChangeArrowheads="1"/>
          </p:cNvSpPr>
          <p:nvPr/>
        </p:nvSpPr>
        <p:spPr bwMode="auto">
          <a:xfrm>
            <a:off x="1058000" y="4495658"/>
            <a:ext cx="6215062" cy="519112"/>
          </a:xfrm>
          <a:prstGeom prst="rect">
            <a:avLst/>
          </a:prstGeom>
          <a:noFill/>
          <a:ln w="9525">
            <a:noFill/>
            <a:miter lim="800000"/>
            <a:headEnd/>
            <a:tailEnd/>
          </a:ln>
        </p:spPr>
        <p:txBody>
          <a:bodyPr anchor="ctr">
            <a:spAutoFit/>
          </a:bodyPr>
          <a:lstStyle/>
          <a:p>
            <a:pPr indent="200025" defTabSz="914400" eaLnBrk="0" hangingPunct="0"/>
            <a:r>
              <a:rPr lang="zh-CN" altLang="en-US" sz="28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2800" b="1" dirty="0">
                <a:solidFill>
                  <a:srgbClr val="FF0000"/>
                </a:solidFill>
                <a:latin typeface="微软雅黑" panose="020B0503020204020204" pitchFamily="34" charset="-122"/>
                <a:ea typeface="微软雅黑" panose="020B0503020204020204" pitchFamily="34" charset="-122"/>
                <a:cs typeface="Times New Roman" pitchFamily="18" charset="0"/>
              </a:rPr>
              <a:t>5</a:t>
            </a:r>
            <a:r>
              <a:rPr lang="zh-CN" altLang="en-US" sz="2800" b="1" dirty="0">
                <a:solidFill>
                  <a:srgbClr val="FF0000"/>
                </a:solidFill>
                <a:latin typeface="微软雅黑" panose="020B0503020204020204" pitchFamily="34" charset="-122"/>
                <a:ea typeface="微软雅黑" panose="020B0503020204020204" pitchFamily="34" charset="-122"/>
                <a:cs typeface="Times New Roman" pitchFamily="18" charset="0"/>
              </a:rPr>
              <a:t>）稳定性和可靠性高</a:t>
            </a:r>
          </a:p>
        </p:txBody>
      </p:sp>
      <p:sp>
        <p:nvSpPr>
          <p:cNvPr id="36"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外差探测</a:t>
            </a:r>
          </a:p>
        </p:txBody>
      </p:sp>
      <p:sp>
        <p:nvSpPr>
          <p:cNvPr id="37" name="矩形 36"/>
          <p:cNvSpPr/>
          <p:nvPr/>
        </p:nvSpPr>
        <p:spPr>
          <a:xfrm>
            <a:off x="10256520" y="329189"/>
            <a:ext cx="121108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8" name="矩形 37">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25">
            <a:extLst>
              <a:ext uri="{FF2B5EF4-FFF2-40B4-BE49-F238E27FC236}">
                <a16:creationId xmlns:a16="http://schemas.microsoft.com/office/drawing/2014/main" id="{D7400AB1-4BEC-40E5-A53B-E3CB1F48EB8A}"/>
              </a:ext>
            </a:extLst>
          </p:cNvPr>
          <p:cNvSpPr/>
          <p:nvPr/>
        </p:nvSpPr>
        <p:spPr>
          <a:xfrm>
            <a:off x="336177" y="293282"/>
            <a:ext cx="948448"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9.2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0"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3" name="矩形 4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blinds(horizontal)">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P spid="41" grpId="0"/>
      <p:bldP spid="44" grpId="0"/>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555</TotalTime>
  <Words>734</Words>
  <Application>Microsoft Office PowerPoint</Application>
  <PresentationFormat>自定义</PresentationFormat>
  <Paragraphs>111</Paragraphs>
  <Slides>12</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vt:i4>
      </vt:variant>
    </vt:vector>
  </HeadingPairs>
  <TitlesOfParts>
    <vt:vector size="23" baseType="lpstr">
      <vt:lpstr>冬青黑体简体中文 W6</vt:lpstr>
      <vt:lpstr>楷体_GB2312</vt:lpstr>
      <vt:lpstr>Microsoft YaHei</vt:lpstr>
      <vt:lpstr>Microsoft YaHei</vt:lpstr>
      <vt:lpstr>Arial</vt:lpstr>
      <vt:lpstr>Calibri</vt:lpstr>
      <vt:lpstr>Calibri Light</vt:lpstr>
      <vt:lpstr>Times New Roman</vt:lpstr>
      <vt:lpstr>光电技术模板-2015-6-18</vt:lpstr>
      <vt:lpstr>公式</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chen mengwei</cp:lastModifiedBy>
  <cp:revision>54</cp:revision>
  <dcterms:created xsi:type="dcterms:W3CDTF">2015-06-18T01:42:52Z</dcterms:created>
  <dcterms:modified xsi:type="dcterms:W3CDTF">2023-02-07T07:57:00Z</dcterms:modified>
</cp:coreProperties>
</file>