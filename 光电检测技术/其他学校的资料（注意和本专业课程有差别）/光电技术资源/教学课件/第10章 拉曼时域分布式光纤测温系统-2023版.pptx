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bin" ContentType="application/vnd.openxmlformats-officedocument.oleObject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4" r:id="rId2"/>
    <p:sldId id="292" r:id="rId3"/>
    <p:sldId id="304" r:id="rId4"/>
    <p:sldId id="303" r:id="rId5"/>
    <p:sldId id="301" r:id="rId6"/>
    <p:sldId id="300" r:id="rId7"/>
    <p:sldId id="302" r:id="rId8"/>
    <p:sldId id="299" r:id="rId9"/>
    <p:sldId id="298" r:id="rId10"/>
    <p:sldId id="297" r:id="rId11"/>
    <p:sldId id="296" r:id="rId12"/>
    <p:sldId id="295" r:id="rId13"/>
    <p:sldId id="294" r:id="rId14"/>
    <p:sldId id="293" r:id="rId15"/>
    <p:sldId id="305" r:id="rId16"/>
  </p:sldIdLst>
  <p:sldSz cx="13717588" cy="7715250"/>
  <p:notesSz cx="6858000" cy="9144000"/>
  <p:defaultTextStyle>
    <a:defPPr>
      <a:defRPr lang="zh-CN"/>
    </a:defPPr>
    <a:lvl1pPr algn="l" defTabSz="1028700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宋体" charset="-122"/>
        <a:cs typeface="+mn-cs"/>
      </a:defRPr>
    </a:lvl1pPr>
    <a:lvl2pPr marL="514350" indent="-57150" algn="l" defTabSz="1028700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宋体" charset="-122"/>
        <a:cs typeface="+mn-cs"/>
      </a:defRPr>
    </a:lvl2pPr>
    <a:lvl3pPr marL="1028700" indent="-114300" algn="l" defTabSz="1028700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宋体" charset="-122"/>
        <a:cs typeface="+mn-cs"/>
      </a:defRPr>
    </a:lvl3pPr>
    <a:lvl4pPr marL="1543050" indent="-171450" algn="l" defTabSz="1028700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宋体" charset="-122"/>
        <a:cs typeface="+mn-cs"/>
      </a:defRPr>
    </a:lvl4pPr>
    <a:lvl5pPr marL="2057400" indent="-228600" algn="l" defTabSz="1028700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宋体" charset="-122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Arial" charset="0"/>
        <a:ea typeface="宋体" charset="-122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Arial" charset="0"/>
        <a:ea typeface="宋体" charset="-122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Arial" charset="0"/>
        <a:ea typeface="宋体" charset="-122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Arial" charset="0"/>
        <a:ea typeface="宋体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0694" autoAdjust="0"/>
    <p:restoredTop sz="94660"/>
  </p:normalViewPr>
  <p:slideViewPr>
    <p:cSldViewPr snapToGrid="0">
      <p:cViewPr varScale="1">
        <p:scale>
          <a:sx n="63" d="100"/>
          <a:sy n="63" d="100"/>
        </p:scale>
        <p:origin x="-894" y="-96"/>
      </p:cViewPr>
      <p:guideLst>
        <p:guide orient="horz" pos="2430"/>
        <p:guide pos="432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714699" y="1262658"/>
            <a:ext cx="10288191" cy="2686050"/>
          </a:xfrm>
        </p:spPr>
        <p:txBody>
          <a:bodyPr anchor="b"/>
          <a:lstStyle>
            <a:lvl1pPr algn="ctr">
              <a:defRPr sz="68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714699" y="4052293"/>
            <a:ext cx="10288191" cy="1862732"/>
          </a:xfrm>
        </p:spPr>
        <p:txBody>
          <a:bodyPr/>
          <a:lstStyle>
            <a:lvl1pPr marL="0" indent="0" algn="ctr">
              <a:buNone/>
              <a:defRPr sz="2700"/>
            </a:lvl1pPr>
            <a:lvl2pPr marL="514350" indent="0" algn="ctr">
              <a:buNone/>
              <a:defRPr sz="2300"/>
            </a:lvl2pPr>
            <a:lvl3pPr marL="1028700" indent="0" algn="ctr">
              <a:buNone/>
              <a:defRPr sz="2000"/>
            </a:lvl3pPr>
            <a:lvl4pPr marL="1543050" indent="0" algn="ctr">
              <a:buNone/>
              <a:defRPr sz="1800"/>
            </a:lvl4pPr>
            <a:lvl5pPr marL="2057400" indent="0" algn="ctr">
              <a:buNone/>
              <a:defRPr sz="1800"/>
            </a:lvl5pPr>
            <a:lvl6pPr marL="2571750" indent="0" algn="ctr">
              <a:buNone/>
              <a:defRPr sz="1800"/>
            </a:lvl6pPr>
            <a:lvl7pPr marL="3086100" indent="0" algn="ctr">
              <a:buNone/>
              <a:defRPr sz="1800"/>
            </a:lvl7pPr>
            <a:lvl8pPr marL="3600450" indent="0" algn="ctr">
              <a:buNone/>
              <a:defRPr sz="1800"/>
            </a:lvl8pPr>
            <a:lvl9pPr marL="4114800" indent="0" algn="ctr">
              <a:buNone/>
              <a:defRPr sz="18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92EB52-41C2-4591-A8DF-EBA7C1AA6F3B}" type="datetimeFigureOut">
              <a:rPr lang="zh-CN" altLang="en-US"/>
              <a:pPr>
                <a:defRPr/>
              </a:pPr>
              <a:t>2022/5/2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C7482D-7024-46F5-BF6A-5FE36245BE5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8DBF1A-8D93-4973-A4FA-E6E290C720E0}" type="datetimeFigureOut">
              <a:rPr lang="zh-CN" altLang="en-US"/>
              <a:pPr>
                <a:defRPr/>
              </a:pPr>
              <a:t>2022/5/2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552B0F-DD6C-4CCF-A119-5C0938484D0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35939" y="1923456"/>
            <a:ext cx="11831420" cy="3209329"/>
          </a:xfrm>
        </p:spPr>
        <p:txBody>
          <a:bodyPr anchor="b"/>
          <a:lstStyle>
            <a:lvl1pPr>
              <a:defRPr sz="68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35939" y="5163147"/>
            <a:ext cx="11831420" cy="1687710"/>
          </a:xfrm>
        </p:spPr>
        <p:txBody>
          <a:bodyPr/>
          <a:lstStyle>
            <a:lvl1pPr marL="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1pPr>
            <a:lvl2pPr marL="514350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2pPr>
            <a:lvl3pPr marL="10287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3pPr>
            <a:lvl4pPr marL="154305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4pPr>
            <a:lvl5pPr marL="2057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5pPr>
            <a:lvl6pPr marL="257175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6pPr>
            <a:lvl7pPr marL="30861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7pPr>
            <a:lvl8pPr marL="360045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8pPr>
            <a:lvl9pPr marL="41148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A695FD-F8E7-45A2-B08E-95D086E54610}" type="datetimeFigureOut">
              <a:rPr lang="zh-CN" altLang="en-US"/>
              <a:pPr>
                <a:defRPr/>
              </a:pPr>
              <a:t>2022/5/2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2F0D08-69CA-46C6-8BD6-2B7B4134F4C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43084" y="2053828"/>
            <a:ext cx="5829975" cy="489525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944529" y="2053828"/>
            <a:ext cx="5829975" cy="489525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C29B0E-62F8-4983-A7E8-1FA0F94D9059}" type="datetimeFigureOut">
              <a:rPr lang="zh-CN" altLang="en-US"/>
              <a:pPr>
                <a:defRPr/>
              </a:pPr>
              <a:t>2022/5/2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1C509C-D3CF-4677-910D-ECABE9710A9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44871" y="410766"/>
            <a:ext cx="11831420" cy="1491258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44872" y="1891308"/>
            <a:ext cx="5803182" cy="926901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14350" indent="0">
              <a:buNone/>
              <a:defRPr sz="2300" b="1"/>
            </a:lvl2pPr>
            <a:lvl3pPr marL="1028700" indent="0">
              <a:buNone/>
              <a:defRPr sz="2000" b="1"/>
            </a:lvl3pPr>
            <a:lvl4pPr marL="1543050" indent="0">
              <a:buNone/>
              <a:defRPr sz="1800" b="1"/>
            </a:lvl4pPr>
            <a:lvl5pPr marL="2057400" indent="0">
              <a:buNone/>
              <a:defRPr sz="1800" b="1"/>
            </a:lvl5pPr>
            <a:lvl6pPr marL="2571750" indent="0">
              <a:buNone/>
              <a:defRPr sz="1800" b="1"/>
            </a:lvl6pPr>
            <a:lvl7pPr marL="3086100" indent="0">
              <a:buNone/>
              <a:defRPr sz="1800" b="1"/>
            </a:lvl7pPr>
            <a:lvl8pPr marL="3600450" indent="0">
              <a:buNone/>
              <a:defRPr sz="1800" b="1"/>
            </a:lvl8pPr>
            <a:lvl9pPr marL="4114800" indent="0">
              <a:buNone/>
              <a:defRPr sz="18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944872" y="2818209"/>
            <a:ext cx="5803182" cy="4145162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944529" y="1891308"/>
            <a:ext cx="5831762" cy="926901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14350" indent="0">
              <a:buNone/>
              <a:defRPr sz="2300" b="1"/>
            </a:lvl2pPr>
            <a:lvl3pPr marL="1028700" indent="0">
              <a:buNone/>
              <a:defRPr sz="2000" b="1"/>
            </a:lvl3pPr>
            <a:lvl4pPr marL="1543050" indent="0">
              <a:buNone/>
              <a:defRPr sz="1800" b="1"/>
            </a:lvl4pPr>
            <a:lvl5pPr marL="2057400" indent="0">
              <a:buNone/>
              <a:defRPr sz="1800" b="1"/>
            </a:lvl5pPr>
            <a:lvl6pPr marL="2571750" indent="0">
              <a:buNone/>
              <a:defRPr sz="1800" b="1"/>
            </a:lvl6pPr>
            <a:lvl7pPr marL="3086100" indent="0">
              <a:buNone/>
              <a:defRPr sz="1800" b="1"/>
            </a:lvl7pPr>
            <a:lvl8pPr marL="3600450" indent="0">
              <a:buNone/>
              <a:defRPr sz="1800" b="1"/>
            </a:lvl8pPr>
            <a:lvl9pPr marL="4114800" indent="0">
              <a:buNone/>
              <a:defRPr sz="18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944529" y="2818209"/>
            <a:ext cx="5831762" cy="4145162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522C95-7835-404E-B2FB-DC2563565762}" type="datetimeFigureOut">
              <a:rPr lang="zh-CN" altLang="en-US"/>
              <a:pPr>
                <a:defRPr/>
              </a:pPr>
              <a:t>2022/5/2</a:t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BA921D-7A31-4B5F-9A55-23480DA5089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9FE118-470C-474F-ACEF-20CAA9EE7943}" type="datetimeFigureOut">
              <a:rPr lang="zh-CN" altLang="en-US"/>
              <a:pPr>
                <a:defRPr/>
              </a:pPr>
              <a:t>2022/5/2</a:t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4D6ED0-2CFC-4ED9-A271-5654441AB1B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E5BB6A-A884-49F4-8610-572DB8071486}" type="datetimeFigureOut">
              <a:rPr lang="zh-CN" altLang="en-US"/>
              <a:pPr>
                <a:defRPr/>
              </a:pPr>
              <a:t>2022/5/2</a:t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DEDEE0-201E-4E7C-8971-6F0818CB62D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44871" y="514350"/>
            <a:ext cx="4424279" cy="1800225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831762" y="1110854"/>
            <a:ext cx="6944529" cy="5482828"/>
          </a:xfrm>
        </p:spPr>
        <p:txBody>
          <a:bodyPr/>
          <a:lstStyle>
            <a:lvl1pPr>
              <a:defRPr sz="3600"/>
            </a:lvl1pPr>
            <a:lvl2pPr>
              <a:defRPr sz="3200"/>
            </a:lvl2pPr>
            <a:lvl3pPr>
              <a:defRPr sz="27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944871" y="2314575"/>
            <a:ext cx="4424279" cy="4288037"/>
          </a:xfrm>
        </p:spPr>
        <p:txBody>
          <a:bodyPr/>
          <a:lstStyle>
            <a:lvl1pPr marL="0" indent="0">
              <a:buNone/>
              <a:defRPr sz="1800"/>
            </a:lvl1pPr>
            <a:lvl2pPr marL="514350" indent="0">
              <a:buNone/>
              <a:defRPr sz="1600"/>
            </a:lvl2pPr>
            <a:lvl3pPr marL="1028700" indent="0">
              <a:buNone/>
              <a:defRPr sz="1400"/>
            </a:lvl3pPr>
            <a:lvl4pPr marL="1543050" indent="0">
              <a:buNone/>
              <a:defRPr sz="1100"/>
            </a:lvl4pPr>
            <a:lvl5pPr marL="2057400" indent="0">
              <a:buNone/>
              <a:defRPr sz="1100"/>
            </a:lvl5pPr>
            <a:lvl6pPr marL="2571750" indent="0">
              <a:buNone/>
              <a:defRPr sz="1100"/>
            </a:lvl6pPr>
            <a:lvl7pPr marL="3086100" indent="0">
              <a:buNone/>
              <a:defRPr sz="1100"/>
            </a:lvl7pPr>
            <a:lvl8pPr marL="3600450" indent="0">
              <a:buNone/>
              <a:defRPr sz="1100"/>
            </a:lvl8pPr>
            <a:lvl9pPr marL="4114800" indent="0">
              <a:buNone/>
              <a:defRPr sz="11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5449D1-B66D-4A61-A44B-7348ACECD5AE}" type="datetimeFigureOut">
              <a:rPr lang="zh-CN" altLang="en-US"/>
              <a:pPr>
                <a:defRPr/>
              </a:pPr>
              <a:t>2022/5/2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F48E5B-1486-446B-BA76-02AA6DA2495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44871" y="514350"/>
            <a:ext cx="4424279" cy="1800225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831762" y="1110854"/>
            <a:ext cx="6944529" cy="5482828"/>
          </a:xfrm>
        </p:spPr>
        <p:txBody>
          <a:bodyPr rtlCol="0">
            <a:normAutofit/>
          </a:bodyPr>
          <a:lstStyle>
            <a:lvl1pPr marL="0" indent="0">
              <a:buNone/>
              <a:defRPr sz="3600"/>
            </a:lvl1pPr>
            <a:lvl2pPr marL="514350" indent="0">
              <a:buNone/>
              <a:defRPr sz="3200"/>
            </a:lvl2pPr>
            <a:lvl3pPr marL="1028700" indent="0">
              <a:buNone/>
              <a:defRPr sz="2700"/>
            </a:lvl3pPr>
            <a:lvl4pPr marL="1543050" indent="0">
              <a:buNone/>
              <a:defRPr sz="2300"/>
            </a:lvl4pPr>
            <a:lvl5pPr marL="2057400" indent="0">
              <a:buNone/>
              <a:defRPr sz="2300"/>
            </a:lvl5pPr>
            <a:lvl6pPr marL="2571750" indent="0">
              <a:buNone/>
              <a:defRPr sz="2300"/>
            </a:lvl6pPr>
            <a:lvl7pPr marL="3086100" indent="0">
              <a:buNone/>
              <a:defRPr sz="2300"/>
            </a:lvl7pPr>
            <a:lvl8pPr marL="3600450" indent="0">
              <a:buNone/>
              <a:defRPr sz="2300"/>
            </a:lvl8pPr>
            <a:lvl9pPr marL="4114800" indent="0">
              <a:buNone/>
              <a:defRPr sz="2300"/>
            </a:lvl9pPr>
          </a:lstStyle>
          <a:p>
            <a:pPr lvl="0"/>
            <a:r>
              <a:rPr lang="zh-CN" altLang="en-US" noProof="0" smtClean="0"/>
              <a:t>单击图标添加图片</a:t>
            </a:r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944871" y="2314575"/>
            <a:ext cx="4424279" cy="4288037"/>
          </a:xfrm>
        </p:spPr>
        <p:txBody>
          <a:bodyPr/>
          <a:lstStyle>
            <a:lvl1pPr marL="0" indent="0">
              <a:buNone/>
              <a:defRPr sz="1800"/>
            </a:lvl1pPr>
            <a:lvl2pPr marL="514350" indent="0">
              <a:buNone/>
              <a:defRPr sz="1600"/>
            </a:lvl2pPr>
            <a:lvl3pPr marL="1028700" indent="0">
              <a:buNone/>
              <a:defRPr sz="1400"/>
            </a:lvl3pPr>
            <a:lvl4pPr marL="1543050" indent="0">
              <a:buNone/>
              <a:defRPr sz="1100"/>
            </a:lvl4pPr>
            <a:lvl5pPr marL="2057400" indent="0">
              <a:buNone/>
              <a:defRPr sz="1100"/>
            </a:lvl5pPr>
            <a:lvl6pPr marL="2571750" indent="0">
              <a:buNone/>
              <a:defRPr sz="1100"/>
            </a:lvl6pPr>
            <a:lvl7pPr marL="3086100" indent="0">
              <a:buNone/>
              <a:defRPr sz="1100"/>
            </a:lvl7pPr>
            <a:lvl8pPr marL="3600450" indent="0">
              <a:buNone/>
              <a:defRPr sz="1100"/>
            </a:lvl8pPr>
            <a:lvl9pPr marL="4114800" indent="0">
              <a:buNone/>
              <a:defRPr sz="11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2405EE-B211-4C2D-A9ED-6A38102E1D7F}" type="datetimeFigureOut">
              <a:rPr lang="zh-CN" altLang="en-US"/>
              <a:pPr>
                <a:defRPr/>
              </a:pPr>
              <a:t>2022/5/2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90EB5E-31AE-4CB2-A61A-5D19278F6F0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718AE1-CC42-4B3D-BD7D-C362C97D27EB}" type="datetimeFigureOut">
              <a:rPr lang="zh-CN" altLang="en-US"/>
              <a:pPr>
                <a:defRPr/>
              </a:pPr>
              <a:t>2022/5/2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8387B4-1CEB-412E-B3A4-04FB14B4A8C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16649" y="410766"/>
            <a:ext cx="2957855" cy="653831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43084" y="410766"/>
            <a:ext cx="8702095" cy="653831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3E24BE-EBAA-4CF2-B1BB-CDCFFB032913}" type="datetimeFigureOut">
              <a:rPr lang="zh-CN" altLang="en-US"/>
              <a:pPr>
                <a:defRPr/>
              </a:pPr>
              <a:t>2022/5/2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51A9EB-FC2A-4116-B052-4CADC2A184F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942975" y="411163"/>
            <a:ext cx="11831638" cy="1490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2870" tIns="51435" rIns="102870" bIns="51435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942975" y="2054225"/>
            <a:ext cx="11831638" cy="4894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2870" tIns="51435" rIns="102870" bIns="5143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942975" y="7151688"/>
            <a:ext cx="3086100" cy="409575"/>
          </a:xfrm>
          <a:prstGeom prst="rect">
            <a:avLst/>
          </a:prstGeom>
        </p:spPr>
        <p:txBody>
          <a:bodyPr vert="horz" lIns="102870" tIns="51435" rIns="102870" bIns="51435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38FA6983-648B-4A6D-BDD0-771ECC098847}" type="datetimeFigureOut">
              <a:rPr lang="zh-CN" altLang="en-US"/>
              <a:pPr>
                <a:defRPr/>
              </a:pPr>
              <a:t>2022/5/2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543425" y="7151688"/>
            <a:ext cx="4630738" cy="409575"/>
          </a:xfrm>
          <a:prstGeom prst="rect">
            <a:avLst/>
          </a:prstGeom>
        </p:spPr>
        <p:txBody>
          <a:bodyPr vert="horz" lIns="102870" tIns="51435" rIns="102870" bIns="51435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688513" y="7151688"/>
            <a:ext cx="3086100" cy="409575"/>
          </a:xfrm>
          <a:prstGeom prst="rect">
            <a:avLst/>
          </a:prstGeom>
        </p:spPr>
        <p:txBody>
          <a:bodyPr vert="horz" lIns="102870" tIns="51435" rIns="102870" bIns="51435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7FDB7683-172F-42AD-ACB7-6845CB82E7D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l" defTabSz="10287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50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10287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Calibri Light"/>
          <a:ea typeface="宋体" pitchFamily="2" charset="-122"/>
        </a:defRPr>
      </a:lvl2pPr>
      <a:lvl3pPr algn="l" defTabSz="10287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Calibri Light"/>
          <a:ea typeface="宋体" pitchFamily="2" charset="-122"/>
        </a:defRPr>
      </a:lvl3pPr>
      <a:lvl4pPr algn="l" defTabSz="10287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Calibri Light"/>
          <a:ea typeface="宋体" pitchFamily="2" charset="-122"/>
        </a:defRPr>
      </a:lvl4pPr>
      <a:lvl5pPr algn="l" defTabSz="10287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Calibri Light"/>
          <a:ea typeface="宋体" pitchFamily="2" charset="-122"/>
        </a:defRPr>
      </a:lvl5pPr>
      <a:lvl6pPr marL="457200" algn="l" defTabSz="10287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Calibri Light"/>
          <a:ea typeface="宋体" pitchFamily="2" charset="-122"/>
        </a:defRPr>
      </a:lvl6pPr>
      <a:lvl7pPr marL="914400" algn="l" defTabSz="10287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Calibri Light"/>
          <a:ea typeface="宋体" pitchFamily="2" charset="-122"/>
        </a:defRPr>
      </a:lvl7pPr>
      <a:lvl8pPr marL="1371600" algn="l" defTabSz="10287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Calibri Light"/>
          <a:ea typeface="宋体" pitchFamily="2" charset="-122"/>
        </a:defRPr>
      </a:lvl8pPr>
      <a:lvl9pPr marL="1828800" algn="l" defTabSz="10287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Calibri Light"/>
          <a:ea typeface="宋体" pitchFamily="2" charset="-122"/>
        </a:defRPr>
      </a:lvl9pPr>
    </p:titleStyle>
    <p:bodyStyle>
      <a:lvl1pPr marL="257175" indent="-257175" algn="l" defTabSz="1028700" rtl="0" eaLnBrk="0" fontAlgn="base" hangingPunct="0">
        <a:lnSpc>
          <a:spcPct val="90000"/>
        </a:lnSpc>
        <a:spcBef>
          <a:spcPts val="1125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71525" indent="-257175" algn="l" defTabSz="1028700" rtl="0" eaLnBrk="0" fontAlgn="base" hangingPunct="0">
        <a:lnSpc>
          <a:spcPct val="90000"/>
        </a:lnSpc>
        <a:spcBef>
          <a:spcPts val="563"/>
        </a:spcBef>
        <a:spcAft>
          <a:spcPct val="0"/>
        </a:spcAft>
        <a:buFont typeface="Arial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285875" indent="-257175" algn="l" defTabSz="1028700" rtl="0" eaLnBrk="0" fontAlgn="base" hangingPunct="0">
        <a:lnSpc>
          <a:spcPct val="90000"/>
        </a:lnSpc>
        <a:spcBef>
          <a:spcPts val="563"/>
        </a:spcBef>
        <a:spcAft>
          <a:spcPct val="0"/>
        </a:spcAft>
        <a:buFont typeface="Arial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800225" indent="-257175" algn="l" defTabSz="1028700" rtl="0" eaLnBrk="0" fontAlgn="base" hangingPunct="0">
        <a:lnSpc>
          <a:spcPct val="90000"/>
        </a:lnSpc>
        <a:spcBef>
          <a:spcPts val="563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314575" indent="-257175" algn="l" defTabSz="1028700" rtl="0" eaLnBrk="0" fontAlgn="base" hangingPunct="0">
        <a:lnSpc>
          <a:spcPct val="90000"/>
        </a:lnSpc>
        <a:spcBef>
          <a:spcPts val="563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828925" indent="-257175" algn="l" defTabSz="102870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343275" indent="-257175" algn="l" defTabSz="102870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857625" indent="-257175" algn="l" defTabSz="102870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371975" indent="-257175" algn="l" defTabSz="102870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0287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algn="l" defTabSz="10287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algn="l" defTabSz="10287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43050" algn="l" defTabSz="10287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algn="l" defTabSz="10287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71750" algn="l" defTabSz="10287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86100" algn="l" defTabSz="10287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600450" algn="l" defTabSz="10287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114800" algn="l" defTabSz="10287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5" Type="http://schemas.openxmlformats.org/officeDocument/2006/relationships/oleObject" Target="../embeddings/oleObject2.bin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4" Type="http://schemas.openxmlformats.org/officeDocument/2006/relationships/oleObject" Target="../embeddings/oleObject5.bin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60">
            <a:extLst>
              <a:ext uri="{FF2B5EF4-FFF2-40B4-BE49-F238E27FC236}">
                <a16:creationId xmlns:a16="http://schemas.microsoft.com/office/drawing/2014/main" xmlns="" id="{791D85D7-F412-9C48-9F2B-E33F5B7B4F3C}"/>
              </a:ext>
            </a:extLst>
          </p:cNvPr>
          <p:cNvSpPr txBox="1"/>
          <p:nvPr/>
        </p:nvSpPr>
        <p:spPr>
          <a:xfrm>
            <a:off x="1364780" y="293282"/>
            <a:ext cx="4560031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拉曼时域分布式光纤测温系统</a:t>
            </a: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: 圆角 18">
            <a:extLst>
              <a:ext uri="{FF2B5EF4-FFF2-40B4-BE49-F238E27FC236}">
                <a16:creationId xmlns:a16="http://schemas.microsoft.com/office/drawing/2014/main" xmlns="" id="{71B2A563-AC54-5347-B843-4478DF223CDE}"/>
              </a:ext>
            </a:extLst>
          </p:cNvPr>
          <p:cNvSpPr/>
          <p:nvPr/>
        </p:nvSpPr>
        <p:spPr>
          <a:xfrm>
            <a:off x="2279737" y="3397018"/>
            <a:ext cx="10797436" cy="1110985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zh-CN" altLang="en-US" sz="4400" b="1" dirty="0" smtClean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拉曼时域分布式光纤测温系统</a:t>
            </a:r>
            <a:endParaRPr kumimoji="1" lang="zh-CN" altLang="en-US" sz="44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0256520" y="329189"/>
            <a:ext cx="1211081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xmlns="" id="{045D4FB5-3BA7-4366-9C2A-762F1105D91A}"/>
              </a:ext>
            </a:extLst>
          </p:cNvPr>
          <p:cNvSpPr/>
          <p:nvPr/>
        </p:nvSpPr>
        <p:spPr>
          <a:xfrm>
            <a:off x="243924" y="3346276"/>
            <a:ext cx="2294402" cy="12375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6600" b="1" dirty="0" smtClean="0">
                <a:gradFill>
                  <a:gsLst>
                    <a:gs pos="0">
                      <a:srgbClr val="0066FF"/>
                    </a:gs>
                    <a:gs pos="100000">
                      <a:schemeClr val="accent1">
                        <a:lumMod val="100000"/>
                      </a:schemeClr>
                    </a:gs>
                  </a:gsLst>
                  <a:lin ang="0" scaled="0"/>
                </a:gra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10.2</a:t>
            </a:r>
            <a:endParaRPr kumimoji="1" lang="zh-CN" altLang="en-US" sz="6600" b="1" dirty="0">
              <a:gradFill>
                <a:gsLst>
                  <a:gs pos="0">
                    <a:srgbClr val="0066FF"/>
                  </a:gs>
                  <a:gs pos="100000">
                    <a:schemeClr val="accent1">
                      <a:lumMod val="100000"/>
                    </a:schemeClr>
                  </a:gs>
                </a:gsLst>
                <a:lin ang="0" scaled="0"/>
              </a:gra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xmlns="" id="{B0EA110F-2BA5-44F1-BDF2-A8AD51CC83F5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: 圆角 25">
            <a:extLst>
              <a:ext uri="{FF2B5EF4-FFF2-40B4-BE49-F238E27FC236}">
                <a16:creationId xmlns:a16="http://schemas.microsoft.com/office/drawing/2014/main" xmlns="" id="{D7400AB1-4BEC-40E5-A53B-E3CB1F48EB8A}"/>
              </a:ext>
            </a:extLst>
          </p:cNvPr>
          <p:cNvSpPr/>
          <p:nvPr/>
        </p:nvSpPr>
        <p:spPr>
          <a:xfrm>
            <a:off x="336177" y="293282"/>
            <a:ext cx="948448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10.2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15" name="直接连接符 58">
            <a:extLst>
              <a:ext uri="{FF2B5EF4-FFF2-40B4-BE49-F238E27FC236}">
                <a16:creationId xmlns:a16="http://schemas.microsoft.com/office/drawing/2014/main" xmlns="" id="{8C5F82EF-52B4-4531-96F0-44689EA1125E}"/>
              </a:ext>
            </a:extLst>
          </p:cNvPr>
          <p:cNvCxnSpPr>
            <a:cxnSpLocks/>
          </p:cNvCxnSpPr>
          <p:nvPr/>
        </p:nvCxnSpPr>
        <p:spPr>
          <a:xfrm flipV="1">
            <a:off x="1450506" y="695281"/>
            <a:ext cx="2999293" cy="15717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>
            <a:extLst>
              <a:ext uri="{FF2B5EF4-FFF2-40B4-BE49-F238E27FC236}">
                <a16:creationId xmlns:a16="http://schemas.microsoft.com/office/drawing/2014/main" xmlns="" id="{82FE0EE3-DD34-4ECD-AB99-E9089285A34C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xmlns="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60">
            <a:extLst>
              <a:ext uri="{FF2B5EF4-FFF2-40B4-BE49-F238E27FC236}">
                <a16:creationId xmlns:a16="http://schemas.microsoft.com/office/drawing/2014/main" xmlns="" id="{791D85D7-F412-9C48-9F2B-E33F5B7B4F3C}"/>
              </a:ext>
            </a:extLst>
          </p:cNvPr>
          <p:cNvSpPr txBox="1"/>
          <p:nvPr/>
        </p:nvSpPr>
        <p:spPr>
          <a:xfrm>
            <a:off x="1364780" y="293282"/>
            <a:ext cx="4560031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拉曼时域分布式光纤测温系统</a:t>
            </a: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0256520" y="329189"/>
            <a:ext cx="1211081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xmlns="" id="{B0EA110F-2BA5-44F1-BDF2-A8AD51CC83F5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: 圆角 25">
            <a:extLst>
              <a:ext uri="{FF2B5EF4-FFF2-40B4-BE49-F238E27FC236}">
                <a16:creationId xmlns:a16="http://schemas.microsoft.com/office/drawing/2014/main" xmlns="" id="{D7400AB1-4BEC-40E5-A53B-E3CB1F48EB8A}"/>
              </a:ext>
            </a:extLst>
          </p:cNvPr>
          <p:cNvSpPr/>
          <p:nvPr/>
        </p:nvSpPr>
        <p:spPr>
          <a:xfrm>
            <a:off x="336177" y="293282"/>
            <a:ext cx="948448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10.2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20" name="直接连接符 58">
            <a:extLst>
              <a:ext uri="{FF2B5EF4-FFF2-40B4-BE49-F238E27FC236}">
                <a16:creationId xmlns:a16="http://schemas.microsoft.com/office/drawing/2014/main" xmlns="" id="{8C5F82EF-52B4-4531-96F0-44689EA1125E}"/>
              </a:ext>
            </a:extLst>
          </p:cNvPr>
          <p:cNvCxnSpPr>
            <a:cxnSpLocks/>
          </p:cNvCxnSpPr>
          <p:nvPr/>
        </p:nvCxnSpPr>
        <p:spPr>
          <a:xfrm flipV="1">
            <a:off x="1450506" y="695281"/>
            <a:ext cx="2999293" cy="15717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矩形 27">
            <a:extLst>
              <a:ext uri="{FF2B5EF4-FFF2-40B4-BE49-F238E27FC236}">
                <a16:creationId xmlns:a16="http://schemas.microsoft.com/office/drawing/2014/main" xmlns="" id="{82FE0EE3-DD34-4ECD-AB99-E9089285A34C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xmlns="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p:sp>
        <p:nvSpPr>
          <p:cNvPr id="30" name="Rectangle 2"/>
          <p:cNvSpPr txBox="1">
            <a:spLocks noChangeArrowheads="1"/>
          </p:cNvSpPr>
          <p:nvPr/>
        </p:nvSpPr>
        <p:spPr>
          <a:xfrm>
            <a:off x="3389346" y="992777"/>
            <a:ext cx="7431054" cy="820783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10287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itchFamily="2" charset="-122"/>
                <a:cs typeface="+mj-cs"/>
              </a:rPr>
              <a:t>什么是</a:t>
            </a:r>
            <a:r>
              <a:rPr kumimoji="0" lang="zh-CN" altLang="en-US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itchFamily="2" charset="-122"/>
                <a:cs typeface="+mj-cs"/>
              </a:rPr>
              <a:t>分布式</a:t>
            </a:r>
            <a:r>
              <a:rPr kumimoji="0" lang="zh-CN" altLang="en-US" sz="5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itchFamily="2" charset="-122"/>
                <a:cs typeface="+mj-cs"/>
              </a:rPr>
              <a:t>光纤传感？</a:t>
            </a:r>
          </a:p>
        </p:txBody>
      </p:sp>
      <p:sp>
        <p:nvSpPr>
          <p:cNvPr id="31" name="Rectangle 3"/>
          <p:cNvSpPr txBox="1">
            <a:spLocks noChangeArrowheads="1"/>
          </p:cNvSpPr>
          <p:nvPr/>
        </p:nvSpPr>
        <p:spPr>
          <a:xfrm>
            <a:off x="1446880" y="5593301"/>
            <a:ext cx="11172825" cy="1819870"/>
          </a:xfrm>
          <a:prstGeom prst="rect">
            <a:avLst/>
          </a:prstGeom>
        </p:spPr>
        <p:txBody>
          <a:bodyPr/>
          <a:lstStyle/>
          <a:p>
            <a:pPr marL="257175" marR="0" lvl="0" indent="-257175" algn="l" defTabSz="1028700" rtl="0" eaLnBrk="0" fontAlgn="base" latinLnBrk="0" hangingPunct="0">
              <a:lnSpc>
                <a:spcPct val="90000"/>
              </a:lnSpc>
              <a:spcBef>
                <a:spcPts val="1125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zh-CN" altLang="en-US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沿光纤铺设区域，连续、大规模的</a:t>
            </a:r>
            <a:r>
              <a:rPr kumimoji="0" lang="zh-CN" altLang="en-US" sz="3200" b="0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定位</a:t>
            </a:r>
            <a:r>
              <a:rPr kumimoji="0" lang="en-US" altLang="zh-CN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/</a:t>
            </a:r>
            <a:r>
              <a:rPr kumimoji="0" lang="zh-CN" altLang="en-US" sz="3200" b="0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测量</a:t>
            </a:r>
            <a:r>
              <a:rPr kumimoji="0" lang="zh-CN" altLang="en-US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方式</a:t>
            </a:r>
            <a:endParaRPr kumimoji="0" lang="en-US" altLang="zh-CN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itchFamily="2" charset="-122"/>
              <a:ea typeface="宋体" pitchFamily="2" charset="-122"/>
              <a:cs typeface="+mn-cs"/>
            </a:endParaRPr>
          </a:p>
          <a:p>
            <a:pPr marL="257175" marR="0" lvl="0" indent="-257175" algn="l" defTabSz="1028700" rtl="0" eaLnBrk="0" fontAlgn="base" latinLnBrk="0" hangingPunct="0">
              <a:lnSpc>
                <a:spcPct val="90000"/>
              </a:lnSpc>
              <a:spcBef>
                <a:spcPts val="1125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zh-CN" altLang="en-US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光纤</a:t>
            </a:r>
            <a:r>
              <a:rPr kumimoji="0" lang="en-US" altLang="zh-CN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=</a:t>
            </a:r>
            <a:r>
              <a:rPr kumimoji="0" lang="zh-CN" altLang="en-US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传感器</a:t>
            </a:r>
          </a:p>
          <a:p>
            <a:pPr marL="257175" marR="0" lvl="0" indent="-257175" algn="l" defTabSz="1028700" rtl="0" eaLnBrk="0" fontAlgn="base" latinLnBrk="0" hangingPunct="0">
              <a:lnSpc>
                <a:spcPct val="90000"/>
              </a:lnSpc>
              <a:spcBef>
                <a:spcPts val="1125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zh-CN" altLang="en-US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什么是拉曼光纤温度传感</a:t>
            </a:r>
            <a:r>
              <a:rPr kumimoji="0" lang="en-US" altLang="zh-CN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? </a:t>
            </a:r>
            <a:r>
              <a:rPr kumimoji="0" lang="en-US" altLang="zh-CN" sz="3200" b="0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  <a:sym typeface="Wingdings" pitchFamily="2" charset="2"/>
              </a:rPr>
              <a:t></a:t>
            </a:r>
            <a:r>
              <a:rPr kumimoji="0" lang="en-US" altLang="zh-CN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  <a:sym typeface="Wingdings" pitchFamily="2" charset="2"/>
              </a:rPr>
              <a:t> </a:t>
            </a:r>
            <a:r>
              <a:rPr kumimoji="0" lang="zh-CN" altLang="en-US" sz="3200" b="0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  <a:sym typeface="Wingdings" pitchFamily="2" charset="2"/>
              </a:rPr>
              <a:t>拉曼背向散射光与温度相关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宋体" pitchFamily="2" charset="-122"/>
              <a:ea typeface="宋体" pitchFamily="2" charset="-122"/>
              <a:cs typeface="+mn-cs"/>
            </a:endParaRPr>
          </a:p>
        </p:txBody>
      </p:sp>
      <p:grpSp>
        <p:nvGrpSpPr>
          <p:cNvPr id="32" name="Group 26"/>
          <p:cNvGrpSpPr>
            <a:grpSpLocks/>
          </p:cNvGrpSpPr>
          <p:nvPr/>
        </p:nvGrpSpPr>
        <p:grpSpPr bwMode="auto">
          <a:xfrm>
            <a:off x="2538706" y="1752005"/>
            <a:ext cx="10080999" cy="3743325"/>
            <a:chOff x="1066" y="981"/>
            <a:chExt cx="4233" cy="2096"/>
          </a:xfrm>
        </p:grpSpPr>
        <p:sp>
          <p:nvSpPr>
            <p:cNvPr id="33" name="Rectangle 5"/>
            <p:cNvSpPr>
              <a:spLocks noChangeArrowheads="1"/>
            </p:cNvSpPr>
            <p:nvPr/>
          </p:nvSpPr>
          <p:spPr bwMode="auto">
            <a:xfrm>
              <a:off x="1276" y="1382"/>
              <a:ext cx="997" cy="525"/>
            </a:xfrm>
            <a:prstGeom prst="rect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1" hangingPunct="1"/>
              <a:r>
                <a:rPr kumimoji="1" lang="en-US" altLang="zh-CN">
                  <a:solidFill>
                    <a:schemeClr val="bg1"/>
                  </a:solidFill>
                  <a:ea typeface="MS PGothic" pitchFamily="34" charset="-128"/>
                </a:rPr>
                <a:t>BOTDR</a:t>
              </a:r>
            </a:p>
            <a:p>
              <a:pPr algn="ctr" eaLnBrk="1" hangingPunct="1"/>
              <a:r>
                <a:rPr kumimoji="1" lang="en-US" altLang="zh-CN">
                  <a:solidFill>
                    <a:schemeClr val="bg1"/>
                  </a:solidFill>
                  <a:ea typeface="MS PGothic" pitchFamily="34" charset="-128"/>
                </a:rPr>
                <a:t>ROTDR</a:t>
              </a:r>
              <a:endParaRPr kumimoji="1" lang="en-US" altLang="ja-JP">
                <a:solidFill>
                  <a:schemeClr val="bg1"/>
                </a:solidFill>
                <a:ea typeface="MS PGothic" pitchFamily="34" charset="-128"/>
              </a:endParaRPr>
            </a:p>
          </p:txBody>
        </p:sp>
        <p:sp>
          <p:nvSpPr>
            <p:cNvPr id="34" name="Freeform 6"/>
            <p:cNvSpPr>
              <a:spLocks/>
            </p:cNvSpPr>
            <p:nvPr/>
          </p:nvSpPr>
          <p:spPr bwMode="auto">
            <a:xfrm>
              <a:off x="2273" y="1500"/>
              <a:ext cx="3026" cy="984"/>
            </a:xfrm>
            <a:custGeom>
              <a:avLst/>
              <a:gdLst>
                <a:gd name="T0" fmla="*/ 0 w 2768"/>
                <a:gd name="T1" fmla="*/ 152 h 984"/>
                <a:gd name="T2" fmla="*/ 564 w 2768"/>
                <a:gd name="T3" fmla="*/ 200 h 984"/>
                <a:gd name="T4" fmla="*/ 3011 w 2768"/>
                <a:gd name="T5" fmla="*/ 8 h 984"/>
                <a:gd name="T6" fmla="*/ 3575 w 2768"/>
                <a:gd name="T7" fmla="*/ 152 h 984"/>
                <a:gd name="T8" fmla="*/ 3261 w 2768"/>
                <a:gd name="T9" fmla="*/ 344 h 984"/>
                <a:gd name="T10" fmla="*/ 1630 w 2768"/>
                <a:gd name="T11" fmla="*/ 536 h 984"/>
                <a:gd name="T12" fmla="*/ 753 w 2768"/>
                <a:gd name="T13" fmla="*/ 632 h 984"/>
                <a:gd name="T14" fmla="*/ 502 w 2768"/>
                <a:gd name="T15" fmla="*/ 824 h 984"/>
                <a:gd name="T16" fmla="*/ 816 w 2768"/>
                <a:gd name="T17" fmla="*/ 968 h 984"/>
                <a:gd name="T18" fmla="*/ 2257 w 2768"/>
                <a:gd name="T19" fmla="*/ 920 h 984"/>
                <a:gd name="T20" fmla="*/ 3261 w 2768"/>
                <a:gd name="T21" fmla="*/ 824 h 984"/>
                <a:gd name="T22" fmla="*/ 3512 w 2768"/>
                <a:gd name="T23" fmla="*/ 824 h 984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2768"/>
                <a:gd name="T37" fmla="*/ 0 h 984"/>
                <a:gd name="T38" fmla="*/ 2768 w 2768"/>
                <a:gd name="T39" fmla="*/ 984 h 984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2768" h="984">
                  <a:moveTo>
                    <a:pt x="0" y="152"/>
                  </a:moveTo>
                  <a:cubicBezTo>
                    <a:pt x="24" y="188"/>
                    <a:pt x="48" y="224"/>
                    <a:pt x="432" y="200"/>
                  </a:cubicBezTo>
                  <a:cubicBezTo>
                    <a:pt x="816" y="176"/>
                    <a:pt x="1920" y="16"/>
                    <a:pt x="2304" y="8"/>
                  </a:cubicBezTo>
                  <a:cubicBezTo>
                    <a:pt x="2688" y="0"/>
                    <a:pt x="2704" y="96"/>
                    <a:pt x="2736" y="152"/>
                  </a:cubicBezTo>
                  <a:cubicBezTo>
                    <a:pt x="2768" y="208"/>
                    <a:pt x="2744" y="280"/>
                    <a:pt x="2496" y="344"/>
                  </a:cubicBezTo>
                  <a:cubicBezTo>
                    <a:pt x="2248" y="408"/>
                    <a:pt x="1568" y="488"/>
                    <a:pt x="1248" y="536"/>
                  </a:cubicBezTo>
                  <a:cubicBezTo>
                    <a:pt x="928" y="584"/>
                    <a:pt x="720" y="584"/>
                    <a:pt x="576" y="632"/>
                  </a:cubicBezTo>
                  <a:cubicBezTo>
                    <a:pt x="432" y="680"/>
                    <a:pt x="376" y="768"/>
                    <a:pt x="384" y="824"/>
                  </a:cubicBezTo>
                  <a:cubicBezTo>
                    <a:pt x="392" y="880"/>
                    <a:pt x="400" y="952"/>
                    <a:pt x="624" y="968"/>
                  </a:cubicBezTo>
                  <a:cubicBezTo>
                    <a:pt x="848" y="984"/>
                    <a:pt x="1416" y="944"/>
                    <a:pt x="1728" y="920"/>
                  </a:cubicBezTo>
                  <a:cubicBezTo>
                    <a:pt x="2040" y="896"/>
                    <a:pt x="2336" y="840"/>
                    <a:pt x="2496" y="824"/>
                  </a:cubicBezTo>
                  <a:cubicBezTo>
                    <a:pt x="2656" y="808"/>
                    <a:pt x="2672" y="816"/>
                    <a:pt x="2688" y="824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" name="Rectangle 7"/>
            <p:cNvSpPr>
              <a:spLocks noChangeArrowheads="1"/>
            </p:cNvSpPr>
            <p:nvPr/>
          </p:nvSpPr>
          <p:spPr bwMode="auto">
            <a:xfrm>
              <a:off x="2745" y="981"/>
              <a:ext cx="199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eaLnBrk="1" hangingPunct="1"/>
              <a:r>
                <a:rPr kumimoji="1" lang="en-US" altLang="ja-JP">
                  <a:solidFill>
                    <a:srgbClr val="FF3300"/>
                  </a:solidFill>
                  <a:ea typeface="MS PGothic" pitchFamily="34" charset="-128"/>
                </a:rPr>
                <a:t>Measurand field M(z,t) </a:t>
              </a:r>
            </a:p>
          </p:txBody>
        </p:sp>
        <p:sp>
          <p:nvSpPr>
            <p:cNvPr id="36" name="AutoShape 8"/>
            <p:cNvSpPr>
              <a:spLocks noChangeArrowheads="1"/>
            </p:cNvSpPr>
            <p:nvPr/>
          </p:nvSpPr>
          <p:spPr bwMode="auto">
            <a:xfrm>
              <a:off x="1643" y="1988"/>
              <a:ext cx="158" cy="241"/>
            </a:xfrm>
            <a:prstGeom prst="downArrow">
              <a:avLst>
                <a:gd name="adj1" fmla="val 50000"/>
                <a:gd name="adj2" fmla="val 38133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eaVert" wrap="none" anchor="ctr"/>
            <a:lstStyle/>
            <a:p>
              <a:endParaRPr lang="zh-CN" altLang="en-US"/>
            </a:p>
          </p:txBody>
        </p:sp>
        <p:grpSp>
          <p:nvGrpSpPr>
            <p:cNvPr id="37" name="Group 9"/>
            <p:cNvGrpSpPr>
              <a:grpSpLocks/>
            </p:cNvGrpSpPr>
            <p:nvPr/>
          </p:nvGrpSpPr>
          <p:grpSpPr bwMode="auto">
            <a:xfrm>
              <a:off x="1066" y="2084"/>
              <a:ext cx="1206" cy="993"/>
              <a:chOff x="816" y="3024"/>
              <a:chExt cx="1104" cy="993"/>
            </a:xfrm>
          </p:grpSpPr>
          <p:grpSp>
            <p:nvGrpSpPr>
              <p:cNvPr id="47" name="Group 10"/>
              <p:cNvGrpSpPr>
                <a:grpSpLocks/>
              </p:cNvGrpSpPr>
              <p:nvPr/>
            </p:nvGrpSpPr>
            <p:grpSpPr bwMode="auto">
              <a:xfrm>
                <a:off x="1056" y="3264"/>
                <a:ext cx="864" cy="576"/>
                <a:chOff x="1056" y="3264"/>
                <a:chExt cx="864" cy="576"/>
              </a:xfrm>
            </p:grpSpPr>
            <p:sp>
              <p:nvSpPr>
                <p:cNvPr id="51" name="Line 11"/>
                <p:cNvSpPr>
                  <a:spLocks noChangeShapeType="1"/>
                </p:cNvSpPr>
                <p:nvPr/>
              </p:nvSpPr>
              <p:spPr bwMode="auto">
                <a:xfrm>
                  <a:off x="1056" y="3840"/>
                  <a:ext cx="864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2" name="Line 12"/>
                <p:cNvSpPr>
                  <a:spLocks noChangeShapeType="1"/>
                </p:cNvSpPr>
                <p:nvPr/>
              </p:nvSpPr>
              <p:spPr bwMode="auto">
                <a:xfrm flipV="1">
                  <a:off x="1056" y="3264"/>
                  <a:ext cx="0" cy="57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3" name="Freeform 13"/>
                <p:cNvSpPr>
                  <a:spLocks/>
                </p:cNvSpPr>
                <p:nvPr/>
              </p:nvSpPr>
              <p:spPr bwMode="auto">
                <a:xfrm>
                  <a:off x="1056" y="3448"/>
                  <a:ext cx="816" cy="168"/>
                </a:xfrm>
                <a:custGeom>
                  <a:avLst/>
                  <a:gdLst>
                    <a:gd name="T0" fmla="*/ 0 w 816"/>
                    <a:gd name="T1" fmla="*/ 104 h 168"/>
                    <a:gd name="T2" fmla="*/ 96 w 816"/>
                    <a:gd name="T3" fmla="*/ 8 h 168"/>
                    <a:gd name="T4" fmla="*/ 192 w 816"/>
                    <a:gd name="T5" fmla="*/ 152 h 168"/>
                    <a:gd name="T6" fmla="*/ 288 w 816"/>
                    <a:gd name="T7" fmla="*/ 104 h 168"/>
                    <a:gd name="T8" fmla="*/ 384 w 816"/>
                    <a:gd name="T9" fmla="*/ 152 h 168"/>
                    <a:gd name="T10" fmla="*/ 480 w 816"/>
                    <a:gd name="T11" fmla="*/ 56 h 168"/>
                    <a:gd name="T12" fmla="*/ 624 w 816"/>
                    <a:gd name="T13" fmla="*/ 152 h 168"/>
                    <a:gd name="T14" fmla="*/ 720 w 816"/>
                    <a:gd name="T15" fmla="*/ 56 h 168"/>
                    <a:gd name="T16" fmla="*/ 816 w 816"/>
                    <a:gd name="T17" fmla="*/ 152 h 168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816"/>
                    <a:gd name="T28" fmla="*/ 0 h 168"/>
                    <a:gd name="T29" fmla="*/ 816 w 816"/>
                    <a:gd name="T30" fmla="*/ 168 h 168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816" h="168">
                      <a:moveTo>
                        <a:pt x="0" y="104"/>
                      </a:moveTo>
                      <a:cubicBezTo>
                        <a:pt x="32" y="52"/>
                        <a:pt x="64" y="0"/>
                        <a:pt x="96" y="8"/>
                      </a:cubicBezTo>
                      <a:cubicBezTo>
                        <a:pt x="128" y="16"/>
                        <a:pt x="160" y="136"/>
                        <a:pt x="192" y="152"/>
                      </a:cubicBezTo>
                      <a:cubicBezTo>
                        <a:pt x="224" y="168"/>
                        <a:pt x="256" y="104"/>
                        <a:pt x="288" y="104"/>
                      </a:cubicBezTo>
                      <a:cubicBezTo>
                        <a:pt x="320" y="104"/>
                        <a:pt x="352" y="160"/>
                        <a:pt x="384" y="152"/>
                      </a:cubicBezTo>
                      <a:cubicBezTo>
                        <a:pt x="416" y="144"/>
                        <a:pt x="440" y="56"/>
                        <a:pt x="480" y="56"/>
                      </a:cubicBezTo>
                      <a:cubicBezTo>
                        <a:pt x="520" y="56"/>
                        <a:pt x="584" y="152"/>
                        <a:pt x="624" y="152"/>
                      </a:cubicBezTo>
                      <a:cubicBezTo>
                        <a:pt x="664" y="152"/>
                        <a:pt x="688" y="56"/>
                        <a:pt x="720" y="56"/>
                      </a:cubicBezTo>
                      <a:cubicBezTo>
                        <a:pt x="752" y="56"/>
                        <a:pt x="784" y="104"/>
                        <a:pt x="816" y="152"/>
                      </a:cubicBez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48" name="Rectangle 14"/>
              <p:cNvSpPr>
                <a:spLocks noChangeArrowheads="1"/>
              </p:cNvSpPr>
              <p:nvPr/>
            </p:nvSpPr>
            <p:spPr bwMode="auto">
              <a:xfrm>
                <a:off x="1392" y="3216"/>
                <a:ext cx="322" cy="2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kumimoji="1" lang="en-US" altLang="ja-JP">
                    <a:ea typeface="MS PGothic" pitchFamily="34" charset="-128"/>
                  </a:rPr>
                  <a:t>M(z,t)</a:t>
                </a:r>
              </a:p>
            </p:txBody>
          </p:sp>
          <p:sp>
            <p:nvSpPr>
              <p:cNvPr id="49" name="Rectangle 15"/>
              <p:cNvSpPr>
                <a:spLocks noChangeArrowheads="1"/>
              </p:cNvSpPr>
              <p:nvPr/>
            </p:nvSpPr>
            <p:spPr bwMode="auto">
              <a:xfrm>
                <a:off x="1775" y="3793"/>
                <a:ext cx="120" cy="2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kumimoji="1" lang="en-US" altLang="ja-JP">
                    <a:ea typeface="MS PGothic" pitchFamily="34" charset="-128"/>
                  </a:rPr>
                  <a:t>z</a:t>
                </a:r>
              </a:p>
            </p:txBody>
          </p:sp>
          <p:sp>
            <p:nvSpPr>
              <p:cNvPr id="50" name="Rectangle 16"/>
              <p:cNvSpPr>
                <a:spLocks noChangeArrowheads="1"/>
              </p:cNvSpPr>
              <p:nvPr/>
            </p:nvSpPr>
            <p:spPr bwMode="auto">
              <a:xfrm>
                <a:off x="816" y="3024"/>
                <a:ext cx="245" cy="2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kumimoji="1" lang="en-US" altLang="ja-JP">
                    <a:ea typeface="MS PGothic" pitchFamily="34" charset="-128"/>
                  </a:rPr>
                  <a:t>M(t)</a:t>
                </a:r>
              </a:p>
            </p:txBody>
          </p:sp>
        </p:grpSp>
        <p:sp>
          <p:nvSpPr>
            <p:cNvPr id="38" name="Line 17"/>
            <p:cNvSpPr>
              <a:spLocks noChangeShapeType="1"/>
            </p:cNvSpPr>
            <p:nvPr/>
          </p:nvSpPr>
          <p:spPr bwMode="auto">
            <a:xfrm>
              <a:off x="3060" y="1748"/>
              <a:ext cx="0" cy="289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" name="Line 18"/>
            <p:cNvSpPr>
              <a:spLocks noChangeShapeType="1"/>
            </p:cNvSpPr>
            <p:nvPr/>
          </p:nvSpPr>
          <p:spPr bwMode="auto">
            <a:xfrm>
              <a:off x="3952" y="1652"/>
              <a:ext cx="0" cy="289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" name="Line 19"/>
            <p:cNvSpPr>
              <a:spLocks noChangeShapeType="1"/>
            </p:cNvSpPr>
            <p:nvPr/>
          </p:nvSpPr>
          <p:spPr bwMode="auto">
            <a:xfrm>
              <a:off x="4739" y="1556"/>
              <a:ext cx="0" cy="289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" name="Line 20"/>
            <p:cNvSpPr>
              <a:spLocks noChangeShapeType="1"/>
            </p:cNvSpPr>
            <p:nvPr/>
          </p:nvSpPr>
          <p:spPr bwMode="auto">
            <a:xfrm>
              <a:off x="3060" y="2133"/>
              <a:ext cx="0" cy="287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" name="Line 21"/>
            <p:cNvSpPr>
              <a:spLocks noChangeShapeType="1"/>
            </p:cNvSpPr>
            <p:nvPr/>
          </p:nvSpPr>
          <p:spPr bwMode="auto">
            <a:xfrm>
              <a:off x="3952" y="2084"/>
              <a:ext cx="0" cy="288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" name="Line 22"/>
            <p:cNvSpPr>
              <a:spLocks noChangeShapeType="1"/>
            </p:cNvSpPr>
            <p:nvPr/>
          </p:nvSpPr>
          <p:spPr bwMode="auto">
            <a:xfrm>
              <a:off x="4739" y="1988"/>
              <a:ext cx="0" cy="288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" name="Line 23"/>
            <p:cNvSpPr>
              <a:spLocks noChangeShapeType="1"/>
            </p:cNvSpPr>
            <p:nvPr/>
          </p:nvSpPr>
          <p:spPr bwMode="auto">
            <a:xfrm>
              <a:off x="3060" y="1317"/>
              <a:ext cx="0" cy="288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" name="Line 24"/>
            <p:cNvSpPr>
              <a:spLocks noChangeShapeType="1"/>
            </p:cNvSpPr>
            <p:nvPr/>
          </p:nvSpPr>
          <p:spPr bwMode="auto">
            <a:xfrm>
              <a:off x="3952" y="1221"/>
              <a:ext cx="0" cy="288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" name="Line 25"/>
            <p:cNvSpPr>
              <a:spLocks noChangeShapeType="1"/>
            </p:cNvSpPr>
            <p:nvPr/>
          </p:nvSpPr>
          <p:spPr bwMode="auto">
            <a:xfrm>
              <a:off x="4739" y="1165"/>
              <a:ext cx="0" cy="288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60">
            <a:extLst>
              <a:ext uri="{FF2B5EF4-FFF2-40B4-BE49-F238E27FC236}">
                <a16:creationId xmlns:a16="http://schemas.microsoft.com/office/drawing/2014/main" xmlns="" id="{791D85D7-F412-9C48-9F2B-E33F5B7B4F3C}"/>
              </a:ext>
            </a:extLst>
          </p:cNvPr>
          <p:cNvSpPr txBox="1"/>
          <p:nvPr/>
        </p:nvSpPr>
        <p:spPr>
          <a:xfrm>
            <a:off x="1364780" y="293282"/>
            <a:ext cx="4560031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拉曼时域分布式光纤测温系统</a:t>
            </a: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0256520" y="329189"/>
            <a:ext cx="1211081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xmlns="" id="{B0EA110F-2BA5-44F1-BDF2-A8AD51CC83F5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: 圆角 25">
            <a:extLst>
              <a:ext uri="{FF2B5EF4-FFF2-40B4-BE49-F238E27FC236}">
                <a16:creationId xmlns:a16="http://schemas.microsoft.com/office/drawing/2014/main" xmlns="" id="{D7400AB1-4BEC-40E5-A53B-E3CB1F48EB8A}"/>
              </a:ext>
            </a:extLst>
          </p:cNvPr>
          <p:cNvSpPr/>
          <p:nvPr/>
        </p:nvSpPr>
        <p:spPr>
          <a:xfrm>
            <a:off x="336177" y="293282"/>
            <a:ext cx="948448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10.2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20" name="直接连接符 58">
            <a:extLst>
              <a:ext uri="{FF2B5EF4-FFF2-40B4-BE49-F238E27FC236}">
                <a16:creationId xmlns:a16="http://schemas.microsoft.com/office/drawing/2014/main" xmlns="" id="{8C5F82EF-52B4-4531-96F0-44689EA1125E}"/>
              </a:ext>
            </a:extLst>
          </p:cNvPr>
          <p:cNvCxnSpPr>
            <a:cxnSpLocks/>
          </p:cNvCxnSpPr>
          <p:nvPr/>
        </p:nvCxnSpPr>
        <p:spPr>
          <a:xfrm flipV="1">
            <a:off x="1450506" y="695281"/>
            <a:ext cx="2999293" cy="15717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矩形 27">
            <a:extLst>
              <a:ext uri="{FF2B5EF4-FFF2-40B4-BE49-F238E27FC236}">
                <a16:creationId xmlns:a16="http://schemas.microsoft.com/office/drawing/2014/main" xmlns="" id="{82FE0EE3-DD34-4ECD-AB99-E9089285A34C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xmlns="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2971800" y="903513"/>
            <a:ext cx="8294913" cy="998311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10287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黑体" pitchFamily="2" charset="-122"/>
                <a:cs typeface="+mj-cs"/>
              </a:rPr>
              <a:t>光纤中的背向散射光分析</a:t>
            </a:r>
          </a:p>
        </p:txBody>
      </p:sp>
      <p:sp>
        <p:nvSpPr>
          <p:cNvPr id="10" name="Rectangle 5"/>
          <p:cNvSpPr>
            <a:spLocks noChangeArrowheads="1"/>
          </p:cNvSpPr>
          <p:nvPr/>
        </p:nvSpPr>
        <p:spPr bwMode="auto">
          <a:xfrm>
            <a:off x="638249" y="2991446"/>
            <a:ext cx="10612078" cy="17073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22466" tIns="61233" rIns="122466" bIns="61233" anchor="ctr"/>
          <a:lstStyle/>
          <a:p>
            <a:endParaRPr lang="zh-CN" altLang="en-US"/>
          </a:p>
        </p:txBody>
      </p:sp>
      <p:sp>
        <p:nvSpPr>
          <p:cNvPr id="11" name="Oval 6"/>
          <p:cNvSpPr>
            <a:spLocks noChangeArrowheads="1"/>
          </p:cNvSpPr>
          <p:nvPr/>
        </p:nvSpPr>
        <p:spPr bwMode="auto">
          <a:xfrm>
            <a:off x="5713281" y="3695105"/>
            <a:ext cx="388188" cy="28575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122466" tIns="61233" rIns="122466" bIns="61233" anchor="ctr"/>
          <a:lstStyle/>
          <a:p>
            <a:endParaRPr lang="zh-CN" altLang="en-US"/>
          </a:p>
        </p:txBody>
      </p:sp>
      <p:sp>
        <p:nvSpPr>
          <p:cNvPr id="12" name="Line 7"/>
          <p:cNvSpPr>
            <a:spLocks noChangeShapeType="1"/>
          </p:cNvSpPr>
          <p:nvPr/>
        </p:nvSpPr>
        <p:spPr bwMode="auto">
          <a:xfrm flipV="1">
            <a:off x="5901421" y="3086101"/>
            <a:ext cx="0" cy="475059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lIns="122466" tIns="61233" rIns="122466" bIns="61233"/>
          <a:lstStyle/>
          <a:p>
            <a:endParaRPr lang="zh-CN" altLang="en-US"/>
          </a:p>
        </p:txBody>
      </p:sp>
      <p:sp>
        <p:nvSpPr>
          <p:cNvPr id="13" name="Line 8"/>
          <p:cNvSpPr>
            <a:spLocks noChangeShapeType="1"/>
          </p:cNvSpPr>
          <p:nvPr/>
        </p:nvSpPr>
        <p:spPr bwMode="auto">
          <a:xfrm flipH="1" flipV="1">
            <a:off x="4927377" y="3164682"/>
            <a:ext cx="647775" cy="475059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lIns="122466" tIns="61233" rIns="122466" bIns="61233"/>
          <a:lstStyle/>
          <a:p>
            <a:endParaRPr lang="zh-CN" altLang="en-US"/>
          </a:p>
        </p:txBody>
      </p:sp>
      <p:sp>
        <p:nvSpPr>
          <p:cNvPr id="18" name="Line 9"/>
          <p:cNvSpPr>
            <a:spLocks noChangeShapeType="1"/>
          </p:cNvSpPr>
          <p:nvPr/>
        </p:nvSpPr>
        <p:spPr bwMode="auto">
          <a:xfrm flipV="1">
            <a:off x="6225309" y="3168253"/>
            <a:ext cx="645394" cy="473274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lIns="122466" tIns="61233" rIns="122466" bIns="61233"/>
          <a:lstStyle/>
          <a:p>
            <a:endParaRPr lang="zh-CN" altLang="en-US"/>
          </a:p>
        </p:txBody>
      </p:sp>
      <p:sp>
        <p:nvSpPr>
          <p:cNvPr id="19" name="Line 10"/>
          <p:cNvSpPr>
            <a:spLocks noChangeShapeType="1"/>
          </p:cNvSpPr>
          <p:nvPr/>
        </p:nvSpPr>
        <p:spPr bwMode="auto">
          <a:xfrm>
            <a:off x="5901421" y="4111229"/>
            <a:ext cx="0" cy="475059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lIns="122466" tIns="61233" rIns="122466" bIns="61233"/>
          <a:lstStyle/>
          <a:p>
            <a:endParaRPr lang="zh-CN" altLang="en-US"/>
          </a:p>
        </p:txBody>
      </p:sp>
      <p:sp>
        <p:nvSpPr>
          <p:cNvPr id="21" name="Line 11"/>
          <p:cNvSpPr>
            <a:spLocks noChangeShapeType="1"/>
          </p:cNvSpPr>
          <p:nvPr/>
        </p:nvSpPr>
        <p:spPr bwMode="auto">
          <a:xfrm flipH="1">
            <a:off x="4908325" y="4050506"/>
            <a:ext cx="647775" cy="473274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lIns="122466" tIns="61233" rIns="122466" bIns="61233"/>
          <a:lstStyle/>
          <a:p>
            <a:endParaRPr lang="zh-CN" altLang="en-US"/>
          </a:p>
        </p:txBody>
      </p:sp>
      <p:sp>
        <p:nvSpPr>
          <p:cNvPr id="22" name="Line 12"/>
          <p:cNvSpPr>
            <a:spLocks noChangeShapeType="1"/>
          </p:cNvSpPr>
          <p:nvPr/>
        </p:nvSpPr>
        <p:spPr bwMode="auto">
          <a:xfrm>
            <a:off x="6225309" y="4066581"/>
            <a:ext cx="645394" cy="473273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lIns="122466" tIns="61233" rIns="122466" bIns="61233"/>
          <a:lstStyle/>
          <a:p>
            <a:endParaRPr lang="zh-CN" altLang="en-US"/>
          </a:p>
        </p:txBody>
      </p:sp>
      <p:sp>
        <p:nvSpPr>
          <p:cNvPr id="23" name="Line 13"/>
          <p:cNvSpPr>
            <a:spLocks noChangeShapeType="1"/>
          </p:cNvSpPr>
          <p:nvPr/>
        </p:nvSpPr>
        <p:spPr bwMode="auto">
          <a:xfrm rot="-5400000">
            <a:off x="6945720" y="3237241"/>
            <a:ext cx="0" cy="1183619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lIns="122466" tIns="61233" rIns="122466" bIns="61233"/>
          <a:lstStyle/>
          <a:p>
            <a:endParaRPr lang="zh-CN" altLang="en-US"/>
          </a:p>
        </p:txBody>
      </p:sp>
      <p:sp>
        <p:nvSpPr>
          <p:cNvPr id="24" name="Line 14"/>
          <p:cNvSpPr>
            <a:spLocks noChangeShapeType="1"/>
          </p:cNvSpPr>
          <p:nvPr/>
        </p:nvSpPr>
        <p:spPr bwMode="auto">
          <a:xfrm rot="5400000" flipH="1">
            <a:off x="4796393" y="3221165"/>
            <a:ext cx="0" cy="1247919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lIns="122466" tIns="61233" rIns="122466" bIns="61233"/>
          <a:lstStyle/>
          <a:p>
            <a:endParaRPr lang="zh-CN" altLang="en-US"/>
          </a:p>
        </p:txBody>
      </p:sp>
      <p:sp>
        <p:nvSpPr>
          <p:cNvPr id="25" name="Line 15"/>
          <p:cNvSpPr>
            <a:spLocks noChangeShapeType="1"/>
          </p:cNvSpPr>
          <p:nvPr/>
        </p:nvSpPr>
        <p:spPr bwMode="auto">
          <a:xfrm rot="5400000" flipH="1">
            <a:off x="10252469" y="2458536"/>
            <a:ext cx="0" cy="1805196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lIns="122466" tIns="61233" rIns="122466" bIns="61233"/>
          <a:lstStyle/>
          <a:p>
            <a:endParaRPr lang="zh-CN" altLang="en-US"/>
          </a:p>
        </p:txBody>
      </p:sp>
      <p:sp>
        <p:nvSpPr>
          <p:cNvPr id="26" name="Line 16"/>
          <p:cNvSpPr>
            <a:spLocks noChangeShapeType="1"/>
          </p:cNvSpPr>
          <p:nvPr/>
        </p:nvSpPr>
        <p:spPr bwMode="auto">
          <a:xfrm rot="5400000" flipH="1">
            <a:off x="1428917" y="2942526"/>
            <a:ext cx="0" cy="1805196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lIns="122466" tIns="61233" rIns="122466" bIns="61233"/>
          <a:lstStyle/>
          <a:p>
            <a:endParaRPr lang="zh-CN" altLang="en-US"/>
          </a:p>
        </p:txBody>
      </p:sp>
      <p:sp>
        <p:nvSpPr>
          <p:cNvPr id="27" name="Line 17"/>
          <p:cNvSpPr>
            <a:spLocks noChangeShapeType="1"/>
          </p:cNvSpPr>
          <p:nvPr/>
        </p:nvSpPr>
        <p:spPr bwMode="auto">
          <a:xfrm>
            <a:off x="659684" y="2982516"/>
            <a:ext cx="1061207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lIns="122466" tIns="61233" rIns="122466" bIns="61233"/>
          <a:lstStyle/>
          <a:p>
            <a:endParaRPr lang="zh-CN" altLang="en-US"/>
          </a:p>
        </p:txBody>
      </p:sp>
      <p:sp>
        <p:nvSpPr>
          <p:cNvPr id="30" name="Line 18"/>
          <p:cNvSpPr>
            <a:spLocks noChangeShapeType="1"/>
          </p:cNvSpPr>
          <p:nvPr/>
        </p:nvSpPr>
        <p:spPr bwMode="auto">
          <a:xfrm>
            <a:off x="659684" y="4688087"/>
            <a:ext cx="1061207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lIns="122466" tIns="61233" rIns="122466" bIns="61233"/>
          <a:lstStyle/>
          <a:p>
            <a:endParaRPr lang="zh-CN" altLang="en-US"/>
          </a:p>
        </p:txBody>
      </p:sp>
      <p:sp>
        <p:nvSpPr>
          <p:cNvPr id="31" name="Line 23"/>
          <p:cNvSpPr>
            <a:spLocks noChangeShapeType="1"/>
          </p:cNvSpPr>
          <p:nvPr/>
        </p:nvSpPr>
        <p:spPr bwMode="auto">
          <a:xfrm flipH="1" flipV="1">
            <a:off x="6899281" y="3870128"/>
            <a:ext cx="366755" cy="18037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lIns="122466" tIns="61233" rIns="122466" bIns="61233"/>
          <a:lstStyle/>
          <a:p>
            <a:endParaRPr lang="zh-CN" altLang="en-US"/>
          </a:p>
        </p:txBody>
      </p:sp>
      <p:sp>
        <p:nvSpPr>
          <p:cNvPr id="32" name="Rectangle 24"/>
          <p:cNvSpPr>
            <a:spLocks noChangeArrowheads="1"/>
          </p:cNvSpPr>
          <p:nvPr/>
        </p:nvSpPr>
        <p:spPr bwMode="auto">
          <a:xfrm>
            <a:off x="11300340" y="2887861"/>
            <a:ext cx="2200530" cy="757238"/>
          </a:xfrm>
          <a:prstGeom prst="rect">
            <a:avLst/>
          </a:prstGeom>
          <a:solidFill>
            <a:schemeClr val="tx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122466" tIns="61233" rIns="122466" bIns="61233" anchor="ctr"/>
          <a:lstStyle/>
          <a:p>
            <a:pPr algn="ctr" eaLnBrk="1" hangingPunct="1">
              <a:defRPr/>
            </a:pPr>
            <a:r>
              <a:rPr kumimoji="1" lang="en-US" altLang="ja-JP" b="1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  <a:ea typeface="MS PGothic" pitchFamily="34" charset="-128"/>
              </a:rPr>
              <a:t>Laser</a:t>
            </a:r>
          </a:p>
        </p:txBody>
      </p:sp>
      <p:sp>
        <p:nvSpPr>
          <p:cNvPr id="33" name="Rectangle 25"/>
          <p:cNvSpPr>
            <a:spLocks noChangeArrowheads="1"/>
          </p:cNvSpPr>
          <p:nvPr/>
        </p:nvSpPr>
        <p:spPr bwMode="auto">
          <a:xfrm>
            <a:off x="11300340" y="3929063"/>
            <a:ext cx="2200530" cy="759024"/>
          </a:xfrm>
          <a:prstGeom prst="rect">
            <a:avLst/>
          </a:prstGeom>
          <a:solidFill>
            <a:schemeClr val="tx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122466" tIns="61233" rIns="122466" bIns="61233" anchor="ctr"/>
          <a:lstStyle/>
          <a:p>
            <a:pPr algn="ctr" eaLnBrk="1" hangingPunct="1">
              <a:defRPr/>
            </a:pPr>
            <a:r>
              <a:rPr kumimoji="1" lang="en-US" altLang="ja-JP" b="1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  <a:ea typeface="MS PGothic" pitchFamily="34" charset="-128"/>
              </a:rPr>
              <a:t>Detector</a:t>
            </a:r>
          </a:p>
        </p:txBody>
      </p:sp>
      <p:sp>
        <p:nvSpPr>
          <p:cNvPr id="34" name="Line 26"/>
          <p:cNvSpPr>
            <a:spLocks noChangeShapeType="1"/>
          </p:cNvSpPr>
          <p:nvPr/>
        </p:nvSpPr>
        <p:spPr bwMode="auto">
          <a:xfrm rot="-5400000">
            <a:off x="10328678" y="3459263"/>
            <a:ext cx="0" cy="1700409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lIns="122466" tIns="61233" rIns="122466" bIns="61233"/>
          <a:lstStyle/>
          <a:p>
            <a:endParaRPr lang="zh-CN" altLang="en-US"/>
          </a:p>
        </p:txBody>
      </p:sp>
      <p:sp>
        <p:nvSpPr>
          <p:cNvPr id="35" name="Text Box 28"/>
          <p:cNvSpPr txBox="1">
            <a:spLocks noChangeArrowheads="1"/>
          </p:cNvSpPr>
          <p:nvPr/>
        </p:nvSpPr>
        <p:spPr bwMode="auto">
          <a:xfrm>
            <a:off x="2129085" y="4109443"/>
            <a:ext cx="1502476" cy="4929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22466" tIns="61233" rIns="122466" bIns="61233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kumimoji="1" lang="en-US" altLang="zh-CN">
                <a:ea typeface="黑体" pitchFamily="2" charset="-122"/>
              </a:rPr>
              <a:t>Fiber core</a:t>
            </a:r>
          </a:p>
        </p:txBody>
      </p:sp>
      <p:sp>
        <p:nvSpPr>
          <p:cNvPr id="36" name="Line 29"/>
          <p:cNvSpPr>
            <a:spLocks noChangeShapeType="1"/>
          </p:cNvSpPr>
          <p:nvPr/>
        </p:nvSpPr>
        <p:spPr bwMode="auto">
          <a:xfrm>
            <a:off x="5920474" y="5127427"/>
            <a:ext cx="5379867" cy="0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 type="arrow" w="med" len="med"/>
            <a:tailEnd type="arrow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lIns="122466" tIns="61233" rIns="122466" bIns="61233"/>
          <a:lstStyle/>
          <a:p>
            <a:endParaRPr lang="zh-CN" altLang="en-US"/>
          </a:p>
        </p:txBody>
      </p:sp>
      <p:sp>
        <p:nvSpPr>
          <p:cNvPr id="37" name="Rectangle 30"/>
          <p:cNvSpPr>
            <a:spLocks noChangeArrowheads="1"/>
          </p:cNvSpPr>
          <p:nvPr/>
        </p:nvSpPr>
        <p:spPr bwMode="auto">
          <a:xfrm>
            <a:off x="7694711" y="5104209"/>
            <a:ext cx="1630716" cy="431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22466" tIns="61233" rIns="122466" bIns="61233">
            <a:spAutoFit/>
          </a:bodyPr>
          <a:lstStyle/>
          <a:p>
            <a:pPr eaLnBrk="1" hangingPunct="1"/>
            <a:r>
              <a:rPr kumimoji="1" lang="en-US" altLang="zh-CN">
                <a:ea typeface="黑体" pitchFamily="2" charset="-122"/>
              </a:rPr>
              <a:t>Distance</a:t>
            </a:r>
            <a:r>
              <a:rPr kumimoji="1" lang="zh-CN" altLang="en-US"/>
              <a:t>：</a:t>
            </a:r>
            <a:r>
              <a:rPr kumimoji="1" lang="en-US" altLang="ja-JP" i="1">
                <a:ea typeface="MS PGothic" pitchFamily="34" charset="-128"/>
              </a:rPr>
              <a:t>z</a:t>
            </a:r>
          </a:p>
        </p:txBody>
      </p:sp>
      <p:sp>
        <p:nvSpPr>
          <p:cNvPr id="38" name="Line 31"/>
          <p:cNvSpPr>
            <a:spLocks noChangeShapeType="1"/>
          </p:cNvSpPr>
          <p:nvPr/>
        </p:nvSpPr>
        <p:spPr bwMode="auto">
          <a:xfrm>
            <a:off x="5887132" y="3777259"/>
            <a:ext cx="0" cy="1525191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lIns="122466" tIns="61233" rIns="122466" bIns="61233"/>
          <a:lstStyle/>
          <a:p>
            <a:endParaRPr lang="zh-CN" altLang="en-US"/>
          </a:p>
        </p:txBody>
      </p:sp>
      <p:sp>
        <p:nvSpPr>
          <p:cNvPr id="39" name="Line 32"/>
          <p:cNvSpPr>
            <a:spLocks noChangeShapeType="1"/>
          </p:cNvSpPr>
          <p:nvPr/>
        </p:nvSpPr>
        <p:spPr bwMode="auto">
          <a:xfrm>
            <a:off x="11300340" y="3780831"/>
            <a:ext cx="0" cy="1525191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lIns="122466" tIns="61233" rIns="122466" bIns="61233"/>
          <a:lstStyle/>
          <a:p>
            <a:endParaRPr lang="zh-CN" altLang="en-US"/>
          </a:p>
        </p:txBody>
      </p:sp>
      <p:sp>
        <p:nvSpPr>
          <p:cNvPr id="40" name="任意多边形 39"/>
          <p:cNvSpPr/>
          <p:nvPr/>
        </p:nvSpPr>
        <p:spPr>
          <a:xfrm>
            <a:off x="9903210" y="2332689"/>
            <a:ext cx="1251857" cy="555172"/>
          </a:xfrm>
          <a:custGeom>
            <a:avLst/>
            <a:gdLst>
              <a:gd name="connsiteX0" fmla="*/ 0 w 1426028"/>
              <a:gd name="connsiteY0" fmla="*/ 544286 h 555172"/>
              <a:gd name="connsiteX1" fmla="*/ 468085 w 1426028"/>
              <a:gd name="connsiteY1" fmla="*/ 544286 h 555172"/>
              <a:gd name="connsiteX2" fmla="*/ 468085 w 1426028"/>
              <a:gd name="connsiteY2" fmla="*/ 0 h 555172"/>
              <a:gd name="connsiteX3" fmla="*/ 936171 w 1426028"/>
              <a:gd name="connsiteY3" fmla="*/ 0 h 555172"/>
              <a:gd name="connsiteX4" fmla="*/ 947057 w 1426028"/>
              <a:gd name="connsiteY4" fmla="*/ 555172 h 555172"/>
              <a:gd name="connsiteX5" fmla="*/ 1426028 w 1426028"/>
              <a:gd name="connsiteY5" fmla="*/ 555172 h 555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26028" h="555172">
                <a:moveTo>
                  <a:pt x="0" y="544286"/>
                </a:moveTo>
                <a:lnTo>
                  <a:pt x="468085" y="544286"/>
                </a:lnTo>
                <a:lnTo>
                  <a:pt x="468085" y="0"/>
                </a:lnTo>
                <a:lnTo>
                  <a:pt x="936171" y="0"/>
                </a:lnTo>
                <a:lnTo>
                  <a:pt x="947057" y="555172"/>
                </a:lnTo>
                <a:lnTo>
                  <a:pt x="1426028" y="555172"/>
                </a:lnTo>
              </a:path>
            </a:pathLst>
          </a:cu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任意多边形 40"/>
          <p:cNvSpPr/>
          <p:nvPr/>
        </p:nvSpPr>
        <p:spPr>
          <a:xfrm>
            <a:off x="9349871" y="3980855"/>
            <a:ext cx="1210873" cy="207129"/>
          </a:xfrm>
          <a:custGeom>
            <a:avLst/>
            <a:gdLst>
              <a:gd name="connsiteX0" fmla="*/ 0 w 1426028"/>
              <a:gd name="connsiteY0" fmla="*/ 544286 h 555172"/>
              <a:gd name="connsiteX1" fmla="*/ 468085 w 1426028"/>
              <a:gd name="connsiteY1" fmla="*/ 544286 h 555172"/>
              <a:gd name="connsiteX2" fmla="*/ 468085 w 1426028"/>
              <a:gd name="connsiteY2" fmla="*/ 0 h 555172"/>
              <a:gd name="connsiteX3" fmla="*/ 936171 w 1426028"/>
              <a:gd name="connsiteY3" fmla="*/ 0 h 555172"/>
              <a:gd name="connsiteX4" fmla="*/ 947057 w 1426028"/>
              <a:gd name="connsiteY4" fmla="*/ 555172 h 555172"/>
              <a:gd name="connsiteX5" fmla="*/ 1426028 w 1426028"/>
              <a:gd name="connsiteY5" fmla="*/ 555172 h 555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26028" h="555172">
                <a:moveTo>
                  <a:pt x="0" y="544286"/>
                </a:moveTo>
                <a:lnTo>
                  <a:pt x="468085" y="544286"/>
                </a:lnTo>
                <a:lnTo>
                  <a:pt x="468085" y="0"/>
                </a:lnTo>
                <a:lnTo>
                  <a:pt x="936171" y="0"/>
                </a:lnTo>
                <a:lnTo>
                  <a:pt x="947057" y="555172"/>
                </a:lnTo>
                <a:lnTo>
                  <a:pt x="1426028" y="555172"/>
                </a:lnTo>
              </a:path>
            </a:pathLst>
          </a:cu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42" name="对象 4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1330374353"/>
              </p:ext>
            </p:extLst>
          </p:nvPr>
        </p:nvGraphicFramePr>
        <p:xfrm>
          <a:off x="9024480" y="5104209"/>
          <a:ext cx="1227031" cy="1056610"/>
        </p:xfrm>
        <a:graphic>
          <a:graphicData uri="http://schemas.openxmlformats.org/presentationml/2006/ole">
            <p:oleObj spid="_x0000_s47106" name="Equation" r:id="rId3" imgW="457200" imgH="393480" progId="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8" grpId="0" animBg="1"/>
      <p:bldP spid="19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31" grpId="0" animBg="1"/>
      <p:bldP spid="34" grpId="0" animBg="1"/>
      <p:bldP spid="36" grpId="0" animBg="1"/>
      <p:bldP spid="37" grpId="0"/>
      <p:bldP spid="38" grpId="0" animBg="1"/>
      <p:bldP spid="39" grpId="0" animBg="1"/>
      <p:bldP spid="40" grpId="0" animBg="1"/>
      <p:bldP spid="4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60">
            <a:extLst>
              <a:ext uri="{FF2B5EF4-FFF2-40B4-BE49-F238E27FC236}">
                <a16:creationId xmlns:a16="http://schemas.microsoft.com/office/drawing/2014/main" xmlns="" id="{791D85D7-F412-9C48-9F2B-E33F5B7B4F3C}"/>
              </a:ext>
            </a:extLst>
          </p:cNvPr>
          <p:cNvSpPr txBox="1"/>
          <p:nvPr/>
        </p:nvSpPr>
        <p:spPr>
          <a:xfrm>
            <a:off x="1364780" y="293282"/>
            <a:ext cx="4560031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拉曼时域分布式光纤测温系统</a:t>
            </a: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0256520" y="329189"/>
            <a:ext cx="1211081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xmlns="" id="{B0EA110F-2BA5-44F1-BDF2-A8AD51CC83F5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: 圆角 25">
            <a:extLst>
              <a:ext uri="{FF2B5EF4-FFF2-40B4-BE49-F238E27FC236}">
                <a16:creationId xmlns:a16="http://schemas.microsoft.com/office/drawing/2014/main" xmlns="" id="{D7400AB1-4BEC-40E5-A53B-E3CB1F48EB8A}"/>
              </a:ext>
            </a:extLst>
          </p:cNvPr>
          <p:cNvSpPr/>
          <p:nvPr/>
        </p:nvSpPr>
        <p:spPr>
          <a:xfrm>
            <a:off x="336177" y="293282"/>
            <a:ext cx="948448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10.2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20" name="直接连接符 58">
            <a:extLst>
              <a:ext uri="{FF2B5EF4-FFF2-40B4-BE49-F238E27FC236}">
                <a16:creationId xmlns:a16="http://schemas.microsoft.com/office/drawing/2014/main" xmlns="" id="{8C5F82EF-52B4-4531-96F0-44689EA1125E}"/>
              </a:ext>
            </a:extLst>
          </p:cNvPr>
          <p:cNvCxnSpPr>
            <a:cxnSpLocks/>
          </p:cNvCxnSpPr>
          <p:nvPr/>
        </p:nvCxnSpPr>
        <p:spPr>
          <a:xfrm flipV="1">
            <a:off x="1450506" y="695281"/>
            <a:ext cx="2999293" cy="15717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矩形 27">
            <a:extLst>
              <a:ext uri="{FF2B5EF4-FFF2-40B4-BE49-F238E27FC236}">
                <a16:creationId xmlns:a16="http://schemas.microsoft.com/office/drawing/2014/main" xmlns="" id="{82FE0EE3-DD34-4ECD-AB99-E9089285A34C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xmlns="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p:sp>
        <p:nvSpPr>
          <p:cNvPr id="9" name="标题 4"/>
          <p:cNvSpPr txBox="1">
            <a:spLocks/>
          </p:cNvSpPr>
          <p:nvPr/>
        </p:nvSpPr>
        <p:spPr>
          <a:xfrm>
            <a:off x="2971800" y="903513"/>
            <a:ext cx="8294913" cy="998311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10287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光纤中的</a:t>
            </a:r>
            <a:r>
              <a:rPr kumimoji="0" lang="zh-CN" altLang="en-US" sz="5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背向散射光谱</a:t>
            </a:r>
            <a:endParaRPr kumimoji="0" lang="zh-CN" altLang="en-US" sz="50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0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9688513" y="7151688"/>
            <a:ext cx="3086100" cy="409575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995033" indent="-382705"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530820" indent="-306164"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2143148" indent="-306164"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755476" indent="-306164"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3367804" indent="-306164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980132" indent="-306164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4592460" indent="-306164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5204788" indent="-306164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fld id="{7CE32B2D-0EC3-4C71-8666-7E77E5BE82AF}" type="slidenum">
              <a:rPr lang="en-US" altLang="en-US" sz="1900"/>
              <a:pPr/>
              <a:t>4</a:t>
            </a:fld>
            <a:endParaRPr lang="en-US" altLang="en-US" sz="1900" dirty="0"/>
          </a:p>
        </p:txBody>
      </p:sp>
      <p:sp>
        <p:nvSpPr>
          <p:cNvPr id="11" name="日期占位符 4"/>
          <p:cNvSpPr>
            <a:spLocks noGrp="1"/>
          </p:cNvSpPr>
          <p:nvPr>
            <p:ph type="dt" sz="quarter" idx="4294967295"/>
          </p:nvPr>
        </p:nvSpPr>
        <p:spPr>
          <a:xfrm>
            <a:off x="0" y="7151688"/>
            <a:ext cx="3086100" cy="409575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995033" indent="-382705"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530820" indent="-306164"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2143148" indent="-306164"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755476" indent="-306164"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3367804" indent="-306164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980132" indent="-306164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4592460" indent="-306164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5204788" indent="-306164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fld id="{B5372B87-28C9-45AA-AC39-03E1A02BA1BF}" type="datetime2">
              <a:rPr lang="zh-CN" altLang="en-US" sz="1900">
                <a:solidFill>
                  <a:srgbClr val="9999FF"/>
                </a:solidFill>
              </a:rPr>
              <a:pPr/>
              <a:t>2022年5月2日</a:t>
            </a:fld>
            <a:endParaRPr lang="en-US" altLang="en-US" sz="1900" dirty="0">
              <a:solidFill>
                <a:srgbClr val="9999FF"/>
              </a:solidFill>
            </a:endParaRPr>
          </a:p>
        </p:txBody>
      </p:sp>
      <p:sp>
        <p:nvSpPr>
          <p:cNvPr id="12" name="AutoShape 38"/>
          <p:cNvSpPr>
            <a:spLocks noChangeArrowheads="1"/>
          </p:cNvSpPr>
          <p:nvPr/>
        </p:nvSpPr>
        <p:spPr bwMode="auto">
          <a:xfrm>
            <a:off x="376282" y="1752005"/>
            <a:ext cx="12638758" cy="5184576"/>
          </a:xfrm>
          <a:prstGeom prst="roundRect">
            <a:avLst>
              <a:gd name="adj" fmla="val 12222"/>
            </a:avLst>
          </a:prstGeom>
          <a:solidFill>
            <a:srgbClr val="E1E1FF">
              <a:alpha val="98038"/>
            </a:srgbClr>
          </a:solidFill>
          <a:ln w="12700" cap="sq">
            <a:solidFill>
              <a:schemeClr val="accent1"/>
            </a:solidFill>
            <a:round/>
            <a:headEnd type="none" w="sm" len="sm"/>
            <a:tailEnd type="none" w="sm" len="sm"/>
          </a:ln>
        </p:spPr>
        <p:txBody>
          <a:bodyPr wrap="none" lIns="122466" tIns="61233" rIns="122466" bIns="61233" anchor="ctr"/>
          <a:lstStyle/>
          <a:p>
            <a:pPr algn="ctr"/>
            <a:endParaRPr lang="zh-CN" altLang="zh-CN"/>
          </a:p>
        </p:txBody>
      </p:sp>
      <p:sp>
        <p:nvSpPr>
          <p:cNvPr id="13" name="Line 8"/>
          <p:cNvSpPr>
            <a:spLocks noChangeShapeType="1"/>
          </p:cNvSpPr>
          <p:nvPr/>
        </p:nvSpPr>
        <p:spPr bwMode="auto">
          <a:xfrm flipV="1">
            <a:off x="7192208" y="2453878"/>
            <a:ext cx="0" cy="3766543"/>
          </a:xfrm>
          <a:prstGeom prst="line">
            <a:avLst/>
          </a:prstGeom>
          <a:noFill/>
          <a:ln w="19050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lIns="122466" tIns="61233" rIns="122466" bIns="61233"/>
          <a:lstStyle/>
          <a:p>
            <a:endParaRPr lang="zh-CN" altLang="en-US"/>
          </a:p>
        </p:txBody>
      </p:sp>
      <p:sp>
        <p:nvSpPr>
          <p:cNvPr id="18" name="Oval 9"/>
          <p:cNvSpPr>
            <a:spLocks noChangeArrowheads="1"/>
          </p:cNvSpPr>
          <p:nvPr/>
        </p:nvSpPr>
        <p:spPr bwMode="auto">
          <a:xfrm>
            <a:off x="6534907" y="2723556"/>
            <a:ext cx="1233630" cy="1844873"/>
          </a:xfrm>
          <a:prstGeom prst="ellipse">
            <a:avLst/>
          </a:prstGeom>
          <a:solidFill>
            <a:srgbClr val="FFFF99">
              <a:alpha val="50195"/>
            </a:srgbClr>
          </a:solidFill>
          <a:ln w="9525" cap="rnd">
            <a:solidFill>
              <a:srgbClr val="000000"/>
            </a:solidFill>
            <a:prstDash val="sysDot"/>
            <a:round/>
            <a:headEnd/>
            <a:tailEnd/>
          </a:ln>
        </p:spPr>
        <p:txBody>
          <a:bodyPr lIns="122466" tIns="61233" rIns="122466" bIns="61233"/>
          <a:lstStyle/>
          <a:p>
            <a:endParaRPr lang="zh-CN" altLang="en-US"/>
          </a:p>
        </p:txBody>
      </p:sp>
      <p:sp>
        <p:nvSpPr>
          <p:cNvPr id="19" name="Oval 10"/>
          <p:cNvSpPr>
            <a:spLocks noChangeArrowheads="1"/>
          </p:cNvSpPr>
          <p:nvPr/>
        </p:nvSpPr>
        <p:spPr bwMode="auto">
          <a:xfrm>
            <a:off x="8111476" y="4589859"/>
            <a:ext cx="1326511" cy="701874"/>
          </a:xfrm>
          <a:prstGeom prst="ellipse">
            <a:avLst/>
          </a:prstGeom>
          <a:solidFill>
            <a:srgbClr val="CCFFCC">
              <a:alpha val="50195"/>
            </a:srgbClr>
          </a:solidFill>
          <a:ln w="9525" cap="rnd">
            <a:solidFill>
              <a:srgbClr val="000000"/>
            </a:solidFill>
            <a:prstDash val="sysDot"/>
            <a:round/>
            <a:headEnd/>
            <a:tailEnd/>
          </a:ln>
        </p:spPr>
        <p:txBody>
          <a:bodyPr lIns="122466" tIns="61233" rIns="122466" bIns="61233"/>
          <a:lstStyle/>
          <a:p>
            <a:endParaRPr lang="zh-CN" altLang="en-US"/>
          </a:p>
        </p:txBody>
      </p:sp>
      <p:sp>
        <p:nvSpPr>
          <p:cNvPr id="21" name="Oval 11"/>
          <p:cNvSpPr>
            <a:spLocks noChangeArrowheads="1"/>
          </p:cNvSpPr>
          <p:nvPr/>
        </p:nvSpPr>
        <p:spPr bwMode="auto">
          <a:xfrm>
            <a:off x="9907148" y="5348884"/>
            <a:ext cx="1769474" cy="564356"/>
          </a:xfrm>
          <a:prstGeom prst="ellipse">
            <a:avLst/>
          </a:prstGeom>
          <a:solidFill>
            <a:srgbClr val="FFCCFF">
              <a:alpha val="50195"/>
            </a:srgbClr>
          </a:solidFill>
          <a:ln w="9525" cap="rnd">
            <a:solidFill>
              <a:srgbClr val="000000"/>
            </a:solidFill>
            <a:prstDash val="sysDot"/>
            <a:round/>
            <a:headEnd/>
            <a:tailEnd/>
          </a:ln>
        </p:spPr>
        <p:txBody>
          <a:bodyPr lIns="122466" tIns="61233" rIns="122466" bIns="61233"/>
          <a:lstStyle/>
          <a:p>
            <a:endParaRPr lang="zh-CN" altLang="en-US"/>
          </a:p>
        </p:txBody>
      </p:sp>
      <p:sp>
        <p:nvSpPr>
          <p:cNvPr id="22" name="Oval 12"/>
          <p:cNvSpPr>
            <a:spLocks noChangeArrowheads="1"/>
          </p:cNvSpPr>
          <p:nvPr/>
        </p:nvSpPr>
        <p:spPr bwMode="auto">
          <a:xfrm>
            <a:off x="3126945" y="4925616"/>
            <a:ext cx="1767092" cy="562571"/>
          </a:xfrm>
          <a:prstGeom prst="ellipse">
            <a:avLst/>
          </a:prstGeom>
          <a:solidFill>
            <a:srgbClr val="FFCCFF">
              <a:alpha val="50195"/>
            </a:srgbClr>
          </a:solidFill>
          <a:ln w="9525" cap="rnd">
            <a:solidFill>
              <a:srgbClr val="000000"/>
            </a:solidFill>
            <a:prstDash val="sysDot"/>
            <a:round/>
            <a:headEnd/>
            <a:tailEnd/>
          </a:ln>
        </p:spPr>
        <p:txBody>
          <a:bodyPr lIns="122466" tIns="61233" rIns="122466" bIns="61233"/>
          <a:lstStyle/>
          <a:p>
            <a:endParaRPr lang="zh-CN" altLang="en-US"/>
          </a:p>
        </p:txBody>
      </p:sp>
      <p:sp>
        <p:nvSpPr>
          <p:cNvPr id="23" name="Oval 13"/>
          <p:cNvSpPr>
            <a:spLocks noChangeArrowheads="1"/>
          </p:cNvSpPr>
          <p:nvPr/>
        </p:nvSpPr>
        <p:spPr bwMode="auto">
          <a:xfrm>
            <a:off x="5144096" y="4530924"/>
            <a:ext cx="1321748" cy="709017"/>
          </a:xfrm>
          <a:prstGeom prst="ellipse">
            <a:avLst/>
          </a:prstGeom>
          <a:solidFill>
            <a:srgbClr val="CCFFCC">
              <a:alpha val="50195"/>
            </a:srgbClr>
          </a:solidFill>
          <a:ln w="9525" cap="rnd">
            <a:solidFill>
              <a:srgbClr val="000000"/>
            </a:solidFill>
            <a:prstDash val="sysDot"/>
            <a:round/>
            <a:headEnd/>
            <a:tailEnd/>
          </a:ln>
        </p:spPr>
        <p:txBody>
          <a:bodyPr lIns="122466" tIns="61233" rIns="122466" bIns="61233"/>
          <a:lstStyle/>
          <a:p>
            <a:endParaRPr lang="zh-CN" altLang="en-US"/>
          </a:p>
        </p:txBody>
      </p:sp>
      <p:sp>
        <p:nvSpPr>
          <p:cNvPr id="24" name="Freeform 14"/>
          <p:cNvSpPr>
            <a:spLocks/>
          </p:cNvSpPr>
          <p:nvPr/>
        </p:nvSpPr>
        <p:spPr bwMode="auto">
          <a:xfrm>
            <a:off x="2810201" y="3036094"/>
            <a:ext cx="4265313" cy="2596753"/>
          </a:xfrm>
          <a:custGeom>
            <a:avLst/>
            <a:gdLst>
              <a:gd name="T0" fmla="*/ 2147483647 w 72"/>
              <a:gd name="T1" fmla="*/ 0 h 78"/>
              <a:gd name="T2" fmla="*/ 2147483647 w 72"/>
              <a:gd name="T3" fmla="*/ 2147483647 h 78"/>
              <a:gd name="T4" fmla="*/ 2147483647 w 72"/>
              <a:gd name="T5" fmla="*/ 2147483647 h 78"/>
              <a:gd name="T6" fmla="*/ 2147483647 w 72"/>
              <a:gd name="T7" fmla="*/ 2147483647 h 78"/>
              <a:gd name="T8" fmla="*/ 2147483647 w 72"/>
              <a:gd name="T9" fmla="*/ 2147483647 h 78"/>
              <a:gd name="T10" fmla="*/ 2147483647 w 72"/>
              <a:gd name="T11" fmla="*/ 2147483647 h 78"/>
              <a:gd name="T12" fmla="*/ 2147483647 w 72"/>
              <a:gd name="T13" fmla="*/ 2147483647 h 78"/>
              <a:gd name="T14" fmla="*/ 2147483647 w 72"/>
              <a:gd name="T15" fmla="*/ 2147483647 h 78"/>
              <a:gd name="T16" fmla="*/ 2147483647 w 72"/>
              <a:gd name="T17" fmla="*/ 2147483647 h 78"/>
              <a:gd name="T18" fmla="*/ 0 w 72"/>
              <a:gd name="T19" fmla="*/ 2147483647 h 78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72"/>
              <a:gd name="T31" fmla="*/ 0 h 78"/>
              <a:gd name="T32" fmla="*/ 72 w 72"/>
              <a:gd name="T33" fmla="*/ 78 h 78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72" h="78">
                <a:moveTo>
                  <a:pt x="72" y="0"/>
                </a:moveTo>
                <a:cubicBezTo>
                  <a:pt x="69" y="21"/>
                  <a:pt x="67" y="42"/>
                  <a:pt x="66" y="53"/>
                </a:cubicBezTo>
                <a:cubicBezTo>
                  <a:pt x="64" y="63"/>
                  <a:pt x="62" y="62"/>
                  <a:pt x="61" y="63"/>
                </a:cubicBezTo>
                <a:cubicBezTo>
                  <a:pt x="59" y="63"/>
                  <a:pt x="57" y="59"/>
                  <a:pt x="56" y="58"/>
                </a:cubicBezTo>
                <a:cubicBezTo>
                  <a:pt x="54" y="56"/>
                  <a:pt x="52" y="51"/>
                  <a:pt x="50" y="54"/>
                </a:cubicBezTo>
                <a:cubicBezTo>
                  <a:pt x="47" y="56"/>
                  <a:pt x="45" y="69"/>
                  <a:pt x="44" y="73"/>
                </a:cubicBezTo>
                <a:cubicBezTo>
                  <a:pt x="42" y="76"/>
                  <a:pt x="40" y="78"/>
                  <a:pt x="38" y="78"/>
                </a:cubicBezTo>
                <a:cubicBezTo>
                  <a:pt x="36" y="77"/>
                  <a:pt x="34" y="74"/>
                  <a:pt x="32" y="72"/>
                </a:cubicBezTo>
                <a:cubicBezTo>
                  <a:pt x="29" y="69"/>
                  <a:pt x="25" y="61"/>
                  <a:pt x="20" y="62"/>
                </a:cubicBezTo>
                <a:cubicBezTo>
                  <a:pt x="14" y="62"/>
                  <a:pt x="4" y="72"/>
                  <a:pt x="0" y="75"/>
                </a:cubicBezTo>
              </a:path>
            </a:pathLst>
          </a:custGeom>
          <a:noFill/>
          <a:ln w="285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122466" tIns="61233" rIns="122466" bIns="61233"/>
          <a:lstStyle/>
          <a:p>
            <a:endParaRPr lang="zh-CN" altLang="en-US"/>
          </a:p>
        </p:txBody>
      </p:sp>
      <p:sp>
        <p:nvSpPr>
          <p:cNvPr id="25" name="Freeform 15"/>
          <p:cNvSpPr>
            <a:spLocks/>
          </p:cNvSpPr>
          <p:nvPr/>
        </p:nvSpPr>
        <p:spPr bwMode="auto">
          <a:xfrm>
            <a:off x="7399402" y="3046810"/>
            <a:ext cx="4310562" cy="2780705"/>
          </a:xfrm>
          <a:custGeom>
            <a:avLst/>
            <a:gdLst>
              <a:gd name="T0" fmla="*/ 0 w 72"/>
              <a:gd name="T1" fmla="*/ 0 h 84"/>
              <a:gd name="T2" fmla="*/ 2147483647 w 72"/>
              <a:gd name="T3" fmla="*/ 2147483647 h 84"/>
              <a:gd name="T4" fmla="*/ 2147483647 w 72"/>
              <a:gd name="T5" fmla="*/ 2147483647 h 84"/>
              <a:gd name="T6" fmla="*/ 2147483647 w 72"/>
              <a:gd name="T7" fmla="*/ 2147483647 h 84"/>
              <a:gd name="T8" fmla="*/ 2147483647 w 72"/>
              <a:gd name="T9" fmla="*/ 2147483647 h 84"/>
              <a:gd name="T10" fmla="*/ 2147483647 w 72"/>
              <a:gd name="T11" fmla="*/ 2147483647 h 84"/>
              <a:gd name="T12" fmla="*/ 2147483647 w 72"/>
              <a:gd name="T13" fmla="*/ 2147483647 h 84"/>
              <a:gd name="T14" fmla="*/ 2147483647 w 72"/>
              <a:gd name="T15" fmla="*/ 2147483647 h 84"/>
              <a:gd name="T16" fmla="*/ 2147483647 w 72"/>
              <a:gd name="T17" fmla="*/ 2147483647 h 84"/>
              <a:gd name="T18" fmla="*/ 2147483647 w 72"/>
              <a:gd name="T19" fmla="*/ 2147483647 h 84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72"/>
              <a:gd name="T31" fmla="*/ 0 h 84"/>
              <a:gd name="T32" fmla="*/ 72 w 72"/>
              <a:gd name="T33" fmla="*/ 84 h 84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72" h="84">
                <a:moveTo>
                  <a:pt x="0" y="0"/>
                </a:moveTo>
                <a:cubicBezTo>
                  <a:pt x="3" y="21"/>
                  <a:pt x="5" y="42"/>
                  <a:pt x="6" y="53"/>
                </a:cubicBezTo>
                <a:cubicBezTo>
                  <a:pt x="8" y="63"/>
                  <a:pt x="10" y="62"/>
                  <a:pt x="11" y="63"/>
                </a:cubicBezTo>
                <a:cubicBezTo>
                  <a:pt x="13" y="63"/>
                  <a:pt x="15" y="59"/>
                  <a:pt x="16" y="58"/>
                </a:cubicBezTo>
                <a:cubicBezTo>
                  <a:pt x="18" y="56"/>
                  <a:pt x="20" y="50"/>
                  <a:pt x="22" y="54"/>
                </a:cubicBezTo>
                <a:cubicBezTo>
                  <a:pt x="25" y="57"/>
                  <a:pt x="27" y="73"/>
                  <a:pt x="30" y="78"/>
                </a:cubicBezTo>
                <a:cubicBezTo>
                  <a:pt x="32" y="82"/>
                  <a:pt x="34" y="81"/>
                  <a:pt x="37" y="81"/>
                </a:cubicBezTo>
                <a:cubicBezTo>
                  <a:pt x="39" y="81"/>
                  <a:pt x="43" y="78"/>
                  <a:pt x="47" y="78"/>
                </a:cubicBezTo>
                <a:cubicBezTo>
                  <a:pt x="50" y="77"/>
                  <a:pt x="55" y="76"/>
                  <a:pt x="59" y="77"/>
                </a:cubicBezTo>
                <a:cubicBezTo>
                  <a:pt x="63" y="77"/>
                  <a:pt x="69" y="82"/>
                  <a:pt x="72" y="84"/>
                </a:cubicBezTo>
              </a:path>
            </a:pathLst>
          </a:custGeom>
          <a:noFill/>
          <a:ln w="285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122466" tIns="61233" rIns="122466" bIns="61233"/>
          <a:lstStyle/>
          <a:p>
            <a:endParaRPr lang="zh-CN" altLang="en-US"/>
          </a:p>
        </p:txBody>
      </p:sp>
      <p:sp>
        <p:nvSpPr>
          <p:cNvPr id="26" name="Line 17"/>
          <p:cNvSpPr>
            <a:spLocks noChangeShapeType="1"/>
          </p:cNvSpPr>
          <p:nvPr/>
        </p:nvSpPr>
        <p:spPr bwMode="auto">
          <a:xfrm rot="-5400000">
            <a:off x="3721134" y="3757459"/>
            <a:ext cx="0" cy="2650639"/>
          </a:xfrm>
          <a:prstGeom prst="line">
            <a:avLst/>
          </a:prstGeom>
          <a:noFill/>
          <a:ln w="28575">
            <a:solidFill>
              <a:schemeClr val="accent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lIns="122466" tIns="61233" rIns="122466" bIns="61233"/>
          <a:lstStyle/>
          <a:p>
            <a:endParaRPr lang="zh-CN" altLang="en-US"/>
          </a:p>
        </p:txBody>
      </p:sp>
      <p:sp>
        <p:nvSpPr>
          <p:cNvPr id="27" name="Line 18"/>
          <p:cNvSpPr>
            <a:spLocks noChangeShapeType="1"/>
          </p:cNvSpPr>
          <p:nvPr/>
        </p:nvSpPr>
        <p:spPr bwMode="auto">
          <a:xfrm flipV="1">
            <a:off x="5744241" y="3714751"/>
            <a:ext cx="3767574" cy="1075134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lIns="122466" tIns="61233" rIns="122466" bIns="61233"/>
          <a:lstStyle/>
          <a:p>
            <a:endParaRPr lang="zh-CN" altLang="en-US"/>
          </a:p>
        </p:txBody>
      </p:sp>
      <p:sp>
        <p:nvSpPr>
          <p:cNvPr id="30" name="Line 19"/>
          <p:cNvSpPr>
            <a:spLocks noChangeShapeType="1"/>
          </p:cNvSpPr>
          <p:nvPr/>
        </p:nvSpPr>
        <p:spPr bwMode="auto">
          <a:xfrm flipV="1">
            <a:off x="8811646" y="3714751"/>
            <a:ext cx="700169" cy="1075134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lIns="122466" tIns="61233" rIns="122466" bIns="61233"/>
          <a:lstStyle/>
          <a:p>
            <a:endParaRPr lang="zh-CN" altLang="en-US"/>
          </a:p>
        </p:txBody>
      </p:sp>
      <p:sp>
        <p:nvSpPr>
          <p:cNvPr id="31" name="Line 20"/>
          <p:cNvSpPr>
            <a:spLocks noChangeShapeType="1"/>
          </p:cNvSpPr>
          <p:nvPr/>
        </p:nvSpPr>
        <p:spPr bwMode="auto">
          <a:xfrm flipH="1">
            <a:off x="2464880" y="5547122"/>
            <a:ext cx="8297236" cy="21431"/>
          </a:xfrm>
          <a:prstGeom prst="line">
            <a:avLst/>
          </a:prstGeom>
          <a:noFill/>
          <a:ln w="28575">
            <a:solidFill>
              <a:schemeClr val="accent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lIns="122466" tIns="61233" rIns="122466" bIns="61233"/>
          <a:lstStyle/>
          <a:p>
            <a:endParaRPr lang="zh-CN" altLang="en-US"/>
          </a:p>
        </p:txBody>
      </p:sp>
      <p:sp>
        <p:nvSpPr>
          <p:cNvPr id="32" name="Line 21"/>
          <p:cNvSpPr>
            <a:spLocks noChangeShapeType="1"/>
          </p:cNvSpPr>
          <p:nvPr/>
        </p:nvSpPr>
        <p:spPr bwMode="auto">
          <a:xfrm>
            <a:off x="2391052" y="6220421"/>
            <a:ext cx="947132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lIns="122466" tIns="61233" rIns="122466" bIns="61233" anchor="ctr"/>
          <a:lstStyle/>
          <a:p>
            <a:endParaRPr lang="zh-CN" altLang="en-US"/>
          </a:p>
        </p:txBody>
      </p:sp>
      <p:sp>
        <p:nvSpPr>
          <p:cNvPr id="33" name="Line 22"/>
          <p:cNvSpPr>
            <a:spLocks noChangeShapeType="1"/>
          </p:cNvSpPr>
          <p:nvPr/>
        </p:nvSpPr>
        <p:spPr bwMode="auto">
          <a:xfrm flipV="1">
            <a:off x="2391053" y="1959174"/>
            <a:ext cx="4763" cy="426124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lIns="122466" tIns="61233" rIns="122466" bIns="61233" anchor="ctr"/>
          <a:lstStyle/>
          <a:p>
            <a:endParaRPr lang="zh-CN" altLang="en-US"/>
          </a:p>
        </p:txBody>
      </p:sp>
      <p:sp>
        <p:nvSpPr>
          <p:cNvPr id="34" name="Line 23"/>
          <p:cNvSpPr>
            <a:spLocks noChangeShapeType="1"/>
          </p:cNvSpPr>
          <p:nvPr/>
        </p:nvSpPr>
        <p:spPr bwMode="auto">
          <a:xfrm>
            <a:off x="4010489" y="5095281"/>
            <a:ext cx="0" cy="451842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lIns="122466" tIns="61233" rIns="122466" bIns="61233"/>
          <a:lstStyle/>
          <a:p>
            <a:endParaRPr lang="zh-CN" altLang="en-US"/>
          </a:p>
        </p:txBody>
      </p:sp>
      <p:sp>
        <p:nvSpPr>
          <p:cNvPr id="35" name="Line 24"/>
          <p:cNvSpPr>
            <a:spLocks noChangeShapeType="1"/>
          </p:cNvSpPr>
          <p:nvPr/>
        </p:nvSpPr>
        <p:spPr bwMode="auto">
          <a:xfrm>
            <a:off x="4008091" y="5082780"/>
            <a:ext cx="2399" cy="1117996"/>
          </a:xfrm>
          <a:prstGeom prst="line">
            <a:avLst/>
          </a:prstGeom>
          <a:noFill/>
          <a:ln w="28575">
            <a:solidFill>
              <a:schemeClr val="accent2"/>
            </a:solidFill>
            <a:prstDash val="dash"/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lIns="122466" tIns="61233" rIns="122466" bIns="61233"/>
          <a:lstStyle/>
          <a:p>
            <a:endParaRPr lang="zh-CN" altLang="en-US"/>
          </a:p>
        </p:txBody>
      </p:sp>
      <p:sp>
        <p:nvSpPr>
          <p:cNvPr id="36" name="Rectangle 25"/>
          <p:cNvSpPr>
            <a:spLocks noChangeArrowheads="1"/>
          </p:cNvSpPr>
          <p:nvPr/>
        </p:nvSpPr>
        <p:spPr bwMode="auto">
          <a:xfrm>
            <a:off x="6452993" y="1891734"/>
            <a:ext cx="1478430" cy="4929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22466" tIns="61233" rIns="122466" bIns="61233">
            <a:spAutoFit/>
          </a:bodyPr>
          <a:lstStyle/>
          <a:p>
            <a:pPr eaLnBrk="1" hangingPunct="1"/>
            <a:r>
              <a:rPr kumimoji="1" lang="zh-CN" altLang="en-US" sz="2400" dirty="0" smtClean="0">
                <a:latin typeface="黑体" pitchFamily="2" charset="-122"/>
                <a:ea typeface="黑体" pitchFamily="2" charset="-122"/>
              </a:rPr>
              <a:t>入射波长</a:t>
            </a:r>
            <a:endParaRPr kumimoji="1" lang="en-US" altLang="zh-CN" sz="2400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37" name="Rectangle 27"/>
          <p:cNvSpPr>
            <a:spLocks noChangeArrowheads="1"/>
          </p:cNvSpPr>
          <p:nvPr/>
        </p:nvSpPr>
        <p:spPr bwMode="auto">
          <a:xfrm>
            <a:off x="9161730" y="3271838"/>
            <a:ext cx="1960935" cy="4929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22466" tIns="61233" rIns="122466" bIns="61233">
            <a:spAutoFit/>
          </a:bodyPr>
          <a:lstStyle/>
          <a:p>
            <a:pPr algn="ctr" eaLnBrk="1" hangingPunct="1"/>
            <a:r>
              <a:rPr lang="en-US" altLang="ja-JP" sz="2400" u="sng" dirty="0" err="1" smtClean="0">
                <a:ea typeface="黑体" pitchFamily="2" charset="-122"/>
              </a:rPr>
              <a:t>Brillouin</a:t>
            </a:r>
            <a:r>
              <a:rPr lang="zh-CN" altLang="en-US" sz="2400" u="sng" dirty="0" smtClean="0">
                <a:ea typeface="黑体" pitchFamily="2" charset="-122"/>
              </a:rPr>
              <a:t>散射</a:t>
            </a:r>
            <a:endParaRPr lang="en-US" altLang="zh-CN" sz="2400" u="sng" dirty="0">
              <a:ea typeface="黑体" pitchFamily="2" charset="-122"/>
            </a:endParaRPr>
          </a:p>
        </p:txBody>
      </p:sp>
      <p:sp>
        <p:nvSpPr>
          <p:cNvPr id="38" name="Rectangle 28"/>
          <p:cNvSpPr>
            <a:spLocks noChangeArrowheads="1"/>
          </p:cNvSpPr>
          <p:nvPr/>
        </p:nvSpPr>
        <p:spPr bwMode="auto">
          <a:xfrm>
            <a:off x="2472024" y="4075509"/>
            <a:ext cx="2012231" cy="862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22466" tIns="61233" rIns="122466" bIns="61233">
            <a:spAutoFit/>
          </a:bodyPr>
          <a:lstStyle/>
          <a:p>
            <a:pPr eaLnBrk="1" hangingPunct="1"/>
            <a:r>
              <a:rPr lang="en-US" altLang="ja-JP" sz="2400" u="sng" dirty="0" smtClean="0">
                <a:ea typeface="黑体" pitchFamily="2" charset="-122"/>
              </a:rPr>
              <a:t>Raman</a:t>
            </a:r>
            <a:r>
              <a:rPr lang="zh-CN" altLang="en-US" sz="2400" u="sng" dirty="0" smtClean="0">
                <a:ea typeface="黑体" pitchFamily="2" charset="-122"/>
              </a:rPr>
              <a:t>散射</a:t>
            </a:r>
            <a:endParaRPr lang="en-US" altLang="zh-CN" sz="2400" u="sng" dirty="0">
              <a:ea typeface="黑体" pitchFamily="2" charset="-122"/>
            </a:endParaRPr>
          </a:p>
          <a:p>
            <a:pPr eaLnBrk="1" hangingPunct="1"/>
            <a:r>
              <a:rPr lang="en-US" altLang="ja-JP" sz="2400" u="sng" dirty="0">
                <a:ea typeface="黑体" pitchFamily="2" charset="-122"/>
              </a:rPr>
              <a:t>(Anti-stokes)</a:t>
            </a:r>
          </a:p>
        </p:txBody>
      </p:sp>
      <p:sp>
        <p:nvSpPr>
          <p:cNvPr id="39" name="Rectangle 29"/>
          <p:cNvSpPr>
            <a:spLocks noChangeArrowheads="1"/>
          </p:cNvSpPr>
          <p:nvPr/>
        </p:nvSpPr>
        <p:spPr bwMode="auto">
          <a:xfrm>
            <a:off x="9863515" y="4537897"/>
            <a:ext cx="1856739" cy="862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22466" tIns="61233" rIns="122466" bIns="61233">
            <a:spAutoFit/>
          </a:bodyPr>
          <a:lstStyle/>
          <a:p>
            <a:pPr algn="ctr" eaLnBrk="1" hangingPunct="1"/>
            <a:r>
              <a:rPr lang="en-US" altLang="ja-JP" sz="2400" u="sng" dirty="0" smtClean="0">
                <a:ea typeface="黑体" pitchFamily="2" charset="-122"/>
              </a:rPr>
              <a:t>Raman</a:t>
            </a:r>
            <a:r>
              <a:rPr lang="zh-CN" altLang="en-US" sz="2400" u="sng" dirty="0" smtClean="0">
                <a:ea typeface="黑体" pitchFamily="2" charset="-122"/>
              </a:rPr>
              <a:t>散射</a:t>
            </a:r>
            <a:endParaRPr lang="en-US" altLang="zh-CN" sz="2400" u="sng" dirty="0" smtClean="0">
              <a:ea typeface="黑体" pitchFamily="2" charset="-122"/>
            </a:endParaRPr>
          </a:p>
          <a:p>
            <a:pPr algn="ctr" eaLnBrk="1" hangingPunct="1"/>
            <a:r>
              <a:rPr lang="en-US" altLang="ja-JP" sz="2400" u="sng" dirty="0" smtClean="0">
                <a:ea typeface="黑体" pitchFamily="2" charset="-122"/>
              </a:rPr>
              <a:t>(</a:t>
            </a:r>
            <a:r>
              <a:rPr lang="en-US" altLang="ja-JP" sz="2400" u="sng" dirty="0">
                <a:ea typeface="黑体" pitchFamily="2" charset="-122"/>
              </a:rPr>
              <a:t>stokes)</a:t>
            </a:r>
          </a:p>
        </p:txBody>
      </p:sp>
      <p:sp>
        <p:nvSpPr>
          <p:cNvPr id="40" name="Rectangle 30"/>
          <p:cNvSpPr>
            <a:spLocks noChangeArrowheads="1"/>
          </p:cNvSpPr>
          <p:nvPr/>
        </p:nvSpPr>
        <p:spPr bwMode="auto">
          <a:xfrm>
            <a:off x="10974071" y="6200775"/>
            <a:ext cx="1016765" cy="4929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22466" tIns="61233" rIns="122466" bIns="61233">
            <a:spAutoFit/>
          </a:bodyPr>
          <a:lstStyle/>
          <a:p>
            <a:pPr eaLnBrk="1" hangingPunct="1"/>
            <a:r>
              <a:rPr kumimoji="1" lang="zh-CN" altLang="en-US" sz="2400" dirty="0" smtClean="0">
                <a:latin typeface="黑体" pitchFamily="2" charset="-122"/>
                <a:ea typeface="黑体" pitchFamily="2" charset="-122"/>
              </a:rPr>
              <a:t>波长</a:t>
            </a:r>
            <a:r>
              <a:rPr kumimoji="1" lang="en-US" altLang="zh-CN" sz="2400" dirty="0" smtClean="0">
                <a:latin typeface="黑体" pitchFamily="2" charset="-122"/>
                <a:ea typeface="黑体" pitchFamily="2" charset="-122"/>
              </a:rPr>
              <a:t> </a:t>
            </a:r>
            <a:endParaRPr kumimoji="1" lang="en-US" altLang="zh-CN" sz="2400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41" name="Rectangle 31"/>
          <p:cNvSpPr>
            <a:spLocks noChangeArrowheads="1"/>
          </p:cNvSpPr>
          <p:nvPr/>
        </p:nvSpPr>
        <p:spPr bwMode="auto">
          <a:xfrm>
            <a:off x="1495186" y="1793933"/>
            <a:ext cx="947837" cy="4929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22466" tIns="61233" rIns="122466" bIns="61233">
            <a:spAutoFit/>
          </a:bodyPr>
          <a:lstStyle/>
          <a:p>
            <a:pPr eaLnBrk="1" hangingPunct="1"/>
            <a:r>
              <a:rPr lang="zh-CN" altLang="en-US" sz="2400" u="sng" dirty="0" smtClean="0">
                <a:ea typeface="黑体" pitchFamily="2" charset="-122"/>
              </a:rPr>
              <a:t>光强</a:t>
            </a:r>
            <a:r>
              <a:rPr lang="en-US" altLang="zh-CN" sz="2400" u="sng" dirty="0" smtClean="0">
                <a:ea typeface="黑体" pitchFamily="2" charset="-122"/>
              </a:rPr>
              <a:t> </a:t>
            </a:r>
            <a:endParaRPr lang="en-US" altLang="zh-CN" sz="2400" u="sng" dirty="0">
              <a:ea typeface="黑体" pitchFamily="2" charset="-122"/>
            </a:endParaRPr>
          </a:p>
        </p:txBody>
      </p:sp>
      <p:sp>
        <p:nvSpPr>
          <p:cNvPr id="42" name="Oval 32"/>
          <p:cNvSpPr>
            <a:spLocks noChangeArrowheads="1"/>
          </p:cNvSpPr>
          <p:nvPr/>
        </p:nvSpPr>
        <p:spPr bwMode="auto">
          <a:xfrm>
            <a:off x="3937837" y="6156127"/>
            <a:ext cx="140509" cy="98226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22466" tIns="61233" rIns="122466" bIns="61233" anchor="ctr"/>
          <a:lstStyle/>
          <a:p>
            <a:endParaRPr lang="zh-CN" altLang="en-US"/>
          </a:p>
        </p:txBody>
      </p:sp>
      <p:sp>
        <p:nvSpPr>
          <p:cNvPr id="43" name="Oval 33"/>
          <p:cNvSpPr>
            <a:spLocks noChangeArrowheads="1"/>
          </p:cNvSpPr>
          <p:nvPr/>
        </p:nvSpPr>
        <p:spPr bwMode="auto">
          <a:xfrm>
            <a:off x="2326752" y="5520333"/>
            <a:ext cx="135746" cy="10001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22466" tIns="61233" rIns="122466" bIns="61233" anchor="ctr"/>
          <a:lstStyle/>
          <a:p>
            <a:endParaRPr lang="zh-CN" altLang="en-US"/>
          </a:p>
        </p:txBody>
      </p:sp>
      <p:sp>
        <p:nvSpPr>
          <p:cNvPr id="44" name="Oval 34"/>
          <p:cNvSpPr>
            <a:spLocks noChangeArrowheads="1"/>
          </p:cNvSpPr>
          <p:nvPr/>
        </p:nvSpPr>
        <p:spPr bwMode="auto">
          <a:xfrm>
            <a:off x="2326752" y="5032772"/>
            <a:ext cx="135746" cy="10001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22466" tIns="61233" rIns="122466" bIns="61233" anchor="ctr"/>
          <a:lstStyle/>
          <a:p>
            <a:endParaRPr lang="zh-CN" altLang="en-US"/>
          </a:p>
        </p:txBody>
      </p:sp>
      <p:sp>
        <p:nvSpPr>
          <p:cNvPr id="45" name="Text Box 35"/>
          <p:cNvSpPr txBox="1">
            <a:spLocks noChangeArrowheads="1"/>
          </p:cNvSpPr>
          <p:nvPr/>
        </p:nvSpPr>
        <p:spPr bwMode="auto">
          <a:xfrm>
            <a:off x="3271274" y="6312259"/>
            <a:ext cx="1478430" cy="4929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22466" tIns="61233" rIns="122466" bIns="61233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u="sng" dirty="0" smtClean="0">
                <a:solidFill>
                  <a:srgbClr val="FF3300"/>
                </a:solidFill>
                <a:latin typeface="Arial" pitchFamily="34" charset="0"/>
                <a:ea typeface="黑体" pitchFamily="2" charset="-122"/>
              </a:rPr>
              <a:t>波长漂移</a:t>
            </a:r>
            <a:endParaRPr lang="en-US" altLang="zh-CN" u="sng" dirty="0">
              <a:solidFill>
                <a:srgbClr val="FF3300"/>
              </a:solidFill>
              <a:latin typeface="Arial" pitchFamily="34" charset="0"/>
              <a:ea typeface="黑体" pitchFamily="2" charset="-122"/>
            </a:endParaRPr>
          </a:p>
        </p:txBody>
      </p:sp>
      <p:sp>
        <p:nvSpPr>
          <p:cNvPr id="46" name="Text Box 36"/>
          <p:cNvSpPr txBox="1">
            <a:spLocks noChangeArrowheads="1"/>
          </p:cNvSpPr>
          <p:nvPr/>
        </p:nvSpPr>
        <p:spPr bwMode="auto">
          <a:xfrm>
            <a:off x="1284513" y="5075634"/>
            <a:ext cx="1282096" cy="4929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2466" tIns="61233" rIns="122466" bIns="61233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u="sng" dirty="0" smtClean="0">
                <a:solidFill>
                  <a:srgbClr val="FF3300"/>
                </a:solidFill>
                <a:latin typeface="Arial" pitchFamily="34" charset="0"/>
                <a:ea typeface="黑体" pitchFamily="2" charset="-122"/>
              </a:rPr>
              <a:t>光强差</a:t>
            </a:r>
            <a:endParaRPr lang="en-US" altLang="zh-CN" u="sng" dirty="0">
              <a:solidFill>
                <a:srgbClr val="FF3300"/>
              </a:solidFill>
              <a:latin typeface="Arial" pitchFamily="34" charset="0"/>
              <a:ea typeface="黑体" pitchFamily="2" charset="-122"/>
            </a:endParaRPr>
          </a:p>
        </p:txBody>
      </p:sp>
      <p:sp>
        <p:nvSpPr>
          <p:cNvPr id="47" name="Freeform 51"/>
          <p:cNvSpPr>
            <a:spLocks/>
          </p:cNvSpPr>
          <p:nvPr/>
        </p:nvSpPr>
        <p:spPr bwMode="auto">
          <a:xfrm>
            <a:off x="7075514" y="2723556"/>
            <a:ext cx="323887" cy="403622"/>
          </a:xfrm>
          <a:custGeom>
            <a:avLst/>
            <a:gdLst>
              <a:gd name="T0" fmla="*/ 0 w 227"/>
              <a:gd name="T1" fmla="*/ 2147483647 h 326"/>
              <a:gd name="T2" fmla="*/ 2147483647 w 227"/>
              <a:gd name="T3" fmla="*/ 2147483647 h 326"/>
              <a:gd name="T4" fmla="*/ 2147483647 w 227"/>
              <a:gd name="T5" fmla="*/ 2147483647 h 326"/>
              <a:gd name="T6" fmla="*/ 0 60000 65536"/>
              <a:gd name="T7" fmla="*/ 0 60000 65536"/>
              <a:gd name="T8" fmla="*/ 0 60000 65536"/>
              <a:gd name="T9" fmla="*/ 0 w 227"/>
              <a:gd name="T10" fmla="*/ 0 h 326"/>
              <a:gd name="T11" fmla="*/ 227 w 227"/>
              <a:gd name="T12" fmla="*/ 326 h 32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7" h="326">
                <a:moveTo>
                  <a:pt x="0" y="280"/>
                </a:moveTo>
                <a:cubicBezTo>
                  <a:pt x="26" y="140"/>
                  <a:pt x="53" y="0"/>
                  <a:pt x="91" y="8"/>
                </a:cubicBezTo>
                <a:cubicBezTo>
                  <a:pt x="129" y="16"/>
                  <a:pt x="178" y="171"/>
                  <a:pt x="227" y="326"/>
                </a:cubicBezTo>
              </a:path>
            </a:pathLst>
          </a:custGeom>
          <a:noFill/>
          <a:ln w="28575" cap="sq">
            <a:solidFill>
              <a:srgbClr val="FF33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lIns="122466" tIns="61233" rIns="122466" bIns="61233"/>
          <a:lstStyle/>
          <a:p>
            <a:endParaRPr lang="zh-CN" altLang="en-US"/>
          </a:p>
        </p:txBody>
      </p:sp>
      <p:grpSp>
        <p:nvGrpSpPr>
          <p:cNvPr id="48" name="Group 53"/>
          <p:cNvGrpSpPr>
            <a:grpSpLocks/>
          </p:cNvGrpSpPr>
          <p:nvPr/>
        </p:nvGrpSpPr>
        <p:grpSpPr bwMode="auto">
          <a:xfrm>
            <a:off x="5022639" y="2561032"/>
            <a:ext cx="2052875" cy="460772"/>
            <a:chOff x="2109" y="1434"/>
            <a:chExt cx="862" cy="258"/>
          </a:xfrm>
        </p:grpSpPr>
        <p:sp>
          <p:nvSpPr>
            <p:cNvPr id="49" name="Rectangle 26"/>
            <p:cNvSpPr>
              <a:spLocks noChangeArrowheads="1"/>
            </p:cNvSpPr>
            <p:nvPr/>
          </p:nvSpPr>
          <p:spPr bwMode="auto">
            <a:xfrm>
              <a:off x="2109" y="1434"/>
              <a:ext cx="681" cy="2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/>
              <a:r>
                <a:rPr lang="en-US" altLang="ja-JP" sz="2400" u="sng" dirty="0">
                  <a:ea typeface="黑体" pitchFamily="2" charset="-122"/>
                </a:rPr>
                <a:t>Rayleigh</a:t>
              </a:r>
              <a:endParaRPr lang="en-US" altLang="zh-CN" sz="2400" u="sng" dirty="0">
                <a:ea typeface="黑体" pitchFamily="2" charset="-122"/>
              </a:endParaRPr>
            </a:p>
          </p:txBody>
        </p:sp>
        <p:sp>
          <p:nvSpPr>
            <p:cNvPr id="50" name="Line 52"/>
            <p:cNvSpPr>
              <a:spLocks noChangeShapeType="1"/>
            </p:cNvSpPr>
            <p:nvPr/>
          </p:nvSpPr>
          <p:spPr bwMode="auto">
            <a:xfrm>
              <a:off x="2744" y="1570"/>
              <a:ext cx="227" cy="91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9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2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 tmFilter="0, 0; .2, .5; .8, .5; 1, 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2" dur="250" autoRev="1" fill="hold"/>
                                        <p:tgtEl>
                                          <p:spTgt spid="4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 tmFilter="0, 0; .2, .5; .8, .5; 1, 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7" dur="250" autoRev="1" fill="hold"/>
                                        <p:tgtEl>
                                          <p:spTgt spid="4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1" grpId="0" animBg="1"/>
      <p:bldP spid="22" grpId="0" animBg="1"/>
      <p:bldP spid="23" grpId="0" animBg="1"/>
      <p:bldP spid="27" grpId="0" animBg="1"/>
      <p:bldP spid="30" grpId="0" animBg="1"/>
      <p:bldP spid="36" grpId="0"/>
      <p:bldP spid="37" grpId="0"/>
      <p:bldP spid="38" grpId="0"/>
      <p:bldP spid="39" grpId="0"/>
      <p:bldP spid="45" grpId="0"/>
      <p:bldP spid="4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60">
            <a:extLst>
              <a:ext uri="{FF2B5EF4-FFF2-40B4-BE49-F238E27FC236}">
                <a16:creationId xmlns:a16="http://schemas.microsoft.com/office/drawing/2014/main" xmlns="" id="{791D85D7-F412-9C48-9F2B-E33F5B7B4F3C}"/>
              </a:ext>
            </a:extLst>
          </p:cNvPr>
          <p:cNvSpPr txBox="1"/>
          <p:nvPr/>
        </p:nvSpPr>
        <p:spPr>
          <a:xfrm>
            <a:off x="1364780" y="293282"/>
            <a:ext cx="4560031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拉曼时域分布式光纤测温系统</a:t>
            </a: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0256520" y="329189"/>
            <a:ext cx="1211081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xmlns="" id="{B0EA110F-2BA5-44F1-BDF2-A8AD51CC83F5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: 圆角 25">
            <a:extLst>
              <a:ext uri="{FF2B5EF4-FFF2-40B4-BE49-F238E27FC236}">
                <a16:creationId xmlns:a16="http://schemas.microsoft.com/office/drawing/2014/main" xmlns="" id="{D7400AB1-4BEC-40E5-A53B-E3CB1F48EB8A}"/>
              </a:ext>
            </a:extLst>
          </p:cNvPr>
          <p:cNvSpPr/>
          <p:nvPr/>
        </p:nvSpPr>
        <p:spPr>
          <a:xfrm>
            <a:off x="336177" y="293282"/>
            <a:ext cx="948448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10.2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20" name="直接连接符 58">
            <a:extLst>
              <a:ext uri="{FF2B5EF4-FFF2-40B4-BE49-F238E27FC236}">
                <a16:creationId xmlns:a16="http://schemas.microsoft.com/office/drawing/2014/main" xmlns="" id="{8C5F82EF-52B4-4531-96F0-44689EA1125E}"/>
              </a:ext>
            </a:extLst>
          </p:cNvPr>
          <p:cNvCxnSpPr>
            <a:cxnSpLocks/>
          </p:cNvCxnSpPr>
          <p:nvPr/>
        </p:nvCxnSpPr>
        <p:spPr>
          <a:xfrm flipV="1">
            <a:off x="1450506" y="695281"/>
            <a:ext cx="2999293" cy="15717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矩形 27">
            <a:extLst>
              <a:ext uri="{FF2B5EF4-FFF2-40B4-BE49-F238E27FC236}">
                <a16:creationId xmlns:a16="http://schemas.microsoft.com/office/drawing/2014/main" xmlns="" id="{82FE0EE3-DD34-4ECD-AB99-E9089285A34C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xmlns="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2971800" y="903513"/>
            <a:ext cx="8294913" cy="998311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10287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000" b="0" i="0" u="sng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光纤中的</a:t>
            </a:r>
            <a:r>
              <a:rPr kumimoji="0" lang="en-US" altLang="zh-CN" sz="5000" b="0" i="0" u="sng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Raman</a:t>
            </a:r>
            <a:r>
              <a:rPr kumimoji="0" lang="zh-CN" altLang="en-US" sz="5000" b="0" i="0" u="sng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itchFamily="2" charset="-122"/>
                <a:cs typeface="+mj-cs"/>
              </a:rPr>
              <a:t>散射频移</a:t>
            </a: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>
          <a:xfrm>
            <a:off x="942975" y="2054225"/>
            <a:ext cx="11831638" cy="4894263"/>
          </a:xfrm>
          <a:prstGeom prst="rect">
            <a:avLst/>
          </a:prstGeom>
        </p:spPr>
        <p:txBody>
          <a:bodyPr/>
          <a:lstStyle/>
          <a:p>
            <a:pPr marL="257175" marR="0" lvl="0" indent="-257175" algn="l" defTabSz="1028700" rtl="0" eaLnBrk="0" fontAlgn="base" latinLnBrk="0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zh-CN" altLang="en-US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itchFamily="2" charset="-122"/>
                <a:cs typeface="+mn-cs"/>
              </a:rPr>
              <a:t>谐振子为玻璃中的</a:t>
            </a:r>
            <a:r>
              <a:rPr kumimoji="0" lang="en-US" altLang="zh-CN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itchFamily="2" charset="-122"/>
                <a:cs typeface="+mn-cs"/>
              </a:rPr>
              <a:t>Si-O</a:t>
            </a:r>
            <a:r>
              <a:rPr kumimoji="0" lang="zh-CN" altLang="en-US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itchFamily="2" charset="-122"/>
                <a:cs typeface="+mn-cs"/>
              </a:rPr>
              <a:t>键</a:t>
            </a:r>
            <a:r>
              <a:rPr kumimoji="0" lang="en-US" altLang="zh-CN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itchFamily="2" charset="-122"/>
                <a:cs typeface="+mn-cs"/>
              </a:rPr>
              <a:t>, </a:t>
            </a:r>
            <a:r>
              <a:rPr kumimoji="0" lang="zh-CN" altLang="en-US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itchFamily="2" charset="-122"/>
                <a:cs typeface="+mn-cs"/>
              </a:rPr>
              <a:t>其频率 </a:t>
            </a:r>
            <a:r>
              <a:rPr kumimoji="0" lang="zh-CN" altLang="en-US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itchFamily="2" charset="-122"/>
                <a:cs typeface="Arial" pitchFamily="34" charset="0"/>
              </a:rPr>
              <a:t>≤</a:t>
            </a:r>
            <a:r>
              <a:rPr kumimoji="0" lang="en-US" altLang="zh-CN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itchFamily="2" charset="-122"/>
                <a:cs typeface="+mn-cs"/>
              </a:rPr>
              <a:t>33 T</a:t>
            </a:r>
            <a:r>
              <a:rPr kumimoji="0" lang="en-US" altLang="zh-CN" sz="3200" b="0" i="1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itchFamily="2" charset="-122"/>
                <a:cs typeface="+mn-cs"/>
              </a:rPr>
              <a:t>Hz</a:t>
            </a:r>
            <a:r>
              <a:rPr kumimoji="0" lang="zh-CN" altLang="en-US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itchFamily="2" charset="-122"/>
                <a:cs typeface="+mn-cs"/>
              </a:rPr>
              <a:t>（</a:t>
            </a:r>
            <a:r>
              <a:rPr kumimoji="0" lang="en-US" altLang="zh-CN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itchFamily="2" charset="-122"/>
                <a:cs typeface="+mn-cs"/>
              </a:rPr>
              <a:t>10</a:t>
            </a:r>
            <a:r>
              <a:rPr kumimoji="0" lang="en-US" altLang="zh-CN" sz="3200" b="0" i="0" u="none" strike="noStrike" kern="1200" cap="none" spc="0" normalizeH="0" baseline="3000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itchFamily="2" charset="-122"/>
                <a:cs typeface="+mn-cs"/>
              </a:rPr>
              <a:t>13</a:t>
            </a:r>
            <a:r>
              <a:rPr kumimoji="0" lang="en-US" altLang="zh-CN" sz="3200" b="0" i="1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itchFamily="2" charset="-122"/>
                <a:cs typeface="+mn-cs"/>
              </a:rPr>
              <a:t>Hz</a:t>
            </a:r>
            <a:r>
              <a:rPr kumimoji="0" lang="zh-CN" altLang="en-US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itchFamily="2" charset="-122"/>
                <a:cs typeface="+mn-cs"/>
              </a:rPr>
              <a:t>）</a:t>
            </a:r>
          </a:p>
          <a:p>
            <a:pPr marL="257175" marR="0" lvl="0" indent="-257175" algn="l" defTabSz="1028700" rtl="0" eaLnBrk="0" fontAlgn="base" latinLnBrk="0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zh-CN" altLang="en-US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itchFamily="2" charset="-122"/>
                <a:cs typeface="+mn-cs"/>
              </a:rPr>
              <a:t>散射光子频率降低</a:t>
            </a:r>
            <a:r>
              <a:rPr kumimoji="0" lang="en-US" altLang="zh-CN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itchFamily="2" charset="-122"/>
                <a:cs typeface="+mn-cs"/>
              </a:rPr>
              <a:t>33</a:t>
            </a:r>
            <a:r>
              <a:rPr kumimoji="0" lang="en-US" altLang="zh-CN" sz="3200" b="0" i="1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itchFamily="2" charset="-122"/>
                <a:cs typeface="+mn-cs"/>
              </a:rPr>
              <a:t>THz</a:t>
            </a:r>
            <a:r>
              <a:rPr kumimoji="0" lang="en-US" altLang="zh-CN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itchFamily="2" charset="-122"/>
                <a:cs typeface="+mn-cs"/>
              </a:rPr>
              <a:t>(Stokes) </a:t>
            </a:r>
            <a:r>
              <a:rPr kumimoji="0" lang="zh-CN" altLang="en-US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itchFamily="2" charset="-122"/>
                <a:cs typeface="+mn-cs"/>
              </a:rPr>
              <a:t>或者升高</a:t>
            </a:r>
            <a:r>
              <a:rPr kumimoji="0" lang="en-US" altLang="zh-CN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itchFamily="2" charset="-122"/>
                <a:cs typeface="+mn-cs"/>
              </a:rPr>
              <a:t>33</a:t>
            </a:r>
            <a:r>
              <a:rPr kumimoji="0" lang="en-US" altLang="zh-CN" sz="3200" b="0" i="1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itchFamily="2" charset="-122"/>
                <a:cs typeface="+mn-cs"/>
              </a:rPr>
              <a:t>THz</a:t>
            </a:r>
            <a:r>
              <a:rPr kumimoji="0" lang="en-US" altLang="zh-CN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itchFamily="2" charset="-122"/>
                <a:cs typeface="+mn-cs"/>
              </a:rPr>
              <a:t> (anti-Stokes)</a:t>
            </a:r>
          </a:p>
          <a:p>
            <a:pPr marL="257175" marR="0" lvl="0" indent="-257175" algn="l" defTabSz="1028700" rtl="0" eaLnBrk="0" fontAlgn="base" latinLnBrk="0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altLang="zh-CN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itchFamily="2" charset="-122"/>
                <a:cs typeface="+mn-cs"/>
              </a:rPr>
              <a:t>Stokes </a:t>
            </a:r>
            <a:r>
              <a:rPr kumimoji="0" lang="zh-CN" altLang="en-US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itchFamily="2" charset="-122"/>
                <a:cs typeface="+mn-cs"/>
              </a:rPr>
              <a:t>频移将波长</a:t>
            </a:r>
            <a:r>
              <a:rPr kumimoji="0" lang="en-US" altLang="zh-CN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itchFamily="2" charset="-122"/>
                <a:cs typeface="+mn-cs"/>
              </a:rPr>
              <a:t>1550</a:t>
            </a:r>
            <a:r>
              <a:rPr kumimoji="0" lang="en-US" altLang="zh-CN" sz="3200" b="0" i="1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itchFamily="2" charset="-122"/>
                <a:cs typeface="+mn-cs"/>
              </a:rPr>
              <a:t>nm</a:t>
            </a:r>
            <a:r>
              <a:rPr kumimoji="0" lang="en-US" altLang="zh-CN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itchFamily="2" charset="-122"/>
                <a:cs typeface="+mn-cs"/>
              </a:rPr>
              <a:t> </a:t>
            </a:r>
            <a:r>
              <a:rPr kumimoji="0" lang="zh-CN" altLang="en-US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itchFamily="2" charset="-122"/>
                <a:cs typeface="+mn-cs"/>
              </a:rPr>
              <a:t>的光移至</a:t>
            </a:r>
            <a:r>
              <a:rPr kumimoji="0" lang="en-US" altLang="zh-CN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itchFamily="2" charset="-122"/>
                <a:cs typeface="+mn-cs"/>
              </a:rPr>
              <a:t>1640</a:t>
            </a:r>
            <a:r>
              <a:rPr kumimoji="0" lang="en-US" altLang="zh-CN" sz="3200" b="0" i="1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itchFamily="2" charset="-122"/>
                <a:cs typeface="+mn-cs"/>
              </a:rPr>
              <a:t>nm</a:t>
            </a:r>
            <a:endParaRPr kumimoji="0" lang="en-US" altLang="zh-CN" sz="3200" b="0" i="1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itchFamily="2" charset="-122"/>
              <a:cs typeface="+mn-cs"/>
            </a:endParaRPr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688513" y="7151688"/>
            <a:ext cx="3086100" cy="409575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995033" indent="-382705"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530820" indent="-306164"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2143148" indent="-306164"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755476" indent="-306164"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3367804" indent="-306164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980132" indent="-306164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4592460" indent="-306164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5204788" indent="-306164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fld id="{C75C689E-2FA9-4F45-B8CD-5E9A45E2A0E3}" type="slidenum">
              <a:rPr lang="en-US" altLang="en-US" sz="1900"/>
              <a:pPr/>
              <a:t>5</a:t>
            </a:fld>
            <a:endParaRPr lang="en-US" altLang="en-US" sz="1900"/>
          </a:p>
        </p:txBody>
      </p:sp>
      <p:sp>
        <p:nvSpPr>
          <p:cNvPr id="12" name="日期占位符 3"/>
          <p:cNvSpPr>
            <a:spLocks noGrp="1"/>
          </p:cNvSpPr>
          <p:nvPr>
            <p:ph type="dt" sz="quarter" idx="4294967295"/>
          </p:nvPr>
        </p:nvSpPr>
        <p:spPr>
          <a:xfrm>
            <a:off x="0" y="7016750"/>
            <a:ext cx="2857500" cy="52705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2466" tIns="61233" rIns="122466" bIns="61233"/>
          <a:lstStyle>
            <a:lvl1pPr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995033" indent="-382705"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530820" indent="-306164"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2143148" indent="-306164"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755476" indent="-306164"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3367804" indent="-306164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980132" indent="-306164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4592460" indent="-306164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5204788" indent="-306164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fld id="{3FC04BF7-EAE4-4BB6-AE35-492AF9B01014}" type="datetime2">
              <a:rPr lang="zh-CN" altLang="en-US" sz="1900">
                <a:solidFill>
                  <a:srgbClr val="9999FF"/>
                </a:solidFill>
              </a:rPr>
              <a:pPr/>
              <a:t>2022年5月2日</a:t>
            </a:fld>
            <a:endParaRPr lang="en-US" altLang="en-US" sz="1900" dirty="0">
              <a:solidFill>
                <a:srgbClr val="9999FF"/>
              </a:solidFill>
            </a:endParaRPr>
          </a:p>
        </p:txBody>
      </p:sp>
      <p:grpSp>
        <p:nvGrpSpPr>
          <p:cNvPr id="13" name="Group 39"/>
          <p:cNvGrpSpPr>
            <a:grpSpLocks/>
          </p:cNvGrpSpPr>
          <p:nvPr/>
        </p:nvGrpSpPr>
        <p:grpSpPr bwMode="auto">
          <a:xfrm>
            <a:off x="2020725" y="4328856"/>
            <a:ext cx="8587782" cy="2775348"/>
            <a:chOff x="2222" y="44"/>
            <a:chExt cx="3606" cy="1554"/>
          </a:xfrm>
        </p:grpSpPr>
        <p:sp>
          <p:nvSpPr>
            <p:cNvPr id="18" name="Oval 37"/>
            <p:cNvSpPr>
              <a:spLocks noChangeArrowheads="1"/>
            </p:cNvSpPr>
            <p:nvPr/>
          </p:nvSpPr>
          <p:spPr bwMode="auto">
            <a:xfrm>
              <a:off x="2222" y="73"/>
              <a:ext cx="3606" cy="1525"/>
            </a:xfrm>
            <a:prstGeom prst="ellipse">
              <a:avLst/>
            </a:prstGeom>
            <a:solidFill>
              <a:srgbClr val="FFFFCC"/>
            </a:solidFill>
            <a:ln w="12700">
              <a:solidFill>
                <a:srgbClr val="FF5050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" name="Line 4"/>
            <p:cNvSpPr>
              <a:spLocks noChangeShapeType="1"/>
            </p:cNvSpPr>
            <p:nvPr/>
          </p:nvSpPr>
          <p:spPr bwMode="auto">
            <a:xfrm flipV="1">
              <a:off x="4336" y="44"/>
              <a:ext cx="0" cy="1177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1" name="Oval 7"/>
            <p:cNvSpPr>
              <a:spLocks noChangeArrowheads="1"/>
            </p:cNvSpPr>
            <p:nvPr/>
          </p:nvSpPr>
          <p:spPr bwMode="auto">
            <a:xfrm>
              <a:off x="5137" y="949"/>
              <a:ext cx="522" cy="176"/>
            </a:xfrm>
            <a:prstGeom prst="ellipse">
              <a:avLst/>
            </a:prstGeom>
            <a:solidFill>
              <a:srgbClr val="FFCCFF">
                <a:alpha val="50195"/>
              </a:srgbClr>
            </a:solidFill>
            <a:ln w="9525" cap="rnd">
              <a:solidFill>
                <a:srgbClr val="000000"/>
              </a:solidFill>
              <a:prstDash val="sysDot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Oval 8"/>
            <p:cNvSpPr>
              <a:spLocks noChangeArrowheads="1"/>
            </p:cNvSpPr>
            <p:nvPr/>
          </p:nvSpPr>
          <p:spPr bwMode="auto">
            <a:xfrm>
              <a:off x="3136" y="816"/>
              <a:ext cx="522" cy="176"/>
            </a:xfrm>
            <a:prstGeom prst="ellipse">
              <a:avLst/>
            </a:prstGeom>
            <a:solidFill>
              <a:srgbClr val="FFCCFF">
                <a:alpha val="50195"/>
              </a:srgbClr>
            </a:solidFill>
            <a:ln w="9525" cap="rnd">
              <a:solidFill>
                <a:srgbClr val="000000"/>
              </a:solidFill>
              <a:prstDash val="sysDot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Freeform 10"/>
            <p:cNvSpPr>
              <a:spLocks/>
            </p:cNvSpPr>
            <p:nvPr/>
          </p:nvSpPr>
          <p:spPr bwMode="auto">
            <a:xfrm>
              <a:off x="3043" y="226"/>
              <a:ext cx="1258" cy="811"/>
            </a:xfrm>
            <a:custGeom>
              <a:avLst/>
              <a:gdLst>
                <a:gd name="T0" fmla="*/ 384039 w 72"/>
                <a:gd name="T1" fmla="*/ 0 h 78"/>
                <a:gd name="T2" fmla="*/ 351978 w 72"/>
                <a:gd name="T3" fmla="*/ 59567 h 78"/>
                <a:gd name="T4" fmla="*/ 325420 w 72"/>
                <a:gd name="T5" fmla="*/ 70807 h 78"/>
                <a:gd name="T6" fmla="*/ 298565 w 72"/>
                <a:gd name="T7" fmla="*/ 65192 h 78"/>
                <a:gd name="T8" fmla="*/ 266818 w 72"/>
                <a:gd name="T9" fmla="*/ 60648 h 78"/>
                <a:gd name="T10" fmla="*/ 234757 w 72"/>
                <a:gd name="T11" fmla="*/ 82057 h 78"/>
                <a:gd name="T12" fmla="*/ 202713 w 72"/>
                <a:gd name="T13" fmla="*/ 87671 h 78"/>
                <a:gd name="T14" fmla="*/ 170651 w 72"/>
                <a:gd name="T15" fmla="*/ 80975 h 78"/>
                <a:gd name="T16" fmla="*/ 106546 w 72"/>
                <a:gd name="T17" fmla="*/ 69725 h 78"/>
                <a:gd name="T18" fmla="*/ 0 w 72"/>
                <a:gd name="T19" fmla="*/ 84323 h 7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72"/>
                <a:gd name="T31" fmla="*/ 0 h 78"/>
                <a:gd name="T32" fmla="*/ 72 w 72"/>
                <a:gd name="T33" fmla="*/ 78 h 78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72" h="78">
                  <a:moveTo>
                    <a:pt x="72" y="0"/>
                  </a:moveTo>
                  <a:cubicBezTo>
                    <a:pt x="69" y="21"/>
                    <a:pt x="67" y="42"/>
                    <a:pt x="66" y="53"/>
                  </a:cubicBezTo>
                  <a:cubicBezTo>
                    <a:pt x="64" y="63"/>
                    <a:pt x="62" y="62"/>
                    <a:pt x="61" y="63"/>
                  </a:cubicBezTo>
                  <a:cubicBezTo>
                    <a:pt x="59" y="63"/>
                    <a:pt x="57" y="59"/>
                    <a:pt x="56" y="58"/>
                  </a:cubicBezTo>
                  <a:cubicBezTo>
                    <a:pt x="54" y="56"/>
                    <a:pt x="52" y="51"/>
                    <a:pt x="50" y="54"/>
                  </a:cubicBezTo>
                  <a:cubicBezTo>
                    <a:pt x="47" y="56"/>
                    <a:pt x="45" y="69"/>
                    <a:pt x="44" y="73"/>
                  </a:cubicBezTo>
                  <a:cubicBezTo>
                    <a:pt x="42" y="76"/>
                    <a:pt x="40" y="78"/>
                    <a:pt x="38" y="78"/>
                  </a:cubicBezTo>
                  <a:cubicBezTo>
                    <a:pt x="36" y="77"/>
                    <a:pt x="34" y="74"/>
                    <a:pt x="32" y="72"/>
                  </a:cubicBezTo>
                  <a:cubicBezTo>
                    <a:pt x="29" y="69"/>
                    <a:pt x="25" y="61"/>
                    <a:pt x="20" y="62"/>
                  </a:cubicBezTo>
                  <a:cubicBezTo>
                    <a:pt x="14" y="62"/>
                    <a:pt x="4" y="72"/>
                    <a:pt x="0" y="75"/>
                  </a:cubicBezTo>
                </a:path>
              </a:pathLst>
            </a:cu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Freeform 11"/>
            <p:cNvSpPr>
              <a:spLocks/>
            </p:cNvSpPr>
            <p:nvPr/>
          </p:nvSpPr>
          <p:spPr bwMode="auto">
            <a:xfrm>
              <a:off x="4397" y="229"/>
              <a:ext cx="1272" cy="869"/>
            </a:xfrm>
            <a:custGeom>
              <a:avLst/>
              <a:gdLst>
                <a:gd name="T0" fmla="*/ 0 w 72"/>
                <a:gd name="T1" fmla="*/ 0 h 84"/>
                <a:gd name="T2" fmla="*/ 33090 w 72"/>
                <a:gd name="T3" fmla="*/ 58647 h 84"/>
                <a:gd name="T4" fmla="*/ 60544 w 72"/>
                <a:gd name="T5" fmla="*/ 69779 h 84"/>
                <a:gd name="T6" fmla="*/ 88333 w 72"/>
                <a:gd name="T7" fmla="*/ 64213 h 84"/>
                <a:gd name="T8" fmla="*/ 121405 w 72"/>
                <a:gd name="T9" fmla="*/ 59827 h 84"/>
                <a:gd name="T10" fmla="*/ 165413 w 72"/>
                <a:gd name="T11" fmla="*/ 86372 h 84"/>
                <a:gd name="T12" fmla="*/ 204121 w 72"/>
                <a:gd name="T13" fmla="*/ 89683 h 84"/>
                <a:gd name="T14" fmla="*/ 259046 w 72"/>
                <a:gd name="T15" fmla="*/ 86372 h 84"/>
                <a:gd name="T16" fmla="*/ 325226 w 72"/>
                <a:gd name="T17" fmla="*/ 85296 h 84"/>
                <a:gd name="T18" fmla="*/ 397005 w 72"/>
                <a:gd name="T19" fmla="*/ 93004 h 8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72"/>
                <a:gd name="T31" fmla="*/ 0 h 84"/>
                <a:gd name="T32" fmla="*/ 72 w 72"/>
                <a:gd name="T33" fmla="*/ 84 h 84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72" h="84">
                  <a:moveTo>
                    <a:pt x="0" y="0"/>
                  </a:moveTo>
                  <a:cubicBezTo>
                    <a:pt x="3" y="21"/>
                    <a:pt x="5" y="42"/>
                    <a:pt x="6" y="53"/>
                  </a:cubicBezTo>
                  <a:cubicBezTo>
                    <a:pt x="8" y="63"/>
                    <a:pt x="10" y="62"/>
                    <a:pt x="11" y="63"/>
                  </a:cubicBezTo>
                  <a:cubicBezTo>
                    <a:pt x="13" y="63"/>
                    <a:pt x="15" y="59"/>
                    <a:pt x="16" y="58"/>
                  </a:cubicBezTo>
                  <a:cubicBezTo>
                    <a:pt x="18" y="56"/>
                    <a:pt x="20" y="50"/>
                    <a:pt x="22" y="54"/>
                  </a:cubicBezTo>
                  <a:cubicBezTo>
                    <a:pt x="25" y="57"/>
                    <a:pt x="27" y="73"/>
                    <a:pt x="30" y="78"/>
                  </a:cubicBezTo>
                  <a:cubicBezTo>
                    <a:pt x="32" y="82"/>
                    <a:pt x="34" y="81"/>
                    <a:pt x="37" y="81"/>
                  </a:cubicBezTo>
                  <a:cubicBezTo>
                    <a:pt x="39" y="81"/>
                    <a:pt x="43" y="78"/>
                    <a:pt x="47" y="78"/>
                  </a:cubicBezTo>
                  <a:cubicBezTo>
                    <a:pt x="50" y="77"/>
                    <a:pt x="55" y="76"/>
                    <a:pt x="59" y="77"/>
                  </a:cubicBezTo>
                  <a:cubicBezTo>
                    <a:pt x="63" y="77"/>
                    <a:pt x="69" y="82"/>
                    <a:pt x="72" y="84"/>
                  </a:cubicBezTo>
                </a:path>
              </a:pathLst>
            </a:cu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Line 12"/>
            <p:cNvSpPr>
              <a:spLocks noChangeShapeType="1"/>
            </p:cNvSpPr>
            <p:nvPr/>
          </p:nvSpPr>
          <p:spPr bwMode="auto">
            <a:xfrm rot="-5400000">
              <a:off x="3312" y="475"/>
              <a:ext cx="0" cy="782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Line 15"/>
            <p:cNvSpPr>
              <a:spLocks noChangeShapeType="1"/>
            </p:cNvSpPr>
            <p:nvPr/>
          </p:nvSpPr>
          <p:spPr bwMode="auto">
            <a:xfrm flipH="1">
              <a:off x="2941" y="1011"/>
              <a:ext cx="2448" cy="6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Line 16"/>
            <p:cNvSpPr>
              <a:spLocks noChangeShapeType="1"/>
            </p:cNvSpPr>
            <p:nvPr/>
          </p:nvSpPr>
          <p:spPr bwMode="auto">
            <a:xfrm>
              <a:off x="2919" y="1221"/>
              <a:ext cx="279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" name="Line 17"/>
            <p:cNvSpPr>
              <a:spLocks noChangeShapeType="1"/>
            </p:cNvSpPr>
            <p:nvPr/>
          </p:nvSpPr>
          <p:spPr bwMode="auto">
            <a:xfrm flipV="1">
              <a:off x="2919" y="272"/>
              <a:ext cx="6" cy="9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" name="Line 18"/>
            <p:cNvSpPr>
              <a:spLocks noChangeShapeType="1"/>
            </p:cNvSpPr>
            <p:nvPr/>
          </p:nvSpPr>
          <p:spPr bwMode="auto">
            <a:xfrm>
              <a:off x="3397" y="869"/>
              <a:ext cx="0" cy="142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Line 19"/>
            <p:cNvSpPr>
              <a:spLocks noChangeShapeType="1"/>
            </p:cNvSpPr>
            <p:nvPr/>
          </p:nvSpPr>
          <p:spPr bwMode="auto">
            <a:xfrm flipH="1">
              <a:off x="4773" y="774"/>
              <a:ext cx="0" cy="458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prstDash val="dash"/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" name="Rectangle 22"/>
            <p:cNvSpPr>
              <a:spLocks noChangeArrowheads="1"/>
            </p:cNvSpPr>
            <p:nvPr/>
          </p:nvSpPr>
          <p:spPr bwMode="auto">
            <a:xfrm>
              <a:off x="2944" y="552"/>
              <a:ext cx="1067" cy="2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/>
              <a:r>
                <a:rPr lang="en-US" altLang="ja-JP" sz="2400" u="sng">
                  <a:ea typeface="黑体" pitchFamily="2" charset="-122"/>
                </a:rPr>
                <a:t>Anti-stokes</a:t>
              </a:r>
            </a:p>
          </p:txBody>
        </p:sp>
        <p:sp>
          <p:nvSpPr>
            <p:cNvPr id="34" name="Rectangle 23"/>
            <p:cNvSpPr>
              <a:spLocks noChangeArrowheads="1"/>
            </p:cNvSpPr>
            <p:nvPr/>
          </p:nvSpPr>
          <p:spPr bwMode="auto">
            <a:xfrm>
              <a:off x="5221" y="711"/>
              <a:ext cx="451" cy="2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 eaLnBrk="1" hangingPunct="1"/>
              <a:r>
                <a:rPr lang="en-US" altLang="ja-JP" sz="2400" u="sng">
                  <a:ea typeface="黑体" pitchFamily="2" charset="-122"/>
                </a:rPr>
                <a:t>stokes</a:t>
              </a:r>
            </a:p>
          </p:txBody>
        </p:sp>
        <p:sp>
          <p:nvSpPr>
            <p:cNvPr id="35" name="Rectangle 24"/>
            <p:cNvSpPr>
              <a:spLocks noChangeArrowheads="1"/>
            </p:cNvSpPr>
            <p:nvPr/>
          </p:nvSpPr>
          <p:spPr bwMode="auto">
            <a:xfrm>
              <a:off x="2897" y="132"/>
              <a:ext cx="572" cy="2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/>
              <a:r>
                <a:rPr lang="en-US" altLang="zh-CN" sz="1900" u="sng">
                  <a:ea typeface="黑体" pitchFamily="2" charset="-122"/>
                </a:rPr>
                <a:t>Intensity</a:t>
              </a:r>
              <a:r>
                <a:rPr lang="en-US" altLang="zh-CN" sz="2400" u="sng">
                  <a:ea typeface="黑体" pitchFamily="2" charset="-122"/>
                </a:rPr>
                <a:t> </a:t>
              </a:r>
            </a:p>
          </p:txBody>
        </p:sp>
        <p:sp>
          <p:nvSpPr>
            <p:cNvPr id="36" name="Oval 25"/>
            <p:cNvSpPr>
              <a:spLocks noChangeArrowheads="1"/>
            </p:cNvSpPr>
            <p:nvPr/>
          </p:nvSpPr>
          <p:spPr bwMode="auto">
            <a:xfrm>
              <a:off x="4753" y="1201"/>
              <a:ext cx="41" cy="31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" name="Oval 26"/>
            <p:cNvSpPr>
              <a:spLocks noChangeArrowheads="1"/>
            </p:cNvSpPr>
            <p:nvPr/>
          </p:nvSpPr>
          <p:spPr bwMode="auto">
            <a:xfrm>
              <a:off x="2900" y="1002"/>
              <a:ext cx="40" cy="31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" name="Oval 27"/>
            <p:cNvSpPr>
              <a:spLocks noChangeArrowheads="1"/>
            </p:cNvSpPr>
            <p:nvPr/>
          </p:nvSpPr>
          <p:spPr bwMode="auto">
            <a:xfrm>
              <a:off x="2900" y="850"/>
              <a:ext cx="40" cy="31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" name="Text Box 28"/>
            <p:cNvSpPr txBox="1">
              <a:spLocks noChangeArrowheads="1"/>
            </p:cNvSpPr>
            <p:nvPr/>
          </p:nvSpPr>
          <p:spPr bwMode="auto">
            <a:xfrm>
              <a:off x="4059" y="1207"/>
              <a:ext cx="927" cy="2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en-US" altLang="zh-CN" sz="1900" u="sng">
                  <a:solidFill>
                    <a:srgbClr val="FF3300"/>
                  </a:solidFill>
                  <a:latin typeface="Arial" pitchFamily="34" charset="0"/>
                  <a:ea typeface="黑体" pitchFamily="2" charset="-122"/>
                </a:rPr>
                <a:t>Drift of wavelength</a:t>
              </a:r>
            </a:p>
          </p:txBody>
        </p:sp>
        <p:sp>
          <p:nvSpPr>
            <p:cNvPr id="40" name="Text Box 29"/>
            <p:cNvSpPr txBox="1">
              <a:spLocks noChangeArrowheads="1"/>
            </p:cNvSpPr>
            <p:nvPr/>
          </p:nvSpPr>
          <p:spPr bwMode="auto">
            <a:xfrm>
              <a:off x="2319" y="863"/>
              <a:ext cx="665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en-US" altLang="zh-CN" sz="1600" u="sng">
                  <a:solidFill>
                    <a:srgbClr val="FF3300"/>
                  </a:solidFill>
                  <a:latin typeface="Arial" pitchFamily="34" charset="0"/>
                  <a:ea typeface="黑体" pitchFamily="2" charset="-122"/>
                </a:rPr>
                <a:t>Difference </a:t>
              </a:r>
            </a:p>
            <a:p>
              <a:pPr eaLnBrk="1" hangingPunct="1"/>
              <a:r>
                <a:rPr lang="en-US" altLang="zh-CN" sz="1600" u="sng">
                  <a:solidFill>
                    <a:srgbClr val="FF3300"/>
                  </a:solidFill>
                  <a:latin typeface="Arial" pitchFamily="34" charset="0"/>
                  <a:ea typeface="黑体" pitchFamily="2" charset="-122"/>
                </a:rPr>
                <a:t>of intensities</a:t>
              </a:r>
            </a:p>
          </p:txBody>
        </p:sp>
        <p:sp>
          <p:nvSpPr>
            <p:cNvPr id="41" name="Freeform 30"/>
            <p:cNvSpPr>
              <a:spLocks/>
            </p:cNvSpPr>
            <p:nvPr/>
          </p:nvSpPr>
          <p:spPr bwMode="auto">
            <a:xfrm>
              <a:off x="4301" y="128"/>
              <a:ext cx="96" cy="127"/>
            </a:xfrm>
            <a:custGeom>
              <a:avLst/>
              <a:gdLst>
                <a:gd name="T0" fmla="*/ 0 w 227"/>
                <a:gd name="T1" fmla="*/ 16 h 326"/>
                <a:gd name="T2" fmla="*/ 7 w 227"/>
                <a:gd name="T3" fmla="*/ 0 h 326"/>
                <a:gd name="T4" fmla="*/ 17 w 227"/>
                <a:gd name="T5" fmla="*/ 19 h 326"/>
                <a:gd name="T6" fmla="*/ 0 60000 65536"/>
                <a:gd name="T7" fmla="*/ 0 60000 65536"/>
                <a:gd name="T8" fmla="*/ 0 60000 65536"/>
                <a:gd name="T9" fmla="*/ 0 w 227"/>
                <a:gd name="T10" fmla="*/ 0 h 326"/>
                <a:gd name="T11" fmla="*/ 227 w 227"/>
                <a:gd name="T12" fmla="*/ 326 h 32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7" h="326">
                  <a:moveTo>
                    <a:pt x="0" y="280"/>
                  </a:moveTo>
                  <a:cubicBezTo>
                    <a:pt x="26" y="140"/>
                    <a:pt x="53" y="0"/>
                    <a:pt x="91" y="8"/>
                  </a:cubicBezTo>
                  <a:cubicBezTo>
                    <a:pt x="129" y="16"/>
                    <a:pt x="178" y="171"/>
                    <a:pt x="227" y="326"/>
                  </a:cubicBezTo>
                </a:path>
              </a:pathLst>
            </a:custGeom>
            <a:noFill/>
            <a:ln w="28575" cap="sq">
              <a:solidFill>
                <a:srgbClr val="FF33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60">
            <a:extLst>
              <a:ext uri="{FF2B5EF4-FFF2-40B4-BE49-F238E27FC236}">
                <a16:creationId xmlns:a16="http://schemas.microsoft.com/office/drawing/2014/main" xmlns="" id="{791D85D7-F412-9C48-9F2B-E33F5B7B4F3C}"/>
              </a:ext>
            </a:extLst>
          </p:cNvPr>
          <p:cNvSpPr txBox="1"/>
          <p:nvPr/>
        </p:nvSpPr>
        <p:spPr>
          <a:xfrm>
            <a:off x="1364780" y="293282"/>
            <a:ext cx="4560031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拉曼时域分布式光纤测温系统</a:t>
            </a: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0256520" y="329189"/>
            <a:ext cx="1211081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xmlns="" id="{B0EA110F-2BA5-44F1-BDF2-A8AD51CC83F5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: 圆角 25">
            <a:extLst>
              <a:ext uri="{FF2B5EF4-FFF2-40B4-BE49-F238E27FC236}">
                <a16:creationId xmlns:a16="http://schemas.microsoft.com/office/drawing/2014/main" xmlns="" id="{D7400AB1-4BEC-40E5-A53B-E3CB1F48EB8A}"/>
              </a:ext>
            </a:extLst>
          </p:cNvPr>
          <p:cNvSpPr/>
          <p:nvPr/>
        </p:nvSpPr>
        <p:spPr>
          <a:xfrm>
            <a:off x="336177" y="293282"/>
            <a:ext cx="948448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10.2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20" name="直接连接符 58">
            <a:extLst>
              <a:ext uri="{FF2B5EF4-FFF2-40B4-BE49-F238E27FC236}">
                <a16:creationId xmlns:a16="http://schemas.microsoft.com/office/drawing/2014/main" xmlns="" id="{8C5F82EF-52B4-4531-96F0-44689EA1125E}"/>
              </a:ext>
            </a:extLst>
          </p:cNvPr>
          <p:cNvCxnSpPr>
            <a:cxnSpLocks/>
          </p:cNvCxnSpPr>
          <p:nvPr/>
        </p:nvCxnSpPr>
        <p:spPr>
          <a:xfrm flipV="1">
            <a:off x="1450506" y="695281"/>
            <a:ext cx="2999293" cy="15717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矩形 27">
            <a:extLst>
              <a:ext uri="{FF2B5EF4-FFF2-40B4-BE49-F238E27FC236}">
                <a16:creationId xmlns:a16="http://schemas.microsoft.com/office/drawing/2014/main" xmlns="" id="{82FE0EE3-DD34-4ECD-AB99-E9089285A34C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xmlns="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p:pic>
        <p:nvPicPr>
          <p:cNvPr id="9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7550517" y="4630735"/>
            <a:ext cx="5791200" cy="3084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标题 1"/>
          <p:cNvSpPr txBox="1">
            <a:spLocks/>
          </p:cNvSpPr>
          <p:nvPr/>
        </p:nvSpPr>
        <p:spPr bwMode="auto">
          <a:xfrm>
            <a:off x="485831" y="1021556"/>
            <a:ext cx="12345829" cy="971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2466" tIns="61233" rIns="122466" bIns="61233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10287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5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宋体" pitchFamily="2" charset="-122"/>
                <a:cs typeface="+mj-cs"/>
              </a:rPr>
              <a:t>ROTDR</a:t>
            </a:r>
            <a:r>
              <a:rPr kumimoji="0" lang="zh-CN" altLang="en-US" sz="5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宋体" pitchFamily="2" charset="-122"/>
                <a:cs typeface="+mj-cs"/>
              </a:rPr>
              <a:t>的系统结构</a:t>
            </a:r>
          </a:p>
        </p:txBody>
      </p:sp>
      <p:pic>
        <p:nvPicPr>
          <p:cNvPr id="11" name="内容占位符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702551" y="1994894"/>
            <a:ext cx="12593508" cy="19448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灯片编号占位符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0859757" y="7029450"/>
            <a:ext cx="2857831" cy="514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995033" indent="-382705"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530820" indent="-306164"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2143148" indent="-306164"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755476" indent="-306164"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3367804" indent="-306164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980132" indent="-306164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4592460" indent="-306164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5204788" indent="-306164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fld id="{DD618433-CB08-4E84-9945-9B7A829A4D09}" type="slidenum">
              <a:rPr lang="en-US" altLang="en-US"/>
              <a:pPr/>
              <a:t>6</a:t>
            </a:fld>
            <a:endParaRPr lang="en-US" altLang="en-US"/>
          </a:p>
        </p:txBody>
      </p:sp>
      <p:graphicFrame>
        <p:nvGraphicFramePr>
          <p:cNvPr id="13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1072677144"/>
              </p:ext>
            </p:extLst>
          </p:nvPr>
        </p:nvGraphicFramePr>
        <p:xfrm>
          <a:off x="1768014" y="4180880"/>
          <a:ext cx="7161249" cy="3064669"/>
        </p:xfrm>
        <a:graphic>
          <a:graphicData uri="http://schemas.openxmlformats.org/presentationml/2006/ole">
            <p:oleObj spid="_x0000_s48130" name="Equation" r:id="rId5" imgW="2298700" imgH="1422400" progId="">
              <p:embed/>
            </p:oleObj>
          </a:graphicData>
        </a:graphic>
      </p:graphicFrame>
      <p:cxnSp>
        <p:nvCxnSpPr>
          <p:cNvPr id="18" name="直接箭头连接符 17"/>
          <p:cNvCxnSpPr/>
          <p:nvPr/>
        </p:nvCxnSpPr>
        <p:spPr>
          <a:xfrm>
            <a:off x="3539266" y="2635624"/>
            <a:ext cx="1194099" cy="0"/>
          </a:xfrm>
          <a:prstGeom prst="straightConnector1">
            <a:avLst/>
          </a:prstGeom>
          <a:ln w="1270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/>
          <p:cNvCxnSpPr/>
          <p:nvPr/>
        </p:nvCxnSpPr>
        <p:spPr>
          <a:xfrm flipH="1">
            <a:off x="9945519" y="3238058"/>
            <a:ext cx="1376978" cy="0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/>
          <p:nvPr/>
        </p:nvCxnSpPr>
        <p:spPr>
          <a:xfrm flipH="1">
            <a:off x="6198198" y="3126349"/>
            <a:ext cx="430306" cy="0"/>
          </a:xfrm>
          <a:prstGeom prst="straightConnector1">
            <a:avLst/>
          </a:prstGeom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/>
          <p:nvPr/>
        </p:nvCxnSpPr>
        <p:spPr>
          <a:xfrm flipH="1">
            <a:off x="6198198" y="3637754"/>
            <a:ext cx="430306" cy="0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7 4.74377E-6 L 0.48762 0.02222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375" y="111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375 0.01132 L -0.2125 0.01132 " pathEditMode="relative" rAng="0" ptsTypes="AA">
                                      <p:cBhvr>
                                        <p:cTn id="9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5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6"/>
          <p:cNvGrpSpPr>
            <a:grpSpLocks/>
          </p:cNvGrpSpPr>
          <p:nvPr/>
        </p:nvGrpSpPr>
        <p:grpSpPr bwMode="auto">
          <a:xfrm>
            <a:off x="742750" y="2153524"/>
            <a:ext cx="11632644" cy="4892428"/>
            <a:chOff x="295" y="1248"/>
            <a:chExt cx="5013" cy="2563"/>
          </a:xfrm>
        </p:grpSpPr>
        <p:sp>
          <p:nvSpPr>
            <p:cNvPr id="3" name="Line 3"/>
            <p:cNvSpPr>
              <a:spLocks noChangeShapeType="1"/>
            </p:cNvSpPr>
            <p:nvPr/>
          </p:nvSpPr>
          <p:spPr bwMode="auto">
            <a:xfrm flipV="1">
              <a:off x="475" y="1490"/>
              <a:ext cx="4833" cy="21"/>
            </a:xfrm>
            <a:prstGeom prst="line">
              <a:avLst/>
            </a:prstGeom>
            <a:noFill/>
            <a:ln w="50800">
              <a:solidFill>
                <a:srgbClr val="00CC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>
                <a:solidFill>
                  <a:srgbClr val="FF0000"/>
                </a:solidFill>
              </a:endParaRPr>
            </a:p>
          </p:txBody>
        </p:sp>
        <p:sp>
          <p:nvSpPr>
            <p:cNvPr id="4" name="Text Box 4"/>
            <p:cNvSpPr txBox="1">
              <a:spLocks noChangeArrowheads="1"/>
            </p:cNvSpPr>
            <p:nvPr/>
          </p:nvSpPr>
          <p:spPr bwMode="auto">
            <a:xfrm>
              <a:off x="3991" y="1248"/>
              <a:ext cx="613" cy="2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kumimoji="1" lang="zh-CN" altLang="en-US" b="1" dirty="0">
                  <a:solidFill>
                    <a:srgbClr val="00B050"/>
                  </a:solidFill>
                  <a:latin typeface="Arial" pitchFamily="34" charset="0"/>
                </a:rPr>
                <a:t>传感光纤</a:t>
              </a:r>
            </a:p>
          </p:txBody>
        </p:sp>
        <p:sp>
          <p:nvSpPr>
            <p:cNvPr id="5" name="Line 5"/>
            <p:cNvSpPr>
              <a:spLocks noChangeShapeType="1"/>
            </p:cNvSpPr>
            <p:nvPr/>
          </p:nvSpPr>
          <p:spPr bwMode="auto">
            <a:xfrm>
              <a:off x="739" y="3560"/>
              <a:ext cx="4364" cy="0"/>
            </a:xfrm>
            <a:prstGeom prst="line">
              <a:avLst/>
            </a:prstGeom>
            <a:noFill/>
            <a:ln w="25400">
              <a:solidFill>
                <a:schemeClr val="accent3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>
                <a:solidFill>
                  <a:srgbClr val="FF0000"/>
                </a:solidFill>
              </a:endParaRPr>
            </a:p>
          </p:txBody>
        </p:sp>
        <p:sp>
          <p:nvSpPr>
            <p:cNvPr id="6" name="Line 6"/>
            <p:cNvSpPr>
              <a:spLocks noChangeShapeType="1"/>
            </p:cNvSpPr>
            <p:nvPr/>
          </p:nvSpPr>
          <p:spPr bwMode="auto">
            <a:xfrm flipV="1">
              <a:off x="727" y="2033"/>
              <a:ext cx="0" cy="1527"/>
            </a:xfrm>
            <a:prstGeom prst="line">
              <a:avLst/>
            </a:prstGeom>
            <a:noFill/>
            <a:ln w="25400">
              <a:solidFill>
                <a:schemeClr val="accent3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>
                <a:solidFill>
                  <a:srgbClr val="FF0000"/>
                </a:solidFill>
              </a:endParaRPr>
            </a:p>
          </p:txBody>
        </p:sp>
        <p:sp>
          <p:nvSpPr>
            <p:cNvPr id="7" name="Text Box 7"/>
            <p:cNvSpPr txBox="1">
              <a:spLocks noChangeArrowheads="1"/>
            </p:cNvSpPr>
            <p:nvPr/>
          </p:nvSpPr>
          <p:spPr bwMode="auto">
            <a:xfrm>
              <a:off x="4675" y="3569"/>
              <a:ext cx="381" cy="2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kumimoji="1" lang="zh-CN" altLang="en-US" dirty="0" smtClean="0">
                  <a:solidFill>
                    <a:srgbClr val="FF0000"/>
                  </a:solidFill>
                  <a:latin typeface="Arial" pitchFamily="34" charset="0"/>
                </a:rPr>
                <a:t>距离</a:t>
              </a:r>
              <a:r>
                <a:rPr kumimoji="1" lang="en-US" altLang="zh-CN" dirty="0" smtClean="0">
                  <a:solidFill>
                    <a:srgbClr val="FF0000"/>
                  </a:solidFill>
                  <a:latin typeface="Arial" pitchFamily="34" charset="0"/>
                </a:rPr>
                <a:t> </a:t>
              </a:r>
              <a:endParaRPr kumimoji="1" lang="en-US" altLang="zh-CN" dirty="0">
                <a:solidFill>
                  <a:srgbClr val="FF0000"/>
                </a:solidFill>
                <a:latin typeface="Arial" pitchFamily="34" charset="0"/>
              </a:endParaRPr>
            </a:p>
          </p:txBody>
        </p:sp>
        <p:sp>
          <p:nvSpPr>
            <p:cNvPr id="8" name="Line 8"/>
            <p:cNvSpPr>
              <a:spLocks noChangeShapeType="1"/>
            </p:cNvSpPr>
            <p:nvPr/>
          </p:nvSpPr>
          <p:spPr bwMode="auto">
            <a:xfrm>
              <a:off x="1723" y="1553"/>
              <a:ext cx="0" cy="1876"/>
            </a:xfrm>
            <a:prstGeom prst="line">
              <a:avLst/>
            </a:prstGeom>
            <a:noFill/>
            <a:ln w="9525">
              <a:solidFill>
                <a:schemeClr val="accent3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>
                <a:solidFill>
                  <a:srgbClr val="FF0000"/>
                </a:solidFill>
              </a:endParaRPr>
            </a:p>
          </p:txBody>
        </p:sp>
        <p:sp>
          <p:nvSpPr>
            <p:cNvPr id="9" name="Line 9"/>
            <p:cNvSpPr>
              <a:spLocks noChangeShapeType="1"/>
            </p:cNvSpPr>
            <p:nvPr/>
          </p:nvSpPr>
          <p:spPr bwMode="auto">
            <a:xfrm>
              <a:off x="2451" y="1553"/>
              <a:ext cx="0" cy="1920"/>
            </a:xfrm>
            <a:prstGeom prst="line">
              <a:avLst/>
            </a:prstGeom>
            <a:noFill/>
            <a:ln w="9525">
              <a:solidFill>
                <a:schemeClr val="accent3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>
                <a:solidFill>
                  <a:srgbClr val="FF0000"/>
                </a:solidFill>
              </a:endParaRPr>
            </a:p>
          </p:txBody>
        </p:sp>
        <p:sp>
          <p:nvSpPr>
            <p:cNvPr id="10" name="Text Box 10"/>
            <p:cNvSpPr txBox="1">
              <a:spLocks noChangeArrowheads="1"/>
            </p:cNvSpPr>
            <p:nvPr/>
          </p:nvSpPr>
          <p:spPr bwMode="auto">
            <a:xfrm>
              <a:off x="1782" y="1861"/>
              <a:ext cx="610" cy="2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kumimoji="1" lang="zh-CN" altLang="en-US" dirty="0" smtClean="0">
                  <a:solidFill>
                    <a:srgbClr val="FF0000"/>
                  </a:solidFill>
                  <a:latin typeface="Arial" pitchFamily="34" charset="0"/>
                </a:rPr>
                <a:t>响应距离</a:t>
              </a:r>
              <a:endParaRPr kumimoji="1" lang="en-US" altLang="zh-CN" dirty="0">
                <a:solidFill>
                  <a:srgbClr val="FF0000"/>
                </a:solidFill>
                <a:latin typeface="Arial" pitchFamily="34" charset="0"/>
              </a:endParaRPr>
            </a:p>
          </p:txBody>
        </p:sp>
        <p:sp>
          <p:nvSpPr>
            <p:cNvPr id="11" name="Line 11"/>
            <p:cNvSpPr>
              <a:spLocks noChangeShapeType="1"/>
            </p:cNvSpPr>
            <p:nvPr/>
          </p:nvSpPr>
          <p:spPr bwMode="auto">
            <a:xfrm>
              <a:off x="868" y="1728"/>
              <a:ext cx="855" cy="0"/>
            </a:xfrm>
            <a:prstGeom prst="line">
              <a:avLst/>
            </a:prstGeom>
            <a:noFill/>
            <a:ln w="12700">
              <a:solidFill>
                <a:schemeClr val="accent3"/>
              </a:solidFill>
              <a:miter lim="800000"/>
              <a:headEnd type="arrow" w="med" len="med"/>
              <a:tailEnd type="arrow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>
                <a:solidFill>
                  <a:srgbClr val="FF0000"/>
                </a:solidFill>
              </a:endParaRPr>
            </a:p>
          </p:txBody>
        </p:sp>
        <p:sp>
          <p:nvSpPr>
            <p:cNvPr id="12" name="Line 12"/>
            <p:cNvSpPr>
              <a:spLocks noChangeShapeType="1"/>
            </p:cNvSpPr>
            <p:nvPr/>
          </p:nvSpPr>
          <p:spPr bwMode="auto">
            <a:xfrm>
              <a:off x="2451" y="1728"/>
              <a:ext cx="2652" cy="0"/>
            </a:xfrm>
            <a:prstGeom prst="line">
              <a:avLst/>
            </a:prstGeom>
            <a:noFill/>
            <a:ln w="12700">
              <a:solidFill>
                <a:schemeClr val="accent3"/>
              </a:solidFill>
              <a:miter lim="800000"/>
              <a:headEnd type="arrow" w="med" len="med"/>
              <a:tailEnd type="arrow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>
                <a:solidFill>
                  <a:srgbClr val="FF0000"/>
                </a:solidFill>
              </a:endParaRPr>
            </a:p>
          </p:txBody>
        </p:sp>
        <p:sp>
          <p:nvSpPr>
            <p:cNvPr id="13" name="Line 13"/>
            <p:cNvSpPr>
              <a:spLocks noChangeShapeType="1"/>
            </p:cNvSpPr>
            <p:nvPr/>
          </p:nvSpPr>
          <p:spPr bwMode="auto">
            <a:xfrm flipH="1">
              <a:off x="910" y="2251"/>
              <a:ext cx="2353" cy="0"/>
            </a:xfrm>
            <a:prstGeom prst="line">
              <a:avLst/>
            </a:prstGeom>
            <a:noFill/>
            <a:ln w="9525">
              <a:solidFill>
                <a:schemeClr val="accent3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>
                <a:solidFill>
                  <a:srgbClr val="FF0000"/>
                </a:solidFill>
              </a:endParaRPr>
            </a:p>
          </p:txBody>
        </p:sp>
        <p:sp>
          <p:nvSpPr>
            <p:cNvPr id="14" name="Text Box 14"/>
            <p:cNvSpPr txBox="1">
              <a:spLocks noChangeArrowheads="1"/>
            </p:cNvSpPr>
            <p:nvPr/>
          </p:nvSpPr>
          <p:spPr bwMode="auto">
            <a:xfrm>
              <a:off x="295" y="2122"/>
              <a:ext cx="360" cy="2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kumimoji="1" lang="en-US" altLang="zh-CN">
                  <a:solidFill>
                    <a:srgbClr val="FF0000"/>
                  </a:solidFill>
                  <a:latin typeface="Arial" pitchFamily="34" charset="0"/>
                </a:rPr>
                <a:t>60℃</a:t>
              </a:r>
              <a:endParaRPr kumimoji="1" lang="en-US" altLang="ja-JP">
                <a:solidFill>
                  <a:srgbClr val="FF0000"/>
                </a:solidFill>
                <a:latin typeface="Arial" pitchFamily="34" charset="0"/>
              </a:endParaRPr>
            </a:p>
          </p:txBody>
        </p:sp>
        <p:sp>
          <p:nvSpPr>
            <p:cNvPr id="15" name="Text Box 15"/>
            <p:cNvSpPr txBox="1">
              <a:spLocks noChangeArrowheads="1"/>
            </p:cNvSpPr>
            <p:nvPr/>
          </p:nvSpPr>
          <p:spPr bwMode="auto">
            <a:xfrm>
              <a:off x="295" y="3213"/>
              <a:ext cx="360" cy="2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kumimoji="1" lang="en-US" altLang="zh-CN">
                  <a:solidFill>
                    <a:srgbClr val="FF0000"/>
                  </a:solidFill>
                  <a:latin typeface="Arial" pitchFamily="34" charset="0"/>
                </a:rPr>
                <a:t>20℃</a:t>
              </a:r>
              <a:endParaRPr kumimoji="1" lang="en-US" altLang="ja-JP">
                <a:solidFill>
                  <a:srgbClr val="FF0000"/>
                </a:solidFill>
                <a:latin typeface="Arial" pitchFamily="34" charset="0"/>
              </a:endParaRPr>
            </a:p>
          </p:txBody>
        </p:sp>
        <p:sp>
          <p:nvSpPr>
            <p:cNvPr id="16" name="Text Box 16"/>
            <p:cNvSpPr txBox="1">
              <a:spLocks noChangeArrowheads="1"/>
            </p:cNvSpPr>
            <p:nvPr/>
          </p:nvSpPr>
          <p:spPr bwMode="auto">
            <a:xfrm>
              <a:off x="358" y="1861"/>
              <a:ext cx="381" cy="2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kumimoji="1" lang="zh-CN" altLang="en-US" dirty="0" smtClean="0">
                  <a:solidFill>
                    <a:srgbClr val="FF0000"/>
                  </a:solidFill>
                  <a:latin typeface="Arial" pitchFamily="34" charset="0"/>
                </a:rPr>
                <a:t>温度</a:t>
              </a:r>
              <a:r>
                <a:rPr kumimoji="1" lang="en-US" altLang="zh-CN" dirty="0" smtClean="0">
                  <a:solidFill>
                    <a:srgbClr val="FF0000"/>
                  </a:solidFill>
                  <a:latin typeface="Arial" pitchFamily="34" charset="0"/>
                </a:rPr>
                <a:t> </a:t>
              </a:r>
              <a:endParaRPr kumimoji="1" lang="en-US" altLang="ja-JP" dirty="0">
                <a:solidFill>
                  <a:srgbClr val="FF0000"/>
                </a:solidFill>
                <a:latin typeface="Arial" pitchFamily="34" charset="0"/>
              </a:endParaRPr>
            </a:p>
          </p:txBody>
        </p:sp>
        <p:sp>
          <p:nvSpPr>
            <p:cNvPr id="17" name="Text Box 17"/>
            <p:cNvSpPr txBox="1">
              <a:spLocks noChangeArrowheads="1"/>
            </p:cNvSpPr>
            <p:nvPr/>
          </p:nvSpPr>
          <p:spPr bwMode="auto">
            <a:xfrm>
              <a:off x="3648" y="1511"/>
              <a:ext cx="360" cy="2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kumimoji="1" lang="en-US" altLang="zh-CN">
                  <a:solidFill>
                    <a:srgbClr val="FF0000"/>
                  </a:solidFill>
                  <a:latin typeface="Arial" pitchFamily="34" charset="0"/>
                </a:rPr>
                <a:t>20℃</a:t>
              </a:r>
              <a:endParaRPr kumimoji="1" lang="en-US" altLang="ja-JP">
                <a:solidFill>
                  <a:srgbClr val="FF0000"/>
                </a:solidFill>
                <a:latin typeface="Arial" pitchFamily="34" charset="0"/>
              </a:endParaRPr>
            </a:p>
          </p:txBody>
        </p:sp>
        <p:sp>
          <p:nvSpPr>
            <p:cNvPr id="18" name="Text Box 18"/>
            <p:cNvSpPr txBox="1">
              <a:spLocks noChangeArrowheads="1"/>
            </p:cNvSpPr>
            <p:nvPr/>
          </p:nvSpPr>
          <p:spPr bwMode="auto">
            <a:xfrm>
              <a:off x="1937" y="1511"/>
              <a:ext cx="360" cy="2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kumimoji="1" lang="en-US" altLang="zh-CN">
                  <a:solidFill>
                    <a:srgbClr val="FF0000"/>
                  </a:solidFill>
                  <a:latin typeface="Arial" pitchFamily="34" charset="0"/>
                </a:rPr>
                <a:t>60℃</a:t>
              </a:r>
              <a:endParaRPr kumimoji="1" lang="en-US" altLang="ja-JP">
                <a:solidFill>
                  <a:srgbClr val="FF0000"/>
                </a:solidFill>
                <a:latin typeface="Arial" pitchFamily="34" charset="0"/>
              </a:endParaRPr>
            </a:p>
          </p:txBody>
        </p:sp>
        <p:sp>
          <p:nvSpPr>
            <p:cNvPr id="19" name="Line 19"/>
            <p:cNvSpPr>
              <a:spLocks noChangeShapeType="1"/>
            </p:cNvSpPr>
            <p:nvPr/>
          </p:nvSpPr>
          <p:spPr bwMode="auto">
            <a:xfrm>
              <a:off x="1723" y="1728"/>
              <a:ext cx="728" cy="0"/>
            </a:xfrm>
            <a:prstGeom prst="line">
              <a:avLst/>
            </a:prstGeom>
            <a:noFill/>
            <a:ln w="12700">
              <a:solidFill>
                <a:schemeClr val="accent3"/>
              </a:solidFill>
              <a:miter lim="800000"/>
              <a:headEnd type="arrow" w="med" len="med"/>
              <a:tailEnd type="arrow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>
                <a:solidFill>
                  <a:srgbClr val="FF0000"/>
                </a:solidFill>
              </a:endParaRPr>
            </a:p>
          </p:txBody>
        </p:sp>
        <p:sp>
          <p:nvSpPr>
            <p:cNvPr id="20" name="Text Box 20"/>
            <p:cNvSpPr txBox="1">
              <a:spLocks noChangeArrowheads="1"/>
            </p:cNvSpPr>
            <p:nvPr/>
          </p:nvSpPr>
          <p:spPr bwMode="auto">
            <a:xfrm>
              <a:off x="1210" y="1511"/>
              <a:ext cx="360" cy="2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kumimoji="1" lang="en-US" altLang="zh-CN">
                  <a:solidFill>
                    <a:srgbClr val="FF0000"/>
                  </a:solidFill>
                  <a:latin typeface="Arial" pitchFamily="34" charset="0"/>
                </a:rPr>
                <a:t>20℃</a:t>
              </a:r>
              <a:endParaRPr kumimoji="1" lang="en-US" altLang="ja-JP">
                <a:solidFill>
                  <a:srgbClr val="FF0000"/>
                </a:solidFill>
                <a:latin typeface="Arial" pitchFamily="34" charset="0"/>
              </a:endParaRPr>
            </a:p>
          </p:txBody>
        </p:sp>
        <p:sp>
          <p:nvSpPr>
            <p:cNvPr id="21" name="Freeform 21"/>
            <p:cNvSpPr>
              <a:spLocks/>
            </p:cNvSpPr>
            <p:nvPr/>
          </p:nvSpPr>
          <p:spPr bwMode="auto">
            <a:xfrm>
              <a:off x="953" y="2251"/>
              <a:ext cx="3936" cy="1135"/>
            </a:xfrm>
            <a:custGeom>
              <a:avLst/>
              <a:gdLst>
                <a:gd name="T0" fmla="*/ 0 w 4416"/>
                <a:gd name="T1" fmla="*/ 643 h 1248"/>
                <a:gd name="T2" fmla="*/ 386 w 4416"/>
                <a:gd name="T3" fmla="*/ 643 h 1248"/>
                <a:gd name="T4" fmla="*/ 472 w 4416"/>
                <a:gd name="T5" fmla="*/ 568 h 1248"/>
                <a:gd name="T6" fmla="*/ 686 w 4416"/>
                <a:gd name="T7" fmla="*/ 74 h 1248"/>
                <a:gd name="T8" fmla="*/ 750 w 4416"/>
                <a:gd name="T9" fmla="*/ 0 h 1248"/>
                <a:gd name="T10" fmla="*/ 816 w 4416"/>
                <a:gd name="T11" fmla="*/ 74 h 1248"/>
                <a:gd name="T12" fmla="*/ 987 w 4416"/>
                <a:gd name="T13" fmla="*/ 568 h 1248"/>
                <a:gd name="T14" fmla="*/ 1072 w 4416"/>
                <a:gd name="T15" fmla="*/ 643 h 1248"/>
                <a:gd name="T16" fmla="*/ 1973 w 4416"/>
                <a:gd name="T17" fmla="*/ 643 h 124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4416"/>
                <a:gd name="T28" fmla="*/ 0 h 1248"/>
                <a:gd name="T29" fmla="*/ 4416 w 4416"/>
                <a:gd name="T30" fmla="*/ 1248 h 1248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4416" h="1248">
                  <a:moveTo>
                    <a:pt x="0" y="1248"/>
                  </a:moveTo>
                  <a:lnTo>
                    <a:pt x="864" y="1248"/>
                  </a:lnTo>
                  <a:lnTo>
                    <a:pt x="1056" y="1104"/>
                  </a:lnTo>
                  <a:lnTo>
                    <a:pt x="1536" y="144"/>
                  </a:lnTo>
                  <a:lnTo>
                    <a:pt x="1680" y="0"/>
                  </a:lnTo>
                  <a:lnTo>
                    <a:pt x="1824" y="144"/>
                  </a:lnTo>
                  <a:lnTo>
                    <a:pt x="2208" y="1104"/>
                  </a:lnTo>
                  <a:lnTo>
                    <a:pt x="2400" y="1248"/>
                  </a:lnTo>
                  <a:lnTo>
                    <a:pt x="4416" y="1248"/>
                  </a:lnTo>
                </a:path>
              </a:pathLst>
            </a:custGeom>
            <a:noFill/>
            <a:ln w="50800">
              <a:solidFill>
                <a:srgbClr val="4094F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zh-CN" altLang="en-US">
                <a:solidFill>
                  <a:srgbClr val="FF0000"/>
                </a:solidFill>
              </a:endParaRPr>
            </a:p>
          </p:txBody>
        </p:sp>
      </p:grpSp>
      <p:sp>
        <p:nvSpPr>
          <p:cNvPr id="22" name="标题 1"/>
          <p:cNvSpPr txBox="1">
            <a:spLocks/>
          </p:cNvSpPr>
          <p:nvPr/>
        </p:nvSpPr>
        <p:spPr>
          <a:xfrm>
            <a:off x="2971800" y="903513"/>
            <a:ext cx="8294913" cy="998311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10287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显示界面</a:t>
            </a:r>
            <a:endParaRPr kumimoji="0" lang="zh-CN" altLang="en-US" sz="5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3" name="文本框 60">
            <a:extLst>
              <a:ext uri="{FF2B5EF4-FFF2-40B4-BE49-F238E27FC236}">
                <a16:creationId xmlns:a16="http://schemas.microsoft.com/office/drawing/2014/main" xmlns="" id="{791D85D7-F412-9C48-9F2B-E33F5B7B4F3C}"/>
              </a:ext>
            </a:extLst>
          </p:cNvPr>
          <p:cNvSpPr txBox="1"/>
          <p:nvPr/>
        </p:nvSpPr>
        <p:spPr>
          <a:xfrm>
            <a:off x="1364780" y="293282"/>
            <a:ext cx="4560031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拉曼时域分布式光纤测温系统</a:t>
            </a: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10256520" y="329189"/>
            <a:ext cx="1211081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xmlns="" id="{B0EA110F-2BA5-44F1-BDF2-A8AD51CC83F5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xmlns="" id="{D7400AB1-4BEC-40E5-A53B-E3CB1F48EB8A}"/>
              </a:ext>
            </a:extLst>
          </p:cNvPr>
          <p:cNvSpPr/>
          <p:nvPr/>
        </p:nvSpPr>
        <p:spPr>
          <a:xfrm>
            <a:off x="336177" y="293282"/>
            <a:ext cx="948448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10.2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27" name="直接连接符 58">
            <a:extLst>
              <a:ext uri="{FF2B5EF4-FFF2-40B4-BE49-F238E27FC236}">
                <a16:creationId xmlns:a16="http://schemas.microsoft.com/office/drawing/2014/main" xmlns="" id="{8C5F82EF-52B4-4531-96F0-44689EA1125E}"/>
              </a:ext>
            </a:extLst>
          </p:cNvPr>
          <p:cNvCxnSpPr>
            <a:cxnSpLocks/>
          </p:cNvCxnSpPr>
          <p:nvPr/>
        </p:nvCxnSpPr>
        <p:spPr>
          <a:xfrm flipV="1">
            <a:off x="1450506" y="695281"/>
            <a:ext cx="2999293" cy="15717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矩形 27">
            <a:extLst>
              <a:ext uri="{FF2B5EF4-FFF2-40B4-BE49-F238E27FC236}">
                <a16:creationId xmlns:a16="http://schemas.microsoft.com/office/drawing/2014/main" xmlns="" id="{82FE0EE3-DD34-4ECD-AB99-E9089285A34C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xmlns="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60">
            <a:extLst>
              <a:ext uri="{FF2B5EF4-FFF2-40B4-BE49-F238E27FC236}">
                <a16:creationId xmlns:a16="http://schemas.microsoft.com/office/drawing/2014/main" xmlns="" id="{791D85D7-F412-9C48-9F2B-E33F5B7B4F3C}"/>
              </a:ext>
            </a:extLst>
          </p:cNvPr>
          <p:cNvSpPr txBox="1"/>
          <p:nvPr/>
        </p:nvSpPr>
        <p:spPr>
          <a:xfrm>
            <a:off x="1364780" y="293282"/>
            <a:ext cx="4560031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拉曼时域分布式光纤测温系统</a:t>
            </a: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0256520" y="329189"/>
            <a:ext cx="1211081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xmlns="" id="{B0EA110F-2BA5-44F1-BDF2-A8AD51CC83F5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: 圆角 25">
            <a:extLst>
              <a:ext uri="{FF2B5EF4-FFF2-40B4-BE49-F238E27FC236}">
                <a16:creationId xmlns:a16="http://schemas.microsoft.com/office/drawing/2014/main" xmlns="" id="{D7400AB1-4BEC-40E5-A53B-E3CB1F48EB8A}"/>
              </a:ext>
            </a:extLst>
          </p:cNvPr>
          <p:cNvSpPr/>
          <p:nvPr/>
        </p:nvSpPr>
        <p:spPr>
          <a:xfrm>
            <a:off x="336177" y="293282"/>
            <a:ext cx="948448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10.2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20" name="直接连接符 58">
            <a:extLst>
              <a:ext uri="{FF2B5EF4-FFF2-40B4-BE49-F238E27FC236}">
                <a16:creationId xmlns:a16="http://schemas.microsoft.com/office/drawing/2014/main" xmlns="" id="{8C5F82EF-52B4-4531-96F0-44689EA1125E}"/>
              </a:ext>
            </a:extLst>
          </p:cNvPr>
          <p:cNvCxnSpPr>
            <a:cxnSpLocks/>
          </p:cNvCxnSpPr>
          <p:nvPr/>
        </p:nvCxnSpPr>
        <p:spPr>
          <a:xfrm flipV="1">
            <a:off x="1450506" y="695281"/>
            <a:ext cx="2999293" cy="15717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矩形 27">
            <a:extLst>
              <a:ext uri="{FF2B5EF4-FFF2-40B4-BE49-F238E27FC236}">
                <a16:creationId xmlns:a16="http://schemas.microsoft.com/office/drawing/2014/main" xmlns="" id="{82FE0EE3-DD34-4ECD-AB99-E9089285A34C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xmlns="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p:sp>
        <p:nvSpPr>
          <p:cNvPr id="9" name="标题 1"/>
          <p:cNvSpPr txBox="1">
            <a:spLocks/>
          </p:cNvSpPr>
          <p:nvPr/>
        </p:nvSpPr>
        <p:spPr bwMode="auto">
          <a:xfrm>
            <a:off x="4001844" y="935915"/>
            <a:ext cx="4916246" cy="7830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2466" tIns="61233" rIns="122466" bIns="61233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10287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宋体" pitchFamily="2" charset="-122"/>
                <a:cs typeface="+mj-cs"/>
              </a:rPr>
              <a:t>关键器件的选择</a:t>
            </a:r>
            <a:endParaRPr kumimoji="0" lang="zh-CN" altLang="en-US" sz="5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宋体" pitchFamily="2" charset="-122"/>
              <a:cs typeface="+mj-cs"/>
            </a:endParaRPr>
          </a:p>
        </p:txBody>
      </p:sp>
      <p:sp>
        <p:nvSpPr>
          <p:cNvPr id="10" name="内容占位符 2"/>
          <p:cNvSpPr txBox="1">
            <a:spLocks/>
          </p:cNvSpPr>
          <p:nvPr/>
        </p:nvSpPr>
        <p:spPr bwMode="auto">
          <a:xfrm>
            <a:off x="1480853" y="2099758"/>
            <a:ext cx="4801156" cy="4629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2466" tIns="61233" rIns="122466" bIns="61233" numCol="1" anchor="t" anchorCtr="0" compatLnSpc="1">
            <a:prstTxWarp prst="textNoShape">
              <a:avLst/>
            </a:prstTxWarp>
          </a:bodyPr>
          <a:lstStyle/>
          <a:p>
            <a:pPr marL="257175" marR="0" lvl="0" indent="-257175" algn="l" defTabSz="1028700" rtl="0" eaLnBrk="0" fontAlgn="base" latinLnBrk="0" hangingPunct="0">
              <a:lnSpc>
                <a:spcPct val="90000"/>
              </a:lnSpc>
              <a:spcBef>
                <a:spcPts val="1125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zh-CN" altLang="en-US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宋体" pitchFamily="2" charset="-122"/>
                <a:cs typeface="+mn-cs"/>
              </a:rPr>
              <a:t>光源</a:t>
            </a:r>
            <a:endParaRPr kumimoji="0" lang="en-US" altLang="zh-CN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宋体" pitchFamily="2" charset="-122"/>
              <a:cs typeface="+mn-cs"/>
            </a:endParaRPr>
          </a:p>
          <a:p>
            <a:pPr marL="771525" marR="0" lvl="1" indent="-257175" algn="l" defTabSz="1028700" rtl="0" eaLnBrk="0" fontAlgn="base" latinLnBrk="0" hangingPunct="0">
              <a:lnSpc>
                <a:spcPct val="90000"/>
              </a:lnSpc>
              <a:spcBef>
                <a:spcPts val="563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zh-CN" altLang="en-US" sz="27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宋体" pitchFamily="2" charset="-122"/>
                <a:cs typeface="+mn-cs"/>
              </a:rPr>
              <a:t>工作波长</a:t>
            </a:r>
            <a:endParaRPr kumimoji="0" lang="en-US" altLang="zh-CN" sz="27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宋体" pitchFamily="2" charset="-122"/>
              <a:cs typeface="+mn-cs"/>
            </a:endParaRPr>
          </a:p>
          <a:p>
            <a:pPr marL="1285875" marR="0" lvl="2" indent="-257175" algn="l" defTabSz="1028700" rtl="0" eaLnBrk="0" fontAlgn="base" latinLnBrk="0" hangingPunct="0">
              <a:lnSpc>
                <a:spcPct val="90000"/>
              </a:lnSpc>
              <a:spcBef>
                <a:spcPts val="563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zh-CN" altLang="en-US" sz="23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宋体" pitchFamily="2" charset="-122"/>
                <a:cs typeface="+mn-cs"/>
              </a:rPr>
              <a:t>光纤损耗</a:t>
            </a:r>
            <a:r>
              <a:rPr kumimoji="0" lang="en-US" altLang="zh-CN" sz="23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宋体" pitchFamily="2" charset="-122"/>
                <a:cs typeface="+mn-cs"/>
                <a:sym typeface="Wingdings" pitchFamily="2" charset="2"/>
              </a:rPr>
              <a:t></a:t>
            </a:r>
            <a:r>
              <a:rPr kumimoji="0" lang="zh-CN" altLang="en-US" sz="23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宋体" pitchFamily="2" charset="-122"/>
                <a:cs typeface="+mn-cs"/>
                <a:sym typeface="Wingdings" pitchFamily="2" charset="2"/>
              </a:rPr>
              <a:t>传输距离</a:t>
            </a:r>
            <a:endParaRPr kumimoji="0" lang="en-US" altLang="zh-CN" sz="23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宋体" pitchFamily="2" charset="-122"/>
              <a:cs typeface="+mn-cs"/>
              <a:sym typeface="Wingdings" pitchFamily="2" charset="2"/>
            </a:endParaRPr>
          </a:p>
          <a:p>
            <a:pPr marL="1285875" marR="0" lvl="2" indent="-257175" algn="l" defTabSz="1028700" rtl="0" eaLnBrk="0" fontAlgn="base" latinLnBrk="0" hangingPunct="0">
              <a:lnSpc>
                <a:spcPct val="90000"/>
              </a:lnSpc>
              <a:spcBef>
                <a:spcPts val="563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zh-CN" altLang="en-US" sz="23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宋体" pitchFamily="2" charset="-122"/>
                <a:cs typeface="+mn-cs"/>
                <a:sym typeface="Wingdings" pitchFamily="2" charset="2"/>
              </a:rPr>
              <a:t>探测器灵敏度</a:t>
            </a:r>
            <a:r>
              <a:rPr kumimoji="0" lang="en-US" altLang="zh-CN" sz="23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宋体" pitchFamily="2" charset="-122"/>
                <a:cs typeface="+mn-cs"/>
                <a:sym typeface="Wingdings" pitchFamily="2" charset="2"/>
              </a:rPr>
              <a:t></a:t>
            </a:r>
            <a:r>
              <a:rPr kumimoji="0" lang="zh-CN" altLang="en-US" sz="23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宋体" pitchFamily="2" charset="-122"/>
                <a:cs typeface="+mn-cs"/>
                <a:sym typeface="Wingdings" pitchFamily="2" charset="2"/>
              </a:rPr>
              <a:t>可探测最低功率</a:t>
            </a:r>
            <a:endParaRPr kumimoji="0" lang="en-US" altLang="zh-CN" sz="23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宋体" pitchFamily="2" charset="-122"/>
              <a:cs typeface="+mn-cs"/>
              <a:sym typeface="Wingdings" pitchFamily="2" charset="2"/>
            </a:endParaRPr>
          </a:p>
          <a:p>
            <a:pPr marL="771525" marR="0" lvl="1" indent="-257175" algn="l" defTabSz="1028700" rtl="0" eaLnBrk="0" fontAlgn="base" latinLnBrk="0" hangingPunct="0">
              <a:lnSpc>
                <a:spcPct val="90000"/>
              </a:lnSpc>
              <a:spcBef>
                <a:spcPts val="563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zh-CN" altLang="en-US" sz="27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宋体" pitchFamily="2" charset="-122"/>
                <a:cs typeface="+mn-cs"/>
                <a:sym typeface="Wingdings" pitchFamily="2" charset="2"/>
              </a:rPr>
              <a:t>输出功率</a:t>
            </a:r>
            <a:endParaRPr kumimoji="0" lang="en-US" altLang="zh-CN" sz="27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宋体" pitchFamily="2" charset="-122"/>
              <a:cs typeface="+mn-cs"/>
              <a:sym typeface="Wingdings" pitchFamily="2" charset="2"/>
            </a:endParaRPr>
          </a:p>
          <a:p>
            <a:pPr marL="1285875" marR="0" lvl="2" indent="-257175" algn="l" defTabSz="1028700" rtl="0" eaLnBrk="0" fontAlgn="base" latinLnBrk="0" hangingPunct="0">
              <a:lnSpc>
                <a:spcPct val="90000"/>
              </a:lnSpc>
              <a:spcBef>
                <a:spcPts val="563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zh-CN" altLang="en-US" sz="23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宋体" pitchFamily="2" charset="-122"/>
                <a:cs typeface="+mn-cs"/>
                <a:sym typeface="Wingdings" pitchFamily="2" charset="2"/>
              </a:rPr>
              <a:t>系统信噪比</a:t>
            </a:r>
            <a:endParaRPr kumimoji="0" lang="en-US" altLang="zh-CN" sz="23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宋体" pitchFamily="2" charset="-122"/>
              <a:cs typeface="+mn-cs"/>
              <a:sym typeface="Wingdings" pitchFamily="2" charset="2"/>
            </a:endParaRPr>
          </a:p>
          <a:p>
            <a:pPr marL="1285875" marR="0" lvl="2" indent="-257175" algn="l" defTabSz="1028700" rtl="0" eaLnBrk="0" fontAlgn="base" latinLnBrk="0" hangingPunct="0">
              <a:lnSpc>
                <a:spcPct val="90000"/>
              </a:lnSpc>
              <a:spcBef>
                <a:spcPts val="563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zh-CN" altLang="en-US" sz="23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宋体" pitchFamily="2" charset="-122"/>
                <a:cs typeface="+mn-cs"/>
                <a:sym typeface="Wingdings" pitchFamily="2" charset="2"/>
              </a:rPr>
              <a:t>稳定性</a:t>
            </a:r>
            <a:endParaRPr kumimoji="0" lang="en-US" altLang="zh-CN" sz="23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宋体" pitchFamily="2" charset="-122"/>
              <a:cs typeface="+mn-cs"/>
              <a:sym typeface="Wingdings" pitchFamily="2" charset="2"/>
            </a:endParaRPr>
          </a:p>
          <a:p>
            <a:pPr marL="1285875" marR="0" lvl="2" indent="-257175" algn="l" defTabSz="1028700" rtl="0" eaLnBrk="0" fontAlgn="base" latinLnBrk="0" hangingPunct="0">
              <a:lnSpc>
                <a:spcPct val="90000"/>
              </a:lnSpc>
              <a:spcBef>
                <a:spcPts val="563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zh-CN" altLang="en-US" sz="23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宋体" pitchFamily="2" charset="-122"/>
                <a:cs typeface="+mn-cs"/>
                <a:sym typeface="Wingdings" pitchFamily="2" charset="2"/>
              </a:rPr>
              <a:t>成本</a:t>
            </a:r>
            <a:endParaRPr kumimoji="0" lang="en-US" altLang="zh-CN" sz="23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宋体" pitchFamily="2" charset="-122"/>
              <a:cs typeface="+mn-cs"/>
              <a:sym typeface="Wingdings" pitchFamily="2" charset="2"/>
            </a:endParaRPr>
          </a:p>
          <a:p>
            <a:pPr marL="1285875" marR="0" lvl="2" indent="-257175" algn="l" defTabSz="1028700" rtl="0" eaLnBrk="0" fontAlgn="base" latinLnBrk="0" hangingPunct="0">
              <a:lnSpc>
                <a:spcPct val="90000"/>
              </a:lnSpc>
              <a:spcBef>
                <a:spcPts val="563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kumimoji="0" lang="en-US" altLang="zh-CN" sz="23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宋体" pitchFamily="2" charset="-122"/>
              <a:cs typeface="+mn-cs"/>
              <a:sym typeface="Wingdings" pitchFamily="2" charset="2"/>
            </a:endParaRPr>
          </a:p>
        </p:txBody>
      </p:sp>
      <p:sp>
        <p:nvSpPr>
          <p:cNvPr id="11" name="内容占位符 1"/>
          <p:cNvSpPr txBox="1">
            <a:spLocks/>
          </p:cNvSpPr>
          <p:nvPr/>
        </p:nvSpPr>
        <p:spPr>
          <a:xfrm>
            <a:off x="7500338" y="2132031"/>
            <a:ext cx="4801156" cy="4629150"/>
          </a:xfrm>
          <a:prstGeom prst="rect">
            <a:avLst/>
          </a:prstGeom>
        </p:spPr>
        <p:txBody>
          <a:bodyPr/>
          <a:lstStyle/>
          <a:p>
            <a:pPr marL="257175" marR="0" lvl="0" indent="-257175" algn="l" defTabSz="1028700" rtl="0" eaLnBrk="0" fontAlgn="base" latinLnBrk="0" hangingPunct="0">
              <a:lnSpc>
                <a:spcPct val="90000"/>
              </a:lnSpc>
              <a:spcBef>
                <a:spcPts val="1125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zh-CN" altLang="en-US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探测器</a:t>
            </a:r>
          </a:p>
          <a:p>
            <a:pPr marL="771525" marR="0" lvl="1" indent="-257175" algn="l" defTabSz="1028700" rtl="0" eaLnBrk="0" fontAlgn="base" latinLnBrk="0" hangingPunct="0">
              <a:lnSpc>
                <a:spcPct val="90000"/>
              </a:lnSpc>
              <a:spcBef>
                <a:spcPts val="563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zh-CN" altLang="en-US" sz="27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最低可探测光功率</a:t>
            </a:r>
            <a:r>
              <a:rPr kumimoji="0" lang="en-US" altLang="zh-CN" sz="27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</a:t>
            </a:r>
            <a:r>
              <a:rPr kumimoji="0" lang="zh-CN" altLang="en-US" sz="27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灵敏度</a:t>
            </a:r>
          </a:p>
          <a:p>
            <a:pPr marL="771525" marR="0" lvl="1" indent="-257175" algn="l" defTabSz="1028700" rtl="0" eaLnBrk="0" fontAlgn="base" latinLnBrk="0" hangingPunct="0">
              <a:lnSpc>
                <a:spcPct val="90000"/>
              </a:lnSpc>
              <a:spcBef>
                <a:spcPts val="563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zh-CN" altLang="en-US" sz="27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噪声</a:t>
            </a:r>
          </a:p>
          <a:p>
            <a:pPr marL="257175" marR="0" lvl="0" indent="-257175" algn="l" defTabSz="1028700" rtl="0" eaLnBrk="0" fontAlgn="base" latinLnBrk="0" hangingPunct="0">
              <a:lnSpc>
                <a:spcPct val="90000"/>
              </a:lnSpc>
              <a:spcBef>
                <a:spcPts val="1125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altLang="zh-CN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APD/PIN/PMT</a:t>
            </a:r>
          </a:p>
          <a:p>
            <a:pPr marL="771525" marR="0" lvl="1" indent="-257175" algn="l" defTabSz="1028700" rtl="0" eaLnBrk="0" fontAlgn="base" latinLnBrk="0" hangingPunct="0">
              <a:lnSpc>
                <a:spcPct val="90000"/>
              </a:lnSpc>
              <a:spcBef>
                <a:spcPts val="563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zh-CN" altLang="en-US" sz="27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入射光功率</a:t>
            </a:r>
          </a:p>
          <a:p>
            <a:pPr marL="771525" marR="0" lvl="1" indent="-257175" algn="l" defTabSz="1028700" rtl="0" eaLnBrk="0" fontAlgn="base" latinLnBrk="0" hangingPunct="0">
              <a:lnSpc>
                <a:spcPct val="90000"/>
              </a:lnSpc>
              <a:spcBef>
                <a:spcPts val="563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zh-CN" altLang="en-US" sz="27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工作条件</a:t>
            </a:r>
          </a:p>
          <a:p>
            <a:pPr marL="771525" marR="0" lvl="1" indent="-257175" algn="l" defTabSz="1028700" rtl="0" eaLnBrk="0" fontAlgn="base" latinLnBrk="0" hangingPunct="0">
              <a:lnSpc>
                <a:spcPct val="90000"/>
              </a:lnSpc>
              <a:spcBef>
                <a:spcPts val="563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zh-CN" altLang="en-US" sz="27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成本</a:t>
            </a:r>
          </a:p>
          <a:p>
            <a:pPr marL="257175" marR="0" lvl="0" indent="-257175" algn="l" defTabSz="1028700" rtl="0" eaLnBrk="0" fontAlgn="base" latinLnBrk="0" hangingPunct="0">
              <a:lnSpc>
                <a:spcPct val="90000"/>
              </a:lnSpc>
              <a:spcBef>
                <a:spcPts val="1125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12"/>
          </p:nvPr>
        </p:nvSpPr>
        <p:spPr bwMode="auto">
          <a:xfrm>
            <a:off x="9688513" y="7151688"/>
            <a:ext cx="3086100" cy="409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995033" indent="-382705"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530820" indent="-306164"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2143148" indent="-306164"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755476" indent="-306164"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3367804" indent="-306164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980132" indent="-306164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4592460" indent="-306164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5204788" indent="-306164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fld id="{6919DF03-639E-4218-A014-3AE1A033A222}" type="slidenum">
              <a:rPr lang="en-US" altLang="en-US"/>
              <a:pPr/>
              <a:t>8</a:t>
            </a:fld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60">
            <a:extLst>
              <a:ext uri="{FF2B5EF4-FFF2-40B4-BE49-F238E27FC236}">
                <a16:creationId xmlns:a16="http://schemas.microsoft.com/office/drawing/2014/main" xmlns="" id="{791D85D7-F412-9C48-9F2B-E33F5B7B4F3C}"/>
              </a:ext>
            </a:extLst>
          </p:cNvPr>
          <p:cNvSpPr txBox="1"/>
          <p:nvPr/>
        </p:nvSpPr>
        <p:spPr>
          <a:xfrm>
            <a:off x="1364780" y="293282"/>
            <a:ext cx="4560031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拉曼时域分布式光纤测温系统</a:t>
            </a: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0256520" y="329189"/>
            <a:ext cx="1211081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xmlns="" id="{B0EA110F-2BA5-44F1-BDF2-A8AD51CC83F5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: 圆角 25">
            <a:extLst>
              <a:ext uri="{FF2B5EF4-FFF2-40B4-BE49-F238E27FC236}">
                <a16:creationId xmlns:a16="http://schemas.microsoft.com/office/drawing/2014/main" xmlns="" id="{D7400AB1-4BEC-40E5-A53B-E3CB1F48EB8A}"/>
              </a:ext>
            </a:extLst>
          </p:cNvPr>
          <p:cNvSpPr/>
          <p:nvPr/>
        </p:nvSpPr>
        <p:spPr>
          <a:xfrm>
            <a:off x="336177" y="293282"/>
            <a:ext cx="948448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10.2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20" name="直接连接符 58">
            <a:extLst>
              <a:ext uri="{FF2B5EF4-FFF2-40B4-BE49-F238E27FC236}">
                <a16:creationId xmlns:a16="http://schemas.microsoft.com/office/drawing/2014/main" xmlns="" id="{8C5F82EF-52B4-4531-96F0-44689EA1125E}"/>
              </a:ext>
            </a:extLst>
          </p:cNvPr>
          <p:cNvCxnSpPr>
            <a:cxnSpLocks/>
          </p:cNvCxnSpPr>
          <p:nvPr/>
        </p:nvCxnSpPr>
        <p:spPr>
          <a:xfrm flipV="1">
            <a:off x="1450506" y="695281"/>
            <a:ext cx="2999293" cy="15717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矩形 27">
            <a:extLst>
              <a:ext uri="{FF2B5EF4-FFF2-40B4-BE49-F238E27FC236}">
                <a16:creationId xmlns:a16="http://schemas.microsoft.com/office/drawing/2014/main" xmlns="" id="{82FE0EE3-DD34-4ECD-AB99-E9089285A34C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xmlns="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p:sp>
        <p:nvSpPr>
          <p:cNvPr id="9" name="标题 1"/>
          <p:cNvSpPr txBox="1">
            <a:spLocks/>
          </p:cNvSpPr>
          <p:nvPr/>
        </p:nvSpPr>
        <p:spPr bwMode="auto">
          <a:xfrm>
            <a:off x="702551" y="1021556"/>
            <a:ext cx="12345829" cy="8161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2466" tIns="61233" rIns="122466" bIns="61233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10287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宋体" pitchFamily="2" charset="-122"/>
                <a:cs typeface="+mj-cs"/>
              </a:rPr>
              <a:t>关键器件的选择</a:t>
            </a:r>
          </a:p>
        </p:txBody>
      </p:sp>
      <p:sp>
        <p:nvSpPr>
          <p:cNvPr id="10" name="内容占位符 2"/>
          <p:cNvSpPr txBox="1">
            <a:spLocks/>
          </p:cNvSpPr>
          <p:nvPr/>
        </p:nvSpPr>
        <p:spPr bwMode="auto">
          <a:xfrm>
            <a:off x="942975" y="2054225"/>
            <a:ext cx="11831638" cy="4894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2466" tIns="61233" rIns="122466" bIns="61233" numCol="1" anchor="t" anchorCtr="0" compatLnSpc="1">
            <a:prstTxWarp prst="textNoShape">
              <a:avLst/>
            </a:prstTxWarp>
          </a:bodyPr>
          <a:lstStyle/>
          <a:p>
            <a:pPr marL="257175" marR="0" lvl="0" indent="-257175" algn="l" defTabSz="1028700" rtl="0" eaLnBrk="0" fontAlgn="base" latinLnBrk="0" hangingPunct="0">
              <a:lnSpc>
                <a:spcPct val="90000"/>
              </a:lnSpc>
              <a:spcBef>
                <a:spcPts val="1125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宋体" pitchFamily="2" charset="-122"/>
                <a:cs typeface="+mn-cs"/>
              </a:rPr>
              <a:t>数据采集</a:t>
            </a:r>
            <a:endParaRPr kumimoji="0" lang="en-US" altLang="zh-CN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宋体" pitchFamily="2" charset="-122"/>
              <a:cs typeface="+mn-cs"/>
            </a:endParaRPr>
          </a:p>
          <a:p>
            <a:pPr marL="771525" marR="0" lvl="1" indent="-257175" algn="l" defTabSz="1028700" rtl="0" eaLnBrk="0" fontAlgn="base" latinLnBrk="0" hangingPunct="0">
              <a:lnSpc>
                <a:spcPct val="90000"/>
              </a:lnSpc>
              <a:spcBef>
                <a:spcPts val="563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zh-CN" altLang="en-US" sz="2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宋体" pitchFamily="2" charset="-122"/>
                <a:cs typeface="+mn-cs"/>
              </a:rPr>
              <a:t>累加、简单平均</a:t>
            </a:r>
            <a:r>
              <a:rPr kumimoji="0" lang="en-US" altLang="zh-CN" sz="2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宋体" pitchFamily="2" charset="-122"/>
                <a:cs typeface="+mn-cs"/>
                <a:sym typeface="Wingdings" pitchFamily="2" charset="2"/>
              </a:rPr>
              <a:t></a:t>
            </a:r>
            <a:r>
              <a:rPr kumimoji="0" lang="zh-CN" altLang="en-US" sz="2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宋体" pitchFamily="2" charset="-122"/>
                <a:cs typeface="+mn-cs"/>
                <a:sym typeface="Wingdings" pitchFamily="2" charset="2"/>
              </a:rPr>
              <a:t>去除随机噪声</a:t>
            </a:r>
            <a:endParaRPr kumimoji="0" lang="en-US" altLang="zh-CN" sz="27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宋体" pitchFamily="2" charset="-122"/>
              <a:cs typeface="+mn-cs"/>
              <a:sym typeface="Wingdings" pitchFamily="2" charset="2"/>
            </a:endParaRPr>
          </a:p>
          <a:p>
            <a:pPr marL="771525" marR="0" lvl="1" indent="-257175" algn="l" defTabSz="1028700" rtl="0" eaLnBrk="0" fontAlgn="base" latinLnBrk="0" hangingPunct="0">
              <a:lnSpc>
                <a:spcPct val="90000"/>
              </a:lnSpc>
              <a:spcBef>
                <a:spcPts val="563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kumimoji="0" lang="en-US" altLang="zh-CN" sz="27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宋体" pitchFamily="2" charset="-122"/>
              <a:cs typeface="+mn-cs"/>
              <a:sym typeface="Wingdings" pitchFamily="2" charset="2"/>
            </a:endParaRPr>
          </a:p>
          <a:p>
            <a:pPr marL="771525" marR="0" lvl="1" indent="-257175" algn="l" defTabSz="1028700" rtl="0" eaLnBrk="0" fontAlgn="base" latinLnBrk="0" hangingPunct="0">
              <a:lnSpc>
                <a:spcPct val="90000"/>
              </a:lnSpc>
              <a:spcBef>
                <a:spcPts val="563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kumimoji="0" lang="en-US" altLang="zh-CN" sz="27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宋体" pitchFamily="2" charset="-122"/>
              <a:cs typeface="+mn-cs"/>
              <a:sym typeface="Wingdings" pitchFamily="2" charset="2"/>
            </a:endParaRPr>
          </a:p>
          <a:p>
            <a:pPr marL="1285875" marR="0" lvl="2" indent="-257175" algn="l" defTabSz="1028700" rtl="0" eaLnBrk="0" fontAlgn="base" latinLnBrk="0" hangingPunct="0">
              <a:lnSpc>
                <a:spcPct val="90000"/>
              </a:lnSpc>
              <a:spcBef>
                <a:spcPts val="563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zh-CN" altLang="en-US" sz="23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宋体" pitchFamily="2" charset="-122"/>
                <a:cs typeface="+mn-cs"/>
              </a:rPr>
              <a:t>缺点：耗时、增加系统时间成本；有上限（</a:t>
            </a:r>
            <a:r>
              <a:rPr kumimoji="0" lang="en-US" altLang="zh-CN" sz="23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宋体" pitchFamily="2" charset="-122"/>
                <a:cs typeface="+mn-cs"/>
              </a:rPr>
              <a:t>10</a:t>
            </a:r>
            <a:r>
              <a:rPr kumimoji="0" lang="en-US" altLang="zh-CN" sz="2300" b="0" i="0" u="none" strike="noStrike" kern="1200" cap="none" spc="0" normalizeH="0" baseline="30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宋体" pitchFamily="2" charset="-122"/>
                <a:cs typeface="+mn-cs"/>
              </a:rPr>
              <a:t>5</a:t>
            </a:r>
            <a:r>
              <a:rPr kumimoji="0" lang="zh-CN" altLang="en-US" sz="23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宋体" pitchFamily="2" charset="-122"/>
                <a:cs typeface="+mn-cs"/>
              </a:rPr>
              <a:t>）</a:t>
            </a:r>
            <a:endParaRPr kumimoji="0" lang="en-US" altLang="zh-CN" sz="23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宋体" pitchFamily="2" charset="-122"/>
              <a:cs typeface="+mn-cs"/>
            </a:endParaRPr>
          </a:p>
          <a:p>
            <a:pPr marL="771525" marR="0" lvl="1" indent="-257175" algn="l" defTabSz="1028700" rtl="0" eaLnBrk="0" fontAlgn="base" latinLnBrk="0" hangingPunct="0">
              <a:lnSpc>
                <a:spcPct val="90000"/>
              </a:lnSpc>
              <a:spcBef>
                <a:spcPts val="563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zh-CN" altLang="en-US" sz="2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宋体" pitchFamily="2" charset="-122"/>
                <a:cs typeface="+mn-cs"/>
              </a:rPr>
              <a:t>数字信号去噪</a:t>
            </a:r>
            <a:endParaRPr kumimoji="0" lang="en-US" altLang="zh-CN" sz="27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宋体" pitchFamily="2" charset="-122"/>
              <a:cs typeface="+mn-cs"/>
            </a:endParaRPr>
          </a:p>
          <a:p>
            <a:pPr marL="1285875" marR="0" lvl="2" indent="-257175" algn="l" defTabSz="1028700" rtl="0" eaLnBrk="0" fontAlgn="base" latinLnBrk="0" hangingPunct="0">
              <a:lnSpc>
                <a:spcPct val="90000"/>
              </a:lnSpc>
              <a:spcBef>
                <a:spcPts val="563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zh-CN" altLang="en-US" sz="23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宋体" pitchFamily="2" charset="-122"/>
                <a:cs typeface="+mn-cs"/>
              </a:rPr>
              <a:t>噪声来源：调制不稳定性；脉冲分裂</a:t>
            </a:r>
            <a:endParaRPr kumimoji="0" lang="en-US" altLang="zh-CN" sz="23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宋体" pitchFamily="2" charset="-122"/>
              <a:cs typeface="+mn-cs"/>
            </a:endParaRPr>
          </a:p>
          <a:p>
            <a:pPr marL="1285875" marR="0" lvl="2" indent="-257175" algn="l" defTabSz="1028700" rtl="0" eaLnBrk="0" fontAlgn="base" latinLnBrk="0" hangingPunct="0">
              <a:lnSpc>
                <a:spcPct val="90000"/>
              </a:lnSpc>
              <a:spcBef>
                <a:spcPts val="563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zh-CN" altLang="en-US" sz="23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宋体" pitchFamily="2" charset="-122"/>
                <a:cs typeface="+mn-cs"/>
              </a:rPr>
              <a:t>补偿、脉冲重构</a:t>
            </a:r>
            <a:endParaRPr kumimoji="0" lang="en-US" altLang="zh-CN" sz="23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宋体" pitchFamily="2" charset="-122"/>
              <a:cs typeface="+mn-cs"/>
            </a:endParaRPr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0859757" y="7029450"/>
            <a:ext cx="2857831" cy="514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995033" indent="-382705"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530820" indent="-306164"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2143148" indent="-306164"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755476" indent="-306164"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3367804" indent="-306164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980132" indent="-306164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4592460" indent="-306164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5204788" indent="-306164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fld id="{B3EC67F9-B3AA-4F5A-BC3B-7332E3538531}" type="slidenum">
              <a:rPr lang="en-US" altLang="en-US"/>
              <a:pPr/>
              <a:t>9</a:t>
            </a:fld>
            <a:endParaRPr lang="en-US" altLang="en-US"/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2862595" y="3371851"/>
          <a:ext cx="8151963" cy="891183"/>
        </p:xfrm>
        <a:graphic>
          <a:graphicData uri="http://schemas.openxmlformats.org/presentationml/2006/ole">
            <p:oleObj spid="_x0000_s49154" name="Equation" r:id="rId3" imgW="3136900" imgH="457200" progId="">
              <p:embed/>
            </p:oleObj>
          </a:graphicData>
        </a:graphic>
      </p:graphicFrame>
      <p:pic>
        <p:nvPicPr>
          <p:cNvPr id="13" name="Picture 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61944" y="2237781"/>
            <a:ext cx="13050761" cy="31968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5"/>
          <p:cNvSpPr txBox="1">
            <a:spLocks noChangeArrowheads="1"/>
          </p:cNvSpPr>
          <p:nvPr/>
        </p:nvSpPr>
        <p:spPr bwMode="auto">
          <a:xfrm>
            <a:off x="5393338" y="882670"/>
            <a:ext cx="2836262" cy="828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2466" tIns="61233" rIns="122466" bIns="61233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10287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5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宋体" pitchFamily="2" charset="-122"/>
                <a:cs typeface="+mj-cs"/>
              </a:rPr>
              <a:t>传</a:t>
            </a:r>
            <a:r>
              <a:rPr kumimoji="1" lang="zh-CN" altLang="en-US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宋体" pitchFamily="2" charset="-122"/>
                <a:cs typeface="+mj-cs"/>
              </a:rPr>
              <a:t>感光缆</a:t>
            </a:r>
            <a:endParaRPr kumimoji="1" lang="zh-CN" altLang="en-US" sz="5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宋体" pitchFamily="2" charset="-122"/>
              <a:cs typeface="+mj-cs"/>
            </a:endParaRPr>
          </a:p>
        </p:txBody>
      </p:sp>
      <p:sp>
        <p:nvSpPr>
          <p:cNvPr id="3" name="Rectangle 26"/>
          <p:cNvSpPr txBox="1">
            <a:spLocks noChangeArrowheads="1"/>
          </p:cNvSpPr>
          <p:nvPr/>
        </p:nvSpPr>
        <p:spPr bwMode="auto">
          <a:xfrm>
            <a:off x="1848064" y="5098093"/>
            <a:ext cx="10755415" cy="1701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2466" tIns="61233" rIns="122466" bIns="61233" numCol="1" anchor="t" anchorCtr="0" compatLnSpc="1">
            <a:prstTxWarp prst="textNoShape">
              <a:avLst/>
            </a:prstTxWarp>
          </a:bodyPr>
          <a:lstStyle/>
          <a:p>
            <a:pPr marL="257175" marR="0" lvl="0" indent="-257175" algn="just" defTabSz="10287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1" lang="zh-CN" alt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宋体" pitchFamily="2" charset="-122"/>
                <a:cs typeface="+mn-cs"/>
              </a:rPr>
              <a:t>正附加光纤长度：根据</a:t>
            </a:r>
            <a:r>
              <a:rPr kumimoji="1" lang="zh-CN" alt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+mn-cs"/>
              </a:rPr>
              <a:t>检测温度范围、金属套管的类型、工作条件</a:t>
            </a:r>
            <a:r>
              <a:rPr kumimoji="1" lang="zh-CN" alt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宋体" pitchFamily="2" charset="-122"/>
                <a:cs typeface="+mn-cs"/>
              </a:rPr>
              <a:t>等确定</a:t>
            </a:r>
          </a:p>
          <a:p>
            <a:pPr marL="257175" marR="0" lvl="0" indent="-257175" algn="just" defTabSz="10287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1" lang="zh-CN" alt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宋体" pitchFamily="2" charset="-122"/>
                <a:cs typeface="+mn-cs"/>
              </a:rPr>
              <a:t>已经开发出工作于：</a:t>
            </a:r>
            <a:r>
              <a:rPr kumimoji="1" lang="en-US" altLang="zh-CN" sz="3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5050"/>
                </a:solidFill>
                <a:effectLst/>
                <a:uLnTx/>
                <a:uFillTx/>
                <a:latin typeface="Arial" pitchFamily="34" charset="0"/>
                <a:ea typeface="宋体" pitchFamily="2" charset="-122"/>
                <a:cs typeface="+mn-cs"/>
              </a:rPr>
              <a:t>-</a:t>
            </a:r>
            <a:r>
              <a:rPr kumimoji="1" lang="en-US" altLang="ja-JP" sz="3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5050"/>
                </a:solidFill>
                <a:effectLst/>
                <a:uLnTx/>
                <a:uFillTx/>
                <a:latin typeface="Arial" pitchFamily="34" charset="0"/>
                <a:ea typeface="MS PGothic" pitchFamily="34" charset="-128"/>
                <a:cs typeface="+mn-cs"/>
              </a:rPr>
              <a:t>196℃</a:t>
            </a:r>
            <a:r>
              <a:rPr kumimoji="1" lang="en-US" altLang="zh-CN" sz="3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5050"/>
                </a:solidFill>
                <a:effectLst/>
                <a:uLnTx/>
                <a:uFillTx/>
                <a:latin typeface="Arial" pitchFamily="34" charset="0"/>
                <a:ea typeface="宋体" pitchFamily="2" charset="-122"/>
                <a:cs typeface="+mn-cs"/>
              </a:rPr>
              <a:t>~</a:t>
            </a:r>
            <a:r>
              <a:rPr kumimoji="1" lang="en-US" altLang="ja-JP" sz="3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5050"/>
                </a:solidFill>
                <a:effectLst/>
                <a:uLnTx/>
                <a:uFillTx/>
                <a:latin typeface="Arial" pitchFamily="34" charset="0"/>
                <a:ea typeface="MS PGothic" pitchFamily="34" charset="-128"/>
                <a:cs typeface="+mn-cs"/>
              </a:rPr>
              <a:t>500℃</a:t>
            </a:r>
            <a:endParaRPr kumimoji="0" lang="en-US" altLang="zh-CN" sz="3800" b="0" i="0" u="none" strike="noStrike" kern="1200" cap="none" spc="0" normalizeH="0" baseline="0" noProof="0" dirty="0">
              <a:ln>
                <a:noFill/>
              </a:ln>
              <a:solidFill>
                <a:srgbClr val="FF5050"/>
              </a:solidFill>
              <a:effectLst/>
              <a:uLnTx/>
              <a:uFillTx/>
              <a:latin typeface="Arial" pitchFamily="34" charset="0"/>
              <a:ea typeface="宋体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quarter" idx="4294967295"/>
          </p:nvPr>
        </p:nvSpPr>
        <p:spPr bwMode="auto">
          <a:xfrm>
            <a:off x="0" y="7016949"/>
            <a:ext cx="2857831" cy="526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2466" tIns="61233" rIns="122466" bIns="61233" numCol="1" anchor="t" anchorCtr="0" compatLnSpc="1">
            <a:prstTxWarp prst="textNoShape">
              <a:avLst/>
            </a:prstTxWarp>
          </a:bodyPr>
          <a:lstStyle>
            <a:lvl1pPr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995033" indent="-382705"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530820" indent="-306164"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2143148" indent="-306164"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755476" indent="-306164"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3367804" indent="-306164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980132" indent="-306164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4592460" indent="-306164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5204788" indent="-306164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fld id="{93694843-4896-4A24-98C5-E587139B185D}" type="datetime2">
              <a:rPr lang="zh-CN" altLang="en-US" sz="1900">
                <a:solidFill>
                  <a:srgbClr val="9999FF"/>
                </a:solidFill>
              </a:rPr>
              <a:pPr/>
              <a:t>2022年5月2日</a:t>
            </a:fld>
            <a:endParaRPr lang="en-US" altLang="en-US" sz="1900">
              <a:solidFill>
                <a:srgbClr val="9999FF"/>
              </a:solidFill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0859757" y="7029450"/>
            <a:ext cx="2857831" cy="514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995033" indent="-382705"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530820" indent="-306164"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2143148" indent="-306164"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755476" indent="-306164"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3367804" indent="-306164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980132" indent="-306164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4592460" indent="-306164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5204788" indent="-306164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fld id="{61EF0C3C-AB7C-4703-AADA-9C30C482E5F2}" type="slidenum">
              <a:rPr lang="en-US" altLang="en-US" sz="1900"/>
              <a:pPr/>
              <a:t>10</a:t>
            </a:fld>
            <a:endParaRPr lang="en-US" altLang="en-US" sz="1900"/>
          </a:p>
        </p:txBody>
      </p:sp>
      <p:grpSp>
        <p:nvGrpSpPr>
          <p:cNvPr id="6" name="Group 30"/>
          <p:cNvGrpSpPr>
            <a:grpSpLocks/>
          </p:cNvGrpSpPr>
          <p:nvPr/>
        </p:nvGrpSpPr>
        <p:grpSpPr bwMode="auto">
          <a:xfrm>
            <a:off x="2531116" y="2127056"/>
            <a:ext cx="9132407" cy="2671763"/>
            <a:chOff x="1329" y="2493"/>
            <a:chExt cx="3872" cy="1496"/>
          </a:xfrm>
        </p:grpSpPr>
        <p:sp>
          <p:nvSpPr>
            <p:cNvPr id="7" name="Oval 29" descr="画布"/>
            <p:cNvSpPr>
              <a:spLocks noChangeArrowheads="1"/>
            </p:cNvSpPr>
            <p:nvPr/>
          </p:nvSpPr>
          <p:spPr bwMode="auto">
            <a:xfrm>
              <a:off x="1329" y="2493"/>
              <a:ext cx="3872" cy="1496"/>
            </a:xfrm>
            <a:prstGeom prst="ellipse">
              <a:avLst/>
            </a:prstGeom>
            <a:blipFill dpi="0" rotWithShape="1">
              <a:blip r:embed="rId2"/>
              <a:srcRect/>
              <a:tile tx="0" ty="0" sx="100000" sy="100000" flip="none" algn="tl"/>
            </a:blipFill>
            <a:ln w="12700" cap="sq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8" name="Group 28"/>
            <p:cNvGrpSpPr>
              <a:grpSpLocks/>
            </p:cNvGrpSpPr>
            <p:nvPr/>
          </p:nvGrpSpPr>
          <p:grpSpPr bwMode="auto">
            <a:xfrm>
              <a:off x="1610" y="2525"/>
              <a:ext cx="3414" cy="1322"/>
              <a:chOff x="1734" y="2752"/>
              <a:chExt cx="3414" cy="1322"/>
            </a:xfrm>
          </p:grpSpPr>
          <p:sp>
            <p:nvSpPr>
              <p:cNvPr id="9" name="Rectangle 3"/>
              <p:cNvSpPr>
                <a:spLocks noChangeArrowheads="1"/>
              </p:cNvSpPr>
              <p:nvPr/>
            </p:nvSpPr>
            <p:spPr bwMode="auto">
              <a:xfrm>
                <a:off x="1896" y="3176"/>
                <a:ext cx="2472" cy="462"/>
              </a:xfrm>
              <a:prstGeom prst="rect">
                <a:avLst/>
              </a:prstGeom>
              <a:solidFill>
                <a:srgbClr val="3333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" name="Oval 4"/>
              <p:cNvSpPr>
                <a:spLocks noChangeArrowheads="1"/>
              </p:cNvSpPr>
              <p:nvPr/>
            </p:nvSpPr>
            <p:spPr bwMode="auto">
              <a:xfrm>
                <a:off x="4668" y="3152"/>
                <a:ext cx="480" cy="480"/>
              </a:xfrm>
              <a:prstGeom prst="ellipse">
                <a:avLst/>
              </a:prstGeom>
              <a:solidFill>
                <a:srgbClr val="3333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" name="Rectangle 5"/>
              <p:cNvSpPr>
                <a:spLocks noChangeArrowheads="1"/>
              </p:cNvSpPr>
              <p:nvPr/>
            </p:nvSpPr>
            <p:spPr bwMode="auto">
              <a:xfrm>
                <a:off x="1896" y="3242"/>
                <a:ext cx="2472" cy="324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" name="Oval 6"/>
              <p:cNvSpPr>
                <a:spLocks noChangeArrowheads="1"/>
              </p:cNvSpPr>
              <p:nvPr/>
            </p:nvSpPr>
            <p:spPr bwMode="auto">
              <a:xfrm>
                <a:off x="4740" y="3224"/>
                <a:ext cx="342" cy="342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" name="Oval 7"/>
              <p:cNvSpPr>
                <a:spLocks noChangeArrowheads="1"/>
              </p:cNvSpPr>
              <p:nvPr/>
            </p:nvSpPr>
            <p:spPr bwMode="auto">
              <a:xfrm>
                <a:off x="4854" y="3339"/>
                <a:ext cx="108" cy="108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" name="Line 8"/>
              <p:cNvSpPr>
                <a:spLocks noChangeShapeType="1"/>
              </p:cNvSpPr>
              <p:nvPr/>
            </p:nvSpPr>
            <p:spPr bwMode="auto">
              <a:xfrm flipH="1" flipV="1">
                <a:off x="2166" y="3652"/>
                <a:ext cx="144" cy="16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" name="Oval 9"/>
              <p:cNvSpPr>
                <a:spLocks noChangeArrowheads="1"/>
              </p:cNvSpPr>
              <p:nvPr/>
            </p:nvSpPr>
            <p:spPr bwMode="auto">
              <a:xfrm>
                <a:off x="1746" y="3325"/>
                <a:ext cx="2742" cy="132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" name="Oval 10"/>
              <p:cNvSpPr>
                <a:spLocks noChangeArrowheads="1"/>
              </p:cNvSpPr>
              <p:nvPr/>
            </p:nvSpPr>
            <p:spPr bwMode="auto">
              <a:xfrm>
                <a:off x="1734" y="3381"/>
                <a:ext cx="2736" cy="132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" name="Rectangle 11"/>
              <p:cNvSpPr>
                <a:spLocks noChangeArrowheads="1"/>
              </p:cNvSpPr>
              <p:nvPr/>
            </p:nvSpPr>
            <p:spPr bwMode="auto">
              <a:xfrm>
                <a:off x="1740" y="3132"/>
                <a:ext cx="162" cy="576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" name="Rectangle 12"/>
              <p:cNvSpPr>
                <a:spLocks noChangeArrowheads="1"/>
              </p:cNvSpPr>
              <p:nvPr/>
            </p:nvSpPr>
            <p:spPr bwMode="auto">
              <a:xfrm>
                <a:off x="4362" y="3144"/>
                <a:ext cx="282" cy="576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" name="Rectangle 13"/>
              <p:cNvSpPr>
                <a:spLocks noChangeArrowheads="1"/>
              </p:cNvSpPr>
              <p:nvPr/>
            </p:nvSpPr>
            <p:spPr bwMode="auto">
              <a:xfrm>
                <a:off x="1896" y="3441"/>
                <a:ext cx="2466" cy="9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" name="Line 14"/>
              <p:cNvSpPr>
                <a:spLocks noChangeShapeType="1"/>
              </p:cNvSpPr>
              <p:nvPr/>
            </p:nvSpPr>
            <p:spPr bwMode="auto">
              <a:xfrm>
                <a:off x="1902" y="3174"/>
                <a:ext cx="6" cy="46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" name="Line 15"/>
              <p:cNvSpPr>
                <a:spLocks noChangeShapeType="1"/>
              </p:cNvSpPr>
              <p:nvPr/>
            </p:nvSpPr>
            <p:spPr bwMode="auto">
              <a:xfrm>
                <a:off x="4362" y="3174"/>
                <a:ext cx="0" cy="46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" name="Line 16"/>
              <p:cNvSpPr>
                <a:spLocks noChangeShapeType="1"/>
              </p:cNvSpPr>
              <p:nvPr/>
            </p:nvSpPr>
            <p:spPr bwMode="auto">
              <a:xfrm flipH="1" flipV="1">
                <a:off x="2628" y="3429"/>
                <a:ext cx="300" cy="37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" name="Line 17"/>
              <p:cNvSpPr>
                <a:spLocks noChangeShapeType="1"/>
              </p:cNvSpPr>
              <p:nvPr/>
            </p:nvSpPr>
            <p:spPr bwMode="auto">
              <a:xfrm flipH="1">
                <a:off x="3222" y="3022"/>
                <a:ext cx="293" cy="29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" name="Rectangle 18"/>
              <p:cNvSpPr>
                <a:spLocks noChangeArrowheads="1"/>
              </p:cNvSpPr>
              <p:nvPr/>
            </p:nvSpPr>
            <p:spPr bwMode="auto">
              <a:xfrm>
                <a:off x="2136" y="3814"/>
                <a:ext cx="1283" cy="2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pPr algn="just" eaLnBrk="1" hangingPunct="1"/>
                <a:r>
                  <a:rPr kumimoji="1" lang="zh-CN" altLang="en-US" sz="2400" dirty="0" smtClean="0">
                    <a:ea typeface="MS Mincho" pitchFamily="49" charset="-128"/>
                  </a:rPr>
                  <a:t>金属套管</a:t>
                </a:r>
                <a:r>
                  <a:rPr kumimoji="1" lang="ja-JP" altLang="en-US" sz="2400" dirty="0">
                    <a:ea typeface="MS Mincho" pitchFamily="49" charset="-128"/>
                  </a:rPr>
                  <a:t>　</a:t>
                </a:r>
                <a:r>
                  <a:rPr kumimoji="1" lang="zh-CN" altLang="en-US" sz="2400" dirty="0" smtClean="0">
                    <a:ea typeface="MS Mincho" pitchFamily="49" charset="-128"/>
                  </a:rPr>
                  <a:t>被覆光纤</a:t>
                </a:r>
                <a:endParaRPr kumimoji="1" lang="en-US" altLang="ja-JP" sz="2400" dirty="0">
                  <a:ea typeface="MS PGothic" pitchFamily="34" charset="-128"/>
                </a:endParaRPr>
              </a:p>
            </p:txBody>
          </p:sp>
          <p:sp>
            <p:nvSpPr>
              <p:cNvPr id="25" name="Rectangle 19"/>
              <p:cNvSpPr>
                <a:spLocks noChangeArrowheads="1"/>
              </p:cNvSpPr>
              <p:nvPr/>
            </p:nvSpPr>
            <p:spPr bwMode="auto">
              <a:xfrm>
                <a:off x="3247" y="2752"/>
                <a:ext cx="730" cy="2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pPr algn="just" eaLnBrk="1" hangingPunct="1"/>
                <a:r>
                  <a:rPr kumimoji="1" lang="zh-CN" altLang="en-US" sz="2400" dirty="0" smtClean="0">
                    <a:ea typeface="MS PGothic" pitchFamily="34" charset="-128"/>
                  </a:rPr>
                  <a:t>正附加长度</a:t>
                </a:r>
                <a:endParaRPr kumimoji="1" lang="en-US" altLang="ja-JP" sz="2400" dirty="0">
                  <a:ea typeface="MS PGothic" pitchFamily="34" charset="-128"/>
                </a:endParaRPr>
              </a:p>
            </p:txBody>
          </p:sp>
        </p:grpSp>
      </p:grpSp>
      <p:sp>
        <p:nvSpPr>
          <p:cNvPr id="26" name="文本框 60">
            <a:extLst>
              <a:ext uri="{FF2B5EF4-FFF2-40B4-BE49-F238E27FC236}">
                <a16:creationId xmlns:a16="http://schemas.microsoft.com/office/drawing/2014/main" xmlns="" id="{791D85D7-F412-9C48-9F2B-E33F5B7B4F3C}"/>
              </a:ext>
            </a:extLst>
          </p:cNvPr>
          <p:cNvSpPr txBox="1"/>
          <p:nvPr/>
        </p:nvSpPr>
        <p:spPr>
          <a:xfrm>
            <a:off x="1364780" y="293282"/>
            <a:ext cx="4560031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拉曼时域分布式光纤测温系统</a:t>
            </a: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10256520" y="329189"/>
            <a:ext cx="1211081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xmlns="" id="{B0EA110F-2BA5-44F1-BDF2-A8AD51CC83F5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: 圆角 25">
            <a:extLst>
              <a:ext uri="{FF2B5EF4-FFF2-40B4-BE49-F238E27FC236}">
                <a16:creationId xmlns:a16="http://schemas.microsoft.com/office/drawing/2014/main" xmlns="" id="{D7400AB1-4BEC-40E5-A53B-E3CB1F48EB8A}"/>
              </a:ext>
            </a:extLst>
          </p:cNvPr>
          <p:cNvSpPr/>
          <p:nvPr/>
        </p:nvSpPr>
        <p:spPr>
          <a:xfrm>
            <a:off x="336177" y="293282"/>
            <a:ext cx="948448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10.2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30" name="直接连接符 58">
            <a:extLst>
              <a:ext uri="{FF2B5EF4-FFF2-40B4-BE49-F238E27FC236}">
                <a16:creationId xmlns:a16="http://schemas.microsoft.com/office/drawing/2014/main" xmlns="" id="{8C5F82EF-52B4-4531-96F0-44689EA1125E}"/>
              </a:ext>
            </a:extLst>
          </p:cNvPr>
          <p:cNvCxnSpPr>
            <a:cxnSpLocks/>
          </p:cNvCxnSpPr>
          <p:nvPr/>
        </p:nvCxnSpPr>
        <p:spPr>
          <a:xfrm flipV="1">
            <a:off x="1450506" y="695281"/>
            <a:ext cx="2999293" cy="15717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矩形 30">
            <a:extLst>
              <a:ext uri="{FF2B5EF4-FFF2-40B4-BE49-F238E27FC236}">
                <a16:creationId xmlns:a16="http://schemas.microsoft.com/office/drawing/2014/main" xmlns="" id="{82FE0EE3-DD34-4ECD-AB99-E9089285A34C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xmlns="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60">
            <a:extLst>
              <a:ext uri="{FF2B5EF4-FFF2-40B4-BE49-F238E27FC236}">
                <a16:creationId xmlns:a16="http://schemas.microsoft.com/office/drawing/2014/main" xmlns="" id="{791D85D7-F412-9C48-9F2B-E33F5B7B4F3C}"/>
              </a:ext>
            </a:extLst>
          </p:cNvPr>
          <p:cNvSpPr txBox="1"/>
          <p:nvPr/>
        </p:nvSpPr>
        <p:spPr>
          <a:xfrm>
            <a:off x="1364780" y="293282"/>
            <a:ext cx="4560031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拉曼时域分布式光纤测温系统</a:t>
            </a: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0256520" y="329189"/>
            <a:ext cx="1211081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xmlns="" id="{B0EA110F-2BA5-44F1-BDF2-A8AD51CC83F5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: 圆角 25">
            <a:extLst>
              <a:ext uri="{FF2B5EF4-FFF2-40B4-BE49-F238E27FC236}">
                <a16:creationId xmlns:a16="http://schemas.microsoft.com/office/drawing/2014/main" xmlns="" id="{D7400AB1-4BEC-40E5-A53B-E3CB1F48EB8A}"/>
              </a:ext>
            </a:extLst>
          </p:cNvPr>
          <p:cNvSpPr/>
          <p:nvPr/>
        </p:nvSpPr>
        <p:spPr>
          <a:xfrm>
            <a:off x="336177" y="293282"/>
            <a:ext cx="948448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10.2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20" name="直接连接符 58">
            <a:extLst>
              <a:ext uri="{FF2B5EF4-FFF2-40B4-BE49-F238E27FC236}">
                <a16:creationId xmlns:a16="http://schemas.microsoft.com/office/drawing/2014/main" xmlns="" id="{8C5F82EF-52B4-4531-96F0-44689EA1125E}"/>
              </a:ext>
            </a:extLst>
          </p:cNvPr>
          <p:cNvCxnSpPr>
            <a:cxnSpLocks/>
          </p:cNvCxnSpPr>
          <p:nvPr/>
        </p:nvCxnSpPr>
        <p:spPr>
          <a:xfrm flipV="1">
            <a:off x="1450506" y="695281"/>
            <a:ext cx="2999293" cy="15717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矩形 27">
            <a:extLst>
              <a:ext uri="{FF2B5EF4-FFF2-40B4-BE49-F238E27FC236}">
                <a16:creationId xmlns:a16="http://schemas.microsoft.com/office/drawing/2014/main" xmlns="" id="{82FE0EE3-DD34-4ECD-AB99-E9089285A34C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xmlns="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p:sp>
        <p:nvSpPr>
          <p:cNvPr id="9" name="Rectangle 7"/>
          <p:cNvSpPr txBox="1">
            <a:spLocks noChangeArrowheads="1"/>
          </p:cNvSpPr>
          <p:nvPr/>
        </p:nvSpPr>
        <p:spPr bwMode="auto">
          <a:xfrm>
            <a:off x="765181" y="1046291"/>
            <a:ext cx="12345829" cy="6536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2466" tIns="61233" rIns="122466" bIns="61233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10287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宋体" pitchFamily="2" charset="-122"/>
                <a:cs typeface="+mj-cs"/>
              </a:rPr>
              <a:t>典型工程应用例：</a:t>
            </a:r>
            <a:r>
              <a:rPr kumimoji="0" lang="zh-CN" altLang="en-US" sz="4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itchFamily="34" charset="0"/>
                <a:ea typeface="宋体" pitchFamily="2" charset="-122"/>
                <a:cs typeface="+mj-cs"/>
              </a:rPr>
              <a:t>电力系统</a:t>
            </a:r>
            <a:r>
              <a:rPr kumimoji="0" lang="zh-CN" altLang="en-US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宋体" pitchFamily="2" charset="-122"/>
                <a:cs typeface="+mj-cs"/>
              </a:rPr>
              <a:t>及电力网络</a:t>
            </a:r>
          </a:p>
        </p:txBody>
      </p:sp>
      <p:sp>
        <p:nvSpPr>
          <p:cNvPr id="10" name="Rectangle 8"/>
          <p:cNvSpPr txBox="1">
            <a:spLocks noChangeArrowheads="1"/>
          </p:cNvSpPr>
          <p:nvPr/>
        </p:nvSpPr>
        <p:spPr bwMode="auto">
          <a:xfrm>
            <a:off x="1227551" y="2017841"/>
            <a:ext cx="11277500" cy="51219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2466" tIns="61233" rIns="122466" bIns="61233" numCol="1" anchor="t" anchorCtr="0" compatLnSpc="1">
            <a:prstTxWarp prst="textNoShape">
              <a:avLst/>
            </a:prstTxWarp>
          </a:bodyPr>
          <a:lstStyle/>
          <a:p>
            <a:pPr marL="257175" marR="0" lvl="0" indent="-257175" algn="l" defTabSz="1028700" rtl="0" eaLnBrk="0" fontAlgn="base" latinLnBrk="0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1" lang="zh-CN" altLang="en-US" sz="3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电力电缆</a:t>
            </a:r>
            <a:r>
              <a:rPr kumimoji="1" lang="en-US" altLang="zh-CN" sz="3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: </a:t>
            </a:r>
            <a:r>
              <a:rPr kumimoji="1" lang="zh-CN" altLang="en-US" sz="3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表面温度</a:t>
            </a:r>
          </a:p>
          <a:p>
            <a:pPr marL="257175" marR="0" lvl="0" indent="-257175" algn="l" defTabSz="1028700" rtl="0" eaLnBrk="0" fontAlgn="base" latinLnBrk="0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1" lang="zh-CN" altLang="en-US" sz="3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地沟电缆</a:t>
            </a:r>
            <a:r>
              <a:rPr kumimoji="1" lang="en-US" altLang="zh-CN" sz="3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: </a:t>
            </a:r>
            <a:r>
              <a:rPr kumimoji="1" lang="zh-CN" altLang="en-US" sz="3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火灾预警</a:t>
            </a:r>
            <a:endParaRPr kumimoji="1" lang="zh-CN" altLang="en-US" sz="3800" b="0" i="0" u="none" strike="noStrike" kern="1200" cap="none" spc="0" normalizeH="0" baseline="0" noProof="0" dirty="0" smtClean="0">
              <a:ln>
                <a:noFill/>
              </a:ln>
              <a:solidFill>
                <a:schemeClr val="hlink"/>
              </a:solidFill>
              <a:effectLst/>
              <a:uLnTx/>
              <a:uFillTx/>
              <a:latin typeface="宋体" pitchFamily="2" charset="-122"/>
              <a:ea typeface="宋体" pitchFamily="2" charset="-122"/>
              <a:cs typeface="+mn-cs"/>
            </a:endParaRPr>
          </a:p>
          <a:p>
            <a:pPr marL="257175" marR="0" lvl="0" indent="-257175" algn="l" defTabSz="1028700" rtl="0" eaLnBrk="0" fontAlgn="base" latinLnBrk="0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1" lang="zh-CN" altLang="en-US" sz="3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大中型发电、变电机组</a:t>
            </a:r>
            <a:r>
              <a:rPr kumimoji="1" lang="en-US" altLang="zh-CN" sz="3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:  </a:t>
            </a:r>
          </a:p>
          <a:p>
            <a:pPr marL="771525" marR="0" lvl="1" indent="-257175" algn="l" defTabSz="1028700" rtl="0" eaLnBrk="0" fontAlgn="base" latinLnBrk="0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1" lang="zh-CN" alt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温度监测、过热保护等</a:t>
            </a:r>
          </a:p>
          <a:p>
            <a:pPr marL="257175" marR="0" lvl="0" indent="-257175" algn="l" defTabSz="1028700" rtl="0" eaLnBrk="0" fontAlgn="base" latinLnBrk="0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1" lang="zh-CN" altLang="en-US" sz="3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火电站</a:t>
            </a:r>
            <a:r>
              <a:rPr kumimoji="1" lang="en-US" altLang="zh-CN" sz="3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:</a:t>
            </a:r>
            <a:r>
              <a:rPr kumimoji="1" lang="en-US" altLang="zh-CN" sz="3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 </a:t>
            </a:r>
            <a:r>
              <a:rPr kumimoji="1" lang="zh-CN" altLang="en-US" sz="3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加热系统、蒸汽管道、输油管线 </a:t>
            </a:r>
          </a:p>
          <a:p>
            <a:pPr marL="771525" marR="0" lvl="1" indent="-257175" algn="l" defTabSz="1028700" rtl="0" eaLnBrk="0" fontAlgn="base" latinLnBrk="0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1" lang="zh-CN" alt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温度监测、故障排除</a:t>
            </a:r>
          </a:p>
          <a:p>
            <a:pPr marL="257175" marR="0" lvl="0" indent="-257175" algn="l" defTabSz="1028700" rtl="0" eaLnBrk="0" fontAlgn="base" latinLnBrk="0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1" lang="zh-CN" altLang="en-US" sz="3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变电站</a:t>
            </a:r>
            <a:r>
              <a:rPr kumimoji="1" lang="en-US" altLang="zh-CN" sz="3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:  </a:t>
            </a:r>
            <a:r>
              <a:rPr kumimoji="1" lang="zh-CN" altLang="en-US" sz="3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封闭变电站户内及地下装置的温度监控</a:t>
            </a:r>
            <a:endParaRPr kumimoji="1" lang="zh-CN" altLang="en-US" sz="3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itchFamily="2" charset="-122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60">
            <a:extLst>
              <a:ext uri="{FF2B5EF4-FFF2-40B4-BE49-F238E27FC236}">
                <a16:creationId xmlns:a16="http://schemas.microsoft.com/office/drawing/2014/main" xmlns="" id="{791D85D7-F412-9C48-9F2B-E33F5B7B4F3C}"/>
              </a:ext>
            </a:extLst>
          </p:cNvPr>
          <p:cNvSpPr txBox="1"/>
          <p:nvPr/>
        </p:nvSpPr>
        <p:spPr>
          <a:xfrm>
            <a:off x="1364780" y="293282"/>
            <a:ext cx="4560031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拉曼时域分布式光纤测温系统</a:t>
            </a: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0256520" y="329189"/>
            <a:ext cx="1211081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xmlns="" id="{B0EA110F-2BA5-44F1-BDF2-A8AD51CC83F5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: 圆角 25">
            <a:extLst>
              <a:ext uri="{FF2B5EF4-FFF2-40B4-BE49-F238E27FC236}">
                <a16:creationId xmlns:a16="http://schemas.microsoft.com/office/drawing/2014/main" xmlns="" id="{D7400AB1-4BEC-40E5-A53B-E3CB1F48EB8A}"/>
              </a:ext>
            </a:extLst>
          </p:cNvPr>
          <p:cNvSpPr/>
          <p:nvPr/>
        </p:nvSpPr>
        <p:spPr>
          <a:xfrm>
            <a:off x="336177" y="293282"/>
            <a:ext cx="948448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10.2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20" name="直接连接符 58">
            <a:extLst>
              <a:ext uri="{FF2B5EF4-FFF2-40B4-BE49-F238E27FC236}">
                <a16:creationId xmlns:a16="http://schemas.microsoft.com/office/drawing/2014/main" xmlns="" id="{8C5F82EF-52B4-4531-96F0-44689EA1125E}"/>
              </a:ext>
            </a:extLst>
          </p:cNvPr>
          <p:cNvCxnSpPr>
            <a:cxnSpLocks/>
          </p:cNvCxnSpPr>
          <p:nvPr/>
        </p:nvCxnSpPr>
        <p:spPr>
          <a:xfrm flipV="1">
            <a:off x="1450506" y="695281"/>
            <a:ext cx="2999293" cy="15717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矩形 27">
            <a:extLst>
              <a:ext uri="{FF2B5EF4-FFF2-40B4-BE49-F238E27FC236}">
                <a16:creationId xmlns:a16="http://schemas.microsoft.com/office/drawing/2014/main" xmlns="" id="{82FE0EE3-DD34-4ECD-AB99-E9089285A34C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xmlns="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p:sp>
        <p:nvSpPr>
          <p:cNvPr id="9" name="标题 1"/>
          <p:cNvSpPr txBox="1">
            <a:spLocks/>
          </p:cNvSpPr>
          <p:nvPr/>
        </p:nvSpPr>
        <p:spPr>
          <a:xfrm>
            <a:off x="3017520" y="1177833"/>
            <a:ext cx="8294913" cy="57476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10287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黑体" pitchFamily="49" charset="-122"/>
                <a:cs typeface="+mj-cs"/>
              </a:rPr>
              <a:t>固定于电缆表面的光纤传感器</a:t>
            </a:r>
            <a:endParaRPr kumimoji="0" lang="zh-CN" altLang="en-US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0" name="灯片编号占位符 6"/>
          <p:cNvSpPr>
            <a:spLocks noGrp="1"/>
          </p:cNvSpPr>
          <p:nvPr>
            <p:ph type="sldNum" sz="quarter" idx="12"/>
          </p:nvPr>
        </p:nvSpPr>
        <p:spPr bwMode="auto">
          <a:xfrm>
            <a:off x="9688513" y="7151688"/>
            <a:ext cx="3086100" cy="409575"/>
          </a:xfr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2466" tIns="61233" rIns="122466" bIns="61233" numCol="1" anchor="t" anchorCtr="0" compatLnSpc="1">
            <a:prstTxWarp prst="textNoShape">
              <a:avLst/>
            </a:prstTxWarp>
          </a:bodyPr>
          <a:lstStyle>
            <a:lvl1pPr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995033" indent="-382705"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530820" indent="-306164"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2143148" indent="-306164"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755476" indent="-306164"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3367804" indent="-306164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980132" indent="-306164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4592460" indent="-306164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5204788" indent="-306164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fld id="{A76410D2-A525-4BA2-82FE-B17F6823E420}" type="slidenum">
              <a:rPr lang="en-US" altLang="en-US" sz="1900"/>
              <a:pPr/>
              <a:t>12</a:t>
            </a:fld>
            <a:endParaRPr lang="en-US" altLang="en-US" sz="1900"/>
          </a:p>
        </p:txBody>
      </p:sp>
      <p:pic>
        <p:nvPicPr>
          <p:cNvPr id="11" name="Picture 3" descr="運用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b="7139"/>
          <a:stretch/>
        </p:blipFill>
        <p:spPr bwMode="auto">
          <a:xfrm>
            <a:off x="7528004" y="1953816"/>
            <a:ext cx="3588958" cy="37580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4" descr="運用１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237592" y="2711054"/>
            <a:ext cx="4382007" cy="28485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 Box 5"/>
          <p:cNvSpPr txBox="1">
            <a:spLocks noChangeArrowheads="1"/>
          </p:cNvSpPr>
          <p:nvPr/>
        </p:nvSpPr>
        <p:spPr bwMode="auto">
          <a:xfrm>
            <a:off x="1480231" y="5559625"/>
            <a:ext cx="5060516" cy="17856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2466" tIns="61233" rIns="122466" bIns="61233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700" dirty="0" smtClean="0">
                <a:ea typeface="黑体" pitchFamily="49" charset="-122"/>
              </a:rPr>
              <a:t>例</a:t>
            </a:r>
            <a:r>
              <a:rPr kumimoji="1" lang="en-US" altLang="zh-CN" sz="2700" dirty="0" smtClean="0">
                <a:ea typeface="黑体" pitchFamily="49" charset="-122"/>
              </a:rPr>
              <a:t> </a:t>
            </a:r>
            <a:r>
              <a:rPr kumimoji="1" lang="en-US" altLang="zh-CN" sz="2700" dirty="0">
                <a:ea typeface="黑体" pitchFamily="49" charset="-122"/>
              </a:rPr>
              <a:t>1</a:t>
            </a:r>
            <a:r>
              <a:rPr kumimoji="1" lang="ja-JP" altLang="en-US" sz="2700" dirty="0" smtClean="0">
                <a:ea typeface="黑体" pitchFamily="49" charset="-122"/>
              </a:rPr>
              <a:t>：</a:t>
            </a:r>
            <a:r>
              <a:rPr kumimoji="1" lang="zh-CN" altLang="en-US" sz="2700" dirty="0">
                <a:ea typeface="黑体" pitchFamily="49" charset="-122"/>
              </a:rPr>
              <a:t>蕾丝</a:t>
            </a:r>
            <a:r>
              <a:rPr kumimoji="1" lang="zh-CN" altLang="en-US" sz="2700" dirty="0" smtClean="0">
                <a:ea typeface="黑体" pitchFamily="49" charset="-122"/>
              </a:rPr>
              <a:t>固定</a:t>
            </a:r>
            <a:endParaRPr kumimoji="1" lang="en-US" altLang="zh-CN" sz="2700" u="sng" dirty="0">
              <a:ea typeface="黑体" pitchFamily="49" charset="-122"/>
            </a:endParaRPr>
          </a:p>
          <a:p>
            <a:pPr eaLnBrk="1" hangingPunct="1">
              <a:buFontTx/>
              <a:buChar char="•"/>
            </a:pPr>
            <a:r>
              <a:rPr kumimoji="1" lang="zh-CN" altLang="en-US" sz="2700" dirty="0" smtClean="0"/>
              <a:t>用于最上层电缆的传感器固定</a:t>
            </a:r>
            <a:endParaRPr kumimoji="1" lang="en-US" altLang="zh-CN" sz="2700" dirty="0" smtClean="0"/>
          </a:p>
          <a:p>
            <a:pPr eaLnBrk="1" hangingPunct="1">
              <a:buFontTx/>
              <a:buChar char="•"/>
            </a:pPr>
            <a:r>
              <a:rPr kumimoji="1" lang="zh-CN" altLang="en-US" sz="2700" dirty="0" smtClean="0"/>
              <a:t>用于跟踪温度变化</a:t>
            </a:r>
            <a:endParaRPr kumimoji="1" lang="en-US" altLang="zh-CN" sz="2700" dirty="0" smtClean="0"/>
          </a:p>
          <a:p>
            <a:pPr eaLnBrk="1" hangingPunct="1">
              <a:buFontTx/>
              <a:buChar char="•"/>
            </a:pPr>
            <a:r>
              <a:rPr kumimoji="1" lang="zh-CN" altLang="en-US" sz="2700" dirty="0" smtClean="0"/>
              <a:t>监测温度异常</a:t>
            </a:r>
            <a:endParaRPr kumimoji="1" lang="en-US" altLang="ja-JP" sz="2700" u="sng" dirty="0">
              <a:ea typeface="黑体" pitchFamily="49" charset="-122"/>
            </a:endParaRPr>
          </a:p>
        </p:txBody>
      </p:sp>
      <p:sp>
        <p:nvSpPr>
          <p:cNvPr id="18" name="Oval 7"/>
          <p:cNvSpPr>
            <a:spLocks noChangeArrowheads="1"/>
          </p:cNvSpPr>
          <p:nvPr/>
        </p:nvSpPr>
        <p:spPr bwMode="auto">
          <a:xfrm>
            <a:off x="3186482" y="1918841"/>
            <a:ext cx="4322470" cy="693243"/>
          </a:xfrm>
          <a:prstGeom prst="ellipse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1587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122466" tIns="61233" rIns="122466" bIns="61233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en-US" altLang="zh-CN" sz="2400" b="1" dirty="0">
                <a:solidFill>
                  <a:srgbClr val="00B050"/>
                </a:solidFill>
              </a:rPr>
              <a:t>Fiber sensors</a:t>
            </a:r>
            <a:endParaRPr kumimoji="1" lang="en-US" altLang="ja-JP" sz="2400" b="1" dirty="0">
              <a:solidFill>
                <a:srgbClr val="00B050"/>
              </a:solidFill>
            </a:endParaRPr>
          </a:p>
        </p:txBody>
      </p:sp>
      <p:sp>
        <p:nvSpPr>
          <p:cNvPr id="19" name="Text Box 9"/>
          <p:cNvSpPr txBox="1">
            <a:spLocks noChangeArrowheads="1"/>
          </p:cNvSpPr>
          <p:nvPr/>
        </p:nvSpPr>
        <p:spPr bwMode="auto">
          <a:xfrm>
            <a:off x="2155281" y="6534746"/>
            <a:ext cx="332284" cy="328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22466" tIns="61233" rIns="122466" bIns="61233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lnSpc>
                <a:spcPct val="70000"/>
              </a:lnSpc>
              <a:spcBef>
                <a:spcPct val="50000"/>
              </a:spcBef>
              <a:buFontTx/>
              <a:buChar char="•"/>
            </a:pPr>
            <a:endParaRPr kumimoji="1" lang="ja-JP" altLang="en-US" sz="1900">
              <a:ea typeface="黑体" pitchFamily="49" charset="-122"/>
            </a:endParaRPr>
          </a:p>
        </p:txBody>
      </p:sp>
      <p:sp>
        <p:nvSpPr>
          <p:cNvPr id="21" name="Oval 10"/>
          <p:cNvSpPr>
            <a:spLocks noChangeArrowheads="1"/>
          </p:cNvSpPr>
          <p:nvPr/>
        </p:nvSpPr>
        <p:spPr bwMode="auto">
          <a:xfrm>
            <a:off x="4972833" y="4054947"/>
            <a:ext cx="1794273" cy="693243"/>
          </a:xfrm>
          <a:prstGeom prst="ellipse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1587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122466" tIns="61233" rIns="122466" bIns="61233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en-US" altLang="zh-CN" sz="2400" b="1" dirty="0">
                <a:solidFill>
                  <a:srgbClr val="00B050"/>
                </a:solidFill>
              </a:rPr>
              <a:t>Lacing </a:t>
            </a:r>
            <a:endParaRPr kumimoji="1" lang="en-US" altLang="ja-JP" sz="2400" dirty="0">
              <a:solidFill>
                <a:srgbClr val="00B050"/>
              </a:solidFill>
              <a:ea typeface="MS PGothic" pitchFamily="34" charset="-128"/>
            </a:endParaRPr>
          </a:p>
        </p:txBody>
      </p:sp>
      <p:sp>
        <p:nvSpPr>
          <p:cNvPr id="22" name="Text Box 11"/>
          <p:cNvSpPr txBox="1">
            <a:spLocks noChangeArrowheads="1"/>
          </p:cNvSpPr>
          <p:nvPr/>
        </p:nvSpPr>
        <p:spPr bwMode="auto">
          <a:xfrm>
            <a:off x="7711234" y="5898033"/>
            <a:ext cx="3719428" cy="14471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22466" tIns="61233" rIns="122466" bIns="61233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lnSpc>
                <a:spcPct val="75000"/>
              </a:lnSpc>
              <a:spcBef>
                <a:spcPct val="50000"/>
              </a:spcBef>
            </a:pPr>
            <a:r>
              <a:rPr kumimoji="1" lang="zh-CN" altLang="en-US" sz="2800" dirty="0" smtClean="0">
                <a:latin typeface="黑体" pitchFamily="49" charset="-122"/>
                <a:ea typeface="黑体" pitchFamily="49" charset="-122"/>
              </a:rPr>
              <a:t>例 </a:t>
            </a:r>
            <a:r>
              <a:rPr kumimoji="1" lang="en-US" altLang="zh-CN" sz="2800" dirty="0" smtClean="0">
                <a:latin typeface="黑体" pitchFamily="49" charset="-122"/>
                <a:ea typeface="黑体" pitchFamily="49" charset="-122"/>
              </a:rPr>
              <a:t>2</a:t>
            </a:r>
            <a:r>
              <a:rPr kumimoji="1" lang="ja-JP" altLang="en-US" sz="2800" dirty="0" smtClean="0">
                <a:latin typeface="黑体" pitchFamily="49" charset="-122"/>
                <a:ea typeface="黑体" pitchFamily="49" charset="-122"/>
              </a:rPr>
              <a:t>：</a:t>
            </a:r>
            <a:r>
              <a:rPr kumimoji="1" lang="zh-CN" altLang="en-US" sz="2800" dirty="0" smtClean="0">
                <a:latin typeface="黑体" pitchFamily="49" charset="-122"/>
                <a:ea typeface="黑体" pitchFamily="49" charset="-122"/>
              </a:rPr>
              <a:t>胶带固定于</a:t>
            </a:r>
            <a:r>
              <a:rPr kumimoji="1" lang="en-US" altLang="ja-JP" sz="2800" u="sng" dirty="0" smtClean="0">
                <a:ea typeface="黑体" pitchFamily="49" charset="-122"/>
              </a:rPr>
              <a:t>GIL</a:t>
            </a:r>
            <a:endParaRPr kumimoji="1" lang="en-US" altLang="zh-CN" sz="2800" u="sng" dirty="0">
              <a:ea typeface="黑体" pitchFamily="49" charset="-122"/>
            </a:endParaRPr>
          </a:p>
          <a:p>
            <a:pPr eaLnBrk="1" hangingPunct="1">
              <a:spcBef>
                <a:spcPts val="600"/>
              </a:spcBef>
              <a:buFontTx/>
              <a:buChar char="•"/>
            </a:pPr>
            <a:r>
              <a:rPr kumimoji="1" lang="zh-CN" altLang="en-US" sz="2800" u="sng" dirty="0" smtClean="0">
                <a:ea typeface="黑体" pitchFamily="49" charset="-122"/>
              </a:rPr>
              <a:t> </a:t>
            </a:r>
            <a:r>
              <a:rPr kumimoji="1" lang="zh-CN" altLang="en-US" sz="2700" dirty="0"/>
              <a:t>铝制或塑料胶带</a:t>
            </a:r>
            <a:endParaRPr kumimoji="1" lang="en-US" altLang="zh-CN" sz="2700" dirty="0"/>
          </a:p>
          <a:p>
            <a:pPr eaLnBrk="1" hangingPunct="1">
              <a:spcBef>
                <a:spcPts val="600"/>
              </a:spcBef>
              <a:buFontTx/>
              <a:buChar char="•"/>
            </a:pPr>
            <a:r>
              <a:rPr kumimoji="1" lang="zh-CN" altLang="en-US" sz="2700" dirty="0"/>
              <a:t> 非常高的分辨率</a:t>
            </a:r>
            <a:endParaRPr kumimoji="1" lang="en-US" altLang="ja-JP" sz="2700" dirty="0"/>
          </a:p>
        </p:txBody>
      </p:sp>
      <p:sp>
        <p:nvSpPr>
          <p:cNvPr id="23" name="Line 13"/>
          <p:cNvSpPr>
            <a:spLocks noChangeShapeType="1"/>
          </p:cNvSpPr>
          <p:nvPr/>
        </p:nvSpPr>
        <p:spPr bwMode="auto">
          <a:xfrm flipH="1" flipV="1">
            <a:off x="8718114" y="4496844"/>
            <a:ext cx="2622711" cy="616296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square" lIns="122466" tIns="61233" rIns="122466" bIns="61233" anchor="ctr">
            <a:spAutoFit/>
          </a:bodyPr>
          <a:lstStyle/>
          <a:p>
            <a:endParaRPr lang="zh-CN" altLang="en-US"/>
          </a:p>
        </p:txBody>
      </p:sp>
      <p:sp>
        <p:nvSpPr>
          <p:cNvPr id="24" name="Oval 14"/>
          <p:cNvSpPr>
            <a:spLocks noChangeArrowheads="1"/>
          </p:cNvSpPr>
          <p:nvPr/>
        </p:nvSpPr>
        <p:spPr bwMode="auto">
          <a:xfrm>
            <a:off x="11288433" y="4753124"/>
            <a:ext cx="1483691" cy="693243"/>
          </a:xfrm>
          <a:prstGeom prst="ellipse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1587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122466" tIns="61233" rIns="122466" bIns="61233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en-US" altLang="zh-CN" sz="2400" b="1" dirty="0">
                <a:solidFill>
                  <a:srgbClr val="00B050"/>
                </a:solidFill>
              </a:rPr>
              <a:t>Tape </a:t>
            </a:r>
            <a:endParaRPr kumimoji="1" lang="en-US" altLang="ja-JP" sz="2400" b="1" dirty="0">
              <a:solidFill>
                <a:srgbClr val="00B050"/>
              </a:solidFill>
            </a:endParaRPr>
          </a:p>
        </p:txBody>
      </p:sp>
      <p:sp>
        <p:nvSpPr>
          <p:cNvPr id="25" name="Line 15"/>
          <p:cNvSpPr>
            <a:spLocks noChangeShapeType="1"/>
          </p:cNvSpPr>
          <p:nvPr/>
        </p:nvSpPr>
        <p:spPr bwMode="auto">
          <a:xfrm>
            <a:off x="6455126" y="2440484"/>
            <a:ext cx="2125203" cy="1379953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square" lIns="122466" tIns="61233" rIns="122466" bIns="61233" anchor="ctr">
            <a:spAutoFit/>
          </a:bodyPr>
          <a:lstStyle/>
          <a:p>
            <a:endParaRPr lang="zh-CN" altLang="en-US"/>
          </a:p>
        </p:txBody>
      </p:sp>
      <p:sp>
        <p:nvSpPr>
          <p:cNvPr id="26" name="Line 6"/>
          <p:cNvSpPr>
            <a:spLocks noChangeShapeType="1"/>
          </p:cNvSpPr>
          <p:nvPr/>
        </p:nvSpPr>
        <p:spPr bwMode="auto">
          <a:xfrm flipH="1">
            <a:off x="3225993" y="2440484"/>
            <a:ext cx="1183168" cy="1108885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square" lIns="122466" tIns="61233" rIns="122466" bIns="61233" anchor="ctr">
            <a:spAutoFit/>
          </a:bodyPr>
          <a:lstStyle/>
          <a:p>
            <a:endParaRPr lang="zh-CN" altLang="en-US"/>
          </a:p>
        </p:txBody>
      </p:sp>
      <p:sp>
        <p:nvSpPr>
          <p:cNvPr id="27" name="Line 8"/>
          <p:cNvSpPr>
            <a:spLocks noChangeShapeType="1"/>
          </p:cNvSpPr>
          <p:nvPr/>
        </p:nvSpPr>
        <p:spPr bwMode="auto">
          <a:xfrm flipH="1" flipV="1">
            <a:off x="3428593" y="3820436"/>
            <a:ext cx="1919124" cy="581131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square" lIns="122466" tIns="61233" rIns="122466" bIns="61233" anchor="ctr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60">
            <a:extLst>
              <a:ext uri="{FF2B5EF4-FFF2-40B4-BE49-F238E27FC236}">
                <a16:creationId xmlns:a16="http://schemas.microsoft.com/office/drawing/2014/main" xmlns="" id="{791D85D7-F412-9C48-9F2B-E33F5B7B4F3C}"/>
              </a:ext>
            </a:extLst>
          </p:cNvPr>
          <p:cNvSpPr txBox="1"/>
          <p:nvPr/>
        </p:nvSpPr>
        <p:spPr>
          <a:xfrm>
            <a:off x="1364780" y="293282"/>
            <a:ext cx="4560031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拉曼时域分布式光纤测温系统</a:t>
            </a: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0256520" y="329189"/>
            <a:ext cx="1211081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xmlns="" id="{B0EA110F-2BA5-44F1-BDF2-A8AD51CC83F5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: 圆角 25">
            <a:extLst>
              <a:ext uri="{FF2B5EF4-FFF2-40B4-BE49-F238E27FC236}">
                <a16:creationId xmlns:a16="http://schemas.microsoft.com/office/drawing/2014/main" xmlns="" id="{D7400AB1-4BEC-40E5-A53B-E3CB1F48EB8A}"/>
              </a:ext>
            </a:extLst>
          </p:cNvPr>
          <p:cNvSpPr/>
          <p:nvPr/>
        </p:nvSpPr>
        <p:spPr>
          <a:xfrm>
            <a:off x="336177" y="293282"/>
            <a:ext cx="948448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10.2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20" name="直接连接符 58">
            <a:extLst>
              <a:ext uri="{FF2B5EF4-FFF2-40B4-BE49-F238E27FC236}">
                <a16:creationId xmlns:a16="http://schemas.microsoft.com/office/drawing/2014/main" xmlns="" id="{8C5F82EF-52B4-4531-96F0-44689EA1125E}"/>
              </a:ext>
            </a:extLst>
          </p:cNvPr>
          <p:cNvCxnSpPr>
            <a:cxnSpLocks/>
          </p:cNvCxnSpPr>
          <p:nvPr/>
        </p:nvCxnSpPr>
        <p:spPr>
          <a:xfrm flipV="1">
            <a:off x="1450506" y="695281"/>
            <a:ext cx="2999293" cy="15717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矩形 27">
            <a:extLst>
              <a:ext uri="{FF2B5EF4-FFF2-40B4-BE49-F238E27FC236}">
                <a16:creationId xmlns:a16="http://schemas.microsoft.com/office/drawing/2014/main" xmlns="" id="{82FE0EE3-DD34-4ECD-AB99-E9089285A34C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xmlns="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p:sp>
        <p:nvSpPr>
          <p:cNvPr id="9" name="Rectangle 62"/>
          <p:cNvSpPr txBox="1">
            <a:spLocks noChangeArrowheads="1"/>
          </p:cNvSpPr>
          <p:nvPr/>
        </p:nvSpPr>
        <p:spPr bwMode="auto">
          <a:xfrm>
            <a:off x="659683" y="1184078"/>
            <a:ext cx="11659950" cy="882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2466" tIns="61233" rIns="122466" bIns="61233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10287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宋体" pitchFamily="2" charset="-122"/>
                <a:cs typeface="+mj-cs"/>
              </a:rPr>
              <a:t>火灾探测实验</a:t>
            </a:r>
          </a:p>
        </p:txBody>
      </p:sp>
      <p:sp>
        <p:nvSpPr>
          <p:cNvPr id="10" name="日期占位符 4"/>
          <p:cNvSpPr>
            <a:spLocks noGrp="1"/>
          </p:cNvSpPr>
          <p:nvPr>
            <p:ph type="dt" sz="quarter" idx="10"/>
          </p:nvPr>
        </p:nvSpPr>
        <p:spPr bwMode="auto">
          <a:xfrm>
            <a:off x="1028819" y="7016949"/>
            <a:ext cx="2857831" cy="526851"/>
          </a:xfr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2466" tIns="61233" rIns="122466" bIns="61233" numCol="1" anchor="t" anchorCtr="0" compatLnSpc="1">
            <a:prstTxWarp prst="textNoShape">
              <a:avLst/>
            </a:prstTxWarp>
          </a:bodyPr>
          <a:lstStyle>
            <a:lvl1pPr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995033" indent="-382705"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530820" indent="-306164"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2143148" indent="-306164"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755476" indent="-306164"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3367804" indent="-306164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980132" indent="-306164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4592460" indent="-306164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5204788" indent="-306164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fld id="{D7D8D0A7-AF58-41CD-B645-3F551761AD9A}" type="datetime2">
              <a:rPr lang="zh-CN" altLang="en-US" sz="1900">
                <a:solidFill>
                  <a:srgbClr val="9999FF"/>
                </a:solidFill>
              </a:rPr>
              <a:pPr/>
              <a:t>2022年5月2日</a:t>
            </a:fld>
            <a:endParaRPr lang="en-US" altLang="en-US" sz="1900">
              <a:solidFill>
                <a:srgbClr val="9999FF"/>
              </a:solidFill>
            </a:endParaRPr>
          </a:p>
        </p:txBody>
      </p:sp>
      <p:sp>
        <p:nvSpPr>
          <p:cNvPr id="11" name="灯片编号占位符 6"/>
          <p:cNvSpPr>
            <a:spLocks noGrp="1"/>
          </p:cNvSpPr>
          <p:nvPr>
            <p:ph type="sldNum" sz="quarter" idx="12"/>
          </p:nvPr>
        </p:nvSpPr>
        <p:spPr bwMode="auto">
          <a:xfrm>
            <a:off x="9830938" y="7029450"/>
            <a:ext cx="2857831" cy="514350"/>
          </a:xfr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2466" tIns="61233" rIns="122466" bIns="61233" numCol="1" anchor="t" anchorCtr="0" compatLnSpc="1">
            <a:prstTxWarp prst="textNoShape">
              <a:avLst/>
            </a:prstTxWarp>
          </a:bodyPr>
          <a:lstStyle>
            <a:lvl1pPr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995033" indent="-382705"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530820" indent="-306164"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2143148" indent="-306164"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755476" indent="-306164"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3367804" indent="-306164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980132" indent="-306164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4592460" indent="-306164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5204788" indent="-306164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fld id="{F54B8369-D478-4CE4-B418-093771C41052}" type="slidenum">
              <a:rPr lang="en-US" altLang="en-US" sz="1900"/>
              <a:pPr/>
              <a:t>13</a:t>
            </a:fld>
            <a:endParaRPr lang="en-US" altLang="en-US" sz="1900"/>
          </a:p>
        </p:txBody>
      </p:sp>
      <p:sp>
        <p:nvSpPr>
          <p:cNvPr id="12" name="Text Box 3"/>
          <p:cNvSpPr txBox="1">
            <a:spLocks noChangeArrowheads="1"/>
          </p:cNvSpPr>
          <p:nvPr/>
        </p:nvSpPr>
        <p:spPr bwMode="auto">
          <a:xfrm>
            <a:off x="8632465" y="5466755"/>
            <a:ext cx="2313594" cy="431439"/>
          </a:xfrm>
          <a:prstGeom prst="rect">
            <a:avLst/>
          </a:prstGeom>
          <a:noFill/>
          <a:ln w="15875">
            <a:noFill/>
            <a:miter lim="800000"/>
            <a:headEnd/>
            <a:tailEnd/>
          </a:ln>
          <a:effectLst/>
        </p:spPr>
        <p:txBody>
          <a:bodyPr wrap="none" lIns="122466" tIns="61233" rIns="122466" bIns="61233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kumimoji="1" lang="en-US" altLang="zh-CN" u="sng">
                <a:effectLst>
                  <a:outerShdw blurRad="38100" dist="38100" dir="2700000" algn="tl">
                    <a:srgbClr val="C0C0C0"/>
                  </a:outerShdw>
                </a:effectLst>
                <a:ea typeface="黑体" pitchFamily="2" charset="-122"/>
              </a:rPr>
              <a:t>Fire determination</a:t>
            </a:r>
          </a:p>
        </p:txBody>
      </p:sp>
      <p:sp>
        <p:nvSpPr>
          <p:cNvPr id="13" name="AutoShape 4"/>
          <p:cNvSpPr>
            <a:spLocks noChangeArrowheads="1"/>
          </p:cNvSpPr>
          <p:nvPr/>
        </p:nvSpPr>
        <p:spPr bwMode="auto">
          <a:xfrm>
            <a:off x="7811404" y="2480668"/>
            <a:ext cx="2829253" cy="825103"/>
          </a:xfrm>
          <a:prstGeom prst="wedgeRoundRectCallout">
            <a:avLst>
              <a:gd name="adj1" fmla="val 15657"/>
              <a:gd name="adj2" fmla="val 119912"/>
              <a:gd name="adj3" fmla="val 16667"/>
            </a:avLst>
          </a:prstGeom>
          <a:solidFill>
            <a:srgbClr val="FF000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122466" tIns="61233" rIns="122466" bIns="61233" anchor="ctr"/>
          <a:lstStyle/>
          <a:p>
            <a:pPr algn="ctr">
              <a:lnSpc>
                <a:spcPct val="70000"/>
              </a:lnSpc>
              <a:spcBef>
                <a:spcPct val="50000"/>
              </a:spcBef>
              <a:defRPr/>
            </a:pPr>
            <a:r>
              <a:rPr kumimoji="1" lang="en-US" altLang="zh-CN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黑体" pitchFamily="2" charset="-122"/>
              </a:rPr>
              <a:t>Fire detecting</a:t>
            </a:r>
            <a:r>
              <a:rPr kumimoji="1" lang="en-US" altLang="zh-CN" sz="24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黑体" pitchFamily="2" charset="-122"/>
              </a:rPr>
              <a:t> </a:t>
            </a:r>
          </a:p>
        </p:txBody>
      </p:sp>
      <p:sp>
        <p:nvSpPr>
          <p:cNvPr id="18" name="Text Box 5"/>
          <p:cNvSpPr txBox="1">
            <a:spLocks noChangeArrowheads="1"/>
          </p:cNvSpPr>
          <p:nvPr/>
        </p:nvSpPr>
        <p:spPr bwMode="auto">
          <a:xfrm>
            <a:off x="2734376" y="5891808"/>
            <a:ext cx="2087828" cy="431439"/>
          </a:xfrm>
          <a:prstGeom prst="rect">
            <a:avLst/>
          </a:prstGeom>
          <a:noFill/>
          <a:ln w="15875" algn="ctr">
            <a:noFill/>
            <a:miter lim="800000"/>
            <a:headEnd/>
            <a:tailEnd/>
          </a:ln>
          <a:effectLst/>
        </p:spPr>
        <p:txBody>
          <a:bodyPr wrap="none" lIns="122466" tIns="61233" rIns="122466" bIns="61233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kumimoji="1" lang="en-US" altLang="zh-CN" u="sng">
                <a:effectLst>
                  <a:outerShdw blurRad="38100" dist="38100" dir="2700000" algn="tl">
                    <a:srgbClr val="C0C0C0"/>
                  </a:outerShdw>
                </a:effectLst>
                <a:ea typeface="黑体" pitchFamily="2" charset="-122"/>
              </a:rPr>
              <a:t>Field Fire Acting</a:t>
            </a:r>
          </a:p>
        </p:txBody>
      </p:sp>
      <p:graphicFrame>
        <p:nvGraphicFramePr>
          <p:cNvPr id="19" name="Object 6"/>
          <p:cNvGraphicFramePr>
            <a:graphicFrameLocks noChangeAspect="1"/>
          </p:cNvGraphicFramePr>
          <p:nvPr/>
        </p:nvGraphicFramePr>
        <p:xfrm>
          <a:off x="1667069" y="2782491"/>
          <a:ext cx="4236735" cy="2743200"/>
        </p:xfrm>
        <a:graphic>
          <a:graphicData uri="http://schemas.openxmlformats.org/presentationml/2006/ole">
            <p:oleObj spid="_x0000_s50178" name="花子フォトレタッチ 1.0 /R.1" r:id="rId3" imgW="4885714" imgH="4219048" progId="">
              <p:embed/>
            </p:oleObj>
          </a:graphicData>
        </a:graphic>
      </p:graphicFrame>
      <p:graphicFrame>
        <p:nvGraphicFramePr>
          <p:cNvPr id="21" name="Object 7"/>
          <p:cNvGraphicFramePr>
            <a:graphicFrameLocks noChangeAspect="1"/>
          </p:cNvGraphicFramePr>
          <p:nvPr/>
        </p:nvGraphicFramePr>
        <p:xfrm>
          <a:off x="1471783" y="2705696"/>
          <a:ext cx="4801156" cy="3028950"/>
        </p:xfrm>
        <a:graphic>
          <a:graphicData uri="http://schemas.openxmlformats.org/presentationml/2006/ole">
            <p:oleObj spid="_x0000_s50179" name="花子フォトレタッチ 1.0 /R.1" r:id="rId4" imgW="4923810" imgH="4142857" progId="">
              <p:embed/>
            </p:oleObj>
          </a:graphicData>
        </a:graphic>
      </p:graphicFrame>
      <p:sp>
        <p:nvSpPr>
          <p:cNvPr id="22" name="AutoShape 8"/>
          <p:cNvSpPr>
            <a:spLocks noChangeArrowheads="1"/>
          </p:cNvSpPr>
          <p:nvPr/>
        </p:nvSpPr>
        <p:spPr bwMode="auto">
          <a:xfrm>
            <a:off x="8413932" y="4274017"/>
            <a:ext cx="347875" cy="606684"/>
          </a:xfrm>
          <a:prstGeom prst="flowChartConnector">
            <a:avLst/>
          </a:prstGeom>
          <a:solidFill>
            <a:schemeClr val="tx2"/>
          </a:solidFill>
          <a:ln w="15875">
            <a:solidFill>
              <a:schemeClr val="tx2"/>
            </a:solidFill>
            <a:round/>
            <a:headEnd/>
            <a:tailEnd/>
          </a:ln>
        </p:spPr>
        <p:txBody>
          <a:bodyPr wrap="none" lIns="122466" tIns="61233" rIns="122466" bIns="61233" anchor="ctr">
            <a:spAutoFit/>
          </a:bodyPr>
          <a:lstStyle/>
          <a:p>
            <a:endParaRPr lang="zh-CN" altLang="en-US"/>
          </a:p>
        </p:txBody>
      </p:sp>
      <p:sp>
        <p:nvSpPr>
          <p:cNvPr id="23" name="AutoShape 9"/>
          <p:cNvSpPr>
            <a:spLocks noChangeArrowheads="1"/>
          </p:cNvSpPr>
          <p:nvPr/>
        </p:nvSpPr>
        <p:spPr bwMode="auto">
          <a:xfrm>
            <a:off x="8837843" y="4274017"/>
            <a:ext cx="347875" cy="606684"/>
          </a:xfrm>
          <a:prstGeom prst="flowChartConnector">
            <a:avLst/>
          </a:prstGeom>
          <a:solidFill>
            <a:schemeClr val="tx2"/>
          </a:solidFill>
          <a:ln w="15875">
            <a:solidFill>
              <a:schemeClr val="tx2"/>
            </a:solidFill>
            <a:round/>
            <a:headEnd/>
            <a:tailEnd/>
          </a:ln>
        </p:spPr>
        <p:txBody>
          <a:bodyPr wrap="none" lIns="122466" tIns="61233" rIns="122466" bIns="61233" anchor="ctr">
            <a:spAutoFit/>
          </a:bodyPr>
          <a:lstStyle/>
          <a:p>
            <a:endParaRPr lang="zh-CN" altLang="en-US"/>
          </a:p>
        </p:txBody>
      </p:sp>
      <p:sp>
        <p:nvSpPr>
          <p:cNvPr id="24" name="AutoShape 10"/>
          <p:cNvSpPr>
            <a:spLocks noChangeArrowheads="1"/>
          </p:cNvSpPr>
          <p:nvPr/>
        </p:nvSpPr>
        <p:spPr bwMode="auto">
          <a:xfrm>
            <a:off x="9259372" y="4274017"/>
            <a:ext cx="347875" cy="606684"/>
          </a:xfrm>
          <a:prstGeom prst="flowChartConnector">
            <a:avLst/>
          </a:prstGeom>
          <a:solidFill>
            <a:schemeClr val="tx2"/>
          </a:solidFill>
          <a:ln w="15875">
            <a:solidFill>
              <a:schemeClr val="tx2"/>
            </a:solidFill>
            <a:round/>
            <a:headEnd/>
            <a:tailEnd/>
          </a:ln>
        </p:spPr>
        <p:txBody>
          <a:bodyPr wrap="none" lIns="122466" tIns="61233" rIns="122466" bIns="61233" anchor="ctr">
            <a:spAutoFit/>
          </a:bodyPr>
          <a:lstStyle/>
          <a:p>
            <a:endParaRPr lang="zh-CN" altLang="en-US"/>
          </a:p>
        </p:txBody>
      </p:sp>
      <p:sp>
        <p:nvSpPr>
          <p:cNvPr id="25" name="AutoShape 11"/>
          <p:cNvSpPr>
            <a:spLocks noChangeArrowheads="1"/>
          </p:cNvSpPr>
          <p:nvPr/>
        </p:nvSpPr>
        <p:spPr bwMode="auto">
          <a:xfrm>
            <a:off x="9680903" y="4274017"/>
            <a:ext cx="347875" cy="606684"/>
          </a:xfrm>
          <a:prstGeom prst="flowChartConnector">
            <a:avLst/>
          </a:prstGeom>
          <a:solidFill>
            <a:schemeClr val="tx2"/>
          </a:solidFill>
          <a:ln w="15875">
            <a:solidFill>
              <a:schemeClr val="tx2"/>
            </a:solidFill>
            <a:round/>
            <a:headEnd/>
            <a:tailEnd/>
          </a:ln>
        </p:spPr>
        <p:txBody>
          <a:bodyPr wrap="none" lIns="122466" tIns="61233" rIns="122466" bIns="61233" anchor="ctr">
            <a:spAutoFit/>
          </a:bodyPr>
          <a:lstStyle/>
          <a:p>
            <a:endParaRPr lang="zh-CN" altLang="en-US"/>
          </a:p>
        </p:txBody>
      </p:sp>
      <p:sp>
        <p:nvSpPr>
          <p:cNvPr id="26" name="AutoShape 12"/>
          <p:cNvSpPr>
            <a:spLocks noChangeArrowheads="1"/>
          </p:cNvSpPr>
          <p:nvPr/>
        </p:nvSpPr>
        <p:spPr bwMode="auto">
          <a:xfrm>
            <a:off x="10102432" y="4274017"/>
            <a:ext cx="347875" cy="606684"/>
          </a:xfrm>
          <a:prstGeom prst="flowChartConnector">
            <a:avLst/>
          </a:prstGeom>
          <a:solidFill>
            <a:schemeClr val="tx2"/>
          </a:solidFill>
          <a:ln w="15875">
            <a:solidFill>
              <a:schemeClr val="tx2"/>
            </a:solidFill>
            <a:round/>
            <a:headEnd/>
            <a:tailEnd/>
          </a:ln>
        </p:spPr>
        <p:txBody>
          <a:bodyPr wrap="none" lIns="122466" tIns="61233" rIns="122466" bIns="61233" anchor="ctr">
            <a:spAutoFit/>
          </a:bodyPr>
          <a:lstStyle/>
          <a:p>
            <a:endParaRPr lang="zh-CN" altLang="en-US"/>
          </a:p>
        </p:txBody>
      </p:sp>
      <p:sp>
        <p:nvSpPr>
          <p:cNvPr id="27" name="AutoShape 13"/>
          <p:cNvSpPr>
            <a:spLocks noChangeArrowheads="1"/>
          </p:cNvSpPr>
          <p:nvPr/>
        </p:nvSpPr>
        <p:spPr bwMode="auto">
          <a:xfrm>
            <a:off x="10523963" y="4274017"/>
            <a:ext cx="347875" cy="606684"/>
          </a:xfrm>
          <a:prstGeom prst="flowChartConnector">
            <a:avLst/>
          </a:prstGeom>
          <a:solidFill>
            <a:schemeClr val="tx2"/>
          </a:solidFill>
          <a:ln w="15875">
            <a:solidFill>
              <a:schemeClr val="tx2"/>
            </a:solidFill>
            <a:round/>
            <a:headEnd/>
            <a:tailEnd/>
          </a:ln>
        </p:spPr>
        <p:txBody>
          <a:bodyPr wrap="none" lIns="122466" tIns="61233" rIns="122466" bIns="61233" anchor="ctr">
            <a:spAutoFit/>
          </a:bodyPr>
          <a:lstStyle/>
          <a:p>
            <a:endParaRPr lang="zh-CN" altLang="en-US"/>
          </a:p>
        </p:txBody>
      </p:sp>
      <p:sp>
        <p:nvSpPr>
          <p:cNvPr id="30" name="AutoShape 14"/>
          <p:cNvSpPr>
            <a:spLocks noChangeArrowheads="1"/>
          </p:cNvSpPr>
          <p:nvPr/>
        </p:nvSpPr>
        <p:spPr bwMode="auto">
          <a:xfrm>
            <a:off x="10947874" y="4274017"/>
            <a:ext cx="347875" cy="606684"/>
          </a:xfrm>
          <a:prstGeom prst="flowChartConnector">
            <a:avLst/>
          </a:prstGeom>
          <a:solidFill>
            <a:schemeClr val="tx2"/>
          </a:solidFill>
          <a:ln w="15875">
            <a:solidFill>
              <a:schemeClr val="tx2"/>
            </a:solidFill>
            <a:round/>
            <a:headEnd/>
            <a:tailEnd/>
          </a:ln>
        </p:spPr>
        <p:txBody>
          <a:bodyPr wrap="none" lIns="122466" tIns="61233" rIns="122466" bIns="61233" anchor="ctr">
            <a:spAutoFit/>
          </a:bodyPr>
          <a:lstStyle/>
          <a:p>
            <a:endParaRPr lang="zh-CN" altLang="en-US"/>
          </a:p>
        </p:txBody>
      </p:sp>
      <p:sp>
        <p:nvSpPr>
          <p:cNvPr id="31" name="AutoShape 15"/>
          <p:cNvSpPr>
            <a:spLocks noChangeArrowheads="1"/>
          </p:cNvSpPr>
          <p:nvPr/>
        </p:nvSpPr>
        <p:spPr bwMode="auto">
          <a:xfrm>
            <a:off x="11369404" y="4274017"/>
            <a:ext cx="347875" cy="606684"/>
          </a:xfrm>
          <a:prstGeom prst="flowChartConnector">
            <a:avLst/>
          </a:prstGeom>
          <a:solidFill>
            <a:schemeClr val="tx2"/>
          </a:solidFill>
          <a:ln w="15875">
            <a:solidFill>
              <a:schemeClr val="tx2"/>
            </a:solidFill>
            <a:round/>
            <a:headEnd/>
            <a:tailEnd/>
          </a:ln>
        </p:spPr>
        <p:txBody>
          <a:bodyPr wrap="none" lIns="122466" tIns="61233" rIns="122466" bIns="61233" anchor="ctr">
            <a:spAutoFit/>
          </a:bodyPr>
          <a:lstStyle/>
          <a:p>
            <a:endParaRPr lang="zh-CN" altLang="en-US"/>
          </a:p>
        </p:txBody>
      </p:sp>
      <p:sp>
        <p:nvSpPr>
          <p:cNvPr id="32" name="AutoShape 16"/>
          <p:cNvSpPr>
            <a:spLocks noChangeArrowheads="1"/>
          </p:cNvSpPr>
          <p:nvPr/>
        </p:nvSpPr>
        <p:spPr bwMode="auto">
          <a:xfrm>
            <a:off x="11790935" y="4274017"/>
            <a:ext cx="347875" cy="606684"/>
          </a:xfrm>
          <a:prstGeom prst="flowChartConnector">
            <a:avLst/>
          </a:prstGeom>
          <a:solidFill>
            <a:schemeClr val="tx2"/>
          </a:solidFill>
          <a:ln w="15875">
            <a:solidFill>
              <a:schemeClr val="tx2"/>
            </a:solidFill>
            <a:round/>
            <a:headEnd/>
            <a:tailEnd/>
          </a:ln>
        </p:spPr>
        <p:txBody>
          <a:bodyPr wrap="none" lIns="122466" tIns="61233" rIns="122466" bIns="61233" anchor="ctr">
            <a:spAutoFit/>
          </a:bodyPr>
          <a:lstStyle/>
          <a:p>
            <a:endParaRPr lang="zh-CN" altLang="en-US"/>
          </a:p>
        </p:txBody>
      </p:sp>
      <p:sp>
        <p:nvSpPr>
          <p:cNvPr id="33" name="AutoShape 17"/>
          <p:cNvSpPr>
            <a:spLocks noChangeArrowheads="1"/>
          </p:cNvSpPr>
          <p:nvPr/>
        </p:nvSpPr>
        <p:spPr bwMode="auto">
          <a:xfrm>
            <a:off x="12212464" y="4274017"/>
            <a:ext cx="347875" cy="606684"/>
          </a:xfrm>
          <a:prstGeom prst="flowChartConnector">
            <a:avLst/>
          </a:prstGeom>
          <a:solidFill>
            <a:schemeClr val="tx2"/>
          </a:solidFill>
          <a:ln w="15875">
            <a:solidFill>
              <a:schemeClr val="tx2"/>
            </a:solidFill>
            <a:round/>
            <a:headEnd/>
            <a:tailEnd/>
          </a:ln>
        </p:spPr>
        <p:txBody>
          <a:bodyPr wrap="none" lIns="122466" tIns="61233" rIns="122466" bIns="61233" anchor="ctr">
            <a:spAutoFit/>
          </a:bodyPr>
          <a:lstStyle/>
          <a:p>
            <a:endParaRPr lang="zh-CN" altLang="en-US"/>
          </a:p>
        </p:txBody>
      </p:sp>
      <p:sp>
        <p:nvSpPr>
          <p:cNvPr id="34" name="AutoShape 18"/>
          <p:cNvSpPr>
            <a:spLocks noChangeArrowheads="1"/>
          </p:cNvSpPr>
          <p:nvPr/>
        </p:nvSpPr>
        <p:spPr bwMode="auto">
          <a:xfrm>
            <a:off x="7149340" y="4274017"/>
            <a:ext cx="347875" cy="606684"/>
          </a:xfrm>
          <a:prstGeom prst="flowChartConnector">
            <a:avLst/>
          </a:prstGeom>
          <a:solidFill>
            <a:schemeClr val="tx2"/>
          </a:solidFill>
          <a:ln w="15875">
            <a:solidFill>
              <a:schemeClr val="tx2"/>
            </a:solidFill>
            <a:round/>
            <a:headEnd/>
            <a:tailEnd/>
          </a:ln>
        </p:spPr>
        <p:txBody>
          <a:bodyPr wrap="none" lIns="122466" tIns="61233" rIns="122466" bIns="61233" anchor="ctr">
            <a:spAutoFit/>
          </a:bodyPr>
          <a:lstStyle/>
          <a:p>
            <a:endParaRPr lang="zh-CN" altLang="en-US"/>
          </a:p>
        </p:txBody>
      </p:sp>
      <p:sp>
        <p:nvSpPr>
          <p:cNvPr id="35" name="AutoShape 19"/>
          <p:cNvSpPr>
            <a:spLocks noChangeArrowheads="1"/>
          </p:cNvSpPr>
          <p:nvPr/>
        </p:nvSpPr>
        <p:spPr bwMode="auto">
          <a:xfrm>
            <a:off x="7570871" y="4274017"/>
            <a:ext cx="347875" cy="606684"/>
          </a:xfrm>
          <a:prstGeom prst="flowChartConnector">
            <a:avLst/>
          </a:prstGeom>
          <a:solidFill>
            <a:schemeClr val="tx2"/>
          </a:solidFill>
          <a:ln w="15875">
            <a:solidFill>
              <a:schemeClr val="tx2"/>
            </a:solidFill>
            <a:round/>
            <a:headEnd/>
            <a:tailEnd/>
          </a:ln>
        </p:spPr>
        <p:txBody>
          <a:bodyPr wrap="none" lIns="122466" tIns="61233" rIns="122466" bIns="61233" anchor="ctr">
            <a:spAutoFit/>
          </a:bodyPr>
          <a:lstStyle/>
          <a:p>
            <a:endParaRPr lang="zh-CN" altLang="en-US"/>
          </a:p>
        </p:txBody>
      </p:sp>
      <p:sp>
        <p:nvSpPr>
          <p:cNvPr id="36" name="AutoShape 20"/>
          <p:cNvSpPr>
            <a:spLocks noChangeArrowheads="1"/>
          </p:cNvSpPr>
          <p:nvPr/>
        </p:nvSpPr>
        <p:spPr bwMode="auto">
          <a:xfrm>
            <a:off x="7992400" y="4274017"/>
            <a:ext cx="347875" cy="606684"/>
          </a:xfrm>
          <a:prstGeom prst="flowChartConnector">
            <a:avLst/>
          </a:prstGeom>
          <a:solidFill>
            <a:schemeClr val="tx2"/>
          </a:solidFill>
          <a:ln w="15875">
            <a:solidFill>
              <a:schemeClr val="tx2"/>
            </a:solidFill>
            <a:round/>
            <a:headEnd/>
            <a:tailEnd/>
          </a:ln>
        </p:spPr>
        <p:txBody>
          <a:bodyPr wrap="none" lIns="122466" tIns="61233" rIns="122466" bIns="61233" anchor="ctr">
            <a:spAutoFit/>
          </a:bodyPr>
          <a:lstStyle/>
          <a:p>
            <a:endParaRPr lang="zh-CN" altLang="en-US"/>
          </a:p>
        </p:txBody>
      </p:sp>
      <p:sp>
        <p:nvSpPr>
          <p:cNvPr id="37" name="AutoShape 21"/>
          <p:cNvSpPr>
            <a:spLocks noChangeArrowheads="1"/>
          </p:cNvSpPr>
          <p:nvPr/>
        </p:nvSpPr>
        <p:spPr bwMode="auto">
          <a:xfrm>
            <a:off x="9259372" y="4202579"/>
            <a:ext cx="347875" cy="606684"/>
          </a:xfrm>
          <a:prstGeom prst="flowChartConnector">
            <a:avLst/>
          </a:prstGeom>
          <a:solidFill>
            <a:schemeClr val="tx2"/>
          </a:solidFill>
          <a:ln w="15875">
            <a:solidFill>
              <a:schemeClr val="tx2"/>
            </a:solidFill>
            <a:round/>
            <a:headEnd/>
            <a:tailEnd/>
          </a:ln>
        </p:spPr>
        <p:txBody>
          <a:bodyPr wrap="none" lIns="122466" tIns="61233" rIns="122466" bIns="61233" anchor="ctr">
            <a:spAutoFit/>
          </a:bodyPr>
          <a:lstStyle/>
          <a:p>
            <a:endParaRPr lang="zh-CN" altLang="en-US"/>
          </a:p>
        </p:txBody>
      </p:sp>
      <p:sp>
        <p:nvSpPr>
          <p:cNvPr id="38" name="AutoShape 22"/>
          <p:cNvSpPr>
            <a:spLocks noChangeArrowheads="1"/>
          </p:cNvSpPr>
          <p:nvPr/>
        </p:nvSpPr>
        <p:spPr bwMode="auto">
          <a:xfrm>
            <a:off x="9680903" y="4188292"/>
            <a:ext cx="347875" cy="606684"/>
          </a:xfrm>
          <a:prstGeom prst="flowChartConnector">
            <a:avLst/>
          </a:prstGeom>
          <a:solidFill>
            <a:schemeClr val="tx2"/>
          </a:solidFill>
          <a:ln w="15875">
            <a:solidFill>
              <a:schemeClr val="tx2"/>
            </a:solidFill>
            <a:round/>
            <a:headEnd/>
            <a:tailEnd/>
          </a:ln>
        </p:spPr>
        <p:txBody>
          <a:bodyPr wrap="none" lIns="122466" tIns="61233" rIns="122466" bIns="61233" anchor="ctr">
            <a:spAutoFit/>
          </a:bodyPr>
          <a:lstStyle/>
          <a:p>
            <a:endParaRPr lang="zh-CN" altLang="en-US"/>
          </a:p>
        </p:txBody>
      </p:sp>
      <p:sp>
        <p:nvSpPr>
          <p:cNvPr id="39" name="AutoShape 23"/>
          <p:cNvSpPr>
            <a:spLocks noChangeArrowheads="1"/>
          </p:cNvSpPr>
          <p:nvPr/>
        </p:nvSpPr>
        <p:spPr bwMode="auto">
          <a:xfrm>
            <a:off x="10102432" y="4231154"/>
            <a:ext cx="347875" cy="606684"/>
          </a:xfrm>
          <a:prstGeom prst="flowChartConnector">
            <a:avLst/>
          </a:prstGeom>
          <a:solidFill>
            <a:schemeClr val="tx2"/>
          </a:solidFill>
          <a:ln w="15875">
            <a:solidFill>
              <a:schemeClr val="tx2"/>
            </a:solidFill>
            <a:round/>
            <a:headEnd/>
            <a:tailEnd/>
          </a:ln>
        </p:spPr>
        <p:txBody>
          <a:bodyPr wrap="none" lIns="122466" tIns="61233" rIns="122466" bIns="61233" anchor="ctr">
            <a:spAutoFit/>
          </a:bodyPr>
          <a:lstStyle/>
          <a:p>
            <a:endParaRPr lang="zh-CN" altLang="en-US"/>
          </a:p>
        </p:txBody>
      </p:sp>
      <p:sp>
        <p:nvSpPr>
          <p:cNvPr id="40" name="Line 24"/>
          <p:cNvSpPr>
            <a:spLocks noChangeShapeType="1"/>
          </p:cNvSpPr>
          <p:nvPr/>
        </p:nvSpPr>
        <p:spPr bwMode="auto">
          <a:xfrm>
            <a:off x="7042172" y="4588074"/>
            <a:ext cx="5487035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lIns="122466" tIns="61233" rIns="122466" bIns="61233" anchor="ctr">
            <a:spAutoFit/>
          </a:bodyPr>
          <a:lstStyle/>
          <a:p>
            <a:endParaRPr lang="zh-CN" altLang="en-US"/>
          </a:p>
        </p:txBody>
      </p:sp>
      <p:sp>
        <p:nvSpPr>
          <p:cNvPr id="41" name="Line 25"/>
          <p:cNvSpPr>
            <a:spLocks noChangeShapeType="1"/>
          </p:cNvSpPr>
          <p:nvPr/>
        </p:nvSpPr>
        <p:spPr bwMode="auto">
          <a:xfrm>
            <a:off x="9323674" y="4495205"/>
            <a:ext cx="397714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lIns="122466" tIns="61233" rIns="122466" bIns="61233" anchor="ctr">
            <a:spAutoFit/>
          </a:bodyPr>
          <a:lstStyle/>
          <a:p>
            <a:endParaRPr lang="zh-CN" altLang="en-US"/>
          </a:p>
        </p:txBody>
      </p:sp>
      <p:sp>
        <p:nvSpPr>
          <p:cNvPr id="42" name="Line 26"/>
          <p:cNvSpPr>
            <a:spLocks noChangeShapeType="1"/>
          </p:cNvSpPr>
          <p:nvPr/>
        </p:nvSpPr>
        <p:spPr bwMode="auto">
          <a:xfrm flipV="1">
            <a:off x="8880711" y="4498777"/>
            <a:ext cx="421529" cy="78581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lIns="122466" tIns="61233" rIns="122466" bIns="61233" anchor="ctr">
            <a:spAutoFit/>
          </a:bodyPr>
          <a:lstStyle/>
          <a:p>
            <a:endParaRPr lang="zh-CN" altLang="en-US"/>
          </a:p>
        </p:txBody>
      </p:sp>
      <p:sp>
        <p:nvSpPr>
          <p:cNvPr id="43" name="Line 27"/>
          <p:cNvSpPr>
            <a:spLocks noChangeShapeType="1"/>
          </p:cNvSpPr>
          <p:nvPr/>
        </p:nvSpPr>
        <p:spPr bwMode="auto">
          <a:xfrm>
            <a:off x="9733297" y="4498777"/>
            <a:ext cx="421529" cy="28575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lIns="122466" tIns="61233" rIns="122466" bIns="61233" anchor="ctr">
            <a:spAutoFit/>
          </a:bodyPr>
          <a:lstStyle/>
          <a:p>
            <a:endParaRPr lang="zh-CN" altLang="en-US"/>
          </a:p>
        </p:txBody>
      </p:sp>
      <p:sp>
        <p:nvSpPr>
          <p:cNvPr id="44" name="Line 28"/>
          <p:cNvSpPr>
            <a:spLocks noChangeShapeType="1"/>
          </p:cNvSpPr>
          <p:nvPr/>
        </p:nvSpPr>
        <p:spPr bwMode="auto">
          <a:xfrm>
            <a:off x="10154826" y="4527352"/>
            <a:ext cx="431057" cy="42863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lIns="122466" tIns="61233" rIns="122466" bIns="61233" anchor="ctr">
            <a:spAutoFit/>
          </a:bodyPr>
          <a:lstStyle/>
          <a:p>
            <a:endParaRPr lang="zh-CN" altLang="en-US"/>
          </a:p>
        </p:txBody>
      </p:sp>
      <p:sp>
        <p:nvSpPr>
          <p:cNvPr id="45" name="Line 29"/>
          <p:cNvSpPr>
            <a:spLocks noChangeShapeType="1"/>
          </p:cNvSpPr>
          <p:nvPr/>
        </p:nvSpPr>
        <p:spPr bwMode="auto">
          <a:xfrm>
            <a:off x="8590164" y="4284465"/>
            <a:ext cx="2560139" cy="0"/>
          </a:xfrm>
          <a:prstGeom prst="line">
            <a:avLst/>
          </a:prstGeom>
          <a:noFill/>
          <a:ln w="9525">
            <a:solidFill>
              <a:srgbClr val="0000FF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lIns="122466" tIns="61233" rIns="122466" bIns="61233" anchor="ctr">
            <a:spAutoFit/>
          </a:bodyPr>
          <a:lstStyle/>
          <a:p>
            <a:endParaRPr lang="zh-CN" altLang="en-US"/>
          </a:p>
        </p:txBody>
      </p:sp>
      <p:grpSp>
        <p:nvGrpSpPr>
          <p:cNvPr id="46" name="Group 30"/>
          <p:cNvGrpSpPr>
            <a:grpSpLocks/>
          </p:cNvGrpSpPr>
          <p:nvPr/>
        </p:nvGrpSpPr>
        <p:grpSpPr bwMode="auto">
          <a:xfrm>
            <a:off x="8461562" y="3730823"/>
            <a:ext cx="2524417" cy="1026913"/>
            <a:chOff x="3982" y="1913"/>
            <a:chExt cx="1149" cy="575"/>
          </a:xfrm>
        </p:grpSpPr>
        <p:sp>
          <p:nvSpPr>
            <p:cNvPr id="47" name="Line 31"/>
            <p:cNvSpPr>
              <a:spLocks noChangeShapeType="1"/>
            </p:cNvSpPr>
            <p:nvPr/>
          </p:nvSpPr>
          <p:spPr bwMode="auto">
            <a:xfrm>
              <a:off x="4749" y="2099"/>
              <a:ext cx="196" cy="156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48" name="Group 32"/>
            <p:cNvGrpSpPr>
              <a:grpSpLocks/>
            </p:cNvGrpSpPr>
            <p:nvPr/>
          </p:nvGrpSpPr>
          <p:grpSpPr bwMode="auto">
            <a:xfrm>
              <a:off x="3982" y="1913"/>
              <a:ext cx="1149" cy="575"/>
              <a:chOff x="3982" y="1913"/>
              <a:chExt cx="1149" cy="575"/>
            </a:xfrm>
          </p:grpSpPr>
          <p:sp>
            <p:nvSpPr>
              <p:cNvPr id="49" name="Line 33"/>
              <p:cNvSpPr>
                <a:spLocks noChangeShapeType="1"/>
              </p:cNvSpPr>
              <p:nvPr/>
            </p:nvSpPr>
            <p:spPr bwMode="auto">
              <a:xfrm flipV="1">
                <a:off x="4174" y="2099"/>
                <a:ext cx="198" cy="129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0" name="Line 34"/>
              <p:cNvSpPr>
                <a:spLocks noChangeShapeType="1"/>
              </p:cNvSpPr>
              <p:nvPr/>
            </p:nvSpPr>
            <p:spPr bwMode="auto">
              <a:xfrm flipV="1">
                <a:off x="4375" y="2147"/>
                <a:ext cx="186" cy="42"/>
              </a:xfrm>
              <a:prstGeom prst="line">
                <a:avLst/>
              </a:prstGeom>
              <a:noFill/>
              <a:ln w="158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1" name="Line 35"/>
              <p:cNvSpPr>
                <a:spLocks noChangeShapeType="1"/>
              </p:cNvSpPr>
              <p:nvPr/>
            </p:nvSpPr>
            <p:spPr bwMode="auto">
              <a:xfrm>
                <a:off x="4561" y="2147"/>
                <a:ext cx="186" cy="48"/>
              </a:xfrm>
              <a:prstGeom prst="line">
                <a:avLst/>
              </a:prstGeom>
              <a:noFill/>
              <a:ln w="158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grpSp>
            <p:nvGrpSpPr>
              <p:cNvPr id="52" name="Group 36"/>
              <p:cNvGrpSpPr>
                <a:grpSpLocks/>
              </p:cNvGrpSpPr>
              <p:nvPr/>
            </p:nvGrpSpPr>
            <p:grpSpPr bwMode="auto">
              <a:xfrm>
                <a:off x="3982" y="1913"/>
                <a:ext cx="1149" cy="575"/>
                <a:chOff x="3982" y="1913"/>
                <a:chExt cx="1149" cy="575"/>
              </a:xfrm>
            </p:grpSpPr>
            <p:sp>
              <p:nvSpPr>
                <p:cNvPr id="53" name="Line 37"/>
                <p:cNvSpPr>
                  <a:spLocks noChangeShapeType="1"/>
                </p:cNvSpPr>
                <p:nvPr/>
              </p:nvSpPr>
              <p:spPr bwMode="auto">
                <a:xfrm flipH="1">
                  <a:off x="4174" y="2198"/>
                  <a:ext cx="195" cy="132"/>
                </a:xfrm>
                <a:prstGeom prst="line">
                  <a:avLst/>
                </a:prstGeom>
                <a:noFill/>
                <a:ln w="158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4" name="Line 38"/>
                <p:cNvSpPr>
                  <a:spLocks noChangeShapeType="1"/>
                </p:cNvSpPr>
                <p:nvPr/>
              </p:nvSpPr>
              <p:spPr bwMode="auto">
                <a:xfrm>
                  <a:off x="4753" y="2183"/>
                  <a:ext cx="192" cy="204"/>
                </a:xfrm>
                <a:prstGeom prst="line">
                  <a:avLst/>
                </a:prstGeom>
                <a:noFill/>
                <a:ln w="158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5" name="AutoShape 39"/>
                <p:cNvSpPr>
                  <a:spLocks noChangeArrowheads="1"/>
                </p:cNvSpPr>
                <p:nvPr/>
              </p:nvSpPr>
              <p:spPr bwMode="auto">
                <a:xfrm>
                  <a:off x="4153" y="2173"/>
                  <a:ext cx="118" cy="315"/>
                </a:xfrm>
                <a:prstGeom prst="flowChartConnector">
                  <a:avLst/>
                </a:prstGeom>
                <a:solidFill>
                  <a:schemeClr val="tx2"/>
                </a:solidFill>
                <a:ln w="1587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6" name="AutoShape 40"/>
                <p:cNvSpPr>
                  <a:spLocks noChangeArrowheads="1"/>
                </p:cNvSpPr>
                <p:nvPr/>
              </p:nvSpPr>
              <p:spPr bwMode="auto">
                <a:xfrm>
                  <a:off x="4345" y="2037"/>
                  <a:ext cx="118" cy="315"/>
                </a:xfrm>
                <a:prstGeom prst="flowChartConnector">
                  <a:avLst/>
                </a:prstGeom>
                <a:solidFill>
                  <a:srgbClr val="FF0000"/>
                </a:solidFill>
                <a:ln w="1587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7" name="AutoShape 41"/>
                <p:cNvSpPr>
                  <a:spLocks noChangeArrowheads="1"/>
                </p:cNvSpPr>
                <p:nvPr/>
              </p:nvSpPr>
              <p:spPr bwMode="auto">
                <a:xfrm>
                  <a:off x="4729" y="2037"/>
                  <a:ext cx="118" cy="315"/>
                </a:xfrm>
                <a:prstGeom prst="flowChartConnector">
                  <a:avLst/>
                </a:prstGeom>
                <a:solidFill>
                  <a:srgbClr val="FF0000"/>
                </a:solidFill>
                <a:ln w="1587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8" name="AutoShape 42"/>
                <p:cNvSpPr>
                  <a:spLocks noChangeArrowheads="1"/>
                </p:cNvSpPr>
                <p:nvPr/>
              </p:nvSpPr>
              <p:spPr bwMode="auto">
                <a:xfrm>
                  <a:off x="4153" y="2071"/>
                  <a:ext cx="118" cy="315"/>
                </a:xfrm>
                <a:prstGeom prst="flowChartConnector">
                  <a:avLst/>
                </a:prstGeom>
                <a:solidFill>
                  <a:schemeClr val="tx2"/>
                </a:solidFill>
                <a:ln w="1587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9" name="AutoShape 43"/>
                <p:cNvSpPr>
                  <a:spLocks noChangeArrowheads="1"/>
                </p:cNvSpPr>
                <p:nvPr/>
              </p:nvSpPr>
              <p:spPr bwMode="auto">
                <a:xfrm>
                  <a:off x="4925" y="2101"/>
                  <a:ext cx="118" cy="315"/>
                </a:xfrm>
                <a:prstGeom prst="flowChartConnector">
                  <a:avLst/>
                </a:prstGeom>
                <a:solidFill>
                  <a:schemeClr val="tx2"/>
                </a:solidFill>
                <a:ln w="1587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0" name="Line 44"/>
                <p:cNvSpPr>
                  <a:spLocks noChangeShapeType="1"/>
                </p:cNvSpPr>
                <p:nvPr/>
              </p:nvSpPr>
              <p:spPr bwMode="auto">
                <a:xfrm>
                  <a:off x="4951" y="2273"/>
                  <a:ext cx="180" cy="102"/>
                </a:xfrm>
                <a:prstGeom prst="line">
                  <a:avLst/>
                </a:prstGeom>
                <a:noFill/>
                <a:ln w="158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zh-CN" altLang="en-US"/>
                </a:p>
              </p:txBody>
            </p:sp>
            <p:grpSp>
              <p:nvGrpSpPr>
                <p:cNvPr id="61" name="Group 45"/>
                <p:cNvGrpSpPr>
                  <a:grpSpLocks/>
                </p:cNvGrpSpPr>
                <p:nvPr/>
              </p:nvGrpSpPr>
              <p:grpSpPr bwMode="auto">
                <a:xfrm>
                  <a:off x="4345" y="1913"/>
                  <a:ext cx="502" cy="343"/>
                  <a:chOff x="4345" y="1913"/>
                  <a:chExt cx="502" cy="343"/>
                </a:xfrm>
              </p:grpSpPr>
              <p:sp>
                <p:nvSpPr>
                  <p:cNvPr id="65" name="AutoShape 46"/>
                  <p:cNvSpPr>
                    <a:spLocks noChangeArrowheads="1"/>
                  </p:cNvSpPr>
                  <p:nvPr/>
                </p:nvSpPr>
                <p:spPr bwMode="auto">
                  <a:xfrm>
                    <a:off x="4345" y="1941"/>
                    <a:ext cx="118" cy="315"/>
                  </a:xfrm>
                  <a:prstGeom prst="flowChartConnector">
                    <a:avLst/>
                  </a:prstGeom>
                  <a:solidFill>
                    <a:srgbClr val="FF0000"/>
                  </a:solidFill>
                  <a:ln w="1587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 wrap="none" anchor="ctr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66" name="AutoShape 47"/>
                  <p:cNvSpPr>
                    <a:spLocks noChangeArrowheads="1"/>
                  </p:cNvSpPr>
                  <p:nvPr/>
                </p:nvSpPr>
                <p:spPr bwMode="auto">
                  <a:xfrm>
                    <a:off x="4537" y="1913"/>
                    <a:ext cx="118" cy="315"/>
                  </a:xfrm>
                  <a:prstGeom prst="flowChartConnector">
                    <a:avLst/>
                  </a:prstGeom>
                  <a:solidFill>
                    <a:srgbClr val="FF0000"/>
                  </a:solidFill>
                  <a:ln w="1587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 wrap="none" anchor="ctr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67" name="AutoShape 48"/>
                  <p:cNvSpPr>
                    <a:spLocks noChangeArrowheads="1"/>
                  </p:cNvSpPr>
                  <p:nvPr/>
                </p:nvSpPr>
                <p:spPr bwMode="auto">
                  <a:xfrm>
                    <a:off x="4729" y="1941"/>
                    <a:ext cx="118" cy="315"/>
                  </a:xfrm>
                  <a:prstGeom prst="flowChartConnector">
                    <a:avLst/>
                  </a:prstGeom>
                  <a:solidFill>
                    <a:srgbClr val="FF0000"/>
                  </a:solidFill>
                  <a:ln w="1587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 wrap="none" anchor="ctr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68" name="Line 49"/>
                  <p:cNvSpPr>
                    <a:spLocks noChangeShapeType="1"/>
                  </p:cNvSpPr>
                  <p:nvPr/>
                </p:nvSpPr>
                <p:spPr bwMode="auto">
                  <a:xfrm>
                    <a:off x="4561" y="2073"/>
                    <a:ext cx="186" cy="36"/>
                  </a:xfrm>
                  <a:prstGeom prst="line">
                    <a:avLst/>
                  </a:prstGeom>
                  <a:noFill/>
                  <a:ln w="15875">
                    <a:solidFill>
                      <a:srgbClr val="FF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</a:extLst>
                </p:spPr>
                <p:txBody>
                  <a:bodyPr anchor="ctr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69" name="Line 50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373" y="2071"/>
                    <a:ext cx="180" cy="24"/>
                  </a:xfrm>
                  <a:prstGeom prst="line">
                    <a:avLst/>
                  </a:prstGeom>
                  <a:noFill/>
                  <a:ln w="15875">
                    <a:solidFill>
                      <a:srgbClr val="FF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</a:extLst>
                </p:spPr>
                <p:txBody>
                  <a:bodyPr anchor="ctr">
                    <a:spAutoFit/>
                  </a:bodyPr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62" name="AutoShape 51"/>
                <p:cNvSpPr>
                  <a:spLocks noChangeArrowheads="1"/>
                </p:cNvSpPr>
                <p:nvPr/>
              </p:nvSpPr>
              <p:spPr bwMode="auto">
                <a:xfrm>
                  <a:off x="4537" y="1989"/>
                  <a:ext cx="118" cy="315"/>
                </a:xfrm>
                <a:prstGeom prst="flowChartConnector">
                  <a:avLst/>
                </a:prstGeom>
                <a:solidFill>
                  <a:srgbClr val="FF0000"/>
                </a:solidFill>
                <a:ln w="1587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3" name="Line 52"/>
                <p:cNvSpPr>
                  <a:spLocks noChangeShapeType="1"/>
                </p:cNvSpPr>
                <p:nvPr/>
              </p:nvSpPr>
              <p:spPr bwMode="auto">
                <a:xfrm flipV="1">
                  <a:off x="3982" y="2330"/>
                  <a:ext cx="198" cy="63"/>
                </a:xfrm>
                <a:prstGeom prst="line">
                  <a:avLst/>
                </a:prstGeom>
                <a:noFill/>
                <a:ln w="158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4" name="Line 53"/>
                <p:cNvSpPr>
                  <a:spLocks noChangeShapeType="1"/>
                </p:cNvSpPr>
                <p:nvPr/>
              </p:nvSpPr>
              <p:spPr bwMode="auto">
                <a:xfrm flipH="1">
                  <a:off x="3988" y="2225"/>
                  <a:ext cx="195" cy="165"/>
                </a:xfrm>
                <a:prstGeom prst="line">
                  <a:avLst/>
                </a:prstGeom>
                <a:noFill/>
                <a:ln w="158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70" name="Line 54"/>
          <p:cNvSpPr>
            <a:spLocks noChangeShapeType="1"/>
          </p:cNvSpPr>
          <p:nvPr/>
        </p:nvSpPr>
        <p:spPr bwMode="auto">
          <a:xfrm flipV="1">
            <a:off x="6658746" y="4486275"/>
            <a:ext cx="0" cy="766168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lIns="122466" tIns="61233" rIns="122466" bIns="61233" anchor="ctr">
            <a:spAutoFit/>
          </a:bodyPr>
          <a:lstStyle/>
          <a:p>
            <a:endParaRPr lang="zh-CN" altLang="en-US"/>
          </a:p>
        </p:txBody>
      </p:sp>
      <p:sp>
        <p:nvSpPr>
          <p:cNvPr id="71" name="Line 55"/>
          <p:cNvSpPr>
            <a:spLocks noChangeShapeType="1"/>
          </p:cNvSpPr>
          <p:nvPr/>
        </p:nvSpPr>
        <p:spPr bwMode="auto">
          <a:xfrm>
            <a:off x="6658746" y="5252443"/>
            <a:ext cx="1150278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lIns="122466" tIns="61233" rIns="122466" bIns="61233" anchor="ctr">
            <a:spAutoFit/>
          </a:bodyPr>
          <a:lstStyle/>
          <a:p>
            <a:endParaRPr lang="zh-CN" altLang="en-US"/>
          </a:p>
        </p:txBody>
      </p:sp>
      <p:sp>
        <p:nvSpPr>
          <p:cNvPr id="72" name="Text Box 56"/>
          <p:cNvSpPr txBox="1">
            <a:spLocks noChangeArrowheads="1"/>
          </p:cNvSpPr>
          <p:nvPr/>
        </p:nvSpPr>
        <p:spPr bwMode="auto">
          <a:xfrm>
            <a:off x="7700459" y="5082778"/>
            <a:ext cx="1157830" cy="41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22466" tIns="61233" rIns="122466" bIns="61233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zh-CN" sz="1900">
                <a:ea typeface="黑体" pitchFamily="49" charset="-122"/>
              </a:rPr>
              <a:t>Distance </a:t>
            </a:r>
          </a:p>
        </p:txBody>
      </p:sp>
      <p:sp>
        <p:nvSpPr>
          <p:cNvPr id="73" name="Text Box 57"/>
          <p:cNvSpPr txBox="1">
            <a:spLocks noChangeArrowheads="1"/>
          </p:cNvSpPr>
          <p:nvPr/>
        </p:nvSpPr>
        <p:spPr bwMode="auto">
          <a:xfrm>
            <a:off x="6252017" y="4148733"/>
            <a:ext cx="858709" cy="41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22466" tIns="61233" rIns="122466" bIns="61233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zh-CN" sz="1900">
                <a:ea typeface="黑体" pitchFamily="49" charset="-122"/>
              </a:rPr>
              <a:t>Temp </a:t>
            </a:r>
            <a:endParaRPr kumimoji="1" lang="en-US" altLang="ja-JP" sz="1900">
              <a:ea typeface="黑体" pitchFamily="49" charset="-122"/>
            </a:endParaRPr>
          </a:p>
        </p:txBody>
      </p:sp>
      <p:sp>
        <p:nvSpPr>
          <p:cNvPr id="74" name="Text Box 58"/>
          <p:cNvSpPr txBox="1">
            <a:spLocks noChangeArrowheads="1"/>
          </p:cNvSpPr>
          <p:nvPr/>
        </p:nvSpPr>
        <p:spPr bwMode="auto">
          <a:xfrm>
            <a:off x="10564113" y="3695105"/>
            <a:ext cx="2098793" cy="4929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22466" tIns="61233" rIns="122466" bIns="61233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zh-CN">
                <a:solidFill>
                  <a:srgbClr val="FF5050"/>
                </a:solidFill>
                <a:ea typeface="黑体" pitchFamily="49" charset="-122"/>
              </a:rPr>
              <a:t>Alarming level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60">
            <a:extLst>
              <a:ext uri="{FF2B5EF4-FFF2-40B4-BE49-F238E27FC236}">
                <a16:creationId xmlns:a16="http://schemas.microsoft.com/office/drawing/2014/main" xmlns="" id="{791D85D7-F412-9C48-9F2B-E33F5B7B4F3C}"/>
              </a:ext>
            </a:extLst>
          </p:cNvPr>
          <p:cNvSpPr txBox="1"/>
          <p:nvPr/>
        </p:nvSpPr>
        <p:spPr>
          <a:xfrm>
            <a:off x="1364780" y="293282"/>
            <a:ext cx="4560031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拉曼时域分布式光纤测温系统</a:t>
            </a: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0256520" y="329189"/>
            <a:ext cx="1211081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xmlns="" id="{B0EA110F-2BA5-44F1-BDF2-A8AD51CC83F5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: 圆角 25">
            <a:extLst>
              <a:ext uri="{FF2B5EF4-FFF2-40B4-BE49-F238E27FC236}">
                <a16:creationId xmlns:a16="http://schemas.microsoft.com/office/drawing/2014/main" xmlns="" id="{D7400AB1-4BEC-40E5-A53B-E3CB1F48EB8A}"/>
              </a:ext>
            </a:extLst>
          </p:cNvPr>
          <p:cNvSpPr/>
          <p:nvPr/>
        </p:nvSpPr>
        <p:spPr>
          <a:xfrm>
            <a:off x="336177" y="293282"/>
            <a:ext cx="948448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10.2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20" name="直接连接符 58">
            <a:extLst>
              <a:ext uri="{FF2B5EF4-FFF2-40B4-BE49-F238E27FC236}">
                <a16:creationId xmlns:a16="http://schemas.microsoft.com/office/drawing/2014/main" xmlns="" id="{8C5F82EF-52B4-4531-96F0-44689EA1125E}"/>
              </a:ext>
            </a:extLst>
          </p:cNvPr>
          <p:cNvCxnSpPr>
            <a:cxnSpLocks/>
          </p:cNvCxnSpPr>
          <p:nvPr/>
        </p:nvCxnSpPr>
        <p:spPr>
          <a:xfrm flipV="1">
            <a:off x="1450506" y="695281"/>
            <a:ext cx="2999293" cy="15717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矩形 27">
            <a:extLst>
              <a:ext uri="{FF2B5EF4-FFF2-40B4-BE49-F238E27FC236}">
                <a16:creationId xmlns:a16="http://schemas.microsoft.com/office/drawing/2014/main" xmlns="" id="{82FE0EE3-DD34-4ECD-AB99-E9089285A34C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xmlns="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p:grpSp>
        <p:nvGrpSpPr>
          <p:cNvPr id="9" name="Group 18"/>
          <p:cNvGrpSpPr>
            <a:grpSpLocks/>
          </p:cNvGrpSpPr>
          <p:nvPr/>
        </p:nvGrpSpPr>
        <p:grpSpPr bwMode="auto">
          <a:xfrm>
            <a:off x="1415618" y="1174868"/>
            <a:ext cx="10978256" cy="6022182"/>
            <a:chOff x="385" y="676"/>
            <a:chExt cx="5080" cy="3372"/>
          </a:xfrm>
        </p:grpSpPr>
        <p:pic>
          <p:nvPicPr>
            <p:cNvPr id="10" name="Picture 5" descr="DTS_application"/>
            <p:cNvPicPr>
              <a:picLocks noChangeAspect="1" noChangeArrowheads="1"/>
            </p:cNvPicPr>
            <p:nvPr/>
          </p:nvPicPr>
          <p:blipFill>
            <a:blip r:embed="rId2">
              <a:lum bright="12000" contrast="12000"/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5" y="935"/>
              <a:ext cx="5071" cy="3060"/>
            </a:xfrm>
            <a:prstGeom prst="rect">
              <a:avLst/>
            </a:prstGeom>
            <a:noFill/>
            <a:ln>
              <a:noFill/>
            </a:ln>
            <a:effectLst>
              <a:outerShdw dist="35921" dir="2700000" algn="ctr" rotWithShape="0">
                <a:srgbClr val="4D4D4D"/>
              </a:outerShdw>
            </a:effectLst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" name="Text Box 6"/>
            <p:cNvSpPr txBox="1">
              <a:spLocks noChangeArrowheads="1"/>
            </p:cNvSpPr>
            <p:nvPr/>
          </p:nvSpPr>
          <p:spPr bwMode="auto">
            <a:xfrm>
              <a:off x="569" y="707"/>
              <a:ext cx="594" cy="259"/>
            </a:xfrm>
            <a:prstGeom prst="rect">
              <a:avLst/>
            </a:prstGeom>
            <a:solidFill>
              <a:srgbClr val="66FFFF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kumimoji="1" lang="zh-CN" altLang="en-US" sz="2400" dirty="0">
                  <a:solidFill>
                    <a:srgbClr val="000000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ea typeface="黑体" pitchFamily="2" charset="-122"/>
                </a:rPr>
                <a:t>电力系统</a:t>
              </a:r>
            </a:p>
          </p:txBody>
        </p:sp>
        <p:sp>
          <p:nvSpPr>
            <p:cNvPr id="12" name="Text Box 10"/>
            <p:cNvSpPr txBox="1">
              <a:spLocks noChangeArrowheads="1"/>
            </p:cNvSpPr>
            <p:nvPr/>
          </p:nvSpPr>
          <p:spPr bwMode="auto">
            <a:xfrm>
              <a:off x="445" y="3774"/>
              <a:ext cx="757" cy="259"/>
            </a:xfrm>
            <a:prstGeom prst="rect">
              <a:avLst/>
            </a:prstGeom>
            <a:solidFill>
              <a:srgbClr val="66FFFF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kumimoji="1" lang="zh-CN" altLang="en-US" sz="2400">
                  <a:solidFill>
                    <a:srgbClr val="000000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ea typeface="黑体" pitchFamily="2" charset="-122"/>
                </a:rPr>
                <a:t>海洋开发</a:t>
              </a:r>
              <a:endParaRPr kumimoji="1" lang="zh-CN" altLang="en-US" sz="2400">
                <a:effectLst>
                  <a:outerShdw blurRad="38100" dist="38100" dir="2700000" algn="tl">
                    <a:srgbClr val="FFFFFF"/>
                  </a:outerShdw>
                </a:effectLst>
                <a:ea typeface="黑体" pitchFamily="2" charset="-122"/>
              </a:endParaRPr>
            </a:p>
          </p:txBody>
        </p:sp>
        <p:sp>
          <p:nvSpPr>
            <p:cNvPr id="13" name="Text Box 11"/>
            <p:cNvSpPr txBox="1">
              <a:spLocks noChangeArrowheads="1"/>
            </p:cNvSpPr>
            <p:nvPr/>
          </p:nvSpPr>
          <p:spPr bwMode="auto">
            <a:xfrm>
              <a:off x="4785" y="676"/>
              <a:ext cx="594" cy="259"/>
            </a:xfrm>
            <a:prstGeom prst="rect">
              <a:avLst/>
            </a:prstGeom>
            <a:solidFill>
              <a:srgbClr val="66FFFF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kumimoji="1" lang="zh-CN" altLang="en-US" sz="2400" dirty="0">
                  <a:solidFill>
                    <a:srgbClr val="000000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ea typeface="黑体" pitchFamily="2" charset="-122"/>
                </a:rPr>
                <a:t>建筑工程</a:t>
              </a:r>
            </a:p>
          </p:txBody>
        </p:sp>
        <p:sp>
          <p:nvSpPr>
            <p:cNvPr id="18" name="Text Box 12"/>
            <p:cNvSpPr txBox="1">
              <a:spLocks noChangeArrowheads="1"/>
            </p:cNvSpPr>
            <p:nvPr/>
          </p:nvSpPr>
          <p:spPr bwMode="auto">
            <a:xfrm>
              <a:off x="4871" y="3789"/>
              <a:ext cx="594" cy="259"/>
            </a:xfrm>
            <a:prstGeom prst="rect">
              <a:avLst/>
            </a:prstGeom>
            <a:solidFill>
              <a:srgbClr val="66FFFF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r" eaLnBrk="1" hangingPunct="1">
                <a:defRPr/>
              </a:pPr>
              <a:r>
                <a:rPr kumimoji="1" lang="zh-CN" altLang="en-US" sz="2400">
                  <a:solidFill>
                    <a:srgbClr val="000000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ea typeface="黑体" pitchFamily="2" charset="-122"/>
                </a:rPr>
                <a:t>化学工程</a:t>
              </a:r>
            </a:p>
          </p:txBody>
        </p:sp>
        <p:sp>
          <p:nvSpPr>
            <p:cNvPr id="19" name="Rectangle 17"/>
            <p:cNvSpPr>
              <a:spLocks noChangeArrowheads="1"/>
            </p:cNvSpPr>
            <p:nvPr/>
          </p:nvSpPr>
          <p:spPr bwMode="auto">
            <a:xfrm>
              <a:off x="1791" y="981"/>
              <a:ext cx="1860" cy="27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1" name="标题 1"/>
          <p:cNvSpPr txBox="1">
            <a:spLocks/>
          </p:cNvSpPr>
          <p:nvPr/>
        </p:nvSpPr>
        <p:spPr>
          <a:xfrm>
            <a:off x="4559474" y="941301"/>
            <a:ext cx="4258849" cy="73455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10287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000" b="0" i="0" u="sng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已有应用领域</a:t>
            </a:r>
            <a:endParaRPr kumimoji="0" lang="zh-CN" altLang="en-US" sz="5000" b="0" i="0" u="sng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60">
            <a:extLst>
              <a:ext uri="{FF2B5EF4-FFF2-40B4-BE49-F238E27FC236}">
                <a16:creationId xmlns:a16="http://schemas.microsoft.com/office/drawing/2014/main" xmlns="" id="{791D85D7-F412-9C48-9F2B-E33F5B7B4F3C}"/>
              </a:ext>
            </a:extLst>
          </p:cNvPr>
          <p:cNvSpPr txBox="1"/>
          <p:nvPr/>
        </p:nvSpPr>
        <p:spPr>
          <a:xfrm>
            <a:off x="1364780" y="293282"/>
            <a:ext cx="4560031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拉曼时域分布式光纤测温系统</a:t>
            </a: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0256520" y="329189"/>
            <a:ext cx="1211081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xmlns="" id="{B0EA110F-2BA5-44F1-BDF2-A8AD51CC83F5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: 圆角 25">
            <a:extLst>
              <a:ext uri="{FF2B5EF4-FFF2-40B4-BE49-F238E27FC236}">
                <a16:creationId xmlns:a16="http://schemas.microsoft.com/office/drawing/2014/main" xmlns="" id="{D7400AB1-4BEC-40E5-A53B-E3CB1F48EB8A}"/>
              </a:ext>
            </a:extLst>
          </p:cNvPr>
          <p:cNvSpPr/>
          <p:nvPr/>
        </p:nvSpPr>
        <p:spPr>
          <a:xfrm>
            <a:off x="336177" y="293282"/>
            <a:ext cx="948448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10.2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20" name="直接连接符 58">
            <a:extLst>
              <a:ext uri="{FF2B5EF4-FFF2-40B4-BE49-F238E27FC236}">
                <a16:creationId xmlns:a16="http://schemas.microsoft.com/office/drawing/2014/main" xmlns="" id="{8C5F82EF-52B4-4531-96F0-44689EA1125E}"/>
              </a:ext>
            </a:extLst>
          </p:cNvPr>
          <p:cNvCxnSpPr>
            <a:cxnSpLocks/>
          </p:cNvCxnSpPr>
          <p:nvPr/>
        </p:nvCxnSpPr>
        <p:spPr>
          <a:xfrm flipV="1">
            <a:off x="1450506" y="695281"/>
            <a:ext cx="2999293" cy="15717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矩形 27">
            <a:extLst>
              <a:ext uri="{FF2B5EF4-FFF2-40B4-BE49-F238E27FC236}">
                <a16:creationId xmlns:a16="http://schemas.microsoft.com/office/drawing/2014/main" xmlns="" id="{82FE0EE3-DD34-4ECD-AB99-E9089285A34C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xmlns="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p:sp>
        <p:nvSpPr>
          <p:cNvPr id="9" name="Rectangle 7"/>
          <p:cNvSpPr txBox="1">
            <a:spLocks noChangeArrowheads="1"/>
          </p:cNvSpPr>
          <p:nvPr/>
        </p:nvSpPr>
        <p:spPr>
          <a:xfrm>
            <a:off x="3108960" y="1208313"/>
            <a:ext cx="8294913" cy="590007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10287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j-cs"/>
              </a:rPr>
              <a:t>光纤</a:t>
            </a:r>
            <a:r>
              <a:rPr kumimoji="0" lang="en-US" altLang="zh-CN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j-cs"/>
              </a:rPr>
              <a:t>ROTDR</a:t>
            </a:r>
            <a:r>
              <a:rPr kumimoji="0" lang="zh-CN" altLang="en-US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j-cs"/>
              </a:rPr>
              <a:t>分布式传感的优点</a:t>
            </a:r>
          </a:p>
        </p:txBody>
      </p:sp>
      <p:sp>
        <p:nvSpPr>
          <p:cNvPr id="10" name="Rectangle 8"/>
          <p:cNvSpPr txBox="1">
            <a:spLocks noChangeArrowheads="1"/>
          </p:cNvSpPr>
          <p:nvPr/>
        </p:nvSpPr>
        <p:spPr>
          <a:xfrm>
            <a:off x="942975" y="2054225"/>
            <a:ext cx="11831638" cy="4894263"/>
          </a:xfrm>
          <a:prstGeom prst="rect">
            <a:avLst/>
          </a:prstGeom>
        </p:spPr>
        <p:txBody>
          <a:bodyPr/>
          <a:lstStyle/>
          <a:p>
            <a:pPr marL="257175" marR="0" lvl="0" indent="-257175" algn="l" defTabSz="1028700" rtl="0" eaLnBrk="0" fontAlgn="base" latinLnBrk="0" hangingPunct="0">
              <a:lnSpc>
                <a:spcPct val="90000"/>
              </a:lnSpc>
              <a:spcBef>
                <a:spcPts val="1125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itchFamily="2" charset="-122"/>
                <a:cs typeface="+mn-cs"/>
              </a:rPr>
              <a:t>沿光纤布设区域的温度监测</a:t>
            </a:r>
          </a:p>
          <a:p>
            <a:pPr marL="771525" marR="0" lvl="1" indent="-257175" algn="l" defTabSz="1028700" rtl="0" eaLnBrk="0" fontAlgn="base" latinLnBrk="0" hangingPunct="0">
              <a:lnSpc>
                <a:spcPct val="90000"/>
              </a:lnSpc>
              <a:spcBef>
                <a:spcPts val="563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lt"/>
                <a:ea typeface="宋体" pitchFamily="2" charset="-122"/>
                <a:cs typeface="+mn-cs"/>
              </a:rPr>
              <a:t>连续</a:t>
            </a:r>
            <a:r>
              <a:rPr kumimoji="0" lang="en-US" altLang="zh-CN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lt"/>
                <a:ea typeface="宋体" pitchFamily="2" charset="-122"/>
                <a:cs typeface="+mn-cs"/>
              </a:rPr>
              <a:t>, </a:t>
            </a:r>
            <a:r>
              <a:rPr kumimoji="0" lang="zh-CN" alt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lt"/>
                <a:ea typeface="宋体" pitchFamily="2" charset="-122"/>
                <a:cs typeface="+mn-cs"/>
              </a:rPr>
              <a:t>长距离</a:t>
            </a:r>
            <a:r>
              <a:rPr kumimoji="0" lang="zh-CN" alt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itchFamily="2" charset="-122"/>
                <a:cs typeface="+mn-cs"/>
              </a:rPr>
              <a:t> 温度场分布</a:t>
            </a:r>
          </a:p>
          <a:p>
            <a:pPr marL="257175" marR="0" lvl="0" indent="-257175" algn="l" defTabSz="1028700" rtl="0" eaLnBrk="0" fontAlgn="base" latinLnBrk="0" hangingPunct="0">
              <a:lnSpc>
                <a:spcPct val="90000"/>
              </a:lnSpc>
              <a:spcBef>
                <a:spcPts val="1125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itchFamily="2" charset="-122"/>
                <a:cs typeface="+mn-cs"/>
              </a:rPr>
              <a:t>优越的抗</a:t>
            </a:r>
            <a:r>
              <a:rPr kumimoji="0" lang="en-US" altLang="zh-CN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itchFamily="2" charset="-122"/>
                <a:cs typeface="+mn-cs"/>
              </a:rPr>
              <a:t>EMI</a:t>
            </a:r>
            <a:r>
              <a:rPr kumimoji="0" lang="zh-CN" alt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itchFamily="2" charset="-122"/>
                <a:cs typeface="+mn-cs"/>
              </a:rPr>
              <a:t>性能</a:t>
            </a:r>
          </a:p>
          <a:p>
            <a:pPr marL="257175" marR="0" lvl="0" indent="-257175" algn="l" defTabSz="1028700" rtl="0" eaLnBrk="0" fontAlgn="base" latinLnBrk="0" hangingPunct="0">
              <a:lnSpc>
                <a:spcPct val="90000"/>
              </a:lnSpc>
              <a:spcBef>
                <a:spcPts val="1125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itchFamily="2" charset="-122"/>
                <a:cs typeface="+mn-cs"/>
              </a:rPr>
              <a:t>光纤</a:t>
            </a:r>
            <a:r>
              <a:rPr kumimoji="0" lang="zh-CN" alt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itchFamily="2" charset="-122"/>
                <a:cs typeface="+mn-cs"/>
                <a:sym typeface="Wingdings" pitchFamily="2" charset="2"/>
              </a:rPr>
              <a:t>既是数据传输载体、又是传感器</a:t>
            </a:r>
          </a:p>
          <a:p>
            <a:pPr marL="257175" marR="0" lvl="0" indent="-257175" algn="l" defTabSz="1028700" rtl="0" eaLnBrk="0" fontAlgn="base" latinLnBrk="0" hangingPunct="0">
              <a:lnSpc>
                <a:spcPct val="90000"/>
              </a:lnSpc>
              <a:spcBef>
                <a:spcPts val="1125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itchFamily="2" charset="-122"/>
                <a:cs typeface="+mn-cs"/>
                <a:sym typeface="Wingdings" pitchFamily="2" charset="2"/>
              </a:rPr>
              <a:t>轻巧 便于安装</a:t>
            </a:r>
            <a:endParaRPr kumimoji="0" lang="en-US" altLang="zh-CN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itchFamily="2" charset="-122"/>
              <a:cs typeface="+mn-cs"/>
              <a:sym typeface="Wingdings" pitchFamily="2" charset="2"/>
            </a:endParaRPr>
          </a:p>
          <a:p>
            <a:pPr marL="257175" marR="0" lvl="0" indent="-257175" algn="l" defTabSz="1028700" rtl="0" eaLnBrk="0" fontAlgn="base" latinLnBrk="0" hangingPunct="0">
              <a:lnSpc>
                <a:spcPct val="90000"/>
              </a:lnSpc>
              <a:spcBef>
                <a:spcPts val="1125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itchFamily="2" charset="-122"/>
                <a:cs typeface="+mn-cs"/>
                <a:sym typeface="Wingdings" pitchFamily="2" charset="2"/>
              </a:rPr>
              <a:t>成本合理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光电技术模板-2015-6-18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Phoenix</Template>
  <TotalTime>212</TotalTime>
  <Words>651</Words>
  <Application>Microsoft Office PowerPoint</Application>
  <PresentationFormat>自定义</PresentationFormat>
  <Paragraphs>205</Paragraphs>
  <Slides>15</Slides>
  <Notes>0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15</vt:i4>
      </vt:variant>
    </vt:vector>
  </HeadingPairs>
  <TitlesOfParts>
    <vt:vector size="18" baseType="lpstr">
      <vt:lpstr>光电技术模板-2015-6-18</vt:lpstr>
      <vt:lpstr>Equation</vt:lpstr>
      <vt:lpstr>花子フォトレタッチ 1.0 /R.1</vt:lpstr>
      <vt:lpstr>幻灯片 1</vt:lpstr>
      <vt:lpstr>幻灯片 2</vt:lpstr>
      <vt:lpstr>幻灯片 3</vt:lpstr>
      <vt:lpstr>幻灯片 4</vt:lpstr>
      <vt:lpstr>幻灯片 5</vt:lpstr>
      <vt:lpstr>幻灯片 6</vt:lpstr>
      <vt:lpstr>幻灯片 7</vt:lpstr>
      <vt:lpstr>幻灯片 8</vt:lpstr>
      <vt:lpstr>幻灯片 9</vt:lpstr>
      <vt:lpstr>幻灯片 10</vt:lpstr>
      <vt:lpstr>幻灯片 11</vt:lpstr>
      <vt:lpstr>幻灯片 12</vt:lpstr>
      <vt:lpstr>幻灯片 13</vt:lpstr>
      <vt:lpstr>幻灯片 14</vt:lpstr>
      <vt:lpstr>幻灯片 15</vt:lpstr>
    </vt:vector>
  </TitlesOfParts>
  <Company>微软中国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微软用户</dc:creator>
  <cp:lastModifiedBy>yyp</cp:lastModifiedBy>
  <cp:revision>30</cp:revision>
  <dcterms:created xsi:type="dcterms:W3CDTF">2015-06-18T01:42:52Z</dcterms:created>
  <dcterms:modified xsi:type="dcterms:W3CDTF">2022-05-02T05:26:54Z</dcterms:modified>
</cp:coreProperties>
</file>