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3" r:id="rId2"/>
    <p:sldId id="376" r:id="rId3"/>
    <p:sldId id="377" r:id="rId4"/>
    <p:sldId id="273" r:id="rId5"/>
    <p:sldId id="296" r:id="rId6"/>
    <p:sldId id="275" r:id="rId7"/>
    <p:sldId id="276" r:id="rId8"/>
    <p:sldId id="277" r:id="rId9"/>
    <p:sldId id="278" r:id="rId10"/>
    <p:sldId id="378" r:id="rId11"/>
    <p:sldId id="298" r:id="rId12"/>
    <p:sldId id="299" r:id="rId13"/>
    <p:sldId id="300" r:id="rId14"/>
    <p:sldId id="301" r:id="rId15"/>
    <p:sldId id="302" r:id="rId16"/>
    <p:sldId id="303" r:id="rId17"/>
    <p:sldId id="379" r:id="rId18"/>
    <p:sldId id="305" r:id="rId19"/>
    <p:sldId id="306" r:id="rId20"/>
    <p:sldId id="307" r:id="rId21"/>
    <p:sldId id="308" r:id="rId22"/>
  </p:sldIdLst>
  <p:sldSz cx="13717588" cy="7715250"/>
  <p:notesSz cx="6858000" cy="9144000"/>
  <p:defaultTextStyle>
    <a:defPPr>
      <a:defRPr lang="zh-CN"/>
    </a:defPPr>
    <a:lvl1pPr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514350" indent="-571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1028700" indent="-1143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543050" indent="-1714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2057400" indent="-2286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0">
          <p15:clr>
            <a:srgbClr val="A4A3A4"/>
          </p15:clr>
        </p15:guide>
        <p15:guide id="2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FFCC"/>
    <a:srgbClr val="FFFFFF"/>
    <a:srgbClr val="0066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016" y="90"/>
      </p:cViewPr>
      <p:guideLst>
        <p:guide orient="horz" pos="2430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69084A-526A-4470-AA35-7ED4AA65A0E9}" type="doc">
      <dgm:prSet loTypeId="urn:microsoft.com/office/officeart/2005/8/layout/radial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779A588-270A-487C-88D2-F0163ABBD6E0}">
      <dgm:prSet phldrT="[文本]" custT="1"/>
      <dgm:spPr>
        <a:solidFill>
          <a:srgbClr val="FF99FF"/>
        </a:solidFill>
      </dgm:spPr>
      <dgm:t>
        <a:bodyPr/>
        <a:lstStyle/>
        <a:p>
          <a:r>
            <a:rPr lang="zh-CN" altLang="en-US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特点</a:t>
          </a:r>
        </a:p>
      </dgm:t>
    </dgm:pt>
    <dgm:pt modelId="{ECA4527F-2527-41FA-B5E4-526CBFDAE6B1}" type="parTrans" cxnId="{454B6B12-128E-49B4-9875-98347E43557B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0E405C3D-2114-4F21-99DB-CFE3B4797D8B}" type="sibTrans" cxnId="{454B6B12-128E-49B4-9875-98347E43557B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CF54486E-E8B5-4C02-AE33-F8365F6969EB}">
      <dgm:prSet phldrT="[文本]" custT="1"/>
      <dgm:spPr>
        <a:solidFill>
          <a:srgbClr val="FFFF00"/>
        </a:solidFill>
      </dgm:spPr>
      <dgm:t>
        <a:bodyPr/>
        <a:lstStyle/>
        <a:p>
          <a:r>
            <a:rPr lang="zh-CN" altLang="en-US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灵敏度高</a:t>
          </a:r>
        </a:p>
      </dgm:t>
    </dgm:pt>
    <dgm:pt modelId="{C44C2029-BEB8-47B5-B2EA-720BF125AAFB}" type="parTrans" cxnId="{62FB6D7C-585C-472B-B900-8046510366A0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29601C67-09F1-4BE6-965F-13C06E795D56}" type="sibTrans" cxnId="{62FB6D7C-585C-472B-B900-8046510366A0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F155EF20-C8CC-450D-8369-03F526B51DB9}">
      <dgm:prSet phldrT="[文本]" custT="1"/>
      <dgm:spPr>
        <a:solidFill>
          <a:srgbClr val="FFC000"/>
        </a:solidFill>
      </dgm:spPr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响应速度快</a:t>
          </a:r>
        </a:p>
      </dgm:t>
    </dgm:pt>
    <dgm:pt modelId="{5DB30950-4637-4405-B6B0-6BD05234472C}" type="parTrans" cxnId="{62522632-7519-40CD-B754-4F3AB16436BF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EA1E1860-14F6-474C-80ED-AE353E6C7834}" type="sibTrans" cxnId="{62522632-7519-40CD-B754-4F3AB16436BF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9D4CFAB3-AE99-4314-90A8-B1F2119568E6}">
      <dgm:prSet phldrT="[文本]" custT="1"/>
      <dgm:spPr>
        <a:solidFill>
          <a:srgbClr val="92D050"/>
        </a:solidFill>
      </dgm:spPr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带宽宽</a:t>
          </a:r>
        </a:p>
      </dgm:t>
    </dgm:pt>
    <dgm:pt modelId="{61940A9D-11EA-4918-A213-E3E01AD35B36}" type="parTrans" cxnId="{7ACD8C74-8F2C-4E08-B834-A71FD22788DD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0DDAD213-4C59-48EC-9D89-01E6C9D62BA8}" type="sibTrans" cxnId="{7ACD8C74-8F2C-4E08-B834-A71FD22788DD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7F299951-24AD-42A6-B09A-993ABF0E0878}">
      <dgm:prSet phldrT="[文本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低噪声</a:t>
          </a:r>
        </a:p>
      </dgm:t>
    </dgm:pt>
    <dgm:pt modelId="{37E82F80-421F-4D49-98F0-26E4350CBE6C}" type="parTrans" cxnId="{DC92F541-0997-44AA-98FA-7FABF90244A5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93206731-1023-4000-8A59-7FC9EFA6532A}" type="sibTrans" cxnId="{DC92F541-0997-44AA-98FA-7FABF90244A5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F480385E-6FD4-444B-909D-70CCE22315BC}">
      <dgm:prSet phldrT="[文本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zh-CN" altLang="en-US" sz="20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内增益</a:t>
          </a:r>
        </a:p>
      </dgm:t>
    </dgm:pt>
    <dgm:pt modelId="{0C1C9D96-3234-4334-BB4D-8E62BE7C7607}" type="parTrans" cxnId="{54589FBA-72A6-47B8-A250-5EABD376DE1C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71A9B32E-8768-4AFC-B3FC-AD7DD2A4E49A}" type="sibTrans" cxnId="{54589FBA-72A6-47B8-A250-5EABD376DE1C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4677DDB3-AC4C-464C-B0A6-CA5E153C97F6}" type="pres">
      <dgm:prSet presAssocID="{9569084A-526A-4470-AA35-7ED4AA65A0E9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462DF8B-6B03-41BE-B43E-800A56A5B3F1}" type="pres">
      <dgm:prSet presAssocID="{7779A588-270A-487C-88D2-F0163ABBD6E0}" presName="centerShape" presStyleLbl="node0" presStyleIdx="0" presStyleCnt="1" custScaleX="144937" custScaleY="142677"/>
      <dgm:spPr/>
      <dgm:t>
        <a:bodyPr/>
        <a:lstStyle/>
        <a:p>
          <a:endParaRPr lang="zh-CN" altLang="en-US"/>
        </a:p>
      </dgm:t>
    </dgm:pt>
    <dgm:pt modelId="{504D47E8-5648-46B9-9373-7181EC5380C9}" type="pres">
      <dgm:prSet presAssocID="{C44C2029-BEB8-47B5-B2EA-720BF125AAFB}" presName="parTrans" presStyleLbl="sibTrans2D1" presStyleIdx="0" presStyleCnt="5"/>
      <dgm:spPr/>
      <dgm:t>
        <a:bodyPr/>
        <a:lstStyle/>
        <a:p>
          <a:endParaRPr lang="zh-CN" altLang="en-US"/>
        </a:p>
      </dgm:t>
    </dgm:pt>
    <dgm:pt modelId="{DBEA04CF-9B7C-4988-998A-B06DA225C023}" type="pres">
      <dgm:prSet presAssocID="{C44C2029-BEB8-47B5-B2EA-720BF125AAFB}" presName="connectorText" presStyleLbl="sibTrans2D1" presStyleIdx="0" presStyleCnt="5"/>
      <dgm:spPr/>
      <dgm:t>
        <a:bodyPr/>
        <a:lstStyle/>
        <a:p>
          <a:endParaRPr lang="zh-CN" altLang="en-US"/>
        </a:p>
      </dgm:t>
    </dgm:pt>
    <dgm:pt modelId="{437BBCD7-3628-4CC9-8B89-F493762A0A9F}" type="pres">
      <dgm:prSet presAssocID="{CF54486E-E8B5-4C02-AE33-F8365F6969EB}" presName="node" presStyleLbl="node1" presStyleIdx="0" presStyleCnt="5" custScaleX="124027" custScaleY="117093" custRadScaleRad="98110" custRadScaleInc="-185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8AE9004-8FE6-4F5B-8CBF-20FA174B5975}" type="pres">
      <dgm:prSet presAssocID="{5DB30950-4637-4405-B6B0-6BD05234472C}" presName="parTrans" presStyleLbl="sibTrans2D1" presStyleIdx="1" presStyleCnt="5"/>
      <dgm:spPr/>
      <dgm:t>
        <a:bodyPr/>
        <a:lstStyle/>
        <a:p>
          <a:endParaRPr lang="zh-CN" altLang="en-US"/>
        </a:p>
      </dgm:t>
    </dgm:pt>
    <dgm:pt modelId="{7739EB58-CE34-401B-8C51-48860D7A1660}" type="pres">
      <dgm:prSet presAssocID="{5DB30950-4637-4405-B6B0-6BD05234472C}" presName="connectorText" presStyleLbl="sibTrans2D1" presStyleIdx="1" presStyleCnt="5"/>
      <dgm:spPr/>
      <dgm:t>
        <a:bodyPr/>
        <a:lstStyle/>
        <a:p>
          <a:endParaRPr lang="zh-CN" altLang="en-US"/>
        </a:p>
      </dgm:t>
    </dgm:pt>
    <dgm:pt modelId="{06D8C5A0-E7E5-4A3B-84E2-156D853A274C}" type="pres">
      <dgm:prSet presAssocID="{F155EF20-C8CC-450D-8369-03F526B51DB9}" presName="node" presStyleLbl="node1" presStyleIdx="1" presStyleCnt="5" custScaleX="120499" custScaleY="12021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F567D5A-F649-416C-9F4F-F1666CD6DAED}" type="pres">
      <dgm:prSet presAssocID="{61940A9D-11EA-4918-A213-E3E01AD35B36}" presName="parTrans" presStyleLbl="sibTrans2D1" presStyleIdx="2" presStyleCnt="5"/>
      <dgm:spPr/>
      <dgm:t>
        <a:bodyPr/>
        <a:lstStyle/>
        <a:p>
          <a:endParaRPr lang="zh-CN" altLang="en-US"/>
        </a:p>
      </dgm:t>
    </dgm:pt>
    <dgm:pt modelId="{0EA3E284-A71B-442F-B37F-E21AA5E53820}" type="pres">
      <dgm:prSet presAssocID="{61940A9D-11EA-4918-A213-E3E01AD35B36}" presName="connectorText" presStyleLbl="sibTrans2D1" presStyleIdx="2" presStyleCnt="5"/>
      <dgm:spPr/>
      <dgm:t>
        <a:bodyPr/>
        <a:lstStyle/>
        <a:p>
          <a:endParaRPr lang="zh-CN" altLang="en-US"/>
        </a:p>
      </dgm:t>
    </dgm:pt>
    <dgm:pt modelId="{9277782A-FB05-4363-8DE0-0FE55906615C}" type="pres">
      <dgm:prSet presAssocID="{9D4CFAB3-AE99-4314-90A8-B1F2119568E6}" presName="node" presStyleLbl="node1" presStyleIdx="2" presStyleCnt="5" custScaleX="128288" custScaleY="13428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27BC216-87A0-47A1-981F-4A0CB9139A8A}" type="pres">
      <dgm:prSet presAssocID="{37E82F80-421F-4D49-98F0-26E4350CBE6C}" presName="parTrans" presStyleLbl="sibTrans2D1" presStyleIdx="3" presStyleCnt="5"/>
      <dgm:spPr/>
      <dgm:t>
        <a:bodyPr/>
        <a:lstStyle/>
        <a:p>
          <a:endParaRPr lang="zh-CN" altLang="en-US"/>
        </a:p>
      </dgm:t>
    </dgm:pt>
    <dgm:pt modelId="{26D73599-A61F-4E37-BD91-04DB091874F8}" type="pres">
      <dgm:prSet presAssocID="{37E82F80-421F-4D49-98F0-26E4350CBE6C}" presName="connectorText" presStyleLbl="sibTrans2D1" presStyleIdx="3" presStyleCnt="5"/>
      <dgm:spPr/>
      <dgm:t>
        <a:bodyPr/>
        <a:lstStyle/>
        <a:p>
          <a:endParaRPr lang="zh-CN" altLang="en-US"/>
        </a:p>
      </dgm:t>
    </dgm:pt>
    <dgm:pt modelId="{E3DC612F-97DF-4A0B-97A7-EFAC550D3D41}" type="pres">
      <dgm:prSet presAssocID="{7F299951-24AD-42A6-B09A-993ABF0E0878}" presName="node" presStyleLbl="node1" presStyleIdx="3" presStyleCnt="5" custScaleX="126446" custScaleY="11803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3070811-D8DA-409E-818E-79E3E82F4E6E}" type="pres">
      <dgm:prSet presAssocID="{0C1C9D96-3234-4334-BB4D-8E62BE7C7607}" presName="parTrans" presStyleLbl="sibTrans2D1" presStyleIdx="4" presStyleCnt="5"/>
      <dgm:spPr/>
      <dgm:t>
        <a:bodyPr/>
        <a:lstStyle/>
        <a:p>
          <a:endParaRPr lang="zh-CN" altLang="en-US"/>
        </a:p>
      </dgm:t>
    </dgm:pt>
    <dgm:pt modelId="{AD1D95DF-6869-4A52-876D-58C83FF68064}" type="pres">
      <dgm:prSet presAssocID="{0C1C9D96-3234-4334-BB4D-8E62BE7C7607}" presName="connectorText" presStyleLbl="sibTrans2D1" presStyleIdx="4" presStyleCnt="5"/>
      <dgm:spPr/>
      <dgm:t>
        <a:bodyPr/>
        <a:lstStyle/>
        <a:p>
          <a:endParaRPr lang="zh-CN" altLang="en-US"/>
        </a:p>
      </dgm:t>
    </dgm:pt>
    <dgm:pt modelId="{A33B6F7C-77D6-414E-AF80-560A30F5FD63}" type="pres">
      <dgm:prSet presAssocID="{F480385E-6FD4-444B-909D-70CCE22315BC}" presName="node" presStyleLbl="node1" presStyleIdx="4" presStyleCnt="5" custScaleX="127864" custScaleY="12657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2D8F642-9038-413F-A736-4CAB3960D309}" type="presOf" srcId="{61940A9D-11EA-4918-A213-E3E01AD35B36}" destId="{4F567D5A-F649-416C-9F4F-F1666CD6DAED}" srcOrd="0" destOrd="0" presId="urn:microsoft.com/office/officeart/2005/8/layout/radial5"/>
    <dgm:cxn modelId="{90A762D3-6939-4CF2-93BB-3DFB79FE3100}" type="presOf" srcId="{61940A9D-11EA-4918-A213-E3E01AD35B36}" destId="{0EA3E284-A71B-442F-B37F-E21AA5E53820}" srcOrd="1" destOrd="0" presId="urn:microsoft.com/office/officeart/2005/8/layout/radial5"/>
    <dgm:cxn modelId="{BE27CA0A-58EC-4CB5-B3D0-FE14A02AC9B9}" type="presOf" srcId="{CF54486E-E8B5-4C02-AE33-F8365F6969EB}" destId="{437BBCD7-3628-4CC9-8B89-F493762A0A9F}" srcOrd="0" destOrd="0" presId="urn:microsoft.com/office/officeart/2005/8/layout/radial5"/>
    <dgm:cxn modelId="{B8F14406-1622-4489-ACBA-C81EA218DBD0}" type="presOf" srcId="{F155EF20-C8CC-450D-8369-03F526B51DB9}" destId="{06D8C5A0-E7E5-4A3B-84E2-156D853A274C}" srcOrd="0" destOrd="0" presId="urn:microsoft.com/office/officeart/2005/8/layout/radial5"/>
    <dgm:cxn modelId="{C6F59CEB-42DA-4E86-AABD-6A454DB0BE56}" type="presOf" srcId="{5DB30950-4637-4405-B6B0-6BD05234472C}" destId="{7739EB58-CE34-401B-8C51-48860D7A1660}" srcOrd="1" destOrd="0" presId="urn:microsoft.com/office/officeart/2005/8/layout/radial5"/>
    <dgm:cxn modelId="{329C710A-D23B-49E4-BAC9-88FC0552168F}" type="presOf" srcId="{0C1C9D96-3234-4334-BB4D-8E62BE7C7607}" destId="{AD1D95DF-6869-4A52-876D-58C83FF68064}" srcOrd="1" destOrd="0" presId="urn:microsoft.com/office/officeart/2005/8/layout/radial5"/>
    <dgm:cxn modelId="{2BFAEF30-F974-45FD-BB5D-08D3E3157135}" type="presOf" srcId="{7F299951-24AD-42A6-B09A-993ABF0E0878}" destId="{E3DC612F-97DF-4A0B-97A7-EFAC550D3D41}" srcOrd="0" destOrd="0" presId="urn:microsoft.com/office/officeart/2005/8/layout/radial5"/>
    <dgm:cxn modelId="{346BD526-A796-4488-8646-936EBBC3B246}" type="presOf" srcId="{C44C2029-BEB8-47B5-B2EA-720BF125AAFB}" destId="{DBEA04CF-9B7C-4988-998A-B06DA225C023}" srcOrd="1" destOrd="0" presId="urn:microsoft.com/office/officeart/2005/8/layout/radial5"/>
    <dgm:cxn modelId="{1DDCAEE4-C753-4546-87AF-4897D7FD8C8C}" type="presOf" srcId="{9569084A-526A-4470-AA35-7ED4AA65A0E9}" destId="{4677DDB3-AC4C-464C-B0A6-CA5E153C97F6}" srcOrd="0" destOrd="0" presId="urn:microsoft.com/office/officeart/2005/8/layout/radial5"/>
    <dgm:cxn modelId="{C1775789-7255-4F25-A92E-2F01868A5E3A}" type="presOf" srcId="{37E82F80-421F-4D49-98F0-26E4350CBE6C}" destId="{A27BC216-87A0-47A1-981F-4A0CB9139A8A}" srcOrd="0" destOrd="0" presId="urn:microsoft.com/office/officeart/2005/8/layout/radial5"/>
    <dgm:cxn modelId="{54589FBA-72A6-47B8-A250-5EABD376DE1C}" srcId="{7779A588-270A-487C-88D2-F0163ABBD6E0}" destId="{F480385E-6FD4-444B-909D-70CCE22315BC}" srcOrd="4" destOrd="0" parTransId="{0C1C9D96-3234-4334-BB4D-8E62BE7C7607}" sibTransId="{71A9B32E-8768-4AFC-B3FC-AD7DD2A4E49A}"/>
    <dgm:cxn modelId="{6346C418-FDE8-4EC3-9084-6506E0CB9835}" type="presOf" srcId="{C44C2029-BEB8-47B5-B2EA-720BF125AAFB}" destId="{504D47E8-5648-46B9-9373-7181EC5380C9}" srcOrd="0" destOrd="0" presId="urn:microsoft.com/office/officeart/2005/8/layout/radial5"/>
    <dgm:cxn modelId="{CD2DA3AF-0C58-4C6C-9E86-BC2F329D76BC}" type="presOf" srcId="{F480385E-6FD4-444B-909D-70CCE22315BC}" destId="{A33B6F7C-77D6-414E-AF80-560A30F5FD63}" srcOrd="0" destOrd="0" presId="urn:microsoft.com/office/officeart/2005/8/layout/radial5"/>
    <dgm:cxn modelId="{7ACD8C74-8F2C-4E08-B834-A71FD22788DD}" srcId="{7779A588-270A-487C-88D2-F0163ABBD6E0}" destId="{9D4CFAB3-AE99-4314-90A8-B1F2119568E6}" srcOrd="2" destOrd="0" parTransId="{61940A9D-11EA-4918-A213-E3E01AD35B36}" sibTransId="{0DDAD213-4C59-48EC-9D89-01E6C9D62BA8}"/>
    <dgm:cxn modelId="{454B6B12-128E-49B4-9875-98347E43557B}" srcId="{9569084A-526A-4470-AA35-7ED4AA65A0E9}" destId="{7779A588-270A-487C-88D2-F0163ABBD6E0}" srcOrd="0" destOrd="0" parTransId="{ECA4527F-2527-41FA-B5E4-526CBFDAE6B1}" sibTransId="{0E405C3D-2114-4F21-99DB-CFE3B4797D8B}"/>
    <dgm:cxn modelId="{81FE2F31-E353-4F9A-B669-AD5D9EC0E552}" type="presOf" srcId="{9D4CFAB3-AE99-4314-90A8-B1F2119568E6}" destId="{9277782A-FB05-4363-8DE0-0FE55906615C}" srcOrd="0" destOrd="0" presId="urn:microsoft.com/office/officeart/2005/8/layout/radial5"/>
    <dgm:cxn modelId="{49FF5BA2-08EE-43F9-B606-4E6BE6FEF9A1}" type="presOf" srcId="{37E82F80-421F-4D49-98F0-26E4350CBE6C}" destId="{26D73599-A61F-4E37-BD91-04DB091874F8}" srcOrd="1" destOrd="0" presId="urn:microsoft.com/office/officeart/2005/8/layout/radial5"/>
    <dgm:cxn modelId="{F1B35173-EF53-49AD-814D-A5E698C84316}" type="presOf" srcId="{5DB30950-4637-4405-B6B0-6BD05234472C}" destId="{18AE9004-8FE6-4F5B-8CBF-20FA174B5975}" srcOrd="0" destOrd="0" presId="urn:microsoft.com/office/officeart/2005/8/layout/radial5"/>
    <dgm:cxn modelId="{DC92F541-0997-44AA-98FA-7FABF90244A5}" srcId="{7779A588-270A-487C-88D2-F0163ABBD6E0}" destId="{7F299951-24AD-42A6-B09A-993ABF0E0878}" srcOrd="3" destOrd="0" parTransId="{37E82F80-421F-4D49-98F0-26E4350CBE6C}" sibTransId="{93206731-1023-4000-8A59-7FC9EFA6532A}"/>
    <dgm:cxn modelId="{62522632-7519-40CD-B754-4F3AB16436BF}" srcId="{7779A588-270A-487C-88D2-F0163ABBD6E0}" destId="{F155EF20-C8CC-450D-8369-03F526B51DB9}" srcOrd="1" destOrd="0" parTransId="{5DB30950-4637-4405-B6B0-6BD05234472C}" sibTransId="{EA1E1860-14F6-474C-80ED-AE353E6C7834}"/>
    <dgm:cxn modelId="{B7A3B203-9E75-4A31-B346-B8E9B3DA30CE}" type="presOf" srcId="{7779A588-270A-487C-88D2-F0163ABBD6E0}" destId="{F462DF8B-6B03-41BE-B43E-800A56A5B3F1}" srcOrd="0" destOrd="0" presId="urn:microsoft.com/office/officeart/2005/8/layout/radial5"/>
    <dgm:cxn modelId="{C027DFBC-5E11-45C8-8433-6DC81F6F40B1}" type="presOf" srcId="{0C1C9D96-3234-4334-BB4D-8E62BE7C7607}" destId="{A3070811-D8DA-409E-818E-79E3E82F4E6E}" srcOrd="0" destOrd="0" presId="urn:microsoft.com/office/officeart/2005/8/layout/radial5"/>
    <dgm:cxn modelId="{62FB6D7C-585C-472B-B900-8046510366A0}" srcId="{7779A588-270A-487C-88D2-F0163ABBD6E0}" destId="{CF54486E-E8B5-4C02-AE33-F8365F6969EB}" srcOrd="0" destOrd="0" parTransId="{C44C2029-BEB8-47B5-B2EA-720BF125AAFB}" sibTransId="{29601C67-09F1-4BE6-965F-13C06E795D56}"/>
    <dgm:cxn modelId="{ABF4031D-5D99-4D6F-A905-358AD0A42954}" type="presParOf" srcId="{4677DDB3-AC4C-464C-B0A6-CA5E153C97F6}" destId="{F462DF8B-6B03-41BE-B43E-800A56A5B3F1}" srcOrd="0" destOrd="0" presId="urn:microsoft.com/office/officeart/2005/8/layout/radial5"/>
    <dgm:cxn modelId="{9F0A842D-05E0-4A22-AE9B-3ED07BB29DED}" type="presParOf" srcId="{4677DDB3-AC4C-464C-B0A6-CA5E153C97F6}" destId="{504D47E8-5648-46B9-9373-7181EC5380C9}" srcOrd="1" destOrd="0" presId="urn:microsoft.com/office/officeart/2005/8/layout/radial5"/>
    <dgm:cxn modelId="{B09381D2-D1FA-4522-B589-B855FFE3507E}" type="presParOf" srcId="{504D47E8-5648-46B9-9373-7181EC5380C9}" destId="{DBEA04CF-9B7C-4988-998A-B06DA225C023}" srcOrd="0" destOrd="0" presId="urn:microsoft.com/office/officeart/2005/8/layout/radial5"/>
    <dgm:cxn modelId="{906A51BE-9EBD-427C-B642-F0D5979ED781}" type="presParOf" srcId="{4677DDB3-AC4C-464C-B0A6-CA5E153C97F6}" destId="{437BBCD7-3628-4CC9-8B89-F493762A0A9F}" srcOrd="2" destOrd="0" presId="urn:microsoft.com/office/officeart/2005/8/layout/radial5"/>
    <dgm:cxn modelId="{3B25C10A-3EC1-419C-A235-95EF7B7C3921}" type="presParOf" srcId="{4677DDB3-AC4C-464C-B0A6-CA5E153C97F6}" destId="{18AE9004-8FE6-4F5B-8CBF-20FA174B5975}" srcOrd="3" destOrd="0" presId="urn:microsoft.com/office/officeart/2005/8/layout/radial5"/>
    <dgm:cxn modelId="{71B374BE-A8CD-485D-B41F-DB6B353E0AE0}" type="presParOf" srcId="{18AE9004-8FE6-4F5B-8CBF-20FA174B5975}" destId="{7739EB58-CE34-401B-8C51-48860D7A1660}" srcOrd="0" destOrd="0" presId="urn:microsoft.com/office/officeart/2005/8/layout/radial5"/>
    <dgm:cxn modelId="{1ADD6912-DED1-457C-84B8-82B80CF31778}" type="presParOf" srcId="{4677DDB3-AC4C-464C-B0A6-CA5E153C97F6}" destId="{06D8C5A0-E7E5-4A3B-84E2-156D853A274C}" srcOrd="4" destOrd="0" presId="urn:microsoft.com/office/officeart/2005/8/layout/radial5"/>
    <dgm:cxn modelId="{8291931B-6141-46CF-B6D0-B90A6A037A06}" type="presParOf" srcId="{4677DDB3-AC4C-464C-B0A6-CA5E153C97F6}" destId="{4F567D5A-F649-416C-9F4F-F1666CD6DAED}" srcOrd="5" destOrd="0" presId="urn:microsoft.com/office/officeart/2005/8/layout/radial5"/>
    <dgm:cxn modelId="{4ACFBD50-9DA5-4CFD-B6E7-7C7E79C29A6D}" type="presParOf" srcId="{4F567D5A-F649-416C-9F4F-F1666CD6DAED}" destId="{0EA3E284-A71B-442F-B37F-E21AA5E53820}" srcOrd="0" destOrd="0" presId="urn:microsoft.com/office/officeart/2005/8/layout/radial5"/>
    <dgm:cxn modelId="{A8493E10-580F-4ADE-A4CB-64D16FADD5E2}" type="presParOf" srcId="{4677DDB3-AC4C-464C-B0A6-CA5E153C97F6}" destId="{9277782A-FB05-4363-8DE0-0FE55906615C}" srcOrd="6" destOrd="0" presId="urn:microsoft.com/office/officeart/2005/8/layout/radial5"/>
    <dgm:cxn modelId="{D7E2F545-5E7D-45EF-9DE9-767B396D2550}" type="presParOf" srcId="{4677DDB3-AC4C-464C-B0A6-CA5E153C97F6}" destId="{A27BC216-87A0-47A1-981F-4A0CB9139A8A}" srcOrd="7" destOrd="0" presId="urn:microsoft.com/office/officeart/2005/8/layout/radial5"/>
    <dgm:cxn modelId="{938C593E-AA7D-4D1A-893A-23EF31C5E1B5}" type="presParOf" srcId="{A27BC216-87A0-47A1-981F-4A0CB9139A8A}" destId="{26D73599-A61F-4E37-BD91-04DB091874F8}" srcOrd="0" destOrd="0" presId="urn:microsoft.com/office/officeart/2005/8/layout/radial5"/>
    <dgm:cxn modelId="{68BF1C5B-B169-4B44-B888-986CD86F6BF8}" type="presParOf" srcId="{4677DDB3-AC4C-464C-B0A6-CA5E153C97F6}" destId="{E3DC612F-97DF-4A0B-97A7-EFAC550D3D41}" srcOrd="8" destOrd="0" presId="urn:microsoft.com/office/officeart/2005/8/layout/radial5"/>
    <dgm:cxn modelId="{D77C4D42-5751-466B-BB27-8205B92B9A38}" type="presParOf" srcId="{4677DDB3-AC4C-464C-B0A6-CA5E153C97F6}" destId="{A3070811-D8DA-409E-818E-79E3E82F4E6E}" srcOrd="9" destOrd="0" presId="urn:microsoft.com/office/officeart/2005/8/layout/radial5"/>
    <dgm:cxn modelId="{A4821739-958E-4294-A384-D1FA551B5FF3}" type="presParOf" srcId="{A3070811-D8DA-409E-818E-79E3E82F4E6E}" destId="{AD1D95DF-6869-4A52-876D-58C83FF68064}" srcOrd="0" destOrd="0" presId="urn:microsoft.com/office/officeart/2005/8/layout/radial5"/>
    <dgm:cxn modelId="{0ED0BDBF-C2F8-4E2A-956D-57735C2B629A}" type="presParOf" srcId="{4677DDB3-AC4C-464C-B0A6-CA5E153C97F6}" destId="{A33B6F7C-77D6-414E-AF80-560A30F5FD63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69084A-526A-4470-AA35-7ED4AA65A0E9}" type="doc">
      <dgm:prSet loTypeId="urn:microsoft.com/office/officeart/2005/8/layout/radial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779A588-270A-487C-88D2-F0163ABBD6E0}">
      <dgm:prSet phldrT="[文本]" custT="1"/>
      <dgm:spPr>
        <a:solidFill>
          <a:srgbClr val="FF99FF"/>
        </a:solidFill>
      </dgm:spPr>
      <dgm:t>
        <a:bodyPr/>
        <a:lstStyle/>
        <a:p>
          <a:r>
            <a:rPr lang="zh-CN" altLang="en-US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应用</a:t>
          </a:r>
        </a:p>
      </dgm:t>
    </dgm:pt>
    <dgm:pt modelId="{ECA4527F-2527-41FA-B5E4-526CBFDAE6B1}" type="parTrans" cxnId="{454B6B12-128E-49B4-9875-98347E43557B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0E405C3D-2114-4F21-99DB-CFE3B4797D8B}" type="sibTrans" cxnId="{454B6B12-128E-49B4-9875-98347E43557B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CF54486E-E8B5-4C02-AE33-F8365F6969EB}">
      <dgm:prSet phldrT="[文本]" custT="1"/>
      <dgm:spPr>
        <a:solidFill>
          <a:srgbClr val="FFFF00"/>
        </a:solidFill>
      </dgm:spPr>
      <dgm:t>
        <a:bodyPr/>
        <a:lstStyle/>
        <a:p>
          <a:r>
            <a:rPr lang="zh-CN" altLang="en-US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微弱光检测</a:t>
          </a:r>
        </a:p>
      </dgm:t>
    </dgm:pt>
    <dgm:pt modelId="{C44C2029-BEB8-47B5-B2EA-720BF125AAFB}" type="parTrans" cxnId="{62FB6D7C-585C-472B-B900-8046510366A0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29601C67-09F1-4BE6-965F-13C06E795D56}" type="sibTrans" cxnId="{62FB6D7C-585C-472B-B900-8046510366A0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F155EF20-C8CC-450D-8369-03F526B51DB9}">
      <dgm:prSet phldrT="[文本]" custT="1"/>
      <dgm:spPr>
        <a:solidFill>
          <a:srgbClr val="FFC000"/>
        </a:solidFill>
      </dgm:spPr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激光测距</a:t>
          </a:r>
        </a:p>
      </dgm:t>
    </dgm:pt>
    <dgm:pt modelId="{5DB30950-4637-4405-B6B0-6BD05234472C}" type="parTrans" cxnId="{62522632-7519-40CD-B754-4F3AB16436BF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EA1E1860-14F6-474C-80ED-AE353E6C7834}" type="sibTrans" cxnId="{62522632-7519-40CD-B754-4F3AB16436BF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9D4CFAB3-AE99-4314-90A8-B1F2119568E6}">
      <dgm:prSet phldrT="[文本]" custT="1"/>
      <dgm:spPr>
        <a:solidFill>
          <a:srgbClr val="92D050"/>
        </a:solidFill>
      </dgm:spPr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光纤通信</a:t>
          </a:r>
        </a:p>
      </dgm:t>
    </dgm:pt>
    <dgm:pt modelId="{61940A9D-11EA-4918-A213-E3E01AD35B36}" type="parTrans" cxnId="{7ACD8C74-8F2C-4E08-B834-A71FD22788DD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0DDAD213-4C59-48EC-9D89-01E6C9D62BA8}" type="sibTrans" cxnId="{7ACD8C74-8F2C-4E08-B834-A71FD22788DD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7F299951-24AD-42A6-B09A-993ABF0E0878}">
      <dgm:prSet phldrT="[文本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光纤传感</a:t>
          </a:r>
        </a:p>
      </dgm:t>
    </dgm:pt>
    <dgm:pt modelId="{37E82F80-421F-4D49-98F0-26E4350CBE6C}" type="parTrans" cxnId="{DC92F541-0997-44AA-98FA-7FABF90244A5}">
      <dgm:prSet custT="1"/>
      <dgm:spPr>
        <a:solidFill>
          <a:schemeClr val="tx2"/>
        </a:solidFill>
      </dgm:spPr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93206731-1023-4000-8A59-7FC9EFA6532A}" type="sibTrans" cxnId="{DC92F541-0997-44AA-98FA-7FABF90244A5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gm:t>
    </dgm:pt>
    <dgm:pt modelId="{4677DDB3-AC4C-464C-B0A6-CA5E153C97F6}" type="pres">
      <dgm:prSet presAssocID="{9569084A-526A-4470-AA35-7ED4AA65A0E9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462DF8B-6B03-41BE-B43E-800A56A5B3F1}" type="pres">
      <dgm:prSet presAssocID="{7779A588-270A-487C-88D2-F0163ABBD6E0}" presName="centerShape" presStyleLbl="node0" presStyleIdx="0" presStyleCnt="1" custScaleX="144937" custScaleY="142677"/>
      <dgm:spPr/>
      <dgm:t>
        <a:bodyPr/>
        <a:lstStyle/>
        <a:p>
          <a:endParaRPr lang="zh-CN" altLang="en-US"/>
        </a:p>
      </dgm:t>
    </dgm:pt>
    <dgm:pt modelId="{504D47E8-5648-46B9-9373-7181EC5380C9}" type="pres">
      <dgm:prSet presAssocID="{C44C2029-BEB8-47B5-B2EA-720BF125AAFB}" presName="parTrans" presStyleLbl="sibTrans2D1" presStyleIdx="0" presStyleCnt="4"/>
      <dgm:spPr/>
      <dgm:t>
        <a:bodyPr/>
        <a:lstStyle/>
        <a:p>
          <a:endParaRPr lang="zh-CN" altLang="en-US"/>
        </a:p>
      </dgm:t>
    </dgm:pt>
    <dgm:pt modelId="{DBEA04CF-9B7C-4988-998A-B06DA225C023}" type="pres">
      <dgm:prSet presAssocID="{C44C2029-BEB8-47B5-B2EA-720BF125AAFB}" presName="connectorText" presStyleLbl="sibTrans2D1" presStyleIdx="0" presStyleCnt="4"/>
      <dgm:spPr/>
      <dgm:t>
        <a:bodyPr/>
        <a:lstStyle/>
        <a:p>
          <a:endParaRPr lang="zh-CN" altLang="en-US"/>
        </a:p>
      </dgm:t>
    </dgm:pt>
    <dgm:pt modelId="{437BBCD7-3628-4CC9-8B89-F493762A0A9F}" type="pres">
      <dgm:prSet presAssocID="{CF54486E-E8B5-4C02-AE33-F8365F6969EB}" presName="node" presStyleLbl="node1" presStyleIdx="0" presStyleCnt="4" custScaleX="124027" custScaleY="117093" custRadScaleRad="98110" custRadScaleInc="-185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8AE9004-8FE6-4F5B-8CBF-20FA174B5975}" type="pres">
      <dgm:prSet presAssocID="{5DB30950-4637-4405-B6B0-6BD05234472C}" presName="parTrans" presStyleLbl="sibTrans2D1" presStyleIdx="1" presStyleCnt="4"/>
      <dgm:spPr/>
      <dgm:t>
        <a:bodyPr/>
        <a:lstStyle/>
        <a:p>
          <a:endParaRPr lang="zh-CN" altLang="en-US"/>
        </a:p>
      </dgm:t>
    </dgm:pt>
    <dgm:pt modelId="{7739EB58-CE34-401B-8C51-48860D7A1660}" type="pres">
      <dgm:prSet presAssocID="{5DB30950-4637-4405-B6B0-6BD05234472C}" presName="connectorText" presStyleLbl="sibTrans2D1" presStyleIdx="1" presStyleCnt="4"/>
      <dgm:spPr/>
      <dgm:t>
        <a:bodyPr/>
        <a:lstStyle/>
        <a:p>
          <a:endParaRPr lang="zh-CN" altLang="en-US"/>
        </a:p>
      </dgm:t>
    </dgm:pt>
    <dgm:pt modelId="{06D8C5A0-E7E5-4A3B-84E2-156D853A274C}" type="pres">
      <dgm:prSet presAssocID="{F155EF20-C8CC-450D-8369-03F526B51DB9}" presName="node" presStyleLbl="node1" presStyleIdx="1" presStyleCnt="4" custScaleX="120499" custScaleY="12021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F567D5A-F649-416C-9F4F-F1666CD6DAED}" type="pres">
      <dgm:prSet presAssocID="{61940A9D-11EA-4918-A213-E3E01AD35B36}" presName="parTrans" presStyleLbl="sibTrans2D1" presStyleIdx="2" presStyleCnt="4"/>
      <dgm:spPr/>
      <dgm:t>
        <a:bodyPr/>
        <a:lstStyle/>
        <a:p>
          <a:endParaRPr lang="zh-CN" altLang="en-US"/>
        </a:p>
      </dgm:t>
    </dgm:pt>
    <dgm:pt modelId="{0EA3E284-A71B-442F-B37F-E21AA5E53820}" type="pres">
      <dgm:prSet presAssocID="{61940A9D-11EA-4918-A213-E3E01AD35B36}" presName="connectorText" presStyleLbl="sibTrans2D1" presStyleIdx="2" presStyleCnt="4"/>
      <dgm:spPr/>
      <dgm:t>
        <a:bodyPr/>
        <a:lstStyle/>
        <a:p>
          <a:endParaRPr lang="zh-CN" altLang="en-US"/>
        </a:p>
      </dgm:t>
    </dgm:pt>
    <dgm:pt modelId="{9277782A-FB05-4363-8DE0-0FE55906615C}" type="pres">
      <dgm:prSet presAssocID="{9D4CFAB3-AE99-4314-90A8-B1F2119568E6}" presName="node" presStyleLbl="node1" presStyleIdx="2" presStyleCnt="4" custScaleX="118117" custScaleY="12092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27BC216-87A0-47A1-981F-4A0CB9139A8A}" type="pres">
      <dgm:prSet presAssocID="{37E82F80-421F-4D49-98F0-26E4350CBE6C}" presName="parTrans" presStyleLbl="sibTrans2D1" presStyleIdx="3" presStyleCnt="4"/>
      <dgm:spPr/>
      <dgm:t>
        <a:bodyPr/>
        <a:lstStyle/>
        <a:p>
          <a:endParaRPr lang="zh-CN" altLang="en-US"/>
        </a:p>
      </dgm:t>
    </dgm:pt>
    <dgm:pt modelId="{26D73599-A61F-4E37-BD91-04DB091874F8}" type="pres">
      <dgm:prSet presAssocID="{37E82F80-421F-4D49-98F0-26E4350CBE6C}" presName="connectorText" presStyleLbl="sibTrans2D1" presStyleIdx="3" presStyleCnt="4"/>
      <dgm:spPr/>
      <dgm:t>
        <a:bodyPr/>
        <a:lstStyle/>
        <a:p>
          <a:endParaRPr lang="zh-CN" altLang="en-US"/>
        </a:p>
      </dgm:t>
    </dgm:pt>
    <dgm:pt modelId="{E3DC612F-97DF-4A0B-97A7-EFAC550D3D41}" type="pres">
      <dgm:prSet presAssocID="{7F299951-24AD-42A6-B09A-993ABF0E0878}" presName="node" presStyleLbl="node1" presStyleIdx="3" presStyleCnt="4" custScaleX="111473" custScaleY="11803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A7F2A0-1037-4804-AAB3-0AF41663CFE5}" type="presOf" srcId="{61940A9D-11EA-4918-A213-E3E01AD35B36}" destId="{4F567D5A-F649-416C-9F4F-F1666CD6DAED}" srcOrd="0" destOrd="0" presId="urn:microsoft.com/office/officeart/2005/8/layout/radial5"/>
    <dgm:cxn modelId="{D2D12F74-3563-45F3-896A-792B4FD4CE4B}" type="presOf" srcId="{7F299951-24AD-42A6-B09A-993ABF0E0878}" destId="{E3DC612F-97DF-4A0B-97A7-EFAC550D3D41}" srcOrd="0" destOrd="0" presId="urn:microsoft.com/office/officeart/2005/8/layout/radial5"/>
    <dgm:cxn modelId="{2957FEE2-B20B-435F-90D9-A609692E4FF6}" type="presOf" srcId="{9569084A-526A-4470-AA35-7ED4AA65A0E9}" destId="{4677DDB3-AC4C-464C-B0A6-CA5E153C97F6}" srcOrd="0" destOrd="0" presId="urn:microsoft.com/office/officeart/2005/8/layout/radial5"/>
    <dgm:cxn modelId="{9528E867-6CB5-420F-9503-7051C6BB9184}" type="presOf" srcId="{7779A588-270A-487C-88D2-F0163ABBD6E0}" destId="{F462DF8B-6B03-41BE-B43E-800A56A5B3F1}" srcOrd="0" destOrd="0" presId="urn:microsoft.com/office/officeart/2005/8/layout/radial5"/>
    <dgm:cxn modelId="{62FB6D7C-585C-472B-B900-8046510366A0}" srcId="{7779A588-270A-487C-88D2-F0163ABBD6E0}" destId="{CF54486E-E8B5-4C02-AE33-F8365F6969EB}" srcOrd="0" destOrd="0" parTransId="{C44C2029-BEB8-47B5-B2EA-720BF125AAFB}" sibTransId="{29601C67-09F1-4BE6-965F-13C06E795D56}"/>
    <dgm:cxn modelId="{0969EBF9-DD8D-475C-8B3E-4CFC811D4BA6}" type="presOf" srcId="{61940A9D-11EA-4918-A213-E3E01AD35B36}" destId="{0EA3E284-A71B-442F-B37F-E21AA5E53820}" srcOrd="1" destOrd="0" presId="urn:microsoft.com/office/officeart/2005/8/layout/radial5"/>
    <dgm:cxn modelId="{A838F897-21F9-4D0D-9906-83FB8A14640E}" type="presOf" srcId="{9D4CFAB3-AE99-4314-90A8-B1F2119568E6}" destId="{9277782A-FB05-4363-8DE0-0FE55906615C}" srcOrd="0" destOrd="0" presId="urn:microsoft.com/office/officeart/2005/8/layout/radial5"/>
    <dgm:cxn modelId="{4225CADB-5B25-489C-ADE3-CB7B67F1B695}" type="presOf" srcId="{5DB30950-4637-4405-B6B0-6BD05234472C}" destId="{7739EB58-CE34-401B-8C51-48860D7A1660}" srcOrd="1" destOrd="0" presId="urn:microsoft.com/office/officeart/2005/8/layout/radial5"/>
    <dgm:cxn modelId="{92D09C81-17AC-4F72-92FF-1121AC778061}" type="presOf" srcId="{CF54486E-E8B5-4C02-AE33-F8365F6969EB}" destId="{437BBCD7-3628-4CC9-8B89-F493762A0A9F}" srcOrd="0" destOrd="0" presId="urn:microsoft.com/office/officeart/2005/8/layout/radial5"/>
    <dgm:cxn modelId="{7ACD8C74-8F2C-4E08-B834-A71FD22788DD}" srcId="{7779A588-270A-487C-88D2-F0163ABBD6E0}" destId="{9D4CFAB3-AE99-4314-90A8-B1F2119568E6}" srcOrd="2" destOrd="0" parTransId="{61940A9D-11EA-4918-A213-E3E01AD35B36}" sibTransId="{0DDAD213-4C59-48EC-9D89-01E6C9D62BA8}"/>
    <dgm:cxn modelId="{F4978270-37F5-4B1E-BF55-770DB6D9F725}" type="presOf" srcId="{F155EF20-C8CC-450D-8369-03F526B51DB9}" destId="{06D8C5A0-E7E5-4A3B-84E2-156D853A274C}" srcOrd="0" destOrd="0" presId="urn:microsoft.com/office/officeart/2005/8/layout/radial5"/>
    <dgm:cxn modelId="{42C2C372-A779-457B-A738-69F584C28B57}" type="presOf" srcId="{5DB30950-4637-4405-B6B0-6BD05234472C}" destId="{18AE9004-8FE6-4F5B-8CBF-20FA174B5975}" srcOrd="0" destOrd="0" presId="urn:microsoft.com/office/officeart/2005/8/layout/radial5"/>
    <dgm:cxn modelId="{DC92F541-0997-44AA-98FA-7FABF90244A5}" srcId="{7779A588-270A-487C-88D2-F0163ABBD6E0}" destId="{7F299951-24AD-42A6-B09A-993ABF0E0878}" srcOrd="3" destOrd="0" parTransId="{37E82F80-421F-4D49-98F0-26E4350CBE6C}" sibTransId="{93206731-1023-4000-8A59-7FC9EFA6532A}"/>
    <dgm:cxn modelId="{454B6B12-128E-49B4-9875-98347E43557B}" srcId="{9569084A-526A-4470-AA35-7ED4AA65A0E9}" destId="{7779A588-270A-487C-88D2-F0163ABBD6E0}" srcOrd="0" destOrd="0" parTransId="{ECA4527F-2527-41FA-B5E4-526CBFDAE6B1}" sibTransId="{0E405C3D-2114-4F21-99DB-CFE3B4797D8B}"/>
    <dgm:cxn modelId="{3366262B-038C-41CB-9882-D2B8A4B8675B}" type="presOf" srcId="{37E82F80-421F-4D49-98F0-26E4350CBE6C}" destId="{A27BC216-87A0-47A1-981F-4A0CB9139A8A}" srcOrd="0" destOrd="0" presId="urn:microsoft.com/office/officeart/2005/8/layout/radial5"/>
    <dgm:cxn modelId="{7BDD8A0F-E599-42C4-A29E-C36754C8CE9B}" type="presOf" srcId="{C44C2029-BEB8-47B5-B2EA-720BF125AAFB}" destId="{504D47E8-5648-46B9-9373-7181EC5380C9}" srcOrd="0" destOrd="0" presId="urn:microsoft.com/office/officeart/2005/8/layout/radial5"/>
    <dgm:cxn modelId="{D05EF705-4B14-4306-B045-A47337E26582}" type="presOf" srcId="{C44C2029-BEB8-47B5-B2EA-720BF125AAFB}" destId="{DBEA04CF-9B7C-4988-998A-B06DA225C023}" srcOrd="1" destOrd="0" presId="urn:microsoft.com/office/officeart/2005/8/layout/radial5"/>
    <dgm:cxn modelId="{62522632-7519-40CD-B754-4F3AB16436BF}" srcId="{7779A588-270A-487C-88D2-F0163ABBD6E0}" destId="{F155EF20-C8CC-450D-8369-03F526B51DB9}" srcOrd="1" destOrd="0" parTransId="{5DB30950-4637-4405-B6B0-6BD05234472C}" sibTransId="{EA1E1860-14F6-474C-80ED-AE353E6C7834}"/>
    <dgm:cxn modelId="{3C4ACE6D-D2E3-40C3-998C-0B883B0A2138}" type="presOf" srcId="{37E82F80-421F-4D49-98F0-26E4350CBE6C}" destId="{26D73599-A61F-4E37-BD91-04DB091874F8}" srcOrd="1" destOrd="0" presId="urn:microsoft.com/office/officeart/2005/8/layout/radial5"/>
    <dgm:cxn modelId="{6262938B-7E58-439F-9667-54A76D9A7FEE}" type="presParOf" srcId="{4677DDB3-AC4C-464C-B0A6-CA5E153C97F6}" destId="{F462DF8B-6B03-41BE-B43E-800A56A5B3F1}" srcOrd="0" destOrd="0" presId="urn:microsoft.com/office/officeart/2005/8/layout/radial5"/>
    <dgm:cxn modelId="{0E226282-A191-49A0-91EA-3182E566D02F}" type="presParOf" srcId="{4677DDB3-AC4C-464C-B0A6-CA5E153C97F6}" destId="{504D47E8-5648-46B9-9373-7181EC5380C9}" srcOrd="1" destOrd="0" presId="urn:microsoft.com/office/officeart/2005/8/layout/radial5"/>
    <dgm:cxn modelId="{74591BED-A3B7-4CFC-8238-0875335B54A8}" type="presParOf" srcId="{504D47E8-5648-46B9-9373-7181EC5380C9}" destId="{DBEA04CF-9B7C-4988-998A-B06DA225C023}" srcOrd="0" destOrd="0" presId="urn:microsoft.com/office/officeart/2005/8/layout/radial5"/>
    <dgm:cxn modelId="{F6B7528F-441F-44B1-A8CB-7473A0711B0D}" type="presParOf" srcId="{4677DDB3-AC4C-464C-B0A6-CA5E153C97F6}" destId="{437BBCD7-3628-4CC9-8B89-F493762A0A9F}" srcOrd="2" destOrd="0" presId="urn:microsoft.com/office/officeart/2005/8/layout/radial5"/>
    <dgm:cxn modelId="{91B114B0-2778-4CF5-B79E-BD6EAC08EBA9}" type="presParOf" srcId="{4677DDB3-AC4C-464C-B0A6-CA5E153C97F6}" destId="{18AE9004-8FE6-4F5B-8CBF-20FA174B5975}" srcOrd="3" destOrd="0" presId="urn:microsoft.com/office/officeart/2005/8/layout/radial5"/>
    <dgm:cxn modelId="{7FA6B332-84A3-4ECD-B92D-1EB36E95C7A5}" type="presParOf" srcId="{18AE9004-8FE6-4F5B-8CBF-20FA174B5975}" destId="{7739EB58-CE34-401B-8C51-48860D7A1660}" srcOrd="0" destOrd="0" presId="urn:microsoft.com/office/officeart/2005/8/layout/radial5"/>
    <dgm:cxn modelId="{68B3DF78-4982-4DF8-8890-ECB797394037}" type="presParOf" srcId="{4677DDB3-AC4C-464C-B0A6-CA5E153C97F6}" destId="{06D8C5A0-E7E5-4A3B-84E2-156D853A274C}" srcOrd="4" destOrd="0" presId="urn:microsoft.com/office/officeart/2005/8/layout/radial5"/>
    <dgm:cxn modelId="{9E9D6F18-8497-499B-9ECA-9A05141BB3A0}" type="presParOf" srcId="{4677DDB3-AC4C-464C-B0A6-CA5E153C97F6}" destId="{4F567D5A-F649-416C-9F4F-F1666CD6DAED}" srcOrd="5" destOrd="0" presId="urn:microsoft.com/office/officeart/2005/8/layout/radial5"/>
    <dgm:cxn modelId="{5BC74E6A-6460-43B1-9500-11FB6A2FB22D}" type="presParOf" srcId="{4F567D5A-F649-416C-9F4F-F1666CD6DAED}" destId="{0EA3E284-A71B-442F-B37F-E21AA5E53820}" srcOrd="0" destOrd="0" presId="urn:microsoft.com/office/officeart/2005/8/layout/radial5"/>
    <dgm:cxn modelId="{8980B5E0-FA1F-41B8-BE43-EBF50A5631A7}" type="presParOf" srcId="{4677DDB3-AC4C-464C-B0A6-CA5E153C97F6}" destId="{9277782A-FB05-4363-8DE0-0FE55906615C}" srcOrd="6" destOrd="0" presId="urn:microsoft.com/office/officeart/2005/8/layout/radial5"/>
    <dgm:cxn modelId="{496296E2-B7DF-4FA5-920A-CDBFF9ADD665}" type="presParOf" srcId="{4677DDB3-AC4C-464C-B0A6-CA5E153C97F6}" destId="{A27BC216-87A0-47A1-981F-4A0CB9139A8A}" srcOrd="7" destOrd="0" presId="urn:microsoft.com/office/officeart/2005/8/layout/radial5"/>
    <dgm:cxn modelId="{7D5FA646-CA5E-49D2-9E1E-A6C1F4E27BD6}" type="presParOf" srcId="{A27BC216-87A0-47A1-981F-4A0CB9139A8A}" destId="{26D73599-A61F-4E37-BD91-04DB091874F8}" srcOrd="0" destOrd="0" presId="urn:microsoft.com/office/officeart/2005/8/layout/radial5"/>
    <dgm:cxn modelId="{081939C3-FA0B-4A2D-9606-879C405C7D31}" type="presParOf" srcId="{4677DDB3-AC4C-464C-B0A6-CA5E153C97F6}" destId="{E3DC612F-97DF-4A0B-97A7-EFAC550D3D41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2DF8B-6B03-41BE-B43E-800A56A5B3F1}">
      <dsp:nvSpPr>
        <dsp:cNvPr id="0" name=""/>
        <dsp:cNvSpPr/>
      </dsp:nvSpPr>
      <dsp:spPr>
        <a:xfrm>
          <a:off x="1420238" y="1431317"/>
          <a:ext cx="1301638" cy="1281341"/>
        </a:xfrm>
        <a:prstGeom prst="ellipse">
          <a:avLst/>
        </a:prstGeom>
        <a:solidFill>
          <a:srgbClr val="FF99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特点</a:t>
          </a:r>
        </a:p>
      </dsp:txBody>
      <dsp:txXfrm>
        <a:off x="1610858" y="1618965"/>
        <a:ext cx="920398" cy="906045"/>
      </dsp:txXfrm>
    </dsp:sp>
    <dsp:sp modelId="{504D47E8-5648-46B9-9373-7181EC5380C9}">
      <dsp:nvSpPr>
        <dsp:cNvPr id="0" name=""/>
        <dsp:cNvSpPr/>
      </dsp:nvSpPr>
      <dsp:spPr>
        <a:xfrm rot="16159867">
          <a:off x="1998918" y="1126228"/>
          <a:ext cx="126613" cy="378552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sp:txBody>
      <dsp:txXfrm rot="10800000">
        <a:off x="2018132" y="1220929"/>
        <a:ext cx="88629" cy="227132"/>
      </dsp:txXfrm>
    </dsp:sp>
    <dsp:sp modelId="{437BBCD7-3628-4CC9-8B89-F493762A0A9F}">
      <dsp:nvSpPr>
        <dsp:cNvPr id="0" name=""/>
        <dsp:cNvSpPr/>
      </dsp:nvSpPr>
      <dsp:spPr>
        <a:xfrm>
          <a:off x="1362728" y="-111177"/>
          <a:ext cx="1380902" cy="1303699"/>
        </a:xfrm>
        <a:prstGeom prst="ellipse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灵敏度高</a:t>
          </a:r>
        </a:p>
      </dsp:txBody>
      <dsp:txXfrm>
        <a:off x="1564956" y="79745"/>
        <a:ext cx="976446" cy="921855"/>
      </dsp:txXfrm>
    </dsp:sp>
    <dsp:sp modelId="{18AE9004-8FE6-4F5B-8CBF-20FA174B5975}">
      <dsp:nvSpPr>
        <dsp:cNvPr id="0" name=""/>
        <dsp:cNvSpPr/>
      </dsp:nvSpPr>
      <dsp:spPr>
        <a:xfrm rot="20520000">
          <a:off x="2736269" y="1645869"/>
          <a:ext cx="127428" cy="378552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sp:txBody>
      <dsp:txXfrm>
        <a:off x="2737205" y="1727486"/>
        <a:ext cx="89200" cy="227132"/>
      </dsp:txXfrm>
    </dsp:sp>
    <dsp:sp modelId="{06D8C5A0-E7E5-4A3B-84E2-156D853A274C}">
      <dsp:nvSpPr>
        <dsp:cNvPr id="0" name=""/>
        <dsp:cNvSpPr/>
      </dsp:nvSpPr>
      <dsp:spPr>
        <a:xfrm>
          <a:off x="2884770" y="920390"/>
          <a:ext cx="1341621" cy="1338493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响应速度快</a:t>
          </a:r>
        </a:p>
      </dsp:txBody>
      <dsp:txXfrm>
        <a:off x="3081246" y="1116408"/>
        <a:ext cx="948669" cy="946457"/>
      </dsp:txXfrm>
    </dsp:sp>
    <dsp:sp modelId="{4F567D5A-F649-416C-9F4F-F1666CD6DAED}">
      <dsp:nvSpPr>
        <dsp:cNvPr id="0" name=""/>
        <dsp:cNvSpPr/>
      </dsp:nvSpPr>
      <dsp:spPr>
        <a:xfrm rot="3240000">
          <a:off x="2453303" y="2474958"/>
          <a:ext cx="96092" cy="378552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sp:txBody>
      <dsp:txXfrm>
        <a:off x="2459245" y="2539007"/>
        <a:ext cx="67264" cy="227132"/>
      </dsp:txXfrm>
    </dsp:sp>
    <dsp:sp modelId="{9277782A-FB05-4363-8DE0-0FE55906615C}">
      <dsp:nvSpPr>
        <dsp:cNvPr id="0" name=""/>
        <dsp:cNvSpPr/>
      </dsp:nvSpPr>
      <dsp:spPr>
        <a:xfrm>
          <a:off x="2274371" y="2587254"/>
          <a:ext cx="1428343" cy="1495091"/>
        </a:xfrm>
        <a:prstGeom prst="ellipse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带宽宽</a:t>
          </a:r>
        </a:p>
      </dsp:txBody>
      <dsp:txXfrm>
        <a:off x="2483547" y="2806205"/>
        <a:ext cx="1009991" cy="1057189"/>
      </dsp:txXfrm>
    </dsp:sp>
    <dsp:sp modelId="{A27BC216-87A0-47A1-981F-4A0CB9139A8A}">
      <dsp:nvSpPr>
        <dsp:cNvPr id="0" name=""/>
        <dsp:cNvSpPr/>
      </dsp:nvSpPr>
      <dsp:spPr>
        <a:xfrm rot="7560000">
          <a:off x="1557893" y="2499799"/>
          <a:ext cx="129646" cy="378552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sp:txBody>
      <dsp:txXfrm rot="10800000">
        <a:off x="1588771" y="2559776"/>
        <a:ext cx="90752" cy="227132"/>
      </dsp:txXfrm>
    </dsp:sp>
    <dsp:sp modelId="{E3DC612F-97DF-4A0B-97A7-EFAC550D3D41}">
      <dsp:nvSpPr>
        <dsp:cNvPr id="0" name=""/>
        <dsp:cNvSpPr/>
      </dsp:nvSpPr>
      <dsp:spPr>
        <a:xfrm>
          <a:off x="449653" y="2677728"/>
          <a:ext cx="1407835" cy="1314143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低噪声</a:t>
          </a:r>
        </a:p>
      </dsp:txBody>
      <dsp:txXfrm>
        <a:off x="655826" y="2870180"/>
        <a:ext cx="995489" cy="929239"/>
      </dsp:txXfrm>
    </dsp:sp>
    <dsp:sp modelId="{A3070811-D8DA-409E-818E-79E3E82F4E6E}">
      <dsp:nvSpPr>
        <dsp:cNvPr id="0" name=""/>
        <dsp:cNvSpPr/>
      </dsp:nvSpPr>
      <dsp:spPr>
        <a:xfrm rot="11880000">
          <a:off x="1307798" y="1651933"/>
          <a:ext cx="105986" cy="378552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sp:txBody>
      <dsp:txXfrm rot="10800000">
        <a:off x="1338816" y="1732556"/>
        <a:ext cx="74190" cy="227132"/>
      </dsp:txXfrm>
    </dsp:sp>
    <dsp:sp modelId="{A33B6F7C-77D6-414E-AF80-560A30F5FD63}">
      <dsp:nvSpPr>
        <dsp:cNvPr id="0" name=""/>
        <dsp:cNvSpPr/>
      </dsp:nvSpPr>
      <dsp:spPr>
        <a:xfrm>
          <a:off x="-125278" y="884995"/>
          <a:ext cx="1423622" cy="1409282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内增益</a:t>
          </a:r>
        </a:p>
      </dsp:txBody>
      <dsp:txXfrm>
        <a:off x="83207" y="1091380"/>
        <a:ext cx="1006652" cy="9965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2DF8B-6B03-41BE-B43E-800A56A5B3F1}">
      <dsp:nvSpPr>
        <dsp:cNvPr id="0" name=""/>
        <dsp:cNvSpPr/>
      </dsp:nvSpPr>
      <dsp:spPr>
        <a:xfrm>
          <a:off x="1228569" y="1173571"/>
          <a:ext cx="1206957" cy="1188137"/>
        </a:xfrm>
        <a:prstGeom prst="ellipse">
          <a:avLst/>
        </a:prstGeom>
        <a:solidFill>
          <a:srgbClr val="FF99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应用</a:t>
          </a:r>
        </a:p>
      </dsp:txBody>
      <dsp:txXfrm>
        <a:off x="1405324" y="1347570"/>
        <a:ext cx="853447" cy="840139"/>
      </dsp:txXfrm>
    </dsp:sp>
    <dsp:sp modelId="{504D47E8-5648-46B9-9373-7181EC5380C9}">
      <dsp:nvSpPr>
        <dsp:cNvPr id="0" name=""/>
        <dsp:cNvSpPr/>
      </dsp:nvSpPr>
      <dsp:spPr>
        <a:xfrm rot="16149834">
          <a:off x="1784667" y="945886"/>
          <a:ext cx="75409" cy="317491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sp:txBody>
      <dsp:txXfrm rot="10800000">
        <a:off x="1796144" y="1020694"/>
        <a:ext cx="52786" cy="190495"/>
      </dsp:txXfrm>
    </dsp:sp>
    <dsp:sp modelId="{437BBCD7-3628-4CC9-8B89-F493762A0A9F}">
      <dsp:nvSpPr>
        <dsp:cNvPr id="0" name=""/>
        <dsp:cNvSpPr/>
      </dsp:nvSpPr>
      <dsp:spPr>
        <a:xfrm>
          <a:off x="1234244" y="-61995"/>
          <a:ext cx="1158161" cy="1093412"/>
        </a:xfrm>
        <a:prstGeom prst="ellipse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微弱光检测</a:t>
          </a:r>
        </a:p>
      </dsp:txBody>
      <dsp:txXfrm>
        <a:off x="1403853" y="98131"/>
        <a:ext cx="818943" cy="773160"/>
      </dsp:txXfrm>
    </dsp:sp>
    <dsp:sp modelId="{18AE9004-8FE6-4F5B-8CBF-20FA174B5975}">
      <dsp:nvSpPr>
        <dsp:cNvPr id="0" name=""/>
        <dsp:cNvSpPr/>
      </dsp:nvSpPr>
      <dsp:spPr>
        <a:xfrm>
          <a:off x="2466699" y="1608894"/>
          <a:ext cx="75098" cy="317491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sp:txBody>
      <dsp:txXfrm>
        <a:off x="2466699" y="1672392"/>
        <a:ext cx="52569" cy="190495"/>
      </dsp:txXfrm>
    </dsp:sp>
    <dsp:sp modelId="{06D8C5A0-E7E5-4A3B-84E2-156D853A274C}">
      <dsp:nvSpPr>
        <dsp:cNvPr id="0" name=""/>
        <dsp:cNvSpPr/>
      </dsp:nvSpPr>
      <dsp:spPr>
        <a:xfrm>
          <a:off x="2577222" y="1206343"/>
          <a:ext cx="1125217" cy="1122593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激光测距</a:t>
          </a:r>
        </a:p>
      </dsp:txBody>
      <dsp:txXfrm>
        <a:off x="2742006" y="1370743"/>
        <a:ext cx="795649" cy="793793"/>
      </dsp:txXfrm>
    </dsp:sp>
    <dsp:sp modelId="{4F567D5A-F649-416C-9F4F-F1666CD6DAED}">
      <dsp:nvSpPr>
        <dsp:cNvPr id="0" name=""/>
        <dsp:cNvSpPr/>
      </dsp:nvSpPr>
      <dsp:spPr>
        <a:xfrm rot="5400000">
          <a:off x="1792534" y="2275280"/>
          <a:ext cx="79026" cy="317491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sp:txBody>
      <dsp:txXfrm>
        <a:off x="1804388" y="2326924"/>
        <a:ext cx="55318" cy="190495"/>
      </dsp:txXfrm>
    </dsp:sp>
    <dsp:sp modelId="{9277782A-FB05-4363-8DE0-0FE55906615C}">
      <dsp:nvSpPr>
        <dsp:cNvPr id="0" name=""/>
        <dsp:cNvSpPr/>
      </dsp:nvSpPr>
      <dsp:spPr>
        <a:xfrm>
          <a:off x="1280560" y="2510816"/>
          <a:ext cx="1102974" cy="1129214"/>
        </a:xfrm>
        <a:prstGeom prst="ellipse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光纤通信</a:t>
          </a:r>
        </a:p>
      </dsp:txBody>
      <dsp:txXfrm>
        <a:off x="1442087" y="2676186"/>
        <a:ext cx="779920" cy="798474"/>
      </dsp:txXfrm>
    </dsp:sp>
    <dsp:sp modelId="{A27BC216-87A0-47A1-981F-4A0CB9139A8A}">
      <dsp:nvSpPr>
        <dsp:cNvPr id="0" name=""/>
        <dsp:cNvSpPr/>
      </dsp:nvSpPr>
      <dsp:spPr>
        <a:xfrm rot="10800000">
          <a:off x="1090690" y="1608894"/>
          <a:ext cx="97434" cy="317491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800" b="1" kern="1200">
            <a:solidFill>
              <a:schemeClr val="tx1"/>
            </a:solidFill>
            <a:latin typeface="微软雅黑" pitchFamily="34" charset="-122"/>
            <a:ea typeface="微软雅黑" pitchFamily="34" charset="-122"/>
            <a:cs typeface="Times New Roman" pitchFamily="18" charset="0"/>
          </a:endParaRPr>
        </a:p>
      </dsp:txBody>
      <dsp:txXfrm rot="10800000">
        <a:off x="1119920" y="1672392"/>
        <a:ext cx="68204" cy="190495"/>
      </dsp:txXfrm>
    </dsp:sp>
    <dsp:sp modelId="{E3DC612F-97DF-4A0B-97A7-EFAC550D3D41}">
      <dsp:nvSpPr>
        <dsp:cNvPr id="0" name=""/>
        <dsp:cNvSpPr/>
      </dsp:nvSpPr>
      <dsp:spPr>
        <a:xfrm>
          <a:off x="3798" y="1216554"/>
          <a:ext cx="1040932" cy="1102171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rPr>
            <a:t>光纤传感</a:t>
          </a:r>
        </a:p>
      </dsp:txBody>
      <dsp:txXfrm>
        <a:off x="156239" y="1377963"/>
        <a:ext cx="736050" cy="7793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4699" y="1262658"/>
            <a:ext cx="10288191" cy="2686050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699" y="4052293"/>
            <a:ext cx="10288191" cy="1862732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300"/>
            </a:lvl2pPr>
            <a:lvl3pPr marL="1028700" indent="0" algn="ctr">
              <a:buNone/>
              <a:defRPr sz="2000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1E8A86-479E-4030-A0CC-E1EA0DE8950C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C5FD85-CA04-457A-8D75-DB9AC19E3F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9A90BE-D3C5-46B8-B156-5F707934EDC3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6D729-0350-4F97-9EB5-63A95957CB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5939" y="1923456"/>
            <a:ext cx="11831420" cy="3209329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5939" y="5163147"/>
            <a:ext cx="11831420" cy="1687710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80C14-5AAC-4C37-963D-0479EFB63A61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1F351-5392-4178-BB88-63F4CA0CF7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3084" y="2053828"/>
            <a:ext cx="5829975" cy="4895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4529" y="2053828"/>
            <a:ext cx="5829975" cy="4895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A5703-0D82-471C-BFBB-276330455C4D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BAD06D-1AA0-4A51-8BA7-94D6B72E0AE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410766"/>
            <a:ext cx="11831420" cy="149125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872" y="1891308"/>
            <a:ext cx="580318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872" y="2818209"/>
            <a:ext cx="5803182" cy="41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944529" y="1891308"/>
            <a:ext cx="583176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944529" y="2818209"/>
            <a:ext cx="5831762" cy="4145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C0195F-8FEF-4889-BEC7-6EFCD2B0D899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912A8-4364-4215-9F25-58FD692F77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A802F2-BAF1-443F-A0A8-F98AEC26163B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C0147C-FD0A-4FFC-BB91-203016FD5D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84823-9E80-4957-8635-CE7834CA2B5C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FA9B26-9EED-4510-98EC-7884BA55625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31762" y="1110854"/>
            <a:ext cx="6944529" cy="5482828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E6BE7-3FA8-48D0-9453-E00D7E440085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6AC3D-2EDE-4E79-9AA0-F5CA03A47E7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831762" y="1110854"/>
            <a:ext cx="6944529" cy="5482828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14350" indent="0">
              <a:buNone/>
              <a:defRPr sz="3200"/>
            </a:lvl2pPr>
            <a:lvl3pPr marL="1028700" indent="0">
              <a:buNone/>
              <a:defRPr sz="2700"/>
            </a:lvl3pPr>
            <a:lvl4pPr marL="1543050" indent="0">
              <a:buNone/>
              <a:defRPr sz="2300"/>
            </a:lvl4pPr>
            <a:lvl5pPr marL="2057400" indent="0">
              <a:buNone/>
              <a:defRPr sz="2300"/>
            </a:lvl5pPr>
            <a:lvl6pPr marL="2571750" indent="0">
              <a:buNone/>
              <a:defRPr sz="2300"/>
            </a:lvl6pPr>
            <a:lvl7pPr marL="3086100" indent="0">
              <a:buNone/>
              <a:defRPr sz="2300"/>
            </a:lvl7pPr>
            <a:lvl8pPr marL="3600450" indent="0">
              <a:buNone/>
              <a:defRPr sz="2300"/>
            </a:lvl8pPr>
            <a:lvl9pPr marL="4114800" indent="0">
              <a:buNone/>
              <a:defRPr sz="23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9561C1-9857-40D8-AE33-879E8AA31112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646075-D531-4475-ABFE-89A5D6F42C5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F48790-7109-4973-82BF-0173E3FF90BD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54CBB-4255-4CA8-895E-77CC15C8286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16649" y="410766"/>
            <a:ext cx="2957855" cy="65383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43084" y="410766"/>
            <a:ext cx="8702095" cy="653831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9D8D5-9FB9-459C-9EC6-3A91D8BB0BDE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CB772B-C552-4168-BC73-230F3A26C44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942975" y="411163"/>
            <a:ext cx="11831638" cy="149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942975" y="2054225"/>
            <a:ext cx="11831638" cy="489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42975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4EF524B-FBC7-4E4F-A33C-0282EB4B8D70}" type="datetimeFigureOut">
              <a:rPr lang="zh-CN" altLang="en-US"/>
              <a:pPr>
                <a:defRPr/>
              </a:pPr>
              <a:t>2022/9/29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543425" y="7151688"/>
            <a:ext cx="4630738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688513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368951-AE96-4445-B3B9-E2DDD2A2F6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2pPr>
      <a:lvl3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3pPr>
      <a:lvl4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4pPr>
      <a:lvl5pPr algn="l" defTabSz="1028700" rtl="0" fontAlgn="base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5pPr>
      <a:lvl6pPr marL="4572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6pPr>
      <a:lvl7pPr marL="9144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7pPr>
      <a:lvl8pPr marL="13716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8pPr>
      <a:lvl9pPr marL="18288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9pPr>
    </p:titleStyle>
    <p:bodyStyle>
      <a:lvl1pPr marL="257175" indent="-257175" algn="l" defTabSz="1028700" rtl="0" fontAlgn="base">
        <a:lnSpc>
          <a:spcPct val="90000"/>
        </a:lnSpc>
        <a:spcBef>
          <a:spcPts val="1125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fontAlgn="base">
        <a:lnSpc>
          <a:spcPct val="90000"/>
        </a:lnSpc>
        <a:spcBef>
          <a:spcPts val="563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microsoft.com/office/2007/relationships/diagramDrawing" Target="../diagrams/drawing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diagramColors" Target="../diagrams/colors2.xml"/><Relationship Id="rId5" Type="http://schemas.openxmlformats.org/officeDocument/2006/relationships/diagramColors" Target="../diagrams/colors1.xml"/><Relationship Id="rId10" Type="http://schemas.openxmlformats.org/officeDocument/2006/relationships/diagramQuickStyle" Target="../diagrams/quickStyle2.xml"/><Relationship Id="rId4" Type="http://schemas.openxmlformats.org/officeDocument/2006/relationships/diagramQuickStyle" Target="../diagrams/quickStyle1.xml"/><Relationship Id="rId9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5" Type="http://schemas.openxmlformats.org/officeDocument/2006/relationships/hyperlink" Target="Silicon-Avalanche-Photodiodes.pdf" TargetMode="External"/><Relationship Id="rId4" Type="http://schemas.openxmlformats.org/officeDocument/2006/relationships/image" Target="../media/image11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4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2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1053348" y="2672562"/>
            <a:ext cx="2686050" cy="1178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kumimoji="1" lang="en-US" altLang="zh-CN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kumimoji="1" lang="zh-CN" altLang="en-US" sz="72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</a:t>
            </a:r>
          </a:p>
        </p:txBody>
      </p:sp>
      <p:sp>
        <p:nvSpPr>
          <p:cNvPr id="3" name="矩形 2"/>
          <p:cNvSpPr/>
          <p:nvPr/>
        </p:nvSpPr>
        <p:spPr>
          <a:xfrm>
            <a:off x="1460180" y="1793603"/>
            <a:ext cx="1723550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000" dirty="0">
                <a:latin typeface="Microsoft Yi Baiti" panose="03000500000000000000" pitchFamily="66" charset="0"/>
                <a:ea typeface="冬青黑体简体中文 W6" panose="020B0600000000000000" pitchFamily="34" charset="-122"/>
                <a:cs typeface="阿里巴巴普惠体 M" panose="00020600040101010101" pitchFamily="18" charset="-122"/>
              </a:rPr>
              <a:t>光电技术</a:t>
            </a:r>
            <a:endParaRPr lang="en-US" altLang="zh-CN" sz="3000" dirty="0">
              <a:latin typeface="Microsoft Yi Baiti" panose="03000500000000000000" pitchFamily="66" charset="0"/>
              <a:ea typeface="Microsoft Yi Baiti" panose="03000500000000000000" pitchFamily="66" charset="0"/>
              <a:cs typeface="阿里巴巴普惠体 M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5441AE38-A11D-4793-BDA3-DCA36976B496}"/>
              </a:ext>
            </a:extLst>
          </p:cNvPr>
          <p:cNvSpPr/>
          <p:nvPr/>
        </p:nvSpPr>
        <p:spPr>
          <a:xfrm>
            <a:off x="3936558" y="2705900"/>
            <a:ext cx="9588706" cy="1122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光伏探测器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B4AF438E-361B-42EE-9E70-DDB98227F7D7}"/>
              </a:ext>
            </a:extLst>
          </p:cNvPr>
          <p:cNvSpPr/>
          <p:nvPr/>
        </p:nvSpPr>
        <p:spPr>
          <a:xfrm>
            <a:off x="3190512" y="1836129"/>
            <a:ext cx="1238613" cy="4770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Technology</a:t>
            </a:r>
            <a:endParaRPr lang="zh-CN" altLang="en-US" sz="1200" b="1" spc="40" dirty="0">
              <a:ln w="22225">
                <a:solidFill>
                  <a:schemeClr val="accent2"/>
                </a:solidFill>
                <a:prstDash val="solid"/>
              </a:ln>
              <a:latin typeface="Times New Roman" panose="02020603050405020304" pitchFamily="18" charset="0"/>
              <a:ea typeface="Yu Gothic UI" panose="020B05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6" name="直接连接符 58">
            <a:extLst>
              <a:ext uri="{FF2B5EF4-FFF2-40B4-BE49-F238E27FC236}">
                <a16:creationId xmlns:a16="http://schemas.microsoft.com/office/drawing/2014/main" xmlns="" id="{19E605B0-7A69-4DF3-BD2D-6C50DF5A8F84}"/>
              </a:ext>
            </a:extLst>
          </p:cNvPr>
          <p:cNvCxnSpPr>
            <a:cxnSpLocks/>
          </p:cNvCxnSpPr>
          <p:nvPr/>
        </p:nvCxnSpPr>
        <p:spPr>
          <a:xfrm>
            <a:off x="1209675" y="4175630"/>
            <a:ext cx="4795114" cy="11690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1C44C9C7-7166-4DA9-8A1A-D2BB836F3F54}"/>
              </a:ext>
            </a:extLst>
          </p:cNvPr>
          <p:cNvSpPr/>
          <p:nvPr/>
        </p:nvSpPr>
        <p:spPr>
          <a:xfrm>
            <a:off x="1143000" y="4512279"/>
            <a:ext cx="7159528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400" dirty="0">
                <a:solidFill>
                  <a:srgbClr val="1271FE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cs typeface="Times New Roman" panose="02020603050405020304" pitchFamily="18" charset="0"/>
              </a:rPr>
              <a:t>Photovoltaic detector</a:t>
            </a:r>
            <a:endParaRPr lang="zh-CN" alt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rgbClr val="1271FE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AE184DEE-FEA5-431F-856D-B2DD56F698B6}"/>
              </a:ext>
            </a:extLst>
          </p:cNvPr>
          <p:cNvSpPr/>
          <p:nvPr/>
        </p:nvSpPr>
        <p:spPr>
          <a:xfrm>
            <a:off x="1209675" y="1869039"/>
            <a:ext cx="167523" cy="403125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雪崩光电二极管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雪崩光电二极管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4.5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雪崩光电二极管结构与工作原理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8443898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雪崩光电二极管结构与工作原理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4.5.1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4.5.1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85622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图示 16"/>
          <p:cNvGraphicFramePr/>
          <p:nvPr>
            <p:extLst>
              <p:ext uri="{D42A27DB-BD31-4B8C-83A1-F6EECF244321}">
                <p14:modId xmlns:p14="http://schemas.microsoft.com/office/powerpoint/2010/main" val="3865317813"/>
              </p:ext>
            </p:extLst>
          </p:nvPr>
        </p:nvGraphicFramePr>
        <p:xfrm>
          <a:off x="1081088" y="1795529"/>
          <a:ext cx="4101114" cy="3941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4444543" y="2246094"/>
            <a:ext cx="1290833" cy="5476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lvl="1" indent="0" eaLnBrk="0" hangingPunct="0">
              <a:spcBef>
                <a:spcPct val="20000"/>
              </a:spcBef>
              <a:defRPr/>
            </a:pPr>
            <a:r>
              <a:rPr lang="zh-CN" altLang="en-US" sz="2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高速</a:t>
            </a:r>
            <a:r>
              <a:rPr lang="en-US" altLang="zh-CN" sz="2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(ns)</a:t>
            </a:r>
            <a:endParaRPr lang="zh-CN" altLang="en-US" sz="2400" b="1" dirty="0">
              <a:solidFill>
                <a:srgbClr val="0000CC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455080" y="2119320"/>
            <a:ext cx="1090089" cy="67514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lvl="1" indent="0" algn="ctr" eaLnBrk="0" hangingPunct="0">
              <a:spcBef>
                <a:spcPct val="20000"/>
              </a:spcBef>
              <a:defRPr/>
            </a:pPr>
            <a:r>
              <a:rPr lang="zh-CN" altLang="en-US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内增益大于</a:t>
            </a:r>
            <a:r>
              <a:rPr lang="en-US" altLang="zh-CN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100</a:t>
            </a:r>
            <a:endParaRPr lang="zh-CN" altLang="en-US" b="1" dirty="0">
              <a:solidFill>
                <a:srgbClr val="0000CC"/>
              </a:solidFill>
              <a:latin typeface="+mn-lt"/>
              <a:ea typeface="+mn-ea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 bwMode="auto">
          <a:xfrm>
            <a:off x="3637554" y="6081579"/>
            <a:ext cx="7043416" cy="57047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354013" lvl="1" indent="-354013" eaLnBrk="0" hangingPunct="0">
              <a:spcBef>
                <a:spcPct val="20000"/>
              </a:spcBef>
              <a:defRPr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最常用的商用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APDs: Si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基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"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reach through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endParaRPr lang="zh-CN" altLang="en-US" sz="2800" b="1" dirty="0">
              <a:latin typeface="+mn-lt"/>
              <a:ea typeface="+mn-ea"/>
            </a:endParaRPr>
          </a:p>
        </p:txBody>
      </p:sp>
      <p:sp>
        <p:nvSpPr>
          <p:cNvPr id="14" name="内容占位符 2"/>
          <p:cNvSpPr txBox="1">
            <a:spLocks/>
          </p:cNvSpPr>
          <p:nvPr/>
        </p:nvSpPr>
        <p:spPr bwMode="auto">
          <a:xfrm>
            <a:off x="4844825" y="6652049"/>
            <a:ext cx="4418012" cy="584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lvl="2" eaLnBrk="0" hangingPunct="0">
              <a:spcBef>
                <a:spcPct val="20000"/>
              </a:spcBef>
              <a:defRPr/>
            </a:pPr>
            <a:r>
              <a:rPr lang="zh-CN" altLang="en-US" sz="32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达通型雪崩光电二极管</a:t>
            </a:r>
            <a:endParaRPr lang="zh-CN" altLang="en-US" sz="3200" b="1" dirty="0">
              <a:solidFill>
                <a:srgbClr val="0000CC"/>
              </a:solidFill>
              <a:latin typeface="+mn-lt"/>
              <a:ea typeface="+mn-ea"/>
            </a:endParaRPr>
          </a:p>
        </p:txBody>
      </p:sp>
      <p:pic>
        <p:nvPicPr>
          <p:cNvPr id="15" name="Picture 6" descr="C:\Documents and Settings\Administrator\Application Data\Tencent\Users\729963870\QQ\WinTemp\RichOle\6E7@)DV]4MX}OJS$2{B9`LQ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884967" y="2246094"/>
            <a:ext cx="2548589" cy="2437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内容占位符 2"/>
          <p:cNvSpPr txBox="1">
            <a:spLocks/>
          </p:cNvSpPr>
          <p:nvPr/>
        </p:nvSpPr>
        <p:spPr bwMode="auto">
          <a:xfrm>
            <a:off x="5355997" y="962213"/>
            <a:ext cx="3395663" cy="5476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lvl="1" indent="0" eaLnBrk="0" hangingPunct="0">
              <a:spcBef>
                <a:spcPct val="20000"/>
              </a:spcBef>
              <a:defRPr/>
            </a:pP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雪崩光电二极管</a:t>
            </a:r>
            <a:endParaRPr lang="zh-CN" altLang="en-US" sz="3600" b="1" dirty="0">
              <a:solidFill>
                <a:srgbClr val="0000CC"/>
              </a:solidFill>
              <a:latin typeface="+mn-lt"/>
              <a:ea typeface="+mn-ea"/>
            </a:endParaRPr>
          </a:p>
        </p:txBody>
      </p:sp>
      <p:graphicFrame>
        <p:nvGraphicFramePr>
          <p:cNvPr id="18" name="图示 17"/>
          <p:cNvGraphicFramePr/>
          <p:nvPr>
            <p:extLst>
              <p:ext uri="{D42A27DB-BD31-4B8C-83A1-F6EECF244321}">
                <p14:modId xmlns:p14="http://schemas.microsoft.com/office/powerpoint/2010/main" val="3608063805"/>
              </p:ext>
            </p:extLst>
          </p:nvPr>
        </p:nvGraphicFramePr>
        <p:xfrm>
          <a:off x="8827851" y="1948115"/>
          <a:ext cx="3706238" cy="3553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9" name="内容占位符 2"/>
          <p:cNvSpPr txBox="1">
            <a:spLocks/>
          </p:cNvSpPr>
          <p:nvPr/>
        </p:nvSpPr>
        <p:spPr bwMode="auto">
          <a:xfrm>
            <a:off x="4111856" y="5339827"/>
            <a:ext cx="1290833" cy="5476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lvl="1" indent="0" eaLnBrk="0" hangingPunct="0">
              <a:spcBef>
                <a:spcPct val="20000"/>
              </a:spcBef>
              <a:defRPr/>
            </a:pPr>
            <a:r>
              <a:rPr lang="en-US" altLang="zh-CN" sz="24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100GHz</a:t>
            </a:r>
            <a:endParaRPr lang="zh-CN" altLang="en-US" sz="2400" b="1" dirty="0">
              <a:solidFill>
                <a:srgbClr val="0000CC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xmlns="" id="{8A5A814C-C9D4-432D-A9DE-BA2A9B99DAF1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3" name="文本框 60">
              <a:extLst>
                <a:ext uri="{FF2B5EF4-FFF2-40B4-BE49-F238E27FC236}">
                  <a16:creationId xmlns:a16="http://schemas.microsoft.com/office/drawing/2014/main" xmlns="" id="{890030ED-1CC0-46BD-BCD2-47D7F556B4B5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雪崩光电二极管结构与工作原理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D2D54114-50FC-48AC-9261-5B2AC0148EBD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2D5FB2C2-7EA0-4644-A209-6495DCA3CBA7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xmlns="" id="{7B78018C-2ECA-49FC-A27E-88009E9B1942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4.5.1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7" name="直接连接符 58">
              <a:extLst>
                <a:ext uri="{FF2B5EF4-FFF2-40B4-BE49-F238E27FC236}">
                  <a16:creationId xmlns:a16="http://schemas.microsoft.com/office/drawing/2014/main" xmlns="" id="{98659E23-416A-418A-838D-5055E29639D5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xmlns="" id="{6C3257C8-6F5C-4571-854B-EAF2BC61606B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xmlns="" id="{312570CD-B596-4E15-AC41-B30B27C6205C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AsOne/>
      </p:bldGraphic>
      <p:bldP spid="10" grpId="0" animBg="1"/>
      <p:bldP spid="11" grpId="0" animBg="1"/>
      <p:bldP spid="13" grpId="0" animBg="1"/>
      <p:bldP spid="14" grpId="0" animBg="1"/>
      <p:bldP spid="16" grpId="0" animBg="1"/>
      <p:bldGraphic spid="18" grpId="0">
        <p:bldAsOne/>
      </p:bldGraphic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406350" y="2195513"/>
            <a:ext cx="3213100" cy="2008187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1800"/>
          </a:p>
        </p:txBody>
      </p:sp>
      <p:sp>
        <p:nvSpPr>
          <p:cNvPr id="4" name="矩形 3"/>
          <p:cNvSpPr/>
          <p:nvPr/>
        </p:nvSpPr>
        <p:spPr>
          <a:xfrm>
            <a:off x="8619450" y="2195513"/>
            <a:ext cx="146050" cy="200818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1800"/>
          </a:p>
        </p:txBody>
      </p:sp>
      <p:sp>
        <p:nvSpPr>
          <p:cNvPr id="5" name="矩形 4"/>
          <p:cNvSpPr/>
          <p:nvPr/>
        </p:nvSpPr>
        <p:spPr>
          <a:xfrm>
            <a:off x="8290838" y="2195513"/>
            <a:ext cx="328612" cy="2008187"/>
          </a:xfrm>
          <a:prstGeom prst="rect">
            <a:avLst/>
          </a:prstGeom>
          <a:solidFill>
            <a:srgbClr val="00CC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1800"/>
          </a:p>
        </p:txBody>
      </p:sp>
      <p:sp>
        <p:nvSpPr>
          <p:cNvPr id="6" name="矩形 6"/>
          <p:cNvSpPr/>
          <p:nvPr/>
        </p:nvSpPr>
        <p:spPr>
          <a:xfrm>
            <a:off x="5406350" y="2341563"/>
            <a:ext cx="584200" cy="1716087"/>
          </a:xfrm>
          <a:prstGeom prst="rect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1800"/>
          </a:p>
        </p:txBody>
      </p:sp>
      <p:sp>
        <p:nvSpPr>
          <p:cNvPr id="7" name="矩形 6"/>
          <p:cNvSpPr/>
          <p:nvPr/>
        </p:nvSpPr>
        <p:spPr>
          <a:xfrm>
            <a:off x="5406350" y="2487613"/>
            <a:ext cx="322263" cy="1423987"/>
          </a:xfrm>
          <a:prstGeom prst="rect">
            <a:avLst/>
          </a:prstGeom>
          <a:solidFill>
            <a:srgbClr val="FF3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1800"/>
          </a:p>
        </p:txBody>
      </p:sp>
      <p:sp>
        <p:nvSpPr>
          <p:cNvPr id="8" name="矩形 7"/>
          <p:cNvSpPr/>
          <p:nvPr/>
        </p:nvSpPr>
        <p:spPr>
          <a:xfrm>
            <a:off x="5187275" y="3729038"/>
            <a:ext cx="219075" cy="47466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1800"/>
          </a:p>
        </p:txBody>
      </p:sp>
      <p:sp>
        <p:nvSpPr>
          <p:cNvPr id="9" name="矩形 8"/>
          <p:cNvSpPr/>
          <p:nvPr/>
        </p:nvSpPr>
        <p:spPr>
          <a:xfrm>
            <a:off x="5150763" y="2195513"/>
            <a:ext cx="255587" cy="47466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1800"/>
          </a:p>
        </p:txBody>
      </p:sp>
      <p:grpSp>
        <p:nvGrpSpPr>
          <p:cNvPr id="10" name="组合 48"/>
          <p:cNvGrpSpPr>
            <a:grpSpLocks/>
          </p:cNvGrpSpPr>
          <p:nvPr/>
        </p:nvGrpSpPr>
        <p:grpSpPr bwMode="auto">
          <a:xfrm>
            <a:off x="5247600" y="2195513"/>
            <a:ext cx="158750" cy="2008187"/>
            <a:chOff x="2879786" y="1420785"/>
            <a:chExt cx="159029" cy="2008215"/>
          </a:xfrm>
        </p:grpSpPr>
        <p:sp>
          <p:nvSpPr>
            <p:cNvPr id="11" name="Rectangle 2" descr="宽上对角线"/>
            <p:cNvSpPr>
              <a:spLocks noChangeAspect="1" noChangeArrowheads="1"/>
            </p:cNvSpPr>
            <p:nvPr/>
          </p:nvSpPr>
          <p:spPr bwMode="auto">
            <a:xfrm rot="5400000" flipH="1" flipV="1">
              <a:off x="2758267" y="3148876"/>
              <a:ext cx="401643" cy="158605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/>
              </a:bgClr>
            </a:patt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/>
            <a:p>
              <a:pPr defTabSz="914400"/>
              <a:endParaRPr lang="zh-CN" altLang="en-US" sz="1800"/>
            </a:p>
          </p:txBody>
        </p:sp>
        <p:sp>
          <p:nvSpPr>
            <p:cNvPr id="12" name="Rectangle 2" descr="宽上对角线"/>
            <p:cNvSpPr>
              <a:spLocks noChangeAspect="1" noChangeArrowheads="1"/>
            </p:cNvSpPr>
            <p:nvPr/>
          </p:nvSpPr>
          <p:spPr bwMode="auto">
            <a:xfrm rot="5400000" flipH="1" flipV="1">
              <a:off x="2758691" y="1542304"/>
              <a:ext cx="401643" cy="158605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/>
              </a:bgClr>
            </a:patt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/>
            <a:p>
              <a:pPr defTabSz="914400"/>
              <a:endParaRPr lang="zh-CN" altLang="en-US" sz="1800"/>
            </a:p>
          </p:txBody>
        </p:sp>
      </p:grp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442863" y="1465263"/>
            <a:ext cx="401637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4400"/>
            <a:r>
              <a:rPr lang="en-US" altLang="zh-CN" sz="2800" b="1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800" b="1" baseline="30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endParaRPr lang="zh-CN" altLang="en-US" sz="28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6209625" y="1355725"/>
            <a:ext cx="1825625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4400"/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CN" sz="2800" b="1" baseline="3000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(Intrinsic)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8838525" y="1538288"/>
            <a:ext cx="14727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 defTabSz="914400"/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Electrode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直接箭头连接符 19"/>
          <p:cNvCxnSpPr>
            <a:endCxn id="7" idx="0"/>
          </p:cNvCxnSpPr>
          <p:nvPr/>
        </p:nvCxnSpPr>
        <p:spPr>
          <a:xfrm rot="16200000" flipH="1">
            <a:off x="5269825" y="2176463"/>
            <a:ext cx="584200" cy="12700"/>
          </a:xfrm>
          <a:prstGeom prst="straightConnector1">
            <a:avLst/>
          </a:prstGeom>
          <a:ln w="44450">
            <a:solidFill>
              <a:srgbClr val="FF33CC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5872950" y="1355725"/>
            <a:ext cx="20763" cy="985838"/>
          </a:xfrm>
          <a:prstGeom prst="straightConnector1">
            <a:avLst/>
          </a:prstGeom>
          <a:ln w="44450">
            <a:solidFill>
              <a:srgbClr val="339933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rot="16200000" flipH="1">
            <a:off x="6782713" y="1987550"/>
            <a:ext cx="401638" cy="14287"/>
          </a:xfrm>
          <a:prstGeom prst="straightConnector1">
            <a:avLst/>
          </a:prstGeom>
          <a:ln w="44450">
            <a:solidFill>
              <a:srgbClr val="FFC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8436888" y="1355725"/>
            <a:ext cx="14287" cy="839788"/>
          </a:xfrm>
          <a:prstGeom prst="straightConnector1">
            <a:avLst/>
          </a:prstGeom>
          <a:ln w="44450">
            <a:solidFill>
              <a:srgbClr val="339933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rot="5400000">
            <a:off x="8765501" y="1830387"/>
            <a:ext cx="620712" cy="620713"/>
          </a:xfrm>
          <a:prstGeom prst="straightConnector1">
            <a:avLst/>
          </a:prstGeom>
          <a:ln w="444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cxnSpLocks/>
            <a:endCxn id="12" idx="3"/>
          </p:cNvCxnSpPr>
          <p:nvPr/>
        </p:nvCxnSpPr>
        <p:spPr>
          <a:xfrm>
            <a:off x="4895175" y="1456853"/>
            <a:ext cx="432012" cy="738660"/>
          </a:xfrm>
          <a:prstGeom prst="straightConnector1">
            <a:avLst/>
          </a:prstGeom>
          <a:ln w="44450">
            <a:solidFill>
              <a:srgbClr val="FF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92325" y="6520910"/>
            <a:ext cx="3815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kumimoji="1"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结构（</a:t>
            </a:r>
            <a:r>
              <a:rPr kumimoji="1"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Structure</a:t>
            </a:r>
            <a:r>
              <a:rPr kumimoji="1"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endParaRPr lang="zh-CN" altLang="en-US" sz="36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3688886" y="4057650"/>
            <a:ext cx="2811039" cy="815032"/>
            <a:chOff x="3688886" y="4057650"/>
            <a:chExt cx="2811039" cy="815032"/>
          </a:xfrm>
        </p:grpSpPr>
        <p:sp>
          <p:nvSpPr>
            <p:cNvPr id="31" name="上箭头 30"/>
            <p:cNvSpPr/>
            <p:nvPr/>
          </p:nvSpPr>
          <p:spPr>
            <a:xfrm>
              <a:off x="5717637" y="4057650"/>
              <a:ext cx="310627" cy="438150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1800"/>
            </a:p>
          </p:txBody>
        </p:sp>
        <p:sp>
          <p:nvSpPr>
            <p:cNvPr id="34" name="TextBox 33"/>
            <p:cNvSpPr txBox="1">
              <a:spLocks noChangeArrowheads="1"/>
            </p:cNvSpPr>
            <p:nvPr/>
          </p:nvSpPr>
          <p:spPr bwMode="auto">
            <a:xfrm>
              <a:off x="3688886" y="4411017"/>
              <a:ext cx="281103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1"/>
              <a:r>
                <a:rPr lang="en-US" altLang="zh-CN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1</a:t>
              </a:r>
              <a:r>
                <a:rPr lang="en-US" altLang="zh-CN" sz="2400" b="1" baseline="300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st</a:t>
              </a:r>
              <a:r>
                <a:rPr lang="en-US" altLang="zh-CN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: </a:t>
              </a:r>
              <a:r>
                <a:rPr lang="zh-CN" altLang="en-US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一层薄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p-type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层</a:t>
              </a:r>
              <a:r>
                <a:rPr lang="en-US" altLang="zh-CN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3922195" y="4240213"/>
            <a:ext cx="6280150" cy="1343262"/>
            <a:chOff x="3922195" y="4240213"/>
            <a:chExt cx="6280150" cy="1343262"/>
          </a:xfrm>
        </p:grpSpPr>
        <p:sp>
          <p:nvSpPr>
            <p:cNvPr id="30" name="上箭头 29"/>
            <p:cNvSpPr/>
            <p:nvPr/>
          </p:nvSpPr>
          <p:spPr>
            <a:xfrm>
              <a:off x="6830338" y="4240213"/>
              <a:ext cx="438150" cy="803275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1800"/>
            </a:p>
          </p:txBody>
        </p:sp>
        <p:sp>
          <p:nvSpPr>
            <p:cNvPr id="35" name="TextBox 34"/>
            <p:cNvSpPr txBox="1">
              <a:spLocks noChangeArrowheads="1"/>
            </p:cNvSpPr>
            <p:nvPr/>
          </p:nvSpPr>
          <p:spPr bwMode="auto">
            <a:xfrm>
              <a:off x="3922195" y="5121513"/>
              <a:ext cx="628015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lvl="1" algn="ctr"/>
              <a:r>
                <a:rPr lang="en-US" altLang="zh-CN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2</a:t>
              </a:r>
              <a:r>
                <a:rPr lang="en-US" altLang="zh-CN" sz="2400" b="1" baseline="300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nd</a:t>
              </a:r>
              <a:r>
                <a:rPr lang="en-US" altLang="zh-CN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: </a:t>
              </a:r>
              <a:r>
                <a:rPr lang="zh-CN" altLang="en-US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一层厚的轻掺杂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p-type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层</a:t>
              </a:r>
              <a:r>
                <a:rPr lang="en-US" altLang="zh-CN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(~ intrinsic)</a:t>
              </a:r>
            </a:p>
          </p:txBody>
        </p:sp>
      </p:grp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1381317" y="5817408"/>
            <a:ext cx="1136190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三层具有不同掺杂浓度</a:t>
            </a:r>
            <a:r>
              <a:rPr lang="en-US" altLang="zh-CN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</a:t>
            </a:r>
            <a:r>
              <a:rPr lang="zh-CN" altLang="en-US" sz="2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型层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调节光电二极管空间区域的电场分布</a:t>
            </a:r>
            <a:endParaRPr lang="zh-CN" altLang="en-US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7778887" y="4203699"/>
            <a:ext cx="3214654" cy="770175"/>
            <a:chOff x="7778887" y="4203699"/>
            <a:chExt cx="3214654" cy="770175"/>
          </a:xfrm>
        </p:grpSpPr>
        <p:sp>
          <p:nvSpPr>
            <p:cNvPr id="32" name="上箭头 31"/>
            <p:cNvSpPr/>
            <p:nvPr/>
          </p:nvSpPr>
          <p:spPr>
            <a:xfrm>
              <a:off x="8327350" y="4203699"/>
              <a:ext cx="328613" cy="438149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1800"/>
            </a:p>
          </p:txBody>
        </p:sp>
        <p:sp>
          <p:nvSpPr>
            <p:cNvPr id="38" name="TextBox 37"/>
            <p:cNvSpPr txBox="1">
              <a:spLocks noChangeArrowheads="1"/>
            </p:cNvSpPr>
            <p:nvPr/>
          </p:nvSpPr>
          <p:spPr bwMode="auto">
            <a:xfrm>
              <a:off x="7778887" y="4511912"/>
              <a:ext cx="3214654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1"/>
              <a:r>
                <a:rPr lang="en-US" altLang="zh-CN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3</a:t>
              </a:r>
              <a:r>
                <a:rPr lang="en-US" altLang="zh-CN" sz="2400" b="1" baseline="300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rd</a:t>
              </a:r>
              <a:r>
                <a:rPr lang="en-US" altLang="zh-CN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: </a:t>
              </a:r>
              <a:r>
                <a:rPr lang="zh-CN" altLang="en-US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一层重掺杂</a:t>
              </a:r>
              <a:r>
                <a:rPr lang="en-US" altLang="zh-CN" sz="2400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p+</a:t>
              </a:r>
              <a:r>
                <a:rPr lang="zh-CN" altLang="en-US" sz="2400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层</a:t>
              </a:r>
              <a:endParaRPr lang="zh-CN" altLang="en-US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312717" y="2592219"/>
            <a:ext cx="2242858" cy="1261884"/>
            <a:chOff x="3312717" y="2592219"/>
            <a:chExt cx="2242858" cy="1261884"/>
          </a:xfrm>
        </p:grpSpPr>
        <p:sp>
          <p:nvSpPr>
            <p:cNvPr id="37" name="TextBox 36"/>
            <p:cNvSpPr txBox="1">
              <a:spLocks noChangeArrowheads="1"/>
            </p:cNvSpPr>
            <p:nvPr/>
          </p:nvSpPr>
          <p:spPr bwMode="auto">
            <a:xfrm>
              <a:off x="3312717" y="2592219"/>
              <a:ext cx="1364447" cy="12618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rgbClr val="FF33C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n</a:t>
              </a:r>
              <a:r>
                <a:rPr lang="en-US" altLang="zh-CN" sz="2800" b="1" baseline="30000" dirty="0">
                  <a:solidFill>
                    <a:srgbClr val="FF33C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+</a:t>
              </a:r>
              <a:r>
                <a:rPr lang="en-US" altLang="zh-CN" sz="2800" b="1" dirty="0">
                  <a:solidFill>
                    <a:srgbClr val="FF33C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side: </a:t>
              </a:r>
            </a:p>
            <a:p>
              <a:pPr>
                <a:buFont typeface="Wingdings" pitchFamily="2" charset="2"/>
                <a:buChar char="l"/>
              </a:pPr>
              <a:r>
                <a:rPr lang="zh-CN" altLang="en-US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薄</a:t>
              </a:r>
              <a:r>
                <a:rPr lang="en-US" altLang="zh-CN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 </a:t>
              </a:r>
            </a:p>
            <a:p>
              <a:pPr>
                <a:buFont typeface="Wingdings" pitchFamily="2" charset="2"/>
                <a:buChar char="l"/>
              </a:pPr>
              <a:r>
                <a:rPr lang="zh-CN" altLang="en-US" sz="24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光入射</a:t>
              </a:r>
            </a:p>
          </p:txBody>
        </p:sp>
        <p:sp>
          <p:nvSpPr>
            <p:cNvPr id="54" name="右箭头 53"/>
            <p:cNvSpPr/>
            <p:nvPr/>
          </p:nvSpPr>
          <p:spPr>
            <a:xfrm>
              <a:off x="4325836" y="2957210"/>
              <a:ext cx="1229739" cy="349798"/>
            </a:xfrm>
            <a:prstGeom prst="rightArrow">
              <a:avLst/>
            </a:prstGeom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3474402" y="1610544"/>
            <a:ext cx="14727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 defTabSz="914400"/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Electrode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3" name="直接箭头连接符 42"/>
          <p:cNvCxnSpPr>
            <a:stCxn id="42" idx="2"/>
          </p:cNvCxnSpPr>
          <p:nvPr/>
        </p:nvCxnSpPr>
        <p:spPr>
          <a:xfrm>
            <a:off x="4210799" y="1979876"/>
            <a:ext cx="907809" cy="477030"/>
          </a:xfrm>
          <a:prstGeom prst="straightConnector1">
            <a:avLst/>
          </a:prstGeom>
          <a:ln w="444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>
            <a:extLst>
              <a:ext uri="{FF2B5EF4-FFF2-40B4-BE49-F238E27FC236}">
                <a16:creationId xmlns:a16="http://schemas.microsoft.com/office/drawing/2014/main" xmlns="" id="{696FBEC2-3FBE-4F48-AEA5-73F0C4FEA774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51" name="文本框 60">
              <a:extLst>
                <a:ext uri="{FF2B5EF4-FFF2-40B4-BE49-F238E27FC236}">
                  <a16:creationId xmlns:a16="http://schemas.microsoft.com/office/drawing/2014/main" xmlns="" id="{D4479E71-CB5E-4C8F-BFBA-A02B8C04567C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雪崩光电二极管结构与工作原理</a:t>
              </a: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xmlns="" id="{ADD72164-6C8B-4323-91D9-F6DC7923729F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xmlns="" id="{1FD73C35-A3D6-41B0-858D-0F72593561A1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xmlns="" id="{957ACC22-F926-482D-8A98-2A6AA6CD3C4A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4.5.1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0" name="直接连接符 58">
              <a:extLst>
                <a:ext uri="{FF2B5EF4-FFF2-40B4-BE49-F238E27FC236}">
                  <a16:creationId xmlns:a16="http://schemas.microsoft.com/office/drawing/2014/main" xmlns="" id="{6FD1A0EC-28C5-413E-B3A9-2C8BA08D4C50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xmlns="" id="{53A0E8D7-9103-4B65-85F4-DB33BDE410ED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xmlns="" id="{692B9F9F-EAD6-4093-A74E-56DA4A356CDD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422815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3" grpId="0"/>
      <p:bldP spid="16" grpId="0"/>
      <p:bldP spid="18" grpId="0"/>
      <p:bldP spid="33" grpId="0"/>
      <p:bldP spid="36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组合 138"/>
          <p:cNvGrpSpPr>
            <a:grpSpLocks/>
          </p:cNvGrpSpPr>
          <p:nvPr/>
        </p:nvGrpSpPr>
        <p:grpSpPr bwMode="auto">
          <a:xfrm>
            <a:off x="6077185" y="3621311"/>
            <a:ext cx="2921000" cy="2921000"/>
            <a:chOff x="3147991" y="3100384"/>
            <a:chExt cx="2921105" cy="2921041"/>
          </a:xfrm>
        </p:grpSpPr>
        <p:cxnSp>
          <p:nvCxnSpPr>
            <p:cNvPr id="70" name="直接连接符 69"/>
            <p:cNvCxnSpPr/>
            <p:nvPr/>
          </p:nvCxnSpPr>
          <p:spPr>
            <a:xfrm rot="16200000" flipH="1">
              <a:off x="1924810" y="4542648"/>
              <a:ext cx="2884528" cy="0"/>
            </a:xfrm>
            <a:prstGeom prst="line">
              <a:avLst/>
            </a:prstGeom>
            <a:ln w="25400">
              <a:solidFill>
                <a:srgbClr val="FF33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rot="5400000">
              <a:off x="2180407" y="4542648"/>
              <a:ext cx="2882940" cy="1588"/>
            </a:xfrm>
            <a:prstGeom prst="line">
              <a:avLst/>
            </a:prstGeom>
            <a:ln w="25400">
              <a:solidFill>
                <a:srgbClr val="FF33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rot="16200000" flipH="1">
              <a:off x="4494271" y="4519629"/>
              <a:ext cx="2848015" cy="9525"/>
            </a:xfrm>
            <a:prstGeom prst="line">
              <a:avLst/>
            </a:prstGeom>
            <a:ln w="25400">
              <a:solidFill>
                <a:srgbClr val="FF33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rot="16200000" flipH="1">
              <a:off x="5107851" y="4987154"/>
              <a:ext cx="1898677" cy="23813"/>
            </a:xfrm>
            <a:prstGeom prst="line">
              <a:avLst/>
            </a:prstGeom>
            <a:ln w="25400">
              <a:solidFill>
                <a:srgbClr val="FF33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rot="16200000" flipH="1">
              <a:off x="2125627" y="4999061"/>
              <a:ext cx="2044729" cy="0"/>
            </a:xfrm>
            <a:prstGeom prst="line">
              <a:avLst/>
            </a:prstGeom>
            <a:ln w="25400">
              <a:solidFill>
                <a:srgbClr val="FF33CC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组合 48"/>
          <p:cNvGrpSpPr>
            <a:grpSpLocks/>
          </p:cNvGrpSpPr>
          <p:nvPr/>
        </p:nvGrpSpPr>
        <p:grpSpPr bwMode="auto">
          <a:xfrm>
            <a:off x="5712060" y="1613124"/>
            <a:ext cx="3614738" cy="2008187"/>
            <a:chOff x="2782863" y="1420785"/>
            <a:chExt cx="3614787" cy="2008215"/>
          </a:xfrm>
        </p:grpSpPr>
        <p:sp>
          <p:nvSpPr>
            <p:cNvPr id="76" name="矩形 75"/>
            <p:cNvSpPr/>
            <p:nvPr/>
          </p:nvSpPr>
          <p:spPr>
            <a:xfrm>
              <a:off x="3038454" y="1420785"/>
              <a:ext cx="3213144" cy="2008215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1800"/>
            </a:p>
          </p:txBody>
        </p:sp>
        <p:sp>
          <p:nvSpPr>
            <p:cNvPr id="77" name="矩形 76"/>
            <p:cNvSpPr/>
            <p:nvPr/>
          </p:nvSpPr>
          <p:spPr>
            <a:xfrm>
              <a:off x="6251598" y="1420785"/>
              <a:ext cx="146052" cy="200821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1800"/>
            </a:p>
          </p:txBody>
        </p:sp>
        <p:sp>
          <p:nvSpPr>
            <p:cNvPr id="78" name="矩形 77"/>
            <p:cNvSpPr/>
            <p:nvPr/>
          </p:nvSpPr>
          <p:spPr>
            <a:xfrm>
              <a:off x="5922981" y="1420785"/>
              <a:ext cx="328617" cy="2008215"/>
            </a:xfrm>
            <a:prstGeom prst="rect">
              <a:avLst/>
            </a:prstGeom>
            <a:solidFill>
              <a:srgbClr val="00CC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1800"/>
            </a:p>
          </p:txBody>
        </p:sp>
        <p:sp>
          <p:nvSpPr>
            <p:cNvPr id="79" name="矩形 78"/>
            <p:cNvSpPr/>
            <p:nvPr/>
          </p:nvSpPr>
          <p:spPr>
            <a:xfrm>
              <a:off x="3038454" y="1566837"/>
              <a:ext cx="584208" cy="1716111"/>
            </a:xfrm>
            <a:prstGeom prst="rect">
              <a:avLst/>
            </a:prstGeom>
            <a:solidFill>
              <a:srgbClr val="3399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1800"/>
            </a:p>
          </p:txBody>
        </p:sp>
        <p:sp>
          <p:nvSpPr>
            <p:cNvPr id="80" name="矩形 79"/>
            <p:cNvSpPr/>
            <p:nvPr/>
          </p:nvSpPr>
          <p:spPr>
            <a:xfrm>
              <a:off x="3038454" y="1712889"/>
              <a:ext cx="322266" cy="1424007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1800"/>
            </a:p>
          </p:txBody>
        </p:sp>
        <p:sp>
          <p:nvSpPr>
            <p:cNvPr id="81" name="矩形 80"/>
            <p:cNvSpPr/>
            <p:nvPr/>
          </p:nvSpPr>
          <p:spPr>
            <a:xfrm>
              <a:off x="2819376" y="2954331"/>
              <a:ext cx="219078" cy="47466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1800"/>
            </a:p>
          </p:txBody>
        </p:sp>
        <p:sp>
          <p:nvSpPr>
            <p:cNvPr id="82" name="矩形 81"/>
            <p:cNvSpPr/>
            <p:nvPr/>
          </p:nvSpPr>
          <p:spPr>
            <a:xfrm>
              <a:off x="2782863" y="1420785"/>
              <a:ext cx="255591" cy="47466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1800"/>
            </a:p>
          </p:txBody>
        </p:sp>
        <p:grpSp>
          <p:nvGrpSpPr>
            <p:cNvPr id="83" name="组合 30"/>
            <p:cNvGrpSpPr>
              <a:grpSpLocks/>
            </p:cNvGrpSpPr>
            <p:nvPr/>
          </p:nvGrpSpPr>
          <p:grpSpPr bwMode="auto">
            <a:xfrm>
              <a:off x="2879786" y="1420785"/>
              <a:ext cx="159029" cy="2008215"/>
              <a:chOff x="2879786" y="1420785"/>
              <a:chExt cx="159029" cy="2008215"/>
            </a:xfrm>
          </p:grpSpPr>
          <p:sp>
            <p:nvSpPr>
              <p:cNvPr id="89" name="Rectangle 2" descr="宽上对角线"/>
              <p:cNvSpPr>
                <a:spLocks noChangeAspect="1" noChangeArrowheads="1"/>
              </p:cNvSpPr>
              <p:nvPr/>
            </p:nvSpPr>
            <p:spPr bwMode="auto">
              <a:xfrm rot="5400000" flipH="1" flipV="1">
                <a:off x="2758267" y="3148876"/>
                <a:ext cx="401643" cy="158605"/>
              </a:xfrm>
              <a:prstGeom prst="rect">
                <a:avLst/>
              </a:prstGeom>
              <a:pattFill prst="wdUpDiag">
                <a:fgClr>
                  <a:srgbClr val="000000"/>
                </a:fgClr>
                <a:bgClr>
                  <a:srgbClr val="FFFFFF"/>
                </a:bgClr>
              </a:patt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/>
              <a:lstStyle/>
              <a:p>
                <a:pPr defTabSz="914400"/>
                <a:endParaRPr lang="zh-CN" altLang="en-US" sz="1800"/>
              </a:p>
            </p:txBody>
          </p:sp>
          <p:sp>
            <p:nvSpPr>
              <p:cNvPr id="90" name="Rectangle 2" descr="宽上对角线"/>
              <p:cNvSpPr>
                <a:spLocks noChangeAspect="1" noChangeArrowheads="1"/>
              </p:cNvSpPr>
              <p:nvPr/>
            </p:nvSpPr>
            <p:spPr bwMode="auto">
              <a:xfrm rot="5400000" flipH="1" flipV="1">
                <a:off x="2758691" y="1542304"/>
                <a:ext cx="401643" cy="158605"/>
              </a:xfrm>
              <a:prstGeom prst="rect">
                <a:avLst/>
              </a:prstGeom>
              <a:pattFill prst="wdUpDiag">
                <a:fgClr>
                  <a:srgbClr val="000000"/>
                </a:fgClr>
                <a:bgClr>
                  <a:srgbClr val="FFFFFF"/>
                </a:bgClr>
              </a:patt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eaVert"/>
              <a:lstStyle/>
              <a:p>
                <a:pPr defTabSz="914400"/>
                <a:endParaRPr lang="zh-CN" altLang="en-US" sz="1800"/>
              </a:p>
            </p:txBody>
          </p:sp>
        </p:grpSp>
        <p:sp>
          <p:nvSpPr>
            <p:cNvPr id="84" name="TextBox 33"/>
            <p:cNvSpPr txBox="1">
              <a:spLocks noChangeArrowheads="1"/>
            </p:cNvSpPr>
            <p:nvPr/>
          </p:nvSpPr>
          <p:spPr bwMode="auto">
            <a:xfrm>
              <a:off x="3074967" y="1843066"/>
              <a:ext cx="401643" cy="3048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4400"/>
              <a:r>
                <a:rPr lang="en-US" altLang="zh-CN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altLang="zh-CN" b="1" baseline="30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  <a:endParaRPr lang="zh-CN" alt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TextBox 34"/>
            <p:cNvSpPr txBox="1">
              <a:spLocks noChangeArrowheads="1"/>
            </p:cNvSpPr>
            <p:nvPr/>
          </p:nvSpPr>
          <p:spPr bwMode="auto">
            <a:xfrm>
              <a:off x="5996007" y="1785915"/>
              <a:ext cx="401643" cy="3048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4400"/>
              <a:r>
                <a:rPr lang="en-US" altLang="zh-CN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CN" b="1" baseline="3000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  <a:endParaRPr lang="zh-CN" alt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TextBox 35"/>
            <p:cNvSpPr txBox="1">
              <a:spLocks noChangeArrowheads="1"/>
            </p:cNvSpPr>
            <p:nvPr/>
          </p:nvSpPr>
          <p:spPr bwMode="auto">
            <a:xfrm>
              <a:off x="3440097" y="1822428"/>
              <a:ext cx="292104" cy="3048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4400"/>
              <a:r>
                <a:rPr lang="en-US" altLang="zh-CN" b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endParaRPr lang="zh-CN" altLang="en-US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TextBox 36"/>
            <p:cNvSpPr txBox="1">
              <a:spLocks noChangeArrowheads="1"/>
            </p:cNvSpPr>
            <p:nvPr/>
          </p:nvSpPr>
          <p:spPr bwMode="auto">
            <a:xfrm>
              <a:off x="4572000" y="1858941"/>
              <a:ext cx="401643" cy="3048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4400"/>
              <a:r>
                <a:rPr lang="en-US" altLang="zh-CN" b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altLang="zh-CN" b="1" baseline="30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-</a:t>
              </a:r>
              <a:endParaRPr lang="zh-CN" altLang="en-US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TextBox 47"/>
            <p:cNvSpPr txBox="1">
              <a:spLocks noChangeArrowheads="1"/>
            </p:cNvSpPr>
            <p:nvPr/>
          </p:nvSpPr>
          <p:spPr bwMode="auto">
            <a:xfrm>
              <a:off x="4060818" y="2297097"/>
              <a:ext cx="1387494" cy="427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4400"/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Intrinsic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1" name="组合 135"/>
          <p:cNvGrpSpPr>
            <a:grpSpLocks/>
          </p:cNvGrpSpPr>
          <p:nvPr/>
        </p:nvGrpSpPr>
        <p:grpSpPr bwMode="auto">
          <a:xfrm>
            <a:off x="5729523" y="919386"/>
            <a:ext cx="3524250" cy="711200"/>
            <a:chOff x="2799920" y="398421"/>
            <a:chExt cx="3524704" cy="711598"/>
          </a:xfrm>
        </p:grpSpPr>
        <p:cxnSp>
          <p:nvCxnSpPr>
            <p:cNvPr id="92" name="直接连接符 91"/>
            <p:cNvCxnSpPr/>
            <p:nvPr/>
          </p:nvCxnSpPr>
          <p:spPr>
            <a:xfrm rot="5400000">
              <a:off x="2599774" y="847936"/>
              <a:ext cx="436807" cy="15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rot="5400000">
              <a:off x="6082395" y="867791"/>
              <a:ext cx="48445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rot="5400000">
              <a:off x="3769119" y="616824"/>
              <a:ext cx="438395" cy="15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>
              <a:off x="2799920" y="635091"/>
              <a:ext cx="1168551" cy="15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>
              <a:off x="4170108" y="630326"/>
              <a:ext cx="876413" cy="158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>
              <a:off x="5695893" y="639856"/>
              <a:ext cx="620792" cy="158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矩形 97"/>
            <p:cNvSpPr/>
            <p:nvPr/>
          </p:nvSpPr>
          <p:spPr>
            <a:xfrm>
              <a:off x="5046521" y="539788"/>
              <a:ext cx="657310" cy="182664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1800"/>
            </a:p>
          </p:txBody>
        </p:sp>
        <p:cxnSp>
          <p:nvCxnSpPr>
            <p:cNvPr id="99" name="直接连接符 98"/>
            <p:cNvCxnSpPr/>
            <p:nvPr/>
          </p:nvCxnSpPr>
          <p:spPr>
            <a:xfrm rot="5400000">
              <a:off x="4042259" y="632709"/>
              <a:ext cx="182665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/>
          <p:cNvSpPr txBox="1">
            <a:spLocks noChangeArrowheads="1"/>
          </p:cNvSpPr>
          <p:nvPr/>
        </p:nvSpPr>
        <p:spPr bwMode="auto">
          <a:xfrm>
            <a:off x="8267935" y="1247999"/>
            <a:ext cx="4016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4400"/>
            <a:r>
              <a:rPr lang="en-US" altLang="zh-CN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b="1" baseline="-25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endParaRPr lang="zh-CN" altLang="en-US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1" name="任意多边形 100"/>
          <p:cNvSpPr/>
          <p:nvPr/>
        </p:nvSpPr>
        <p:spPr>
          <a:xfrm>
            <a:off x="7501173" y="1321024"/>
            <a:ext cx="474662" cy="184150"/>
          </a:xfrm>
          <a:custGeom>
            <a:avLst/>
            <a:gdLst>
              <a:gd name="connsiteX0" fmla="*/ 0 w 611221"/>
              <a:gd name="connsiteY0" fmla="*/ 350196 h 351818"/>
              <a:gd name="connsiteX1" fmla="*/ 486383 w 611221"/>
              <a:gd name="connsiteY1" fmla="*/ 340469 h 351818"/>
              <a:gd name="connsiteX2" fmla="*/ 573932 w 611221"/>
              <a:gd name="connsiteY2" fmla="*/ 282103 h 351818"/>
              <a:gd name="connsiteX3" fmla="*/ 603115 w 611221"/>
              <a:gd name="connsiteY3" fmla="*/ 145915 h 351818"/>
              <a:gd name="connsiteX4" fmla="*/ 525294 w 611221"/>
              <a:gd name="connsiteY4" fmla="*/ 29183 h 351818"/>
              <a:gd name="connsiteX5" fmla="*/ 359923 w 611221"/>
              <a:gd name="connsiteY5" fmla="*/ 9728 h 351818"/>
              <a:gd name="connsiteX6" fmla="*/ 48638 w 611221"/>
              <a:gd name="connsiteY6" fmla="*/ 0 h 3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1221" h="351818">
                <a:moveTo>
                  <a:pt x="0" y="350196"/>
                </a:moveTo>
                <a:cubicBezTo>
                  <a:pt x="195364" y="351007"/>
                  <a:pt x="390728" y="351818"/>
                  <a:pt x="486383" y="340469"/>
                </a:cubicBezTo>
                <a:cubicBezTo>
                  <a:pt x="582038" y="329120"/>
                  <a:pt x="554477" y="314529"/>
                  <a:pt x="573932" y="282103"/>
                </a:cubicBezTo>
                <a:cubicBezTo>
                  <a:pt x="593387" y="249677"/>
                  <a:pt x="611221" y="188068"/>
                  <a:pt x="603115" y="145915"/>
                </a:cubicBezTo>
                <a:cubicBezTo>
                  <a:pt x="595009" y="103762"/>
                  <a:pt x="565826" y="51881"/>
                  <a:pt x="525294" y="29183"/>
                </a:cubicBezTo>
                <a:cubicBezTo>
                  <a:pt x="484762" y="6485"/>
                  <a:pt x="439366" y="14592"/>
                  <a:pt x="359923" y="9728"/>
                </a:cubicBezTo>
                <a:cubicBezTo>
                  <a:pt x="280480" y="4864"/>
                  <a:pt x="164559" y="2432"/>
                  <a:pt x="48638" y="0"/>
                </a:cubicBezTo>
              </a:path>
            </a:pathLst>
          </a:cu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1800"/>
          </a:p>
        </p:txBody>
      </p:sp>
      <p:sp>
        <p:nvSpPr>
          <p:cNvPr id="102" name="TextBox 101"/>
          <p:cNvSpPr txBox="1">
            <a:spLocks noChangeArrowheads="1"/>
          </p:cNvSpPr>
          <p:nvPr/>
        </p:nvSpPr>
        <p:spPr bwMode="auto">
          <a:xfrm>
            <a:off x="7282098" y="1211486"/>
            <a:ext cx="1825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914400"/>
            <a:r>
              <a:rPr lang="en-US" altLang="zh-CN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endParaRPr lang="zh-CN" altLang="en-US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3" name="组合 136"/>
          <p:cNvGrpSpPr>
            <a:grpSpLocks/>
          </p:cNvGrpSpPr>
          <p:nvPr/>
        </p:nvGrpSpPr>
        <p:grpSpPr bwMode="auto">
          <a:xfrm>
            <a:off x="5675548" y="3694336"/>
            <a:ext cx="3906837" cy="1350963"/>
            <a:chOff x="2746350" y="3173410"/>
            <a:chExt cx="3906891" cy="1350981"/>
          </a:xfrm>
        </p:grpSpPr>
        <p:cxnSp>
          <p:nvCxnSpPr>
            <p:cNvPr id="104" name="直接箭头连接符 103"/>
            <p:cNvCxnSpPr/>
            <p:nvPr/>
          </p:nvCxnSpPr>
          <p:spPr>
            <a:xfrm>
              <a:off x="2746350" y="4049722"/>
              <a:ext cx="3906891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/>
            <p:cNvCxnSpPr/>
            <p:nvPr/>
          </p:nvCxnSpPr>
          <p:spPr>
            <a:xfrm rot="5400000" flipH="1" flipV="1">
              <a:off x="2363757" y="3848107"/>
              <a:ext cx="1350981" cy="15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组合 137"/>
          <p:cNvGrpSpPr>
            <a:grpSpLocks/>
          </p:cNvGrpSpPr>
          <p:nvPr/>
        </p:nvGrpSpPr>
        <p:grpSpPr bwMode="auto">
          <a:xfrm>
            <a:off x="5675548" y="5154836"/>
            <a:ext cx="3906837" cy="1350963"/>
            <a:chOff x="2746350" y="4633930"/>
            <a:chExt cx="3906891" cy="1350980"/>
          </a:xfrm>
        </p:grpSpPr>
        <p:cxnSp>
          <p:nvCxnSpPr>
            <p:cNvPr id="107" name="直接箭头连接符 106"/>
            <p:cNvCxnSpPr/>
            <p:nvPr/>
          </p:nvCxnSpPr>
          <p:spPr>
            <a:xfrm>
              <a:off x="2746350" y="5692806"/>
              <a:ext cx="3906891" cy="15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箭头连接符 107"/>
            <p:cNvCxnSpPr/>
            <p:nvPr/>
          </p:nvCxnSpPr>
          <p:spPr>
            <a:xfrm rot="16200000" flipV="1">
              <a:off x="2362964" y="5309421"/>
              <a:ext cx="13509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矩形 108"/>
          <p:cNvSpPr/>
          <p:nvPr/>
        </p:nvSpPr>
        <p:spPr>
          <a:xfrm>
            <a:off x="6077185" y="3767361"/>
            <a:ext cx="207963" cy="8032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1800"/>
          </a:p>
        </p:txBody>
      </p:sp>
      <p:sp>
        <p:nvSpPr>
          <p:cNvPr id="110" name="矩形 109"/>
          <p:cNvSpPr/>
          <p:nvPr/>
        </p:nvSpPr>
        <p:spPr>
          <a:xfrm>
            <a:off x="6296260" y="4570636"/>
            <a:ext cx="255588" cy="182563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1800"/>
          </a:p>
        </p:txBody>
      </p:sp>
      <p:sp>
        <p:nvSpPr>
          <p:cNvPr id="111" name="矩形 110"/>
          <p:cNvSpPr/>
          <p:nvPr/>
        </p:nvSpPr>
        <p:spPr>
          <a:xfrm>
            <a:off x="8855310" y="4570636"/>
            <a:ext cx="109538" cy="657225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1800"/>
          </a:p>
        </p:txBody>
      </p:sp>
      <p:sp>
        <p:nvSpPr>
          <p:cNvPr id="112" name="矩形 111"/>
          <p:cNvSpPr>
            <a:spLocks noChangeArrowheads="1"/>
          </p:cNvSpPr>
          <p:nvPr/>
        </p:nvSpPr>
        <p:spPr bwMode="auto">
          <a:xfrm flipV="1">
            <a:off x="6551848" y="4570636"/>
            <a:ext cx="2263775" cy="46038"/>
          </a:xfrm>
          <a:prstGeom prst="rect">
            <a:avLst/>
          </a:prstGeom>
          <a:solidFill>
            <a:srgbClr val="0000CC"/>
          </a:solidFill>
          <a:ln w="25400" algn="ctr">
            <a:solidFill>
              <a:srgbClr val="0000CC"/>
            </a:solidFill>
            <a:miter lim="800000"/>
            <a:headEnd/>
            <a:tailEnd/>
          </a:ln>
        </p:spPr>
        <p:txBody>
          <a:bodyPr rot="10800000" anchor="ctr"/>
          <a:lstStyle/>
          <a:p>
            <a:pPr algn="ctr" defTabSz="914400">
              <a:defRPr/>
            </a:pPr>
            <a:endParaRPr lang="zh-CN" altLang="en-US" sz="1800">
              <a:solidFill>
                <a:schemeClr val="lt1"/>
              </a:solidFill>
              <a:latin typeface="+mn-lt"/>
              <a:ea typeface="+mn-ea"/>
            </a:endParaRPr>
          </a:p>
        </p:txBody>
      </p:sp>
      <p:cxnSp>
        <p:nvCxnSpPr>
          <p:cNvPr id="113" name="直接连接符 112"/>
          <p:cNvCxnSpPr/>
          <p:nvPr/>
        </p:nvCxnSpPr>
        <p:spPr>
          <a:xfrm rot="5400000" flipH="1" flipV="1">
            <a:off x="5712854" y="5647755"/>
            <a:ext cx="949325" cy="182563"/>
          </a:xfrm>
          <a:prstGeom prst="line">
            <a:avLst/>
          </a:prstGeom>
          <a:ln w="381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rot="10800000">
            <a:off x="6551848" y="5592986"/>
            <a:ext cx="2300287" cy="146050"/>
          </a:xfrm>
          <a:prstGeom prst="line">
            <a:avLst/>
          </a:prstGeom>
          <a:ln w="381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16200000" flipV="1">
            <a:off x="6278004" y="5319142"/>
            <a:ext cx="292100" cy="255588"/>
          </a:xfrm>
          <a:prstGeom prst="line">
            <a:avLst/>
          </a:prstGeom>
          <a:ln w="381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 rot="16200000" flipV="1">
            <a:off x="8679891" y="5893818"/>
            <a:ext cx="474663" cy="146050"/>
          </a:xfrm>
          <a:prstGeom prst="line">
            <a:avLst/>
          </a:prstGeom>
          <a:ln w="381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806284"/>
              </p:ext>
            </p:extLst>
          </p:nvPr>
        </p:nvGraphicFramePr>
        <p:xfrm>
          <a:off x="5492985" y="3767361"/>
          <a:ext cx="40005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" name="Equation" r:id="rId3" imgW="253800" imgH="228600" progId="Equation.DSMT4">
                  <p:embed/>
                </p:oleObj>
              </mc:Choice>
              <mc:Fallback>
                <p:oleObj name="Equation" r:id="rId3" imgW="253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985" y="3767361"/>
                        <a:ext cx="400050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595384"/>
              </p:ext>
            </p:extLst>
          </p:nvPr>
        </p:nvGraphicFramePr>
        <p:xfrm>
          <a:off x="5383448" y="5191349"/>
          <a:ext cx="5397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" name="Equation" r:id="rId5" imgW="342720" imgH="203040" progId="Equation.DSMT4">
                  <p:embed/>
                </p:oleObj>
              </mc:Choice>
              <mc:Fallback>
                <p:oleObj name="Equation" r:id="rId5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448" y="5191349"/>
                        <a:ext cx="539750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185146"/>
              </p:ext>
            </p:extLst>
          </p:nvPr>
        </p:nvGraphicFramePr>
        <p:xfrm>
          <a:off x="9217260" y="4643661"/>
          <a:ext cx="32861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" name="Equation" r:id="rId7" imgW="126720" imgH="139680" progId="Equation.DSMT4">
                  <p:embed/>
                </p:oleObj>
              </mc:Choice>
              <mc:Fallback>
                <p:oleObj name="Equation" r:id="rId7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7260" y="4643661"/>
                        <a:ext cx="328613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509570"/>
              </p:ext>
            </p:extLst>
          </p:nvPr>
        </p:nvGraphicFramePr>
        <p:xfrm>
          <a:off x="9253773" y="6286724"/>
          <a:ext cx="32861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" name="Equation" r:id="rId9" imgW="126720" imgH="139680" progId="Equation.DSMT4">
                  <p:embed/>
                </p:oleObj>
              </mc:Choice>
              <mc:Fallback>
                <p:oleObj name="Equation" r:id="rId9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3773" y="6286724"/>
                        <a:ext cx="328612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" name="TextBox 120"/>
          <p:cNvSpPr txBox="1">
            <a:spLocks noChangeArrowheads="1"/>
          </p:cNvSpPr>
          <p:nvPr/>
        </p:nvSpPr>
        <p:spPr bwMode="auto">
          <a:xfrm>
            <a:off x="514873" y="2960911"/>
            <a:ext cx="444335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/>
            <a:r>
              <a:rPr kumimoji="1"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吸收区</a:t>
            </a:r>
            <a:r>
              <a:rPr kumimoji="1"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(Absorption region)</a:t>
            </a:r>
            <a:endParaRPr lang="zh-CN" altLang="en-US" sz="28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22" name="TextBox 121"/>
          <p:cNvSpPr txBox="1">
            <a:spLocks noChangeArrowheads="1"/>
          </p:cNvSpPr>
          <p:nvPr/>
        </p:nvSpPr>
        <p:spPr bwMode="auto">
          <a:xfrm>
            <a:off x="514873" y="2204303"/>
            <a:ext cx="431757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/>
            <a:r>
              <a:rPr kumimoji="1" lang="zh-CN" altLang="en-US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雪崩区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(Avalanche region)</a:t>
            </a:r>
            <a:endParaRPr lang="zh-CN" altLang="en-US" sz="28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23" name="TextBox 122"/>
          <p:cNvSpPr txBox="1">
            <a:spLocks noChangeArrowheads="1"/>
          </p:cNvSpPr>
          <p:nvPr/>
        </p:nvSpPr>
        <p:spPr bwMode="auto">
          <a:xfrm>
            <a:off x="393626" y="5639884"/>
            <a:ext cx="44266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/>
            <a:r>
              <a:rPr kumimoji="1"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匀强电场区</a:t>
            </a:r>
            <a:r>
              <a:rPr kumimoji="1"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(Uniform field)</a:t>
            </a:r>
            <a:endParaRPr lang="zh-CN" altLang="en-US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24" name="右箭头 123"/>
          <p:cNvSpPr/>
          <p:nvPr/>
        </p:nvSpPr>
        <p:spPr>
          <a:xfrm>
            <a:off x="4730892" y="2303686"/>
            <a:ext cx="1679575" cy="365125"/>
          </a:xfrm>
          <a:prstGeom prst="rightArrow">
            <a:avLst/>
          </a:prstGeom>
          <a:solidFill>
            <a:schemeClr val="bg1"/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1800"/>
          </a:p>
        </p:txBody>
      </p:sp>
      <p:sp>
        <p:nvSpPr>
          <p:cNvPr id="125" name="右箭头 124"/>
          <p:cNvSpPr/>
          <p:nvPr/>
        </p:nvSpPr>
        <p:spPr>
          <a:xfrm>
            <a:off x="4799248" y="3033936"/>
            <a:ext cx="2665412" cy="365125"/>
          </a:xfrm>
          <a:prstGeom prst="rightArrow">
            <a:avLst/>
          </a:prstGeom>
          <a:solidFill>
            <a:schemeClr val="bg1"/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1800"/>
          </a:p>
        </p:txBody>
      </p:sp>
      <p:sp>
        <p:nvSpPr>
          <p:cNvPr id="126" name="右箭头 125"/>
          <p:cNvSpPr/>
          <p:nvPr/>
        </p:nvSpPr>
        <p:spPr>
          <a:xfrm>
            <a:off x="4730892" y="5735841"/>
            <a:ext cx="2494848" cy="365125"/>
          </a:xfrm>
          <a:prstGeom prst="rightArrow">
            <a:avLst/>
          </a:prstGeom>
          <a:solidFill>
            <a:schemeClr val="bg1"/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zh-CN" altLang="en-US" sz="1800"/>
          </a:p>
        </p:txBody>
      </p:sp>
      <p:sp>
        <p:nvSpPr>
          <p:cNvPr id="127" name="TextBox 126"/>
          <p:cNvSpPr txBox="1"/>
          <p:nvPr/>
        </p:nvSpPr>
        <p:spPr>
          <a:xfrm>
            <a:off x="5001172" y="6542311"/>
            <a:ext cx="38144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kumimoji="1" lang="zh-CN" altLang="en-US" sz="4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原理</a:t>
            </a:r>
            <a:r>
              <a:rPr kumimoji="1" lang="en-US" altLang="zh-CN" sz="40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(Principle)</a:t>
            </a:r>
            <a:endParaRPr lang="zh-CN" altLang="en-US" sz="40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66" name="TextBox 8"/>
          <p:cNvSpPr txBox="1">
            <a:spLocks noChangeArrowheads="1"/>
          </p:cNvSpPr>
          <p:nvPr/>
        </p:nvSpPr>
        <p:spPr bwMode="auto">
          <a:xfrm>
            <a:off x="10482211" y="1743011"/>
            <a:ext cx="1866393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无反偏时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10336533" y="3425069"/>
            <a:ext cx="2449580" cy="1754326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型区域耗尽层一般不会穿透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型层向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π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层扩散。</a:t>
            </a:r>
          </a:p>
        </p:txBody>
      </p:sp>
      <p:sp>
        <p:nvSpPr>
          <p:cNvPr id="2" name="下箭头 1"/>
          <p:cNvSpPr/>
          <p:nvPr/>
        </p:nvSpPr>
        <p:spPr>
          <a:xfrm>
            <a:off x="10972799" y="2486248"/>
            <a:ext cx="885217" cy="790575"/>
          </a:xfrm>
          <a:prstGeom prst="downArrow">
            <a:avLst/>
          </a:prstGeom>
          <a:solidFill>
            <a:srgbClr val="FF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0" name="组合 129">
            <a:extLst>
              <a:ext uri="{FF2B5EF4-FFF2-40B4-BE49-F238E27FC236}">
                <a16:creationId xmlns:a16="http://schemas.microsoft.com/office/drawing/2014/main" xmlns="" id="{690482E3-F6D9-4A48-83E2-78D769611E34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31" name="文本框 60">
              <a:extLst>
                <a:ext uri="{FF2B5EF4-FFF2-40B4-BE49-F238E27FC236}">
                  <a16:creationId xmlns:a16="http://schemas.microsoft.com/office/drawing/2014/main" xmlns="" id="{172D25CB-3B45-4BF4-909B-59054919A9E8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雪崩光电二极管结构与工作原理</a:t>
              </a:r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xmlns="" id="{F7D49F38-5CD5-4CB5-8814-F50D070528E9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xmlns="" id="{B2AB41B3-C498-4162-9B73-C9838A7D6C23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矩形: 圆角 133">
              <a:extLst>
                <a:ext uri="{FF2B5EF4-FFF2-40B4-BE49-F238E27FC236}">
                  <a16:creationId xmlns:a16="http://schemas.microsoft.com/office/drawing/2014/main" xmlns="" id="{40D11BEA-75FB-4EBE-81C1-18E0512B930A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4.5.1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5" name="直接连接符 58">
              <a:extLst>
                <a:ext uri="{FF2B5EF4-FFF2-40B4-BE49-F238E27FC236}">
                  <a16:creationId xmlns:a16="http://schemas.microsoft.com/office/drawing/2014/main" xmlns="" id="{0345C3F0-6C0A-4756-B3BA-B489B59ED6CD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xmlns="" id="{EA3F61FB-88FC-4C05-B181-78ABCDA15720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xmlns="" id="{298845F1-5256-4A81-9131-0C833E38EFC4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 animBg="1"/>
      <p:bldP spid="102" grpId="0"/>
      <p:bldP spid="109" grpId="0" animBg="1"/>
      <p:bldP spid="110" grpId="0" animBg="1"/>
      <p:bldP spid="111" grpId="0" animBg="1"/>
      <p:bldP spid="112" grpId="0" animBg="1"/>
      <p:bldP spid="121" grpId="0"/>
      <p:bldP spid="122" grpId="0"/>
      <p:bldP spid="123" grpId="0"/>
      <p:bldP spid="124" grpId="0" animBg="1"/>
      <p:bldP spid="125" grpId="0" animBg="1"/>
      <p:bldP spid="126" grpId="0" animBg="1"/>
      <p:bldP spid="127" grpId="0"/>
      <p:bldP spid="66" grpId="0" animBg="1"/>
      <p:bldP spid="67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1081088" y="1080738"/>
            <a:ext cx="5110162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二极管工作于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反向偏置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状态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TextBox 9"/>
          <p:cNvSpPr txBox="1">
            <a:spLocks noChangeArrowheads="1"/>
          </p:cNvSpPr>
          <p:nvPr/>
        </p:nvSpPr>
        <p:spPr bwMode="auto">
          <a:xfrm>
            <a:off x="1546224" y="1697752"/>
            <a:ext cx="660555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lvl="1" indent="-514350">
              <a:lnSpc>
                <a:spcPct val="150000"/>
              </a:lnSpc>
              <a:buFont typeface="Arial" charset="0"/>
              <a:buChar char="•"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增强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耗尽区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电场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514350" lvl="1" indent="-514350">
              <a:lnSpc>
                <a:spcPct val="150000"/>
              </a:lnSpc>
              <a:buFont typeface="Arial" charset="0"/>
              <a:buChar char="•"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光子的吸收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&amp;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产生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长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π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层</a:t>
            </a:r>
          </a:p>
        </p:txBody>
      </p:sp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1000124" y="3123589"/>
            <a:ext cx="775476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电子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空穴对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Electron-hole pairs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EHPs)</a:t>
            </a:r>
            <a:endParaRPr lang="zh-CN" altLang="en-US" sz="2800" b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1"/>
          <p:cNvSpPr txBox="1">
            <a:spLocks noChangeArrowheads="1"/>
          </p:cNvSpPr>
          <p:nvPr/>
        </p:nvSpPr>
        <p:spPr bwMode="auto">
          <a:xfrm>
            <a:off x="1333533" y="3646809"/>
            <a:ext cx="7850187" cy="1134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 indent="-457200">
              <a:lnSpc>
                <a:spcPct val="150000"/>
              </a:lnSpc>
              <a:buFont typeface="Arial" charset="0"/>
              <a:buChar char="•"/>
            </a:pPr>
            <a:r>
              <a:rPr kumimoji="1"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被均匀场分开</a:t>
            </a:r>
            <a:endParaRPr kumimoji="1" lang="en-US" altLang="zh-CN" sz="24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lvl="1" indent="-457200">
              <a:lnSpc>
                <a:spcPct val="150000"/>
              </a:lnSpc>
              <a:buFont typeface="Arial" charset="0"/>
              <a:buChar char="•"/>
            </a:pPr>
            <a:r>
              <a:rPr kumimoji="1"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漂移速度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~</a:t>
            </a:r>
            <a:r>
              <a:rPr kumimoji="1" lang="en-US" altLang="zh-CN" sz="2400" b="1" i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kumimoji="1" lang="en-US" altLang="zh-CN" sz="2400" b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saturation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(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 105 m/s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n</a:t>
            </a:r>
            <a:r>
              <a:rPr kumimoji="1" lang="en-US" altLang="zh-CN" sz="2400" b="1" baseline="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+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and p</a:t>
            </a:r>
            <a:r>
              <a:rPr kumimoji="1" lang="en-US" altLang="zh-CN" sz="2400" b="1" baseline="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+ 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sides</a:t>
            </a:r>
            <a:endParaRPr lang="zh-CN" altLang="en-US" sz="24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3" name="TextBox 13"/>
          <p:cNvSpPr txBox="1">
            <a:spLocks noChangeArrowheads="1"/>
          </p:cNvSpPr>
          <p:nvPr/>
        </p:nvSpPr>
        <p:spPr bwMode="auto">
          <a:xfrm>
            <a:off x="1081088" y="5110011"/>
            <a:ext cx="34033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漂移</a:t>
            </a:r>
            <a:r>
              <a:rPr lang="en-US" altLang="zh-CN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e</a:t>
            </a:r>
            <a:r>
              <a:rPr lang="en-US" altLang="zh-CN" sz="2800" b="1" baseline="30000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</a:t>
            </a:r>
            <a:r>
              <a:rPr lang="en-US" altLang="zh-CN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到达</a:t>
            </a:r>
            <a:r>
              <a:rPr lang="en-US" altLang="zh-CN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层</a:t>
            </a:r>
            <a:endParaRPr lang="en-US" altLang="zh-CN" sz="2800" b="1" dirty="0">
              <a:solidFill>
                <a:srgbClr val="0000FF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1546224" y="5650926"/>
            <a:ext cx="6877929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1" indent="-457200">
              <a:lnSpc>
                <a:spcPct val="150000"/>
              </a:lnSpc>
              <a:buFont typeface="Arial" charset="0"/>
              <a:buChar char="•"/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经历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更强的电场</a:t>
            </a:r>
            <a:endParaRPr lang="en-US" altLang="zh-CN" sz="2400" b="1" dirty="0">
              <a:solidFill>
                <a:srgbClr val="FF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lvl="1" indent="-457200">
              <a:lnSpc>
                <a:spcPct val="150000"/>
              </a:lnSpc>
              <a:buFont typeface="Arial" charset="0"/>
              <a:buChar char="•"/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获得足够的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动能：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&gt;</a:t>
            </a:r>
            <a:r>
              <a:rPr lang="en-US" altLang="zh-CN" sz="24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2400" b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g</a:t>
            </a:r>
            <a:endParaRPr lang="en-US" altLang="zh-CN" sz="2400" b="1" baseline="-250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lvl="1" indent="-457200">
              <a:lnSpc>
                <a:spcPct val="150000"/>
              </a:lnSpc>
              <a:buFont typeface="Arial" charset="0"/>
              <a:buChar char="•"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Si 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共价键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撞击离子化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释放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新的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EHPs</a:t>
            </a:r>
            <a:endParaRPr lang="zh-CN" altLang="en-US" sz="24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9059692" y="1017427"/>
            <a:ext cx="3614738" cy="2672741"/>
            <a:chOff x="9077948" y="1415514"/>
            <a:chExt cx="3614738" cy="2672741"/>
          </a:xfrm>
        </p:grpSpPr>
        <p:grpSp>
          <p:nvGrpSpPr>
            <p:cNvPr id="16" name="组合 48"/>
            <p:cNvGrpSpPr>
              <a:grpSpLocks/>
            </p:cNvGrpSpPr>
            <p:nvPr/>
          </p:nvGrpSpPr>
          <p:grpSpPr bwMode="auto">
            <a:xfrm>
              <a:off x="9077948" y="2080068"/>
              <a:ext cx="3614738" cy="2008187"/>
              <a:chOff x="2782863" y="1420785"/>
              <a:chExt cx="3614787" cy="2008215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3038454" y="1420785"/>
                <a:ext cx="3213144" cy="2008215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endParaRPr lang="zh-CN" altLang="en-US" sz="1800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6251598" y="1420785"/>
                <a:ext cx="146052" cy="200821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endParaRPr lang="zh-CN" altLang="en-US" sz="1800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5922981" y="1420785"/>
                <a:ext cx="328617" cy="2008215"/>
              </a:xfrm>
              <a:prstGeom prst="rect">
                <a:avLst/>
              </a:prstGeom>
              <a:solidFill>
                <a:srgbClr val="00CC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endParaRPr lang="zh-CN" altLang="en-US" sz="1800"/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3038454" y="1566837"/>
                <a:ext cx="584208" cy="1716111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endParaRPr lang="zh-CN" altLang="en-US" sz="1800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3038454" y="1712889"/>
                <a:ext cx="322266" cy="1424007"/>
              </a:xfrm>
              <a:prstGeom prst="rect">
                <a:avLst/>
              </a:prstGeom>
              <a:solidFill>
                <a:srgbClr val="FF33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endParaRPr lang="zh-CN" altLang="en-US" sz="1800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2819376" y="2954331"/>
                <a:ext cx="219078" cy="47466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endParaRPr lang="zh-CN" altLang="en-US" sz="1800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2782863" y="1420785"/>
                <a:ext cx="255591" cy="47466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endParaRPr lang="zh-CN" altLang="en-US" sz="1800"/>
              </a:p>
            </p:txBody>
          </p:sp>
          <p:grpSp>
            <p:nvGrpSpPr>
              <p:cNvPr id="24" name="组合 30"/>
              <p:cNvGrpSpPr>
                <a:grpSpLocks/>
              </p:cNvGrpSpPr>
              <p:nvPr/>
            </p:nvGrpSpPr>
            <p:grpSpPr bwMode="auto">
              <a:xfrm>
                <a:off x="2879786" y="1420785"/>
                <a:ext cx="159029" cy="2008215"/>
                <a:chOff x="2879786" y="1420785"/>
                <a:chExt cx="159029" cy="2008215"/>
              </a:xfrm>
            </p:grpSpPr>
            <p:sp>
              <p:nvSpPr>
                <p:cNvPr id="30" name="Rectangle 2" descr="宽上对角线"/>
                <p:cNvSpPr>
                  <a:spLocks noChangeAspect="1" noChangeArrowheads="1"/>
                </p:cNvSpPr>
                <p:nvPr/>
              </p:nvSpPr>
              <p:spPr bwMode="auto">
                <a:xfrm rot="5400000" flipH="1" flipV="1">
                  <a:off x="2758267" y="3148876"/>
                  <a:ext cx="401643" cy="158605"/>
                </a:xfrm>
                <a:prstGeom prst="rect">
                  <a:avLst/>
                </a:prstGeom>
                <a:pattFill prst="wdUpDiag">
                  <a:fgClr>
                    <a:srgbClr val="000000"/>
                  </a:fgClr>
                  <a:bgClr>
                    <a:srgbClr val="FFFFFF"/>
                  </a:bgClr>
                </a:pattFill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eaVert"/>
                <a:lstStyle/>
                <a:p>
                  <a:pPr defTabSz="914400"/>
                  <a:endParaRPr lang="zh-CN" altLang="en-US" sz="1800"/>
                </a:p>
              </p:txBody>
            </p:sp>
            <p:sp>
              <p:nvSpPr>
                <p:cNvPr id="31" name="Rectangle 2" descr="宽上对角线"/>
                <p:cNvSpPr>
                  <a:spLocks noChangeAspect="1" noChangeArrowheads="1"/>
                </p:cNvSpPr>
                <p:nvPr/>
              </p:nvSpPr>
              <p:spPr bwMode="auto">
                <a:xfrm rot="5400000" flipH="1" flipV="1">
                  <a:off x="2758691" y="1542304"/>
                  <a:ext cx="401643" cy="158605"/>
                </a:xfrm>
                <a:prstGeom prst="rect">
                  <a:avLst/>
                </a:prstGeom>
                <a:pattFill prst="wdUpDiag">
                  <a:fgClr>
                    <a:srgbClr val="000000"/>
                  </a:fgClr>
                  <a:bgClr>
                    <a:srgbClr val="FFFFFF"/>
                  </a:bgClr>
                </a:pattFill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eaVert"/>
                <a:lstStyle/>
                <a:p>
                  <a:pPr defTabSz="914400"/>
                  <a:endParaRPr lang="zh-CN" altLang="en-US" sz="1800"/>
                </a:p>
              </p:txBody>
            </p:sp>
          </p:grpSp>
          <p:sp>
            <p:nvSpPr>
              <p:cNvPr id="25" name="TextBox 33"/>
              <p:cNvSpPr txBox="1">
                <a:spLocks noChangeArrowheads="1"/>
              </p:cNvSpPr>
              <p:nvPr/>
            </p:nvSpPr>
            <p:spPr bwMode="auto">
              <a:xfrm>
                <a:off x="3074967" y="1843066"/>
                <a:ext cx="401643" cy="3048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914400"/>
                <a:r>
                  <a:rPr lang="en-US" altLang="zh-CN" b="1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zh-CN" b="1" baseline="3000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+</a:t>
                </a:r>
                <a:endParaRPr lang="zh-CN" alt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6" name="TextBox 34"/>
              <p:cNvSpPr txBox="1">
                <a:spLocks noChangeArrowheads="1"/>
              </p:cNvSpPr>
              <p:nvPr/>
            </p:nvSpPr>
            <p:spPr bwMode="auto">
              <a:xfrm>
                <a:off x="5996007" y="1785915"/>
                <a:ext cx="401643" cy="3048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914400"/>
                <a:r>
                  <a:rPr lang="en-US" altLang="zh-CN" b="1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CN" b="1" baseline="3000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+</a:t>
                </a:r>
                <a:endParaRPr lang="zh-CN" alt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" name="TextBox 35"/>
              <p:cNvSpPr txBox="1">
                <a:spLocks noChangeArrowheads="1"/>
              </p:cNvSpPr>
              <p:nvPr/>
            </p:nvSpPr>
            <p:spPr bwMode="auto">
              <a:xfrm>
                <a:off x="3440097" y="1822428"/>
                <a:ext cx="292104" cy="3048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914400"/>
                <a:r>
                  <a:rPr lang="en-US" altLang="zh-CN" b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p</a:t>
                </a:r>
                <a:endParaRPr lang="zh-CN" altLang="en-US" b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" name="TextBox 36"/>
              <p:cNvSpPr txBox="1">
                <a:spLocks noChangeArrowheads="1"/>
              </p:cNvSpPr>
              <p:nvPr/>
            </p:nvSpPr>
            <p:spPr bwMode="auto">
              <a:xfrm>
                <a:off x="4572000" y="1858941"/>
                <a:ext cx="401643" cy="3048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914400"/>
                <a:r>
                  <a:rPr lang="en-US" altLang="zh-CN" b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altLang="zh-CN" b="1" baseline="3000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b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" name="TextBox 47"/>
              <p:cNvSpPr txBox="1">
                <a:spLocks noChangeArrowheads="1"/>
              </p:cNvSpPr>
              <p:nvPr/>
            </p:nvSpPr>
            <p:spPr bwMode="auto">
              <a:xfrm>
                <a:off x="4060818" y="2297097"/>
                <a:ext cx="1387494" cy="4270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914400"/>
                <a:r>
                  <a:rPr lang="en-US" altLang="zh-CN" sz="2800" b="1">
                    <a:latin typeface="Times New Roman" pitchFamily="18" charset="0"/>
                    <a:cs typeface="Times New Roman" pitchFamily="18" charset="0"/>
                  </a:rPr>
                  <a:t>Intrinsic</a:t>
                </a:r>
                <a:endParaRPr lang="zh-CN" altLang="en-US" sz="2800" b="1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32" name="组合 135"/>
            <p:cNvGrpSpPr>
              <a:grpSpLocks/>
            </p:cNvGrpSpPr>
            <p:nvPr/>
          </p:nvGrpSpPr>
          <p:grpSpPr bwMode="auto">
            <a:xfrm>
              <a:off x="9095411" y="1415514"/>
              <a:ext cx="3524250" cy="711200"/>
              <a:chOff x="2799920" y="398421"/>
              <a:chExt cx="3524704" cy="711598"/>
            </a:xfrm>
          </p:grpSpPr>
          <p:cxnSp>
            <p:nvCxnSpPr>
              <p:cNvPr id="33" name="直接连接符 32"/>
              <p:cNvCxnSpPr/>
              <p:nvPr/>
            </p:nvCxnSpPr>
            <p:spPr>
              <a:xfrm rot="5400000">
                <a:off x="2599774" y="847936"/>
                <a:ext cx="436807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5400000">
                <a:off x="6082395" y="867791"/>
                <a:ext cx="4844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5400000">
                <a:off x="3769119" y="616824"/>
                <a:ext cx="438395" cy="158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2799920" y="635091"/>
                <a:ext cx="1168551" cy="15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4170108" y="630326"/>
                <a:ext cx="876413" cy="158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5695893" y="639856"/>
                <a:ext cx="620792" cy="158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矩形 38"/>
              <p:cNvSpPr/>
              <p:nvPr/>
            </p:nvSpPr>
            <p:spPr>
              <a:xfrm>
                <a:off x="5046521" y="539788"/>
                <a:ext cx="657310" cy="182664"/>
              </a:xfrm>
              <a:prstGeom prst="rect">
                <a:avLst/>
              </a:prstGeom>
              <a:solidFill>
                <a:srgbClr val="0000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endParaRPr lang="zh-CN" altLang="en-US" sz="1800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 rot="5400000">
                <a:off x="4042259" y="632709"/>
                <a:ext cx="182665" cy="0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/>
            <p:cNvSpPr txBox="1">
              <a:spLocks noChangeArrowheads="1"/>
            </p:cNvSpPr>
            <p:nvPr/>
          </p:nvSpPr>
          <p:spPr bwMode="auto">
            <a:xfrm>
              <a:off x="11633823" y="1714943"/>
              <a:ext cx="401638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4400"/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L</a:t>
              </a:r>
              <a:endParaRPr lang="zh-CN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任意多边形 41"/>
            <p:cNvSpPr/>
            <p:nvPr/>
          </p:nvSpPr>
          <p:spPr>
            <a:xfrm>
              <a:off x="10867061" y="1787968"/>
              <a:ext cx="474662" cy="184150"/>
            </a:xfrm>
            <a:custGeom>
              <a:avLst/>
              <a:gdLst>
                <a:gd name="connsiteX0" fmla="*/ 0 w 611221"/>
                <a:gd name="connsiteY0" fmla="*/ 350196 h 351818"/>
                <a:gd name="connsiteX1" fmla="*/ 486383 w 611221"/>
                <a:gd name="connsiteY1" fmla="*/ 340469 h 351818"/>
                <a:gd name="connsiteX2" fmla="*/ 573932 w 611221"/>
                <a:gd name="connsiteY2" fmla="*/ 282103 h 351818"/>
                <a:gd name="connsiteX3" fmla="*/ 603115 w 611221"/>
                <a:gd name="connsiteY3" fmla="*/ 145915 h 351818"/>
                <a:gd name="connsiteX4" fmla="*/ 525294 w 611221"/>
                <a:gd name="connsiteY4" fmla="*/ 29183 h 351818"/>
                <a:gd name="connsiteX5" fmla="*/ 359923 w 611221"/>
                <a:gd name="connsiteY5" fmla="*/ 9728 h 351818"/>
                <a:gd name="connsiteX6" fmla="*/ 48638 w 611221"/>
                <a:gd name="connsiteY6" fmla="*/ 0 h 351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1221" h="351818">
                  <a:moveTo>
                    <a:pt x="0" y="350196"/>
                  </a:moveTo>
                  <a:cubicBezTo>
                    <a:pt x="195364" y="351007"/>
                    <a:pt x="390728" y="351818"/>
                    <a:pt x="486383" y="340469"/>
                  </a:cubicBezTo>
                  <a:cubicBezTo>
                    <a:pt x="582038" y="329120"/>
                    <a:pt x="554477" y="314529"/>
                    <a:pt x="573932" y="282103"/>
                  </a:cubicBezTo>
                  <a:cubicBezTo>
                    <a:pt x="593387" y="249677"/>
                    <a:pt x="611221" y="188068"/>
                    <a:pt x="603115" y="145915"/>
                  </a:cubicBezTo>
                  <a:cubicBezTo>
                    <a:pt x="595009" y="103762"/>
                    <a:pt x="565826" y="51881"/>
                    <a:pt x="525294" y="29183"/>
                  </a:cubicBezTo>
                  <a:cubicBezTo>
                    <a:pt x="484762" y="6485"/>
                    <a:pt x="439366" y="14592"/>
                    <a:pt x="359923" y="9728"/>
                  </a:cubicBezTo>
                  <a:cubicBezTo>
                    <a:pt x="280480" y="4864"/>
                    <a:pt x="164559" y="2432"/>
                    <a:pt x="48638" y="0"/>
                  </a:cubicBezTo>
                </a:path>
              </a:pathLst>
            </a:custGeom>
            <a:ln w="3810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1800"/>
            </a:p>
          </p:txBody>
        </p:sp>
        <p:sp>
          <p:nvSpPr>
            <p:cNvPr id="43" name="TextBox 42"/>
            <p:cNvSpPr txBox="1">
              <a:spLocks noChangeArrowheads="1"/>
            </p:cNvSpPr>
            <p:nvPr/>
          </p:nvSpPr>
          <p:spPr bwMode="auto">
            <a:xfrm>
              <a:off x="10647986" y="1678430"/>
              <a:ext cx="182562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4400"/>
              <a:r>
                <a:rPr lang="en-US" altLang="zh-CN" b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endParaRPr lang="zh-CN" altLang="en-US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9247811" y="5001898"/>
            <a:ext cx="3516312" cy="1899797"/>
            <a:chOff x="9247811" y="4875434"/>
            <a:chExt cx="3516312" cy="1899797"/>
          </a:xfrm>
        </p:grpSpPr>
        <p:grpSp>
          <p:nvGrpSpPr>
            <p:cNvPr id="51" name="组合 50"/>
            <p:cNvGrpSpPr/>
            <p:nvPr/>
          </p:nvGrpSpPr>
          <p:grpSpPr>
            <a:xfrm>
              <a:off x="9254171" y="5719864"/>
              <a:ext cx="3509952" cy="1055367"/>
              <a:chOff x="9111570" y="4396902"/>
              <a:chExt cx="3509952" cy="1055367"/>
            </a:xfrm>
          </p:grpSpPr>
          <p:grpSp>
            <p:nvGrpSpPr>
              <p:cNvPr id="48" name="组合 47"/>
              <p:cNvGrpSpPr/>
              <p:nvPr/>
            </p:nvGrpSpPr>
            <p:grpSpPr>
              <a:xfrm>
                <a:off x="9111570" y="4781287"/>
                <a:ext cx="3509952" cy="670982"/>
                <a:chOff x="9048679" y="4439029"/>
                <a:chExt cx="3509952" cy="670982"/>
              </a:xfrm>
            </p:grpSpPr>
            <p:sp>
              <p:nvSpPr>
                <p:cNvPr id="2" name="等腰三角形 1"/>
                <p:cNvSpPr/>
                <p:nvPr/>
              </p:nvSpPr>
              <p:spPr>
                <a:xfrm rot="16200000">
                  <a:off x="10688937" y="4500650"/>
                  <a:ext cx="651282" cy="547739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" name="直接连接符 3"/>
                <p:cNvCxnSpPr/>
                <p:nvPr/>
              </p:nvCxnSpPr>
              <p:spPr>
                <a:xfrm>
                  <a:off x="10710099" y="4439029"/>
                  <a:ext cx="0" cy="670982"/>
                </a:xfrm>
                <a:prstGeom prst="line">
                  <a:avLst/>
                </a:prstGeom>
                <a:ln w="63500">
                  <a:solidFill>
                    <a:srgbClr val="00206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/>
                <p:cNvCxnSpPr/>
                <p:nvPr/>
              </p:nvCxnSpPr>
              <p:spPr>
                <a:xfrm flipV="1">
                  <a:off x="9048679" y="4774519"/>
                  <a:ext cx="3509952" cy="677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直接箭头连接符 49"/>
              <p:cNvCxnSpPr/>
              <p:nvPr/>
            </p:nvCxnSpPr>
            <p:spPr>
              <a:xfrm>
                <a:off x="10647986" y="4396902"/>
                <a:ext cx="349360" cy="384385"/>
              </a:xfrm>
              <a:prstGeom prst="straightConnector1">
                <a:avLst/>
              </a:prstGeom>
              <a:ln w="47625">
                <a:solidFill>
                  <a:srgbClr val="FF000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/>
              <p:cNvCxnSpPr/>
              <p:nvPr/>
            </p:nvCxnSpPr>
            <p:spPr>
              <a:xfrm>
                <a:off x="10323714" y="4461750"/>
                <a:ext cx="349360" cy="384385"/>
              </a:xfrm>
              <a:prstGeom prst="straightConnector1">
                <a:avLst/>
              </a:prstGeom>
              <a:ln w="47625">
                <a:solidFill>
                  <a:srgbClr val="FF000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直接连接符 55"/>
            <p:cNvCxnSpPr/>
            <p:nvPr/>
          </p:nvCxnSpPr>
          <p:spPr bwMode="auto">
            <a:xfrm>
              <a:off x="9266861" y="5107209"/>
              <a:ext cx="0" cy="133253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 bwMode="auto">
            <a:xfrm flipH="1">
              <a:off x="12754395" y="5102447"/>
              <a:ext cx="7938" cy="134406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 bwMode="auto">
            <a:xfrm rot="5400000">
              <a:off x="10216980" y="5093715"/>
              <a:ext cx="438150" cy="15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 bwMode="auto">
            <a:xfrm>
              <a:off x="9247811" y="5111972"/>
              <a:ext cx="1168400" cy="158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 bwMode="auto">
            <a:xfrm>
              <a:off x="10617823" y="5107209"/>
              <a:ext cx="876300" cy="15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 bwMode="auto">
            <a:xfrm>
              <a:off x="12143411" y="5116734"/>
              <a:ext cx="620712" cy="15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矩形 61"/>
            <p:cNvSpPr/>
            <p:nvPr/>
          </p:nvSpPr>
          <p:spPr bwMode="auto">
            <a:xfrm>
              <a:off x="11494123" y="5016722"/>
              <a:ext cx="657225" cy="182562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1800"/>
            </a:p>
          </p:txBody>
        </p:sp>
        <p:cxnSp>
          <p:nvCxnSpPr>
            <p:cNvPr id="63" name="直接连接符 62"/>
            <p:cNvCxnSpPr/>
            <p:nvPr/>
          </p:nvCxnSpPr>
          <p:spPr bwMode="auto">
            <a:xfrm rot="5400000">
              <a:off x="10490029" y="5109591"/>
              <a:ext cx="182563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>
              <a:spLocks noChangeArrowheads="1"/>
            </p:cNvSpPr>
            <p:nvPr/>
          </p:nvSpPr>
          <p:spPr bwMode="auto">
            <a:xfrm>
              <a:off x="11621916" y="5246155"/>
              <a:ext cx="401638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4400"/>
              <a:r>
                <a:rPr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L</a:t>
              </a:r>
              <a:endParaRPr lang="zh-CN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任意多边形 69"/>
            <p:cNvSpPr/>
            <p:nvPr/>
          </p:nvSpPr>
          <p:spPr>
            <a:xfrm>
              <a:off x="10739267" y="5446930"/>
              <a:ext cx="819775" cy="407992"/>
            </a:xfrm>
            <a:custGeom>
              <a:avLst/>
              <a:gdLst>
                <a:gd name="connsiteX0" fmla="*/ 0 w 611221"/>
                <a:gd name="connsiteY0" fmla="*/ 350196 h 351818"/>
                <a:gd name="connsiteX1" fmla="*/ 486383 w 611221"/>
                <a:gd name="connsiteY1" fmla="*/ 340469 h 351818"/>
                <a:gd name="connsiteX2" fmla="*/ 573932 w 611221"/>
                <a:gd name="connsiteY2" fmla="*/ 282103 h 351818"/>
                <a:gd name="connsiteX3" fmla="*/ 603115 w 611221"/>
                <a:gd name="connsiteY3" fmla="*/ 145915 h 351818"/>
                <a:gd name="connsiteX4" fmla="*/ 525294 w 611221"/>
                <a:gd name="connsiteY4" fmla="*/ 29183 h 351818"/>
                <a:gd name="connsiteX5" fmla="*/ 359923 w 611221"/>
                <a:gd name="connsiteY5" fmla="*/ 9728 h 351818"/>
                <a:gd name="connsiteX6" fmla="*/ 48638 w 611221"/>
                <a:gd name="connsiteY6" fmla="*/ 0 h 351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1221" h="351818">
                  <a:moveTo>
                    <a:pt x="0" y="350196"/>
                  </a:moveTo>
                  <a:cubicBezTo>
                    <a:pt x="195364" y="351007"/>
                    <a:pt x="390728" y="351818"/>
                    <a:pt x="486383" y="340469"/>
                  </a:cubicBezTo>
                  <a:cubicBezTo>
                    <a:pt x="582038" y="329120"/>
                    <a:pt x="554477" y="314529"/>
                    <a:pt x="573932" y="282103"/>
                  </a:cubicBezTo>
                  <a:cubicBezTo>
                    <a:pt x="593387" y="249677"/>
                    <a:pt x="611221" y="188068"/>
                    <a:pt x="603115" y="145915"/>
                  </a:cubicBezTo>
                  <a:cubicBezTo>
                    <a:pt x="595009" y="103762"/>
                    <a:pt x="565826" y="51881"/>
                    <a:pt x="525294" y="29183"/>
                  </a:cubicBezTo>
                  <a:cubicBezTo>
                    <a:pt x="484762" y="6485"/>
                    <a:pt x="439366" y="14592"/>
                    <a:pt x="359923" y="9728"/>
                  </a:cubicBezTo>
                  <a:cubicBezTo>
                    <a:pt x="280480" y="4864"/>
                    <a:pt x="164559" y="2432"/>
                    <a:pt x="48638" y="0"/>
                  </a:cubicBezTo>
                </a:path>
              </a:pathLst>
            </a:custGeom>
            <a:ln w="38100">
              <a:solidFill>
                <a:srgbClr val="0000CC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zh-CN" altLang="en-US" sz="1800"/>
            </a:p>
          </p:txBody>
        </p:sp>
      </p:grpSp>
      <p:sp>
        <p:nvSpPr>
          <p:cNvPr id="69" name="下箭头 68"/>
          <p:cNvSpPr/>
          <p:nvPr/>
        </p:nvSpPr>
        <p:spPr>
          <a:xfrm>
            <a:off x="10720828" y="4017387"/>
            <a:ext cx="773112" cy="856034"/>
          </a:xfrm>
          <a:prstGeom prst="downArrow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35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xmlns="" id="{7FFBF613-65F6-4227-B725-406F3FB297AD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72" name="文本框 60">
              <a:extLst>
                <a:ext uri="{FF2B5EF4-FFF2-40B4-BE49-F238E27FC236}">
                  <a16:creationId xmlns:a16="http://schemas.microsoft.com/office/drawing/2014/main" xmlns="" id="{A2E96BB5-179D-4FF1-B359-9FFE56B2ED46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雪崩光电二极管结构与工作原理</a:t>
              </a: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xmlns="" id="{165D7A8A-0B30-4A6A-BFF3-96BFD7DD8FF4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xmlns="" id="{ADFF54AC-9065-4FA2-8FE6-0CA6932D8F70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xmlns="" id="{169F1A54-F93E-494F-B199-CCF35E70AEC1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4.5.1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6" name="直接连接符 58">
              <a:extLst>
                <a:ext uri="{FF2B5EF4-FFF2-40B4-BE49-F238E27FC236}">
                  <a16:creationId xmlns:a16="http://schemas.microsoft.com/office/drawing/2014/main" xmlns="" id="{852514A8-B4F5-4C70-81DF-D7C0BB11F71B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xmlns="" id="{6CB797AE-F38A-42DD-A503-7DC6C2AD8F54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xmlns="" id="{2FA95ACC-B7A0-4A80-BA63-D34356EE41B5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3" grpId="0"/>
      <p:bldP spid="14" grpId="0"/>
      <p:bldP spid="6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>
            <a:spLocks/>
          </p:cNvSpPr>
          <p:nvPr/>
        </p:nvSpPr>
        <p:spPr>
          <a:xfrm>
            <a:off x="2284412" y="1100931"/>
            <a:ext cx="2957512" cy="584200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spcBef>
                <a:spcPts val="1800"/>
              </a:spcBef>
              <a:buFont typeface="Arial" charset="0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产生新的</a:t>
            </a:r>
            <a:r>
              <a:rPr lang="en-US" altLang="zh-CN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EHPs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780466" y="1821655"/>
            <a:ext cx="8616950" cy="1339833"/>
          </a:xfrm>
          <a:prstGeom prst="rect">
            <a:avLst/>
          </a:prstGeom>
        </p:spPr>
        <p:txBody>
          <a:bodyPr/>
          <a:lstStyle/>
          <a:p>
            <a:pPr lvl="1" indent="-457200" eaLnBrk="0" hangingPunct="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经历同上过程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lvl="1" indent="-457200" eaLnBrk="0" hangingPunct="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释放更多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EHPs 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撞击离子化过程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形成雪崩</a:t>
            </a:r>
            <a:endParaRPr lang="zh-CN" altLang="en-US" sz="3200" dirty="0">
              <a:solidFill>
                <a:schemeClr val="tx1">
                  <a:tint val="75000"/>
                </a:schemeClr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2094791" y="5046884"/>
            <a:ext cx="1329481" cy="657225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结论</a:t>
            </a:r>
            <a:r>
              <a:rPr lang="en-US" altLang="zh-CN" sz="32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:</a:t>
            </a: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3978140" y="3983408"/>
            <a:ext cx="8434388" cy="2884488"/>
          </a:xfrm>
          <a:prstGeom prst="rect">
            <a:avLst/>
          </a:prstGeom>
        </p:spPr>
        <p:txBody>
          <a:bodyPr/>
          <a:lstStyle/>
          <a:p>
            <a:pPr lvl="1" indent="-457200" eaLnBrk="0" hangingPunct="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一个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kumimoji="1" lang="en-US" altLang="zh-CN" sz="2800" b="1" baseline="300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</a:t>
            </a:r>
            <a:r>
              <a:rPr kumimoji="1"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1"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进入</a:t>
            </a:r>
            <a:r>
              <a:rPr kumimoji="1"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kumimoji="1"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层</a:t>
            </a:r>
            <a:r>
              <a:rPr kumimoji="1"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</a:p>
          <a:p>
            <a:pPr lvl="1" indent="-457200" eaLnBrk="0" hangingPunct="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kumimoji="1"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产生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大量的</a:t>
            </a:r>
            <a:r>
              <a:rPr kumimoji="1"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EHPs </a:t>
            </a:r>
            <a:r>
              <a:rPr kumimoji="1"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 </a:t>
            </a:r>
            <a:r>
              <a:rPr kumimoji="1"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形成光电流</a:t>
            </a:r>
            <a:endParaRPr kumimoji="1"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Wingdings" pitchFamily="2" charset="2"/>
            </a:endParaRPr>
          </a:p>
          <a:p>
            <a:pPr lvl="1" indent="-457200" eaLnBrk="0" hangingPunct="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kumimoji="1"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APD </a:t>
            </a:r>
            <a:r>
              <a:rPr kumimoji="1"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光电二极管具有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内部增益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1"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机制</a:t>
            </a:r>
            <a:r>
              <a:rPr kumimoji="1"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</a:t>
            </a:r>
            <a:r>
              <a:rPr kumimoji="1"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吸收一个光子可产生大量的</a:t>
            </a:r>
            <a:r>
              <a:rPr kumimoji="1"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EHPs</a:t>
            </a:r>
            <a:endParaRPr lang="zh-CN" altLang="en-US" sz="32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91661109-7EF6-4F79-9962-4E28ED054448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3" name="文本框 60">
              <a:extLst>
                <a:ext uri="{FF2B5EF4-FFF2-40B4-BE49-F238E27FC236}">
                  <a16:creationId xmlns:a16="http://schemas.microsoft.com/office/drawing/2014/main" xmlns="" id="{30E17CB6-F81D-477E-9FFD-4C82DF9FCBE2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雪崩光电二极管结构与工作原理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xmlns="" id="{BF6A039C-2C82-4056-B59B-8987D84171C9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E2646264-0C13-42DB-83AC-24AF4A12B5A5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xmlns="" id="{69190ABF-CD68-4C97-9C9A-9F69250A737C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4.5.1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连接符 58">
              <a:extLst>
                <a:ext uri="{FF2B5EF4-FFF2-40B4-BE49-F238E27FC236}">
                  <a16:creationId xmlns:a16="http://schemas.microsoft.com/office/drawing/2014/main" xmlns="" id="{493CD2C4-B55E-44D1-AC55-32CCE9CC0E38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9AC5EFE8-DEDC-4996-965E-930677E32C1C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A5BDAC25-C18D-4973-AF7A-42633C437B4D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003424" y="1628436"/>
            <a:ext cx="2749347" cy="2032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雪崩区</a:t>
            </a:r>
            <a:endParaRPr lang="en-US" altLang="zh-CN" sz="28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工作原理</a:t>
            </a:r>
            <a:endParaRPr lang="en-US" altLang="zh-CN" sz="2800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动态示意图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1370487" y="5018762"/>
            <a:ext cx="11071189" cy="188118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50000"/>
              </a:lnSpc>
              <a:spcBef>
                <a:spcPct val="30000"/>
              </a:spcBef>
              <a:buSzPct val="70000"/>
              <a:buFont typeface="Wingdings" pitchFamily="2" charset="2"/>
              <a:buChar char="¡"/>
            </a:pPr>
            <a:r>
              <a:rPr kumimoji="1"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均匀电场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</a:t>
            </a:r>
            <a:r>
              <a:rPr kumimoji="1" lang="el-GR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π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分离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kumimoji="1" lang="en-US" altLang="zh-CN" sz="2400" b="1" baseline="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-p</a:t>
            </a:r>
            <a:r>
              <a:rPr kumimoji="1" lang="en-US" altLang="zh-CN" sz="2400" b="1" baseline="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+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(EHPs) </a:t>
            </a:r>
            <a:r>
              <a:rPr kumimoji="1"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并以速度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1" lang="en-US" altLang="zh-CN" sz="24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kumimoji="1" lang="en-US" altLang="zh-CN" sz="2400" b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saturation</a:t>
            </a:r>
            <a:r>
              <a:rPr kumimoji="1"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漂移</a:t>
            </a:r>
            <a:endParaRPr kumimoji="1" lang="en-US" altLang="zh-CN" sz="24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342900" indent="-342900" eaLnBrk="0" hangingPunct="0">
              <a:lnSpc>
                <a:spcPct val="150000"/>
              </a:lnSpc>
              <a:spcBef>
                <a:spcPct val="30000"/>
              </a:spcBef>
              <a:buSzPct val="70000"/>
              <a:buFont typeface="Wingdings" pitchFamily="2" charset="2"/>
              <a:buChar char="¡"/>
            </a:pPr>
            <a:r>
              <a:rPr kumimoji="1"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漂移 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kumimoji="1" lang="en-US" altLang="zh-CN" sz="2400" b="1" baseline="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 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p</a:t>
            </a:r>
            <a:r>
              <a:rPr kumimoji="1"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层，更强电场 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 </a:t>
            </a:r>
            <a:r>
              <a:rPr kumimoji="1"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获取足够的</a:t>
            </a:r>
            <a:r>
              <a:rPr kumimoji="1" lang="en-US" altLang="zh-CN" sz="24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kumimoji="1" lang="en-US" altLang="zh-CN" sz="2400" b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kinetic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(&gt; </a:t>
            </a:r>
            <a:r>
              <a:rPr kumimoji="1" lang="en-US" altLang="zh-CN" sz="24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kumimoji="1" lang="en-US" altLang="zh-CN" sz="2400" b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g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 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1"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释放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EHPs</a:t>
            </a:r>
          </a:p>
          <a:p>
            <a:pPr marL="342900" indent="-342900" eaLnBrk="0" hangingPunct="0">
              <a:lnSpc>
                <a:spcPct val="150000"/>
              </a:lnSpc>
              <a:spcBef>
                <a:spcPct val="30000"/>
              </a:spcBef>
              <a:buSzPct val="70000"/>
              <a:buFont typeface="Wingdings" pitchFamily="2" charset="2"/>
              <a:buChar char="¡"/>
            </a:pPr>
            <a:r>
              <a:rPr kumimoji="1"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新的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EHPs 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1"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进一步碰撞离子化并产生更多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EHPs </a:t>
            </a:r>
            <a:r>
              <a:rPr kumimoji="1"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 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雪崩</a:t>
            </a:r>
            <a:endParaRPr kumimoji="1" lang="en-US" altLang="zh-CN" sz="2400" b="1" dirty="0">
              <a:solidFill>
                <a:srgbClr val="FF33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14" name="Picture 2" descr="7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9864" y="768349"/>
            <a:ext cx="5404242" cy="4052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8196469A-CC9F-48BA-AFF3-AA32A4FCBC9F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6" name="文本框 60">
              <a:extLst>
                <a:ext uri="{FF2B5EF4-FFF2-40B4-BE49-F238E27FC236}">
                  <a16:creationId xmlns:a16="http://schemas.microsoft.com/office/drawing/2014/main" xmlns="" id="{153ABA15-5816-4549-BB6F-8DF14440AB03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雪崩光电二极管结构与工作原理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0CD68A12-7D5E-43DC-A1EB-4A6571458839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B2842B26-FCD4-45A2-8B88-F2CCC90C2AA4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xmlns="" id="{453118CB-0769-4106-A69A-2694D0095476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4.5.1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58">
              <a:extLst>
                <a:ext uri="{FF2B5EF4-FFF2-40B4-BE49-F238E27FC236}">
                  <a16:creationId xmlns:a16="http://schemas.microsoft.com/office/drawing/2014/main" xmlns="" id="{BA850D38-A53C-481E-9D00-066C7078ECE4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AE71191A-538E-4621-B15F-A6A9FE260892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E5A4A86E-FA74-4549-B332-73CC37C6E1E0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雪崩光电二极管特性参数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8443898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雪崩光电二极管特性参数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4.5.2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4.5.2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893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>
            <a:spLocks/>
          </p:cNvSpPr>
          <p:nvPr/>
        </p:nvSpPr>
        <p:spPr bwMode="auto">
          <a:xfrm>
            <a:off x="1599627" y="1956579"/>
            <a:ext cx="5660011" cy="59206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  <a:defRPr/>
            </a:pPr>
            <a:r>
              <a:rPr lang="zh-CN" altLang="en-US" sz="32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雪崩区中载流子的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决定于：</a:t>
            </a:r>
            <a:endParaRPr lang="en-US" altLang="zh-CN" sz="3200" b="1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3355182" y="1014803"/>
            <a:ext cx="648811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sz="3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 </a:t>
            </a:r>
            <a:r>
              <a:rPr kumimoji="1" lang="zh-CN" altLang="en-US" sz="3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雪崩倍增系数</a:t>
            </a:r>
            <a:r>
              <a:rPr kumimoji="1" lang="en-US" altLang="zh-CN" sz="3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</a:t>
            </a:r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1599628" y="4140032"/>
            <a:ext cx="4129964" cy="6032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定义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雪崩倍增系数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  </a:t>
            </a:r>
            <a:endParaRPr lang="zh-CN" altLang="en-US" sz="32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2684461" y="2715774"/>
            <a:ext cx="8232775" cy="57626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lvl="1" indent="-4572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碰撞离子化的几率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– 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极大地依赖于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区域电场</a:t>
            </a:r>
            <a:endParaRPr lang="en-US" altLang="zh-CN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 bwMode="auto">
          <a:xfrm>
            <a:off x="2692401" y="3451935"/>
            <a:ext cx="3906837" cy="584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lvl="1" indent="-4572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反向偏压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Ur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772442" y="5288824"/>
          <a:ext cx="1824038" cy="12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公式" r:id="rId3" imgW="609600" imgH="469900" progId="Equation.3">
                  <p:embed/>
                </p:oleObj>
              </mc:Choice>
              <mc:Fallback>
                <p:oleObj name="公式" r:id="rId3" imgW="609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2442" y="5288824"/>
                        <a:ext cx="1824038" cy="12588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3883025" y="5067571"/>
            <a:ext cx="5432425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spcBef>
                <a:spcPts val="1200"/>
              </a:spcBef>
              <a:buFont typeface="Wingdings" pitchFamily="2" charset="2"/>
              <a:buChar char="l"/>
              <a:defRPr/>
            </a:pPr>
            <a:r>
              <a:rPr lang="en-US" altLang="zh-CN" sz="2800" b="1" i="1" kern="0" dirty="0" err="1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2800" b="1" kern="0" baseline="-25000" dirty="0" err="1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ph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倍增时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APD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输出的光电流</a:t>
            </a:r>
            <a:endParaRPr lang="en-US" altLang="zh-CN" sz="2800" b="1" kern="0" dirty="0">
              <a:solidFill>
                <a:srgbClr val="00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883025" y="5805218"/>
            <a:ext cx="871495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28600" eaLnBrk="0" hangingPunct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l"/>
              <a:defRPr/>
            </a:pPr>
            <a:r>
              <a:rPr lang="en-US" altLang="zh-CN" sz="2800" b="1" i="1" kern="0" dirty="0" err="1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2800" b="1" kern="0" baseline="-25000" dirty="0" err="1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pho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无倍增时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APD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输出的光电流。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在无放大条件下测量，如在小的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</a:t>
            </a:r>
            <a:r>
              <a:rPr lang="en-US" altLang="zh-CN" sz="2800" b="1" kern="0" baseline="-250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下测量。</a:t>
            </a:r>
            <a:endParaRPr lang="en-US" altLang="zh-CN" sz="2800" b="1" kern="0" baseline="-25000" dirty="0">
              <a:solidFill>
                <a:srgbClr val="00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xmlns="" id="{6FA432E4-524C-4500-B814-ADC89AA130C6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0" name="文本框 60">
              <a:extLst>
                <a:ext uri="{FF2B5EF4-FFF2-40B4-BE49-F238E27FC236}">
                  <a16:creationId xmlns:a16="http://schemas.microsoft.com/office/drawing/2014/main" xmlns="" id="{2BD428FB-1A76-4233-BDAC-1661EBAFA8EE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雪崩光电二极管特性参数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A5054165-8BDB-46C3-B4CA-A007454CD37D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4F0EEF66-AF99-476D-98D2-3222F897582E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xmlns="" id="{93E32586-24D9-4C6A-A25C-D9667A35891A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4.5.2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连接符 58">
              <a:extLst>
                <a:ext uri="{FF2B5EF4-FFF2-40B4-BE49-F238E27FC236}">
                  <a16:creationId xmlns:a16="http://schemas.microsoft.com/office/drawing/2014/main" xmlns="" id="{20E3A044-9FA6-4A9D-BD22-34BD77585742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48F87BB1-E92D-4E99-A668-5330801615D9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xmlns="" id="{BE7EC27A-B9AF-4AD2-A570-6E8654259F5E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05449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 animBg="1"/>
      <p:bldP spid="13" grpId="0" animBg="1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732505"/>
              </p:ext>
            </p:extLst>
          </p:nvPr>
        </p:nvGraphicFramePr>
        <p:xfrm>
          <a:off x="7200900" y="1157288"/>
          <a:ext cx="5953125" cy="367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Visio" r:id="rId3" imgW="2543120" imgH="1571488" progId="Visio.Drawing.11">
                  <p:embed/>
                </p:oleObj>
              </mc:Choice>
              <mc:Fallback>
                <p:oleObj name="Visio" r:id="rId3" imgW="2543120" imgH="157148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900" y="1157288"/>
                        <a:ext cx="5953125" cy="367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547920"/>
              </p:ext>
            </p:extLst>
          </p:nvPr>
        </p:nvGraphicFramePr>
        <p:xfrm>
          <a:off x="3536950" y="2311400"/>
          <a:ext cx="2903538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5" imgW="1333440" imgH="647640" progId="Equation.DSMT4">
                  <p:embed/>
                </p:oleObj>
              </mc:Choice>
              <mc:Fallback>
                <p:oleObj name="Equation" r:id="rId5" imgW="133344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0" y="2311400"/>
                        <a:ext cx="2903538" cy="14097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内容占位符 2"/>
          <p:cNvSpPr txBox="1">
            <a:spLocks/>
          </p:cNvSpPr>
          <p:nvPr/>
        </p:nvSpPr>
        <p:spPr bwMode="auto">
          <a:xfrm>
            <a:off x="1275878" y="906258"/>
            <a:ext cx="2741646" cy="5111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倍增系数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M</a:t>
            </a:r>
          </a:p>
        </p:txBody>
      </p:sp>
      <p:sp>
        <p:nvSpPr>
          <p:cNvPr id="10" name="矩形 9"/>
          <p:cNvSpPr/>
          <p:nvPr/>
        </p:nvSpPr>
        <p:spPr>
          <a:xfrm>
            <a:off x="1018094" y="4085170"/>
            <a:ext cx="32360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indent="-342900">
              <a:spcBef>
                <a:spcPts val="1200"/>
              </a:spcBef>
              <a:buFont typeface="Arial" pitchFamily="34" charset="0"/>
              <a:buChar char="•"/>
              <a:defRPr/>
            </a:pPr>
            <a:r>
              <a:rPr lang="en-US" altLang="zh-CN" sz="2400" b="1" kern="0" dirty="0" err="1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2400" b="1" kern="0" baseline="-25000" dirty="0" err="1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br</a:t>
            </a:r>
            <a:r>
              <a:rPr lang="en-US" altLang="zh-CN" sz="2400" b="1" kern="0" baseline="-250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雪崩击穿电压</a:t>
            </a:r>
            <a:endParaRPr lang="en-US" altLang="zh-CN" sz="2400" b="1" kern="0" dirty="0">
              <a:solidFill>
                <a:srgbClr val="00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1081087" y="1619368"/>
            <a:ext cx="5831280" cy="584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lvl="1" indent="-4572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、温度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有密切关系的量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 bwMode="auto">
          <a:xfrm>
            <a:off x="1081087" y="2389390"/>
            <a:ext cx="2619763" cy="5111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lvl="1" indent="-4572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经验公式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</a:t>
            </a:r>
            <a:endParaRPr lang="zh-CN" altLang="en-US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81088" y="4823088"/>
            <a:ext cx="6238740" cy="1688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indent="-34290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n: 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特征系数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实验数据的最佳拟合系数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(n 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与温度相关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) 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，对于硅材料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1.5~4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；对于锗材料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2.5~8</a:t>
            </a:r>
            <a:endParaRPr lang="zh-CN" altLang="en-US" sz="2400" b="1" kern="0" dirty="0">
              <a:solidFill>
                <a:srgbClr val="00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7903723" y="3720759"/>
            <a:ext cx="1035996" cy="471862"/>
          </a:xfrm>
          <a:prstGeom prst="ellipse">
            <a:avLst/>
          </a:prstGeom>
          <a:noFill/>
          <a:ln w="25400">
            <a:solidFill>
              <a:srgbClr val="0000C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10625846" y="1497754"/>
            <a:ext cx="654998" cy="2101480"/>
          </a:xfrm>
          <a:prstGeom prst="ellipse">
            <a:avLst/>
          </a:prstGeom>
          <a:noFill/>
          <a:ln w="25400">
            <a:solidFill>
              <a:srgbClr val="0000C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H="1" flipV="1">
            <a:off x="10953345" y="906258"/>
            <a:ext cx="12160" cy="3145244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7843670" y="5252020"/>
            <a:ext cx="13781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00" algn="ctr">
              <a:spcBef>
                <a:spcPts val="1200"/>
              </a:spcBef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低</a:t>
            </a:r>
            <a:r>
              <a:rPr lang="en-US" altLang="zh-CN" sz="2400" b="1" kern="0" dirty="0" err="1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2400" b="1" kern="0" baseline="-25000" dirty="0" err="1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zh-CN" altLang="en-US" sz="2400" b="1" kern="0" baseline="-250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增益小</a:t>
            </a:r>
            <a:endParaRPr lang="en-US" altLang="zh-CN" sz="2400" b="1" kern="0" dirty="0">
              <a:solidFill>
                <a:srgbClr val="00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523271" y="5140803"/>
            <a:ext cx="317121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00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同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b="1" kern="0" baseline="-25000" dirty="0" err="1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zh-CN" altLang="en-US" b="1" kern="0" baseline="-250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zh-CN" altLang="en-US" b="1" kern="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温度低增益大，温度高增益小。温度升高，非离化散射增加，碰撞电离降低，增益降低。</a:t>
            </a:r>
            <a:endParaRPr lang="en-US" altLang="zh-CN" b="1" kern="0" dirty="0">
              <a:solidFill>
                <a:srgbClr val="00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2" name="上箭头 21"/>
          <p:cNvSpPr/>
          <p:nvPr/>
        </p:nvSpPr>
        <p:spPr>
          <a:xfrm>
            <a:off x="8421721" y="4316003"/>
            <a:ext cx="169802" cy="1026177"/>
          </a:xfrm>
          <a:prstGeom prst="upArrow">
            <a:avLst/>
          </a:prstGeom>
          <a:gradFill flip="none" rotWithShape="1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上箭头 27"/>
          <p:cNvSpPr/>
          <p:nvPr/>
        </p:nvSpPr>
        <p:spPr>
          <a:xfrm>
            <a:off x="10822130" y="4300720"/>
            <a:ext cx="286749" cy="859112"/>
          </a:xfrm>
          <a:prstGeom prst="upArrow">
            <a:avLst/>
          </a:prstGeom>
          <a:gradFill flip="none" rotWithShape="1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xmlns="" id="{4368F033-8464-4ADD-8024-455967380418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7" name="文本框 60">
              <a:extLst>
                <a:ext uri="{FF2B5EF4-FFF2-40B4-BE49-F238E27FC236}">
                  <a16:creationId xmlns:a16="http://schemas.microsoft.com/office/drawing/2014/main" xmlns="" id="{9359CE2A-CB41-4C0B-99A0-B2C89BF42CB2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雪崩光电二极管特性参数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xmlns="" id="{078C7516-E860-454A-AF1C-0BE4D90104A5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xmlns="" id="{C55926BD-DFE7-4993-9354-20CB91E36D15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xmlns="" id="{875FA649-9E81-45C3-86AA-3405651582E1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4.5.2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2" name="直接连接符 58">
              <a:extLst>
                <a:ext uri="{FF2B5EF4-FFF2-40B4-BE49-F238E27FC236}">
                  <a16:creationId xmlns:a16="http://schemas.microsoft.com/office/drawing/2014/main" xmlns="" id="{01231328-7357-43B6-87B0-18F7ADF36494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xmlns="" id="{00E27079-0317-43ED-B3B5-15850FC2B873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xmlns="" id="{CEB02A74-0FC9-4293-9BA9-3847C4DF1D53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81434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3" grpId="0" animBg="1"/>
      <p:bldP spid="14" grpId="0"/>
      <p:bldP spid="4" grpId="0" animBg="1"/>
      <p:bldP spid="17" grpId="0" animBg="1"/>
      <p:bldP spid="24" grpId="0"/>
      <p:bldP spid="25" grpId="0"/>
      <p:bldP spid="22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 bwMode="auto">
          <a:xfrm>
            <a:off x="5047342" y="1063827"/>
            <a:ext cx="2793152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28700" rtl="0" eaLnBrk="1" fontAlgn="base" latinLnBrk="0" hangingPunct="1">
              <a:lnSpc>
                <a:spcPts val="3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2.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光谱特性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932542" y="1711527"/>
            <a:ext cx="11304854" cy="2675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10287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波长范围 </a:t>
            </a:r>
            <a:r>
              <a:rPr kumimoji="1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λ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range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与最高灵敏度峰值波长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1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λ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peak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: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Symbol" pitchFamily="18" charset="2"/>
            </a:endParaRPr>
          </a:p>
          <a:p>
            <a:pPr marL="0" marR="0" lvl="0" indent="0" defTabSz="10287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由所用材料决定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Si,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Ge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and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InGaAs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0" marR="0" lvl="0" indent="0" defTabSz="10287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由结构设计决定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1119188" marR="0" lvl="2" indent="0" algn="ctr" defTabSz="10287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相对薄层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产生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“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增益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”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Si-APDs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的峰值波长从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600~800 nm</a:t>
            </a:r>
          </a:p>
        </p:txBody>
      </p:sp>
      <p:sp>
        <p:nvSpPr>
          <p:cNvPr id="9" name="矩形 8"/>
          <p:cNvSpPr/>
          <p:nvPr/>
        </p:nvSpPr>
        <p:spPr>
          <a:xfrm>
            <a:off x="1294643" y="4593366"/>
            <a:ext cx="11235447" cy="2062103"/>
          </a:xfrm>
          <a:prstGeom prst="rect">
            <a:avLst/>
          </a:prstGeom>
          <a:noFill/>
          <a:ln w="19050">
            <a:solidFill>
              <a:srgbClr val="FF0066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2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For example</a:t>
            </a:r>
          </a:p>
          <a:p>
            <a:pPr>
              <a:defRPr/>
            </a:pPr>
            <a:r>
              <a:rPr lang="en-US" altLang="zh-CN" sz="3200" u="sng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S6045</a:t>
            </a:r>
            <a:r>
              <a:rPr lang="en-US" altLang="zh-CN" sz="32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: light incident from n-side</a:t>
            </a:r>
            <a:r>
              <a:rPr lang="en-US" altLang="zh-CN" sz="32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altLang="zh-CN" sz="32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450 nm to 1000 nm </a:t>
            </a:r>
          </a:p>
          <a:p>
            <a:pPr>
              <a:defRPr/>
            </a:pPr>
            <a:r>
              <a:rPr lang="en-US" altLang="zh-CN" sz="3200" u="sng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S8664</a:t>
            </a:r>
            <a:r>
              <a:rPr lang="en-US" altLang="zh-CN" sz="32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: light incident from P-side</a:t>
            </a:r>
            <a:r>
              <a:rPr lang="en-US" altLang="zh-CN" sz="32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altLang="zh-CN" sz="32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high sensitivity to UV – 		blue light (200 nm to 800 nm)</a:t>
            </a:r>
            <a:endParaRPr lang="zh-CN" altLang="en-US" sz="32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715A38ED-4F8D-4069-AEBA-D9A27CAE6949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2" name="文本框 60">
              <a:extLst>
                <a:ext uri="{FF2B5EF4-FFF2-40B4-BE49-F238E27FC236}">
                  <a16:creationId xmlns:a16="http://schemas.microsoft.com/office/drawing/2014/main" xmlns="" id="{85B8983D-3ECE-469A-9039-F8F4DC306D38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雪崩光电二极管特性参数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E65FADB2-E1C8-4AEE-BCB9-F2D0C6833607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B0276F58-164C-4960-8A6E-179574A7917A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xmlns="" id="{B90B34FF-67F9-43DC-8912-F9A2F2E01ACC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4.5.2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接连接符 58">
              <a:extLst>
                <a:ext uri="{FF2B5EF4-FFF2-40B4-BE49-F238E27FC236}">
                  <a16:creationId xmlns:a16="http://schemas.microsoft.com/office/drawing/2014/main" xmlns="" id="{D4BA176B-CE99-46C1-A884-99CC3E701EF2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C16B349F-AC5E-4E1C-94EC-6E3351E144F7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D341F143-372E-41EE-9B10-F7290DB86BBA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85493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build="p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5442693" y="917981"/>
            <a:ext cx="189865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sz="4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</a:t>
            </a:r>
            <a:r>
              <a:rPr kumimoji="1" lang="zh-CN" altLang="en-US" sz="40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噪声</a:t>
            </a:r>
            <a:endParaRPr kumimoji="1" lang="en-US" altLang="zh-CN" sz="40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 bwMode="auto">
          <a:xfrm>
            <a:off x="1167876" y="2290279"/>
            <a:ext cx="1185508" cy="5842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理由</a:t>
            </a:r>
            <a:r>
              <a:rPr lang="en-US" altLang="zh-CN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</a:t>
            </a:r>
          </a:p>
        </p:txBody>
      </p:sp>
      <p:sp>
        <p:nvSpPr>
          <p:cNvPr id="14" name="内容占位符 2"/>
          <p:cNvSpPr txBox="1">
            <a:spLocks/>
          </p:cNvSpPr>
          <p:nvPr/>
        </p:nvSpPr>
        <p:spPr bwMode="auto">
          <a:xfrm>
            <a:off x="2776645" y="1956736"/>
            <a:ext cx="5736525" cy="4857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lvl="1" indent="-4572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雪崩增益是一个统计过程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5" name="内容占位符 2"/>
          <p:cNvSpPr txBox="1">
            <a:spLocks/>
          </p:cNvSpPr>
          <p:nvPr/>
        </p:nvSpPr>
        <p:spPr bwMode="auto">
          <a:xfrm>
            <a:off x="2776645" y="2708838"/>
            <a:ext cx="9092568" cy="60416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lvl="1" indent="-4572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导致载流子产生波动 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雪崩增益电流中的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Wingdings" pitchFamily="2" charset="2"/>
              </a:rPr>
              <a:t>附加噪声</a:t>
            </a:r>
            <a:endParaRPr lang="en-US" altLang="zh-CN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6" name="内容占位符 2"/>
          <p:cNvSpPr txBox="1">
            <a:spLocks/>
          </p:cNvSpPr>
          <p:nvPr/>
        </p:nvSpPr>
        <p:spPr bwMode="auto">
          <a:xfrm>
            <a:off x="1165181" y="3835371"/>
            <a:ext cx="3311614" cy="5842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1028700" rtl="0" eaLnBrk="1" fontAlgn="base" latinLnBrk="0" hangingPunct="1">
              <a:lnSpc>
                <a:spcPct val="90000"/>
              </a:lnSpc>
              <a:spcBef>
                <a:spcPts val="1125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消除附加噪声的途径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7" name="内容占位符 2"/>
          <p:cNvSpPr txBox="1">
            <a:spLocks/>
          </p:cNvSpPr>
          <p:nvPr/>
        </p:nvSpPr>
        <p:spPr bwMode="auto">
          <a:xfrm>
            <a:off x="771170" y="4986490"/>
            <a:ext cx="12380621" cy="67467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lvl="1" indent="-457200" eaLnBrk="0" hangingPunct="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碰撞电离被严格限定于具有最高碰撞离子化效率的载流子，如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Si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中的电子。</a:t>
            </a:r>
            <a:endParaRPr lang="zh-CN" altLang="en-US" sz="32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8" name="内容占位符 2"/>
          <p:cNvSpPr txBox="1">
            <a:spLocks/>
          </p:cNvSpPr>
          <p:nvPr/>
        </p:nvSpPr>
        <p:spPr bwMode="auto">
          <a:xfrm>
            <a:off x="868866" y="6100657"/>
            <a:ext cx="5758774" cy="63088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lvl="1" indent="-457200" eaLnBrk="0" hangingPunct="0">
              <a:spcBef>
                <a:spcPts val="1200"/>
              </a:spcBef>
              <a:buFont typeface="Arial" pitchFamily="34" charset="0"/>
              <a:buChar char="•"/>
              <a:defRPr/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保证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光生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e</a:t>
            </a:r>
            <a:r>
              <a:rPr lang="en-US" altLang="zh-CN" sz="2800" b="1" baseline="300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漂移并到达雪崩区。</a:t>
            </a:r>
            <a:endParaRPr lang="zh-CN" altLang="en-US" sz="32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5091B123-DED9-4909-8A7D-4308E1AC4A00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2" name="文本框 60">
              <a:extLst>
                <a:ext uri="{FF2B5EF4-FFF2-40B4-BE49-F238E27FC236}">
                  <a16:creationId xmlns:a16="http://schemas.microsoft.com/office/drawing/2014/main" xmlns="" id="{6E760296-135C-488D-9C8F-983222091E23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雪崩光电二极管特性参数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xmlns="" id="{7DC4B456-F27B-4233-9C8C-421694570052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FB253FB7-33A8-4CE0-8035-9CDD5C84BAC6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xmlns="" id="{911B2605-8DB4-4D30-A3F4-1A9C19EA4DCC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4.5.2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6" name="直接连接符 58">
              <a:extLst>
                <a:ext uri="{FF2B5EF4-FFF2-40B4-BE49-F238E27FC236}">
                  <a16:creationId xmlns:a16="http://schemas.microsoft.com/office/drawing/2014/main" xmlns="" id="{77DCCF77-5794-4BB0-8913-FD1A66B400C9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xmlns="" id="{A1797F9E-31B8-49E4-9748-905C3204B2CD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xmlns="" id="{AB6DC89D-458A-4ACA-8C3B-5426C1F9C2D3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423650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2"/>
          <p:cNvSpPr txBox="1">
            <a:spLocks/>
          </p:cNvSpPr>
          <p:nvPr/>
        </p:nvSpPr>
        <p:spPr bwMode="auto">
          <a:xfrm>
            <a:off x="1408113" y="1813938"/>
            <a:ext cx="1412875" cy="6572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algn="ctr" eaLnBrk="0" hangingPunct="0">
              <a:spcBef>
                <a:spcPct val="20000"/>
              </a:spcBef>
              <a:defRPr/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产生</a:t>
            </a:r>
            <a:endParaRPr lang="en-US" altLang="zh-CN" sz="32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4" name="标题 1"/>
          <p:cNvSpPr txBox="1">
            <a:spLocks/>
          </p:cNvSpPr>
          <p:nvPr/>
        </p:nvSpPr>
        <p:spPr bwMode="auto">
          <a:xfrm>
            <a:off x="4695927" y="1000919"/>
            <a:ext cx="2736005" cy="54133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ts val="3800"/>
              </a:lnSpc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4. </a:t>
            </a:r>
            <a:r>
              <a:rPr lang="zh-CN" altLang="en-US" sz="40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暗电流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874964" y="2622550"/>
            <a:ext cx="43040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>
              <a:buFont typeface="Wingdings" pitchFamily="2" charset="2"/>
              <a:buChar char="l"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二极管表面的泄漏电流</a:t>
            </a:r>
            <a:endParaRPr lang="en-US" altLang="zh-CN" sz="24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2897188" y="3162300"/>
            <a:ext cx="5335689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>
              <a:buFont typeface="Wingdings" pitchFamily="2" charset="2"/>
              <a:buChar char="l"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Si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体材料中，也来自于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热产生</a:t>
            </a:r>
            <a:endParaRPr lang="en-US" altLang="zh-CN" sz="24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2911475" y="3773488"/>
            <a:ext cx="48926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>
              <a:buFont typeface="Wingdings" pitchFamily="2" charset="2"/>
              <a:buChar char="l"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在增益区被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放大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1408113" y="4671978"/>
            <a:ext cx="3804258" cy="5847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减小暗电流的方法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2911475" y="5915465"/>
            <a:ext cx="226124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>
              <a:buFont typeface="Wingdings" pitchFamily="2" charset="2"/>
              <a:buChar char="l"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热电冷却</a:t>
            </a:r>
            <a:endParaRPr lang="en-US" altLang="zh-CN" sz="24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640276"/>
              </p:ext>
            </p:extLst>
          </p:nvPr>
        </p:nvGraphicFramePr>
        <p:xfrm>
          <a:off x="7627938" y="2351088"/>
          <a:ext cx="5405437" cy="330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Visio" r:id="rId3" imgW="2543120" imgH="1552529" progId="Visio.Drawing.11">
                  <p:embed/>
                </p:oleObj>
              </mc:Choice>
              <mc:Fallback>
                <p:oleObj name="Visio" r:id="rId3" imgW="2543120" imgH="155252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7938" y="2351088"/>
                        <a:ext cx="5405437" cy="330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xmlns="" id="{7BCAA6E5-E0E4-4F7C-B638-2A860B8F5617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23" name="文本框 60">
              <a:extLst>
                <a:ext uri="{FF2B5EF4-FFF2-40B4-BE49-F238E27FC236}">
                  <a16:creationId xmlns:a16="http://schemas.microsoft.com/office/drawing/2014/main" xmlns="" id="{1928C8FF-8786-4163-83E8-4BA0FE41F40E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雪崩光电二极管特性参数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CFE1F569-0FE7-499A-B46A-5AA5F796B79C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E159294E-7CBB-48DD-BD26-1543B4852776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xmlns="" id="{4D21AA30-876C-4A83-8BAB-D6CE54FDB9D9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4.5.2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7" name="直接连接符 58">
              <a:extLst>
                <a:ext uri="{FF2B5EF4-FFF2-40B4-BE49-F238E27FC236}">
                  <a16:creationId xmlns:a16="http://schemas.microsoft.com/office/drawing/2014/main" xmlns="" id="{A310A07D-79A9-4C1F-9B75-6B8665174C71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xmlns="" id="{F01880DB-F8F4-4055-96B6-FFC657F97E5A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xmlns="" id="{F5CA7BEE-385D-429C-B23A-8D798817E9FA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98693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/>
      <p:bldP spid="17" grpId="0"/>
      <p:bldP spid="18" grpId="0" animBg="1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>
            <a:spLocks/>
          </p:cNvSpPr>
          <p:nvPr/>
        </p:nvSpPr>
        <p:spPr bwMode="auto">
          <a:xfrm>
            <a:off x="914063" y="1678868"/>
            <a:ext cx="3536950" cy="57795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algn="ctr" eaLnBrk="0" hangingPunct="0">
              <a:spcBef>
                <a:spcPct val="20000"/>
              </a:spcBef>
              <a:defRPr/>
            </a:pPr>
            <a:r>
              <a:rPr lang="zh-CN" altLang="en-US" sz="32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脉冲激光的探测</a:t>
            </a:r>
            <a:endParaRPr lang="en-US" altLang="zh-CN" sz="32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 bwMode="auto">
          <a:xfrm>
            <a:off x="4723657" y="962430"/>
            <a:ext cx="3870325" cy="54133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ts val="3800"/>
              </a:lnSpc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4. </a:t>
            </a:r>
            <a:r>
              <a:rPr lang="zh-CN" altLang="en-US" sz="40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时间响应特性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75151" y="2479016"/>
            <a:ext cx="59050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>
              <a:buFont typeface="Wingdings" pitchFamily="2" charset="2"/>
              <a:buChar char="l"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APD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响应时间小于脉冲激光的变化时间</a:t>
            </a:r>
            <a:endParaRPr lang="en-US" altLang="zh-CN" sz="24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62891" y="3171959"/>
            <a:ext cx="67262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>
              <a:buFont typeface="Wingdings" pitchFamily="2" charset="2"/>
              <a:buChar char="l"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由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极间等效电容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决定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受反向偏置电压影响</a:t>
            </a:r>
            <a:endParaRPr lang="en-US" altLang="zh-CN" sz="24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202643" y="4152140"/>
            <a:ext cx="1879093" cy="5222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典型特性</a:t>
            </a: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875151" y="4979547"/>
          <a:ext cx="11915065" cy="2133600"/>
        </p:xfrm>
        <a:graphic>
          <a:graphicData uri="http://schemas.openxmlformats.org/drawingml/2006/table">
            <a:tbl>
              <a:tblPr/>
              <a:tblGrid>
                <a:gridCol w="13897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688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7432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3073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8913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9052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38778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18913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159483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型号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光敏面直径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(mm)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峰值波长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(nm)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灵敏度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(A/W)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电容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(pF)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暗电流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(</a:t>
                      </a:r>
                      <a:r>
                        <a:rPr lang="en-US" sz="2000" kern="100" dirty="0" err="1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nA</a:t>
                      </a: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)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反偏电压范围</a:t>
                      </a: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(V)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上升时间</a:t>
                      </a: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(ns)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工作温度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(</a:t>
                      </a:r>
                      <a:r>
                        <a:rPr lang="zh-CN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℃</a:t>
                      </a: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)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APD-300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0.3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820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42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1.5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1.0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130~280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0.4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-40~+70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APD-500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0.5 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820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42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2.5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1.8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130~280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0.5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-40~+70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APD-900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0.9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820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42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2.5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130~280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1.0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-40~+70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APD-1500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1.5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820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42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12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7.0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130~280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2.0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-40~+70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APD-3000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3.0</a:t>
                      </a:r>
                      <a:endParaRPr lang="zh-CN" sz="2000" kern="10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820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42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40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15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130~280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5.0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/>
                          <a:ea typeface="宋体"/>
                          <a:cs typeface="Times New Roman"/>
                        </a:rPr>
                        <a:t>-40~+70</a:t>
                      </a:r>
                      <a:endParaRPr lang="zh-CN" sz="2000" kern="100" dirty="0">
                        <a:ln>
                          <a:solidFill>
                            <a:schemeClr val="tx1"/>
                          </a:solidFill>
                        </a:ln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3125256"/>
              </p:ext>
            </p:extLst>
          </p:nvPr>
        </p:nvGraphicFramePr>
        <p:xfrm>
          <a:off x="8361363" y="1458913"/>
          <a:ext cx="4773612" cy="304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Visio" r:id="rId3" imgW="2886064" imgH="1838318" progId="Visio.Drawing.11">
                  <p:embed/>
                </p:oleObj>
              </mc:Choice>
              <mc:Fallback>
                <p:oleObj name="Visio" r:id="rId3" imgW="2886064" imgH="183831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1363" y="1458913"/>
                        <a:ext cx="4773612" cy="304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标题 1">
            <a:hlinkClick r:id="rId5" action="ppaction://hlinkfile"/>
          </p:cNvPr>
          <p:cNvSpPr txBox="1">
            <a:spLocks/>
          </p:cNvSpPr>
          <p:nvPr/>
        </p:nvSpPr>
        <p:spPr bwMode="auto">
          <a:xfrm>
            <a:off x="11203563" y="962430"/>
            <a:ext cx="1491034" cy="54133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lnSpc>
                <a:spcPts val="3800"/>
              </a:lnSpc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APD</a:t>
            </a:r>
            <a:endParaRPr lang="zh-CN" altLang="en-US" sz="3200" b="1" dirty="0">
              <a:solidFill>
                <a:srgbClr val="0000FF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71A6E1E7-E5A8-43B2-A476-731DCD1C734D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9" name="文本框 60">
              <a:extLst>
                <a:ext uri="{FF2B5EF4-FFF2-40B4-BE49-F238E27FC236}">
                  <a16:creationId xmlns:a16="http://schemas.microsoft.com/office/drawing/2014/main" xmlns="" id="{CEEC5E20-42B9-4435-86B6-537CF8AFECC1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雪崩光电二极管特性参数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C6A4019A-4569-4C3A-BA7C-87BAE2D4532D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A75C8402-B705-4360-88EE-B8BEC8E6ADFF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xmlns="" id="{D68A7EA5-0BA7-43D1-B027-44186C682B3C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4.5.2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连接符 58">
              <a:extLst>
                <a:ext uri="{FF2B5EF4-FFF2-40B4-BE49-F238E27FC236}">
                  <a16:creationId xmlns:a16="http://schemas.microsoft.com/office/drawing/2014/main" xmlns="" id="{DCC3BC77-F8C4-431C-A0ED-DA4A79535213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55FD6C3B-F5CE-43ED-AA0A-12AC2DBADE84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09B28645-EE37-45E5-A371-536188F0CA3B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23217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3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569826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雪崩光电二极管的应用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8443898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雪崩光电二极管的应用</a:t>
            </a:r>
          </a:p>
        </p:txBody>
      </p:sp>
      <p:sp>
        <p:nvSpPr>
          <p:cNvPr id="20" name="矩形 19"/>
          <p:cNvSpPr/>
          <p:nvPr/>
        </p:nvSpPr>
        <p:spPr>
          <a:xfrm>
            <a:off x="10019131" y="329189"/>
            <a:ext cx="1448470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4.5.3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04801" y="293282"/>
            <a:ext cx="979824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4.5.3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50506" y="710998"/>
            <a:ext cx="3336956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23357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>
            <a:spLocks noChangeArrowheads="1"/>
          </p:cNvSpPr>
          <p:nvPr/>
        </p:nvSpPr>
        <p:spPr bwMode="auto">
          <a:xfrm>
            <a:off x="3422649" y="1208291"/>
            <a:ext cx="719296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雪崩光敏二极管在光接收机中的应用</a:t>
            </a:r>
            <a:endParaRPr lang="zh-CN" altLang="en-US" sz="32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569906"/>
              </p:ext>
            </p:extLst>
          </p:nvPr>
        </p:nvGraphicFramePr>
        <p:xfrm>
          <a:off x="7675563" y="2279650"/>
          <a:ext cx="5608637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Visio" r:id="rId3" imgW="3667077" imgH="1581319" progId="Visio.Drawing.11">
                  <p:embed/>
                </p:oleObj>
              </mc:Choice>
              <mc:Fallback>
                <p:oleObj name="Visio" r:id="rId3" imgW="3667077" imgH="158131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5563" y="2279650"/>
                        <a:ext cx="5608637" cy="2419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3"/>
          <p:cNvSpPr txBox="1">
            <a:spLocks noChangeArrowheads="1"/>
          </p:cNvSpPr>
          <p:nvPr/>
        </p:nvSpPr>
        <p:spPr bwMode="auto">
          <a:xfrm>
            <a:off x="912577" y="5229056"/>
            <a:ext cx="11605097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APD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管的使用有效地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减少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了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放大器噪声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的影响，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提高光接收机的灵敏度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564204" y="2366692"/>
            <a:ext cx="7101192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当入射光功率较小时，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PIN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管产生的信号电流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非常微弱，经过信号放大和处理，引入的</a:t>
            </a:r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放大器噪声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将严重地降低光接收机的灵敏度。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3635485" y="6316336"/>
            <a:ext cx="6436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电路较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PIN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管接收机复杂，成本也高。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82B41B03-2813-4B99-81BF-33383E15CA88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4" name="文本框 60">
              <a:extLst>
                <a:ext uri="{FF2B5EF4-FFF2-40B4-BE49-F238E27FC236}">
                  <a16:creationId xmlns:a16="http://schemas.microsoft.com/office/drawing/2014/main" xmlns="" id="{B516E7BF-9DF2-4841-BF02-5D960793AB33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雪崩光电二极管的应用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465C31A2-26B3-4870-8411-E87B0FF06A13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35E7592C-6D72-46DD-B030-82C8906D12D0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xmlns="" id="{F68A9DCA-98B3-4D85-8F18-BB4FB5835D3F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4.5.3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58">
              <a:extLst>
                <a:ext uri="{FF2B5EF4-FFF2-40B4-BE49-F238E27FC236}">
                  <a16:creationId xmlns:a16="http://schemas.microsoft.com/office/drawing/2014/main" xmlns="" id="{88F34B79-640E-4648-AFA7-148E10392E38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1E1A3217-5A27-4BF5-B910-B6D6ABBA25F1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936D7518-217D-4719-A286-490BE9A6A1C8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069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716756" y="1101871"/>
            <a:ext cx="12415584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kumimoji="1" lang="zh-CN" altLang="en-US" dirty="0">
                <a:ea typeface="微软雅黑" pitchFamily="34" charset="-122"/>
                <a:cs typeface="Times New Roman" pitchFamily="18" charset="0"/>
              </a:rPr>
              <a:t>例</a:t>
            </a:r>
            <a:r>
              <a:rPr kumimoji="1" lang="en-US" altLang="zh-CN" dirty="0">
                <a:ea typeface="微软雅黑" pitchFamily="34" charset="-122"/>
                <a:cs typeface="Times New Roman" pitchFamily="18" charset="0"/>
              </a:rPr>
              <a:t> :</a:t>
            </a:r>
            <a:r>
              <a:rPr kumimoji="1" lang="en-US" altLang="zh-CN" dirty="0" err="1">
                <a:ea typeface="微软雅黑" pitchFamily="34" charset="-122"/>
                <a:cs typeface="Times New Roman" pitchFamily="18" charset="0"/>
              </a:rPr>
              <a:t>InGaAs</a:t>
            </a:r>
            <a:r>
              <a:rPr kumimoji="1" lang="en-US" altLang="zh-CN" dirty="0">
                <a:ea typeface="微软雅黑" pitchFamily="34" charset="-122"/>
                <a:cs typeface="Times New Roman" pitchFamily="18" charset="0"/>
              </a:rPr>
              <a:t> APD </a:t>
            </a:r>
            <a:r>
              <a:rPr kumimoji="1" lang="zh-CN" altLang="en-US" dirty="0">
                <a:ea typeface="微软雅黑" pitchFamily="34" charset="-122"/>
                <a:cs typeface="Times New Roman" pitchFamily="18" charset="0"/>
              </a:rPr>
              <a:t>在不加偏压（</a:t>
            </a:r>
            <a:r>
              <a:rPr kumimoji="1" lang="en-US" altLang="zh-CN" dirty="0">
                <a:ea typeface="微软雅黑" pitchFamily="34" charset="-122"/>
                <a:cs typeface="Times New Roman" pitchFamily="18" charset="0"/>
              </a:rPr>
              <a:t>M=1</a:t>
            </a:r>
            <a:r>
              <a:rPr kumimoji="1" lang="zh-CN" altLang="en-US" dirty="0">
                <a:ea typeface="微软雅黑" pitchFamily="34" charset="-122"/>
                <a:cs typeface="Times New Roman" pitchFamily="18" charset="0"/>
              </a:rPr>
              <a:t>）探测波长为</a:t>
            </a:r>
            <a:r>
              <a:rPr kumimoji="1" lang="en-US" altLang="zh-CN" dirty="0">
                <a:ea typeface="微软雅黑" pitchFamily="34" charset="-122"/>
                <a:cs typeface="Times New Roman" pitchFamily="18" charset="0"/>
              </a:rPr>
              <a:t>1550nm</a:t>
            </a:r>
            <a:r>
              <a:rPr kumimoji="1" lang="zh-CN" altLang="en-US" dirty="0">
                <a:ea typeface="微软雅黑" pitchFamily="34" charset="-122"/>
                <a:cs typeface="Times New Roman" pitchFamily="18" charset="0"/>
              </a:rPr>
              <a:t>时的量子效率</a:t>
            </a:r>
            <a:r>
              <a:rPr kumimoji="1" lang="en-US" altLang="zh-CN" dirty="0"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1" lang="zh-CN" altLang="en-US" dirty="0">
                <a:ea typeface="微软雅黑" pitchFamily="34" charset="-122"/>
                <a:cs typeface="Times New Roman" pitchFamily="18" charset="0"/>
              </a:rPr>
              <a:t>为</a:t>
            </a:r>
            <a:r>
              <a:rPr kumimoji="1" lang="en-US" altLang="zh-CN" dirty="0">
                <a:ea typeface="微软雅黑" pitchFamily="34" charset="-122"/>
                <a:cs typeface="Times New Roman" pitchFamily="18" charset="0"/>
              </a:rPr>
              <a:t>60%, </a:t>
            </a:r>
            <a:r>
              <a:rPr kumimoji="1" lang="zh-CN" altLang="en-US" dirty="0">
                <a:ea typeface="微软雅黑" pitchFamily="34" charset="-122"/>
                <a:cs typeface="Times New Roman" pitchFamily="18" charset="0"/>
              </a:rPr>
              <a:t>加偏置电压使增益为</a:t>
            </a:r>
            <a:r>
              <a:rPr kumimoji="1" lang="en-US" altLang="zh-CN" dirty="0">
                <a:ea typeface="微软雅黑" pitchFamily="34" charset="-122"/>
                <a:cs typeface="Times New Roman" pitchFamily="18" charset="0"/>
              </a:rPr>
              <a:t>12</a:t>
            </a:r>
            <a:r>
              <a:rPr kumimoji="1" lang="zh-CN" altLang="en-US" dirty="0">
                <a:ea typeface="微软雅黑" pitchFamily="34" charset="-122"/>
                <a:cs typeface="Times New Roman" pitchFamily="18" charset="0"/>
              </a:rPr>
              <a:t>。</a:t>
            </a:r>
            <a:r>
              <a:rPr kumimoji="1" lang="en-US" altLang="zh-CN" dirty="0">
                <a:ea typeface="微软雅黑" pitchFamily="34" charset="-122"/>
                <a:cs typeface="Times New Roman" pitchFamily="18" charset="0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defRPr/>
            </a:pPr>
            <a:r>
              <a:rPr kumimoji="1" lang="en-US" altLang="zh-CN" dirty="0">
                <a:ea typeface="微软雅黑" pitchFamily="34" charset="-122"/>
                <a:cs typeface="Times New Roman" pitchFamily="18" charset="0"/>
              </a:rPr>
              <a:t>(1) </a:t>
            </a:r>
            <a:r>
              <a:rPr kumimoji="1" lang="zh-CN" altLang="en-US" dirty="0">
                <a:ea typeface="微软雅黑" pitchFamily="34" charset="-122"/>
                <a:cs typeface="Times New Roman" pitchFamily="18" charset="0"/>
              </a:rPr>
              <a:t>计算入射光功率为</a:t>
            </a:r>
            <a:r>
              <a:rPr kumimoji="1" lang="en-US" altLang="zh-CN" dirty="0">
                <a:ea typeface="微软雅黑" pitchFamily="34" charset="-122"/>
                <a:cs typeface="Times New Roman" pitchFamily="18" charset="0"/>
              </a:rPr>
              <a:t>20nW</a:t>
            </a:r>
            <a:r>
              <a:rPr kumimoji="1" lang="zh-CN" altLang="en-US" dirty="0">
                <a:ea typeface="微软雅黑" pitchFamily="34" charset="-122"/>
                <a:cs typeface="Times New Roman" pitchFamily="18" charset="0"/>
              </a:rPr>
              <a:t>对应的</a:t>
            </a:r>
            <a:r>
              <a:rPr kumimoji="1" lang="zh-CN" altLang="en-US" dirty="0">
                <a:solidFill>
                  <a:srgbClr val="0000CC"/>
                </a:solidFill>
                <a:ea typeface="微软雅黑" pitchFamily="34" charset="-122"/>
                <a:cs typeface="Times New Roman" pitchFamily="18" charset="0"/>
              </a:rPr>
              <a:t>光电流</a:t>
            </a:r>
            <a:r>
              <a:rPr kumimoji="1" lang="en-US" altLang="zh-CN" dirty="0">
                <a:solidFill>
                  <a:schemeClr val="hlink"/>
                </a:solidFill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1" lang="zh-CN" altLang="en-US" dirty="0">
                <a:ea typeface="微软雅黑" pitchFamily="34" charset="-122"/>
                <a:cs typeface="Times New Roman" pitchFamily="18" charset="0"/>
              </a:rPr>
              <a:t>？  </a:t>
            </a:r>
            <a:r>
              <a:rPr kumimoji="1" lang="en-US" altLang="zh-CN" dirty="0">
                <a:ea typeface="微软雅黑" pitchFamily="34" charset="-122"/>
                <a:cs typeface="Times New Roman" pitchFamily="18" charset="0"/>
              </a:rPr>
              <a:t>(2) </a:t>
            </a:r>
            <a:r>
              <a:rPr kumimoji="1" lang="zh-CN" altLang="en-US" dirty="0">
                <a:ea typeface="微软雅黑" pitchFamily="34" charset="-122"/>
                <a:cs typeface="Times New Roman" pitchFamily="18" charset="0"/>
              </a:rPr>
              <a:t>增益为</a:t>
            </a:r>
            <a:r>
              <a:rPr kumimoji="1" lang="en-US" altLang="zh-CN" dirty="0">
                <a:ea typeface="微软雅黑" pitchFamily="34" charset="-122"/>
                <a:cs typeface="Times New Roman" pitchFamily="18" charset="0"/>
              </a:rPr>
              <a:t>12</a:t>
            </a:r>
            <a:r>
              <a:rPr kumimoji="1" lang="zh-CN" altLang="en-US" dirty="0">
                <a:ea typeface="微软雅黑" pitchFamily="34" charset="-122"/>
                <a:cs typeface="Times New Roman" pitchFamily="18" charset="0"/>
              </a:rPr>
              <a:t>时，其</a:t>
            </a:r>
            <a:r>
              <a:rPr kumimoji="1" lang="zh-CN" altLang="en-US" dirty="0">
                <a:solidFill>
                  <a:srgbClr val="FF0000"/>
                </a:solidFill>
                <a:ea typeface="微软雅黑" pitchFamily="34" charset="-122"/>
                <a:cs typeface="Times New Roman" pitchFamily="18" charset="0"/>
              </a:rPr>
              <a:t>响应度</a:t>
            </a:r>
            <a:r>
              <a:rPr kumimoji="1" lang="zh-CN" altLang="en-US" dirty="0">
                <a:ea typeface="微软雅黑" pitchFamily="34" charset="-122"/>
                <a:cs typeface="Times New Roman" pitchFamily="18" charset="0"/>
              </a:rPr>
              <a:t>是多少</a:t>
            </a:r>
            <a:r>
              <a:rPr kumimoji="1" lang="en-US" altLang="zh-CN" dirty="0">
                <a:ea typeface="微软雅黑" pitchFamily="34" charset="-122"/>
                <a:cs typeface="Times New Roman" pitchFamily="18" charset="0"/>
              </a:rPr>
              <a:t>?</a:t>
            </a:r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2284176" y="3758108"/>
          <a:ext cx="210185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公式" r:id="rId3" imgW="965160" imgH="457200" progId="Equation.3">
                  <p:embed/>
                </p:oleObj>
              </mc:Choice>
              <mc:Fallback>
                <p:oleObj name="公式" r:id="rId3" imgW="9651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176" y="3758108"/>
                        <a:ext cx="2101850" cy="995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2211387" y="5501211"/>
          <a:ext cx="8396287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公式" r:id="rId5" imgW="3568700" imgH="419100" progId="Equation.3">
                  <p:embed/>
                </p:oleObj>
              </mc:Choice>
              <mc:Fallback>
                <p:oleObj name="公式" r:id="rId5" imgW="35687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387" y="5501211"/>
                        <a:ext cx="8396287" cy="912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000125" y="3897940"/>
            <a:ext cx="927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解：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073271"/>
              </p:ext>
            </p:extLst>
          </p:nvPr>
        </p:nvGraphicFramePr>
        <p:xfrm>
          <a:off x="4860925" y="3746500"/>
          <a:ext cx="13827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name="Equation" r:id="rId7" imgW="634680" imgH="431640" progId="Equation.DSMT4">
                  <p:embed/>
                </p:oleObj>
              </mc:Choice>
              <mc:Fallback>
                <p:oleObj name="Equation" r:id="rId7" imgW="634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925" y="3746500"/>
                        <a:ext cx="1382713" cy="939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632203" y="3732570"/>
          <a:ext cx="14922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公式" r:id="rId9" imgW="685800" imgH="406080" progId="Equation.3">
                  <p:embed/>
                </p:oleObj>
              </mc:Choice>
              <mc:Fallback>
                <p:oleObj name="公式" r:id="rId9" imgW="6858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2203" y="3732570"/>
                        <a:ext cx="149225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4EE15C37-5F06-47C8-8A89-A7F5D05286C5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6" name="文本框 60">
              <a:extLst>
                <a:ext uri="{FF2B5EF4-FFF2-40B4-BE49-F238E27FC236}">
                  <a16:creationId xmlns:a16="http://schemas.microsoft.com/office/drawing/2014/main" xmlns="" id="{E4158B54-5E74-4CD2-AD8A-97E5D562875B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雪崩光电二极管的应用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D401579B-7693-4734-8475-879A044904F1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2FACEAD9-9A0F-4B59-A862-ADB25F9F96E7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xmlns="" id="{43ED0043-0714-4FB6-80D1-38A93FCDE205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4.5.3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58">
              <a:extLst>
                <a:ext uri="{FF2B5EF4-FFF2-40B4-BE49-F238E27FC236}">
                  <a16:creationId xmlns:a16="http://schemas.microsoft.com/office/drawing/2014/main" xmlns="" id="{0DE0BF4B-140A-4B13-B290-DA7D2D49E65B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70A7A83A-5711-4902-A984-B6C8BFA52948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8D3AADCF-7D6E-43FC-9870-7A3A74E4D36C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65174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780652"/>
              </p:ext>
            </p:extLst>
          </p:nvPr>
        </p:nvGraphicFramePr>
        <p:xfrm>
          <a:off x="2043113" y="1071563"/>
          <a:ext cx="174942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Equation" r:id="rId3" imgW="736560" imgH="457200" progId="Equation.DSMT4">
                  <p:embed/>
                </p:oleObj>
              </mc:Choice>
              <mc:Fallback>
                <p:oleObj name="Equation" r:id="rId3" imgW="7365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1071563"/>
                        <a:ext cx="1749425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21371"/>
              </p:ext>
            </p:extLst>
          </p:nvPr>
        </p:nvGraphicFramePr>
        <p:xfrm>
          <a:off x="1931988" y="5002213"/>
          <a:ext cx="163036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Equation" r:id="rId5" imgW="749160" imgH="457200" progId="Equation.DSMT4">
                  <p:embed/>
                </p:oleObj>
              </mc:Choice>
              <mc:Fallback>
                <p:oleObj name="Equation" r:id="rId5" imgW="749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988" y="5002213"/>
                        <a:ext cx="1630362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1896421" y="3892009"/>
          <a:ext cx="35099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2" name="Equation" r:id="rId7" imgW="1612900" imgH="254000" progId="Equation.3">
                  <p:embed/>
                </p:oleObj>
              </mc:Choice>
              <mc:Fallback>
                <p:oleObj name="Equation" r:id="rId7" imgW="16129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6421" y="3892009"/>
                        <a:ext cx="3509963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228966"/>
              </p:ext>
            </p:extLst>
          </p:nvPr>
        </p:nvGraphicFramePr>
        <p:xfrm>
          <a:off x="2525713" y="2463800"/>
          <a:ext cx="821055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" name="Equation" r:id="rId9" imgW="3454200" imgH="253800" progId="Equation.DSMT4">
                  <p:embed/>
                </p:oleObj>
              </mc:Choice>
              <mc:Fallback>
                <p:oleObj name="Equation" r:id="rId9" imgW="34542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713" y="2463800"/>
                        <a:ext cx="821055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451174"/>
              </p:ext>
            </p:extLst>
          </p:nvPr>
        </p:nvGraphicFramePr>
        <p:xfrm>
          <a:off x="3784600" y="4991100"/>
          <a:ext cx="1189038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4" name="Equation" r:id="rId11" imgW="545760" imgH="457200" progId="Equation.DSMT4">
                  <p:embed/>
                </p:oleObj>
              </mc:Choice>
              <mc:Fallback>
                <p:oleObj name="Equation" r:id="rId11" imgW="5457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4991100"/>
                        <a:ext cx="1189038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604621"/>
              </p:ext>
            </p:extLst>
          </p:nvPr>
        </p:nvGraphicFramePr>
        <p:xfrm>
          <a:off x="5397500" y="5233988"/>
          <a:ext cx="42005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5" name="Equation" r:id="rId13" imgW="1930320" imgH="203040" progId="Equation.DSMT4">
                  <p:embed/>
                </p:oleObj>
              </mc:Choice>
              <mc:Fallback>
                <p:oleObj name="Equation" r:id="rId13" imgW="1930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0" y="5233988"/>
                        <a:ext cx="42005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955280FA-BBF6-40D0-BA97-E425E3E83B01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6" name="文本框 60">
              <a:extLst>
                <a:ext uri="{FF2B5EF4-FFF2-40B4-BE49-F238E27FC236}">
                  <a16:creationId xmlns:a16="http://schemas.microsoft.com/office/drawing/2014/main" xmlns="" id="{AA08B303-7B3B-4805-BBDB-0F6EFDFBACCB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雪崩光电二极管的应用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9DCFEB09-D2A0-4246-8661-F4FFD731F18D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6B2F91C3-AD50-49BC-A568-65418B735CF1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xmlns="" id="{2E8A1524-5B8C-41E9-99EC-BD9D4AC9896C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4.5.3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58">
              <a:extLst>
                <a:ext uri="{FF2B5EF4-FFF2-40B4-BE49-F238E27FC236}">
                  <a16:creationId xmlns:a16="http://schemas.microsoft.com/office/drawing/2014/main" xmlns="" id="{5D555550-D34F-4A21-8977-E5E6981400F4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18D2D800-E540-4800-82C3-08847B61035B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F4E4452B-2297-423E-B2CD-5311B6588B97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54889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lum bright="-6000" contrast="24000"/>
          </a:blip>
          <a:srcRect/>
          <a:stretch>
            <a:fillRect/>
          </a:stretch>
        </p:blipFill>
        <p:spPr bwMode="auto">
          <a:xfrm>
            <a:off x="1000125" y="1580173"/>
            <a:ext cx="12109618" cy="4942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5BA2EAC7-8D50-4915-9B79-12FDDB36C091}"/>
              </a:ext>
            </a:extLst>
          </p:cNvPr>
          <p:cNvGrpSpPr/>
          <p:nvPr/>
        </p:nvGrpSpPr>
        <p:grpSpPr>
          <a:xfrm>
            <a:off x="0" y="293282"/>
            <a:ext cx="13161246" cy="7421968"/>
            <a:chOff x="0" y="293282"/>
            <a:chExt cx="13161246" cy="7421968"/>
          </a:xfrm>
        </p:grpSpPr>
        <p:sp>
          <p:nvSpPr>
            <p:cNvPr id="12" name="文本框 60">
              <a:extLst>
                <a:ext uri="{FF2B5EF4-FFF2-40B4-BE49-F238E27FC236}">
                  <a16:creationId xmlns:a16="http://schemas.microsoft.com/office/drawing/2014/main" xmlns="" id="{D2632A5B-DD42-4ABD-B30B-9D5114D5DEF8}"/>
                </a:ext>
              </a:extLst>
            </p:cNvPr>
            <p:cNvSpPr txBox="1"/>
            <p:nvPr/>
          </p:nvSpPr>
          <p:spPr>
            <a:xfrm>
              <a:off x="1364781" y="293282"/>
              <a:ext cx="35698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雪崩光电二极管的应用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E1F9D378-50D0-4153-9DF7-73F21256BFC2}"/>
                </a:ext>
              </a:extLst>
            </p:cNvPr>
            <p:cNvSpPr/>
            <p:nvPr/>
          </p:nvSpPr>
          <p:spPr>
            <a:xfrm>
              <a:off x="10019131" y="329189"/>
              <a:ext cx="1448470" cy="45140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Photoelectric</a:t>
              </a:r>
            </a:p>
            <a:p>
              <a:pPr>
                <a:lnSpc>
                  <a:spcPts val="1400"/>
                </a:lnSpc>
              </a:pPr>
              <a:r>
                <a:rPr lang="en-US" altLang="zh-CN" sz="1100" b="1" spc="50" dirty="0">
                  <a:latin typeface="冬青黑体简体中文 W6"/>
                  <a:ea typeface="冬青黑体简体中文 W6" panose="020B0600000000000000" pitchFamily="34" charset="-122"/>
                  <a:cs typeface="Times New Roman" panose="02020603050405020304" pitchFamily="18" charset="0"/>
                </a:rPr>
                <a:t>Technology</a:t>
              </a:r>
              <a:endParaRPr lang="zh-CN" altLang="en-US" sz="1100" b="1" spc="50" dirty="0">
                <a:ln w="22225">
                  <a:solidFill>
                    <a:schemeClr val="accent2"/>
                  </a:solidFill>
                  <a:prstDash val="solid"/>
                </a:ln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15187B35-175A-4836-9240-D9002035C500}"/>
                </a:ext>
              </a:extLst>
            </p:cNvPr>
            <p:cNvSpPr/>
            <p:nvPr/>
          </p:nvSpPr>
          <p:spPr>
            <a:xfrm>
              <a:off x="12993723" y="361950"/>
              <a:ext cx="167523" cy="412649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xmlns="" id="{8FE831CC-24B3-47AE-BFFB-0B0F53DF1915}"/>
                </a:ext>
              </a:extLst>
            </p:cNvPr>
            <p:cNvSpPr/>
            <p:nvPr/>
          </p:nvSpPr>
          <p:spPr>
            <a:xfrm>
              <a:off x="304801" y="293282"/>
              <a:ext cx="979824" cy="481317"/>
            </a:xfrm>
            <a:prstGeom prst="roundRect">
              <a:avLst/>
            </a:prstGeom>
            <a:gradFill>
              <a:gsLst>
                <a:gs pos="0">
                  <a:srgbClr val="0066FF"/>
                </a:gs>
                <a:gs pos="100000">
                  <a:schemeClr val="accent1">
                    <a:lumMod val="10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800"/>
                </a:spcBef>
              </a:pPr>
              <a:r>
                <a:rPr kumimoji="1"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4.5.3</a:t>
              </a:r>
              <a:endPara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接连接符 58">
              <a:extLst>
                <a:ext uri="{FF2B5EF4-FFF2-40B4-BE49-F238E27FC236}">
                  <a16:creationId xmlns:a16="http://schemas.microsoft.com/office/drawing/2014/main" xmlns="" id="{08B442F6-7B5E-47C7-B9A9-D0F5CC842C95}"/>
                </a:ext>
              </a:extLst>
            </p:cNvPr>
            <p:cNvCxnSpPr>
              <a:cxnSpLocks/>
            </p:cNvCxnSpPr>
            <p:nvPr/>
          </p:nvCxnSpPr>
          <p:spPr>
            <a:xfrm>
              <a:off x="1450506" y="710998"/>
              <a:ext cx="3336956" cy="0"/>
            </a:xfrm>
            <a:prstGeom prst="line">
              <a:avLst/>
            </a:prstGeom>
            <a:ln w="19050" cmpd="dbl">
              <a:solidFill>
                <a:srgbClr val="3366FF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1C752BE3-9DE2-4399-AABD-B239589D3DB9}"/>
                </a:ext>
              </a:extLst>
            </p:cNvPr>
            <p:cNvSpPr/>
            <p:nvPr/>
          </p:nvSpPr>
          <p:spPr>
            <a:xfrm>
              <a:off x="11251918" y="293282"/>
              <a:ext cx="1741805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r"/>
              <a:r>
                <a:rPr lang="zh-CN" altLang="en-US" sz="2800" spc="20" dirty="0">
                  <a:latin typeface="冬青黑体简体中文 W6" panose="020B0600000000000000" pitchFamily="34" charset="-122"/>
                  <a:ea typeface="冬青黑体简体中文 W6" panose="020B0600000000000000" pitchFamily="34" charset="-122"/>
                  <a:cs typeface="阿里巴巴普惠体 R" panose="00020600040101010101" pitchFamily="18" charset="-122"/>
                </a:rPr>
                <a:t>光电技术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xmlns="" id="{2CE44006-3400-42A5-B1F8-08CE41969F3A}"/>
                </a:ext>
              </a:extLst>
            </p:cNvPr>
            <p:cNvSpPr/>
            <p:nvPr/>
          </p:nvSpPr>
          <p:spPr>
            <a:xfrm flipV="1">
              <a:off x="0" y="7589506"/>
              <a:ext cx="10141249" cy="125744"/>
            </a:xfrm>
            <a:prstGeom prst="rect">
              <a:avLst/>
            </a:prstGeom>
            <a:gradFill flip="none" rotWithShape="1">
              <a:gsLst>
                <a:gs pos="0">
                  <a:srgbClr val="1271FE"/>
                </a:gs>
                <a:gs pos="45000">
                  <a:srgbClr val="6895F3"/>
                </a:gs>
                <a:gs pos="9000">
                  <a:srgbClr val="3366FF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087098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光电技术模板-2015-6-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318</TotalTime>
  <Words>1140</Words>
  <Application>Microsoft Office PowerPoint</Application>
  <PresentationFormat>自定义</PresentationFormat>
  <Paragraphs>296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40" baseType="lpstr">
      <vt:lpstr>Yu Gothic UI</vt:lpstr>
      <vt:lpstr>阿里巴巴普惠体 M</vt:lpstr>
      <vt:lpstr>阿里巴巴普惠体 R</vt:lpstr>
      <vt:lpstr>冬青黑体简体中文 W3</vt:lpstr>
      <vt:lpstr>冬青黑体简体中文 W6</vt:lpstr>
      <vt:lpstr>宋体</vt:lpstr>
      <vt:lpstr>Microsoft YaHei</vt:lpstr>
      <vt:lpstr>Microsoft YaHei</vt:lpstr>
      <vt:lpstr>Arial</vt:lpstr>
      <vt:lpstr>Calibri</vt:lpstr>
      <vt:lpstr>Calibri Light</vt:lpstr>
      <vt:lpstr>Microsoft Yi Baiti</vt:lpstr>
      <vt:lpstr>Symbol</vt:lpstr>
      <vt:lpstr>Times New Roman</vt:lpstr>
      <vt:lpstr>Wingdings</vt:lpstr>
      <vt:lpstr>光电技术模板-2015-6-18</vt:lpstr>
      <vt:lpstr>Equation</vt:lpstr>
      <vt:lpstr>公式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user</cp:lastModifiedBy>
  <cp:revision>47</cp:revision>
  <dcterms:created xsi:type="dcterms:W3CDTF">2015-06-18T01:42:52Z</dcterms:created>
  <dcterms:modified xsi:type="dcterms:W3CDTF">2022-09-29T00:42:05Z</dcterms:modified>
</cp:coreProperties>
</file>