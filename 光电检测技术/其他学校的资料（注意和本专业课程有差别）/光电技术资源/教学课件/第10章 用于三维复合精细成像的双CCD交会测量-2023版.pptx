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19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Default Extension="bin" ContentType="application/vnd.openxmlformats-officedocument.oleObject"/>
  <Default Extension="png" ContentType="image/png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wmf" ContentType="image/x-wmf"/>
  <Default Extension="emf" ContentType="image/x-emf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0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Default Extension="vml" ContentType="application/vnd.openxmlformats-officedocument.vmlDrawing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73" r:id="rId2"/>
    <p:sldId id="274" r:id="rId3"/>
    <p:sldId id="275" r:id="rId4"/>
    <p:sldId id="276" r:id="rId5"/>
    <p:sldId id="277" r:id="rId6"/>
    <p:sldId id="278" r:id="rId7"/>
    <p:sldId id="279" r:id="rId8"/>
    <p:sldId id="280" r:id="rId9"/>
    <p:sldId id="281" r:id="rId10"/>
    <p:sldId id="282" r:id="rId11"/>
    <p:sldId id="283" r:id="rId12"/>
    <p:sldId id="284" r:id="rId13"/>
    <p:sldId id="285" r:id="rId14"/>
    <p:sldId id="286" r:id="rId15"/>
    <p:sldId id="287" r:id="rId16"/>
    <p:sldId id="288" r:id="rId17"/>
    <p:sldId id="289" r:id="rId18"/>
    <p:sldId id="290" r:id="rId19"/>
    <p:sldId id="291" r:id="rId20"/>
    <p:sldId id="292" r:id="rId21"/>
  </p:sldIdLst>
  <p:sldSz cx="13717588" cy="7715250"/>
  <p:notesSz cx="6858000" cy="9144000"/>
  <p:defaultTextStyle>
    <a:defPPr>
      <a:defRPr lang="zh-CN"/>
    </a:defPPr>
    <a:lvl1pPr algn="l" defTabSz="1028700" rtl="0" fontAlgn="base">
      <a:spcBef>
        <a:spcPct val="0"/>
      </a:spcBef>
      <a:spcAft>
        <a:spcPct val="0"/>
      </a:spcAft>
      <a:defRPr sz="2000" kern="1200">
        <a:solidFill>
          <a:schemeClr val="tx1"/>
        </a:solidFill>
        <a:latin typeface="Arial" charset="0"/>
        <a:ea typeface="宋体" charset="-122"/>
        <a:cs typeface="+mn-cs"/>
      </a:defRPr>
    </a:lvl1pPr>
    <a:lvl2pPr marL="514350" indent="-57150" algn="l" defTabSz="1028700" rtl="0" fontAlgn="base">
      <a:spcBef>
        <a:spcPct val="0"/>
      </a:spcBef>
      <a:spcAft>
        <a:spcPct val="0"/>
      </a:spcAft>
      <a:defRPr sz="2000" kern="1200">
        <a:solidFill>
          <a:schemeClr val="tx1"/>
        </a:solidFill>
        <a:latin typeface="Arial" charset="0"/>
        <a:ea typeface="宋体" charset="-122"/>
        <a:cs typeface="+mn-cs"/>
      </a:defRPr>
    </a:lvl2pPr>
    <a:lvl3pPr marL="1028700" indent="-114300" algn="l" defTabSz="1028700" rtl="0" fontAlgn="base">
      <a:spcBef>
        <a:spcPct val="0"/>
      </a:spcBef>
      <a:spcAft>
        <a:spcPct val="0"/>
      </a:spcAft>
      <a:defRPr sz="2000" kern="1200">
        <a:solidFill>
          <a:schemeClr val="tx1"/>
        </a:solidFill>
        <a:latin typeface="Arial" charset="0"/>
        <a:ea typeface="宋体" charset="-122"/>
        <a:cs typeface="+mn-cs"/>
      </a:defRPr>
    </a:lvl3pPr>
    <a:lvl4pPr marL="1543050" indent="-171450" algn="l" defTabSz="1028700" rtl="0" fontAlgn="base">
      <a:spcBef>
        <a:spcPct val="0"/>
      </a:spcBef>
      <a:spcAft>
        <a:spcPct val="0"/>
      </a:spcAft>
      <a:defRPr sz="2000" kern="1200">
        <a:solidFill>
          <a:schemeClr val="tx1"/>
        </a:solidFill>
        <a:latin typeface="Arial" charset="0"/>
        <a:ea typeface="宋体" charset="-122"/>
        <a:cs typeface="+mn-cs"/>
      </a:defRPr>
    </a:lvl4pPr>
    <a:lvl5pPr marL="2057400" indent="-228600" algn="l" defTabSz="1028700" rtl="0" fontAlgn="base">
      <a:spcBef>
        <a:spcPct val="0"/>
      </a:spcBef>
      <a:spcAft>
        <a:spcPct val="0"/>
      </a:spcAft>
      <a:defRPr sz="2000" kern="1200">
        <a:solidFill>
          <a:schemeClr val="tx1"/>
        </a:solidFill>
        <a:latin typeface="Arial" charset="0"/>
        <a:ea typeface="宋体" charset="-122"/>
        <a:cs typeface="+mn-cs"/>
      </a:defRPr>
    </a:lvl5pPr>
    <a:lvl6pPr marL="2286000" algn="l" defTabSz="914400" rtl="0" eaLnBrk="1" latinLnBrk="0" hangingPunct="1">
      <a:defRPr sz="2000" kern="1200">
        <a:solidFill>
          <a:schemeClr val="tx1"/>
        </a:solidFill>
        <a:latin typeface="Arial" charset="0"/>
        <a:ea typeface="宋体" charset="-122"/>
        <a:cs typeface="+mn-cs"/>
      </a:defRPr>
    </a:lvl6pPr>
    <a:lvl7pPr marL="2743200" algn="l" defTabSz="914400" rtl="0" eaLnBrk="1" latinLnBrk="0" hangingPunct="1">
      <a:defRPr sz="2000" kern="1200">
        <a:solidFill>
          <a:schemeClr val="tx1"/>
        </a:solidFill>
        <a:latin typeface="Arial" charset="0"/>
        <a:ea typeface="宋体" charset="-122"/>
        <a:cs typeface="+mn-cs"/>
      </a:defRPr>
    </a:lvl7pPr>
    <a:lvl8pPr marL="3200400" algn="l" defTabSz="914400" rtl="0" eaLnBrk="1" latinLnBrk="0" hangingPunct="1">
      <a:defRPr sz="2000" kern="1200">
        <a:solidFill>
          <a:schemeClr val="tx1"/>
        </a:solidFill>
        <a:latin typeface="Arial" charset="0"/>
        <a:ea typeface="宋体" charset="-122"/>
        <a:cs typeface="+mn-cs"/>
      </a:defRPr>
    </a:lvl8pPr>
    <a:lvl9pPr marL="3657600" algn="l" defTabSz="914400" rtl="0" eaLnBrk="1" latinLnBrk="0" hangingPunct="1">
      <a:defRPr sz="2000" kern="1200">
        <a:solidFill>
          <a:schemeClr val="tx1"/>
        </a:solidFill>
        <a:latin typeface="Arial" charset="0"/>
        <a:ea typeface="宋体" charset="-122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CC"/>
  </p:clrMru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showOutlineIcons="0" horzBarState="maximized">
    <p:restoredLeft sz="10694" autoAdjust="0"/>
    <p:restoredTop sz="94660"/>
  </p:normalViewPr>
  <p:slideViewPr>
    <p:cSldViewPr snapToGrid="0">
      <p:cViewPr varScale="1">
        <p:scale>
          <a:sx n="63" d="100"/>
          <a:sy n="63" d="100"/>
        </p:scale>
        <p:origin x="-894" y="-96"/>
      </p:cViewPr>
      <p:guideLst>
        <p:guide orient="horz" pos="2430"/>
        <p:guide pos="432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1.wmf"/></Relationships>
</file>

<file path=ppt/drawings/_rels/vmlDrawing2.vml.rels><?xml version="1.0" encoding="UTF-8" standalone="yes"?>
<Relationships xmlns="http://schemas.openxmlformats.org/package/2006/relationships"><Relationship Id="rId1" Type="http://schemas.openxmlformats.org/officeDocument/2006/relationships/image" Target="../media/image2.emf"/></Relationships>
</file>

<file path=ppt/drawings/_rels/vmlDrawing3.vml.rels><?xml version="1.0" encoding="UTF-8" standalone="yes"?>
<Relationships xmlns="http://schemas.openxmlformats.org/package/2006/relationships"><Relationship Id="rId1" Type="http://schemas.openxmlformats.org/officeDocument/2006/relationships/image" Target="../media/image3.wmf"/></Relationships>
</file>

<file path=ppt/drawings/_rels/vmlDrawing4.vml.rels><?xml version="1.0" encoding="UTF-8" standalone="yes"?>
<Relationships xmlns="http://schemas.openxmlformats.org/package/2006/relationships"><Relationship Id="rId1" Type="http://schemas.openxmlformats.org/officeDocument/2006/relationships/image" Target="../media/image4.wmf"/></Relationships>
</file>

<file path=ppt/drawings/_rels/vmlDrawing5.vml.rels><?xml version="1.0" encoding="UTF-8" standalone="yes"?>
<Relationships xmlns="http://schemas.openxmlformats.org/package/2006/relationships"><Relationship Id="rId1" Type="http://schemas.openxmlformats.org/officeDocument/2006/relationships/image" Target="../media/image5.wmf"/></Relationships>
</file>

<file path=ppt/drawings/_rels/vmlDrawing6.vml.rels><?xml version="1.0" encoding="UTF-8" standalone="yes"?>
<Relationships xmlns="http://schemas.openxmlformats.org/package/2006/relationships"><Relationship Id="rId3" Type="http://schemas.openxmlformats.org/officeDocument/2006/relationships/image" Target="../media/image9.wmf"/><Relationship Id="rId2" Type="http://schemas.openxmlformats.org/officeDocument/2006/relationships/image" Target="../media/image8.wmf"/><Relationship Id="rId1" Type="http://schemas.openxmlformats.org/officeDocument/2006/relationships/image" Target="../media/image7.wmf"/><Relationship Id="rId6" Type="http://schemas.openxmlformats.org/officeDocument/2006/relationships/image" Target="../media/image12.wmf"/><Relationship Id="rId5" Type="http://schemas.openxmlformats.org/officeDocument/2006/relationships/image" Target="../media/image11.wmf"/><Relationship Id="rId4" Type="http://schemas.openxmlformats.org/officeDocument/2006/relationships/image" Target="../media/image10.wmf"/></Relationships>
</file>

<file path=ppt/drawings/_rels/vmlDrawing7.vml.rels><?xml version="1.0" encoding="UTF-8" standalone="yes"?>
<Relationships xmlns="http://schemas.openxmlformats.org/package/2006/relationships"><Relationship Id="rId2" Type="http://schemas.openxmlformats.org/officeDocument/2006/relationships/image" Target="../media/image14.wmf"/><Relationship Id="rId1" Type="http://schemas.openxmlformats.org/officeDocument/2006/relationships/image" Target="../media/image13.wmf"/></Relationships>
</file>

<file path=ppt/drawings/_rels/vmlDrawing8.vml.rels><?xml version="1.0" encoding="UTF-8" standalone="yes"?>
<Relationships xmlns="http://schemas.openxmlformats.org/package/2006/relationships"><Relationship Id="rId1" Type="http://schemas.openxmlformats.org/officeDocument/2006/relationships/image" Target="../media/image16.wmf"/></Relationships>
</file>

<file path=ppt/drawings/_rels/vmlDrawing9.vml.rels><?xml version="1.0" encoding="UTF-8" standalone="yes"?>
<Relationships xmlns="http://schemas.openxmlformats.org/package/2006/relationships"><Relationship Id="rId1" Type="http://schemas.openxmlformats.org/officeDocument/2006/relationships/image" Target="../media/image18.wmf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714699" y="1262658"/>
            <a:ext cx="10288191" cy="2686050"/>
          </a:xfrm>
        </p:spPr>
        <p:txBody>
          <a:bodyPr anchor="b"/>
          <a:lstStyle>
            <a:lvl1pPr algn="ctr">
              <a:defRPr sz="68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714699" y="4052293"/>
            <a:ext cx="10288191" cy="1862732"/>
          </a:xfrm>
        </p:spPr>
        <p:txBody>
          <a:bodyPr/>
          <a:lstStyle>
            <a:lvl1pPr marL="0" indent="0" algn="ctr">
              <a:buNone/>
              <a:defRPr sz="2700"/>
            </a:lvl1pPr>
            <a:lvl2pPr marL="514350" indent="0" algn="ctr">
              <a:buNone/>
              <a:defRPr sz="2300"/>
            </a:lvl2pPr>
            <a:lvl3pPr marL="1028700" indent="0" algn="ctr">
              <a:buNone/>
              <a:defRPr sz="2000"/>
            </a:lvl3pPr>
            <a:lvl4pPr marL="1543050" indent="0" algn="ctr">
              <a:buNone/>
              <a:defRPr sz="1800"/>
            </a:lvl4pPr>
            <a:lvl5pPr marL="2057400" indent="0" algn="ctr">
              <a:buNone/>
              <a:defRPr sz="1800"/>
            </a:lvl5pPr>
            <a:lvl6pPr marL="2571750" indent="0" algn="ctr">
              <a:buNone/>
              <a:defRPr sz="1800"/>
            </a:lvl6pPr>
            <a:lvl7pPr marL="3086100" indent="0" algn="ctr">
              <a:buNone/>
              <a:defRPr sz="1800"/>
            </a:lvl7pPr>
            <a:lvl8pPr marL="3600450" indent="0" algn="ctr">
              <a:buNone/>
              <a:defRPr sz="1800"/>
            </a:lvl8pPr>
            <a:lvl9pPr marL="4114800" indent="0" algn="ctr">
              <a:buNone/>
              <a:defRPr sz="1800"/>
            </a:lvl9pPr>
          </a:lstStyle>
          <a:p>
            <a:r>
              <a:rPr lang="zh-CN" altLang="en-US" smtClean="0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A92EB52-41C2-4591-A8DF-EBA7C1AA6F3B}" type="datetimeFigureOut">
              <a:rPr lang="zh-CN" altLang="en-US"/>
              <a:pPr>
                <a:defRPr/>
              </a:pPr>
              <a:t>2022/5/2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EC7482D-7024-46F5-BF6A-5FE36245BE5B}" type="slidenum">
              <a:rPr lang="zh-CN" altLang="en-US"/>
              <a:pPr>
                <a:defRPr/>
              </a:pPr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88DBF1A-8D93-4973-A4FA-E6E290C720E0}" type="datetimeFigureOut">
              <a:rPr lang="zh-CN" altLang="en-US"/>
              <a:pPr>
                <a:defRPr/>
              </a:pPr>
              <a:t>2022/5/2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5552B0F-DD6C-4CCF-A119-5C0938484D04}" type="slidenum">
              <a:rPr lang="zh-CN" altLang="en-US"/>
              <a:pPr>
                <a:defRPr/>
              </a:pPr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935939" y="1923456"/>
            <a:ext cx="11831420" cy="3209329"/>
          </a:xfrm>
        </p:spPr>
        <p:txBody>
          <a:bodyPr anchor="b"/>
          <a:lstStyle>
            <a:lvl1pPr>
              <a:defRPr sz="68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935939" y="5163147"/>
            <a:ext cx="11831420" cy="1687710"/>
          </a:xfrm>
        </p:spPr>
        <p:txBody>
          <a:bodyPr/>
          <a:lstStyle>
            <a:lvl1pPr marL="0" indent="0">
              <a:buNone/>
              <a:defRPr sz="2700">
                <a:solidFill>
                  <a:schemeClr val="tx1">
                    <a:tint val="75000"/>
                  </a:schemeClr>
                </a:solidFill>
              </a:defRPr>
            </a:lvl1pPr>
            <a:lvl2pPr marL="514350" indent="0">
              <a:buNone/>
              <a:defRPr sz="2300">
                <a:solidFill>
                  <a:schemeClr val="tx1">
                    <a:tint val="75000"/>
                  </a:schemeClr>
                </a:solidFill>
              </a:defRPr>
            </a:lvl2pPr>
            <a:lvl3pPr marL="10287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3pPr>
            <a:lvl4pPr marL="154305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4pPr>
            <a:lvl5pPr marL="2057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5pPr>
            <a:lvl6pPr marL="257175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6pPr>
            <a:lvl7pPr marL="30861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7pPr>
            <a:lvl8pPr marL="360045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8pPr>
            <a:lvl9pPr marL="41148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6A695FD-F8E7-45A2-B08E-95D086E54610}" type="datetimeFigureOut">
              <a:rPr lang="zh-CN" altLang="en-US"/>
              <a:pPr>
                <a:defRPr/>
              </a:pPr>
              <a:t>2022/5/2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32F0D08-69CA-46C6-8BD6-2B7B4134F4C8}" type="slidenum">
              <a:rPr lang="zh-CN" altLang="en-US"/>
              <a:pPr>
                <a:defRPr/>
              </a:pPr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943084" y="2053828"/>
            <a:ext cx="5829975" cy="4895255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944529" y="2053828"/>
            <a:ext cx="5829975" cy="4895255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9C29B0E-62F8-4983-A7E8-1FA0F94D9059}" type="datetimeFigureOut">
              <a:rPr lang="zh-CN" altLang="en-US"/>
              <a:pPr>
                <a:defRPr/>
              </a:pPr>
              <a:t>2022/5/2</a:t>
            </a:fld>
            <a:endParaRPr lang="zh-CN" altLang="en-US"/>
          </a:p>
        </p:txBody>
      </p:sp>
      <p:sp>
        <p:nvSpPr>
          <p:cNvPr id="6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7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31C509C-D3CF-4677-910D-ECABE9710A98}" type="slidenum">
              <a:rPr lang="zh-CN" altLang="en-US"/>
              <a:pPr>
                <a:defRPr/>
              </a:pPr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944871" y="410766"/>
            <a:ext cx="11831420" cy="1491258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944872" y="1891308"/>
            <a:ext cx="5803182" cy="926901"/>
          </a:xfrm>
        </p:spPr>
        <p:txBody>
          <a:bodyPr anchor="b"/>
          <a:lstStyle>
            <a:lvl1pPr marL="0" indent="0">
              <a:buNone/>
              <a:defRPr sz="2700" b="1"/>
            </a:lvl1pPr>
            <a:lvl2pPr marL="514350" indent="0">
              <a:buNone/>
              <a:defRPr sz="2300" b="1"/>
            </a:lvl2pPr>
            <a:lvl3pPr marL="1028700" indent="0">
              <a:buNone/>
              <a:defRPr sz="2000" b="1"/>
            </a:lvl3pPr>
            <a:lvl4pPr marL="1543050" indent="0">
              <a:buNone/>
              <a:defRPr sz="1800" b="1"/>
            </a:lvl4pPr>
            <a:lvl5pPr marL="2057400" indent="0">
              <a:buNone/>
              <a:defRPr sz="1800" b="1"/>
            </a:lvl5pPr>
            <a:lvl6pPr marL="2571750" indent="0">
              <a:buNone/>
              <a:defRPr sz="1800" b="1"/>
            </a:lvl6pPr>
            <a:lvl7pPr marL="3086100" indent="0">
              <a:buNone/>
              <a:defRPr sz="1800" b="1"/>
            </a:lvl7pPr>
            <a:lvl8pPr marL="3600450" indent="0">
              <a:buNone/>
              <a:defRPr sz="1800" b="1"/>
            </a:lvl8pPr>
            <a:lvl9pPr marL="4114800" indent="0">
              <a:buNone/>
              <a:defRPr sz="18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944872" y="2818209"/>
            <a:ext cx="5803182" cy="4145162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944529" y="1891308"/>
            <a:ext cx="5831762" cy="926901"/>
          </a:xfrm>
        </p:spPr>
        <p:txBody>
          <a:bodyPr anchor="b"/>
          <a:lstStyle>
            <a:lvl1pPr marL="0" indent="0">
              <a:buNone/>
              <a:defRPr sz="2700" b="1"/>
            </a:lvl1pPr>
            <a:lvl2pPr marL="514350" indent="0">
              <a:buNone/>
              <a:defRPr sz="2300" b="1"/>
            </a:lvl2pPr>
            <a:lvl3pPr marL="1028700" indent="0">
              <a:buNone/>
              <a:defRPr sz="2000" b="1"/>
            </a:lvl3pPr>
            <a:lvl4pPr marL="1543050" indent="0">
              <a:buNone/>
              <a:defRPr sz="1800" b="1"/>
            </a:lvl4pPr>
            <a:lvl5pPr marL="2057400" indent="0">
              <a:buNone/>
              <a:defRPr sz="1800" b="1"/>
            </a:lvl5pPr>
            <a:lvl6pPr marL="2571750" indent="0">
              <a:buNone/>
              <a:defRPr sz="1800" b="1"/>
            </a:lvl6pPr>
            <a:lvl7pPr marL="3086100" indent="0">
              <a:buNone/>
              <a:defRPr sz="1800" b="1"/>
            </a:lvl7pPr>
            <a:lvl8pPr marL="3600450" indent="0">
              <a:buNone/>
              <a:defRPr sz="1800" b="1"/>
            </a:lvl8pPr>
            <a:lvl9pPr marL="4114800" indent="0">
              <a:buNone/>
              <a:defRPr sz="18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944529" y="2818209"/>
            <a:ext cx="5831762" cy="4145162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7522C95-7835-404E-B2FB-DC2563565762}" type="datetimeFigureOut">
              <a:rPr lang="zh-CN" altLang="en-US"/>
              <a:pPr>
                <a:defRPr/>
              </a:pPr>
              <a:t>2022/5/2</a:t>
            </a:fld>
            <a:endParaRPr lang="zh-CN" altLang="en-US"/>
          </a:p>
        </p:txBody>
      </p:sp>
      <p:sp>
        <p:nvSpPr>
          <p:cNvPr id="8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9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FBA921D-7A31-4B5F-9A55-23480DA50897}" type="slidenum">
              <a:rPr lang="zh-CN" altLang="en-US"/>
              <a:pPr>
                <a:defRPr/>
              </a:pPr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09FE118-470C-474F-ACEF-20CAA9EE7943}" type="datetimeFigureOut">
              <a:rPr lang="zh-CN" altLang="en-US"/>
              <a:pPr>
                <a:defRPr/>
              </a:pPr>
              <a:t>2022/5/2</a:t>
            </a:fld>
            <a:endParaRPr lang="zh-CN" altLang="en-US"/>
          </a:p>
        </p:txBody>
      </p:sp>
      <p:sp>
        <p:nvSpPr>
          <p:cNvPr id="4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5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94D6ED0-2CFC-4ED9-A271-5654441AB1B0}" type="slidenum">
              <a:rPr lang="zh-CN" altLang="en-US"/>
              <a:pPr>
                <a:defRPr/>
              </a:pPr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1E5BB6A-A884-49F4-8610-572DB8071486}" type="datetimeFigureOut">
              <a:rPr lang="zh-CN" altLang="en-US"/>
              <a:pPr>
                <a:defRPr/>
              </a:pPr>
              <a:t>2022/5/2</a:t>
            </a:fld>
            <a:endParaRPr lang="zh-CN" altLang="en-US"/>
          </a:p>
        </p:txBody>
      </p:sp>
      <p:sp>
        <p:nvSpPr>
          <p:cNvPr id="3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4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DDEDEE0-201E-4E7C-8971-6F0818CB62D7}" type="slidenum">
              <a:rPr lang="zh-CN" altLang="en-US"/>
              <a:pPr>
                <a:defRPr/>
              </a:pPr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944871" y="514350"/>
            <a:ext cx="4424279" cy="1800225"/>
          </a:xfrm>
        </p:spPr>
        <p:txBody>
          <a:bodyPr anchor="b"/>
          <a:lstStyle>
            <a:lvl1pPr>
              <a:defRPr sz="36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831762" y="1110854"/>
            <a:ext cx="6944529" cy="5482828"/>
          </a:xfrm>
        </p:spPr>
        <p:txBody>
          <a:bodyPr/>
          <a:lstStyle>
            <a:lvl1pPr>
              <a:defRPr sz="3600"/>
            </a:lvl1pPr>
            <a:lvl2pPr>
              <a:defRPr sz="3200"/>
            </a:lvl2pPr>
            <a:lvl3pPr>
              <a:defRPr sz="2700"/>
            </a:lvl3pPr>
            <a:lvl4pPr>
              <a:defRPr sz="2300"/>
            </a:lvl4pPr>
            <a:lvl5pPr>
              <a:defRPr sz="2300"/>
            </a:lvl5pPr>
            <a:lvl6pPr>
              <a:defRPr sz="2300"/>
            </a:lvl6pPr>
            <a:lvl7pPr>
              <a:defRPr sz="2300"/>
            </a:lvl7pPr>
            <a:lvl8pPr>
              <a:defRPr sz="2300"/>
            </a:lvl8pPr>
            <a:lvl9pPr>
              <a:defRPr sz="23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944871" y="2314575"/>
            <a:ext cx="4424279" cy="4288037"/>
          </a:xfrm>
        </p:spPr>
        <p:txBody>
          <a:bodyPr/>
          <a:lstStyle>
            <a:lvl1pPr marL="0" indent="0">
              <a:buNone/>
              <a:defRPr sz="1800"/>
            </a:lvl1pPr>
            <a:lvl2pPr marL="514350" indent="0">
              <a:buNone/>
              <a:defRPr sz="1600"/>
            </a:lvl2pPr>
            <a:lvl3pPr marL="1028700" indent="0">
              <a:buNone/>
              <a:defRPr sz="1400"/>
            </a:lvl3pPr>
            <a:lvl4pPr marL="1543050" indent="0">
              <a:buNone/>
              <a:defRPr sz="1100"/>
            </a:lvl4pPr>
            <a:lvl5pPr marL="2057400" indent="0">
              <a:buNone/>
              <a:defRPr sz="1100"/>
            </a:lvl5pPr>
            <a:lvl6pPr marL="2571750" indent="0">
              <a:buNone/>
              <a:defRPr sz="1100"/>
            </a:lvl6pPr>
            <a:lvl7pPr marL="3086100" indent="0">
              <a:buNone/>
              <a:defRPr sz="1100"/>
            </a:lvl7pPr>
            <a:lvl8pPr marL="3600450" indent="0">
              <a:buNone/>
              <a:defRPr sz="1100"/>
            </a:lvl8pPr>
            <a:lvl9pPr marL="4114800" indent="0">
              <a:buNone/>
              <a:defRPr sz="11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5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A5449D1-B66D-4A61-A44B-7348ACECD5AE}" type="datetimeFigureOut">
              <a:rPr lang="zh-CN" altLang="en-US"/>
              <a:pPr>
                <a:defRPr/>
              </a:pPr>
              <a:t>2022/5/2</a:t>
            </a:fld>
            <a:endParaRPr lang="zh-CN" altLang="en-US"/>
          </a:p>
        </p:txBody>
      </p:sp>
      <p:sp>
        <p:nvSpPr>
          <p:cNvPr id="6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7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FF48E5B-1486-446B-BA76-02AA6DA24951}" type="slidenum">
              <a:rPr lang="zh-CN" altLang="en-US"/>
              <a:pPr>
                <a:defRPr/>
              </a:pPr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944871" y="514350"/>
            <a:ext cx="4424279" cy="1800225"/>
          </a:xfrm>
        </p:spPr>
        <p:txBody>
          <a:bodyPr anchor="b"/>
          <a:lstStyle>
            <a:lvl1pPr>
              <a:defRPr sz="36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831762" y="1110854"/>
            <a:ext cx="6944529" cy="5482828"/>
          </a:xfrm>
        </p:spPr>
        <p:txBody>
          <a:bodyPr rtlCol="0">
            <a:normAutofit/>
          </a:bodyPr>
          <a:lstStyle>
            <a:lvl1pPr marL="0" indent="0">
              <a:buNone/>
              <a:defRPr sz="3600"/>
            </a:lvl1pPr>
            <a:lvl2pPr marL="514350" indent="0">
              <a:buNone/>
              <a:defRPr sz="3200"/>
            </a:lvl2pPr>
            <a:lvl3pPr marL="1028700" indent="0">
              <a:buNone/>
              <a:defRPr sz="2700"/>
            </a:lvl3pPr>
            <a:lvl4pPr marL="1543050" indent="0">
              <a:buNone/>
              <a:defRPr sz="2300"/>
            </a:lvl4pPr>
            <a:lvl5pPr marL="2057400" indent="0">
              <a:buNone/>
              <a:defRPr sz="2300"/>
            </a:lvl5pPr>
            <a:lvl6pPr marL="2571750" indent="0">
              <a:buNone/>
              <a:defRPr sz="2300"/>
            </a:lvl6pPr>
            <a:lvl7pPr marL="3086100" indent="0">
              <a:buNone/>
              <a:defRPr sz="2300"/>
            </a:lvl7pPr>
            <a:lvl8pPr marL="3600450" indent="0">
              <a:buNone/>
              <a:defRPr sz="2300"/>
            </a:lvl8pPr>
            <a:lvl9pPr marL="4114800" indent="0">
              <a:buNone/>
              <a:defRPr sz="2300"/>
            </a:lvl9pPr>
          </a:lstStyle>
          <a:p>
            <a:pPr lvl="0"/>
            <a:r>
              <a:rPr lang="zh-CN" altLang="en-US" noProof="0" smtClean="0"/>
              <a:t>单击图标添加图片</a:t>
            </a:r>
            <a:endParaRPr lang="zh-CN" altLang="en-US" noProof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944871" y="2314575"/>
            <a:ext cx="4424279" cy="4288037"/>
          </a:xfrm>
        </p:spPr>
        <p:txBody>
          <a:bodyPr/>
          <a:lstStyle>
            <a:lvl1pPr marL="0" indent="0">
              <a:buNone/>
              <a:defRPr sz="1800"/>
            </a:lvl1pPr>
            <a:lvl2pPr marL="514350" indent="0">
              <a:buNone/>
              <a:defRPr sz="1600"/>
            </a:lvl2pPr>
            <a:lvl3pPr marL="1028700" indent="0">
              <a:buNone/>
              <a:defRPr sz="1400"/>
            </a:lvl3pPr>
            <a:lvl4pPr marL="1543050" indent="0">
              <a:buNone/>
              <a:defRPr sz="1100"/>
            </a:lvl4pPr>
            <a:lvl5pPr marL="2057400" indent="0">
              <a:buNone/>
              <a:defRPr sz="1100"/>
            </a:lvl5pPr>
            <a:lvl6pPr marL="2571750" indent="0">
              <a:buNone/>
              <a:defRPr sz="1100"/>
            </a:lvl6pPr>
            <a:lvl7pPr marL="3086100" indent="0">
              <a:buNone/>
              <a:defRPr sz="1100"/>
            </a:lvl7pPr>
            <a:lvl8pPr marL="3600450" indent="0">
              <a:buNone/>
              <a:defRPr sz="1100"/>
            </a:lvl8pPr>
            <a:lvl9pPr marL="4114800" indent="0">
              <a:buNone/>
              <a:defRPr sz="11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5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22405EE-B211-4C2D-A9ED-6A38102E1D7F}" type="datetimeFigureOut">
              <a:rPr lang="zh-CN" altLang="en-US"/>
              <a:pPr>
                <a:defRPr/>
              </a:pPr>
              <a:t>2022/5/2</a:t>
            </a:fld>
            <a:endParaRPr lang="zh-CN" altLang="en-US"/>
          </a:p>
        </p:txBody>
      </p:sp>
      <p:sp>
        <p:nvSpPr>
          <p:cNvPr id="6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7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C90EB5E-31AE-4CB2-A61A-5D19278F6F0C}" type="slidenum">
              <a:rPr lang="zh-CN" altLang="en-US"/>
              <a:pPr>
                <a:defRPr/>
              </a:pPr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9718AE1-CC42-4B3D-BD7D-C362C97D27EB}" type="datetimeFigureOut">
              <a:rPr lang="zh-CN" altLang="en-US"/>
              <a:pPr>
                <a:defRPr/>
              </a:pPr>
              <a:t>2022/5/2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E8387B4-1CEB-412E-B3A4-04FB14B4A8C4}" type="slidenum">
              <a:rPr lang="zh-CN" altLang="en-US"/>
              <a:pPr>
                <a:defRPr/>
              </a:pPr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9816649" y="410766"/>
            <a:ext cx="2957855" cy="6538318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943084" y="410766"/>
            <a:ext cx="8702095" cy="6538318"/>
          </a:xfr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23E24BE-EBAA-4CF2-B1BB-CDCFFB032913}" type="datetimeFigureOut">
              <a:rPr lang="zh-CN" altLang="en-US"/>
              <a:pPr>
                <a:defRPr/>
              </a:pPr>
              <a:t>2022/5/2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851A9EB-FC2A-4116-B052-4CADC2A184FE}" type="slidenum">
              <a:rPr lang="zh-CN" altLang="en-US"/>
              <a:pPr>
                <a:defRPr/>
              </a:pPr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标题占位符 1"/>
          <p:cNvSpPr>
            <a:spLocks noGrp="1"/>
          </p:cNvSpPr>
          <p:nvPr>
            <p:ph type="title"/>
          </p:nvPr>
        </p:nvSpPr>
        <p:spPr bwMode="auto">
          <a:xfrm>
            <a:off x="942975" y="411163"/>
            <a:ext cx="11831638" cy="14906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102870" tIns="51435" rIns="102870" bIns="51435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 smtClean="0"/>
              <a:t>单击此处编辑母版标题样式</a:t>
            </a:r>
          </a:p>
        </p:txBody>
      </p:sp>
      <p:sp>
        <p:nvSpPr>
          <p:cNvPr id="1027" name="文本占位符 2"/>
          <p:cNvSpPr>
            <a:spLocks noGrp="1"/>
          </p:cNvSpPr>
          <p:nvPr>
            <p:ph type="body" idx="1"/>
          </p:nvPr>
        </p:nvSpPr>
        <p:spPr bwMode="auto">
          <a:xfrm>
            <a:off x="942975" y="2054225"/>
            <a:ext cx="11831638" cy="48942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102870" tIns="51435" rIns="102870" bIns="51435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942975" y="7151688"/>
            <a:ext cx="3086100" cy="409575"/>
          </a:xfrm>
          <a:prstGeom prst="rect">
            <a:avLst/>
          </a:prstGeom>
        </p:spPr>
        <p:txBody>
          <a:bodyPr vert="horz" lIns="102870" tIns="51435" rIns="102870" bIns="51435" rtlCol="0" anchor="ctr"/>
          <a:lstStyle>
            <a:lvl1pPr algn="l" fontAlgn="auto">
              <a:spcBef>
                <a:spcPts val="0"/>
              </a:spcBef>
              <a:spcAft>
                <a:spcPts val="0"/>
              </a:spcAft>
              <a:defRPr sz="14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</a:defRPr>
            </a:lvl1pPr>
          </a:lstStyle>
          <a:p>
            <a:pPr>
              <a:defRPr/>
            </a:pPr>
            <a:fld id="{38FA6983-648B-4A6D-BDD0-771ECC098847}" type="datetimeFigureOut">
              <a:rPr lang="zh-CN" altLang="en-US"/>
              <a:pPr>
                <a:defRPr/>
              </a:pPr>
              <a:t>2022/5/2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543425" y="7151688"/>
            <a:ext cx="4630738" cy="409575"/>
          </a:xfrm>
          <a:prstGeom prst="rect">
            <a:avLst/>
          </a:prstGeom>
        </p:spPr>
        <p:txBody>
          <a:bodyPr vert="horz" lIns="102870" tIns="51435" rIns="102870" bIns="51435" rtlCol="0" anchor="ctr"/>
          <a:lstStyle>
            <a:lvl1pPr algn="ctr" fontAlgn="auto">
              <a:spcBef>
                <a:spcPts val="0"/>
              </a:spcBef>
              <a:spcAft>
                <a:spcPts val="0"/>
              </a:spcAft>
              <a:defRPr sz="14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9688513" y="7151688"/>
            <a:ext cx="3086100" cy="409575"/>
          </a:xfrm>
          <a:prstGeom prst="rect">
            <a:avLst/>
          </a:prstGeom>
        </p:spPr>
        <p:txBody>
          <a:bodyPr vert="horz" lIns="102870" tIns="51435" rIns="102870" bIns="51435" rtlCol="0" anchor="ctr"/>
          <a:lstStyle>
            <a:lvl1pPr algn="r" fontAlgn="auto">
              <a:spcBef>
                <a:spcPts val="0"/>
              </a:spcBef>
              <a:spcAft>
                <a:spcPts val="0"/>
              </a:spcAft>
              <a:defRPr sz="14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</a:defRPr>
            </a:lvl1pPr>
          </a:lstStyle>
          <a:p>
            <a:pPr>
              <a:defRPr/>
            </a:pPr>
            <a:fld id="{7FDB7683-172F-42AD-ACB7-6845CB82E7DB}" type="slidenum">
              <a:rPr lang="zh-CN" altLang="en-US"/>
              <a:pPr>
                <a:defRPr/>
              </a:pPr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9" r:id="rId1"/>
    <p:sldLayoutId id="2147483658" r:id="rId2"/>
    <p:sldLayoutId id="2147483657" r:id="rId3"/>
    <p:sldLayoutId id="2147483656" r:id="rId4"/>
    <p:sldLayoutId id="2147483655" r:id="rId5"/>
    <p:sldLayoutId id="2147483654" r:id="rId6"/>
    <p:sldLayoutId id="2147483653" r:id="rId7"/>
    <p:sldLayoutId id="2147483652" r:id="rId8"/>
    <p:sldLayoutId id="2147483651" r:id="rId9"/>
    <p:sldLayoutId id="2147483650" r:id="rId10"/>
    <p:sldLayoutId id="2147483649" r:id="rId11"/>
  </p:sldLayoutIdLst>
  <p:txStyles>
    <p:titleStyle>
      <a:lvl1pPr algn="l" defTabSz="1028700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5000" kern="1200">
          <a:solidFill>
            <a:schemeClr val="tx1"/>
          </a:solidFill>
          <a:latin typeface="+mj-lt"/>
          <a:ea typeface="+mj-ea"/>
          <a:cs typeface="+mj-cs"/>
        </a:defRPr>
      </a:lvl1pPr>
      <a:lvl2pPr algn="l" defTabSz="1028700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5000">
          <a:solidFill>
            <a:schemeClr val="tx1"/>
          </a:solidFill>
          <a:latin typeface="Calibri Light"/>
          <a:ea typeface="宋体" pitchFamily="2" charset="-122"/>
        </a:defRPr>
      </a:lvl2pPr>
      <a:lvl3pPr algn="l" defTabSz="1028700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5000">
          <a:solidFill>
            <a:schemeClr val="tx1"/>
          </a:solidFill>
          <a:latin typeface="Calibri Light"/>
          <a:ea typeface="宋体" pitchFamily="2" charset="-122"/>
        </a:defRPr>
      </a:lvl3pPr>
      <a:lvl4pPr algn="l" defTabSz="1028700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5000">
          <a:solidFill>
            <a:schemeClr val="tx1"/>
          </a:solidFill>
          <a:latin typeface="Calibri Light"/>
          <a:ea typeface="宋体" pitchFamily="2" charset="-122"/>
        </a:defRPr>
      </a:lvl4pPr>
      <a:lvl5pPr algn="l" defTabSz="1028700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5000">
          <a:solidFill>
            <a:schemeClr val="tx1"/>
          </a:solidFill>
          <a:latin typeface="Calibri Light"/>
          <a:ea typeface="宋体" pitchFamily="2" charset="-122"/>
        </a:defRPr>
      </a:lvl5pPr>
      <a:lvl6pPr marL="457200" algn="l" defTabSz="1028700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5000">
          <a:solidFill>
            <a:schemeClr val="tx1"/>
          </a:solidFill>
          <a:latin typeface="Calibri Light"/>
          <a:ea typeface="宋体" pitchFamily="2" charset="-122"/>
        </a:defRPr>
      </a:lvl6pPr>
      <a:lvl7pPr marL="914400" algn="l" defTabSz="1028700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5000">
          <a:solidFill>
            <a:schemeClr val="tx1"/>
          </a:solidFill>
          <a:latin typeface="Calibri Light"/>
          <a:ea typeface="宋体" pitchFamily="2" charset="-122"/>
        </a:defRPr>
      </a:lvl7pPr>
      <a:lvl8pPr marL="1371600" algn="l" defTabSz="1028700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5000">
          <a:solidFill>
            <a:schemeClr val="tx1"/>
          </a:solidFill>
          <a:latin typeface="Calibri Light"/>
          <a:ea typeface="宋体" pitchFamily="2" charset="-122"/>
        </a:defRPr>
      </a:lvl8pPr>
      <a:lvl9pPr marL="1828800" algn="l" defTabSz="1028700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5000">
          <a:solidFill>
            <a:schemeClr val="tx1"/>
          </a:solidFill>
          <a:latin typeface="Calibri Light"/>
          <a:ea typeface="宋体" pitchFamily="2" charset="-122"/>
        </a:defRPr>
      </a:lvl9pPr>
    </p:titleStyle>
    <p:bodyStyle>
      <a:lvl1pPr marL="257175" indent="-257175" algn="l" defTabSz="1028700" rtl="0" eaLnBrk="0" fontAlgn="base" hangingPunct="0">
        <a:lnSpc>
          <a:spcPct val="90000"/>
        </a:lnSpc>
        <a:spcBef>
          <a:spcPts val="1125"/>
        </a:spcBef>
        <a:spcAft>
          <a:spcPct val="0"/>
        </a:spcAft>
        <a:buFont typeface="Arial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71525" indent="-257175" algn="l" defTabSz="1028700" rtl="0" eaLnBrk="0" fontAlgn="base" hangingPunct="0">
        <a:lnSpc>
          <a:spcPct val="90000"/>
        </a:lnSpc>
        <a:spcBef>
          <a:spcPts val="563"/>
        </a:spcBef>
        <a:spcAft>
          <a:spcPct val="0"/>
        </a:spcAft>
        <a:buFont typeface="Arial" charset="0"/>
        <a:buChar char="•"/>
        <a:defRPr sz="2700" kern="1200">
          <a:solidFill>
            <a:schemeClr val="tx1"/>
          </a:solidFill>
          <a:latin typeface="+mn-lt"/>
          <a:ea typeface="+mn-ea"/>
          <a:cs typeface="+mn-cs"/>
        </a:defRPr>
      </a:lvl2pPr>
      <a:lvl3pPr marL="1285875" indent="-257175" algn="l" defTabSz="1028700" rtl="0" eaLnBrk="0" fontAlgn="base" hangingPunct="0">
        <a:lnSpc>
          <a:spcPct val="90000"/>
        </a:lnSpc>
        <a:spcBef>
          <a:spcPts val="563"/>
        </a:spcBef>
        <a:spcAft>
          <a:spcPct val="0"/>
        </a:spcAft>
        <a:buFont typeface="Arial" charset="0"/>
        <a:buChar char="•"/>
        <a:defRPr sz="2300" kern="1200">
          <a:solidFill>
            <a:schemeClr val="tx1"/>
          </a:solidFill>
          <a:latin typeface="+mn-lt"/>
          <a:ea typeface="+mn-ea"/>
          <a:cs typeface="+mn-cs"/>
        </a:defRPr>
      </a:lvl3pPr>
      <a:lvl4pPr marL="1800225" indent="-257175" algn="l" defTabSz="1028700" rtl="0" eaLnBrk="0" fontAlgn="base" hangingPunct="0">
        <a:lnSpc>
          <a:spcPct val="90000"/>
        </a:lnSpc>
        <a:spcBef>
          <a:spcPts val="563"/>
        </a:spcBef>
        <a:spcAft>
          <a:spcPct val="0"/>
        </a:spcAft>
        <a:buFont typeface="Arial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314575" indent="-257175" algn="l" defTabSz="1028700" rtl="0" eaLnBrk="0" fontAlgn="base" hangingPunct="0">
        <a:lnSpc>
          <a:spcPct val="90000"/>
        </a:lnSpc>
        <a:spcBef>
          <a:spcPts val="563"/>
        </a:spcBef>
        <a:spcAft>
          <a:spcPct val="0"/>
        </a:spcAft>
        <a:buFont typeface="Arial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828925" indent="-257175" algn="l" defTabSz="1028700" rtl="0" eaLnBrk="1" latinLnBrk="0" hangingPunct="1">
        <a:lnSpc>
          <a:spcPct val="90000"/>
        </a:lnSpc>
        <a:spcBef>
          <a:spcPts val="563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3343275" indent="-257175" algn="l" defTabSz="1028700" rtl="0" eaLnBrk="1" latinLnBrk="0" hangingPunct="1">
        <a:lnSpc>
          <a:spcPct val="90000"/>
        </a:lnSpc>
        <a:spcBef>
          <a:spcPts val="563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857625" indent="-257175" algn="l" defTabSz="1028700" rtl="0" eaLnBrk="1" latinLnBrk="0" hangingPunct="1">
        <a:lnSpc>
          <a:spcPct val="90000"/>
        </a:lnSpc>
        <a:spcBef>
          <a:spcPts val="563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4371975" indent="-257175" algn="l" defTabSz="1028700" rtl="0" eaLnBrk="1" latinLnBrk="0" hangingPunct="1">
        <a:lnSpc>
          <a:spcPct val="90000"/>
        </a:lnSpc>
        <a:spcBef>
          <a:spcPts val="563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028700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algn="l" defTabSz="1028700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028700" algn="l" defTabSz="1028700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543050" algn="l" defTabSz="1028700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algn="l" defTabSz="1028700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71750" algn="l" defTabSz="1028700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3086100" algn="l" defTabSz="1028700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600450" algn="l" defTabSz="1028700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4114800" algn="l" defTabSz="1028700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1.v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2.v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3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3.v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4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4.v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5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5.v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11.bin"/><Relationship Id="rId3" Type="http://schemas.openxmlformats.org/officeDocument/2006/relationships/oleObject" Target="../embeddings/oleObject6.bin"/><Relationship Id="rId7" Type="http://schemas.openxmlformats.org/officeDocument/2006/relationships/oleObject" Target="../embeddings/oleObject10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6.vml"/><Relationship Id="rId6" Type="http://schemas.openxmlformats.org/officeDocument/2006/relationships/oleObject" Target="../embeddings/oleObject9.bin"/><Relationship Id="rId5" Type="http://schemas.openxmlformats.org/officeDocument/2006/relationships/oleObject" Target="../embeddings/oleObject8.bin"/><Relationship Id="rId4" Type="http://schemas.openxmlformats.org/officeDocument/2006/relationships/oleObject" Target="../embeddings/oleObject7.bin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2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7.vml"/><Relationship Id="rId4" Type="http://schemas.openxmlformats.org/officeDocument/2006/relationships/oleObject" Target="../embeddings/oleObject13.bin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4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8.vml"/><Relationship Id="rId4" Type="http://schemas.openxmlformats.org/officeDocument/2006/relationships/image" Target="../media/image17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9.vml"/><Relationship Id="rId5" Type="http://schemas.openxmlformats.org/officeDocument/2006/relationships/oleObject" Target="../embeddings/oleObject15.bin"/><Relationship Id="rId4" Type="http://schemas.openxmlformats.org/officeDocument/2006/relationships/image" Target="../media/image20.png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矩形 8">
            <a:extLst>
              <a:ext uri="{FF2B5EF4-FFF2-40B4-BE49-F238E27FC236}">
                <a16:creationId xmlns:a16="http://schemas.microsoft.com/office/drawing/2014/main" xmlns="" id="{71B2A563-AC54-5347-B843-4478DF223CDE}"/>
              </a:ext>
            </a:extLst>
          </p:cNvPr>
          <p:cNvSpPr/>
          <p:nvPr/>
        </p:nvSpPr>
        <p:spPr>
          <a:xfrm>
            <a:off x="864296" y="2672562"/>
            <a:ext cx="3156559" cy="1178109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Bef>
                <a:spcPts val="800"/>
              </a:spcBef>
            </a:pPr>
            <a:r>
              <a:rPr kumimoji="1" lang="zh-CN" altLang="en-US" sz="7200" b="1" dirty="0" smtClean="0">
                <a:solidFill>
                  <a:srgbClr val="0066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第</a:t>
            </a:r>
            <a:r>
              <a:rPr kumimoji="1" lang="en-US" altLang="zh-CN" sz="7200" b="1" dirty="0" smtClean="0">
                <a:solidFill>
                  <a:srgbClr val="0066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10</a:t>
            </a:r>
            <a:r>
              <a:rPr kumimoji="1" lang="zh-CN" altLang="en-US" sz="7200" b="1" dirty="0" smtClean="0">
                <a:solidFill>
                  <a:srgbClr val="0066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章</a:t>
            </a:r>
            <a:endParaRPr kumimoji="1" lang="zh-CN" altLang="en-US" sz="7200" b="1" dirty="0">
              <a:solidFill>
                <a:srgbClr val="0066FF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10" name="矩形 9"/>
          <p:cNvSpPr/>
          <p:nvPr/>
        </p:nvSpPr>
        <p:spPr>
          <a:xfrm>
            <a:off x="1460180" y="1793603"/>
            <a:ext cx="1723550" cy="553998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zh-CN" altLang="en-US" sz="3000" dirty="0">
                <a:latin typeface="Microsoft Yi Baiti" panose="03000500000000000000" pitchFamily="66" charset="0"/>
                <a:ea typeface="冬青黑体简体中文 W6" panose="020B0600000000000000" pitchFamily="34" charset="-122"/>
                <a:cs typeface="阿里巴巴普惠体 M" panose="00020600040101010101" pitchFamily="18" charset="-122"/>
              </a:rPr>
              <a:t>光电技术</a:t>
            </a:r>
            <a:endParaRPr lang="en-US" altLang="zh-CN" sz="3000" dirty="0">
              <a:latin typeface="Microsoft Yi Baiti" panose="03000500000000000000" pitchFamily="66" charset="0"/>
              <a:ea typeface="Microsoft Yi Baiti" panose="03000500000000000000" pitchFamily="66" charset="0"/>
              <a:cs typeface="阿里巴巴普惠体 M" panose="00020600040101010101" pitchFamily="18" charset="-122"/>
            </a:endParaRP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xmlns="" id="{5441AE38-A11D-4793-BDA3-DCA36976B496}"/>
              </a:ext>
            </a:extLst>
          </p:cNvPr>
          <p:cNvSpPr/>
          <p:nvPr/>
        </p:nvSpPr>
        <p:spPr>
          <a:xfrm>
            <a:off x="4146114" y="2700290"/>
            <a:ext cx="8580329" cy="1122651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Bef>
                <a:spcPts val="800"/>
              </a:spcBef>
            </a:pPr>
            <a:r>
              <a:rPr kumimoji="1" lang="zh-CN" altLang="en-US" sz="7200" b="1" dirty="0" smtClean="0">
                <a:gradFill>
                  <a:gsLst>
                    <a:gs pos="0">
                      <a:srgbClr val="0066FF"/>
                    </a:gs>
                    <a:gs pos="100000">
                      <a:schemeClr val="accent1">
                        <a:lumMod val="100000"/>
                      </a:schemeClr>
                    </a:gs>
                  </a:gsLst>
                  <a:lin ang="0" scaled="0"/>
                </a:gradFill>
                <a:latin typeface="Microsoft YaHei" panose="020B0503020204020204" pitchFamily="34" charset="-122"/>
                <a:ea typeface="Microsoft YaHei" panose="020B0503020204020204" pitchFamily="34" charset="-122"/>
              </a:rPr>
              <a:t>典型的光电检测系统</a:t>
            </a:r>
            <a:endParaRPr kumimoji="1" lang="zh-CN" altLang="en-US" sz="7200" b="1" dirty="0">
              <a:gradFill>
                <a:gsLst>
                  <a:gs pos="0">
                    <a:srgbClr val="0066FF"/>
                  </a:gs>
                  <a:gs pos="100000">
                    <a:schemeClr val="accent1">
                      <a:lumMod val="100000"/>
                    </a:schemeClr>
                  </a:gs>
                </a:gsLst>
                <a:lin ang="0" scaled="0"/>
              </a:gra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xmlns="" id="{B4AF438E-361B-42EE-9E70-DDB98227F7D7}"/>
              </a:ext>
            </a:extLst>
          </p:cNvPr>
          <p:cNvSpPr/>
          <p:nvPr/>
        </p:nvSpPr>
        <p:spPr>
          <a:xfrm>
            <a:off x="3190512" y="1836129"/>
            <a:ext cx="1238613" cy="477054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>
              <a:lnSpc>
                <a:spcPts val="1500"/>
              </a:lnSpc>
            </a:pPr>
            <a:r>
              <a:rPr lang="en-US" altLang="zh-CN" sz="1200" b="1" spc="40" dirty="0">
                <a:latin typeface="Times New Roman" panose="02020603050405020304" pitchFamily="18" charset="0"/>
                <a:ea typeface="Yu Gothic UI" panose="020B0500000000000000" pitchFamily="34" charset="-128"/>
                <a:cs typeface="Times New Roman" panose="02020603050405020304" pitchFamily="18" charset="0"/>
              </a:rPr>
              <a:t>Photoelectric</a:t>
            </a:r>
          </a:p>
          <a:p>
            <a:pPr>
              <a:lnSpc>
                <a:spcPts val="1500"/>
              </a:lnSpc>
            </a:pPr>
            <a:r>
              <a:rPr lang="en-US" altLang="zh-CN" sz="1200" b="1" spc="40" dirty="0">
                <a:latin typeface="Times New Roman" panose="02020603050405020304" pitchFamily="18" charset="0"/>
                <a:ea typeface="Yu Gothic UI" panose="020B0500000000000000" pitchFamily="34" charset="-128"/>
                <a:cs typeface="Times New Roman" panose="02020603050405020304" pitchFamily="18" charset="0"/>
              </a:rPr>
              <a:t>Technology</a:t>
            </a:r>
            <a:endParaRPr lang="zh-CN" altLang="en-US" sz="1200" b="1" spc="40" dirty="0">
              <a:ln w="22225">
                <a:solidFill>
                  <a:schemeClr val="accent2"/>
                </a:solidFill>
                <a:prstDash val="solid"/>
              </a:ln>
              <a:latin typeface="Times New Roman" panose="02020603050405020304" pitchFamily="18" charset="0"/>
              <a:ea typeface="Yu Gothic UI" panose="020B0500000000000000" pitchFamily="34" charset="-128"/>
              <a:cs typeface="Times New Roman" panose="02020603050405020304" pitchFamily="18" charset="0"/>
            </a:endParaRPr>
          </a:p>
        </p:txBody>
      </p:sp>
      <p:cxnSp>
        <p:nvCxnSpPr>
          <p:cNvPr id="13" name="直接连接符 58">
            <a:extLst>
              <a:ext uri="{FF2B5EF4-FFF2-40B4-BE49-F238E27FC236}">
                <a16:creationId xmlns:a16="http://schemas.microsoft.com/office/drawing/2014/main" xmlns="" id="{19E605B0-7A69-4DF3-BD2D-6C50DF5A8F84}"/>
              </a:ext>
            </a:extLst>
          </p:cNvPr>
          <p:cNvCxnSpPr>
            <a:cxnSpLocks/>
          </p:cNvCxnSpPr>
          <p:nvPr/>
        </p:nvCxnSpPr>
        <p:spPr>
          <a:xfrm>
            <a:off x="1209675" y="4175630"/>
            <a:ext cx="4795114" cy="11690"/>
          </a:xfrm>
          <a:prstGeom prst="line">
            <a:avLst/>
          </a:prstGeom>
          <a:ln w="9525">
            <a:solidFill>
              <a:schemeClr val="accent5">
                <a:lumMod val="60000"/>
                <a:lumOff val="4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矩形 13">
            <a:extLst>
              <a:ext uri="{FF2B5EF4-FFF2-40B4-BE49-F238E27FC236}">
                <a16:creationId xmlns:a16="http://schemas.microsoft.com/office/drawing/2014/main" xmlns="" id="{1C44C9C7-7166-4DA9-8A1A-D2BB836F3F54}"/>
              </a:ext>
            </a:extLst>
          </p:cNvPr>
          <p:cNvSpPr/>
          <p:nvPr/>
        </p:nvSpPr>
        <p:spPr>
          <a:xfrm>
            <a:off x="1143001" y="4512279"/>
            <a:ext cx="5946731" cy="461665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r>
              <a:rPr lang="en-US" altLang="zh-CN" sz="2400" dirty="0" smtClean="0">
                <a:solidFill>
                  <a:srgbClr val="1271FE"/>
                </a:solidFill>
                <a:latin typeface="冬青黑体简体中文 W3" panose="020B0300000000000000" pitchFamily="34" charset="-122"/>
                <a:ea typeface="冬青黑体简体中文 W3" panose="020B0300000000000000" pitchFamily="34" charset="-122"/>
                <a:cs typeface="Times New Roman" panose="02020603050405020304" pitchFamily="18" charset="0"/>
              </a:rPr>
              <a:t>Typical Photoelectric Detection System</a:t>
            </a:r>
            <a:endParaRPr lang="zh-CN" altLang="en-US" sz="2400" dirty="0">
              <a:ln w="22225">
                <a:solidFill>
                  <a:schemeClr val="accent2"/>
                </a:solidFill>
                <a:prstDash val="solid"/>
              </a:ln>
              <a:solidFill>
                <a:srgbClr val="1271FE"/>
              </a:solidFill>
              <a:latin typeface="冬青黑体简体中文 W3" panose="020B0300000000000000" pitchFamily="34" charset="-122"/>
              <a:ea typeface="冬青黑体简体中文 W3" panose="020B0300000000000000" pitchFamily="34" charset="-122"/>
              <a:cs typeface="Times New Roman" panose="02020603050405020304" pitchFamily="18" charset="0"/>
            </a:endParaRP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xmlns="" id="{AE184DEE-FEA5-431F-856D-B2DD56F698B6}"/>
              </a:ext>
            </a:extLst>
          </p:cNvPr>
          <p:cNvSpPr/>
          <p:nvPr/>
        </p:nvSpPr>
        <p:spPr>
          <a:xfrm>
            <a:off x="1209675" y="1869039"/>
            <a:ext cx="167523" cy="403125"/>
          </a:xfrm>
          <a:prstGeom prst="rect">
            <a:avLst/>
          </a:prstGeom>
          <a:gradFill>
            <a:gsLst>
              <a:gs pos="0">
                <a:srgbClr val="0066FF"/>
              </a:gs>
              <a:gs pos="100000">
                <a:schemeClr val="accent1">
                  <a:lumMod val="100000"/>
                </a:schemeClr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文本框 60">
            <a:extLst>
              <a:ext uri="{FF2B5EF4-FFF2-40B4-BE49-F238E27FC236}">
                <a16:creationId xmlns:a16="http://schemas.microsoft.com/office/drawing/2014/main" xmlns="" id="{791D85D7-F412-9C48-9F2B-E33F5B7B4F3C}"/>
              </a:ext>
            </a:extLst>
          </p:cNvPr>
          <p:cNvSpPr txBox="1"/>
          <p:nvPr/>
        </p:nvSpPr>
        <p:spPr>
          <a:xfrm>
            <a:off x="1364780" y="293282"/>
            <a:ext cx="4560031" cy="369332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/>
          <a:p>
            <a:r>
              <a:rPr lang="zh-CN" altLang="en-US" sz="1800" b="1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用于三维复合精细成像的双</a:t>
            </a:r>
            <a:r>
              <a:rPr lang="en-US" altLang="zh-CN" sz="1800" b="1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CCD</a:t>
            </a:r>
            <a:r>
              <a:rPr lang="zh-CN" altLang="en-US" sz="1800" b="1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交会测量</a:t>
            </a:r>
            <a:endParaRPr lang="zh-CN" altLang="en-US" sz="18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0" name="矩形: 圆角 18">
            <a:extLst>
              <a:ext uri="{FF2B5EF4-FFF2-40B4-BE49-F238E27FC236}">
                <a16:creationId xmlns:a16="http://schemas.microsoft.com/office/drawing/2014/main" xmlns="" id="{71B2A563-AC54-5347-B843-4478DF223CDE}"/>
              </a:ext>
            </a:extLst>
          </p:cNvPr>
          <p:cNvSpPr/>
          <p:nvPr/>
        </p:nvSpPr>
        <p:spPr>
          <a:xfrm>
            <a:off x="2279737" y="3397018"/>
            <a:ext cx="10797436" cy="1110985"/>
          </a:xfrm>
          <a:prstGeom prst="roundRect">
            <a:avLst/>
          </a:prstGeom>
          <a:gradFill>
            <a:gsLst>
              <a:gs pos="0">
                <a:srgbClr val="0066FF"/>
              </a:gs>
              <a:gs pos="100000">
                <a:schemeClr val="accent1">
                  <a:lumMod val="100000"/>
                </a:schemeClr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Bef>
                <a:spcPts val="800"/>
              </a:spcBef>
            </a:pPr>
            <a:r>
              <a:rPr kumimoji="1" lang="zh-CN" altLang="en-US" sz="4400" b="1" dirty="0" smtClean="0">
                <a:solidFill>
                  <a:schemeClr val="bg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用于三维复合精细成像的双</a:t>
            </a:r>
            <a:r>
              <a:rPr kumimoji="1" lang="en-US" altLang="zh-CN" sz="4400" b="1" dirty="0" smtClean="0">
                <a:solidFill>
                  <a:schemeClr val="bg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CCD</a:t>
            </a:r>
            <a:r>
              <a:rPr kumimoji="1" lang="zh-CN" altLang="en-US" sz="4400" b="1" dirty="0" smtClean="0">
                <a:solidFill>
                  <a:schemeClr val="bg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交会</a:t>
            </a:r>
            <a:r>
              <a:rPr kumimoji="1" lang="zh-CN" altLang="en-US" sz="4400" b="1" dirty="0" smtClean="0">
                <a:solidFill>
                  <a:schemeClr val="bg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测量</a:t>
            </a:r>
            <a:endParaRPr kumimoji="1" lang="zh-CN" altLang="en-US" sz="4400" b="1" dirty="0">
              <a:solidFill>
                <a:schemeClr val="bg1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11" name="矩形 10"/>
          <p:cNvSpPr/>
          <p:nvPr/>
        </p:nvSpPr>
        <p:spPr>
          <a:xfrm>
            <a:off x="10256520" y="329189"/>
            <a:ext cx="1211081" cy="451406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>
              <a:lnSpc>
                <a:spcPts val="1400"/>
              </a:lnSpc>
            </a:pPr>
            <a:r>
              <a:rPr lang="en-US" altLang="zh-CN" sz="1100" b="1" spc="50" dirty="0">
                <a:latin typeface="冬青黑体简体中文 W6"/>
                <a:ea typeface="冬青黑体简体中文 W6" panose="020B0600000000000000" pitchFamily="34" charset="-122"/>
                <a:cs typeface="Times New Roman" panose="02020603050405020304" pitchFamily="18" charset="0"/>
              </a:rPr>
              <a:t>Photoelectric</a:t>
            </a:r>
          </a:p>
          <a:p>
            <a:pPr>
              <a:lnSpc>
                <a:spcPts val="1400"/>
              </a:lnSpc>
            </a:pPr>
            <a:r>
              <a:rPr lang="en-US" altLang="zh-CN" sz="1100" b="1" spc="50" dirty="0">
                <a:latin typeface="冬青黑体简体中文 W6"/>
                <a:ea typeface="冬青黑体简体中文 W6" panose="020B0600000000000000" pitchFamily="34" charset="-122"/>
                <a:cs typeface="Times New Roman" panose="02020603050405020304" pitchFamily="18" charset="0"/>
              </a:rPr>
              <a:t>Technology</a:t>
            </a:r>
            <a:endParaRPr lang="zh-CN" altLang="en-US" sz="1100" b="1" spc="50" dirty="0">
              <a:ln w="22225">
                <a:solidFill>
                  <a:schemeClr val="accent2"/>
                </a:solidFill>
                <a:prstDash val="solid"/>
              </a:ln>
              <a:latin typeface="冬青黑体简体中文 W6"/>
              <a:ea typeface="冬青黑体简体中文 W6" panose="020B0600000000000000" pitchFamily="34" charset="-122"/>
              <a:cs typeface="Times New Roman" panose="02020603050405020304" pitchFamily="18" charset="0"/>
            </a:endParaRP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xmlns="" id="{045D4FB5-3BA7-4366-9C2A-762F1105D91A}"/>
              </a:ext>
            </a:extLst>
          </p:cNvPr>
          <p:cNvSpPr/>
          <p:nvPr/>
        </p:nvSpPr>
        <p:spPr>
          <a:xfrm>
            <a:off x="243924" y="3346276"/>
            <a:ext cx="2294402" cy="1237523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Bef>
                <a:spcPts val="800"/>
              </a:spcBef>
            </a:pPr>
            <a:r>
              <a:rPr kumimoji="1" lang="en-US" altLang="zh-CN" sz="6600" b="1" dirty="0" smtClean="0">
                <a:gradFill>
                  <a:gsLst>
                    <a:gs pos="0">
                      <a:srgbClr val="0066FF"/>
                    </a:gs>
                    <a:gs pos="100000">
                      <a:schemeClr val="accent1">
                        <a:lumMod val="100000"/>
                      </a:schemeClr>
                    </a:gs>
                  </a:gsLst>
                  <a:lin ang="0" scaled="0"/>
                </a:gradFill>
                <a:latin typeface="Times New Roman" panose="02020603050405020304" pitchFamily="18" charset="0"/>
                <a:ea typeface="Microsoft YaHei" panose="020B0503020204020204" pitchFamily="34" charset="-122"/>
                <a:cs typeface="Times New Roman" panose="02020603050405020304" pitchFamily="18" charset="0"/>
              </a:rPr>
              <a:t>10.1</a:t>
            </a:r>
            <a:endParaRPr kumimoji="1" lang="zh-CN" altLang="en-US" sz="6600" b="1" dirty="0">
              <a:gradFill>
                <a:gsLst>
                  <a:gs pos="0">
                    <a:srgbClr val="0066FF"/>
                  </a:gs>
                  <a:gs pos="100000">
                    <a:schemeClr val="accent1">
                      <a:lumMod val="100000"/>
                    </a:schemeClr>
                  </a:gs>
                </a:gsLst>
                <a:lin ang="0" scaled="0"/>
              </a:gradFill>
              <a:latin typeface="Times New Roman" panose="02020603050405020304" pitchFamily="18" charset="0"/>
              <a:ea typeface="Microsoft YaHei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xmlns="" id="{B0EA110F-2BA5-44F1-BDF2-A8AD51CC83F5}"/>
              </a:ext>
            </a:extLst>
          </p:cNvPr>
          <p:cNvSpPr/>
          <p:nvPr/>
        </p:nvSpPr>
        <p:spPr>
          <a:xfrm>
            <a:off x="12993723" y="361950"/>
            <a:ext cx="167523" cy="412649"/>
          </a:xfrm>
          <a:prstGeom prst="rect">
            <a:avLst/>
          </a:prstGeom>
          <a:gradFill>
            <a:gsLst>
              <a:gs pos="0">
                <a:srgbClr val="0066FF"/>
              </a:gs>
              <a:gs pos="100000">
                <a:schemeClr val="accent1">
                  <a:lumMod val="100000"/>
                </a:schemeClr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4" name="矩形: 圆角 25">
            <a:extLst>
              <a:ext uri="{FF2B5EF4-FFF2-40B4-BE49-F238E27FC236}">
                <a16:creationId xmlns:a16="http://schemas.microsoft.com/office/drawing/2014/main" xmlns="" id="{D7400AB1-4BEC-40E5-A53B-E3CB1F48EB8A}"/>
              </a:ext>
            </a:extLst>
          </p:cNvPr>
          <p:cNvSpPr/>
          <p:nvPr/>
        </p:nvSpPr>
        <p:spPr>
          <a:xfrm>
            <a:off x="336177" y="293282"/>
            <a:ext cx="948448" cy="481317"/>
          </a:xfrm>
          <a:prstGeom prst="roundRect">
            <a:avLst/>
          </a:prstGeom>
          <a:gradFill>
            <a:gsLst>
              <a:gs pos="0">
                <a:srgbClr val="0066FF"/>
              </a:gs>
              <a:gs pos="100000">
                <a:schemeClr val="accent1">
                  <a:lumMod val="100000"/>
                </a:schemeClr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Bef>
                <a:spcPts val="800"/>
              </a:spcBef>
            </a:pPr>
            <a:r>
              <a:rPr kumimoji="1" lang="en-US" altLang="zh-CN" sz="2800" b="1" dirty="0" smtClean="0">
                <a:solidFill>
                  <a:schemeClr val="bg1"/>
                </a:solidFill>
                <a:latin typeface="Times New Roman" panose="02020603050405020304" pitchFamily="18" charset="0"/>
                <a:ea typeface="Microsoft YaHei" panose="020B0503020204020204" pitchFamily="34" charset="-122"/>
                <a:cs typeface="Times New Roman" panose="02020603050405020304" pitchFamily="18" charset="0"/>
              </a:rPr>
              <a:t>10.1</a:t>
            </a:r>
            <a:endParaRPr kumimoji="1" lang="zh-CN" altLang="en-US" sz="2800" b="1" dirty="0">
              <a:solidFill>
                <a:schemeClr val="bg1"/>
              </a:solidFill>
              <a:latin typeface="Times New Roman" panose="02020603050405020304" pitchFamily="18" charset="0"/>
              <a:ea typeface="Microsoft YaHei" panose="020B0503020204020204" pitchFamily="34" charset="-122"/>
              <a:cs typeface="Times New Roman" panose="02020603050405020304" pitchFamily="18" charset="0"/>
            </a:endParaRPr>
          </a:p>
        </p:txBody>
      </p:sp>
      <p:cxnSp>
        <p:nvCxnSpPr>
          <p:cNvPr id="15" name="直接连接符 58">
            <a:extLst>
              <a:ext uri="{FF2B5EF4-FFF2-40B4-BE49-F238E27FC236}">
                <a16:creationId xmlns:a16="http://schemas.microsoft.com/office/drawing/2014/main" xmlns="" id="{8C5F82EF-52B4-4531-96F0-44689EA1125E}"/>
              </a:ext>
            </a:extLst>
          </p:cNvPr>
          <p:cNvCxnSpPr>
            <a:cxnSpLocks/>
          </p:cNvCxnSpPr>
          <p:nvPr/>
        </p:nvCxnSpPr>
        <p:spPr>
          <a:xfrm flipV="1">
            <a:off x="1450506" y="695281"/>
            <a:ext cx="2999293" cy="15717"/>
          </a:xfrm>
          <a:prstGeom prst="line">
            <a:avLst/>
          </a:prstGeom>
          <a:ln w="19050" cmpd="dbl">
            <a:solidFill>
              <a:srgbClr val="3366FF">
                <a:alpha val="7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矩形 15">
            <a:extLst>
              <a:ext uri="{FF2B5EF4-FFF2-40B4-BE49-F238E27FC236}">
                <a16:creationId xmlns:a16="http://schemas.microsoft.com/office/drawing/2014/main" xmlns="" id="{82FE0EE3-DD34-4ECD-AB99-E9089285A34C}"/>
              </a:ext>
            </a:extLst>
          </p:cNvPr>
          <p:cNvSpPr/>
          <p:nvPr/>
        </p:nvSpPr>
        <p:spPr>
          <a:xfrm>
            <a:off x="11251918" y="293282"/>
            <a:ext cx="1741805" cy="523220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r"/>
            <a:r>
              <a:rPr lang="zh-CN" altLang="en-US" sz="2800" spc="20" dirty="0">
                <a:latin typeface="冬青黑体简体中文 W6" panose="020B0600000000000000" pitchFamily="34" charset="-122"/>
                <a:ea typeface="冬青黑体简体中文 W6" panose="020B0600000000000000" pitchFamily="34" charset="-122"/>
                <a:cs typeface="阿里巴巴普惠体 R" panose="00020600040101010101" pitchFamily="18" charset="-122"/>
              </a:rPr>
              <a:t>光电技术</a:t>
            </a: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xmlns="" id="{942CFC6A-A6DB-0F43-9829-C9244014588C}"/>
              </a:ext>
            </a:extLst>
          </p:cNvPr>
          <p:cNvSpPr/>
          <p:nvPr/>
        </p:nvSpPr>
        <p:spPr>
          <a:xfrm flipV="1">
            <a:off x="0" y="7589506"/>
            <a:ext cx="10141249" cy="125744"/>
          </a:xfrm>
          <a:prstGeom prst="rect">
            <a:avLst/>
          </a:prstGeom>
          <a:gradFill flip="none" rotWithShape="1">
            <a:gsLst>
              <a:gs pos="0">
                <a:srgbClr val="1271FE"/>
              </a:gs>
              <a:gs pos="45000">
                <a:srgbClr val="6895F3"/>
              </a:gs>
              <a:gs pos="9000">
                <a:srgbClr val="3366FF"/>
              </a:gs>
              <a:gs pos="100000">
                <a:schemeClr val="accent1">
                  <a:lumMod val="60000"/>
                  <a:lumOff val="40000"/>
                </a:schemeClr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240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82" name="Rectangle 10"/>
          <p:cNvSpPr>
            <a:spLocks noChangeArrowheads="1"/>
          </p:cNvSpPr>
          <p:nvPr/>
        </p:nvSpPr>
        <p:spPr bwMode="auto">
          <a:xfrm>
            <a:off x="842962" y="1441876"/>
            <a:ext cx="12172950" cy="20313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pPr defTabSz="914400" eaLnBrk="0" hangingPunct="0">
              <a:lnSpc>
                <a:spcPct val="150000"/>
              </a:lnSpc>
            </a:pPr>
            <a:r>
              <a:rPr lang="zh-CN" altLang="en-US" sz="2800" b="1" dirty="0" smtClean="0">
                <a:solidFill>
                  <a:srgbClr val="0000FF"/>
                </a:solidFill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         三维</a:t>
            </a:r>
            <a:r>
              <a:rPr lang="zh-CN" altLang="en-US" sz="2800" b="1" dirty="0">
                <a:solidFill>
                  <a:srgbClr val="0000FF"/>
                </a:solidFill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成像的基本原理</a:t>
            </a:r>
            <a:r>
              <a:rPr lang="zh-CN" altLang="en-US" sz="2800" b="1" dirty="0"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是利用距离传感器获取目标表面的距离图像，实现对目标表面的几何形状的测量，距离图像的每一个像素都会对应目标物体表面的三维坐标。</a:t>
            </a:r>
          </a:p>
        </p:txBody>
      </p:sp>
      <p:sp>
        <p:nvSpPr>
          <p:cNvPr id="28684" name="Rectangle 12"/>
          <p:cNvSpPr>
            <a:spLocks noChangeArrowheads="1"/>
          </p:cNvSpPr>
          <p:nvPr/>
        </p:nvSpPr>
        <p:spPr bwMode="auto">
          <a:xfrm>
            <a:off x="942975" y="3725029"/>
            <a:ext cx="11787188" cy="1384995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pPr defTabSz="914400" eaLnBrk="0" hangingPunct="0">
              <a:lnSpc>
                <a:spcPct val="150000"/>
              </a:lnSpc>
            </a:pPr>
            <a:r>
              <a:rPr lang="zh-CN" altLang="en-US" sz="2800" b="1" dirty="0" smtClean="0"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        成像</a:t>
            </a:r>
            <a:r>
              <a:rPr lang="zh-CN" altLang="en-US" sz="2800" b="1" dirty="0"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激光雷达和双</a:t>
            </a:r>
            <a:r>
              <a:rPr lang="en-US" altLang="en-US" sz="2800" b="1" dirty="0"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CCD</a:t>
            </a:r>
            <a:r>
              <a:rPr lang="zh-CN" altLang="en-US" sz="2800" b="1" dirty="0"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交会测量技术是目前正在发展中的两种主要</a:t>
            </a:r>
            <a:r>
              <a:rPr lang="zh-CN" altLang="en-US" sz="2800" b="1" dirty="0">
                <a:solidFill>
                  <a:srgbClr val="0000FF"/>
                </a:solidFill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三维成像技术</a:t>
            </a:r>
            <a:r>
              <a:rPr lang="zh-CN" altLang="en-US" sz="2800" b="1" dirty="0" smtClean="0"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。两者的成像原理不同，因而各具特点。</a:t>
            </a:r>
            <a:endParaRPr lang="zh-CN" altLang="en-US" sz="2800" b="1" dirty="0">
              <a:latin typeface="Times New Roman" pitchFamily="18" charset="0"/>
              <a:ea typeface="微软雅黑" pitchFamily="34" charset="-122"/>
              <a:cs typeface="Times New Roman" pitchFamily="18" charset="0"/>
            </a:endParaRPr>
          </a:p>
        </p:txBody>
      </p:sp>
      <p:sp>
        <p:nvSpPr>
          <p:cNvPr id="8" name="矩形 7"/>
          <p:cNvSpPr>
            <a:spLocks noChangeArrowheads="1"/>
          </p:cNvSpPr>
          <p:nvPr/>
        </p:nvSpPr>
        <p:spPr bwMode="auto">
          <a:xfrm>
            <a:off x="914400" y="5505450"/>
            <a:ext cx="11915775" cy="138499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defTabSz="914400">
              <a:lnSpc>
                <a:spcPct val="150000"/>
              </a:lnSpc>
            </a:pPr>
            <a:r>
              <a:rPr lang="zh-CN" altLang="en-US" sz="2800" b="1" dirty="0" smtClean="0"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        本</a:t>
            </a:r>
            <a:r>
              <a:rPr lang="zh-CN" altLang="en-US" sz="2800" b="1" dirty="0"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节介绍一</a:t>
            </a:r>
            <a:r>
              <a:rPr lang="zh-CN" altLang="en-US" sz="2800" b="1" dirty="0" smtClean="0"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种基于激光雷达</a:t>
            </a:r>
            <a:r>
              <a:rPr lang="zh-CN" altLang="en-US" sz="2800" b="1" dirty="0"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和双</a:t>
            </a:r>
            <a:r>
              <a:rPr lang="en-US" altLang="en-US" sz="2800" b="1" dirty="0"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CCD</a:t>
            </a:r>
            <a:r>
              <a:rPr lang="zh-CN" altLang="en-US" sz="2800" b="1" dirty="0"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交会测量的新型的三维精细成像系统。</a:t>
            </a:r>
          </a:p>
        </p:txBody>
      </p:sp>
      <p:sp>
        <p:nvSpPr>
          <p:cNvPr id="10" name="文本框 60">
            <a:extLst>
              <a:ext uri="{FF2B5EF4-FFF2-40B4-BE49-F238E27FC236}">
                <a16:creationId xmlns:a16="http://schemas.microsoft.com/office/drawing/2014/main" xmlns="" id="{791D85D7-F412-9C48-9F2B-E33F5B7B4F3C}"/>
              </a:ext>
            </a:extLst>
          </p:cNvPr>
          <p:cNvSpPr txBox="1"/>
          <p:nvPr/>
        </p:nvSpPr>
        <p:spPr>
          <a:xfrm>
            <a:off x="1364780" y="293282"/>
            <a:ext cx="4560031" cy="369332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/>
          <a:p>
            <a:r>
              <a:rPr lang="zh-CN" altLang="en-US" sz="1800" b="1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用于三维复合精细成像的双</a:t>
            </a:r>
            <a:r>
              <a:rPr lang="en-US" altLang="zh-CN" sz="1800" b="1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CCD</a:t>
            </a:r>
            <a:r>
              <a:rPr lang="zh-CN" altLang="en-US" sz="1800" b="1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交会测量</a:t>
            </a:r>
            <a:endParaRPr lang="zh-CN" altLang="en-US" sz="18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1" name="矩形 10"/>
          <p:cNvSpPr/>
          <p:nvPr/>
        </p:nvSpPr>
        <p:spPr>
          <a:xfrm>
            <a:off x="10256520" y="329189"/>
            <a:ext cx="1211081" cy="451406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>
              <a:lnSpc>
                <a:spcPts val="1400"/>
              </a:lnSpc>
            </a:pPr>
            <a:r>
              <a:rPr lang="en-US" altLang="zh-CN" sz="1100" b="1" spc="50" dirty="0">
                <a:latin typeface="冬青黑体简体中文 W6"/>
                <a:ea typeface="冬青黑体简体中文 W6" panose="020B0600000000000000" pitchFamily="34" charset="-122"/>
                <a:cs typeface="Times New Roman" panose="02020603050405020304" pitchFamily="18" charset="0"/>
              </a:rPr>
              <a:t>Photoelectric</a:t>
            </a:r>
          </a:p>
          <a:p>
            <a:pPr>
              <a:lnSpc>
                <a:spcPts val="1400"/>
              </a:lnSpc>
            </a:pPr>
            <a:r>
              <a:rPr lang="en-US" altLang="zh-CN" sz="1100" b="1" spc="50" dirty="0">
                <a:latin typeface="冬青黑体简体中文 W6"/>
                <a:ea typeface="冬青黑体简体中文 W6" panose="020B0600000000000000" pitchFamily="34" charset="-122"/>
                <a:cs typeface="Times New Roman" panose="02020603050405020304" pitchFamily="18" charset="0"/>
              </a:rPr>
              <a:t>Technology</a:t>
            </a:r>
            <a:endParaRPr lang="zh-CN" altLang="en-US" sz="1100" b="1" spc="50" dirty="0">
              <a:ln w="22225">
                <a:solidFill>
                  <a:schemeClr val="accent2"/>
                </a:solidFill>
                <a:prstDash val="solid"/>
              </a:ln>
              <a:latin typeface="冬青黑体简体中文 W6"/>
              <a:ea typeface="冬青黑体简体中文 W6" panose="020B0600000000000000" pitchFamily="34" charset="-122"/>
              <a:cs typeface="Times New Roman" panose="02020603050405020304" pitchFamily="18" charset="0"/>
            </a:endParaRP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xmlns="" id="{B0EA110F-2BA5-44F1-BDF2-A8AD51CC83F5}"/>
              </a:ext>
            </a:extLst>
          </p:cNvPr>
          <p:cNvSpPr/>
          <p:nvPr/>
        </p:nvSpPr>
        <p:spPr>
          <a:xfrm>
            <a:off x="12993723" y="361950"/>
            <a:ext cx="167523" cy="412649"/>
          </a:xfrm>
          <a:prstGeom prst="rect">
            <a:avLst/>
          </a:prstGeom>
          <a:gradFill>
            <a:gsLst>
              <a:gs pos="0">
                <a:srgbClr val="0066FF"/>
              </a:gs>
              <a:gs pos="100000">
                <a:schemeClr val="accent1">
                  <a:lumMod val="100000"/>
                </a:schemeClr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" name="矩形: 圆角 25">
            <a:extLst>
              <a:ext uri="{FF2B5EF4-FFF2-40B4-BE49-F238E27FC236}">
                <a16:creationId xmlns:a16="http://schemas.microsoft.com/office/drawing/2014/main" xmlns="" id="{D7400AB1-4BEC-40E5-A53B-E3CB1F48EB8A}"/>
              </a:ext>
            </a:extLst>
          </p:cNvPr>
          <p:cNvSpPr/>
          <p:nvPr/>
        </p:nvSpPr>
        <p:spPr>
          <a:xfrm>
            <a:off x="336177" y="293282"/>
            <a:ext cx="948448" cy="481317"/>
          </a:xfrm>
          <a:prstGeom prst="roundRect">
            <a:avLst/>
          </a:prstGeom>
          <a:gradFill>
            <a:gsLst>
              <a:gs pos="0">
                <a:srgbClr val="0066FF"/>
              </a:gs>
              <a:gs pos="100000">
                <a:schemeClr val="accent1">
                  <a:lumMod val="100000"/>
                </a:schemeClr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Bef>
                <a:spcPts val="800"/>
              </a:spcBef>
            </a:pPr>
            <a:r>
              <a:rPr kumimoji="1" lang="en-US" altLang="zh-CN" sz="2800" b="1" dirty="0" smtClean="0">
                <a:solidFill>
                  <a:schemeClr val="bg1"/>
                </a:solidFill>
                <a:latin typeface="Times New Roman" panose="02020603050405020304" pitchFamily="18" charset="0"/>
                <a:ea typeface="Microsoft YaHei" panose="020B0503020204020204" pitchFamily="34" charset="-122"/>
                <a:cs typeface="Times New Roman" panose="02020603050405020304" pitchFamily="18" charset="0"/>
              </a:rPr>
              <a:t>10.1</a:t>
            </a:r>
            <a:endParaRPr kumimoji="1" lang="zh-CN" altLang="en-US" sz="2800" b="1" dirty="0">
              <a:solidFill>
                <a:schemeClr val="bg1"/>
              </a:solidFill>
              <a:latin typeface="Times New Roman" panose="02020603050405020304" pitchFamily="18" charset="0"/>
              <a:ea typeface="Microsoft YaHei" panose="020B0503020204020204" pitchFamily="34" charset="-122"/>
              <a:cs typeface="Times New Roman" panose="02020603050405020304" pitchFamily="18" charset="0"/>
            </a:endParaRPr>
          </a:p>
        </p:txBody>
      </p:sp>
      <p:cxnSp>
        <p:nvCxnSpPr>
          <p:cNvPr id="14" name="直接连接符 58">
            <a:extLst>
              <a:ext uri="{FF2B5EF4-FFF2-40B4-BE49-F238E27FC236}">
                <a16:creationId xmlns:a16="http://schemas.microsoft.com/office/drawing/2014/main" xmlns="" id="{8C5F82EF-52B4-4531-96F0-44689EA1125E}"/>
              </a:ext>
            </a:extLst>
          </p:cNvPr>
          <p:cNvCxnSpPr>
            <a:cxnSpLocks/>
          </p:cNvCxnSpPr>
          <p:nvPr/>
        </p:nvCxnSpPr>
        <p:spPr>
          <a:xfrm flipV="1">
            <a:off x="1450506" y="695281"/>
            <a:ext cx="2999293" cy="15717"/>
          </a:xfrm>
          <a:prstGeom prst="line">
            <a:avLst/>
          </a:prstGeom>
          <a:ln w="19050" cmpd="dbl">
            <a:solidFill>
              <a:srgbClr val="3366FF">
                <a:alpha val="7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矩形 14">
            <a:extLst>
              <a:ext uri="{FF2B5EF4-FFF2-40B4-BE49-F238E27FC236}">
                <a16:creationId xmlns:a16="http://schemas.microsoft.com/office/drawing/2014/main" xmlns="" id="{82FE0EE3-DD34-4ECD-AB99-E9089285A34C}"/>
              </a:ext>
            </a:extLst>
          </p:cNvPr>
          <p:cNvSpPr/>
          <p:nvPr/>
        </p:nvSpPr>
        <p:spPr>
          <a:xfrm>
            <a:off x="11251918" y="293282"/>
            <a:ext cx="1741805" cy="523220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r"/>
            <a:r>
              <a:rPr lang="zh-CN" altLang="en-US" sz="2800" spc="20" dirty="0">
                <a:latin typeface="冬青黑体简体中文 W6" panose="020B0600000000000000" pitchFamily="34" charset="-122"/>
                <a:ea typeface="冬青黑体简体中文 W6" panose="020B0600000000000000" pitchFamily="34" charset="-122"/>
                <a:cs typeface="阿里巴巴普惠体 R" panose="00020600040101010101" pitchFamily="18" charset="-122"/>
              </a:rPr>
              <a:t>光电技术</a:t>
            </a:r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xmlns="" id="{942CFC6A-A6DB-0F43-9829-C9244014588C}"/>
              </a:ext>
            </a:extLst>
          </p:cNvPr>
          <p:cNvSpPr/>
          <p:nvPr/>
        </p:nvSpPr>
        <p:spPr>
          <a:xfrm flipV="1">
            <a:off x="0" y="7589506"/>
            <a:ext cx="10141249" cy="125744"/>
          </a:xfrm>
          <a:prstGeom prst="rect">
            <a:avLst/>
          </a:prstGeom>
          <a:gradFill flip="none" rotWithShape="1">
            <a:gsLst>
              <a:gs pos="0">
                <a:srgbClr val="1271FE"/>
              </a:gs>
              <a:gs pos="45000">
                <a:srgbClr val="6895F3"/>
              </a:gs>
              <a:gs pos="9000">
                <a:srgbClr val="3366FF"/>
              </a:gs>
              <a:gs pos="100000">
                <a:schemeClr val="accent1">
                  <a:lumMod val="60000"/>
                  <a:lumOff val="40000"/>
                </a:schemeClr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240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6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286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6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286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8682" grpId="0"/>
      <p:bldP spid="28684" grpId="0"/>
      <p:bldP spid="8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84" name="Rectangle 12"/>
          <p:cNvSpPr>
            <a:spLocks noChangeArrowheads="1"/>
          </p:cNvSpPr>
          <p:nvPr/>
        </p:nvSpPr>
        <p:spPr bwMode="auto">
          <a:xfrm>
            <a:off x="957262" y="2345869"/>
            <a:ext cx="11872913" cy="2031325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pPr defTabSz="914400">
              <a:lnSpc>
                <a:spcPct val="150000"/>
              </a:lnSpc>
            </a:pPr>
            <a:r>
              <a:rPr lang="zh-CN" altLang="en-US" sz="2800" b="1" dirty="0" smtClean="0">
                <a:solidFill>
                  <a:srgbClr val="FF0000"/>
                </a:solidFill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         光电</a:t>
            </a:r>
            <a:r>
              <a:rPr lang="zh-CN" altLang="en-US" sz="2800" b="1" dirty="0">
                <a:solidFill>
                  <a:srgbClr val="FF0000"/>
                </a:solidFill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信号的二值化</a:t>
            </a:r>
            <a:r>
              <a:rPr lang="zh-CN" altLang="en-US" sz="2800" b="1" dirty="0"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就是将光电信号转换成</a:t>
            </a:r>
            <a:r>
              <a:rPr lang="en-US" sz="2800" b="1" dirty="0"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“</a:t>
            </a:r>
            <a:r>
              <a:rPr lang="en-US" altLang="zh-CN" sz="2800" b="1" dirty="0"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0”</a:t>
            </a:r>
            <a:r>
              <a:rPr lang="zh-CN" altLang="en-US" sz="2800" b="1" dirty="0"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或</a:t>
            </a:r>
            <a:r>
              <a:rPr lang="en-US" sz="2800" b="1" dirty="0"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“</a:t>
            </a:r>
            <a:r>
              <a:rPr lang="en-US" altLang="zh-CN" sz="2800" b="1" dirty="0"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1”</a:t>
            </a:r>
            <a:r>
              <a:rPr lang="zh-CN" altLang="en-US" sz="2800" b="1" dirty="0"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的数字量的过程，它既可以代表信号的有与无，又可以代表光信号的强弱程度，还可以检测运动物体是否运动到某一特定的位置。</a:t>
            </a:r>
          </a:p>
        </p:txBody>
      </p:sp>
      <p:sp>
        <p:nvSpPr>
          <p:cNvPr id="16393" name="Rectangle 4"/>
          <p:cNvSpPr>
            <a:spLocks noChangeArrowheads="1"/>
          </p:cNvSpPr>
          <p:nvPr/>
        </p:nvSpPr>
        <p:spPr bwMode="auto">
          <a:xfrm>
            <a:off x="1800225" y="1306403"/>
            <a:ext cx="9944100" cy="64633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pPr algn="ctr" defTabSz="914400" eaLnBrk="0" hangingPunct="0"/>
            <a:r>
              <a:rPr lang="zh-CN" altLang="en-US" sz="3600" b="1" dirty="0" smtClean="0">
                <a:solidFill>
                  <a:srgbClr val="0000CC"/>
                </a:solidFill>
                <a:latin typeface="Times New Roman" pitchFamily="18" charset="0"/>
                <a:ea typeface="黑体" pitchFamily="2" charset="-122"/>
                <a:cs typeface="Times New Roman" pitchFamily="18" charset="0"/>
              </a:rPr>
              <a:t>一、</a:t>
            </a:r>
            <a:r>
              <a:rPr lang="en-US" altLang="zh-CN" sz="3600" b="1" dirty="0" smtClean="0">
                <a:solidFill>
                  <a:srgbClr val="0000CC"/>
                </a:solidFill>
                <a:latin typeface="Times New Roman" pitchFamily="18" charset="0"/>
                <a:ea typeface="黑体" pitchFamily="2" charset="-122"/>
                <a:cs typeface="Times New Roman" pitchFamily="18" charset="0"/>
              </a:rPr>
              <a:t> </a:t>
            </a:r>
            <a:r>
              <a:rPr lang="en-US" altLang="zh-CN" sz="3600" b="1" dirty="0">
                <a:solidFill>
                  <a:srgbClr val="0000CC"/>
                </a:solidFill>
                <a:latin typeface="Times New Roman" pitchFamily="18" charset="0"/>
                <a:ea typeface="黑体" pitchFamily="2" charset="-122"/>
                <a:cs typeface="Times New Roman" pitchFamily="18" charset="0"/>
              </a:rPr>
              <a:t>CCD</a:t>
            </a:r>
            <a:r>
              <a:rPr lang="zh-CN" altLang="en-US" sz="3600" b="1" dirty="0">
                <a:solidFill>
                  <a:srgbClr val="0000CC"/>
                </a:solidFill>
                <a:latin typeface="Times New Roman" pitchFamily="18" charset="0"/>
                <a:ea typeface="黑体" pitchFamily="2" charset="-122"/>
                <a:cs typeface="Times New Roman" pitchFamily="18" charset="0"/>
              </a:rPr>
              <a:t>光电信号的二值化处理与数据采集</a:t>
            </a:r>
          </a:p>
        </p:txBody>
      </p:sp>
      <p:sp>
        <p:nvSpPr>
          <p:cNvPr id="25606" name="Rectangle 6"/>
          <p:cNvSpPr>
            <a:spLocks noChangeArrowheads="1"/>
          </p:cNvSpPr>
          <p:nvPr/>
        </p:nvSpPr>
        <p:spPr bwMode="auto">
          <a:xfrm>
            <a:off x="915986" y="4965353"/>
            <a:ext cx="11771312" cy="138499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pPr indent="266700" defTabSz="914400" eaLnBrk="0" hangingPunct="0">
              <a:lnSpc>
                <a:spcPct val="150000"/>
              </a:lnSpc>
            </a:pPr>
            <a:r>
              <a:rPr lang="zh-CN" altLang="en-US" sz="2800" b="1" dirty="0" smtClean="0"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      线阵</a:t>
            </a:r>
            <a:r>
              <a:rPr lang="en-US" altLang="zh-CN" sz="2800" b="1" dirty="0"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CCD</a:t>
            </a:r>
            <a:r>
              <a:rPr lang="zh-CN" altLang="en-US" sz="2800" b="1" dirty="0"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输出的视频信号为例，讨论光电信号的硬件以及 软件二值化处理方法。</a:t>
            </a:r>
          </a:p>
        </p:txBody>
      </p:sp>
      <p:sp>
        <p:nvSpPr>
          <p:cNvPr id="10" name="文本框 60">
            <a:extLst>
              <a:ext uri="{FF2B5EF4-FFF2-40B4-BE49-F238E27FC236}">
                <a16:creationId xmlns:a16="http://schemas.microsoft.com/office/drawing/2014/main" xmlns="" id="{791D85D7-F412-9C48-9F2B-E33F5B7B4F3C}"/>
              </a:ext>
            </a:extLst>
          </p:cNvPr>
          <p:cNvSpPr txBox="1"/>
          <p:nvPr/>
        </p:nvSpPr>
        <p:spPr>
          <a:xfrm>
            <a:off x="1364780" y="293282"/>
            <a:ext cx="4560031" cy="369332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/>
          <a:p>
            <a:r>
              <a:rPr lang="zh-CN" altLang="en-US" sz="1800" b="1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用于三维复合精细成像的双</a:t>
            </a:r>
            <a:r>
              <a:rPr lang="en-US" altLang="zh-CN" sz="1800" b="1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CCD</a:t>
            </a:r>
            <a:r>
              <a:rPr lang="zh-CN" altLang="en-US" sz="1800" b="1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交会测量</a:t>
            </a:r>
            <a:endParaRPr lang="zh-CN" altLang="en-US" sz="18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1" name="矩形 10"/>
          <p:cNvSpPr/>
          <p:nvPr/>
        </p:nvSpPr>
        <p:spPr>
          <a:xfrm>
            <a:off x="10256520" y="329189"/>
            <a:ext cx="1211081" cy="451406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>
              <a:lnSpc>
                <a:spcPts val="1400"/>
              </a:lnSpc>
            </a:pPr>
            <a:r>
              <a:rPr lang="en-US" altLang="zh-CN" sz="1100" b="1" spc="50" dirty="0">
                <a:latin typeface="冬青黑体简体中文 W6"/>
                <a:ea typeface="冬青黑体简体中文 W6" panose="020B0600000000000000" pitchFamily="34" charset="-122"/>
                <a:cs typeface="Times New Roman" panose="02020603050405020304" pitchFamily="18" charset="0"/>
              </a:rPr>
              <a:t>Photoelectric</a:t>
            </a:r>
          </a:p>
          <a:p>
            <a:pPr>
              <a:lnSpc>
                <a:spcPts val="1400"/>
              </a:lnSpc>
            </a:pPr>
            <a:r>
              <a:rPr lang="en-US" altLang="zh-CN" sz="1100" b="1" spc="50" dirty="0">
                <a:latin typeface="冬青黑体简体中文 W6"/>
                <a:ea typeface="冬青黑体简体中文 W6" panose="020B0600000000000000" pitchFamily="34" charset="-122"/>
                <a:cs typeface="Times New Roman" panose="02020603050405020304" pitchFamily="18" charset="0"/>
              </a:rPr>
              <a:t>Technology</a:t>
            </a:r>
            <a:endParaRPr lang="zh-CN" altLang="en-US" sz="1100" b="1" spc="50" dirty="0">
              <a:ln w="22225">
                <a:solidFill>
                  <a:schemeClr val="accent2"/>
                </a:solidFill>
                <a:prstDash val="solid"/>
              </a:ln>
              <a:latin typeface="冬青黑体简体中文 W6"/>
              <a:ea typeface="冬青黑体简体中文 W6" panose="020B0600000000000000" pitchFamily="34" charset="-122"/>
              <a:cs typeface="Times New Roman" panose="02020603050405020304" pitchFamily="18" charset="0"/>
            </a:endParaRP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xmlns="" id="{B0EA110F-2BA5-44F1-BDF2-A8AD51CC83F5}"/>
              </a:ext>
            </a:extLst>
          </p:cNvPr>
          <p:cNvSpPr/>
          <p:nvPr/>
        </p:nvSpPr>
        <p:spPr>
          <a:xfrm>
            <a:off x="12993723" y="361950"/>
            <a:ext cx="167523" cy="412649"/>
          </a:xfrm>
          <a:prstGeom prst="rect">
            <a:avLst/>
          </a:prstGeom>
          <a:gradFill>
            <a:gsLst>
              <a:gs pos="0">
                <a:srgbClr val="0066FF"/>
              </a:gs>
              <a:gs pos="100000">
                <a:schemeClr val="accent1">
                  <a:lumMod val="100000"/>
                </a:schemeClr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" name="矩形: 圆角 25">
            <a:extLst>
              <a:ext uri="{FF2B5EF4-FFF2-40B4-BE49-F238E27FC236}">
                <a16:creationId xmlns:a16="http://schemas.microsoft.com/office/drawing/2014/main" xmlns="" id="{D7400AB1-4BEC-40E5-A53B-E3CB1F48EB8A}"/>
              </a:ext>
            </a:extLst>
          </p:cNvPr>
          <p:cNvSpPr/>
          <p:nvPr/>
        </p:nvSpPr>
        <p:spPr>
          <a:xfrm>
            <a:off x="336177" y="293282"/>
            <a:ext cx="948448" cy="481317"/>
          </a:xfrm>
          <a:prstGeom prst="roundRect">
            <a:avLst/>
          </a:prstGeom>
          <a:gradFill>
            <a:gsLst>
              <a:gs pos="0">
                <a:srgbClr val="0066FF"/>
              </a:gs>
              <a:gs pos="100000">
                <a:schemeClr val="accent1">
                  <a:lumMod val="100000"/>
                </a:schemeClr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Bef>
                <a:spcPts val="800"/>
              </a:spcBef>
            </a:pPr>
            <a:r>
              <a:rPr kumimoji="1" lang="en-US" altLang="zh-CN" sz="2800" b="1" dirty="0" smtClean="0">
                <a:solidFill>
                  <a:schemeClr val="bg1"/>
                </a:solidFill>
                <a:latin typeface="Times New Roman" panose="02020603050405020304" pitchFamily="18" charset="0"/>
                <a:ea typeface="Microsoft YaHei" panose="020B0503020204020204" pitchFamily="34" charset="-122"/>
                <a:cs typeface="Times New Roman" panose="02020603050405020304" pitchFamily="18" charset="0"/>
              </a:rPr>
              <a:t>10.1</a:t>
            </a:r>
            <a:endParaRPr kumimoji="1" lang="zh-CN" altLang="en-US" sz="2800" b="1" dirty="0">
              <a:solidFill>
                <a:schemeClr val="bg1"/>
              </a:solidFill>
              <a:latin typeface="Times New Roman" panose="02020603050405020304" pitchFamily="18" charset="0"/>
              <a:ea typeface="Microsoft YaHei" panose="020B0503020204020204" pitchFamily="34" charset="-122"/>
              <a:cs typeface="Times New Roman" panose="02020603050405020304" pitchFamily="18" charset="0"/>
            </a:endParaRPr>
          </a:p>
        </p:txBody>
      </p:sp>
      <p:cxnSp>
        <p:nvCxnSpPr>
          <p:cNvPr id="14" name="直接连接符 58">
            <a:extLst>
              <a:ext uri="{FF2B5EF4-FFF2-40B4-BE49-F238E27FC236}">
                <a16:creationId xmlns:a16="http://schemas.microsoft.com/office/drawing/2014/main" xmlns="" id="{8C5F82EF-52B4-4531-96F0-44689EA1125E}"/>
              </a:ext>
            </a:extLst>
          </p:cNvPr>
          <p:cNvCxnSpPr>
            <a:cxnSpLocks/>
          </p:cNvCxnSpPr>
          <p:nvPr/>
        </p:nvCxnSpPr>
        <p:spPr>
          <a:xfrm flipV="1">
            <a:off x="1450506" y="695281"/>
            <a:ext cx="2999293" cy="15717"/>
          </a:xfrm>
          <a:prstGeom prst="line">
            <a:avLst/>
          </a:prstGeom>
          <a:ln w="19050" cmpd="dbl">
            <a:solidFill>
              <a:srgbClr val="3366FF">
                <a:alpha val="7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矩形 14">
            <a:extLst>
              <a:ext uri="{FF2B5EF4-FFF2-40B4-BE49-F238E27FC236}">
                <a16:creationId xmlns:a16="http://schemas.microsoft.com/office/drawing/2014/main" xmlns="" id="{82FE0EE3-DD34-4ECD-AB99-E9089285A34C}"/>
              </a:ext>
            </a:extLst>
          </p:cNvPr>
          <p:cNvSpPr/>
          <p:nvPr/>
        </p:nvSpPr>
        <p:spPr>
          <a:xfrm>
            <a:off x="11251918" y="293282"/>
            <a:ext cx="1741805" cy="523220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r"/>
            <a:r>
              <a:rPr lang="zh-CN" altLang="en-US" sz="2800" spc="20" dirty="0">
                <a:latin typeface="冬青黑体简体中文 W6" panose="020B0600000000000000" pitchFamily="34" charset="-122"/>
                <a:ea typeface="冬青黑体简体中文 W6" panose="020B0600000000000000" pitchFamily="34" charset="-122"/>
                <a:cs typeface="阿里巴巴普惠体 R" panose="00020600040101010101" pitchFamily="18" charset="-122"/>
              </a:rPr>
              <a:t>光电技术</a:t>
            </a:r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xmlns="" id="{942CFC6A-A6DB-0F43-9829-C9244014588C}"/>
              </a:ext>
            </a:extLst>
          </p:cNvPr>
          <p:cNvSpPr/>
          <p:nvPr/>
        </p:nvSpPr>
        <p:spPr>
          <a:xfrm flipV="1">
            <a:off x="0" y="7589506"/>
            <a:ext cx="10141249" cy="125744"/>
          </a:xfrm>
          <a:prstGeom prst="rect">
            <a:avLst/>
          </a:prstGeom>
          <a:gradFill flip="none" rotWithShape="1">
            <a:gsLst>
              <a:gs pos="0">
                <a:srgbClr val="1271FE"/>
              </a:gs>
              <a:gs pos="45000">
                <a:srgbClr val="6895F3"/>
              </a:gs>
              <a:gs pos="9000">
                <a:srgbClr val="3366FF"/>
              </a:gs>
              <a:gs pos="100000">
                <a:schemeClr val="accent1">
                  <a:lumMod val="60000"/>
                  <a:lumOff val="40000"/>
                </a:schemeClr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240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6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286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256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8684" grpId="0" autoUpdateAnimBg="0"/>
      <p:bldP spid="25606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6" name="Rectangle 10"/>
          <p:cNvSpPr>
            <a:spLocks noChangeArrowheads="1"/>
          </p:cNvSpPr>
          <p:nvPr/>
        </p:nvSpPr>
        <p:spPr bwMode="auto">
          <a:xfrm>
            <a:off x="4381500" y="1249253"/>
            <a:ext cx="5500688" cy="646331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 anchor="ctr">
            <a:spAutoFit/>
          </a:bodyPr>
          <a:lstStyle/>
          <a:p>
            <a:pPr defTabSz="914400" eaLnBrk="0" hangingPunct="0"/>
            <a:r>
              <a:rPr lang="en-US" altLang="zh-CN" sz="3600" b="1" dirty="0">
                <a:solidFill>
                  <a:srgbClr val="0000CC"/>
                </a:solidFill>
                <a:latin typeface="Times New Roman" pitchFamily="18" charset="0"/>
                <a:ea typeface="微软雅黑" pitchFamily="34" charset="-122"/>
              </a:rPr>
              <a:t>1. </a:t>
            </a:r>
            <a:r>
              <a:rPr lang="zh-CN" altLang="en-US" sz="3600" b="1" dirty="0">
                <a:solidFill>
                  <a:srgbClr val="0000CC"/>
                </a:solidFill>
                <a:latin typeface="Times New Roman" pitchFamily="18" charset="0"/>
                <a:ea typeface="微软雅黑" pitchFamily="34" charset="-122"/>
              </a:rPr>
              <a:t>硬件二值化处理方法</a:t>
            </a:r>
          </a:p>
        </p:txBody>
      </p:sp>
      <p:sp>
        <p:nvSpPr>
          <p:cNvPr id="39947" name="Rectangle 11"/>
          <p:cNvSpPr>
            <a:spLocks noChangeArrowheads="1"/>
          </p:cNvSpPr>
          <p:nvPr/>
        </p:nvSpPr>
        <p:spPr bwMode="auto">
          <a:xfrm>
            <a:off x="1081088" y="2090451"/>
            <a:ext cx="3262432" cy="5847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pPr defTabSz="914400"/>
            <a:r>
              <a:rPr lang="zh-CN" altLang="en-US" sz="3200" b="1" dirty="0">
                <a:solidFill>
                  <a:srgbClr val="FF0000"/>
                </a:solidFill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（</a:t>
            </a:r>
            <a:r>
              <a:rPr lang="en-US" altLang="en-US" sz="3200" b="1" dirty="0">
                <a:solidFill>
                  <a:srgbClr val="FF0000"/>
                </a:solidFill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1</a:t>
            </a:r>
            <a:r>
              <a:rPr lang="zh-CN" altLang="en-US" sz="3200" b="1" dirty="0">
                <a:solidFill>
                  <a:srgbClr val="FF0000"/>
                </a:solidFill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）固定阈值法</a:t>
            </a:r>
          </a:p>
        </p:txBody>
      </p:sp>
      <p:sp>
        <p:nvSpPr>
          <p:cNvPr id="39952" name="Rectangle 16"/>
          <p:cNvSpPr>
            <a:spLocks noChangeArrowheads="1"/>
          </p:cNvSpPr>
          <p:nvPr/>
        </p:nvSpPr>
        <p:spPr bwMode="auto">
          <a:xfrm>
            <a:off x="895350" y="5402372"/>
            <a:ext cx="11706225" cy="181588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pPr defTabSz="914400">
              <a:lnSpc>
                <a:spcPct val="150000"/>
              </a:lnSpc>
            </a:pPr>
            <a:r>
              <a:rPr lang="zh-CN" altLang="en-US" sz="2800" b="1" dirty="0" smtClean="0">
                <a:latin typeface="Times New Roman" pitchFamily="18" charset="0"/>
                <a:ea typeface="微软雅黑" pitchFamily="34" charset="-122"/>
              </a:rPr>
              <a:t>         固定</a:t>
            </a:r>
            <a:r>
              <a:rPr lang="zh-CN" altLang="en-US" sz="2800" b="1" dirty="0">
                <a:latin typeface="Times New Roman" pitchFamily="18" charset="0"/>
                <a:ea typeface="微软雅黑" pitchFamily="34" charset="-122"/>
              </a:rPr>
              <a:t>阈值法要求阈值电压稳定、光源稳定、驱动脉冲稳定，对系统提出较高要求。</a:t>
            </a:r>
          </a:p>
          <a:p>
            <a:pPr defTabSz="914400" eaLnBrk="0" hangingPunct="0"/>
            <a:endParaRPr lang="zh-CN" altLang="en-US" sz="2800" b="1" dirty="0">
              <a:latin typeface="Times New Roman" pitchFamily="18" charset="0"/>
              <a:ea typeface="微软雅黑" pitchFamily="34" charset="-122"/>
            </a:endParaRPr>
          </a:p>
        </p:txBody>
      </p:sp>
      <p:sp>
        <p:nvSpPr>
          <p:cNvPr id="17421" name="Rectangle 19"/>
          <p:cNvSpPr>
            <a:spLocks noChangeArrowheads="1"/>
          </p:cNvSpPr>
          <p:nvPr/>
        </p:nvSpPr>
        <p:spPr bwMode="auto">
          <a:xfrm>
            <a:off x="323850" y="465138"/>
            <a:ext cx="184150" cy="5191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pPr defTabSz="914400"/>
            <a:endParaRPr lang="zh-CN" altLang="en-US" sz="2800" b="1">
              <a:latin typeface="楷体_GB2312" pitchFamily="49" charset="-122"/>
              <a:ea typeface="楷体_GB2312" pitchFamily="49" charset="-122"/>
            </a:endParaRPr>
          </a:p>
        </p:txBody>
      </p:sp>
      <p:graphicFrame>
        <p:nvGraphicFramePr>
          <p:cNvPr id="17422" name="Object 14"/>
          <p:cNvGraphicFramePr>
            <a:graphicFrameLocks noChangeAspect="1"/>
          </p:cNvGraphicFramePr>
          <p:nvPr/>
        </p:nvGraphicFramePr>
        <p:xfrm>
          <a:off x="3730626" y="2928937"/>
          <a:ext cx="5616575" cy="2306637"/>
        </p:xfrm>
        <a:graphic>
          <a:graphicData uri="http://schemas.openxmlformats.org/presentationml/2006/ole">
            <p:oleObj spid="_x0000_s17422" name="Visio" r:id="rId3" imgW="3569040" imgH="1466640" progId="">
              <p:embed/>
            </p:oleObj>
          </a:graphicData>
        </a:graphic>
      </p:graphicFrame>
      <p:sp>
        <p:nvSpPr>
          <p:cNvPr id="12" name="文本框 60">
            <a:extLst>
              <a:ext uri="{FF2B5EF4-FFF2-40B4-BE49-F238E27FC236}">
                <a16:creationId xmlns:a16="http://schemas.microsoft.com/office/drawing/2014/main" xmlns="" id="{791D85D7-F412-9C48-9F2B-E33F5B7B4F3C}"/>
              </a:ext>
            </a:extLst>
          </p:cNvPr>
          <p:cNvSpPr txBox="1"/>
          <p:nvPr/>
        </p:nvSpPr>
        <p:spPr>
          <a:xfrm>
            <a:off x="1364780" y="293282"/>
            <a:ext cx="4560031" cy="369332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/>
          <a:p>
            <a:r>
              <a:rPr lang="zh-CN" altLang="en-US" sz="1800" b="1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用于三维复合精细成像的双</a:t>
            </a:r>
            <a:r>
              <a:rPr lang="en-US" altLang="zh-CN" sz="1800" b="1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CCD</a:t>
            </a:r>
            <a:r>
              <a:rPr lang="zh-CN" altLang="en-US" sz="1800" b="1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交会测量</a:t>
            </a:r>
            <a:endParaRPr lang="zh-CN" altLang="en-US" sz="18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3" name="矩形 12"/>
          <p:cNvSpPr/>
          <p:nvPr/>
        </p:nvSpPr>
        <p:spPr>
          <a:xfrm>
            <a:off x="10256520" y="329189"/>
            <a:ext cx="1211081" cy="451406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>
              <a:lnSpc>
                <a:spcPts val="1400"/>
              </a:lnSpc>
            </a:pPr>
            <a:r>
              <a:rPr lang="en-US" altLang="zh-CN" sz="1100" b="1" spc="50" dirty="0">
                <a:latin typeface="冬青黑体简体中文 W6"/>
                <a:ea typeface="冬青黑体简体中文 W6" panose="020B0600000000000000" pitchFamily="34" charset="-122"/>
                <a:cs typeface="Times New Roman" panose="02020603050405020304" pitchFamily="18" charset="0"/>
              </a:rPr>
              <a:t>Photoelectric</a:t>
            </a:r>
          </a:p>
          <a:p>
            <a:pPr>
              <a:lnSpc>
                <a:spcPts val="1400"/>
              </a:lnSpc>
            </a:pPr>
            <a:r>
              <a:rPr lang="en-US" altLang="zh-CN" sz="1100" b="1" spc="50" dirty="0">
                <a:latin typeface="冬青黑体简体中文 W6"/>
                <a:ea typeface="冬青黑体简体中文 W6" panose="020B0600000000000000" pitchFamily="34" charset="-122"/>
                <a:cs typeface="Times New Roman" panose="02020603050405020304" pitchFamily="18" charset="0"/>
              </a:rPr>
              <a:t>Technology</a:t>
            </a:r>
            <a:endParaRPr lang="zh-CN" altLang="en-US" sz="1100" b="1" spc="50" dirty="0">
              <a:ln w="22225">
                <a:solidFill>
                  <a:schemeClr val="accent2"/>
                </a:solidFill>
                <a:prstDash val="solid"/>
              </a:ln>
              <a:latin typeface="冬青黑体简体中文 W6"/>
              <a:ea typeface="冬青黑体简体中文 W6" panose="020B0600000000000000" pitchFamily="34" charset="-122"/>
              <a:cs typeface="Times New Roman" panose="02020603050405020304" pitchFamily="18" charset="0"/>
            </a:endParaRP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xmlns="" id="{B0EA110F-2BA5-44F1-BDF2-A8AD51CC83F5}"/>
              </a:ext>
            </a:extLst>
          </p:cNvPr>
          <p:cNvSpPr/>
          <p:nvPr/>
        </p:nvSpPr>
        <p:spPr>
          <a:xfrm>
            <a:off x="12993723" y="361950"/>
            <a:ext cx="167523" cy="412649"/>
          </a:xfrm>
          <a:prstGeom prst="rect">
            <a:avLst/>
          </a:prstGeom>
          <a:gradFill>
            <a:gsLst>
              <a:gs pos="0">
                <a:srgbClr val="0066FF"/>
              </a:gs>
              <a:gs pos="100000">
                <a:schemeClr val="accent1">
                  <a:lumMod val="100000"/>
                </a:schemeClr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5" name="矩形: 圆角 25">
            <a:extLst>
              <a:ext uri="{FF2B5EF4-FFF2-40B4-BE49-F238E27FC236}">
                <a16:creationId xmlns:a16="http://schemas.microsoft.com/office/drawing/2014/main" xmlns="" id="{D7400AB1-4BEC-40E5-A53B-E3CB1F48EB8A}"/>
              </a:ext>
            </a:extLst>
          </p:cNvPr>
          <p:cNvSpPr/>
          <p:nvPr/>
        </p:nvSpPr>
        <p:spPr>
          <a:xfrm>
            <a:off x="336177" y="293282"/>
            <a:ext cx="948448" cy="481317"/>
          </a:xfrm>
          <a:prstGeom prst="roundRect">
            <a:avLst/>
          </a:prstGeom>
          <a:gradFill>
            <a:gsLst>
              <a:gs pos="0">
                <a:srgbClr val="0066FF"/>
              </a:gs>
              <a:gs pos="100000">
                <a:schemeClr val="accent1">
                  <a:lumMod val="100000"/>
                </a:schemeClr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Bef>
                <a:spcPts val="800"/>
              </a:spcBef>
            </a:pPr>
            <a:r>
              <a:rPr kumimoji="1" lang="en-US" altLang="zh-CN" sz="2800" b="1" dirty="0" smtClean="0">
                <a:solidFill>
                  <a:schemeClr val="bg1"/>
                </a:solidFill>
                <a:latin typeface="Times New Roman" panose="02020603050405020304" pitchFamily="18" charset="0"/>
                <a:ea typeface="Microsoft YaHei" panose="020B0503020204020204" pitchFamily="34" charset="-122"/>
                <a:cs typeface="Times New Roman" panose="02020603050405020304" pitchFamily="18" charset="0"/>
              </a:rPr>
              <a:t>10.1</a:t>
            </a:r>
            <a:endParaRPr kumimoji="1" lang="zh-CN" altLang="en-US" sz="2800" b="1" dirty="0">
              <a:solidFill>
                <a:schemeClr val="bg1"/>
              </a:solidFill>
              <a:latin typeface="Times New Roman" panose="02020603050405020304" pitchFamily="18" charset="0"/>
              <a:ea typeface="Microsoft YaHei" panose="020B0503020204020204" pitchFamily="34" charset="-122"/>
              <a:cs typeface="Times New Roman" panose="02020603050405020304" pitchFamily="18" charset="0"/>
            </a:endParaRPr>
          </a:p>
        </p:txBody>
      </p:sp>
      <p:cxnSp>
        <p:nvCxnSpPr>
          <p:cNvPr id="16" name="直接连接符 58">
            <a:extLst>
              <a:ext uri="{FF2B5EF4-FFF2-40B4-BE49-F238E27FC236}">
                <a16:creationId xmlns:a16="http://schemas.microsoft.com/office/drawing/2014/main" xmlns="" id="{8C5F82EF-52B4-4531-96F0-44689EA1125E}"/>
              </a:ext>
            </a:extLst>
          </p:cNvPr>
          <p:cNvCxnSpPr>
            <a:cxnSpLocks/>
          </p:cNvCxnSpPr>
          <p:nvPr/>
        </p:nvCxnSpPr>
        <p:spPr>
          <a:xfrm flipV="1">
            <a:off x="1450506" y="695281"/>
            <a:ext cx="2999293" cy="15717"/>
          </a:xfrm>
          <a:prstGeom prst="line">
            <a:avLst/>
          </a:prstGeom>
          <a:ln w="19050" cmpd="dbl">
            <a:solidFill>
              <a:srgbClr val="3366FF">
                <a:alpha val="7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矩形 16">
            <a:extLst>
              <a:ext uri="{FF2B5EF4-FFF2-40B4-BE49-F238E27FC236}">
                <a16:creationId xmlns:a16="http://schemas.microsoft.com/office/drawing/2014/main" xmlns="" id="{82FE0EE3-DD34-4ECD-AB99-E9089285A34C}"/>
              </a:ext>
            </a:extLst>
          </p:cNvPr>
          <p:cNvSpPr/>
          <p:nvPr/>
        </p:nvSpPr>
        <p:spPr>
          <a:xfrm>
            <a:off x="11251918" y="293282"/>
            <a:ext cx="1741805" cy="523220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r"/>
            <a:r>
              <a:rPr lang="zh-CN" altLang="en-US" sz="2800" spc="20" dirty="0">
                <a:latin typeface="冬青黑体简体中文 W6" panose="020B0600000000000000" pitchFamily="34" charset="-122"/>
                <a:ea typeface="冬青黑体简体中文 W6" panose="020B0600000000000000" pitchFamily="34" charset="-122"/>
                <a:cs typeface="阿里巴巴普惠体 R" panose="00020600040101010101" pitchFamily="18" charset="-122"/>
              </a:rPr>
              <a:t>光电技术</a:t>
            </a:r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xmlns="" id="{942CFC6A-A6DB-0F43-9829-C9244014588C}"/>
              </a:ext>
            </a:extLst>
          </p:cNvPr>
          <p:cNvSpPr/>
          <p:nvPr/>
        </p:nvSpPr>
        <p:spPr>
          <a:xfrm flipV="1">
            <a:off x="0" y="7589506"/>
            <a:ext cx="10141249" cy="125744"/>
          </a:xfrm>
          <a:prstGeom prst="rect">
            <a:avLst/>
          </a:prstGeom>
          <a:gradFill flip="none" rotWithShape="1">
            <a:gsLst>
              <a:gs pos="0">
                <a:srgbClr val="1271FE"/>
              </a:gs>
              <a:gs pos="45000">
                <a:srgbClr val="6895F3"/>
              </a:gs>
              <a:gs pos="9000">
                <a:srgbClr val="3366FF"/>
              </a:gs>
              <a:gs pos="100000">
                <a:schemeClr val="accent1">
                  <a:lumMod val="60000"/>
                  <a:lumOff val="40000"/>
                </a:schemeClr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240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9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399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174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9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399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9947" grpId="0"/>
      <p:bldP spid="39952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47" name="Rectangle 11"/>
          <p:cNvSpPr>
            <a:spLocks noChangeArrowheads="1"/>
          </p:cNvSpPr>
          <p:nvPr/>
        </p:nvSpPr>
        <p:spPr bwMode="auto">
          <a:xfrm>
            <a:off x="1052513" y="2123789"/>
            <a:ext cx="3262432" cy="5847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pPr defTabSz="914400"/>
            <a:r>
              <a:rPr lang="zh-CN" altLang="en-US" sz="3200" b="1" dirty="0">
                <a:solidFill>
                  <a:srgbClr val="FF0000"/>
                </a:solidFill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（</a:t>
            </a:r>
            <a:r>
              <a:rPr lang="en-US" altLang="en-US" sz="3200" b="1" dirty="0">
                <a:solidFill>
                  <a:srgbClr val="FF0000"/>
                </a:solidFill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2</a:t>
            </a:r>
            <a:r>
              <a:rPr lang="zh-CN" altLang="en-US" sz="3200" b="1" dirty="0">
                <a:solidFill>
                  <a:srgbClr val="FF0000"/>
                </a:solidFill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）浮动阈值法</a:t>
            </a:r>
          </a:p>
        </p:txBody>
      </p:sp>
      <p:sp>
        <p:nvSpPr>
          <p:cNvPr id="39952" name="Rectangle 16"/>
          <p:cNvSpPr>
            <a:spLocks noChangeArrowheads="1"/>
          </p:cNvSpPr>
          <p:nvPr/>
        </p:nvSpPr>
        <p:spPr bwMode="auto">
          <a:xfrm>
            <a:off x="952500" y="5324585"/>
            <a:ext cx="11991975" cy="181588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pPr defTabSz="914400">
              <a:lnSpc>
                <a:spcPct val="150000"/>
              </a:lnSpc>
            </a:pPr>
            <a:r>
              <a:rPr lang="zh-CN" altLang="en-US" sz="2800" b="1" dirty="0" smtClean="0">
                <a:latin typeface="Times New Roman" pitchFamily="18" charset="0"/>
                <a:ea typeface="微软雅黑" pitchFamily="34" charset="-122"/>
              </a:rPr>
              <a:t>        浮动</a:t>
            </a:r>
            <a:r>
              <a:rPr lang="zh-CN" altLang="en-US" sz="2800" b="1" dirty="0">
                <a:latin typeface="Times New Roman" pitchFamily="18" charset="0"/>
                <a:ea typeface="微软雅黑" pitchFamily="34" charset="-122"/>
              </a:rPr>
              <a:t>阈值法使电压比较器的阈值电压随测量系统的光源或随</a:t>
            </a:r>
            <a:r>
              <a:rPr lang="en-US" altLang="en-US" sz="2800" b="1" dirty="0">
                <a:latin typeface="Times New Roman" pitchFamily="18" charset="0"/>
                <a:ea typeface="微软雅黑" pitchFamily="34" charset="-122"/>
              </a:rPr>
              <a:t>CCD</a:t>
            </a:r>
            <a:r>
              <a:rPr lang="zh-CN" altLang="en-US" sz="2800" b="1" dirty="0">
                <a:latin typeface="Times New Roman" pitchFamily="18" charset="0"/>
                <a:ea typeface="微软雅黑" pitchFamily="34" charset="-122"/>
              </a:rPr>
              <a:t>输出视频信号的幅值浮动。 </a:t>
            </a:r>
          </a:p>
          <a:p>
            <a:pPr defTabSz="914400" eaLnBrk="0" hangingPunct="0"/>
            <a:endParaRPr lang="zh-CN" altLang="en-US" sz="2800" b="1" dirty="0">
              <a:latin typeface="Times New Roman" pitchFamily="18" charset="0"/>
              <a:ea typeface="微软雅黑" pitchFamily="34" charset="-122"/>
            </a:endParaRPr>
          </a:p>
        </p:txBody>
      </p:sp>
      <p:graphicFrame>
        <p:nvGraphicFramePr>
          <p:cNvPr id="18446" name="Object 14"/>
          <p:cNvGraphicFramePr>
            <a:graphicFrameLocks noChangeAspect="1"/>
          </p:cNvGraphicFramePr>
          <p:nvPr/>
        </p:nvGraphicFramePr>
        <p:xfrm>
          <a:off x="2952751" y="2681288"/>
          <a:ext cx="7372350" cy="2732088"/>
        </p:xfrm>
        <a:graphic>
          <a:graphicData uri="http://schemas.openxmlformats.org/presentationml/2006/ole">
            <p:oleObj spid="_x0000_s18446" name="Visio" r:id="rId3" imgW="4207002" imgH="1562100" progId="">
              <p:embed/>
            </p:oleObj>
          </a:graphicData>
        </a:graphic>
      </p:graphicFrame>
      <p:sp>
        <p:nvSpPr>
          <p:cNvPr id="15" name="Rectangle 10"/>
          <p:cNvSpPr>
            <a:spLocks noChangeArrowheads="1"/>
          </p:cNvSpPr>
          <p:nvPr/>
        </p:nvSpPr>
        <p:spPr bwMode="auto">
          <a:xfrm>
            <a:off x="4381500" y="1206391"/>
            <a:ext cx="5500688" cy="646331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 anchor="ctr">
            <a:spAutoFit/>
          </a:bodyPr>
          <a:lstStyle/>
          <a:p>
            <a:pPr defTabSz="914400" eaLnBrk="0" hangingPunct="0"/>
            <a:r>
              <a:rPr lang="en-US" altLang="zh-CN" sz="3600" b="1" dirty="0">
                <a:solidFill>
                  <a:srgbClr val="0000CC"/>
                </a:solidFill>
                <a:latin typeface="Times New Roman" pitchFamily="18" charset="0"/>
                <a:ea typeface="微软雅黑" pitchFamily="34" charset="-122"/>
              </a:rPr>
              <a:t>1. </a:t>
            </a:r>
            <a:r>
              <a:rPr lang="zh-CN" altLang="en-US" sz="3600" b="1" dirty="0">
                <a:solidFill>
                  <a:srgbClr val="0000CC"/>
                </a:solidFill>
                <a:latin typeface="Times New Roman" pitchFamily="18" charset="0"/>
                <a:ea typeface="微软雅黑" pitchFamily="34" charset="-122"/>
              </a:rPr>
              <a:t>硬件二值化处理方法</a:t>
            </a:r>
          </a:p>
        </p:txBody>
      </p:sp>
      <p:sp>
        <p:nvSpPr>
          <p:cNvPr id="12" name="文本框 60">
            <a:extLst>
              <a:ext uri="{FF2B5EF4-FFF2-40B4-BE49-F238E27FC236}">
                <a16:creationId xmlns:a16="http://schemas.microsoft.com/office/drawing/2014/main" xmlns="" id="{791D85D7-F412-9C48-9F2B-E33F5B7B4F3C}"/>
              </a:ext>
            </a:extLst>
          </p:cNvPr>
          <p:cNvSpPr txBox="1"/>
          <p:nvPr/>
        </p:nvSpPr>
        <p:spPr>
          <a:xfrm>
            <a:off x="1364780" y="293282"/>
            <a:ext cx="4560031" cy="369332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/>
          <a:p>
            <a:r>
              <a:rPr lang="zh-CN" altLang="en-US" sz="1800" b="1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用于三维复合精细成像的双</a:t>
            </a:r>
            <a:r>
              <a:rPr lang="en-US" altLang="zh-CN" sz="1800" b="1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CCD</a:t>
            </a:r>
            <a:r>
              <a:rPr lang="zh-CN" altLang="en-US" sz="1800" b="1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交会测量</a:t>
            </a:r>
            <a:endParaRPr lang="zh-CN" altLang="en-US" sz="18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3" name="矩形 12"/>
          <p:cNvSpPr/>
          <p:nvPr/>
        </p:nvSpPr>
        <p:spPr>
          <a:xfrm>
            <a:off x="10256520" y="329189"/>
            <a:ext cx="1211081" cy="451406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>
              <a:lnSpc>
                <a:spcPts val="1400"/>
              </a:lnSpc>
            </a:pPr>
            <a:r>
              <a:rPr lang="en-US" altLang="zh-CN" sz="1100" b="1" spc="50" dirty="0">
                <a:latin typeface="冬青黑体简体中文 W6"/>
                <a:ea typeface="冬青黑体简体中文 W6" panose="020B0600000000000000" pitchFamily="34" charset="-122"/>
                <a:cs typeface="Times New Roman" panose="02020603050405020304" pitchFamily="18" charset="0"/>
              </a:rPr>
              <a:t>Photoelectric</a:t>
            </a:r>
          </a:p>
          <a:p>
            <a:pPr>
              <a:lnSpc>
                <a:spcPts val="1400"/>
              </a:lnSpc>
            </a:pPr>
            <a:r>
              <a:rPr lang="en-US" altLang="zh-CN" sz="1100" b="1" spc="50" dirty="0">
                <a:latin typeface="冬青黑体简体中文 W6"/>
                <a:ea typeface="冬青黑体简体中文 W6" panose="020B0600000000000000" pitchFamily="34" charset="-122"/>
                <a:cs typeface="Times New Roman" panose="02020603050405020304" pitchFamily="18" charset="0"/>
              </a:rPr>
              <a:t>Technology</a:t>
            </a:r>
            <a:endParaRPr lang="zh-CN" altLang="en-US" sz="1100" b="1" spc="50" dirty="0">
              <a:ln w="22225">
                <a:solidFill>
                  <a:schemeClr val="accent2"/>
                </a:solidFill>
                <a:prstDash val="solid"/>
              </a:ln>
              <a:latin typeface="冬青黑体简体中文 W6"/>
              <a:ea typeface="冬青黑体简体中文 W6" panose="020B0600000000000000" pitchFamily="34" charset="-122"/>
              <a:cs typeface="Times New Roman" panose="02020603050405020304" pitchFamily="18" charset="0"/>
            </a:endParaRP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xmlns="" id="{B0EA110F-2BA5-44F1-BDF2-A8AD51CC83F5}"/>
              </a:ext>
            </a:extLst>
          </p:cNvPr>
          <p:cNvSpPr/>
          <p:nvPr/>
        </p:nvSpPr>
        <p:spPr>
          <a:xfrm>
            <a:off x="12993723" y="361950"/>
            <a:ext cx="167523" cy="412649"/>
          </a:xfrm>
          <a:prstGeom prst="rect">
            <a:avLst/>
          </a:prstGeom>
          <a:gradFill>
            <a:gsLst>
              <a:gs pos="0">
                <a:srgbClr val="0066FF"/>
              </a:gs>
              <a:gs pos="100000">
                <a:schemeClr val="accent1">
                  <a:lumMod val="100000"/>
                </a:schemeClr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7" name="矩形: 圆角 25">
            <a:extLst>
              <a:ext uri="{FF2B5EF4-FFF2-40B4-BE49-F238E27FC236}">
                <a16:creationId xmlns:a16="http://schemas.microsoft.com/office/drawing/2014/main" xmlns="" id="{D7400AB1-4BEC-40E5-A53B-E3CB1F48EB8A}"/>
              </a:ext>
            </a:extLst>
          </p:cNvPr>
          <p:cNvSpPr/>
          <p:nvPr/>
        </p:nvSpPr>
        <p:spPr>
          <a:xfrm>
            <a:off x="336177" y="293282"/>
            <a:ext cx="948448" cy="481317"/>
          </a:xfrm>
          <a:prstGeom prst="roundRect">
            <a:avLst/>
          </a:prstGeom>
          <a:gradFill>
            <a:gsLst>
              <a:gs pos="0">
                <a:srgbClr val="0066FF"/>
              </a:gs>
              <a:gs pos="100000">
                <a:schemeClr val="accent1">
                  <a:lumMod val="100000"/>
                </a:schemeClr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Bef>
                <a:spcPts val="800"/>
              </a:spcBef>
            </a:pPr>
            <a:r>
              <a:rPr kumimoji="1" lang="en-US" altLang="zh-CN" sz="2800" b="1" dirty="0" smtClean="0">
                <a:solidFill>
                  <a:schemeClr val="bg1"/>
                </a:solidFill>
                <a:latin typeface="Times New Roman" panose="02020603050405020304" pitchFamily="18" charset="0"/>
                <a:ea typeface="Microsoft YaHei" panose="020B0503020204020204" pitchFamily="34" charset="-122"/>
                <a:cs typeface="Times New Roman" panose="02020603050405020304" pitchFamily="18" charset="0"/>
              </a:rPr>
              <a:t>10.1</a:t>
            </a:r>
            <a:endParaRPr kumimoji="1" lang="zh-CN" altLang="en-US" sz="2800" b="1" dirty="0">
              <a:solidFill>
                <a:schemeClr val="bg1"/>
              </a:solidFill>
              <a:latin typeface="Times New Roman" panose="02020603050405020304" pitchFamily="18" charset="0"/>
              <a:ea typeface="Microsoft YaHei" panose="020B0503020204020204" pitchFamily="34" charset="-122"/>
              <a:cs typeface="Times New Roman" panose="02020603050405020304" pitchFamily="18" charset="0"/>
            </a:endParaRPr>
          </a:p>
        </p:txBody>
      </p:sp>
      <p:cxnSp>
        <p:nvCxnSpPr>
          <p:cNvPr id="18" name="直接连接符 58">
            <a:extLst>
              <a:ext uri="{FF2B5EF4-FFF2-40B4-BE49-F238E27FC236}">
                <a16:creationId xmlns:a16="http://schemas.microsoft.com/office/drawing/2014/main" xmlns="" id="{8C5F82EF-52B4-4531-96F0-44689EA1125E}"/>
              </a:ext>
            </a:extLst>
          </p:cNvPr>
          <p:cNvCxnSpPr>
            <a:cxnSpLocks/>
          </p:cNvCxnSpPr>
          <p:nvPr/>
        </p:nvCxnSpPr>
        <p:spPr>
          <a:xfrm flipV="1">
            <a:off x="1450506" y="695281"/>
            <a:ext cx="2999293" cy="15717"/>
          </a:xfrm>
          <a:prstGeom prst="line">
            <a:avLst/>
          </a:prstGeom>
          <a:ln w="19050" cmpd="dbl">
            <a:solidFill>
              <a:srgbClr val="3366FF">
                <a:alpha val="7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矩形 18">
            <a:extLst>
              <a:ext uri="{FF2B5EF4-FFF2-40B4-BE49-F238E27FC236}">
                <a16:creationId xmlns:a16="http://schemas.microsoft.com/office/drawing/2014/main" xmlns="" id="{82FE0EE3-DD34-4ECD-AB99-E9089285A34C}"/>
              </a:ext>
            </a:extLst>
          </p:cNvPr>
          <p:cNvSpPr/>
          <p:nvPr/>
        </p:nvSpPr>
        <p:spPr>
          <a:xfrm>
            <a:off x="11251918" y="293282"/>
            <a:ext cx="1741805" cy="523220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r"/>
            <a:r>
              <a:rPr lang="zh-CN" altLang="en-US" sz="2800" spc="20" dirty="0">
                <a:latin typeface="冬青黑体简体中文 W6" panose="020B0600000000000000" pitchFamily="34" charset="-122"/>
                <a:ea typeface="冬青黑体简体中文 W6" panose="020B0600000000000000" pitchFamily="34" charset="-122"/>
                <a:cs typeface="阿里巴巴普惠体 R" panose="00020600040101010101" pitchFamily="18" charset="-122"/>
              </a:rPr>
              <a:t>光电技术</a:t>
            </a:r>
          </a:p>
        </p:txBody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xmlns="" id="{942CFC6A-A6DB-0F43-9829-C9244014588C}"/>
              </a:ext>
            </a:extLst>
          </p:cNvPr>
          <p:cNvSpPr/>
          <p:nvPr/>
        </p:nvSpPr>
        <p:spPr>
          <a:xfrm flipV="1">
            <a:off x="0" y="7589506"/>
            <a:ext cx="10141249" cy="125744"/>
          </a:xfrm>
          <a:prstGeom prst="rect">
            <a:avLst/>
          </a:prstGeom>
          <a:gradFill flip="none" rotWithShape="1">
            <a:gsLst>
              <a:gs pos="0">
                <a:srgbClr val="1271FE"/>
              </a:gs>
              <a:gs pos="45000">
                <a:srgbClr val="6895F3"/>
              </a:gs>
              <a:gs pos="9000">
                <a:srgbClr val="3366FF"/>
              </a:gs>
              <a:gs pos="100000">
                <a:schemeClr val="accent1">
                  <a:lumMod val="60000"/>
                  <a:lumOff val="40000"/>
                </a:schemeClr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240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" dur="500"/>
                                        <p:tgtEl>
                                          <p:spTgt spid="184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9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399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9952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64" name="Rectangle 10"/>
          <p:cNvSpPr>
            <a:spLocks noChangeArrowheads="1"/>
          </p:cNvSpPr>
          <p:nvPr/>
        </p:nvSpPr>
        <p:spPr bwMode="auto">
          <a:xfrm>
            <a:off x="4405313" y="1106379"/>
            <a:ext cx="5500687" cy="646331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 anchor="ctr">
            <a:spAutoFit/>
          </a:bodyPr>
          <a:lstStyle/>
          <a:p>
            <a:pPr defTabSz="914400" eaLnBrk="0" hangingPunct="0"/>
            <a:r>
              <a:rPr lang="en-US" altLang="zh-CN" sz="3600" b="1" dirty="0">
                <a:solidFill>
                  <a:srgbClr val="0000CC"/>
                </a:solidFill>
                <a:latin typeface="Times New Roman" pitchFamily="18" charset="0"/>
                <a:ea typeface="黑体" pitchFamily="2" charset="-122"/>
                <a:cs typeface="Times New Roman" pitchFamily="18" charset="0"/>
              </a:rPr>
              <a:t>2. </a:t>
            </a:r>
            <a:r>
              <a:rPr lang="zh-CN" altLang="en-US" sz="3600" b="1" dirty="0">
                <a:solidFill>
                  <a:srgbClr val="0000CC"/>
                </a:solidFill>
                <a:latin typeface="Times New Roman" pitchFamily="18" charset="0"/>
                <a:ea typeface="黑体" pitchFamily="2" charset="-122"/>
                <a:cs typeface="Times New Roman" pitchFamily="18" charset="0"/>
              </a:rPr>
              <a:t>软件二值化处理方法</a:t>
            </a:r>
          </a:p>
        </p:txBody>
      </p:sp>
      <p:sp>
        <p:nvSpPr>
          <p:cNvPr id="39947" name="Rectangle 11"/>
          <p:cNvSpPr>
            <a:spLocks noChangeArrowheads="1"/>
          </p:cNvSpPr>
          <p:nvPr/>
        </p:nvSpPr>
        <p:spPr bwMode="auto">
          <a:xfrm>
            <a:off x="1190626" y="1976150"/>
            <a:ext cx="4938712" cy="5847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pPr defTabSz="914400"/>
            <a:r>
              <a:rPr lang="zh-CN" altLang="en-US" sz="3200" b="1" dirty="0">
                <a:solidFill>
                  <a:srgbClr val="FF0000"/>
                </a:solidFill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（</a:t>
            </a:r>
            <a:r>
              <a:rPr lang="en-US" altLang="en-US" sz="3200" b="1" dirty="0">
                <a:solidFill>
                  <a:srgbClr val="FF0000"/>
                </a:solidFill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1</a:t>
            </a:r>
            <a:r>
              <a:rPr lang="zh-CN" altLang="en-US" sz="3200" b="1" dirty="0">
                <a:solidFill>
                  <a:srgbClr val="FF0000"/>
                </a:solidFill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）固定阈值二值化方法</a:t>
            </a:r>
          </a:p>
        </p:txBody>
      </p:sp>
      <p:sp>
        <p:nvSpPr>
          <p:cNvPr id="39952" name="Rectangle 16"/>
          <p:cNvSpPr>
            <a:spLocks noChangeArrowheads="1"/>
          </p:cNvSpPr>
          <p:nvPr/>
        </p:nvSpPr>
        <p:spPr bwMode="auto">
          <a:xfrm>
            <a:off x="1290638" y="2601238"/>
            <a:ext cx="5967412" cy="33239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pPr defTabSz="914400">
              <a:lnSpc>
                <a:spcPct val="150000"/>
              </a:lnSpc>
            </a:pPr>
            <a:r>
              <a:rPr lang="zh-CN" altLang="en-US" sz="2800" b="1" dirty="0">
                <a:latin typeface="微软雅黑" pitchFamily="34" charset="-122"/>
                <a:ea typeface="微软雅黑" pitchFamily="34" charset="-122"/>
              </a:rPr>
              <a:t>原理类同于硬件二值化提取方法。不同点在于硬件固定阈值二值化提取方法的阈值由硬件设置，软件固定阈值二值化提取方法的</a:t>
            </a:r>
            <a:r>
              <a:rPr lang="zh-CN" altLang="en-US" sz="2800" b="1" dirty="0">
                <a:solidFill>
                  <a:srgbClr val="006600"/>
                </a:solidFill>
                <a:latin typeface="微软雅黑" pitchFamily="34" charset="-122"/>
                <a:ea typeface="微软雅黑" pitchFamily="34" charset="-122"/>
              </a:rPr>
              <a:t>阈值可由软件以数字方式设置</a:t>
            </a:r>
            <a:r>
              <a:rPr lang="zh-CN" altLang="en-US" sz="2800" b="1" dirty="0">
                <a:latin typeface="微软雅黑" pitchFamily="34" charset="-122"/>
                <a:ea typeface="微软雅黑" pitchFamily="34" charset="-122"/>
              </a:rPr>
              <a:t>。</a:t>
            </a:r>
          </a:p>
        </p:txBody>
      </p:sp>
      <p:sp>
        <p:nvSpPr>
          <p:cNvPr id="11" name="矩形 10"/>
          <p:cNvSpPr>
            <a:spLocks noChangeArrowheads="1"/>
          </p:cNvSpPr>
          <p:nvPr/>
        </p:nvSpPr>
        <p:spPr bwMode="auto">
          <a:xfrm>
            <a:off x="2316162" y="6200776"/>
            <a:ext cx="9056687" cy="5232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defTabSz="914400"/>
            <a:r>
              <a:rPr lang="zh-CN" altLang="en-US" sz="2800" b="1" dirty="0">
                <a:latin typeface="微软雅黑" pitchFamily="34" charset="-122"/>
                <a:ea typeface="微软雅黑" pitchFamily="34" charset="-122"/>
              </a:rPr>
              <a:t>在能够保证系统光源稳定的情况下，这种方法简单易行。</a:t>
            </a:r>
          </a:p>
        </p:txBody>
      </p:sp>
      <p:graphicFrame>
        <p:nvGraphicFramePr>
          <p:cNvPr id="19470" name="Object 14"/>
          <p:cNvGraphicFramePr>
            <a:graphicFrameLocks noChangeAspect="1"/>
          </p:cNvGraphicFramePr>
          <p:nvPr/>
        </p:nvGraphicFramePr>
        <p:xfrm>
          <a:off x="8645524" y="2324100"/>
          <a:ext cx="3784601" cy="3118258"/>
        </p:xfrm>
        <a:graphic>
          <a:graphicData uri="http://schemas.openxmlformats.org/presentationml/2006/ole">
            <p:oleObj spid="_x0000_s19470" name="Visio" r:id="rId3" imgW="1387800" imgH="1139040" progId="">
              <p:embed/>
            </p:oleObj>
          </a:graphicData>
        </a:graphic>
      </p:graphicFrame>
      <p:sp>
        <p:nvSpPr>
          <p:cNvPr id="13" name="文本框 60">
            <a:extLst>
              <a:ext uri="{FF2B5EF4-FFF2-40B4-BE49-F238E27FC236}">
                <a16:creationId xmlns:a16="http://schemas.microsoft.com/office/drawing/2014/main" xmlns="" id="{791D85D7-F412-9C48-9F2B-E33F5B7B4F3C}"/>
              </a:ext>
            </a:extLst>
          </p:cNvPr>
          <p:cNvSpPr txBox="1"/>
          <p:nvPr/>
        </p:nvSpPr>
        <p:spPr>
          <a:xfrm>
            <a:off x="1364780" y="293282"/>
            <a:ext cx="4560031" cy="369332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/>
          <a:p>
            <a:r>
              <a:rPr lang="zh-CN" altLang="en-US" sz="1800" b="1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用于三维复合精细成像的双</a:t>
            </a:r>
            <a:r>
              <a:rPr lang="en-US" altLang="zh-CN" sz="1800" b="1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CCD</a:t>
            </a:r>
            <a:r>
              <a:rPr lang="zh-CN" altLang="en-US" sz="1800" b="1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交会测量</a:t>
            </a:r>
            <a:endParaRPr lang="zh-CN" altLang="en-US" sz="18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4" name="矩形 13"/>
          <p:cNvSpPr/>
          <p:nvPr/>
        </p:nvSpPr>
        <p:spPr>
          <a:xfrm>
            <a:off x="10256520" y="329189"/>
            <a:ext cx="1211081" cy="451406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>
              <a:lnSpc>
                <a:spcPts val="1400"/>
              </a:lnSpc>
            </a:pPr>
            <a:r>
              <a:rPr lang="en-US" altLang="zh-CN" sz="1100" b="1" spc="50" dirty="0">
                <a:latin typeface="冬青黑体简体中文 W6"/>
                <a:ea typeface="冬青黑体简体中文 W6" panose="020B0600000000000000" pitchFamily="34" charset="-122"/>
                <a:cs typeface="Times New Roman" panose="02020603050405020304" pitchFamily="18" charset="0"/>
              </a:rPr>
              <a:t>Photoelectric</a:t>
            </a:r>
          </a:p>
          <a:p>
            <a:pPr>
              <a:lnSpc>
                <a:spcPts val="1400"/>
              </a:lnSpc>
            </a:pPr>
            <a:r>
              <a:rPr lang="en-US" altLang="zh-CN" sz="1100" b="1" spc="50" dirty="0">
                <a:latin typeface="冬青黑体简体中文 W6"/>
                <a:ea typeface="冬青黑体简体中文 W6" panose="020B0600000000000000" pitchFamily="34" charset="-122"/>
                <a:cs typeface="Times New Roman" panose="02020603050405020304" pitchFamily="18" charset="0"/>
              </a:rPr>
              <a:t>Technology</a:t>
            </a:r>
            <a:endParaRPr lang="zh-CN" altLang="en-US" sz="1100" b="1" spc="50" dirty="0">
              <a:ln w="22225">
                <a:solidFill>
                  <a:schemeClr val="accent2"/>
                </a:solidFill>
                <a:prstDash val="solid"/>
              </a:ln>
              <a:latin typeface="冬青黑体简体中文 W6"/>
              <a:ea typeface="冬青黑体简体中文 W6" panose="020B0600000000000000" pitchFamily="34" charset="-122"/>
              <a:cs typeface="Times New Roman" panose="02020603050405020304" pitchFamily="18" charset="0"/>
            </a:endParaRP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xmlns="" id="{B0EA110F-2BA5-44F1-BDF2-A8AD51CC83F5}"/>
              </a:ext>
            </a:extLst>
          </p:cNvPr>
          <p:cNvSpPr/>
          <p:nvPr/>
        </p:nvSpPr>
        <p:spPr>
          <a:xfrm>
            <a:off x="12993723" y="361950"/>
            <a:ext cx="167523" cy="412649"/>
          </a:xfrm>
          <a:prstGeom prst="rect">
            <a:avLst/>
          </a:prstGeom>
          <a:gradFill>
            <a:gsLst>
              <a:gs pos="0">
                <a:srgbClr val="0066FF"/>
              </a:gs>
              <a:gs pos="100000">
                <a:schemeClr val="accent1">
                  <a:lumMod val="100000"/>
                </a:schemeClr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矩形: 圆角 25">
            <a:extLst>
              <a:ext uri="{FF2B5EF4-FFF2-40B4-BE49-F238E27FC236}">
                <a16:creationId xmlns:a16="http://schemas.microsoft.com/office/drawing/2014/main" xmlns="" id="{D7400AB1-4BEC-40E5-A53B-E3CB1F48EB8A}"/>
              </a:ext>
            </a:extLst>
          </p:cNvPr>
          <p:cNvSpPr/>
          <p:nvPr/>
        </p:nvSpPr>
        <p:spPr>
          <a:xfrm>
            <a:off x="336177" y="293282"/>
            <a:ext cx="948448" cy="481317"/>
          </a:xfrm>
          <a:prstGeom prst="roundRect">
            <a:avLst/>
          </a:prstGeom>
          <a:gradFill>
            <a:gsLst>
              <a:gs pos="0">
                <a:srgbClr val="0066FF"/>
              </a:gs>
              <a:gs pos="100000">
                <a:schemeClr val="accent1">
                  <a:lumMod val="100000"/>
                </a:schemeClr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Bef>
                <a:spcPts val="800"/>
              </a:spcBef>
            </a:pPr>
            <a:r>
              <a:rPr kumimoji="1" lang="en-US" altLang="zh-CN" sz="2800" b="1" dirty="0" smtClean="0">
                <a:solidFill>
                  <a:schemeClr val="bg1"/>
                </a:solidFill>
                <a:latin typeface="Times New Roman" panose="02020603050405020304" pitchFamily="18" charset="0"/>
                <a:ea typeface="Microsoft YaHei" panose="020B0503020204020204" pitchFamily="34" charset="-122"/>
                <a:cs typeface="Times New Roman" panose="02020603050405020304" pitchFamily="18" charset="0"/>
              </a:rPr>
              <a:t>10.1</a:t>
            </a:r>
            <a:endParaRPr kumimoji="1" lang="zh-CN" altLang="en-US" sz="2800" b="1" dirty="0">
              <a:solidFill>
                <a:schemeClr val="bg1"/>
              </a:solidFill>
              <a:latin typeface="Times New Roman" panose="02020603050405020304" pitchFamily="18" charset="0"/>
              <a:ea typeface="Microsoft YaHei" panose="020B0503020204020204" pitchFamily="34" charset="-122"/>
              <a:cs typeface="Times New Roman" panose="02020603050405020304" pitchFamily="18" charset="0"/>
            </a:endParaRPr>
          </a:p>
        </p:txBody>
      </p:sp>
      <p:cxnSp>
        <p:nvCxnSpPr>
          <p:cNvPr id="17" name="直接连接符 58">
            <a:extLst>
              <a:ext uri="{FF2B5EF4-FFF2-40B4-BE49-F238E27FC236}">
                <a16:creationId xmlns:a16="http://schemas.microsoft.com/office/drawing/2014/main" xmlns="" id="{8C5F82EF-52B4-4531-96F0-44689EA1125E}"/>
              </a:ext>
            </a:extLst>
          </p:cNvPr>
          <p:cNvCxnSpPr>
            <a:cxnSpLocks/>
          </p:cNvCxnSpPr>
          <p:nvPr/>
        </p:nvCxnSpPr>
        <p:spPr>
          <a:xfrm flipV="1">
            <a:off x="1450506" y="695281"/>
            <a:ext cx="2999293" cy="15717"/>
          </a:xfrm>
          <a:prstGeom prst="line">
            <a:avLst/>
          </a:prstGeom>
          <a:ln w="19050" cmpd="dbl">
            <a:solidFill>
              <a:srgbClr val="3366FF">
                <a:alpha val="7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矩形 17">
            <a:extLst>
              <a:ext uri="{FF2B5EF4-FFF2-40B4-BE49-F238E27FC236}">
                <a16:creationId xmlns:a16="http://schemas.microsoft.com/office/drawing/2014/main" xmlns="" id="{82FE0EE3-DD34-4ECD-AB99-E9089285A34C}"/>
              </a:ext>
            </a:extLst>
          </p:cNvPr>
          <p:cNvSpPr/>
          <p:nvPr/>
        </p:nvSpPr>
        <p:spPr>
          <a:xfrm>
            <a:off x="11251918" y="293282"/>
            <a:ext cx="1741805" cy="523220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r"/>
            <a:r>
              <a:rPr lang="zh-CN" altLang="en-US" sz="2800" spc="20" dirty="0">
                <a:latin typeface="冬青黑体简体中文 W6" panose="020B0600000000000000" pitchFamily="34" charset="-122"/>
                <a:ea typeface="冬青黑体简体中文 W6" panose="020B0600000000000000" pitchFamily="34" charset="-122"/>
                <a:cs typeface="阿里巴巴普惠体 R" panose="00020600040101010101" pitchFamily="18" charset="-122"/>
              </a:rPr>
              <a:t>光电技术</a:t>
            </a:r>
          </a:p>
        </p:txBody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xmlns="" id="{942CFC6A-A6DB-0F43-9829-C9244014588C}"/>
              </a:ext>
            </a:extLst>
          </p:cNvPr>
          <p:cNvSpPr/>
          <p:nvPr/>
        </p:nvSpPr>
        <p:spPr>
          <a:xfrm flipV="1">
            <a:off x="0" y="7589506"/>
            <a:ext cx="10141249" cy="125744"/>
          </a:xfrm>
          <a:prstGeom prst="rect">
            <a:avLst/>
          </a:prstGeom>
          <a:gradFill flip="none" rotWithShape="1">
            <a:gsLst>
              <a:gs pos="0">
                <a:srgbClr val="1271FE"/>
              </a:gs>
              <a:gs pos="45000">
                <a:srgbClr val="6895F3"/>
              </a:gs>
              <a:gs pos="9000">
                <a:srgbClr val="3366FF"/>
              </a:gs>
              <a:gs pos="100000">
                <a:schemeClr val="accent1">
                  <a:lumMod val="60000"/>
                  <a:lumOff val="40000"/>
                </a:schemeClr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240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9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399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9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399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194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9947" grpId="0"/>
      <p:bldP spid="39952" grpId="0"/>
      <p:bldP spid="11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47" name="Rectangle 11"/>
          <p:cNvSpPr>
            <a:spLocks noChangeArrowheads="1"/>
          </p:cNvSpPr>
          <p:nvPr/>
        </p:nvSpPr>
        <p:spPr bwMode="auto">
          <a:xfrm>
            <a:off x="1057276" y="2047587"/>
            <a:ext cx="5257800" cy="5847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pPr defTabSz="914400"/>
            <a:r>
              <a:rPr lang="zh-CN" altLang="en-US" sz="3200" b="1" dirty="0">
                <a:solidFill>
                  <a:srgbClr val="FF0000"/>
                </a:solidFill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（</a:t>
            </a:r>
            <a:r>
              <a:rPr lang="en-US" altLang="en-US" sz="3200" b="1" dirty="0">
                <a:solidFill>
                  <a:srgbClr val="FF0000"/>
                </a:solidFill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2</a:t>
            </a:r>
            <a:r>
              <a:rPr lang="zh-CN" altLang="en-US" sz="3200" b="1" dirty="0">
                <a:solidFill>
                  <a:srgbClr val="FF0000"/>
                </a:solidFill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）浮动阈值二值化方法</a:t>
            </a:r>
          </a:p>
        </p:txBody>
      </p:sp>
      <p:sp>
        <p:nvSpPr>
          <p:cNvPr id="39952" name="Rectangle 16"/>
          <p:cNvSpPr>
            <a:spLocks noChangeArrowheads="1"/>
          </p:cNvSpPr>
          <p:nvPr/>
        </p:nvSpPr>
        <p:spPr bwMode="auto">
          <a:xfrm>
            <a:off x="857254" y="2986206"/>
            <a:ext cx="11744325" cy="33239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pPr defTabSz="914400">
              <a:lnSpc>
                <a:spcPct val="150000"/>
              </a:lnSpc>
            </a:pPr>
            <a:r>
              <a:rPr lang="zh-CN" altLang="en-US" sz="2800" b="1" dirty="0" smtClean="0">
                <a:latin typeface="微软雅黑" pitchFamily="34" charset="-122"/>
                <a:ea typeface="微软雅黑" pitchFamily="34" charset="-122"/>
              </a:rPr>
              <a:t>       软件</a:t>
            </a:r>
            <a:r>
              <a:rPr lang="zh-CN" altLang="en-US" sz="2800" b="1" dirty="0">
                <a:latin typeface="微软雅黑" pitchFamily="34" charset="-122"/>
                <a:ea typeface="微软雅黑" pitchFamily="34" charset="-122"/>
              </a:rPr>
              <a:t>采集到一行周期输出的数据后，</a:t>
            </a:r>
            <a:r>
              <a:rPr lang="zh-CN" altLang="en-US" sz="2800" b="1" dirty="0">
                <a:solidFill>
                  <a:srgbClr val="006600"/>
                </a:solidFill>
                <a:latin typeface="微软雅黑" pitchFamily="34" charset="-122"/>
                <a:ea typeface="微软雅黑" pitchFamily="34" charset="-122"/>
              </a:rPr>
              <a:t>根据背景光信号的</a:t>
            </a:r>
            <a:r>
              <a:rPr lang="zh-CN" altLang="en-US" sz="2800" b="1" dirty="0" smtClean="0">
                <a:solidFill>
                  <a:srgbClr val="006600"/>
                </a:solidFill>
                <a:latin typeface="微软雅黑" pitchFamily="34" charset="-122"/>
                <a:ea typeface="微软雅黑" pitchFamily="34" charset="-122"/>
              </a:rPr>
              <a:t>强度设置</a:t>
            </a:r>
            <a:r>
              <a:rPr lang="zh-CN" altLang="en-US" sz="2800" b="1" dirty="0">
                <a:solidFill>
                  <a:srgbClr val="006600"/>
                </a:solidFill>
                <a:latin typeface="微软雅黑" pitchFamily="34" charset="-122"/>
                <a:ea typeface="微软雅黑" pitchFamily="34" charset="-122"/>
              </a:rPr>
              <a:t>阈值</a:t>
            </a:r>
            <a:r>
              <a:rPr lang="zh-CN" altLang="en-US" sz="2800" b="1" dirty="0">
                <a:latin typeface="微软雅黑" pitchFamily="34" charset="-122"/>
                <a:ea typeface="微软雅黑" pitchFamily="34" charset="-122"/>
              </a:rPr>
              <a:t>，该阈值可以根据背景光幅值的百分比来设置，因此所设置的阈值将跟随背景光的变化而变化，即随背景光的强弱浮动。在一定程度上消除了背景光的不稳定带来的误差。另外软件还可以采用多次平均、叠加的算法提高测量的稳定性和精度。</a:t>
            </a:r>
          </a:p>
        </p:txBody>
      </p:sp>
      <p:sp>
        <p:nvSpPr>
          <p:cNvPr id="10" name="Rectangle 10"/>
          <p:cNvSpPr>
            <a:spLocks noChangeArrowheads="1"/>
          </p:cNvSpPr>
          <p:nvPr/>
        </p:nvSpPr>
        <p:spPr bwMode="auto">
          <a:xfrm>
            <a:off x="4405313" y="1106379"/>
            <a:ext cx="5500687" cy="646331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 anchor="ctr">
            <a:spAutoFit/>
          </a:bodyPr>
          <a:lstStyle/>
          <a:p>
            <a:pPr defTabSz="914400" eaLnBrk="0" hangingPunct="0"/>
            <a:r>
              <a:rPr lang="en-US" altLang="zh-CN" sz="3600" b="1" dirty="0">
                <a:solidFill>
                  <a:srgbClr val="0000CC"/>
                </a:solidFill>
                <a:latin typeface="Times New Roman" pitchFamily="18" charset="0"/>
                <a:ea typeface="黑体" pitchFamily="2" charset="-122"/>
                <a:cs typeface="Times New Roman" pitchFamily="18" charset="0"/>
              </a:rPr>
              <a:t>2. </a:t>
            </a:r>
            <a:r>
              <a:rPr lang="zh-CN" altLang="en-US" sz="3600" b="1" dirty="0">
                <a:solidFill>
                  <a:srgbClr val="0000CC"/>
                </a:solidFill>
                <a:latin typeface="Times New Roman" pitchFamily="18" charset="0"/>
                <a:ea typeface="黑体" pitchFamily="2" charset="-122"/>
                <a:cs typeface="Times New Roman" pitchFamily="18" charset="0"/>
              </a:rPr>
              <a:t>软件二值化处理方法</a:t>
            </a:r>
          </a:p>
        </p:txBody>
      </p:sp>
      <p:sp>
        <p:nvSpPr>
          <p:cNvPr id="12" name="文本框 60">
            <a:extLst>
              <a:ext uri="{FF2B5EF4-FFF2-40B4-BE49-F238E27FC236}">
                <a16:creationId xmlns:a16="http://schemas.microsoft.com/office/drawing/2014/main" xmlns="" id="{791D85D7-F412-9C48-9F2B-E33F5B7B4F3C}"/>
              </a:ext>
            </a:extLst>
          </p:cNvPr>
          <p:cNvSpPr txBox="1"/>
          <p:nvPr/>
        </p:nvSpPr>
        <p:spPr>
          <a:xfrm>
            <a:off x="1364780" y="293282"/>
            <a:ext cx="4560031" cy="369332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/>
          <a:p>
            <a:r>
              <a:rPr lang="zh-CN" altLang="en-US" sz="1800" b="1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用于三维复合精细成像的双</a:t>
            </a:r>
            <a:r>
              <a:rPr lang="en-US" altLang="zh-CN" sz="1800" b="1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CCD</a:t>
            </a:r>
            <a:r>
              <a:rPr lang="zh-CN" altLang="en-US" sz="1800" b="1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交会测量</a:t>
            </a:r>
            <a:endParaRPr lang="zh-CN" altLang="en-US" sz="18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3" name="矩形 12"/>
          <p:cNvSpPr/>
          <p:nvPr/>
        </p:nvSpPr>
        <p:spPr>
          <a:xfrm>
            <a:off x="10256520" y="329189"/>
            <a:ext cx="1211081" cy="451406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>
              <a:lnSpc>
                <a:spcPts val="1400"/>
              </a:lnSpc>
            </a:pPr>
            <a:r>
              <a:rPr lang="en-US" altLang="zh-CN" sz="1100" b="1" spc="50" dirty="0">
                <a:latin typeface="冬青黑体简体中文 W6"/>
                <a:ea typeface="冬青黑体简体中文 W6" panose="020B0600000000000000" pitchFamily="34" charset="-122"/>
                <a:cs typeface="Times New Roman" panose="02020603050405020304" pitchFamily="18" charset="0"/>
              </a:rPr>
              <a:t>Photoelectric</a:t>
            </a:r>
          </a:p>
          <a:p>
            <a:pPr>
              <a:lnSpc>
                <a:spcPts val="1400"/>
              </a:lnSpc>
            </a:pPr>
            <a:r>
              <a:rPr lang="en-US" altLang="zh-CN" sz="1100" b="1" spc="50" dirty="0">
                <a:latin typeface="冬青黑体简体中文 W6"/>
                <a:ea typeface="冬青黑体简体中文 W6" panose="020B0600000000000000" pitchFamily="34" charset="-122"/>
                <a:cs typeface="Times New Roman" panose="02020603050405020304" pitchFamily="18" charset="0"/>
              </a:rPr>
              <a:t>Technology</a:t>
            </a:r>
            <a:endParaRPr lang="zh-CN" altLang="en-US" sz="1100" b="1" spc="50" dirty="0">
              <a:ln w="22225">
                <a:solidFill>
                  <a:schemeClr val="accent2"/>
                </a:solidFill>
                <a:prstDash val="solid"/>
              </a:ln>
              <a:latin typeface="冬青黑体简体中文 W6"/>
              <a:ea typeface="冬青黑体简体中文 W6" panose="020B0600000000000000" pitchFamily="34" charset="-122"/>
              <a:cs typeface="Times New Roman" panose="02020603050405020304" pitchFamily="18" charset="0"/>
            </a:endParaRP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xmlns="" id="{B0EA110F-2BA5-44F1-BDF2-A8AD51CC83F5}"/>
              </a:ext>
            </a:extLst>
          </p:cNvPr>
          <p:cNvSpPr/>
          <p:nvPr/>
        </p:nvSpPr>
        <p:spPr>
          <a:xfrm>
            <a:off x="12993723" y="361950"/>
            <a:ext cx="167523" cy="412649"/>
          </a:xfrm>
          <a:prstGeom prst="rect">
            <a:avLst/>
          </a:prstGeom>
          <a:gradFill>
            <a:gsLst>
              <a:gs pos="0">
                <a:srgbClr val="0066FF"/>
              </a:gs>
              <a:gs pos="100000">
                <a:schemeClr val="accent1">
                  <a:lumMod val="100000"/>
                </a:schemeClr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5" name="矩形: 圆角 25">
            <a:extLst>
              <a:ext uri="{FF2B5EF4-FFF2-40B4-BE49-F238E27FC236}">
                <a16:creationId xmlns:a16="http://schemas.microsoft.com/office/drawing/2014/main" xmlns="" id="{D7400AB1-4BEC-40E5-A53B-E3CB1F48EB8A}"/>
              </a:ext>
            </a:extLst>
          </p:cNvPr>
          <p:cNvSpPr/>
          <p:nvPr/>
        </p:nvSpPr>
        <p:spPr>
          <a:xfrm>
            <a:off x="336177" y="293282"/>
            <a:ext cx="948448" cy="481317"/>
          </a:xfrm>
          <a:prstGeom prst="roundRect">
            <a:avLst/>
          </a:prstGeom>
          <a:gradFill>
            <a:gsLst>
              <a:gs pos="0">
                <a:srgbClr val="0066FF"/>
              </a:gs>
              <a:gs pos="100000">
                <a:schemeClr val="accent1">
                  <a:lumMod val="100000"/>
                </a:schemeClr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Bef>
                <a:spcPts val="800"/>
              </a:spcBef>
            </a:pPr>
            <a:r>
              <a:rPr kumimoji="1" lang="en-US" altLang="zh-CN" sz="2800" b="1" dirty="0" smtClean="0">
                <a:solidFill>
                  <a:schemeClr val="bg1"/>
                </a:solidFill>
                <a:latin typeface="Times New Roman" panose="02020603050405020304" pitchFamily="18" charset="0"/>
                <a:ea typeface="Microsoft YaHei" panose="020B0503020204020204" pitchFamily="34" charset="-122"/>
                <a:cs typeface="Times New Roman" panose="02020603050405020304" pitchFamily="18" charset="0"/>
              </a:rPr>
              <a:t>10.1</a:t>
            </a:r>
            <a:endParaRPr kumimoji="1" lang="zh-CN" altLang="en-US" sz="2800" b="1" dirty="0">
              <a:solidFill>
                <a:schemeClr val="bg1"/>
              </a:solidFill>
              <a:latin typeface="Times New Roman" panose="02020603050405020304" pitchFamily="18" charset="0"/>
              <a:ea typeface="Microsoft YaHei" panose="020B0503020204020204" pitchFamily="34" charset="-122"/>
              <a:cs typeface="Times New Roman" panose="02020603050405020304" pitchFamily="18" charset="0"/>
            </a:endParaRPr>
          </a:p>
        </p:txBody>
      </p:sp>
      <p:cxnSp>
        <p:nvCxnSpPr>
          <p:cNvPr id="16" name="直接连接符 58">
            <a:extLst>
              <a:ext uri="{FF2B5EF4-FFF2-40B4-BE49-F238E27FC236}">
                <a16:creationId xmlns:a16="http://schemas.microsoft.com/office/drawing/2014/main" xmlns="" id="{8C5F82EF-52B4-4531-96F0-44689EA1125E}"/>
              </a:ext>
            </a:extLst>
          </p:cNvPr>
          <p:cNvCxnSpPr>
            <a:cxnSpLocks/>
          </p:cNvCxnSpPr>
          <p:nvPr/>
        </p:nvCxnSpPr>
        <p:spPr>
          <a:xfrm flipV="1">
            <a:off x="1450506" y="695281"/>
            <a:ext cx="2999293" cy="15717"/>
          </a:xfrm>
          <a:prstGeom prst="line">
            <a:avLst/>
          </a:prstGeom>
          <a:ln w="19050" cmpd="dbl">
            <a:solidFill>
              <a:srgbClr val="3366FF">
                <a:alpha val="7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矩形 16">
            <a:extLst>
              <a:ext uri="{FF2B5EF4-FFF2-40B4-BE49-F238E27FC236}">
                <a16:creationId xmlns:a16="http://schemas.microsoft.com/office/drawing/2014/main" xmlns="" id="{82FE0EE3-DD34-4ECD-AB99-E9089285A34C}"/>
              </a:ext>
            </a:extLst>
          </p:cNvPr>
          <p:cNvSpPr/>
          <p:nvPr/>
        </p:nvSpPr>
        <p:spPr>
          <a:xfrm>
            <a:off x="11251918" y="293282"/>
            <a:ext cx="1741805" cy="523220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r"/>
            <a:r>
              <a:rPr lang="zh-CN" altLang="en-US" sz="2800" spc="20" dirty="0">
                <a:latin typeface="冬青黑体简体中文 W6" panose="020B0600000000000000" pitchFamily="34" charset="-122"/>
                <a:ea typeface="冬青黑体简体中文 W6" panose="020B0600000000000000" pitchFamily="34" charset="-122"/>
                <a:cs typeface="阿里巴巴普惠体 R" panose="00020600040101010101" pitchFamily="18" charset="-122"/>
              </a:rPr>
              <a:t>光电技术</a:t>
            </a:r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xmlns="" id="{942CFC6A-A6DB-0F43-9829-C9244014588C}"/>
              </a:ext>
            </a:extLst>
          </p:cNvPr>
          <p:cNvSpPr/>
          <p:nvPr/>
        </p:nvSpPr>
        <p:spPr>
          <a:xfrm flipV="1">
            <a:off x="0" y="7589506"/>
            <a:ext cx="10141249" cy="125744"/>
          </a:xfrm>
          <a:prstGeom prst="rect">
            <a:avLst/>
          </a:prstGeom>
          <a:gradFill flip="none" rotWithShape="1">
            <a:gsLst>
              <a:gs pos="0">
                <a:srgbClr val="1271FE"/>
              </a:gs>
              <a:gs pos="45000">
                <a:srgbClr val="6895F3"/>
              </a:gs>
              <a:gs pos="9000">
                <a:srgbClr val="3366FF"/>
              </a:gs>
              <a:gs pos="100000">
                <a:schemeClr val="accent1">
                  <a:lumMod val="60000"/>
                  <a:lumOff val="40000"/>
                </a:schemeClr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240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9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399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9952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47" name="Rectangle 11"/>
          <p:cNvSpPr>
            <a:spLocks noChangeArrowheads="1"/>
          </p:cNvSpPr>
          <p:nvPr/>
        </p:nvSpPr>
        <p:spPr bwMode="auto">
          <a:xfrm>
            <a:off x="876301" y="2028538"/>
            <a:ext cx="4667250" cy="5847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pPr defTabSz="914400"/>
            <a:r>
              <a:rPr lang="zh-CN" altLang="en-US" sz="3200" b="1" dirty="0">
                <a:solidFill>
                  <a:srgbClr val="FF0000"/>
                </a:solidFill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（</a:t>
            </a:r>
            <a:r>
              <a:rPr lang="en-US" altLang="en-US" sz="3200" b="1" dirty="0">
                <a:solidFill>
                  <a:srgbClr val="FF0000"/>
                </a:solidFill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3</a:t>
            </a:r>
            <a:r>
              <a:rPr lang="zh-CN" altLang="en-US" sz="3200" b="1" dirty="0">
                <a:solidFill>
                  <a:srgbClr val="FF0000"/>
                </a:solidFill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）微分二值化方法</a:t>
            </a:r>
          </a:p>
        </p:txBody>
      </p:sp>
      <p:sp>
        <p:nvSpPr>
          <p:cNvPr id="39952" name="Rectangle 16"/>
          <p:cNvSpPr>
            <a:spLocks noChangeArrowheads="1"/>
          </p:cNvSpPr>
          <p:nvPr/>
        </p:nvSpPr>
        <p:spPr bwMode="auto">
          <a:xfrm>
            <a:off x="947739" y="2729716"/>
            <a:ext cx="6553200" cy="397031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pPr defTabSz="914400">
              <a:lnSpc>
                <a:spcPct val="150000"/>
              </a:lnSpc>
            </a:pPr>
            <a:r>
              <a:rPr lang="zh-CN" altLang="en-US" sz="2800" b="1" dirty="0" smtClean="0"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       线阵</a:t>
            </a:r>
            <a:r>
              <a:rPr lang="en-US" altLang="zh-CN" sz="2800" b="1" dirty="0"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CCD</a:t>
            </a:r>
            <a:r>
              <a:rPr lang="zh-CN" altLang="en-US" sz="2800" b="1" dirty="0"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输出的载有被测物体边界信息的电压信号</a:t>
            </a:r>
            <a:r>
              <a:rPr lang="en-US" altLang="zh-CN" sz="2800" b="1" i="1" dirty="0"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U</a:t>
            </a:r>
            <a:r>
              <a:rPr lang="en-US" altLang="zh-CN" sz="2800" b="1" baseline="-25000" dirty="0"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O</a:t>
            </a:r>
            <a:r>
              <a:rPr lang="zh-CN" altLang="en-US" sz="2800" b="1" dirty="0"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经数据采集系统送入计算机，该信号的一次微分结果记为</a:t>
            </a:r>
            <a:r>
              <a:rPr lang="en-US" altLang="zh-CN" sz="2800" b="1" i="1" dirty="0"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U</a:t>
            </a:r>
            <a:r>
              <a:rPr lang="en-US" altLang="zh-CN" sz="2800" b="1" baseline="-25000" dirty="0"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W</a:t>
            </a:r>
            <a:r>
              <a:rPr lang="zh-CN" altLang="en-US" sz="2800" b="1" dirty="0"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，二次微分结果记为</a:t>
            </a:r>
            <a:r>
              <a:rPr lang="en-US" altLang="zh-CN" sz="2800" b="1" i="1" dirty="0"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U</a:t>
            </a:r>
            <a:r>
              <a:rPr lang="en-US" altLang="zh-CN" sz="2800" b="1" baseline="-25000" dirty="0"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RW</a:t>
            </a:r>
            <a:r>
              <a:rPr lang="zh-CN" altLang="en-US" sz="2800" b="1" dirty="0"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，由此可以采用</a:t>
            </a:r>
            <a:r>
              <a:rPr lang="zh-CN" altLang="en-US" sz="2800" b="1" dirty="0">
                <a:solidFill>
                  <a:srgbClr val="006600"/>
                </a:solidFill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提取一次微分信号的峰值或者二次微分信号的过零点作为边界信息</a:t>
            </a:r>
            <a:r>
              <a:rPr lang="zh-CN" altLang="en-US" sz="2800" b="1" dirty="0"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。</a:t>
            </a:r>
          </a:p>
        </p:txBody>
      </p:sp>
      <p:graphicFrame>
        <p:nvGraphicFramePr>
          <p:cNvPr id="21518" name="Object 14"/>
          <p:cNvGraphicFramePr>
            <a:graphicFrameLocks noChangeAspect="1"/>
          </p:cNvGraphicFramePr>
          <p:nvPr/>
        </p:nvGraphicFramePr>
        <p:xfrm>
          <a:off x="8615361" y="2498725"/>
          <a:ext cx="3643313" cy="3884762"/>
        </p:xfrm>
        <a:graphic>
          <a:graphicData uri="http://schemas.openxmlformats.org/presentationml/2006/ole">
            <p:oleObj spid="_x0000_s21518" name="Visio" r:id="rId3" imgW="1505880" imgH="1598040" progId="">
              <p:embed/>
            </p:oleObj>
          </a:graphicData>
        </a:graphic>
      </p:graphicFrame>
      <p:sp>
        <p:nvSpPr>
          <p:cNvPr id="11" name="Rectangle 10"/>
          <p:cNvSpPr>
            <a:spLocks noChangeArrowheads="1"/>
          </p:cNvSpPr>
          <p:nvPr/>
        </p:nvSpPr>
        <p:spPr bwMode="auto">
          <a:xfrm>
            <a:off x="4405313" y="1106379"/>
            <a:ext cx="5500687" cy="646331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 anchor="ctr">
            <a:spAutoFit/>
          </a:bodyPr>
          <a:lstStyle/>
          <a:p>
            <a:pPr defTabSz="914400" eaLnBrk="0" hangingPunct="0"/>
            <a:r>
              <a:rPr lang="en-US" altLang="zh-CN" sz="3600" b="1" dirty="0">
                <a:solidFill>
                  <a:srgbClr val="0000CC"/>
                </a:solidFill>
                <a:latin typeface="Times New Roman" pitchFamily="18" charset="0"/>
                <a:ea typeface="黑体" pitchFamily="2" charset="-122"/>
                <a:cs typeface="Times New Roman" pitchFamily="18" charset="0"/>
              </a:rPr>
              <a:t>2. </a:t>
            </a:r>
            <a:r>
              <a:rPr lang="zh-CN" altLang="en-US" sz="3600" b="1" dirty="0">
                <a:solidFill>
                  <a:srgbClr val="0000CC"/>
                </a:solidFill>
                <a:latin typeface="Times New Roman" pitchFamily="18" charset="0"/>
                <a:ea typeface="黑体" pitchFamily="2" charset="-122"/>
                <a:cs typeface="Times New Roman" pitchFamily="18" charset="0"/>
              </a:rPr>
              <a:t>软件二值化处理方法</a:t>
            </a:r>
          </a:p>
        </p:txBody>
      </p:sp>
      <p:sp>
        <p:nvSpPr>
          <p:cNvPr id="13" name="文本框 60">
            <a:extLst>
              <a:ext uri="{FF2B5EF4-FFF2-40B4-BE49-F238E27FC236}">
                <a16:creationId xmlns:a16="http://schemas.microsoft.com/office/drawing/2014/main" xmlns="" id="{791D85D7-F412-9C48-9F2B-E33F5B7B4F3C}"/>
              </a:ext>
            </a:extLst>
          </p:cNvPr>
          <p:cNvSpPr txBox="1"/>
          <p:nvPr/>
        </p:nvSpPr>
        <p:spPr>
          <a:xfrm>
            <a:off x="1364780" y="293282"/>
            <a:ext cx="4560031" cy="369332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/>
          <a:p>
            <a:r>
              <a:rPr lang="zh-CN" altLang="en-US" sz="1800" b="1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用于三维复合精细成像的双</a:t>
            </a:r>
            <a:r>
              <a:rPr lang="en-US" altLang="zh-CN" sz="1800" b="1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CCD</a:t>
            </a:r>
            <a:r>
              <a:rPr lang="zh-CN" altLang="en-US" sz="1800" b="1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交会测量</a:t>
            </a:r>
            <a:endParaRPr lang="zh-CN" altLang="en-US" sz="18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4" name="矩形 13"/>
          <p:cNvSpPr/>
          <p:nvPr/>
        </p:nvSpPr>
        <p:spPr>
          <a:xfrm>
            <a:off x="10256520" y="329189"/>
            <a:ext cx="1211081" cy="451406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>
              <a:lnSpc>
                <a:spcPts val="1400"/>
              </a:lnSpc>
            </a:pPr>
            <a:r>
              <a:rPr lang="en-US" altLang="zh-CN" sz="1100" b="1" spc="50" dirty="0">
                <a:latin typeface="冬青黑体简体中文 W6"/>
                <a:ea typeface="冬青黑体简体中文 W6" panose="020B0600000000000000" pitchFamily="34" charset="-122"/>
                <a:cs typeface="Times New Roman" panose="02020603050405020304" pitchFamily="18" charset="0"/>
              </a:rPr>
              <a:t>Photoelectric</a:t>
            </a:r>
          </a:p>
          <a:p>
            <a:pPr>
              <a:lnSpc>
                <a:spcPts val="1400"/>
              </a:lnSpc>
            </a:pPr>
            <a:r>
              <a:rPr lang="en-US" altLang="zh-CN" sz="1100" b="1" spc="50" dirty="0">
                <a:latin typeface="冬青黑体简体中文 W6"/>
                <a:ea typeface="冬青黑体简体中文 W6" panose="020B0600000000000000" pitchFamily="34" charset="-122"/>
                <a:cs typeface="Times New Roman" panose="02020603050405020304" pitchFamily="18" charset="0"/>
              </a:rPr>
              <a:t>Technology</a:t>
            </a:r>
            <a:endParaRPr lang="zh-CN" altLang="en-US" sz="1100" b="1" spc="50" dirty="0">
              <a:ln w="22225">
                <a:solidFill>
                  <a:schemeClr val="accent2"/>
                </a:solidFill>
                <a:prstDash val="solid"/>
              </a:ln>
              <a:latin typeface="冬青黑体简体中文 W6"/>
              <a:ea typeface="冬青黑体简体中文 W6" panose="020B0600000000000000" pitchFamily="34" charset="-122"/>
              <a:cs typeface="Times New Roman" panose="02020603050405020304" pitchFamily="18" charset="0"/>
            </a:endParaRP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xmlns="" id="{B0EA110F-2BA5-44F1-BDF2-A8AD51CC83F5}"/>
              </a:ext>
            </a:extLst>
          </p:cNvPr>
          <p:cNvSpPr/>
          <p:nvPr/>
        </p:nvSpPr>
        <p:spPr>
          <a:xfrm>
            <a:off x="12993723" y="361950"/>
            <a:ext cx="167523" cy="412649"/>
          </a:xfrm>
          <a:prstGeom prst="rect">
            <a:avLst/>
          </a:prstGeom>
          <a:gradFill>
            <a:gsLst>
              <a:gs pos="0">
                <a:srgbClr val="0066FF"/>
              </a:gs>
              <a:gs pos="100000">
                <a:schemeClr val="accent1">
                  <a:lumMod val="100000"/>
                </a:schemeClr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矩形: 圆角 25">
            <a:extLst>
              <a:ext uri="{FF2B5EF4-FFF2-40B4-BE49-F238E27FC236}">
                <a16:creationId xmlns:a16="http://schemas.microsoft.com/office/drawing/2014/main" xmlns="" id="{D7400AB1-4BEC-40E5-A53B-E3CB1F48EB8A}"/>
              </a:ext>
            </a:extLst>
          </p:cNvPr>
          <p:cNvSpPr/>
          <p:nvPr/>
        </p:nvSpPr>
        <p:spPr>
          <a:xfrm>
            <a:off x="336177" y="293282"/>
            <a:ext cx="948448" cy="481317"/>
          </a:xfrm>
          <a:prstGeom prst="roundRect">
            <a:avLst/>
          </a:prstGeom>
          <a:gradFill>
            <a:gsLst>
              <a:gs pos="0">
                <a:srgbClr val="0066FF"/>
              </a:gs>
              <a:gs pos="100000">
                <a:schemeClr val="accent1">
                  <a:lumMod val="100000"/>
                </a:schemeClr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Bef>
                <a:spcPts val="800"/>
              </a:spcBef>
            </a:pPr>
            <a:r>
              <a:rPr kumimoji="1" lang="en-US" altLang="zh-CN" sz="2800" b="1" dirty="0" smtClean="0">
                <a:solidFill>
                  <a:schemeClr val="bg1"/>
                </a:solidFill>
                <a:latin typeface="Times New Roman" panose="02020603050405020304" pitchFamily="18" charset="0"/>
                <a:ea typeface="Microsoft YaHei" panose="020B0503020204020204" pitchFamily="34" charset="-122"/>
                <a:cs typeface="Times New Roman" panose="02020603050405020304" pitchFamily="18" charset="0"/>
              </a:rPr>
              <a:t>10.1</a:t>
            </a:r>
            <a:endParaRPr kumimoji="1" lang="zh-CN" altLang="en-US" sz="2800" b="1" dirty="0">
              <a:solidFill>
                <a:schemeClr val="bg1"/>
              </a:solidFill>
              <a:latin typeface="Times New Roman" panose="02020603050405020304" pitchFamily="18" charset="0"/>
              <a:ea typeface="Microsoft YaHei" panose="020B0503020204020204" pitchFamily="34" charset="-122"/>
              <a:cs typeface="Times New Roman" panose="02020603050405020304" pitchFamily="18" charset="0"/>
            </a:endParaRPr>
          </a:p>
        </p:txBody>
      </p:sp>
      <p:cxnSp>
        <p:nvCxnSpPr>
          <p:cNvPr id="17" name="直接连接符 58">
            <a:extLst>
              <a:ext uri="{FF2B5EF4-FFF2-40B4-BE49-F238E27FC236}">
                <a16:creationId xmlns:a16="http://schemas.microsoft.com/office/drawing/2014/main" xmlns="" id="{8C5F82EF-52B4-4531-96F0-44689EA1125E}"/>
              </a:ext>
            </a:extLst>
          </p:cNvPr>
          <p:cNvCxnSpPr>
            <a:cxnSpLocks/>
          </p:cNvCxnSpPr>
          <p:nvPr/>
        </p:nvCxnSpPr>
        <p:spPr>
          <a:xfrm flipV="1">
            <a:off x="1450506" y="695281"/>
            <a:ext cx="2999293" cy="15717"/>
          </a:xfrm>
          <a:prstGeom prst="line">
            <a:avLst/>
          </a:prstGeom>
          <a:ln w="19050" cmpd="dbl">
            <a:solidFill>
              <a:srgbClr val="3366FF">
                <a:alpha val="7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矩形 17">
            <a:extLst>
              <a:ext uri="{FF2B5EF4-FFF2-40B4-BE49-F238E27FC236}">
                <a16:creationId xmlns:a16="http://schemas.microsoft.com/office/drawing/2014/main" xmlns="" id="{82FE0EE3-DD34-4ECD-AB99-E9089285A34C}"/>
              </a:ext>
            </a:extLst>
          </p:cNvPr>
          <p:cNvSpPr/>
          <p:nvPr/>
        </p:nvSpPr>
        <p:spPr>
          <a:xfrm>
            <a:off x="11251918" y="293282"/>
            <a:ext cx="1741805" cy="523220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r"/>
            <a:r>
              <a:rPr lang="zh-CN" altLang="en-US" sz="2800" spc="20" dirty="0">
                <a:latin typeface="冬青黑体简体中文 W6" panose="020B0600000000000000" pitchFamily="34" charset="-122"/>
                <a:ea typeface="冬青黑体简体中文 W6" panose="020B0600000000000000" pitchFamily="34" charset="-122"/>
                <a:cs typeface="阿里巴巴普惠体 R" panose="00020600040101010101" pitchFamily="18" charset="-122"/>
              </a:rPr>
              <a:t>光电技术</a:t>
            </a:r>
          </a:p>
        </p:txBody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xmlns="" id="{942CFC6A-A6DB-0F43-9829-C9244014588C}"/>
              </a:ext>
            </a:extLst>
          </p:cNvPr>
          <p:cNvSpPr/>
          <p:nvPr/>
        </p:nvSpPr>
        <p:spPr>
          <a:xfrm flipV="1">
            <a:off x="0" y="7589506"/>
            <a:ext cx="10141249" cy="125744"/>
          </a:xfrm>
          <a:prstGeom prst="rect">
            <a:avLst/>
          </a:prstGeom>
          <a:gradFill flip="none" rotWithShape="1">
            <a:gsLst>
              <a:gs pos="0">
                <a:srgbClr val="1271FE"/>
              </a:gs>
              <a:gs pos="45000">
                <a:srgbClr val="6895F3"/>
              </a:gs>
              <a:gs pos="9000">
                <a:srgbClr val="3366FF"/>
              </a:gs>
              <a:gs pos="100000">
                <a:schemeClr val="accent1">
                  <a:lumMod val="60000"/>
                  <a:lumOff val="40000"/>
                </a:schemeClr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240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9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399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215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9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399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9947" grpId="0"/>
      <p:bldP spid="39952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6" name="Rectangle 10"/>
          <p:cNvSpPr>
            <a:spLocks noChangeArrowheads="1"/>
          </p:cNvSpPr>
          <p:nvPr/>
        </p:nvSpPr>
        <p:spPr bwMode="auto">
          <a:xfrm>
            <a:off x="4305301" y="1144479"/>
            <a:ext cx="5500687" cy="646331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 anchor="ctr">
            <a:spAutoFit/>
          </a:bodyPr>
          <a:lstStyle/>
          <a:p>
            <a:pPr defTabSz="914400" eaLnBrk="0" hangingPunct="0"/>
            <a:r>
              <a:rPr lang="en-US" altLang="zh-CN" sz="3600" b="1" dirty="0">
                <a:solidFill>
                  <a:srgbClr val="0000CC"/>
                </a:solidFill>
                <a:latin typeface="Times New Roman" pitchFamily="18" charset="0"/>
                <a:ea typeface="微软雅黑" pitchFamily="34" charset="-122"/>
              </a:rPr>
              <a:t>3. </a:t>
            </a:r>
            <a:r>
              <a:rPr lang="zh-CN" altLang="en-US" sz="3600" b="1" dirty="0">
                <a:solidFill>
                  <a:srgbClr val="0000CC"/>
                </a:solidFill>
                <a:latin typeface="Times New Roman" pitchFamily="18" charset="0"/>
                <a:ea typeface="微软雅黑" pitchFamily="34" charset="-122"/>
              </a:rPr>
              <a:t>线阵</a:t>
            </a:r>
            <a:r>
              <a:rPr lang="en-US" altLang="zh-CN" sz="3600" b="1" dirty="0">
                <a:solidFill>
                  <a:srgbClr val="0000CC"/>
                </a:solidFill>
                <a:latin typeface="Times New Roman" pitchFamily="18" charset="0"/>
                <a:ea typeface="微软雅黑" pitchFamily="34" charset="-122"/>
              </a:rPr>
              <a:t>CCD</a:t>
            </a:r>
            <a:r>
              <a:rPr lang="zh-CN" altLang="en-US" sz="3600" b="1" dirty="0">
                <a:solidFill>
                  <a:srgbClr val="0000CC"/>
                </a:solidFill>
                <a:latin typeface="Times New Roman" pitchFamily="18" charset="0"/>
                <a:ea typeface="微软雅黑" pitchFamily="34" charset="-122"/>
              </a:rPr>
              <a:t>的数据采集</a:t>
            </a:r>
          </a:p>
        </p:txBody>
      </p:sp>
      <p:sp>
        <p:nvSpPr>
          <p:cNvPr id="39952" name="Rectangle 16"/>
          <p:cNvSpPr>
            <a:spLocks noChangeArrowheads="1"/>
          </p:cNvSpPr>
          <p:nvPr/>
        </p:nvSpPr>
        <p:spPr bwMode="auto">
          <a:xfrm>
            <a:off x="862022" y="2017362"/>
            <a:ext cx="12325350" cy="138499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pPr defTabSz="914400">
              <a:lnSpc>
                <a:spcPct val="150000"/>
              </a:lnSpc>
            </a:pPr>
            <a:r>
              <a:rPr lang="zh-CN" altLang="en-US" sz="2800" b="1" dirty="0" smtClean="0"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         在</a:t>
            </a:r>
            <a:r>
              <a:rPr lang="zh-CN" altLang="en-US" sz="2800" b="1" dirty="0"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定量分析线阵</a:t>
            </a:r>
            <a:r>
              <a:rPr lang="en-US" altLang="zh-CN" sz="2800" b="1" dirty="0"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CCD</a:t>
            </a:r>
            <a:r>
              <a:rPr lang="zh-CN" altLang="en-US" sz="2800" b="1" dirty="0"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输出信号幅值时，需要对线阵</a:t>
            </a:r>
            <a:r>
              <a:rPr lang="en-US" altLang="zh-CN" sz="2800" b="1" dirty="0"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CCD</a:t>
            </a:r>
            <a:r>
              <a:rPr lang="zh-CN" altLang="en-US" sz="2800" b="1" dirty="0"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输出信号进行</a:t>
            </a:r>
            <a:r>
              <a:rPr lang="en-US" altLang="zh-CN" sz="2800" b="1" dirty="0">
                <a:solidFill>
                  <a:srgbClr val="FF0000"/>
                </a:solidFill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A/D</a:t>
            </a:r>
            <a:r>
              <a:rPr lang="zh-CN" altLang="en-US" sz="2800" b="1" dirty="0">
                <a:solidFill>
                  <a:srgbClr val="FF0000"/>
                </a:solidFill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数据采集</a:t>
            </a:r>
            <a:r>
              <a:rPr lang="zh-CN" altLang="en-US" sz="2800" b="1" dirty="0"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。</a:t>
            </a:r>
          </a:p>
        </p:txBody>
      </p:sp>
      <p:sp>
        <p:nvSpPr>
          <p:cNvPr id="22538" name="Rectangle 17"/>
          <p:cNvSpPr>
            <a:spLocks noChangeArrowheads="1"/>
          </p:cNvSpPr>
          <p:nvPr/>
        </p:nvSpPr>
        <p:spPr bwMode="auto">
          <a:xfrm>
            <a:off x="304800" y="1296988"/>
            <a:ext cx="247650" cy="244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pPr defTabSz="914400" eaLnBrk="0" hangingPunct="0"/>
            <a:r>
              <a:rPr lang="zh-CN" altLang="zh-CN" sz="1000" b="1">
                <a:latin typeface="楷体_GB2312" pitchFamily="49" charset="-122"/>
                <a:ea typeface="楷体_GB2312" pitchFamily="49" charset="-122"/>
              </a:rPr>
              <a:t> </a:t>
            </a:r>
            <a:endParaRPr lang="zh-CN" altLang="zh-CN" sz="2800" b="1">
              <a:latin typeface="楷体_GB2312" pitchFamily="49" charset="-122"/>
              <a:ea typeface="楷体_GB2312" pitchFamily="49" charset="-122"/>
            </a:endParaRPr>
          </a:p>
        </p:txBody>
      </p:sp>
      <p:graphicFrame>
        <p:nvGraphicFramePr>
          <p:cNvPr id="22540" name="Object 12"/>
          <p:cNvGraphicFramePr>
            <a:graphicFrameLocks noChangeAspect="1"/>
          </p:cNvGraphicFramePr>
          <p:nvPr/>
        </p:nvGraphicFramePr>
        <p:xfrm>
          <a:off x="3741738" y="3586163"/>
          <a:ext cx="5400675" cy="3081337"/>
        </p:xfrm>
        <a:graphic>
          <a:graphicData uri="http://schemas.openxmlformats.org/presentationml/2006/ole">
            <p:oleObj spid="_x0000_s22540" name="Visio" r:id="rId3" imgW="2952360" imgH="1683360" progId="">
              <p:embed/>
            </p:oleObj>
          </a:graphicData>
        </a:graphic>
      </p:graphicFrame>
      <p:sp>
        <p:nvSpPr>
          <p:cNvPr id="12" name="文本框 60">
            <a:extLst>
              <a:ext uri="{FF2B5EF4-FFF2-40B4-BE49-F238E27FC236}">
                <a16:creationId xmlns:a16="http://schemas.microsoft.com/office/drawing/2014/main" xmlns="" id="{791D85D7-F412-9C48-9F2B-E33F5B7B4F3C}"/>
              </a:ext>
            </a:extLst>
          </p:cNvPr>
          <p:cNvSpPr txBox="1"/>
          <p:nvPr/>
        </p:nvSpPr>
        <p:spPr>
          <a:xfrm>
            <a:off x="1364780" y="293282"/>
            <a:ext cx="4560031" cy="369332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/>
          <a:p>
            <a:r>
              <a:rPr lang="zh-CN" altLang="en-US" sz="1800" b="1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用于三维复合精细成像的双</a:t>
            </a:r>
            <a:r>
              <a:rPr lang="en-US" altLang="zh-CN" sz="1800" b="1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CCD</a:t>
            </a:r>
            <a:r>
              <a:rPr lang="zh-CN" altLang="en-US" sz="1800" b="1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交会测量</a:t>
            </a:r>
            <a:endParaRPr lang="zh-CN" altLang="en-US" sz="18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3" name="矩形 12"/>
          <p:cNvSpPr/>
          <p:nvPr/>
        </p:nvSpPr>
        <p:spPr>
          <a:xfrm>
            <a:off x="10256520" y="329189"/>
            <a:ext cx="1211081" cy="451406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>
              <a:lnSpc>
                <a:spcPts val="1400"/>
              </a:lnSpc>
            </a:pPr>
            <a:r>
              <a:rPr lang="en-US" altLang="zh-CN" sz="1100" b="1" spc="50" dirty="0">
                <a:latin typeface="冬青黑体简体中文 W6"/>
                <a:ea typeface="冬青黑体简体中文 W6" panose="020B0600000000000000" pitchFamily="34" charset="-122"/>
                <a:cs typeface="Times New Roman" panose="02020603050405020304" pitchFamily="18" charset="0"/>
              </a:rPr>
              <a:t>Photoelectric</a:t>
            </a:r>
          </a:p>
          <a:p>
            <a:pPr>
              <a:lnSpc>
                <a:spcPts val="1400"/>
              </a:lnSpc>
            </a:pPr>
            <a:r>
              <a:rPr lang="en-US" altLang="zh-CN" sz="1100" b="1" spc="50" dirty="0">
                <a:latin typeface="冬青黑体简体中文 W6"/>
                <a:ea typeface="冬青黑体简体中文 W6" panose="020B0600000000000000" pitchFamily="34" charset="-122"/>
                <a:cs typeface="Times New Roman" panose="02020603050405020304" pitchFamily="18" charset="0"/>
              </a:rPr>
              <a:t>Technology</a:t>
            </a:r>
            <a:endParaRPr lang="zh-CN" altLang="en-US" sz="1100" b="1" spc="50" dirty="0">
              <a:ln w="22225">
                <a:solidFill>
                  <a:schemeClr val="accent2"/>
                </a:solidFill>
                <a:prstDash val="solid"/>
              </a:ln>
              <a:latin typeface="冬青黑体简体中文 W6"/>
              <a:ea typeface="冬青黑体简体中文 W6" panose="020B0600000000000000" pitchFamily="34" charset="-122"/>
              <a:cs typeface="Times New Roman" panose="02020603050405020304" pitchFamily="18" charset="0"/>
            </a:endParaRP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xmlns="" id="{B0EA110F-2BA5-44F1-BDF2-A8AD51CC83F5}"/>
              </a:ext>
            </a:extLst>
          </p:cNvPr>
          <p:cNvSpPr/>
          <p:nvPr/>
        </p:nvSpPr>
        <p:spPr>
          <a:xfrm>
            <a:off x="12993723" y="361950"/>
            <a:ext cx="167523" cy="412649"/>
          </a:xfrm>
          <a:prstGeom prst="rect">
            <a:avLst/>
          </a:prstGeom>
          <a:gradFill>
            <a:gsLst>
              <a:gs pos="0">
                <a:srgbClr val="0066FF"/>
              </a:gs>
              <a:gs pos="100000">
                <a:schemeClr val="accent1">
                  <a:lumMod val="100000"/>
                </a:schemeClr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5" name="矩形: 圆角 25">
            <a:extLst>
              <a:ext uri="{FF2B5EF4-FFF2-40B4-BE49-F238E27FC236}">
                <a16:creationId xmlns:a16="http://schemas.microsoft.com/office/drawing/2014/main" xmlns="" id="{D7400AB1-4BEC-40E5-A53B-E3CB1F48EB8A}"/>
              </a:ext>
            </a:extLst>
          </p:cNvPr>
          <p:cNvSpPr/>
          <p:nvPr/>
        </p:nvSpPr>
        <p:spPr>
          <a:xfrm>
            <a:off x="336177" y="293282"/>
            <a:ext cx="948448" cy="481317"/>
          </a:xfrm>
          <a:prstGeom prst="roundRect">
            <a:avLst/>
          </a:prstGeom>
          <a:gradFill>
            <a:gsLst>
              <a:gs pos="0">
                <a:srgbClr val="0066FF"/>
              </a:gs>
              <a:gs pos="100000">
                <a:schemeClr val="accent1">
                  <a:lumMod val="100000"/>
                </a:schemeClr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Bef>
                <a:spcPts val="800"/>
              </a:spcBef>
            </a:pPr>
            <a:r>
              <a:rPr kumimoji="1" lang="en-US" altLang="zh-CN" sz="2800" b="1" dirty="0" smtClean="0">
                <a:solidFill>
                  <a:schemeClr val="bg1"/>
                </a:solidFill>
                <a:latin typeface="Times New Roman" panose="02020603050405020304" pitchFamily="18" charset="0"/>
                <a:ea typeface="Microsoft YaHei" panose="020B0503020204020204" pitchFamily="34" charset="-122"/>
                <a:cs typeface="Times New Roman" panose="02020603050405020304" pitchFamily="18" charset="0"/>
              </a:rPr>
              <a:t>10.1</a:t>
            </a:r>
            <a:endParaRPr kumimoji="1" lang="zh-CN" altLang="en-US" sz="2800" b="1" dirty="0">
              <a:solidFill>
                <a:schemeClr val="bg1"/>
              </a:solidFill>
              <a:latin typeface="Times New Roman" panose="02020603050405020304" pitchFamily="18" charset="0"/>
              <a:ea typeface="Microsoft YaHei" panose="020B0503020204020204" pitchFamily="34" charset="-122"/>
              <a:cs typeface="Times New Roman" panose="02020603050405020304" pitchFamily="18" charset="0"/>
            </a:endParaRPr>
          </a:p>
        </p:txBody>
      </p:sp>
      <p:cxnSp>
        <p:nvCxnSpPr>
          <p:cNvPr id="16" name="直接连接符 58">
            <a:extLst>
              <a:ext uri="{FF2B5EF4-FFF2-40B4-BE49-F238E27FC236}">
                <a16:creationId xmlns:a16="http://schemas.microsoft.com/office/drawing/2014/main" xmlns="" id="{8C5F82EF-52B4-4531-96F0-44689EA1125E}"/>
              </a:ext>
            </a:extLst>
          </p:cNvPr>
          <p:cNvCxnSpPr>
            <a:cxnSpLocks/>
          </p:cNvCxnSpPr>
          <p:nvPr/>
        </p:nvCxnSpPr>
        <p:spPr>
          <a:xfrm flipV="1">
            <a:off x="1450506" y="695281"/>
            <a:ext cx="2999293" cy="15717"/>
          </a:xfrm>
          <a:prstGeom prst="line">
            <a:avLst/>
          </a:prstGeom>
          <a:ln w="19050" cmpd="dbl">
            <a:solidFill>
              <a:srgbClr val="3366FF">
                <a:alpha val="7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矩形 16">
            <a:extLst>
              <a:ext uri="{FF2B5EF4-FFF2-40B4-BE49-F238E27FC236}">
                <a16:creationId xmlns:a16="http://schemas.microsoft.com/office/drawing/2014/main" xmlns="" id="{82FE0EE3-DD34-4ECD-AB99-E9089285A34C}"/>
              </a:ext>
            </a:extLst>
          </p:cNvPr>
          <p:cNvSpPr/>
          <p:nvPr/>
        </p:nvSpPr>
        <p:spPr>
          <a:xfrm>
            <a:off x="11251918" y="293282"/>
            <a:ext cx="1741805" cy="523220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r"/>
            <a:r>
              <a:rPr lang="zh-CN" altLang="en-US" sz="2800" spc="20" dirty="0">
                <a:latin typeface="冬青黑体简体中文 W6" panose="020B0600000000000000" pitchFamily="34" charset="-122"/>
                <a:ea typeface="冬青黑体简体中文 W6" panose="020B0600000000000000" pitchFamily="34" charset="-122"/>
                <a:cs typeface="阿里巴巴普惠体 R" panose="00020600040101010101" pitchFamily="18" charset="-122"/>
              </a:rPr>
              <a:t>光电技术</a:t>
            </a:r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xmlns="" id="{942CFC6A-A6DB-0F43-9829-C9244014588C}"/>
              </a:ext>
            </a:extLst>
          </p:cNvPr>
          <p:cNvSpPr/>
          <p:nvPr/>
        </p:nvSpPr>
        <p:spPr>
          <a:xfrm flipV="1">
            <a:off x="0" y="7589506"/>
            <a:ext cx="10141249" cy="125744"/>
          </a:xfrm>
          <a:prstGeom prst="rect">
            <a:avLst/>
          </a:prstGeom>
          <a:gradFill flip="none" rotWithShape="1">
            <a:gsLst>
              <a:gs pos="0">
                <a:srgbClr val="1271FE"/>
              </a:gs>
              <a:gs pos="45000">
                <a:srgbClr val="6895F3"/>
              </a:gs>
              <a:gs pos="9000">
                <a:srgbClr val="3366FF"/>
              </a:gs>
              <a:gs pos="100000">
                <a:schemeClr val="accent1">
                  <a:lumMod val="60000"/>
                  <a:lumOff val="40000"/>
                </a:schemeClr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240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9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399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225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9952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84" name="Rectangle 12"/>
          <p:cNvSpPr>
            <a:spLocks noChangeArrowheads="1"/>
          </p:cNvSpPr>
          <p:nvPr/>
        </p:nvSpPr>
        <p:spPr bwMode="auto">
          <a:xfrm>
            <a:off x="690562" y="2107745"/>
            <a:ext cx="12239625" cy="2031325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pPr defTabSz="914400">
              <a:lnSpc>
                <a:spcPct val="150000"/>
              </a:lnSpc>
            </a:pPr>
            <a:r>
              <a:rPr lang="zh-CN" altLang="en-US" sz="2800" b="1" dirty="0" smtClean="0"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        双</a:t>
            </a:r>
            <a:r>
              <a:rPr lang="en-US" altLang="zh-CN" sz="2800" b="1" dirty="0"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CCD</a:t>
            </a:r>
            <a:r>
              <a:rPr lang="zh-CN" altLang="en-US" sz="2800" b="1" dirty="0"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交会测量技术又称</a:t>
            </a:r>
            <a:r>
              <a:rPr lang="zh-CN" altLang="en-US" sz="2800" b="1" dirty="0">
                <a:solidFill>
                  <a:srgbClr val="FF0000"/>
                </a:solidFill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双目立体视觉</a:t>
            </a:r>
            <a:r>
              <a:rPr lang="zh-CN" altLang="en-US" sz="2800" b="1" dirty="0"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。双</a:t>
            </a:r>
            <a:r>
              <a:rPr lang="en-US" altLang="zh-CN" sz="2800" b="1" dirty="0"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CCD</a:t>
            </a:r>
            <a:r>
              <a:rPr lang="zh-CN" altLang="en-US" sz="2800" b="1" dirty="0"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交会测量是由位于不同位置的两个</a:t>
            </a:r>
            <a:r>
              <a:rPr lang="en-US" altLang="zh-CN" sz="2800" b="1" dirty="0"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CCD</a:t>
            </a:r>
            <a:r>
              <a:rPr lang="zh-CN" altLang="en-US" sz="2800" b="1" dirty="0"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同时对空间同一场景成像，由两幅图像获取物体三维几何信息的方法。</a:t>
            </a:r>
          </a:p>
        </p:txBody>
      </p:sp>
      <p:sp>
        <p:nvSpPr>
          <p:cNvPr id="23561" name="Rectangle 4"/>
          <p:cNvSpPr>
            <a:spLocks noChangeArrowheads="1"/>
          </p:cNvSpPr>
          <p:nvPr/>
        </p:nvSpPr>
        <p:spPr bwMode="auto">
          <a:xfrm>
            <a:off x="3190877" y="1225440"/>
            <a:ext cx="7124700" cy="64633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pPr defTabSz="914400" eaLnBrk="0" hangingPunct="0"/>
            <a:r>
              <a:rPr lang="zh-CN" altLang="en-US" sz="3600" b="1" dirty="0" smtClean="0">
                <a:solidFill>
                  <a:srgbClr val="0000CC"/>
                </a:solidFill>
                <a:latin typeface="Times New Roman" pitchFamily="18" charset="0"/>
                <a:ea typeface="微软雅黑" pitchFamily="34" charset="-122"/>
              </a:rPr>
              <a:t>二、双</a:t>
            </a:r>
            <a:r>
              <a:rPr lang="en-US" altLang="zh-CN" sz="3600" b="1" dirty="0">
                <a:solidFill>
                  <a:srgbClr val="0000CC"/>
                </a:solidFill>
                <a:latin typeface="Times New Roman" pitchFamily="18" charset="0"/>
                <a:ea typeface="微软雅黑" pitchFamily="34" charset="-122"/>
              </a:rPr>
              <a:t>CCD</a:t>
            </a:r>
            <a:r>
              <a:rPr lang="zh-CN" altLang="en-US" sz="3600" b="1" dirty="0">
                <a:solidFill>
                  <a:srgbClr val="0000CC"/>
                </a:solidFill>
                <a:latin typeface="Times New Roman" pitchFamily="18" charset="0"/>
                <a:ea typeface="微软雅黑" pitchFamily="34" charset="-122"/>
              </a:rPr>
              <a:t>交会测量的系统构成</a:t>
            </a:r>
          </a:p>
        </p:txBody>
      </p:sp>
      <p:sp>
        <p:nvSpPr>
          <p:cNvPr id="6" name="矩形 5"/>
          <p:cNvSpPr>
            <a:spLocks noChangeArrowheads="1"/>
          </p:cNvSpPr>
          <p:nvPr/>
        </p:nvSpPr>
        <p:spPr bwMode="auto">
          <a:xfrm>
            <a:off x="776294" y="4302130"/>
            <a:ext cx="12239625" cy="20313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defTabSz="914400">
              <a:lnSpc>
                <a:spcPct val="150000"/>
              </a:lnSpc>
            </a:pPr>
            <a:r>
              <a:rPr lang="zh-CN" altLang="en-US" sz="2800" b="1" dirty="0" smtClean="0"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        它</a:t>
            </a:r>
            <a:r>
              <a:rPr lang="zh-CN" altLang="en-US" sz="2800" b="1" dirty="0"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是以机器视觉理论为基础，基于</a:t>
            </a:r>
            <a:r>
              <a:rPr lang="zh-CN" altLang="en-US" sz="2800" b="1" dirty="0">
                <a:solidFill>
                  <a:srgbClr val="FF0000"/>
                </a:solidFill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三角法原理</a:t>
            </a:r>
            <a:r>
              <a:rPr lang="zh-CN" altLang="en-US" sz="2800" b="1" dirty="0"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进行测量的，即两个</a:t>
            </a:r>
            <a:r>
              <a:rPr lang="en-US" altLang="zh-CN" sz="2800" b="1" dirty="0"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CCD</a:t>
            </a:r>
            <a:r>
              <a:rPr lang="zh-CN" altLang="en-US" sz="2800" b="1" dirty="0"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的图像平面和被侧物体之间构成一个三角形。已知两</a:t>
            </a:r>
            <a:r>
              <a:rPr lang="en-US" altLang="zh-CN" sz="2800" b="1" dirty="0"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CCD</a:t>
            </a:r>
            <a:r>
              <a:rPr lang="zh-CN" altLang="en-US" sz="2800" b="1" dirty="0"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之间的位置关系，便可测量两</a:t>
            </a:r>
            <a:r>
              <a:rPr lang="en-US" altLang="zh-CN" sz="2800" b="1" dirty="0"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CCD</a:t>
            </a:r>
            <a:r>
              <a:rPr lang="zh-CN" altLang="en-US" sz="2800" b="1" dirty="0"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公共视场内物体的三维尺寸及空间物体特征点的三维坐标。</a:t>
            </a:r>
          </a:p>
        </p:txBody>
      </p:sp>
      <p:sp>
        <p:nvSpPr>
          <p:cNvPr id="10" name="文本框 60">
            <a:extLst>
              <a:ext uri="{FF2B5EF4-FFF2-40B4-BE49-F238E27FC236}">
                <a16:creationId xmlns:a16="http://schemas.microsoft.com/office/drawing/2014/main" xmlns="" id="{791D85D7-F412-9C48-9F2B-E33F5B7B4F3C}"/>
              </a:ext>
            </a:extLst>
          </p:cNvPr>
          <p:cNvSpPr txBox="1"/>
          <p:nvPr/>
        </p:nvSpPr>
        <p:spPr>
          <a:xfrm>
            <a:off x="1364780" y="293282"/>
            <a:ext cx="4560031" cy="369332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/>
          <a:p>
            <a:r>
              <a:rPr lang="zh-CN" altLang="en-US" sz="1800" b="1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用于三维复合精细成像的双</a:t>
            </a:r>
            <a:r>
              <a:rPr lang="en-US" altLang="zh-CN" sz="1800" b="1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CCD</a:t>
            </a:r>
            <a:r>
              <a:rPr lang="zh-CN" altLang="en-US" sz="1800" b="1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交会测量</a:t>
            </a:r>
            <a:endParaRPr lang="zh-CN" altLang="en-US" sz="18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1" name="矩形 10"/>
          <p:cNvSpPr/>
          <p:nvPr/>
        </p:nvSpPr>
        <p:spPr>
          <a:xfrm>
            <a:off x="10256520" y="329189"/>
            <a:ext cx="1211081" cy="451406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>
              <a:lnSpc>
                <a:spcPts val="1400"/>
              </a:lnSpc>
            </a:pPr>
            <a:r>
              <a:rPr lang="en-US" altLang="zh-CN" sz="1100" b="1" spc="50" dirty="0">
                <a:latin typeface="冬青黑体简体中文 W6"/>
                <a:ea typeface="冬青黑体简体中文 W6" panose="020B0600000000000000" pitchFamily="34" charset="-122"/>
                <a:cs typeface="Times New Roman" panose="02020603050405020304" pitchFamily="18" charset="0"/>
              </a:rPr>
              <a:t>Photoelectric</a:t>
            </a:r>
          </a:p>
          <a:p>
            <a:pPr>
              <a:lnSpc>
                <a:spcPts val="1400"/>
              </a:lnSpc>
            </a:pPr>
            <a:r>
              <a:rPr lang="en-US" altLang="zh-CN" sz="1100" b="1" spc="50" dirty="0">
                <a:latin typeface="冬青黑体简体中文 W6"/>
                <a:ea typeface="冬青黑体简体中文 W6" panose="020B0600000000000000" pitchFamily="34" charset="-122"/>
                <a:cs typeface="Times New Roman" panose="02020603050405020304" pitchFamily="18" charset="0"/>
              </a:rPr>
              <a:t>Technology</a:t>
            </a:r>
            <a:endParaRPr lang="zh-CN" altLang="en-US" sz="1100" b="1" spc="50" dirty="0">
              <a:ln w="22225">
                <a:solidFill>
                  <a:schemeClr val="accent2"/>
                </a:solidFill>
                <a:prstDash val="solid"/>
              </a:ln>
              <a:latin typeface="冬青黑体简体中文 W6"/>
              <a:ea typeface="冬青黑体简体中文 W6" panose="020B0600000000000000" pitchFamily="34" charset="-122"/>
              <a:cs typeface="Times New Roman" panose="02020603050405020304" pitchFamily="18" charset="0"/>
            </a:endParaRP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xmlns="" id="{B0EA110F-2BA5-44F1-BDF2-A8AD51CC83F5}"/>
              </a:ext>
            </a:extLst>
          </p:cNvPr>
          <p:cNvSpPr/>
          <p:nvPr/>
        </p:nvSpPr>
        <p:spPr>
          <a:xfrm>
            <a:off x="12993723" y="361950"/>
            <a:ext cx="167523" cy="412649"/>
          </a:xfrm>
          <a:prstGeom prst="rect">
            <a:avLst/>
          </a:prstGeom>
          <a:gradFill>
            <a:gsLst>
              <a:gs pos="0">
                <a:srgbClr val="0066FF"/>
              </a:gs>
              <a:gs pos="100000">
                <a:schemeClr val="accent1">
                  <a:lumMod val="100000"/>
                </a:schemeClr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" name="矩形: 圆角 25">
            <a:extLst>
              <a:ext uri="{FF2B5EF4-FFF2-40B4-BE49-F238E27FC236}">
                <a16:creationId xmlns:a16="http://schemas.microsoft.com/office/drawing/2014/main" xmlns="" id="{D7400AB1-4BEC-40E5-A53B-E3CB1F48EB8A}"/>
              </a:ext>
            </a:extLst>
          </p:cNvPr>
          <p:cNvSpPr/>
          <p:nvPr/>
        </p:nvSpPr>
        <p:spPr>
          <a:xfrm>
            <a:off x="336177" y="293282"/>
            <a:ext cx="948448" cy="481317"/>
          </a:xfrm>
          <a:prstGeom prst="roundRect">
            <a:avLst/>
          </a:prstGeom>
          <a:gradFill>
            <a:gsLst>
              <a:gs pos="0">
                <a:srgbClr val="0066FF"/>
              </a:gs>
              <a:gs pos="100000">
                <a:schemeClr val="accent1">
                  <a:lumMod val="100000"/>
                </a:schemeClr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Bef>
                <a:spcPts val="800"/>
              </a:spcBef>
            </a:pPr>
            <a:r>
              <a:rPr kumimoji="1" lang="en-US" altLang="zh-CN" sz="2800" b="1" dirty="0" smtClean="0">
                <a:solidFill>
                  <a:schemeClr val="bg1"/>
                </a:solidFill>
                <a:latin typeface="Times New Roman" panose="02020603050405020304" pitchFamily="18" charset="0"/>
                <a:ea typeface="Microsoft YaHei" panose="020B0503020204020204" pitchFamily="34" charset="-122"/>
                <a:cs typeface="Times New Roman" panose="02020603050405020304" pitchFamily="18" charset="0"/>
              </a:rPr>
              <a:t>10.1</a:t>
            </a:r>
            <a:endParaRPr kumimoji="1" lang="zh-CN" altLang="en-US" sz="2800" b="1" dirty="0">
              <a:solidFill>
                <a:schemeClr val="bg1"/>
              </a:solidFill>
              <a:latin typeface="Times New Roman" panose="02020603050405020304" pitchFamily="18" charset="0"/>
              <a:ea typeface="Microsoft YaHei" panose="020B0503020204020204" pitchFamily="34" charset="-122"/>
              <a:cs typeface="Times New Roman" panose="02020603050405020304" pitchFamily="18" charset="0"/>
            </a:endParaRPr>
          </a:p>
        </p:txBody>
      </p:sp>
      <p:cxnSp>
        <p:nvCxnSpPr>
          <p:cNvPr id="14" name="直接连接符 58">
            <a:extLst>
              <a:ext uri="{FF2B5EF4-FFF2-40B4-BE49-F238E27FC236}">
                <a16:creationId xmlns:a16="http://schemas.microsoft.com/office/drawing/2014/main" xmlns="" id="{8C5F82EF-52B4-4531-96F0-44689EA1125E}"/>
              </a:ext>
            </a:extLst>
          </p:cNvPr>
          <p:cNvCxnSpPr>
            <a:cxnSpLocks/>
          </p:cNvCxnSpPr>
          <p:nvPr/>
        </p:nvCxnSpPr>
        <p:spPr>
          <a:xfrm flipV="1">
            <a:off x="1450506" y="695281"/>
            <a:ext cx="2999293" cy="15717"/>
          </a:xfrm>
          <a:prstGeom prst="line">
            <a:avLst/>
          </a:prstGeom>
          <a:ln w="19050" cmpd="dbl">
            <a:solidFill>
              <a:srgbClr val="3366FF">
                <a:alpha val="7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矩形 14">
            <a:extLst>
              <a:ext uri="{FF2B5EF4-FFF2-40B4-BE49-F238E27FC236}">
                <a16:creationId xmlns:a16="http://schemas.microsoft.com/office/drawing/2014/main" xmlns="" id="{82FE0EE3-DD34-4ECD-AB99-E9089285A34C}"/>
              </a:ext>
            </a:extLst>
          </p:cNvPr>
          <p:cNvSpPr/>
          <p:nvPr/>
        </p:nvSpPr>
        <p:spPr>
          <a:xfrm>
            <a:off x="11251918" y="293282"/>
            <a:ext cx="1741805" cy="523220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r"/>
            <a:r>
              <a:rPr lang="zh-CN" altLang="en-US" sz="2800" spc="20" dirty="0">
                <a:latin typeface="冬青黑体简体中文 W6" panose="020B0600000000000000" pitchFamily="34" charset="-122"/>
                <a:ea typeface="冬青黑体简体中文 W6" panose="020B0600000000000000" pitchFamily="34" charset="-122"/>
                <a:cs typeface="阿里巴巴普惠体 R" panose="00020600040101010101" pitchFamily="18" charset="-122"/>
              </a:rPr>
              <a:t>光电技术</a:t>
            </a:r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xmlns="" id="{942CFC6A-A6DB-0F43-9829-C9244014588C}"/>
              </a:ext>
            </a:extLst>
          </p:cNvPr>
          <p:cNvSpPr/>
          <p:nvPr/>
        </p:nvSpPr>
        <p:spPr>
          <a:xfrm flipV="1">
            <a:off x="0" y="7589506"/>
            <a:ext cx="10141249" cy="125744"/>
          </a:xfrm>
          <a:prstGeom prst="rect">
            <a:avLst/>
          </a:prstGeom>
          <a:gradFill flip="none" rotWithShape="1">
            <a:gsLst>
              <a:gs pos="0">
                <a:srgbClr val="1271FE"/>
              </a:gs>
              <a:gs pos="45000">
                <a:srgbClr val="6895F3"/>
              </a:gs>
              <a:gs pos="9000">
                <a:srgbClr val="3366FF"/>
              </a:gs>
              <a:gs pos="100000">
                <a:schemeClr val="accent1">
                  <a:lumMod val="60000"/>
                  <a:lumOff val="40000"/>
                </a:schemeClr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240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6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286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8684" grpId="0" autoUpdateAnimBg="0"/>
      <p:bldP spid="6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585" name="Picture 3"/>
          <p:cNvPicPr>
            <a:picLocks noChangeAspect="1" noChangeArrowheads="1"/>
          </p:cNvPicPr>
          <p:nvPr/>
        </p:nvPicPr>
        <p:blipFill>
          <a:blip r:embed="rId2" cstate="print"/>
          <a:srcRect l="1044" t="7008" r="903" b="22897"/>
          <a:stretch>
            <a:fillRect/>
          </a:stretch>
        </p:blipFill>
        <p:spPr bwMode="auto">
          <a:xfrm>
            <a:off x="1462072" y="1228725"/>
            <a:ext cx="10342273" cy="22002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8" name="圆角矩形标注 7"/>
          <p:cNvSpPr>
            <a:spLocks noChangeArrowheads="1"/>
          </p:cNvSpPr>
          <p:nvPr/>
        </p:nvSpPr>
        <p:spPr bwMode="auto">
          <a:xfrm>
            <a:off x="2033579" y="4557713"/>
            <a:ext cx="1285875" cy="2000250"/>
          </a:xfrm>
          <a:prstGeom prst="wedgeRoundRectCallout">
            <a:avLst>
              <a:gd name="adj1" fmla="val -42838"/>
              <a:gd name="adj2" fmla="val -106190"/>
              <a:gd name="adj3" fmla="val 16667"/>
            </a:avLst>
          </a:prstGeom>
          <a:solidFill>
            <a:srgbClr val="00B0F0"/>
          </a:solidFill>
          <a:ln w="25400" algn="ctr">
            <a:solidFill>
              <a:srgbClr val="385D8A"/>
            </a:solidFill>
            <a:miter lim="800000"/>
            <a:headEnd/>
            <a:tailEnd/>
          </a:ln>
        </p:spPr>
        <p:txBody>
          <a:bodyPr anchor="ctr"/>
          <a:lstStyle/>
          <a:p>
            <a:pPr algn="ctr" defTabSz="914400">
              <a:defRPr/>
            </a:pPr>
            <a:r>
              <a:rPr lang="zh-CN" altLang="en-US" b="1" dirty="0"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控制两</a:t>
            </a:r>
            <a:r>
              <a:rPr lang="en-US" altLang="zh-CN" b="1" dirty="0"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CCD</a:t>
            </a:r>
            <a:r>
              <a:rPr lang="zh-CN" altLang="en-US" b="1" dirty="0"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采集两幅原始图像</a:t>
            </a:r>
          </a:p>
        </p:txBody>
      </p:sp>
      <p:sp>
        <p:nvSpPr>
          <p:cNvPr id="9" name="圆角矩形标注 8"/>
          <p:cNvSpPr>
            <a:spLocks noChangeArrowheads="1"/>
          </p:cNvSpPr>
          <p:nvPr/>
        </p:nvSpPr>
        <p:spPr bwMode="auto">
          <a:xfrm>
            <a:off x="3823855" y="4543425"/>
            <a:ext cx="1252950" cy="1857375"/>
          </a:xfrm>
          <a:prstGeom prst="wedgeRoundRectCallout">
            <a:avLst>
              <a:gd name="adj1" fmla="val -46741"/>
              <a:gd name="adj2" fmla="val -108375"/>
              <a:gd name="adj3" fmla="val 16667"/>
            </a:avLst>
          </a:prstGeom>
          <a:solidFill>
            <a:srgbClr val="00B0F0"/>
          </a:solidFill>
          <a:ln w="25400" algn="ctr">
            <a:solidFill>
              <a:srgbClr val="385D8A"/>
            </a:solidFill>
            <a:miter lim="800000"/>
            <a:headEnd/>
            <a:tailEnd/>
          </a:ln>
        </p:spPr>
        <p:txBody>
          <a:bodyPr anchor="ctr"/>
          <a:lstStyle/>
          <a:p>
            <a:pPr algn="ctr" defTabSz="914400">
              <a:defRPr/>
            </a:pPr>
            <a:r>
              <a:rPr lang="zh-CN" altLang="en-US" b="1" dirty="0"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对原始图像进行滤波去噪处理</a:t>
            </a:r>
          </a:p>
        </p:txBody>
      </p:sp>
      <p:sp>
        <p:nvSpPr>
          <p:cNvPr id="10" name="圆角矩形标注 9"/>
          <p:cNvSpPr>
            <a:spLocks noChangeArrowheads="1"/>
          </p:cNvSpPr>
          <p:nvPr/>
        </p:nvSpPr>
        <p:spPr bwMode="auto">
          <a:xfrm>
            <a:off x="5591167" y="4514850"/>
            <a:ext cx="2143125" cy="1928813"/>
          </a:xfrm>
          <a:prstGeom prst="wedgeRoundRectCallout">
            <a:avLst>
              <a:gd name="adj1" fmla="val -35185"/>
              <a:gd name="adj2" fmla="val -107204"/>
              <a:gd name="adj3" fmla="val 16667"/>
            </a:avLst>
          </a:prstGeom>
          <a:solidFill>
            <a:srgbClr val="00B0F0"/>
          </a:solidFill>
          <a:ln w="25400" algn="ctr">
            <a:solidFill>
              <a:srgbClr val="385D8A"/>
            </a:solidFill>
            <a:miter lim="800000"/>
            <a:headEnd/>
            <a:tailEnd/>
          </a:ln>
        </p:spPr>
        <p:txBody>
          <a:bodyPr anchor="ctr"/>
          <a:lstStyle/>
          <a:p>
            <a:pPr algn="ctr" defTabSz="914400">
              <a:defRPr/>
            </a:pPr>
            <a:r>
              <a:rPr lang="zh-CN" altLang="en-US" b="1"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确定空间坐标系中物体点与它在图像平面上像点之间的对应关系</a:t>
            </a:r>
          </a:p>
        </p:txBody>
      </p:sp>
      <p:sp>
        <p:nvSpPr>
          <p:cNvPr id="11" name="圆角矩形标注 10"/>
          <p:cNvSpPr>
            <a:spLocks noChangeArrowheads="1"/>
          </p:cNvSpPr>
          <p:nvPr/>
        </p:nvSpPr>
        <p:spPr bwMode="auto">
          <a:xfrm>
            <a:off x="8091480" y="4572000"/>
            <a:ext cx="1571625" cy="1857375"/>
          </a:xfrm>
          <a:prstGeom prst="wedgeRoundRectCallout">
            <a:avLst>
              <a:gd name="adj1" fmla="val -39394"/>
              <a:gd name="adj2" fmla="val -108375"/>
              <a:gd name="adj3" fmla="val 16667"/>
            </a:avLst>
          </a:prstGeom>
          <a:solidFill>
            <a:srgbClr val="00B0F0"/>
          </a:solidFill>
          <a:ln w="25400" algn="ctr">
            <a:solidFill>
              <a:srgbClr val="385D8A"/>
            </a:solidFill>
            <a:miter lim="800000"/>
            <a:headEnd/>
            <a:tailEnd/>
          </a:ln>
        </p:spPr>
        <p:txBody>
          <a:bodyPr anchor="ctr"/>
          <a:lstStyle/>
          <a:p>
            <a:pPr algn="ctr" defTabSz="914400">
              <a:defRPr/>
            </a:pPr>
            <a:r>
              <a:rPr lang="zh-CN" altLang="en-US" b="1"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将两图像中对应的同一空间特征联系起来</a:t>
            </a:r>
          </a:p>
        </p:txBody>
      </p:sp>
      <p:sp>
        <p:nvSpPr>
          <p:cNvPr id="13" name="圆角矩形标注 12"/>
          <p:cNvSpPr>
            <a:spLocks noChangeArrowheads="1"/>
          </p:cNvSpPr>
          <p:nvPr/>
        </p:nvSpPr>
        <p:spPr bwMode="auto">
          <a:xfrm>
            <a:off x="10263180" y="4572000"/>
            <a:ext cx="1643063" cy="1785938"/>
          </a:xfrm>
          <a:prstGeom prst="wedgeRoundRectCallout">
            <a:avLst>
              <a:gd name="adj1" fmla="val -38694"/>
              <a:gd name="adj2" fmla="val -109644"/>
              <a:gd name="adj3" fmla="val 16667"/>
            </a:avLst>
          </a:prstGeom>
          <a:solidFill>
            <a:srgbClr val="00B0F0"/>
          </a:solidFill>
          <a:ln w="25400" algn="ctr">
            <a:solidFill>
              <a:srgbClr val="385D8A"/>
            </a:solidFill>
            <a:miter lim="800000"/>
            <a:headEnd/>
            <a:tailEnd/>
          </a:ln>
        </p:spPr>
        <p:txBody>
          <a:bodyPr anchor="ctr"/>
          <a:lstStyle/>
          <a:p>
            <a:pPr algn="ctr" defTabSz="914400">
              <a:defRPr/>
            </a:pPr>
            <a:r>
              <a:rPr lang="zh-CN" altLang="en-US" b="1"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恢复空间景物的三维信息，通过数据处理后显示</a:t>
            </a:r>
          </a:p>
        </p:txBody>
      </p:sp>
      <p:sp>
        <p:nvSpPr>
          <p:cNvPr id="15" name="文本框 60">
            <a:extLst>
              <a:ext uri="{FF2B5EF4-FFF2-40B4-BE49-F238E27FC236}">
                <a16:creationId xmlns:a16="http://schemas.microsoft.com/office/drawing/2014/main" xmlns="" id="{791D85D7-F412-9C48-9F2B-E33F5B7B4F3C}"/>
              </a:ext>
            </a:extLst>
          </p:cNvPr>
          <p:cNvSpPr txBox="1"/>
          <p:nvPr/>
        </p:nvSpPr>
        <p:spPr>
          <a:xfrm>
            <a:off x="1364780" y="293282"/>
            <a:ext cx="4560031" cy="369332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/>
          <a:p>
            <a:r>
              <a:rPr lang="zh-CN" altLang="en-US" sz="1800" b="1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用于三维复合精细成像的双</a:t>
            </a:r>
            <a:r>
              <a:rPr lang="en-US" altLang="zh-CN" sz="1800" b="1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CCD</a:t>
            </a:r>
            <a:r>
              <a:rPr lang="zh-CN" altLang="en-US" sz="1800" b="1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交会测量</a:t>
            </a:r>
            <a:endParaRPr lang="zh-CN" altLang="en-US" sz="18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6" name="矩形 15"/>
          <p:cNvSpPr/>
          <p:nvPr/>
        </p:nvSpPr>
        <p:spPr>
          <a:xfrm>
            <a:off x="10256520" y="329189"/>
            <a:ext cx="1211081" cy="451406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>
              <a:lnSpc>
                <a:spcPts val="1400"/>
              </a:lnSpc>
            </a:pPr>
            <a:r>
              <a:rPr lang="en-US" altLang="zh-CN" sz="1100" b="1" spc="50" dirty="0">
                <a:latin typeface="冬青黑体简体中文 W6"/>
                <a:ea typeface="冬青黑体简体中文 W6" panose="020B0600000000000000" pitchFamily="34" charset="-122"/>
                <a:cs typeface="Times New Roman" panose="02020603050405020304" pitchFamily="18" charset="0"/>
              </a:rPr>
              <a:t>Photoelectric</a:t>
            </a:r>
          </a:p>
          <a:p>
            <a:pPr>
              <a:lnSpc>
                <a:spcPts val="1400"/>
              </a:lnSpc>
            </a:pPr>
            <a:r>
              <a:rPr lang="en-US" altLang="zh-CN" sz="1100" b="1" spc="50" dirty="0">
                <a:latin typeface="冬青黑体简体中文 W6"/>
                <a:ea typeface="冬青黑体简体中文 W6" panose="020B0600000000000000" pitchFamily="34" charset="-122"/>
                <a:cs typeface="Times New Roman" panose="02020603050405020304" pitchFamily="18" charset="0"/>
              </a:rPr>
              <a:t>Technology</a:t>
            </a:r>
            <a:endParaRPr lang="zh-CN" altLang="en-US" sz="1100" b="1" spc="50" dirty="0">
              <a:ln w="22225">
                <a:solidFill>
                  <a:schemeClr val="accent2"/>
                </a:solidFill>
                <a:prstDash val="solid"/>
              </a:ln>
              <a:latin typeface="冬青黑体简体中文 W6"/>
              <a:ea typeface="冬青黑体简体中文 W6" panose="020B0600000000000000" pitchFamily="34" charset="-122"/>
              <a:cs typeface="Times New Roman" panose="02020603050405020304" pitchFamily="18" charset="0"/>
            </a:endParaRP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xmlns="" id="{B0EA110F-2BA5-44F1-BDF2-A8AD51CC83F5}"/>
              </a:ext>
            </a:extLst>
          </p:cNvPr>
          <p:cNvSpPr/>
          <p:nvPr/>
        </p:nvSpPr>
        <p:spPr>
          <a:xfrm>
            <a:off x="12993723" y="361950"/>
            <a:ext cx="167523" cy="412649"/>
          </a:xfrm>
          <a:prstGeom prst="rect">
            <a:avLst/>
          </a:prstGeom>
          <a:gradFill>
            <a:gsLst>
              <a:gs pos="0">
                <a:srgbClr val="0066FF"/>
              </a:gs>
              <a:gs pos="100000">
                <a:schemeClr val="accent1">
                  <a:lumMod val="100000"/>
                </a:schemeClr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8" name="矩形: 圆角 25">
            <a:extLst>
              <a:ext uri="{FF2B5EF4-FFF2-40B4-BE49-F238E27FC236}">
                <a16:creationId xmlns:a16="http://schemas.microsoft.com/office/drawing/2014/main" xmlns="" id="{D7400AB1-4BEC-40E5-A53B-E3CB1F48EB8A}"/>
              </a:ext>
            </a:extLst>
          </p:cNvPr>
          <p:cNvSpPr/>
          <p:nvPr/>
        </p:nvSpPr>
        <p:spPr>
          <a:xfrm>
            <a:off x="336177" y="293282"/>
            <a:ext cx="948448" cy="481317"/>
          </a:xfrm>
          <a:prstGeom prst="roundRect">
            <a:avLst/>
          </a:prstGeom>
          <a:gradFill>
            <a:gsLst>
              <a:gs pos="0">
                <a:srgbClr val="0066FF"/>
              </a:gs>
              <a:gs pos="100000">
                <a:schemeClr val="accent1">
                  <a:lumMod val="100000"/>
                </a:schemeClr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Bef>
                <a:spcPts val="800"/>
              </a:spcBef>
            </a:pPr>
            <a:r>
              <a:rPr kumimoji="1" lang="en-US" altLang="zh-CN" sz="2800" b="1" dirty="0" smtClean="0">
                <a:solidFill>
                  <a:schemeClr val="bg1"/>
                </a:solidFill>
                <a:latin typeface="Times New Roman" panose="02020603050405020304" pitchFamily="18" charset="0"/>
                <a:ea typeface="Microsoft YaHei" panose="020B0503020204020204" pitchFamily="34" charset="-122"/>
                <a:cs typeface="Times New Roman" panose="02020603050405020304" pitchFamily="18" charset="0"/>
              </a:rPr>
              <a:t>10.1</a:t>
            </a:r>
            <a:endParaRPr kumimoji="1" lang="zh-CN" altLang="en-US" sz="2800" b="1" dirty="0">
              <a:solidFill>
                <a:schemeClr val="bg1"/>
              </a:solidFill>
              <a:latin typeface="Times New Roman" panose="02020603050405020304" pitchFamily="18" charset="0"/>
              <a:ea typeface="Microsoft YaHei" panose="020B0503020204020204" pitchFamily="34" charset="-122"/>
              <a:cs typeface="Times New Roman" panose="02020603050405020304" pitchFamily="18" charset="0"/>
            </a:endParaRPr>
          </a:p>
        </p:txBody>
      </p:sp>
      <p:cxnSp>
        <p:nvCxnSpPr>
          <p:cNvPr id="19" name="直接连接符 58">
            <a:extLst>
              <a:ext uri="{FF2B5EF4-FFF2-40B4-BE49-F238E27FC236}">
                <a16:creationId xmlns:a16="http://schemas.microsoft.com/office/drawing/2014/main" xmlns="" id="{8C5F82EF-52B4-4531-96F0-44689EA1125E}"/>
              </a:ext>
            </a:extLst>
          </p:cNvPr>
          <p:cNvCxnSpPr>
            <a:cxnSpLocks/>
          </p:cNvCxnSpPr>
          <p:nvPr/>
        </p:nvCxnSpPr>
        <p:spPr>
          <a:xfrm flipV="1">
            <a:off x="1450506" y="695281"/>
            <a:ext cx="2999293" cy="15717"/>
          </a:xfrm>
          <a:prstGeom prst="line">
            <a:avLst/>
          </a:prstGeom>
          <a:ln w="19050" cmpd="dbl">
            <a:solidFill>
              <a:srgbClr val="3366FF">
                <a:alpha val="7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矩形 19">
            <a:extLst>
              <a:ext uri="{FF2B5EF4-FFF2-40B4-BE49-F238E27FC236}">
                <a16:creationId xmlns:a16="http://schemas.microsoft.com/office/drawing/2014/main" xmlns="" id="{82FE0EE3-DD34-4ECD-AB99-E9089285A34C}"/>
              </a:ext>
            </a:extLst>
          </p:cNvPr>
          <p:cNvSpPr/>
          <p:nvPr/>
        </p:nvSpPr>
        <p:spPr>
          <a:xfrm>
            <a:off x="11251918" y="293282"/>
            <a:ext cx="1741805" cy="523220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r"/>
            <a:r>
              <a:rPr lang="zh-CN" altLang="en-US" sz="2800" spc="20" dirty="0">
                <a:latin typeface="冬青黑体简体中文 W6" panose="020B0600000000000000" pitchFamily="34" charset="-122"/>
                <a:ea typeface="冬青黑体简体中文 W6" panose="020B0600000000000000" pitchFamily="34" charset="-122"/>
                <a:cs typeface="阿里巴巴普惠体 R" panose="00020600040101010101" pitchFamily="18" charset="-122"/>
              </a:rPr>
              <a:t>光电技术</a:t>
            </a: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xmlns="" id="{942CFC6A-A6DB-0F43-9829-C9244014588C}"/>
              </a:ext>
            </a:extLst>
          </p:cNvPr>
          <p:cNvSpPr/>
          <p:nvPr/>
        </p:nvSpPr>
        <p:spPr>
          <a:xfrm flipV="1">
            <a:off x="0" y="7589506"/>
            <a:ext cx="10141249" cy="125744"/>
          </a:xfrm>
          <a:prstGeom prst="rect">
            <a:avLst/>
          </a:prstGeom>
          <a:gradFill flip="none" rotWithShape="1">
            <a:gsLst>
              <a:gs pos="0">
                <a:srgbClr val="1271FE"/>
              </a:gs>
              <a:gs pos="45000">
                <a:srgbClr val="6895F3"/>
              </a:gs>
              <a:gs pos="9000">
                <a:srgbClr val="3366FF"/>
              </a:gs>
              <a:gs pos="100000">
                <a:schemeClr val="accent1">
                  <a:lumMod val="60000"/>
                  <a:lumOff val="40000"/>
                </a:schemeClr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240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8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3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8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9" grpId="0" animBg="1"/>
      <p:bldP spid="10" grpId="0" animBg="1"/>
      <p:bldP spid="11" grpId="0" animBg="1"/>
      <p:bldP spid="13" grpId="0" animBg="1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8" name="Rectangle 4"/>
          <p:cNvSpPr>
            <a:spLocks noChangeArrowheads="1"/>
          </p:cNvSpPr>
          <p:nvPr/>
        </p:nvSpPr>
        <p:spPr bwMode="auto">
          <a:xfrm>
            <a:off x="3476625" y="1182578"/>
            <a:ext cx="7296150" cy="64633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pPr algn="ctr" defTabSz="914400" eaLnBrk="0" hangingPunct="0"/>
            <a:r>
              <a:rPr lang="zh-CN" altLang="en-US" sz="3600" b="1" dirty="0" smtClean="0">
                <a:solidFill>
                  <a:srgbClr val="0000CC"/>
                </a:solidFill>
                <a:latin typeface="Times New Roman" pitchFamily="18" charset="0"/>
                <a:ea typeface="微软雅黑" pitchFamily="34" charset="-122"/>
              </a:rPr>
              <a:t>三、双</a:t>
            </a:r>
            <a:r>
              <a:rPr lang="en-US" altLang="zh-CN" sz="3600" b="1" dirty="0">
                <a:solidFill>
                  <a:srgbClr val="0000CC"/>
                </a:solidFill>
                <a:latin typeface="Times New Roman" pitchFamily="18" charset="0"/>
                <a:ea typeface="微软雅黑" pitchFamily="34" charset="-122"/>
              </a:rPr>
              <a:t>CCD</a:t>
            </a:r>
            <a:r>
              <a:rPr lang="zh-CN" altLang="en-US" sz="3600" b="1" dirty="0">
                <a:solidFill>
                  <a:srgbClr val="0000CC"/>
                </a:solidFill>
                <a:latin typeface="Times New Roman" pitchFamily="18" charset="0"/>
                <a:ea typeface="微软雅黑" pitchFamily="34" charset="-122"/>
              </a:rPr>
              <a:t>交会测量的基本原理</a:t>
            </a:r>
          </a:p>
        </p:txBody>
      </p:sp>
      <p:sp>
        <p:nvSpPr>
          <p:cNvPr id="12" name="Rectangle 11"/>
          <p:cNvSpPr>
            <a:spLocks noChangeArrowheads="1"/>
          </p:cNvSpPr>
          <p:nvPr/>
        </p:nvSpPr>
        <p:spPr bwMode="auto">
          <a:xfrm>
            <a:off x="1276350" y="2019662"/>
            <a:ext cx="5453063" cy="5847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pPr defTabSz="914400"/>
            <a:r>
              <a:rPr lang="en-US" altLang="zh-CN" sz="3200" b="1" dirty="0">
                <a:solidFill>
                  <a:srgbClr val="FF0000"/>
                </a:solidFill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1. </a:t>
            </a:r>
            <a:r>
              <a:rPr lang="zh-CN" altLang="en-US" sz="3200" b="1" dirty="0">
                <a:solidFill>
                  <a:srgbClr val="FF0000"/>
                </a:solidFill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双</a:t>
            </a:r>
            <a:r>
              <a:rPr lang="en-US" altLang="zh-CN" sz="3200" b="1" dirty="0">
                <a:solidFill>
                  <a:srgbClr val="FF0000"/>
                </a:solidFill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CCD</a:t>
            </a:r>
            <a:r>
              <a:rPr lang="zh-CN" altLang="en-US" sz="3200" b="1" dirty="0">
                <a:solidFill>
                  <a:srgbClr val="FF0000"/>
                </a:solidFill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交会测量数学模型</a:t>
            </a:r>
          </a:p>
        </p:txBody>
      </p:sp>
      <p:graphicFrame>
        <p:nvGraphicFramePr>
          <p:cNvPr id="7170" name="Object 3"/>
          <p:cNvGraphicFramePr>
            <a:graphicFrameLocks noChangeAspect="1"/>
          </p:cNvGraphicFramePr>
          <p:nvPr/>
        </p:nvGraphicFramePr>
        <p:xfrm>
          <a:off x="2105025" y="2971800"/>
          <a:ext cx="3143250" cy="2330450"/>
        </p:xfrm>
        <a:graphic>
          <a:graphicData uri="http://schemas.openxmlformats.org/presentationml/2006/ole">
            <p:oleObj spid="_x0000_s25611" r:id="rId3" imgW="1993900" imgH="1473200" progId="">
              <p:embed/>
            </p:oleObj>
          </a:graphicData>
        </a:graphic>
      </p:graphicFrame>
      <p:graphicFrame>
        <p:nvGraphicFramePr>
          <p:cNvPr id="139269" name="Object 5"/>
          <p:cNvGraphicFramePr>
            <a:graphicFrameLocks noChangeAspect="1"/>
          </p:cNvGraphicFramePr>
          <p:nvPr/>
        </p:nvGraphicFramePr>
        <p:xfrm>
          <a:off x="2547938" y="5572125"/>
          <a:ext cx="1071562" cy="669925"/>
        </p:xfrm>
        <a:graphic>
          <a:graphicData uri="http://schemas.openxmlformats.org/presentationml/2006/ole">
            <p:oleObj spid="_x0000_s25613" name="公式" r:id="rId4" imgW="685800" imgH="431800" progId="Equation.3">
              <p:embed/>
            </p:oleObj>
          </a:graphicData>
        </a:graphic>
      </p:graphicFrame>
      <p:graphicFrame>
        <p:nvGraphicFramePr>
          <p:cNvPr id="139271" name="Object 7"/>
          <p:cNvGraphicFramePr>
            <a:graphicFrameLocks noChangeAspect="1"/>
          </p:cNvGraphicFramePr>
          <p:nvPr/>
        </p:nvGraphicFramePr>
        <p:xfrm>
          <a:off x="3976688" y="5572125"/>
          <a:ext cx="952500" cy="571500"/>
        </p:xfrm>
        <a:graphic>
          <a:graphicData uri="http://schemas.openxmlformats.org/presentationml/2006/ole">
            <p:oleObj spid="_x0000_s25615" name="公式" r:id="rId5" imgW="710891" imgH="431613" progId="Equation.3">
              <p:embed/>
            </p:oleObj>
          </a:graphicData>
        </a:graphic>
      </p:graphicFrame>
      <p:graphicFrame>
        <p:nvGraphicFramePr>
          <p:cNvPr id="139273" name="Object 9"/>
          <p:cNvGraphicFramePr>
            <a:graphicFrameLocks noChangeAspect="1"/>
          </p:cNvGraphicFramePr>
          <p:nvPr/>
        </p:nvGraphicFramePr>
        <p:xfrm>
          <a:off x="2405063" y="6286500"/>
          <a:ext cx="1384300" cy="571500"/>
        </p:xfrm>
        <a:graphic>
          <a:graphicData uri="http://schemas.openxmlformats.org/presentationml/2006/ole">
            <p:oleObj spid="_x0000_s25617" name="公式" r:id="rId6" imgW="1040948" imgH="431613" progId="Equation.3">
              <p:embed/>
            </p:oleObj>
          </a:graphicData>
        </a:graphic>
      </p:graphicFrame>
      <p:graphicFrame>
        <p:nvGraphicFramePr>
          <p:cNvPr id="139275" name="Object 11"/>
          <p:cNvGraphicFramePr>
            <a:graphicFrameLocks noChangeAspect="1"/>
          </p:cNvGraphicFramePr>
          <p:nvPr/>
        </p:nvGraphicFramePr>
        <p:xfrm>
          <a:off x="3976688" y="6357937"/>
          <a:ext cx="1460500" cy="571500"/>
        </p:xfrm>
        <a:graphic>
          <a:graphicData uri="http://schemas.openxmlformats.org/presentationml/2006/ole">
            <p:oleObj spid="_x0000_s25619" name="公式" r:id="rId7" imgW="1091726" imgH="431613" progId="Equation.3">
              <p:embed/>
            </p:oleObj>
          </a:graphicData>
        </a:graphic>
      </p:graphicFrame>
      <p:graphicFrame>
        <p:nvGraphicFramePr>
          <p:cNvPr id="25620" name="Object 20"/>
          <p:cNvGraphicFramePr>
            <a:graphicFrameLocks noChangeAspect="1"/>
          </p:cNvGraphicFramePr>
          <p:nvPr/>
        </p:nvGraphicFramePr>
        <p:xfrm>
          <a:off x="7122906" y="2286000"/>
          <a:ext cx="5713619" cy="4540251"/>
        </p:xfrm>
        <a:graphic>
          <a:graphicData uri="http://schemas.openxmlformats.org/presentationml/2006/ole">
            <p:oleObj spid="_x0000_s25620" name="Visio" r:id="rId8" imgW="2765520" imgH="2192040" progId="">
              <p:embed/>
            </p:oleObj>
          </a:graphicData>
        </a:graphic>
      </p:graphicFrame>
      <p:sp>
        <p:nvSpPr>
          <p:cNvPr id="20" name="文本框 60">
            <a:extLst>
              <a:ext uri="{FF2B5EF4-FFF2-40B4-BE49-F238E27FC236}">
                <a16:creationId xmlns:a16="http://schemas.microsoft.com/office/drawing/2014/main" xmlns="" id="{791D85D7-F412-9C48-9F2B-E33F5B7B4F3C}"/>
              </a:ext>
            </a:extLst>
          </p:cNvPr>
          <p:cNvSpPr txBox="1"/>
          <p:nvPr/>
        </p:nvSpPr>
        <p:spPr>
          <a:xfrm>
            <a:off x="1364780" y="293282"/>
            <a:ext cx="4560031" cy="369332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/>
          <a:p>
            <a:r>
              <a:rPr lang="zh-CN" altLang="en-US" sz="1800" b="1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用于三维复合精细成像的双</a:t>
            </a:r>
            <a:r>
              <a:rPr lang="en-US" altLang="zh-CN" sz="1800" b="1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CCD</a:t>
            </a:r>
            <a:r>
              <a:rPr lang="zh-CN" altLang="en-US" sz="1800" b="1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交会测量</a:t>
            </a:r>
            <a:endParaRPr lang="zh-CN" altLang="en-US" sz="18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1" name="矩形 20"/>
          <p:cNvSpPr/>
          <p:nvPr/>
        </p:nvSpPr>
        <p:spPr>
          <a:xfrm>
            <a:off x="10256520" y="329189"/>
            <a:ext cx="1211081" cy="451406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>
              <a:lnSpc>
                <a:spcPts val="1400"/>
              </a:lnSpc>
            </a:pPr>
            <a:r>
              <a:rPr lang="en-US" altLang="zh-CN" sz="1100" b="1" spc="50" dirty="0">
                <a:latin typeface="冬青黑体简体中文 W6"/>
                <a:ea typeface="冬青黑体简体中文 W6" panose="020B0600000000000000" pitchFamily="34" charset="-122"/>
                <a:cs typeface="Times New Roman" panose="02020603050405020304" pitchFamily="18" charset="0"/>
              </a:rPr>
              <a:t>Photoelectric</a:t>
            </a:r>
          </a:p>
          <a:p>
            <a:pPr>
              <a:lnSpc>
                <a:spcPts val="1400"/>
              </a:lnSpc>
            </a:pPr>
            <a:r>
              <a:rPr lang="en-US" altLang="zh-CN" sz="1100" b="1" spc="50" dirty="0">
                <a:latin typeface="冬青黑体简体中文 W6"/>
                <a:ea typeface="冬青黑体简体中文 W6" panose="020B0600000000000000" pitchFamily="34" charset="-122"/>
                <a:cs typeface="Times New Roman" panose="02020603050405020304" pitchFamily="18" charset="0"/>
              </a:rPr>
              <a:t>Technology</a:t>
            </a:r>
            <a:endParaRPr lang="zh-CN" altLang="en-US" sz="1100" b="1" spc="50" dirty="0">
              <a:ln w="22225">
                <a:solidFill>
                  <a:schemeClr val="accent2"/>
                </a:solidFill>
                <a:prstDash val="solid"/>
              </a:ln>
              <a:latin typeface="冬青黑体简体中文 W6"/>
              <a:ea typeface="冬青黑体简体中文 W6" panose="020B0600000000000000" pitchFamily="34" charset="-122"/>
              <a:cs typeface="Times New Roman" panose="02020603050405020304" pitchFamily="18" charset="0"/>
            </a:endParaRPr>
          </a:p>
        </p:txBody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xmlns="" id="{B0EA110F-2BA5-44F1-BDF2-A8AD51CC83F5}"/>
              </a:ext>
            </a:extLst>
          </p:cNvPr>
          <p:cNvSpPr/>
          <p:nvPr/>
        </p:nvSpPr>
        <p:spPr>
          <a:xfrm>
            <a:off x="12993723" y="361950"/>
            <a:ext cx="167523" cy="412649"/>
          </a:xfrm>
          <a:prstGeom prst="rect">
            <a:avLst/>
          </a:prstGeom>
          <a:gradFill>
            <a:gsLst>
              <a:gs pos="0">
                <a:srgbClr val="0066FF"/>
              </a:gs>
              <a:gs pos="100000">
                <a:schemeClr val="accent1">
                  <a:lumMod val="100000"/>
                </a:schemeClr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3" name="矩形: 圆角 25">
            <a:extLst>
              <a:ext uri="{FF2B5EF4-FFF2-40B4-BE49-F238E27FC236}">
                <a16:creationId xmlns:a16="http://schemas.microsoft.com/office/drawing/2014/main" xmlns="" id="{D7400AB1-4BEC-40E5-A53B-E3CB1F48EB8A}"/>
              </a:ext>
            </a:extLst>
          </p:cNvPr>
          <p:cNvSpPr/>
          <p:nvPr/>
        </p:nvSpPr>
        <p:spPr>
          <a:xfrm>
            <a:off x="336177" y="293282"/>
            <a:ext cx="948448" cy="481317"/>
          </a:xfrm>
          <a:prstGeom prst="roundRect">
            <a:avLst/>
          </a:prstGeom>
          <a:gradFill>
            <a:gsLst>
              <a:gs pos="0">
                <a:srgbClr val="0066FF"/>
              </a:gs>
              <a:gs pos="100000">
                <a:schemeClr val="accent1">
                  <a:lumMod val="100000"/>
                </a:schemeClr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Bef>
                <a:spcPts val="800"/>
              </a:spcBef>
            </a:pPr>
            <a:r>
              <a:rPr kumimoji="1" lang="en-US" altLang="zh-CN" sz="2800" b="1" dirty="0" smtClean="0">
                <a:solidFill>
                  <a:schemeClr val="bg1"/>
                </a:solidFill>
                <a:latin typeface="Times New Roman" panose="02020603050405020304" pitchFamily="18" charset="0"/>
                <a:ea typeface="Microsoft YaHei" panose="020B0503020204020204" pitchFamily="34" charset="-122"/>
                <a:cs typeface="Times New Roman" panose="02020603050405020304" pitchFamily="18" charset="0"/>
              </a:rPr>
              <a:t>10.1</a:t>
            </a:r>
            <a:endParaRPr kumimoji="1" lang="zh-CN" altLang="en-US" sz="2800" b="1" dirty="0">
              <a:solidFill>
                <a:schemeClr val="bg1"/>
              </a:solidFill>
              <a:latin typeface="Times New Roman" panose="02020603050405020304" pitchFamily="18" charset="0"/>
              <a:ea typeface="Microsoft YaHei" panose="020B0503020204020204" pitchFamily="34" charset="-122"/>
              <a:cs typeface="Times New Roman" panose="02020603050405020304" pitchFamily="18" charset="0"/>
            </a:endParaRPr>
          </a:p>
        </p:txBody>
      </p:sp>
      <p:cxnSp>
        <p:nvCxnSpPr>
          <p:cNvPr id="24" name="直接连接符 58">
            <a:extLst>
              <a:ext uri="{FF2B5EF4-FFF2-40B4-BE49-F238E27FC236}">
                <a16:creationId xmlns:a16="http://schemas.microsoft.com/office/drawing/2014/main" xmlns="" id="{8C5F82EF-52B4-4531-96F0-44689EA1125E}"/>
              </a:ext>
            </a:extLst>
          </p:cNvPr>
          <p:cNvCxnSpPr>
            <a:cxnSpLocks/>
          </p:cNvCxnSpPr>
          <p:nvPr/>
        </p:nvCxnSpPr>
        <p:spPr>
          <a:xfrm flipV="1">
            <a:off x="1450506" y="695281"/>
            <a:ext cx="2999293" cy="15717"/>
          </a:xfrm>
          <a:prstGeom prst="line">
            <a:avLst/>
          </a:prstGeom>
          <a:ln w="19050" cmpd="dbl">
            <a:solidFill>
              <a:srgbClr val="3366FF">
                <a:alpha val="7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矩形 24">
            <a:extLst>
              <a:ext uri="{FF2B5EF4-FFF2-40B4-BE49-F238E27FC236}">
                <a16:creationId xmlns:a16="http://schemas.microsoft.com/office/drawing/2014/main" xmlns="" id="{82FE0EE3-DD34-4ECD-AB99-E9089285A34C}"/>
              </a:ext>
            </a:extLst>
          </p:cNvPr>
          <p:cNvSpPr/>
          <p:nvPr/>
        </p:nvSpPr>
        <p:spPr>
          <a:xfrm>
            <a:off x="11251918" y="293282"/>
            <a:ext cx="1741805" cy="523220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r"/>
            <a:r>
              <a:rPr lang="zh-CN" altLang="en-US" sz="2800" spc="20" dirty="0">
                <a:latin typeface="冬青黑体简体中文 W6" panose="020B0600000000000000" pitchFamily="34" charset="-122"/>
                <a:ea typeface="冬青黑体简体中文 W6" panose="020B0600000000000000" pitchFamily="34" charset="-122"/>
                <a:cs typeface="阿里巴巴普惠体 R" panose="00020600040101010101" pitchFamily="18" charset="-122"/>
              </a:rPr>
              <a:t>光电技术</a:t>
            </a:r>
          </a:p>
        </p:txBody>
      </p:sp>
      <p:sp>
        <p:nvSpPr>
          <p:cNvPr id="26" name="矩形 25">
            <a:extLst>
              <a:ext uri="{FF2B5EF4-FFF2-40B4-BE49-F238E27FC236}">
                <a16:creationId xmlns:a16="http://schemas.microsoft.com/office/drawing/2014/main" xmlns="" id="{942CFC6A-A6DB-0F43-9829-C9244014588C}"/>
              </a:ext>
            </a:extLst>
          </p:cNvPr>
          <p:cNvSpPr/>
          <p:nvPr/>
        </p:nvSpPr>
        <p:spPr>
          <a:xfrm flipV="1">
            <a:off x="0" y="7589506"/>
            <a:ext cx="10141249" cy="125744"/>
          </a:xfrm>
          <a:prstGeom prst="rect">
            <a:avLst/>
          </a:prstGeom>
          <a:gradFill flip="none" rotWithShape="1">
            <a:gsLst>
              <a:gs pos="0">
                <a:srgbClr val="1271FE"/>
              </a:gs>
              <a:gs pos="45000">
                <a:srgbClr val="6895F3"/>
              </a:gs>
              <a:gs pos="9000">
                <a:srgbClr val="3366FF"/>
              </a:gs>
              <a:gs pos="100000">
                <a:schemeClr val="accent1">
                  <a:lumMod val="60000"/>
                  <a:lumOff val="40000"/>
                </a:schemeClr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240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71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92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1392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92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0" dur="500"/>
                                        <p:tgtEl>
                                          <p:spTgt spid="1392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92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3" dur="500"/>
                                        <p:tgtEl>
                                          <p:spTgt spid="1392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92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6" dur="500"/>
                                        <p:tgtEl>
                                          <p:spTgt spid="1392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utoUpdateAnimBg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1"/>
          <p:cNvSpPr>
            <a:spLocks noChangeArrowheads="1"/>
          </p:cNvSpPr>
          <p:nvPr/>
        </p:nvSpPr>
        <p:spPr bwMode="auto">
          <a:xfrm>
            <a:off x="1276350" y="1246188"/>
            <a:ext cx="4071938" cy="5794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>
            <a:spAutoFit/>
          </a:bodyPr>
          <a:lstStyle/>
          <a:p>
            <a:pPr algn="ctr" defTabSz="914400"/>
            <a:r>
              <a:rPr lang="en-US" altLang="zh-CN" sz="3200" b="1" dirty="0">
                <a:solidFill>
                  <a:srgbClr val="FF0000"/>
                </a:solidFill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2. </a:t>
            </a:r>
            <a:r>
              <a:rPr lang="zh-CN" altLang="en-US" sz="3200" b="1" dirty="0">
                <a:solidFill>
                  <a:srgbClr val="FF0000"/>
                </a:solidFill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双</a:t>
            </a:r>
            <a:r>
              <a:rPr lang="en-US" altLang="zh-CN" sz="3200" b="1" dirty="0">
                <a:solidFill>
                  <a:srgbClr val="FF0000"/>
                </a:solidFill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CCD</a:t>
            </a:r>
            <a:r>
              <a:rPr lang="zh-CN" altLang="en-US" sz="3200" b="1" dirty="0">
                <a:solidFill>
                  <a:srgbClr val="FF0000"/>
                </a:solidFill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有效视场</a:t>
            </a:r>
          </a:p>
        </p:txBody>
      </p:sp>
      <p:sp>
        <p:nvSpPr>
          <p:cNvPr id="26633" name="Rectangle 4"/>
          <p:cNvSpPr>
            <a:spLocks noChangeArrowheads="1"/>
          </p:cNvSpPr>
          <p:nvPr/>
        </p:nvSpPr>
        <p:spPr bwMode="auto">
          <a:xfrm>
            <a:off x="304800" y="369888"/>
            <a:ext cx="184150" cy="5191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pPr defTabSz="914400"/>
            <a:endParaRPr lang="zh-CN" altLang="en-US" sz="2800" b="1">
              <a:latin typeface="楷体_GB2312" pitchFamily="49" charset="-122"/>
              <a:ea typeface="楷体_GB2312" pitchFamily="49" charset="-122"/>
            </a:endParaRPr>
          </a:p>
        </p:txBody>
      </p:sp>
      <p:sp>
        <p:nvSpPr>
          <p:cNvPr id="26634" name="Rectangle 6"/>
          <p:cNvSpPr>
            <a:spLocks noChangeArrowheads="1"/>
          </p:cNvSpPr>
          <p:nvPr/>
        </p:nvSpPr>
        <p:spPr bwMode="auto">
          <a:xfrm>
            <a:off x="304800" y="369888"/>
            <a:ext cx="184150" cy="5191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pPr defTabSz="914400"/>
            <a:endParaRPr lang="zh-CN" altLang="en-US" sz="2800" b="1">
              <a:latin typeface="楷体_GB2312" pitchFamily="49" charset="-122"/>
              <a:ea typeface="楷体_GB2312" pitchFamily="49" charset="-122"/>
            </a:endParaRPr>
          </a:p>
        </p:txBody>
      </p:sp>
      <p:sp>
        <p:nvSpPr>
          <p:cNvPr id="26635" name="Rectangle 8"/>
          <p:cNvSpPr>
            <a:spLocks noChangeArrowheads="1"/>
          </p:cNvSpPr>
          <p:nvPr/>
        </p:nvSpPr>
        <p:spPr bwMode="auto">
          <a:xfrm>
            <a:off x="304800" y="369888"/>
            <a:ext cx="184150" cy="5191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pPr defTabSz="914400"/>
            <a:endParaRPr lang="zh-CN" altLang="en-US" sz="2800" b="1">
              <a:latin typeface="楷体_GB2312" pitchFamily="49" charset="-122"/>
              <a:ea typeface="楷体_GB2312" pitchFamily="49" charset="-122"/>
            </a:endParaRPr>
          </a:p>
        </p:txBody>
      </p:sp>
      <p:sp>
        <p:nvSpPr>
          <p:cNvPr id="26636" name="Rectangle 10"/>
          <p:cNvSpPr>
            <a:spLocks noChangeArrowheads="1"/>
          </p:cNvSpPr>
          <p:nvPr/>
        </p:nvSpPr>
        <p:spPr bwMode="auto">
          <a:xfrm>
            <a:off x="304800" y="369888"/>
            <a:ext cx="184150" cy="5191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pPr defTabSz="914400"/>
            <a:endParaRPr lang="zh-CN" altLang="en-US" sz="2800" b="1">
              <a:latin typeface="楷体_GB2312" pitchFamily="49" charset="-122"/>
              <a:ea typeface="楷体_GB2312" pitchFamily="49" charset="-122"/>
            </a:endParaRPr>
          </a:p>
        </p:txBody>
      </p:sp>
      <p:sp>
        <p:nvSpPr>
          <p:cNvPr id="26637" name="Rectangle 12"/>
          <p:cNvSpPr>
            <a:spLocks noChangeArrowheads="1"/>
          </p:cNvSpPr>
          <p:nvPr/>
        </p:nvSpPr>
        <p:spPr bwMode="auto">
          <a:xfrm>
            <a:off x="304800" y="369888"/>
            <a:ext cx="184150" cy="5191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pPr defTabSz="914400"/>
            <a:endParaRPr lang="zh-CN" altLang="en-US" sz="2800" b="1">
              <a:latin typeface="楷体_GB2312" pitchFamily="49" charset="-122"/>
              <a:ea typeface="楷体_GB2312" pitchFamily="49" charset="-122"/>
            </a:endParaRPr>
          </a:p>
        </p:txBody>
      </p:sp>
      <p:sp>
        <p:nvSpPr>
          <p:cNvPr id="16" name="矩形 15"/>
          <p:cNvSpPr>
            <a:spLocks noChangeArrowheads="1"/>
          </p:cNvSpPr>
          <p:nvPr/>
        </p:nvSpPr>
        <p:spPr bwMode="auto">
          <a:xfrm>
            <a:off x="804862" y="1870075"/>
            <a:ext cx="11796713" cy="138499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defTabSz="914400">
              <a:lnSpc>
                <a:spcPct val="150000"/>
              </a:lnSpc>
            </a:pPr>
            <a:r>
              <a:rPr lang="zh-CN" altLang="en-US" sz="2800" b="1" dirty="0" smtClean="0"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        每个</a:t>
            </a:r>
            <a:r>
              <a:rPr lang="en-US" altLang="zh-CN" sz="2800" b="1" dirty="0"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CCD</a:t>
            </a:r>
            <a:r>
              <a:rPr lang="zh-CN" altLang="en-US" sz="2800" b="1" dirty="0"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摄像机都有一个成像范围，双</a:t>
            </a:r>
            <a:r>
              <a:rPr lang="en-US" altLang="zh-CN" sz="2800" b="1" dirty="0"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CCD</a:t>
            </a:r>
            <a:r>
              <a:rPr lang="zh-CN" altLang="en-US" sz="2800" b="1" dirty="0"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交会测量系统的</a:t>
            </a:r>
            <a:r>
              <a:rPr lang="zh-CN" altLang="en-US" sz="2800" b="1" dirty="0">
                <a:solidFill>
                  <a:srgbClr val="FF0000"/>
                </a:solidFill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有效视场</a:t>
            </a:r>
            <a:r>
              <a:rPr lang="zh-CN" altLang="en-US" sz="2800" b="1" dirty="0"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就是两个面阵</a:t>
            </a:r>
            <a:r>
              <a:rPr lang="en-US" altLang="zh-CN" sz="2800" b="1" dirty="0"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CCD</a:t>
            </a:r>
            <a:r>
              <a:rPr lang="zh-CN" altLang="en-US" sz="2800" b="1" dirty="0"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的成像交叠的区域。</a:t>
            </a:r>
          </a:p>
        </p:txBody>
      </p:sp>
      <p:sp>
        <p:nvSpPr>
          <p:cNvPr id="18" name="矩形 17"/>
          <p:cNvSpPr>
            <a:spLocks noChangeArrowheads="1"/>
          </p:cNvSpPr>
          <p:nvPr/>
        </p:nvSpPr>
        <p:spPr bwMode="auto">
          <a:xfrm>
            <a:off x="827081" y="3295651"/>
            <a:ext cx="7202494" cy="220368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defTabSz="914400">
              <a:lnSpc>
                <a:spcPct val="130000"/>
              </a:lnSpc>
            </a:pPr>
            <a:r>
              <a:rPr lang="zh-CN" altLang="en-US" sz="2800" b="1" dirty="0" smtClean="0"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        考虑</a:t>
            </a:r>
            <a:r>
              <a:rPr lang="en-US" altLang="zh-CN" sz="2800" b="1" dirty="0"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CCD</a:t>
            </a:r>
            <a:r>
              <a:rPr lang="zh-CN" altLang="en-US" sz="2800" b="1" dirty="0"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对称放置，在</a:t>
            </a:r>
            <a:r>
              <a:rPr lang="zh-CN" altLang="en-US" sz="2800" b="1" dirty="0">
                <a:solidFill>
                  <a:srgbClr val="006600"/>
                </a:solidFill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水平</a:t>
            </a:r>
            <a:r>
              <a:rPr lang="zh-CN" altLang="en-US" sz="2800" b="1" dirty="0"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公共视场区域内作一内切圆，半径为</a:t>
            </a:r>
            <a:r>
              <a:rPr lang="en-US" altLang="zh-CN" sz="2800" b="1" i="1" dirty="0" err="1"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R</a:t>
            </a:r>
            <a:r>
              <a:rPr lang="en-US" altLang="zh-CN" sz="2800" b="1" i="1" baseline="-30000" dirty="0" err="1"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b</a:t>
            </a:r>
            <a:r>
              <a:rPr lang="zh-CN" altLang="en-US" sz="2800" b="1" dirty="0"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，内切圆半径一定程度上代表实际有效视场的大小。</a:t>
            </a:r>
          </a:p>
          <a:p>
            <a:pPr defTabSz="914400"/>
            <a:endParaRPr lang="zh-CN" altLang="en-US" sz="2800" b="1" dirty="0">
              <a:latin typeface="Times New Roman" pitchFamily="18" charset="0"/>
              <a:ea typeface="黑体" pitchFamily="2" charset="-122"/>
              <a:cs typeface="Times New Roman" pitchFamily="18" charset="0"/>
            </a:endParaRPr>
          </a:p>
        </p:txBody>
      </p:sp>
      <p:sp>
        <p:nvSpPr>
          <p:cNvPr id="26640" name="Rectangle 10"/>
          <p:cNvSpPr>
            <a:spLocks noChangeArrowheads="1"/>
          </p:cNvSpPr>
          <p:nvPr/>
        </p:nvSpPr>
        <p:spPr bwMode="auto">
          <a:xfrm>
            <a:off x="304800" y="369888"/>
            <a:ext cx="184150" cy="5191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pPr defTabSz="914400"/>
            <a:endParaRPr lang="zh-CN" altLang="en-US" sz="2800" b="1">
              <a:latin typeface="楷体_GB2312" pitchFamily="49" charset="-122"/>
              <a:ea typeface="楷体_GB2312" pitchFamily="49" charset="-122"/>
            </a:endParaRPr>
          </a:p>
        </p:txBody>
      </p:sp>
      <p:graphicFrame>
        <p:nvGraphicFramePr>
          <p:cNvPr id="141321" name="Object 9"/>
          <p:cNvGraphicFramePr>
            <a:graphicFrameLocks noChangeAspect="1"/>
          </p:cNvGraphicFramePr>
          <p:nvPr/>
        </p:nvGraphicFramePr>
        <p:xfrm>
          <a:off x="2619376" y="5857874"/>
          <a:ext cx="2357438" cy="1150938"/>
        </p:xfrm>
        <a:graphic>
          <a:graphicData uri="http://schemas.openxmlformats.org/presentationml/2006/ole">
            <p:oleObj spid="_x0000_s26641" r:id="rId3" imgW="799753" imgH="393529" progId="">
              <p:embed/>
            </p:oleObj>
          </a:graphicData>
        </a:graphic>
      </p:graphicFrame>
      <p:sp>
        <p:nvSpPr>
          <p:cNvPr id="22" name="椭圆形标注 21"/>
          <p:cNvSpPr>
            <a:spLocks noChangeArrowheads="1"/>
          </p:cNvSpPr>
          <p:nvPr/>
        </p:nvSpPr>
        <p:spPr bwMode="auto">
          <a:xfrm>
            <a:off x="5762625" y="5314950"/>
            <a:ext cx="2152650" cy="1228726"/>
          </a:xfrm>
          <a:prstGeom prst="wedgeEllipseCallout">
            <a:avLst>
              <a:gd name="adj1" fmla="val -86667"/>
              <a:gd name="adj2" fmla="val 15902"/>
            </a:avLst>
          </a:prstGeom>
          <a:solidFill>
            <a:srgbClr val="FFFF00"/>
          </a:solidFill>
          <a:ln w="25400" algn="ctr">
            <a:solidFill>
              <a:srgbClr val="385D8A"/>
            </a:solidFill>
            <a:miter lim="800000"/>
            <a:headEnd/>
            <a:tailEnd/>
          </a:ln>
        </p:spPr>
        <p:txBody>
          <a:bodyPr anchor="ctr"/>
          <a:lstStyle/>
          <a:p>
            <a:pPr algn="ctr" defTabSz="914400">
              <a:defRPr/>
            </a:pPr>
            <a:r>
              <a:rPr lang="en-US" altLang="zh-CN" sz="2400" b="1" dirty="0"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CCD</a:t>
            </a:r>
            <a:r>
              <a:rPr lang="zh-CN" altLang="en-US" sz="2400" b="1" dirty="0"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水平半视场角</a:t>
            </a:r>
          </a:p>
        </p:txBody>
      </p:sp>
      <p:graphicFrame>
        <p:nvGraphicFramePr>
          <p:cNvPr id="26643" name="Object 19"/>
          <p:cNvGraphicFramePr>
            <a:graphicFrameLocks noChangeAspect="1"/>
          </p:cNvGraphicFramePr>
          <p:nvPr/>
        </p:nvGraphicFramePr>
        <p:xfrm>
          <a:off x="8104947" y="2824161"/>
          <a:ext cx="4872866" cy="4048125"/>
        </p:xfrm>
        <a:graphic>
          <a:graphicData uri="http://schemas.openxmlformats.org/presentationml/2006/ole">
            <p:oleObj spid="_x0000_s26643" name="Visio" r:id="rId4" imgW="1914840" imgH="1591920" progId="">
              <p:embed/>
            </p:oleObj>
          </a:graphicData>
        </a:graphic>
      </p:graphicFrame>
      <p:sp>
        <p:nvSpPr>
          <p:cNvPr id="20" name="文本框 60">
            <a:extLst>
              <a:ext uri="{FF2B5EF4-FFF2-40B4-BE49-F238E27FC236}">
                <a16:creationId xmlns:a16="http://schemas.microsoft.com/office/drawing/2014/main" xmlns="" id="{791D85D7-F412-9C48-9F2B-E33F5B7B4F3C}"/>
              </a:ext>
            </a:extLst>
          </p:cNvPr>
          <p:cNvSpPr txBox="1"/>
          <p:nvPr/>
        </p:nvSpPr>
        <p:spPr>
          <a:xfrm>
            <a:off x="1364780" y="293282"/>
            <a:ext cx="4560031" cy="369332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/>
          <a:p>
            <a:r>
              <a:rPr lang="zh-CN" altLang="en-US" sz="1800" b="1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用于三维复合精细成像的双</a:t>
            </a:r>
            <a:r>
              <a:rPr lang="en-US" altLang="zh-CN" sz="1800" b="1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CCD</a:t>
            </a:r>
            <a:r>
              <a:rPr lang="zh-CN" altLang="en-US" sz="1800" b="1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交会测量</a:t>
            </a:r>
            <a:endParaRPr lang="zh-CN" altLang="en-US" sz="18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1" name="矩形 20"/>
          <p:cNvSpPr/>
          <p:nvPr/>
        </p:nvSpPr>
        <p:spPr>
          <a:xfrm>
            <a:off x="10256520" y="329189"/>
            <a:ext cx="1211081" cy="451406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>
              <a:lnSpc>
                <a:spcPts val="1400"/>
              </a:lnSpc>
            </a:pPr>
            <a:r>
              <a:rPr lang="en-US" altLang="zh-CN" sz="1100" b="1" spc="50" dirty="0">
                <a:latin typeface="冬青黑体简体中文 W6"/>
                <a:ea typeface="冬青黑体简体中文 W6" panose="020B0600000000000000" pitchFamily="34" charset="-122"/>
                <a:cs typeface="Times New Roman" panose="02020603050405020304" pitchFamily="18" charset="0"/>
              </a:rPr>
              <a:t>Photoelectric</a:t>
            </a:r>
          </a:p>
          <a:p>
            <a:pPr>
              <a:lnSpc>
                <a:spcPts val="1400"/>
              </a:lnSpc>
            </a:pPr>
            <a:r>
              <a:rPr lang="en-US" altLang="zh-CN" sz="1100" b="1" spc="50" dirty="0">
                <a:latin typeface="冬青黑体简体中文 W6"/>
                <a:ea typeface="冬青黑体简体中文 W6" panose="020B0600000000000000" pitchFamily="34" charset="-122"/>
                <a:cs typeface="Times New Roman" panose="02020603050405020304" pitchFamily="18" charset="0"/>
              </a:rPr>
              <a:t>Technology</a:t>
            </a:r>
            <a:endParaRPr lang="zh-CN" altLang="en-US" sz="1100" b="1" spc="50" dirty="0">
              <a:ln w="22225">
                <a:solidFill>
                  <a:schemeClr val="accent2"/>
                </a:solidFill>
                <a:prstDash val="solid"/>
              </a:ln>
              <a:latin typeface="冬青黑体简体中文 W6"/>
              <a:ea typeface="冬青黑体简体中文 W6" panose="020B0600000000000000" pitchFamily="34" charset="-122"/>
              <a:cs typeface="Times New Roman" panose="02020603050405020304" pitchFamily="18" charset="0"/>
            </a:endParaRPr>
          </a:p>
        </p:txBody>
      </p:sp>
      <p:sp>
        <p:nvSpPr>
          <p:cNvPr id="23" name="矩形 22">
            <a:extLst>
              <a:ext uri="{FF2B5EF4-FFF2-40B4-BE49-F238E27FC236}">
                <a16:creationId xmlns:a16="http://schemas.microsoft.com/office/drawing/2014/main" xmlns="" id="{B0EA110F-2BA5-44F1-BDF2-A8AD51CC83F5}"/>
              </a:ext>
            </a:extLst>
          </p:cNvPr>
          <p:cNvSpPr/>
          <p:nvPr/>
        </p:nvSpPr>
        <p:spPr>
          <a:xfrm>
            <a:off x="12993723" y="361950"/>
            <a:ext cx="167523" cy="412649"/>
          </a:xfrm>
          <a:prstGeom prst="rect">
            <a:avLst/>
          </a:prstGeom>
          <a:gradFill>
            <a:gsLst>
              <a:gs pos="0">
                <a:srgbClr val="0066FF"/>
              </a:gs>
              <a:gs pos="100000">
                <a:schemeClr val="accent1">
                  <a:lumMod val="100000"/>
                </a:schemeClr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4" name="矩形: 圆角 25">
            <a:extLst>
              <a:ext uri="{FF2B5EF4-FFF2-40B4-BE49-F238E27FC236}">
                <a16:creationId xmlns:a16="http://schemas.microsoft.com/office/drawing/2014/main" xmlns="" id="{D7400AB1-4BEC-40E5-A53B-E3CB1F48EB8A}"/>
              </a:ext>
            </a:extLst>
          </p:cNvPr>
          <p:cNvSpPr/>
          <p:nvPr/>
        </p:nvSpPr>
        <p:spPr>
          <a:xfrm>
            <a:off x="336177" y="293282"/>
            <a:ext cx="948448" cy="481317"/>
          </a:xfrm>
          <a:prstGeom prst="roundRect">
            <a:avLst/>
          </a:prstGeom>
          <a:gradFill>
            <a:gsLst>
              <a:gs pos="0">
                <a:srgbClr val="0066FF"/>
              </a:gs>
              <a:gs pos="100000">
                <a:schemeClr val="accent1">
                  <a:lumMod val="100000"/>
                </a:schemeClr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Bef>
                <a:spcPts val="800"/>
              </a:spcBef>
            </a:pPr>
            <a:r>
              <a:rPr kumimoji="1" lang="en-US" altLang="zh-CN" sz="2800" b="1" dirty="0" smtClean="0">
                <a:solidFill>
                  <a:schemeClr val="bg1"/>
                </a:solidFill>
                <a:latin typeface="Times New Roman" panose="02020603050405020304" pitchFamily="18" charset="0"/>
                <a:ea typeface="Microsoft YaHei" panose="020B0503020204020204" pitchFamily="34" charset="-122"/>
                <a:cs typeface="Times New Roman" panose="02020603050405020304" pitchFamily="18" charset="0"/>
              </a:rPr>
              <a:t>10.1</a:t>
            </a:r>
            <a:endParaRPr kumimoji="1" lang="zh-CN" altLang="en-US" sz="2800" b="1" dirty="0">
              <a:solidFill>
                <a:schemeClr val="bg1"/>
              </a:solidFill>
              <a:latin typeface="Times New Roman" panose="02020603050405020304" pitchFamily="18" charset="0"/>
              <a:ea typeface="Microsoft YaHei" panose="020B0503020204020204" pitchFamily="34" charset="-122"/>
              <a:cs typeface="Times New Roman" panose="02020603050405020304" pitchFamily="18" charset="0"/>
            </a:endParaRPr>
          </a:p>
        </p:txBody>
      </p:sp>
      <p:cxnSp>
        <p:nvCxnSpPr>
          <p:cNvPr id="25" name="直接连接符 58">
            <a:extLst>
              <a:ext uri="{FF2B5EF4-FFF2-40B4-BE49-F238E27FC236}">
                <a16:creationId xmlns:a16="http://schemas.microsoft.com/office/drawing/2014/main" xmlns="" id="{8C5F82EF-52B4-4531-96F0-44689EA1125E}"/>
              </a:ext>
            </a:extLst>
          </p:cNvPr>
          <p:cNvCxnSpPr>
            <a:cxnSpLocks/>
          </p:cNvCxnSpPr>
          <p:nvPr/>
        </p:nvCxnSpPr>
        <p:spPr>
          <a:xfrm flipV="1">
            <a:off x="1450506" y="695281"/>
            <a:ext cx="2999293" cy="15717"/>
          </a:xfrm>
          <a:prstGeom prst="line">
            <a:avLst/>
          </a:prstGeom>
          <a:ln w="19050" cmpd="dbl">
            <a:solidFill>
              <a:srgbClr val="3366FF">
                <a:alpha val="7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矩形 25">
            <a:extLst>
              <a:ext uri="{FF2B5EF4-FFF2-40B4-BE49-F238E27FC236}">
                <a16:creationId xmlns:a16="http://schemas.microsoft.com/office/drawing/2014/main" xmlns="" id="{82FE0EE3-DD34-4ECD-AB99-E9089285A34C}"/>
              </a:ext>
            </a:extLst>
          </p:cNvPr>
          <p:cNvSpPr/>
          <p:nvPr/>
        </p:nvSpPr>
        <p:spPr>
          <a:xfrm>
            <a:off x="11251918" y="293282"/>
            <a:ext cx="1741805" cy="523220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r"/>
            <a:r>
              <a:rPr lang="zh-CN" altLang="en-US" sz="2800" spc="20" dirty="0">
                <a:latin typeface="冬青黑体简体中文 W6" panose="020B0600000000000000" pitchFamily="34" charset="-122"/>
                <a:ea typeface="冬青黑体简体中文 W6" panose="020B0600000000000000" pitchFamily="34" charset="-122"/>
                <a:cs typeface="阿里巴巴普惠体 R" panose="00020600040101010101" pitchFamily="18" charset="-122"/>
              </a:rPr>
              <a:t>光电技术</a:t>
            </a:r>
          </a:p>
        </p:txBody>
      </p:sp>
      <p:sp>
        <p:nvSpPr>
          <p:cNvPr id="27" name="矩形 26">
            <a:extLst>
              <a:ext uri="{FF2B5EF4-FFF2-40B4-BE49-F238E27FC236}">
                <a16:creationId xmlns:a16="http://schemas.microsoft.com/office/drawing/2014/main" xmlns="" id="{942CFC6A-A6DB-0F43-9829-C9244014588C}"/>
              </a:ext>
            </a:extLst>
          </p:cNvPr>
          <p:cNvSpPr/>
          <p:nvPr/>
        </p:nvSpPr>
        <p:spPr>
          <a:xfrm flipV="1">
            <a:off x="0" y="7589506"/>
            <a:ext cx="10141249" cy="125744"/>
          </a:xfrm>
          <a:prstGeom prst="rect">
            <a:avLst/>
          </a:prstGeom>
          <a:gradFill flip="none" rotWithShape="1">
            <a:gsLst>
              <a:gs pos="0">
                <a:srgbClr val="1271FE"/>
              </a:gs>
              <a:gs pos="45000">
                <a:srgbClr val="6895F3"/>
              </a:gs>
              <a:gs pos="9000">
                <a:srgbClr val="3366FF"/>
              </a:gs>
              <a:gs pos="100000">
                <a:schemeClr val="accent1">
                  <a:lumMod val="60000"/>
                  <a:lumOff val="40000"/>
                </a:schemeClr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240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13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1413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1413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3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  <p:bldP spid="18" grpId="0"/>
      <p:bldP spid="22" grpId="0" animBg="1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6" name="Rectangle 4"/>
          <p:cNvSpPr>
            <a:spLocks noChangeArrowheads="1"/>
          </p:cNvSpPr>
          <p:nvPr/>
        </p:nvSpPr>
        <p:spPr bwMode="auto">
          <a:xfrm>
            <a:off x="2200274" y="1139715"/>
            <a:ext cx="9915525" cy="64633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pPr algn="ctr" defTabSz="914400" eaLnBrk="0" hangingPunct="0"/>
            <a:r>
              <a:rPr lang="zh-CN" altLang="en-US" sz="3600" b="1" dirty="0" smtClean="0">
                <a:solidFill>
                  <a:srgbClr val="0000CC"/>
                </a:solidFill>
                <a:latin typeface="Times New Roman" pitchFamily="18" charset="0"/>
                <a:ea typeface="微软雅黑" pitchFamily="34" charset="-122"/>
              </a:rPr>
              <a:t>四、用于</a:t>
            </a:r>
            <a:r>
              <a:rPr lang="zh-CN" altLang="en-US" sz="3600" b="1" dirty="0">
                <a:solidFill>
                  <a:srgbClr val="0000CC"/>
                </a:solidFill>
                <a:latin typeface="Times New Roman" pitchFamily="18" charset="0"/>
                <a:ea typeface="微软雅黑" pitchFamily="34" charset="-122"/>
              </a:rPr>
              <a:t>精细成像的双</a:t>
            </a:r>
            <a:r>
              <a:rPr lang="en-US" altLang="zh-CN" sz="3600" b="1" dirty="0">
                <a:solidFill>
                  <a:srgbClr val="0000CC"/>
                </a:solidFill>
                <a:latin typeface="Times New Roman" pitchFamily="18" charset="0"/>
                <a:ea typeface="微软雅黑" pitchFamily="34" charset="-122"/>
              </a:rPr>
              <a:t>CCD</a:t>
            </a:r>
            <a:r>
              <a:rPr lang="zh-CN" altLang="en-US" sz="3600" b="1" dirty="0">
                <a:solidFill>
                  <a:srgbClr val="0000CC"/>
                </a:solidFill>
                <a:latin typeface="Times New Roman" pitchFamily="18" charset="0"/>
                <a:ea typeface="微软雅黑" pitchFamily="34" charset="-122"/>
              </a:rPr>
              <a:t>交会测量系统设计</a:t>
            </a:r>
          </a:p>
        </p:txBody>
      </p:sp>
      <p:sp>
        <p:nvSpPr>
          <p:cNvPr id="12" name="Rectangle 11"/>
          <p:cNvSpPr>
            <a:spLocks noChangeArrowheads="1"/>
          </p:cNvSpPr>
          <p:nvPr/>
        </p:nvSpPr>
        <p:spPr bwMode="auto">
          <a:xfrm>
            <a:off x="746128" y="2139898"/>
            <a:ext cx="6526212" cy="230832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pPr defTabSz="914400">
              <a:lnSpc>
                <a:spcPct val="150000"/>
              </a:lnSpc>
            </a:pPr>
            <a:r>
              <a:rPr lang="zh-CN" altLang="en-US" sz="2400" b="1" dirty="0" smtClean="0"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        三维</a:t>
            </a:r>
            <a:r>
              <a:rPr lang="zh-CN" altLang="en-US" sz="2400" b="1" dirty="0"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精细成像系统是将</a:t>
            </a:r>
            <a:r>
              <a:rPr lang="zh-CN" altLang="en-US" sz="2400" b="1" dirty="0">
                <a:solidFill>
                  <a:srgbClr val="FF0000"/>
                </a:solidFill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双</a:t>
            </a:r>
            <a:r>
              <a:rPr lang="en-US" altLang="zh-CN" sz="2400" b="1" dirty="0">
                <a:solidFill>
                  <a:srgbClr val="FF0000"/>
                </a:solidFill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CCD</a:t>
            </a:r>
            <a:r>
              <a:rPr lang="zh-CN" altLang="en-US" sz="2400" b="1" dirty="0">
                <a:solidFill>
                  <a:srgbClr val="FF0000"/>
                </a:solidFill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交会测量系统</a:t>
            </a:r>
            <a:r>
              <a:rPr lang="zh-CN" altLang="en-US" sz="2400" b="1" dirty="0"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与</a:t>
            </a:r>
            <a:r>
              <a:rPr lang="zh-CN" altLang="en-US" sz="2400" b="1" dirty="0">
                <a:solidFill>
                  <a:srgbClr val="FF0000"/>
                </a:solidFill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三维成像激光雷达</a:t>
            </a:r>
            <a:r>
              <a:rPr lang="zh-CN" altLang="en-US" sz="2400" b="1" dirty="0"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结合，利用双</a:t>
            </a:r>
            <a:r>
              <a:rPr lang="en-US" altLang="zh-CN" sz="2400" b="1" dirty="0"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CCD</a:t>
            </a:r>
            <a:r>
              <a:rPr lang="zh-CN" altLang="en-US" sz="2400" b="1" dirty="0"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在近距离测量精度高的优势来提高成像激光雷达的分辨率，以实现三维精细成像目的。</a:t>
            </a:r>
            <a:endParaRPr lang="zh-CN" altLang="en-US" sz="2400" b="1" dirty="0">
              <a:solidFill>
                <a:srgbClr val="FF0000"/>
              </a:solidFill>
              <a:latin typeface="Times New Roman" pitchFamily="18" charset="0"/>
              <a:ea typeface="微软雅黑" pitchFamily="34" charset="-122"/>
              <a:cs typeface="Times New Roman" pitchFamily="18" charset="0"/>
            </a:endParaRPr>
          </a:p>
        </p:txBody>
      </p:sp>
      <p:pic>
        <p:nvPicPr>
          <p:cNvPr id="142343" name="Picture 7"/>
          <p:cNvPicPr>
            <a:picLocks noChangeAspect="1" noChangeArrowheads="1"/>
          </p:cNvPicPr>
          <p:nvPr/>
        </p:nvPicPr>
        <p:blipFill>
          <a:blip r:embed="rId2" cstate="print"/>
          <a:srcRect l="2879" t="3818" r="2110" b="2670"/>
          <a:stretch>
            <a:fillRect/>
          </a:stretch>
        </p:blipFill>
        <p:spPr bwMode="auto">
          <a:xfrm>
            <a:off x="7615236" y="2143124"/>
            <a:ext cx="5485085" cy="407193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42344" name="Rectangle 8"/>
          <p:cNvSpPr>
            <a:spLocks noChangeArrowheads="1"/>
          </p:cNvSpPr>
          <p:nvPr/>
        </p:nvSpPr>
        <p:spPr bwMode="auto">
          <a:xfrm>
            <a:off x="757237" y="4568774"/>
            <a:ext cx="7086600" cy="230832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pPr indent="261938" defTabSz="914400" eaLnBrk="0" hangingPunct="0">
              <a:lnSpc>
                <a:spcPct val="150000"/>
              </a:lnSpc>
            </a:pPr>
            <a:r>
              <a:rPr lang="zh-CN" altLang="en-US" sz="2400" b="1" dirty="0" smtClean="0"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     成像</a:t>
            </a:r>
            <a:r>
              <a:rPr lang="zh-CN" altLang="en-US" sz="2400" b="1" dirty="0"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速率可达每秒</a:t>
            </a:r>
            <a:r>
              <a:rPr lang="en-US" altLang="zh-CN" sz="2400" b="1" dirty="0"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30</a:t>
            </a:r>
            <a:r>
              <a:rPr lang="zh-CN" altLang="en-US" sz="2400" b="1" dirty="0"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帧，每帧图像分辨率为</a:t>
            </a:r>
            <a:r>
              <a:rPr lang="en-US" altLang="zh-CN" sz="2400" b="1" dirty="0"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16×101</a:t>
            </a:r>
            <a:r>
              <a:rPr lang="zh-CN" altLang="en-US" sz="2400" b="1" dirty="0"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像素，测距精度为</a:t>
            </a:r>
            <a:r>
              <a:rPr lang="en-US" altLang="zh-CN" sz="2400" b="1" dirty="0"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9.2</a:t>
            </a:r>
            <a:r>
              <a:rPr lang="en-US" altLang="zh-CN" sz="2400" b="1" i="1" dirty="0"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cm</a:t>
            </a:r>
            <a:r>
              <a:rPr lang="zh-CN" altLang="en-US" sz="2400" b="1" dirty="0"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左右，作用距离范围为</a:t>
            </a:r>
            <a:r>
              <a:rPr lang="en-US" altLang="zh-CN" sz="2400" b="1" dirty="0"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4</a:t>
            </a:r>
            <a:r>
              <a:rPr lang="zh-CN" altLang="en-US" sz="2400" b="1" dirty="0"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～</a:t>
            </a:r>
            <a:r>
              <a:rPr lang="en-US" altLang="zh-CN" sz="2400" b="1" dirty="0"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24</a:t>
            </a:r>
            <a:r>
              <a:rPr lang="en-US" altLang="zh-CN" sz="2400" b="1" i="1" dirty="0"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m</a:t>
            </a:r>
            <a:r>
              <a:rPr lang="zh-CN" altLang="en-US" sz="2400" b="1" dirty="0"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，水平方向的视场角约为</a:t>
            </a:r>
            <a:r>
              <a:rPr lang="en-US" altLang="zh-CN" sz="2400" b="1" dirty="0"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26°</a:t>
            </a:r>
            <a:r>
              <a:rPr lang="zh-CN" altLang="en-US" sz="2400" b="1" dirty="0"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，垂直方向的视场角约为</a:t>
            </a:r>
            <a:r>
              <a:rPr lang="en-US" altLang="zh-CN" sz="2400" b="1" dirty="0"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12°</a:t>
            </a:r>
            <a:r>
              <a:rPr lang="zh-CN" altLang="en-US" sz="2400" b="1" dirty="0"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。</a:t>
            </a:r>
          </a:p>
        </p:txBody>
      </p:sp>
      <p:sp>
        <p:nvSpPr>
          <p:cNvPr id="16" name="文本框 60">
            <a:extLst>
              <a:ext uri="{FF2B5EF4-FFF2-40B4-BE49-F238E27FC236}">
                <a16:creationId xmlns:a16="http://schemas.microsoft.com/office/drawing/2014/main" xmlns="" id="{791D85D7-F412-9C48-9F2B-E33F5B7B4F3C}"/>
              </a:ext>
            </a:extLst>
          </p:cNvPr>
          <p:cNvSpPr txBox="1"/>
          <p:nvPr/>
        </p:nvSpPr>
        <p:spPr>
          <a:xfrm>
            <a:off x="1364780" y="293282"/>
            <a:ext cx="4560031" cy="369332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/>
          <a:p>
            <a:r>
              <a:rPr lang="zh-CN" altLang="en-US" sz="1800" b="1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用于三维复合精细成像的双</a:t>
            </a:r>
            <a:r>
              <a:rPr lang="en-US" altLang="zh-CN" sz="1800" b="1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CCD</a:t>
            </a:r>
            <a:r>
              <a:rPr lang="zh-CN" altLang="en-US" sz="1800" b="1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交会测量</a:t>
            </a:r>
            <a:endParaRPr lang="zh-CN" altLang="en-US" sz="18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7" name="矩形 16"/>
          <p:cNvSpPr/>
          <p:nvPr/>
        </p:nvSpPr>
        <p:spPr>
          <a:xfrm>
            <a:off x="10256520" y="329189"/>
            <a:ext cx="1211081" cy="451406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>
              <a:lnSpc>
                <a:spcPts val="1400"/>
              </a:lnSpc>
            </a:pPr>
            <a:r>
              <a:rPr lang="en-US" altLang="zh-CN" sz="1100" b="1" spc="50" dirty="0">
                <a:latin typeface="冬青黑体简体中文 W6"/>
                <a:ea typeface="冬青黑体简体中文 W6" panose="020B0600000000000000" pitchFamily="34" charset="-122"/>
                <a:cs typeface="Times New Roman" panose="02020603050405020304" pitchFamily="18" charset="0"/>
              </a:rPr>
              <a:t>Photoelectric</a:t>
            </a:r>
          </a:p>
          <a:p>
            <a:pPr>
              <a:lnSpc>
                <a:spcPts val="1400"/>
              </a:lnSpc>
            </a:pPr>
            <a:r>
              <a:rPr lang="en-US" altLang="zh-CN" sz="1100" b="1" spc="50" dirty="0">
                <a:latin typeface="冬青黑体简体中文 W6"/>
                <a:ea typeface="冬青黑体简体中文 W6" panose="020B0600000000000000" pitchFamily="34" charset="-122"/>
                <a:cs typeface="Times New Roman" panose="02020603050405020304" pitchFamily="18" charset="0"/>
              </a:rPr>
              <a:t>Technology</a:t>
            </a:r>
            <a:endParaRPr lang="zh-CN" altLang="en-US" sz="1100" b="1" spc="50" dirty="0">
              <a:ln w="22225">
                <a:solidFill>
                  <a:schemeClr val="accent2"/>
                </a:solidFill>
                <a:prstDash val="solid"/>
              </a:ln>
              <a:latin typeface="冬青黑体简体中文 W6"/>
              <a:ea typeface="冬青黑体简体中文 W6" panose="020B0600000000000000" pitchFamily="34" charset="-122"/>
              <a:cs typeface="Times New Roman" panose="02020603050405020304" pitchFamily="18" charset="0"/>
            </a:endParaRPr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xmlns="" id="{B0EA110F-2BA5-44F1-BDF2-A8AD51CC83F5}"/>
              </a:ext>
            </a:extLst>
          </p:cNvPr>
          <p:cNvSpPr/>
          <p:nvPr/>
        </p:nvSpPr>
        <p:spPr>
          <a:xfrm>
            <a:off x="12993723" y="361950"/>
            <a:ext cx="167523" cy="412649"/>
          </a:xfrm>
          <a:prstGeom prst="rect">
            <a:avLst/>
          </a:prstGeom>
          <a:gradFill>
            <a:gsLst>
              <a:gs pos="0">
                <a:srgbClr val="0066FF"/>
              </a:gs>
              <a:gs pos="100000">
                <a:schemeClr val="accent1">
                  <a:lumMod val="100000"/>
                </a:schemeClr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9" name="矩形: 圆角 25">
            <a:extLst>
              <a:ext uri="{FF2B5EF4-FFF2-40B4-BE49-F238E27FC236}">
                <a16:creationId xmlns:a16="http://schemas.microsoft.com/office/drawing/2014/main" xmlns="" id="{D7400AB1-4BEC-40E5-A53B-E3CB1F48EB8A}"/>
              </a:ext>
            </a:extLst>
          </p:cNvPr>
          <p:cNvSpPr/>
          <p:nvPr/>
        </p:nvSpPr>
        <p:spPr>
          <a:xfrm>
            <a:off x="336177" y="293282"/>
            <a:ext cx="948448" cy="481317"/>
          </a:xfrm>
          <a:prstGeom prst="roundRect">
            <a:avLst/>
          </a:prstGeom>
          <a:gradFill>
            <a:gsLst>
              <a:gs pos="0">
                <a:srgbClr val="0066FF"/>
              </a:gs>
              <a:gs pos="100000">
                <a:schemeClr val="accent1">
                  <a:lumMod val="100000"/>
                </a:schemeClr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Bef>
                <a:spcPts val="800"/>
              </a:spcBef>
            </a:pPr>
            <a:r>
              <a:rPr kumimoji="1" lang="en-US" altLang="zh-CN" sz="2800" b="1" dirty="0" smtClean="0">
                <a:solidFill>
                  <a:schemeClr val="bg1"/>
                </a:solidFill>
                <a:latin typeface="Times New Roman" panose="02020603050405020304" pitchFamily="18" charset="0"/>
                <a:ea typeface="Microsoft YaHei" panose="020B0503020204020204" pitchFamily="34" charset="-122"/>
                <a:cs typeface="Times New Roman" panose="02020603050405020304" pitchFamily="18" charset="0"/>
              </a:rPr>
              <a:t>10.1</a:t>
            </a:r>
            <a:endParaRPr kumimoji="1" lang="zh-CN" altLang="en-US" sz="2800" b="1" dirty="0">
              <a:solidFill>
                <a:schemeClr val="bg1"/>
              </a:solidFill>
              <a:latin typeface="Times New Roman" panose="02020603050405020304" pitchFamily="18" charset="0"/>
              <a:ea typeface="Microsoft YaHei" panose="020B0503020204020204" pitchFamily="34" charset="-122"/>
              <a:cs typeface="Times New Roman" panose="02020603050405020304" pitchFamily="18" charset="0"/>
            </a:endParaRPr>
          </a:p>
        </p:txBody>
      </p:sp>
      <p:cxnSp>
        <p:nvCxnSpPr>
          <p:cNvPr id="20" name="直接连接符 58">
            <a:extLst>
              <a:ext uri="{FF2B5EF4-FFF2-40B4-BE49-F238E27FC236}">
                <a16:creationId xmlns:a16="http://schemas.microsoft.com/office/drawing/2014/main" xmlns="" id="{8C5F82EF-52B4-4531-96F0-44689EA1125E}"/>
              </a:ext>
            </a:extLst>
          </p:cNvPr>
          <p:cNvCxnSpPr>
            <a:cxnSpLocks/>
          </p:cNvCxnSpPr>
          <p:nvPr/>
        </p:nvCxnSpPr>
        <p:spPr>
          <a:xfrm flipV="1">
            <a:off x="1450506" y="695281"/>
            <a:ext cx="2999293" cy="15717"/>
          </a:xfrm>
          <a:prstGeom prst="line">
            <a:avLst/>
          </a:prstGeom>
          <a:ln w="19050" cmpd="dbl">
            <a:solidFill>
              <a:srgbClr val="3366FF">
                <a:alpha val="7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矩形 20">
            <a:extLst>
              <a:ext uri="{FF2B5EF4-FFF2-40B4-BE49-F238E27FC236}">
                <a16:creationId xmlns:a16="http://schemas.microsoft.com/office/drawing/2014/main" xmlns="" id="{82FE0EE3-DD34-4ECD-AB99-E9089285A34C}"/>
              </a:ext>
            </a:extLst>
          </p:cNvPr>
          <p:cNvSpPr/>
          <p:nvPr/>
        </p:nvSpPr>
        <p:spPr>
          <a:xfrm>
            <a:off x="11251918" y="293282"/>
            <a:ext cx="1741805" cy="523220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r"/>
            <a:r>
              <a:rPr lang="zh-CN" altLang="en-US" sz="2800" spc="20" dirty="0">
                <a:latin typeface="冬青黑体简体中文 W6" panose="020B0600000000000000" pitchFamily="34" charset="-122"/>
                <a:ea typeface="冬青黑体简体中文 W6" panose="020B0600000000000000" pitchFamily="34" charset="-122"/>
                <a:cs typeface="阿里巴巴普惠体 R" panose="00020600040101010101" pitchFamily="18" charset="-122"/>
              </a:rPr>
              <a:t>光电技术</a:t>
            </a:r>
          </a:p>
        </p:txBody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xmlns="" id="{942CFC6A-A6DB-0F43-9829-C9244014588C}"/>
              </a:ext>
            </a:extLst>
          </p:cNvPr>
          <p:cNvSpPr/>
          <p:nvPr/>
        </p:nvSpPr>
        <p:spPr>
          <a:xfrm flipV="1">
            <a:off x="0" y="7589506"/>
            <a:ext cx="10141249" cy="125744"/>
          </a:xfrm>
          <a:prstGeom prst="rect">
            <a:avLst/>
          </a:prstGeom>
          <a:gradFill flip="none" rotWithShape="1">
            <a:gsLst>
              <a:gs pos="0">
                <a:srgbClr val="1271FE"/>
              </a:gs>
              <a:gs pos="45000">
                <a:srgbClr val="6895F3"/>
              </a:gs>
              <a:gs pos="9000">
                <a:srgbClr val="3366FF"/>
              </a:gs>
              <a:gs pos="100000">
                <a:schemeClr val="accent1">
                  <a:lumMod val="60000"/>
                  <a:lumOff val="40000"/>
                </a:schemeClr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240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23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1423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23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1423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utoUpdateAnimBg="0"/>
      <p:bldP spid="142344" grpId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43364" name="Object 4"/>
          <p:cNvGraphicFramePr>
            <a:graphicFrameLocks noChangeAspect="1"/>
          </p:cNvGraphicFramePr>
          <p:nvPr/>
        </p:nvGraphicFramePr>
        <p:xfrm>
          <a:off x="8848725" y="4724400"/>
          <a:ext cx="3853026" cy="1504950"/>
        </p:xfrm>
        <a:graphic>
          <a:graphicData uri="http://schemas.openxmlformats.org/presentationml/2006/ole">
            <p:oleObj spid="_x0000_s28680" name="公式" r:id="rId3" imgW="2222500" imgH="863600" progId="Equation.3">
              <p:embed/>
            </p:oleObj>
          </a:graphicData>
        </a:graphic>
      </p:graphicFrame>
      <p:sp>
        <p:nvSpPr>
          <p:cNvPr id="28681" name="Rectangle 11"/>
          <p:cNvSpPr>
            <a:spLocks noChangeArrowheads="1"/>
          </p:cNvSpPr>
          <p:nvPr/>
        </p:nvSpPr>
        <p:spPr bwMode="auto">
          <a:xfrm>
            <a:off x="2805112" y="1151444"/>
            <a:ext cx="7929562" cy="5847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>
            <a:spAutoFit/>
          </a:bodyPr>
          <a:lstStyle/>
          <a:p>
            <a:pPr algn="ctr" defTabSz="914400"/>
            <a:r>
              <a:rPr lang="en-US" altLang="zh-CN" sz="3200" b="1" dirty="0">
                <a:solidFill>
                  <a:srgbClr val="0000FF"/>
                </a:solidFill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1. </a:t>
            </a:r>
            <a:r>
              <a:rPr lang="zh-CN" altLang="en-US" sz="3200" b="1" dirty="0">
                <a:solidFill>
                  <a:srgbClr val="0000FF"/>
                </a:solidFill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双</a:t>
            </a:r>
            <a:r>
              <a:rPr lang="en-US" altLang="zh-CN" sz="3200" b="1" dirty="0">
                <a:solidFill>
                  <a:srgbClr val="0000FF"/>
                </a:solidFill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CCD</a:t>
            </a:r>
            <a:r>
              <a:rPr lang="zh-CN" altLang="en-US" sz="3200" b="1" dirty="0">
                <a:solidFill>
                  <a:srgbClr val="0000FF"/>
                </a:solidFill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与三维成像激光雷达的约束关系</a:t>
            </a:r>
          </a:p>
        </p:txBody>
      </p:sp>
      <p:sp>
        <p:nvSpPr>
          <p:cNvPr id="16" name="矩形 15"/>
          <p:cNvSpPr>
            <a:spLocks noChangeArrowheads="1"/>
          </p:cNvSpPr>
          <p:nvPr/>
        </p:nvSpPr>
        <p:spPr bwMode="auto">
          <a:xfrm>
            <a:off x="962024" y="1951038"/>
            <a:ext cx="11653838" cy="73866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defTabSz="914400">
              <a:lnSpc>
                <a:spcPct val="150000"/>
              </a:lnSpc>
            </a:pPr>
            <a:r>
              <a:rPr lang="zh-CN" altLang="en-US" sz="2800" b="1" dirty="0"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两种测量系统结合在一起时，二者的视场范围需满足一定的</a:t>
            </a:r>
            <a:r>
              <a:rPr lang="zh-CN" altLang="en-US" sz="2800" b="1" dirty="0">
                <a:solidFill>
                  <a:srgbClr val="FF0000"/>
                </a:solidFill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视场约束关系</a:t>
            </a:r>
            <a:r>
              <a:rPr lang="zh-CN" altLang="en-US" sz="2800" b="1" dirty="0"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。</a:t>
            </a:r>
          </a:p>
        </p:txBody>
      </p:sp>
      <p:pic>
        <p:nvPicPr>
          <p:cNvPr id="143363" name="Picture 3"/>
          <p:cNvPicPr>
            <a:picLocks noChangeAspect="1" noChangeArrowheads="1"/>
          </p:cNvPicPr>
          <p:nvPr/>
        </p:nvPicPr>
        <p:blipFill>
          <a:blip r:embed="rId4" cstate="print"/>
          <a:srcRect l="2582" t="2680"/>
          <a:stretch>
            <a:fillRect/>
          </a:stretch>
        </p:blipFill>
        <p:spPr bwMode="auto">
          <a:xfrm>
            <a:off x="862013" y="2686050"/>
            <a:ext cx="7140143" cy="41005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7" name="矩形 16"/>
          <p:cNvSpPr>
            <a:spLocks noChangeArrowheads="1"/>
          </p:cNvSpPr>
          <p:nvPr/>
        </p:nvSpPr>
        <p:spPr bwMode="auto">
          <a:xfrm>
            <a:off x="8677275" y="3692524"/>
            <a:ext cx="292735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defTabSz="914400"/>
            <a:r>
              <a:rPr lang="zh-CN" altLang="en-US" sz="2400" b="1" dirty="0">
                <a:solidFill>
                  <a:srgbClr val="0000FF"/>
                </a:solidFill>
                <a:latin typeface="Times New Roman" pitchFamily="18" charset="0"/>
                <a:ea typeface="微软雅黑" pitchFamily="34" charset="-122"/>
              </a:rPr>
              <a:t>水平视场约束关系为</a:t>
            </a:r>
          </a:p>
        </p:txBody>
      </p:sp>
      <p:sp>
        <p:nvSpPr>
          <p:cNvPr id="19" name="矩形 18"/>
          <p:cNvSpPr>
            <a:spLocks noChangeArrowheads="1"/>
          </p:cNvSpPr>
          <p:nvPr/>
        </p:nvSpPr>
        <p:spPr bwMode="auto">
          <a:xfrm>
            <a:off x="9120188" y="2938462"/>
            <a:ext cx="2549525" cy="5191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defTabSz="914400"/>
            <a:r>
              <a:rPr lang="zh-CN" altLang="en-US" sz="2400" b="1" dirty="0"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需</a:t>
            </a:r>
            <a:r>
              <a:rPr lang="en-US" altLang="zh-CN" sz="2800" b="1" i="1" dirty="0"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γ</a:t>
            </a:r>
            <a:r>
              <a:rPr lang="zh-CN" altLang="en-US" sz="2800" b="1" dirty="0"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＞</a:t>
            </a:r>
            <a:r>
              <a:rPr lang="en-US" altLang="zh-CN" sz="2800" b="1" i="1" dirty="0"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θ</a:t>
            </a:r>
            <a:r>
              <a:rPr lang="zh-CN" altLang="en-US" sz="2800" b="1" dirty="0"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，</a:t>
            </a:r>
            <a:r>
              <a:rPr lang="en-US" altLang="zh-CN" sz="2800" b="1" i="1" dirty="0"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α</a:t>
            </a:r>
            <a:r>
              <a:rPr lang="zh-CN" altLang="en-US" sz="2800" b="1" dirty="0"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＞</a:t>
            </a:r>
            <a:r>
              <a:rPr lang="en-US" altLang="zh-CN" sz="2800" b="1" i="1" dirty="0"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ψ</a:t>
            </a:r>
            <a:endParaRPr lang="zh-CN" altLang="en-US" sz="2800" b="1" dirty="0">
              <a:latin typeface="Times New Roman" pitchFamily="18" charset="0"/>
              <a:ea typeface="微软雅黑" pitchFamily="34" charset="-122"/>
              <a:cs typeface="Times New Roman" pitchFamily="18" charset="0"/>
            </a:endParaRPr>
          </a:p>
        </p:txBody>
      </p:sp>
      <p:sp>
        <p:nvSpPr>
          <p:cNvPr id="21" name="文本框 60">
            <a:extLst>
              <a:ext uri="{FF2B5EF4-FFF2-40B4-BE49-F238E27FC236}">
                <a16:creationId xmlns:a16="http://schemas.microsoft.com/office/drawing/2014/main" xmlns="" id="{791D85D7-F412-9C48-9F2B-E33F5B7B4F3C}"/>
              </a:ext>
            </a:extLst>
          </p:cNvPr>
          <p:cNvSpPr txBox="1"/>
          <p:nvPr/>
        </p:nvSpPr>
        <p:spPr>
          <a:xfrm>
            <a:off x="1364780" y="293282"/>
            <a:ext cx="4560031" cy="369332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/>
          <a:p>
            <a:r>
              <a:rPr lang="zh-CN" altLang="en-US" sz="1800" b="1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用于三维复合精细成像的双</a:t>
            </a:r>
            <a:r>
              <a:rPr lang="en-US" altLang="zh-CN" sz="1800" b="1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CCD</a:t>
            </a:r>
            <a:r>
              <a:rPr lang="zh-CN" altLang="en-US" sz="1800" b="1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交会测量</a:t>
            </a:r>
            <a:endParaRPr lang="zh-CN" altLang="en-US" sz="18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2" name="矩形 21"/>
          <p:cNvSpPr/>
          <p:nvPr/>
        </p:nvSpPr>
        <p:spPr>
          <a:xfrm>
            <a:off x="10256520" y="329189"/>
            <a:ext cx="1211081" cy="451406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>
              <a:lnSpc>
                <a:spcPts val="1400"/>
              </a:lnSpc>
            </a:pPr>
            <a:r>
              <a:rPr lang="en-US" altLang="zh-CN" sz="1100" b="1" spc="50" dirty="0">
                <a:latin typeface="冬青黑体简体中文 W6"/>
                <a:ea typeface="冬青黑体简体中文 W6" panose="020B0600000000000000" pitchFamily="34" charset="-122"/>
                <a:cs typeface="Times New Roman" panose="02020603050405020304" pitchFamily="18" charset="0"/>
              </a:rPr>
              <a:t>Photoelectric</a:t>
            </a:r>
          </a:p>
          <a:p>
            <a:pPr>
              <a:lnSpc>
                <a:spcPts val="1400"/>
              </a:lnSpc>
            </a:pPr>
            <a:r>
              <a:rPr lang="en-US" altLang="zh-CN" sz="1100" b="1" spc="50" dirty="0">
                <a:latin typeface="冬青黑体简体中文 W6"/>
                <a:ea typeface="冬青黑体简体中文 W6" panose="020B0600000000000000" pitchFamily="34" charset="-122"/>
                <a:cs typeface="Times New Roman" panose="02020603050405020304" pitchFamily="18" charset="0"/>
              </a:rPr>
              <a:t>Technology</a:t>
            </a:r>
            <a:endParaRPr lang="zh-CN" altLang="en-US" sz="1100" b="1" spc="50" dirty="0">
              <a:ln w="22225">
                <a:solidFill>
                  <a:schemeClr val="accent2"/>
                </a:solidFill>
                <a:prstDash val="solid"/>
              </a:ln>
              <a:latin typeface="冬青黑体简体中文 W6"/>
              <a:ea typeface="冬青黑体简体中文 W6" panose="020B0600000000000000" pitchFamily="34" charset="-122"/>
              <a:cs typeface="Times New Roman" panose="02020603050405020304" pitchFamily="18" charset="0"/>
            </a:endParaRPr>
          </a:p>
        </p:txBody>
      </p:sp>
      <p:sp>
        <p:nvSpPr>
          <p:cNvPr id="23" name="矩形 22">
            <a:extLst>
              <a:ext uri="{FF2B5EF4-FFF2-40B4-BE49-F238E27FC236}">
                <a16:creationId xmlns:a16="http://schemas.microsoft.com/office/drawing/2014/main" xmlns="" id="{B0EA110F-2BA5-44F1-BDF2-A8AD51CC83F5}"/>
              </a:ext>
            </a:extLst>
          </p:cNvPr>
          <p:cNvSpPr/>
          <p:nvPr/>
        </p:nvSpPr>
        <p:spPr>
          <a:xfrm>
            <a:off x="12993723" y="361950"/>
            <a:ext cx="167523" cy="412649"/>
          </a:xfrm>
          <a:prstGeom prst="rect">
            <a:avLst/>
          </a:prstGeom>
          <a:gradFill>
            <a:gsLst>
              <a:gs pos="0">
                <a:srgbClr val="0066FF"/>
              </a:gs>
              <a:gs pos="100000">
                <a:schemeClr val="accent1">
                  <a:lumMod val="100000"/>
                </a:schemeClr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4" name="矩形: 圆角 25">
            <a:extLst>
              <a:ext uri="{FF2B5EF4-FFF2-40B4-BE49-F238E27FC236}">
                <a16:creationId xmlns:a16="http://schemas.microsoft.com/office/drawing/2014/main" xmlns="" id="{D7400AB1-4BEC-40E5-A53B-E3CB1F48EB8A}"/>
              </a:ext>
            </a:extLst>
          </p:cNvPr>
          <p:cNvSpPr/>
          <p:nvPr/>
        </p:nvSpPr>
        <p:spPr>
          <a:xfrm>
            <a:off x="336177" y="293282"/>
            <a:ext cx="948448" cy="481317"/>
          </a:xfrm>
          <a:prstGeom prst="roundRect">
            <a:avLst/>
          </a:prstGeom>
          <a:gradFill>
            <a:gsLst>
              <a:gs pos="0">
                <a:srgbClr val="0066FF"/>
              </a:gs>
              <a:gs pos="100000">
                <a:schemeClr val="accent1">
                  <a:lumMod val="100000"/>
                </a:schemeClr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Bef>
                <a:spcPts val="800"/>
              </a:spcBef>
            </a:pPr>
            <a:r>
              <a:rPr kumimoji="1" lang="en-US" altLang="zh-CN" sz="2800" b="1" dirty="0" smtClean="0">
                <a:solidFill>
                  <a:schemeClr val="bg1"/>
                </a:solidFill>
                <a:latin typeface="Times New Roman" panose="02020603050405020304" pitchFamily="18" charset="0"/>
                <a:ea typeface="Microsoft YaHei" panose="020B0503020204020204" pitchFamily="34" charset="-122"/>
                <a:cs typeface="Times New Roman" panose="02020603050405020304" pitchFamily="18" charset="0"/>
              </a:rPr>
              <a:t>10.1</a:t>
            </a:r>
            <a:endParaRPr kumimoji="1" lang="zh-CN" altLang="en-US" sz="2800" b="1" dirty="0">
              <a:solidFill>
                <a:schemeClr val="bg1"/>
              </a:solidFill>
              <a:latin typeface="Times New Roman" panose="02020603050405020304" pitchFamily="18" charset="0"/>
              <a:ea typeface="Microsoft YaHei" panose="020B0503020204020204" pitchFamily="34" charset="-122"/>
              <a:cs typeface="Times New Roman" panose="02020603050405020304" pitchFamily="18" charset="0"/>
            </a:endParaRPr>
          </a:p>
        </p:txBody>
      </p:sp>
      <p:cxnSp>
        <p:nvCxnSpPr>
          <p:cNvPr id="25" name="直接连接符 58">
            <a:extLst>
              <a:ext uri="{FF2B5EF4-FFF2-40B4-BE49-F238E27FC236}">
                <a16:creationId xmlns:a16="http://schemas.microsoft.com/office/drawing/2014/main" xmlns="" id="{8C5F82EF-52B4-4531-96F0-44689EA1125E}"/>
              </a:ext>
            </a:extLst>
          </p:cNvPr>
          <p:cNvCxnSpPr>
            <a:cxnSpLocks/>
          </p:cNvCxnSpPr>
          <p:nvPr/>
        </p:nvCxnSpPr>
        <p:spPr>
          <a:xfrm flipV="1">
            <a:off x="1450506" y="695281"/>
            <a:ext cx="2999293" cy="15717"/>
          </a:xfrm>
          <a:prstGeom prst="line">
            <a:avLst/>
          </a:prstGeom>
          <a:ln w="19050" cmpd="dbl">
            <a:solidFill>
              <a:srgbClr val="3366FF">
                <a:alpha val="7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矩形 25">
            <a:extLst>
              <a:ext uri="{FF2B5EF4-FFF2-40B4-BE49-F238E27FC236}">
                <a16:creationId xmlns:a16="http://schemas.microsoft.com/office/drawing/2014/main" xmlns="" id="{82FE0EE3-DD34-4ECD-AB99-E9089285A34C}"/>
              </a:ext>
            </a:extLst>
          </p:cNvPr>
          <p:cNvSpPr/>
          <p:nvPr/>
        </p:nvSpPr>
        <p:spPr>
          <a:xfrm>
            <a:off x="11251918" y="293282"/>
            <a:ext cx="1741805" cy="523220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r"/>
            <a:r>
              <a:rPr lang="zh-CN" altLang="en-US" sz="2800" spc="20" dirty="0">
                <a:latin typeface="冬青黑体简体中文 W6" panose="020B0600000000000000" pitchFamily="34" charset="-122"/>
                <a:ea typeface="冬青黑体简体中文 W6" panose="020B0600000000000000" pitchFamily="34" charset="-122"/>
                <a:cs typeface="阿里巴巴普惠体 R" panose="00020600040101010101" pitchFamily="18" charset="-122"/>
              </a:rPr>
              <a:t>光电技术</a:t>
            </a:r>
          </a:p>
        </p:txBody>
      </p:sp>
      <p:sp>
        <p:nvSpPr>
          <p:cNvPr id="27" name="矩形 26">
            <a:extLst>
              <a:ext uri="{FF2B5EF4-FFF2-40B4-BE49-F238E27FC236}">
                <a16:creationId xmlns:a16="http://schemas.microsoft.com/office/drawing/2014/main" xmlns="" id="{942CFC6A-A6DB-0F43-9829-C9244014588C}"/>
              </a:ext>
            </a:extLst>
          </p:cNvPr>
          <p:cNvSpPr/>
          <p:nvPr/>
        </p:nvSpPr>
        <p:spPr>
          <a:xfrm flipV="1">
            <a:off x="0" y="7589506"/>
            <a:ext cx="10141249" cy="125744"/>
          </a:xfrm>
          <a:prstGeom prst="rect">
            <a:avLst/>
          </a:prstGeom>
          <a:gradFill flip="none" rotWithShape="1">
            <a:gsLst>
              <a:gs pos="0">
                <a:srgbClr val="1271FE"/>
              </a:gs>
              <a:gs pos="45000">
                <a:srgbClr val="6895F3"/>
              </a:gs>
              <a:gs pos="9000">
                <a:srgbClr val="3366FF"/>
              </a:gs>
              <a:gs pos="100000">
                <a:schemeClr val="accent1">
                  <a:lumMod val="60000"/>
                  <a:lumOff val="40000"/>
                </a:schemeClr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240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3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1433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3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5" dur="500"/>
                                        <p:tgtEl>
                                          <p:spTgt spid="1433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utoUpdateAnimBg="0"/>
      <p:bldP spid="17" grpId="0"/>
      <p:bldP spid="19" grpId="0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704" name="Rectangle 11"/>
          <p:cNvSpPr>
            <a:spLocks noChangeArrowheads="1"/>
          </p:cNvSpPr>
          <p:nvPr/>
        </p:nvSpPr>
        <p:spPr bwMode="auto">
          <a:xfrm>
            <a:off x="2695576" y="1151442"/>
            <a:ext cx="7929562" cy="5847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>
            <a:spAutoFit/>
          </a:bodyPr>
          <a:lstStyle/>
          <a:p>
            <a:pPr algn="ctr" defTabSz="914400"/>
            <a:r>
              <a:rPr lang="en-US" altLang="zh-CN" sz="3200" b="1" dirty="0">
                <a:solidFill>
                  <a:srgbClr val="0000FF"/>
                </a:solidFill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1. </a:t>
            </a:r>
            <a:r>
              <a:rPr lang="zh-CN" altLang="en-US" sz="3200" b="1" dirty="0">
                <a:solidFill>
                  <a:srgbClr val="0000FF"/>
                </a:solidFill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双</a:t>
            </a:r>
            <a:r>
              <a:rPr lang="en-US" altLang="zh-CN" sz="3200" b="1" dirty="0">
                <a:solidFill>
                  <a:srgbClr val="0000FF"/>
                </a:solidFill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CCD</a:t>
            </a:r>
            <a:r>
              <a:rPr lang="zh-CN" altLang="en-US" sz="3200" b="1" dirty="0">
                <a:solidFill>
                  <a:srgbClr val="0000FF"/>
                </a:solidFill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与三维成像激光雷达的约束关系</a:t>
            </a:r>
          </a:p>
        </p:txBody>
      </p:sp>
      <p:sp>
        <p:nvSpPr>
          <p:cNvPr id="17" name="矩形 16"/>
          <p:cNvSpPr>
            <a:spLocks noChangeArrowheads="1"/>
          </p:cNvSpPr>
          <p:nvPr/>
        </p:nvSpPr>
        <p:spPr bwMode="auto">
          <a:xfrm>
            <a:off x="8067675" y="2781300"/>
            <a:ext cx="292735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defTabSz="914400"/>
            <a:r>
              <a:rPr lang="zh-CN" altLang="en-US" sz="2400" b="1" dirty="0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rPr>
              <a:t>垂直视场约束关系为</a:t>
            </a:r>
          </a:p>
        </p:txBody>
      </p:sp>
      <p:pic>
        <p:nvPicPr>
          <p:cNvPr id="29713" name="Picture 3"/>
          <p:cNvPicPr>
            <a:picLocks noChangeAspect="1" noChangeArrowheads="1"/>
          </p:cNvPicPr>
          <p:nvPr/>
        </p:nvPicPr>
        <p:blipFill>
          <a:blip r:embed="rId3" cstate="print"/>
          <a:srcRect l="4601" t="11867"/>
          <a:stretch>
            <a:fillRect/>
          </a:stretch>
        </p:blipFill>
        <p:spPr bwMode="auto">
          <a:xfrm>
            <a:off x="1266826" y="2767013"/>
            <a:ext cx="4548187" cy="407253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29715" name="矩形 15"/>
          <p:cNvSpPr>
            <a:spLocks noChangeArrowheads="1"/>
          </p:cNvSpPr>
          <p:nvPr/>
        </p:nvSpPr>
        <p:spPr bwMode="auto">
          <a:xfrm>
            <a:off x="1103312" y="1866899"/>
            <a:ext cx="11884025" cy="73866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defTabSz="914400">
              <a:lnSpc>
                <a:spcPct val="150000"/>
              </a:lnSpc>
            </a:pPr>
            <a:r>
              <a:rPr lang="zh-CN" altLang="en-US" sz="2800" b="1" dirty="0"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若使双</a:t>
            </a:r>
            <a:r>
              <a:rPr lang="en-US" altLang="zh-CN" sz="2800" b="1" dirty="0"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CCD</a:t>
            </a:r>
            <a:r>
              <a:rPr lang="zh-CN" altLang="en-US" sz="2800" b="1" dirty="0"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的有效垂直视场大于成像激光雷达的垂直视场，则需 </a:t>
            </a:r>
            <a:r>
              <a:rPr lang="en-US" sz="2800" b="1" dirty="0"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            </a:t>
            </a:r>
            <a:r>
              <a:rPr lang="zh-CN" altLang="en-US" sz="2800" b="1" dirty="0"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。</a:t>
            </a:r>
          </a:p>
        </p:txBody>
      </p:sp>
      <p:pic>
        <p:nvPicPr>
          <p:cNvPr id="29716" name="Picture 6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11366500" y="2076449"/>
            <a:ext cx="928687" cy="4270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graphicFrame>
        <p:nvGraphicFramePr>
          <p:cNvPr id="144391" name="Object 7"/>
          <p:cNvGraphicFramePr>
            <a:graphicFrameLocks noChangeAspect="1"/>
          </p:cNvGraphicFramePr>
          <p:nvPr/>
        </p:nvGraphicFramePr>
        <p:xfrm>
          <a:off x="7627938" y="3524250"/>
          <a:ext cx="3908425" cy="642938"/>
        </p:xfrm>
        <a:graphic>
          <a:graphicData uri="http://schemas.openxmlformats.org/presentationml/2006/ole">
            <p:oleObj spid="_x0000_s29718" name="公式" r:id="rId5" imgW="1218960" imgH="203040" progId="Equation.3">
              <p:embed/>
            </p:oleObj>
          </a:graphicData>
        </a:graphic>
      </p:graphicFrame>
      <p:sp>
        <p:nvSpPr>
          <p:cNvPr id="22" name="椭圆形标注 21"/>
          <p:cNvSpPr>
            <a:spLocks noChangeArrowheads="1"/>
          </p:cNvSpPr>
          <p:nvPr/>
        </p:nvSpPr>
        <p:spPr bwMode="auto">
          <a:xfrm flipH="1">
            <a:off x="7567612" y="5453063"/>
            <a:ext cx="2143125" cy="1571625"/>
          </a:xfrm>
          <a:prstGeom prst="wedgeEllipseCallout">
            <a:avLst>
              <a:gd name="adj1" fmla="val -57111"/>
              <a:gd name="adj2" fmla="val -134144"/>
            </a:avLst>
          </a:prstGeom>
          <a:solidFill>
            <a:srgbClr val="FFFF00"/>
          </a:solidFill>
          <a:ln w="25400" algn="ctr">
            <a:solidFill>
              <a:srgbClr val="385D8A"/>
            </a:solidFill>
            <a:miter lim="800000"/>
            <a:headEnd/>
            <a:tailEnd/>
          </a:ln>
        </p:spPr>
        <p:txBody>
          <a:bodyPr anchor="ctr"/>
          <a:lstStyle/>
          <a:p>
            <a:pPr algn="ctr" defTabSz="914400">
              <a:defRPr/>
            </a:pPr>
            <a:r>
              <a:rPr lang="en-US" altLang="zh-CN" sz="2400" b="1"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CCD</a:t>
            </a:r>
            <a:r>
              <a:rPr lang="zh-CN" altLang="en-US" sz="2400" b="1"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垂直半视场角</a:t>
            </a:r>
          </a:p>
        </p:txBody>
      </p:sp>
      <p:sp>
        <p:nvSpPr>
          <p:cNvPr id="23" name="椭圆形标注 22"/>
          <p:cNvSpPr>
            <a:spLocks noChangeArrowheads="1"/>
          </p:cNvSpPr>
          <p:nvPr/>
        </p:nvSpPr>
        <p:spPr bwMode="auto">
          <a:xfrm flipH="1">
            <a:off x="11053762" y="5153026"/>
            <a:ext cx="2143125" cy="1571625"/>
          </a:xfrm>
          <a:prstGeom prst="wedgeEllipseCallout">
            <a:avLst>
              <a:gd name="adj1" fmla="val 41556"/>
              <a:gd name="adj2" fmla="val -113235"/>
            </a:avLst>
          </a:prstGeom>
          <a:solidFill>
            <a:srgbClr val="FFFF00"/>
          </a:solidFill>
          <a:ln w="25400" algn="ctr">
            <a:solidFill>
              <a:srgbClr val="385D8A"/>
            </a:solidFill>
            <a:miter lim="800000"/>
            <a:headEnd/>
            <a:tailEnd/>
          </a:ln>
        </p:spPr>
        <p:txBody>
          <a:bodyPr anchor="ctr"/>
          <a:lstStyle/>
          <a:p>
            <a:pPr algn="ctr" defTabSz="914400">
              <a:defRPr/>
            </a:pPr>
            <a:r>
              <a:rPr lang="zh-CN" altLang="en-US" sz="2400" b="1"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激光雷达垂直半视场角</a:t>
            </a:r>
          </a:p>
        </p:txBody>
      </p:sp>
      <p:sp>
        <p:nvSpPr>
          <p:cNvPr id="25" name="文本框 60">
            <a:extLst>
              <a:ext uri="{FF2B5EF4-FFF2-40B4-BE49-F238E27FC236}">
                <a16:creationId xmlns:a16="http://schemas.microsoft.com/office/drawing/2014/main" xmlns="" id="{791D85D7-F412-9C48-9F2B-E33F5B7B4F3C}"/>
              </a:ext>
            </a:extLst>
          </p:cNvPr>
          <p:cNvSpPr txBox="1"/>
          <p:nvPr/>
        </p:nvSpPr>
        <p:spPr>
          <a:xfrm>
            <a:off x="1364780" y="293282"/>
            <a:ext cx="4560031" cy="369332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/>
          <a:p>
            <a:r>
              <a:rPr lang="zh-CN" altLang="en-US" sz="1800" b="1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用于三维复合精细成像的双</a:t>
            </a:r>
            <a:r>
              <a:rPr lang="en-US" altLang="zh-CN" sz="1800" b="1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CCD</a:t>
            </a:r>
            <a:r>
              <a:rPr lang="zh-CN" altLang="en-US" sz="1800" b="1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交会测量</a:t>
            </a:r>
            <a:endParaRPr lang="zh-CN" altLang="en-US" sz="18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6" name="矩形 25"/>
          <p:cNvSpPr/>
          <p:nvPr/>
        </p:nvSpPr>
        <p:spPr>
          <a:xfrm>
            <a:off x="10256520" y="329189"/>
            <a:ext cx="1211081" cy="451406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>
              <a:lnSpc>
                <a:spcPts val="1400"/>
              </a:lnSpc>
            </a:pPr>
            <a:r>
              <a:rPr lang="en-US" altLang="zh-CN" sz="1100" b="1" spc="50" dirty="0">
                <a:latin typeface="冬青黑体简体中文 W6"/>
                <a:ea typeface="冬青黑体简体中文 W6" panose="020B0600000000000000" pitchFamily="34" charset="-122"/>
                <a:cs typeface="Times New Roman" panose="02020603050405020304" pitchFamily="18" charset="0"/>
              </a:rPr>
              <a:t>Photoelectric</a:t>
            </a:r>
          </a:p>
          <a:p>
            <a:pPr>
              <a:lnSpc>
                <a:spcPts val="1400"/>
              </a:lnSpc>
            </a:pPr>
            <a:r>
              <a:rPr lang="en-US" altLang="zh-CN" sz="1100" b="1" spc="50" dirty="0">
                <a:latin typeface="冬青黑体简体中文 W6"/>
                <a:ea typeface="冬青黑体简体中文 W6" panose="020B0600000000000000" pitchFamily="34" charset="-122"/>
                <a:cs typeface="Times New Roman" panose="02020603050405020304" pitchFamily="18" charset="0"/>
              </a:rPr>
              <a:t>Technology</a:t>
            </a:r>
            <a:endParaRPr lang="zh-CN" altLang="en-US" sz="1100" b="1" spc="50" dirty="0">
              <a:ln w="22225">
                <a:solidFill>
                  <a:schemeClr val="accent2"/>
                </a:solidFill>
                <a:prstDash val="solid"/>
              </a:ln>
              <a:latin typeface="冬青黑体简体中文 W6"/>
              <a:ea typeface="冬青黑体简体中文 W6" panose="020B0600000000000000" pitchFamily="34" charset="-122"/>
              <a:cs typeface="Times New Roman" panose="02020603050405020304" pitchFamily="18" charset="0"/>
            </a:endParaRPr>
          </a:p>
        </p:txBody>
      </p:sp>
      <p:sp>
        <p:nvSpPr>
          <p:cNvPr id="27" name="矩形 26">
            <a:extLst>
              <a:ext uri="{FF2B5EF4-FFF2-40B4-BE49-F238E27FC236}">
                <a16:creationId xmlns:a16="http://schemas.microsoft.com/office/drawing/2014/main" xmlns="" id="{B0EA110F-2BA5-44F1-BDF2-A8AD51CC83F5}"/>
              </a:ext>
            </a:extLst>
          </p:cNvPr>
          <p:cNvSpPr/>
          <p:nvPr/>
        </p:nvSpPr>
        <p:spPr>
          <a:xfrm>
            <a:off x="12993723" y="361950"/>
            <a:ext cx="167523" cy="412649"/>
          </a:xfrm>
          <a:prstGeom prst="rect">
            <a:avLst/>
          </a:prstGeom>
          <a:gradFill>
            <a:gsLst>
              <a:gs pos="0">
                <a:srgbClr val="0066FF"/>
              </a:gs>
              <a:gs pos="100000">
                <a:schemeClr val="accent1">
                  <a:lumMod val="100000"/>
                </a:schemeClr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8" name="矩形: 圆角 25">
            <a:extLst>
              <a:ext uri="{FF2B5EF4-FFF2-40B4-BE49-F238E27FC236}">
                <a16:creationId xmlns:a16="http://schemas.microsoft.com/office/drawing/2014/main" xmlns="" id="{D7400AB1-4BEC-40E5-A53B-E3CB1F48EB8A}"/>
              </a:ext>
            </a:extLst>
          </p:cNvPr>
          <p:cNvSpPr/>
          <p:nvPr/>
        </p:nvSpPr>
        <p:spPr>
          <a:xfrm>
            <a:off x="336177" y="293282"/>
            <a:ext cx="948448" cy="481317"/>
          </a:xfrm>
          <a:prstGeom prst="roundRect">
            <a:avLst/>
          </a:prstGeom>
          <a:gradFill>
            <a:gsLst>
              <a:gs pos="0">
                <a:srgbClr val="0066FF"/>
              </a:gs>
              <a:gs pos="100000">
                <a:schemeClr val="accent1">
                  <a:lumMod val="100000"/>
                </a:schemeClr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Bef>
                <a:spcPts val="800"/>
              </a:spcBef>
            </a:pPr>
            <a:r>
              <a:rPr kumimoji="1" lang="en-US" altLang="zh-CN" sz="2800" b="1" dirty="0" smtClean="0">
                <a:solidFill>
                  <a:schemeClr val="bg1"/>
                </a:solidFill>
                <a:latin typeface="Times New Roman" panose="02020603050405020304" pitchFamily="18" charset="0"/>
                <a:ea typeface="Microsoft YaHei" panose="020B0503020204020204" pitchFamily="34" charset="-122"/>
                <a:cs typeface="Times New Roman" panose="02020603050405020304" pitchFamily="18" charset="0"/>
              </a:rPr>
              <a:t>10.1</a:t>
            </a:r>
            <a:endParaRPr kumimoji="1" lang="zh-CN" altLang="en-US" sz="2800" b="1" dirty="0">
              <a:solidFill>
                <a:schemeClr val="bg1"/>
              </a:solidFill>
              <a:latin typeface="Times New Roman" panose="02020603050405020304" pitchFamily="18" charset="0"/>
              <a:ea typeface="Microsoft YaHei" panose="020B0503020204020204" pitchFamily="34" charset="-122"/>
              <a:cs typeface="Times New Roman" panose="02020603050405020304" pitchFamily="18" charset="0"/>
            </a:endParaRPr>
          </a:p>
        </p:txBody>
      </p:sp>
      <p:cxnSp>
        <p:nvCxnSpPr>
          <p:cNvPr id="29" name="直接连接符 58">
            <a:extLst>
              <a:ext uri="{FF2B5EF4-FFF2-40B4-BE49-F238E27FC236}">
                <a16:creationId xmlns:a16="http://schemas.microsoft.com/office/drawing/2014/main" xmlns="" id="{8C5F82EF-52B4-4531-96F0-44689EA1125E}"/>
              </a:ext>
            </a:extLst>
          </p:cNvPr>
          <p:cNvCxnSpPr>
            <a:cxnSpLocks/>
          </p:cNvCxnSpPr>
          <p:nvPr/>
        </p:nvCxnSpPr>
        <p:spPr>
          <a:xfrm flipV="1">
            <a:off x="1450506" y="695281"/>
            <a:ext cx="2999293" cy="15717"/>
          </a:xfrm>
          <a:prstGeom prst="line">
            <a:avLst/>
          </a:prstGeom>
          <a:ln w="19050" cmpd="dbl">
            <a:solidFill>
              <a:srgbClr val="3366FF">
                <a:alpha val="7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" name="矩形 29">
            <a:extLst>
              <a:ext uri="{FF2B5EF4-FFF2-40B4-BE49-F238E27FC236}">
                <a16:creationId xmlns:a16="http://schemas.microsoft.com/office/drawing/2014/main" xmlns="" id="{82FE0EE3-DD34-4ECD-AB99-E9089285A34C}"/>
              </a:ext>
            </a:extLst>
          </p:cNvPr>
          <p:cNvSpPr/>
          <p:nvPr/>
        </p:nvSpPr>
        <p:spPr>
          <a:xfrm>
            <a:off x="11251918" y="293282"/>
            <a:ext cx="1741805" cy="523220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r"/>
            <a:r>
              <a:rPr lang="zh-CN" altLang="en-US" sz="2800" spc="20" dirty="0">
                <a:latin typeface="冬青黑体简体中文 W6" panose="020B0600000000000000" pitchFamily="34" charset="-122"/>
                <a:ea typeface="冬青黑体简体中文 W6" panose="020B0600000000000000" pitchFamily="34" charset="-122"/>
                <a:cs typeface="阿里巴巴普惠体 R" panose="00020600040101010101" pitchFamily="18" charset="-122"/>
              </a:rPr>
              <a:t>光电技术</a:t>
            </a:r>
          </a:p>
        </p:txBody>
      </p:sp>
      <p:sp>
        <p:nvSpPr>
          <p:cNvPr id="31" name="矩形 30">
            <a:extLst>
              <a:ext uri="{FF2B5EF4-FFF2-40B4-BE49-F238E27FC236}">
                <a16:creationId xmlns:a16="http://schemas.microsoft.com/office/drawing/2014/main" xmlns="" id="{942CFC6A-A6DB-0F43-9829-C9244014588C}"/>
              </a:ext>
            </a:extLst>
          </p:cNvPr>
          <p:cNvSpPr/>
          <p:nvPr/>
        </p:nvSpPr>
        <p:spPr>
          <a:xfrm flipV="1">
            <a:off x="0" y="7589506"/>
            <a:ext cx="10141249" cy="125744"/>
          </a:xfrm>
          <a:prstGeom prst="rect">
            <a:avLst/>
          </a:prstGeom>
          <a:gradFill flip="none" rotWithShape="1">
            <a:gsLst>
              <a:gs pos="0">
                <a:srgbClr val="1271FE"/>
              </a:gs>
              <a:gs pos="45000">
                <a:srgbClr val="6895F3"/>
              </a:gs>
              <a:gs pos="9000">
                <a:srgbClr val="3366FF"/>
              </a:gs>
              <a:gs pos="100000">
                <a:schemeClr val="accent1">
                  <a:lumMod val="60000"/>
                  <a:lumOff val="40000"/>
                </a:schemeClr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240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43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0" dur="500"/>
                                        <p:tgtEl>
                                          <p:spTgt spid="1443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5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0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22" grpId="0" animBg="1"/>
      <p:bldP spid="23" grpId="0" animBg="1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8" name="Rectangle 11"/>
          <p:cNvSpPr>
            <a:spLocks noChangeArrowheads="1"/>
          </p:cNvSpPr>
          <p:nvPr/>
        </p:nvSpPr>
        <p:spPr bwMode="auto">
          <a:xfrm>
            <a:off x="2667001" y="1118106"/>
            <a:ext cx="7929562" cy="5847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>
            <a:spAutoFit/>
          </a:bodyPr>
          <a:lstStyle/>
          <a:p>
            <a:pPr algn="ctr" defTabSz="914400"/>
            <a:r>
              <a:rPr lang="en-US" altLang="zh-CN" sz="3200" b="1" dirty="0">
                <a:solidFill>
                  <a:srgbClr val="0000FF"/>
                </a:solidFill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2. </a:t>
            </a:r>
            <a:r>
              <a:rPr lang="zh-CN" altLang="en-US" sz="3200" b="1" dirty="0">
                <a:solidFill>
                  <a:srgbClr val="0000FF"/>
                </a:solidFill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双</a:t>
            </a:r>
            <a:r>
              <a:rPr lang="en-US" altLang="zh-CN" sz="3200" b="1" dirty="0">
                <a:solidFill>
                  <a:srgbClr val="0000FF"/>
                </a:solidFill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CCD</a:t>
            </a:r>
            <a:r>
              <a:rPr lang="zh-CN" altLang="en-US" sz="3200" b="1" dirty="0">
                <a:solidFill>
                  <a:srgbClr val="0000FF"/>
                </a:solidFill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交会测量系统结构配置</a:t>
            </a:r>
          </a:p>
        </p:txBody>
      </p:sp>
      <p:sp>
        <p:nvSpPr>
          <p:cNvPr id="30729" name="Rectangle 4"/>
          <p:cNvSpPr>
            <a:spLocks noChangeArrowheads="1"/>
          </p:cNvSpPr>
          <p:nvPr/>
        </p:nvSpPr>
        <p:spPr bwMode="auto">
          <a:xfrm>
            <a:off x="323850" y="560388"/>
            <a:ext cx="184150" cy="5191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pPr defTabSz="914400"/>
            <a:endParaRPr lang="zh-CN" altLang="en-US" sz="2800" b="1">
              <a:latin typeface="楷体_GB2312" pitchFamily="49" charset="-122"/>
              <a:ea typeface="楷体_GB2312" pitchFamily="49" charset="-122"/>
            </a:endParaRPr>
          </a:p>
        </p:txBody>
      </p:sp>
      <p:sp>
        <p:nvSpPr>
          <p:cNvPr id="30730" name="Rectangle 6"/>
          <p:cNvSpPr>
            <a:spLocks noChangeArrowheads="1"/>
          </p:cNvSpPr>
          <p:nvPr/>
        </p:nvSpPr>
        <p:spPr bwMode="auto">
          <a:xfrm>
            <a:off x="323850" y="560388"/>
            <a:ext cx="184150" cy="5191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pPr defTabSz="914400"/>
            <a:endParaRPr lang="zh-CN" altLang="en-US" sz="2800" b="1">
              <a:latin typeface="楷体_GB2312" pitchFamily="49" charset="-122"/>
              <a:ea typeface="楷体_GB2312" pitchFamily="49" charset="-122"/>
            </a:endParaRPr>
          </a:p>
        </p:txBody>
      </p:sp>
      <p:sp>
        <p:nvSpPr>
          <p:cNvPr id="30731" name="Rectangle 8"/>
          <p:cNvSpPr>
            <a:spLocks noChangeArrowheads="1"/>
          </p:cNvSpPr>
          <p:nvPr/>
        </p:nvSpPr>
        <p:spPr bwMode="auto">
          <a:xfrm>
            <a:off x="323850" y="560388"/>
            <a:ext cx="184150" cy="5191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pPr defTabSz="914400"/>
            <a:endParaRPr lang="zh-CN" altLang="en-US" sz="2800" b="1">
              <a:latin typeface="楷体_GB2312" pitchFamily="49" charset="-122"/>
              <a:ea typeface="楷体_GB2312" pitchFamily="49" charset="-122"/>
            </a:endParaRPr>
          </a:p>
        </p:txBody>
      </p:sp>
      <p:sp>
        <p:nvSpPr>
          <p:cNvPr id="30732" name="Rectangle 10"/>
          <p:cNvSpPr>
            <a:spLocks noChangeArrowheads="1"/>
          </p:cNvSpPr>
          <p:nvPr/>
        </p:nvSpPr>
        <p:spPr bwMode="auto">
          <a:xfrm>
            <a:off x="323850" y="560388"/>
            <a:ext cx="184150" cy="5191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pPr defTabSz="914400"/>
            <a:endParaRPr lang="zh-CN" altLang="en-US" sz="2800" b="1">
              <a:latin typeface="楷体_GB2312" pitchFamily="49" charset="-122"/>
              <a:ea typeface="楷体_GB2312" pitchFamily="49" charset="-122"/>
            </a:endParaRPr>
          </a:p>
        </p:txBody>
      </p:sp>
      <p:sp>
        <p:nvSpPr>
          <p:cNvPr id="30733" name="Rectangle 12"/>
          <p:cNvSpPr>
            <a:spLocks noChangeArrowheads="1"/>
          </p:cNvSpPr>
          <p:nvPr/>
        </p:nvSpPr>
        <p:spPr bwMode="auto">
          <a:xfrm>
            <a:off x="323850" y="560388"/>
            <a:ext cx="184150" cy="5191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pPr defTabSz="914400"/>
            <a:endParaRPr lang="zh-CN" altLang="en-US" sz="2800" b="1">
              <a:latin typeface="楷体_GB2312" pitchFamily="49" charset="-122"/>
              <a:ea typeface="楷体_GB2312" pitchFamily="49" charset="-122"/>
            </a:endParaRPr>
          </a:p>
        </p:txBody>
      </p:sp>
      <p:sp>
        <p:nvSpPr>
          <p:cNvPr id="30734" name="Rectangle 10"/>
          <p:cNvSpPr>
            <a:spLocks noChangeArrowheads="1"/>
          </p:cNvSpPr>
          <p:nvPr/>
        </p:nvSpPr>
        <p:spPr bwMode="auto">
          <a:xfrm>
            <a:off x="323850" y="560388"/>
            <a:ext cx="184150" cy="5191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pPr defTabSz="914400"/>
            <a:endParaRPr lang="zh-CN" altLang="en-US" sz="2800" b="1">
              <a:latin typeface="楷体_GB2312" pitchFamily="49" charset="-122"/>
              <a:ea typeface="楷体_GB2312" pitchFamily="49" charset="-122"/>
            </a:endParaRPr>
          </a:p>
        </p:txBody>
      </p:sp>
      <p:sp>
        <p:nvSpPr>
          <p:cNvPr id="30735" name="Rectangle 5"/>
          <p:cNvSpPr>
            <a:spLocks noChangeArrowheads="1"/>
          </p:cNvSpPr>
          <p:nvPr/>
        </p:nvSpPr>
        <p:spPr bwMode="auto">
          <a:xfrm>
            <a:off x="323850" y="560388"/>
            <a:ext cx="184150" cy="5191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pPr defTabSz="914400"/>
            <a:endParaRPr lang="zh-CN" altLang="en-US" sz="2800" b="1">
              <a:latin typeface="楷体_GB2312" pitchFamily="49" charset="-122"/>
              <a:ea typeface="楷体_GB2312" pitchFamily="49" charset="-122"/>
            </a:endParaRPr>
          </a:p>
        </p:txBody>
      </p:sp>
      <p:sp>
        <p:nvSpPr>
          <p:cNvPr id="30736" name="Rectangle 5"/>
          <p:cNvSpPr>
            <a:spLocks noChangeArrowheads="1"/>
          </p:cNvSpPr>
          <p:nvPr/>
        </p:nvSpPr>
        <p:spPr bwMode="auto">
          <a:xfrm>
            <a:off x="323850" y="560388"/>
            <a:ext cx="184150" cy="5191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pPr defTabSz="914400"/>
            <a:endParaRPr lang="zh-CN" altLang="en-US" sz="2800" b="1">
              <a:latin typeface="楷体_GB2312" pitchFamily="49" charset="-122"/>
              <a:ea typeface="楷体_GB2312" pitchFamily="49" charset="-122"/>
            </a:endParaRPr>
          </a:p>
        </p:txBody>
      </p:sp>
      <p:sp>
        <p:nvSpPr>
          <p:cNvPr id="16" name="矩形 15"/>
          <p:cNvSpPr>
            <a:spLocks noChangeArrowheads="1"/>
          </p:cNvSpPr>
          <p:nvPr/>
        </p:nvSpPr>
        <p:spPr bwMode="auto">
          <a:xfrm>
            <a:off x="1066801" y="2033588"/>
            <a:ext cx="5148262" cy="5232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defTabSz="914400"/>
            <a:r>
              <a:rPr lang="zh-CN" altLang="en-US" sz="2800" b="1" dirty="0">
                <a:solidFill>
                  <a:srgbClr val="FF0000"/>
                </a:solidFill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（</a:t>
            </a:r>
            <a:r>
              <a:rPr lang="en-US" altLang="zh-CN" sz="2800" b="1" dirty="0">
                <a:solidFill>
                  <a:srgbClr val="FF0000"/>
                </a:solidFill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1</a:t>
            </a:r>
            <a:r>
              <a:rPr lang="zh-CN" altLang="en-US" sz="2800" b="1" dirty="0">
                <a:solidFill>
                  <a:srgbClr val="FF0000"/>
                </a:solidFill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）系统结构参数优化设计</a:t>
            </a:r>
          </a:p>
        </p:txBody>
      </p:sp>
      <p:sp>
        <p:nvSpPr>
          <p:cNvPr id="30738" name="Rectangle 8"/>
          <p:cNvSpPr>
            <a:spLocks noChangeArrowheads="1"/>
          </p:cNvSpPr>
          <p:nvPr/>
        </p:nvSpPr>
        <p:spPr bwMode="auto">
          <a:xfrm>
            <a:off x="323850" y="560388"/>
            <a:ext cx="184150" cy="5191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pPr defTabSz="914400"/>
            <a:endParaRPr lang="zh-CN" altLang="en-US" sz="2800" b="1">
              <a:latin typeface="楷体_GB2312" pitchFamily="49" charset="-122"/>
              <a:ea typeface="楷体_GB2312" pitchFamily="49" charset="-122"/>
            </a:endParaRPr>
          </a:p>
        </p:txBody>
      </p:sp>
      <p:sp>
        <p:nvSpPr>
          <p:cNvPr id="145413" name="Rectangle 5"/>
          <p:cNvSpPr>
            <a:spLocks noChangeArrowheads="1"/>
          </p:cNvSpPr>
          <p:nvPr/>
        </p:nvSpPr>
        <p:spPr bwMode="auto">
          <a:xfrm>
            <a:off x="881063" y="2665622"/>
            <a:ext cx="11906250" cy="212365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pPr indent="266700" defTabSz="914400" eaLnBrk="0" hangingPunct="0">
              <a:lnSpc>
                <a:spcPct val="150000"/>
              </a:lnSpc>
            </a:pPr>
            <a:r>
              <a:rPr lang="zh-CN" altLang="en-US" sz="2400" b="1" dirty="0" smtClean="0"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    由</a:t>
            </a:r>
            <a:r>
              <a:rPr lang="zh-CN" altLang="en-US" sz="2400" b="1" dirty="0">
                <a:solidFill>
                  <a:srgbClr val="0000FF"/>
                </a:solidFill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约束条件</a:t>
            </a:r>
            <a:r>
              <a:rPr lang="zh-CN" altLang="en-US" sz="2400" b="1" dirty="0"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进行优化设计，可以得到双</a:t>
            </a:r>
            <a:r>
              <a:rPr lang="en-US" altLang="zh-CN" sz="2400" b="1" dirty="0"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CCD</a:t>
            </a:r>
            <a:r>
              <a:rPr lang="zh-CN" altLang="en-US" sz="2400" b="1" dirty="0"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交会测量系统的最优结构参数。在优化设计过程中，设定的</a:t>
            </a:r>
            <a:r>
              <a:rPr lang="zh-CN" altLang="en-US" sz="2400" b="1" dirty="0">
                <a:solidFill>
                  <a:srgbClr val="0000FF"/>
                </a:solidFill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优化设计准则</a:t>
            </a:r>
            <a:r>
              <a:rPr lang="zh-CN" altLang="en-US" sz="2400" b="1" dirty="0"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是：在双</a:t>
            </a:r>
            <a:r>
              <a:rPr lang="en-US" altLang="zh-CN" sz="2400" b="1" dirty="0"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CCD</a:t>
            </a:r>
            <a:r>
              <a:rPr lang="zh-CN" altLang="en-US" sz="2400" b="1" dirty="0"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有效视场内，使坐标测量误差的最大值小于设定</a:t>
            </a:r>
            <a:r>
              <a:rPr lang="zh-CN" altLang="en-US" sz="2400" b="1" dirty="0" smtClean="0"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的最大误差</a:t>
            </a:r>
            <a:r>
              <a:rPr lang="zh-CN" altLang="en-US" sz="2400" b="1" dirty="0"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。</a:t>
            </a:r>
          </a:p>
          <a:p>
            <a:pPr indent="266700" defTabSz="914400" eaLnBrk="0" hangingPunct="0"/>
            <a:endParaRPr lang="zh-CN" altLang="en-US" sz="2400" b="1" dirty="0">
              <a:latin typeface="Times New Roman" pitchFamily="18" charset="0"/>
              <a:ea typeface="微软雅黑" pitchFamily="34" charset="-122"/>
              <a:cs typeface="Times New Roman" pitchFamily="18" charset="0"/>
            </a:endParaRPr>
          </a:p>
        </p:txBody>
      </p:sp>
      <p:sp>
        <p:nvSpPr>
          <p:cNvPr id="30740" name="Rectangle 7"/>
          <p:cNvSpPr>
            <a:spLocks noChangeArrowheads="1"/>
          </p:cNvSpPr>
          <p:nvPr/>
        </p:nvSpPr>
        <p:spPr bwMode="auto">
          <a:xfrm>
            <a:off x="323850" y="1611313"/>
            <a:ext cx="577850" cy="244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pPr indent="266700" defTabSz="914400" eaLnBrk="0" hangingPunct="0"/>
            <a:r>
              <a:rPr lang="zh-CN" altLang="en-US" sz="1000" b="1">
                <a:latin typeface="Times New Roman" pitchFamily="18" charset="0"/>
                <a:ea typeface="楷体_GB2312" pitchFamily="49" charset="-122"/>
                <a:cs typeface="Times New Roman" pitchFamily="18" charset="0"/>
              </a:rPr>
              <a:t>。</a:t>
            </a:r>
            <a:endParaRPr lang="zh-CN" altLang="en-US" sz="2800" b="1">
              <a:latin typeface="楷体_GB2312" pitchFamily="49" charset="-122"/>
              <a:ea typeface="楷体_GB2312" pitchFamily="49" charset="-122"/>
              <a:cs typeface="Times New Roman" pitchFamily="18" charset="0"/>
            </a:endParaRPr>
          </a:p>
        </p:txBody>
      </p:sp>
      <p:pic>
        <p:nvPicPr>
          <p:cNvPr id="145416" name="Picture 8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809625" y="4748213"/>
            <a:ext cx="11993393" cy="18811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21" name="文本框 60">
            <a:extLst>
              <a:ext uri="{FF2B5EF4-FFF2-40B4-BE49-F238E27FC236}">
                <a16:creationId xmlns:a16="http://schemas.microsoft.com/office/drawing/2014/main" xmlns="" id="{791D85D7-F412-9C48-9F2B-E33F5B7B4F3C}"/>
              </a:ext>
            </a:extLst>
          </p:cNvPr>
          <p:cNvSpPr txBox="1"/>
          <p:nvPr/>
        </p:nvSpPr>
        <p:spPr>
          <a:xfrm>
            <a:off x="1364780" y="293282"/>
            <a:ext cx="4560031" cy="369332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/>
          <a:p>
            <a:r>
              <a:rPr lang="zh-CN" altLang="en-US" sz="1800" b="1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用于三维复合精细成像的双</a:t>
            </a:r>
            <a:r>
              <a:rPr lang="en-US" altLang="zh-CN" sz="1800" b="1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CCD</a:t>
            </a:r>
            <a:r>
              <a:rPr lang="zh-CN" altLang="en-US" sz="1800" b="1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交会测量</a:t>
            </a:r>
            <a:endParaRPr lang="zh-CN" altLang="en-US" sz="18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2" name="矩形 21"/>
          <p:cNvSpPr/>
          <p:nvPr/>
        </p:nvSpPr>
        <p:spPr>
          <a:xfrm>
            <a:off x="10256520" y="329189"/>
            <a:ext cx="1211081" cy="451406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>
              <a:lnSpc>
                <a:spcPts val="1400"/>
              </a:lnSpc>
            </a:pPr>
            <a:r>
              <a:rPr lang="en-US" altLang="zh-CN" sz="1100" b="1" spc="50" dirty="0">
                <a:latin typeface="冬青黑体简体中文 W6"/>
                <a:ea typeface="冬青黑体简体中文 W6" panose="020B0600000000000000" pitchFamily="34" charset="-122"/>
                <a:cs typeface="Times New Roman" panose="02020603050405020304" pitchFamily="18" charset="0"/>
              </a:rPr>
              <a:t>Photoelectric</a:t>
            </a:r>
          </a:p>
          <a:p>
            <a:pPr>
              <a:lnSpc>
                <a:spcPts val="1400"/>
              </a:lnSpc>
            </a:pPr>
            <a:r>
              <a:rPr lang="en-US" altLang="zh-CN" sz="1100" b="1" spc="50" dirty="0">
                <a:latin typeface="冬青黑体简体中文 W6"/>
                <a:ea typeface="冬青黑体简体中文 W6" panose="020B0600000000000000" pitchFamily="34" charset="-122"/>
                <a:cs typeface="Times New Roman" panose="02020603050405020304" pitchFamily="18" charset="0"/>
              </a:rPr>
              <a:t>Technology</a:t>
            </a:r>
            <a:endParaRPr lang="zh-CN" altLang="en-US" sz="1100" b="1" spc="50" dirty="0">
              <a:ln w="22225">
                <a:solidFill>
                  <a:schemeClr val="accent2"/>
                </a:solidFill>
                <a:prstDash val="solid"/>
              </a:ln>
              <a:latin typeface="冬青黑体简体中文 W6"/>
              <a:ea typeface="冬青黑体简体中文 W6" panose="020B0600000000000000" pitchFamily="34" charset="-122"/>
              <a:cs typeface="Times New Roman" panose="02020603050405020304" pitchFamily="18" charset="0"/>
            </a:endParaRPr>
          </a:p>
        </p:txBody>
      </p:sp>
      <p:sp>
        <p:nvSpPr>
          <p:cNvPr id="23" name="矩形 22">
            <a:extLst>
              <a:ext uri="{FF2B5EF4-FFF2-40B4-BE49-F238E27FC236}">
                <a16:creationId xmlns:a16="http://schemas.microsoft.com/office/drawing/2014/main" xmlns="" id="{B0EA110F-2BA5-44F1-BDF2-A8AD51CC83F5}"/>
              </a:ext>
            </a:extLst>
          </p:cNvPr>
          <p:cNvSpPr/>
          <p:nvPr/>
        </p:nvSpPr>
        <p:spPr>
          <a:xfrm>
            <a:off x="12993723" y="361950"/>
            <a:ext cx="167523" cy="412649"/>
          </a:xfrm>
          <a:prstGeom prst="rect">
            <a:avLst/>
          </a:prstGeom>
          <a:gradFill>
            <a:gsLst>
              <a:gs pos="0">
                <a:srgbClr val="0066FF"/>
              </a:gs>
              <a:gs pos="100000">
                <a:schemeClr val="accent1">
                  <a:lumMod val="100000"/>
                </a:schemeClr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4" name="矩形: 圆角 25">
            <a:extLst>
              <a:ext uri="{FF2B5EF4-FFF2-40B4-BE49-F238E27FC236}">
                <a16:creationId xmlns:a16="http://schemas.microsoft.com/office/drawing/2014/main" xmlns="" id="{D7400AB1-4BEC-40E5-A53B-E3CB1F48EB8A}"/>
              </a:ext>
            </a:extLst>
          </p:cNvPr>
          <p:cNvSpPr/>
          <p:nvPr/>
        </p:nvSpPr>
        <p:spPr>
          <a:xfrm>
            <a:off x="336177" y="293282"/>
            <a:ext cx="948448" cy="481317"/>
          </a:xfrm>
          <a:prstGeom prst="roundRect">
            <a:avLst/>
          </a:prstGeom>
          <a:gradFill>
            <a:gsLst>
              <a:gs pos="0">
                <a:srgbClr val="0066FF"/>
              </a:gs>
              <a:gs pos="100000">
                <a:schemeClr val="accent1">
                  <a:lumMod val="100000"/>
                </a:schemeClr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Bef>
                <a:spcPts val="800"/>
              </a:spcBef>
            </a:pPr>
            <a:r>
              <a:rPr kumimoji="1" lang="en-US" altLang="zh-CN" sz="2800" b="1" dirty="0" smtClean="0">
                <a:solidFill>
                  <a:schemeClr val="bg1"/>
                </a:solidFill>
                <a:latin typeface="Times New Roman" panose="02020603050405020304" pitchFamily="18" charset="0"/>
                <a:ea typeface="Microsoft YaHei" panose="020B0503020204020204" pitchFamily="34" charset="-122"/>
                <a:cs typeface="Times New Roman" panose="02020603050405020304" pitchFamily="18" charset="0"/>
              </a:rPr>
              <a:t>10.1</a:t>
            </a:r>
            <a:endParaRPr kumimoji="1" lang="zh-CN" altLang="en-US" sz="2800" b="1" dirty="0">
              <a:solidFill>
                <a:schemeClr val="bg1"/>
              </a:solidFill>
              <a:latin typeface="Times New Roman" panose="02020603050405020304" pitchFamily="18" charset="0"/>
              <a:ea typeface="Microsoft YaHei" panose="020B0503020204020204" pitchFamily="34" charset="-122"/>
              <a:cs typeface="Times New Roman" panose="02020603050405020304" pitchFamily="18" charset="0"/>
            </a:endParaRPr>
          </a:p>
        </p:txBody>
      </p:sp>
      <p:cxnSp>
        <p:nvCxnSpPr>
          <p:cNvPr id="25" name="直接连接符 58">
            <a:extLst>
              <a:ext uri="{FF2B5EF4-FFF2-40B4-BE49-F238E27FC236}">
                <a16:creationId xmlns:a16="http://schemas.microsoft.com/office/drawing/2014/main" xmlns="" id="{8C5F82EF-52B4-4531-96F0-44689EA1125E}"/>
              </a:ext>
            </a:extLst>
          </p:cNvPr>
          <p:cNvCxnSpPr>
            <a:cxnSpLocks/>
          </p:cNvCxnSpPr>
          <p:nvPr/>
        </p:nvCxnSpPr>
        <p:spPr>
          <a:xfrm flipV="1">
            <a:off x="1450506" y="695281"/>
            <a:ext cx="2999293" cy="15717"/>
          </a:xfrm>
          <a:prstGeom prst="line">
            <a:avLst/>
          </a:prstGeom>
          <a:ln w="19050" cmpd="dbl">
            <a:solidFill>
              <a:srgbClr val="3366FF">
                <a:alpha val="7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矩形 25">
            <a:extLst>
              <a:ext uri="{FF2B5EF4-FFF2-40B4-BE49-F238E27FC236}">
                <a16:creationId xmlns:a16="http://schemas.microsoft.com/office/drawing/2014/main" xmlns="" id="{82FE0EE3-DD34-4ECD-AB99-E9089285A34C}"/>
              </a:ext>
            </a:extLst>
          </p:cNvPr>
          <p:cNvSpPr/>
          <p:nvPr/>
        </p:nvSpPr>
        <p:spPr>
          <a:xfrm>
            <a:off x="11251918" y="293282"/>
            <a:ext cx="1741805" cy="523220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r"/>
            <a:r>
              <a:rPr lang="zh-CN" altLang="en-US" sz="2800" spc="20" dirty="0">
                <a:latin typeface="冬青黑体简体中文 W6" panose="020B0600000000000000" pitchFamily="34" charset="-122"/>
                <a:ea typeface="冬青黑体简体中文 W6" panose="020B0600000000000000" pitchFamily="34" charset="-122"/>
                <a:cs typeface="阿里巴巴普惠体 R" panose="00020600040101010101" pitchFamily="18" charset="-122"/>
              </a:rPr>
              <a:t>光电技术</a:t>
            </a:r>
          </a:p>
        </p:txBody>
      </p:sp>
      <p:sp>
        <p:nvSpPr>
          <p:cNvPr id="27" name="矩形 26">
            <a:extLst>
              <a:ext uri="{FF2B5EF4-FFF2-40B4-BE49-F238E27FC236}">
                <a16:creationId xmlns:a16="http://schemas.microsoft.com/office/drawing/2014/main" xmlns="" id="{942CFC6A-A6DB-0F43-9829-C9244014588C}"/>
              </a:ext>
            </a:extLst>
          </p:cNvPr>
          <p:cNvSpPr/>
          <p:nvPr/>
        </p:nvSpPr>
        <p:spPr>
          <a:xfrm flipV="1">
            <a:off x="0" y="7589506"/>
            <a:ext cx="10141249" cy="125744"/>
          </a:xfrm>
          <a:prstGeom prst="rect">
            <a:avLst/>
          </a:prstGeom>
          <a:gradFill flip="none" rotWithShape="1">
            <a:gsLst>
              <a:gs pos="0">
                <a:srgbClr val="1271FE"/>
              </a:gs>
              <a:gs pos="45000">
                <a:srgbClr val="6895F3"/>
              </a:gs>
              <a:gs pos="9000">
                <a:srgbClr val="3366FF"/>
              </a:gs>
              <a:gs pos="100000">
                <a:schemeClr val="accent1">
                  <a:lumMod val="60000"/>
                  <a:lumOff val="40000"/>
                </a:schemeClr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240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54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1454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454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54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8" dur="500"/>
                                        <p:tgtEl>
                                          <p:spTgt spid="1454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  <p:bldP spid="145413" grpId="0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矩形 15"/>
          <p:cNvSpPr>
            <a:spLocks noChangeArrowheads="1"/>
          </p:cNvSpPr>
          <p:nvPr/>
        </p:nvSpPr>
        <p:spPr bwMode="auto">
          <a:xfrm>
            <a:off x="1319213" y="1214438"/>
            <a:ext cx="5367337" cy="5191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defTabSz="914400"/>
            <a:r>
              <a:rPr lang="zh-CN" altLang="en-US" sz="2800" b="1" dirty="0">
                <a:solidFill>
                  <a:srgbClr val="FF0000"/>
                </a:solidFill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（</a:t>
            </a:r>
            <a:r>
              <a:rPr lang="en-US" altLang="zh-CN" sz="2800" b="1" dirty="0">
                <a:solidFill>
                  <a:srgbClr val="FF0000"/>
                </a:solidFill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2</a:t>
            </a:r>
            <a:r>
              <a:rPr lang="zh-CN" altLang="en-US" sz="2800" b="1" dirty="0">
                <a:solidFill>
                  <a:srgbClr val="FF0000"/>
                </a:solidFill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）系统结构配置及器件选型</a:t>
            </a:r>
          </a:p>
        </p:txBody>
      </p:sp>
      <p:sp>
        <p:nvSpPr>
          <p:cNvPr id="145413" name="Rectangle 5"/>
          <p:cNvSpPr>
            <a:spLocks noChangeArrowheads="1"/>
          </p:cNvSpPr>
          <p:nvPr/>
        </p:nvSpPr>
        <p:spPr bwMode="auto">
          <a:xfrm>
            <a:off x="762000" y="2066062"/>
            <a:ext cx="12211050" cy="175432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pPr defTabSz="914400">
              <a:lnSpc>
                <a:spcPct val="150000"/>
              </a:lnSpc>
            </a:pPr>
            <a:r>
              <a:rPr lang="zh-CN" altLang="en-US" sz="2400" b="1" dirty="0" smtClean="0"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       根据</a:t>
            </a:r>
            <a:r>
              <a:rPr lang="zh-CN" altLang="en-US" sz="2400" b="1" dirty="0"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优化设计结果，最终确定双</a:t>
            </a:r>
            <a:r>
              <a:rPr lang="en-US" altLang="zh-CN" sz="2400" b="1" dirty="0"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CCD</a:t>
            </a:r>
            <a:r>
              <a:rPr lang="zh-CN" altLang="en-US" sz="2400" b="1" dirty="0"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交会测量系统的尾部结构参数如下：两</a:t>
            </a:r>
            <a:r>
              <a:rPr lang="en-US" altLang="zh-CN" sz="2400" b="1" dirty="0"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CCD</a:t>
            </a:r>
            <a:r>
              <a:rPr lang="zh-CN" altLang="en-US" sz="2400" b="1" dirty="0"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成对称结构放置</a:t>
            </a:r>
            <a:r>
              <a:rPr lang="en-US" sz="2400" b="1" dirty="0"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 </a:t>
            </a:r>
            <a:r>
              <a:rPr lang="zh-CN" altLang="en-US" sz="2400" b="1" dirty="0"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，并且双</a:t>
            </a:r>
            <a:r>
              <a:rPr lang="en-US" altLang="zh-CN" sz="2400" b="1" dirty="0"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CCD</a:t>
            </a:r>
            <a:r>
              <a:rPr lang="zh-CN" altLang="en-US" sz="2400" b="1" dirty="0"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光心之间的距离为</a:t>
            </a:r>
            <a:r>
              <a:rPr lang="en-US" altLang="zh-CN" sz="2400" b="1" dirty="0"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1.5m</a:t>
            </a:r>
            <a:r>
              <a:rPr lang="zh-CN" altLang="en-US" sz="2400" b="1" dirty="0"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，</a:t>
            </a:r>
            <a:r>
              <a:rPr lang="en-US" altLang="zh-CN" sz="2400" b="1" dirty="0"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CCD</a:t>
            </a:r>
            <a:r>
              <a:rPr lang="zh-CN" altLang="en-US" sz="2400" b="1" dirty="0"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光轴与基线之间的夹角</a:t>
            </a:r>
            <a:r>
              <a:rPr lang="en-US" altLang="zh-CN" sz="2400" b="1" dirty="0"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——</a:t>
            </a:r>
            <a:r>
              <a:rPr lang="zh-CN" altLang="en-US" sz="2400" b="1" dirty="0"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光轴倾角为</a:t>
            </a:r>
            <a:r>
              <a:rPr lang="en-US" altLang="zh-CN" sz="2400" b="1" dirty="0"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77°</a:t>
            </a:r>
            <a:r>
              <a:rPr lang="zh-CN" altLang="en-US" sz="2400" b="1" dirty="0"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。</a:t>
            </a:r>
            <a:endParaRPr lang="zh-CN" altLang="en-US" sz="2800" b="1" dirty="0">
              <a:latin typeface="Times New Roman" pitchFamily="18" charset="0"/>
              <a:ea typeface="黑体" pitchFamily="2" charset="-122"/>
              <a:cs typeface="Times New Roman" pitchFamily="18" charset="0"/>
            </a:endParaRPr>
          </a:p>
        </p:txBody>
      </p:sp>
      <p:graphicFrame>
        <p:nvGraphicFramePr>
          <p:cNvPr id="45153" name="Group 97"/>
          <p:cNvGraphicFramePr>
            <a:graphicFrameLocks noGrp="1"/>
          </p:cNvGraphicFramePr>
          <p:nvPr/>
        </p:nvGraphicFramePr>
        <p:xfrm>
          <a:off x="1703388" y="4033838"/>
          <a:ext cx="10369555" cy="2883437"/>
        </p:xfrm>
        <a:graphic>
          <a:graphicData uri="http://schemas.openxmlformats.org/drawingml/2006/table">
            <a:tbl>
              <a:tblPr/>
              <a:tblGrid>
                <a:gridCol w="1425575"/>
                <a:gridCol w="1728787"/>
                <a:gridCol w="1085850"/>
                <a:gridCol w="6129343"/>
              </a:tblGrid>
              <a:tr h="627911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altLang="en-US" sz="20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微软雅黑" pitchFamily="34" charset="-122"/>
                          <a:cs typeface="Times New Roman" pitchFamily="18" charset="0"/>
                        </a:rPr>
                        <a:t>品名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altLang="en-US" sz="20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微软雅黑" pitchFamily="34" charset="-122"/>
                          <a:cs typeface="Times New Roman" pitchFamily="18" charset="0"/>
                        </a:rPr>
                        <a:t>型号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altLang="en-US" sz="2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微软雅黑" pitchFamily="34" charset="-122"/>
                          <a:cs typeface="Times New Roman" pitchFamily="18" charset="0"/>
                        </a:rPr>
                        <a:t>产地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altLang="en-US" sz="2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微软雅黑" pitchFamily="34" charset="-122"/>
                          <a:cs typeface="Times New Roman" pitchFamily="18" charset="0"/>
                        </a:rPr>
                        <a:t>主要性能参数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1249686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微软雅黑" pitchFamily="34" charset="-122"/>
                          <a:cs typeface="Times New Roman" pitchFamily="18" charset="0"/>
                        </a:rPr>
                        <a:t>CCD</a:t>
                      </a:r>
                      <a:r>
                        <a:rPr kumimoji="0" lang="zh-CN" altLang="en-US" sz="2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微软雅黑" pitchFamily="34" charset="-122"/>
                          <a:cs typeface="Times New Roman" pitchFamily="18" charset="0"/>
                        </a:rPr>
                        <a:t>相机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 dirty="0" err="1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微软雅黑" pitchFamily="34" charset="-122"/>
                          <a:cs typeface="Times New Roman" pitchFamily="18" charset="0"/>
                        </a:rPr>
                        <a:t>Procilica</a:t>
                      </a:r>
                      <a:endParaRPr kumimoji="0" lang="en-US" altLang="zh-CN" sz="20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微软雅黑" pitchFamily="34" charset="-122"/>
                        <a:cs typeface="Times New Roman" pitchFamily="18" charset="0"/>
                      </a:endParaRPr>
                    </a:p>
                    <a:p>
                      <a:pPr marL="0" marR="0" lvl="0" indent="0" algn="ctr" defTabSz="914400" rtl="0" eaLnBrk="0" fontAlgn="base" latinLnBrk="0" hangingPunct="0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微软雅黑" pitchFamily="34" charset="-122"/>
                          <a:cs typeface="Times New Roman" pitchFamily="18" charset="0"/>
                        </a:rPr>
                        <a:t>GC1380CH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altLang="en-US" sz="20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微软雅黑" pitchFamily="34" charset="-122"/>
                          <a:cs typeface="Times New Roman" pitchFamily="18" charset="0"/>
                        </a:rPr>
                        <a:t>加拿大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altLang="en-US" sz="20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微软雅黑" pitchFamily="34" charset="-122"/>
                          <a:cs typeface="Times New Roman" pitchFamily="18" charset="0"/>
                        </a:rPr>
                        <a:t>分辨率 </a:t>
                      </a:r>
                      <a:r>
                        <a:rPr kumimoji="0" lang="en-US" altLang="zh-CN" sz="20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微软雅黑" pitchFamily="34" charset="-122"/>
                          <a:cs typeface="Times New Roman" pitchFamily="18" charset="0"/>
                        </a:rPr>
                        <a:t>1360×1024</a:t>
                      </a:r>
                      <a:r>
                        <a:rPr kumimoji="0" lang="zh-CN" altLang="en-US" sz="20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微软雅黑" pitchFamily="34" charset="-122"/>
                          <a:cs typeface="Times New Roman" pitchFamily="18" charset="0"/>
                        </a:rPr>
                        <a:t>；像元尺寸 </a:t>
                      </a:r>
                      <a:r>
                        <a:rPr kumimoji="0" lang="en-US" altLang="zh-CN" sz="20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微软雅黑" pitchFamily="34" charset="-122"/>
                          <a:cs typeface="Times New Roman" pitchFamily="18" charset="0"/>
                        </a:rPr>
                        <a:t>6.45</a:t>
                      </a:r>
                      <a:r>
                        <a:rPr kumimoji="0" lang="en-US" altLang="zh-CN" sz="2000" b="1" i="1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微软雅黑" pitchFamily="34" charset="-122"/>
                          <a:cs typeface="Times New Roman" pitchFamily="18" charset="0"/>
                        </a:rPr>
                        <a:t>um</a:t>
                      </a:r>
                      <a:r>
                        <a:rPr kumimoji="0" lang="en-US" altLang="zh-CN" sz="20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微软雅黑" pitchFamily="34" charset="-122"/>
                          <a:cs typeface="Times New Roman" pitchFamily="18" charset="0"/>
                        </a:rPr>
                        <a:t>×6.45</a:t>
                      </a:r>
                      <a:r>
                        <a:rPr kumimoji="0" lang="en-US" altLang="zh-CN" sz="2000" b="1" i="1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微软雅黑" pitchFamily="34" charset="-122"/>
                          <a:cs typeface="Times New Roman" pitchFamily="18" charset="0"/>
                        </a:rPr>
                        <a:t>um</a:t>
                      </a:r>
                      <a:r>
                        <a:rPr kumimoji="0" lang="zh-CN" altLang="en-US" sz="2000" b="1" i="1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微软雅黑" pitchFamily="34" charset="-122"/>
                          <a:cs typeface="Times New Roman" pitchFamily="18" charset="0"/>
                        </a:rPr>
                        <a:t>；</a:t>
                      </a:r>
                      <a:r>
                        <a:rPr kumimoji="0" lang="zh-CN" altLang="en-US" sz="20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微软雅黑" pitchFamily="34" charset="-122"/>
                          <a:cs typeface="Times New Roman" pitchFamily="18" charset="0"/>
                        </a:rPr>
                        <a:t>全分辨率帧速 </a:t>
                      </a:r>
                      <a:r>
                        <a:rPr kumimoji="0" lang="en-US" altLang="zh-CN" sz="20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微软雅黑" pitchFamily="34" charset="-122"/>
                          <a:cs typeface="Times New Roman" pitchFamily="18" charset="0"/>
                        </a:rPr>
                        <a:t>30fps</a:t>
                      </a:r>
                      <a:r>
                        <a:rPr kumimoji="0" lang="zh-CN" altLang="en-US" sz="20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微软雅黑" pitchFamily="34" charset="-122"/>
                          <a:cs typeface="Times New Roman" pitchFamily="18" charset="0"/>
                        </a:rPr>
                        <a:t>；芯片尺寸 </a:t>
                      </a:r>
                      <a:r>
                        <a:rPr kumimoji="0" lang="en-US" altLang="zh-CN" sz="20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微软雅黑" pitchFamily="34" charset="-122"/>
                          <a:cs typeface="Times New Roman" pitchFamily="18" charset="0"/>
                        </a:rPr>
                        <a:t>2/3</a:t>
                      </a:r>
                      <a:r>
                        <a:rPr kumimoji="0" lang="zh-CN" altLang="en-US" sz="20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微软雅黑" pitchFamily="34" charset="-122"/>
                          <a:cs typeface="Times New Roman" pitchFamily="18" charset="0"/>
                        </a:rPr>
                        <a:t>英寸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746539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altLang="en-US" sz="2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微软雅黑" pitchFamily="34" charset="-122"/>
                          <a:cs typeface="Times New Roman" pitchFamily="18" charset="0"/>
                        </a:rPr>
                        <a:t>镜头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微软雅黑" pitchFamily="34" charset="-122"/>
                          <a:cs typeface="Times New Roman" pitchFamily="18" charset="0"/>
                        </a:rPr>
                        <a:t>M6Z1212-3S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altLang="en-US" sz="2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微软雅黑" pitchFamily="34" charset="-122"/>
                          <a:cs typeface="Times New Roman" pitchFamily="18" charset="0"/>
                        </a:rPr>
                        <a:t>日本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altLang="en-US" sz="20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微软雅黑" pitchFamily="34" charset="-122"/>
                          <a:cs typeface="Times New Roman" pitchFamily="18" charset="0"/>
                        </a:rPr>
                        <a:t>焦距 </a:t>
                      </a:r>
                      <a:r>
                        <a:rPr kumimoji="0" lang="en-US" altLang="zh-CN" sz="20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微软雅黑" pitchFamily="34" charset="-122"/>
                          <a:cs typeface="Times New Roman" pitchFamily="18" charset="0"/>
                        </a:rPr>
                        <a:t>12.5mm</a:t>
                      </a:r>
                      <a:r>
                        <a:rPr kumimoji="0" lang="zh-CN" altLang="en-US" sz="20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微软雅黑" pitchFamily="34" charset="-122"/>
                          <a:cs typeface="Times New Roman" pitchFamily="18" charset="0"/>
                        </a:rPr>
                        <a:t>～</a:t>
                      </a:r>
                      <a:r>
                        <a:rPr kumimoji="0" lang="en-US" altLang="zh-CN" sz="20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微软雅黑" pitchFamily="34" charset="-122"/>
                          <a:cs typeface="Times New Roman" pitchFamily="18" charset="0"/>
                        </a:rPr>
                        <a:t>75mm</a:t>
                      </a:r>
                      <a:r>
                        <a:rPr kumimoji="0" lang="zh-CN" altLang="en-US" sz="20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微软雅黑" pitchFamily="34" charset="-122"/>
                          <a:cs typeface="Times New Roman" pitchFamily="18" charset="0"/>
                        </a:rPr>
                        <a:t>；光圈</a:t>
                      </a:r>
                      <a:r>
                        <a:rPr kumimoji="0" lang="en-US" altLang="zh-CN" sz="20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微软雅黑" pitchFamily="34" charset="-122"/>
                          <a:cs typeface="Times New Roman" pitchFamily="18" charset="0"/>
                        </a:rPr>
                        <a:t>1.2</a:t>
                      </a:r>
                      <a:r>
                        <a:rPr kumimoji="0" lang="zh-CN" altLang="en-US" sz="20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微软雅黑" pitchFamily="34" charset="-122"/>
                          <a:cs typeface="Times New Roman" pitchFamily="18" charset="0"/>
                        </a:rPr>
                        <a:t>～</a:t>
                      </a:r>
                      <a:r>
                        <a:rPr kumimoji="0" lang="en-US" altLang="zh-CN" sz="20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微软雅黑" pitchFamily="34" charset="-122"/>
                          <a:cs typeface="Times New Roman" pitchFamily="18" charset="0"/>
                        </a:rPr>
                        <a:t>16C</a:t>
                      </a:r>
                      <a:r>
                        <a:rPr kumimoji="0" lang="zh-CN" altLang="en-US" sz="20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微软雅黑" pitchFamily="34" charset="-122"/>
                          <a:cs typeface="Times New Roman" pitchFamily="18" charset="0"/>
                        </a:rPr>
                        <a:t>；最近工作距离 </a:t>
                      </a:r>
                      <a:r>
                        <a:rPr kumimoji="0" lang="en-US" altLang="zh-CN" sz="20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微软雅黑" pitchFamily="34" charset="-122"/>
                          <a:cs typeface="Times New Roman" pitchFamily="18" charset="0"/>
                        </a:rPr>
                        <a:t>1m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  <p:sp>
        <p:nvSpPr>
          <p:cNvPr id="20" name="文本框 60">
            <a:extLst>
              <a:ext uri="{FF2B5EF4-FFF2-40B4-BE49-F238E27FC236}">
                <a16:creationId xmlns:a16="http://schemas.microsoft.com/office/drawing/2014/main" xmlns="" id="{791D85D7-F412-9C48-9F2B-E33F5B7B4F3C}"/>
              </a:ext>
            </a:extLst>
          </p:cNvPr>
          <p:cNvSpPr txBox="1"/>
          <p:nvPr/>
        </p:nvSpPr>
        <p:spPr>
          <a:xfrm>
            <a:off x="1364780" y="293282"/>
            <a:ext cx="4560031" cy="369332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/>
          <a:p>
            <a:r>
              <a:rPr lang="zh-CN" altLang="en-US" sz="1800" b="1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用于三维复合精细成像的双</a:t>
            </a:r>
            <a:r>
              <a:rPr lang="en-US" altLang="zh-CN" sz="1800" b="1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CCD</a:t>
            </a:r>
            <a:r>
              <a:rPr lang="zh-CN" altLang="en-US" sz="1800" b="1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交会测量</a:t>
            </a:r>
            <a:endParaRPr lang="zh-CN" altLang="en-US" sz="18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1" name="矩形 20"/>
          <p:cNvSpPr/>
          <p:nvPr/>
        </p:nvSpPr>
        <p:spPr>
          <a:xfrm>
            <a:off x="10256520" y="329189"/>
            <a:ext cx="1211081" cy="451406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>
              <a:lnSpc>
                <a:spcPts val="1400"/>
              </a:lnSpc>
            </a:pPr>
            <a:r>
              <a:rPr lang="en-US" altLang="zh-CN" sz="1100" b="1" spc="50" dirty="0">
                <a:latin typeface="冬青黑体简体中文 W6"/>
                <a:ea typeface="冬青黑体简体中文 W6" panose="020B0600000000000000" pitchFamily="34" charset="-122"/>
                <a:cs typeface="Times New Roman" panose="02020603050405020304" pitchFamily="18" charset="0"/>
              </a:rPr>
              <a:t>Photoelectric</a:t>
            </a:r>
          </a:p>
          <a:p>
            <a:pPr>
              <a:lnSpc>
                <a:spcPts val="1400"/>
              </a:lnSpc>
            </a:pPr>
            <a:r>
              <a:rPr lang="en-US" altLang="zh-CN" sz="1100" b="1" spc="50" dirty="0">
                <a:latin typeface="冬青黑体简体中文 W6"/>
                <a:ea typeface="冬青黑体简体中文 W6" panose="020B0600000000000000" pitchFamily="34" charset="-122"/>
                <a:cs typeface="Times New Roman" panose="02020603050405020304" pitchFamily="18" charset="0"/>
              </a:rPr>
              <a:t>Technology</a:t>
            </a:r>
            <a:endParaRPr lang="zh-CN" altLang="en-US" sz="1100" b="1" spc="50" dirty="0">
              <a:ln w="22225">
                <a:solidFill>
                  <a:schemeClr val="accent2"/>
                </a:solidFill>
                <a:prstDash val="solid"/>
              </a:ln>
              <a:latin typeface="冬青黑体简体中文 W6"/>
              <a:ea typeface="冬青黑体简体中文 W6" panose="020B0600000000000000" pitchFamily="34" charset="-122"/>
              <a:cs typeface="Times New Roman" panose="02020603050405020304" pitchFamily="18" charset="0"/>
            </a:endParaRPr>
          </a:p>
        </p:txBody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xmlns="" id="{B0EA110F-2BA5-44F1-BDF2-A8AD51CC83F5}"/>
              </a:ext>
            </a:extLst>
          </p:cNvPr>
          <p:cNvSpPr/>
          <p:nvPr/>
        </p:nvSpPr>
        <p:spPr>
          <a:xfrm>
            <a:off x="12993723" y="361950"/>
            <a:ext cx="167523" cy="412649"/>
          </a:xfrm>
          <a:prstGeom prst="rect">
            <a:avLst/>
          </a:prstGeom>
          <a:gradFill>
            <a:gsLst>
              <a:gs pos="0">
                <a:srgbClr val="0066FF"/>
              </a:gs>
              <a:gs pos="100000">
                <a:schemeClr val="accent1">
                  <a:lumMod val="100000"/>
                </a:schemeClr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3" name="矩形: 圆角 25">
            <a:extLst>
              <a:ext uri="{FF2B5EF4-FFF2-40B4-BE49-F238E27FC236}">
                <a16:creationId xmlns:a16="http://schemas.microsoft.com/office/drawing/2014/main" xmlns="" id="{D7400AB1-4BEC-40E5-A53B-E3CB1F48EB8A}"/>
              </a:ext>
            </a:extLst>
          </p:cNvPr>
          <p:cNvSpPr/>
          <p:nvPr/>
        </p:nvSpPr>
        <p:spPr>
          <a:xfrm>
            <a:off x="336177" y="293282"/>
            <a:ext cx="948448" cy="481317"/>
          </a:xfrm>
          <a:prstGeom prst="roundRect">
            <a:avLst/>
          </a:prstGeom>
          <a:gradFill>
            <a:gsLst>
              <a:gs pos="0">
                <a:srgbClr val="0066FF"/>
              </a:gs>
              <a:gs pos="100000">
                <a:schemeClr val="accent1">
                  <a:lumMod val="100000"/>
                </a:schemeClr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Bef>
                <a:spcPts val="800"/>
              </a:spcBef>
            </a:pPr>
            <a:r>
              <a:rPr kumimoji="1" lang="en-US" altLang="zh-CN" sz="2800" b="1" dirty="0" smtClean="0">
                <a:solidFill>
                  <a:schemeClr val="bg1"/>
                </a:solidFill>
                <a:latin typeface="Times New Roman" panose="02020603050405020304" pitchFamily="18" charset="0"/>
                <a:ea typeface="Microsoft YaHei" panose="020B0503020204020204" pitchFamily="34" charset="-122"/>
                <a:cs typeface="Times New Roman" panose="02020603050405020304" pitchFamily="18" charset="0"/>
              </a:rPr>
              <a:t>10.1</a:t>
            </a:r>
            <a:endParaRPr kumimoji="1" lang="zh-CN" altLang="en-US" sz="2800" b="1" dirty="0">
              <a:solidFill>
                <a:schemeClr val="bg1"/>
              </a:solidFill>
              <a:latin typeface="Times New Roman" panose="02020603050405020304" pitchFamily="18" charset="0"/>
              <a:ea typeface="Microsoft YaHei" panose="020B0503020204020204" pitchFamily="34" charset="-122"/>
              <a:cs typeface="Times New Roman" panose="02020603050405020304" pitchFamily="18" charset="0"/>
            </a:endParaRPr>
          </a:p>
        </p:txBody>
      </p:sp>
      <p:cxnSp>
        <p:nvCxnSpPr>
          <p:cNvPr id="24" name="直接连接符 58">
            <a:extLst>
              <a:ext uri="{FF2B5EF4-FFF2-40B4-BE49-F238E27FC236}">
                <a16:creationId xmlns:a16="http://schemas.microsoft.com/office/drawing/2014/main" xmlns="" id="{8C5F82EF-52B4-4531-96F0-44689EA1125E}"/>
              </a:ext>
            </a:extLst>
          </p:cNvPr>
          <p:cNvCxnSpPr>
            <a:cxnSpLocks/>
          </p:cNvCxnSpPr>
          <p:nvPr/>
        </p:nvCxnSpPr>
        <p:spPr>
          <a:xfrm flipV="1">
            <a:off x="1450506" y="695281"/>
            <a:ext cx="2999293" cy="15717"/>
          </a:xfrm>
          <a:prstGeom prst="line">
            <a:avLst/>
          </a:prstGeom>
          <a:ln w="19050" cmpd="dbl">
            <a:solidFill>
              <a:srgbClr val="3366FF">
                <a:alpha val="7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矩形 24">
            <a:extLst>
              <a:ext uri="{FF2B5EF4-FFF2-40B4-BE49-F238E27FC236}">
                <a16:creationId xmlns:a16="http://schemas.microsoft.com/office/drawing/2014/main" xmlns="" id="{82FE0EE3-DD34-4ECD-AB99-E9089285A34C}"/>
              </a:ext>
            </a:extLst>
          </p:cNvPr>
          <p:cNvSpPr/>
          <p:nvPr/>
        </p:nvSpPr>
        <p:spPr>
          <a:xfrm>
            <a:off x="11251918" y="293282"/>
            <a:ext cx="1741805" cy="523220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r"/>
            <a:r>
              <a:rPr lang="zh-CN" altLang="en-US" sz="2800" spc="20" dirty="0">
                <a:latin typeface="冬青黑体简体中文 W6" panose="020B0600000000000000" pitchFamily="34" charset="-122"/>
                <a:ea typeface="冬青黑体简体中文 W6" panose="020B0600000000000000" pitchFamily="34" charset="-122"/>
                <a:cs typeface="阿里巴巴普惠体 R" panose="00020600040101010101" pitchFamily="18" charset="-122"/>
              </a:rPr>
              <a:t>光电技术</a:t>
            </a:r>
          </a:p>
        </p:txBody>
      </p:sp>
      <p:sp>
        <p:nvSpPr>
          <p:cNvPr id="26" name="矩形 25">
            <a:extLst>
              <a:ext uri="{FF2B5EF4-FFF2-40B4-BE49-F238E27FC236}">
                <a16:creationId xmlns:a16="http://schemas.microsoft.com/office/drawing/2014/main" xmlns="" id="{942CFC6A-A6DB-0F43-9829-C9244014588C}"/>
              </a:ext>
            </a:extLst>
          </p:cNvPr>
          <p:cNvSpPr/>
          <p:nvPr/>
        </p:nvSpPr>
        <p:spPr>
          <a:xfrm flipV="1">
            <a:off x="0" y="7589506"/>
            <a:ext cx="10141249" cy="125744"/>
          </a:xfrm>
          <a:prstGeom prst="rect">
            <a:avLst/>
          </a:prstGeom>
          <a:gradFill flip="none" rotWithShape="1">
            <a:gsLst>
              <a:gs pos="0">
                <a:srgbClr val="1271FE"/>
              </a:gs>
              <a:gs pos="45000">
                <a:srgbClr val="6895F3"/>
              </a:gs>
              <a:gs pos="9000">
                <a:srgbClr val="3366FF"/>
              </a:gs>
              <a:gs pos="100000">
                <a:schemeClr val="accent1">
                  <a:lumMod val="60000"/>
                  <a:lumOff val="40000"/>
                </a:schemeClr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240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84" name="矩形 15"/>
          <p:cNvSpPr>
            <a:spLocks noChangeArrowheads="1"/>
          </p:cNvSpPr>
          <p:nvPr/>
        </p:nvSpPr>
        <p:spPr bwMode="auto">
          <a:xfrm>
            <a:off x="1233488" y="1209675"/>
            <a:ext cx="3929063" cy="5191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defTabSz="914400"/>
            <a:r>
              <a:rPr lang="zh-CN" altLang="en-US" sz="2800" b="1" dirty="0">
                <a:solidFill>
                  <a:srgbClr val="FF0000"/>
                </a:solidFill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（</a:t>
            </a:r>
            <a:r>
              <a:rPr lang="en-US" altLang="zh-CN" sz="2800" b="1" dirty="0">
                <a:solidFill>
                  <a:srgbClr val="FF0000"/>
                </a:solidFill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3</a:t>
            </a:r>
            <a:r>
              <a:rPr lang="zh-CN" altLang="en-US" sz="2800" b="1" dirty="0">
                <a:solidFill>
                  <a:srgbClr val="FF0000"/>
                </a:solidFill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）系统构成</a:t>
            </a:r>
          </a:p>
        </p:txBody>
      </p:sp>
      <p:sp>
        <p:nvSpPr>
          <p:cNvPr id="32786" name="Rectangle 7"/>
          <p:cNvSpPr>
            <a:spLocks noChangeArrowheads="1"/>
          </p:cNvSpPr>
          <p:nvPr/>
        </p:nvSpPr>
        <p:spPr bwMode="auto">
          <a:xfrm>
            <a:off x="304800" y="1516063"/>
            <a:ext cx="577850" cy="244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pPr indent="266700" defTabSz="914400" eaLnBrk="0" hangingPunct="0"/>
            <a:r>
              <a:rPr lang="zh-CN" altLang="en-US" sz="1000" b="1">
                <a:latin typeface="Times New Roman" pitchFamily="18" charset="0"/>
                <a:ea typeface="楷体_GB2312" pitchFamily="49" charset="-122"/>
                <a:cs typeface="Times New Roman" pitchFamily="18" charset="0"/>
              </a:rPr>
              <a:t>。</a:t>
            </a:r>
            <a:endParaRPr lang="zh-CN" altLang="en-US" sz="2800" b="1">
              <a:latin typeface="楷体_GB2312" pitchFamily="49" charset="-122"/>
              <a:ea typeface="楷体_GB2312" pitchFamily="49" charset="-122"/>
              <a:cs typeface="Times New Roman" pitchFamily="18" charset="0"/>
            </a:endParaRPr>
          </a:p>
        </p:txBody>
      </p:sp>
      <p:sp>
        <p:nvSpPr>
          <p:cNvPr id="18" name="矩形 17"/>
          <p:cNvSpPr>
            <a:spLocks noChangeArrowheads="1"/>
          </p:cNvSpPr>
          <p:nvPr/>
        </p:nvSpPr>
        <p:spPr bwMode="auto">
          <a:xfrm>
            <a:off x="733414" y="2182813"/>
            <a:ext cx="8010525" cy="138499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defTabSz="914400">
              <a:lnSpc>
                <a:spcPct val="150000"/>
              </a:lnSpc>
            </a:pPr>
            <a:r>
              <a:rPr lang="en-US" altLang="zh-CN" sz="2800" b="1" dirty="0" smtClean="0">
                <a:solidFill>
                  <a:srgbClr val="0000FF"/>
                </a:solidFill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       CCD</a:t>
            </a:r>
            <a:r>
              <a:rPr lang="zh-CN" altLang="en-US" sz="2800" b="1" dirty="0"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的主要作用是采集待测目标的图像，为后续目标特征提取提供信息输入源。</a:t>
            </a:r>
          </a:p>
        </p:txBody>
      </p:sp>
      <p:sp>
        <p:nvSpPr>
          <p:cNvPr id="19" name="矩形 18"/>
          <p:cNvSpPr>
            <a:spLocks noChangeArrowheads="1"/>
          </p:cNvSpPr>
          <p:nvPr/>
        </p:nvSpPr>
        <p:spPr bwMode="auto">
          <a:xfrm>
            <a:off x="690565" y="3870325"/>
            <a:ext cx="8215312" cy="267765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defTabSz="914400">
              <a:lnSpc>
                <a:spcPct val="150000"/>
              </a:lnSpc>
            </a:pPr>
            <a:r>
              <a:rPr lang="zh-CN" altLang="en-US" sz="2800" b="1" dirty="0" smtClean="0">
                <a:solidFill>
                  <a:srgbClr val="0000FF"/>
                </a:solidFill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        激光雷达</a:t>
            </a:r>
            <a:r>
              <a:rPr lang="zh-CN" altLang="en-US" sz="2800" b="1" dirty="0"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的作用是获取目标的三维空间坐标，结合两</a:t>
            </a:r>
            <a:r>
              <a:rPr lang="en-US" altLang="zh-CN" sz="2800" b="1" dirty="0"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CCD</a:t>
            </a:r>
            <a:r>
              <a:rPr lang="zh-CN" altLang="en-US" sz="2800" b="1" dirty="0"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的相应图像坐标，并利用激光雷达坐标系与</a:t>
            </a:r>
            <a:r>
              <a:rPr lang="en-US" altLang="zh-CN" sz="2800" b="1" dirty="0"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CCD</a:t>
            </a:r>
            <a:r>
              <a:rPr lang="zh-CN" altLang="en-US" sz="2800" b="1" dirty="0"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坐标系的标定算法，可以计算激光雷达与两</a:t>
            </a:r>
            <a:r>
              <a:rPr lang="en-US" altLang="zh-CN" sz="2800" b="1" dirty="0"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CCD</a:t>
            </a:r>
            <a:r>
              <a:rPr lang="zh-CN" altLang="en-US" sz="2800" b="1" dirty="0"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的相互位置关系，实现三维精细成像。</a:t>
            </a:r>
          </a:p>
        </p:txBody>
      </p:sp>
      <p:pic>
        <p:nvPicPr>
          <p:cNvPr id="147459" name="Picture 3"/>
          <p:cNvPicPr>
            <a:picLocks noChangeAspect="1" noChangeArrowheads="1"/>
          </p:cNvPicPr>
          <p:nvPr/>
        </p:nvPicPr>
        <p:blipFill>
          <a:blip r:embed="rId2" cstate="print"/>
          <a:srcRect l="9740" t="2809"/>
          <a:stretch>
            <a:fillRect/>
          </a:stretch>
        </p:blipFill>
        <p:spPr bwMode="auto">
          <a:xfrm>
            <a:off x="9091612" y="2224088"/>
            <a:ext cx="4092348" cy="38195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21" name="文本框 60">
            <a:extLst>
              <a:ext uri="{FF2B5EF4-FFF2-40B4-BE49-F238E27FC236}">
                <a16:creationId xmlns:a16="http://schemas.microsoft.com/office/drawing/2014/main" xmlns="" id="{791D85D7-F412-9C48-9F2B-E33F5B7B4F3C}"/>
              </a:ext>
            </a:extLst>
          </p:cNvPr>
          <p:cNvSpPr txBox="1"/>
          <p:nvPr/>
        </p:nvSpPr>
        <p:spPr>
          <a:xfrm>
            <a:off x="1364780" y="293282"/>
            <a:ext cx="4560031" cy="369332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/>
          <a:p>
            <a:r>
              <a:rPr lang="zh-CN" altLang="en-US" sz="1800" b="1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用于三维复合精细成像的双</a:t>
            </a:r>
            <a:r>
              <a:rPr lang="en-US" altLang="zh-CN" sz="1800" b="1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CCD</a:t>
            </a:r>
            <a:r>
              <a:rPr lang="zh-CN" altLang="en-US" sz="1800" b="1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交会测量</a:t>
            </a:r>
            <a:endParaRPr lang="zh-CN" altLang="en-US" sz="18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2" name="矩形 21"/>
          <p:cNvSpPr/>
          <p:nvPr/>
        </p:nvSpPr>
        <p:spPr>
          <a:xfrm>
            <a:off x="10256520" y="329189"/>
            <a:ext cx="1211081" cy="451406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>
              <a:lnSpc>
                <a:spcPts val="1400"/>
              </a:lnSpc>
            </a:pPr>
            <a:r>
              <a:rPr lang="en-US" altLang="zh-CN" sz="1100" b="1" spc="50" dirty="0">
                <a:latin typeface="冬青黑体简体中文 W6"/>
                <a:ea typeface="冬青黑体简体中文 W6" panose="020B0600000000000000" pitchFamily="34" charset="-122"/>
                <a:cs typeface="Times New Roman" panose="02020603050405020304" pitchFamily="18" charset="0"/>
              </a:rPr>
              <a:t>Photoelectric</a:t>
            </a:r>
          </a:p>
          <a:p>
            <a:pPr>
              <a:lnSpc>
                <a:spcPts val="1400"/>
              </a:lnSpc>
            </a:pPr>
            <a:r>
              <a:rPr lang="en-US" altLang="zh-CN" sz="1100" b="1" spc="50" dirty="0">
                <a:latin typeface="冬青黑体简体中文 W6"/>
                <a:ea typeface="冬青黑体简体中文 W6" panose="020B0600000000000000" pitchFamily="34" charset="-122"/>
                <a:cs typeface="Times New Roman" panose="02020603050405020304" pitchFamily="18" charset="0"/>
              </a:rPr>
              <a:t>Technology</a:t>
            </a:r>
            <a:endParaRPr lang="zh-CN" altLang="en-US" sz="1100" b="1" spc="50" dirty="0">
              <a:ln w="22225">
                <a:solidFill>
                  <a:schemeClr val="accent2"/>
                </a:solidFill>
                <a:prstDash val="solid"/>
              </a:ln>
              <a:latin typeface="冬青黑体简体中文 W6"/>
              <a:ea typeface="冬青黑体简体中文 W6" panose="020B0600000000000000" pitchFamily="34" charset="-122"/>
              <a:cs typeface="Times New Roman" panose="02020603050405020304" pitchFamily="18" charset="0"/>
            </a:endParaRPr>
          </a:p>
        </p:txBody>
      </p:sp>
      <p:sp>
        <p:nvSpPr>
          <p:cNvPr id="23" name="矩形 22">
            <a:extLst>
              <a:ext uri="{FF2B5EF4-FFF2-40B4-BE49-F238E27FC236}">
                <a16:creationId xmlns:a16="http://schemas.microsoft.com/office/drawing/2014/main" xmlns="" id="{B0EA110F-2BA5-44F1-BDF2-A8AD51CC83F5}"/>
              </a:ext>
            </a:extLst>
          </p:cNvPr>
          <p:cNvSpPr/>
          <p:nvPr/>
        </p:nvSpPr>
        <p:spPr>
          <a:xfrm>
            <a:off x="12993723" y="361950"/>
            <a:ext cx="167523" cy="412649"/>
          </a:xfrm>
          <a:prstGeom prst="rect">
            <a:avLst/>
          </a:prstGeom>
          <a:gradFill>
            <a:gsLst>
              <a:gs pos="0">
                <a:srgbClr val="0066FF"/>
              </a:gs>
              <a:gs pos="100000">
                <a:schemeClr val="accent1">
                  <a:lumMod val="100000"/>
                </a:schemeClr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4" name="矩形: 圆角 25">
            <a:extLst>
              <a:ext uri="{FF2B5EF4-FFF2-40B4-BE49-F238E27FC236}">
                <a16:creationId xmlns:a16="http://schemas.microsoft.com/office/drawing/2014/main" xmlns="" id="{D7400AB1-4BEC-40E5-A53B-E3CB1F48EB8A}"/>
              </a:ext>
            </a:extLst>
          </p:cNvPr>
          <p:cNvSpPr/>
          <p:nvPr/>
        </p:nvSpPr>
        <p:spPr>
          <a:xfrm>
            <a:off x="336177" y="293282"/>
            <a:ext cx="948448" cy="481317"/>
          </a:xfrm>
          <a:prstGeom prst="roundRect">
            <a:avLst/>
          </a:prstGeom>
          <a:gradFill>
            <a:gsLst>
              <a:gs pos="0">
                <a:srgbClr val="0066FF"/>
              </a:gs>
              <a:gs pos="100000">
                <a:schemeClr val="accent1">
                  <a:lumMod val="100000"/>
                </a:schemeClr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Bef>
                <a:spcPts val="800"/>
              </a:spcBef>
            </a:pPr>
            <a:r>
              <a:rPr kumimoji="1" lang="en-US" altLang="zh-CN" sz="2800" b="1" dirty="0" smtClean="0">
                <a:solidFill>
                  <a:schemeClr val="bg1"/>
                </a:solidFill>
                <a:latin typeface="Times New Roman" panose="02020603050405020304" pitchFamily="18" charset="0"/>
                <a:ea typeface="Microsoft YaHei" panose="020B0503020204020204" pitchFamily="34" charset="-122"/>
                <a:cs typeface="Times New Roman" panose="02020603050405020304" pitchFamily="18" charset="0"/>
              </a:rPr>
              <a:t>10.1</a:t>
            </a:r>
            <a:endParaRPr kumimoji="1" lang="zh-CN" altLang="en-US" sz="2800" b="1" dirty="0">
              <a:solidFill>
                <a:schemeClr val="bg1"/>
              </a:solidFill>
              <a:latin typeface="Times New Roman" panose="02020603050405020304" pitchFamily="18" charset="0"/>
              <a:ea typeface="Microsoft YaHei" panose="020B0503020204020204" pitchFamily="34" charset="-122"/>
              <a:cs typeface="Times New Roman" panose="02020603050405020304" pitchFamily="18" charset="0"/>
            </a:endParaRPr>
          </a:p>
        </p:txBody>
      </p:sp>
      <p:cxnSp>
        <p:nvCxnSpPr>
          <p:cNvPr id="25" name="直接连接符 58">
            <a:extLst>
              <a:ext uri="{FF2B5EF4-FFF2-40B4-BE49-F238E27FC236}">
                <a16:creationId xmlns:a16="http://schemas.microsoft.com/office/drawing/2014/main" xmlns="" id="{8C5F82EF-52B4-4531-96F0-44689EA1125E}"/>
              </a:ext>
            </a:extLst>
          </p:cNvPr>
          <p:cNvCxnSpPr>
            <a:cxnSpLocks/>
          </p:cNvCxnSpPr>
          <p:nvPr/>
        </p:nvCxnSpPr>
        <p:spPr>
          <a:xfrm flipV="1">
            <a:off x="1450506" y="695281"/>
            <a:ext cx="2999293" cy="15717"/>
          </a:xfrm>
          <a:prstGeom prst="line">
            <a:avLst/>
          </a:prstGeom>
          <a:ln w="19050" cmpd="dbl">
            <a:solidFill>
              <a:srgbClr val="3366FF">
                <a:alpha val="7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矩形 25">
            <a:extLst>
              <a:ext uri="{FF2B5EF4-FFF2-40B4-BE49-F238E27FC236}">
                <a16:creationId xmlns:a16="http://schemas.microsoft.com/office/drawing/2014/main" xmlns="" id="{82FE0EE3-DD34-4ECD-AB99-E9089285A34C}"/>
              </a:ext>
            </a:extLst>
          </p:cNvPr>
          <p:cNvSpPr/>
          <p:nvPr/>
        </p:nvSpPr>
        <p:spPr>
          <a:xfrm>
            <a:off x="11251918" y="293282"/>
            <a:ext cx="1741805" cy="523220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r"/>
            <a:r>
              <a:rPr lang="zh-CN" altLang="en-US" sz="2800" spc="20" dirty="0">
                <a:latin typeface="冬青黑体简体中文 W6" panose="020B0600000000000000" pitchFamily="34" charset="-122"/>
                <a:ea typeface="冬青黑体简体中文 W6" panose="020B0600000000000000" pitchFamily="34" charset="-122"/>
                <a:cs typeface="阿里巴巴普惠体 R" panose="00020600040101010101" pitchFamily="18" charset="-122"/>
              </a:rPr>
              <a:t>光电技术</a:t>
            </a:r>
          </a:p>
        </p:txBody>
      </p:sp>
      <p:sp>
        <p:nvSpPr>
          <p:cNvPr id="27" name="矩形 26">
            <a:extLst>
              <a:ext uri="{FF2B5EF4-FFF2-40B4-BE49-F238E27FC236}">
                <a16:creationId xmlns:a16="http://schemas.microsoft.com/office/drawing/2014/main" xmlns="" id="{942CFC6A-A6DB-0F43-9829-C9244014588C}"/>
              </a:ext>
            </a:extLst>
          </p:cNvPr>
          <p:cNvSpPr/>
          <p:nvPr/>
        </p:nvSpPr>
        <p:spPr>
          <a:xfrm flipV="1">
            <a:off x="0" y="7589506"/>
            <a:ext cx="10141249" cy="125744"/>
          </a:xfrm>
          <a:prstGeom prst="rect">
            <a:avLst/>
          </a:prstGeom>
          <a:gradFill flip="none" rotWithShape="1">
            <a:gsLst>
              <a:gs pos="0">
                <a:srgbClr val="1271FE"/>
              </a:gs>
              <a:gs pos="45000">
                <a:srgbClr val="6895F3"/>
              </a:gs>
              <a:gs pos="9000">
                <a:srgbClr val="3366FF"/>
              </a:gs>
              <a:gs pos="100000">
                <a:schemeClr val="accent1">
                  <a:lumMod val="60000"/>
                  <a:lumOff val="40000"/>
                </a:schemeClr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240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74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1474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8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" grpId="0"/>
      <p:bldP spid="19" grpId="0"/>
    </p:bldLst>
  </p:timing>
</p:sld>
</file>

<file path=ppt/theme/theme1.xml><?xml version="1.0" encoding="utf-8"?>
<a:theme xmlns:a="http://schemas.openxmlformats.org/drawingml/2006/main" name="光电技术模板-2015-6-18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xmlns="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Phoenix</Template>
  <TotalTime>222</TotalTime>
  <Words>1517</Words>
  <Application>Microsoft Office PowerPoint</Application>
  <PresentationFormat>自定义</PresentationFormat>
  <Paragraphs>177</Paragraphs>
  <Slides>20</Slides>
  <Notes>0</Notes>
  <HiddenSlides>0</HiddenSlides>
  <MMClips>0</MMClips>
  <ScaleCrop>false</ScaleCrop>
  <HeadingPairs>
    <vt:vector size="6" baseType="variant">
      <vt:variant>
        <vt:lpstr>主题</vt:lpstr>
      </vt:variant>
      <vt:variant>
        <vt:i4>1</vt:i4>
      </vt:variant>
      <vt:variant>
        <vt:lpstr>嵌入 OLE 服务器</vt:lpstr>
      </vt:variant>
      <vt:variant>
        <vt:i4>2</vt:i4>
      </vt:variant>
      <vt:variant>
        <vt:lpstr>幻灯片标题</vt:lpstr>
      </vt:variant>
      <vt:variant>
        <vt:i4>20</vt:i4>
      </vt:variant>
    </vt:vector>
  </HeadingPairs>
  <TitlesOfParts>
    <vt:vector size="23" baseType="lpstr">
      <vt:lpstr>光电技术模板-2015-6-18</vt:lpstr>
      <vt:lpstr>Visio</vt:lpstr>
      <vt:lpstr>公式</vt:lpstr>
      <vt:lpstr>幻灯片 1</vt:lpstr>
      <vt:lpstr>幻灯片 2</vt:lpstr>
      <vt:lpstr>幻灯片 3</vt:lpstr>
      <vt:lpstr>幻灯片 4</vt:lpstr>
      <vt:lpstr>幻灯片 5</vt:lpstr>
      <vt:lpstr>幻灯片 6</vt:lpstr>
      <vt:lpstr>幻灯片 7</vt:lpstr>
      <vt:lpstr>幻灯片 8</vt:lpstr>
      <vt:lpstr>幻灯片 9</vt:lpstr>
      <vt:lpstr>幻灯片 10</vt:lpstr>
      <vt:lpstr>幻灯片 11</vt:lpstr>
      <vt:lpstr>幻灯片 12</vt:lpstr>
      <vt:lpstr>幻灯片 13</vt:lpstr>
      <vt:lpstr>幻灯片 14</vt:lpstr>
      <vt:lpstr>幻灯片 15</vt:lpstr>
      <vt:lpstr>幻灯片 16</vt:lpstr>
      <vt:lpstr>幻灯片 17</vt:lpstr>
      <vt:lpstr>幻灯片 18</vt:lpstr>
      <vt:lpstr>幻灯片 19</vt:lpstr>
      <vt:lpstr>幻灯片 20</vt:lpstr>
    </vt:vector>
  </TitlesOfParts>
  <Company>微软中国</Company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幻灯片 1</dc:title>
  <dc:creator>微软用户</dc:creator>
  <cp:lastModifiedBy>yyp</cp:lastModifiedBy>
  <cp:revision>31</cp:revision>
  <dcterms:created xsi:type="dcterms:W3CDTF">2015-06-18T01:42:52Z</dcterms:created>
  <dcterms:modified xsi:type="dcterms:W3CDTF">2022-05-02T05:29:56Z</dcterms:modified>
</cp:coreProperties>
</file>