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66" r:id="rId1"/>
  </p:sldMasterIdLst>
  <p:notesMasterIdLst>
    <p:notesMasterId r:id="rId18"/>
  </p:notesMasterIdLst>
  <p:sldIdLst>
    <p:sldId id="379" r:id="rId2"/>
    <p:sldId id="334" r:id="rId3"/>
    <p:sldId id="380" r:id="rId4"/>
    <p:sldId id="272" r:id="rId5"/>
    <p:sldId id="273" r:id="rId6"/>
    <p:sldId id="274" r:id="rId7"/>
    <p:sldId id="316" r:id="rId8"/>
    <p:sldId id="277" r:id="rId9"/>
    <p:sldId id="381" r:id="rId10"/>
    <p:sldId id="275" r:id="rId11"/>
    <p:sldId id="280" r:id="rId12"/>
    <p:sldId id="283" r:id="rId13"/>
    <p:sldId id="382" r:id="rId14"/>
    <p:sldId id="281" r:id="rId15"/>
    <p:sldId id="383" r:id="rId16"/>
    <p:sldId id="314" r:id="rId17"/>
  </p:sldIdLst>
  <p:sldSz cx="13717588" cy="771525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 userDrawn="1">
          <p15:clr>
            <a:srgbClr val="A4A3A4"/>
          </p15:clr>
        </p15:guide>
        <p15:guide id="2" pos="43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43E7"/>
    <a:srgbClr val="0000CC"/>
    <a:srgbClr val="003300"/>
    <a:srgbClr val="CE5E40"/>
    <a:srgbClr val="FF6600"/>
    <a:srgbClr val="DE8A2E"/>
    <a:srgbClr val="D86334"/>
    <a:srgbClr val="E2C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6" autoAdjust="0"/>
  </p:normalViewPr>
  <p:slideViewPr>
    <p:cSldViewPr>
      <p:cViewPr varScale="1">
        <p:scale>
          <a:sx n="94" d="100"/>
          <a:sy n="94" d="100"/>
        </p:scale>
        <p:origin x="2286" y="78"/>
      </p:cViewPr>
      <p:guideLst>
        <p:guide orient="horz" pos="2430"/>
        <p:guide pos="43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C05320-D3D2-4A8F-9047-8676395B1915}" type="doc">
      <dgm:prSet loTypeId="urn:microsoft.com/office/officeart/2008/layout/LinedList" loCatId="list" qsTypeId="urn:microsoft.com/office/officeart/2005/8/quickstyle/simple5" qsCatId="simple" csTypeId="urn:microsoft.com/office/officeart/2005/8/colors/accent5_4" csCatId="accent5" phldr="1"/>
      <dgm:spPr/>
      <dgm:t>
        <a:bodyPr/>
        <a:lstStyle/>
        <a:p>
          <a:endParaRPr lang="zh-CN" altLang="en-US"/>
        </a:p>
      </dgm:t>
    </dgm:pt>
    <dgm:pt modelId="{15D1E10E-A0A7-48C2-B0EA-E184E99FE70F}">
      <dgm:prSet phldrT="[文本]"/>
      <dgm:spPr/>
      <dgm:t>
        <a:bodyPr/>
        <a:lstStyle/>
        <a:p>
          <a:r>
            <a:rPr lang="zh-CN" altLang="en-US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电压灵敏度</a:t>
          </a:r>
        </a:p>
      </dgm:t>
    </dgm:pt>
    <dgm:pt modelId="{1F04E72C-A44F-42AD-AC8C-00DE5533A339}" type="parTrans" cxnId="{8B69E4F7-5FE4-4BB0-B924-71871103C131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16BB0829-B44F-4174-9BCA-77E24AE52411}" type="sibTrans" cxnId="{8B69E4F7-5FE4-4BB0-B924-71871103C131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9A9176F4-5D7B-4003-BDB0-C9C72A3A304B}">
      <dgm:prSet phldrT="[文本]"/>
      <dgm:spPr/>
      <dgm:t>
        <a:bodyPr/>
        <a:lstStyle/>
        <a:p>
          <a:r>
            <a:rPr lang="zh-CN" altLang="en-US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热响应时间常数</a:t>
          </a:r>
        </a:p>
      </dgm:t>
    </dgm:pt>
    <dgm:pt modelId="{46DAA541-ABBE-4FF2-A816-4419C5F0D203}" type="parTrans" cxnId="{F3562CC9-D5DE-4A26-9C73-1FB1DF2A499E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DA8A4B6A-4A49-4406-B392-1B46E80B8C72}" type="sibTrans" cxnId="{F3562CC9-D5DE-4A26-9C73-1FB1DF2A499E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A4F7341C-CCDB-40AB-B330-C2CDC1527680}">
      <dgm:prSet phldrT="[文本]"/>
      <dgm:spPr/>
      <dgm:t>
        <a:bodyPr/>
        <a:lstStyle/>
        <a:p>
          <a:r>
            <a:rPr lang="zh-CN" altLang="en-US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内阻</a:t>
          </a:r>
        </a:p>
      </dgm:t>
    </dgm:pt>
    <dgm:pt modelId="{E9316ED5-A786-4970-B58C-D71987D71CA3}" type="parTrans" cxnId="{F5F2FAC9-17BC-4FB1-BD9E-E358B9421D9F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877A01C9-FCFC-4C24-9F5B-036C8F8EFCAB}" type="sibTrans" cxnId="{F5F2FAC9-17BC-4FB1-BD9E-E358B9421D9F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114D3411-4DA6-4917-9305-E2781DAE92B4}">
      <dgm:prSet phldrT="[文本]"/>
      <dgm:spPr/>
      <dgm:t>
        <a:bodyPr/>
        <a:lstStyle/>
        <a:p>
          <a:r>
            <a:rPr lang="zh-CN" altLang="en-US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主要参数</a:t>
          </a:r>
        </a:p>
      </dgm:t>
    </dgm:pt>
    <dgm:pt modelId="{526A7128-A2E3-4A52-A01D-6031666C582C}" type="sibTrans" cxnId="{538EA2E7-9775-46BA-9F3F-110D2938DD41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45770A5D-9F4D-47C9-A3C0-C2706EA5396B}" type="parTrans" cxnId="{538EA2E7-9775-46BA-9F3F-110D2938DD41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731C1329-D2A5-4671-BCA9-D8B75F9241B9}">
      <dgm:prSet phldrT="[文本]"/>
      <dgm:spPr/>
      <dgm:t>
        <a:bodyPr/>
        <a:lstStyle/>
        <a:p>
          <a:r>
            <a:rPr lang="zh-CN" altLang="en-US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噪声等效功率</a:t>
          </a:r>
        </a:p>
      </dgm:t>
    </dgm:pt>
    <dgm:pt modelId="{94D6AA43-A9F5-452E-9FF4-99DC862F2AE2}" type="parTrans" cxnId="{5870DCAD-DCF4-4397-BED5-27F1798628CC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14ABB7CC-6185-4595-A2AF-AE4B4D31B34F}" type="sibTrans" cxnId="{5870DCAD-DCF4-4397-BED5-27F1798628CC}">
      <dgm:prSet/>
      <dgm:spPr/>
      <dgm:t>
        <a:bodyPr/>
        <a:lstStyle/>
        <a:p>
          <a:endParaRPr lang="zh-CN" altLang="en-US" b="1">
            <a:solidFill>
              <a:srgbClr val="0000CC"/>
            </a:solidFill>
            <a:latin typeface="微软雅黑" pitchFamily="34" charset="-122"/>
            <a:ea typeface="微软雅黑" pitchFamily="34" charset="-122"/>
          </a:endParaRPr>
        </a:p>
      </dgm:t>
    </dgm:pt>
    <dgm:pt modelId="{6475D51E-B0AB-4CAB-A116-139433381314}" type="pres">
      <dgm:prSet presAssocID="{FCC05320-D3D2-4A8F-9047-8676395B1915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B2F71BB7-96B6-41A0-93D7-98891B820525}" type="pres">
      <dgm:prSet presAssocID="{114D3411-4DA6-4917-9305-E2781DAE92B4}" presName="thickLine" presStyleLbl="alignNode1" presStyleIdx="0" presStyleCnt="1"/>
      <dgm:spPr/>
    </dgm:pt>
    <dgm:pt modelId="{82EC1142-9200-47C2-941D-B86C1C2E9788}" type="pres">
      <dgm:prSet presAssocID="{114D3411-4DA6-4917-9305-E2781DAE92B4}" presName="horz1" presStyleCnt="0"/>
      <dgm:spPr/>
    </dgm:pt>
    <dgm:pt modelId="{05FAF197-55C1-47B0-9518-E6FDC4E21B79}" type="pres">
      <dgm:prSet presAssocID="{114D3411-4DA6-4917-9305-E2781DAE92B4}" presName="tx1" presStyleLbl="revTx" presStyleIdx="0" presStyleCnt="5" custScaleX="59064"/>
      <dgm:spPr/>
      <dgm:t>
        <a:bodyPr/>
        <a:lstStyle/>
        <a:p>
          <a:endParaRPr lang="zh-CN" altLang="en-US"/>
        </a:p>
      </dgm:t>
    </dgm:pt>
    <dgm:pt modelId="{5E7090E6-DE92-4BF6-A5D0-A0559EBC830F}" type="pres">
      <dgm:prSet presAssocID="{114D3411-4DA6-4917-9305-E2781DAE92B4}" presName="vert1" presStyleCnt="0"/>
      <dgm:spPr/>
    </dgm:pt>
    <dgm:pt modelId="{9925D4C6-B93F-42D5-9606-C3BB8BBAD295}" type="pres">
      <dgm:prSet presAssocID="{15D1E10E-A0A7-48C2-B0EA-E184E99FE70F}" presName="vertSpace2a" presStyleCnt="0"/>
      <dgm:spPr/>
    </dgm:pt>
    <dgm:pt modelId="{7671306B-517C-4656-AC8B-8364A1A86155}" type="pres">
      <dgm:prSet presAssocID="{15D1E10E-A0A7-48C2-B0EA-E184E99FE70F}" presName="horz2" presStyleCnt="0"/>
      <dgm:spPr/>
    </dgm:pt>
    <dgm:pt modelId="{5E0B25F0-630C-4315-B724-DFFCD4804BA7}" type="pres">
      <dgm:prSet presAssocID="{15D1E10E-A0A7-48C2-B0EA-E184E99FE70F}" presName="horzSpace2" presStyleCnt="0"/>
      <dgm:spPr/>
    </dgm:pt>
    <dgm:pt modelId="{41FFA031-16FC-45C7-8621-E6790CC1ED37}" type="pres">
      <dgm:prSet presAssocID="{15D1E10E-A0A7-48C2-B0EA-E184E99FE70F}" presName="tx2" presStyleLbl="revTx" presStyleIdx="1" presStyleCnt="5"/>
      <dgm:spPr/>
      <dgm:t>
        <a:bodyPr/>
        <a:lstStyle/>
        <a:p>
          <a:endParaRPr lang="zh-CN" altLang="en-US"/>
        </a:p>
      </dgm:t>
    </dgm:pt>
    <dgm:pt modelId="{3D9E080B-B379-4DBB-8152-6ACED72BC6E6}" type="pres">
      <dgm:prSet presAssocID="{15D1E10E-A0A7-48C2-B0EA-E184E99FE70F}" presName="vert2" presStyleCnt="0"/>
      <dgm:spPr/>
    </dgm:pt>
    <dgm:pt modelId="{974F3B5E-F38A-45CA-9995-B4C863C8EF87}" type="pres">
      <dgm:prSet presAssocID="{15D1E10E-A0A7-48C2-B0EA-E184E99FE70F}" presName="thinLine2b" presStyleLbl="callout" presStyleIdx="0" presStyleCnt="4"/>
      <dgm:spPr/>
    </dgm:pt>
    <dgm:pt modelId="{EECC5402-2F34-49F0-A498-4C0C9E4FF230}" type="pres">
      <dgm:prSet presAssocID="{15D1E10E-A0A7-48C2-B0EA-E184E99FE70F}" presName="vertSpace2b" presStyleCnt="0"/>
      <dgm:spPr/>
    </dgm:pt>
    <dgm:pt modelId="{650BDB64-F5BC-43D1-BF9B-764986BC710B}" type="pres">
      <dgm:prSet presAssocID="{9A9176F4-5D7B-4003-BDB0-C9C72A3A304B}" presName="horz2" presStyleCnt="0"/>
      <dgm:spPr/>
    </dgm:pt>
    <dgm:pt modelId="{C2A0B584-23DA-4E88-A347-0102DA5DC4DD}" type="pres">
      <dgm:prSet presAssocID="{9A9176F4-5D7B-4003-BDB0-C9C72A3A304B}" presName="horzSpace2" presStyleCnt="0"/>
      <dgm:spPr/>
    </dgm:pt>
    <dgm:pt modelId="{C9345447-1C4F-496B-AB05-909A176FBEFB}" type="pres">
      <dgm:prSet presAssocID="{9A9176F4-5D7B-4003-BDB0-C9C72A3A304B}" presName="tx2" presStyleLbl="revTx" presStyleIdx="2" presStyleCnt="5"/>
      <dgm:spPr/>
      <dgm:t>
        <a:bodyPr/>
        <a:lstStyle/>
        <a:p>
          <a:endParaRPr lang="zh-CN" altLang="en-US"/>
        </a:p>
      </dgm:t>
    </dgm:pt>
    <dgm:pt modelId="{072D128D-0370-4485-89C1-4DC47320F8EE}" type="pres">
      <dgm:prSet presAssocID="{9A9176F4-5D7B-4003-BDB0-C9C72A3A304B}" presName="vert2" presStyleCnt="0"/>
      <dgm:spPr/>
    </dgm:pt>
    <dgm:pt modelId="{4854768F-A2CF-4EE1-8642-FD1BFE999275}" type="pres">
      <dgm:prSet presAssocID="{9A9176F4-5D7B-4003-BDB0-C9C72A3A304B}" presName="thinLine2b" presStyleLbl="callout" presStyleIdx="1" presStyleCnt="4"/>
      <dgm:spPr/>
    </dgm:pt>
    <dgm:pt modelId="{A8B6B903-768B-46EC-A5C4-D2B09764663B}" type="pres">
      <dgm:prSet presAssocID="{9A9176F4-5D7B-4003-BDB0-C9C72A3A304B}" presName="vertSpace2b" presStyleCnt="0"/>
      <dgm:spPr/>
    </dgm:pt>
    <dgm:pt modelId="{A6BF783F-C2BC-466E-A404-1DA1B56B0E01}" type="pres">
      <dgm:prSet presAssocID="{A4F7341C-CCDB-40AB-B330-C2CDC1527680}" presName="horz2" presStyleCnt="0"/>
      <dgm:spPr/>
    </dgm:pt>
    <dgm:pt modelId="{36FB1BC5-4E17-4EFB-824D-666619D10949}" type="pres">
      <dgm:prSet presAssocID="{A4F7341C-CCDB-40AB-B330-C2CDC1527680}" presName="horzSpace2" presStyleCnt="0"/>
      <dgm:spPr/>
    </dgm:pt>
    <dgm:pt modelId="{280CC99A-60D2-4C68-8617-4A78CB8D4FAF}" type="pres">
      <dgm:prSet presAssocID="{A4F7341C-CCDB-40AB-B330-C2CDC1527680}" presName="tx2" presStyleLbl="revTx" presStyleIdx="3" presStyleCnt="5"/>
      <dgm:spPr/>
      <dgm:t>
        <a:bodyPr/>
        <a:lstStyle/>
        <a:p>
          <a:endParaRPr lang="zh-CN" altLang="en-US"/>
        </a:p>
      </dgm:t>
    </dgm:pt>
    <dgm:pt modelId="{C0BA9FE9-582C-4B82-A58D-5C458D6FA3AA}" type="pres">
      <dgm:prSet presAssocID="{A4F7341C-CCDB-40AB-B330-C2CDC1527680}" presName="vert2" presStyleCnt="0"/>
      <dgm:spPr/>
    </dgm:pt>
    <dgm:pt modelId="{B2D8C63D-74A8-48B3-8FA0-3EEACDF644D0}" type="pres">
      <dgm:prSet presAssocID="{A4F7341C-CCDB-40AB-B330-C2CDC1527680}" presName="thinLine2b" presStyleLbl="callout" presStyleIdx="2" presStyleCnt="4"/>
      <dgm:spPr/>
    </dgm:pt>
    <dgm:pt modelId="{15048693-A385-47FE-858B-2075FA16C466}" type="pres">
      <dgm:prSet presAssocID="{A4F7341C-CCDB-40AB-B330-C2CDC1527680}" presName="vertSpace2b" presStyleCnt="0"/>
      <dgm:spPr/>
    </dgm:pt>
    <dgm:pt modelId="{3505B317-B857-4198-AAA1-E1ECCFE82198}" type="pres">
      <dgm:prSet presAssocID="{731C1329-D2A5-4671-BCA9-D8B75F9241B9}" presName="horz2" presStyleCnt="0"/>
      <dgm:spPr/>
    </dgm:pt>
    <dgm:pt modelId="{AC788D14-5AC1-4C69-80A5-CC9A2ABF4255}" type="pres">
      <dgm:prSet presAssocID="{731C1329-D2A5-4671-BCA9-D8B75F9241B9}" presName="horzSpace2" presStyleCnt="0"/>
      <dgm:spPr/>
    </dgm:pt>
    <dgm:pt modelId="{A490DD61-E5AE-4641-BBB4-35D3859E6A0F}" type="pres">
      <dgm:prSet presAssocID="{731C1329-D2A5-4671-BCA9-D8B75F9241B9}" presName="tx2" presStyleLbl="revTx" presStyleIdx="4" presStyleCnt="5"/>
      <dgm:spPr/>
      <dgm:t>
        <a:bodyPr/>
        <a:lstStyle/>
        <a:p>
          <a:endParaRPr lang="zh-CN" altLang="en-US"/>
        </a:p>
      </dgm:t>
    </dgm:pt>
    <dgm:pt modelId="{0C58EB96-C08C-4E6D-BF61-191241F23EA2}" type="pres">
      <dgm:prSet presAssocID="{731C1329-D2A5-4671-BCA9-D8B75F9241B9}" presName="vert2" presStyleCnt="0"/>
      <dgm:spPr/>
    </dgm:pt>
    <dgm:pt modelId="{5FCC5050-3190-4B22-B162-FC353A132768}" type="pres">
      <dgm:prSet presAssocID="{731C1329-D2A5-4671-BCA9-D8B75F9241B9}" presName="thinLine2b" presStyleLbl="callout" presStyleIdx="3" presStyleCnt="4"/>
      <dgm:spPr/>
    </dgm:pt>
    <dgm:pt modelId="{7F478B90-2B3C-4404-B844-864A3E21CAFD}" type="pres">
      <dgm:prSet presAssocID="{731C1329-D2A5-4671-BCA9-D8B75F9241B9}" presName="vertSpace2b" presStyleCnt="0"/>
      <dgm:spPr/>
    </dgm:pt>
  </dgm:ptLst>
  <dgm:cxnLst>
    <dgm:cxn modelId="{8B69E4F7-5FE4-4BB0-B924-71871103C131}" srcId="{114D3411-4DA6-4917-9305-E2781DAE92B4}" destId="{15D1E10E-A0A7-48C2-B0EA-E184E99FE70F}" srcOrd="0" destOrd="0" parTransId="{1F04E72C-A44F-42AD-AC8C-00DE5533A339}" sibTransId="{16BB0829-B44F-4174-9BCA-77E24AE52411}"/>
    <dgm:cxn modelId="{E6105BA7-A498-4748-AC53-48914B3A64D9}" type="presOf" srcId="{15D1E10E-A0A7-48C2-B0EA-E184E99FE70F}" destId="{41FFA031-16FC-45C7-8621-E6790CC1ED37}" srcOrd="0" destOrd="0" presId="urn:microsoft.com/office/officeart/2008/layout/LinedList"/>
    <dgm:cxn modelId="{F3562CC9-D5DE-4A26-9C73-1FB1DF2A499E}" srcId="{114D3411-4DA6-4917-9305-E2781DAE92B4}" destId="{9A9176F4-5D7B-4003-BDB0-C9C72A3A304B}" srcOrd="1" destOrd="0" parTransId="{46DAA541-ABBE-4FF2-A816-4419C5F0D203}" sibTransId="{DA8A4B6A-4A49-4406-B392-1B46E80B8C72}"/>
    <dgm:cxn modelId="{78DD8641-064F-4F31-8589-7912AFC9164D}" type="presOf" srcId="{FCC05320-D3D2-4A8F-9047-8676395B1915}" destId="{6475D51E-B0AB-4CAB-A116-139433381314}" srcOrd="0" destOrd="0" presId="urn:microsoft.com/office/officeart/2008/layout/LinedList"/>
    <dgm:cxn modelId="{538EA2E7-9775-46BA-9F3F-110D2938DD41}" srcId="{FCC05320-D3D2-4A8F-9047-8676395B1915}" destId="{114D3411-4DA6-4917-9305-E2781DAE92B4}" srcOrd="0" destOrd="0" parTransId="{45770A5D-9F4D-47C9-A3C0-C2706EA5396B}" sibTransId="{526A7128-A2E3-4A52-A01D-6031666C582C}"/>
    <dgm:cxn modelId="{FE23194E-776A-4947-AE31-112DD42CEBA9}" type="presOf" srcId="{A4F7341C-CCDB-40AB-B330-C2CDC1527680}" destId="{280CC99A-60D2-4C68-8617-4A78CB8D4FAF}" srcOrd="0" destOrd="0" presId="urn:microsoft.com/office/officeart/2008/layout/LinedList"/>
    <dgm:cxn modelId="{27AFE087-AAC9-4891-857E-4DEA2236E91D}" type="presOf" srcId="{114D3411-4DA6-4917-9305-E2781DAE92B4}" destId="{05FAF197-55C1-47B0-9518-E6FDC4E21B79}" srcOrd="0" destOrd="0" presId="urn:microsoft.com/office/officeart/2008/layout/LinedList"/>
    <dgm:cxn modelId="{5870DCAD-DCF4-4397-BED5-27F1798628CC}" srcId="{114D3411-4DA6-4917-9305-E2781DAE92B4}" destId="{731C1329-D2A5-4671-BCA9-D8B75F9241B9}" srcOrd="3" destOrd="0" parTransId="{94D6AA43-A9F5-452E-9FF4-99DC862F2AE2}" sibTransId="{14ABB7CC-6185-4595-A2AF-AE4B4D31B34F}"/>
    <dgm:cxn modelId="{664F7277-60ED-465A-ABDF-F6C8A0DB8E2B}" type="presOf" srcId="{731C1329-D2A5-4671-BCA9-D8B75F9241B9}" destId="{A490DD61-E5AE-4641-BBB4-35D3859E6A0F}" srcOrd="0" destOrd="0" presId="urn:microsoft.com/office/officeart/2008/layout/LinedList"/>
    <dgm:cxn modelId="{64E3A7B2-3358-4046-A808-05B40D6BD721}" type="presOf" srcId="{9A9176F4-5D7B-4003-BDB0-C9C72A3A304B}" destId="{C9345447-1C4F-496B-AB05-909A176FBEFB}" srcOrd="0" destOrd="0" presId="urn:microsoft.com/office/officeart/2008/layout/LinedList"/>
    <dgm:cxn modelId="{F5F2FAC9-17BC-4FB1-BD9E-E358B9421D9F}" srcId="{114D3411-4DA6-4917-9305-E2781DAE92B4}" destId="{A4F7341C-CCDB-40AB-B330-C2CDC1527680}" srcOrd="2" destOrd="0" parTransId="{E9316ED5-A786-4970-B58C-D71987D71CA3}" sibTransId="{877A01C9-FCFC-4C24-9F5B-036C8F8EFCAB}"/>
    <dgm:cxn modelId="{13B9A22A-35D3-409E-9FC1-28397307295B}" type="presParOf" srcId="{6475D51E-B0AB-4CAB-A116-139433381314}" destId="{B2F71BB7-96B6-41A0-93D7-98891B820525}" srcOrd="0" destOrd="0" presId="urn:microsoft.com/office/officeart/2008/layout/LinedList"/>
    <dgm:cxn modelId="{9BCC0B6A-59E9-46DD-8C9D-FAD0B33BDAAF}" type="presParOf" srcId="{6475D51E-B0AB-4CAB-A116-139433381314}" destId="{82EC1142-9200-47C2-941D-B86C1C2E9788}" srcOrd="1" destOrd="0" presId="urn:microsoft.com/office/officeart/2008/layout/LinedList"/>
    <dgm:cxn modelId="{BEF94B98-FAD4-478E-A10D-87B2B3C778A5}" type="presParOf" srcId="{82EC1142-9200-47C2-941D-B86C1C2E9788}" destId="{05FAF197-55C1-47B0-9518-E6FDC4E21B79}" srcOrd="0" destOrd="0" presId="urn:microsoft.com/office/officeart/2008/layout/LinedList"/>
    <dgm:cxn modelId="{66D905A3-FF88-4B2A-83E1-EAD70B1ABA63}" type="presParOf" srcId="{82EC1142-9200-47C2-941D-B86C1C2E9788}" destId="{5E7090E6-DE92-4BF6-A5D0-A0559EBC830F}" srcOrd="1" destOrd="0" presId="urn:microsoft.com/office/officeart/2008/layout/LinedList"/>
    <dgm:cxn modelId="{49FC88AF-A1E6-48CA-B32E-F8E4227782E3}" type="presParOf" srcId="{5E7090E6-DE92-4BF6-A5D0-A0559EBC830F}" destId="{9925D4C6-B93F-42D5-9606-C3BB8BBAD295}" srcOrd="0" destOrd="0" presId="urn:microsoft.com/office/officeart/2008/layout/LinedList"/>
    <dgm:cxn modelId="{0328A0F2-FEA8-4B25-91E1-F50262A427F6}" type="presParOf" srcId="{5E7090E6-DE92-4BF6-A5D0-A0559EBC830F}" destId="{7671306B-517C-4656-AC8B-8364A1A86155}" srcOrd="1" destOrd="0" presId="urn:microsoft.com/office/officeart/2008/layout/LinedList"/>
    <dgm:cxn modelId="{822AC3BB-4295-491C-AF24-406825954FAB}" type="presParOf" srcId="{7671306B-517C-4656-AC8B-8364A1A86155}" destId="{5E0B25F0-630C-4315-B724-DFFCD4804BA7}" srcOrd="0" destOrd="0" presId="urn:microsoft.com/office/officeart/2008/layout/LinedList"/>
    <dgm:cxn modelId="{F2593F94-7414-4E06-8F57-BD34A6F8BF3E}" type="presParOf" srcId="{7671306B-517C-4656-AC8B-8364A1A86155}" destId="{41FFA031-16FC-45C7-8621-E6790CC1ED37}" srcOrd="1" destOrd="0" presId="urn:microsoft.com/office/officeart/2008/layout/LinedList"/>
    <dgm:cxn modelId="{8F448801-9ED2-4C81-AFB7-DA1F599A2329}" type="presParOf" srcId="{7671306B-517C-4656-AC8B-8364A1A86155}" destId="{3D9E080B-B379-4DBB-8152-6ACED72BC6E6}" srcOrd="2" destOrd="0" presId="urn:microsoft.com/office/officeart/2008/layout/LinedList"/>
    <dgm:cxn modelId="{5B7DDD41-85CB-4DD6-95A1-A199E3526D0B}" type="presParOf" srcId="{5E7090E6-DE92-4BF6-A5D0-A0559EBC830F}" destId="{974F3B5E-F38A-45CA-9995-B4C863C8EF87}" srcOrd="2" destOrd="0" presId="urn:microsoft.com/office/officeart/2008/layout/LinedList"/>
    <dgm:cxn modelId="{0EDFB7D0-EEEE-4CE3-852D-C549659F8706}" type="presParOf" srcId="{5E7090E6-DE92-4BF6-A5D0-A0559EBC830F}" destId="{EECC5402-2F34-49F0-A498-4C0C9E4FF230}" srcOrd="3" destOrd="0" presId="urn:microsoft.com/office/officeart/2008/layout/LinedList"/>
    <dgm:cxn modelId="{35C9223F-DF98-4EE6-9EE7-7BFDC9B16CED}" type="presParOf" srcId="{5E7090E6-DE92-4BF6-A5D0-A0559EBC830F}" destId="{650BDB64-F5BC-43D1-BF9B-764986BC710B}" srcOrd="4" destOrd="0" presId="urn:microsoft.com/office/officeart/2008/layout/LinedList"/>
    <dgm:cxn modelId="{8BB0FE79-B80B-4F11-A321-0F2679165D76}" type="presParOf" srcId="{650BDB64-F5BC-43D1-BF9B-764986BC710B}" destId="{C2A0B584-23DA-4E88-A347-0102DA5DC4DD}" srcOrd="0" destOrd="0" presId="urn:microsoft.com/office/officeart/2008/layout/LinedList"/>
    <dgm:cxn modelId="{7A26B483-1A8D-4239-868D-92DCC60A1369}" type="presParOf" srcId="{650BDB64-F5BC-43D1-BF9B-764986BC710B}" destId="{C9345447-1C4F-496B-AB05-909A176FBEFB}" srcOrd="1" destOrd="0" presId="urn:microsoft.com/office/officeart/2008/layout/LinedList"/>
    <dgm:cxn modelId="{CE381AAF-9F5B-40CB-93C8-EE4C1B0BB1C3}" type="presParOf" srcId="{650BDB64-F5BC-43D1-BF9B-764986BC710B}" destId="{072D128D-0370-4485-89C1-4DC47320F8EE}" srcOrd="2" destOrd="0" presId="urn:microsoft.com/office/officeart/2008/layout/LinedList"/>
    <dgm:cxn modelId="{2A750B09-0F51-4E06-B33C-9B1015F3AA54}" type="presParOf" srcId="{5E7090E6-DE92-4BF6-A5D0-A0559EBC830F}" destId="{4854768F-A2CF-4EE1-8642-FD1BFE999275}" srcOrd="5" destOrd="0" presId="urn:microsoft.com/office/officeart/2008/layout/LinedList"/>
    <dgm:cxn modelId="{63482E60-C677-4922-AC2C-EEF73DCFA98D}" type="presParOf" srcId="{5E7090E6-DE92-4BF6-A5D0-A0559EBC830F}" destId="{A8B6B903-768B-46EC-A5C4-D2B09764663B}" srcOrd="6" destOrd="0" presId="urn:microsoft.com/office/officeart/2008/layout/LinedList"/>
    <dgm:cxn modelId="{DB762BE5-C0D7-440D-BCE6-F9D6B7B00903}" type="presParOf" srcId="{5E7090E6-DE92-4BF6-A5D0-A0559EBC830F}" destId="{A6BF783F-C2BC-466E-A404-1DA1B56B0E01}" srcOrd="7" destOrd="0" presId="urn:microsoft.com/office/officeart/2008/layout/LinedList"/>
    <dgm:cxn modelId="{C41A84CB-44A9-4A21-8AFF-B4F8B484B2DC}" type="presParOf" srcId="{A6BF783F-C2BC-466E-A404-1DA1B56B0E01}" destId="{36FB1BC5-4E17-4EFB-824D-666619D10949}" srcOrd="0" destOrd="0" presId="urn:microsoft.com/office/officeart/2008/layout/LinedList"/>
    <dgm:cxn modelId="{348C3232-5C99-455F-A5D3-BFCE444D3D89}" type="presParOf" srcId="{A6BF783F-C2BC-466E-A404-1DA1B56B0E01}" destId="{280CC99A-60D2-4C68-8617-4A78CB8D4FAF}" srcOrd="1" destOrd="0" presId="urn:microsoft.com/office/officeart/2008/layout/LinedList"/>
    <dgm:cxn modelId="{E629FD94-84E1-4075-876D-2EE261B6B607}" type="presParOf" srcId="{A6BF783F-C2BC-466E-A404-1DA1B56B0E01}" destId="{C0BA9FE9-582C-4B82-A58D-5C458D6FA3AA}" srcOrd="2" destOrd="0" presId="urn:microsoft.com/office/officeart/2008/layout/LinedList"/>
    <dgm:cxn modelId="{267A0B96-BD45-4BCE-9D62-439D354E08E3}" type="presParOf" srcId="{5E7090E6-DE92-4BF6-A5D0-A0559EBC830F}" destId="{B2D8C63D-74A8-48B3-8FA0-3EEACDF644D0}" srcOrd="8" destOrd="0" presId="urn:microsoft.com/office/officeart/2008/layout/LinedList"/>
    <dgm:cxn modelId="{21D92CB0-298E-49E0-98F6-2087533DDA10}" type="presParOf" srcId="{5E7090E6-DE92-4BF6-A5D0-A0559EBC830F}" destId="{15048693-A385-47FE-858B-2075FA16C466}" srcOrd="9" destOrd="0" presId="urn:microsoft.com/office/officeart/2008/layout/LinedList"/>
    <dgm:cxn modelId="{BC25568D-9987-4AF5-9017-10FDC6081228}" type="presParOf" srcId="{5E7090E6-DE92-4BF6-A5D0-A0559EBC830F}" destId="{3505B317-B857-4198-AAA1-E1ECCFE82198}" srcOrd="10" destOrd="0" presId="urn:microsoft.com/office/officeart/2008/layout/LinedList"/>
    <dgm:cxn modelId="{E512B38F-2944-46DD-A9A8-82BA1EBB1CDF}" type="presParOf" srcId="{3505B317-B857-4198-AAA1-E1ECCFE82198}" destId="{AC788D14-5AC1-4C69-80A5-CC9A2ABF4255}" srcOrd="0" destOrd="0" presId="urn:microsoft.com/office/officeart/2008/layout/LinedList"/>
    <dgm:cxn modelId="{659D05D1-E0D8-4345-B707-7BB27BD480AB}" type="presParOf" srcId="{3505B317-B857-4198-AAA1-E1ECCFE82198}" destId="{A490DD61-E5AE-4641-BBB4-35D3859E6A0F}" srcOrd="1" destOrd="0" presId="urn:microsoft.com/office/officeart/2008/layout/LinedList"/>
    <dgm:cxn modelId="{BDD5B7C4-6BA9-4E1F-AA4C-6BE6BFE5F0C3}" type="presParOf" srcId="{3505B317-B857-4198-AAA1-E1ECCFE82198}" destId="{0C58EB96-C08C-4E6D-BF61-191241F23EA2}" srcOrd="2" destOrd="0" presId="urn:microsoft.com/office/officeart/2008/layout/LinedList"/>
    <dgm:cxn modelId="{6F76AB0C-0E59-466E-ACE4-4C9CE7D40B7F}" type="presParOf" srcId="{5E7090E6-DE92-4BF6-A5D0-A0559EBC830F}" destId="{5FCC5050-3190-4B22-B162-FC353A132768}" srcOrd="11" destOrd="0" presId="urn:microsoft.com/office/officeart/2008/layout/LinedList"/>
    <dgm:cxn modelId="{B76A152F-E71C-4FAE-BF67-CF1AA1DDBF14}" type="presParOf" srcId="{5E7090E6-DE92-4BF6-A5D0-A0559EBC830F}" destId="{7F478B90-2B3C-4404-B844-864A3E21CAFD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71BB7-96B6-41A0-93D7-98891B820525}">
      <dsp:nvSpPr>
        <dsp:cNvPr id="0" name=""/>
        <dsp:cNvSpPr/>
      </dsp:nvSpPr>
      <dsp:spPr>
        <a:xfrm>
          <a:off x="0" y="0"/>
          <a:ext cx="3197057" cy="0"/>
        </a:xfrm>
        <a:prstGeom prst="line">
          <a:avLst/>
        </a:prstGeom>
        <a:gradFill rotWithShape="0">
          <a:gsLst>
            <a:gs pos="0">
              <a:schemeClr val="accent5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FAF197-55C1-47B0-9518-E6FDC4E21B79}">
      <dsp:nvSpPr>
        <dsp:cNvPr id="0" name=""/>
        <dsp:cNvSpPr/>
      </dsp:nvSpPr>
      <dsp:spPr>
        <a:xfrm>
          <a:off x="0" y="0"/>
          <a:ext cx="377661" cy="2206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主要参数</a:t>
          </a:r>
        </a:p>
      </dsp:txBody>
      <dsp:txXfrm>
        <a:off x="0" y="0"/>
        <a:ext cx="377661" cy="2206032"/>
      </dsp:txXfrm>
    </dsp:sp>
    <dsp:sp modelId="{41FFA031-16FC-45C7-8621-E6790CC1ED37}">
      <dsp:nvSpPr>
        <dsp:cNvPr id="0" name=""/>
        <dsp:cNvSpPr/>
      </dsp:nvSpPr>
      <dsp:spPr>
        <a:xfrm>
          <a:off x="425617" y="25932"/>
          <a:ext cx="2509689" cy="5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电压灵敏度</a:t>
          </a:r>
        </a:p>
      </dsp:txBody>
      <dsp:txXfrm>
        <a:off x="425617" y="25932"/>
        <a:ext cx="2509689" cy="518654"/>
      </dsp:txXfrm>
    </dsp:sp>
    <dsp:sp modelId="{974F3B5E-F38A-45CA-9995-B4C863C8EF87}">
      <dsp:nvSpPr>
        <dsp:cNvPr id="0" name=""/>
        <dsp:cNvSpPr/>
      </dsp:nvSpPr>
      <dsp:spPr>
        <a:xfrm>
          <a:off x="377661" y="544587"/>
          <a:ext cx="2557645" cy="0"/>
        </a:xfrm>
        <a:prstGeom prst="line">
          <a:avLst/>
        </a:pr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9345447-1C4F-496B-AB05-909A176FBEFB}">
      <dsp:nvSpPr>
        <dsp:cNvPr id="0" name=""/>
        <dsp:cNvSpPr/>
      </dsp:nvSpPr>
      <dsp:spPr>
        <a:xfrm>
          <a:off x="425617" y="570519"/>
          <a:ext cx="2509689" cy="5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热响应时间常数</a:t>
          </a:r>
        </a:p>
      </dsp:txBody>
      <dsp:txXfrm>
        <a:off x="425617" y="570519"/>
        <a:ext cx="2509689" cy="518654"/>
      </dsp:txXfrm>
    </dsp:sp>
    <dsp:sp modelId="{4854768F-A2CF-4EE1-8642-FD1BFE999275}">
      <dsp:nvSpPr>
        <dsp:cNvPr id="0" name=""/>
        <dsp:cNvSpPr/>
      </dsp:nvSpPr>
      <dsp:spPr>
        <a:xfrm>
          <a:off x="377661" y="1089174"/>
          <a:ext cx="2557645" cy="0"/>
        </a:xfrm>
        <a:prstGeom prst="line">
          <a:avLst/>
        </a:pr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280CC99A-60D2-4C68-8617-4A78CB8D4FAF}">
      <dsp:nvSpPr>
        <dsp:cNvPr id="0" name=""/>
        <dsp:cNvSpPr/>
      </dsp:nvSpPr>
      <dsp:spPr>
        <a:xfrm>
          <a:off x="425617" y="1115107"/>
          <a:ext cx="2509689" cy="5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内阻</a:t>
          </a:r>
        </a:p>
      </dsp:txBody>
      <dsp:txXfrm>
        <a:off x="425617" y="1115107"/>
        <a:ext cx="2509689" cy="518654"/>
      </dsp:txXfrm>
    </dsp:sp>
    <dsp:sp modelId="{B2D8C63D-74A8-48B3-8FA0-3EEACDF644D0}">
      <dsp:nvSpPr>
        <dsp:cNvPr id="0" name=""/>
        <dsp:cNvSpPr/>
      </dsp:nvSpPr>
      <dsp:spPr>
        <a:xfrm>
          <a:off x="377661" y="1633761"/>
          <a:ext cx="2557645" cy="0"/>
        </a:xfrm>
        <a:prstGeom prst="line">
          <a:avLst/>
        </a:pr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A490DD61-E5AE-4641-BBB4-35D3859E6A0F}">
      <dsp:nvSpPr>
        <dsp:cNvPr id="0" name=""/>
        <dsp:cNvSpPr/>
      </dsp:nvSpPr>
      <dsp:spPr>
        <a:xfrm>
          <a:off x="425617" y="1659694"/>
          <a:ext cx="2509689" cy="5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rPr>
            <a:t>噪声等效功率</a:t>
          </a:r>
        </a:p>
      </dsp:txBody>
      <dsp:txXfrm>
        <a:off x="425617" y="1659694"/>
        <a:ext cx="2509689" cy="518654"/>
      </dsp:txXfrm>
    </dsp:sp>
    <dsp:sp modelId="{5FCC5050-3190-4B22-B162-FC353A132768}">
      <dsp:nvSpPr>
        <dsp:cNvPr id="0" name=""/>
        <dsp:cNvSpPr/>
      </dsp:nvSpPr>
      <dsp:spPr>
        <a:xfrm>
          <a:off x="377661" y="2178348"/>
          <a:ext cx="2557645" cy="0"/>
        </a:xfrm>
        <a:prstGeom prst="line">
          <a:avLst/>
        </a:pr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45DB43E-7BF0-4C61-8B6E-0ED91CDBE70E}" type="datetimeFigureOut">
              <a:rPr lang="zh-CN" altLang="en-US"/>
              <a:pPr>
                <a:defRPr/>
              </a:pPr>
              <a:t>2022/10/11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6DBE164-76E0-4C36-89C1-60D88BFA928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6401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2</a:t>
            </a:r>
            <a:r>
              <a:rPr lang="zh-CN" altLang="en-US"/>
              <a:t>种金属材料组成回路。接触点存在温差</a:t>
            </a:r>
            <a:r>
              <a:rPr lang="en-US" altLang="zh-CN"/>
              <a:t>dT--》</a:t>
            </a:r>
            <a:r>
              <a:rPr lang="zh-CN" altLang="en-US"/>
              <a:t>产生电势</a:t>
            </a:r>
            <a:r>
              <a:rPr lang="en-US" altLang="zh-CN"/>
              <a:t>dU--》</a:t>
            </a:r>
            <a:r>
              <a:rPr lang="zh-CN" altLang="en-US"/>
              <a:t>电流</a:t>
            </a:r>
            <a:r>
              <a:rPr lang="en-US" altLang="zh-CN"/>
              <a:t>I=dU/R</a:t>
            </a:r>
            <a:r>
              <a:rPr lang="zh-CN" altLang="en-US"/>
              <a:t>； 铂</a:t>
            </a:r>
            <a:r>
              <a:rPr lang="en-US" altLang="zh-CN"/>
              <a:t>-</a:t>
            </a:r>
            <a:r>
              <a:rPr lang="zh-CN" altLang="en-US"/>
              <a:t>铑合金，具有宽的测温范围</a:t>
            </a:r>
            <a:r>
              <a:rPr lang="en-US" altLang="zh-CN"/>
              <a:t>-200</a:t>
            </a:r>
            <a:r>
              <a:rPr lang="zh-CN" altLang="en-US"/>
              <a:t>℃</a:t>
            </a:r>
            <a:r>
              <a:rPr lang="en-US" altLang="zh-CN"/>
              <a:t>-1000</a:t>
            </a:r>
            <a:r>
              <a:rPr lang="zh-CN" altLang="en-US"/>
              <a:t>℃和高测量准确度 </a:t>
            </a:r>
            <a:r>
              <a:rPr lang="en-US" altLang="zh-CN"/>
              <a:t>(1/1000)</a:t>
            </a:r>
            <a:r>
              <a:rPr lang="zh-CN" altLang="en-US"/>
              <a:t>度。</a:t>
            </a: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ABFA78-B644-40DD-9F25-2A30067617B4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305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M</a:t>
            </a:r>
            <a:r>
              <a:rPr lang="zh-CN" altLang="en-US"/>
              <a:t>：</a:t>
            </a:r>
            <a:r>
              <a:rPr lang="en-US" altLang="zh-CN"/>
              <a:t>seebeck</a:t>
            </a:r>
            <a:r>
              <a:rPr lang="zh-CN" altLang="en-US"/>
              <a:t>系数</a:t>
            </a: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BA4312-B81F-41D0-AD98-70837E4279A7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99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由于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热敏材料的电阻率一般都很低，热电偶的电阻值不大</a:t>
            </a:r>
            <a:endParaRPr lang="zh-CN" altLang="en-US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D0B111-E20A-42C3-8DCF-3F50FD6B397B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9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80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904633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701" y="1262658"/>
            <a:ext cx="10288191" cy="2686050"/>
          </a:xfrm>
        </p:spPr>
        <p:txBody>
          <a:bodyPr anchor="b"/>
          <a:lstStyle>
            <a:lvl1pPr algn="ctr">
              <a:defRPr sz="4533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701" y="4052294"/>
            <a:ext cx="10288191" cy="186273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66" indent="0" algn="ctr">
              <a:buNone/>
              <a:defRPr sz="1533"/>
            </a:lvl2pPr>
            <a:lvl3pPr marL="685731" indent="0" algn="ctr">
              <a:buNone/>
              <a:defRPr sz="1333"/>
            </a:lvl3pPr>
            <a:lvl4pPr marL="1028597" indent="0" algn="ctr">
              <a:buNone/>
              <a:defRPr sz="1200"/>
            </a:lvl4pPr>
            <a:lvl5pPr marL="1371463" indent="0" algn="ctr">
              <a:buNone/>
              <a:defRPr sz="1200"/>
            </a:lvl5pPr>
            <a:lvl6pPr marL="1714329" indent="0" algn="ctr">
              <a:buNone/>
              <a:defRPr sz="1200"/>
            </a:lvl6pPr>
            <a:lvl7pPr marL="2057194" indent="0" algn="ctr">
              <a:buNone/>
              <a:defRPr sz="1200"/>
            </a:lvl7pPr>
            <a:lvl8pPr marL="2400060" indent="0" algn="ctr">
              <a:buNone/>
              <a:defRPr sz="1200"/>
            </a:lvl8pPr>
            <a:lvl9pPr marL="2742926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8910A-C6A2-4D7C-BD93-C521D6BD6433}" type="datetimeFigureOut">
              <a:rPr lang="zh-CN" altLang="en-US"/>
              <a:pPr>
                <a:defRPr/>
              </a:pPr>
              <a:t>2022/10/11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F2088-823D-4D74-BE43-AD67773FB7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1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367" r:id="rId1"/>
    <p:sldLayoutId id="2147484368" r:id="rId2"/>
    <p:sldLayoutId id="2147484369" r:id="rId3"/>
  </p:sldLayoutIdLst>
  <p:transition spd="med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.vsd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2.xml"/><Relationship Id="rId7" Type="http://schemas.openxmlformats.org/officeDocument/2006/relationships/diagramLayout" Target="../diagrams/layout1.xml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diagramData" Target="../diagrams/data1.xml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5.w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7.bin"/><Relationship Id="rId9" Type="http://schemas.openxmlformats.org/officeDocument/2006/relationships/diagramColors" Target="../diagrams/colors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jpe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="" xmlns:a16="http://schemas.microsoft.com/office/drawing/2014/main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Fundamentals of Radiometry and Photometry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热电偶和热电堆探测器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热电偶和热电堆探测器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热电偶和热电堆探测器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热电偶的工作原理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234059" y="293282"/>
            <a:ext cx="1050566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1639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/>
        </p:nvSpPr>
        <p:spPr bwMode="auto">
          <a:xfrm>
            <a:off x="3130550" y="3991259"/>
            <a:ext cx="7239000" cy="523875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u="wavyHeavy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热电偶</a:t>
            </a:r>
            <a:r>
              <a:rPr lang="zh-CN" altLang="en-US" sz="2800" b="1" dirty="0">
                <a:solidFill>
                  <a:srgbClr val="C0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Thermocouple)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－又称温差电偶</a:t>
            </a:r>
          </a:p>
        </p:txBody>
      </p:sp>
      <p:sp>
        <p:nvSpPr>
          <p:cNvPr id="40963" name="Rectangle 12"/>
          <p:cNvSpPr>
            <a:spLocks noChangeArrowheads="1"/>
          </p:cNvSpPr>
          <p:nvPr/>
        </p:nvSpPr>
        <p:spPr bwMode="auto">
          <a:xfrm>
            <a:off x="2537619" y="1934405"/>
            <a:ext cx="8424863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热探测器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：吸收辐射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Φ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ΔT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参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量变化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Φ</a:t>
            </a: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3198019" y="4973921"/>
            <a:ext cx="7280275" cy="523875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u="wavyHeavy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热电堆</a:t>
            </a:r>
            <a:r>
              <a:rPr lang="zh-CN" altLang="en-US" sz="2800" b="1" dirty="0">
                <a:solidFill>
                  <a:srgbClr val="C0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uFill>
                  <a:solidFill>
                    <a:srgbClr val="FF0000"/>
                  </a:solidFill>
                </a:u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Thermopile)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－又称温差电堆</a:t>
            </a:r>
          </a:p>
        </p:txBody>
      </p:sp>
      <p:sp>
        <p:nvSpPr>
          <p:cNvPr id="40965" name="Rectangle 15"/>
          <p:cNvSpPr>
            <a:spLocks noChangeArrowheads="1"/>
          </p:cNvSpPr>
          <p:nvPr/>
        </p:nvSpPr>
        <p:spPr bwMode="auto">
          <a:xfrm>
            <a:off x="2537619" y="2935325"/>
            <a:ext cx="6319838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基本原理：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温差电效应：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—ΔT—ε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83EF7DC7-DC2C-4242-9AFD-332F9B6BC9EE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9" name="文本框 60">
              <a:extLst>
                <a:ext uri="{FF2B5EF4-FFF2-40B4-BE49-F238E27FC236}">
                  <a16:creationId xmlns="" xmlns:a16="http://schemas.microsoft.com/office/drawing/2014/main" id="{9DD8AEA7-0E59-4A43-973F-CB8A49A4B653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热电偶和热电堆探测器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08BF1500-DE46-4548-9F1C-D2173583B0D8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B2D3EBBC-B3EF-42EA-A852-3769E60E654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="" xmlns:a16="http://schemas.microsoft.com/office/drawing/2014/main" id="{C03E523E-2E5A-4F50-81C8-6F7D7B2BE5B7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58">
              <a:extLst>
                <a:ext uri="{FF2B5EF4-FFF2-40B4-BE49-F238E27FC236}">
                  <a16:creationId xmlns="" xmlns:a16="http://schemas.microsoft.com/office/drawing/2014/main" id="{ADDE0C33-9BCC-4EAD-B90F-78DFE26C6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="" xmlns:a16="http://schemas.microsoft.com/office/drawing/2014/main" id="{2C12C079-8674-47F8-9D93-980BD6E9216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="" xmlns:a16="http://schemas.microsoft.com/office/drawing/2014/main" id="{88346787-12A0-4E78-9975-1F7778169072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0963" grpId="0"/>
      <p:bldP spid="4" grpId="0" animBg="1"/>
      <p:bldP spid="4096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157" y="2336800"/>
            <a:ext cx="3810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Rectangle 10"/>
          <p:cNvSpPr>
            <a:spLocks noChangeArrowheads="1"/>
          </p:cNvSpPr>
          <p:nvPr/>
        </p:nvSpPr>
        <p:spPr bwMode="auto">
          <a:xfrm>
            <a:off x="3023394" y="1966913"/>
            <a:ext cx="223678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热电偶</a:t>
            </a:r>
            <a:r>
              <a:rPr lang="zh-CN" altLang="en-US" sz="32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照片</a:t>
            </a:r>
          </a:p>
        </p:txBody>
      </p:sp>
      <p:pic>
        <p:nvPicPr>
          <p:cNvPr id="22531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394" y="3803652"/>
            <a:ext cx="2528888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284" y="3792538"/>
            <a:ext cx="278447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2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119" y="3767138"/>
            <a:ext cx="2724150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982" y="2500315"/>
            <a:ext cx="3625850" cy="143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056734" y="3289300"/>
            <a:ext cx="3057525" cy="5857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热电堆实物照片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6202FFB3-852D-4B6C-8A93-AB6A2370749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="" xmlns:a16="http://schemas.microsoft.com/office/drawing/2014/main" id="{A61979D6-078A-4C83-BCBD-1FA0D740A302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热电偶和热电堆探测器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7A8DA86B-8B70-4B45-83D0-A61C98E3B04E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21B62E5C-86DF-41F7-9088-33BE30704D7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="" xmlns:a16="http://schemas.microsoft.com/office/drawing/2014/main" id="{AC718725-4F80-4AB6-BBDE-30BB92EC4F7E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="" xmlns:a16="http://schemas.microsoft.com/office/drawing/2014/main" id="{6B80C55F-EA81-44BB-A61E-D0B5F90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25F7F0B2-4AB7-4E16-B951-CC00E350FEF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6F4E0942-5207-4B48-9DC1-94BFC7F89A1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5390359" y="1252726"/>
            <a:ext cx="2428875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热电偶结构</a:t>
            </a:r>
          </a:p>
        </p:txBody>
      </p:sp>
      <p:sp>
        <p:nvSpPr>
          <p:cNvPr id="43011" name="Rectangle 15"/>
          <p:cNvSpPr>
            <a:spLocks noChangeArrowheads="1"/>
          </p:cNvSpPr>
          <p:nvPr/>
        </p:nvSpPr>
        <p:spPr bwMode="auto">
          <a:xfrm>
            <a:off x="3702846" y="2197438"/>
            <a:ext cx="1844675" cy="4619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温差热电偶 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8249717" y="2139291"/>
            <a:ext cx="1716087" cy="4603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辐射热电偶</a:t>
            </a:r>
          </a:p>
        </p:txBody>
      </p:sp>
      <p:sp>
        <p:nvSpPr>
          <p:cNvPr id="43013" name="Rectangle 17"/>
          <p:cNvSpPr>
            <a:spLocks noChangeArrowheads="1"/>
          </p:cNvSpPr>
          <p:nvPr/>
        </p:nvSpPr>
        <p:spPr bwMode="auto">
          <a:xfrm>
            <a:off x="3029366" y="5224465"/>
            <a:ext cx="3754438" cy="784225"/>
          </a:xfrm>
          <a:prstGeom prst="rect">
            <a:avLst/>
          </a:prstGeom>
          <a:noFill/>
          <a:ln w="3175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种金属材料：铂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(Pt)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、铑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(Rh)</a:t>
            </a:r>
            <a:endParaRPr lang="zh-CN" altLang="en-US" sz="20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温差电动势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铋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锑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~100μV/℃</a:t>
            </a: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8010922" y="5210764"/>
            <a:ext cx="3100387" cy="784225"/>
          </a:xfrm>
          <a:prstGeom prst="rect">
            <a:avLst/>
          </a:prstGeom>
          <a:noFill/>
          <a:ln w="3175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材       料：     半导体</a:t>
            </a:r>
          </a:p>
          <a:p>
            <a:pPr eaLnBrk="1" hangingPunct="1">
              <a:spcBef>
                <a:spcPts val="600"/>
              </a:spcBef>
            </a:pP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温差电动势： 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~500μV/℃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978474" y="6598228"/>
            <a:ext cx="63373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对比：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原理结构、接触和非接触、测量对象</a:t>
            </a:r>
          </a:p>
        </p:txBody>
      </p:sp>
      <p:pic>
        <p:nvPicPr>
          <p:cNvPr id="43016" name="Picture 2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088" y="2814641"/>
            <a:ext cx="1702433" cy="19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7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359" y="2816227"/>
            <a:ext cx="1770779" cy="228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756996"/>
              </p:ext>
            </p:extLst>
          </p:nvPr>
        </p:nvGraphicFramePr>
        <p:xfrm>
          <a:off x="933961" y="3730991"/>
          <a:ext cx="2917825" cy="492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6" imgW="1523880" imgH="304560" progId="Equation.DSMT4">
                  <p:embed/>
                </p:oleObj>
              </mc:Choice>
              <mc:Fallback>
                <p:oleObj name="Equation" r:id="rId6" imgW="1523880" imgH="30456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961" y="3730991"/>
                        <a:ext cx="2917825" cy="492127"/>
                      </a:xfrm>
                      <a:prstGeom prst="rect">
                        <a:avLst/>
                      </a:prstGeom>
                      <a:solidFill>
                        <a:srgbClr val="FAC09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FF1F138D-548A-403C-BF8E-9D893B16F9D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="" xmlns:a16="http://schemas.microsoft.com/office/drawing/2014/main" id="{336A7BC1-8A32-4B9B-9DAD-87D8F51090C5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热电偶和热电堆探测器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54F57F8E-C988-425C-8357-01CB117D91E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60BC4A2E-6ABC-4869-9DA8-E4FC2374A88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="" xmlns:a16="http://schemas.microsoft.com/office/drawing/2014/main" id="{464CD7E9-2BD2-42A8-99E6-5267627434AF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="" xmlns:a16="http://schemas.microsoft.com/office/drawing/2014/main" id="{053BDEEA-71BF-4B1F-9478-5F9931A35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138D2DBB-8436-4AC9-A108-9878358EA3D1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="" xmlns:a16="http://schemas.microsoft.com/office/drawing/2014/main" id="{C81F583D-797C-4007-8AC1-1BE6DEF2D4A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1" grpId="0" animBg="1"/>
      <p:bldP spid="12" grpId="0" animBg="1"/>
      <p:bldP spid="430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67796"/>
              </p:ext>
            </p:extLst>
          </p:nvPr>
        </p:nvGraphicFramePr>
        <p:xfrm>
          <a:off x="4626547" y="2593497"/>
          <a:ext cx="4497611" cy="2475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Visio" r:id="rId3" imgW="3133851" imgH="1723923" progId="Visio.Drawing.15">
                  <p:embed/>
                </p:oleObj>
              </mc:Choice>
              <mc:Fallback>
                <p:oleObj name="Visio" r:id="rId3" imgW="3133851" imgH="1723923" progId="Visio.Drawing.1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547" y="2593497"/>
                        <a:ext cx="4497611" cy="2475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4997010" y="1652783"/>
            <a:ext cx="4073525" cy="52322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半导体测辐射热电偶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21602" y="5381957"/>
            <a:ext cx="6624339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热端温升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多数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载流子向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冷端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扩散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温差电动势</a:t>
            </a:r>
            <a:endParaRPr lang="zh-CN" altLang="en-US" sz="24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449799" y="3744995"/>
            <a:ext cx="1614670" cy="168534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6210724" y="4130712"/>
            <a:ext cx="1800225" cy="0"/>
          </a:xfrm>
          <a:prstGeom prst="straightConnector1">
            <a:avLst/>
          </a:prstGeom>
          <a:ln w="38100">
            <a:solidFill>
              <a:srgbClr val="0943E7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6310332" y="3137545"/>
            <a:ext cx="1800225" cy="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/>
          <p:cNvSpPr/>
          <p:nvPr/>
        </p:nvSpPr>
        <p:spPr>
          <a:xfrm>
            <a:off x="8947028" y="2987089"/>
            <a:ext cx="261581" cy="1143625"/>
          </a:xfrm>
          <a:prstGeom prst="rightBrace">
            <a:avLst>
              <a:gd name="adj1" fmla="val 30100"/>
              <a:gd name="adj2" fmla="val 51804"/>
            </a:avLst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2" name="直接箭头连接符 11"/>
          <p:cNvCxnSpPr>
            <a:stCxn id="11" idx="1"/>
          </p:cNvCxnSpPr>
          <p:nvPr/>
        </p:nvCxnSpPr>
        <p:spPr>
          <a:xfrm>
            <a:off x="9208609" y="3579532"/>
            <a:ext cx="458497" cy="180242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="" xmlns:a16="http://schemas.microsoft.com/office/drawing/2014/main" id="{99D295B0-4822-487D-98DD-76750A4663A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="" xmlns:a16="http://schemas.microsoft.com/office/drawing/2014/main" id="{B4DD0578-4625-4E3F-8E09-41D1F211A9CF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热电偶和热电堆探测器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90C5D1B6-0F05-4F40-B38E-30DC02F4B99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D14C9E51-5488-4666-BA0C-74B0517B80DD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="" xmlns:a16="http://schemas.microsoft.com/office/drawing/2014/main" id="{BC61785B-C7BB-4209-9043-C6E21CD1367F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="" xmlns:a16="http://schemas.microsoft.com/office/drawing/2014/main" id="{CEEDC8B5-B346-408C-8BB0-A39BC8CB1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24C6D811-120B-48E0-8F41-E5474D75933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="" xmlns:a16="http://schemas.microsoft.com/office/drawing/2014/main" id="{E33CCFBD-5ECD-4FFA-9953-D7B12B65A732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  <p:cxnSp>
        <p:nvCxnSpPr>
          <p:cNvPr id="23" name="直接连接符 22"/>
          <p:cNvCxnSpPr/>
          <p:nvPr/>
        </p:nvCxnSpPr>
        <p:spPr>
          <a:xfrm flipV="1">
            <a:off x="6132811" y="3032592"/>
            <a:ext cx="0" cy="1133475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9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1222951" y="2475472"/>
            <a:ext cx="7894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外电路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闭合时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温差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电流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en-US" altLang="zh-CN" sz="2400" b="1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286794" y="1101725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286794" y="1101725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609332"/>
              </p:ext>
            </p:extLst>
          </p:nvPr>
        </p:nvGraphicFramePr>
        <p:xfrm>
          <a:off x="4306888" y="3163888"/>
          <a:ext cx="24288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3" imgW="1295280" imgH="431640" progId="Equation.DSMT4">
                  <p:embed/>
                </p:oleObj>
              </mc:Choice>
              <mc:Fallback>
                <p:oleObj name="Equation" r:id="rId3" imgW="12952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3163888"/>
                        <a:ext cx="24288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627032"/>
              </p:ext>
            </p:extLst>
          </p:nvPr>
        </p:nvGraphicFramePr>
        <p:xfrm>
          <a:off x="3464677" y="1619282"/>
          <a:ext cx="15589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5" imgW="761760" imgH="228600" progId="Equation.DSMT4">
                  <p:embed/>
                </p:oleObj>
              </mc:Choice>
              <mc:Fallback>
                <p:oleObj name="Equation" r:id="rId5" imgW="76176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677" y="1619282"/>
                        <a:ext cx="15589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TextBox 5"/>
          <p:cNvSpPr txBox="1">
            <a:spLocks noChangeArrowheads="1"/>
          </p:cNvSpPr>
          <p:nvPr/>
        </p:nvSpPr>
        <p:spPr bwMode="auto">
          <a:xfrm>
            <a:off x="5716520" y="1445727"/>
            <a:ext cx="72767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为塞贝克常数，也称为温差电动势率，单位为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V/K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1222952" y="1613151"/>
            <a:ext cx="1727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开路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D0D085B0-BB88-4654-8680-00BD0471FE8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="" xmlns:a16="http://schemas.microsoft.com/office/drawing/2014/main" id="{2CCDA4FF-F9C0-4A9A-932D-732A8CC07E8F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热电偶和热电堆探测器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F56ADD1E-C381-4D4D-9372-C9C687FFABB6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1FA189DD-333C-49C7-AEAC-464A4FE9A90E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="" xmlns:a16="http://schemas.microsoft.com/office/drawing/2014/main" id="{0A48CBBF-3FB8-4BEE-A449-5A27A38BCAFB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="" xmlns:a16="http://schemas.microsoft.com/office/drawing/2014/main" id="{87C037FA-8993-4760-AB1E-0B8CD91D4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949C0324-46EE-497C-8B19-DA774EA36D9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6E5AE164-4EEA-4C52-AB88-E112C33ED87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  <p:graphicFrame>
        <p:nvGraphicFramePr>
          <p:cNvPr id="2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36502"/>
              </p:ext>
            </p:extLst>
          </p:nvPr>
        </p:nvGraphicFramePr>
        <p:xfrm>
          <a:off x="4338514" y="4276963"/>
          <a:ext cx="425608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Equation" r:id="rId7" imgW="2260440" imgH="888840" progId="Equation.DSMT4">
                  <p:embed/>
                </p:oleObj>
              </mc:Choice>
              <mc:Fallback>
                <p:oleObj name="Equation" r:id="rId7" imgW="22604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514" y="4276963"/>
                        <a:ext cx="4256088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3"/>
          <p:cNvSpPr txBox="1">
            <a:spLocks noChangeArrowheads="1"/>
          </p:cNvSpPr>
          <p:nvPr/>
        </p:nvSpPr>
        <p:spPr bwMode="auto">
          <a:xfrm>
            <a:off x="1681435" y="4365730"/>
            <a:ext cx="2300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信号电压幅度</a:t>
            </a:r>
          </a:p>
        </p:txBody>
      </p:sp>
      <p:sp>
        <p:nvSpPr>
          <p:cNvPr id="25" name="TextBox 3"/>
          <p:cNvSpPr txBox="1">
            <a:spLocks noChangeArrowheads="1"/>
          </p:cNvSpPr>
          <p:nvPr/>
        </p:nvSpPr>
        <p:spPr bwMode="auto">
          <a:xfrm>
            <a:off x="3981697" y="6304714"/>
            <a:ext cx="129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则有，</a:t>
            </a:r>
          </a:p>
        </p:txBody>
      </p:sp>
      <p:graphicFrame>
        <p:nvGraphicFramePr>
          <p:cNvPr id="2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290960"/>
              </p:ext>
            </p:extLst>
          </p:nvPr>
        </p:nvGraphicFramePr>
        <p:xfrm>
          <a:off x="5348532" y="6180113"/>
          <a:ext cx="26003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Equation" r:id="rId9" imgW="1295280" imgH="431640" progId="Equation.DSMT4">
                  <p:embed/>
                </p:oleObj>
              </mc:Choice>
              <mc:Fallback>
                <p:oleObj name="Equation" r:id="rId9" imgW="1295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532" y="6180113"/>
                        <a:ext cx="26003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418927"/>
              </p:ext>
            </p:extLst>
          </p:nvPr>
        </p:nvGraphicFramePr>
        <p:xfrm>
          <a:off x="2252912" y="6210907"/>
          <a:ext cx="16573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Equation" r:id="rId11" imgW="533160" imgH="228600" progId="Equation.DSMT4">
                  <p:embed/>
                </p:oleObj>
              </mc:Choice>
              <mc:Fallback>
                <p:oleObj name="Equation" r:id="rId11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52912" y="6210907"/>
                        <a:ext cx="1657350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/>
      <p:bldP spid="10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热电偶的主要特性参数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热电偶的主要特性参数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234059" y="293282"/>
            <a:ext cx="1050566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4127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Box 11"/>
          <p:cNvSpPr txBox="1">
            <a:spLocks noChangeArrowheads="1"/>
          </p:cNvSpPr>
          <p:nvPr/>
        </p:nvSpPr>
        <p:spPr bwMode="auto">
          <a:xfrm>
            <a:off x="1693998" y="3919684"/>
            <a:ext cx="329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943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943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热电偶的电压灵敏度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86794" y="1101725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763119"/>
              </p:ext>
            </p:extLst>
          </p:nvPr>
        </p:nvGraphicFramePr>
        <p:xfrm>
          <a:off x="2084388" y="5010150"/>
          <a:ext cx="42941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4" imgW="2171520" imgH="482400" progId="Equation.DSMT4">
                  <p:embed/>
                </p:oleObj>
              </mc:Choice>
              <mc:Fallback>
                <p:oleObj name="Equation" r:id="rId4" imgW="217152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5010150"/>
                        <a:ext cx="429418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964837878"/>
              </p:ext>
            </p:extLst>
          </p:nvPr>
        </p:nvGraphicFramePr>
        <p:xfrm>
          <a:off x="7938296" y="1265337"/>
          <a:ext cx="3197057" cy="2206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50625"/>
              </p:ext>
            </p:extLst>
          </p:nvPr>
        </p:nvGraphicFramePr>
        <p:xfrm>
          <a:off x="5645150" y="3824288"/>
          <a:ext cx="2679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11" imgW="1422360" imgH="419040" progId="Equation.DSMT4">
                  <p:embed/>
                </p:oleObj>
              </mc:Choice>
              <mc:Fallback>
                <p:oleObj name="Equation" r:id="rId11" imgW="1422360" imgH="419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3824288"/>
                        <a:ext cx="2679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右箭头 2"/>
          <p:cNvSpPr/>
          <p:nvPr/>
        </p:nvSpPr>
        <p:spPr>
          <a:xfrm>
            <a:off x="6607845" y="5333603"/>
            <a:ext cx="504825" cy="214313"/>
          </a:xfrm>
          <a:prstGeom prst="rightArrow">
            <a:avLst>
              <a:gd name="adj1" fmla="val 50000"/>
              <a:gd name="adj2" fmla="val 92328"/>
            </a:avLst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0" scaled="1"/>
            <a:tileRect/>
          </a:gra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7112670" y="5173266"/>
            <a:ext cx="2232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提高的方法？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3656681" y="5103416"/>
            <a:ext cx="349250" cy="268287"/>
          </a:xfrm>
          <a:custGeom>
            <a:avLst/>
            <a:gdLst>
              <a:gd name="connsiteX0" fmla="*/ 149214 w 436597"/>
              <a:gd name="connsiteY0" fmla="*/ 69668 h 357051"/>
              <a:gd name="connsiteX1" fmla="*/ 53420 w 436597"/>
              <a:gd name="connsiteY1" fmla="*/ 130628 h 357051"/>
              <a:gd name="connsiteX2" fmla="*/ 18585 w 436597"/>
              <a:gd name="connsiteY2" fmla="*/ 165463 h 357051"/>
              <a:gd name="connsiteX3" fmla="*/ 1168 w 436597"/>
              <a:gd name="connsiteY3" fmla="*/ 217714 h 357051"/>
              <a:gd name="connsiteX4" fmla="*/ 18585 w 436597"/>
              <a:gd name="connsiteY4" fmla="*/ 269965 h 357051"/>
              <a:gd name="connsiteX5" fmla="*/ 27294 w 436597"/>
              <a:gd name="connsiteY5" fmla="*/ 313508 h 357051"/>
              <a:gd name="connsiteX6" fmla="*/ 53420 w 436597"/>
              <a:gd name="connsiteY6" fmla="*/ 330925 h 357051"/>
              <a:gd name="connsiteX7" fmla="*/ 70837 w 436597"/>
              <a:gd name="connsiteY7" fmla="*/ 348343 h 357051"/>
              <a:gd name="connsiteX8" fmla="*/ 140505 w 436597"/>
              <a:gd name="connsiteY8" fmla="*/ 357051 h 357051"/>
              <a:gd name="connsiteX9" fmla="*/ 375637 w 436597"/>
              <a:gd name="connsiteY9" fmla="*/ 339634 h 357051"/>
              <a:gd name="connsiteX10" fmla="*/ 401762 w 436597"/>
              <a:gd name="connsiteY10" fmla="*/ 287383 h 357051"/>
              <a:gd name="connsiteX11" fmla="*/ 419180 w 436597"/>
              <a:gd name="connsiteY11" fmla="*/ 252548 h 357051"/>
              <a:gd name="connsiteX12" fmla="*/ 436597 w 436597"/>
              <a:gd name="connsiteY12" fmla="*/ 174171 h 357051"/>
              <a:gd name="connsiteX13" fmla="*/ 419180 w 436597"/>
              <a:gd name="connsiteY13" fmla="*/ 87085 h 357051"/>
              <a:gd name="connsiteX14" fmla="*/ 401762 w 436597"/>
              <a:gd name="connsiteY14" fmla="*/ 69668 h 357051"/>
              <a:gd name="connsiteX15" fmla="*/ 323385 w 436597"/>
              <a:gd name="connsiteY15" fmla="*/ 26125 h 357051"/>
              <a:gd name="connsiteX16" fmla="*/ 271134 w 436597"/>
              <a:gd name="connsiteY16" fmla="*/ 0 h 357051"/>
              <a:gd name="connsiteX17" fmla="*/ 149214 w 436597"/>
              <a:gd name="connsiteY17" fmla="*/ 17417 h 357051"/>
              <a:gd name="connsiteX18" fmla="*/ 123088 w 436597"/>
              <a:gd name="connsiteY18" fmla="*/ 26125 h 357051"/>
              <a:gd name="connsiteX19" fmla="*/ 105671 w 436597"/>
              <a:gd name="connsiteY19" fmla="*/ 43543 h 357051"/>
              <a:gd name="connsiteX20" fmla="*/ 96962 w 436597"/>
              <a:gd name="connsiteY20" fmla="*/ 95794 h 35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6597" h="357051">
                <a:moveTo>
                  <a:pt x="149214" y="69668"/>
                </a:moveTo>
                <a:cubicBezTo>
                  <a:pt x="90528" y="93142"/>
                  <a:pt x="109113" y="80504"/>
                  <a:pt x="53420" y="130628"/>
                </a:cubicBezTo>
                <a:cubicBezTo>
                  <a:pt x="41214" y="141613"/>
                  <a:pt x="18585" y="165463"/>
                  <a:pt x="18585" y="165463"/>
                </a:cubicBezTo>
                <a:cubicBezTo>
                  <a:pt x="12779" y="182880"/>
                  <a:pt x="-4638" y="200297"/>
                  <a:pt x="1168" y="217714"/>
                </a:cubicBezTo>
                <a:cubicBezTo>
                  <a:pt x="6974" y="235131"/>
                  <a:pt x="14984" y="251962"/>
                  <a:pt x="18585" y="269965"/>
                </a:cubicBezTo>
                <a:cubicBezTo>
                  <a:pt x="21488" y="284479"/>
                  <a:pt x="19950" y="300657"/>
                  <a:pt x="27294" y="313508"/>
                </a:cubicBezTo>
                <a:cubicBezTo>
                  <a:pt x="32487" y="322595"/>
                  <a:pt x="45247" y="324387"/>
                  <a:pt x="53420" y="330925"/>
                </a:cubicBezTo>
                <a:cubicBezTo>
                  <a:pt x="59831" y="336054"/>
                  <a:pt x="62973" y="345984"/>
                  <a:pt x="70837" y="348343"/>
                </a:cubicBezTo>
                <a:cubicBezTo>
                  <a:pt x="93253" y="355068"/>
                  <a:pt x="117282" y="354148"/>
                  <a:pt x="140505" y="357051"/>
                </a:cubicBezTo>
                <a:cubicBezTo>
                  <a:pt x="218882" y="351245"/>
                  <a:pt x="298188" y="352987"/>
                  <a:pt x="375637" y="339634"/>
                </a:cubicBezTo>
                <a:cubicBezTo>
                  <a:pt x="388545" y="337408"/>
                  <a:pt x="398164" y="295778"/>
                  <a:pt x="401762" y="287383"/>
                </a:cubicBezTo>
                <a:cubicBezTo>
                  <a:pt x="406876" y="275450"/>
                  <a:pt x="414066" y="264481"/>
                  <a:pt x="419180" y="252548"/>
                </a:cubicBezTo>
                <a:cubicBezTo>
                  <a:pt x="430872" y="225266"/>
                  <a:pt x="431379" y="205480"/>
                  <a:pt x="436597" y="174171"/>
                </a:cubicBezTo>
                <a:cubicBezTo>
                  <a:pt x="430791" y="145142"/>
                  <a:pt x="428542" y="115169"/>
                  <a:pt x="419180" y="87085"/>
                </a:cubicBezTo>
                <a:cubicBezTo>
                  <a:pt x="416584" y="79296"/>
                  <a:pt x="408331" y="74594"/>
                  <a:pt x="401762" y="69668"/>
                </a:cubicBezTo>
                <a:cubicBezTo>
                  <a:pt x="291925" y="-12708"/>
                  <a:pt x="391273" y="60070"/>
                  <a:pt x="323385" y="26125"/>
                </a:cubicBezTo>
                <a:cubicBezTo>
                  <a:pt x="255866" y="-7635"/>
                  <a:pt x="336796" y="21886"/>
                  <a:pt x="271134" y="0"/>
                </a:cubicBezTo>
                <a:cubicBezTo>
                  <a:pt x="222350" y="5420"/>
                  <a:pt x="193585" y="6324"/>
                  <a:pt x="149214" y="17417"/>
                </a:cubicBezTo>
                <a:cubicBezTo>
                  <a:pt x="140308" y="19643"/>
                  <a:pt x="131797" y="23222"/>
                  <a:pt x="123088" y="26125"/>
                </a:cubicBezTo>
                <a:cubicBezTo>
                  <a:pt x="117282" y="31931"/>
                  <a:pt x="109895" y="36502"/>
                  <a:pt x="105671" y="43543"/>
                </a:cubicBezTo>
                <a:cubicBezTo>
                  <a:pt x="94208" y="62648"/>
                  <a:pt x="96962" y="74986"/>
                  <a:pt x="96962" y="957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850356" y="4941491"/>
            <a:ext cx="0" cy="1619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/>
        </p:nvSpPr>
        <p:spPr>
          <a:xfrm>
            <a:off x="5341018" y="5122464"/>
            <a:ext cx="323850" cy="254000"/>
          </a:xfrm>
          <a:custGeom>
            <a:avLst/>
            <a:gdLst>
              <a:gd name="connsiteX0" fmla="*/ 252549 w 374469"/>
              <a:gd name="connsiteY0" fmla="*/ 26308 h 339816"/>
              <a:gd name="connsiteX1" fmla="*/ 69669 w 374469"/>
              <a:gd name="connsiteY1" fmla="*/ 69850 h 339816"/>
              <a:gd name="connsiteX2" fmla="*/ 43543 w 374469"/>
              <a:gd name="connsiteY2" fmla="*/ 78559 h 339816"/>
              <a:gd name="connsiteX3" fmla="*/ 17417 w 374469"/>
              <a:gd name="connsiteY3" fmla="*/ 95976 h 339816"/>
              <a:gd name="connsiteX4" fmla="*/ 8709 w 374469"/>
              <a:gd name="connsiteY4" fmla="*/ 130810 h 339816"/>
              <a:gd name="connsiteX5" fmla="*/ 0 w 374469"/>
              <a:gd name="connsiteY5" fmla="*/ 156936 h 339816"/>
              <a:gd name="connsiteX6" fmla="*/ 8709 w 374469"/>
              <a:gd name="connsiteY6" fmla="*/ 244022 h 339816"/>
              <a:gd name="connsiteX7" fmla="*/ 43543 w 374469"/>
              <a:gd name="connsiteY7" fmla="*/ 304982 h 339816"/>
              <a:gd name="connsiteX8" fmla="*/ 95794 w 374469"/>
              <a:gd name="connsiteY8" fmla="*/ 322399 h 339816"/>
              <a:gd name="connsiteX9" fmla="*/ 130629 w 374469"/>
              <a:gd name="connsiteY9" fmla="*/ 339816 h 339816"/>
              <a:gd name="connsiteX10" fmla="*/ 304800 w 374469"/>
              <a:gd name="connsiteY10" fmla="*/ 322399 h 339816"/>
              <a:gd name="connsiteX11" fmla="*/ 330926 w 374469"/>
              <a:gd name="connsiteY11" fmla="*/ 313690 h 339816"/>
              <a:gd name="connsiteX12" fmla="*/ 357051 w 374469"/>
              <a:gd name="connsiteY12" fmla="*/ 296273 h 339816"/>
              <a:gd name="connsiteX13" fmla="*/ 374469 w 374469"/>
              <a:gd name="connsiteY13" fmla="*/ 270148 h 339816"/>
              <a:gd name="connsiteX14" fmla="*/ 357051 w 374469"/>
              <a:gd name="connsiteY14" fmla="*/ 139519 h 339816"/>
              <a:gd name="connsiteX15" fmla="*/ 313509 w 374469"/>
              <a:gd name="connsiteY15" fmla="*/ 95976 h 339816"/>
              <a:gd name="connsiteX16" fmla="*/ 296091 w 374469"/>
              <a:gd name="connsiteY16" fmla="*/ 78559 h 339816"/>
              <a:gd name="connsiteX17" fmla="*/ 235131 w 374469"/>
              <a:gd name="connsiteY17" fmla="*/ 43725 h 339816"/>
              <a:gd name="connsiteX18" fmla="*/ 209006 w 374469"/>
              <a:gd name="connsiteY18" fmla="*/ 26308 h 339816"/>
              <a:gd name="connsiteX19" fmla="*/ 182880 w 374469"/>
              <a:gd name="connsiteY19" fmla="*/ 17599 h 339816"/>
              <a:gd name="connsiteX20" fmla="*/ 139337 w 374469"/>
              <a:gd name="connsiteY20" fmla="*/ 182 h 33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4469" h="339816">
                <a:moveTo>
                  <a:pt x="252549" y="26308"/>
                </a:moveTo>
                <a:lnTo>
                  <a:pt x="69669" y="69850"/>
                </a:lnTo>
                <a:cubicBezTo>
                  <a:pt x="60763" y="72076"/>
                  <a:pt x="51754" y="74454"/>
                  <a:pt x="43543" y="78559"/>
                </a:cubicBezTo>
                <a:cubicBezTo>
                  <a:pt x="34182" y="83240"/>
                  <a:pt x="26126" y="90170"/>
                  <a:pt x="17417" y="95976"/>
                </a:cubicBezTo>
                <a:cubicBezTo>
                  <a:pt x="14514" y="107587"/>
                  <a:pt x="11997" y="119302"/>
                  <a:pt x="8709" y="130810"/>
                </a:cubicBezTo>
                <a:cubicBezTo>
                  <a:pt x="6187" y="139637"/>
                  <a:pt x="0" y="147756"/>
                  <a:pt x="0" y="156936"/>
                </a:cubicBezTo>
                <a:cubicBezTo>
                  <a:pt x="0" y="186109"/>
                  <a:pt x="4273" y="215188"/>
                  <a:pt x="8709" y="244022"/>
                </a:cubicBezTo>
                <a:cubicBezTo>
                  <a:pt x="11742" y="263737"/>
                  <a:pt x="28139" y="294712"/>
                  <a:pt x="43543" y="304982"/>
                </a:cubicBezTo>
                <a:cubicBezTo>
                  <a:pt x="58819" y="315166"/>
                  <a:pt x="79373" y="314189"/>
                  <a:pt x="95794" y="322399"/>
                </a:cubicBezTo>
                <a:lnTo>
                  <a:pt x="130629" y="339816"/>
                </a:lnTo>
                <a:cubicBezTo>
                  <a:pt x="188686" y="334010"/>
                  <a:pt x="246944" y="329946"/>
                  <a:pt x="304800" y="322399"/>
                </a:cubicBezTo>
                <a:cubicBezTo>
                  <a:pt x="313903" y="321212"/>
                  <a:pt x="322715" y="317795"/>
                  <a:pt x="330926" y="313690"/>
                </a:cubicBezTo>
                <a:cubicBezTo>
                  <a:pt x="340287" y="309009"/>
                  <a:pt x="348343" y="302079"/>
                  <a:pt x="357051" y="296273"/>
                </a:cubicBezTo>
                <a:cubicBezTo>
                  <a:pt x="362857" y="287565"/>
                  <a:pt x="374469" y="280614"/>
                  <a:pt x="374469" y="270148"/>
                </a:cubicBezTo>
                <a:cubicBezTo>
                  <a:pt x="374469" y="226220"/>
                  <a:pt x="366581" y="182401"/>
                  <a:pt x="357051" y="139519"/>
                </a:cubicBezTo>
                <a:cubicBezTo>
                  <a:pt x="351402" y="114099"/>
                  <a:pt x="330769" y="109784"/>
                  <a:pt x="313509" y="95976"/>
                </a:cubicBezTo>
                <a:cubicBezTo>
                  <a:pt x="307098" y="90847"/>
                  <a:pt x="302502" y="83688"/>
                  <a:pt x="296091" y="78559"/>
                </a:cubicBezTo>
                <a:cubicBezTo>
                  <a:pt x="269565" y="57339"/>
                  <a:pt x="266426" y="61608"/>
                  <a:pt x="235131" y="43725"/>
                </a:cubicBezTo>
                <a:cubicBezTo>
                  <a:pt x="226044" y="38532"/>
                  <a:pt x="218367" y="30989"/>
                  <a:pt x="209006" y="26308"/>
                </a:cubicBezTo>
                <a:cubicBezTo>
                  <a:pt x="200795" y="22203"/>
                  <a:pt x="191091" y="21704"/>
                  <a:pt x="182880" y="17599"/>
                </a:cubicBezTo>
                <a:cubicBezTo>
                  <a:pt x="141605" y="-3038"/>
                  <a:pt x="172944" y="182"/>
                  <a:pt x="139337" y="18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502943" y="4970615"/>
            <a:ext cx="0" cy="1619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 16"/>
          <p:cNvSpPr/>
          <p:nvPr/>
        </p:nvSpPr>
        <p:spPr>
          <a:xfrm>
            <a:off x="3494756" y="5441551"/>
            <a:ext cx="355600" cy="349250"/>
          </a:xfrm>
          <a:custGeom>
            <a:avLst/>
            <a:gdLst>
              <a:gd name="connsiteX0" fmla="*/ 149214 w 436597"/>
              <a:gd name="connsiteY0" fmla="*/ 69668 h 357051"/>
              <a:gd name="connsiteX1" fmla="*/ 53420 w 436597"/>
              <a:gd name="connsiteY1" fmla="*/ 130628 h 357051"/>
              <a:gd name="connsiteX2" fmla="*/ 18585 w 436597"/>
              <a:gd name="connsiteY2" fmla="*/ 165463 h 357051"/>
              <a:gd name="connsiteX3" fmla="*/ 1168 w 436597"/>
              <a:gd name="connsiteY3" fmla="*/ 217714 h 357051"/>
              <a:gd name="connsiteX4" fmla="*/ 18585 w 436597"/>
              <a:gd name="connsiteY4" fmla="*/ 269965 h 357051"/>
              <a:gd name="connsiteX5" fmla="*/ 27294 w 436597"/>
              <a:gd name="connsiteY5" fmla="*/ 313508 h 357051"/>
              <a:gd name="connsiteX6" fmla="*/ 53420 w 436597"/>
              <a:gd name="connsiteY6" fmla="*/ 330925 h 357051"/>
              <a:gd name="connsiteX7" fmla="*/ 70837 w 436597"/>
              <a:gd name="connsiteY7" fmla="*/ 348343 h 357051"/>
              <a:gd name="connsiteX8" fmla="*/ 140505 w 436597"/>
              <a:gd name="connsiteY8" fmla="*/ 357051 h 357051"/>
              <a:gd name="connsiteX9" fmla="*/ 375637 w 436597"/>
              <a:gd name="connsiteY9" fmla="*/ 339634 h 357051"/>
              <a:gd name="connsiteX10" fmla="*/ 401762 w 436597"/>
              <a:gd name="connsiteY10" fmla="*/ 287383 h 357051"/>
              <a:gd name="connsiteX11" fmla="*/ 419180 w 436597"/>
              <a:gd name="connsiteY11" fmla="*/ 252548 h 357051"/>
              <a:gd name="connsiteX12" fmla="*/ 436597 w 436597"/>
              <a:gd name="connsiteY12" fmla="*/ 174171 h 357051"/>
              <a:gd name="connsiteX13" fmla="*/ 419180 w 436597"/>
              <a:gd name="connsiteY13" fmla="*/ 87085 h 357051"/>
              <a:gd name="connsiteX14" fmla="*/ 401762 w 436597"/>
              <a:gd name="connsiteY14" fmla="*/ 69668 h 357051"/>
              <a:gd name="connsiteX15" fmla="*/ 323385 w 436597"/>
              <a:gd name="connsiteY15" fmla="*/ 26125 h 357051"/>
              <a:gd name="connsiteX16" fmla="*/ 271134 w 436597"/>
              <a:gd name="connsiteY16" fmla="*/ 0 h 357051"/>
              <a:gd name="connsiteX17" fmla="*/ 149214 w 436597"/>
              <a:gd name="connsiteY17" fmla="*/ 17417 h 357051"/>
              <a:gd name="connsiteX18" fmla="*/ 123088 w 436597"/>
              <a:gd name="connsiteY18" fmla="*/ 26125 h 357051"/>
              <a:gd name="connsiteX19" fmla="*/ 105671 w 436597"/>
              <a:gd name="connsiteY19" fmla="*/ 43543 h 357051"/>
              <a:gd name="connsiteX20" fmla="*/ 96962 w 436597"/>
              <a:gd name="connsiteY20" fmla="*/ 95794 h 35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6597" h="357051">
                <a:moveTo>
                  <a:pt x="149214" y="69668"/>
                </a:moveTo>
                <a:cubicBezTo>
                  <a:pt x="90528" y="93142"/>
                  <a:pt x="109113" y="80504"/>
                  <a:pt x="53420" y="130628"/>
                </a:cubicBezTo>
                <a:cubicBezTo>
                  <a:pt x="41214" y="141613"/>
                  <a:pt x="18585" y="165463"/>
                  <a:pt x="18585" y="165463"/>
                </a:cubicBezTo>
                <a:cubicBezTo>
                  <a:pt x="12779" y="182880"/>
                  <a:pt x="-4638" y="200297"/>
                  <a:pt x="1168" y="217714"/>
                </a:cubicBezTo>
                <a:cubicBezTo>
                  <a:pt x="6974" y="235131"/>
                  <a:pt x="14984" y="251962"/>
                  <a:pt x="18585" y="269965"/>
                </a:cubicBezTo>
                <a:cubicBezTo>
                  <a:pt x="21488" y="284479"/>
                  <a:pt x="19950" y="300657"/>
                  <a:pt x="27294" y="313508"/>
                </a:cubicBezTo>
                <a:cubicBezTo>
                  <a:pt x="32487" y="322595"/>
                  <a:pt x="45247" y="324387"/>
                  <a:pt x="53420" y="330925"/>
                </a:cubicBezTo>
                <a:cubicBezTo>
                  <a:pt x="59831" y="336054"/>
                  <a:pt x="62973" y="345984"/>
                  <a:pt x="70837" y="348343"/>
                </a:cubicBezTo>
                <a:cubicBezTo>
                  <a:pt x="93253" y="355068"/>
                  <a:pt x="117282" y="354148"/>
                  <a:pt x="140505" y="357051"/>
                </a:cubicBezTo>
                <a:cubicBezTo>
                  <a:pt x="218882" y="351245"/>
                  <a:pt x="298188" y="352987"/>
                  <a:pt x="375637" y="339634"/>
                </a:cubicBezTo>
                <a:cubicBezTo>
                  <a:pt x="388545" y="337408"/>
                  <a:pt x="398164" y="295778"/>
                  <a:pt x="401762" y="287383"/>
                </a:cubicBezTo>
                <a:cubicBezTo>
                  <a:pt x="406876" y="275450"/>
                  <a:pt x="414066" y="264481"/>
                  <a:pt x="419180" y="252548"/>
                </a:cubicBezTo>
                <a:cubicBezTo>
                  <a:pt x="430872" y="225266"/>
                  <a:pt x="431379" y="205480"/>
                  <a:pt x="436597" y="174171"/>
                </a:cubicBezTo>
                <a:cubicBezTo>
                  <a:pt x="430791" y="145142"/>
                  <a:pt x="428542" y="115169"/>
                  <a:pt x="419180" y="87085"/>
                </a:cubicBezTo>
                <a:cubicBezTo>
                  <a:pt x="416584" y="79296"/>
                  <a:pt x="408331" y="74594"/>
                  <a:pt x="401762" y="69668"/>
                </a:cubicBezTo>
                <a:cubicBezTo>
                  <a:pt x="291925" y="-12708"/>
                  <a:pt x="391273" y="60070"/>
                  <a:pt x="323385" y="26125"/>
                </a:cubicBezTo>
                <a:cubicBezTo>
                  <a:pt x="255866" y="-7635"/>
                  <a:pt x="336796" y="21886"/>
                  <a:pt x="271134" y="0"/>
                </a:cubicBezTo>
                <a:cubicBezTo>
                  <a:pt x="222350" y="5420"/>
                  <a:pt x="193585" y="6324"/>
                  <a:pt x="149214" y="17417"/>
                </a:cubicBezTo>
                <a:cubicBezTo>
                  <a:pt x="140308" y="19643"/>
                  <a:pt x="131797" y="23222"/>
                  <a:pt x="123088" y="26125"/>
                </a:cubicBezTo>
                <a:cubicBezTo>
                  <a:pt x="117282" y="31931"/>
                  <a:pt x="109895" y="36502"/>
                  <a:pt x="105671" y="43543"/>
                </a:cubicBezTo>
                <a:cubicBezTo>
                  <a:pt x="94208" y="62648"/>
                  <a:pt x="96962" y="74986"/>
                  <a:pt x="96962" y="957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678906" y="5795506"/>
            <a:ext cx="0" cy="16192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任意多边形 18"/>
          <p:cNvSpPr/>
          <p:nvPr/>
        </p:nvSpPr>
        <p:spPr>
          <a:xfrm>
            <a:off x="4571081" y="5376464"/>
            <a:ext cx="381000" cy="379412"/>
          </a:xfrm>
          <a:custGeom>
            <a:avLst/>
            <a:gdLst>
              <a:gd name="connsiteX0" fmla="*/ 149214 w 436597"/>
              <a:gd name="connsiteY0" fmla="*/ 69668 h 357051"/>
              <a:gd name="connsiteX1" fmla="*/ 53420 w 436597"/>
              <a:gd name="connsiteY1" fmla="*/ 130628 h 357051"/>
              <a:gd name="connsiteX2" fmla="*/ 18585 w 436597"/>
              <a:gd name="connsiteY2" fmla="*/ 165463 h 357051"/>
              <a:gd name="connsiteX3" fmla="*/ 1168 w 436597"/>
              <a:gd name="connsiteY3" fmla="*/ 217714 h 357051"/>
              <a:gd name="connsiteX4" fmla="*/ 18585 w 436597"/>
              <a:gd name="connsiteY4" fmla="*/ 269965 h 357051"/>
              <a:gd name="connsiteX5" fmla="*/ 27294 w 436597"/>
              <a:gd name="connsiteY5" fmla="*/ 313508 h 357051"/>
              <a:gd name="connsiteX6" fmla="*/ 53420 w 436597"/>
              <a:gd name="connsiteY6" fmla="*/ 330925 h 357051"/>
              <a:gd name="connsiteX7" fmla="*/ 70837 w 436597"/>
              <a:gd name="connsiteY7" fmla="*/ 348343 h 357051"/>
              <a:gd name="connsiteX8" fmla="*/ 140505 w 436597"/>
              <a:gd name="connsiteY8" fmla="*/ 357051 h 357051"/>
              <a:gd name="connsiteX9" fmla="*/ 375637 w 436597"/>
              <a:gd name="connsiteY9" fmla="*/ 339634 h 357051"/>
              <a:gd name="connsiteX10" fmla="*/ 401762 w 436597"/>
              <a:gd name="connsiteY10" fmla="*/ 287383 h 357051"/>
              <a:gd name="connsiteX11" fmla="*/ 419180 w 436597"/>
              <a:gd name="connsiteY11" fmla="*/ 252548 h 357051"/>
              <a:gd name="connsiteX12" fmla="*/ 436597 w 436597"/>
              <a:gd name="connsiteY12" fmla="*/ 174171 h 357051"/>
              <a:gd name="connsiteX13" fmla="*/ 419180 w 436597"/>
              <a:gd name="connsiteY13" fmla="*/ 87085 h 357051"/>
              <a:gd name="connsiteX14" fmla="*/ 401762 w 436597"/>
              <a:gd name="connsiteY14" fmla="*/ 69668 h 357051"/>
              <a:gd name="connsiteX15" fmla="*/ 323385 w 436597"/>
              <a:gd name="connsiteY15" fmla="*/ 26125 h 357051"/>
              <a:gd name="connsiteX16" fmla="*/ 271134 w 436597"/>
              <a:gd name="connsiteY16" fmla="*/ 0 h 357051"/>
              <a:gd name="connsiteX17" fmla="*/ 149214 w 436597"/>
              <a:gd name="connsiteY17" fmla="*/ 17417 h 357051"/>
              <a:gd name="connsiteX18" fmla="*/ 123088 w 436597"/>
              <a:gd name="connsiteY18" fmla="*/ 26125 h 357051"/>
              <a:gd name="connsiteX19" fmla="*/ 105671 w 436597"/>
              <a:gd name="connsiteY19" fmla="*/ 43543 h 357051"/>
              <a:gd name="connsiteX20" fmla="*/ 96962 w 436597"/>
              <a:gd name="connsiteY20" fmla="*/ 95794 h 35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6597" h="357051">
                <a:moveTo>
                  <a:pt x="149214" y="69668"/>
                </a:moveTo>
                <a:cubicBezTo>
                  <a:pt x="90528" y="93142"/>
                  <a:pt x="109113" y="80504"/>
                  <a:pt x="53420" y="130628"/>
                </a:cubicBezTo>
                <a:cubicBezTo>
                  <a:pt x="41214" y="141613"/>
                  <a:pt x="18585" y="165463"/>
                  <a:pt x="18585" y="165463"/>
                </a:cubicBezTo>
                <a:cubicBezTo>
                  <a:pt x="12779" y="182880"/>
                  <a:pt x="-4638" y="200297"/>
                  <a:pt x="1168" y="217714"/>
                </a:cubicBezTo>
                <a:cubicBezTo>
                  <a:pt x="6974" y="235131"/>
                  <a:pt x="14984" y="251962"/>
                  <a:pt x="18585" y="269965"/>
                </a:cubicBezTo>
                <a:cubicBezTo>
                  <a:pt x="21488" y="284479"/>
                  <a:pt x="19950" y="300657"/>
                  <a:pt x="27294" y="313508"/>
                </a:cubicBezTo>
                <a:cubicBezTo>
                  <a:pt x="32487" y="322595"/>
                  <a:pt x="45247" y="324387"/>
                  <a:pt x="53420" y="330925"/>
                </a:cubicBezTo>
                <a:cubicBezTo>
                  <a:pt x="59831" y="336054"/>
                  <a:pt x="62973" y="345984"/>
                  <a:pt x="70837" y="348343"/>
                </a:cubicBezTo>
                <a:cubicBezTo>
                  <a:pt x="93253" y="355068"/>
                  <a:pt x="117282" y="354148"/>
                  <a:pt x="140505" y="357051"/>
                </a:cubicBezTo>
                <a:cubicBezTo>
                  <a:pt x="218882" y="351245"/>
                  <a:pt x="298188" y="352987"/>
                  <a:pt x="375637" y="339634"/>
                </a:cubicBezTo>
                <a:cubicBezTo>
                  <a:pt x="388545" y="337408"/>
                  <a:pt x="398164" y="295778"/>
                  <a:pt x="401762" y="287383"/>
                </a:cubicBezTo>
                <a:cubicBezTo>
                  <a:pt x="406876" y="275450"/>
                  <a:pt x="414066" y="264481"/>
                  <a:pt x="419180" y="252548"/>
                </a:cubicBezTo>
                <a:cubicBezTo>
                  <a:pt x="430872" y="225266"/>
                  <a:pt x="431379" y="205480"/>
                  <a:pt x="436597" y="174171"/>
                </a:cubicBezTo>
                <a:cubicBezTo>
                  <a:pt x="430791" y="145142"/>
                  <a:pt x="428542" y="115169"/>
                  <a:pt x="419180" y="87085"/>
                </a:cubicBezTo>
                <a:cubicBezTo>
                  <a:pt x="416584" y="79296"/>
                  <a:pt x="408331" y="74594"/>
                  <a:pt x="401762" y="69668"/>
                </a:cubicBezTo>
                <a:cubicBezTo>
                  <a:pt x="291925" y="-12708"/>
                  <a:pt x="391273" y="60070"/>
                  <a:pt x="323385" y="26125"/>
                </a:cubicBezTo>
                <a:cubicBezTo>
                  <a:pt x="255866" y="-7635"/>
                  <a:pt x="336796" y="21886"/>
                  <a:pt x="271134" y="0"/>
                </a:cubicBezTo>
                <a:cubicBezTo>
                  <a:pt x="222350" y="5420"/>
                  <a:pt x="193585" y="6324"/>
                  <a:pt x="149214" y="17417"/>
                </a:cubicBezTo>
                <a:cubicBezTo>
                  <a:pt x="140308" y="19643"/>
                  <a:pt x="131797" y="23222"/>
                  <a:pt x="123088" y="26125"/>
                </a:cubicBezTo>
                <a:cubicBezTo>
                  <a:pt x="117282" y="31931"/>
                  <a:pt x="109895" y="36502"/>
                  <a:pt x="105671" y="43543"/>
                </a:cubicBezTo>
                <a:cubicBezTo>
                  <a:pt x="94208" y="62648"/>
                  <a:pt x="96962" y="74986"/>
                  <a:pt x="96962" y="957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761581" y="5755878"/>
            <a:ext cx="0" cy="16192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5620562" y="5509815"/>
            <a:ext cx="328612" cy="212725"/>
          </a:xfrm>
          <a:custGeom>
            <a:avLst/>
            <a:gdLst>
              <a:gd name="connsiteX0" fmla="*/ 149214 w 436597"/>
              <a:gd name="connsiteY0" fmla="*/ 69668 h 357051"/>
              <a:gd name="connsiteX1" fmla="*/ 53420 w 436597"/>
              <a:gd name="connsiteY1" fmla="*/ 130628 h 357051"/>
              <a:gd name="connsiteX2" fmla="*/ 18585 w 436597"/>
              <a:gd name="connsiteY2" fmla="*/ 165463 h 357051"/>
              <a:gd name="connsiteX3" fmla="*/ 1168 w 436597"/>
              <a:gd name="connsiteY3" fmla="*/ 217714 h 357051"/>
              <a:gd name="connsiteX4" fmla="*/ 18585 w 436597"/>
              <a:gd name="connsiteY4" fmla="*/ 269965 h 357051"/>
              <a:gd name="connsiteX5" fmla="*/ 27294 w 436597"/>
              <a:gd name="connsiteY5" fmla="*/ 313508 h 357051"/>
              <a:gd name="connsiteX6" fmla="*/ 53420 w 436597"/>
              <a:gd name="connsiteY6" fmla="*/ 330925 h 357051"/>
              <a:gd name="connsiteX7" fmla="*/ 70837 w 436597"/>
              <a:gd name="connsiteY7" fmla="*/ 348343 h 357051"/>
              <a:gd name="connsiteX8" fmla="*/ 140505 w 436597"/>
              <a:gd name="connsiteY8" fmla="*/ 357051 h 357051"/>
              <a:gd name="connsiteX9" fmla="*/ 375637 w 436597"/>
              <a:gd name="connsiteY9" fmla="*/ 339634 h 357051"/>
              <a:gd name="connsiteX10" fmla="*/ 401762 w 436597"/>
              <a:gd name="connsiteY10" fmla="*/ 287383 h 357051"/>
              <a:gd name="connsiteX11" fmla="*/ 419180 w 436597"/>
              <a:gd name="connsiteY11" fmla="*/ 252548 h 357051"/>
              <a:gd name="connsiteX12" fmla="*/ 436597 w 436597"/>
              <a:gd name="connsiteY12" fmla="*/ 174171 h 357051"/>
              <a:gd name="connsiteX13" fmla="*/ 419180 w 436597"/>
              <a:gd name="connsiteY13" fmla="*/ 87085 h 357051"/>
              <a:gd name="connsiteX14" fmla="*/ 401762 w 436597"/>
              <a:gd name="connsiteY14" fmla="*/ 69668 h 357051"/>
              <a:gd name="connsiteX15" fmla="*/ 323385 w 436597"/>
              <a:gd name="connsiteY15" fmla="*/ 26125 h 357051"/>
              <a:gd name="connsiteX16" fmla="*/ 271134 w 436597"/>
              <a:gd name="connsiteY16" fmla="*/ 0 h 357051"/>
              <a:gd name="connsiteX17" fmla="*/ 149214 w 436597"/>
              <a:gd name="connsiteY17" fmla="*/ 17417 h 357051"/>
              <a:gd name="connsiteX18" fmla="*/ 123088 w 436597"/>
              <a:gd name="connsiteY18" fmla="*/ 26125 h 357051"/>
              <a:gd name="connsiteX19" fmla="*/ 105671 w 436597"/>
              <a:gd name="connsiteY19" fmla="*/ 43543 h 357051"/>
              <a:gd name="connsiteX20" fmla="*/ 96962 w 436597"/>
              <a:gd name="connsiteY20" fmla="*/ 95794 h 35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6597" h="357051">
                <a:moveTo>
                  <a:pt x="149214" y="69668"/>
                </a:moveTo>
                <a:cubicBezTo>
                  <a:pt x="90528" y="93142"/>
                  <a:pt x="109113" y="80504"/>
                  <a:pt x="53420" y="130628"/>
                </a:cubicBezTo>
                <a:cubicBezTo>
                  <a:pt x="41214" y="141613"/>
                  <a:pt x="18585" y="165463"/>
                  <a:pt x="18585" y="165463"/>
                </a:cubicBezTo>
                <a:cubicBezTo>
                  <a:pt x="12779" y="182880"/>
                  <a:pt x="-4638" y="200297"/>
                  <a:pt x="1168" y="217714"/>
                </a:cubicBezTo>
                <a:cubicBezTo>
                  <a:pt x="6974" y="235131"/>
                  <a:pt x="14984" y="251962"/>
                  <a:pt x="18585" y="269965"/>
                </a:cubicBezTo>
                <a:cubicBezTo>
                  <a:pt x="21488" y="284479"/>
                  <a:pt x="19950" y="300657"/>
                  <a:pt x="27294" y="313508"/>
                </a:cubicBezTo>
                <a:cubicBezTo>
                  <a:pt x="32487" y="322595"/>
                  <a:pt x="45247" y="324387"/>
                  <a:pt x="53420" y="330925"/>
                </a:cubicBezTo>
                <a:cubicBezTo>
                  <a:pt x="59831" y="336054"/>
                  <a:pt x="62973" y="345984"/>
                  <a:pt x="70837" y="348343"/>
                </a:cubicBezTo>
                <a:cubicBezTo>
                  <a:pt x="93253" y="355068"/>
                  <a:pt x="117282" y="354148"/>
                  <a:pt x="140505" y="357051"/>
                </a:cubicBezTo>
                <a:cubicBezTo>
                  <a:pt x="218882" y="351245"/>
                  <a:pt x="298188" y="352987"/>
                  <a:pt x="375637" y="339634"/>
                </a:cubicBezTo>
                <a:cubicBezTo>
                  <a:pt x="388545" y="337408"/>
                  <a:pt x="398164" y="295778"/>
                  <a:pt x="401762" y="287383"/>
                </a:cubicBezTo>
                <a:cubicBezTo>
                  <a:pt x="406876" y="275450"/>
                  <a:pt x="414066" y="264481"/>
                  <a:pt x="419180" y="252548"/>
                </a:cubicBezTo>
                <a:cubicBezTo>
                  <a:pt x="430872" y="225266"/>
                  <a:pt x="431379" y="205480"/>
                  <a:pt x="436597" y="174171"/>
                </a:cubicBezTo>
                <a:cubicBezTo>
                  <a:pt x="430791" y="145142"/>
                  <a:pt x="428542" y="115169"/>
                  <a:pt x="419180" y="87085"/>
                </a:cubicBezTo>
                <a:cubicBezTo>
                  <a:pt x="416584" y="79296"/>
                  <a:pt x="408331" y="74594"/>
                  <a:pt x="401762" y="69668"/>
                </a:cubicBezTo>
                <a:cubicBezTo>
                  <a:pt x="291925" y="-12708"/>
                  <a:pt x="391273" y="60070"/>
                  <a:pt x="323385" y="26125"/>
                </a:cubicBezTo>
                <a:cubicBezTo>
                  <a:pt x="255866" y="-7635"/>
                  <a:pt x="336796" y="21886"/>
                  <a:pt x="271134" y="0"/>
                </a:cubicBezTo>
                <a:cubicBezTo>
                  <a:pt x="222350" y="5420"/>
                  <a:pt x="193585" y="6324"/>
                  <a:pt x="149214" y="17417"/>
                </a:cubicBezTo>
                <a:cubicBezTo>
                  <a:pt x="140308" y="19643"/>
                  <a:pt x="131797" y="23222"/>
                  <a:pt x="123088" y="26125"/>
                </a:cubicBezTo>
                <a:cubicBezTo>
                  <a:pt x="117282" y="31931"/>
                  <a:pt x="109895" y="36502"/>
                  <a:pt x="105671" y="43543"/>
                </a:cubicBezTo>
                <a:cubicBezTo>
                  <a:pt x="94208" y="62648"/>
                  <a:pt x="96962" y="74986"/>
                  <a:pt x="96962" y="957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784868" y="5724033"/>
            <a:ext cx="0" cy="16192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="" xmlns:a16="http://schemas.microsoft.com/office/drawing/2014/main" id="{61426A4A-C997-46EB-9825-B2E390442693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34" name="文本框 60">
              <a:extLst>
                <a:ext uri="{FF2B5EF4-FFF2-40B4-BE49-F238E27FC236}">
                  <a16:creationId xmlns="" xmlns:a16="http://schemas.microsoft.com/office/drawing/2014/main" id="{4B3978E8-1162-45A2-B2A9-05911E44A469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热电偶的主要特性参数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="" xmlns:a16="http://schemas.microsoft.com/office/drawing/2014/main" id="{5D085113-A134-420B-BBF8-2B662E7B5757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="" xmlns:a16="http://schemas.microsoft.com/office/drawing/2014/main" id="{7D0F5E07-195E-4AD6-AEDC-F01ADC7700F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="" xmlns:a16="http://schemas.microsoft.com/office/drawing/2014/main" id="{6DCF5462-5CD1-4397-8FB3-DC72C5F9FC9F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接连接符 58">
              <a:extLst>
                <a:ext uri="{FF2B5EF4-FFF2-40B4-BE49-F238E27FC236}">
                  <a16:creationId xmlns="" xmlns:a16="http://schemas.microsoft.com/office/drawing/2014/main" id="{8B0C5656-A188-4097-A68C-00731DC392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>
              <a:extLst>
                <a:ext uri="{FF2B5EF4-FFF2-40B4-BE49-F238E27FC236}">
                  <a16:creationId xmlns="" xmlns:a16="http://schemas.microsoft.com/office/drawing/2014/main" id="{465725C0-035A-4504-A41B-756D2B2006D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="" xmlns:a16="http://schemas.microsoft.com/office/drawing/2014/main" id="{F03016D7-1C5A-4F0E-9702-B4280081F22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Graphic spid="7" grpId="0">
        <p:bldAsOne/>
      </p:bldGraphic>
      <p:bldP spid="3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1"/>
          <p:cNvSpPr txBox="1">
            <a:spLocks noChangeArrowheads="1"/>
          </p:cNvSpPr>
          <p:nvPr/>
        </p:nvSpPr>
        <p:spPr bwMode="auto">
          <a:xfrm>
            <a:off x="1326715" y="1152718"/>
            <a:ext cx="4000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热响应时间</a:t>
            </a:r>
            <a:r>
              <a:rPr lang="zh-CN" altLang="en-US" sz="2400" b="1" dirty="0" smtClean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</a:t>
            </a:r>
            <a:r>
              <a:rPr lang="el-GR" altLang="zh-CN" sz="2400" b="1" dirty="0" smtClean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τ</a:t>
            </a:r>
            <a:r>
              <a:rPr lang="en-US" altLang="zh-CN" sz="2400" b="1" baseline="-25000" dirty="0" smtClean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endParaRPr lang="zh-CN" altLang="en-US" sz="2400" b="1" baseline="-25000" dirty="0">
              <a:solidFill>
                <a:srgbClr val="0943E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1478020" y="1536319"/>
            <a:ext cx="7871593" cy="113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比较长：约为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几十毫秒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适用于探测恒定或低频（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几十赫兹）的光辐射</a:t>
            </a:r>
          </a:p>
        </p:txBody>
      </p:sp>
      <p:sp>
        <p:nvSpPr>
          <p:cNvPr id="47109" name="TextBox 1"/>
          <p:cNvSpPr txBox="1">
            <a:spLocks noChangeArrowheads="1"/>
          </p:cNvSpPr>
          <p:nvPr/>
        </p:nvSpPr>
        <p:spPr bwMode="auto">
          <a:xfrm>
            <a:off x="1456793" y="2706129"/>
            <a:ext cx="3786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热电偶的内阻</a:t>
            </a:r>
          </a:p>
        </p:txBody>
      </p:sp>
      <p:sp>
        <p:nvSpPr>
          <p:cNvPr id="47110" name="TextBox 2"/>
          <p:cNvSpPr txBox="1">
            <a:spLocks noChangeArrowheads="1"/>
          </p:cNvSpPr>
          <p:nvPr/>
        </p:nvSpPr>
        <p:spPr bwMode="auto">
          <a:xfrm>
            <a:off x="1450506" y="3183018"/>
            <a:ext cx="120330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决定于所用的热敏材料及结构：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几十欧姆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为了与后续的放大器的阻抗相匹配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只能利用变压器放大技术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使装置的结构复杂化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69A45F96-43C5-4A1D-98BC-0FE6834C535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" name="文本框 60">
              <a:extLst>
                <a:ext uri="{FF2B5EF4-FFF2-40B4-BE49-F238E27FC236}">
                  <a16:creationId xmlns="" xmlns:a16="http://schemas.microsoft.com/office/drawing/2014/main" id="{A6EF8BA8-5FAA-495C-A659-0890E9B84000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热电偶的主要特性参数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31D54012-F40E-4D93-B7E5-40CE5A119C27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C899D054-97B9-4CB9-8CE6-6DD969A436A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="" xmlns:a16="http://schemas.microsoft.com/office/drawing/2014/main" id="{6D58951C-3AB5-497F-95E2-AD9778373AE2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58">
              <a:extLst>
                <a:ext uri="{FF2B5EF4-FFF2-40B4-BE49-F238E27FC236}">
                  <a16:creationId xmlns="" xmlns:a16="http://schemas.microsoft.com/office/drawing/2014/main" id="{B8C3386F-FBE1-420A-91E4-9D27884247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6D06DA7C-D0B7-4AB6-B4A7-40F67EB3C16E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="" xmlns:a16="http://schemas.microsoft.com/office/drawing/2014/main" id="{B4021E09-6DD2-4A6F-A629-E36E63D2057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  <p:sp>
        <p:nvSpPr>
          <p:cNvPr id="25" name="TextBox 1"/>
          <p:cNvSpPr txBox="1">
            <a:spLocks noChangeArrowheads="1"/>
          </p:cNvSpPr>
          <p:nvPr/>
        </p:nvSpPr>
        <p:spPr bwMode="auto">
          <a:xfrm>
            <a:off x="1400232" y="4391716"/>
            <a:ext cx="378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噪声等效功率</a:t>
            </a:r>
            <a:r>
              <a:rPr lang="en-US" altLang="zh-CN" sz="2400" b="1" dirty="0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NEP</a:t>
            </a:r>
            <a:endParaRPr lang="zh-CN" altLang="en-US" sz="2400" b="1" dirty="0">
              <a:solidFill>
                <a:srgbClr val="0943E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2"/>
          <p:cNvSpPr txBox="1">
            <a:spLocks noChangeArrowheads="1"/>
          </p:cNvSpPr>
          <p:nvPr/>
        </p:nvSpPr>
        <p:spPr bwMode="auto">
          <a:xfrm>
            <a:off x="1478020" y="4804997"/>
            <a:ext cx="74168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部分噪声：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热噪声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热电偶具有的欧姆电阻所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引起</a:t>
            </a:r>
            <a:endParaRPr lang="en-US" altLang="zh-CN" sz="2400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温度噪声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电磁辐射面温度起伏所产生噪声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TextBox 1"/>
          <p:cNvSpPr txBox="1">
            <a:spLocks noChangeArrowheads="1"/>
          </p:cNvSpPr>
          <p:nvPr/>
        </p:nvSpPr>
        <p:spPr bwMode="auto">
          <a:xfrm>
            <a:off x="2610322" y="6785770"/>
            <a:ext cx="5680075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*半导体热电偶的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NEP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</a:t>
            </a:r>
            <a:r>
              <a:rPr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-11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endParaRPr lang="zh-CN" altLang="en-US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9" grpId="0"/>
      <p:bldP spid="47110" grpId="0"/>
      <p:bldP spid="25" grpId="0"/>
      <p:bldP spid="26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082" y="3133727"/>
            <a:ext cx="8280400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25"/>
          <p:cNvSpPr txBox="1">
            <a:spLocks noChangeArrowheads="1"/>
          </p:cNvSpPr>
          <p:nvPr/>
        </p:nvSpPr>
        <p:spPr bwMode="auto">
          <a:xfrm>
            <a:off x="3501234" y="1982790"/>
            <a:ext cx="6791325" cy="522287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2800" b="1">
                <a:solidFill>
                  <a:srgbClr val="0943E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Single element Thermopile Detectors</a:t>
            </a:r>
            <a:endParaRPr lang="zh-CN" altLang="en-US" sz="2800" b="1">
              <a:solidFill>
                <a:srgbClr val="0943E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8"/>
          <p:cNvSpPr>
            <a:spLocks noChangeArrowheads="1"/>
          </p:cNvSpPr>
          <p:nvPr/>
        </p:nvSpPr>
        <p:spPr bwMode="auto">
          <a:xfrm>
            <a:off x="4554192" y="2493133"/>
            <a:ext cx="17235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电压灵敏度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5167764" y="5246639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热响应时间常数</a:t>
            </a:r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auto">
          <a:xfrm>
            <a:off x="8010924" y="5246639"/>
            <a:ext cx="20313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噪声等效功率</a:t>
            </a:r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auto">
          <a:xfrm>
            <a:off x="7146580" y="2493133"/>
            <a:ext cx="12239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内阻</a:t>
            </a:r>
          </a:p>
        </p:txBody>
      </p:sp>
      <p:sp>
        <p:nvSpPr>
          <p:cNvPr id="10" name="AutoShape 33"/>
          <p:cNvSpPr>
            <a:spLocks noChangeArrowheads="1"/>
          </p:cNvSpPr>
          <p:nvPr/>
        </p:nvSpPr>
        <p:spPr bwMode="auto">
          <a:xfrm>
            <a:off x="5274471" y="2903538"/>
            <a:ext cx="504825" cy="2714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DE8A2E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AutoShape 34"/>
          <p:cNvSpPr>
            <a:spLocks noChangeArrowheads="1"/>
          </p:cNvSpPr>
          <p:nvPr/>
        </p:nvSpPr>
        <p:spPr bwMode="auto">
          <a:xfrm>
            <a:off x="7479509" y="2903538"/>
            <a:ext cx="504825" cy="2714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DE8A2E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35"/>
          <p:cNvSpPr>
            <a:spLocks noChangeArrowheads="1"/>
          </p:cNvSpPr>
          <p:nvPr/>
        </p:nvSpPr>
        <p:spPr bwMode="auto">
          <a:xfrm>
            <a:off x="5993609" y="5116513"/>
            <a:ext cx="5048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DE8A2E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36"/>
          <p:cNvSpPr>
            <a:spLocks noChangeArrowheads="1"/>
          </p:cNvSpPr>
          <p:nvPr/>
        </p:nvSpPr>
        <p:spPr bwMode="auto">
          <a:xfrm>
            <a:off x="8730459" y="5116513"/>
            <a:ext cx="5048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DE8A2E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8875018" y="2474883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比探测率</a:t>
            </a:r>
          </a:p>
        </p:txBody>
      </p:sp>
      <p:sp>
        <p:nvSpPr>
          <p:cNvPr id="15" name="AutoShape 39"/>
          <p:cNvSpPr>
            <a:spLocks noChangeArrowheads="1"/>
          </p:cNvSpPr>
          <p:nvPr/>
        </p:nvSpPr>
        <p:spPr bwMode="auto">
          <a:xfrm>
            <a:off x="9451184" y="2903540"/>
            <a:ext cx="504825" cy="2698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DE8A2E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01444" y="3173413"/>
            <a:ext cx="649288" cy="1943100"/>
          </a:xfrm>
          <a:prstGeom prst="rect">
            <a:avLst/>
          </a:prstGeom>
          <a:solidFill>
            <a:srgbClr val="DE8A2E">
              <a:alpha val="30196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22169" y="3173413"/>
            <a:ext cx="611188" cy="1943100"/>
          </a:xfrm>
          <a:prstGeom prst="rect">
            <a:avLst/>
          </a:prstGeom>
          <a:solidFill>
            <a:srgbClr val="DE8A2E">
              <a:alpha val="30196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19157" y="3189290"/>
            <a:ext cx="881062" cy="1944687"/>
          </a:xfrm>
          <a:prstGeom prst="rect">
            <a:avLst/>
          </a:prstGeom>
          <a:solidFill>
            <a:srgbClr val="DE8A2E">
              <a:alpha val="30196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681244" y="3189290"/>
            <a:ext cx="539750" cy="1944687"/>
          </a:xfrm>
          <a:prstGeom prst="rect">
            <a:avLst/>
          </a:prstGeom>
          <a:solidFill>
            <a:srgbClr val="DE8A2E">
              <a:alpha val="30196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79744" y="3179763"/>
            <a:ext cx="647700" cy="1943100"/>
          </a:xfrm>
          <a:prstGeom prst="rect">
            <a:avLst/>
          </a:prstGeom>
          <a:solidFill>
            <a:srgbClr val="DE8A2E">
              <a:alpha val="30196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="" xmlns:a16="http://schemas.microsoft.com/office/drawing/2014/main" id="{3A489016-42D5-4964-83E0-6FB386EE221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5" name="文本框 60">
              <a:extLst>
                <a:ext uri="{FF2B5EF4-FFF2-40B4-BE49-F238E27FC236}">
                  <a16:creationId xmlns="" xmlns:a16="http://schemas.microsoft.com/office/drawing/2014/main" id="{3ABA59C5-42B4-4235-9505-6D67A5B06AB3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热电偶的主要特性参数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E618C5E5-DCBE-417E-B588-9C2F3E00A42F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="" xmlns:a16="http://schemas.microsoft.com/office/drawing/2014/main" id="{38625D11-0FB1-4155-BF92-F235D25EA05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="" xmlns:a16="http://schemas.microsoft.com/office/drawing/2014/main" id="{9E82A5D6-EA8F-40ED-8DAE-092BDF064666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58">
              <a:extLst>
                <a:ext uri="{FF2B5EF4-FFF2-40B4-BE49-F238E27FC236}">
                  <a16:creationId xmlns="" xmlns:a16="http://schemas.microsoft.com/office/drawing/2014/main" id="{711AF48E-DBA2-43A3-83C1-0F4AA57593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="" xmlns:a16="http://schemas.microsoft.com/office/drawing/2014/main" id="{0B33B39C-7E49-45EB-BB60-6FEB9EE99F5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="" xmlns:a16="http://schemas.microsoft.com/office/drawing/2014/main" id="{EA1E8F95-5B15-472C-8077-BC0ED15E9898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2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热电偶的主要特性参数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热电堆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6.2.3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234059" y="293282"/>
            <a:ext cx="1050566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28394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818" y="1724549"/>
            <a:ext cx="3490912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098154" y="1900532"/>
            <a:ext cx="5976664" cy="342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多个热电偶串联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响应快、灵敏度高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多块辐射接收面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结构层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内阻：热电偶内阻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之和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输出电压：热电偶温差电动势之和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421218"/>
              </p:ext>
            </p:extLst>
          </p:nvPr>
        </p:nvGraphicFramePr>
        <p:xfrm>
          <a:off x="5118242" y="4105596"/>
          <a:ext cx="18732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4" imgW="1091726" imgH="444307" progId="Equation.DSMT4">
                  <p:embed/>
                </p:oleObj>
              </mc:Choice>
              <mc:Fallback>
                <p:oleObj name="Equation" r:id="rId4" imgW="1091726" imgH="444307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242" y="4105596"/>
                        <a:ext cx="18732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975842"/>
              </p:ext>
            </p:extLst>
          </p:nvPr>
        </p:nvGraphicFramePr>
        <p:xfrm>
          <a:off x="4995993" y="5521723"/>
          <a:ext cx="23717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Equation" r:id="rId6" imgW="1409400" imgH="444240" progId="Equation.DSMT4">
                  <p:embed/>
                </p:oleObj>
              </mc:Choice>
              <mc:Fallback>
                <p:oleObj name="Equation" r:id="rId6" imgW="1409400" imgH="44424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993" y="5521723"/>
                        <a:ext cx="237172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520642" y="6472354"/>
            <a:ext cx="6120680" cy="5232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最小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可检测温差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=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单个热电偶的</a:t>
            </a:r>
            <a:r>
              <a:rPr lang="en-US" altLang="zh-CN" sz="2800" b="1" dirty="0">
                <a:solidFill>
                  <a:srgbClr val="FFFF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1/n</a:t>
            </a:r>
            <a:endParaRPr lang="zh-CN" altLang="en-US" sz="2800" b="1" dirty="0">
              <a:solidFill>
                <a:srgbClr val="FFFF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98"/>
          <a:stretch>
            <a:fillRect/>
          </a:stretch>
        </p:blipFill>
        <p:spPr bwMode="auto">
          <a:xfrm>
            <a:off x="9035395" y="1516150"/>
            <a:ext cx="23653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453133D8-CB06-4B56-89EC-4AEAF01D21B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="" xmlns:a16="http://schemas.microsoft.com/office/drawing/2014/main" id="{7D6A525B-C5C0-4357-BD12-FDE98FAA9C85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热电偶的主要特性参数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DD145E39-C3A9-41EB-BF75-B8A46AB886D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EEC05D6E-4866-411F-979A-6A7F3171982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="" xmlns:a16="http://schemas.microsoft.com/office/drawing/2014/main" id="{AE1BD01D-50DB-4E7D-86E6-C5207090C39C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="" xmlns:a16="http://schemas.microsoft.com/office/drawing/2014/main" id="{C9D50C72-4E0A-4139-810C-1CE7CFD39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880A8FF0-43E2-49AE-AD5C-5F9A396A5AC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18AA74F3-E263-4332-A551-F32EFE061899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热电偶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堆的应用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热电偶</a:t>
            </a:r>
            <a:r>
              <a:rPr kumimoji="1"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堆的应用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6.2.4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234059" y="293282"/>
            <a:ext cx="1050566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6.2.4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624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273549" y="1727334"/>
            <a:ext cx="5509047" cy="38625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金属表面测温</a:t>
            </a:r>
            <a:endParaRPr lang="en-US" altLang="zh-CN" sz="2800" b="1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marL="1200150" lvl="1" indent="-457200" eaLnBrk="1" hangingPunct="1">
              <a:lnSpc>
                <a:spcPct val="150000"/>
              </a:lnSpc>
              <a:buFontTx/>
              <a:buChar char="–"/>
              <a:defRPr/>
            </a:pPr>
            <a:r>
              <a:rPr lang="zh-CN" altLang="en-US" sz="2400" dirty="0">
                <a:latin typeface="华文琥珀" pitchFamily="2" charset="-122"/>
                <a:ea typeface="华文琥珀" pitchFamily="2" charset="-122"/>
              </a:rPr>
              <a:t>大型发电机、轮机轴承及机身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marL="1200150" lvl="1" indent="-457200" eaLnBrk="1" hangingPunct="1">
              <a:lnSpc>
                <a:spcPct val="150000"/>
              </a:lnSpc>
              <a:spcBef>
                <a:spcPts val="600"/>
              </a:spcBef>
              <a:buFontTx/>
              <a:buChar char="–"/>
              <a:defRPr/>
            </a:pPr>
            <a:r>
              <a:rPr lang="zh-CN" altLang="en-US" sz="2400" dirty="0">
                <a:latin typeface="华文琥珀" pitchFamily="2" charset="-122"/>
                <a:ea typeface="华文琥珀" pitchFamily="2" charset="-122"/>
              </a:rPr>
              <a:t>不同安装方法：粘接、焊接</a:t>
            </a:r>
            <a:r>
              <a:rPr lang="en-US" altLang="zh-CN" sz="2400" dirty="0">
                <a:latin typeface="华文琥珀" pitchFamily="2" charset="-122"/>
                <a:ea typeface="华文琥珀" pitchFamily="2" charset="-122"/>
              </a:rPr>
              <a:t> 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加热容器内部测温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作为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电源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MEMs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热电堆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pic>
        <p:nvPicPr>
          <p:cNvPr id="1946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332" y="2292352"/>
            <a:ext cx="4049712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57" y="2849563"/>
            <a:ext cx="4176712" cy="218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196" y="4144963"/>
            <a:ext cx="192087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521" y="4144965"/>
            <a:ext cx="3292475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934" y="4865688"/>
            <a:ext cx="17176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B1F32E50-283A-4F20-999A-DCBC55393732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="" xmlns:a16="http://schemas.microsoft.com/office/drawing/2014/main" id="{FCC45BF6-F474-49E0-A17C-002E555C1BC2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热电偶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堆的应用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00D3AB28-9CF1-48AA-BB5A-5284BDF6BF4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06420578-2518-450C-9369-BAA5C3B8C75B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="" xmlns:a16="http://schemas.microsoft.com/office/drawing/2014/main" id="{140B81F3-3415-4BEA-993E-49B9BC2A58C7}"/>
                </a:ext>
              </a:extLst>
            </p:cNvPr>
            <p:cNvSpPr/>
            <p:nvPr/>
          </p:nvSpPr>
          <p:spPr>
            <a:xfrm>
              <a:off x="234059" y="293282"/>
              <a:ext cx="1050566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6.2.4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="" xmlns:a16="http://schemas.microsoft.com/office/drawing/2014/main" id="{8022C75F-9E83-430F-BA82-60D0A308F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EDF2C182-1FF8-4FA5-8D60-7C92E3C56F5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77467BF4-E0FF-4C96-B0CA-F78CC2EE36C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光电技术模板-课堂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yyp</Template>
  <TotalTime>5129</TotalTime>
  <Words>614</Words>
  <Application>Microsoft Office PowerPoint</Application>
  <PresentationFormat>自定义</PresentationFormat>
  <Paragraphs>154</Paragraphs>
  <Slides>16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Yu Gothic UI</vt:lpstr>
      <vt:lpstr>阿里巴巴普惠体 M</vt:lpstr>
      <vt:lpstr>阿里巴巴普惠体 R</vt:lpstr>
      <vt:lpstr>冬青黑体简体中文 W3</vt:lpstr>
      <vt:lpstr>冬青黑体简体中文 W6</vt:lpstr>
      <vt:lpstr>黑体</vt:lpstr>
      <vt:lpstr>华文琥珀</vt:lpstr>
      <vt:lpstr>宋体</vt:lpstr>
      <vt:lpstr>Microsoft YaHei</vt:lpstr>
      <vt:lpstr>Microsoft YaHei</vt:lpstr>
      <vt:lpstr>Arial</vt:lpstr>
      <vt:lpstr>Calibri</vt:lpstr>
      <vt:lpstr>Microsoft Yi Baiti</vt:lpstr>
      <vt:lpstr>Symbol</vt:lpstr>
      <vt:lpstr>Times New Roman</vt:lpstr>
      <vt:lpstr>Wingdings</vt:lpstr>
      <vt:lpstr>光电技术模板-课堂</vt:lpstr>
      <vt:lpstr>Equation</vt:lpstr>
      <vt:lpstr>Visio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user</cp:lastModifiedBy>
  <cp:revision>388</cp:revision>
  <dcterms:created xsi:type="dcterms:W3CDTF">2012-11-04T01:26:07Z</dcterms:created>
  <dcterms:modified xsi:type="dcterms:W3CDTF">2022-10-11T09:33:43Z</dcterms:modified>
</cp:coreProperties>
</file>