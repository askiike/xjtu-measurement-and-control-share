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85" r:id="rId2"/>
    <p:sldId id="357" r:id="rId3"/>
    <p:sldId id="358" r:id="rId4"/>
    <p:sldId id="360" r:id="rId5"/>
    <p:sldId id="361" r:id="rId6"/>
    <p:sldId id="362" r:id="rId7"/>
    <p:sldId id="363" r:id="rId8"/>
    <p:sldId id="364" r:id="rId9"/>
    <p:sldId id="365" r:id="rId10"/>
    <p:sldId id="366" r:id="rId11"/>
    <p:sldId id="367" r:id="rId12"/>
    <p:sldId id="368" r:id="rId13"/>
    <p:sldId id="369" r:id="rId14"/>
    <p:sldId id="386" r:id="rId15"/>
    <p:sldId id="371" r:id="rId16"/>
    <p:sldId id="372" r:id="rId17"/>
    <p:sldId id="373" r:id="rId18"/>
    <p:sldId id="374" r:id="rId19"/>
    <p:sldId id="375" r:id="rId20"/>
    <p:sldId id="376" r:id="rId21"/>
    <p:sldId id="377" r:id="rId22"/>
    <p:sldId id="378" r:id="rId23"/>
    <p:sldId id="379" r:id="rId24"/>
    <p:sldId id="380" r:id="rId25"/>
    <p:sldId id="381" r:id="rId26"/>
    <p:sldId id="382" r:id="rId27"/>
    <p:sldId id="383" r:id="rId28"/>
    <p:sldId id="384" r:id="rId29"/>
  </p:sldIdLst>
  <p:sldSz cx="13717588" cy="77152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56" autoAdjust="0"/>
    <p:restoredTop sz="94660"/>
  </p:normalViewPr>
  <p:slideViewPr>
    <p:cSldViewPr snapToGrid="0">
      <p:cViewPr>
        <p:scale>
          <a:sx n="91" d="100"/>
          <a:sy n="91" d="100"/>
        </p:scale>
        <p:origin x="2316"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4.wmf"/><Relationship Id="rId7"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wmf"/><Relationship Id="rId7"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5" Type="http://schemas.openxmlformats.org/officeDocument/2006/relationships/image" Target="../media/image28.wmf"/><Relationship Id="rId4"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5" Type="http://schemas.openxmlformats.org/officeDocument/2006/relationships/image" Target="../media/image37.wmf"/><Relationship Id="rId4"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5" Type="http://schemas.openxmlformats.org/officeDocument/2006/relationships/image" Target="../media/image44.wmf"/><Relationship Id="rId4"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e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emf"/><Relationship Id="rId5" Type="http://schemas.openxmlformats.org/officeDocument/2006/relationships/image" Target="../media/image52.wmf"/><Relationship Id="rId4" Type="http://schemas.openxmlformats.org/officeDocument/2006/relationships/image" Target="../media/image51.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image" Target="../media/image54.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56.e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5" Type="http://schemas.openxmlformats.org/officeDocument/2006/relationships/image" Target="../media/image61.wmf"/><Relationship Id="rId4" Type="http://schemas.openxmlformats.org/officeDocument/2006/relationships/image" Target="../media/image60.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4.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714699" y="1262658"/>
            <a:ext cx="10288191" cy="2686050"/>
          </a:xfrm>
        </p:spPr>
        <p:txBody>
          <a:bodyPr anchor="b"/>
          <a:lstStyle>
            <a:lvl1pPr algn="ctr">
              <a:defRPr sz="6750"/>
            </a:lvl1pPr>
          </a:lstStyle>
          <a:p>
            <a:r>
              <a:rPr lang="zh-CN" altLang="en-US"/>
              <a:t>单击此处编辑母版标题样式</a:t>
            </a:r>
            <a:endParaRPr lang="en-US" dirty="0"/>
          </a:p>
        </p:txBody>
      </p:sp>
      <p:sp>
        <p:nvSpPr>
          <p:cNvPr id="3" name="Subtitle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785941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165305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35939" y="1923456"/>
            <a:ext cx="11831420" cy="3209329"/>
          </a:xfrm>
        </p:spPr>
        <p:txBody>
          <a:bodyPr anchor="b"/>
          <a:lstStyle>
            <a:lvl1pPr>
              <a:defRPr sz="6750"/>
            </a:lvl1pPr>
          </a:lstStyle>
          <a:p>
            <a:r>
              <a:rPr lang="zh-CN" altLang="en-US"/>
              <a:t>单击此处编辑母版标题样式</a:t>
            </a:r>
            <a:endParaRPr lang="en-US" dirty="0"/>
          </a:p>
        </p:txBody>
      </p:sp>
      <p:sp>
        <p:nvSpPr>
          <p:cNvPr id="3" name="Text Placeholder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250">
                <a:solidFill>
                  <a:schemeClr val="tx1">
                    <a:tint val="75000"/>
                  </a:schemeClr>
                </a:solidFill>
              </a:defRPr>
            </a:lvl2pPr>
            <a:lvl3pPr marL="1028700" indent="0">
              <a:buNone/>
              <a:defRPr sz="2025">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2454792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943084" y="2053828"/>
            <a:ext cx="5829975" cy="489525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944529" y="2053828"/>
            <a:ext cx="5829975" cy="489525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216077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944871" y="410766"/>
            <a:ext cx="11831420" cy="149125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编辑母版文本样式</a:t>
            </a:r>
          </a:p>
        </p:txBody>
      </p:sp>
      <p:sp>
        <p:nvSpPr>
          <p:cNvPr id="4" name="Content Placeholder 3"/>
          <p:cNvSpPr>
            <a:spLocks noGrp="1"/>
          </p:cNvSpPr>
          <p:nvPr>
            <p:ph sz="half" idx="2"/>
          </p:nvPr>
        </p:nvSpPr>
        <p:spPr>
          <a:xfrm>
            <a:off x="944872" y="2818209"/>
            <a:ext cx="5803182" cy="414516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编辑母版文本样式</a:t>
            </a:r>
          </a:p>
        </p:txBody>
      </p:sp>
      <p:sp>
        <p:nvSpPr>
          <p:cNvPr id="6" name="Content Placeholder 5"/>
          <p:cNvSpPr>
            <a:spLocks noGrp="1"/>
          </p:cNvSpPr>
          <p:nvPr>
            <p:ph sz="quarter" idx="4"/>
          </p:nvPr>
        </p:nvSpPr>
        <p:spPr>
          <a:xfrm>
            <a:off x="6944529" y="2818209"/>
            <a:ext cx="5831762" cy="414516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319874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3245150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1149751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a:xfrm>
            <a:off x="5831762" y="1110854"/>
            <a:ext cx="6944529" cy="5482828"/>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zh-CN" altLang="en-US"/>
              <a:t>编辑母版文本样式</a:t>
            </a:r>
          </a:p>
        </p:txBody>
      </p:sp>
      <p:sp>
        <p:nvSpPr>
          <p:cNvPr id="5" name="Date Placeholder 4"/>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2246764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831762" y="1110854"/>
            <a:ext cx="6944529" cy="5482828"/>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zh-CN" altLang="en-US"/>
              <a:t>单击图标添加图片</a:t>
            </a:r>
            <a:endParaRPr lang="en-US" dirty="0"/>
          </a:p>
        </p:txBody>
      </p:sp>
      <p:sp>
        <p:nvSpPr>
          <p:cNvPr id="4" name="Text Placeholder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zh-CN" altLang="en-US"/>
              <a:t>编辑母版文本样式</a:t>
            </a:r>
          </a:p>
        </p:txBody>
      </p:sp>
      <p:sp>
        <p:nvSpPr>
          <p:cNvPr id="5" name="Date Placeholder 4"/>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2292366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3774379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16649" y="410766"/>
            <a:ext cx="2957855" cy="653831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943084" y="410766"/>
            <a:ext cx="8702095" cy="653831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325D8D8-F536-4EF0-97E1-EE65AE66FE01}" type="datetimeFigureOut">
              <a:rPr lang="zh-CN" altLang="en-US" smtClean="0"/>
              <a:t>2022/10/26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986656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3084" y="410766"/>
            <a:ext cx="11831420" cy="149125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943084" y="2053828"/>
            <a:ext cx="11831420" cy="4895255"/>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943084" y="7150894"/>
            <a:ext cx="3086457" cy="410766"/>
          </a:xfrm>
          <a:prstGeom prst="rect">
            <a:avLst/>
          </a:prstGeom>
        </p:spPr>
        <p:txBody>
          <a:bodyPr vert="horz" lIns="91440" tIns="45720" rIns="91440" bIns="45720" rtlCol="0" anchor="ctr"/>
          <a:lstStyle>
            <a:lvl1pPr algn="l">
              <a:defRPr sz="1350">
                <a:solidFill>
                  <a:schemeClr val="tx1">
                    <a:tint val="75000"/>
                  </a:schemeClr>
                </a:solidFill>
              </a:defRPr>
            </a:lvl1pPr>
          </a:lstStyle>
          <a:p>
            <a:fld id="{D325D8D8-F536-4EF0-97E1-EE65AE66FE01}" type="datetimeFigureOut">
              <a:rPr lang="zh-CN" altLang="en-US" smtClean="0"/>
              <a:t>2022/10/26</a:t>
            </a:fld>
            <a:endParaRPr lang="zh-CN" altLang="en-US"/>
          </a:p>
        </p:txBody>
      </p:sp>
      <p:sp>
        <p:nvSpPr>
          <p:cNvPr id="5" name="Footer Placeholder 4"/>
          <p:cNvSpPr>
            <a:spLocks noGrp="1"/>
          </p:cNvSpPr>
          <p:nvPr>
            <p:ph type="ftr" sz="quarter" idx="3"/>
          </p:nvPr>
        </p:nvSpPr>
        <p:spPr>
          <a:xfrm>
            <a:off x="4543951" y="7150894"/>
            <a:ext cx="4629686" cy="410766"/>
          </a:xfrm>
          <a:prstGeom prst="rect">
            <a:avLst/>
          </a:prstGeom>
        </p:spPr>
        <p:txBody>
          <a:bodyPr vert="horz" lIns="91440" tIns="45720" rIns="91440" bIns="45720" rtlCol="0" anchor="ctr"/>
          <a:lstStyle>
            <a:lvl1pPr algn="ctr">
              <a:defRPr sz="135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9688047" y="7150894"/>
            <a:ext cx="3086457" cy="410766"/>
          </a:xfrm>
          <a:prstGeom prst="rect">
            <a:avLst/>
          </a:prstGeom>
        </p:spPr>
        <p:txBody>
          <a:bodyPr vert="horz" lIns="91440" tIns="45720" rIns="91440" bIns="45720" rtlCol="0" anchor="ctr"/>
          <a:lstStyle>
            <a:lvl1pPr algn="r">
              <a:defRPr sz="1350">
                <a:solidFill>
                  <a:schemeClr val="tx1">
                    <a:tint val="75000"/>
                  </a:schemeClr>
                </a:solidFill>
              </a:defRPr>
            </a:lvl1pPr>
          </a:lstStyle>
          <a:p>
            <a:fld id="{DDC1FE31-3204-4AD8-96F0-8A15269B6753}" type="slidenum">
              <a:rPr lang="zh-CN" altLang="en-US" smtClean="0"/>
              <a:t>‹#›</a:t>
            </a:fld>
            <a:endParaRPr lang="zh-CN" altLang="en-US"/>
          </a:p>
        </p:txBody>
      </p:sp>
    </p:spTree>
    <p:extLst>
      <p:ext uri="{BB962C8B-B14F-4D97-AF65-F5344CB8AC3E}">
        <p14:creationId xmlns:p14="http://schemas.microsoft.com/office/powerpoint/2010/main" val="1821276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6.bin"/><Relationship Id="rId18" Type="http://schemas.openxmlformats.org/officeDocument/2006/relationships/image" Target="../media/image9.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wmf"/><Relationship Id="rId17" Type="http://schemas.openxmlformats.org/officeDocument/2006/relationships/package" Target="../embeddings/Microsoft_Visio___1.vsdx"/><Relationship Id="rId2" Type="http://schemas.openxmlformats.org/officeDocument/2006/relationships/slideLayout" Target="../slideLayouts/slideLayout1.xml"/><Relationship Id="rId16" Type="http://schemas.openxmlformats.org/officeDocument/2006/relationships/image" Target="../media/image8.wmf"/><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 Id="rId14" Type="http://schemas.openxmlformats.org/officeDocument/2006/relationships/image" Target="../media/image7.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11.wmf"/><Relationship Id="rId5" Type="http://schemas.openxmlformats.org/officeDocument/2006/relationships/oleObject" Target="../embeddings/oleObject9.bin"/><Relationship Id="rId4" Type="http://schemas.openxmlformats.org/officeDocument/2006/relationships/image" Target="../media/image10.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6.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12.bin"/><Relationship Id="rId4" Type="http://schemas.openxmlformats.org/officeDocument/2006/relationships/image" Target="../media/image13.wmf"/></Relationships>
</file>

<file path=ppt/slides/_rels/slide7.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9.bin"/><Relationship Id="rId18" Type="http://schemas.openxmlformats.org/officeDocument/2006/relationships/image" Target="../media/image23.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20.wmf"/><Relationship Id="rId17" Type="http://schemas.openxmlformats.org/officeDocument/2006/relationships/oleObject" Target="../embeddings/oleObject21.bin"/><Relationship Id="rId2" Type="http://schemas.openxmlformats.org/officeDocument/2006/relationships/slideLayout" Target="../slideLayouts/slideLayout1.xml"/><Relationship Id="rId16" Type="http://schemas.openxmlformats.org/officeDocument/2006/relationships/image" Target="../media/image22.wmf"/><Relationship Id="rId1" Type="http://schemas.openxmlformats.org/officeDocument/2006/relationships/vmlDrawing" Target="../drawings/vmlDrawing5.vml"/><Relationship Id="rId6" Type="http://schemas.openxmlformats.org/officeDocument/2006/relationships/image" Target="../media/image17.w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19.wmf"/><Relationship Id="rId4" Type="http://schemas.openxmlformats.org/officeDocument/2006/relationships/image" Target="../media/image16.wmf"/><Relationship Id="rId9" Type="http://schemas.openxmlformats.org/officeDocument/2006/relationships/oleObject" Target="../embeddings/oleObject17.bin"/><Relationship Id="rId14" Type="http://schemas.openxmlformats.org/officeDocument/2006/relationships/image" Target="../media/image21.wmf"/></Relationships>
</file>

<file path=ppt/slides/_rels/slide8.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28.wmf"/><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25.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25.bin"/></Relationships>
</file>

<file path=ppt/slides/_rels/slide9.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30.wmf"/><Relationship Id="rId5" Type="http://schemas.openxmlformats.org/officeDocument/2006/relationships/oleObject" Target="../embeddings/oleObject28.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30.bin"/></Relationships>
</file>

<file path=ppt/slides/_rels/slide10.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37.wmf"/><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34.w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36.wmf"/><Relationship Id="rId4" Type="http://schemas.openxmlformats.org/officeDocument/2006/relationships/image" Target="../media/image33.wmf"/><Relationship Id="rId9" Type="http://schemas.openxmlformats.org/officeDocument/2006/relationships/oleObject" Target="../embeddings/oleObject34.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image" Target="../media/image39.wmf"/><Relationship Id="rId5" Type="http://schemas.openxmlformats.org/officeDocument/2006/relationships/oleObject" Target="../embeddings/oleObject37.bin"/><Relationship Id="rId4" Type="http://schemas.openxmlformats.org/officeDocument/2006/relationships/image" Target="../media/image38.wmf"/></Relationships>
</file>

<file path=ppt/slides/_rels/slide12.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38.bin"/><Relationship Id="rId7" Type="http://schemas.openxmlformats.org/officeDocument/2006/relationships/oleObject" Target="../embeddings/oleObject40.bin"/><Relationship Id="rId12" Type="http://schemas.openxmlformats.org/officeDocument/2006/relationships/image" Target="../media/image44.wmf"/><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image" Target="../media/image41.wmf"/><Relationship Id="rId11" Type="http://schemas.openxmlformats.org/officeDocument/2006/relationships/oleObject" Target="../embeddings/oleObject42.bin"/><Relationship Id="rId5" Type="http://schemas.openxmlformats.org/officeDocument/2006/relationships/oleObject" Target="../embeddings/oleObject39.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41.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1.xml"/><Relationship Id="rId1" Type="http://schemas.openxmlformats.org/officeDocument/2006/relationships/vmlDrawing" Target="../drawings/vmlDrawing11.vml"/><Relationship Id="rId4" Type="http://schemas.openxmlformats.org/officeDocument/2006/relationships/image" Target="../media/image45.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1.xml"/><Relationship Id="rId1" Type="http://schemas.openxmlformats.org/officeDocument/2006/relationships/vmlDrawing" Target="../drawings/vmlDrawing12.vml"/><Relationship Id="rId4" Type="http://schemas.openxmlformats.org/officeDocument/2006/relationships/image" Target="../media/image46.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1.xml"/><Relationship Id="rId1" Type="http://schemas.openxmlformats.org/officeDocument/2006/relationships/vmlDrawing" Target="../drawings/vmlDrawing13.vml"/><Relationship Id="rId4" Type="http://schemas.openxmlformats.org/officeDocument/2006/relationships/image" Target="../media/image46.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xml"/><Relationship Id="rId1" Type="http://schemas.openxmlformats.org/officeDocument/2006/relationships/vmlDrawing" Target="../drawings/vmlDrawing14.vml"/><Relationship Id="rId4" Type="http://schemas.openxmlformats.org/officeDocument/2006/relationships/image" Target="../media/image46.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1.xml"/><Relationship Id="rId1" Type="http://schemas.openxmlformats.org/officeDocument/2006/relationships/vmlDrawing" Target="../drawings/vmlDrawing15.vml"/><Relationship Id="rId4" Type="http://schemas.openxmlformats.org/officeDocument/2006/relationships/image" Target="../media/image46.emf"/></Relationships>
</file>

<file path=ppt/slides/_rels/slide21.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53.bin"/><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51.wmf"/><Relationship Id="rId2" Type="http://schemas.openxmlformats.org/officeDocument/2006/relationships/slideLayout" Target="../slideLayouts/slideLayout1.xml"/><Relationship Id="rId1" Type="http://schemas.openxmlformats.org/officeDocument/2006/relationships/vmlDrawing" Target="../drawings/vmlDrawing16.vml"/><Relationship Id="rId6" Type="http://schemas.openxmlformats.org/officeDocument/2006/relationships/image" Target="../media/image48.w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50.wmf"/><Relationship Id="rId4" Type="http://schemas.openxmlformats.org/officeDocument/2006/relationships/image" Target="../media/image47.emf"/><Relationship Id="rId9" Type="http://schemas.openxmlformats.org/officeDocument/2006/relationships/oleObject" Target="../embeddings/oleObject51.bin"/><Relationship Id="rId14" Type="http://schemas.openxmlformats.org/officeDocument/2006/relationships/image" Target="../media/image52.wmf"/></Relationships>
</file>

<file path=ppt/slides/_rels/slide22.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59.bin"/><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52.wmf"/><Relationship Id="rId2" Type="http://schemas.openxmlformats.org/officeDocument/2006/relationships/slideLayout" Target="../slideLayouts/slideLayout1.xml"/><Relationship Id="rId1" Type="http://schemas.openxmlformats.org/officeDocument/2006/relationships/vmlDrawing" Target="../drawings/vmlDrawing17.vml"/><Relationship Id="rId6" Type="http://schemas.openxmlformats.org/officeDocument/2006/relationships/image" Target="../media/image49.w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57.bin"/><Relationship Id="rId14" Type="http://schemas.openxmlformats.org/officeDocument/2006/relationships/image" Target="../media/image53.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1.xml"/><Relationship Id="rId1" Type="http://schemas.openxmlformats.org/officeDocument/2006/relationships/vmlDrawing" Target="../drawings/vmlDrawing18.vml"/><Relationship Id="rId6" Type="http://schemas.openxmlformats.org/officeDocument/2006/relationships/image" Target="../media/image55.emf"/><Relationship Id="rId5" Type="http://schemas.openxmlformats.org/officeDocument/2006/relationships/oleObject" Target="../embeddings/oleObject61.bin"/><Relationship Id="rId4" Type="http://schemas.openxmlformats.org/officeDocument/2006/relationships/image" Target="../media/image54.emf"/></Relationships>
</file>

<file path=ppt/slides/_rels/slide24.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67.bin"/><Relationship Id="rId3" Type="http://schemas.openxmlformats.org/officeDocument/2006/relationships/oleObject" Target="../embeddings/oleObject62.bin"/><Relationship Id="rId7" Type="http://schemas.openxmlformats.org/officeDocument/2006/relationships/oleObject" Target="../embeddings/oleObject64.bin"/><Relationship Id="rId12" Type="http://schemas.openxmlformats.org/officeDocument/2006/relationships/image" Target="../media/image51.wmf"/><Relationship Id="rId2" Type="http://schemas.openxmlformats.org/officeDocument/2006/relationships/slideLayout" Target="../slideLayouts/slideLayout1.xml"/><Relationship Id="rId1" Type="http://schemas.openxmlformats.org/officeDocument/2006/relationships/vmlDrawing" Target="../drawings/vmlDrawing19.vml"/><Relationship Id="rId6" Type="http://schemas.openxmlformats.org/officeDocument/2006/relationships/image" Target="../media/image48.wmf"/><Relationship Id="rId11" Type="http://schemas.openxmlformats.org/officeDocument/2006/relationships/oleObject" Target="../embeddings/oleObject66.bin"/><Relationship Id="rId5" Type="http://schemas.openxmlformats.org/officeDocument/2006/relationships/oleObject" Target="../embeddings/oleObject63.bin"/><Relationship Id="rId10" Type="http://schemas.openxmlformats.org/officeDocument/2006/relationships/image" Target="../media/image50.wmf"/><Relationship Id="rId4" Type="http://schemas.openxmlformats.org/officeDocument/2006/relationships/image" Target="../media/image56.emf"/><Relationship Id="rId9" Type="http://schemas.openxmlformats.org/officeDocument/2006/relationships/oleObject" Target="../embeddings/oleObject65.bin"/><Relationship Id="rId14" Type="http://schemas.openxmlformats.org/officeDocument/2006/relationships/image" Target="../media/image52.wmf"/></Relationships>
</file>

<file path=ppt/slides/_rels/slide25.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68.bin"/><Relationship Id="rId7" Type="http://schemas.openxmlformats.org/officeDocument/2006/relationships/oleObject" Target="../embeddings/oleObject70.bin"/><Relationship Id="rId12" Type="http://schemas.openxmlformats.org/officeDocument/2006/relationships/image" Target="../media/image61.wmf"/><Relationship Id="rId2" Type="http://schemas.openxmlformats.org/officeDocument/2006/relationships/slideLayout" Target="../slideLayouts/slideLayout1.xml"/><Relationship Id="rId1" Type="http://schemas.openxmlformats.org/officeDocument/2006/relationships/vmlDrawing" Target="../drawings/vmlDrawing20.vml"/><Relationship Id="rId6" Type="http://schemas.openxmlformats.org/officeDocument/2006/relationships/image" Target="../media/image58.wmf"/><Relationship Id="rId11" Type="http://schemas.openxmlformats.org/officeDocument/2006/relationships/oleObject" Target="../embeddings/oleObject72.bin"/><Relationship Id="rId5" Type="http://schemas.openxmlformats.org/officeDocument/2006/relationships/oleObject" Target="../embeddings/oleObject69.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71.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1.xml"/><Relationship Id="rId1" Type="http://schemas.openxmlformats.org/officeDocument/2006/relationships/vmlDrawing" Target="../drawings/vmlDrawing21.vml"/><Relationship Id="rId4" Type="http://schemas.openxmlformats.org/officeDocument/2006/relationships/image" Target="../media/image62.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1.xml"/><Relationship Id="rId1" Type="http://schemas.openxmlformats.org/officeDocument/2006/relationships/vmlDrawing" Target="../drawings/vmlDrawing22.vml"/><Relationship Id="rId4" Type="http://schemas.openxmlformats.org/officeDocument/2006/relationships/image" Target="../media/image63.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1.xml"/><Relationship Id="rId1" Type="http://schemas.openxmlformats.org/officeDocument/2006/relationships/vmlDrawing" Target="../drawings/vmlDrawing23.vml"/><Relationship Id="rId4" Type="http://schemas.openxmlformats.org/officeDocument/2006/relationships/image" Target="../media/image6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98" descr="光敏电阻1"/>
          <p:cNvPicPr>
            <a:picLocks noChangeAspect="1" noChangeArrowheads="1"/>
          </p:cNvPicPr>
          <p:nvPr/>
        </p:nvPicPr>
        <p:blipFill>
          <a:blip r:embed="rId2" cstate="print"/>
          <a:srcRect/>
          <a:stretch>
            <a:fillRect/>
          </a:stretch>
        </p:blipFill>
        <p:spPr bwMode="auto">
          <a:xfrm>
            <a:off x="4861033" y="1294796"/>
            <a:ext cx="8856555" cy="5111750"/>
          </a:xfrm>
          <a:prstGeom prst="rect">
            <a:avLst/>
          </a:prstGeom>
          <a:noFill/>
          <a:ln w="9525">
            <a:noFill/>
            <a:miter lim="800000"/>
            <a:headEnd/>
            <a:tailEnd/>
          </a:ln>
        </p:spPr>
      </p:pic>
      <p:sp>
        <p:nvSpPr>
          <p:cNvPr id="10" name="矩形 9">
            <a:extLst>
              <a:ext uri="{FF2B5EF4-FFF2-40B4-BE49-F238E27FC236}">
                <a16:creationId xmlns="" xmlns:a16="http://schemas.microsoft.com/office/drawing/2014/main"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3</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 xmlns:a16="http://schemas.microsoft.com/office/drawing/2014/main" id="{5441AE38-A11D-4793-BDA3-DCA36976B496}"/>
              </a:ext>
            </a:extLst>
          </p:cNvPr>
          <p:cNvSpPr/>
          <p:nvPr/>
        </p:nvSpPr>
        <p:spPr>
          <a:xfrm>
            <a:off x="3998268" y="2700290"/>
            <a:ext cx="5721052"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光电导探测器</a:t>
            </a:r>
          </a:p>
        </p:txBody>
      </p:sp>
      <p:sp>
        <p:nvSpPr>
          <p:cNvPr id="5" name="矩形 4">
            <a:extLst>
              <a:ext uri="{FF2B5EF4-FFF2-40B4-BE49-F238E27FC236}">
                <a16:creationId xmlns="" xmlns:a16="http://schemas.microsoft.com/office/drawing/2014/main"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 xmlns:a16="http://schemas.microsoft.com/office/drawing/2014/main"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 xmlns:a16="http://schemas.microsoft.com/office/drawing/2014/main" id="{1C44C9C7-7166-4DA9-8A1A-D2BB836F3F54}"/>
              </a:ext>
            </a:extLst>
          </p:cNvPr>
          <p:cNvSpPr/>
          <p:nvPr/>
        </p:nvSpPr>
        <p:spPr>
          <a:xfrm>
            <a:off x="1209675" y="4512279"/>
            <a:ext cx="6114161" cy="461665"/>
          </a:xfrm>
          <a:prstGeom prst="rect">
            <a:avLst/>
          </a:prstGeom>
          <a:noFill/>
        </p:spPr>
        <p:txBody>
          <a:bodyPr wrap="square" lIns="91440" tIns="45720" rIns="91440" bIns="45720">
            <a:spAutoFit/>
          </a:bodyPr>
          <a:lstStyle/>
          <a:p>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photoconductive detector</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 xmlns:a16="http://schemas.microsoft.com/office/drawing/2014/main"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60">
            <a:extLst>
              <a:ext uri="{FF2B5EF4-FFF2-40B4-BE49-F238E27FC236}">
                <a16:creationId xmlns="" xmlns:a16="http://schemas.microsoft.com/office/drawing/2014/main" id="{292AE523-EF75-4D14-90CD-475CC36EDEE0}"/>
              </a:ext>
            </a:extLst>
          </p:cNvPr>
          <p:cNvSpPr txBox="1"/>
          <p:nvPr/>
        </p:nvSpPr>
        <p:spPr>
          <a:xfrm>
            <a:off x="1412406" y="293282"/>
            <a:ext cx="2785725"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光电导探测器的偏置电路</a:t>
            </a:r>
          </a:p>
        </p:txBody>
      </p:sp>
      <p:sp>
        <p:nvSpPr>
          <p:cNvPr id="14" name="矩形 13">
            <a:extLst>
              <a:ext uri="{FF2B5EF4-FFF2-40B4-BE49-F238E27FC236}">
                <a16:creationId xmlns="" xmlns:a16="http://schemas.microsoft.com/office/drawing/2014/main" id="{5423E93E-537D-4B3F-A94F-5C14198A5D49}"/>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 xmlns:a16="http://schemas.microsoft.com/office/drawing/2014/main" id="{A85E5899-93AE-4FCB-A9BD-BB94A1832E07}"/>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 xmlns:a16="http://schemas.microsoft.com/office/drawing/2014/main" id="{625D85B9-F50F-4F36-AB46-62EF6AE1A125}"/>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 xmlns:a16="http://schemas.microsoft.com/office/drawing/2014/main" id="{67FD50A9-C81B-40F6-AB98-FE7FD3B08007}"/>
              </a:ext>
            </a:extLst>
          </p:cNvPr>
          <p:cNvCxnSpPr>
            <a:cxnSpLocks/>
          </p:cNvCxnSpPr>
          <p:nvPr/>
        </p:nvCxnSpPr>
        <p:spPr>
          <a:xfrm>
            <a:off x="1450506" y="710998"/>
            <a:ext cx="2700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 xmlns:a16="http://schemas.microsoft.com/office/drawing/2014/main" id="{DB2441A9-414E-42E4-9D22-AB3170DB4D93}"/>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圆角 20">
            <a:extLst>
              <a:ext uri="{FF2B5EF4-FFF2-40B4-BE49-F238E27FC236}">
                <a16:creationId xmlns="" xmlns:a16="http://schemas.microsoft.com/office/drawing/2014/main" id="{32B30129-0E4B-4419-8989-732291148038}"/>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a:solidFill>
                  <a:schemeClr val="bg1"/>
                </a:solidFill>
                <a:latin typeface="Microsoft YaHei" panose="020B0503020204020204" pitchFamily="34" charset="-122"/>
                <a:ea typeface="Microsoft YaHei" panose="020B0503020204020204" pitchFamily="34" charset="-122"/>
              </a:rPr>
              <a:t>光电导探测器的偏置电路</a:t>
            </a:r>
            <a:endParaRPr kumimoji="1" lang="zh-CN" altLang="en-US" sz="4400" b="1" dirty="0">
              <a:solidFill>
                <a:schemeClr val="bg1"/>
              </a:solidFill>
              <a:latin typeface="Microsoft YaHei" panose="020B0503020204020204" pitchFamily="34" charset="-122"/>
              <a:ea typeface="Microsoft YaHei" panose="020B0503020204020204" pitchFamily="34" charset="-122"/>
            </a:endParaRPr>
          </a:p>
        </p:txBody>
      </p:sp>
      <p:sp>
        <p:nvSpPr>
          <p:cNvPr id="22" name="矩形 21">
            <a:extLst>
              <a:ext uri="{FF2B5EF4-FFF2-40B4-BE49-F238E27FC236}">
                <a16:creationId xmlns="" xmlns:a16="http://schemas.microsoft.com/office/drawing/2014/main" id="{B10536AF-E79E-4DEA-A470-BA117D139E8F}"/>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3.4</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3" name="矩形 22">
            <a:extLst>
              <a:ext uri="{FF2B5EF4-FFF2-40B4-BE49-F238E27FC236}">
                <a16:creationId xmlns="" xmlns:a16="http://schemas.microsoft.com/office/drawing/2014/main" id="{A4B18D48-AE52-4EBB-8879-29582D61528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9872013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Box 4">
            <a:extLst>
              <a:ext uri="{FF2B5EF4-FFF2-40B4-BE49-F238E27FC236}">
                <a16:creationId xmlns="" xmlns:a16="http://schemas.microsoft.com/office/drawing/2014/main" id="{ECC73A20-866B-44DC-8314-68801F245545}"/>
              </a:ext>
            </a:extLst>
          </p:cNvPr>
          <p:cNvSpPr txBox="1">
            <a:spLocks noChangeArrowheads="1"/>
          </p:cNvSpPr>
          <p:nvPr/>
        </p:nvSpPr>
        <p:spPr bwMode="auto">
          <a:xfrm>
            <a:off x="727075" y="2701925"/>
            <a:ext cx="8216900" cy="457200"/>
          </a:xfrm>
          <a:prstGeom prst="rect">
            <a:avLst/>
          </a:prstGeom>
          <a:noFill/>
          <a:ln w="9525">
            <a:noFill/>
            <a:miter lim="800000"/>
            <a:headEnd/>
            <a:tailEnd/>
          </a:ln>
        </p:spPr>
        <p:txBody>
          <a:bodyPr>
            <a:spAutoFit/>
          </a:bodyPr>
          <a:lstStyle/>
          <a:p>
            <a:pPr defTabSz="914400">
              <a:spcBef>
                <a:spcPct val="50000"/>
              </a:spcBef>
            </a:pPr>
            <a:endParaRPr kumimoji="1" lang="zh-CN" altLang="en-US" sz="2400">
              <a:latin typeface="Times New Roman" pitchFamily="18" charset="0"/>
            </a:endParaRPr>
          </a:p>
        </p:txBody>
      </p:sp>
      <p:sp>
        <p:nvSpPr>
          <p:cNvPr id="50" name="Text Box 5">
            <a:extLst>
              <a:ext uri="{FF2B5EF4-FFF2-40B4-BE49-F238E27FC236}">
                <a16:creationId xmlns="" xmlns:a16="http://schemas.microsoft.com/office/drawing/2014/main" id="{780FC5BA-51A3-48A1-879B-D46AA7B9DACC}"/>
              </a:ext>
            </a:extLst>
          </p:cNvPr>
          <p:cNvSpPr txBox="1">
            <a:spLocks noChangeArrowheads="1"/>
          </p:cNvSpPr>
          <p:nvPr/>
        </p:nvSpPr>
        <p:spPr bwMode="auto">
          <a:xfrm>
            <a:off x="1447181" y="1143565"/>
            <a:ext cx="11028013"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smtClean="0">
                <a:latin typeface="Times New Roman" pitchFamily="18" charset="0"/>
                <a:ea typeface="微软雅黑" pitchFamily="34" charset="-122"/>
                <a:cs typeface="Times New Roman" pitchFamily="18" charset="0"/>
              </a:rPr>
              <a:t>设</a:t>
            </a:r>
            <a:r>
              <a:rPr kumimoji="1" lang="zh-CN" altLang="en-US" sz="2400" b="1" dirty="0">
                <a:latin typeface="Times New Roman" pitchFamily="18" charset="0"/>
                <a:ea typeface="微软雅黑" pitchFamily="34" charset="-122"/>
                <a:cs typeface="Times New Roman" pitchFamily="18" charset="0"/>
              </a:rPr>
              <a:t>在某光照度</a:t>
            </a:r>
            <a:r>
              <a:rPr kumimoji="1" lang="en-US" altLang="zh-CN" sz="2400" b="1" i="1" dirty="0">
                <a:latin typeface="Times New Roman" pitchFamily="18" charset="0"/>
                <a:ea typeface="微软雅黑" pitchFamily="34" charset="-122"/>
                <a:cs typeface="Times New Roman" pitchFamily="18" charset="0"/>
              </a:rPr>
              <a:t>E</a:t>
            </a:r>
            <a:r>
              <a:rPr kumimoji="1" lang="zh-CN" altLang="en-US" sz="2400" b="1" dirty="0">
                <a:latin typeface="Times New Roman" pitchFamily="18" charset="0"/>
                <a:ea typeface="微软雅黑" pitchFamily="34" charset="-122"/>
                <a:cs typeface="Times New Roman" pitchFamily="18" charset="0"/>
              </a:rPr>
              <a:t>下，光敏电阻的阻值为</a:t>
            </a:r>
            <a:r>
              <a:rPr kumimoji="1" lang="en-US" altLang="zh-CN" sz="2400" b="1" i="1" dirty="0">
                <a:latin typeface="Times New Roman" pitchFamily="18" charset="0"/>
                <a:ea typeface="微软雅黑" pitchFamily="34" charset="-122"/>
                <a:cs typeface="Times New Roman" pitchFamily="18" charset="0"/>
              </a:rPr>
              <a:t>R</a:t>
            </a:r>
            <a:r>
              <a:rPr kumimoji="1" lang="zh-CN" altLang="en-US" sz="2400" b="1" dirty="0">
                <a:latin typeface="Times New Roman" pitchFamily="18" charset="0"/>
                <a:ea typeface="微软雅黑" pitchFamily="34" charset="-122"/>
                <a:cs typeface="Times New Roman" pitchFamily="18" charset="0"/>
              </a:rPr>
              <a:t>，电导为</a:t>
            </a:r>
            <a:r>
              <a:rPr kumimoji="1" lang="en-US" altLang="zh-CN" sz="2400" b="1" i="1" dirty="0">
                <a:latin typeface="Times New Roman" pitchFamily="18" charset="0"/>
                <a:ea typeface="微软雅黑" pitchFamily="34" charset="-122"/>
                <a:cs typeface="Times New Roman" pitchFamily="18" charset="0"/>
              </a:rPr>
              <a:t>g</a:t>
            </a:r>
            <a:r>
              <a:rPr kumimoji="1" lang="zh-CN" altLang="en-US" sz="2400" b="1" dirty="0">
                <a:latin typeface="Times New Roman" pitchFamily="18" charset="0"/>
                <a:ea typeface="微软雅黑" pitchFamily="34" charset="-122"/>
                <a:cs typeface="Times New Roman" pitchFamily="18" charset="0"/>
              </a:rPr>
              <a:t>，流过偏置电阻</a:t>
            </a:r>
            <a:r>
              <a:rPr kumimoji="1" lang="en-US" altLang="zh-CN" sz="2400" b="1" i="1" dirty="0">
                <a:latin typeface="Times New Roman" pitchFamily="18" charset="0"/>
                <a:ea typeface="微软雅黑" pitchFamily="34" charset="-122"/>
                <a:cs typeface="Times New Roman" pitchFamily="18" charset="0"/>
              </a:rPr>
              <a:t>R</a:t>
            </a:r>
            <a:r>
              <a:rPr kumimoji="1" lang="en-US" altLang="zh-CN" sz="2400" b="1" baseline="-30000" dirty="0">
                <a:latin typeface="Times New Roman" pitchFamily="18" charset="0"/>
                <a:ea typeface="微软雅黑" pitchFamily="34" charset="-122"/>
                <a:cs typeface="Times New Roman" pitchFamily="18" charset="0"/>
              </a:rPr>
              <a:t>L</a:t>
            </a:r>
            <a:r>
              <a:rPr kumimoji="1" lang="zh-CN" altLang="en-US" sz="2400" b="1" dirty="0">
                <a:latin typeface="Times New Roman" pitchFamily="18" charset="0"/>
                <a:ea typeface="微软雅黑" pitchFamily="34" charset="-122"/>
                <a:cs typeface="Times New Roman" pitchFamily="18" charset="0"/>
              </a:rPr>
              <a:t>的电流为</a:t>
            </a:r>
            <a:r>
              <a:rPr kumimoji="1" lang="en-US" altLang="zh-CN" sz="2400" b="1" i="1" dirty="0">
                <a:latin typeface="Times New Roman" pitchFamily="18" charset="0"/>
                <a:ea typeface="微软雅黑" pitchFamily="34" charset="-122"/>
                <a:cs typeface="Times New Roman" pitchFamily="18" charset="0"/>
              </a:rPr>
              <a:t>I</a:t>
            </a:r>
            <a:r>
              <a:rPr kumimoji="1" lang="en-US" altLang="zh-CN" sz="2400" b="1" baseline="-30000" dirty="0">
                <a:latin typeface="Times New Roman" pitchFamily="18" charset="0"/>
                <a:ea typeface="微软雅黑" pitchFamily="34" charset="-122"/>
                <a:cs typeface="Times New Roman" pitchFamily="18" charset="0"/>
              </a:rPr>
              <a:t>L</a:t>
            </a:r>
            <a:r>
              <a:rPr kumimoji="1" lang="en-US" altLang="zh-CN" sz="2400" b="1" dirty="0">
                <a:latin typeface="Times New Roman" pitchFamily="18" charset="0"/>
                <a:ea typeface="微软雅黑" pitchFamily="34" charset="-122"/>
                <a:cs typeface="Times New Roman" pitchFamily="18" charset="0"/>
              </a:rPr>
              <a:t> </a:t>
            </a:r>
            <a:endParaRPr kumimoji="1" lang="en-US" altLang="zh-CN" sz="2000" b="1" dirty="0">
              <a:latin typeface="Times New Roman" pitchFamily="18" charset="0"/>
              <a:ea typeface="微软雅黑" pitchFamily="34" charset="-122"/>
              <a:cs typeface="Times New Roman" pitchFamily="18" charset="0"/>
            </a:endParaRPr>
          </a:p>
        </p:txBody>
      </p:sp>
      <p:graphicFrame>
        <p:nvGraphicFramePr>
          <p:cNvPr id="51" name="Object 6">
            <a:extLst>
              <a:ext uri="{FF2B5EF4-FFF2-40B4-BE49-F238E27FC236}">
                <a16:creationId xmlns="" xmlns:a16="http://schemas.microsoft.com/office/drawing/2014/main" id="{45C98B2B-31D5-4150-80F4-E3DE622A42D6}"/>
              </a:ext>
            </a:extLst>
          </p:cNvPr>
          <p:cNvGraphicFramePr>
            <a:graphicFrameLocks noChangeAspect="1"/>
          </p:cNvGraphicFramePr>
          <p:nvPr>
            <p:extLst>
              <p:ext uri="{D42A27DB-BD31-4B8C-83A1-F6EECF244321}">
                <p14:modId xmlns:p14="http://schemas.microsoft.com/office/powerpoint/2010/main" val="1661265950"/>
              </p:ext>
            </p:extLst>
          </p:nvPr>
        </p:nvGraphicFramePr>
        <p:xfrm>
          <a:off x="1522428" y="2311702"/>
          <a:ext cx="1816100" cy="1028700"/>
        </p:xfrm>
        <a:graphic>
          <a:graphicData uri="http://schemas.openxmlformats.org/presentationml/2006/ole">
            <mc:AlternateContent xmlns:mc="http://schemas.openxmlformats.org/markup-compatibility/2006">
              <mc:Choice xmlns:v="urn:schemas-microsoft-com:vml" Requires="v">
                <p:oleObj spid="_x0000_s1128" name="Equation" r:id="rId3" imgW="761760" imgH="431640" progId="Equation.DSMT4">
                  <p:embed/>
                </p:oleObj>
              </mc:Choice>
              <mc:Fallback>
                <p:oleObj name="Equation" r:id="rId3" imgW="761760" imgH="431640" progId="Equation.DSMT4">
                  <p:embed/>
                  <p:pic>
                    <p:nvPicPr>
                      <p:cNvPr id="364550" name="Object 6"/>
                      <p:cNvPicPr>
                        <a:picLocks noChangeAspect="1" noChangeArrowheads="1"/>
                      </p:cNvPicPr>
                      <p:nvPr/>
                    </p:nvPicPr>
                    <p:blipFill>
                      <a:blip r:embed="rId4"/>
                      <a:srcRect/>
                      <a:stretch>
                        <a:fillRect/>
                      </a:stretch>
                    </p:blipFill>
                    <p:spPr bwMode="auto">
                      <a:xfrm>
                        <a:off x="1522428" y="2311702"/>
                        <a:ext cx="1816100" cy="10287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 name="Text Box 7">
            <a:extLst>
              <a:ext uri="{FF2B5EF4-FFF2-40B4-BE49-F238E27FC236}">
                <a16:creationId xmlns="" xmlns:a16="http://schemas.microsoft.com/office/drawing/2014/main" id="{EE7EB554-937B-495D-9A76-0F66B68950B5}"/>
              </a:ext>
            </a:extLst>
          </p:cNvPr>
          <p:cNvSpPr txBox="1">
            <a:spLocks noChangeArrowheads="1"/>
          </p:cNvSpPr>
          <p:nvPr/>
        </p:nvSpPr>
        <p:spPr bwMode="auto">
          <a:xfrm>
            <a:off x="3529562" y="2566495"/>
            <a:ext cx="947259" cy="519113"/>
          </a:xfrm>
          <a:prstGeom prst="rect">
            <a:avLst/>
          </a:prstGeom>
          <a:noFill/>
          <a:ln w="9525">
            <a:noFill/>
            <a:miter lim="800000"/>
            <a:headEnd/>
            <a:tailEnd/>
          </a:ln>
        </p:spPr>
        <p:txBody>
          <a:bodyPr wrap="square">
            <a:spAutoFit/>
          </a:bodyPr>
          <a:lstStyle/>
          <a:p>
            <a:pPr defTabSz="914400">
              <a:spcBef>
                <a:spcPct val="50000"/>
              </a:spcBef>
            </a:pPr>
            <a:r>
              <a:rPr kumimoji="1" lang="zh-CN" altLang="en-US" sz="2800" b="1" dirty="0" smtClean="0">
                <a:latin typeface="微软雅黑" pitchFamily="34" charset="-122"/>
                <a:ea typeface="微软雅黑" pitchFamily="34" charset="-122"/>
              </a:rPr>
              <a:t>微分</a:t>
            </a:r>
            <a:endParaRPr kumimoji="1" lang="zh-CN" altLang="en-US" sz="2800" b="1" dirty="0">
              <a:latin typeface="微软雅黑" pitchFamily="34" charset="-122"/>
              <a:ea typeface="微软雅黑" pitchFamily="34" charset="-122"/>
            </a:endParaRPr>
          </a:p>
        </p:txBody>
      </p:sp>
      <p:graphicFrame>
        <p:nvGraphicFramePr>
          <p:cNvPr id="53" name="Object 8">
            <a:extLst>
              <a:ext uri="{FF2B5EF4-FFF2-40B4-BE49-F238E27FC236}">
                <a16:creationId xmlns="" xmlns:a16="http://schemas.microsoft.com/office/drawing/2014/main" id="{7241A512-22E4-40DE-842B-F3360AEEB0A5}"/>
              </a:ext>
            </a:extLst>
          </p:cNvPr>
          <p:cNvGraphicFramePr>
            <a:graphicFrameLocks noChangeAspect="1"/>
          </p:cNvGraphicFramePr>
          <p:nvPr>
            <p:extLst>
              <p:ext uri="{D42A27DB-BD31-4B8C-83A1-F6EECF244321}">
                <p14:modId xmlns:p14="http://schemas.microsoft.com/office/powerpoint/2010/main" val="1887553499"/>
              </p:ext>
            </p:extLst>
          </p:nvPr>
        </p:nvGraphicFramePr>
        <p:xfrm>
          <a:off x="4835525" y="2409625"/>
          <a:ext cx="2924175" cy="920750"/>
        </p:xfrm>
        <a:graphic>
          <a:graphicData uri="http://schemas.openxmlformats.org/presentationml/2006/ole">
            <mc:AlternateContent xmlns:mc="http://schemas.openxmlformats.org/markup-compatibility/2006">
              <mc:Choice xmlns:v="urn:schemas-microsoft-com:vml" Requires="v">
                <p:oleObj spid="_x0000_s1129" name="Equation" r:id="rId5" imgW="1384200" imgH="431640" progId="Equation.DSMT4">
                  <p:embed/>
                </p:oleObj>
              </mc:Choice>
              <mc:Fallback>
                <p:oleObj name="Equation" r:id="rId5" imgW="1384200" imgH="431640" progId="Equation.DSMT4">
                  <p:embed/>
                  <p:pic>
                    <p:nvPicPr>
                      <p:cNvPr id="364552" name="Object 8"/>
                      <p:cNvPicPr>
                        <a:picLocks noChangeAspect="1" noChangeArrowheads="1"/>
                      </p:cNvPicPr>
                      <p:nvPr/>
                    </p:nvPicPr>
                    <p:blipFill>
                      <a:blip r:embed="rId6"/>
                      <a:srcRect/>
                      <a:stretch>
                        <a:fillRect/>
                      </a:stretch>
                    </p:blipFill>
                    <p:spPr bwMode="auto">
                      <a:xfrm>
                        <a:off x="4835525" y="2409625"/>
                        <a:ext cx="2924175" cy="920750"/>
                      </a:xfrm>
                      <a:prstGeom prst="rect">
                        <a:avLst/>
                      </a:prstGeom>
                      <a:solidFill>
                        <a:srgbClr val="FFFF00"/>
                      </a:solidFill>
                    </p:spPr>
                  </p:pic>
                </p:oleObj>
              </mc:Fallback>
            </mc:AlternateContent>
          </a:graphicData>
        </a:graphic>
      </p:graphicFrame>
      <p:graphicFrame>
        <p:nvGraphicFramePr>
          <p:cNvPr id="54" name="Object 10">
            <a:extLst>
              <a:ext uri="{FF2B5EF4-FFF2-40B4-BE49-F238E27FC236}">
                <a16:creationId xmlns="" xmlns:a16="http://schemas.microsoft.com/office/drawing/2014/main" id="{6FE392E3-DCE6-41AB-9CE3-6EE1073B3715}"/>
              </a:ext>
            </a:extLst>
          </p:cNvPr>
          <p:cNvGraphicFramePr>
            <a:graphicFrameLocks noChangeAspect="1"/>
          </p:cNvGraphicFramePr>
          <p:nvPr>
            <p:extLst>
              <p:ext uri="{D42A27DB-BD31-4B8C-83A1-F6EECF244321}">
                <p14:modId xmlns:p14="http://schemas.microsoft.com/office/powerpoint/2010/main" val="2879315282"/>
              </p:ext>
            </p:extLst>
          </p:nvPr>
        </p:nvGraphicFramePr>
        <p:xfrm>
          <a:off x="6947998" y="3778854"/>
          <a:ext cx="114300" cy="203200"/>
        </p:xfrm>
        <a:graphic>
          <a:graphicData uri="http://schemas.openxmlformats.org/presentationml/2006/ole">
            <mc:AlternateContent xmlns:mc="http://schemas.openxmlformats.org/markup-compatibility/2006">
              <mc:Choice xmlns:v="urn:schemas-microsoft-com:vml" Requires="v">
                <p:oleObj spid="_x0000_s1130" name="Equation" r:id="rId7" imgW="114120" imgH="203040" progId="Equation.3">
                  <p:embed/>
                </p:oleObj>
              </mc:Choice>
              <mc:Fallback>
                <p:oleObj name="Equation" r:id="rId7" imgW="114120" imgH="203040" progId="Equation.3">
                  <p:embed/>
                  <p:pic>
                    <p:nvPicPr>
                      <p:cNvPr id="411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47998" y="3778854"/>
                        <a:ext cx="114300"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文本框 60">
            <a:extLst>
              <a:ext uri="{FF2B5EF4-FFF2-40B4-BE49-F238E27FC236}">
                <a16:creationId xmlns="" xmlns:a16="http://schemas.microsoft.com/office/drawing/2014/main" id="{62C0F62D-0D51-4F7D-8022-9E60CC5474C4}"/>
              </a:ext>
            </a:extLst>
          </p:cNvPr>
          <p:cNvSpPr txBox="1"/>
          <p:nvPr/>
        </p:nvSpPr>
        <p:spPr>
          <a:xfrm>
            <a:off x="1661378" y="293282"/>
            <a:ext cx="1634272" cy="369332"/>
          </a:xfrm>
          <a:prstGeom prst="rect">
            <a:avLst/>
          </a:prstGeom>
          <a:noFill/>
          <a:ln w="9525">
            <a:noFill/>
          </a:ln>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基本偏置电路</a:t>
            </a:r>
          </a:p>
        </p:txBody>
      </p:sp>
      <p:sp>
        <p:nvSpPr>
          <p:cNvPr id="18" name="矩形 17">
            <a:extLst>
              <a:ext uri="{FF2B5EF4-FFF2-40B4-BE49-F238E27FC236}">
                <a16:creationId xmlns="" xmlns:a16="http://schemas.microsoft.com/office/drawing/2014/main" id="{C66F5E2E-8D46-4784-8607-084B19474EE5}"/>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 xmlns:a16="http://schemas.microsoft.com/office/drawing/2014/main" id="{7E1D78E5-AF4E-4418-8235-3AE4492C0F9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 xmlns:a16="http://schemas.microsoft.com/office/drawing/2014/main" id="{7922E16A-915E-4683-B841-2B999515891D}"/>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 xmlns:a16="http://schemas.microsoft.com/office/drawing/2014/main" id="{2E571F2F-0027-4EE0-9389-E2AA932F461D}"/>
              </a:ext>
            </a:extLst>
          </p:cNvPr>
          <p:cNvCxnSpPr>
            <a:cxnSpLocks/>
          </p:cNvCxnSpPr>
          <p:nvPr/>
        </p:nvCxnSpPr>
        <p:spPr>
          <a:xfrm>
            <a:off x="1718528" y="710998"/>
            <a:ext cx="16200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 xmlns:a16="http://schemas.microsoft.com/office/drawing/2014/main" id="{D66E3DDE-A39C-4059-BE45-EB4560B095E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7" name="矩形 26">
            <a:extLst>
              <a:ext uri="{FF2B5EF4-FFF2-40B4-BE49-F238E27FC236}">
                <a16:creationId xmlns="" xmlns:a16="http://schemas.microsoft.com/office/drawing/2014/main" id="{A6A27553-3043-43EB-8154-9792DFF09DA0}"/>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16" name="Object 3">
            <a:extLst>
              <a:ext uri="{FF2B5EF4-FFF2-40B4-BE49-F238E27FC236}">
                <a16:creationId xmlns="" xmlns:a16="http://schemas.microsoft.com/office/drawing/2014/main" id="{E14CE777-2D15-43E8-B1DE-AC166344482B}"/>
              </a:ext>
            </a:extLst>
          </p:cNvPr>
          <p:cNvGraphicFramePr>
            <a:graphicFrameLocks noChangeAspect="1"/>
          </p:cNvGraphicFramePr>
          <p:nvPr>
            <p:extLst>
              <p:ext uri="{D42A27DB-BD31-4B8C-83A1-F6EECF244321}">
                <p14:modId xmlns:p14="http://schemas.microsoft.com/office/powerpoint/2010/main" val="2351846670"/>
              </p:ext>
            </p:extLst>
          </p:nvPr>
        </p:nvGraphicFramePr>
        <p:xfrm>
          <a:off x="1392239" y="4939450"/>
          <a:ext cx="2436812" cy="952500"/>
        </p:xfrm>
        <a:graphic>
          <a:graphicData uri="http://schemas.openxmlformats.org/presentationml/2006/ole">
            <mc:AlternateContent xmlns:mc="http://schemas.openxmlformats.org/markup-compatibility/2006">
              <mc:Choice xmlns:v="urn:schemas-microsoft-com:vml" Requires="v">
                <p:oleObj spid="_x0000_s1131" name="Equation" r:id="rId9" imgW="1193760" imgH="469800" progId="Equation.DSMT4">
                  <p:embed/>
                </p:oleObj>
              </mc:Choice>
              <mc:Fallback>
                <p:oleObj name="Equation" r:id="rId9" imgW="1193760" imgH="469800" progId="Equation.DSMT4">
                  <p:embed/>
                  <p:pic>
                    <p:nvPicPr>
                      <p:cNvPr id="0" name=""/>
                      <p:cNvPicPr>
                        <a:picLocks noChangeAspect="1" noChangeArrowheads="1"/>
                      </p:cNvPicPr>
                      <p:nvPr/>
                    </p:nvPicPr>
                    <p:blipFill>
                      <a:blip r:embed="rId10"/>
                      <a:srcRect/>
                      <a:stretch>
                        <a:fillRect/>
                      </a:stretch>
                    </p:blipFill>
                    <p:spPr bwMode="auto">
                      <a:xfrm>
                        <a:off x="1392239" y="4939450"/>
                        <a:ext cx="2436812" cy="952500"/>
                      </a:xfrm>
                      <a:prstGeom prst="rect">
                        <a:avLst/>
                      </a:prstGeom>
                      <a:solidFill>
                        <a:srgbClr val="FFFF00"/>
                      </a:solidFill>
                    </p:spPr>
                  </p:pic>
                </p:oleObj>
              </mc:Fallback>
            </mc:AlternateContent>
          </a:graphicData>
        </a:graphic>
      </p:graphicFrame>
      <p:sp>
        <p:nvSpPr>
          <p:cNvPr id="20" name="Text Box 4">
            <a:extLst>
              <a:ext uri="{FF2B5EF4-FFF2-40B4-BE49-F238E27FC236}">
                <a16:creationId xmlns="" xmlns:a16="http://schemas.microsoft.com/office/drawing/2014/main" id="{D83799E5-35FC-47D3-8574-B2B0E1CD6125}"/>
              </a:ext>
            </a:extLst>
          </p:cNvPr>
          <p:cNvSpPr txBox="1">
            <a:spLocks noChangeArrowheads="1"/>
          </p:cNvSpPr>
          <p:nvPr/>
        </p:nvSpPr>
        <p:spPr bwMode="auto">
          <a:xfrm>
            <a:off x="1222375" y="6268211"/>
            <a:ext cx="3765550" cy="519113"/>
          </a:xfrm>
          <a:prstGeom prst="rect">
            <a:avLst/>
          </a:prstGeom>
          <a:noFill/>
          <a:ln w="9525">
            <a:noFill/>
            <a:miter lim="800000"/>
            <a:headEnd/>
            <a:tailEnd/>
          </a:ln>
        </p:spPr>
        <p:txBody>
          <a:bodyPr>
            <a:spAutoFit/>
          </a:bodyPr>
          <a:lstStyle/>
          <a:p>
            <a:pPr defTabSz="914400">
              <a:spcBef>
                <a:spcPct val="50000"/>
              </a:spcBef>
            </a:pP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设</a:t>
            </a:r>
            <a:r>
              <a:rPr kumimoji="1" lang="en-US" altLang="zh-CN" sz="2800" b="1" i="1" dirty="0" err="1">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2800" b="1" baseline="-30000" dirty="0" err="1">
                <a:latin typeface="Times New Roman" panose="02020603050405020304" pitchFamily="18" charset="0"/>
                <a:ea typeface="微软雅黑" panose="020B0503020204020204" pitchFamily="34" charset="-122"/>
                <a:cs typeface="Times New Roman" panose="02020603050405020304" pitchFamily="18" charset="0"/>
              </a:rPr>
              <a:t>L</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rPr>
              <a:t>d</a:t>
            </a:r>
            <a:r>
              <a:rPr kumimoji="1" lang="en-US" altLang="zh-CN" sz="2800" b="1" i="1" dirty="0" err="1">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2800" b="1" baseline="-30000" dirty="0" err="1">
                <a:latin typeface="Times New Roman" panose="02020603050405020304" pitchFamily="18" charset="0"/>
                <a:ea typeface="微软雅黑" panose="020B0503020204020204" pitchFamily="34" charset="-122"/>
                <a:cs typeface="Times New Roman" panose="02020603050405020304" pitchFamily="18" charset="0"/>
              </a:rPr>
              <a:t>L</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1" i="1" dirty="0" err="1">
                <a:latin typeface="Times New Roman" panose="02020603050405020304" pitchFamily="18" charset="0"/>
                <a:ea typeface="微软雅黑" panose="020B0503020204020204" pitchFamily="34" charset="-122"/>
                <a:cs typeface="Times New Roman" panose="02020603050405020304" pitchFamily="18" charset="0"/>
              </a:rPr>
              <a:t>e</a:t>
            </a:r>
            <a:r>
              <a:rPr kumimoji="1" lang="en-US" altLang="zh-CN" sz="2800" b="1" baseline="-30000" dirty="0" err="1">
                <a:latin typeface="Times New Roman" panose="02020603050405020304" pitchFamily="18" charset="0"/>
                <a:ea typeface="微软雅黑" panose="020B0503020204020204" pitchFamily="34" charset="-122"/>
                <a:cs typeface="Times New Roman" panose="02020603050405020304" pitchFamily="18" charset="0"/>
              </a:rPr>
              <a:t>v</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rPr>
              <a:t>d</a:t>
            </a:r>
            <a:r>
              <a:rPr kumimoji="1" lang="en-US" altLang="zh-CN" sz="2800" b="1" i="1" dirty="0" err="1">
                <a:latin typeface="Times New Roman" panose="02020603050405020304" pitchFamily="18" charset="0"/>
                <a:ea typeface="微软雅黑" panose="020B0503020204020204" pitchFamily="34" charset="-122"/>
                <a:cs typeface="Times New Roman" panose="02020603050405020304" pitchFamily="18" charset="0"/>
              </a:rPr>
              <a:t>E</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，则</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p>
        </p:txBody>
      </p:sp>
      <p:graphicFrame>
        <p:nvGraphicFramePr>
          <p:cNvPr id="24" name="Object 5">
            <a:extLst>
              <a:ext uri="{FF2B5EF4-FFF2-40B4-BE49-F238E27FC236}">
                <a16:creationId xmlns="" xmlns:a16="http://schemas.microsoft.com/office/drawing/2014/main" id="{B9E7A996-E2C8-4CFB-BF42-E01DE7B124E2}"/>
              </a:ext>
            </a:extLst>
          </p:cNvPr>
          <p:cNvGraphicFramePr>
            <a:graphicFrameLocks noChangeAspect="1"/>
          </p:cNvGraphicFramePr>
          <p:nvPr>
            <p:extLst>
              <p:ext uri="{D42A27DB-BD31-4B8C-83A1-F6EECF244321}">
                <p14:modId xmlns:p14="http://schemas.microsoft.com/office/powerpoint/2010/main" val="254788071"/>
              </p:ext>
            </p:extLst>
          </p:nvPr>
        </p:nvGraphicFramePr>
        <p:xfrm>
          <a:off x="5473700" y="5935663"/>
          <a:ext cx="2352675" cy="1084262"/>
        </p:xfrm>
        <a:graphic>
          <a:graphicData uri="http://schemas.openxmlformats.org/presentationml/2006/ole">
            <mc:AlternateContent xmlns:mc="http://schemas.openxmlformats.org/markup-compatibility/2006">
              <mc:Choice xmlns:v="urn:schemas-microsoft-com:vml" Requires="v">
                <p:oleObj spid="_x0000_s1132" name="Equation" r:id="rId11" imgW="1015920" imgH="469800" progId="Equation.DSMT4">
                  <p:embed/>
                </p:oleObj>
              </mc:Choice>
              <mc:Fallback>
                <p:oleObj name="Equation" r:id="rId11" imgW="1015920" imgH="469800" progId="Equation.DSMT4">
                  <p:embed/>
                  <p:pic>
                    <p:nvPicPr>
                      <p:cNvPr id="0" name=""/>
                      <p:cNvPicPr>
                        <a:picLocks noChangeAspect="1" noChangeArrowheads="1"/>
                      </p:cNvPicPr>
                      <p:nvPr/>
                    </p:nvPicPr>
                    <p:blipFill>
                      <a:blip r:embed="rId12"/>
                      <a:srcRect/>
                      <a:stretch>
                        <a:fillRect/>
                      </a:stretch>
                    </p:blipFill>
                    <p:spPr bwMode="auto">
                      <a:xfrm>
                        <a:off x="5473700" y="5935663"/>
                        <a:ext cx="2352675" cy="1084262"/>
                      </a:xfrm>
                      <a:prstGeom prst="rect">
                        <a:avLst/>
                      </a:prstGeom>
                      <a:solidFill>
                        <a:srgbClr val="FFFF00"/>
                      </a:solidFill>
                    </p:spPr>
                  </p:pic>
                </p:oleObj>
              </mc:Fallback>
            </mc:AlternateContent>
          </a:graphicData>
        </a:graphic>
      </p:graphicFrame>
      <p:graphicFrame>
        <p:nvGraphicFramePr>
          <p:cNvPr id="25" name="Object 7">
            <a:extLst>
              <a:ext uri="{FF2B5EF4-FFF2-40B4-BE49-F238E27FC236}">
                <a16:creationId xmlns="" xmlns:a16="http://schemas.microsoft.com/office/drawing/2014/main" id="{48DE2A4C-387F-467A-9416-1258DC7303A4}"/>
              </a:ext>
            </a:extLst>
          </p:cNvPr>
          <p:cNvGraphicFramePr>
            <a:graphicFrameLocks noChangeAspect="1"/>
          </p:cNvGraphicFramePr>
          <p:nvPr>
            <p:extLst>
              <p:ext uri="{D42A27DB-BD31-4B8C-83A1-F6EECF244321}">
                <p14:modId xmlns:p14="http://schemas.microsoft.com/office/powerpoint/2010/main" val="246652582"/>
              </p:ext>
            </p:extLst>
          </p:nvPr>
        </p:nvGraphicFramePr>
        <p:xfrm>
          <a:off x="1400656" y="3806659"/>
          <a:ext cx="2755900" cy="811213"/>
        </p:xfrm>
        <a:graphic>
          <a:graphicData uri="http://schemas.openxmlformats.org/presentationml/2006/ole">
            <mc:AlternateContent xmlns:mc="http://schemas.openxmlformats.org/markup-compatibility/2006">
              <mc:Choice xmlns:v="urn:schemas-microsoft-com:vml" Requires="v">
                <p:oleObj spid="_x0000_s1133" name="公式" r:id="rId13" imgW="1422360" imgH="419040" progId="Equation.3">
                  <p:embed/>
                </p:oleObj>
              </mc:Choice>
              <mc:Fallback>
                <p:oleObj name="公式" r:id="rId13" imgW="1422360" imgH="41904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0656" y="3806659"/>
                        <a:ext cx="2755900" cy="811213"/>
                      </a:xfrm>
                      <a:prstGeom prst="rect">
                        <a:avLst/>
                      </a:prstGeom>
                      <a:solidFill>
                        <a:srgbClr val="FFFF00"/>
                      </a:solidFill>
                    </p:spPr>
                  </p:pic>
                </p:oleObj>
              </mc:Fallback>
            </mc:AlternateContent>
          </a:graphicData>
        </a:graphic>
      </p:graphicFrame>
      <p:graphicFrame>
        <p:nvGraphicFramePr>
          <p:cNvPr id="26" name="Object 8">
            <a:extLst>
              <a:ext uri="{FF2B5EF4-FFF2-40B4-BE49-F238E27FC236}">
                <a16:creationId xmlns="" xmlns:a16="http://schemas.microsoft.com/office/drawing/2014/main" id="{06EFC32C-D115-444A-A609-3FC7A539D31B}"/>
              </a:ext>
            </a:extLst>
          </p:cNvPr>
          <p:cNvGraphicFramePr>
            <a:graphicFrameLocks noChangeAspect="1"/>
          </p:cNvGraphicFramePr>
          <p:nvPr>
            <p:extLst>
              <p:ext uri="{D42A27DB-BD31-4B8C-83A1-F6EECF244321}">
                <p14:modId xmlns:p14="http://schemas.microsoft.com/office/powerpoint/2010/main" val="3684179526"/>
              </p:ext>
            </p:extLst>
          </p:nvPr>
        </p:nvGraphicFramePr>
        <p:xfrm>
          <a:off x="4835525" y="3911159"/>
          <a:ext cx="1815188" cy="639762"/>
        </p:xfrm>
        <a:graphic>
          <a:graphicData uri="http://schemas.openxmlformats.org/presentationml/2006/ole">
            <mc:AlternateContent xmlns:mc="http://schemas.openxmlformats.org/markup-compatibility/2006">
              <mc:Choice xmlns:v="urn:schemas-microsoft-com:vml" Requires="v">
                <p:oleObj spid="_x0000_s1134" name="公式" r:id="rId15" imgW="685800" imgH="241200" progId="Equation.3">
                  <p:embed/>
                </p:oleObj>
              </mc:Choice>
              <mc:Fallback>
                <p:oleObj name="公式" r:id="rId15" imgW="685800" imgH="2412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35525" y="3911159"/>
                        <a:ext cx="1815188" cy="639762"/>
                      </a:xfrm>
                      <a:prstGeom prst="rect">
                        <a:avLst/>
                      </a:prstGeom>
                      <a:solidFill>
                        <a:srgbClr val="FFFF00"/>
                      </a:solid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228899228"/>
              </p:ext>
            </p:extLst>
          </p:nvPr>
        </p:nvGraphicFramePr>
        <p:xfrm>
          <a:off x="8389456" y="2204545"/>
          <a:ext cx="3688575" cy="2634696"/>
        </p:xfrm>
        <a:graphic>
          <a:graphicData uri="http://schemas.openxmlformats.org/presentationml/2006/ole">
            <mc:AlternateContent xmlns:mc="http://schemas.openxmlformats.org/markup-compatibility/2006">
              <mc:Choice xmlns:v="urn:schemas-microsoft-com:vml" Requires="v">
                <p:oleObj spid="_x0000_s1135" name="Visio" r:id="rId17" imgW="2467105" imgH="1762034" progId="Visio.Drawing.15">
                  <p:embed/>
                </p:oleObj>
              </mc:Choice>
              <mc:Fallback>
                <p:oleObj name="Visio" r:id="rId17" imgW="2467105" imgH="1762034" progId="Visio.Drawing.15">
                  <p:embed/>
                  <p:pic>
                    <p:nvPicPr>
                      <p:cNvPr id="0" name="Object 78"/>
                      <p:cNvPicPr>
                        <a:picLocks noChangeAspect="1" noChangeArrowheads="1"/>
                      </p:cNvPicPr>
                      <p:nvPr/>
                    </p:nvPicPr>
                    <p:blipFill>
                      <a:blip r:embed="rId18"/>
                      <a:srcRect/>
                      <a:stretch>
                        <a:fillRect/>
                      </a:stretch>
                    </p:blipFill>
                    <p:spPr bwMode="auto">
                      <a:xfrm>
                        <a:off x="8389456" y="2204545"/>
                        <a:ext cx="3688575" cy="2634696"/>
                      </a:xfrm>
                      <a:prstGeom prst="rect">
                        <a:avLst/>
                      </a:prstGeom>
                      <a:noFill/>
                    </p:spPr>
                  </p:pic>
                </p:oleObj>
              </mc:Fallback>
            </mc:AlternateContent>
          </a:graphicData>
        </a:graphic>
      </p:graphicFrame>
    </p:spTree>
    <p:extLst>
      <p:ext uri="{BB962C8B-B14F-4D97-AF65-F5344CB8AC3E}">
        <p14:creationId xmlns:p14="http://schemas.microsoft.com/office/powerpoint/2010/main" val="180266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box(in)">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box(in)">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box(in)">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box(in)">
                                      <p:cBhvr>
                                        <p:cTn id="22" dur="5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box(in)">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box(in)">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ox(in)">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ox(in)">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box(in)">
                                      <p:cBhvr>
                                        <p:cTn id="4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utoUpdateAnimBg="0"/>
      <p:bldP spid="52" grpId="0" autoUpdateAnimBg="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6">
            <a:extLst>
              <a:ext uri="{FF2B5EF4-FFF2-40B4-BE49-F238E27FC236}">
                <a16:creationId xmlns="" xmlns:a16="http://schemas.microsoft.com/office/drawing/2014/main" id="{FEDA5CA0-3B5E-416E-B79C-F2ACAA8958C3}"/>
              </a:ext>
            </a:extLst>
          </p:cNvPr>
          <p:cNvSpPr txBox="1">
            <a:spLocks noChangeArrowheads="1"/>
          </p:cNvSpPr>
          <p:nvPr/>
        </p:nvSpPr>
        <p:spPr bwMode="auto">
          <a:xfrm>
            <a:off x="717550" y="1612900"/>
            <a:ext cx="12084050" cy="1200329"/>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dirty="0">
                <a:latin typeface="宋体" pitchFamily="2" charset="-122"/>
              </a:rPr>
              <a:t>    </a:t>
            </a:r>
            <a:r>
              <a:rPr kumimoji="1" lang="zh-CN" altLang="en-US" sz="2400" b="1" dirty="0">
                <a:latin typeface="Times New Roman" pitchFamily="18" charset="0"/>
                <a:ea typeface="微软雅黑" pitchFamily="34" charset="-122"/>
                <a:cs typeface="Times New Roman" pitchFamily="18" charset="0"/>
              </a:rPr>
              <a:t>加在光敏电阻上的电压为</a:t>
            </a:r>
            <a:r>
              <a:rPr kumimoji="1" lang="en-US" altLang="zh-CN" sz="2400" b="1" i="1" dirty="0">
                <a:latin typeface="Times New Roman" pitchFamily="18" charset="0"/>
                <a:ea typeface="微软雅黑" pitchFamily="34" charset="-122"/>
                <a:cs typeface="Times New Roman" pitchFamily="18" charset="0"/>
              </a:rPr>
              <a:t>R</a:t>
            </a:r>
            <a:r>
              <a:rPr kumimoji="1" lang="zh-CN" altLang="en-US" sz="2400" b="1" dirty="0">
                <a:latin typeface="Times New Roman" pitchFamily="18" charset="0"/>
                <a:ea typeface="微软雅黑" pitchFamily="34" charset="-122"/>
                <a:cs typeface="Times New Roman" pitchFamily="18" charset="0"/>
              </a:rPr>
              <a:t>与</a:t>
            </a:r>
            <a:r>
              <a:rPr kumimoji="1" lang="en-US" altLang="zh-CN" sz="2400" b="1" i="1" dirty="0">
                <a:latin typeface="Times New Roman" pitchFamily="18" charset="0"/>
                <a:ea typeface="微软雅黑" pitchFamily="34" charset="-122"/>
                <a:cs typeface="Times New Roman" pitchFamily="18" charset="0"/>
              </a:rPr>
              <a:t>R</a:t>
            </a:r>
            <a:r>
              <a:rPr kumimoji="1" lang="en-US" altLang="zh-CN" sz="2400" b="1" baseline="-30000" dirty="0">
                <a:latin typeface="Times New Roman" pitchFamily="18" charset="0"/>
                <a:ea typeface="微软雅黑" pitchFamily="34" charset="-122"/>
                <a:cs typeface="Times New Roman" pitchFamily="18" charset="0"/>
              </a:rPr>
              <a:t>L</a:t>
            </a:r>
            <a:r>
              <a:rPr kumimoji="1" lang="zh-CN" altLang="en-US" sz="2400" b="1" dirty="0">
                <a:latin typeface="Times New Roman" pitchFamily="18" charset="0"/>
                <a:ea typeface="微软雅黑" pitchFamily="34" charset="-122"/>
                <a:cs typeface="Times New Roman" pitchFamily="18" charset="0"/>
              </a:rPr>
              <a:t>对电压</a:t>
            </a:r>
            <a:r>
              <a:rPr kumimoji="1" lang="en-US" altLang="zh-CN" sz="2400" b="1" i="1" dirty="0">
                <a:latin typeface="Times New Roman" pitchFamily="18" charset="0"/>
                <a:ea typeface="微软雅黑" pitchFamily="34" charset="-122"/>
                <a:cs typeface="Times New Roman" pitchFamily="18" charset="0"/>
              </a:rPr>
              <a:t>V</a:t>
            </a:r>
            <a:r>
              <a:rPr kumimoji="1" lang="zh-CN" altLang="en-US" sz="2400" b="1" dirty="0">
                <a:latin typeface="Times New Roman" pitchFamily="18" charset="0"/>
                <a:ea typeface="微软雅黑" pitchFamily="34" charset="-122"/>
                <a:cs typeface="Times New Roman" pitchFamily="18" charset="0"/>
              </a:rPr>
              <a:t>的分压，即</a:t>
            </a:r>
            <a:r>
              <a:rPr kumimoji="1" lang="en-US" altLang="zh-CN" sz="2400" b="1" i="1" dirty="0">
                <a:latin typeface="Times New Roman" pitchFamily="18" charset="0"/>
                <a:ea typeface="微软雅黑" pitchFamily="34" charset="-122"/>
                <a:cs typeface="Times New Roman" pitchFamily="18" charset="0"/>
              </a:rPr>
              <a:t>V</a:t>
            </a:r>
            <a:r>
              <a:rPr kumimoji="1" lang="en-US" altLang="zh-CN" sz="2400" b="1" baseline="-30000" dirty="0">
                <a:latin typeface="Times New Roman" pitchFamily="18" charset="0"/>
                <a:ea typeface="微软雅黑" pitchFamily="34" charset="-122"/>
                <a:cs typeface="Times New Roman" pitchFamily="18" charset="0"/>
              </a:rPr>
              <a:t>R</a:t>
            </a:r>
            <a:r>
              <a:rPr kumimoji="1" lang="en-US" altLang="zh-CN" sz="2400" b="1" dirty="0">
                <a:latin typeface="Times New Roman" pitchFamily="18" charset="0"/>
                <a:ea typeface="微软雅黑" pitchFamily="34" charset="-122"/>
                <a:cs typeface="Times New Roman" pitchFamily="18" charset="0"/>
              </a:rPr>
              <a:t>=</a:t>
            </a:r>
            <a:r>
              <a:rPr kumimoji="1" lang="en-US" altLang="zh-CN" sz="2400" b="1" i="1" dirty="0">
                <a:latin typeface="Times New Roman" pitchFamily="18" charset="0"/>
                <a:ea typeface="微软雅黑" pitchFamily="34" charset="-122"/>
                <a:cs typeface="Times New Roman" pitchFamily="18" charset="0"/>
              </a:rPr>
              <a:t>V∙R</a:t>
            </a:r>
            <a:r>
              <a:rPr kumimoji="1" lang="en-US" altLang="zh-CN" sz="2400" b="1" dirty="0">
                <a:latin typeface="Times New Roman" pitchFamily="18" charset="0"/>
                <a:ea typeface="微软雅黑" pitchFamily="34" charset="-122"/>
                <a:cs typeface="Times New Roman" pitchFamily="18" charset="0"/>
              </a:rPr>
              <a:t>/(</a:t>
            </a:r>
            <a:r>
              <a:rPr kumimoji="1" lang="en-US" altLang="zh-CN" sz="2400" b="1" i="1" dirty="0">
                <a:latin typeface="Times New Roman" pitchFamily="18" charset="0"/>
                <a:ea typeface="微软雅黑" pitchFamily="34" charset="-122"/>
                <a:cs typeface="Times New Roman" pitchFamily="18" charset="0"/>
              </a:rPr>
              <a:t>R+R</a:t>
            </a:r>
            <a:r>
              <a:rPr kumimoji="1" lang="en-US" altLang="zh-CN" sz="2400" b="1" baseline="-30000" dirty="0">
                <a:latin typeface="Times New Roman" pitchFamily="18" charset="0"/>
                <a:ea typeface="微软雅黑" pitchFamily="34" charset="-122"/>
                <a:cs typeface="Times New Roman" pitchFamily="18" charset="0"/>
              </a:rPr>
              <a:t>L</a:t>
            </a:r>
            <a:r>
              <a:rPr kumimoji="1" lang="en-US" altLang="zh-CN" sz="2400" b="1" dirty="0">
                <a:latin typeface="Times New Roman" pitchFamily="18" charset="0"/>
                <a:ea typeface="微软雅黑" pitchFamily="34" charset="-122"/>
                <a:cs typeface="Times New Roman" pitchFamily="18" charset="0"/>
              </a:rPr>
              <a:t>)</a:t>
            </a:r>
            <a:r>
              <a:rPr kumimoji="1" lang="en-US" altLang="zh-CN" sz="2400" b="1" i="1" dirty="0">
                <a:latin typeface="Times New Roman" pitchFamily="18" charset="0"/>
                <a:ea typeface="微软雅黑" pitchFamily="34" charset="-122"/>
                <a:cs typeface="Times New Roman" pitchFamily="18" charset="0"/>
              </a:rPr>
              <a:t> </a:t>
            </a:r>
            <a:r>
              <a:rPr kumimoji="1" lang="zh-CN" altLang="en-US" sz="2400" b="1" dirty="0">
                <a:latin typeface="Times New Roman" pitchFamily="18" charset="0"/>
                <a:ea typeface="微软雅黑" pitchFamily="34" charset="-122"/>
                <a:cs typeface="Times New Roman" pitchFamily="18" charset="0"/>
              </a:rPr>
              <a:t>，因此，</a:t>
            </a:r>
            <a:r>
              <a:rPr kumimoji="1" lang="zh-CN" altLang="en-US" sz="2400" b="1" dirty="0">
                <a:solidFill>
                  <a:srgbClr val="FF0000"/>
                </a:solidFill>
                <a:latin typeface="Times New Roman" pitchFamily="18" charset="0"/>
                <a:ea typeface="微软雅黑" pitchFamily="34" charset="-122"/>
                <a:cs typeface="Times New Roman" pitchFamily="18" charset="0"/>
              </a:rPr>
              <a:t>光电流</a:t>
            </a:r>
            <a:r>
              <a:rPr kumimoji="1" lang="zh-CN" altLang="en-US" sz="2400" b="1" dirty="0">
                <a:latin typeface="Times New Roman" pitchFamily="18" charset="0"/>
                <a:ea typeface="微软雅黑" pitchFamily="34" charset="-122"/>
                <a:cs typeface="Times New Roman" pitchFamily="18" charset="0"/>
              </a:rPr>
              <a:t>的微变量为 </a:t>
            </a:r>
          </a:p>
        </p:txBody>
      </p:sp>
      <p:graphicFrame>
        <p:nvGraphicFramePr>
          <p:cNvPr id="16" name="Object 7">
            <a:extLst>
              <a:ext uri="{FF2B5EF4-FFF2-40B4-BE49-F238E27FC236}">
                <a16:creationId xmlns="" xmlns:a16="http://schemas.microsoft.com/office/drawing/2014/main" id="{F73E0645-D640-49EC-BD4A-ECB804EFB2C6}"/>
              </a:ext>
            </a:extLst>
          </p:cNvPr>
          <p:cNvGraphicFramePr>
            <a:graphicFrameLocks noChangeAspect="1"/>
          </p:cNvGraphicFramePr>
          <p:nvPr>
            <p:extLst>
              <p:ext uri="{D42A27DB-BD31-4B8C-83A1-F6EECF244321}">
                <p14:modId xmlns:p14="http://schemas.microsoft.com/office/powerpoint/2010/main" val="198307812"/>
              </p:ext>
            </p:extLst>
          </p:nvPr>
        </p:nvGraphicFramePr>
        <p:xfrm>
          <a:off x="2363788" y="3657600"/>
          <a:ext cx="3636962" cy="1055688"/>
        </p:xfrm>
        <a:graphic>
          <a:graphicData uri="http://schemas.openxmlformats.org/presentationml/2006/ole">
            <mc:AlternateContent xmlns:mc="http://schemas.openxmlformats.org/markup-compatibility/2006">
              <mc:Choice xmlns:v="urn:schemas-microsoft-com:vml" Requires="v">
                <p:oleObj spid="_x0000_s3130" name="Equation" r:id="rId3" imgW="1498320" imgH="431640" progId="Equation.DSMT4">
                  <p:embed/>
                </p:oleObj>
              </mc:Choice>
              <mc:Fallback>
                <p:oleObj name="Equation" r:id="rId3" imgW="1498320" imgH="431640" progId="Equation.DSMT4">
                  <p:embed/>
                  <p:pic>
                    <p:nvPicPr>
                      <p:cNvPr id="365575" name="Object 7"/>
                      <p:cNvPicPr>
                        <a:picLocks noChangeAspect="1" noChangeArrowheads="1"/>
                      </p:cNvPicPr>
                      <p:nvPr/>
                    </p:nvPicPr>
                    <p:blipFill>
                      <a:blip r:embed="rId4"/>
                      <a:srcRect/>
                      <a:stretch>
                        <a:fillRect/>
                      </a:stretch>
                    </p:blipFill>
                    <p:spPr bwMode="auto">
                      <a:xfrm>
                        <a:off x="2363788" y="3657600"/>
                        <a:ext cx="3636962" cy="1055688"/>
                      </a:xfrm>
                      <a:prstGeom prst="rect">
                        <a:avLst/>
                      </a:prstGeom>
                      <a:solidFill>
                        <a:srgbClr val="FFFF00"/>
                      </a:solidFill>
                    </p:spPr>
                  </p:pic>
                </p:oleObj>
              </mc:Fallback>
            </mc:AlternateContent>
          </a:graphicData>
        </a:graphic>
      </p:graphicFrame>
      <p:graphicFrame>
        <p:nvGraphicFramePr>
          <p:cNvPr id="23" name="Object 8">
            <a:extLst>
              <a:ext uri="{FF2B5EF4-FFF2-40B4-BE49-F238E27FC236}">
                <a16:creationId xmlns="" xmlns:a16="http://schemas.microsoft.com/office/drawing/2014/main" id="{0F9F58F0-1DE7-411D-BFD2-9C507D2510D3}"/>
              </a:ext>
            </a:extLst>
          </p:cNvPr>
          <p:cNvGraphicFramePr>
            <a:graphicFrameLocks noChangeAspect="1"/>
          </p:cNvGraphicFramePr>
          <p:nvPr>
            <p:extLst>
              <p:ext uri="{D42A27DB-BD31-4B8C-83A1-F6EECF244321}">
                <p14:modId xmlns:p14="http://schemas.microsoft.com/office/powerpoint/2010/main" val="1581804000"/>
              </p:ext>
            </p:extLst>
          </p:nvPr>
        </p:nvGraphicFramePr>
        <p:xfrm>
          <a:off x="2464281" y="5320316"/>
          <a:ext cx="2009775" cy="1093788"/>
        </p:xfrm>
        <a:graphic>
          <a:graphicData uri="http://schemas.openxmlformats.org/presentationml/2006/ole">
            <mc:AlternateContent xmlns:mc="http://schemas.openxmlformats.org/markup-compatibility/2006">
              <mc:Choice xmlns:v="urn:schemas-microsoft-com:vml" Requires="v">
                <p:oleObj spid="_x0000_s3131" r:id="rId5" imgW="748975" imgH="406224" progId="Equation.3">
                  <p:embed/>
                </p:oleObj>
              </mc:Choice>
              <mc:Fallback>
                <p:oleObj r:id="rId5" imgW="748975" imgH="406224" progId="Equation.3">
                  <p:embed/>
                  <p:pic>
                    <p:nvPicPr>
                      <p:cNvPr id="36557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4281" y="5320316"/>
                        <a:ext cx="2009775" cy="1093788"/>
                      </a:xfrm>
                      <a:prstGeom prst="rect">
                        <a:avLst/>
                      </a:prstGeom>
                      <a:solidFill>
                        <a:srgbClr val="00FFFF"/>
                      </a:solidFill>
                    </p:spPr>
                  </p:pic>
                </p:oleObj>
              </mc:Fallback>
            </mc:AlternateContent>
          </a:graphicData>
        </a:graphic>
      </p:graphicFrame>
      <p:sp>
        <p:nvSpPr>
          <p:cNvPr id="24" name="Text Box 5">
            <a:extLst>
              <a:ext uri="{FF2B5EF4-FFF2-40B4-BE49-F238E27FC236}">
                <a16:creationId xmlns="" xmlns:a16="http://schemas.microsoft.com/office/drawing/2014/main" id="{B0EF3F59-ECA9-4149-9D5F-2E950DF24051}"/>
              </a:ext>
            </a:extLst>
          </p:cNvPr>
          <p:cNvSpPr txBox="1">
            <a:spLocks noChangeArrowheads="1"/>
          </p:cNvSpPr>
          <p:nvPr/>
        </p:nvSpPr>
        <p:spPr bwMode="auto">
          <a:xfrm>
            <a:off x="7900765" y="5946253"/>
            <a:ext cx="3155950" cy="430887"/>
          </a:xfrm>
          <a:prstGeom prst="rect">
            <a:avLst/>
          </a:prstGeom>
          <a:solidFill>
            <a:srgbClr val="FFFFFF"/>
          </a:solidFill>
          <a:ln w="9525">
            <a:noFill/>
            <a:miter lim="800000"/>
            <a:headEnd/>
            <a:tailEnd/>
          </a:ln>
        </p:spPr>
        <p:txBody>
          <a:bodyPr lIns="0" tIns="0" rIns="0" bIns="0">
            <a:spAutoFit/>
          </a:bodyPr>
          <a:lstStyle/>
          <a:p>
            <a:pPr algn="ctr" defTabSz="914400"/>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微变等效电路图</a:t>
            </a:r>
            <a:endParaRPr lang="zh-CN" altLang="en-US" sz="7200" b="1" dirty="0">
              <a:latin typeface="微软雅黑" panose="020B0503020204020204" pitchFamily="34" charset="-122"/>
              <a:ea typeface="微软雅黑" panose="020B0503020204020204" pitchFamily="34" charset="-122"/>
            </a:endParaRPr>
          </a:p>
        </p:txBody>
      </p:sp>
      <p:sp>
        <p:nvSpPr>
          <p:cNvPr id="17" name="文本框 60">
            <a:extLst>
              <a:ext uri="{FF2B5EF4-FFF2-40B4-BE49-F238E27FC236}">
                <a16:creationId xmlns="" xmlns:a16="http://schemas.microsoft.com/office/drawing/2014/main" id="{2AE74DD4-A3DC-4933-B7CF-375FC0D7E586}"/>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基本偏置电路</a:t>
            </a:r>
          </a:p>
        </p:txBody>
      </p:sp>
      <p:sp>
        <p:nvSpPr>
          <p:cNvPr id="18" name="矩形 17">
            <a:extLst>
              <a:ext uri="{FF2B5EF4-FFF2-40B4-BE49-F238E27FC236}">
                <a16:creationId xmlns="" xmlns:a16="http://schemas.microsoft.com/office/drawing/2014/main" id="{B91776D7-F5D4-4882-8DDB-3A63F4CD992C}"/>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 xmlns:a16="http://schemas.microsoft.com/office/drawing/2014/main" id="{F138FF18-BF42-4C85-9A4E-2D702981304B}"/>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 xmlns:a16="http://schemas.microsoft.com/office/drawing/2014/main" id="{824101BF-2EF8-4333-871E-826142F43B28}"/>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 xmlns:a16="http://schemas.microsoft.com/office/drawing/2014/main" id="{B7B29AC9-91E7-4C62-B3EB-5C7CCB60D2D4}"/>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 xmlns:a16="http://schemas.microsoft.com/office/drawing/2014/main" id="{8CD2277C-EAC3-47C6-844D-AC9F5A0825E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0" name="矩形 29">
            <a:extLst>
              <a:ext uri="{FF2B5EF4-FFF2-40B4-BE49-F238E27FC236}">
                <a16:creationId xmlns="" xmlns:a16="http://schemas.microsoft.com/office/drawing/2014/main" id="{98134942-636D-4279-9A72-238D3D7A04D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869507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box(in)">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ox(i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box(in)">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a:extLst>
              <a:ext uri="{FF2B5EF4-FFF2-40B4-BE49-F238E27FC236}">
                <a16:creationId xmlns="" xmlns:a16="http://schemas.microsoft.com/office/drawing/2014/main" id="{DEEAAD45-918B-4D6A-BF8C-8E812CC85799}"/>
              </a:ext>
            </a:extLst>
          </p:cNvPr>
          <p:cNvSpPr txBox="1">
            <a:spLocks noChangeArrowheads="1"/>
          </p:cNvSpPr>
          <p:nvPr/>
        </p:nvSpPr>
        <p:spPr bwMode="auto">
          <a:xfrm>
            <a:off x="2420893" y="1489679"/>
            <a:ext cx="7289800" cy="774700"/>
          </a:xfrm>
          <a:prstGeom prst="rect">
            <a:avLst/>
          </a:prstGeom>
          <a:noFill/>
          <a:ln w="9525">
            <a:noFill/>
            <a:miter lim="800000"/>
            <a:headEnd/>
            <a:tailEnd/>
          </a:ln>
        </p:spPr>
        <p:txBody>
          <a:bodyPr>
            <a:spAutoFit/>
          </a:bodyPr>
          <a:lstStyle/>
          <a:p>
            <a:pPr defTabSz="914400">
              <a:lnSpc>
                <a:spcPct val="140000"/>
              </a:lnSpc>
              <a:spcBef>
                <a:spcPct val="50000"/>
              </a:spcBef>
            </a:pPr>
            <a:r>
              <a:rPr kumimoji="1" lang="zh-CN" altLang="en-US" sz="2800" b="1" dirty="0">
                <a:latin typeface="Times New Roman" pitchFamily="18" charset="0"/>
                <a:ea typeface="微软雅黑" pitchFamily="34" charset="-122"/>
                <a:cs typeface="Times New Roman" pitchFamily="18" charset="0"/>
              </a:rPr>
              <a:t>偏置电阻</a:t>
            </a:r>
            <a:r>
              <a:rPr kumimoji="1" lang="en-US" altLang="zh-CN" sz="2800" b="1" i="1" dirty="0">
                <a:latin typeface="Times New Roman" pitchFamily="18" charset="0"/>
                <a:ea typeface="微软雅黑" pitchFamily="34" charset="-122"/>
                <a:cs typeface="Times New Roman" pitchFamily="18" charset="0"/>
              </a:rPr>
              <a:t>R</a:t>
            </a:r>
            <a:r>
              <a:rPr kumimoji="1" lang="en-US" altLang="zh-CN" sz="2800" b="1" baseline="-30000" dirty="0">
                <a:latin typeface="Times New Roman" pitchFamily="18" charset="0"/>
                <a:ea typeface="微软雅黑" pitchFamily="34" charset="-122"/>
                <a:cs typeface="Times New Roman" pitchFamily="18" charset="0"/>
              </a:rPr>
              <a:t>L</a:t>
            </a:r>
            <a:r>
              <a:rPr kumimoji="1" lang="zh-CN" altLang="en-US" sz="2800" b="1" dirty="0">
                <a:latin typeface="Times New Roman" pitchFamily="18" charset="0"/>
                <a:ea typeface="微软雅黑" pitchFamily="34" charset="-122"/>
                <a:cs typeface="Times New Roman" pitchFamily="18" charset="0"/>
              </a:rPr>
              <a:t>两端的输出电压的</a:t>
            </a:r>
            <a:r>
              <a:rPr kumimoji="1" lang="zh-CN" altLang="en-US" sz="3200" b="1" dirty="0">
                <a:solidFill>
                  <a:srgbClr val="FF0000"/>
                </a:solidFill>
                <a:latin typeface="华文琥珀" pitchFamily="2" charset="-122"/>
                <a:ea typeface="华文琥珀" pitchFamily="2" charset="-122"/>
                <a:cs typeface="Times New Roman" pitchFamily="18" charset="0"/>
              </a:rPr>
              <a:t>变化</a:t>
            </a:r>
            <a:r>
              <a:rPr kumimoji="1" lang="zh-CN" altLang="en-US" sz="2800" b="1" dirty="0">
                <a:solidFill>
                  <a:srgbClr val="FF0000"/>
                </a:solidFill>
                <a:latin typeface="华文琥珀" pitchFamily="2" charset="-122"/>
                <a:ea typeface="华文琥珀" pitchFamily="2" charset="-122"/>
                <a:cs typeface="Times New Roman" pitchFamily="18" charset="0"/>
              </a:rPr>
              <a:t>量</a:t>
            </a:r>
            <a:r>
              <a:rPr kumimoji="1" lang="zh-CN" altLang="en-US" sz="2800" b="1" dirty="0">
                <a:latin typeface="Times New Roman" pitchFamily="18" charset="0"/>
                <a:ea typeface="微软雅黑" pitchFamily="34" charset="-122"/>
                <a:cs typeface="Times New Roman" pitchFamily="18" charset="0"/>
              </a:rPr>
              <a:t>为 </a:t>
            </a:r>
          </a:p>
        </p:txBody>
      </p:sp>
      <p:graphicFrame>
        <p:nvGraphicFramePr>
          <p:cNvPr id="18" name="Object 3">
            <a:extLst>
              <a:ext uri="{FF2B5EF4-FFF2-40B4-BE49-F238E27FC236}">
                <a16:creationId xmlns="" xmlns:a16="http://schemas.microsoft.com/office/drawing/2014/main" id="{6E2935EB-B4A9-4000-9CC1-57755C500E18}"/>
              </a:ext>
            </a:extLst>
          </p:cNvPr>
          <p:cNvGraphicFramePr>
            <a:graphicFrameLocks noChangeAspect="1"/>
          </p:cNvGraphicFramePr>
          <p:nvPr>
            <p:extLst>
              <p:ext uri="{D42A27DB-BD31-4B8C-83A1-F6EECF244321}">
                <p14:modId xmlns:p14="http://schemas.microsoft.com/office/powerpoint/2010/main" val="3103270121"/>
              </p:ext>
            </p:extLst>
          </p:nvPr>
        </p:nvGraphicFramePr>
        <p:xfrm>
          <a:off x="2546350" y="2816225"/>
          <a:ext cx="5994400" cy="1295400"/>
        </p:xfrm>
        <a:graphic>
          <a:graphicData uri="http://schemas.openxmlformats.org/presentationml/2006/ole">
            <mc:AlternateContent xmlns:mc="http://schemas.openxmlformats.org/markup-compatibility/2006">
              <mc:Choice xmlns:v="urn:schemas-microsoft-com:vml" Requires="v">
                <p:oleObj spid="_x0000_s4115" name="Equation" r:id="rId3" imgW="2158920" imgH="469800" progId="Equation.DSMT4">
                  <p:embed/>
                </p:oleObj>
              </mc:Choice>
              <mc:Fallback>
                <p:oleObj name="Equation" r:id="rId3" imgW="2158920" imgH="469800" progId="Equation.DSMT4">
                  <p:embed/>
                  <p:pic>
                    <p:nvPicPr>
                      <p:cNvPr id="366595" name="Object 3"/>
                      <p:cNvPicPr>
                        <a:picLocks noChangeAspect="1" noChangeArrowheads="1"/>
                      </p:cNvPicPr>
                      <p:nvPr/>
                    </p:nvPicPr>
                    <p:blipFill>
                      <a:blip r:embed="rId4"/>
                      <a:srcRect/>
                      <a:stretch>
                        <a:fillRect/>
                      </a:stretch>
                    </p:blipFill>
                    <p:spPr bwMode="auto">
                      <a:xfrm>
                        <a:off x="2546350" y="2816225"/>
                        <a:ext cx="5994400" cy="1295400"/>
                      </a:xfrm>
                      <a:prstGeom prst="rect">
                        <a:avLst/>
                      </a:prstGeom>
                      <a:solidFill>
                        <a:srgbClr val="FFFF00"/>
                      </a:solidFill>
                    </p:spPr>
                  </p:pic>
                </p:oleObj>
              </mc:Fallback>
            </mc:AlternateContent>
          </a:graphicData>
        </a:graphic>
      </p:graphicFrame>
      <p:sp>
        <p:nvSpPr>
          <p:cNvPr id="19" name="Text Box 4">
            <a:extLst>
              <a:ext uri="{FF2B5EF4-FFF2-40B4-BE49-F238E27FC236}">
                <a16:creationId xmlns="" xmlns:a16="http://schemas.microsoft.com/office/drawing/2014/main" id="{24314BE7-0B6D-402F-B45F-324B2EEAB10E}"/>
              </a:ext>
            </a:extLst>
          </p:cNvPr>
          <p:cNvSpPr txBox="1">
            <a:spLocks noChangeArrowheads="1"/>
          </p:cNvSpPr>
          <p:nvPr/>
        </p:nvSpPr>
        <p:spPr bwMode="auto">
          <a:xfrm>
            <a:off x="1586253" y="4779725"/>
            <a:ext cx="11027339" cy="1477328"/>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3200" b="1" dirty="0">
                <a:latin typeface="Times New Roman" pitchFamily="18" charset="0"/>
                <a:ea typeface="黑体" pitchFamily="49" charset="-122"/>
                <a:cs typeface="Times New Roman" pitchFamily="18" charset="0"/>
              </a:rPr>
              <a:t>       </a:t>
            </a:r>
            <a:r>
              <a:rPr kumimoji="1" lang="zh-CN" altLang="en-US" sz="2800" b="1" dirty="0">
                <a:latin typeface="Times New Roman" pitchFamily="18" charset="0"/>
                <a:ea typeface="微软雅黑" pitchFamily="34" charset="-122"/>
                <a:cs typeface="Times New Roman" pitchFamily="18" charset="0"/>
              </a:rPr>
              <a:t>可以看出，当电路参数确定后，输出电压</a:t>
            </a:r>
            <a:r>
              <a:rPr kumimoji="1" lang="zh-CN" altLang="en-US" sz="3200" b="1" dirty="0">
                <a:solidFill>
                  <a:srgbClr val="FF0000"/>
                </a:solidFill>
                <a:latin typeface="华文琥珀" pitchFamily="2" charset="-122"/>
                <a:ea typeface="华文琥珀" pitchFamily="2" charset="-122"/>
                <a:cs typeface="Times New Roman" pitchFamily="18" charset="0"/>
              </a:rPr>
              <a:t>信号的变化量</a:t>
            </a:r>
            <a:r>
              <a:rPr kumimoji="1" lang="zh-CN" altLang="en-US" sz="2800" b="1" dirty="0">
                <a:latin typeface="Times New Roman" pitchFamily="18" charset="0"/>
                <a:ea typeface="微软雅黑" pitchFamily="34" charset="-122"/>
                <a:cs typeface="Times New Roman" pitchFamily="18" charset="0"/>
              </a:rPr>
              <a:t>与弱辐射入射照度</a:t>
            </a:r>
            <a:r>
              <a:rPr kumimoji="1" lang="en-US" altLang="zh-CN" sz="2800" b="1" i="1" dirty="0" err="1">
                <a:latin typeface="Times New Roman" pitchFamily="18" charset="0"/>
                <a:ea typeface="微软雅黑" pitchFamily="34" charset="-122"/>
                <a:cs typeface="Times New Roman" pitchFamily="18" charset="0"/>
              </a:rPr>
              <a:t>e</a:t>
            </a:r>
            <a:r>
              <a:rPr kumimoji="1" lang="en-US" altLang="zh-CN" sz="2800" b="1" baseline="-30000" dirty="0" err="1">
                <a:latin typeface="Times New Roman" pitchFamily="18" charset="0"/>
                <a:ea typeface="微软雅黑" pitchFamily="34" charset="-122"/>
                <a:cs typeface="Times New Roman" pitchFamily="18" charset="0"/>
              </a:rPr>
              <a:t>v</a:t>
            </a:r>
            <a:r>
              <a:rPr kumimoji="1" lang="zh-CN" altLang="en-US" sz="2800" b="1" dirty="0">
                <a:latin typeface="Times New Roman" pitchFamily="18" charset="0"/>
                <a:ea typeface="微软雅黑" pitchFamily="34" charset="-122"/>
                <a:cs typeface="Times New Roman" pitchFamily="18" charset="0"/>
              </a:rPr>
              <a:t>成线性关系</a:t>
            </a:r>
            <a:r>
              <a:rPr kumimoji="1" lang="zh-CN" altLang="en-US" sz="2800" b="1" dirty="0">
                <a:latin typeface="Times New Roman" pitchFamily="18" charset="0"/>
                <a:ea typeface="黑体" pitchFamily="49" charset="-122"/>
                <a:cs typeface="Times New Roman" pitchFamily="18" charset="0"/>
              </a:rPr>
              <a:t>。 </a:t>
            </a:r>
            <a:endParaRPr kumimoji="1" lang="zh-CN" altLang="en-US" sz="3200" b="1" dirty="0">
              <a:latin typeface="Times New Roman" pitchFamily="18" charset="0"/>
              <a:ea typeface="黑体" pitchFamily="49" charset="-122"/>
              <a:cs typeface="Times New Roman" pitchFamily="18" charset="0"/>
            </a:endParaRPr>
          </a:p>
        </p:txBody>
      </p:sp>
      <p:sp>
        <p:nvSpPr>
          <p:cNvPr id="14" name="文本框 60">
            <a:extLst>
              <a:ext uri="{FF2B5EF4-FFF2-40B4-BE49-F238E27FC236}">
                <a16:creationId xmlns="" xmlns:a16="http://schemas.microsoft.com/office/drawing/2014/main" id="{367043DB-B8BD-452C-A6A9-498FB755B933}"/>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基本偏置电路</a:t>
            </a:r>
          </a:p>
        </p:txBody>
      </p:sp>
      <p:sp>
        <p:nvSpPr>
          <p:cNvPr id="15" name="矩形 14">
            <a:extLst>
              <a:ext uri="{FF2B5EF4-FFF2-40B4-BE49-F238E27FC236}">
                <a16:creationId xmlns="" xmlns:a16="http://schemas.microsoft.com/office/drawing/2014/main" id="{34786E5C-D13B-41D3-94AC-0386C548CB0F}"/>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 xmlns:a16="http://schemas.microsoft.com/office/drawing/2014/main" id="{CB82BB44-3343-453B-AB01-405399D79F2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 xmlns:a16="http://schemas.microsoft.com/office/drawing/2014/main" id="{109E4FF2-6790-4FF6-B093-5A2B282A61E8}"/>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 xmlns:a16="http://schemas.microsoft.com/office/drawing/2014/main" id="{1F90A25B-6A67-497D-9138-BB643CBBC4D2}"/>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 xmlns:a16="http://schemas.microsoft.com/office/drawing/2014/main" id="{AC041FD0-722D-4F3C-9A2C-305AD0CF24C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7" name="矩形 26">
            <a:extLst>
              <a:ext uri="{FF2B5EF4-FFF2-40B4-BE49-F238E27FC236}">
                <a16:creationId xmlns="" xmlns:a16="http://schemas.microsoft.com/office/drawing/2014/main" id="{C7F5BD5A-F1ED-4E64-B741-26841D4BB15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53685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ox(i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ox(i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ox(in)">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5">
            <a:extLst>
              <a:ext uri="{FF2B5EF4-FFF2-40B4-BE49-F238E27FC236}">
                <a16:creationId xmlns="" xmlns:a16="http://schemas.microsoft.com/office/drawing/2014/main" id="{B6A87480-A774-4A40-BC41-87848FFC41BF}"/>
              </a:ext>
            </a:extLst>
          </p:cNvPr>
          <p:cNvGraphicFramePr>
            <a:graphicFrameLocks noChangeAspect="1"/>
          </p:cNvGraphicFramePr>
          <p:nvPr>
            <p:extLst>
              <p:ext uri="{D42A27DB-BD31-4B8C-83A1-F6EECF244321}">
                <p14:modId xmlns:p14="http://schemas.microsoft.com/office/powerpoint/2010/main" val="2456432253"/>
              </p:ext>
            </p:extLst>
          </p:nvPr>
        </p:nvGraphicFramePr>
        <p:xfrm>
          <a:off x="1688843" y="2406697"/>
          <a:ext cx="2541587" cy="952500"/>
        </p:xfrm>
        <a:graphic>
          <a:graphicData uri="http://schemas.openxmlformats.org/presentationml/2006/ole">
            <mc:AlternateContent xmlns:mc="http://schemas.openxmlformats.org/markup-compatibility/2006">
              <mc:Choice xmlns:v="urn:schemas-microsoft-com:vml" Requires="v">
                <p:oleObj spid="_x0000_s5170" name="Equation" r:id="rId3" imgW="1244520" imgH="469800" progId="Equation.DSMT4">
                  <p:embed/>
                </p:oleObj>
              </mc:Choice>
              <mc:Fallback>
                <p:oleObj name="Equation" r:id="rId3" imgW="1244520" imgH="469800" progId="Equation.DSMT4">
                  <p:embed/>
                  <p:pic>
                    <p:nvPicPr>
                      <p:cNvPr id="388101" name="Object 5"/>
                      <p:cNvPicPr>
                        <a:picLocks noChangeAspect="1" noChangeArrowheads="1"/>
                      </p:cNvPicPr>
                      <p:nvPr/>
                    </p:nvPicPr>
                    <p:blipFill>
                      <a:blip r:embed="rId4"/>
                      <a:srcRect/>
                      <a:stretch>
                        <a:fillRect/>
                      </a:stretch>
                    </p:blipFill>
                    <p:spPr bwMode="auto">
                      <a:xfrm>
                        <a:off x="1688843" y="2406697"/>
                        <a:ext cx="2541587" cy="952500"/>
                      </a:xfrm>
                      <a:prstGeom prst="rect">
                        <a:avLst/>
                      </a:prstGeom>
                      <a:solidFill>
                        <a:srgbClr val="FFFF00"/>
                      </a:solidFill>
                    </p:spPr>
                  </p:pic>
                </p:oleObj>
              </mc:Fallback>
            </mc:AlternateContent>
          </a:graphicData>
        </a:graphic>
      </p:graphicFrame>
      <p:graphicFrame>
        <p:nvGraphicFramePr>
          <p:cNvPr id="15" name="Object 6">
            <a:extLst>
              <a:ext uri="{FF2B5EF4-FFF2-40B4-BE49-F238E27FC236}">
                <a16:creationId xmlns="" xmlns:a16="http://schemas.microsoft.com/office/drawing/2014/main" id="{7C813320-ED0A-4E12-94FF-99213F22A8B4}"/>
              </a:ext>
            </a:extLst>
          </p:cNvPr>
          <p:cNvGraphicFramePr>
            <a:graphicFrameLocks noChangeAspect="1"/>
          </p:cNvGraphicFramePr>
          <p:nvPr>
            <p:extLst>
              <p:ext uri="{D42A27DB-BD31-4B8C-83A1-F6EECF244321}">
                <p14:modId xmlns:p14="http://schemas.microsoft.com/office/powerpoint/2010/main" val="4087943798"/>
              </p:ext>
            </p:extLst>
          </p:nvPr>
        </p:nvGraphicFramePr>
        <p:xfrm>
          <a:off x="4739709" y="2418053"/>
          <a:ext cx="2489200" cy="874712"/>
        </p:xfrm>
        <a:graphic>
          <a:graphicData uri="http://schemas.openxmlformats.org/presentationml/2006/ole">
            <mc:AlternateContent xmlns:mc="http://schemas.openxmlformats.org/markup-compatibility/2006">
              <mc:Choice xmlns:v="urn:schemas-microsoft-com:vml" Requires="v">
                <p:oleObj spid="_x0000_s5171" name="Equation" r:id="rId5" imgW="1218960" imgH="431640" progId="Equation.DSMT4">
                  <p:embed/>
                </p:oleObj>
              </mc:Choice>
              <mc:Fallback>
                <p:oleObj name="Equation" r:id="rId5" imgW="1218960" imgH="431640" progId="Equation.DSMT4">
                  <p:embed/>
                  <p:pic>
                    <p:nvPicPr>
                      <p:cNvPr id="388102" name="Object 6"/>
                      <p:cNvPicPr>
                        <a:picLocks noChangeAspect="1" noChangeArrowheads="1"/>
                      </p:cNvPicPr>
                      <p:nvPr/>
                    </p:nvPicPr>
                    <p:blipFill>
                      <a:blip r:embed="rId6"/>
                      <a:srcRect/>
                      <a:stretch>
                        <a:fillRect/>
                      </a:stretch>
                    </p:blipFill>
                    <p:spPr bwMode="auto">
                      <a:xfrm>
                        <a:off x="4739709" y="2418053"/>
                        <a:ext cx="2489200" cy="874712"/>
                      </a:xfrm>
                      <a:prstGeom prst="rect">
                        <a:avLst/>
                      </a:prstGeom>
                      <a:solidFill>
                        <a:srgbClr val="FFFF00"/>
                      </a:solidFill>
                    </p:spPr>
                  </p:pic>
                </p:oleObj>
              </mc:Fallback>
            </mc:AlternateContent>
          </a:graphicData>
        </a:graphic>
      </p:graphicFrame>
      <p:sp>
        <p:nvSpPr>
          <p:cNvPr id="16" name="Rectangle 10">
            <a:extLst>
              <a:ext uri="{FF2B5EF4-FFF2-40B4-BE49-F238E27FC236}">
                <a16:creationId xmlns="" xmlns:a16="http://schemas.microsoft.com/office/drawing/2014/main" id="{CF9EB9FC-9188-4F6C-B489-64CEE6D8A6E6}"/>
              </a:ext>
            </a:extLst>
          </p:cNvPr>
          <p:cNvSpPr>
            <a:spLocks noChangeArrowheads="1"/>
          </p:cNvSpPr>
          <p:nvPr/>
        </p:nvSpPr>
        <p:spPr bwMode="auto">
          <a:xfrm>
            <a:off x="1814106" y="3791642"/>
            <a:ext cx="5464975" cy="523220"/>
          </a:xfrm>
          <a:prstGeom prst="rect">
            <a:avLst/>
          </a:prstGeom>
          <a:solidFill>
            <a:schemeClr val="accent6">
              <a:lumMod val="60000"/>
              <a:lumOff val="40000"/>
            </a:schemeClr>
          </a:solidFill>
          <a:ln w="9525">
            <a:noFill/>
            <a:miter lim="800000"/>
            <a:headEnd/>
            <a:tailEnd/>
          </a:ln>
        </p:spPr>
        <p:txBody>
          <a:bodyPr wrap="square">
            <a:spAutoFit/>
          </a:bodyPr>
          <a:lstStyle/>
          <a:p>
            <a:pPr defTabSz="914400">
              <a:defRPr/>
            </a:pPr>
            <a:r>
              <a:rPr lang="zh-CN" altLang="en-US" sz="2800" b="1" dirty="0">
                <a:solidFill>
                  <a:srgbClr val="0000FF"/>
                </a:solidFill>
                <a:latin typeface="微软雅黑" pitchFamily="34" charset="-122"/>
                <a:ea typeface="微软雅黑" pitchFamily="34" charset="-122"/>
              </a:rPr>
              <a:t>特点</a:t>
            </a:r>
            <a:r>
              <a:rPr lang="en-US" altLang="zh-CN" sz="2800" b="1" dirty="0">
                <a:solidFill>
                  <a:srgbClr val="0000FF"/>
                </a:solidFill>
                <a:latin typeface="微软雅黑" pitchFamily="34" charset="-122"/>
                <a:ea typeface="微软雅黑" pitchFamily="34" charset="-122"/>
              </a:rPr>
              <a:t>: </a:t>
            </a:r>
            <a:r>
              <a:rPr lang="zh-CN" altLang="en-US" sz="2800" b="1" dirty="0">
                <a:solidFill>
                  <a:srgbClr val="0000FF"/>
                </a:solidFill>
                <a:latin typeface="微软雅黑" pitchFamily="34" charset="-122"/>
                <a:ea typeface="微软雅黑" pitchFamily="34" charset="-122"/>
              </a:rPr>
              <a:t>信噪比高－－弱光信号检测</a:t>
            </a:r>
          </a:p>
        </p:txBody>
      </p:sp>
      <p:sp>
        <p:nvSpPr>
          <p:cNvPr id="21" name="Text Box 3">
            <a:extLst>
              <a:ext uri="{FF2B5EF4-FFF2-40B4-BE49-F238E27FC236}">
                <a16:creationId xmlns="" xmlns:a16="http://schemas.microsoft.com/office/drawing/2014/main" id="{5FF2F759-3B07-48F6-932E-61158E064C1C}"/>
              </a:ext>
            </a:extLst>
          </p:cNvPr>
          <p:cNvSpPr txBox="1">
            <a:spLocks noChangeArrowheads="1"/>
          </p:cNvSpPr>
          <p:nvPr/>
        </p:nvSpPr>
        <p:spPr bwMode="auto">
          <a:xfrm>
            <a:off x="732914" y="1413772"/>
            <a:ext cx="11673407"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微软雅黑" pitchFamily="34" charset="-122"/>
                <a:cs typeface="Times New Roman" pitchFamily="18" charset="0"/>
              </a:rPr>
              <a:t>当</a:t>
            </a:r>
            <a:r>
              <a:rPr kumimoji="1" lang="en-US" altLang="zh-CN" sz="2400" b="1" i="1" dirty="0">
                <a:solidFill>
                  <a:srgbClr val="FF0000"/>
                </a:solidFill>
                <a:latin typeface="Times New Roman" pitchFamily="18" charset="0"/>
                <a:ea typeface="微软雅黑" pitchFamily="34" charset="-122"/>
                <a:cs typeface="Times New Roman" pitchFamily="18" charset="0"/>
              </a:rPr>
              <a:t>R</a:t>
            </a:r>
            <a:r>
              <a:rPr kumimoji="1" lang="en-US" altLang="zh-CN" sz="2400" b="1" baseline="-30000" dirty="0">
                <a:solidFill>
                  <a:srgbClr val="FF0000"/>
                </a:solidFill>
                <a:latin typeface="Times New Roman" pitchFamily="18" charset="0"/>
                <a:ea typeface="微软雅黑" pitchFamily="34" charset="-122"/>
                <a:cs typeface="Times New Roman" pitchFamily="18" charset="0"/>
              </a:rPr>
              <a:t>L</a:t>
            </a:r>
            <a:r>
              <a:rPr kumimoji="1" lang="en-US" altLang="zh-CN" sz="2400" b="1" dirty="0">
                <a:solidFill>
                  <a:srgbClr val="FF0000"/>
                </a:solidFill>
                <a:latin typeface="Times New Roman" pitchFamily="18" charset="0"/>
                <a:ea typeface="微软雅黑" pitchFamily="34" charset="-122"/>
                <a:cs typeface="Times New Roman" pitchFamily="18" charset="0"/>
              </a:rPr>
              <a:t>»</a:t>
            </a:r>
            <a:r>
              <a:rPr kumimoji="1" lang="en-US" altLang="zh-CN" sz="2400" b="1" i="1" dirty="0">
                <a:solidFill>
                  <a:srgbClr val="FF0000"/>
                </a:solidFill>
                <a:latin typeface="Times New Roman" pitchFamily="18" charset="0"/>
                <a:ea typeface="微软雅黑" pitchFamily="34" charset="-122"/>
                <a:cs typeface="Times New Roman" pitchFamily="18" charset="0"/>
              </a:rPr>
              <a:t>R</a:t>
            </a:r>
            <a:r>
              <a:rPr kumimoji="1" lang="zh-CN" altLang="en-US" sz="2400" b="1" dirty="0">
                <a:latin typeface="Times New Roman" pitchFamily="18" charset="0"/>
                <a:ea typeface="微软雅黑" pitchFamily="34" charset="-122"/>
                <a:cs typeface="Times New Roman" pitchFamily="18" charset="0"/>
              </a:rPr>
              <a:t>时，流过光敏电阻的电流基本不变，此时的偏置电路称为恒流电路。</a:t>
            </a:r>
            <a:endParaRPr kumimoji="1" lang="zh-CN" altLang="en-US" b="1" dirty="0">
              <a:latin typeface="Times New Roman" pitchFamily="18" charset="0"/>
              <a:ea typeface="微软雅黑" pitchFamily="34" charset="-122"/>
              <a:cs typeface="Times New Roman" pitchFamily="18" charset="0"/>
            </a:endParaRPr>
          </a:p>
        </p:txBody>
      </p:sp>
      <p:graphicFrame>
        <p:nvGraphicFramePr>
          <p:cNvPr id="22" name="Object 2">
            <a:extLst>
              <a:ext uri="{FF2B5EF4-FFF2-40B4-BE49-F238E27FC236}">
                <a16:creationId xmlns="" xmlns:a16="http://schemas.microsoft.com/office/drawing/2014/main" id="{014F1468-C18D-4450-9A0A-9B329B1B8E41}"/>
              </a:ext>
            </a:extLst>
          </p:cNvPr>
          <p:cNvGraphicFramePr>
            <a:graphicFrameLocks noChangeAspect="1"/>
          </p:cNvGraphicFramePr>
          <p:nvPr>
            <p:extLst>
              <p:ext uri="{D42A27DB-BD31-4B8C-83A1-F6EECF244321}">
                <p14:modId xmlns:p14="http://schemas.microsoft.com/office/powerpoint/2010/main" val="882060444"/>
              </p:ext>
            </p:extLst>
          </p:nvPr>
        </p:nvGraphicFramePr>
        <p:xfrm>
          <a:off x="8978896" y="2704823"/>
          <a:ext cx="3911600" cy="3220077"/>
        </p:xfrm>
        <a:graphic>
          <a:graphicData uri="http://schemas.openxmlformats.org/presentationml/2006/ole">
            <mc:AlternateContent xmlns:mc="http://schemas.openxmlformats.org/markup-compatibility/2006">
              <mc:Choice xmlns:v="urn:schemas-microsoft-com:vml" Requires="v">
                <p:oleObj spid="_x0000_s5172" name="Visio" r:id="rId7" imgW="2428200" imgH="2446560" progId="Visio.Drawing.11">
                  <p:embed/>
                </p:oleObj>
              </mc:Choice>
              <mc:Fallback>
                <p:oleObj name="Visio" r:id="rId7" imgW="2428200" imgH="2446560" progId="Visio.Drawing.11">
                  <p:embed/>
                  <p:pic>
                    <p:nvPicPr>
                      <p:cNvPr id="20" name="Object 2"/>
                      <p:cNvPicPr>
                        <a:picLocks noChangeAspect="1" noChangeArrowheads="1"/>
                      </p:cNvPicPr>
                      <p:nvPr/>
                    </p:nvPicPr>
                    <p:blipFill>
                      <a:blip r:embed="rId8"/>
                      <a:srcRect/>
                      <a:stretch>
                        <a:fillRect/>
                      </a:stretch>
                    </p:blipFill>
                    <p:spPr bwMode="auto">
                      <a:xfrm>
                        <a:off x="8978896" y="2704823"/>
                        <a:ext cx="3911600" cy="3220077"/>
                      </a:xfrm>
                      <a:prstGeom prst="rect">
                        <a:avLst/>
                      </a:prstGeom>
                      <a:noFill/>
                      <a:extLst/>
                    </p:spPr>
                  </p:pic>
                </p:oleObj>
              </mc:Fallback>
            </mc:AlternateContent>
          </a:graphicData>
        </a:graphic>
      </p:graphicFrame>
      <p:sp>
        <p:nvSpPr>
          <p:cNvPr id="23" name="TextBox 3">
            <a:extLst>
              <a:ext uri="{FF2B5EF4-FFF2-40B4-BE49-F238E27FC236}">
                <a16:creationId xmlns="" xmlns:a16="http://schemas.microsoft.com/office/drawing/2014/main" id="{7CB4C8FA-E7F3-41B2-AFFC-B08419570599}"/>
              </a:ext>
            </a:extLst>
          </p:cNvPr>
          <p:cNvSpPr txBox="1">
            <a:spLocks noChangeArrowheads="1"/>
          </p:cNvSpPr>
          <p:nvPr/>
        </p:nvSpPr>
        <p:spPr bwMode="auto">
          <a:xfrm>
            <a:off x="578343" y="4588608"/>
            <a:ext cx="8322732" cy="1754326"/>
          </a:xfrm>
          <a:prstGeom prst="rect">
            <a:avLst/>
          </a:prstGeom>
          <a:noFill/>
          <a:ln w="9525">
            <a:noFill/>
            <a:miter lim="800000"/>
            <a:headEnd/>
            <a:tailEnd/>
          </a:ln>
        </p:spPr>
        <p:txBody>
          <a:bodyPr wrap="square">
            <a:spAutoFit/>
          </a:bodyPr>
          <a:lstStyle/>
          <a:p>
            <a:pPr defTabSz="914400">
              <a:lnSpc>
                <a:spcPct val="150000"/>
              </a:lnSpc>
            </a:pPr>
            <a:r>
              <a:rPr kumimoji="1" lang="zh-CN" altLang="en-US" sz="2400" b="1" dirty="0">
                <a:latin typeface="微软雅黑" panose="020B0503020204020204" pitchFamily="34" charset="-122"/>
                <a:ea typeface="微软雅黑" panose="020B0503020204020204" pitchFamily="34" charset="-122"/>
              </a:rPr>
              <a:t>由于</a:t>
            </a:r>
            <a:r>
              <a:rPr kumimoji="1" lang="zh-CN" altLang="en-US" sz="2400" b="1" u="sng" dirty="0">
                <a:solidFill>
                  <a:srgbClr val="FF0000"/>
                </a:solidFill>
                <a:latin typeface="微软雅黑" pitchFamily="34" charset="-122"/>
                <a:ea typeface="微软雅黑" pitchFamily="34" charset="-122"/>
              </a:rPr>
              <a:t>光敏电阻自身的阻值</a:t>
            </a:r>
            <a:r>
              <a:rPr kumimoji="1" lang="zh-CN" altLang="en-US" sz="2400" b="1" dirty="0">
                <a:latin typeface="微软雅黑" pitchFamily="34" charset="-122"/>
                <a:ea typeface="微软雅黑" pitchFamily="34" charset="-122"/>
              </a:rPr>
              <a:t>已经很高，再满足恒流偏置的条件就难以满足电路输出阻抗的要求，为此，可引入如图所示的晶体管恒流偏置电路</a:t>
            </a:r>
            <a:r>
              <a:rPr kumimoji="1" lang="zh-CN" altLang="en-US" sz="2400" dirty="0">
                <a:latin typeface="微软雅黑" pitchFamily="34" charset="-122"/>
                <a:ea typeface="微软雅黑" pitchFamily="34" charset="-122"/>
              </a:rPr>
              <a:t>。</a:t>
            </a:r>
            <a:endParaRPr lang="zh-CN" altLang="en-US" sz="2400" b="1" dirty="0">
              <a:latin typeface="微软雅黑" pitchFamily="34" charset="-122"/>
              <a:ea typeface="微软雅黑" pitchFamily="34" charset="-122"/>
            </a:endParaRPr>
          </a:p>
        </p:txBody>
      </p:sp>
      <p:sp>
        <p:nvSpPr>
          <p:cNvPr id="17" name="文本框 60">
            <a:extLst>
              <a:ext uri="{FF2B5EF4-FFF2-40B4-BE49-F238E27FC236}">
                <a16:creationId xmlns="" xmlns:a16="http://schemas.microsoft.com/office/drawing/2014/main" id="{EDAB8BD0-92D5-468F-9E08-380EFA099F65}"/>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恒流电路</a:t>
            </a:r>
            <a:r>
              <a:rPr lang="en-US" altLang="zh-CN" b="1" dirty="0">
                <a:latin typeface="微软雅黑" panose="020B0503020204020204" pitchFamily="34" charset="-122"/>
                <a:ea typeface="微软雅黑" panose="020B0503020204020204" pitchFamily="34" charset="-122"/>
              </a:rPr>
              <a:t>(RL&gt;&gt;R)</a:t>
            </a:r>
            <a:endParaRPr lang="zh-CN" altLang="en-US" b="1" dirty="0">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 xmlns:a16="http://schemas.microsoft.com/office/drawing/2014/main" id="{47AD99AE-106F-46A7-974C-BDEDCB6A8D09}"/>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 xmlns:a16="http://schemas.microsoft.com/office/drawing/2014/main" id="{CBE836AE-2C19-4A84-8FA7-6CE0C94EDF7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 xmlns:a16="http://schemas.microsoft.com/office/drawing/2014/main" id="{56D5965D-EBA5-48A0-AF64-B5382AA251AB}"/>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7" name="直接连接符 58">
            <a:extLst>
              <a:ext uri="{FF2B5EF4-FFF2-40B4-BE49-F238E27FC236}">
                <a16:creationId xmlns="" xmlns:a16="http://schemas.microsoft.com/office/drawing/2014/main" id="{B37887D7-DB6D-450E-82C1-3BFD451E7B37}"/>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 xmlns:a16="http://schemas.microsoft.com/office/drawing/2014/main" id="{6AB0CD82-AAF0-41E6-8790-0A7501EE365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9" name="矩形 28">
            <a:extLst>
              <a:ext uri="{FF2B5EF4-FFF2-40B4-BE49-F238E27FC236}">
                <a16:creationId xmlns="" xmlns:a16="http://schemas.microsoft.com/office/drawing/2014/main" id="{B392E641-BEE9-4305-BC02-84AC215E577E}"/>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66970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ox(i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i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ox(i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ppt_x</p:attrName>
                                        </p:attrNameLst>
                                      </p:cBhvr>
                                      <p:tavLst>
                                        <p:tav tm="0">
                                          <p:val>
                                            <p:strVal val="#ppt_x-#ppt_w/2"/>
                                          </p:val>
                                        </p:tav>
                                        <p:tav tm="100000">
                                          <p:val>
                                            <p:strVal val="#ppt_x"/>
                                          </p:val>
                                        </p:tav>
                                      </p:tavLst>
                                    </p:anim>
                                    <p:anim calcmode="lin" valueType="num">
                                      <p:cBhvr>
                                        <p:cTn id="23" dur="500" fill="hold"/>
                                        <p:tgtEl>
                                          <p:spTgt spid="16"/>
                                        </p:tgtEl>
                                        <p:attrNameLst>
                                          <p:attrName>ppt_y</p:attrName>
                                        </p:attrNameLst>
                                      </p:cBhvr>
                                      <p:tavLst>
                                        <p:tav tm="0">
                                          <p:val>
                                            <p:strVal val="#ppt_y"/>
                                          </p:val>
                                        </p:tav>
                                        <p:tav tm="100000">
                                          <p:val>
                                            <p:strVal val="#ppt_y"/>
                                          </p:val>
                                        </p:tav>
                                      </p:tavLst>
                                    </p:anim>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box(in)">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utoUpdateAnimBg="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5">
            <a:extLst>
              <a:ext uri="{FF2B5EF4-FFF2-40B4-BE49-F238E27FC236}">
                <a16:creationId xmlns="" xmlns:a16="http://schemas.microsoft.com/office/drawing/2014/main" id="{D4BBB103-0EF0-4D38-98F1-F7EAEA1B99D0}"/>
              </a:ext>
            </a:extLst>
          </p:cNvPr>
          <p:cNvSpPr txBox="1">
            <a:spLocks noChangeArrowheads="1"/>
          </p:cNvSpPr>
          <p:nvPr/>
        </p:nvSpPr>
        <p:spPr bwMode="auto">
          <a:xfrm>
            <a:off x="485627" y="945519"/>
            <a:ext cx="12442433" cy="58086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dirty="0">
                <a:latin typeface="Times New Roman" pitchFamily="18" charset="0"/>
                <a:ea typeface="黑体" pitchFamily="49" charset="-122"/>
                <a:cs typeface="Times New Roman" pitchFamily="18" charset="0"/>
              </a:rPr>
              <a:t>    </a:t>
            </a:r>
            <a:r>
              <a:rPr kumimoji="1" lang="zh-CN" altLang="en-US" sz="2400" b="1" dirty="0">
                <a:latin typeface="Times New Roman" pitchFamily="18" charset="0"/>
                <a:ea typeface="微软雅黑" pitchFamily="34" charset="-122"/>
                <a:cs typeface="Times New Roman" pitchFamily="18" charset="0"/>
              </a:rPr>
              <a:t>稳压管</a:t>
            </a:r>
            <a:r>
              <a:rPr kumimoji="1" lang="en-US" altLang="zh-CN" sz="2400" b="1" dirty="0">
                <a:latin typeface="Times New Roman" pitchFamily="18" charset="0"/>
                <a:ea typeface="微软雅黑" pitchFamily="34" charset="-122"/>
                <a:cs typeface="Times New Roman" pitchFamily="18" charset="0"/>
              </a:rPr>
              <a:t>D</a:t>
            </a:r>
            <a:r>
              <a:rPr kumimoji="1" lang="en-US" altLang="zh-CN" sz="2400" b="1" baseline="-30000" dirty="0">
                <a:latin typeface="Times New Roman" pitchFamily="18" charset="0"/>
                <a:ea typeface="微软雅黑" pitchFamily="34" charset="-122"/>
                <a:cs typeface="Times New Roman" pitchFamily="18" charset="0"/>
              </a:rPr>
              <a:t>W</a:t>
            </a:r>
            <a:r>
              <a:rPr kumimoji="1" lang="zh-CN" altLang="en-US" sz="2400" b="1" dirty="0">
                <a:latin typeface="Times New Roman" pitchFamily="18" charset="0"/>
                <a:ea typeface="微软雅黑" pitchFamily="34" charset="-122"/>
                <a:cs typeface="Times New Roman" pitchFamily="18" charset="0"/>
              </a:rPr>
              <a:t>将晶体三极管的基极电压稳定，即</a:t>
            </a:r>
            <a:r>
              <a:rPr kumimoji="1" lang="en-US" altLang="zh-CN" sz="2400" b="1" i="1" dirty="0" err="1">
                <a:latin typeface="Times New Roman" pitchFamily="18" charset="0"/>
                <a:ea typeface="微软雅黑" pitchFamily="34" charset="-122"/>
                <a:cs typeface="Times New Roman" pitchFamily="18" charset="0"/>
              </a:rPr>
              <a:t>V</a:t>
            </a:r>
            <a:r>
              <a:rPr kumimoji="1" lang="en-US" altLang="zh-CN" sz="2400" b="1" baseline="-30000" dirty="0" err="1">
                <a:latin typeface="Times New Roman" pitchFamily="18" charset="0"/>
                <a:ea typeface="微软雅黑" pitchFamily="34" charset="-122"/>
                <a:cs typeface="Times New Roman" pitchFamily="18" charset="0"/>
              </a:rPr>
              <a:t>b</a:t>
            </a:r>
            <a:r>
              <a:rPr kumimoji="1" lang="en-US" altLang="zh-CN" sz="2400" b="1" dirty="0">
                <a:latin typeface="Times New Roman" pitchFamily="18" charset="0"/>
                <a:ea typeface="微软雅黑" pitchFamily="34" charset="-122"/>
                <a:cs typeface="Times New Roman" pitchFamily="18" charset="0"/>
              </a:rPr>
              <a:t>=</a:t>
            </a:r>
            <a:r>
              <a:rPr kumimoji="1" lang="en-US" altLang="zh-CN" sz="2400" b="1" i="1" dirty="0">
                <a:latin typeface="Times New Roman" pitchFamily="18" charset="0"/>
                <a:ea typeface="微软雅黑" pitchFamily="34" charset="-122"/>
                <a:cs typeface="Times New Roman" pitchFamily="18" charset="0"/>
              </a:rPr>
              <a:t>V</a:t>
            </a:r>
            <a:r>
              <a:rPr kumimoji="1" lang="en-US" altLang="zh-CN" sz="2400" b="1" baseline="-30000" dirty="0">
                <a:latin typeface="Times New Roman" pitchFamily="18" charset="0"/>
                <a:ea typeface="微软雅黑" pitchFamily="34" charset="-122"/>
                <a:cs typeface="Times New Roman" pitchFamily="18" charset="0"/>
              </a:rPr>
              <a:t>W</a:t>
            </a:r>
            <a:r>
              <a:rPr kumimoji="1" lang="zh-CN" altLang="en-US" sz="2400" b="1" dirty="0">
                <a:latin typeface="Times New Roman" pitchFamily="18" charset="0"/>
                <a:ea typeface="微软雅黑" pitchFamily="34" charset="-122"/>
                <a:cs typeface="Times New Roman" pitchFamily="18" charset="0"/>
              </a:rPr>
              <a:t>，流过晶体三极管发射极的电流</a:t>
            </a:r>
            <a:r>
              <a:rPr kumimoji="1" lang="en-US" altLang="zh-CN" sz="2400" b="1" i="1" dirty="0" err="1">
                <a:latin typeface="Times New Roman" pitchFamily="18" charset="0"/>
                <a:ea typeface="微软雅黑" pitchFamily="34" charset="-122"/>
                <a:cs typeface="Times New Roman" pitchFamily="18" charset="0"/>
              </a:rPr>
              <a:t>I</a:t>
            </a:r>
            <a:r>
              <a:rPr kumimoji="1" lang="en-US" altLang="zh-CN" sz="2400" b="1" baseline="-30000" dirty="0" err="1">
                <a:latin typeface="Times New Roman" pitchFamily="18" charset="0"/>
                <a:ea typeface="微软雅黑" pitchFamily="34" charset="-122"/>
                <a:cs typeface="Times New Roman" pitchFamily="18" charset="0"/>
              </a:rPr>
              <a:t>e</a:t>
            </a:r>
            <a:r>
              <a:rPr kumimoji="1" lang="en-US" altLang="zh-CN" sz="2400" b="1" dirty="0">
                <a:latin typeface="Times New Roman" pitchFamily="18" charset="0"/>
                <a:ea typeface="微软雅黑" pitchFamily="34" charset="-122"/>
                <a:cs typeface="Times New Roman" pitchFamily="18" charset="0"/>
              </a:rPr>
              <a:t> </a:t>
            </a:r>
            <a:r>
              <a:rPr kumimoji="1" lang="zh-CN" altLang="en-US" sz="2400" b="1" dirty="0">
                <a:latin typeface="Times New Roman" pitchFamily="18" charset="0"/>
                <a:ea typeface="微软雅黑" pitchFamily="34" charset="-122"/>
                <a:cs typeface="Times New Roman" pitchFamily="18" charset="0"/>
              </a:rPr>
              <a:t>为 </a:t>
            </a:r>
          </a:p>
        </p:txBody>
      </p:sp>
      <p:graphicFrame>
        <p:nvGraphicFramePr>
          <p:cNvPr id="18" name="Object 2">
            <a:extLst>
              <a:ext uri="{FF2B5EF4-FFF2-40B4-BE49-F238E27FC236}">
                <a16:creationId xmlns="" xmlns:a16="http://schemas.microsoft.com/office/drawing/2014/main" id="{7F498C7A-95E6-47B9-97C0-EEC1CEF57B80}"/>
              </a:ext>
            </a:extLst>
          </p:cNvPr>
          <p:cNvGraphicFramePr>
            <a:graphicFrameLocks noChangeAspect="1"/>
          </p:cNvGraphicFramePr>
          <p:nvPr>
            <p:extLst>
              <p:ext uri="{D42A27DB-BD31-4B8C-83A1-F6EECF244321}">
                <p14:modId xmlns:p14="http://schemas.microsoft.com/office/powerpoint/2010/main" val="915435861"/>
              </p:ext>
            </p:extLst>
          </p:nvPr>
        </p:nvGraphicFramePr>
        <p:xfrm>
          <a:off x="9116843" y="2673984"/>
          <a:ext cx="4127500" cy="3054350"/>
        </p:xfrm>
        <a:graphic>
          <a:graphicData uri="http://schemas.openxmlformats.org/presentationml/2006/ole">
            <mc:AlternateContent xmlns:mc="http://schemas.openxmlformats.org/markup-compatibility/2006">
              <mc:Choice xmlns:v="urn:schemas-microsoft-com:vml" Requires="v">
                <p:oleObj spid="_x0000_s6274" name="Visio" r:id="rId3" imgW="2428200" imgH="2446560" progId="Visio.Drawing.11">
                  <p:embed/>
                </p:oleObj>
              </mc:Choice>
              <mc:Fallback>
                <p:oleObj name="Visio" r:id="rId3" imgW="2428200" imgH="2446560" progId="Visio.Drawing.11">
                  <p:embed/>
                  <p:pic>
                    <p:nvPicPr>
                      <p:cNvPr id="33798" name="Object 2"/>
                      <p:cNvPicPr>
                        <a:picLocks noChangeAspect="1" noChangeArrowheads="1"/>
                      </p:cNvPicPr>
                      <p:nvPr/>
                    </p:nvPicPr>
                    <p:blipFill>
                      <a:blip r:embed="rId4"/>
                      <a:srcRect/>
                      <a:stretch>
                        <a:fillRect/>
                      </a:stretch>
                    </p:blipFill>
                    <p:spPr bwMode="auto">
                      <a:xfrm>
                        <a:off x="9116843" y="2673984"/>
                        <a:ext cx="4127500" cy="305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6">
            <a:extLst>
              <a:ext uri="{FF2B5EF4-FFF2-40B4-BE49-F238E27FC236}">
                <a16:creationId xmlns="" xmlns:a16="http://schemas.microsoft.com/office/drawing/2014/main" id="{7FC493EC-8B4C-42A8-A88C-96408A414AA6}"/>
              </a:ext>
            </a:extLst>
          </p:cNvPr>
          <p:cNvGraphicFramePr>
            <a:graphicFrameLocks noChangeAspect="1"/>
          </p:cNvGraphicFramePr>
          <p:nvPr>
            <p:extLst>
              <p:ext uri="{D42A27DB-BD31-4B8C-83A1-F6EECF244321}">
                <p14:modId xmlns:p14="http://schemas.microsoft.com/office/powerpoint/2010/main" val="1703491774"/>
              </p:ext>
            </p:extLst>
          </p:nvPr>
        </p:nvGraphicFramePr>
        <p:xfrm>
          <a:off x="4202316" y="1549898"/>
          <a:ext cx="1575914" cy="828984"/>
        </p:xfrm>
        <a:graphic>
          <a:graphicData uri="http://schemas.openxmlformats.org/presentationml/2006/ole">
            <mc:AlternateContent xmlns:mc="http://schemas.openxmlformats.org/markup-compatibility/2006">
              <mc:Choice xmlns:v="urn:schemas-microsoft-com:vml" Requires="v">
                <p:oleObj spid="_x0000_s6275" name="Equation" r:id="rId5" imgW="825480" imgH="431640" progId="Equation.DSMT4">
                  <p:embed/>
                </p:oleObj>
              </mc:Choice>
              <mc:Fallback>
                <p:oleObj name="Equation" r:id="rId5" imgW="825480" imgH="431640" progId="Equation.DSMT4">
                  <p:embed/>
                  <p:pic>
                    <p:nvPicPr>
                      <p:cNvPr id="367622" name="Object 6"/>
                      <p:cNvPicPr>
                        <a:picLocks noChangeAspect="1" noChangeArrowheads="1"/>
                      </p:cNvPicPr>
                      <p:nvPr/>
                    </p:nvPicPr>
                    <p:blipFill>
                      <a:blip r:embed="rId6"/>
                      <a:srcRect/>
                      <a:stretch>
                        <a:fillRect/>
                      </a:stretch>
                    </p:blipFill>
                    <p:spPr bwMode="auto">
                      <a:xfrm>
                        <a:off x="4202316" y="1549898"/>
                        <a:ext cx="1575914" cy="828984"/>
                      </a:xfrm>
                      <a:prstGeom prst="rect">
                        <a:avLst/>
                      </a:prstGeom>
                      <a:solidFill>
                        <a:srgbClr val="FFFF00"/>
                      </a:solidFill>
                    </p:spPr>
                  </p:pic>
                </p:oleObj>
              </mc:Fallback>
            </mc:AlternateContent>
          </a:graphicData>
        </a:graphic>
      </p:graphicFrame>
      <p:sp>
        <p:nvSpPr>
          <p:cNvPr id="24" name="Text Box 2">
            <a:extLst>
              <a:ext uri="{FF2B5EF4-FFF2-40B4-BE49-F238E27FC236}">
                <a16:creationId xmlns="" xmlns:a16="http://schemas.microsoft.com/office/drawing/2014/main" id="{95FE1545-C6A9-4D65-8C58-ED186BF8EAB3}"/>
              </a:ext>
            </a:extLst>
          </p:cNvPr>
          <p:cNvSpPr txBox="1">
            <a:spLocks noChangeArrowheads="1"/>
          </p:cNvSpPr>
          <p:nvPr/>
        </p:nvSpPr>
        <p:spPr bwMode="auto">
          <a:xfrm>
            <a:off x="279696" y="2421344"/>
            <a:ext cx="7112000" cy="461665"/>
          </a:xfrm>
          <a:prstGeom prst="rect">
            <a:avLst/>
          </a:prstGeom>
          <a:noFill/>
          <a:ln w="9525">
            <a:noFill/>
            <a:miter lim="800000"/>
            <a:headEnd/>
            <a:tailEnd/>
          </a:ln>
        </p:spPr>
        <p:txBody>
          <a:bodyPr>
            <a:spAutoFit/>
          </a:bodyPr>
          <a:lstStyle/>
          <a:p>
            <a:pPr defTabSz="914400">
              <a:spcBef>
                <a:spcPct val="50000"/>
              </a:spcBef>
            </a:pPr>
            <a:r>
              <a:rPr kumimoji="1" lang="zh-CN" altLang="en-US" sz="2400" dirty="0">
                <a:latin typeface="Times New Roman" pitchFamily="18" charset="0"/>
                <a:ea typeface="微软雅黑" pitchFamily="34" charset="-122"/>
                <a:cs typeface="Times New Roman" pitchFamily="18" charset="0"/>
              </a:rPr>
              <a:t>    </a:t>
            </a:r>
            <a:r>
              <a:rPr kumimoji="1" lang="zh-CN" altLang="en-US" sz="2400" b="1" dirty="0">
                <a:latin typeface="Times New Roman" pitchFamily="18" charset="0"/>
                <a:ea typeface="微软雅黑" pitchFamily="34" charset="-122"/>
                <a:cs typeface="Times New Roman" pitchFamily="18" charset="0"/>
              </a:rPr>
              <a:t>在晶体管恒流偏置电路中输出电压</a:t>
            </a:r>
            <a:r>
              <a:rPr kumimoji="1" lang="en-US" altLang="zh-CN" sz="2400" b="1" i="1" dirty="0">
                <a:latin typeface="Times New Roman" pitchFamily="18" charset="0"/>
                <a:ea typeface="微软雅黑" pitchFamily="34" charset="-122"/>
                <a:cs typeface="Times New Roman" pitchFamily="18" charset="0"/>
              </a:rPr>
              <a:t>V</a:t>
            </a:r>
            <a:r>
              <a:rPr kumimoji="1" lang="en-US" altLang="zh-CN" sz="2400" b="1" baseline="-30000" dirty="0">
                <a:latin typeface="Times New Roman" pitchFamily="18" charset="0"/>
                <a:ea typeface="微软雅黑" pitchFamily="34" charset="-122"/>
                <a:cs typeface="Times New Roman" pitchFamily="18" charset="0"/>
              </a:rPr>
              <a:t>o</a:t>
            </a:r>
            <a:r>
              <a:rPr kumimoji="1" lang="zh-CN" altLang="en-US" sz="2400" b="1" dirty="0">
                <a:latin typeface="Times New Roman" pitchFamily="18" charset="0"/>
                <a:ea typeface="微软雅黑" pitchFamily="34" charset="-122"/>
                <a:cs typeface="Times New Roman" pitchFamily="18" charset="0"/>
              </a:rPr>
              <a:t>为 </a:t>
            </a:r>
          </a:p>
        </p:txBody>
      </p:sp>
      <p:graphicFrame>
        <p:nvGraphicFramePr>
          <p:cNvPr id="27" name="Object 3">
            <a:extLst>
              <a:ext uri="{FF2B5EF4-FFF2-40B4-BE49-F238E27FC236}">
                <a16:creationId xmlns="" xmlns:a16="http://schemas.microsoft.com/office/drawing/2014/main" id="{FE317140-100B-4911-B202-DA8F160E74EF}"/>
              </a:ext>
            </a:extLst>
          </p:cNvPr>
          <p:cNvGraphicFramePr>
            <a:graphicFrameLocks noChangeAspect="1"/>
          </p:cNvGraphicFramePr>
          <p:nvPr>
            <p:extLst>
              <p:ext uri="{D42A27DB-BD31-4B8C-83A1-F6EECF244321}">
                <p14:modId xmlns:p14="http://schemas.microsoft.com/office/powerpoint/2010/main" val="3470984139"/>
              </p:ext>
            </p:extLst>
          </p:nvPr>
        </p:nvGraphicFramePr>
        <p:xfrm>
          <a:off x="4061408" y="2981977"/>
          <a:ext cx="1853009" cy="527211"/>
        </p:xfrm>
        <a:graphic>
          <a:graphicData uri="http://schemas.openxmlformats.org/presentationml/2006/ole">
            <mc:AlternateContent xmlns:mc="http://schemas.openxmlformats.org/markup-compatibility/2006">
              <mc:Choice xmlns:v="urn:schemas-microsoft-com:vml" Requires="v">
                <p:oleObj spid="_x0000_s6276" name="Equation" r:id="rId7" imgW="787320" imgH="228600" progId="Equation.DSMT4">
                  <p:embed/>
                </p:oleObj>
              </mc:Choice>
              <mc:Fallback>
                <p:oleObj name="Equation" r:id="rId7" imgW="787320" imgH="228600" progId="Equation.DSMT4">
                  <p:embed/>
                  <p:pic>
                    <p:nvPicPr>
                      <p:cNvPr id="18" name="Object 3"/>
                      <p:cNvPicPr>
                        <a:picLocks noChangeAspect="1" noChangeArrowheads="1"/>
                      </p:cNvPicPr>
                      <p:nvPr/>
                    </p:nvPicPr>
                    <p:blipFill>
                      <a:blip r:embed="rId8"/>
                      <a:srcRect/>
                      <a:stretch>
                        <a:fillRect/>
                      </a:stretch>
                    </p:blipFill>
                    <p:spPr bwMode="auto">
                      <a:xfrm>
                        <a:off x="4061408" y="2981977"/>
                        <a:ext cx="1853009" cy="527211"/>
                      </a:xfrm>
                      <a:prstGeom prst="rect">
                        <a:avLst/>
                      </a:prstGeom>
                      <a:solidFill>
                        <a:srgbClr val="FFFF00"/>
                      </a:solidFill>
                    </p:spPr>
                  </p:pic>
                </p:oleObj>
              </mc:Fallback>
            </mc:AlternateContent>
          </a:graphicData>
        </a:graphic>
      </p:graphicFrame>
      <p:sp>
        <p:nvSpPr>
          <p:cNvPr id="28" name="Text Box 4">
            <a:extLst>
              <a:ext uri="{FF2B5EF4-FFF2-40B4-BE49-F238E27FC236}">
                <a16:creationId xmlns="" xmlns:a16="http://schemas.microsoft.com/office/drawing/2014/main" id="{D3D9E6F9-975D-4717-9F95-D88EDCFC0598}"/>
              </a:ext>
            </a:extLst>
          </p:cNvPr>
          <p:cNvSpPr txBox="1">
            <a:spLocks noChangeArrowheads="1"/>
          </p:cNvSpPr>
          <p:nvPr/>
        </p:nvSpPr>
        <p:spPr bwMode="auto">
          <a:xfrm>
            <a:off x="592631" y="3694138"/>
            <a:ext cx="1625275" cy="461665"/>
          </a:xfrm>
          <a:prstGeom prst="rect">
            <a:avLst/>
          </a:prstGeom>
          <a:noFill/>
          <a:ln w="9525">
            <a:noFill/>
            <a:miter lim="800000"/>
            <a:headEnd/>
            <a:tailEnd/>
          </a:ln>
        </p:spPr>
        <p:txBody>
          <a:bodyPr wrap="square">
            <a:spAutoFit/>
          </a:bodyPr>
          <a:lstStyle/>
          <a:p>
            <a:pPr defTabSz="914400">
              <a:spcBef>
                <a:spcPct val="50000"/>
              </a:spcBef>
            </a:pPr>
            <a:r>
              <a:rPr kumimoji="1" lang="zh-CN" altLang="en-US" sz="2400" b="1" dirty="0">
                <a:latin typeface="微软雅黑" pitchFamily="34" charset="-122"/>
                <a:ea typeface="微软雅黑" pitchFamily="34" charset="-122"/>
              </a:rPr>
              <a:t>求微分得 </a:t>
            </a:r>
          </a:p>
        </p:txBody>
      </p:sp>
      <p:graphicFrame>
        <p:nvGraphicFramePr>
          <p:cNvPr id="29" name="Object 5">
            <a:extLst>
              <a:ext uri="{FF2B5EF4-FFF2-40B4-BE49-F238E27FC236}">
                <a16:creationId xmlns="" xmlns:a16="http://schemas.microsoft.com/office/drawing/2014/main" id="{E11EC98C-EAFC-4D41-8115-D602ABD2B72D}"/>
              </a:ext>
            </a:extLst>
          </p:cNvPr>
          <p:cNvGraphicFramePr>
            <a:graphicFrameLocks noChangeAspect="1"/>
          </p:cNvGraphicFramePr>
          <p:nvPr>
            <p:extLst>
              <p:ext uri="{D42A27DB-BD31-4B8C-83A1-F6EECF244321}">
                <p14:modId xmlns:p14="http://schemas.microsoft.com/office/powerpoint/2010/main" val="3074015292"/>
              </p:ext>
            </p:extLst>
          </p:nvPr>
        </p:nvGraphicFramePr>
        <p:xfrm>
          <a:off x="2578773" y="3734108"/>
          <a:ext cx="2182205" cy="623088"/>
        </p:xfrm>
        <a:graphic>
          <a:graphicData uri="http://schemas.openxmlformats.org/presentationml/2006/ole">
            <mc:AlternateContent xmlns:mc="http://schemas.openxmlformats.org/markup-compatibility/2006">
              <mc:Choice xmlns:v="urn:schemas-microsoft-com:vml" Requires="v">
                <p:oleObj spid="_x0000_s6277" name="Equation" r:id="rId9" imgW="787320" imgH="228600" progId="Equation.DSMT4">
                  <p:embed/>
                </p:oleObj>
              </mc:Choice>
              <mc:Fallback>
                <p:oleObj name="Equation" r:id="rId9" imgW="787320" imgH="228600" progId="Equation.DSMT4">
                  <p:embed/>
                  <p:pic>
                    <p:nvPicPr>
                      <p:cNvPr id="20" name="Object 5"/>
                      <p:cNvPicPr>
                        <a:picLocks noChangeAspect="1" noChangeArrowheads="1"/>
                      </p:cNvPicPr>
                      <p:nvPr/>
                    </p:nvPicPr>
                    <p:blipFill>
                      <a:blip r:embed="rId10"/>
                      <a:srcRect/>
                      <a:stretch>
                        <a:fillRect/>
                      </a:stretch>
                    </p:blipFill>
                    <p:spPr bwMode="auto">
                      <a:xfrm>
                        <a:off x="2578773" y="3734108"/>
                        <a:ext cx="2182205" cy="623088"/>
                      </a:xfrm>
                      <a:prstGeom prst="rect">
                        <a:avLst/>
                      </a:prstGeom>
                      <a:solidFill>
                        <a:srgbClr val="FFFF00"/>
                      </a:solidFill>
                    </p:spPr>
                  </p:pic>
                </p:oleObj>
              </mc:Fallback>
            </mc:AlternateContent>
          </a:graphicData>
        </a:graphic>
      </p:graphicFrame>
      <p:sp>
        <p:nvSpPr>
          <p:cNvPr id="30" name="Text Box 6">
            <a:extLst>
              <a:ext uri="{FF2B5EF4-FFF2-40B4-BE49-F238E27FC236}">
                <a16:creationId xmlns="" xmlns:a16="http://schemas.microsoft.com/office/drawing/2014/main" id="{59392E91-EDB3-4292-B733-15C65B6DBE48}"/>
              </a:ext>
            </a:extLst>
          </p:cNvPr>
          <p:cNvSpPr txBox="1">
            <a:spLocks noChangeArrowheads="1"/>
          </p:cNvSpPr>
          <p:nvPr/>
        </p:nvSpPr>
        <p:spPr bwMode="auto">
          <a:xfrm>
            <a:off x="506826" y="4896904"/>
            <a:ext cx="2665894" cy="461665"/>
          </a:xfrm>
          <a:prstGeom prst="rect">
            <a:avLst/>
          </a:prstGeom>
          <a:noFill/>
          <a:ln w="9525">
            <a:noFill/>
            <a:miter lim="800000"/>
            <a:headEnd/>
            <a:tailEnd/>
          </a:ln>
        </p:spPr>
        <p:txBody>
          <a:bodyPr wrap="square">
            <a:spAutoFit/>
          </a:bodyPr>
          <a:lstStyle/>
          <a:p>
            <a:pPr defTabSz="914400">
              <a:spcBef>
                <a:spcPct val="50000"/>
              </a:spcBef>
            </a:pPr>
            <a:r>
              <a:rPr kumimoji="1" lang="zh-CN" altLang="en-US" sz="2400" b="1" dirty="0">
                <a:latin typeface="Times New Roman" panose="02020603050405020304" pitchFamily="18" charset="0"/>
                <a:ea typeface="微软雅黑" pitchFamily="34" charset="-122"/>
                <a:cs typeface="Times New Roman" panose="02020603050405020304" pitchFamily="18" charset="0"/>
              </a:rPr>
              <a:t>将</a:t>
            </a:r>
            <a:r>
              <a:rPr kumimoji="1" lang="en-US" altLang="zh-CN" sz="2400" b="1" i="1" dirty="0" err="1">
                <a:latin typeface="Times New Roman" panose="02020603050405020304" pitchFamily="18" charset="0"/>
                <a:ea typeface="微软雅黑" pitchFamily="34" charset="-122"/>
                <a:cs typeface="Times New Roman" panose="02020603050405020304" pitchFamily="18" charset="0"/>
              </a:rPr>
              <a:t>dR</a:t>
            </a:r>
            <a:r>
              <a:rPr kumimoji="1" lang="zh-CN" altLang="en-US" sz="2400" b="1" dirty="0">
                <a:latin typeface="Times New Roman" panose="02020603050405020304" pitchFamily="18" charset="0"/>
                <a:ea typeface="微软雅黑" pitchFamily="34" charset="-122"/>
                <a:cs typeface="Times New Roman" panose="02020603050405020304" pitchFamily="18" charset="0"/>
              </a:rPr>
              <a:t>代入上式得 </a:t>
            </a:r>
          </a:p>
        </p:txBody>
      </p:sp>
      <p:graphicFrame>
        <p:nvGraphicFramePr>
          <p:cNvPr id="31" name="Object 7">
            <a:extLst>
              <a:ext uri="{FF2B5EF4-FFF2-40B4-BE49-F238E27FC236}">
                <a16:creationId xmlns="" xmlns:a16="http://schemas.microsoft.com/office/drawing/2014/main" id="{AD61B7FC-21ED-4529-BDFE-6DD123EF358F}"/>
              </a:ext>
            </a:extLst>
          </p:cNvPr>
          <p:cNvGraphicFramePr>
            <a:graphicFrameLocks noChangeAspect="1"/>
          </p:cNvGraphicFramePr>
          <p:nvPr>
            <p:extLst>
              <p:ext uri="{D42A27DB-BD31-4B8C-83A1-F6EECF244321}">
                <p14:modId xmlns:p14="http://schemas.microsoft.com/office/powerpoint/2010/main" val="1100472712"/>
              </p:ext>
            </p:extLst>
          </p:nvPr>
        </p:nvGraphicFramePr>
        <p:xfrm>
          <a:off x="5285918" y="3795153"/>
          <a:ext cx="2157413" cy="573088"/>
        </p:xfrm>
        <a:graphic>
          <a:graphicData uri="http://schemas.openxmlformats.org/presentationml/2006/ole">
            <mc:AlternateContent xmlns:mc="http://schemas.openxmlformats.org/markup-compatibility/2006">
              <mc:Choice xmlns:v="urn:schemas-microsoft-com:vml" Requires="v">
                <p:oleObj spid="_x0000_s6278" name="Equation" r:id="rId11" imgW="939600" imgH="253800" progId="Equation.DSMT4">
                  <p:embed/>
                </p:oleObj>
              </mc:Choice>
              <mc:Fallback>
                <p:oleObj name="Equation" r:id="rId11" imgW="939600" imgH="253800" progId="Equation.DSMT4">
                  <p:embed/>
                  <p:pic>
                    <p:nvPicPr>
                      <p:cNvPr id="22" name="Object 7"/>
                      <p:cNvPicPr>
                        <a:picLocks noChangeAspect="1" noChangeArrowheads="1"/>
                      </p:cNvPicPr>
                      <p:nvPr/>
                    </p:nvPicPr>
                    <p:blipFill>
                      <a:blip r:embed="rId12"/>
                      <a:srcRect/>
                      <a:stretch>
                        <a:fillRect/>
                      </a:stretch>
                    </p:blipFill>
                    <p:spPr bwMode="auto">
                      <a:xfrm>
                        <a:off x="5285918" y="3795153"/>
                        <a:ext cx="2157413" cy="573088"/>
                      </a:xfrm>
                      <a:prstGeom prst="rect">
                        <a:avLst/>
                      </a:prstGeom>
                      <a:solidFill>
                        <a:srgbClr val="00FFFF"/>
                      </a:solidFill>
                    </p:spPr>
                  </p:pic>
                </p:oleObj>
              </mc:Fallback>
            </mc:AlternateContent>
          </a:graphicData>
        </a:graphic>
      </p:graphicFrame>
      <p:graphicFrame>
        <p:nvGraphicFramePr>
          <p:cNvPr id="32" name="Object 8">
            <a:extLst>
              <a:ext uri="{FF2B5EF4-FFF2-40B4-BE49-F238E27FC236}">
                <a16:creationId xmlns="" xmlns:a16="http://schemas.microsoft.com/office/drawing/2014/main" id="{5CDDD9D5-A254-470F-83DC-306647C93CE3}"/>
              </a:ext>
            </a:extLst>
          </p:cNvPr>
          <p:cNvGraphicFramePr>
            <a:graphicFrameLocks noChangeAspect="1"/>
          </p:cNvGraphicFramePr>
          <p:nvPr>
            <p:extLst>
              <p:ext uri="{D42A27DB-BD31-4B8C-83A1-F6EECF244321}">
                <p14:modId xmlns:p14="http://schemas.microsoft.com/office/powerpoint/2010/main" val="3345623252"/>
              </p:ext>
            </p:extLst>
          </p:nvPr>
        </p:nvGraphicFramePr>
        <p:xfrm>
          <a:off x="3044345" y="4750266"/>
          <a:ext cx="2623029" cy="803023"/>
        </p:xfrm>
        <a:graphic>
          <a:graphicData uri="http://schemas.openxmlformats.org/presentationml/2006/ole">
            <mc:AlternateContent xmlns:mc="http://schemas.openxmlformats.org/markup-compatibility/2006">
              <mc:Choice xmlns:v="urn:schemas-microsoft-com:vml" Requires="v">
                <p:oleObj spid="_x0000_s6279" name="Equation" r:id="rId13" imgW="1422360" imgH="431640" progId="Equation.DSMT4">
                  <p:embed/>
                </p:oleObj>
              </mc:Choice>
              <mc:Fallback>
                <p:oleObj name="Equation" r:id="rId13" imgW="1422360" imgH="431640" progId="Equation.DSMT4">
                  <p:embed/>
                  <p:pic>
                    <p:nvPicPr>
                      <p:cNvPr id="23" name="Object 8"/>
                      <p:cNvPicPr>
                        <a:picLocks noChangeAspect="1" noChangeArrowheads="1"/>
                      </p:cNvPicPr>
                      <p:nvPr/>
                    </p:nvPicPr>
                    <p:blipFill>
                      <a:blip r:embed="rId14"/>
                      <a:srcRect/>
                      <a:stretch>
                        <a:fillRect/>
                      </a:stretch>
                    </p:blipFill>
                    <p:spPr bwMode="auto">
                      <a:xfrm>
                        <a:off x="3044345" y="4750266"/>
                        <a:ext cx="2623029" cy="803023"/>
                      </a:xfrm>
                      <a:prstGeom prst="rect">
                        <a:avLst/>
                      </a:prstGeom>
                      <a:solidFill>
                        <a:srgbClr val="FFFF00"/>
                      </a:solidFill>
                    </p:spPr>
                  </p:pic>
                </p:oleObj>
              </mc:Fallback>
            </mc:AlternateContent>
          </a:graphicData>
        </a:graphic>
      </p:graphicFrame>
      <p:graphicFrame>
        <p:nvGraphicFramePr>
          <p:cNvPr id="34" name="Object 10">
            <a:extLst>
              <a:ext uri="{FF2B5EF4-FFF2-40B4-BE49-F238E27FC236}">
                <a16:creationId xmlns="" xmlns:a16="http://schemas.microsoft.com/office/drawing/2014/main" id="{40DF761E-473E-4FE0-8B38-1076D24582F8}"/>
              </a:ext>
            </a:extLst>
          </p:cNvPr>
          <p:cNvGraphicFramePr>
            <a:graphicFrameLocks noChangeAspect="1"/>
          </p:cNvGraphicFramePr>
          <p:nvPr>
            <p:extLst>
              <p:ext uri="{D42A27DB-BD31-4B8C-83A1-F6EECF244321}">
                <p14:modId xmlns:p14="http://schemas.microsoft.com/office/powerpoint/2010/main" val="1049271193"/>
              </p:ext>
            </p:extLst>
          </p:nvPr>
        </p:nvGraphicFramePr>
        <p:xfrm>
          <a:off x="6919913" y="4702828"/>
          <a:ext cx="1735137" cy="795338"/>
        </p:xfrm>
        <a:graphic>
          <a:graphicData uri="http://schemas.openxmlformats.org/presentationml/2006/ole">
            <mc:AlternateContent xmlns:mc="http://schemas.openxmlformats.org/markup-compatibility/2006">
              <mc:Choice xmlns:v="urn:schemas-microsoft-com:vml" Requires="v">
                <p:oleObj spid="_x0000_s6280" name="Equation" r:id="rId15" imgW="952200" imgH="431640" progId="Equation.DSMT4">
                  <p:embed/>
                </p:oleObj>
              </mc:Choice>
              <mc:Fallback>
                <p:oleObj name="Equation" r:id="rId15" imgW="952200" imgH="431640" progId="Equation.DSMT4">
                  <p:embed/>
                  <p:pic>
                    <p:nvPicPr>
                      <p:cNvPr id="24" name="Object 10"/>
                      <p:cNvPicPr>
                        <a:picLocks noChangeAspect="1" noChangeArrowheads="1"/>
                      </p:cNvPicPr>
                      <p:nvPr/>
                    </p:nvPicPr>
                    <p:blipFill>
                      <a:blip r:embed="rId16"/>
                      <a:srcRect/>
                      <a:stretch>
                        <a:fillRect/>
                      </a:stretch>
                    </p:blipFill>
                    <p:spPr bwMode="auto">
                      <a:xfrm>
                        <a:off x="6919913" y="4702828"/>
                        <a:ext cx="1735137" cy="795338"/>
                      </a:xfrm>
                      <a:prstGeom prst="rect">
                        <a:avLst/>
                      </a:prstGeom>
                      <a:solidFill>
                        <a:srgbClr val="FFFF00"/>
                      </a:solidFill>
                    </p:spPr>
                  </p:pic>
                </p:oleObj>
              </mc:Fallback>
            </mc:AlternateContent>
          </a:graphicData>
        </a:graphic>
      </p:graphicFrame>
      <p:sp>
        <p:nvSpPr>
          <p:cNvPr id="35" name="Text Box 9">
            <a:extLst>
              <a:ext uri="{FF2B5EF4-FFF2-40B4-BE49-F238E27FC236}">
                <a16:creationId xmlns="" xmlns:a16="http://schemas.microsoft.com/office/drawing/2014/main" id="{D9B00176-F660-4409-87D1-221DF3AC5C75}"/>
              </a:ext>
            </a:extLst>
          </p:cNvPr>
          <p:cNvSpPr txBox="1">
            <a:spLocks noChangeArrowheads="1"/>
          </p:cNvSpPr>
          <p:nvPr/>
        </p:nvSpPr>
        <p:spPr bwMode="auto">
          <a:xfrm>
            <a:off x="5913593" y="4828976"/>
            <a:ext cx="844550" cy="523220"/>
          </a:xfrm>
          <a:prstGeom prst="rect">
            <a:avLst/>
          </a:prstGeom>
          <a:noFill/>
          <a:ln w="9525">
            <a:noFill/>
            <a:miter lim="800000"/>
            <a:headEnd/>
            <a:tailEnd/>
          </a:ln>
        </p:spPr>
        <p:txBody>
          <a:bodyPr>
            <a:spAutoFit/>
          </a:bodyPr>
          <a:lstStyle/>
          <a:p>
            <a:pPr defTabSz="914400">
              <a:spcBef>
                <a:spcPct val="50000"/>
              </a:spcBef>
            </a:pPr>
            <a:r>
              <a:rPr kumimoji="1" lang="zh-CN" altLang="en-US" sz="2800" b="1" dirty="0">
                <a:latin typeface="微软雅黑" panose="020B0503020204020204" pitchFamily="34" charset="-122"/>
                <a:ea typeface="微软雅黑" panose="020B0503020204020204" pitchFamily="34" charset="-122"/>
              </a:rPr>
              <a:t>或 </a:t>
            </a:r>
          </a:p>
        </p:txBody>
      </p:sp>
      <p:sp>
        <p:nvSpPr>
          <p:cNvPr id="36" name="Rectangle 11">
            <a:extLst>
              <a:ext uri="{FF2B5EF4-FFF2-40B4-BE49-F238E27FC236}">
                <a16:creationId xmlns="" xmlns:a16="http://schemas.microsoft.com/office/drawing/2014/main" id="{89936BEE-28CA-4E6D-9B59-E99FC13BC782}"/>
              </a:ext>
            </a:extLst>
          </p:cNvPr>
          <p:cNvSpPr>
            <a:spLocks noChangeArrowheads="1"/>
          </p:cNvSpPr>
          <p:nvPr/>
        </p:nvSpPr>
        <p:spPr bwMode="auto">
          <a:xfrm>
            <a:off x="592631" y="5704481"/>
            <a:ext cx="8394700" cy="461665"/>
          </a:xfrm>
          <a:prstGeom prst="rect">
            <a:avLst/>
          </a:prstGeom>
          <a:noFill/>
          <a:ln w="9525">
            <a:noFill/>
            <a:miter lim="800000"/>
            <a:headEnd/>
            <a:tailEnd/>
          </a:ln>
        </p:spPr>
        <p:txBody>
          <a:bodyPr>
            <a:spAutoFit/>
          </a:bodyPr>
          <a:lstStyle/>
          <a:p>
            <a:pPr defTabSz="914400"/>
            <a:r>
              <a:rPr kumimoji="1" lang="zh-CN" altLang="en-US" sz="2400" b="1" dirty="0">
                <a:latin typeface="Times New Roman" pitchFamily="18" charset="0"/>
                <a:ea typeface="微软雅黑" pitchFamily="34" charset="-122"/>
                <a:cs typeface="Times New Roman" pitchFamily="18" charset="0"/>
              </a:rPr>
              <a:t>显然，恒流偏置电路中光敏电阻的电压灵敏度</a:t>
            </a:r>
            <a:r>
              <a:rPr kumimoji="1" lang="en-US" altLang="zh-CN" sz="2400" b="1" dirty="0">
                <a:latin typeface="Times New Roman" pitchFamily="18" charset="0"/>
                <a:ea typeface="微软雅黑" pitchFamily="34" charset="-122"/>
                <a:cs typeface="Times New Roman" pitchFamily="18" charset="0"/>
              </a:rPr>
              <a:t>S</a:t>
            </a:r>
            <a:r>
              <a:rPr kumimoji="1" lang="en-US" altLang="zh-CN" sz="2400" b="1" baseline="-30000" dirty="0">
                <a:latin typeface="Times New Roman" pitchFamily="18" charset="0"/>
                <a:ea typeface="微软雅黑" pitchFamily="34" charset="-122"/>
                <a:cs typeface="Times New Roman" pitchFamily="18" charset="0"/>
              </a:rPr>
              <a:t>u</a:t>
            </a:r>
            <a:r>
              <a:rPr kumimoji="1" lang="zh-CN" altLang="en-US" sz="2400" b="1" dirty="0">
                <a:latin typeface="Times New Roman" pitchFamily="18" charset="0"/>
                <a:ea typeface="微软雅黑" pitchFamily="34" charset="-122"/>
                <a:cs typeface="Times New Roman" pitchFamily="18" charset="0"/>
              </a:rPr>
              <a:t>为 </a:t>
            </a:r>
          </a:p>
        </p:txBody>
      </p:sp>
      <p:graphicFrame>
        <p:nvGraphicFramePr>
          <p:cNvPr id="37" name="Object 12">
            <a:extLst>
              <a:ext uri="{FF2B5EF4-FFF2-40B4-BE49-F238E27FC236}">
                <a16:creationId xmlns="" xmlns:a16="http://schemas.microsoft.com/office/drawing/2014/main" id="{970B794A-5A91-407F-AFB5-B4850EC3143A}"/>
              </a:ext>
            </a:extLst>
          </p:cNvPr>
          <p:cNvGraphicFramePr>
            <a:graphicFrameLocks noChangeAspect="1"/>
          </p:cNvGraphicFramePr>
          <p:nvPr>
            <p:extLst>
              <p:ext uri="{D42A27DB-BD31-4B8C-83A1-F6EECF244321}">
                <p14:modId xmlns:p14="http://schemas.microsoft.com/office/powerpoint/2010/main" val="940039869"/>
              </p:ext>
            </p:extLst>
          </p:nvPr>
        </p:nvGraphicFramePr>
        <p:xfrm>
          <a:off x="4987912" y="6269260"/>
          <a:ext cx="2505649" cy="864179"/>
        </p:xfrm>
        <a:graphic>
          <a:graphicData uri="http://schemas.openxmlformats.org/presentationml/2006/ole">
            <mc:AlternateContent xmlns:mc="http://schemas.openxmlformats.org/markup-compatibility/2006">
              <mc:Choice xmlns:v="urn:schemas-microsoft-com:vml" Requires="v">
                <p:oleObj spid="_x0000_s6281" name="Equation" r:id="rId17" imgW="1257120" imgH="431640" progId="Equation.DSMT4">
                  <p:embed/>
                </p:oleObj>
              </mc:Choice>
              <mc:Fallback>
                <p:oleObj name="Equation" r:id="rId17" imgW="1257120" imgH="431640" progId="Equation.DSMT4">
                  <p:embed/>
                  <p:pic>
                    <p:nvPicPr>
                      <p:cNvPr id="27" name="Object 12"/>
                      <p:cNvPicPr>
                        <a:picLocks noChangeAspect="1" noChangeArrowheads="1"/>
                      </p:cNvPicPr>
                      <p:nvPr/>
                    </p:nvPicPr>
                    <p:blipFill>
                      <a:blip r:embed="rId18"/>
                      <a:srcRect/>
                      <a:stretch>
                        <a:fillRect/>
                      </a:stretch>
                    </p:blipFill>
                    <p:spPr bwMode="auto">
                      <a:xfrm>
                        <a:off x="4987912" y="6269260"/>
                        <a:ext cx="2505649" cy="864179"/>
                      </a:xfrm>
                      <a:prstGeom prst="rect">
                        <a:avLst/>
                      </a:prstGeom>
                      <a:solidFill>
                        <a:srgbClr val="FFFF00"/>
                      </a:solidFill>
                    </p:spPr>
                  </p:pic>
                </p:oleObj>
              </mc:Fallback>
            </mc:AlternateContent>
          </a:graphicData>
        </a:graphic>
      </p:graphicFrame>
      <p:sp>
        <p:nvSpPr>
          <p:cNvPr id="45" name="文本框 60">
            <a:extLst>
              <a:ext uri="{FF2B5EF4-FFF2-40B4-BE49-F238E27FC236}">
                <a16:creationId xmlns="" xmlns:a16="http://schemas.microsoft.com/office/drawing/2014/main" id="{A2C8489A-7E89-4D1B-BFD3-10BEBDE20FA8}"/>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恒流电路</a:t>
            </a:r>
            <a:r>
              <a:rPr lang="en-US" altLang="zh-CN" b="1" dirty="0">
                <a:latin typeface="微软雅黑" panose="020B0503020204020204" pitchFamily="34" charset="-122"/>
                <a:ea typeface="微软雅黑" panose="020B0503020204020204" pitchFamily="34" charset="-122"/>
              </a:rPr>
              <a:t>(RL&gt;&gt;R)</a:t>
            </a:r>
            <a:endParaRPr lang="zh-CN" altLang="en-US" b="1" dirty="0">
              <a:latin typeface="微软雅黑" panose="020B0503020204020204" pitchFamily="34" charset="-122"/>
              <a:ea typeface="微软雅黑" panose="020B0503020204020204" pitchFamily="34" charset="-122"/>
            </a:endParaRPr>
          </a:p>
        </p:txBody>
      </p:sp>
      <p:sp>
        <p:nvSpPr>
          <p:cNvPr id="46" name="矩形 45">
            <a:extLst>
              <a:ext uri="{FF2B5EF4-FFF2-40B4-BE49-F238E27FC236}">
                <a16:creationId xmlns="" xmlns:a16="http://schemas.microsoft.com/office/drawing/2014/main" id="{04EACD7B-1730-432C-9527-4E06235B235F}"/>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47" name="矩形 46">
            <a:extLst>
              <a:ext uri="{FF2B5EF4-FFF2-40B4-BE49-F238E27FC236}">
                <a16:creationId xmlns="" xmlns:a16="http://schemas.microsoft.com/office/drawing/2014/main" id="{F476381F-7F6F-4FE0-8DD1-F7D9913DBCF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圆角 47">
            <a:extLst>
              <a:ext uri="{FF2B5EF4-FFF2-40B4-BE49-F238E27FC236}">
                <a16:creationId xmlns="" xmlns:a16="http://schemas.microsoft.com/office/drawing/2014/main" id="{EDCC6D00-B04A-4E95-8F8B-AD4ABDF92578}"/>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9" name="直接连接符 58">
            <a:extLst>
              <a:ext uri="{FF2B5EF4-FFF2-40B4-BE49-F238E27FC236}">
                <a16:creationId xmlns="" xmlns:a16="http://schemas.microsoft.com/office/drawing/2014/main" id="{D1E92BDB-5CB3-4F70-9F7E-7A59948F19F5}"/>
              </a:ext>
            </a:extLst>
          </p:cNvPr>
          <p:cNvCxnSpPr>
            <a:cxnSpLocks/>
          </p:cNvCxnSpPr>
          <p:nvPr/>
        </p:nvCxnSpPr>
        <p:spPr>
          <a:xfrm>
            <a:off x="1718528" y="711001"/>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 xmlns:a16="http://schemas.microsoft.com/office/drawing/2014/main" id="{2325A0F9-3BBB-40DE-B06A-46F0B112AE4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1" name="矩形 50">
            <a:extLst>
              <a:ext uri="{FF2B5EF4-FFF2-40B4-BE49-F238E27FC236}">
                <a16:creationId xmlns="" xmlns:a16="http://schemas.microsoft.com/office/drawing/2014/main" id="{CDC16AED-A52C-4417-BB6F-95CADE774B5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949914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ox(in)">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ox(in)">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ox(i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ox(in)">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box(in)">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box(in)">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box(in)">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box(in)">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box(in)">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box(in)">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box(in)">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box(in)">
                                      <p:cBhvr>
                                        <p:cTn id="62" dur="500"/>
                                        <p:tgtEl>
                                          <p:spTgt spid="34"/>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box(in)">
                                      <p:cBhvr>
                                        <p:cTn id="67" dur="500"/>
                                        <p:tgtEl>
                                          <p:spTgt spid="36"/>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box(in)">
                                      <p:cBhvr>
                                        <p:cTn id="7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24" grpId="0"/>
      <p:bldP spid="28" grpId="0"/>
      <p:bldP spid="30" grpId="0"/>
      <p:bldP spid="35" grpId="0"/>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Object 8">
            <a:extLst>
              <a:ext uri="{FF2B5EF4-FFF2-40B4-BE49-F238E27FC236}">
                <a16:creationId xmlns="" xmlns:a16="http://schemas.microsoft.com/office/drawing/2014/main" id="{7745374B-9289-4847-8C0A-65266FF66703}"/>
              </a:ext>
            </a:extLst>
          </p:cNvPr>
          <p:cNvGraphicFramePr>
            <a:graphicFrameLocks noChangeAspect="1"/>
          </p:cNvGraphicFramePr>
          <p:nvPr>
            <p:extLst>
              <p:ext uri="{D42A27DB-BD31-4B8C-83A1-F6EECF244321}">
                <p14:modId xmlns:p14="http://schemas.microsoft.com/office/powerpoint/2010/main" val="2952675611"/>
              </p:ext>
            </p:extLst>
          </p:nvPr>
        </p:nvGraphicFramePr>
        <p:xfrm>
          <a:off x="6161560" y="1367962"/>
          <a:ext cx="2230438" cy="506413"/>
        </p:xfrm>
        <a:graphic>
          <a:graphicData uri="http://schemas.openxmlformats.org/presentationml/2006/ole">
            <mc:AlternateContent xmlns:mc="http://schemas.openxmlformats.org/markup-compatibility/2006">
              <mc:Choice xmlns:v="urn:schemas-microsoft-com:vml" Requires="v">
                <p:oleObj spid="_x0000_s7250" name="Equation" r:id="rId3" imgW="1054080" imgH="241200" progId="Equation.DSMT4">
                  <p:embed/>
                </p:oleObj>
              </mc:Choice>
              <mc:Fallback>
                <p:oleObj name="Equation" r:id="rId3" imgW="1054080" imgH="241200" progId="Equation.DSMT4">
                  <p:embed/>
                  <p:pic>
                    <p:nvPicPr>
                      <p:cNvPr id="389128" name="Object 8"/>
                      <p:cNvPicPr>
                        <a:picLocks noChangeAspect="1" noChangeArrowheads="1"/>
                      </p:cNvPicPr>
                      <p:nvPr/>
                    </p:nvPicPr>
                    <p:blipFill>
                      <a:blip r:embed="rId4"/>
                      <a:srcRect/>
                      <a:stretch>
                        <a:fillRect/>
                      </a:stretch>
                    </p:blipFill>
                    <p:spPr bwMode="auto">
                      <a:xfrm>
                        <a:off x="6161560" y="1367962"/>
                        <a:ext cx="2230438" cy="506413"/>
                      </a:xfrm>
                      <a:prstGeom prst="rect">
                        <a:avLst/>
                      </a:prstGeom>
                      <a:solidFill>
                        <a:srgbClr val="FFFF00"/>
                      </a:solidFill>
                    </p:spPr>
                  </p:pic>
                </p:oleObj>
              </mc:Fallback>
            </mc:AlternateContent>
          </a:graphicData>
        </a:graphic>
      </p:graphicFrame>
      <p:graphicFrame>
        <p:nvGraphicFramePr>
          <p:cNvPr id="39" name="Object 9">
            <a:extLst>
              <a:ext uri="{FF2B5EF4-FFF2-40B4-BE49-F238E27FC236}">
                <a16:creationId xmlns="" xmlns:a16="http://schemas.microsoft.com/office/drawing/2014/main" id="{C11B6649-3A0F-45DA-A9F0-202717F34B95}"/>
              </a:ext>
            </a:extLst>
          </p:cNvPr>
          <p:cNvGraphicFramePr>
            <a:graphicFrameLocks noChangeAspect="1"/>
          </p:cNvGraphicFramePr>
          <p:nvPr>
            <p:extLst>
              <p:ext uri="{D42A27DB-BD31-4B8C-83A1-F6EECF244321}">
                <p14:modId xmlns:p14="http://schemas.microsoft.com/office/powerpoint/2010/main" val="2595877383"/>
              </p:ext>
            </p:extLst>
          </p:nvPr>
        </p:nvGraphicFramePr>
        <p:xfrm>
          <a:off x="2593872" y="1229258"/>
          <a:ext cx="2782111" cy="842597"/>
        </p:xfrm>
        <a:graphic>
          <a:graphicData uri="http://schemas.openxmlformats.org/presentationml/2006/ole">
            <mc:AlternateContent xmlns:mc="http://schemas.openxmlformats.org/markup-compatibility/2006">
              <mc:Choice xmlns:v="urn:schemas-microsoft-com:vml" Requires="v">
                <p:oleObj spid="_x0000_s7251" name="Equation" r:id="rId5" imgW="1625400" imgH="495000" progId="Equation.DSMT4">
                  <p:embed/>
                </p:oleObj>
              </mc:Choice>
              <mc:Fallback>
                <p:oleObj name="Equation" r:id="rId5" imgW="1625400" imgH="495000" progId="Equation.DSMT4">
                  <p:embed/>
                  <p:pic>
                    <p:nvPicPr>
                      <p:cNvPr id="389129" name="Object 9"/>
                      <p:cNvPicPr>
                        <a:picLocks noChangeAspect="1" noChangeArrowheads="1"/>
                      </p:cNvPicPr>
                      <p:nvPr/>
                    </p:nvPicPr>
                    <p:blipFill>
                      <a:blip r:embed="rId6"/>
                      <a:srcRect/>
                      <a:stretch>
                        <a:fillRect/>
                      </a:stretch>
                    </p:blipFill>
                    <p:spPr bwMode="auto">
                      <a:xfrm>
                        <a:off x="2593872" y="1229258"/>
                        <a:ext cx="2782111" cy="842597"/>
                      </a:xfrm>
                      <a:prstGeom prst="rect">
                        <a:avLst/>
                      </a:prstGeom>
                      <a:solidFill>
                        <a:srgbClr val="FFFF00"/>
                      </a:solidFill>
                    </p:spPr>
                  </p:pic>
                </p:oleObj>
              </mc:Fallback>
            </mc:AlternateContent>
          </a:graphicData>
        </a:graphic>
      </p:graphicFrame>
      <p:sp>
        <p:nvSpPr>
          <p:cNvPr id="41" name="Text Box 3">
            <a:extLst>
              <a:ext uri="{FF2B5EF4-FFF2-40B4-BE49-F238E27FC236}">
                <a16:creationId xmlns="" xmlns:a16="http://schemas.microsoft.com/office/drawing/2014/main" id="{9330A909-4718-4997-9BE8-D715CBFEA16F}"/>
              </a:ext>
            </a:extLst>
          </p:cNvPr>
          <p:cNvSpPr txBox="1">
            <a:spLocks noChangeArrowheads="1"/>
          </p:cNvSpPr>
          <p:nvPr/>
        </p:nvSpPr>
        <p:spPr bwMode="auto">
          <a:xfrm>
            <a:off x="613933" y="1346794"/>
            <a:ext cx="1797759" cy="58086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微软雅黑" pitchFamily="34" charset="-122"/>
                <a:cs typeface="Times New Roman" pitchFamily="18" charset="0"/>
              </a:rPr>
              <a:t>当</a:t>
            </a:r>
            <a:r>
              <a:rPr kumimoji="1" lang="en-US" altLang="zh-CN" sz="2400" b="1" i="1" dirty="0">
                <a:solidFill>
                  <a:srgbClr val="FF0000"/>
                </a:solidFill>
                <a:latin typeface="Times New Roman" pitchFamily="18" charset="0"/>
                <a:ea typeface="微软雅黑" pitchFamily="34" charset="-122"/>
                <a:cs typeface="Times New Roman" pitchFamily="18" charset="0"/>
              </a:rPr>
              <a:t>R</a:t>
            </a:r>
            <a:r>
              <a:rPr kumimoji="1" lang="en-US" altLang="zh-CN" sz="2400" b="1" baseline="-30000" dirty="0">
                <a:solidFill>
                  <a:srgbClr val="FF0000"/>
                </a:solidFill>
                <a:latin typeface="Times New Roman" pitchFamily="18" charset="0"/>
                <a:ea typeface="微软雅黑" pitchFamily="34" charset="-122"/>
                <a:cs typeface="Times New Roman" pitchFamily="18" charset="0"/>
              </a:rPr>
              <a:t>L</a:t>
            </a:r>
            <a:r>
              <a:rPr kumimoji="1" lang="en-US" altLang="zh-CN" sz="2400" b="1" dirty="0">
                <a:solidFill>
                  <a:srgbClr val="FF0000"/>
                </a:solidFill>
                <a:latin typeface="Times New Roman" pitchFamily="18" charset="0"/>
                <a:ea typeface="微软雅黑" pitchFamily="34" charset="-122"/>
                <a:cs typeface="Times New Roman" pitchFamily="18" charset="0"/>
              </a:rPr>
              <a:t>&lt;&lt;</a:t>
            </a:r>
            <a:r>
              <a:rPr kumimoji="1" lang="en-US" altLang="zh-CN" sz="2400" b="1" i="1" dirty="0">
                <a:solidFill>
                  <a:srgbClr val="FF0000"/>
                </a:solidFill>
                <a:latin typeface="Times New Roman" pitchFamily="18" charset="0"/>
                <a:ea typeface="微软雅黑" pitchFamily="34" charset="-122"/>
                <a:cs typeface="Times New Roman" pitchFamily="18" charset="0"/>
              </a:rPr>
              <a:t>R</a:t>
            </a:r>
            <a:r>
              <a:rPr kumimoji="1" lang="zh-CN" altLang="en-US" sz="2400" b="1" dirty="0">
                <a:latin typeface="Times New Roman" pitchFamily="18" charset="0"/>
                <a:ea typeface="微软雅黑" pitchFamily="34" charset="-122"/>
                <a:cs typeface="Times New Roman" pitchFamily="18" charset="0"/>
              </a:rPr>
              <a:t>时</a:t>
            </a:r>
            <a:endParaRPr kumimoji="1" lang="zh-CN" altLang="en-US" b="1" dirty="0">
              <a:latin typeface="Times New Roman" pitchFamily="18" charset="0"/>
              <a:ea typeface="微软雅黑" pitchFamily="34" charset="-122"/>
              <a:cs typeface="Times New Roman" pitchFamily="18" charset="0"/>
            </a:endParaRPr>
          </a:p>
        </p:txBody>
      </p:sp>
      <p:graphicFrame>
        <p:nvGraphicFramePr>
          <p:cNvPr id="42" name="Object 2">
            <a:extLst>
              <a:ext uri="{FF2B5EF4-FFF2-40B4-BE49-F238E27FC236}">
                <a16:creationId xmlns="" xmlns:a16="http://schemas.microsoft.com/office/drawing/2014/main" id="{721D04F0-38A7-4D2C-9918-D240E81853C1}"/>
              </a:ext>
            </a:extLst>
          </p:cNvPr>
          <p:cNvGraphicFramePr>
            <a:graphicFrameLocks noChangeAspect="1"/>
          </p:cNvGraphicFramePr>
          <p:nvPr>
            <p:extLst>
              <p:ext uri="{D42A27DB-BD31-4B8C-83A1-F6EECF244321}">
                <p14:modId xmlns:p14="http://schemas.microsoft.com/office/powerpoint/2010/main" val="837897182"/>
              </p:ext>
            </p:extLst>
          </p:nvPr>
        </p:nvGraphicFramePr>
        <p:xfrm>
          <a:off x="8797843" y="1342852"/>
          <a:ext cx="4576763" cy="3632200"/>
        </p:xfrm>
        <a:graphic>
          <a:graphicData uri="http://schemas.openxmlformats.org/presentationml/2006/ole">
            <mc:AlternateContent xmlns:mc="http://schemas.openxmlformats.org/markup-compatibility/2006">
              <mc:Choice xmlns:v="urn:schemas-microsoft-com:vml" Requires="v">
                <p:oleObj spid="_x0000_s7252" name="Visio" r:id="rId7" imgW="2693880" imgH="2442600" progId="Visio.Drawing.11">
                  <p:embed/>
                </p:oleObj>
              </mc:Choice>
              <mc:Fallback>
                <p:oleObj name="Visio" r:id="rId7" imgW="2693880" imgH="2442600" progId="Visio.Drawing.11">
                  <p:embed/>
                  <p:pic>
                    <p:nvPicPr>
                      <p:cNvPr id="18" name="Object 2"/>
                      <p:cNvPicPr>
                        <a:picLocks noChangeAspect="1" noChangeArrowheads="1"/>
                      </p:cNvPicPr>
                      <p:nvPr/>
                    </p:nvPicPr>
                    <p:blipFill>
                      <a:blip r:embed="rId8"/>
                      <a:srcRect/>
                      <a:stretch>
                        <a:fillRect/>
                      </a:stretch>
                    </p:blipFill>
                    <p:spPr bwMode="auto">
                      <a:xfrm>
                        <a:off x="8797843" y="1342852"/>
                        <a:ext cx="4576763" cy="363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Text Box 3">
            <a:extLst>
              <a:ext uri="{FF2B5EF4-FFF2-40B4-BE49-F238E27FC236}">
                <a16:creationId xmlns="" xmlns:a16="http://schemas.microsoft.com/office/drawing/2014/main" id="{93EBD3F8-605B-45CF-9BB7-15C1E678EE72}"/>
              </a:ext>
            </a:extLst>
          </p:cNvPr>
          <p:cNvSpPr txBox="1">
            <a:spLocks noChangeArrowheads="1"/>
          </p:cNvSpPr>
          <p:nvPr/>
        </p:nvSpPr>
        <p:spPr bwMode="auto">
          <a:xfrm>
            <a:off x="494718" y="2108436"/>
            <a:ext cx="8111925" cy="1292662"/>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dirty="0">
                <a:latin typeface="宋体" pitchFamily="2" charset="-122"/>
              </a:rPr>
              <a:t>    </a:t>
            </a:r>
            <a:r>
              <a:rPr kumimoji="1" lang="zh-CN" altLang="en-US" sz="2400" b="1" dirty="0">
                <a:latin typeface="微软雅黑" pitchFamily="34" charset="-122"/>
                <a:ea typeface="微软雅黑" pitchFamily="34" charset="-122"/>
              </a:rPr>
              <a:t>利用晶体三极管很容易构成光敏电阻的</a:t>
            </a:r>
            <a:r>
              <a:rPr kumimoji="1" lang="zh-CN" altLang="en-US" sz="2800" b="1" dirty="0">
                <a:solidFill>
                  <a:srgbClr val="FF0000"/>
                </a:solidFill>
                <a:latin typeface="华文琥珀" pitchFamily="2" charset="-122"/>
                <a:ea typeface="华文琥珀" pitchFamily="2" charset="-122"/>
              </a:rPr>
              <a:t>恒压偏置</a:t>
            </a:r>
            <a:r>
              <a:rPr kumimoji="1" lang="zh-CN" altLang="en-US" sz="2400" b="1" dirty="0">
                <a:latin typeface="微软雅黑" pitchFamily="34" charset="-122"/>
                <a:ea typeface="微软雅黑" pitchFamily="34" charset="-122"/>
              </a:rPr>
              <a:t>电路。如图所示为典型的光敏电阻恒压偏置电路。 </a:t>
            </a:r>
          </a:p>
        </p:txBody>
      </p:sp>
      <p:sp>
        <p:nvSpPr>
          <p:cNvPr id="44" name="Text Box 5">
            <a:extLst>
              <a:ext uri="{FF2B5EF4-FFF2-40B4-BE49-F238E27FC236}">
                <a16:creationId xmlns="" xmlns:a16="http://schemas.microsoft.com/office/drawing/2014/main" id="{69D55DCB-72E1-4A65-9F0D-16F98F28F891}"/>
              </a:ext>
            </a:extLst>
          </p:cNvPr>
          <p:cNvSpPr txBox="1">
            <a:spLocks noChangeArrowheads="1"/>
          </p:cNvSpPr>
          <p:nvPr/>
        </p:nvSpPr>
        <p:spPr bwMode="auto">
          <a:xfrm>
            <a:off x="613933" y="3401098"/>
            <a:ext cx="8041177" cy="1688860"/>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dirty="0">
                <a:latin typeface="宋体" pitchFamily="2" charset="-122"/>
              </a:rPr>
              <a:t>    </a:t>
            </a:r>
            <a:r>
              <a:rPr kumimoji="1" lang="zh-CN" altLang="en-US" sz="2400" b="1" dirty="0">
                <a:latin typeface="Times New Roman" pitchFamily="18" charset="0"/>
                <a:ea typeface="微软雅黑" pitchFamily="34" charset="-122"/>
                <a:cs typeface="Times New Roman" pitchFamily="18" charset="0"/>
              </a:rPr>
              <a:t>光敏电阻在恒压偏置电路的情况下输出的</a:t>
            </a:r>
            <a:r>
              <a:rPr kumimoji="1" lang="zh-CN" altLang="en-US" sz="2400" b="1" dirty="0">
                <a:solidFill>
                  <a:srgbClr val="FF0000"/>
                </a:solidFill>
                <a:latin typeface="华文琥珀" pitchFamily="2" charset="-122"/>
                <a:ea typeface="华文琥珀" pitchFamily="2" charset="-122"/>
                <a:cs typeface="Times New Roman" pitchFamily="18" charset="0"/>
              </a:rPr>
              <a:t>光电流</a:t>
            </a:r>
            <a:r>
              <a:rPr kumimoji="1" lang="en-US" altLang="zh-CN" sz="2400" b="1" i="1" dirty="0">
                <a:solidFill>
                  <a:srgbClr val="FF3399"/>
                </a:solidFill>
                <a:latin typeface="Times New Roman" pitchFamily="18" charset="0"/>
                <a:ea typeface="微软雅黑" pitchFamily="34" charset="-122"/>
                <a:cs typeface="Times New Roman" pitchFamily="18" charset="0"/>
              </a:rPr>
              <a:t>I</a:t>
            </a:r>
            <a:r>
              <a:rPr kumimoji="1" lang="en-US" altLang="zh-CN" sz="2400" b="1" baseline="-30000" dirty="0">
                <a:solidFill>
                  <a:srgbClr val="FF3399"/>
                </a:solidFill>
                <a:latin typeface="Times New Roman" pitchFamily="18" charset="0"/>
                <a:ea typeface="微软雅黑" pitchFamily="34" charset="-122"/>
                <a:cs typeface="Times New Roman" pitchFamily="18" charset="0"/>
              </a:rPr>
              <a:t>P</a:t>
            </a:r>
            <a:r>
              <a:rPr kumimoji="1" lang="zh-CN" altLang="en-US" sz="2400" b="1" dirty="0">
                <a:latin typeface="Times New Roman" pitchFamily="18" charset="0"/>
                <a:ea typeface="微软雅黑" pitchFamily="34" charset="-122"/>
                <a:cs typeface="Times New Roman" pitchFamily="18" charset="0"/>
              </a:rPr>
              <a:t>与处于放大状态的三极管</a:t>
            </a:r>
            <a:r>
              <a:rPr kumimoji="1" lang="zh-CN" altLang="en-US" sz="2400" b="1" dirty="0">
                <a:solidFill>
                  <a:srgbClr val="FF0000"/>
                </a:solidFill>
                <a:latin typeface="华文琥珀" pitchFamily="2" charset="-122"/>
                <a:ea typeface="华文琥珀" pitchFamily="2" charset="-122"/>
                <a:cs typeface="Times New Roman" pitchFamily="18" charset="0"/>
              </a:rPr>
              <a:t>发射极电流</a:t>
            </a:r>
            <a:r>
              <a:rPr kumimoji="1" lang="en-US" altLang="zh-CN" sz="2400" b="1" i="1" dirty="0" err="1">
                <a:solidFill>
                  <a:srgbClr val="FF3399"/>
                </a:solidFill>
                <a:latin typeface="Times New Roman" pitchFamily="18" charset="0"/>
                <a:ea typeface="微软雅黑" pitchFamily="34" charset="-122"/>
                <a:cs typeface="Times New Roman" pitchFamily="18" charset="0"/>
              </a:rPr>
              <a:t>I</a:t>
            </a:r>
            <a:r>
              <a:rPr kumimoji="1" lang="en-US" altLang="zh-CN" sz="2400" b="1" baseline="-30000" dirty="0" err="1">
                <a:solidFill>
                  <a:srgbClr val="FF3399"/>
                </a:solidFill>
                <a:latin typeface="Times New Roman" pitchFamily="18" charset="0"/>
                <a:ea typeface="微软雅黑" pitchFamily="34" charset="-122"/>
                <a:cs typeface="Times New Roman" pitchFamily="18" charset="0"/>
              </a:rPr>
              <a:t>e</a:t>
            </a:r>
            <a:r>
              <a:rPr kumimoji="1" lang="zh-CN" altLang="en-US" sz="2400" b="1" dirty="0">
                <a:latin typeface="Times New Roman" pitchFamily="18" charset="0"/>
                <a:ea typeface="微软雅黑" pitchFamily="34" charset="-122"/>
                <a:cs typeface="Times New Roman" pitchFamily="18" charset="0"/>
              </a:rPr>
              <a:t>近似相等。因此，恒压偏置电路的输出电压为 </a:t>
            </a:r>
          </a:p>
        </p:txBody>
      </p:sp>
      <p:graphicFrame>
        <p:nvGraphicFramePr>
          <p:cNvPr id="45" name="Object 6">
            <a:extLst>
              <a:ext uri="{FF2B5EF4-FFF2-40B4-BE49-F238E27FC236}">
                <a16:creationId xmlns="" xmlns:a16="http://schemas.microsoft.com/office/drawing/2014/main" id="{F78C750C-D90C-45E7-802E-BA4472CD5971}"/>
              </a:ext>
            </a:extLst>
          </p:cNvPr>
          <p:cNvGraphicFramePr>
            <a:graphicFrameLocks noChangeAspect="1"/>
          </p:cNvGraphicFramePr>
          <p:nvPr>
            <p:extLst>
              <p:ext uri="{D42A27DB-BD31-4B8C-83A1-F6EECF244321}">
                <p14:modId xmlns:p14="http://schemas.microsoft.com/office/powerpoint/2010/main" val="1388640988"/>
              </p:ext>
            </p:extLst>
          </p:nvPr>
        </p:nvGraphicFramePr>
        <p:xfrm>
          <a:off x="3826974" y="4977932"/>
          <a:ext cx="2166566" cy="597488"/>
        </p:xfrm>
        <a:graphic>
          <a:graphicData uri="http://schemas.openxmlformats.org/presentationml/2006/ole">
            <mc:AlternateContent xmlns:mc="http://schemas.openxmlformats.org/markup-compatibility/2006">
              <mc:Choice xmlns:v="urn:schemas-microsoft-com:vml" Requires="v">
                <p:oleObj spid="_x0000_s7253" name="Equation" r:id="rId9" imgW="812520" imgH="228600" progId="Equation.DSMT4">
                  <p:embed/>
                </p:oleObj>
              </mc:Choice>
              <mc:Fallback>
                <p:oleObj name="Equation" r:id="rId9" imgW="812520" imgH="228600" progId="Equation.DSMT4">
                  <p:embed/>
                  <p:pic>
                    <p:nvPicPr>
                      <p:cNvPr id="21" name="Object 6"/>
                      <p:cNvPicPr>
                        <a:picLocks noChangeAspect="1" noChangeArrowheads="1"/>
                      </p:cNvPicPr>
                      <p:nvPr/>
                    </p:nvPicPr>
                    <p:blipFill>
                      <a:blip r:embed="rId10"/>
                      <a:srcRect/>
                      <a:stretch>
                        <a:fillRect/>
                      </a:stretch>
                    </p:blipFill>
                    <p:spPr bwMode="auto">
                      <a:xfrm>
                        <a:off x="3826974" y="4977932"/>
                        <a:ext cx="2166566" cy="597488"/>
                      </a:xfrm>
                      <a:prstGeom prst="rect">
                        <a:avLst/>
                      </a:prstGeom>
                      <a:solidFill>
                        <a:srgbClr val="FFFF00"/>
                      </a:solidFill>
                    </p:spPr>
                  </p:pic>
                </p:oleObj>
              </mc:Fallback>
            </mc:AlternateContent>
          </a:graphicData>
        </a:graphic>
      </p:graphicFrame>
      <p:sp>
        <p:nvSpPr>
          <p:cNvPr id="46" name="Text Box 7">
            <a:extLst>
              <a:ext uri="{FF2B5EF4-FFF2-40B4-BE49-F238E27FC236}">
                <a16:creationId xmlns="" xmlns:a16="http://schemas.microsoft.com/office/drawing/2014/main" id="{D494A4F1-677D-4F95-A06C-353A21F2459C}"/>
              </a:ext>
            </a:extLst>
          </p:cNvPr>
          <p:cNvSpPr txBox="1">
            <a:spLocks noChangeArrowheads="1"/>
          </p:cNvSpPr>
          <p:nvPr/>
        </p:nvSpPr>
        <p:spPr bwMode="auto">
          <a:xfrm>
            <a:off x="600494" y="5673160"/>
            <a:ext cx="5353874" cy="523220"/>
          </a:xfrm>
          <a:prstGeom prst="rect">
            <a:avLst/>
          </a:prstGeom>
          <a:noFill/>
          <a:ln w="9525">
            <a:noFill/>
            <a:miter lim="800000"/>
            <a:headEnd/>
            <a:tailEnd/>
          </a:ln>
        </p:spPr>
        <p:txBody>
          <a:bodyPr wrap="square">
            <a:spAutoFit/>
          </a:bodyPr>
          <a:lstStyle/>
          <a:p>
            <a:pPr defTabSz="914400">
              <a:spcBef>
                <a:spcPct val="50000"/>
              </a:spcBef>
            </a:pPr>
            <a:r>
              <a:rPr kumimoji="1" lang="zh-CN" altLang="en-US" sz="2400" b="1" dirty="0">
                <a:latin typeface="微软雅黑" pitchFamily="34" charset="-122"/>
                <a:ea typeface="微软雅黑" pitchFamily="34" charset="-122"/>
              </a:rPr>
              <a:t>取微分，则得到输出电压的</a:t>
            </a:r>
            <a:r>
              <a:rPr kumimoji="1" lang="zh-CN" altLang="en-US" sz="2800" b="1" dirty="0">
                <a:solidFill>
                  <a:srgbClr val="FF3399"/>
                </a:solidFill>
                <a:latin typeface="华文琥珀" pitchFamily="2" charset="-122"/>
                <a:ea typeface="华文琥珀" pitchFamily="2" charset="-122"/>
              </a:rPr>
              <a:t>变化量</a:t>
            </a:r>
            <a:r>
              <a:rPr kumimoji="1" lang="zh-CN" altLang="en-US" sz="2400" b="1" dirty="0">
                <a:latin typeface="微软雅黑" pitchFamily="34" charset="-122"/>
                <a:ea typeface="微软雅黑" pitchFamily="34" charset="-122"/>
              </a:rPr>
              <a:t>为 </a:t>
            </a:r>
          </a:p>
        </p:txBody>
      </p:sp>
      <p:graphicFrame>
        <p:nvGraphicFramePr>
          <p:cNvPr id="47" name="Object 8">
            <a:extLst>
              <a:ext uri="{FF2B5EF4-FFF2-40B4-BE49-F238E27FC236}">
                <a16:creationId xmlns="" xmlns:a16="http://schemas.microsoft.com/office/drawing/2014/main" id="{51DEBED0-3A21-4D2D-B033-A7847053F39F}"/>
              </a:ext>
            </a:extLst>
          </p:cNvPr>
          <p:cNvGraphicFramePr>
            <a:graphicFrameLocks noChangeAspect="1"/>
          </p:cNvGraphicFramePr>
          <p:nvPr>
            <p:extLst>
              <p:ext uri="{D42A27DB-BD31-4B8C-83A1-F6EECF244321}">
                <p14:modId xmlns:p14="http://schemas.microsoft.com/office/powerpoint/2010/main" val="3689122542"/>
              </p:ext>
            </p:extLst>
          </p:nvPr>
        </p:nvGraphicFramePr>
        <p:xfrm>
          <a:off x="6019273" y="5700349"/>
          <a:ext cx="4745449" cy="570157"/>
        </p:xfrm>
        <a:graphic>
          <a:graphicData uri="http://schemas.openxmlformats.org/presentationml/2006/ole">
            <mc:AlternateContent xmlns:mc="http://schemas.openxmlformats.org/markup-compatibility/2006">
              <mc:Choice xmlns:v="urn:schemas-microsoft-com:vml" Requires="v">
                <p:oleObj spid="_x0000_s7254" name="Equation" r:id="rId11" imgW="2197080" imgH="241200" progId="Equation.DSMT4">
                  <p:embed/>
                </p:oleObj>
              </mc:Choice>
              <mc:Fallback>
                <p:oleObj name="Equation" r:id="rId11" imgW="2197080" imgH="241200" progId="Equation.DSMT4">
                  <p:embed/>
                  <p:pic>
                    <p:nvPicPr>
                      <p:cNvPr id="23" name="Object 8"/>
                      <p:cNvPicPr>
                        <a:picLocks noChangeAspect="1" noChangeArrowheads="1"/>
                      </p:cNvPicPr>
                      <p:nvPr/>
                    </p:nvPicPr>
                    <p:blipFill>
                      <a:blip r:embed="rId12"/>
                      <a:srcRect/>
                      <a:stretch>
                        <a:fillRect/>
                      </a:stretch>
                    </p:blipFill>
                    <p:spPr bwMode="auto">
                      <a:xfrm>
                        <a:off x="6019273" y="5700349"/>
                        <a:ext cx="4745449" cy="570157"/>
                      </a:xfrm>
                      <a:prstGeom prst="rect">
                        <a:avLst/>
                      </a:prstGeom>
                      <a:solidFill>
                        <a:srgbClr val="FFFF00"/>
                      </a:solidFill>
                    </p:spPr>
                  </p:pic>
                </p:oleObj>
              </mc:Fallback>
            </mc:AlternateContent>
          </a:graphicData>
        </a:graphic>
      </p:graphicFrame>
      <p:sp>
        <p:nvSpPr>
          <p:cNvPr id="19" name="文本框 60">
            <a:extLst>
              <a:ext uri="{FF2B5EF4-FFF2-40B4-BE49-F238E27FC236}">
                <a16:creationId xmlns="" xmlns:a16="http://schemas.microsoft.com/office/drawing/2014/main" id="{A8D857CB-3ED9-4D43-A4B3-0D81F8E3A94C}"/>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恒压电路</a:t>
            </a:r>
            <a:r>
              <a:rPr lang="en-US" altLang="zh-CN" b="1" dirty="0">
                <a:latin typeface="微软雅黑" panose="020B0503020204020204" pitchFamily="34" charset="-122"/>
                <a:ea typeface="微软雅黑" panose="020B0503020204020204" pitchFamily="34" charset="-122"/>
              </a:rPr>
              <a:t>(RL&lt;&lt;R)</a:t>
            </a:r>
            <a:endParaRPr lang="zh-CN" altLang="en-US" b="1" dirty="0">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 xmlns:a16="http://schemas.microsoft.com/office/drawing/2014/main" id="{6A3A5831-EB8E-41A1-8368-6E93276DC13C}"/>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22" name="矩形 21">
            <a:extLst>
              <a:ext uri="{FF2B5EF4-FFF2-40B4-BE49-F238E27FC236}">
                <a16:creationId xmlns="" xmlns:a16="http://schemas.microsoft.com/office/drawing/2014/main" id="{E22B7BBD-EBC9-4448-8CF0-65BF3F429BC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 xmlns:a16="http://schemas.microsoft.com/office/drawing/2014/main" id="{EF3D1865-DFA7-4EBC-BDEC-2C20358FCF25}"/>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4" name="直接连接符 58">
            <a:extLst>
              <a:ext uri="{FF2B5EF4-FFF2-40B4-BE49-F238E27FC236}">
                <a16:creationId xmlns="" xmlns:a16="http://schemas.microsoft.com/office/drawing/2014/main" id="{41A63E76-A97B-4397-BD59-75E84D8FFAEA}"/>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 xmlns:a16="http://schemas.microsoft.com/office/drawing/2014/main" id="{0D513C6F-A5E8-4CF7-9173-70F1BC9C6573}"/>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8" name="矩形 27">
            <a:extLst>
              <a:ext uri="{FF2B5EF4-FFF2-40B4-BE49-F238E27FC236}">
                <a16:creationId xmlns="" xmlns:a16="http://schemas.microsoft.com/office/drawing/2014/main" id="{E674329F-EEFE-40AF-973F-911B19EC8F7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354249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box(in)">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 calcmode="lin" valueType="num">
                                      <p:cBhvr>
                                        <p:cTn id="12" dur="500" fill="hold"/>
                                        <p:tgtEl>
                                          <p:spTgt spid="39"/>
                                        </p:tgtEl>
                                        <p:attrNameLst>
                                          <p:attrName>ppt_x</p:attrName>
                                        </p:attrNameLst>
                                      </p:cBhvr>
                                      <p:tavLst>
                                        <p:tav tm="0">
                                          <p:val>
                                            <p:strVal val="#ppt_x"/>
                                          </p:val>
                                        </p:tav>
                                        <p:tav tm="100000">
                                          <p:val>
                                            <p:strVal val="#ppt_x"/>
                                          </p:val>
                                        </p:tav>
                                      </p:tavLst>
                                    </p:anim>
                                    <p:anim calcmode="lin" valueType="num">
                                      <p:cBhvr>
                                        <p:cTn id="13" dur="500" fill="hold"/>
                                        <p:tgtEl>
                                          <p:spTgt spid="39"/>
                                        </p:tgtEl>
                                        <p:attrNameLst>
                                          <p:attrName>ppt_y</p:attrName>
                                        </p:attrNameLst>
                                      </p:cBhvr>
                                      <p:tavLst>
                                        <p:tav tm="0">
                                          <p:val>
                                            <p:strVal val="#ppt_y-#ppt_h/2"/>
                                          </p:val>
                                        </p:tav>
                                        <p:tav tm="100000">
                                          <p:val>
                                            <p:strVal val="#ppt_y"/>
                                          </p:val>
                                        </p:tav>
                                      </p:tavLst>
                                    </p:anim>
                                    <p:anim calcmode="lin" valueType="num">
                                      <p:cBhvr>
                                        <p:cTn id="14" dur="500" fill="hold"/>
                                        <p:tgtEl>
                                          <p:spTgt spid="39"/>
                                        </p:tgtEl>
                                        <p:attrNameLst>
                                          <p:attrName>ppt_w</p:attrName>
                                        </p:attrNameLst>
                                      </p:cBhvr>
                                      <p:tavLst>
                                        <p:tav tm="0">
                                          <p:val>
                                            <p:strVal val="#ppt_w"/>
                                          </p:val>
                                        </p:tav>
                                        <p:tav tm="100000">
                                          <p:val>
                                            <p:strVal val="#ppt_w"/>
                                          </p:val>
                                        </p:tav>
                                      </p:tavLst>
                                    </p:anim>
                                    <p:anim calcmode="lin" valueType="num">
                                      <p:cBhvr>
                                        <p:cTn id="15" dur="500" fill="hold"/>
                                        <p:tgtEl>
                                          <p:spTgt spid="39"/>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 calcmode="lin" valueType="num">
                                      <p:cBhvr>
                                        <p:cTn id="20" dur="500" fill="hold"/>
                                        <p:tgtEl>
                                          <p:spTgt spid="38"/>
                                        </p:tgtEl>
                                        <p:attrNameLst>
                                          <p:attrName>ppt_x</p:attrName>
                                        </p:attrNameLst>
                                      </p:cBhvr>
                                      <p:tavLst>
                                        <p:tav tm="0">
                                          <p:val>
                                            <p:strVal val="#ppt_x"/>
                                          </p:val>
                                        </p:tav>
                                        <p:tav tm="100000">
                                          <p:val>
                                            <p:strVal val="#ppt_x"/>
                                          </p:val>
                                        </p:tav>
                                      </p:tavLst>
                                    </p:anim>
                                    <p:anim calcmode="lin" valueType="num">
                                      <p:cBhvr>
                                        <p:cTn id="21" dur="500" fill="hold"/>
                                        <p:tgtEl>
                                          <p:spTgt spid="38"/>
                                        </p:tgtEl>
                                        <p:attrNameLst>
                                          <p:attrName>ppt_y</p:attrName>
                                        </p:attrNameLst>
                                      </p:cBhvr>
                                      <p:tavLst>
                                        <p:tav tm="0">
                                          <p:val>
                                            <p:strVal val="#ppt_y-#ppt_h/2"/>
                                          </p:val>
                                        </p:tav>
                                        <p:tav tm="100000">
                                          <p:val>
                                            <p:strVal val="#ppt_y"/>
                                          </p:val>
                                        </p:tav>
                                      </p:tavLst>
                                    </p:anim>
                                    <p:anim calcmode="lin" valueType="num">
                                      <p:cBhvr>
                                        <p:cTn id="22" dur="500" fill="hold"/>
                                        <p:tgtEl>
                                          <p:spTgt spid="38"/>
                                        </p:tgtEl>
                                        <p:attrNameLst>
                                          <p:attrName>ppt_w</p:attrName>
                                        </p:attrNameLst>
                                      </p:cBhvr>
                                      <p:tavLst>
                                        <p:tav tm="0">
                                          <p:val>
                                            <p:strVal val="#ppt_w"/>
                                          </p:val>
                                        </p:tav>
                                        <p:tav tm="100000">
                                          <p:val>
                                            <p:strVal val="#ppt_w"/>
                                          </p:val>
                                        </p:tav>
                                      </p:tavLst>
                                    </p:anim>
                                    <p:anim calcmode="lin" valueType="num">
                                      <p:cBhvr>
                                        <p:cTn id="23" dur="500" fill="hold"/>
                                        <p:tgtEl>
                                          <p:spTgt spid="38"/>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box(in)">
                                      <p:cBhvr>
                                        <p:cTn id="28" dur="500"/>
                                        <p:tgtEl>
                                          <p:spTgt spid="43"/>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box(in)">
                                      <p:cBhvr>
                                        <p:cTn id="33" dur="500"/>
                                        <p:tgtEl>
                                          <p:spTgt spid="42"/>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box(in)">
                                      <p:cBhvr>
                                        <p:cTn id="38" dur="500"/>
                                        <p:tgtEl>
                                          <p:spTgt spid="44"/>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box(in)">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box(in)">
                                      <p:cBhvr>
                                        <p:cTn id="48" dur="500"/>
                                        <p:tgtEl>
                                          <p:spTgt spid="46"/>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nodeType="click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box(in)">
                                      <p:cBhvr>
                                        <p:cTn id="5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utoUpdateAnimBg="0"/>
      <p:bldP spid="43" grpId="0"/>
      <p:bldP spid="44" grpId="0"/>
      <p:bldP spid="4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9">
            <a:extLst>
              <a:ext uri="{FF2B5EF4-FFF2-40B4-BE49-F238E27FC236}">
                <a16:creationId xmlns="" xmlns:a16="http://schemas.microsoft.com/office/drawing/2014/main" id="{CC07DFCF-9382-402F-8ED3-601598F3F22E}"/>
              </a:ext>
            </a:extLst>
          </p:cNvPr>
          <p:cNvGraphicFramePr>
            <a:graphicFrameLocks noChangeAspect="1"/>
          </p:cNvGraphicFramePr>
          <p:nvPr>
            <p:extLst>
              <p:ext uri="{D42A27DB-BD31-4B8C-83A1-F6EECF244321}">
                <p14:modId xmlns:p14="http://schemas.microsoft.com/office/powerpoint/2010/main" val="3760902311"/>
              </p:ext>
            </p:extLst>
          </p:nvPr>
        </p:nvGraphicFramePr>
        <p:xfrm>
          <a:off x="5959947" y="3998262"/>
          <a:ext cx="2414588" cy="838200"/>
        </p:xfrm>
        <a:graphic>
          <a:graphicData uri="http://schemas.openxmlformats.org/presentationml/2006/ole">
            <mc:AlternateContent xmlns:mc="http://schemas.openxmlformats.org/markup-compatibility/2006">
              <mc:Choice xmlns:v="urn:schemas-microsoft-com:vml" Requires="v">
                <p:oleObj spid="_x0000_s8258" name="Equation" r:id="rId3" imgW="1244520" imgH="431640" progId="Equation.DSMT4">
                  <p:embed/>
                </p:oleObj>
              </mc:Choice>
              <mc:Fallback>
                <p:oleObj name="Equation" r:id="rId3" imgW="1244520" imgH="431640" progId="Equation.DSMT4">
                  <p:embed/>
                  <p:pic>
                    <p:nvPicPr>
                      <p:cNvPr id="370697" name="Object 9"/>
                      <p:cNvPicPr>
                        <a:picLocks noChangeAspect="1" noChangeArrowheads="1"/>
                      </p:cNvPicPr>
                      <p:nvPr/>
                    </p:nvPicPr>
                    <p:blipFill>
                      <a:blip r:embed="rId4"/>
                      <a:srcRect/>
                      <a:stretch>
                        <a:fillRect/>
                      </a:stretch>
                    </p:blipFill>
                    <p:spPr bwMode="auto">
                      <a:xfrm>
                        <a:off x="5959947" y="3998262"/>
                        <a:ext cx="2414588" cy="838200"/>
                      </a:xfrm>
                      <a:prstGeom prst="rect">
                        <a:avLst/>
                      </a:prstGeom>
                      <a:solidFill>
                        <a:srgbClr val="FFFF00"/>
                      </a:solidFill>
                    </p:spPr>
                  </p:pic>
                </p:oleObj>
              </mc:Fallback>
            </mc:AlternateContent>
          </a:graphicData>
        </a:graphic>
      </p:graphicFrame>
      <p:sp>
        <p:nvSpPr>
          <p:cNvPr id="21" name="Text Box 4">
            <a:extLst>
              <a:ext uri="{FF2B5EF4-FFF2-40B4-BE49-F238E27FC236}">
                <a16:creationId xmlns="" xmlns:a16="http://schemas.microsoft.com/office/drawing/2014/main" id="{F58DD6AC-2135-4497-B524-B515975E8243}"/>
              </a:ext>
            </a:extLst>
          </p:cNvPr>
          <p:cNvSpPr txBox="1">
            <a:spLocks noChangeArrowheads="1"/>
          </p:cNvSpPr>
          <p:nvPr/>
        </p:nvSpPr>
        <p:spPr bwMode="auto">
          <a:xfrm>
            <a:off x="785813" y="1045801"/>
            <a:ext cx="12243215" cy="1631216"/>
          </a:xfrm>
          <a:prstGeom prst="rect">
            <a:avLst/>
          </a:prstGeom>
          <a:noFill/>
          <a:ln w="9525">
            <a:noFill/>
            <a:miter lim="800000"/>
            <a:headEnd/>
            <a:tailEnd/>
          </a:ln>
        </p:spPr>
        <p:txBody>
          <a:bodyPr wrap="square">
            <a:spAutoFit/>
          </a:bodyPr>
          <a:lstStyle/>
          <a:p>
            <a:pPr defTabSz="914400">
              <a:lnSpc>
                <a:spcPts val="4000"/>
              </a:lnSpc>
            </a:pPr>
            <a:r>
              <a:rPr kumimoji="1" lang="zh-CN" altLang="en-US" sz="2400" b="1" dirty="0">
                <a:latin typeface="Times New Roman" pitchFamily="18" charset="0"/>
                <a:ea typeface="微软雅黑" pitchFamily="34" charset="-122"/>
                <a:cs typeface="Times New Roman" pitchFamily="18" charset="0"/>
              </a:rPr>
              <a:t>例：恒流偏置电路中，已知电源电压为</a:t>
            </a:r>
            <a:r>
              <a:rPr kumimoji="1" lang="en-US" altLang="zh-CN" sz="2400" b="1" dirty="0">
                <a:latin typeface="Times New Roman" pitchFamily="18" charset="0"/>
                <a:ea typeface="微软雅黑" pitchFamily="34" charset="-122"/>
                <a:cs typeface="Times New Roman" pitchFamily="18" charset="0"/>
              </a:rPr>
              <a:t>12V</a:t>
            </a:r>
            <a:r>
              <a:rPr kumimoji="1" lang="zh-CN" altLang="en-US" sz="2400" b="1" dirty="0">
                <a:latin typeface="Times New Roman" pitchFamily="18" charset="0"/>
                <a:ea typeface="微软雅黑" pitchFamily="34" charset="-122"/>
                <a:cs typeface="Times New Roman" pitchFamily="18" charset="0"/>
              </a:rPr>
              <a:t>，</a:t>
            </a:r>
            <a:r>
              <a:rPr kumimoji="1" lang="en-US" altLang="zh-CN" sz="2400" b="1" i="1" dirty="0" err="1">
                <a:latin typeface="Times New Roman" pitchFamily="18" charset="0"/>
                <a:ea typeface="微软雅黑" pitchFamily="34" charset="-122"/>
                <a:cs typeface="Times New Roman" pitchFamily="18" charset="0"/>
              </a:rPr>
              <a:t>R</a:t>
            </a:r>
            <a:r>
              <a:rPr kumimoji="1" lang="en-US" altLang="zh-CN" sz="2400" b="1" baseline="-30000" dirty="0" err="1">
                <a:latin typeface="Times New Roman" pitchFamily="18" charset="0"/>
                <a:ea typeface="微软雅黑" pitchFamily="34" charset="-122"/>
                <a:cs typeface="Times New Roman" pitchFamily="18" charset="0"/>
              </a:rPr>
              <a:t>b</a:t>
            </a:r>
            <a:r>
              <a:rPr kumimoji="1" lang="zh-CN" altLang="en-US" sz="2400" b="1" dirty="0">
                <a:latin typeface="Times New Roman" pitchFamily="18" charset="0"/>
                <a:ea typeface="微软雅黑" pitchFamily="34" charset="-122"/>
                <a:cs typeface="Times New Roman" pitchFamily="18" charset="0"/>
              </a:rPr>
              <a:t>为</a:t>
            </a:r>
            <a:r>
              <a:rPr kumimoji="1" lang="en-US" altLang="zh-CN" sz="2400" b="1" dirty="0">
                <a:latin typeface="Times New Roman" pitchFamily="18" charset="0"/>
                <a:ea typeface="微软雅黑" pitchFamily="34" charset="-122"/>
                <a:cs typeface="Times New Roman" pitchFamily="18" charset="0"/>
              </a:rPr>
              <a:t>820Ω</a:t>
            </a:r>
            <a:r>
              <a:rPr kumimoji="1" lang="zh-CN" altLang="en-US" sz="2400" b="1" dirty="0">
                <a:latin typeface="Times New Roman" pitchFamily="18" charset="0"/>
                <a:ea typeface="微软雅黑" pitchFamily="34" charset="-122"/>
                <a:cs typeface="Times New Roman" pitchFamily="18" charset="0"/>
              </a:rPr>
              <a:t>，</a:t>
            </a:r>
            <a:r>
              <a:rPr kumimoji="1" lang="en-US" altLang="zh-CN" sz="2400" b="1" i="1" dirty="0">
                <a:latin typeface="Times New Roman" pitchFamily="18" charset="0"/>
                <a:ea typeface="微软雅黑" pitchFamily="34" charset="-122"/>
                <a:cs typeface="Times New Roman" pitchFamily="18" charset="0"/>
              </a:rPr>
              <a:t>R</a:t>
            </a:r>
            <a:r>
              <a:rPr kumimoji="1" lang="en-US" altLang="zh-CN" sz="2400" b="1" baseline="-30000" dirty="0">
                <a:latin typeface="Times New Roman" pitchFamily="18" charset="0"/>
                <a:ea typeface="微软雅黑" pitchFamily="34" charset="-122"/>
                <a:cs typeface="Times New Roman" pitchFamily="18" charset="0"/>
              </a:rPr>
              <a:t>e</a:t>
            </a:r>
            <a:r>
              <a:rPr kumimoji="1" lang="zh-CN" altLang="en-US" sz="2400" b="1" dirty="0">
                <a:latin typeface="Times New Roman" pitchFamily="18" charset="0"/>
                <a:ea typeface="微软雅黑" pitchFamily="34" charset="-122"/>
                <a:cs typeface="Times New Roman" pitchFamily="18" charset="0"/>
              </a:rPr>
              <a:t>为</a:t>
            </a:r>
            <a:r>
              <a:rPr kumimoji="1" lang="en-US" altLang="zh-CN" sz="2400" b="1" dirty="0">
                <a:latin typeface="Times New Roman" pitchFamily="18" charset="0"/>
                <a:ea typeface="微软雅黑" pitchFamily="34" charset="-122"/>
                <a:cs typeface="Times New Roman" pitchFamily="18" charset="0"/>
              </a:rPr>
              <a:t>3.3kΩ</a:t>
            </a:r>
            <a:r>
              <a:rPr kumimoji="1" lang="zh-CN" altLang="en-US" sz="2400" b="1" dirty="0">
                <a:latin typeface="Times New Roman" pitchFamily="18" charset="0"/>
                <a:ea typeface="微软雅黑" pitchFamily="34" charset="-122"/>
                <a:cs typeface="Times New Roman" pitchFamily="18" charset="0"/>
              </a:rPr>
              <a:t>，三极管的放大倍率不小于</a:t>
            </a:r>
            <a:r>
              <a:rPr kumimoji="1" lang="en-US" altLang="zh-CN" sz="2400" b="1" dirty="0">
                <a:latin typeface="Times New Roman" pitchFamily="18" charset="0"/>
                <a:ea typeface="微软雅黑" pitchFamily="34" charset="-122"/>
                <a:cs typeface="Times New Roman" pitchFamily="18" charset="0"/>
              </a:rPr>
              <a:t>80</a:t>
            </a:r>
            <a:r>
              <a:rPr kumimoji="1" lang="zh-CN" altLang="en-US" sz="2400" b="1" dirty="0">
                <a:latin typeface="Times New Roman" pitchFamily="18" charset="0"/>
                <a:ea typeface="微软雅黑" pitchFamily="34" charset="-122"/>
                <a:cs typeface="Times New Roman" pitchFamily="18" charset="0"/>
              </a:rPr>
              <a:t>，稳压二极管的输出电压为</a:t>
            </a:r>
            <a:r>
              <a:rPr kumimoji="1" lang="en-US" altLang="zh-CN" sz="2400" b="1" dirty="0">
                <a:latin typeface="Times New Roman" pitchFamily="18" charset="0"/>
                <a:ea typeface="微软雅黑" pitchFamily="34" charset="-122"/>
                <a:cs typeface="Times New Roman" pitchFamily="18" charset="0"/>
              </a:rPr>
              <a:t>4 V</a:t>
            </a:r>
            <a:r>
              <a:rPr kumimoji="1" lang="zh-CN" altLang="en-US" sz="2400" b="1" dirty="0">
                <a:latin typeface="Times New Roman" pitchFamily="18" charset="0"/>
                <a:ea typeface="微软雅黑" pitchFamily="34" charset="-122"/>
                <a:cs typeface="Times New Roman" pitchFamily="18" charset="0"/>
              </a:rPr>
              <a:t>，光照度为</a:t>
            </a:r>
            <a:r>
              <a:rPr kumimoji="1" lang="en-US" altLang="zh-CN" sz="2400" b="1" dirty="0">
                <a:latin typeface="Times New Roman" pitchFamily="18" charset="0"/>
                <a:ea typeface="微软雅黑" pitchFamily="34" charset="-122"/>
                <a:cs typeface="Times New Roman" pitchFamily="18" charset="0"/>
              </a:rPr>
              <a:t>40</a:t>
            </a:r>
            <a:r>
              <a:rPr kumimoji="1" lang="en-US" altLang="zh-CN" sz="2400" b="1" i="1" dirty="0">
                <a:latin typeface="Times New Roman" pitchFamily="18" charset="0"/>
                <a:ea typeface="微软雅黑" pitchFamily="34" charset="-122"/>
                <a:cs typeface="Times New Roman" pitchFamily="18" charset="0"/>
              </a:rPr>
              <a:t>lx</a:t>
            </a:r>
            <a:r>
              <a:rPr kumimoji="1" lang="zh-CN" altLang="en-US" sz="2400" b="1" dirty="0">
                <a:latin typeface="Times New Roman" pitchFamily="18" charset="0"/>
                <a:ea typeface="微软雅黑" pitchFamily="34" charset="-122"/>
                <a:cs typeface="Times New Roman" pitchFamily="18" charset="0"/>
              </a:rPr>
              <a:t>时输出电压为</a:t>
            </a:r>
            <a:r>
              <a:rPr kumimoji="1" lang="en-US" altLang="zh-CN" sz="2400" b="1" dirty="0">
                <a:latin typeface="Times New Roman" pitchFamily="18" charset="0"/>
                <a:ea typeface="微软雅黑" pitchFamily="34" charset="-122"/>
                <a:cs typeface="Times New Roman" pitchFamily="18" charset="0"/>
              </a:rPr>
              <a:t>6V</a:t>
            </a:r>
            <a:r>
              <a:rPr kumimoji="1" lang="zh-CN" altLang="en-US" sz="2400" b="1" dirty="0">
                <a:latin typeface="Times New Roman" pitchFamily="18" charset="0"/>
                <a:ea typeface="微软雅黑" pitchFamily="34" charset="-122"/>
                <a:cs typeface="Times New Roman" pitchFamily="18" charset="0"/>
              </a:rPr>
              <a:t>，</a:t>
            </a:r>
            <a:r>
              <a:rPr kumimoji="1" lang="en-US" altLang="zh-CN" sz="2400" b="1" dirty="0">
                <a:latin typeface="Times New Roman" pitchFamily="18" charset="0"/>
                <a:ea typeface="微软雅黑" pitchFamily="34" charset="-122"/>
                <a:cs typeface="Times New Roman" pitchFamily="18" charset="0"/>
              </a:rPr>
              <a:t>80</a:t>
            </a:r>
            <a:r>
              <a:rPr kumimoji="1" lang="en-US" altLang="zh-CN" sz="2400" b="1" i="1" dirty="0">
                <a:latin typeface="Times New Roman" pitchFamily="18" charset="0"/>
                <a:ea typeface="微软雅黑" pitchFamily="34" charset="-122"/>
                <a:cs typeface="Times New Roman" pitchFamily="18" charset="0"/>
              </a:rPr>
              <a:t> lx</a:t>
            </a:r>
            <a:r>
              <a:rPr kumimoji="1" lang="zh-CN" altLang="en-US" sz="2400" b="1" dirty="0">
                <a:latin typeface="Times New Roman" pitchFamily="18" charset="0"/>
                <a:ea typeface="微软雅黑" pitchFamily="34" charset="-122"/>
                <a:cs typeface="Times New Roman" pitchFamily="18" charset="0"/>
              </a:rPr>
              <a:t>时为</a:t>
            </a:r>
            <a:r>
              <a:rPr kumimoji="1" lang="en-US" altLang="zh-CN" sz="2400" b="1" dirty="0">
                <a:latin typeface="Times New Roman" pitchFamily="18" charset="0"/>
                <a:ea typeface="微软雅黑" pitchFamily="34" charset="-122"/>
                <a:cs typeface="Times New Roman" pitchFamily="18" charset="0"/>
              </a:rPr>
              <a:t>8V</a:t>
            </a:r>
            <a:r>
              <a:rPr kumimoji="1" lang="zh-CN" altLang="en-US" sz="2400" b="1" dirty="0">
                <a:latin typeface="Times New Roman" pitchFamily="18" charset="0"/>
                <a:ea typeface="微软雅黑" pitchFamily="34" charset="-122"/>
                <a:cs typeface="Times New Roman" pitchFamily="18" charset="0"/>
              </a:rPr>
              <a:t>。（设光敏电阻在</a:t>
            </a:r>
            <a:r>
              <a:rPr kumimoji="1" lang="en-US" altLang="zh-CN" sz="2400" b="1" dirty="0">
                <a:latin typeface="Times New Roman" pitchFamily="18" charset="0"/>
                <a:ea typeface="微软雅黑" pitchFamily="34" charset="-122"/>
                <a:cs typeface="Times New Roman" pitchFamily="18" charset="0"/>
              </a:rPr>
              <a:t>30</a:t>
            </a:r>
            <a:r>
              <a:rPr kumimoji="1" lang="zh-CN" altLang="en-US" sz="2400" b="1" dirty="0">
                <a:latin typeface="Times New Roman" pitchFamily="18" charset="0"/>
                <a:ea typeface="微软雅黑" pitchFamily="34" charset="-122"/>
                <a:cs typeface="Times New Roman" pitchFamily="18" charset="0"/>
              </a:rPr>
              <a:t>到</a:t>
            </a:r>
            <a:r>
              <a:rPr kumimoji="1" lang="en-US" altLang="zh-CN" sz="2400" b="1" dirty="0">
                <a:latin typeface="Times New Roman" pitchFamily="18" charset="0"/>
                <a:ea typeface="微软雅黑" pitchFamily="34" charset="-122"/>
                <a:cs typeface="Times New Roman" pitchFamily="18" charset="0"/>
              </a:rPr>
              <a:t>100</a:t>
            </a:r>
            <a:r>
              <a:rPr kumimoji="1" lang="en-US" altLang="zh-CN" sz="2400" b="1" i="1" dirty="0">
                <a:latin typeface="Times New Roman" pitchFamily="18" charset="0"/>
                <a:ea typeface="微软雅黑" pitchFamily="34" charset="-122"/>
                <a:cs typeface="Times New Roman" pitchFamily="18" charset="0"/>
              </a:rPr>
              <a:t>lx</a:t>
            </a:r>
            <a:r>
              <a:rPr kumimoji="1" lang="zh-CN" altLang="en-US" sz="2400" b="1" dirty="0">
                <a:latin typeface="Times New Roman" pitchFamily="18" charset="0"/>
                <a:ea typeface="微软雅黑" pitchFamily="34" charset="-122"/>
                <a:cs typeface="Times New Roman" pitchFamily="18" charset="0"/>
              </a:rPr>
              <a:t>之间的</a:t>
            </a:r>
            <a:r>
              <a:rPr kumimoji="1" lang="zh-CN" altLang="en-US" sz="2400" b="1" dirty="0">
                <a:latin typeface="Times New Roman" pitchFamily="18" charset="0"/>
                <a:ea typeface="微软雅黑" pitchFamily="34" charset="-122"/>
                <a:cs typeface="Times New Roman" pitchFamily="18" charset="0"/>
                <a:sym typeface="Symbol" pitchFamily="18" charset="2"/>
              </a:rPr>
              <a:t></a:t>
            </a:r>
            <a:r>
              <a:rPr kumimoji="1" lang="zh-CN" altLang="en-US" sz="2400" b="1" dirty="0">
                <a:latin typeface="Times New Roman" pitchFamily="18" charset="0"/>
                <a:ea typeface="微软雅黑" pitchFamily="34" charset="-122"/>
                <a:cs typeface="Times New Roman" pitchFamily="18" charset="0"/>
              </a:rPr>
              <a:t>值不变） </a:t>
            </a:r>
          </a:p>
        </p:txBody>
      </p:sp>
      <p:sp>
        <p:nvSpPr>
          <p:cNvPr id="22" name="Text Box 6">
            <a:extLst>
              <a:ext uri="{FF2B5EF4-FFF2-40B4-BE49-F238E27FC236}">
                <a16:creationId xmlns="" xmlns:a16="http://schemas.microsoft.com/office/drawing/2014/main" id="{ABA2370D-F259-4DE7-8116-B6241BCEB587}"/>
              </a:ext>
            </a:extLst>
          </p:cNvPr>
          <p:cNvSpPr txBox="1">
            <a:spLocks noChangeArrowheads="1"/>
          </p:cNvSpPr>
          <p:nvPr/>
        </p:nvSpPr>
        <p:spPr bwMode="auto">
          <a:xfrm>
            <a:off x="854075" y="2752671"/>
            <a:ext cx="1149350" cy="461665"/>
          </a:xfrm>
          <a:prstGeom prst="rect">
            <a:avLst/>
          </a:prstGeom>
          <a:noFill/>
          <a:ln w="9525">
            <a:noFill/>
            <a:miter lim="800000"/>
            <a:headEnd/>
            <a:tailEnd/>
          </a:ln>
        </p:spPr>
        <p:txBody>
          <a:bodyPr>
            <a:spAutoFit/>
          </a:bodyPr>
          <a:lstStyle/>
          <a:p>
            <a:pPr algn="just" defTabSz="914400">
              <a:spcBef>
                <a:spcPct val="50000"/>
              </a:spcBef>
            </a:pPr>
            <a:r>
              <a:rPr kumimoji="1" lang="zh-CN" altLang="en-US" sz="2400" b="1" dirty="0">
                <a:latin typeface="微软雅黑" pitchFamily="34" charset="-122"/>
                <a:ea typeface="微软雅黑" pitchFamily="34" charset="-122"/>
                <a:cs typeface="Times New Roman" pitchFamily="18" charset="0"/>
              </a:rPr>
              <a:t>试求</a:t>
            </a:r>
            <a:r>
              <a:rPr kumimoji="1" lang="zh-CN" altLang="en-US" sz="2400" dirty="0">
                <a:latin typeface="Times New Roman" pitchFamily="18" charset="0"/>
                <a:ea typeface="黑体" pitchFamily="49" charset="-122"/>
                <a:cs typeface="Times New Roman" pitchFamily="18" charset="0"/>
              </a:rPr>
              <a:t>：</a:t>
            </a:r>
            <a:endParaRPr kumimoji="1" lang="zh-CN" altLang="en-US" dirty="0">
              <a:latin typeface="Times New Roman" pitchFamily="18" charset="0"/>
              <a:ea typeface="黑体" pitchFamily="49" charset="-122"/>
              <a:cs typeface="Times New Roman" pitchFamily="18" charset="0"/>
            </a:endParaRPr>
          </a:p>
        </p:txBody>
      </p:sp>
      <p:sp>
        <p:nvSpPr>
          <p:cNvPr id="23" name="Text Box 7">
            <a:extLst>
              <a:ext uri="{FF2B5EF4-FFF2-40B4-BE49-F238E27FC236}">
                <a16:creationId xmlns="" xmlns:a16="http://schemas.microsoft.com/office/drawing/2014/main" id="{066610A4-54F5-45AD-BA39-E0D30ACE0F7E}"/>
              </a:ext>
            </a:extLst>
          </p:cNvPr>
          <p:cNvSpPr txBox="1">
            <a:spLocks noChangeArrowheads="1"/>
          </p:cNvSpPr>
          <p:nvPr/>
        </p:nvSpPr>
        <p:spPr bwMode="auto">
          <a:xfrm>
            <a:off x="1081089" y="3360084"/>
            <a:ext cx="6794500" cy="461665"/>
          </a:xfrm>
          <a:prstGeom prst="rect">
            <a:avLst/>
          </a:prstGeom>
          <a:noFill/>
          <a:ln w="9525">
            <a:noFill/>
            <a:miter lim="800000"/>
            <a:headEnd/>
            <a:tailEnd/>
          </a:ln>
        </p:spPr>
        <p:txBody>
          <a:bodyPr>
            <a:spAutoFit/>
          </a:bodyPr>
          <a:lstStyle/>
          <a:p>
            <a:pPr defTabSz="914400">
              <a:spcBef>
                <a:spcPct val="50000"/>
              </a:spcBef>
            </a:pPr>
            <a:r>
              <a:rPr kumimoji="1"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解：</a:t>
            </a:r>
            <a:r>
              <a:rPr kumimoji="1"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根据已知条件，流过稳压管</a:t>
            </a: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D</a:t>
            </a:r>
            <a:r>
              <a:rPr kumimoji="1" lang="en-US" altLang="zh-CN" sz="2400" b="1" baseline="-30000" dirty="0">
                <a:latin typeface="Times New Roman" panose="02020603050405020304" pitchFamily="18" charset="0"/>
                <a:ea typeface="微软雅黑" panose="020B0503020204020204" pitchFamily="34" charset="-122"/>
                <a:cs typeface="Times New Roman" panose="02020603050405020304" pitchFamily="18" charset="0"/>
              </a:rPr>
              <a:t>W</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的电流</a:t>
            </a:r>
          </a:p>
        </p:txBody>
      </p:sp>
      <p:graphicFrame>
        <p:nvGraphicFramePr>
          <p:cNvPr id="24" name="Object 8">
            <a:extLst>
              <a:ext uri="{FF2B5EF4-FFF2-40B4-BE49-F238E27FC236}">
                <a16:creationId xmlns="" xmlns:a16="http://schemas.microsoft.com/office/drawing/2014/main" id="{9D3AAE09-346C-4A64-8DD5-C51B2E2CF1DD}"/>
              </a:ext>
            </a:extLst>
          </p:cNvPr>
          <p:cNvGraphicFramePr>
            <a:graphicFrameLocks noChangeAspect="1"/>
          </p:cNvGraphicFramePr>
          <p:nvPr>
            <p:extLst>
              <p:ext uri="{D42A27DB-BD31-4B8C-83A1-F6EECF244321}">
                <p14:modId xmlns:p14="http://schemas.microsoft.com/office/powerpoint/2010/main" val="1799085549"/>
              </p:ext>
            </p:extLst>
          </p:nvPr>
        </p:nvGraphicFramePr>
        <p:xfrm>
          <a:off x="2003425" y="3952722"/>
          <a:ext cx="3093869" cy="968375"/>
        </p:xfrm>
        <a:graphic>
          <a:graphicData uri="http://schemas.openxmlformats.org/presentationml/2006/ole">
            <mc:AlternateContent xmlns:mc="http://schemas.openxmlformats.org/markup-compatibility/2006">
              <mc:Choice xmlns:v="urn:schemas-microsoft-com:vml" Requires="v">
                <p:oleObj spid="_x0000_s8259" name="Equation" r:id="rId5" imgW="1434960" imgH="431640" progId="Equation.DSMT4">
                  <p:embed/>
                </p:oleObj>
              </mc:Choice>
              <mc:Fallback>
                <p:oleObj name="Equation" r:id="rId5" imgW="1434960" imgH="431640" progId="Equation.DSMT4">
                  <p:embed/>
                  <p:pic>
                    <p:nvPicPr>
                      <p:cNvPr id="370696" name="Object 8"/>
                      <p:cNvPicPr>
                        <a:picLocks noChangeAspect="1" noChangeArrowheads="1"/>
                      </p:cNvPicPr>
                      <p:nvPr/>
                    </p:nvPicPr>
                    <p:blipFill>
                      <a:blip r:embed="rId6"/>
                      <a:srcRect/>
                      <a:stretch>
                        <a:fillRect/>
                      </a:stretch>
                    </p:blipFill>
                    <p:spPr bwMode="auto">
                      <a:xfrm>
                        <a:off x="2003425" y="3952722"/>
                        <a:ext cx="3093869" cy="968375"/>
                      </a:xfrm>
                      <a:prstGeom prst="rect">
                        <a:avLst/>
                      </a:prstGeom>
                      <a:solidFill>
                        <a:srgbClr val="FFFF00"/>
                      </a:solidFill>
                    </p:spPr>
                  </p:pic>
                </p:oleObj>
              </mc:Fallback>
            </mc:AlternateContent>
          </a:graphicData>
        </a:graphic>
      </p:graphicFrame>
      <p:sp>
        <p:nvSpPr>
          <p:cNvPr id="27" name="TextBox 7">
            <a:extLst>
              <a:ext uri="{FF2B5EF4-FFF2-40B4-BE49-F238E27FC236}">
                <a16:creationId xmlns="" xmlns:a16="http://schemas.microsoft.com/office/drawing/2014/main" id="{86275A7C-CAC9-4B30-94A3-AF0E2F8B0FB1}"/>
              </a:ext>
            </a:extLst>
          </p:cNvPr>
          <p:cNvSpPr txBox="1">
            <a:spLocks noChangeArrowheads="1"/>
          </p:cNvSpPr>
          <p:nvPr/>
        </p:nvSpPr>
        <p:spPr bwMode="auto">
          <a:xfrm>
            <a:off x="7621527" y="2784674"/>
            <a:ext cx="3899021" cy="461665"/>
          </a:xfrm>
          <a:prstGeom prst="rect">
            <a:avLst/>
          </a:prstGeom>
          <a:noFill/>
          <a:ln w="9525">
            <a:noFill/>
            <a:miter lim="800000"/>
            <a:headEnd/>
            <a:tailEnd/>
          </a:ln>
        </p:spPr>
        <p:txBody>
          <a:bodyPr wrap="square">
            <a:spAutoFit/>
          </a:bodyPr>
          <a:lstStyle/>
          <a:p>
            <a:pPr defTabSz="914400"/>
            <a:r>
              <a:rPr kumimoji="1" lang="en-US" altLang="zh-CN" sz="2400">
                <a:latin typeface="Times New Roman" pitchFamily="18" charset="0"/>
                <a:ea typeface="微软雅黑" pitchFamily="34" charset="-122"/>
                <a:cs typeface="Times New Roman" pitchFamily="18" charset="0"/>
              </a:rPr>
              <a:t>(2)</a:t>
            </a:r>
            <a:r>
              <a:rPr kumimoji="1" lang="zh-CN" altLang="en-US" sz="2400" b="1">
                <a:latin typeface="Times New Roman" pitchFamily="18" charset="0"/>
                <a:ea typeface="微软雅黑" pitchFamily="34" charset="-122"/>
                <a:cs typeface="Times New Roman" pitchFamily="18" charset="0"/>
              </a:rPr>
              <a:t>该电路的电压灵敏度</a:t>
            </a:r>
            <a:r>
              <a:rPr kumimoji="1" lang="en-US" altLang="zh-CN" sz="2400" b="1">
                <a:latin typeface="Times New Roman" pitchFamily="18" charset="0"/>
                <a:ea typeface="微软雅黑" pitchFamily="34" charset="-122"/>
                <a:cs typeface="Times New Roman" pitchFamily="18" charset="0"/>
              </a:rPr>
              <a:t>S</a:t>
            </a:r>
            <a:r>
              <a:rPr kumimoji="1" lang="en-US" altLang="zh-CN" sz="2400" b="1" i="1" baseline="-25000">
                <a:latin typeface="Times New Roman" pitchFamily="18" charset="0"/>
                <a:ea typeface="微软雅黑" pitchFamily="34" charset="-122"/>
                <a:cs typeface="Times New Roman" pitchFamily="18" charset="0"/>
              </a:rPr>
              <a:t>v</a:t>
            </a:r>
            <a:r>
              <a:rPr kumimoji="1" lang="zh-CN" altLang="en-US" sz="2400" b="1">
                <a:latin typeface="Times New Roman" pitchFamily="18" charset="0"/>
                <a:ea typeface="微软雅黑" pitchFamily="34" charset="-122"/>
                <a:cs typeface="Times New Roman" pitchFamily="18" charset="0"/>
              </a:rPr>
              <a:t>？</a:t>
            </a:r>
            <a:endParaRPr lang="zh-CN" altLang="en-US" sz="2400" b="1">
              <a:latin typeface="Times New Roman" pitchFamily="18" charset="0"/>
              <a:ea typeface="微软雅黑" pitchFamily="34" charset="-122"/>
              <a:cs typeface="Times New Roman" pitchFamily="18" charset="0"/>
            </a:endParaRPr>
          </a:p>
        </p:txBody>
      </p:sp>
      <p:sp>
        <p:nvSpPr>
          <p:cNvPr id="28" name="TextBox 8">
            <a:extLst>
              <a:ext uri="{FF2B5EF4-FFF2-40B4-BE49-F238E27FC236}">
                <a16:creationId xmlns="" xmlns:a16="http://schemas.microsoft.com/office/drawing/2014/main" id="{19F34CFF-1EB2-41CE-B5E6-FFF1424B9044}"/>
              </a:ext>
            </a:extLst>
          </p:cNvPr>
          <p:cNvSpPr txBox="1">
            <a:spLocks noChangeArrowheads="1"/>
          </p:cNvSpPr>
          <p:nvPr/>
        </p:nvSpPr>
        <p:spPr bwMode="auto">
          <a:xfrm>
            <a:off x="1846648" y="2800016"/>
            <a:ext cx="6667500" cy="461665"/>
          </a:xfrm>
          <a:prstGeom prst="rect">
            <a:avLst/>
          </a:prstGeom>
          <a:noFill/>
          <a:ln w="9525">
            <a:noFill/>
            <a:miter lim="800000"/>
            <a:headEnd/>
            <a:tailEnd/>
          </a:ln>
        </p:spPr>
        <p:txBody>
          <a:bodyPr>
            <a:spAutoFit/>
          </a:bodyPr>
          <a:lstStyle/>
          <a:p>
            <a:pPr defTabSz="914400"/>
            <a:r>
              <a:rPr kumimoji="1" lang="en-US" altLang="zh-CN" sz="2400" b="1" dirty="0">
                <a:latin typeface="微软雅黑" pitchFamily="34" charset="-122"/>
                <a:ea typeface="微软雅黑" pitchFamily="34" charset="-122"/>
                <a:cs typeface="Times New Roman" pitchFamily="18" charset="0"/>
                <a:sym typeface="Wingdings" pitchFamily="2" charset="2"/>
              </a:rPr>
              <a:t>(</a:t>
            </a:r>
            <a:r>
              <a:rPr kumimoji="1" lang="en-US" altLang="zh-CN" sz="2400" b="1" dirty="0">
                <a:latin typeface="微软雅黑" pitchFamily="34" charset="-122"/>
                <a:ea typeface="微软雅黑" pitchFamily="34" charset="-122"/>
                <a:cs typeface="Times New Roman" pitchFamily="18" charset="0"/>
              </a:rPr>
              <a:t>1)</a:t>
            </a:r>
            <a:r>
              <a:rPr kumimoji="1" lang="zh-CN" altLang="en-US" sz="2400" b="1" dirty="0">
                <a:latin typeface="微软雅黑" pitchFamily="34" charset="-122"/>
                <a:ea typeface="微软雅黑" pitchFamily="34" charset="-122"/>
                <a:cs typeface="Times New Roman" pitchFamily="18" charset="0"/>
              </a:rPr>
              <a:t>输出电压为</a:t>
            </a:r>
            <a:r>
              <a:rPr kumimoji="1" lang="en-US" altLang="zh-CN" sz="2400" b="1" dirty="0">
                <a:latin typeface="微软雅黑" pitchFamily="34" charset="-122"/>
                <a:ea typeface="微软雅黑" pitchFamily="34" charset="-122"/>
                <a:cs typeface="Times New Roman" pitchFamily="18" charset="0"/>
              </a:rPr>
              <a:t>7</a:t>
            </a:r>
            <a:r>
              <a:rPr kumimoji="1" lang="zh-CN" altLang="en-US" sz="2400" b="1" dirty="0">
                <a:latin typeface="微软雅黑" pitchFamily="34" charset="-122"/>
                <a:ea typeface="微软雅黑" pitchFamily="34" charset="-122"/>
                <a:cs typeface="Times New Roman" pitchFamily="18" charset="0"/>
              </a:rPr>
              <a:t>伏的照度为多少勒克司？</a:t>
            </a:r>
            <a:endParaRPr lang="zh-CN" altLang="en-US" sz="2400" b="1" dirty="0">
              <a:latin typeface="微软雅黑" pitchFamily="34" charset="-122"/>
              <a:ea typeface="微软雅黑" pitchFamily="34" charset="-122"/>
              <a:cs typeface="Times New Roman" pitchFamily="18" charset="0"/>
            </a:endParaRPr>
          </a:p>
        </p:txBody>
      </p:sp>
      <p:sp>
        <p:nvSpPr>
          <p:cNvPr id="29" name="Text Box 3">
            <a:extLst>
              <a:ext uri="{FF2B5EF4-FFF2-40B4-BE49-F238E27FC236}">
                <a16:creationId xmlns="" xmlns:a16="http://schemas.microsoft.com/office/drawing/2014/main" id="{4087A138-869E-45BD-B005-1D66E2DD8B65}"/>
              </a:ext>
            </a:extLst>
          </p:cNvPr>
          <p:cNvSpPr txBox="1">
            <a:spLocks noChangeArrowheads="1"/>
          </p:cNvSpPr>
          <p:nvPr/>
        </p:nvSpPr>
        <p:spPr bwMode="auto">
          <a:xfrm>
            <a:off x="1346741" y="5101583"/>
            <a:ext cx="8303098" cy="461665"/>
          </a:xfrm>
          <a:prstGeom prst="rect">
            <a:avLst/>
          </a:prstGeom>
          <a:noFill/>
          <a:ln w="9525">
            <a:noFill/>
            <a:miter lim="800000"/>
            <a:headEnd/>
            <a:tailEnd/>
          </a:ln>
        </p:spPr>
        <p:txBody>
          <a:bodyPr wrap="square">
            <a:spAutoFit/>
          </a:bodyPr>
          <a:lstStyle/>
          <a:p>
            <a:pPr defTabSz="914400">
              <a:spcBef>
                <a:spcPct val="50000"/>
              </a:spcBef>
            </a:pPr>
            <a:r>
              <a:rPr kumimoji="1" lang="en-US" altLang="zh-CN" sz="2400" dirty="0">
                <a:latin typeface="微软雅黑" pitchFamily="34" charset="-122"/>
                <a:ea typeface="微软雅黑" pitchFamily="34" charset="-122"/>
              </a:rPr>
              <a:t>(1) </a:t>
            </a:r>
            <a:r>
              <a:rPr kumimoji="1" lang="zh-CN" altLang="en-US" sz="2400" b="1" dirty="0">
                <a:latin typeface="微软雅黑" pitchFamily="34" charset="-122"/>
                <a:ea typeface="微软雅黑" pitchFamily="34" charset="-122"/>
              </a:rPr>
              <a:t>根据题目给的条件，可得到不同光照下光敏电阻的阻值 </a:t>
            </a:r>
          </a:p>
        </p:txBody>
      </p:sp>
      <p:graphicFrame>
        <p:nvGraphicFramePr>
          <p:cNvPr id="30" name="Object 4">
            <a:extLst>
              <a:ext uri="{FF2B5EF4-FFF2-40B4-BE49-F238E27FC236}">
                <a16:creationId xmlns="" xmlns:a16="http://schemas.microsoft.com/office/drawing/2014/main" id="{4B11BC1C-CCF8-43E9-AA44-3764EDD27C67}"/>
              </a:ext>
            </a:extLst>
          </p:cNvPr>
          <p:cNvGraphicFramePr>
            <a:graphicFrameLocks noChangeAspect="1"/>
          </p:cNvGraphicFramePr>
          <p:nvPr>
            <p:extLst>
              <p:ext uri="{D42A27DB-BD31-4B8C-83A1-F6EECF244321}">
                <p14:modId xmlns:p14="http://schemas.microsoft.com/office/powerpoint/2010/main" val="2331790256"/>
              </p:ext>
            </p:extLst>
          </p:nvPr>
        </p:nvGraphicFramePr>
        <p:xfrm>
          <a:off x="2588647" y="5670139"/>
          <a:ext cx="2228850" cy="814387"/>
        </p:xfrm>
        <a:graphic>
          <a:graphicData uri="http://schemas.openxmlformats.org/presentationml/2006/ole">
            <mc:AlternateContent xmlns:mc="http://schemas.openxmlformats.org/markup-compatibility/2006">
              <mc:Choice xmlns:v="urn:schemas-microsoft-com:vml" Requires="v">
                <p:oleObj spid="_x0000_s8260" name="Equation" r:id="rId7" imgW="1193760" imgH="431640" progId="Equation.DSMT4">
                  <p:embed/>
                </p:oleObj>
              </mc:Choice>
              <mc:Fallback>
                <p:oleObj name="Equation" r:id="rId7" imgW="1193760" imgH="431640" progId="Equation.DSMT4">
                  <p:embed/>
                  <p:pic>
                    <p:nvPicPr>
                      <p:cNvPr id="25" name="Object 4"/>
                      <p:cNvPicPr>
                        <a:picLocks noChangeAspect="1" noChangeArrowheads="1"/>
                      </p:cNvPicPr>
                      <p:nvPr/>
                    </p:nvPicPr>
                    <p:blipFill>
                      <a:blip r:embed="rId8"/>
                      <a:srcRect/>
                      <a:stretch>
                        <a:fillRect/>
                      </a:stretch>
                    </p:blipFill>
                    <p:spPr bwMode="auto">
                      <a:xfrm>
                        <a:off x="2588647" y="5670139"/>
                        <a:ext cx="2228850" cy="814387"/>
                      </a:xfrm>
                      <a:prstGeom prst="rect">
                        <a:avLst/>
                      </a:prstGeom>
                      <a:solidFill>
                        <a:srgbClr val="FFFF00"/>
                      </a:solidFill>
                    </p:spPr>
                  </p:pic>
                </p:oleObj>
              </mc:Fallback>
            </mc:AlternateContent>
          </a:graphicData>
        </a:graphic>
      </p:graphicFrame>
      <p:graphicFrame>
        <p:nvGraphicFramePr>
          <p:cNvPr id="31" name="Object 5">
            <a:extLst>
              <a:ext uri="{FF2B5EF4-FFF2-40B4-BE49-F238E27FC236}">
                <a16:creationId xmlns="" xmlns:a16="http://schemas.microsoft.com/office/drawing/2014/main" id="{BC5F778B-D4E8-41A7-A242-46596DEAFD67}"/>
              </a:ext>
            </a:extLst>
          </p:cNvPr>
          <p:cNvGraphicFramePr>
            <a:graphicFrameLocks noChangeAspect="1"/>
          </p:cNvGraphicFramePr>
          <p:nvPr>
            <p:extLst>
              <p:ext uri="{D42A27DB-BD31-4B8C-83A1-F6EECF244321}">
                <p14:modId xmlns:p14="http://schemas.microsoft.com/office/powerpoint/2010/main" val="3532541274"/>
              </p:ext>
            </p:extLst>
          </p:nvPr>
        </p:nvGraphicFramePr>
        <p:xfrm>
          <a:off x="5883574" y="5728497"/>
          <a:ext cx="2238375" cy="808037"/>
        </p:xfrm>
        <a:graphic>
          <a:graphicData uri="http://schemas.openxmlformats.org/presentationml/2006/ole">
            <mc:AlternateContent xmlns:mc="http://schemas.openxmlformats.org/markup-compatibility/2006">
              <mc:Choice xmlns:v="urn:schemas-microsoft-com:vml" Requires="v">
                <p:oleObj spid="_x0000_s8261" name="Equation" r:id="rId9" imgW="1206360" imgH="431640" progId="Equation.DSMT4">
                  <p:embed/>
                </p:oleObj>
              </mc:Choice>
              <mc:Fallback>
                <p:oleObj name="Equation" r:id="rId9" imgW="1206360" imgH="431640" progId="Equation.DSMT4">
                  <p:embed/>
                  <p:pic>
                    <p:nvPicPr>
                      <p:cNvPr id="26" name="Object 5"/>
                      <p:cNvPicPr>
                        <a:picLocks noChangeAspect="1" noChangeArrowheads="1"/>
                      </p:cNvPicPr>
                      <p:nvPr/>
                    </p:nvPicPr>
                    <p:blipFill>
                      <a:blip r:embed="rId10"/>
                      <a:srcRect/>
                      <a:stretch>
                        <a:fillRect/>
                      </a:stretch>
                    </p:blipFill>
                    <p:spPr bwMode="auto">
                      <a:xfrm>
                        <a:off x="5883574" y="5728497"/>
                        <a:ext cx="2238375" cy="808037"/>
                      </a:xfrm>
                      <a:prstGeom prst="rect">
                        <a:avLst/>
                      </a:prstGeom>
                      <a:solidFill>
                        <a:srgbClr val="FFFF00"/>
                      </a:solidFill>
                    </p:spPr>
                  </p:pic>
                </p:oleObj>
              </mc:Fallback>
            </mc:AlternateContent>
          </a:graphicData>
        </a:graphic>
      </p:graphicFrame>
      <p:sp>
        <p:nvSpPr>
          <p:cNvPr id="39" name="文本框 60">
            <a:extLst>
              <a:ext uri="{FF2B5EF4-FFF2-40B4-BE49-F238E27FC236}">
                <a16:creationId xmlns="" xmlns:a16="http://schemas.microsoft.com/office/drawing/2014/main" id="{BF4E79A0-25F8-4DBE-BA62-531CCF81A313}"/>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恒压电路</a:t>
            </a:r>
            <a:r>
              <a:rPr lang="en-US" altLang="zh-CN" b="1" dirty="0">
                <a:latin typeface="微软雅黑" panose="020B0503020204020204" pitchFamily="34" charset="-122"/>
                <a:ea typeface="微软雅黑" panose="020B0503020204020204" pitchFamily="34" charset="-122"/>
              </a:rPr>
              <a:t>(RL&lt;&lt;R)</a:t>
            </a:r>
            <a:endParaRPr lang="zh-CN" altLang="en-US" b="1" dirty="0">
              <a:latin typeface="微软雅黑" panose="020B0503020204020204" pitchFamily="34" charset="-122"/>
              <a:ea typeface="微软雅黑" panose="020B0503020204020204" pitchFamily="34" charset="-122"/>
            </a:endParaRPr>
          </a:p>
        </p:txBody>
      </p:sp>
      <p:sp>
        <p:nvSpPr>
          <p:cNvPr id="41" name="矩形 40">
            <a:extLst>
              <a:ext uri="{FF2B5EF4-FFF2-40B4-BE49-F238E27FC236}">
                <a16:creationId xmlns="" xmlns:a16="http://schemas.microsoft.com/office/drawing/2014/main" id="{6FEF66E7-7DEC-4C7C-9C40-BFA28EF1388E}"/>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42" name="矩形 41">
            <a:extLst>
              <a:ext uri="{FF2B5EF4-FFF2-40B4-BE49-F238E27FC236}">
                <a16:creationId xmlns="" xmlns:a16="http://schemas.microsoft.com/office/drawing/2014/main" id="{87228D97-3F02-4230-AA5A-16944E3F9809}"/>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 xmlns:a16="http://schemas.microsoft.com/office/drawing/2014/main" id="{D135B5D5-5490-47D6-B80B-F2D317D51C96}"/>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4" name="直接连接符 58">
            <a:extLst>
              <a:ext uri="{FF2B5EF4-FFF2-40B4-BE49-F238E27FC236}">
                <a16:creationId xmlns="" xmlns:a16="http://schemas.microsoft.com/office/drawing/2014/main" id="{55344BCA-21A1-4ACE-A527-5E2026703DE2}"/>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 xmlns:a16="http://schemas.microsoft.com/office/drawing/2014/main" id="{9E1B9ADF-D294-40FA-BA00-332856A83CC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6" name="矩形 45">
            <a:extLst>
              <a:ext uri="{FF2B5EF4-FFF2-40B4-BE49-F238E27FC236}">
                <a16:creationId xmlns="" xmlns:a16="http://schemas.microsoft.com/office/drawing/2014/main" id="{FCFA3B6D-6389-4FAD-A5F6-CEB6ED16F9FE}"/>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602617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ox(i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ox(in)">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fill="hold"/>
                                        <p:tgtEl>
                                          <p:spTgt spid="28"/>
                                        </p:tgtEl>
                                        <p:attrNameLst>
                                          <p:attrName>ppt_x</p:attrName>
                                        </p:attrNameLst>
                                      </p:cBhvr>
                                      <p:tavLst>
                                        <p:tav tm="0">
                                          <p:val>
                                            <p:strVal val="1+#ppt_w/2"/>
                                          </p:val>
                                        </p:tav>
                                        <p:tav tm="100000">
                                          <p:val>
                                            <p:strVal val="#ppt_x"/>
                                          </p:val>
                                        </p:tav>
                                      </p:tavLst>
                                    </p:anim>
                                    <p:anim calcmode="lin" valueType="num">
                                      <p:cBhvr additive="base">
                                        <p:cTn id="18"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1+#ppt_w/2"/>
                                          </p:val>
                                        </p:tav>
                                        <p:tav tm="100000">
                                          <p:val>
                                            <p:strVal val="#ppt_x"/>
                                          </p:val>
                                        </p:tav>
                                      </p:tavLst>
                                    </p:anim>
                                    <p:anim calcmode="lin" valueType="num">
                                      <p:cBhvr additive="base">
                                        <p:cTn id="24"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box(in)">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box(in)">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box(in)">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box(in)">
                                      <p:cBhvr>
                                        <p:cTn id="44" dur="500"/>
                                        <p:tgtEl>
                                          <p:spTgt spid="29"/>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nodeType="click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box(in)">
                                      <p:cBhvr>
                                        <p:cTn id="49" dur="500"/>
                                        <p:tgtEl>
                                          <p:spTgt spid="30"/>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16" fill="hold" nodeType="click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box(in)">
                                      <p:cBhvr>
                                        <p:cTn id="5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7" grpId="0"/>
      <p:bldP spid="28"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Box 6">
            <a:extLst>
              <a:ext uri="{FF2B5EF4-FFF2-40B4-BE49-F238E27FC236}">
                <a16:creationId xmlns="" xmlns:a16="http://schemas.microsoft.com/office/drawing/2014/main" id="{5DE819FA-AF29-402D-8E20-BAD758FCACA1}"/>
              </a:ext>
            </a:extLst>
          </p:cNvPr>
          <p:cNvSpPr txBox="1">
            <a:spLocks noChangeArrowheads="1"/>
          </p:cNvSpPr>
          <p:nvPr/>
        </p:nvSpPr>
        <p:spPr bwMode="auto">
          <a:xfrm>
            <a:off x="572587" y="958723"/>
            <a:ext cx="9485812"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dirty="0">
                <a:latin typeface="Times New Roman" pitchFamily="18" charset="0"/>
                <a:cs typeface="Times New Roman" pitchFamily="18" charset="0"/>
              </a:rPr>
              <a:t>       </a:t>
            </a:r>
            <a:r>
              <a:rPr kumimoji="1" lang="zh-CN" altLang="en-US" sz="2400" b="1" dirty="0">
                <a:latin typeface="Times New Roman" pitchFamily="18" charset="0"/>
                <a:ea typeface="微软雅黑" pitchFamily="34" charset="-122"/>
                <a:cs typeface="Times New Roman" pitchFamily="18" charset="0"/>
              </a:rPr>
              <a:t>将</a:t>
            </a:r>
            <a:r>
              <a:rPr kumimoji="1" lang="en-US" altLang="zh-CN" sz="2400" b="1" i="1" dirty="0">
                <a:latin typeface="Times New Roman" pitchFamily="18" charset="0"/>
                <a:ea typeface="微软雅黑" pitchFamily="34" charset="-122"/>
                <a:cs typeface="Times New Roman" pitchFamily="18" charset="0"/>
              </a:rPr>
              <a:t>R</a:t>
            </a:r>
            <a:r>
              <a:rPr kumimoji="1" lang="en-US" altLang="zh-CN" sz="2400" b="1" baseline="-30000" dirty="0">
                <a:latin typeface="Times New Roman" pitchFamily="18" charset="0"/>
                <a:ea typeface="微软雅黑" pitchFamily="34" charset="-122"/>
                <a:cs typeface="Times New Roman" pitchFamily="18" charset="0"/>
              </a:rPr>
              <a:t>p1</a:t>
            </a:r>
            <a:r>
              <a:rPr kumimoji="1" lang="zh-CN" altLang="en-US" sz="2400" b="1" dirty="0">
                <a:latin typeface="Times New Roman" pitchFamily="18" charset="0"/>
                <a:ea typeface="微软雅黑" pitchFamily="34" charset="-122"/>
                <a:cs typeface="Times New Roman" pitchFamily="18" charset="0"/>
              </a:rPr>
              <a:t>与</a:t>
            </a:r>
            <a:r>
              <a:rPr kumimoji="1" lang="en-US" altLang="zh-CN" sz="2400" b="1" i="1" dirty="0">
                <a:latin typeface="Times New Roman" pitchFamily="18" charset="0"/>
                <a:ea typeface="微软雅黑" pitchFamily="34" charset="-122"/>
                <a:cs typeface="Times New Roman" pitchFamily="18" charset="0"/>
              </a:rPr>
              <a:t>R</a:t>
            </a:r>
            <a:r>
              <a:rPr kumimoji="1" lang="en-US" altLang="zh-CN" sz="2400" b="1" baseline="-30000" dirty="0">
                <a:latin typeface="Times New Roman" pitchFamily="18" charset="0"/>
                <a:ea typeface="微软雅黑" pitchFamily="34" charset="-122"/>
                <a:cs typeface="Times New Roman" pitchFamily="18" charset="0"/>
              </a:rPr>
              <a:t>p2</a:t>
            </a:r>
            <a:r>
              <a:rPr kumimoji="1" lang="zh-CN" altLang="en-US" sz="2400" b="1" dirty="0">
                <a:latin typeface="Times New Roman" pitchFamily="18" charset="0"/>
                <a:ea typeface="微软雅黑" pitchFamily="34" charset="-122"/>
                <a:cs typeface="Times New Roman" pitchFamily="18" charset="0"/>
              </a:rPr>
              <a:t>值代入</a:t>
            </a:r>
            <a:r>
              <a:rPr kumimoji="1" lang="en-US" altLang="zh-CN" sz="2400" b="1" dirty="0">
                <a:latin typeface="Times New Roman" pitchFamily="18" charset="0"/>
                <a:ea typeface="微软雅黑" pitchFamily="34" charset="-122"/>
                <a:cs typeface="Times New Roman" pitchFamily="18" charset="0"/>
              </a:rPr>
              <a:t>γ</a:t>
            </a:r>
            <a:r>
              <a:rPr kumimoji="1" lang="zh-CN" altLang="en-US" sz="2400" b="1" dirty="0">
                <a:latin typeface="Times New Roman" pitchFamily="18" charset="0"/>
                <a:ea typeface="微软雅黑" pitchFamily="34" charset="-122"/>
                <a:cs typeface="Times New Roman" pitchFamily="18" charset="0"/>
              </a:rPr>
              <a:t>值计算公式，得到光照度在</a:t>
            </a:r>
            <a:r>
              <a:rPr kumimoji="1" lang="en-US" altLang="zh-CN" sz="2400" b="1" dirty="0">
                <a:latin typeface="Times New Roman" pitchFamily="18" charset="0"/>
                <a:ea typeface="微软雅黑" pitchFamily="34" charset="-122"/>
                <a:cs typeface="Times New Roman" pitchFamily="18" charset="0"/>
              </a:rPr>
              <a:t>40~80</a:t>
            </a:r>
            <a:r>
              <a:rPr kumimoji="1" lang="en-US" altLang="zh-CN" sz="2400" b="1" i="1" dirty="0">
                <a:latin typeface="Times New Roman" pitchFamily="18" charset="0"/>
                <a:ea typeface="微软雅黑" pitchFamily="34" charset="-122"/>
                <a:cs typeface="Times New Roman" pitchFamily="18" charset="0"/>
              </a:rPr>
              <a:t>lx</a:t>
            </a:r>
            <a:r>
              <a:rPr kumimoji="1" lang="zh-CN" altLang="en-US" sz="2400" b="1" dirty="0">
                <a:latin typeface="Times New Roman" pitchFamily="18" charset="0"/>
                <a:ea typeface="微软雅黑" pitchFamily="34" charset="-122"/>
                <a:cs typeface="Times New Roman" pitchFamily="18" charset="0"/>
              </a:rPr>
              <a:t>之间的</a:t>
            </a:r>
            <a:r>
              <a:rPr kumimoji="1" lang="en-US" altLang="zh-CN" sz="2400" b="1" dirty="0">
                <a:latin typeface="Times New Roman" pitchFamily="18" charset="0"/>
                <a:ea typeface="微软雅黑" pitchFamily="34" charset="-122"/>
                <a:cs typeface="Times New Roman" pitchFamily="18" charset="0"/>
              </a:rPr>
              <a:t>γ</a:t>
            </a:r>
            <a:r>
              <a:rPr kumimoji="1" lang="zh-CN" altLang="en-US" sz="2400" b="1" dirty="0">
                <a:latin typeface="Times New Roman" pitchFamily="18" charset="0"/>
                <a:ea typeface="微软雅黑" pitchFamily="34" charset="-122"/>
                <a:cs typeface="Times New Roman" pitchFamily="18" charset="0"/>
              </a:rPr>
              <a:t>值 </a:t>
            </a:r>
          </a:p>
        </p:txBody>
      </p:sp>
      <p:graphicFrame>
        <p:nvGraphicFramePr>
          <p:cNvPr id="34" name="Object 7">
            <a:extLst>
              <a:ext uri="{FF2B5EF4-FFF2-40B4-BE49-F238E27FC236}">
                <a16:creationId xmlns="" xmlns:a16="http://schemas.microsoft.com/office/drawing/2014/main" id="{678804DA-6120-499C-9931-FF9C3EC7D5F4}"/>
              </a:ext>
            </a:extLst>
          </p:cNvPr>
          <p:cNvGraphicFramePr>
            <a:graphicFrameLocks noChangeAspect="1"/>
          </p:cNvGraphicFramePr>
          <p:nvPr>
            <p:extLst>
              <p:ext uri="{D42A27DB-BD31-4B8C-83A1-F6EECF244321}">
                <p14:modId xmlns:p14="http://schemas.microsoft.com/office/powerpoint/2010/main" val="1803349489"/>
              </p:ext>
            </p:extLst>
          </p:nvPr>
        </p:nvGraphicFramePr>
        <p:xfrm>
          <a:off x="2409824" y="1641328"/>
          <a:ext cx="3009900" cy="944562"/>
        </p:xfrm>
        <a:graphic>
          <a:graphicData uri="http://schemas.openxmlformats.org/presentationml/2006/ole">
            <mc:AlternateContent xmlns:mc="http://schemas.openxmlformats.org/markup-compatibility/2006">
              <mc:Choice xmlns:v="urn:schemas-microsoft-com:vml" Requires="v">
                <p:oleObj spid="_x0000_s9303" name="Equation" r:id="rId3" imgW="1282680" imgH="406080" progId="Equation.3">
                  <p:embed/>
                </p:oleObj>
              </mc:Choice>
              <mc:Fallback>
                <p:oleObj name="Equation" r:id="rId3" imgW="1282680" imgH="406080" progId="Equation.3">
                  <p:embed/>
                  <p:pic>
                    <p:nvPicPr>
                      <p:cNvPr id="371719"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9824" y="1641328"/>
                        <a:ext cx="3009900" cy="944562"/>
                      </a:xfrm>
                      <a:prstGeom prst="rect">
                        <a:avLst/>
                      </a:prstGeom>
                      <a:solidFill>
                        <a:srgbClr val="FFFF00"/>
                      </a:solidFill>
                    </p:spPr>
                  </p:pic>
                </p:oleObj>
              </mc:Fallback>
            </mc:AlternateContent>
          </a:graphicData>
        </a:graphic>
      </p:graphicFrame>
      <p:sp>
        <p:nvSpPr>
          <p:cNvPr id="35" name="Text Box 8">
            <a:extLst>
              <a:ext uri="{FF2B5EF4-FFF2-40B4-BE49-F238E27FC236}">
                <a16:creationId xmlns="" xmlns:a16="http://schemas.microsoft.com/office/drawing/2014/main" id="{C3797F67-B046-44DD-9787-E1F973A84E26}"/>
              </a:ext>
            </a:extLst>
          </p:cNvPr>
          <p:cNvSpPr txBox="1">
            <a:spLocks noChangeArrowheads="1"/>
          </p:cNvSpPr>
          <p:nvPr/>
        </p:nvSpPr>
        <p:spPr bwMode="auto">
          <a:xfrm>
            <a:off x="1081089" y="2676980"/>
            <a:ext cx="4776163" cy="461665"/>
          </a:xfrm>
          <a:prstGeom prst="rect">
            <a:avLst/>
          </a:prstGeom>
          <a:noFill/>
          <a:ln w="9525">
            <a:noFill/>
            <a:miter lim="800000"/>
            <a:headEnd/>
            <a:tailEnd/>
          </a:ln>
        </p:spPr>
        <p:txBody>
          <a:bodyPr wrap="square">
            <a:spAutoFit/>
          </a:bodyPr>
          <a:lstStyle/>
          <a:p>
            <a:pPr defTabSz="914400">
              <a:spcBef>
                <a:spcPct val="50000"/>
              </a:spcBef>
            </a:pPr>
            <a:r>
              <a:rPr kumimoji="1" lang="zh-CN" altLang="en-US" sz="2400" b="1" dirty="0">
                <a:latin typeface="Times New Roman" pitchFamily="18" charset="0"/>
                <a:ea typeface="微软雅黑" pitchFamily="34" charset="-122"/>
                <a:cs typeface="Times New Roman" pitchFamily="18" charset="0"/>
              </a:rPr>
              <a:t>输出为</a:t>
            </a:r>
            <a:r>
              <a:rPr kumimoji="1" lang="en-US" altLang="zh-CN" sz="2400" b="1" dirty="0">
                <a:latin typeface="Times New Roman" pitchFamily="18" charset="0"/>
                <a:ea typeface="微软雅黑" pitchFamily="34" charset="-122"/>
                <a:cs typeface="Times New Roman" pitchFamily="18" charset="0"/>
              </a:rPr>
              <a:t>7V</a:t>
            </a:r>
            <a:r>
              <a:rPr kumimoji="1" lang="zh-CN" altLang="en-US" sz="2400" b="1" dirty="0">
                <a:latin typeface="Times New Roman" pitchFamily="18" charset="0"/>
                <a:ea typeface="微软雅黑" pitchFamily="34" charset="-122"/>
                <a:cs typeface="Times New Roman" pitchFamily="18" charset="0"/>
              </a:rPr>
              <a:t>时光敏电阻的阻值应为 </a:t>
            </a:r>
          </a:p>
        </p:txBody>
      </p:sp>
      <p:graphicFrame>
        <p:nvGraphicFramePr>
          <p:cNvPr id="36" name="Object 9">
            <a:extLst>
              <a:ext uri="{FF2B5EF4-FFF2-40B4-BE49-F238E27FC236}">
                <a16:creationId xmlns="" xmlns:a16="http://schemas.microsoft.com/office/drawing/2014/main" id="{BA24035E-6F4A-42D3-A26A-304AFFB4AC50}"/>
              </a:ext>
            </a:extLst>
          </p:cNvPr>
          <p:cNvGraphicFramePr>
            <a:graphicFrameLocks noChangeAspect="1"/>
          </p:cNvGraphicFramePr>
          <p:nvPr>
            <p:extLst>
              <p:ext uri="{D42A27DB-BD31-4B8C-83A1-F6EECF244321}">
                <p14:modId xmlns:p14="http://schemas.microsoft.com/office/powerpoint/2010/main" val="1436243135"/>
              </p:ext>
            </p:extLst>
          </p:nvPr>
        </p:nvGraphicFramePr>
        <p:xfrm>
          <a:off x="6245741" y="2585890"/>
          <a:ext cx="2032496" cy="733957"/>
        </p:xfrm>
        <a:graphic>
          <a:graphicData uri="http://schemas.openxmlformats.org/presentationml/2006/ole">
            <mc:AlternateContent xmlns:mc="http://schemas.openxmlformats.org/markup-compatibility/2006">
              <mc:Choice xmlns:v="urn:schemas-microsoft-com:vml" Requires="v">
                <p:oleObj spid="_x0000_s9304" name="Equation" r:id="rId5" imgW="1206360" imgH="431640" progId="Equation.DSMT4">
                  <p:embed/>
                </p:oleObj>
              </mc:Choice>
              <mc:Fallback>
                <p:oleObj name="Equation" r:id="rId5" imgW="1206360" imgH="431640" progId="Equation.DSMT4">
                  <p:embed/>
                  <p:pic>
                    <p:nvPicPr>
                      <p:cNvPr id="371721" name="Object 9"/>
                      <p:cNvPicPr>
                        <a:picLocks noChangeAspect="1" noChangeArrowheads="1"/>
                      </p:cNvPicPr>
                      <p:nvPr/>
                    </p:nvPicPr>
                    <p:blipFill>
                      <a:blip r:embed="rId6"/>
                      <a:srcRect/>
                      <a:stretch>
                        <a:fillRect/>
                      </a:stretch>
                    </p:blipFill>
                    <p:spPr bwMode="auto">
                      <a:xfrm>
                        <a:off x="6245741" y="2585890"/>
                        <a:ext cx="2032496" cy="733957"/>
                      </a:xfrm>
                      <a:prstGeom prst="rect">
                        <a:avLst/>
                      </a:prstGeom>
                      <a:solidFill>
                        <a:srgbClr val="FFFF00"/>
                      </a:solidFill>
                    </p:spPr>
                  </p:pic>
                </p:oleObj>
              </mc:Fallback>
            </mc:AlternateContent>
          </a:graphicData>
        </a:graphic>
      </p:graphicFrame>
      <p:sp>
        <p:nvSpPr>
          <p:cNvPr id="37" name="Text Box 2">
            <a:extLst>
              <a:ext uri="{FF2B5EF4-FFF2-40B4-BE49-F238E27FC236}">
                <a16:creationId xmlns="" xmlns:a16="http://schemas.microsoft.com/office/drawing/2014/main" id="{A83C567B-6BE8-4FD4-A19E-627A4FCDC61F}"/>
              </a:ext>
            </a:extLst>
          </p:cNvPr>
          <p:cNvSpPr txBox="1">
            <a:spLocks noChangeArrowheads="1"/>
          </p:cNvSpPr>
          <p:nvPr/>
        </p:nvSpPr>
        <p:spPr bwMode="auto">
          <a:xfrm>
            <a:off x="1007239" y="3356431"/>
            <a:ext cx="6254750" cy="461665"/>
          </a:xfrm>
          <a:prstGeom prst="rect">
            <a:avLst/>
          </a:prstGeom>
          <a:noFill/>
          <a:ln w="9525">
            <a:noFill/>
            <a:miter lim="800000"/>
            <a:headEnd/>
            <a:tailEnd/>
          </a:ln>
        </p:spPr>
        <p:txBody>
          <a:bodyPr>
            <a:spAutoFit/>
          </a:bodyPr>
          <a:lstStyle/>
          <a:p>
            <a:pPr defTabSz="914400">
              <a:spcBef>
                <a:spcPct val="50000"/>
              </a:spcBef>
            </a:pPr>
            <a:r>
              <a:rPr kumimoji="1" lang="zh-CN" altLang="en-US" sz="2400" b="1" dirty="0">
                <a:latin typeface="Times New Roman" pitchFamily="18" charset="0"/>
                <a:ea typeface="微软雅黑" pitchFamily="34" charset="-122"/>
                <a:cs typeface="Times New Roman" pitchFamily="18" charset="0"/>
              </a:rPr>
              <a:t>此时的光照度可由</a:t>
            </a:r>
            <a:r>
              <a:rPr kumimoji="1" lang="en-US" altLang="zh-CN" sz="2400" b="1" dirty="0">
                <a:latin typeface="Times New Roman" pitchFamily="18" charset="0"/>
                <a:ea typeface="微软雅黑" pitchFamily="34" charset="-122"/>
                <a:cs typeface="Times New Roman" pitchFamily="18" charset="0"/>
              </a:rPr>
              <a:t>γ</a:t>
            </a:r>
            <a:r>
              <a:rPr kumimoji="1" lang="zh-CN" altLang="en-US" sz="2400" b="1" dirty="0">
                <a:latin typeface="Times New Roman" pitchFamily="18" charset="0"/>
                <a:ea typeface="微软雅黑" pitchFamily="34" charset="-122"/>
                <a:cs typeface="Times New Roman" pitchFamily="18" charset="0"/>
              </a:rPr>
              <a:t>值计算公式获得 </a:t>
            </a:r>
          </a:p>
        </p:txBody>
      </p:sp>
      <p:graphicFrame>
        <p:nvGraphicFramePr>
          <p:cNvPr id="38" name="Object 3">
            <a:extLst>
              <a:ext uri="{FF2B5EF4-FFF2-40B4-BE49-F238E27FC236}">
                <a16:creationId xmlns="" xmlns:a16="http://schemas.microsoft.com/office/drawing/2014/main" id="{69F49F16-45FE-4D98-A6BA-DE5628316B08}"/>
              </a:ext>
            </a:extLst>
          </p:cNvPr>
          <p:cNvGraphicFramePr>
            <a:graphicFrameLocks noChangeAspect="1"/>
          </p:cNvGraphicFramePr>
          <p:nvPr>
            <p:extLst>
              <p:ext uri="{D42A27DB-BD31-4B8C-83A1-F6EECF244321}">
                <p14:modId xmlns:p14="http://schemas.microsoft.com/office/powerpoint/2010/main" val="79427556"/>
              </p:ext>
            </p:extLst>
          </p:nvPr>
        </p:nvGraphicFramePr>
        <p:xfrm>
          <a:off x="2038831" y="4081396"/>
          <a:ext cx="2860675" cy="904875"/>
        </p:xfrm>
        <a:graphic>
          <a:graphicData uri="http://schemas.openxmlformats.org/presentationml/2006/ole">
            <mc:AlternateContent xmlns:mc="http://schemas.openxmlformats.org/markup-compatibility/2006">
              <mc:Choice xmlns:v="urn:schemas-microsoft-com:vml" Requires="v">
                <p:oleObj spid="_x0000_s9305" name="Equation" r:id="rId7" imgW="1295280" imgH="406080" progId="Equation.3">
                  <p:embed/>
                </p:oleObj>
              </mc:Choice>
              <mc:Fallback>
                <p:oleObj name="Equation" r:id="rId7" imgW="1295280" imgH="406080" progId="Equation.3">
                  <p:embed/>
                  <p:pic>
                    <p:nvPicPr>
                      <p:cNvPr id="22"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38831" y="4081396"/>
                        <a:ext cx="2860675" cy="904875"/>
                      </a:xfrm>
                      <a:prstGeom prst="rect">
                        <a:avLst/>
                      </a:prstGeom>
                      <a:solidFill>
                        <a:srgbClr val="FFFF00"/>
                      </a:solidFill>
                    </p:spPr>
                  </p:pic>
                </p:oleObj>
              </mc:Fallback>
            </mc:AlternateContent>
          </a:graphicData>
        </a:graphic>
      </p:graphicFrame>
      <p:graphicFrame>
        <p:nvGraphicFramePr>
          <p:cNvPr id="39" name="Object 4">
            <a:extLst>
              <a:ext uri="{FF2B5EF4-FFF2-40B4-BE49-F238E27FC236}">
                <a16:creationId xmlns="" xmlns:a16="http://schemas.microsoft.com/office/drawing/2014/main" id="{03E737B6-1B15-47BE-9B1A-C140A568C17F}"/>
              </a:ext>
            </a:extLst>
          </p:cNvPr>
          <p:cNvGraphicFramePr>
            <a:graphicFrameLocks noChangeAspect="1"/>
          </p:cNvGraphicFramePr>
          <p:nvPr>
            <p:extLst>
              <p:ext uri="{D42A27DB-BD31-4B8C-83A1-F6EECF244321}">
                <p14:modId xmlns:p14="http://schemas.microsoft.com/office/powerpoint/2010/main" val="574904968"/>
              </p:ext>
            </p:extLst>
          </p:nvPr>
        </p:nvGraphicFramePr>
        <p:xfrm>
          <a:off x="5143470" y="4137360"/>
          <a:ext cx="4237037" cy="865187"/>
        </p:xfrm>
        <a:graphic>
          <a:graphicData uri="http://schemas.openxmlformats.org/presentationml/2006/ole">
            <mc:AlternateContent xmlns:mc="http://schemas.openxmlformats.org/markup-compatibility/2006">
              <mc:Choice xmlns:v="urn:schemas-microsoft-com:vml" Requires="v">
                <p:oleObj spid="_x0000_s9306" name="Equation" r:id="rId9" imgW="1815840" imgH="368280" progId="Equation.3">
                  <p:embed/>
                </p:oleObj>
              </mc:Choice>
              <mc:Fallback>
                <p:oleObj name="Equation" r:id="rId9" imgW="1815840" imgH="368280" progId="Equation.3">
                  <p:embed/>
                  <p:pic>
                    <p:nvPicPr>
                      <p:cNvPr id="23"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43470" y="4137360"/>
                        <a:ext cx="4237037" cy="865187"/>
                      </a:xfrm>
                      <a:prstGeom prst="rect">
                        <a:avLst/>
                      </a:prstGeom>
                      <a:solidFill>
                        <a:srgbClr val="FFFF00"/>
                      </a:solidFill>
                    </p:spPr>
                  </p:pic>
                </p:oleObj>
              </mc:Fallback>
            </mc:AlternateContent>
          </a:graphicData>
        </a:graphic>
      </p:graphicFrame>
      <p:sp>
        <p:nvSpPr>
          <p:cNvPr id="41" name="Text Box 5">
            <a:extLst>
              <a:ext uri="{FF2B5EF4-FFF2-40B4-BE49-F238E27FC236}">
                <a16:creationId xmlns="" xmlns:a16="http://schemas.microsoft.com/office/drawing/2014/main" id="{2891231B-5746-40D0-80CE-61ED3946D125}"/>
              </a:ext>
            </a:extLst>
          </p:cNvPr>
          <p:cNvSpPr txBox="1">
            <a:spLocks noChangeArrowheads="1"/>
          </p:cNvSpPr>
          <p:nvPr/>
        </p:nvSpPr>
        <p:spPr bwMode="auto">
          <a:xfrm>
            <a:off x="2003425" y="5390598"/>
            <a:ext cx="2481026" cy="519113"/>
          </a:xfrm>
          <a:prstGeom prst="rect">
            <a:avLst/>
          </a:prstGeom>
          <a:solidFill>
            <a:schemeClr val="accent4">
              <a:lumMod val="60000"/>
              <a:lumOff val="40000"/>
            </a:schemeClr>
          </a:solidFill>
          <a:ln w="9525">
            <a:noFill/>
            <a:miter lim="800000"/>
            <a:headEnd/>
            <a:tailEnd/>
          </a:ln>
        </p:spPr>
        <p:txBody>
          <a:bodyPr wrap="square">
            <a:spAutoFit/>
          </a:bodyPr>
          <a:lstStyle/>
          <a:p>
            <a:pPr defTabSz="914400">
              <a:spcBef>
                <a:spcPct val="50000"/>
              </a:spcBef>
            </a:pPr>
            <a:r>
              <a:rPr kumimoji="1" lang="en-US" altLang="zh-CN" sz="2800" b="1" dirty="0">
                <a:latin typeface="Times New Roman" pitchFamily="18" charset="0"/>
                <a:cs typeface="Times New Roman" panose="02020603050405020304" pitchFamily="18" charset="0"/>
              </a:rPr>
              <a:t>E</a:t>
            </a:r>
            <a:r>
              <a:rPr kumimoji="1" lang="en-US" altLang="zh-CN" sz="2800" b="1" baseline="-30000" dirty="0">
                <a:latin typeface="Times New Roman" pitchFamily="18" charset="0"/>
                <a:cs typeface="Times New Roman" panose="02020603050405020304" pitchFamily="18" charset="0"/>
              </a:rPr>
              <a:t>3</a:t>
            </a:r>
            <a:r>
              <a:rPr kumimoji="1" lang="en-US" altLang="zh-CN" sz="2800" b="1" dirty="0">
                <a:latin typeface="Times New Roman" pitchFamily="18" charset="0"/>
                <a:cs typeface="Times New Roman" panose="02020603050405020304" pitchFamily="18" charset="0"/>
              </a:rPr>
              <a:t>=54.45</a:t>
            </a:r>
            <a:r>
              <a:rPr kumimoji="1" lang="zh-CN" altLang="en-US" sz="2800" b="1" dirty="0">
                <a:latin typeface="Times New Roman" panose="02020603050405020304" pitchFamily="18" charset="0"/>
                <a:cs typeface="Times New Roman" panose="02020603050405020304" pitchFamily="18" charset="0"/>
              </a:rPr>
              <a:t>（</a:t>
            </a:r>
            <a:r>
              <a:rPr kumimoji="1" lang="en-US" altLang="zh-CN" sz="2800" b="1" i="1" dirty="0">
                <a:latin typeface="Times New Roman" pitchFamily="18" charset="0"/>
                <a:cs typeface="Times New Roman" panose="02020603050405020304" pitchFamily="18" charset="0"/>
              </a:rPr>
              <a:t>lx</a:t>
            </a:r>
            <a:r>
              <a:rPr kumimoji="1" lang="zh-CN" altLang="en-US" sz="2800" b="1" dirty="0">
                <a:latin typeface="Times New Roman" panose="02020603050405020304" pitchFamily="18" charset="0"/>
                <a:cs typeface="Times New Roman" panose="02020603050405020304" pitchFamily="18" charset="0"/>
              </a:rPr>
              <a:t>）</a:t>
            </a:r>
            <a:r>
              <a:rPr kumimoji="1" lang="zh-CN" altLang="en-US" sz="2400" b="1" dirty="0">
                <a:latin typeface="Times New Roman" pitchFamily="18" charset="0"/>
                <a:cs typeface="Times New Roman" panose="02020603050405020304" pitchFamily="18" charset="0"/>
              </a:rPr>
              <a:t> </a:t>
            </a:r>
          </a:p>
        </p:txBody>
      </p:sp>
      <p:sp>
        <p:nvSpPr>
          <p:cNvPr id="42" name="Text Box 6">
            <a:extLst>
              <a:ext uri="{FF2B5EF4-FFF2-40B4-BE49-F238E27FC236}">
                <a16:creationId xmlns="" xmlns:a16="http://schemas.microsoft.com/office/drawing/2014/main" id="{03FE65F7-FCE8-4E3C-B7ED-2AD1E2FC2D42}"/>
              </a:ext>
            </a:extLst>
          </p:cNvPr>
          <p:cNvSpPr txBox="1">
            <a:spLocks noChangeArrowheads="1"/>
          </p:cNvSpPr>
          <p:nvPr/>
        </p:nvSpPr>
        <p:spPr bwMode="auto">
          <a:xfrm>
            <a:off x="556485" y="6296157"/>
            <a:ext cx="3706677" cy="461665"/>
          </a:xfrm>
          <a:prstGeom prst="rect">
            <a:avLst/>
          </a:prstGeom>
          <a:noFill/>
          <a:ln w="9525">
            <a:noFill/>
            <a:miter lim="800000"/>
            <a:headEnd/>
            <a:tailEnd/>
          </a:ln>
        </p:spPr>
        <p:txBody>
          <a:bodyPr wrap="square">
            <a:spAutoFit/>
          </a:bodyPr>
          <a:lstStyle/>
          <a:p>
            <a:pPr defTabSz="914400">
              <a:spcBef>
                <a:spcPct val="50000"/>
              </a:spcBef>
            </a:pPr>
            <a:r>
              <a:rPr kumimoji="1" lang="zh-CN" altLang="en-US" sz="2400" b="1" dirty="0">
                <a:latin typeface="Times New Roman" pitchFamily="18" charset="0"/>
                <a:ea typeface="微软雅黑" pitchFamily="34" charset="-122"/>
                <a:cs typeface="Times New Roman" pitchFamily="18" charset="0"/>
              </a:rPr>
              <a:t>（</a:t>
            </a:r>
            <a:r>
              <a:rPr kumimoji="1" lang="en-US" altLang="zh-CN" sz="2400" b="1" dirty="0">
                <a:latin typeface="Times New Roman" pitchFamily="18" charset="0"/>
                <a:ea typeface="微软雅黑" pitchFamily="34" charset="-122"/>
                <a:cs typeface="Times New Roman" pitchFamily="18" charset="0"/>
              </a:rPr>
              <a:t>2</a:t>
            </a:r>
            <a:r>
              <a:rPr kumimoji="1" lang="zh-CN" altLang="en-US" sz="2400" b="1" dirty="0">
                <a:latin typeface="Times New Roman" pitchFamily="18" charset="0"/>
                <a:ea typeface="微软雅黑" pitchFamily="34" charset="-122"/>
                <a:cs typeface="Times New Roman" pitchFamily="18" charset="0"/>
              </a:rPr>
              <a:t>）电路的电压灵敏度</a:t>
            </a:r>
            <a:r>
              <a:rPr kumimoji="1" lang="en-US" altLang="zh-CN" sz="2400" b="1" i="1" dirty="0">
                <a:latin typeface="Times New Roman" pitchFamily="18" charset="0"/>
                <a:ea typeface="微软雅黑" pitchFamily="34" charset="-122"/>
                <a:cs typeface="Times New Roman" pitchFamily="18" charset="0"/>
              </a:rPr>
              <a:t>S</a:t>
            </a:r>
            <a:r>
              <a:rPr kumimoji="1" lang="en-US" altLang="zh-CN" sz="2400" b="1" baseline="-30000" dirty="0">
                <a:latin typeface="Times New Roman" pitchFamily="18" charset="0"/>
                <a:ea typeface="微软雅黑" pitchFamily="34" charset="-122"/>
                <a:cs typeface="Times New Roman" pitchFamily="18" charset="0"/>
              </a:rPr>
              <a:t>u</a:t>
            </a:r>
            <a:r>
              <a:rPr kumimoji="1" lang="en-US" altLang="zh-CN" sz="2400" b="1" dirty="0">
                <a:latin typeface="Times New Roman" pitchFamily="18" charset="0"/>
                <a:ea typeface="微软雅黑" pitchFamily="34" charset="-122"/>
                <a:cs typeface="Times New Roman" pitchFamily="18" charset="0"/>
              </a:rPr>
              <a:t> </a:t>
            </a:r>
          </a:p>
        </p:txBody>
      </p:sp>
      <p:graphicFrame>
        <p:nvGraphicFramePr>
          <p:cNvPr id="43" name="Object 7">
            <a:extLst>
              <a:ext uri="{FF2B5EF4-FFF2-40B4-BE49-F238E27FC236}">
                <a16:creationId xmlns="" xmlns:a16="http://schemas.microsoft.com/office/drawing/2014/main" id="{68FD148E-D8F8-4DBA-A77D-00098C59E874}"/>
              </a:ext>
            </a:extLst>
          </p:cNvPr>
          <p:cNvGraphicFramePr>
            <a:graphicFrameLocks noChangeAspect="1"/>
          </p:cNvGraphicFramePr>
          <p:nvPr>
            <p:extLst>
              <p:ext uri="{D42A27DB-BD31-4B8C-83A1-F6EECF244321}">
                <p14:modId xmlns:p14="http://schemas.microsoft.com/office/powerpoint/2010/main" val="843071147"/>
              </p:ext>
            </p:extLst>
          </p:nvPr>
        </p:nvGraphicFramePr>
        <p:xfrm>
          <a:off x="4630269" y="6214812"/>
          <a:ext cx="4319178" cy="766982"/>
        </p:xfrm>
        <a:graphic>
          <a:graphicData uri="http://schemas.openxmlformats.org/presentationml/2006/ole">
            <mc:AlternateContent xmlns:mc="http://schemas.openxmlformats.org/markup-compatibility/2006">
              <mc:Choice xmlns:v="urn:schemas-microsoft-com:vml" Requires="v">
                <p:oleObj spid="_x0000_s9307" name="Equation" r:id="rId11" imgW="2234880" imgH="393480" progId="Equation.DSMT4">
                  <p:embed/>
                </p:oleObj>
              </mc:Choice>
              <mc:Fallback>
                <p:oleObj name="Equation" r:id="rId11" imgW="2234880" imgH="393480" progId="Equation.DSMT4">
                  <p:embed/>
                  <p:pic>
                    <p:nvPicPr>
                      <p:cNvPr id="26" name="Object 7"/>
                      <p:cNvPicPr>
                        <a:picLocks noChangeAspect="1" noChangeArrowheads="1"/>
                      </p:cNvPicPr>
                      <p:nvPr/>
                    </p:nvPicPr>
                    <p:blipFill>
                      <a:blip r:embed="rId12"/>
                      <a:srcRect/>
                      <a:stretch>
                        <a:fillRect/>
                      </a:stretch>
                    </p:blipFill>
                    <p:spPr bwMode="auto">
                      <a:xfrm>
                        <a:off x="4630269" y="6214812"/>
                        <a:ext cx="4319178" cy="766982"/>
                      </a:xfrm>
                      <a:prstGeom prst="rect">
                        <a:avLst/>
                      </a:prstGeom>
                      <a:solidFill>
                        <a:srgbClr val="FFFF00"/>
                      </a:solidFill>
                    </p:spPr>
                  </p:pic>
                </p:oleObj>
              </mc:Fallback>
            </mc:AlternateContent>
          </a:graphicData>
        </a:graphic>
      </p:graphicFrame>
      <p:sp>
        <p:nvSpPr>
          <p:cNvPr id="21" name="文本框 60">
            <a:extLst>
              <a:ext uri="{FF2B5EF4-FFF2-40B4-BE49-F238E27FC236}">
                <a16:creationId xmlns="" xmlns:a16="http://schemas.microsoft.com/office/drawing/2014/main" id="{9AA5F4EF-EC4A-4908-946E-F57261347A24}"/>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恒压电路</a:t>
            </a:r>
            <a:r>
              <a:rPr lang="en-US" altLang="zh-CN" b="1" dirty="0">
                <a:latin typeface="微软雅黑" panose="020B0503020204020204" pitchFamily="34" charset="-122"/>
                <a:ea typeface="微软雅黑" panose="020B0503020204020204" pitchFamily="34" charset="-122"/>
              </a:rPr>
              <a:t>(RL&lt;&lt;R)</a:t>
            </a:r>
            <a:endParaRPr lang="zh-CN" altLang="en-US" b="1" dirty="0">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 xmlns:a16="http://schemas.microsoft.com/office/drawing/2014/main" id="{FA0118CF-279D-4B36-B5FB-DC0B786D6F07}"/>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23" name="矩形 22">
            <a:extLst>
              <a:ext uri="{FF2B5EF4-FFF2-40B4-BE49-F238E27FC236}">
                <a16:creationId xmlns="" xmlns:a16="http://schemas.microsoft.com/office/drawing/2014/main" id="{A83317C7-2B68-4156-9ADD-536E8A73C6AA}"/>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 xmlns:a16="http://schemas.microsoft.com/office/drawing/2014/main" id="{BD5D343F-7859-4DE8-8E60-864BAB32CD83}"/>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7" name="直接连接符 58">
            <a:extLst>
              <a:ext uri="{FF2B5EF4-FFF2-40B4-BE49-F238E27FC236}">
                <a16:creationId xmlns="" xmlns:a16="http://schemas.microsoft.com/office/drawing/2014/main" id="{41834FF5-91B9-4B32-8669-E51B24858EB8}"/>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 xmlns:a16="http://schemas.microsoft.com/office/drawing/2014/main" id="{CE8F7117-A610-40E6-95B1-AD9653C94FE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9" name="矩形 28">
            <a:extLst>
              <a:ext uri="{FF2B5EF4-FFF2-40B4-BE49-F238E27FC236}">
                <a16:creationId xmlns="" xmlns:a16="http://schemas.microsoft.com/office/drawing/2014/main" id="{E1544E80-E647-469B-9DA9-94014FF240A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407581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ox(in)">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ox(in)">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box(in)">
                                      <p:cBhvr>
                                        <p:cTn id="17" dur="500"/>
                                        <p:tgtEl>
                                          <p:spTgt spid="3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ox(in)">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box(in)">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box(in)">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box(in)">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box(in)">
                                      <p:cBhvr>
                                        <p:cTn id="42" dur="500"/>
                                        <p:tgtEl>
                                          <p:spTgt spid="4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box(in)">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box(in)">
                                      <p:cBhvr>
                                        <p:cTn id="5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5" grpId="0"/>
      <p:bldP spid="37" grpId="0"/>
      <p:bldP spid="41" grpId="0" animBg="1"/>
      <p:bldP spid="4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2">
            <a:extLst>
              <a:ext uri="{FF2B5EF4-FFF2-40B4-BE49-F238E27FC236}">
                <a16:creationId xmlns="" xmlns:a16="http://schemas.microsoft.com/office/drawing/2014/main" id="{5D0F8519-9EC8-48A0-BC44-9F7EC3090532}"/>
              </a:ext>
            </a:extLst>
          </p:cNvPr>
          <p:cNvSpPr txBox="1">
            <a:spLocks noChangeArrowheads="1"/>
          </p:cNvSpPr>
          <p:nvPr/>
        </p:nvSpPr>
        <p:spPr bwMode="auto">
          <a:xfrm>
            <a:off x="517525" y="2055813"/>
            <a:ext cx="9144000" cy="457200"/>
          </a:xfrm>
          <a:prstGeom prst="rect">
            <a:avLst/>
          </a:prstGeom>
          <a:noFill/>
          <a:ln w="9525">
            <a:noFill/>
            <a:miter lim="800000"/>
            <a:headEnd/>
            <a:tailEnd/>
          </a:ln>
        </p:spPr>
        <p:txBody>
          <a:bodyPr>
            <a:spAutoFit/>
          </a:bodyPr>
          <a:lstStyle/>
          <a:p>
            <a:pPr defTabSz="914400">
              <a:spcBef>
                <a:spcPct val="50000"/>
              </a:spcBef>
            </a:pPr>
            <a:endParaRPr kumimoji="1" lang="zh-CN" altLang="en-US" sz="2400">
              <a:latin typeface="Times New Roman" pitchFamily="18" charset="0"/>
            </a:endParaRPr>
          </a:p>
        </p:txBody>
      </p:sp>
      <p:sp>
        <p:nvSpPr>
          <p:cNvPr id="22" name="Text Box 3">
            <a:extLst>
              <a:ext uri="{FF2B5EF4-FFF2-40B4-BE49-F238E27FC236}">
                <a16:creationId xmlns="" xmlns:a16="http://schemas.microsoft.com/office/drawing/2014/main" id="{6DB88495-39E9-4C6F-A36D-F0645D9D3FED}"/>
              </a:ext>
            </a:extLst>
          </p:cNvPr>
          <p:cNvSpPr txBox="1">
            <a:spLocks noChangeArrowheads="1"/>
          </p:cNvSpPr>
          <p:nvPr/>
        </p:nvSpPr>
        <p:spPr bwMode="auto">
          <a:xfrm>
            <a:off x="810221" y="953434"/>
            <a:ext cx="12118705" cy="1754326"/>
          </a:xfrm>
          <a:prstGeom prst="rect">
            <a:avLst/>
          </a:prstGeom>
          <a:noFill/>
          <a:ln w="9525">
            <a:noFill/>
            <a:miter lim="800000"/>
            <a:headEnd/>
            <a:tailEnd/>
          </a:ln>
        </p:spPr>
        <p:txBody>
          <a:bodyPr wrap="square">
            <a:spAutoFit/>
          </a:bodyPr>
          <a:lstStyle/>
          <a:p>
            <a:pPr algn="just" defTabSz="914400">
              <a:lnSpc>
                <a:spcPct val="150000"/>
              </a:lnSpc>
              <a:spcBef>
                <a:spcPct val="50000"/>
              </a:spcBef>
            </a:pPr>
            <a:r>
              <a:rPr kumimoji="1" lang="zh-CN" altLang="en-US" sz="2400" dirty="0">
                <a:latin typeface="Times New Roman" pitchFamily="18" charset="0"/>
              </a:rPr>
              <a:t> </a:t>
            </a:r>
            <a:r>
              <a:rPr kumimoji="1" lang="zh-CN" altLang="en-US" sz="2400" b="1" dirty="0">
                <a:latin typeface="Times New Roman" pitchFamily="18" charset="0"/>
                <a:ea typeface="微软雅黑" pitchFamily="34" charset="-122"/>
                <a:cs typeface="Times New Roman" pitchFamily="18" charset="0"/>
              </a:rPr>
              <a:t>例：在恒压偏置电路中，已知</a:t>
            </a:r>
            <a:r>
              <a:rPr kumimoji="1" lang="en-US" altLang="zh-CN" sz="2400" b="1" dirty="0">
                <a:latin typeface="Times New Roman" pitchFamily="18" charset="0"/>
                <a:ea typeface="微软雅黑" pitchFamily="34" charset="-122"/>
                <a:cs typeface="Times New Roman" pitchFamily="18" charset="0"/>
              </a:rPr>
              <a:t>D</a:t>
            </a:r>
            <a:r>
              <a:rPr kumimoji="1" lang="en-US" altLang="zh-CN" sz="2400" b="1" baseline="-30000" dirty="0">
                <a:latin typeface="Times New Roman" pitchFamily="18" charset="0"/>
                <a:ea typeface="微软雅黑" pitchFamily="34" charset="-122"/>
                <a:cs typeface="Times New Roman" pitchFamily="18" charset="0"/>
              </a:rPr>
              <a:t>W</a:t>
            </a:r>
            <a:r>
              <a:rPr kumimoji="1" lang="zh-CN" altLang="en-US" sz="2400" b="1" dirty="0">
                <a:latin typeface="Times New Roman" pitchFamily="18" charset="0"/>
                <a:ea typeface="微软雅黑" pitchFamily="34" charset="-122"/>
                <a:cs typeface="Times New Roman" pitchFamily="18" charset="0"/>
              </a:rPr>
              <a:t>为</a:t>
            </a:r>
            <a:r>
              <a:rPr kumimoji="1" lang="en-US" altLang="zh-CN" sz="2400" b="1" dirty="0">
                <a:latin typeface="Times New Roman" pitchFamily="18" charset="0"/>
                <a:ea typeface="微软雅黑" pitchFamily="34" charset="-122"/>
                <a:cs typeface="Times New Roman" pitchFamily="18" charset="0"/>
              </a:rPr>
              <a:t>2CW12</a:t>
            </a:r>
            <a:r>
              <a:rPr kumimoji="1" lang="zh-CN" altLang="en-US" sz="2400" b="1" dirty="0">
                <a:latin typeface="Times New Roman" pitchFamily="18" charset="0"/>
                <a:ea typeface="微软雅黑" pitchFamily="34" charset="-122"/>
                <a:cs typeface="Times New Roman" pitchFamily="18" charset="0"/>
              </a:rPr>
              <a:t>型稳压二极管，其稳定电压值为</a:t>
            </a:r>
            <a:r>
              <a:rPr kumimoji="1" lang="en-US" altLang="zh-CN" sz="2400" b="1" dirty="0">
                <a:latin typeface="Times New Roman" pitchFamily="18" charset="0"/>
                <a:ea typeface="微软雅黑" pitchFamily="34" charset="-122"/>
                <a:cs typeface="Times New Roman" pitchFamily="18" charset="0"/>
              </a:rPr>
              <a:t>6V</a:t>
            </a:r>
            <a:r>
              <a:rPr kumimoji="1" lang="zh-CN" altLang="en-US" sz="2400" b="1" dirty="0">
                <a:latin typeface="Times New Roman" pitchFamily="18" charset="0"/>
                <a:ea typeface="微软雅黑" pitchFamily="34" charset="-122"/>
                <a:cs typeface="Times New Roman" pitchFamily="18" charset="0"/>
              </a:rPr>
              <a:t>，设</a:t>
            </a:r>
            <a:r>
              <a:rPr kumimoji="1" lang="en-US" altLang="zh-CN" sz="2400" b="1" dirty="0" err="1">
                <a:latin typeface="Times New Roman" pitchFamily="18" charset="0"/>
                <a:ea typeface="微软雅黑" pitchFamily="34" charset="-122"/>
                <a:cs typeface="Times New Roman" pitchFamily="18" charset="0"/>
              </a:rPr>
              <a:t>R</a:t>
            </a:r>
            <a:r>
              <a:rPr kumimoji="1" lang="en-US" altLang="zh-CN" sz="2400" b="1" baseline="-30000" dirty="0" err="1">
                <a:latin typeface="Times New Roman" pitchFamily="18" charset="0"/>
                <a:ea typeface="微软雅黑" pitchFamily="34" charset="-122"/>
                <a:cs typeface="Times New Roman" pitchFamily="18" charset="0"/>
              </a:rPr>
              <a:t>b</a:t>
            </a:r>
            <a:r>
              <a:rPr kumimoji="1" lang="en-US" altLang="zh-CN" sz="2400" b="1" dirty="0">
                <a:latin typeface="Times New Roman" pitchFamily="18" charset="0"/>
                <a:ea typeface="微软雅黑" pitchFamily="34" charset="-122"/>
                <a:cs typeface="Times New Roman" pitchFamily="18" charset="0"/>
              </a:rPr>
              <a:t>=1kΩ</a:t>
            </a:r>
            <a:r>
              <a:rPr kumimoji="1" lang="zh-CN" altLang="en-US" sz="2400" b="1" dirty="0">
                <a:latin typeface="Times New Roman" pitchFamily="18" charset="0"/>
                <a:ea typeface="微软雅黑" pitchFamily="34" charset="-122"/>
                <a:cs typeface="Times New Roman" pitchFamily="18" charset="0"/>
              </a:rPr>
              <a:t>，</a:t>
            </a:r>
            <a:r>
              <a:rPr kumimoji="1" lang="en-US" altLang="zh-CN" sz="2400" b="1" dirty="0">
                <a:latin typeface="Times New Roman" pitchFamily="18" charset="0"/>
                <a:ea typeface="微软雅黑" pitchFamily="34" charset="-122"/>
                <a:cs typeface="Times New Roman" pitchFamily="18" charset="0"/>
              </a:rPr>
              <a:t>R</a:t>
            </a:r>
            <a:r>
              <a:rPr kumimoji="1" lang="en-US" altLang="zh-CN" sz="2400" b="1" baseline="-30000" dirty="0">
                <a:latin typeface="Times New Roman" pitchFamily="18" charset="0"/>
                <a:ea typeface="微软雅黑" pitchFamily="34" charset="-122"/>
                <a:cs typeface="Times New Roman" pitchFamily="18" charset="0"/>
              </a:rPr>
              <a:t>C</a:t>
            </a:r>
            <a:r>
              <a:rPr kumimoji="1" lang="en-US" altLang="zh-CN" sz="2400" b="1" dirty="0">
                <a:latin typeface="Times New Roman" pitchFamily="18" charset="0"/>
                <a:ea typeface="微软雅黑" pitchFamily="34" charset="-122"/>
                <a:cs typeface="Times New Roman" pitchFamily="18" charset="0"/>
              </a:rPr>
              <a:t>=510Ω, </a:t>
            </a:r>
            <a:r>
              <a:rPr kumimoji="1" lang="zh-CN" altLang="en-US" sz="2400" b="1" dirty="0">
                <a:latin typeface="Times New Roman" pitchFamily="18" charset="0"/>
                <a:ea typeface="微软雅黑" pitchFamily="34" charset="-122"/>
                <a:cs typeface="Times New Roman" pitchFamily="18" charset="0"/>
              </a:rPr>
              <a:t>三极管的电流放大倍率不小于</a:t>
            </a:r>
            <a:r>
              <a:rPr kumimoji="1" lang="en-US" altLang="zh-CN" sz="2400" b="1" dirty="0">
                <a:latin typeface="Times New Roman" pitchFamily="18" charset="0"/>
                <a:ea typeface="微软雅黑" pitchFamily="34" charset="-122"/>
                <a:cs typeface="Times New Roman" pitchFamily="18" charset="0"/>
              </a:rPr>
              <a:t>80</a:t>
            </a:r>
            <a:r>
              <a:rPr kumimoji="1" lang="zh-CN" altLang="en-US" sz="2400" b="1" dirty="0">
                <a:latin typeface="Times New Roman" pitchFamily="18" charset="0"/>
                <a:ea typeface="微软雅黑" pitchFamily="34" charset="-122"/>
                <a:cs typeface="Times New Roman" pitchFamily="18" charset="0"/>
              </a:rPr>
              <a:t>，电源电压</a:t>
            </a:r>
            <a:r>
              <a:rPr kumimoji="1" lang="en-US" altLang="zh-CN" sz="2400" b="1" dirty="0" err="1">
                <a:latin typeface="Times New Roman" pitchFamily="18" charset="0"/>
                <a:ea typeface="微软雅黑" pitchFamily="34" charset="-122"/>
                <a:cs typeface="Times New Roman" pitchFamily="18" charset="0"/>
              </a:rPr>
              <a:t>V</a:t>
            </a:r>
            <a:r>
              <a:rPr kumimoji="1" lang="en-US" altLang="zh-CN" sz="2400" b="1" baseline="-25000" dirty="0" err="1">
                <a:latin typeface="Times New Roman" pitchFamily="18" charset="0"/>
                <a:ea typeface="微软雅黑" pitchFamily="34" charset="-122"/>
                <a:cs typeface="Times New Roman" pitchFamily="18" charset="0"/>
              </a:rPr>
              <a:t>cc</a:t>
            </a:r>
            <a:r>
              <a:rPr kumimoji="1" lang="en-US" altLang="zh-CN" sz="2400" b="1" dirty="0">
                <a:latin typeface="Times New Roman" pitchFamily="18" charset="0"/>
                <a:ea typeface="微软雅黑" pitchFamily="34" charset="-122"/>
                <a:cs typeface="Times New Roman" pitchFamily="18" charset="0"/>
              </a:rPr>
              <a:t>=12V</a:t>
            </a:r>
            <a:r>
              <a:rPr kumimoji="1" lang="zh-CN" altLang="en-US" sz="2400" b="1" dirty="0">
                <a:latin typeface="Times New Roman" pitchFamily="18" charset="0"/>
                <a:ea typeface="微软雅黑" pitchFamily="34" charset="-122"/>
                <a:cs typeface="Times New Roman" pitchFamily="18" charset="0"/>
              </a:rPr>
              <a:t>，当</a:t>
            </a:r>
            <a:r>
              <a:rPr kumimoji="1" lang="en-US" altLang="zh-CN" sz="2400" b="1" dirty="0" err="1">
                <a:latin typeface="Times New Roman" pitchFamily="18" charset="0"/>
                <a:ea typeface="微软雅黑" pitchFamily="34" charset="-122"/>
                <a:cs typeface="Times New Roman" pitchFamily="18" charset="0"/>
              </a:rPr>
              <a:t>CdS</a:t>
            </a:r>
            <a:r>
              <a:rPr kumimoji="1" lang="zh-CN" altLang="en-US" sz="2400" b="1" dirty="0">
                <a:latin typeface="Times New Roman" pitchFamily="18" charset="0"/>
                <a:ea typeface="微软雅黑" pitchFamily="34" charset="-122"/>
                <a:cs typeface="Times New Roman" pitchFamily="18" charset="0"/>
              </a:rPr>
              <a:t>光敏电阻光敏面上的照度为</a:t>
            </a:r>
            <a:r>
              <a:rPr kumimoji="1" lang="en-US" altLang="zh-CN" sz="2400" b="1" dirty="0">
                <a:latin typeface="Times New Roman" pitchFamily="18" charset="0"/>
                <a:ea typeface="微软雅黑" pitchFamily="34" charset="-122"/>
                <a:cs typeface="Times New Roman" pitchFamily="18" charset="0"/>
              </a:rPr>
              <a:t>150</a:t>
            </a:r>
            <a:r>
              <a:rPr kumimoji="1" lang="en-US" altLang="zh-CN" sz="2400" b="1" i="1" dirty="0">
                <a:latin typeface="Times New Roman" pitchFamily="18" charset="0"/>
                <a:ea typeface="微软雅黑" pitchFamily="34" charset="-122"/>
                <a:cs typeface="Times New Roman" pitchFamily="18" charset="0"/>
              </a:rPr>
              <a:t>lx</a:t>
            </a:r>
            <a:r>
              <a:rPr kumimoji="1" lang="zh-CN" altLang="en-US" sz="2400" b="1" dirty="0">
                <a:latin typeface="Times New Roman" pitchFamily="18" charset="0"/>
                <a:ea typeface="微软雅黑" pitchFamily="34" charset="-122"/>
                <a:cs typeface="Times New Roman" pitchFamily="18" charset="0"/>
              </a:rPr>
              <a:t>时恒压偏置电路的输出电压为</a:t>
            </a:r>
            <a:r>
              <a:rPr kumimoji="1" lang="en-US" altLang="zh-CN" sz="2400" b="1" dirty="0">
                <a:latin typeface="Times New Roman" pitchFamily="18" charset="0"/>
                <a:ea typeface="微软雅黑" pitchFamily="34" charset="-122"/>
                <a:cs typeface="Times New Roman" pitchFamily="18" charset="0"/>
              </a:rPr>
              <a:t>11V,</a:t>
            </a:r>
            <a:r>
              <a:rPr kumimoji="1" lang="zh-CN" altLang="en-US" sz="2400" b="1" dirty="0">
                <a:latin typeface="Times New Roman" pitchFamily="18" charset="0"/>
                <a:ea typeface="微软雅黑" pitchFamily="34" charset="-122"/>
                <a:cs typeface="Times New Roman" pitchFamily="18" charset="0"/>
              </a:rPr>
              <a:t>照度为</a:t>
            </a:r>
            <a:r>
              <a:rPr kumimoji="1" lang="en-US" altLang="zh-CN" sz="2400" b="1" dirty="0">
                <a:latin typeface="Times New Roman" pitchFamily="18" charset="0"/>
                <a:ea typeface="微软雅黑" pitchFamily="34" charset="-122"/>
                <a:cs typeface="Times New Roman" pitchFamily="18" charset="0"/>
              </a:rPr>
              <a:t>450</a:t>
            </a:r>
            <a:r>
              <a:rPr kumimoji="1" lang="en-US" altLang="zh-CN" sz="2400" b="1" i="1" dirty="0">
                <a:latin typeface="Times New Roman" pitchFamily="18" charset="0"/>
                <a:ea typeface="微软雅黑" pitchFamily="34" charset="-122"/>
                <a:cs typeface="Times New Roman" pitchFamily="18" charset="0"/>
              </a:rPr>
              <a:t>lx</a:t>
            </a:r>
            <a:r>
              <a:rPr kumimoji="1" lang="zh-CN" altLang="en-US" sz="2400" b="1" dirty="0">
                <a:latin typeface="Times New Roman" pitchFamily="18" charset="0"/>
                <a:ea typeface="微软雅黑" pitchFamily="34" charset="-122"/>
                <a:cs typeface="Times New Roman" pitchFamily="18" charset="0"/>
              </a:rPr>
              <a:t>时输出电压为</a:t>
            </a:r>
            <a:r>
              <a:rPr kumimoji="1" lang="en-US" altLang="zh-CN" sz="2400" b="1" dirty="0">
                <a:latin typeface="Times New Roman" pitchFamily="18" charset="0"/>
                <a:ea typeface="微软雅黑" pitchFamily="34" charset="-122"/>
                <a:cs typeface="Times New Roman" pitchFamily="18" charset="0"/>
              </a:rPr>
              <a:t>8V</a:t>
            </a:r>
            <a:r>
              <a:rPr kumimoji="1" lang="zh-CN" altLang="en-US" sz="2400" b="1" dirty="0">
                <a:latin typeface="Times New Roman" pitchFamily="18" charset="0"/>
                <a:ea typeface="微软雅黑" pitchFamily="34" charset="-122"/>
                <a:cs typeface="Times New Roman" pitchFamily="18" charset="0"/>
              </a:rPr>
              <a:t>。</a:t>
            </a:r>
          </a:p>
        </p:txBody>
      </p:sp>
      <p:sp>
        <p:nvSpPr>
          <p:cNvPr id="23" name="TextBox 3">
            <a:extLst>
              <a:ext uri="{FF2B5EF4-FFF2-40B4-BE49-F238E27FC236}">
                <a16:creationId xmlns="" xmlns:a16="http://schemas.microsoft.com/office/drawing/2014/main" id="{1C0F86BD-C7E3-4BA3-80F5-C0187336EEE8}"/>
              </a:ext>
            </a:extLst>
          </p:cNvPr>
          <p:cNvSpPr txBox="1">
            <a:spLocks noChangeArrowheads="1"/>
          </p:cNvSpPr>
          <p:nvPr/>
        </p:nvSpPr>
        <p:spPr bwMode="auto">
          <a:xfrm>
            <a:off x="592631" y="2850966"/>
            <a:ext cx="1104900" cy="461665"/>
          </a:xfrm>
          <a:prstGeom prst="rect">
            <a:avLst/>
          </a:prstGeom>
          <a:noFill/>
          <a:ln w="9525">
            <a:noFill/>
            <a:miter lim="800000"/>
            <a:headEnd/>
            <a:tailEnd/>
          </a:ln>
        </p:spPr>
        <p:txBody>
          <a:bodyPr>
            <a:spAutoFit/>
          </a:bodyPr>
          <a:lstStyle/>
          <a:p>
            <a:pPr defTabSz="914400"/>
            <a:r>
              <a:rPr kumimoji="1" lang="zh-CN" altLang="en-US" sz="2400" b="1" dirty="0">
                <a:latin typeface="微软雅黑" panose="020B0503020204020204" pitchFamily="34" charset="-122"/>
                <a:ea typeface="微软雅黑" panose="020B0503020204020204" pitchFamily="34" charset="-122"/>
                <a:cs typeface="Times New Roman" pitchFamily="18" charset="0"/>
              </a:rPr>
              <a:t>试求：</a:t>
            </a:r>
            <a:endParaRPr lang="zh-CN" altLang="en-US" sz="2400" b="1" dirty="0">
              <a:latin typeface="微软雅黑" panose="020B0503020204020204" pitchFamily="34" charset="-122"/>
              <a:ea typeface="微软雅黑" panose="020B0503020204020204" pitchFamily="34" charset="-122"/>
              <a:cs typeface="Times New Roman" pitchFamily="18" charset="0"/>
            </a:endParaRPr>
          </a:p>
        </p:txBody>
      </p:sp>
      <p:sp>
        <p:nvSpPr>
          <p:cNvPr id="24" name="TextBox 5">
            <a:extLst>
              <a:ext uri="{FF2B5EF4-FFF2-40B4-BE49-F238E27FC236}">
                <a16:creationId xmlns="" xmlns:a16="http://schemas.microsoft.com/office/drawing/2014/main" id="{48F3ED67-2548-4A11-988F-BF79F059CF5C}"/>
              </a:ext>
            </a:extLst>
          </p:cNvPr>
          <p:cNvSpPr txBox="1">
            <a:spLocks noChangeArrowheads="1"/>
          </p:cNvSpPr>
          <p:nvPr/>
        </p:nvSpPr>
        <p:spPr bwMode="auto">
          <a:xfrm>
            <a:off x="1423279" y="2743904"/>
            <a:ext cx="11505647" cy="646331"/>
          </a:xfrm>
          <a:prstGeom prst="rect">
            <a:avLst/>
          </a:prstGeom>
          <a:noFill/>
          <a:ln w="9525">
            <a:noFill/>
            <a:miter lim="800000"/>
            <a:headEnd/>
            <a:tailEnd/>
          </a:ln>
        </p:spPr>
        <p:txBody>
          <a:bodyPr wrap="square">
            <a:spAutoFit/>
          </a:bodyPr>
          <a:lstStyle/>
          <a:p>
            <a:pPr defTabSz="914400">
              <a:lnSpc>
                <a:spcPct val="150000"/>
              </a:lnSpc>
            </a:pPr>
            <a:r>
              <a:rPr kumimoji="1" lang="en-US" altLang="zh-CN" sz="2400" b="1" dirty="0">
                <a:latin typeface="Times New Roman" panose="02020603050405020304" pitchFamily="18" charset="0"/>
                <a:ea typeface="微软雅黑" pitchFamily="34" charset="-122"/>
                <a:cs typeface="Times New Roman" panose="02020603050405020304" pitchFamily="18" charset="0"/>
              </a:rPr>
              <a:t>(1)</a:t>
            </a:r>
            <a:r>
              <a:rPr kumimoji="1" lang="zh-CN" altLang="en-US" sz="2400" b="1" dirty="0">
                <a:latin typeface="Times New Roman" panose="02020603050405020304" pitchFamily="18" charset="0"/>
                <a:ea typeface="微软雅黑" pitchFamily="34" charset="-122"/>
                <a:cs typeface="Times New Roman" panose="02020603050405020304" pitchFamily="18" charset="0"/>
              </a:rPr>
              <a:t>计算输出电压为</a:t>
            </a:r>
            <a:r>
              <a:rPr kumimoji="1" lang="en-US" altLang="zh-CN" sz="2400" b="1" dirty="0">
                <a:latin typeface="Times New Roman" panose="02020603050405020304" pitchFamily="18" charset="0"/>
                <a:ea typeface="微软雅黑" pitchFamily="34" charset="-122"/>
                <a:cs typeface="Times New Roman" panose="02020603050405020304" pitchFamily="18" charset="0"/>
              </a:rPr>
              <a:t>9V</a:t>
            </a:r>
            <a:r>
              <a:rPr kumimoji="1" lang="zh-CN" altLang="en-US" sz="2400" b="1" dirty="0">
                <a:latin typeface="Times New Roman" panose="02020603050405020304" pitchFamily="18" charset="0"/>
                <a:ea typeface="微软雅黑" pitchFamily="34" charset="-122"/>
                <a:cs typeface="Times New Roman" panose="02020603050405020304" pitchFamily="18" charset="0"/>
              </a:rPr>
              <a:t>时的照度（设光敏电阻在</a:t>
            </a:r>
            <a:r>
              <a:rPr kumimoji="1" lang="en-US" altLang="zh-CN" sz="2400" b="1" dirty="0">
                <a:latin typeface="Times New Roman" panose="02020603050405020304" pitchFamily="18" charset="0"/>
                <a:ea typeface="微软雅黑" pitchFamily="34" charset="-122"/>
                <a:cs typeface="Times New Roman" panose="02020603050405020304" pitchFamily="18" charset="0"/>
              </a:rPr>
              <a:t>100~500</a:t>
            </a:r>
            <a:r>
              <a:rPr kumimoji="1" lang="en-US" altLang="zh-CN" sz="2400" b="1" i="1" dirty="0">
                <a:latin typeface="Times New Roman" panose="02020603050405020304" pitchFamily="18" charset="0"/>
                <a:ea typeface="微软雅黑" pitchFamily="34" charset="-122"/>
                <a:cs typeface="Times New Roman" panose="02020603050405020304" pitchFamily="18" charset="0"/>
              </a:rPr>
              <a:t>lx</a:t>
            </a:r>
            <a:r>
              <a:rPr kumimoji="1" lang="zh-CN" altLang="en-US" sz="2400" b="1" dirty="0">
                <a:latin typeface="Times New Roman" panose="02020603050405020304" pitchFamily="18" charset="0"/>
                <a:ea typeface="微软雅黑" pitchFamily="34" charset="-122"/>
                <a:cs typeface="Times New Roman" panose="02020603050405020304" pitchFamily="18" charset="0"/>
              </a:rPr>
              <a:t>间的</a:t>
            </a:r>
            <a:r>
              <a:rPr kumimoji="1" lang="en-US" altLang="zh-CN" sz="2400" b="1" dirty="0">
                <a:latin typeface="Times New Roman" panose="02020603050405020304" pitchFamily="18" charset="0"/>
                <a:ea typeface="微软雅黑" pitchFamily="34" charset="-122"/>
                <a:cs typeface="Times New Roman" panose="02020603050405020304" pitchFamily="18" charset="0"/>
              </a:rPr>
              <a:t>γ</a:t>
            </a:r>
            <a:r>
              <a:rPr kumimoji="1" lang="zh-CN" altLang="en-US" sz="2400" b="1" dirty="0">
                <a:latin typeface="Times New Roman" panose="02020603050405020304" pitchFamily="18" charset="0"/>
                <a:ea typeface="微软雅黑" pitchFamily="34" charset="-122"/>
                <a:cs typeface="Times New Roman" panose="02020603050405020304" pitchFamily="18" charset="0"/>
              </a:rPr>
              <a:t>值不变）为多少</a:t>
            </a:r>
            <a:r>
              <a:rPr kumimoji="1" lang="en-US" altLang="zh-CN" sz="2400" b="1" i="1" dirty="0">
                <a:latin typeface="Times New Roman" panose="02020603050405020304" pitchFamily="18" charset="0"/>
                <a:ea typeface="微软雅黑" pitchFamily="34" charset="-122"/>
                <a:cs typeface="Times New Roman" panose="02020603050405020304" pitchFamily="18" charset="0"/>
              </a:rPr>
              <a:t>lx</a:t>
            </a:r>
            <a:r>
              <a:rPr kumimoji="1" lang="zh-CN" altLang="en-US" sz="2400" dirty="0">
                <a:latin typeface="Times New Roman" panose="02020603050405020304" pitchFamily="18" charset="0"/>
                <a:ea typeface="微软雅黑" pitchFamily="34" charset="-122"/>
                <a:cs typeface="Times New Roman" panose="02020603050405020304" pitchFamily="18" charset="0"/>
              </a:rPr>
              <a:t>？</a:t>
            </a:r>
            <a:endParaRPr lang="zh-CN" altLang="en-US" sz="2400" b="1" dirty="0">
              <a:latin typeface="Times New Roman" panose="02020603050405020304" pitchFamily="18" charset="0"/>
              <a:ea typeface="微软雅黑" pitchFamily="34" charset="-122"/>
              <a:cs typeface="Times New Roman" panose="02020603050405020304" pitchFamily="18" charset="0"/>
            </a:endParaRPr>
          </a:p>
        </p:txBody>
      </p:sp>
      <p:sp>
        <p:nvSpPr>
          <p:cNvPr id="27" name="TextBox 6">
            <a:extLst>
              <a:ext uri="{FF2B5EF4-FFF2-40B4-BE49-F238E27FC236}">
                <a16:creationId xmlns="" xmlns:a16="http://schemas.microsoft.com/office/drawing/2014/main" id="{10D4D83F-8557-4C5F-8DB3-98DFEE536FB4}"/>
              </a:ext>
            </a:extLst>
          </p:cNvPr>
          <p:cNvSpPr txBox="1">
            <a:spLocks noChangeArrowheads="1"/>
          </p:cNvSpPr>
          <p:nvPr/>
        </p:nvSpPr>
        <p:spPr bwMode="auto">
          <a:xfrm>
            <a:off x="1334864" y="3390235"/>
            <a:ext cx="6889750" cy="461665"/>
          </a:xfrm>
          <a:prstGeom prst="rect">
            <a:avLst/>
          </a:prstGeom>
          <a:noFill/>
          <a:ln w="9525">
            <a:noFill/>
            <a:miter lim="800000"/>
            <a:headEnd/>
            <a:tailEnd/>
          </a:ln>
        </p:spPr>
        <p:txBody>
          <a:bodyPr>
            <a:spAutoFit/>
          </a:bodyPr>
          <a:lstStyle/>
          <a:p>
            <a:pPr defTabSz="914400"/>
            <a:r>
              <a:rPr kumimoji="1" lang="en-US" altLang="zh-CN" sz="2400" b="1" dirty="0">
                <a:latin typeface="Times New Roman" panose="02020603050405020304" pitchFamily="18" charset="0"/>
                <a:ea typeface="微软雅黑" pitchFamily="34" charset="-122"/>
                <a:cs typeface="Times New Roman" panose="02020603050405020304" pitchFamily="18" charset="0"/>
              </a:rPr>
              <a:t>(2)</a:t>
            </a:r>
            <a:r>
              <a:rPr kumimoji="1" lang="zh-CN" altLang="en-US" sz="2400" b="1" dirty="0">
                <a:latin typeface="Times New Roman" panose="02020603050405020304" pitchFamily="18" charset="0"/>
                <a:ea typeface="微软雅黑" pitchFamily="34" charset="-122"/>
                <a:cs typeface="Times New Roman" panose="02020603050405020304" pitchFamily="18" charset="0"/>
              </a:rPr>
              <a:t>照度到</a:t>
            </a:r>
            <a:r>
              <a:rPr kumimoji="1" lang="en-US" altLang="zh-CN" sz="2400" b="1" dirty="0">
                <a:latin typeface="Times New Roman" panose="02020603050405020304" pitchFamily="18" charset="0"/>
                <a:ea typeface="微软雅黑" pitchFamily="34" charset="-122"/>
                <a:cs typeface="Times New Roman" panose="02020603050405020304" pitchFamily="18" charset="0"/>
              </a:rPr>
              <a:t>500lx</a:t>
            </a:r>
            <a:r>
              <a:rPr kumimoji="1" lang="zh-CN" altLang="en-US" sz="2400" b="1" dirty="0">
                <a:latin typeface="Times New Roman" panose="02020603050405020304" pitchFamily="18" charset="0"/>
                <a:ea typeface="微软雅黑" pitchFamily="34" charset="-122"/>
                <a:cs typeface="Times New Roman" panose="02020603050405020304" pitchFamily="18" charset="0"/>
              </a:rPr>
              <a:t>时的输出电压为多少？</a:t>
            </a:r>
            <a:endParaRPr lang="zh-CN" altLang="en-US" sz="2400" b="1" dirty="0">
              <a:latin typeface="Times New Roman" panose="02020603050405020304" pitchFamily="18" charset="0"/>
              <a:ea typeface="微软雅黑" pitchFamily="34" charset="-122"/>
              <a:cs typeface="Times New Roman" panose="02020603050405020304" pitchFamily="18" charset="0"/>
            </a:endParaRPr>
          </a:p>
        </p:txBody>
      </p:sp>
      <p:graphicFrame>
        <p:nvGraphicFramePr>
          <p:cNvPr id="28" name="Object 2">
            <a:extLst>
              <a:ext uri="{FF2B5EF4-FFF2-40B4-BE49-F238E27FC236}">
                <a16:creationId xmlns="" xmlns:a16="http://schemas.microsoft.com/office/drawing/2014/main" id="{B91E9251-E154-42F7-824D-941F848B291B}"/>
              </a:ext>
            </a:extLst>
          </p:cNvPr>
          <p:cNvGraphicFramePr>
            <a:graphicFrameLocks noChangeAspect="1"/>
          </p:cNvGraphicFramePr>
          <p:nvPr>
            <p:extLst>
              <p:ext uri="{D42A27DB-BD31-4B8C-83A1-F6EECF244321}">
                <p14:modId xmlns:p14="http://schemas.microsoft.com/office/powerpoint/2010/main" val="183715014"/>
              </p:ext>
            </p:extLst>
          </p:nvPr>
        </p:nvGraphicFramePr>
        <p:xfrm>
          <a:off x="1756886" y="6156396"/>
          <a:ext cx="3424566" cy="708284"/>
        </p:xfrm>
        <a:graphic>
          <a:graphicData uri="http://schemas.openxmlformats.org/presentationml/2006/ole">
            <mc:AlternateContent xmlns:mc="http://schemas.openxmlformats.org/markup-compatibility/2006">
              <mc:Choice xmlns:v="urn:schemas-microsoft-com:vml" Requires="v">
                <p:oleObj spid="_x0000_s10274" name="Equation" r:id="rId3" imgW="2108160" imgH="431640" progId="Equation.DSMT4">
                  <p:embed/>
                </p:oleObj>
              </mc:Choice>
              <mc:Fallback>
                <p:oleObj name="Equation" r:id="rId3" imgW="2108160" imgH="431640" progId="Equation.DSMT4">
                  <p:embed/>
                  <p:pic>
                    <p:nvPicPr>
                      <p:cNvPr id="19" name="Object 2"/>
                      <p:cNvPicPr>
                        <a:picLocks noChangeAspect="1" noChangeArrowheads="1"/>
                      </p:cNvPicPr>
                      <p:nvPr/>
                    </p:nvPicPr>
                    <p:blipFill>
                      <a:blip r:embed="rId4"/>
                      <a:srcRect/>
                      <a:stretch>
                        <a:fillRect/>
                      </a:stretch>
                    </p:blipFill>
                    <p:spPr bwMode="auto">
                      <a:xfrm>
                        <a:off x="1756886" y="6156396"/>
                        <a:ext cx="3424566" cy="708284"/>
                      </a:xfrm>
                      <a:prstGeom prst="rect">
                        <a:avLst/>
                      </a:prstGeom>
                      <a:solidFill>
                        <a:srgbClr val="FFFF00"/>
                      </a:solidFill>
                    </p:spPr>
                  </p:pic>
                </p:oleObj>
              </mc:Fallback>
            </mc:AlternateContent>
          </a:graphicData>
        </a:graphic>
      </p:graphicFrame>
      <p:sp>
        <p:nvSpPr>
          <p:cNvPr id="29" name="Text Box 3">
            <a:extLst>
              <a:ext uri="{FF2B5EF4-FFF2-40B4-BE49-F238E27FC236}">
                <a16:creationId xmlns="" xmlns:a16="http://schemas.microsoft.com/office/drawing/2014/main" id="{B1E8FCAB-76F1-47A6-A9BF-B775DB8B8A3E}"/>
              </a:ext>
            </a:extLst>
          </p:cNvPr>
          <p:cNvSpPr txBox="1">
            <a:spLocks noChangeArrowheads="1"/>
          </p:cNvSpPr>
          <p:nvPr/>
        </p:nvSpPr>
        <p:spPr bwMode="auto">
          <a:xfrm>
            <a:off x="525293" y="4074288"/>
            <a:ext cx="12368627" cy="1135054"/>
          </a:xfrm>
          <a:prstGeom prst="rect">
            <a:avLst/>
          </a:prstGeom>
          <a:noFill/>
          <a:ln w="9525">
            <a:noFill/>
            <a:miter lim="800000"/>
            <a:headEnd/>
            <a:tailEnd/>
          </a:ln>
        </p:spPr>
        <p:txBody>
          <a:bodyPr wrap="square">
            <a:spAutoFit/>
          </a:bodyPr>
          <a:lstStyle/>
          <a:p>
            <a:pPr defTabSz="914400">
              <a:lnSpc>
                <a:spcPct val="150000"/>
              </a:lnSpc>
            </a:pPr>
            <a:r>
              <a:rPr kumimoji="1" lang="zh-CN" altLang="en-US" sz="2400" b="1" dirty="0">
                <a:latin typeface="微软雅黑" pitchFamily="34" charset="-122"/>
                <a:ea typeface="微软雅黑" pitchFamily="34" charset="-122"/>
                <a:cs typeface="Times New Roman" pitchFamily="18" charset="0"/>
              </a:rPr>
              <a:t>解</a:t>
            </a:r>
            <a:r>
              <a:rPr kumimoji="1" lang="en-US" altLang="zh-CN" sz="2400" b="1" dirty="0">
                <a:latin typeface="微软雅黑" pitchFamily="34" charset="-122"/>
                <a:ea typeface="微软雅黑" pitchFamily="34" charset="-122"/>
                <a:cs typeface="Times New Roman" pitchFamily="18" charset="0"/>
              </a:rPr>
              <a:t>:</a:t>
            </a:r>
            <a:r>
              <a:rPr kumimoji="1" lang="zh-CN" altLang="en-US" sz="2400" b="1" dirty="0">
                <a:latin typeface="微软雅黑" pitchFamily="34" charset="-122"/>
                <a:ea typeface="微软雅黑" pitchFamily="34" charset="-122"/>
                <a:cs typeface="Times New Roman" pitchFamily="18" charset="0"/>
              </a:rPr>
              <a:t>  分析电路可知，流过稳压二极管的电流满足稳压管的稳定工作条件，三极管的基极被稳定在</a:t>
            </a:r>
            <a:r>
              <a:rPr kumimoji="1" lang="en-US" altLang="zh-CN" sz="2400" b="1" dirty="0">
                <a:latin typeface="微软雅黑" pitchFamily="34" charset="-122"/>
                <a:ea typeface="微软雅黑" pitchFamily="34" charset="-122"/>
                <a:cs typeface="Times New Roman" pitchFamily="18" charset="0"/>
              </a:rPr>
              <a:t>6V</a:t>
            </a:r>
            <a:r>
              <a:rPr kumimoji="1" lang="zh-CN" altLang="en-US" sz="2400" b="1" dirty="0">
                <a:latin typeface="微软雅黑" pitchFamily="34" charset="-122"/>
                <a:ea typeface="微软雅黑" pitchFamily="34" charset="-122"/>
                <a:cs typeface="Times New Roman" pitchFamily="18" charset="0"/>
              </a:rPr>
              <a:t>。     </a:t>
            </a:r>
          </a:p>
        </p:txBody>
      </p:sp>
      <p:graphicFrame>
        <p:nvGraphicFramePr>
          <p:cNvPr id="30" name="Object 5">
            <a:extLst>
              <a:ext uri="{FF2B5EF4-FFF2-40B4-BE49-F238E27FC236}">
                <a16:creationId xmlns="" xmlns:a16="http://schemas.microsoft.com/office/drawing/2014/main" id="{97299442-C4D6-461E-BA4D-6625BD5DFE42}"/>
              </a:ext>
            </a:extLst>
          </p:cNvPr>
          <p:cNvGraphicFramePr>
            <a:graphicFrameLocks noChangeAspect="1"/>
          </p:cNvGraphicFramePr>
          <p:nvPr>
            <p:extLst>
              <p:ext uri="{D42A27DB-BD31-4B8C-83A1-F6EECF244321}">
                <p14:modId xmlns:p14="http://schemas.microsoft.com/office/powerpoint/2010/main" val="2387296304"/>
              </p:ext>
            </p:extLst>
          </p:nvPr>
        </p:nvGraphicFramePr>
        <p:xfrm>
          <a:off x="5877428" y="6204463"/>
          <a:ext cx="3307251" cy="733020"/>
        </p:xfrm>
        <a:graphic>
          <a:graphicData uri="http://schemas.openxmlformats.org/presentationml/2006/ole">
            <mc:AlternateContent xmlns:mc="http://schemas.openxmlformats.org/markup-compatibility/2006">
              <mc:Choice xmlns:v="urn:schemas-microsoft-com:vml" Requires="v">
                <p:oleObj spid="_x0000_s10275" name="Equation" r:id="rId5" imgW="1955520" imgH="431640" progId="Equation.DSMT4">
                  <p:embed/>
                </p:oleObj>
              </mc:Choice>
              <mc:Fallback>
                <p:oleObj name="Equation" r:id="rId5" imgW="1955520" imgH="431640" progId="Equation.DSMT4">
                  <p:embed/>
                  <p:pic>
                    <p:nvPicPr>
                      <p:cNvPr id="21" name="Object 5"/>
                      <p:cNvPicPr>
                        <a:picLocks noChangeAspect="1" noChangeArrowheads="1"/>
                      </p:cNvPicPr>
                      <p:nvPr/>
                    </p:nvPicPr>
                    <p:blipFill>
                      <a:blip r:embed="rId6"/>
                      <a:srcRect/>
                      <a:stretch>
                        <a:fillRect/>
                      </a:stretch>
                    </p:blipFill>
                    <p:spPr bwMode="auto">
                      <a:xfrm>
                        <a:off x="5877428" y="6204463"/>
                        <a:ext cx="3307251" cy="733020"/>
                      </a:xfrm>
                      <a:prstGeom prst="rect">
                        <a:avLst/>
                      </a:prstGeom>
                      <a:solidFill>
                        <a:srgbClr val="FFFF00"/>
                      </a:solidFill>
                    </p:spPr>
                  </p:pic>
                </p:oleObj>
              </mc:Fallback>
            </mc:AlternateContent>
          </a:graphicData>
        </a:graphic>
      </p:graphicFrame>
      <p:sp>
        <p:nvSpPr>
          <p:cNvPr id="31" name="TextBox 4">
            <a:extLst>
              <a:ext uri="{FF2B5EF4-FFF2-40B4-BE49-F238E27FC236}">
                <a16:creationId xmlns="" xmlns:a16="http://schemas.microsoft.com/office/drawing/2014/main" id="{0ADAF3CE-A559-405C-8D34-3051857619FA}"/>
              </a:ext>
            </a:extLst>
          </p:cNvPr>
          <p:cNvSpPr txBox="1">
            <a:spLocks noChangeArrowheads="1"/>
          </p:cNvSpPr>
          <p:nvPr/>
        </p:nvSpPr>
        <p:spPr bwMode="auto">
          <a:xfrm>
            <a:off x="1081089" y="5333552"/>
            <a:ext cx="8861391" cy="646331"/>
          </a:xfrm>
          <a:prstGeom prst="rect">
            <a:avLst/>
          </a:prstGeom>
          <a:noFill/>
          <a:ln w="9525">
            <a:noFill/>
            <a:miter lim="800000"/>
            <a:headEnd/>
            <a:tailEnd/>
          </a:ln>
        </p:spPr>
        <p:txBody>
          <a:bodyPr wrap="square">
            <a:spAutoFit/>
          </a:bodyPr>
          <a:lstStyle/>
          <a:p>
            <a:pPr defTabSz="914400">
              <a:lnSpc>
                <a:spcPct val="150000"/>
              </a:lnSpc>
            </a:pPr>
            <a:r>
              <a:rPr kumimoji="1" lang="zh-CN" altLang="en-US" sz="2400" b="1" dirty="0">
                <a:latin typeface="Times New Roman" pitchFamily="18" charset="0"/>
                <a:ea typeface="微软雅黑" pitchFamily="34" charset="-122"/>
                <a:cs typeface="Times New Roman" pitchFamily="18" charset="0"/>
              </a:rPr>
              <a:t>设光照度为</a:t>
            </a:r>
            <a:r>
              <a:rPr kumimoji="1" lang="en-US" altLang="zh-CN" sz="2400" b="1" dirty="0">
                <a:latin typeface="Times New Roman" pitchFamily="18" charset="0"/>
                <a:ea typeface="微软雅黑" pitchFamily="34" charset="-122"/>
                <a:cs typeface="Times New Roman" pitchFamily="18" charset="0"/>
              </a:rPr>
              <a:t>150</a:t>
            </a:r>
            <a:r>
              <a:rPr kumimoji="1" lang="en-US" altLang="zh-CN" sz="2400" b="1" i="1" dirty="0">
                <a:latin typeface="Times New Roman" pitchFamily="18" charset="0"/>
                <a:ea typeface="微软雅黑" pitchFamily="34" charset="-122"/>
                <a:cs typeface="Times New Roman" pitchFamily="18" charset="0"/>
              </a:rPr>
              <a:t>lx</a:t>
            </a:r>
            <a:r>
              <a:rPr kumimoji="1" lang="zh-CN" altLang="en-US" sz="2400" b="1" dirty="0">
                <a:latin typeface="Times New Roman" pitchFamily="18" charset="0"/>
                <a:ea typeface="微软雅黑" pitchFamily="34" charset="-122"/>
                <a:cs typeface="Times New Roman" pitchFamily="18" charset="0"/>
              </a:rPr>
              <a:t>时的输出电流为</a:t>
            </a:r>
            <a:r>
              <a:rPr kumimoji="1" lang="en-US" altLang="zh-CN" sz="2400" b="1" dirty="0">
                <a:latin typeface="Times New Roman" pitchFamily="18" charset="0"/>
                <a:ea typeface="微软雅黑" pitchFamily="34" charset="-122"/>
                <a:cs typeface="Times New Roman" pitchFamily="18" charset="0"/>
              </a:rPr>
              <a:t>I</a:t>
            </a:r>
            <a:r>
              <a:rPr kumimoji="1" lang="en-US" altLang="zh-CN" sz="2400" b="1" baseline="-25000" dirty="0">
                <a:latin typeface="Times New Roman" pitchFamily="18" charset="0"/>
                <a:ea typeface="微软雅黑" pitchFamily="34" charset="-122"/>
                <a:cs typeface="Times New Roman" pitchFamily="18" charset="0"/>
              </a:rPr>
              <a:t>1</a:t>
            </a:r>
            <a:r>
              <a:rPr kumimoji="1" lang="zh-CN" altLang="en-US" sz="2400" b="1" dirty="0">
                <a:latin typeface="Times New Roman" pitchFamily="18" charset="0"/>
                <a:ea typeface="微软雅黑" pitchFamily="34" charset="-122"/>
                <a:cs typeface="Times New Roman" pitchFamily="18" charset="0"/>
              </a:rPr>
              <a:t>，光敏电阻的阻值为</a:t>
            </a:r>
            <a:r>
              <a:rPr kumimoji="1" lang="en-US" altLang="zh-CN" sz="2400" b="1" dirty="0">
                <a:latin typeface="Times New Roman" pitchFamily="18" charset="0"/>
                <a:ea typeface="微软雅黑" pitchFamily="34" charset="-122"/>
                <a:cs typeface="Times New Roman" pitchFamily="18" charset="0"/>
              </a:rPr>
              <a:t>R</a:t>
            </a:r>
            <a:r>
              <a:rPr kumimoji="1" lang="en-US" altLang="zh-CN" sz="2400" b="1" baseline="-25000" dirty="0">
                <a:latin typeface="Times New Roman" pitchFamily="18" charset="0"/>
                <a:ea typeface="微软雅黑" pitchFamily="34" charset="-122"/>
                <a:cs typeface="Times New Roman" pitchFamily="18" charset="0"/>
              </a:rPr>
              <a:t>1</a:t>
            </a:r>
            <a:r>
              <a:rPr kumimoji="1" lang="zh-CN" altLang="en-US" sz="2400" b="1" dirty="0">
                <a:latin typeface="Times New Roman" pitchFamily="18" charset="0"/>
                <a:ea typeface="微软雅黑" pitchFamily="34" charset="-122"/>
                <a:cs typeface="Times New Roman" pitchFamily="18" charset="0"/>
              </a:rPr>
              <a:t>，则</a:t>
            </a:r>
            <a:endParaRPr lang="zh-CN" altLang="en-US" sz="2400" b="1" dirty="0">
              <a:latin typeface="Times New Roman" pitchFamily="18" charset="0"/>
              <a:ea typeface="微软雅黑" pitchFamily="34" charset="-122"/>
              <a:cs typeface="Times New Roman" pitchFamily="18" charset="0"/>
            </a:endParaRPr>
          </a:p>
        </p:txBody>
      </p:sp>
      <p:sp>
        <p:nvSpPr>
          <p:cNvPr id="19" name="文本框 60">
            <a:extLst>
              <a:ext uri="{FF2B5EF4-FFF2-40B4-BE49-F238E27FC236}">
                <a16:creationId xmlns="" xmlns:a16="http://schemas.microsoft.com/office/drawing/2014/main" id="{C213F378-119A-4612-A3A8-35ADDF45275A}"/>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恒压电路</a:t>
            </a:r>
            <a:r>
              <a:rPr lang="en-US" altLang="zh-CN" b="1" dirty="0">
                <a:latin typeface="微软雅黑" panose="020B0503020204020204" pitchFamily="34" charset="-122"/>
                <a:ea typeface="微软雅黑" panose="020B0503020204020204" pitchFamily="34" charset="-122"/>
              </a:rPr>
              <a:t>(RL&lt;&lt;R)</a:t>
            </a:r>
            <a:endParaRPr lang="zh-CN" altLang="en-US" b="1" dirty="0">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 xmlns:a16="http://schemas.microsoft.com/office/drawing/2014/main" id="{EBEB6539-3847-4F64-8118-464397DBE68D}"/>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34" name="矩形 33">
            <a:extLst>
              <a:ext uri="{FF2B5EF4-FFF2-40B4-BE49-F238E27FC236}">
                <a16:creationId xmlns="" xmlns:a16="http://schemas.microsoft.com/office/drawing/2014/main" id="{3F40B772-5F51-466F-AEB5-BBF9A0658F2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圆角 34">
            <a:extLst>
              <a:ext uri="{FF2B5EF4-FFF2-40B4-BE49-F238E27FC236}">
                <a16:creationId xmlns="" xmlns:a16="http://schemas.microsoft.com/office/drawing/2014/main" id="{D44BD4F3-BB34-43F2-8B2D-0A86CA884351}"/>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6" name="直接连接符 58">
            <a:extLst>
              <a:ext uri="{FF2B5EF4-FFF2-40B4-BE49-F238E27FC236}">
                <a16:creationId xmlns="" xmlns:a16="http://schemas.microsoft.com/office/drawing/2014/main" id="{C884CAD5-92AA-4F89-AF43-D7C02CC2B696}"/>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 xmlns:a16="http://schemas.microsoft.com/office/drawing/2014/main" id="{CE8F7D38-CD2D-4A18-A5D5-4612F7DD61B3}"/>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8" name="矩形 37">
            <a:extLst>
              <a:ext uri="{FF2B5EF4-FFF2-40B4-BE49-F238E27FC236}">
                <a16:creationId xmlns="" xmlns:a16="http://schemas.microsoft.com/office/drawing/2014/main" id="{0F3F9DF5-FB52-4C7A-8E4B-F6791AC12658}"/>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6616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ox(in)">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ox(in)">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ox(in)">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ox(in)">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box(in)">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box(in)">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box(in)">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box(in)">
                                      <p:cBhvr>
                                        <p:cTn id="4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7" grpId="0"/>
      <p:bldP spid="29"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Box 2">
            <a:extLst>
              <a:ext uri="{FF2B5EF4-FFF2-40B4-BE49-F238E27FC236}">
                <a16:creationId xmlns="" xmlns:a16="http://schemas.microsoft.com/office/drawing/2014/main" id="{D4139D6C-AF92-4EF3-BEAD-517F3A0D4502}"/>
              </a:ext>
            </a:extLst>
          </p:cNvPr>
          <p:cNvSpPr txBox="1">
            <a:spLocks noChangeArrowheads="1"/>
          </p:cNvSpPr>
          <p:nvPr/>
        </p:nvSpPr>
        <p:spPr bwMode="auto">
          <a:xfrm>
            <a:off x="1947960" y="852444"/>
            <a:ext cx="7936048"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微软雅黑" pitchFamily="34" charset="-122"/>
                <a:cs typeface="Times New Roman" pitchFamily="18" charset="0"/>
              </a:rPr>
              <a:t>同样</a:t>
            </a:r>
            <a:r>
              <a:rPr kumimoji="1" lang="en-US" altLang="zh-CN" sz="2400" b="1" dirty="0">
                <a:latin typeface="Times New Roman" pitchFamily="18" charset="0"/>
                <a:ea typeface="微软雅黑" pitchFamily="34" charset="-122"/>
                <a:cs typeface="Times New Roman" pitchFamily="18" charset="0"/>
              </a:rPr>
              <a:t>,</a:t>
            </a:r>
            <a:r>
              <a:rPr kumimoji="1" lang="zh-CN" altLang="en-US" sz="2400" b="1" dirty="0">
                <a:latin typeface="Times New Roman" pitchFamily="18" charset="0"/>
                <a:ea typeface="微软雅黑" pitchFamily="34" charset="-122"/>
                <a:cs typeface="Times New Roman" pitchFamily="18" charset="0"/>
              </a:rPr>
              <a:t>照度为</a:t>
            </a:r>
            <a:r>
              <a:rPr kumimoji="1" lang="en-US" altLang="zh-CN" sz="2400" b="1" dirty="0">
                <a:latin typeface="Times New Roman" pitchFamily="18" charset="0"/>
                <a:ea typeface="微软雅黑" pitchFamily="34" charset="-122"/>
                <a:cs typeface="Times New Roman" pitchFamily="18" charset="0"/>
              </a:rPr>
              <a:t>300lx</a:t>
            </a:r>
            <a:r>
              <a:rPr kumimoji="1" lang="zh-CN" altLang="en-US" sz="2400" b="1" dirty="0">
                <a:latin typeface="Times New Roman" pitchFamily="18" charset="0"/>
                <a:ea typeface="微软雅黑" pitchFamily="34" charset="-122"/>
                <a:cs typeface="Times New Roman" pitchFamily="18" charset="0"/>
              </a:rPr>
              <a:t>时流过光敏电阻的电流</a:t>
            </a:r>
            <a:r>
              <a:rPr kumimoji="1" lang="en-US" altLang="zh-CN" sz="2400" b="1" i="1" dirty="0">
                <a:latin typeface="Times New Roman" pitchFamily="18" charset="0"/>
                <a:ea typeface="微软雅黑" pitchFamily="34" charset="-122"/>
                <a:cs typeface="Times New Roman" pitchFamily="18" charset="0"/>
              </a:rPr>
              <a:t>I</a:t>
            </a:r>
            <a:r>
              <a:rPr kumimoji="1" lang="en-US" altLang="zh-CN" sz="2400" b="1" baseline="-30000" dirty="0">
                <a:latin typeface="Times New Roman" pitchFamily="18" charset="0"/>
                <a:ea typeface="微软雅黑" pitchFamily="34" charset="-122"/>
                <a:cs typeface="Times New Roman" pitchFamily="18" charset="0"/>
              </a:rPr>
              <a:t>2</a:t>
            </a:r>
            <a:r>
              <a:rPr kumimoji="1" lang="zh-CN" altLang="en-US" sz="2400" b="1" dirty="0">
                <a:latin typeface="Times New Roman" pitchFamily="18" charset="0"/>
                <a:ea typeface="微软雅黑" pitchFamily="34" charset="-122"/>
                <a:cs typeface="Times New Roman" pitchFamily="18" charset="0"/>
              </a:rPr>
              <a:t>与电阻</a:t>
            </a:r>
            <a:r>
              <a:rPr kumimoji="1" lang="en-US" altLang="zh-CN" sz="2400" b="1" i="1" dirty="0">
                <a:latin typeface="Times New Roman" pitchFamily="18" charset="0"/>
                <a:ea typeface="微软雅黑" pitchFamily="34" charset="-122"/>
                <a:cs typeface="Times New Roman" pitchFamily="18" charset="0"/>
              </a:rPr>
              <a:t>R</a:t>
            </a:r>
            <a:r>
              <a:rPr kumimoji="1" lang="en-US" altLang="zh-CN" sz="2400" b="1" baseline="-30000" dirty="0">
                <a:latin typeface="Times New Roman" pitchFamily="18" charset="0"/>
                <a:ea typeface="微软雅黑" pitchFamily="34" charset="-122"/>
                <a:cs typeface="Times New Roman" pitchFamily="18" charset="0"/>
              </a:rPr>
              <a:t>2</a:t>
            </a:r>
            <a:r>
              <a:rPr kumimoji="1" lang="zh-CN" altLang="en-US" sz="2400" b="1" dirty="0">
                <a:latin typeface="Times New Roman" pitchFamily="18" charset="0"/>
                <a:ea typeface="微软雅黑" pitchFamily="34" charset="-122"/>
                <a:cs typeface="Times New Roman" pitchFamily="18" charset="0"/>
              </a:rPr>
              <a:t>为</a:t>
            </a:r>
          </a:p>
        </p:txBody>
      </p:sp>
      <p:graphicFrame>
        <p:nvGraphicFramePr>
          <p:cNvPr id="32" name="Object 3">
            <a:extLst>
              <a:ext uri="{FF2B5EF4-FFF2-40B4-BE49-F238E27FC236}">
                <a16:creationId xmlns="" xmlns:a16="http://schemas.microsoft.com/office/drawing/2014/main" id="{0274EBF6-8D2D-4F69-9B02-C8065E6886F6}"/>
              </a:ext>
            </a:extLst>
          </p:cNvPr>
          <p:cNvGraphicFramePr>
            <a:graphicFrameLocks noChangeAspect="1"/>
          </p:cNvGraphicFramePr>
          <p:nvPr>
            <p:extLst>
              <p:ext uri="{D42A27DB-BD31-4B8C-83A1-F6EECF244321}">
                <p14:modId xmlns:p14="http://schemas.microsoft.com/office/powerpoint/2010/main" val="157692004"/>
              </p:ext>
            </p:extLst>
          </p:nvPr>
        </p:nvGraphicFramePr>
        <p:xfrm>
          <a:off x="2937834" y="1598090"/>
          <a:ext cx="2700338" cy="849312"/>
        </p:xfrm>
        <a:graphic>
          <a:graphicData uri="http://schemas.openxmlformats.org/presentationml/2006/ole">
            <mc:AlternateContent xmlns:mc="http://schemas.openxmlformats.org/markup-compatibility/2006">
              <mc:Choice xmlns:v="urn:schemas-microsoft-com:vml" Requires="v">
                <p:oleObj spid="_x0000_s11351" name="Equation" r:id="rId3" imgW="1384200" imgH="431640" progId="Equation.DSMT4">
                  <p:embed/>
                </p:oleObj>
              </mc:Choice>
              <mc:Fallback>
                <p:oleObj name="Equation" r:id="rId3" imgW="1384200" imgH="431640" progId="Equation.DSMT4">
                  <p:embed/>
                  <p:pic>
                    <p:nvPicPr>
                      <p:cNvPr id="375811" name="Object 3"/>
                      <p:cNvPicPr>
                        <a:picLocks noChangeAspect="1" noChangeArrowheads="1"/>
                      </p:cNvPicPr>
                      <p:nvPr/>
                    </p:nvPicPr>
                    <p:blipFill>
                      <a:blip r:embed="rId4"/>
                      <a:srcRect/>
                      <a:stretch>
                        <a:fillRect/>
                      </a:stretch>
                    </p:blipFill>
                    <p:spPr bwMode="auto">
                      <a:xfrm>
                        <a:off x="2937834" y="1598090"/>
                        <a:ext cx="2700338" cy="849312"/>
                      </a:xfrm>
                      <a:prstGeom prst="rect">
                        <a:avLst/>
                      </a:prstGeom>
                      <a:solidFill>
                        <a:srgbClr val="FFFF00"/>
                      </a:solidFill>
                    </p:spPr>
                  </p:pic>
                </p:oleObj>
              </mc:Fallback>
            </mc:AlternateContent>
          </a:graphicData>
        </a:graphic>
      </p:graphicFrame>
      <p:sp>
        <p:nvSpPr>
          <p:cNvPr id="34" name="Text Box 4">
            <a:extLst>
              <a:ext uri="{FF2B5EF4-FFF2-40B4-BE49-F238E27FC236}">
                <a16:creationId xmlns="" xmlns:a16="http://schemas.microsoft.com/office/drawing/2014/main" id="{11EAD8B3-16CC-4745-B590-7AEB00CDE537}"/>
              </a:ext>
            </a:extLst>
          </p:cNvPr>
          <p:cNvSpPr txBox="1">
            <a:spLocks noChangeArrowheads="1"/>
          </p:cNvSpPr>
          <p:nvPr/>
        </p:nvSpPr>
        <p:spPr bwMode="auto">
          <a:xfrm>
            <a:off x="7186801" y="1816599"/>
            <a:ext cx="1451361" cy="461665"/>
          </a:xfrm>
          <a:prstGeom prst="rect">
            <a:avLst/>
          </a:prstGeom>
          <a:solidFill>
            <a:schemeClr val="accent6">
              <a:lumMod val="60000"/>
              <a:lumOff val="40000"/>
            </a:schemeClr>
          </a:solidFill>
          <a:ln w="9525">
            <a:noFill/>
            <a:miter lim="800000"/>
            <a:headEnd/>
            <a:tailEnd/>
          </a:ln>
        </p:spPr>
        <p:txBody>
          <a:bodyPr wrap="square">
            <a:spAutoFit/>
          </a:bodyPr>
          <a:lstStyle/>
          <a:p>
            <a:pPr defTabSz="914400">
              <a:spcBef>
                <a:spcPct val="50000"/>
              </a:spcBef>
            </a:pPr>
            <a:r>
              <a:rPr kumimoji="1" lang="en-US" altLang="zh-CN" sz="2400" i="1" dirty="0">
                <a:latin typeface="Times New Roman" panose="02020603050405020304" pitchFamily="18" charset="0"/>
                <a:cs typeface="Times New Roman" panose="02020603050405020304" pitchFamily="18" charset="0"/>
              </a:rPr>
              <a:t>R</a:t>
            </a:r>
            <a:r>
              <a:rPr kumimoji="1" lang="en-US" altLang="zh-CN" sz="2400" baseline="-30000" dirty="0">
                <a:latin typeface="Times New Roman" pitchFamily="18" charset="0"/>
                <a:cs typeface="Times New Roman" panose="02020603050405020304" pitchFamily="18" charset="0"/>
              </a:rPr>
              <a:t>2</a:t>
            </a:r>
            <a:r>
              <a:rPr kumimoji="1" lang="en-US" altLang="zh-CN" sz="2400" dirty="0">
                <a:latin typeface="Times New Roman" pitchFamily="18" charset="0"/>
                <a:cs typeface="Times New Roman" panose="02020603050405020304" pitchFamily="18" charset="0"/>
              </a:rPr>
              <a:t>=680Ω</a:t>
            </a:r>
            <a:r>
              <a:rPr kumimoji="1" lang="en-US" altLang="zh-CN" dirty="0">
                <a:latin typeface="Times New Roman" pitchFamily="18" charset="0"/>
                <a:cs typeface="Times New Roman" panose="02020603050405020304" pitchFamily="18" charset="0"/>
              </a:rPr>
              <a:t> </a:t>
            </a:r>
          </a:p>
        </p:txBody>
      </p:sp>
      <p:sp>
        <p:nvSpPr>
          <p:cNvPr id="35" name="Text Box 5">
            <a:extLst>
              <a:ext uri="{FF2B5EF4-FFF2-40B4-BE49-F238E27FC236}">
                <a16:creationId xmlns="" xmlns:a16="http://schemas.microsoft.com/office/drawing/2014/main" id="{79BFCE12-1201-4088-B6B9-C8C1D8B7BB1D}"/>
              </a:ext>
            </a:extLst>
          </p:cNvPr>
          <p:cNvSpPr txBox="1">
            <a:spLocks noChangeArrowheads="1"/>
          </p:cNvSpPr>
          <p:nvPr/>
        </p:nvSpPr>
        <p:spPr bwMode="auto">
          <a:xfrm>
            <a:off x="1611344" y="2385166"/>
            <a:ext cx="10124772"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黑体" pitchFamily="49" charset="-122"/>
                <a:cs typeface="Times New Roman" pitchFamily="18" charset="0"/>
              </a:rPr>
              <a:t>       </a:t>
            </a:r>
            <a:r>
              <a:rPr kumimoji="1" lang="zh-CN" altLang="en-US" sz="2400" b="1" dirty="0">
                <a:latin typeface="Times New Roman" pitchFamily="18" charset="0"/>
                <a:ea typeface="微软雅黑" pitchFamily="34" charset="-122"/>
                <a:cs typeface="Times New Roman" pitchFamily="18" charset="0"/>
              </a:rPr>
              <a:t>由于光敏电阻在</a:t>
            </a:r>
            <a:r>
              <a:rPr kumimoji="1" lang="en-US" altLang="zh-CN" sz="2400" b="1" dirty="0">
                <a:latin typeface="Times New Roman" pitchFamily="18" charset="0"/>
                <a:ea typeface="微软雅黑" pitchFamily="34" charset="-122"/>
                <a:cs typeface="Times New Roman" pitchFamily="18" charset="0"/>
              </a:rPr>
              <a:t>100</a:t>
            </a:r>
            <a:r>
              <a:rPr kumimoji="1" lang="zh-CN" altLang="en-US" sz="2400" b="1" dirty="0">
                <a:latin typeface="Times New Roman" pitchFamily="18" charset="0"/>
                <a:ea typeface="微软雅黑" pitchFamily="34" charset="-122"/>
                <a:cs typeface="Times New Roman" pitchFamily="18" charset="0"/>
              </a:rPr>
              <a:t>到</a:t>
            </a:r>
            <a:r>
              <a:rPr kumimoji="1" lang="en-US" altLang="zh-CN" sz="2400" b="1" dirty="0">
                <a:latin typeface="Times New Roman" pitchFamily="18" charset="0"/>
                <a:ea typeface="微软雅黑" pitchFamily="34" charset="-122"/>
                <a:cs typeface="Times New Roman" pitchFamily="18" charset="0"/>
              </a:rPr>
              <a:t>500lx</a:t>
            </a:r>
            <a:r>
              <a:rPr kumimoji="1" lang="zh-CN" altLang="en-US" sz="2400" b="1" dirty="0">
                <a:latin typeface="Times New Roman" pitchFamily="18" charset="0"/>
                <a:ea typeface="微软雅黑" pitchFamily="34" charset="-122"/>
                <a:cs typeface="Times New Roman" pitchFamily="18" charset="0"/>
              </a:rPr>
              <a:t>间的</a:t>
            </a:r>
            <a:r>
              <a:rPr kumimoji="1" lang="en-US" altLang="zh-CN" sz="2400" b="1" i="1" dirty="0">
                <a:latin typeface="Times New Roman" pitchFamily="18" charset="0"/>
                <a:ea typeface="微软雅黑" pitchFamily="34" charset="-122"/>
                <a:cs typeface="Times New Roman" pitchFamily="18" charset="0"/>
              </a:rPr>
              <a:t>γ</a:t>
            </a:r>
            <a:r>
              <a:rPr kumimoji="1" lang="zh-CN" altLang="en-US" sz="2400" b="1" dirty="0">
                <a:latin typeface="Times New Roman" pitchFamily="18" charset="0"/>
                <a:ea typeface="微软雅黑" pitchFamily="34" charset="-122"/>
                <a:cs typeface="Times New Roman" pitchFamily="18" charset="0"/>
              </a:rPr>
              <a:t>值不变，因此该光敏电阻的</a:t>
            </a:r>
            <a:r>
              <a:rPr kumimoji="1" lang="en-US" altLang="zh-CN" sz="2400" b="1" i="1" dirty="0">
                <a:latin typeface="Times New Roman" pitchFamily="18" charset="0"/>
                <a:ea typeface="微软雅黑" pitchFamily="34" charset="-122"/>
                <a:cs typeface="Times New Roman" pitchFamily="18" charset="0"/>
              </a:rPr>
              <a:t>γ</a:t>
            </a:r>
            <a:r>
              <a:rPr kumimoji="1" lang="zh-CN" altLang="en-US" sz="2400" b="1" dirty="0">
                <a:latin typeface="Times New Roman" pitchFamily="18" charset="0"/>
                <a:ea typeface="微软雅黑" pitchFamily="34" charset="-122"/>
                <a:cs typeface="Times New Roman" pitchFamily="18" charset="0"/>
              </a:rPr>
              <a:t>值应为 </a:t>
            </a:r>
          </a:p>
        </p:txBody>
      </p:sp>
      <p:graphicFrame>
        <p:nvGraphicFramePr>
          <p:cNvPr id="36" name="Object 6">
            <a:extLst>
              <a:ext uri="{FF2B5EF4-FFF2-40B4-BE49-F238E27FC236}">
                <a16:creationId xmlns="" xmlns:a16="http://schemas.microsoft.com/office/drawing/2014/main" id="{E0BB16F2-8496-43B5-B1B2-05EFC2EC9F8C}"/>
              </a:ext>
            </a:extLst>
          </p:cNvPr>
          <p:cNvGraphicFramePr>
            <a:graphicFrameLocks noChangeAspect="1"/>
          </p:cNvGraphicFramePr>
          <p:nvPr>
            <p:extLst>
              <p:ext uri="{D42A27DB-BD31-4B8C-83A1-F6EECF244321}">
                <p14:modId xmlns:p14="http://schemas.microsoft.com/office/powerpoint/2010/main" val="1139349414"/>
              </p:ext>
            </p:extLst>
          </p:nvPr>
        </p:nvGraphicFramePr>
        <p:xfrm>
          <a:off x="2937834" y="3008249"/>
          <a:ext cx="2580243" cy="822686"/>
        </p:xfrm>
        <a:graphic>
          <a:graphicData uri="http://schemas.openxmlformats.org/presentationml/2006/ole">
            <mc:AlternateContent xmlns:mc="http://schemas.openxmlformats.org/markup-compatibility/2006">
              <mc:Choice xmlns:v="urn:schemas-microsoft-com:vml" Requires="v">
                <p:oleObj spid="_x0000_s11352" name="Equation" r:id="rId5" imgW="1282680" imgH="406080" progId="Equation.3">
                  <p:embed/>
                </p:oleObj>
              </mc:Choice>
              <mc:Fallback>
                <p:oleObj name="Equation" r:id="rId5" imgW="1282680" imgH="406080" progId="Equation.3">
                  <p:embed/>
                  <p:pic>
                    <p:nvPicPr>
                      <p:cNvPr id="37581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7834" y="3008249"/>
                        <a:ext cx="2580243" cy="822686"/>
                      </a:xfrm>
                      <a:prstGeom prst="rect">
                        <a:avLst/>
                      </a:prstGeom>
                      <a:solidFill>
                        <a:srgbClr val="FFFF00"/>
                      </a:solidFill>
                    </p:spPr>
                  </p:pic>
                </p:oleObj>
              </mc:Fallback>
            </mc:AlternateContent>
          </a:graphicData>
        </a:graphic>
      </p:graphicFrame>
      <p:sp>
        <p:nvSpPr>
          <p:cNvPr id="37" name="Text Box 2">
            <a:extLst>
              <a:ext uri="{FF2B5EF4-FFF2-40B4-BE49-F238E27FC236}">
                <a16:creationId xmlns="" xmlns:a16="http://schemas.microsoft.com/office/drawing/2014/main" id="{FE34CB77-1113-4821-9457-495EB37448A6}"/>
              </a:ext>
            </a:extLst>
          </p:cNvPr>
          <p:cNvSpPr txBox="1">
            <a:spLocks noChangeArrowheads="1"/>
          </p:cNvSpPr>
          <p:nvPr/>
        </p:nvSpPr>
        <p:spPr bwMode="auto">
          <a:xfrm>
            <a:off x="1987109" y="3876459"/>
            <a:ext cx="9373242" cy="646331"/>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微软雅黑" pitchFamily="34" charset="-122"/>
                <a:cs typeface="Times New Roman" pitchFamily="18" charset="0"/>
              </a:rPr>
              <a:t>当输出电压为</a:t>
            </a:r>
            <a:r>
              <a:rPr kumimoji="1" lang="en-US" altLang="zh-CN" sz="2400" b="1" dirty="0">
                <a:latin typeface="Times New Roman" pitchFamily="18" charset="0"/>
                <a:ea typeface="微软雅黑" pitchFamily="34" charset="-122"/>
                <a:cs typeface="Times New Roman" pitchFamily="18" charset="0"/>
              </a:rPr>
              <a:t>9V</a:t>
            </a:r>
            <a:r>
              <a:rPr kumimoji="1" lang="zh-CN" altLang="en-US" sz="2400" b="1" dirty="0">
                <a:latin typeface="Times New Roman" pitchFamily="18" charset="0"/>
                <a:ea typeface="微软雅黑" pitchFamily="34" charset="-122"/>
                <a:cs typeface="Times New Roman" pitchFamily="18" charset="0"/>
              </a:rPr>
              <a:t>时，设流过光敏电阻的电流为</a:t>
            </a:r>
            <a:r>
              <a:rPr kumimoji="1" lang="en-US" altLang="zh-CN" sz="2400" b="1" i="1" dirty="0">
                <a:latin typeface="Times New Roman" pitchFamily="18" charset="0"/>
                <a:ea typeface="微软雅黑" pitchFamily="34" charset="-122"/>
                <a:cs typeface="Times New Roman" pitchFamily="18" charset="0"/>
              </a:rPr>
              <a:t>I</a:t>
            </a:r>
            <a:r>
              <a:rPr kumimoji="1" lang="en-US" altLang="zh-CN" sz="2400" b="1" baseline="-30000" dirty="0">
                <a:latin typeface="Times New Roman" pitchFamily="18" charset="0"/>
                <a:ea typeface="微软雅黑" pitchFamily="34" charset="-122"/>
                <a:cs typeface="Times New Roman" pitchFamily="18" charset="0"/>
              </a:rPr>
              <a:t>3</a:t>
            </a:r>
            <a:r>
              <a:rPr kumimoji="1" lang="zh-CN" altLang="en-US" sz="2400" b="1" dirty="0">
                <a:latin typeface="Times New Roman" pitchFamily="18" charset="0"/>
                <a:ea typeface="微软雅黑" pitchFamily="34" charset="-122"/>
                <a:cs typeface="Times New Roman" pitchFamily="18" charset="0"/>
              </a:rPr>
              <a:t>，阻值为</a:t>
            </a:r>
            <a:r>
              <a:rPr kumimoji="1" lang="en-US" altLang="zh-CN" sz="2400" b="1" i="1" dirty="0">
                <a:latin typeface="Times New Roman" pitchFamily="18" charset="0"/>
                <a:ea typeface="微软雅黑" pitchFamily="34" charset="-122"/>
                <a:cs typeface="Times New Roman" pitchFamily="18" charset="0"/>
              </a:rPr>
              <a:t>R</a:t>
            </a:r>
            <a:r>
              <a:rPr kumimoji="1" lang="en-US" altLang="zh-CN" sz="2400" b="1" baseline="-30000" dirty="0">
                <a:latin typeface="Times New Roman" pitchFamily="18" charset="0"/>
                <a:ea typeface="微软雅黑" pitchFamily="34" charset="-122"/>
                <a:cs typeface="Times New Roman" pitchFamily="18" charset="0"/>
              </a:rPr>
              <a:t>3</a:t>
            </a:r>
            <a:r>
              <a:rPr kumimoji="1" lang="zh-CN" altLang="en-US" sz="2400" b="1" dirty="0">
                <a:latin typeface="Times New Roman" pitchFamily="18" charset="0"/>
                <a:ea typeface="微软雅黑" pitchFamily="34" charset="-122"/>
                <a:cs typeface="Times New Roman" pitchFamily="18" charset="0"/>
              </a:rPr>
              <a:t>，则 </a:t>
            </a:r>
          </a:p>
        </p:txBody>
      </p:sp>
      <p:graphicFrame>
        <p:nvGraphicFramePr>
          <p:cNvPr id="38" name="Object 3">
            <a:extLst>
              <a:ext uri="{FF2B5EF4-FFF2-40B4-BE49-F238E27FC236}">
                <a16:creationId xmlns="" xmlns:a16="http://schemas.microsoft.com/office/drawing/2014/main" id="{89806277-AFE4-499B-B99F-1B319F028120}"/>
              </a:ext>
            </a:extLst>
          </p:cNvPr>
          <p:cNvGraphicFramePr>
            <a:graphicFrameLocks noChangeAspect="1"/>
          </p:cNvGraphicFramePr>
          <p:nvPr>
            <p:extLst>
              <p:ext uri="{D42A27DB-BD31-4B8C-83A1-F6EECF244321}">
                <p14:modId xmlns:p14="http://schemas.microsoft.com/office/powerpoint/2010/main" val="3205071663"/>
              </p:ext>
            </p:extLst>
          </p:nvPr>
        </p:nvGraphicFramePr>
        <p:xfrm>
          <a:off x="2937834" y="4560811"/>
          <a:ext cx="2562563" cy="763554"/>
        </p:xfrm>
        <a:graphic>
          <a:graphicData uri="http://schemas.openxmlformats.org/presentationml/2006/ole">
            <mc:AlternateContent xmlns:mc="http://schemas.openxmlformats.org/markup-compatibility/2006">
              <mc:Choice xmlns:v="urn:schemas-microsoft-com:vml" Requires="v">
                <p:oleObj spid="_x0000_s11353" name="Equation" r:id="rId7" imgW="1460160" imgH="431640" progId="Equation.DSMT4">
                  <p:embed/>
                </p:oleObj>
              </mc:Choice>
              <mc:Fallback>
                <p:oleObj name="Equation" r:id="rId7" imgW="1460160" imgH="431640" progId="Equation.DSMT4">
                  <p:embed/>
                  <p:pic>
                    <p:nvPicPr>
                      <p:cNvPr id="20" name="Object 3"/>
                      <p:cNvPicPr>
                        <a:picLocks noChangeAspect="1" noChangeArrowheads="1"/>
                      </p:cNvPicPr>
                      <p:nvPr/>
                    </p:nvPicPr>
                    <p:blipFill>
                      <a:blip r:embed="rId8"/>
                      <a:srcRect/>
                      <a:stretch>
                        <a:fillRect/>
                      </a:stretch>
                    </p:blipFill>
                    <p:spPr bwMode="auto">
                      <a:xfrm>
                        <a:off x="2937834" y="4560811"/>
                        <a:ext cx="2562563" cy="763554"/>
                      </a:xfrm>
                      <a:prstGeom prst="rect">
                        <a:avLst/>
                      </a:prstGeom>
                      <a:solidFill>
                        <a:srgbClr val="FFFF00"/>
                      </a:solidFill>
                    </p:spPr>
                  </p:pic>
                </p:oleObj>
              </mc:Fallback>
            </mc:AlternateContent>
          </a:graphicData>
        </a:graphic>
      </p:graphicFrame>
      <p:sp>
        <p:nvSpPr>
          <p:cNvPr id="39" name="Text Box 4">
            <a:extLst>
              <a:ext uri="{FF2B5EF4-FFF2-40B4-BE49-F238E27FC236}">
                <a16:creationId xmlns="" xmlns:a16="http://schemas.microsoft.com/office/drawing/2014/main" id="{7C661AD8-D2B0-42BD-93BA-FEA25A450B1C}"/>
              </a:ext>
            </a:extLst>
          </p:cNvPr>
          <p:cNvSpPr txBox="1">
            <a:spLocks noChangeArrowheads="1"/>
          </p:cNvSpPr>
          <p:nvPr/>
        </p:nvSpPr>
        <p:spPr bwMode="auto">
          <a:xfrm>
            <a:off x="7101904" y="4580240"/>
            <a:ext cx="1536258" cy="609398"/>
          </a:xfrm>
          <a:prstGeom prst="rect">
            <a:avLst/>
          </a:prstGeom>
          <a:solidFill>
            <a:schemeClr val="accent2">
              <a:lumMod val="60000"/>
              <a:lumOff val="40000"/>
            </a:schemeClr>
          </a:solidFill>
          <a:ln w="9525">
            <a:noFill/>
            <a:miter lim="800000"/>
            <a:headEnd/>
            <a:tailEnd/>
          </a:ln>
        </p:spPr>
        <p:txBody>
          <a:bodyPr wrap="square">
            <a:spAutoFit/>
          </a:bodyPr>
          <a:lstStyle/>
          <a:p>
            <a:pPr algn="ctr" defTabSz="914400">
              <a:lnSpc>
                <a:spcPct val="140000"/>
              </a:lnSpc>
              <a:spcBef>
                <a:spcPct val="50000"/>
              </a:spcBef>
            </a:pPr>
            <a:r>
              <a:rPr kumimoji="1" lang="en-US" altLang="zh-CN" sz="2400" i="1" dirty="0">
                <a:latin typeface="Times New Roman" panose="02020603050405020304" pitchFamily="18" charset="0"/>
                <a:cs typeface="Times New Roman" panose="02020603050405020304" pitchFamily="18" charset="0"/>
              </a:rPr>
              <a:t>R</a:t>
            </a:r>
            <a:r>
              <a:rPr kumimoji="1" lang="en-US" altLang="zh-CN" sz="2400" baseline="-30000" dirty="0">
                <a:latin typeface="Times New Roman" pitchFamily="18" charset="0"/>
                <a:cs typeface="Times New Roman" panose="02020603050405020304" pitchFamily="18" charset="0"/>
              </a:rPr>
              <a:t>3</a:t>
            </a:r>
            <a:r>
              <a:rPr kumimoji="1" lang="en-US" altLang="zh-CN" sz="2400" dirty="0">
                <a:latin typeface="Times New Roman" pitchFamily="18" charset="0"/>
                <a:cs typeface="Times New Roman" panose="02020603050405020304" pitchFamily="18" charset="0"/>
              </a:rPr>
              <a:t>=900Ω</a:t>
            </a:r>
            <a:r>
              <a:rPr kumimoji="1" lang="en-US" altLang="zh-CN" dirty="0">
                <a:latin typeface="Times New Roman" pitchFamily="18" charset="0"/>
                <a:cs typeface="Times New Roman" panose="02020603050405020304" pitchFamily="18" charset="0"/>
              </a:rPr>
              <a:t> </a:t>
            </a:r>
          </a:p>
        </p:txBody>
      </p:sp>
      <p:sp>
        <p:nvSpPr>
          <p:cNvPr id="41" name="Text Box 5">
            <a:extLst>
              <a:ext uri="{FF2B5EF4-FFF2-40B4-BE49-F238E27FC236}">
                <a16:creationId xmlns="" xmlns:a16="http://schemas.microsoft.com/office/drawing/2014/main" id="{070AE8A7-2B5B-4F95-82CA-5CACDA88EB5D}"/>
              </a:ext>
            </a:extLst>
          </p:cNvPr>
          <p:cNvSpPr txBox="1">
            <a:spLocks noChangeArrowheads="1"/>
          </p:cNvSpPr>
          <p:nvPr/>
        </p:nvSpPr>
        <p:spPr bwMode="auto">
          <a:xfrm>
            <a:off x="1987109" y="5362386"/>
            <a:ext cx="8879834" cy="609398"/>
          </a:xfrm>
          <a:prstGeom prst="rect">
            <a:avLst/>
          </a:prstGeom>
          <a:noFill/>
          <a:ln w="9525">
            <a:noFill/>
            <a:miter lim="800000"/>
            <a:headEnd/>
            <a:tailEnd/>
          </a:ln>
        </p:spPr>
        <p:txBody>
          <a:bodyPr wrap="square">
            <a:spAutoFit/>
          </a:bodyPr>
          <a:lstStyle/>
          <a:p>
            <a:pPr defTabSz="914400">
              <a:lnSpc>
                <a:spcPct val="140000"/>
              </a:lnSpc>
              <a:spcBef>
                <a:spcPct val="50000"/>
              </a:spcBef>
            </a:pPr>
            <a:r>
              <a:rPr kumimoji="1" lang="zh-CN" altLang="en-US" sz="2400" b="1" dirty="0">
                <a:latin typeface="Times New Roman" panose="02020603050405020304" pitchFamily="18" charset="0"/>
                <a:ea typeface="微软雅黑" pitchFamily="34" charset="-122"/>
                <a:cs typeface="Times New Roman" panose="02020603050405020304" pitchFamily="18" charset="0"/>
              </a:rPr>
              <a:t>代入</a:t>
            </a:r>
            <a:r>
              <a:rPr kumimoji="1" lang="en-US" altLang="zh-CN" sz="2400" b="1" i="1" dirty="0">
                <a:latin typeface="Times New Roman" panose="02020603050405020304" pitchFamily="18" charset="0"/>
                <a:ea typeface="微软雅黑" pitchFamily="34" charset="-122"/>
                <a:cs typeface="Times New Roman" panose="02020603050405020304" pitchFamily="18" charset="0"/>
              </a:rPr>
              <a:t>γ</a:t>
            </a:r>
            <a:r>
              <a:rPr kumimoji="1" lang="zh-CN" altLang="en-US" sz="2400" b="1" dirty="0">
                <a:latin typeface="Times New Roman" panose="02020603050405020304" pitchFamily="18" charset="0"/>
                <a:ea typeface="微软雅黑" pitchFamily="34" charset="-122"/>
                <a:cs typeface="Times New Roman" panose="02020603050405020304" pitchFamily="18" charset="0"/>
              </a:rPr>
              <a:t>值的计算公式便可以计算出输出电压为</a:t>
            </a:r>
            <a:r>
              <a:rPr kumimoji="1" lang="en-US" altLang="zh-CN" sz="2400" b="1" dirty="0">
                <a:latin typeface="Times New Roman" panose="02020603050405020304" pitchFamily="18" charset="0"/>
                <a:ea typeface="微软雅黑" pitchFamily="34" charset="-122"/>
                <a:cs typeface="Times New Roman" panose="02020603050405020304" pitchFamily="18" charset="0"/>
              </a:rPr>
              <a:t>9V</a:t>
            </a:r>
            <a:r>
              <a:rPr kumimoji="1" lang="zh-CN" altLang="en-US" sz="2400" b="1" dirty="0">
                <a:latin typeface="Times New Roman" panose="02020603050405020304" pitchFamily="18" charset="0"/>
                <a:ea typeface="微软雅黑" pitchFamily="34" charset="-122"/>
                <a:cs typeface="Times New Roman" panose="02020603050405020304" pitchFamily="18" charset="0"/>
              </a:rPr>
              <a:t>时的入射照度</a:t>
            </a:r>
            <a:r>
              <a:rPr kumimoji="1" lang="en-US" altLang="zh-CN" sz="2400" b="1" i="1" dirty="0">
                <a:latin typeface="Times New Roman" panose="02020603050405020304" pitchFamily="18" charset="0"/>
                <a:ea typeface="微软雅黑" pitchFamily="34" charset="-122"/>
                <a:cs typeface="Times New Roman" panose="02020603050405020304" pitchFamily="18" charset="0"/>
              </a:rPr>
              <a:t>E</a:t>
            </a:r>
            <a:r>
              <a:rPr kumimoji="1" lang="en-US" altLang="zh-CN" sz="2400" b="1" baseline="-30000" dirty="0">
                <a:latin typeface="Times New Roman" panose="02020603050405020304" pitchFamily="18" charset="0"/>
                <a:ea typeface="微软雅黑" pitchFamily="34" charset="-122"/>
                <a:cs typeface="Times New Roman" panose="02020603050405020304" pitchFamily="18" charset="0"/>
              </a:rPr>
              <a:t>3</a:t>
            </a:r>
            <a:endParaRPr kumimoji="1" lang="en-US" altLang="zh-CN" b="1" dirty="0">
              <a:latin typeface="Times New Roman" panose="02020603050405020304" pitchFamily="18" charset="0"/>
              <a:ea typeface="微软雅黑" pitchFamily="34" charset="-122"/>
              <a:cs typeface="Times New Roman" panose="02020603050405020304" pitchFamily="18" charset="0"/>
            </a:endParaRPr>
          </a:p>
        </p:txBody>
      </p:sp>
      <p:graphicFrame>
        <p:nvGraphicFramePr>
          <p:cNvPr id="42" name="Object 6">
            <a:extLst>
              <a:ext uri="{FF2B5EF4-FFF2-40B4-BE49-F238E27FC236}">
                <a16:creationId xmlns="" xmlns:a16="http://schemas.microsoft.com/office/drawing/2014/main" id="{262F35AB-93A3-4BAD-831A-23D37A763E01}"/>
              </a:ext>
            </a:extLst>
          </p:cNvPr>
          <p:cNvGraphicFramePr>
            <a:graphicFrameLocks noChangeAspect="1"/>
          </p:cNvGraphicFramePr>
          <p:nvPr>
            <p:extLst>
              <p:ext uri="{D42A27DB-BD31-4B8C-83A1-F6EECF244321}">
                <p14:modId xmlns:p14="http://schemas.microsoft.com/office/powerpoint/2010/main" val="3160816344"/>
              </p:ext>
            </p:extLst>
          </p:nvPr>
        </p:nvGraphicFramePr>
        <p:xfrm>
          <a:off x="2937834" y="6111514"/>
          <a:ext cx="2978150" cy="947737"/>
        </p:xfrm>
        <a:graphic>
          <a:graphicData uri="http://schemas.openxmlformats.org/presentationml/2006/ole">
            <mc:AlternateContent xmlns:mc="http://schemas.openxmlformats.org/markup-compatibility/2006">
              <mc:Choice xmlns:v="urn:schemas-microsoft-com:vml" Requires="v">
                <p:oleObj spid="_x0000_s11354" name="Equation" r:id="rId9" imgW="1282680" imgH="406080" progId="Equation.3">
                  <p:embed/>
                </p:oleObj>
              </mc:Choice>
              <mc:Fallback>
                <p:oleObj name="Equation" r:id="rId9" imgW="1282680" imgH="406080" progId="Equation.3">
                  <p:embed/>
                  <p:pic>
                    <p:nvPicPr>
                      <p:cNvPr id="23"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37834" y="6111514"/>
                        <a:ext cx="2978150" cy="947737"/>
                      </a:xfrm>
                      <a:prstGeom prst="rect">
                        <a:avLst/>
                      </a:prstGeom>
                      <a:solidFill>
                        <a:srgbClr val="FFFF00"/>
                      </a:solidFill>
                    </p:spPr>
                  </p:pic>
                </p:oleObj>
              </mc:Fallback>
            </mc:AlternateContent>
          </a:graphicData>
        </a:graphic>
      </p:graphicFrame>
      <p:graphicFrame>
        <p:nvGraphicFramePr>
          <p:cNvPr id="43" name="Object 7">
            <a:extLst>
              <a:ext uri="{FF2B5EF4-FFF2-40B4-BE49-F238E27FC236}">
                <a16:creationId xmlns="" xmlns:a16="http://schemas.microsoft.com/office/drawing/2014/main" id="{E7CB055E-E8BA-4569-BEC7-165064D7B4D8}"/>
              </a:ext>
            </a:extLst>
          </p:cNvPr>
          <p:cNvGraphicFramePr>
            <a:graphicFrameLocks noChangeAspect="1"/>
          </p:cNvGraphicFramePr>
          <p:nvPr>
            <p:extLst>
              <p:ext uri="{D42A27DB-BD31-4B8C-83A1-F6EECF244321}">
                <p14:modId xmlns:p14="http://schemas.microsoft.com/office/powerpoint/2010/main" val="365065357"/>
              </p:ext>
            </p:extLst>
          </p:nvPr>
        </p:nvGraphicFramePr>
        <p:xfrm>
          <a:off x="6427026" y="6125328"/>
          <a:ext cx="4365416" cy="853296"/>
        </p:xfrm>
        <a:graphic>
          <a:graphicData uri="http://schemas.openxmlformats.org/presentationml/2006/ole">
            <mc:AlternateContent xmlns:mc="http://schemas.openxmlformats.org/markup-compatibility/2006">
              <mc:Choice xmlns:v="urn:schemas-microsoft-com:vml" Requires="v">
                <p:oleObj spid="_x0000_s11355" name="Equation" r:id="rId11" imgW="1892160" imgH="368280" progId="Equation.3">
                  <p:embed/>
                </p:oleObj>
              </mc:Choice>
              <mc:Fallback>
                <p:oleObj name="Equation" r:id="rId11" imgW="1892160" imgH="368280" progId="Equation.3">
                  <p:embed/>
                  <p:pic>
                    <p:nvPicPr>
                      <p:cNvPr id="24"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27026" y="6125328"/>
                        <a:ext cx="4365416" cy="853296"/>
                      </a:xfrm>
                      <a:prstGeom prst="rect">
                        <a:avLst/>
                      </a:prstGeom>
                      <a:solidFill>
                        <a:srgbClr val="FFFF00"/>
                      </a:solidFill>
                    </p:spPr>
                  </p:pic>
                </p:oleObj>
              </mc:Fallback>
            </mc:AlternateContent>
          </a:graphicData>
        </a:graphic>
      </p:graphicFrame>
      <p:sp>
        <p:nvSpPr>
          <p:cNvPr id="21" name="文本框 60">
            <a:extLst>
              <a:ext uri="{FF2B5EF4-FFF2-40B4-BE49-F238E27FC236}">
                <a16:creationId xmlns="" xmlns:a16="http://schemas.microsoft.com/office/drawing/2014/main" id="{D999C91D-1211-4CDA-892D-43F708D1BB3C}"/>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恒压电路</a:t>
            </a:r>
            <a:r>
              <a:rPr lang="en-US" altLang="zh-CN" b="1" dirty="0">
                <a:latin typeface="微软雅黑" panose="020B0503020204020204" pitchFamily="34" charset="-122"/>
                <a:ea typeface="微软雅黑" panose="020B0503020204020204" pitchFamily="34" charset="-122"/>
              </a:rPr>
              <a:t>(RL&lt;&lt;R)</a:t>
            </a:r>
            <a:endParaRPr lang="zh-CN" altLang="en-US" b="1" dirty="0">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 xmlns:a16="http://schemas.microsoft.com/office/drawing/2014/main" id="{A71293B9-5031-467B-B098-A851F6652EBD}"/>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23" name="矩形 22">
            <a:extLst>
              <a:ext uri="{FF2B5EF4-FFF2-40B4-BE49-F238E27FC236}">
                <a16:creationId xmlns="" xmlns:a16="http://schemas.microsoft.com/office/drawing/2014/main" id="{1A08DB55-18F7-4677-9954-1F6E0EB6148B}"/>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 xmlns:a16="http://schemas.microsoft.com/office/drawing/2014/main" id="{19B5EE3B-6441-47BE-A236-2F2A9CAAD1EB}"/>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7" name="直接连接符 58">
            <a:extLst>
              <a:ext uri="{FF2B5EF4-FFF2-40B4-BE49-F238E27FC236}">
                <a16:creationId xmlns="" xmlns:a16="http://schemas.microsoft.com/office/drawing/2014/main" id="{729C3EBD-DC67-49C1-A1C6-B8B8A1735717}"/>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 xmlns:a16="http://schemas.microsoft.com/office/drawing/2014/main" id="{20270E85-6418-4318-8D82-189244F4378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9" name="矩形 28">
            <a:extLst>
              <a:ext uri="{FF2B5EF4-FFF2-40B4-BE49-F238E27FC236}">
                <a16:creationId xmlns="" xmlns:a16="http://schemas.microsoft.com/office/drawing/2014/main" id="{7B6D7547-236F-47C4-B448-8AC0153F5A54}"/>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88382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ox(i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box(in)">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box(in)">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box(in)">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box(in)">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box(in)">
                                      <p:cBhvr>
                                        <p:cTn id="32" dur="5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box(in)">
                                      <p:cBhvr>
                                        <p:cTn id="37" dur="5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box(in)">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box(in)">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box(in)">
                                      <p:cBhvr>
                                        <p:cTn id="52" dur="500"/>
                                        <p:tgtEl>
                                          <p:spTgt spid="42"/>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box(in)">
                                      <p:cBhvr>
                                        <p:cTn id="5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4" grpId="0" animBg="1"/>
      <p:bldP spid="35" grpId="0"/>
      <p:bldP spid="37" grpId="0"/>
      <p:bldP spid="39" grpId="0" animBg="1"/>
      <p:bldP spid="4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2">
            <a:extLst>
              <a:ext uri="{FF2B5EF4-FFF2-40B4-BE49-F238E27FC236}">
                <a16:creationId xmlns="" xmlns:a16="http://schemas.microsoft.com/office/drawing/2014/main" id="{AE0F4BB4-083D-4F51-B4F7-7706F919232A}"/>
              </a:ext>
            </a:extLst>
          </p:cNvPr>
          <p:cNvSpPr txBox="1">
            <a:spLocks noChangeArrowheads="1"/>
          </p:cNvSpPr>
          <p:nvPr/>
        </p:nvSpPr>
        <p:spPr bwMode="auto">
          <a:xfrm>
            <a:off x="1378889" y="1986419"/>
            <a:ext cx="11288962" cy="580865"/>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zh-CN" altLang="en-US" sz="2400" b="1" dirty="0">
                <a:latin typeface="Times New Roman" pitchFamily="18" charset="0"/>
                <a:ea typeface="微软雅黑" pitchFamily="34" charset="-122"/>
                <a:cs typeface="Times New Roman" pitchFamily="18" charset="0"/>
              </a:rPr>
              <a:t>由</a:t>
            </a:r>
            <a:r>
              <a:rPr kumimoji="1" lang="en-US" altLang="zh-CN" sz="2400" b="1" i="1" dirty="0">
                <a:latin typeface="Times New Roman" pitchFamily="18" charset="0"/>
                <a:ea typeface="微软雅黑" pitchFamily="34" charset="-122"/>
                <a:cs typeface="Times New Roman" pitchFamily="18" charset="0"/>
              </a:rPr>
              <a:t>γ</a:t>
            </a:r>
            <a:r>
              <a:rPr kumimoji="1" lang="zh-CN" altLang="en-US" sz="2400" b="1" dirty="0">
                <a:latin typeface="Times New Roman" pitchFamily="18" charset="0"/>
                <a:ea typeface="微软雅黑" pitchFamily="34" charset="-122"/>
                <a:cs typeface="Times New Roman" pitchFamily="18" charset="0"/>
              </a:rPr>
              <a:t>值的计算公式可以找到</a:t>
            </a:r>
            <a:r>
              <a:rPr kumimoji="1" lang="en-US" altLang="zh-CN" sz="2400" b="1" dirty="0">
                <a:latin typeface="Times New Roman" pitchFamily="18" charset="0"/>
                <a:ea typeface="微软雅黑" pitchFamily="34" charset="-122"/>
                <a:cs typeface="Times New Roman" pitchFamily="18" charset="0"/>
              </a:rPr>
              <a:t>500lx</a:t>
            </a:r>
            <a:r>
              <a:rPr kumimoji="1" lang="zh-CN" altLang="en-US" sz="2400" b="1" dirty="0">
                <a:latin typeface="Times New Roman" pitchFamily="18" charset="0"/>
                <a:ea typeface="微软雅黑" pitchFamily="34" charset="-122"/>
                <a:cs typeface="Times New Roman" pitchFamily="18" charset="0"/>
              </a:rPr>
              <a:t>时的阻值</a:t>
            </a:r>
            <a:r>
              <a:rPr kumimoji="1" lang="en-US" altLang="zh-CN" sz="2400" b="1" i="1" dirty="0">
                <a:latin typeface="Times New Roman" pitchFamily="18" charset="0"/>
                <a:ea typeface="微软雅黑" pitchFamily="34" charset="-122"/>
                <a:cs typeface="Times New Roman" pitchFamily="18" charset="0"/>
              </a:rPr>
              <a:t>R</a:t>
            </a:r>
            <a:r>
              <a:rPr kumimoji="1" lang="en-US" altLang="zh-CN" sz="2400" b="1" baseline="-30000" dirty="0">
                <a:latin typeface="Times New Roman" pitchFamily="18" charset="0"/>
                <a:ea typeface="微软雅黑" pitchFamily="34" charset="-122"/>
                <a:cs typeface="Times New Roman" pitchFamily="18" charset="0"/>
              </a:rPr>
              <a:t>4</a:t>
            </a:r>
            <a:r>
              <a:rPr kumimoji="1" lang="zh-CN" altLang="en-US" sz="2400" b="1" dirty="0">
                <a:latin typeface="Times New Roman" pitchFamily="18" charset="0"/>
                <a:ea typeface="微软雅黑" pitchFamily="34" charset="-122"/>
                <a:cs typeface="Times New Roman" pitchFamily="18" charset="0"/>
              </a:rPr>
              <a:t>及三极管的输出电流</a:t>
            </a:r>
            <a:r>
              <a:rPr kumimoji="1" lang="en-US" altLang="zh-CN" sz="2400" b="1" i="1" dirty="0">
                <a:latin typeface="Times New Roman" pitchFamily="18" charset="0"/>
                <a:ea typeface="微软雅黑" pitchFamily="34" charset="-122"/>
                <a:cs typeface="Times New Roman" pitchFamily="18" charset="0"/>
              </a:rPr>
              <a:t>I</a:t>
            </a:r>
            <a:r>
              <a:rPr kumimoji="1" lang="en-US" altLang="zh-CN" sz="2400" b="1" baseline="-30000" dirty="0">
                <a:latin typeface="Times New Roman" pitchFamily="18" charset="0"/>
                <a:ea typeface="微软雅黑" pitchFamily="34" charset="-122"/>
                <a:cs typeface="Times New Roman" pitchFamily="18" charset="0"/>
              </a:rPr>
              <a:t>4</a:t>
            </a:r>
            <a:r>
              <a:rPr kumimoji="1" lang="zh-CN" altLang="en-US" sz="2400" b="1" dirty="0">
                <a:latin typeface="Times New Roman" pitchFamily="18" charset="0"/>
                <a:ea typeface="微软雅黑" pitchFamily="34" charset="-122"/>
                <a:cs typeface="Times New Roman" pitchFamily="18" charset="0"/>
              </a:rPr>
              <a:t>为：</a:t>
            </a:r>
            <a:endParaRPr kumimoji="1" lang="en-US" altLang="zh-CN" dirty="0">
              <a:latin typeface="Times New Roman" pitchFamily="18" charset="0"/>
              <a:ea typeface="微软雅黑" pitchFamily="34" charset="-122"/>
              <a:cs typeface="Times New Roman" pitchFamily="18" charset="0"/>
            </a:endParaRPr>
          </a:p>
        </p:txBody>
      </p:sp>
      <p:sp>
        <p:nvSpPr>
          <p:cNvPr id="22" name="Text Box 3">
            <a:extLst>
              <a:ext uri="{FF2B5EF4-FFF2-40B4-BE49-F238E27FC236}">
                <a16:creationId xmlns="" xmlns:a16="http://schemas.microsoft.com/office/drawing/2014/main" id="{9DB985C8-1218-45A9-8560-B4D73DA62020}"/>
              </a:ext>
            </a:extLst>
          </p:cNvPr>
          <p:cNvSpPr txBox="1">
            <a:spLocks noChangeArrowheads="1"/>
          </p:cNvSpPr>
          <p:nvPr/>
        </p:nvSpPr>
        <p:spPr bwMode="auto">
          <a:xfrm>
            <a:off x="4559255" y="3597647"/>
            <a:ext cx="4620638" cy="523220"/>
          </a:xfrm>
          <a:prstGeom prst="rect">
            <a:avLst/>
          </a:prstGeom>
          <a:noFill/>
          <a:ln w="9525">
            <a:noFill/>
            <a:miter lim="800000"/>
            <a:headEnd/>
            <a:tailEnd/>
          </a:ln>
        </p:spPr>
        <p:txBody>
          <a:bodyPr wrap="square">
            <a:spAutoFit/>
          </a:bodyPr>
          <a:lstStyle/>
          <a:p>
            <a:pPr algn="just" defTabSz="914400">
              <a:spcBef>
                <a:spcPct val="50000"/>
              </a:spcBef>
            </a:pPr>
            <a:r>
              <a:rPr kumimoji="1"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=24.7(mA)</a:t>
            </a:r>
          </a:p>
        </p:txBody>
      </p:sp>
      <p:sp>
        <p:nvSpPr>
          <p:cNvPr id="23" name="Text Box 2">
            <a:extLst>
              <a:ext uri="{FF2B5EF4-FFF2-40B4-BE49-F238E27FC236}">
                <a16:creationId xmlns="" xmlns:a16="http://schemas.microsoft.com/office/drawing/2014/main" id="{0E7CDBD4-E608-42A8-851E-095B033F7346}"/>
              </a:ext>
            </a:extLst>
          </p:cNvPr>
          <p:cNvSpPr txBox="1">
            <a:spLocks noChangeArrowheads="1"/>
          </p:cNvSpPr>
          <p:nvPr/>
        </p:nvSpPr>
        <p:spPr bwMode="auto">
          <a:xfrm>
            <a:off x="4622881" y="2658374"/>
            <a:ext cx="4093736" cy="661207"/>
          </a:xfrm>
          <a:prstGeom prst="rect">
            <a:avLst/>
          </a:prstGeom>
          <a:noFill/>
          <a:ln w="9525">
            <a:noFill/>
            <a:miter lim="800000"/>
            <a:headEnd/>
            <a:tailEnd/>
          </a:ln>
        </p:spPr>
        <p:txBody>
          <a:bodyPr wrap="square">
            <a:spAutoFit/>
          </a:bodyPr>
          <a:lstStyle/>
          <a:p>
            <a:pPr defTabSz="914400">
              <a:lnSpc>
                <a:spcPct val="150000"/>
              </a:lnSpc>
              <a:spcBef>
                <a:spcPct val="50000"/>
              </a:spcBef>
            </a:pPr>
            <a:r>
              <a:rPr kumimoji="1"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R</a:t>
            </a:r>
            <a:r>
              <a:rPr kumimoji="1"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=214Ω</a:t>
            </a:r>
            <a:r>
              <a:rPr kumimoji="1"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24" name="Text Box 3">
            <a:extLst>
              <a:ext uri="{FF2B5EF4-FFF2-40B4-BE49-F238E27FC236}">
                <a16:creationId xmlns="" xmlns:a16="http://schemas.microsoft.com/office/drawing/2014/main" id="{1613CE6E-D3FE-40E6-921C-EE84EC0613E2}"/>
              </a:ext>
            </a:extLst>
          </p:cNvPr>
          <p:cNvSpPr txBox="1">
            <a:spLocks noChangeArrowheads="1"/>
          </p:cNvSpPr>
          <p:nvPr/>
        </p:nvSpPr>
        <p:spPr bwMode="auto">
          <a:xfrm>
            <a:off x="1507314" y="4282782"/>
            <a:ext cx="4436286" cy="461665"/>
          </a:xfrm>
          <a:prstGeom prst="rect">
            <a:avLst/>
          </a:prstGeom>
          <a:noFill/>
          <a:ln w="9525">
            <a:noFill/>
            <a:miter lim="800000"/>
            <a:headEnd/>
            <a:tailEnd/>
          </a:ln>
        </p:spPr>
        <p:txBody>
          <a:bodyPr wrap="square">
            <a:spAutoFit/>
          </a:bodyPr>
          <a:lstStyle/>
          <a:p>
            <a:pPr algn="just" defTabSz="914400">
              <a:spcBef>
                <a:spcPct val="50000"/>
              </a:spcBef>
            </a:pP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而此时的输出电压</a:t>
            </a:r>
            <a:r>
              <a:rPr kumimoji="1"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V</a:t>
            </a:r>
            <a:r>
              <a:rPr kumimoji="1" lang="en-US" altLang="zh-CN" sz="2400" b="1" baseline="-30000" dirty="0">
                <a:latin typeface="Times New Roman" panose="02020603050405020304" pitchFamily="18" charset="0"/>
                <a:ea typeface="微软雅黑" panose="020B0503020204020204" pitchFamily="34" charset="-122"/>
                <a:cs typeface="Times New Roman" panose="02020603050405020304" pitchFamily="18" charset="0"/>
              </a:rPr>
              <a:t>O</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为</a:t>
            </a:r>
          </a:p>
        </p:txBody>
      </p:sp>
      <p:sp>
        <p:nvSpPr>
          <p:cNvPr id="27" name="Text Box 3">
            <a:extLst>
              <a:ext uri="{FF2B5EF4-FFF2-40B4-BE49-F238E27FC236}">
                <a16:creationId xmlns="" xmlns:a16="http://schemas.microsoft.com/office/drawing/2014/main" id="{76D7DD1B-4E8B-4677-9BF3-467B12833AEA}"/>
              </a:ext>
            </a:extLst>
          </p:cNvPr>
          <p:cNvSpPr txBox="1">
            <a:spLocks noChangeArrowheads="1"/>
          </p:cNvSpPr>
          <p:nvPr/>
        </p:nvSpPr>
        <p:spPr bwMode="auto">
          <a:xfrm>
            <a:off x="4376913" y="5035079"/>
            <a:ext cx="4580639" cy="523220"/>
          </a:xfrm>
          <a:prstGeom prst="rect">
            <a:avLst/>
          </a:prstGeom>
          <a:noFill/>
          <a:ln w="9525">
            <a:noFill/>
            <a:miter lim="800000"/>
            <a:headEnd/>
            <a:tailEnd/>
          </a:ln>
        </p:spPr>
        <p:txBody>
          <a:bodyPr wrap="square">
            <a:spAutoFit/>
          </a:bodyPr>
          <a:lstStyle/>
          <a:p>
            <a:pPr algn="just" defTabSz="914400">
              <a:spcBef>
                <a:spcPct val="50000"/>
              </a:spcBef>
            </a:pPr>
            <a:r>
              <a:rPr kumimoji="1"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V</a:t>
            </a:r>
            <a:r>
              <a:rPr kumimoji="1"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O</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V</a:t>
            </a:r>
            <a:r>
              <a:rPr kumimoji="1"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kumimoji="1"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R</a:t>
            </a:r>
            <a:r>
              <a:rPr kumimoji="1" lang="en-US" altLang="zh-CN" sz="2800" b="1"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kumimoji="1"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=6.7(V)</a:t>
            </a:r>
          </a:p>
        </p:txBody>
      </p:sp>
      <p:sp>
        <p:nvSpPr>
          <p:cNvPr id="28" name="Text Box 3">
            <a:extLst>
              <a:ext uri="{FF2B5EF4-FFF2-40B4-BE49-F238E27FC236}">
                <a16:creationId xmlns="" xmlns:a16="http://schemas.microsoft.com/office/drawing/2014/main" id="{3287135D-AECE-4147-8452-2AFC78CAF926}"/>
              </a:ext>
            </a:extLst>
          </p:cNvPr>
          <p:cNvSpPr txBox="1">
            <a:spLocks noChangeArrowheads="1"/>
          </p:cNvSpPr>
          <p:nvPr/>
        </p:nvSpPr>
        <p:spPr bwMode="auto">
          <a:xfrm>
            <a:off x="1507314" y="5986658"/>
            <a:ext cx="9000240" cy="461665"/>
          </a:xfrm>
          <a:prstGeom prst="rect">
            <a:avLst/>
          </a:prstGeom>
          <a:noFill/>
          <a:ln w="9525">
            <a:noFill/>
            <a:miter lim="800000"/>
            <a:headEnd/>
            <a:tailEnd/>
          </a:ln>
        </p:spPr>
        <p:txBody>
          <a:bodyPr wrap="square">
            <a:spAutoFit/>
          </a:bodyPr>
          <a:lstStyle/>
          <a:p>
            <a:pPr defTabSz="914400">
              <a:spcBef>
                <a:spcPct val="50000"/>
              </a:spcBef>
            </a:pP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即，在</a:t>
            </a: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500lx</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的照度下恒压偏置电路的输出电压为</a:t>
            </a:r>
            <a:r>
              <a:rPr kumimoji="1"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6.7V</a:t>
            </a:r>
            <a:r>
              <a:rPr kumimoji="1"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29" name="Text Box 8">
            <a:extLst>
              <a:ext uri="{FF2B5EF4-FFF2-40B4-BE49-F238E27FC236}">
                <a16:creationId xmlns="" xmlns:a16="http://schemas.microsoft.com/office/drawing/2014/main" id="{1C5DE85C-AE16-4834-AE7B-6CE47466D435}"/>
              </a:ext>
            </a:extLst>
          </p:cNvPr>
          <p:cNvSpPr txBox="1">
            <a:spLocks noChangeArrowheads="1"/>
          </p:cNvSpPr>
          <p:nvPr/>
        </p:nvSpPr>
        <p:spPr bwMode="auto">
          <a:xfrm>
            <a:off x="4622881" y="1240088"/>
            <a:ext cx="2400489" cy="519112"/>
          </a:xfrm>
          <a:prstGeom prst="rect">
            <a:avLst/>
          </a:prstGeom>
          <a:noFill/>
          <a:ln w="9525">
            <a:noFill/>
            <a:miter lim="800000"/>
            <a:headEnd/>
            <a:tailEnd/>
          </a:ln>
        </p:spPr>
        <p:txBody>
          <a:bodyPr wrap="square">
            <a:spAutoFit/>
          </a:bodyPr>
          <a:lstStyle/>
          <a:p>
            <a:pPr defTabSz="914400">
              <a:spcBef>
                <a:spcPct val="50000"/>
              </a:spcBef>
            </a:pPr>
            <a:r>
              <a:rPr kumimoji="1" lang="en-US" altLang="zh-CN" sz="2800" b="1" i="1" dirty="0">
                <a:latin typeface="Times New Roman" pitchFamily="18" charset="0"/>
              </a:rPr>
              <a:t>E</a:t>
            </a:r>
            <a:r>
              <a:rPr kumimoji="1" lang="en-US" altLang="zh-CN" sz="2800" b="1" baseline="-30000" dirty="0">
                <a:latin typeface="Times New Roman" pitchFamily="18" charset="0"/>
              </a:rPr>
              <a:t>3</a:t>
            </a:r>
            <a:r>
              <a:rPr kumimoji="1" lang="en-US" altLang="zh-CN" sz="2800" b="1" dirty="0">
                <a:latin typeface="Times New Roman" pitchFamily="18" charset="0"/>
              </a:rPr>
              <a:t>=196(</a:t>
            </a:r>
            <a:r>
              <a:rPr kumimoji="1" lang="en-US" altLang="zh-CN" sz="2800" b="1" i="1" dirty="0">
                <a:latin typeface="Times New Roman" pitchFamily="18" charset="0"/>
              </a:rPr>
              <a:t>lx</a:t>
            </a:r>
            <a:r>
              <a:rPr kumimoji="1" lang="en-US" altLang="zh-CN" sz="2800" b="1" dirty="0">
                <a:latin typeface="Times New Roman" pitchFamily="18" charset="0"/>
              </a:rPr>
              <a:t>)</a:t>
            </a:r>
            <a:r>
              <a:rPr kumimoji="1" lang="en-US" altLang="zh-CN" sz="2400" b="1" dirty="0">
                <a:latin typeface="Times New Roman" pitchFamily="18" charset="0"/>
              </a:rPr>
              <a:t> </a:t>
            </a:r>
          </a:p>
        </p:txBody>
      </p:sp>
      <p:sp>
        <p:nvSpPr>
          <p:cNvPr id="17" name="文本框 60">
            <a:extLst>
              <a:ext uri="{FF2B5EF4-FFF2-40B4-BE49-F238E27FC236}">
                <a16:creationId xmlns="" xmlns:a16="http://schemas.microsoft.com/office/drawing/2014/main" id="{D7D87FA6-5D49-43D3-8AC2-3A5CD6BC7B04}"/>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恒压电路</a:t>
            </a:r>
            <a:r>
              <a:rPr lang="en-US" altLang="zh-CN" b="1" dirty="0">
                <a:latin typeface="微软雅黑" panose="020B0503020204020204" pitchFamily="34" charset="-122"/>
                <a:ea typeface="微软雅黑" panose="020B0503020204020204" pitchFamily="34" charset="-122"/>
              </a:rPr>
              <a:t>(RL&lt;&lt;R)</a:t>
            </a:r>
            <a:endParaRPr lang="zh-CN" altLang="en-US" b="1" dirty="0">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 xmlns:a16="http://schemas.microsoft.com/office/drawing/2014/main" id="{BE0C22E2-2B24-4117-BD99-B930DFDC7BD4}"/>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 xmlns:a16="http://schemas.microsoft.com/office/drawing/2014/main" id="{7A7CDD16-BF91-4310-AA33-E97A3CF462D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a:extLst>
              <a:ext uri="{FF2B5EF4-FFF2-40B4-BE49-F238E27FC236}">
                <a16:creationId xmlns="" xmlns:a16="http://schemas.microsoft.com/office/drawing/2014/main" id="{B291B5D5-9E3B-40B8-A4AC-B289A4458592}"/>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3.4.3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1" name="直接连接符 58">
            <a:extLst>
              <a:ext uri="{FF2B5EF4-FFF2-40B4-BE49-F238E27FC236}">
                <a16:creationId xmlns="" xmlns:a16="http://schemas.microsoft.com/office/drawing/2014/main" id="{4D3B00D5-7A29-4A38-B37C-26BBE0FFA1BD}"/>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 xmlns:a16="http://schemas.microsoft.com/office/drawing/2014/main" id="{F369F41A-C5D9-4AD4-9643-8F11CC42E25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4" name="矩形 33">
            <a:extLst>
              <a:ext uri="{FF2B5EF4-FFF2-40B4-BE49-F238E27FC236}">
                <a16:creationId xmlns="" xmlns:a16="http://schemas.microsoft.com/office/drawing/2014/main" id="{95B8FAB2-A45F-47EE-9CF2-20B1EDDDA0E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924811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box(in)">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box(in)">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box(in)">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box(in)">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box(in)">
                                      <p:cBhvr>
                                        <p:cTn id="31" dur="500"/>
                                        <p:tgtEl>
                                          <p:spTgt spid="27"/>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box(in)">
                                      <p:cBhvr>
                                        <p:cTn id="3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7" grpId="0"/>
      <p:bldP spid="28" grpId="0"/>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60">
            <a:extLst>
              <a:ext uri="{FF2B5EF4-FFF2-40B4-BE49-F238E27FC236}">
                <a16:creationId xmlns="" xmlns:a16="http://schemas.microsoft.com/office/drawing/2014/main" id="{292AE523-EF75-4D14-90CD-475CC36EDEE0}"/>
              </a:ext>
            </a:extLst>
          </p:cNvPr>
          <p:cNvSpPr txBox="1"/>
          <p:nvPr/>
        </p:nvSpPr>
        <p:spPr>
          <a:xfrm>
            <a:off x="1364781"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光敏电阻的应用实例 </a:t>
            </a:r>
          </a:p>
        </p:txBody>
      </p:sp>
      <p:sp>
        <p:nvSpPr>
          <p:cNvPr id="14" name="矩形 13">
            <a:extLst>
              <a:ext uri="{FF2B5EF4-FFF2-40B4-BE49-F238E27FC236}">
                <a16:creationId xmlns="" xmlns:a16="http://schemas.microsoft.com/office/drawing/2014/main" id="{5423E93E-537D-4B3F-A94F-5C14198A5D49}"/>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 xmlns:a16="http://schemas.microsoft.com/office/drawing/2014/main" id="{A85E5899-93AE-4FCB-A9BD-BB94A1832E07}"/>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 xmlns:a16="http://schemas.microsoft.com/office/drawing/2014/main" id="{625D85B9-F50F-4F36-AB46-62EF6AE1A125}"/>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7" name="直接连接符 58">
            <a:extLst>
              <a:ext uri="{FF2B5EF4-FFF2-40B4-BE49-F238E27FC236}">
                <a16:creationId xmlns="" xmlns:a16="http://schemas.microsoft.com/office/drawing/2014/main" id="{67FD50A9-C81B-40F6-AB98-FE7FD3B08007}"/>
              </a:ext>
            </a:extLst>
          </p:cNvPr>
          <p:cNvCxnSpPr>
            <a:cxnSpLocks/>
          </p:cNvCxnSpPr>
          <p:nvPr/>
        </p:nvCxnSpPr>
        <p:spPr>
          <a:xfrm>
            <a:off x="1450506"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 xmlns:a16="http://schemas.microsoft.com/office/drawing/2014/main" id="{DB2441A9-414E-42E4-9D22-AB3170DB4D93}"/>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圆角 20">
            <a:extLst>
              <a:ext uri="{FF2B5EF4-FFF2-40B4-BE49-F238E27FC236}">
                <a16:creationId xmlns="" xmlns:a16="http://schemas.microsoft.com/office/drawing/2014/main" id="{32B30129-0E4B-4419-8989-732291148038}"/>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711"/>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光敏电阻的应用实例 </a:t>
            </a:r>
          </a:p>
        </p:txBody>
      </p:sp>
      <p:sp>
        <p:nvSpPr>
          <p:cNvPr id="22" name="矩形 21">
            <a:extLst>
              <a:ext uri="{FF2B5EF4-FFF2-40B4-BE49-F238E27FC236}">
                <a16:creationId xmlns="" xmlns:a16="http://schemas.microsoft.com/office/drawing/2014/main" id="{B10536AF-E79E-4DEA-A470-BA117D139E8F}"/>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3.5</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1" name="矩形 10">
            <a:extLst>
              <a:ext uri="{FF2B5EF4-FFF2-40B4-BE49-F238E27FC236}">
                <a16:creationId xmlns="" xmlns:a16="http://schemas.microsoft.com/office/drawing/2014/main" id="{37F2121A-98A8-4853-BF11-68073C26221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189574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
            <a:extLst>
              <a:ext uri="{FF2B5EF4-FFF2-40B4-BE49-F238E27FC236}">
                <a16:creationId xmlns="" xmlns:a16="http://schemas.microsoft.com/office/drawing/2014/main" id="{EF7F83B9-513B-4EBC-9331-C2881FD059DE}"/>
              </a:ext>
            </a:extLst>
          </p:cNvPr>
          <p:cNvSpPr txBox="1"/>
          <p:nvPr/>
        </p:nvSpPr>
        <p:spPr>
          <a:xfrm>
            <a:off x="1757146" y="3237050"/>
            <a:ext cx="1066801" cy="1569660"/>
          </a:xfrm>
          <a:prstGeom prst="rect">
            <a:avLst/>
          </a:prstGeom>
          <a:solidFill>
            <a:srgbClr val="FFC000"/>
          </a:solidFill>
          <a:ln w="31750">
            <a:solidFill>
              <a:srgbClr val="FF0000"/>
            </a:solidFill>
          </a:ln>
          <a:effectLst>
            <a:outerShdw dist="50800" sx="1000" sy="1000" algn="ctr" rotWithShape="0">
              <a:schemeClr val="bg1"/>
            </a:outerShdw>
          </a:effectLst>
          <a:scene3d>
            <a:camera prst="orthographicFront">
              <a:rot lat="0" lon="0" rev="0"/>
            </a:camera>
            <a:lightRig rig="threePt" dir="t"/>
          </a:scene3d>
        </p:spPr>
        <p:txBody>
          <a:bodyPr>
            <a:spAutoFit/>
          </a:bodyPr>
          <a:lstStyle/>
          <a:p>
            <a:pPr defTabSz="914400">
              <a:defRPr/>
            </a:pPr>
            <a:r>
              <a:rPr lang="zh-CN" altLang="en-US" sz="3200" b="1" dirty="0">
                <a:latin typeface="华文琥珀" pitchFamily="2" charset="-122"/>
                <a:ea typeface="华文琥珀" pitchFamily="2" charset="-122"/>
              </a:rPr>
              <a:t>光敏电阻应用</a:t>
            </a:r>
          </a:p>
        </p:txBody>
      </p:sp>
      <p:sp>
        <p:nvSpPr>
          <p:cNvPr id="30" name="TextBox 2">
            <a:extLst>
              <a:ext uri="{FF2B5EF4-FFF2-40B4-BE49-F238E27FC236}">
                <a16:creationId xmlns="" xmlns:a16="http://schemas.microsoft.com/office/drawing/2014/main" id="{B0CC87F9-ADE0-4AED-9EEC-D28C75E14BB5}"/>
              </a:ext>
            </a:extLst>
          </p:cNvPr>
          <p:cNvSpPr txBox="1">
            <a:spLocks noChangeArrowheads="1"/>
          </p:cNvSpPr>
          <p:nvPr/>
        </p:nvSpPr>
        <p:spPr bwMode="auto">
          <a:xfrm>
            <a:off x="3636760" y="2834664"/>
            <a:ext cx="2800350" cy="617537"/>
          </a:xfrm>
          <a:prstGeom prst="rect">
            <a:avLst/>
          </a:prstGeom>
          <a:solidFill>
            <a:srgbClr val="0000FF"/>
          </a:solidFill>
          <a:ln w="38100">
            <a:solidFill>
              <a:srgbClr val="FF0000"/>
            </a:solidFill>
            <a:miter lim="800000"/>
            <a:headEnd/>
            <a:tailEnd/>
          </a:ln>
        </p:spPr>
        <p:txBody>
          <a:bodyPr>
            <a:spAutoFit/>
          </a:bodyPr>
          <a:lstStyle/>
          <a:p>
            <a:pPr algn="ctr" defTabSz="914400"/>
            <a:r>
              <a:rPr lang="zh-CN" altLang="en-US" sz="3200" b="1">
                <a:solidFill>
                  <a:schemeClr val="bg1"/>
                </a:solidFill>
                <a:latin typeface="黑体" pitchFamily="49" charset="-122"/>
                <a:ea typeface="黑体" pitchFamily="49" charset="-122"/>
              </a:rPr>
              <a:t>自动控制装置</a:t>
            </a:r>
          </a:p>
        </p:txBody>
      </p:sp>
      <p:sp>
        <p:nvSpPr>
          <p:cNvPr id="31" name="TextBox 3">
            <a:extLst>
              <a:ext uri="{FF2B5EF4-FFF2-40B4-BE49-F238E27FC236}">
                <a16:creationId xmlns="" xmlns:a16="http://schemas.microsoft.com/office/drawing/2014/main" id="{B0B1AB6E-5FC3-4D04-9BE0-42DED93A96CE}"/>
              </a:ext>
            </a:extLst>
          </p:cNvPr>
          <p:cNvSpPr txBox="1">
            <a:spLocks noChangeArrowheads="1"/>
          </p:cNvSpPr>
          <p:nvPr/>
        </p:nvSpPr>
        <p:spPr bwMode="auto">
          <a:xfrm>
            <a:off x="3636760" y="4747470"/>
            <a:ext cx="2800350" cy="617537"/>
          </a:xfrm>
          <a:prstGeom prst="rect">
            <a:avLst/>
          </a:prstGeom>
          <a:solidFill>
            <a:srgbClr val="0000FF"/>
          </a:solidFill>
          <a:ln w="38100">
            <a:solidFill>
              <a:srgbClr val="FF0000"/>
            </a:solidFill>
            <a:miter lim="800000"/>
            <a:headEnd/>
            <a:tailEnd/>
          </a:ln>
        </p:spPr>
        <p:txBody>
          <a:bodyPr>
            <a:spAutoFit/>
          </a:bodyPr>
          <a:lstStyle/>
          <a:p>
            <a:pPr algn="ctr" defTabSz="914400"/>
            <a:r>
              <a:rPr lang="zh-CN" altLang="en-US" sz="3200" b="1">
                <a:solidFill>
                  <a:schemeClr val="bg1"/>
                </a:solidFill>
                <a:latin typeface="黑体" pitchFamily="49" charset="-122"/>
                <a:ea typeface="黑体" pitchFamily="49" charset="-122"/>
              </a:rPr>
              <a:t>光电检测设备</a:t>
            </a:r>
          </a:p>
        </p:txBody>
      </p:sp>
      <p:sp>
        <p:nvSpPr>
          <p:cNvPr id="32" name="TextBox 4">
            <a:extLst>
              <a:ext uri="{FF2B5EF4-FFF2-40B4-BE49-F238E27FC236}">
                <a16:creationId xmlns="" xmlns:a16="http://schemas.microsoft.com/office/drawing/2014/main" id="{CD94BD35-15C9-44E3-BE37-1171DE6EEF3B}"/>
              </a:ext>
            </a:extLst>
          </p:cNvPr>
          <p:cNvSpPr txBox="1">
            <a:spLocks noChangeArrowheads="1"/>
          </p:cNvSpPr>
          <p:nvPr/>
        </p:nvSpPr>
        <p:spPr bwMode="auto">
          <a:xfrm>
            <a:off x="7384976" y="1036603"/>
            <a:ext cx="3422650" cy="557212"/>
          </a:xfrm>
          <a:prstGeom prst="rect">
            <a:avLst/>
          </a:prstGeom>
          <a:noFill/>
          <a:ln w="38100">
            <a:solidFill>
              <a:srgbClr val="FF00FF"/>
            </a:solidFill>
            <a:miter lim="800000"/>
            <a:headEnd/>
            <a:tailEnd/>
          </a:ln>
        </p:spPr>
        <p:txBody>
          <a:bodyPr>
            <a:spAutoFit/>
          </a:bodyPr>
          <a:lstStyle/>
          <a:p>
            <a:pPr defTabSz="914400"/>
            <a:r>
              <a:rPr lang="zh-CN" altLang="en-US" sz="2800" b="1">
                <a:latin typeface="微软雅黑" pitchFamily="34" charset="-122"/>
                <a:ea typeface="微软雅黑" pitchFamily="34" charset="-122"/>
              </a:rPr>
              <a:t>生产线上的自动送料</a:t>
            </a:r>
          </a:p>
        </p:txBody>
      </p:sp>
      <p:sp>
        <p:nvSpPr>
          <p:cNvPr id="34" name="TextBox 5">
            <a:extLst>
              <a:ext uri="{FF2B5EF4-FFF2-40B4-BE49-F238E27FC236}">
                <a16:creationId xmlns="" xmlns:a16="http://schemas.microsoft.com/office/drawing/2014/main" id="{E036A7F2-EC10-423B-AB6F-6456E4226372}"/>
              </a:ext>
            </a:extLst>
          </p:cNvPr>
          <p:cNvSpPr txBox="1">
            <a:spLocks noChangeArrowheads="1"/>
          </p:cNvSpPr>
          <p:nvPr/>
        </p:nvSpPr>
        <p:spPr bwMode="auto">
          <a:xfrm>
            <a:off x="7384976" y="1766728"/>
            <a:ext cx="3422650" cy="557212"/>
          </a:xfrm>
          <a:prstGeom prst="rect">
            <a:avLst/>
          </a:prstGeom>
          <a:noFill/>
          <a:ln w="38100">
            <a:solidFill>
              <a:srgbClr val="FF00FF"/>
            </a:solidFill>
            <a:miter lim="800000"/>
            <a:headEnd/>
            <a:tailEnd/>
          </a:ln>
        </p:spPr>
        <p:txBody>
          <a:bodyPr>
            <a:spAutoFit/>
          </a:bodyPr>
          <a:lstStyle/>
          <a:p>
            <a:pPr algn="ctr" defTabSz="914400"/>
            <a:r>
              <a:rPr lang="zh-CN" altLang="en-US" sz="2800" b="1">
                <a:latin typeface="微软雅黑" pitchFamily="34" charset="-122"/>
                <a:ea typeface="微软雅黑" pitchFamily="34" charset="-122"/>
              </a:rPr>
              <a:t>自动门装置</a:t>
            </a:r>
          </a:p>
        </p:txBody>
      </p:sp>
      <p:sp>
        <p:nvSpPr>
          <p:cNvPr id="35" name="TextBox 6">
            <a:extLst>
              <a:ext uri="{FF2B5EF4-FFF2-40B4-BE49-F238E27FC236}">
                <a16:creationId xmlns="" xmlns:a16="http://schemas.microsoft.com/office/drawing/2014/main" id="{82275824-7C20-49A1-8EF5-A9F684F7C0A5}"/>
              </a:ext>
            </a:extLst>
          </p:cNvPr>
          <p:cNvSpPr txBox="1">
            <a:spLocks noChangeArrowheads="1"/>
          </p:cNvSpPr>
          <p:nvPr/>
        </p:nvSpPr>
        <p:spPr bwMode="auto">
          <a:xfrm>
            <a:off x="7384976" y="2431056"/>
            <a:ext cx="1733550" cy="557212"/>
          </a:xfrm>
          <a:prstGeom prst="rect">
            <a:avLst/>
          </a:prstGeom>
          <a:noFill/>
          <a:ln w="38100">
            <a:solidFill>
              <a:srgbClr val="FF00FF"/>
            </a:solidFill>
            <a:miter lim="800000"/>
            <a:headEnd/>
            <a:tailEnd/>
          </a:ln>
        </p:spPr>
        <p:txBody>
          <a:bodyPr>
            <a:spAutoFit/>
          </a:bodyPr>
          <a:lstStyle/>
          <a:p>
            <a:pPr algn="ctr" defTabSz="914400"/>
            <a:r>
              <a:rPr lang="zh-CN" altLang="en-US" sz="2800" b="1">
                <a:latin typeface="微软雅黑" pitchFamily="34" charset="-122"/>
                <a:ea typeface="微软雅黑" pitchFamily="34" charset="-122"/>
              </a:rPr>
              <a:t>航标灯</a:t>
            </a:r>
          </a:p>
        </p:txBody>
      </p:sp>
      <p:sp>
        <p:nvSpPr>
          <p:cNvPr id="36" name="TextBox 7">
            <a:extLst>
              <a:ext uri="{FF2B5EF4-FFF2-40B4-BE49-F238E27FC236}">
                <a16:creationId xmlns="" xmlns:a16="http://schemas.microsoft.com/office/drawing/2014/main" id="{91279C6A-6662-4ABA-BCC6-BBA68AA90700}"/>
              </a:ext>
            </a:extLst>
          </p:cNvPr>
          <p:cNvSpPr txBox="1">
            <a:spLocks noChangeArrowheads="1"/>
          </p:cNvSpPr>
          <p:nvPr/>
        </p:nvSpPr>
        <p:spPr bwMode="auto">
          <a:xfrm>
            <a:off x="9518576" y="2431056"/>
            <a:ext cx="1244600" cy="557212"/>
          </a:xfrm>
          <a:prstGeom prst="rect">
            <a:avLst/>
          </a:prstGeom>
          <a:noFill/>
          <a:ln w="38100">
            <a:solidFill>
              <a:srgbClr val="FF00FF"/>
            </a:solidFill>
            <a:miter lim="800000"/>
            <a:headEnd/>
            <a:tailEnd/>
          </a:ln>
        </p:spPr>
        <p:txBody>
          <a:bodyPr>
            <a:spAutoFit/>
          </a:bodyPr>
          <a:lstStyle/>
          <a:p>
            <a:pPr algn="ctr" defTabSz="914400"/>
            <a:r>
              <a:rPr lang="zh-CN" altLang="en-US" sz="2800" b="1">
                <a:latin typeface="微软雅黑" pitchFamily="34" charset="-122"/>
                <a:ea typeface="微软雅黑" pitchFamily="34" charset="-122"/>
              </a:rPr>
              <a:t>路灯</a:t>
            </a:r>
          </a:p>
        </p:txBody>
      </p:sp>
      <p:sp>
        <p:nvSpPr>
          <p:cNvPr id="37" name="TextBox 8">
            <a:extLst>
              <a:ext uri="{FF2B5EF4-FFF2-40B4-BE49-F238E27FC236}">
                <a16:creationId xmlns="" xmlns:a16="http://schemas.microsoft.com/office/drawing/2014/main" id="{8D4CDEE8-B85B-4B0C-BEC0-6AAA2BA78727}"/>
              </a:ext>
            </a:extLst>
          </p:cNvPr>
          <p:cNvSpPr txBox="1">
            <a:spLocks noChangeArrowheads="1"/>
          </p:cNvSpPr>
          <p:nvPr/>
        </p:nvSpPr>
        <p:spPr bwMode="auto">
          <a:xfrm>
            <a:off x="7384976" y="3076524"/>
            <a:ext cx="3378200" cy="557212"/>
          </a:xfrm>
          <a:prstGeom prst="rect">
            <a:avLst/>
          </a:prstGeom>
          <a:noFill/>
          <a:ln w="38100">
            <a:solidFill>
              <a:srgbClr val="FF00FF"/>
            </a:solidFill>
            <a:miter lim="800000"/>
            <a:headEnd/>
            <a:tailEnd/>
          </a:ln>
        </p:spPr>
        <p:txBody>
          <a:bodyPr>
            <a:spAutoFit/>
          </a:bodyPr>
          <a:lstStyle/>
          <a:p>
            <a:pPr algn="ctr" defTabSz="914400"/>
            <a:r>
              <a:rPr lang="zh-CN" altLang="en-US" sz="2800" b="1">
                <a:latin typeface="微软雅黑" pitchFamily="34" charset="-122"/>
                <a:ea typeface="微软雅黑" pitchFamily="34" charset="-122"/>
              </a:rPr>
              <a:t>应急自动照明</a:t>
            </a:r>
          </a:p>
        </p:txBody>
      </p:sp>
      <p:sp>
        <p:nvSpPr>
          <p:cNvPr id="38" name="TextBox 9">
            <a:extLst>
              <a:ext uri="{FF2B5EF4-FFF2-40B4-BE49-F238E27FC236}">
                <a16:creationId xmlns="" xmlns:a16="http://schemas.microsoft.com/office/drawing/2014/main" id="{200782D2-E114-4405-B863-A058B1641BFF}"/>
              </a:ext>
            </a:extLst>
          </p:cNvPr>
          <p:cNvSpPr txBox="1">
            <a:spLocks noChangeArrowheads="1"/>
          </p:cNvSpPr>
          <p:nvPr/>
        </p:nvSpPr>
        <p:spPr bwMode="auto">
          <a:xfrm>
            <a:off x="7384976" y="3743274"/>
            <a:ext cx="3378200" cy="557212"/>
          </a:xfrm>
          <a:prstGeom prst="rect">
            <a:avLst/>
          </a:prstGeom>
          <a:noFill/>
          <a:ln w="38100">
            <a:solidFill>
              <a:srgbClr val="FF00FF"/>
            </a:solidFill>
            <a:miter lim="800000"/>
            <a:headEnd/>
            <a:tailEnd/>
          </a:ln>
        </p:spPr>
        <p:txBody>
          <a:bodyPr>
            <a:spAutoFit/>
          </a:bodyPr>
          <a:lstStyle/>
          <a:p>
            <a:pPr algn="ctr" defTabSz="914400"/>
            <a:r>
              <a:rPr lang="zh-CN" altLang="en-US" sz="2800" b="1">
                <a:latin typeface="微软雅黑" pitchFamily="34" charset="-122"/>
                <a:ea typeface="微软雅黑" pitchFamily="34" charset="-122"/>
              </a:rPr>
              <a:t>自动给水停水装置</a:t>
            </a:r>
          </a:p>
        </p:txBody>
      </p:sp>
      <p:sp>
        <p:nvSpPr>
          <p:cNvPr id="39" name="TextBox 10">
            <a:extLst>
              <a:ext uri="{FF2B5EF4-FFF2-40B4-BE49-F238E27FC236}">
                <a16:creationId xmlns="" xmlns:a16="http://schemas.microsoft.com/office/drawing/2014/main" id="{009AF780-D44E-4472-B105-199B684D1111}"/>
              </a:ext>
            </a:extLst>
          </p:cNvPr>
          <p:cNvSpPr txBox="1">
            <a:spLocks noChangeArrowheads="1"/>
          </p:cNvSpPr>
          <p:nvPr/>
        </p:nvSpPr>
        <p:spPr bwMode="auto">
          <a:xfrm>
            <a:off x="7384976" y="4399758"/>
            <a:ext cx="3378200" cy="557212"/>
          </a:xfrm>
          <a:prstGeom prst="rect">
            <a:avLst/>
          </a:prstGeom>
          <a:noFill/>
          <a:ln w="38100">
            <a:solidFill>
              <a:srgbClr val="FF00FF"/>
            </a:solidFill>
            <a:miter lim="800000"/>
            <a:headEnd/>
            <a:tailEnd/>
          </a:ln>
        </p:spPr>
        <p:txBody>
          <a:bodyPr>
            <a:spAutoFit/>
          </a:bodyPr>
          <a:lstStyle/>
          <a:p>
            <a:pPr algn="ctr" defTabSz="914400"/>
            <a:r>
              <a:rPr lang="zh-CN" altLang="en-US" sz="2800" b="1">
                <a:latin typeface="微软雅黑" pitchFamily="34" charset="-122"/>
                <a:ea typeface="微软雅黑" pitchFamily="34" charset="-122"/>
              </a:rPr>
              <a:t>生产安全装置</a:t>
            </a:r>
          </a:p>
        </p:txBody>
      </p:sp>
      <p:sp>
        <p:nvSpPr>
          <p:cNvPr id="41" name="TextBox 11">
            <a:extLst>
              <a:ext uri="{FF2B5EF4-FFF2-40B4-BE49-F238E27FC236}">
                <a16:creationId xmlns="" xmlns:a16="http://schemas.microsoft.com/office/drawing/2014/main" id="{B9EEDA54-3BE1-458B-84A9-ACF32594870D}"/>
              </a:ext>
            </a:extLst>
          </p:cNvPr>
          <p:cNvSpPr txBox="1">
            <a:spLocks noChangeArrowheads="1"/>
          </p:cNvSpPr>
          <p:nvPr/>
        </p:nvSpPr>
        <p:spPr bwMode="auto">
          <a:xfrm>
            <a:off x="7384976" y="5086401"/>
            <a:ext cx="3378200" cy="557212"/>
          </a:xfrm>
          <a:prstGeom prst="rect">
            <a:avLst/>
          </a:prstGeom>
          <a:noFill/>
          <a:ln w="38100">
            <a:solidFill>
              <a:srgbClr val="FF00FF"/>
            </a:solidFill>
            <a:miter lim="800000"/>
            <a:headEnd/>
            <a:tailEnd/>
          </a:ln>
        </p:spPr>
        <p:txBody>
          <a:bodyPr>
            <a:spAutoFit/>
          </a:bodyPr>
          <a:lstStyle/>
          <a:p>
            <a:pPr algn="ctr" defTabSz="914400"/>
            <a:r>
              <a:rPr lang="zh-CN" altLang="en-US" sz="2800" b="1">
                <a:latin typeface="微软雅黑" pitchFamily="34" charset="-122"/>
                <a:ea typeface="微软雅黑" pitchFamily="34" charset="-122"/>
              </a:rPr>
              <a:t>烟雾火灾报警装置</a:t>
            </a:r>
          </a:p>
        </p:txBody>
      </p:sp>
      <p:sp>
        <p:nvSpPr>
          <p:cNvPr id="42" name="TextBox 12">
            <a:extLst>
              <a:ext uri="{FF2B5EF4-FFF2-40B4-BE49-F238E27FC236}">
                <a16:creationId xmlns="" xmlns:a16="http://schemas.microsoft.com/office/drawing/2014/main" id="{02D04536-03AA-444F-B593-E122FF35F2B7}"/>
              </a:ext>
            </a:extLst>
          </p:cNvPr>
          <p:cNvSpPr txBox="1">
            <a:spLocks noChangeArrowheads="1"/>
          </p:cNvSpPr>
          <p:nvPr/>
        </p:nvSpPr>
        <p:spPr bwMode="auto">
          <a:xfrm>
            <a:off x="7384976" y="5773044"/>
            <a:ext cx="3378200" cy="557212"/>
          </a:xfrm>
          <a:prstGeom prst="rect">
            <a:avLst/>
          </a:prstGeom>
          <a:noFill/>
          <a:ln w="38100">
            <a:solidFill>
              <a:srgbClr val="FF00FF"/>
            </a:solidFill>
            <a:miter lim="800000"/>
            <a:headEnd/>
            <a:tailEnd/>
          </a:ln>
        </p:spPr>
        <p:txBody>
          <a:bodyPr>
            <a:spAutoFit/>
          </a:bodyPr>
          <a:lstStyle/>
          <a:p>
            <a:pPr algn="ctr" defTabSz="914400"/>
            <a:r>
              <a:rPr lang="zh-CN" altLang="en-US" sz="2800" b="1">
                <a:latin typeface="微软雅黑" pitchFamily="34" charset="-122"/>
                <a:ea typeface="微软雅黑" pitchFamily="34" charset="-122"/>
              </a:rPr>
              <a:t>照相机自动曝光</a:t>
            </a:r>
          </a:p>
        </p:txBody>
      </p:sp>
      <p:sp>
        <p:nvSpPr>
          <p:cNvPr id="43" name="TextBox 13">
            <a:extLst>
              <a:ext uri="{FF2B5EF4-FFF2-40B4-BE49-F238E27FC236}">
                <a16:creationId xmlns="" xmlns:a16="http://schemas.microsoft.com/office/drawing/2014/main" id="{CFF0B83B-3D4A-4E41-8D20-7EFD7C0E3160}"/>
              </a:ext>
            </a:extLst>
          </p:cNvPr>
          <p:cNvSpPr txBox="1">
            <a:spLocks noChangeArrowheads="1"/>
          </p:cNvSpPr>
          <p:nvPr/>
        </p:nvSpPr>
        <p:spPr bwMode="auto">
          <a:xfrm>
            <a:off x="7384976" y="6524031"/>
            <a:ext cx="3378200" cy="557212"/>
          </a:xfrm>
          <a:prstGeom prst="rect">
            <a:avLst/>
          </a:prstGeom>
          <a:noFill/>
          <a:ln w="38100">
            <a:solidFill>
              <a:srgbClr val="FF00FF"/>
            </a:solidFill>
            <a:miter lim="800000"/>
            <a:headEnd/>
            <a:tailEnd/>
          </a:ln>
        </p:spPr>
        <p:txBody>
          <a:bodyPr>
            <a:spAutoFit/>
          </a:bodyPr>
          <a:lstStyle/>
          <a:p>
            <a:pPr algn="ctr" defTabSz="914400"/>
            <a:r>
              <a:rPr lang="zh-CN" altLang="en-US" sz="2800" b="1">
                <a:latin typeface="微软雅黑" pitchFamily="34" charset="-122"/>
                <a:ea typeface="微软雅黑" pitchFamily="34" charset="-122"/>
              </a:rPr>
              <a:t>医疗光电脉搏计</a:t>
            </a:r>
          </a:p>
        </p:txBody>
      </p:sp>
      <p:sp>
        <p:nvSpPr>
          <p:cNvPr id="27" name="文本框 60">
            <a:extLst>
              <a:ext uri="{FF2B5EF4-FFF2-40B4-BE49-F238E27FC236}">
                <a16:creationId xmlns="" xmlns:a16="http://schemas.microsoft.com/office/drawing/2014/main" id="{6B610436-E68F-404B-B5AD-DF8C506EFC63}"/>
              </a:ext>
            </a:extLst>
          </p:cNvPr>
          <p:cNvSpPr txBox="1"/>
          <p:nvPr/>
        </p:nvSpPr>
        <p:spPr>
          <a:xfrm>
            <a:off x="1364781"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光敏电阻的应用实例 </a:t>
            </a:r>
          </a:p>
        </p:txBody>
      </p:sp>
      <p:sp>
        <p:nvSpPr>
          <p:cNvPr id="28" name="矩形 27">
            <a:extLst>
              <a:ext uri="{FF2B5EF4-FFF2-40B4-BE49-F238E27FC236}">
                <a16:creationId xmlns="" xmlns:a16="http://schemas.microsoft.com/office/drawing/2014/main" id="{6CAE360E-6699-4141-AEBC-F32080E3F106}"/>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29" name="矩形 28">
            <a:extLst>
              <a:ext uri="{FF2B5EF4-FFF2-40B4-BE49-F238E27FC236}">
                <a16:creationId xmlns="" xmlns:a16="http://schemas.microsoft.com/office/drawing/2014/main" id="{D4C89A26-02EE-4898-AFB8-48588420485E}"/>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 xmlns:a16="http://schemas.microsoft.com/office/drawing/2014/main" id="{8F24F0E1-922F-4F05-8F75-6694A59E79FB}"/>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5" name="直接连接符 58">
            <a:extLst>
              <a:ext uri="{FF2B5EF4-FFF2-40B4-BE49-F238E27FC236}">
                <a16:creationId xmlns="" xmlns:a16="http://schemas.microsoft.com/office/drawing/2014/main" id="{7AB9F7DB-BB4A-4E25-9956-D98E3B83B15C}"/>
              </a:ext>
            </a:extLst>
          </p:cNvPr>
          <p:cNvCxnSpPr>
            <a:cxnSpLocks/>
          </p:cNvCxnSpPr>
          <p:nvPr/>
        </p:nvCxnSpPr>
        <p:spPr>
          <a:xfrm>
            <a:off x="1450506"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 xmlns:a16="http://schemas.microsoft.com/office/drawing/2014/main" id="{4FFEB92E-5FFA-486A-8D7F-8049912F7C83}"/>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8" name="矩形 47">
            <a:extLst>
              <a:ext uri="{FF2B5EF4-FFF2-40B4-BE49-F238E27FC236}">
                <a16:creationId xmlns="" xmlns:a16="http://schemas.microsoft.com/office/drawing/2014/main" id="{FE3D5FF7-105F-41B8-BAE4-3EF8B08C637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1352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amond(in)">
                                      <p:cBhvr>
                                        <p:cTn id="7" dur="2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ox(i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box(in)">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additive="base">
                                        <p:cTn id="22" dur="500" fill="hold"/>
                                        <p:tgtEl>
                                          <p:spTgt spid="32"/>
                                        </p:tgtEl>
                                        <p:attrNameLst>
                                          <p:attrName>ppt_x</p:attrName>
                                        </p:attrNameLst>
                                      </p:cBhvr>
                                      <p:tavLst>
                                        <p:tav tm="0">
                                          <p:val>
                                            <p:strVal val="1+#ppt_w/2"/>
                                          </p:val>
                                        </p:tav>
                                        <p:tav tm="100000">
                                          <p:val>
                                            <p:strVal val="#ppt_x"/>
                                          </p:val>
                                        </p:tav>
                                      </p:tavLst>
                                    </p:anim>
                                    <p:anim calcmode="lin" valueType="num">
                                      <p:cBhvr additive="base">
                                        <p:cTn id="23"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1+#ppt_w/2"/>
                                          </p:val>
                                        </p:tav>
                                        <p:tav tm="100000">
                                          <p:val>
                                            <p:strVal val="#ppt_x"/>
                                          </p:val>
                                        </p:tav>
                                      </p:tavLst>
                                    </p:anim>
                                    <p:anim calcmode="lin" valueType="num">
                                      <p:cBhvr additive="base">
                                        <p:cTn id="29"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 calcmode="lin" valueType="num">
                                      <p:cBhvr additive="base">
                                        <p:cTn id="34" dur="500" fill="hold"/>
                                        <p:tgtEl>
                                          <p:spTgt spid="35"/>
                                        </p:tgtEl>
                                        <p:attrNameLst>
                                          <p:attrName>ppt_x</p:attrName>
                                        </p:attrNameLst>
                                      </p:cBhvr>
                                      <p:tavLst>
                                        <p:tav tm="0">
                                          <p:val>
                                            <p:strVal val="0-#ppt_w/2"/>
                                          </p:val>
                                        </p:tav>
                                        <p:tav tm="100000">
                                          <p:val>
                                            <p:strVal val="#ppt_x"/>
                                          </p:val>
                                        </p:tav>
                                      </p:tavLst>
                                    </p:anim>
                                    <p:anim calcmode="lin" valueType="num">
                                      <p:cBhvr additive="base">
                                        <p:cTn id="35"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 calcmode="lin" valueType="num">
                                      <p:cBhvr additive="base">
                                        <p:cTn id="40" dur="500" fill="hold"/>
                                        <p:tgtEl>
                                          <p:spTgt spid="36"/>
                                        </p:tgtEl>
                                        <p:attrNameLst>
                                          <p:attrName>ppt_x</p:attrName>
                                        </p:attrNameLst>
                                      </p:cBhvr>
                                      <p:tavLst>
                                        <p:tav tm="0">
                                          <p:val>
                                            <p:strVal val="1+#ppt_w/2"/>
                                          </p:val>
                                        </p:tav>
                                        <p:tav tm="100000">
                                          <p:val>
                                            <p:strVal val="#ppt_x"/>
                                          </p:val>
                                        </p:tav>
                                      </p:tavLst>
                                    </p:anim>
                                    <p:anim calcmode="lin" valueType="num">
                                      <p:cBhvr additive="base">
                                        <p:cTn id="41"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37"/>
                                        </p:tgtEl>
                                        <p:attrNameLst>
                                          <p:attrName>style.visibility</p:attrName>
                                        </p:attrNameLst>
                                      </p:cBhvr>
                                      <p:to>
                                        <p:strVal val="visible"/>
                                      </p:to>
                                    </p:set>
                                    <p:anim calcmode="lin" valueType="num">
                                      <p:cBhvr additive="base">
                                        <p:cTn id="46" dur="500" fill="hold"/>
                                        <p:tgtEl>
                                          <p:spTgt spid="37"/>
                                        </p:tgtEl>
                                        <p:attrNameLst>
                                          <p:attrName>ppt_x</p:attrName>
                                        </p:attrNameLst>
                                      </p:cBhvr>
                                      <p:tavLst>
                                        <p:tav tm="0">
                                          <p:val>
                                            <p:strVal val="1+#ppt_w/2"/>
                                          </p:val>
                                        </p:tav>
                                        <p:tav tm="100000">
                                          <p:val>
                                            <p:strVal val="#ppt_x"/>
                                          </p:val>
                                        </p:tav>
                                      </p:tavLst>
                                    </p:anim>
                                    <p:anim calcmode="lin" valueType="num">
                                      <p:cBhvr additive="base">
                                        <p:cTn id="47"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 calcmode="lin" valueType="num">
                                      <p:cBhvr additive="base">
                                        <p:cTn id="52" dur="500" fill="hold"/>
                                        <p:tgtEl>
                                          <p:spTgt spid="38"/>
                                        </p:tgtEl>
                                        <p:attrNameLst>
                                          <p:attrName>ppt_x</p:attrName>
                                        </p:attrNameLst>
                                      </p:cBhvr>
                                      <p:tavLst>
                                        <p:tav tm="0">
                                          <p:val>
                                            <p:strVal val="1+#ppt_w/2"/>
                                          </p:val>
                                        </p:tav>
                                        <p:tav tm="100000">
                                          <p:val>
                                            <p:strVal val="#ppt_x"/>
                                          </p:val>
                                        </p:tav>
                                      </p:tavLst>
                                    </p:anim>
                                    <p:anim calcmode="lin" valueType="num">
                                      <p:cBhvr additive="base">
                                        <p:cTn id="53"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2" fill="hold" grpId="0" nodeType="clickEffect">
                                  <p:stCondLst>
                                    <p:cond delay="0"/>
                                  </p:stCondLst>
                                  <p:childTnLst>
                                    <p:set>
                                      <p:cBhvr>
                                        <p:cTn id="57" dur="1" fill="hold">
                                          <p:stCondLst>
                                            <p:cond delay="0"/>
                                          </p:stCondLst>
                                        </p:cTn>
                                        <p:tgtEl>
                                          <p:spTgt spid="39"/>
                                        </p:tgtEl>
                                        <p:attrNameLst>
                                          <p:attrName>style.visibility</p:attrName>
                                        </p:attrNameLst>
                                      </p:cBhvr>
                                      <p:to>
                                        <p:strVal val="visible"/>
                                      </p:to>
                                    </p:set>
                                    <p:anim calcmode="lin" valueType="num">
                                      <p:cBhvr additive="base">
                                        <p:cTn id="58" dur="500" fill="hold"/>
                                        <p:tgtEl>
                                          <p:spTgt spid="39"/>
                                        </p:tgtEl>
                                        <p:attrNameLst>
                                          <p:attrName>ppt_x</p:attrName>
                                        </p:attrNameLst>
                                      </p:cBhvr>
                                      <p:tavLst>
                                        <p:tav tm="0">
                                          <p:val>
                                            <p:strVal val="1+#ppt_w/2"/>
                                          </p:val>
                                        </p:tav>
                                        <p:tav tm="100000">
                                          <p:val>
                                            <p:strVal val="#ppt_x"/>
                                          </p:val>
                                        </p:tav>
                                      </p:tavLst>
                                    </p:anim>
                                    <p:anim calcmode="lin" valueType="num">
                                      <p:cBhvr additive="base">
                                        <p:cTn id="59"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8"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anim calcmode="lin" valueType="num">
                                      <p:cBhvr additive="base">
                                        <p:cTn id="64" dur="500" fill="hold"/>
                                        <p:tgtEl>
                                          <p:spTgt spid="41"/>
                                        </p:tgtEl>
                                        <p:attrNameLst>
                                          <p:attrName>ppt_x</p:attrName>
                                        </p:attrNameLst>
                                      </p:cBhvr>
                                      <p:tavLst>
                                        <p:tav tm="0">
                                          <p:val>
                                            <p:strVal val="0-#ppt_w/2"/>
                                          </p:val>
                                        </p:tav>
                                        <p:tav tm="100000">
                                          <p:val>
                                            <p:strVal val="#ppt_x"/>
                                          </p:val>
                                        </p:tav>
                                      </p:tavLst>
                                    </p:anim>
                                    <p:anim calcmode="lin" valueType="num">
                                      <p:cBhvr additive="base">
                                        <p:cTn id="65"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42"/>
                                        </p:tgtEl>
                                        <p:attrNameLst>
                                          <p:attrName>style.visibility</p:attrName>
                                        </p:attrNameLst>
                                      </p:cBhvr>
                                      <p:to>
                                        <p:strVal val="visible"/>
                                      </p:to>
                                    </p:set>
                                    <p:anim calcmode="lin" valueType="num">
                                      <p:cBhvr additive="base">
                                        <p:cTn id="70" dur="500" fill="hold"/>
                                        <p:tgtEl>
                                          <p:spTgt spid="42"/>
                                        </p:tgtEl>
                                        <p:attrNameLst>
                                          <p:attrName>ppt_x</p:attrName>
                                        </p:attrNameLst>
                                      </p:cBhvr>
                                      <p:tavLst>
                                        <p:tav tm="0">
                                          <p:val>
                                            <p:strVal val="#ppt_x"/>
                                          </p:val>
                                        </p:tav>
                                        <p:tav tm="100000">
                                          <p:val>
                                            <p:strVal val="#ppt_x"/>
                                          </p:val>
                                        </p:tav>
                                      </p:tavLst>
                                    </p:anim>
                                    <p:anim calcmode="lin" valueType="num">
                                      <p:cBhvr additive="base">
                                        <p:cTn id="71"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43"/>
                                        </p:tgtEl>
                                        <p:attrNameLst>
                                          <p:attrName>style.visibility</p:attrName>
                                        </p:attrNameLst>
                                      </p:cBhvr>
                                      <p:to>
                                        <p:strVal val="visible"/>
                                      </p:to>
                                    </p:set>
                                    <p:anim calcmode="lin" valueType="num">
                                      <p:cBhvr additive="base">
                                        <p:cTn id="76" dur="500" fill="hold"/>
                                        <p:tgtEl>
                                          <p:spTgt spid="43"/>
                                        </p:tgtEl>
                                        <p:attrNameLst>
                                          <p:attrName>ppt_x</p:attrName>
                                        </p:attrNameLst>
                                      </p:cBhvr>
                                      <p:tavLst>
                                        <p:tav tm="0">
                                          <p:val>
                                            <p:strVal val="#ppt_x"/>
                                          </p:val>
                                        </p:tav>
                                        <p:tav tm="100000">
                                          <p:val>
                                            <p:strVal val="#ppt_x"/>
                                          </p:val>
                                        </p:tav>
                                      </p:tavLst>
                                    </p:anim>
                                    <p:anim calcmode="lin" valueType="num">
                                      <p:cBhvr additive="base">
                                        <p:cTn id="77"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4" grpId="0" animBg="1"/>
      <p:bldP spid="35" grpId="0" animBg="1"/>
      <p:bldP spid="36" grpId="0" animBg="1"/>
      <p:bldP spid="37" grpId="0" animBg="1"/>
      <p:bldP spid="38" grpId="0" animBg="1"/>
      <p:bldP spid="39" grpId="0" animBg="1"/>
      <p:bldP spid="41" grpId="0" animBg="1"/>
      <p:bldP spid="42" grpId="0" animBg="1"/>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18">
            <a:extLst>
              <a:ext uri="{FF2B5EF4-FFF2-40B4-BE49-F238E27FC236}">
                <a16:creationId xmlns="" xmlns:a16="http://schemas.microsoft.com/office/drawing/2014/main" id="{19285BBB-60D3-4F6A-BAAE-DB642E97F9FD}"/>
              </a:ext>
            </a:extLst>
          </p:cNvPr>
          <p:cNvGraphicFramePr>
            <a:graphicFrameLocks noChangeAspect="1"/>
          </p:cNvGraphicFramePr>
          <p:nvPr>
            <p:extLst>
              <p:ext uri="{D42A27DB-BD31-4B8C-83A1-F6EECF244321}">
                <p14:modId xmlns:p14="http://schemas.microsoft.com/office/powerpoint/2010/main" val="148602797"/>
              </p:ext>
            </p:extLst>
          </p:nvPr>
        </p:nvGraphicFramePr>
        <p:xfrm>
          <a:off x="3088453" y="2292508"/>
          <a:ext cx="7269162" cy="3152775"/>
        </p:xfrm>
        <a:graphic>
          <a:graphicData uri="http://schemas.openxmlformats.org/presentationml/2006/ole">
            <mc:AlternateContent xmlns:mc="http://schemas.openxmlformats.org/markup-compatibility/2006">
              <mc:Choice xmlns:v="urn:schemas-microsoft-com:vml" Requires="v">
                <p:oleObj spid="_x0000_s12306" name="Visio" r:id="rId3" imgW="5553093" imgH="2343189" progId="Visio.Drawing.11">
                  <p:embed/>
                </p:oleObj>
              </mc:Choice>
              <mc:Fallback>
                <p:oleObj name="Visio" r:id="rId3" imgW="5553093" imgH="2343189" progId="Visio.Drawing.11">
                  <p:embed/>
                  <p:pic>
                    <p:nvPicPr>
                      <p:cNvPr id="19458" name="Object 18"/>
                      <p:cNvPicPr>
                        <a:picLocks noChangeAspect="1" noChangeArrowheads="1"/>
                      </p:cNvPicPr>
                      <p:nvPr/>
                    </p:nvPicPr>
                    <p:blipFill>
                      <a:blip r:embed="rId4"/>
                      <a:srcRect/>
                      <a:stretch>
                        <a:fillRect/>
                      </a:stretch>
                    </p:blipFill>
                    <p:spPr bwMode="auto">
                      <a:xfrm>
                        <a:off x="3088453" y="2292508"/>
                        <a:ext cx="7269162" cy="3152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 Box 4">
            <a:extLst>
              <a:ext uri="{FF2B5EF4-FFF2-40B4-BE49-F238E27FC236}">
                <a16:creationId xmlns="" xmlns:a16="http://schemas.microsoft.com/office/drawing/2014/main" id="{245A8510-E232-451E-83B9-A88F628A586E}"/>
              </a:ext>
            </a:extLst>
          </p:cNvPr>
          <p:cNvSpPr txBox="1">
            <a:spLocks noChangeArrowheads="1"/>
          </p:cNvSpPr>
          <p:nvPr/>
        </p:nvSpPr>
        <p:spPr bwMode="auto">
          <a:xfrm>
            <a:off x="9968598" y="4906241"/>
            <a:ext cx="666750" cy="57785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en-US" altLang="zh-CN" sz="2400" b="1">
                <a:solidFill>
                  <a:srgbClr val="0000FF"/>
                </a:solidFill>
                <a:latin typeface="Times New Roman" pitchFamily="18" charset="0"/>
                <a:ea typeface="楷体_GB2312" pitchFamily="49" charset="-122"/>
                <a:cs typeface="Times New Roman" pitchFamily="18" charset="0"/>
              </a:rPr>
              <a:t>LED</a:t>
            </a:r>
            <a:endParaRPr lang="zh-CN" altLang="zh-CN" sz="4400" b="1">
              <a:latin typeface="Times New Roman" pitchFamily="18" charset="0"/>
              <a:ea typeface="楷体_GB2312" pitchFamily="49" charset="-122"/>
              <a:cs typeface="Times New Roman" pitchFamily="18" charset="0"/>
            </a:endParaRPr>
          </a:p>
        </p:txBody>
      </p:sp>
      <p:sp>
        <p:nvSpPr>
          <p:cNvPr id="27" name="Text Box 5">
            <a:extLst>
              <a:ext uri="{FF2B5EF4-FFF2-40B4-BE49-F238E27FC236}">
                <a16:creationId xmlns="" xmlns:a16="http://schemas.microsoft.com/office/drawing/2014/main" id="{8E9E65B0-A6C0-4EEA-B89D-628438641250}"/>
              </a:ext>
            </a:extLst>
          </p:cNvPr>
          <p:cNvSpPr txBox="1">
            <a:spLocks noChangeArrowheads="1"/>
          </p:cNvSpPr>
          <p:nvPr/>
        </p:nvSpPr>
        <p:spPr bwMode="auto">
          <a:xfrm>
            <a:off x="6260198" y="5617441"/>
            <a:ext cx="1041400" cy="57785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0000FF"/>
                </a:solidFill>
                <a:latin typeface="微软雅黑" pitchFamily="34" charset="-122"/>
                <a:ea typeface="微软雅黑" pitchFamily="34" charset="-122"/>
              </a:rPr>
              <a:t>与非门</a:t>
            </a:r>
            <a:endParaRPr lang="zh-CN" altLang="en-US" sz="4400" b="1">
              <a:latin typeface="微软雅黑" pitchFamily="34" charset="-122"/>
              <a:ea typeface="微软雅黑" pitchFamily="34" charset="-122"/>
            </a:endParaRPr>
          </a:p>
        </p:txBody>
      </p:sp>
      <p:cxnSp>
        <p:nvCxnSpPr>
          <p:cNvPr id="28" name="AutoShape 6">
            <a:extLst>
              <a:ext uri="{FF2B5EF4-FFF2-40B4-BE49-F238E27FC236}">
                <a16:creationId xmlns="" xmlns:a16="http://schemas.microsoft.com/office/drawing/2014/main" id="{F901E1B5-9FBB-483C-84B3-8678D34E00C2}"/>
              </a:ext>
            </a:extLst>
          </p:cNvPr>
          <p:cNvCxnSpPr>
            <a:cxnSpLocks noChangeShapeType="1"/>
          </p:cNvCxnSpPr>
          <p:nvPr/>
        </p:nvCxnSpPr>
        <p:spPr bwMode="auto">
          <a:xfrm>
            <a:off x="2767698" y="4906241"/>
            <a:ext cx="444500" cy="1587"/>
          </a:xfrm>
          <a:prstGeom prst="straightConnector1">
            <a:avLst/>
          </a:prstGeom>
          <a:noFill/>
          <a:ln w="31750">
            <a:solidFill>
              <a:srgbClr val="FF33CC"/>
            </a:solidFill>
            <a:round/>
            <a:headEnd/>
            <a:tailEnd type="arrow" w="sm" len="lg"/>
          </a:ln>
        </p:spPr>
      </p:cxnSp>
      <p:cxnSp>
        <p:nvCxnSpPr>
          <p:cNvPr id="29" name="AutoShape 8">
            <a:extLst>
              <a:ext uri="{FF2B5EF4-FFF2-40B4-BE49-F238E27FC236}">
                <a16:creationId xmlns="" xmlns:a16="http://schemas.microsoft.com/office/drawing/2014/main" id="{064AB724-75CE-4DD4-91DE-E6DDF9D4BE3B}"/>
              </a:ext>
            </a:extLst>
          </p:cNvPr>
          <p:cNvCxnSpPr>
            <a:cxnSpLocks noChangeShapeType="1"/>
          </p:cNvCxnSpPr>
          <p:nvPr/>
        </p:nvCxnSpPr>
        <p:spPr bwMode="auto">
          <a:xfrm rot="5400000" flipH="1" flipV="1">
            <a:off x="5014011" y="5104678"/>
            <a:ext cx="1022350" cy="3175"/>
          </a:xfrm>
          <a:prstGeom prst="straightConnector1">
            <a:avLst/>
          </a:prstGeom>
          <a:noFill/>
          <a:ln w="31750">
            <a:solidFill>
              <a:srgbClr val="FF33CC"/>
            </a:solidFill>
            <a:round/>
            <a:headEnd/>
            <a:tailEnd type="arrow" w="sm" len="lg"/>
          </a:ln>
        </p:spPr>
      </p:cxnSp>
      <p:sp>
        <p:nvSpPr>
          <p:cNvPr id="44" name="Text Box 9">
            <a:extLst>
              <a:ext uri="{FF2B5EF4-FFF2-40B4-BE49-F238E27FC236}">
                <a16:creationId xmlns="" xmlns:a16="http://schemas.microsoft.com/office/drawing/2014/main" id="{182735C8-A510-4E79-AA84-DBD5F6BCD3AB}"/>
              </a:ext>
            </a:extLst>
          </p:cNvPr>
          <p:cNvSpPr txBox="1">
            <a:spLocks noChangeArrowheads="1"/>
          </p:cNvSpPr>
          <p:nvPr/>
        </p:nvSpPr>
        <p:spPr bwMode="auto">
          <a:xfrm>
            <a:off x="4812398" y="5617441"/>
            <a:ext cx="1466850" cy="57785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FF3399"/>
                </a:solidFill>
                <a:latin typeface="微软雅黑" pitchFamily="34" charset="-122"/>
                <a:ea typeface="微软雅黑" pitchFamily="34" charset="-122"/>
              </a:rPr>
              <a:t>光敏电阻</a:t>
            </a:r>
            <a:endParaRPr lang="zh-CN" altLang="en-US" sz="4400" b="1">
              <a:solidFill>
                <a:srgbClr val="FF3399"/>
              </a:solidFill>
              <a:latin typeface="微软雅黑" pitchFamily="34" charset="-122"/>
              <a:ea typeface="微软雅黑" pitchFamily="34" charset="-122"/>
            </a:endParaRPr>
          </a:p>
        </p:txBody>
      </p:sp>
      <p:cxnSp>
        <p:nvCxnSpPr>
          <p:cNvPr id="45" name="AutoShape 10">
            <a:extLst>
              <a:ext uri="{FF2B5EF4-FFF2-40B4-BE49-F238E27FC236}">
                <a16:creationId xmlns="" xmlns:a16="http://schemas.microsoft.com/office/drawing/2014/main" id="{B3F21D69-D81E-4CAA-A355-0AB0A766ED3C}"/>
              </a:ext>
            </a:extLst>
          </p:cNvPr>
          <p:cNvCxnSpPr>
            <a:cxnSpLocks noChangeShapeType="1"/>
          </p:cNvCxnSpPr>
          <p:nvPr/>
        </p:nvCxnSpPr>
        <p:spPr bwMode="auto">
          <a:xfrm rot="16200000" flipV="1">
            <a:off x="5656948" y="4639541"/>
            <a:ext cx="1911350" cy="311150"/>
          </a:xfrm>
          <a:prstGeom prst="straightConnector1">
            <a:avLst/>
          </a:prstGeom>
          <a:noFill/>
          <a:ln w="31750">
            <a:solidFill>
              <a:srgbClr val="FF33CC"/>
            </a:solidFill>
            <a:round/>
            <a:headEnd/>
            <a:tailEnd type="arrow" w="sm" len="lg"/>
          </a:ln>
        </p:spPr>
      </p:cxnSp>
      <p:cxnSp>
        <p:nvCxnSpPr>
          <p:cNvPr id="46" name="AutoShape 11">
            <a:extLst>
              <a:ext uri="{FF2B5EF4-FFF2-40B4-BE49-F238E27FC236}">
                <a16:creationId xmlns="" xmlns:a16="http://schemas.microsoft.com/office/drawing/2014/main" id="{654355C5-71DA-46FE-A477-A021E5B0F5C9}"/>
              </a:ext>
            </a:extLst>
          </p:cNvPr>
          <p:cNvCxnSpPr>
            <a:cxnSpLocks noChangeShapeType="1"/>
          </p:cNvCxnSpPr>
          <p:nvPr/>
        </p:nvCxnSpPr>
        <p:spPr bwMode="auto">
          <a:xfrm rot="5400000">
            <a:off x="4282967" y="3079822"/>
            <a:ext cx="1333500" cy="7938"/>
          </a:xfrm>
          <a:prstGeom prst="straightConnector1">
            <a:avLst/>
          </a:prstGeom>
          <a:noFill/>
          <a:ln w="31750">
            <a:solidFill>
              <a:srgbClr val="FF33CC"/>
            </a:solidFill>
            <a:round/>
            <a:headEnd/>
            <a:tailEnd type="arrow" w="sm" len="lg"/>
          </a:ln>
        </p:spPr>
      </p:cxnSp>
      <p:sp>
        <p:nvSpPr>
          <p:cNvPr id="47" name="Text Box 12">
            <a:extLst>
              <a:ext uri="{FF2B5EF4-FFF2-40B4-BE49-F238E27FC236}">
                <a16:creationId xmlns="" xmlns:a16="http://schemas.microsoft.com/office/drawing/2014/main" id="{905DD08B-C37D-42DB-BD66-9D44DE95626E}"/>
              </a:ext>
            </a:extLst>
          </p:cNvPr>
          <p:cNvSpPr txBox="1">
            <a:spLocks noChangeArrowheads="1"/>
          </p:cNvSpPr>
          <p:nvPr/>
        </p:nvSpPr>
        <p:spPr bwMode="auto">
          <a:xfrm>
            <a:off x="7657198" y="1705841"/>
            <a:ext cx="889000" cy="4445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0000FF"/>
                </a:solidFill>
                <a:latin typeface="微软雅黑" pitchFamily="34" charset="-122"/>
                <a:ea typeface="微软雅黑" pitchFamily="34" charset="-122"/>
              </a:rPr>
              <a:t>电源</a:t>
            </a:r>
            <a:endParaRPr lang="zh-CN" altLang="en-US" sz="4400" b="1">
              <a:latin typeface="微软雅黑" pitchFamily="34" charset="-122"/>
              <a:ea typeface="微软雅黑" pitchFamily="34" charset="-122"/>
            </a:endParaRPr>
          </a:p>
        </p:txBody>
      </p:sp>
      <p:cxnSp>
        <p:nvCxnSpPr>
          <p:cNvPr id="48" name="AutoShape 13">
            <a:extLst>
              <a:ext uri="{FF2B5EF4-FFF2-40B4-BE49-F238E27FC236}">
                <a16:creationId xmlns="" xmlns:a16="http://schemas.microsoft.com/office/drawing/2014/main" id="{D1901EFB-4F72-4CD8-A302-1042AD6764D1}"/>
              </a:ext>
            </a:extLst>
          </p:cNvPr>
          <p:cNvCxnSpPr>
            <a:cxnSpLocks noChangeShapeType="1"/>
          </p:cNvCxnSpPr>
          <p:nvPr/>
        </p:nvCxnSpPr>
        <p:spPr bwMode="auto">
          <a:xfrm rot="5400000" flipH="1" flipV="1">
            <a:off x="8636686" y="5260253"/>
            <a:ext cx="1155700" cy="3175"/>
          </a:xfrm>
          <a:prstGeom prst="straightConnector1">
            <a:avLst/>
          </a:prstGeom>
          <a:noFill/>
          <a:ln w="31750">
            <a:solidFill>
              <a:srgbClr val="FF33CC"/>
            </a:solidFill>
            <a:round/>
            <a:headEnd/>
            <a:tailEnd type="arrow" w="sm" len="lg"/>
          </a:ln>
        </p:spPr>
      </p:cxnSp>
      <p:sp>
        <p:nvSpPr>
          <p:cNvPr id="49" name="Text Box 14">
            <a:extLst>
              <a:ext uri="{FF2B5EF4-FFF2-40B4-BE49-F238E27FC236}">
                <a16:creationId xmlns="" xmlns:a16="http://schemas.microsoft.com/office/drawing/2014/main" id="{DAF3BFFD-5789-491F-B869-828CF35E37E0}"/>
              </a:ext>
            </a:extLst>
          </p:cNvPr>
          <p:cNvSpPr txBox="1">
            <a:spLocks noChangeArrowheads="1"/>
          </p:cNvSpPr>
          <p:nvPr/>
        </p:nvSpPr>
        <p:spPr bwMode="auto">
          <a:xfrm>
            <a:off x="4234548" y="1750291"/>
            <a:ext cx="1466850" cy="57785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0000FF"/>
                </a:solidFill>
                <a:latin typeface="微软雅黑" pitchFamily="34" charset="-122"/>
                <a:ea typeface="微软雅黑" pitchFamily="34" charset="-122"/>
              </a:rPr>
              <a:t>三极管</a:t>
            </a:r>
            <a:endParaRPr lang="zh-CN" altLang="en-US" sz="4400" b="1">
              <a:latin typeface="微软雅黑" pitchFamily="34" charset="-122"/>
              <a:ea typeface="微软雅黑" pitchFamily="34" charset="-122"/>
            </a:endParaRPr>
          </a:p>
        </p:txBody>
      </p:sp>
      <p:cxnSp>
        <p:nvCxnSpPr>
          <p:cNvPr id="50" name="AutoShape 15">
            <a:extLst>
              <a:ext uri="{FF2B5EF4-FFF2-40B4-BE49-F238E27FC236}">
                <a16:creationId xmlns="" xmlns:a16="http://schemas.microsoft.com/office/drawing/2014/main" id="{D70B3D18-4923-426D-BACF-2413BE4CF75F}"/>
              </a:ext>
            </a:extLst>
          </p:cNvPr>
          <p:cNvCxnSpPr>
            <a:cxnSpLocks noChangeShapeType="1"/>
          </p:cNvCxnSpPr>
          <p:nvPr/>
        </p:nvCxnSpPr>
        <p:spPr bwMode="auto">
          <a:xfrm rot="16200000" flipH="1">
            <a:off x="7878655" y="2328934"/>
            <a:ext cx="368300" cy="11113"/>
          </a:xfrm>
          <a:prstGeom prst="straightConnector1">
            <a:avLst/>
          </a:prstGeom>
          <a:noFill/>
          <a:ln w="25400">
            <a:solidFill>
              <a:srgbClr val="FF33CC"/>
            </a:solidFill>
            <a:round/>
            <a:headEnd/>
            <a:tailEnd type="arrow" w="sm" len="lg"/>
          </a:ln>
        </p:spPr>
      </p:cxnSp>
      <p:sp>
        <p:nvSpPr>
          <p:cNvPr id="51" name="Text Box 16">
            <a:extLst>
              <a:ext uri="{FF2B5EF4-FFF2-40B4-BE49-F238E27FC236}">
                <a16:creationId xmlns="" xmlns:a16="http://schemas.microsoft.com/office/drawing/2014/main" id="{185DD024-82AC-4537-8B79-1F16F5AC0948}"/>
              </a:ext>
            </a:extLst>
          </p:cNvPr>
          <p:cNvSpPr txBox="1">
            <a:spLocks noChangeArrowheads="1"/>
          </p:cNvSpPr>
          <p:nvPr/>
        </p:nvSpPr>
        <p:spPr bwMode="auto">
          <a:xfrm>
            <a:off x="8235048" y="5617441"/>
            <a:ext cx="1955800" cy="539750"/>
          </a:xfrm>
          <a:prstGeom prst="rect">
            <a:avLst/>
          </a:prstGeom>
          <a:solidFill>
            <a:srgbClr val="FFFFFF"/>
          </a:solidFill>
          <a:ln w="12700">
            <a:solidFill>
              <a:srgbClr val="FFFFFF"/>
            </a:solidFill>
            <a:miter lim="800000"/>
            <a:headEnd/>
            <a:tailEnd/>
          </a:ln>
        </p:spPr>
        <p:txBody>
          <a:bodyPr lIns="0" tIns="0" rIns="0" bIns="0"/>
          <a:lstStyle/>
          <a:p>
            <a:pPr algn="just" defTabSz="914400">
              <a:lnSpc>
                <a:spcPct val="160000"/>
              </a:lnSpc>
            </a:pPr>
            <a:r>
              <a:rPr lang="zh-CN" altLang="en-US" sz="2400" b="1">
                <a:solidFill>
                  <a:srgbClr val="0000FF"/>
                </a:solidFill>
                <a:latin typeface="微软雅黑" pitchFamily="34" charset="-122"/>
                <a:ea typeface="微软雅黑" pitchFamily="34" charset="-122"/>
              </a:rPr>
              <a:t>脉冲宽度控制</a:t>
            </a:r>
            <a:endParaRPr lang="zh-CN" altLang="en-US" sz="4400" b="1">
              <a:latin typeface="微软雅黑" pitchFamily="34" charset="-122"/>
              <a:ea typeface="微软雅黑" pitchFamily="34" charset="-122"/>
            </a:endParaRPr>
          </a:p>
        </p:txBody>
      </p:sp>
      <p:sp>
        <p:nvSpPr>
          <p:cNvPr id="52" name="Text Box 19">
            <a:extLst>
              <a:ext uri="{FF2B5EF4-FFF2-40B4-BE49-F238E27FC236}">
                <a16:creationId xmlns="" xmlns:a16="http://schemas.microsoft.com/office/drawing/2014/main" id="{359E94A8-EF4D-4EAA-AD10-55CBAECC7229}"/>
              </a:ext>
            </a:extLst>
          </p:cNvPr>
          <p:cNvSpPr txBox="1">
            <a:spLocks noChangeArrowheads="1"/>
          </p:cNvSpPr>
          <p:nvPr/>
        </p:nvSpPr>
        <p:spPr bwMode="auto">
          <a:xfrm>
            <a:off x="2056498" y="4595091"/>
            <a:ext cx="774700" cy="581025"/>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0000FF"/>
                </a:solidFill>
                <a:latin typeface="微软雅黑" pitchFamily="34" charset="-122"/>
                <a:ea typeface="微软雅黑" pitchFamily="34" charset="-122"/>
              </a:rPr>
              <a:t>话筒</a:t>
            </a:r>
            <a:endParaRPr lang="zh-CN" altLang="en-US" sz="4400" b="1">
              <a:latin typeface="微软雅黑" pitchFamily="34" charset="-122"/>
              <a:ea typeface="微软雅黑" pitchFamily="34" charset="-122"/>
            </a:endParaRPr>
          </a:p>
        </p:txBody>
      </p:sp>
      <p:sp>
        <p:nvSpPr>
          <p:cNvPr id="53" name="文本框 60">
            <a:extLst>
              <a:ext uri="{FF2B5EF4-FFF2-40B4-BE49-F238E27FC236}">
                <a16:creationId xmlns="" xmlns:a16="http://schemas.microsoft.com/office/drawing/2014/main" id="{C30FD4CC-1958-4382-9D53-AE72B9CA0BFC}"/>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声光自动控制电路</a:t>
            </a:r>
          </a:p>
        </p:txBody>
      </p:sp>
      <p:sp>
        <p:nvSpPr>
          <p:cNvPr id="54" name="矩形 53">
            <a:extLst>
              <a:ext uri="{FF2B5EF4-FFF2-40B4-BE49-F238E27FC236}">
                <a16:creationId xmlns="" xmlns:a16="http://schemas.microsoft.com/office/drawing/2014/main" id="{BFEF0543-3650-4D45-9D02-ABB636792243}"/>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55" name="矩形 54">
            <a:extLst>
              <a:ext uri="{FF2B5EF4-FFF2-40B4-BE49-F238E27FC236}">
                <a16:creationId xmlns="" xmlns:a16="http://schemas.microsoft.com/office/drawing/2014/main" id="{D95BCA80-F454-4688-A4B7-D6572ABC7AA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圆角 56">
            <a:extLst>
              <a:ext uri="{FF2B5EF4-FFF2-40B4-BE49-F238E27FC236}">
                <a16:creationId xmlns="" xmlns:a16="http://schemas.microsoft.com/office/drawing/2014/main" id="{4E2D7F78-E548-4E49-ABB5-6FFB938C5EF2}"/>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58" name="直接连接符 58">
            <a:extLst>
              <a:ext uri="{FF2B5EF4-FFF2-40B4-BE49-F238E27FC236}">
                <a16:creationId xmlns="" xmlns:a16="http://schemas.microsoft.com/office/drawing/2014/main" id="{FC4CC8B7-EA4D-4810-BC04-C410FFD24110}"/>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 xmlns:a16="http://schemas.microsoft.com/office/drawing/2014/main" id="{2B55C419-54B1-4F02-BA73-86A1F86A665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60" name="矩形 59">
            <a:extLst>
              <a:ext uri="{FF2B5EF4-FFF2-40B4-BE49-F238E27FC236}">
                <a16:creationId xmlns="" xmlns:a16="http://schemas.microsoft.com/office/drawing/2014/main" id="{69D3C581-F380-43A2-993E-F9825533901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87198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checkerboard(across)">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 calcmode="lin" valueType="num">
                                      <p:cBhvr additive="base">
                                        <p:cTn id="12" dur="500" fill="hold"/>
                                        <p:tgtEl>
                                          <p:spTgt spid="52"/>
                                        </p:tgtEl>
                                        <p:attrNameLst>
                                          <p:attrName>ppt_x</p:attrName>
                                        </p:attrNameLst>
                                      </p:cBhvr>
                                      <p:tavLst>
                                        <p:tav tm="0">
                                          <p:val>
                                            <p:strVal val="0-#ppt_w/2"/>
                                          </p:val>
                                        </p:tav>
                                        <p:tav tm="100000">
                                          <p:val>
                                            <p:strVal val="#ppt_x"/>
                                          </p:val>
                                        </p:tav>
                                      </p:tavLst>
                                    </p:anim>
                                    <p:anim calcmode="lin" valueType="num">
                                      <p:cBhvr additive="base">
                                        <p:cTn id="13" dur="500" fill="hold"/>
                                        <p:tgtEl>
                                          <p:spTgt spid="52"/>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8" fill="hold" nodeType="after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fill="hold"/>
                                        <p:tgtEl>
                                          <p:spTgt spid="28"/>
                                        </p:tgtEl>
                                        <p:attrNameLst>
                                          <p:attrName>ppt_x</p:attrName>
                                        </p:attrNameLst>
                                      </p:cBhvr>
                                      <p:tavLst>
                                        <p:tav tm="0">
                                          <p:val>
                                            <p:strVal val="0-#ppt_w/2"/>
                                          </p:val>
                                        </p:tav>
                                        <p:tav tm="100000">
                                          <p:val>
                                            <p:strVal val="#ppt_x"/>
                                          </p:val>
                                        </p:tav>
                                      </p:tavLst>
                                    </p:anim>
                                    <p:anim calcmode="lin" valueType="num">
                                      <p:cBhvr additive="base">
                                        <p:cTn id="18"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46"/>
                                        </p:tgtEl>
                                        <p:attrNameLst>
                                          <p:attrName>style.visibility</p:attrName>
                                        </p:attrNameLst>
                                      </p:cBhvr>
                                      <p:to>
                                        <p:strVal val="visible"/>
                                      </p:to>
                                    </p:set>
                                    <p:anim calcmode="lin" valueType="num">
                                      <p:cBhvr additive="base">
                                        <p:cTn id="23" dur="500" fill="hold"/>
                                        <p:tgtEl>
                                          <p:spTgt spid="46"/>
                                        </p:tgtEl>
                                        <p:attrNameLst>
                                          <p:attrName>ppt_x</p:attrName>
                                        </p:attrNameLst>
                                      </p:cBhvr>
                                      <p:tavLst>
                                        <p:tav tm="0">
                                          <p:val>
                                            <p:strVal val="#ppt_x"/>
                                          </p:val>
                                        </p:tav>
                                        <p:tav tm="100000">
                                          <p:val>
                                            <p:strVal val="#ppt_x"/>
                                          </p:val>
                                        </p:tav>
                                      </p:tavLst>
                                    </p:anim>
                                    <p:anim calcmode="lin" valueType="num">
                                      <p:cBhvr additive="base">
                                        <p:cTn id="24" dur="500" fill="hold"/>
                                        <p:tgtEl>
                                          <p:spTgt spid="46"/>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1" fill="hold" grpId="0" nodeType="clickEffect">
                                  <p:stCondLst>
                                    <p:cond delay="0"/>
                                  </p:stCondLst>
                                  <p:childTnLst>
                                    <p:set>
                                      <p:cBhvr>
                                        <p:cTn id="28" dur="1" fill="hold">
                                          <p:stCondLst>
                                            <p:cond delay="0"/>
                                          </p:stCondLst>
                                        </p:cTn>
                                        <p:tgtEl>
                                          <p:spTgt spid="49"/>
                                        </p:tgtEl>
                                        <p:attrNameLst>
                                          <p:attrName>style.visibility</p:attrName>
                                        </p:attrNameLst>
                                      </p:cBhvr>
                                      <p:to>
                                        <p:strVal val="visible"/>
                                      </p:to>
                                    </p:set>
                                    <p:anim calcmode="lin" valueType="num">
                                      <p:cBhvr additive="base">
                                        <p:cTn id="29" dur="500" fill="hold"/>
                                        <p:tgtEl>
                                          <p:spTgt spid="49"/>
                                        </p:tgtEl>
                                        <p:attrNameLst>
                                          <p:attrName>ppt_x</p:attrName>
                                        </p:attrNameLst>
                                      </p:cBhvr>
                                      <p:tavLst>
                                        <p:tav tm="0">
                                          <p:val>
                                            <p:strVal val="#ppt_x"/>
                                          </p:val>
                                        </p:tav>
                                        <p:tav tm="100000">
                                          <p:val>
                                            <p:strVal val="#ppt_x"/>
                                          </p:val>
                                        </p:tav>
                                      </p:tavLst>
                                    </p:anim>
                                    <p:anim calcmode="lin" valueType="num">
                                      <p:cBhvr additive="base">
                                        <p:cTn id="30" dur="500" fill="hold"/>
                                        <p:tgtEl>
                                          <p:spTgt spid="49"/>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ppt_x"/>
                                          </p:val>
                                        </p:tav>
                                        <p:tav tm="100000">
                                          <p:val>
                                            <p:strVal val="#ppt_x"/>
                                          </p:val>
                                        </p:tav>
                                      </p:tavLst>
                                    </p:anim>
                                    <p:anim calcmode="lin" valueType="num">
                                      <p:cBhvr additive="base">
                                        <p:cTn id="3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anim calcmode="lin" valueType="num">
                                      <p:cBhvr additive="base">
                                        <p:cTn id="41" dur="500" fill="hold"/>
                                        <p:tgtEl>
                                          <p:spTgt spid="44"/>
                                        </p:tgtEl>
                                        <p:attrNameLst>
                                          <p:attrName>ppt_x</p:attrName>
                                        </p:attrNameLst>
                                      </p:cBhvr>
                                      <p:tavLst>
                                        <p:tav tm="0">
                                          <p:val>
                                            <p:strVal val="#ppt_x"/>
                                          </p:val>
                                        </p:tav>
                                        <p:tav tm="100000">
                                          <p:val>
                                            <p:strVal val="#ppt_x"/>
                                          </p:val>
                                        </p:tav>
                                      </p:tavLst>
                                    </p:anim>
                                    <p:anim calcmode="lin" valueType="num">
                                      <p:cBhvr additive="base">
                                        <p:cTn id="4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500" fill="hold"/>
                                        <p:tgtEl>
                                          <p:spTgt spid="45"/>
                                        </p:tgtEl>
                                        <p:attrNameLst>
                                          <p:attrName>ppt_x</p:attrName>
                                        </p:attrNameLst>
                                      </p:cBhvr>
                                      <p:tavLst>
                                        <p:tav tm="0">
                                          <p:val>
                                            <p:strVal val="#ppt_x"/>
                                          </p:val>
                                        </p:tav>
                                        <p:tav tm="100000">
                                          <p:val>
                                            <p:strVal val="#ppt_x"/>
                                          </p:val>
                                        </p:tav>
                                      </p:tavLst>
                                    </p:anim>
                                    <p:anim calcmode="lin" valueType="num">
                                      <p:cBhvr additive="base">
                                        <p:cTn id="4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 calcmode="lin" valueType="num">
                                      <p:cBhvr additive="base">
                                        <p:cTn id="53" dur="500" fill="hold"/>
                                        <p:tgtEl>
                                          <p:spTgt spid="27"/>
                                        </p:tgtEl>
                                        <p:attrNameLst>
                                          <p:attrName>ppt_x</p:attrName>
                                        </p:attrNameLst>
                                      </p:cBhvr>
                                      <p:tavLst>
                                        <p:tav tm="0">
                                          <p:val>
                                            <p:strVal val="#ppt_x"/>
                                          </p:val>
                                        </p:tav>
                                        <p:tav tm="100000">
                                          <p:val>
                                            <p:strVal val="#ppt_x"/>
                                          </p:val>
                                        </p:tav>
                                      </p:tavLst>
                                    </p:anim>
                                    <p:anim calcmode="lin" valueType="num">
                                      <p:cBhvr additive="base">
                                        <p:cTn id="5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51"/>
                                        </p:tgtEl>
                                        <p:attrNameLst>
                                          <p:attrName>style.visibility</p:attrName>
                                        </p:attrNameLst>
                                      </p:cBhvr>
                                      <p:to>
                                        <p:strVal val="visible"/>
                                      </p:to>
                                    </p:set>
                                    <p:anim calcmode="lin" valueType="num">
                                      <p:cBhvr additive="base">
                                        <p:cTn id="59" dur="500" fill="hold"/>
                                        <p:tgtEl>
                                          <p:spTgt spid="51"/>
                                        </p:tgtEl>
                                        <p:attrNameLst>
                                          <p:attrName>ppt_x</p:attrName>
                                        </p:attrNameLst>
                                      </p:cBhvr>
                                      <p:tavLst>
                                        <p:tav tm="0">
                                          <p:val>
                                            <p:strVal val="#ppt_x"/>
                                          </p:val>
                                        </p:tav>
                                        <p:tav tm="100000">
                                          <p:val>
                                            <p:strVal val="#ppt_x"/>
                                          </p:val>
                                        </p:tav>
                                      </p:tavLst>
                                    </p:anim>
                                    <p:anim calcmode="lin" valueType="num">
                                      <p:cBhvr additive="base">
                                        <p:cTn id="60"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8"/>
                                        </p:tgtEl>
                                        <p:attrNameLst>
                                          <p:attrName>style.visibility</p:attrName>
                                        </p:attrNameLst>
                                      </p:cBhvr>
                                      <p:to>
                                        <p:strVal val="visible"/>
                                      </p:to>
                                    </p:set>
                                    <p:anim calcmode="lin" valueType="num">
                                      <p:cBhvr additive="base">
                                        <p:cTn id="65" dur="500" fill="hold"/>
                                        <p:tgtEl>
                                          <p:spTgt spid="48"/>
                                        </p:tgtEl>
                                        <p:attrNameLst>
                                          <p:attrName>ppt_x</p:attrName>
                                        </p:attrNameLst>
                                      </p:cBhvr>
                                      <p:tavLst>
                                        <p:tav tm="0">
                                          <p:val>
                                            <p:strVal val="#ppt_x"/>
                                          </p:val>
                                        </p:tav>
                                        <p:tav tm="100000">
                                          <p:val>
                                            <p:strVal val="#ppt_x"/>
                                          </p:val>
                                        </p:tav>
                                      </p:tavLst>
                                    </p:anim>
                                    <p:anim calcmode="lin" valueType="num">
                                      <p:cBhvr additive="base">
                                        <p:cTn id="6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6" presetClass="entr" presetSubtype="26"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barn(inHorizontal)">
                                      <p:cBhvr>
                                        <p:cTn id="71" dur="500"/>
                                        <p:tgtEl>
                                          <p:spTgt spid="24"/>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1" fill="hold" nodeType="clickEffect">
                                  <p:stCondLst>
                                    <p:cond delay="0"/>
                                  </p:stCondLst>
                                  <p:childTnLst>
                                    <p:set>
                                      <p:cBhvr>
                                        <p:cTn id="75" dur="1" fill="hold">
                                          <p:stCondLst>
                                            <p:cond delay="0"/>
                                          </p:stCondLst>
                                        </p:cTn>
                                        <p:tgtEl>
                                          <p:spTgt spid="50"/>
                                        </p:tgtEl>
                                        <p:attrNameLst>
                                          <p:attrName>style.visibility</p:attrName>
                                        </p:attrNameLst>
                                      </p:cBhvr>
                                      <p:to>
                                        <p:strVal val="visible"/>
                                      </p:to>
                                    </p:set>
                                    <p:anim calcmode="lin" valueType="num">
                                      <p:cBhvr additive="base">
                                        <p:cTn id="76" dur="500" fill="hold"/>
                                        <p:tgtEl>
                                          <p:spTgt spid="50"/>
                                        </p:tgtEl>
                                        <p:attrNameLst>
                                          <p:attrName>ppt_x</p:attrName>
                                        </p:attrNameLst>
                                      </p:cBhvr>
                                      <p:tavLst>
                                        <p:tav tm="0">
                                          <p:val>
                                            <p:strVal val="#ppt_x"/>
                                          </p:val>
                                        </p:tav>
                                        <p:tav tm="100000">
                                          <p:val>
                                            <p:strVal val="#ppt_x"/>
                                          </p:val>
                                        </p:tav>
                                      </p:tavLst>
                                    </p:anim>
                                    <p:anim calcmode="lin" valueType="num">
                                      <p:cBhvr additive="base">
                                        <p:cTn id="77" dur="500" fill="hold"/>
                                        <p:tgtEl>
                                          <p:spTgt spid="50"/>
                                        </p:tgtEl>
                                        <p:attrNameLst>
                                          <p:attrName>ppt_y</p:attrName>
                                        </p:attrNameLst>
                                      </p:cBhvr>
                                      <p:tavLst>
                                        <p:tav tm="0">
                                          <p:val>
                                            <p:strVal val="0-#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47"/>
                                        </p:tgtEl>
                                        <p:attrNameLst>
                                          <p:attrName>style.visibility</p:attrName>
                                        </p:attrNameLst>
                                      </p:cBhvr>
                                      <p:to>
                                        <p:strVal val="visible"/>
                                      </p:to>
                                    </p:set>
                                    <p:animEffect transition="in" filter="box(in)">
                                      <p:cBhvr>
                                        <p:cTn id="8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animBg="1"/>
      <p:bldP spid="44" grpId="0" animBg="1"/>
      <p:bldP spid="47" grpId="0" animBg="1"/>
      <p:bldP spid="49" grpId="0" animBg="1"/>
      <p:bldP spid="51" grpId="0" animBg="1"/>
      <p:bldP spid="5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Object 2">
            <a:extLst>
              <a:ext uri="{FF2B5EF4-FFF2-40B4-BE49-F238E27FC236}">
                <a16:creationId xmlns="" xmlns:a16="http://schemas.microsoft.com/office/drawing/2014/main" id="{B9C90967-FBCD-41A5-BB72-4F00D77AD7D3}"/>
              </a:ext>
            </a:extLst>
          </p:cNvPr>
          <p:cNvGraphicFramePr>
            <a:graphicFrameLocks noChangeAspect="1"/>
          </p:cNvGraphicFramePr>
          <p:nvPr>
            <p:extLst>
              <p:ext uri="{D42A27DB-BD31-4B8C-83A1-F6EECF244321}">
                <p14:modId xmlns:p14="http://schemas.microsoft.com/office/powerpoint/2010/main" val="3806882759"/>
              </p:ext>
            </p:extLst>
          </p:nvPr>
        </p:nvGraphicFramePr>
        <p:xfrm>
          <a:off x="3185618" y="2089311"/>
          <a:ext cx="7726363" cy="3263900"/>
        </p:xfrm>
        <a:graphic>
          <a:graphicData uri="http://schemas.openxmlformats.org/presentationml/2006/ole">
            <mc:AlternateContent xmlns:mc="http://schemas.openxmlformats.org/markup-compatibility/2006">
              <mc:Choice xmlns:v="urn:schemas-microsoft-com:vml" Requires="v">
                <p:oleObj spid="_x0000_s13330" name="Visio" r:id="rId3" imgW="5553093" imgH="2343189" progId="Visio.Drawing.11">
                  <p:embed/>
                </p:oleObj>
              </mc:Choice>
              <mc:Fallback>
                <p:oleObj name="Visio" r:id="rId3" imgW="5553093" imgH="2343189" progId="Visio.Drawing.11">
                  <p:embed/>
                  <p:pic>
                    <p:nvPicPr>
                      <p:cNvPr id="84994" name="Object 2"/>
                      <p:cNvPicPr>
                        <a:picLocks noChangeAspect="1" noChangeArrowheads="1"/>
                      </p:cNvPicPr>
                      <p:nvPr/>
                    </p:nvPicPr>
                    <p:blipFill>
                      <a:blip r:embed="rId4"/>
                      <a:srcRect/>
                      <a:stretch>
                        <a:fillRect/>
                      </a:stretch>
                    </p:blipFill>
                    <p:spPr bwMode="auto">
                      <a:xfrm>
                        <a:off x="3185618" y="2089311"/>
                        <a:ext cx="7726363" cy="326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Text Box 3">
            <a:extLst>
              <a:ext uri="{FF2B5EF4-FFF2-40B4-BE49-F238E27FC236}">
                <a16:creationId xmlns="" xmlns:a16="http://schemas.microsoft.com/office/drawing/2014/main" id="{B3C3037C-A82A-4E04-9050-2FFE1C7DB511}"/>
              </a:ext>
            </a:extLst>
          </p:cNvPr>
          <p:cNvSpPr txBox="1">
            <a:spLocks noChangeArrowheads="1"/>
          </p:cNvSpPr>
          <p:nvPr/>
        </p:nvSpPr>
        <p:spPr bwMode="auto">
          <a:xfrm>
            <a:off x="1319225" y="3177859"/>
            <a:ext cx="1955799" cy="7302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含有直流分量的交流信号</a:t>
            </a:r>
            <a:endParaRPr lang="zh-CN" altLang="en-US" sz="6600" b="1" dirty="0">
              <a:latin typeface="微软雅黑" pitchFamily="34" charset="-122"/>
              <a:ea typeface="微软雅黑" pitchFamily="34" charset="-122"/>
            </a:endParaRPr>
          </a:p>
        </p:txBody>
      </p:sp>
      <p:sp>
        <p:nvSpPr>
          <p:cNvPr id="32" name="Text Box 5">
            <a:extLst>
              <a:ext uri="{FF2B5EF4-FFF2-40B4-BE49-F238E27FC236}">
                <a16:creationId xmlns="" xmlns:a16="http://schemas.microsoft.com/office/drawing/2014/main" id="{0A92ADE0-986F-4171-8B61-D4F312B608EC}"/>
              </a:ext>
            </a:extLst>
          </p:cNvPr>
          <p:cNvSpPr txBox="1">
            <a:spLocks noChangeArrowheads="1"/>
          </p:cNvSpPr>
          <p:nvPr/>
        </p:nvSpPr>
        <p:spPr bwMode="auto">
          <a:xfrm>
            <a:off x="6775445" y="5012502"/>
            <a:ext cx="1200150" cy="57785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FF0000"/>
                </a:solidFill>
                <a:latin typeface="华文琥珀" pitchFamily="2" charset="-122"/>
                <a:ea typeface="华文琥珀" pitchFamily="2" charset="-122"/>
              </a:rPr>
              <a:t>低电平</a:t>
            </a:r>
            <a:endParaRPr lang="zh-CN" altLang="en-US" sz="4400" b="1">
              <a:solidFill>
                <a:srgbClr val="FF0000"/>
              </a:solidFill>
              <a:latin typeface="华文琥珀" pitchFamily="2" charset="-122"/>
              <a:ea typeface="华文琥珀" pitchFamily="2" charset="-122"/>
            </a:endParaRPr>
          </a:p>
        </p:txBody>
      </p:sp>
      <p:sp>
        <p:nvSpPr>
          <p:cNvPr id="34" name="Text Box 6">
            <a:extLst>
              <a:ext uri="{FF2B5EF4-FFF2-40B4-BE49-F238E27FC236}">
                <a16:creationId xmlns="" xmlns:a16="http://schemas.microsoft.com/office/drawing/2014/main" id="{A67983BC-5368-42D8-95C1-0ED3F80A58C2}"/>
              </a:ext>
            </a:extLst>
          </p:cNvPr>
          <p:cNvSpPr txBox="1">
            <a:spLocks noChangeArrowheads="1"/>
          </p:cNvSpPr>
          <p:nvPr/>
        </p:nvSpPr>
        <p:spPr bwMode="auto">
          <a:xfrm>
            <a:off x="5175245" y="1856552"/>
            <a:ext cx="1066800" cy="5334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FF0000"/>
                </a:solidFill>
                <a:latin typeface="华文琥珀" pitchFamily="2" charset="-122"/>
                <a:ea typeface="华文琥珀" pitchFamily="2" charset="-122"/>
              </a:rPr>
              <a:t>高电平</a:t>
            </a:r>
            <a:endParaRPr lang="zh-CN" altLang="en-US" sz="4400" b="1">
              <a:solidFill>
                <a:srgbClr val="FF0000"/>
              </a:solidFill>
              <a:latin typeface="华文琥珀" pitchFamily="2" charset="-122"/>
              <a:ea typeface="华文琥珀" pitchFamily="2" charset="-122"/>
            </a:endParaRPr>
          </a:p>
        </p:txBody>
      </p:sp>
      <p:sp>
        <p:nvSpPr>
          <p:cNvPr id="35" name="Text Box 7">
            <a:extLst>
              <a:ext uri="{FF2B5EF4-FFF2-40B4-BE49-F238E27FC236}">
                <a16:creationId xmlns="" xmlns:a16="http://schemas.microsoft.com/office/drawing/2014/main" id="{74E98070-2864-4731-8508-A113FE2C95ED}"/>
              </a:ext>
            </a:extLst>
          </p:cNvPr>
          <p:cNvSpPr txBox="1">
            <a:spLocks noChangeArrowheads="1"/>
          </p:cNvSpPr>
          <p:nvPr/>
        </p:nvSpPr>
        <p:spPr bwMode="auto">
          <a:xfrm>
            <a:off x="11673980" y="3123376"/>
            <a:ext cx="971550" cy="8445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三极管截止</a:t>
            </a:r>
            <a:endParaRPr lang="zh-CN" altLang="en-US" sz="4400" b="1" dirty="0">
              <a:latin typeface="微软雅黑" pitchFamily="34" charset="-122"/>
              <a:ea typeface="微软雅黑" pitchFamily="34" charset="-122"/>
            </a:endParaRPr>
          </a:p>
        </p:txBody>
      </p:sp>
      <p:sp>
        <p:nvSpPr>
          <p:cNvPr id="36" name="Text Box 8">
            <a:extLst>
              <a:ext uri="{FF2B5EF4-FFF2-40B4-BE49-F238E27FC236}">
                <a16:creationId xmlns="" xmlns:a16="http://schemas.microsoft.com/office/drawing/2014/main" id="{FE8CFBD9-5DBB-482A-8EDB-01B55379B2BE}"/>
              </a:ext>
            </a:extLst>
          </p:cNvPr>
          <p:cNvSpPr txBox="1">
            <a:spLocks noChangeArrowheads="1"/>
          </p:cNvSpPr>
          <p:nvPr/>
        </p:nvSpPr>
        <p:spPr bwMode="auto">
          <a:xfrm>
            <a:off x="10020295" y="5501452"/>
            <a:ext cx="977900" cy="755650"/>
          </a:xfrm>
          <a:prstGeom prst="rect">
            <a:avLst/>
          </a:prstGeom>
          <a:solidFill>
            <a:srgbClr val="FFFFFF"/>
          </a:solidFill>
          <a:ln w="12700">
            <a:solidFill>
              <a:srgbClr val="FFFFFF"/>
            </a:solidFill>
            <a:miter lim="800000"/>
            <a:headEnd/>
            <a:tailEnd/>
          </a:ln>
        </p:spPr>
        <p:txBody>
          <a:bodyPr lIns="0" tIns="0" rIns="0" bIns="0"/>
          <a:lstStyle/>
          <a:p>
            <a:pPr algn="ctr" defTabSz="914400"/>
            <a:r>
              <a:rPr lang="en-US" altLang="zh-CN" sz="2400" b="1">
                <a:latin typeface="Times New Roman" pitchFamily="18" charset="0"/>
                <a:ea typeface="微软雅黑" pitchFamily="34" charset="-122"/>
                <a:cs typeface="Times New Roman" pitchFamily="18" charset="0"/>
              </a:rPr>
              <a:t>LED</a:t>
            </a:r>
            <a:r>
              <a:rPr lang="zh-CN" altLang="en-US" sz="2400" b="1">
                <a:latin typeface="Times New Roman" pitchFamily="18" charset="0"/>
                <a:ea typeface="微软雅黑" pitchFamily="34" charset="-122"/>
                <a:cs typeface="Times New Roman" pitchFamily="18" charset="0"/>
              </a:rPr>
              <a:t>不发光</a:t>
            </a:r>
            <a:endParaRPr lang="zh-CN" altLang="en-US" sz="4400" b="1">
              <a:latin typeface="Times New Roman" pitchFamily="18" charset="0"/>
              <a:ea typeface="微软雅黑" pitchFamily="34" charset="-122"/>
              <a:cs typeface="Times New Roman" pitchFamily="18" charset="0"/>
            </a:endParaRPr>
          </a:p>
        </p:txBody>
      </p:sp>
      <p:sp>
        <p:nvSpPr>
          <p:cNvPr id="37" name="Text Box 9">
            <a:extLst>
              <a:ext uri="{FF2B5EF4-FFF2-40B4-BE49-F238E27FC236}">
                <a16:creationId xmlns="" xmlns:a16="http://schemas.microsoft.com/office/drawing/2014/main" id="{7C673DFF-494C-45ED-9BCB-CBBDF719819A}"/>
              </a:ext>
            </a:extLst>
          </p:cNvPr>
          <p:cNvSpPr txBox="1">
            <a:spLocks noChangeArrowheads="1"/>
          </p:cNvSpPr>
          <p:nvPr/>
        </p:nvSpPr>
        <p:spPr bwMode="auto">
          <a:xfrm>
            <a:off x="1664667" y="4523551"/>
            <a:ext cx="1252419" cy="4445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有声音</a:t>
            </a:r>
            <a:endParaRPr lang="zh-CN" altLang="en-US" sz="6600" b="1" dirty="0">
              <a:latin typeface="微软雅黑" pitchFamily="34" charset="-122"/>
              <a:ea typeface="微软雅黑" pitchFamily="34" charset="-122"/>
            </a:endParaRPr>
          </a:p>
        </p:txBody>
      </p:sp>
      <p:cxnSp>
        <p:nvCxnSpPr>
          <p:cNvPr id="38" name="AutoShape 10">
            <a:extLst>
              <a:ext uri="{FF2B5EF4-FFF2-40B4-BE49-F238E27FC236}">
                <a16:creationId xmlns="" xmlns:a16="http://schemas.microsoft.com/office/drawing/2014/main" id="{CCEF8C8B-41E5-47EF-82BB-725176FD7567}"/>
              </a:ext>
            </a:extLst>
          </p:cNvPr>
          <p:cNvCxnSpPr>
            <a:cxnSpLocks noChangeShapeType="1"/>
          </p:cNvCxnSpPr>
          <p:nvPr/>
        </p:nvCxnSpPr>
        <p:spPr bwMode="auto">
          <a:xfrm>
            <a:off x="2863845" y="4745802"/>
            <a:ext cx="444500" cy="1588"/>
          </a:xfrm>
          <a:prstGeom prst="straightConnector1">
            <a:avLst/>
          </a:prstGeom>
          <a:noFill/>
          <a:ln w="38100">
            <a:solidFill>
              <a:srgbClr val="FF33CC"/>
            </a:solidFill>
            <a:round/>
            <a:headEnd/>
            <a:tailEnd type="arrow" w="sm" len="lg"/>
          </a:ln>
        </p:spPr>
      </p:cxnSp>
      <p:cxnSp>
        <p:nvCxnSpPr>
          <p:cNvPr id="39" name="AutoShape 11">
            <a:extLst>
              <a:ext uri="{FF2B5EF4-FFF2-40B4-BE49-F238E27FC236}">
                <a16:creationId xmlns="" xmlns:a16="http://schemas.microsoft.com/office/drawing/2014/main" id="{C6436329-1FDC-4E7A-82D3-2F0A379C693E}"/>
              </a:ext>
            </a:extLst>
          </p:cNvPr>
          <p:cNvCxnSpPr>
            <a:cxnSpLocks noChangeShapeType="1"/>
          </p:cNvCxnSpPr>
          <p:nvPr/>
        </p:nvCxnSpPr>
        <p:spPr bwMode="auto">
          <a:xfrm rot="5400000" flipH="1" flipV="1">
            <a:off x="5275258" y="4956939"/>
            <a:ext cx="977900" cy="22225"/>
          </a:xfrm>
          <a:prstGeom prst="straightConnector1">
            <a:avLst/>
          </a:prstGeom>
          <a:noFill/>
          <a:ln w="34925">
            <a:solidFill>
              <a:srgbClr val="FF0000"/>
            </a:solidFill>
            <a:round/>
            <a:headEnd/>
            <a:tailEnd type="arrow" w="sm" len="lg"/>
          </a:ln>
        </p:spPr>
      </p:cxnSp>
      <p:sp>
        <p:nvSpPr>
          <p:cNvPr id="41" name="Text Box 12">
            <a:extLst>
              <a:ext uri="{FF2B5EF4-FFF2-40B4-BE49-F238E27FC236}">
                <a16:creationId xmlns="" xmlns:a16="http://schemas.microsoft.com/office/drawing/2014/main" id="{939C5186-0094-46A9-9F26-B8B2DE6A03F8}"/>
              </a:ext>
            </a:extLst>
          </p:cNvPr>
          <p:cNvSpPr txBox="1">
            <a:spLocks noChangeArrowheads="1"/>
          </p:cNvSpPr>
          <p:nvPr/>
        </p:nvSpPr>
        <p:spPr bwMode="auto">
          <a:xfrm>
            <a:off x="4508495" y="5368102"/>
            <a:ext cx="235585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0000FF"/>
                </a:solidFill>
                <a:latin typeface="微软雅黑" pitchFamily="34" charset="-122"/>
                <a:ea typeface="微软雅黑" pitchFamily="34" charset="-122"/>
              </a:rPr>
              <a:t>光线较强，光敏电阻阻值较小</a:t>
            </a:r>
            <a:endParaRPr lang="zh-CN" altLang="en-US" sz="4400" b="1">
              <a:latin typeface="微软雅黑" pitchFamily="34" charset="-122"/>
              <a:ea typeface="微软雅黑" pitchFamily="34" charset="-122"/>
            </a:endParaRPr>
          </a:p>
        </p:txBody>
      </p:sp>
      <p:grpSp>
        <p:nvGrpSpPr>
          <p:cNvPr id="42" name="组合 52">
            <a:extLst>
              <a:ext uri="{FF2B5EF4-FFF2-40B4-BE49-F238E27FC236}">
                <a16:creationId xmlns="" xmlns:a16="http://schemas.microsoft.com/office/drawing/2014/main" id="{4A701B97-77B0-4537-9F5C-E108DEE795BF}"/>
              </a:ext>
            </a:extLst>
          </p:cNvPr>
          <p:cNvGrpSpPr>
            <a:grpSpLocks/>
          </p:cNvGrpSpPr>
          <p:nvPr/>
        </p:nvGrpSpPr>
        <p:grpSpPr bwMode="auto">
          <a:xfrm>
            <a:off x="5975345" y="1100902"/>
            <a:ext cx="2889250" cy="2271713"/>
            <a:chOff x="3683000" y="762000"/>
            <a:chExt cx="2889250" cy="2271711"/>
          </a:xfrm>
        </p:grpSpPr>
        <p:sp>
          <p:nvSpPr>
            <p:cNvPr id="43" name="Text Box 4">
              <a:extLst>
                <a:ext uri="{FF2B5EF4-FFF2-40B4-BE49-F238E27FC236}">
                  <a16:creationId xmlns="" xmlns:a16="http://schemas.microsoft.com/office/drawing/2014/main" id="{F24FF45F-7EF2-434B-91D9-0BF86083CD49}"/>
                </a:ext>
              </a:extLst>
            </p:cNvPr>
            <p:cNvSpPr txBox="1">
              <a:spLocks noChangeArrowheads="1"/>
            </p:cNvSpPr>
            <p:nvPr/>
          </p:nvSpPr>
          <p:spPr bwMode="auto">
            <a:xfrm>
              <a:off x="3683000" y="762000"/>
              <a:ext cx="2889250" cy="7556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0000FF"/>
                  </a:solidFill>
                  <a:latin typeface="微软雅黑" pitchFamily="34" charset="-122"/>
                  <a:ea typeface="微软雅黑" pitchFamily="34" charset="-122"/>
                </a:rPr>
                <a:t>输出高电平，不能触发后续的单稳态电路</a:t>
              </a:r>
              <a:endParaRPr lang="zh-CN" altLang="en-US" sz="4400" b="1">
                <a:latin typeface="微软雅黑" pitchFamily="34" charset="-122"/>
                <a:ea typeface="微软雅黑" pitchFamily="34" charset="-122"/>
              </a:endParaRPr>
            </a:p>
          </p:txBody>
        </p:sp>
        <p:cxnSp>
          <p:nvCxnSpPr>
            <p:cNvPr id="53" name="AutoShape 13">
              <a:extLst>
                <a:ext uri="{FF2B5EF4-FFF2-40B4-BE49-F238E27FC236}">
                  <a16:creationId xmlns="" xmlns:a16="http://schemas.microsoft.com/office/drawing/2014/main" id="{8C692948-F74A-4776-BB96-3F5C91C91DF3}"/>
                </a:ext>
              </a:extLst>
            </p:cNvPr>
            <p:cNvCxnSpPr>
              <a:cxnSpLocks noChangeShapeType="1"/>
            </p:cNvCxnSpPr>
            <p:nvPr/>
          </p:nvCxnSpPr>
          <p:spPr bwMode="auto">
            <a:xfrm rot="16200000" flipH="1">
              <a:off x="4348956" y="2274094"/>
              <a:ext cx="1516061" cy="3173"/>
            </a:xfrm>
            <a:prstGeom prst="straightConnector1">
              <a:avLst/>
            </a:prstGeom>
            <a:noFill/>
            <a:ln w="38100">
              <a:solidFill>
                <a:srgbClr val="FF33CC"/>
              </a:solidFill>
              <a:round/>
              <a:headEnd/>
              <a:tailEnd type="arrow" w="sm" len="lg"/>
            </a:ln>
          </p:spPr>
        </p:cxnSp>
      </p:grpSp>
      <p:cxnSp>
        <p:nvCxnSpPr>
          <p:cNvPr id="54" name="AutoShape 14">
            <a:extLst>
              <a:ext uri="{FF2B5EF4-FFF2-40B4-BE49-F238E27FC236}">
                <a16:creationId xmlns="" xmlns:a16="http://schemas.microsoft.com/office/drawing/2014/main" id="{48144661-E760-472B-AE0A-D78A6BF789FC}"/>
              </a:ext>
            </a:extLst>
          </p:cNvPr>
          <p:cNvCxnSpPr>
            <a:cxnSpLocks noChangeShapeType="1"/>
          </p:cNvCxnSpPr>
          <p:nvPr/>
        </p:nvCxnSpPr>
        <p:spPr bwMode="auto">
          <a:xfrm rot="5400000" flipH="1" flipV="1">
            <a:off x="10074270" y="5047427"/>
            <a:ext cx="889000" cy="19050"/>
          </a:xfrm>
          <a:prstGeom prst="straightConnector1">
            <a:avLst/>
          </a:prstGeom>
          <a:noFill/>
          <a:ln w="38100">
            <a:solidFill>
              <a:srgbClr val="FF33CC"/>
            </a:solidFill>
            <a:round/>
            <a:headEnd/>
            <a:tailEnd type="arrow" w="sm" len="lg"/>
          </a:ln>
        </p:spPr>
      </p:cxnSp>
      <p:cxnSp>
        <p:nvCxnSpPr>
          <p:cNvPr id="55" name="AutoShape 15">
            <a:extLst>
              <a:ext uri="{FF2B5EF4-FFF2-40B4-BE49-F238E27FC236}">
                <a16:creationId xmlns="" xmlns:a16="http://schemas.microsoft.com/office/drawing/2014/main" id="{563B101F-9878-4D79-A3C8-5EB0F39DEC5F}"/>
              </a:ext>
            </a:extLst>
          </p:cNvPr>
          <p:cNvCxnSpPr>
            <a:cxnSpLocks noChangeShapeType="1"/>
          </p:cNvCxnSpPr>
          <p:nvPr/>
        </p:nvCxnSpPr>
        <p:spPr bwMode="auto">
          <a:xfrm flipH="1" flipV="1">
            <a:off x="10198095" y="3412303"/>
            <a:ext cx="1435000" cy="9525"/>
          </a:xfrm>
          <a:prstGeom prst="straightConnector1">
            <a:avLst/>
          </a:prstGeom>
          <a:noFill/>
          <a:ln w="38100">
            <a:solidFill>
              <a:srgbClr val="FF33CC"/>
            </a:solidFill>
            <a:round/>
            <a:headEnd/>
            <a:tailEnd type="arrow" w="sm" len="lg"/>
          </a:ln>
        </p:spPr>
      </p:cxnSp>
      <p:cxnSp>
        <p:nvCxnSpPr>
          <p:cNvPr id="57" name="AutoShape 16">
            <a:extLst>
              <a:ext uri="{FF2B5EF4-FFF2-40B4-BE49-F238E27FC236}">
                <a16:creationId xmlns="" xmlns:a16="http://schemas.microsoft.com/office/drawing/2014/main" id="{62DF9F82-7FD3-412F-B0BD-9FA7EBEDF807}"/>
              </a:ext>
            </a:extLst>
          </p:cNvPr>
          <p:cNvCxnSpPr>
            <a:cxnSpLocks noChangeShapeType="1"/>
          </p:cNvCxnSpPr>
          <p:nvPr/>
        </p:nvCxnSpPr>
        <p:spPr bwMode="auto">
          <a:xfrm rot="5400000">
            <a:off x="9218607" y="2836040"/>
            <a:ext cx="1071563" cy="1588"/>
          </a:xfrm>
          <a:prstGeom prst="straightConnector1">
            <a:avLst/>
          </a:prstGeom>
          <a:noFill/>
          <a:ln w="38100">
            <a:solidFill>
              <a:srgbClr val="FF33CC"/>
            </a:solidFill>
            <a:round/>
            <a:headEnd/>
            <a:tailEnd type="arrow" w="sm" len="lg"/>
          </a:ln>
        </p:spPr>
      </p:cxnSp>
      <p:sp>
        <p:nvSpPr>
          <p:cNvPr id="58" name="Text Box 17">
            <a:extLst>
              <a:ext uri="{FF2B5EF4-FFF2-40B4-BE49-F238E27FC236}">
                <a16:creationId xmlns="" xmlns:a16="http://schemas.microsoft.com/office/drawing/2014/main" id="{D28B0A57-5256-4E29-AA38-44DEF9AFD92A}"/>
              </a:ext>
            </a:extLst>
          </p:cNvPr>
          <p:cNvSpPr txBox="1">
            <a:spLocks noChangeArrowheads="1"/>
          </p:cNvSpPr>
          <p:nvPr/>
        </p:nvSpPr>
        <p:spPr bwMode="auto">
          <a:xfrm>
            <a:off x="8820145" y="1723202"/>
            <a:ext cx="1911350" cy="5334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dirty="0">
                <a:solidFill>
                  <a:srgbClr val="0066FF"/>
                </a:solidFill>
                <a:latin typeface="华文琥珀" pitchFamily="2" charset="-122"/>
                <a:ea typeface="华文琥珀" pitchFamily="2" charset="-122"/>
              </a:rPr>
              <a:t>输出低电平</a:t>
            </a:r>
            <a:endParaRPr lang="zh-CN" altLang="en-US" sz="4400" b="1" dirty="0">
              <a:solidFill>
                <a:srgbClr val="0066FF"/>
              </a:solidFill>
              <a:latin typeface="华文琥珀" pitchFamily="2" charset="-122"/>
              <a:ea typeface="华文琥珀" pitchFamily="2" charset="-122"/>
            </a:endParaRPr>
          </a:p>
        </p:txBody>
      </p:sp>
      <p:cxnSp>
        <p:nvCxnSpPr>
          <p:cNvPr id="59" name="AutoShape 18">
            <a:extLst>
              <a:ext uri="{FF2B5EF4-FFF2-40B4-BE49-F238E27FC236}">
                <a16:creationId xmlns="" xmlns:a16="http://schemas.microsoft.com/office/drawing/2014/main" id="{F455E484-04E5-4C0A-BAD7-C9F19ACA8651}"/>
              </a:ext>
            </a:extLst>
          </p:cNvPr>
          <p:cNvCxnSpPr>
            <a:cxnSpLocks noChangeShapeType="1"/>
          </p:cNvCxnSpPr>
          <p:nvPr/>
        </p:nvCxnSpPr>
        <p:spPr bwMode="auto">
          <a:xfrm rot="5400000">
            <a:off x="3599651" y="2765396"/>
            <a:ext cx="1773238" cy="44450"/>
          </a:xfrm>
          <a:prstGeom prst="straightConnector1">
            <a:avLst/>
          </a:prstGeom>
          <a:noFill/>
          <a:ln w="34925">
            <a:solidFill>
              <a:srgbClr val="FF33CC"/>
            </a:solidFill>
            <a:round/>
            <a:headEnd/>
            <a:tailEnd type="arrow" w="sm" len="lg"/>
          </a:ln>
        </p:spPr>
      </p:cxnSp>
      <p:sp>
        <p:nvSpPr>
          <p:cNvPr id="60" name="Text Box 19">
            <a:extLst>
              <a:ext uri="{FF2B5EF4-FFF2-40B4-BE49-F238E27FC236}">
                <a16:creationId xmlns="" xmlns:a16="http://schemas.microsoft.com/office/drawing/2014/main" id="{E9C4A7D3-E8EA-41BE-8E9E-ADABC7374B66}"/>
              </a:ext>
            </a:extLst>
          </p:cNvPr>
          <p:cNvSpPr txBox="1">
            <a:spLocks noChangeArrowheads="1"/>
          </p:cNvSpPr>
          <p:nvPr/>
        </p:nvSpPr>
        <p:spPr bwMode="auto">
          <a:xfrm>
            <a:off x="3975095" y="1323152"/>
            <a:ext cx="1022350" cy="7556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0000FF"/>
                </a:solidFill>
                <a:latin typeface="微软雅黑" pitchFamily="34" charset="-122"/>
                <a:ea typeface="微软雅黑" pitchFamily="34" charset="-122"/>
              </a:rPr>
              <a:t>含交流负信号</a:t>
            </a:r>
            <a:endParaRPr lang="zh-CN" altLang="en-US" sz="4400" b="1">
              <a:latin typeface="微软雅黑" pitchFamily="34" charset="-122"/>
              <a:ea typeface="微软雅黑" pitchFamily="34" charset="-122"/>
            </a:endParaRPr>
          </a:p>
        </p:txBody>
      </p:sp>
      <p:cxnSp>
        <p:nvCxnSpPr>
          <p:cNvPr id="61" name="AutoShape 20">
            <a:extLst>
              <a:ext uri="{FF2B5EF4-FFF2-40B4-BE49-F238E27FC236}">
                <a16:creationId xmlns="" xmlns:a16="http://schemas.microsoft.com/office/drawing/2014/main" id="{F37D7F2B-2842-4A83-A71F-E394387FF931}"/>
              </a:ext>
            </a:extLst>
          </p:cNvPr>
          <p:cNvCxnSpPr>
            <a:cxnSpLocks noChangeShapeType="1"/>
          </p:cNvCxnSpPr>
          <p:nvPr/>
        </p:nvCxnSpPr>
        <p:spPr bwMode="auto">
          <a:xfrm rot="16200000" flipH="1">
            <a:off x="5220488" y="2833659"/>
            <a:ext cx="887413" cy="0"/>
          </a:xfrm>
          <a:prstGeom prst="straightConnector1">
            <a:avLst/>
          </a:prstGeom>
          <a:noFill/>
          <a:ln w="34925">
            <a:solidFill>
              <a:srgbClr val="FF33CC"/>
            </a:solidFill>
            <a:round/>
            <a:headEnd/>
            <a:tailEnd type="arrow" w="sm" len="lg"/>
          </a:ln>
        </p:spPr>
      </p:cxnSp>
      <p:cxnSp>
        <p:nvCxnSpPr>
          <p:cNvPr id="62" name="AutoShape 21">
            <a:extLst>
              <a:ext uri="{FF2B5EF4-FFF2-40B4-BE49-F238E27FC236}">
                <a16:creationId xmlns="" xmlns:a16="http://schemas.microsoft.com/office/drawing/2014/main" id="{29B04487-7A08-445E-9D0E-D124CCB5480F}"/>
              </a:ext>
            </a:extLst>
          </p:cNvPr>
          <p:cNvCxnSpPr>
            <a:cxnSpLocks noChangeShapeType="1"/>
          </p:cNvCxnSpPr>
          <p:nvPr/>
        </p:nvCxnSpPr>
        <p:spPr bwMode="auto">
          <a:xfrm rot="16200000" flipV="1">
            <a:off x="5908670" y="3790127"/>
            <a:ext cx="1689100" cy="1200150"/>
          </a:xfrm>
          <a:prstGeom prst="straightConnector1">
            <a:avLst/>
          </a:prstGeom>
          <a:noFill/>
          <a:ln w="34925">
            <a:solidFill>
              <a:srgbClr val="FF33CC"/>
            </a:solidFill>
            <a:round/>
            <a:headEnd/>
            <a:tailEnd type="arrow" w="sm" len="lg"/>
          </a:ln>
        </p:spPr>
      </p:cxnSp>
      <p:cxnSp>
        <p:nvCxnSpPr>
          <p:cNvPr id="63" name="AutoShape 22">
            <a:extLst>
              <a:ext uri="{FF2B5EF4-FFF2-40B4-BE49-F238E27FC236}">
                <a16:creationId xmlns="" xmlns:a16="http://schemas.microsoft.com/office/drawing/2014/main" id="{BAB11450-D1F8-42E5-8F4F-7D35EB474280}"/>
              </a:ext>
            </a:extLst>
          </p:cNvPr>
          <p:cNvCxnSpPr>
            <a:cxnSpLocks noChangeShapeType="1"/>
          </p:cNvCxnSpPr>
          <p:nvPr/>
        </p:nvCxnSpPr>
        <p:spPr bwMode="auto">
          <a:xfrm>
            <a:off x="3263895" y="3679002"/>
            <a:ext cx="577850" cy="1588"/>
          </a:xfrm>
          <a:prstGeom prst="straightConnector1">
            <a:avLst/>
          </a:prstGeom>
          <a:noFill/>
          <a:ln w="34925">
            <a:solidFill>
              <a:srgbClr val="FF33CC"/>
            </a:solidFill>
            <a:round/>
            <a:headEnd/>
            <a:tailEnd type="arrow" w="sm" len="lg"/>
          </a:ln>
        </p:spPr>
      </p:cxnSp>
      <p:sp>
        <p:nvSpPr>
          <p:cNvPr id="64" name="Text Box 23">
            <a:extLst>
              <a:ext uri="{FF2B5EF4-FFF2-40B4-BE49-F238E27FC236}">
                <a16:creationId xmlns="" xmlns:a16="http://schemas.microsoft.com/office/drawing/2014/main" id="{B396487E-5D16-4AD9-ADA0-B01F02EDF4EB}"/>
              </a:ext>
            </a:extLst>
          </p:cNvPr>
          <p:cNvSpPr txBox="1">
            <a:spLocks noChangeArrowheads="1"/>
          </p:cNvSpPr>
          <p:nvPr/>
        </p:nvSpPr>
        <p:spPr bwMode="auto">
          <a:xfrm>
            <a:off x="4508495" y="6464667"/>
            <a:ext cx="5200650" cy="496888"/>
          </a:xfrm>
          <a:prstGeom prst="rect">
            <a:avLst/>
          </a:prstGeom>
          <a:solidFill>
            <a:srgbClr val="FFFFFF"/>
          </a:solidFill>
          <a:ln w="9525">
            <a:solidFill>
              <a:srgbClr val="FFFFFF"/>
            </a:solidFill>
            <a:miter lim="800000"/>
            <a:headEnd/>
            <a:tailEnd/>
          </a:ln>
        </p:spPr>
        <p:txBody>
          <a:bodyPr lIns="0" tIns="0" rIns="0" bIns="0">
            <a:spAutoFit/>
          </a:bodyPr>
          <a:lstStyle/>
          <a:p>
            <a:pPr algn="just" defTabSz="914400"/>
            <a:r>
              <a:rPr lang="zh-CN" altLang="en-US" sz="3200" b="1" dirty="0">
                <a:solidFill>
                  <a:srgbClr val="FF0000"/>
                </a:solidFill>
                <a:latin typeface="微软雅黑" pitchFamily="34" charset="-122"/>
                <a:ea typeface="微软雅黑" pitchFamily="34" charset="-122"/>
              </a:rPr>
              <a:t>白天（光线较强）、有声音</a:t>
            </a:r>
            <a:endParaRPr lang="zh-CN" altLang="en-US" sz="4800" b="1" dirty="0">
              <a:latin typeface="微软雅黑" pitchFamily="34" charset="-122"/>
              <a:ea typeface="微软雅黑" pitchFamily="34" charset="-122"/>
            </a:endParaRPr>
          </a:p>
        </p:txBody>
      </p:sp>
      <p:sp>
        <p:nvSpPr>
          <p:cNvPr id="44" name="文本框 60">
            <a:extLst>
              <a:ext uri="{FF2B5EF4-FFF2-40B4-BE49-F238E27FC236}">
                <a16:creationId xmlns="" xmlns:a16="http://schemas.microsoft.com/office/drawing/2014/main" id="{D41DD9FB-EF0C-4EC9-B9B0-1BF26B745224}"/>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声光自动控制电路</a:t>
            </a:r>
          </a:p>
        </p:txBody>
      </p:sp>
      <p:sp>
        <p:nvSpPr>
          <p:cNvPr id="45" name="矩形 44">
            <a:extLst>
              <a:ext uri="{FF2B5EF4-FFF2-40B4-BE49-F238E27FC236}">
                <a16:creationId xmlns="" xmlns:a16="http://schemas.microsoft.com/office/drawing/2014/main" id="{C5027BF7-8C88-4FD6-83DC-DC961FDE7F44}"/>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46" name="矩形 45">
            <a:extLst>
              <a:ext uri="{FF2B5EF4-FFF2-40B4-BE49-F238E27FC236}">
                <a16:creationId xmlns="" xmlns:a16="http://schemas.microsoft.com/office/drawing/2014/main" id="{02EEE165-E18A-4EB7-8895-82F4DEB0741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a:extLst>
              <a:ext uri="{FF2B5EF4-FFF2-40B4-BE49-F238E27FC236}">
                <a16:creationId xmlns="" xmlns:a16="http://schemas.microsoft.com/office/drawing/2014/main" id="{3F9C21EA-37C1-4A45-A98C-814E6D93B7BF}"/>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8" name="直接连接符 58">
            <a:extLst>
              <a:ext uri="{FF2B5EF4-FFF2-40B4-BE49-F238E27FC236}">
                <a16:creationId xmlns="" xmlns:a16="http://schemas.microsoft.com/office/drawing/2014/main" id="{C6301CA0-23A1-4296-B0B5-1C7583E9F501}"/>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 xmlns:a16="http://schemas.microsoft.com/office/drawing/2014/main" id="{53DB662D-9374-4BDF-9835-09B6EF8C666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0" name="矩形 49">
            <a:extLst>
              <a:ext uri="{FF2B5EF4-FFF2-40B4-BE49-F238E27FC236}">
                <a16:creationId xmlns="" xmlns:a16="http://schemas.microsoft.com/office/drawing/2014/main" id="{508FEB29-45EF-407C-B45C-63DC66CF0AE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749208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amond(in)">
                                      <p:cBhvr>
                                        <p:cTn id="7" dur="20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box(in)">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 calcmode="lin" valueType="num">
                                      <p:cBhvr additive="base">
                                        <p:cTn id="17" dur="500" fill="hold"/>
                                        <p:tgtEl>
                                          <p:spTgt spid="37"/>
                                        </p:tgtEl>
                                        <p:attrNameLst>
                                          <p:attrName>ppt_x</p:attrName>
                                        </p:attrNameLst>
                                      </p:cBhvr>
                                      <p:tavLst>
                                        <p:tav tm="0">
                                          <p:val>
                                            <p:strVal val="0-#ppt_w/2"/>
                                          </p:val>
                                        </p:tav>
                                        <p:tav tm="100000">
                                          <p:val>
                                            <p:strVal val="#ppt_x"/>
                                          </p:val>
                                        </p:tav>
                                      </p:tavLst>
                                    </p:anim>
                                    <p:anim calcmode="lin" valueType="num">
                                      <p:cBhvr additive="base">
                                        <p:cTn id="18"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anim calcmode="lin" valueType="num">
                                      <p:cBhvr additive="base">
                                        <p:cTn id="23" dur="500" fill="hold"/>
                                        <p:tgtEl>
                                          <p:spTgt spid="38"/>
                                        </p:tgtEl>
                                        <p:attrNameLst>
                                          <p:attrName>ppt_x</p:attrName>
                                        </p:attrNameLst>
                                      </p:cBhvr>
                                      <p:tavLst>
                                        <p:tav tm="0">
                                          <p:val>
                                            <p:strVal val="0-#ppt_w/2"/>
                                          </p:val>
                                        </p:tav>
                                        <p:tav tm="100000">
                                          <p:val>
                                            <p:strVal val="#ppt_x"/>
                                          </p:val>
                                        </p:tav>
                                      </p:tavLst>
                                    </p:anim>
                                    <p:anim calcmode="lin" valueType="num">
                                      <p:cBhvr additive="base">
                                        <p:cTn id="24"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additive="base">
                                        <p:cTn id="29" dur="500" fill="hold"/>
                                        <p:tgtEl>
                                          <p:spTgt spid="31"/>
                                        </p:tgtEl>
                                        <p:attrNameLst>
                                          <p:attrName>ppt_x</p:attrName>
                                        </p:attrNameLst>
                                      </p:cBhvr>
                                      <p:tavLst>
                                        <p:tav tm="0">
                                          <p:val>
                                            <p:strVal val="0-#ppt_w/2"/>
                                          </p:val>
                                        </p:tav>
                                        <p:tav tm="100000">
                                          <p:val>
                                            <p:strVal val="#ppt_x"/>
                                          </p:val>
                                        </p:tav>
                                      </p:tavLst>
                                    </p:anim>
                                    <p:anim calcmode="lin" valueType="num">
                                      <p:cBhvr additive="base">
                                        <p:cTn id="30"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63"/>
                                        </p:tgtEl>
                                        <p:attrNameLst>
                                          <p:attrName>style.visibility</p:attrName>
                                        </p:attrNameLst>
                                      </p:cBhvr>
                                      <p:to>
                                        <p:strVal val="visible"/>
                                      </p:to>
                                    </p:set>
                                    <p:anim calcmode="lin" valueType="num">
                                      <p:cBhvr additive="base">
                                        <p:cTn id="35" dur="500" fill="hold"/>
                                        <p:tgtEl>
                                          <p:spTgt spid="63"/>
                                        </p:tgtEl>
                                        <p:attrNameLst>
                                          <p:attrName>ppt_x</p:attrName>
                                        </p:attrNameLst>
                                      </p:cBhvr>
                                      <p:tavLst>
                                        <p:tav tm="0">
                                          <p:val>
                                            <p:strVal val="0-#ppt_w/2"/>
                                          </p:val>
                                        </p:tav>
                                        <p:tav tm="100000">
                                          <p:val>
                                            <p:strVal val="#ppt_x"/>
                                          </p:val>
                                        </p:tav>
                                      </p:tavLst>
                                    </p:anim>
                                    <p:anim calcmode="lin" valueType="num">
                                      <p:cBhvr additive="base">
                                        <p:cTn id="36"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1" fill="hold" grpId="0" nodeType="clickEffect">
                                  <p:stCondLst>
                                    <p:cond delay="0"/>
                                  </p:stCondLst>
                                  <p:childTnLst>
                                    <p:set>
                                      <p:cBhvr>
                                        <p:cTn id="40" dur="1" fill="hold">
                                          <p:stCondLst>
                                            <p:cond delay="0"/>
                                          </p:stCondLst>
                                        </p:cTn>
                                        <p:tgtEl>
                                          <p:spTgt spid="60"/>
                                        </p:tgtEl>
                                        <p:attrNameLst>
                                          <p:attrName>style.visibility</p:attrName>
                                        </p:attrNameLst>
                                      </p:cBhvr>
                                      <p:to>
                                        <p:strVal val="visible"/>
                                      </p:to>
                                    </p:set>
                                    <p:anim calcmode="lin" valueType="num">
                                      <p:cBhvr additive="base">
                                        <p:cTn id="41" dur="500" fill="hold"/>
                                        <p:tgtEl>
                                          <p:spTgt spid="60"/>
                                        </p:tgtEl>
                                        <p:attrNameLst>
                                          <p:attrName>ppt_x</p:attrName>
                                        </p:attrNameLst>
                                      </p:cBhvr>
                                      <p:tavLst>
                                        <p:tav tm="0">
                                          <p:val>
                                            <p:strVal val="#ppt_x"/>
                                          </p:val>
                                        </p:tav>
                                        <p:tav tm="100000">
                                          <p:val>
                                            <p:strVal val="#ppt_x"/>
                                          </p:val>
                                        </p:tav>
                                      </p:tavLst>
                                    </p:anim>
                                    <p:anim calcmode="lin" valueType="num">
                                      <p:cBhvr additive="base">
                                        <p:cTn id="42" dur="500" fill="hold"/>
                                        <p:tgtEl>
                                          <p:spTgt spid="60"/>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0"/>
                                  </p:stCondLst>
                                  <p:childTnLst>
                                    <p:set>
                                      <p:cBhvr>
                                        <p:cTn id="44" dur="1" fill="hold">
                                          <p:stCondLst>
                                            <p:cond delay="0"/>
                                          </p:stCondLst>
                                        </p:cTn>
                                        <p:tgtEl>
                                          <p:spTgt spid="59"/>
                                        </p:tgtEl>
                                        <p:attrNameLst>
                                          <p:attrName>style.visibility</p:attrName>
                                        </p:attrNameLst>
                                      </p:cBhvr>
                                      <p:to>
                                        <p:strVal val="visible"/>
                                      </p:to>
                                    </p:set>
                                    <p:anim calcmode="lin" valueType="num">
                                      <p:cBhvr additive="base">
                                        <p:cTn id="45" dur="500" fill="hold"/>
                                        <p:tgtEl>
                                          <p:spTgt spid="59"/>
                                        </p:tgtEl>
                                        <p:attrNameLst>
                                          <p:attrName>ppt_x</p:attrName>
                                        </p:attrNameLst>
                                      </p:cBhvr>
                                      <p:tavLst>
                                        <p:tav tm="0">
                                          <p:val>
                                            <p:strVal val="#ppt_x"/>
                                          </p:val>
                                        </p:tav>
                                        <p:tav tm="100000">
                                          <p:val>
                                            <p:strVal val="#ppt_x"/>
                                          </p:val>
                                        </p:tav>
                                      </p:tavLst>
                                    </p:anim>
                                    <p:anim calcmode="lin" valueType="num">
                                      <p:cBhvr additive="base">
                                        <p:cTn id="46" dur="500" fill="hold"/>
                                        <p:tgtEl>
                                          <p:spTgt spid="59"/>
                                        </p:tgtEl>
                                        <p:attrNameLst>
                                          <p:attrName>ppt_y</p:attrName>
                                        </p:attrNameLst>
                                      </p:cBhvr>
                                      <p:tavLst>
                                        <p:tav tm="0">
                                          <p:val>
                                            <p:strVal val="0-#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1" fill="hold" nodeType="clickEffect">
                                  <p:stCondLst>
                                    <p:cond delay="0"/>
                                  </p:stCondLst>
                                  <p:childTnLst>
                                    <p:set>
                                      <p:cBhvr>
                                        <p:cTn id="50" dur="1" fill="hold">
                                          <p:stCondLst>
                                            <p:cond delay="0"/>
                                          </p:stCondLst>
                                        </p:cTn>
                                        <p:tgtEl>
                                          <p:spTgt spid="61"/>
                                        </p:tgtEl>
                                        <p:attrNameLst>
                                          <p:attrName>style.visibility</p:attrName>
                                        </p:attrNameLst>
                                      </p:cBhvr>
                                      <p:to>
                                        <p:strVal val="visible"/>
                                      </p:to>
                                    </p:set>
                                    <p:anim calcmode="lin" valueType="num">
                                      <p:cBhvr additive="base">
                                        <p:cTn id="51" dur="500" fill="hold"/>
                                        <p:tgtEl>
                                          <p:spTgt spid="61"/>
                                        </p:tgtEl>
                                        <p:attrNameLst>
                                          <p:attrName>ppt_x</p:attrName>
                                        </p:attrNameLst>
                                      </p:cBhvr>
                                      <p:tavLst>
                                        <p:tav tm="0">
                                          <p:val>
                                            <p:strVal val="#ppt_x"/>
                                          </p:val>
                                        </p:tav>
                                        <p:tav tm="100000">
                                          <p:val>
                                            <p:strVal val="#ppt_x"/>
                                          </p:val>
                                        </p:tav>
                                      </p:tavLst>
                                    </p:anim>
                                    <p:anim calcmode="lin" valueType="num">
                                      <p:cBhvr additive="base">
                                        <p:cTn id="52" dur="500" fill="hold"/>
                                        <p:tgtEl>
                                          <p:spTgt spid="61"/>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box(in)">
                                      <p:cBhvr>
                                        <p:cTn id="57" dur="500"/>
                                        <p:tgtEl>
                                          <p:spTgt spid="34"/>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41"/>
                                        </p:tgtEl>
                                        <p:attrNameLst>
                                          <p:attrName>style.visibility</p:attrName>
                                        </p:attrNameLst>
                                      </p:cBhvr>
                                      <p:to>
                                        <p:strVal val="visible"/>
                                      </p:to>
                                    </p:set>
                                    <p:anim calcmode="lin" valueType="num">
                                      <p:cBhvr additive="base">
                                        <p:cTn id="62" dur="500" fill="hold"/>
                                        <p:tgtEl>
                                          <p:spTgt spid="41"/>
                                        </p:tgtEl>
                                        <p:attrNameLst>
                                          <p:attrName>ppt_x</p:attrName>
                                        </p:attrNameLst>
                                      </p:cBhvr>
                                      <p:tavLst>
                                        <p:tav tm="0">
                                          <p:val>
                                            <p:strVal val="#ppt_x"/>
                                          </p:val>
                                        </p:tav>
                                        <p:tav tm="100000">
                                          <p:val>
                                            <p:strVal val="#ppt_x"/>
                                          </p:val>
                                        </p:tav>
                                      </p:tavLst>
                                    </p:anim>
                                    <p:anim calcmode="lin" valueType="num">
                                      <p:cBhvr additive="base">
                                        <p:cTn id="63"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39"/>
                                        </p:tgtEl>
                                        <p:attrNameLst>
                                          <p:attrName>style.visibility</p:attrName>
                                        </p:attrNameLst>
                                      </p:cBhvr>
                                      <p:to>
                                        <p:strVal val="visible"/>
                                      </p:to>
                                    </p:set>
                                    <p:anim calcmode="lin" valueType="num">
                                      <p:cBhvr additive="base">
                                        <p:cTn id="68" dur="500" fill="hold"/>
                                        <p:tgtEl>
                                          <p:spTgt spid="39"/>
                                        </p:tgtEl>
                                        <p:attrNameLst>
                                          <p:attrName>ppt_x</p:attrName>
                                        </p:attrNameLst>
                                      </p:cBhvr>
                                      <p:tavLst>
                                        <p:tav tm="0">
                                          <p:val>
                                            <p:strVal val="#ppt_x"/>
                                          </p:val>
                                        </p:tav>
                                        <p:tav tm="100000">
                                          <p:val>
                                            <p:strVal val="#ppt_x"/>
                                          </p:val>
                                        </p:tav>
                                      </p:tavLst>
                                    </p:anim>
                                    <p:anim calcmode="lin" valueType="num">
                                      <p:cBhvr additive="base">
                                        <p:cTn id="69"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 presetClass="entr" presetSubtype="16" fill="hold" grpId="0" nodeType="click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box(in)">
                                      <p:cBhvr>
                                        <p:cTn id="74" dur="500"/>
                                        <p:tgtEl>
                                          <p:spTgt spid="32"/>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62"/>
                                        </p:tgtEl>
                                        <p:attrNameLst>
                                          <p:attrName>style.visibility</p:attrName>
                                        </p:attrNameLst>
                                      </p:cBhvr>
                                      <p:to>
                                        <p:strVal val="visible"/>
                                      </p:to>
                                    </p:set>
                                    <p:anim calcmode="lin" valueType="num">
                                      <p:cBhvr additive="base">
                                        <p:cTn id="79" dur="500" fill="hold"/>
                                        <p:tgtEl>
                                          <p:spTgt spid="62"/>
                                        </p:tgtEl>
                                        <p:attrNameLst>
                                          <p:attrName>ppt_x</p:attrName>
                                        </p:attrNameLst>
                                      </p:cBhvr>
                                      <p:tavLst>
                                        <p:tav tm="0">
                                          <p:val>
                                            <p:strVal val="#ppt_x"/>
                                          </p:val>
                                        </p:tav>
                                        <p:tav tm="100000">
                                          <p:val>
                                            <p:strVal val="#ppt_x"/>
                                          </p:val>
                                        </p:tav>
                                      </p:tavLst>
                                    </p:anim>
                                    <p:anim calcmode="lin" valueType="num">
                                      <p:cBhvr additive="base">
                                        <p:cTn id="80"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42"/>
                                        </p:tgtEl>
                                        <p:attrNameLst>
                                          <p:attrName>style.visibility</p:attrName>
                                        </p:attrNameLst>
                                      </p:cBhvr>
                                      <p:to>
                                        <p:strVal val="visible"/>
                                      </p:to>
                                    </p:set>
                                    <p:animEffect transition="in" filter="box(in)">
                                      <p:cBhvr>
                                        <p:cTn id="85" dur="500"/>
                                        <p:tgtEl>
                                          <p:spTgt spid="42"/>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nodeType="clickEffect">
                                  <p:stCondLst>
                                    <p:cond delay="0"/>
                                  </p:stCondLst>
                                  <p:childTnLst>
                                    <p:set>
                                      <p:cBhvr>
                                        <p:cTn id="89" dur="1" fill="hold">
                                          <p:stCondLst>
                                            <p:cond delay="0"/>
                                          </p:stCondLst>
                                        </p:cTn>
                                        <p:tgtEl>
                                          <p:spTgt spid="57"/>
                                        </p:tgtEl>
                                        <p:attrNameLst>
                                          <p:attrName>style.visibility</p:attrName>
                                        </p:attrNameLst>
                                      </p:cBhvr>
                                      <p:to>
                                        <p:strVal val="visible"/>
                                      </p:to>
                                    </p:set>
                                    <p:animEffect transition="in" filter="box(in)">
                                      <p:cBhvr>
                                        <p:cTn id="90" dur="500"/>
                                        <p:tgtEl>
                                          <p:spTgt spid="57"/>
                                        </p:tgtEl>
                                      </p:cBhvr>
                                    </p:animEffect>
                                  </p:childTnLst>
                                </p:cTn>
                              </p:par>
                            </p:childTnLst>
                          </p:cTn>
                        </p:par>
                      </p:childTnLst>
                    </p:cTn>
                  </p:par>
                  <p:par>
                    <p:cTn id="91" fill="hold">
                      <p:stCondLst>
                        <p:cond delay="indefinite"/>
                      </p:stCondLst>
                      <p:childTnLst>
                        <p:par>
                          <p:cTn id="92" fill="hold">
                            <p:stCondLst>
                              <p:cond delay="0"/>
                            </p:stCondLst>
                            <p:childTnLst>
                              <p:par>
                                <p:cTn id="93" presetID="4" presetClass="entr" presetSubtype="16" fill="hold" grpId="0" nodeType="clickEffect">
                                  <p:stCondLst>
                                    <p:cond delay="0"/>
                                  </p:stCondLst>
                                  <p:childTnLst>
                                    <p:set>
                                      <p:cBhvr>
                                        <p:cTn id="94" dur="1" fill="hold">
                                          <p:stCondLst>
                                            <p:cond delay="0"/>
                                          </p:stCondLst>
                                        </p:cTn>
                                        <p:tgtEl>
                                          <p:spTgt spid="58"/>
                                        </p:tgtEl>
                                        <p:attrNameLst>
                                          <p:attrName>style.visibility</p:attrName>
                                        </p:attrNameLst>
                                      </p:cBhvr>
                                      <p:to>
                                        <p:strVal val="visible"/>
                                      </p:to>
                                    </p:set>
                                    <p:animEffect transition="in" filter="box(in)">
                                      <p:cBhvr>
                                        <p:cTn id="95" dur="500"/>
                                        <p:tgtEl>
                                          <p:spTgt spid="58"/>
                                        </p:tgtEl>
                                      </p:cBhvr>
                                    </p:animEffect>
                                  </p:childTnLst>
                                </p:cTn>
                              </p:par>
                            </p:childTnLst>
                          </p:cTn>
                        </p:par>
                      </p:childTnLst>
                    </p:cTn>
                  </p:par>
                  <p:par>
                    <p:cTn id="96" fill="hold">
                      <p:stCondLst>
                        <p:cond delay="indefinite"/>
                      </p:stCondLst>
                      <p:childTnLst>
                        <p:par>
                          <p:cTn id="97" fill="hold">
                            <p:stCondLst>
                              <p:cond delay="0"/>
                            </p:stCondLst>
                            <p:childTnLst>
                              <p:par>
                                <p:cTn id="98" presetID="4" presetClass="entr" presetSubtype="16" fill="hold" grpId="0" nodeType="click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box(in)">
                                      <p:cBhvr>
                                        <p:cTn id="100" dur="500"/>
                                        <p:tgtEl>
                                          <p:spTgt spid="35"/>
                                        </p:tgtEl>
                                      </p:cBhvr>
                                    </p:animEffect>
                                  </p:childTnLst>
                                </p:cTn>
                              </p:par>
                              <p:par>
                                <p:cTn id="101" presetID="4" presetClass="entr" presetSubtype="16" fill="hold" nodeType="withEffect">
                                  <p:stCondLst>
                                    <p:cond delay="0"/>
                                  </p:stCondLst>
                                  <p:childTnLst>
                                    <p:set>
                                      <p:cBhvr>
                                        <p:cTn id="102" dur="1" fill="hold">
                                          <p:stCondLst>
                                            <p:cond delay="0"/>
                                          </p:stCondLst>
                                        </p:cTn>
                                        <p:tgtEl>
                                          <p:spTgt spid="55"/>
                                        </p:tgtEl>
                                        <p:attrNameLst>
                                          <p:attrName>style.visibility</p:attrName>
                                        </p:attrNameLst>
                                      </p:cBhvr>
                                      <p:to>
                                        <p:strVal val="visible"/>
                                      </p:to>
                                    </p:set>
                                    <p:animEffect transition="in" filter="box(in)">
                                      <p:cBhvr>
                                        <p:cTn id="103" dur="500"/>
                                        <p:tgtEl>
                                          <p:spTgt spid="55"/>
                                        </p:tgtEl>
                                      </p:cBhvr>
                                    </p:animEffect>
                                  </p:childTnLst>
                                </p:cTn>
                              </p:par>
                            </p:childTnLst>
                          </p:cTn>
                        </p:par>
                      </p:childTnLst>
                    </p:cTn>
                  </p:par>
                  <p:par>
                    <p:cTn id="104" fill="hold">
                      <p:stCondLst>
                        <p:cond delay="indefinite"/>
                      </p:stCondLst>
                      <p:childTnLst>
                        <p:par>
                          <p:cTn id="105" fill="hold">
                            <p:stCondLst>
                              <p:cond delay="0"/>
                            </p:stCondLst>
                            <p:childTnLst>
                              <p:par>
                                <p:cTn id="106" presetID="4" presetClass="entr" presetSubtype="16" fill="hold" nodeType="click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box(in)">
                                      <p:cBhvr>
                                        <p:cTn id="108" dur="500"/>
                                        <p:tgtEl>
                                          <p:spTgt spid="54"/>
                                        </p:tgtEl>
                                      </p:cBhvr>
                                    </p:animEffect>
                                  </p:childTnLst>
                                </p:cTn>
                              </p:par>
                              <p:par>
                                <p:cTn id="109" presetID="4" presetClass="entr" presetSubtype="16" fill="hold" grpId="0" nodeType="with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box(in)">
                                      <p:cBhvr>
                                        <p:cTn id="11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4" grpId="0" animBg="1"/>
      <p:bldP spid="35" grpId="0" animBg="1"/>
      <p:bldP spid="36" grpId="0" animBg="1"/>
      <p:bldP spid="37" grpId="0" animBg="1"/>
      <p:bldP spid="41" grpId="0" animBg="1"/>
      <p:bldP spid="58" grpId="0" animBg="1"/>
      <p:bldP spid="60" grpId="0" animBg="1"/>
      <p:bldP spid="6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Object 2">
            <a:extLst>
              <a:ext uri="{FF2B5EF4-FFF2-40B4-BE49-F238E27FC236}">
                <a16:creationId xmlns="" xmlns:a16="http://schemas.microsoft.com/office/drawing/2014/main" id="{2F1D805B-F857-4FA7-9032-4D09E49844D8}"/>
              </a:ext>
            </a:extLst>
          </p:cNvPr>
          <p:cNvGraphicFramePr>
            <a:graphicFrameLocks noChangeAspect="1"/>
          </p:cNvGraphicFramePr>
          <p:nvPr>
            <p:extLst>
              <p:ext uri="{D42A27DB-BD31-4B8C-83A1-F6EECF244321}">
                <p14:modId xmlns:p14="http://schemas.microsoft.com/office/powerpoint/2010/main" val="2251356324"/>
              </p:ext>
            </p:extLst>
          </p:nvPr>
        </p:nvGraphicFramePr>
        <p:xfrm>
          <a:off x="3343275" y="2231203"/>
          <a:ext cx="7726363" cy="3263900"/>
        </p:xfrm>
        <a:graphic>
          <a:graphicData uri="http://schemas.openxmlformats.org/presentationml/2006/ole">
            <mc:AlternateContent xmlns:mc="http://schemas.openxmlformats.org/markup-compatibility/2006">
              <mc:Choice xmlns:v="urn:schemas-microsoft-com:vml" Requires="v">
                <p:oleObj spid="_x0000_s14354" name="Visio" r:id="rId3" imgW="5553093" imgH="2343189" progId="Visio.Drawing.11">
                  <p:embed/>
                </p:oleObj>
              </mc:Choice>
              <mc:Fallback>
                <p:oleObj name="Visio" r:id="rId3" imgW="5553093" imgH="2343189" progId="Visio.Drawing.11">
                  <p:embed/>
                  <p:pic>
                    <p:nvPicPr>
                      <p:cNvPr id="37" name="Object 2"/>
                      <p:cNvPicPr>
                        <a:picLocks noChangeAspect="1" noChangeArrowheads="1"/>
                      </p:cNvPicPr>
                      <p:nvPr/>
                    </p:nvPicPr>
                    <p:blipFill>
                      <a:blip r:embed="rId4"/>
                      <a:srcRect/>
                      <a:stretch>
                        <a:fillRect/>
                      </a:stretch>
                    </p:blipFill>
                    <p:spPr bwMode="auto">
                      <a:xfrm>
                        <a:off x="3343275" y="2231203"/>
                        <a:ext cx="7726363" cy="326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Text Box 3">
            <a:extLst>
              <a:ext uri="{FF2B5EF4-FFF2-40B4-BE49-F238E27FC236}">
                <a16:creationId xmlns="" xmlns:a16="http://schemas.microsoft.com/office/drawing/2014/main" id="{048A3B75-F3FE-4F67-88F2-6F2AAD2E647B}"/>
              </a:ext>
            </a:extLst>
          </p:cNvPr>
          <p:cNvSpPr txBox="1">
            <a:spLocks noChangeArrowheads="1"/>
          </p:cNvSpPr>
          <p:nvPr/>
        </p:nvSpPr>
        <p:spPr bwMode="auto">
          <a:xfrm>
            <a:off x="1173120" y="3493385"/>
            <a:ext cx="2117770" cy="439738"/>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没有交流信号</a:t>
            </a:r>
            <a:endParaRPr lang="zh-CN" altLang="en-US" sz="6600" b="1" dirty="0">
              <a:latin typeface="微软雅黑" pitchFamily="34" charset="-122"/>
              <a:ea typeface="微软雅黑" pitchFamily="34" charset="-122"/>
            </a:endParaRPr>
          </a:p>
        </p:txBody>
      </p:sp>
      <p:sp>
        <p:nvSpPr>
          <p:cNvPr id="46" name="Text Box 5">
            <a:extLst>
              <a:ext uri="{FF2B5EF4-FFF2-40B4-BE49-F238E27FC236}">
                <a16:creationId xmlns="" xmlns:a16="http://schemas.microsoft.com/office/drawing/2014/main" id="{35562C32-BFDB-4A27-9962-4190CA98D427}"/>
              </a:ext>
            </a:extLst>
          </p:cNvPr>
          <p:cNvSpPr txBox="1">
            <a:spLocks noChangeArrowheads="1"/>
          </p:cNvSpPr>
          <p:nvPr/>
        </p:nvSpPr>
        <p:spPr bwMode="auto">
          <a:xfrm>
            <a:off x="7059150" y="5309649"/>
            <a:ext cx="1200150" cy="57785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dirty="0">
                <a:solidFill>
                  <a:srgbClr val="FF0000"/>
                </a:solidFill>
                <a:latin typeface="华文琥珀" pitchFamily="2" charset="-122"/>
                <a:ea typeface="华文琥珀" pitchFamily="2" charset="-122"/>
              </a:rPr>
              <a:t>低电平</a:t>
            </a:r>
            <a:endParaRPr lang="zh-CN" altLang="en-US" sz="4400" b="1" dirty="0">
              <a:solidFill>
                <a:srgbClr val="FF0000"/>
              </a:solidFill>
              <a:latin typeface="华文琥珀" pitchFamily="2" charset="-122"/>
              <a:ea typeface="华文琥珀" pitchFamily="2" charset="-122"/>
            </a:endParaRPr>
          </a:p>
        </p:txBody>
      </p:sp>
      <p:sp>
        <p:nvSpPr>
          <p:cNvPr id="47" name="Text Box 6">
            <a:extLst>
              <a:ext uri="{FF2B5EF4-FFF2-40B4-BE49-F238E27FC236}">
                <a16:creationId xmlns="" xmlns:a16="http://schemas.microsoft.com/office/drawing/2014/main" id="{0A40E17F-DEC4-46A4-BADF-64D03EE708A4}"/>
              </a:ext>
            </a:extLst>
          </p:cNvPr>
          <p:cNvSpPr txBox="1">
            <a:spLocks noChangeArrowheads="1"/>
          </p:cNvSpPr>
          <p:nvPr/>
        </p:nvSpPr>
        <p:spPr bwMode="auto">
          <a:xfrm>
            <a:off x="4971545" y="1816257"/>
            <a:ext cx="1066800" cy="5334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FF0000"/>
                </a:solidFill>
                <a:latin typeface="华文琥珀" pitchFamily="2" charset="-122"/>
                <a:ea typeface="华文琥珀" pitchFamily="2" charset="-122"/>
              </a:rPr>
              <a:t>低电平</a:t>
            </a:r>
            <a:endParaRPr lang="zh-CN" altLang="en-US" sz="4400" b="1">
              <a:solidFill>
                <a:srgbClr val="FF0000"/>
              </a:solidFill>
              <a:latin typeface="华文琥珀" pitchFamily="2" charset="-122"/>
              <a:ea typeface="华文琥珀" pitchFamily="2" charset="-122"/>
            </a:endParaRPr>
          </a:p>
        </p:txBody>
      </p:sp>
      <p:sp>
        <p:nvSpPr>
          <p:cNvPr id="48" name="Text Box 7">
            <a:extLst>
              <a:ext uri="{FF2B5EF4-FFF2-40B4-BE49-F238E27FC236}">
                <a16:creationId xmlns="" xmlns:a16="http://schemas.microsoft.com/office/drawing/2014/main" id="{D36D7351-6048-4352-9825-AB473875F431}"/>
              </a:ext>
            </a:extLst>
          </p:cNvPr>
          <p:cNvSpPr txBox="1">
            <a:spLocks noChangeArrowheads="1"/>
          </p:cNvSpPr>
          <p:nvPr/>
        </p:nvSpPr>
        <p:spPr bwMode="auto">
          <a:xfrm>
            <a:off x="11312161" y="3402962"/>
            <a:ext cx="1774803" cy="382587"/>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三极管截止</a:t>
            </a:r>
            <a:endParaRPr lang="zh-CN" altLang="en-US" sz="4400" b="1" dirty="0">
              <a:latin typeface="微软雅黑" pitchFamily="34" charset="-122"/>
              <a:ea typeface="微软雅黑" pitchFamily="34" charset="-122"/>
            </a:endParaRPr>
          </a:p>
        </p:txBody>
      </p:sp>
      <p:sp>
        <p:nvSpPr>
          <p:cNvPr id="49" name="Text Box 8">
            <a:extLst>
              <a:ext uri="{FF2B5EF4-FFF2-40B4-BE49-F238E27FC236}">
                <a16:creationId xmlns="" xmlns:a16="http://schemas.microsoft.com/office/drawing/2014/main" id="{D5BA6552-5F4E-4415-83BE-BAF9576E80C1}"/>
              </a:ext>
            </a:extLst>
          </p:cNvPr>
          <p:cNvSpPr txBox="1">
            <a:spLocks noChangeArrowheads="1"/>
          </p:cNvSpPr>
          <p:nvPr/>
        </p:nvSpPr>
        <p:spPr bwMode="auto">
          <a:xfrm>
            <a:off x="10186181" y="5702045"/>
            <a:ext cx="977900" cy="755650"/>
          </a:xfrm>
          <a:prstGeom prst="rect">
            <a:avLst/>
          </a:prstGeom>
          <a:solidFill>
            <a:srgbClr val="FFFFFF"/>
          </a:solidFill>
          <a:ln w="12700">
            <a:solidFill>
              <a:srgbClr val="FFFFFF"/>
            </a:solidFill>
            <a:miter lim="800000"/>
            <a:headEnd/>
            <a:tailEnd/>
          </a:ln>
        </p:spPr>
        <p:txBody>
          <a:bodyPr lIns="0" tIns="0" rIns="0" bIns="0"/>
          <a:lstStyle/>
          <a:p>
            <a:pPr algn="ctr" defTabSz="914400"/>
            <a:r>
              <a:rPr lang="en-US" altLang="zh-CN" sz="2400" b="1" dirty="0">
                <a:latin typeface="Times New Roman" pitchFamily="18" charset="0"/>
                <a:ea typeface="微软雅黑" pitchFamily="34" charset="-122"/>
                <a:cs typeface="Times New Roman" pitchFamily="18" charset="0"/>
              </a:rPr>
              <a:t>LED</a:t>
            </a:r>
            <a:r>
              <a:rPr lang="zh-CN" altLang="en-US" sz="2400" b="1" dirty="0">
                <a:latin typeface="Times New Roman" pitchFamily="18" charset="0"/>
                <a:ea typeface="微软雅黑" pitchFamily="34" charset="-122"/>
                <a:cs typeface="Times New Roman" pitchFamily="18" charset="0"/>
              </a:rPr>
              <a:t>不发光</a:t>
            </a:r>
            <a:endParaRPr lang="zh-CN" altLang="en-US" sz="4400" b="1" dirty="0">
              <a:latin typeface="Times New Roman" pitchFamily="18" charset="0"/>
              <a:ea typeface="微软雅黑" pitchFamily="34" charset="-122"/>
              <a:cs typeface="Times New Roman" pitchFamily="18" charset="0"/>
            </a:endParaRPr>
          </a:p>
        </p:txBody>
      </p:sp>
      <p:sp>
        <p:nvSpPr>
          <p:cNvPr id="50" name="Text Box 9">
            <a:extLst>
              <a:ext uri="{FF2B5EF4-FFF2-40B4-BE49-F238E27FC236}">
                <a16:creationId xmlns="" xmlns:a16="http://schemas.microsoft.com/office/drawing/2014/main" id="{57933BF2-E9BF-4601-B754-907E193D80FA}"/>
              </a:ext>
            </a:extLst>
          </p:cNvPr>
          <p:cNvSpPr txBox="1">
            <a:spLocks noChangeArrowheads="1"/>
          </p:cNvSpPr>
          <p:nvPr/>
        </p:nvSpPr>
        <p:spPr bwMode="auto">
          <a:xfrm>
            <a:off x="1414968" y="4693397"/>
            <a:ext cx="1406020" cy="4445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无声音</a:t>
            </a:r>
            <a:endParaRPr lang="zh-CN" altLang="en-US" sz="6600" b="1" dirty="0">
              <a:latin typeface="微软雅黑" pitchFamily="34" charset="-122"/>
              <a:ea typeface="微软雅黑" pitchFamily="34" charset="-122"/>
            </a:endParaRPr>
          </a:p>
        </p:txBody>
      </p:sp>
      <p:cxnSp>
        <p:nvCxnSpPr>
          <p:cNvPr id="51" name="AutoShape 10">
            <a:extLst>
              <a:ext uri="{FF2B5EF4-FFF2-40B4-BE49-F238E27FC236}">
                <a16:creationId xmlns="" xmlns:a16="http://schemas.microsoft.com/office/drawing/2014/main" id="{6126534F-6493-46C4-B6B6-4404354931FA}"/>
              </a:ext>
            </a:extLst>
          </p:cNvPr>
          <p:cNvCxnSpPr>
            <a:cxnSpLocks noChangeShapeType="1"/>
          </p:cNvCxnSpPr>
          <p:nvPr/>
        </p:nvCxnSpPr>
        <p:spPr bwMode="auto">
          <a:xfrm>
            <a:off x="2971295" y="4915647"/>
            <a:ext cx="444500" cy="1588"/>
          </a:xfrm>
          <a:prstGeom prst="straightConnector1">
            <a:avLst/>
          </a:prstGeom>
          <a:noFill/>
          <a:ln w="38100">
            <a:solidFill>
              <a:srgbClr val="FF33CC"/>
            </a:solidFill>
            <a:round/>
            <a:headEnd/>
            <a:tailEnd type="arrow" w="sm" len="lg"/>
          </a:ln>
        </p:spPr>
      </p:cxnSp>
      <p:cxnSp>
        <p:nvCxnSpPr>
          <p:cNvPr id="52" name="AutoShape 11">
            <a:extLst>
              <a:ext uri="{FF2B5EF4-FFF2-40B4-BE49-F238E27FC236}">
                <a16:creationId xmlns="" xmlns:a16="http://schemas.microsoft.com/office/drawing/2014/main" id="{D73C3451-3709-4BD1-BD2F-A0FE1FEF3901}"/>
              </a:ext>
            </a:extLst>
          </p:cNvPr>
          <p:cNvCxnSpPr>
            <a:cxnSpLocks noChangeShapeType="1"/>
          </p:cNvCxnSpPr>
          <p:nvPr/>
        </p:nvCxnSpPr>
        <p:spPr bwMode="auto">
          <a:xfrm rot="5400000" flipH="1" flipV="1">
            <a:off x="5438474" y="5126784"/>
            <a:ext cx="977900" cy="22225"/>
          </a:xfrm>
          <a:prstGeom prst="straightConnector1">
            <a:avLst/>
          </a:prstGeom>
          <a:noFill/>
          <a:ln w="34925">
            <a:solidFill>
              <a:srgbClr val="FF0000"/>
            </a:solidFill>
            <a:round/>
            <a:headEnd/>
            <a:tailEnd type="arrow" w="sm" len="lg"/>
          </a:ln>
        </p:spPr>
      </p:cxnSp>
      <p:sp>
        <p:nvSpPr>
          <p:cNvPr id="65" name="Text Box 12">
            <a:extLst>
              <a:ext uri="{FF2B5EF4-FFF2-40B4-BE49-F238E27FC236}">
                <a16:creationId xmlns="" xmlns:a16="http://schemas.microsoft.com/office/drawing/2014/main" id="{D3743714-8784-4811-A8C3-0FE22202BABC}"/>
              </a:ext>
            </a:extLst>
          </p:cNvPr>
          <p:cNvSpPr txBox="1">
            <a:spLocks noChangeArrowheads="1"/>
          </p:cNvSpPr>
          <p:nvPr/>
        </p:nvSpPr>
        <p:spPr bwMode="auto">
          <a:xfrm>
            <a:off x="4760612" y="5436754"/>
            <a:ext cx="235585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光线较强，光敏电阻阻值较小</a:t>
            </a:r>
            <a:endParaRPr lang="zh-CN" altLang="en-US" sz="4400" b="1" dirty="0">
              <a:latin typeface="微软雅黑" pitchFamily="34" charset="-122"/>
              <a:ea typeface="微软雅黑" pitchFamily="34" charset="-122"/>
            </a:endParaRPr>
          </a:p>
        </p:txBody>
      </p:sp>
      <p:grpSp>
        <p:nvGrpSpPr>
          <p:cNvPr id="66" name="组合 11">
            <a:extLst>
              <a:ext uri="{FF2B5EF4-FFF2-40B4-BE49-F238E27FC236}">
                <a16:creationId xmlns="" xmlns:a16="http://schemas.microsoft.com/office/drawing/2014/main" id="{B1F822A0-9005-4008-945A-A2F7594C340D}"/>
              </a:ext>
            </a:extLst>
          </p:cNvPr>
          <p:cNvGrpSpPr>
            <a:grpSpLocks/>
          </p:cNvGrpSpPr>
          <p:nvPr/>
        </p:nvGrpSpPr>
        <p:grpSpPr bwMode="auto">
          <a:xfrm>
            <a:off x="5727195" y="1149507"/>
            <a:ext cx="2889250" cy="2182812"/>
            <a:chOff x="3683000" y="762000"/>
            <a:chExt cx="2889250" cy="2182811"/>
          </a:xfrm>
        </p:grpSpPr>
        <p:sp>
          <p:nvSpPr>
            <p:cNvPr id="67" name="Text Box 4">
              <a:extLst>
                <a:ext uri="{FF2B5EF4-FFF2-40B4-BE49-F238E27FC236}">
                  <a16:creationId xmlns="" xmlns:a16="http://schemas.microsoft.com/office/drawing/2014/main" id="{148F755B-CFA7-4AD8-9970-A528F96FB088}"/>
                </a:ext>
              </a:extLst>
            </p:cNvPr>
            <p:cNvSpPr txBox="1">
              <a:spLocks noChangeArrowheads="1"/>
            </p:cNvSpPr>
            <p:nvPr/>
          </p:nvSpPr>
          <p:spPr bwMode="auto">
            <a:xfrm>
              <a:off x="3683000" y="762000"/>
              <a:ext cx="2889250" cy="7556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dirty="0">
                  <a:solidFill>
                    <a:srgbClr val="0000FF"/>
                  </a:solidFill>
                  <a:latin typeface="微软雅黑" pitchFamily="34" charset="-122"/>
                  <a:ea typeface="微软雅黑" pitchFamily="34" charset="-122"/>
                </a:rPr>
                <a:t>输出高电平，不能触发后续的单稳态电路</a:t>
              </a:r>
              <a:endParaRPr lang="zh-CN" altLang="en-US" sz="4400" b="1" dirty="0">
                <a:latin typeface="微软雅黑" pitchFamily="34" charset="-122"/>
                <a:ea typeface="微软雅黑" pitchFamily="34" charset="-122"/>
              </a:endParaRPr>
            </a:p>
          </p:txBody>
        </p:sp>
        <p:cxnSp>
          <p:nvCxnSpPr>
            <p:cNvPr id="68" name="AutoShape 13">
              <a:extLst>
                <a:ext uri="{FF2B5EF4-FFF2-40B4-BE49-F238E27FC236}">
                  <a16:creationId xmlns="" xmlns:a16="http://schemas.microsoft.com/office/drawing/2014/main" id="{B369A911-5CBD-4DBC-BA3C-ABC3E4121FAE}"/>
                </a:ext>
              </a:extLst>
            </p:cNvPr>
            <p:cNvCxnSpPr>
              <a:cxnSpLocks noChangeShapeType="1"/>
            </p:cNvCxnSpPr>
            <p:nvPr/>
          </p:nvCxnSpPr>
          <p:spPr bwMode="auto">
            <a:xfrm rot="16200000" flipH="1">
              <a:off x="4348956" y="2185194"/>
              <a:ext cx="1516061" cy="3173"/>
            </a:xfrm>
            <a:prstGeom prst="straightConnector1">
              <a:avLst/>
            </a:prstGeom>
            <a:noFill/>
            <a:ln w="38100">
              <a:solidFill>
                <a:srgbClr val="FF33CC"/>
              </a:solidFill>
              <a:round/>
              <a:headEnd/>
              <a:tailEnd type="arrow" w="sm" len="lg"/>
            </a:ln>
          </p:spPr>
        </p:cxnSp>
      </p:grpSp>
      <p:cxnSp>
        <p:nvCxnSpPr>
          <p:cNvPr id="69" name="AutoShape 14">
            <a:extLst>
              <a:ext uri="{FF2B5EF4-FFF2-40B4-BE49-F238E27FC236}">
                <a16:creationId xmlns="" xmlns:a16="http://schemas.microsoft.com/office/drawing/2014/main" id="{EA5EDDBE-1928-46F0-873D-CE9EA9F93A40}"/>
              </a:ext>
            </a:extLst>
          </p:cNvPr>
          <p:cNvCxnSpPr>
            <a:cxnSpLocks noChangeShapeType="1"/>
          </p:cNvCxnSpPr>
          <p:nvPr/>
        </p:nvCxnSpPr>
        <p:spPr bwMode="auto">
          <a:xfrm rot="5400000" flipH="1" flipV="1">
            <a:off x="10221106" y="5198766"/>
            <a:ext cx="889000" cy="19050"/>
          </a:xfrm>
          <a:prstGeom prst="straightConnector1">
            <a:avLst/>
          </a:prstGeom>
          <a:noFill/>
          <a:ln w="38100">
            <a:solidFill>
              <a:srgbClr val="FF33CC"/>
            </a:solidFill>
            <a:round/>
            <a:headEnd/>
            <a:tailEnd type="arrow" w="sm" len="lg"/>
          </a:ln>
        </p:spPr>
      </p:cxnSp>
      <p:cxnSp>
        <p:nvCxnSpPr>
          <p:cNvPr id="70" name="AutoShape 15">
            <a:extLst>
              <a:ext uri="{FF2B5EF4-FFF2-40B4-BE49-F238E27FC236}">
                <a16:creationId xmlns="" xmlns:a16="http://schemas.microsoft.com/office/drawing/2014/main" id="{1A9BBF23-77C7-4E93-89AF-016799C1486F}"/>
              </a:ext>
            </a:extLst>
          </p:cNvPr>
          <p:cNvCxnSpPr>
            <a:cxnSpLocks noChangeShapeType="1"/>
            <a:stCxn id="48" idx="1"/>
          </p:cNvCxnSpPr>
          <p:nvPr/>
        </p:nvCxnSpPr>
        <p:spPr bwMode="auto">
          <a:xfrm flipH="1">
            <a:off x="10603202" y="3594256"/>
            <a:ext cx="708959" cy="0"/>
          </a:xfrm>
          <a:prstGeom prst="straightConnector1">
            <a:avLst/>
          </a:prstGeom>
          <a:noFill/>
          <a:ln w="38100">
            <a:solidFill>
              <a:srgbClr val="FF33CC"/>
            </a:solidFill>
            <a:round/>
            <a:headEnd/>
            <a:tailEnd type="arrow" w="sm" len="lg"/>
          </a:ln>
        </p:spPr>
      </p:cxnSp>
      <p:cxnSp>
        <p:nvCxnSpPr>
          <p:cNvPr id="71" name="AutoShape 16">
            <a:extLst>
              <a:ext uri="{FF2B5EF4-FFF2-40B4-BE49-F238E27FC236}">
                <a16:creationId xmlns="" xmlns:a16="http://schemas.microsoft.com/office/drawing/2014/main" id="{1EA57035-5F5D-4C2E-93D4-FE7DB17D8E8F}"/>
              </a:ext>
            </a:extLst>
          </p:cNvPr>
          <p:cNvCxnSpPr>
            <a:cxnSpLocks noChangeShapeType="1"/>
          </p:cNvCxnSpPr>
          <p:nvPr/>
        </p:nvCxnSpPr>
        <p:spPr bwMode="auto">
          <a:xfrm>
            <a:off x="9679021" y="2231203"/>
            <a:ext cx="11250" cy="1322079"/>
          </a:xfrm>
          <a:prstGeom prst="straightConnector1">
            <a:avLst/>
          </a:prstGeom>
          <a:noFill/>
          <a:ln w="38100">
            <a:solidFill>
              <a:srgbClr val="FF33CC"/>
            </a:solidFill>
            <a:round/>
            <a:headEnd/>
            <a:tailEnd type="arrow" w="sm" len="lg"/>
          </a:ln>
        </p:spPr>
      </p:cxnSp>
      <p:sp>
        <p:nvSpPr>
          <p:cNvPr id="72" name="Text Box 17">
            <a:extLst>
              <a:ext uri="{FF2B5EF4-FFF2-40B4-BE49-F238E27FC236}">
                <a16:creationId xmlns="" xmlns:a16="http://schemas.microsoft.com/office/drawing/2014/main" id="{50932513-090C-4311-BBD4-A431A9060E6A}"/>
              </a:ext>
            </a:extLst>
          </p:cNvPr>
          <p:cNvSpPr txBox="1">
            <a:spLocks noChangeArrowheads="1"/>
          </p:cNvSpPr>
          <p:nvPr/>
        </p:nvSpPr>
        <p:spPr bwMode="auto">
          <a:xfrm>
            <a:off x="8754256" y="1757561"/>
            <a:ext cx="1911350" cy="5334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dirty="0">
                <a:solidFill>
                  <a:srgbClr val="0066FF"/>
                </a:solidFill>
                <a:latin typeface="华文琥珀" pitchFamily="2" charset="-122"/>
                <a:ea typeface="华文琥珀" pitchFamily="2" charset="-122"/>
              </a:rPr>
              <a:t>输出低电平</a:t>
            </a:r>
            <a:endParaRPr lang="zh-CN" altLang="en-US" sz="4400" b="1" dirty="0">
              <a:solidFill>
                <a:srgbClr val="0066FF"/>
              </a:solidFill>
              <a:latin typeface="华文琥珀" pitchFamily="2" charset="-122"/>
              <a:ea typeface="华文琥珀" pitchFamily="2" charset="-122"/>
            </a:endParaRPr>
          </a:p>
        </p:txBody>
      </p:sp>
      <p:cxnSp>
        <p:nvCxnSpPr>
          <p:cNvPr id="73" name="AutoShape 18">
            <a:extLst>
              <a:ext uri="{FF2B5EF4-FFF2-40B4-BE49-F238E27FC236}">
                <a16:creationId xmlns="" xmlns:a16="http://schemas.microsoft.com/office/drawing/2014/main" id="{770565FF-5010-4382-BAD4-0BCC67E6B84B}"/>
              </a:ext>
            </a:extLst>
          </p:cNvPr>
          <p:cNvCxnSpPr>
            <a:cxnSpLocks noChangeShapeType="1"/>
          </p:cNvCxnSpPr>
          <p:nvPr/>
        </p:nvCxnSpPr>
        <p:spPr bwMode="auto">
          <a:xfrm rot="5400000">
            <a:off x="3884901" y="2769551"/>
            <a:ext cx="1773237" cy="44450"/>
          </a:xfrm>
          <a:prstGeom prst="straightConnector1">
            <a:avLst/>
          </a:prstGeom>
          <a:noFill/>
          <a:ln w="34925">
            <a:solidFill>
              <a:srgbClr val="FF33CC"/>
            </a:solidFill>
            <a:round/>
            <a:headEnd/>
            <a:tailEnd type="arrow" w="sm" len="lg"/>
          </a:ln>
        </p:spPr>
      </p:cxnSp>
      <p:sp>
        <p:nvSpPr>
          <p:cNvPr id="74" name="Text Box 19">
            <a:extLst>
              <a:ext uri="{FF2B5EF4-FFF2-40B4-BE49-F238E27FC236}">
                <a16:creationId xmlns="" xmlns:a16="http://schemas.microsoft.com/office/drawing/2014/main" id="{DB5A4EC8-29F3-48CE-85A8-5A709C38E0A0}"/>
              </a:ext>
            </a:extLst>
          </p:cNvPr>
          <p:cNvSpPr txBox="1">
            <a:spLocks noChangeArrowheads="1"/>
          </p:cNvSpPr>
          <p:nvPr/>
        </p:nvSpPr>
        <p:spPr bwMode="auto">
          <a:xfrm>
            <a:off x="3815845" y="1371757"/>
            <a:ext cx="1689100" cy="6223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0000FF"/>
                </a:solidFill>
                <a:latin typeface="微软雅黑" pitchFamily="34" charset="-122"/>
                <a:ea typeface="微软雅黑" pitchFamily="34" charset="-122"/>
              </a:rPr>
              <a:t>无输入信号</a:t>
            </a:r>
            <a:endParaRPr lang="zh-CN" altLang="en-US" sz="4400" b="1">
              <a:latin typeface="微软雅黑" pitchFamily="34" charset="-122"/>
              <a:ea typeface="微软雅黑" pitchFamily="34" charset="-122"/>
            </a:endParaRPr>
          </a:p>
        </p:txBody>
      </p:sp>
      <p:cxnSp>
        <p:nvCxnSpPr>
          <p:cNvPr id="75" name="AutoShape 20">
            <a:extLst>
              <a:ext uri="{FF2B5EF4-FFF2-40B4-BE49-F238E27FC236}">
                <a16:creationId xmlns="" xmlns:a16="http://schemas.microsoft.com/office/drawing/2014/main" id="{F5A77BCF-ED16-4A05-936A-200C2B7F848C}"/>
              </a:ext>
            </a:extLst>
          </p:cNvPr>
          <p:cNvCxnSpPr>
            <a:cxnSpLocks noChangeShapeType="1"/>
          </p:cNvCxnSpPr>
          <p:nvPr/>
        </p:nvCxnSpPr>
        <p:spPr bwMode="auto">
          <a:xfrm rot="16200000" flipH="1">
            <a:off x="5061239" y="2748913"/>
            <a:ext cx="887412" cy="0"/>
          </a:xfrm>
          <a:prstGeom prst="straightConnector1">
            <a:avLst/>
          </a:prstGeom>
          <a:noFill/>
          <a:ln w="34925">
            <a:solidFill>
              <a:srgbClr val="FF33CC"/>
            </a:solidFill>
            <a:round/>
            <a:headEnd/>
            <a:tailEnd type="arrow" w="sm" len="lg"/>
          </a:ln>
        </p:spPr>
      </p:cxnSp>
      <p:cxnSp>
        <p:nvCxnSpPr>
          <p:cNvPr id="76" name="AutoShape 21">
            <a:extLst>
              <a:ext uri="{FF2B5EF4-FFF2-40B4-BE49-F238E27FC236}">
                <a16:creationId xmlns="" xmlns:a16="http://schemas.microsoft.com/office/drawing/2014/main" id="{1AC47248-A84C-44AB-BACF-4699038B1BBD}"/>
              </a:ext>
            </a:extLst>
          </p:cNvPr>
          <p:cNvCxnSpPr>
            <a:cxnSpLocks noChangeShapeType="1"/>
          </p:cNvCxnSpPr>
          <p:nvPr/>
        </p:nvCxnSpPr>
        <p:spPr bwMode="auto">
          <a:xfrm rot="16200000" flipV="1">
            <a:off x="6088640" y="3988012"/>
            <a:ext cx="1689100" cy="1200150"/>
          </a:xfrm>
          <a:prstGeom prst="straightConnector1">
            <a:avLst/>
          </a:prstGeom>
          <a:noFill/>
          <a:ln w="34925">
            <a:solidFill>
              <a:srgbClr val="FF33CC"/>
            </a:solidFill>
            <a:round/>
            <a:headEnd/>
            <a:tailEnd type="arrow" w="sm" len="lg"/>
          </a:ln>
        </p:spPr>
      </p:cxnSp>
      <p:cxnSp>
        <p:nvCxnSpPr>
          <p:cNvPr id="77" name="AutoShape 22">
            <a:extLst>
              <a:ext uri="{FF2B5EF4-FFF2-40B4-BE49-F238E27FC236}">
                <a16:creationId xmlns="" xmlns:a16="http://schemas.microsoft.com/office/drawing/2014/main" id="{36A6A930-FF21-42BE-A273-0BEE9B42E294}"/>
              </a:ext>
            </a:extLst>
          </p:cNvPr>
          <p:cNvCxnSpPr>
            <a:cxnSpLocks noChangeShapeType="1"/>
          </p:cNvCxnSpPr>
          <p:nvPr/>
        </p:nvCxnSpPr>
        <p:spPr bwMode="auto">
          <a:xfrm>
            <a:off x="3371345" y="3683157"/>
            <a:ext cx="444500" cy="1587"/>
          </a:xfrm>
          <a:prstGeom prst="straightConnector1">
            <a:avLst/>
          </a:prstGeom>
          <a:noFill/>
          <a:ln w="34925">
            <a:solidFill>
              <a:srgbClr val="FF33CC"/>
            </a:solidFill>
            <a:round/>
            <a:headEnd/>
            <a:tailEnd type="arrow" w="sm" len="lg"/>
          </a:ln>
        </p:spPr>
      </p:cxnSp>
      <p:sp>
        <p:nvSpPr>
          <p:cNvPr id="78" name="Text Box 23">
            <a:extLst>
              <a:ext uri="{FF2B5EF4-FFF2-40B4-BE49-F238E27FC236}">
                <a16:creationId xmlns="" xmlns:a16="http://schemas.microsoft.com/office/drawing/2014/main" id="{B63C487B-1AD2-40FF-AE7A-271F2B8C52FB}"/>
              </a:ext>
            </a:extLst>
          </p:cNvPr>
          <p:cNvSpPr txBox="1">
            <a:spLocks noChangeArrowheads="1"/>
          </p:cNvSpPr>
          <p:nvPr/>
        </p:nvSpPr>
        <p:spPr bwMode="auto">
          <a:xfrm>
            <a:off x="4015870" y="6510549"/>
            <a:ext cx="5200650" cy="496887"/>
          </a:xfrm>
          <a:prstGeom prst="rect">
            <a:avLst/>
          </a:prstGeom>
          <a:solidFill>
            <a:srgbClr val="FFFFFF"/>
          </a:solidFill>
          <a:ln w="9525">
            <a:solidFill>
              <a:srgbClr val="FFFFFF"/>
            </a:solidFill>
            <a:miter lim="800000"/>
            <a:headEnd/>
            <a:tailEnd/>
          </a:ln>
        </p:spPr>
        <p:txBody>
          <a:bodyPr lIns="0" tIns="0" rIns="0" bIns="0">
            <a:spAutoFit/>
          </a:bodyPr>
          <a:lstStyle/>
          <a:p>
            <a:pPr algn="just" defTabSz="914400"/>
            <a:r>
              <a:rPr lang="zh-CN" altLang="en-US" sz="3200" b="1" dirty="0">
                <a:solidFill>
                  <a:srgbClr val="FF0000"/>
                </a:solidFill>
                <a:latin typeface="微软雅黑" pitchFamily="34" charset="-122"/>
                <a:ea typeface="微软雅黑" pitchFamily="34" charset="-122"/>
              </a:rPr>
              <a:t>白天（光线较强）、无声音</a:t>
            </a:r>
            <a:endParaRPr lang="zh-CN" altLang="en-US" sz="4800" b="1" dirty="0">
              <a:latin typeface="微软雅黑" pitchFamily="34" charset="-122"/>
              <a:ea typeface="微软雅黑" pitchFamily="34" charset="-122"/>
            </a:endParaRPr>
          </a:p>
        </p:txBody>
      </p:sp>
      <p:sp>
        <p:nvSpPr>
          <p:cNvPr id="34" name="文本框 60">
            <a:extLst>
              <a:ext uri="{FF2B5EF4-FFF2-40B4-BE49-F238E27FC236}">
                <a16:creationId xmlns="" xmlns:a16="http://schemas.microsoft.com/office/drawing/2014/main" id="{EF958AE4-EB64-4C99-9519-42FDEEAA6D02}"/>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声光自动控制电路</a:t>
            </a:r>
          </a:p>
        </p:txBody>
      </p:sp>
      <p:sp>
        <p:nvSpPr>
          <p:cNvPr id="35" name="矩形 34">
            <a:extLst>
              <a:ext uri="{FF2B5EF4-FFF2-40B4-BE49-F238E27FC236}">
                <a16:creationId xmlns="" xmlns:a16="http://schemas.microsoft.com/office/drawing/2014/main" id="{03E0ABAB-B65A-46C7-A36A-CDF9973E1002}"/>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36" name="矩形 35">
            <a:extLst>
              <a:ext uri="{FF2B5EF4-FFF2-40B4-BE49-F238E27FC236}">
                <a16:creationId xmlns="" xmlns:a16="http://schemas.microsoft.com/office/drawing/2014/main" id="{5529C387-2FCB-4870-8F7F-D3ED0EB0529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 xmlns:a16="http://schemas.microsoft.com/office/drawing/2014/main" id="{52CCC699-D2B5-4A4B-8EC9-208ABE0250B6}"/>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8" name="直接连接符 58">
            <a:extLst>
              <a:ext uri="{FF2B5EF4-FFF2-40B4-BE49-F238E27FC236}">
                <a16:creationId xmlns="" xmlns:a16="http://schemas.microsoft.com/office/drawing/2014/main" id="{1EA5B2AF-C776-4BA3-AABB-46E3C840B8E8}"/>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 xmlns:a16="http://schemas.microsoft.com/office/drawing/2014/main" id="{EF95137D-5473-44D8-B72E-A878EEA70E68}"/>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1" name="矩形 40">
            <a:extLst>
              <a:ext uri="{FF2B5EF4-FFF2-40B4-BE49-F238E27FC236}">
                <a16:creationId xmlns="" xmlns:a16="http://schemas.microsoft.com/office/drawing/2014/main" id="{14A3D4ED-171B-4DDD-B4A4-2242B336C9EE}"/>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354363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box(in)">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diamond(in)">
                                      <p:cBhvr>
                                        <p:cTn id="12" dur="20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anim calcmode="lin" valueType="num">
                                      <p:cBhvr additive="base">
                                        <p:cTn id="17" dur="500" fill="hold"/>
                                        <p:tgtEl>
                                          <p:spTgt spid="50"/>
                                        </p:tgtEl>
                                        <p:attrNameLst>
                                          <p:attrName>ppt_x</p:attrName>
                                        </p:attrNameLst>
                                      </p:cBhvr>
                                      <p:tavLst>
                                        <p:tav tm="0">
                                          <p:val>
                                            <p:strVal val="0-#ppt_w/2"/>
                                          </p:val>
                                        </p:tav>
                                        <p:tav tm="100000">
                                          <p:val>
                                            <p:strVal val="#ppt_x"/>
                                          </p:val>
                                        </p:tav>
                                      </p:tavLst>
                                    </p:anim>
                                    <p:anim calcmode="lin" valueType="num">
                                      <p:cBhvr additive="base">
                                        <p:cTn id="18"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anim calcmode="lin" valueType="num">
                                      <p:cBhvr additive="base">
                                        <p:cTn id="23" dur="500" fill="hold"/>
                                        <p:tgtEl>
                                          <p:spTgt spid="51"/>
                                        </p:tgtEl>
                                        <p:attrNameLst>
                                          <p:attrName>ppt_x</p:attrName>
                                        </p:attrNameLst>
                                      </p:cBhvr>
                                      <p:tavLst>
                                        <p:tav tm="0">
                                          <p:val>
                                            <p:strVal val="0-#ppt_w/2"/>
                                          </p:val>
                                        </p:tav>
                                        <p:tav tm="100000">
                                          <p:val>
                                            <p:strVal val="#ppt_x"/>
                                          </p:val>
                                        </p:tav>
                                      </p:tavLst>
                                    </p:anim>
                                    <p:anim calcmode="lin" valueType="num">
                                      <p:cBhvr additive="base">
                                        <p:cTn id="24"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anim calcmode="lin" valueType="num">
                                      <p:cBhvr additive="base">
                                        <p:cTn id="29" dur="500" fill="hold"/>
                                        <p:tgtEl>
                                          <p:spTgt spid="45"/>
                                        </p:tgtEl>
                                        <p:attrNameLst>
                                          <p:attrName>ppt_x</p:attrName>
                                        </p:attrNameLst>
                                      </p:cBhvr>
                                      <p:tavLst>
                                        <p:tav tm="0">
                                          <p:val>
                                            <p:strVal val="0-#ppt_w/2"/>
                                          </p:val>
                                        </p:tav>
                                        <p:tav tm="100000">
                                          <p:val>
                                            <p:strVal val="#ppt_x"/>
                                          </p:val>
                                        </p:tav>
                                      </p:tavLst>
                                    </p:anim>
                                    <p:anim calcmode="lin" valueType="num">
                                      <p:cBhvr additive="base">
                                        <p:cTn id="30"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77"/>
                                        </p:tgtEl>
                                        <p:attrNameLst>
                                          <p:attrName>style.visibility</p:attrName>
                                        </p:attrNameLst>
                                      </p:cBhvr>
                                      <p:to>
                                        <p:strVal val="visible"/>
                                      </p:to>
                                    </p:set>
                                    <p:anim calcmode="lin" valueType="num">
                                      <p:cBhvr additive="base">
                                        <p:cTn id="35" dur="500" fill="hold"/>
                                        <p:tgtEl>
                                          <p:spTgt spid="77"/>
                                        </p:tgtEl>
                                        <p:attrNameLst>
                                          <p:attrName>ppt_x</p:attrName>
                                        </p:attrNameLst>
                                      </p:cBhvr>
                                      <p:tavLst>
                                        <p:tav tm="0">
                                          <p:val>
                                            <p:strVal val="0-#ppt_w/2"/>
                                          </p:val>
                                        </p:tav>
                                        <p:tav tm="100000">
                                          <p:val>
                                            <p:strVal val="#ppt_x"/>
                                          </p:val>
                                        </p:tav>
                                      </p:tavLst>
                                    </p:anim>
                                    <p:anim calcmode="lin" valueType="num">
                                      <p:cBhvr additive="base">
                                        <p:cTn id="36"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1" fill="hold" grpId="0" nodeType="clickEffect">
                                  <p:stCondLst>
                                    <p:cond delay="0"/>
                                  </p:stCondLst>
                                  <p:childTnLst>
                                    <p:set>
                                      <p:cBhvr>
                                        <p:cTn id="40" dur="1" fill="hold">
                                          <p:stCondLst>
                                            <p:cond delay="0"/>
                                          </p:stCondLst>
                                        </p:cTn>
                                        <p:tgtEl>
                                          <p:spTgt spid="74"/>
                                        </p:tgtEl>
                                        <p:attrNameLst>
                                          <p:attrName>style.visibility</p:attrName>
                                        </p:attrNameLst>
                                      </p:cBhvr>
                                      <p:to>
                                        <p:strVal val="visible"/>
                                      </p:to>
                                    </p:set>
                                    <p:anim calcmode="lin" valueType="num">
                                      <p:cBhvr additive="base">
                                        <p:cTn id="41" dur="500" fill="hold"/>
                                        <p:tgtEl>
                                          <p:spTgt spid="74"/>
                                        </p:tgtEl>
                                        <p:attrNameLst>
                                          <p:attrName>ppt_x</p:attrName>
                                        </p:attrNameLst>
                                      </p:cBhvr>
                                      <p:tavLst>
                                        <p:tav tm="0">
                                          <p:val>
                                            <p:strVal val="#ppt_x"/>
                                          </p:val>
                                        </p:tav>
                                        <p:tav tm="100000">
                                          <p:val>
                                            <p:strVal val="#ppt_x"/>
                                          </p:val>
                                        </p:tav>
                                      </p:tavLst>
                                    </p:anim>
                                    <p:anim calcmode="lin" valueType="num">
                                      <p:cBhvr additive="base">
                                        <p:cTn id="42" dur="500" fill="hold"/>
                                        <p:tgtEl>
                                          <p:spTgt spid="74"/>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0"/>
                                  </p:stCondLst>
                                  <p:childTnLst>
                                    <p:set>
                                      <p:cBhvr>
                                        <p:cTn id="44" dur="1" fill="hold">
                                          <p:stCondLst>
                                            <p:cond delay="0"/>
                                          </p:stCondLst>
                                        </p:cTn>
                                        <p:tgtEl>
                                          <p:spTgt spid="73"/>
                                        </p:tgtEl>
                                        <p:attrNameLst>
                                          <p:attrName>style.visibility</p:attrName>
                                        </p:attrNameLst>
                                      </p:cBhvr>
                                      <p:to>
                                        <p:strVal val="visible"/>
                                      </p:to>
                                    </p:set>
                                    <p:anim calcmode="lin" valueType="num">
                                      <p:cBhvr additive="base">
                                        <p:cTn id="45" dur="500" fill="hold"/>
                                        <p:tgtEl>
                                          <p:spTgt spid="73"/>
                                        </p:tgtEl>
                                        <p:attrNameLst>
                                          <p:attrName>ppt_x</p:attrName>
                                        </p:attrNameLst>
                                      </p:cBhvr>
                                      <p:tavLst>
                                        <p:tav tm="0">
                                          <p:val>
                                            <p:strVal val="#ppt_x"/>
                                          </p:val>
                                        </p:tav>
                                        <p:tav tm="100000">
                                          <p:val>
                                            <p:strVal val="#ppt_x"/>
                                          </p:val>
                                        </p:tav>
                                      </p:tavLst>
                                    </p:anim>
                                    <p:anim calcmode="lin" valueType="num">
                                      <p:cBhvr additive="base">
                                        <p:cTn id="46" dur="500" fill="hold"/>
                                        <p:tgtEl>
                                          <p:spTgt spid="73"/>
                                        </p:tgtEl>
                                        <p:attrNameLst>
                                          <p:attrName>ppt_y</p:attrName>
                                        </p:attrNameLst>
                                      </p:cBhvr>
                                      <p:tavLst>
                                        <p:tav tm="0">
                                          <p:val>
                                            <p:strVal val="0-#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1" fill="hold" nodeType="clickEffect">
                                  <p:stCondLst>
                                    <p:cond delay="0"/>
                                  </p:stCondLst>
                                  <p:childTnLst>
                                    <p:set>
                                      <p:cBhvr>
                                        <p:cTn id="50" dur="1" fill="hold">
                                          <p:stCondLst>
                                            <p:cond delay="0"/>
                                          </p:stCondLst>
                                        </p:cTn>
                                        <p:tgtEl>
                                          <p:spTgt spid="75"/>
                                        </p:tgtEl>
                                        <p:attrNameLst>
                                          <p:attrName>style.visibility</p:attrName>
                                        </p:attrNameLst>
                                      </p:cBhvr>
                                      <p:to>
                                        <p:strVal val="visible"/>
                                      </p:to>
                                    </p:set>
                                    <p:anim calcmode="lin" valueType="num">
                                      <p:cBhvr additive="base">
                                        <p:cTn id="51" dur="500" fill="hold"/>
                                        <p:tgtEl>
                                          <p:spTgt spid="75"/>
                                        </p:tgtEl>
                                        <p:attrNameLst>
                                          <p:attrName>ppt_x</p:attrName>
                                        </p:attrNameLst>
                                      </p:cBhvr>
                                      <p:tavLst>
                                        <p:tav tm="0">
                                          <p:val>
                                            <p:strVal val="#ppt_x"/>
                                          </p:val>
                                        </p:tav>
                                        <p:tav tm="100000">
                                          <p:val>
                                            <p:strVal val="#ppt_x"/>
                                          </p:val>
                                        </p:tav>
                                      </p:tavLst>
                                    </p:anim>
                                    <p:anim calcmode="lin" valueType="num">
                                      <p:cBhvr additive="base">
                                        <p:cTn id="52" dur="500" fill="hold"/>
                                        <p:tgtEl>
                                          <p:spTgt spid="75"/>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box(in)">
                                      <p:cBhvr>
                                        <p:cTn id="57" dur="500"/>
                                        <p:tgtEl>
                                          <p:spTgt spid="47"/>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65"/>
                                        </p:tgtEl>
                                        <p:attrNameLst>
                                          <p:attrName>style.visibility</p:attrName>
                                        </p:attrNameLst>
                                      </p:cBhvr>
                                      <p:to>
                                        <p:strVal val="visible"/>
                                      </p:to>
                                    </p:set>
                                    <p:anim calcmode="lin" valueType="num">
                                      <p:cBhvr additive="base">
                                        <p:cTn id="62" dur="500" fill="hold"/>
                                        <p:tgtEl>
                                          <p:spTgt spid="65"/>
                                        </p:tgtEl>
                                        <p:attrNameLst>
                                          <p:attrName>ppt_x</p:attrName>
                                        </p:attrNameLst>
                                      </p:cBhvr>
                                      <p:tavLst>
                                        <p:tav tm="0">
                                          <p:val>
                                            <p:strVal val="#ppt_x"/>
                                          </p:val>
                                        </p:tav>
                                        <p:tav tm="100000">
                                          <p:val>
                                            <p:strVal val="#ppt_x"/>
                                          </p:val>
                                        </p:tav>
                                      </p:tavLst>
                                    </p:anim>
                                    <p:anim calcmode="lin" valueType="num">
                                      <p:cBhvr additive="base">
                                        <p:cTn id="63"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52"/>
                                        </p:tgtEl>
                                        <p:attrNameLst>
                                          <p:attrName>style.visibility</p:attrName>
                                        </p:attrNameLst>
                                      </p:cBhvr>
                                      <p:to>
                                        <p:strVal val="visible"/>
                                      </p:to>
                                    </p:set>
                                    <p:anim calcmode="lin" valueType="num">
                                      <p:cBhvr additive="base">
                                        <p:cTn id="68" dur="500" fill="hold"/>
                                        <p:tgtEl>
                                          <p:spTgt spid="52"/>
                                        </p:tgtEl>
                                        <p:attrNameLst>
                                          <p:attrName>ppt_x</p:attrName>
                                        </p:attrNameLst>
                                      </p:cBhvr>
                                      <p:tavLst>
                                        <p:tav tm="0">
                                          <p:val>
                                            <p:strVal val="#ppt_x"/>
                                          </p:val>
                                        </p:tav>
                                        <p:tav tm="100000">
                                          <p:val>
                                            <p:strVal val="#ppt_x"/>
                                          </p:val>
                                        </p:tav>
                                      </p:tavLst>
                                    </p:anim>
                                    <p:anim calcmode="lin" valueType="num">
                                      <p:cBhvr additive="base">
                                        <p:cTn id="69"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 presetClass="entr" presetSubtype="16" fill="hold" grpId="0" nodeType="click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box(in)">
                                      <p:cBhvr>
                                        <p:cTn id="74" dur="500"/>
                                        <p:tgtEl>
                                          <p:spTgt spid="46"/>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76"/>
                                        </p:tgtEl>
                                        <p:attrNameLst>
                                          <p:attrName>style.visibility</p:attrName>
                                        </p:attrNameLst>
                                      </p:cBhvr>
                                      <p:to>
                                        <p:strVal val="visible"/>
                                      </p:to>
                                    </p:set>
                                    <p:anim calcmode="lin" valueType="num">
                                      <p:cBhvr additive="base">
                                        <p:cTn id="79" dur="500" fill="hold"/>
                                        <p:tgtEl>
                                          <p:spTgt spid="76"/>
                                        </p:tgtEl>
                                        <p:attrNameLst>
                                          <p:attrName>ppt_x</p:attrName>
                                        </p:attrNameLst>
                                      </p:cBhvr>
                                      <p:tavLst>
                                        <p:tav tm="0">
                                          <p:val>
                                            <p:strVal val="#ppt_x"/>
                                          </p:val>
                                        </p:tav>
                                        <p:tav tm="100000">
                                          <p:val>
                                            <p:strVal val="#ppt_x"/>
                                          </p:val>
                                        </p:tav>
                                      </p:tavLst>
                                    </p:anim>
                                    <p:anim calcmode="lin" valueType="num">
                                      <p:cBhvr additive="base">
                                        <p:cTn id="80"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66"/>
                                        </p:tgtEl>
                                        <p:attrNameLst>
                                          <p:attrName>style.visibility</p:attrName>
                                        </p:attrNameLst>
                                      </p:cBhvr>
                                      <p:to>
                                        <p:strVal val="visible"/>
                                      </p:to>
                                    </p:set>
                                    <p:animEffect transition="in" filter="box(in)">
                                      <p:cBhvr>
                                        <p:cTn id="85" dur="500"/>
                                        <p:tgtEl>
                                          <p:spTgt spid="66"/>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nodeType="clickEffect">
                                  <p:stCondLst>
                                    <p:cond delay="0"/>
                                  </p:stCondLst>
                                  <p:childTnLst>
                                    <p:set>
                                      <p:cBhvr>
                                        <p:cTn id="89" dur="1" fill="hold">
                                          <p:stCondLst>
                                            <p:cond delay="0"/>
                                          </p:stCondLst>
                                        </p:cTn>
                                        <p:tgtEl>
                                          <p:spTgt spid="71"/>
                                        </p:tgtEl>
                                        <p:attrNameLst>
                                          <p:attrName>style.visibility</p:attrName>
                                        </p:attrNameLst>
                                      </p:cBhvr>
                                      <p:to>
                                        <p:strVal val="visible"/>
                                      </p:to>
                                    </p:set>
                                    <p:animEffect transition="in" filter="box(in)">
                                      <p:cBhvr>
                                        <p:cTn id="90" dur="500"/>
                                        <p:tgtEl>
                                          <p:spTgt spid="71"/>
                                        </p:tgtEl>
                                      </p:cBhvr>
                                    </p:animEffect>
                                  </p:childTnLst>
                                </p:cTn>
                              </p:par>
                              <p:par>
                                <p:cTn id="91" presetID="4" presetClass="entr" presetSubtype="16" fill="hold" grpId="0" nodeType="withEffect">
                                  <p:stCondLst>
                                    <p:cond delay="0"/>
                                  </p:stCondLst>
                                  <p:childTnLst>
                                    <p:set>
                                      <p:cBhvr>
                                        <p:cTn id="92" dur="1" fill="hold">
                                          <p:stCondLst>
                                            <p:cond delay="0"/>
                                          </p:stCondLst>
                                        </p:cTn>
                                        <p:tgtEl>
                                          <p:spTgt spid="72"/>
                                        </p:tgtEl>
                                        <p:attrNameLst>
                                          <p:attrName>style.visibility</p:attrName>
                                        </p:attrNameLst>
                                      </p:cBhvr>
                                      <p:to>
                                        <p:strVal val="visible"/>
                                      </p:to>
                                    </p:set>
                                    <p:animEffect transition="in" filter="box(in)">
                                      <p:cBhvr>
                                        <p:cTn id="93" dur="500"/>
                                        <p:tgtEl>
                                          <p:spTgt spid="72"/>
                                        </p:tgtEl>
                                      </p:cBhvr>
                                    </p:animEffect>
                                  </p:childTnLst>
                                </p:cTn>
                              </p:par>
                            </p:childTnLst>
                          </p:cTn>
                        </p:par>
                      </p:childTnLst>
                    </p:cTn>
                  </p:par>
                  <p:par>
                    <p:cTn id="94" fill="hold">
                      <p:stCondLst>
                        <p:cond delay="indefinite"/>
                      </p:stCondLst>
                      <p:childTnLst>
                        <p:par>
                          <p:cTn id="95" fill="hold">
                            <p:stCondLst>
                              <p:cond delay="0"/>
                            </p:stCondLst>
                            <p:childTnLst>
                              <p:par>
                                <p:cTn id="96" presetID="4" presetClass="entr" presetSubtype="16" fill="hold" grpId="0" nodeType="click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box(in)">
                                      <p:cBhvr>
                                        <p:cTn id="98" dur="500"/>
                                        <p:tgtEl>
                                          <p:spTgt spid="48"/>
                                        </p:tgtEl>
                                      </p:cBhvr>
                                    </p:animEffect>
                                  </p:childTnLst>
                                </p:cTn>
                              </p:par>
                              <p:par>
                                <p:cTn id="99" presetID="4" presetClass="entr" presetSubtype="16" fill="hold" nodeType="withEffect">
                                  <p:stCondLst>
                                    <p:cond delay="0"/>
                                  </p:stCondLst>
                                  <p:childTnLst>
                                    <p:set>
                                      <p:cBhvr>
                                        <p:cTn id="100" dur="1" fill="hold">
                                          <p:stCondLst>
                                            <p:cond delay="0"/>
                                          </p:stCondLst>
                                        </p:cTn>
                                        <p:tgtEl>
                                          <p:spTgt spid="70"/>
                                        </p:tgtEl>
                                        <p:attrNameLst>
                                          <p:attrName>style.visibility</p:attrName>
                                        </p:attrNameLst>
                                      </p:cBhvr>
                                      <p:to>
                                        <p:strVal val="visible"/>
                                      </p:to>
                                    </p:set>
                                    <p:animEffect transition="in" filter="box(in)">
                                      <p:cBhvr>
                                        <p:cTn id="101" dur="500"/>
                                        <p:tgtEl>
                                          <p:spTgt spid="70"/>
                                        </p:tgtEl>
                                      </p:cBhvr>
                                    </p:animEffect>
                                  </p:childTnLst>
                                </p:cTn>
                              </p:par>
                            </p:childTnLst>
                          </p:cTn>
                        </p:par>
                      </p:childTnLst>
                    </p:cTn>
                  </p:par>
                  <p:par>
                    <p:cTn id="102" fill="hold">
                      <p:stCondLst>
                        <p:cond delay="indefinite"/>
                      </p:stCondLst>
                      <p:childTnLst>
                        <p:par>
                          <p:cTn id="103" fill="hold">
                            <p:stCondLst>
                              <p:cond delay="0"/>
                            </p:stCondLst>
                            <p:childTnLst>
                              <p:par>
                                <p:cTn id="104" presetID="4" presetClass="entr" presetSubtype="16" fill="hold" nodeType="clickEffect">
                                  <p:stCondLst>
                                    <p:cond delay="0"/>
                                  </p:stCondLst>
                                  <p:childTnLst>
                                    <p:set>
                                      <p:cBhvr>
                                        <p:cTn id="105" dur="1" fill="hold">
                                          <p:stCondLst>
                                            <p:cond delay="0"/>
                                          </p:stCondLst>
                                        </p:cTn>
                                        <p:tgtEl>
                                          <p:spTgt spid="69"/>
                                        </p:tgtEl>
                                        <p:attrNameLst>
                                          <p:attrName>style.visibility</p:attrName>
                                        </p:attrNameLst>
                                      </p:cBhvr>
                                      <p:to>
                                        <p:strVal val="visible"/>
                                      </p:to>
                                    </p:set>
                                    <p:animEffect transition="in" filter="box(in)">
                                      <p:cBhvr>
                                        <p:cTn id="106" dur="500"/>
                                        <p:tgtEl>
                                          <p:spTgt spid="69"/>
                                        </p:tgtEl>
                                      </p:cBhvr>
                                    </p:animEffect>
                                  </p:childTnLst>
                                </p:cTn>
                              </p:par>
                              <p:par>
                                <p:cTn id="107" presetID="4" presetClass="entr" presetSubtype="16" fill="hold" grpId="0" nodeType="withEffect">
                                  <p:stCondLst>
                                    <p:cond delay="0"/>
                                  </p:stCondLst>
                                  <p:childTnLst>
                                    <p:set>
                                      <p:cBhvr>
                                        <p:cTn id="108" dur="1" fill="hold">
                                          <p:stCondLst>
                                            <p:cond delay="0"/>
                                          </p:stCondLst>
                                        </p:cTn>
                                        <p:tgtEl>
                                          <p:spTgt spid="49"/>
                                        </p:tgtEl>
                                        <p:attrNameLst>
                                          <p:attrName>style.visibility</p:attrName>
                                        </p:attrNameLst>
                                      </p:cBhvr>
                                      <p:to>
                                        <p:strVal val="visible"/>
                                      </p:to>
                                    </p:set>
                                    <p:animEffect transition="in" filter="box(in)">
                                      <p:cBhvr>
                                        <p:cTn id="10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65" grpId="0" animBg="1"/>
      <p:bldP spid="72" grpId="0" animBg="1"/>
      <p:bldP spid="74" grpId="0" animBg="1"/>
      <p:bldP spid="7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2">
            <a:extLst>
              <a:ext uri="{FF2B5EF4-FFF2-40B4-BE49-F238E27FC236}">
                <a16:creationId xmlns="" xmlns:a16="http://schemas.microsoft.com/office/drawing/2014/main" id="{194BD4F7-1848-460C-97BA-136FD6EE615D}"/>
              </a:ext>
            </a:extLst>
          </p:cNvPr>
          <p:cNvGraphicFramePr>
            <a:graphicFrameLocks noChangeAspect="1"/>
          </p:cNvGraphicFramePr>
          <p:nvPr>
            <p:extLst>
              <p:ext uri="{D42A27DB-BD31-4B8C-83A1-F6EECF244321}">
                <p14:modId xmlns:p14="http://schemas.microsoft.com/office/powerpoint/2010/main" val="93129461"/>
              </p:ext>
            </p:extLst>
          </p:nvPr>
        </p:nvGraphicFramePr>
        <p:xfrm>
          <a:off x="3090352" y="2166459"/>
          <a:ext cx="7726363" cy="3263900"/>
        </p:xfrm>
        <a:graphic>
          <a:graphicData uri="http://schemas.openxmlformats.org/presentationml/2006/ole">
            <mc:AlternateContent xmlns:mc="http://schemas.openxmlformats.org/markup-compatibility/2006">
              <mc:Choice xmlns:v="urn:schemas-microsoft-com:vml" Requires="v">
                <p:oleObj spid="_x0000_s15378" name="Visio" r:id="rId3" imgW="5553093" imgH="2343189" progId="Visio.Drawing.11">
                  <p:embed/>
                </p:oleObj>
              </mc:Choice>
              <mc:Fallback>
                <p:oleObj name="Visio" r:id="rId3" imgW="5553093" imgH="2343189" progId="Visio.Drawing.11">
                  <p:embed/>
                  <p:pic>
                    <p:nvPicPr>
                      <p:cNvPr id="37" name="Object 2"/>
                      <p:cNvPicPr>
                        <a:picLocks noChangeAspect="1" noChangeArrowheads="1"/>
                      </p:cNvPicPr>
                      <p:nvPr/>
                    </p:nvPicPr>
                    <p:blipFill>
                      <a:blip r:embed="rId4"/>
                      <a:srcRect/>
                      <a:stretch>
                        <a:fillRect/>
                      </a:stretch>
                    </p:blipFill>
                    <p:spPr bwMode="auto">
                      <a:xfrm>
                        <a:off x="3090352" y="2166459"/>
                        <a:ext cx="7726363" cy="326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Text Box 3">
            <a:extLst>
              <a:ext uri="{FF2B5EF4-FFF2-40B4-BE49-F238E27FC236}">
                <a16:creationId xmlns="" xmlns:a16="http://schemas.microsoft.com/office/drawing/2014/main" id="{3C7D6CFA-ADE3-4DC3-8228-36634EBE4AD3}"/>
              </a:ext>
            </a:extLst>
          </p:cNvPr>
          <p:cNvSpPr txBox="1">
            <a:spLocks noChangeArrowheads="1"/>
          </p:cNvSpPr>
          <p:nvPr/>
        </p:nvSpPr>
        <p:spPr bwMode="auto">
          <a:xfrm>
            <a:off x="1300806" y="3564895"/>
            <a:ext cx="2088205" cy="439738"/>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没有交流信号</a:t>
            </a:r>
            <a:endParaRPr lang="zh-CN" altLang="en-US" sz="6600" b="1" dirty="0">
              <a:latin typeface="微软雅黑" pitchFamily="34" charset="-122"/>
              <a:ea typeface="微软雅黑" pitchFamily="34" charset="-122"/>
            </a:endParaRPr>
          </a:p>
        </p:txBody>
      </p:sp>
      <p:sp>
        <p:nvSpPr>
          <p:cNvPr id="36" name="Text Box 5">
            <a:extLst>
              <a:ext uri="{FF2B5EF4-FFF2-40B4-BE49-F238E27FC236}">
                <a16:creationId xmlns="" xmlns:a16="http://schemas.microsoft.com/office/drawing/2014/main" id="{8770C2E3-DAB5-4CEF-B097-F47E156DA0A5}"/>
              </a:ext>
            </a:extLst>
          </p:cNvPr>
          <p:cNvSpPr txBox="1">
            <a:spLocks noChangeArrowheads="1"/>
          </p:cNvSpPr>
          <p:nvPr/>
        </p:nvSpPr>
        <p:spPr bwMode="auto">
          <a:xfrm>
            <a:off x="6542933" y="5167476"/>
            <a:ext cx="1200150" cy="57785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FF0000"/>
                </a:solidFill>
                <a:latin typeface="华文琥珀" pitchFamily="2" charset="-122"/>
                <a:ea typeface="华文琥珀" pitchFamily="2" charset="-122"/>
              </a:rPr>
              <a:t>高电平</a:t>
            </a:r>
            <a:endParaRPr lang="zh-CN" altLang="en-US" sz="4400" b="1">
              <a:solidFill>
                <a:srgbClr val="FF0000"/>
              </a:solidFill>
              <a:latin typeface="华文琥珀" pitchFamily="2" charset="-122"/>
              <a:ea typeface="华文琥珀" pitchFamily="2" charset="-122"/>
            </a:endParaRPr>
          </a:p>
        </p:txBody>
      </p:sp>
      <p:sp>
        <p:nvSpPr>
          <p:cNvPr id="37" name="Text Box 6">
            <a:extLst>
              <a:ext uri="{FF2B5EF4-FFF2-40B4-BE49-F238E27FC236}">
                <a16:creationId xmlns="" xmlns:a16="http://schemas.microsoft.com/office/drawing/2014/main" id="{B178ABA3-001B-4253-AE17-93A0F2BBFC03}"/>
              </a:ext>
            </a:extLst>
          </p:cNvPr>
          <p:cNvSpPr txBox="1">
            <a:spLocks noChangeArrowheads="1"/>
          </p:cNvSpPr>
          <p:nvPr/>
        </p:nvSpPr>
        <p:spPr bwMode="auto">
          <a:xfrm>
            <a:off x="5076083" y="2011526"/>
            <a:ext cx="1066800" cy="5334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FF0000"/>
                </a:solidFill>
                <a:latin typeface="华文琥珀" pitchFamily="2" charset="-122"/>
                <a:ea typeface="华文琥珀" pitchFamily="2" charset="-122"/>
              </a:rPr>
              <a:t>低电平</a:t>
            </a:r>
            <a:endParaRPr lang="zh-CN" altLang="en-US" sz="4400" b="1">
              <a:solidFill>
                <a:srgbClr val="FF0000"/>
              </a:solidFill>
              <a:latin typeface="华文琥珀" pitchFamily="2" charset="-122"/>
              <a:ea typeface="华文琥珀" pitchFamily="2" charset="-122"/>
            </a:endParaRPr>
          </a:p>
        </p:txBody>
      </p:sp>
      <p:sp>
        <p:nvSpPr>
          <p:cNvPr id="38" name="Text Box 7">
            <a:extLst>
              <a:ext uri="{FF2B5EF4-FFF2-40B4-BE49-F238E27FC236}">
                <a16:creationId xmlns="" xmlns:a16="http://schemas.microsoft.com/office/drawing/2014/main" id="{A4BE52E9-6979-4AFD-BAE4-176F314204C1}"/>
              </a:ext>
            </a:extLst>
          </p:cNvPr>
          <p:cNvSpPr txBox="1">
            <a:spLocks noChangeArrowheads="1"/>
          </p:cNvSpPr>
          <p:nvPr/>
        </p:nvSpPr>
        <p:spPr bwMode="auto">
          <a:xfrm>
            <a:off x="10848232" y="3329472"/>
            <a:ext cx="1643064" cy="396233"/>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三极管截止</a:t>
            </a:r>
            <a:endParaRPr lang="zh-CN" altLang="en-US" sz="4400" b="1" dirty="0">
              <a:latin typeface="微软雅黑" pitchFamily="34" charset="-122"/>
              <a:ea typeface="微软雅黑" pitchFamily="34" charset="-122"/>
            </a:endParaRPr>
          </a:p>
        </p:txBody>
      </p:sp>
      <p:sp>
        <p:nvSpPr>
          <p:cNvPr id="39" name="Text Box 8">
            <a:extLst>
              <a:ext uri="{FF2B5EF4-FFF2-40B4-BE49-F238E27FC236}">
                <a16:creationId xmlns="" xmlns:a16="http://schemas.microsoft.com/office/drawing/2014/main" id="{509F9083-1B26-4A8E-ACD7-518C46F9AEE5}"/>
              </a:ext>
            </a:extLst>
          </p:cNvPr>
          <p:cNvSpPr txBox="1">
            <a:spLocks noChangeArrowheads="1"/>
          </p:cNvSpPr>
          <p:nvPr/>
        </p:nvSpPr>
        <p:spPr bwMode="auto">
          <a:xfrm>
            <a:off x="9688674" y="5997292"/>
            <a:ext cx="1797860" cy="384451"/>
          </a:xfrm>
          <a:prstGeom prst="rect">
            <a:avLst/>
          </a:prstGeom>
          <a:solidFill>
            <a:srgbClr val="FFFFFF"/>
          </a:solidFill>
          <a:ln w="12700">
            <a:solidFill>
              <a:srgbClr val="FFFFFF"/>
            </a:solidFill>
            <a:miter lim="800000"/>
            <a:headEnd/>
            <a:tailEnd/>
          </a:ln>
        </p:spPr>
        <p:txBody>
          <a:bodyPr lIns="0" tIns="0" rIns="0" bIns="0"/>
          <a:lstStyle/>
          <a:p>
            <a:pPr algn="ctr" defTabSz="914400"/>
            <a:r>
              <a:rPr lang="en-US" altLang="zh-CN" sz="2400" b="1" dirty="0">
                <a:latin typeface="Times New Roman" panose="02020603050405020304" pitchFamily="18" charset="0"/>
                <a:ea typeface="微软雅黑" pitchFamily="34" charset="-122"/>
                <a:cs typeface="Times New Roman" panose="02020603050405020304" pitchFamily="18" charset="0"/>
              </a:rPr>
              <a:t>LED</a:t>
            </a:r>
            <a:r>
              <a:rPr lang="zh-CN" altLang="en-US" sz="2400" b="1" dirty="0">
                <a:latin typeface="Times New Roman" panose="02020603050405020304" pitchFamily="18" charset="0"/>
                <a:ea typeface="微软雅黑" pitchFamily="34" charset="-122"/>
                <a:cs typeface="Times New Roman" panose="02020603050405020304" pitchFamily="18" charset="0"/>
              </a:rPr>
              <a:t>不发光</a:t>
            </a:r>
            <a:endParaRPr lang="zh-CN" altLang="en-US" sz="4400" b="1" dirty="0">
              <a:latin typeface="Times New Roman" panose="02020603050405020304" pitchFamily="18" charset="0"/>
              <a:ea typeface="微软雅黑" pitchFamily="34" charset="-122"/>
              <a:cs typeface="Times New Roman" panose="02020603050405020304" pitchFamily="18" charset="0"/>
            </a:endParaRPr>
          </a:p>
        </p:txBody>
      </p:sp>
      <p:sp>
        <p:nvSpPr>
          <p:cNvPr id="41" name="Text Box 9">
            <a:extLst>
              <a:ext uri="{FF2B5EF4-FFF2-40B4-BE49-F238E27FC236}">
                <a16:creationId xmlns="" xmlns:a16="http://schemas.microsoft.com/office/drawing/2014/main" id="{F17962A8-6701-4E40-A1C3-3C1A6FD1446E}"/>
              </a:ext>
            </a:extLst>
          </p:cNvPr>
          <p:cNvSpPr txBox="1">
            <a:spLocks noChangeArrowheads="1"/>
          </p:cNvSpPr>
          <p:nvPr/>
        </p:nvSpPr>
        <p:spPr bwMode="auto">
          <a:xfrm>
            <a:off x="1565343" y="4534340"/>
            <a:ext cx="1154080" cy="452248"/>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无声音</a:t>
            </a:r>
            <a:endParaRPr lang="zh-CN" altLang="en-US" sz="6600" b="1" dirty="0">
              <a:latin typeface="微软雅黑" pitchFamily="34" charset="-122"/>
              <a:ea typeface="微软雅黑" pitchFamily="34" charset="-122"/>
            </a:endParaRPr>
          </a:p>
        </p:txBody>
      </p:sp>
      <p:cxnSp>
        <p:nvCxnSpPr>
          <p:cNvPr id="42" name="AutoShape 10">
            <a:extLst>
              <a:ext uri="{FF2B5EF4-FFF2-40B4-BE49-F238E27FC236}">
                <a16:creationId xmlns="" xmlns:a16="http://schemas.microsoft.com/office/drawing/2014/main" id="{DD98EAF2-0B34-40F0-9B2F-2D9D87FDB859}"/>
              </a:ext>
            </a:extLst>
          </p:cNvPr>
          <p:cNvCxnSpPr>
            <a:cxnSpLocks noChangeShapeType="1"/>
          </p:cNvCxnSpPr>
          <p:nvPr/>
        </p:nvCxnSpPr>
        <p:spPr bwMode="auto">
          <a:xfrm>
            <a:off x="2764683" y="4767426"/>
            <a:ext cx="444500" cy="1588"/>
          </a:xfrm>
          <a:prstGeom prst="straightConnector1">
            <a:avLst/>
          </a:prstGeom>
          <a:noFill/>
          <a:ln w="38100">
            <a:solidFill>
              <a:srgbClr val="FF33CC"/>
            </a:solidFill>
            <a:round/>
            <a:headEnd/>
            <a:tailEnd type="arrow" w="sm" len="lg"/>
          </a:ln>
        </p:spPr>
      </p:cxnSp>
      <p:cxnSp>
        <p:nvCxnSpPr>
          <p:cNvPr id="43" name="AutoShape 11">
            <a:extLst>
              <a:ext uri="{FF2B5EF4-FFF2-40B4-BE49-F238E27FC236}">
                <a16:creationId xmlns="" xmlns:a16="http://schemas.microsoft.com/office/drawing/2014/main" id="{E6AFF743-3411-4B47-AD68-158413015551}"/>
              </a:ext>
            </a:extLst>
          </p:cNvPr>
          <p:cNvCxnSpPr>
            <a:cxnSpLocks noChangeShapeType="1"/>
          </p:cNvCxnSpPr>
          <p:nvPr/>
        </p:nvCxnSpPr>
        <p:spPr bwMode="auto">
          <a:xfrm rot="5400000" flipH="1" flipV="1">
            <a:off x="5173938" y="5098734"/>
            <a:ext cx="977900" cy="22225"/>
          </a:xfrm>
          <a:prstGeom prst="straightConnector1">
            <a:avLst/>
          </a:prstGeom>
          <a:noFill/>
          <a:ln w="34925">
            <a:solidFill>
              <a:srgbClr val="FF0000"/>
            </a:solidFill>
            <a:round/>
            <a:headEnd/>
            <a:tailEnd type="arrow" w="sm" len="lg"/>
          </a:ln>
        </p:spPr>
      </p:cxnSp>
      <p:sp>
        <p:nvSpPr>
          <p:cNvPr id="53" name="Text Box 12">
            <a:extLst>
              <a:ext uri="{FF2B5EF4-FFF2-40B4-BE49-F238E27FC236}">
                <a16:creationId xmlns="" xmlns:a16="http://schemas.microsoft.com/office/drawing/2014/main" id="{2509A7B7-9154-4CAA-AB77-2D60B4703821}"/>
              </a:ext>
            </a:extLst>
          </p:cNvPr>
          <p:cNvSpPr txBox="1">
            <a:spLocks noChangeArrowheads="1"/>
          </p:cNvSpPr>
          <p:nvPr/>
        </p:nvSpPr>
        <p:spPr bwMode="auto">
          <a:xfrm>
            <a:off x="4275983" y="5523076"/>
            <a:ext cx="235585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0000FF"/>
                </a:solidFill>
                <a:latin typeface="微软雅黑" pitchFamily="34" charset="-122"/>
                <a:ea typeface="微软雅黑" pitchFamily="34" charset="-122"/>
              </a:rPr>
              <a:t>光线弱，光敏电阻阻值大</a:t>
            </a:r>
            <a:endParaRPr lang="zh-CN" altLang="en-US" sz="4400" b="1">
              <a:latin typeface="微软雅黑" pitchFamily="34" charset="-122"/>
              <a:ea typeface="微软雅黑" pitchFamily="34" charset="-122"/>
            </a:endParaRPr>
          </a:p>
        </p:txBody>
      </p:sp>
      <p:grpSp>
        <p:nvGrpSpPr>
          <p:cNvPr id="54" name="组合 11">
            <a:extLst>
              <a:ext uri="{FF2B5EF4-FFF2-40B4-BE49-F238E27FC236}">
                <a16:creationId xmlns="" xmlns:a16="http://schemas.microsoft.com/office/drawing/2014/main" id="{B8CE3BE6-194D-4E8F-8981-7F1481D73494}"/>
              </a:ext>
            </a:extLst>
          </p:cNvPr>
          <p:cNvGrpSpPr>
            <a:grpSpLocks/>
          </p:cNvGrpSpPr>
          <p:nvPr/>
        </p:nvGrpSpPr>
        <p:grpSpPr bwMode="auto">
          <a:xfrm>
            <a:off x="5742833" y="1255876"/>
            <a:ext cx="2889250" cy="2271713"/>
            <a:chOff x="3683000" y="762000"/>
            <a:chExt cx="2889250" cy="2271711"/>
          </a:xfrm>
        </p:grpSpPr>
        <p:sp>
          <p:nvSpPr>
            <p:cNvPr id="55" name="Text Box 4">
              <a:extLst>
                <a:ext uri="{FF2B5EF4-FFF2-40B4-BE49-F238E27FC236}">
                  <a16:creationId xmlns="" xmlns:a16="http://schemas.microsoft.com/office/drawing/2014/main" id="{9F28F4E2-5CCD-43C9-B34B-B97447A60285}"/>
                </a:ext>
              </a:extLst>
            </p:cNvPr>
            <p:cNvSpPr txBox="1">
              <a:spLocks noChangeArrowheads="1"/>
            </p:cNvSpPr>
            <p:nvPr/>
          </p:nvSpPr>
          <p:spPr bwMode="auto">
            <a:xfrm>
              <a:off x="3683000" y="762000"/>
              <a:ext cx="2889250" cy="7556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0000FF"/>
                  </a:solidFill>
                  <a:latin typeface="微软雅黑" pitchFamily="34" charset="-122"/>
                  <a:ea typeface="微软雅黑" pitchFamily="34" charset="-122"/>
                </a:rPr>
                <a:t>输出高电平，不能触发后续的单稳态电路</a:t>
              </a:r>
              <a:endParaRPr lang="zh-CN" altLang="en-US" sz="4400" b="1">
                <a:latin typeface="微软雅黑" pitchFamily="34" charset="-122"/>
                <a:ea typeface="微软雅黑" pitchFamily="34" charset="-122"/>
              </a:endParaRPr>
            </a:p>
          </p:txBody>
        </p:sp>
        <p:cxnSp>
          <p:nvCxnSpPr>
            <p:cNvPr id="57" name="AutoShape 13">
              <a:extLst>
                <a:ext uri="{FF2B5EF4-FFF2-40B4-BE49-F238E27FC236}">
                  <a16:creationId xmlns="" xmlns:a16="http://schemas.microsoft.com/office/drawing/2014/main" id="{9E886B3C-49CC-499C-9ED0-664AB1B45AF9}"/>
                </a:ext>
              </a:extLst>
            </p:cNvPr>
            <p:cNvCxnSpPr>
              <a:cxnSpLocks noChangeShapeType="1"/>
            </p:cNvCxnSpPr>
            <p:nvPr/>
          </p:nvCxnSpPr>
          <p:spPr bwMode="auto">
            <a:xfrm rot="16200000" flipH="1">
              <a:off x="4348956" y="2274094"/>
              <a:ext cx="1516061" cy="3173"/>
            </a:xfrm>
            <a:prstGeom prst="straightConnector1">
              <a:avLst/>
            </a:prstGeom>
            <a:noFill/>
            <a:ln w="38100">
              <a:solidFill>
                <a:srgbClr val="FF33CC"/>
              </a:solidFill>
              <a:round/>
              <a:headEnd/>
              <a:tailEnd type="arrow" w="sm" len="lg"/>
            </a:ln>
          </p:spPr>
        </p:cxnSp>
      </p:grpSp>
      <p:cxnSp>
        <p:nvCxnSpPr>
          <p:cNvPr id="58" name="AutoShape 14">
            <a:extLst>
              <a:ext uri="{FF2B5EF4-FFF2-40B4-BE49-F238E27FC236}">
                <a16:creationId xmlns="" xmlns:a16="http://schemas.microsoft.com/office/drawing/2014/main" id="{CCD6167E-7230-4569-B0A4-83EB027C9BE9}"/>
              </a:ext>
            </a:extLst>
          </p:cNvPr>
          <p:cNvCxnSpPr>
            <a:cxnSpLocks noChangeShapeType="1"/>
          </p:cNvCxnSpPr>
          <p:nvPr/>
        </p:nvCxnSpPr>
        <p:spPr bwMode="auto">
          <a:xfrm flipH="1" flipV="1">
            <a:off x="10448806" y="4824826"/>
            <a:ext cx="50177" cy="1172466"/>
          </a:xfrm>
          <a:prstGeom prst="straightConnector1">
            <a:avLst/>
          </a:prstGeom>
          <a:noFill/>
          <a:ln w="38100">
            <a:solidFill>
              <a:srgbClr val="FF33CC"/>
            </a:solidFill>
            <a:round/>
            <a:headEnd/>
            <a:tailEnd type="arrow" w="sm" len="lg"/>
          </a:ln>
        </p:spPr>
      </p:cxnSp>
      <p:cxnSp>
        <p:nvCxnSpPr>
          <p:cNvPr id="59" name="AutoShape 15">
            <a:extLst>
              <a:ext uri="{FF2B5EF4-FFF2-40B4-BE49-F238E27FC236}">
                <a16:creationId xmlns="" xmlns:a16="http://schemas.microsoft.com/office/drawing/2014/main" id="{C1BBF3CF-C1B2-41F7-A54A-16870F01F1B3}"/>
              </a:ext>
            </a:extLst>
          </p:cNvPr>
          <p:cNvCxnSpPr>
            <a:cxnSpLocks noChangeShapeType="1"/>
            <a:stCxn id="38" idx="1"/>
          </p:cNvCxnSpPr>
          <p:nvPr/>
        </p:nvCxnSpPr>
        <p:spPr bwMode="auto">
          <a:xfrm flipH="1" flipV="1">
            <a:off x="10205295" y="3524813"/>
            <a:ext cx="642937" cy="2776"/>
          </a:xfrm>
          <a:prstGeom prst="straightConnector1">
            <a:avLst/>
          </a:prstGeom>
          <a:noFill/>
          <a:ln w="38100">
            <a:solidFill>
              <a:srgbClr val="FF33CC"/>
            </a:solidFill>
            <a:round/>
            <a:headEnd/>
            <a:tailEnd type="arrow" w="sm" len="lg"/>
          </a:ln>
        </p:spPr>
      </p:cxnSp>
      <p:cxnSp>
        <p:nvCxnSpPr>
          <p:cNvPr id="60" name="AutoShape 16">
            <a:extLst>
              <a:ext uri="{FF2B5EF4-FFF2-40B4-BE49-F238E27FC236}">
                <a16:creationId xmlns="" xmlns:a16="http://schemas.microsoft.com/office/drawing/2014/main" id="{4729F34C-A5A7-4D80-935B-4AA89206F6ED}"/>
              </a:ext>
            </a:extLst>
          </p:cNvPr>
          <p:cNvCxnSpPr>
            <a:cxnSpLocks noChangeShapeType="1"/>
          </p:cNvCxnSpPr>
          <p:nvPr/>
        </p:nvCxnSpPr>
        <p:spPr bwMode="auto">
          <a:xfrm rot="5400000">
            <a:off x="8986095" y="2991014"/>
            <a:ext cx="1071563" cy="1588"/>
          </a:xfrm>
          <a:prstGeom prst="straightConnector1">
            <a:avLst/>
          </a:prstGeom>
          <a:noFill/>
          <a:ln w="38100">
            <a:solidFill>
              <a:srgbClr val="FF33CC"/>
            </a:solidFill>
            <a:round/>
            <a:headEnd/>
            <a:tailEnd type="arrow" w="sm" len="lg"/>
          </a:ln>
        </p:spPr>
      </p:cxnSp>
      <p:sp>
        <p:nvSpPr>
          <p:cNvPr id="61" name="Text Box 17">
            <a:extLst>
              <a:ext uri="{FF2B5EF4-FFF2-40B4-BE49-F238E27FC236}">
                <a16:creationId xmlns="" xmlns:a16="http://schemas.microsoft.com/office/drawing/2014/main" id="{3FE3F169-65B6-49E5-8793-C1BE98052068}"/>
              </a:ext>
            </a:extLst>
          </p:cNvPr>
          <p:cNvSpPr txBox="1">
            <a:spLocks noChangeArrowheads="1"/>
          </p:cNvSpPr>
          <p:nvPr/>
        </p:nvSpPr>
        <p:spPr bwMode="auto">
          <a:xfrm>
            <a:off x="8587633" y="1878176"/>
            <a:ext cx="1911350" cy="5334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0066FF"/>
                </a:solidFill>
                <a:latin typeface="华文琥珀" pitchFamily="2" charset="-122"/>
                <a:ea typeface="华文琥珀" pitchFamily="2" charset="-122"/>
              </a:rPr>
              <a:t>输出低电平</a:t>
            </a:r>
            <a:endParaRPr lang="zh-CN" altLang="en-US" sz="4400" b="1">
              <a:solidFill>
                <a:srgbClr val="0066FF"/>
              </a:solidFill>
              <a:latin typeface="华文琥珀" pitchFamily="2" charset="-122"/>
              <a:ea typeface="华文琥珀" pitchFamily="2" charset="-122"/>
            </a:endParaRPr>
          </a:p>
        </p:txBody>
      </p:sp>
      <p:cxnSp>
        <p:nvCxnSpPr>
          <p:cNvPr id="62" name="AutoShape 18">
            <a:extLst>
              <a:ext uri="{FF2B5EF4-FFF2-40B4-BE49-F238E27FC236}">
                <a16:creationId xmlns="" xmlns:a16="http://schemas.microsoft.com/office/drawing/2014/main" id="{E6E2A191-D07A-4024-B534-25C9B22CBF9E}"/>
              </a:ext>
            </a:extLst>
          </p:cNvPr>
          <p:cNvCxnSpPr>
            <a:cxnSpLocks noChangeShapeType="1"/>
          </p:cNvCxnSpPr>
          <p:nvPr/>
        </p:nvCxnSpPr>
        <p:spPr bwMode="auto">
          <a:xfrm rot="5400000">
            <a:off x="3900539" y="2875920"/>
            <a:ext cx="1773238" cy="44450"/>
          </a:xfrm>
          <a:prstGeom prst="straightConnector1">
            <a:avLst/>
          </a:prstGeom>
          <a:noFill/>
          <a:ln w="34925">
            <a:solidFill>
              <a:srgbClr val="FF33CC"/>
            </a:solidFill>
            <a:round/>
            <a:headEnd/>
            <a:tailEnd type="arrow" w="sm" len="lg"/>
          </a:ln>
        </p:spPr>
      </p:cxnSp>
      <p:sp>
        <p:nvSpPr>
          <p:cNvPr id="63" name="Text Box 19">
            <a:extLst>
              <a:ext uri="{FF2B5EF4-FFF2-40B4-BE49-F238E27FC236}">
                <a16:creationId xmlns="" xmlns:a16="http://schemas.microsoft.com/office/drawing/2014/main" id="{34921CA8-F722-4810-983A-250DC3FB3AA0}"/>
              </a:ext>
            </a:extLst>
          </p:cNvPr>
          <p:cNvSpPr txBox="1">
            <a:spLocks noChangeArrowheads="1"/>
          </p:cNvSpPr>
          <p:nvPr/>
        </p:nvSpPr>
        <p:spPr bwMode="auto">
          <a:xfrm>
            <a:off x="3831483" y="1478126"/>
            <a:ext cx="1689100" cy="6223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0000FF"/>
                </a:solidFill>
                <a:latin typeface="微软雅黑" pitchFamily="34" charset="-122"/>
                <a:ea typeface="微软雅黑" pitchFamily="34" charset="-122"/>
              </a:rPr>
              <a:t>无输入信号</a:t>
            </a:r>
            <a:endParaRPr lang="zh-CN" altLang="en-US" sz="4400" b="1">
              <a:latin typeface="微软雅黑" pitchFamily="34" charset="-122"/>
              <a:ea typeface="微软雅黑" pitchFamily="34" charset="-122"/>
            </a:endParaRPr>
          </a:p>
        </p:txBody>
      </p:sp>
      <p:cxnSp>
        <p:nvCxnSpPr>
          <p:cNvPr id="64" name="AutoShape 20">
            <a:extLst>
              <a:ext uri="{FF2B5EF4-FFF2-40B4-BE49-F238E27FC236}">
                <a16:creationId xmlns="" xmlns:a16="http://schemas.microsoft.com/office/drawing/2014/main" id="{C014A192-8266-4EBF-9EDA-51C9EF2871FB}"/>
              </a:ext>
            </a:extLst>
          </p:cNvPr>
          <p:cNvCxnSpPr>
            <a:cxnSpLocks noChangeShapeType="1"/>
          </p:cNvCxnSpPr>
          <p:nvPr/>
        </p:nvCxnSpPr>
        <p:spPr bwMode="auto">
          <a:xfrm rot="16200000" flipH="1">
            <a:off x="5076876" y="2988633"/>
            <a:ext cx="887413" cy="0"/>
          </a:xfrm>
          <a:prstGeom prst="straightConnector1">
            <a:avLst/>
          </a:prstGeom>
          <a:noFill/>
          <a:ln w="34925">
            <a:solidFill>
              <a:srgbClr val="FF33CC"/>
            </a:solidFill>
            <a:round/>
            <a:headEnd/>
            <a:tailEnd type="arrow" w="sm" len="lg"/>
          </a:ln>
        </p:spPr>
      </p:cxnSp>
      <p:cxnSp>
        <p:nvCxnSpPr>
          <p:cNvPr id="79" name="AutoShape 21">
            <a:extLst>
              <a:ext uri="{FF2B5EF4-FFF2-40B4-BE49-F238E27FC236}">
                <a16:creationId xmlns="" xmlns:a16="http://schemas.microsoft.com/office/drawing/2014/main" id="{8423588C-438D-4B95-9C0A-D6B5A65D8480}"/>
              </a:ext>
            </a:extLst>
          </p:cNvPr>
          <p:cNvCxnSpPr>
            <a:cxnSpLocks noChangeShapeType="1"/>
          </p:cNvCxnSpPr>
          <p:nvPr/>
        </p:nvCxnSpPr>
        <p:spPr bwMode="auto">
          <a:xfrm rot="16200000" flipV="1">
            <a:off x="5676158" y="3945101"/>
            <a:ext cx="1689100" cy="1200150"/>
          </a:xfrm>
          <a:prstGeom prst="straightConnector1">
            <a:avLst/>
          </a:prstGeom>
          <a:noFill/>
          <a:ln w="34925">
            <a:solidFill>
              <a:srgbClr val="FF33CC"/>
            </a:solidFill>
            <a:round/>
            <a:headEnd/>
            <a:tailEnd type="arrow" w="sm" len="lg"/>
          </a:ln>
        </p:spPr>
      </p:cxnSp>
      <p:cxnSp>
        <p:nvCxnSpPr>
          <p:cNvPr id="80" name="AutoShape 22">
            <a:extLst>
              <a:ext uri="{FF2B5EF4-FFF2-40B4-BE49-F238E27FC236}">
                <a16:creationId xmlns="" xmlns:a16="http://schemas.microsoft.com/office/drawing/2014/main" id="{28DA11A4-EB0B-47F6-A15F-E88AD8B25703}"/>
              </a:ext>
            </a:extLst>
          </p:cNvPr>
          <p:cNvCxnSpPr>
            <a:cxnSpLocks noChangeShapeType="1"/>
          </p:cNvCxnSpPr>
          <p:nvPr/>
        </p:nvCxnSpPr>
        <p:spPr bwMode="auto">
          <a:xfrm>
            <a:off x="3386983" y="3789526"/>
            <a:ext cx="444500" cy="1588"/>
          </a:xfrm>
          <a:prstGeom prst="straightConnector1">
            <a:avLst/>
          </a:prstGeom>
          <a:noFill/>
          <a:ln w="34925">
            <a:solidFill>
              <a:srgbClr val="FF33CC"/>
            </a:solidFill>
            <a:round/>
            <a:headEnd/>
            <a:tailEnd type="arrow" w="sm" len="lg"/>
          </a:ln>
        </p:spPr>
      </p:cxnSp>
      <p:sp>
        <p:nvSpPr>
          <p:cNvPr id="81" name="Text Box 23">
            <a:extLst>
              <a:ext uri="{FF2B5EF4-FFF2-40B4-BE49-F238E27FC236}">
                <a16:creationId xmlns="" xmlns:a16="http://schemas.microsoft.com/office/drawing/2014/main" id="{CA7A62FA-AA0C-45A2-A1A0-2F5911867A5A}"/>
              </a:ext>
            </a:extLst>
          </p:cNvPr>
          <p:cNvSpPr txBox="1">
            <a:spLocks noChangeArrowheads="1"/>
          </p:cNvSpPr>
          <p:nvPr/>
        </p:nvSpPr>
        <p:spPr bwMode="auto">
          <a:xfrm>
            <a:off x="4275983" y="6323176"/>
            <a:ext cx="5111750" cy="496888"/>
          </a:xfrm>
          <a:prstGeom prst="rect">
            <a:avLst/>
          </a:prstGeom>
          <a:solidFill>
            <a:srgbClr val="FFFFFF"/>
          </a:solidFill>
          <a:ln w="9525">
            <a:solidFill>
              <a:srgbClr val="FFFFFF"/>
            </a:solidFill>
            <a:miter lim="800000"/>
            <a:headEnd/>
            <a:tailEnd/>
          </a:ln>
        </p:spPr>
        <p:txBody>
          <a:bodyPr lIns="0" tIns="0" rIns="0" bIns="0">
            <a:spAutoFit/>
          </a:bodyPr>
          <a:lstStyle/>
          <a:p>
            <a:pPr algn="just" defTabSz="914400"/>
            <a:r>
              <a:rPr lang="zh-CN" altLang="en-US" sz="3200" b="1">
                <a:solidFill>
                  <a:srgbClr val="FF0000"/>
                </a:solidFill>
                <a:latin typeface="微软雅黑" pitchFamily="34" charset="-122"/>
                <a:ea typeface="微软雅黑" pitchFamily="34" charset="-122"/>
              </a:rPr>
              <a:t>晚上（光线弱）、无声音</a:t>
            </a:r>
            <a:endParaRPr lang="zh-CN" altLang="en-US" sz="4800" b="1">
              <a:latin typeface="微软雅黑" pitchFamily="34" charset="-122"/>
              <a:ea typeface="微软雅黑" pitchFamily="34" charset="-122"/>
            </a:endParaRPr>
          </a:p>
        </p:txBody>
      </p:sp>
      <p:sp>
        <p:nvSpPr>
          <p:cNvPr id="44" name="文本框 60">
            <a:extLst>
              <a:ext uri="{FF2B5EF4-FFF2-40B4-BE49-F238E27FC236}">
                <a16:creationId xmlns="" xmlns:a16="http://schemas.microsoft.com/office/drawing/2014/main" id="{2B65491D-7B32-492A-B2E7-51DCACD6DF8A}"/>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声光自动控制电路</a:t>
            </a:r>
          </a:p>
        </p:txBody>
      </p:sp>
      <p:sp>
        <p:nvSpPr>
          <p:cNvPr id="45" name="矩形 44">
            <a:extLst>
              <a:ext uri="{FF2B5EF4-FFF2-40B4-BE49-F238E27FC236}">
                <a16:creationId xmlns="" xmlns:a16="http://schemas.microsoft.com/office/drawing/2014/main" id="{6C346D2B-37B4-4F6C-A4B2-D668512DF78B}"/>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46" name="矩形 45">
            <a:extLst>
              <a:ext uri="{FF2B5EF4-FFF2-40B4-BE49-F238E27FC236}">
                <a16:creationId xmlns="" xmlns:a16="http://schemas.microsoft.com/office/drawing/2014/main" id="{E6887CC6-2844-4D9D-ACD3-D2CE5F681F6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a:extLst>
              <a:ext uri="{FF2B5EF4-FFF2-40B4-BE49-F238E27FC236}">
                <a16:creationId xmlns="" xmlns:a16="http://schemas.microsoft.com/office/drawing/2014/main" id="{20B46EE9-7151-4367-9D16-6B5E8B5EB7A5}"/>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8" name="直接连接符 58">
            <a:extLst>
              <a:ext uri="{FF2B5EF4-FFF2-40B4-BE49-F238E27FC236}">
                <a16:creationId xmlns="" xmlns:a16="http://schemas.microsoft.com/office/drawing/2014/main" id="{885FAA0A-4E5C-4F67-A73F-ECC039964D23}"/>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 xmlns:a16="http://schemas.microsoft.com/office/drawing/2014/main" id="{D7D09C1A-A062-4A7B-B617-5D8837F59268}"/>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0" name="矩形 49">
            <a:extLst>
              <a:ext uri="{FF2B5EF4-FFF2-40B4-BE49-F238E27FC236}">
                <a16:creationId xmlns="" xmlns:a16="http://schemas.microsoft.com/office/drawing/2014/main" id="{A2024755-9621-46AC-9A0C-8430233CE71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24224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box(in)">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diamond(in)">
                                      <p:cBhvr>
                                        <p:cTn id="12" dur="20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 calcmode="lin" valueType="num">
                                      <p:cBhvr additive="base">
                                        <p:cTn id="17" dur="500" fill="hold"/>
                                        <p:tgtEl>
                                          <p:spTgt spid="41"/>
                                        </p:tgtEl>
                                        <p:attrNameLst>
                                          <p:attrName>ppt_x</p:attrName>
                                        </p:attrNameLst>
                                      </p:cBhvr>
                                      <p:tavLst>
                                        <p:tav tm="0">
                                          <p:val>
                                            <p:strVal val="0-#ppt_w/2"/>
                                          </p:val>
                                        </p:tav>
                                        <p:tav tm="100000">
                                          <p:val>
                                            <p:strVal val="#ppt_x"/>
                                          </p:val>
                                        </p:tav>
                                      </p:tavLst>
                                    </p:anim>
                                    <p:anim calcmode="lin" valueType="num">
                                      <p:cBhvr additive="base">
                                        <p:cTn id="18"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0-#ppt_w/2"/>
                                          </p:val>
                                        </p:tav>
                                        <p:tav tm="100000">
                                          <p:val>
                                            <p:strVal val="#ppt_x"/>
                                          </p:val>
                                        </p:tav>
                                      </p:tavLst>
                                    </p:anim>
                                    <p:anim calcmode="lin" valueType="num">
                                      <p:cBhvr additive="base">
                                        <p:cTn id="24"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500" fill="hold"/>
                                        <p:tgtEl>
                                          <p:spTgt spid="35"/>
                                        </p:tgtEl>
                                        <p:attrNameLst>
                                          <p:attrName>ppt_x</p:attrName>
                                        </p:attrNameLst>
                                      </p:cBhvr>
                                      <p:tavLst>
                                        <p:tav tm="0">
                                          <p:val>
                                            <p:strVal val="0-#ppt_w/2"/>
                                          </p:val>
                                        </p:tav>
                                        <p:tav tm="100000">
                                          <p:val>
                                            <p:strVal val="#ppt_x"/>
                                          </p:val>
                                        </p:tav>
                                      </p:tavLst>
                                    </p:anim>
                                    <p:anim calcmode="lin" valueType="num">
                                      <p:cBhvr additive="base">
                                        <p:cTn id="30"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80"/>
                                        </p:tgtEl>
                                        <p:attrNameLst>
                                          <p:attrName>style.visibility</p:attrName>
                                        </p:attrNameLst>
                                      </p:cBhvr>
                                      <p:to>
                                        <p:strVal val="visible"/>
                                      </p:to>
                                    </p:set>
                                    <p:anim calcmode="lin" valueType="num">
                                      <p:cBhvr additive="base">
                                        <p:cTn id="35" dur="500" fill="hold"/>
                                        <p:tgtEl>
                                          <p:spTgt spid="80"/>
                                        </p:tgtEl>
                                        <p:attrNameLst>
                                          <p:attrName>ppt_x</p:attrName>
                                        </p:attrNameLst>
                                      </p:cBhvr>
                                      <p:tavLst>
                                        <p:tav tm="0">
                                          <p:val>
                                            <p:strVal val="0-#ppt_w/2"/>
                                          </p:val>
                                        </p:tav>
                                        <p:tav tm="100000">
                                          <p:val>
                                            <p:strVal val="#ppt_x"/>
                                          </p:val>
                                        </p:tav>
                                      </p:tavLst>
                                    </p:anim>
                                    <p:anim calcmode="lin" valueType="num">
                                      <p:cBhvr additive="base">
                                        <p:cTn id="36" dur="500" fill="hold"/>
                                        <p:tgtEl>
                                          <p:spTgt spid="80"/>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1" fill="hold" grpId="0" nodeType="clickEffect">
                                  <p:stCondLst>
                                    <p:cond delay="0"/>
                                  </p:stCondLst>
                                  <p:childTnLst>
                                    <p:set>
                                      <p:cBhvr>
                                        <p:cTn id="40" dur="1" fill="hold">
                                          <p:stCondLst>
                                            <p:cond delay="0"/>
                                          </p:stCondLst>
                                        </p:cTn>
                                        <p:tgtEl>
                                          <p:spTgt spid="63"/>
                                        </p:tgtEl>
                                        <p:attrNameLst>
                                          <p:attrName>style.visibility</p:attrName>
                                        </p:attrNameLst>
                                      </p:cBhvr>
                                      <p:to>
                                        <p:strVal val="visible"/>
                                      </p:to>
                                    </p:set>
                                    <p:anim calcmode="lin" valueType="num">
                                      <p:cBhvr additive="base">
                                        <p:cTn id="41" dur="500" fill="hold"/>
                                        <p:tgtEl>
                                          <p:spTgt spid="63"/>
                                        </p:tgtEl>
                                        <p:attrNameLst>
                                          <p:attrName>ppt_x</p:attrName>
                                        </p:attrNameLst>
                                      </p:cBhvr>
                                      <p:tavLst>
                                        <p:tav tm="0">
                                          <p:val>
                                            <p:strVal val="#ppt_x"/>
                                          </p:val>
                                        </p:tav>
                                        <p:tav tm="100000">
                                          <p:val>
                                            <p:strVal val="#ppt_x"/>
                                          </p:val>
                                        </p:tav>
                                      </p:tavLst>
                                    </p:anim>
                                    <p:anim calcmode="lin" valueType="num">
                                      <p:cBhvr additive="base">
                                        <p:cTn id="42" dur="500" fill="hold"/>
                                        <p:tgtEl>
                                          <p:spTgt spid="63"/>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0"/>
                                  </p:stCondLst>
                                  <p:childTnLst>
                                    <p:set>
                                      <p:cBhvr>
                                        <p:cTn id="44" dur="1" fill="hold">
                                          <p:stCondLst>
                                            <p:cond delay="0"/>
                                          </p:stCondLst>
                                        </p:cTn>
                                        <p:tgtEl>
                                          <p:spTgt spid="62"/>
                                        </p:tgtEl>
                                        <p:attrNameLst>
                                          <p:attrName>style.visibility</p:attrName>
                                        </p:attrNameLst>
                                      </p:cBhvr>
                                      <p:to>
                                        <p:strVal val="visible"/>
                                      </p:to>
                                    </p:set>
                                    <p:anim calcmode="lin" valueType="num">
                                      <p:cBhvr additive="base">
                                        <p:cTn id="45" dur="500" fill="hold"/>
                                        <p:tgtEl>
                                          <p:spTgt spid="62"/>
                                        </p:tgtEl>
                                        <p:attrNameLst>
                                          <p:attrName>ppt_x</p:attrName>
                                        </p:attrNameLst>
                                      </p:cBhvr>
                                      <p:tavLst>
                                        <p:tav tm="0">
                                          <p:val>
                                            <p:strVal val="#ppt_x"/>
                                          </p:val>
                                        </p:tav>
                                        <p:tav tm="100000">
                                          <p:val>
                                            <p:strVal val="#ppt_x"/>
                                          </p:val>
                                        </p:tav>
                                      </p:tavLst>
                                    </p:anim>
                                    <p:anim calcmode="lin" valueType="num">
                                      <p:cBhvr additive="base">
                                        <p:cTn id="46" dur="500" fill="hold"/>
                                        <p:tgtEl>
                                          <p:spTgt spid="62"/>
                                        </p:tgtEl>
                                        <p:attrNameLst>
                                          <p:attrName>ppt_y</p:attrName>
                                        </p:attrNameLst>
                                      </p:cBhvr>
                                      <p:tavLst>
                                        <p:tav tm="0">
                                          <p:val>
                                            <p:strVal val="0-#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1" fill="hold" nodeType="clickEffect">
                                  <p:stCondLst>
                                    <p:cond delay="0"/>
                                  </p:stCondLst>
                                  <p:childTnLst>
                                    <p:set>
                                      <p:cBhvr>
                                        <p:cTn id="50" dur="1" fill="hold">
                                          <p:stCondLst>
                                            <p:cond delay="0"/>
                                          </p:stCondLst>
                                        </p:cTn>
                                        <p:tgtEl>
                                          <p:spTgt spid="64"/>
                                        </p:tgtEl>
                                        <p:attrNameLst>
                                          <p:attrName>style.visibility</p:attrName>
                                        </p:attrNameLst>
                                      </p:cBhvr>
                                      <p:to>
                                        <p:strVal val="visible"/>
                                      </p:to>
                                    </p:set>
                                    <p:anim calcmode="lin" valueType="num">
                                      <p:cBhvr additive="base">
                                        <p:cTn id="51" dur="500" fill="hold"/>
                                        <p:tgtEl>
                                          <p:spTgt spid="64"/>
                                        </p:tgtEl>
                                        <p:attrNameLst>
                                          <p:attrName>ppt_x</p:attrName>
                                        </p:attrNameLst>
                                      </p:cBhvr>
                                      <p:tavLst>
                                        <p:tav tm="0">
                                          <p:val>
                                            <p:strVal val="#ppt_x"/>
                                          </p:val>
                                        </p:tav>
                                        <p:tav tm="100000">
                                          <p:val>
                                            <p:strVal val="#ppt_x"/>
                                          </p:val>
                                        </p:tav>
                                      </p:tavLst>
                                    </p:anim>
                                    <p:anim calcmode="lin" valueType="num">
                                      <p:cBhvr additive="base">
                                        <p:cTn id="52" dur="500" fill="hold"/>
                                        <p:tgtEl>
                                          <p:spTgt spid="64"/>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box(in)">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53"/>
                                        </p:tgtEl>
                                        <p:attrNameLst>
                                          <p:attrName>style.visibility</p:attrName>
                                        </p:attrNameLst>
                                      </p:cBhvr>
                                      <p:to>
                                        <p:strVal val="visible"/>
                                      </p:to>
                                    </p:set>
                                    <p:anim calcmode="lin" valueType="num">
                                      <p:cBhvr additive="base">
                                        <p:cTn id="62" dur="500" fill="hold"/>
                                        <p:tgtEl>
                                          <p:spTgt spid="53"/>
                                        </p:tgtEl>
                                        <p:attrNameLst>
                                          <p:attrName>ppt_x</p:attrName>
                                        </p:attrNameLst>
                                      </p:cBhvr>
                                      <p:tavLst>
                                        <p:tav tm="0">
                                          <p:val>
                                            <p:strVal val="#ppt_x"/>
                                          </p:val>
                                        </p:tav>
                                        <p:tav tm="100000">
                                          <p:val>
                                            <p:strVal val="#ppt_x"/>
                                          </p:val>
                                        </p:tav>
                                      </p:tavLst>
                                    </p:anim>
                                    <p:anim calcmode="lin" valueType="num">
                                      <p:cBhvr additive="base">
                                        <p:cTn id="63"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43"/>
                                        </p:tgtEl>
                                        <p:attrNameLst>
                                          <p:attrName>style.visibility</p:attrName>
                                        </p:attrNameLst>
                                      </p:cBhvr>
                                      <p:to>
                                        <p:strVal val="visible"/>
                                      </p:to>
                                    </p:set>
                                    <p:anim calcmode="lin" valueType="num">
                                      <p:cBhvr additive="base">
                                        <p:cTn id="68" dur="500" fill="hold"/>
                                        <p:tgtEl>
                                          <p:spTgt spid="43"/>
                                        </p:tgtEl>
                                        <p:attrNameLst>
                                          <p:attrName>ppt_x</p:attrName>
                                        </p:attrNameLst>
                                      </p:cBhvr>
                                      <p:tavLst>
                                        <p:tav tm="0">
                                          <p:val>
                                            <p:strVal val="#ppt_x"/>
                                          </p:val>
                                        </p:tav>
                                        <p:tav tm="100000">
                                          <p:val>
                                            <p:strVal val="#ppt_x"/>
                                          </p:val>
                                        </p:tav>
                                      </p:tavLst>
                                    </p:anim>
                                    <p:anim calcmode="lin" valueType="num">
                                      <p:cBhvr additive="base">
                                        <p:cTn id="69"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 presetClass="entr" presetSubtype="16" fill="hold" grpId="0" nodeType="click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box(in)">
                                      <p:cBhvr>
                                        <p:cTn id="74" dur="500"/>
                                        <p:tgtEl>
                                          <p:spTgt spid="36"/>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79"/>
                                        </p:tgtEl>
                                        <p:attrNameLst>
                                          <p:attrName>style.visibility</p:attrName>
                                        </p:attrNameLst>
                                      </p:cBhvr>
                                      <p:to>
                                        <p:strVal val="visible"/>
                                      </p:to>
                                    </p:set>
                                    <p:anim calcmode="lin" valueType="num">
                                      <p:cBhvr additive="base">
                                        <p:cTn id="79" dur="500" fill="hold"/>
                                        <p:tgtEl>
                                          <p:spTgt spid="79"/>
                                        </p:tgtEl>
                                        <p:attrNameLst>
                                          <p:attrName>ppt_x</p:attrName>
                                        </p:attrNameLst>
                                      </p:cBhvr>
                                      <p:tavLst>
                                        <p:tav tm="0">
                                          <p:val>
                                            <p:strVal val="#ppt_x"/>
                                          </p:val>
                                        </p:tav>
                                        <p:tav tm="100000">
                                          <p:val>
                                            <p:strVal val="#ppt_x"/>
                                          </p:val>
                                        </p:tav>
                                      </p:tavLst>
                                    </p:anim>
                                    <p:anim calcmode="lin" valueType="num">
                                      <p:cBhvr additive="base">
                                        <p:cTn id="80"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54"/>
                                        </p:tgtEl>
                                        <p:attrNameLst>
                                          <p:attrName>style.visibility</p:attrName>
                                        </p:attrNameLst>
                                      </p:cBhvr>
                                      <p:to>
                                        <p:strVal val="visible"/>
                                      </p:to>
                                    </p:set>
                                    <p:animEffect transition="in" filter="box(in)">
                                      <p:cBhvr>
                                        <p:cTn id="85" dur="500"/>
                                        <p:tgtEl>
                                          <p:spTgt spid="54"/>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nodeType="clickEffect">
                                  <p:stCondLst>
                                    <p:cond delay="0"/>
                                  </p:stCondLst>
                                  <p:childTnLst>
                                    <p:set>
                                      <p:cBhvr>
                                        <p:cTn id="89" dur="1" fill="hold">
                                          <p:stCondLst>
                                            <p:cond delay="0"/>
                                          </p:stCondLst>
                                        </p:cTn>
                                        <p:tgtEl>
                                          <p:spTgt spid="60"/>
                                        </p:tgtEl>
                                        <p:attrNameLst>
                                          <p:attrName>style.visibility</p:attrName>
                                        </p:attrNameLst>
                                      </p:cBhvr>
                                      <p:to>
                                        <p:strVal val="visible"/>
                                      </p:to>
                                    </p:set>
                                    <p:animEffect transition="in" filter="box(in)">
                                      <p:cBhvr>
                                        <p:cTn id="90" dur="500"/>
                                        <p:tgtEl>
                                          <p:spTgt spid="60"/>
                                        </p:tgtEl>
                                      </p:cBhvr>
                                    </p:animEffect>
                                  </p:childTnLst>
                                </p:cTn>
                              </p:par>
                              <p:par>
                                <p:cTn id="91" presetID="4" presetClass="entr" presetSubtype="16" fill="hold" grpId="0" nodeType="withEffect">
                                  <p:stCondLst>
                                    <p:cond delay="0"/>
                                  </p:stCondLst>
                                  <p:childTnLst>
                                    <p:set>
                                      <p:cBhvr>
                                        <p:cTn id="92" dur="1" fill="hold">
                                          <p:stCondLst>
                                            <p:cond delay="0"/>
                                          </p:stCondLst>
                                        </p:cTn>
                                        <p:tgtEl>
                                          <p:spTgt spid="61"/>
                                        </p:tgtEl>
                                        <p:attrNameLst>
                                          <p:attrName>style.visibility</p:attrName>
                                        </p:attrNameLst>
                                      </p:cBhvr>
                                      <p:to>
                                        <p:strVal val="visible"/>
                                      </p:to>
                                    </p:set>
                                    <p:animEffect transition="in" filter="box(in)">
                                      <p:cBhvr>
                                        <p:cTn id="93" dur="500"/>
                                        <p:tgtEl>
                                          <p:spTgt spid="61"/>
                                        </p:tgtEl>
                                      </p:cBhvr>
                                    </p:animEffect>
                                  </p:childTnLst>
                                </p:cTn>
                              </p:par>
                            </p:childTnLst>
                          </p:cTn>
                        </p:par>
                      </p:childTnLst>
                    </p:cTn>
                  </p:par>
                  <p:par>
                    <p:cTn id="94" fill="hold">
                      <p:stCondLst>
                        <p:cond delay="indefinite"/>
                      </p:stCondLst>
                      <p:childTnLst>
                        <p:par>
                          <p:cTn id="95" fill="hold">
                            <p:stCondLst>
                              <p:cond delay="0"/>
                            </p:stCondLst>
                            <p:childTnLst>
                              <p:par>
                                <p:cTn id="96" presetID="4" presetClass="entr" presetSubtype="16" fill="hold" grpId="0" nodeType="click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box(in)">
                                      <p:cBhvr>
                                        <p:cTn id="98" dur="500"/>
                                        <p:tgtEl>
                                          <p:spTgt spid="38"/>
                                        </p:tgtEl>
                                      </p:cBhvr>
                                    </p:animEffect>
                                  </p:childTnLst>
                                </p:cTn>
                              </p:par>
                              <p:par>
                                <p:cTn id="99" presetID="4" presetClass="entr" presetSubtype="16" fill="hold"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box(in)">
                                      <p:cBhvr>
                                        <p:cTn id="101" dur="500"/>
                                        <p:tgtEl>
                                          <p:spTgt spid="59"/>
                                        </p:tgtEl>
                                      </p:cBhvr>
                                    </p:animEffect>
                                  </p:childTnLst>
                                </p:cTn>
                              </p:par>
                            </p:childTnLst>
                          </p:cTn>
                        </p:par>
                      </p:childTnLst>
                    </p:cTn>
                  </p:par>
                  <p:par>
                    <p:cTn id="102" fill="hold">
                      <p:stCondLst>
                        <p:cond delay="indefinite"/>
                      </p:stCondLst>
                      <p:childTnLst>
                        <p:par>
                          <p:cTn id="103" fill="hold">
                            <p:stCondLst>
                              <p:cond delay="0"/>
                            </p:stCondLst>
                            <p:childTnLst>
                              <p:par>
                                <p:cTn id="104" presetID="4" presetClass="entr" presetSubtype="16" fill="hold" nodeType="clickEffect">
                                  <p:stCondLst>
                                    <p:cond delay="0"/>
                                  </p:stCondLst>
                                  <p:childTnLst>
                                    <p:set>
                                      <p:cBhvr>
                                        <p:cTn id="105" dur="1" fill="hold">
                                          <p:stCondLst>
                                            <p:cond delay="0"/>
                                          </p:stCondLst>
                                        </p:cTn>
                                        <p:tgtEl>
                                          <p:spTgt spid="58"/>
                                        </p:tgtEl>
                                        <p:attrNameLst>
                                          <p:attrName>style.visibility</p:attrName>
                                        </p:attrNameLst>
                                      </p:cBhvr>
                                      <p:to>
                                        <p:strVal val="visible"/>
                                      </p:to>
                                    </p:set>
                                    <p:animEffect transition="in" filter="box(in)">
                                      <p:cBhvr>
                                        <p:cTn id="106" dur="500"/>
                                        <p:tgtEl>
                                          <p:spTgt spid="58"/>
                                        </p:tgtEl>
                                      </p:cBhvr>
                                    </p:animEffect>
                                  </p:childTnLst>
                                </p:cTn>
                              </p:par>
                              <p:par>
                                <p:cTn id="107" presetID="4" presetClass="entr" presetSubtype="16"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box(in)">
                                      <p:cBhvr>
                                        <p:cTn id="10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1" grpId="0" animBg="1"/>
      <p:bldP spid="53" grpId="0" animBg="1"/>
      <p:bldP spid="61" grpId="0" animBg="1"/>
      <p:bldP spid="63" grpId="0" animBg="1"/>
      <p:bldP spid="8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Object 2">
            <a:extLst>
              <a:ext uri="{FF2B5EF4-FFF2-40B4-BE49-F238E27FC236}">
                <a16:creationId xmlns="" xmlns:a16="http://schemas.microsoft.com/office/drawing/2014/main" id="{7A39FF5B-F285-44E4-99E8-3628D3A1BCE8}"/>
              </a:ext>
            </a:extLst>
          </p:cNvPr>
          <p:cNvGraphicFramePr>
            <a:graphicFrameLocks noChangeAspect="1"/>
          </p:cNvGraphicFramePr>
          <p:nvPr>
            <p:extLst>
              <p:ext uri="{D42A27DB-BD31-4B8C-83A1-F6EECF244321}">
                <p14:modId xmlns:p14="http://schemas.microsoft.com/office/powerpoint/2010/main" val="433294918"/>
              </p:ext>
            </p:extLst>
          </p:nvPr>
        </p:nvGraphicFramePr>
        <p:xfrm>
          <a:off x="3295991" y="2033318"/>
          <a:ext cx="7726363" cy="3263900"/>
        </p:xfrm>
        <a:graphic>
          <a:graphicData uri="http://schemas.openxmlformats.org/presentationml/2006/ole">
            <mc:AlternateContent xmlns:mc="http://schemas.openxmlformats.org/markup-compatibility/2006">
              <mc:Choice xmlns:v="urn:schemas-microsoft-com:vml" Requires="v">
                <p:oleObj spid="_x0000_s16402" name="Visio" r:id="rId3" imgW="5553093" imgH="2343189" progId="Visio.Drawing.11">
                  <p:embed/>
                </p:oleObj>
              </mc:Choice>
              <mc:Fallback>
                <p:oleObj name="Visio" r:id="rId3" imgW="5553093" imgH="2343189" progId="Visio.Drawing.11">
                  <p:embed/>
                  <p:pic>
                    <p:nvPicPr>
                      <p:cNvPr id="37" name="Object 2"/>
                      <p:cNvPicPr>
                        <a:picLocks noChangeAspect="1" noChangeArrowheads="1"/>
                      </p:cNvPicPr>
                      <p:nvPr/>
                    </p:nvPicPr>
                    <p:blipFill>
                      <a:blip r:embed="rId4"/>
                      <a:srcRect/>
                      <a:stretch>
                        <a:fillRect/>
                      </a:stretch>
                    </p:blipFill>
                    <p:spPr bwMode="auto">
                      <a:xfrm>
                        <a:off x="3295991" y="2033318"/>
                        <a:ext cx="7726363" cy="326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Text Box 3">
            <a:extLst>
              <a:ext uri="{FF2B5EF4-FFF2-40B4-BE49-F238E27FC236}">
                <a16:creationId xmlns="" xmlns:a16="http://schemas.microsoft.com/office/drawing/2014/main" id="{8BD6320A-F358-4B70-9F4C-D1B72F9FB43D}"/>
              </a:ext>
            </a:extLst>
          </p:cNvPr>
          <p:cNvSpPr txBox="1">
            <a:spLocks noChangeArrowheads="1"/>
          </p:cNvSpPr>
          <p:nvPr/>
        </p:nvSpPr>
        <p:spPr bwMode="auto">
          <a:xfrm>
            <a:off x="1509259" y="3161304"/>
            <a:ext cx="2001841" cy="831034"/>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含有直流分量的交流信号</a:t>
            </a:r>
            <a:endParaRPr lang="zh-CN" altLang="en-US" sz="6600" b="1" dirty="0">
              <a:latin typeface="微软雅黑" pitchFamily="34" charset="-122"/>
              <a:ea typeface="微软雅黑" pitchFamily="34" charset="-122"/>
            </a:endParaRPr>
          </a:p>
        </p:txBody>
      </p:sp>
      <p:sp>
        <p:nvSpPr>
          <p:cNvPr id="46" name="Text Box 5">
            <a:extLst>
              <a:ext uri="{FF2B5EF4-FFF2-40B4-BE49-F238E27FC236}">
                <a16:creationId xmlns="" xmlns:a16="http://schemas.microsoft.com/office/drawing/2014/main" id="{61BDB290-B00D-4E81-8978-1A185DEC09B2}"/>
              </a:ext>
            </a:extLst>
          </p:cNvPr>
          <p:cNvSpPr txBox="1">
            <a:spLocks noChangeArrowheads="1"/>
          </p:cNvSpPr>
          <p:nvPr/>
        </p:nvSpPr>
        <p:spPr bwMode="auto">
          <a:xfrm>
            <a:off x="6799604" y="5044034"/>
            <a:ext cx="1200150" cy="57785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FF0000"/>
                </a:solidFill>
                <a:latin typeface="华文琥珀" pitchFamily="2" charset="-122"/>
                <a:ea typeface="华文琥珀" pitchFamily="2" charset="-122"/>
              </a:rPr>
              <a:t>高电平</a:t>
            </a:r>
            <a:endParaRPr lang="zh-CN" altLang="en-US" sz="4400" b="1">
              <a:solidFill>
                <a:srgbClr val="FF0000"/>
              </a:solidFill>
              <a:latin typeface="华文琥珀" pitchFamily="2" charset="-122"/>
              <a:ea typeface="华文琥珀" pitchFamily="2" charset="-122"/>
            </a:endParaRPr>
          </a:p>
        </p:txBody>
      </p:sp>
      <p:sp>
        <p:nvSpPr>
          <p:cNvPr id="47" name="Text Box 6">
            <a:extLst>
              <a:ext uri="{FF2B5EF4-FFF2-40B4-BE49-F238E27FC236}">
                <a16:creationId xmlns="" xmlns:a16="http://schemas.microsoft.com/office/drawing/2014/main" id="{651930D2-4927-4093-AC6C-91787C50A726}"/>
              </a:ext>
            </a:extLst>
          </p:cNvPr>
          <p:cNvSpPr txBox="1">
            <a:spLocks noChangeArrowheads="1"/>
          </p:cNvSpPr>
          <p:nvPr/>
        </p:nvSpPr>
        <p:spPr bwMode="auto">
          <a:xfrm>
            <a:off x="5332754" y="1888084"/>
            <a:ext cx="1066800" cy="5334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FF0000"/>
                </a:solidFill>
                <a:latin typeface="华文琥珀" pitchFamily="2" charset="-122"/>
                <a:ea typeface="华文琥珀" pitchFamily="2" charset="-122"/>
              </a:rPr>
              <a:t>高电平</a:t>
            </a:r>
            <a:endParaRPr lang="zh-CN" altLang="en-US" sz="4400" b="1">
              <a:solidFill>
                <a:srgbClr val="FF0000"/>
              </a:solidFill>
              <a:latin typeface="华文琥珀" pitchFamily="2" charset="-122"/>
              <a:ea typeface="华文琥珀" pitchFamily="2" charset="-122"/>
            </a:endParaRPr>
          </a:p>
        </p:txBody>
      </p:sp>
      <p:sp>
        <p:nvSpPr>
          <p:cNvPr id="48" name="Text Box 7">
            <a:extLst>
              <a:ext uri="{FF2B5EF4-FFF2-40B4-BE49-F238E27FC236}">
                <a16:creationId xmlns="" xmlns:a16="http://schemas.microsoft.com/office/drawing/2014/main" id="{DB288F2E-0514-44D0-829C-7AEE6830B15C}"/>
              </a:ext>
            </a:extLst>
          </p:cNvPr>
          <p:cNvSpPr txBox="1">
            <a:spLocks noChangeArrowheads="1"/>
          </p:cNvSpPr>
          <p:nvPr/>
        </p:nvSpPr>
        <p:spPr bwMode="auto">
          <a:xfrm>
            <a:off x="11160468" y="3216821"/>
            <a:ext cx="1587499" cy="404813"/>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三极管导通</a:t>
            </a:r>
            <a:endParaRPr lang="zh-CN" altLang="en-US" sz="4400" b="1" dirty="0">
              <a:latin typeface="微软雅黑" pitchFamily="34" charset="-122"/>
              <a:ea typeface="微软雅黑" pitchFamily="34" charset="-122"/>
            </a:endParaRPr>
          </a:p>
        </p:txBody>
      </p:sp>
      <p:sp>
        <p:nvSpPr>
          <p:cNvPr id="49" name="Text Box 8">
            <a:extLst>
              <a:ext uri="{FF2B5EF4-FFF2-40B4-BE49-F238E27FC236}">
                <a16:creationId xmlns="" xmlns:a16="http://schemas.microsoft.com/office/drawing/2014/main" id="{4A5E0988-A1C8-4D19-8D06-A6E5FF89AD08}"/>
              </a:ext>
            </a:extLst>
          </p:cNvPr>
          <p:cNvSpPr txBox="1">
            <a:spLocks noChangeArrowheads="1"/>
          </p:cNvSpPr>
          <p:nvPr/>
        </p:nvSpPr>
        <p:spPr bwMode="auto">
          <a:xfrm>
            <a:off x="10044454" y="5532984"/>
            <a:ext cx="977900" cy="755650"/>
          </a:xfrm>
          <a:prstGeom prst="rect">
            <a:avLst/>
          </a:prstGeom>
          <a:solidFill>
            <a:srgbClr val="FFFFFF"/>
          </a:solidFill>
          <a:ln w="12700">
            <a:solidFill>
              <a:srgbClr val="FFFFFF"/>
            </a:solidFill>
            <a:miter lim="800000"/>
            <a:headEnd/>
            <a:tailEnd/>
          </a:ln>
        </p:spPr>
        <p:txBody>
          <a:bodyPr lIns="0" tIns="0" rIns="0" bIns="0"/>
          <a:lstStyle/>
          <a:p>
            <a:pPr algn="ctr" defTabSz="914400"/>
            <a:r>
              <a:rPr lang="en-US" altLang="zh-CN" sz="2400" b="1">
                <a:solidFill>
                  <a:srgbClr val="FF00FF"/>
                </a:solidFill>
                <a:latin typeface="微软雅黑" pitchFamily="34" charset="-122"/>
                <a:ea typeface="微软雅黑" pitchFamily="34" charset="-122"/>
                <a:cs typeface="Times New Roman" pitchFamily="18" charset="0"/>
              </a:rPr>
              <a:t>LED</a:t>
            </a:r>
          </a:p>
          <a:p>
            <a:pPr algn="ctr" defTabSz="914400"/>
            <a:r>
              <a:rPr lang="zh-CN" altLang="en-US" sz="2400" b="1">
                <a:solidFill>
                  <a:srgbClr val="FF00FF"/>
                </a:solidFill>
                <a:latin typeface="微软雅黑" pitchFamily="34" charset="-122"/>
                <a:ea typeface="微软雅黑" pitchFamily="34" charset="-122"/>
                <a:cs typeface="Times New Roman" pitchFamily="18" charset="0"/>
              </a:rPr>
              <a:t>发光</a:t>
            </a:r>
            <a:endParaRPr lang="zh-CN" altLang="en-US" sz="4400" b="1">
              <a:solidFill>
                <a:srgbClr val="FF00FF"/>
              </a:solidFill>
              <a:latin typeface="微软雅黑" pitchFamily="34" charset="-122"/>
              <a:ea typeface="微软雅黑" pitchFamily="34" charset="-122"/>
              <a:cs typeface="Times New Roman" pitchFamily="18" charset="0"/>
            </a:endParaRPr>
          </a:p>
        </p:txBody>
      </p:sp>
      <p:sp>
        <p:nvSpPr>
          <p:cNvPr id="50" name="Text Box 9">
            <a:extLst>
              <a:ext uri="{FF2B5EF4-FFF2-40B4-BE49-F238E27FC236}">
                <a16:creationId xmlns="" xmlns:a16="http://schemas.microsoft.com/office/drawing/2014/main" id="{5BFB7F37-98AA-4670-8ACF-C068878DD58E}"/>
              </a:ext>
            </a:extLst>
          </p:cNvPr>
          <p:cNvSpPr txBox="1">
            <a:spLocks noChangeArrowheads="1"/>
          </p:cNvSpPr>
          <p:nvPr/>
        </p:nvSpPr>
        <p:spPr bwMode="auto">
          <a:xfrm>
            <a:off x="1753735" y="4421734"/>
            <a:ext cx="1164432" cy="4445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有声音</a:t>
            </a:r>
            <a:endParaRPr lang="zh-CN" altLang="en-US" sz="6600" b="1" dirty="0">
              <a:latin typeface="微软雅黑" pitchFamily="34" charset="-122"/>
              <a:ea typeface="微软雅黑" pitchFamily="34" charset="-122"/>
            </a:endParaRPr>
          </a:p>
        </p:txBody>
      </p:sp>
      <p:cxnSp>
        <p:nvCxnSpPr>
          <p:cNvPr id="51" name="AutoShape 10">
            <a:extLst>
              <a:ext uri="{FF2B5EF4-FFF2-40B4-BE49-F238E27FC236}">
                <a16:creationId xmlns="" xmlns:a16="http://schemas.microsoft.com/office/drawing/2014/main" id="{9EBC74FB-277B-449B-9B49-46ECDFDA0C81}"/>
              </a:ext>
            </a:extLst>
          </p:cNvPr>
          <p:cNvCxnSpPr>
            <a:cxnSpLocks noChangeShapeType="1"/>
          </p:cNvCxnSpPr>
          <p:nvPr/>
        </p:nvCxnSpPr>
        <p:spPr bwMode="auto">
          <a:xfrm>
            <a:off x="3021354" y="4643984"/>
            <a:ext cx="444500" cy="1588"/>
          </a:xfrm>
          <a:prstGeom prst="straightConnector1">
            <a:avLst/>
          </a:prstGeom>
          <a:noFill/>
          <a:ln w="38100">
            <a:solidFill>
              <a:srgbClr val="FF33CC"/>
            </a:solidFill>
            <a:round/>
            <a:headEnd/>
            <a:tailEnd type="arrow" w="sm" len="lg"/>
          </a:ln>
        </p:spPr>
      </p:cxnSp>
      <p:cxnSp>
        <p:nvCxnSpPr>
          <p:cNvPr id="52" name="AutoShape 11">
            <a:extLst>
              <a:ext uri="{FF2B5EF4-FFF2-40B4-BE49-F238E27FC236}">
                <a16:creationId xmlns="" xmlns:a16="http://schemas.microsoft.com/office/drawing/2014/main" id="{ED981483-E0DB-4200-8C4D-EFA5E1FBA147}"/>
              </a:ext>
            </a:extLst>
          </p:cNvPr>
          <p:cNvCxnSpPr>
            <a:cxnSpLocks noChangeShapeType="1"/>
          </p:cNvCxnSpPr>
          <p:nvPr/>
        </p:nvCxnSpPr>
        <p:spPr bwMode="auto">
          <a:xfrm rot="5400000" flipH="1" flipV="1">
            <a:off x="5299417" y="4988471"/>
            <a:ext cx="977900" cy="22225"/>
          </a:xfrm>
          <a:prstGeom prst="straightConnector1">
            <a:avLst/>
          </a:prstGeom>
          <a:noFill/>
          <a:ln w="34925">
            <a:solidFill>
              <a:srgbClr val="FF0000"/>
            </a:solidFill>
            <a:round/>
            <a:headEnd/>
            <a:tailEnd type="arrow" w="sm" len="lg"/>
          </a:ln>
        </p:spPr>
      </p:cxnSp>
      <p:sp>
        <p:nvSpPr>
          <p:cNvPr id="65" name="Text Box 12">
            <a:extLst>
              <a:ext uri="{FF2B5EF4-FFF2-40B4-BE49-F238E27FC236}">
                <a16:creationId xmlns="" xmlns:a16="http://schemas.microsoft.com/office/drawing/2014/main" id="{E492EC44-84EF-405F-8057-CCA719C675C2}"/>
              </a:ext>
            </a:extLst>
          </p:cNvPr>
          <p:cNvSpPr txBox="1">
            <a:spLocks noChangeArrowheads="1"/>
          </p:cNvSpPr>
          <p:nvPr/>
        </p:nvSpPr>
        <p:spPr bwMode="auto">
          <a:xfrm>
            <a:off x="4532654" y="5399634"/>
            <a:ext cx="235585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0000FF"/>
                </a:solidFill>
                <a:latin typeface="微软雅黑" pitchFamily="34" charset="-122"/>
                <a:ea typeface="微软雅黑" pitchFamily="34" charset="-122"/>
              </a:rPr>
              <a:t>光线弱，光敏电阻阻值大</a:t>
            </a:r>
            <a:endParaRPr lang="zh-CN" altLang="en-US" sz="4400" b="1">
              <a:latin typeface="微软雅黑" pitchFamily="34" charset="-122"/>
              <a:ea typeface="微软雅黑" pitchFamily="34" charset="-122"/>
            </a:endParaRPr>
          </a:p>
        </p:txBody>
      </p:sp>
      <p:grpSp>
        <p:nvGrpSpPr>
          <p:cNvPr id="66" name="组合 11">
            <a:extLst>
              <a:ext uri="{FF2B5EF4-FFF2-40B4-BE49-F238E27FC236}">
                <a16:creationId xmlns="" xmlns:a16="http://schemas.microsoft.com/office/drawing/2014/main" id="{A91D388D-16D0-4346-B036-F923A78519AC}"/>
              </a:ext>
            </a:extLst>
          </p:cNvPr>
          <p:cNvGrpSpPr>
            <a:grpSpLocks/>
          </p:cNvGrpSpPr>
          <p:nvPr/>
        </p:nvGrpSpPr>
        <p:grpSpPr bwMode="auto">
          <a:xfrm>
            <a:off x="5999504" y="1132434"/>
            <a:ext cx="2889250" cy="2271713"/>
            <a:chOff x="3683000" y="762000"/>
            <a:chExt cx="2889250" cy="2271711"/>
          </a:xfrm>
        </p:grpSpPr>
        <p:sp>
          <p:nvSpPr>
            <p:cNvPr id="67" name="Text Box 4">
              <a:extLst>
                <a:ext uri="{FF2B5EF4-FFF2-40B4-BE49-F238E27FC236}">
                  <a16:creationId xmlns="" xmlns:a16="http://schemas.microsoft.com/office/drawing/2014/main" id="{D38B4ADB-0451-4C68-AB18-E7B4921B31D3}"/>
                </a:ext>
              </a:extLst>
            </p:cNvPr>
            <p:cNvSpPr txBox="1">
              <a:spLocks noChangeArrowheads="1"/>
            </p:cNvSpPr>
            <p:nvPr/>
          </p:nvSpPr>
          <p:spPr bwMode="auto">
            <a:xfrm>
              <a:off x="3683000" y="762000"/>
              <a:ext cx="2889250" cy="7556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0000FF"/>
                  </a:solidFill>
                  <a:latin typeface="微软雅黑" pitchFamily="34" charset="-122"/>
                  <a:ea typeface="微软雅黑" pitchFamily="34" charset="-122"/>
                </a:rPr>
                <a:t>输出低电平，触发后续的单稳态电路</a:t>
              </a:r>
              <a:endParaRPr lang="zh-CN" altLang="en-US" sz="4400" b="1">
                <a:latin typeface="微软雅黑" pitchFamily="34" charset="-122"/>
                <a:ea typeface="微软雅黑" pitchFamily="34" charset="-122"/>
              </a:endParaRPr>
            </a:p>
          </p:txBody>
        </p:sp>
        <p:cxnSp>
          <p:nvCxnSpPr>
            <p:cNvPr id="68" name="AutoShape 13">
              <a:extLst>
                <a:ext uri="{FF2B5EF4-FFF2-40B4-BE49-F238E27FC236}">
                  <a16:creationId xmlns="" xmlns:a16="http://schemas.microsoft.com/office/drawing/2014/main" id="{928EAC0C-0F1B-4183-AFBF-F6671FD53148}"/>
                </a:ext>
              </a:extLst>
            </p:cNvPr>
            <p:cNvCxnSpPr>
              <a:cxnSpLocks noChangeShapeType="1"/>
            </p:cNvCxnSpPr>
            <p:nvPr/>
          </p:nvCxnSpPr>
          <p:spPr bwMode="auto">
            <a:xfrm rot="16200000" flipH="1">
              <a:off x="4348956" y="2274094"/>
              <a:ext cx="1516061" cy="3173"/>
            </a:xfrm>
            <a:prstGeom prst="straightConnector1">
              <a:avLst/>
            </a:prstGeom>
            <a:noFill/>
            <a:ln w="38100">
              <a:solidFill>
                <a:srgbClr val="FF33CC"/>
              </a:solidFill>
              <a:round/>
              <a:headEnd/>
              <a:tailEnd type="arrow" w="sm" len="lg"/>
            </a:ln>
          </p:spPr>
        </p:cxnSp>
      </p:grpSp>
      <p:cxnSp>
        <p:nvCxnSpPr>
          <p:cNvPr id="69" name="AutoShape 14">
            <a:extLst>
              <a:ext uri="{FF2B5EF4-FFF2-40B4-BE49-F238E27FC236}">
                <a16:creationId xmlns="" xmlns:a16="http://schemas.microsoft.com/office/drawing/2014/main" id="{108BDA14-0091-495A-94E5-6858EE280589}"/>
              </a:ext>
            </a:extLst>
          </p:cNvPr>
          <p:cNvCxnSpPr>
            <a:cxnSpLocks noChangeShapeType="1"/>
          </p:cNvCxnSpPr>
          <p:nvPr/>
        </p:nvCxnSpPr>
        <p:spPr bwMode="auto">
          <a:xfrm rot="5400000" flipH="1" flipV="1">
            <a:off x="10098429" y="5078959"/>
            <a:ext cx="889000" cy="19050"/>
          </a:xfrm>
          <a:prstGeom prst="straightConnector1">
            <a:avLst/>
          </a:prstGeom>
          <a:noFill/>
          <a:ln w="38100">
            <a:solidFill>
              <a:srgbClr val="FF33CC"/>
            </a:solidFill>
            <a:round/>
            <a:headEnd/>
            <a:tailEnd type="arrow" w="sm" len="lg"/>
          </a:ln>
        </p:spPr>
      </p:cxnSp>
      <p:cxnSp>
        <p:nvCxnSpPr>
          <p:cNvPr id="70" name="AutoShape 15">
            <a:extLst>
              <a:ext uri="{FF2B5EF4-FFF2-40B4-BE49-F238E27FC236}">
                <a16:creationId xmlns="" xmlns:a16="http://schemas.microsoft.com/office/drawing/2014/main" id="{B64901EA-23CA-4B9B-B0CC-28FC3A00F636}"/>
              </a:ext>
            </a:extLst>
          </p:cNvPr>
          <p:cNvCxnSpPr>
            <a:cxnSpLocks noChangeShapeType="1"/>
          </p:cNvCxnSpPr>
          <p:nvPr/>
        </p:nvCxnSpPr>
        <p:spPr bwMode="auto">
          <a:xfrm flipH="1">
            <a:off x="10437779" y="3404147"/>
            <a:ext cx="740218" cy="0"/>
          </a:xfrm>
          <a:prstGeom prst="straightConnector1">
            <a:avLst/>
          </a:prstGeom>
          <a:noFill/>
          <a:ln w="38100">
            <a:solidFill>
              <a:srgbClr val="FF33CC"/>
            </a:solidFill>
            <a:round/>
            <a:headEnd/>
            <a:tailEnd type="arrow" w="sm" len="lg"/>
          </a:ln>
        </p:spPr>
      </p:cxnSp>
      <p:cxnSp>
        <p:nvCxnSpPr>
          <p:cNvPr id="71" name="AutoShape 16">
            <a:extLst>
              <a:ext uri="{FF2B5EF4-FFF2-40B4-BE49-F238E27FC236}">
                <a16:creationId xmlns="" xmlns:a16="http://schemas.microsoft.com/office/drawing/2014/main" id="{6E13E8E4-045B-41C0-A2B5-5C9DD6D35934}"/>
              </a:ext>
            </a:extLst>
          </p:cNvPr>
          <p:cNvCxnSpPr>
            <a:cxnSpLocks noChangeShapeType="1"/>
          </p:cNvCxnSpPr>
          <p:nvPr/>
        </p:nvCxnSpPr>
        <p:spPr bwMode="auto">
          <a:xfrm rot="5400000">
            <a:off x="9242766" y="2867572"/>
            <a:ext cx="1071563" cy="1588"/>
          </a:xfrm>
          <a:prstGeom prst="straightConnector1">
            <a:avLst/>
          </a:prstGeom>
          <a:noFill/>
          <a:ln w="38100">
            <a:solidFill>
              <a:srgbClr val="FF33CC"/>
            </a:solidFill>
            <a:round/>
            <a:headEnd/>
            <a:tailEnd type="arrow" w="sm" len="lg"/>
          </a:ln>
        </p:spPr>
      </p:cxnSp>
      <p:sp>
        <p:nvSpPr>
          <p:cNvPr id="72" name="Text Box 17">
            <a:extLst>
              <a:ext uri="{FF2B5EF4-FFF2-40B4-BE49-F238E27FC236}">
                <a16:creationId xmlns="" xmlns:a16="http://schemas.microsoft.com/office/drawing/2014/main" id="{2D2ABF32-22D7-4834-B2C8-A6881CE3418B}"/>
              </a:ext>
            </a:extLst>
          </p:cNvPr>
          <p:cNvSpPr txBox="1">
            <a:spLocks noChangeArrowheads="1"/>
          </p:cNvSpPr>
          <p:nvPr/>
        </p:nvSpPr>
        <p:spPr bwMode="auto">
          <a:xfrm>
            <a:off x="8844304" y="1754734"/>
            <a:ext cx="1911350" cy="5334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0066FF"/>
                </a:solidFill>
                <a:latin typeface="华文琥珀" pitchFamily="2" charset="-122"/>
                <a:ea typeface="华文琥珀" pitchFamily="2" charset="-122"/>
              </a:rPr>
              <a:t>输出高电平</a:t>
            </a:r>
            <a:endParaRPr lang="zh-CN" altLang="en-US" sz="4400" b="1">
              <a:solidFill>
                <a:srgbClr val="0066FF"/>
              </a:solidFill>
              <a:latin typeface="华文琥珀" pitchFamily="2" charset="-122"/>
              <a:ea typeface="华文琥珀" pitchFamily="2" charset="-122"/>
            </a:endParaRPr>
          </a:p>
        </p:txBody>
      </p:sp>
      <p:cxnSp>
        <p:nvCxnSpPr>
          <p:cNvPr id="73" name="AutoShape 18">
            <a:extLst>
              <a:ext uri="{FF2B5EF4-FFF2-40B4-BE49-F238E27FC236}">
                <a16:creationId xmlns="" xmlns:a16="http://schemas.microsoft.com/office/drawing/2014/main" id="{4DD8FB33-0D43-4796-B891-ECB11B0B8C14}"/>
              </a:ext>
            </a:extLst>
          </p:cNvPr>
          <p:cNvCxnSpPr>
            <a:cxnSpLocks noChangeShapeType="1"/>
          </p:cNvCxnSpPr>
          <p:nvPr/>
        </p:nvCxnSpPr>
        <p:spPr bwMode="auto">
          <a:xfrm rot="5400000">
            <a:off x="4157210" y="2752478"/>
            <a:ext cx="1773238" cy="44450"/>
          </a:xfrm>
          <a:prstGeom prst="straightConnector1">
            <a:avLst/>
          </a:prstGeom>
          <a:noFill/>
          <a:ln w="34925">
            <a:solidFill>
              <a:srgbClr val="FF33CC"/>
            </a:solidFill>
            <a:round/>
            <a:headEnd/>
            <a:tailEnd type="arrow" w="sm" len="lg"/>
          </a:ln>
        </p:spPr>
      </p:cxnSp>
      <p:sp>
        <p:nvSpPr>
          <p:cNvPr id="74" name="Text Box 19">
            <a:extLst>
              <a:ext uri="{FF2B5EF4-FFF2-40B4-BE49-F238E27FC236}">
                <a16:creationId xmlns="" xmlns:a16="http://schemas.microsoft.com/office/drawing/2014/main" id="{50164A79-5442-4915-BDBE-AFA6693A2DB9}"/>
              </a:ext>
            </a:extLst>
          </p:cNvPr>
          <p:cNvSpPr txBox="1">
            <a:spLocks noChangeArrowheads="1"/>
          </p:cNvSpPr>
          <p:nvPr/>
        </p:nvSpPr>
        <p:spPr bwMode="auto">
          <a:xfrm>
            <a:off x="4088154" y="1354684"/>
            <a:ext cx="1689100" cy="6223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60000"/>
              </a:lnSpc>
            </a:pPr>
            <a:r>
              <a:rPr lang="zh-CN" altLang="en-US" sz="2400" b="1">
                <a:solidFill>
                  <a:srgbClr val="0000FF"/>
                </a:solidFill>
                <a:latin typeface="微软雅黑" pitchFamily="34" charset="-122"/>
                <a:ea typeface="微软雅黑" pitchFamily="34" charset="-122"/>
              </a:rPr>
              <a:t>有输入信号</a:t>
            </a:r>
            <a:endParaRPr lang="zh-CN" altLang="en-US" sz="4400" b="1">
              <a:latin typeface="微软雅黑" pitchFamily="34" charset="-122"/>
              <a:ea typeface="微软雅黑" pitchFamily="34" charset="-122"/>
            </a:endParaRPr>
          </a:p>
        </p:txBody>
      </p:sp>
      <p:cxnSp>
        <p:nvCxnSpPr>
          <p:cNvPr id="75" name="AutoShape 20">
            <a:extLst>
              <a:ext uri="{FF2B5EF4-FFF2-40B4-BE49-F238E27FC236}">
                <a16:creationId xmlns="" xmlns:a16="http://schemas.microsoft.com/office/drawing/2014/main" id="{93F41420-9571-41B2-925A-8E2ED8013CC2}"/>
              </a:ext>
            </a:extLst>
          </p:cNvPr>
          <p:cNvCxnSpPr>
            <a:cxnSpLocks noChangeShapeType="1"/>
          </p:cNvCxnSpPr>
          <p:nvPr/>
        </p:nvCxnSpPr>
        <p:spPr bwMode="auto">
          <a:xfrm rot="16200000" flipH="1">
            <a:off x="5333547" y="2865191"/>
            <a:ext cx="887413" cy="0"/>
          </a:xfrm>
          <a:prstGeom prst="straightConnector1">
            <a:avLst/>
          </a:prstGeom>
          <a:noFill/>
          <a:ln w="34925">
            <a:solidFill>
              <a:srgbClr val="FF33CC"/>
            </a:solidFill>
            <a:round/>
            <a:headEnd/>
            <a:tailEnd type="arrow" w="sm" len="lg"/>
          </a:ln>
        </p:spPr>
      </p:cxnSp>
      <p:cxnSp>
        <p:nvCxnSpPr>
          <p:cNvPr id="76" name="AutoShape 21">
            <a:extLst>
              <a:ext uri="{FF2B5EF4-FFF2-40B4-BE49-F238E27FC236}">
                <a16:creationId xmlns="" xmlns:a16="http://schemas.microsoft.com/office/drawing/2014/main" id="{A8ECEFA1-A9F1-4A31-A72E-82DA6EE8926A}"/>
              </a:ext>
            </a:extLst>
          </p:cNvPr>
          <p:cNvCxnSpPr>
            <a:cxnSpLocks noChangeShapeType="1"/>
          </p:cNvCxnSpPr>
          <p:nvPr/>
        </p:nvCxnSpPr>
        <p:spPr bwMode="auto">
          <a:xfrm rot="16200000" flipV="1">
            <a:off x="5932829" y="3821659"/>
            <a:ext cx="1689100" cy="1200150"/>
          </a:xfrm>
          <a:prstGeom prst="straightConnector1">
            <a:avLst/>
          </a:prstGeom>
          <a:noFill/>
          <a:ln w="34925">
            <a:solidFill>
              <a:srgbClr val="FF33CC"/>
            </a:solidFill>
            <a:round/>
            <a:headEnd/>
            <a:tailEnd type="arrow" w="sm" len="lg"/>
          </a:ln>
        </p:spPr>
      </p:cxnSp>
      <p:cxnSp>
        <p:nvCxnSpPr>
          <p:cNvPr id="77" name="AutoShape 22">
            <a:extLst>
              <a:ext uri="{FF2B5EF4-FFF2-40B4-BE49-F238E27FC236}">
                <a16:creationId xmlns="" xmlns:a16="http://schemas.microsoft.com/office/drawing/2014/main" id="{F10EC19B-186A-41B3-B813-12676B723C1C}"/>
              </a:ext>
            </a:extLst>
          </p:cNvPr>
          <p:cNvCxnSpPr>
            <a:cxnSpLocks noChangeShapeType="1"/>
          </p:cNvCxnSpPr>
          <p:nvPr/>
        </p:nvCxnSpPr>
        <p:spPr bwMode="auto">
          <a:xfrm>
            <a:off x="3311473" y="3654972"/>
            <a:ext cx="665954" cy="6350"/>
          </a:xfrm>
          <a:prstGeom prst="straightConnector1">
            <a:avLst/>
          </a:prstGeom>
          <a:noFill/>
          <a:ln w="34925">
            <a:solidFill>
              <a:srgbClr val="FF33CC"/>
            </a:solidFill>
            <a:round/>
            <a:headEnd/>
            <a:tailEnd type="arrow" w="sm" len="lg"/>
          </a:ln>
        </p:spPr>
      </p:cxnSp>
      <p:sp>
        <p:nvSpPr>
          <p:cNvPr id="78" name="Text Box 23">
            <a:extLst>
              <a:ext uri="{FF2B5EF4-FFF2-40B4-BE49-F238E27FC236}">
                <a16:creationId xmlns="" xmlns:a16="http://schemas.microsoft.com/office/drawing/2014/main" id="{D852908E-6E69-4CD4-83F1-1C81CCC112C6}"/>
              </a:ext>
            </a:extLst>
          </p:cNvPr>
          <p:cNvSpPr txBox="1">
            <a:spLocks noChangeArrowheads="1"/>
          </p:cNvSpPr>
          <p:nvPr/>
        </p:nvSpPr>
        <p:spPr bwMode="auto">
          <a:xfrm>
            <a:off x="4599329" y="6473387"/>
            <a:ext cx="5200650" cy="496888"/>
          </a:xfrm>
          <a:prstGeom prst="rect">
            <a:avLst/>
          </a:prstGeom>
          <a:solidFill>
            <a:srgbClr val="FFFFFF"/>
          </a:solidFill>
          <a:ln w="9525">
            <a:solidFill>
              <a:srgbClr val="FFFFFF"/>
            </a:solidFill>
            <a:miter lim="800000"/>
            <a:headEnd/>
            <a:tailEnd/>
          </a:ln>
        </p:spPr>
        <p:txBody>
          <a:bodyPr lIns="0" tIns="0" rIns="0" bIns="0">
            <a:spAutoFit/>
          </a:bodyPr>
          <a:lstStyle/>
          <a:p>
            <a:pPr algn="just" defTabSz="914400"/>
            <a:r>
              <a:rPr lang="zh-CN" altLang="en-US" sz="3200" b="1" dirty="0">
                <a:solidFill>
                  <a:srgbClr val="FF0000"/>
                </a:solidFill>
                <a:latin typeface="微软雅黑" pitchFamily="34" charset="-122"/>
                <a:ea typeface="微软雅黑" pitchFamily="34" charset="-122"/>
              </a:rPr>
              <a:t>晚上（光线弱）、有声音</a:t>
            </a:r>
            <a:endParaRPr lang="zh-CN" altLang="en-US" sz="4800" b="1" dirty="0">
              <a:latin typeface="微软雅黑" pitchFamily="34" charset="-122"/>
              <a:ea typeface="微软雅黑" pitchFamily="34" charset="-122"/>
            </a:endParaRPr>
          </a:p>
        </p:txBody>
      </p:sp>
      <p:sp>
        <p:nvSpPr>
          <p:cNvPr id="34" name="文本框 60">
            <a:extLst>
              <a:ext uri="{FF2B5EF4-FFF2-40B4-BE49-F238E27FC236}">
                <a16:creationId xmlns="" xmlns:a16="http://schemas.microsoft.com/office/drawing/2014/main" id="{D81C9BBF-6DC2-4E51-8454-3E0BA92FCC7D}"/>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声光自动控制电路</a:t>
            </a:r>
          </a:p>
        </p:txBody>
      </p:sp>
      <p:sp>
        <p:nvSpPr>
          <p:cNvPr id="35" name="矩形 34">
            <a:extLst>
              <a:ext uri="{FF2B5EF4-FFF2-40B4-BE49-F238E27FC236}">
                <a16:creationId xmlns="" xmlns:a16="http://schemas.microsoft.com/office/drawing/2014/main" id="{D9918B77-4202-42A1-A324-2F51EFE5C3BD}"/>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36" name="矩形 35">
            <a:extLst>
              <a:ext uri="{FF2B5EF4-FFF2-40B4-BE49-F238E27FC236}">
                <a16:creationId xmlns="" xmlns:a16="http://schemas.microsoft.com/office/drawing/2014/main" id="{93D1593B-F779-48B7-B12F-0A7CA119007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 xmlns:a16="http://schemas.microsoft.com/office/drawing/2014/main" id="{1D37BE1D-587B-4CB6-A290-CA4678468415}"/>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8" name="直接连接符 58">
            <a:extLst>
              <a:ext uri="{FF2B5EF4-FFF2-40B4-BE49-F238E27FC236}">
                <a16:creationId xmlns="" xmlns:a16="http://schemas.microsoft.com/office/drawing/2014/main" id="{96E2DC87-6DDD-4A39-AD87-F9675607A861}"/>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 xmlns:a16="http://schemas.microsoft.com/office/drawing/2014/main" id="{75424BBA-9143-4BF9-BBAD-D63B4F068DA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1" name="矩形 40">
            <a:extLst>
              <a:ext uri="{FF2B5EF4-FFF2-40B4-BE49-F238E27FC236}">
                <a16:creationId xmlns="" xmlns:a16="http://schemas.microsoft.com/office/drawing/2014/main" id="{1FDA7DCC-6AB2-4789-A9FB-2272621865B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4268186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box(in)">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diamond(in)">
                                      <p:cBhvr>
                                        <p:cTn id="12" dur="20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anim calcmode="lin" valueType="num">
                                      <p:cBhvr additive="base">
                                        <p:cTn id="17" dur="500" fill="hold"/>
                                        <p:tgtEl>
                                          <p:spTgt spid="50"/>
                                        </p:tgtEl>
                                        <p:attrNameLst>
                                          <p:attrName>ppt_x</p:attrName>
                                        </p:attrNameLst>
                                      </p:cBhvr>
                                      <p:tavLst>
                                        <p:tav tm="0">
                                          <p:val>
                                            <p:strVal val="0-#ppt_w/2"/>
                                          </p:val>
                                        </p:tav>
                                        <p:tav tm="100000">
                                          <p:val>
                                            <p:strVal val="#ppt_x"/>
                                          </p:val>
                                        </p:tav>
                                      </p:tavLst>
                                    </p:anim>
                                    <p:anim calcmode="lin" valueType="num">
                                      <p:cBhvr additive="base">
                                        <p:cTn id="18"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anim calcmode="lin" valueType="num">
                                      <p:cBhvr additive="base">
                                        <p:cTn id="23" dur="500" fill="hold"/>
                                        <p:tgtEl>
                                          <p:spTgt spid="51"/>
                                        </p:tgtEl>
                                        <p:attrNameLst>
                                          <p:attrName>ppt_x</p:attrName>
                                        </p:attrNameLst>
                                      </p:cBhvr>
                                      <p:tavLst>
                                        <p:tav tm="0">
                                          <p:val>
                                            <p:strVal val="0-#ppt_w/2"/>
                                          </p:val>
                                        </p:tav>
                                        <p:tav tm="100000">
                                          <p:val>
                                            <p:strVal val="#ppt_x"/>
                                          </p:val>
                                        </p:tav>
                                      </p:tavLst>
                                    </p:anim>
                                    <p:anim calcmode="lin" valueType="num">
                                      <p:cBhvr additive="base">
                                        <p:cTn id="24"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anim calcmode="lin" valueType="num">
                                      <p:cBhvr additive="base">
                                        <p:cTn id="29" dur="500" fill="hold"/>
                                        <p:tgtEl>
                                          <p:spTgt spid="45"/>
                                        </p:tgtEl>
                                        <p:attrNameLst>
                                          <p:attrName>ppt_x</p:attrName>
                                        </p:attrNameLst>
                                      </p:cBhvr>
                                      <p:tavLst>
                                        <p:tav tm="0">
                                          <p:val>
                                            <p:strVal val="0-#ppt_w/2"/>
                                          </p:val>
                                        </p:tav>
                                        <p:tav tm="100000">
                                          <p:val>
                                            <p:strVal val="#ppt_x"/>
                                          </p:val>
                                        </p:tav>
                                      </p:tavLst>
                                    </p:anim>
                                    <p:anim calcmode="lin" valueType="num">
                                      <p:cBhvr additive="base">
                                        <p:cTn id="30"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77"/>
                                        </p:tgtEl>
                                        <p:attrNameLst>
                                          <p:attrName>style.visibility</p:attrName>
                                        </p:attrNameLst>
                                      </p:cBhvr>
                                      <p:to>
                                        <p:strVal val="visible"/>
                                      </p:to>
                                    </p:set>
                                    <p:anim calcmode="lin" valueType="num">
                                      <p:cBhvr additive="base">
                                        <p:cTn id="35" dur="500" fill="hold"/>
                                        <p:tgtEl>
                                          <p:spTgt spid="77"/>
                                        </p:tgtEl>
                                        <p:attrNameLst>
                                          <p:attrName>ppt_x</p:attrName>
                                        </p:attrNameLst>
                                      </p:cBhvr>
                                      <p:tavLst>
                                        <p:tav tm="0">
                                          <p:val>
                                            <p:strVal val="0-#ppt_w/2"/>
                                          </p:val>
                                        </p:tav>
                                        <p:tav tm="100000">
                                          <p:val>
                                            <p:strVal val="#ppt_x"/>
                                          </p:val>
                                        </p:tav>
                                      </p:tavLst>
                                    </p:anim>
                                    <p:anim calcmode="lin" valueType="num">
                                      <p:cBhvr additive="base">
                                        <p:cTn id="36"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1" fill="hold" grpId="0" nodeType="clickEffect">
                                  <p:stCondLst>
                                    <p:cond delay="0"/>
                                  </p:stCondLst>
                                  <p:childTnLst>
                                    <p:set>
                                      <p:cBhvr>
                                        <p:cTn id="40" dur="1" fill="hold">
                                          <p:stCondLst>
                                            <p:cond delay="0"/>
                                          </p:stCondLst>
                                        </p:cTn>
                                        <p:tgtEl>
                                          <p:spTgt spid="74"/>
                                        </p:tgtEl>
                                        <p:attrNameLst>
                                          <p:attrName>style.visibility</p:attrName>
                                        </p:attrNameLst>
                                      </p:cBhvr>
                                      <p:to>
                                        <p:strVal val="visible"/>
                                      </p:to>
                                    </p:set>
                                    <p:anim calcmode="lin" valueType="num">
                                      <p:cBhvr additive="base">
                                        <p:cTn id="41" dur="500" fill="hold"/>
                                        <p:tgtEl>
                                          <p:spTgt spid="74"/>
                                        </p:tgtEl>
                                        <p:attrNameLst>
                                          <p:attrName>ppt_x</p:attrName>
                                        </p:attrNameLst>
                                      </p:cBhvr>
                                      <p:tavLst>
                                        <p:tav tm="0">
                                          <p:val>
                                            <p:strVal val="#ppt_x"/>
                                          </p:val>
                                        </p:tav>
                                        <p:tav tm="100000">
                                          <p:val>
                                            <p:strVal val="#ppt_x"/>
                                          </p:val>
                                        </p:tav>
                                      </p:tavLst>
                                    </p:anim>
                                    <p:anim calcmode="lin" valueType="num">
                                      <p:cBhvr additive="base">
                                        <p:cTn id="42" dur="500" fill="hold"/>
                                        <p:tgtEl>
                                          <p:spTgt spid="74"/>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0"/>
                                  </p:stCondLst>
                                  <p:childTnLst>
                                    <p:set>
                                      <p:cBhvr>
                                        <p:cTn id="44" dur="1" fill="hold">
                                          <p:stCondLst>
                                            <p:cond delay="0"/>
                                          </p:stCondLst>
                                        </p:cTn>
                                        <p:tgtEl>
                                          <p:spTgt spid="73"/>
                                        </p:tgtEl>
                                        <p:attrNameLst>
                                          <p:attrName>style.visibility</p:attrName>
                                        </p:attrNameLst>
                                      </p:cBhvr>
                                      <p:to>
                                        <p:strVal val="visible"/>
                                      </p:to>
                                    </p:set>
                                    <p:anim calcmode="lin" valueType="num">
                                      <p:cBhvr additive="base">
                                        <p:cTn id="45" dur="500" fill="hold"/>
                                        <p:tgtEl>
                                          <p:spTgt spid="73"/>
                                        </p:tgtEl>
                                        <p:attrNameLst>
                                          <p:attrName>ppt_x</p:attrName>
                                        </p:attrNameLst>
                                      </p:cBhvr>
                                      <p:tavLst>
                                        <p:tav tm="0">
                                          <p:val>
                                            <p:strVal val="#ppt_x"/>
                                          </p:val>
                                        </p:tav>
                                        <p:tav tm="100000">
                                          <p:val>
                                            <p:strVal val="#ppt_x"/>
                                          </p:val>
                                        </p:tav>
                                      </p:tavLst>
                                    </p:anim>
                                    <p:anim calcmode="lin" valueType="num">
                                      <p:cBhvr additive="base">
                                        <p:cTn id="46" dur="500" fill="hold"/>
                                        <p:tgtEl>
                                          <p:spTgt spid="73"/>
                                        </p:tgtEl>
                                        <p:attrNameLst>
                                          <p:attrName>ppt_y</p:attrName>
                                        </p:attrNameLst>
                                      </p:cBhvr>
                                      <p:tavLst>
                                        <p:tav tm="0">
                                          <p:val>
                                            <p:strVal val="0-#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1" fill="hold" nodeType="clickEffect">
                                  <p:stCondLst>
                                    <p:cond delay="0"/>
                                  </p:stCondLst>
                                  <p:childTnLst>
                                    <p:set>
                                      <p:cBhvr>
                                        <p:cTn id="50" dur="1" fill="hold">
                                          <p:stCondLst>
                                            <p:cond delay="0"/>
                                          </p:stCondLst>
                                        </p:cTn>
                                        <p:tgtEl>
                                          <p:spTgt spid="75"/>
                                        </p:tgtEl>
                                        <p:attrNameLst>
                                          <p:attrName>style.visibility</p:attrName>
                                        </p:attrNameLst>
                                      </p:cBhvr>
                                      <p:to>
                                        <p:strVal val="visible"/>
                                      </p:to>
                                    </p:set>
                                    <p:anim calcmode="lin" valueType="num">
                                      <p:cBhvr additive="base">
                                        <p:cTn id="51" dur="500" fill="hold"/>
                                        <p:tgtEl>
                                          <p:spTgt spid="75"/>
                                        </p:tgtEl>
                                        <p:attrNameLst>
                                          <p:attrName>ppt_x</p:attrName>
                                        </p:attrNameLst>
                                      </p:cBhvr>
                                      <p:tavLst>
                                        <p:tav tm="0">
                                          <p:val>
                                            <p:strVal val="#ppt_x"/>
                                          </p:val>
                                        </p:tav>
                                        <p:tav tm="100000">
                                          <p:val>
                                            <p:strVal val="#ppt_x"/>
                                          </p:val>
                                        </p:tav>
                                      </p:tavLst>
                                    </p:anim>
                                    <p:anim calcmode="lin" valueType="num">
                                      <p:cBhvr additive="base">
                                        <p:cTn id="52" dur="500" fill="hold"/>
                                        <p:tgtEl>
                                          <p:spTgt spid="75"/>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box(in)">
                                      <p:cBhvr>
                                        <p:cTn id="57" dur="500"/>
                                        <p:tgtEl>
                                          <p:spTgt spid="47"/>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65"/>
                                        </p:tgtEl>
                                        <p:attrNameLst>
                                          <p:attrName>style.visibility</p:attrName>
                                        </p:attrNameLst>
                                      </p:cBhvr>
                                      <p:to>
                                        <p:strVal val="visible"/>
                                      </p:to>
                                    </p:set>
                                    <p:anim calcmode="lin" valueType="num">
                                      <p:cBhvr additive="base">
                                        <p:cTn id="62" dur="500" fill="hold"/>
                                        <p:tgtEl>
                                          <p:spTgt spid="65"/>
                                        </p:tgtEl>
                                        <p:attrNameLst>
                                          <p:attrName>ppt_x</p:attrName>
                                        </p:attrNameLst>
                                      </p:cBhvr>
                                      <p:tavLst>
                                        <p:tav tm="0">
                                          <p:val>
                                            <p:strVal val="#ppt_x"/>
                                          </p:val>
                                        </p:tav>
                                        <p:tav tm="100000">
                                          <p:val>
                                            <p:strVal val="#ppt_x"/>
                                          </p:val>
                                        </p:tav>
                                      </p:tavLst>
                                    </p:anim>
                                    <p:anim calcmode="lin" valueType="num">
                                      <p:cBhvr additive="base">
                                        <p:cTn id="63" dur="5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nodeType="clickEffect">
                                  <p:stCondLst>
                                    <p:cond delay="0"/>
                                  </p:stCondLst>
                                  <p:childTnLst>
                                    <p:set>
                                      <p:cBhvr>
                                        <p:cTn id="67" dur="1" fill="hold">
                                          <p:stCondLst>
                                            <p:cond delay="0"/>
                                          </p:stCondLst>
                                        </p:cTn>
                                        <p:tgtEl>
                                          <p:spTgt spid="52"/>
                                        </p:tgtEl>
                                        <p:attrNameLst>
                                          <p:attrName>style.visibility</p:attrName>
                                        </p:attrNameLst>
                                      </p:cBhvr>
                                      <p:to>
                                        <p:strVal val="visible"/>
                                      </p:to>
                                    </p:set>
                                    <p:anim calcmode="lin" valueType="num">
                                      <p:cBhvr additive="base">
                                        <p:cTn id="68" dur="500" fill="hold"/>
                                        <p:tgtEl>
                                          <p:spTgt spid="52"/>
                                        </p:tgtEl>
                                        <p:attrNameLst>
                                          <p:attrName>ppt_x</p:attrName>
                                        </p:attrNameLst>
                                      </p:cBhvr>
                                      <p:tavLst>
                                        <p:tav tm="0">
                                          <p:val>
                                            <p:strVal val="#ppt_x"/>
                                          </p:val>
                                        </p:tav>
                                        <p:tav tm="100000">
                                          <p:val>
                                            <p:strVal val="#ppt_x"/>
                                          </p:val>
                                        </p:tav>
                                      </p:tavLst>
                                    </p:anim>
                                    <p:anim calcmode="lin" valueType="num">
                                      <p:cBhvr additive="base">
                                        <p:cTn id="69"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 presetClass="entr" presetSubtype="16" fill="hold" grpId="0" nodeType="click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box(in)">
                                      <p:cBhvr>
                                        <p:cTn id="74" dur="500"/>
                                        <p:tgtEl>
                                          <p:spTgt spid="46"/>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76"/>
                                        </p:tgtEl>
                                        <p:attrNameLst>
                                          <p:attrName>style.visibility</p:attrName>
                                        </p:attrNameLst>
                                      </p:cBhvr>
                                      <p:to>
                                        <p:strVal val="visible"/>
                                      </p:to>
                                    </p:set>
                                    <p:anim calcmode="lin" valueType="num">
                                      <p:cBhvr additive="base">
                                        <p:cTn id="79" dur="500" fill="hold"/>
                                        <p:tgtEl>
                                          <p:spTgt spid="76"/>
                                        </p:tgtEl>
                                        <p:attrNameLst>
                                          <p:attrName>ppt_x</p:attrName>
                                        </p:attrNameLst>
                                      </p:cBhvr>
                                      <p:tavLst>
                                        <p:tav tm="0">
                                          <p:val>
                                            <p:strVal val="#ppt_x"/>
                                          </p:val>
                                        </p:tav>
                                        <p:tav tm="100000">
                                          <p:val>
                                            <p:strVal val="#ppt_x"/>
                                          </p:val>
                                        </p:tav>
                                      </p:tavLst>
                                    </p:anim>
                                    <p:anim calcmode="lin" valueType="num">
                                      <p:cBhvr additive="base">
                                        <p:cTn id="80"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66"/>
                                        </p:tgtEl>
                                        <p:attrNameLst>
                                          <p:attrName>style.visibility</p:attrName>
                                        </p:attrNameLst>
                                      </p:cBhvr>
                                      <p:to>
                                        <p:strVal val="visible"/>
                                      </p:to>
                                    </p:set>
                                    <p:animEffect transition="in" filter="box(in)">
                                      <p:cBhvr>
                                        <p:cTn id="85" dur="500"/>
                                        <p:tgtEl>
                                          <p:spTgt spid="66"/>
                                        </p:tgtEl>
                                      </p:cBhvr>
                                    </p:animEffect>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nodeType="clickEffect">
                                  <p:stCondLst>
                                    <p:cond delay="0"/>
                                  </p:stCondLst>
                                  <p:childTnLst>
                                    <p:set>
                                      <p:cBhvr>
                                        <p:cTn id="89" dur="1" fill="hold">
                                          <p:stCondLst>
                                            <p:cond delay="0"/>
                                          </p:stCondLst>
                                        </p:cTn>
                                        <p:tgtEl>
                                          <p:spTgt spid="71"/>
                                        </p:tgtEl>
                                        <p:attrNameLst>
                                          <p:attrName>style.visibility</p:attrName>
                                        </p:attrNameLst>
                                      </p:cBhvr>
                                      <p:to>
                                        <p:strVal val="visible"/>
                                      </p:to>
                                    </p:set>
                                    <p:animEffect transition="in" filter="box(in)">
                                      <p:cBhvr>
                                        <p:cTn id="90" dur="500"/>
                                        <p:tgtEl>
                                          <p:spTgt spid="71"/>
                                        </p:tgtEl>
                                      </p:cBhvr>
                                    </p:animEffect>
                                  </p:childTnLst>
                                </p:cTn>
                              </p:par>
                              <p:par>
                                <p:cTn id="91" presetID="4" presetClass="entr" presetSubtype="16" fill="hold" grpId="0" nodeType="withEffect">
                                  <p:stCondLst>
                                    <p:cond delay="0"/>
                                  </p:stCondLst>
                                  <p:childTnLst>
                                    <p:set>
                                      <p:cBhvr>
                                        <p:cTn id="92" dur="1" fill="hold">
                                          <p:stCondLst>
                                            <p:cond delay="0"/>
                                          </p:stCondLst>
                                        </p:cTn>
                                        <p:tgtEl>
                                          <p:spTgt spid="72"/>
                                        </p:tgtEl>
                                        <p:attrNameLst>
                                          <p:attrName>style.visibility</p:attrName>
                                        </p:attrNameLst>
                                      </p:cBhvr>
                                      <p:to>
                                        <p:strVal val="visible"/>
                                      </p:to>
                                    </p:set>
                                    <p:animEffect transition="in" filter="box(in)">
                                      <p:cBhvr>
                                        <p:cTn id="93" dur="500"/>
                                        <p:tgtEl>
                                          <p:spTgt spid="72"/>
                                        </p:tgtEl>
                                      </p:cBhvr>
                                    </p:animEffect>
                                  </p:childTnLst>
                                </p:cTn>
                              </p:par>
                            </p:childTnLst>
                          </p:cTn>
                        </p:par>
                      </p:childTnLst>
                    </p:cTn>
                  </p:par>
                  <p:par>
                    <p:cTn id="94" fill="hold">
                      <p:stCondLst>
                        <p:cond delay="indefinite"/>
                      </p:stCondLst>
                      <p:childTnLst>
                        <p:par>
                          <p:cTn id="95" fill="hold">
                            <p:stCondLst>
                              <p:cond delay="0"/>
                            </p:stCondLst>
                            <p:childTnLst>
                              <p:par>
                                <p:cTn id="96" presetID="4" presetClass="entr" presetSubtype="16" fill="hold" grpId="0" nodeType="click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box(in)">
                                      <p:cBhvr>
                                        <p:cTn id="98" dur="500"/>
                                        <p:tgtEl>
                                          <p:spTgt spid="48"/>
                                        </p:tgtEl>
                                      </p:cBhvr>
                                    </p:animEffect>
                                  </p:childTnLst>
                                </p:cTn>
                              </p:par>
                              <p:par>
                                <p:cTn id="99" presetID="4" presetClass="entr" presetSubtype="16" fill="hold" nodeType="withEffect">
                                  <p:stCondLst>
                                    <p:cond delay="0"/>
                                  </p:stCondLst>
                                  <p:childTnLst>
                                    <p:set>
                                      <p:cBhvr>
                                        <p:cTn id="100" dur="1" fill="hold">
                                          <p:stCondLst>
                                            <p:cond delay="0"/>
                                          </p:stCondLst>
                                        </p:cTn>
                                        <p:tgtEl>
                                          <p:spTgt spid="70"/>
                                        </p:tgtEl>
                                        <p:attrNameLst>
                                          <p:attrName>style.visibility</p:attrName>
                                        </p:attrNameLst>
                                      </p:cBhvr>
                                      <p:to>
                                        <p:strVal val="visible"/>
                                      </p:to>
                                    </p:set>
                                    <p:animEffect transition="in" filter="box(in)">
                                      <p:cBhvr>
                                        <p:cTn id="101" dur="500"/>
                                        <p:tgtEl>
                                          <p:spTgt spid="70"/>
                                        </p:tgtEl>
                                      </p:cBhvr>
                                    </p:animEffect>
                                  </p:childTnLst>
                                </p:cTn>
                              </p:par>
                            </p:childTnLst>
                          </p:cTn>
                        </p:par>
                      </p:childTnLst>
                    </p:cTn>
                  </p:par>
                  <p:par>
                    <p:cTn id="102" fill="hold">
                      <p:stCondLst>
                        <p:cond delay="indefinite"/>
                      </p:stCondLst>
                      <p:childTnLst>
                        <p:par>
                          <p:cTn id="103" fill="hold">
                            <p:stCondLst>
                              <p:cond delay="0"/>
                            </p:stCondLst>
                            <p:childTnLst>
                              <p:par>
                                <p:cTn id="104" presetID="4" presetClass="entr" presetSubtype="16" fill="hold" nodeType="clickEffect">
                                  <p:stCondLst>
                                    <p:cond delay="0"/>
                                  </p:stCondLst>
                                  <p:childTnLst>
                                    <p:set>
                                      <p:cBhvr>
                                        <p:cTn id="105" dur="1" fill="hold">
                                          <p:stCondLst>
                                            <p:cond delay="0"/>
                                          </p:stCondLst>
                                        </p:cTn>
                                        <p:tgtEl>
                                          <p:spTgt spid="69"/>
                                        </p:tgtEl>
                                        <p:attrNameLst>
                                          <p:attrName>style.visibility</p:attrName>
                                        </p:attrNameLst>
                                      </p:cBhvr>
                                      <p:to>
                                        <p:strVal val="visible"/>
                                      </p:to>
                                    </p:set>
                                    <p:animEffect transition="in" filter="box(in)">
                                      <p:cBhvr>
                                        <p:cTn id="106" dur="500"/>
                                        <p:tgtEl>
                                          <p:spTgt spid="69"/>
                                        </p:tgtEl>
                                      </p:cBhvr>
                                    </p:animEffect>
                                  </p:childTnLst>
                                </p:cTn>
                              </p:par>
                              <p:par>
                                <p:cTn id="107" presetID="4" presetClass="entr" presetSubtype="16" fill="hold" grpId="0" nodeType="withEffect">
                                  <p:stCondLst>
                                    <p:cond delay="0"/>
                                  </p:stCondLst>
                                  <p:childTnLst>
                                    <p:set>
                                      <p:cBhvr>
                                        <p:cTn id="108" dur="1" fill="hold">
                                          <p:stCondLst>
                                            <p:cond delay="0"/>
                                          </p:stCondLst>
                                        </p:cTn>
                                        <p:tgtEl>
                                          <p:spTgt spid="49"/>
                                        </p:tgtEl>
                                        <p:attrNameLst>
                                          <p:attrName>style.visibility</p:attrName>
                                        </p:attrNameLst>
                                      </p:cBhvr>
                                      <p:to>
                                        <p:strVal val="visible"/>
                                      </p:to>
                                    </p:set>
                                    <p:animEffect transition="in" filter="box(in)">
                                      <p:cBhvr>
                                        <p:cTn id="10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65" grpId="0" animBg="1"/>
      <p:bldP spid="72" grpId="0" animBg="1"/>
      <p:bldP spid="74" grpId="0" animBg="1"/>
      <p:bldP spid="7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Object 2">
            <a:extLst>
              <a:ext uri="{FF2B5EF4-FFF2-40B4-BE49-F238E27FC236}">
                <a16:creationId xmlns="" xmlns:a16="http://schemas.microsoft.com/office/drawing/2014/main" id="{C163EC76-3DC5-430E-83D9-22E5DF6ED304}"/>
              </a:ext>
            </a:extLst>
          </p:cNvPr>
          <p:cNvGraphicFramePr>
            <a:graphicFrameLocks noChangeAspect="1"/>
          </p:cNvGraphicFramePr>
          <p:nvPr>
            <p:extLst>
              <p:ext uri="{D42A27DB-BD31-4B8C-83A1-F6EECF244321}">
                <p14:modId xmlns:p14="http://schemas.microsoft.com/office/powerpoint/2010/main" val="602945223"/>
              </p:ext>
            </p:extLst>
          </p:nvPr>
        </p:nvGraphicFramePr>
        <p:xfrm>
          <a:off x="2995613" y="1990937"/>
          <a:ext cx="4421187" cy="3990975"/>
        </p:xfrm>
        <a:graphic>
          <a:graphicData uri="http://schemas.openxmlformats.org/presentationml/2006/ole">
            <mc:AlternateContent xmlns:mc="http://schemas.openxmlformats.org/markup-compatibility/2006">
              <mc:Choice xmlns:v="urn:schemas-microsoft-com:vml" Requires="v">
                <p:oleObj spid="_x0000_s17506" name="Visio" r:id="rId3" imgW="2886064" imgH="2610019" progId="Visio.Drawing.11">
                  <p:embed/>
                </p:oleObj>
              </mc:Choice>
              <mc:Fallback>
                <p:oleObj name="Visio" r:id="rId3" imgW="2886064" imgH="2610019" progId="Visio.Drawing.11">
                  <p:embed/>
                  <p:pic>
                    <p:nvPicPr>
                      <p:cNvPr id="89090" name="Object 2"/>
                      <p:cNvPicPr>
                        <a:picLocks noChangeAspect="1" noChangeArrowheads="1"/>
                      </p:cNvPicPr>
                      <p:nvPr/>
                    </p:nvPicPr>
                    <p:blipFill>
                      <a:blip r:embed="rId4"/>
                      <a:srcRect/>
                      <a:stretch>
                        <a:fillRect/>
                      </a:stretch>
                    </p:blipFill>
                    <p:spPr bwMode="auto">
                      <a:xfrm>
                        <a:off x="2995613" y="1990937"/>
                        <a:ext cx="4421187" cy="3990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5" name="Group 3">
            <a:extLst>
              <a:ext uri="{FF2B5EF4-FFF2-40B4-BE49-F238E27FC236}">
                <a16:creationId xmlns="" xmlns:a16="http://schemas.microsoft.com/office/drawing/2014/main" id="{9B68AC0D-87BE-49EB-9D17-E1ED7BC229A8}"/>
              </a:ext>
            </a:extLst>
          </p:cNvPr>
          <p:cNvGrpSpPr>
            <a:grpSpLocks/>
          </p:cNvGrpSpPr>
          <p:nvPr/>
        </p:nvGrpSpPr>
        <p:grpSpPr bwMode="auto">
          <a:xfrm>
            <a:off x="7961920" y="2556993"/>
            <a:ext cx="2133600" cy="2933700"/>
            <a:chOff x="6722" y="12048"/>
            <a:chExt cx="2490" cy="3698"/>
          </a:xfrm>
        </p:grpSpPr>
        <p:graphicFrame>
          <p:nvGraphicFramePr>
            <p:cNvPr id="36" name="Object 4">
              <a:extLst>
                <a:ext uri="{FF2B5EF4-FFF2-40B4-BE49-F238E27FC236}">
                  <a16:creationId xmlns="" xmlns:a16="http://schemas.microsoft.com/office/drawing/2014/main" id="{8F028A0D-FE56-45E5-AC2A-B02A29A683D8}"/>
                </a:ext>
              </a:extLst>
            </p:cNvPr>
            <p:cNvGraphicFramePr>
              <a:graphicFrameLocks noChangeAspect="1"/>
            </p:cNvGraphicFramePr>
            <p:nvPr/>
          </p:nvGraphicFramePr>
          <p:xfrm>
            <a:off x="7500" y="12051"/>
            <a:ext cx="990" cy="570"/>
          </p:xfrm>
          <a:graphic>
            <a:graphicData uri="http://schemas.openxmlformats.org/presentationml/2006/ole">
              <mc:AlternateContent xmlns:mc="http://schemas.openxmlformats.org/markup-compatibility/2006">
                <mc:Choice xmlns:v="urn:schemas-microsoft-com:vml" Requires="v">
                  <p:oleObj spid="_x0000_s17507" name="Visio" r:id="rId5" imgW="530280" imgH="303480" progId="Visio.Drawing.11">
                    <p:embed/>
                  </p:oleObj>
                </mc:Choice>
                <mc:Fallback>
                  <p:oleObj name="Visio" r:id="rId5" imgW="530280" imgH="303480" progId="Visio.Drawing.11">
                    <p:embed/>
                    <p:pic>
                      <p:nvPicPr>
                        <p:cNvPr id="4301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00" y="12051"/>
                          <a:ext cx="990" cy="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7" name="Group 5">
              <a:extLst>
                <a:ext uri="{FF2B5EF4-FFF2-40B4-BE49-F238E27FC236}">
                  <a16:creationId xmlns="" xmlns:a16="http://schemas.microsoft.com/office/drawing/2014/main" id="{FB1CCF73-E526-432E-8625-FEF5F2B03C78}"/>
                </a:ext>
              </a:extLst>
            </p:cNvPr>
            <p:cNvGrpSpPr>
              <a:grpSpLocks/>
            </p:cNvGrpSpPr>
            <p:nvPr/>
          </p:nvGrpSpPr>
          <p:grpSpPr bwMode="auto">
            <a:xfrm>
              <a:off x="6722" y="12048"/>
              <a:ext cx="2490" cy="3698"/>
              <a:chOff x="6722" y="12048"/>
              <a:chExt cx="2490" cy="3698"/>
            </a:xfrm>
          </p:grpSpPr>
          <p:grpSp>
            <p:nvGrpSpPr>
              <p:cNvPr id="38" name="Group 6">
                <a:extLst>
                  <a:ext uri="{FF2B5EF4-FFF2-40B4-BE49-F238E27FC236}">
                    <a16:creationId xmlns="" xmlns:a16="http://schemas.microsoft.com/office/drawing/2014/main" id="{0962BC0C-CFD8-40AB-BB33-03B683E903B1}"/>
                  </a:ext>
                </a:extLst>
              </p:cNvPr>
              <p:cNvGrpSpPr>
                <a:grpSpLocks/>
              </p:cNvGrpSpPr>
              <p:nvPr/>
            </p:nvGrpSpPr>
            <p:grpSpPr bwMode="auto">
              <a:xfrm>
                <a:off x="6722" y="12048"/>
                <a:ext cx="2490" cy="3150"/>
                <a:chOff x="1007" y="11733"/>
                <a:chExt cx="2490" cy="3150"/>
              </a:xfrm>
            </p:grpSpPr>
            <p:grpSp>
              <p:nvGrpSpPr>
                <p:cNvPr id="41" name="Group 7">
                  <a:extLst>
                    <a:ext uri="{FF2B5EF4-FFF2-40B4-BE49-F238E27FC236}">
                      <a16:creationId xmlns="" xmlns:a16="http://schemas.microsoft.com/office/drawing/2014/main" id="{A36ABE24-C07E-432C-8BDB-C85A3F9FAAAA}"/>
                    </a:ext>
                  </a:extLst>
                </p:cNvPr>
                <p:cNvGrpSpPr>
                  <a:grpSpLocks/>
                </p:cNvGrpSpPr>
                <p:nvPr/>
              </p:nvGrpSpPr>
              <p:grpSpPr bwMode="auto">
                <a:xfrm>
                  <a:off x="1007" y="12306"/>
                  <a:ext cx="2490" cy="2130"/>
                  <a:chOff x="1007" y="12306"/>
                  <a:chExt cx="2490" cy="2130"/>
                </a:xfrm>
              </p:grpSpPr>
              <p:graphicFrame>
                <p:nvGraphicFramePr>
                  <p:cNvPr id="43" name="Object 8">
                    <a:extLst>
                      <a:ext uri="{FF2B5EF4-FFF2-40B4-BE49-F238E27FC236}">
                        <a16:creationId xmlns="" xmlns:a16="http://schemas.microsoft.com/office/drawing/2014/main" id="{EE6FCE36-A28C-4B80-A09B-F235ADE0601E}"/>
                      </a:ext>
                    </a:extLst>
                  </p:cNvPr>
                  <p:cNvGraphicFramePr>
                    <a:graphicFrameLocks noChangeAspect="1"/>
                  </p:cNvGraphicFramePr>
                  <p:nvPr/>
                </p:nvGraphicFramePr>
                <p:xfrm>
                  <a:off x="1517" y="12306"/>
                  <a:ext cx="1980" cy="855"/>
                </p:xfrm>
                <a:graphic>
                  <a:graphicData uri="http://schemas.openxmlformats.org/presentationml/2006/ole">
                    <mc:AlternateContent xmlns:mc="http://schemas.openxmlformats.org/markup-compatibility/2006">
                      <mc:Choice xmlns:v="urn:schemas-microsoft-com:vml" Requires="v">
                        <p:oleObj spid="_x0000_s17508" name="Visio" r:id="rId7" imgW="1059120" imgH="454680" progId="Visio.Drawing.11">
                          <p:embed/>
                        </p:oleObj>
                      </mc:Choice>
                      <mc:Fallback>
                        <p:oleObj name="Visio" r:id="rId7" imgW="1059120" imgH="454680" progId="Visio.Drawing.11">
                          <p:embed/>
                          <p:pic>
                            <p:nvPicPr>
                              <p:cNvPr id="43023"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7" y="12306"/>
                                <a:ext cx="1980" cy="8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 name="Object 9">
                    <a:extLst>
                      <a:ext uri="{FF2B5EF4-FFF2-40B4-BE49-F238E27FC236}">
                        <a16:creationId xmlns="" xmlns:a16="http://schemas.microsoft.com/office/drawing/2014/main" id="{5E87AB10-F762-49E3-B791-9A1B42FA1682}"/>
                      </a:ext>
                    </a:extLst>
                  </p:cNvPr>
                  <p:cNvGraphicFramePr>
                    <a:graphicFrameLocks noChangeAspect="1"/>
                  </p:cNvGraphicFramePr>
                  <p:nvPr/>
                </p:nvGraphicFramePr>
                <p:xfrm>
                  <a:off x="1007" y="13581"/>
                  <a:ext cx="1980" cy="855"/>
                </p:xfrm>
                <a:graphic>
                  <a:graphicData uri="http://schemas.openxmlformats.org/presentationml/2006/ole">
                    <mc:AlternateContent xmlns:mc="http://schemas.openxmlformats.org/markup-compatibility/2006">
                      <mc:Choice xmlns:v="urn:schemas-microsoft-com:vml" Requires="v">
                        <p:oleObj spid="_x0000_s17509" name="Visio" r:id="rId9" imgW="1059120" imgH="454680" progId="Visio.Drawing.11">
                          <p:embed/>
                        </p:oleObj>
                      </mc:Choice>
                      <mc:Fallback>
                        <p:oleObj name="Visio" r:id="rId9" imgW="1059120" imgH="454680" progId="Visio.Drawing.11">
                          <p:embed/>
                          <p:pic>
                            <p:nvPicPr>
                              <p:cNvPr id="43024"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7" y="13581"/>
                                <a:ext cx="1980" cy="8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2" name="Object 10">
                  <a:extLst>
                    <a:ext uri="{FF2B5EF4-FFF2-40B4-BE49-F238E27FC236}">
                      <a16:creationId xmlns="" xmlns:a16="http://schemas.microsoft.com/office/drawing/2014/main" id="{BD4FF705-BEA3-4B58-9DB0-229E1924B8C6}"/>
                    </a:ext>
                  </a:extLst>
                </p:cNvPr>
                <p:cNvGraphicFramePr>
                  <a:graphicFrameLocks noChangeAspect="1"/>
                </p:cNvGraphicFramePr>
                <p:nvPr/>
              </p:nvGraphicFramePr>
              <p:xfrm>
                <a:off x="2250" y="11733"/>
                <a:ext cx="90" cy="3150"/>
              </p:xfrm>
              <a:graphic>
                <a:graphicData uri="http://schemas.openxmlformats.org/presentationml/2006/ole">
                  <mc:AlternateContent xmlns:mc="http://schemas.openxmlformats.org/markup-compatibility/2006">
                    <mc:Choice xmlns:v="urn:schemas-microsoft-com:vml" Requires="v">
                      <p:oleObj spid="_x0000_s17510" name="Visio" r:id="rId11" imgW="50400" imgH="1683360" progId="Visio.Drawing.11">
                        <p:embed/>
                      </p:oleObj>
                    </mc:Choice>
                    <mc:Fallback>
                      <p:oleObj name="Visio" r:id="rId11" imgW="50400" imgH="1683360" progId="Visio.Drawing.11">
                        <p:embed/>
                        <p:pic>
                          <p:nvPicPr>
                            <p:cNvPr id="43025"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50" y="11733"/>
                              <a:ext cx="90" cy="3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9" name="Object 11">
                <a:extLst>
                  <a:ext uri="{FF2B5EF4-FFF2-40B4-BE49-F238E27FC236}">
                    <a16:creationId xmlns="" xmlns:a16="http://schemas.microsoft.com/office/drawing/2014/main" id="{92931702-8D81-438F-971F-19158D461D52}"/>
                  </a:ext>
                </a:extLst>
              </p:cNvPr>
              <p:cNvGraphicFramePr>
                <a:graphicFrameLocks noChangeAspect="1"/>
              </p:cNvGraphicFramePr>
              <p:nvPr/>
            </p:nvGraphicFramePr>
            <p:xfrm>
              <a:off x="7530" y="15123"/>
              <a:ext cx="948" cy="623"/>
            </p:xfrm>
            <a:graphic>
              <a:graphicData uri="http://schemas.openxmlformats.org/presentationml/2006/ole">
                <mc:AlternateContent xmlns:mc="http://schemas.openxmlformats.org/markup-compatibility/2006">
                  <mc:Choice xmlns:v="urn:schemas-microsoft-com:vml" Requires="v">
                    <p:oleObj spid="_x0000_s17511" name="Visio" r:id="rId13" imgW="515160" imgH="333720" progId="Visio.Drawing.11">
                      <p:embed/>
                    </p:oleObj>
                  </mc:Choice>
                  <mc:Fallback>
                    <p:oleObj name="Visio" r:id="rId13" imgW="515160" imgH="333720" progId="Visio.Drawing.11">
                      <p:embed/>
                      <p:pic>
                        <p:nvPicPr>
                          <p:cNvPr id="43026"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30" y="15123"/>
                            <a:ext cx="948" cy="6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54" name="组合 50">
            <a:extLst>
              <a:ext uri="{FF2B5EF4-FFF2-40B4-BE49-F238E27FC236}">
                <a16:creationId xmlns="" xmlns:a16="http://schemas.microsoft.com/office/drawing/2014/main" id="{CAB9EE9F-8EA1-440E-881E-EA1ADA62248B}"/>
              </a:ext>
            </a:extLst>
          </p:cNvPr>
          <p:cNvGrpSpPr>
            <a:grpSpLocks/>
          </p:cNvGrpSpPr>
          <p:nvPr/>
        </p:nvGrpSpPr>
        <p:grpSpPr bwMode="auto">
          <a:xfrm>
            <a:off x="2761270" y="2423643"/>
            <a:ext cx="1111250" cy="400050"/>
            <a:chOff x="571500" y="2451100"/>
            <a:chExt cx="1111250" cy="400050"/>
          </a:xfrm>
        </p:grpSpPr>
        <p:sp>
          <p:nvSpPr>
            <p:cNvPr id="55" name="Text Box 12">
              <a:extLst>
                <a:ext uri="{FF2B5EF4-FFF2-40B4-BE49-F238E27FC236}">
                  <a16:creationId xmlns="" xmlns:a16="http://schemas.microsoft.com/office/drawing/2014/main" id="{D280245C-B491-4934-A2A6-D76BF4DA4008}"/>
                </a:ext>
              </a:extLst>
            </p:cNvPr>
            <p:cNvSpPr txBox="1">
              <a:spLocks noChangeArrowheads="1"/>
            </p:cNvSpPr>
            <p:nvPr/>
          </p:nvSpPr>
          <p:spPr bwMode="auto">
            <a:xfrm>
              <a:off x="571500" y="2451100"/>
              <a:ext cx="66675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0000FF"/>
                  </a:solidFill>
                  <a:latin typeface="微软雅黑" pitchFamily="34" charset="-122"/>
                  <a:ea typeface="微软雅黑" pitchFamily="34" charset="-122"/>
                </a:rPr>
                <a:t>电源</a:t>
              </a:r>
              <a:endParaRPr lang="zh-CN" altLang="en-US" sz="4800" b="1">
                <a:latin typeface="微软雅黑" pitchFamily="34" charset="-122"/>
                <a:ea typeface="微软雅黑" pitchFamily="34" charset="-122"/>
              </a:endParaRPr>
            </a:p>
          </p:txBody>
        </p:sp>
        <p:cxnSp>
          <p:nvCxnSpPr>
            <p:cNvPr id="57" name="AutoShape 13">
              <a:extLst>
                <a:ext uri="{FF2B5EF4-FFF2-40B4-BE49-F238E27FC236}">
                  <a16:creationId xmlns="" xmlns:a16="http://schemas.microsoft.com/office/drawing/2014/main" id="{55971583-88C5-4497-B0F2-7775CA0080F2}"/>
                </a:ext>
              </a:extLst>
            </p:cNvPr>
            <p:cNvCxnSpPr>
              <a:cxnSpLocks noChangeShapeType="1"/>
            </p:cNvCxnSpPr>
            <p:nvPr/>
          </p:nvCxnSpPr>
          <p:spPr bwMode="auto">
            <a:xfrm>
              <a:off x="1282700" y="2671762"/>
              <a:ext cx="400050" cy="1588"/>
            </a:xfrm>
            <a:prstGeom prst="straightConnector1">
              <a:avLst/>
            </a:prstGeom>
            <a:noFill/>
            <a:ln w="38100">
              <a:solidFill>
                <a:srgbClr val="FF33CC"/>
              </a:solidFill>
              <a:round/>
              <a:headEnd/>
              <a:tailEnd type="arrow" w="sm" len="lg"/>
            </a:ln>
          </p:spPr>
        </p:cxnSp>
      </p:grpSp>
      <p:grpSp>
        <p:nvGrpSpPr>
          <p:cNvPr id="58" name="组合 51">
            <a:extLst>
              <a:ext uri="{FF2B5EF4-FFF2-40B4-BE49-F238E27FC236}">
                <a16:creationId xmlns="" xmlns:a16="http://schemas.microsoft.com/office/drawing/2014/main" id="{40A5B46C-6B73-4251-AFC7-A00E91F8CE7F}"/>
              </a:ext>
            </a:extLst>
          </p:cNvPr>
          <p:cNvGrpSpPr>
            <a:grpSpLocks/>
          </p:cNvGrpSpPr>
          <p:nvPr/>
        </p:nvGrpSpPr>
        <p:grpSpPr bwMode="auto">
          <a:xfrm>
            <a:off x="1781500" y="3349648"/>
            <a:ext cx="1990597" cy="400050"/>
            <a:chOff x="0" y="3473450"/>
            <a:chExt cx="1990597" cy="400050"/>
          </a:xfrm>
        </p:grpSpPr>
        <p:sp>
          <p:nvSpPr>
            <p:cNvPr id="59" name="Text Box 12">
              <a:extLst>
                <a:ext uri="{FF2B5EF4-FFF2-40B4-BE49-F238E27FC236}">
                  <a16:creationId xmlns="" xmlns:a16="http://schemas.microsoft.com/office/drawing/2014/main" id="{074E1487-B73B-4052-87DA-D2702D9AD879}"/>
                </a:ext>
              </a:extLst>
            </p:cNvPr>
            <p:cNvSpPr txBox="1">
              <a:spLocks noChangeArrowheads="1"/>
            </p:cNvSpPr>
            <p:nvPr/>
          </p:nvSpPr>
          <p:spPr bwMode="auto">
            <a:xfrm>
              <a:off x="0" y="3473450"/>
              <a:ext cx="128270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dirty="0">
                  <a:solidFill>
                    <a:srgbClr val="FF0000"/>
                  </a:solidFill>
                  <a:latin typeface="微软雅黑" pitchFamily="34" charset="-122"/>
                  <a:ea typeface="微软雅黑" pitchFamily="34" charset="-122"/>
                </a:rPr>
                <a:t>光敏电阻</a:t>
              </a:r>
            </a:p>
          </p:txBody>
        </p:sp>
        <p:cxnSp>
          <p:nvCxnSpPr>
            <p:cNvPr id="60" name="AutoShape 13">
              <a:extLst>
                <a:ext uri="{FF2B5EF4-FFF2-40B4-BE49-F238E27FC236}">
                  <a16:creationId xmlns="" xmlns:a16="http://schemas.microsoft.com/office/drawing/2014/main" id="{C20B9A47-2EC9-444C-82C4-463FF858A425}"/>
                </a:ext>
              </a:extLst>
            </p:cNvPr>
            <p:cNvCxnSpPr>
              <a:cxnSpLocks noChangeShapeType="1"/>
            </p:cNvCxnSpPr>
            <p:nvPr/>
          </p:nvCxnSpPr>
          <p:spPr bwMode="auto">
            <a:xfrm>
              <a:off x="1282700" y="3694113"/>
              <a:ext cx="707897" cy="11422"/>
            </a:xfrm>
            <a:prstGeom prst="straightConnector1">
              <a:avLst/>
            </a:prstGeom>
            <a:noFill/>
            <a:ln w="38100">
              <a:solidFill>
                <a:srgbClr val="FF33CC"/>
              </a:solidFill>
              <a:round/>
              <a:headEnd/>
              <a:tailEnd type="arrow" w="sm" len="lg"/>
            </a:ln>
          </p:spPr>
        </p:cxnSp>
      </p:grpSp>
      <p:grpSp>
        <p:nvGrpSpPr>
          <p:cNvPr id="61" name="组合 52">
            <a:extLst>
              <a:ext uri="{FF2B5EF4-FFF2-40B4-BE49-F238E27FC236}">
                <a16:creationId xmlns="" xmlns:a16="http://schemas.microsoft.com/office/drawing/2014/main" id="{AD5C5DA6-734B-4A0E-B4CF-0E3CD39C6478}"/>
              </a:ext>
            </a:extLst>
          </p:cNvPr>
          <p:cNvGrpSpPr>
            <a:grpSpLocks/>
          </p:cNvGrpSpPr>
          <p:nvPr/>
        </p:nvGrpSpPr>
        <p:grpSpPr bwMode="auto">
          <a:xfrm>
            <a:off x="2254078" y="4275653"/>
            <a:ext cx="1289050" cy="400050"/>
            <a:chOff x="393700" y="4362450"/>
            <a:chExt cx="1289050" cy="400050"/>
          </a:xfrm>
        </p:grpSpPr>
        <p:sp>
          <p:nvSpPr>
            <p:cNvPr id="62" name="Text Box 12">
              <a:extLst>
                <a:ext uri="{FF2B5EF4-FFF2-40B4-BE49-F238E27FC236}">
                  <a16:creationId xmlns="" xmlns:a16="http://schemas.microsoft.com/office/drawing/2014/main" id="{CFFF35E1-D1E2-4A44-B1F6-67415A629C0B}"/>
                </a:ext>
              </a:extLst>
            </p:cNvPr>
            <p:cNvSpPr txBox="1">
              <a:spLocks noChangeArrowheads="1"/>
            </p:cNvSpPr>
            <p:nvPr/>
          </p:nvSpPr>
          <p:spPr bwMode="auto">
            <a:xfrm>
              <a:off x="393700" y="4362450"/>
              <a:ext cx="79375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dirty="0">
                  <a:solidFill>
                    <a:srgbClr val="FF0000"/>
                  </a:solidFill>
                  <a:latin typeface="微软雅黑" pitchFamily="34" charset="-122"/>
                  <a:ea typeface="微软雅黑" pitchFamily="34" charset="-122"/>
                </a:rPr>
                <a:t>开关</a:t>
              </a:r>
            </a:p>
          </p:txBody>
        </p:sp>
        <p:cxnSp>
          <p:nvCxnSpPr>
            <p:cNvPr id="63" name="AutoShape 13">
              <a:extLst>
                <a:ext uri="{FF2B5EF4-FFF2-40B4-BE49-F238E27FC236}">
                  <a16:creationId xmlns="" xmlns:a16="http://schemas.microsoft.com/office/drawing/2014/main" id="{1638E668-3C67-495A-BC9A-6D9BC17971EB}"/>
                </a:ext>
              </a:extLst>
            </p:cNvPr>
            <p:cNvCxnSpPr>
              <a:cxnSpLocks noChangeShapeType="1"/>
            </p:cNvCxnSpPr>
            <p:nvPr/>
          </p:nvCxnSpPr>
          <p:spPr bwMode="auto">
            <a:xfrm flipV="1">
              <a:off x="970742" y="4540250"/>
              <a:ext cx="712008" cy="22225"/>
            </a:xfrm>
            <a:prstGeom prst="straightConnector1">
              <a:avLst/>
            </a:prstGeom>
            <a:noFill/>
            <a:ln w="38100">
              <a:solidFill>
                <a:srgbClr val="FF33CC"/>
              </a:solidFill>
              <a:round/>
              <a:headEnd/>
              <a:tailEnd type="arrow" w="sm" len="lg"/>
            </a:ln>
          </p:spPr>
        </p:cxnSp>
      </p:grpSp>
      <p:grpSp>
        <p:nvGrpSpPr>
          <p:cNvPr id="64" name="组合 53">
            <a:extLst>
              <a:ext uri="{FF2B5EF4-FFF2-40B4-BE49-F238E27FC236}">
                <a16:creationId xmlns="" xmlns:a16="http://schemas.microsoft.com/office/drawing/2014/main" id="{02740956-1D6B-443D-981F-F8E03D40729B}"/>
              </a:ext>
            </a:extLst>
          </p:cNvPr>
          <p:cNvGrpSpPr>
            <a:grpSpLocks/>
          </p:cNvGrpSpPr>
          <p:nvPr/>
        </p:nvGrpSpPr>
        <p:grpSpPr bwMode="auto">
          <a:xfrm>
            <a:off x="2189770" y="4912843"/>
            <a:ext cx="1682750" cy="400050"/>
            <a:chOff x="0" y="4940300"/>
            <a:chExt cx="1682750" cy="400050"/>
          </a:xfrm>
        </p:grpSpPr>
        <p:sp>
          <p:nvSpPr>
            <p:cNvPr id="79" name="Text Box 12">
              <a:extLst>
                <a:ext uri="{FF2B5EF4-FFF2-40B4-BE49-F238E27FC236}">
                  <a16:creationId xmlns="" xmlns:a16="http://schemas.microsoft.com/office/drawing/2014/main" id="{993BFEB9-68F8-4FA6-9DD7-57B8EED93ABD}"/>
                </a:ext>
              </a:extLst>
            </p:cNvPr>
            <p:cNvSpPr txBox="1">
              <a:spLocks noChangeArrowheads="1"/>
            </p:cNvSpPr>
            <p:nvPr/>
          </p:nvSpPr>
          <p:spPr bwMode="auto">
            <a:xfrm>
              <a:off x="0" y="4940300"/>
              <a:ext cx="128270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FF0000"/>
                  </a:solidFill>
                  <a:latin typeface="微软雅黑" pitchFamily="34" charset="-122"/>
                  <a:ea typeface="微软雅黑" pitchFamily="34" charset="-122"/>
                </a:rPr>
                <a:t>定时电容</a:t>
              </a:r>
            </a:p>
          </p:txBody>
        </p:sp>
        <p:cxnSp>
          <p:nvCxnSpPr>
            <p:cNvPr id="80" name="AutoShape 13">
              <a:extLst>
                <a:ext uri="{FF2B5EF4-FFF2-40B4-BE49-F238E27FC236}">
                  <a16:creationId xmlns="" xmlns:a16="http://schemas.microsoft.com/office/drawing/2014/main" id="{967DD57D-E0D4-4F12-9120-A9CF91231D50}"/>
                </a:ext>
              </a:extLst>
            </p:cNvPr>
            <p:cNvCxnSpPr>
              <a:cxnSpLocks noChangeShapeType="1"/>
            </p:cNvCxnSpPr>
            <p:nvPr/>
          </p:nvCxnSpPr>
          <p:spPr bwMode="auto">
            <a:xfrm>
              <a:off x="1282700" y="5160962"/>
              <a:ext cx="400050" cy="1588"/>
            </a:xfrm>
            <a:prstGeom prst="straightConnector1">
              <a:avLst/>
            </a:prstGeom>
            <a:noFill/>
            <a:ln w="38100">
              <a:solidFill>
                <a:srgbClr val="FF33CC"/>
              </a:solidFill>
              <a:round/>
              <a:headEnd/>
              <a:tailEnd type="arrow" w="sm" len="lg"/>
            </a:ln>
          </p:spPr>
        </p:cxnSp>
      </p:grpSp>
      <p:grpSp>
        <p:nvGrpSpPr>
          <p:cNvPr id="81" name="组合 54">
            <a:extLst>
              <a:ext uri="{FF2B5EF4-FFF2-40B4-BE49-F238E27FC236}">
                <a16:creationId xmlns="" xmlns:a16="http://schemas.microsoft.com/office/drawing/2014/main" id="{E619BD8B-8F09-46D5-BE1A-ADBFB677E1DA}"/>
              </a:ext>
            </a:extLst>
          </p:cNvPr>
          <p:cNvGrpSpPr>
            <a:grpSpLocks/>
          </p:cNvGrpSpPr>
          <p:nvPr/>
        </p:nvGrpSpPr>
        <p:grpSpPr bwMode="auto">
          <a:xfrm>
            <a:off x="4717070" y="4157193"/>
            <a:ext cx="1555750" cy="1866900"/>
            <a:chOff x="2527300" y="4184650"/>
            <a:chExt cx="1555750" cy="1866900"/>
          </a:xfrm>
        </p:grpSpPr>
        <p:sp>
          <p:nvSpPr>
            <p:cNvPr id="82" name="Text Box 12">
              <a:extLst>
                <a:ext uri="{FF2B5EF4-FFF2-40B4-BE49-F238E27FC236}">
                  <a16:creationId xmlns="" xmlns:a16="http://schemas.microsoft.com/office/drawing/2014/main" id="{A3152B39-E91D-4676-96FF-37E96C59A957}"/>
                </a:ext>
              </a:extLst>
            </p:cNvPr>
            <p:cNvSpPr txBox="1">
              <a:spLocks noChangeArrowheads="1"/>
            </p:cNvSpPr>
            <p:nvPr/>
          </p:nvSpPr>
          <p:spPr bwMode="auto">
            <a:xfrm>
              <a:off x="2527300" y="5562600"/>
              <a:ext cx="1555750" cy="4889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FF0000"/>
                  </a:solidFill>
                  <a:latin typeface="微软雅黑" pitchFamily="34" charset="-122"/>
                  <a:ea typeface="微软雅黑" pitchFamily="34" charset="-122"/>
                </a:rPr>
                <a:t>电压比较器</a:t>
              </a:r>
            </a:p>
          </p:txBody>
        </p:sp>
        <p:cxnSp>
          <p:nvCxnSpPr>
            <p:cNvPr id="83" name="AutoShape 13">
              <a:extLst>
                <a:ext uri="{FF2B5EF4-FFF2-40B4-BE49-F238E27FC236}">
                  <a16:creationId xmlns="" xmlns:a16="http://schemas.microsoft.com/office/drawing/2014/main" id="{F26B69ED-9390-4333-BFEB-19F850AC6C24}"/>
                </a:ext>
              </a:extLst>
            </p:cNvPr>
            <p:cNvCxnSpPr>
              <a:cxnSpLocks noChangeShapeType="1"/>
              <a:stCxn id="82" idx="0"/>
            </p:cNvCxnSpPr>
            <p:nvPr/>
          </p:nvCxnSpPr>
          <p:spPr bwMode="auto">
            <a:xfrm rot="16200000" flipV="1">
              <a:off x="2608263" y="4865687"/>
              <a:ext cx="1377950" cy="15875"/>
            </a:xfrm>
            <a:prstGeom prst="straightConnector1">
              <a:avLst/>
            </a:prstGeom>
            <a:noFill/>
            <a:ln w="38100">
              <a:solidFill>
                <a:srgbClr val="FF33CC"/>
              </a:solidFill>
              <a:round/>
              <a:headEnd/>
              <a:tailEnd type="arrow" w="sm" len="lg"/>
            </a:ln>
          </p:spPr>
        </p:cxnSp>
      </p:grpSp>
      <p:grpSp>
        <p:nvGrpSpPr>
          <p:cNvPr id="84" name="组合 55">
            <a:extLst>
              <a:ext uri="{FF2B5EF4-FFF2-40B4-BE49-F238E27FC236}">
                <a16:creationId xmlns="" xmlns:a16="http://schemas.microsoft.com/office/drawing/2014/main" id="{A6D1A0D6-2BDE-43A7-B90A-065D4063339E}"/>
              </a:ext>
            </a:extLst>
          </p:cNvPr>
          <p:cNvGrpSpPr>
            <a:grpSpLocks/>
          </p:cNvGrpSpPr>
          <p:nvPr/>
        </p:nvGrpSpPr>
        <p:grpSpPr bwMode="auto">
          <a:xfrm>
            <a:off x="6672870" y="2957043"/>
            <a:ext cx="1466850" cy="400050"/>
            <a:chOff x="4483100" y="2984500"/>
            <a:chExt cx="1466850" cy="400050"/>
          </a:xfrm>
        </p:grpSpPr>
        <p:sp>
          <p:nvSpPr>
            <p:cNvPr id="85" name="Text Box 12">
              <a:extLst>
                <a:ext uri="{FF2B5EF4-FFF2-40B4-BE49-F238E27FC236}">
                  <a16:creationId xmlns="" xmlns:a16="http://schemas.microsoft.com/office/drawing/2014/main" id="{1F7A376A-A973-4A74-9E7D-4174DDA9A6D2}"/>
                </a:ext>
              </a:extLst>
            </p:cNvPr>
            <p:cNvSpPr txBox="1">
              <a:spLocks noChangeArrowheads="1"/>
            </p:cNvSpPr>
            <p:nvPr/>
          </p:nvSpPr>
          <p:spPr bwMode="auto">
            <a:xfrm>
              <a:off x="4927600" y="2984500"/>
              <a:ext cx="102235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FF0000"/>
                  </a:solidFill>
                  <a:latin typeface="微软雅黑" pitchFamily="34" charset="-122"/>
                  <a:ea typeface="微软雅黑" pitchFamily="34" charset="-122"/>
                </a:rPr>
                <a:t>电磁铁</a:t>
              </a:r>
            </a:p>
          </p:txBody>
        </p:sp>
        <p:cxnSp>
          <p:nvCxnSpPr>
            <p:cNvPr id="86" name="AutoShape 13">
              <a:extLst>
                <a:ext uri="{FF2B5EF4-FFF2-40B4-BE49-F238E27FC236}">
                  <a16:creationId xmlns="" xmlns:a16="http://schemas.microsoft.com/office/drawing/2014/main" id="{9142B3CE-357B-489D-9605-EA4DBDA77D86}"/>
                </a:ext>
              </a:extLst>
            </p:cNvPr>
            <p:cNvCxnSpPr>
              <a:cxnSpLocks noChangeShapeType="1"/>
            </p:cNvCxnSpPr>
            <p:nvPr/>
          </p:nvCxnSpPr>
          <p:spPr bwMode="auto">
            <a:xfrm rot="10800000">
              <a:off x="4483100" y="3206750"/>
              <a:ext cx="400050" cy="1588"/>
            </a:xfrm>
            <a:prstGeom prst="straightConnector1">
              <a:avLst/>
            </a:prstGeom>
            <a:noFill/>
            <a:ln w="38100">
              <a:solidFill>
                <a:srgbClr val="FF33CC"/>
              </a:solidFill>
              <a:round/>
              <a:headEnd/>
              <a:tailEnd type="arrow" w="sm" len="lg"/>
            </a:ln>
          </p:spPr>
        </p:cxnSp>
      </p:grpSp>
      <p:grpSp>
        <p:nvGrpSpPr>
          <p:cNvPr id="87" name="组合 56">
            <a:extLst>
              <a:ext uri="{FF2B5EF4-FFF2-40B4-BE49-F238E27FC236}">
                <a16:creationId xmlns="" xmlns:a16="http://schemas.microsoft.com/office/drawing/2014/main" id="{8E4C0665-B9C0-4F21-8ED8-B83A01E446AD}"/>
              </a:ext>
            </a:extLst>
          </p:cNvPr>
          <p:cNvGrpSpPr>
            <a:grpSpLocks/>
          </p:cNvGrpSpPr>
          <p:nvPr/>
        </p:nvGrpSpPr>
        <p:grpSpPr bwMode="auto">
          <a:xfrm>
            <a:off x="6495070" y="3757143"/>
            <a:ext cx="1466850" cy="400050"/>
            <a:chOff x="4305300" y="3784600"/>
            <a:chExt cx="1466850" cy="400050"/>
          </a:xfrm>
        </p:grpSpPr>
        <p:sp>
          <p:nvSpPr>
            <p:cNvPr id="88" name="Text Box 12">
              <a:extLst>
                <a:ext uri="{FF2B5EF4-FFF2-40B4-BE49-F238E27FC236}">
                  <a16:creationId xmlns="" xmlns:a16="http://schemas.microsoft.com/office/drawing/2014/main" id="{A7108134-F211-4345-B7D1-E476885C3371}"/>
                </a:ext>
              </a:extLst>
            </p:cNvPr>
            <p:cNvSpPr txBox="1">
              <a:spLocks noChangeArrowheads="1"/>
            </p:cNvSpPr>
            <p:nvPr/>
          </p:nvSpPr>
          <p:spPr bwMode="auto">
            <a:xfrm>
              <a:off x="4749800" y="3784600"/>
              <a:ext cx="102235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FF0000"/>
                  </a:solidFill>
                  <a:latin typeface="微软雅黑" pitchFamily="34" charset="-122"/>
                  <a:ea typeface="微软雅黑" pitchFamily="34" charset="-122"/>
                </a:rPr>
                <a:t>三极管</a:t>
              </a:r>
            </a:p>
          </p:txBody>
        </p:sp>
        <p:cxnSp>
          <p:nvCxnSpPr>
            <p:cNvPr id="89" name="AutoShape 13">
              <a:extLst>
                <a:ext uri="{FF2B5EF4-FFF2-40B4-BE49-F238E27FC236}">
                  <a16:creationId xmlns="" xmlns:a16="http://schemas.microsoft.com/office/drawing/2014/main" id="{E96E2739-786C-456C-B630-2268F0A7F68A}"/>
                </a:ext>
              </a:extLst>
            </p:cNvPr>
            <p:cNvCxnSpPr>
              <a:cxnSpLocks noChangeShapeType="1"/>
            </p:cNvCxnSpPr>
            <p:nvPr/>
          </p:nvCxnSpPr>
          <p:spPr bwMode="auto">
            <a:xfrm rot="10800000">
              <a:off x="4305300" y="4006850"/>
              <a:ext cx="400050" cy="1588"/>
            </a:xfrm>
            <a:prstGeom prst="straightConnector1">
              <a:avLst/>
            </a:prstGeom>
            <a:noFill/>
            <a:ln w="38100">
              <a:solidFill>
                <a:srgbClr val="FF33CC"/>
              </a:solidFill>
              <a:round/>
              <a:headEnd/>
              <a:tailEnd type="arrow" w="sm" len="lg"/>
            </a:ln>
          </p:spPr>
        </p:cxnSp>
      </p:grpSp>
      <p:grpSp>
        <p:nvGrpSpPr>
          <p:cNvPr id="90" name="组合 58">
            <a:extLst>
              <a:ext uri="{FF2B5EF4-FFF2-40B4-BE49-F238E27FC236}">
                <a16:creationId xmlns="" xmlns:a16="http://schemas.microsoft.com/office/drawing/2014/main" id="{FA90274C-C083-4BF5-9232-D0E3DD62148A}"/>
              </a:ext>
            </a:extLst>
          </p:cNvPr>
          <p:cNvGrpSpPr>
            <a:grpSpLocks/>
          </p:cNvGrpSpPr>
          <p:nvPr/>
        </p:nvGrpSpPr>
        <p:grpSpPr bwMode="auto">
          <a:xfrm>
            <a:off x="7161820" y="1712443"/>
            <a:ext cx="1689100" cy="1377950"/>
            <a:chOff x="4972050" y="1739900"/>
            <a:chExt cx="1689100" cy="1377950"/>
          </a:xfrm>
        </p:grpSpPr>
        <p:sp>
          <p:nvSpPr>
            <p:cNvPr id="91" name="Text Box 12">
              <a:extLst>
                <a:ext uri="{FF2B5EF4-FFF2-40B4-BE49-F238E27FC236}">
                  <a16:creationId xmlns="" xmlns:a16="http://schemas.microsoft.com/office/drawing/2014/main" id="{5599791B-3A78-4652-AF4E-20740C976FCC}"/>
                </a:ext>
              </a:extLst>
            </p:cNvPr>
            <p:cNvSpPr txBox="1">
              <a:spLocks noChangeArrowheads="1"/>
            </p:cNvSpPr>
            <p:nvPr/>
          </p:nvSpPr>
          <p:spPr bwMode="auto">
            <a:xfrm>
              <a:off x="4972050" y="1739900"/>
              <a:ext cx="168910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0000FF"/>
                  </a:solidFill>
                  <a:latin typeface="微软雅黑" pitchFamily="34" charset="-122"/>
                  <a:ea typeface="微软雅黑" pitchFamily="34" charset="-122"/>
                </a:rPr>
                <a:t>电磁铁吸引向左运动</a:t>
              </a:r>
            </a:p>
          </p:txBody>
        </p:sp>
        <p:cxnSp>
          <p:nvCxnSpPr>
            <p:cNvPr id="92" name="AutoShape 13">
              <a:extLst>
                <a:ext uri="{FF2B5EF4-FFF2-40B4-BE49-F238E27FC236}">
                  <a16:creationId xmlns="" xmlns:a16="http://schemas.microsoft.com/office/drawing/2014/main" id="{665C3E14-11B8-4E3B-B404-853A5011FA7A}"/>
                </a:ext>
              </a:extLst>
            </p:cNvPr>
            <p:cNvCxnSpPr>
              <a:cxnSpLocks noChangeShapeType="1"/>
            </p:cNvCxnSpPr>
            <p:nvPr/>
          </p:nvCxnSpPr>
          <p:spPr bwMode="auto">
            <a:xfrm rot="5400000">
              <a:off x="6061869" y="2828131"/>
              <a:ext cx="577850" cy="1588"/>
            </a:xfrm>
            <a:prstGeom prst="straightConnector1">
              <a:avLst/>
            </a:prstGeom>
            <a:noFill/>
            <a:ln w="38100">
              <a:solidFill>
                <a:srgbClr val="FF33CC"/>
              </a:solidFill>
              <a:round/>
              <a:headEnd/>
              <a:tailEnd type="arrow" w="sm" len="lg"/>
            </a:ln>
          </p:spPr>
        </p:cxnSp>
      </p:grpSp>
      <p:grpSp>
        <p:nvGrpSpPr>
          <p:cNvPr id="93" name="组合 60">
            <a:extLst>
              <a:ext uri="{FF2B5EF4-FFF2-40B4-BE49-F238E27FC236}">
                <a16:creationId xmlns="" xmlns:a16="http://schemas.microsoft.com/office/drawing/2014/main" id="{C8BE8662-4354-4E56-B874-E8DB2BADFFF5}"/>
              </a:ext>
            </a:extLst>
          </p:cNvPr>
          <p:cNvGrpSpPr>
            <a:grpSpLocks/>
          </p:cNvGrpSpPr>
          <p:nvPr/>
        </p:nvGrpSpPr>
        <p:grpSpPr bwMode="auto">
          <a:xfrm>
            <a:off x="7161820" y="4601693"/>
            <a:ext cx="1689100" cy="1778000"/>
            <a:chOff x="4972050" y="4629150"/>
            <a:chExt cx="1689100" cy="1778000"/>
          </a:xfrm>
        </p:grpSpPr>
        <p:sp>
          <p:nvSpPr>
            <p:cNvPr id="94" name="Text Box 12">
              <a:extLst>
                <a:ext uri="{FF2B5EF4-FFF2-40B4-BE49-F238E27FC236}">
                  <a16:creationId xmlns="" xmlns:a16="http://schemas.microsoft.com/office/drawing/2014/main" id="{E1FA13B2-F6D7-46B4-B939-B262458328A7}"/>
                </a:ext>
              </a:extLst>
            </p:cNvPr>
            <p:cNvSpPr txBox="1">
              <a:spLocks noChangeArrowheads="1"/>
            </p:cNvSpPr>
            <p:nvPr/>
          </p:nvSpPr>
          <p:spPr bwMode="auto">
            <a:xfrm>
              <a:off x="4972050" y="5607050"/>
              <a:ext cx="168910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0000FF"/>
                  </a:solidFill>
                  <a:latin typeface="微软雅黑" pitchFamily="34" charset="-122"/>
                  <a:ea typeface="微软雅黑" pitchFamily="34" charset="-122"/>
                </a:rPr>
                <a:t>快门开关控制向右运动</a:t>
              </a:r>
            </a:p>
          </p:txBody>
        </p:sp>
        <p:cxnSp>
          <p:nvCxnSpPr>
            <p:cNvPr id="95" name="AutoShape 13">
              <a:extLst>
                <a:ext uri="{FF2B5EF4-FFF2-40B4-BE49-F238E27FC236}">
                  <a16:creationId xmlns="" xmlns:a16="http://schemas.microsoft.com/office/drawing/2014/main" id="{2C404817-F849-4DCA-AC11-6E58515F2984}"/>
                </a:ext>
              </a:extLst>
            </p:cNvPr>
            <p:cNvCxnSpPr>
              <a:cxnSpLocks noChangeShapeType="1"/>
            </p:cNvCxnSpPr>
            <p:nvPr/>
          </p:nvCxnSpPr>
          <p:spPr bwMode="auto">
            <a:xfrm rot="5400000" flipH="1" flipV="1">
              <a:off x="5639594" y="5117306"/>
              <a:ext cx="977900" cy="1588"/>
            </a:xfrm>
            <a:prstGeom prst="straightConnector1">
              <a:avLst/>
            </a:prstGeom>
            <a:noFill/>
            <a:ln w="38100">
              <a:solidFill>
                <a:srgbClr val="FF33CC"/>
              </a:solidFill>
              <a:round/>
              <a:headEnd/>
              <a:tailEnd type="arrow" w="sm" len="lg"/>
            </a:ln>
          </p:spPr>
        </p:cxnSp>
      </p:grpSp>
      <p:grpSp>
        <p:nvGrpSpPr>
          <p:cNvPr id="96" name="组合 62">
            <a:extLst>
              <a:ext uri="{FF2B5EF4-FFF2-40B4-BE49-F238E27FC236}">
                <a16:creationId xmlns="" xmlns:a16="http://schemas.microsoft.com/office/drawing/2014/main" id="{2B1129A5-4E1D-425E-BC8D-E658EEA180C8}"/>
              </a:ext>
            </a:extLst>
          </p:cNvPr>
          <p:cNvGrpSpPr>
            <a:grpSpLocks/>
          </p:cNvGrpSpPr>
          <p:nvPr/>
        </p:nvGrpSpPr>
        <p:grpSpPr bwMode="auto">
          <a:xfrm>
            <a:off x="8850920" y="5424827"/>
            <a:ext cx="1911350" cy="1224759"/>
            <a:chOff x="6683375" y="5384800"/>
            <a:chExt cx="1911350" cy="1224759"/>
          </a:xfrm>
        </p:grpSpPr>
        <p:sp>
          <p:nvSpPr>
            <p:cNvPr id="97" name="Text Box 12">
              <a:extLst>
                <a:ext uri="{FF2B5EF4-FFF2-40B4-BE49-F238E27FC236}">
                  <a16:creationId xmlns="" xmlns:a16="http://schemas.microsoft.com/office/drawing/2014/main" id="{B7F571A4-F0FB-4B70-B0E4-82404092DBB2}"/>
                </a:ext>
              </a:extLst>
            </p:cNvPr>
            <p:cNvSpPr txBox="1">
              <a:spLocks noChangeArrowheads="1"/>
            </p:cNvSpPr>
            <p:nvPr/>
          </p:nvSpPr>
          <p:spPr bwMode="auto">
            <a:xfrm>
              <a:off x="6683375" y="5809459"/>
              <a:ext cx="191135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Times New Roman" pitchFamily="18" charset="0"/>
                  <a:ea typeface="微软雅黑" pitchFamily="34" charset="-122"/>
                  <a:cs typeface="Times New Roman" pitchFamily="18" charset="0"/>
                </a:rPr>
                <a:t>图像传感器</a:t>
              </a:r>
              <a:endParaRPr lang="en-US" altLang="zh-CN" sz="2400" b="1" dirty="0">
                <a:solidFill>
                  <a:srgbClr val="0000FF"/>
                </a:solidFill>
                <a:latin typeface="Times New Roman" pitchFamily="18" charset="0"/>
                <a:ea typeface="微软雅黑" pitchFamily="34" charset="-122"/>
                <a:cs typeface="Times New Roman" pitchFamily="18" charset="0"/>
              </a:endParaRPr>
            </a:p>
            <a:p>
              <a:pPr algn="ctr" defTabSz="914400"/>
              <a:r>
                <a:rPr lang="en-US" altLang="zh-CN" sz="2400" b="1" dirty="0">
                  <a:solidFill>
                    <a:srgbClr val="0000FF"/>
                  </a:solidFill>
                  <a:latin typeface="Times New Roman" pitchFamily="18" charset="0"/>
                  <a:ea typeface="微软雅黑" pitchFamily="34" charset="-122"/>
                  <a:cs typeface="Times New Roman" pitchFamily="18" charset="0"/>
                </a:rPr>
                <a:t>CCD/CMOS</a:t>
              </a:r>
              <a:endParaRPr lang="zh-CN" altLang="zh-CN" sz="2400" b="1" dirty="0">
                <a:solidFill>
                  <a:srgbClr val="0000FF"/>
                </a:solidFill>
                <a:latin typeface="Times New Roman" pitchFamily="18" charset="0"/>
                <a:ea typeface="微软雅黑" pitchFamily="34" charset="-122"/>
                <a:cs typeface="Times New Roman" pitchFamily="18" charset="0"/>
              </a:endParaRPr>
            </a:p>
          </p:txBody>
        </p:sp>
        <p:cxnSp>
          <p:nvCxnSpPr>
            <p:cNvPr id="98" name="AutoShape 13">
              <a:extLst>
                <a:ext uri="{FF2B5EF4-FFF2-40B4-BE49-F238E27FC236}">
                  <a16:creationId xmlns="" xmlns:a16="http://schemas.microsoft.com/office/drawing/2014/main" id="{2D5A9370-4B35-4FB1-888F-E7E3E9999BD9}"/>
                </a:ext>
              </a:extLst>
            </p:cNvPr>
            <p:cNvCxnSpPr>
              <a:cxnSpLocks noChangeShapeType="1"/>
            </p:cNvCxnSpPr>
            <p:nvPr/>
          </p:nvCxnSpPr>
          <p:spPr bwMode="auto">
            <a:xfrm rot="5400000" flipH="1" flipV="1">
              <a:off x="6884194" y="5561806"/>
              <a:ext cx="355600" cy="1588"/>
            </a:xfrm>
            <a:prstGeom prst="straightConnector1">
              <a:avLst/>
            </a:prstGeom>
            <a:noFill/>
            <a:ln w="38100">
              <a:solidFill>
                <a:srgbClr val="FF33CC"/>
              </a:solidFill>
              <a:round/>
              <a:headEnd/>
              <a:tailEnd type="arrow" w="sm" len="lg"/>
            </a:ln>
          </p:spPr>
        </p:cxnSp>
      </p:grpSp>
      <p:grpSp>
        <p:nvGrpSpPr>
          <p:cNvPr id="99" name="组合 59">
            <a:extLst>
              <a:ext uri="{FF2B5EF4-FFF2-40B4-BE49-F238E27FC236}">
                <a16:creationId xmlns="" xmlns:a16="http://schemas.microsoft.com/office/drawing/2014/main" id="{EDC3E15B-0039-4C84-B34D-0A0F9C0E576B}"/>
              </a:ext>
            </a:extLst>
          </p:cNvPr>
          <p:cNvGrpSpPr>
            <a:grpSpLocks/>
          </p:cNvGrpSpPr>
          <p:nvPr/>
        </p:nvGrpSpPr>
        <p:grpSpPr bwMode="auto">
          <a:xfrm>
            <a:off x="9517670" y="4157193"/>
            <a:ext cx="1155700" cy="400050"/>
            <a:chOff x="7327900" y="4184650"/>
            <a:chExt cx="1155700" cy="400050"/>
          </a:xfrm>
        </p:grpSpPr>
        <p:sp>
          <p:nvSpPr>
            <p:cNvPr id="100" name="Text Box 12">
              <a:extLst>
                <a:ext uri="{FF2B5EF4-FFF2-40B4-BE49-F238E27FC236}">
                  <a16:creationId xmlns="" xmlns:a16="http://schemas.microsoft.com/office/drawing/2014/main" id="{E2DD94DC-D9FB-4460-9EA9-E970D299D6FC}"/>
                </a:ext>
              </a:extLst>
            </p:cNvPr>
            <p:cNvSpPr txBox="1">
              <a:spLocks noChangeArrowheads="1"/>
            </p:cNvSpPr>
            <p:nvPr/>
          </p:nvSpPr>
          <p:spPr bwMode="auto">
            <a:xfrm>
              <a:off x="7772400" y="4184650"/>
              <a:ext cx="71120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0000FF"/>
                  </a:solidFill>
                  <a:latin typeface="微软雅黑" pitchFamily="34" charset="-122"/>
                  <a:ea typeface="微软雅黑" pitchFamily="34" charset="-122"/>
                </a:rPr>
                <a:t>前帘</a:t>
              </a:r>
            </a:p>
          </p:txBody>
        </p:sp>
        <p:cxnSp>
          <p:nvCxnSpPr>
            <p:cNvPr id="101" name="AutoShape 13">
              <a:extLst>
                <a:ext uri="{FF2B5EF4-FFF2-40B4-BE49-F238E27FC236}">
                  <a16:creationId xmlns="" xmlns:a16="http://schemas.microsoft.com/office/drawing/2014/main" id="{D8A84342-7888-47D0-AB2B-44A099960B6B}"/>
                </a:ext>
              </a:extLst>
            </p:cNvPr>
            <p:cNvCxnSpPr>
              <a:cxnSpLocks noChangeShapeType="1"/>
            </p:cNvCxnSpPr>
            <p:nvPr/>
          </p:nvCxnSpPr>
          <p:spPr bwMode="auto">
            <a:xfrm rot="10800000">
              <a:off x="7327900" y="4406900"/>
              <a:ext cx="400050" cy="1588"/>
            </a:xfrm>
            <a:prstGeom prst="straightConnector1">
              <a:avLst/>
            </a:prstGeom>
            <a:noFill/>
            <a:ln w="38100">
              <a:solidFill>
                <a:srgbClr val="FF33CC"/>
              </a:solidFill>
              <a:round/>
              <a:headEnd/>
              <a:tailEnd type="arrow" w="sm" len="lg"/>
            </a:ln>
          </p:spPr>
        </p:cxnSp>
      </p:grpSp>
      <p:grpSp>
        <p:nvGrpSpPr>
          <p:cNvPr id="102" name="组合 57">
            <a:extLst>
              <a:ext uri="{FF2B5EF4-FFF2-40B4-BE49-F238E27FC236}">
                <a16:creationId xmlns="" xmlns:a16="http://schemas.microsoft.com/office/drawing/2014/main" id="{E315B65B-AC09-4B58-937E-7D9B0134D0F9}"/>
              </a:ext>
            </a:extLst>
          </p:cNvPr>
          <p:cNvGrpSpPr>
            <a:grpSpLocks/>
          </p:cNvGrpSpPr>
          <p:nvPr/>
        </p:nvGrpSpPr>
        <p:grpSpPr bwMode="auto">
          <a:xfrm>
            <a:off x="10006620" y="3090393"/>
            <a:ext cx="1155700" cy="400050"/>
            <a:chOff x="7816850" y="3117850"/>
            <a:chExt cx="1155700" cy="400050"/>
          </a:xfrm>
        </p:grpSpPr>
        <p:sp>
          <p:nvSpPr>
            <p:cNvPr id="103" name="Text Box 12">
              <a:extLst>
                <a:ext uri="{FF2B5EF4-FFF2-40B4-BE49-F238E27FC236}">
                  <a16:creationId xmlns="" xmlns:a16="http://schemas.microsoft.com/office/drawing/2014/main" id="{EB4718F6-B64F-4CFD-8EB8-F87E9F62BF3D}"/>
                </a:ext>
              </a:extLst>
            </p:cNvPr>
            <p:cNvSpPr txBox="1">
              <a:spLocks noChangeArrowheads="1"/>
            </p:cNvSpPr>
            <p:nvPr/>
          </p:nvSpPr>
          <p:spPr bwMode="auto">
            <a:xfrm>
              <a:off x="8261350" y="3117850"/>
              <a:ext cx="71120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0000FF"/>
                  </a:solidFill>
                  <a:latin typeface="微软雅黑" pitchFamily="34" charset="-122"/>
                  <a:ea typeface="微软雅黑" pitchFamily="34" charset="-122"/>
                </a:rPr>
                <a:t>后帘</a:t>
              </a:r>
            </a:p>
          </p:txBody>
        </p:sp>
        <p:cxnSp>
          <p:nvCxnSpPr>
            <p:cNvPr id="104" name="AutoShape 13">
              <a:extLst>
                <a:ext uri="{FF2B5EF4-FFF2-40B4-BE49-F238E27FC236}">
                  <a16:creationId xmlns="" xmlns:a16="http://schemas.microsoft.com/office/drawing/2014/main" id="{2613194E-E582-4EB0-8F82-C1F4EC74EE2F}"/>
                </a:ext>
              </a:extLst>
            </p:cNvPr>
            <p:cNvCxnSpPr>
              <a:cxnSpLocks noChangeShapeType="1"/>
            </p:cNvCxnSpPr>
            <p:nvPr/>
          </p:nvCxnSpPr>
          <p:spPr bwMode="auto">
            <a:xfrm rot="10800000">
              <a:off x="7816850" y="3340100"/>
              <a:ext cx="400050" cy="1588"/>
            </a:xfrm>
            <a:prstGeom prst="straightConnector1">
              <a:avLst/>
            </a:prstGeom>
            <a:noFill/>
            <a:ln w="38100">
              <a:solidFill>
                <a:srgbClr val="FF33CC"/>
              </a:solidFill>
              <a:round/>
              <a:headEnd/>
              <a:tailEnd type="arrow" w="sm" len="lg"/>
            </a:ln>
          </p:spPr>
        </p:cxnSp>
      </p:grpSp>
      <p:sp>
        <p:nvSpPr>
          <p:cNvPr id="105" name="Text Box 12">
            <a:extLst>
              <a:ext uri="{FF2B5EF4-FFF2-40B4-BE49-F238E27FC236}">
                <a16:creationId xmlns="" xmlns:a16="http://schemas.microsoft.com/office/drawing/2014/main" id="{3DB338A7-1B85-4039-8CB9-A7F34C4A4D4F}"/>
              </a:ext>
            </a:extLst>
          </p:cNvPr>
          <p:cNvSpPr txBox="1">
            <a:spLocks noChangeArrowheads="1"/>
          </p:cNvSpPr>
          <p:nvPr/>
        </p:nvSpPr>
        <p:spPr bwMode="auto">
          <a:xfrm>
            <a:off x="8806470" y="2112493"/>
            <a:ext cx="71120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FF00FF"/>
                </a:solidFill>
                <a:latin typeface="微软雅黑" pitchFamily="34" charset="-122"/>
                <a:ea typeface="微软雅黑" pitchFamily="34" charset="-122"/>
              </a:rPr>
              <a:t>景物</a:t>
            </a:r>
          </a:p>
        </p:txBody>
      </p:sp>
      <p:grpSp>
        <p:nvGrpSpPr>
          <p:cNvPr id="106" name="组合 61">
            <a:extLst>
              <a:ext uri="{FF2B5EF4-FFF2-40B4-BE49-F238E27FC236}">
                <a16:creationId xmlns="" xmlns:a16="http://schemas.microsoft.com/office/drawing/2014/main" id="{CC9EFE1B-049A-4972-BA30-4E1F731D7A07}"/>
              </a:ext>
            </a:extLst>
          </p:cNvPr>
          <p:cNvGrpSpPr>
            <a:grpSpLocks/>
          </p:cNvGrpSpPr>
          <p:nvPr/>
        </p:nvGrpSpPr>
        <p:grpSpPr bwMode="auto">
          <a:xfrm>
            <a:off x="9428770" y="2512543"/>
            <a:ext cx="1905000" cy="400050"/>
            <a:chOff x="7239000" y="2540000"/>
            <a:chExt cx="1905000" cy="400050"/>
          </a:xfrm>
        </p:grpSpPr>
        <p:sp>
          <p:nvSpPr>
            <p:cNvPr id="107" name="Text Box 12">
              <a:extLst>
                <a:ext uri="{FF2B5EF4-FFF2-40B4-BE49-F238E27FC236}">
                  <a16:creationId xmlns="" xmlns:a16="http://schemas.microsoft.com/office/drawing/2014/main" id="{E417E98C-B06C-467D-B879-DB9FA8F181B5}"/>
                </a:ext>
              </a:extLst>
            </p:cNvPr>
            <p:cNvSpPr txBox="1">
              <a:spLocks noChangeArrowheads="1"/>
            </p:cNvSpPr>
            <p:nvPr/>
          </p:nvSpPr>
          <p:spPr bwMode="auto">
            <a:xfrm>
              <a:off x="7683500" y="2540000"/>
              <a:ext cx="1460500" cy="4000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0000FF"/>
                  </a:solidFill>
                  <a:latin typeface="微软雅黑" pitchFamily="34" charset="-122"/>
                  <a:ea typeface="微软雅黑" pitchFamily="34" charset="-122"/>
                </a:rPr>
                <a:t>光学镜头</a:t>
              </a:r>
            </a:p>
          </p:txBody>
        </p:sp>
        <p:cxnSp>
          <p:nvCxnSpPr>
            <p:cNvPr id="108" name="AutoShape 13">
              <a:extLst>
                <a:ext uri="{FF2B5EF4-FFF2-40B4-BE49-F238E27FC236}">
                  <a16:creationId xmlns="" xmlns:a16="http://schemas.microsoft.com/office/drawing/2014/main" id="{3166AC0D-4F01-4CE1-839E-E566AA4354CB}"/>
                </a:ext>
              </a:extLst>
            </p:cNvPr>
            <p:cNvCxnSpPr>
              <a:cxnSpLocks noChangeShapeType="1"/>
            </p:cNvCxnSpPr>
            <p:nvPr/>
          </p:nvCxnSpPr>
          <p:spPr bwMode="auto">
            <a:xfrm rot="10800000">
              <a:off x="7239000" y="2762250"/>
              <a:ext cx="400050" cy="1588"/>
            </a:xfrm>
            <a:prstGeom prst="straightConnector1">
              <a:avLst/>
            </a:prstGeom>
            <a:noFill/>
            <a:ln w="38100">
              <a:solidFill>
                <a:srgbClr val="FF33CC"/>
              </a:solidFill>
              <a:round/>
              <a:headEnd/>
              <a:tailEnd type="arrow" w="sm" len="lg"/>
            </a:ln>
          </p:spPr>
        </p:cxnSp>
      </p:grpSp>
      <p:sp>
        <p:nvSpPr>
          <p:cNvPr id="65" name="文本框 60">
            <a:extLst>
              <a:ext uri="{FF2B5EF4-FFF2-40B4-BE49-F238E27FC236}">
                <a16:creationId xmlns="" xmlns:a16="http://schemas.microsoft.com/office/drawing/2014/main" id="{00AF6E8B-C90A-4DF1-902C-C45216B6B33A}"/>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照相机自动曝光控制电路</a:t>
            </a:r>
          </a:p>
        </p:txBody>
      </p:sp>
      <p:sp>
        <p:nvSpPr>
          <p:cNvPr id="66" name="矩形 65">
            <a:extLst>
              <a:ext uri="{FF2B5EF4-FFF2-40B4-BE49-F238E27FC236}">
                <a16:creationId xmlns="" xmlns:a16="http://schemas.microsoft.com/office/drawing/2014/main" id="{EE2517D4-32D1-4143-B787-9B4F5D114C5E}"/>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67" name="矩形 66">
            <a:extLst>
              <a:ext uri="{FF2B5EF4-FFF2-40B4-BE49-F238E27FC236}">
                <a16:creationId xmlns="" xmlns:a16="http://schemas.microsoft.com/office/drawing/2014/main" id="{0E42C23C-8388-48E5-89BA-4C726FD160D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 xmlns:a16="http://schemas.microsoft.com/office/drawing/2014/main" id="{1AE61302-B9B6-4AAB-A761-DE792A64A224}"/>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69" name="直接连接符 58">
            <a:extLst>
              <a:ext uri="{FF2B5EF4-FFF2-40B4-BE49-F238E27FC236}">
                <a16:creationId xmlns="" xmlns:a16="http://schemas.microsoft.com/office/drawing/2014/main" id="{C1E219A5-96A8-40BC-95FC-1E9496F70967}"/>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70" name="矩形 69">
            <a:extLst>
              <a:ext uri="{FF2B5EF4-FFF2-40B4-BE49-F238E27FC236}">
                <a16:creationId xmlns="" xmlns:a16="http://schemas.microsoft.com/office/drawing/2014/main" id="{ADD121B9-AF94-4350-9453-0ED338F6C5F8}"/>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71" name="矩形 70">
            <a:extLst>
              <a:ext uri="{FF2B5EF4-FFF2-40B4-BE49-F238E27FC236}">
                <a16:creationId xmlns="" xmlns:a16="http://schemas.microsoft.com/office/drawing/2014/main" id="{FEDDC55E-AD73-4E0B-BD64-D8D61409F13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956104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ox(i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box(in)">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box(in)">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box(in)">
                                      <p:cBhvr>
                                        <p:cTn id="22" dur="500"/>
                                        <p:tgtEl>
                                          <p:spTgt spid="5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box(in)">
                                      <p:cBhvr>
                                        <p:cTn id="27" dur="500"/>
                                        <p:tgtEl>
                                          <p:spTgt spid="6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64"/>
                                        </p:tgtEl>
                                        <p:attrNameLst>
                                          <p:attrName>style.visibility</p:attrName>
                                        </p:attrNameLst>
                                      </p:cBhvr>
                                      <p:to>
                                        <p:strVal val="visible"/>
                                      </p:to>
                                    </p:set>
                                    <p:animEffect transition="in" filter="box(in)">
                                      <p:cBhvr>
                                        <p:cTn id="32" dur="500"/>
                                        <p:tgtEl>
                                          <p:spTgt spid="6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81"/>
                                        </p:tgtEl>
                                        <p:attrNameLst>
                                          <p:attrName>style.visibility</p:attrName>
                                        </p:attrNameLst>
                                      </p:cBhvr>
                                      <p:to>
                                        <p:strVal val="visible"/>
                                      </p:to>
                                    </p:set>
                                    <p:animEffect transition="in" filter="box(in)">
                                      <p:cBhvr>
                                        <p:cTn id="37" dur="500"/>
                                        <p:tgtEl>
                                          <p:spTgt spid="81"/>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84"/>
                                        </p:tgtEl>
                                        <p:attrNameLst>
                                          <p:attrName>style.visibility</p:attrName>
                                        </p:attrNameLst>
                                      </p:cBhvr>
                                      <p:to>
                                        <p:strVal val="visible"/>
                                      </p:to>
                                    </p:set>
                                    <p:animEffect transition="in" filter="box(in)">
                                      <p:cBhvr>
                                        <p:cTn id="42" dur="500"/>
                                        <p:tgtEl>
                                          <p:spTgt spid="84"/>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87"/>
                                        </p:tgtEl>
                                        <p:attrNameLst>
                                          <p:attrName>style.visibility</p:attrName>
                                        </p:attrNameLst>
                                      </p:cBhvr>
                                      <p:to>
                                        <p:strVal val="visible"/>
                                      </p:to>
                                    </p:set>
                                    <p:animEffect transition="in" filter="box(in)">
                                      <p:cBhvr>
                                        <p:cTn id="47" dur="500"/>
                                        <p:tgtEl>
                                          <p:spTgt spid="87"/>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102"/>
                                        </p:tgtEl>
                                        <p:attrNameLst>
                                          <p:attrName>style.visibility</p:attrName>
                                        </p:attrNameLst>
                                      </p:cBhvr>
                                      <p:to>
                                        <p:strVal val="visible"/>
                                      </p:to>
                                    </p:set>
                                    <p:animEffect transition="in" filter="box(in)">
                                      <p:cBhvr>
                                        <p:cTn id="52" dur="500"/>
                                        <p:tgtEl>
                                          <p:spTgt spid="102"/>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1" fill="hold">
                                          <p:stCondLst>
                                            <p:cond delay="0"/>
                                          </p:stCondLst>
                                        </p:cTn>
                                        <p:tgtEl>
                                          <p:spTgt spid="90"/>
                                        </p:tgtEl>
                                        <p:attrNameLst>
                                          <p:attrName>style.visibility</p:attrName>
                                        </p:attrNameLst>
                                      </p:cBhvr>
                                      <p:to>
                                        <p:strVal val="visible"/>
                                      </p:to>
                                    </p:set>
                                    <p:animEffect transition="in" filter="box(in)">
                                      <p:cBhvr>
                                        <p:cTn id="57" dur="500"/>
                                        <p:tgtEl>
                                          <p:spTgt spid="90"/>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nodeType="clickEffect">
                                  <p:stCondLst>
                                    <p:cond delay="0"/>
                                  </p:stCondLst>
                                  <p:childTnLst>
                                    <p:set>
                                      <p:cBhvr>
                                        <p:cTn id="61" dur="1" fill="hold">
                                          <p:stCondLst>
                                            <p:cond delay="0"/>
                                          </p:stCondLst>
                                        </p:cTn>
                                        <p:tgtEl>
                                          <p:spTgt spid="99"/>
                                        </p:tgtEl>
                                        <p:attrNameLst>
                                          <p:attrName>style.visibility</p:attrName>
                                        </p:attrNameLst>
                                      </p:cBhvr>
                                      <p:to>
                                        <p:strVal val="visible"/>
                                      </p:to>
                                    </p:set>
                                    <p:animEffect transition="in" filter="box(in)">
                                      <p:cBhvr>
                                        <p:cTn id="62" dur="500"/>
                                        <p:tgtEl>
                                          <p:spTgt spid="99"/>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nodeType="clickEffect">
                                  <p:stCondLst>
                                    <p:cond delay="0"/>
                                  </p:stCondLst>
                                  <p:childTnLst>
                                    <p:set>
                                      <p:cBhvr>
                                        <p:cTn id="66" dur="1" fill="hold">
                                          <p:stCondLst>
                                            <p:cond delay="0"/>
                                          </p:stCondLst>
                                        </p:cTn>
                                        <p:tgtEl>
                                          <p:spTgt spid="93"/>
                                        </p:tgtEl>
                                        <p:attrNameLst>
                                          <p:attrName>style.visibility</p:attrName>
                                        </p:attrNameLst>
                                      </p:cBhvr>
                                      <p:to>
                                        <p:strVal val="visible"/>
                                      </p:to>
                                    </p:set>
                                    <p:animEffect transition="in" filter="box(in)">
                                      <p:cBhvr>
                                        <p:cTn id="67" dur="500"/>
                                        <p:tgtEl>
                                          <p:spTgt spid="93"/>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105"/>
                                        </p:tgtEl>
                                        <p:attrNameLst>
                                          <p:attrName>style.visibility</p:attrName>
                                        </p:attrNameLst>
                                      </p:cBhvr>
                                      <p:to>
                                        <p:strVal val="visible"/>
                                      </p:to>
                                    </p:set>
                                    <p:animEffect transition="in" filter="box(in)">
                                      <p:cBhvr>
                                        <p:cTn id="72" dur="500"/>
                                        <p:tgtEl>
                                          <p:spTgt spid="105"/>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nodeType="clickEffect">
                                  <p:stCondLst>
                                    <p:cond delay="0"/>
                                  </p:stCondLst>
                                  <p:childTnLst>
                                    <p:set>
                                      <p:cBhvr>
                                        <p:cTn id="76" dur="1" fill="hold">
                                          <p:stCondLst>
                                            <p:cond delay="0"/>
                                          </p:stCondLst>
                                        </p:cTn>
                                        <p:tgtEl>
                                          <p:spTgt spid="106"/>
                                        </p:tgtEl>
                                        <p:attrNameLst>
                                          <p:attrName>style.visibility</p:attrName>
                                        </p:attrNameLst>
                                      </p:cBhvr>
                                      <p:to>
                                        <p:strVal val="visible"/>
                                      </p:to>
                                    </p:set>
                                    <p:animEffect transition="in" filter="box(in)">
                                      <p:cBhvr>
                                        <p:cTn id="77" dur="500"/>
                                        <p:tgtEl>
                                          <p:spTgt spid="106"/>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6" fill="hold" nodeType="clickEffect">
                                  <p:stCondLst>
                                    <p:cond delay="0"/>
                                  </p:stCondLst>
                                  <p:childTnLst>
                                    <p:set>
                                      <p:cBhvr>
                                        <p:cTn id="81" dur="1" fill="hold">
                                          <p:stCondLst>
                                            <p:cond delay="0"/>
                                          </p:stCondLst>
                                        </p:cTn>
                                        <p:tgtEl>
                                          <p:spTgt spid="96"/>
                                        </p:tgtEl>
                                        <p:attrNameLst>
                                          <p:attrName>style.visibility</p:attrName>
                                        </p:attrNameLst>
                                      </p:cBhvr>
                                      <p:to>
                                        <p:strVal val="visible"/>
                                      </p:to>
                                    </p:set>
                                    <p:animEffect transition="in" filter="barn(inHorizontal)">
                                      <p:cBhvr>
                                        <p:cTn id="82"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Group 3">
            <a:extLst>
              <a:ext uri="{FF2B5EF4-FFF2-40B4-BE49-F238E27FC236}">
                <a16:creationId xmlns="" xmlns:a16="http://schemas.microsoft.com/office/drawing/2014/main" id="{81533D85-3A48-4EF1-BFD4-B866EA2346E9}"/>
              </a:ext>
            </a:extLst>
          </p:cNvPr>
          <p:cNvGrpSpPr>
            <a:grpSpLocks/>
          </p:cNvGrpSpPr>
          <p:nvPr/>
        </p:nvGrpSpPr>
        <p:grpSpPr bwMode="auto">
          <a:xfrm>
            <a:off x="7951463" y="1983805"/>
            <a:ext cx="2133600" cy="2933700"/>
            <a:chOff x="6722" y="12048"/>
            <a:chExt cx="2490" cy="3698"/>
          </a:xfrm>
        </p:grpSpPr>
        <p:graphicFrame>
          <p:nvGraphicFramePr>
            <p:cNvPr id="66" name="Object 3">
              <a:extLst>
                <a:ext uri="{FF2B5EF4-FFF2-40B4-BE49-F238E27FC236}">
                  <a16:creationId xmlns="" xmlns:a16="http://schemas.microsoft.com/office/drawing/2014/main" id="{EAD4B19E-EA0A-4563-940E-E6DDBD1E43CF}"/>
                </a:ext>
              </a:extLst>
            </p:cNvPr>
            <p:cNvGraphicFramePr>
              <a:graphicFrameLocks noChangeAspect="1"/>
            </p:cNvGraphicFramePr>
            <p:nvPr/>
          </p:nvGraphicFramePr>
          <p:xfrm>
            <a:off x="7500" y="12051"/>
            <a:ext cx="990" cy="570"/>
          </p:xfrm>
          <a:graphic>
            <a:graphicData uri="http://schemas.openxmlformats.org/presentationml/2006/ole">
              <mc:AlternateContent xmlns:mc="http://schemas.openxmlformats.org/markup-compatibility/2006">
                <mc:Choice xmlns:v="urn:schemas-microsoft-com:vml" Requires="v">
                  <p:oleObj spid="_x0000_s18530" name="Visio" r:id="rId3" imgW="530280" imgH="303480" progId="Visio.Drawing.11">
                    <p:embed/>
                  </p:oleObj>
                </mc:Choice>
                <mc:Fallback>
                  <p:oleObj name="Visio" r:id="rId3" imgW="530280" imgH="303480" progId="Visio.Drawing.11">
                    <p:embed/>
                    <p:pic>
                      <p:nvPicPr>
                        <p:cNvPr id="4404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0" y="12051"/>
                          <a:ext cx="990" cy="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7" name="Group 5">
              <a:extLst>
                <a:ext uri="{FF2B5EF4-FFF2-40B4-BE49-F238E27FC236}">
                  <a16:creationId xmlns="" xmlns:a16="http://schemas.microsoft.com/office/drawing/2014/main" id="{C46D08B2-17DB-454E-8316-9754ADF704D5}"/>
                </a:ext>
              </a:extLst>
            </p:cNvPr>
            <p:cNvGrpSpPr>
              <a:grpSpLocks/>
            </p:cNvGrpSpPr>
            <p:nvPr/>
          </p:nvGrpSpPr>
          <p:grpSpPr bwMode="auto">
            <a:xfrm>
              <a:off x="6722" y="12048"/>
              <a:ext cx="2490" cy="3698"/>
              <a:chOff x="6722" y="12048"/>
              <a:chExt cx="2490" cy="3698"/>
            </a:xfrm>
          </p:grpSpPr>
          <p:grpSp>
            <p:nvGrpSpPr>
              <p:cNvPr id="68" name="Group 6">
                <a:extLst>
                  <a:ext uri="{FF2B5EF4-FFF2-40B4-BE49-F238E27FC236}">
                    <a16:creationId xmlns="" xmlns:a16="http://schemas.microsoft.com/office/drawing/2014/main" id="{7CD3D04E-8D31-4BD8-BBD8-5A44E7D5A7AE}"/>
                  </a:ext>
                </a:extLst>
              </p:cNvPr>
              <p:cNvGrpSpPr>
                <a:grpSpLocks/>
              </p:cNvGrpSpPr>
              <p:nvPr/>
            </p:nvGrpSpPr>
            <p:grpSpPr bwMode="auto">
              <a:xfrm>
                <a:off x="6722" y="12048"/>
                <a:ext cx="2490" cy="3150"/>
                <a:chOff x="1007" y="11733"/>
                <a:chExt cx="2490" cy="3150"/>
              </a:xfrm>
            </p:grpSpPr>
            <p:grpSp>
              <p:nvGrpSpPr>
                <p:cNvPr id="70" name="Group 7">
                  <a:extLst>
                    <a:ext uri="{FF2B5EF4-FFF2-40B4-BE49-F238E27FC236}">
                      <a16:creationId xmlns="" xmlns:a16="http://schemas.microsoft.com/office/drawing/2014/main" id="{E76FEE24-CFAF-46B4-81B2-BCA5F01B3BDC}"/>
                    </a:ext>
                  </a:extLst>
                </p:cNvPr>
                <p:cNvGrpSpPr>
                  <a:grpSpLocks/>
                </p:cNvGrpSpPr>
                <p:nvPr/>
              </p:nvGrpSpPr>
              <p:grpSpPr bwMode="auto">
                <a:xfrm>
                  <a:off x="1007" y="12306"/>
                  <a:ext cx="2490" cy="2130"/>
                  <a:chOff x="1007" y="12306"/>
                  <a:chExt cx="2490" cy="2130"/>
                </a:xfrm>
              </p:grpSpPr>
              <p:graphicFrame>
                <p:nvGraphicFramePr>
                  <p:cNvPr id="72" name="Object 4">
                    <a:extLst>
                      <a:ext uri="{FF2B5EF4-FFF2-40B4-BE49-F238E27FC236}">
                        <a16:creationId xmlns="" xmlns:a16="http://schemas.microsoft.com/office/drawing/2014/main" id="{E144C1ED-10C6-4840-9039-CDEAAEC134B3}"/>
                      </a:ext>
                    </a:extLst>
                  </p:cNvPr>
                  <p:cNvGraphicFramePr>
                    <a:graphicFrameLocks noChangeAspect="1"/>
                  </p:cNvGraphicFramePr>
                  <p:nvPr/>
                </p:nvGraphicFramePr>
                <p:xfrm>
                  <a:off x="1517" y="12306"/>
                  <a:ext cx="1980" cy="855"/>
                </p:xfrm>
                <a:graphic>
                  <a:graphicData uri="http://schemas.openxmlformats.org/presentationml/2006/ole">
                    <mc:AlternateContent xmlns:mc="http://schemas.openxmlformats.org/markup-compatibility/2006">
                      <mc:Choice xmlns:v="urn:schemas-microsoft-com:vml" Requires="v">
                        <p:oleObj spid="_x0000_s18531" name="Visio" r:id="rId5" imgW="1059120" imgH="454680" progId="Visio.Drawing.11">
                          <p:embed/>
                        </p:oleObj>
                      </mc:Choice>
                      <mc:Fallback>
                        <p:oleObj name="Visio" r:id="rId5" imgW="1059120" imgH="454680" progId="Visio.Drawing.11">
                          <p:embed/>
                          <p:pic>
                            <p:nvPicPr>
                              <p:cNvPr id="4404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7" y="12306"/>
                                <a:ext cx="1980" cy="8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 name="Object 5">
                    <a:extLst>
                      <a:ext uri="{FF2B5EF4-FFF2-40B4-BE49-F238E27FC236}">
                        <a16:creationId xmlns="" xmlns:a16="http://schemas.microsoft.com/office/drawing/2014/main" id="{B7E4CC9A-696C-4A0C-871C-75065FEF9FBE}"/>
                      </a:ext>
                    </a:extLst>
                  </p:cNvPr>
                  <p:cNvGraphicFramePr>
                    <a:graphicFrameLocks noChangeAspect="1"/>
                  </p:cNvGraphicFramePr>
                  <p:nvPr/>
                </p:nvGraphicFramePr>
                <p:xfrm>
                  <a:off x="1007" y="13581"/>
                  <a:ext cx="1980" cy="855"/>
                </p:xfrm>
                <a:graphic>
                  <a:graphicData uri="http://schemas.openxmlformats.org/presentationml/2006/ole">
                    <mc:AlternateContent xmlns:mc="http://schemas.openxmlformats.org/markup-compatibility/2006">
                      <mc:Choice xmlns:v="urn:schemas-microsoft-com:vml" Requires="v">
                        <p:oleObj spid="_x0000_s18532" name="Visio" r:id="rId7" imgW="1059120" imgH="454680" progId="Visio.Drawing.11">
                          <p:embed/>
                        </p:oleObj>
                      </mc:Choice>
                      <mc:Fallback>
                        <p:oleObj name="Visio" r:id="rId7" imgW="1059120" imgH="454680" progId="Visio.Drawing.11">
                          <p:embed/>
                          <p:pic>
                            <p:nvPicPr>
                              <p:cNvPr id="44046"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7" y="13581"/>
                                <a:ext cx="1980" cy="8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71" name="Object 6">
                  <a:extLst>
                    <a:ext uri="{FF2B5EF4-FFF2-40B4-BE49-F238E27FC236}">
                      <a16:creationId xmlns="" xmlns:a16="http://schemas.microsoft.com/office/drawing/2014/main" id="{C9F5A4BE-5325-4BDF-9D1A-EDE226A9FA0C}"/>
                    </a:ext>
                  </a:extLst>
                </p:cNvPr>
                <p:cNvGraphicFramePr>
                  <a:graphicFrameLocks noChangeAspect="1"/>
                </p:cNvGraphicFramePr>
                <p:nvPr/>
              </p:nvGraphicFramePr>
              <p:xfrm>
                <a:off x="2250" y="11733"/>
                <a:ext cx="90" cy="3150"/>
              </p:xfrm>
              <a:graphic>
                <a:graphicData uri="http://schemas.openxmlformats.org/presentationml/2006/ole">
                  <mc:AlternateContent xmlns:mc="http://schemas.openxmlformats.org/markup-compatibility/2006">
                    <mc:Choice xmlns:v="urn:schemas-microsoft-com:vml" Requires="v">
                      <p:oleObj spid="_x0000_s18533" name="Visio" r:id="rId9" imgW="50400" imgH="1683360" progId="Visio.Drawing.11">
                        <p:embed/>
                      </p:oleObj>
                    </mc:Choice>
                    <mc:Fallback>
                      <p:oleObj name="Visio" r:id="rId9" imgW="50400" imgH="1683360" progId="Visio.Drawing.11">
                        <p:embed/>
                        <p:pic>
                          <p:nvPicPr>
                            <p:cNvPr id="44047"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50" y="11733"/>
                              <a:ext cx="90" cy="3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69" name="Object 7">
                <a:extLst>
                  <a:ext uri="{FF2B5EF4-FFF2-40B4-BE49-F238E27FC236}">
                    <a16:creationId xmlns="" xmlns:a16="http://schemas.microsoft.com/office/drawing/2014/main" id="{C067FD8D-6D57-4ED2-9795-8DB3CAA4946D}"/>
                  </a:ext>
                </a:extLst>
              </p:cNvPr>
              <p:cNvGraphicFramePr>
                <a:graphicFrameLocks noChangeAspect="1"/>
              </p:cNvGraphicFramePr>
              <p:nvPr/>
            </p:nvGraphicFramePr>
            <p:xfrm>
              <a:off x="7530" y="15123"/>
              <a:ext cx="948" cy="623"/>
            </p:xfrm>
            <a:graphic>
              <a:graphicData uri="http://schemas.openxmlformats.org/presentationml/2006/ole">
                <mc:AlternateContent xmlns:mc="http://schemas.openxmlformats.org/markup-compatibility/2006">
                  <mc:Choice xmlns:v="urn:schemas-microsoft-com:vml" Requires="v">
                    <p:oleObj spid="_x0000_s18534" name="Visio" r:id="rId11" imgW="515160" imgH="333720" progId="Visio.Drawing.11">
                      <p:embed/>
                    </p:oleObj>
                  </mc:Choice>
                  <mc:Fallback>
                    <p:oleObj name="Visio" r:id="rId11" imgW="515160" imgH="333720" progId="Visio.Drawing.11">
                      <p:embed/>
                      <p:pic>
                        <p:nvPicPr>
                          <p:cNvPr id="44048"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30" y="15123"/>
                            <a:ext cx="948" cy="6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74" name="组合 15">
            <a:extLst>
              <a:ext uri="{FF2B5EF4-FFF2-40B4-BE49-F238E27FC236}">
                <a16:creationId xmlns="" xmlns:a16="http://schemas.microsoft.com/office/drawing/2014/main" id="{9D494EC3-813D-4DEE-97E2-EF574A94A2F1}"/>
              </a:ext>
            </a:extLst>
          </p:cNvPr>
          <p:cNvGrpSpPr>
            <a:grpSpLocks/>
          </p:cNvGrpSpPr>
          <p:nvPr/>
        </p:nvGrpSpPr>
        <p:grpSpPr bwMode="auto">
          <a:xfrm>
            <a:off x="1560841" y="3259966"/>
            <a:ext cx="1682750" cy="400050"/>
            <a:chOff x="0" y="3473450"/>
            <a:chExt cx="1682750" cy="400050"/>
          </a:xfrm>
        </p:grpSpPr>
        <p:sp>
          <p:nvSpPr>
            <p:cNvPr id="75" name="Text Box 12">
              <a:extLst>
                <a:ext uri="{FF2B5EF4-FFF2-40B4-BE49-F238E27FC236}">
                  <a16:creationId xmlns="" xmlns:a16="http://schemas.microsoft.com/office/drawing/2014/main" id="{E5FB9796-1F3E-4C1C-8BAC-C1B21FD9233E}"/>
                </a:ext>
              </a:extLst>
            </p:cNvPr>
            <p:cNvSpPr txBox="1">
              <a:spLocks noChangeArrowheads="1"/>
            </p:cNvSpPr>
            <p:nvPr/>
          </p:nvSpPr>
          <p:spPr bwMode="auto">
            <a:xfrm>
              <a:off x="0" y="3473450"/>
              <a:ext cx="1282700" cy="400050"/>
            </a:xfrm>
            <a:prstGeom prst="rect">
              <a:avLst/>
            </a:prstGeom>
            <a:solidFill>
              <a:srgbClr val="FFFFFF"/>
            </a:solidFill>
            <a:ln w="12700">
              <a:solidFill>
                <a:srgbClr val="FFFFFF"/>
              </a:solidFill>
              <a:miter lim="800000"/>
              <a:headEnd/>
              <a:tailEnd/>
            </a:ln>
          </p:spPr>
          <p:txBody>
            <a:bodyPr lIns="0" tIns="0" rIns="0" bIns="0"/>
            <a:lstStyle/>
            <a:p>
              <a:pPr algn="ctr" defTabSz="914400"/>
              <a:r>
                <a:rPr lang="en-US" altLang="zh-CN" sz="2400" b="1" dirty="0">
                  <a:solidFill>
                    <a:srgbClr val="FF0000"/>
                  </a:solidFill>
                  <a:latin typeface="Times New Roman" pitchFamily="18" charset="0"/>
                  <a:ea typeface="微软雅黑" pitchFamily="34" charset="-122"/>
                  <a:cs typeface="Times New Roman" pitchFamily="18" charset="0"/>
                </a:rPr>
                <a:t>V</a:t>
              </a:r>
              <a:r>
                <a:rPr lang="en-US" altLang="zh-CN" sz="2400" b="1" baseline="-25000" dirty="0">
                  <a:solidFill>
                    <a:srgbClr val="FF0000"/>
                  </a:solidFill>
                  <a:latin typeface="Times New Roman" pitchFamily="18" charset="0"/>
                  <a:ea typeface="微软雅黑" pitchFamily="34" charset="-122"/>
                  <a:cs typeface="Times New Roman" pitchFamily="18" charset="0"/>
                </a:rPr>
                <a:t>R</a:t>
              </a:r>
              <a:r>
                <a:rPr lang="en-US" altLang="zh-CN" sz="2400" b="1" dirty="0">
                  <a:solidFill>
                    <a:srgbClr val="FF0000"/>
                  </a:solidFill>
                  <a:latin typeface="Times New Roman" pitchFamily="18" charset="0"/>
                  <a:ea typeface="微软雅黑" pitchFamily="34" charset="-122"/>
                  <a:cs typeface="Times New Roman" pitchFamily="18" charset="0"/>
                </a:rPr>
                <a:t>=</a:t>
              </a:r>
              <a:r>
                <a:rPr lang="en-US" altLang="zh-CN" sz="2400" b="1" dirty="0" err="1">
                  <a:solidFill>
                    <a:srgbClr val="FF0000"/>
                  </a:solidFill>
                  <a:latin typeface="Times New Roman" pitchFamily="18" charset="0"/>
                  <a:ea typeface="微软雅黑" pitchFamily="34" charset="-122"/>
                  <a:cs typeface="Times New Roman" pitchFamily="18" charset="0"/>
                </a:rPr>
                <a:t>Vcc</a:t>
              </a:r>
              <a:endParaRPr lang="zh-CN" altLang="zh-CN" sz="2400" b="1" baseline="-25000" dirty="0">
                <a:solidFill>
                  <a:srgbClr val="FF0000"/>
                </a:solidFill>
                <a:latin typeface="Times New Roman" pitchFamily="18" charset="0"/>
                <a:ea typeface="微软雅黑" pitchFamily="34" charset="-122"/>
                <a:cs typeface="Times New Roman" pitchFamily="18" charset="0"/>
              </a:endParaRPr>
            </a:p>
          </p:txBody>
        </p:sp>
        <p:cxnSp>
          <p:nvCxnSpPr>
            <p:cNvPr id="76" name="AutoShape 13">
              <a:extLst>
                <a:ext uri="{FF2B5EF4-FFF2-40B4-BE49-F238E27FC236}">
                  <a16:creationId xmlns="" xmlns:a16="http://schemas.microsoft.com/office/drawing/2014/main" id="{F4BB74F4-3703-4624-9A5A-9A959C3C54A1}"/>
                </a:ext>
              </a:extLst>
            </p:cNvPr>
            <p:cNvCxnSpPr>
              <a:cxnSpLocks noChangeShapeType="1"/>
            </p:cNvCxnSpPr>
            <p:nvPr/>
          </p:nvCxnSpPr>
          <p:spPr bwMode="auto">
            <a:xfrm>
              <a:off x="1282700" y="3694112"/>
              <a:ext cx="400050" cy="1588"/>
            </a:xfrm>
            <a:prstGeom prst="straightConnector1">
              <a:avLst/>
            </a:prstGeom>
            <a:noFill/>
            <a:ln w="38100">
              <a:solidFill>
                <a:srgbClr val="FF33CC"/>
              </a:solidFill>
              <a:round/>
              <a:headEnd/>
              <a:tailEnd type="arrow" w="sm" len="lg"/>
            </a:ln>
          </p:spPr>
        </p:cxnSp>
      </p:grpSp>
      <p:grpSp>
        <p:nvGrpSpPr>
          <p:cNvPr id="77" name="组合 18">
            <a:extLst>
              <a:ext uri="{FF2B5EF4-FFF2-40B4-BE49-F238E27FC236}">
                <a16:creationId xmlns="" xmlns:a16="http://schemas.microsoft.com/office/drawing/2014/main" id="{FE54A376-D3FC-4A76-BCCA-9E066AD53C80}"/>
              </a:ext>
            </a:extLst>
          </p:cNvPr>
          <p:cNvGrpSpPr>
            <a:grpSpLocks/>
          </p:cNvGrpSpPr>
          <p:nvPr/>
        </p:nvGrpSpPr>
        <p:grpSpPr bwMode="auto">
          <a:xfrm>
            <a:off x="1694191" y="3793366"/>
            <a:ext cx="1289050" cy="400050"/>
            <a:chOff x="393700" y="4362450"/>
            <a:chExt cx="1289050" cy="400050"/>
          </a:xfrm>
        </p:grpSpPr>
        <p:sp>
          <p:nvSpPr>
            <p:cNvPr id="78" name="Text Box 12">
              <a:extLst>
                <a:ext uri="{FF2B5EF4-FFF2-40B4-BE49-F238E27FC236}">
                  <a16:creationId xmlns="" xmlns:a16="http://schemas.microsoft.com/office/drawing/2014/main" id="{664A8BEB-E219-4F87-A517-647D27A1DE17}"/>
                </a:ext>
              </a:extLst>
            </p:cNvPr>
            <p:cNvSpPr txBox="1">
              <a:spLocks noChangeArrowheads="1"/>
            </p:cNvSpPr>
            <p:nvPr/>
          </p:nvSpPr>
          <p:spPr bwMode="auto">
            <a:xfrm>
              <a:off x="393700" y="4362450"/>
              <a:ext cx="79375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en-US" altLang="zh-CN" sz="2400" b="1">
                  <a:solidFill>
                    <a:srgbClr val="FF0000"/>
                  </a:solidFill>
                  <a:latin typeface="微软雅黑" pitchFamily="34" charset="-122"/>
                  <a:ea typeface="微软雅黑" pitchFamily="34" charset="-122"/>
                </a:rPr>
                <a:t>K1</a:t>
              </a:r>
              <a:r>
                <a:rPr lang="zh-CN" altLang="en-US" sz="2400" b="1">
                  <a:solidFill>
                    <a:srgbClr val="FF0000"/>
                  </a:solidFill>
                  <a:latin typeface="微软雅黑" pitchFamily="34" charset="-122"/>
                  <a:ea typeface="微软雅黑" pitchFamily="34" charset="-122"/>
                </a:rPr>
                <a:t>合</a:t>
              </a:r>
            </a:p>
          </p:txBody>
        </p:sp>
        <p:cxnSp>
          <p:nvCxnSpPr>
            <p:cNvPr id="109" name="AutoShape 13">
              <a:extLst>
                <a:ext uri="{FF2B5EF4-FFF2-40B4-BE49-F238E27FC236}">
                  <a16:creationId xmlns="" xmlns:a16="http://schemas.microsoft.com/office/drawing/2014/main" id="{E23E97E5-6B94-4672-9EB0-E1CE24AE8C4C}"/>
                </a:ext>
              </a:extLst>
            </p:cNvPr>
            <p:cNvCxnSpPr>
              <a:cxnSpLocks noChangeShapeType="1"/>
            </p:cNvCxnSpPr>
            <p:nvPr/>
          </p:nvCxnSpPr>
          <p:spPr bwMode="auto">
            <a:xfrm>
              <a:off x="1282700" y="4538662"/>
              <a:ext cx="400050" cy="1588"/>
            </a:xfrm>
            <a:prstGeom prst="straightConnector1">
              <a:avLst/>
            </a:prstGeom>
            <a:noFill/>
            <a:ln w="38100">
              <a:solidFill>
                <a:srgbClr val="FF33CC"/>
              </a:solidFill>
              <a:round/>
              <a:headEnd/>
              <a:tailEnd type="arrow" w="sm" len="lg"/>
            </a:ln>
          </p:spPr>
        </p:cxnSp>
      </p:grpSp>
      <p:grpSp>
        <p:nvGrpSpPr>
          <p:cNvPr id="110" name="组合 24">
            <a:extLst>
              <a:ext uri="{FF2B5EF4-FFF2-40B4-BE49-F238E27FC236}">
                <a16:creationId xmlns="" xmlns:a16="http://schemas.microsoft.com/office/drawing/2014/main" id="{97A0B6AD-1ABC-40F4-AB97-00B1895BE993}"/>
              </a:ext>
            </a:extLst>
          </p:cNvPr>
          <p:cNvGrpSpPr>
            <a:grpSpLocks/>
          </p:cNvGrpSpPr>
          <p:nvPr/>
        </p:nvGrpSpPr>
        <p:grpSpPr bwMode="auto">
          <a:xfrm>
            <a:off x="3827791" y="3615566"/>
            <a:ext cx="1555750" cy="1866900"/>
            <a:chOff x="2527300" y="4184650"/>
            <a:chExt cx="1555750" cy="1866900"/>
          </a:xfrm>
        </p:grpSpPr>
        <p:sp>
          <p:nvSpPr>
            <p:cNvPr id="111" name="Text Box 12">
              <a:extLst>
                <a:ext uri="{FF2B5EF4-FFF2-40B4-BE49-F238E27FC236}">
                  <a16:creationId xmlns="" xmlns:a16="http://schemas.microsoft.com/office/drawing/2014/main" id="{86C2D636-369B-444E-B0DB-77C8D33B5E26}"/>
                </a:ext>
              </a:extLst>
            </p:cNvPr>
            <p:cNvSpPr txBox="1">
              <a:spLocks noChangeArrowheads="1"/>
            </p:cNvSpPr>
            <p:nvPr/>
          </p:nvSpPr>
          <p:spPr bwMode="auto">
            <a:xfrm>
              <a:off x="2527300" y="5562600"/>
              <a:ext cx="1555750" cy="488950"/>
            </a:xfrm>
            <a:prstGeom prst="rect">
              <a:avLst/>
            </a:prstGeom>
            <a:solidFill>
              <a:srgbClr val="FFFFFF"/>
            </a:solidFill>
            <a:ln w="12700">
              <a:solidFill>
                <a:srgbClr val="FFFFFF"/>
              </a:solidFill>
              <a:miter lim="800000"/>
              <a:headEnd/>
              <a:tailEnd/>
            </a:ln>
          </p:spPr>
          <p:txBody>
            <a:bodyPr lIns="0" tIns="0" rIns="0" bIns="0"/>
            <a:lstStyle/>
            <a:p>
              <a:pPr algn="ctr" defTabSz="914400"/>
              <a:r>
                <a:rPr lang="en-US" altLang="zh-CN" sz="2400" b="1">
                  <a:solidFill>
                    <a:srgbClr val="FF0000"/>
                  </a:solidFill>
                  <a:latin typeface="微软雅黑" pitchFamily="34" charset="-122"/>
                  <a:ea typeface="微软雅黑" pitchFamily="34" charset="-122"/>
                </a:rPr>
                <a:t>V-&gt;V+</a:t>
              </a:r>
              <a:r>
                <a:rPr lang="zh-CN" altLang="en-US" sz="2400" b="1">
                  <a:solidFill>
                    <a:srgbClr val="FF0000"/>
                  </a:solidFill>
                  <a:latin typeface="微软雅黑" pitchFamily="34" charset="-122"/>
                  <a:ea typeface="微软雅黑" pitchFamily="34" charset="-122"/>
                </a:rPr>
                <a:t>输出低电平</a:t>
              </a:r>
            </a:p>
          </p:txBody>
        </p:sp>
        <p:cxnSp>
          <p:nvCxnSpPr>
            <p:cNvPr id="112" name="AutoShape 13">
              <a:extLst>
                <a:ext uri="{FF2B5EF4-FFF2-40B4-BE49-F238E27FC236}">
                  <a16:creationId xmlns="" xmlns:a16="http://schemas.microsoft.com/office/drawing/2014/main" id="{0440AA0A-35ED-4D1F-8E6A-D7F15F440EE7}"/>
                </a:ext>
              </a:extLst>
            </p:cNvPr>
            <p:cNvCxnSpPr>
              <a:cxnSpLocks noChangeShapeType="1"/>
              <a:stCxn id="111" idx="0"/>
            </p:cNvCxnSpPr>
            <p:nvPr/>
          </p:nvCxnSpPr>
          <p:spPr bwMode="auto">
            <a:xfrm rot="16200000" flipV="1">
              <a:off x="2608263" y="4865687"/>
              <a:ext cx="1377950" cy="15875"/>
            </a:xfrm>
            <a:prstGeom prst="straightConnector1">
              <a:avLst/>
            </a:prstGeom>
            <a:noFill/>
            <a:ln w="38100">
              <a:solidFill>
                <a:srgbClr val="FF33CC"/>
              </a:solidFill>
              <a:round/>
              <a:headEnd/>
              <a:tailEnd type="arrow" w="sm" len="lg"/>
            </a:ln>
          </p:spPr>
        </p:cxnSp>
      </p:grpSp>
      <p:grpSp>
        <p:nvGrpSpPr>
          <p:cNvPr id="113" name="组合 27">
            <a:extLst>
              <a:ext uri="{FF2B5EF4-FFF2-40B4-BE49-F238E27FC236}">
                <a16:creationId xmlns="" xmlns:a16="http://schemas.microsoft.com/office/drawing/2014/main" id="{0EBCBA4F-44C8-45DB-83DA-C64F215F16D1}"/>
              </a:ext>
            </a:extLst>
          </p:cNvPr>
          <p:cNvGrpSpPr>
            <a:grpSpLocks/>
          </p:cNvGrpSpPr>
          <p:nvPr/>
        </p:nvGrpSpPr>
        <p:grpSpPr bwMode="auto">
          <a:xfrm>
            <a:off x="5783591" y="2415416"/>
            <a:ext cx="1466850" cy="400050"/>
            <a:chOff x="4483100" y="2984500"/>
            <a:chExt cx="1466850" cy="400050"/>
          </a:xfrm>
        </p:grpSpPr>
        <p:sp>
          <p:nvSpPr>
            <p:cNvPr id="114" name="Text Box 12">
              <a:extLst>
                <a:ext uri="{FF2B5EF4-FFF2-40B4-BE49-F238E27FC236}">
                  <a16:creationId xmlns="" xmlns:a16="http://schemas.microsoft.com/office/drawing/2014/main" id="{E27DC0D9-FE66-44D5-931D-230661E47BF9}"/>
                </a:ext>
              </a:extLst>
            </p:cNvPr>
            <p:cNvSpPr txBox="1">
              <a:spLocks noChangeArrowheads="1"/>
            </p:cNvSpPr>
            <p:nvPr/>
          </p:nvSpPr>
          <p:spPr bwMode="auto">
            <a:xfrm>
              <a:off x="4927600" y="2984500"/>
              <a:ext cx="1022350" cy="4000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FF0000"/>
                  </a:solidFill>
                  <a:latin typeface="微软雅黑" pitchFamily="34" charset="-122"/>
                  <a:ea typeface="微软雅黑" pitchFamily="34" charset="-122"/>
                </a:rPr>
                <a:t>电磁铁无电</a:t>
              </a:r>
            </a:p>
          </p:txBody>
        </p:sp>
        <p:cxnSp>
          <p:nvCxnSpPr>
            <p:cNvPr id="115" name="AutoShape 13">
              <a:extLst>
                <a:ext uri="{FF2B5EF4-FFF2-40B4-BE49-F238E27FC236}">
                  <a16:creationId xmlns="" xmlns:a16="http://schemas.microsoft.com/office/drawing/2014/main" id="{EEDB0307-B10F-43CB-B380-2DC7DF15C3FD}"/>
                </a:ext>
              </a:extLst>
            </p:cNvPr>
            <p:cNvCxnSpPr>
              <a:cxnSpLocks noChangeShapeType="1"/>
            </p:cNvCxnSpPr>
            <p:nvPr/>
          </p:nvCxnSpPr>
          <p:spPr bwMode="auto">
            <a:xfrm rot="10800000">
              <a:off x="4483100" y="3206750"/>
              <a:ext cx="400050" cy="1588"/>
            </a:xfrm>
            <a:prstGeom prst="straightConnector1">
              <a:avLst/>
            </a:prstGeom>
            <a:noFill/>
            <a:ln w="38100">
              <a:solidFill>
                <a:srgbClr val="FF33CC"/>
              </a:solidFill>
              <a:round/>
              <a:headEnd/>
              <a:tailEnd type="arrow" w="sm" len="lg"/>
            </a:ln>
          </p:spPr>
        </p:cxnSp>
      </p:grpSp>
      <p:grpSp>
        <p:nvGrpSpPr>
          <p:cNvPr id="116" name="组合 30">
            <a:extLst>
              <a:ext uri="{FF2B5EF4-FFF2-40B4-BE49-F238E27FC236}">
                <a16:creationId xmlns="" xmlns:a16="http://schemas.microsoft.com/office/drawing/2014/main" id="{92FF8CF4-A7FF-4C35-9374-86F71CBCF27B}"/>
              </a:ext>
            </a:extLst>
          </p:cNvPr>
          <p:cNvGrpSpPr>
            <a:grpSpLocks/>
          </p:cNvGrpSpPr>
          <p:nvPr/>
        </p:nvGrpSpPr>
        <p:grpSpPr bwMode="auto">
          <a:xfrm>
            <a:off x="5605791" y="3215516"/>
            <a:ext cx="1466850" cy="400050"/>
            <a:chOff x="4305300" y="3784600"/>
            <a:chExt cx="1466850" cy="400050"/>
          </a:xfrm>
        </p:grpSpPr>
        <p:sp>
          <p:nvSpPr>
            <p:cNvPr id="117" name="Text Box 12">
              <a:extLst>
                <a:ext uri="{FF2B5EF4-FFF2-40B4-BE49-F238E27FC236}">
                  <a16:creationId xmlns="" xmlns:a16="http://schemas.microsoft.com/office/drawing/2014/main" id="{8364424F-7EF4-4803-8E0C-9D2BEDAD3160}"/>
                </a:ext>
              </a:extLst>
            </p:cNvPr>
            <p:cNvSpPr txBox="1">
              <a:spLocks noChangeArrowheads="1"/>
            </p:cNvSpPr>
            <p:nvPr/>
          </p:nvSpPr>
          <p:spPr bwMode="auto">
            <a:xfrm>
              <a:off x="4749800" y="3784600"/>
              <a:ext cx="1022350" cy="4000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FF0000"/>
                  </a:solidFill>
                  <a:latin typeface="微软雅黑" pitchFamily="34" charset="-122"/>
                  <a:ea typeface="微软雅黑" pitchFamily="34" charset="-122"/>
                </a:rPr>
                <a:t>三极管截止</a:t>
              </a:r>
            </a:p>
          </p:txBody>
        </p:sp>
        <p:cxnSp>
          <p:nvCxnSpPr>
            <p:cNvPr id="118" name="AutoShape 13">
              <a:extLst>
                <a:ext uri="{FF2B5EF4-FFF2-40B4-BE49-F238E27FC236}">
                  <a16:creationId xmlns="" xmlns:a16="http://schemas.microsoft.com/office/drawing/2014/main" id="{36BEAAA7-7F40-4FAF-92DF-309C70B81F47}"/>
                </a:ext>
              </a:extLst>
            </p:cNvPr>
            <p:cNvCxnSpPr>
              <a:cxnSpLocks noChangeShapeType="1"/>
            </p:cNvCxnSpPr>
            <p:nvPr/>
          </p:nvCxnSpPr>
          <p:spPr bwMode="auto">
            <a:xfrm rot="10800000">
              <a:off x="4305300" y="4006850"/>
              <a:ext cx="400050" cy="1588"/>
            </a:xfrm>
            <a:prstGeom prst="straightConnector1">
              <a:avLst/>
            </a:prstGeom>
            <a:noFill/>
            <a:ln w="38100">
              <a:solidFill>
                <a:srgbClr val="FF33CC"/>
              </a:solidFill>
              <a:round/>
              <a:headEnd/>
              <a:tailEnd type="arrow" w="sm" len="lg"/>
            </a:ln>
          </p:spPr>
        </p:cxnSp>
      </p:grpSp>
      <p:grpSp>
        <p:nvGrpSpPr>
          <p:cNvPr id="119" name="组合 56">
            <a:extLst>
              <a:ext uri="{FF2B5EF4-FFF2-40B4-BE49-F238E27FC236}">
                <a16:creationId xmlns="" xmlns:a16="http://schemas.microsoft.com/office/drawing/2014/main" id="{8AC971CD-6BBF-4DB9-B7F7-618FA9DCEA61}"/>
              </a:ext>
            </a:extLst>
          </p:cNvPr>
          <p:cNvGrpSpPr>
            <a:grpSpLocks/>
          </p:cNvGrpSpPr>
          <p:nvPr/>
        </p:nvGrpSpPr>
        <p:grpSpPr bwMode="auto">
          <a:xfrm>
            <a:off x="6783225" y="961455"/>
            <a:ext cx="2311400" cy="1511300"/>
            <a:chOff x="4527550" y="717550"/>
            <a:chExt cx="2311400" cy="1511300"/>
          </a:xfrm>
        </p:grpSpPr>
        <p:sp>
          <p:nvSpPr>
            <p:cNvPr id="120" name="Text Box 12">
              <a:extLst>
                <a:ext uri="{FF2B5EF4-FFF2-40B4-BE49-F238E27FC236}">
                  <a16:creationId xmlns="" xmlns:a16="http://schemas.microsoft.com/office/drawing/2014/main" id="{E58B4CC9-4ABD-44E5-A8E0-309D9EA49CBD}"/>
                </a:ext>
              </a:extLst>
            </p:cNvPr>
            <p:cNvSpPr txBox="1">
              <a:spLocks noChangeArrowheads="1"/>
            </p:cNvSpPr>
            <p:nvPr/>
          </p:nvSpPr>
          <p:spPr bwMode="auto">
            <a:xfrm>
              <a:off x="4527550" y="717550"/>
              <a:ext cx="231140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电磁铁无磁性，光偏离光轴</a:t>
              </a:r>
            </a:p>
          </p:txBody>
        </p:sp>
        <p:cxnSp>
          <p:nvCxnSpPr>
            <p:cNvPr id="121" name="AutoShape 13">
              <a:extLst>
                <a:ext uri="{FF2B5EF4-FFF2-40B4-BE49-F238E27FC236}">
                  <a16:creationId xmlns="" xmlns:a16="http://schemas.microsoft.com/office/drawing/2014/main" id="{D43D18EB-BEEB-4F69-8569-83918CCDFFD0}"/>
                </a:ext>
              </a:extLst>
            </p:cNvPr>
            <p:cNvCxnSpPr>
              <a:cxnSpLocks noChangeShapeType="1"/>
            </p:cNvCxnSpPr>
            <p:nvPr/>
          </p:nvCxnSpPr>
          <p:spPr bwMode="auto">
            <a:xfrm rot="5400000">
              <a:off x="6061869" y="1939131"/>
              <a:ext cx="577850" cy="1588"/>
            </a:xfrm>
            <a:prstGeom prst="straightConnector1">
              <a:avLst/>
            </a:prstGeom>
            <a:noFill/>
            <a:ln w="38100">
              <a:solidFill>
                <a:srgbClr val="FF33CC"/>
              </a:solidFill>
              <a:round/>
              <a:headEnd/>
              <a:tailEnd type="arrow" w="sm" len="lg"/>
            </a:ln>
          </p:spPr>
        </p:cxnSp>
      </p:grpSp>
      <p:grpSp>
        <p:nvGrpSpPr>
          <p:cNvPr id="122" name="组合 55">
            <a:extLst>
              <a:ext uri="{FF2B5EF4-FFF2-40B4-BE49-F238E27FC236}">
                <a16:creationId xmlns="" xmlns:a16="http://schemas.microsoft.com/office/drawing/2014/main" id="{E2926AF0-48EE-4527-8F7B-8E5240443E64}"/>
              </a:ext>
            </a:extLst>
          </p:cNvPr>
          <p:cNvGrpSpPr>
            <a:grpSpLocks/>
          </p:cNvGrpSpPr>
          <p:nvPr/>
        </p:nvGrpSpPr>
        <p:grpSpPr bwMode="auto">
          <a:xfrm>
            <a:off x="6313653" y="4072955"/>
            <a:ext cx="2667000" cy="1778000"/>
            <a:chOff x="4171950" y="3740150"/>
            <a:chExt cx="2667000" cy="1778000"/>
          </a:xfrm>
        </p:grpSpPr>
        <p:sp>
          <p:nvSpPr>
            <p:cNvPr id="123" name="Text Box 12">
              <a:extLst>
                <a:ext uri="{FF2B5EF4-FFF2-40B4-BE49-F238E27FC236}">
                  <a16:creationId xmlns="" xmlns:a16="http://schemas.microsoft.com/office/drawing/2014/main" id="{CCA12E15-0929-4D1B-A945-33838FC270C8}"/>
                </a:ext>
              </a:extLst>
            </p:cNvPr>
            <p:cNvSpPr txBox="1">
              <a:spLocks noChangeArrowheads="1"/>
            </p:cNvSpPr>
            <p:nvPr/>
          </p:nvSpPr>
          <p:spPr bwMode="auto">
            <a:xfrm>
              <a:off x="4171950" y="4718050"/>
              <a:ext cx="266700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微软雅黑" pitchFamily="34" charset="-122"/>
                  <a:ea typeface="微软雅黑" pitchFamily="34" charset="-122"/>
                </a:rPr>
                <a:t>前帘被快门挂钩钩住，光偏离光轴</a:t>
              </a:r>
            </a:p>
          </p:txBody>
        </p:sp>
        <p:cxnSp>
          <p:nvCxnSpPr>
            <p:cNvPr id="124" name="AutoShape 13">
              <a:extLst>
                <a:ext uri="{FF2B5EF4-FFF2-40B4-BE49-F238E27FC236}">
                  <a16:creationId xmlns="" xmlns:a16="http://schemas.microsoft.com/office/drawing/2014/main" id="{1DBEF78F-2C9D-414A-827A-9BBED1C95757}"/>
                </a:ext>
              </a:extLst>
            </p:cNvPr>
            <p:cNvCxnSpPr>
              <a:cxnSpLocks noChangeShapeType="1"/>
            </p:cNvCxnSpPr>
            <p:nvPr/>
          </p:nvCxnSpPr>
          <p:spPr bwMode="auto">
            <a:xfrm rot="5400000" flipH="1" flipV="1">
              <a:off x="5639594" y="4228306"/>
              <a:ext cx="977900" cy="1588"/>
            </a:xfrm>
            <a:prstGeom prst="straightConnector1">
              <a:avLst/>
            </a:prstGeom>
            <a:noFill/>
            <a:ln w="38100">
              <a:solidFill>
                <a:srgbClr val="FF33CC"/>
              </a:solidFill>
              <a:round/>
              <a:headEnd/>
              <a:tailEnd type="arrow" w="sm" len="lg"/>
            </a:ln>
          </p:spPr>
        </p:cxnSp>
      </p:grpSp>
      <p:grpSp>
        <p:nvGrpSpPr>
          <p:cNvPr id="125" name="组合 39">
            <a:extLst>
              <a:ext uri="{FF2B5EF4-FFF2-40B4-BE49-F238E27FC236}">
                <a16:creationId xmlns="" xmlns:a16="http://schemas.microsoft.com/office/drawing/2014/main" id="{5B0894D3-EABD-4FE8-96FB-BA23BD906B08}"/>
              </a:ext>
            </a:extLst>
          </p:cNvPr>
          <p:cNvGrpSpPr>
            <a:grpSpLocks/>
          </p:cNvGrpSpPr>
          <p:nvPr/>
        </p:nvGrpSpPr>
        <p:grpSpPr bwMode="auto">
          <a:xfrm>
            <a:off x="9016549" y="4898692"/>
            <a:ext cx="1955800" cy="1272742"/>
            <a:chOff x="6838950" y="5178858"/>
            <a:chExt cx="1955800" cy="1272742"/>
          </a:xfrm>
        </p:grpSpPr>
        <p:sp>
          <p:nvSpPr>
            <p:cNvPr id="126" name="Text Box 12">
              <a:extLst>
                <a:ext uri="{FF2B5EF4-FFF2-40B4-BE49-F238E27FC236}">
                  <a16:creationId xmlns="" xmlns:a16="http://schemas.microsoft.com/office/drawing/2014/main" id="{589B75BD-EC25-4A5C-9231-213A55E9DFE2}"/>
                </a:ext>
              </a:extLst>
            </p:cNvPr>
            <p:cNvSpPr txBox="1">
              <a:spLocks noChangeArrowheads="1"/>
            </p:cNvSpPr>
            <p:nvPr/>
          </p:nvSpPr>
          <p:spPr bwMode="auto">
            <a:xfrm>
              <a:off x="6838950" y="5651500"/>
              <a:ext cx="195580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Times New Roman" panose="02020603050405020304" pitchFamily="18" charset="0"/>
                  <a:ea typeface="微软雅黑" pitchFamily="34" charset="-122"/>
                  <a:cs typeface="Times New Roman" panose="02020603050405020304" pitchFamily="18" charset="0"/>
                </a:rPr>
                <a:t>光线无法到达</a:t>
              </a:r>
              <a:r>
                <a:rPr lang="en-US" altLang="zh-CN" sz="2400" b="1" dirty="0">
                  <a:solidFill>
                    <a:srgbClr val="0000FF"/>
                  </a:solidFill>
                  <a:latin typeface="Times New Roman" panose="02020603050405020304" pitchFamily="18" charset="0"/>
                  <a:ea typeface="微软雅黑" pitchFamily="34" charset="-122"/>
                  <a:cs typeface="Times New Roman" panose="02020603050405020304" pitchFamily="18" charset="0"/>
                </a:rPr>
                <a:t>CCD/CMOS</a:t>
              </a:r>
              <a:endParaRPr lang="zh-CN" altLang="zh-CN" sz="2400" b="1" dirty="0">
                <a:solidFill>
                  <a:srgbClr val="0000FF"/>
                </a:solidFill>
                <a:latin typeface="Times New Roman" panose="02020603050405020304" pitchFamily="18" charset="0"/>
                <a:ea typeface="微软雅黑" pitchFamily="34" charset="-122"/>
                <a:cs typeface="Times New Roman" panose="02020603050405020304" pitchFamily="18" charset="0"/>
              </a:endParaRPr>
            </a:p>
          </p:txBody>
        </p:sp>
        <p:cxnSp>
          <p:nvCxnSpPr>
            <p:cNvPr id="127" name="AutoShape 13">
              <a:extLst>
                <a:ext uri="{FF2B5EF4-FFF2-40B4-BE49-F238E27FC236}">
                  <a16:creationId xmlns="" xmlns:a16="http://schemas.microsoft.com/office/drawing/2014/main" id="{3E2DDBEC-75C2-4CB0-B263-A2A237F8A60A}"/>
                </a:ext>
              </a:extLst>
            </p:cNvPr>
            <p:cNvCxnSpPr>
              <a:cxnSpLocks noChangeShapeType="1"/>
            </p:cNvCxnSpPr>
            <p:nvPr/>
          </p:nvCxnSpPr>
          <p:spPr bwMode="auto">
            <a:xfrm flipH="1" flipV="1">
              <a:off x="7059165" y="5178858"/>
              <a:ext cx="2035" cy="561542"/>
            </a:xfrm>
            <a:prstGeom prst="straightConnector1">
              <a:avLst/>
            </a:prstGeom>
            <a:noFill/>
            <a:ln w="38100">
              <a:solidFill>
                <a:srgbClr val="FF33CC"/>
              </a:solidFill>
              <a:round/>
              <a:headEnd/>
              <a:tailEnd type="arrow" w="sm" len="lg"/>
            </a:ln>
          </p:spPr>
        </p:cxnSp>
      </p:grpSp>
      <p:sp>
        <p:nvSpPr>
          <p:cNvPr id="128" name="Text Box 12">
            <a:extLst>
              <a:ext uri="{FF2B5EF4-FFF2-40B4-BE49-F238E27FC236}">
                <a16:creationId xmlns="" xmlns:a16="http://schemas.microsoft.com/office/drawing/2014/main" id="{B87424A9-5CDD-4B8E-A48E-D140DD5A93F2}"/>
              </a:ext>
            </a:extLst>
          </p:cNvPr>
          <p:cNvSpPr txBox="1">
            <a:spLocks noChangeArrowheads="1"/>
          </p:cNvSpPr>
          <p:nvPr/>
        </p:nvSpPr>
        <p:spPr bwMode="auto">
          <a:xfrm>
            <a:off x="8796013" y="1539305"/>
            <a:ext cx="71120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FF00FF"/>
                </a:solidFill>
                <a:latin typeface="微软雅黑" pitchFamily="34" charset="-122"/>
                <a:ea typeface="微软雅黑" pitchFamily="34" charset="-122"/>
              </a:rPr>
              <a:t>景物</a:t>
            </a:r>
          </a:p>
        </p:txBody>
      </p:sp>
      <p:sp>
        <p:nvSpPr>
          <p:cNvPr id="129" name="TextBox 52">
            <a:extLst>
              <a:ext uri="{FF2B5EF4-FFF2-40B4-BE49-F238E27FC236}">
                <a16:creationId xmlns="" xmlns:a16="http://schemas.microsoft.com/office/drawing/2014/main" id="{81BC42F9-1817-427D-91C4-B51DF3A1250C}"/>
              </a:ext>
            </a:extLst>
          </p:cNvPr>
          <p:cNvSpPr txBox="1">
            <a:spLocks noChangeArrowheads="1"/>
          </p:cNvSpPr>
          <p:nvPr/>
        </p:nvSpPr>
        <p:spPr bwMode="auto">
          <a:xfrm>
            <a:off x="4832465" y="6297317"/>
            <a:ext cx="3556000" cy="523220"/>
          </a:xfrm>
          <a:prstGeom prst="rect">
            <a:avLst/>
          </a:prstGeom>
          <a:solidFill>
            <a:srgbClr val="FFC000"/>
          </a:solidFill>
          <a:ln w="9525">
            <a:noFill/>
            <a:miter lim="800000"/>
            <a:headEnd/>
            <a:tailEnd/>
          </a:ln>
        </p:spPr>
        <p:txBody>
          <a:bodyPr>
            <a:spAutoFit/>
          </a:bodyPr>
          <a:lstStyle/>
          <a:p>
            <a:pPr algn="ctr" defTabSz="914400"/>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800"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闭合</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800"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断开</a:t>
            </a:r>
          </a:p>
        </p:txBody>
      </p:sp>
      <p:graphicFrame>
        <p:nvGraphicFramePr>
          <p:cNvPr id="130" name="Object 2">
            <a:extLst>
              <a:ext uri="{FF2B5EF4-FFF2-40B4-BE49-F238E27FC236}">
                <a16:creationId xmlns="" xmlns:a16="http://schemas.microsoft.com/office/drawing/2014/main" id="{29C80FC5-5CC4-40EC-A6F5-872DED8BFBDE}"/>
              </a:ext>
            </a:extLst>
          </p:cNvPr>
          <p:cNvGraphicFramePr>
            <a:graphicFrameLocks noChangeAspect="1"/>
          </p:cNvGraphicFramePr>
          <p:nvPr>
            <p:extLst>
              <p:ext uri="{D42A27DB-BD31-4B8C-83A1-F6EECF244321}">
                <p14:modId xmlns:p14="http://schemas.microsoft.com/office/powerpoint/2010/main" val="2901354957"/>
              </p:ext>
            </p:extLst>
          </p:nvPr>
        </p:nvGraphicFramePr>
        <p:xfrm>
          <a:off x="2326179" y="1711516"/>
          <a:ext cx="3881437" cy="3502025"/>
        </p:xfrm>
        <a:graphic>
          <a:graphicData uri="http://schemas.openxmlformats.org/presentationml/2006/ole">
            <mc:AlternateContent xmlns:mc="http://schemas.openxmlformats.org/markup-compatibility/2006">
              <mc:Choice xmlns:v="urn:schemas-microsoft-com:vml" Requires="v">
                <p:oleObj spid="_x0000_s18535" name="Visio" r:id="rId13" imgW="2886064" imgH="2610019" progId="Visio.Drawing.11">
                  <p:embed/>
                </p:oleObj>
              </mc:Choice>
              <mc:Fallback>
                <p:oleObj name="Visio" r:id="rId13" imgW="2886064" imgH="2610019" progId="Visio.Drawing.11">
                  <p:embed/>
                  <p:pic>
                    <p:nvPicPr>
                      <p:cNvPr id="89090" name="Object 2"/>
                      <p:cNvPicPr>
                        <a:picLocks noChangeAspect="1" noChangeArrowheads="1"/>
                      </p:cNvPicPr>
                      <p:nvPr/>
                    </p:nvPicPr>
                    <p:blipFill>
                      <a:blip r:embed="rId14"/>
                      <a:srcRect/>
                      <a:stretch>
                        <a:fillRect/>
                      </a:stretch>
                    </p:blipFill>
                    <p:spPr bwMode="auto">
                      <a:xfrm>
                        <a:off x="2326179" y="1711516"/>
                        <a:ext cx="3881437" cy="350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文本框 60">
            <a:extLst>
              <a:ext uri="{FF2B5EF4-FFF2-40B4-BE49-F238E27FC236}">
                <a16:creationId xmlns="" xmlns:a16="http://schemas.microsoft.com/office/drawing/2014/main" id="{492CF48A-5A42-4BE2-883A-0BB23007533B}"/>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照相机自动曝光控制电路</a:t>
            </a:r>
          </a:p>
        </p:txBody>
      </p:sp>
      <p:sp>
        <p:nvSpPr>
          <p:cNvPr id="47" name="矩形 46">
            <a:extLst>
              <a:ext uri="{FF2B5EF4-FFF2-40B4-BE49-F238E27FC236}">
                <a16:creationId xmlns="" xmlns:a16="http://schemas.microsoft.com/office/drawing/2014/main" id="{5CCEBB13-6FE5-4549-A607-FB952B1C4439}"/>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48" name="矩形 47">
            <a:extLst>
              <a:ext uri="{FF2B5EF4-FFF2-40B4-BE49-F238E27FC236}">
                <a16:creationId xmlns="" xmlns:a16="http://schemas.microsoft.com/office/drawing/2014/main" id="{625CAB01-AA3F-40A1-B82D-1F2D0748CE9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 xmlns:a16="http://schemas.microsoft.com/office/drawing/2014/main" id="{4A19EE44-D957-4607-9151-E8CAF2DC549A}"/>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50" name="直接连接符 58">
            <a:extLst>
              <a:ext uri="{FF2B5EF4-FFF2-40B4-BE49-F238E27FC236}">
                <a16:creationId xmlns="" xmlns:a16="http://schemas.microsoft.com/office/drawing/2014/main" id="{D40E9BC8-3C29-492F-80A5-8E12C701E13D}"/>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 xmlns:a16="http://schemas.microsoft.com/office/drawing/2014/main" id="{E15D772E-24FF-4B67-9F9C-06E4C4C36F3B}"/>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2" name="矩形 51">
            <a:extLst>
              <a:ext uri="{FF2B5EF4-FFF2-40B4-BE49-F238E27FC236}">
                <a16:creationId xmlns="" xmlns:a16="http://schemas.microsoft.com/office/drawing/2014/main" id="{8A7F589A-2E2A-4720-B99C-8A39C7CFB40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543713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box(in)">
                                      <p:cBhvr>
                                        <p:cTn id="7" dur="500"/>
                                        <p:tgtEl>
                                          <p:spTgt spid="13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box(in)">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7"/>
                                        </p:tgtEl>
                                        <p:attrNameLst>
                                          <p:attrName>style.visibility</p:attrName>
                                        </p:attrNameLst>
                                      </p:cBhvr>
                                      <p:to>
                                        <p:strVal val="visible"/>
                                      </p:to>
                                    </p:set>
                                    <p:animEffect transition="in" filter="box(in)">
                                      <p:cBhvr>
                                        <p:cTn id="17" dur="500"/>
                                        <p:tgtEl>
                                          <p:spTgt spid="7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22"/>
                                        </p:tgtEl>
                                        <p:attrNameLst>
                                          <p:attrName>style.visibility</p:attrName>
                                        </p:attrNameLst>
                                      </p:cBhvr>
                                      <p:to>
                                        <p:strVal val="visible"/>
                                      </p:to>
                                    </p:set>
                                    <p:animEffect transition="in" filter="box(in)">
                                      <p:cBhvr>
                                        <p:cTn id="22" dur="500"/>
                                        <p:tgtEl>
                                          <p:spTgt spid="122"/>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box(in)">
                                      <p:cBhvr>
                                        <p:cTn id="27" dur="5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10"/>
                                        </p:tgtEl>
                                        <p:attrNameLst>
                                          <p:attrName>style.visibility</p:attrName>
                                        </p:attrNameLst>
                                      </p:cBhvr>
                                      <p:to>
                                        <p:strVal val="visible"/>
                                      </p:to>
                                    </p:set>
                                    <p:animEffect transition="in" filter="box(in)">
                                      <p:cBhvr>
                                        <p:cTn id="32" dur="500"/>
                                        <p:tgtEl>
                                          <p:spTgt spid="11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116"/>
                                        </p:tgtEl>
                                        <p:attrNameLst>
                                          <p:attrName>style.visibility</p:attrName>
                                        </p:attrNameLst>
                                      </p:cBhvr>
                                      <p:to>
                                        <p:strVal val="visible"/>
                                      </p:to>
                                    </p:set>
                                    <p:animEffect transition="in" filter="box(in)">
                                      <p:cBhvr>
                                        <p:cTn id="37" dur="500"/>
                                        <p:tgtEl>
                                          <p:spTgt spid="116"/>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13"/>
                                        </p:tgtEl>
                                        <p:attrNameLst>
                                          <p:attrName>style.visibility</p:attrName>
                                        </p:attrNameLst>
                                      </p:cBhvr>
                                      <p:to>
                                        <p:strVal val="visible"/>
                                      </p:to>
                                    </p:set>
                                    <p:animEffect transition="in" filter="box(in)">
                                      <p:cBhvr>
                                        <p:cTn id="42" dur="500"/>
                                        <p:tgtEl>
                                          <p:spTgt spid="113"/>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119"/>
                                        </p:tgtEl>
                                        <p:attrNameLst>
                                          <p:attrName>style.visibility</p:attrName>
                                        </p:attrNameLst>
                                      </p:cBhvr>
                                      <p:to>
                                        <p:strVal val="visible"/>
                                      </p:to>
                                    </p:set>
                                    <p:animEffect transition="in" filter="box(in)">
                                      <p:cBhvr>
                                        <p:cTn id="47" dur="500"/>
                                        <p:tgtEl>
                                          <p:spTgt spid="119"/>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128"/>
                                        </p:tgtEl>
                                        <p:attrNameLst>
                                          <p:attrName>style.visibility</p:attrName>
                                        </p:attrNameLst>
                                      </p:cBhvr>
                                      <p:to>
                                        <p:strVal val="visible"/>
                                      </p:to>
                                    </p:set>
                                    <p:animEffect transition="in" filter="box(in)">
                                      <p:cBhvr>
                                        <p:cTn id="52" dur="500"/>
                                        <p:tgtEl>
                                          <p:spTgt spid="128"/>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6" fill="hold" nodeType="clickEffect">
                                  <p:stCondLst>
                                    <p:cond delay="0"/>
                                  </p:stCondLst>
                                  <p:childTnLst>
                                    <p:set>
                                      <p:cBhvr>
                                        <p:cTn id="56" dur="1" fill="hold">
                                          <p:stCondLst>
                                            <p:cond delay="0"/>
                                          </p:stCondLst>
                                        </p:cTn>
                                        <p:tgtEl>
                                          <p:spTgt spid="125"/>
                                        </p:tgtEl>
                                        <p:attrNameLst>
                                          <p:attrName>style.visibility</p:attrName>
                                        </p:attrNameLst>
                                      </p:cBhvr>
                                      <p:to>
                                        <p:strVal val="visible"/>
                                      </p:to>
                                    </p:set>
                                    <p:animEffect transition="in" filter="barn(inHorizontal)">
                                      <p:cBhvr>
                                        <p:cTn id="57"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 name="Object 8">
            <a:extLst>
              <a:ext uri="{FF2B5EF4-FFF2-40B4-BE49-F238E27FC236}">
                <a16:creationId xmlns="" xmlns:a16="http://schemas.microsoft.com/office/drawing/2014/main" id="{19A8B268-C46F-4F00-B44F-090A2F643E55}"/>
              </a:ext>
            </a:extLst>
          </p:cNvPr>
          <p:cNvGraphicFramePr>
            <a:graphicFrameLocks noChangeAspect="1"/>
          </p:cNvGraphicFramePr>
          <p:nvPr>
            <p:extLst>
              <p:ext uri="{D42A27DB-BD31-4B8C-83A1-F6EECF244321}">
                <p14:modId xmlns:p14="http://schemas.microsoft.com/office/powerpoint/2010/main" val="100155721"/>
              </p:ext>
            </p:extLst>
          </p:nvPr>
        </p:nvGraphicFramePr>
        <p:xfrm>
          <a:off x="9435562" y="1767982"/>
          <a:ext cx="3016250" cy="3470275"/>
        </p:xfrm>
        <a:graphic>
          <a:graphicData uri="http://schemas.openxmlformats.org/presentationml/2006/ole">
            <mc:AlternateContent xmlns:mc="http://schemas.openxmlformats.org/markup-compatibility/2006">
              <mc:Choice xmlns:v="urn:schemas-microsoft-com:vml" Requires="v">
                <p:oleObj spid="_x0000_s19494" name="Visio" r:id="rId3" imgW="2071545" imgH="2381012" progId="Visio.Drawing.11">
                  <p:embed/>
                </p:oleObj>
              </mc:Choice>
              <mc:Fallback>
                <p:oleObj name="Visio" r:id="rId3" imgW="2071545" imgH="2381012" progId="Visio.Drawing.11">
                  <p:embed/>
                  <p:pic>
                    <p:nvPicPr>
                      <p:cNvPr id="9114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35562" y="1767982"/>
                        <a:ext cx="3016250" cy="347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 name="Object 9">
            <a:extLst>
              <a:ext uri="{FF2B5EF4-FFF2-40B4-BE49-F238E27FC236}">
                <a16:creationId xmlns="" xmlns:a16="http://schemas.microsoft.com/office/drawing/2014/main" id="{A3CECCC2-3DDF-4756-9861-206282F044EA}"/>
              </a:ext>
            </a:extLst>
          </p:cNvPr>
          <p:cNvGraphicFramePr>
            <a:graphicFrameLocks noChangeAspect="1"/>
          </p:cNvGraphicFramePr>
          <p:nvPr>
            <p:extLst>
              <p:ext uri="{D42A27DB-BD31-4B8C-83A1-F6EECF244321}">
                <p14:modId xmlns:p14="http://schemas.microsoft.com/office/powerpoint/2010/main" val="1789177572"/>
              </p:ext>
            </p:extLst>
          </p:nvPr>
        </p:nvGraphicFramePr>
        <p:xfrm>
          <a:off x="3008313" y="1420318"/>
          <a:ext cx="4303712" cy="4017963"/>
        </p:xfrm>
        <a:graphic>
          <a:graphicData uri="http://schemas.openxmlformats.org/presentationml/2006/ole">
            <mc:AlternateContent xmlns:mc="http://schemas.openxmlformats.org/markup-compatibility/2006">
              <mc:Choice xmlns:v="urn:schemas-microsoft-com:vml" Requires="v">
                <p:oleObj spid="_x0000_s19495" name="Visio" r:id="rId5" imgW="3162315" imgH="2952685" progId="Visio.Drawing.11">
                  <p:embed/>
                </p:oleObj>
              </mc:Choice>
              <mc:Fallback>
                <p:oleObj name="Visio" r:id="rId5" imgW="3162315" imgH="2952685" progId="Visio.Drawing.11">
                  <p:embed/>
                  <p:pic>
                    <p:nvPicPr>
                      <p:cNvPr id="91145" name="Object 9"/>
                      <p:cNvPicPr>
                        <a:picLocks noChangeAspect="1" noChangeArrowheads="1"/>
                      </p:cNvPicPr>
                      <p:nvPr/>
                    </p:nvPicPr>
                    <p:blipFill>
                      <a:blip r:embed="rId6"/>
                      <a:srcRect/>
                      <a:stretch>
                        <a:fillRect/>
                      </a:stretch>
                    </p:blipFill>
                    <p:spPr bwMode="auto">
                      <a:xfrm>
                        <a:off x="3008313" y="1420318"/>
                        <a:ext cx="4303712" cy="4017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 name="Text Box 12">
            <a:extLst>
              <a:ext uri="{FF2B5EF4-FFF2-40B4-BE49-F238E27FC236}">
                <a16:creationId xmlns="" xmlns:a16="http://schemas.microsoft.com/office/drawing/2014/main" id="{B31440D8-8CE3-41D0-939A-596E27E821F1}"/>
              </a:ext>
            </a:extLst>
          </p:cNvPr>
          <p:cNvSpPr txBox="1">
            <a:spLocks noChangeArrowheads="1"/>
          </p:cNvSpPr>
          <p:nvPr/>
        </p:nvSpPr>
        <p:spPr bwMode="auto">
          <a:xfrm>
            <a:off x="2691184" y="3723782"/>
            <a:ext cx="800100" cy="755650"/>
          </a:xfrm>
          <a:prstGeom prst="rect">
            <a:avLst/>
          </a:prstGeom>
          <a:solidFill>
            <a:srgbClr val="FFFFFF"/>
          </a:solidFill>
          <a:ln w="12700">
            <a:solidFill>
              <a:srgbClr val="FFFFFF"/>
            </a:solidFill>
            <a:miter lim="800000"/>
            <a:headEnd/>
            <a:tailEnd/>
          </a:ln>
        </p:spPr>
        <p:txBody>
          <a:bodyPr lIns="0" tIns="0" rIns="0" bIns="0"/>
          <a:lstStyle/>
          <a:p>
            <a:pPr algn="just" defTabSz="914400"/>
            <a:r>
              <a:rPr lang="en-US" altLang="zh-CN" sz="2400" b="1">
                <a:solidFill>
                  <a:srgbClr val="FF0000"/>
                </a:solidFill>
                <a:latin typeface="Times New Roman" pitchFamily="18" charset="0"/>
                <a:ea typeface="微软雅黑" pitchFamily="34" charset="-122"/>
                <a:cs typeface="Times New Roman" pitchFamily="18" charset="0"/>
              </a:rPr>
              <a:t>K1</a:t>
            </a:r>
            <a:r>
              <a:rPr lang="zh-CN" altLang="en-US" sz="2400" b="1">
                <a:solidFill>
                  <a:srgbClr val="FF0000"/>
                </a:solidFill>
                <a:latin typeface="Times New Roman" pitchFamily="18" charset="0"/>
                <a:ea typeface="微软雅黑" pitchFamily="34" charset="-122"/>
                <a:cs typeface="Times New Roman" pitchFamily="18" charset="0"/>
              </a:rPr>
              <a:t>断</a:t>
            </a:r>
            <a:r>
              <a:rPr lang="en-US" altLang="zh-CN" sz="2400" b="1">
                <a:solidFill>
                  <a:srgbClr val="FF0000"/>
                </a:solidFill>
                <a:latin typeface="Times New Roman" pitchFamily="18" charset="0"/>
                <a:ea typeface="微软雅黑" pitchFamily="34" charset="-122"/>
                <a:cs typeface="Times New Roman" pitchFamily="18" charset="0"/>
              </a:rPr>
              <a:t>K2</a:t>
            </a:r>
            <a:r>
              <a:rPr lang="zh-CN" altLang="en-US" sz="2400" b="1">
                <a:solidFill>
                  <a:srgbClr val="FF0000"/>
                </a:solidFill>
                <a:latin typeface="Times New Roman" pitchFamily="18" charset="0"/>
                <a:ea typeface="微软雅黑" pitchFamily="34" charset="-122"/>
                <a:cs typeface="Times New Roman" pitchFamily="18" charset="0"/>
              </a:rPr>
              <a:t>合</a:t>
            </a:r>
          </a:p>
        </p:txBody>
      </p:sp>
      <p:cxnSp>
        <p:nvCxnSpPr>
          <p:cNvPr id="49" name="AutoShape 13">
            <a:extLst>
              <a:ext uri="{FF2B5EF4-FFF2-40B4-BE49-F238E27FC236}">
                <a16:creationId xmlns="" xmlns:a16="http://schemas.microsoft.com/office/drawing/2014/main" id="{483E6C41-2CD2-498F-A294-727651BEBB36}"/>
              </a:ext>
            </a:extLst>
          </p:cNvPr>
          <p:cNvCxnSpPr>
            <a:cxnSpLocks noChangeShapeType="1"/>
          </p:cNvCxnSpPr>
          <p:nvPr/>
        </p:nvCxnSpPr>
        <p:spPr bwMode="auto">
          <a:xfrm>
            <a:off x="3580184" y="4077795"/>
            <a:ext cx="400050" cy="1587"/>
          </a:xfrm>
          <a:prstGeom prst="straightConnector1">
            <a:avLst/>
          </a:prstGeom>
          <a:noFill/>
          <a:ln w="38100">
            <a:solidFill>
              <a:srgbClr val="FF33CC"/>
            </a:solidFill>
            <a:round/>
            <a:headEnd/>
            <a:tailEnd type="arrow" w="sm" len="lg"/>
          </a:ln>
        </p:spPr>
      </p:cxnSp>
      <p:grpSp>
        <p:nvGrpSpPr>
          <p:cNvPr id="50" name="组合 17">
            <a:extLst>
              <a:ext uri="{FF2B5EF4-FFF2-40B4-BE49-F238E27FC236}">
                <a16:creationId xmlns="" xmlns:a16="http://schemas.microsoft.com/office/drawing/2014/main" id="{F678FF8E-7D1B-4759-BD6B-EE3080AD0FCA}"/>
              </a:ext>
            </a:extLst>
          </p:cNvPr>
          <p:cNvGrpSpPr>
            <a:grpSpLocks/>
          </p:cNvGrpSpPr>
          <p:nvPr/>
        </p:nvGrpSpPr>
        <p:grpSpPr bwMode="auto">
          <a:xfrm>
            <a:off x="4824784" y="3723782"/>
            <a:ext cx="1555750" cy="1866900"/>
            <a:chOff x="2527300" y="4184650"/>
            <a:chExt cx="1555750" cy="1866900"/>
          </a:xfrm>
        </p:grpSpPr>
        <p:sp>
          <p:nvSpPr>
            <p:cNvPr id="51" name="Text Box 12">
              <a:extLst>
                <a:ext uri="{FF2B5EF4-FFF2-40B4-BE49-F238E27FC236}">
                  <a16:creationId xmlns="" xmlns:a16="http://schemas.microsoft.com/office/drawing/2014/main" id="{1627D434-B42E-4E5E-839E-E75A97225DD0}"/>
                </a:ext>
              </a:extLst>
            </p:cNvPr>
            <p:cNvSpPr txBox="1">
              <a:spLocks noChangeArrowheads="1"/>
            </p:cNvSpPr>
            <p:nvPr/>
          </p:nvSpPr>
          <p:spPr bwMode="auto">
            <a:xfrm>
              <a:off x="2527300" y="5562600"/>
              <a:ext cx="1555750" cy="488950"/>
            </a:xfrm>
            <a:prstGeom prst="rect">
              <a:avLst/>
            </a:prstGeom>
            <a:solidFill>
              <a:srgbClr val="FFFFFF"/>
            </a:solidFill>
            <a:ln w="12700">
              <a:solidFill>
                <a:srgbClr val="FFFFFF"/>
              </a:solidFill>
              <a:miter lim="800000"/>
              <a:headEnd/>
              <a:tailEnd/>
            </a:ln>
          </p:spPr>
          <p:txBody>
            <a:bodyPr lIns="0" tIns="0" rIns="0" bIns="0"/>
            <a:lstStyle/>
            <a:p>
              <a:pPr algn="ctr" defTabSz="914400"/>
              <a:r>
                <a:rPr lang="en-US" altLang="zh-CN" sz="2400" b="1">
                  <a:solidFill>
                    <a:srgbClr val="FF0000"/>
                  </a:solidFill>
                  <a:latin typeface="Times New Roman" pitchFamily="18" charset="0"/>
                  <a:ea typeface="微软雅黑" pitchFamily="34" charset="-122"/>
                  <a:cs typeface="Times New Roman" pitchFamily="18" charset="0"/>
                </a:rPr>
                <a:t>U</a:t>
              </a:r>
              <a:r>
                <a:rPr lang="en-US" altLang="zh-CN" sz="2400" b="1" baseline="-25000">
                  <a:solidFill>
                    <a:srgbClr val="FF0000"/>
                  </a:solidFill>
                  <a:latin typeface="Times New Roman" pitchFamily="18" charset="0"/>
                  <a:ea typeface="微软雅黑" pitchFamily="34" charset="-122"/>
                  <a:cs typeface="Times New Roman" pitchFamily="18" charset="0"/>
                </a:rPr>
                <a:t>-</a:t>
              </a:r>
              <a:r>
                <a:rPr lang="en-US" altLang="zh-CN" sz="2400" b="1">
                  <a:solidFill>
                    <a:srgbClr val="FF0000"/>
                  </a:solidFill>
                  <a:latin typeface="Times New Roman" pitchFamily="18" charset="0"/>
                  <a:ea typeface="微软雅黑" pitchFamily="34" charset="-122"/>
                  <a:cs typeface="Times New Roman" pitchFamily="18" charset="0"/>
                </a:rPr>
                <a:t>&lt;U</a:t>
              </a:r>
              <a:r>
                <a:rPr lang="en-US" altLang="zh-CN" sz="2400" b="1" baseline="-25000">
                  <a:solidFill>
                    <a:srgbClr val="FF0000"/>
                  </a:solidFill>
                  <a:latin typeface="Times New Roman" pitchFamily="18" charset="0"/>
                  <a:ea typeface="微软雅黑" pitchFamily="34" charset="-122"/>
                  <a:cs typeface="Times New Roman" pitchFamily="18" charset="0"/>
                </a:rPr>
                <a:t>+</a:t>
              </a:r>
              <a:r>
                <a:rPr lang="zh-CN" altLang="en-US" sz="2400" b="1">
                  <a:solidFill>
                    <a:srgbClr val="FF0000"/>
                  </a:solidFill>
                  <a:latin typeface="Times New Roman" pitchFamily="18" charset="0"/>
                  <a:ea typeface="微软雅黑" pitchFamily="34" charset="-122"/>
                  <a:cs typeface="Times New Roman" pitchFamily="18" charset="0"/>
                </a:rPr>
                <a:t>输出高电平</a:t>
              </a:r>
            </a:p>
          </p:txBody>
        </p:sp>
        <p:cxnSp>
          <p:nvCxnSpPr>
            <p:cNvPr id="52" name="AutoShape 13">
              <a:extLst>
                <a:ext uri="{FF2B5EF4-FFF2-40B4-BE49-F238E27FC236}">
                  <a16:creationId xmlns="" xmlns:a16="http://schemas.microsoft.com/office/drawing/2014/main" id="{60264637-88BB-4215-BA64-4DF9BC79C6DA}"/>
                </a:ext>
              </a:extLst>
            </p:cNvPr>
            <p:cNvCxnSpPr>
              <a:cxnSpLocks noChangeShapeType="1"/>
            </p:cNvCxnSpPr>
            <p:nvPr/>
          </p:nvCxnSpPr>
          <p:spPr bwMode="auto">
            <a:xfrm rot="16200000" flipV="1">
              <a:off x="2897187" y="4865687"/>
              <a:ext cx="1377950" cy="15875"/>
            </a:xfrm>
            <a:prstGeom prst="straightConnector1">
              <a:avLst/>
            </a:prstGeom>
            <a:noFill/>
            <a:ln w="38100">
              <a:solidFill>
                <a:srgbClr val="FF33CC"/>
              </a:solidFill>
              <a:round/>
              <a:headEnd/>
              <a:tailEnd type="arrow" w="sm" len="lg"/>
            </a:ln>
          </p:spPr>
        </p:cxnSp>
      </p:grpSp>
      <p:grpSp>
        <p:nvGrpSpPr>
          <p:cNvPr id="53" name="组合 20">
            <a:extLst>
              <a:ext uri="{FF2B5EF4-FFF2-40B4-BE49-F238E27FC236}">
                <a16:creationId xmlns="" xmlns:a16="http://schemas.microsoft.com/office/drawing/2014/main" id="{B74A1036-9F47-4A80-AF67-B6A36C6F6E23}"/>
              </a:ext>
            </a:extLst>
          </p:cNvPr>
          <p:cNvGrpSpPr>
            <a:grpSpLocks/>
          </p:cNvGrpSpPr>
          <p:nvPr/>
        </p:nvGrpSpPr>
        <p:grpSpPr bwMode="auto">
          <a:xfrm>
            <a:off x="6736134" y="2776050"/>
            <a:ext cx="2227305" cy="400050"/>
            <a:chOff x="4438650" y="3236918"/>
            <a:chExt cx="1416645" cy="400050"/>
          </a:xfrm>
        </p:grpSpPr>
        <p:sp>
          <p:nvSpPr>
            <p:cNvPr id="54" name="Text Box 12">
              <a:extLst>
                <a:ext uri="{FF2B5EF4-FFF2-40B4-BE49-F238E27FC236}">
                  <a16:creationId xmlns="" xmlns:a16="http://schemas.microsoft.com/office/drawing/2014/main" id="{46133D6A-5DF3-4FD8-AE67-1161D8D8ED1F}"/>
                </a:ext>
              </a:extLst>
            </p:cNvPr>
            <p:cNvSpPr txBox="1">
              <a:spLocks noChangeArrowheads="1"/>
            </p:cNvSpPr>
            <p:nvPr/>
          </p:nvSpPr>
          <p:spPr bwMode="auto">
            <a:xfrm>
              <a:off x="4832945" y="3236918"/>
              <a:ext cx="1022350" cy="4000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FF0000"/>
                  </a:solidFill>
                  <a:latin typeface="Times New Roman" pitchFamily="18" charset="0"/>
                  <a:ea typeface="微软雅黑" pitchFamily="34" charset="-122"/>
                  <a:cs typeface="Times New Roman" pitchFamily="18" charset="0"/>
                </a:rPr>
                <a:t>电磁铁有电</a:t>
              </a:r>
            </a:p>
          </p:txBody>
        </p:sp>
        <p:cxnSp>
          <p:nvCxnSpPr>
            <p:cNvPr id="55" name="AutoShape 13">
              <a:extLst>
                <a:ext uri="{FF2B5EF4-FFF2-40B4-BE49-F238E27FC236}">
                  <a16:creationId xmlns="" xmlns:a16="http://schemas.microsoft.com/office/drawing/2014/main" id="{8B417BDF-6CFD-4894-8493-108DA5341549}"/>
                </a:ext>
              </a:extLst>
            </p:cNvPr>
            <p:cNvCxnSpPr>
              <a:cxnSpLocks noChangeShapeType="1"/>
            </p:cNvCxnSpPr>
            <p:nvPr/>
          </p:nvCxnSpPr>
          <p:spPr bwMode="auto">
            <a:xfrm rot="10800000">
              <a:off x="4438650" y="3429000"/>
              <a:ext cx="400050" cy="1588"/>
            </a:xfrm>
            <a:prstGeom prst="straightConnector1">
              <a:avLst/>
            </a:prstGeom>
            <a:noFill/>
            <a:ln w="38100">
              <a:solidFill>
                <a:srgbClr val="FF33CC"/>
              </a:solidFill>
              <a:round/>
              <a:headEnd/>
              <a:tailEnd type="arrow" w="sm" len="lg"/>
            </a:ln>
          </p:spPr>
        </p:cxnSp>
      </p:grpSp>
      <p:grpSp>
        <p:nvGrpSpPr>
          <p:cNvPr id="57" name="组合 23">
            <a:extLst>
              <a:ext uri="{FF2B5EF4-FFF2-40B4-BE49-F238E27FC236}">
                <a16:creationId xmlns="" xmlns:a16="http://schemas.microsoft.com/office/drawing/2014/main" id="{D26B3A45-8A14-4487-A7CA-B5FDB4A3ED84}"/>
              </a:ext>
            </a:extLst>
          </p:cNvPr>
          <p:cNvGrpSpPr>
            <a:grpSpLocks/>
          </p:cNvGrpSpPr>
          <p:nvPr/>
        </p:nvGrpSpPr>
        <p:grpSpPr bwMode="auto">
          <a:xfrm>
            <a:off x="6745046" y="3471676"/>
            <a:ext cx="2262058" cy="400050"/>
            <a:chOff x="4305300" y="3837289"/>
            <a:chExt cx="1422400" cy="400050"/>
          </a:xfrm>
        </p:grpSpPr>
        <p:sp>
          <p:nvSpPr>
            <p:cNvPr id="58" name="Text Box 12">
              <a:extLst>
                <a:ext uri="{FF2B5EF4-FFF2-40B4-BE49-F238E27FC236}">
                  <a16:creationId xmlns="" xmlns:a16="http://schemas.microsoft.com/office/drawing/2014/main" id="{6ECEB4D0-09CC-4F5E-A099-130266EBC38B}"/>
                </a:ext>
              </a:extLst>
            </p:cNvPr>
            <p:cNvSpPr txBox="1">
              <a:spLocks noChangeArrowheads="1"/>
            </p:cNvSpPr>
            <p:nvPr/>
          </p:nvSpPr>
          <p:spPr bwMode="auto">
            <a:xfrm>
              <a:off x="4705350" y="3837289"/>
              <a:ext cx="1022350" cy="4000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FF0000"/>
                  </a:solidFill>
                  <a:latin typeface="Times New Roman" pitchFamily="18" charset="0"/>
                  <a:ea typeface="微软雅黑" pitchFamily="34" charset="-122"/>
                  <a:cs typeface="Times New Roman" pitchFamily="18" charset="0"/>
                </a:rPr>
                <a:t>三极管导通</a:t>
              </a:r>
            </a:p>
          </p:txBody>
        </p:sp>
        <p:cxnSp>
          <p:nvCxnSpPr>
            <p:cNvPr id="59" name="AutoShape 13">
              <a:extLst>
                <a:ext uri="{FF2B5EF4-FFF2-40B4-BE49-F238E27FC236}">
                  <a16:creationId xmlns="" xmlns:a16="http://schemas.microsoft.com/office/drawing/2014/main" id="{166F1ED0-8346-4836-8B52-D638595B3702}"/>
                </a:ext>
              </a:extLst>
            </p:cNvPr>
            <p:cNvCxnSpPr>
              <a:cxnSpLocks noChangeShapeType="1"/>
            </p:cNvCxnSpPr>
            <p:nvPr/>
          </p:nvCxnSpPr>
          <p:spPr bwMode="auto">
            <a:xfrm rot="10800000">
              <a:off x="4305300" y="4006850"/>
              <a:ext cx="400050" cy="1588"/>
            </a:xfrm>
            <a:prstGeom prst="straightConnector1">
              <a:avLst/>
            </a:prstGeom>
            <a:noFill/>
            <a:ln w="38100">
              <a:solidFill>
                <a:srgbClr val="FF33CC"/>
              </a:solidFill>
              <a:round/>
              <a:headEnd/>
              <a:tailEnd type="arrow" w="sm" len="lg"/>
            </a:ln>
          </p:spPr>
        </p:cxnSp>
      </p:grpSp>
      <p:sp>
        <p:nvSpPr>
          <p:cNvPr id="60" name="Text Box 12">
            <a:extLst>
              <a:ext uri="{FF2B5EF4-FFF2-40B4-BE49-F238E27FC236}">
                <a16:creationId xmlns="" xmlns:a16="http://schemas.microsoft.com/office/drawing/2014/main" id="{C0E2A9D4-6C7A-4E38-A9F9-36267DBE228E}"/>
              </a:ext>
            </a:extLst>
          </p:cNvPr>
          <p:cNvSpPr txBox="1">
            <a:spLocks noChangeArrowheads="1"/>
          </p:cNvSpPr>
          <p:nvPr/>
        </p:nvSpPr>
        <p:spPr bwMode="auto">
          <a:xfrm>
            <a:off x="6602784" y="967882"/>
            <a:ext cx="426720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Times New Roman" pitchFamily="18" charset="0"/>
                <a:ea typeface="微软雅黑" pitchFamily="34" charset="-122"/>
                <a:cs typeface="Times New Roman" pitchFamily="18" charset="0"/>
              </a:rPr>
              <a:t>电磁铁有磁性，后帘受电磁力向左运动，光孔位于光轴</a:t>
            </a:r>
          </a:p>
        </p:txBody>
      </p:sp>
      <p:cxnSp>
        <p:nvCxnSpPr>
          <p:cNvPr id="61" name="AutoShape 13">
            <a:extLst>
              <a:ext uri="{FF2B5EF4-FFF2-40B4-BE49-F238E27FC236}">
                <a16:creationId xmlns="" xmlns:a16="http://schemas.microsoft.com/office/drawing/2014/main" id="{45DF5E57-B800-4541-8DD6-C4DA2FE76968}"/>
              </a:ext>
            </a:extLst>
          </p:cNvPr>
          <p:cNvCxnSpPr>
            <a:cxnSpLocks noChangeShapeType="1"/>
          </p:cNvCxnSpPr>
          <p:nvPr/>
        </p:nvCxnSpPr>
        <p:spPr bwMode="auto">
          <a:xfrm rot="16200000" flipH="1">
            <a:off x="9614949" y="1723533"/>
            <a:ext cx="1154113" cy="887412"/>
          </a:xfrm>
          <a:prstGeom prst="straightConnector1">
            <a:avLst/>
          </a:prstGeom>
          <a:noFill/>
          <a:ln w="38100">
            <a:solidFill>
              <a:srgbClr val="FF33CC"/>
            </a:solidFill>
            <a:round/>
            <a:headEnd/>
            <a:tailEnd type="arrow" w="sm" len="lg"/>
          </a:ln>
        </p:spPr>
      </p:cxnSp>
      <p:sp>
        <p:nvSpPr>
          <p:cNvPr id="62" name="Text Box 12">
            <a:extLst>
              <a:ext uri="{FF2B5EF4-FFF2-40B4-BE49-F238E27FC236}">
                <a16:creationId xmlns="" xmlns:a16="http://schemas.microsoft.com/office/drawing/2014/main" id="{EE192EBD-BD8B-4E58-BFB0-9D0E90706AE4}"/>
              </a:ext>
            </a:extLst>
          </p:cNvPr>
          <p:cNvSpPr txBox="1">
            <a:spLocks noChangeArrowheads="1"/>
          </p:cNvSpPr>
          <p:nvPr/>
        </p:nvSpPr>
        <p:spPr bwMode="auto">
          <a:xfrm>
            <a:off x="7247161" y="4656589"/>
            <a:ext cx="2733823" cy="1333500"/>
          </a:xfrm>
          <a:prstGeom prst="rect">
            <a:avLst/>
          </a:prstGeom>
          <a:solidFill>
            <a:srgbClr val="FFFFFF"/>
          </a:solidFill>
          <a:ln w="12700">
            <a:solidFill>
              <a:srgbClr val="FFFFFF"/>
            </a:solidFill>
            <a:miter lim="800000"/>
            <a:headEnd/>
            <a:tailEnd/>
          </a:ln>
        </p:spPr>
        <p:txBody>
          <a:bodyPr lIns="0" tIns="0" rIns="0" bIns="0"/>
          <a:lstStyle/>
          <a:p>
            <a:pPr algn="ctr" defTabSz="914400">
              <a:lnSpc>
                <a:spcPct val="150000"/>
              </a:lnSpc>
            </a:pPr>
            <a:r>
              <a:rPr lang="zh-CN" altLang="en-US" b="1" dirty="0">
                <a:latin typeface="Times New Roman" pitchFamily="18" charset="0"/>
                <a:ea typeface="微软雅黑" pitchFamily="34" charset="-122"/>
                <a:cs typeface="Times New Roman" pitchFamily="18" charset="0"/>
              </a:rPr>
              <a:t>按下快门</a:t>
            </a:r>
            <a:r>
              <a:rPr lang="en-US" altLang="zh-CN" b="1" dirty="0">
                <a:latin typeface="Times New Roman" pitchFamily="18" charset="0"/>
                <a:ea typeface="微软雅黑" pitchFamily="34" charset="-122"/>
                <a:cs typeface="Times New Roman" pitchFamily="18" charset="0"/>
              </a:rPr>
              <a:t>K2</a:t>
            </a:r>
            <a:r>
              <a:rPr lang="zh-CN" altLang="en-US" b="1" dirty="0">
                <a:latin typeface="Times New Roman" pitchFamily="18" charset="0"/>
                <a:ea typeface="微软雅黑" pitchFamily="34" charset="-122"/>
                <a:cs typeface="Times New Roman" pitchFamily="18" charset="0"/>
              </a:rPr>
              <a:t>合，前帘脱钩，被弹簧拉到右边，光孔位于光轴上</a:t>
            </a:r>
            <a:endParaRPr lang="zh-CN" altLang="en-US" b="1" dirty="0">
              <a:solidFill>
                <a:schemeClr val="tx2"/>
              </a:solidFill>
              <a:latin typeface="Times New Roman" pitchFamily="18" charset="0"/>
              <a:ea typeface="微软雅黑" pitchFamily="34" charset="-122"/>
              <a:cs typeface="Times New Roman" pitchFamily="18" charset="0"/>
            </a:endParaRPr>
          </a:p>
        </p:txBody>
      </p:sp>
      <p:cxnSp>
        <p:nvCxnSpPr>
          <p:cNvPr id="63" name="AutoShape 13">
            <a:extLst>
              <a:ext uri="{FF2B5EF4-FFF2-40B4-BE49-F238E27FC236}">
                <a16:creationId xmlns="" xmlns:a16="http://schemas.microsoft.com/office/drawing/2014/main" id="{931FFD66-87DD-478B-83E5-58EDE18C3E18}"/>
              </a:ext>
            </a:extLst>
          </p:cNvPr>
          <p:cNvCxnSpPr>
            <a:cxnSpLocks noChangeShapeType="1"/>
          </p:cNvCxnSpPr>
          <p:nvPr/>
        </p:nvCxnSpPr>
        <p:spPr bwMode="auto">
          <a:xfrm flipV="1">
            <a:off x="9346662" y="4123832"/>
            <a:ext cx="1200150" cy="533400"/>
          </a:xfrm>
          <a:prstGeom prst="straightConnector1">
            <a:avLst/>
          </a:prstGeom>
          <a:noFill/>
          <a:ln w="38100">
            <a:solidFill>
              <a:srgbClr val="FF33CC"/>
            </a:solidFill>
            <a:round/>
            <a:headEnd/>
            <a:tailEnd type="arrow" w="sm" len="lg"/>
          </a:ln>
        </p:spPr>
      </p:cxnSp>
      <p:grpSp>
        <p:nvGrpSpPr>
          <p:cNvPr id="64" name="组合 32">
            <a:extLst>
              <a:ext uri="{FF2B5EF4-FFF2-40B4-BE49-F238E27FC236}">
                <a16:creationId xmlns="" xmlns:a16="http://schemas.microsoft.com/office/drawing/2014/main" id="{04C9F1CE-9EDB-4B6F-80BB-3C0F8CBBE519}"/>
              </a:ext>
            </a:extLst>
          </p:cNvPr>
          <p:cNvGrpSpPr>
            <a:grpSpLocks/>
          </p:cNvGrpSpPr>
          <p:nvPr/>
        </p:nvGrpSpPr>
        <p:grpSpPr bwMode="auto">
          <a:xfrm>
            <a:off x="10457912" y="5057282"/>
            <a:ext cx="1689100" cy="1155700"/>
            <a:chOff x="7061200" y="5518150"/>
            <a:chExt cx="1689100" cy="1155700"/>
          </a:xfrm>
        </p:grpSpPr>
        <p:sp>
          <p:nvSpPr>
            <p:cNvPr id="79" name="Text Box 12">
              <a:extLst>
                <a:ext uri="{FF2B5EF4-FFF2-40B4-BE49-F238E27FC236}">
                  <a16:creationId xmlns="" xmlns:a16="http://schemas.microsoft.com/office/drawing/2014/main" id="{5A2F769A-9066-4DCC-A558-39D6F6FF8138}"/>
                </a:ext>
              </a:extLst>
            </p:cNvPr>
            <p:cNvSpPr txBox="1">
              <a:spLocks noChangeArrowheads="1"/>
            </p:cNvSpPr>
            <p:nvPr/>
          </p:nvSpPr>
          <p:spPr bwMode="auto">
            <a:xfrm>
              <a:off x="7061200" y="5873750"/>
              <a:ext cx="168910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0000FF"/>
                  </a:solidFill>
                  <a:latin typeface="Times New Roman" pitchFamily="18" charset="0"/>
                  <a:ea typeface="微软雅黑" pitchFamily="34" charset="-122"/>
                  <a:cs typeface="Times New Roman" pitchFamily="18" charset="0"/>
                </a:rPr>
                <a:t>光线到达</a:t>
              </a:r>
              <a:r>
                <a:rPr lang="en-US" altLang="zh-CN" sz="2400" b="1">
                  <a:solidFill>
                    <a:srgbClr val="0000FF"/>
                  </a:solidFill>
                  <a:latin typeface="Times New Roman" pitchFamily="18" charset="0"/>
                  <a:ea typeface="微软雅黑" pitchFamily="34" charset="-122"/>
                  <a:cs typeface="Times New Roman" pitchFamily="18" charset="0"/>
                </a:rPr>
                <a:t>CCD/CMOS</a:t>
              </a:r>
              <a:endParaRPr lang="zh-CN" altLang="zh-CN" sz="2400" b="1">
                <a:solidFill>
                  <a:srgbClr val="0000FF"/>
                </a:solidFill>
                <a:latin typeface="Times New Roman" pitchFamily="18" charset="0"/>
                <a:ea typeface="微软雅黑" pitchFamily="34" charset="-122"/>
                <a:cs typeface="Times New Roman" pitchFamily="18" charset="0"/>
              </a:endParaRPr>
            </a:p>
          </p:txBody>
        </p:sp>
        <p:cxnSp>
          <p:nvCxnSpPr>
            <p:cNvPr id="80" name="AutoShape 13">
              <a:extLst>
                <a:ext uri="{FF2B5EF4-FFF2-40B4-BE49-F238E27FC236}">
                  <a16:creationId xmlns="" xmlns:a16="http://schemas.microsoft.com/office/drawing/2014/main" id="{BC5C08AD-70F9-40ED-8F18-151522BCB793}"/>
                </a:ext>
              </a:extLst>
            </p:cNvPr>
            <p:cNvCxnSpPr>
              <a:cxnSpLocks noChangeShapeType="1"/>
            </p:cNvCxnSpPr>
            <p:nvPr/>
          </p:nvCxnSpPr>
          <p:spPr bwMode="auto">
            <a:xfrm rot="5400000" flipH="1" flipV="1">
              <a:off x="7506494" y="5695156"/>
              <a:ext cx="355600" cy="1588"/>
            </a:xfrm>
            <a:prstGeom prst="straightConnector1">
              <a:avLst/>
            </a:prstGeom>
            <a:noFill/>
            <a:ln w="38100">
              <a:solidFill>
                <a:srgbClr val="FF33CC"/>
              </a:solidFill>
              <a:round/>
              <a:headEnd/>
              <a:tailEnd type="arrow" w="sm" len="lg"/>
            </a:ln>
          </p:spPr>
        </p:cxnSp>
      </p:grpSp>
      <p:sp>
        <p:nvSpPr>
          <p:cNvPr id="81" name="Text Box 12">
            <a:extLst>
              <a:ext uri="{FF2B5EF4-FFF2-40B4-BE49-F238E27FC236}">
                <a16:creationId xmlns="" xmlns:a16="http://schemas.microsoft.com/office/drawing/2014/main" id="{1FE01AD5-9249-491E-999C-7F4B169D6218}"/>
              </a:ext>
            </a:extLst>
          </p:cNvPr>
          <p:cNvSpPr txBox="1">
            <a:spLocks noChangeArrowheads="1"/>
          </p:cNvSpPr>
          <p:nvPr/>
        </p:nvSpPr>
        <p:spPr bwMode="auto">
          <a:xfrm>
            <a:off x="10457912" y="1634632"/>
            <a:ext cx="711200" cy="400050"/>
          </a:xfrm>
          <a:prstGeom prst="rect">
            <a:avLst/>
          </a:prstGeom>
          <a:solidFill>
            <a:srgbClr val="FFFFFF"/>
          </a:solidFill>
          <a:ln w="12700">
            <a:solidFill>
              <a:srgbClr val="FFFFFF"/>
            </a:solidFill>
            <a:miter lim="800000"/>
            <a:headEnd/>
            <a:tailEnd/>
          </a:ln>
        </p:spPr>
        <p:txBody>
          <a:bodyPr lIns="0" tIns="0" rIns="0" bIns="0"/>
          <a:lstStyle/>
          <a:p>
            <a:pPr algn="just" defTabSz="914400"/>
            <a:r>
              <a:rPr lang="zh-CN" altLang="en-US" sz="2400" b="1">
                <a:solidFill>
                  <a:srgbClr val="FF00FF"/>
                </a:solidFill>
                <a:latin typeface="Times New Roman" pitchFamily="18" charset="0"/>
                <a:ea typeface="微软雅黑" pitchFamily="34" charset="-122"/>
                <a:cs typeface="Times New Roman" pitchFamily="18" charset="0"/>
              </a:rPr>
              <a:t>景物</a:t>
            </a:r>
          </a:p>
        </p:txBody>
      </p:sp>
      <p:sp>
        <p:nvSpPr>
          <p:cNvPr id="82" name="TextBox 36">
            <a:extLst>
              <a:ext uri="{FF2B5EF4-FFF2-40B4-BE49-F238E27FC236}">
                <a16:creationId xmlns="" xmlns:a16="http://schemas.microsoft.com/office/drawing/2014/main" id="{C90313A8-0291-4AF6-9B12-E675ECA4A53E}"/>
              </a:ext>
            </a:extLst>
          </p:cNvPr>
          <p:cNvSpPr txBox="1">
            <a:spLocks noChangeArrowheads="1"/>
          </p:cNvSpPr>
          <p:nvPr/>
        </p:nvSpPr>
        <p:spPr bwMode="auto">
          <a:xfrm>
            <a:off x="4646984" y="6389495"/>
            <a:ext cx="5334000" cy="523220"/>
          </a:xfrm>
          <a:prstGeom prst="rect">
            <a:avLst/>
          </a:prstGeom>
          <a:solidFill>
            <a:srgbClr val="FFC000"/>
          </a:solidFill>
          <a:ln w="9525">
            <a:noFill/>
            <a:miter lim="800000"/>
            <a:headEnd/>
            <a:tailEnd/>
          </a:ln>
        </p:spPr>
        <p:txBody>
          <a:bodyPr>
            <a:spAutoFit/>
          </a:bodyPr>
          <a:lstStyle/>
          <a:p>
            <a:pPr algn="ctr" defTabSz="914400"/>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800"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闭合</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800"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断开，</a:t>
            </a:r>
            <a:r>
              <a:rPr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800" b="1" baseline="-25000"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800" b="1" i="1" dirty="0" err="1">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800" b="1" baseline="-25000" dirty="0" err="1">
                <a:latin typeface="Times New Roman" panose="02020603050405020304" pitchFamily="18" charset="0"/>
                <a:ea typeface="微软雅黑" panose="020B0503020204020204" pitchFamily="34" charset="-122"/>
                <a:cs typeface="Times New Roman" panose="02020603050405020304" pitchFamily="18" charset="0"/>
              </a:rPr>
              <a:t>th</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3" name="Text Box 10">
            <a:extLst>
              <a:ext uri="{FF2B5EF4-FFF2-40B4-BE49-F238E27FC236}">
                <a16:creationId xmlns="" xmlns:a16="http://schemas.microsoft.com/office/drawing/2014/main" id="{9C2FFC79-D7DD-44CA-B89E-3EB78735D204}"/>
              </a:ext>
            </a:extLst>
          </p:cNvPr>
          <p:cNvSpPr txBox="1">
            <a:spLocks noChangeArrowheads="1"/>
          </p:cNvSpPr>
          <p:nvPr/>
        </p:nvSpPr>
        <p:spPr bwMode="auto">
          <a:xfrm>
            <a:off x="1263009" y="5856095"/>
            <a:ext cx="3490608" cy="711200"/>
          </a:xfrm>
          <a:prstGeom prst="rect">
            <a:avLst/>
          </a:prstGeom>
          <a:noFill/>
          <a:ln w="12700" algn="ctr">
            <a:noFill/>
            <a:miter lim="800000"/>
            <a:headEnd/>
            <a:tailEnd/>
          </a:ln>
        </p:spPr>
        <p:txBody>
          <a:bodyPr lIns="0" tIns="0" rIns="0" bIns="0"/>
          <a:lstStyle/>
          <a:p>
            <a:pPr algn="ctr" defTabSz="914400"/>
            <a:r>
              <a:rPr lang="zh-CN" altLang="zh-CN" b="1" dirty="0">
                <a:solidFill>
                  <a:srgbClr val="0000FF"/>
                </a:solidFill>
                <a:latin typeface="Times New Roman" pitchFamily="18" charset="0"/>
                <a:ea typeface="微软雅黑" pitchFamily="34" charset="-122"/>
                <a:cs typeface="Times New Roman" pitchFamily="18" charset="0"/>
              </a:rPr>
              <a:t>RC</a:t>
            </a:r>
            <a:r>
              <a:rPr lang="zh-CN" altLang="en-US" b="1" dirty="0">
                <a:solidFill>
                  <a:srgbClr val="0000FF"/>
                </a:solidFill>
                <a:latin typeface="Times New Roman" pitchFamily="18" charset="0"/>
                <a:ea typeface="微软雅黑" pitchFamily="34" charset="-122"/>
                <a:cs typeface="Times New Roman" pitchFamily="18" charset="0"/>
              </a:rPr>
              <a:t>电路导通，电容</a:t>
            </a:r>
            <a:r>
              <a:rPr lang="zh-CN" altLang="zh-CN" b="1" dirty="0">
                <a:solidFill>
                  <a:srgbClr val="0000FF"/>
                </a:solidFill>
                <a:latin typeface="Times New Roman" pitchFamily="18" charset="0"/>
                <a:ea typeface="微软雅黑" pitchFamily="34" charset="-122"/>
                <a:cs typeface="Times New Roman" pitchFamily="18" charset="0"/>
              </a:rPr>
              <a:t>C</a:t>
            </a:r>
            <a:r>
              <a:rPr lang="zh-CN" altLang="en-US" b="1" dirty="0">
                <a:solidFill>
                  <a:srgbClr val="0000FF"/>
                </a:solidFill>
                <a:latin typeface="Times New Roman" pitchFamily="18" charset="0"/>
                <a:ea typeface="微软雅黑" pitchFamily="34" charset="-122"/>
                <a:cs typeface="Times New Roman" pitchFamily="18" charset="0"/>
              </a:rPr>
              <a:t>开始充电，</a:t>
            </a:r>
            <a:r>
              <a:rPr lang="en-US" altLang="zh-CN" sz="2400" b="1" i="1" dirty="0">
                <a:solidFill>
                  <a:srgbClr val="0000FF"/>
                </a:solidFill>
                <a:latin typeface="Times New Roman" pitchFamily="18" charset="0"/>
                <a:ea typeface="微软雅黑" pitchFamily="34" charset="-122"/>
                <a:cs typeface="Times New Roman" pitchFamily="18" charset="0"/>
              </a:rPr>
              <a:t>V</a:t>
            </a:r>
            <a:r>
              <a:rPr lang="zh-CN" altLang="zh-CN" sz="2400" b="1" i="1" dirty="0">
                <a:solidFill>
                  <a:srgbClr val="0000FF"/>
                </a:solidFill>
                <a:latin typeface="Times New Roman" pitchFamily="18" charset="0"/>
                <a:ea typeface="微软雅黑" pitchFamily="34" charset="-122"/>
                <a:cs typeface="Times New Roman" pitchFamily="18" charset="0"/>
              </a:rPr>
              <a:t>c</a:t>
            </a:r>
            <a:r>
              <a:rPr lang="zh-CN" altLang="en-US" b="1" dirty="0">
                <a:solidFill>
                  <a:srgbClr val="0000FF"/>
                </a:solidFill>
                <a:latin typeface="Times New Roman" pitchFamily="18" charset="0"/>
                <a:ea typeface="微软雅黑" pitchFamily="34" charset="-122"/>
                <a:cs typeface="Times New Roman" pitchFamily="18" charset="0"/>
              </a:rPr>
              <a:t>从</a:t>
            </a:r>
            <a:r>
              <a:rPr lang="zh-CN" altLang="zh-CN" b="1" dirty="0">
                <a:solidFill>
                  <a:srgbClr val="0000FF"/>
                </a:solidFill>
                <a:latin typeface="Times New Roman" pitchFamily="18" charset="0"/>
                <a:ea typeface="微软雅黑" pitchFamily="34" charset="-122"/>
                <a:cs typeface="Times New Roman" pitchFamily="18" charset="0"/>
              </a:rPr>
              <a:t>0</a:t>
            </a:r>
            <a:r>
              <a:rPr lang="zh-CN" altLang="en-US" b="1" dirty="0">
                <a:solidFill>
                  <a:srgbClr val="0000FF"/>
                </a:solidFill>
                <a:latin typeface="Times New Roman" pitchFamily="18" charset="0"/>
                <a:ea typeface="微软雅黑" pitchFamily="34" charset="-122"/>
                <a:cs typeface="Times New Roman" pitchFamily="18" charset="0"/>
              </a:rPr>
              <a:t>开始上升</a:t>
            </a:r>
          </a:p>
          <a:p>
            <a:pPr defTabSz="914400"/>
            <a:endParaRPr lang="zh-CN" altLang="zh-CN" sz="2800" b="1" dirty="0">
              <a:latin typeface="Times New Roman" pitchFamily="18" charset="0"/>
              <a:ea typeface="微软雅黑" pitchFamily="34" charset="-122"/>
              <a:cs typeface="Times New Roman" pitchFamily="18" charset="0"/>
            </a:endParaRPr>
          </a:p>
        </p:txBody>
      </p:sp>
      <p:cxnSp>
        <p:nvCxnSpPr>
          <p:cNvPr id="84" name="AutoShape 13">
            <a:extLst>
              <a:ext uri="{FF2B5EF4-FFF2-40B4-BE49-F238E27FC236}">
                <a16:creationId xmlns="" xmlns:a16="http://schemas.microsoft.com/office/drawing/2014/main" id="{EE958293-D1E3-4918-8282-080E03BDAC62}"/>
              </a:ext>
            </a:extLst>
          </p:cNvPr>
          <p:cNvCxnSpPr>
            <a:cxnSpLocks noChangeShapeType="1"/>
          </p:cNvCxnSpPr>
          <p:nvPr/>
        </p:nvCxnSpPr>
        <p:spPr bwMode="auto">
          <a:xfrm rot="5400000" flipH="1" flipV="1">
            <a:off x="3580978" y="5278738"/>
            <a:ext cx="977900" cy="1588"/>
          </a:xfrm>
          <a:prstGeom prst="straightConnector1">
            <a:avLst/>
          </a:prstGeom>
          <a:noFill/>
          <a:ln w="38100">
            <a:solidFill>
              <a:srgbClr val="FF33CC"/>
            </a:solidFill>
            <a:round/>
            <a:headEnd/>
            <a:tailEnd type="arrow" w="sm" len="lg"/>
          </a:ln>
        </p:spPr>
      </p:cxnSp>
      <p:sp>
        <p:nvSpPr>
          <p:cNvPr id="85" name="Text Box 11">
            <a:extLst>
              <a:ext uri="{FF2B5EF4-FFF2-40B4-BE49-F238E27FC236}">
                <a16:creationId xmlns="" xmlns:a16="http://schemas.microsoft.com/office/drawing/2014/main" id="{20BBF020-B197-4E4F-ABF9-66B5E1AA9EBC}"/>
              </a:ext>
            </a:extLst>
          </p:cNvPr>
          <p:cNvSpPr txBox="1">
            <a:spLocks noChangeArrowheads="1"/>
          </p:cNvSpPr>
          <p:nvPr/>
        </p:nvSpPr>
        <p:spPr bwMode="auto">
          <a:xfrm>
            <a:off x="1313234" y="1308651"/>
            <a:ext cx="2533650" cy="926695"/>
          </a:xfrm>
          <a:prstGeom prst="rect">
            <a:avLst/>
          </a:prstGeom>
          <a:solidFill>
            <a:srgbClr val="FFFFFF"/>
          </a:solidFill>
          <a:ln w="12700" algn="ctr">
            <a:solidFill>
              <a:srgbClr val="FFFFFF"/>
            </a:solidFill>
            <a:miter lim="800000"/>
            <a:headEnd/>
            <a:tailEnd/>
          </a:ln>
        </p:spPr>
        <p:txBody>
          <a:bodyPr lIns="0" tIns="0" rIns="0" bIns="0"/>
          <a:lstStyle/>
          <a:p>
            <a:pPr algn="ctr" defTabSz="914400">
              <a:lnSpc>
                <a:spcPct val="150000"/>
              </a:lnSpc>
            </a:pPr>
            <a:r>
              <a:rPr lang="en-US" altLang="zh-CN" b="1" i="1" dirty="0">
                <a:solidFill>
                  <a:srgbClr val="0000FF"/>
                </a:solidFill>
                <a:latin typeface="Times New Roman" pitchFamily="18" charset="0"/>
                <a:ea typeface="微软雅黑" pitchFamily="34" charset="-122"/>
                <a:cs typeface="Times New Roman" pitchFamily="18" charset="0"/>
              </a:rPr>
              <a:t>V</a:t>
            </a:r>
            <a:r>
              <a:rPr lang="zh-CN" altLang="zh-CN" b="1" i="1" baseline="-25000" dirty="0">
                <a:solidFill>
                  <a:srgbClr val="0000FF"/>
                </a:solidFill>
                <a:latin typeface="Times New Roman" pitchFamily="18" charset="0"/>
                <a:ea typeface="微软雅黑" pitchFamily="34" charset="-122"/>
                <a:cs typeface="Times New Roman" pitchFamily="18" charset="0"/>
              </a:rPr>
              <a:t>R</a:t>
            </a:r>
            <a:r>
              <a:rPr lang="zh-CN" altLang="zh-CN" b="1" dirty="0">
                <a:solidFill>
                  <a:srgbClr val="0000FF"/>
                </a:solidFill>
                <a:latin typeface="Times New Roman" pitchFamily="18" charset="0"/>
                <a:ea typeface="微软雅黑" pitchFamily="34" charset="-122"/>
                <a:cs typeface="Times New Roman" pitchFamily="18" charset="0"/>
              </a:rPr>
              <a:t>=</a:t>
            </a:r>
            <a:r>
              <a:rPr lang="en-US" altLang="zh-CN" b="1" i="1" dirty="0">
                <a:solidFill>
                  <a:srgbClr val="0000FF"/>
                </a:solidFill>
                <a:latin typeface="Times New Roman" pitchFamily="18" charset="0"/>
                <a:ea typeface="微软雅黑" pitchFamily="34" charset="-122"/>
                <a:cs typeface="Times New Roman" pitchFamily="18" charset="0"/>
              </a:rPr>
              <a:t>V</a:t>
            </a:r>
            <a:r>
              <a:rPr lang="zh-CN" altLang="zh-CN" b="1" i="1" dirty="0">
                <a:solidFill>
                  <a:srgbClr val="0000FF"/>
                </a:solidFill>
                <a:latin typeface="Times New Roman" pitchFamily="18" charset="0"/>
                <a:ea typeface="微软雅黑" pitchFamily="34" charset="-122"/>
                <a:cs typeface="Times New Roman" pitchFamily="18" charset="0"/>
              </a:rPr>
              <a:t>c</a:t>
            </a:r>
            <a:r>
              <a:rPr lang="zh-CN" altLang="zh-CN" b="1" dirty="0">
                <a:solidFill>
                  <a:srgbClr val="0000FF"/>
                </a:solidFill>
                <a:latin typeface="Times New Roman" pitchFamily="18" charset="0"/>
                <a:ea typeface="微软雅黑" pitchFamily="34" charset="-122"/>
                <a:cs typeface="Times New Roman" pitchFamily="18" charset="0"/>
              </a:rPr>
              <a:t>,</a:t>
            </a:r>
            <a:r>
              <a:rPr lang="en-US" altLang="zh-CN" b="1" i="1" dirty="0">
                <a:solidFill>
                  <a:srgbClr val="0000FF"/>
                </a:solidFill>
                <a:latin typeface="Times New Roman" pitchFamily="18" charset="0"/>
                <a:ea typeface="微软雅黑" pitchFamily="34" charset="-122"/>
                <a:cs typeface="Times New Roman" pitchFamily="18" charset="0"/>
              </a:rPr>
              <a:t>V</a:t>
            </a:r>
            <a:r>
              <a:rPr lang="zh-CN" altLang="zh-CN" b="1" i="1" baseline="-25000" dirty="0">
                <a:solidFill>
                  <a:srgbClr val="0000FF"/>
                </a:solidFill>
                <a:latin typeface="Times New Roman" pitchFamily="18" charset="0"/>
                <a:ea typeface="微软雅黑" pitchFamily="34" charset="-122"/>
                <a:cs typeface="Times New Roman" pitchFamily="18" charset="0"/>
              </a:rPr>
              <a:t>R</a:t>
            </a:r>
            <a:r>
              <a:rPr lang="zh-CN" altLang="en-US" b="1" dirty="0">
                <a:solidFill>
                  <a:srgbClr val="0000FF"/>
                </a:solidFill>
                <a:latin typeface="Times New Roman" pitchFamily="18" charset="0"/>
                <a:ea typeface="微软雅黑" pitchFamily="34" charset="-122"/>
                <a:cs typeface="Times New Roman" pitchFamily="18" charset="0"/>
              </a:rPr>
              <a:t>从</a:t>
            </a:r>
            <a:r>
              <a:rPr lang="zh-CN" altLang="zh-CN" b="1" dirty="0">
                <a:solidFill>
                  <a:srgbClr val="0000FF"/>
                </a:solidFill>
                <a:latin typeface="Times New Roman" pitchFamily="18" charset="0"/>
                <a:ea typeface="微软雅黑" pitchFamily="34" charset="-122"/>
                <a:cs typeface="Times New Roman" pitchFamily="18" charset="0"/>
              </a:rPr>
              <a:t>0</a:t>
            </a:r>
            <a:r>
              <a:rPr lang="zh-CN" altLang="en-US" b="1" dirty="0">
                <a:solidFill>
                  <a:srgbClr val="0000FF"/>
                </a:solidFill>
                <a:latin typeface="Times New Roman" pitchFamily="18" charset="0"/>
                <a:ea typeface="微软雅黑" pitchFamily="34" charset="-122"/>
                <a:cs typeface="Times New Roman" pitchFamily="18" charset="0"/>
              </a:rPr>
              <a:t>开始上升，这时</a:t>
            </a:r>
            <a:r>
              <a:rPr lang="en-US" altLang="zh-CN" b="1" i="1" dirty="0">
                <a:solidFill>
                  <a:srgbClr val="0000FF"/>
                </a:solidFill>
                <a:latin typeface="Times New Roman" pitchFamily="18" charset="0"/>
                <a:ea typeface="微软雅黑" pitchFamily="34" charset="-122"/>
                <a:cs typeface="Times New Roman" pitchFamily="18" charset="0"/>
              </a:rPr>
              <a:t>V</a:t>
            </a:r>
            <a:r>
              <a:rPr lang="zh-CN" altLang="zh-CN" b="1" i="1" baseline="-25000" dirty="0">
                <a:solidFill>
                  <a:srgbClr val="0000FF"/>
                </a:solidFill>
                <a:latin typeface="Times New Roman" pitchFamily="18" charset="0"/>
                <a:ea typeface="微软雅黑" pitchFamily="34" charset="-122"/>
                <a:cs typeface="Times New Roman" pitchFamily="18" charset="0"/>
              </a:rPr>
              <a:t>R</a:t>
            </a:r>
            <a:r>
              <a:rPr lang="zh-CN" altLang="zh-CN" b="1" i="1" dirty="0">
                <a:solidFill>
                  <a:srgbClr val="0000FF"/>
                </a:solidFill>
                <a:latin typeface="Times New Roman" pitchFamily="18" charset="0"/>
                <a:ea typeface="微软雅黑" pitchFamily="34" charset="-122"/>
                <a:cs typeface="Times New Roman" pitchFamily="18" charset="0"/>
              </a:rPr>
              <a:t>&lt;</a:t>
            </a:r>
            <a:r>
              <a:rPr lang="en-US" altLang="zh-CN" b="1" i="1" dirty="0">
                <a:solidFill>
                  <a:srgbClr val="0000FF"/>
                </a:solidFill>
                <a:latin typeface="Times New Roman" pitchFamily="18" charset="0"/>
                <a:ea typeface="微软雅黑" pitchFamily="34" charset="-122"/>
                <a:cs typeface="Times New Roman" pitchFamily="18" charset="0"/>
              </a:rPr>
              <a:t>V</a:t>
            </a:r>
            <a:r>
              <a:rPr lang="zh-CN" altLang="zh-CN" b="1" i="1" baseline="-25000" dirty="0">
                <a:solidFill>
                  <a:srgbClr val="0000FF"/>
                </a:solidFill>
                <a:latin typeface="Times New Roman" pitchFamily="18" charset="0"/>
                <a:ea typeface="微软雅黑" pitchFamily="34" charset="-122"/>
                <a:cs typeface="Times New Roman" pitchFamily="18" charset="0"/>
              </a:rPr>
              <a:t>th</a:t>
            </a:r>
            <a:endParaRPr lang="zh-CN" altLang="zh-CN" sz="4000" b="1" dirty="0">
              <a:latin typeface="Times New Roman" pitchFamily="18" charset="0"/>
              <a:ea typeface="微软雅黑" pitchFamily="34" charset="-122"/>
              <a:cs typeface="Times New Roman" pitchFamily="18" charset="0"/>
            </a:endParaRPr>
          </a:p>
        </p:txBody>
      </p:sp>
      <p:cxnSp>
        <p:nvCxnSpPr>
          <p:cNvPr id="86" name="AutoShape 13">
            <a:extLst>
              <a:ext uri="{FF2B5EF4-FFF2-40B4-BE49-F238E27FC236}">
                <a16:creationId xmlns="" xmlns:a16="http://schemas.microsoft.com/office/drawing/2014/main" id="{59485853-110C-4AC9-B410-83256A8F613F}"/>
              </a:ext>
            </a:extLst>
          </p:cNvPr>
          <p:cNvCxnSpPr>
            <a:cxnSpLocks noChangeShapeType="1"/>
          </p:cNvCxnSpPr>
          <p:nvPr/>
        </p:nvCxnSpPr>
        <p:spPr bwMode="auto">
          <a:xfrm rot="16200000" flipH="1">
            <a:off x="3144415" y="2692701"/>
            <a:ext cx="1738313" cy="333375"/>
          </a:xfrm>
          <a:prstGeom prst="straightConnector1">
            <a:avLst/>
          </a:prstGeom>
          <a:noFill/>
          <a:ln w="38100">
            <a:solidFill>
              <a:srgbClr val="FF33CC"/>
            </a:solidFill>
            <a:round/>
            <a:headEnd/>
            <a:tailEnd type="arrow" w="sm" len="lg"/>
          </a:ln>
        </p:spPr>
      </p:cxnSp>
      <p:sp>
        <p:nvSpPr>
          <p:cNvPr id="36" name="文本框 60">
            <a:extLst>
              <a:ext uri="{FF2B5EF4-FFF2-40B4-BE49-F238E27FC236}">
                <a16:creationId xmlns="" xmlns:a16="http://schemas.microsoft.com/office/drawing/2014/main" id="{09B8647A-5E1B-41A0-A90B-C0CF06CB45CF}"/>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照相机自动曝光控制电路</a:t>
            </a:r>
          </a:p>
        </p:txBody>
      </p:sp>
      <p:sp>
        <p:nvSpPr>
          <p:cNvPr id="37" name="矩形 36">
            <a:extLst>
              <a:ext uri="{FF2B5EF4-FFF2-40B4-BE49-F238E27FC236}">
                <a16:creationId xmlns="" xmlns:a16="http://schemas.microsoft.com/office/drawing/2014/main" id="{C7EE40F0-A47E-45D1-AAEE-DF25EA0B7F76}"/>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38" name="矩形 37">
            <a:extLst>
              <a:ext uri="{FF2B5EF4-FFF2-40B4-BE49-F238E27FC236}">
                <a16:creationId xmlns="" xmlns:a16="http://schemas.microsoft.com/office/drawing/2014/main" id="{D306C308-AFB6-4D56-81A2-B043DCEB3E16}"/>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38">
            <a:extLst>
              <a:ext uri="{FF2B5EF4-FFF2-40B4-BE49-F238E27FC236}">
                <a16:creationId xmlns="" xmlns:a16="http://schemas.microsoft.com/office/drawing/2014/main" id="{54FCECB6-349D-46AE-9B87-D5960347F52D}"/>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1" name="直接连接符 58">
            <a:extLst>
              <a:ext uri="{FF2B5EF4-FFF2-40B4-BE49-F238E27FC236}">
                <a16:creationId xmlns="" xmlns:a16="http://schemas.microsoft.com/office/drawing/2014/main" id="{0AB38D37-34E0-4FE1-A460-8B337B5FFE78}"/>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 xmlns:a16="http://schemas.microsoft.com/office/drawing/2014/main" id="{40AE454E-AEF9-4650-AB46-FFD14F52855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3" name="矩形 42">
            <a:extLst>
              <a:ext uri="{FF2B5EF4-FFF2-40B4-BE49-F238E27FC236}">
                <a16:creationId xmlns="" xmlns:a16="http://schemas.microsoft.com/office/drawing/2014/main" id="{6312B9F0-FFA9-4D16-BCA0-341F9EDCF8FD}"/>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067704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box(in)">
                                      <p:cBhvr>
                                        <p:cTn id="7" dur="5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box(in)">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box(in)">
                                      <p:cBhvr>
                                        <p:cTn id="17" dur="500"/>
                                        <p:tgtEl>
                                          <p:spTgt spid="48"/>
                                        </p:tgtEl>
                                      </p:cBhvr>
                                    </p:animEffect>
                                  </p:childTnLst>
                                </p:cTn>
                              </p:par>
                              <p:par>
                                <p:cTn id="18" presetID="4" presetClass="entr" presetSubtype="16" fill="hold" nodeType="with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box(in)">
                                      <p:cBhvr>
                                        <p:cTn id="20" dur="500"/>
                                        <p:tgtEl>
                                          <p:spTgt spid="49"/>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box(in)">
                                      <p:cBhvr>
                                        <p:cTn id="25" dur="500"/>
                                        <p:tgtEl>
                                          <p:spTgt spid="46"/>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box(in)">
                                      <p:cBhvr>
                                        <p:cTn id="30" dur="500"/>
                                        <p:tgtEl>
                                          <p:spTgt spid="62"/>
                                        </p:tgtEl>
                                      </p:cBhvr>
                                    </p:animEffect>
                                  </p:childTnLst>
                                </p:cTn>
                              </p:par>
                              <p:par>
                                <p:cTn id="31" presetID="4" presetClass="entr" presetSubtype="16" fill="hold" nodeType="with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box(in)">
                                      <p:cBhvr>
                                        <p:cTn id="33" dur="500"/>
                                        <p:tgtEl>
                                          <p:spTgt spid="63"/>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83"/>
                                        </p:tgtEl>
                                        <p:attrNameLst>
                                          <p:attrName>style.visibility</p:attrName>
                                        </p:attrNameLst>
                                      </p:cBhvr>
                                      <p:to>
                                        <p:strVal val="visible"/>
                                      </p:to>
                                    </p:set>
                                    <p:animEffect transition="in" filter="box(in)">
                                      <p:cBhvr>
                                        <p:cTn id="38" dur="500"/>
                                        <p:tgtEl>
                                          <p:spTgt spid="83"/>
                                        </p:tgtEl>
                                      </p:cBhvr>
                                    </p:animEffect>
                                  </p:childTnLst>
                                </p:cTn>
                              </p:par>
                              <p:par>
                                <p:cTn id="39" presetID="4" presetClass="entr" presetSubtype="16" fill="hold" nodeType="withEffect">
                                  <p:stCondLst>
                                    <p:cond delay="0"/>
                                  </p:stCondLst>
                                  <p:childTnLst>
                                    <p:set>
                                      <p:cBhvr>
                                        <p:cTn id="40" dur="1" fill="hold">
                                          <p:stCondLst>
                                            <p:cond delay="0"/>
                                          </p:stCondLst>
                                        </p:cTn>
                                        <p:tgtEl>
                                          <p:spTgt spid="84"/>
                                        </p:tgtEl>
                                        <p:attrNameLst>
                                          <p:attrName>style.visibility</p:attrName>
                                        </p:attrNameLst>
                                      </p:cBhvr>
                                      <p:to>
                                        <p:strVal val="visible"/>
                                      </p:to>
                                    </p:set>
                                    <p:animEffect transition="in" filter="box(in)">
                                      <p:cBhvr>
                                        <p:cTn id="41" dur="500"/>
                                        <p:tgtEl>
                                          <p:spTgt spid="84"/>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nodeType="clickEffect">
                                  <p:stCondLst>
                                    <p:cond delay="0"/>
                                  </p:stCondLst>
                                  <p:childTnLst>
                                    <p:set>
                                      <p:cBhvr>
                                        <p:cTn id="45" dur="1" fill="hold">
                                          <p:stCondLst>
                                            <p:cond delay="0"/>
                                          </p:stCondLst>
                                        </p:cTn>
                                        <p:tgtEl>
                                          <p:spTgt spid="86"/>
                                        </p:tgtEl>
                                        <p:attrNameLst>
                                          <p:attrName>style.visibility</p:attrName>
                                        </p:attrNameLst>
                                      </p:cBhvr>
                                      <p:to>
                                        <p:strVal val="visible"/>
                                      </p:to>
                                    </p:set>
                                    <p:animEffect transition="in" filter="box(in)">
                                      <p:cBhvr>
                                        <p:cTn id="46" dur="500"/>
                                        <p:tgtEl>
                                          <p:spTgt spid="86"/>
                                        </p:tgtEl>
                                      </p:cBhvr>
                                    </p:animEffect>
                                  </p:childTnLst>
                                </p:cTn>
                              </p:par>
                              <p:par>
                                <p:cTn id="47" presetID="4" presetClass="entr" presetSubtype="16" fill="hold" grpId="0" nodeType="withEffect">
                                  <p:stCondLst>
                                    <p:cond delay="0"/>
                                  </p:stCondLst>
                                  <p:childTnLst>
                                    <p:set>
                                      <p:cBhvr>
                                        <p:cTn id="48" dur="1" fill="hold">
                                          <p:stCondLst>
                                            <p:cond delay="0"/>
                                          </p:stCondLst>
                                        </p:cTn>
                                        <p:tgtEl>
                                          <p:spTgt spid="85"/>
                                        </p:tgtEl>
                                        <p:attrNameLst>
                                          <p:attrName>style.visibility</p:attrName>
                                        </p:attrNameLst>
                                      </p:cBhvr>
                                      <p:to>
                                        <p:strVal val="visible"/>
                                      </p:to>
                                    </p:set>
                                    <p:animEffect transition="in" filter="box(in)">
                                      <p:cBhvr>
                                        <p:cTn id="49" dur="500"/>
                                        <p:tgtEl>
                                          <p:spTgt spid="85"/>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16" fill="hold" nodeType="click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box(in)">
                                      <p:cBhvr>
                                        <p:cTn id="54" dur="500"/>
                                        <p:tgtEl>
                                          <p:spTgt spid="50"/>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16" fill="hold" nodeType="click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box(in)">
                                      <p:cBhvr>
                                        <p:cTn id="59" dur="500"/>
                                        <p:tgtEl>
                                          <p:spTgt spid="57"/>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16" fill="hold" nodeType="click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box(in)">
                                      <p:cBhvr>
                                        <p:cTn id="64" dur="500"/>
                                        <p:tgtEl>
                                          <p:spTgt spid="53"/>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16" fill="hold" nodeType="click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box(in)">
                                      <p:cBhvr>
                                        <p:cTn id="69" dur="500"/>
                                        <p:tgtEl>
                                          <p:spTgt spid="61"/>
                                        </p:tgtEl>
                                      </p:cBhvr>
                                    </p:animEffect>
                                  </p:childTnLst>
                                </p:cTn>
                              </p:par>
                              <p:par>
                                <p:cTn id="70" presetID="4" presetClass="entr" presetSubtype="16"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box(in)">
                                      <p:cBhvr>
                                        <p:cTn id="72" dur="500"/>
                                        <p:tgtEl>
                                          <p:spTgt spid="60"/>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6" fill="hold" grpId="0" nodeType="clickEffect">
                                  <p:stCondLst>
                                    <p:cond delay="0"/>
                                  </p:stCondLst>
                                  <p:childTnLst>
                                    <p:set>
                                      <p:cBhvr>
                                        <p:cTn id="76" dur="1" fill="hold">
                                          <p:stCondLst>
                                            <p:cond delay="0"/>
                                          </p:stCondLst>
                                        </p:cTn>
                                        <p:tgtEl>
                                          <p:spTgt spid="81"/>
                                        </p:tgtEl>
                                        <p:attrNameLst>
                                          <p:attrName>style.visibility</p:attrName>
                                        </p:attrNameLst>
                                      </p:cBhvr>
                                      <p:to>
                                        <p:strVal val="visible"/>
                                      </p:to>
                                    </p:set>
                                    <p:animEffect transition="in" filter="barn(inHorizontal)">
                                      <p:cBhvr>
                                        <p:cTn id="77" dur="500"/>
                                        <p:tgtEl>
                                          <p:spTgt spid="81"/>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16" fill="hold" nodeType="clickEffect">
                                  <p:stCondLst>
                                    <p:cond delay="0"/>
                                  </p:stCondLst>
                                  <p:childTnLst>
                                    <p:set>
                                      <p:cBhvr>
                                        <p:cTn id="81" dur="1" fill="hold">
                                          <p:stCondLst>
                                            <p:cond delay="0"/>
                                          </p:stCondLst>
                                        </p:cTn>
                                        <p:tgtEl>
                                          <p:spTgt spid="64"/>
                                        </p:tgtEl>
                                        <p:attrNameLst>
                                          <p:attrName>style.visibility</p:attrName>
                                        </p:attrNameLst>
                                      </p:cBhvr>
                                      <p:to>
                                        <p:strVal val="visible"/>
                                      </p:to>
                                    </p:set>
                                    <p:animEffect transition="in" filter="box(in)">
                                      <p:cBhvr>
                                        <p:cTn id="8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60" grpId="0" animBg="1"/>
      <p:bldP spid="62" grpId="0" animBg="1"/>
      <p:bldP spid="81" grpId="0" animBg="1"/>
      <p:bldP spid="82" grpId="0" animBg="1"/>
      <p:bldP spid="83" grpId="0"/>
      <p:bldP spid="8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
            <a:extLst>
              <a:ext uri="{FF2B5EF4-FFF2-40B4-BE49-F238E27FC236}">
                <a16:creationId xmlns="" xmlns:a16="http://schemas.microsoft.com/office/drawing/2014/main" id="{085EA4B0-CE76-42E5-A1E9-AE1110AF9AAC}"/>
              </a:ext>
            </a:extLst>
          </p:cNvPr>
          <p:cNvGraphicFramePr>
            <a:graphicFrameLocks noChangeAspect="1"/>
          </p:cNvGraphicFramePr>
          <p:nvPr>
            <p:extLst>
              <p:ext uri="{D42A27DB-BD31-4B8C-83A1-F6EECF244321}">
                <p14:modId xmlns:p14="http://schemas.microsoft.com/office/powerpoint/2010/main" val="4246184132"/>
              </p:ext>
            </p:extLst>
          </p:nvPr>
        </p:nvGraphicFramePr>
        <p:xfrm>
          <a:off x="2894013" y="1450808"/>
          <a:ext cx="4125912" cy="3851275"/>
        </p:xfrm>
        <a:graphic>
          <a:graphicData uri="http://schemas.openxmlformats.org/presentationml/2006/ole">
            <mc:AlternateContent xmlns:mc="http://schemas.openxmlformats.org/markup-compatibility/2006">
              <mc:Choice xmlns:v="urn:schemas-microsoft-com:vml" Requires="v">
                <p:oleObj spid="_x0000_s20572" name="Visio" r:id="rId3" imgW="3162315" imgH="2952685" progId="Visio.Drawing.11">
                  <p:embed/>
                </p:oleObj>
              </mc:Choice>
              <mc:Fallback>
                <p:oleObj name="Visio" r:id="rId3" imgW="3162315" imgH="2952685" progId="Visio.Drawing.11">
                  <p:embed/>
                  <p:pic>
                    <p:nvPicPr>
                      <p:cNvPr id="3" name="Object 3"/>
                      <p:cNvPicPr>
                        <a:picLocks noChangeAspect="1" noChangeArrowheads="1"/>
                      </p:cNvPicPr>
                      <p:nvPr/>
                    </p:nvPicPr>
                    <p:blipFill>
                      <a:blip r:embed="rId4"/>
                      <a:srcRect/>
                      <a:stretch>
                        <a:fillRect/>
                      </a:stretch>
                    </p:blipFill>
                    <p:spPr bwMode="auto">
                      <a:xfrm>
                        <a:off x="2894013" y="1450808"/>
                        <a:ext cx="4125912" cy="3851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Text Box 12">
            <a:extLst>
              <a:ext uri="{FF2B5EF4-FFF2-40B4-BE49-F238E27FC236}">
                <a16:creationId xmlns="" xmlns:a16="http://schemas.microsoft.com/office/drawing/2014/main" id="{27E49831-8AAE-498C-AF39-F5503312930F}"/>
              </a:ext>
            </a:extLst>
          </p:cNvPr>
          <p:cNvSpPr txBox="1">
            <a:spLocks noChangeArrowheads="1"/>
          </p:cNvSpPr>
          <p:nvPr/>
        </p:nvSpPr>
        <p:spPr bwMode="auto">
          <a:xfrm>
            <a:off x="1687760" y="3748563"/>
            <a:ext cx="1516197" cy="452739"/>
          </a:xfrm>
          <a:prstGeom prst="rect">
            <a:avLst/>
          </a:prstGeom>
          <a:solidFill>
            <a:srgbClr val="FFFFFF"/>
          </a:solidFill>
          <a:ln w="12700">
            <a:solidFill>
              <a:srgbClr val="FFFFFF"/>
            </a:solidFill>
            <a:miter lim="800000"/>
            <a:headEnd/>
            <a:tailEnd/>
          </a:ln>
        </p:spPr>
        <p:txBody>
          <a:bodyPr lIns="0" tIns="0" rIns="0" bIns="0"/>
          <a:lstStyle/>
          <a:p>
            <a:pPr algn="just" defTabSz="914400"/>
            <a:r>
              <a:rPr lang="en-US" altLang="zh-CN" sz="2400" b="1" dirty="0">
                <a:solidFill>
                  <a:srgbClr val="FF0000"/>
                </a:solidFill>
                <a:latin typeface="Times New Roman" pitchFamily="18" charset="0"/>
                <a:ea typeface="微软雅黑" pitchFamily="34" charset="-122"/>
                <a:cs typeface="Times New Roman" pitchFamily="18" charset="0"/>
              </a:rPr>
              <a:t>K1</a:t>
            </a:r>
            <a:r>
              <a:rPr lang="zh-CN" altLang="en-US" sz="2400" b="1" dirty="0">
                <a:solidFill>
                  <a:srgbClr val="FF0000"/>
                </a:solidFill>
                <a:latin typeface="Times New Roman" pitchFamily="18" charset="0"/>
                <a:ea typeface="微软雅黑" pitchFamily="34" charset="-122"/>
                <a:cs typeface="Times New Roman" pitchFamily="18" charset="0"/>
              </a:rPr>
              <a:t>断</a:t>
            </a:r>
            <a:r>
              <a:rPr lang="en-US" altLang="zh-CN" sz="2400" b="1" dirty="0">
                <a:solidFill>
                  <a:srgbClr val="FF0000"/>
                </a:solidFill>
                <a:latin typeface="Times New Roman" pitchFamily="18" charset="0"/>
                <a:ea typeface="微软雅黑" pitchFamily="34" charset="-122"/>
                <a:cs typeface="Times New Roman" pitchFamily="18" charset="0"/>
              </a:rPr>
              <a:t>K2</a:t>
            </a:r>
            <a:r>
              <a:rPr lang="zh-CN" altLang="en-US" sz="2400" b="1" dirty="0">
                <a:solidFill>
                  <a:srgbClr val="FF0000"/>
                </a:solidFill>
                <a:latin typeface="Times New Roman" pitchFamily="18" charset="0"/>
                <a:ea typeface="微软雅黑" pitchFamily="34" charset="-122"/>
                <a:cs typeface="Times New Roman" pitchFamily="18" charset="0"/>
              </a:rPr>
              <a:t>合</a:t>
            </a:r>
          </a:p>
        </p:txBody>
      </p:sp>
      <p:cxnSp>
        <p:nvCxnSpPr>
          <p:cNvPr id="38" name="AutoShape 13">
            <a:extLst>
              <a:ext uri="{FF2B5EF4-FFF2-40B4-BE49-F238E27FC236}">
                <a16:creationId xmlns="" xmlns:a16="http://schemas.microsoft.com/office/drawing/2014/main" id="{A4DFB098-F249-4320-AEE3-26C2BDF0A261}"/>
              </a:ext>
            </a:extLst>
          </p:cNvPr>
          <p:cNvCxnSpPr>
            <a:cxnSpLocks noChangeShapeType="1"/>
            <a:stCxn id="37" idx="3"/>
          </p:cNvCxnSpPr>
          <p:nvPr/>
        </p:nvCxnSpPr>
        <p:spPr bwMode="auto">
          <a:xfrm>
            <a:off x="3203957" y="3974933"/>
            <a:ext cx="621443" cy="1588"/>
          </a:xfrm>
          <a:prstGeom prst="straightConnector1">
            <a:avLst/>
          </a:prstGeom>
          <a:noFill/>
          <a:ln w="38100">
            <a:solidFill>
              <a:srgbClr val="FF33CC"/>
            </a:solidFill>
            <a:round/>
            <a:headEnd/>
            <a:tailEnd type="arrow" w="sm" len="lg"/>
          </a:ln>
        </p:spPr>
      </p:cxnSp>
      <p:grpSp>
        <p:nvGrpSpPr>
          <p:cNvPr id="39" name="组合 5">
            <a:extLst>
              <a:ext uri="{FF2B5EF4-FFF2-40B4-BE49-F238E27FC236}">
                <a16:creationId xmlns="" xmlns:a16="http://schemas.microsoft.com/office/drawing/2014/main" id="{BD438282-D9DD-4CF0-8EB8-9185D7F48E92}"/>
              </a:ext>
            </a:extLst>
          </p:cNvPr>
          <p:cNvGrpSpPr>
            <a:grpSpLocks/>
          </p:cNvGrpSpPr>
          <p:nvPr/>
        </p:nvGrpSpPr>
        <p:grpSpPr bwMode="auto">
          <a:xfrm>
            <a:off x="4847750" y="3620921"/>
            <a:ext cx="1555750" cy="1866900"/>
            <a:chOff x="2705100" y="4184650"/>
            <a:chExt cx="1555750" cy="1866900"/>
          </a:xfrm>
        </p:grpSpPr>
        <p:sp>
          <p:nvSpPr>
            <p:cNvPr id="41" name="Text Box 12">
              <a:extLst>
                <a:ext uri="{FF2B5EF4-FFF2-40B4-BE49-F238E27FC236}">
                  <a16:creationId xmlns="" xmlns:a16="http://schemas.microsoft.com/office/drawing/2014/main" id="{DFD116C8-9E58-4537-9F37-2C8B0AE482A6}"/>
                </a:ext>
              </a:extLst>
            </p:cNvPr>
            <p:cNvSpPr txBox="1">
              <a:spLocks noChangeArrowheads="1"/>
            </p:cNvSpPr>
            <p:nvPr/>
          </p:nvSpPr>
          <p:spPr bwMode="auto">
            <a:xfrm>
              <a:off x="2705100" y="5562600"/>
              <a:ext cx="1555750" cy="488950"/>
            </a:xfrm>
            <a:prstGeom prst="rect">
              <a:avLst/>
            </a:prstGeom>
            <a:solidFill>
              <a:srgbClr val="FFFFFF"/>
            </a:solidFill>
            <a:ln w="12700">
              <a:solidFill>
                <a:srgbClr val="FFFFFF"/>
              </a:solidFill>
              <a:miter lim="800000"/>
              <a:headEnd/>
              <a:tailEnd/>
            </a:ln>
          </p:spPr>
          <p:txBody>
            <a:bodyPr lIns="0" tIns="0" rIns="0" bIns="0"/>
            <a:lstStyle/>
            <a:p>
              <a:pPr algn="ctr" defTabSz="914400"/>
              <a:r>
                <a:rPr lang="en-US" altLang="zh-CN" sz="2400" b="1">
                  <a:solidFill>
                    <a:srgbClr val="FF0000"/>
                  </a:solidFill>
                  <a:latin typeface="Times New Roman" pitchFamily="18" charset="0"/>
                  <a:ea typeface="微软雅黑" pitchFamily="34" charset="-122"/>
                  <a:cs typeface="Times New Roman" pitchFamily="18" charset="0"/>
                </a:rPr>
                <a:t>V</a:t>
              </a:r>
              <a:r>
                <a:rPr lang="en-US" altLang="zh-CN" sz="2400" b="1" baseline="-25000">
                  <a:solidFill>
                    <a:srgbClr val="FF0000"/>
                  </a:solidFill>
                  <a:latin typeface="Times New Roman" pitchFamily="18" charset="0"/>
                  <a:ea typeface="微软雅黑" pitchFamily="34" charset="-122"/>
                  <a:cs typeface="Times New Roman" pitchFamily="18" charset="0"/>
                </a:rPr>
                <a:t>-</a:t>
              </a:r>
              <a:r>
                <a:rPr lang="en-US" altLang="zh-CN" sz="2400" b="1">
                  <a:solidFill>
                    <a:srgbClr val="FF0000"/>
                  </a:solidFill>
                  <a:latin typeface="Times New Roman" pitchFamily="18" charset="0"/>
                  <a:ea typeface="微软雅黑" pitchFamily="34" charset="-122"/>
                  <a:cs typeface="Times New Roman" pitchFamily="18" charset="0"/>
                </a:rPr>
                <a:t>&gt;V</a:t>
              </a:r>
              <a:r>
                <a:rPr lang="en-US" altLang="zh-CN" sz="2400" b="1" baseline="-25000">
                  <a:solidFill>
                    <a:srgbClr val="FF0000"/>
                  </a:solidFill>
                  <a:latin typeface="Times New Roman" pitchFamily="18" charset="0"/>
                  <a:ea typeface="微软雅黑" pitchFamily="34" charset="-122"/>
                  <a:cs typeface="Times New Roman" pitchFamily="18" charset="0"/>
                </a:rPr>
                <a:t>+</a:t>
              </a:r>
              <a:r>
                <a:rPr lang="zh-CN" altLang="en-US" sz="2400" b="1">
                  <a:solidFill>
                    <a:srgbClr val="FF0000"/>
                  </a:solidFill>
                  <a:latin typeface="Times New Roman" pitchFamily="18" charset="0"/>
                  <a:ea typeface="微软雅黑" pitchFamily="34" charset="-122"/>
                  <a:cs typeface="Times New Roman" pitchFamily="18" charset="0"/>
                </a:rPr>
                <a:t>输出低电平</a:t>
              </a:r>
            </a:p>
          </p:txBody>
        </p:sp>
        <p:cxnSp>
          <p:nvCxnSpPr>
            <p:cNvPr id="42" name="AutoShape 13">
              <a:extLst>
                <a:ext uri="{FF2B5EF4-FFF2-40B4-BE49-F238E27FC236}">
                  <a16:creationId xmlns="" xmlns:a16="http://schemas.microsoft.com/office/drawing/2014/main" id="{E17C1590-294C-448A-99A0-C0524D2D8CFB}"/>
                </a:ext>
              </a:extLst>
            </p:cNvPr>
            <p:cNvCxnSpPr>
              <a:cxnSpLocks noChangeShapeType="1"/>
              <a:stCxn id="41" idx="0"/>
            </p:cNvCxnSpPr>
            <p:nvPr/>
          </p:nvCxnSpPr>
          <p:spPr bwMode="auto">
            <a:xfrm rot="16200000" flipV="1">
              <a:off x="2786063" y="4865687"/>
              <a:ext cx="1377950" cy="15875"/>
            </a:xfrm>
            <a:prstGeom prst="straightConnector1">
              <a:avLst/>
            </a:prstGeom>
            <a:noFill/>
            <a:ln w="38100">
              <a:solidFill>
                <a:srgbClr val="FF33CC"/>
              </a:solidFill>
              <a:round/>
              <a:headEnd/>
              <a:tailEnd type="arrow" w="sm" len="lg"/>
            </a:ln>
          </p:spPr>
        </p:cxnSp>
      </p:grpSp>
      <p:grpSp>
        <p:nvGrpSpPr>
          <p:cNvPr id="43" name="组合 8">
            <a:extLst>
              <a:ext uri="{FF2B5EF4-FFF2-40B4-BE49-F238E27FC236}">
                <a16:creationId xmlns="" xmlns:a16="http://schemas.microsoft.com/office/drawing/2014/main" id="{72A02261-F69E-46F4-8097-45CB26BA0002}"/>
              </a:ext>
            </a:extLst>
          </p:cNvPr>
          <p:cNvGrpSpPr>
            <a:grpSpLocks/>
          </p:cNvGrpSpPr>
          <p:nvPr/>
        </p:nvGrpSpPr>
        <p:grpSpPr bwMode="auto">
          <a:xfrm>
            <a:off x="6581300" y="2598571"/>
            <a:ext cx="1333500" cy="400050"/>
            <a:chOff x="4438650" y="3162300"/>
            <a:chExt cx="1333500" cy="400050"/>
          </a:xfrm>
        </p:grpSpPr>
        <p:sp>
          <p:nvSpPr>
            <p:cNvPr id="44" name="Text Box 12">
              <a:extLst>
                <a:ext uri="{FF2B5EF4-FFF2-40B4-BE49-F238E27FC236}">
                  <a16:creationId xmlns="" xmlns:a16="http://schemas.microsoft.com/office/drawing/2014/main" id="{8F3791F2-33C0-44E2-B531-9A8D7942A865}"/>
                </a:ext>
              </a:extLst>
            </p:cNvPr>
            <p:cNvSpPr txBox="1">
              <a:spLocks noChangeArrowheads="1"/>
            </p:cNvSpPr>
            <p:nvPr/>
          </p:nvSpPr>
          <p:spPr bwMode="auto">
            <a:xfrm>
              <a:off x="4749800" y="3162300"/>
              <a:ext cx="1022350" cy="4000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FF0000"/>
                  </a:solidFill>
                  <a:latin typeface="Times New Roman" pitchFamily="18" charset="0"/>
                  <a:ea typeface="微软雅黑" pitchFamily="34" charset="-122"/>
                  <a:cs typeface="Times New Roman" pitchFamily="18" charset="0"/>
                </a:rPr>
                <a:t>电磁铁无电</a:t>
              </a:r>
            </a:p>
          </p:txBody>
        </p:sp>
        <p:cxnSp>
          <p:nvCxnSpPr>
            <p:cNvPr id="45" name="AutoShape 13">
              <a:extLst>
                <a:ext uri="{FF2B5EF4-FFF2-40B4-BE49-F238E27FC236}">
                  <a16:creationId xmlns="" xmlns:a16="http://schemas.microsoft.com/office/drawing/2014/main" id="{2CF04037-68AB-425B-977D-52C2956E2786}"/>
                </a:ext>
              </a:extLst>
            </p:cNvPr>
            <p:cNvCxnSpPr>
              <a:cxnSpLocks noChangeShapeType="1"/>
            </p:cNvCxnSpPr>
            <p:nvPr/>
          </p:nvCxnSpPr>
          <p:spPr bwMode="auto">
            <a:xfrm rot="10800000">
              <a:off x="4438650" y="3429000"/>
              <a:ext cx="400050" cy="1588"/>
            </a:xfrm>
            <a:prstGeom prst="straightConnector1">
              <a:avLst/>
            </a:prstGeom>
            <a:noFill/>
            <a:ln w="38100">
              <a:solidFill>
                <a:srgbClr val="FF33CC"/>
              </a:solidFill>
              <a:round/>
              <a:headEnd/>
              <a:tailEnd type="arrow" w="sm" len="lg"/>
            </a:ln>
          </p:spPr>
        </p:cxnSp>
      </p:grpSp>
      <p:grpSp>
        <p:nvGrpSpPr>
          <p:cNvPr id="65" name="组合 11">
            <a:extLst>
              <a:ext uri="{FF2B5EF4-FFF2-40B4-BE49-F238E27FC236}">
                <a16:creationId xmlns="" xmlns:a16="http://schemas.microsoft.com/office/drawing/2014/main" id="{0B5F0C4E-592A-4911-9DE4-EC361FFC4E81}"/>
              </a:ext>
            </a:extLst>
          </p:cNvPr>
          <p:cNvGrpSpPr>
            <a:grpSpLocks/>
          </p:cNvGrpSpPr>
          <p:nvPr/>
        </p:nvGrpSpPr>
        <p:grpSpPr bwMode="auto">
          <a:xfrm>
            <a:off x="6403500" y="3309771"/>
            <a:ext cx="1466850" cy="400050"/>
            <a:chOff x="4305300" y="3784600"/>
            <a:chExt cx="1466850" cy="400050"/>
          </a:xfrm>
        </p:grpSpPr>
        <p:sp>
          <p:nvSpPr>
            <p:cNvPr id="66" name="Text Box 12">
              <a:extLst>
                <a:ext uri="{FF2B5EF4-FFF2-40B4-BE49-F238E27FC236}">
                  <a16:creationId xmlns="" xmlns:a16="http://schemas.microsoft.com/office/drawing/2014/main" id="{57C5629C-2A59-4D6E-AEF7-D96F0BF6E1CF}"/>
                </a:ext>
              </a:extLst>
            </p:cNvPr>
            <p:cNvSpPr txBox="1">
              <a:spLocks noChangeArrowheads="1"/>
            </p:cNvSpPr>
            <p:nvPr/>
          </p:nvSpPr>
          <p:spPr bwMode="auto">
            <a:xfrm>
              <a:off x="4749800" y="3784600"/>
              <a:ext cx="1022350" cy="40005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FF0000"/>
                  </a:solidFill>
                  <a:latin typeface="Times New Roman" pitchFamily="18" charset="0"/>
                  <a:ea typeface="微软雅黑" pitchFamily="34" charset="-122"/>
                  <a:cs typeface="Times New Roman" pitchFamily="18" charset="0"/>
                </a:rPr>
                <a:t>三极管截止</a:t>
              </a:r>
            </a:p>
          </p:txBody>
        </p:sp>
        <p:cxnSp>
          <p:nvCxnSpPr>
            <p:cNvPr id="67" name="AutoShape 13">
              <a:extLst>
                <a:ext uri="{FF2B5EF4-FFF2-40B4-BE49-F238E27FC236}">
                  <a16:creationId xmlns="" xmlns:a16="http://schemas.microsoft.com/office/drawing/2014/main" id="{19B0A933-3C48-453D-9581-8DAFAD747D56}"/>
                </a:ext>
              </a:extLst>
            </p:cNvPr>
            <p:cNvCxnSpPr>
              <a:cxnSpLocks noChangeShapeType="1"/>
            </p:cNvCxnSpPr>
            <p:nvPr/>
          </p:nvCxnSpPr>
          <p:spPr bwMode="auto">
            <a:xfrm rot="10800000">
              <a:off x="4305300" y="4006850"/>
              <a:ext cx="400050" cy="1588"/>
            </a:xfrm>
            <a:prstGeom prst="straightConnector1">
              <a:avLst/>
            </a:prstGeom>
            <a:noFill/>
            <a:ln w="38100">
              <a:solidFill>
                <a:srgbClr val="FF33CC"/>
              </a:solidFill>
              <a:round/>
              <a:headEnd/>
              <a:tailEnd type="arrow" w="sm" len="lg"/>
            </a:ln>
          </p:spPr>
        </p:cxnSp>
      </p:grpSp>
      <p:sp>
        <p:nvSpPr>
          <p:cNvPr id="68" name="Text Box 12">
            <a:extLst>
              <a:ext uri="{FF2B5EF4-FFF2-40B4-BE49-F238E27FC236}">
                <a16:creationId xmlns="" xmlns:a16="http://schemas.microsoft.com/office/drawing/2014/main" id="{399AE808-D41B-4D86-A4AF-0243BA4FD833}"/>
              </a:ext>
            </a:extLst>
          </p:cNvPr>
          <p:cNvSpPr txBox="1">
            <a:spLocks noChangeArrowheads="1"/>
          </p:cNvSpPr>
          <p:nvPr/>
        </p:nvSpPr>
        <p:spPr bwMode="auto">
          <a:xfrm>
            <a:off x="7640162" y="983742"/>
            <a:ext cx="431165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Times New Roman" pitchFamily="18" charset="0"/>
                <a:ea typeface="微软雅黑" pitchFamily="34" charset="-122"/>
                <a:cs typeface="Times New Roman" pitchFamily="18" charset="0"/>
              </a:rPr>
              <a:t>电磁铁无磁性，后帘在弹簧的作用下向右运动，光孔偏离光轴</a:t>
            </a:r>
          </a:p>
        </p:txBody>
      </p:sp>
      <p:cxnSp>
        <p:nvCxnSpPr>
          <p:cNvPr id="69" name="AutoShape 13">
            <a:extLst>
              <a:ext uri="{FF2B5EF4-FFF2-40B4-BE49-F238E27FC236}">
                <a16:creationId xmlns="" xmlns:a16="http://schemas.microsoft.com/office/drawing/2014/main" id="{D049CC6A-353E-4E01-8F66-01087581CABB}"/>
              </a:ext>
            </a:extLst>
          </p:cNvPr>
          <p:cNvCxnSpPr>
            <a:cxnSpLocks noChangeShapeType="1"/>
          </p:cNvCxnSpPr>
          <p:nvPr/>
        </p:nvCxnSpPr>
        <p:spPr bwMode="auto">
          <a:xfrm rot="16200000" flipH="1">
            <a:off x="9607075" y="1906722"/>
            <a:ext cx="800100" cy="511175"/>
          </a:xfrm>
          <a:prstGeom prst="straightConnector1">
            <a:avLst/>
          </a:prstGeom>
          <a:noFill/>
          <a:ln w="38100">
            <a:solidFill>
              <a:srgbClr val="FF33CC"/>
            </a:solidFill>
            <a:round/>
            <a:headEnd/>
            <a:tailEnd type="arrow" w="sm" len="lg"/>
          </a:ln>
        </p:spPr>
      </p:cxnSp>
      <p:sp>
        <p:nvSpPr>
          <p:cNvPr id="70" name="Text Box 12">
            <a:extLst>
              <a:ext uri="{FF2B5EF4-FFF2-40B4-BE49-F238E27FC236}">
                <a16:creationId xmlns="" xmlns:a16="http://schemas.microsoft.com/office/drawing/2014/main" id="{2188A324-46D0-43AE-99AC-EF8140BEB5B4}"/>
              </a:ext>
            </a:extLst>
          </p:cNvPr>
          <p:cNvSpPr txBox="1">
            <a:spLocks noChangeArrowheads="1"/>
          </p:cNvSpPr>
          <p:nvPr/>
        </p:nvSpPr>
        <p:spPr bwMode="auto">
          <a:xfrm>
            <a:off x="6957537" y="4670077"/>
            <a:ext cx="2838450" cy="1200149"/>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dirty="0">
                <a:solidFill>
                  <a:srgbClr val="0000FF"/>
                </a:solidFill>
                <a:latin typeface="Times New Roman" pitchFamily="18" charset="0"/>
                <a:ea typeface="微软雅黑" pitchFamily="34" charset="-122"/>
                <a:cs typeface="Times New Roman" pitchFamily="18" charset="0"/>
              </a:rPr>
              <a:t>前帘回到左边，被挂钩钩住，光孔偏离光轴上，</a:t>
            </a:r>
            <a:r>
              <a:rPr lang="en-US" altLang="zh-CN" sz="2400" b="1" dirty="0">
                <a:solidFill>
                  <a:srgbClr val="0000FF"/>
                </a:solidFill>
                <a:latin typeface="Times New Roman" pitchFamily="18" charset="0"/>
                <a:ea typeface="微软雅黑" pitchFamily="34" charset="-122"/>
                <a:cs typeface="Times New Roman" pitchFamily="18" charset="0"/>
              </a:rPr>
              <a:t>K2</a:t>
            </a:r>
            <a:r>
              <a:rPr lang="zh-CN" altLang="en-US" sz="2400" b="1" dirty="0">
                <a:solidFill>
                  <a:srgbClr val="0000FF"/>
                </a:solidFill>
                <a:latin typeface="Times New Roman" pitchFamily="18" charset="0"/>
                <a:ea typeface="微软雅黑" pitchFamily="34" charset="-122"/>
                <a:cs typeface="Times New Roman" pitchFamily="18" charset="0"/>
              </a:rPr>
              <a:t>断</a:t>
            </a:r>
            <a:r>
              <a:rPr lang="en-US" altLang="zh-CN" sz="2400" b="1" dirty="0">
                <a:solidFill>
                  <a:srgbClr val="0000FF"/>
                </a:solidFill>
                <a:latin typeface="Times New Roman" pitchFamily="18" charset="0"/>
                <a:ea typeface="微软雅黑" pitchFamily="34" charset="-122"/>
                <a:cs typeface="Times New Roman" pitchFamily="18" charset="0"/>
              </a:rPr>
              <a:t>K1</a:t>
            </a:r>
            <a:r>
              <a:rPr lang="zh-CN" altLang="en-US" sz="2400" b="1" dirty="0">
                <a:solidFill>
                  <a:srgbClr val="0000FF"/>
                </a:solidFill>
                <a:latin typeface="Times New Roman" pitchFamily="18" charset="0"/>
                <a:ea typeface="微软雅黑" pitchFamily="34" charset="-122"/>
                <a:cs typeface="Times New Roman" pitchFamily="18" charset="0"/>
              </a:rPr>
              <a:t>合</a:t>
            </a:r>
          </a:p>
        </p:txBody>
      </p:sp>
      <p:cxnSp>
        <p:nvCxnSpPr>
          <p:cNvPr id="71" name="AutoShape 13">
            <a:extLst>
              <a:ext uri="{FF2B5EF4-FFF2-40B4-BE49-F238E27FC236}">
                <a16:creationId xmlns="" xmlns:a16="http://schemas.microsoft.com/office/drawing/2014/main" id="{4145B797-016B-4594-800B-A4A4434DAB55}"/>
              </a:ext>
            </a:extLst>
          </p:cNvPr>
          <p:cNvCxnSpPr>
            <a:cxnSpLocks noChangeShapeType="1"/>
          </p:cNvCxnSpPr>
          <p:nvPr/>
        </p:nvCxnSpPr>
        <p:spPr bwMode="auto">
          <a:xfrm flipV="1">
            <a:off x="9462612" y="4073660"/>
            <a:ext cx="666750" cy="533400"/>
          </a:xfrm>
          <a:prstGeom prst="straightConnector1">
            <a:avLst/>
          </a:prstGeom>
          <a:noFill/>
          <a:ln w="38100">
            <a:solidFill>
              <a:srgbClr val="FF33CC"/>
            </a:solidFill>
            <a:round/>
            <a:headEnd/>
            <a:tailEnd type="arrow" w="sm" len="lg"/>
          </a:ln>
        </p:spPr>
      </p:cxnSp>
      <p:grpSp>
        <p:nvGrpSpPr>
          <p:cNvPr id="72" name="组合 18">
            <a:extLst>
              <a:ext uri="{FF2B5EF4-FFF2-40B4-BE49-F238E27FC236}">
                <a16:creationId xmlns="" xmlns:a16="http://schemas.microsoft.com/office/drawing/2014/main" id="{5C890392-BA82-4C29-A7B4-54BAAE0666C0}"/>
              </a:ext>
            </a:extLst>
          </p:cNvPr>
          <p:cNvGrpSpPr>
            <a:grpSpLocks/>
          </p:cNvGrpSpPr>
          <p:nvPr/>
        </p:nvGrpSpPr>
        <p:grpSpPr bwMode="auto">
          <a:xfrm>
            <a:off x="10440512" y="4873760"/>
            <a:ext cx="1689100" cy="1111250"/>
            <a:chOff x="7061200" y="5429250"/>
            <a:chExt cx="1689100" cy="1111250"/>
          </a:xfrm>
        </p:grpSpPr>
        <p:sp>
          <p:nvSpPr>
            <p:cNvPr id="73" name="Text Box 12">
              <a:extLst>
                <a:ext uri="{FF2B5EF4-FFF2-40B4-BE49-F238E27FC236}">
                  <a16:creationId xmlns="" xmlns:a16="http://schemas.microsoft.com/office/drawing/2014/main" id="{95101B96-B08A-48CD-8B72-E3879A592C91}"/>
                </a:ext>
              </a:extLst>
            </p:cNvPr>
            <p:cNvSpPr txBox="1">
              <a:spLocks noChangeArrowheads="1"/>
            </p:cNvSpPr>
            <p:nvPr/>
          </p:nvSpPr>
          <p:spPr bwMode="auto">
            <a:xfrm>
              <a:off x="7061200" y="5740400"/>
              <a:ext cx="1689100" cy="800100"/>
            </a:xfrm>
            <a:prstGeom prst="rect">
              <a:avLst/>
            </a:prstGeom>
            <a:solidFill>
              <a:srgbClr val="FFFFFF"/>
            </a:solidFill>
            <a:ln w="12700">
              <a:solidFill>
                <a:srgbClr val="FFFFFF"/>
              </a:solidFill>
              <a:miter lim="800000"/>
              <a:headEnd/>
              <a:tailEnd/>
            </a:ln>
          </p:spPr>
          <p:txBody>
            <a:bodyPr lIns="0" tIns="0" rIns="0" bIns="0"/>
            <a:lstStyle/>
            <a:p>
              <a:pPr algn="ctr" defTabSz="914400"/>
              <a:r>
                <a:rPr lang="zh-CN" altLang="en-US" sz="2400" b="1">
                  <a:solidFill>
                    <a:srgbClr val="0000FF"/>
                  </a:solidFill>
                  <a:latin typeface="Times New Roman" pitchFamily="18" charset="0"/>
                  <a:ea typeface="微软雅黑" pitchFamily="34" charset="-122"/>
                  <a:cs typeface="Times New Roman" pitchFamily="18" charset="0"/>
                </a:rPr>
                <a:t>光线无法达</a:t>
              </a:r>
              <a:r>
                <a:rPr lang="en-US" altLang="zh-CN" sz="2400" b="1">
                  <a:solidFill>
                    <a:srgbClr val="0000FF"/>
                  </a:solidFill>
                  <a:latin typeface="Times New Roman" pitchFamily="18" charset="0"/>
                  <a:ea typeface="微软雅黑" pitchFamily="34" charset="-122"/>
                  <a:cs typeface="Times New Roman" pitchFamily="18" charset="0"/>
                </a:rPr>
                <a:t>CCD/CMOS</a:t>
              </a:r>
              <a:endParaRPr lang="zh-CN" altLang="zh-CN" sz="2400" b="1">
                <a:solidFill>
                  <a:srgbClr val="0000FF"/>
                </a:solidFill>
                <a:latin typeface="Times New Roman" pitchFamily="18" charset="0"/>
                <a:ea typeface="微软雅黑" pitchFamily="34" charset="-122"/>
                <a:cs typeface="Times New Roman" pitchFamily="18" charset="0"/>
              </a:endParaRPr>
            </a:p>
          </p:txBody>
        </p:sp>
        <p:cxnSp>
          <p:nvCxnSpPr>
            <p:cNvPr id="74" name="AutoShape 13">
              <a:extLst>
                <a:ext uri="{FF2B5EF4-FFF2-40B4-BE49-F238E27FC236}">
                  <a16:creationId xmlns="" xmlns:a16="http://schemas.microsoft.com/office/drawing/2014/main" id="{1FC80AC1-D8DA-4732-B799-5EAA6BE39A04}"/>
                </a:ext>
              </a:extLst>
            </p:cNvPr>
            <p:cNvCxnSpPr>
              <a:cxnSpLocks noChangeShapeType="1"/>
            </p:cNvCxnSpPr>
            <p:nvPr/>
          </p:nvCxnSpPr>
          <p:spPr bwMode="auto">
            <a:xfrm rot="5400000" flipH="1" flipV="1">
              <a:off x="7239794" y="5606256"/>
              <a:ext cx="355600" cy="1588"/>
            </a:xfrm>
            <a:prstGeom prst="straightConnector1">
              <a:avLst/>
            </a:prstGeom>
            <a:noFill/>
            <a:ln w="38100">
              <a:solidFill>
                <a:srgbClr val="FF33CC"/>
              </a:solidFill>
              <a:round/>
              <a:headEnd/>
              <a:tailEnd type="arrow" w="sm" len="lg"/>
            </a:ln>
          </p:spPr>
        </p:cxnSp>
      </p:grpSp>
      <p:sp>
        <p:nvSpPr>
          <p:cNvPr id="75" name="TextBox 22">
            <a:extLst>
              <a:ext uri="{FF2B5EF4-FFF2-40B4-BE49-F238E27FC236}">
                <a16:creationId xmlns="" xmlns:a16="http://schemas.microsoft.com/office/drawing/2014/main" id="{9033A1EF-8B3F-4D9B-A11B-3C654530F1E8}"/>
              </a:ext>
            </a:extLst>
          </p:cNvPr>
          <p:cNvSpPr txBox="1">
            <a:spLocks noChangeArrowheads="1"/>
          </p:cNvSpPr>
          <p:nvPr/>
        </p:nvSpPr>
        <p:spPr bwMode="auto">
          <a:xfrm>
            <a:off x="4885559" y="6287921"/>
            <a:ext cx="5022850" cy="523220"/>
          </a:xfrm>
          <a:prstGeom prst="rect">
            <a:avLst/>
          </a:prstGeom>
          <a:solidFill>
            <a:srgbClr val="FFC000"/>
          </a:solidFill>
          <a:ln w="9525">
            <a:noFill/>
            <a:miter lim="800000"/>
            <a:headEnd/>
            <a:tailEnd/>
          </a:ln>
        </p:spPr>
        <p:txBody>
          <a:bodyPr>
            <a:spAutoFit/>
          </a:bodyPr>
          <a:lstStyle/>
          <a:p>
            <a:pPr algn="ctr" defTabSz="914400"/>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800" b="1"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闭合</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800" b="1"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断开，</a:t>
            </a:r>
            <a:r>
              <a:rPr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800" b="1" i="1" baseline="-25000"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sz="2800" b="1" i="1" dirty="0" err="1">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2800" b="1" i="1" baseline="-25000" dirty="0" err="1">
                <a:latin typeface="Times New Roman" panose="02020603050405020304" pitchFamily="18" charset="0"/>
                <a:ea typeface="微软雅黑" panose="020B0503020204020204" pitchFamily="34" charset="-122"/>
                <a:cs typeface="Times New Roman" panose="02020603050405020304" pitchFamily="18" charset="0"/>
              </a:rPr>
              <a:t>th</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76" name="Text Box 10">
            <a:extLst>
              <a:ext uri="{FF2B5EF4-FFF2-40B4-BE49-F238E27FC236}">
                <a16:creationId xmlns="" xmlns:a16="http://schemas.microsoft.com/office/drawing/2014/main" id="{C2E0CE88-700B-4C13-AC85-9B9F892CAE79}"/>
              </a:ext>
            </a:extLst>
          </p:cNvPr>
          <p:cNvSpPr txBox="1">
            <a:spLocks noChangeArrowheads="1"/>
          </p:cNvSpPr>
          <p:nvPr/>
        </p:nvSpPr>
        <p:spPr bwMode="auto">
          <a:xfrm>
            <a:off x="1751394" y="5584960"/>
            <a:ext cx="2370012" cy="977900"/>
          </a:xfrm>
          <a:prstGeom prst="rect">
            <a:avLst/>
          </a:prstGeom>
          <a:noFill/>
          <a:ln w="12700" algn="ctr">
            <a:noFill/>
            <a:miter lim="800000"/>
            <a:headEnd/>
            <a:tailEnd/>
          </a:ln>
        </p:spPr>
        <p:txBody>
          <a:bodyPr lIns="0" tIns="0" rIns="0" bIns="0"/>
          <a:lstStyle/>
          <a:p>
            <a:pPr algn="ctr" defTabSz="914400">
              <a:lnSpc>
                <a:spcPct val="150000"/>
              </a:lnSpc>
            </a:pPr>
            <a:r>
              <a:rPr lang="zh-CN" altLang="en-US" sz="2400" b="1" dirty="0">
                <a:solidFill>
                  <a:srgbClr val="0000FF"/>
                </a:solidFill>
                <a:latin typeface="Times New Roman" pitchFamily="18" charset="0"/>
                <a:ea typeface="微软雅黑" pitchFamily="34" charset="-122"/>
                <a:cs typeface="Times New Roman" pitchFamily="18" charset="0"/>
              </a:rPr>
              <a:t>电容</a:t>
            </a:r>
            <a:r>
              <a:rPr lang="zh-CN" altLang="zh-CN" sz="2400" b="1" dirty="0">
                <a:solidFill>
                  <a:srgbClr val="0000FF"/>
                </a:solidFill>
                <a:latin typeface="Times New Roman" pitchFamily="18" charset="0"/>
                <a:ea typeface="微软雅黑" pitchFamily="34" charset="-122"/>
                <a:cs typeface="Times New Roman" pitchFamily="18" charset="0"/>
              </a:rPr>
              <a:t>C</a:t>
            </a:r>
            <a:r>
              <a:rPr lang="zh-CN" altLang="en-US" sz="2400" b="1" dirty="0">
                <a:solidFill>
                  <a:srgbClr val="0000FF"/>
                </a:solidFill>
                <a:latin typeface="Times New Roman" pitchFamily="18" charset="0"/>
                <a:ea typeface="微软雅黑" pitchFamily="34" charset="-122"/>
                <a:cs typeface="Times New Roman" pitchFamily="18" charset="0"/>
              </a:rPr>
              <a:t>充电，</a:t>
            </a:r>
            <a:r>
              <a:rPr lang="en-US" altLang="zh-CN" sz="2400" b="1" i="1" dirty="0">
                <a:solidFill>
                  <a:srgbClr val="0000FF"/>
                </a:solidFill>
                <a:latin typeface="Times New Roman" pitchFamily="18" charset="0"/>
                <a:ea typeface="微软雅黑" pitchFamily="34" charset="-122"/>
                <a:cs typeface="Times New Roman" pitchFamily="18" charset="0"/>
              </a:rPr>
              <a:t>V</a:t>
            </a:r>
            <a:r>
              <a:rPr lang="zh-CN" altLang="zh-CN" sz="2400" b="1" i="1" dirty="0">
                <a:solidFill>
                  <a:srgbClr val="0000FF"/>
                </a:solidFill>
                <a:latin typeface="Times New Roman" pitchFamily="18" charset="0"/>
                <a:ea typeface="微软雅黑" pitchFamily="34" charset="-122"/>
                <a:cs typeface="Times New Roman" pitchFamily="18" charset="0"/>
              </a:rPr>
              <a:t>c</a:t>
            </a:r>
            <a:r>
              <a:rPr lang="zh-CN" altLang="en-US" sz="2400" b="1" dirty="0">
                <a:solidFill>
                  <a:srgbClr val="0000FF"/>
                </a:solidFill>
                <a:latin typeface="Times New Roman" pitchFamily="18" charset="0"/>
                <a:ea typeface="微软雅黑" pitchFamily="34" charset="-122"/>
                <a:cs typeface="Times New Roman" pitchFamily="18" charset="0"/>
              </a:rPr>
              <a:t>上升到大于</a:t>
            </a:r>
            <a:r>
              <a:rPr lang="en-US" altLang="zh-CN" sz="2400" b="1" i="1" dirty="0" err="1">
                <a:solidFill>
                  <a:srgbClr val="0000FF"/>
                </a:solidFill>
                <a:latin typeface="Times New Roman" pitchFamily="18" charset="0"/>
                <a:ea typeface="微软雅黑" pitchFamily="34" charset="-122"/>
                <a:cs typeface="Times New Roman" pitchFamily="18" charset="0"/>
              </a:rPr>
              <a:t>V</a:t>
            </a:r>
            <a:r>
              <a:rPr lang="en-US" altLang="zh-CN" sz="2400" b="1" i="1" baseline="-25000" dirty="0" err="1">
                <a:solidFill>
                  <a:srgbClr val="0000FF"/>
                </a:solidFill>
                <a:latin typeface="Times New Roman" pitchFamily="18" charset="0"/>
                <a:ea typeface="微软雅黑" pitchFamily="34" charset="-122"/>
                <a:cs typeface="Times New Roman" pitchFamily="18" charset="0"/>
              </a:rPr>
              <a:t>th</a:t>
            </a:r>
            <a:endParaRPr lang="zh-CN" altLang="zh-CN" sz="3200" b="1" i="1" baseline="-25000" dirty="0">
              <a:latin typeface="Times New Roman" pitchFamily="18" charset="0"/>
              <a:ea typeface="微软雅黑" pitchFamily="34" charset="-122"/>
              <a:cs typeface="Times New Roman" pitchFamily="18" charset="0"/>
            </a:endParaRPr>
          </a:p>
        </p:txBody>
      </p:sp>
      <p:cxnSp>
        <p:nvCxnSpPr>
          <p:cNvPr id="77" name="AutoShape 13">
            <a:extLst>
              <a:ext uri="{FF2B5EF4-FFF2-40B4-BE49-F238E27FC236}">
                <a16:creationId xmlns="" xmlns:a16="http://schemas.microsoft.com/office/drawing/2014/main" id="{9C4C3616-3974-44EF-9502-AB6EB49472AA}"/>
              </a:ext>
            </a:extLst>
          </p:cNvPr>
          <p:cNvCxnSpPr>
            <a:cxnSpLocks noChangeShapeType="1"/>
          </p:cNvCxnSpPr>
          <p:nvPr/>
        </p:nvCxnSpPr>
        <p:spPr bwMode="auto">
          <a:xfrm rot="5400000" flipH="1" flipV="1">
            <a:off x="3426144" y="5175877"/>
            <a:ext cx="977900" cy="1588"/>
          </a:xfrm>
          <a:prstGeom prst="straightConnector1">
            <a:avLst/>
          </a:prstGeom>
          <a:noFill/>
          <a:ln w="38100">
            <a:solidFill>
              <a:srgbClr val="FF33CC"/>
            </a:solidFill>
            <a:round/>
            <a:headEnd/>
            <a:tailEnd type="arrow" w="sm" len="lg"/>
          </a:ln>
        </p:spPr>
      </p:cxnSp>
      <p:grpSp>
        <p:nvGrpSpPr>
          <p:cNvPr id="78" name="Group 3">
            <a:extLst>
              <a:ext uri="{FF2B5EF4-FFF2-40B4-BE49-F238E27FC236}">
                <a16:creationId xmlns="" xmlns:a16="http://schemas.microsoft.com/office/drawing/2014/main" id="{6C41B6BD-667B-4878-B304-A9A4B98179D0}"/>
              </a:ext>
            </a:extLst>
          </p:cNvPr>
          <p:cNvGrpSpPr>
            <a:grpSpLocks/>
          </p:cNvGrpSpPr>
          <p:nvPr/>
        </p:nvGrpSpPr>
        <p:grpSpPr bwMode="auto">
          <a:xfrm>
            <a:off x="9640412" y="2028960"/>
            <a:ext cx="2133600" cy="2933700"/>
            <a:chOff x="6722" y="12048"/>
            <a:chExt cx="2490" cy="3698"/>
          </a:xfrm>
        </p:grpSpPr>
        <p:graphicFrame>
          <p:nvGraphicFramePr>
            <p:cNvPr id="87" name="Object 5">
              <a:extLst>
                <a:ext uri="{FF2B5EF4-FFF2-40B4-BE49-F238E27FC236}">
                  <a16:creationId xmlns="" xmlns:a16="http://schemas.microsoft.com/office/drawing/2014/main" id="{0CA8FE0D-FD4F-4695-8D4F-066B72D03F4B}"/>
                </a:ext>
              </a:extLst>
            </p:cNvPr>
            <p:cNvGraphicFramePr>
              <a:graphicFrameLocks noChangeAspect="1"/>
            </p:cNvGraphicFramePr>
            <p:nvPr/>
          </p:nvGraphicFramePr>
          <p:xfrm>
            <a:off x="7500" y="12051"/>
            <a:ext cx="990" cy="570"/>
          </p:xfrm>
          <a:graphic>
            <a:graphicData uri="http://schemas.openxmlformats.org/presentationml/2006/ole">
              <mc:AlternateContent xmlns:mc="http://schemas.openxmlformats.org/markup-compatibility/2006">
                <mc:Choice xmlns:v="urn:schemas-microsoft-com:vml" Requires="v">
                  <p:oleObj spid="_x0000_s20573" name="Visio" r:id="rId5" imgW="530280" imgH="303480" progId="Visio.Drawing.11">
                    <p:embed/>
                  </p:oleObj>
                </mc:Choice>
                <mc:Fallback>
                  <p:oleObj name="Visio" r:id="rId5" imgW="530280" imgH="303480" progId="Visio.Drawing.11">
                    <p:embed/>
                    <p:pic>
                      <p:nvPicPr>
                        <p:cNvPr id="4611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00" y="12051"/>
                          <a:ext cx="990" cy="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8" name="Group 5">
              <a:extLst>
                <a:ext uri="{FF2B5EF4-FFF2-40B4-BE49-F238E27FC236}">
                  <a16:creationId xmlns="" xmlns:a16="http://schemas.microsoft.com/office/drawing/2014/main" id="{78A8183D-36C9-4D0B-BB7A-C0145B4D292B}"/>
                </a:ext>
              </a:extLst>
            </p:cNvPr>
            <p:cNvGrpSpPr>
              <a:grpSpLocks/>
            </p:cNvGrpSpPr>
            <p:nvPr/>
          </p:nvGrpSpPr>
          <p:grpSpPr bwMode="auto">
            <a:xfrm>
              <a:off x="6722" y="12048"/>
              <a:ext cx="2490" cy="3698"/>
              <a:chOff x="6722" y="12048"/>
              <a:chExt cx="2490" cy="3698"/>
            </a:xfrm>
          </p:grpSpPr>
          <p:grpSp>
            <p:nvGrpSpPr>
              <p:cNvPr id="89" name="Group 6">
                <a:extLst>
                  <a:ext uri="{FF2B5EF4-FFF2-40B4-BE49-F238E27FC236}">
                    <a16:creationId xmlns="" xmlns:a16="http://schemas.microsoft.com/office/drawing/2014/main" id="{70442E80-F633-4CC4-ADF9-5C408213EF4C}"/>
                  </a:ext>
                </a:extLst>
              </p:cNvPr>
              <p:cNvGrpSpPr>
                <a:grpSpLocks/>
              </p:cNvGrpSpPr>
              <p:nvPr/>
            </p:nvGrpSpPr>
            <p:grpSpPr bwMode="auto">
              <a:xfrm>
                <a:off x="6722" y="12048"/>
                <a:ext cx="2490" cy="3150"/>
                <a:chOff x="1007" y="11733"/>
                <a:chExt cx="2490" cy="3150"/>
              </a:xfrm>
            </p:grpSpPr>
            <p:grpSp>
              <p:nvGrpSpPr>
                <p:cNvPr id="91" name="Group 7">
                  <a:extLst>
                    <a:ext uri="{FF2B5EF4-FFF2-40B4-BE49-F238E27FC236}">
                      <a16:creationId xmlns="" xmlns:a16="http://schemas.microsoft.com/office/drawing/2014/main" id="{8A25BB55-2A5B-4F0C-98EE-8774AC137B73}"/>
                    </a:ext>
                  </a:extLst>
                </p:cNvPr>
                <p:cNvGrpSpPr>
                  <a:grpSpLocks/>
                </p:cNvGrpSpPr>
                <p:nvPr/>
              </p:nvGrpSpPr>
              <p:grpSpPr bwMode="auto">
                <a:xfrm>
                  <a:off x="1007" y="12306"/>
                  <a:ext cx="2490" cy="2130"/>
                  <a:chOff x="1007" y="12306"/>
                  <a:chExt cx="2490" cy="2130"/>
                </a:xfrm>
              </p:grpSpPr>
              <p:graphicFrame>
                <p:nvGraphicFramePr>
                  <p:cNvPr id="93" name="Object 6">
                    <a:extLst>
                      <a:ext uri="{FF2B5EF4-FFF2-40B4-BE49-F238E27FC236}">
                        <a16:creationId xmlns="" xmlns:a16="http://schemas.microsoft.com/office/drawing/2014/main" id="{2EDEEF1A-26C5-40B3-AC3D-B29BB6B73FF4}"/>
                      </a:ext>
                    </a:extLst>
                  </p:cNvPr>
                  <p:cNvGraphicFramePr>
                    <a:graphicFrameLocks noChangeAspect="1"/>
                  </p:cNvGraphicFramePr>
                  <p:nvPr/>
                </p:nvGraphicFramePr>
                <p:xfrm>
                  <a:off x="1517" y="12306"/>
                  <a:ext cx="1980" cy="855"/>
                </p:xfrm>
                <a:graphic>
                  <a:graphicData uri="http://schemas.openxmlformats.org/presentationml/2006/ole">
                    <mc:AlternateContent xmlns:mc="http://schemas.openxmlformats.org/markup-compatibility/2006">
                      <mc:Choice xmlns:v="urn:schemas-microsoft-com:vml" Requires="v">
                        <p:oleObj spid="_x0000_s20574" name="Visio" r:id="rId7" imgW="1059120" imgH="454680" progId="Visio.Drawing.11">
                          <p:embed/>
                        </p:oleObj>
                      </mc:Choice>
                      <mc:Fallback>
                        <p:oleObj name="Visio" r:id="rId7" imgW="1059120" imgH="454680" progId="Visio.Drawing.11">
                          <p:embed/>
                          <p:pic>
                            <p:nvPicPr>
                              <p:cNvPr id="46115"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7" y="12306"/>
                                <a:ext cx="1980" cy="8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 name="Object 7">
                    <a:extLst>
                      <a:ext uri="{FF2B5EF4-FFF2-40B4-BE49-F238E27FC236}">
                        <a16:creationId xmlns="" xmlns:a16="http://schemas.microsoft.com/office/drawing/2014/main" id="{DEBA34E7-0860-4C80-A09B-1559B1E5F7E0}"/>
                      </a:ext>
                    </a:extLst>
                  </p:cNvPr>
                  <p:cNvGraphicFramePr>
                    <a:graphicFrameLocks noChangeAspect="1"/>
                  </p:cNvGraphicFramePr>
                  <p:nvPr/>
                </p:nvGraphicFramePr>
                <p:xfrm>
                  <a:off x="1007" y="13581"/>
                  <a:ext cx="1980" cy="855"/>
                </p:xfrm>
                <a:graphic>
                  <a:graphicData uri="http://schemas.openxmlformats.org/presentationml/2006/ole">
                    <mc:AlternateContent xmlns:mc="http://schemas.openxmlformats.org/markup-compatibility/2006">
                      <mc:Choice xmlns:v="urn:schemas-microsoft-com:vml" Requires="v">
                        <p:oleObj spid="_x0000_s20575" name="Visio" r:id="rId9" imgW="1059120" imgH="454680" progId="Visio.Drawing.11">
                          <p:embed/>
                        </p:oleObj>
                      </mc:Choice>
                      <mc:Fallback>
                        <p:oleObj name="Visio" r:id="rId9" imgW="1059120" imgH="454680" progId="Visio.Drawing.11">
                          <p:embed/>
                          <p:pic>
                            <p:nvPicPr>
                              <p:cNvPr id="46116"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7" y="13581"/>
                                <a:ext cx="1980" cy="8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92" name="Object 8">
                  <a:extLst>
                    <a:ext uri="{FF2B5EF4-FFF2-40B4-BE49-F238E27FC236}">
                      <a16:creationId xmlns="" xmlns:a16="http://schemas.microsoft.com/office/drawing/2014/main" id="{7D8058B3-980D-44F0-9233-5574BED9845C}"/>
                    </a:ext>
                  </a:extLst>
                </p:cNvPr>
                <p:cNvGraphicFramePr>
                  <a:graphicFrameLocks noChangeAspect="1"/>
                </p:cNvGraphicFramePr>
                <p:nvPr/>
              </p:nvGraphicFramePr>
              <p:xfrm>
                <a:off x="2250" y="11733"/>
                <a:ext cx="90" cy="3150"/>
              </p:xfrm>
              <a:graphic>
                <a:graphicData uri="http://schemas.openxmlformats.org/presentationml/2006/ole">
                  <mc:AlternateContent xmlns:mc="http://schemas.openxmlformats.org/markup-compatibility/2006">
                    <mc:Choice xmlns:v="urn:schemas-microsoft-com:vml" Requires="v">
                      <p:oleObj spid="_x0000_s20576" name="Visio" r:id="rId11" imgW="50400" imgH="1683360" progId="Visio.Drawing.11">
                        <p:embed/>
                      </p:oleObj>
                    </mc:Choice>
                    <mc:Fallback>
                      <p:oleObj name="Visio" r:id="rId11" imgW="50400" imgH="1683360" progId="Visio.Drawing.11">
                        <p:embed/>
                        <p:pic>
                          <p:nvPicPr>
                            <p:cNvPr id="46117"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50" y="11733"/>
                              <a:ext cx="90" cy="3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90" name="Object 9">
                <a:extLst>
                  <a:ext uri="{FF2B5EF4-FFF2-40B4-BE49-F238E27FC236}">
                    <a16:creationId xmlns="" xmlns:a16="http://schemas.microsoft.com/office/drawing/2014/main" id="{2A4F388D-829B-4BBB-B9AE-7B2F26E1E1BE}"/>
                  </a:ext>
                </a:extLst>
              </p:cNvPr>
              <p:cNvGraphicFramePr>
                <a:graphicFrameLocks noChangeAspect="1"/>
              </p:cNvGraphicFramePr>
              <p:nvPr/>
            </p:nvGraphicFramePr>
            <p:xfrm>
              <a:off x="7530" y="15123"/>
              <a:ext cx="948" cy="623"/>
            </p:xfrm>
            <a:graphic>
              <a:graphicData uri="http://schemas.openxmlformats.org/presentationml/2006/ole">
                <mc:AlternateContent xmlns:mc="http://schemas.openxmlformats.org/markup-compatibility/2006">
                  <mc:Choice xmlns:v="urn:schemas-microsoft-com:vml" Requires="v">
                    <p:oleObj spid="_x0000_s20577" name="Visio" r:id="rId13" imgW="515160" imgH="333720" progId="Visio.Drawing.11">
                      <p:embed/>
                    </p:oleObj>
                  </mc:Choice>
                  <mc:Fallback>
                    <p:oleObj name="Visio" r:id="rId13" imgW="515160" imgH="333720" progId="Visio.Drawing.11">
                      <p:embed/>
                      <p:pic>
                        <p:nvPicPr>
                          <p:cNvPr id="46118"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30" y="15123"/>
                            <a:ext cx="948" cy="6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46" name="文本框 60">
            <a:extLst>
              <a:ext uri="{FF2B5EF4-FFF2-40B4-BE49-F238E27FC236}">
                <a16:creationId xmlns="" xmlns:a16="http://schemas.microsoft.com/office/drawing/2014/main" id="{0D9AA03C-9993-4864-83D5-3A16756BC667}"/>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照相机自动曝光控制电路</a:t>
            </a:r>
          </a:p>
        </p:txBody>
      </p:sp>
      <p:sp>
        <p:nvSpPr>
          <p:cNvPr id="47" name="矩形 46">
            <a:extLst>
              <a:ext uri="{FF2B5EF4-FFF2-40B4-BE49-F238E27FC236}">
                <a16:creationId xmlns="" xmlns:a16="http://schemas.microsoft.com/office/drawing/2014/main" id="{619F793A-6F85-4FC3-B9BC-1A255E48CF21}"/>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48" name="矩形 47">
            <a:extLst>
              <a:ext uri="{FF2B5EF4-FFF2-40B4-BE49-F238E27FC236}">
                <a16:creationId xmlns="" xmlns:a16="http://schemas.microsoft.com/office/drawing/2014/main" id="{5EBF11FB-3E74-4C63-AB99-9F2974B1A28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 xmlns:a16="http://schemas.microsoft.com/office/drawing/2014/main" id="{3CD1CCBD-4156-4E57-9C27-C15BD7357D68}"/>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50" name="直接连接符 58">
            <a:extLst>
              <a:ext uri="{FF2B5EF4-FFF2-40B4-BE49-F238E27FC236}">
                <a16:creationId xmlns="" xmlns:a16="http://schemas.microsoft.com/office/drawing/2014/main" id="{0B57C69F-1553-47D7-B78C-B70AC566F0C5}"/>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 xmlns:a16="http://schemas.microsoft.com/office/drawing/2014/main" id="{B471C437-9197-4D8B-AC07-6E7B131FC58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2" name="矩形 51">
            <a:extLst>
              <a:ext uri="{FF2B5EF4-FFF2-40B4-BE49-F238E27FC236}">
                <a16:creationId xmlns="" xmlns:a16="http://schemas.microsoft.com/office/drawing/2014/main" id="{B48FCBB7-C432-4E85-AE1E-0A8375A35D6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70035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box(in)">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ox(in)">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box(in)">
                                      <p:cBhvr>
                                        <p:cTn id="17" dur="500"/>
                                        <p:tgtEl>
                                          <p:spTgt spid="37"/>
                                        </p:tgtEl>
                                      </p:cBhvr>
                                    </p:animEffect>
                                  </p:childTnLst>
                                </p:cTn>
                              </p:par>
                              <p:par>
                                <p:cTn id="18" presetID="4" presetClass="entr" presetSubtype="16" fill="hold" nodeType="with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box(in)">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76"/>
                                        </p:tgtEl>
                                        <p:attrNameLst>
                                          <p:attrName>style.visibility</p:attrName>
                                        </p:attrNameLst>
                                      </p:cBhvr>
                                      <p:to>
                                        <p:strVal val="visible"/>
                                      </p:to>
                                    </p:set>
                                    <p:animEffect transition="in" filter="box(in)">
                                      <p:cBhvr>
                                        <p:cTn id="25" dur="500"/>
                                        <p:tgtEl>
                                          <p:spTgt spid="76"/>
                                        </p:tgtEl>
                                      </p:cBhvr>
                                    </p:animEffect>
                                  </p:childTnLst>
                                </p:cTn>
                              </p:par>
                              <p:par>
                                <p:cTn id="26" presetID="4" presetClass="entr" presetSubtype="16" fill="hold" nodeType="withEffect">
                                  <p:stCondLst>
                                    <p:cond delay="0"/>
                                  </p:stCondLst>
                                  <p:childTnLst>
                                    <p:set>
                                      <p:cBhvr>
                                        <p:cTn id="27" dur="1" fill="hold">
                                          <p:stCondLst>
                                            <p:cond delay="0"/>
                                          </p:stCondLst>
                                        </p:cTn>
                                        <p:tgtEl>
                                          <p:spTgt spid="77"/>
                                        </p:tgtEl>
                                        <p:attrNameLst>
                                          <p:attrName>style.visibility</p:attrName>
                                        </p:attrNameLst>
                                      </p:cBhvr>
                                      <p:to>
                                        <p:strVal val="visible"/>
                                      </p:to>
                                    </p:set>
                                    <p:animEffect transition="in" filter="box(in)">
                                      <p:cBhvr>
                                        <p:cTn id="28" dur="500"/>
                                        <p:tgtEl>
                                          <p:spTgt spid="77"/>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box(in)">
                                      <p:cBhvr>
                                        <p:cTn id="33" dur="500"/>
                                        <p:tgtEl>
                                          <p:spTgt spid="39"/>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65"/>
                                        </p:tgtEl>
                                        <p:attrNameLst>
                                          <p:attrName>style.visibility</p:attrName>
                                        </p:attrNameLst>
                                      </p:cBhvr>
                                      <p:to>
                                        <p:strVal val="visible"/>
                                      </p:to>
                                    </p:set>
                                    <p:animEffect transition="in" filter="box(in)">
                                      <p:cBhvr>
                                        <p:cTn id="38" dur="500"/>
                                        <p:tgtEl>
                                          <p:spTgt spid="65"/>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box(in)">
                                      <p:cBhvr>
                                        <p:cTn id="43" dur="500"/>
                                        <p:tgtEl>
                                          <p:spTgt spid="43"/>
                                        </p:tgtEl>
                                      </p:cBhvr>
                                    </p:animEffec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nodeType="click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box(in)">
                                      <p:cBhvr>
                                        <p:cTn id="48" dur="500"/>
                                        <p:tgtEl>
                                          <p:spTgt spid="78"/>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nodeType="clickEffect">
                                  <p:stCondLst>
                                    <p:cond delay="0"/>
                                  </p:stCondLst>
                                  <p:childTnLst>
                                    <p:set>
                                      <p:cBhvr>
                                        <p:cTn id="52" dur="1" fill="hold">
                                          <p:stCondLst>
                                            <p:cond delay="0"/>
                                          </p:stCondLst>
                                        </p:cTn>
                                        <p:tgtEl>
                                          <p:spTgt spid="69"/>
                                        </p:tgtEl>
                                        <p:attrNameLst>
                                          <p:attrName>style.visibility</p:attrName>
                                        </p:attrNameLst>
                                      </p:cBhvr>
                                      <p:to>
                                        <p:strVal val="visible"/>
                                      </p:to>
                                    </p:set>
                                    <p:animEffect transition="in" filter="box(in)">
                                      <p:cBhvr>
                                        <p:cTn id="53" dur="500"/>
                                        <p:tgtEl>
                                          <p:spTgt spid="69"/>
                                        </p:tgtEl>
                                      </p:cBhvr>
                                    </p:animEffect>
                                  </p:childTnLst>
                                </p:cTn>
                              </p:par>
                              <p:par>
                                <p:cTn id="54" presetID="4" presetClass="entr" presetSubtype="16" fill="hold" grpId="0" nodeType="withEffect">
                                  <p:stCondLst>
                                    <p:cond delay="0"/>
                                  </p:stCondLst>
                                  <p:childTnLst>
                                    <p:set>
                                      <p:cBhvr>
                                        <p:cTn id="55" dur="1" fill="hold">
                                          <p:stCondLst>
                                            <p:cond delay="0"/>
                                          </p:stCondLst>
                                        </p:cTn>
                                        <p:tgtEl>
                                          <p:spTgt spid="68"/>
                                        </p:tgtEl>
                                        <p:attrNameLst>
                                          <p:attrName>style.visibility</p:attrName>
                                        </p:attrNameLst>
                                      </p:cBhvr>
                                      <p:to>
                                        <p:strVal val="visible"/>
                                      </p:to>
                                    </p:set>
                                    <p:animEffect transition="in" filter="box(in)">
                                      <p:cBhvr>
                                        <p:cTn id="56" dur="500"/>
                                        <p:tgtEl>
                                          <p:spTgt spid="68"/>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70"/>
                                        </p:tgtEl>
                                        <p:attrNameLst>
                                          <p:attrName>style.visibility</p:attrName>
                                        </p:attrNameLst>
                                      </p:cBhvr>
                                      <p:to>
                                        <p:strVal val="visible"/>
                                      </p:to>
                                    </p:set>
                                    <p:animEffect transition="in" filter="box(in)">
                                      <p:cBhvr>
                                        <p:cTn id="61" dur="500"/>
                                        <p:tgtEl>
                                          <p:spTgt spid="70"/>
                                        </p:tgtEl>
                                      </p:cBhvr>
                                    </p:animEffect>
                                  </p:childTnLst>
                                </p:cTn>
                              </p:par>
                              <p:par>
                                <p:cTn id="62" presetID="4" presetClass="entr" presetSubtype="16" fill="hold" nodeType="withEffect">
                                  <p:stCondLst>
                                    <p:cond delay="0"/>
                                  </p:stCondLst>
                                  <p:childTnLst>
                                    <p:set>
                                      <p:cBhvr>
                                        <p:cTn id="63" dur="1" fill="hold">
                                          <p:stCondLst>
                                            <p:cond delay="0"/>
                                          </p:stCondLst>
                                        </p:cTn>
                                        <p:tgtEl>
                                          <p:spTgt spid="71"/>
                                        </p:tgtEl>
                                        <p:attrNameLst>
                                          <p:attrName>style.visibility</p:attrName>
                                        </p:attrNameLst>
                                      </p:cBhvr>
                                      <p:to>
                                        <p:strVal val="visible"/>
                                      </p:to>
                                    </p:set>
                                    <p:animEffect transition="in" filter="box(in)">
                                      <p:cBhvr>
                                        <p:cTn id="64" dur="500"/>
                                        <p:tgtEl>
                                          <p:spTgt spid="71"/>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26" fill="hold" nodeType="clickEffect">
                                  <p:stCondLst>
                                    <p:cond delay="0"/>
                                  </p:stCondLst>
                                  <p:childTnLst>
                                    <p:set>
                                      <p:cBhvr>
                                        <p:cTn id="68" dur="1" fill="hold">
                                          <p:stCondLst>
                                            <p:cond delay="0"/>
                                          </p:stCondLst>
                                        </p:cTn>
                                        <p:tgtEl>
                                          <p:spTgt spid="72"/>
                                        </p:tgtEl>
                                        <p:attrNameLst>
                                          <p:attrName>style.visibility</p:attrName>
                                        </p:attrNameLst>
                                      </p:cBhvr>
                                      <p:to>
                                        <p:strVal val="visible"/>
                                      </p:to>
                                    </p:set>
                                    <p:animEffect transition="in" filter="barn(inHorizontal)">
                                      <p:cBhvr>
                                        <p:cTn id="69"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68" grpId="0" animBg="1"/>
      <p:bldP spid="70" grpId="0" animBg="1"/>
      <p:bldP spid="75" grpId="0" animBg="1"/>
      <p:bldP spid="7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 name="Object 1">
            <a:extLst>
              <a:ext uri="{FF2B5EF4-FFF2-40B4-BE49-F238E27FC236}">
                <a16:creationId xmlns="" xmlns:a16="http://schemas.microsoft.com/office/drawing/2014/main" id="{5D62CCA9-A687-4896-A807-DDF65F70A680}"/>
              </a:ext>
            </a:extLst>
          </p:cNvPr>
          <p:cNvGraphicFramePr>
            <a:graphicFrameLocks noChangeAspect="1"/>
          </p:cNvGraphicFramePr>
          <p:nvPr>
            <p:extLst>
              <p:ext uri="{D42A27DB-BD31-4B8C-83A1-F6EECF244321}">
                <p14:modId xmlns:p14="http://schemas.microsoft.com/office/powerpoint/2010/main" val="414398122"/>
              </p:ext>
            </p:extLst>
          </p:nvPr>
        </p:nvGraphicFramePr>
        <p:xfrm>
          <a:off x="4061744" y="2100541"/>
          <a:ext cx="2301875" cy="933450"/>
        </p:xfrm>
        <a:graphic>
          <a:graphicData uri="http://schemas.openxmlformats.org/presentationml/2006/ole">
            <mc:AlternateContent xmlns:mc="http://schemas.openxmlformats.org/markup-compatibility/2006">
              <mc:Choice xmlns:v="urn:schemas-microsoft-com:vml" Requires="v">
                <p:oleObj spid="_x0000_s21581" name="Equation" r:id="rId3" imgW="1054080" imgH="431640" progId="Equation.DSMT4">
                  <p:embed/>
                </p:oleObj>
              </mc:Choice>
              <mc:Fallback>
                <p:oleObj name="Equation" r:id="rId3" imgW="1054080" imgH="431640" progId="Equation.DSMT4">
                  <p:embed/>
                  <p:pic>
                    <p:nvPicPr>
                      <p:cNvPr id="93185" name="Object 1"/>
                      <p:cNvPicPr>
                        <a:picLocks noChangeAspect="1" noChangeArrowheads="1"/>
                      </p:cNvPicPr>
                      <p:nvPr/>
                    </p:nvPicPr>
                    <p:blipFill>
                      <a:blip r:embed="rId4"/>
                      <a:srcRect/>
                      <a:stretch>
                        <a:fillRect/>
                      </a:stretch>
                    </p:blipFill>
                    <p:spPr bwMode="auto">
                      <a:xfrm>
                        <a:off x="4061744" y="2100541"/>
                        <a:ext cx="2301875" cy="933450"/>
                      </a:xfrm>
                      <a:prstGeom prst="rect">
                        <a:avLst/>
                      </a:prstGeom>
                      <a:solidFill>
                        <a:srgbClr val="FFFF00"/>
                      </a:solidFill>
                    </p:spPr>
                  </p:pic>
                </p:oleObj>
              </mc:Fallback>
            </mc:AlternateContent>
          </a:graphicData>
        </a:graphic>
      </p:graphicFrame>
      <p:graphicFrame>
        <p:nvGraphicFramePr>
          <p:cNvPr id="47" name="Object 3">
            <a:extLst>
              <a:ext uri="{FF2B5EF4-FFF2-40B4-BE49-F238E27FC236}">
                <a16:creationId xmlns="" xmlns:a16="http://schemas.microsoft.com/office/drawing/2014/main" id="{632B84D7-1669-4D0B-B5D2-7398C224A133}"/>
              </a:ext>
            </a:extLst>
          </p:cNvPr>
          <p:cNvGraphicFramePr>
            <a:graphicFrameLocks noChangeAspect="1"/>
          </p:cNvGraphicFramePr>
          <p:nvPr>
            <p:extLst>
              <p:ext uri="{D42A27DB-BD31-4B8C-83A1-F6EECF244321}">
                <p14:modId xmlns:p14="http://schemas.microsoft.com/office/powerpoint/2010/main" val="4130647078"/>
              </p:ext>
            </p:extLst>
          </p:nvPr>
        </p:nvGraphicFramePr>
        <p:xfrm>
          <a:off x="2273672" y="4221508"/>
          <a:ext cx="4248150" cy="571500"/>
        </p:xfrm>
        <a:graphic>
          <a:graphicData uri="http://schemas.openxmlformats.org/presentationml/2006/ole">
            <mc:AlternateContent xmlns:mc="http://schemas.openxmlformats.org/markup-compatibility/2006">
              <mc:Choice xmlns:v="urn:schemas-microsoft-com:vml" Requires="v">
                <p:oleObj spid="_x0000_s21582" name="Equation" r:id="rId5" imgW="1701720" imgH="228600" progId="Equation.DSMT4">
                  <p:embed/>
                </p:oleObj>
              </mc:Choice>
              <mc:Fallback>
                <p:oleObj name="Equation" r:id="rId5" imgW="1701720" imgH="228600" progId="Equation.DSMT4">
                  <p:embed/>
                  <p:pic>
                    <p:nvPicPr>
                      <p:cNvPr id="93187" name="Object 3"/>
                      <p:cNvPicPr>
                        <a:picLocks noChangeAspect="1" noChangeArrowheads="1"/>
                      </p:cNvPicPr>
                      <p:nvPr/>
                    </p:nvPicPr>
                    <p:blipFill>
                      <a:blip r:embed="rId6"/>
                      <a:srcRect/>
                      <a:stretch>
                        <a:fillRect/>
                      </a:stretch>
                    </p:blipFill>
                    <p:spPr bwMode="auto">
                      <a:xfrm>
                        <a:off x="2273672" y="4221508"/>
                        <a:ext cx="4248150" cy="571500"/>
                      </a:xfrm>
                      <a:prstGeom prst="rect">
                        <a:avLst/>
                      </a:prstGeom>
                      <a:solidFill>
                        <a:srgbClr val="FFFF99"/>
                      </a:solidFill>
                      <a:ln w="9525">
                        <a:solidFill>
                          <a:srgbClr val="FFFF99"/>
                        </a:solidFill>
                        <a:miter lim="800000"/>
                        <a:headEnd/>
                        <a:tailEnd/>
                      </a:ln>
                    </p:spPr>
                  </p:pic>
                </p:oleObj>
              </mc:Fallback>
            </mc:AlternateContent>
          </a:graphicData>
        </a:graphic>
      </p:graphicFrame>
      <p:graphicFrame>
        <p:nvGraphicFramePr>
          <p:cNvPr id="48" name="Object 6">
            <a:extLst>
              <a:ext uri="{FF2B5EF4-FFF2-40B4-BE49-F238E27FC236}">
                <a16:creationId xmlns="" xmlns:a16="http://schemas.microsoft.com/office/drawing/2014/main" id="{019AFD52-7B49-48CC-934A-CE83F3E2CEC3}"/>
              </a:ext>
            </a:extLst>
          </p:cNvPr>
          <p:cNvGraphicFramePr>
            <a:graphicFrameLocks noChangeAspect="1"/>
          </p:cNvGraphicFramePr>
          <p:nvPr>
            <p:extLst>
              <p:ext uri="{D42A27DB-BD31-4B8C-83A1-F6EECF244321}">
                <p14:modId xmlns:p14="http://schemas.microsoft.com/office/powerpoint/2010/main" val="1746773605"/>
              </p:ext>
            </p:extLst>
          </p:nvPr>
        </p:nvGraphicFramePr>
        <p:xfrm>
          <a:off x="3880987" y="5126837"/>
          <a:ext cx="2592387" cy="622300"/>
        </p:xfrm>
        <a:graphic>
          <a:graphicData uri="http://schemas.openxmlformats.org/presentationml/2006/ole">
            <mc:AlternateContent xmlns:mc="http://schemas.openxmlformats.org/markup-compatibility/2006">
              <mc:Choice xmlns:v="urn:schemas-microsoft-com:vml" Requires="v">
                <p:oleObj spid="_x0000_s21583" name="公式" r:id="rId7" imgW="952087" imgH="228501" progId="Equation.3">
                  <p:embed/>
                </p:oleObj>
              </mc:Choice>
              <mc:Fallback>
                <p:oleObj name="公式" r:id="rId7" imgW="952087" imgH="228501" progId="Equation.3">
                  <p:embed/>
                  <p:pic>
                    <p:nvPicPr>
                      <p:cNvPr id="9319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0987" y="5126837"/>
                        <a:ext cx="2592387" cy="622300"/>
                      </a:xfrm>
                      <a:prstGeom prst="rect">
                        <a:avLst/>
                      </a:prstGeom>
                      <a:solidFill>
                        <a:srgbClr val="CCFFFF"/>
                      </a:solidFill>
                    </p:spPr>
                  </p:pic>
                </p:oleObj>
              </mc:Fallback>
            </mc:AlternateContent>
          </a:graphicData>
        </a:graphic>
      </p:graphicFrame>
      <p:graphicFrame>
        <p:nvGraphicFramePr>
          <p:cNvPr id="49" name="Object 9">
            <a:extLst>
              <a:ext uri="{FF2B5EF4-FFF2-40B4-BE49-F238E27FC236}">
                <a16:creationId xmlns="" xmlns:a16="http://schemas.microsoft.com/office/drawing/2014/main" id="{5AAAE278-8703-49E1-A31D-2A0B850FD289}"/>
              </a:ext>
            </a:extLst>
          </p:cNvPr>
          <p:cNvGraphicFramePr>
            <a:graphicFrameLocks noChangeAspect="1"/>
          </p:cNvGraphicFramePr>
          <p:nvPr>
            <p:extLst>
              <p:ext uri="{D42A27DB-BD31-4B8C-83A1-F6EECF244321}">
                <p14:modId xmlns:p14="http://schemas.microsoft.com/office/powerpoint/2010/main" val="3592600383"/>
              </p:ext>
            </p:extLst>
          </p:nvPr>
        </p:nvGraphicFramePr>
        <p:xfrm>
          <a:off x="8753545" y="5001610"/>
          <a:ext cx="1955800" cy="947737"/>
        </p:xfrm>
        <a:graphic>
          <a:graphicData uri="http://schemas.openxmlformats.org/presentationml/2006/ole">
            <mc:AlternateContent xmlns:mc="http://schemas.openxmlformats.org/markup-compatibility/2006">
              <mc:Choice xmlns:v="urn:schemas-microsoft-com:vml" Requires="v">
                <p:oleObj spid="_x0000_s21584" name="公式" r:id="rId9" imgW="926698" imgH="444307" progId="Equation.3">
                  <p:embed/>
                </p:oleObj>
              </mc:Choice>
              <mc:Fallback>
                <p:oleObj name="公式" r:id="rId9" imgW="926698" imgH="444307" progId="Equation.3">
                  <p:embed/>
                  <p:pic>
                    <p:nvPicPr>
                      <p:cNvPr id="93193"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53545" y="5001610"/>
                        <a:ext cx="1955800" cy="947737"/>
                      </a:xfrm>
                      <a:prstGeom prst="rect">
                        <a:avLst/>
                      </a:prstGeom>
                      <a:solidFill>
                        <a:srgbClr val="CCFFFF"/>
                      </a:solidFill>
                    </p:spPr>
                  </p:pic>
                </p:oleObj>
              </mc:Fallback>
            </mc:AlternateContent>
          </a:graphicData>
        </a:graphic>
      </p:graphicFrame>
      <p:graphicFrame>
        <p:nvGraphicFramePr>
          <p:cNvPr id="50" name="Object 12">
            <a:extLst>
              <a:ext uri="{FF2B5EF4-FFF2-40B4-BE49-F238E27FC236}">
                <a16:creationId xmlns="" xmlns:a16="http://schemas.microsoft.com/office/drawing/2014/main" id="{438F5646-F278-466C-A03E-084A258F303B}"/>
              </a:ext>
            </a:extLst>
          </p:cNvPr>
          <p:cNvGraphicFramePr>
            <a:graphicFrameLocks noChangeAspect="1"/>
          </p:cNvGraphicFramePr>
          <p:nvPr>
            <p:extLst>
              <p:ext uri="{D42A27DB-BD31-4B8C-83A1-F6EECF244321}">
                <p14:modId xmlns:p14="http://schemas.microsoft.com/office/powerpoint/2010/main" val="1150625039"/>
              </p:ext>
            </p:extLst>
          </p:nvPr>
        </p:nvGraphicFramePr>
        <p:xfrm>
          <a:off x="5068982" y="6086003"/>
          <a:ext cx="6334125" cy="842962"/>
        </p:xfrm>
        <a:graphic>
          <a:graphicData uri="http://schemas.openxmlformats.org/presentationml/2006/ole">
            <mc:AlternateContent xmlns:mc="http://schemas.openxmlformats.org/markup-compatibility/2006">
              <mc:Choice xmlns:v="urn:schemas-microsoft-com:vml" Requires="v">
                <p:oleObj spid="_x0000_s21585" name="Equation" r:id="rId11" imgW="3225600" imgH="431640" progId="Equation.DSMT4">
                  <p:embed/>
                </p:oleObj>
              </mc:Choice>
              <mc:Fallback>
                <p:oleObj name="Equation" r:id="rId11" imgW="3225600" imgH="431640" progId="Equation.DSMT4">
                  <p:embed/>
                  <p:pic>
                    <p:nvPicPr>
                      <p:cNvPr id="93196" name="Object 12"/>
                      <p:cNvPicPr>
                        <a:picLocks noChangeAspect="1" noChangeArrowheads="1"/>
                      </p:cNvPicPr>
                      <p:nvPr/>
                    </p:nvPicPr>
                    <p:blipFill>
                      <a:blip r:embed="rId12"/>
                      <a:srcRect/>
                      <a:stretch>
                        <a:fillRect/>
                      </a:stretch>
                    </p:blipFill>
                    <p:spPr bwMode="auto">
                      <a:xfrm>
                        <a:off x="5068982" y="6086003"/>
                        <a:ext cx="6334125" cy="842962"/>
                      </a:xfrm>
                      <a:prstGeom prst="rect">
                        <a:avLst/>
                      </a:prstGeom>
                      <a:solidFill>
                        <a:srgbClr val="FFFF00"/>
                      </a:solidFill>
                    </p:spPr>
                  </p:pic>
                </p:oleObj>
              </mc:Fallback>
            </mc:AlternateContent>
          </a:graphicData>
        </a:graphic>
      </p:graphicFrame>
      <p:sp>
        <p:nvSpPr>
          <p:cNvPr id="51" name="TextBox 15">
            <a:extLst>
              <a:ext uri="{FF2B5EF4-FFF2-40B4-BE49-F238E27FC236}">
                <a16:creationId xmlns="" xmlns:a16="http://schemas.microsoft.com/office/drawing/2014/main" id="{0487B57A-148B-40F6-B706-ED5D7910E1D1}"/>
              </a:ext>
            </a:extLst>
          </p:cNvPr>
          <p:cNvSpPr txBox="1">
            <a:spLocks noChangeArrowheads="1"/>
          </p:cNvSpPr>
          <p:nvPr/>
        </p:nvSpPr>
        <p:spPr bwMode="auto">
          <a:xfrm>
            <a:off x="2258740" y="2244667"/>
            <a:ext cx="1905000" cy="523220"/>
          </a:xfrm>
          <a:prstGeom prst="rect">
            <a:avLst/>
          </a:prstGeom>
          <a:noFill/>
          <a:ln w="9525">
            <a:noFill/>
            <a:miter lim="800000"/>
            <a:headEnd/>
            <a:tailEnd/>
          </a:ln>
        </p:spPr>
        <p:txBody>
          <a:bodyPr>
            <a:spAutoFit/>
          </a:bodyPr>
          <a:lstStyle/>
          <a:p>
            <a:pPr defTabSz="914400"/>
            <a:r>
              <a:rPr lang="zh-CN" altLang="en-US" sz="2800" b="1" dirty="0">
                <a:latin typeface="微软雅黑" pitchFamily="34" charset="-122"/>
                <a:ea typeface="微软雅黑" pitchFamily="34" charset="-122"/>
              </a:rPr>
              <a:t>阈值电压</a:t>
            </a:r>
          </a:p>
        </p:txBody>
      </p:sp>
      <p:sp>
        <p:nvSpPr>
          <p:cNvPr id="52" name="TextBox 16">
            <a:extLst>
              <a:ext uri="{FF2B5EF4-FFF2-40B4-BE49-F238E27FC236}">
                <a16:creationId xmlns="" xmlns:a16="http://schemas.microsoft.com/office/drawing/2014/main" id="{8512EEAE-620F-40F9-A1EE-499032ED046C}"/>
              </a:ext>
            </a:extLst>
          </p:cNvPr>
          <p:cNvSpPr txBox="1">
            <a:spLocks noChangeArrowheads="1"/>
          </p:cNvSpPr>
          <p:nvPr/>
        </p:nvSpPr>
        <p:spPr bwMode="auto">
          <a:xfrm>
            <a:off x="2221428" y="3430667"/>
            <a:ext cx="2705100" cy="523220"/>
          </a:xfrm>
          <a:prstGeom prst="rect">
            <a:avLst/>
          </a:prstGeom>
          <a:noFill/>
          <a:ln w="9525">
            <a:noFill/>
            <a:miter lim="800000"/>
            <a:headEnd/>
            <a:tailEnd/>
          </a:ln>
        </p:spPr>
        <p:txBody>
          <a:bodyPr>
            <a:spAutoFit/>
          </a:bodyPr>
          <a:lstStyle/>
          <a:p>
            <a:pPr defTabSz="914400"/>
            <a:r>
              <a:rPr lang="zh-CN" altLang="en-US" sz="2800" b="1" dirty="0">
                <a:latin typeface="微软雅黑" pitchFamily="34" charset="-122"/>
                <a:ea typeface="微软雅黑" pitchFamily="34" charset="-122"/>
              </a:rPr>
              <a:t>电容充电规律</a:t>
            </a:r>
          </a:p>
        </p:txBody>
      </p:sp>
      <p:sp>
        <p:nvSpPr>
          <p:cNvPr id="53" name="TextBox 17">
            <a:extLst>
              <a:ext uri="{FF2B5EF4-FFF2-40B4-BE49-F238E27FC236}">
                <a16:creationId xmlns="" xmlns:a16="http://schemas.microsoft.com/office/drawing/2014/main" id="{AB56F5C2-B28A-4FED-859E-CB1FF39FE13A}"/>
              </a:ext>
            </a:extLst>
          </p:cNvPr>
          <p:cNvSpPr txBox="1">
            <a:spLocks noChangeArrowheads="1"/>
          </p:cNvSpPr>
          <p:nvPr/>
        </p:nvSpPr>
        <p:spPr bwMode="auto">
          <a:xfrm>
            <a:off x="2231153" y="5186591"/>
            <a:ext cx="1866900" cy="523220"/>
          </a:xfrm>
          <a:prstGeom prst="rect">
            <a:avLst/>
          </a:prstGeom>
          <a:noFill/>
          <a:ln w="9525">
            <a:noFill/>
            <a:miter lim="800000"/>
            <a:headEnd/>
            <a:tailEnd/>
          </a:ln>
        </p:spPr>
        <p:txBody>
          <a:bodyPr>
            <a:spAutoFit/>
          </a:bodyPr>
          <a:lstStyle/>
          <a:p>
            <a:pPr defTabSz="914400"/>
            <a:r>
              <a:rPr lang="zh-CN" altLang="en-US" sz="2800" b="1" dirty="0">
                <a:latin typeface="微软雅黑" pitchFamily="34" charset="-122"/>
                <a:ea typeface="微软雅黑" pitchFamily="34" charset="-122"/>
              </a:rPr>
              <a:t>时间常数</a:t>
            </a:r>
          </a:p>
        </p:txBody>
      </p:sp>
      <p:sp>
        <p:nvSpPr>
          <p:cNvPr id="54" name="TextBox 18">
            <a:extLst>
              <a:ext uri="{FF2B5EF4-FFF2-40B4-BE49-F238E27FC236}">
                <a16:creationId xmlns="" xmlns:a16="http://schemas.microsoft.com/office/drawing/2014/main" id="{B32FC917-C2D0-439B-A581-7322C8A648EF}"/>
              </a:ext>
            </a:extLst>
          </p:cNvPr>
          <p:cNvSpPr txBox="1">
            <a:spLocks noChangeArrowheads="1"/>
          </p:cNvSpPr>
          <p:nvPr/>
        </p:nvSpPr>
        <p:spPr bwMode="auto">
          <a:xfrm>
            <a:off x="6886645" y="5196984"/>
            <a:ext cx="1866900" cy="523220"/>
          </a:xfrm>
          <a:prstGeom prst="rect">
            <a:avLst/>
          </a:prstGeom>
          <a:noFill/>
          <a:ln w="9525">
            <a:noFill/>
            <a:miter lim="800000"/>
            <a:headEnd/>
            <a:tailEnd/>
          </a:ln>
        </p:spPr>
        <p:txBody>
          <a:bodyPr>
            <a:spAutoFit/>
          </a:bodyPr>
          <a:lstStyle/>
          <a:p>
            <a:pPr defTabSz="914400"/>
            <a:r>
              <a:rPr lang="zh-CN" altLang="en-US" sz="2800" b="1" dirty="0">
                <a:latin typeface="微软雅黑" pitchFamily="34" charset="-122"/>
                <a:ea typeface="微软雅黑" pitchFamily="34" charset="-122"/>
              </a:rPr>
              <a:t>光敏电阻</a:t>
            </a:r>
          </a:p>
        </p:txBody>
      </p:sp>
      <p:sp>
        <p:nvSpPr>
          <p:cNvPr id="55" name="TextBox 19">
            <a:extLst>
              <a:ext uri="{FF2B5EF4-FFF2-40B4-BE49-F238E27FC236}">
                <a16:creationId xmlns="" xmlns:a16="http://schemas.microsoft.com/office/drawing/2014/main" id="{95C6610E-2B78-4B74-ABC2-5B31E6C09724}"/>
              </a:ext>
            </a:extLst>
          </p:cNvPr>
          <p:cNvSpPr txBox="1">
            <a:spLocks noChangeArrowheads="1"/>
          </p:cNvSpPr>
          <p:nvPr/>
        </p:nvSpPr>
        <p:spPr bwMode="auto">
          <a:xfrm>
            <a:off x="3211240" y="1043974"/>
            <a:ext cx="3556000" cy="641350"/>
          </a:xfrm>
          <a:prstGeom prst="rect">
            <a:avLst/>
          </a:prstGeom>
          <a:solidFill>
            <a:srgbClr val="92D050"/>
          </a:solidFill>
          <a:ln w="9525">
            <a:noFill/>
            <a:miter lim="800000"/>
            <a:headEnd/>
            <a:tailEnd/>
          </a:ln>
        </p:spPr>
        <p:txBody>
          <a:bodyPr>
            <a:spAutoFit/>
          </a:bodyPr>
          <a:lstStyle/>
          <a:p>
            <a:pPr defTabSz="914400"/>
            <a:r>
              <a:rPr lang="zh-CN" altLang="en-US" sz="3600" b="1" dirty="0">
                <a:solidFill>
                  <a:srgbClr val="0000FF"/>
                </a:solidFill>
                <a:latin typeface="华文琥珀" pitchFamily="2" charset="-122"/>
                <a:ea typeface="华文琥珀" pitchFamily="2" charset="-122"/>
              </a:rPr>
              <a:t>曝光时间的计算</a:t>
            </a:r>
          </a:p>
        </p:txBody>
      </p:sp>
      <p:sp>
        <p:nvSpPr>
          <p:cNvPr id="57" name="TextBox 20">
            <a:extLst>
              <a:ext uri="{FF2B5EF4-FFF2-40B4-BE49-F238E27FC236}">
                <a16:creationId xmlns="" xmlns:a16="http://schemas.microsoft.com/office/drawing/2014/main" id="{4F7433B9-ECDA-4A4A-9A9F-D03209A8E2C6}"/>
              </a:ext>
            </a:extLst>
          </p:cNvPr>
          <p:cNvSpPr txBox="1">
            <a:spLocks noChangeArrowheads="1"/>
          </p:cNvSpPr>
          <p:nvPr/>
        </p:nvSpPr>
        <p:spPr bwMode="auto">
          <a:xfrm>
            <a:off x="2673078" y="6232034"/>
            <a:ext cx="1866900" cy="579437"/>
          </a:xfrm>
          <a:prstGeom prst="rect">
            <a:avLst/>
          </a:prstGeom>
          <a:noFill/>
          <a:ln w="9525">
            <a:noFill/>
            <a:miter lim="800000"/>
            <a:headEnd/>
            <a:tailEnd/>
          </a:ln>
        </p:spPr>
        <p:txBody>
          <a:bodyPr>
            <a:spAutoFit/>
          </a:bodyPr>
          <a:lstStyle/>
          <a:p>
            <a:pPr defTabSz="914400"/>
            <a:r>
              <a:rPr lang="zh-CN" altLang="en-US" sz="3200" b="1" dirty="0">
                <a:solidFill>
                  <a:srgbClr val="FF0000"/>
                </a:solidFill>
                <a:latin typeface="华文琥珀" pitchFamily="2" charset="-122"/>
                <a:ea typeface="华文琥珀" pitchFamily="2" charset="-122"/>
              </a:rPr>
              <a:t>曝光时间</a:t>
            </a:r>
          </a:p>
        </p:txBody>
      </p:sp>
      <p:sp>
        <p:nvSpPr>
          <p:cNvPr id="21" name="文本框 60">
            <a:extLst>
              <a:ext uri="{FF2B5EF4-FFF2-40B4-BE49-F238E27FC236}">
                <a16:creationId xmlns="" xmlns:a16="http://schemas.microsoft.com/office/drawing/2014/main" id="{2E546099-CA7C-4FA0-AF40-F1D2B7C32613}"/>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照相机自动曝光控制电路</a:t>
            </a:r>
          </a:p>
        </p:txBody>
      </p:sp>
      <p:sp>
        <p:nvSpPr>
          <p:cNvPr id="22" name="矩形 21">
            <a:extLst>
              <a:ext uri="{FF2B5EF4-FFF2-40B4-BE49-F238E27FC236}">
                <a16:creationId xmlns="" xmlns:a16="http://schemas.microsoft.com/office/drawing/2014/main" id="{D0B6094C-9F9B-42D8-806D-057522A29A28}"/>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23" name="矩形 22">
            <a:extLst>
              <a:ext uri="{FF2B5EF4-FFF2-40B4-BE49-F238E27FC236}">
                <a16:creationId xmlns="" xmlns:a16="http://schemas.microsoft.com/office/drawing/2014/main" id="{444E3463-0E4D-40CD-8D37-0EC757596A1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 xmlns:a16="http://schemas.microsoft.com/office/drawing/2014/main" id="{96C2E39F-3D8A-409D-AE5E-6CBB9FA583EC}"/>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7" name="直接连接符 58">
            <a:extLst>
              <a:ext uri="{FF2B5EF4-FFF2-40B4-BE49-F238E27FC236}">
                <a16:creationId xmlns="" xmlns:a16="http://schemas.microsoft.com/office/drawing/2014/main" id="{7C4262FF-00AD-4C0C-9A11-60D69FF68321}"/>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 xmlns:a16="http://schemas.microsoft.com/office/drawing/2014/main" id="{88FEB4CD-F968-4E16-A4A1-390C9E65CEF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9" name="矩形 28">
            <a:extLst>
              <a:ext uri="{FF2B5EF4-FFF2-40B4-BE49-F238E27FC236}">
                <a16:creationId xmlns="" xmlns:a16="http://schemas.microsoft.com/office/drawing/2014/main" id="{37A6EC96-B500-41F6-B088-12D9201AEB4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491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arn(inHorizontal)">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box(in)">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 calcmode="lin" valueType="num">
                                      <p:cBhvr additive="base">
                                        <p:cTn id="17" dur="500" fill="hold"/>
                                        <p:tgtEl>
                                          <p:spTgt spid="46"/>
                                        </p:tgtEl>
                                        <p:attrNameLst>
                                          <p:attrName>ppt_x</p:attrName>
                                        </p:attrNameLst>
                                      </p:cBhvr>
                                      <p:tavLst>
                                        <p:tav tm="0">
                                          <p:val>
                                            <p:strVal val="0-#ppt_w/2"/>
                                          </p:val>
                                        </p:tav>
                                        <p:tav tm="100000">
                                          <p:val>
                                            <p:strVal val="#ppt_x"/>
                                          </p:val>
                                        </p:tav>
                                      </p:tavLst>
                                    </p:anim>
                                    <p:anim calcmode="lin" valueType="num">
                                      <p:cBhvr additive="base">
                                        <p:cTn id="18"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box(in)">
                                      <p:cBhvr>
                                        <p:cTn id="23" dur="500"/>
                                        <p:tgtEl>
                                          <p:spTgt spid="52"/>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47"/>
                                        </p:tgtEl>
                                        <p:attrNameLst>
                                          <p:attrName>style.visibility</p:attrName>
                                        </p:attrNameLst>
                                      </p:cBhvr>
                                      <p:to>
                                        <p:strVal val="visible"/>
                                      </p:to>
                                    </p:set>
                                    <p:anim calcmode="lin" valueType="num">
                                      <p:cBhvr additive="base">
                                        <p:cTn id="28" dur="500" fill="hold"/>
                                        <p:tgtEl>
                                          <p:spTgt spid="47"/>
                                        </p:tgtEl>
                                        <p:attrNameLst>
                                          <p:attrName>ppt_x</p:attrName>
                                        </p:attrNameLst>
                                      </p:cBhvr>
                                      <p:tavLst>
                                        <p:tav tm="0">
                                          <p:val>
                                            <p:strVal val="1+#ppt_w/2"/>
                                          </p:val>
                                        </p:tav>
                                        <p:tav tm="100000">
                                          <p:val>
                                            <p:strVal val="#ppt_x"/>
                                          </p:val>
                                        </p:tav>
                                      </p:tavLst>
                                    </p:anim>
                                    <p:anim calcmode="lin" valueType="num">
                                      <p:cBhvr additive="base">
                                        <p:cTn id="29"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box(in)">
                                      <p:cBhvr>
                                        <p:cTn id="34" dur="500"/>
                                        <p:tgtEl>
                                          <p:spTgt spid="53"/>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box(in)">
                                      <p:cBhvr>
                                        <p:cTn id="39" dur="500"/>
                                        <p:tgtEl>
                                          <p:spTgt spid="48"/>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box(in)">
                                      <p:cBhvr>
                                        <p:cTn id="44" dur="500"/>
                                        <p:tgtEl>
                                          <p:spTgt spid="54"/>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nodeType="click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box(in)">
                                      <p:cBhvr>
                                        <p:cTn id="49" dur="500"/>
                                        <p:tgtEl>
                                          <p:spTgt spid="49"/>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16" fill="hold" grpId="0" nodeType="click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box(in)">
                                      <p:cBhvr>
                                        <p:cTn id="54" dur="500"/>
                                        <p:tgtEl>
                                          <p:spTgt spid="57"/>
                                        </p:tgtEl>
                                      </p:cBhvr>
                                    </p:animEffect>
                                  </p:childTnLst>
                                </p:cTn>
                              </p:par>
                            </p:childTnLst>
                          </p:cTn>
                        </p:par>
                      </p:childTnLst>
                    </p:cTn>
                  </p:par>
                  <p:par>
                    <p:cTn id="55" fill="hold">
                      <p:stCondLst>
                        <p:cond delay="indefinite"/>
                      </p:stCondLst>
                      <p:childTnLst>
                        <p:par>
                          <p:cTn id="56" fill="hold">
                            <p:stCondLst>
                              <p:cond delay="0"/>
                            </p:stCondLst>
                            <p:childTnLst>
                              <p:par>
                                <p:cTn id="57" presetID="5" presetClass="entr" presetSubtype="10" fill="hold" nodeType="click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checkerboard(across)">
                                      <p:cBhvr>
                                        <p:cTn id="5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4" grpId="0"/>
      <p:bldP spid="55" grpId="0" animBg="1"/>
      <p:bldP spid="5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5">
            <a:extLst>
              <a:ext uri="{FF2B5EF4-FFF2-40B4-BE49-F238E27FC236}">
                <a16:creationId xmlns="" xmlns:a16="http://schemas.microsoft.com/office/drawing/2014/main" id="{22FAF18E-43B1-44AE-8E08-F579D8737486}"/>
              </a:ext>
            </a:extLst>
          </p:cNvPr>
          <p:cNvSpPr txBox="1">
            <a:spLocks noChangeArrowheads="1"/>
          </p:cNvSpPr>
          <p:nvPr/>
        </p:nvSpPr>
        <p:spPr bwMode="auto">
          <a:xfrm>
            <a:off x="923430" y="1708968"/>
            <a:ext cx="12041524" cy="523220"/>
          </a:xfrm>
          <a:prstGeom prst="rect">
            <a:avLst/>
          </a:prstGeom>
          <a:noFill/>
          <a:ln w="9525">
            <a:noFill/>
            <a:miter lim="800000"/>
            <a:headEnd/>
            <a:tailEnd/>
          </a:ln>
        </p:spPr>
        <p:txBody>
          <a:bodyPr wrap="square">
            <a:spAutoFit/>
          </a:bodyPr>
          <a:lstStyle/>
          <a:p>
            <a:pPr defTabSz="914400">
              <a:spcBef>
                <a:spcPct val="50000"/>
              </a:spcBef>
            </a:pPr>
            <a:r>
              <a:rPr kumimoji="1" lang="zh-CN" altLang="en-US" sz="2800" dirty="0">
                <a:latin typeface="Times New Roman" pitchFamily="18" charset="0"/>
                <a:ea typeface="微软雅黑" pitchFamily="34" charset="-122"/>
                <a:cs typeface="Times New Roman" pitchFamily="18" charset="0"/>
              </a:rPr>
              <a:t>    </a:t>
            </a:r>
            <a:r>
              <a:rPr kumimoji="1" lang="zh-CN" altLang="en-US" sz="2800" b="1" dirty="0">
                <a:latin typeface="Times New Roman" pitchFamily="18" charset="0"/>
                <a:ea typeface="微软雅黑" pitchFamily="34" charset="-122"/>
                <a:cs typeface="Times New Roman" pitchFamily="18" charset="0"/>
              </a:rPr>
              <a:t>如图所示为一种最简单的由光敏电阻控制的件的照明灯光自动控制电路。 </a:t>
            </a:r>
          </a:p>
        </p:txBody>
      </p:sp>
      <p:sp>
        <p:nvSpPr>
          <p:cNvPr id="22" name="Text Box 6">
            <a:extLst>
              <a:ext uri="{FF2B5EF4-FFF2-40B4-BE49-F238E27FC236}">
                <a16:creationId xmlns="" xmlns:a16="http://schemas.microsoft.com/office/drawing/2014/main" id="{FD49FC0C-0B98-438C-9E62-16E8D6EB9584}"/>
              </a:ext>
            </a:extLst>
          </p:cNvPr>
          <p:cNvSpPr txBox="1">
            <a:spLocks noChangeArrowheads="1"/>
          </p:cNvSpPr>
          <p:nvPr/>
        </p:nvSpPr>
        <p:spPr bwMode="auto">
          <a:xfrm>
            <a:off x="2663329" y="2464944"/>
            <a:ext cx="2317750" cy="519113"/>
          </a:xfrm>
          <a:prstGeom prst="rect">
            <a:avLst/>
          </a:prstGeom>
          <a:noFill/>
          <a:ln w="9525">
            <a:noFill/>
            <a:miter lim="800000"/>
            <a:headEnd/>
            <a:tailEnd/>
          </a:ln>
        </p:spPr>
        <p:txBody>
          <a:bodyPr>
            <a:spAutoFit/>
          </a:bodyPr>
          <a:lstStyle/>
          <a:p>
            <a:pPr defTabSz="914400">
              <a:spcBef>
                <a:spcPct val="50000"/>
              </a:spcBef>
            </a:pPr>
            <a:r>
              <a:rPr kumimoji="1" lang="zh-CN" altLang="en-US" sz="2800" b="1" dirty="0">
                <a:latin typeface="Times New Roman" pitchFamily="18" charset="0"/>
                <a:ea typeface="微软雅黑" pitchFamily="34" charset="-122"/>
                <a:cs typeface="Times New Roman" pitchFamily="18" charset="0"/>
              </a:rPr>
              <a:t>由</a:t>
            </a:r>
            <a:r>
              <a:rPr kumimoji="1" lang="en-US" altLang="zh-CN" sz="2800" b="1" dirty="0">
                <a:latin typeface="Times New Roman" pitchFamily="18" charset="0"/>
                <a:ea typeface="微软雅黑" pitchFamily="34" charset="-122"/>
                <a:cs typeface="Times New Roman" pitchFamily="18" charset="0"/>
              </a:rPr>
              <a:t>3</a:t>
            </a:r>
            <a:r>
              <a:rPr kumimoji="1" lang="zh-CN" altLang="en-US" sz="2800" b="1" dirty="0">
                <a:latin typeface="Times New Roman" pitchFamily="18" charset="0"/>
                <a:ea typeface="微软雅黑" pitchFamily="34" charset="-122"/>
                <a:cs typeface="Times New Roman" pitchFamily="18" charset="0"/>
              </a:rPr>
              <a:t>部分构成 </a:t>
            </a:r>
          </a:p>
        </p:txBody>
      </p:sp>
      <p:sp>
        <p:nvSpPr>
          <p:cNvPr id="23" name="Text Box 7">
            <a:extLst>
              <a:ext uri="{FF2B5EF4-FFF2-40B4-BE49-F238E27FC236}">
                <a16:creationId xmlns="" xmlns:a16="http://schemas.microsoft.com/office/drawing/2014/main" id="{A2D6AC1F-1F46-4CF0-8396-3577365DFCBC}"/>
              </a:ext>
            </a:extLst>
          </p:cNvPr>
          <p:cNvSpPr txBox="1">
            <a:spLocks noChangeArrowheads="1"/>
          </p:cNvSpPr>
          <p:nvPr/>
        </p:nvSpPr>
        <p:spPr bwMode="auto">
          <a:xfrm>
            <a:off x="2589273" y="3186997"/>
            <a:ext cx="3111500" cy="519113"/>
          </a:xfrm>
          <a:prstGeom prst="rect">
            <a:avLst/>
          </a:prstGeom>
          <a:solidFill>
            <a:srgbClr val="FFFF00"/>
          </a:solidFill>
          <a:ln w="9525">
            <a:noFill/>
            <a:miter lim="800000"/>
            <a:headEnd/>
            <a:tailEnd/>
          </a:ln>
        </p:spPr>
        <p:txBody>
          <a:bodyPr>
            <a:spAutoFit/>
          </a:bodyPr>
          <a:lstStyle/>
          <a:p>
            <a:pPr defTabSz="914400">
              <a:spcBef>
                <a:spcPct val="50000"/>
              </a:spcBef>
            </a:pPr>
            <a:r>
              <a:rPr kumimoji="1" lang="zh-CN" altLang="en-US" sz="2800" b="1" dirty="0">
                <a:latin typeface="Times New Roman" pitchFamily="18" charset="0"/>
                <a:ea typeface="微软雅黑" pitchFamily="34" charset="-122"/>
                <a:cs typeface="Times New Roman" pitchFamily="18" charset="0"/>
              </a:rPr>
              <a:t>半波整流滤波电路 </a:t>
            </a:r>
          </a:p>
        </p:txBody>
      </p:sp>
      <p:sp>
        <p:nvSpPr>
          <p:cNvPr id="24" name="Text Box 8">
            <a:extLst>
              <a:ext uri="{FF2B5EF4-FFF2-40B4-BE49-F238E27FC236}">
                <a16:creationId xmlns="" xmlns:a16="http://schemas.microsoft.com/office/drawing/2014/main" id="{EC5F6CD9-9C85-475C-98A7-83816243D9DE}"/>
              </a:ext>
            </a:extLst>
          </p:cNvPr>
          <p:cNvSpPr txBox="1">
            <a:spLocks noChangeArrowheads="1"/>
          </p:cNvSpPr>
          <p:nvPr/>
        </p:nvSpPr>
        <p:spPr bwMode="auto">
          <a:xfrm>
            <a:off x="2633723" y="3948642"/>
            <a:ext cx="3067050" cy="519113"/>
          </a:xfrm>
          <a:prstGeom prst="rect">
            <a:avLst/>
          </a:prstGeom>
          <a:solidFill>
            <a:srgbClr val="FFFF00"/>
          </a:solidFill>
          <a:ln w="9525">
            <a:noFill/>
            <a:miter lim="800000"/>
            <a:headEnd/>
            <a:tailEnd/>
          </a:ln>
        </p:spPr>
        <p:txBody>
          <a:bodyPr>
            <a:spAutoFit/>
          </a:bodyPr>
          <a:lstStyle/>
          <a:p>
            <a:pPr defTabSz="914400">
              <a:spcBef>
                <a:spcPct val="50000"/>
              </a:spcBef>
            </a:pPr>
            <a:r>
              <a:rPr kumimoji="1" lang="zh-CN" altLang="en-US" sz="2800" b="1" dirty="0">
                <a:latin typeface="Times New Roman" pitchFamily="18" charset="0"/>
                <a:ea typeface="微软雅黑" pitchFamily="34" charset="-122"/>
                <a:cs typeface="Times New Roman" pitchFamily="18" charset="0"/>
              </a:rPr>
              <a:t>测光与控制的电路 </a:t>
            </a:r>
          </a:p>
        </p:txBody>
      </p:sp>
      <p:sp>
        <p:nvSpPr>
          <p:cNvPr id="27" name="Text Box 9">
            <a:extLst>
              <a:ext uri="{FF2B5EF4-FFF2-40B4-BE49-F238E27FC236}">
                <a16:creationId xmlns="" xmlns:a16="http://schemas.microsoft.com/office/drawing/2014/main" id="{BDFA4EEA-A339-4618-A4BF-7F626F032BF8}"/>
              </a:ext>
            </a:extLst>
          </p:cNvPr>
          <p:cNvSpPr txBox="1">
            <a:spLocks noChangeArrowheads="1"/>
          </p:cNvSpPr>
          <p:nvPr/>
        </p:nvSpPr>
        <p:spPr bwMode="auto">
          <a:xfrm>
            <a:off x="2548420" y="4820468"/>
            <a:ext cx="3022600" cy="519113"/>
          </a:xfrm>
          <a:prstGeom prst="rect">
            <a:avLst/>
          </a:prstGeom>
          <a:solidFill>
            <a:srgbClr val="FFFF00"/>
          </a:solidFill>
          <a:ln w="9525">
            <a:noFill/>
            <a:miter lim="800000"/>
            <a:headEnd/>
            <a:tailEnd/>
          </a:ln>
        </p:spPr>
        <p:txBody>
          <a:bodyPr>
            <a:spAutoFit/>
          </a:bodyPr>
          <a:lstStyle/>
          <a:p>
            <a:pPr algn="ctr" defTabSz="914400">
              <a:spcBef>
                <a:spcPct val="50000"/>
              </a:spcBef>
            </a:pPr>
            <a:r>
              <a:rPr kumimoji="1" lang="zh-CN" altLang="en-US" sz="2800" b="1">
                <a:latin typeface="Times New Roman" pitchFamily="18" charset="0"/>
                <a:ea typeface="微软雅黑" pitchFamily="34" charset="-122"/>
                <a:cs typeface="Times New Roman" pitchFamily="18" charset="0"/>
              </a:rPr>
              <a:t>执行电路 </a:t>
            </a:r>
          </a:p>
        </p:txBody>
      </p:sp>
      <p:sp>
        <p:nvSpPr>
          <p:cNvPr id="28" name="Text Box 10">
            <a:extLst>
              <a:ext uri="{FF2B5EF4-FFF2-40B4-BE49-F238E27FC236}">
                <a16:creationId xmlns="" xmlns:a16="http://schemas.microsoft.com/office/drawing/2014/main" id="{10BF11B6-7BA7-464B-81BA-2BBB2F9ECDE1}"/>
              </a:ext>
            </a:extLst>
          </p:cNvPr>
          <p:cNvSpPr txBox="1">
            <a:spLocks noChangeArrowheads="1"/>
          </p:cNvSpPr>
          <p:nvPr/>
        </p:nvSpPr>
        <p:spPr bwMode="auto">
          <a:xfrm>
            <a:off x="2617072" y="5964587"/>
            <a:ext cx="4927600" cy="519113"/>
          </a:xfrm>
          <a:prstGeom prst="rect">
            <a:avLst/>
          </a:prstGeom>
          <a:noFill/>
          <a:ln w="9525">
            <a:noFill/>
            <a:miter lim="800000"/>
            <a:headEnd/>
            <a:tailEnd/>
          </a:ln>
        </p:spPr>
        <p:txBody>
          <a:bodyPr>
            <a:spAutoFit/>
          </a:bodyPr>
          <a:lstStyle/>
          <a:p>
            <a:pPr defTabSz="914400">
              <a:spcBef>
                <a:spcPct val="50000"/>
              </a:spcBef>
            </a:pPr>
            <a:r>
              <a:rPr kumimoji="1" lang="zh-CN" altLang="en-US" sz="2800" b="1">
                <a:latin typeface="Times New Roman" pitchFamily="18" charset="0"/>
                <a:ea typeface="微软雅黑" pitchFamily="34" charset="-122"/>
                <a:cs typeface="Times New Roman" pitchFamily="18" charset="0"/>
              </a:rPr>
              <a:t>设使照明灯点亮的光照度为</a:t>
            </a:r>
            <a:r>
              <a:rPr kumimoji="1" lang="en-US" altLang="zh-CN" sz="2800" b="1" i="1">
                <a:latin typeface="Times New Roman" pitchFamily="18" charset="0"/>
                <a:ea typeface="微软雅黑" pitchFamily="34" charset="-122"/>
                <a:cs typeface="Times New Roman" pitchFamily="18" charset="0"/>
              </a:rPr>
              <a:t>E</a:t>
            </a:r>
            <a:r>
              <a:rPr kumimoji="1" lang="en-US" altLang="zh-CN" sz="2800" b="1" baseline="-30000">
                <a:latin typeface="Times New Roman" pitchFamily="18" charset="0"/>
                <a:ea typeface="微软雅黑" pitchFamily="34" charset="-122"/>
                <a:cs typeface="Times New Roman" pitchFamily="18" charset="0"/>
              </a:rPr>
              <a:t>V</a:t>
            </a:r>
            <a:r>
              <a:rPr kumimoji="1" lang="en-US" altLang="zh-CN" sz="2800" b="1">
                <a:latin typeface="Times New Roman" pitchFamily="18" charset="0"/>
                <a:ea typeface="微软雅黑" pitchFamily="34" charset="-122"/>
                <a:cs typeface="Times New Roman" pitchFamily="18" charset="0"/>
              </a:rPr>
              <a:t> </a:t>
            </a:r>
          </a:p>
        </p:txBody>
      </p:sp>
      <p:graphicFrame>
        <p:nvGraphicFramePr>
          <p:cNvPr id="29" name="Object 11">
            <a:extLst>
              <a:ext uri="{FF2B5EF4-FFF2-40B4-BE49-F238E27FC236}">
                <a16:creationId xmlns="" xmlns:a16="http://schemas.microsoft.com/office/drawing/2014/main" id="{ED59A0BB-5F39-4ACF-B0C2-815569D35927}"/>
              </a:ext>
            </a:extLst>
          </p:cNvPr>
          <p:cNvGraphicFramePr>
            <a:graphicFrameLocks noChangeAspect="1"/>
          </p:cNvGraphicFramePr>
          <p:nvPr>
            <p:extLst>
              <p:ext uri="{D42A27DB-BD31-4B8C-83A1-F6EECF244321}">
                <p14:modId xmlns:p14="http://schemas.microsoft.com/office/powerpoint/2010/main" val="3740350666"/>
              </p:ext>
            </p:extLst>
          </p:nvPr>
        </p:nvGraphicFramePr>
        <p:xfrm>
          <a:off x="6509233" y="3398068"/>
          <a:ext cx="4497387" cy="2266950"/>
        </p:xfrm>
        <a:graphic>
          <a:graphicData uri="http://schemas.openxmlformats.org/presentationml/2006/ole">
            <mc:AlternateContent xmlns:mc="http://schemas.openxmlformats.org/markup-compatibility/2006">
              <mc:Choice xmlns:v="urn:schemas-microsoft-com:vml" Requires="v">
                <p:oleObj spid="_x0000_s22545" name="Visio" r:id="rId3" imgW="2641320" imgH="1277280" progId="Visio.Drawing.11">
                  <p:embed/>
                </p:oleObj>
              </mc:Choice>
              <mc:Fallback>
                <p:oleObj name="Visio" r:id="rId3" imgW="2641320" imgH="1277280" progId="Visio.Drawing.11">
                  <p:embed/>
                  <p:pic>
                    <p:nvPicPr>
                      <p:cNvPr id="48143"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9233" y="3398068"/>
                        <a:ext cx="4497387" cy="226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文本框 60">
            <a:extLst>
              <a:ext uri="{FF2B5EF4-FFF2-40B4-BE49-F238E27FC236}">
                <a16:creationId xmlns="" xmlns:a16="http://schemas.microsoft.com/office/drawing/2014/main" id="{FFEE4924-7477-4012-9E14-A954206A8616}"/>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照明灯的光电控制电路 </a:t>
            </a:r>
          </a:p>
        </p:txBody>
      </p:sp>
      <p:sp>
        <p:nvSpPr>
          <p:cNvPr id="18" name="矩形 17">
            <a:extLst>
              <a:ext uri="{FF2B5EF4-FFF2-40B4-BE49-F238E27FC236}">
                <a16:creationId xmlns="" xmlns:a16="http://schemas.microsoft.com/office/drawing/2014/main" id="{D8881DAB-AF04-4070-98E6-ED4808D867F7}"/>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 xmlns:a16="http://schemas.microsoft.com/office/drawing/2014/main" id="{33B241FB-8D76-45C6-A4DC-F15A1E13E4F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a:extLst>
              <a:ext uri="{FF2B5EF4-FFF2-40B4-BE49-F238E27FC236}">
                <a16:creationId xmlns="" xmlns:a16="http://schemas.microsoft.com/office/drawing/2014/main" id="{80574CF1-B14A-42E2-924B-6DD90EC33D3A}"/>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1" name="直接连接符 58">
            <a:extLst>
              <a:ext uri="{FF2B5EF4-FFF2-40B4-BE49-F238E27FC236}">
                <a16:creationId xmlns="" xmlns:a16="http://schemas.microsoft.com/office/drawing/2014/main" id="{5CCD9D76-C30D-44E1-AD83-F540C5AEA101}"/>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 xmlns:a16="http://schemas.microsoft.com/office/drawing/2014/main" id="{306AF3DB-79AF-4036-B68D-B3322A5F056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4" name="矩形 33">
            <a:extLst>
              <a:ext uri="{FF2B5EF4-FFF2-40B4-BE49-F238E27FC236}">
                <a16:creationId xmlns="" xmlns:a16="http://schemas.microsoft.com/office/drawing/2014/main" id="{944ADA79-33C7-41FE-A3F3-A989A34EA838}"/>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641429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2">
            <a:extLst>
              <a:ext uri="{FF2B5EF4-FFF2-40B4-BE49-F238E27FC236}">
                <a16:creationId xmlns="" xmlns:a16="http://schemas.microsoft.com/office/drawing/2014/main" id="{FB144EE7-0591-40BE-8673-BD138C072E23}"/>
              </a:ext>
            </a:extLst>
          </p:cNvPr>
          <p:cNvSpPr txBox="1">
            <a:spLocks noChangeArrowheads="1"/>
          </p:cNvSpPr>
          <p:nvPr/>
        </p:nvSpPr>
        <p:spPr bwMode="auto">
          <a:xfrm>
            <a:off x="763092" y="1246351"/>
            <a:ext cx="11692843" cy="1134862"/>
          </a:xfrm>
          <a:prstGeom prst="rect">
            <a:avLst/>
          </a:prstGeom>
          <a:noFill/>
          <a:ln w="9525">
            <a:noFill/>
            <a:miter lim="800000"/>
            <a:headEnd/>
            <a:tailEnd/>
          </a:ln>
        </p:spPr>
        <p:txBody>
          <a:bodyPr wrap="square">
            <a:spAutoFit/>
          </a:bodyPr>
          <a:lstStyle/>
          <a:p>
            <a:pPr defTabSz="914400">
              <a:lnSpc>
                <a:spcPct val="150000"/>
              </a:lnSpc>
              <a:spcBef>
                <a:spcPts val="0"/>
              </a:spcBef>
            </a:pPr>
            <a:r>
              <a:rPr kumimoji="1" lang="zh-CN" altLang="en-US" sz="2400" b="1" dirty="0">
                <a:latin typeface="Times New Roman" pitchFamily="18" charset="0"/>
                <a:ea typeface="微软雅黑" pitchFamily="34" charset="-122"/>
                <a:cs typeface="Times New Roman" pitchFamily="18" charset="0"/>
              </a:rPr>
              <a:t>继电器绕组的直流电阻为</a:t>
            </a:r>
            <a:r>
              <a:rPr kumimoji="1" lang="en-US" altLang="zh-CN" sz="2400" b="1" i="1" dirty="0">
                <a:latin typeface="Times New Roman" pitchFamily="18" charset="0"/>
                <a:ea typeface="微软雅黑" pitchFamily="34" charset="-122"/>
                <a:cs typeface="Times New Roman" pitchFamily="18" charset="0"/>
              </a:rPr>
              <a:t>R</a:t>
            </a:r>
            <a:r>
              <a:rPr kumimoji="1" lang="en-US" altLang="zh-CN" sz="2400" b="1" baseline="-30000" dirty="0">
                <a:latin typeface="Times New Roman" pitchFamily="18" charset="0"/>
                <a:ea typeface="微软雅黑" pitchFamily="34" charset="-122"/>
                <a:cs typeface="Times New Roman" pitchFamily="18" charset="0"/>
              </a:rPr>
              <a:t>J</a:t>
            </a:r>
            <a:r>
              <a:rPr kumimoji="1" lang="zh-CN" altLang="en-US" sz="2400" b="1" dirty="0">
                <a:latin typeface="Times New Roman" pitchFamily="18" charset="0"/>
                <a:ea typeface="微软雅黑" pitchFamily="34" charset="-122"/>
                <a:cs typeface="Times New Roman" pitchFamily="18" charset="0"/>
              </a:rPr>
              <a:t>，使继电器吸合的最小电流为</a:t>
            </a:r>
            <a:r>
              <a:rPr kumimoji="1" lang="en-US" altLang="zh-CN" sz="2400" b="1" i="1" dirty="0" err="1">
                <a:latin typeface="Times New Roman" pitchFamily="18" charset="0"/>
                <a:ea typeface="微软雅黑" pitchFamily="34" charset="-122"/>
                <a:cs typeface="Times New Roman" pitchFamily="18" charset="0"/>
              </a:rPr>
              <a:t>I</a:t>
            </a:r>
            <a:r>
              <a:rPr kumimoji="1" lang="en-US" altLang="zh-CN" sz="2400" b="1" baseline="-30000" dirty="0" err="1">
                <a:latin typeface="Times New Roman" pitchFamily="18" charset="0"/>
                <a:ea typeface="微软雅黑" pitchFamily="34" charset="-122"/>
                <a:cs typeface="Times New Roman" pitchFamily="18" charset="0"/>
              </a:rPr>
              <a:t>min</a:t>
            </a:r>
            <a:r>
              <a:rPr kumimoji="1" lang="zh-CN" altLang="en-US" sz="2400" b="1" dirty="0">
                <a:latin typeface="Times New Roman" pitchFamily="18" charset="0"/>
                <a:ea typeface="微软雅黑" pitchFamily="34" charset="-122"/>
                <a:cs typeface="Times New Roman" pitchFamily="18" charset="0"/>
              </a:rPr>
              <a:t>，光敏电阻的光电导灵敏度为</a:t>
            </a:r>
            <a:r>
              <a:rPr kumimoji="1" lang="en-US" altLang="zh-CN" sz="2400" b="1" i="1" dirty="0" err="1">
                <a:latin typeface="Times New Roman" pitchFamily="18" charset="0"/>
                <a:ea typeface="微软雅黑" pitchFamily="34" charset="-122"/>
                <a:cs typeface="Times New Roman" pitchFamily="18" charset="0"/>
              </a:rPr>
              <a:t>S</a:t>
            </a:r>
            <a:r>
              <a:rPr kumimoji="1" lang="en-US" altLang="zh-CN" sz="2400" b="1" baseline="-30000" dirty="0" err="1">
                <a:latin typeface="Times New Roman" pitchFamily="18" charset="0"/>
                <a:ea typeface="微软雅黑" pitchFamily="34" charset="-122"/>
                <a:cs typeface="Times New Roman" pitchFamily="18" charset="0"/>
              </a:rPr>
              <a:t>g</a:t>
            </a:r>
            <a:r>
              <a:rPr kumimoji="1" lang="zh-CN" altLang="en-US" sz="2400" b="1" dirty="0">
                <a:latin typeface="Times New Roman" pitchFamily="18" charset="0"/>
                <a:ea typeface="微软雅黑" pitchFamily="34" charset="-122"/>
                <a:cs typeface="Times New Roman" pitchFamily="18" charset="0"/>
              </a:rPr>
              <a:t>，暗电导</a:t>
            </a:r>
            <a:r>
              <a:rPr kumimoji="1" lang="en-US" altLang="zh-CN" sz="2400" b="1" i="1" dirty="0">
                <a:latin typeface="Times New Roman" pitchFamily="18" charset="0"/>
                <a:ea typeface="微软雅黑" pitchFamily="34" charset="-122"/>
                <a:cs typeface="Times New Roman" pitchFamily="18" charset="0"/>
              </a:rPr>
              <a:t>g</a:t>
            </a:r>
            <a:r>
              <a:rPr kumimoji="1" lang="en-US" altLang="zh-CN" sz="2400" b="1" baseline="-30000" dirty="0">
                <a:latin typeface="Times New Roman" pitchFamily="18" charset="0"/>
                <a:ea typeface="微软雅黑" pitchFamily="34" charset="-122"/>
                <a:cs typeface="Times New Roman" pitchFamily="18" charset="0"/>
              </a:rPr>
              <a:t>o</a:t>
            </a:r>
            <a:r>
              <a:rPr kumimoji="1" lang="en-US" altLang="zh-CN" sz="2400" b="1" dirty="0">
                <a:latin typeface="Times New Roman" pitchFamily="18" charset="0"/>
                <a:ea typeface="微软雅黑" pitchFamily="34" charset="-122"/>
                <a:cs typeface="Times New Roman" pitchFamily="18" charset="0"/>
              </a:rPr>
              <a:t>=0</a:t>
            </a:r>
            <a:r>
              <a:rPr kumimoji="1" lang="zh-CN" altLang="en-US" sz="2400" b="1" dirty="0">
                <a:latin typeface="Times New Roman" pitchFamily="18" charset="0"/>
                <a:ea typeface="微软雅黑" pitchFamily="34" charset="-122"/>
                <a:cs typeface="Times New Roman" pitchFamily="18" charset="0"/>
              </a:rPr>
              <a:t>，则 </a:t>
            </a:r>
          </a:p>
        </p:txBody>
      </p:sp>
      <p:graphicFrame>
        <p:nvGraphicFramePr>
          <p:cNvPr id="18" name="Object 3">
            <a:extLst>
              <a:ext uri="{FF2B5EF4-FFF2-40B4-BE49-F238E27FC236}">
                <a16:creationId xmlns="" xmlns:a16="http://schemas.microsoft.com/office/drawing/2014/main" id="{610AF5CF-B9A9-48D9-9E3A-37C6D64432C7}"/>
              </a:ext>
            </a:extLst>
          </p:cNvPr>
          <p:cNvGraphicFramePr>
            <a:graphicFrameLocks noChangeAspect="1"/>
          </p:cNvGraphicFramePr>
          <p:nvPr>
            <p:extLst>
              <p:ext uri="{D42A27DB-BD31-4B8C-83A1-F6EECF244321}">
                <p14:modId xmlns:p14="http://schemas.microsoft.com/office/powerpoint/2010/main" val="1265760139"/>
              </p:ext>
            </p:extLst>
          </p:nvPr>
        </p:nvGraphicFramePr>
        <p:xfrm>
          <a:off x="4852493" y="2781464"/>
          <a:ext cx="2706688" cy="1406525"/>
        </p:xfrm>
        <a:graphic>
          <a:graphicData uri="http://schemas.openxmlformats.org/presentationml/2006/ole">
            <mc:AlternateContent xmlns:mc="http://schemas.openxmlformats.org/markup-compatibility/2006">
              <mc:Choice xmlns:v="urn:schemas-microsoft-com:vml" Requires="v">
                <p:oleObj spid="_x0000_s23569" name="Equation" r:id="rId3" imgW="1269720" imgH="660240" progId="Equation.DSMT4">
                  <p:embed/>
                </p:oleObj>
              </mc:Choice>
              <mc:Fallback>
                <p:oleObj name="Equation" r:id="rId3" imgW="1269720" imgH="660240" progId="Equation.DSMT4">
                  <p:embed/>
                  <p:pic>
                    <p:nvPicPr>
                      <p:cNvPr id="49161" name="Object 3"/>
                      <p:cNvPicPr>
                        <a:picLocks noChangeAspect="1" noChangeArrowheads="1"/>
                      </p:cNvPicPr>
                      <p:nvPr/>
                    </p:nvPicPr>
                    <p:blipFill>
                      <a:blip r:embed="rId4"/>
                      <a:srcRect/>
                      <a:stretch>
                        <a:fillRect/>
                      </a:stretch>
                    </p:blipFill>
                    <p:spPr bwMode="auto">
                      <a:xfrm>
                        <a:off x="4852493" y="2781464"/>
                        <a:ext cx="2706688" cy="1406525"/>
                      </a:xfrm>
                      <a:prstGeom prst="rect">
                        <a:avLst/>
                      </a:prstGeom>
                      <a:solidFill>
                        <a:srgbClr val="FFFF00"/>
                      </a:solidFill>
                    </p:spPr>
                  </p:pic>
                </p:oleObj>
              </mc:Fallback>
            </mc:AlternateContent>
          </a:graphicData>
        </a:graphic>
      </p:graphicFrame>
      <p:sp>
        <p:nvSpPr>
          <p:cNvPr id="19" name="Text Box 4">
            <a:extLst>
              <a:ext uri="{FF2B5EF4-FFF2-40B4-BE49-F238E27FC236}">
                <a16:creationId xmlns="" xmlns:a16="http://schemas.microsoft.com/office/drawing/2014/main" id="{8785A4B4-E5B7-4BCE-A098-760C88C1F649}"/>
              </a:ext>
            </a:extLst>
          </p:cNvPr>
          <p:cNvSpPr txBox="1">
            <a:spLocks noChangeArrowheads="1"/>
          </p:cNvSpPr>
          <p:nvPr/>
        </p:nvSpPr>
        <p:spPr bwMode="auto">
          <a:xfrm>
            <a:off x="464170" y="4443724"/>
            <a:ext cx="12495494" cy="2335191"/>
          </a:xfrm>
          <a:prstGeom prst="rect">
            <a:avLst/>
          </a:prstGeom>
          <a:noFill/>
          <a:ln w="9525">
            <a:noFill/>
            <a:miter lim="800000"/>
            <a:headEnd/>
            <a:tailEnd/>
          </a:ln>
        </p:spPr>
        <p:txBody>
          <a:bodyPr wrap="square">
            <a:spAutoFit/>
          </a:bodyPr>
          <a:lstStyle/>
          <a:p>
            <a:pPr defTabSz="914400">
              <a:lnSpc>
                <a:spcPct val="150000"/>
              </a:lnSpc>
              <a:spcBef>
                <a:spcPts val="0"/>
              </a:spcBef>
            </a:pPr>
            <a:r>
              <a:rPr kumimoji="1" lang="zh-CN" altLang="en-US" sz="2800" dirty="0">
                <a:latin typeface="Times New Roman" pitchFamily="18" charset="0"/>
                <a:ea typeface="微软雅黑" pitchFamily="34" charset="-122"/>
                <a:cs typeface="Times New Roman" pitchFamily="18" charset="0"/>
              </a:rPr>
              <a:t>    </a:t>
            </a:r>
            <a:r>
              <a:rPr kumimoji="1" lang="zh-CN" altLang="en-US" sz="2400" b="1" dirty="0">
                <a:latin typeface="Times New Roman" pitchFamily="18" charset="0"/>
                <a:ea typeface="微软雅黑" pitchFamily="34" charset="-122"/>
                <a:cs typeface="Times New Roman" pitchFamily="18" charset="0"/>
              </a:rPr>
              <a:t>这种最简单的光电控制电路还有很多缺点，还需要改进。在实际应用中常常要附加其他电路，如楼道照明灯常配加声控开关或微波等接近开关使灯在有人活动时照明灯才被点亮；而路灯光电控制器则要增加防止闪电光辐射或人为的光源（如手电灯光等）对控制电路的干扰措施。 </a:t>
            </a:r>
            <a:endParaRPr kumimoji="1" lang="zh-CN" altLang="en-US" sz="2800" b="1" dirty="0">
              <a:latin typeface="Times New Roman" pitchFamily="18" charset="0"/>
              <a:ea typeface="微软雅黑" pitchFamily="34" charset="-122"/>
              <a:cs typeface="Times New Roman" pitchFamily="18" charset="0"/>
            </a:endParaRPr>
          </a:p>
        </p:txBody>
      </p:sp>
      <p:sp>
        <p:nvSpPr>
          <p:cNvPr id="14" name="文本框 60">
            <a:extLst>
              <a:ext uri="{FF2B5EF4-FFF2-40B4-BE49-F238E27FC236}">
                <a16:creationId xmlns="" xmlns:a16="http://schemas.microsoft.com/office/drawing/2014/main" id="{3F4CE422-9226-4751-BB7A-A6528F60E3AE}"/>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照明灯的光电控制电路 </a:t>
            </a:r>
          </a:p>
        </p:txBody>
      </p:sp>
      <p:sp>
        <p:nvSpPr>
          <p:cNvPr id="15" name="矩形 14">
            <a:extLst>
              <a:ext uri="{FF2B5EF4-FFF2-40B4-BE49-F238E27FC236}">
                <a16:creationId xmlns="" xmlns:a16="http://schemas.microsoft.com/office/drawing/2014/main" id="{338039F5-F4C1-4BBC-8A35-0AEDCAD48BE1}"/>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 xmlns:a16="http://schemas.microsoft.com/office/drawing/2014/main" id="{9A5C489B-58ED-4D10-BB35-5BBE5B9F485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 xmlns:a16="http://schemas.microsoft.com/office/drawing/2014/main" id="{B08BFF55-A9E1-4502-90F7-6AE14D22DE94}"/>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 xmlns:a16="http://schemas.microsoft.com/office/drawing/2014/main" id="{2F7FBD94-ADD8-4DE7-85E7-8C26A2181DC1}"/>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 xmlns:a16="http://schemas.microsoft.com/office/drawing/2014/main" id="{CD15EB98-99E3-4FA6-9DD5-E7ACB41E02D9}"/>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 xmlns:a16="http://schemas.microsoft.com/office/drawing/2014/main" id="{2EB5E477-AD83-40A3-846A-12415C0F88A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777939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4">
            <a:extLst>
              <a:ext uri="{FF2B5EF4-FFF2-40B4-BE49-F238E27FC236}">
                <a16:creationId xmlns="" xmlns:a16="http://schemas.microsoft.com/office/drawing/2014/main" id="{FDFFF8DC-6BBD-4623-B4FC-1279FAB5F2A6}"/>
              </a:ext>
            </a:extLst>
          </p:cNvPr>
          <p:cNvSpPr txBox="1">
            <a:spLocks noChangeArrowheads="1"/>
          </p:cNvSpPr>
          <p:nvPr/>
        </p:nvSpPr>
        <p:spPr bwMode="auto">
          <a:xfrm>
            <a:off x="767308" y="1954920"/>
            <a:ext cx="11058154" cy="461665"/>
          </a:xfrm>
          <a:prstGeom prst="rect">
            <a:avLst/>
          </a:prstGeom>
          <a:noFill/>
          <a:ln w="9525">
            <a:noFill/>
            <a:miter lim="800000"/>
            <a:headEnd/>
            <a:tailEnd/>
          </a:ln>
        </p:spPr>
        <p:txBody>
          <a:bodyPr wrap="square">
            <a:spAutoFit/>
          </a:bodyPr>
          <a:lstStyle/>
          <a:p>
            <a:pPr defTabSz="914400">
              <a:spcBef>
                <a:spcPct val="50000"/>
              </a:spcBef>
            </a:pPr>
            <a:r>
              <a:rPr kumimoji="1" lang="zh-CN" altLang="en-US" sz="2400" b="1" dirty="0">
                <a:latin typeface="Times New Roman" pitchFamily="18" charset="0"/>
                <a:ea typeface="微软雅黑" pitchFamily="34" charset="-122"/>
                <a:cs typeface="Times New Roman" pitchFamily="18" charset="0"/>
              </a:rPr>
              <a:t>采用光敏电阻为探测元件的火焰探测报警器电路图如下图</a:t>
            </a:r>
            <a:endParaRPr kumimoji="1" lang="zh-CN" altLang="en-US" b="1" dirty="0">
              <a:latin typeface="Times New Roman" pitchFamily="18" charset="0"/>
              <a:ea typeface="微软雅黑" pitchFamily="34" charset="-122"/>
              <a:cs typeface="Times New Roman" pitchFamily="18" charset="0"/>
            </a:endParaRPr>
          </a:p>
        </p:txBody>
      </p:sp>
      <p:graphicFrame>
        <p:nvGraphicFramePr>
          <p:cNvPr id="15" name="Object 6">
            <a:extLst>
              <a:ext uri="{FF2B5EF4-FFF2-40B4-BE49-F238E27FC236}">
                <a16:creationId xmlns="" xmlns:a16="http://schemas.microsoft.com/office/drawing/2014/main" id="{E98CA344-E4AB-4F05-BF29-AE29C470778A}"/>
              </a:ext>
            </a:extLst>
          </p:cNvPr>
          <p:cNvGraphicFramePr>
            <a:graphicFrameLocks noChangeAspect="1"/>
          </p:cNvGraphicFramePr>
          <p:nvPr>
            <p:extLst>
              <p:ext uri="{D42A27DB-BD31-4B8C-83A1-F6EECF244321}">
                <p14:modId xmlns:p14="http://schemas.microsoft.com/office/powerpoint/2010/main" val="2592033991"/>
              </p:ext>
            </p:extLst>
          </p:nvPr>
        </p:nvGraphicFramePr>
        <p:xfrm>
          <a:off x="4488868" y="2406346"/>
          <a:ext cx="4603750" cy="2667000"/>
        </p:xfrm>
        <a:graphic>
          <a:graphicData uri="http://schemas.openxmlformats.org/presentationml/2006/ole">
            <mc:AlternateContent xmlns:mc="http://schemas.openxmlformats.org/markup-compatibility/2006">
              <mc:Choice xmlns:v="urn:schemas-microsoft-com:vml" Requires="v">
                <p:oleObj spid="_x0000_s24593" name="Visio" r:id="rId3" imgW="3255480" imgH="1888200" progId="Visio.Drawing.11">
                  <p:embed/>
                </p:oleObj>
              </mc:Choice>
              <mc:Fallback>
                <p:oleObj name="Visio" r:id="rId3" imgW="3255480" imgH="1888200" progId="Visio.Drawing.11">
                  <p:embed/>
                  <p:pic>
                    <p:nvPicPr>
                      <p:cNvPr id="5018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8868" y="2406346"/>
                        <a:ext cx="4603750" cy="2667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Box 6">
            <a:extLst>
              <a:ext uri="{FF2B5EF4-FFF2-40B4-BE49-F238E27FC236}">
                <a16:creationId xmlns="" xmlns:a16="http://schemas.microsoft.com/office/drawing/2014/main" id="{272FE531-A423-462C-9A7C-F6E9907E3BF8}"/>
              </a:ext>
            </a:extLst>
          </p:cNvPr>
          <p:cNvSpPr txBox="1">
            <a:spLocks noChangeArrowheads="1"/>
          </p:cNvSpPr>
          <p:nvPr/>
        </p:nvSpPr>
        <p:spPr bwMode="auto">
          <a:xfrm>
            <a:off x="589101" y="5161602"/>
            <a:ext cx="12403285" cy="1134862"/>
          </a:xfrm>
          <a:prstGeom prst="rect">
            <a:avLst/>
          </a:prstGeom>
          <a:noFill/>
          <a:ln w="9525">
            <a:noFill/>
            <a:miter lim="800000"/>
            <a:headEnd/>
            <a:tailEnd/>
          </a:ln>
        </p:spPr>
        <p:txBody>
          <a:bodyPr wrap="square">
            <a:spAutoFit/>
          </a:bodyPr>
          <a:lstStyle/>
          <a:p>
            <a:pPr defTabSz="914400">
              <a:lnSpc>
                <a:spcPct val="150000"/>
              </a:lnSpc>
            </a:pPr>
            <a:r>
              <a:rPr kumimoji="1" lang="en-US" altLang="zh-CN" sz="2400" b="1" dirty="0" err="1">
                <a:latin typeface="Times New Roman" pitchFamily="18" charset="0"/>
                <a:ea typeface="微软雅黑" pitchFamily="34" charset="-122"/>
                <a:cs typeface="Times New Roman" pitchFamily="18" charset="0"/>
              </a:rPr>
              <a:t>PbS</a:t>
            </a:r>
            <a:r>
              <a:rPr kumimoji="1" lang="zh-CN" altLang="en-US" sz="2400" b="1" dirty="0">
                <a:latin typeface="Times New Roman" pitchFamily="18" charset="0"/>
                <a:ea typeface="微软雅黑" pitchFamily="34" charset="-122"/>
                <a:cs typeface="Times New Roman" pitchFamily="18" charset="0"/>
              </a:rPr>
              <a:t>光敏电阻的暗电阻的阻值为</a:t>
            </a:r>
            <a:r>
              <a:rPr kumimoji="1" lang="en-US" altLang="zh-CN" sz="2400" b="1" dirty="0">
                <a:latin typeface="Times New Roman" pitchFamily="18" charset="0"/>
                <a:ea typeface="微软雅黑" pitchFamily="34" charset="-122"/>
                <a:cs typeface="Times New Roman" pitchFamily="18" charset="0"/>
              </a:rPr>
              <a:t>1MΩ</a:t>
            </a:r>
            <a:r>
              <a:rPr kumimoji="1" lang="zh-CN" altLang="en-US" sz="2400" b="1" dirty="0">
                <a:latin typeface="Times New Roman" pitchFamily="18" charset="0"/>
                <a:ea typeface="微软雅黑" pitchFamily="34" charset="-122"/>
                <a:cs typeface="Times New Roman" pitchFamily="18" charset="0"/>
              </a:rPr>
              <a:t>，亮电阻的阻值为</a:t>
            </a:r>
            <a:r>
              <a:rPr kumimoji="1" lang="en-US" altLang="zh-CN" sz="2400" b="1" dirty="0">
                <a:latin typeface="Times New Roman" pitchFamily="18" charset="0"/>
                <a:ea typeface="微软雅黑" pitchFamily="34" charset="-122"/>
                <a:cs typeface="Times New Roman" pitchFamily="18" charset="0"/>
              </a:rPr>
              <a:t>0.2MΩ(</a:t>
            </a:r>
            <a:r>
              <a:rPr kumimoji="1" lang="zh-CN" altLang="en-US" sz="2400" b="1" dirty="0">
                <a:latin typeface="Times New Roman" pitchFamily="18" charset="0"/>
                <a:ea typeface="微软雅黑" pitchFamily="34" charset="-122"/>
                <a:cs typeface="Times New Roman" pitchFamily="18" charset="0"/>
              </a:rPr>
              <a:t>幅照度</a:t>
            </a:r>
            <a:r>
              <a:rPr kumimoji="1" lang="en-US" altLang="zh-CN" sz="2400" b="1" dirty="0">
                <a:latin typeface="Times New Roman" pitchFamily="18" charset="0"/>
                <a:ea typeface="微软雅黑" pitchFamily="34" charset="-122"/>
                <a:cs typeface="Times New Roman" pitchFamily="18" charset="0"/>
              </a:rPr>
              <a:t>1mw/cm</a:t>
            </a:r>
            <a:r>
              <a:rPr kumimoji="1" lang="en-US" altLang="zh-CN" sz="2400" b="1" baseline="30000" dirty="0">
                <a:latin typeface="Times New Roman" pitchFamily="18" charset="0"/>
                <a:ea typeface="微软雅黑" pitchFamily="34" charset="-122"/>
                <a:cs typeface="Times New Roman" pitchFamily="18" charset="0"/>
              </a:rPr>
              <a:t>2</a:t>
            </a:r>
            <a:r>
              <a:rPr kumimoji="1" lang="zh-CN" altLang="en-US" sz="2400" b="1" dirty="0">
                <a:latin typeface="Times New Roman" pitchFamily="18" charset="0"/>
                <a:ea typeface="微软雅黑" pitchFamily="34" charset="-122"/>
                <a:cs typeface="Times New Roman" pitchFamily="18" charset="0"/>
              </a:rPr>
              <a:t>下测试</a:t>
            </a:r>
            <a:r>
              <a:rPr kumimoji="1" lang="en-US" altLang="zh-CN" sz="2400" b="1" dirty="0">
                <a:latin typeface="Times New Roman" pitchFamily="18" charset="0"/>
                <a:ea typeface="微软雅黑" pitchFamily="34" charset="-122"/>
                <a:cs typeface="Times New Roman" pitchFamily="18" charset="0"/>
              </a:rPr>
              <a:t>)</a:t>
            </a:r>
            <a:r>
              <a:rPr kumimoji="1" lang="zh-CN" altLang="en-US" sz="2400" b="1" dirty="0">
                <a:latin typeface="Times New Roman" pitchFamily="18" charset="0"/>
                <a:ea typeface="微软雅黑" pitchFamily="34" charset="-122"/>
                <a:cs typeface="Times New Roman" pitchFamily="18" charset="0"/>
              </a:rPr>
              <a:t>，峰值响应波长为</a:t>
            </a:r>
            <a:r>
              <a:rPr kumimoji="1" lang="en-US" altLang="zh-CN" sz="2400" b="1" dirty="0">
                <a:latin typeface="Times New Roman" pitchFamily="18" charset="0"/>
                <a:ea typeface="微软雅黑" pitchFamily="34" charset="-122"/>
                <a:cs typeface="Times New Roman" pitchFamily="18" charset="0"/>
              </a:rPr>
              <a:t>2.2μm</a:t>
            </a:r>
            <a:r>
              <a:rPr kumimoji="1" lang="zh-CN" altLang="en-US" sz="2400" b="1" dirty="0">
                <a:latin typeface="Times New Roman" pitchFamily="18" charset="0"/>
                <a:ea typeface="微软雅黑" pitchFamily="34" charset="-122"/>
                <a:cs typeface="Times New Roman" pitchFamily="18" charset="0"/>
              </a:rPr>
              <a:t>，恰为火焰的峰值辐射光谱。</a:t>
            </a:r>
            <a:endParaRPr lang="zh-CN" altLang="en-US" sz="2400" b="1" dirty="0">
              <a:latin typeface="Times New Roman" pitchFamily="18" charset="0"/>
              <a:ea typeface="微软雅黑" pitchFamily="34" charset="-122"/>
              <a:cs typeface="Times New Roman" pitchFamily="18" charset="0"/>
            </a:endParaRPr>
          </a:p>
        </p:txBody>
      </p:sp>
      <p:sp>
        <p:nvSpPr>
          <p:cNvPr id="17" name="文本框 60">
            <a:extLst>
              <a:ext uri="{FF2B5EF4-FFF2-40B4-BE49-F238E27FC236}">
                <a16:creationId xmlns="" xmlns:a16="http://schemas.microsoft.com/office/drawing/2014/main" id="{830CD117-EA16-42F3-9FC3-31F587C60D9B}"/>
              </a:ext>
            </a:extLst>
          </p:cNvPr>
          <p:cNvSpPr txBox="1"/>
          <p:nvPr/>
        </p:nvSpPr>
        <p:spPr>
          <a:xfrm>
            <a:off x="1632803" y="293282"/>
            <a:ext cx="3196132" cy="369332"/>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火焰探测报警器</a:t>
            </a:r>
          </a:p>
        </p:txBody>
      </p:sp>
      <p:sp>
        <p:nvSpPr>
          <p:cNvPr id="18" name="矩形 17">
            <a:extLst>
              <a:ext uri="{FF2B5EF4-FFF2-40B4-BE49-F238E27FC236}">
                <a16:creationId xmlns="" xmlns:a16="http://schemas.microsoft.com/office/drawing/2014/main" id="{586BEF66-1A2D-460E-91A5-A86DE40BFA5D}"/>
              </a:ext>
            </a:extLst>
          </p:cNvPr>
          <p:cNvSpPr/>
          <p:nvPr/>
        </p:nvSpPr>
        <p:spPr>
          <a:xfrm>
            <a:off x="10299781" y="329189"/>
            <a:ext cx="1110670" cy="451406"/>
          </a:xfrm>
          <a:prstGeom prst="rect">
            <a:avLst/>
          </a:prstGeom>
          <a:noFill/>
        </p:spPr>
        <p:txBody>
          <a:bodyPr wrap="square" lIns="91440" tIns="45720" rIns="91440" bIns="45720">
            <a:spAutoFit/>
          </a:bodyPr>
          <a:lstStyle/>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Photoelectric</a:t>
            </a:r>
          </a:p>
          <a:p>
            <a:pPr algn="ctr">
              <a:lnSpc>
                <a:spcPts val="1400"/>
              </a:lnSpc>
            </a:pPr>
            <a:r>
              <a:rPr lang="en-US" altLang="zh-CN" sz="1100" b="1" spc="50" dirty="0">
                <a:latin typeface="Times New Roman" panose="02020603050405020304" pitchFamily="18" charset="0"/>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Times New Roman" panose="02020603050405020304" pitchFamily="18" charset="0"/>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 xmlns:a16="http://schemas.microsoft.com/office/drawing/2014/main" id="{91044926-8E2E-4647-B4F4-34D22DB1589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 xmlns:a16="http://schemas.microsoft.com/office/drawing/2014/main" id="{DA505A2F-B417-42AB-8F03-9B1A0E9766A4}"/>
              </a:ext>
            </a:extLst>
          </p:cNvPr>
          <p:cNvSpPr/>
          <p:nvPr/>
        </p:nvSpPr>
        <p:spPr>
          <a:xfrm>
            <a:off x="441977" y="293282"/>
            <a:ext cx="111066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3.5.4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2" name="直接连接符 58">
            <a:extLst>
              <a:ext uri="{FF2B5EF4-FFF2-40B4-BE49-F238E27FC236}">
                <a16:creationId xmlns="" xmlns:a16="http://schemas.microsoft.com/office/drawing/2014/main" id="{26DD4065-7F7D-4924-B9B0-AD726FAB4038}"/>
              </a:ext>
            </a:extLst>
          </p:cNvPr>
          <p:cNvCxnSpPr>
            <a:cxnSpLocks/>
          </p:cNvCxnSpPr>
          <p:nvPr/>
        </p:nvCxnSpPr>
        <p:spPr>
          <a:xfrm>
            <a:off x="1718528" y="710998"/>
            <a:ext cx="2959200" cy="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 xmlns:a16="http://schemas.microsoft.com/office/drawing/2014/main" id="{D9FEEC87-B56E-4EA9-91DC-BC2412CFEA2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 xmlns:a16="http://schemas.microsoft.com/office/drawing/2014/main" id="{AEAF9277-EFC3-431D-8945-5FEDA93D3ADE}"/>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579362618"/>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649</TotalTime>
  <Words>1730</Words>
  <Application>Microsoft Office PowerPoint</Application>
  <PresentationFormat>自定义</PresentationFormat>
  <Paragraphs>321</Paragraphs>
  <Slides>28</Slides>
  <Notes>0</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6</vt:i4>
      </vt:variant>
      <vt:variant>
        <vt:lpstr>幻灯片标题</vt:lpstr>
      </vt:variant>
      <vt:variant>
        <vt:i4>28</vt:i4>
      </vt:variant>
    </vt:vector>
  </HeadingPairs>
  <TitlesOfParts>
    <vt:vector size="55" baseType="lpstr">
      <vt:lpstr>Yu Gothic UI</vt:lpstr>
      <vt:lpstr>阿里巴巴普惠体 M</vt:lpstr>
      <vt:lpstr>阿里巴巴普惠体 R</vt:lpstr>
      <vt:lpstr>等线</vt:lpstr>
      <vt:lpstr>等线 Light</vt:lpstr>
      <vt:lpstr>冬青黑体简体中文 W3</vt:lpstr>
      <vt:lpstr>冬青黑体简体中文 W6</vt:lpstr>
      <vt:lpstr>黑体</vt:lpstr>
      <vt:lpstr>华文琥珀</vt:lpstr>
      <vt:lpstr>楷体_GB2312</vt:lpstr>
      <vt:lpstr>宋体</vt:lpstr>
      <vt:lpstr>微软雅黑</vt:lpstr>
      <vt:lpstr>微软雅黑</vt:lpstr>
      <vt:lpstr>Arial</vt:lpstr>
      <vt:lpstr>Calibri</vt:lpstr>
      <vt:lpstr>Calibri Light</vt:lpstr>
      <vt:lpstr>Microsoft Yi Baiti</vt:lpstr>
      <vt:lpstr>Symbol</vt:lpstr>
      <vt:lpstr>Times New Roman</vt:lpstr>
      <vt:lpstr>Wingdings</vt:lpstr>
      <vt:lpstr>Office 主题​​</vt:lpstr>
      <vt:lpstr>Equation</vt:lpstr>
      <vt:lpstr>MathType 6.0 Equation</vt:lpstr>
      <vt:lpstr>公式</vt:lpstr>
      <vt:lpstr>Microsoft 公式 3.0</vt:lpstr>
      <vt:lpstr>Visio</vt:lpstr>
      <vt:lpstr>Microsoft Visio 绘图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29146</dc:creator>
  <cp:lastModifiedBy>user</cp:lastModifiedBy>
  <cp:revision>19</cp:revision>
  <dcterms:created xsi:type="dcterms:W3CDTF">2022-04-26T01:40:12Z</dcterms:created>
  <dcterms:modified xsi:type="dcterms:W3CDTF">2022-10-26T09:49:00Z</dcterms:modified>
</cp:coreProperties>
</file>