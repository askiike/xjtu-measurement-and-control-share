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34" r:id="rId3"/>
    <p:sldId id="273" r:id="rId4"/>
    <p:sldId id="274" r:id="rId5"/>
    <p:sldId id="374" r:id="rId6"/>
    <p:sldId id="375" r:id="rId7"/>
    <p:sldId id="376" r:id="rId8"/>
    <p:sldId id="377" r:id="rId9"/>
    <p:sldId id="378" r:id="rId10"/>
    <p:sldId id="379" r:id="rId11"/>
    <p:sldId id="380" r:id="rId12"/>
    <p:sldId id="381" r:id="rId13"/>
    <p:sldId id="382" r:id="rId14"/>
    <p:sldId id="383" r:id="rId15"/>
    <p:sldId id="384" r:id="rId16"/>
    <p:sldId id="385" r:id="rId17"/>
    <p:sldId id="386" r:id="rId18"/>
    <p:sldId id="387" r:id="rId19"/>
    <p:sldId id="388" r:id="rId20"/>
    <p:sldId id="389" r:id="rId21"/>
    <p:sldId id="390" r:id="rId22"/>
    <p:sldId id="391" r:id="rId23"/>
    <p:sldId id="392" r:id="rId24"/>
    <p:sldId id="415"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 id="408" r:id="rId41"/>
    <p:sldId id="409" r:id="rId42"/>
    <p:sldId id="410" r:id="rId43"/>
    <p:sldId id="411" r:id="rId44"/>
    <p:sldId id="412" r:id="rId45"/>
    <p:sldId id="413" r:id="rId46"/>
    <p:sldId id="414" r:id="rId47"/>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FF"/>
    <a:srgbClr val="FFCCFF"/>
    <a:srgbClr val="FFFFCC"/>
    <a:srgbClr val="FF99FF"/>
    <a:srgbClr val="FF7C80"/>
    <a:srgbClr val="FF3300"/>
    <a:srgbClr val="FF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40" d="100"/>
          <a:sy n="40" d="100"/>
        </p:scale>
        <p:origin x="64" y="44"/>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DC8910A-C6A2-4D7C-BD93-C521D6BD6433}" type="datetimeFigureOut">
              <a:rPr lang="zh-CN" altLang="en-US"/>
              <a:pPr>
                <a:defRPr/>
              </a:pPr>
              <a:t>2025/12/5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8DF2088-823D-4D74-BE43-AD67773FB7FD}"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C951E60-6BA1-4729-9952-A43C217C343F}" type="datetimeFigureOut">
              <a:rPr lang="zh-CN" altLang="en-US"/>
              <a:pPr>
                <a:defRPr/>
              </a:pPr>
              <a:t>2025/12/5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00E123A-E67D-40E3-B244-7617A12C2EE8}"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A473570-153D-4E02-9B57-64B7AE234C02}" type="datetimeFigureOut">
              <a:rPr lang="zh-CN" altLang="en-US"/>
              <a:pPr>
                <a:defRPr/>
              </a:pPr>
              <a:t>2025/12/5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49FADF3-1172-4E10-BBFB-CD0D60E871E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6E9F5236-A7BF-4450-8619-512ACA2E5FAD}" type="datetimeFigureOut">
              <a:rPr lang="zh-CN" altLang="en-US"/>
              <a:pPr>
                <a:defRPr/>
              </a:pPr>
              <a:t>2025/12/5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0C65772-221E-4F74-BD7F-FDFD69183D8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C21871A-3028-487B-9EE1-8ED6715DC044}" type="datetimeFigureOut">
              <a:rPr lang="zh-CN" altLang="en-US"/>
              <a:pPr>
                <a:defRPr/>
              </a:pPr>
              <a:t>2025/12/5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0FF4EAC7-6345-4B8D-B93E-4DFEAE352C21}"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53F73B8-BA7E-4CC2-B89A-F0852AC23335}" type="datetimeFigureOut">
              <a:rPr lang="zh-CN" altLang="en-US"/>
              <a:pPr>
                <a:defRPr/>
              </a:pPr>
              <a:t>2025/12/5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36513F5-2B26-45DB-A013-1F71E20F2395}"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BB5DA72-EEA7-43F5-9B90-8DB50555F6AB}" type="datetimeFigureOut">
              <a:rPr lang="zh-CN" altLang="en-US"/>
              <a:pPr>
                <a:defRPr/>
              </a:pPr>
              <a:t>2025/12/5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F86CCFF-D900-45E3-BEA1-DE43A272A07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CAEA50-34BE-4426-A910-2520FAFCAC32}" type="datetimeFigureOut">
              <a:rPr lang="zh-CN" altLang="en-US"/>
              <a:pPr>
                <a:defRPr/>
              </a:pPr>
              <a:t>2025/12/5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C983F9C-D08E-443A-A77C-64039F52560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5D67478-E260-4CA5-B605-C5F018A2C076}" type="datetimeFigureOut">
              <a:rPr lang="zh-CN" altLang="en-US"/>
              <a:pPr>
                <a:defRPr/>
              </a:pPr>
              <a:t>2025/12/5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03D8454-3055-4313-9BC7-07DCCF0B062C}"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1F52409-8E00-4C9A-ACA4-A595AA3510FE}" type="datetimeFigureOut">
              <a:rPr lang="zh-CN" altLang="en-US"/>
              <a:pPr>
                <a:defRPr/>
              </a:pPr>
              <a:t>2025/12/5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A9D8A56-4C8B-471F-89F1-E6E96F65C161}"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B17A0C6-4079-4817-AB4E-EC1FB4DDB6D1}" type="datetimeFigureOut">
              <a:rPr lang="zh-CN" altLang="en-US"/>
              <a:pPr>
                <a:defRPr/>
              </a:pPr>
              <a:t>2025/12/5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3E2E52F-068F-459C-B9D5-8CECFD67EB5F}"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C54C5F86-DB3F-402D-9A6D-81B1C8924029}" type="datetimeFigureOut">
              <a:rPr lang="zh-CN" altLang="en-US"/>
              <a:pPr>
                <a:defRPr/>
              </a:pPr>
              <a:t>2025/12/5</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DBB6104A-D9DC-4DBB-8498-2F8B6390F5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3.png"/><Relationship Id="rId22"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4.bin"/><Relationship Id="rId1" Type="http://schemas.openxmlformats.org/officeDocument/2006/relationships/slideLayout" Target="../slideLayouts/slideLayout1.xml"/><Relationship Id="rId5" Type="http://schemas.openxmlformats.org/officeDocument/2006/relationships/image" Target="../media/image31.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6.bin"/><Relationship Id="rId1" Type="http://schemas.openxmlformats.org/officeDocument/2006/relationships/slideLayout" Target="../slideLayouts/slideLayout1.xml"/><Relationship Id="rId6" Type="http://schemas.openxmlformats.org/officeDocument/2006/relationships/oleObject" Target="../embeddings/oleObject8.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35.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42.wmf"/><Relationship Id="rId3" Type="http://schemas.openxmlformats.org/officeDocument/2006/relationships/image" Target="../media/image37.emf"/><Relationship Id="rId7" Type="http://schemas.openxmlformats.org/officeDocument/2006/relationships/image" Target="../media/image39.w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1.xml"/><Relationship Id="rId6" Type="http://schemas.openxmlformats.org/officeDocument/2006/relationships/oleObject" Target="../embeddings/oleObject13.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40.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7.bin"/><Relationship Id="rId1" Type="http://schemas.openxmlformats.org/officeDocument/2006/relationships/slideLayout" Target="../slideLayouts/slideLayout1.xml"/><Relationship Id="rId5" Type="http://schemas.openxmlformats.org/officeDocument/2006/relationships/image" Target="../media/image44.w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image" Target="../media/image45.gif"/><Relationship Id="rId1" Type="http://schemas.openxmlformats.org/officeDocument/2006/relationships/slideLayout" Target="../slideLayouts/slideLayout1.xml"/><Relationship Id="rId4" Type="http://schemas.openxmlformats.org/officeDocument/2006/relationships/image" Target="../media/image46.wmf"/></Relationships>
</file>

<file path=ppt/slides/_rels/slide16.x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20.bin"/><Relationship Id="rId1" Type="http://schemas.openxmlformats.org/officeDocument/2006/relationships/slideLayout" Target="../slideLayouts/slideLayout1.xml"/><Relationship Id="rId6" Type="http://schemas.openxmlformats.org/officeDocument/2006/relationships/oleObject" Target="../embeddings/oleObject22.bin"/><Relationship Id="rId5" Type="http://schemas.openxmlformats.org/officeDocument/2006/relationships/image" Target="../media/image48.wmf"/><Relationship Id="rId4"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23.bin"/><Relationship Id="rId1" Type="http://schemas.openxmlformats.org/officeDocument/2006/relationships/slideLayout" Target="../slideLayouts/slideLayout1.xml"/><Relationship Id="rId5" Type="http://schemas.openxmlformats.org/officeDocument/2006/relationships/image" Target="../media/image49.wmf"/><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3.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1.xml"/><Relationship Id="rId6" Type="http://schemas.openxmlformats.org/officeDocument/2006/relationships/oleObject" Target="../embeddings/oleObject26.bin"/><Relationship Id="rId11" Type="http://schemas.openxmlformats.org/officeDocument/2006/relationships/image" Target="../media/image55.wmf"/><Relationship Id="rId5" Type="http://schemas.openxmlformats.org/officeDocument/2006/relationships/image" Target="../media/image52.wmf"/><Relationship Id="rId15" Type="http://schemas.openxmlformats.org/officeDocument/2006/relationships/image" Target="../media/image57.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54.wmf"/><Relationship Id="rId1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1.bin"/><Relationship Id="rId1" Type="http://schemas.openxmlformats.org/officeDocument/2006/relationships/slideLayout" Target="../slideLayouts/slideLayout1.xml"/><Relationship Id="rId5" Type="http://schemas.openxmlformats.org/officeDocument/2006/relationships/image" Target="../media/image59.wmf"/><Relationship Id="rId4"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33.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66.wmf"/><Relationship Id="rId3" Type="http://schemas.openxmlformats.org/officeDocument/2006/relationships/image" Target="../media/image61.wmf"/><Relationship Id="rId7" Type="http://schemas.openxmlformats.org/officeDocument/2006/relationships/image" Target="../media/image63.wmf"/><Relationship Id="rId12" Type="http://schemas.openxmlformats.org/officeDocument/2006/relationships/oleObject" Target="../embeddings/oleObject39.bin"/><Relationship Id="rId2" Type="http://schemas.openxmlformats.org/officeDocument/2006/relationships/oleObject" Target="../embeddings/oleObject34.bin"/><Relationship Id="rId1" Type="http://schemas.openxmlformats.org/officeDocument/2006/relationships/slideLayout" Target="../slideLayouts/slideLayout1.xml"/><Relationship Id="rId6" Type="http://schemas.openxmlformats.org/officeDocument/2006/relationships/oleObject" Target="../embeddings/oleObject36.bin"/><Relationship Id="rId11" Type="http://schemas.openxmlformats.org/officeDocument/2006/relationships/image" Target="../media/image65.wmf"/><Relationship Id="rId5" Type="http://schemas.openxmlformats.org/officeDocument/2006/relationships/image" Target="../media/image62.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6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40.bin"/><Relationship Id="rId1" Type="http://schemas.openxmlformats.org/officeDocument/2006/relationships/slideLayout" Target="../slideLayouts/slideLayout1.xml"/><Relationship Id="rId5" Type="http://schemas.openxmlformats.org/officeDocument/2006/relationships/image" Target="../media/image68.wmf"/><Relationship Id="rId4" Type="http://schemas.openxmlformats.org/officeDocument/2006/relationships/oleObject" Target="../embeddings/oleObject41.bin"/></Relationships>
</file>

<file path=ppt/slides/_rels/slide26.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42.bin"/><Relationship Id="rId1" Type="http://schemas.openxmlformats.org/officeDocument/2006/relationships/slideLayout" Target="../slideLayouts/slideLayout1.xml"/><Relationship Id="rId5" Type="http://schemas.openxmlformats.org/officeDocument/2006/relationships/image" Target="../media/image70.wmf"/><Relationship Id="rId4"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oleObject" Target="../embeddings/oleObject44.bin"/><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45.bin"/><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74.wmf"/><Relationship Id="rId3" Type="http://schemas.openxmlformats.org/officeDocument/2006/relationships/image" Target="../media/image73.wmf"/><Relationship Id="rId7" Type="http://schemas.openxmlformats.org/officeDocument/2006/relationships/image" Target="../media/image52.wmf"/><Relationship Id="rId12" Type="http://schemas.openxmlformats.org/officeDocument/2006/relationships/oleObject" Target="../embeddings/oleObject47.bin"/><Relationship Id="rId17" Type="http://schemas.openxmlformats.org/officeDocument/2006/relationships/image" Target="../media/image76.wmf"/><Relationship Id="rId2" Type="http://schemas.openxmlformats.org/officeDocument/2006/relationships/oleObject" Target="../embeddings/oleObject46.bin"/><Relationship Id="rId16" Type="http://schemas.openxmlformats.org/officeDocument/2006/relationships/oleObject" Target="../embeddings/oleObject49.bin"/><Relationship Id="rId1" Type="http://schemas.openxmlformats.org/officeDocument/2006/relationships/slideLayout" Target="../slideLayouts/slideLayout1.xml"/><Relationship Id="rId6" Type="http://schemas.openxmlformats.org/officeDocument/2006/relationships/oleObject" Target="../embeddings/oleObject25.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75.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53.wmf"/><Relationship Id="rId14" Type="http://schemas.openxmlformats.org/officeDocument/2006/relationships/oleObject" Target="../embeddings/oleObject48.bin"/></Relationships>
</file>

<file path=ppt/slides/_rels/slide30.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50.bin"/><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9.jpeg"/><Relationship Id="rId7" Type="http://schemas.openxmlformats.org/officeDocument/2006/relationships/image" Target="../media/image81.wmf"/><Relationship Id="rId2" Type="http://schemas.openxmlformats.org/officeDocument/2006/relationships/image" Target="../media/image78.wmf"/><Relationship Id="rId1" Type="http://schemas.openxmlformats.org/officeDocument/2006/relationships/slideLayout" Target="../slideLayouts/slideLayout1.xml"/><Relationship Id="rId6" Type="http://schemas.openxmlformats.org/officeDocument/2006/relationships/oleObject" Target="../embeddings/oleObject52.bin"/><Relationship Id="rId5" Type="http://schemas.openxmlformats.org/officeDocument/2006/relationships/image" Target="../media/image80.wmf"/><Relationship Id="rId4" Type="http://schemas.openxmlformats.org/officeDocument/2006/relationships/oleObject" Target="../embeddings/oleObject51.bin"/></Relationships>
</file>

<file path=ppt/slides/_rels/slide33.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oleObject" Target="../embeddings/oleObject51.bin"/><Relationship Id="rId1" Type="http://schemas.openxmlformats.org/officeDocument/2006/relationships/slideLayout" Target="../slideLayouts/slideLayout1.xml"/><Relationship Id="rId6" Type="http://schemas.openxmlformats.org/officeDocument/2006/relationships/image" Target="../media/image83.wmf"/><Relationship Id="rId5" Type="http://schemas.openxmlformats.org/officeDocument/2006/relationships/oleObject" Target="../embeddings/oleObject53.bin"/><Relationship Id="rId4" Type="http://schemas.openxmlformats.org/officeDocument/2006/relationships/image" Target="../media/image82.wmf"/></Relationships>
</file>

<file path=ppt/slides/_rels/slide34.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54.bin"/><Relationship Id="rId1" Type="http://schemas.openxmlformats.org/officeDocument/2006/relationships/slideLayout" Target="../slideLayouts/slideLayout1.xml"/><Relationship Id="rId6" Type="http://schemas.openxmlformats.org/officeDocument/2006/relationships/image" Target="../media/image85.wmf"/><Relationship Id="rId5" Type="http://schemas.openxmlformats.org/officeDocument/2006/relationships/image" Target="../media/image81.wmf"/><Relationship Id="rId4" Type="http://schemas.openxmlformats.org/officeDocument/2006/relationships/oleObject" Target="../embeddings/oleObject52.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oleObject" Target="../embeddings/oleObject55.bin"/><Relationship Id="rId1" Type="http://schemas.openxmlformats.org/officeDocument/2006/relationships/slideLayout" Target="../slideLayouts/slideLayout1.xml"/><Relationship Id="rId5" Type="http://schemas.openxmlformats.org/officeDocument/2006/relationships/image" Target="../media/image87.wmf"/><Relationship Id="rId4" Type="http://schemas.openxmlformats.org/officeDocument/2006/relationships/oleObject" Target="../embeddings/oleObject56.bin"/></Relationships>
</file>

<file path=ppt/slides/_rels/slide37.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oleObject" Target="../embeddings/oleObject57.bin"/><Relationship Id="rId1" Type="http://schemas.openxmlformats.org/officeDocument/2006/relationships/slideLayout" Target="../slideLayouts/slideLayout1.xml"/><Relationship Id="rId5" Type="http://schemas.openxmlformats.org/officeDocument/2006/relationships/image" Target="../media/image89.wmf"/><Relationship Id="rId4" Type="http://schemas.openxmlformats.org/officeDocument/2006/relationships/oleObject" Target="../embeddings/oleObject58.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90.wmf"/><Relationship Id="rId7" Type="http://schemas.openxmlformats.org/officeDocument/2006/relationships/image" Target="../media/image92.wmf"/><Relationship Id="rId2" Type="http://schemas.openxmlformats.org/officeDocument/2006/relationships/oleObject" Target="../embeddings/oleObject59.bin"/><Relationship Id="rId1" Type="http://schemas.openxmlformats.org/officeDocument/2006/relationships/slideLayout" Target="../slideLayouts/slideLayout1.xml"/><Relationship Id="rId6" Type="http://schemas.openxmlformats.org/officeDocument/2006/relationships/oleObject" Target="../embeddings/oleObject61.bin"/><Relationship Id="rId5" Type="http://schemas.openxmlformats.org/officeDocument/2006/relationships/image" Target="../media/image91.wmf"/><Relationship Id="rId4" Type="http://schemas.openxmlformats.org/officeDocument/2006/relationships/oleObject" Target="../embeddings/oleObject60.bin"/><Relationship Id="rId9" Type="http://schemas.openxmlformats.org/officeDocument/2006/relationships/image" Target="../media/image93.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99.wmf"/><Relationship Id="rId18" Type="http://schemas.openxmlformats.org/officeDocument/2006/relationships/oleObject" Target="../embeddings/oleObject71.bin"/><Relationship Id="rId26" Type="http://schemas.openxmlformats.org/officeDocument/2006/relationships/oleObject" Target="../embeddings/oleObject75.bin"/><Relationship Id="rId3" Type="http://schemas.openxmlformats.org/officeDocument/2006/relationships/image" Target="../media/image94.wmf"/><Relationship Id="rId21" Type="http://schemas.openxmlformats.org/officeDocument/2006/relationships/image" Target="../media/image103.wmf"/><Relationship Id="rId7" Type="http://schemas.openxmlformats.org/officeDocument/2006/relationships/image" Target="../media/image96.wmf"/><Relationship Id="rId12" Type="http://schemas.openxmlformats.org/officeDocument/2006/relationships/oleObject" Target="../embeddings/oleObject68.bin"/><Relationship Id="rId17" Type="http://schemas.openxmlformats.org/officeDocument/2006/relationships/image" Target="../media/image101.wmf"/><Relationship Id="rId25" Type="http://schemas.openxmlformats.org/officeDocument/2006/relationships/image" Target="../media/image105.wmf"/><Relationship Id="rId2" Type="http://schemas.openxmlformats.org/officeDocument/2006/relationships/oleObject" Target="../embeddings/oleObject63.bin"/><Relationship Id="rId16" Type="http://schemas.openxmlformats.org/officeDocument/2006/relationships/oleObject" Target="../embeddings/oleObject70.bin"/><Relationship Id="rId20" Type="http://schemas.openxmlformats.org/officeDocument/2006/relationships/oleObject" Target="../embeddings/oleObject72.bin"/><Relationship Id="rId29" Type="http://schemas.openxmlformats.org/officeDocument/2006/relationships/image" Target="../media/image107.wmf"/><Relationship Id="rId1" Type="http://schemas.openxmlformats.org/officeDocument/2006/relationships/slideLayout" Target="../slideLayouts/slideLayout1.xml"/><Relationship Id="rId6" Type="http://schemas.openxmlformats.org/officeDocument/2006/relationships/oleObject" Target="../embeddings/oleObject65.bin"/><Relationship Id="rId11" Type="http://schemas.openxmlformats.org/officeDocument/2006/relationships/image" Target="../media/image98.wmf"/><Relationship Id="rId24" Type="http://schemas.openxmlformats.org/officeDocument/2006/relationships/oleObject" Target="../embeddings/oleObject74.bin"/><Relationship Id="rId5" Type="http://schemas.openxmlformats.org/officeDocument/2006/relationships/image" Target="../media/image95.wmf"/><Relationship Id="rId15" Type="http://schemas.openxmlformats.org/officeDocument/2006/relationships/image" Target="../media/image100.wmf"/><Relationship Id="rId23" Type="http://schemas.openxmlformats.org/officeDocument/2006/relationships/image" Target="../media/image104.wmf"/><Relationship Id="rId28" Type="http://schemas.openxmlformats.org/officeDocument/2006/relationships/oleObject" Target="../embeddings/oleObject76.bin"/><Relationship Id="rId10" Type="http://schemas.openxmlformats.org/officeDocument/2006/relationships/oleObject" Target="../embeddings/oleObject67.bin"/><Relationship Id="rId19" Type="http://schemas.openxmlformats.org/officeDocument/2006/relationships/image" Target="../media/image102.wmf"/><Relationship Id="rId31" Type="http://schemas.openxmlformats.org/officeDocument/2006/relationships/image" Target="../media/image108.wmf"/><Relationship Id="rId4" Type="http://schemas.openxmlformats.org/officeDocument/2006/relationships/oleObject" Target="../embeddings/oleObject64.bin"/><Relationship Id="rId9" Type="http://schemas.openxmlformats.org/officeDocument/2006/relationships/image" Target="../media/image97.wmf"/><Relationship Id="rId14" Type="http://schemas.openxmlformats.org/officeDocument/2006/relationships/oleObject" Target="../embeddings/oleObject69.bin"/><Relationship Id="rId22" Type="http://schemas.openxmlformats.org/officeDocument/2006/relationships/oleObject" Target="../embeddings/oleObject73.bin"/><Relationship Id="rId27" Type="http://schemas.openxmlformats.org/officeDocument/2006/relationships/image" Target="../media/image106.wmf"/><Relationship Id="rId30" Type="http://schemas.openxmlformats.org/officeDocument/2006/relationships/oleObject" Target="../embeddings/oleObject77.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109.emf"/><Relationship Id="rId7" Type="http://schemas.openxmlformats.org/officeDocument/2006/relationships/image" Target="../media/image111.wmf"/><Relationship Id="rId2" Type="http://schemas.openxmlformats.org/officeDocument/2006/relationships/oleObject" Target="../embeddings/oleObject78.bin"/><Relationship Id="rId1" Type="http://schemas.openxmlformats.org/officeDocument/2006/relationships/slideLayout" Target="../slideLayouts/slideLayout1.xml"/><Relationship Id="rId6" Type="http://schemas.openxmlformats.org/officeDocument/2006/relationships/oleObject" Target="../embeddings/oleObject80.bin"/><Relationship Id="rId5" Type="http://schemas.openxmlformats.org/officeDocument/2006/relationships/image" Target="../media/image110.wmf"/><Relationship Id="rId4" Type="http://schemas.openxmlformats.org/officeDocument/2006/relationships/oleObject" Target="../embeddings/oleObject79.bin"/><Relationship Id="rId9" Type="http://schemas.openxmlformats.org/officeDocument/2006/relationships/image" Target="../media/image112.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5.wmf"/><Relationship Id="rId12" Type="http://schemas.openxmlformats.org/officeDocument/2006/relationships/oleObject" Target="../embeddings/oleObject87.bin"/><Relationship Id="rId17" Type="http://schemas.openxmlformats.org/officeDocument/2006/relationships/image" Target="../media/image120.wmf"/><Relationship Id="rId2" Type="http://schemas.openxmlformats.org/officeDocument/2006/relationships/oleObject" Target="../embeddings/oleObject82.bin"/><Relationship Id="rId16" Type="http://schemas.openxmlformats.org/officeDocument/2006/relationships/oleObject" Target="../embeddings/oleObject89.bin"/><Relationship Id="rId1" Type="http://schemas.openxmlformats.org/officeDocument/2006/relationships/slideLayout" Target="../slideLayouts/slideLayout1.xml"/><Relationship Id="rId6" Type="http://schemas.openxmlformats.org/officeDocument/2006/relationships/oleObject" Target="../embeddings/oleObject84.bin"/><Relationship Id="rId11" Type="http://schemas.openxmlformats.org/officeDocument/2006/relationships/image" Target="../media/image117.wmf"/><Relationship Id="rId5" Type="http://schemas.openxmlformats.org/officeDocument/2006/relationships/image" Target="../media/image114.wmf"/><Relationship Id="rId15" Type="http://schemas.openxmlformats.org/officeDocument/2006/relationships/image" Target="../media/image119.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116.wmf"/><Relationship Id="rId14" Type="http://schemas.openxmlformats.org/officeDocument/2006/relationships/oleObject" Target="../embeddings/oleObject88.bin"/></Relationships>
</file>

<file path=ppt/slides/_rels/slide44.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oleObject" Target="../embeddings/oleObject90.bin"/><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3.bin"/><Relationship Id="rId13" Type="http://schemas.openxmlformats.org/officeDocument/2006/relationships/image" Target="../media/image127.wmf"/><Relationship Id="rId18" Type="http://schemas.openxmlformats.org/officeDocument/2006/relationships/oleObject" Target="../embeddings/oleObject98.bin"/><Relationship Id="rId3" Type="http://schemas.openxmlformats.org/officeDocument/2006/relationships/image" Target="../media/image123.png"/><Relationship Id="rId21" Type="http://schemas.openxmlformats.org/officeDocument/2006/relationships/image" Target="../media/image131.wmf"/><Relationship Id="rId7" Type="http://schemas.openxmlformats.org/officeDocument/2006/relationships/image" Target="../media/image125.emf"/><Relationship Id="rId12" Type="http://schemas.openxmlformats.org/officeDocument/2006/relationships/oleObject" Target="../embeddings/oleObject95.bin"/><Relationship Id="rId17" Type="http://schemas.openxmlformats.org/officeDocument/2006/relationships/image" Target="../media/image129.wmf"/><Relationship Id="rId25" Type="http://schemas.openxmlformats.org/officeDocument/2006/relationships/image" Target="../media/image133.wmf"/><Relationship Id="rId2" Type="http://schemas.openxmlformats.org/officeDocument/2006/relationships/image" Target="../media/image122.png"/><Relationship Id="rId16" Type="http://schemas.openxmlformats.org/officeDocument/2006/relationships/oleObject" Target="../embeddings/oleObject97.bin"/><Relationship Id="rId20" Type="http://schemas.openxmlformats.org/officeDocument/2006/relationships/oleObject" Target="../embeddings/oleObject99.bin"/><Relationship Id="rId1" Type="http://schemas.openxmlformats.org/officeDocument/2006/relationships/slideLayout" Target="../slideLayouts/slideLayout1.xml"/><Relationship Id="rId6" Type="http://schemas.openxmlformats.org/officeDocument/2006/relationships/oleObject" Target="../embeddings/oleObject92.bin"/><Relationship Id="rId11" Type="http://schemas.openxmlformats.org/officeDocument/2006/relationships/image" Target="../media/image126.wmf"/><Relationship Id="rId24" Type="http://schemas.openxmlformats.org/officeDocument/2006/relationships/oleObject" Target="../embeddings/oleObject101.bin"/><Relationship Id="rId5" Type="http://schemas.openxmlformats.org/officeDocument/2006/relationships/image" Target="../media/image124.emf"/><Relationship Id="rId15" Type="http://schemas.openxmlformats.org/officeDocument/2006/relationships/image" Target="../media/image128.wmf"/><Relationship Id="rId23" Type="http://schemas.openxmlformats.org/officeDocument/2006/relationships/image" Target="../media/image132.wmf"/><Relationship Id="rId10" Type="http://schemas.openxmlformats.org/officeDocument/2006/relationships/oleObject" Target="../embeddings/oleObject94.bin"/><Relationship Id="rId19" Type="http://schemas.openxmlformats.org/officeDocument/2006/relationships/image" Target="../media/image130.wmf"/><Relationship Id="rId4" Type="http://schemas.openxmlformats.org/officeDocument/2006/relationships/oleObject" Target="../embeddings/oleObject91.bin"/><Relationship Id="rId9" Type="http://schemas.openxmlformats.org/officeDocument/2006/relationships/image" Target="../media/image116.wmf"/><Relationship Id="rId14" Type="http://schemas.openxmlformats.org/officeDocument/2006/relationships/oleObject" Target="../embeddings/oleObject96.bin"/><Relationship Id="rId22" Type="http://schemas.openxmlformats.org/officeDocument/2006/relationships/oleObject" Target="../embeddings/oleObject100.bin"/></Relationships>
</file>

<file path=ppt/slides/_rels/slide46.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oleObject" Target="../embeddings/oleObject102.bin"/><Relationship Id="rId1" Type="http://schemas.openxmlformats.org/officeDocument/2006/relationships/slideLayout" Target="../slideLayouts/slideLayout1.xml"/><Relationship Id="rId5" Type="http://schemas.openxmlformats.org/officeDocument/2006/relationships/image" Target="../media/image135.wmf"/><Relationship Id="rId4" Type="http://schemas.openxmlformats.org/officeDocument/2006/relationships/oleObject" Target="../embeddings/oleObject10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1</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id="{5441AE38-A11D-4793-BDA3-DCA36976B496}"/>
              </a:ext>
            </a:extLst>
          </p:cNvPr>
          <p:cNvSpPr/>
          <p:nvPr/>
        </p:nvSpPr>
        <p:spPr>
          <a:xfrm>
            <a:off x="376510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辐射度学与光度学基础</a:t>
            </a:r>
          </a:p>
        </p:txBody>
      </p:sp>
      <p:sp>
        <p:nvSpPr>
          <p:cNvPr id="5" name="矩形 4">
            <a:extLst>
              <a:ext uri="{FF2B5EF4-FFF2-40B4-BE49-F238E27FC236}">
                <a16:creationId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Fundamentals of Radiometry and Photometry</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sp>
        <p:nvSpPr>
          <p:cNvPr id="19" name="矩形: 圆角 18">
            <a:extLst>
              <a:ext uri="{FF2B5EF4-FFF2-40B4-BE49-F238E27FC236}">
                <a16:creationId xmlns:a16="http://schemas.microsoft.com/office/drawing/2014/main" id="{71B2A563-AC54-5347-B843-4478DF223CDE}"/>
              </a:ext>
            </a:extLst>
          </p:cNvPr>
          <p:cNvSpPr/>
          <p:nvPr/>
        </p:nvSpPr>
        <p:spPr>
          <a:xfrm>
            <a:off x="5224150" y="3384434"/>
            <a:ext cx="3662676" cy="94565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电磁辐射</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3118256" y="323850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3" name="Text Box 5"/>
          <p:cNvSpPr txBox="1">
            <a:spLocks noChangeArrowheads="1"/>
          </p:cNvSpPr>
          <p:nvPr/>
        </p:nvSpPr>
        <p:spPr bwMode="auto">
          <a:xfrm>
            <a:off x="5343559" y="895313"/>
            <a:ext cx="2605245" cy="701675"/>
          </a:xfrm>
          <a:prstGeom prst="rect">
            <a:avLst/>
          </a:prstGeom>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ln w="9525">
            <a:noFill/>
            <a:miter lim="800000"/>
            <a:headEnd/>
            <a:tailEnd/>
          </a:ln>
          <a:effectLst/>
        </p:spPr>
        <p:txBody>
          <a:bodyPr wrap="square">
            <a:spAutoFit/>
          </a:bodyPr>
          <a:lstStyle/>
          <a:p>
            <a:pPr algn="ctr" defTabSz="914400">
              <a:spcBef>
                <a:spcPct val="50000"/>
              </a:spcBef>
              <a:defRPr/>
            </a:pPr>
            <a:r>
              <a:rPr lang="zh-CN" altLang="en-US" sz="4000" b="1" dirty="0">
                <a:solidFill>
                  <a:schemeClr val="bg1"/>
                </a:solidFill>
                <a:effectLst>
                  <a:outerShdw blurRad="38100" dist="38100" dir="2700000" algn="tl">
                    <a:srgbClr val="C0C0C0"/>
                  </a:outerShdw>
                </a:effectLst>
                <a:latin typeface="Times New Roman" pitchFamily="18" charset="0"/>
                <a:ea typeface="黑体" pitchFamily="2" charset="-122"/>
                <a:cs typeface="Times New Roman" pitchFamily="18" charset="0"/>
              </a:rPr>
              <a:t>电磁波谱</a:t>
            </a:r>
          </a:p>
        </p:txBody>
      </p:sp>
      <p:pic>
        <p:nvPicPr>
          <p:cNvPr id="47108" name="对象 1"/>
          <p:cNvPicPr>
            <a:picLocks noChangeArrowheads="1"/>
          </p:cNvPicPr>
          <p:nvPr/>
        </p:nvPicPr>
        <p:blipFill>
          <a:blip r:embed="rId2"/>
          <a:srcRect t="-4974" r="-32" b="-6966"/>
          <a:stretch>
            <a:fillRect/>
          </a:stretch>
        </p:blipFill>
        <p:spPr bwMode="auto">
          <a:xfrm>
            <a:off x="6689123" y="3360352"/>
            <a:ext cx="2009775" cy="146050"/>
          </a:xfrm>
          <a:prstGeom prst="rect">
            <a:avLst/>
          </a:prstGeom>
          <a:noFill/>
          <a:ln w="9525">
            <a:noFill/>
            <a:miter lim="800000"/>
            <a:headEnd/>
            <a:tailEnd/>
          </a:ln>
        </p:spPr>
      </p:pic>
      <p:pic>
        <p:nvPicPr>
          <p:cNvPr id="6" name="Picture 4"/>
          <p:cNvPicPr>
            <a:picLocks noChangeAspect="1" noChangeArrowheads="1"/>
          </p:cNvPicPr>
          <p:nvPr/>
        </p:nvPicPr>
        <p:blipFill>
          <a:blip r:embed="rId3"/>
          <a:srcRect/>
          <a:stretch>
            <a:fillRect/>
          </a:stretch>
        </p:blipFill>
        <p:spPr bwMode="auto">
          <a:xfrm>
            <a:off x="3984023" y="2745990"/>
            <a:ext cx="6715125" cy="357187"/>
          </a:xfrm>
          <a:prstGeom prst="rect">
            <a:avLst/>
          </a:prstGeom>
          <a:noFill/>
          <a:ln w="9525">
            <a:noFill/>
            <a:miter lim="800000"/>
            <a:headEnd/>
            <a:tailEnd/>
          </a:ln>
        </p:spPr>
      </p:pic>
      <p:grpSp>
        <p:nvGrpSpPr>
          <p:cNvPr id="2" name="组合 77"/>
          <p:cNvGrpSpPr>
            <a:grpSpLocks/>
          </p:cNvGrpSpPr>
          <p:nvPr/>
        </p:nvGrpSpPr>
        <p:grpSpPr bwMode="auto">
          <a:xfrm>
            <a:off x="3165125" y="2597890"/>
            <a:ext cx="428625" cy="428625"/>
            <a:chOff x="1071541" y="2347917"/>
            <a:chExt cx="428625" cy="428625"/>
          </a:xfrm>
        </p:grpSpPr>
        <p:sp>
          <p:nvSpPr>
            <p:cNvPr id="5" name="右箭头 6"/>
            <p:cNvSpPr>
              <a:spLocks noChangeArrowheads="1"/>
            </p:cNvSpPr>
            <p:nvPr/>
          </p:nvSpPr>
          <p:spPr bwMode="auto">
            <a:xfrm rot="10800000">
              <a:off x="1071541" y="2347917"/>
              <a:ext cx="428625" cy="428625"/>
            </a:xfrm>
            <a:prstGeom prst="rightArrow">
              <a:avLst>
                <a:gd name="adj1" fmla="val 50000"/>
                <a:gd name="adj2" fmla="val 50000"/>
              </a:avLst>
            </a:prstGeom>
            <a:solidFill>
              <a:schemeClr val="accent1"/>
            </a:solidFill>
            <a:ln w="25400" algn="ctr">
              <a:solidFill>
                <a:srgbClr val="385D8A"/>
              </a:solidFill>
              <a:miter lim="800000"/>
              <a:headEnd/>
              <a:tailEnd/>
            </a:ln>
          </p:spPr>
          <p:txBody>
            <a:bodyPr rot="10800000" anchor="ctr"/>
            <a:lstStyle/>
            <a:p>
              <a:pPr algn="ctr" defTabSz="914400" fontAlgn="auto">
                <a:spcBef>
                  <a:spcPts val="0"/>
                </a:spcBef>
                <a:spcAft>
                  <a:spcPts val="0"/>
                </a:spcAft>
                <a:defRPr/>
              </a:pPr>
              <a:endParaRPr lang="zh-CN" altLang="en-US" sz="1800">
                <a:solidFill>
                  <a:schemeClr val="lt1"/>
                </a:solidFill>
                <a:latin typeface="+mn-lt"/>
                <a:ea typeface="+mn-ea"/>
              </a:endParaRPr>
            </a:p>
          </p:txBody>
        </p:sp>
        <p:sp>
          <p:nvSpPr>
            <p:cNvPr id="4110" name="矩形 10"/>
            <p:cNvSpPr>
              <a:spLocks noChangeArrowheads="1"/>
            </p:cNvSpPr>
            <p:nvPr/>
          </p:nvSpPr>
          <p:spPr bwMode="auto">
            <a:xfrm flipH="1">
              <a:off x="1135041" y="2420942"/>
              <a:ext cx="357187" cy="276225"/>
            </a:xfrm>
            <a:prstGeom prst="rect">
              <a:avLst/>
            </a:prstGeom>
            <a:noFill/>
            <a:ln w="9525">
              <a:noFill/>
              <a:miter lim="800000"/>
              <a:headEnd/>
              <a:tailEnd/>
            </a:ln>
          </p:spPr>
          <p:txBody>
            <a:bodyPr>
              <a:spAutoFit/>
            </a:bodyPr>
            <a:lstStyle/>
            <a:p>
              <a:pPr defTabSz="914400"/>
              <a:r>
                <a:rPr lang="zh-CN" altLang="en-US" sz="1200" b="1">
                  <a:solidFill>
                    <a:srgbClr val="FFFF00"/>
                  </a:solidFill>
                  <a:latin typeface="黑体" pitchFamily="2" charset="-122"/>
                  <a:ea typeface="黑体" pitchFamily="2" charset="-122"/>
                </a:rPr>
                <a:t>低</a:t>
              </a:r>
            </a:p>
          </p:txBody>
        </p:sp>
      </p:grpSp>
      <p:grpSp>
        <p:nvGrpSpPr>
          <p:cNvPr id="3" name="组合 78"/>
          <p:cNvGrpSpPr>
            <a:grpSpLocks/>
          </p:cNvGrpSpPr>
          <p:nvPr/>
        </p:nvGrpSpPr>
        <p:grpSpPr bwMode="auto">
          <a:xfrm>
            <a:off x="10875053" y="2288765"/>
            <a:ext cx="646768" cy="447723"/>
            <a:chOff x="7829704" y="2342868"/>
            <a:chExt cx="457072" cy="384175"/>
          </a:xfrm>
        </p:grpSpPr>
        <p:sp>
          <p:nvSpPr>
            <p:cNvPr id="9" name="右箭头 8"/>
            <p:cNvSpPr/>
            <p:nvPr/>
          </p:nvSpPr>
          <p:spPr>
            <a:xfrm>
              <a:off x="7829704" y="2342868"/>
              <a:ext cx="357186" cy="3841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p>
          </p:txBody>
        </p:sp>
        <p:sp>
          <p:nvSpPr>
            <p:cNvPr id="4113" name="矩形 12"/>
            <p:cNvSpPr>
              <a:spLocks noChangeArrowheads="1"/>
            </p:cNvSpPr>
            <p:nvPr/>
          </p:nvSpPr>
          <p:spPr bwMode="auto">
            <a:xfrm flipH="1">
              <a:off x="7858152" y="2405055"/>
              <a:ext cx="428624" cy="264092"/>
            </a:xfrm>
            <a:prstGeom prst="rect">
              <a:avLst/>
            </a:prstGeom>
            <a:noFill/>
            <a:ln w="9525">
              <a:noFill/>
              <a:miter lim="800000"/>
              <a:headEnd/>
              <a:tailEnd/>
            </a:ln>
          </p:spPr>
          <p:txBody>
            <a:bodyPr>
              <a:spAutoFit/>
            </a:bodyPr>
            <a:lstStyle/>
            <a:p>
              <a:pPr defTabSz="914400"/>
              <a:r>
                <a:rPr lang="zh-CN" altLang="en-US" sz="1400" b="1" dirty="0">
                  <a:solidFill>
                    <a:srgbClr val="FF0000"/>
                  </a:solidFill>
                  <a:latin typeface="微软雅黑" pitchFamily="34" charset="-122"/>
                  <a:ea typeface="冬青黑体简体中文 W6" panose="020B0600000000000000"/>
                </a:rPr>
                <a:t>高</a:t>
              </a:r>
            </a:p>
          </p:txBody>
        </p:sp>
      </p:grpSp>
      <p:pic>
        <p:nvPicPr>
          <p:cNvPr id="47112" name="Picture 6"/>
          <p:cNvPicPr>
            <a:picLocks noChangeAspect="1" noChangeArrowheads="1"/>
          </p:cNvPicPr>
          <p:nvPr/>
        </p:nvPicPr>
        <p:blipFill>
          <a:blip r:embed="rId4"/>
          <a:srcRect/>
          <a:stretch>
            <a:fillRect/>
          </a:stretch>
        </p:blipFill>
        <p:spPr bwMode="auto">
          <a:xfrm>
            <a:off x="3626836" y="4768741"/>
            <a:ext cx="7148512" cy="357187"/>
          </a:xfrm>
          <a:prstGeom prst="rect">
            <a:avLst/>
          </a:prstGeom>
          <a:noFill/>
          <a:ln w="9525">
            <a:noFill/>
            <a:miter lim="800000"/>
            <a:headEnd/>
            <a:tailEnd/>
          </a:ln>
        </p:spPr>
      </p:pic>
      <p:sp>
        <p:nvSpPr>
          <p:cNvPr id="12" name="右箭头 11"/>
          <p:cNvSpPr>
            <a:spLocks noChangeArrowheads="1"/>
          </p:cNvSpPr>
          <p:nvPr/>
        </p:nvSpPr>
        <p:spPr bwMode="auto">
          <a:xfrm rot="10800000">
            <a:off x="3093688" y="4829547"/>
            <a:ext cx="428625" cy="428625"/>
          </a:xfrm>
          <a:prstGeom prst="rightArrow">
            <a:avLst>
              <a:gd name="adj1" fmla="val 50000"/>
              <a:gd name="adj2" fmla="val 50000"/>
            </a:avLst>
          </a:prstGeom>
          <a:solidFill>
            <a:srgbClr val="D99694"/>
          </a:solidFill>
          <a:ln w="25400" algn="ctr">
            <a:noFill/>
            <a:miter lim="800000"/>
            <a:headEnd/>
            <a:tailEnd/>
          </a:ln>
        </p:spPr>
        <p:txBody>
          <a:bodyPr rot="10800000" anchor="ctr"/>
          <a:lstStyle/>
          <a:p>
            <a:pPr algn="ctr" defTabSz="914400" fontAlgn="auto">
              <a:spcBef>
                <a:spcPts val="0"/>
              </a:spcBef>
              <a:spcAft>
                <a:spcPts val="0"/>
              </a:spcAft>
              <a:defRPr/>
            </a:pPr>
            <a:endParaRPr lang="zh-CN" altLang="en-US" sz="1800">
              <a:solidFill>
                <a:schemeClr val="lt1"/>
              </a:solidFill>
              <a:latin typeface="+mn-lt"/>
              <a:ea typeface="+mn-ea"/>
            </a:endParaRPr>
          </a:p>
        </p:txBody>
      </p:sp>
      <p:sp>
        <p:nvSpPr>
          <p:cNvPr id="47114" name="矩形 15"/>
          <p:cNvSpPr>
            <a:spLocks noChangeArrowheads="1"/>
          </p:cNvSpPr>
          <p:nvPr/>
        </p:nvSpPr>
        <p:spPr bwMode="auto">
          <a:xfrm flipH="1">
            <a:off x="3165125" y="4900985"/>
            <a:ext cx="357188" cy="276225"/>
          </a:xfrm>
          <a:prstGeom prst="rect">
            <a:avLst/>
          </a:prstGeom>
          <a:noFill/>
          <a:ln w="9525">
            <a:noFill/>
            <a:miter lim="800000"/>
            <a:headEnd/>
            <a:tailEnd/>
          </a:ln>
        </p:spPr>
        <p:txBody>
          <a:bodyPr>
            <a:spAutoFit/>
          </a:bodyPr>
          <a:lstStyle/>
          <a:p>
            <a:pPr defTabSz="914400"/>
            <a:r>
              <a:rPr lang="zh-CN" altLang="en-US" sz="1200" b="1">
                <a:solidFill>
                  <a:srgbClr val="FF0000"/>
                </a:solidFill>
                <a:latin typeface="黑体" pitchFamily="2" charset="-122"/>
                <a:ea typeface="黑体" pitchFamily="2" charset="-122"/>
              </a:rPr>
              <a:t>长</a:t>
            </a:r>
          </a:p>
        </p:txBody>
      </p:sp>
      <p:sp>
        <p:nvSpPr>
          <p:cNvPr id="14" name="右箭头 13"/>
          <p:cNvSpPr/>
          <p:nvPr/>
        </p:nvSpPr>
        <p:spPr>
          <a:xfrm>
            <a:off x="10878933" y="4983053"/>
            <a:ext cx="507206" cy="473075"/>
          </a:xfrm>
          <a:prstGeom prst="rightArrow">
            <a:avLst>
              <a:gd name="adj1" fmla="val 50000"/>
              <a:gd name="adj2" fmla="val 52397"/>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p>
        </p:txBody>
      </p:sp>
      <p:sp>
        <p:nvSpPr>
          <p:cNvPr id="47116" name="矩形 17"/>
          <p:cNvSpPr>
            <a:spLocks noChangeArrowheads="1"/>
          </p:cNvSpPr>
          <p:nvPr/>
        </p:nvSpPr>
        <p:spPr bwMode="auto">
          <a:xfrm flipH="1">
            <a:off x="10901832" y="5057845"/>
            <a:ext cx="357187" cy="307777"/>
          </a:xfrm>
          <a:prstGeom prst="rect">
            <a:avLst/>
          </a:prstGeom>
          <a:noFill/>
          <a:ln w="9525">
            <a:noFill/>
            <a:miter lim="800000"/>
            <a:headEnd/>
            <a:tailEnd/>
          </a:ln>
        </p:spPr>
        <p:txBody>
          <a:bodyPr>
            <a:spAutoFit/>
          </a:bodyPr>
          <a:lstStyle/>
          <a:p>
            <a:pPr defTabSz="914400"/>
            <a:r>
              <a:rPr lang="zh-CN" altLang="en-US" sz="1400" b="1" dirty="0">
                <a:solidFill>
                  <a:schemeClr val="bg1"/>
                </a:solidFill>
                <a:latin typeface="黑体" pitchFamily="2" charset="-122"/>
                <a:ea typeface="冬青黑体简体中文 W6" panose="020B0600000000000000"/>
              </a:rPr>
              <a:t>短</a:t>
            </a:r>
          </a:p>
        </p:txBody>
      </p:sp>
      <p:sp>
        <p:nvSpPr>
          <p:cNvPr id="47117" name="TextBox 24"/>
          <p:cNvSpPr txBox="1">
            <a:spLocks noChangeArrowheads="1"/>
          </p:cNvSpPr>
          <p:nvPr/>
        </p:nvSpPr>
        <p:spPr bwMode="auto">
          <a:xfrm>
            <a:off x="4055461" y="5125928"/>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楼房</a:t>
            </a:r>
          </a:p>
        </p:txBody>
      </p:sp>
      <p:sp>
        <p:nvSpPr>
          <p:cNvPr id="47118" name="TextBox 25"/>
          <p:cNvSpPr txBox="1">
            <a:spLocks noChangeArrowheads="1"/>
          </p:cNvSpPr>
          <p:nvPr/>
        </p:nvSpPr>
        <p:spPr bwMode="auto">
          <a:xfrm>
            <a:off x="4698398" y="5125928"/>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人</a:t>
            </a:r>
          </a:p>
        </p:txBody>
      </p:sp>
      <p:sp>
        <p:nvSpPr>
          <p:cNvPr id="47119" name="TextBox 26"/>
          <p:cNvSpPr txBox="1">
            <a:spLocks noChangeArrowheads="1"/>
          </p:cNvSpPr>
          <p:nvPr/>
        </p:nvSpPr>
        <p:spPr bwMode="auto">
          <a:xfrm>
            <a:off x="6912961" y="5125928"/>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细胞</a:t>
            </a:r>
          </a:p>
        </p:txBody>
      </p:sp>
      <p:sp>
        <p:nvSpPr>
          <p:cNvPr id="47120" name="TextBox 27"/>
          <p:cNvSpPr txBox="1">
            <a:spLocks noChangeArrowheads="1"/>
          </p:cNvSpPr>
          <p:nvPr/>
        </p:nvSpPr>
        <p:spPr bwMode="auto">
          <a:xfrm>
            <a:off x="6198586" y="5125928"/>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蚂蚁</a:t>
            </a:r>
          </a:p>
        </p:txBody>
      </p:sp>
      <p:sp>
        <p:nvSpPr>
          <p:cNvPr id="47121" name="TextBox 28"/>
          <p:cNvSpPr txBox="1">
            <a:spLocks noChangeArrowheads="1"/>
          </p:cNvSpPr>
          <p:nvPr/>
        </p:nvSpPr>
        <p:spPr bwMode="auto">
          <a:xfrm>
            <a:off x="5341336" y="5125928"/>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网球</a:t>
            </a:r>
          </a:p>
        </p:txBody>
      </p:sp>
      <p:sp>
        <p:nvSpPr>
          <p:cNvPr id="47122" name="TextBox 29"/>
          <p:cNvSpPr txBox="1">
            <a:spLocks noChangeArrowheads="1"/>
          </p:cNvSpPr>
          <p:nvPr/>
        </p:nvSpPr>
        <p:spPr bwMode="auto">
          <a:xfrm>
            <a:off x="7413023" y="5125928"/>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细菌</a:t>
            </a:r>
          </a:p>
        </p:txBody>
      </p:sp>
      <p:sp>
        <p:nvSpPr>
          <p:cNvPr id="47123" name="TextBox 30"/>
          <p:cNvSpPr txBox="1">
            <a:spLocks noChangeArrowheads="1"/>
          </p:cNvSpPr>
          <p:nvPr/>
        </p:nvSpPr>
        <p:spPr bwMode="auto">
          <a:xfrm>
            <a:off x="7841648" y="5125928"/>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病毒</a:t>
            </a:r>
          </a:p>
        </p:txBody>
      </p:sp>
      <p:sp>
        <p:nvSpPr>
          <p:cNvPr id="47124" name="TextBox 31"/>
          <p:cNvSpPr txBox="1">
            <a:spLocks noChangeArrowheads="1"/>
          </p:cNvSpPr>
          <p:nvPr/>
        </p:nvSpPr>
        <p:spPr bwMode="auto">
          <a:xfrm>
            <a:off x="6555773" y="2531677"/>
            <a:ext cx="785813"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THz</a:t>
            </a:r>
            <a:endParaRPr lang="zh-CN" altLang="en-US" sz="1400" b="1">
              <a:latin typeface="微软雅黑" pitchFamily="34" charset="-122"/>
              <a:ea typeface="微软雅黑" pitchFamily="34" charset="-122"/>
            </a:endParaRPr>
          </a:p>
        </p:txBody>
      </p:sp>
      <p:sp>
        <p:nvSpPr>
          <p:cNvPr id="47125" name="TextBox 32"/>
          <p:cNvSpPr txBox="1">
            <a:spLocks noChangeArrowheads="1"/>
          </p:cNvSpPr>
          <p:nvPr/>
        </p:nvSpPr>
        <p:spPr bwMode="auto">
          <a:xfrm>
            <a:off x="5912836" y="2531677"/>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雷达</a:t>
            </a:r>
          </a:p>
        </p:txBody>
      </p:sp>
      <p:sp>
        <p:nvSpPr>
          <p:cNvPr id="47126" name="TextBox 33"/>
          <p:cNvSpPr txBox="1">
            <a:spLocks noChangeArrowheads="1"/>
          </p:cNvSpPr>
          <p:nvPr/>
        </p:nvSpPr>
        <p:spPr bwMode="auto">
          <a:xfrm>
            <a:off x="5269898" y="2531677"/>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微波炉</a:t>
            </a:r>
          </a:p>
        </p:txBody>
      </p:sp>
      <p:sp>
        <p:nvSpPr>
          <p:cNvPr id="47127" name="TextBox 34"/>
          <p:cNvSpPr txBox="1">
            <a:spLocks noChangeArrowheads="1"/>
          </p:cNvSpPr>
          <p:nvPr/>
        </p:nvSpPr>
        <p:spPr bwMode="auto">
          <a:xfrm>
            <a:off x="4626961" y="2531677"/>
            <a:ext cx="785812"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FM</a:t>
            </a:r>
            <a:r>
              <a:rPr lang="zh-CN" altLang="en-US" sz="1400" b="1">
                <a:latin typeface="微软雅黑" pitchFamily="34" charset="-122"/>
                <a:ea typeface="微软雅黑" pitchFamily="34" charset="-122"/>
              </a:rPr>
              <a:t>电台</a:t>
            </a:r>
          </a:p>
        </p:txBody>
      </p:sp>
      <p:sp>
        <p:nvSpPr>
          <p:cNvPr id="47128" name="TextBox 35"/>
          <p:cNvSpPr txBox="1">
            <a:spLocks noChangeArrowheads="1"/>
          </p:cNvSpPr>
          <p:nvPr/>
        </p:nvSpPr>
        <p:spPr bwMode="auto">
          <a:xfrm>
            <a:off x="2019491" y="2032408"/>
            <a:ext cx="924554" cy="3079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9525">
            <a:noFill/>
            <a:miter lim="800000"/>
            <a:headEnd/>
            <a:tailEnd/>
          </a:ln>
        </p:spPr>
        <p:txBody>
          <a:bodyPr wrap="square" lIns="0" tIns="0" rIns="0" bIns="0" anchor="ctr" anchorCtr="1">
            <a:spAutoFit/>
          </a:bodyPr>
          <a:lstStyle/>
          <a:p>
            <a:pPr algn="ctr" defTabSz="914400"/>
            <a:r>
              <a:rPr lang="zh-CN" altLang="en-US" b="1" dirty="0">
                <a:latin typeface="华文彩云" pitchFamily="2" charset="-122"/>
                <a:ea typeface="华文彩云" pitchFamily="2" charset="-122"/>
              </a:rPr>
              <a:t>波  源</a:t>
            </a:r>
          </a:p>
        </p:txBody>
      </p:sp>
      <p:sp>
        <p:nvSpPr>
          <p:cNvPr id="47129" name="TextBox 36"/>
          <p:cNvSpPr txBox="1">
            <a:spLocks noChangeArrowheads="1"/>
          </p:cNvSpPr>
          <p:nvPr/>
        </p:nvSpPr>
        <p:spPr bwMode="auto">
          <a:xfrm>
            <a:off x="3984023" y="2531677"/>
            <a:ext cx="785813"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AM</a:t>
            </a:r>
            <a:r>
              <a:rPr lang="zh-CN" altLang="en-US" sz="1400" b="1">
                <a:latin typeface="微软雅黑" pitchFamily="34" charset="-122"/>
                <a:ea typeface="微软雅黑" pitchFamily="34" charset="-122"/>
              </a:rPr>
              <a:t>电台</a:t>
            </a:r>
          </a:p>
        </p:txBody>
      </p:sp>
      <p:sp>
        <p:nvSpPr>
          <p:cNvPr id="47130" name="TextBox 37"/>
          <p:cNvSpPr txBox="1">
            <a:spLocks noChangeArrowheads="1"/>
          </p:cNvSpPr>
          <p:nvPr/>
        </p:nvSpPr>
        <p:spPr bwMode="auto">
          <a:xfrm>
            <a:off x="9913336" y="5125928"/>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黑体" pitchFamily="2" charset="-122"/>
                <a:ea typeface="黑体" pitchFamily="2" charset="-122"/>
              </a:rPr>
              <a:t>原子核</a:t>
            </a:r>
          </a:p>
        </p:txBody>
      </p:sp>
      <p:sp>
        <p:nvSpPr>
          <p:cNvPr id="47131" name="TextBox 38"/>
          <p:cNvSpPr txBox="1">
            <a:spLocks noChangeArrowheads="1"/>
          </p:cNvSpPr>
          <p:nvPr/>
        </p:nvSpPr>
        <p:spPr bwMode="auto">
          <a:xfrm>
            <a:off x="9127523" y="5125928"/>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水分子</a:t>
            </a:r>
          </a:p>
        </p:txBody>
      </p:sp>
      <p:sp>
        <p:nvSpPr>
          <p:cNvPr id="47132" name="TextBox 39"/>
          <p:cNvSpPr txBox="1">
            <a:spLocks noChangeArrowheads="1"/>
          </p:cNvSpPr>
          <p:nvPr/>
        </p:nvSpPr>
        <p:spPr bwMode="auto">
          <a:xfrm>
            <a:off x="8413148" y="5125928"/>
            <a:ext cx="785813"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DNA</a:t>
            </a:r>
            <a:endParaRPr lang="zh-CN" altLang="en-US" sz="1400" b="1">
              <a:latin typeface="微软雅黑" pitchFamily="34" charset="-122"/>
              <a:ea typeface="微软雅黑" pitchFamily="34" charset="-122"/>
            </a:endParaRPr>
          </a:p>
        </p:txBody>
      </p:sp>
      <p:sp>
        <p:nvSpPr>
          <p:cNvPr id="47133" name="TextBox 43"/>
          <p:cNvSpPr txBox="1">
            <a:spLocks noChangeArrowheads="1"/>
          </p:cNvSpPr>
          <p:nvPr/>
        </p:nvSpPr>
        <p:spPr bwMode="auto">
          <a:xfrm>
            <a:off x="9341836" y="2531677"/>
            <a:ext cx="785812"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X</a:t>
            </a:r>
            <a:r>
              <a:rPr lang="zh-CN" altLang="en-US" sz="1400" b="1">
                <a:latin typeface="微软雅黑" pitchFamily="34" charset="-122"/>
                <a:ea typeface="微软雅黑" pitchFamily="34" charset="-122"/>
              </a:rPr>
              <a:t>射线管</a:t>
            </a:r>
          </a:p>
        </p:txBody>
      </p:sp>
      <p:sp>
        <p:nvSpPr>
          <p:cNvPr id="47134" name="TextBox 44"/>
          <p:cNvSpPr txBox="1">
            <a:spLocks noChangeArrowheads="1"/>
          </p:cNvSpPr>
          <p:nvPr/>
        </p:nvSpPr>
        <p:spPr bwMode="auto">
          <a:xfrm>
            <a:off x="7555898" y="2531677"/>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灯泡</a:t>
            </a:r>
          </a:p>
        </p:txBody>
      </p:sp>
      <p:sp>
        <p:nvSpPr>
          <p:cNvPr id="47135" name="TextBox 45"/>
          <p:cNvSpPr txBox="1">
            <a:spLocks noChangeArrowheads="1"/>
          </p:cNvSpPr>
          <p:nvPr/>
        </p:nvSpPr>
        <p:spPr bwMode="auto">
          <a:xfrm>
            <a:off x="7127273" y="2531677"/>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人类</a:t>
            </a:r>
          </a:p>
        </p:txBody>
      </p:sp>
      <p:sp>
        <p:nvSpPr>
          <p:cNvPr id="47136" name="TextBox 46"/>
          <p:cNvSpPr txBox="1">
            <a:spLocks noChangeArrowheads="1"/>
          </p:cNvSpPr>
          <p:nvPr/>
        </p:nvSpPr>
        <p:spPr bwMode="auto">
          <a:xfrm>
            <a:off x="2019491" y="5451618"/>
            <a:ext cx="924554" cy="276999"/>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9525">
            <a:noFill/>
            <a:miter lim="800000"/>
            <a:headEnd/>
            <a:tailEnd/>
          </a:ln>
        </p:spPr>
        <p:txBody>
          <a:bodyPr wrap="square" lIns="0" tIns="0" rIns="0" bIns="0" anchor="ctr" anchorCtr="1">
            <a:spAutoFit/>
          </a:bodyPr>
          <a:lstStyle/>
          <a:p>
            <a:pPr defTabSz="914400"/>
            <a:r>
              <a:rPr lang="zh-CN" altLang="en-US" sz="1800" b="1" dirty="0">
                <a:latin typeface="华文彩云" pitchFamily="2" charset="-122"/>
                <a:ea typeface="华文彩云" pitchFamily="2" charset="-122"/>
              </a:rPr>
              <a:t>波长大小</a:t>
            </a:r>
          </a:p>
        </p:txBody>
      </p:sp>
      <p:sp>
        <p:nvSpPr>
          <p:cNvPr id="36" name="左箭头 35"/>
          <p:cNvSpPr/>
          <p:nvPr/>
        </p:nvSpPr>
        <p:spPr>
          <a:xfrm>
            <a:off x="3912586" y="3288915"/>
            <a:ext cx="1928812" cy="285750"/>
          </a:xfrm>
          <a:prstGeom prst="leftArrow">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latin typeface="微软雅黑" pitchFamily="34" charset="-122"/>
              <a:ea typeface="微软雅黑" pitchFamily="34" charset="-122"/>
            </a:endParaRPr>
          </a:p>
        </p:txBody>
      </p:sp>
      <p:sp>
        <p:nvSpPr>
          <p:cNvPr id="37" name="矩形 36"/>
          <p:cNvSpPr/>
          <p:nvPr/>
        </p:nvSpPr>
        <p:spPr>
          <a:xfrm>
            <a:off x="5984273" y="3719127"/>
            <a:ext cx="1071563" cy="142875"/>
          </a:xfrm>
          <a:prstGeom prst="rect">
            <a:avLst/>
          </a:prstGeom>
          <a:gradFill flip="none" rotWithShape="1">
            <a:gsLst>
              <a:gs pos="0">
                <a:srgbClr val="D6B19C"/>
              </a:gs>
              <a:gs pos="30000">
                <a:srgbClr val="D49E6C"/>
              </a:gs>
              <a:gs pos="70000">
                <a:srgbClr val="A65528"/>
              </a:gs>
              <a:gs pos="100000">
                <a:srgbClr val="66301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latin typeface="微软雅黑" pitchFamily="34" charset="-122"/>
              <a:ea typeface="微软雅黑" pitchFamily="34" charset="-122"/>
            </a:endParaRPr>
          </a:p>
        </p:txBody>
      </p:sp>
      <p:grpSp>
        <p:nvGrpSpPr>
          <p:cNvPr id="4" name="组合 56"/>
          <p:cNvGrpSpPr>
            <a:grpSpLocks/>
          </p:cNvGrpSpPr>
          <p:nvPr/>
        </p:nvGrpSpPr>
        <p:grpSpPr bwMode="auto">
          <a:xfrm>
            <a:off x="8413148" y="3719127"/>
            <a:ext cx="1643063" cy="142875"/>
            <a:chOff x="5857884" y="2214554"/>
            <a:chExt cx="1643074" cy="142876"/>
          </a:xfrm>
        </p:grpSpPr>
        <p:sp>
          <p:nvSpPr>
            <p:cNvPr id="39" name="矩形 38"/>
            <p:cNvSpPr/>
            <p:nvPr/>
          </p:nvSpPr>
          <p:spPr>
            <a:xfrm>
              <a:off x="6715140" y="2214554"/>
              <a:ext cx="785818" cy="142876"/>
            </a:xfrm>
            <a:prstGeom prst="rect">
              <a:avLst/>
            </a:prstGeom>
            <a:gradFill flip="none" rotWithShape="1">
              <a:gsLst>
                <a:gs pos="0">
                  <a:srgbClr val="0000CC">
                    <a:tint val="66000"/>
                    <a:satMod val="160000"/>
                  </a:srgbClr>
                </a:gs>
                <a:gs pos="50000">
                  <a:srgbClr val="0000CC">
                    <a:tint val="44500"/>
                    <a:satMod val="160000"/>
                  </a:srgbClr>
                </a:gs>
                <a:gs pos="100000">
                  <a:srgbClr val="0000CC">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latin typeface="微软雅黑" pitchFamily="34" charset="-122"/>
                <a:ea typeface="微软雅黑" pitchFamily="34" charset="-122"/>
              </a:endParaRPr>
            </a:p>
          </p:txBody>
        </p:sp>
        <p:sp>
          <p:nvSpPr>
            <p:cNvPr id="40" name="矩形 39"/>
            <p:cNvSpPr>
              <a:spLocks noChangeArrowheads="1"/>
            </p:cNvSpPr>
            <p:nvPr/>
          </p:nvSpPr>
          <p:spPr bwMode="auto">
            <a:xfrm rot="10800000">
              <a:off x="5857884" y="2214554"/>
              <a:ext cx="857256" cy="142876"/>
            </a:xfrm>
            <a:prstGeom prst="rect">
              <a:avLst/>
            </a:prstGeom>
            <a:gradFill rotWithShape="1">
              <a:gsLst>
                <a:gs pos="0">
                  <a:srgbClr val="8A8AF3"/>
                </a:gs>
                <a:gs pos="50000">
                  <a:srgbClr val="B9B9F5"/>
                </a:gs>
                <a:gs pos="100000">
                  <a:srgbClr val="DDDDFA"/>
                </a:gs>
              </a:gsLst>
              <a:lin ang="0" scaled="1"/>
            </a:gradFill>
            <a:ln w="25400" algn="ctr">
              <a:noFill/>
              <a:miter lim="800000"/>
              <a:headEnd/>
              <a:tailEnd/>
            </a:ln>
          </p:spPr>
          <p:txBody>
            <a:bodyPr rot="10800000" anchor="ctr"/>
            <a:lstStyle/>
            <a:p>
              <a:pPr algn="ctr" defTabSz="914400" fontAlgn="auto">
                <a:spcBef>
                  <a:spcPts val="0"/>
                </a:spcBef>
                <a:spcAft>
                  <a:spcPts val="0"/>
                </a:spcAft>
                <a:defRPr/>
              </a:pPr>
              <a:endParaRPr lang="zh-CN" altLang="en-US" sz="1800">
                <a:solidFill>
                  <a:schemeClr val="lt1"/>
                </a:solidFill>
                <a:latin typeface="微软雅黑" pitchFamily="34" charset="-122"/>
                <a:ea typeface="微软雅黑" pitchFamily="34" charset="-122"/>
              </a:endParaRPr>
            </a:p>
          </p:txBody>
        </p:sp>
      </p:grpSp>
      <p:sp>
        <p:nvSpPr>
          <p:cNvPr id="41" name="右箭头 40"/>
          <p:cNvSpPr/>
          <p:nvPr/>
        </p:nvSpPr>
        <p:spPr>
          <a:xfrm>
            <a:off x="9984773" y="3288915"/>
            <a:ext cx="714375" cy="285750"/>
          </a:xfrm>
          <a:prstGeom prst="rightArrow">
            <a:avLst/>
          </a:prstGeom>
          <a:gradFill flip="none" rotWithShape="1">
            <a:gsLst>
              <a:gs pos="0">
                <a:srgbClr val="0000CC">
                  <a:tint val="66000"/>
                  <a:satMod val="160000"/>
                </a:srgbClr>
              </a:gs>
              <a:gs pos="50000">
                <a:srgbClr val="0000CC">
                  <a:tint val="44500"/>
                  <a:satMod val="160000"/>
                </a:srgbClr>
              </a:gs>
              <a:gs pos="100000">
                <a:srgbClr val="0000CC">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p>
        </p:txBody>
      </p:sp>
      <p:sp>
        <p:nvSpPr>
          <p:cNvPr id="47141" name="TextBox 58"/>
          <p:cNvSpPr txBox="1">
            <a:spLocks noChangeArrowheads="1"/>
          </p:cNvSpPr>
          <p:nvPr/>
        </p:nvSpPr>
        <p:spPr bwMode="auto">
          <a:xfrm>
            <a:off x="4484086" y="3503227"/>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无线电</a:t>
            </a:r>
          </a:p>
        </p:txBody>
      </p:sp>
      <p:sp>
        <p:nvSpPr>
          <p:cNvPr id="47142" name="TextBox 59"/>
          <p:cNvSpPr txBox="1">
            <a:spLocks noChangeArrowheads="1"/>
          </p:cNvSpPr>
          <p:nvPr/>
        </p:nvSpPr>
        <p:spPr bwMode="auto">
          <a:xfrm>
            <a:off x="6127148" y="3862002"/>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微波</a:t>
            </a:r>
          </a:p>
        </p:txBody>
      </p:sp>
      <p:sp>
        <p:nvSpPr>
          <p:cNvPr id="47143" name="TextBox 60"/>
          <p:cNvSpPr txBox="1">
            <a:spLocks noChangeArrowheads="1"/>
          </p:cNvSpPr>
          <p:nvPr/>
        </p:nvSpPr>
        <p:spPr bwMode="auto">
          <a:xfrm>
            <a:off x="7627336" y="3146040"/>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可见光</a:t>
            </a:r>
          </a:p>
        </p:txBody>
      </p:sp>
      <p:sp>
        <p:nvSpPr>
          <p:cNvPr id="47144" name="TextBox 61"/>
          <p:cNvSpPr txBox="1">
            <a:spLocks noChangeArrowheads="1"/>
          </p:cNvSpPr>
          <p:nvPr/>
        </p:nvSpPr>
        <p:spPr bwMode="auto">
          <a:xfrm>
            <a:off x="6841523" y="3503227"/>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红外辐射</a:t>
            </a:r>
          </a:p>
        </p:txBody>
      </p:sp>
      <p:sp>
        <p:nvSpPr>
          <p:cNvPr id="47145" name="TextBox 62"/>
          <p:cNvSpPr txBox="1">
            <a:spLocks noChangeArrowheads="1"/>
          </p:cNvSpPr>
          <p:nvPr/>
        </p:nvSpPr>
        <p:spPr bwMode="auto">
          <a:xfrm>
            <a:off x="8198836" y="3503227"/>
            <a:ext cx="785812"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紫外辐射</a:t>
            </a:r>
          </a:p>
        </p:txBody>
      </p:sp>
      <p:sp>
        <p:nvSpPr>
          <p:cNvPr id="47146" name="TextBox 63"/>
          <p:cNvSpPr txBox="1">
            <a:spLocks noChangeArrowheads="1"/>
          </p:cNvSpPr>
          <p:nvPr/>
        </p:nvSpPr>
        <p:spPr bwMode="auto">
          <a:xfrm>
            <a:off x="8841773" y="3862002"/>
            <a:ext cx="785813" cy="215900"/>
          </a:xfrm>
          <a:prstGeom prst="rect">
            <a:avLst/>
          </a:prstGeom>
          <a:noFill/>
          <a:ln w="9525">
            <a:noFill/>
            <a:miter lim="800000"/>
            <a:headEnd/>
            <a:tailEnd/>
          </a:ln>
        </p:spPr>
        <p:txBody>
          <a:bodyPr lIns="0" tIns="0" rIns="0" bIns="0" anchor="ctr" anchorCtr="1">
            <a:spAutoFit/>
          </a:bodyPr>
          <a:lstStyle/>
          <a:p>
            <a:pPr defTabSz="914400"/>
            <a:r>
              <a:rPr lang="en-US" altLang="zh-CN" sz="1400" b="1">
                <a:latin typeface="微软雅黑" pitchFamily="34" charset="-122"/>
                <a:ea typeface="微软雅黑" pitchFamily="34" charset="-122"/>
              </a:rPr>
              <a:t>X</a:t>
            </a:r>
            <a:r>
              <a:rPr lang="zh-CN" altLang="en-US" sz="1400" b="1">
                <a:latin typeface="微软雅黑" pitchFamily="34" charset="-122"/>
                <a:ea typeface="微软雅黑" pitchFamily="34" charset="-122"/>
              </a:rPr>
              <a:t>射线</a:t>
            </a:r>
          </a:p>
        </p:txBody>
      </p:sp>
      <p:sp>
        <p:nvSpPr>
          <p:cNvPr id="47147" name="TextBox 64"/>
          <p:cNvSpPr txBox="1">
            <a:spLocks noChangeArrowheads="1"/>
          </p:cNvSpPr>
          <p:nvPr/>
        </p:nvSpPr>
        <p:spPr bwMode="auto">
          <a:xfrm>
            <a:off x="9699023" y="3503227"/>
            <a:ext cx="785813" cy="215900"/>
          </a:xfrm>
          <a:prstGeom prst="rect">
            <a:avLst/>
          </a:prstGeom>
          <a:noFill/>
          <a:ln w="9525">
            <a:noFill/>
            <a:miter lim="800000"/>
            <a:headEnd/>
            <a:tailEnd/>
          </a:ln>
        </p:spPr>
        <p:txBody>
          <a:bodyPr lIns="0" tIns="0" rIns="0" bIns="0" anchor="ctr" anchorCtr="1">
            <a:spAutoFit/>
          </a:bodyPr>
          <a:lstStyle/>
          <a:p>
            <a:pPr defTabSz="914400"/>
            <a:r>
              <a:rPr lang="zh-CN" altLang="en-US" sz="1400" b="1">
                <a:latin typeface="微软雅黑" pitchFamily="34" charset="-122"/>
                <a:ea typeface="微软雅黑" pitchFamily="34" charset="-122"/>
              </a:rPr>
              <a:t>伽马射线</a:t>
            </a:r>
          </a:p>
        </p:txBody>
      </p:sp>
      <p:pic>
        <p:nvPicPr>
          <p:cNvPr id="49" name="Picture 13"/>
          <p:cNvPicPr>
            <a:picLocks noChangeAspect="1" noChangeArrowheads="1"/>
          </p:cNvPicPr>
          <p:nvPr/>
        </p:nvPicPr>
        <p:blipFill>
          <a:blip r:embed="rId5"/>
          <a:srcRect/>
          <a:stretch>
            <a:fillRect/>
          </a:stretch>
        </p:blipFill>
        <p:spPr bwMode="auto">
          <a:xfrm>
            <a:off x="3912586" y="4313128"/>
            <a:ext cx="6496050" cy="428625"/>
          </a:xfrm>
          <a:prstGeom prst="rect">
            <a:avLst/>
          </a:prstGeom>
          <a:noFill/>
          <a:ln w="9525">
            <a:noFill/>
            <a:miter lim="800000"/>
            <a:headEnd/>
            <a:tailEnd/>
          </a:ln>
          <a:effectLst>
            <a:outerShdw blurRad="50800" dist="50800" dir="5400000" algn="ctr" rotWithShape="0">
              <a:srgbClr val="000000">
                <a:alpha val="0"/>
              </a:srgbClr>
            </a:outerShdw>
          </a:effectLst>
        </p:spPr>
      </p:pic>
      <p:pic>
        <p:nvPicPr>
          <p:cNvPr id="47149" name="Picture 14" descr="C:\Documents and Settings\Administrator\Application Data\Tencent\Users\784750780\QQ\WinTemp\RichOle\)3]{]7DX1_E4XB)G{$`H$$1.jpg"/>
          <p:cNvPicPr>
            <a:picLocks noChangeAspect="1" noChangeArrowheads="1"/>
          </p:cNvPicPr>
          <p:nvPr/>
        </p:nvPicPr>
        <p:blipFill>
          <a:blip r:embed="rId6"/>
          <a:srcRect/>
          <a:stretch>
            <a:fillRect/>
          </a:stretch>
        </p:blipFill>
        <p:spPr bwMode="auto">
          <a:xfrm>
            <a:off x="7698773" y="4004877"/>
            <a:ext cx="666750" cy="142875"/>
          </a:xfrm>
          <a:prstGeom prst="rect">
            <a:avLst/>
          </a:prstGeom>
          <a:noFill/>
          <a:ln w="9525">
            <a:noFill/>
            <a:miter lim="800000"/>
            <a:headEnd/>
            <a:tailEnd/>
          </a:ln>
        </p:spPr>
      </p:pic>
      <p:pic>
        <p:nvPicPr>
          <p:cNvPr id="47150" name="Picture 15"/>
          <p:cNvPicPr>
            <a:picLocks noChangeAspect="1" noChangeArrowheads="1"/>
          </p:cNvPicPr>
          <p:nvPr/>
        </p:nvPicPr>
        <p:blipFill>
          <a:blip r:embed="rId7"/>
          <a:srcRect/>
          <a:stretch>
            <a:fillRect/>
          </a:stretch>
        </p:blipFill>
        <p:spPr bwMode="auto">
          <a:xfrm>
            <a:off x="4269773" y="5376753"/>
            <a:ext cx="285750" cy="571500"/>
          </a:xfrm>
          <a:prstGeom prst="rect">
            <a:avLst/>
          </a:prstGeom>
          <a:noFill/>
          <a:ln w="9525">
            <a:noFill/>
            <a:miter lim="800000"/>
            <a:headEnd/>
            <a:tailEnd/>
          </a:ln>
        </p:spPr>
      </p:pic>
      <p:pic>
        <p:nvPicPr>
          <p:cNvPr id="47151" name="Picture 16"/>
          <p:cNvPicPr>
            <a:picLocks noChangeAspect="1" noChangeArrowheads="1"/>
          </p:cNvPicPr>
          <p:nvPr/>
        </p:nvPicPr>
        <p:blipFill>
          <a:blip r:embed="rId8"/>
          <a:srcRect/>
          <a:stretch>
            <a:fillRect/>
          </a:stretch>
        </p:blipFill>
        <p:spPr bwMode="auto">
          <a:xfrm>
            <a:off x="4930173" y="5394216"/>
            <a:ext cx="307975" cy="571500"/>
          </a:xfrm>
          <a:prstGeom prst="rect">
            <a:avLst/>
          </a:prstGeom>
          <a:noFill/>
          <a:ln w="9525">
            <a:noFill/>
            <a:miter lim="800000"/>
            <a:headEnd/>
            <a:tailEnd/>
          </a:ln>
        </p:spPr>
      </p:pic>
      <p:pic>
        <p:nvPicPr>
          <p:cNvPr id="47152" name="Picture 17"/>
          <p:cNvPicPr>
            <a:picLocks noChangeAspect="1" noChangeArrowheads="1"/>
          </p:cNvPicPr>
          <p:nvPr/>
        </p:nvPicPr>
        <p:blipFill>
          <a:blip r:embed="rId9"/>
          <a:srcRect/>
          <a:stretch>
            <a:fillRect/>
          </a:stretch>
        </p:blipFill>
        <p:spPr bwMode="auto">
          <a:xfrm>
            <a:off x="5565173" y="5384691"/>
            <a:ext cx="306388" cy="571500"/>
          </a:xfrm>
          <a:prstGeom prst="rect">
            <a:avLst/>
          </a:prstGeom>
          <a:noFill/>
          <a:ln w="9525">
            <a:noFill/>
            <a:miter lim="800000"/>
            <a:headEnd/>
            <a:tailEnd/>
          </a:ln>
        </p:spPr>
      </p:pic>
      <p:pic>
        <p:nvPicPr>
          <p:cNvPr id="47153" name="Picture 18"/>
          <p:cNvPicPr>
            <a:picLocks noChangeAspect="1" noChangeArrowheads="1"/>
          </p:cNvPicPr>
          <p:nvPr/>
        </p:nvPicPr>
        <p:blipFill>
          <a:blip r:embed="rId10"/>
          <a:srcRect/>
          <a:stretch>
            <a:fillRect/>
          </a:stretch>
        </p:blipFill>
        <p:spPr bwMode="auto">
          <a:xfrm>
            <a:off x="6403373" y="5398978"/>
            <a:ext cx="285750" cy="530225"/>
          </a:xfrm>
          <a:prstGeom prst="rect">
            <a:avLst/>
          </a:prstGeom>
          <a:noFill/>
          <a:ln w="9525">
            <a:noFill/>
            <a:miter lim="800000"/>
            <a:headEnd/>
            <a:tailEnd/>
          </a:ln>
        </p:spPr>
      </p:pic>
      <p:pic>
        <p:nvPicPr>
          <p:cNvPr id="47154" name="Picture 19"/>
          <p:cNvPicPr>
            <a:picLocks noChangeAspect="1" noChangeArrowheads="1"/>
          </p:cNvPicPr>
          <p:nvPr/>
        </p:nvPicPr>
        <p:blipFill>
          <a:blip r:embed="rId11"/>
          <a:srcRect/>
          <a:stretch>
            <a:fillRect/>
          </a:stretch>
        </p:blipFill>
        <p:spPr bwMode="auto">
          <a:xfrm>
            <a:off x="7181248" y="5402153"/>
            <a:ext cx="309563" cy="500063"/>
          </a:xfrm>
          <a:prstGeom prst="rect">
            <a:avLst/>
          </a:prstGeom>
          <a:noFill/>
          <a:ln w="9525">
            <a:noFill/>
            <a:miter lim="800000"/>
            <a:headEnd/>
            <a:tailEnd/>
          </a:ln>
        </p:spPr>
      </p:pic>
      <p:pic>
        <p:nvPicPr>
          <p:cNvPr id="47155" name="Picture 22"/>
          <p:cNvPicPr>
            <a:picLocks noChangeAspect="1" noChangeArrowheads="1"/>
          </p:cNvPicPr>
          <p:nvPr/>
        </p:nvPicPr>
        <p:blipFill>
          <a:blip r:embed="rId12"/>
          <a:srcRect/>
          <a:stretch>
            <a:fillRect/>
          </a:stretch>
        </p:blipFill>
        <p:spPr bwMode="auto">
          <a:xfrm>
            <a:off x="8127398" y="5411678"/>
            <a:ext cx="222250" cy="500063"/>
          </a:xfrm>
          <a:prstGeom prst="rect">
            <a:avLst/>
          </a:prstGeom>
          <a:noFill/>
          <a:ln w="9525">
            <a:noFill/>
            <a:miter lim="800000"/>
            <a:headEnd/>
            <a:tailEnd/>
          </a:ln>
        </p:spPr>
      </p:pic>
      <p:pic>
        <p:nvPicPr>
          <p:cNvPr id="47156" name="Picture 20"/>
          <p:cNvPicPr>
            <a:picLocks noChangeAspect="1" noChangeArrowheads="1"/>
          </p:cNvPicPr>
          <p:nvPr/>
        </p:nvPicPr>
        <p:blipFill>
          <a:blip r:embed="rId13"/>
          <a:srcRect/>
          <a:stretch>
            <a:fillRect/>
          </a:stretch>
        </p:blipFill>
        <p:spPr bwMode="auto">
          <a:xfrm>
            <a:off x="7654323" y="5375166"/>
            <a:ext cx="344488" cy="571500"/>
          </a:xfrm>
          <a:prstGeom prst="rect">
            <a:avLst/>
          </a:prstGeom>
          <a:noFill/>
          <a:ln w="9525">
            <a:noFill/>
            <a:miter lim="800000"/>
            <a:headEnd/>
            <a:tailEnd/>
          </a:ln>
        </p:spPr>
      </p:pic>
      <p:pic>
        <p:nvPicPr>
          <p:cNvPr id="47157" name="Picture 23"/>
          <p:cNvPicPr>
            <a:picLocks noChangeAspect="1" noChangeArrowheads="1"/>
          </p:cNvPicPr>
          <p:nvPr/>
        </p:nvPicPr>
        <p:blipFill>
          <a:blip r:embed="rId14"/>
          <a:srcRect/>
          <a:stretch>
            <a:fillRect/>
          </a:stretch>
        </p:blipFill>
        <p:spPr bwMode="auto">
          <a:xfrm>
            <a:off x="8698898" y="5411678"/>
            <a:ext cx="290513" cy="500063"/>
          </a:xfrm>
          <a:prstGeom prst="rect">
            <a:avLst/>
          </a:prstGeom>
          <a:noFill/>
          <a:ln w="9525">
            <a:noFill/>
            <a:miter lim="800000"/>
            <a:headEnd/>
            <a:tailEnd/>
          </a:ln>
        </p:spPr>
      </p:pic>
      <p:pic>
        <p:nvPicPr>
          <p:cNvPr id="47158" name="Picture 24"/>
          <p:cNvPicPr>
            <a:picLocks noChangeAspect="1" noChangeArrowheads="1"/>
          </p:cNvPicPr>
          <p:nvPr/>
        </p:nvPicPr>
        <p:blipFill>
          <a:blip r:embed="rId15"/>
          <a:srcRect/>
          <a:stretch>
            <a:fillRect/>
          </a:stretch>
        </p:blipFill>
        <p:spPr bwMode="auto">
          <a:xfrm>
            <a:off x="9341836" y="5411678"/>
            <a:ext cx="285750" cy="500063"/>
          </a:xfrm>
          <a:prstGeom prst="rect">
            <a:avLst/>
          </a:prstGeom>
          <a:noFill/>
          <a:ln w="9525">
            <a:noFill/>
            <a:miter lim="800000"/>
            <a:headEnd/>
            <a:tailEnd/>
          </a:ln>
        </p:spPr>
      </p:pic>
      <p:pic>
        <p:nvPicPr>
          <p:cNvPr id="47159" name="Picture 25"/>
          <p:cNvPicPr>
            <a:picLocks noChangeAspect="1" noChangeArrowheads="1"/>
          </p:cNvPicPr>
          <p:nvPr/>
        </p:nvPicPr>
        <p:blipFill>
          <a:blip r:embed="rId16"/>
          <a:srcRect/>
          <a:stretch>
            <a:fillRect/>
          </a:stretch>
        </p:blipFill>
        <p:spPr bwMode="auto">
          <a:xfrm>
            <a:off x="10127648" y="5411678"/>
            <a:ext cx="296863" cy="500063"/>
          </a:xfrm>
          <a:prstGeom prst="rect">
            <a:avLst/>
          </a:prstGeom>
          <a:noFill/>
          <a:ln w="9525">
            <a:noFill/>
            <a:miter lim="800000"/>
            <a:headEnd/>
            <a:tailEnd/>
          </a:ln>
        </p:spPr>
      </p:pic>
      <p:pic>
        <p:nvPicPr>
          <p:cNvPr id="47160" name="Picture 26"/>
          <p:cNvPicPr>
            <a:picLocks noChangeAspect="1" noChangeArrowheads="1"/>
          </p:cNvPicPr>
          <p:nvPr/>
        </p:nvPicPr>
        <p:blipFill>
          <a:blip r:embed="rId17"/>
          <a:srcRect/>
          <a:stretch>
            <a:fillRect/>
          </a:stretch>
        </p:blipFill>
        <p:spPr bwMode="auto">
          <a:xfrm>
            <a:off x="4269773" y="1888740"/>
            <a:ext cx="357188" cy="568325"/>
          </a:xfrm>
          <a:prstGeom prst="rect">
            <a:avLst/>
          </a:prstGeom>
          <a:noFill/>
          <a:ln w="9525">
            <a:noFill/>
            <a:miter lim="800000"/>
            <a:headEnd/>
            <a:tailEnd/>
          </a:ln>
        </p:spPr>
      </p:pic>
      <p:pic>
        <p:nvPicPr>
          <p:cNvPr id="47161" name="Picture 27"/>
          <p:cNvPicPr>
            <a:picLocks noChangeAspect="1" noChangeArrowheads="1"/>
          </p:cNvPicPr>
          <p:nvPr/>
        </p:nvPicPr>
        <p:blipFill>
          <a:blip r:embed="rId18"/>
          <a:srcRect/>
          <a:stretch>
            <a:fillRect/>
          </a:stretch>
        </p:blipFill>
        <p:spPr bwMode="auto">
          <a:xfrm>
            <a:off x="4841273" y="1888740"/>
            <a:ext cx="357188" cy="623887"/>
          </a:xfrm>
          <a:prstGeom prst="rect">
            <a:avLst/>
          </a:prstGeom>
          <a:noFill/>
          <a:ln w="9525">
            <a:noFill/>
            <a:miter lim="800000"/>
            <a:headEnd/>
            <a:tailEnd/>
          </a:ln>
        </p:spPr>
      </p:pic>
      <p:pic>
        <p:nvPicPr>
          <p:cNvPr id="47162" name="Picture 28"/>
          <p:cNvPicPr>
            <a:picLocks noChangeAspect="1" noChangeArrowheads="1"/>
          </p:cNvPicPr>
          <p:nvPr/>
        </p:nvPicPr>
        <p:blipFill>
          <a:blip r:embed="rId19"/>
          <a:srcRect/>
          <a:stretch>
            <a:fillRect/>
          </a:stretch>
        </p:blipFill>
        <p:spPr bwMode="auto">
          <a:xfrm>
            <a:off x="5555648" y="1888740"/>
            <a:ext cx="285750" cy="595312"/>
          </a:xfrm>
          <a:prstGeom prst="rect">
            <a:avLst/>
          </a:prstGeom>
          <a:noFill/>
          <a:ln w="9525">
            <a:noFill/>
            <a:miter lim="800000"/>
            <a:headEnd/>
            <a:tailEnd/>
          </a:ln>
        </p:spPr>
      </p:pic>
      <p:pic>
        <p:nvPicPr>
          <p:cNvPr id="47163" name="Picture 30"/>
          <p:cNvPicPr>
            <a:picLocks noChangeAspect="1" noChangeArrowheads="1"/>
          </p:cNvPicPr>
          <p:nvPr/>
        </p:nvPicPr>
        <p:blipFill>
          <a:blip r:embed="rId20"/>
          <a:srcRect/>
          <a:stretch>
            <a:fillRect/>
          </a:stretch>
        </p:blipFill>
        <p:spPr bwMode="auto">
          <a:xfrm>
            <a:off x="6770086" y="1868102"/>
            <a:ext cx="357187" cy="609600"/>
          </a:xfrm>
          <a:prstGeom prst="rect">
            <a:avLst/>
          </a:prstGeom>
          <a:noFill/>
          <a:ln w="9525">
            <a:noFill/>
            <a:miter lim="800000"/>
            <a:headEnd/>
            <a:tailEnd/>
          </a:ln>
        </p:spPr>
      </p:pic>
      <p:pic>
        <p:nvPicPr>
          <p:cNvPr id="47164" name="Picture 29"/>
          <p:cNvPicPr>
            <a:picLocks noChangeAspect="1" noChangeArrowheads="1"/>
          </p:cNvPicPr>
          <p:nvPr/>
        </p:nvPicPr>
        <p:blipFill>
          <a:blip r:embed="rId21"/>
          <a:srcRect/>
          <a:stretch>
            <a:fillRect/>
          </a:stretch>
        </p:blipFill>
        <p:spPr bwMode="auto">
          <a:xfrm>
            <a:off x="6179536" y="1888740"/>
            <a:ext cx="285750" cy="642937"/>
          </a:xfrm>
          <a:prstGeom prst="rect">
            <a:avLst/>
          </a:prstGeom>
          <a:noFill/>
          <a:ln w="9525">
            <a:noFill/>
            <a:miter lim="800000"/>
            <a:headEnd/>
            <a:tailEnd/>
          </a:ln>
        </p:spPr>
      </p:pic>
      <p:pic>
        <p:nvPicPr>
          <p:cNvPr id="47165" name="Picture 31"/>
          <p:cNvPicPr>
            <a:picLocks noChangeAspect="1" noChangeArrowheads="1"/>
          </p:cNvPicPr>
          <p:nvPr/>
        </p:nvPicPr>
        <p:blipFill>
          <a:blip r:embed="rId22"/>
          <a:srcRect/>
          <a:stretch>
            <a:fillRect/>
          </a:stretch>
        </p:blipFill>
        <p:spPr bwMode="auto">
          <a:xfrm>
            <a:off x="7413023" y="1960177"/>
            <a:ext cx="228600" cy="571500"/>
          </a:xfrm>
          <a:prstGeom prst="rect">
            <a:avLst/>
          </a:prstGeom>
          <a:noFill/>
          <a:ln w="9525">
            <a:noFill/>
            <a:miter lim="800000"/>
            <a:headEnd/>
            <a:tailEnd/>
          </a:ln>
        </p:spPr>
      </p:pic>
      <p:pic>
        <p:nvPicPr>
          <p:cNvPr id="47166" name="Picture 32"/>
          <p:cNvPicPr>
            <a:picLocks noChangeAspect="1" noChangeArrowheads="1"/>
          </p:cNvPicPr>
          <p:nvPr/>
        </p:nvPicPr>
        <p:blipFill>
          <a:blip r:embed="rId23"/>
          <a:srcRect/>
          <a:stretch>
            <a:fillRect/>
          </a:stretch>
        </p:blipFill>
        <p:spPr bwMode="auto">
          <a:xfrm>
            <a:off x="7770211" y="1861752"/>
            <a:ext cx="357187" cy="669925"/>
          </a:xfrm>
          <a:prstGeom prst="rect">
            <a:avLst/>
          </a:prstGeom>
          <a:noFill/>
          <a:ln w="9525">
            <a:noFill/>
            <a:miter lim="800000"/>
            <a:headEnd/>
            <a:tailEnd/>
          </a:ln>
        </p:spPr>
      </p:pic>
      <p:pic>
        <p:nvPicPr>
          <p:cNvPr id="47167" name="Picture 33"/>
          <p:cNvPicPr>
            <a:picLocks noChangeAspect="1" noChangeArrowheads="1"/>
          </p:cNvPicPr>
          <p:nvPr/>
        </p:nvPicPr>
        <p:blipFill>
          <a:blip r:embed="rId24"/>
          <a:srcRect/>
          <a:stretch>
            <a:fillRect/>
          </a:stretch>
        </p:blipFill>
        <p:spPr bwMode="auto">
          <a:xfrm>
            <a:off x="9413273" y="1960177"/>
            <a:ext cx="631825" cy="571500"/>
          </a:xfrm>
          <a:prstGeom prst="rect">
            <a:avLst/>
          </a:prstGeom>
          <a:noFill/>
          <a:ln w="9525">
            <a:noFill/>
            <a:miter lim="800000"/>
            <a:headEnd/>
            <a:tailEnd/>
          </a:ln>
        </p:spPr>
      </p:pic>
      <p:sp>
        <p:nvSpPr>
          <p:cNvPr id="47168" name="矩形 74"/>
          <p:cNvSpPr>
            <a:spLocks noChangeArrowheads="1"/>
          </p:cNvSpPr>
          <p:nvPr/>
        </p:nvSpPr>
        <p:spPr bwMode="auto">
          <a:xfrm>
            <a:off x="2015586" y="4625866"/>
            <a:ext cx="928459" cy="369332"/>
          </a:xfrm>
          <a:prstGeom prst="rect">
            <a:avLst/>
          </a:prstGeom>
          <a:gradFill rotWithShape="0">
            <a:gsLst>
              <a:gs pos="0">
                <a:srgbClr val="03D4A8"/>
              </a:gs>
              <a:gs pos="25000">
                <a:srgbClr val="21D6E0"/>
              </a:gs>
              <a:gs pos="75000">
                <a:srgbClr val="0087E6"/>
              </a:gs>
              <a:gs pos="100000">
                <a:srgbClr val="005CBF"/>
              </a:gs>
            </a:gsLst>
            <a:lin ang="5400000"/>
          </a:gradFill>
          <a:ln w="9525">
            <a:noFill/>
            <a:miter lim="800000"/>
            <a:headEnd/>
            <a:tailEnd/>
          </a:ln>
        </p:spPr>
        <p:txBody>
          <a:bodyPr wrap="square">
            <a:spAutoFit/>
          </a:bodyPr>
          <a:lstStyle/>
          <a:p>
            <a:pPr defTabSz="914400"/>
            <a:r>
              <a:rPr lang="zh-CN" altLang="en-US" sz="1800" b="1" dirty="0">
                <a:latin typeface="Times New Roman" panose="02020603050405020304" pitchFamily="18" charset="0"/>
                <a:ea typeface="微软雅黑" pitchFamily="34" charset="-122"/>
                <a:cs typeface="Times New Roman" panose="02020603050405020304" pitchFamily="18" charset="0"/>
              </a:rPr>
              <a:t>波长</a:t>
            </a:r>
            <a:r>
              <a:rPr lang="en-US" altLang="zh-CN" sz="1800" b="1" dirty="0">
                <a:latin typeface="Times New Roman" panose="02020603050405020304" pitchFamily="18" charset="0"/>
                <a:ea typeface="微软雅黑" pitchFamily="34" charset="-122"/>
                <a:cs typeface="Times New Roman" panose="02020603050405020304" pitchFamily="18" charset="0"/>
              </a:rPr>
              <a:t>/m</a:t>
            </a:r>
            <a:endParaRPr lang="zh-CN" altLang="en-US" sz="1800" b="1" dirty="0">
              <a:latin typeface="Times New Roman" panose="02020603050405020304" pitchFamily="18" charset="0"/>
              <a:ea typeface="微软雅黑" pitchFamily="34" charset="-122"/>
              <a:cs typeface="Times New Roman" panose="02020603050405020304" pitchFamily="18" charset="0"/>
            </a:endParaRPr>
          </a:p>
        </p:txBody>
      </p:sp>
      <p:sp>
        <p:nvSpPr>
          <p:cNvPr id="70" name="矩形 73"/>
          <p:cNvSpPr>
            <a:spLocks noChangeArrowheads="1"/>
          </p:cNvSpPr>
          <p:nvPr/>
        </p:nvSpPr>
        <p:spPr bwMode="auto">
          <a:xfrm>
            <a:off x="2015586" y="2678663"/>
            <a:ext cx="928459" cy="369332"/>
          </a:xfrm>
          <a:prstGeom prst="rect">
            <a:avLst/>
          </a:prstGeom>
          <a:gradFill rotWithShape="0">
            <a:gsLst>
              <a:gs pos="0">
                <a:srgbClr val="03D4A8"/>
              </a:gs>
              <a:gs pos="25000">
                <a:srgbClr val="21D6E0"/>
              </a:gs>
              <a:gs pos="75000">
                <a:srgbClr val="0087E6"/>
              </a:gs>
              <a:gs pos="100000">
                <a:srgbClr val="005CBF"/>
              </a:gs>
            </a:gsLst>
            <a:lin ang="5400000"/>
          </a:gradFill>
          <a:ln w="9525">
            <a:noFill/>
            <a:miter lim="800000"/>
            <a:headEnd/>
            <a:tailEnd/>
          </a:ln>
        </p:spPr>
        <p:txBody>
          <a:bodyPr wrap="none">
            <a:spAutoFit/>
          </a:bodyPr>
          <a:lstStyle/>
          <a:p>
            <a:pPr defTabSz="914400"/>
            <a:r>
              <a:rPr lang="zh-CN" altLang="en-US" sz="1800" b="1" dirty="0">
                <a:latin typeface="Times New Roman" pitchFamily="18" charset="0"/>
                <a:ea typeface="微软雅黑" pitchFamily="34" charset="-122"/>
                <a:cs typeface="Times New Roman" pitchFamily="18" charset="0"/>
              </a:rPr>
              <a:t>频率</a:t>
            </a:r>
            <a:r>
              <a:rPr lang="en-US" altLang="zh-CN" sz="1800" b="1" dirty="0">
                <a:latin typeface="Times New Roman" pitchFamily="18" charset="0"/>
                <a:ea typeface="微软雅黑" pitchFamily="34" charset="-122"/>
                <a:cs typeface="Times New Roman" pitchFamily="18" charset="0"/>
              </a:rPr>
              <a:t>/</a:t>
            </a:r>
            <a:r>
              <a:rPr lang="en-US" altLang="zh-CN" sz="1800" b="1" i="1" dirty="0">
                <a:latin typeface="Times New Roman" pitchFamily="18" charset="0"/>
                <a:ea typeface="微软雅黑" pitchFamily="34" charset="-122"/>
                <a:cs typeface="Times New Roman" pitchFamily="18" charset="0"/>
              </a:rPr>
              <a:t>s</a:t>
            </a:r>
            <a:r>
              <a:rPr lang="en-US" altLang="zh-CN" sz="1800" b="1" baseline="30000" dirty="0">
                <a:latin typeface="Times New Roman" pitchFamily="18" charset="0"/>
                <a:ea typeface="微软雅黑" pitchFamily="34" charset="-122"/>
                <a:cs typeface="Times New Roman" pitchFamily="18" charset="0"/>
              </a:rPr>
              <a:t>-1</a:t>
            </a:r>
            <a:endParaRPr lang="zh-CN" altLang="en-US" sz="1800" b="1" dirty="0">
              <a:latin typeface="Times New Roman" pitchFamily="18" charset="0"/>
              <a:ea typeface="微软雅黑" pitchFamily="34" charset="-122"/>
              <a:cs typeface="Times New Roman" pitchFamily="18" charset="0"/>
            </a:endParaRPr>
          </a:p>
        </p:txBody>
      </p:sp>
      <p:sp>
        <p:nvSpPr>
          <p:cNvPr id="47170" name="矩形 73"/>
          <p:cNvSpPr>
            <a:spLocks noChangeArrowheads="1"/>
          </p:cNvSpPr>
          <p:nvPr/>
        </p:nvSpPr>
        <p:spPr bwMode="auto">
          <a:xfrm>
            <a:off x="2015586" y="3260360"/>
            <a:ext cx="928459" cy="366713"/>
          </a:xfrm>
          <a:prstGeom prst="rect">
            <a:avLst/>
          </a:prstGeom>
          <a:gradFill rotWithShape="0">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a:gradFill>
          <a:ln w="9525">
            <a:noFill/>
            <a:miter lim="800000"/>
            <a:headEnd/>
            <a:tailEnd/>
          </a:ln>
        </p:spPr>
        <p:txBody>
          <a:bodyPr wrap="square">
            <a:spAutoFit/>
          </a:bodyPr>
          <a:lstStyle/>
          <a:p>
            <a:pPr defTabSz="914400"/>
            <a:r>
              <a:rPr lang="zh-CN" altLang="en-US" sz="1800" b="1" dirty="0">
                <a:latin typeface="微软雅黑" pitchFamily="34" charset="-122"/>
                <a:ea typeface="微软雅黑" pitchFamily="34" charset="-122"/>
                <a:cs typeface="Times New Roman" pitchFamily="18" charset="0"/>
              </a:rPr>
              <a:t>波名称</a:t>
            </a:r>
          </a:p>
        </p:txBody>
      </p:sp>
      <p:pic>
        <p:nvPicPr>
          <p:cNvPr id="47171" name="Picture 70"/>
          <p:cNvPicPr>
            <a:picLocks noChangeAspect="1" noChangeArrowheads="1"/>
          </p:cNvPicPr>
          <p:nvPr/>
        </p:nvPicPr>
        <p:blipFill>
          <a:blip r:embed="rId25"/>
          <a:srcRect/>
          <a:stretch>
            <a:fillRect/>
          </a:stretch>
        </p:blipFill>
        <p:spPr bwMode="auto">
          <a:xfrm>
            <a:off x="3984023" y="6436001"/>
            <a:ext cx="6786563" cy="428625"/>
          </a:xfrm>
          <a:prstGeom prst="rect">
            <a:avLst/>
          </a:prstGeom>
          <a:noFill/>
          <a:ln w="9525">
            <a:noFill/>
            <a:miter lim="800000"/>
            <a:headEnd/>
            <a:tailEnd/>
          </a:ln>
        </p:spPr>
      </p:pic>
      <p:sp>
        <p:nvSpPr>
          <p:cNvPr id="47172" name="矩形 74"/>
          <p:cNvSpPr>
            <a:spLocks noChangeArrowheads="1"/>
          </p:cNvSpPr>
          <p:nvPr/>
        </p:nvSpPr>
        <p:spPr bwMode="auto">
          <a:xfrm>
            <a:off x="1935814" y="6565808"/>
            <a:ext cx="1008231" cy="553998"/>
          </a:xfrm>
          <a:prstGeom prst="rect">
            <a:avLst/>
          </a:prstGeom>
          <a:gradFill rotWithShape="0">
            <a:gsLst>
              <a:gs pos="0">
                <a:srgbClr val="03D4A8"/>
              </a:gs>
              <a:gs pos="25000">
                <a:srgbClr val="21D6E0"/>
              </a:gs>
              <a:gs pos="75000">
                <a:srgbClr val="0087E6"/>
              </a:gs>
              <a:gs pos="100000">
                <a:srgbClr val="005CBF"/>
              </a:gs>
            </a:gsLst>
            <a:lin ang="5400000"/>
          </a:gradFill>
          <a:ln w="9525">
            <a:noFill/>
            <a:miter lim="800000"/>
            <a:headEnd/>
            <a:tailEnd/>
          </a:ln>
        </p:spPr>
        <p:txBody>
          <a:bodyPr wrap="square" lIns="0" tIns="0" rIns="0" bIns="0">
            <a:spAutoFit/>
          </a:bodyPr>
          <a:lstStyle/>
          <a:p>
            <a:pPr algn="ctr" defTabSz="914400"/>
            <a:r>
              <a:rPr lang="zh-CN" altLang="en-US" sz="1800" b="1" dirty="0">
                <a:solidFill>
                  <a:srgbClr val="FF0000"/>
                </a:solidFill>
                <a:latin typeface="Times New Roman" panose="02020603050405020304" pitchFamily="18" charset="0"/>
                <a:ea typeface="冬青黑体简体中文 W6" panose="020B0600000000000000"/>
                <a:cs typeface="Times New Roman" panose="02020603050405020304" pitchFamily="18" charset="0"/>
              </a:rPr>
              <a:t>光子能量</a:t>
            </a:r>
            <a:endParaRPr lang="en-US" altLang="zh-CN" sz="1800" b="1" dirty="0">
              <a:solidFill>
                <a:srgbClr val="FF0000"/>
              </a:solidFill>
              <a:latin typeface="Times New Roman" pitchFamily="18" charset="0"/>
              <a:ea typeface="冬青黑体简体中文 W6" panose="020B0600000000000000"/>
              <a:cs typeface="Times New Roman" pitchFamily="18" charset="0"/>
            </a:endParaRPr>
          </a:p>
          <a:p>
            <a:pPr algn="ctr" defTabSz="914400"/>
            <a:r>
              <a:rPr lang="en-US" altLang="zh-CN" sz="1800" b="1" dirty="0">
                <a:solidFill>
                  <a:srgbClr val="FF0000"/>
                </a:solidFill>
                <a:latin typeface="Times New Roman" pitchFamily="18" charset="0"/>
                <a:ea typeface="冬青黑体简体中文 W6" panose="020B0600000000000000"/>
                <a:cs typeface="Times New Roman" pitchFamily="18" charset="0"/>
              </a:rPr>
              <a:t>eV</a:t>
            </a:r>
            <a:endParaRPr lang="zh-CN" altLang="en-US" sz="1800" b="1" dirty="0">
              <a:solidFill>
                <a:srgbClr val="FF0000"/>
              </a:solidFill>
              <a:latin typeface="Times New Roman" pitchFamily="18" charset="0"/>
              <a:ea typeface="冬青黑体简体中文 W6" panose="020B0600000000000000"/>
              <a:cs typeface="Times New Roman" pitchFamily="18" charset="0"/>
            </a:endParaRPr>
          </a:p>
        </p:txBody>
      </p:sp>
      <p:sp>
        <p:nvSpPr>
          <p:cNvPr id="74" name="右箭头 73"/>
          <p:cNvSpPr/>
          <p:nvPr/>
        </p:nvSpPr>
        <p:spPr>
          <a:xfrm>
            <a:off x="10901830" y="6436002"/>
            <a:ext cx="497067" cy="4389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1800"/>
          </a:p>
        </p:txBody>
      </p:sp>
      <p:sp>
        <p:nvSpPr>
          <p:cNvPr id="47174" name="矩形 12"/>
          <p:cNvSpPr>
            <a:spLocks noChangeArrowheads="1"/>
          </p:cNvSpPr>
          <p:nvPr/>
        </p:nvSpPr>
        <p:spPr bwMode="auto">
          <a:xfrm flipH="1">
            <a:off x="10892650" y="6503122"/>
            <a:ext cx="461823" cy="307777"/>
          </a:xfrm>
          <a:prstGeom prst="rect">
            <a:avLst/>
          </a:prstGeom>
          <a:noFill/>
          <a:ln w="9525">
            <a:noFill/>
            <a:miter lim="800000"/>
            <a:headEnd/>
            <a:tailEnd/>
          </a:ln>
        </p:spPr>
        <p:txBody>
          <a:bodyPr wrap="square">
            <a:spAutoFit/>
          </a:bodyPr>
          <a:lstStyle/>
          <a:p>
            <a:pPr defTabSz="914400"/>
            <a:r>
              <a:rPr lang="zh-CN" altLang="en-US" sz="1400" b="1" dirty="0">
                <a:solidFill>
                  <a:srgbClr val="FFFF00"/>
                </a:solidFill>
                <a:latin typeface="微软雅黑" pitchFamily="34" charset="-122"/>
                <a:ea typeface="冬青黑体简体中文 W6" panose="020B0600000000000000"/>
              </a:rPr>
              <a:t>高</a:t>
            </a:r>
          </a:p>
        </p:txBody>
      </p:sp>
      <p:sp>
        <p:nvSpPr>
          <p:cNvPr id="76" name="右箭头 75"/>
          <p:cNvSpPr>
            <a:spLocks noChangeArrowheads="1"/>
          </p:cNvSpPr>
          <p:nvPr/>
        </p:nvSpPr>
        <p:spPr bwMode="auto">
          <a:xfrm rot="10800000">
            <a:off x="3266916" y="6413762"/>
            <a:ext cx="428625" cy="428625"/>
          </a:xfrm>
          <a:prstGeom prst="rightArrow">
            <a:avLst>
              <a:gd name="adj1" fmla="val 50000"/>
              <a:gd name="adj2" fmla="val 50000"/>
            </a:avLst>
          </a:prstGeom>
          <a:solidFill>
            <a:schemeClr val="accent1"/>
          </a:solidFill>
          <a:ln w="25400" algn="ctr">
            <a:solidFill>
              <a:srgbClr val="385D8A"/>
            </a:solidFill>
            <a:miter lim="800000"/>
            <a:headEnd/>
            <a:tailEnd/>
          </a:ln>
        </p:spPr>
        <p:txBody>
          <a:bodyPr rot="10800000" anchor="ctr"/>
          <a:lstStyle/>
          <a:p>
            <a:pPr algn="ctr" defTabSz="914400" fontAlgn="auto">
              <a:spcBef>
                <a:spcPts val="0"/>
              </a:spcBef>
              <a:spcAft>
                <a:spcPts val="0"/>
              </a:spcAft>
              <a:defRPr/>
            </a:pPr>
            <a:endParaRPr lang="zh-CN" altLang="en-US" sz="1800">
              <a:solidFill>
                <a:schemeClr val="lt1"/>
              </a:solidFill>
              <a:latin typeface="+mn-lt"/>
              <a:ea typeface="+mn-ea"/>
            </a:endParaRPr>
          </a:p>
        </p:txBody>
      </p:sp>
      <p:sp>
        <p:nvSpPr>
          <p:cNvPr id="47176" name="矩形 10"/>
          <p:cNvSpPr>
            <a:spLocks noChangeArrowheads="1"/>
          </p:cNvSpPr>
          <p:nvPr/>
        </p:nvSpPr>
        <p:spPr bwMode="auto">
          <a:xfrm flipH="1">
            <a:off x="3302634" y="6489961"/>
            <a:ext cx="357187" cy="307777"/>
          </a:xfrm>
          <a:prstGeom prst="rect">
            <a:avLst/>
          </a:prstGeom>
          <a:noFill/>
          <a:ln w="9525">
            <a:noFill/>
            <a:miter lim="800000"/>
            <a:headEnd/>
            <a:tailEnd/>
          </a:ln>
        </p:spPr>
        <p:txBody>
          <a:bodyPr>
            <a:spAutoFit/>
          </a:bodyPr>
          <a:lstStyle/>
          <a:p>
            <a:pPr defTabSz="914400"/>
            <a:r>
              <a:rPr lang="zh-CN" altLang="en-US" sz="1400" b="1" dirty="0">
                <a:solidFill>
                  <a:srgbClr val="FFFF00"/>
                </a:solidFill>
                <a:latin typeface="微软雅黑" pitchFamily="34" charset="-122"/>
                <a:ea typeface="微软雅黑" pitchFamily="34" charset="-122"/>
              </a:rPr>
              <a:t>低</a:t>
            </a:r>
          </a:p>
        </p:txBody>
      </p:sp>
      <p:sp>
        <p:nvSpPr>
          <p:cNvPr id="84" name="文本框 60">
            <a:extLst>
              <a:ext uri="{FF2B5EF4-FFF2-40B4-BE49-F238E27FC236}">
                <a16:creationId xmlns:a16="http://schemas.microsoft.com/office/drawing/2014/main" id="{8F09A272-E136-491B-82F6-B50EA2719E65}"/>
              </a:ext>
            </a:extLst>
          </p:cNvPr>
          <p:cNvSpPr txBox="1"/>
          <p:nvPr/>
        </p:nvSpPr>
        <p:spPr>
          <a:xfrm>
            <a:off x="1364781" y="293282"/>
            <a:ext cx="1208839"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sp>
        <p:nvSpPr>
          <p:cNvPr id="85" name="矩形 84">
            <a:extLst>
              <a:ext uri="{FF2B5EF4-FFF2-40B4-BE49-F238E27FC236}">
                <a16:creationId xmlns:a16="http://schemas.microsoft.com/office/drawing/2014/main" id="{7EEB6FA2-8F57-4259-9D56-1C0BBDBF899D}"/>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87" name="矩形 86">
            <a:extLst>
              <a:ext uri="{FF2B5EF4-FFF2-40B4-BE49-F238E27FC236}">
                <a16:creationId xmlns:a16="http://schemas.microsoft.com/office/drawing/2014/main" id="{99770A50-2DAF-4D32-8850-EDC7D7C8486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圆角 87">
            <a:extLst>
              <a:ext uri="{FF2B5EF4-FFF2-40B4-BE49-F238E27FC236}">
                <a16:creationId xmlns:a16="http://schemas.microsoft.com/office/drawing/2014/main" id="{42D43AEA-9F81-4F90-83A7-836B22464027}"/>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90" name="矩形 89">
            <a:extLst>
              <a:ext uri="{FF2B5EF4-FFF2-40B4-BE49-F238E27FC236}">
                <a16:creationId xmlns:a16="http://schemas.microsoft.com/office/drawing/2014/main" id="{24BAA6D5-2101-4597-877A-F3B22B1A2A1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91" name="矩形 90">
            <a:extLst>
              <a:ext uri="{FF2B5EF4-FFF2-40B4-BE49-F238E27FC236}">
                <a16:creationId xmlns:a16="http://schemas.microsoft.com/office/drawing/2014/main" id="{6011C620-D444-4437-A9DE-A1376FB9FF4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86"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anim calcmode="lin" valueType="num">
                                      <p:cBhvr additive="base">
                                        <p:cTn id="11" dur="500" fill="hold"/>
                                        <p:tgtEl>
                                          <p:spTgt spid="70"/>
                                        </p:tgtEl>
                                        <p:attrNameLst>
                                          <p:attrName>ppt_x</p:attrName>
                                        </p:attrNameLst>
                                      </p:cBhvr>
                                      <p:tavLst>
                                        <p:tav tm="0">
                                          <p:val>
                                            <p:strVal val="0-#ppt_w/2"/>
                                          </p:val>
                                        </p:tav>
                                        <p:tav tm="100000">
                                          <p:val>
                                            <p:strVal val="#ppt_x"/>
                                          </p:val>
                                        </p:tav>
                                      </p:tavLst>
                                    </p:anim>
                                    <p:anim calcmode="lin" valueType="num">
                                      <p:cBhvr additive="base">
                                        <p:cTn id="12" dur="500" fill="hold"/>
                                        <p:tgtEl>
                                          <p:spTgt spid="7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ox(in)">
                                      <p:cBhvr>
                                        <p:cTn id="16" dur="500"/>
                                        <p:tgtEl>
                                          <p:spTgt spid="6"/>
                                        </p:tgtEl>
                                      </p:cBhvr>
                                    </p:animEffect>
                                  </p:childTnLst>
                                </p:cTn>
                              </p:par>
                            </p:childTnLst>
                          </p:cTn>
                        </p:par>
                        <p:par>
                          <p:cTn id="17" fill="hold">
                            <p:stCondLst>
                              <p:cond delay="1000"/>
                            </p:stCondLst>
                            <p:childTnLst>
                              <p:par>
                                <p:cTn id="18" presetID="4"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ox(in)">
                                      <p:cBhvr>
                                        <p:cTn id="20" dur="500"/>
                                        <p:tgtEl>
                                          <p:spTgt spid="2"/>
                                        </p:tgtEl>
                                      </p:cBhvr>
                                    </p:animEffect>
                                  </p:childTnLst>
                                </p:cTn>
                              </p:par>
                            </p:childTnLst>
                          </p:cTn>
                        </p:par>
                        <p:par>
                          <p:cTn id="21" fill="hold">
                            <p:stCondLst>
                              <p:cond delay="1500"/>
                            </p:stCondLst>
                            <p:childTnLst>
                              <p:par>
                                <p:cTn id="22" presetID="4"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i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7170"/>
                                        </p:tgtEl>
                                        <p:attrNameLst>
                                          <p:attrName>style.visibility</p:attrName>
                                        </p:attrNameLst>
                                      </p:cBhvr>
                                      <p:to>
                                        <p:strVal val="visible"/>
                                      </p:to>
                                    </p:set>
                                    <p:animEffect transition="in" filter="box(in)">
                                      <p:cBhvr>
                                        <p:cTn id="29" dur="500"/>
                                        <p:tgtEl>
                                          <p:spTgt spid="47170"/>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ox(in)">
                                      <p:cBhvr>
                                        <p:cTn id="34" dur="500"/>
                                        <p:tgtEl>
                                          <p:spTgt spid="36"/>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47141"/>
                                        </p:tgtEl>
                                        <p:attrNameLst>
                                          <p:attrName>style.visibility</p:attrName>
                                        </p:attrNameLst>
                                      </p:cBhvr>
                                      <p:to>
                                        <p:strVal val="visible"/>
                                      </p:to>
                                    </p:set>
                                    <p:animEffect transition="in" filter="box(in)">
                                      <p:cBhvr>
                                        <p:cTn id="37" dur="500"/>
                                        <p:tgtEl>
                                          <p:spTgt spid="4714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box(in)">
                                      <p:cBhvr>
                                        <p:cTn id="42" dur="500"/>
                                        <p:tgtEl>
                                          <p:spTgt spid="37"/>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47142"/>
                                        </p:tgtEl>
                                        <p:attrNameLst>
                                          <p:attrName>style.visibility</p:attrName>
                                        </p:attrNameLst>
                                      </p:cBhvr>
                                      <p:to>
                                        <p:strVal val="visible"/>
                                      </p:to>
                                    </p:set>
                                    <p:animEffect transition="in" filter="box(in)">
                                      <p:cBhvr>
                                        <p:cTn id="45" dur="500"/>
                                        <p:tgtEl>
                                          <p:spTgt spid="47142"/>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47144"/>
                                        </p:tgtEl>
                                        <p:attrNameLst>
                                          <p:attrName>style.visibility</p:attrName>
                                        </p:attrNameLst>
                                      </p:cBhvr>
                                      <p:to>
                                        <p:strVal val="visible"/>
                                      </p:to>
                                    </p:set>
                                    <p:animEffect transition="in" filter="box(in)">
                                      <p:cBhvr>
                                        <p:cTn id="50" dur="500"/>
                                        <p:tgtEl>
                                          <p:spTgt spid="47144"/>
                                        </p:tgtEl>
                                      </p:cBhvr>
                                    </p:animEffect>
                                  </p:childTnLst>
                                </p:cTn>
                              </p:par>
                              <p:par>
                                <p:cTn id="51" presetID="4" presetClass="entr" presetSubtype="16" fill="hold" nodeType="withEffect">
                                  <p:stCondLst>
                                    <p:cond delay="0"/>
                                  </p:stCondLst>
                                  <p:childTnLst>
                                    <p:set>
                                      <p:cBhvr>
                                        <p:cTn id="52" dur="1" fill="hold">
                                          <p:stCondLst>
                                            <p:cond delay="0"/>
                                          </p:stCondLst>
                                        </p:cTn>
                                        <p:tgtEl>
                                          <p:spTgt spid="47108"/>
                                        </p:tgtEl>
                                        <p:attrNameLst>
                                          <p:attrName>style.visibility</p:attrName>
                                        </p:attrNameLst>
                                      </p:cBhvr>
                                      <p:to>
                                        <p:strVal val="visible"/>
                                      </p:to>
                                    </p:set>
                                    <p:animEffect transition="in" filter="box(in)">
                                      <p:cBhvr>
                                        <p:cTn id="53" dur="500"/>
                                        <p:tgtEl>
                                          <p:spTgt spid="47108"/>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47143"/>
                                        </p:tgtEl>
                                        <p:attrNameLst>
                                          <p:attrName>style.visibility</p:attrName>
                                        </p:attrNameLst>
                                      </p:cBhvr>
                                      <p:to>
                                        <p:strVal val="visible"/>
                                      </p:to>
                                    </p:set>
                                    <p:animEffect transition="in" filter="box(in)">
                                      <p:cBhvr>
                                        <p:cTn id="56" dur="500"/>
                                        <p:tgtEl>
                                          <p:spTgt spid="47143"/>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47145"/>
                                        </p:tgtEl>
                                        <p:attrNameLst>
                                          <p:attrName>style.visibility</p:attrName>
                                        </p:attrNameLst>
                                      </p:cBhvr>
                                      <p:to>
                                        <p:strVal val="visible"/>
                                      </p:to>
                                    </p:set>
                                    <p:animEffect transition="in" filter="box(in)">
                                      <p:cBhvr>
                                        <p:cTn id="59" dur="500"/>
                                        <p:tgtEl>
                                          <p:spTgt spid="47145"/>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box(in)">
                                      <p:cBhvr>
                                        <p:cTn id="64" dur="500"/>
                                        <p:tgtEl>
                                          <p:spTgt spid="4"/>
                                        </p:tgtEl>
                                      </p:cBhvr>
                                    </p:animEffect>
                                  </p:childTnLst>
                                </p:cTn>
                              </p:par>
                              <p:par>
                                <p:cTn id="65" presetID="4" presetClass="entr" presetSubtype="16" fill="hold" grpId="0" nodeType="withEffect">
                                  <p:stCondLst>
                                    <p:cond delay="0"/>
                                  </p:stCondLst>
                                  <p:childTnLst>
                                    <p:set>
                                      <p:cBhvr>
                                        <p:cTn id="66" dur="1" fill="hold">
                                          <p:stCondLst>
                                            <p:cond delay="0"/>
                                          </p:stCondLst>
                                        </p:cTn>
                                        <p:tgtEl>
                                          <p:spTgt spid="47146"/>
                                        </p:tgtEl>
                                        <p:attrNameLst>
                                          <p:attrName>style.visibility</p:attrName>
                                        </p:attrNameLst>
                                      </p:cBhvr>
                                      <p:to>
                                        <p:strVal val="visible"/>
                                      </p:to>
                                    </p:set>
                                    <p:animEffect transition="in" filter="box(in)">
                                      <p:cBhvr>
                                        <p:cTn id="67" dur="500"/>
                                        <p:tgtEl>
                                          <p:spTgt spid="47146"/>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box(in)">
                                      <p:cBhvr>
                                        <p:cTn id="72" dur="500"/>
                                        <p:tgtEl>
                                          <p:spTgt spid="41"/>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47147"/>
                                        </p:tgtEl>
                                        <p:attrNameLst>
                                          <p:attrName>style.visibility</p:attrName>
                                        </p:attrNameLst>
                                      </p:cBhvr>
                                      <p:to>
                                        <p:strVal val="visible"/>
                                      </p:to>
                                    </p:set>
                                    <p:animEffect transition="in" filter="box(in)">
                                      <p:cBhvr>
                                        <p:cTn id="75" dur="500"/>
                                        <p:tgtEl>
                                          <p:spTgt spid="47147"/>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grpId="0" nodeType="clickEffect">
                                  <p:stCondLst>
                                    <p:cond delay="0"/>
                                  </p:stCondLst>
                                  <p:childTnLst>
                                    <p:set>
                                      <p:cBhvr>
                                        <p:cTn id="79" dur="1" fill="hold">
                                          <p:stCondLst>
                                            <p:cond delay="0"/>
                                          </p:stCondLst>
                                        </p:cTn>
                                        <p:tgtEl>
                                          <p:spTgt spid="47128"/>
                                        </p:tgtEl>
                                        <p:attrNameLst>
                                          <p:attrName>style.visibility</p:attrName>
                                        </p:attrNameLst>
                                      </p:cBhvr>
                                      <p:to>
                                        <p:strVal val="visible"/>
                                      </p:to>
                                    </p:set>
                                    <p:animEffect transition="in" filter="box(in)">
                                      <p:cBhvr>
                                        <p:cTn id="80" dur="500"/>
                                        <p:tgtEl>
                                          <p:spTgt spid="47128"/>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47160"/>
                                        </p:tgtEl>
                                        <p:attrNameLst>
                                          <p:attrName>style.visibility</p:attrName>
                                        </p:attrNameLst>
                                      </p:cBhvr>
                                      <p:to>
                                        <p:strVal val="visible"/>
                                      </p:to>
                                    </p:set>
                                    <p:animEffect transition="in" filter="box(in)">
                                      <p:cBhvr>
                                        <p:cTn id="85" dur="500"/>
                                        <p:tgtEl>
                                          <p:spTgt spid="47160"/>
                                        </p:tgtEl>
                                      </p:cBhvr>
                                    </p:animEffect>
                                  </p:childTnLst>
                                </p:cTn>
                              </p:par>
                              <p:par>
                                <p:cTn id="86" presetID="4" presetClass="entr" presetSubtype="16" fill="hold" grpId="0" nodeType="withEffect">
                                  <p:stCondLst>
                                    <p:cond delay="0"/>
                                  </p:stCondLst>
                                  <p:childTnLst>
                                    <p:set>
                                      <p:cBhvr>
                                        <p:cTn id="87" dur="1" fill="hold">
                                          <p:stCondLst>
                                            <p:cond delay="0"/>
                                          </p:stCondLst>
                                        </p:cTn>
                                        <p:tgtEl>
                                          <p:spTgt spid="47129"/>
                                        </p:tgtEl>
                                        <p:attrNameLst>
                                          <p:attrName>style.visibility</p:attrName>
                                        </p:attrNameLst>
                                      </p:cBhvr>
                                      <p:to>
                                        <p:strVal val="visible"/>
                                      </p:to>
                                    </p:set>
                                    <p:animEffect transition="in" filter="box(in)">
                                      <p:cBhvr>
                                        <p:cTn id="88" dur="500"/>
                                        <p:tgtEl>
                                          <p:spTgt spid="47129"/>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16" fill="hold" nodeType="clickEffect">
                                  <p:stCondLst>
                                    <p:cond delay="0"/>
                                  </p:stCondLst>
                                  <p:childTnLst>
                                    <p:set>
                                      <p:cBhvr>
                                        <p:cTn id="92" dur="1" fill="hold">
                                          <p:stCondLst>
                                            <p:cond delay="0"/>
                                          </p:stCondLst>
                                        </p:cTn>
                                        <p:tgtEl>
                                          <p:spTgt spid="47161"/>
                                        </p:tgtEl>
                                        <p:attrNameLst>
                                          <p:attrName>style.visibility</p:attrName>
                                        </p:attrNameLst>
                                      </p:cBhvr>
                                      <p:to>
                                        <p:strVal val="visible"/>
                                      </p:to>
                                    </p:set>
                                    <p:animEffect transition="in" filter="box(in)">
                                      <p:cBhvr>
                                        <p:cTn id="93" dur="500"/>
                                        <p:tgtEl>
                                          <p:spTgt spid="47161"/>
                                        </p:tgtEl>
                                      </p:cBhvr>
                                    </p:animEffect>
                                  </p:childTnLst>
                                </p:cTn>
                              </p:par>
                              <p:par>
                                <p:cTn id="94" presetID="4" presetClass="entr" presetSubtype="16" fill="hold" grpId="0" nodeType="withEffect">
                                  <p:stCondLst>
                                    <p:cond delay="0"/>
                                  </p:stCondLst>
                                  <p:childTnLst>
                                    <p:set>
                                      <p:cBhvr>
                                        <p:cTn id="95" dur="1" fill="hold">
                                          <p:stCondLst>
                                            <p:cond delay="0"/>
                                          </p:stCondLst>
                                        </p:cTn>
                                        <p:tgtEl>
                                          <p:spTgt spid="47127"/>
                                        </p:tgtEl>
                                        <p:attrNameLst>
                                          <p:attrName>style.visibility</p:attrName>
                                        </p:attrNameLst>
                                      </p:cBhvr>
                                      <p:to>
                                        <p:strVal val="visible"/>
                                      </p:to>
                                    </p:set>
                                    <p:animEffect transition="in" filter="box(in)">
                                      <p:cBhvr>
                                        <p:cTn id="96" dur="500"/>
                                        <p:tgtEl>
                                          <p:spTgt spid="47127"/>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47162"/>
                                        </p:tgtEl>
                                        <p:attrNameLst>
                                          <p:attrName>style.visibility</p:attrName>
                                        </p:attrNameLst>
                                      </p:cBhvr>
                                      <p:to>
                                        <p:strVal val="visible"/>
                                      </p:to>
                                    </p:set>
                                    <p:animEffect transition="in" filter="box(in)">
                                      <p:cBhvr>
                                        <p:cTn id="101" dur="500"/>
                                        <p:tgtEl>
                                          <p:spTgt spid="47162"/>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47126"/>
                                        </p:tgtEl>
                                        <p:attrNameLst>
                                          <p:attrName>style.visibility</p:attrName>
                                        </p:attrNameLst>
                                      </p:cBhvr>
                                      <p:to>
                                        <p:strVal val="visible"/>
                                      </p:to>
                                    </p:set>
                                    <p:animEffect transition="in" filter="box(in)">
                                      <p:cBhvr>
                                        <p:cTn id="104" dur="500"/>
                                        <p:tgtEl>
                                          <p:spTgt spid="47126"/>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nodeType="clickEffect">
                                  <p:stCondLst>
                                    <p:cond delay="0"/>
                                  </p:stCondLst>
                                  <p:childTnLst>
                                    <p:set>
                                      <p:cBhvr>
                                        <p:cTn id="108" dur="1" fill="hold">
                                          <p:stCondLst>
                                            <p:cond delay="0"/>
                                          </p:stCondLst>
                                        </p:cTn>
                                        <p:tgtEl>
                                          <p:spTgt spid="47164"/>
                                        </p:tgtEl>
                                        <p:attrNameLst>
                                          <p:attrName>style.visibility</p:attrName>
                                        </p:attrNameLst>
                                      </p:cBhvr>
                                      <p:to>
                                        <p:strVal val="visible"/>
                                      </p:to>
                                    </p:set>
                                    <p:animEffect transition="in" filter="box(in)">
                                      <p:cBhvr>
                                        <p:cTn id="109" dur="500"/>
                                        <p:tgtEl>
                                          <p:spTgt spid="47164"/>
                                        </p:tgtEl>
                                      </p:cBhvr>
                                    </p:animEffect>
                                  </p:childTnLst>
                                </p:cTn>
                              </p:par>
                              <p:par>
                                <p:cTn id="110" presetID="4" presetClass="entr" presetSubtype="16" fill="hold" grpId="0" nodeType="withEffect">
                                  <p:stCondLst>
                                    <p:cond delay="0"/>
                                  </p:stCondLst>
                                  <p:childTnLst>
                                    <p:set>
                                      <p:cBhvr>
                                        <p:cTn id="111" dur="1" fill="hold">
                                          <p:stCondLst>
                                            <p:cond delay="0"/>
                                          </p:stCondLst>
                                        </p:cTn>
                                        <p:tgtEl>
                                          <p:spTgt spid="47125"/>
                                        </p:tgtEl>
                                        <p:attrNameLst>
                                          <p:attrName>style.visibility</p:attrName>
                                        </p:attrNameLst>
                                      </p:cBhvr>
                                      <p:to>
                                        <p:strVal val="visible"/>
                                      </p:to>
                                    </p:set>
                                    <p:animEffect transition="in" filter="box(in)">
                                      <p:cBhvr>
                                        <p:cTn id="112" dur="500"/>
                                        <p:tgtEl>
                                          <p:spTgt spid="47125"/>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nodeType="clickEffect">
                                  <p:stCondLst>
                                    <p:cond delay="0"/>
                                  </p:stCondLst>
                                  <p:childTnLst>
                                    <p:set>
                                      <p:cBhvr>
                                        <p:cTn id="116" dur="1" fill="hold">
                                          <p:stCondLst>
                                            <p:cond delay="0"/>
                                          </p:stCondLst>
                                        </p:cTn>
                                        <p:tgtEl>
                                          <p:spTgt spid="47163"/>
                                        </p:tgtEl>
                                        <p:attrNameLst>
                                          <p:attrName>style.visibility</p:attrName>
                                        </p:attrNameLst>
                                      </p:cBhvr>
                                      <p:to>
                                        <p:strVal val="visible"/>
                                      </p:to>
                                    </p:set>
                                    <p:animEffect transition="in" filter="box(in)">
                                      <p:cBhvr>
                                        <p:cTn id="117" dur="500"/>
                                        <p:tgtEl>
                                          <p:spTgt spid="47163"/>
                                        </p:tgtEl>
                                      </p:cBhvr>
                                    </p:animEffect>
                                  </p:childTnLst>
                                </p:cTn>
                              </p:par>
                              <p:par>
                                <p:cTn id="118" presetID="4" presetClass="entr" presetSubtype="16" fill="hold" grpId="0" nodeType="withEffect">
                                  <p:stCondLst>
                                    <p:cond delay="0"/>
                                  </p:stCondLst>
                                  <p:childTnLst>
                                    <p:set>
                                      <p:cBhvr>
                                        <p:cTn id="119" dur="1" fill="hold">
                                          <p:stCondLst>
                                            <p:cond delay="0"/>
                                          </p:stCondLst>
                                        </p:cTn>
                                        <p:tgtEl>
                                          <p:spTgt spid="47124"/>
                                        </p:tgtEl>
                                        <p:attrNameLst>
                                          <p:attrName>style.visibility</p:attrName>
                                        </p:attrNameLst>
                                      </p:cBhvr>
                                      <p:to>
                                        <p:strVal val="visible"/>
                                      </p:to>
                                    </p:set>
                                    <p:animEffect transition="in" filter="box(in)">
                                      <p:cBhvr>
                                        <p:cTn id="120" dur="500"/>
                                        <p:tgtEl>
                                          <p:spTgt spid="47124"/>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nodeType="clickEffect">
                                  <p:stCondLst>
                                    <p:cond delay="0"/>
                                  </p:stCondLst>
                                  <p:childTnLst>
                                    <p:set>
                                      <p:cBhvr>
                                        <p:cTn id="124" dur="1" fill="hold">
                                          <p:stCondLst>
                                            <p:cond delay="0"/>
                                          </p:stCondLst>
                                        </p:cTn>
                                        <p:tgtEl>
                                          <p:spTgt spid="47165"/>
                                        </p:tgtEl>
                                        <p:attrNameLst>
                                          <p:attrName>style.visibility</p:attrName>
                                        </p:attrNameLst>
                                      </p:cBhvr>
                                      <p:to>
                                        <p:strVal val="visible"/>
                                      </p:to>
                                    </p:set>
                                    <p:animEffect transition="in" filter="box(in)">
                                      <p:cBhvr>
                                        <p:cTn id="125" dur="500"/>
                                        <p:tgtEl>
                                          <p:spTgt spid="47165"/>
                                        </p:tgtEl>
                                      </p:cBhvr>
                                    </p:animEffect>
                                  </p:childTnLst>
                                </p:cTn>
                              </p:par>
                              <p:par>
                                <p:cTn id="126" presetID="4" presetClass="entr" presetSubtype="16" fill="hold" grpId="0" nodeType="withEffect">
                                  <p:stCondLst>
                                    <p:cond delay="0"/>
                                  </p:stCondLst>
                                  <p:childTnLst>
                                    <p:set>
                                      <p:cBhvr>
                                        <p:cTn id="127" dur="1" fill="hold">
                                          <p:stCondLst>
                                            <p:cond delay="0"/>
                                          </p:stCondLst>
                                        </p:cTn>
                                        <p:tgtEl>
                                          <p:spTgt spid="47135"/>
                                        </p:tgtEl>
                                        <p:attrNameLst>
                                          <p:attrName>style.visibility</p:attrName>
                                        </p:attrNameLst>
                                      </p:cBhvr>
                                      <p:to>
                                        <p:strVal val="visible"/>
                                      </p:to>
                                    </p:set>
                                    <p:animEffect transition="in" filter="box(in)">
                                      <p:cBhvr>
                                        <p:cTn id="128" dur="500"/>
                                        <p:tgtEl>
                                          <p:spTgt spid="47135"/>
                                        </p:tgtEl>
                                      </p:cBhvr>
                                    </p:animEffect>
                                  </p:childTnLst>
                                </p:cTn>
                              </p:par>
                            </p:childTnLst>
                          </p:cTn>
                        </p:par>
                      </p:childTnLst>
                    </p:cTn>
                  </p:par>
                  <p:par>
                    <p:cTn id="129" fill="hold">
                      <p:stCondLst>
                        <p:cond delay="indefinite"/>
                      </p:stCondLst>
                      <p:childTnLst>
                        <p:par>
                          <p:cTn id="130" fill="hold">
                            <p:stCondLst>
                              <p:cond delay="0"/>
                            </p:stCondLst>
                            <p:childTnLst>
                              <p:par>
                                <p:cTn id="131" presetID="4" presetClass="entr" presetSubtype="16" fill="hold" nodeType="clickEffect">
                                  <p:stCondLst>
                                    <p:cond delay="0"/>
                                  </p:stCondLst>
                                  <p:childTnLst>
                                    <p:set>
                                      <p:cBhvr>
                                        <p:cTn id="132" dur="1" fill="hold">
                                          <p:stCondLst>
                                            <p:cond delay="0"/>
                                          </p:stCondLst>
                                        </p:cTn>
                                        <p:tgtEl>
                                          <p:spTgt spid="47166"/>
                                        </p:tgtEl>
                                        <p:attrNameLst>
                                          <p:attrName>style.visibility</p:attrName>
                                        </p:attrNameLst>
                                      </p:cBhvr>
                                      <p:to>
                                        <p:strVal val="visible"/>
                                      </p:to>
                                    </p:set>
                                    <p:animEffect transition="in" filter="box(in)">
                                      <p:cBhvr>
                                        <p:cTn id="133" dur="500"/>
                                        <p:tgtEl>
                                          <p:spTgt spid="47166"/>
                                        </p:tgtEl>
                                      </p:cBhvr>
                                    </p:animEffect>
                                  </p:childTnLst>
                                </p:cTn>
                              </p:par>
                              <p:par>
                                <p:cTn id="134" presetID="4" presetClass="entr" presetSubtype="16" fill="hold" grpId="0" nodeType="withEffect">
                                  <p:stCondLst>
                                    <p:cond delay="0"/>
                                  </p:stCondLst>
                                  <p:childTnLst>
                                    <p:set>
                                      <p:cBhvr>
                                        <p:cTn id="135" dur="1" fill="hold">
                                          <p:stCondLst>
                                            <p:cond delay="0"/>
                                          </p:stCondLst>
                                        </p:cTn>
                                        <p:tgtEl>
                                          <p:spTgt spid="47134"/>
                                        </p:tgtEl>
                                        <p:attrNameLst>
                                          <p:attrName>style.visibility</p:attrName>
                                        </p:attrNameLst>
                                      </p:cBhvr>
                                      <p:to>
                                        <p:strVal val="visible"/>
                                      </p:to>
                                    </p:set>
                                    <p:animEffect transition="in" filter="box(in)">
                                      <p:cBhvr>
                                        <p:cTn id="136" dur="500"/>
                                        <p:tgtEl>
                                          <p:spTgt spid="47134"/>
                                        </p:tgtEl>
                                      </p:cBhvr>
                                    </p:animEffect>
                                  </p:childTnLst>
                                </p:cTn>
                              </p:par>
                            </p:childTnLst>
                          </p:cTn>
                        </p:par>
                      </p:childTnLst>
                    </p:cTn>
                  </p:par>
                  <p:par>
                    <p:cTn id="137" fill="hold">
                      <p:stCondLst>
                        <p:cond delay="indefinite"/>
                      </p:stCondLst>
                      <p:childTnLst>
                        <p:par>
                          <p:cTn id="138" fill="hold">
                            <p:stCondLst>
                              <p:cond delay="0"/>
                            </p:stCondLst>
                            <p:childTnLst>
                              <p:par>
                                <p:cTn id="139" presetID="4" presetClass="entr" presetSubtype="16" fill="hold" nodeType="clickEffect">
                                  <p:stCondLst>
                                    <p:cond delay="0"/>
                                  </p:stCondLst>
                                  <p:childTnLst>
                                    <p:set>
                                      <p:cBhvr>
                                        <p:cTn id="140" dur="1" fill="hold">
                                          <p:stCondLst>
                                            <p:cond delay="0"/>
                                          </p:stCondLst>
                                        </p:cTn>
                                        <p:tgtEl>
                                          <p:spTgt spid="47167"/>
                                        </p:tgtEl>
                                        <p:attrNameLst>
                                          <p:attrName>style.visibility</p:attrName>
                                        </p:attrNameLst>
                                      </p:cBhvr>
                                      <p:to>
                                        <p:strVal val="visible"/>
                                      </p:to>
                                    </p:set>
                                    <p:animEffect transition="in" filter="box(in)">
                                      <p:cBhvr>
                                        <p:cTn id="141" dur="500"/>
                                        <p:tgtEl>
                                          <p:spTgt spid="47167"/>
                                        </p:tgtEl>
                                      </p:cBhvr>
                                    </p:animEffect>
                                  </p:childTnLst>
                                </p:cTn>
                              </p:par>
                              <p:par>
                                <p:cTn id="142" presetID="4" presetClass="entr" presetSubtype="16" fill="hold" grpId="0" nodeType="withEffect">
                                  <p:stCondLst>
                                    <p:cond delay="0"/>
                                  </p:stCondLst>
                                  <p:childTnLst>
                                    <p:set>
                                      <p:cBhvr>
                                        <p:cTn id="143" dur="1" fill="hold">
                                          <p:stCondLst>
                                            <p:cond delay="0"/>
                                          </p:stCondLst>
                                        </p:cTn>
                                        <p:tgtEl>
                                          <p:spTgt spid="47133"/>
                                        </p:tgtEl>
                                        <p:attrNameLst>
                                          <p:attrName>style.visibility</p:attrName>
                                        </p:attrNameLst>
                                      </p:cBhvr>
                                      <p:to>
                                        <p:strVal val="visible"/>
                                      </p:to>
                                    </p:set>
                                    <p:animEffect transition="in" filter="box(in)">
                                      <p:cBhvr>
                                        <p:cTn id="144" dur="500"/>
                                        <p:tgtEl>
                                          <p:spTgt spid="47133"/>
                                        </p:tgtEl>
                                      </p:cBhvr>
                                    </p:animEffect>
                                  </p:childTnLst>
                                </p:cTn>
                              </p:par>
                            </p:childTnLst>
                          </p:cTn>
                        </p:par>
                      </p:childTnLst>
                    </p:cTn>
                  </p:par>
                  <p:par>
                    <p:cTn id="145" fill="hold">
                      <p:stCondLst>
                        <p:cond delay="indefinite"/>
                      </p:stCondLst>
                      <p:childTnLst>
                        <p:par>
                          <p:cTn id="146" fill="hold">
                            <p:stCondLst>
                              <p:cond delay="0"/>
                            </p:stCondLst>
                            <p:childTnLst>
                              <p:par>
                                <p:cTn id="147" presetID="4" presetClass="entr" presetSubtype="16" fill="hold" grpId="0" nodeType="clickEffect">
                                  <p:stCondLst>
                                    <p:cond delay="0"/>
                                  </p:stCondLst>
                                  <p:childTnLst>
                                    <p:set>
                                      <p:cBhvr>
                                        <p:cTn id="148" dur="1" fill="hold">
                                          <p:stCondLst>
                                            <p:cond delay="0"/>
                                          </p:stCondLst>
                                        </p:cTn>
                                        <p:tgtEl>
                                          <p:spTgt spid="47168"/>
                                        </p:tgtEl>
                                        <p:attrNameLst>
                                          <p:attrName>style.visibility</p:attrName>
                                        </p:attrNameLst>
                                      </p:cBhvr>
                                      <p:to>
                                        <p:strVal val="visible"/>
                                      </p:to>
                                    </p:set>
                                    <p:animEffect transition="in" filter="box(in)">
                                      <p:cBhvr>
                                        <p:cTn id="149" dur="500"/>
                                        <p:tgtEl>
                                          <p:spTgt spid="47168"/>
                                        </p:tgtEl>
                                      </p:cBhvr>
                                    </p:animEffect>
                                  </p:childTnLst>
                                </p:cTn>
                              </p:par>
                            </p:childTnLst>
                          </p:cTn>
                        </p:par>
                      </p:childTnLst>
                    </p:cTn>
                  </p:par>
                  <p:par>
                    <p:cTn id="150" fill="hold">
                      <p:stCondLst>
                        <p:cond delay="indefinite"/>
                      </p:stCondLst>
                      <p:childTnLst>
                        <p:par>
                          <p:cTn id="151" fill="hold">
                            <p:stCondLst>
                              <p:cond delay="0"/>
                            </p:stCondLst>
                            <p:childTnLst>
                              <p:par>
                                <p:cTn id="152" presetID="4" presetClass="entr" presetSubtype="16" fill="hold" nodeType="clickEffect">
                                  <p:stCondLst>
                                    <p:cond delay="0"/>
                                  </p:stCondLst>
                                  <p:childTnLst>
                                    <p:set>
                                      <p:cBhvr>
                                        <p:cTn id="153" dur="1" fill="hold">
                                          <p:stCondLst>
                                            <p:cond delay="0"/>
                                          </p:stCondLst>
                                        </p:cTn>
                                        <p:tgtEl>
                                          <p:spTgt spid="47112"/>
                                        </p:tgtEl>
                                        <p:attrNameLst>
                                          <p:attrName>style.visibility</p:attrName>
                                        </p:attrNameLst>
                                      </p:cBhvr>
                                      <p:to>
                                        <p:strVal val="visible"/>
                                      </p:to>
                                    </p:set>
                                    <p:animEffect transition="in" filter="box(in)">
                                      <p:cBhvr>
                                        <p:cTn id="154" dur="500"/>
                                        <p:tgtEl>
                                          <p:spTgt spid="47112"/>
                                        </p:tgtEl>
                                      </p:cBhvr>
                                    </p:animEffect>
                                  </p:childTnLst>
                                </p:cTn>
                              </p:par>
                            </p:childTnLst>
                          </p:cTn>
                        </p:par>
                      </p:childTnLst>
                    </p:cTn>
                  </p:par>
                  <p:par>
                    <p:cTn id="155" fill="hold">
                      <p:stCondLst>
                        <p:cond delay="indefinite"/>
                      </p:stCondLst>
                      <p:childTnLst>
                        <p:par>
                          <p:cTn id="156" fill="hold">
                            <p:stCondLst>
                              <p:cond delay="0"/>
                            </p:stCondLst>
                            <p:childTnLst>
                              <p:par>
                                <p:cTn id="157" presetID="4" presetClass="entr" presetSubtype="16" fill="hold" grpId="0" nodeType="clickEffect">
                                  <p:stCondLst>
                                    <p:cond delay="0"/>
                                  </p:stCondLst>
                                  <p:childTnLst>
                                    <p:set>
                                      <p:cBhvr>
                                        <p:cTn id="158" dur="1" fill="hold">
                                          <p:stCondLst>
                                            <p:cond delay="0"/>
                                          </p:stCondLst>
                                        </p:cTn>
                                        <p:tgtEl>
                                          <p:spTgt spid="12"/>
                                        </p:tgtEl>
                                        <p:attrNameLst>
                                          <p:attrName>style.visibility</p:attrName>
                                        </p:attrNameLst>
                                      </p:cBhvr>
                                      <p:to>
                                        <p:strVal val="visible"/>
                                      </p:to>
                                    </p:set>
                                    <p:animEffect transition="in" filter="box(in)">
                                      <p:cBhvr>
                                        <p:cTn id="159" dur="500"/>
                                        <p:tgtEl>
                                          <p:spTgt spid="12"/>
                                        </p:tgtEl>
                                      </p:cBhvr>
                                    </p:animEffect>
                                  </p:childTnLst>
                                </p:cTn>
                              </p:par>
                              <p:par>
                                <p:cTn id="160" presetID="4" presetClass="entr" presetSubtype="16" fill="hold" grpId="0" nodeType="withEffect">
                                  <p:stCondLst>
                                    <p:cond delay="0"/>
                                  </p:stCondLst>
                                  <p:childTnLst>
                                    <p:set>
                                      <p:cBhvr>
                                        <p:cTn id="161" dur="1" fill="hold">
                                          <p:stCondLst>
                                            <p:cond delay="0"/>
                                          </p:stCondLst>
                                        </p:cTn>
                                        <p:tgtEl>
                                          <p:spTgt spid="47114"/>
                                        </p:tgtEl>
                                        <p:attrNameLst>
                                          <p:attrName>style.visibility</p:attrName>
                                        </p:attrNameLst>
                                      </p:cBhvr>
                                      <p:to>
                                        <p:strVal val="visible"/>
                                      </p:to>
                                    </p:set>
                                    <p:animEffect transition="in" filter="box(in)">
                                      <p:cBhvr>
                                        <p:cTn id="162" dur="500"/>
                                        <p:tgtEl>
                                          <p:spTgt spid="47114"/>
                                        </p:tgtEl>
                                      </p:cBhvr>
                                    </p:animEffect>
                                  </p:childTnLst>
                                </p:cTn>
                              </p:par>
                            </p:childTnLst>
                          </p:cTn>
                        </p:par>
                      </p:childTnLst>
                    </p:cTn>
                  </p:par>
                  <p:par>
                    <p:cTn id="163" fill="hold">
                      <p:stCondLst>
                        <p:cond delay="indefinite"/>
                      </p:stCondLst>
                      <p:childTnLst>
                        <p:par>
                          <p:cTn id="164" fill="hold">
                            <p:stCondLst>
                              <p:cond delay="0"/>
                            </p:stCondLst>
                            <p:childTnLst>
                              <p:par>
                                <p:cTn id="165" presetID="4" presetClass="entr" presetSubtype="16" fill="hold" grpId="0" nodeType="clickEffect">
                                  <p:stCondLst>
                                    <p:cond delay="0"/>
                                  </p:stCondLst>
                                  <p:childTnLst>
                                    <p:set>
                                      <p:cBhvr>
                                        <p:cTn id="166" dur="1" fill="hold">
                                          <p:stCondLst>
                                            <p:cond delay="0"/>
                                          </p:stCondLst>
                                        </p:cTn>
                                        <p:tgtEl>
                                          <p:spTgt spid="47116"/>
                                        </p:tgtEl>
                                        <p:attrNameLst>
                                          <p:attrName>style.visibility</p:attrName>
                                        </p:attrNameLst>
                                      </p:cBhvr>
                                      <p:to>
                                        <p:strVal val="visible"/>
                                      </p:to>
                                    </p:set>
                                    <p:animEffect transition="in" filter="box(in)">
                                      <p:cBhvr>
                                        <p:cTn id="167" dur="500"/>
                                        <p:tgtEl>
                                          <p:spTgt spid="47116"/>
                                        </p:tgtEl>
                                      </p:cBhvr>
                                    </p:animEffect>
                                  </p:childTnLst>
                                </p:cTn>
                              </p:par>
                              <p:par>
                                <p:cTn id="168" presetID="4" presetClass="entr" presetSubtype="16" fill="hold" grpId="0" nodeType="withEffect">
                                  <p:stCondLst>
                                    <p:cond delay="0"/>
                                  </p:stCondLst>
                                  <p:childTnLst>
                                    <p:set>
                                      <p:cBhvr>
                                        <p:cTn id="169" dur="1" fill="hold">
                                          <p:stCondLst>
                                            <p:cond delay="0"/>
                                          </p:stCondLst>
                                        </p:cTn>
                                        <p:tgtEl>
                                          <p:spTgt spid="14"/>
                                        </p:tgtEl>
                                        <p:attrNameLst>
                                          <p:attrName>style.visibility</p:attrName>
                                        </p:attrNameLst>
                                      </p:cBhvr>
                                      <p:to>
                                        <p:strVal val="visible"/>
                                      </p:to>
                                    </p:set>
                                    <p:animEffect transition="in" filter="box(in)">
                                      <p:cBhvr>
                                        <p:cTn id="170" dur="500"/>
                                        <p:tgtEl>
                                          <p:spTgt spid="14"/>
                                        </p:tgtEl>
                                      </p:cBhvr>
                                    </p:animEffect>
                                  </p:childTnLst>
                                </p:cTn>
                              </p:par>
                            </p:childTnLst>
                          </p:cTn>
                        </p:par>
                      </p:childTnLst>
                    </p:cTn>
                  </p:par>
                  <p:par>
                    <p:cTn id="171" fill="hold">
                      <p:stCondLst>
                        <p:cond delay="indefinite"/>
                      </p:stCondLst>
                      <p:childTnLst>
                        <p:par>
                          <p:cTn id="172" fill="hold">
                            <p:stCondLst>
                              <p:cond delay="0"/>
                            </p:stCondLst>
                            <p:childTnLst>
                              <p:par>
                                <p:cTn id="173" presetID="4" presetClass="entr" presetSubtype="16" fill="hold" nodeType="clickEffect">
                                  <p:stCondLst>
                                    <p:cond delay="0"/>
                                  </p:stCondLst>
                                  <p:childTnLst>
                                    <p:set>
                                      <p:cBhvr>
                                        <p:cTn id="174" dur="1" fill="hold">
                                          <p:stCondLst>
                                            <p:cond delay="0"/>
                                          </p:stCondLst>
                                        </p:cTn>
                                        <p:tgtEl>
                                          <p:spTgt spid="49"/>
                                        </p:tgtEl>
                                        <p:attrNameLst>
                                          <p:attrName>style.visibility</p:attrName>
                                        </p:attrNameLst>
                                      </p:cBhvr>
                                      <p:to>
                                        <p:strVal val="visible"/>
                                      </p:to>
                                    </p:set>
                                    <p:animEffect transition="in" filter="box(in)">
                                      <p:cBhvr>
                                        <p:cTn id="175" dur="500"/>
                                        <p:tgtEl>
                                          <p:spTgt spid="49"/>
                                        </p:tgtEl>
                                      </p:cBhvr>
                                    </p:animEffect>
                                  </p:childTnLst>
                                </p:cTn>
                              </p:par>
                              <p:par>
                                <p:cTn id="176" presetID="4" presetClass="entr" presetSubtype="16" fill="hold" nodeType="withEffect">
                                  <p:stCondLst>
                                    <p:cond delay="0"/>
                                  </p:stCondLst>
                                  <p:childTnLst>
                                    <p:set>
                                      <p:cBhvr>
                                        <p:cTn id="177" dur="1" fill="hold">
                                          <p:stCondLst>
                                            <p:cond delay="0"/>
                                          </p:stCondLst>
                                        </p:cTn>
                                        <p:tgtEl>
                                          <p:spTgt spid="47149"/>
                                        </p:tgtEl>
                                        <p:attrNameLst>
                                          <p:attrName>style.visibility</p:attrName>
                                        </p:attrNameLst>
                                      </p:cBhvr>
                                      <p:to>
                                        <p:strVal val="visible"/>
                                      </p:to>
                                    </p:set>
                                    <p:animEffect transition="in" filter="box(in)">
                                      <p:cBhvr>
                                        <p:cTn id="178" dur="500"/>
                                        <p:tgtEl>
                                          <p:spTgt spid="47149"/>
                                        </p:tgtEl>
                                      </p:cBhvr>
                                    </p:animEffect>
                                  </p:childTnLst>
                                </p:cTn>
                              </p:par>
                            </p:childTnLst>
                          </p:cTn>
                        </p:par>
                      </p:childTnLst>
                    </p:cTn>
                  </p:par>
                  <p:par>
                    <p:cTn id="179" fill="hold">
                      <p:stCondLst>
                        <p:cond delay="indefinite"/>
                      </p:stCondLst>
                      <p:childTnLst>
                        <p:par>
                          <p:cTn id="180" fill="hold">
                            <p:stCondLst>
                              <p:cond delay="0"/>
                            </p:stCondLst>
                            <p:childTnLst>
                              <p:par>
                                <p:cTn id="181" presetID="4" presetClass="entr" presetSubtype="16" fill="hold" grpId="0" nodeType="clickEffect">
                                  <p:stCondLst>
                                    <p:cond delay="0"/>
                                  </p:stCondLst>
                                  <p:childTnLst>
                                    <p:set>
                                      <p:cBhvr>
                                        <p:cTn id="182" dur="1" fill="hold">
                                          <p:stCondLst>
                                            <p:cond delay="0"/>
                                          </p:stCondLst>
                                        </p:cTn>
                                        <p:tgtEl>
                                          <p:spTgt spid="47136"/>
                                        </p:tgtEl>
                                        <p:attrNameLst>
                                          <p:attrName>style.visibility</p:attrName>
                                        </p:attrNameLst>
                                      </p:cBhvr>
                                      <p:to>
                                        <p:strVal val="visible"/>
                                      </p:to>
                                    </p:set>
                                    <p:animEffect transition="in" filter="box(in)">
                                      <p:cBhvr>
                                        <p:cTn id="183" dur="500"/>
                                        <p:tgtEl>
                                          <p:spTgt spid="47136"/>
                                        </p:tgtEl>
                                      </p:cBhvr>
                                    </p:animEffect>
                                  </p:childTnLst>
                                </p:cTn>
                              </p:par>
                            </p:childTnLst>
                          </p:cTn>
                        </p:par>
                      </p:childTnLst>
                    </p:cTn>
                  </p:par>
                  <p:par>
                    <p:cTn id="184" fill="hold">
                      <p:stCondLst>
                        <p:cond delay="indefinite"/>
                      </p:stCondLst>
                      <p:childTnLst>
                        <p:par>
                          <p:cTn id="185" fill="hold">
                            <p:stCondLst>
                              <p:cond delay="0"/>
                            </p:stCondLst>
                            <p:childTnLst>
                              <p:par>
                                <p:cTn id="186" presetID="4" presetClass="entr" presetSubtype="16" fill="hold" nodeType="clickEffect">
                                  <p:stCondLst>
                                    <p:cond delay="0"/>
                                  </p:stCondLst>
                                  <p:childTnLst>
                                    <p:set>
                                      <p:cBhvr>
                                        <p:cTn id="187" dur="1" fill="hold">
                                          <p:stCondLst>
                                            <p:cond delay="0"/>
                                          </p:stCondLst>
                                        </p:cTn>
                                        <p:tgtEl>
                                          <p:spTgt spid="47150"/>
                                        </p:tgtEl>
                                        <p:attrNameLst>
                                          <p:attrName>style.visibility</p:attrName>
                                        </p:attrNameLst>
                                      </p:cBhvr>
                                      <p:to>
                                        <p:strVal val="visible"/>
                                      </p:to>
                                    </p:set>
                                    <p:animEffect transition="in" filter="box(in)">
                                      <p:cBhvr>
                                        <p:cTn id="188" dur="500"/>
                                        <p:tgtEl>
                                          <p:spTgt spid="47150"/>
                                        </p:tgtEl>
                                      </p:cBhvr>
                                    </p:animEffect>
                                  </p:childTnLst>
                                </p:cTn>
                              </p:par>
                              <p:par>
                                <p:cTn id="189" presetID="4" presetClass="entr" presetSubtype="16" fill="hold" grpId="0" nodeType="withEffect">
                                  <p:stCondLst>
                                    <p:cond delay="0"/>
                                  </p:stCondLst>
                                  <p:childTnLst>
                                    <p:set>
                                      <p:cBhvr>
                                        <p:cTn id="190" dur="1" fill="hold">
                                          <p:stCondLst>
                                            <p:cond delay="0"/>
                                          </p:stCondLst>
                                        </p:cTn>
                                        <p:tgtEl>
                                          <p:spTgt spid="47117"/>
                                        </p:tgtEl>
                                        <p:attrNameLst>
                                          <p:attrName>style.visibility</p:attrName>
                                        </p:attrNameLst>
                                      </p:cBhvr>
                                      <p:to>
                                        <p:strVal val="visible"/>
                                      </p:to>
                                    </p:set>
                                    <p:animEffect transition="in" filter="box(in)">
                                      <p:cBhvr>
                                        <p:cTn id="191" dur="500"/>
                                        <p:tgtEl>
                                          <p:spTgt spid="47117"/>
                                        </p:tgtEl>
                                      </p:cBhvr>
                                    </p:animEffect>
                                  </p:childTnLst>
                                </p:cTn>
                              </p:par>
                            </p:childTnLst>
                          </p:cTn>
                        </p:par>
                      </p:childTnLst>
                    </p:cTn>
                  </p:par>
                  <p:par>
                    <p:cTn id="192" fill="hold">
                      <p:stCondLst>
                        <p:cond delay="indefinite"/>
                      </p:stCondLst>
                      <p:childTnLst>
                        <p:par>
                          <p:cTn id="193" fill="hold">
                            <p:stCondLst>
                              <p:cond delay="0"/>
                            </p:stCondLst>
                            <p:childTnLst>
                              <p:par>
                                <p:cTn id="194" presetID="4" presetClass="entr" presetSubtype="16" fill="hold" nodeType="clickEffect">
                                  <p:stCondLst>
                                    <p:cond delay="0"/>
                                  </p:stCondLst>
                                  <p:childTnLst>
                                    <p:set>
                                      <p:cBhvr>
                                        <p:cTn id="195" dur="1" fill="hold">
                                          <p:stCondLst>
                                            <p:cond delay="0"/>
                                          </p:stCondLst>
                                        </p:cTn>
                                        <p:tgtEl>
                                          <p:spTgt spid="47150"/>
                                        </p:tgtEl>
                                        <p:attrNameLst>
                                          <p:attrName>style.visibility</p:attrName>
                                        </p:attrNameLst>
                                      </p:cBhvr>
                                      <p:to>
                                        <p:strVal val="visible"/>
                                      </p:to>
                                    </p:set>
                                    <p:animEffect transition="in" filter="box(in)">
                                      <p:cBhvr>
                                        <p:cTn id="196" dur="500"/>
                                        <p:tgtEl>
                                          <p:spTgt spid="47150"/>
                                        </p:tgtEl>
                                      </p:cBhvr>
                                    </p:animEffect>
                                  </p:childTnLst>
                                </p:cTn>
                              </p:par>
                              <p:par>
                                <p:cTn id="197" presetID="4" presetClass="entr" presetSubtype="16" fill="hold" grpId="1" nodeType="withEffect">
                                  <p:stCondLst>
                                    <p:cond delay="0"/>
                                  </p:stCondLst>
                                  <p:childTnLst>
                                    <p:set>
                                      <p:cBhvr>
                                        <p:cTn id="198" dur="1" fill="hold">
                                          <p:stCondLst>
                                            <p:cond delay="0"/>
                                          </p:stCondLst>
                                        </p:cTn>
                                        <p:tgtEl>
                                          <p:spTgt spid="47117"/>
                                        </p:tgtEl>
                                        <p:attrNameLst>
                                          <p:attrName>style.visibility</p:attrName>
                                        </p:attrNameLst>
                                      </p:cBhvr>
                                      <p:to>
                                        <p:strVal val="visible"/>
                                      </p:to>
                                    </p:set>
                                    <p:animEffect transition="in" filter="box(in)">
                                      <p:cBhvr>
                                        <p:cTn id="199" dur="500"/>
                                        <p:tgtEl>
                                          <p:spTgt spid="47117"/>
                                        </p:tgtEl>
                                      </p:cBhvr>
                                    </p:animEffect>
                                  </p:childTnLst>
                                </p:cTn>
                              </p:par>
                            </p:childTnLst>
                          </p:cTn>
                        </p:par>
                      </p:childTnLst>
                    </p:cTn>
                  </p:par>
                  <p:par>
                    <p:cTn id="200" fill="hold">
                      <p:stCondLst>
                        <p:cond delay="indefinite"/>
                      </p:stCondLst>
                      <p:childTnLst>
                        <p:par>
                          <p:cTn id="201" fill="hold">
                            <p:stCondLst>
                              <p:cond delay="0"/>
                            </p:stCondLst>
                            <p:childTnLst>
                              <p:par>
                                <p:cTn id="202" presetID="4" presetClass="entr" presetSubtype="16" fill="hold" grpId="0" nodeType="clickEffect">
                                  <p:stCondLst>
                                    <p:cond delay="0"/>
                                  </p:stCondLst>
                                  <p:childTnLst>
                                    <p:set>
                                      <p:cBhvr>
                                        <p:cTn id="203" dur="1" fill="hold">
                                          <p:stCondLst>
                                            <p:cond delay="0"/>
                                          </p:stCondLst>
                                        </p:cTn>
                                        <p:tgtEl>
                                          <p:spTgt spid="47118"/>
                                        </p:tgtEl>
                                        <p:attrNameLst>
                                          <p:attrName>style.visibility</p:attrName>
                                        </p:attrNameLst>
                                      </p:cBhvr>
                                      <p:to>
                                        <p:strVal val="visible"/>
                                      </p:to>
                                    </p:set>
                                    <p:animEffect transition="in" filter="box(in)">
                                      <p:cBhvr>
                                        <p:cTn id="204" dur="500"/>
                                        <p:tgtEl>
                                          <p:spTgt spid="47118"/>
                                        </p:tgtEl>
                                      </p:cBhvr>
                                    </p:animEffect>
                                  </p:childTnLst>
                                </p:cTn>
                              </p:par>
                              <p:par>
                                <p:cTn id="205" presetID="4" presetClass="entr" presetSubtype="16" fill="hold" nodeType="withEffect">
                                  <p:stCondLst>
                                    <p:cond delay="0"/>
                                  </p:stCondLst>
                                  <p:childTnLst>
                                    <p:set>
                                      <p:cBhvr>
                                        <p:cTn id="206" dur="1" fill="hold">
                                          <p:stCondLst>
                                            <p:cond delay="0"/>
                                          </p:stCondLst>
                                        </p:cTn>
                                        <p:tgtEl>
                                          <p:spTgt spid="47151"/>
                                        </p:tgtEl>
                                        <p:attrNameLst>
                                          <p:attrName>style.visibility</p:attrName>
                                        </p:attrNameLst>
                                      </p:cBhvr>
                                      <p:to>
                                        <p:strVal val="visible"/>
                                      </p:to>
                                    </p:set>
                                    <p:animEffect transition="in" filter="box(in)">
                                      <p:cBhvr>
                                        <p:cTn id="207" dur="500"/>
                                        <p:tgtEl>
                                          <p:spTgt spid="47151"/>
                                        </p:tgtEl>
                                      </p:cBhvr>
                                    </p:animEffect>
                                  </p:childTnLst>
                                </p:cTn>
                              </p:par>
                            </p:childTnLst>
                          </p:cTn>
                        </p:par>
                      </p:childTnLst>
                    </p:cTn>
                  </p:par>
                  <p:par>
                    <p:cTn id="208" fill="hold">
                      <p:stCondLst>
                        <p:cond delay="indefinite"/>
                      </p:stCondLst>
                      <p:childTnLst>
                        <p:par>
                          <p:cTn id="209" fill="hold">
                            <p:stCondLst>
                              <p:cond delay="0"/>
                            </p:stCondLst>
                            <p:childTnLst>
                              <p:par>
                                <p:cTn id="210" presetID="4" presetClass="entr" presetSubtype="16" fill="hold" nodeType="clickEffect">
                                  <p:stCondLst>
                                    <p:cond delay="0"/>
                                  </p:stCondLst>
                                  <p:childTnLst>
                                    <p:set>
                                      <p:cBhvr>
                                        <p:cTn id="211" dur="1" fill="hold">
                                          <p:stCondLst>
                                            <p:cond delay="0"/>
                                          </p:stCondLst>
                                        </p:cTn>
                                        <p:tgtEl>
                                          <p:spTgt spid="47152"/>
                                        </p:tgtEl>
                                        <p:attrNameLst>
                                          <p:attrName>style.visibility</p:attrName>
                                        </p:attrNameLst>
                                      </p:cBhvr>
                                      <p:to>
                                        <p:strVal val="visible"/>
                                      </p:to>
                                    </p:set>
                                    <p:animEffect transition="in" filter="box(in)">
                                      <p:cBhvr>
                                        <p:cTn id="212" dur="500"/>
                                        <p:tgtEl>
                                          <p:spTgt spid="47152"/>
                                        </p:tgtEl>
                                      </p:cBhvr>
                                    </p:animEffect>
                                  </p:childTnLst>
                                </p:cTn>
                              </p:par>
                              <p:par>
                                <p:cTn id="213" presetID="4" presetClass="entr" presetSubtype="16" fill="hold" grpId="0" nodeType="withEffect">
                                  <p:stCondLst>
                                    <p:cond delay="0"/>
                                  </p:stCondLst>
                                  <p:childTnLst>
                                    <p:set>
                                      <p:cBhvr>
                                        <p:cTn id="214" dur="1" fill="hold">
                                          <p:stCondLst>
                                            <p:cond delay="0"/>
                                          </p:stCondLst>
                                        </p:cTn>
                                        <p:tgtEl>
                                          <p:spTgt spid="47121"/>
                                        </p:tgtEl>
                                        <p:attrNameLst>
                                          <p:attrName>style.visibility</p:attrName>
                                        </p:attrNameLst>
                                      </p:cBhvr>
                                      <p:to>
                                        <p:strVal val="visible"/>
                                      </p:to>
                                    </p:set>
                                    <p:animEffect transition="in" filter="box(in)">
                                      <p:cBhvr>
                                        <p:cTn id="215" dur="500"/>
                                        <p:tgtEl>
                                          <p:spTgt spid="47121"/>
                                        </p:tgtEl>
                                      </p:cBhvr>
                                    </p:animEffect>
                                  </p:childTnLst>
                                </p:cTn>
                              </p:par>
                            </p:childTnLst>
                          </p:cTn>
                        </p:par>
                      </p:childTnLst>
                    </p:cTn>
                  </p:par>
                  <p:par>
                    <p:cTn id="216" fill="hold">
                      <p:stCondLst>
                        <p:cond delay="indefinite"/>
                      </p:stCondLst>
                      <p:childTnLst>
                        <p:par>
                          <p:cTn id="217" fill="hold">
                            <p:stCondLst>
                              <p:cond delay="0"/>
                            </p:stCondLst>
                            <p:childTnLst>
                              <p:par>
                                <p:cTn id="218" presetID="4" presetClass="entr" presetSubtype="16" fill="hold" nodeType="clickEffect">
                                  <p:stCondLst>
                                    <p:cond delay="0"/>
                                  </p:stCondLst>
                                  <p:childTnLst>
                                    <p:set>
                                      <p:cBhvr>
                                        <p:cTn id="219" dur="1" fill="hold">
                                          <p:stCondLst>
                                            <p:cond delay="0"/>
                                          </p:stCondLst>
                                        </p:cTn>
                                        <p:tgtEl>
                                          <p:spTgt spid="47153"/>
                                        </p:tgtEl>
                                        <p:attrNameLst>
                                          <p:attrName>style.visibility</p:attrName>
                                        </p:attrNameLst>
                                      </p:cBhvr>
                                      <p:to>
                                        <p:strVal val="visible"/>
                                      </p:to>
                                    </p:set>
                                    <p:animEffect transition="in" filter="box(in)">
                                      <p:cBhvr>
                                        <p:cTn id="220" dur="500"/>
                                        <p:tgtEl>
                                          <p:spTgt spid="47153"/>
                                        </p:tgtEl>
                                      </p:cBhvr>
                                    </p:animEffect>
                                  </p:childTnLst>
                                </p:cTn>
                              </p:par>
                              <p:par>
                                <p:cTn id="221" presetID="4" presetClass="entr" presetSubtype="16" fill="hold" grpId="0" nodeType="withEffect">
                                  <p:stCondLst>
                                    <p:cond delay="0"/>
                                  </p:stCondLst>
                                  <p:childTnLst>
                                    <p:set>
                                      <p:cBhvr>
                                        <p:cTn id="222" dur="1" fill="hold">
                                          <p:stCondLst>
                                            <p:cond delay="0"/>
                                          </p:stCondLst>
                                        </p:cTn>
                                        <p:tgtEl>
                                          <p:spTgt spid="47120"/>
                                        </p:tgtEl>
                                        <p:attrNameLst>
                                          <p:attrName>style.visibility</p:attrName>
                                        </p:attrNameLst>
                                      </p:cBhvr>
                                      <p:to>
                                        <p:strVal val="visible"/>
                                      </p:to>
                                    </p:set>
                                    <p:animEffect transition="in" filter="box(in)">
                                      <p:cBhvr>
                                        <p:cTn id="223" dur="500"/>
                                        <p:tgtEl>
                                          <p:spTgt spid="47120"/>
                                        </p:tgtEl>
                                      </p:cBhvr>
                                    </p:animEffect>
                                  </p:childTnLst>
                                </p:cTn>
                              </p:par>
                            </p:childTnLst>
                          </p:cTn>
                        </p:par>
                      </p:childTnLst>
                    </p:cTn>
                  </p:par>
                  <p:par>
                    <p:cTn id="224" fill="hold">
                      <p:stCondLst>
                        <p:cond delay="indefinite"/>
                      </p:stCondLst>
                      <p:childTnLst>
                        <p:par>
                          <p:cTn id="225" fill="hold">
                            <p:stCondLst>
                              <p:cond delay="0"/>
                            </p:stCondLst>
                            <p:childTnLst>
                              <p:par>
                                <p:cTn id="226" presetID="4" presetClass="entr" presetSubtype="16" fill="hold" nodeType="clickEffect">
                                  <p:stCondLst>
                                    <p:cond delay="0"/>
                                  </p:stCondLst>
                                  <p:childTnLst>
                                    <p:set>
                                      <p:cBhvr>
                                        <p:cTn id="227" dur="1" fill="hold">
                                          <p:stCondLst>
                                            <p:cond delay="0"/>
                                          </p:stCondLst>
                                        </p:cTn>
                                        <p:tgtEl>
                                          <p:spTgt spid="47154"/>
                                        </p:tgtEl>
                                        <p:attrNameLst>
                                          <p:attrName>style.visibility</p:attrName>
                                        </p:attrNameLst>
                                      </p:cBhvr>
                                      <p:to>
                                        <p:strVal val="visible"/>
                                      </p:to>
                                    </p:set>
                                    <p:animEffect transition="in" filter="box(in)">
                                      <p:cBhvr>
                                        <p:cTn id="228" dur="500"/>
                                        <p:tgtEl>
                                          <p:spTgt spid="47154"/>
                                        </p:tgtEl>
                                      </p:cBhvr>
                                    </p:animEffect>
                                  </p:childTnLst>
                                </p:cTn>
                              </p:par>
                              <p:par>
                                <p:cTn id="229" presetID="4" presetClass="entr" presetSubtype="16" fill="hold" grpId="0" nodeType="withEffect">
                                  <p:stCondLst>
                                    <p:cond delay="0"/>
                                  </p:stCondLst>
                                  <p:childTnLst>
                                    <p:set>
                                      <p:cBhvr>
                                        <p:cTn id="230" dur="1" fill="hold">
                                          <p:stCondLst>
                                            <p:cond delay="0"/>
                                          </p:stCondLst>
                                        </p:cTn>
                                        <p:tgtEl>
                                          <p:spTgt spid="47119"/>
                                        </p:tgtEl>
                                        <p:attrNameLst>
                                          <p:attrName>style.visibility</p:attrName>
                                        </p:attrNameLst>
                                      </p:cBhvr>
                                      <p:to>
                                        <p:strVal val="visible"/>
                                      </p:to>
                                    </p:set>
                                    <p:animEffect transition="in" filter="box(in)">
                                      <p:cBhvr>
                                        <p:cTn id="231" dur="500"/>
                                        <p:tgtEl>
                                          <p:spTgt spid="47119"/>
                                        </p:tgtEl>
                                      </p:cBhvr>
                                    </p:animEffect>
                                  </p:childTnLst>
                                </p:cTn>
                              </p:par>
                            </p:childTnLst>
                          </p:cTn>
                        </p:par>
                      </p:childTnLst>
                    </p:cTn>
                  </p:par>
                  <p:par>
                    <p:cTn id="232" fill="hold">
                      <p:stCondLst>
                        <p:cond delay="indefinite"/>
                      </p:stCondLst>
                      <p:childTnLst>
                        <p:par>
                          <p:cTn id="233" fill="hold">
                            <p:stCondLst>
                              <p:cond delay="0"/>
                            </p:stCondLst>
                            <p:childTnLst>
                              <p:par>
                                <p:cTn id="234" presetID="4" presetClass="entr" presetSubtype="16" fill="hold" grpId="0" nodeType="clickEffect">
                                  <p:stCondLst>
                                    <p:cond delay="0"/>
                                  </p:stCondLst>
                                  <p:childTnLst>
                                    <p:set>
                                      <p:cBhvr>
                                        <p:cTn id="235" dur="1" fill="hold">
                                          <p:stCondLst>
                                            <p:cond delay="0"/>
                                          </p:stCondLst>
                                        </p:cTn>
                                        <p:tgtEl>
                                          <p:spTgt spid="47122"/>
                                        </p:tgtEl>
                                        <p:attrNameLst>
                                          <p:attrName>style.visibility</p:attrName>
                                        </p:attrNameLst>
                                      </p:cBhvr>
                                      <p:to>
                                        <p:strVal val="visible"/>
                                      </p:to>
                                    </p:set>
                                    <p:animEffect transition="in" filter="box(in)">
                                      <p:cBhvr>
                                        <p:cTn id="236" dur="500"/>
                                        <p:tgtEl>
                                          <p:spTgt spid="47122"/>
                                        </p:tgtEl>
                                      </p:cBhvr>
                                    </p:animEffect>
                                  </p:childTnLst>
                                </p:cTn>
                              </p:par>
                              <p:par>
                                <p:cTn id="237" presetID="4" presetClass="entr" presetSubtype="16" fill="hold" nodeType="withEffect">
                                  <p:stCondLst>
                                    <p:cond delay="0"/>
                                  </p:stCondLst>
                                  <p:childTnLst>
                                    <p:set>
                                      <p:cBhvr>
                                        <p:cTn id="238" dur="1" fill="hold">
                                          <p:stCondLst>
                                            <p:cond delay="0"/>
                                          </p:stCondLst>
                                        </p:cTn>
                                        <p:tgtEl>
                                          <p:spTgt spid="47156"/>
                                        </p:tgtEl>
                                        <p:attrNameLst>
                                          <p:attrName>style.visibility</p:attrName>
                                        </p:attrNameLst>
                                      </p:cBhvr>
                                      <p:to>
                                        <p:strVal val="visible"/>
                                      </p:to>
                                    </p:set>
                                    <p:animEffect transition="in" filter="box(in)">
                                      <p:cBhvr>
                                        <p:cTn id="239" dur="500"/>
                                        <p:tgtEl>
                                          <p:spTgt spid="47156"/>
                                        </p:tgtEl>
                                      </p:cBhvr>
                                    </p:animEffect>
                                  </p:childTnLst>
                                </p:cTn>
                              </p:par>
                            </p:childTnLst>
                          </p:cTn>
                        </p:par>
                      </p:childTnLst>
                    </p:cTn>
                  </p:par>
                  <p:par>
                    <p:cTn id="240" fill="hold">
                      <p:stCondLst>
                        <p:cond delay="indefinite"/>
                      </p:stCondLst>
                      <p:childTnLst>
                        <p:par>
                          <p:cTn id="241" fill="hold">
                            <p:stCondLst>
                              <p:cond delay="0"/>
                            </p:stCondLst>
                            <p:childTnLst>
                              <p:par>
                                <p:cTn id="242" presetID="4" presetClass="entr" presetSubtype="16" fill="hold" nodeType="clickEffect">
                                  <p:stCondLst>
                                    <p:cond delay="0"/>
                                  </p:stCondLst>
                                  <p:childTnLst>
                                    <p:set>
                                      <p:cBhvr>
                                        <p:cTn id="243" dur="1" fill="hold">
                                          <p:stCondLst>
                                            <p:cond delay="0"/>
                                          </p:stCondLst>
                                        </p:cTn>
                                        <p:tgtEl>
                                          <p:spTgt spid="47155"/>
                                        </p:tgtEl>
                                        <p:attrNameLst>
                                          <p:attrName>style.visibility</p:attrName>
                                        </p:attrNameLst>
                                      </p:cBhvr>
                                      <p:to>
                                        <p:strVal val="visible"/>
                                      </p:to>
                                    </p:set>
                                    <p:animEffect transition="in" filter="box(in)">
                                      <p:cBhvr>
                                        <p:cTn id="244" dur="500"/>
                                        <p:tgtEl>
                                          <p:spTgt spid="47155"/>
                                        </p:tgtEl>
                                      </p:cBhvr>
                                    </p:animEffect>
                                  </p:childTnLst>
                                </p:cTn>
                              </p:par>
                              <p:par>
                                <p:cTn id="245" presetID="4" presetClass="entr" presetSubtype="16" fill="hold" grpId="0" nodeType="withEffect">
                                  <p:stCondLst>
                                    <p:cond delay="0"/>
                                  </p:stCondLst>
                                  <p:childTnLst>
                                    <p:set>
                                      <p:cBhvr>
                                        <p:cTn id="246" dur="1" fill="hold">
                                          <p:stCondLst>
                                            <p:cond delay="0"/>
                                          </p:stCondLst>
                                        </p:cTn>
                                        <p:tgtEl>
                                          <p:spTgt spid="47123"/>
                                        </p:tgtEl>
                                        <p:attrNameLst>
                                          <p:attrName>style.visibility</p:attrName>
                                        </p:attrNameLst>
                                      </p:cBhvr>
                                      <p:to>
                                        <p:strVal val="visible"/>
                                      </p:to>
                                    </p:set>
                                    <p:animEffect transition="in" filter="box(in)">
                                      <p:cBhvr>
                                        <p:cTn id="247" dur="500"/>
                                        <p:tgtEl>
                                          <p:spTgt spid="47123"/>
                                        </p:tgtEl>
                                      </p:cBhvr>
                                    </p:animEffect>
                                  </p:child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nodeType="clickEffect">
                                  <p:stCondLst>
                                    <p:cond delay="0"/>
                                  </p:stCondLst>
                                  <p:childTnLst>
                                    <p:set>
                                      <p:cBhvr>
                                        <p:cTn id="251" dur="1" fill="hold">
                                          <p:stCondLst>
                                            <p:cond delay="0"/>
                                          </p:stCondLst>
                                        </p:cTn>
                                        <p:tgtEl>
                                          <p:spTgt spid="47157"/>
                                        </p:tgtEl>
                                        <p:attrNameLst>
                                          <p:attrName>style.visibility</p:attrName>
                                        </p:attrNameLst>
                                      </p:cBhvr>
                                      <p:to>
                                        <p:strVal val="visible"/>
                                      </p:to>
                                    </p:set>
                                    <p:animEffect transition="in" filter="box(in)">
                                      <p:cBhvr>
                                        <p:cTn id="252" dur="500"/>
                                        <p:tgtEl>
                                          <p:spTgt spid="47157"/>
                                        </p:tgtEl>
                                      </p:cBhvr>
                                    </p:animEffect>
                                  </p:childTnLst>
                                </p:cTn>
                              </p:par>
                              <p:par>
                                <p:cTn id="253" presetID="4" presetClass="entr" presetSubtype="16" fill="hold" grpId="0" nodeType="withEffect">
                                  <p:stCondLst>
                                    <p:cond delay="0"/>
                                  </p:stCondLst>
                                  <p:childTnLst>
                                    <p:set>
                                      <p:cBhvr>
                                        <p:cTn id="254" dur="1" fill="hold">
                                          <p:stCondLst>
                                            <p:cond delay="0"/>
                                          </p:stCondLst>
                                        </p:cTn>
                                        <p:tgtEl>
                                          <p:spTgt spid="47132"/>
                                        </p:tgtEl>
                                        <p:attrNameLst>
                                          <p:attrName>style.visibility</p:attrName>
                                        </p:attrNameLst>
                                      </p:cBhvr>
                                      <p:to>
                                        <p:strVal val="visible"/>
                                      </p:to>
                                    </p:set>
                                    <p:animEffect transition="in" filter="box(in)">
                                      <p:cBhvr>
                                        <p:cTn id="255" dur="500"/>
                                        <p:tgtEl>
                                          <p:spTgt spid="47132"/>
                                        </p:tgtEl>
                                      </p:cBhvr>
                                    </p:animEffect>
                                  </p:childTnLst>
                                </p:cTn>
                              </p:par>
                            </p:childTnLst>
                          </p:cTn>
                        </p:par>
                      </p:childTnLst>
                    </p:cTn>
                  </p:par>
                  <p:par>
                    <p:cTn id="256" fill="hold">
                      <p:stCondLst>
                        <p:cond delay="indefinite"/>
                      </p:stCondLst>
                      <p:childTnLst>
                        <p:par>
                          <p:cTn id="257" fill="hold">
                            <p:stCondLst>
                              <p:cond delay="0"/>
                            </p:stCondLst>
                            <p:childTnLst>
                              <p:par>
                                <p:cTn id="258" presetID="4" presetClass="entr" presetSubtype="16" fill="hold" nodeType="clickEffect">
                                  <p:stCondLst>
                                    <p:cond delay="0"/>
                                  </p:stCondLst>
                                  <p:childTnLst>
                                    <p:set>
                                      <p:cBhvr>
                                        <p:cTn id="259" dur="1" fill="hold">
                                          <p:stCondLst>
                                            <p:cond delay="0"/>
                                          </p:stCondLst>
                                        </p:cTn>
                                        <p:tgtEl>
                                          <p:spTgt spid="47158"/>
                                        </p:tgtEl>
                                        <p:attrNameLst>
                                          <p:attrName>style.visibility</p:attrName>
                                        </p:attrNameLst>
                                      </p:cBhvr>
                                      <p:to>
                                        <p:strVal val="visible"/>
                                      </p:to>
                                    </p:set>
                                    <p:animEffect transition="in" filter="box(in)">
                                      <p:cBhvr>
                                        <p:cTn id="260" dur="500"/>
                                        <p:tgtEl>
                                          <p:spTgt spid="47158"/>
                                        </p:tgtEl>
                                      </p:cBhvr>
                                    </p:animEffect>
                                  </p:childTnLst>
                                </p:cTn>
                              </p:par>
                              <p:par>
                                <p:cTn id="261" presetID="4" presetClass="entr" presetSubtype="16" fill="hold" grpId="0" nodeType="withEffect">
                                  <p:stCondLst>
                                    <p:cond delay="0"/>
                                  </p:stCondLst>
                                  <p:childTnLst>
                                    <p:set>
                                      <p:cBhvr>
                                        <p:cTn id="262" dur="1" fill="hold">
                                          <p:stCondLst>
                                            <p:cond delay="0"/>
                                          </p:stCondLst>
                                        </p:cTn>
                                        <p:tgtEl>
                                          <p:spTgt spid="47131"/>
                                        </p:tgtEl>
                                        <p:attrNameLst>
                                          <p:attrName>style.visibility</p:attrName>
                                        </p:attrNameLst>
                                      </p:cBhvr>
                                      <p:to>
                                        <p:strVal val="visible"/>
                                      </p:to>
                                    </p:set>
                                    <p:animEffect transition="in" filter="box(in)">
                                      <p:cBhvr>
                                        <p:cTn id="263" dur="500"/>
                                        <p:tgtEl>
                                          <p:spTgt spid="47131"/>
                                        </p:tgtEl>
                                      </p:cBhvr>
                                    </p:animEffect>
                                  </p:childTnLst>
                                </p:cTn>
                              </p:par>
                            </p:childTnLst>
                          </p:cTn>
                        </p:par>
                      </p:childTnLst>
                    </p:cTn>
                  </p:par>
                  <p:par>
                    <p:cTn id="264" fill="hold">
                      <p:stCondLst>
                        <p:cond delay="indefinite"/>
                      </p:stCondLst>
                      <p:childTnLst>
                        <p:par>
                          <p:cTn id="265" fill="hold">
                            <p:stCondLst>
                              <p:cond delay="0"/>
                            </p:stCondLst>
                            <p:childTnLst>
                              <p:par>
                                <p:cTn id="266" presetID="4" presetClass="entr" presetSubtype="16" fill="hold" nodeType="clickEffect">
                                  <p:stCondLst>
                                    <p:cond delay="0"/>
                                  </p:stCondLst>
                                  <p:childTnLst>
                                    <p:set>
                                      <p:cBhvr>
                                        <p:cTn id="267" dur="1" fill="hold">
                                          <p:stCondLst>
                                            <p:cond delay="0"/>
                                          </p:stCondLst>
                                        </p:cTn>
                                        <p:tgtEl>
                                          <p:spTgt spid="47159"/>
                                        </p:tgtEl>
                                        <p:attrNameLst>
                                          <p:attrName>style.visibility</p:attrName>
                                        </p:attrNameLst>
                                      </p:cBhvr>
                                      <p:to>
                                        <p:strVal val="visible"/>
                                      </p:to>
                                    </p:set>
                                    <p:animEffect transition="in" filter="box(in)">
                                      <p:cBhvr>
                                        <p:cTn id="268" dur="500"/>
                                        <p:tgtEl>
                                          <p:spTgt spid="47159"/>
                                        </p:tgtEl>
                                      </p:cBhvr>
                                    </p:animEffect>
                                  </p:childTnLst>
                                </p:cTn>
                              </p:par>
                              <p:par>
                                <p:cTn id="269" presetID="4" presetClass="entr" presetSubtype="16" fill="hold" grpId="0" nodeType="withEffect">
                                  <p:stCondLst>
                                    <p:cond delay="0"/>
                                  </p:stCondLst>
                                  <p:childTnLst>
                                    <p:set>
                                      <p:cBhvr>
                                        <p:cTn id="270" dur="1" fill="hold">
                                          <p:stCondLst>
                                            <p:cond delay="0"/>
                                          </p:stCondLst>
                                        </p:cTn>
                                        <p:tgtEl>
                                          <p:spTgt spid="47130"/>
                                        </p:tgtEl>
                                        <p:attrNameLst>
                                          <p:attrName>style.visibility</p:attrName>
                                        </p:attrNameLst>
                                      </p:cBhvr>
                                      <p:to>
                                        <p:strVal val="visible"/>
                                      </p:to>
                                    </p:set>
                                    <p:animEffect transition="in" filter="box(in)">
                                      <p:cBhvr>
                                        <p:cTn id="271" dur="500"/>
                                        <p:tgtEl>
                                          <p:spTgt spid="47130"/>
                                        </p:tgtEl>
                                      </p:cBhvr>
                                    </p:animEffect>
                                  </p:childTnLst>
                                </p:cTn>
                              </p:par>
                            </p:childTnLst>
                          </p:cTn>
                        </p:par>
                      </p:childTnLst>
                    </p:cTn>
                  </p:par>
                  <p:par>
                    <p:cTn id="272" fill="hold">
                      <p:stCondLst>
                        <p:cond delay="indefinite"/>
                      </p:stCondLst>
                      <p:childTnLst>
                        <p:par>
                          <p:cTn id="273" fill="hold">
                            <p:stCondLst>
                              <p:cond delay="0"/>
                            </p:stCondLst>
                            <p:childTnLst>
                              <p:par>
                                <p:cTn id="274" presetID="4" presetClass="entr" presetSubtype="16" fill="hold" grpId="0" nodeType="clickEffect">
                                  <p:stCondLst>
                                    <p:cond delay="0"/>
                                  </p:stCondLst>
                                  <p:childTnLst>
                                    <p:set>
                                      <p:cBhvr>
                                        <p:cTn id="275" dur="1" fill="hold">
                                          <p:stCondLst>
                                            <p:cond delay="0"/>
                                          </p:stCondLst>
                                        </p:cTn>
                                        <p:tgtEl>
                                          <p:spTgt spid="47172"/>
                                        </p:tgtEl>
                                        <p:attrNameLst>
                                          <p:attrName>style.visibility</p:attrName>
                                        </p:attrNameLst>
                                      </p:cBhvr>
                                      <p:to>
                                        <p:strVal val="visible"/>
                                      </p:to>
                                    </p:set>
                                    <p:animEffect transition="in" filter="box(in)">
                                      <p:cBhvr>
                                        <p:cTn id="276" dur="500"/>
                                        <p:tgtEl>
                                          <p:spTgt spid="47172"/>
                                        </p:tgtEl>
                                      </p:cBhvr>
                                    </p:animEffect>
                                  </p:childTnLst>
                                </p:cTn>
                              </p:par>
                            </p:childTnLst>
                          </p:cTn>
                        </p:par>
                      </p:childTnLst>
                    </p:cTn>
                  </p:par>
                  <p:par>
                    <p:cTn id="277" fill="hold">
                      <p:stCondLst>
                        <p:cond delay="indefinite"/>
                      </p:stCondLst>
                      <p:childTnLst>
                        <p:par>
                          <p:cTn id="278" fill="hold">
                            <p:stCondLst>
                              <p:cond delay="0"/>
                            </p:stCondLst>
                            <p:childTnLst>
                              <p:par>
                                <p:cTn id="279" presetID="4" presetClass="entr" presetSubtype="16" fill="hold" nodeType="clickEffect">
                                  <p:stCondLst>
                                    <p:cond delay="0"/>
                                  </p:stCondLst>
                                  <p:childTnLst>
                                    <p:set>
                                      <p:cBhvr>
                                        <p:cTn id="280" dur="1" fill="hold">
                                          <p:stCondLst>
                                            <p:cond delay="0"/>
                                          </p:stCondLst>
                                        </p:cTn>
                                        <p:tgtEl>
                                          <p:spTgt spid="47171"/>
                                        </p:tgtEl>
                                        <p:attrNameLst>
                                          <p:attrName>style.visibility</p:attrName>
                                        </p:attrNameLst>
                                      </p:cBhvr>
                                      <p:to>
                                        <p:strVal val="visible"/>
                                      </p:to>
                                    </p:set>
                                    <p:animEffect transition="in" filter="box(in)">
                                      <p:cBhvr>
                                        <p:cTn id="281" dur="500"/>
                                        <p:tgtEl>
                                          <p:spTgt spid="47171"/>
                                        </p:tgtEl>
                                      </p:cBhvr>
                                    </p:animEffect>
                                  </p:childTnLst>
                                </p:cTn>
                              </p:par>
                            </p:childTnLst>
                          </p:cTn>
                        </p:par>
                      </p:childTnLst>
                    </p:cTn>
                  </p:par>
                  <p:par>
                    <p:cTn id="282" fill="hold">
                      <p:stCondLst>
                        <p:cond delay="indefinite"/>
                      </p:stCondLst>
                      <p:childTnLst>
                        <p:par>
                          <p:cTn id="283" fill="hold">
                            <p:stCondLst>
                              <p:cond delay="0"/>
                            </p:stCondLst>
                            <p:childTnLst>
                              <p:par>
                                <p:cTn id="284" presetID="4" presetClass="entr" presetSubtype="16" fill="hold" grpId="0" nodeType="clickEffect">
                                  <p:stCondLst>
                                    <p:cond delay="0"/>
                                  </p:stCondLst>
                                  <p:childTnLst>
                                    <p:set>
                                      <p:cBhvr>
                                        <p:cTn id="285" dur="1" fill="hold">
                                          <p:stCondLst>
                                            <p:cond delay="0"/>
                                          </p:stCondLst>
                                        </p:cTn>
                                        <p:tgtEl>
                                          <p:spTgt spid="74"/>
                                        </p:tgtEl>
                                        <p:attrNameLst>
                                          <p:attrName>style.visibility</p:attrName>
                                        </p:attrNameLst>
                                      </p:cBhvr>
                                      <p:to>
                                        <p:strVal val="visible"/>
                                      </p:to>
                                    </p:set>
                                    <p:animEffect transition="in" filter="box(in)">
                                      <p:cBhvr>
                                        <p:cTn id="286" dur="500"/>
                                        <p:tgtEl>
                                          <p:spTgt spid="74"/>
                                        </p:tgtEl>
                                      </p:cBhvr>
                                    </p:animEffect>
                                  </p:childTnLst>
                                </p:cTn>
                              </p:par>
                              <p:par>
                                <p:cTn id="287" presetID="4" presetClass="entr" presetSubtype="16" fill="hold" grpId="0" nodeType="withEffect">
                                  <p:stCondLst>
                                    <p:cond delay="0"/>
                                  </p:stCondLst>
                                  <p:childTnLst>
                                    <p:set>
                                      <p:cBhvr>
                                        <p:cTn id="288" dur="1" fill="hold">
                                          <p:stCondLst>
                                            <p:cond delay="0"/>
                                          </p:stCondLst>
                                        </p:cTn>
                                        <p:tgtEl>
                                          <p:spTgt spid="47174"/>
                                        </p:tgtEl>
                                        <p:attrNameLst>
                                          <p:attrName>style.visibility</p:attrName>
                                        </p:attrNameLst>
                                      </p:cBhvr>
                                      <p:to>
                                        <p:strVal val="visible"/>
                                      </p:to>
                                    </p:set>
                                    <p:animEffect transition="in" filter="box(in)">
                                      <p:cBhvr>
                                        <p:cTn id="289" dur="500"/>
                                        <p:tgtEl>
                                          <p:spTgt spid="47174"/>
                                        </p:tgtEl>
                                      </p:cBhvr>
                                    </p:animEffect>
                                  </p:childTnLst>
                                </p:cTn>
                              </p:par>
                            </p:childTnLst>
                          </p:cTn>
                        </p:par>
                      </p:childTnLst>
                    </p:cTn>
                  </p:par>
                  <p:par>
                    <p:cTn id="290" fill="hold">
                      <p:stCondLst>
                        <p:cond delay="indefinite"/>
                      </p:stCondLst>
                      <p:childTnLst>
                        <p:par>
                          <p:cTn id="291" fill="hold">
                            <p:stCondLst>
                              <p:cond delay="0"/>
                            </p:stCondLst>
                            <p:childTnLst>
                              <p:par>
                                <p:cTn id="292" presetID="4" presetClass="entr" presetSubtype="16" fill="hold" grpId="0" nodeType="clickEffect">
                                  <p:stCondLst>
                                    <p:cond delay="0"/>
                                  </p:stCondLst>
                                  <p:childTnLst>
                                    <p:set>
                                      <p:cBhvr>
                                        <p:cTn id="293" dur="1" fill="hold">
                                          <p:stCondLst>
                                            <p:cond delay="0"/>
                                          </p:stCondLst>
                                        </p:cTn>
                                        <p:tgtEl>
                                          <p:spTgt spid="76"/>
                                        </p:tgtEl>
                                        <p:attrNameLst>
                                          <p:attrName>style.visibility</p:attrName>
                                        </p:attrNameLst>
                                      </p:cBhvr>
                                      <p:to>
                                        <p:strVal val="visible"/>
                                      </p:to>
                                    </p:set>
                                    <p:animEffect transition="in" filter="box(in)">
                                      <p:cBhvr>
                                        <p:cTn id="294" dur="500"/>
                                        <p:tgtEl>
                                          <p:spTgt spid="76"/>
                                        </p:tgtEl>
                                      </p:cBhvr>
                                    </p:animEffect>
                                  </p:childTnLst>
                                </p:cTn>
                              </p:par>
                              <p:par>
                                <p:cTn id="295" presetID="4" presetClass="entr" presetSubtype="16" fill="hold" grpId="0" nodeType="withEffect">
                                  <p:stCondLst>
                                    <p:cond delay="0"/>
                                  </p:stCondLst>
                                  <p:childTnLst>
                                    <p:set>
                                      <p:cBhvr>
                                        <p:cTn id="296" dur="1" fill="hold">
                                          <p:stCondLst>
                                            <p:cond delay="0"/>
                                          </p:stCondLst>
                                        </p:cTn>
                                        <p:tgtEl>
                                          <p:spTgt spid="47176"/>
                                        </p:tgtEl>
                                        <p:attrNameLst>
                                          <p:attrName>style.visibility</p:attrName>
                                        </p:attrNameLst>
                                      </p:cBhvr>
                                      <p:to>
                                        <p:strVal val="visible"/>
                                      </p:to>
                                    </p:set>
                                    <p:animEffect transition="in" filter="box(in)">
                                      <p:cBhvr>
                                        <p:cTn id="297" dur="500"/>
                                        <p:tgtEl>
                                          <p:spTgt spid="4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3" grpId="0" animBg="1"/>
      <p:bldP spid="12" grpId="0" animBg="1"/>
      <p:bldP spid="47114" grpId="0"/>
      <p:bldP spid="14" grpId="0" animBg="1"/>
      <p:bldP spid="47116" grpId="0"/>
      <p:bldP spid="47117" grpId="0"/>
      <p:bldP spid="47117" grpId="1"/>
      <p:bldP spid="47118" grpId="0"/>
      <p:bldP spid="47119" grpId="0"/>
      <p:bldP spid="47120" grpId="0"/>
      <p:bldP spid="47121" grpId="0"/>
      <p:bldP spid="47122" grpId="0"/>
      <p:bldP spid="47123" grpId="0"/>
      <p:bldP spid="47124" grpId="0"/>
      <p:bldP spid="47125" grpId="0"/>
      <p:bldP spid="47126" grpId="0"/>
      <p:bldP spid="47127" grpId="0"/>
      <p:bldP spid="47128" grpId="0" animBg="1"/>
      <p:bldP spid="47129" grpId="0"/>
      <p:bldP spid="47130" grpId="0"/>
      <p:bldP spid="47131" grpId="0"/>
      <p:bldP spid="47132" grpId="0"/>
      <p:bldP spid="47133" grpId="0"/>
      <p:bldP spid="47134" grpId="0"/>
      <p:bldP spid="47135" grpId="0"/>
      <p:bldP spid="47136" grpId="0" animBg="1"/>
      <p:bldP spid="36" grpId="0" animBg="1"/>
      <p:bldP spid="37" grpId="0" animBg="1"/>
      <p:bldP spid="41" grpId="0" animBg="1"/>
      <p:bldP spid="47141" grpId="0"/>
      <p:bldP spid="47142" grpId="0"/>
      <p:bldP spid="47143" grpId="0"/>
      <p:bldP spid="47144" grpId="0"/>
      <p:bldP spid="47145" grpId="0"/>
      <p:bldP spid="47146" grpId="0"/>
      <p:bldP spid="47147" grpId="0"/>
      <p:bldP spid="47168" grpId="0" animBg="1"/>
      <p:bldP spid="70" grpId="0" animBg="1"/>
      <p:bldP spid="47170" grpId="0" animBg="1"/>
      <p:bldP spid="47172" grpId="0" animBg="1"/>
      <p:bldP spid="74" grpId="0" animBg="1"/>
      <p:bldP spid="47174" grpId="0"/>
      <p:bldP spid="76" grpId="0" animBg="1"/>
      <p:bldP spid="4717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684" name="Object 4"/>
          <p:cNvGraphicFramePr>
            <a:graphicFrameLocks noChangeAspect="1"/>
          </p:cNvGraphicFramePr>
          <p:nvPr>
            <p:extLst>
              <p:ext uri="{D42A27DB-BD31-4B8C-83A1-F6EECF244321}">
                <p14:modId xmlns:p14="http://schemas.microsoft.com/office/powerpoint/2010/main" val="2145820807"/>
              </p:ext>
            </p:extLst>
          </p:nvPr>
        </p:nvGraphicFramePr>
        <p:xfrm>
          <a:off x="4308455" y="872402"/>
          <a:ext cx="4454525" cy="6364287"/>
        </p:xfrm>
        <a:graphic>
          <a:graphicData uri="http://schemas.openxmlformats.org/presentationml/2006/ole">
            <mc:AlternateContent xmlns:mc="http://schemas.openxmlformats.org/markup-compatibility/2006">
              <mc:Choice xmlns:v="urn:schemas-microsoft-com:vml" Requires="v">
                <p:oleObj name="Visio" r:id="rId2" imgW="5115024" imgH="7305525" progId="Visio.Drawing.11">
                  <p:embed/>
                </p:oleObj>
              </mc:Choice>
              <mc:Fallback>
                <p:oleObj name="Visio" r:id="rId2" imgW="5115024" imgH="7305525" progId="Visio.Drawing.11">
                  <p:embed/>
                  <p:pic>
                    <p:nvPicPr>
                      <p:cNvPr id="0" name="Object 4"/>
                      <p:cNvPicPr>
                        <a:picLocks noChangeAspect="1" noChangeArrowheads="1"/>
                      </p:cNvPicPr>
                      <p:nvPr/>
                    </p:nvPicPr>
                    <p:blipFill>
                      <a:blip r:embed="rId3"/>
                      <a:srcRect/>
                      <a:stretch>
                        <a:fillRect/>
                      </a:stretch>
                    </p:blipFill>
                    <p:spPr bwMode="auto">
                      <a:xfrm>
                        <a:off x="4308455" y="872402"/>
                        <a:ext cx="4454525" cy="6364287"/>
                      </a:xfrm>
                      <a:prstGeom prst="rect">
                        <a:avLst/>
                      </a:prstGeom>
                      <a:noFill/>
                      <a:ln>
                        <a:noFill/>
                      </a:ln>
                      <a:effectLst/>
                    </p:spPr>
                  </p:pic>
                </p:oleObj>
              </mc:Fallback>
            </mc:AlternateContent>
          </a:graphicData>
        </a:graphic>
      </p:graphicFrame>
      <p:sp>
        <p:nvSpPr>
          <p:cNvPr id="327687" name="Rectangle 7"/>
          <p:cNvSpPr>
            <a:spLocks noChangeArrowheads="1"/>
          </p:cNvSpPr>
          <p:nvPr/>
        </p:nvSpPr>
        <p:spPr bwMode="auto">
          <a:xfrm>
            <a:off x="6424750" y="1529627"/>
            <a:ext cx="2160587" cy="4095750"/>
          </a:xfrm>
          <a:prstGeom prst="rect">
            <a:avLst/>
          </a:prstGeom>
          <a:noFill/>
          <a:ln w="31750">
            <a:solidFill>
              <a:srgbClr val="FF0000"/>
            </a:solidFill>
            <a:prstDash val="dash"/>
            <a:miter lim="800000"/>
            <a:headEnd/>
            <a:tailEnd/>
          </a:ln>
        </p:spPr>
        <p:txBody>
          <a:bodyPr wrap="none" anchor="ctr"/>
          <a:lstStyle/>
          <a:p>
            <a:pPr defTabSz="914400"/>
            <a:endParaRPr lang="zh-CN" altLang="en-US" sz="1800">
              <a:latin typeface="微软雅黑" pitchFamily="34" charset="-122"/>
              <a:ea typeface="微软雅黑" pitchFamily="34" charset="-122"/>
            </a:endParaRPr>
          </a:p>
        </p:txBody>
      </p:sp>
      <p:sp>
        <p:nvSpPr>
          <p:cNvPr id="327689" name="AutoShape 9"/>
          <p:cNvSpPr>
            <a:spLocks noChangeArrowheads="1"/>
          </p:cNvSpPr>
          <p:nvPr/>
        </p:nvSpPr>
        <p:spPr bwMode="auto">
          <a:xfrm rot="16200000">
            <a:off x="5231206" y="1144401"/>
            <a:ext cx="370168" cy="2864644"/>
          </a:xfrm>
          <a:prstGeom prst="downArrow">
            <a:avLst>
              <a:gd name="adj1" fmla="val 50000"/>
              <a:gd name="adj2" fmla="val 125172"/>
            </a:avLst>
          </a:prstGeom>
          <a:solidFill>
            <a:srgbClr val="00FFFF"/>
          </a:solidFill>
          <a:ln w="9525">
            <a:noFill/>
            <a:miter lim="800000"/>
            <a:headEnd/>
            <a:tailEnd/>
          </a:ln>
        </p:spPr>
        <p:txBody>
          <a:bodyPr rot="10800000" wrap="none" anchor="ctr"/>
          <a:lstStyle/>
          <a:p>
            <a:pPr defTabSz="914400"/>
            <a:endParaRPr lang="zh-CN" altLang="en-US" sz="1800">
              <a:latin typeface="微软雅黑" pitchFamily="34" charset="-122"/>
              <a:ea typeface="微软雅黑" pitchFamily="34" charset="-122"/>
            </a:endParaRPr>
          </a:p>
        </p:txBody>
      </p:sp>
      <p:grpSp>
        <p:nvGrpSpPr>
          <p:cNvPr id="2" name="Group 25"/>
          <p:cNvGrpSpPr>
            <a:grpSpLocks/>
          </p:cNvGrpSpPr>
          <p:nvPr/>
        </p:nvGrpSpPr>
        <p:grpSpPr bwMode="auto">
          <a:xfrm>
            <a:off x="8585886" y="1945154"/>
            <a:ext cx="3573463" cy="476250"/>
            <a:chOff x="3206" y="657"/>
            <a:chExt cx="2251" cy="300"/>
          </a:xfrm>
        </p:grpSpPr>
        <p:sp>
          <p:nvSpPr>
            <p:cNvPr id="5133" name="Text Box 10"/>
            <p:cNvSpPr txBox="1">
              <a:spLocks noChangeArrowheads="1"/>
            </p:cNvSpPr>
            <p:nvPr/>
          </p:nvSpPr>
          <p:spPr bwMode="auto">
            <a:xfrm>
              <a:off x="4383" y="657"/>
              <a:ext cx="1074" cy="300"/>
            </a:xfrm>
            <a:prstGeom prst="rect">
              <a:avLst/>
            </a:prstGeom>
            <a:solidFill>
              <a:schemeClr val="accent2">
                <a:lumMod val="20000"/>
                <a:lumOff val="80000"/>
              </a:schemeClr>
            </a:solidFill>
            <a:ln w="19050">
              <a:noFill/>
              <a:miter lim="800000"/>
              <a:headEnd/>
              <a:tailEnd/>
            </a:ln>
          </p:spPr>
          <p:txBody>
            <a:bodyPr wrap="square">
              <a:spAutoFit/>
            </a:bodyPr>
            <a:lstStyle/>
            <a:p>
              <a:pPr algn="ctr" defTabSz="914400">
                <a:spcBef>
                  <a:spcPct val="50000"/>
                </a:spcBef>
              </a:pPr>
              <a:r>
                <a:rPr lang="zh-CN" altLang="en-US" sz="2400" b="1" dirty="0">
                  <a:latin typeface="微软雅黑" pitchFamily="34" charset="-122"/>
                  <a:ea typeface="微软雅黑" pitchFamily="34" charset="-122"/>
                </a:rPr>
                <a:t>语言交流</a:t>
              </a:r>
            </a:p>
          </p:txBody>
        </p:sp>
        <p:sp>
          <p:nvSpPr>
            <p:cNvPr id="5134" name="AutoShape 15"/>
            <p:cNvSpPr>
              <a:spLocks noChangeArrowheads="1"/>
            </p:cNvSpPr>
            <p:nvPr/>
          </p:nvSpPr>
          <p:spPr bwMode="auto">
            <a:xfrm rot="5400000">
              <a:off x="3606" y="257"/>
              <a:ext cx="300" cy="1100"/>
            </a:xfrm>
            <a:prstGeom prst="downArrow">
              <a:avLst>
                <a:gd name="adj1" fmla="val 50000"/>
                <a:gd name="adj2" fmla="val 63333"/>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38100">
              <a:noFill/>
              <a:miter lim="800000"/>
              <a:headEnd/>
              <a:tailEnd/>
            </a:ln>
          </p:spPr>
          <p:txBody>
            <a:bodyPr wrap="none" anchor="ctr"/>
            <a:lstStyle/>
            <a:p>
              <a:pPr defTabSz="914400"/>
              <a:endParaRPr lang="zh-CN" altLang="en-US" sz="2400" b="1">
                <a:latin typeface="微软雅黑" pitchFamily="34" charset="-122"/>
                <a:ea typeface="微软雅黑" pitchFamily="34" charset="-122"/>
              </a:endParaRPr>
            </a:p>
          </p:txBody>
        </p:sp>
      </p:grpSp>
      <p:grpSp>
        <p:nvGrpSpPr>
          <p:cNvPr id="3" name="Group 26"/>
          <p:cNvGrpSpPr>
            <a:grpSpLocks/>
          </p:cNvGrpSpPr>
          <p:nvPr/>
        </p:nvGrpSpPr>
        <p:grpSpPr bwMode="auto">
          <a:xfrm>
            <a:off x="8585886" y="2875829"/>
            <a:ext cx="3594100" cy="503237"/>
            <a:chOff x="3226" y="1236"/>
            <a:chExt cx="2264" cy="317"/>
          </a:xfrm>
        </p:grpSpPr>
        <p:sp>
          <p:nvSpPr>
            <p:cNvPr id="5136" name="Text Box 11"/>
            <p:cNvSpPr txBox="1">
              <a:spLocks noChangeArrowheads="1"/>
            </p:cNvSpPr>
            <p:nvPr/>
          </p:nvSpPr>
          <p:spPr bwMode="auto">
            <a:xfrm>
              <a:off x="4399" y="1236"/>
              <a:ext cx="1091" cy="300"/>
            </a:xfrm>
            <a:prstGeom prst="rect">
              <a:avLst/>
            </a:prstGeom>
            <a:solidFill>
              <a:schemeClr val="accent2">
                <a:lumMod val="20000"/>
                <a:lumOff val="80000"/>
              </a:schemeClr>
            </a:solidFill>
            <a:ln w="19050">
              <a:noFill/>
              <a:miter lim="800000"/>
              <a:headEnd/>
              <a:tailEnd/>
            </a:ln>
          </p:spPr>
          <p:txBody>
            <a:bodyPr>
              <a:spAutoFit/>
            </a:bodyPr>
            <a:lstStyle/>
            <a:p>
              <a:pPr algn="ctr" defTabSz="914400">
                <a:spcBef>
                  <a:spcPct val="50000"/>
                </a:spcBef>
              </a:pPr>
              <a:r>
                <a:rPr lang="zh-CN" altLang="en-US" sz="2400" b="1" dirty="0">
                  <a:latin typeface="微软雅黑" pitchFamily="34" charset="-122"/>
                  <a:ea typeface="微软雅黑" pitchFamily="34" charset="-122"/>
                </a:rPr>
                <a:t>通信、广播</a:t>
              </a:r>
            </a:p>
          </p:txBody>
        </p:sp>
        <p:sp>
          <p:nvSpPr>
            <p:cNvPr id="5137" name="AutoShape 16"/>
            <p:cNvSpPr>
              <a:spLocks noChangeArrowheads="1"/>
            </p:cNvSpPr>
            <p:nvPr/>
          </p:nvSpPr>
          <p:spPr bwMode="auto">
            <a:xfrm rot="5400000">
              <a:off x="3626" y="853"/>
              <a:ext cx="300" cy="1100"/>
            </a:xfrm>
            <a:prstGeom prst="downArrow">
              <a:avLst>
                <a:gd name="adj1" fmla="val 50000"/>
                <a:gd name="adj2" fmla="val 63333"/>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38100">
              <a:noFill/>
              <a:miter lim="800000"/>
              <a:headEnd/>
              <a:tailEnd/>
            </a:ln>
          </p:spPr>
          <p:txBody>
            <a:bodyPr wrap="none" anchor="ctr"/>
            <a:lstStyle/>
            <a:p>
              <a:pPr defTabSz="914400"/>
              <a:endParaRPr lang="zh-CN" altLang="en-US" sz="2400" b="1">
                <a:latin typeface="微软雅黑" pitchFamily="34" charset="-122"/>
                <a:ea typeface="微软雅黑" pitchFamily="34" charset="-122"/>
              </a:endParaRPr>
            </a:p>
          </p:txBody>
        </p:sp>
      </p:grpSp>
      <p:grpSp>
        <p:nvGrpSpPr>
          <p:cNvPr id="4" name="Group 27"/>
          <p:cNvGrpSpPr>
            <a:grpSpLocks/>
          </p:cNvGrpSpPr>
          <p:nvPr/>
        </p:nvGrpSpPr>
        <p:grpSpPr bwMode="auto">
          <a:xfrm>
            <a:off x="8584922" y="3733861"/>
            <a:ext cx="3595064" cy="490538"/>
            <a:chOff x="3160" y="1791"/>
            <a:chExt cx="2356" cy="309"/>
          </a:xfrm>
        </p:grpSpPr>
        <p:sp>
          <p:nvSpPr>
            <p:cNvPr id="5139" name="Text Box 13"/>
            <p:cNvSpPr txBox="1">
              <a:spLocks noChangeArrowheads="1"/>
            </p:cNvSpPr>
            <p:nvPr/>
          </p:nvSpPr>
          <p:spPr bwMode="auto">
            <a:xfrm>
              <a:off x="4373" y="1791"/>
              <a:ext cx="1143" cy="300"/>
            </a:xfrm>
            <a:prstGeom prst="rect">
              <a:avLst/>
            </a:prstGeom>
            <a:solidFill>
              <a:schemeClr val="accent2">
                <a:lumMod val="20000"/>
                <a:lumOff val="80000"/>
              </a:schemeClr>
            </a:solidFill>
            <a:ln w="19050">
              <a:noFill/>
              <a:miter lim="800000"/>
              <a:headEnd/>
              <a:tailEnd/>
            </a:ln>
          </p:spPr>
          <p:txBody>
            <a:bodyPr wrap="square">
              <a:spAutoFit/>
            </a:bodyPr>
            <a:lstStyle/>
            <a:p>
              <a:pPr algn="ctr" defTabSz="914400">
                <a:spcBef>
                  <a:spcPct val="50000"/>
                </a:spcBef>
              </a:pPr>
              <a:r>
                <a:rPr lang="zh-CN" altLang="en-US" sz="2400" b="1" dirty="0">
                  <a:latin typeface="微软雅黑" pitchFamily="34" charset="-122"/>
                  <a:ea typeface="微软雅黑" pitchFamily="34" charset="-122"/>
                </a:rPr>
                <a:t>通信、微波</a:t>
              </a:r>
            </a:p>
          </p:txBody>
        </p:sp>
        <p:sp>
          <p:nvSpPr>
            <p:cNvPr id="5140" name="AutoShape 17"/>
            <p:cNvSpPr>
              <a:spLocks noChangeArrowheads="1"/>
            </p:cNvSpPr>
            <p:nvPr/>
          </p:nvSpPr>
          <p:spPr bwMode="auto">
            <a:xfrm rot="5400000">
              <a:off x="3579" y="1381"/>
              <a:ext cx="300" cy="1137"/>
            </a:xfrm>
            <a:prstGeom prst="downArrow">
              <a:avLst>
                <a:gd name="adj1" fmla="val 50000"/>
                <a:gd name="adj2" fmla="val 63333"/>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38100">
              <a:noFill/>
              <a:miter lim="800000"/>
              <a:headEnd/>
              <a:tailEnd/>
            </a:ln>
          </p:spPr>
          <p:txBody>
            <a:bodyPr wrap="none" anchor="ctr"/>
            <a:lstStyle/>
            <a:p>
              <a:pPr defTabSz="914400"/>
              <a:endParaRPr lang="zh-CN" altLang="en-US" sz="2400" b="1">
                <a:latin typeface="微软雅黑" pitchFamily="34" charset="-122"/>
                <a:ea typeface="微软雅黑" pitchFamily="34" charset="-122"/>
              </a:endParaRPr>
            </a:p>
          </p:txBody>
        </p:sp>
      </p:grpSp>
      <p:grpSp>
        <p:nvGrpSpPr>
          <p:cNvPr id="5" name="Group 28"/>
          <p:cNvGrpSpPr>
            <a:grpSpLocks/>
          </p:cNvGrpSpPr>
          <p:nvPr/>
        </p:nvGrpSpPr>
        <p:grpSpPr bwMode="auto">
          <a:xfrm>
            <a:off x="8584393" y="5625377"/>
            <a:ext cx="3631429" cy="1016000"/>
            <a:chOff x="3403" y="2982"/>
            <a:chExt cx="1823" cy="640"/>
          </a:xfrm>
        </p:grpSpPr>
        <p:sp>
          <p:nvSpPr>
            <p:cNvPr id="5142" name="Text Box 12"/>
            <p:cNvSpPr txBox="1">
              <a:spLocks noChangeArrowheads="1"/>
            </p:cNvSpPr>
            <p:nvPr/>
          </p:nvSpPr>
          <p:spPr bwMode="auto">
            <a:xfrm>
              <a:off x="4339" y="2982"/>
              <a:ext cx="887" cy="640"/>
            </a:xfrm>
            <a:prstGeom prst="rect">
              <a:avLst/>
            </a:prstGeom>
            <a:solidFill>
              <a:schemeClr val="accent2">
                <a:lumMod val="20000"/>
                <a:lumOff val="80000"/>
              </a:schemeClr>
            </a:solidFill>
            <a:ln w="19050">
              <a:noFill/>
              <a:miter lim="800000"/>
              <a:headEnd/>
              <a:tailEnd/>
            </a:ln>
          </p:spPr>
          <p:txBody>
            <a:bodyPr wrap="square">
              <a:spAutoFit/>
            </a:bodyPr>
            <a:lstStyle/>
            <a:p>
              <a:pPr algn="ctr" defTabSz="914400">
                <a:spcBef>
                  <a:spcPct val="50000"/>
                </a:spcBef>
              </a:pPr>
              <a:r>
                <a:rPr lang="zh-CN" altLang="en-US" sz="2400" b="1" dirty="0">
                  <a:latin typeface="微软雅黑" pitchFamily="34" charset="-122"/>
                  <a:ea typeface="微软雅黑" pitchFamily="34" charset="-122"/>
                </a:rPr>
                <a:t>断层摄影</a:t>
              </a:r>
              <a:endParaRPr lang="en-US" altLang="zh-CN" sz="2400" b="1" dirty="0">
                <a:latin typeface="微软雅黑" pitchFamily="34" charset="-122"/>
                <a:ea typeface="微软雅黑" pitchFamily="34" charset="-122"/>
              </a:endParaRPr>
            </a:p>
            <a:p>
              <a:pPr algn="ctr" defTabSz="914400">
                <a:spcBef>
                  <a:spcPct val="50000"/>
                </a:spcBef>
              </a:pPr>
              <a:r>
                <a:rPr lang="zh-CN" altLang="en-US" sz="2400" b="1" dirty="0">
                  <a:latin typeface="微软雅黑" pitchFamily="34" charset="-122"/>
                  <a:ea typeface="微软雅黑" pitchFamily="34" charset="-122"/>
                </a:rPr>
                <a:t>工业探伤</a:t>
              </a:r>
            </a:p>
          </p:txBody>
        </p:sp>
        <p:sp>
          <p:nvSpPr>
            <p:cNvPr id="5143" name="AutoShape 18"/>
            <p:cNvSpPr>
              <a:spLocks noChangeArrowheads="1"/>
            </p:cNvSpPr>
            <p:nvPr/>
          </p:nvSpPr>
          <p:spPr bwMode="auto">
            <a:xfrm rot="5400000">
              <a:off x="3692" y="2856"/>
              <a:ext cx="300" cy="877"/>
            </a:xfrm>
            <a:prstGeom prst="downArrow">
              <a:avLst>
                <a:gd name="adj1" fmla="val 50000"/>
                <a:gd name="adj2" fmla="val 63333"/>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38100">
              <a:noFill/>
              <a:miter lim="800000"/>
              <a:headEnd/>
              <a:tailEnd/>
            </a:ln>
          </p:spPr>
          <p:txBody>
            <a:bodyPr wrap="none" anchor="ctr"/>
            <a:lstStyle/>
            <a:p>
              <a:pPr defTabSz="914400"/>
              <a:endParaRPr lang="zh-CN" altLang="en-US" sz="2400" b="1">
                <a:latin typeface="微软雅黑" pitchFamily="34" charset="-122"/>
                <a:ea typeface="微软雅黑" pitchFamily="34" charset="-122"/>
              </a:endParaRPr>
            </a:p>
          </p:txBody>
        </p:sp>
      </p:grpSp>
      <p:grpSp>
        <p:nvGrpSpPr>
          <p:cNvPr id="6" name="Group 29"/>
          <p:cNvGrpSpPr>
            <a:grpSpLocks/>
          </p:cNvGrpSpPr>
          <p:nvPr/>
        </p:nvGrpSpPr>
        <p:grpSpPr bwMode="auto">
          <a:xfrm>
            <a:off x="1555425" y="5949973"/>
            <a:ext cx="5203825" cy="476250"/>
            <a:chOff x="456" y="3435"/>
            <a:chExt cx="3278" cy="300"/>
          </a:xfrm>
        </p:grpSpPr>
        <p:sp>
          <p:nvSpPr>
            <p:cNvPr id="5145" name="Text Box 14"/>
            <p:cNvSpPr txBox="1">
              <a:spLocks noChangeArrowheads="1"/>
            </p:cNvSpPr>
            <p:nvPr/>
          </p:nvSpPr>
          <p:spPr bwMode="auto">
            <a:xfrm>
              <a:off x="456" y="3435"/>
              <a:ext cx="1235" cy="300"/>
            </a:xfrm>
            <a:prstGeom prst="rect">
              <a:avLst/>
            </a:prstGeom>
            <a:solidFill>
              <a:schemeClr val="accent2">
                <a:lumMod val="40000"/>
                <a:lumOff val="60000"/>
              </a:schemeClr>
            </a:solidFill>
            <a:ln w="19050">
              <a:noFill/>
              <a:miter lim="800000"/>
              <a:headEnd/>
              <a:tailEnd/>
            </a:ln>
          </p:spPr>
          <p:txBody>
            <a:bodyPr>
              <a:spAutoFit/>
            </a:bodyPr>
            <a:lstStyle/>
            <a:p>
              <a:pPr algn="ctr" defTabSz="914400">
                <a:spcBef>
                  <a:spcPct val="50000"/>
                </a:spcBef>
              </a:pPr>
              <a:r>
                <a:rPr lang="zh-CN" altLang="en-US" sz="2400" b="1">
                  <a:latin typeface="微软雅黑" pitchFamily="34" charset="-122"/>
                  <a:ea typeface="微软雅黑" pitchFamily="34" charset="-122"/>
                </a:rPr>
                <a:t>治疗肿瘤等</a:t>
              </a:r>
            </a:p>
          </p:txBody>
        </p:sp>
        <p:sp>
          <p:nvSpPr>
            <p:cNvPr id="5146" name="AutoShape 19"/>
            <p:cNvSpPr>
              <a:spLocks noChangeArrowheads="1"/>
            </p:cNvSpPr>
            <p:nvPr/>
          </p:nvSpPr>
          <p:spPr bwMode="auto">
            <a:xfrm rot="16200000">
              <a:off x="2604" y="2578"/>
              <a:ext cx="243" cy="2017"/>
            </a:xfrm>
            <a:prstGeom prst="downArrow">
              <a:avLst>
                <a:gd name="adj1" fmla="val 50000"/>
                <a:gd name="adj2" fmla="val 145267"/>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8100">
              <a:noFill/>
              <a:miter lim="800000"/>
              <a:headEnd/>
              <a:tailEnd/>
            </a:ln>
          </p:spPr>
          <p:txBody>
            <a:bodyPr rot="10800000" wrap="none" anchor="ctr"/>
            <a:lstStyle/>
            <a:p>
              <a:pPr defTabSz="914400"/>
              <a:endParaRPr lang="zh-CN" altLang="en-US" sz="1800">
                <a:latin typeface="微软雅黑" pitchFamily="34" charset="-122"/>
                <a:ea typeface="微软雅黑" pitchFamily="34" charset="-122"/>
              </a:endParaRPr>
            </a:p>
          </p:txBody>
        </p:sp>
      </p:grpSp>
      <p:grpSp>
        <p:nvGrpSpPr>
          <p:cNvPr id="9" name="Group 24"/>
          <p:cNvGrpSpPr>
            <a:grpSpLocks/>
          </p:cNvGrpSpPr>
          <p:nvPr/>
        </p:nvGrpSpPr>
        <p:grpSpPr bwMode="auto">
          <a:xfrm>
            <a:off x="1577004" y="3044709"/>
            <a:ext cx="1458912" cy="2501900"/>
            <a:chOff x="385" y="1476"/>
            <a:chExt cx="919" cy="1576"/>
          </a:xfrm>
          <a:solidFill>
            <a:schemeClr val="accent2">
              <a:lumMod val="60000"/>
              <a:lumOff val="40000"/>
            </a:schemeClr>
          </a:solidFill>
        </p:grpSpPr>
        <p:sp>
          <p:nvSpPr>
            <p:cNvPr id="5148" name="Rectangle 8"/>
            <p:cNvSpPr>
              <a:spLocks noChangeArrowheads="1"/>
            </p:cNvSpPr>
            <p:nvPr/>
          </p:nvSpPr>
          <p:spPr bwMode="auto">
            <a:xfrm>
              <a:off x="408" y="1476"/>
              <a:ext cx="896" cy="300"/>
            </a:xfrm>
            <a:prstGeom prst="rect">
              <a:avLst/>
            </a:prstGeom>
            <a:grpFill/>
            <a:ln w="19050">
              <a:noFill/>
              <a:miter lim="800000"/>
              <a:headEnd/>
              <a:tailEnd/>
            </a:ln>
          </p:spPr>
          <p:txBody>
            <a:bodyPr wrap="none" anchor="ctr">
              <a:spAutoFit/>
            </a:bodyPr>
            <a:lstStyle/>
            <a:p>
              <a:pPr algn="ctr" defTabSz="914400"/>
              <a:r>
                <a:rPr lang="zh-CN" altLang="en-US" sz="2400" b="1" dirty="0">
                  <a:solidFill>
                    <a:srgbClr val="0000CC"/>
                  </a:solidFill>
                  <a:latin typeface="微软雅黑" pitchFamily="34" charset="-122"/>
                  <a:ea typeface="微软雅黑" pitchFamily="34" charset="-122"/>
                </a:rPr>
                <a:t>领土安全</a:t>
              </a:r>
            </a:p>
          </p:txBody>
        </p:sp>
        <p:sp>
          <p:nvSpPr>
            <p:cNvPr id="5149" name="Rectangle 20"/>
            <p:cNvSpPr>
              <a:spLocks noChangeArrowheads="1"/>
            </p:cNvSpPr>
            <p:nvPr/>
          </p:nvSpPr>
          <p:spPr bwMode="auto">
            <a:xfrm>
              <a:off x="402" y="1901"/>
              <a:ext cx="896" cy="300"/>
            </a:xfrm>
            <a:prstGeom prst="rect">
              <a:avLst/>
            </a:prstGeom>
            <a:grpFill/>
            <a:ln w="19050">
              <a:noFill/>
              <a:miter lim="800000"/>
              <a:headEnd/>
              <a:tailEnd/>
            </a:ln>
          </p:spPr>
          <p:txBody>
            <a:bodyPr wrap="none" anchor="ctr">
              <a:spAutoFit/>
            </a:bodyPr>
            <a:lstStyle/>
            <a:p>
              <a:pPr algn="ctr" defTabSz="914400"/>
              <a:r>
                <a:rPr lang="zh-CN" altLang="en-US" sz="2400" b="1">
                  <a:solidFill>
                    <a:srgbClr val="0000CC"/>
                  </a:solidFill>
                  <a:latin typeface="微软雅黑" pitchFamily="34" charset="-122"/>
                  <a:ea typeface="微软雅黑" pitchFamily="34" charset="-122"/>
                </a:rPr>
                <a:t>领空安全</a:t>
              </a:r>
            </a:p>
          </p:txBody>
        </p:sp>
        <p:sp>
          <p:nvSpPr>
            <p:cNvPr id="5150" name="Rectangle 21"/>
            <p:cNvSpPr>
              <a:spLocks noChangeArrowheads="1"/>
            </p:cNvSpPr>
            <p:nvPr/>
          </p:nvSpPr>
          <p:spPr bwMode="auto">
            <a:xfrm>
              <a:off x="396" y="2326"/>
              <a:ext cx="896" cy="300"/>
            </a:xfrm>
            <a:prstGeom prst="rect">
              <a:avLst/>
            </a:prstGeom>
            <a:grpFill/>
            <a:ln w="19050">
              <a:noFill/>
              <a:miter lim="800000"/>
              <a:headEnd/>
              <a:tailEnd/>
            </a:ln>
          </p:spPr>
          <p:txBody>
            <a:bodyPr wrap="none" anchor="ctr">
              <a:spAutoFit/>
            </a:bodyPr>
            <a:lstStyle/>
            <a:p>
              <a:pPr algn="ctr" defTabSz="914400"/>
              <a:r>
                <a:rPr lang="zh-CN" altLang="en-US" sz="2400" b="1">
                  <a:solidFill>
                    <a:srgbClr val="0000CC"/>
                  </a:solidFill>
                  <a:latin typeface="微软雅黑" pitchFamily="34" charset="-122"/>
                  <a:ea typeface="微软雅黑" pitchFamily="34" charset="-122"/>
                </a:rPr>
                <a:t>领海安全</a:t>
              </a:r>
            </a:p>
          </p:txBody>
        </p:sp>
        <p:sp>
          <p:nvSpPr>
            <p:cNvPr id="5151" name="Rectangle 22"/>
            <p:cNvSpPr>
              <a:spLocks noChangeArrowheads="1"/>
            </p:cNvSpPr>
            <p:nvPr/>
          </p:nvSpPr>
          <p:spPr bwMode="auto">
            <a:xfrm>
              <a:off x="385" y="2752"/>
              <a:ext cx="896" cy="300"/>
            </a:xfrm>
            <a:prstGeom prst="rect">
              <a:avLst/>
            </a:prstGeom>
            <a:grpFill/>
            <a:ln w="19050">
              <a:noFill/>
              <a:miter lim="800000"/>
              <a:headEnd/>
              <a:tailEnd/>
            </a:ln>
          </p:spPr>
          <p:txBody>
            <a:bodyPr wrap="none" anchor="ctr">
              <a:spAutoFit/>
            </a:bodyPr>
            <a:lstStyle/>
            <a:p>
              <a:pPr algn="ctr" defTabSz="914400"/>
              <a:r>
                <a:rPr lang="zh-CN" altLang="en-US" sz="2400" b="1">
                  <a:solidFill>
                    <a:srgbClr val="0000CC"/>
                  </a:solidFill>
                  <a:latin typeface="微软雅黑" pitchFamily="34" charset="-122"/>
                  <a:ea typeface="微软雅黑" pitchFamily="34" charset="-122"/>
                </a:rPr>
                <a:t>太空安全</a:t>
              </a:r>
            </a:p>
          </p:txBody>
        </p:sp>
      </p:grpSp>
      <p:sp>
        <p:nvSpPr>
          <p:cNvPr id="327703" name="Rectangle 23"/>
          <p:cNvSpPr>
            <a:spLocks noChangeArrowheads="1"/>
          </p:cNvSpPr>
          <p:nvPr/>
        </p:nvSpPr>
        <p:spPr bwMode="auto">
          <a:xfrm>
            <a:off x="1594466" y="2306521"/>
            <a:ext cx="2373313" cy="538163"/>
          </a:xfrm>
          <a:prstGeom prst="rect">
            <a:avLst/>
          </a:prstGeom>
          <a:solidFill>
            <a:srgbClr val="FFFF00"/>
          </a:solidFill>
          <a:ln w="19050">
            <a:noFill/>
            <a:miter lim="800000"/>
            <a:headEnd/>
            <a:tailEnd/>
          </a:ln>
        </p:spPr>
        <p:txBody>
          <a:bodyPr anchor="ctr">
            <a:spAutoFit/>
          </a:bodyPr>
          <a:lstStyle/>
          <a:p>
            <a:pPr defTabSz="914400"/>
            <a:r>
              <a:rPr lang="zh-CN" altLang="en-US" sz="2800" b="1">
                <a:latin typeface="微软雅黑" pitchFamily="34" charset="-122"/>
                <a:ea typeface="微软雅黑" pitchFamily="34" charset="-122"/>
              </a:rPr>
              <a:t>电磁空间安全</a:t>
            </a:r>
          </a:p>
        </p:txBody>
      </p:sp>
      <p:grpSp>
        <p:nvGrpSpPr>
          <p:cNvPr id="8" name="Group 34"/>
          <p:cNvGrpSpPr>
            <a:grpSpLocks/>
          </p:cNvGrpSpPr>
          <p:nvPr/>
        </p:nvGrpSpPr>
        <p:grpSpPr bwMode="auto">
          <a:xfrm>
            <a:off x="8574092" y="4399530"/>
            <a:ext cx="3641725" cy="477837"/>
            <a:chOff x="3184" y="2273"/>
            <a:chExt cx="2294" cy="301"/>
          </a:xfrm>
        </p:grpSpPr>
        <p:sp>
          <p:nvSpPr>
            <p:cNvPr id="5154" name="Text Box 32"/>
            <p:cNvSpPr txBox="1">
              <a:spLocks noChangeArrowheads="1"/>
            </p:cNvSpPr>
            <p:nvPr/>
          </p:nvSpPr>
          <p:spPr bwMode="auto">
            <a:xfrm>
              <a:off x="4376" y="2273"/>
              <a:ext cx="1102" cy="300"/>
            </a:xfrm>
            <a:prstGeom prst="rect">
              <a:avLst/>
            </a:prstGeom>
            <a:solidFill>
              <a:schemeClr val="accent2">
                <a:lumMod val="20000"/>
                <a:lumOff val="80000"/>
              </a:schemeClr>
            </a:solidFill>
            <a:ln w="19050">
              <a:noFill/>
              <a:miter lim="800000"/>
              <a:headEnd/>
              <a:tailEnd/>
            </a:ln>
          </p:spPr>
          <p:txBody>
            <a:bodyPr wrap="square">
              <a:spAutoFit/>
            </a:bodyPr>
            <a:lstStyle/>
            <a:p>
              <a:pPr algn="ctr" defTabSz="914400">
                <a:spcBef>
                  <a:spcPct val="50000"/>
                </a:spcBef>
              </a:pPr>
              <a:r>
                <a:rPr lang="zh-CN" altLang="en-US" sz="2400" b="1" dirty="0">
                  <a:latin typeface="微软雅黑" pitchFamily="34" charset="-122"/>
                  <a:ea typeface="微软雅黑" pitchFamily="34" charset="-122"/>
                </a:rPr>
                <a:t>太赫兹波</a:t>
              </a:r>
            </a:p>
          </p:txBody>
        </p:sp>
        <p:sp>
          <p:nvSpPr>
            <p:cNvPr id="5155" name="AutoShape 33"/>
            <p:cNvSpPr>
              <a:spLocks noChangeArrowheads="1"/>
            </p:cNvSpPr>
            <p:nvPr/>
          </p:nvSpPr>
          <p:spPr bwMode="auto">
            <a:xfrm rot="5400000">
              <a:off x="3588" y="1870"/>
              <a:ext cx="300" cy="1107"/>
            </a:xfrm>
            <a:prstGeom prst="downArrow">
              <a:avLst>
                <a:gd name="adj1" fmla="val 50000"/>
                <a:gd name="adj2" fmla="val 99250"/>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38100">
              <a:noFill/>
              <a:miter lim="800000"/>
              <a:headEnd/>
              <a:tailEnd/>
            </a:ln>
          </p:spPr>
          <p:txBody>
            <a:bodyPr wrap="none" anchor="ctr"/>
            <a:lstStyle/>
            <a:p>
              <a:pPr defTabSz="914400"/>
              <a:endParaRPr lang="zh-CN" altLang="en-US" sz="2400" b="1">
                <a:latin typeface="微软雅黑" pitchFamily="34" charset="-122"/>
                <a:ea typeface="微软雅黑" pitchFamily="34" charset="-122"/>
              </a:endParaRPr>
            </a:p>
          </p:txBody>
        </p:sp>
      </p:grpSp>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6"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37"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27684"/>
                                        </p:tgtEl>
                                        <p:attrNameLst>
                                          <p:attrName>style.visibility</p:attrName>
                                        </p:attrNameLst>
                                      </p:cBhvr>
                                      <p:to>
                                        <p:strVal val="visible"/>
                                      </p:to>
                                    </p:set>
                                    <p:animEffect transition="in" filter="box(in)">
                                      <p:cBhvr>
                                        <p:cTn id="7" dur="500"/>
                                        <p:tgtEl>
                                          <p:spTgt spid="32768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27687"/>
                                        </p:tgtEl>
                                        <p:attrNameLst>
                                          <p:attrName>style.visibility</p:attrName>
                                        </p:attrNameLst>
                                      </p:cBhvr>
                                      <p:to>
                                        <p:strVal val="visible"/>
                                      </p:to>
                                    </p:set>
                                    <p:animEffect transition="in" filter="blinds(horizontal)">
                                      <p:cBhvr>
                                        <p:cTn id="19" dur="500"/>
                                        <p:tgtEl>
                                          <p:spTgt spid="32768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27703"/>
                                        </p:tgtEl>
                                        <p:attrNameLst>
                                          <p:attrName>style.visibility</p:attrName>
                                        </p:attrNameLst>
                                      </p:cBhvr>
                                      <p:to>
                                        <p:strVal val="visible"/>
                                      </p:to>
                                    </p:set>
                                    <p:anim calcmode="lin" valueType="num">
                                      <p:cBhvr additive="base">
                                        <p:cTn id="24" dur="500" fill="hold"/>
                                        <p:tgtEl>
                                          <p:spTgt spid="327703"/>
                                        </p:tgtEl>
                                        <p:attrNameLst>
                                          <p:attrName>ppt_x</p:attrName>
                                        </p:attrNameLst>
                                      </p:cBhvr>
                                      <p:tavLst>
                                        <p:tav tm="0">
                                          <p:val>
                                            <p:strVal val="0-#ppt_w/2"/>
                                          </p:val>
                                        </p:tav>
                                        <p:tav tm="100000">
                                          <p:val>
                                            <p:strVal val="#ppt_x"/>
                                          </p:val>
                                        </p:tav>
                                      </p:tavLst>
                                    </p:anim>
                                    <p:anim calcmode="lin" valueType="num">
                                      <p:cBhvr additive="base">
                                        <p:cTn id="25" dur="500" fill="hold"/>
                                        <p:tgtEl>
                                          <p:spTgt spid="327703"/>
                                        </p:tgtEl>
                                        <p:attrNameLst>
                                          <p:attrName>ppt_y</p:attrName>
                                        </p:attrNameLst>
                                      </p:cBhvr>
                                      <p:tavLst>
                                        <p:tav tm="0">
                                          <p:val>
                                            <p:strVal val="#ppt_y"/>
                                          </p:val>
                                        </p:tav>
                                        <p:tav tm="100000">
                                          <p:val>
                                            <p:strVal val="#ppt_y"/>
                                          </p:val>
                                        </p:tav>
                                      </p:tavLst>
                                    </p:anim>
                                  </p:childTnLst>
                                </p:cTn>
                              </p:par>
                              <p:par>
                                <p:cTn id="26" presetID="17" presetClass="entr" presetSubtype="1" fill="hold" grpId="0" nodeType="withEffect">
                                  <p:stCondLst>
                                    <p:cond delay="0"/>
                                  </p:stCondLst>
                                  <p:childTnLst>
                                    <p:set>
                                      <p:cBhvr>
                                        <p:cTn id="27" dur="1" fill="hold">
                                          <p:stCondLst>
                                            <p:cond delay="0"/>
                                          </p:stCondLst>
                                        </p:cTn>
                                        <p:tgtEl>
                                          <p:spTgt spid="327689"/>
                                        </p:tgtEl>
                                        <p:attrNameLst>
                                          <p:attrName>style.visibility</p:attrName>
                                        </p:attrNameLst>
                                      </p:cBhvr>
                                      <p:to>
                                        <p:strVal val="visible"/>
                                      </p:to>
                                    </p:set>
                                    <p:anim calcmode="lin" valueType="num">
                                      <p:cBhvr>
                                        <p:cTn id="28" dur="500" fill="hold"/>
                                        <p:tgtEl>
                                          <p:spTgt spid="327689"/>
                                        </p:tgtEl>
                                        <p:attrNameLst>
                                          <p:attrName>ppt_x</p:attrName>
                                        </p:attrNameLst>
                                      </p:cBhvr>
                                      <p:tavLst>
                                        <p:tav tm="0">
                                          <p:val>
                                            <p:strVal val="#ppt_x"/>
                                          </p:val>
                                        </p:tav>
                                        <p:tav tm="100000">
                                          <p:val>
                                            <p:strVal val="#ppt_x"/>
                                          </p:val>
                                        </p:tav>
                                      </p:tavLst>
                                    </p:anim>
                                    <p:anim calcmode="lin" valueType="num">
                                      <p:cBhvr>
                                        <p:cTn id="29" dur="500" fill="hold"/>
                                        <p:tgtEl>
                                          <p:spTgt spid="327689"/>
                                        </p:tgtEl>
                                        <p:attrNameLst>
                                          <p:attrName>ppt_y</p:attrName>
                                        </p:attrNameLst>
                                      </p:cBhvr>
                                      <p:tavLst>
                                        <p:tav tm="0">
                                          <p:val>
                                            <p:strVal val="#ppt_y-#ppt_h/2"/>
                                          </p:val>
                                        </p:tav>
                                        <p:tav tm="100000">
                                          <p:val>
                                            <p:strVal val="#ppt_y"/>
                                          </p:val>
                                        </p:tav>
                                      </p:tavLst>
                                    </p:anim>
                                    <p:anim calcmode="lin" valueType="num">
                                      <p:cBhvr>
                                        <p:cTn id="30" dur="500" fill="hold"/>
                                        <p:tgtEl>
                                          <p:spTgt spid="327689"/>
                                        </p:tgtEl>
                                        <p:attrNameLst>
                                          <p:attrName>ppt_w</p:attrName>
                                        </p:attrNameLst>
                                      </p:cBhvr>
                                      <p:tavLst>
                                        <p:tav tm="0">
                                          <p:val>
                                            <p:strVal val="#ppt_w"/>
                                          </p:val>
                                        </p:tav>
                                        <p:tav tm="100000">
                                          <p:val>
                                            <p:strVal val="#ppt_w"/>
                                          </p:val>
                                        </p:tav>
                                      </p:tavLst>
                                    </p:anim>
                                    <p:anim calcmode="lin" valueType="num">
                                      <p:cBhvr>
                                        <p:cTn id="31" dur="500" fill="hold"/>
                                        <p:tgtEl>
                                          <p:spTgt spid="327689"/>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1+#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1+#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1+#ppt_w/2"/>
                                          </p:val>
                                        </p:tav>
                                        <p:tav tm="100000">
                                          <p:val>
                                            <p:strVal val="#ppt_x"/>
                                          </p:val>
                                        </p:tav>
                                      </p:tavLst>
                                    </p:anim>
                                    <p:anim calcmode="lin" valueType="num">
                                      <p:cBhvr additive="base">
                                        <p:cTn id="4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additive="base">
                                        <p:cTn id="54" dur="500" fill="hold"/>
                                        <p:tgtEl>
                                          <p:spTgt spid="5"/>
                                        </p:tgtEl>
                                        <p:attrNameLst>
                                          <p:attrName>ppt_x</p:attrName>
                                        </p:attrNameLst>
                                      </p:cBhvr>
                                      <p:tavLst>
                                        <p:tav tm="0">
                                          <p:val>
                                            <p:strVal val="1+#ppt_w/2"/>
                                          </p:val>
                                        </p:tav>
                                        <p:tav tm="100000">
                                          <p:val>
                                            <p:strVal val="#ppt_x"/>
                                          </p:val>
                                        </p:tav>
                                      </p:tavLst>
                                    </p:anim>
                                    <p:anim calcmode="lin" valueType="num">
                                      <p:cBhvr additive="base">
                                        <p:cTn id="5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500" fill="hold"/>
                                        <p:tgtEl>
                                          <p:spTgt spid="6"/>
                                        </p:tgtEl>
                                        <p:attrNameLst>
                                          <p:attrName>ppt_x</p:attrName>
                                        </p:attrNameLst>
                                      </p:cBhvr>
                                      <p:tavLst>
                                        <p:tav tm="0">
                                          <p:val>
                                            <p:strVal val="0-#ppt_w/2"/>
                                          </p:val>
                                        </p:tav>
                                        <p:tav tm="100000">
                                          <p:val>
                                            <p:strVal val="#ppt_x"/>
                                          </p:val>
                                        </p:tav>
                                      </p:tavLst>
                                    </p:anim>
                                    <p:anim calcmode="lin" valueType="num">
                                      <p:cBhvr additive="base">
                                        <p:cTn id="6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8" presetClass="entr" presetSubtype="16"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diamond(in)">
                                      <p:cBhvr>
                                        <p:cTn id="6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7" grpId="0" animBg="1"/>
      <p:bldP spid="327689" grpId="0" animBg="1"/>
      <p:bldP spid="32770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36" name="Object 5">
            <a:extLst>
              <a:ext uri="{FF2B5EF4-FFF2-40B4-BE49-F238E27FC236}">
                <a16:creationId xmlns:a16="http://schemas.microsoft.com/office/drawing/2014/main" id="{E884655E-A7A7-485D-9E05-FE3A32BDC56B}"/>
              </a:ext>
            </a:extLst>
          </p:cNvPr>
          <p:cNvGraphicFramePr>
            <a:graphicFrameLocks noChangeAspect="1"/>
          </p:cNvGraphicFramePr>
          <p:nvPr>
            <p:extLst>
              <p:ext uri="{D42A27DB-BD31-4B8C-83A1-F6EECF244321}">
                <p14:modId xmlns:p14="http://schemas.microsoft.com/office/powerpoint/2010/main" val="387779860"/>
              </p:ext>
            </p:extLst>
          </p:nvPr>
        </p:nvGraphicFramePr>
        <p:xfrm>
          <a:off x="2650957" y="3701779"/>
          <a:ext cx="8143875" cy="2459038"/>
        </p:xfrm>
        <a:graphic>
          <a:graphicData uri="http://schemas.openxmlformats.org/presentationml/2006/ole">
            <mc:AlternateContent xmlns:mc="http://schemas.openxmlformats.org/markup-compatibility/2006">
              <mc:Choice xmlns:v="urn:schemas-microsoft-com:vml" Requires="v">
                <p:oleObj name="Visio" r:id="rId2" imgW="6764988" imgH="2047542" progId="Visio.Drawing.11">
                  <p:embed/>
                </p:oleObj>
              </mc:Choice>
              <mc:Fallback>
                <p:oleObj name="Visio" r:id="rId2" imgW="6764988" imgH="2047542" progId="Visio.Drawing.11">
                  <p:embed/>
                  <p:pic>
                    <p:nvPicPr>
                      <p:cNvPr id="205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0957" y="3701779"/>
                        <a:ext cx="8143875" cy="2459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ectangle 8">
            <a:extLst>
              <a:ext uri="{FF2B5EF4-FFF2-40B4-BE49-F238E27FC236}">
                <a16:creationId xmlns:a16="http://schemas.microsoft.com/office/drawing/2014/main" id="{31F61651-4A58-451D-A824-907675B72B9C}"/>
              </a:ext>
            </a:extLst>
          </p:cNvPr>
          <p:cNvSpPr>
            <a:spLocks noChangeArrowheads="1"/>
          </p:cNvSpPr>
          <p:nvPr/>
        </p:nvSpPr>
        <p:spPr bwMode="auto">
          <a:xfrm>
            <a:off x="4079707" y="2547994"/>
            <a:ext cx="5500687" cy="523220"/>
          </a:xfrm>
          <a:prstGeom prst="rect">
            <a:avLst/>
          </a:prstGeom>
          <a:solidFill>
            <a:srgbClr val="92D050"/>
          </a:solidFill>
          <a:ln w="9525">
            <a:solidFill>
              <a:schemeClr val="accent1"/>
            </a:solidFill>
            <a:miter lim="800000"/>
            <a:headEnd/>
            <a:tailEnd/>
          </a:ln>
        </p:spPr>
        <p:txBody>
          <a:bodyPr anchor="ctr">
            <a:spAutoFit/>
          </a:bodyPr>
          <a:lstStyle/>
          <a:p>
            <a:pPr algn="ctr" defTabSz="914400"/>
            <a:r>
              <a:rPr lang="zh-CN" altLang="en-US" sz="2800" b="1" dirty="0">
                <a:latin typeface="Times New Roman" pitchFamily="18" charset="0"/>
                <a:ea typeface="黑体" pitchFamily="2" charset="-122"/>
              </a:rPr>
              <a:t>光辐射谱区 </a:t>
            </a:r>
            <a:r>
              <a:rPr lang="en-US" altLang="zh-CN" sz="2800" b="1" dirty="0">
                <a:latin typeface="Times New Roman" pitchFamily="18" charset="0"/>
                <a:ea typeface="黑体" pitchFamily="2" charset="-122"/>
              </a:rPr>
              <a:t>0.01</a:t>
            </a:r>
            <a:r>
              <a:rPr lang="el-GR" altLang="zh-CN" sz="2800" b="1" dirty="0">
                <a:latin typeface="Times New Roman" pitchFamily="18" charset="0"/>
                <a:ea typeface="黑体" pitchFamily="2" charset="-122"/>
                <a:cs typeface="Arial" pitchFamily="34" charset="0"/>
              </a:rPr>
              <a:t>μ</a:t>
            </a:r>
            <a:r>
              <a:rPr lang="en-US" altLang="zh-CN" sz="2800" b="1" dirty="0">
                <a:latin typeface="Times New Roman" pitchFamily="18" charset="0"/>
                <a:ea typeface="黑体" pitchFamily="2" charset="-122"/>
                <a:cs typeface="Arial" pitchFamily="34" charset="0"/>
              </a:rPr>
              <a:t>m~1000</a:t>
            </a:r>
            <a:r>
              <a:rPr lang="el-GR" altLang="zh-CN" sz="2800" b="1" dirty="0">
                <a:latin typeface="Times New Roman" pitchFamily="18" charset="0"/>
                <a:ea typeface="黑体" pitchFamily="2" charset="-122"/>
                <a:cs typeface="Arial" pitchFamily="34" charset="0"/>
              </a:rPr>
              <a:t>μ</a:t>
            </a:r>
            <a:r>
              <a:rPr lang="en-US" altLang="zh-CN" sz="2800" b="1" dirty="0">
                <a:latin typeface="Times New Roman" pitchFamily="18" charset="0"/>
                <a:ea typeface="黑体" pitchFamily="2" charset="-122"/>
                <a:cs typeface="Arial" pitchFamily="34" charset="0"/>
              </a:rPr>
              <a:t>m</a:t>
            </a:r>
            <a:endParaRPr lang="el-GR" altLang="zh-CN" sz="2800" b="1" dirty="0">
              <a:latin typeface="Times New Roman" pitchFamily="18" charset="0"/>
              <a:ea typeface="黑体" pitchFamily="2" charset="-122"/>
              <a:cs typeface="Arial" pitchFamily="34" charset="0"/>
            </a:endParaRPr>
          </a:p>
        </p:txBody>
      </p:sp>
      <p:sp>
        <p:nvSpPr>
          <p:cNvPr id="38" name="Text Box 5">
            <a:extLst>
              <a:ext uri="{FF2B5EF4-FFF2-40B4-BE49-F238E27FC236}">
                <a16:creationId xmlns:a16="http://schemas.microsoft.com/office/drawing/2014/main" id="{B4DF4C53-8457-4A80-A093-92B8C8E4218A}"/>
              </a:ext>
            </a:extLst>
          </p:cNvPr>
          <p:cNvSpPr txBox="1">
            <a:spLocks noChangeArrowheads="1"/>
          </p:cNvSpPr>
          <p:nvPr/>
        </p:nvSpPr>
        <p:spPr bwMode="auto">
          <a:xfrm>
            <a:off x="4843374" y="1169059"/>
            <a:ext cx="3500437" cy="701675"/>
          </a:xfrm>
          <a:prstGeom prst="rect">
            <a:avLst/>
          </a:prstGeom>
          <a:gradFill>
            <a:gsLst>
              <a:gs pos="0">
                <a:srgbClr val="FFF200"/>
              </a:gs>
              <a:gs pos="45000">
                <a:srgbClr val="FF7A00"/>
              </a:gs>
              <a:gs pos="70000">
                <a:srgbClr val="FF0300"/>
              </a:gs>
              <a:gs pos="100000">
                <a:srgbClr val="4D0808"/>
              </a:gs>
            </a:gsLst>
            <a:lin ang="5400000" scaled="0"/>
          </a:gradFill>
          <a:ln w="9525">
            <a:noFill/>
            <a:miter lim="800000"/>
            <a:headEnd/>
            <a:tailEnd/>
          </a:ln>
          <a:effectLst/>
        </p:spPr>
        <p:txBody>
          <a:bodyPr>
            <a:spAutoFit/>
          </a:bodyPr>
          <a:lstStyle/>
          <a:p>
            <a:pPr algn="ctr" defTabSz="914400">
              <a:spcBef>
                <a:spcPct val="50000"/>
              </a:spcBef>
              <a:defRPr/>
            </a:pPr>
            <a:r>
              <a:rPr lang="zh-CN" altLang="en-US" sz="4000" b="1" dirty="0">
                <a:solidFill>
                  <a:srgbClr val="0000CC"/>
                </a:solidFill>
                <a:effectLst>
                  <a:outerShdw blurRad="38100" dist="38100" dir="2700000" algn="tl">
                    <a:srgbClr val="C0C0C0"/>
                  </a:outerShdw>
                </a:effectLst>
                <a:latin typeface="Times New Roman" pitchFamily="18" charset="0"/>
                <a:ea typeface="黑体" pitchFamily="2" charset="-122"/>
                <a:cs typeface="Times New Roman" pitchFamily="18" charset="0"/>
              </a:rPr>
              <a:t>光辐射</a:t>
            </a:r>
          </a:p>
        </p:txBody>
      </p:sp>
      <p:sp>
        <p:nvSpPr>
          <p:cNvPr id="12"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1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50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p:cTn id="11" dur="1000" fill="hold"/>
                                        <p:tgtEl>
                                          <p:spTgt spid="37"/>
                                        </p:tgtEl>
                                        <p:attrNameLst>
                                          <p:attrName>ppt_x</p:attrName>
                                        </p:attrNameLst>
                                      </p:cBhvr>
                                      <p:tavLst>
                                        <p:tav tm="0">
                                          <p:val>
                                            <p:strVal val="#ppt_x-#ppt_w/2"/>
                                          </p:val>
                                        </p:tav>
                                        <p:tav tm="100000">
                                          <p:val>
                                            <p:strVal val="#ppt_x"/>
                                          </p:val>
                                        </p:tav>
                                      </p:tavLst>
                                    </p:anim>
                                    <p:anim calcmode="lin" valueType="num">
                                      <p:cBhvr>
                                        <p:cTn id="12" dur="1000" fill="hold"/>
                                        <p:tgtEl>
                                          <p:spTgt spid="37"/>
                                        </p:tgtEl>
                                        <p:attrNameLst>
                                          <p:attrName>ppt_y</p:attrName>
                                        </p:attrNameLst>
                                      </p:cBhvr>
                                      <p:tavLst>
                                        <p:tav tm="0">
                                          <p:val>
                                            <p:strVal val="#ppt_y"/>
                                          </p:val>
                                        </p:tav>
                                        <p:tav tm="100000">
                                          <p:val>
                                            <p:strVal val="#ppt_y"/>
                                          </p:val>
                                        </p:tav>
                                      </p:tavLst>
                                    </p:anim>
                                    <p:anim calcmode="lin" valueType="num">
                                      <p:cBhvr>
                                        <p:cTn id="13" dur="1000" fill="hold"/>
                                        <p:tgtEl>
                                          <p:spTgt spid="37"/>
                                        </p:tgtEl>
                                        <p:attrNameLst>
                                          <p:attrName>ppt_w</p:attrName>
                                        </p:attrNameLst>
                                      </p:cBhvr>
                                      <p:tavLst>
                                        <p:tav tm="0">
                                          <p:val>
                                            <p:fltVal val="0"/>
                                          </p:val>
                                        </p:tav>
                                        <p:tav tm="100000">
                                          <p:val>
                                            <p:strVal val="#ppt_w"/>
                                          </p:val>
                                        </p:tav>
                                      </p:tavLst>
                                    </p:anim>
                                    <p:anim calcmode="lin" valueType="num">
                                      <p:cBhvr>
                                        <p:cTn id="14" dur="10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amond(in)">
                                      <p:cBhvr>
                                        <p:cTn id="19"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8">
            <a:extLst>
              <a:ext uri="{FF2B5EF4-FFF2-40B4-BE49-F238E27FC236}">
                <a16:creationId xmlns:a16="http://schemas.microsoft.com/office/drawing/2014/main" id="{DBB14F08-6C32-488F-9192-370D1007B19F}"/>
              </a:ext>
            </a:extLst>
          </p:cNvPr>
          <p:cNvSpPr txBox="1">
            <a:spLocks noChangeArrowheads="1"/>
          </p:cNvSpPr>
          <p:nvPr/>
        </p:nvSpPr>
        <p:spPr bwMode="auto">
          <a:xfrm>
            <a:off x="9520188" y="4564063"/>
            <a:ext cx="1709737" cy="879475"/>
          </a:xfrm>
          <a:prstGeom prst="rect">
            <a:avLst/>
          </a:prstGeom>
          <a:solidFill>
            <a:schemeClr val="accent4">
              <a:lumMod val="40000"/>
              <a:lumOff val="60000"/>
            </a:schemeClr>
          </a:solidFill>
          <a:ln w="25400">
            <a:noFill/>
            <a:miter lim="800000"/>
            <a:headEnd/>
            <a:tailEnd/>
          </a:ln>
        </p:spPr>
        <p:txBody>
          <a:bodyPr lIns="0" tIns="0" rIns="0" bIns="0">
            <a:spAutoFit/>
          </a:bodyPr>
          <a:lstStyle/>
          <a:p>
            <a:pPr algn="ctr" defTabSz="914400">
              <a:spcBef>
                <a:spcPct val="50000"/>
              </a:spcBef>
            </a:pPr>
            <a:r>
              <a:rPr lang="zh-CN" altLang="en-US" sz="2800" b="1">
                <a:latin typeface="微软雅黑" pitchFamily="34" charset="-122"/>
                <a:ea typeface="微软雅黑" pitchFamily="34" charset="-122"/>
              </a:rPr>
              <a:t>杀菌消毒指纹检查</a:t>
            </a:r>
          </a:p>
        </p:txBody>
      </p:sp>
      <p:sp>
        <p:nvSpPr>
          <p:cNvPr id="13" name="AutoShape 12">
            <a:extLst>
              <a:ext uri="{FF2B5EF4-FFF2-40B4-BE49-F238E27FC236}">
                <a16:creationId xmlns:a16="http://schemas.microsoft.com/office/drawing/2014/main" id="{10B91237-1074-4620-9CB3-FC460C4B1190}"/>
              </a:ext>
            </a:extLst>
          </p:cNvPr>
          <p:cNvSpPr>
            <a:spLocks noChangeArrowheads="1"/>
          </p:cNvSpPr>
          <p:nvPr/>
        </p:nvSpPr>
        <p:spPr bwMode="auto">
          <a:xfrm rot="16200000">
            <a:off x="10075813" y="3938588"/>
            <a:ext cx="500062" cy="608012"/>
          </a:xfrm>
          <a:prstGeom prst="notchedRightArrow">
            <a:avLst>
              <a:gd name="adj1" fmla="val 50000"/>
              <a:gd name="adj2" fmla="val 52745"/>
            </a:avLst>
          </a:prstGeom>
          <a:solidFill>
            <a:srgbClr val="7030A0"/>
          </a:solidFill>
          <a:ln w="31750">
            <a:solidFill>
              <a:srgbClr val="7030A0"/>
            </a:solidFill>
            <a:miter lim="800000"/>
            <a:headEnd/>
            <a:tailEnd/>
          </a:ln>
        </p:spPr>
        <p:txBody>
          <a:bodyPr vert="eaVert" wrap="none" anchor="ctr"/>
          <a:lstStyle/>
          <a:p>
            <a:pPr defTabSz="914400"/>
            <a:endParaRPr lang="zh-CN" altLang="en-US" sz="1800">
              <a:latin typeface="微软雅黑" pitchFamily="34" charset="-122"/>
              <a:ea typeface="微软雅黑" pitchFamily="34" charset="-122"/>
            </a:endParaRPr>
          </a:p>
        </p:txBody>
      </p:sp>
      <p:sp>
        <p:nvSpPr>
          <p:cNvPr id="14" name="Text Box 9">
            <a:extLst>
              <a:ext uri="{FF2B5EF4-FFF2-40B4-BE49-F238E27FC236}">
                <a16:creationId xmlns:a16="http://schemas.microsoft.com/office/drawing/2014/main" id="{652B211D-8803-4DF5-A8B6-3D0FE0C30194}"/>
              </a:ext>
            </a:extLst>
          </p:cNvPr>
          <p:cNvSpPr txBox="1">
            <a:spLocks noChangeArrowheads="1"/>
          </p:cNvSpPr>
          <p:nvPr/>
        </p:nvSpPr>
        <p:spPr bwMode="auto">
          <a:xfrm>
            <a:off x="6569728" y="4630738"/>
            <a:ext cx="1597025" cy="879475"/>
          </a:xfrm>
          <a:prstGeom prst="rect">
            <a:avLst/>
          </a:prstGeom>
          <a:solidFill>
            <a:schemeClr val="accent4">
              <a:lumMod val="40000"/>
              <a:lumOff val="60000"/>
            </a:schemeClr>
          </a:solidFill>
          <a:ln w="25400">
            <a:noFill/>
            <a:miter lim="800000"/>
            <a:headEnd/>
            <a:tailEnd/>
          </a:ln>
        </p:spPr>
        <p:txBody>
          <a:bodyPr lIns="0" tIns="0" rIns="0" bIns="0">
            <a:spAutoFit/>
          </a:bodyPr>
          <a:lstStyle/>
          <a:p>
            <a:pPr algn="ctr" defTabSz="914400">
              <a:spcBef>
                <a:spcPct val="50000"/>
              </a:spcBef>
            </a:pPr>
            <a:r>
              <a:rPr lang="zh-CN" altLang="en-US" sz="2800" b="1" dirty="0">
                <a:latin typeface="微软雅黑" pitchFamily="34" charset="-122"/>
                <a:ea typeface="微软雅黑" pitchFamily="34" charset="-122"/>
              </a:rPr>
              <a:t>观察物体照相</a:t>
            </a:r>
          </a:p>
        </p:txBody>
      </p:sp>
      <p:sp>
        <p:nvSpPr>
          <p:cNvPr id="15" name="AutoShape 13">
            <a:extLst>
              <a:ext uri="{FF2B5EF4-FFF2-40B4-BE49-F238E27FC236}">
                <a16:creationId xmlns:a16="http://schemas.microsoft.com/office/drawing/2014/main" id="{9E60E0A6-9C0A-4139-8959-61CF6340F219}"/>
              </a:ext>
            </a:extLst>
          </p:cNvPr>
          <p:cNvSpPr>
            <a:spLocks noChangeArrowheads="1"/>
          </p:cNvSpPr>
          <p:nvPr/>
        </p:nvSpPr>
        <p:spPr bwMode="auto">
          <a:xfrm rot="16200000">
            <a:off x="6988034" y="3974307"/>
            <a:ext cx="571500" cy="608012"/>
          </a:xfrm>
          <a:prstGeom prst="notchedRightArrow">
            <a:avLst>
              <a:gd name="adj1" fmla="val 50000"/>
              <a:gd name="adj2" fmla="val 52745"/>
            </a:avLst>
          </a:prstGeom>
          <a:solidFill>
            <a:schemeClr val="tx1"/>
          </a:solidFill>
          <a:ln w="31750">
            <a:solidFill>
              <a:schemeClr val="tx1"/>
            </a:solidFill>
            <a:miter lim="800000"/>
            <a:headEnd/>
            <a:tailEnd/>
          </a:ln>
        </p:spPr>
        <p:txBody>
          <a:bodyPr vert="eaVert" wrap="none" anchor="ctr"/>
          <a:lstStyle/>
          <a:p>
            <a:pPr defTabSz="914400"/>
            <a:endParaRPr lang="zh-CN" altLang="en-US" sz="1800">
              <a:latin typeface="微软雅黑" pitchFamily="34" charset="-122"/>
              <a:ea typeface="微软雅黑" pitchFamily="34" charset="-122"/>
            </a:endParaRPr>
          </a:p>
        </p:txBody>
      </p:sp>
      <p:sp>
        <p:nvSpPr>
          <p:cNvPr id="16" name="Text Box 10">
            <a:extLst>
              <a:ext uri="{FF2B5EF4-FFF2-40B4-BE49-F238E27FC236}">
                <a16:creationId xmlns:a16="http://schemas.microsoft.com/office/drawing/2014/main" id="{40794903-E025-43AE-8126-54CAE6491DEB}"/>
              </a:ext>
            </a:extLst>
          </p:cNvPr>
          <p:cNvSpPr txBox="1">
            <a:spLocks noChangeArrowheads="1"/>
          </p:cNvSpPr>
          <p:nvPr/>
        </p:nvSpPr>
        <p:spPr bwMode="auto">
          <a:xfrm>
            <a:off x="2853650" y="4564063"/>
            <a:ext cx="1773238" cy="971550"/>
          </a:xfrm>
          <a:prstGeom prst="rect">
            <a:avLst/>
          </a:prstGeom>
          <a:solidFill>
            <a:schemeClr val="accent4">
              <a:lumMod val="40000"/>
              <a:lumOff val="60000"/>
            </a:schemeClr>
          </a:solidFill>
          <a:ln w="25400">
            <a:noFill/>
            <a:miter lim="800000"/>
            <a:headEnd/>
            <a:tailEnd/>
          </a:ln>
        </p:spPr>
        <p:txBody>
          <a:bodyPr>
            <a:spAutoFit/>
          </a:bodyPr>
          <a:lstStyle/>
          <a:p>
            <a:pPr algn="ctr" defTabSz="914400">
              <a:spcBef>
                <a:spcPct val="50000"/>
              </a:spcBef>
            </a:pPr>
            <a:r>
              <a:rPr lang="zh-CN" altLang="en-US" sz="2800" b="1">
                <a:latin typeface="微软雅黑" pitchFamily="34" charset="-122"/>
                <a:ea typeface="微软雅黑" pitchFamily="34" charset="-122"/>
              </a:rPr>
              <a:t>红外理疗红外夜视</a:t>
            </a:r>
          </a:p>
        </p:txBody>
      </p:sp>
      <p:sp>
        <p:nvSpPr>
          <p:cNvPr id="17" name="AutoShape 14">
            <a:extLst>
              <a:ext uri="{FF2B5EF4-FFF2-40B4-BE49-F238E27FC236}">
                <a16:creationId xmlns:a16="http://schemas.microsoft.com/office/drawing/2014/main" id="{7F283C0E-1082-4EE5-AFE3-6BA1511C762A}"/>
              </a:ext>
            </a:extLst>
          </p:cNvPr>
          <p:cNvSpPr>
            <a:spLocks noChangeArrowheads="1"/>
          </p:cNvSpPr>
          <p:nvPr/>
        </p:nvSpPr>
        <p:spPr bwMode="auto">
          <a:xfrm rot="16200000">
            <a:off x="3338632" y="3902868"/>
            <a:ext cx="571500" cy="608013"/>
          </a:xfrm>
          <a:prstGeom prst="notchedRightArrow">
            <a:avLst>
              <a:gd name="adj1" fmla="val 50000"/>
              <a:gd name="adj2" fmla="val 52745"/>
            </a:avLst>
          </a:prstGeom>
          <a:solidFill>
            <a:srgbClr val="FF0000"/>
          </a:solidFill>
          <a:ln w="31750">
            <a:solidFill>
              <a:srgbClr val="FF0000"/>
            </a:solidFill>
            <a:miter lim="800000"/>
            <a:headEnd/>
            <a:tailEnd/>
          </a:ln>
        </p:spPr>
        <p:txBody>
          <a:bodyPr vert="eaVert" wrap="none" anchor="ctr"/>
          <a:lstStyle/>
          <a:p>
            <a:pPr defTabSz="914400"/>
            <a:endParaRPr lang="zh-CN" altLang="en-US" sz="1800">
              <a:latin typeface="微软雅黑" pitchFamily="34" charset="-122"/>
              <a:ea typeface="微软雅黑" pitchFamily="34" charset="-122"/>
            </a:endParaRPr>
          </a:p>
        </p:txBody>
      </p:sp>
      <p:graphicFrame>
        <p:nvGraphicFramePr>
          <p:cNvPr id="18" name="Object 5">
            <a:extLst>
              <a:ext uri="{FF2B5EF4-FFF2-40B4-BE49-F238E27FC236}">
                <a16:creationId xmlns:a16="http://schemas.microsoft.com/office/drawing/2014/main" id="{E8B630BE-118A-474C-8AEE-E3E4063F6C88}"/>
              </a:ext>
            </a:extLst>
          </p:cNvPr>
          <p:cNvGraphicFramePr>
            <a:graphicFrameLocks noChangeAspect="1"/>
          </p:cNvGraphicFramePr>
          <p:nvPr>
            <p:extLst>
              <p:ext uri="{D42A27DB-BD31-4B8C-83A1-F6EECF244321}">
                <p14:modId xmlns:p14="http://schemas.microsoft.com/office/powerpoint/2010/main" val="1302415305"/>
              </p:ext>
            </p:extLst>
          </p:nvPr>
        </p:nvGraphicFramePr>
        <p:xfrm>
          <a:off x="2298264" y="1163637"/>
          <a:ext cx="9072563" cy="2571750"/>
        </p:xfrm>
        <a:graphic>
          <a:graphicData uri="http://schemas.openxmlformats.org/presentationml/2006/ole">
            <mc:AlternateContent xmlns:mc="http://schemas.openxmlformats.org/markup-compatibility/2006">
              <mc:Choice xmlns:v="urn:schemas-microsoft-com:vml" Requires="v">
                <p:oleObj name="Visio" r:id="rId2" imgW="6764988" imgH="2047542" progId="Visio.Drawing.11">
                  <p:embed/>
                </p:oleObj>
              </mc:Choice>
              <mc:Fallback>
                <p:oleObj name="Visio" r:id="rId2" imgW="6764988" imgH="2047542" progId="Visio.Drawing.11">
                  <p:embed/>
                  <p:pic>
                    <p:nvPicPr>
                      <p:cNvPr id="8"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264" y="1163637"/>
                        <a:ext cx="9072563" cy="257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0">
            <a:extLst>
              <a:ext uri="{FF2B5EF4-FFF2-40B4-BE49-F238E27FC236}">
                <a16:creationId xmlns:a16="http://schemas.microsoft.com/office/drawing/2014/main" id="{6BE0EC2F-3594-4B99-A7AB-6366EE6660B4}"/>
              </a:ext>
            </a:extLst>
          </p:cNvPr>
          <p:cNvSpPr>
            <a:spLocks noChangeArrowheads="1"/>
          </p:cNvSpPr>
          <p:nvPr/>
        </p:nvSpPr>
        <p:spPr bwMode="auto">
          <a:xfrm>
            <a:off x="2211387" y="5710001"/>
            <a:ext cx="3197225" cy="954088"/>
          </a:xfrm>
          <a:prstGeom prst="rect">
            <a:avLst/>
          </a:prstGeom>
          <a:solidFill>
            <a:schemeClr val="accent6">
              <a:lumMod val="40000"/>
              <a:lumOff val="60000"/>
            </a:schemeClr>
          </a:solidFill>
          <a:ln w="9525">
            <a:solidFill>
              <a:schemeClr val="accent1"/>
            </a:solidFill>
            <a:miter lim="800000"/>
            <a:headEnd/>
            <a:tailEnd/>
          </a:ln>
        </p:spPr>
        <p:txBody>
          <a:bodyPr anchor="ctr">
            <a:spAutoFit/>
          </a:bodyPr>
          <a:lstStyle/>
          <a:p>
            <a:pPr algn="ctr" defTabSz="914400">
              <a:defRPr/>
            </a:pPr>
            <a:r>
              <a:rPr lang="zh-CN" altLang="en-US" sz="2800" b="1" dirty="0">
                <a:solidFill>
                  <a:srgbClr val="FF0000"/>
                </a:solidFill>
                <a:latin typeface="Times New Roman" pitchFamily="18" charset="0"/>
                <a:ea typeface="微软雅黑" pitchFamily="34" charset="-122"/>
                <a:cs typeface="Times New Roman" pitchFamily="18" charset="0"/>
              </a:rPr>
              <a:t>红外区</a:t>
            </a:r>
            <a:endParaRPr lang="en-US" altLang="zh-CN" sz="2800" b="1" dirty="0">
              <a:solidFill>
                <a:srgbClr val="FF0000"/>
              </a:solidFill>
              <a:latin typeface="Times New Roman" pitchFamily="18" charset="0"/>
              <a:ea typeface="微软雅黑" pitchFamily="34" charset="-122"/>
              <a:cs typeface="Times New Roman" pitchFamily="18" charset="0"/>
            </a:endParaRPr>
          </a:p>
          <a:p>
            <a:pPr algn="ctr" defTabSz="914400">
              <a:defRPr/>
            </a:pPr>
            <a:r>
              <a:rPr lang="zh-CN" altLang="en-US" sz="2800" b="1" dirty="0">
                <a:solidFill>
                  <a:srgbClr val="FF0000"/>
                </a:solidFill>
                <a:latin typeface="Times New Roman" pitchFamily="18" charset="0"/>
                <a:ea typeface="微软雅黑" pitchFamily="34" charset="-122"/>
                <a:cs typeface="Times New Roman" pitchFamily="18" charset="0"/>
              </a:rPr>
              <a:t> </a:t>
            </a:r>
            <a:r>
              <a:rPr lang="en-US" altLang="zh-CN" sz="2800" b="1" dirty="0">
                <a:solidFill>
                  <a:srgbClr val="FF0000"/>
                </a:solidFill>
                <a:latin typeface="Times New Roman" pitchFamily="18" charset="0"/>
                <a:ea typeface="微软雅黑" pitchFamily="34" charset="-122"/>
                <a:cs typeface="Times New Roman" pitchFamily="18" charset="0"/>
              </a:rPr>
              <a:t>0.78</a:t>
            </a:r>
            <a:r>
              <a:rPr lang="el-GR" altLang="zh-CN" sz="2800" b="1" dirty="0">
                <a:solidFill>
                  <a:srgbClr val="FF0000"/>
                </a:solidFill>
                <a:latin typeface="Times New Roman" pitchFamily="18" charset="0"/>
                <a:ea typeface="微软雅黑" pitchFamily="34" charset="-122"/>
                <a:cs typeface="Times New Roman" pitchFamily="18" charset="0"/>
              </a:rPr>
              <a:t>μ</a:t>
            </a:r>
            <a:r>
              <a:rPr lang="en-US" altLang="zh-CN" sz="2800" b="1" dirty="0">
                <a:solidFill>
                  <a:srgbClr val="FF0000"/>
                </a:solidFill>
                <a:latin typeface="Times New Roman" pitchFamily="18" charset="0"/>
                <a:ea typeface="微软雅黑" pitchFamily="34" charset="-122"/>
                <a:cs typeface="Times New Roman" pitchFamily="18" charset="0"/>
              </a:rPr>
              <a:t>m~1000</a:t>
            </a:r>
            <a:r>
              <a:rPr lang="el-GR" altLang="zh-CN" sz="2800" b="1" dirty="0">
                <a:solidFill>
                  <a:srgbClr val="FF0000"/>
                </a:solidFill>
                <a:latin typeface="Times New Roman" pitchFamily="18" charset="0"/>
                <a:ea typeface="微软雅黑" pitchFamily="34" charset="-122"/>
                <a:cs typeface="Times New Roman" pitchFamily="18" charset="0"/>
              </a:rPr>
              <a:t>μ</a:t>
            </a:r>
            <a:r>
              <a:rPr lang="en-US" altLang="zh-CN" sz="2800" b="1" dirty="0">
                <a:solidFill>
                  <a:srgbClr val="FF0000"/>
                </a:solidFill>
                <a:latin typeface="Times New Roman" pitchFamily="18" charset="0"/>
                <a:ea typeface="微软雅黑" pitchFamily="34" charset="-122"/>
                <a:cs typeface="Times New Roman" pitchFamily="18" charset="0"/>
              </a:rPr>
              <a:t>m</a:t>
            </a:r>
            <a:endParaRPr lang="el-GR" altLang="zh-CN" sz="2800" b="1" dirty="0">
              <a:solidFill>
                <a:srgbClr val="FF0000"/>
              </a:solidFill>
              <a:latin typeface="Times New Roman" pitchFamily="18" charset="0"/>
              <a:ea typeface="微软雅黑" pitchFamily="34" charset="-122"/>
              <a:cs typeface="Times New Roman" pitchFamily="18" charset="0"/>
            </a:endParaRPr>
          </a:p>
        </p:txBody>
      </p:sp>
      <p:sp>
        <p:nvSpPr>
          <p:cNvPr id="20" name="Rectangle 9">
            <a:extLst>
              <a:ext uri="{FF2B5EF4-FFF2-40B4-BE49-F238E27FC236}">
                <a16:creationId xmlns:a16="http://schemas.microsoft.com/office/drawing/2014/main" id="{8C4C4644-4146-407C-B166-388D92310AEE}"/>
              </a:ext>
            </a:extLst>
          </p:cNvPr>
          <p:cNvSpPr>
            <a:spLocks noChangeArrowheads="1"/>
          </p:cNvSpPr>
          <p:nvPr/>
        </p:nvSpPr>
        <p:spPr bwMode="auto">
          <a:xfrm>
            <a:off x="5960127" y="5711858"/>
            <a:ext cx="2816225" cy="955675"/>
          </a:xfrm>
          <a:prstGeom prst="rect">
            <a:avLst/>
          </a:prstGeom>
          <a:solidFill>
            <a:schemeClr val="accent6">
              <a:lumMod val="40000"/>
              <a:lumOff val="60000"/>
            </a:schemeClr>
          </a:solidFill>
          <a:ln w="9525">
            <a:solidFill>
              <a:schemeClr val="accent1"/>
            </a:solidFill>
            <a:miter lim="800000"/>
            <a:headEnd/>
            <a:tailEnd/>
          </a:ln>
        </p:spPr>
        <p:txBody>
          <a:bodyPr anchor="ctr">
            <a:spAutoFit/>
          </a:bodyPr>
          <a:lstStyle/>
          <a:p>
            <a:pPr algn="ctr" defTabSz="914400">
              <a:defRPr/>
            </a:pPr>
            <a:r>
              <a:rPr lang="zh-CN" altLang="en-US" sz="2800" b="1" dirty="0">
                <a:latin typeface="Times New Roman" pitchFamily="18" charset="0"/>
                <a:ea typeface="微软雅黑" pitchFamily="34" charset="-122"/>
                <a:cs typeface="Times New Roman" pitchFamily="18" charset="0"/>
              </a:rPr>
              <a:t>可见光区</a:t>
            </a:r>
            <a:endParaRPr lang="en-US" altLang="zh-CN" sz="2800" b="1" dirty="0">
              <a:latin typeface="Times New Roman" pitchFamily="18" charset="0"/>
              <a:ea typeface="微软雅黑" pitchFamily="34" charset="-122"/>
              <a:cs typeface="Times New Roman" pitchFamily="18" charset="0"/>
            </a:endParaRPr>
          </a:p>
          <a:p>
            <a:pPr algn="ctr" defTabSz="914400">
              <a:defRPr/>
            </a:pPr>
            <a:r>
              <a:rPr lang="en-US" altLang="zh-CN" sz="2800" b="1" dirty="0">
                <a:latin typeface="Times New Roman" pitchFamily="18" charset="0"/>
                <a:ea typeface="微软雅黑" pitchFamily="34" charset="-122"/>
                <a:cs typeface="Times New Roman" pitchFamily="18" charset="0"/>
              </a:rPr>
              <a:t>0.38</a:t>
            </a:r>
            <a:r>
              <a:rPr lang="el-GR" altLang="zh-CN" sz="2800" b="1" dirty="0">
                <a:latin typeface="Times New Roman" pitchFamily="18" charset="0"/>
                <a:ea typeface="微软雅黑" pitchFamily="34" charset="-122"/>
                <a:cs typeface="Times New Roman" pitchFamily="18" charset="0"/>
              </a:rPr>
              <a:t>μ</a:t>
            </a:r>
            <a:r>
              <a:rPr lang="en-US" altLang="zh-CN" sz="2800" b="1" dirty="0">
                <a:latin typeface="Times New Roman" pitchFamily="18" charset="0"/>
                <a:ea typeface="微软雅黑" pitchFamily="34" charset="-122"/>
                <a:cs typeface="Times New Roman" pitchFamily="18" charset="0"/>
              </a:rPr>
              <a:t>m~0.78</a:t>
            </a:r>
            <a:r>
              <a:rPr lang="el-GR" altLang="zh-CN" sz="2800" b="1" dirty="0">
                <a:latin typeface="Times New Roman" pitchFamily="18" charset="0"/>
                <a:ea typeface="微软雅黑" pitchFamily="34" charset="-122"/>
                <a:cs typeface="Times New Roman" pitchFamily="18" charset="0"/>
              </a:rPr>
              <a:t>μ</a:t>
            </a:r>
            <a:r>
              <a:rPr lang="en-US" altLang="zh-CN" sz="2800" b="1" dirty="0">
                <a:latin typeface="Times New Roman" pitchFamily="18" charset="0"/>
                <a:ea typeface="微软雅黑" pitchFamily="34" charset="-122"/>
                <a:cs typeface="Times New Roman" pitchFamily="18" charset="0"/>
              </a:rPr>
              <a:t>m</a:t>
            </a:r>
            <a:endParaRPr lang="el-GR" altLang="zh-CN" sz="2800" b="1" dirty="0">
              <a:latin typeface="Times New Roman" pitchFamily="18" charset="0"/>
              <a:ea typeface="微软雅黑" pitchFamily="34" charset="-122"/>
              <a:cs typeface="Times New Roman" pitchFamily="18" charset="0"/>
            </a:endParaRPr>
          </a:p>
        </p:txBody>
      </p:sp>
      <p:sp>
        <p:nvSpPr>
          <p:cNvPr id="21" name="Rectangle 11">
            <a:extLst>
              <a:ext uri="{FF2B5EF4-FFF2-40B4-BE49-F238E27FC236}">
                <a16:creationId xmlns:a16="http://schemas.microsoft.com/office/drawing/2014/main" id="{C0984516-8BC9-480E-A71E-52B9DF5DD137}"/>
              </a:ext>
            </a:extLst>
          </p:cNvPr>
          <p:cNvSpPr>
            <a:spLocks noChangeArrowheads="1"/>
          </p:cNvSpPr>
          <p:nvPr/>
        </p:nvSpPr>
        <p:spPr bwMode="auto">
          <a:xfrm>
            <a:off x="9205068" y="5711858"/>
            <a:ext cx="2849563" cy="955675"/>
          </a:xfrm>
          <a:prstGeom prst="rect">
            <a:avLst/>
          </a:prstGeom>
          <a:solidFill>
            <a:schemeClr val="accent6">
              <a:lumMod val="40000"/>
              <a:lumOff val="60000"/>
            </a:schemeClr>
          </a:solidFill>
          <a:ln w="9525">
            <a:solidFill>
              <a:schemeClr val="accent1"/>
            </a:solidFill>
            <a:miter lim="800000"/>
            <a:headEnd/>
            <a:tailEnd/>
          </a:ln>
        </p:spPr>
        <p:txBody>
          <a:bodyPr anchor="ctr">
            <a:spAutoFit/>
          </a:bodyPr>
          <a:lstStyle/>
          <a:p>
            <a:pPr algn="ctr" defTabSz="914400">
              <a:defRPr/>
            </a:pPr>
            <a:r>
              <a:rPr lang="zh-CN" altLang="en-US" sz="2800" b="1" dirty="0">
                <a:solidFill>
                  <a:srgbClr val="7030A0"/>
                </a:solidFill>
                <a:latin typeface="Times New Roman" pitchFamily="18" charset="0"/>
                <a:ea typeface="微软雅黑" pitchFamily="34" charset="-122"/>
                <a:cs typeface="Times New Roman" pitchFamily="18" charset="0"/>
              </a:rPr>
              <a:t>紫外区 </a:t>
            </a:r>
            <a:r>
              <a:rPr lang="en-US" altLang="zh-CN" sz="2800" b="1" dirty="0">
                <a:solidFill>
                  <a:srgbClr val="7030A0"/>
                </a:solidFill>
                <a:latin typeface="Times New Roman" pitchFamily="18" charset="0"/>
                <a:ea typeface="微软雅黑" pitchFamily="34" charset="-122"/>
                <a:cs typeface="Times New Roman" pitchFamily="18" charset="0"/>
              </a:rPr>
              <a:t>0.01</a:t>
            </a:r>
            <a:r>
              <a:rPr lang="el-GR" altLang="zh-CN" sz="2800" b="1" dirty="0">
                <a:solidFill>
                  <a:srgbClr val="7030A0"/>
                </a:solidFill>
                <a:latin typeface="Times New Roman" pitchFamily="18" charset="0"/>
                <a:ea typeface="微软雅黑" pitchFamily="34" charset="-122"/>
                <a:cs typeface="Times New Roman" pitchFamily="18" charset="0"/>
              </a:rPr>
              <a:t>μ</a:t>
            </a:r>
            <a:r>
              <a:rPr lang="en-US" altLang="zh-CN" sz="2800" b="1" dirty="0">
                <a:solidFill>
                  <a:srgbClr val="7030A0"/>
                </a:solidFill>
                <a:latin typeface="Times New Roman" pitchFamily="18" charset="0"/>
                <a:ea typeface="微软雅黑" pitchFamily="34" charset="-122"/>
                <a:cs typeface="Times New Roman" pitchFamily="18" charset="0"/>
              </a:rPr>
              <a:t>m~0.38</a:t>
            </a:r>
            <a:r>
              <a:rPr lang="el-GR" altLang="zh-CN" sz="2800" b="1" dirty="0">
                <a:solidFill>
                  <a:srgbClr val="7030A0"/>
                </a:solidFill>
                <a:latin typeface="Times New Roman" pitchFamily="18" charset="0"/>
                <a:ea typeface="微软雅黑" pitchFamily="34" charset="-122"/>
                <a:cs typeface="Times New Roman" pitchFamily="18" charset="0"/>
              </a:rPr>
              <a:t>μ</a:t>
            </a:r>
            <a:r>
              <a:rPr lang="en-US" altLang="zh-CN" sz="2800" b="1" dirty="0">
                <a:solidFill>
                  <a:srgbClr val="7030A0"/>
                </a:solidFill>
                <a:latin typeface="Times New Roman" pitchFamily="18" charset="0"/>
                <a:ea typeface="微软雅黑" pitchFamily="34" charset="-122"/>
                <a:cs typeface="Times New Roman" pitchFamily="18" charset="0"/>
              </a:rPr>
              <a:t>m</a:t>
            </a:r>
            <a:endParaRPr lang="el-GR" altLang="zh-CN" sz="2800" b="1" dirty="0">
              <a:solidFill>
                <a:srgbClr val="7030A0"/>
              </a:solidFill>
              <a:latin typeface="Times New Roman" pitchFamily="18" charset="0"/>
              <a:ea typeface="微软雅黑" pitchFamily="34" charset="-122"/>
              <a:cs typeface="Times New Roman" pitchFamily="18" charset="0"/>
            </a:endParaRPr>
          </a:p>
        </p:txBody>
      </p:sp>
      <p:sp>
        <p:nvSpPr>
          <p:cNvPr id="22"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2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87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ppt_x</p:attrName>
                                        </p:attrNameLst>
                                      </p:cBhvr>
                                      <p:tavLst>
                                        <p:tav tm="0">
                                          <p:val>
                                            <p:strVal val="#ppt_x-#ppt_w/2"/>
                                          </p:val>
                                        </p:tav>
                                        <p:tav tm="100000">
                                          <p:val>
                                            <p:strVal val="#ppt_x"/>
                                          </p:val>
                                        </p:tav>
                                      </p:tavLst>
                                    </p:anim>
                                    <p:anim calcmode="lin" valueType="num">
                                      <p:cBhvr>
                                        <p:cTn id="13" dur="500" fill="hold"/>
                                        <p:tgtEl>
                                          <p:spTgt spid="20"/>
                                        </p:tgtEl>
                                        <p:attrNameLst>
                                          <p:attrName>ppt_y</p:attrName>
                                        </p:attrNameLst>
                                      </p:cBhvr>
                                      <p:tavLst>
                                        <p:tav tm="0">
                                          <p:val>
                                            <p:strVal val="#ppt_y"/>
                                          </p:val>
                                        </p:tav>
                                        <p:tav tm="100000">
                                          <p:val>
                                            <p:strVal val="#ppt_y"/>
                                          </p:val>
                                        </p:tav>
                                      </p:tavLst>
                                    </p:anim>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Horizontal)">
                                      <p:cBhvr>
                                        <p:cTn id="20" dur="500"/>
                                        <p:tgtEl>
                                          <p:spTgt spid="15"/>
                                        </p:tgtEl>
                                      </p:cBhvr>
                                    </p:animEffect>
                                  </p:childTnLst>
                                </p:cTn>
                              </p:par>
                              <p:par>
                                <p:cTn id="21" presetID="16" presetClass="entr" presetSubtype="26"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p:cTn id="28" dur="500" fill="hold"/>
                                        <p:tgtEl>
                                          <p:spTgt spid="19"/>
                                        </p:tgtEl>
                                        <p:attrNameLst>
                                          <p:attrName>ppt_x</p:attrName>
                                        </p:attrNameLst>
                                      </p:cBhvr>
                                      <p:tavLst>
                                        <p:tav tm="0">
                                          <p:val>
                                            <p:strVal val="#ppt_x-#ppt_w/2"/>
                                          </p:val>
                                        </p:tav>
                                        <p:tav tm="100000">
                                          <p:val>
                                            <p:strVal val="#ppt_x"/>
                                          </p:val>
                                        </p:tav>
                                      </p:tavLst>
                                    </p:anim>
                                    <p:anim calcmode="lin" valueType="num">
                                      <p:cBhvr>
                                        <p:cTn id="29" dur="500" fill="hold"/>
                                        <p:tgtEl>
                                          <p:spTgt spid="19"/>
                                        </p:tgtEl>
                                        <p:attrNameLst>
                                          <p:attrName>ppt_y</p:attrName>
                                        </p:attrNameLst>
                                      </p:cBhvr>
                                      <p:tavLst>
                                        <p:tav tm="0">
                                          <p:val>
                                            <p:strVal val="#ppt_y"/>
                                          </p:val>
                                        </p:tav>
                                        <p:tav tm="100000">
                                          <p:val>
                                            <p:strVal val="#ppt_y"/>
                                          </p:val>
                                        </p:tav>
                                      </p:tavLst>
                                    </p:anim>
                                    <p:anim calcmode="lin" valueType="num">
                                      <p:cBhvr>
                                        <p:cTn id="30" dur="500" fill="hold"/>
                                        <p:tgtEl>
                                          <p:spTgt spid="19"/>
                                        </p:tgtEl>
                                        <p:attrNameLst>
                                          <p:attrName>ppt_w</p:attrName>
                                        </p:attrNameLst>
                                      </p:cBhvr>
                                      <p:tavLst>
                                        <p:tav tm="0">
                                          <p:val>
                                            <p:fltVal val="0"/>
                                          </p:val>
                                        </p:tav>
                                        <p:tav tm="100000">
                                          <p:val>
                                            <p:strVal val="#ppt_w"/>
                                          </p:val>
                                        </p:tav>
                                      </p:tavLst>
                                    </p:anim>
                                    <p:anim calcmode="lin" valueType="num">
                                      <p:cBhvr>
                                        <p:cTn id="31"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ox(in)">
                                      <p:cBhvr>
                                        <p:cTn id="36" dur="500"/>
                                        <p:tgtEl>
                                          <p:spTgt spid="17"/>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ox(in)">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ppt_x</p:attrName>
                                        </p:attrNameLst>
                                      </p:cBhvr>
                                      <p:tavLst>
                                        <p:tav tm="0">
                                          <p:val>
                                            <p:strVal val="#ppt_x-#ppt_w/2"/>
                                          </p:val>
                                        </p:tav>
                                        <p:tav tm="100000">
                                          <p:val>
                                            <p:strVal val="#ppt_x"/>
                                          </p:val>
                                        </p:tav>
                                      </p:tavLst>
                                    </p:anim>
                                    <p:anim calcmode="lin" valueType="num">
                                      <p:cBhvr>
                                        <p:cTn id="45" dur="500" fill="hold"/>
                                        <p:tgtEl>
                                          <p:spTgt spid="21"/>
                                        </p:tgtEl>
                                        <p:attrNameLst>
                                          <p:attrName>ppt_y</p:attrName>
                                        </p:attrNameLst>
                                      </p:cBhvr>
                                      <p:tavLst>
                                        <p:tav tm="0">
                                          <p:val>
                                            <p:strVal val="#ppt_y"/>
                                          </p:val>
                                        </p:tav>
                                        <p:tav tm="100000">
                                          <p:val>
                                            <p:strVal val="#ppt_y"/>
                                          </p:val>
                                        </p:tav>
                                      </p:tavLst>
                                    </p:anim>
                                    <p:anim calcmode="lin" valueType="num">
                                      <p:cBhvr>
                                        <p:cTn id="46" dur="500" fill="hold"/>
                                        <p:tgtEl>
                                          <p:spTgt spid="21"/>
                                        </p:tgtEl>
                                        <p:attrNameLst>
                                          <p:attrName>ppt_w</p:attrName>
                                        </p:attrNameLst>
                                      </p:cBhvr>
                                      <p:tavLst>
                                        <p:tav tm="0">
                                          <p:val>
                                            <p:fltVal val="0"/>
                                          </p:val>
                                        </p:tav>
                                        <p:tav tm="100000">
                                          <p:val>
                                            <p:strVal val="#ppt_w"/>
                                          </p:val>
                                        </p:tav>
                                      </p:tavLst>
                                    </p:anim>
                                    <p:anim calcmode="lin" valueType="num">
                                      <p:cBhvr>
                                        <p:cTn id="47"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ox(in)">
                                      <p:cBhvr>
                                        <p:cTn id="52" dur="500"/>
                                        <p:tgtEl>
                                          <p:spTgt spid="13"/>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ox(in)">
                                      <p:cBhvr>
                                        <p:cTn id="5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Text Box 4">
            <a:extLst>
              <a:ext uri="{FF2B5EF4-FFF2-40B4-BE49-F238E27FC236}">
                <a16:creationId xmlns:a16="http://schemas.microsoft.com/office/drawing/2014/main" id="{0D52F845-7C84-439B-A3C2-E042A2DDAF9D}"/>
              </a:ext>
            </a:extLst>
          </p:cNvPr>
          <p:cNvSpPr txBox="1">
            <a:spLocks noChangeArrowheads="1"/>
          </p:cNvSpPr>
          <p:nvPr/>
        </p:nvSpPr>
        <p:spPr bwMode="auto">
          <a:xfrm>
            <a:off x="2820988" y="1244938"/>
            <a:ext cx="7643812" cy="519113"/>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Times New Roman" pitchFamily="18" charset="0"/>
                <a:ea typeface="微软雅黑" pitchFamily="34" charset="-122"/>
                <a:cs typeface="Times New Roman" pitchFamily="18" charset="0"/>
              </a:rPr>
              <a:t>太赫兹波</a:t>
            </a:r>
            <a:r>
              <a:rPr lang="en-US" altLang="zh-CN" sz="2800" b="1" dirty="0">
                <a:latin typeface="Times New Roman" pitchFamily="18" charset="0"/>
                <a:ea typeface="微软雅黑" pitchFamily="34" charset="-122"/>
                <a:cs typeface="Times New Roman" pitchFamily="18" charset="0"/>
              </a:rPr>
              <a:t>0.1~10THz</a:t>
            </a:r>
            <a:r>
              <a:rPr lang="zh-CN" altLang="en-US" sz="2800" b="1" dirty="0">
                <a:latin typeface="Times New Roman" pitchFamily="18" charset="0"/>
                <a:ea typeface="微软雅黑" pitchFamily="34" charset="-122"/>
                <a:cs typeface="Times New Roman" pitchFamily="18" charset="0"/>
              </a:rPr>
              <a:t>或波长</a:t>
            </a:r>
            <a:r>
              <a:rPr lang="en-US" altLang="zh-CN" sz="2800" b="1" dirty="0">
                <a:latin typeface="Times New Roman" pitchFamily="18" charset="0"/>
                <a:ea typeface="微软雅黑" pitchFamily="34" charset="-122"/>
                <a:cs typeface="Times New Roman" pitchFamily="18" charset="0"/>
              </a:rPr>
              <a:t>30</a:t>
            </a:r>
            <a:r>
              <a:rPr lang="el-GR" altLang="zh-CN" sz="2800" b="1" dirty="0">
                <a:latin typeface="Times New Roman" pitchFamily="18" charset="0"/>
                <a:ea typeface="微软雅黑" pitchFamily="34" charset="-122"/>
                <a:cs typeface="Times New Roman" pitchFamily="18" charset="0"/>
              </a:rPr>
              <a:t>μ</a:t>
            </a:r>
            <a:r>
              <a:rPr lang="en-US" altLang="zh-CN" sz="2800" b="1" dirty="0">
                <a:latin typeface="Times New Roman" pitchFamily="18" charset="0"/>
                <a:ea typeface="微软雅黑" pitchFamily="34" charset="-122"/>
                <a:cs typeface="Times New Roman" pitchFamily="18" charset="0"/>
              </a:rPr>
              <a:t>m~3000 </a:t>
            </a:r>
            <a:r>
              <a:rPr lang="el-GR" altLang="zh-CN" sz="2800" b="1" dirty="0">
                <a:latin typeface="Times New Roman" pitchFamily="18" charset="0"/>
                <a:ea typeface="微软雅黑" pitchFamily="34" charset="-122"/>
                <a:cs typeface="Times New Roman" pitchFamily="18" charset="0"/>
              </a:rPr>
              <a:t>μ</a:t>
            </a:r>
            <a:r>
              <a:rPr lang="en-US" altLang="zh-CN" sz="2800" b="1" dirty="0">
                <a:latin typeface="Times New Roman" pitchFamily="18" charset="0"/>
                <a:ea typeface="微软雅黑" pitchFamily="34" charset="-122"/>
                <a:cs typeface="Times New Roman" pitchFamily="18" charset="0"/>
              </a:rPr>
              <a:t> m</a:t>
            </a:r>
            <a:r>
              <a:rPr lang="zh-CN" altLang="en-US" sz="2800" b="1" dirty="0">
                <a:latin typeface="Times New Roman" pitchFamily="18" charset="0"/>
                <a:ea typeface="微软雅黑" pitchFamily="34" charset="-122"/>
                <a:cs typeface="Times New Roman" pitchFamily="18" charset="0"/>
              </a:rPr>
              <a:t>辐射</a:t>
            </a:r>
            <a:endParaRPr lang="zh-CN" altLang="el-GR" sz="2800" b="1" dirty="0">
              <a:latin typeface="Times New Roman" pitchFamily="18" charset="0"/>
              <a:ea typeface="微软雅黑" pitchFamily="34" charset="-122"/>
              <a:cs typeface="Times New Roman" pitchFamily="18" charset="0"/>
            </a:endParaRPr>
          </a:p>
        </p:txBody>
      </p:sp>
      <p:sp>
        <p:nvSpPr>
          <p:cNvPr id="23" name="Text Box 5">
            <a:extLst>
              <a:ext uri="{FF2B5EF4-FFF2-40B4-BE49-F238E27FC236}">
                <a16:creationId xmlns:a16="http://schemas.microsoft.com/office/drawing/2014/main" id="{BFE2779B-EE1F-469E-A9AB-A54A7DB3D96D}"/>
              </a:ext>
            </a:extLst>
          </p:cNvPr>
          <p:cNvSpPr txBox="1">
            <a:spLocks noChangeArrowheads="1"/>
          </p:cNvSpPr>
          <p:nvPr/>
        </p:nvSpPr>
        <p:spPr bwMode="auto">
          <a:xfrm>
            <a:off x="886082" y="1790599"/>
            <a:ext cx="11896928"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微软雅黑" pitchFamily="34" charset="-122"/>
                <a:ea typeface="微软雅黑" pitchFamily="34" charset="-122"/>
              </a:rPr>
              <a:t>太赫兹波正好处于科学技术发展相对较好的微波毫米波与红外线光学之间，其研究处于相对落后的状态。</a:t>
            </a:r>
            <a:endParaRPr lang="zh-CN" altLang="el-GR" sz="2800" b="1" dirty="0">
              <a:latin typeface="微软雅黑" pitchFamily="34" charset="-122"/>
              <a:ea typeface="微软雅黑" pitchFamily="34" charset="-122"/>
              <a:cs typeface="Times New Roman" pitchFamily="18" charset="0"/>
            </a:endParaRPr>
          </a:p>
        </p:txBody>
      </p:sp>
      <p:pic>
        <p:nvPicPr>
          <p:cNvPr id="24" name="Picture 6" descr="R@DU4KDO[3[P45`GA9C[{[7">
            <a:extLst>
              <a:ext uri="{FF2B5EF4-FFF2-40B4-BE49-F238E27FC236}">
                <a16:creationId xmlns:a16="http://schemas.microsoft.com/office/drawing/2014/main" id="{D652389C-B923-46FC-A8D9-9F024885E9C1}"/>
              </a:ext>
            </a:extLst>
          </p:cNvPr>
          <p:cNvPicPr>
            <a:picLocks noChangeAspect="1" noChangeArrowheads="1"/>
          </p:cNvPicPr>
          <p:nvPr/>
        </p:nvPicPr>
        <p:blipFill>
          <a:blip r:embed="rId2"/>
          <a:srcRect/>
          <a:stretch>
            <a:fillRect/>
          </a:stretch>
        </p:blipFill>
        <p:spPr bwMode="auto">
          <a:xfrm>
            <a:off x="2494360" y="3381375"/>
            <a:ext cx="4005262" cy="3408363"/>
          </a:xfrm>
          <a:prstGeom prst="rect">
            <a:avLst/>
          </a:prstGeom>
          <a:noFill/>
          <a:ln w="9525">
            <a:noFill/>
            <a:miter lim="800000"/>
            <a:headEnd/>
            <a:tailEnd/>
          </a:ln>
        </p:spPr>
      </p:pic>
      <p:pic>
        <p:nvPicPr>
          <p:cNvPr id="25" name="Picture 7" descr="{2]T4@F74DMUV%OVEF$YOI7">
            <a:extLst>
              <a:ext uri="{FF2B5EF4-FFF2-40B4-BE49-F238E27FC236}">
                <a16:creationId xmlns:a16="http://schemas.microsoft.com/office/drawing/2014/main" id="{16786861-EA57-4A3F-B4DF-B809316FB243}"/>
              </a:ext>
            </a:extLst>
          </p:cNvPr>
          <p:cNvPicPr>
            <a:picLocks noChangeAspect="1" noChangeArrowheads="1"/>
          </p:cNvPicPr>
          <p:nvPr/>
        </p:nvPicPr>
        <p:blipFill>
          <a:blip r:embed="rId3"/>
          <a:srcRect/>
          <a:stretch>
            <a:fillRect/>
          </a:stretch>
        </p:blipFill>
        <p:spPr bwMode="auto">
          <a:xfrm>
            <a:off x="6494860" y="3452813"/>
            <a:ext cx="4262437" cy="3043237"/>
          </a:xfrm>
          <a:prstGeom prst="rect">
            <a:avLst/>
          </a:prstGeom>
          <a:noFill/>
          <a:ln w="9525">
            <a:noFill/>
            <a:miter lim="800000"/>
            <a:headEnd/>
            <a:tailEnd/>
          </a:ln>
        </p:spPr>
      </p:pic>
      <p:sp>
        <p:nvSpPr>
          <p:cNvPr id="13"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1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531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3" name="Text Box 5">
            <a:extLst>
              <a:ext uri="{FF2B5EF4-FFF2-40B4-BE49-F238E27FC236}">
                <a16:creationId xmlns:a16="http://schemas.microsoft.com/office/drawing/2014/main" id="{10859A6C-4A3D-4FFF-BD74-8CD8379ACF29}"/>
              </a:ext>
            </a:extLst>
          </p:cNvPr>
          <p:cNvSpPr txBox="1">
            <a:spLocks noChangeArrowheads="1"/>
          </p:cNvSpPr>
          <p:nvPr/>
        </p:nvSpPr>
        <p:spPr bwMode="auto">
          <a:xfrm>
            <a:off x="635000" y="2381250"/>
            <a:ext cx="12273604" cy="830997"/>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3200" dirty="0"/>
              <a:t>       </a:t>
            </a:r>
            <a:r>
              <a:rPr lang="zh-CN" altLang="en-US" sz="2800" b="1" u="sng" dirty="0">
                <a:latin typeface="微软雅黑" pitchFamily="34" charset="-122"/>
                <a:ea typeface="微软雅黑" pitchFamily="34" charset="-122"/>
              </a:rPr>
              <a:t>物理思想</a:t>
            </a:r>
            <a:r>
              <a:rPr lang="zh-CN" altLang="en-US" sz="2800" b="1" dirty="0">
                <a:latin typeface="微软雅黑" pitchFamily="34" charset="-122"/>
                <a:ea typeface="微软雅黑" pitchFamily="34" charset="-122"/>
              </a:rPr>
              <a:t>是光的波粒二象性。即光是以电磁波方式传播的粒子</a:t>
            </a:r>
            <a:r>
              <a:rPr lang="zh-CN" altLang="en-US" sz="2800" dirty="0">
                <a:latin typeface="微软雅黑" pitchFamily="34" charset="-122"/>
                <a:ea typeface="微软雅黑" pitchFamily="34" charset="-122"/>
              </a:rPr>
              <a:t>。</a:t>
            </a:r>
          </a:p>
        </p:txBody>
      </p:sp>
      <p:sp>
        <p:nvSpPr>
          <p:cNvPr id="14" name="AutoShape 6">
            <a:extLst>
              <a:ext uri="{FF2B5EF4-FFF2-40B4-BE49-F238E27FC236}">
                <a16:creationId xmlns:a16="http://schemas.microsoft.com/office/drawing/2014/main" id="{9E2DB21C-8D10-4666-AB63-F78CD13C623A}"/>
              </a:ext>
            </a:extLst>
          </p:cNvPr>
          <p:cNvSpPr>
            <a:spLocks noChangeArrowheads="1"/>
          </p:cNvSpPr>
          <p:nvPr/>
        </p:nvSpPr>
        <p:spPr bwMode="auto">
          <a:xfrm>
            <a:off x="706438" y="2595563"/>
            <a:ext cx="684212" cy="574675"/>
          </a:xfrm>
          <a:prstGeom prst="star4">
            <a:avLst>
              <a:gd name="adj" fmla="val 12500"/>
            </a:avLst>
          </a:prstGeom>
          <a:solidFill>
            <a:srgbClr val="FF00FF"/>
          </a:solidFill>
          <a:ln w="9525">
            <a:solidFill>
              <a:schemeClr val="tx1"/>
            </a:solidFill>
            <a:miter lim="800000"/>
            <a:headEnd/>
            <a:tailEnd/>
          </a:ln>
        </p:spPr>
        <p:txBody>
          <a:bodyPr wrap="none" anchor="ctr"/>
          <a:lstStyle/>
          <a:p>
            <a:pPr defTabSz="914400"/>
            <a:endParaRPr lang="zh-CN" altLang="en-US" sz="1800"/>
          </a:p>
        </p:txBody>
      </p:sp>
      <p:sp>
        <p:nvSpPr>
          <p:cNvPr id="15" name="Text Box 7">
            <a:extLst>
              <a:ext uri="{FF2B5EF4-FFF2-40B4-BE49-F238E27FC236}">
                <a16:creationId xmlns:a16="http://schemas.microsoft.com/office/drawing/2014/main" id="{64769ACA-BE3E-4C1B-AC79-54DAC65BD69F}"/>
              </a:ext>
            </a:extLst>
          </p:cNvPr>
          <p:cNvSpPr txBox="1">
            <a:spLocks noChangeArrowheads="1"/>
          </p:cNvSpPr>
          <p:nvPr/>
        </p:nvSpPr>
        <p:spPr bwMode="auto">
          <a:xfrm>
            <a:off x="563562" y="3765550"/>
            <a:ext cx="12345041" cy="1465263"/>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3200" dirty="0"/>
              <a:t>      </a:t>
            </a:r>
            <a:r>
              <a:rPr lang="zh-CN" altLang="en-US" sz="2800" b="1" dirty="0">
                <a:latin typeface="微软雅黑" pitchFamily="34" charset="-122"/>
                <a:ea typeface="微软雅黑" pitchFamily="34" charset="-122"/>
              </a:rPr>
              <a:t>光的本质是物质，它具有粒子性，称为光量子或光子。光子具有动量与能量，并分别表示为</a:t>
            </a:r>
          </a:p>
        </p:txBody>
      </p:sp>
      <p:sp>
        <p:nvSpPr>
          <p:cNvPr id="16" name="AutoShape 8">
            <a:extLst>
              <a:ext uri="{FF2B5EF4-FFF2-40B4-BE49-F238E27FC236}">
                <a16:creationId xmlns:a16="http://schemas.microsoft.com/office/drawing/2014/main" id="{B8B18822-34CA-451D-81E0-AF49C4AE57CA}"/>
              </a:ext>
            </a:extLst>
          </p:cNvPr>
          <p:cNvSpPr>
            <a:spLocks noChangeArrowheads="1"/>
          </p:cNvSpPr>
          <p:nvPr/>
        </p:nvSpPr>
        <p:spPr bwMode="auto">
          <a:xfrm>
            <a:off x="563563" y="3952875"/>
            <a:ext cx="684212" cy="574675"/>
          </a:xfrm>
          <a:prstGeom prst="star4">
            <a:avLst>
              <a:gd name="adj" fmla="val 12500"/>
            </a:avLst>
          </a:prstGeom>
          <a:solidFill>
            <a:srgbClr val="FF00FF"/>
          </a:solidFill>
          <a:ln w="9525">
            <a:solidFill>
              <a:schemeClr val="tx1"/>
            </a:solidFill>
            <a:miter lim="800000"/>
            <a:headEnd/>
            <a:tailEnd/>
          </a:ln>
        </p:spPr>
        <p:txBody>
          <a:bodyPr wrap="none" anchor="ctr"/>
          <a:lstStyle/>
          <a:p>
            <a:pPr defTabSz="914400"/>
            <a:endParaRPr lang="zh-CN" altLang="en-US" sz="1800"/>
          </a:p>
        </p:txBody>
      </p:sp>
      <p:graphicFrame>
        <p:nvGraphicFramePr>
          <p:cNvPr id="17" name="Object 9">
            <a:extLst>
              <a:ext uri="{FF2B5EF4-FFF2-40B4-BE49-F238E27FC236}">
                <a16:creationId xmlns:a16="http://schemas.microsoft.com/office/drawing/2014/main" id="{BF76D549-FADE-486A-9C54-68AC81AB1315}"/>
              </a:ext>
            </a:extLst>
          </p:cNvPr>
          <p:cNvGraphicFramePr>
            <a:graphicFrameLocks noChangeAspect="1"/>
          </p:cNvGraphicFramePr>
          <p:nvPr>
            <p:extLst>
              <p:ext uri="{D42A27DB-BD31-4B8C-83A1-F6EECF244321}">
                <p14:modId xmlns:p14="http://schemas.microsoft.com/office/powerpoint/2010/main" val="154589964"/>
              </p:ext>
            </p:extLst>
          </p:nvPr>
        </p:nvGraphicFramePr>
        <p:xfrm>
          <a:off x="6736082" y="5332987"/>
          <a:ext cx="3824287" cy="1262063"/>
        </p:xfrm>
        <a:graphic>
          <a:graphicData uri="http://schemas.openxmlformats.org/presentationml/2006/ole">
            <mc:AlternateContent xmlns:mc="http://schemas.openxmlformats.org/markup-compatibility/2006">
              <mc:Choice xmlns:v="urn:schemas-microsoft-com:vml" Requires="v">
                <p:oleObj name="公式" r:id="rId2" imgW="1193760" imgH="393480" progId="Equation.3">
                  <p:embed/>
                </p:oleObj>
              </mc:Choice>
              <mc:Fallback>
                <p:oleObj name="公式" r:id="rId2" imgW="1193760" imgH="393480" progId="Equation.3">
                  <p:embed/>
                  <p:pic>
                    <p:nvPicPr>
                      <p:cNvPr id="278537"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6082" y="5332987"/>
                        <a:ext cx="3824287" cy="1262063"/>
                      </a:xfrm>
                      <a:prstGeom prst="rect">
                        <a:avLst/>
                      </a:prstGeom>
                      <a:solidFill>
                        <a:srgbClr val="FFFF00"/>
                      </a:solidFill>
                    </p:spPr>
                  </p:pic>
                </p:oleObj>
              </mc:Fallback>
            </mc:AlternateContent>
          </a:graphicData>
        </a:graphic>
      </p:graphicFrame>
      <p:graphicFrame>
        <p:nvGraphicFramePr>
          <p:cNvPr id="18" name="Object 10">
            <a:extLst>
              <a:ext uri="{FF2B5EF4-FFF2-40B4-BE49-F238E27FC236}">
                <a16:creationId xmlns:a16="http://schemas.microsoft.com/office/drawing/2014/main" id="{E60CCE5F-E190-4FC7-BFD6-2D6DA1631AAF}"/>
              </a:ext>
            </a:extLst>
          </p:cNvPr>
          <p:cNvGraphicFramePr>
            <a:graphicFrameLocks noChangeAspect="1"/>
          </p:cNvGraphicFramePr>
          <p:nvPr>
            <p:extLst>
              <p:ext uri="{D42A27DB-BD31-4B8C-83A1-F6EECF244321}">
                <p14:modId xmlns:p14="http://schemas.microsoft.com/office/powerpoint/2010/main" val="178801176"/>
              </p:ext>
            </p:extLst>
          </p:nvPr>
        </p:nvGraphicFramePr>
        <p:xfrm>
          <a:off x="3552082" y="5462791"/>
          <a:ext cx="1516063" cy="1173162"/>
        </p:xfrm>
        <a:graphic>
          <a:graphicData uri="http://schemas.openxmlformats.org/presentationml/2006/ole">
            <mc:AlternateContent xmlns:mc="http://schemas.openxmlformats.org/markup-compatibility/2006">
              <mc:Choice xmlns:v="urn:schemas-microsoft-com:vml" Requires="v">
                <p:oleObj name="公式" r:id="rId4" imgW="507960" imgH="393480" progId="Equation.3">
                  <p:embed/>
                </p:oleObj>
              </mc:Choice>
              <mc:Fallback>
                <p:oleObj name="公式" r:id="rId4" imgW="507960" imgH="393480" progId="Equation.3">
                  <p:embed/>
                  <p:pic>
                    <p:nvPicPr>
                      <p:cNvPr id="278538"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082" y="5462791"/>
                        <a:ext cx="1516063" cy="1173162"/>
                      </a:xfrm>
                      <a:prstGeom prst="rect">
                        <a:avLst/>
                      </a:prstGeom>
                      <a:solidFill>
                        <a:srgbClr val="FFFF00"/>
                      </a:solidFill>
                    </p:spPr>
                  </p:pic>
                </p:oleObj>
              </mc:Fallback>
            </mc:AlternateContent>
          </a:graphicData>
        </a:graphic>
      </p:graphicFrame>
      <p:sp>
        <p:nvSpPr>
          <p:cNvPr id="19" name="Text Box 16">
            <a:extLst>
              <a:ext uri="{FF2B5EF4-FFF2-40B4-BE49-F238E27FC236}">
                <a16:creationId xmlns:a16="http://schemas.microsoft.com/office/drawing/2014/main" id="{777A9BB6-744C-4107-8AA5-6AFEE8F0B7E6}"/>
              </a:ext>
            </a:extLst>
          </p:cNvPr>
          <p:cNvSpPr txBox="1">
            <a:spLocks noChangeArrowheads="1"/>
          </p:cNvSpPr>
          <p:nvPr/>
        </p:nvSpPr>
        <p:spPr bwMode="auto">
          <a:xfrm>
            <a:off x="4061939" y="1293019"/>
            <a:ext cx="5419725" cy="701675"/>
          </a:xfrm>
          <a:prstGeom prst="rect">
            <a:avLst/>
          </a:prstGeom>
          <a:gradFill>
            <a:gsLst>
              <a:gs pos="0">
                <a:srgbClr val="FFF200"/>
              </a:gs>
              <a:gs pos="45000">
                <a:srgbClr val="FF7A00"/>
              </a:gs>
              <a:gs pos="70000">
                <a:srgbClr val="FF0300"/>
              </a:gs>
              <a:gs pos="100000">
                <a:srgbClr val="4D0808"/>
              </a:gs>
            </a:gsLst>
            <a:lin ang="5400000" scaled="0"/>
          </a:gradFill>
          <a:ln w="9525">
            <a:noFill/>
            <a:miter lim="800000"/>
            <a:headEnd/>
            <a:tailEnd/>
          </a:ln>
          <a:effectLst/>
        </p:spPr>
        <p:txBody>
          <a:bodyPr>
            <a:spAutoFit/>
          </a:bodyPr>
          <a:lstStyle/>
          <a:p>
            <a:pPr algn="ctr" defTabSz="914400">
              <a:spcBef>
                <a:spcPct val="50000"/>
              </a:spcBef>
              <a:defRPr/>
            </a:pPr>
            <a:r>
              <a:rPr lang="zh-CN" altLang="en-US" sz="4000" b="1" dirty="0">
                <a:solidFill>
                  <a:srgbClr val="0000CC"/>
                </a:solidFill>
                <a:effectLst>
                  <a:outerShdw blurRad="38100" dist="38100" dir="2700000" algn="tl">
                    <a:srgbClr val="C0C0C0"/>
                  </a:outerShdw>
                </a:effectLst>
                <a:latin typeface="黑体" pitchFamily="2" charset="-122"/>
                <a:ea typeface="黑体" pitchFamily="2" charset="-122"/>
              </a:rPr>
              <a:t>光的波粒二象性</a:t>
            </a:r>
          </a:p>
        </p:txBody>
      </p:sp>
      <p:sp>
        <p:nvSpPr>
          <p:cNvPr id="20"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21"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90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heel(4)">
                                      <p:cBhvr>
                                        <p:cTn id="14" dur="2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heel(4)">
                                      <p:cBhvr>
                                        <p:cTn id="25" dur="20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1+#ppt_w/2"/>
                                          </p:val>
                                        </p:tav>
                                        <p:tav tm="100000">
                                          <p:val>
                                            <p:strVal val="#ppt_x"/>
                                          </p:val>
                                        </p:tav>
                                      </p:tavLst>
                                    </p:anim>
                                    <p:anim calcmode="lin" valueType="num">
                                      <p:cBhvr additive="base">
                                        <p:cTn id="31"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ox(in)">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ox(in)">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0" name="Text Box 4">
            <a:extLst>
              <a:ext uri="{FF2B5EF4-FFF2-40B4-BE49-F238E27FC236}">
                <a16:creationId xmlns:a16="http://schemas.microsoft.com/office/drawing/2014/main" id="{7DF659AB-1347-47A9-9C24-AA7213FDBE18}"/>
              </a:ext>
            </a:extLst>
          </p:cNvPr>
          <p:cNvSpPr txBox="1">
            <a:spLocks noChangeArrowheads="1"/>
          </p:cNvSpPr>
          <p:nvPr/>
        </p:nvSpPr>
        <p:spPr bwMode="auto">
          <a:xfrm>
            <a:off x="716756" y="1427955"/>
            <a:ext cx="12254149" cy="1465263"/>
          </a:xfrm>
          <a:prstGeom prst="rect">
            <a:avLst/>
          </a:prstGeom>
          <a:noFill/>
          <a:ln w="9525">
            <a:noFill/>
            <a:miter lim="800000"/>
            <a:headEnd/>
            <a:tailEnd/>
          </a:ln>
        </p:spPr>
        <p:txBody>
          <a:bodyPr wrap="square">
            <a:spAutoFit/>
          </a:bodyPr>
          <a:lstStyle/>
          <a:p>
            <a:pPr defTabSz="914400">
              <a:lnSpc>
                <a:spcPct val="150000"/>
              </a:lnSpc>
              <a:spcBef>
                <a:spcPct val="20000"/>
              </a:spcBef>
              <a:buClr>
                <a:schemeClr val="tx2"/>
              </a:buClr>
            </a:pPr>
            <a:r>
              <a:rPr lang="zh-CN" altLang="en-US" sz="3200" dirty="0"/>
              <a:t>      </a:t>
            </a:r>
            <a:r>
              <a:rPr lang="zh-CN" altLang="en-US" sz="2800" b="1" dirty="0">
                <a:latin typeface="微软雅黑" pitchFamily="34" charset="-122"/>
                <a:ea typeface="微软雅黑" pitchFamily="34" charset="-122"/>
              </a:rPr>
              <a:t>光的量子性成功地解释了光与物质作用时引起的光电效应，而光电效应又充分证明了光的量子性。</a:t>
            </a:r>
          </a:p>
        </p:txBody>
      </p:sp>
      <p:sp>
        <p:nvSpPr>
          <p:cNvPr id="21" name="AutoShape 5">
            <a:extLst>
              <a:ext uri="{FF2B5EF4-FFF2-40B4-BE49-F238E27FC236}">
                <a16:creationId xmlns:a16="http://schemas.microsoft.com/office/drawing/2014/main" id="{2E2FA48A-19C5-4D1A-89B8-32B3C160969B}"/>
              </a:ext>
            </a:extLst>
          </p:cNvPr>
          <p:cNvSpPr>
            <a:spLocks noChangeArrowheads="1"/>
          </p:cNvSpPr>
          <p:nvPr/>
        </p:nvSpPr>
        <p:spPr bwMode="auto">
          <a:xfrm>
            <a:off x="843757" y="1467911"/>
            <a:ext cx="684212" cy="574675"/>
          </a:xfrm>
          <a:prstGeom prst="star4">
            <a:avLst>
              <a:gd name="adj" fmla="val 12500"/>
            </a:avLst>
          </a:prstGeom>
          <a:solidFill>
            <a:srgbClr val="FF00FF"/>
          </a:solidFill>
          <a:ln w="9525">
            <a:solidFill>
              <a:schemeClr val="tx1"/>
            </a:solidFill>
            <a:miter lim="800000"/>
            <a:headEnd/>
            <a:tailEnd/>
          </a:ln>
        </p:spPr>
        <p:txBody>
          <a:bodyPr wrap="none" anchor="ctr"/>
          <a:lstStyle/>
          <a:p>
            <a:pPr defTabSz="914400"/>
            <a:endParaRPr lang="zh-CN" altLang="en-US" sz="1800"/>
          </a:p>
        </p:txBody>
      </p:sp>
      <p:sp>
        <p:nvSpPr>
          <p:cNvPr id="22" name="Rectangle 6">
            <a:extLst>
              <a:ext uri="{FF2B5EF4-FFF2-40B4-BE49-F238E27FC236}">
                <a16:creationId xmlns:a16="http://schemas.microsoft.com/office/drawing/2014/main" id="{1DF9712E-67A1-4FC5-9EEA-C800EB4299BA}"/>
              </a:ext>
            </a:extLst>
          </p:cNvPr>
          <p:cNvSpPr>
            <a:spLocks noChangeArrowheads="1"/>
          </p:cNvSpPr>
          <p:nvPr/>
        </p:nvSpPr>
        <p:spPr bwMode="auto">
          <a:xfrm>
            <a:off x="4833261" y="3277748"/>
            <a:ext cx="3857625" cy="519113"/>
          </a:xfrm>
          <a:prstGeom prst="rect">
            <a:avLst/>
          </a:prstGeom>
          <a:solidFill>
            <a:schemeClr val="accent6">
              <a:lumMod val="60000"/>
              <a:lumOff val="40000"/>
            </a:schemeClr>
          </a:solidFill>
          <a:ln w="9525">
            <a:noFill/>
            <a:miter lim="800000"/>
            <a:headEnd/>
            <a:tailEnd/>
          </a:ln>
        </p:spPr>
        <p:txBody>
          <a:bodyPr anchor="ctr">
            <a:spAutoFit/>
          </a:bodyPr>
          <a:lstStyle/>
          <a:p>
            <a:pPr algn="ctr" defTabSz="914400">
              <a:defRPr/>
            </a:pPr>
            <a:r>
              <a:rPr lang="zh-CN" altLang="en-US" sz="2800" b="1" dirty="0">
                <a:latin typeface="Times New Roman" pitchFamily="18" charset="0"/>
                <a:ea typeface="微软雅黑" pitchFamily="34" charset="-122"/>
                <a:cs typeface="Times New Roman" pitchFamily="18" charset="0"/>
              </a:rPr>
              <a:t>可见光</a:t>
            </a:r>
            <a:r>
              <a:rPr lang="en-US" altLang="zh-CN" sz="2800" b="1" dirty="0">
                <a:latin typeface="Times New Roman" pitchFamily="18" charset="0"/>
                <a:ea typeface="微软雅黑" pitchFamily="34" charset="-122"/>
                <a:cs typeface="Times New Roman" pitchFamily="18" charset="0"/>
              </a:rPr>
              <a:t>(0.38~0.78um)</a:t>
            </a:r>
            <a:endParaRPr lang="en-US" altLang="zh-CN" sz="2800" b="1" dirty="0">
              <a:solidFill>
                <a:srgbClr val="FFFF00"/>
              </a:solidFill>
              <a:latin typeface="Times New Roman" pitchFamily="18" charset="0"/>
              <a:ea typeface="微软雅黑" pitchFamily="34" charset="-122"/>
              <a:cs typeface="Times New Roman" pitchFamily="18" charset="0"/>
            </a:endParaRPr>
          </a:p>
        </p:txBody>
      </p:sp>
      <p:sp>
        <p:nvSpPr>
          <p:cNvPr id="23" name="Rectangle 7">
            <a:extLst>
              <a:ext uri="{FF2B5EF4-FFF2-40B4-BE49-F238E27FC236}">
                <a16:creationId xmlns:a16="http://schemas.microsoft.com/office/drawing/2014/main" id="{ACF407BD-09F6-4734-BE93-1B7259CD9EDA}"/>
              </a:ext>
            </a:extLst>
          </p:cNvPr>
          <p:cNvSpPr>
            <a:spLocks noChangeArrowheads="1"/>
          </p:cNvSpPr>
          <p:nvPr/>
        </p:nvSpPr>
        <p:spPr bwMode="auto">
          <a:xfrm>
            <a:off x="4204800" y="5137149"/>
            <a:ext cx="5178425" cy="519113"/>
          </a:xfrm>
          <a:prstGeom prst="rect">
            <a:avLst/>
          </a:prstGeom>
          <a:solidFill>
            <a:srgbClr val="3333FF"/>
          </a:solidFill>
          <a:ln w="9525">
            <a:noFill/>
            <a:miter lim="800000"/>
            <a:headEnd/>
            <a:tailEnd/>
          </a:ln>
        </p:spPr>
        <p:txBody>
          <a:bodyPr anchor="ctr">
            <a:spAutoFit/>
          </a:bodyPr>
          <a:lstStyle/>
          <a:p>
            <a:pPr algn="ctr" defTabSz="914400"/>
            <a:r>
              <a:rPr lang="zh-CN" altLang="en-US" sz="2800" b="1">
                <a:solidFill>
                  <a:schemeClr val="bg1"/>
                </a:solidFill>
                <a:latin typeface="微软雅黑" pitchFamily="34" charset="-122"/>
                <a:ea typeface="微软雅黑" pitchFamily="34" charset="-122"/>
              </a:rPr>
              <a:t>太赫兹波</a:t>
            </a:r>
            <a:r>
              <a:rPr lang="en-US" altLang="zh-CN" sz="2800" b="1">
                <a:solidFill>
                  <a:schemeClr val="bg1"/>
                </a:solidFill>
                <a:latin typeface="微软雅黑" pitchFamily="34" charset="-122"/>
                <a:ea typeface="微软雅黑" pitchFamily="34" charset="-122"/>
              </a:rPr>
              <a:t>(30</a:t>
            </a:r>
            <a:r>
              <a:rPr lang="zh-CN" altLang="en-US" sz="2800" b="1">
                <a:solidFill>
                  <a:schemeClr val="bg1"/>
                </a:solidFill>
                <a:latin typeface="微软雅黑" pitchFamily="34" charset="-122"/>
                <a:ea typeface="微软雅黑" pitchFamily="34" charset="-122"/>
              </a:rPr>
              <a:t>～</a:t>
            </a:r>
            <a:r>
              <a:rPr lang="en-US" altLang="zh-CN" sz="2800" b="1">
                <a:solidFill>
                  <a:schemeClr val="bg1"/>
                </a:solidFill>
                <a:latin typeface="微软雅黑" pitchFamily="34" charset="-122"/>
                <a:ea typeface="微软雅黑" pitchFamily="34" charset="-122"/>
              </a:rPr>
              <a:t>3000</a:t>
            </a:r>
            <a:r>
              <a:rPr lang="el-GR" altLang="zh-CN" sz="2800" b="1">
                <a:solidFill>
                  <a:schemeClr val="bg1"/>
                </a:solidFill>
                <a:latin typeface="微软雅黑" pitchFamily="34" charset="-122"/>
                <a:ea typeface="微软雅黑" pitchFamily="34" charset="-122"/>
                <a:cs typeface="Arial" pitchFamily="34" charset="0"/>
              </a:rPr>
              <a:t>μ</a:t>
            </a:r>
            <a:r>
              <a:rPr lang="en-US" altLang="zh-CN" sz="2800" b="1">
                <a:solidFill>
                  <a:schemeClr val="bg1"/>
                </a:solidFill>
                <a:latin typeface="微软雅黑" pitchFamily="34" charset="-122"/>
                <a:ea typeface="微软雅黑" pitchFamily="34" charset="-122"/>
                <a:cs typeface="Arial" pitchFamily="34" charset="0"/>
              </a:rPr>
              <a:t>m)</a:t>
            </a:r>
            <a:endParaRPr lang="el-GR" altLang="zh-CN" sz="2800" b="1">
              <a:solidFill>
                <a:schemeClr val="bg1"/>
              </a:solidFill>
              <a:latin typeface="微软雅黑" pitchFamily="34" charset="-122"/>
              <a:ea typeface="微软雅黑" pitchFamily="34" charset="-122"/>
              <a:cs typeface="Arial" pitchFamily="34" charset="0"/>
            </a:endParaRPr>
          </a:p>
        </p:txBody>
      </p:sp>
      <p:sp>
        <p:nvSpPr>
          <p:cNvPr id="24" name="Rectangle 8">
            <a:extLst>
              <a:ext uri="{FF2B5EF4-FFF2-40B4-BE49-F238E27FC236}">
                <a16:creationId xmlns:a16="http://schemas.microsoft.com/office/drawing/2014/main" id="{63E58AC5-DA0D-4D80-96FC-1733DF372CED}"/>
              </a:ext>
            </a:extLst>
          </p:cNvPr>
          <p:cNvSpPr>
            <a:spLocks noChangeArrowheads="1"/>
          </p:cNvSpPr>
          <p:nvPr/>
        </p:nvSpPr>
        <p:spPr bwMode="auto">
          <a:xfrm>
            <a:off x="4833261" y="6040792"/>
            <a:ext cx="3595687" cy="519112"/>
          </a:xfrm>
          <a:prstGeom prst="rect">
            <a:avLst/>
          </a:prstGeom>
          <a:noFill/>
          <a:ln w="9525">
            <a:noFill/>
            <a:miter lim="800000"/>
            <a:headEnd/>
            <a:tailEnd/>
          </a:ln>
        </p:spPr>
        <p:txBody>
          <a:bodyPr wrap="none" anchor="ctr">
            <a:spAutoFit/>
          </a:bodyPr>
          <a:lstStyle/>
          <a:p>
            <a:pPr defTabSz="914400"/>
            <a:r>
              <a:rPr lang="zh-CN" altLang="en-US" sz="2800" b="1" dirty="0">
                <a:latin typeface="微软雅黑" pitchFamily="34" charset="-122"/>
                <a:ea typeface="微软雅黑" pitchFamily="34" charset="-122"/>
                <a:cs typeface="Times New Roman" pitchFamily="18" charset="0"/>
              </a:rPr>
              <a:t>能量范围为？～？</a:t>
            </a:r>
            <a:r>
              <a:rPr lang="en-US" altLang="zh-CN" sz="2800" b="1" dirty="0">
                <a:latin typeface="微软雅黑" pitchFamily="34" charset="-122"/>
                <a:ea typeface="微软雅黑" pitchFamily="34" charset="-122"/>
                <a:cs typeface="Times New Roman" pitchFamily="18" charset="0"/>
              </a:rPr>
              <a:t>eV</a:t>
            </a:r>
            <a:r>
              <a:rPr lang="en-US" altLang="zh-CN" sz="2800" b="1" dirty="0">
                <a:solidFill>
                  <a:schemeClr val="bg1"/>
                </a:solidFill>
                <a:latin typeface="微软雅黑" pitchFamily="34" charset="-122"/>
                <a:ea typeface="微软雅黑" pitchFamily="34" charset="-122"/>
                <a:cs typeface="Times New Roman" pitchFamily="18" charset="0"/>
              </a:rPr>
              <a:t> </a:t>
            </a:r>
          </a:p>
        </p:txBody>
      </p:sp>
      <p:sp>
        <p:nvSpPr>
          <p:cNvPr id="25" name="Text Box 9">
            <a:extLst>
              <a:ext uri="{FF2B5EF4-FFF2-40B4-BE49-F238E27FC236}">
                <a16:creationId xmlns:a16="http://schemas.microsoft.com/office/drawing/2014/main" id="{40B29AF1-7DF5-4312-9FAC-DA57DE394B31}"/>
              </a:ext>
            </a:extLst>
          </p:cNvPr>
          <p:cNvSpPr txBox="1">
            <a:spLocks noChangeArrowheads="1"/>
          </p:cNvSpPr>
          <p:nvPr/>
        </p:nvSpPr>
        <p:spPr bwMode="auto">
          <a:xfrm>
            <a:off x="4387999" y="4207449"/>
            <a:ext cx="4748147" cy="519112"/>
          </a:xfrm>
          <a:prstGeom prst="rect">
            <a:avLst/>
          </a:prstGeom>
          <a:noFill/>
          <a:ln w="9525">
            <a:noFill/>
            <a:miter lim="800000"/>
            <a:headEnd/>
            <a:tailEnd/>
          </a:ln>
        </p:spPr>
        <p:txBody>
          <a:bodyPr wrap="square">
            <a:spAutoFit/>
          </a:bodyPr>
          <a:lstStyle/>
          <a:p>
            <a:pPr defTabSz="914400">
              <a:spcBef>
                <a:spcPct val="50000"/>
              </a:spcBef>
            </a:pPr>
            <a:r>
              <a:rPr lang="zh-CN" altLang="en-US" sz="2800" b="1" dirty="0">
                <a:latin typeface="Times New Roman" pitchFamily="18" charset="0"/>
                <a:ea typeface="微软雅黑" pitchFamily="34" charset="-122"/>
                <a:cs typeface="Times New Roman" pitchFamily="18" charset="0"/>
              </a:rPr>
              <a:t>光子的能量范围为</a:t>
            </a:r>
            <a:r>
              <a:rPr lang="en-US" altLang="zh-CN" sz="2800" b="1" dirty="0">
                <a:latin typeface="Times New Roman" pitchFamily="18" charset="0"/>
                <a:ea typeface="微软雅黑" pitchFamily="34" charset="-122"/>
                <a:cs typeface="Times New Roman" pitchFamily="18" charset="0"/>
              </a:rPr>
              <a:t>3.2</a:t>
            </a:r>
            <a:r>
              <a:rPr lang="zh-CN" altLang="en-US" sz="2800" b="1" dirty="0">
                <a:latin typeface="Times New Roman" pitchFamily="18" charset="0"/>
                <a:ea typeface="微软雅黑" pitchFamily="34" charset="-122"/>
                <a:cs typeface="Times New Roman" pitchFamily="18" charset="0"/>
              </a:rPr>
              <a:t>～</a:t>
            </a:r>
            <a:r>
              <a:rPr lang="en-US" altLang="zh-CN" sz="2800" b="1" dirty="0">
                <a:latin typeface="Times New Roman" pitchFamily="18" charset="0"/>
                <a:ea typeface="微软雅黑" pitchFamily="34" charset="-122"/>
                <a:cs typeface="Times New Roman" pitchFamily="18" charset="0"/>
              </a:rPr>
              <a:t>1.6eV</a:t>
            </a:r>
            <a:endParaRPr lang="zh-CN" altLang="en-US" sz="2800" b="1" dirty="0">
              <a:latin typeface="Times New Roman" pitchFamily="18" charset="0"/>
              <a:ea typeface="微软雅黑" pitchFamily="34" charset="-122"/>
              <a:cs typeface="Times New Roman" pitchFamily="18" charset="0"/>
            </a:endParaRPr>
          </a:p>
        </p:txBody>
      </p:sp>
      <p:sp>
        <p:nvSpPr>
          <p:cNvPr id="15"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16"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56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4)">
                                      <p:cBhvr>
                                        <p:cTn id="7" dur="2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1+#ppt_w/2"/>
                                          </p:val>
                                        </p:tav>
                                        <p:tav tm="100000">
                                          <p:val>
                                            <p:strVal val="#ppt_x"/>
                                          </p:val>
                                        </p:tav>
                                      </p:tavLst>
                                    </p:anim>
                                    <p:anim calcmode="lin" valueType="num">
                                      <p:cBhvr additive="base">
                                        <p:cTn id="13"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2"/>
                                        </p:tgtEl>
                                        <p:attrNameLst>
                                          <p:attrName>style.visibility</p:attrName>
                                        </p:attrNameLst>
                                      </p:cBhvr>
                                      <p:to>
                                        <p:strVal val="visible"/>
                                      </p:to>
                                    </p:set>
                                    <p:anim calcmode="discrete" valueType="clr">
                                      <p:cBhvr override="childStyle">
                                        <p:cTn id="18" dur="80"/>
                                        <p:tgtEl>
                                          <p:spTgt spid="22"/>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2"/>
                                        </p:tgtEl>
                                        <p:attrNameLst>
                                          <p:attrName>fillcolor</p:attrName>
                                        </p:attrNameLst>
                                      </p:cBhvr>
                                      <p:tavLst>
                                        <p:tav tm="0">
                                          <p:val>
                                            <p:clrVal>
                                              <a:schemeClr val="accent2"/>
                                            </p:clrVal>
                                          </p:val>
                                        </p:tav>
                                        <p:tav tm="50000">
                                          <p:val>
                                            <p:clrVal>
                                              <a:schemeClr val="hlink"/>
                                            </p:clrVal>
                                          </p:val>
                                        </p:tav>
                                      </p:tavLst>
                                    </p:anim>
                                    <p:set>
                                      <p:cBhvr>
                                        <p:cTn id="20" dur="80"/>
                                        <p:tgtEl>
                                          <p:spTgt spid="22"/>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ox(in)">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500" fill="hold"/>
                                        <p:tgtEl>
                                          <p:spTgt spid="23"/>
                                        </p:tgtEl>
                                        <p:attrNameLst>
                                          <p:attrName>ppt_x</p:attrName>
                                        </p:attrNameLst>
                                      </p:cBhvr>
                                      <p:tavLst>
                                        <p:tav tm="0">
                                          <p:val>
                                            <p:strVal val="0-#ppt_w/2"/>
                                          </p:val>
                                        </p:tav>
                                        <p:tav tm="100000">
                                          <p:val>
                                            <p:strVal val="#ppt_x"/>
                                          </p:val>
                                        </p:tav>
                                      </p:tavLst>
                                    </p:anim>
                                    <p:anim calcmode="lin" valueType="num">
                                      <p:cBhvr additive="base">
                                        <p:cTn id="3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24"/>
                                        </p:tgtEl>
                                        <p:attrNameLst>
                                          <p:attrName>style.visibility</p:attrName>
                                        </p:attrNameLst>
                                      </p:cBhvr>
                                      <p:to>
                                        <p:strVal val="visible"/>
                                      </p:to>
                                    </p:set>
                                    <p:anim calcmode="discrete" valueType="clr">
                                      <p:cBhvr override="childStyle">
                                        <p:cTn id="36" dur="80"/>
                                        <p:tgtEl>
                                          <p:spTgt spid="24"/>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24"/>
                                        </p:tgtEl>
                                        <p:attrNameLst>
                                          <p:attrName>fillcolor</p:attrName>
                                        </p:attrNameLst>
                                      </p:cBhvr>
                                      <p:tavLst>
                                        <p:tav tm="0">
                                          <p:val>
                                            <p:clrVal>
                                              <a:schemeClr val="accent2"/>
                                            </p:clrVal>
                                          </p:val>
                                        </p:tav>
                                        <p:tav tm="50000">
                                          <p:val>
                                            <p:clrVal>
                                              <a:schemeClr val="hlink"/>
                                            </p:clrVal>
                                          </p:val>
                                        </p:tav>
                                      </p:tavLst>
                                    </p:anim>
                                    <p:set>
                                      <p:cBhvr>
                                        <p:cTn id="38" dur="80"/>
                                        <p:tgtEl>
                                          <p:spTgt spid="2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animBg="1"/>
      <p:bldP spid="23" grpId="0" animBg="1"/>
      <p:bldP spid="24"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5" name="组合 14">
            <a:extLst>
              <a:ext uri="{FF2B5EF4-FFF2-40B4-BE49-F238E27FC236}">
                <a16:creationId xmlns:a16="http://schemas.microsoft.com/office/drawing/2014/main" id="{F5635AD9-CD4F-424F-AF0C-6B9CBC05F5F3}"/>
              </a:ext>
            </a:extLst>
          </p:cNvPr>
          <p:cNvGrpSpPr/>
          <p:nvPr/>
        </p:nvGrpSpPr>
        <p:grpSpPr>
          <a:xfrm>
            <a:off x="9779157" y="2726753"/>
            <a:ext cx="2694560" cy="3848403"/>
            <a:chOff x="7612427" y="2349066"/>
            <a:chExt cx="2694560" cy="3848403"/>
          </a:xfrm>
        </p:grpSpPr>
        <p:cxnSp>
          <p:nvCxnSpPr>
            <p:cNvPr id="16" name="直接连接符 15">
              <a:extLst>
                <a:ext uri="{FF2B5EF4-FFF2-40B4-BE49-F238E27FC236}">
                  <a16:creationId xmlns:a16="http://schemas.microsoft.com/office/drawing/2014/main" id="{7DEFB4BC-AD43-49A3-B6D6-B62030D88618}"/>
                </a:ext>
              </a:extLst>
            </p:cNvPr>
            <p:cNvCxnSpPr/>
            <p:nvPr/>
          </p:nvCxnSpPr>
          <p:spPr>
            <a:xfrm>
              <a:off x="7612427" y="2349066"/>
              <a:ext cx="1269518" cy="3848403"/>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CDF98341-4685-452F-A320-59354C8B92B5}"/>
                </a:ext>
              </a:extLst>
            </p:cNvPr>
            <p:cNvCxnSpPr/>
            <p:nvPr/>
          </p:nvCxnSpPr>
          <p:spPr>
            <a:xfrm flipH="1">
              <a:off x="8878239" y="2417570"/>
              <a:ext cx="1428748" cy="3779899"/>
            </a:xfrm>
            <a:prstGeom prst="line">
              <a:avLst/>
            </a:prstGeom>
            <a:ln w="31750">
              <a:solidFill>
                <a:srgbClr val="0000CC"/>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10303955-F3CD-4330-A3CD-FB07173BB5B1}"/>
              </a:ext>
            </a:extLst>
          </p:cNvPr>
          <p:cNvGrpSpPr/>
          <p:nvPr/>
        </p:nvGrpSpPr>
        <p:grpSpPr>
          <a:xfrm>
            <a:off x="9501518" y="2076447"/>
            <a:ext cx="3358811" cy="3159908"/>
            <a:chOff x="6553619" y="715935"/>
            <a:chExt cx="3358811" cy="3159908"/>
          </a:xfrm>
        </p:grpSpPr>
        <p:grpSp>
          <p:nvGrpSpPr>
            <p:cNvPr id="19" name="组合 18">
              <a:extLst>
                <a:ext uri="{FF2B5EF4-FFF2-40B4-BE49-F238E27FC236}">
                  <a16:creationId xmlns:a16="http://schemas.microsoft.com/office/drawing/2014/main" id="{6425115E-C143-4C98-80FA-8ED6AA3E6E88}"/>
                </a:ext>
              </a:extLst>
            </p:cNvPr>
            <p:cNvGrpSpPr/>
            <p:nvPr/>
          </p:nvGrpSpPr>
          <p:grpSpPr>
            <a:xfrm>
              <a:off x="6827103" y="1102560"/>
              <a:ext cx="2717022" cy="545532"/>
              <a:chOff x="6792870" y="2125094"/>
              <a:chExt cx="2717022" cy="545532"/>
            </a:xfrm>
          </p:grpSpPr>
          <p:sp>
            <p:nvSpPr>
              <p:cNvPr id="28" name="椭圆 27">
                <a:extLst>
                  <a:ext uri="{FF2B5EF4-FFF2-40B4-BE49-F238E27FC236}">
                    <a16:creationId xmlns:a16="http://schemas.microsoft.com/office/drawing/2014/main" id="{C1E54D4C-F159-4FAA-A75E-DF29434880F6}"/>
                  </a:ext>
                </a:extLst>
              </p:cNvPr>
              <p:cNvSpPr/>
              <p:nvPr/>
            </p:nvSpPr>
            <p:spPr>
              <a:xfrm rot="16200000">
                <a:off x="7905605" y="1081679"/>
                <a:ext cx="498830" cy="2679063"/>
              </a:xfrm>
              <a:prstGeom prst="ellipse">
                <a:avLst/>
              </a:prstGeom>
              <a:noFill/>
              <a:ln w="3175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2F860A3-D019-4A98-9CE9-7DA669241DAC}"/>
                  </a:ext>
                </a:extLst>
              </p:cNvPr>
              <p:cNvSpPr/>
              <p:nvPr/>
            </p:nvSpPr>
            <p:spPr>
              <a:xfrm>
                <a:off x="6792870" y="2125094"/>
                <a:ext cx="2717022" cy="2854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椭圆 25">
              <a:extLst>
                <a:ext uri="{FF2B5EF4-FFF2-40B4-BE49-F238E27FC236}">
                  <a16:creationId xmlns:a16="http://schemas.microsoft.com/office/drawing/2014/main" id="{89717472-047B-4424-853B-44FE137D086F}"/>
                </a:ext>
              </a:extLst>
            </p:cNvPr>
            <p:cNvSpPr/>
            <p:nvPr/>
          </p:nvSpPr>
          <p:spPr>
            <a:xfrm rot="16200000">
              <a:off x="7936199" y="59797"/>
              <a:ext cx="498830" cy="2679063"/>
            </a:xfrm>
            <a:prstGeom prst="ellipse">
              <a:avLst/>
            </a:prstGeom>
            <a:noFill/>
            <a:ln w="317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弧形 26">
              <a:extLst>
                <a:ext uri="{FF2B5EF4-FFF2-40B4-BE49-F238E27FC236}">
                  <a16:creationId xmlns:a16="http://schemas.microsoft.com/office/drawing/2014/main" id="{FE79A38E-1254-4761-85F7-954C4384FF91}"/>
                </a:ext>
              </a:extLst>
            </p:cNvPr>
            <p:cNvSpPr/>
            <p:nvPr/>
          </p:nvSpPr>
          <p:spPr>
            <a:xfrm rot="18686193">
              <a:off x="6653071" y="616483"/>
              <a:ext cx="3159908" cy="3358811"/>
            </a:xfrm>
            <a:prstGeom prst="arc">
              <a:avLst>
                <a:gd name="adj1" fmla="val 15733210"/>
                <a:gd name="adj2" fmla="val 788559"/>
              </a:avLst>
            </a:prstGeom>
            <a:ln w="3175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0" name="椭圆 29">
            <a:extLst>
              <a:ext uri="{FF2B5EF4-FFF2-40B4-BE49-F238E27FC236}">
                <a16:creationId xmlns:a16="http://schemas.microsoft.com/office/drawing/2014/main" id="{E7E5CFBC-EAC1-4DD3-984D-D72CED78EF0A}"/>
              </a:ext>
            </a:extLst>
          </p:cNvPr>
          <p:cNvSpPr/>
          <p:nvPr/>
        </p:nvSpPr>
        <p:spPr>
          <a:xfrm>
            <a:off x="10787239" y="5654555"/>
            <a:ext cx="554804" cy="174040"/>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DA837954-51DF-4F0A-8D96-40C2F545B384}"/>
              </a:ext>
            </a:extLst>
          </p:cNvPr>
          <p:cNvSpPr txBox="1"/>
          <p:nvPr/>
        </p:nvSpPr>
        <p:spPr>
          <a:xfrm>
            <a:off x="10873123" y="5186072"/>
            <a:ext cx="534256" cy="369332"/>
          </a:xfrm>
          <a:prstGeom prst="rect">
            <a:avLst/>
          </a:prstGeom>
          <a:noFill/>
        </p:spPr>
        <p:txBody>
          <a:bodyPr wrap="square" lIns="0" tIns="0" rIns="0" bIns="0"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d</a:t>
            </a:r>
            <a:r>
              <a:rPr lang="el-GR"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Ω</a:t>
            </a:r>
            <a:endParaRPr lang="zh-CN" altLang="en-US" sz="2400" b="1" i="1" dirty="0">
              <a:solidFill>
                <a:srgbClr val="FF0000"/>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A5033167-1A39-4636-96C0-01539BAD86F1}"/>
              </a:ext>
            </a:extLst>
          </p:cNvPr>
          <p:cNvSpPr txBox="1"/>
          <p:nvPr/>
        </p:nvSpPr>
        <p:spPr>
          <a:xfrm>
            <a:off x="11408435" y="1478153"/>
            <a:ext cx="1366311" cy="738664"/>
          </a:xfrm>
          <a:prstGeom prst="rect">
            <a:avLst/>
          </a:prstGeom>
          <a:noFill/>
        </p:spPr>
        <p:txBody>
          <a:bodyPr wrap="square" lIns="0" tIns="0" rIns="0" bIns="0" rtlCol="0">
            <a:spAutoFit/>
          </a:bodyPr>
          <a:lstStyle/>
          <a:p>
            <a:pPr algn="ctr"/>
            <a:r>
              <a:rPr lang="zh-CN" altLang="en-US" sz="2400" b="1" dirty="0">
                <a:solidFill>
                  <a:srgbClr val="FF0000"/>
                </a:solidFill>
                <a:latin typeface="Times New Roman" panose="02020603050405020304" pitchFamily="18" charset="0"/>
                <a:cs typeface="Times New Roman" panose="02020603050405020304" pitchFamily="18" charset="0"/>
              </a:rPr>
              <a:t>球冠面积</a:t>
            </a:r>
            <a:r>
              <a:rPr lang="en-US" altLang="zh-CN" sz="2400" b="1" dirty="0" err="1">
                <a:solidFill>
                  <a:srgbClr val="FF0000"/>
                </a:solidFill>
                <a:latin typeface="Times New Roman" panose="02020603050405020304" pitchFamily="18" charset="0"/>
                <a:cs typeface="Times New Roman" panose="02020603050405020304" pitchFamily="18" charset="0"/>
              </a:rPr>
              <a:t>d</a:t>
            </a:r>
            <a:r>
              <a:rPr lang="en-US" altLang="zh-CN" sz="2400" b="1"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2400" b="1" i="1" dirty="0">
              <a:solidFill>
                <a:srgbClr val="FF0000"/>
              </a:solidFill>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4AFFB5CF-9867-49CA-94D6-4CC1D7B267CA}"/>
              </a:ext>
            </a:extLst>
          </p:cNvPr>
          <p:cNvSpPr txBox="1"/>
          <p:nvPr/>
        </p:nvSpPr>
        <p:spPr>
          <a:xfrm>
            <a:off x="11962609" y="4347536"/>
            <a:ext cx="257965" cy="430887"/>
          </a:xfrm>
          <a:prstGeom prst="rect">
            <a:avLst/>
          </a:prstGeom>
          <a:noFill/>
        </p:spPr>
        <p:txBody>
          <a:bodyPr wrap="square" lIns="0" tIns="0" rIns="0" bIns="0" rtlCol="0">
            <a:spAutoFit/>
          </a:bodyPr>
          <a:lstStyle/>
          <a:p>
            <a:r>
              <a:rPr lang="en-US" altLang="zh-CN" sz="2800" b="1" i="1" dirty="0">
                <a:solidFill>
                  <a:srgbClr val="FF0000"/>
                </a:solidFill>
                <a:latin typeface="Times New Roman" panose="02020603050405020304" pitchFamily="18" charset="0"/>
                <a:cs typeface="Times New Roman" panose="02020603050405020304" pitchFamily="18" charset="0"/>
              </a:rPr>
              <a:t>r</a:t>
            </a:r>
            <a:endParaRPr lang="zh-CN" altLang="en-US" sz="2800" b="1" i="1" dirty="0">
              <a:solidFill>
                <a:srgbClr val="FF0000"/>
              </a:solidFill>
              <a:latin typeface="Times New Roman" panose="02020603050405020304" pitchFamily="18" charset="0"/>
              <a:cs typeface="Times New Roman" panose="02020603050405020304" pitchFamily="18" charset="0"/>
            </a:endParaRPr>
          </a:p>
        </p:txBody>
      </p:sp>
      <p:sp>
        <p:nvSpPr>
          <p:cNvPr id="34" name="Text Box 4">
            <a:extLst>
              <a:ext uri="{FF2B5EF4-FFF2-40B4-BE49-F238E27FC236}">
                <a16:creationId xmlns:a16="http://schemas.microsoft.com/office/drawing/2014/main" id="{087D8953-87B6-48AF-93AA-96EFB5218C24}"/>
              </a:ext>
            </a:extLst>
          </p:cNvPr>
          <p:cNvSpPr txBox="1">
            <a:spLocks noChangeArrowheads="1"/>
          </p:cNvSpPr>
          <p:nvPr/>
        </p:nvSpPr>
        <p:spPr bwMode="auto">
          <a:xfrm>
            <a:off x="5488867" y="1095291"/>
            <a:ext cx="1909425" cy="584775"/>
          </a:xfrm>
          <a:prstGeom prst="rect">
            <a:avLst/>
          </a:prstGeom>
          <a:gradFill flip="none" rotWithShape="1">
            <a:gsLst>
              <a:gs pos="49000">
                <a:schemeClr val="accent2">
                  <a:lumMod val="95000"/>
                  <a:lumOff val="5000"/>
                </a:schemeClr>
              </a:gs>
              <a:gs pos="100000">
                <a:schemeClr val="accent2">
                  <a:lumMod val="60000"/>
                </a:schemeClr>
              </a:gs>
            </a:gsLst>
            <a:lin ang="10800000" scaled="1"/>
            <a:tileRect/>
          </a:gradFill>
          <a:ln w="9525">
            <a:noFill/>
            <a:miter lim="800000"/>
            <a:headEnd/>
            <a:tailEnd/>
          </a:ln>
        </p:spPr>
        <p:txBody>
          <a:bodyPr wrap="square">
            <a:spAutoFit/>
          </a:bodyPr>
          <a:lstStyle/>
          <a:p>
            <a:pPr algn="ctr" defTabSz="914400">
              <a:spcBef>
                <a:spcPct val="50000"/>
              </a:spcBef>
            </a:pPr>
            <a:r>
              <a:rPr lang="zh-CN" altLang="en-US" sz="3200" b="1" dirty="0">
                <a:solidFill>
                  <a:schemeClr val="bg1"/>
                </a:solidFill>
                <a:latin typeface="微软雅黑" pitchFamily="34" charset="-122"/>
                <a:ea typeface="微软雅黑" pitchFamily="34" charset="-122"/>
                <a:cs typeface="Times New Roman" pitchFamily="18" charset="0"/>
              </a:rPr>
              <a:t>立体角</a:t>
            </a:r>
          </a:p>
        </p:txBody>
      </p:sp>
      <p:sp>
        <p:nvSpPr>
          <p:cNvPr id="35" name="Text Box 60">
            <a:extLst>
              <a:ext uri="{FF2B5EF4-FFF2-40B4-BE49-F238E27FC236}">
                <a16:creationId xmlns:a16="http://schemas.microsoft.com/office/drawing/2014/main" id="{C1DE5784-B9E0-49A0-AD98-3635EB591AE1}"/>
              </a:ext>
            </a:extLst>
          </p:cNvPr>
          <p:cNvSpPr txBox="1">
            <a:spLocks noChangeArrowheads="1"/>
          </p:cNvSpPr>
          <p:nvPr/>
        </p:nvSpPr>
        <p:spPr bwMode="auto">
          <a:xfrm>
            <a:off x="1143312" y="1816741"/>
            <a:ext cx="8182335"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一个任意封闭锥面所包含的空间称为</a:t>
            </a:r>
            <a:r>
              <a:rPr lang="zh-CN" altLang="en-US" sz="2400" b="1" dirty="0">
                <a:solidFill>
                  <a:srgbClr val="FF0000"/>
                </a:solidFill>
                <a:latin typeface="Times New Roman" pitchFamily="18" charset="0"/>
                <a:ea typeface="微软雅黑" pitchFamily="34" charset="-122"/>
                <a:cs typeface="Times New Roman" pitchFamily="18" charset="0"/>
              </a:rPr>
              <a:t>立体角</a:t>
            </a:r>
            <a:r>
              <a:rPr lang="en-US" altLang="zh-CN" sz="2400" b="1" dirty="0">
                <a:latin typeface="Times New Roman" pitchFamily="18" charset="0"/>
                <a:ea typeface="微软雅黑" pitchFamily="34" charset="-122"/>
                <a:cs typeface="Times New Roman" pitchFamily="18" charset="0"/>
              </a:rPr>
              <a:t>(Solid angle</a:t>
            </a:r>
            <a:r>
              <a:rPr lang="zh-CN" altLang="en-US" sz="2400" b="1" dirty="0">
                <a:latin typeface="Times New Roman" pitchFamily="18" charset="0"/>
                <a:ea typeface="微软雅黑" pitchFamily="34" charset="-122"/>
                <a:cs typeface="Times New Roman" pitchFamily="18" charset="0"/>
              </a:rPr>
              <a:t>）</a:t>
            </a:r>
          </a:p>
        </p:txBody>
      </p:sp>
      <p:sp>
        <p:nvSpPr>
          <p:cNvPr id="36" name="Text Box 60">
            <a:extLst>
              <a:ext uri="{FF2B5EF4-FFF2-40B4-BE49-F238E27FC236}">
                <a16:creationId xmlns:a16="http://schemas.microsoft.com/office/drawing/2014/main" id="{6DF4DE49-EB83-4E91-94A1-529EC921182E}"/>
              </a:ext>
            </a:extLst>
          </p:cNvPr>
          <p:cNvSpPr txBox="1">
            <a:spLocks noChangeArrowheads="1"/>
          </p:cNvSpPr>
          <p:nvPr/>
        </p:nvSpPr>
        <p:spPr bwMode="auto">
          <a:xfrm>
            <a:off x="1081088" y="2621088"/>
            <a:ext cx="6829768" cy="738664"/>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用</a:t>
            </a:r>
            <a:r>
              <a:rPr lang="el-GR" altLang="zh-CN" sz="2400" b="1" i="1" dirty="0">
                <a:latin typeface="Times New Roman" pitchFamily="18" charset="0"/>
                <a:ea typeface="微软雅黑" pitchFamily="34" charset="-122"/>
                <a:cs typeface="Times New Roman" pitchFamily="18" charset="0"/>
              </a:rPr>
              <a:t>Ω</a:t>
            </a:r>
            <a:r>
              <a:rPr lang="zh-CN" altLang="en-US" sz="2400" b="1" dirty="0">
                <a:latin typeface="Times New Roman" pitchFamily="18" charset="0"/>
                <a:ea typeface="微软雅黑" pitchFamily="34" charset="-122"/>
                <a:cs typeface="Times New Roman" pitchFamily="18" charset="0"/>
              </a:rPr>
              <a:t>表示，立体角的单位为球面度</a:t>
            </a:r>
            <a:r>
              <a:rPr lang="en-US" altLang="zh-CN" sz="2400" b="1" dirty="0">
                <a:latin typeface="Times New Roman" pitchFamily="18" charset="0"/>
                <a:ea typeface="微软雅黑" pitchFamily="34" charset="-122"/>
                <a:cs typeface="Times New Roman" pitchFamily="18" charset="0"/>
              </a:rPr>
              <a:t>(</a:t>
            </a:r>
            <a:r>
              <a:rPr lang="en-US" altLang="zh-CN" sz="2400" b="1" dirty="0" err="1">
                <a:latin typeface="Times New Roman" pitchFamily="18" charset="0"/>
                <a:ea typeface="微软雅黑" pitchFamily="34" charset="-122"/>
                <a:cs typeface="Times New Roman" pitchFamily="18" charset="0"/>
              </a:rPr>
              <a:t>steradian</a:t>
            </a:r>
            <a:r>
              <a:rPr lang="en-US" altLang="zh-CN" sz="2400" b="1" dirty="0">
                <a:latin typeface="Times New Roman" pitchFamily="18" charset="0"/>
                <a:ea typeface="微软雅黑" pitchFamily="34" charset="-122"/>
                <a:cs typeface="Times New Roman" pitchFamily="18" charset="0"/>
              </a:rPr>
              <a:t>, </a:t>
            </a:r>
            <a:r>
              <a:rPr lang="en-US" altLang="zh-CN" sz="2800" b="1" dirty="0" err="1">
                <a:solidFill>
                  <a:srgbClr val="FF0000"/>
                </a:solidFill>
                <a:latin typeface="Times New Roman" pitchFamily="18" charset="0"/>
                <a:ea typeface="微软雅黑" pitchFamily="34" charset="-122"/>
                <a:cs typeface="Times New Roman" pitchFamily="18" charset="0"/>
              </a:rPr>
              <a:t>sr</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 </a:t>
            </a:r>
            <a:endParaRPr lang="zh-CN" altLang="en-US" sz="2800" b="1" dirty="0">
              <a:latin typeface="Times New Roman" pitchFamily="18" charset="0"/>
              <a:ea typeface="微软雅黑" pitchFamily="34" charset="-122"/>
              <a:cs typeface="Times New Roman" pitchFamily="18" charset="0"/>
            </a:endParaRPr>
          </a:p>
        </p:txBody>
      </p:sp>
      <p:sp>
        <p:nvSpPr>
          <p:cNvPr id="37" name="Text Box 60">
            <a:extLst>
              <a:ext uri="{FF2B5EF4-FFF2-40B4-BE49-F238E27FC236}">
                <a16:creationId xmlns:a16="http://schemas.microsoft.com/office/drawing/2014/main" id="{38CD1421-AA64-4DA0-9BF2-BB434B018068}"/>
              </a:ext>
            </a:extLst>
          </p:cNvPr>
          <p:cNvSpPr txBox="1">
            <a:spLocks noChangeArrowheads="1"/>
          </p:cNvSpPr>
          <p:nvPr/>
        </p:nvSpPr>
        <p:spPr bwMode="auto">
          <a:xfrm>
            <a:off x="9917990" y="6584259"/>
            <a:ext cx="2253958" cy="646331"/>
          </a:xfrm>
          <a:prstGeom prst="rect">
            <a:avLst/>
          </a:prstGeom>
          <a:noFill/>
          <a:ln w="9525">
            <a:noFill/>
            <a:miter lim="800000"/>
            <a:headEnd/>
            <a:tailEnd/>
          </a:ln>
        </p:spPr>
        <p:txBody>
          <a:bodyPr wrap="square">
            <a:spAutoFit/>
          </a:bodyPr>
          <a:lstStyle/>
          <a:p>
            <a:pPr algn="ct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立体角示意图</a:t>
            </a:r>
            <a:endParaRPr lang="zh-CN" altLang="en-US" sz="2800" b="1" dirty="0">
              <a:latin typeface="Times New Roman" pitchFamily="18" charset="0"/>
              <a:ea typeface="微软雅黑" pitchFamily="34" charset="-122"/>
              <a:cs typeface="Times New Roman" pitchFamily="18" charset="0"/>
            </a:endParaRPr>
          </a:p>
        </p:txBody>
      </p:sp>
      <p:graphicFrame>
        <p:nvGraphicFramePr>
          <p:cNvPr id="38" name="Object 61">
            <a:extLst>
              <a:ext uri="{FF2B5EF4-FFF2-40B4-BE49-F238E27FC236}">
                <a16:creationId xmlns:a16="http://schemas.microsoft.com/office/drawing/2014/main" id="{DA6DF2A6-C387-4B64-BCEB-DE1DB4B320CD}"/>
              </a:ext>
            </a:extLst>
          </p:cNvPr>
          <p:cNvGraphicFramePr>
            <a:graphicFrameLocks noChangeAspect="1"/>
          </p:cNvGraphicFramePr>
          <p:nvPr>
            <p:extLst>
              <p:ext uri="{D42A27DB-BD31-4B8C-83A1-F6EECF244321}">
                <p14:modId xmlns:p14="http://schemas.microsoft.com/office/powerpoint/2010/main" val="1004150950"/>
              </p:ext>
            </p:extLst>
          </p:nvPr>
        </p:nvGraphicFramePr>
        <p:xfrm>
          <a:off x="4488624" y="4259111"/>
          <a:ext cx="984250" cy="492125"/>
        </p:xfrm>
        <a:graphic>
          <a:graphicData uri="http://schemas.openxmlformats.org/presentationml/2006/ole">
            <mc:AlternateContent xmlns:mc="http://schemas.openxmlformats.org/markup-compatibility/2006">
              <mc:Choice xmlns:v="urn:schemas-microsoft-com:vml" Requires="v">
                <p:oleObj name="Equation" r:id="rId2" imgW="355320" imgH="177480" progId="Equation.DSMT4">
                  <p:embed/>
                </p:oleObj>
              </mc:Choice>
              <mc:Fallback>
                <p:oleObj name="Equation" r:id="rId2" imgW="355320" imgH="177480" progId="Equation.DSMT4">
                  <p:embed/>
                  <p:pic>
                    <p:nvPicPr>
                      <p:cNvPr id="92" name="Object 61"/>
                      <p:cNvPicPr>
                        <a:picLocks noChangeAspect="1" noChangeArrowheads="1"/>
                      </p:cNvPicPr>
                      <p:nvPr/>
                    </p:nvPicPr>
                    <p:blipFill>
                      <a:blip r:embed="rId3"/>
                      <a:srcRect/>
                      <a:stretch>
                        <a:fillRect/>
                      </a:stretch>
                    </p:blipFill>
                    <p:spPr bwMode="auto">
                      <a:xfrm>
                        <a:off x="4488624" y="4259111"/>
                        <a:ext cx="984250" cy="492125"/>
                      </a:xfrm>
                      <a:prstGeom prst="rect">
                        <a:avLst/>
                      </a:prstGeom>
                      <a:solidFill>
                        <a:srgbClr val="00FFFF"/>
                      </a:solidFill>
                    </p:spPr>
                  </p:pic>
                </p:oleObj>
              </mc:Fallback>
            </mc:AlternateContent>
          </a:graphicData>
        </a:graphic>
      </p:graphicFrame>
      <p:graphicFrame>
        <p:nvGraphicFramePr>
          <p:cNvPr id="39" name="对象 38">
            <a:extLst>
              <a:ext uri="{FF2B5EF4-FFF2-40B4-BE49-F238E27FC236}">
                <a16:creationId xmlns:a16="http://schemas.microsoft.com/office/drawing/2014/main" id="{85AC46E4-1A95-42F7-9B9B-E49BBFA2BFB7}"/>
              </a:ext>
            </a:extLst>
          </p:cNvPr>
          <p:cNvGraphicFramePr>
            <a:graphicFrameLocks noChangeAspect="1"/>
          </p:cNvGraphicFramePr>
          <p:nvPr>
            <p:extLst>
              <p:ext uri="{D42A27DB-BD31-4B8C-83A1-F6EECF244321}">
                <p14:modId xmlns:p14="http://schemas.microsoft.com/office/powerpoint/2010/main" val="2801228872"/>
              </p:ext>
            </p:extLst>
          </p:nvPr>
        </p:nvGraphicFramePr>
        <p:xfrm>
          <a:off x="4510205" y="5908892"/>
          <a:ext cx="1933649" cy="881425"/>
        </p:xfrm>
        <a:graphic>
          <a:graphicData uri="http://schemas.openxmlformats.org/presentationml/2006/ole">
            <mc:AlternateContent xmlns:mc="http://schemas.openxmlformats.org/markup-compatibility/2006">
              <mc:Choice xmlns:v="urn:schemas-microsoft-com:vml" Requires="v">
                <p:oleObj name="公式" r:id="rId4" imgW="888840" imgH="406080" progId="Equation.3">
                  <p:embed/>
                </p:oleObj>
              </mc:Choice>
              <mc:Fallback>
                <p:oleObj name="公式" r:id="rId4" imgW="888840" imgH="406080" progId="Equation.3">
                  <p:embed/>
                  <p:pic>
                    <p:nvPicPr>
                      <p:cNvPr id="93" name="对象 92"/>
                      <p:cNvPicPr>
                        <a:picLocks noChangeAspect="1" noChangeArrowheads="1"/>
                      </p:cNvPicPr>
                      <p:nvPr/>
                    </p:nvPicPr>
                    <p:blipFill>
                      <a:blip r:embed="rId5"/>
                      <a:srcRect/>
                      <a:stretch>
                        <a:fillRect/>
                      </a:stretch>
                    </p:blipFill>
                    <p:spPr bwMode="auto">
                      <a:xfrm>
                        <a:off x="4510205" y="5908892"/>
                        <a:ext cx="1933649" cy="881425"/>
                      </a:xfrm>
                      <a:prstGeom prst="rect">
                        <a:avLst/>
                      </a:prstGeom>
                      <a:solidFill>
                        <a:srgbClr val="FFFF00"/>
                      </a:solidFill>
                      <a:ln>
                        <a:noFill/>
                      </a:ln>
                    </p:spPr>
                  </p:pic>
                </p:oleObj>
              </mc:Fallback>
            </mc:AlternateContent>
          </a:graphicData>
        </a:graphic>
      </p:graphicFrame>
      <p:graphicFrame>
        <p:nvGraphicFramePr>
          <p:cNvPr id="40" name="对象 39">
            <a:extLst>
              <a:ext uri="{FF2B5EF4-FFF2-40B4-BE49-F238E27FC236}">
                <a16:creationId xmlns:a16="http://schemas.microsoft.com/office/drawing/2014/main" id="{6B6421B1-C91D-408D-9827-0EC216FAEAA5}"/>
              </a:ext>
            </a:extLst>
          </p:cNvPr>
          <p:cNvGraphicFramePr>
            <a:graphicFrameLocks noChangeAspect="1"/>
          </p:cNvGraphicFramePr>
          <p:nvPr>
            <p:extLst>
              <p:ext uri="{D42A27DB-BD31-4B8C-83A1-F6EECF244321}">
                <p14:modId xmlns:p14="http://schemas.microsoft.com/office/powerpoint/2010/main" val="1087024792"/>
              </p:ext>
            </p:extLst>
          </p:nvPr>
        </p:nvGraphicFramePr>
        <p:xfrm>
          <a:off x="6451736" y="5908892"/>
          <a:ext cx="1210447" cy="925936"/>
        </p:xfrm>
        <a:graphic>
          <a:graphicData uri="http://schemas.openxmlformats.org/presentationml/2006/ole">
            <mc:AlternateContent xmlns:mc="http://schemas.openxmlformats.org/markup-compatibility/2006">
              <mc:Choice xmlns:v="urn:schemas-microsoft-com:vml" Requires="v">
                <p:oleObj name="公式" r:id="rId6" imgW="545760" imgH="419040" progId="Equation.3">
                  <p:embed/>
                </p:oleObj>
              </mc:Choice>
              <mc:Fallback>
                <p:oleObj name="公式" r:id="rId6" imgW="545760" imgH="419040" progId="Equation.3">
                  <p:embed/>
                  <p:pic>
                    <p:nvPicPr>
                      <p:cNvPr id="94" name="对象 93"/>
                      <p:cNvPicPr>
                        <a:picLocks noChangeAspect="1" noChangeArrowheads="1"/>
                      </p:cNvPicPr>
                      <p:nvPr/>
                    </p:nvPicPr>
                    <p:blipFill>
                      <a:blip r:embed="rId7"/>
                      <a:srcRect/>
                      <a:stretch>
                        <a:fillRect/>
                      </a:stretch>
                    </p:blipFill>
                    <p:spPr bwMode="auto">
                      <a:xfrm>
                        <a:off x="6451736" y="5908892"/>
                        <a:ext cx="1210447" cy="925936"/>
                      </a:xfrm>
                      <a:prstGeom prst="rect">
                        <a:avLst/>
                      </a:prstGeom>
                      <a:solidFill>
                        <a:schemeClr val="accent2">
                          <a:lumMod val="60000"/>
                          <a:lumOff val="40000"/>
                        </a:schemeClr>
                      </a:solidFill>
                      <a:ln>
                        <a:noFill/>
                      </a:ln>
                    </p:spPr>
                  </p:pic>
                </p:oleObj>
              </mc:Fallback>
            </mc:AlternateContent>
          </a:graphicData>
        </a:graphic>
      </p:graphicFrame>
      <p:graphicFrame>
        <p:nvGraphicFramePr>
          <p:cNvPr id="41" name="对象 40">
            <a:extLst>
              <a:ext uri="{FF2B5EF4-FFF2-40B4-BE49-F238E27FC236}">
                <a16:creationId xmlns:a16="http://schemas.microsoft.com/office/drawing/2014/main" id="{43ED13B0-E3D5-46A0-8960-639ACE0B17F8}"/>
              </a:ext>
            </a:extLst>
          </p:cNvPr>
          <p:cNvGraphicFramePr>
            <a:graphicFrameLocks noChangeAspect="1"/>
          </p:cNvGraphicFramePr>
          <p:nvPr>
            <p:extLst>
              <p:ext uri="{D42A27DB-BD31-4B8C-83A1-F6EECF244321}">
                <p14:modId xmlns:p14="http://schemas.microsoft.com/office/powerpoint/2010/main" val="1392883344"/>
              </p:ext>
            </p:extLst>
          </p:nvPr>
        </p:nvGraphicFramePr>
        <p:xfrm>
          <a:off x="7671612" y="6142107"/>
          <a:ext cx="1055687" cy="490537"/>
        </p:xfrm>
        <a:graphic>
          <a:graphicData uri="http://schemas.openxmlformats.org/presentationml/2006/ole">
            <mc:AlternateContent xmlns:mc="http://schemas.openxmlformats.org/markup-compatibility/2006">
              <mc:Choice xmlns:v="urn:schemas-microsoft-com:vml" Requires="v">
                <p:oleObj name="公式" r:id="rId8" imgW="380880" imgH="177480" progId="Equation.3">
                  <p:embed/>
                </p:oleObj>
              </mc:Choice>
              <mc:Fallback>
                <p:oleObj name="公式" r:id="rId8" imgW="380880" imgH="177480" progId="Equation.3">
                  <p:embed/>
                  <p:pic>
                    <p:nvPicPr>
                      <p:cNvPr id="95" name="对象 94"/>
                      <p:cNvPicPr>
                        <a:picLocks noChangeAspect="1" noChangeArrowheads="1"/>
                      </p:cNvPicPr>
                      <p:nvPr/>
                    </p:nvPicPr>
                    <p:blipFill>
                      <a:blip r:embed="rId9"/>
                      <a:srcRect/>
                      <a:stretch>
                        <a:fillRect/>
                      </a:stretch>
                    </p:blipFill>
                    <p:spPr bwMode="auto">
                      <a:xfrm>
                        <a:off x="7671612" y="6142107"/>
                        <a:ext cx="1055687" cy="490537"/>
                      </a:xfrm>
                      <a:prstGeom prst="rect">
                        <a:avLst/>
                      </a:prstGeom>
                      <a:solidFill>
                        <a:srgbClr val="92D050"/>
                      </a:solidFill>
                      <a:ln>
                        <a:noFill/>
                      </a:ln>
                    </p:spPr>
                  </p:pic>
                </p:oleObj>
              </mc:Fallback>
            </mc:AlternateContent>
          </a:graphicData>
        </a:graphic>
      </p:graphicFrame>
      <p:sp>
        <p:nvSpPr>
          <p:cNvPr id="49" name="TextBox 5">
            <a:extLst>
              <a:ext uri="{FF2B5EF4-FFF2-40B4-BE49-F238E27FC236}">
                <a16:creationId xmlns:a16="http://schemas.microsoft.com/office/drawing/2014/main" id="{CA0A39C6-058E-43F6-ADEA-9B8381474936}"/>
              </a:ext>
            </a:extLst>
          </p:cNvPr>
          <p:cNvSpPr txBox="1"/>
          <p:nvPr/>
        </p:nvSpPr>
        <p:spPr>
          <a:xfrm>
            <a:off x="800027" y="6110426"/>
            <a:ext cx="3774139" cy="461665"/>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如：半径为</a:t>
            </a:r>
            <a:r>
              <a:rPr lang="en-US" altLang="zh-CN" sz="2400" b="1" dirty="0">
                <a:latin typeface="微软雅黑" pitchFamily="34" charset="-122"/>
                <a:ea typeface="微软雅黑" pitchFamily="34" charset="-122"/>
              </a:rPr>
              <a:t>r</a:t>
            </a:r>
            <a:r>
              <a:rPr lang="zh-CN" altLang="en-US" sz="2400" b="1" dirty="0">
                <a:latin typeface="微软雅黑" pitchFamily="34" charset="-122"/>
                <a:ea typeface="微软雅黑" pitchFamily="34" charset="-122"/>
              </a:rPr>
              <a:t>的球，球面度</a:t>
            </a:r>
          </a:p>
        </p:txBody>
      </p:sp>
      <p:sp>
        <p:nvSpPr>
          <p:cNvPr id="50"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51"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graphicFrame>
        <p:nvGraphicFramePr>
          <p:cNvPr id="42" name="Object 61">
            <a:extLst>
              <a:ext uri="{FF2B5EF4-FFF2-40B4-BE49-F238E27FC236}">
                <a16:creationId xmlns:a16="http://schemas.microsoft.com/office/drawing/2014/main" id="{DA6DF2A6-C387-4B64-BCEB-DE1DB4B320CD}"/>
              </a:ext>
            </a:extLst>
          </p:cNvPr>
          <p:cNvGraphicFramePr>
            <a:graphicFrameLocks noChangeAspect="1"/>
          </p:cNvGraphicFramePr>
          <p:nvPr>
            <p:extLst>
              <p:ext uri="{D42A27DB-BD31-4B8C-83A1-F6EECF244321}">
                <p14:modId xmlns:p14="http://schemas.microsoft.com/office/powerpoint/2010/main" val="3924620920"/>
              </p:ext>
            </p:extLst>
          </p:nvPr>
        </p:nvGraphicFramePr>
        <p:xfrm>
          <a:off x="5477029" y="3961454"/>
          <a:ext cx="668338" cy="1087438"/>
        </p:xfrm>
        <a:graphic>
          <a:graphicData uri="http://schemas.openxmlformats.org/presentationml/2006/ole">
            <mc:AlternateContent xmlns:mc="http://schemas.openxmlformats.org/markup-compatibility/2006">
              <mc:Choice xmlns:v="urn:schemas-microsoft-com:vml" Requires="v">
                <p:oleObj name="Equation" r:id="rId10" imgW="241200" imgH="393480" progId="Equation.DSMT4">
                  <p:embed/>
                </p:oleObj>
              </mc:Choice>
              <mc:Fallback>
                <p:oleObj name="Equation" r:id="rId10" imgW="241200" imgH="393480" progId="Equation.DSMT4">
                  <p:embed/>
                  <p:pic>
                    <p:nvPicPr>
                      <p:cNvPr id="0" name=""/>
                      <p:cNvPicPr>
                        <a:picLocks noChangeAspect="1" noChangeArrowheads="1"/>
                      </p:cNvPicPr>
                      <p:nvPr/>
                    </p:nvPicPr>
                    <p:blipFill>
                      <a:blip r:embed="rId11"/>
                      <a:srcRect/>
                      <a:stretch>
                        <a:fillRect/>
                      </a:stretch>
                    </p:blipFill>
                    <p:spPr bwMode="auto">
                      <a:xfrm>
                        <a:off x="5477029" y="3961454"/>
                        <a:ext cx="668338" cy="1087438"/>
                      </a:xfrm>
                      <a:prstGeom prst="rect">
                        <a:avLst/>
                      </a:prstGeom>
                      <a:solidFill>
                        <a:srgbClr val="00FFFF"/>
                      </a:solidFill>
                    </p:spPr>
                  </p:pic>
                </p:oleObj>
              </mc:Fallback>
            </mc:AlternateContent>
          </a:graphicData>
        </a:graphic>
      </p:graphicFrame>
    </p:spTree>
    <p:extLst>
      <p:ext uri="{BB962C8B-B14F-4D97-AF65-F5344CB8AC3E}">
        <p14:creationId xmlns:p14="http://schemas.microsoft.com/office/powerpoint/2010/main" val="37497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blinds(horizontal)">
                                      <p:cBhvr>
                                        <p:cTn id="1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blinds(horizontal)">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blinds(horizontal)">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circle(in)">
                                      <p:cBhvr>
                                        <p:cTn id="50" dur="20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barn(inVertical)">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checkerboard(across)">
                                      <p:cBhvr>
                                        <p:cTn id="60" dur="500"/>
                                        <p:tgtEl>
                                          <p:spTgt spid="38"/>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checkerboard(across)">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49"/>
                                        </p:tgtEl>
                                        <p:attrNameLst>
                                          <p:attrName>style.visibility</p:attrName>
                                        </p:attrNameLst>
                                      </p:cBhvr>
                                      <p:to>
                                        <p:strVal val="visible"/>
                                      </p:to>
                                    </p:set>
                                    <p:anim calcmode="lin" valueType="num">
                                      <p:cBhvr>
                                        <p:cTn id="70" dur="500" fill="hold"/>
                                        <p:tgtEl>
                                          <p:spTgt spid="49"/>
                                        </p:tgtEl>
                                        <p:attrNameLst>
                                          <p:attrName>ppt_w</p:attrName>
                                        </p:attrNameLst>
                                      </p:cBhvr>
                                      <p:tavLst>
                                        <p:tav tm="0">
                                          <p:val>
                                            <p:fltVal val="0"/>
                                          </p:val>
                                        </p:tav>
                                        <p:tav tm="100000">
                                          <p:val>
                                            <p:strVal val="#ppt_w"/>
                                          </p:val>
                                        </p:tav>
                                      </p:tavLst>
                                    </p:anim>
                                    <p:anim calcmode="lin" valueType="num">
                                      <p:cBhvr>
                                        <p:cTn id="71" dur="500" fill="hold"/>
                                        <p:tgtEl>
                                          <p:spTgt spid="49"/>
                                        </p:tgtEl>
                                        <p:attrNameLst>
                                          <p:attrName>ppt_h</p:attrName>
                                        </p:attrNameLst>
                                      </p:cBhvr>
                                      <p:tavLst>
                                        <p:tav tm="0">
                                          <p:val>
                                            <p:fltVal val="0"/>
                                          </p:val>
                                        </p:tav>
                                        <p:tav tm="100000">
                                          <p:val>
                                            <p:strVal val="#ppt_h"/>
                                          </p:val>
                                        </p:tav>
                                      </p:tavLst>
                                    </p:anim>
                                    <p:animEffect transition="in" filter="fade">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5" presetClass="entr" presetSubtype="10" fill="hold" nodeType="click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checkerboard(across)">
                                      <p:cBhvr>
                                        <p:cTn id="77" dur="500"/>
                                        <p:tgtEl>
                                          <p:spTgt spid="39"/>
                                        </p:tgtEl>
                                      </p:cBhvr>
                                    </p:animEffect>
                                  </p:childTnLst>
                                </p:cTn>
                              </p:par>
                            </p:childTnLst>
                          </p:cTn>
                        </p:par>
                      </p:childTnLst>
                    </p:cTn>
                  </p:par>
                  <p:par>
                    <p:cTn id="78" fill="hold">
                      <p:stCondLst>
                        <p:cond delay="indefinite"/>
                      </p:stCondLst>
                      <p:childTnLst>
                        <p:par>
                          <p:cTn id="79" fill="hold">
                            <p:stCondLst>
                              <p:cond delay="0"/>
                            </p:stCondLst>
                            <p:childTnLst>
                              <p:par>
                                <p:cTn id="80" presetID="5" presetClass="entr" presetSubtype="10" fill="hold" nodeType="click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checkerboard(across)">
                                      <p:cBhvr>
                                        <p:cTn id="82" dur="500"/>
                                        <p:tgtEl>
                                          <p:spTgt spid="40"/>
                                        </p:tgtEl>
                                      </p:cBhvr>
                                    </p:animEffect>
                                  </p:childTnLst>
                                </p:cTn>
                              </p:par>
                            </p:childTnLst>
                          </p:cTn>
                        </p:par>
                      </p:childTnLst>
                    </p:cTn>
                  </p:par>
                  <p:par>
                    <p:cTn id="83" fill="hold">
                      <p:stCondLst>
                        <p:cond delay="indefinite"/>
                      </p:stCondLst>
                      <p:childTnLst>
                        <p:par>
                          <p:cTn id="84" fill="hold">
                            <p:stCondLst>
                              <p:cond delay="0"/>
                            </p:stCondLst>
                            <p:childTnLst>
                              <p:par>
                                <p:cTn id="85" presetID="5" presetClass="entr" presetSubtype="10" fill="hold"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checkerboard(across)">
                                      <p:cBhvr>
                                        <p:cTn id="8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p:bldP spid="33" grpId="0"/>
      <p:bldP spid="34" grpId="0" animBg="1"/>
      <p:bldP spid="35" grpId="0"/>
      <p:bldP spid="36" grpId="0"/>
      <p:bldP spid="37" grpId="0"/>
      <p:bldP spid="4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Object 14">
            <a:extLst>
              <a:ext uri="{FF2B5EF4-FFF2-40B4-BE49-F238E27FC236}">
                <a16:creationId xmlns:a16="http://schemas.microsoft.com/office/drawing/2014/main" id="{5BCD71BA-046D-42DD-8507-0DB9A67C4F75}"/>
              </a:ext>
            </a:extLst>
          </p:cNvPr>
          <p:cNvGraphicFramePr>
            <a:graphicFrameLocks noChangeAspect="1"/>
          </p:cNvGraphicFramePr>
          <p:nvPr>
            <p:extLst>
              <p:ext uri="{D42A27DB-BD31-4B8C-83A1-F6EECF244321}">
                <p14:modId xmlns:p14="http://schemas.microsoft.com/office/powerpoint/2010/main" val="308399904"/>
              </p:ext>
            </p:extLst>
          </p:nvPr>
        </p:nvGraphicFramePr>
        <p:xfrm>
          <a:off x="8037513" y="892175"/>
          <a:ext cx="5186362" cy="4732338"/>
        </p:xfrm>
        <a:graphic>
          <a:graphicData uri="http://schemas.openxmlformats.org/presentationml/2006/ole">
            <mc:AlternateContent xmlns:mc="http://schemas.openxmlformats.org/markup-compatibility/2006">
              <mc:Choice xmlns:v="urn:schemas-microsoft-com:vml" Requires="v">
                <p:oleObj name="Visio" r:id="rId2" imgW="1828800" imgH="1666860" progId="Visio.Drawing.11">
                  <p:embed/>
                </p:oleObj>
              </mc:Choice>
              <mc:Fallback>
                <p:oleObj name="Visio" r:id="rId2" imgW="1828800" imgH="1666860" progId="Visio.Drawing.11">
                  <p:embed/>
                  <p:pic>
                    <p:nvPicPr>
                      <p:cNvPr id="23568" name="Object 14"/>
                      <p:cNvPicPr>
                        <a:picLocks noChangeAspect="1" noChangeArrowheads="1"/>
                      </p:cNvPicPr>
                      <p:nvPr/>
                    </p:nvPicPr>
                    <p:blipFill>
                      <a:blip r:embed="rId3"/>
                      <a:srcRect/>
                      <a:stretch>
                        <a:fillRect/>
                      </a:stretch>
                    </p:blipFill>
                    <p:spPr bwMode="auto">
                      <a:xfrm>
                        <a:off x="8037513" y="892175"/>
                        <a:ext cx="5186362" cy="4732338"/>
                      </a:xfrm>
                      <a:prstGeom prst="rect">
                        <a:avLst/>
                      </a:prstGeom>
                      <a:noFill/>
                    </p:spPr>
                  </p:pic>
                </p:oleObj>
              </mc:Fallback>
            </mc:AlternateContent>
          </a:graphicData>
        </a:graphic>
      </p:graphicFrame>
      <p:sp>
        <p:nvSpPr>
          <p:cNvPr id="43" name="矩形 42">
            <a:extLst>
              <a:ext uri="{FF2B5EF4-FFF2-40B4-BE49-F238E27FC236}">
                <a16:creationId xmlns:a16="http://schemas.microsoft.com/office/drawing/2014/main" id="{1EAC942C-FDED-41E4-A0F9-9EEC9CD22B28}"/>
              </a:ext>
            </a:extLst>
          </p:cNvPr>
          <p:cNvSpPr/>
          <p:nvPr/>
        </p:nvSpPr>
        <p:spPr>
          <a:xfrm>
            <a:off x="10032715" y="329189"/>
            <a:ext cx="1434886"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673BDB5A-E50B-4F9E-B892-FA2A87E7749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2EA22A6E-0B33-41F6-B41D-9606E046B9D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id="{7469A9A3-B361-40E5-A8D9-0851E21A13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id="{29044EEF-C0EF-43ED-9590-22B99E461DE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7" name="Text Box 60">
            <a:extLst>
              <a:ext uri="{FF2B5EF4-FFF2-40B4-BE49-F238E27FC236}">
                <a16:creationId xmlns:a16="http://schemas.microsoft.com/office/drawing/2014/main" id="{38CD1421-AA64-4DA0-9BF2-BB434B018068}"/>
              </a:ext>
            </a:extLst>
          </p:cNvPr>
          <p:cNvSpPr txBox="1">
            <a:spLocks noChangeArrowheads="1"/>
          </p:cNvSpPr>
          <p:nvPr/>
        </p:nvSpPr>
        <p:spPr bwMode="auto">
          <a:xfrm>
            <a:off x="10508540" y="5002983"/>
            <a:ext cx="2253958" cy="646331"/>
          </a:xfrm>
          <a:prstGeom prst="rect">
            <a:avLst/>
          </a:prstGeom>
          <a:noFill/>
          <a:ln w="9525">
            <a:noFill/>
            <a:miter lim="800000"/>
            <a:headEnd/>
            <a:tailEnd/>
          </a:ln>
        </p:spPr>
        <p:txBody>
          <a:bodyPr wrap="square">
            <a:spAutoFit/>
          </a:bodyPr>
          <a:lstStyle/>
          <a:p>
            <a:pPr algn="ct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立体角示意图</a:t>
            </a:r>
            <a:endParaRPr lang="zh-CN" altLang="en-US" sz="2800" b="1" dirty="0">
              <a:latin typeface="Times New Roman" pitchFamily="18" charset="0"/>
              <a:ea typeface="微软雅黑" pitchFamily="34" charset="-122"/>
              <a:cs typeface="Times New Roman" pitchFamily="18" charset="0"/>
            </a:endParaRPr>
          </a:p>
        </p:txBody>
      </p:sp>
      <p:sp>
        <p:nvSpPr>
          <p:cNvPr id="50" name="Rectangle 8">
            <a:extLst>
              <a:ext uri="{FF2B5EF4-FFF2-40B4-BE49-F238E27FC236}">
                <a16:creationId xmlns:a16="http://schemas.microsoft.com/office/drawing/2014/main" id="{4A1FB0CF-C3FC-4337-8113-E6FD371E2CBA}"/>
              </a:ext>
            </a:extLst>
          </p:cNvPr>
          <p:cNvSpPr>
            <a:spLocks noChangeArrowheads="1"/>
          </p:cNvSpPr>
          <p:nvPr/>
        </p:nvSpPr>
        <p:spPr bwMode="auto">
          <a:xfrm>
            <a:off x="444500" y="3546475"/>
            <a:ext cx="184150" cy="366713"/>
          </a:xfrm>
          <a:prstGeom prst="rect">
            <a:avLst/>
          </a:prstGeom>
          <a:noFill/>
          <a:ln w="9525">
            <a:noFill/>
            <a:miter lim="800000"/>
            <a:headEnd/>
            <a:tailEnd/>
          </a:ln>
        </p:spPr>
        <p:txBody>
          <a:bodyPr wrap="none" anchor="ctr">
            <a:spAutoFit/>
          </a:bodyPr>
          <a:lstStyle/>
          <a:p>
            <a:pPr defTabSz="914400"/>
            <a:endParaRPr lang="zh-CN" altLang="en-US" sz="1800"/>
          </a:p>
        </p:txBody>
      </p:sp>
      <p:graphicFrame>
        <p:nvGraphicFramePr>
          <p:cNvPr id="51" name="Object 7">
            <a:extLst>
              <a:ext uri="{FF2B5EF4-FFF2-40B4-BE49-F238E27FC236}">
                <a16:creationId xmlns:a16="http://schemas.microsoft.com/office/drawing/2014/main" id="{C67CAD75-6E07-4F42-812A-9E1E44A6B7B4}"/>
              </a:ext>
            </a:extLst>
          </p:cNvPr>
          <p:cNvGraphicFramePr>
            <a:graphicFrameLocks noChangeAspect="1"/>
          </p:cNvGraphicFramePr>
          <p:nvPr>
            <p:extLst>
              <p:ext uri="{D42A27DB-BD31-4B8C-83A1-F6EECF244321}">
                <p14:modId xmlns:p14="http://schemas.microsoft.com/office/powerpoint/2010/main" val="3404730053"/>
              </p:ext>
            </p:extLst>
          </p:nvPr>
        </p:nvGraphicFramePr>
        <p:xfrm>
          <a:off x="2211387" y="4205448"/>
          <a:ext cx="4305300" cy="763588"/>
        </p:xfrm>
        <a:graphic>
          <a:graphicData uri="http://schemas.openxmlformats.org/presentationml/2006/ole">
            <mc:AlternateContent xmlns:mc="http://schemas.openxmlformats.org/markup-compatibility/2006">
              <mc:Choice xmlns:v="urn:schemas-microsoft-com:vml" Requires="v">
                <p:oleObj name="Equation" r:id="rId4" imgW="2273040" imgH="406080" progId="Equation.DSMT4">
                  <p:embed/>
                </p:oleObj>
              </mc:Choice>
              <mc:Fallback>
                <p:oleObj name="Equation" r:id="rId4" imgW="2273040" imgH="406080" progId="Equation.DSMT4">
                  <p:embed/>
                  <p:pic>
                    <p:nvPicPr>
                      <p:cNvPr id="33383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1387" y="4205448"/>
                        <a:ext cx="4305300" cy="763588"/>
                      </a:xfrm>
                      <a:prstGeom prst="rect">
                        <a:avLst/>
                      </a:prstGeom>
                      <a:solidFill>
                        <a:srgbClr val="FFFF00"/>
                      </a:solidFill>
                    </p:spPr>
                  </p:pic>
                </p:oleObj>
              </mc:Fallback>
            </mc:AlternateContent>
          </a:graphicData>
        </a:graphic>
      </p:graphicFrame>
      <p:sp>
        <p:nvSpPr>
          <p:cNvPr id="52" name="Text Box 9">
            <a:extLst>
              <a:ext uri="{FF2B5EF4-FFF2-40B4-BE49-F238E27FC236}">
                <a16:creationId xmlns:a16="http://schemas.microsoft.com/office/drawing/2014/main" id="{2B773D41-16D2-4FC8-846B-C4EFDD8735A5}"/>
              </a:ext>
            </a:extLst>
          </p:cNvPr>
          <p:cNvSpPr txBox="1">
            <a:spLocks noChangeArrowheads="1"/>
          </p:cNvSpPr>
          <p:nvPr/>
        </p:nvSpPr>
        <p:spPr bwMode="auto">
          <a:xfrm>
            <a:off x="536575" y="6114505"/>
            <a:ext cx="12340887" cy="1557338"/>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微软雅黑" pitchFamily="34" charset="-122"/>
                <a:ea typeface="微软雅黑" pitchFamily="34" charset="-122"/>
              </a:rPr>
              <a:t>一个锥体的顶端在球心，底在球面上，底面积等于球半径的平方。这锥体所包的立体角就叫做</a:t>
            </a:r>
            <a:r>
              <a:rPr kumimoji="1" lang="zh-CN" altLang="en-US" sz="3600" b="1" u="sng" dirty="0">
                <a:solidFill>
                  <a:srgbClr val="FF0000"/>
                </a:solidFill>
                <a:latin typeface="微软雅黑" pitchFamily="34" charset="-122"/>
                <a:ea typeface="微软雅黑" pitchFamily="34" charset="-122"/>
              </a:rPr>
              <a:t>单位立体角</a:t>
            </a:r>
          </a:p>
        </p:txBody>
      </p:sp>
      <p:graphicFrame>
        <p:nvGraphicFramePr>
          <p:cNvPr id="53" name="Object 8">
            <a:extLst>
              <a:ext uri="{FF2B5EF4-FFF2-40B4-BE49-F238E27FC236}">
                <a16:creationId xmlns:a16="http://schemas.microsoft.com/office/drawing/2014/main" id="{B58FDF37-1C47-4418-B055-0483FC164427}"/>
              </a:ext>
            </a:extLst>
          </p:cNvPr>
          <p:cNvGraphicFramePr>
            <a:graphicFrameLocks noChangeAspect="1"/>
          </p:cNvGraphicFramePr>
          <p:nvPr>
            <p:extLst>
              <p:ext uri="{D42A27DB-BD31-4B8C-83A1-F6EECF244321}">
                <p14:modId xmlns:p14="http://schemas.microsoft.com/office/powerpoint/2010/main" val="209761970"/>
              </p:ext>
            </p:extLst>
          </p:nvPr>
        </p:nvGraphicFramePr>
        <p:xfrm>
          <a:off x="2211387" y="5002983"/>
          <a:ext cx="3175000" cy="739775"/>
        </p:xfrm>
        <a:graphic>
          <a:graphicData uri="http://schemas.openxmlformats.org/presentationml/2006/ole">
            <mc:AlternateContent xmlns:mc="http://schemas.openxmlformats.org/markup-compatibility/2006">
              <mc:Choice xmlns:v="urn:schemas-microsoft-com:vml" Requires="v">
                <p:oleObj name="Equation" r:id="rId6" imgW="1676160" imgH="393480" progId="Equation.DSMT4">
                  <p:embed/>
                </p:oleObj>
              </mc:Choice>
              <mc:Fallback>
                <p:oleObj name="Equation" r:id="rId6" imgW="1676160" imgH="393480" progId="Equation.DSMT4">
                  <p:embed/>
                  <p:pic>
                    <p:nvPicPr>
                      <p:cNvPr id="3"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1387" y="5002983"/>
                        <a:ext cx="3175000" cy="739775"/>
                      </a:xfrm>
                      <a:prstGeom prst="rect">
                        <a:avLst/>
                      </a:prstGeom>
                      <a:solidFill>
                        <a:schemeClr val="accent2">
                          <a:lumMod val="40000"/>
                          <a:lumOff val="60000"/>
                        </a:schemeClr>
                      </a:solidFill>
                    </p:spPr>
                  </p:pic>
                </p:oleObj>
              </mc:Fallback>
            </mc:AlternateContent>
          </a:graphicData>
        </a:graphic>
      </p:graphicFrame>
      <p:graphicFrame>
        <p:nvGraphicFramePr>
          <p:cNvPr id="54" name="Object 11">
            <a:extLst>
              <a:ext uri="{FF2B5EF4-FFF2-40B4-BE49-F238E27FC236}">
                <a16:creationId xmlns:a16="http://schemas.microsoft.com/office/drawing/2014/main" id="{EDD3C37A-2C1A-4D32-8B7F-E4814EE833F1}"/>
              </a:ext>
            </a:extLst>
          </p:cNvPr>
          <p:cNvGraphicFramePr>
            <a:graphicFrameLocks noChangeAspect="1"/>
          </p:cNvGraphicFramePr>
          <p:nvPr>
            <p:extLst>
              <p:ext uri="{D42A27DB-BD31-4B8C-83A1-F6EECF244321}">
                <p14:modId xmlns:p14="http://schemas.microsoft.com/office/powerpoint/2010/main" val="1619953110"/>
              </p:ext>
            </p:extLst>
          </p:nvPr>
        </p:nvGraphicFramePr>
        <p:xfrm>
          <a:off x="2675153" y="2829369"/>
          <a:ext cx="2663610" cy="763713"/>
        </p:xfrm>
        <a:graphic>
          <a:graphicData uri="http://schemas.openxmlformats.org/presentationml/2006/ole">
            <mc:AlternateContent xmlns:mc="http://schemas.openxmlformats.org/markup-compatibility/2006">
              <mc:Choice xmlns:v="urn:schemas-microsoft-com:vml" Requires="v">
                <p:oleObj name="Equation" r:id="rId8" imgW="1360672" imgH="394213" progId="Equation.DSMT4">
                  <p:embed/>
                </p:oleObj>
              </mc:Choice>
              <mc:Fallback>
                <p:oleObj name="Equation" r:id="rId8" imgW="1360672" imgH="394213" progId="Equation.DSMT4">
                  <p:embed/>
                  <p:pic>
                    <p:nvPicPr>
                      <p:cNvPr id="9221"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75153" y="2829369"/>
                        <a:ext cx="2663610" cy="763713"/>
                      </a:xfrm>
                      <a:prstGeom prst="rect">
                        <a:avLst/>
                      </a:prstGeom>
                      <a:solidFill>
                        <a:srgbClr val="FFCC00"/>
                      </a:solidFill>
                    </p:spPr>
                  </p:pic>
                </p:oleObj>
              </mc:Fallback>
            </mc:AlternateContent>
          </a:graphicData>
        </a:graphic>
      </p:graphicFrame>
      <p:sp>
        <p:nvSpPr>
          <p:cNvPr id="56" name="TextBox 1">
            <a:extLst>
              <a:ext uri="{FF2B5EF4-FFF2-40B4-BE49-F238E27FC236}">
                <a16:creationId xmlns:a16="http://schemas.microsoft.com/office/drawing/2014/main" id="{217064E9-4544-4E19-A333-7F7C9C3617F4}"/>
              </a:ext>
            </a:extLst>
          </p:cNvPr>
          <p:cNvSpPr txBox="1"/>
          <p:nvPr/>
        </p:nvSpPr>
        <p:spPr>
          <a:xfrm>
            <a:off x="787940" y="880194"/>
            <a:ext cx="6211988" cy="1200329"/>
          </a:xfrm>
          <a:prstGeom prst="rect">
            <a:avLst/>
          </a:prstGeom>
          <a:noFill/>
        </p:spPr>
        <p:txBody>
          <a:bodyPr wrap="square" rtlCol="0">
            <a:spAutoFit/>
          </a:bodyPr>
          <a:lstStyle/>
          <a:p>
            <a:pPr>
              <a:lnSpc>
                <a:spcPct val="150000"/>
              </a:lnSpc>
            </a:pPr>
            <a:r>
              <a:rPr lang="zh-CN" altLang="zh-CN" sz="2400" b="1" dirty="0">
                <a:solidFill>
                  <a:srgbClr val="0000CC"/>
                </a:solidFill>
                <a:latin typeface="Times New Roman" pitchFamily="18" charset="0"/>
                <a:ea typeface="微软雅黑" pitchFamily="34" charset="-122"/>
                <a:cs typeface="Times New Roman" pitchFamily="18" charset="0"/>
              </a:rPr>
              <a:t>如图所示</a:t>
            </a:r>
            <a:r>
              <a:rPr lang="zh-CN" altLang="zh-CN" sz="2400" b="1" dirty="0">
                <a:latin typeface="Times New Roman" pitchFamily="18" charset="0"/>
                <a:ea typeface="微软雅黑" pitchFamily="34" charset="-122"/>
                <a:cs typeface="Times New Roman" pitchFamily="18" charset="0"/>
              </a:rPr>
              <a:t>，半径为</a:t>
            </a:r>
            <a:r>
              <a:rPr lang="en-US" altLang="zh-CN" sz="2400" b="1" dirty="0">
                <a:latin typeface="Times New Roman" pitchFamily="18" charset="0"/>
                <a:ea typeface="微软雅黑" pitchFamily="34" charset="-122"/>
                <a:cs typeface="Times New Roman" pitchFamily="18" charset="0"/>
              </a:rPr>
              <a:t>r</a:t>
            </a:r>
            <a:r>
              <a:rPr lang="zh-CN" altLang="zh-CN" sz="2400" b="1" dirty="0">
                <a:latin typeface="Times New Roman" pitchFamily="18" charset="0"/>
                <a:ea typeface="微软雅黑" pitchFamily="34" charset="-122"/>
                <a:cs typeface="Times New Roman" pitchFamily="18" charset="0"/>
              </a:rPr>
              <a:t>的半球面，求：</a:t>
            </a:r>
            <a:endParaRPr lang="en-US" altLang="zh-CN" sz="2400" b="1" dirty="0">
              <a:latin typeface="Times New Roman" pitchFamily="18" charset="0"/>
              <a:ea typeface="微软雅黑" pitchFamily="34" charset="-122"/>
              <a:cs typeface="Times New Roman" pitchFamily="18" charset="0"/>
            </a:endParaRPr>
          </a:p>
          <a:p>
            <a:pPr>
              <a:lnSpc>
                <a:spcPct val="150000"/>
              </a:lnSpc>
            </a:pPr>
            <a:r>
              <a:rPr lang="en-US" altLang="zh-CN" sz="2400" b="1" dirty="0">
                <a:latin typeface="Times New Roman" pitchFamily="18" charset="0"/>
                <a:ea typeface="微软雅黑" pitchFamily="34" charset="-122"/>
                <a:cs typeface="Times New Roman" pitchFamily="18" charset="0"/>
              </a:rPr>
              <a:t>(1)</a:t>
            </a:r>
            <a:r>
              <a:rPr lang="zh-CN" altLang="zh-CN" sz="2400" b="1" dirty="0">
                <a:latin typeface="Times New Roman" pitchFamily="18" charset="0"/>
                <a:ea typeface="微软雅黑" pitchFamily="34" charset="-122"/>
                <a:cs typeface="Times New Roman" pitchFamily="18" charset="0"/>
              </a:rPr>
              <a:t>球面上阴影微面元</a:t>
            </a:r>
            <a:r>
              <a:rPr lang="en-US" altLang="zh-CN" sz="2400" b="1" dirty="0">
                <a:latin typeface="Times New Roman" pitchFamily="18" charset="0"/>
                <a:ea typeface="微软雅黑" pitchFamily="34" charset="-122"/>
                <a:cs typeface="Times New Roman" pitchFamily="18" charset="0"/>
              </a:rPr>
              <a:t>dS</a:t>
            </a:r>
            <a:r>
              <a:rPr lang="zh-CN" altLang="zh-CN" sz="2400" b="1" dirty="0">
                <a:latin typeface="Times New Roman" pitchFamily="18" charset="0"/>
                <a:ea typeface="微软雅黑" pitchFamily="34" charset="-122"/>
                <a:cs typeface="Times New Roman" pitchFamily="18" charset="0"/>
              </a:rPr>
              <a:t>所包含的微立体角；</a:t>
            </a:r>
            <a:endParaRPr lang="zh-CN" altLang="en-US" sz="2400" b="1" dirty="0">
              <a:latin typeface="Times New Roman" pitchFamily="18" charset="0"/>
              <a:ea typeface="微软雅黑" pitchFamily="34" charset="-122"/>
              <a:cs typeface="Times New Roman" pitchFamily="18" charset="0"/>
            </a:endParaRPr>
          </a:p>
        </p:txBody>
      </p:sp>
      <p:graphicFrame>
        <p:nvGraphicFramePr>
          <p:cNvPr id="57" name="对象 56">
            <a:extLst>
              <a:ext uri="{FF2B5EF4-FFF2-40B4-BE49-F238E27FC236}">
                <a16:creationId xmlns:a16="http://schemas.microsoft.com/office/drawing/2014/main" id="{7119A886-2D1C-4E37-8593-2A12DDAC10F1}"/>
              </a:ext>
            </a:extLst>
          </p:cNvPr>
          <p:cNvGraphicFramePr>
            <a:graphicFrameLocks noChangeAspect="1"/>
          </p:cNvGraphicFramePr>
          <p:nvPr>
            <p:extLst>
              <p:ext uri="{D42A27DB-BD31-4B8C-83A1-F6EECF244321}">
                <p14:modId xmlns:p14="http://schemas.microsoft.com/office/powerpoint/2010/main" val="1873044837"/>
              </p:ext>
            </p:extLst>
          </p:nvPr>
        </p:nvGraphicFramePr>
        <p:xfrm>
          <a:off x="1185863" y="2189710"/>
          <a:ext cx="4152900" cy="560388"/>
        </p:xfrm>
        <a:graphic>
          <a:graphicData uri="http://schemas.openxmlformats.org/presentationml/2006/ole">
            <mc:AlternateContent xmlns:mc="http://schemas.openxmlformats.org/markup-compatibility/2006">
              <mc:Choice xmlns:v="urn:schemas-microsoft-com:vml" Requires="v">
                <p:oleObj name="公式" r:id="rId10" imgW="1498320" imgH="203040" progId="Equation.3">
                  <p:embed/>
                </p:oleObj>
              </mc:Choice>
              <mc:Fallback>
                <p:oleObj name="公式" r:id="rId10" imgW="1498320" imgH="203040" progId="Equation.3">
                  <p:embed/>
                  <p:pic>
                    <p:nvPicPr>
                      <p:cNvPr id="4" name="对象 3"/>
                      <p:cNvPicPr>
                        <a:picLocks noChangeAspect="1" noChangeArrowheads="1"/>
                      </p:cNvPicPr>
                      <p:nvPr/>
                    </p:nvPicPr>
                    <p:blipFill>
                      <a:blip r:embed="rId11"/>
                      <a:srcRect/>
                      <a:stretch>
                        <a:fillRect/>
                      </a:stretch>
                    </p:blipFill>
                    <p:spPr bwMode="auto">
                      <a:xfrm>
                        <a:off x="1185863" y="2189710"/>
                        <a:ext cx="4152900" cy="5603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 name="对象 57">
            <a:extLst>
              <a:ext uri="{FF2B5EF4-FFF2-40B4-BE49-F238E27FC236}">
                <a16:creationId xmlns:a16="http://schemas.microsoft.com/office/drawing/2014/main" id="{CC9DEE6F-7562-45DD-B6A7-CBB554740374}"/>
              </a:ext>
            </a:extLst>
          </p:cNvPr>
          <p:cNvGraphicFramePr>
            <a:graphicFrameLocks noChangeAspect="1"/>
          </p:cNvGraphicFramePr>
          <p:nvPr>
            <p:extLst>
              <p:ext uri="{D42A27DB-BD31-4B8C-83A1-F6EECF244321}">
                <p14:modId xmlns:p14="http://schemas.microsoft.com/office/powerpoint/2010/main" val="3374098224"/>
              </p:ext>
            </p:extLst>
          </p:nvPr>
        </p:nvGraphicFramePr>
        <p:xfrm>
          <a:off x="5372421" y="2186059"/>
          <a:ext cx="2616740" cy="575243"/>
        </p:xfrm>
        <a:graphic>
          <a:graphicData uri="http://schemas.openxmlformats.org/presentationml/2006/ole">
            <mc:AlternateContent xmlns:mc="http://schemas.openxmlformats.org/markup-compatibility/2006">
              <mc:Choice xmlns:v="urn:schemas-microsoft-com:vml" Requires="v">
                <p:oleObj name="公式" r:id="rId12" imgW="1091880" imgH="241200" progId="Equation.3">
                  <p:embed/>
                </p:oleObj>
              </mc:Choice>
              <mc:Fallback>
                <p:oleObj name="公式" r:id="rId12" imgW="1091880" imgH="241200" progId="Equation.3">
                  <p:embed/>
                  <p:pic>
                    <p:nvPicPr>
                      <p:cNvPr id="5" name="对象 4"/>
                      <p:cNvPicPr>
                        <a:picLocks noChangeAspect="1" noChangeArrowheads="1"/>
                      </p:cNvPicPr>
                      <p:nvPr/>
                    </p:nvPicPr>
                    <p:blipFill>
                      <a:blip r:embed="rId13"/>
                      <a:srcRect/>
                      <a:stretch>
                        <a:fillRect/>
                      </a:stretch>
                    </p:blipFill>
                    <p:spPr bwMode="auto">
                      <a:xfrm>
                        <a:off x="5372421" y="2186059"/>
                        <a:ext cx="2616740" cy="575243"/>
                      </a:xfrm>
                      <a:prstGeom prst="rect">
                        <a:avLst/>
                      </a:prstGeom>
                      <a:solidFill>
                        <a:srgbClr val="92D050"/>
                      </a:solidFill>
                      <a:ln>
                        <a:noFill/>
                      </a:ln>
                    </p:spPr>
                  </p:pic>
                </p:oleObj>
              </mc:Fallback>
            </mc:AlternateContent>
          </a:graphicData>
        </a:graphic>
      </p:graphicFrame>
      <p:sp>
        <p:nvSpPr>
          <p:cNvPr id="59" name="TextBox 1">
            <a:extLst>
              <a:ext uri="{FF2B5EF4-FFF2-40B4-BE49-F238E27FC236}">
                <a16:creationId xmlns:a16="http://schemas.microsoft.com/office/drawing/2014/main" id="{00CAF892-9A2D-45A2-B307-DDE22BBA1A6F}"/>
              </a:ext>
            </a:extLst>
          </p:cNvPr>
          <p:cNvSpPr txBox="1"/>
          <p:nvPr/>
        </p:nvSpPr>
        <p:spPr>
          <a:xfrm>
            <a:off x="705972" y="3556391"/>
            <a:ext cx="6211988" cy="646331"/>
          </a:xfrm>
          <a:prstGeom prst="rect">
            <a:avLst/>
          </a:prstGeom>
          <a:noFill/>
        </p:spPr>
        <p:txBody>
          <a:bodyPr wrap="square" rtlCol="0">
            <a:spAutoFit/>
          </a:bodyPr>
          <a:lstStyle/>
          <a:p>
            <a:pPr>
              <a:lnSpc>
                <a:spcPct val="150000"/>
              </a:lnSpc>
            </a:pPr>
            <a:r>
              <a:rPr lang="en-US" altLang="zh-CN" sz="2400" b="1" dirty="0">
                <a:latin typeface="Times New Roman" pitchFamily="18" charset="0"/>
                <a:ea typeface="微软雅黑" pitchFamily="34" charset="-122"/>
                <a:cs typeface="Times New Roman" pitchFamily="18" charset="0"/>
              </a:rPr>
              <a:t>(2)</a:t>
            </a:r>
            <a:r>
              <a:rPr lang="zh-CN" altLang="zh-CN" sz="2400" b="1" dirty="0">
                <a:latin typeface="Times New Roman" pitchFamily="18" charset="0"/>
                <a:ea typeface="微软雅黑" pitchFamily="34" charset="-122"/>
                <a:cs typeface="Times New Roman" pitchFamily="18" charset="0"/>
              </a:rPr>
              <a:t>半顶角为</a:t>
            </a:r>
            <a:r>
              <a:rPr lang="el-GR" altLang="zh-CN" sz="2400" b="1" dirty="0">
                <a:latin typeface="Times New Roman" pitchFamily="18" charset="0"/>
                <a:ea typeface="微软雅黑" pitchFamily="34" charset="-122"/>
                <a:cs typeface="Times New Roman" pitchFamily="18" charset="0"/>
              </a:rPr>
              <a:t>φ</a:t>
            </a:r>
            <a:r>
              <a:rPr lang="zh-CN" altLang="zh-CN" sz="2400" b="1" dirty="0">
                <a:latin typeface="Times New Roman" pitchFamily="18" charset="0"/>
                <a:ea typeface="微软雅黑" pitchFamily="34" charset="-122"/>
                <a:cs typeface="Times New Roman" pitchFamily="18" charset="0"/>
              </a:rPr>
              <a:t>的圆锥面所包含的立体角。</a:t>
            </a:r>
            <a:endParaRPr lang="zh-CN" altLang="en-US" sz="2400" b="1" dirty="0">
              <a:latin typeface="Times New Roman" pitchFamily="18" charset="0"/>
              <a:ea typeface="微软雅黑" pitchFamily="34" charset="-122"/>
              <a:cs typeface="Times New Roman" pitchFamily="18" charset="0"/>
            </a:endParaRPr>
          </a:p>
        </p:txBody>
      </p:sp>
      <p:sp>
        <p:nvSpPr>
          <p:cNvPr id="20" name="文本框 60">
            <a:extLst>
              <a:ext uri="{FF2B5EF4-FFF2-40B4-BE49-F238E27FC236}">
                <a16:creationId xmlns:a16="http://schemas.microsoft.com/office/drawing/2014/main" id="{791D85D7-F412-9C48-9F2B-E33F5B7B4F3C}"/>
              </a:ext>
            </a:extLst>
          </p:cNvPr>
          <p:cNvSpPr txBox="1"/>
          <p:nvPr/>
        </p:nvSpPr>
        <p:spPr>
          <a:xfrm>
            <a:off x="1364781" y="293282"/>
            <a:ext cx="1237724"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电磁辐射</a:t>
            </a:r>
          </a:p>
        </p:txBody>
      </p:sp>
      <p:cxnSp>
        <p:nvCxnSpPr>
          <p:cNvPr id="21" name="直接连接符 58">
            <a:extLst>
              <a:ext uri="{FF2B5EF4-FFF2-40B4-BE49-F238E27FC236}">
                <a16:creationId xmlns:a16="http://schemas.microsoft.com/office/drawing/2014/main" id="{8C5F82EF-52B4-4531-96F0-44689EA1125E}"/>
              </a:ext>
            </a:extLst>
          </p:cNvPr>
          <p:cNvCxnSpPr>
            <a:cxnSpLocks/>
          </p:cNvCxnSpPr>
          <p:nvPr/>
        </p:nvCxnSpPr>
        <p:spPr>
          <a:xfrm flipV="1">
            <a:off x="1450505" y="698269"/>
            <a:ext cx="1123115" cy="1273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13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p:cTn id="12" dur="500" fill="hold"/>
                                        <p:tgtEl>
                                          <p:spTgt spid="55"/>
                                        </p:tgtEl>
                                        <p:attrNameLst>
                                          <p:attrName>ppt_w</p:attrName>
                                        </p:attrNameLst>
                                      </p:cBhvr>
                                      <p:tavLst>
                                        <p:tav tm="0">
                                          <p:val>
                                            <p:fltVal val="0"/>
                                          </p:val>
                                        </p:tav>
                                        <p:tav tm="100000">
                                          <p:val>
                                            <p:strVal val="#ppt_w"/>
                                          </p:val>
                                        </p:tav>
                                      </p:tavLst>
                                    </p:anim>
                                    <p:anim calcmode="lin" valueType="num">
                                      <p:cBhvr>
                                        <p:cTn id="13" dur="500" fill="hold"/>
                                        <p:tgtEl>
                                          <p:spTgt spid="55"/>
                                        </p:tgtEl>
                                        <p:attrNameLst>
                                          <p:attrName>ppt_h</p:attrName>
                                        </p:attrNameLst>
                                      </p:cBhvr>
                                      <p:tavLst>
                                        <p:tav tm="0">
                                          <p:val>
                                            <p:fltVal val="0"/>
                                          </p:val>
                                        </p:tav>
                                        <p:tav tm="100000">
                                          <p:val>
                                            <p:strVal val="#ppt_h"/>
                                          </p:val>
                                        </p:tav>
                                      </p:tavLst>
                                    </p:anim>
                                    <p:animEffect transition="in" filter="fade">
                                      <p:cBhvr>
                                        <p:cTn id="14" dur="500"/>
                                        <p:tgtEl>
                                          <p:spTgt spid="5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p:cTn id="19" dur="500" fill="hold"/>
                                        <p:tgtEl>
                                          <p:spTgt spid="56"/>
                                        </p:tgtEl>
                                        <p:attrNameLst>
                                          <p:attrName>ppt_w</p:attrName>
                                        </p:attrNameLst>
                                      </p:cBhvr>
                                      <p:tavLst>
                                        <p:tav tm="0">
                                          <p:val>
                                            <p:fltVal val="0"/>
                                          </p:val>
                                        </p:tav>
                                        <p:tav tm="100000">
                                          <p:val>
                                            <p:strVal val="#ppt_w"/>
                                          </p:val>
                                        </p:tav>
                                      </p:tavLst>
                                    </p:anim>
                                    <p:anim calcmode="lin" valueType="num">
                                      <p:cBhvr>
                                        <p:cTn id="20" dur="500" fill="hold"/>
                                        <p:tgtEl>
                                          <p:spTgt spid="56"/>
                                        </p:tgtEl>
                                        <p:attrNameLst>
                                          <p:attrName>ppt_h</p:attrName>
                                        </p:attrNameLst>
                                      </p:cBhvr>
                                      <p:tavLst>
                                        <p:tav tm="0">
                                          <p:val>
                                            <p:fltVal val="0"/>
                                          </p:val>
                                        </p:tav>
                                        <p:tav tm="100000">
                                          <p:val>
                                            <p:strVal val="#ppt_h"/>
                                          </p:val>
                                        </p:tav>
                                      </p:tavLst>
                                    </p:anim>
                                    <p:animEffect transition="in" filter="fade">
                                      <p:cBhvr>
                                        <p:cTn id="21" dur="500"/>
                                        <p:tgtEl>
                                          <p:spTgt spid="5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checkerboard(across)">
                                      <p:cBhvr>
                                        <p:cTn id="26" dur="500"/>
                                        <p:tgtEl>
                                          <p:spTgt spid="57"/>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checkerboard(across)">
                                      <p:cBhvr>
                                        <p:cTn id="31" dur="500"/>
                                        <p:tgtEl>
                                          <p:spTgt spid="58"/>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box(in)">
                                      <p:cBhvr>
                                        <p:cTn id="36" dur="500"/>
                                        <p:tgtEl>
                                          <p:spTgt spid="54"/>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59"/>
                                        </p:tgtEl>
                                        <p:attrNameLst>
                                          <p:attrName>style.visibility</p:attrName>
                                        </p:attrNameLst>
                                      </p:cBhvr>
                                      <p:to>
                                        <p:strVal val="visible"/>
                                      </p:to>
                                    </p:set>
                                    <p:anim calcmode="lin" valueType="num">
                                      <p:cBhvr>
                                        <p:cTn id="41" dur="500" fill="hold"/>
                                        <p:tgtEl>
                                          <p:spTgt spid="59"/>
                                        </p:tgtEl>
                                        <p:attrNameLst>
                                          <p:attrName>ppt_w</p:attrName>
                                        </p:attrNameLst>
                                      </p:cBhvr>
                                      <p:tavLst>
                                        <p:tav tm="0">
                                          <p:val>
                                            <p:fltVal val="0"/>
                                          </p:val>
                                        </p:tav>
                                        <p:tav tm="100000">
                                          <p:val>
                                            <p:strVal val="#ppt_w"/>
                                          </p:val>
                                        </p:tav>
                                      </p:tavLst>
                                    </p:anim>
                                    <p:anim calcmode="lin" valueType="num">
                                      <p:cBhvr>
                                        <p:cTn id="42" dur="500" fill="hold"/>
                                        <p:tgtEl>
                                          <p:spTgt spid="59"/>
                                        </p:tgtEl>
                                        <p:attrNameLst>
                                          <p:attrName>ppt_h</p:attrName>
                                        </p:attrNameLst>
                                      </p:cBhvr>
                                      <p:tavLst>
                                        <p:tav tm="0">
                                          <p:val>
                                            <p:fltVal val="0"/>
                                          </p:val>
                                        </p:tav>
                                        <p:tav tm="100000">
                                          <p:val>
                                            <p:strVal val="#ppt_h"/>
                                          </p:val>
                                        </p:tav>
                                      </p:tavLst>
                                    </p:anim>
                                    <p:animEffect transition="in" filter="fade">
                                      <p:cBhvr>
                                        <p:cTn id="43" dur="500"/>
                                        <p:tgtEl>
                                          <p:spTgt spid="59"/>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nodeType="click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box(in)">
                                      <p:cBhvr>
                                        <p:cTn id="48" dur="500"/>
                                        <p:tgtEl>
                                          <p:spTgt spid="51"/>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box(in)">
                                      <p:cBhvr>
                                        <p:cTn id="53" dur="500"/>
                                        <p:tgtEl>
                                          <p:spTgt spid="53"/>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52"/>
                                        </p:tgtEl>
                                        <p:attrNameLst>
                                          <p:attrName>style.visibility</p:attrName>
                                        </p:attrNameLst>
                                      </p:cBhvr>
                                      <p:to>
                                        <p:strVal val="visible"/>
                                      </p:to>
                                    </p:set>
                                    <p:anim calcmode="lin" valueType="num">
                                      <p:cBhvr additive="base">
                                        <p:cTn id="58" dur="500" fill="hold"/>
                                        <p:tgtEl>
                                          <p:spTgt spid="52"/>
                                        </p:tgtEl>
                                        <p:attrNameLst>
                                          <p:attrName>ppt_x</p:attrName>
                                        </p:attrNameLst>
                                      </p:cBhvr>
                                      <p:tavLst>
                                        <p:tav tm="0">
                                          <p:val>
                                            <p:strVal val="0-#ppt_w/2"/>
                                          </p:val>
                                        </p:tav>
                                        <p:tav tm="100000">
                                          <p:val>
                                            <p:strVal val="#ppt_x"/>
                                          </p:val>
                                        </p:tav>
                                      </p:tavLst>
                                    </p:anim>
                                    <p:anim calcmode="lin" valueType="num">
                                      <p:cBhvr additive="base">
                                        <p:cTn id="59" dur="500" fill="hold"/>
                                        <p:tgtEl>
                                          <p:spTgt spid="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2" grpId="0" autoUpdateAnimBg="0"/>
      <p:bldP spid="56" grpId="0"/>
      <p:bldP spid="5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辐射度基本物理量</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辐射度基本物理量</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856162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辐射度基本物理量</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5">
            <a:extLst>
              <a:ext uri="{FF2B5EF4-FFF2-40B4-BE49-F238E27FC236}">
                <a16:creationId xmlns:a16="http://schemas.microsoft.com/office/drawing/2014/main" id="{40FB2903-37E1-411A-A956-C444A40F1F88}"/>
              </a:ext>
            </a:extLst>
          </p:cNvPr>
          <p:cNvSpPr txBox="1">
            <a:spLocks noChangeArrowheads="1"/>
          </p:cNvSpPr>
          <p:nvPr/>
        </p:nvSpPr>
        <p:spPr bwMode="auto">
          <a:xfrm>
            <a:off x="593932" y="1458035"/>
            <a:ext cx="10232953" cy="738664"/>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u="sng" dirty="0">
                <a:solidFill>
                  <a:srgbClr val="FF0000"/>
                </a:solidFill>
                <a:latin typeface="Times New Roman" pitchFamily="18" charset="0"/>
                <a:ea typeface="微软雅黑" pitchFamily="34" charset="-122"/>
                <a:cs typeface="Times New Roman" pitchFamily="18" charset="0"/>
              </a:rPr>
              <a:t>辐射度学</a:t>
            </a:r>
            <a:r>
              <a:rPr kumimoji="1" lang="en-US" altLang="zh-CN" sz="2800" b="1" u="sng" dirty="0">
                <a:latin typeface="Times New Roman" pitchFamily="18" charset="0"/>
                <a:ea typeface="微软雅黑" pitchFamily="34" charset="-122"/>
                <a:cs typeface="Times New Roman" pitchFamily="18" charset="0"/>
              </a:rPr>
              <a:t>(</a:t>
            </a:r>
            <a:r>
              <a:rPr kumimoji="1" lang="en-US" altLang="zh-CN" sz="2800" b="1" u="sng" dirty="0">
                <a:solidFill>
                  <a:srgbClr val="FF0080"/>
                </a:solidFill>
                <a:latin typeface="Times New Roman" pitchFamily="18" charset="0"/>
                <a:ea typeface="微软雅黑" pitchFamily="34" charset="-122"/>
                <a:cs typeface="Times New Roman" pitchFamily="18" charset="0"/>
              </a:rPr>
              <a:t>Radiometry</a:t>
            </a:r>
            <a:r>
              <a:rPr kumimoji="1" lang="en-US" altLang="zh-CN" sz="2800" b="1" u="sng" dirty="0">
                <a:latin typeface="Times New Roman" pitchFamily="18" charset="0"/>
                <a:ea typeface="微软雅黑" pitchFamily="34"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是研究电磁辐射能测量的一门科学。</a:t>
            </a:r>
            <a:endParaRPr kumimoji="1" lang="en-US" altLang="zh-CN" sz="2800" b="1" dirty="0">
              <a:latin typeface="Times New Roman" pitchFamily="18" charset="0"/>
              <a:ea typeface="微软雅黑" pitchFamily="34" charset="-122"/>
              <a:cs typeface="Times New Roman" pitchFamily="18" charset="0"/>
            </a:endParaRPr>
          </a:p>
        </p:txBody>
      </p:sp>
      <p:sp>
        <p:nvSpPr>
          <p:cNvPr id="14" name="Text Box 6">
            <a:extLst>
              <a:ext uri="{FF2B5EF4-FFF2-40B4-BE49-F238E27FC236}">
                <a16:creationId xmlns:a16="http://schemas.microsoft.com/office/drawing/2014/main" id="{5B1C045E-637D-405D-BD72-5D43E363A058}"/>
              </a:ext>
            </a:extLst>
          </p:cNvPr>
          <p:cNvSpPr txBox="1">
            <a:spLocks noChangeArrowheads="1"/>
          </p:cNvSpPr>
          <p:nvPr/>
        </p:nvSpPr>
        <p:spPr bwMode="auto">
          <a:xfrm>
            <a:off x="604331" y="2050692"/>
            <a:ext cx="9142484" cy="738664"/>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u="sng" dirty="0">
                <a:solidFill>
                  <a:srgbClr val="FF0000"/>
                </a:solidFill>
                <a:latin typeface="Times New Roman" pitchFamily="18" charset="0"/>
                <a:ea typeface="微软雅黑" pitchFamily="34" charset="-122"/>
                <a:cs typeface="Times New Roman" pitchFamily="18" charset="0"/>
              </a:rPr>
              <a:t>辐射度量</a:t>
            </a:r>
            <a:r>
              <a:rPr kumimoji="1" lang="zh-CN" altLang="en-US" sz="2800" b="1" dirty="0">
                <a:latin typeface="Times New Roman" pitchFamily="18" charset="0"/>
                <a:ea typeface="微软雅黑" pitchFamily="34" charset="-122"/>
                <a:cs typeface="Times New Roman" pitchFamily="18" charset="0"/>
              </a:rPr>
              <a:t>是用能量单位描述电磁辐射能的客观物理量。</a:t>
            </a:r>
            <a:endParaRPr kumimoji="1" lang="en-US" altLang="zh-CN" sz="2800" b="1" dirty="0">
              <a:latin typeface="Times New Roman" pitchFamily="18" charset="0"/>
              <a:ea typeface="微软雅黑" pitchFamily="34" charset="-122"/>
              <a:cs typeface="Times New Roman" pitchFamily="18" charset="0"/>
            </a:endParaRPr>
          </a:p>
        </p:txBody>
      </p:sp>
      <p:sp>
        <p:nvSpPr>
          <p:cNvPr id="15" name="Text Box 10">
            <a:extLst>
              <a:ext uri="{FF2B5EF4-FFF2-40B4-BE49-F238E27FC236}">
                <a16:creationId xmlns:a16="http://schemas.microsoft.com/office/drawing/2014/main" id="{BE83844D-0C14-43C7-AC24-4A7F60956A81}"/>
              </a:ext>
            </a:extLst>
          </p:cNvPr>
          <p:cNvSpPr txBox="1">
            <a:spLocks noChangeArrowheads="1"/>
          </p:cNvSpPr>
          <p:nvPr/>
        </p:nvSpPr>
        <p:spPr bwMode="auto">
          <a:xfrm>
            <a:off x="4223898" y="873260"/>
            <a:ext cx="4321175" cy="584775"/>
          </a:xfrm>
          <a:prstGeom prst="rect">
            <a:avLst/>
          </a:prstGeom>
          <a:solidFill>
            <a:schemeClr val="accent6">
              <a:lumMod val="60000"/>
              <a:lumOff val="40000"/>
            </a:schemeClr>
          </a:solidFill>
          <a:ln w="9525">
            <a:noFill/>
            <a:miter lim="800000"/>
            <a:headEnd/>
            <a:tailEnd/>
          </a:ln>
        </p:spPr>
        <p:txBody>
          <a:bodyPr>
            <a:spAutoFit/>
          </a:bodyPr>
          <a:lstStyle/>
          <a:p>
            <a:pPr algn="ctr" defTabSz="914400">
              <a:spcBef>
                <a:spcPct val="50000"/>
              </a:spcBef>
              <a:defRPr/>
            </a:pPr>
            <a:r>
              <a:rPr kumimoji="1" lang="zh-CN" altLang="en-US" sz="3200" b="1" dirty="0">
                <a:solidFill>
                  <a:srgbClr val="0000CC"/>
                </a:solidFill>
                <a:latin typeface="微软雅黑" pitchFamily="34" charset="-122"/>
                <a:ea typeface="微软雅黑" pitchFamily="34" charset="-122"/>
              </a:rPr>
              <a:t>辐射度学与光度学</a:t>
            </a:r>
          </a:p>
        </p:txBody>
      </p:sp>
      <p:sp>
        <p:nvSpPr>
          <p:cNvPr id="16" name="Rectangle 11">
            <a:extLst>
              <a:ext uri="{FF2B5EF4-FFF2-40B4-BE49-F238E27FC236}">
                <a16:creationId xmlns:a16="http://schemas.microsoft.com/office/drawing/2014/main" id="{75AE7D41-213F-4DD5-B3C7-B02A47732395}"/>
              </a:ext>
            </a:extLst>
          </p:cNvPr>
          <p:cNvSpPr>
            <a:spLocks noChangeArrowheads="1"/>
          </p:cNvSpPr>
          <p:nvPr/>
        </p:nvSpPr>
        <p:spPr bwMode="auto">
          <a:xfrm>
            <a:off x="2300240" y="2847375"/>
            <a:ext cx="5429250" cy="67403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noFill/>
            <a:miter lim="800000"/>
            <a:headEnd/>
            <a:tailEnd/>
          </a:ln>
        </p:spPr>
        <p:txBody>
          <a:bodyPr>
            <a:spAutoFit/>
          </a:bodyPr>
          <a:lstStyle/>
          <a:p>
            <a:pPr algn="ctr" defTabSz="914400">
              <a:lnSpc>
                <a:spcPct val="135000"/>
              </a:lnSpc>
              <a:defRPr/>
            </a:pPr>
            <a:r>
              <a:rPr lang="zh-CN" altLang="en-US" sz="2800" b="1" dirty="0">
                <a:solidFill>
                  <a:srgbClr val="FF0000"/>
                </a:solidFill>
                <a:latin typeface="微软雅黑" pitchFamily="34" charset="-122"/>
                <a:ea typeface="微软雅黑" pitchFamily="34" charset="-122"/>
              </a:rPr>
              <a:t>辐射度学    </a:t>
            </a:r>
            <a:r>
              <a:rPr lang="zh-CN" altLang="en-US" sz="2800" b="1" dirty="0">
                <a:latin typeface="微软雅黑" pitchFamily="34" charset="-122"/>
                <a:ea typeface="微软雅黑" pitchFamily="34" charset="-122"/>
              </a:rPr>
              <a:t>电磁波    </a:t>
            </a:r>
            <a:r>
              <a:rPr lang="zh-CN" altLang="en-US" sz="2800" b="1" dirty="0">
                <a:solidFill>
                  <a:schemeClr val="bg1"/>
                </a:solidFill>
                <a:latin typeface="微软雅黑" pitchFamily="34" charset="-122"/>
                <a:ea typeface="微软雅黑" pitchFamily="34" charset="-122"/>
              </a:rPr>
              <a:t> </a:t>
            </a:r>
            <a:r>
              <a:rPr lang="zh-CN" altLang="en-US" sz="2800" b="1" dirty="0">
                <a:solidFill>
                  <a:srgbClr val="0000FF"/>
                </a:solidFill>
                <a:latin typeface="微软雅黑" pitchFamily="34" charset="-122"/>
                <a:ea typeface="微软雅黑" pitchFamily="34" charset="-122"/>
              </a:rPr>
              <a:t>客观</a:t>
            </a:r>
            <a:endParaRPr lang="zh-CN" altLang="en-US" sz="1400" b="1" dirty="0">
              <a:solidFill>
                <a:srgbClr val="0000FF"/>
              </a:solidFill>
              <a:latin typeface="微软雅黑" pitchFamily="34" charset="-122"/>
              <a:ea typeface="微软雅黑" pitchFamily="34" charset="-122"/>
            </a:endParaRPr>
          </a:p>
        </p:txBody>
      </p:sp>
      <p:sp>
        <p:nvSpPr>
          <p:cNvPr id="17" name="Rectangle 13">
            <a:extLst>
              <a:ext uri="{FF2B5EF4-FFF2-40B4-BE49-F238E27FC236}">
                <a16:creationId xmlns:a16="http://schemas.microsoft.com/office/drawing/2014/main" id="{ED47354A-2287-4D13-AB2C-70CB7849E682}"/>
              </a:ext>
            </a:extLst>
          </p:cNvPr>
          <p:cNvSpPr>
            <a:spLocks noChangeArrowheads="1"/>
          </p:cNvSpPr>
          <p:nvPr/>
        </p:nvSpPr>
        <p:spPr bwMode="auto">
          <a:xfrm>
            <a:off x="8077128" y="2896435"/>
            <a:ext cx="2584387" cy="523220"/>
          </a:xfrm>
          <a:prstGeom prst="rect">
            <a:avLst/>
          </a:prstGeom>
          <a:solidFill>
            <a:srgbClr val="FF00FF"/>
          </a:solidFill>
          <a:ln w="9525">
            <a:noFill/>
            <a:miter lim="800000"/>
            <a:headEnd/>
            <a:tailEnd/>
          </a:ln>
        </p:spPr>
        <p:txBody>
          <a:bodyPr wrap="square" anchor="ctr">
            <a:spAutoFit/>
          </a:bodyPr>
          <a:lstStyle/>
          <a:p>
            <a:pPr defTabSz="914400"/>
            <a:r>
              <a:rPr lang="zh-CN" altLang="en-US" sz="2800" b="1" dirty="0">
                <a:latin typeface="Times New Roman" pitchFamily="18" charset="0"/>
                <a:ea typeface="微软雅黑" pitchFamily="34" charset="-122"/>
                <a:cs typeface="Times New Roman" pitchFamily="18" charset="0"/>
              </a:rPr>
              <a:t>辐射度量， </a:t>
            </a:r>
            <a:r>
              <a:rPr lang="en-US" altLang="zh-CN" sz="2800" b="1" i="1" dirty="0" err="1">
                <a:latin typeface="Times New Roman" pitchFamily="18" charset="0"/>
                <a:ea typeface="微软雅黑" pitchFamily="34" charset="-122"/>
                <a:cs typeface="Times New Roman" pitchFamily="18" charset="0"/>
              </a:rPr>
              <a:t>X</a:t>
            </a:r>
            <a:r>
              <a:rPr lang="en-US" altLang="zh-CN" sz="2800" b="1" baseline="-25000" dirty="0" err="1">
                <a:latin typeface="Times New Roman" pitchFamily="18" charset="0"/>
                <a:ea typeface="微软雅黑" pitchFamily="34" charset="-122"/>
                <a:cs typeface="Times New Roman" pitchFamily="18" charset="0"/>
              </a:rPr>
              <a:t>e</a:t>
            </a:r>
            <a:r>
              <a:rPr lang="en-US" altLang="zh-CN" sz="2800" b="1" dirty="0">
                <a:solidFill>
                  <a:schemeClr val="bg1"/>
                </a:solidFill>
                <a:latin typeface="Times New Roman" pitchFamily="18" charset="0"/>
                <a:ea typeface="微软雅黑" pitchFamily="34" charset="-122"/>
                <a:cs typeface="Times New Roman" pitchFamily="18" charset="0"/>
              </a:rPr>
              <a:t> </a:t>
            </a:r>
          </a:p>
        </p:txBody>
      </p:sp>
      <p:sp>
        <p:nvSpPr>
          <p:cNvPr id="18" name="Text Box 4">
            <a:extLst>
              <a:ext uri="{FF2B5EF4-FFF2-40B4-BE49-F238E27FC236}">
                <a16:creationId xmlns:a16="http://schemas.microsoft.com/office/drawing/2014/main" id="{E4C0160A-70A7-468C-960D-F1EBA52080F3}"/>
              </a:ext>
            </a:extLst>
          </p:cNvPr>
          <p:cNvSpPr txBox="1">
            <a:spLocks noChangeArrowheads="1"/>
          </p:cNvSpPr>
          <p:nvPr/>
        </p:nvSpPr>
        <p:spPr bwMode="auto">
          <a:xfrm>
            <a:off x="604331" y="3633348"/>
            <a:ext cx="10144733" cy="671594"/>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u="sng" dirty="0">
                <a:solidFill>
                  <a:srgbClr val="FF0000"/>
                </a:solidFill>
                <a:latin typeface="华文琥珀" pitchFamily="2" charset="-122"/>
                <a:ea typeface="华文琥珀" pitchFamily="2" charset="-122"/>
                <a:cs typeface="Times New Roman" pitchFamily="18" charset="0"/>
              </a:rPr>
              <a:t>光度学</a:t>
            </a:r>
            <a:r>
              <a:rPr kumimoji="1" lang="en-US" altLang="zh-CN" sz="2800" b="1" u="sng" dirty="0">
                <a:latin typeface="Times New Roman" pitchFamily="18" charset="0"/>
                <a:ea typeface="黑体" pitchFamily="2" charset="-122"/>
                <a:cs typeface="Times New Roman" pitchFamily="18" charset="0"/>
              </a:rPr>
              <a:t>(</a:t>
            </a:r>
            <a:r>
              <a:rPr kumimoji="1" lang="en-US" altLang="zh-CN" sz="2800" b="1" u="sng" dirty="0">
                <a:solidFill>
                  <a:srgbClr val="FF0080"/>
                </a:solidFill>
                <a:latin typeface="Times New Roman" pitchFamily="18" charset="0"/>
                <a:ea typeface="黑体" pitchFamily="2" charset="-122"/>
                <a:cs typeface="Times New Roman" pitchFamily="18" charset="0"/>
              </a:rPr>
              <a:t>Photometry</a:t>
            </a:r>
            <a:r>
              <a:rPr kumimoji="1" lang="en-US" altLang="zh-CN" sz="2800" b="1" u="sng" dirty="0">
                <a:latin typeface="Times New Roman" pitchFamily="18" charset="0"/>
                <a:ea typeface="黑体" pitchFamily="2" charset="-122"/>
                <a:cs typeface="Times New Roman" pitchFamily="18" charset="0"/>
              </a:rPr>
              <a:t> )</a:t>
            </a:r>
            <a:r>
              <a:rPr kumimoji="1" lang="zh-CN" altLang="en-US" sz="2800" b="1" dirty="0">
                <a:latin typeface="微软雅黑" pitchFamily="34" charset="-122"/>
                <a:ea typeface="微软雅黑" pitchFamily="34" charset="-122"/>
                <a:cs typeface="Times New Roman" pitchFamily="18" charset="0"/>
              </a:rPr>
              <a:t>是研究光度测量的一门科学。</a:t>
            </a:r>
            <a:endParaRPr kumimoji="1" lang="en-US" altLang="zh-CN" sz="2800" b="1" dirty="0">
              <a:latin typeface="微软雅黑" pitchFamily="34" charset="-122"/>
              <a:ea typeface="微软雅黑" pitchFamily="34" charset="-122"/>
              <a:cs typeface="Times New Roman" pitchFamily="18" charset="0"/>
            </a:endParaRPr>
          </a:p>
        </p:txBody>
      </p:sp>
      <p:sp>
        <p:nvSpPr>
          <p:cNvPr id="21" name="Text Box 5">
            <a:extLst>
              <a:ext uri="{FF2B5EF4-FFF2-40B4-BE49-F238E27FC236}">
                <a16:creationId xmlns:a16="http://schemas.microsoft.com/office/drawing/2014/main" id="{40576ED0-B582-4C82-A450-BDBD190C8758}"/>
              </a:ext>
            </a:extLst>
          </p:cNvPr>
          <p:cNvSpPr txBox="1">
            <a:spLocks noChangeArrowheads="1"/>
          </p:cNvSpPr>
          <p:nvPr/>
        </p:nvSpPr>
        <p:spPr bwMode="auto">
          <a:xfrm>
            <a:off x="593931" y="4304942"/>
            <a:ext cx="12645413"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u="sng" dirty="0">
                <a:solidFill>
                  <a:srgbClr val="FF0000"/>
                </a:solidFill>
                <a:latin typeface="华文琥珀" pitchFamily="2" charset="-122"/>
                <a:ea typeface="华文琥珀" pitchFamily="2" charset="-122"/>
                <a:cs typeface="Times New Roman" pitchFamily="18" charset="0"/>
              </a:rPr>
              <a:t>光度量</a:t>
            </a:r>
            <a:r>
              <a:rPr kumimoji="1" lang="en-US" altLang="zh-CN" sz="2800" b="1" u="sng" dirty="0">
                <a:solidFill>
                  <a:srgbClr val="FF0066"/>
                </a:solidFill>
                <a:latin typeface="Times New Roman" pitchFamily="18" charset="0"/>
                <a:ea typeface="黑体" pitchFamily="2" charset="-122"/>
                <a:cs typeface="Times New Roman" pitchFamily="18" charset="0"/>
              </a:rPr>
              <a:t>(Photometric quantity)</a:t>
            </a:r>
            <a:r>
              <a:rPr kumimoji="1" lang="zh-CN" altLang="en-US" sz="2800" b="1" dirty="0">
                <a:latin typeface="微软雅黑" pitchFamily="34" charset="-122"/>
                <a:ea typeface="微软雅黑" pitchFamily="34" charset="-122"/>
                <a:cs typeface="Times New Roman" pitchFamily="18" charset="0"/>
              </a:rPr>
              <a:t>是光辐射能为平均人眼接受所引起的视觉刺激大小的度量。</a:t>
            </a:r>
            <a:endParaRPr kumimoji="1" lang="en-US" altLang="zh-CN" sz="2800" b="1" dirty="0">
              <a:latin typeface="微软雅黑" pitchFamily="34" charset="-122"/>
              <a:ea typeface="微软雅黑" pitchFamily="34" charset="-122"/>
              <a:cs typeface="Times New Roman" pitchFamily="18" charset="0"/>
            </a:endParaRPr>
          </a:p>
        </p:txBody>
      </p:sp>
      <p:sp>
        <p:nvSpPr>
          <p:cNvPr id="22" name="Rectangle 6">
            <a:extLst>
              <a:ext uri="{FF2B5EF4-FFF2-40B4-BE49-F238E27FC236}">
                <a16:creationId xmlns:a16="http://schemas.microsoft.com/office/drawing/2014/main" id="{3CD37C79-96A4-4637-8BED-7A2FA9A1546F}"/>
              </a:ext>
            </a:extLst>
          </p:cNvPr>
          <p:cNvSpPr>
            <a:spLocks noChangeArrowheads="1"/>
          </p:cNvSpPr>
          <p:nvPr/>
        </p:nvSpPr>
        <p:spPr bwMode="auto">
          <a:xfrm>
            <a:off x="2300240" y="5500129"/>
            <a:ext cx="8104188" cy="664797"/>
          </a:xfrm>
          <a:prstGeom prst="rect">
            <a:avLst/>
          </a:prstGeom>
          <a:solidFill>
            <a:srgbClr val="0000FF"/>
          </a:solidFill>
          <a:ln w="9525">
            <a:noFill/>
            <a:miter lim="800000"/>
            <a:headEnd/>
            <a:tailEnd/>
          </a:ln>
        </p:spPr>
        <p:txBody>
          <a:bodyPr lIns="0" tIns="0" rIns="0" bIns="0">
            <a:spAutoFit/>
          </a:bodyPr>
          <a:lstStyle/>
          <a:p>
            <a:pPr algn="ctr" defTabSz="914400">
              <a:lnSpc>
                <a:spcPct val="135000"/>
              </a:lnSpc>
            </a:pPr>
            <a:r>
              <a:rPr lang="zh-CN" altLang="en-US" sz="3200" b="1" dirty="0">
                <a:solidFill>
                  <a:srgbClr val="FFFF00"/>
                </a:solidFill>
                <a:latin typeface="微软雅黑" pitchFamily="34" charset="-122"/>
                <a:ea typeface="微软雅黑" pitchFamily="34" charset="-122"/>
              </a:rPr>
              <a:t>光度学    </a:t>
            </a:r>
            <a:r>
              <a:rPr lang="zh-CN" altLang="en-US" sz="3200" b="1" dirty="0">
                <a:solidFill>
                  <a:schemeClr val="bg1"/>
                </a:solidFill>
                <a:latin typeface="微软雅黑" pitchFamily="34" charset="-122"/>
                <a:ea typeface="微软雅黑" pitchFamily="34" charset="-122"/>
              </a:rPr>
              <a:t>可见光     </a:t>
            </a:r>
            <a:r>
              <a:rPr lang="zh-CN" altLang="en-US" sz="3200" b="1" dirty="0">
                <a:solidFill>
                  <a:srgbClr val="00FF00"/>
                </a:solidFill>
                <a:latin typeface="微软雅黑" pitchFamily="34" charset="-122"/>
                <a:ea typeface="微软雅黑" pitchFamily="34" charset="-122"/>
              </a:rPr>
              <a:t>主观（生理、心理）</a:t>
            </a:r>
          </a:p>
        </p:txBody>
      </p:sp>
      <p:sp>
        <p:nvSpPr>
          <p:cNvPr id="23" name="Rectangle 7">
            <a:extLst>
              <a:ext uri="{FF2B5EF4-FFF2-40B4-BE49-F238E27FC236}">
                <a16:creationId xmlns:a16="http://schemas.microsoft.com/office/drawing/2014/main" id="{BD4DCCC9-2644-4467-A935-D520D4E6A15D}"/>
              </a:ext>
            </a:extLst>
          </p:cNvPr>
          <p:cNvSpPr>
            <a:spLocks noChangeArrowheads="1"/>
          </p:cNvSpPr>
          <p:nvPr/>
        </p:nvSpPr>
        <p:spPr bwMode="auto">
          <a:xfrm>
            <a:off x="2489947" y="6544809"/>
            <a:ext cx="3862387" cy="579437"/>
          </a:xfrm>
          <a:prstGeom prst="rect">
            <a:avLst/>
          </a:prstGeom>
          <a:solidFill>
            <a:srgbClr val="FFC000"/>
          </a:solidFill>
          <a:ln w="9525">
            <a:noFill/>
            <a:miter lim="800000"/>
            <a:headEnd/>
            <a:tailEnd/>
          </a:ln>
        </p:spPr>
        <p:txBody>
          <a:bodyPr wrap="none" anchor="ctr">
            <a:spAutoFit/>
          </a:bodyPr>
          <a:lstStyle/>
          <a:p>
            <a:pPr defTabSz="914400"/>
            <a:r>
              <a:rPr lang="zh-CN" altLang="en-US" sz="3200" b="1" dirty="0">
                <a:latin typeface="Times New Roman" pitchFamily="18" charset="0"/>
                <a:ea typeface="微软雅黑" pitchFamily="34" charset="-122"/>
                <a:cs typeface="Times New Roman" pitchFamily="18" charset="0"/>
              </a:rPr>
              <a:t>可见光</a:t>
            </a:r>
            <a:r>
              <a:rPr lang="en-US" altLang="zh-CN" sz="3200" b="1" dirty="0">
                <a:latin typeface="Times New Roman" pitchFamily="18" charset="0"/>
                <a:ea typeface="微软雅黑" pitchFamily="34" charset="-122"/>
                <a:cs typeface="Times New Roman" pitchFamily="18" charset="0"/>
              </a:rPr>
              <a:t>(Visible light )</a:t>
            </a:r>
          </a:p>
        </p:txBody>
      </p:sp>
      <p:sp>
        <p:nvSpPr>
          <p:cNvPr id="27" name="Rectangle 8">
            <a:extLst>
              <a:ext uri="{FF2B5EF4-FFF2-40B4-BE49-F238E27FC236}">
                <a16:creationId xmlns:a16="http://schemas.microsoft.com/office/drawing/2014/main" id="{A24EF59D-5867-4C6B-8D58-DEAA3BF25FCD}"/>
              </a:ext>
            </a:extLst>
          </p:cNvPr>
          <p:cNvSpPr>
            <a:spLocks noChangeArrowheads="1"/>
          </p:cNvSpPr>
          <p:nvPr/>
        </p:nvSpPr>
        <p:spPr bwMode="auto">
          <a:xfrm>
            <a:off x="8094999" y="6544809"/>
            <a:ext cx="2566516" cy="523220"/>
          </a:xfrm>
          <a:prstGeom prst="rect">
            <a:avLst/>
          </a:prstGeom>
          <a:solidFill>
            <a:srgbClr val="FF00FF"/>
          </a:solidFill>
          <a:ln w="9525">
            <a:noFill/>
            <a:miter lim="800000"/>
            <a:headEnd/>
            <a:tailEnd/>
          </a:ln>
        </p:spPr>
        <p:txBody>
          <a:bodyPr wrap="square" anchor="ctr">
            <a:spAutoFit/>
          </a:bodyPr>
          <a:lstStyle/>
          <a:p>
            <a:pPr defTabSz="914400"/>
            <a:r>
              <a:rPr lang="zh-CN" altLang="en-US" sz="2800" b="1" dirty="0">
                <a:latin typeface="Times New Roman" pitchFamily="18" charset="0"/>
                <a:ea typeface="微软雅黑" pitchFamily="34" charset="-122"/>
                <a:cs typeface="Times New Roman" pitchFamily="18" charset="0"/>
              </a:rPr>
              <a:t>光度量， </a:t>
            </a:r>
            <a:r>
              <a:rPr lang="en-US" altLang="zh-CN" sz="2800" b="1" i="1" dirty="0">
                <a:latin typeface="Times New Roman" pitchFamily="18" charset="0"/>
                <a:ea typeface="微软雅黑" pitchFamily="34" charset="-122"/>
                <a:cs typeface="Times New Roman" pitchFamily="18" charset="0"/>
              </a:rPr>
              <a:t>X</a:t>
            </a:r>
            <a:r>
              <a:rPr lang="en-US" altLang="zh-CN" sz="2800" b="1" baseline="-25000" dirty="0">
                <a:latin typeface="Times New Roman" pitchFamily="18" charset="0"/>
                <a:ea typeface="微软雅黑" pitchFamily="34" charset="-122"/>
                <a:cs typeface="Times New Roman" pitchFamily="18" charset="0"/>
              </a:rPr>
              <a:t>v</a:t>
            </a:r>
            <a:r>
              <a:rPr lang="en-US" altLang="zh-CN" sz="2800" b="1" dirty="0">
                <a:solidFill>
                  <a:schemeClr val="bg1"/>
                </a:solidFill>
                <a:latin typeface="Times New Roman" pitchFamily="18" charset="0"/>
                <a:ea typeface="微软雅黑" pitchFamily="34" charset="-122"/>
                <a:cs typeface="Times New Roman" pitchFamily="18" charset="0"/>
              </a:rPr>
              <a:t> </a:t>
            </a:r>
          </a:p>
        </p:txBody>
      </p:sp>
    </p:spTree>
    <p:extLst>
      <p:ext uri="{BB962C8B-B14F-4D97-AF65-F5344CB8AC3E}">
        <p14:creationId xmlns:p14="http://schemas.microsoft.com/office/powerpoint/2010/main" val="179907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0-#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ppt_x</p:attrName>
                                        </p:attrNameLst>
                                      </p:cBhvr>
                                      <p:tavLst>
                                        <p:tav tm="0">
                                          <p:val>
                                            <p:strVal val="#ppt_x-#ppt_w/2"/>
                                          </p:val>
                                        </p:tav>
                                        <p:tav tm="100000">
                                          <p:val>
                                            <p:strVal val="#ppt_x"/>
                                          </p:val>
                                        </p:tav>
                                      </p:tavLst>
                                    </p:anim>
                                    <p:anim calcmode="lin" valueType="num">
                                      <p:cBhvr>
                                        <p:cTn id="25" dur="500" fill="hold"/>
                                        <p:tgtEl>
                                          <p:spTgt spid="16"/>
                                        </p:tgtEl>
                                        <p:attrNameLst>
                                          <p:attrName>ppt_y</p:attrName>
                                        </p:attrNameLst>
                                      </p:cBhvr>
                                      <p:tavLst>
                                        <p:tav tm="0">
                                          <p:val>
                                            <p:strVal val="#ppt_y"/>
                                          </p:val>
                                        </p:tav>
                                        <p:tav tm="100000">
                                          <p:val>
                                            <p:strVal val="#ppt_y"/>
                                          </p:val>
                                        </p:tav>
                                      </p:tavLst>
                                    </p:anim>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i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0-#ppt_w/2"/>
                                          </p:val>
                                        </p:tav>
                                        <p:tav tm="100000">
                                          <p:val>
                                            <p:strVal val="#ppt_x"/>
                                          </p:val>
                                        </p:tav>
                                      </p:tavLst>
                                    </p:anim>
                                    <p:anim calcmode="lin" valueType="num">
                                      <p:cBhvr additive="base">
                                        <p:cTn id="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0-#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ppt_x</p:attrName>
                                        </p:attrNameLst>
                                      </p:cBhvr>
                                      <p:tavLst>
                                        <p:tav tm="0">
                                          <p:val>
                                            <p:strVal val="#ppt_x-#ppt_w/2"/>
                                          </p:val>
                                        </p:tav>
                                        <p:tav tm="100000">
                                          <p:val>
                                            <p:strVal val="#ppt_x"/>
                                          </p:val>
                                        </p:tav>
                                      </p:tavLst>
                                    </p:anim>
                                    <p:anim calcmode="lin" valueType="num">
                                      <p:cBhvr>
                                        <p:cTn id="50" dur="500" fill="hold"/>
                                        <p:tgtEl>
                                          <p:spTgt spid="22"/>
                                        </p:tgtEl>
                                        <p:attrNameLst>
                                          <p:attrName>ppt_y</p:attrName>
                                        </p:attrNameLst>
                                      </p:cBhvr>
                                      <p:tavLst>
                                        <p:tav tm="0">
                                          <p:val>
                                            <p:strVal val="#ppt_y"/>
                                          </p:val>
                                        </p:tav>
                                        <p:tav tm="100000">
                                          <p:val>
                                            <p:strVal val="#ppt_y"/>
                                          </p:val>
                                        </p:tav>
                                      </p:tavLst>
                                    </p:anim>
                                    <p:anim calcmode="lin" valueType="num">
                                      <p:cBhvr>
                                        <p:cTn id="51" dur="500" fill="hold"/>
                                        <p:tgtEl>
                                          <p:spTgt spid="22"/>
                                        </p:tgtEl>
                                        <p:attrNameLst>
                                          <p:attrName>ppt_w</p:attrName>
                                        </p:attrNameLst>
                                      </p:cBhvr>
                                      <p:tavLst>
                                        <p:tav tm="0">
                                          <p:val>
                                            <p:fltVal val="0"/>
                                          </p:val>
                                        </p:tav>
                                        <p:tav tm="100000">
                                          <p:val>
                                            <p:strVal val="#ppt_w"/>
                                          </p:val>
                                        </p:tav>
                                      </p:tavLst>
                                    </p:anim>
                                    <p:anim calcmode="lin" valueType="num">
                                      <p:cBhvr>
                                        <p:cTn id="52"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ppt_x</p:attrName>
                                        </p:attrNameLst>
                                      </p:cBhvr>
                                      <p:tavLst>
                                        <p:tav tm="0">
                                          <p:val>
                                            <p:strVal val="#ppt_x-#ppt_w/2"/>
                                          </p:val>
                                        </p:tav>
                                        <p:tav tm="100000">
                                          <p:val>
                                            <p:strVal val="#ppt_x"/>
                                          </p:val>
                                        </p:tav>
                                      </p:tavLst>
                                    </p:anim>
                                    <p:anim calcmode="lin" valueType="num">
                                      <p:cBhvr>
                                        <p:cTn id="58" dur="500" fill="hold"/>
                                        <p:tgtEl>
                                          <p:spTgt spid="23"/>
                                        </p:tgtEl>
                                        <p:attrNameLst>
                                          <p:attrName>ppt_y</p:attrName>
                                        </p:attrNameLst>
                                      </p:cBhvr>
                                      <p:tavLst>
                                        <p:tav tm="0">
                                          <p:val>
                                            <p:strVal val="#ppt_y"/>
                                          </p:val>
                                        </p:tav>
                                        <p:tav tm="100000">
                                          <p:val>
                                            <p:strVal val="#ppt_y"/>
                                          </p:val>
                                        </p:tav>
                                      </p:tavLst>
                                    </p:anim>
                                    <p:anim calcmode="lin" valueType="num">
                                      <p:cBhvr>
                                        <p:cTn id="59" dur="500" fill="hold"/>
                                        <p:tgtEl>
                                          <p:spTgt spid="23"/>
                                        </p:tgtEl>
                                        <p:attrNameLst>
                                          <p:attrName>ppt_w</p:attrName>
                                        </p:attrNameLst>
                                      </p:cBhvr>
                                      <p:tavLst>
                                        <p:tav tm="0">
                                          <p:val>
                                            <p:fltVal val="0"/>
                                          </p:val>
                                        </p:tav>
                                        <p:tav tm="100000">
                                          <p:val>
                                            <p:strVal val="#ppt_w"/>
                                          </p:val>
                                        </p:tav>
                                      </p:tavLst>
                                    </p:anim>
                                    <p:anim calcmode="lin" valueType="num">
                                      <p:cBhvr>
                                        <p:cTn id="60" dur="500" fill="hold"/>
                                        <p:tgtEl>
                                          <p:spTgt spid="23"/>
                                        </p:tgtEl>
                                        <p:attrNameLst>
                                          <p:attrName>ppt_h</p:attrName>
                                        </p:attrNameLst>
                                      </p:cBhvr>
                                      <p:tavLst>
                                        <p:tav tm="0">
                                          <p:val>
                                            <p:strVal val="#ppt_h"/>
                                          </p:val>
                                        </p:tav>
                                        <p:tav tm="100000">
                                          <p:val>
                                            <p:strVal val="#ppt_h"/>
                                          </p:val>
                                        </p:tav>
                                      </p:tavLst>
                                    </p:anim>
                                  </p:childTnLst>
                                </p:cTn>
                              </p:par>
                              <p:par>
                                <p:cTn id="61" presetID="17" presetClass="entr" presetSubtype="8"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 calcmode="lin" valueType="num">
                                      <p:cBhvr>
                                        <p:cTn id="63" dur="500" fill="hold"/>
                                        <p:tgtEl>
                                          <p:spTgt spid="27"/>
                                        </p:tgtEl>
                                        <p:attrNameLst>
                                          <p:attrName>ppt_x</p:attrName>
                                        </p:attrNameLst>
                                      </p:cBhvr>
                                      <p:tavLst>
                                        <p:tav tm="0">
                                          <p:val>
                                            <p:strVal val="#ppt_x-#ppt_w/2"/>
                                          </p:val>
                                        </p:tav>
                                        <p:tav tm="100000">
                                          <p:val>
                                            <p:strVal val="#ppt_x"/>
                                          </p:val>
                                        </p:tav>
                                      </p:tavLst>
                                    </p:anim>
                                    <p:anim calcmode="lin" valueType="num">
                                      <p:cBhvr>
                                        <p:cTn id="64" dur="500" fill="hold"/>
                                        <p:tgtEl>
                                          <p:spTgt spid="27"/>
                                        </p:tgtEl>
                                        <p:attrNameLst>
                                          <p:attrName>ppt_y</p:attrName>
                                        </p:attrNameLst>
                                      </p:cBhvr>
                                      <p:tavLst>
                                        <p:tav tm="0">
                                          <p:val>
                                            <p:strVal val="#ppt_y"/>
                                          </p:val>
                                        </p:tav>
                                        <p:tav tm="100000">
                                          <p:val>
                                            <p:strVal val="#ppt_y"/>
                                          </p:val>
                                        </p:tav>
                                      </p:tavLst>
                                    </p:anim>
                                    <p:anim calcmode="lin" valueType="num">
                                      <p:cBhvr>
                                        <p:cTn id="65" dur="500" fill="hold"/>
                                        <p:tgtEl>
                                          <p:spTgt spid="27"/>
                                        </p:tgtEl>
                                        <p:attrNameLst>
                                          <p:attrName>ppt_w</p:attrName>
                                        </p:attrNameLst>
                                      </p:cBhvr>
                                      <p:tavLst>
                                        <p:tav tm="0">
                                          <p:val>
                                            <p:fltVal val="0"/>
                                          </p:val>
                                        </p:tav>
                                        <p:tav tm="100000">
                                          <p:val>
                                            <p:strVal val="#ppt_w"/>
                                          </p:val>
                                        </p:tav>
                                      </p:tavLst>
                                    </p:anim>
                                    <p:anim calcmode="lin" valueType="num">
                                      <p:cBhvr>
                                        <p:cTn id="66" dur="500" fill="hold"/>
                                        <p:tgtEl>
                                          <p:spTgt spid="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4" grpId="0" autoUpdateAnimBg="0"/>
      <p:bldP spid="15" grpId="0" animBg="1"/>
      <p:bldP spid="16" grpId="0" animBg="1"/>
      <p:bldP spid="17" grpId="0" animBg="1"/>
      <p:bldP spid="18" grpId="0" autoUpdateAnimBg="0"/>
      <p:bldP spid="21" grpId="0" autoUpdateAnimBg="0"/>
      <p:bldP spid="22" grpId="0" animBg="1"/>
      <p:bldP spid="23"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Text Box 4">
            <a:extLst>
              <a:ext uri="{FF2B5EF4-FFF2-40B4-BE49-F238E27FC236}">
                <a16:creationId xmlns:a16="http://schemas.microsoft.com/office/drawing/2014/main" id="{13B3CB2D-0F15-495A-B4F7-98BD3AD87961}"/>
              </a:ext>
            </a:extLst>
          </p:cNvPr>
          <p:cNvSpPr txBox="1">
            <a:spLocks noChangeArrowheads="1"/>
          </p:cNvSpPr>
          <p:nvPr/>
        </p:nvSpPr>
        <p:spPr bwMode="auto">
          <a:xfrm>
            <a:off x="1623607" y="1214294"/>
            <a:ext cx="5555405" cy="523220"/>
          </a:xfrm>
          <a:prstGeom prst="rect">
            <a:avLst/>
          </a:prstGeom>
          <a:noFill/>
          <a:ln w="9525">
            <a:noFill/>
            <a:miter lim="800000"/>
            <a:headEnd/>
            <a:tailEnd/>
          </a:ln>
        </p:spPr>
        <p:txBody>
          <a:bodyPr wrap="square">
            <a:spAutoFit/>
          </a:bodyPr>
          <a:lstStyle/>
          <a:p>
            <a:pPr defTabSz="914400">
              <a:spcBef>
                <a:spcPct val="50000"/>
              </a:spcBef>
              <a:defRPr/>
            </a:pPr>
            <a:r>
              <a:rPr lang="en-US" altLang="zh-CN" sz="2800" b="1" dirty="0">
                <a:solidFill>
                  <a:srgbClr val="0000FF"/>
                </a:solidFill>
                <a:latin typeface="Times New Roman" panose="02020603050405020304" pitchFamily="18" charset="0"/>
                <a:ea typeface="微软雅黑" pitchFamily="34" charset="-122"/>
                <a:cs typeface="Times New Roman" panose="02020603050405020304" pitchFamily="18" charset="0"/>
              </a:rPr>
              <a:t>1.2.1 </a:t>
            </a:r>
            <a:r>
              <a:rPr lang="zh-CN" altLang="en-US" sz="2800" b="1" dirty="0">
                <a:solidFill>
                  <a:srgbClr val="0000FF"/>
                </a:solidFill>
                <a:latin typeface="Times New Roman" panose="02020603050405020304" pitchFamily="18" charset="0"/>
                <a:ea typeface="微软雅黑" pitchFamily="34" charset="-122"/>
                <a:cs typeface="Times New Roman" panose="02020603050405020304" pitchFamily="18" charset="0"/>
              </a:rPr>
              <a:t>辐射能</a:t>
            </a:r>
            <a:r>
              <a:rPr kumimoji="1" lang="en-US" altLang="zh-CN" sz="2800" b="1" dirty="0">
                <a:solidFill>
                  <a:srgbClr val="0000FF"/>
                </a:solidFill>
                <a:latin typeface="Times New Roman" pitchFamily="18" charset="0"/>
                <a:ea typeface="黑体" pitchFamily="2" charset="-122"/>
                <a:cs typeface="Times New Roman" pitchFamily="18" charset="0"/>
              </a:rPr>
              <a:t>(Radiant Energy)</a:t>
            </a:r>
            <a:endParaRPr lang="en-US" altLang="zh-CN" sz="2800" b="1" dirty="0">
              <a:solidFill>
                <a:srgbClr val="0000FF"/>
              </a:solidFill>
              <a:latin typeface="Times New Roman" pitchFamily="18" charset="0"/>
              <a:ea typeface="黑体" pitchFamily="2" charset="-122"/>
              <a:cs typeface="Times New Roman" pitchFamily="18" charset="0"/>
            </a:endParaRPr>
          </a:p>
        </p:txBody>
      </p:sp>
      <p:sp>
        <p:nvSpPr>
          <p:cNvPr id="24" name="Text Box 5">
            <a:extLst>
              <a:ext uri="{FF2B5EF4-FFF2-40B4-BE49-F238E27FC236}">
                <a16:creationId xmlns:a16="http://schemas.microsoft.com/office/drawing/2014/main" id="{30718762-DA8E-4EC3-B129-6B2E90A93D25}"/>
              </a:ext>
            </a:extLst>
          </p:cNvPr>
          <p:cNvSpPr txBox="1">
            <a:spLocks noChangeArrowheads="1"/>
          </p:cNvSpPr>
          <p:nvPr/>
        </p:nvSpPr>
        <p:spPr bwMode="auto">
          <a:xfrm>
            <a:off x="1975705" y="1830625"/>
            <a:ext cx="7454046"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dirty="0">
                <a:latin typeface="黑体" pitchFamily="2" charset="-122"/>
                <a:ea typeface="黑体" pitchFamily="2" charset="-122"/>
              </a:rPr>
              <a:t>    </a:t>
            </a:r>
            <a:r>
              <a:rPr lang="zh-CN" altLang="en-US" sz="2400" b="1" dirty="0">
                <a:latin typeface="Times New Roman" pitchFamily="18" charset="0"/>
                <a:ea typeface="微软雅黑" pitchFamily="34" charset="-122"/>
                <a:cs typeface="Times New Roman" pitchFamily="18" charset="0"/>
              </a:rPr>
              <a:t>以辐射形式发射、传播或接收的能量称为辐射能。</a:t>
            </a:r>
          </a:p>
        </p:txBody>
      </p:sp>
      <p:sp>
        <p:nvSpPr>
          <p:cNvPr id="28" name="Text Box 6">
            <a:extLst>
              <a:ext uri="{FF2B5EF4-FFF2-40B4-BE49-F238E27FC236}">
                <a16:creationId xmlns:a16="http://schemas.microsoft.com/office/drawing/2014/main" id="{28D66A80-66CC-4703-B58B-2FB374068D92}"/>
              </a:ext>
            </a:extLst>
          </p:cNvPr>
          <p:cNvSpPr txBox="1">
            <a:spLocks noChangeArrowheads="1"/>
          </p:cNvSpPr>
          <p:nvPr/>
        </p:nvSpPr>
        <p:spPr bwMode="auto">
          <a:xfrm>
            <a:off x="1623607" y="3417068"/>
            <a:ext cx="5174000" cy="523220"/>
          </a:xfrm>
          <a:prstGeom prst="rect">
            <a:avLst/>
          </a:prstGeom>
          <a:noFill/>
          <a:ln w="9525">
            <a:noFill/>
            <a:miter lim="800000"/>
            <a:headEnd/>
            <a:tailEnd/>
          </a:ln>
        </p:spPr>
        <p:txBody>
          <a:bodyPr wrap="square">
            <a:spAutoFit/>
          </a:bodyPr>
          <a:lstStyle/>
          <a:p>
            <a:pPr defTabSz="914400">
              <a:spcBef>
                <a:spcPct val="50000"/>
              </a:spcBef>
              <a:defRPr/>
            </a:pPr>
            <a:r>
              <a:rPr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1.2.2 </a:t>
            </a:r>
            <a:r>
              <a:rPr lang="zh-CN" altLang="en-US"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辐通量</a:t>
            </a:r>
            <a:r>
              <a:rPr kumimoji="1"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r>
              <a:rPr kumimoji="1"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Radiant Flux</a:t>
            </a:r>
            <a:r>
              <a:rPr kumimoji="1"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itchFamily="18" charset="2"/>
              </a:rPr>
              <a:t>)</a:t>
            </a:r>
            <a:endParaRPr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Text Box 7">
            <a:extLst>
              <a:ext uri="{FF2B5EF4-FFF2-40B4-BE49-F238E27FC236}">
                <a16:creationId xmlns:a16="http://schemas.microsoft.com/office/drawing/2014/main" id="{B54B05B3-66D5-410E-9D4C-A0125015F6DE}"/>
              </a:ext>
            </a:extLst>
          </p:cNvPr>
          <p:cNvSpPr txBox="1">
            <a:spLocks noChangeArrowheads="1"/>
          </p:cNvSpPr>
          <p:nvPr/>
        </p:nvSpPr>
        <p:spPr bwMode="auto">
          <a:xfrm>
            <a:off x="2514346" y="4997858"/>
            <a:ext cx="5705729"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符号：</a:t>
            </a:r>
            <a:r>
              <a:rPr lang="en-US" altLang="zh-CN" sz="2400" b="1" i="1" dirty="0" err="1">
                <a:solidFill>
                  <a:srgbClr val="0000CC"/>
                </a:solidFill>
                <a:latin typeface="Times New Roman" pitchFamily="18" charset="0"/>
                <a:ea typeface="微软雅黑" pitchFamily="34" charset="-122"/>
                <a:cs typeface="Times New Roman" pitchFamily="18" charset="0"/>
              </a:rPr>
              <a:t>Φ</a:t>
            </a:r>
            <a:r>
              <a:rPr lang="en-US" altLang="zh-CN" sz="2400" b="1" baseline="-25000" dirty="0" err="1">
                <a:solidFill>
                  <a:srgbClr val="0000CC"/>
                </a:solidFill>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 计量单位：瓦</a:t>
            </a:r>
            <a:r>
              <a:rPr lang="en-US" altLang="zh-CN" sz="2400" b="1" dirty="0">
                <a:latin typeface="Times New Roman" pitchFamily="18" charset="0"/>
                <a:ea typeface="微软雅黑" pitchFamily="34" charset="-122"/>
                <a:cs typeface="Times New Roman" pitchFamily="18" charset="0"/>
              </a:rPr>
              <a:t>(W)</a:t>
            </a:r>
            <a:r>
              <a:rPr lang="zh-CN" altLang="en-US" sz="2400" b="1" dirty="0">
                <a:latin typeface="Times New Roman" pitchFamily="18" charset="0"/>
                <a:ea typeface="微软雅黑" pitchFamily="34" charset="-122"/>
                <a:cs typeface="Times New Roman" pitchFamily="18" charset="0"/>
              </a:rPr>
              <a:t>，或者 </a:t>
            </a:r>
            <a:r>
              <a:rPr lang="en-US" altLang="zh-CN" sz="2400" b="1" dirty="0">
                <a:latin typeface="Times New Roman" pitchFamily="18" charset="0"/>
                <a:ea typeface="微软雅黑" pitchFamily="34" charset="-122"/>
                <a:cs typeface="Times New Roman" pitchFamily="18" charset="0"/>
              </a:rPr>
              <a:t>(J/s)</a:t>
            </a:r>
            <a:endParaRPr lang="zh-CN" altLang="en-US" sz="2400" b="1" dirty="0">
              <a:latin typeface="Times New Roman" pitchFamily="18" charset="0"/>
              <a:ea typeface="微软雅黑" pitchFamily="34" charset="-122"/>
              <a:cs typeface="Times New Roman" pitchFamily="18" charset="0"/>
            </a:endParaRPr>
          </a:p>
        </p:txBody>
      </p:sp>
      <p:sp>
        <p:nvSpPr>
          <p:cNvPr id="30" name="Text Box 7">
            <a:extLst>
              <a:ext uri="{FF2B5EF4-FFF2-40B4-BE49-F238E27FC236}">
                <a16:creationId xmlns:a16="http://schemas.microsoft.com/office/drawing/2014/main" id="{5E1C5C37-29A4-4A07-AAFB-352C16127997}"/>
              </a:ext>
            </a:extLst>
          </p:cNvPr>
          <p:cNvSpPr txBox="1">
            <a:spLocks noChangeArrowheads="1"/>
          </p:cNvSpPr>
          <p:nvPr/>
        </p:nvSpPr>
        <p:spPr bwMode="auto">
          <a:xfrm>
            <a:off x="2514345" y="4069436"/>
            <a:ext cx="7737917"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微软雅黑" pitchFamily="34" charset="-122"/>
                <a:ea typeface="微软雅黑" pitchFamily="34" charset="-122"/>
                <a:cs typeface="Times New Roman" pitchFamily="18" charset="0"/>
              </a:rPr>
              <a:t>辐通量或辐功率是在单位时间内通过某一面积的辐射能。</a:t>
            </a:r>
          </a:p>
        </p:txBody>
      </p:sp>
      <p:graphicFrame>
        <p:nvGraphicFramePr>
          <p:cNvPr id="31" name="Object 5">
            <a:extLst>
              <a:ext uri="{FF2B5EF4-FFF2-40B4-BE49-F238E27FC236}">
                <a16:creationId xmlns:a16="http://schemas.microsoft.com/office/drawing/2014/main" id="{1320EC1F-7849-4CD5-A310-5827BB9B76E9}"/>
              </a:ext>
            </a:extLst>
          </p:cNvPr>
          <p:cNvGraphicFramePr>
            <a:graphicFrameLocks noChangeAspect="1"/>
          </p:cNvGraphicFramePr>
          <p:nvPr>
            <p:extLst>
              <p:ext uri="{D42A27DB-BD31-4B8C-83A1-F6EECF244321}">
                <p14:modId xmlns:p14="http://schemas.microsoft.com/office/powerpoint/2010/main" val="3531418691"/>
              </p:ext>
            </p:extLst>
          </p:nvPr>
        </p:nvGraphicFramePr>
        <p:xfrm>
          <a:off x="5181532" y="5938511"/>
          <a:ext cx="1616075" cy="1039813"/>
        </p:xfrm>
        <a:graphic>
          <a:graphicData uri="http://schemas.openxmlformats.org/presentationml/2006/ole">
            <mc:AlternateContent xmlns:mc="http://schemas.openxmlformats.org/markup-compatibility/2006">
              <mc:Choice xmlns:v="urn:schemas-microsoft-com:vml" Requires="v">
                <p:oleObj name="Equation" r:id="rId2" imgW="571320" imgH="368280" progId="Equation.3">
                  <p:embed/>
                </p:oleObj>
              </mc:Choice>
              <mc:Fallback>
                <p:oleObj name="Equation" r:id="rId2" imgW="571320" imgH="368280" progId="Equation.3">
                  <p:embed/>
                  <p:pic>
                    <p:nvPicPr>
                      <p:cNvPr id="1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532" y="5938511"/>
                        <a:ext cx="1616075" cy="1039813"/>
                      </a:xfrm>
                      <a:prstGeom prst="rect">
                        <a:avLst/>
                      </a:prstGeom>
                      <a:solidFill>
                        <a:srgbClr val="FFFF00"/>
                      </a:solidFill>
                    </p:spPr>
                  </p:pic>
                </p:oleObj>
              </mc:Fallback>
            </mc:AlternateContent>
          </a:graphicData>
        </a:graphic>
      </p:graphicFrame>
      <p:graphicFrame>
        <p:nvGraphicFramePr>
          <p:cNvPr id="32" name="Object 6">
            <a:extLst>
              <a:ext uri="{FF2B5EF4-FFF2-40B4-BE49-F238E27FC236}">
                <a16:creationId xmlns:a16="http://schemas.microsoft.com/office/drawing/2014/main" id="{EB93A71A-CDCB-4707-9853-A21B569ABC03}"/>
              </a:ext>
            </a:extLst>
          </p:cNvPr>
          <p:cNvGraphicFramePr>
            <a:graphicFrameLocks noChangeAspect="1"/>
          </p:cNvGraphicFramePr>
          <p:nvPr>
            <p:extLst>
              <p:ext uri="{D42A27DB-BD31-4B8C-83A1-F6EECF244321}">
                <p14:modId xmlns:p14="http://schemas.microsoft.com/office/powerpoint/2010/main" val="1160421279"/>
              </p:ext>
            </p:extLst>
          </p:nvPr>
        </p:nvGraphicFramePr>
        <p:xfrm>
          <a:off x="7645197" y="5959149"/>
          <a:ext cx="1339850" cy="998538"/>
        </p:xfrm>
        <a:graphic>
          <a:graphicData uri="http://schemas.openxmlformats.org/presentationml/2006/ole">
            <mc:AlternateContent xmlns:mc="http://schemas.openxmlformats.org/markup-compatibility/2006">
              <mc:Choice xmlns:v="urn:schemas-microsoft-com:vml" Requires="v">
                <p:oleObj name="Equation" r:id="rId4" imgW="495000" imgH="368280" progId="Equation.3">
                  <p:embed/>
                </p:oleObj>
              </mc:Choice>
              <mc:Fallback>
                <p:oleObj name="Equation" r:id="rId4" imgW="495000" imgH="368280" progId="Equation.3">
                  <p:embed/>
                  <p:pic>
                    <p:nvPicPr>
                      <p:cNvPr id="1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5197" y="5959149"/>
                        <a:ext cx="1339850" cy="9985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 name="Text Box 7">
            <a:extLst>
              <a:ext uri="{FF2B5EF4-FFF2-40B4-BE49-F238E27FC236}">
                <a16:creationId xmlns:a16="http://schemas.microsoft.com/office/drawing/2014/main" id="{8E331549-801D-46A0-A26A-CFABE6ACF9FE}"/>
              </a:ext>
            </a:extLst>
          </p:cNvPr>
          <p:cNvSpPr txBox="1">
            <a:spLocks noChangeArrowheads="1"/>
          </p:cNvSpPr>
          <p:nvPr/>
        </p:nvSpPr>
        <p:spPr bwMode="auto">
          <a:xfrm>
            <a:off x="2514346" y="6196808"/>
            <a:ext cx="2857500" cy="461665"/>
          </a:xfrm>
          <a:prstGeom prst="rect">
            <a:avLst/>
          </a:prstGeom>
          <a:noFill/>
          <a:ln w="9525">
            <a:noFill/>
            <a:miter lim="800000"/>
            <a:headEnd/>
            <a:tailEnd/>
          </a:ln>
        </p:spPr>
        <p:txBody>
          <a:bodyPr>
            <a:spAutoFit/>
          </a:bodyPr>
          <a:lstStyle/>
          <a:p>
            <a:pPr defTabSz="914400">
              <a:spcBef>
                <a:spcPct val="50000"/>
              </a:spcBef>
            </a:pPr>
            <a:r>
              <a:rPr lang="zh-CN" altLang="en-US" sz="2400" b="1" dirty="0">
                <a:latin typeface="Times New Roman" pitchFamily="18" charset="0"/>
                <a:ea typeface="微软雅黑" pitchFamily="34" charset="-122"/>
                <a:cs typeface="Times New Roman" pitchFamily="18" charset="0"/>
              </a:rPr>
              <a:t>数学表达式为</a:t>
            </a:r>
          </a:p>
        </p:txBody>
      </p:sp>
      <p:sp>
        <p:nvSpPr>
          <p:cNvPr id="17" name="Text Box 5">
            <a:extLst>
              <a:ext uri="{FF2B5EF4-FFF2-40B4-BE49-F238E27FC236}">
                <a16:creationId xmlns:a16="http://schemas.microsoft.com/office/drawing/2014/main" id="{30718762-DA8E-4EC3-B129-6B2E90A93D25}"/>
              </a:ext>
            </a:extLst>
          </p:cNvPr>
          <p:cNvSpPr txBox="1">
            <a:spLocks noChangeArrowheads="1"/>
          </p:cNvSpPr>
          <p:nvPr/>
        </p:nvSpPr>
        <p:spPr bwMode="auto">
          <a:xfrm>
            <a:off x="2626511" y="2516191"/>
            <a:ext cx="5072796"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符号：</a:t>
            </a:r>
            <a:r>
              <a:rPr lang="en-US" altLang="zh-CN" sz="2400" b="1" i="1" dirty="0" err="1">
                <a:solidFill>
                  <a:srgbClr val="0000CC"/>
                </a:solidFill>
                <a:latin typeface="Times New Roman" pitchFamily="18" charset="0"/>
                <a:ea typeface="微软雅黑" pitchFamily="34" charset="-122"/>
                <a:cs typeface="Times New Roman" pitchFamily="18" charset="0"/>
              </a:rPr>
              <a:t>Q</a:t>
            </a:r>
            <a:r>
              <a:rPr lang="en-US" altLang="zh-CN" sz="2400" b="1" baseline="-25000" dirty="0" err="1">
                <a:solidFill>
                  <a:srgbClr val="0000CC"/>
                </a:solidFill>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，计量单位：焦耳</a:t>
            </a:r>
            <a:r>
              <a:rPr lang="en-US" altLang="zh-CN" sz="2400" b="1" dirty="0">
                <a:latin typeface="Times New Roman" pitchFamily="18" charset="0"/>
                <a:ea typeface="微软雅黑" pitchFamily="34" charset="-122"/>
                <a:cs typeface="Times New Roman" pitchFamily="18" charset="0"/>
              </a:rPr>
              <a:t>(J)</a:t>
            </a:r>
            <a:endParaRPr lang="zh-CN" altLang="en-US" sz="2400" b="1"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78091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checkerboard(across)">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checkerboard(across)">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p:cTn id="24" dur="500" fill="hold"/>
                                        <p:tgtEl>
                                          <p:spTgt spid="28"/>
                                        </p:tgtEl>
                                        <p:attrNameLst>
                                          <p:attrName>ppt_w</p:attrName>
                                        </p:attrNameLst>
                                      </p:cBhvr>
                                      <p:tavLst>
                                        <p:tav tm="0">
                                          <p:val>
                                            <p:fltVal val="0"/>
                                          </p:val>
                                        </p:tav>
                                        <p:tav tm="100000">
                                          <p:val>
                                            <p:strVal val="#ppt_w"/>
                                          </p:val>
                                        </p:tav>
                                      </p:tavLst>
                                    </p:anim>
                                    <p:anim calcmode="lin" valueType="num">
                                      <p:cBhvr>
                                        <p:cTn id="25" dur="500" fill="hold"/>
                                        <p:tgtEl>
                                          <p:spTgt spid="28"/>
                                        </p:tgtEl>
                                        <p:attrNameLst>
                                          <p:attrName>ppt_h</p:attrName>
                                        </p:attrNameLst>
                                      </p:cBhvr>
                                      <p:tavLst>
                                        <p:tav tm="0">
                                          <p:val>
                                            <p:fltVal val="0"/>
                                          </p:val>
                                        </p:tav>
                                        <p:tav tm="100000">
                                          <p:val>
                                            <p:strVal val="#ppt_h"/>
                                          </p:val>
                                        </p:tav>
                                      </p:tavLst>
                                    </p:anim>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p:cTn id="38" dur="500" fill="hold"/>
                                        <p:tgtEl>
                                          <p:spTgt spid="29"/>
                                        </p:tgtEl>
                                        <p:attrNameLst>
                                          <p:attrName>ppt_w</p:attrName>
                                        </p:attrNameLst>
                                      </p:cBhvr>
                                      <p:tavLst>
                                        <p:tav tm="0">
                                          <p:val>
                                            <p:fltVal val="0"/>
                                          </p:val>
                                        </p:tav>
                                        <p:tav tm="100000">
                                          <p:val>
                                            <p:strVal val="#ppt_w"/>
                                          </p:val>
                                        </p:tav>
                                      </p:tavLst>
                                    </p:anim>
                                    <p:anim calcmode="lin" valueType="num">
                                      <p:cBhvr>
                                        <p:cTn id="39" dur="500" fill="hold"/>
                                        <p:tgtEl>
                                          <p:spTgt spid="29"/>
                                        </p:tgtEl>
                                        <p:attrNameLst>
                                          <p:attrName>ppt_h</p:attrName>
                                        </p:attrNameLst>
                                      </p:cBhvr>
                                      <p:tavLst>
                                        <p:tav tm="0">
                                          <p:val>
                                            <p:fltVal val="0"/>
                                          </p:val>
                                        </p:tav>
                                        <p:tav tm="100000">
                                          <p:val>
                                            <p:strVal val="#ppt_h"/>
                                          </p:val>
                                        </p:tav>
                                      </p:tavLst>
                                    </p:anim>
                                    <p:animEffect transition="in" filter="fad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p:cTn id="45" dur="500" fill="hold"/>
                                        <p:tgtEl>
                                          <p:spTgt spid="34"/>
                                        </p:tgtEl>
                                        <p:attrNameLst>
                                          <p:attrName>ppt_w</p:attrName>
                                        </p:attrNameLst>
                                      </p:cBhvr>
                                      <p:tavLst>
                                        <p:tav tm="0">
                                          <p:val>
                                            <p:fltVal val="0"/>
                                          </p:val>
                                        </p:tav>
                                        <p:tav tm="100000">
                                          <p:val>
                                            <p:strVal val="#ppt_w"/>
                                          </p:val>
                                        </p:tav>
                                      </p:tavLst>
                                    </p:anim>
                                    <p:anim calcmode="lin" valueType="num">
                                      <p:cBhvr>
                                        <p:cTn id="46" dur="500" fill="hold"/>
                                        <p:tgtEl>
                                          <p:spTgt spid="34"/>
                                        </p:tgtEl>
                                        <p:attrNameLst>
                                          <p:attrName>ppt_h</p:attrName>
                                        </p:attrNameLst>
                                      </p:cBhvr>
                                      <p:tavLst>
                                        <p:tav tm="0">
                                          <p:val>
                                            <p:fltVal val="0"/>
                                          </p:val>
                                        </p:tav>
                                        <p:tav tm="100000">
                                          <p:val>
                                            <p:strVal val="#ppt_h"/>
                                          </p:val>
                                        </p:tav>
                                      </p:tavLst>
                                    </p:anim>
                                    <p:animEffect transition="in" filter="fade">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box(in)">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ox(in)">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P spid="28" grpId="0"/>
      <p:bldP spid="29" grpId="0"/>
      <p:bldP spid="30" grpId="0"/>
      <p:bldP spid="34"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7" name="Text Box 4">
            <a:extLst>
              <a:ext uri="{FF2B5EF4-FFF2-40B4-BE49-F238E27FC236}">
                <a16:creationId xmlns:a16="http://schemas.microsoft.com/office/drawing/2014/main" id="{E4AC50A8-F798-47B4-99AB-B3440680B807}"/>
              </a:ext>
            </a:extLst>
          </p:cNvPr>
          <p:cNvSpPr txBox="1">
            <a:spLocks noChangeArrowheads="1"/>
          </p:cNvSpPr>
          <p:nvPr/>
        </p:nvSpPr>
        <p:spPr bwMode="auto">
          <a:xfrm>
            <a:off x="622570" y="1652756"/>
            <a:ext cx="8033441" cy="1135054"/>
          </a:xfrm>
          <a:prstGeom prst="rect">
            <a:avLst/>
          </a:prstGeom>
          <a:noFill/>
          <a:ln w="9525">
            <a:noFill/>
            <a:miter lim="800000"/>
            <a:headEnd/>
            <a:tailEnd/>
          </a:ln>
        </p:spPr>
        <p:txBody>
          <a:bodyPr wrap="square">
            <a:spAutoFit/>
          </a:bodyPr>
          <a:lstStyle/>
          <a:p>
            <a:pPr defTabSz="914400">
              <a:lnSpc>
                <a:spcPct val="150000"/>
              </a:lnSpc>
            </a:pPr>
            <a:r>
              <a:rPr lang="zh-CN" altLang="en-US" sz="2400" dirty="0"/>
              <a:t>       </a:t>
            </a:r>
            <a:r>
              <a:rPr lang="zh-CN" altLang="en-US" sz="2400" b="1" u="sng" dirty="0">
                <a:latin typeface="微软雅黑" pitchFamily="34" charset="-122"/>
                <a:ea typeface="微软雅黑" pitchFamily="34" charset="-122"/>
                <a:cs typeface="Times New Roman" pitchFamily="18" charset="0"/>
              </a:rPr>
              <a:t>点辐射源</a:t>
            </a:r>
            <a:r>
              <a:rPr lang="zh-CN" altLang="en-US" sz="2400" b="1" dirty="0">
                <a:latin typeface="微软雅黑" pitchFamily="34" charset="-122"/>
                <a:ea typeface="微软雅黑" pitchFamily="34" charset="-122"/>
                <a:cs typeface="Times New Roman" pitchFamily="18" charset="0"/>
              </a:rPr>
              <a:t>在某一方向上</a:t>
            </a:r>
            <a:r>
              <a:rPr lang="zh-CN" altLang="en-US" sz="2400" b="1" u="sng" dirty="0">
                <a:latin typeface="微软雅黑" pitchFamily="34" charset="-122"/>
                <a:ea typeface="微软雅黑" pitchFamily="34" charset="-122"/>
                <a:cs typeface="Times New Roman" pitchFamily="18" charset="0"/>
              </a:rPr>
              <a:t>单位立体角内</a:t>
            </a:r>
            <a:r>
              <a:rPr lang="zh-CN" altLang="en-US" sz="2400" b="1" dirty="0">
                <a:latin typeface="微软雅黑" pitchFamily="34" charset="-122"/>
                <a:ea typeface="微软雅黑" pitchFamily="34" charset="-122"/>
                <a:cs typeface="Times New Roman" pitchFamily="18" charset="0"/>
              </a:rPr>
              <a:t>所发出的辐通量，定义为点辐射源在该方向的辐强度。</a:t>
            </a:r>
          </a:p>
        </p:txBody>
      </p:sp>
      <p:sp>
        <p:nvSpPr>
          <p:cNvPr id="18" name="Text Box 5">
            <a:extLst>
              <a:ext uri="{FF2B5EF4-FFF2-40B4-BE49-F238E27FC236}">
                <a16:creationId xmlns:a16="http://schemas.microsoft.com/office/drawing/2014/main" id="{B729DA62-9E72-4260-8FC4-A18DFCB37C6E}"/>
              </a:ext>
            </a:extLst>
          </p:cNvPr>
          <p:cNvSpPr txBox="1">
            <a:spLocks noChangeArrowheads="1"/>
          </p:cNvSpPr>
          <p:nvPr/>
        </p:nvSpPr>
        <p:spPr bwMode="auto">
          <a:xfrm>
            <a:off x="974818" y="1023944"/>
            <a:ext cx="5415349"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1.2.3 </a:t>
            </a:r>
            <a:r>
              <a:rPr lang="zh-CN" altLang="en-US" sz="2800" b="1" dirty="0">
                <a:solidFill>
                  <a:srgbClr val="0000FF"/>
                </a:solidFill>
                <a:latin typeface="Times New Roman" pitchFamily="18" charset="0"/>
                <a:ea typeface="微软雅黑" pitchFamily="34" charset="-122"/>
                <a:cs typeface="Times New Roman" pitchFamily="18" charset="0"/>
              </a:rPr>
              <a:t>辐强度 </a:t>
            </a:r>
            <a:r>
              <a:rPr kumimoji="1" lang="en-US" altLang="zh-CN" sz="2800" b="1" dirty="0">
                <a:solidFill>
                  <a:srgbClr val="0000FF"/>
                </a:solidFill>
                <a:latin typeface="Times New Roman" pitchFamily="18" charset="0"/>
                <a:ea typeface="微软雅黑" pitchFamily="34" charset="-122"/>
                <a:cs typeface="Times New Roman" pitchFamily="18" charset="0"/>
              </a:rPr>
              <a:t>(Radiant Intensity)</a:t>
            </a:r>
            <a:r>
              <a:rPr lang="en-US" altLang="zh-CN" sz="2800" b="1" dirty="0">
                <a:solidFill>
                  <a:srgbClr val="0000FF"/>
                </a:solidFill>
                <a:latin typeface="Times New Roman" pitchFamily="18" charset="0"/>
                <a:ea typeface="微软雅黑" pitchFamily="34" charset="-122"/>
                <a:cs typeface="Times New Roman" pitchFamily="18" charset="0"/>
              </a:rPr>
              <a:t>   </a:t>
            </a:r>
          </a:p>
        </p:txBody>
      </p:sp>
      <p:pic>
        <p:nvPicPr>
          <p:cNvPr id="21" name="图片 7" descr="辐射强度2013年7月19日 154428.gif">
            <a:extLst>
              <a:ext uri="{FF2B5EF4-FFF2-40B4-BE49-F238E27FC236}">
                <a16:creationId xmlns:a16="http://schemas.microsoft.com/office/drawing/2014/main" id="{FC59AC30-DF9E-4463-B51F-4570B5D0B997}"/>
              </a:ext>
            </a:extLst>
          </p:cNvPr>
          <p:cNvPicPr>
            <a:picLocks noChangeAspect="1"/>
          </p:cNvPicPr>
          <p:nvPr/>
        </p:nvPicPr>
        <p:blipFill>
          <a:blip r:embed="rId2"/>
          <a:srcRect/>
          <a:stretch>
            <a:fillRect/>
          </a:stretch>
        </p:blipFill>
        <p:spPr bwMode="auto">
          <a:xfrm>
            <a:off x="8656011" y="1198480"/>
            <a:ext cx="4500563" cy="3375025"/>
          </a:xfrm>
          <a:prstGeom prst="rect">
            <a:avLst/>
          </a:prstGeom>
          <a:noFill/>
          <a:ln w="9525">
            <a:noFill/>
            <a:miter lim="800000"/>
            <a:headEnd/>
            <a:tailEnd/>
          </a:ln>
        </p:spPr>
      </p:pic>
      <p:sp>
        <p:nvSpPr>
          <p:cNvPr id="22" name="Text Box 4">
            <a:extLst>
              <a:ext uri="{FF2B5EF4-FFF2-40B4-BE49-F238E27FC236}">
                <a16:creationId xmlns:a16="http://schemas.microsoft.com/office/drawing/2014/main" id="{9FE7E8AD-9C9E-4BBC-B3A4-FAF587702EE1}"/>
              </a:ext>
            </a:extLst>
          </p:cNvPr>
          <p:cNvSpPr txBox="1">
            <a:spLocks noChangeArrowheads="1"/>
          </p:cNvSpPr>
          <p:nvPr/>
        </p:nvSpPr>
        <p:spPr bwMode="auto">
          <a:xfrm>
            <a:off x="732247" y="3037751"/>
            <a:ext cx="7497154"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       符号：</a:t>
            </a:r>
            <a:r>
              <a:rPr lang="en-US" altLang="zh-CN" sz="2400" b="1" i="1" dirty="0" err="1">
                <a:latin typeface="Times New Roman" pitchFamily="18" charset="0"/>
                <a:ea typeface="微软雅黑" pitchFamily="34" charset="-122"/>
                <a:cs typeface="Times New Roman" pitchFamily="18" charset="0"/>
              </a:rPr>
              <a:t>I</a:t>
            </a:r>
            <a:r>
              <a:rPr lang="en-US" altLang="zh-CN" sz="2400" b="1" baseline="-25000" dirty="0" err="1">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，单位：瓦每球面度</a:t>
            </a:r>
            <a:r>
              <a:rPr lang="en-US" altLang="zh-CN" sz="2400" b="1" dirty="0">
                <a:latin typeface="Times New Roman" pitchFamily="18" charset="0"/>
                <a:ea typeface="微软雅黑" pitchFamily="34" charset="-122"/>
                <a:cs typeface="Times New Roman" pitchFamily="18" charset="0"/>
              </a:rPr>
              <a:t>(W/</a:t>
            </a:r>
            <a:r>
              <a:rPr lang="en-US" altLang="zh-CN" sz="2400" b="1" dirty="0" err="1">
                <a:latin typeface="Times New Roman" pitchFamily="18" charset="0"/>
                <a:ea typeface="微软雅黑" pitchFamily="34" charset="-122"/>
                <a:cs typeface="Times New Roman" pitchFamily="18" charset="0"/>
              </a:rPr>
              <a:t>sr</a:t>
            </a:r>
            <a:r>
              <a:rPr lang="en-US" altLang="zh-CN" sz="2400" b="1" dirty="0">
                <a:latin typeface="Times New Roman" pitchFamily="18" charset="0"/>
                <a:ea typeface="微软雅黑" pitchFamily="34" charset="-122"/>
                <a:cs typeface="Times New Roman" pitchFamily="18" charset="0"/>
              </a:rPr>
              <a:t>)</a:t>
            </a:r>
            <a:endParaRPr lang="zh-CN" altLang="en-US" b="1" dirty="0">
              <a:latin typeface="Times New Roman" pitchFamily="18" charset="0"/>
              <a:ea typeface="微软雅黑" pitchFamily="34" charset="-122"/>
              <a:cs typeface="Times New Roman" pitchFamily="18" charset="0"/>
            </a:endParaRPr>
          </a:p>
        </p:txBody>
      </p:sp>
      <p:sp>
        <p:nvSpPr>
          <p:cNvPr id="23" name="Rectangle 12">
            <a:extLst>
              <a:ext uri="{FF2B5EF4-FFF2-40B4-BE49-F238E27FC236}">
                <a16:creationId xmlns:a16="http://schemas.microsoft.com/office/drawing/2014/main" id="{3BCCBF20-C355-4D06-AEFE-D60920857D98}"/>
              </a:ext>
            </a:extLst>
          </p:cNvPr>
          <p:cNvSpPr>
            <a:spLocks noChangeArrowheads="1"/>
          </p:cNvSpPr>
          <p:nvPr/>
        </p:nvSpPr>
        <p:spPr bwMode="auto">
          <a:xfrm>
            <a:off x="732247" y="5844548"/>
            <a:ext cx="12424327" cy="1200329"/>
          </a:xfrm>
          <a:prstGeom prst="rect">
            <a:avLst/>
          </a:prstGeom>
          <a:noFill/>
          <a:ln w="9525">
            <a:noFill/>
            <a:miter lim="800000"/>
            <a:headEnd/>
            <a:tailEnd/>
          </a:ln>
        </p:spPr>
        <p:txBody>
          <a:bodyPr wrap="square" anchor="ctr">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        如果一个置于</a:t>
            </a:r>
            <a:r>
              <a:rPr lang="zh-CN" altLang="en-US" sz="2400" b="1" dirty="0">
                <a:solidFill>
                  <a:srgbClr val="0000CC"/>
                </a:solidFill>
                <a:latin typeface="Times New Roman" pitchFamily="18" charset="0"/>
                <a:ea typeface="微软雅黑" pitchFamily="34" charset="-122"/>
                <a:cs typeface="Times New Roman" pitchFamily="18" charset="0"/>
              </a:rPr>
              <a:t>各向同性、均匀介质</a:t>
            </a:r>
            <a:r>
              <a:rPr lang="zh-CN" altLang="en-US" sz="2400" b="1" dirty="0">
                <a:latin typeface="Times New Roman" pitchFamily="18" charset="0"/>
                <a:ea typeface="微软雅黑" pitchFamily="34" charset="-122"/>
                <a:cs typeface="Times New Roman" pitchFamily="18" charset="0"/>
              </a:rPr>
              <a:t>中点辐射源向所有方向发射总辐通量为</a:t>
            </a:r>
            <a:r>
              <a:rPr lang="zh-CN" altLang="en-US" sz="2400" b="1" dirty="0">
                <a:solidFill>
                  <a:srgbClr val="FF0000"/>
                </a:solidFill>
                <a:latin typeface="Times New Roman" pitchFamily="18" charset="0"/>
                <a:ea typeface="微软雅黑" pitchFamily="34" charset="-122"/>
                <a:cs typeface="Times New Roman" pitchFamily="18" charset="0"/>
                <a:sym typeface="Symbol" pitchFamily="18" charset="2"/>
              </a:rPr>
              <a:t></a:t>
            </a:r>
            <a:r>
              <a:rPr lang="en-US" altLang="zh-CN" sz="2400" b="1" baseline="-25000" dirty="0">
                <a:solidFill>
                  <a:srgbClr val="FF0000"/>
                </a:solidFill>
                <a:latin typeface="Times New Roman" pitchFamily="18" charset="0"/>
                <a:ea typeface="微软雅黑" pitchFamily="34" charset="-122"/>
                <a:cs typeface="Times New Roman" pitchFamily="18" charset="0"/>
                <a:sym typeface="Symbol" pitchFamily="18" charset="2"/>
              </a:rPr>
              <a:t>e</a:t>
            </a:r>
            <a:r>
              <a:rPr lang="en-US" altLang="zh-CN"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，则该点辐射源在各个方向的辐强度为</a:t>
            </a:r>
            <a:r>
              <a:rPr lang="en-US" sz="2400" b="1" dirty="0">
                <a:solidFill>
                  <a:srgbClr val="FF0000"/>
                </a:solidFill>
                <a:latin typeface="Times New Roman" pitchFamily="18" charset="0"/>
                <a:ea typeface="微软雅黑" pitchFamily="34" charset="-122"/>
                <a:cs typeface="Times New Roman" pitchFamily="18" charset="0"/>
              </a:rPr>
              <a:t> </a:t>
            </a:r>
            <a:r>
              <a:rPr lang="zh-CN" altLang="en-US" sz="2400" b="1" dirty="0">
                <a:solidFill>
                  <a:srgbClr val="FF0000"/>
                </a:solidFill>
                <a:latin typeface="Times New Roman" pitchFamily="18" charset="0"/>
                <a:ea typeface="微软雅黑" pitchFamily="34" charset="-122"/>
                <a:cs typeface="Times New Roman" pitchFamily="18" charset="0"/>
                <a:sym typeface="Symbol" pitchFamily="18" charset="2"/>
              </a:rPr>
              <a:t></a:t>
            </a:r>
            <a:r>
              <a:rPr lang="en-US" altLang="zh-CN" sz="2400" b="1" baseline="-25000" dirty="0">
                <a:solidFill>
                  <a:srgbClr val="FF0000"/>
                </a:solidFill>
                <a:latin typeface="Times New Roman" pitchFamily="18" charset="0"/>
                <a:ea typeface="微软雅黑" pitchFamily="34" charset="-122"/>
                <a:cs typeface="Times New Roman" pitchFamily="18" charset="0"/>
                <a:sym typeface="Symbol" pitchFamily="18" charset="2"/>
              </a:rPr>
              <a:t>e </a:t>
            </a:r>
            <a:r>
              <a:rPr lang="en-US" altLang="zh-CN" sz="2400" b="1" dirty="0">
                <a:solidFill>
                  <a:srgbClr val="FF0000"/>
                </a:solidFill>
                <a:latin typeface="Times New Roman" pitchFamily="18" charset="0"/>
                <a:ea typeface="微软雅黑" pitchFamily="34" charset="-122"/>
                <a:cs typeface="Times New Roman" pitchFamily="18" charset="0"/>
                <a:sym typeface="Symbol" pitchFamily="18" charset="2"/>
              </a:rPr>
              <a:t>/4</a:t>
            </a:r>
            <a:r>
              <a:rPr lang="zh-CN" altLang="en-US" sz="2400" b="1" dirty="0">
                <a:latin typeface="Times New Roman" pitchFamily="18" charset="0"/>
                <a:ea typeface="微软雅黑" pitchFamily="34" charset="-122"/>
                <a:cs typeface="Times New Roman" pitchFamily="18" charset="0"/>
              </a:rPr>
              <a:t>。</a:t>
            </a:r>
          </a:p>
        </p:txBody>
      </p:sp>
      <p:sp>
        <p:nvSpPr>
          <p:cNvPr id="27" name="Text Box 7">
            <a:extLst>
              <a:ext uri="{FF2B5EF4-FFF2-40B4-BE49-F238E27FC236}">
                <a16:creationId xmlns:a16="http://schemas.microsoft.com/office/drawing/2014/main" id="{FD0D9286-8EB7-477B-9EA6-2B1FC4AA894B}"/>
              </a:ext>
            </a:extLst>
          </p:cNvPr>
          <p:cNvSpPr txBox="1">
            <a:spLocks noChangeArrowheads="1"/>
          </p:cNvSpPr>
          <p:nvPr/>
        </p:nvSpPr>
        <p:spPr bwMode="auto">
          <a:xfrm>
            <a:off x="551385" y="3877444"/>
            <a:ext cx="4929188" cy="461665"/>
          </a:xfrm>
          <a:prstGeom prst="rect">
            <a:avLst/>
          </a:prstGeom>
          <a:noFill/>
          <a:ln w="9525">
            <a:noFill/>
            <a:miter lim="800000"/>
            <a:headEnd/>
            <a:tailEnd/>
          </a:ln>
        </p:spPr>
        <p:txBody>
          <a:bodyPr>
            <a:spAutoFit/>
          </a:bodyPr>
          <a:lstStyle/>
          <a:p>
            <a:pPr defTabSz="914400">
              <a:spcBef>
                <a:spcPct val="50000"/>
              </a:spcBef>
            </a:pPr>
            <a:r>
              <a:rPr lang="zh-CN" altLang="en-US" sz="2400" b="1" dirty="0">
                <a:latin typeface="Times New Roman" pitchFamily="18" charset="0"/>
                <a:ea typeface="微软雅黑" pitchFamily="34" charset="-122"/>
                <a:cs typeface="Times New Roman" pitchFamily="18" charset="0"/>
              </a:rPr>
              <a:t>辐强度的数学表达式为</a:t>
            </a:r>
            <a:endParaRPr lang="zh-CN" altLang="en-US" sz="1400" b="1" dirty="0">
              <a:latin typeface="Times New Roman" pitchFamily="18" charset="0"/>
              <a:ea typeface="微软雅黑" pitchFamily="34" charset="-122"/>
              <a:cs typeface="Times New Roman" pitchFamily="18" charset="0"/>
            </a:endParaRPr>
          </a:p>
        </p:txBody>
      </p:sp>
      <p:graphicFrame>
        <p:nvGraphicFramePr>
          <p:cNvPr id="35" name="对象 34">
            <a:extLst>
              <a:ext uri="{FF2B5EF4-FFF2-40B4-BE49-F238E27FC236}">
                <a16:creationId xmlns:a16="http://schemas.microsoft.com/office/drawing/2014/main" id="{AAAA92FF-3591-456C-A0F4-5BB8993DA3BD}"/>
              </a:ext>
            </a:extLst>
          </p:cNvPr>
          <p:cNvGraphicFramePr>
            <a:graphicFrameLocks noChangeAspect="1"/>
          </p:cNvGraphicFramePr>
          <p:nvPr>
            <p:extLst>
              <p:ext uri="{D42A27DB-BD31-4B8C-83A1-F6EECF244321}">
                <p14:modId xmlns:p14="http://schemas.microsoft.com/office/powerpoint/2010/main" val="2537493894"/>
              </p:ext>
            </p:extLst>
          </p:nvPr>
        </p:nvGraphicFramePr>
        <p:xfrm>
          <a:off x="1413136" y="4647093"/>
          <a:ext cx="2324100" cy="987425"/>
        </p:xfrm>
        <a:graphic>
          <a:graphicData uri="http://schemas.openxmlformats.org/presentationml/2006/ole">
            <mc:AlternateContent xmlns:mc="http://schemas.openxmlformats.org/markup-compatibility/2006">
              <mc:Choice xmlns:v="urn:schemas-microsoft-com:vml" Requires="v">
                <p:oleObj name="公式" r:id="rId3" imgW="926698" imgH="393529" progId="Equation.3">
                  <p:embed/>
                </p:oleObj>
              </mc:Choice>
              <mc:Fallback>
                <p:oleObj name="公式" r:id="rId3" imgW="926698" imgH="393529" progId="Equation.3">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3136" y="4647093"/>
                        <a:ext cx="2324100" cy="98742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 name="Rectangle 12">
            <a:extLst>
              <a:ext uri="{FF2B5EF4-FFF2-40B4-BE49-F238E27FC236}">
                <a16:creationId xmlns:a16="http://schemas.microsoft.com/office/drawing/2014/main" id="{7E04400F-A1B8-4001-A075-E396E47C2225}"/>
              </a:ext>
            </a:extLst>
          </p:cNvPr>
          <p:cNvSpPr>
            <a:spLocks noChangeArrowheads="1"/>
          </p:cNvSpPr>
          <p:nvPr/>
        </p:nvSpPr>
        <p:spPr bwMode="auto">
          <a:xfrm>
            <a:off x="4034208" y="4901909"/>
            <a:ext cx="7929563" cy="461665"/>
          </a:xfrm>
          <a:prstGeom prst="rect">
            <a:avLst/>
          </a:prstGeom>
          <a:noFill/>
          <a:ln w="9525">
            <a:noFill/>
            <a:miter lim="800000"/>
            <a:headEnd/>
            <a:tailEnd/>
          </a:ln>
        </p:spPr>
        <p:txBody>
          <a:bodyPr anchor="ctr">
            <a:spAutoFit/>
          </a:bodyPr>
          <a:lstStyle/>
          <a:p>
            <a:pPr defTabSz="914400"/>
            <a:r>
              <a:rPr lang="zh-CN" altLang="en-US" sz="2400" b="1" dirty="0">
                <a:latin typeface="Times New Roman" pitchFamily="18" charset="0"/>
                <a:ea typeface="微软雅黑" pitchFamily="34" charset="-122"/>
                <a:cs typeface="Times New Roman" pitchFamily="18" charset="0"/>
              </a:rPr>
              <a:t>辐射源多为各向异性的，即</a:t>
            </a:r>
            <a:r>
              <a:rPr lang="en-US" altLang="zh-CN" sz="2400" b="1" i="1" dirty="0" err="1">
                <a:latin typeface="Times New Roman" pitchFamily="18" charset="0"/>
                <a:ea typeface="微软雅黑" pitchFamily="34" charset="-122"/>
                <a:cs typeface="Times New Roman" pitchFamily="18" charset="0"/>
              </a:rPr>
              <a:t>I</a:t>
            </a:r>
            <a:r>
              <a:rPr lang="en-US" altLang="zh-CN" sz="2400" b="1" baseline="-30000" dirty="0" err="1">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随</a:t>
            </a:r>
            <a:r>
              <a:rPr lang="en-US" altLang="zh-CN" sz="2400" b="1" dirty="0">
                <a:latin typeface="Times New Roman" pitchFamily="18" charset="0"/>
                <a:ea typeface="微软雅黑" pitchFamily="34" charset="-122"/>
                <a:cs typeface="Times New Roman" pitchFamily="18" charset="0"/>
              </a:rPr>
              <a:t>(</a:t>
            </a:r>
            <a:r>
              <a:rPr lang="el-GR" altLang="zh-CN" sz="2400" b="1" dirty="0">
                <a:latin typeface="Times New Roman" pitchFamily="18" charset="0"/>
                <a:ea typeface="微软雅黑" pitchFamily="34" charset="-122"/>
                <a:cs typeface="Times New Roman" pitchFamily="18" charset="0"/>
              </a:rPr>
              <a:t>θ</a:t>
            </a:r>
            <a:r>
              <a:rPr lang="en-US" altLang="zh-CN" sz="2400" b="1" dirty="0">
                <a:latin typeface="Times New Roman" pitchFamily="18" charset="0"/>
                <a:ea typeface="微软雅黑" pitchFamily="34" charset="-122"/>
                <a:cs typeface="Times New Roman" pitchFamily="18" charset="0"/>
              </a:rPr>
              <a:t>,</a:t>
            </a:r>
            <a:r>
              <a:rPr lang="el-GR" altLang="zh-CN" sz="2400" b="1" dirty="0">
                <a:latin typeface="Times New Roman" pitchFamily="18" charset="0"/>
                <a:ea typeface="微软雅黑" pitchFamily="34" charset="-122"/>
                <a:cs typeface="Times New Roman" pitchFamily="18" charset="0"/>
              </a:rPr>
              <a:t>φ</a:t>
            </a:r>
            <a:r>
              <a:rPr lang="en-US" altLang="zh-CN"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方向而改变。</a:t>
            </a:r>
          </a:p>
        </p:txBody>
      </p:sp>
      <p:sp>
        <p:nvSpPr>
          <p:cNvPr id="19"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2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33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0-#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0-#ppt_w/2"/>
                                          </p:val>
                                        </p:tav>
                                        <p:tav tm="100000">
                                          <p:val>
                                            <p:strVal val="#ppt_x"/>
                                          </p:val>
                                        </p:tav>
                                      </p:tavLst>
                                    </p:anim>
                                    <p:anim calcmode="lin" valueType="num">
                                      <p:cBhvr additive="base">
                                        <p:cTn id="2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box(in)">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box(in)">
                                      <p:cBhvr>
                                        <p:cTn id="36" dur="500"/>
                                        <p:tgtEl>
                                          <p:spTgt spid="3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box(in)">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2" grpId="0"/>
      <p:bldP spid="23" grpId="0"/>
      <p:bldP spid="27" grpId="0"/>
      <p:bldP spid="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Text Box 4">
            <a:extLst>
              <a:ext uri="{FF2B5EF4-FFF2-40B4-BE49-F238E27FC236}">
                <a16:creationId xmlns:a16="http://schemas.microsoft.com/office/drawing/2014/main" id="{070DCA59-8CCC-4C86-B2AC-B9340C9C2737}"/>
              </a:ext>
            </a:extLst>
          </p:cNvPr>
          <p:cNvSpPr txBox="1">
            <a:spLocks noChangeArrowheads="1"/>
          </p:cNvSpPr>
          <p:nvPr/>
        </p:nvSpPr>
        <p:spPr bwMode="auto">
          <a:xfrm>
            <a:off x="900796" y="1130317"/>
            <a:ext cx="5287353"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a:solidFill>
                  <a:srgbClr val="0000FF"/>
                </a:solidFill>
                <a:latin typeface="Times New Roman" pitchFamily="18" charset="0"/>
                <a:ea typeface="微软雅黑" pitchFamily="34" charset="-122"/>
                <a:cs typeface="Times New Roman" pitchFamily="18" charset="0"/>
              </a:rPr>
              <a:t>1.2.4 </a:t>
            </a:r>
            <a:r>
              <a:rPr lang="zh-CN" altLang="en-US" sz="2800" b="1">
                <a:solidFill>
                  <a:srgbClr val="0000FF"/>
                </a:solidFill>
                <a:latin typeface="Times New Roman" pitchFamily="18" charset="0"/>
                <a:ea typeface="微软雅黑" pitchFamily="34" charset="-122"/>
                <a:cs typeface="Times New Roman" pitchFamily="18" charset="0"/>
              </a:rPr>
              <a:t>辐出度</a:t>
            </a:r>
            <a:r>
              <a:rPr kumimoji="1" lang="en-US" altLang="zh-CN" sz="2800" b="1">
                <a:solidFill>
                  <a:srgbClr val="0000FF"/>
                </a:solidFill>
                <a:latin typeface="Times New Roman" pitchFamily="18" charset="0"/>
                <a:ea typeface="微软雅黑" pitchFamily="34" charset="-122"/>
                <a:cs typeface="Times New Roman" pitchFamily="18" charset="0"/>
              </a:rPr>
              <a:t>(Radiant Existance)</a:t>
            </a:r>
            <a:r>
              <a:rPr lang="en-US" altLang="zh-CN" sz="2800" b="1">
                <a:solidFill>
                  <a:srgbClr val="0000FF"/>
                </a:solidFill>
                <a:latin typeface="Times New Roman" pitchFamily="18" charset="0"/>
                <a:ea typeface="微软雅黑" pitchFamily="34" charset="-122"/>
                <a:cs typeface="Times New Roman" pitchFamily="18" charset="0"/>
              </a:rPr>
              <a:t>    </a:t>
            </a:r>
          </a:p>
        </p:txBody>
      </p:sp>
      <p:sp>
        <p:nvSpPr>
          <p:cNvPr id="24" name="Text Box 5">
            <a:extLst>
              <a:ext uri="{FF2B5EF4-FFF2-40B4-BE49-F238E27FC236}">
                <a16:creationId xmlns:a16="http://schemas.microsoft.com/office/drawing/2014/main" id="{7A30BD1E-8098-42E3-89B9-E97040EB26C6}"/>
              </a:ext>
            </a:extLst>
          </p:cNvPr>
          <p:cNvSpPr txBox="1">
            <a:spLocks noChangeArrowheads="1"/>
          </p:cNvSpPr>
          <p:nvPr/>
        </p:nvSpPr>
        <p:spPr bwMode="auto">
          <a:xfrm>
            <a:off x="654050" y="1723957"/>
            <a:ext cx="12381014"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表面某点处的面元</a:t>
            </a:r>
            <a:r>
              <a:rPr lang="en-US" altLang="zh-CN" sz="2400" b="1" dirty="0">
                <a:solidFill>
                  <a:srgbClr val="0000CC"/>
                </a:solidFill>
                <a:latin typeface="Times New Roman" pitchFamily="18" charset="0"/>
                <a:ea typeface="微软雅黑" pitchFamily="34" charset="-122"/>
                <a:cs typeface="Times New Roman" pitchFamily="18" charset="0"/>
              </a:rPr>
              <a:t>d</a:t>
            </a:r>
            <a:r>
              <a:rPr lang="en-US" altLang="zh-CN" sz="2400" b="1" i="1" dirty="0">
                <a:solidFill>
                  <a:srgbClr val="0000CC"/>
                </a:solidFill>
                <a:latin typeface="Times New Roman" pitchFamily="18" charset="0"/>
                <a:ea typeface="微软雅黑" pitchFamily="34" charset="-122"/>
                <a:cs typeface="Times New Roman" pitchFamily="18" charset="0"/>
              </a:rPr>
              <a:t>S</a:t>
            </a:r>
            <a:r>
              <a:rPr lang="zh-CN" altLang="en-US" sz="2400" b="1" dirty="0">
                <a:latin typeface="Times New Roman" pitchFamily="18" charset="0"/>
                <a:ea typeface="微软雅黑" pitchFamily="34" charset="-122"/>
                <a:cs typeface="Times New Roman" pitchFamily="18" charset="0"/>
              </a:rPr>
              <a:t>向半球面空间内发射的辐通量</a:t>
            </a:r>
            <a:r>
              <a:rPr lang="en-US" altLang="zh-CN" sz="2400" b="1" dirty="0" err="1">
                <a:solidFill>
                  <a:srgbClr val="FF00FF"/>
                </a:solidFill>
                <a:latin typeface="Times New Roman" pitchFamily="18" charset="0"/>
                <a:ea typeface="微软雅黑" pitchFamily="34" charset="-122"/>
                <a:cs typeface="Times New Roman" pitchFamily="18" charset="0"/>
              </a:rPr>
              <a:t>d</a:t>
            </a:r>
            <a:r>
              <a:rPr lang="en-US" altLang="zh-CN" sz="2400" b="1" i="1" dirty="0" err="1">
                <a:solidFill>
                  <a:srgbClr val="FF00FF"/>
                </a:solidFill>
                <a:latin typeface="Times New Roman" pitchFamily="18" charset="0"/>
                <a:ea typeface="微软雅黑" pitchFamily="34" charset="-122"/>
                <a:cs typeface="Times New Roman" pitchFamily="18" charset="0"/>
              </a:rPr>
              <a:t>Φ</a:t>
            </a:r>
            <a:r>
              <a:rPr lang="en-US" altLang="zh-CN" sz="2400" b="1" baseline="-25000" dirty="0" err="1">
                <a:solidFill>
                  <a:srgbClr val="FF00FF"/>
                </a:solidFill>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与该面元面积</a:t>
            </a:r>
            <a:r>
              <a:rPr lang="en-US" altLang="zh-CN" sz="2400" b="1" dirty="0">
                <a:latin typeface="Times New Roman" pitchFamily="18" charset="0"/>
                <a:ea typeface="微软雅黑" pitchFamily="34" charset="-122"/>
                <a:cs typeface="Times New Roman" pitchFamily="18" charset="0"/>
              </a:rPr>
              <a:t>d</a:t>
            </a:r>
            <a:r>
              <a:rPr lang="en-US" altLang="zh-CN" sz="2400" b="1" i="1" dirty="0">
                <a:latin typeface="Times New Roman" pitchFamily="18" charset="0"/>
                <a:ea typeface="微软雅黑" pitchFamily="34" charset="-122"/>
                <a:cs typeface="Times New Roman" pitchFamily="18" charset="0"/>
              </a:rPr>
              <a:t>S</a:t>
            </a:r>
            <a:r>
              <a:rPr lang="zh-CN" altLang="en-US" sz="2400" b="1" dirty="0">
                <a:latin typeface="Times New Roman" pitchFamily="18" charset="0"/>
                <a:ea typeface="微软雅黑" pitchFamily="34" charset="-122"/>
                <a:cs typeface="Times New Roman" pitchFamily="18" charset="0"/>
              </a:rPr>
              <a:t>之比。</a:t>
            </a:r>
          </a:p>
        </p:txBody>
      </p:sp>
      <p:sp>
        <p:nvSpPr>
          <p:cNvPr id="28" name="Text Box 7">
            <a:extLst>
              <a:ext uri="{FF2B5EF4-FFF2-40B4-BE49-F238E27FC236}">
                <a16:creationId xmlns:a16="http://schemas.microsoft.com/office/drawing/2014/main" id="{454383E5-E264-4D22-9160-0D3A6C645D21}"/>
              </a:ext>
            </a:extLst>
          </p:cNvPr>
          <p:cNvSpPr txBox="1">
            <a:spLocks noChangeArrowheads="1"/>
          </p:cNvSpPr>
          <p:nvPr/>
        </p:nvSpPr>
        <p:spPr bwMode="auto">
          <a:xfrm>
            <a:off x="1331913" y="3096879"/>
            <a:ext cx="5841170"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计量单位：瓦每平方米</a:t>
            </a:r>
            <a:r>
              <a:rPr lang="en-US" altLang="zh-CN" sz="2400" b="1" dirty="0">
                <a:latin typeface="Times New Roman" pitchFamily="18" charset="0"/>
                <a:ea typeface="微软雅黑" pitchFamily="34" charset="-122"/>
                <a:cs typeface="Times New Roman" pitchFamily="18" charset="0"/>
              </a:rPr>
              <a:t>[W/m</a:t>
            </a:r>
            <a:r>
              <a:rPr lang="en-US" altLang="zh-CN" sz="2400" b="1" baseline="30000" dirty="0">
                <a:latin typeface="Times New Roman" pitchFamily="18" charset="0"/>
                <a:ea typeface="微软雅黑" pitchFamily="34" charset="-122"/>
                <a:cs typeface="Times New Roman" pitchFamily="18" charset="0"/>
              </a:rPr>
              <a:t>2</a:t>
            </a:r>
            <a:r>
              <a:rPr lang="en-US" altLang="zh-CN" sz="2400" b="1" dirty="0">
                <a:latin typeface="Times New Roman" pitchFamily="18" charset="0"/>
                <a:ea typeface="微软雅黑" pitchFamily="34" charset="-122"/>
                <a:cs typeface="Times New Roman" pitchFamily="18" charset="0"/>
              </a:rPr>
              <a:t>]</a:t>
            </a:r>
          </a:p>
        </p:txBody>
      </p:sp>
      <p:sp>
        <p:nvSpPr>
          <p:cNvPr id="29" name="Rectangle 9">
            <a:extLst>
              <a:ext uri="{FF2B5EF4-FFF2-40B4-BE49-F238E27FC236}">
                <a16:creationId xmlns:a16="http://schemas.microsoft.com/office/drawing/2014/main" id="{90C70120-4797-4E52-8F58-8DA84240DCCE}"/>
              </a:ext>
            </a:extLst>
          </p:cNvPr>
          <p:cNvSpPr>
            <a:spLocks noChangeArrowheads="1"/>
          </p:cNvSpPr>
          <p:nvPr/>
        </p:nvSpPr>
        <p:spPr bwMode="auto">
          <a:xfrm>
            <a:off x="1291232" y="5385836"/>
            <a:ext cx="3397295" cy="461665"/>
          </a:xfrm>
          <a:prstGeom prst="rect">
            <a:avLst/>
          </a:prstGeom>
          <a:solidFill>
            <a:srgbClr val="FFFF00"/>
          </a:solidFill>
          <a:ln w="9525">
            <a:noFill/>
            <a:miter lim="800000"/>
            <a:headEnd/>
            <a:tailEnd/>
          </a:ln>
        </p:spPr>
        <p:txBody>
          <a:bodyPr wrap="square" anchor="ctr">
            <a:spAutoFit/>
          </a:bodyPr>
          <a:lstStyle/>
          <a:p>
            <a:pPr algn="ctr" defTabSz="914400">
              <a:defRPr/>
            </a:pPr>
            <a:r>
              <a:rPr lang="zh-CN" altLang="en-US" sz="2400" b="1" dirty="0">
                <a:latin typeface="Times New Roman" pitchFamily="18" charset="0"/>
                <a:ea typeface="微软雅黑" pitchFamily="34" charset="-122"/>
                <a:cs typeface="Times New Roman" pitchFamily="18" charset="0"/>
              </a:rPr>
              <a:t>面辐射源元的辐射能力</a:t>
            </a:r>
          </a:p>
        </p:txBody>
      </p:sp>
      <p:sp>
        <p:nvSpPr>
          <p:cNvPr id="30" name="Text Box 10">
            <a:extLst>
              <a:ext uri="{FF2B5EF4-FFF2-40B4-BE49-F238E27FC236}">
                <a16:creationId xmlns:a16="http://schemas.microsoft.com/office/drawing/2014/main" id="{0449EC4A-2C87-4F01-8B06-C936E56C0A87}"/>
              </a:ext>
            </a:extLst>
          </p:cNvPr>
          <p:cNvSpPr txBox="1">
            <a:spLocks noChangeArrowheads="1"/>
          </p:cNvSpPr>
          <p:nvPr/>
        </p:nvSpPr>
        <p:spPr bwMode="auto">
          <a:xfrm>
            <a:off x="1227138" y="6269457"/>
            <a:ext cx="6715125" cy="461665"/>
          </a:xfrm>
          <a:prstGeom prst="rect">
            <a:avLst/>
          </a:prstGeom>
          <a:noFill/>
          <a:ln w="9525">
            <a:noFill/>
            <a:miter lim="800000"/>
            <a:headEnd/>
            <a:tailEnd/>
          </a:ln>
        </p:spPr>
        <p:txBody>
          <a:bodyPr>
            <a:spAutoFit/>
          </a:bodyPr>
          <a:lstStyle/>
          <a:p>
            <a:pPr defTabSz="914400">
              <a:spcBef>
                <a:spcPct val="50000"/>
              </a:spcBef>
            </a:pPr>
            <a:r>
              <a:rPr lang="zh-CN" altLang="en-US" sz="2400" b="1" dirty="0">
                <a:latin typeface="Times New Roman" pitchFamily="18" charset="0"/>
                <a:ea typeface="微软雅黑" pitchFamily="34" charset="-122"/>
                <a:cs typeface="Times New Roman" pitchFamily="18" charset="0"/>
              </a:rPr>
              <a:t>面光源</a:t>
            </a:r>
            <a:r>
              <a:rPr lang="en-US" altLang="zh-CN" sz="2400" b="1" i="1" dirty="0">
                <a:latin typeface="Times New Roman" pitchFamily="18" charset="0"/>
                <a:ea typeface="微软雅黑" pitchFamily="34" charset="-122"/>
                <a:cs typeface="Times New Roman" pitchFamily="18" charset="0"/>
              </a:rPr>
              <a:t>S</a:t>
            </a:r>
            <a:r>
              <a:rPr lang="zh-CN" altLang="en-US" sz="2400" b="1" dirty="0">
                <a:latin typeface="Times New Roman" pitchFamily="18" charset="0"/>
                <a:ea typeface="微软雅黑" pitchFamily="34" charset="-122"/>
                <a:cs typeface="Times New Roman" pitchFamily="18" charset="0"/>
              </a:rPr>
              <a:t>向球面空间内发射的总辐通量为</a:t>
            </a:r>
          </a:p>
        </p:txBody>
      </p:sp>
      <p:graphicFrame>
        <p:nvGraphicFramePr>
          <p:cNvPr id="31" name="Object 11">
            <a:extLst>
              <a:ext uri="{FF2B5EF4-FFF2-40B4-BE49-F238E27FC236}">
                <a16:creationId xmlns:a16="http://schemas.microsoft.com/office/drawing/2014/main" id="{EDEA526A-124D-4E1F-BE0F-5E35964BD5E9}"/>
              </a:ext>
            </a:extLst>
          </p:cNvPr>
          <p:cNvGraphicFramePr>
            <a:graphicFrameLocks noChangeAspect="1"/>
          </p:cNvGraphicFramePr>
          <p:nvPr>
            <p:extLst>
              <p:ext uri="{D42A27DB-BD31-4B8C-83A1-F6EECF244321}">
                <p14:modId xmlns:p14="http://schemas.microsoft.com/office/powerpoint/2010/main" val="2867072358"/>
              </p:ext>
            </p:extLst>
          </p:nvPr>
        </p:nvGraphicFramePr>
        <p:xfrm>
          <a:off x="6844557" y="6187995"/>
          <a:ext cx="1866106" cy="648213"/>
        </p:xfrm>
        <a:graphic>
          <a:graphicData uri="http://schemas.openxmlformats.org/presentationml/2006/ole">
            <mc:AlternateContent xmlns:mc="http://schemas.openxmlformats.org/markup-compatibility/2006">
              <mc:Choice xmlns:v="urn:schemas-microsoft-com:vml" Requires="v">
                <p:oleObj name="公式" r:id="rId2" imgW="914400" imgH="317160" progId="Equation.3">
                  <p:embed/>
                </p:oleObj>
              </mc:Choice>
              <mc:Fallback>
                <p:oleObj name="公式" r:id="rId2" imgW="914400" imgH="317160" progId="Equation.3">
                  <p:embed/>
                  <p:pic>
                    <p:nvPicPr>
                      <p:cNvPr id="15"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4557" y="6187995"/>
                        <a:ext cx="1866106" cy="648213"/>
                      </a:xfrm>
                      <a:prstGeom prst="rect">
                        <a:avLst/>
                      </a:prstGeom>
                      <a:solidFill>
                        <a:srgbClr val="FFFF00"/>
                      </a:solidFill>
                    </p:spPr>
                  </p:pic>
                </p:oleObj>
              </mc:Fallback>
            </mc:AlternateContent>
          </a:graphicData>
        </a:graphic>
      </p:graphicFrame>
      <p:graphicFrame>
        <p:nvGraphicFramePr>
          <p:cNvPr id="32" name="Object 6">
            <a:extLst>
              <a:ext uri="{FF2B5EF4-FFF2-40B4-BE49-F238E27FC236}">
                <a16:creationId xmlns:a16="http://schemas.microsoft.com/office/drawing/2014/main" id="{4D93751F-94F9-493A-9379-562971992014}"/>
              </a:ext>
            </a:extLst>
          </p:cNvPr>
          <p:cNvGraphicFramePr>
            <a:graphicFrameLocks noChangeAspect="1"/>
          </p:cNvGraphicFramePr>
          <p:nvPr>
            <p:extLst>
              <p:ext uri="{D42A27DB-BD31-4B8C-83A1-F6EECF244321}">
                <p14:modId xmlns:p14="http://schemas.microsoft.com/office/powerpoint/2010/main" val="114484387"/>
              </p:ext>
            </p:extLst>
          </p:nvPr>
        </p:nvGraphicFramePr>
        <p:xfrm>
          <a:off x="4512780" y="4033900"/>
          <a:ext cx="1592332" cy="929980"/>
        </p:xfrm>
        <a:graphic>
          <a:graphicData uri="http://schemas.openxmlformats.org/presentationml/2006/ole">
            <mc:AlternateContent xmlns:mc="http://schemas.openxmlformats.org/markup-compatibility/2006">
              <mc:Choice xmlns:v="urn:schemas-microsoft-com:vml" Requires="v">
                <p:oleObj name="公式" r:id="rId4" imgW="672840" imgH="393480" progId="Equation.3">
                  <p:embed/>
                </p:oleObj>
              </mc:Choice>
              <mc:Fallback>
                <p:oleObj name="公式" r:id="rId4" imgW="672840" imgH="393480" progId="Equation.3">
                  <p:embed/>
                  <p:pic>
                    <p:nvPicPr>
                      <p:cNvPr id="1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2780" y="4033900"/>
                        <a:ext cx="1592332" cy="929980"/>
                      </a:xfrm>
                      <a:prstGeom prst="rect">
                        <a:avLst/>
                      </a:prstGeom>
                      <a:solidFill>
                        <a:srgbClr val="FFFF00"/>
                      </a:solidFill>
                      <a:ln>
                        <a:noFill/>
                      </a:ln>
                      <a:effectLst/>
                    </p:spPr>
                  </p:pic>
                </p:oleObj>
              </mc:Fallback>
            </mc:AlternateContent>
          </a:graphicData>
        </a:graphic>
      </p:graphicFrame>
      <p:sp>
        <p:nvSpPr>
          <p:cNvPr id="34" name="Text Box 7">
            <a:extLst>
              <a:ext uri="{FF2B5EF4-FFF2-40B4-BE49-F238E27FC236}">
                <a16:creationId xmlns:a16="http://schemas.microsoft.com/office/drawing/2014/main" id="{02D55F7A-7EE3-4779-86CC-42AB3D6A768E}"/>
              </a:ext>
            </a:extLst>
          </p:cNvPr>
          <p:cNvSpPr txBox="1">
            <a:spLocks noChangeArrowheads="1"/>
          </p:cNvSpPr>
          <p:nvPr/>
        </p:nvSpPr>
        <p:spPr bwMode="auto">
          <a:xfrm>
            <a:off x="1196782" y="4254949"/>
            <a:ext cx="3224498" cy="461665"/>
          </a:xfrm>
          <a:prstGeom prst="rect">
            <a:avLst/>
          </a:prstGeom>
          <a:noFill/>
          <a:ln w="9525">
            <a:noFill/>
            <a:miter lim="800000"/>
            <a:headEnd/>
            <a:tailEnd/>
          </a:ln>
        </p:spPr>
        <p:txBody>
          <a:bodyPr wrap="square">
            <a:spAutoFit/>
          </a:bodyPr>
          <a:lstStyle/>
          <a:p>
            <a:pPr defTabSz="914400">
              <a:spcBef>
                <a:spcPct val="50000"/>
              </a:spcBef>
            </a:pPr>
            <a:r>
              <a:rPr lang="zh-CN" altLang="en-US" sz="2400" b="1" dirty="0">
                <a:latin typeface="Times New Roman" pitchFamily="18" charset="0"/>
                <a:ea typeface="微软雅黑" pitchFamily="34" charset="-122"/>
                <a:cs typeface="Times New Roman" pitchFamily="18" charset="0"/>
              </a:rPr>
              <a:t>辐出度的数学表达式：</a:t>
            </a:r>
            <a:endParaRPr lang="zh-CN" altLang="en-US" sz="1400" b="1" dirty="0">
              <a:latin typeface="Times New Roman" pitchFamily="18" charset="0"/>
              <a:ea typeface="微软雅黑" pitchFamily="34" charset="-122"/>
              <a:cs typeface="Times New Roman" pitchFamily="18" charset="0"/>
            </a:endParaRPr>
          </a:p>
        </p:txBody>
      </p:sp>
      <p:sp>
        <p:nvSpPr>
          <p:cNvPr id="37" name="任意多边形 19">
            <a:extLst>
              <a:ext uri="{FF2B5EF4-FFF2-40B4-BE49-F238E27FC236}">
                <a16:creationId xmlns:a16="http://schemas.microsoft.com/office/drawing/2014/main" id="{6E76895B-034A-429F-887D-2322EEE1FF33}"/>
              </a:ext>
            </a:extLst>
          </p:cNvPr>
          <p:cNvSpPr/>
          <p:nvPr/>
        </p:nvSpPr>
        <p:spPr>
          <a:xfrm>
            <a:off x="8947308" y="2980808"/>
            <a:ext cx="2724719" cy="2755571"/>
          </a:xfrm>
          <a:custGeom>
            <a:avLst/>
            <a:gdLst>
              <a:gd name="connsiteX0" fmla="*/ 1458332 w 2724719"/>
              <a:gd name="connsiteY0" fmla="*/ 98058 h 2755571"/>
              <a:gd name="connsiteX1" fmla="*/ 2199112 w 2724719"/>
              <a:gd name="connsiteY1" fmla="*/ 514747 h 2755571"/>
              <a:gd name="connsiteX2" fmla="*/ 2592651 w 2724719"/>
              <a:gd name="connsiteY2" fmla="*/ 1197653 h 2755571"/>
              <a:gd name="connsiteX3" fmla="*/ 2673674 w 2724719"/>
              <a:gd name="connsiteY3" fmla="*/ 2088904 h 2755571"/>
              <a:gd name="connsiteX4" fmla="*/ 1863446 w 2724719"/>
              <a:gd name="connsiteY4" fmla="*/ 2123628 h 2755571"/>
              <a:gd name="connsiteX5" fmla="*/ 1319436 w 2724719"/>
              <a:gd name="connsiteY5" fmla="*/ 2748661 h 2755571"/>
              <a:gd name="connsiteX6" fmla="*/ 937471 w 2724719"/>
              <a:gd name="connsiteY6" fmla="*/ 1660641 h 2755571"/>
              <a:gd name="connsiteX7" fmla="*/ 11497 w 2724719"/>
              <a:gd name="connsiteY7" fmla="*/ 1209228 h 2755571"/>
              <a:gd name="connsiteX8" fmla="*/ 451335 w 2724719"/>
              <a:gd name="connsiteY8" fmla="*/ 352701 h 2755571"/>
              <a:gd name="connsiteX9" fmla="*/ 925897 w 2724719"/>
              <a:gd name="connsiteY9" fmla="*/ 17036 h 2755571"/>
              <a:gd name="connsiteX10" fmla="*/ 1458332 w 2724719"/>
              <a:gd name="connsiteY10" fmla="*/ 98058 h 275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4719" h="2755571">
                <a:moveTo>
                  <a:pt x="1458332" y="98058"/>
                </a:moveTo>
                <a:cubicBezTo>
                  <a:pt x="1670535" y="181010"/>
                  <a:pt x="2010059" y="331481"/>
                  <a:pt x="2199112" y="514747"/>
                </a:cubicBezTo>
                <a:cubicBezTo>
                  <a:pt x="2388165" y="698013"/>
                  <a:pt x="2513557" y="935294"/>
                  <a:pt x="2592651" y="1197653"/>
                </a:cubicBezTo>
                <a:cubicBezTo>
                  <a:pt x="2671745" y="1460012"/>
                  <a:pt x="2795208" y="1934575"/>
                  <a:pt x="2673674" y="2088904"/>
                </a:cubicBezTo>
                <a:cubicBezTo>
                  <a:pt x="2552140" y="2243233"/>
                  <a:pt x="2089152" y="2013669"/>
                  <a:pt x="1863446" y="2123628"/>
                </a:cubicBezTo>
                <a:cubicBezTo>
                  <a:pt x="1637740" y="2233587"/>
                  <a:pt x="1473765" y="2825826"/>
                  <a:pt x="1319436" y="2748661"/>
                </a:cubicBezTo>
                <a:cubicBezTo>
                  <a:pt x="1165107" y="2671497"/>
                  <a:pt x="1155461" y="1917213"/>
                  <a:pt x="937471" y="1660641"/>
                </a:cubicBezTo>
                <a:cubicBezTo>
                  <a:pt x="719481" y="1404069"/>
                  <a:pt x="92520" y="1427218"/>
                  <a:pt x="11497" y="1209228"/>
                </a:cubicBezTo>
                <a:cubicBezTo>
                  <a:pt x="-69526" y="991238"/>
                  <a:pt x="298935" y="551400"/>
                  <a:pt x="451335" y="352701"/>
                </a:cubicBezTo>
                <a:cubicBezTo>
                  <a:pt x="603735" y="154002"/>
                  <a:pt x="758064" y="59476"/>
                  <a:pt x="925897" y="17036"/>
                </a:cubicBezTo>
                <a:cubicBezTo>
                  <a:pt x="1093730" y="-25405"/>
                  <a:pt x="1246129" y="15106"/>
                  <a:pt x="1458332" y="98058"/>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94FCB89E-92C2-4E5D-908C-01F4178F3E98}"/>
              </a:ext>
            </a:extLst>
          </p:cNvPr>
          <p:cNvSpPr/>
          <p:nvPr/>
        </p:nvSpPr>
        <p:spPr>
          <a:xfrm rot="1510184">
            <a:off x="9816778" y="3993748"/>
            <a:ext cx="520861" cy="231857"/>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7CD1FE72-DD4F-426D-B000-A41366F00B48}"/>
              </a:ext>
            </a:extLst>
          </p:cNvPr>
          <p:cNvGrpSpPr/>
          <p:nvPr/>
        </p:nvGrpSpPr>
        <p:grpSpPr>
          <a:xfrm>
            <a:off x="9792200" y="3540252"/>
            <a:ext cx="842272" cy="648718"/>
            <a:chOff x="9906500" y="3273552"/>
            <a:chExt cx="842272" cy="648718"/>
          </a:xfrm>
        </p:grpSpPr>
        <p:cxnSp>
          <p:nvCxnSpPr>
            <p:cNvPr id="41" name="直接箭头连接符 40">
              <a:extLst>
                <a:ext uri="{FF2B5EF4-FFF2-40B4-BE49-F238E27FC236}">
                  <a16:creationId xmlns:a16="http://schemas.microsoft.com/office/drawing/2014/main" id="{0CE92CA2-2D66-4AEC-9744-E32B41C3B427}"/>
                </a:ext>
              </a:extLst>
            </p:cNvPr>
            <p:cNvCxnSpPr/>
            <p:nvPr/>
          </p:nvCxnSpPr>
          <p:spPr>
            <a:xfrm flipH="1" flipV="1">
              <a:off x="9906500" y="3273552"/>
              <a:ext cx="105602" cy="493648"/>
            </a:xfrm>
            <a:prstGeom prst="straightConnector1">
              <a:avLst/>
            </a:prstGeom>
            <a:ln w="28575">
              <a:solidFill>
                <a:srgbClr val="FF00FF"/>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69E611B3-B908-445C-9ED6-68159D506BDA}"/>
                </a:ext>
              </a:extLst>
            </p:cNvPr>
            <p:cNvCxnSpPr/>
            <p:nvPr/>
          </p:nvCxnSpPr>
          <p:spPr>
            <a:xfrm flipV="1">
              <a:off x="10143098" y="3331921"/>
              <a:ext cx="139379" cy="469419"/>
            </a:xfrm>
            <a:prstGeom prst="straightConnector1">
              <a:avLst/>
            </a:prstGeom>
            <a:ln w="28575">
              <a:solidFill>
                <a:srgbClr val="FF00FF"/>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1C5FC84-B567-4BDE-A8E6-53E0BDCE5C41}"/>
                </a:ext>
              </a:extLst>
            </p:cNvPr>
            <p:cNvCxnSpPr/>
            <p:nvPr/>
          </p:nvCxnSpPr>
          <p:spPr>
            <a:xfrm flipV="1">
              <a:off x="10258845" y="3490150"/>
              <a:ext cx="309172" cy="368210"/>
            </a:xfrm>
            <a:prstGeom prst="straightConnector1">
              <a:avLst/>
            </a:prstGeom>
            <a:ln w="28575">
              <a:solidFill>
                <a:srgbClr val="FF00FF"/>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C0886F98-2E4C-405A-8C10-197B8362C32A}"/>
                </a:ext>
              </a:extLst>
            </p:cNvPr>
            <p:cNvCxnSpPr/>
            <p:nvPr/>
          </p:nvCxnSpPr>
          <p:spPr>
            <a:xfrm flipV="1">
              <a:off x="10340460" y="3801340"/>
              <a:ext cx="408312" cy="120930"/>
            </a:xfrm>
            <a:prstGeom prst="straightConnector1">
              <a:avLst/>
            </a:prstGeom>
            <a:ln w="28575">
              <a:solidFill>
                <a:srgbClr val="FF00FF"/>
              </a:solidFill>
              <a:headEnd type="none"/>
              <a:tailEnd type="stealth"/>
            </a:ln>
          </p:spPr>
          <p:style>
            <a:lnRef idx="1">
              <a:schemeClr val="accent1"/>
            </a:lnRef>
            <a:fillRef idx="0">
              <a:schemeClr val="accent1"/>
            </a:fillRef>
            <a:effectRef idx="0">
              <a:schemeClr val="accent1"/>
            </a:effectRef>
            <a:fontRef idx="minor">
              <a:schemeClr val="tx1"/>
            </a:fontRef>
          </p:style>
        </p:cxnSp>
      </p:grpSp>
      <p:graphicFrame>
        <p:nvGraphicFramePr>
          <p:cNvPr id="45" name="Object 6">
            <a:extLst>
              <a:ext uri="{FF2B5EF4-FFF2-40B4-BE49-F238E27FC236}">
                <a16:creationId xmlns:a16="http://schemas.microsoft.com/office/drawing/2014/main" id="{07004BE8-FE69-4327-90D2-66316780177D}"/>
              </a:ext>
            </a:extLst>
          </p:cNvPr>
          <p:cNvGraphicFramePr>
            <a:graphicFrameLocks noChangeAspect="1"/>
          </p:cNvGraphicFramePr>
          <p:nvPr>
            <p:extLst>
              <p:ext uri="{D42A27DB-BD31-4B8C-83A1-F6EECF244321}">
                <p14:modId xmlns:p14="http://schemas.microsoft.com/office/powerpoint/2010/main" val="1209609582"/>
              </p:ext>
            </p:extLst>
          </p:nvPr>
        </p:nvGraphicFramePr>
        <p:xfrm>
          <a:off x="10211155" y="3237384"/>
          <a:ext cx="438321" cy="342596"/>
        </p:xfrm>
        <a:graphic>
          <a:graphicData uri="http://schemas.openxmlformats.org/presentationml/2006/ole">
            <mc:AlternateContent xmlns:mc="http://schemas.openxmlformats.org/markup-compatibility/2006">
              <mc:Choice xmlns:v="urn:schemas-microsoft-com:vml" Requires="v">
                <p:oleObj name="Equation" r:id="rId6" imgW="291960" imgH="228600" progId="Equation.DSMT4">
                  <p:embed/>
                </p:oleObj>
              </mc:Choice>
              <mc:Fallback>
                <p:oleObj name="Equation" r:id="rId6" imgW="291960" imgH="228600" progId="Equation.DSMT4">
                  <p:embed/>
                  <p:pic>
                    <p:nvPicPr>
                      <p:cNvPr id="27" name="Object 6"/>
                      <p:cNvPicPr>
                        <a:picLocks noChangeAspect="1" noChangeArrowheads="1"/>
                      </p:cNvPicPr>
                      <p:nvPr/>
                    </p:nvPicPr>
                    <p:blipFill>
                      <a:blip r:embed="rId7"/>
                      <a:srcRect/>
                      <a:stretch>
                        <a:fillRect/>
                      </a:stretch>
                    </p:blipFill>
                    <p:spPr bwMode="auto">
                      <a:xfrm>
                        <a:off x="10211155" y="3237384"/>
                        <a:ext cx="438321" cy="342596"/>
                      </a:xfrm>
                      <a:prstGeom prst="rect">
                        <a:avLst/>
                      </a:prstGeom>
                      <a:solidFill>
                        <a:srgbClr val="FFFF00"/>
                      </a:solidFill>
                      <a:ln>
                        <a:noFill/>
                      </a:ln>
                      <a:effectLst/>
                    </p:spPr>
                  </p:pic>
                </p:oleObj>
              </mc:Fallback>
            </mc:AlternateContent>
          </a:graphicData>
        </a:graphic>
      </p:graphicFrame>
      <p:sp>
        <p:nvSpPr>
          <p:cNvPr id="46" name="Text Box 7">
            <a:extLst>
              <a:ext uri="{FF2B5EF4-FFF2-40B4-BE49-F238E27FC236}">
                <a16:creationId xmlns:a16="http://schemas.microsoft.com/office/drawing/2014/main" id="{264F6C4F-1DA1-49CD-BD5B-017C714999B3}"/>
              </a:ext>
            </a:extLst>
          </p:cNvPr>
          <p:cNvSpPr txBox="1">
            <a:spLocks noChangeArrowheads="1"/>
          </p:cNvSpPr>
          <p:nvPr/>
        </p:nvSpPr>
        <p:spPr bwMode="auto">
          <a:xfrm>
            <a:off x="9930571" y="4133098"/>
            <a:ext cx="427948" cy="487634"/>
          </a:xfrm>
          <a:prstGeom prst="rect">
            <a:avLst/>
          </a:prstGeom>
          <a:noFill/>
          <a:ln w="9525">
            <a:noFill/>
            <a:miter lim="800000"/>
            <a:headEnd/>
            <a:tailEnd/>
          </a:ln>
        </p:spPr>
        <p:txBody>
          <a:bodyPr wrap="square" lIns="0" tIns="0" rIns="0" bIns="0">
            <a:spAutoFit/>
          </a:bodyPr>
          <a:lstStyle/>
          <a:p>
            <a:pPr defTabSz="914400">
              <a:lnSpc>
                <a:spcPct val="150000"/>
              </a:lnSpc>
              <a:spcBef>
                <a:spcPct val="50000"/>
              </a:spcBef>
            </a:pPr>
            <a:r>
              <a:rPr lang="en-US" altLang="zh-CN" sz="2400" b="1" dirty="0">
                <a:solidFill>
                  <a:srgbClr val="0000CC"/>
                </a:solidFill>
                <a:latin typeface="Times New Roman" pitchFamily="18" charset="0"/>
                <a:ea typeface="微软雅黑" pitchFamily="34" charset="-122"/>
                <a:cs typeface="Times New Roman" pitchFamily="18" charset="0"/>
              </a:rPr>
              <a:t>d</a:t>
            </a:r>
            <a:r>
              <a:rPr lang="en-US" altLang="zh-CN" sz="2400" b="1" i="1" dirty="0">
                <a:solidFill>
                  <a:srgbClr val="0000CC"/>
                </a:solidFill>
                <a:latin typeface="Times New Roman" pitchFamily="18" charset="0"/>
                <a:ea typeface="微软雅黑" pitchFamily="34" charset="-122"/>
                <a:cs typeface="Times New Roman" pitchFamily="18" charset="0"/>
              </a:rPr>
              <a:t>S</a:t>
            </a:r>
            <a:endParaRPr lang="en-US" altLang="zh-CN" sz="2400" b="1" dirty="0">
              <a:solidFill>
                <a:srgbClr val="0000CC"/>
              </a:solidFill>
              <a:latin typeface="Times New Roman" pitchFamily="18" charset="0"/>
              <a:ea typeface="微软雅黑" pitchFamily="34" charset="-122"/>
              <a:cs typeface="Times New Roman" pitchFamily="18" charset="0"/>
            </a:endParaRPr>
          </a:p>
        </p:txBody>
      </p:sp>
      <p:sp>
        <p:nvSpPr>
          <p:cNvPr id="47" name="Text Box 60">
            <a:extLst>
              <a:ext uri="{FF2B5EF4-FFF2-40B4-BE49-F238E27FC236}">
                <a16:creationId xmlns:a16="http://schemas.microsoft.com/office/drawing/2014/main" id="{92651678-DED2-48DB-9BC3-295632E570B1}"/>
              </a:ext>
            </a:extLst>
          </p:cNvPr>
          <p:cNvSpPr txBox="1">
            <a:spLocks noChangeArrowheads="1"/>
          </p:cNvSpPr>
          <p:nvPr/>
        </p:nvSpPr>
        <p:spPr bwMode="auto">
          <a:xfrm>
            <a:off x="9182688" y="5744417"/>
            <a:ext cx="2253958" cy="580865"/>
          </a:xfrm>
          <a:prstGeom prst="rect">
            <a:avLst/>
          </a:prstGeom>
          <a:noFill/>
          <a:ln w="9525">
            <a:noFill/>
            <a:miter lim="800000"/>
            <a:headEnd/>
            <a:tailEnd/>
          </a:ln>
        </p:spPr>
        <p:txBody>
          <a:bodyPr wrap="square">
            <a:spAutoFit/>
          </a:bodyPr>
          <a:lstStyle/>
          <a:p>
            <a:pPr algn="ctr" defTabSz="914400">
              <a:lnSpc>
                <a:spcPct val="150000"/>
              </a:lnSpc>
              <a:spcBef>
                <a:spcPct val="50000"/>
              </a:spcBef>
            </a:pPr>
            <a:r>
              <a:rPr lang="zh-CN" altLang="en-US" sz="2400" b="1" dirty="0">
                <a:solidFill>
                  <a:srgbClr val="0000CC"/>
                </a:solidFill>
                <a:latin typeface="Times New Roman" pitchFamily="18" charset="0"/>
                <a:ea typeface="微软雅黑" pitchFamily="34" charset="-122"/>
                <a:cs typeface="Times New Roman" pitchFamily="18" charset="0"/>
              </a:rPr>
              <a:t>辐出度示意图</a:t>
            </a:r>
            <a:endParaRPr lang="zh-CN" altLang="en-US" sz="2800" b="1" dirty="0">
              <a:solidFill>
                <a:srgbClr val="0000CC"/>
              </a:solidFill>
              <a:latin typeface="Times New Roman" pitchFamily="18" charset="0"/>
              <a:ea typeface="微软雅黑" pitchFamily="34" charset="-122"/>
              <a:cs typeface="Times New Roman" pitchFamily="18" charset="0"/>
            </a:endParaRPr>
          </a:p>
        </p:txBody>
      </p:sp>
      <p:sp>
        <p:nvSpPr>
          <p:cNvPr id="27"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35"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3" name="Text Box 5">
            <a:extLst>
              <a:ext uri="{FF2B5EF4-FFF2-40B4-BE49-F238E27FC236}">
                <a16:creationId xmlns:a16="http://schemas.microsoft.com/office/drawing/2014/main" id="{7A30BD1E-8098-42E3-89B9-E97040EB26C6}"/>
              </a:ext>
            </a:extLst>
          </p:cNvPr>
          <p:cNvSpPr txBox="1">
            <a:spLocks noChangeArrowheads="1"/>
          </p:cNvSpPr>
          <p:nvPr/>
        </p:nvSpPr>
        <p:spPr bwMode="auto">
          <a:xfrm>
            <a:off x="1326681" y="2427657"/>
            <a:ext cx="2241550"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符号：</a:t>
            </a:r>
            <a:r>
              <a:rPr lang="en-US" altLang="zh-CN" sz="2400" b="1" i="1" dirty="0">
                <a:latin typeface="Times New Roman" pitchFamily="18" charset="0"/>
                <a:ea typeface="微软雅黑" pitchFamily="34" charset="-122"/>
                <a:cs typeface="Times New Roman" pitchFamily="18" charset="0"/>
              </a:rPr>
              <a:t>M</a:t>
            </a:r>
            <a:r>
              <a:rPr lang="en-US" altLang="zh-CN" sz="2400" b="1" baseline="-25000" dirty="0">
                <a:latin typeface="Times New Roman" pitchFamily="18" charset="0"/>
                <a:ea typeface="微软雅黑" pitchFamily="34" charset="-122"/>
                <a:cs typeface="Times New Roman" pitchFamily="18" charset="0"/>
              </a:rPr>
              <a:t>e</a:t>
            </a:r>
            <a:endParaRPr lang="zh-CN" altLang="en-US" sz="2400" b="1"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25508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1+#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ox(in)">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blinds(horizontal)">
                                      <p:cBhvr>
                                        <p:cTn id="30" dur="500"/>
                                        <p:tgtEl>
                                          <p:spTgt spid="47"/>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barn(inVertical)">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2000"/>
                                        <p:tgtEl>
                                          <p:spTgt spid="38"/>
                                        </p:tgtEl>
                                      </p:cBhvr>
                                    </p:animEffect>
                                    <p:anim calcmode="lin" valueType="num">
                                      <p:cBhvr>
                                        <p:cTn id="41" dur="2000" fill="hold"/>
                                        <p:tgtEl>
                                          <p:spTgt spid="38"/>
                                        </p:tgtEl>
                                        <p:attrNameLst>
                                          <p:attrName>ppt_w</p:attrName>
                                        </p:attrNameLst>
                                      </p:cBhvr>
                                      <p:tavLst>
                                        <p:tav tm="0" fmla="#ppt_w*sin(2.5*pi*$)">
                                          <p:val>
                                            <p:fltVal val="0"/>
                                          </p:val>
                                        </p:tav>
                                        <p:tav tm="100000">
                                          <p:val>
                                            <p:fltVal val="1"/>
                                          </p:val>
                                        </p:tav>
                                      </p:tavLst>
                                    </p:anim>
                                    <p:anim calcmode="lin" valueType="num">
                                      <p:cBhvr>
                                        <p:cTn id="42" dur="2000" fill="hold"/>
                                        <p:tgtEl>
                                          <p:spTgt spid="38"/>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box(in)">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box(in)">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anim calcmode="lin" valueType="num">
                                      <p:cBhvr additive="base">
                                        <p:cTn id="61" dur="500" fill="hold"/>
                                        <p:tgtEl>
                                          <p:spTgt spid="34"/>
                                        </p:tgtEl>
                                        <p:attrNameLst>
                                          <p:attrName>ppt_x</p:attrName>
                                        </p:attrNameLst>
                                      </p:cBhvr>
                                      <p:tavLst>
                                        <p:tav tm="0">
                                          <p:val>
                                            <p:strVal val="0-#ppt_w/2"/>
                                          </p:val>
                                        </p:tav>
                                        <p:tav tm="100000">
                                          <p:val>
                                            <p:strVal val="#ppt_x"/>
                                          </p:val>
                                        </p:tav>
                                      </p:tavLst>
                                    </p:anim>
                                    <p:anim calcmode="lin" valueType="num">
                                      <p:cBhvr additive="base">
                                        <p:cTn id="62"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box(in)">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box(in)">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additive="base">
                                        <p:cTn id="77" dur="500" fill="hold"/>
                                        <p:tgtEl>
                                          <p:spTgt spid="30"/>
                                        </p:tgtEl>
                                        <p:attrNameLst>
                                          <p:attrName>ppt_x</p:attrName>
                                        </p:attrNameLst>
                                      </p:cBhvr>
                                      <p:tavLst>
                                        <p:tav tm="0">
                                          <p:val>
                                            <p:strVal val="#ppt_x"/>
                                          </p:val>
                                        </p:tav>
                                        <p:tav tm="100000">
                                          <p:val>
                                            <p:strVal val="#ppt_x"/>
                                          </p:val>
                                        </p:tav>
                                      </p:tavLst>
                                    </p:anim>
                                    <p:anim calcmode="lin" valueType="num">
                                      <p:cBhvr additive="base">
                                        <p:cTn id="7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nodeType="click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box(in)">
                                      <p:cBhvr>
                                        <p:cTn id="8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autoUpdateAnimBg="0"/>
      <p:bldP spid="28" grpId="0" autoUpdateAnimBg="0"/>
      <p:bldP spid="29" grpId="0" animBg="1"/>
      <p:bldP spid="30" grpId="0"/>
      <p:bldP spid="34" grpId="0"/>
      <p:bldP spid="37" grpId="0" animBg="1"/>
      <p:bldP spid="38" grpId="0" animBg="1"/>
      <p:bldP spid="46" grpId="0" autoUpdateAnimBg="0"/>
      <p:bldP spid="47" grpId="0"/>
      <p:bldP spid="3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7" name="Text Box 5">
            <a:extLst>
              <a:ext uri="{FF2B5EF4-FFF2-40B4-BE49-F238E27FC236}">
                <a16:creationId xmlns:a16="http://schemas.microsoft.com/office/drawing/2014/main" id="{B66C8334-2D83-4A56-BD85-1B0AC5A8FC8A}"/>
              </a:ext>
            </a:extLst>
          </p:cNvPr>
          <p:cNvSpPr txBox="1">
            <a:spLocks noChangeArrowheads="1"/>
          </p:cNvSpPr>
          <p:nvPr/>
        </p:nvSpPr>
        <p:spPr bwMode="auto">
          <a:xfrm>
            <a:off x="825907" y="1100668"/>
            <a:ext cx="4394679"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1.2.5  </a:t>
            </a:r>
            <a:r>
              <a:rPr lang="zh-CN" altLang="en-US" sz="2800" b="1" dirty="0">
                <a:solidFill>
                  <a:srgbClr val="0000FF"/>
                </a:solidFill>
                <a:latin typeface="Times New Roman" pitchFamily="18" charset="0"/>
                <a:ea typeface="微软雅黑" pitchFamily="34" charset="-122"/>
                <a:cs typeface="Times New Roman" pitchFamily="18" charset="0"/>
              </a:rPr>
              <a:t>辐照度</a:t>
            </a:r>
            <a:r>
              <a:rPr lang="en-US" altLang="zh-CN" sz="2800" b="1" dirty="0">
                <a:solidFill>
                  <a:srgbClr val="0000FF"/>
                </a:solidFill>
                <a:latin typeface="Times New Roman" pitchFamily="18" charset="0"/>
                <a:ea typeface="黑体" pitchFamily="2" charset="-122"/>
                <a:cs typeface="Times New Roman" pitchFamily="18" charset="0"/>
              </a:rPr>
              <a:t>(Irradiance)</a:t>
            </a:r>
            <a:endParaRPr lang="zh-CN" altLang="en-US" sz="2800" b="1" dirty="0">
              <a:solidFill>
                <a:srgbClr val="0000FF"/>
              </a:solidFill>
              <a:latin typeface="Times New Roman" pitchFamily="18" charset="0"/>
              <a:ea typeface="黑体" pitchFamily="2" charset="-122"/>
              <a:cs typeface="Times New Roman" pitchFamily="18" charset="0"/>
            </a:endParaRPr>
          </a:p>
        </p:txBody>
      </p:sp>
      <p:sp>
        <p:nvSpPr>
          <p:cNvPr id="35" name="Text Box 6">
            <a:extLst>
              <a:ext uri="{FF2B5EF4-FFF2-40B4-BE49-F238E27FC236}">
                <a16:creationId xmlns:a16="http://schemas.microsoft.com/office/drawing/2014/main" id="{1E8E6901-DB4D-4611-A823-39A11C9BCF09}"/>
              </a:ext>
            </a:extLst>
          </p:cNvPr>
          <p:cNvSpPr txBox="1">
            <a:spLocks noChangeArrowheads="1"/>
          </p:cNvSpPr>
          <p:nvPr/>
        </p:nvSpPr>
        <p:spPr bwMode="auto">
          <a:xfrm>
            <a:off x="291943" y="1728006"/>
            <a:ext cx="9274488"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       受照物体单位面积上所接收的辐通量称为辐照度。</a:t>
            </a:r>
          </a:p>
        </p:txBody>
      </p:sp>
      <p:graphicFrame>
        <p:nvGraphicFramePr>
          <p:cNvPr id="36" name="Object 7">
            <a:extLst>
              <a:ext uri="{FF2B5EF4-FFF2-40B4-BE49-F238E27FC236}">
                <a16:creationId xmlns:a16="http://schemas.microsoft.com/office/drawing/2014/main" id="{509F6160-9E5F-4E5A-ADA4-D858FEB0A3F0}"/>
              </a:ext>
            </a:extLst>
          </p:cNvPr>
          <p:cNvGraphicFramePr>
            <a:graphicFrameLocks noChangeAspect="1"/>
          </p:cNvGraphicFramePr>
          <p:nvPr>
            <p:extLst>
              <p:ext uri="{D42A27DB-BD31-4B8C-83A1-F6EECF244321}">
                <p14:modId xmlns:p14="http://schemas.microsoft.com/office/powerpoint/2010/main" val="3546378384"/>
              </p:ext>
            </p:extLst>
          </p:nvPr>
        </p:nvGraphicFramePr>
        <p:xfrm>
          <a:off x="4549560" y="3688131"/>
          <a:ext cx="1714500" cy="1084262"/>
        </p:xfrm>
        <a:graphic>
          <a:graphicData uri="http://schemas.openxmlformats.org/presentationml/2006/ole">
            <mc:AlternateContent xmlns:mc="http://schemas.openxmlformats.org/markup-compatibility/2006">
              <mc:Choice xmlns:v="urn:schemas-microsoft-com:vml" Requires="v">
                <p:oleObj name="公式" r:id="rId2" imgW="622080" imgH="393480" progId="Equation.3">
                  <p:embed/>
                </p:oleObj>
              </mc:Choice>
              <mc:Fallback>
                <p:oleObj name="公式" r:id="rId2" imgW="622080" imgH="393480" progId="Equation.3">
                  <p:embed/>
                  <p:pic>
                    <p:nvPicPr>
                      <p:cNvPr id="4"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560" y="3688131"/>
                        <a:ext cx="1714500" cy="108426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 name="Text Box 8">
            <a:extLst>
              <a:ext uri="{FF2B5EF4-FFF2-40B4-BE49-F238E27FC236}">
                <a16:creationId xmlns:a16="http://schemas.microsoft.com/office/drawing/2014/main" id="{97ACFE88-95AD-4E7D-BECF-70A53AA6CF06}"/>
              </a:ext>
            </a:extLst>
          </p:cNvPr>
          <p:cNvSpPr txBox="1">
            <a:spLocks noChangeArrowheads="1"/>
          </p:cNvSpPr>
          <p:nvPr/>
        </p:nvSpPr>
        <p:spPr bwMode="auto">
          <a:xfrm>
            <a:off x="917157" y="2808030"/>
            <a:ext cx="6929438" cy="646331"/>
          </a:xfrm>
          <a:prstGeom prst="rect">
            <a:avLst/>
          </a:prstGeom>
          <a:noFill/>
          <a:ln w="9525">
            <a:noFill/>
            <a:miter lim="800000"/>
            <a:headEnd/>
            <a:tailEnd/>
          </a:ln>
        </p:spPr>
        <p:txBody>
          <a:bodyPr>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计量单位：瓦</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特</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每平方米</a:t>
            </a:r>
            <a:r>
              <a:rPr lang="en-US" altLang="zh-CN" sz="2400" b="1" dirty="0">
                <a:latin typeface="Times New Roman" pitchFamily="18" charset="0"/>
                <a:ea typeface="微软雅黑" pitchFamily="34" charset="-122"/>
                <a:cs typeface="Times New Roman" pitchFamily="18" charset="0"/>
              </a:rPr>
              <a:t>[W</a:t>
            </a:r>
            <a:r>
              <a:rPr lang="zh-CN" altLang="en-US" sz="2400" b="1" dirty="0">
                <a:latin typeface="Times New Roman" pitchFamily="18" charset="0"/>
                <a:ea typeface="微软雅黑" pitchFamily="34" charset="-122"/>
                <a:cs typeface="Times New Roman" pitchFamily="18" charset="0"/>
              </a:rPr>
              <a:t>／</a:t>
            </a:r>
            <a:r>
              <a:rPr lang="en-US" altLang="zh-CN" sz="2400" b="1" dirty="0">
                <a:latin typeface="Times New Roman" pitchFamily="18" charset="0"/>
                <a:ea typeface="微软雅黑" pitchFamily="34" charset="-122"/>
                <a:cs typeface="Times New Roman" pitchFamily="18" charset="0"/>
              </a:rPr>
              <a:t>m</a:t>
            </a:r>
            <a:r>
              <a:rPr lang="en-US" altLang="zh-CN" sz="2400" b="1" baseline="30000" dirty="0">
                <a:latin typeface="Times New Roman" pitchFamily="18" charset="0"/>
                <a:ea typeface="微软雅黑" pitchFamily="34" charset="-122"/>
                <a:cs typeface="Times New Roman" pitchFamily="18" charset="0"/>
              </a:rPr>
              <a:t>2</a:t>
            </a:r>
            <a:r>
              <a:rPr lang="en-US" altLang="zh-CN" sz="2400" b="1" dirty="0">
                <a:latin typeface="Times New Roman" pitchFamily="18" charset="0"/>
                <a:ea typeface="微软雅黑" pitchFamily="34" charset="-122"/>
                <a:cs typeface="Times New Roman" pitchFamily="18" charset="0"/>
              </a:rPr>
              <a:t>]</a:t>
            </a:r>
          </a:p>
        </p:txBody>
      </p:sp>
      <p:sp>
        <p:nvSpPr>
          <p:cNvPr id="49" name="Text Box 7">
            <a:extLst>
              <a:ext uri="{FF2B5EF4-FFF2-40B4-BE49-F238E27FC236}">
                <a16:creationId xmlns:a16="http://schemas.microsoft.com/office/drawing/2014/main" id="{0DF2DE34-8146-4329-85AC-198CC01F9EBF}"/>
              </a:ext>
            </a:extLst>
          </p:cNvPr>
          <p:cNvSpPr txBox="1">
            <a:spLocks noChangeArrowheads="1"/>
          </p:cNvSpPr>
          <p:nvPr/>
        </p:nvSpPr>
        <p:spPr bwMode="auto">
          <a:xfrm>
            <a:off x="933904" y="3858116"/>
            <a:ext cx="4395584"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辐射照度的数学表达式：</a:t>
            </a:r>
          </a:p>
        </p:txBody>
      </p:sp>
      <p:sp>
        <p:nvSpPr>
          <p:cNvPr id="50" name="Text Box 9">
            <a:extLst>
              <a:ext uri="{FF2B5EF4-FFF2-40B4-BE49-F238E27FC236}">
                <a16:creationId xmlns:a16="http://schemas.microsoft.com/office/drawing/2014/main" id="{46EB0E81-5617-4661-813C-CFBD032D3B3E}"/>
              </a:ext>
            </a:extLst>
          </p:cNvPr>
          <p:cNvSpPr txBox="1">
            <a:spLocks noChangeArrowheads="1"/>
          </p:cNvSpPr>
          <p:nvPr/>
        </p:nvSpPr>
        <p:spPr bwMode="auto">
          <a:xfrm>
            <a:off x="1575020" y="5334171"/>
            <a:ext cx="11371634"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不要把辐照度</a:t>
            </a:r>
            <a:r>
              <a:rPr lang="en-US" altLang="zh-CN" sz="2400" b="1" i="1" dirty="0" err="1">
                <a:latin typeface="Times New Roman" pitchFamily="18" charset="0"/>
                <a:ea typeface="微软雅黑" pitchFamily="34" charset="-122"/>
                <a:cs typeface="Times New Roman" pitchFamily="18" charset="0"/>
              </a:rPr>
              <a:t>E</a:t>
            </a:r>
            <a:r>
              <a:rPr lang="en-US" altLang="zh-CN" sz="2400" b="1" baseline="-25000" dirty="0" err="1">
                <a:latin typeface="Times New Roman" pitchFamily="18" charset="0"/>
                <a:ea typeface="微软雅黑" pitchFamily="34" charset="-122"/>
                <a:cs typeface="Times New Roman" pitchFamily="18" charset="0"/>
              </a:rPr>
              <a:t>e</a:t>
            </a:r>
            <a:r>
              <a:rPr lang="zh-CN" altLang="en-US" sz="2400" b="1" dirty="0">
                <a:latin typeface="Times New Roman" pitchFamily="18" charset="0"/>
                <a:ea typeface="微软雅黑" pitchFamily="34" charset="-122"/>
                <a:cs typeface="Times New Roman" pitchFamily="18" charset="0"/>
              </a:rPr>
              <a:t>与辐射出度</a:t>
            </a:r>
            <a:r>
              <a:rPr lang="en-US" altLang="zh-CN" sz="2400" b="1" i="1" dirty="0">
                <a:latin typeface="Times New Roman" pitchFamily="18" charset="0"/>
                <a:ea typeface="微软雅黑" pitchFamily="34" charset="-122"/>
                <a:cs typeface="Times New Roman" pitchFamily="18" charset="0"/>
              </a:rPr>
              <a:t>M</a:t>
            </a:r>
            <a:r>
              <a:rPr lang="en-US" altLang="zh-CN" sz="2400" b="1" baseline="-25000" dirty="0">
                <a:latin typeface="Times New Roman" pitchFamily="18" charset="0"/>
                <a:ea typeface="微软雅黑" pitchFamily="34" charset="-122"/>
                <a:cs typeface="Times New Roman" pitchFamily="18" charset="0"/>
              </a:rPr>
              <a:t>e</a:t>
            </a:r>
            <a:r>
              <a:rPr lang="zh-CN" altLang="en-US" sz="2400" b="1" dirty="0">
                <a:solidFill>
                  <a:srgbClr val="FF0000"/>
                </a:solidFill>
                <a:latin typeface="Times New Roman" pitchFamily="18" charset="0"/>
                <a:ea typeface="微软雅黑" pitchFamily="34" charset="-122"/>
                <a:cs typeface="Times New Roman" pitchFamily="18" charset="0"/>
              </a:rPr>
              <a:t>混淆</a:t>
            </a:r>
            <a:r>
              <a:rPr lang="zh-CN" altLang="en-US" sz="2400" b="1" dirty="0">
                <a:latin typeface="Times New Roman" pitchFamily="18" charset="0"/>
                <a:ea typeface="微软雅黑" pitchFamily="34" charset="-122"/>
                <a:cs typeface="Times New Roman" pitchFamily="18" charset="0"/>
              </a:rPr>
              <a:t>起来。虽然两者单位相同，但定义不一样。</a:t>
            </a:r>
          </a:p>
        </p:txBody>
      </p:sp>
      <p:sp>
        <p:nvSpPr>
          <p:cNvPr id="51" name="AutoShape 10">
            <a:extLst>
              <a:ext uri="{FF2B5EF4-FFF2-40B4-BE49-F238E27FC236}">
                <a16:creationId xmlns:a16="http://schemas.microsoft.com/office/drawing/2014/main" id="{9D072C2F-AB28-4800-B0E1-0C0C556F72CB}"/>
              </a:ext>
            </a:extLst>
          </p:cNvPr>
          <p:cNvSpPr>
            <a:spLocks noChangeArrowheads="1"/>
          </p:cNvSpPr>
          <p:nvPr/>
        </p:nvSpPr>
        <p:spPr bwMode="auto">
          <a:xfrm>
            <a:off x="951364" y="5206736"/>
            <a:ext cx="857250" cy="714375"/>
          </a:xfrm>
          <a:prstGeom prst="star5">
            <a:avLst/>
          </a:prstGeom>
          <a:gradFill rotWithShape="1">
            <a:gsLst>
              <a:gs pos="0">
                <a:schemeClr val="accent1"/>
              </a:gs>
              <a:gs pos="100000">
                <a:srgbClr val="FF0066"/>
              </a:gs>
            </a:gsLst>
            <a:path path="shape">
              <a:fillToRect l="50000" t="50000" r="50000" b="50000"/>
            </a:path>
          </a:gradFill>
          <a:ln w="9525">
            <a:solidFill>
              <a:srgbClr val="FF6600"/>
            </a:solidFill>
            <a:miter lim="800000"/>
            <a:headEnd/>
            <a:tailEnd/>
          </a:ln>
          <a:effectLst/>
        </p:spPr>
        <p:txBody>
          <a:bodyPr wrap="none" anchor="ctr"/>
          <a:lstStyle/>
          <a:p>
            <a:pPr defTabSz="914400">
              <a:defRPr/>
            </a:pPr>
            <a:endParaRPr lang="zh-CN" altLang="en-US" sz="2400">
              <a:latin typeface="Arial" charset="0"/>
            </a:endParaRPr>
          </a:p>
        </p:txBody>
      </p:sp>
      <p:sp>
        <p:nvSpPr>
          <p:cNvPr id="52" name="Text Box 9">
            <a:extLst>
              <a:ext uri="{FF2B5EF4-FFF2-40B4-BE49-F238E27FC236}">
                <a16:creationId xmlns:a16="http://schemas.microsoft.com/office/drawing/2014/main" id="{65CC7E78-B946-4712-AED5-CCD069136715}"/>
              </a:ext>
            </a:extLst>
          </p:cNvPr>
          <p:cNvSpPr txBox="1">
            <a:spLocks noChangeArrowheads="1"/>
          </p:cNvSpPr>
          <p:nvPr/>
        </p:nvSpPr>
        <p:spPr bwMode="auto">
          <a:xfrm>
            <a:off x="1000125" y="5974621"/>
            <a:ext cx="8143875" cy="646331"/>
          </a:xfrm>
          <a:prstGeom prst="rect">
            <a:avLst/>
          </a:prstGeom>
          <a:noFill/>
          <a:ln w="9525">
            <a:noFill/>
            <a:miter lim="800000"/>
            <a:headEnd/>
            <a:tailEnd/>
          </a:ln>
        </p:spPr>
        <p:txBody>
          <a:bodyPr>
            <a:spAutoFit/>
          </a:bodyPr>
          <a:lstStyle/>
          <a:p>
            <a:pPr defTabSz="914400">
              <a:lnSpc>
                <a:spcPct val="150000"/>
              </a:lnSpc>
              <a:spcBef>
                <a:spcPct val="50000"/>
              </a:spcBef>
            </a:pPr>
            <a:r>
              <a:rPr lang="zh-CN" altLang="en-US" sz="2400" b="1" dirty="0">
                <a:solidFill>
                  <a:srgbClr val="FF0000"/>
                </a:solidFill>
                <a:latin typeface="Times New Roman" pitchFamily="18" charset="0"/>
                <a:ea typeface="微软雅黑" pitchFamily="34" charset="-122"/>
                <a:cs typeface="Times New Roman" pitchFamily="18" charset="0"/>
              </a:rPr>
              <a:t>辐照度</a:t>
            </a:r>
            <a:r>
              <a:rPr lang="zh-CN" altLang="en-US" sz="2400" b="1" dirty="0">
                <a:latin typeface="Times New Roman" pitchFamily="18" charset="0"/>
                <a:ea typeface="微软雅黑" pitchFamily="34" charset="-122"/>
                <a:cs typeface="Times New Roman" pitchFamily="18" charset="0"/>
              </a:rPr>
              <a:t>是从物体表面接收辐通量的角度来定义的。</a:t>
            </a:r>
          </a:p>
        </p:txBody>
      </p:sp>
      <p:sp>
        <p:nvSpPr>
          <p:cNvPr id="53" name="Text Box 9">
            <a:extLst>
              <a:ext uri="{FF2B5EF4-FFF2-40B4-BE49-F238E27FC236}">
                <a16:creationId xmlns:a16="http://schemas.microsoft.com/office/drawing/2014/main" id="{D6F94B65-6304-4C8A-BBF3-9634EA7F835E}"/>
              </a:ext>
            </a:extLst>
          </p:cNvPr>
          <p:cNvSpPr txBox="1">
            <a:spLocks noChangeArrowheads="1"/>
          </p:cNvSpPr>
          <p:nvPr/>
        </p:nvSpPr>
        <p:spPr bwMode="auto">
          <a:xfrm>
            <a:off x="1000125" y="6542280"/>
            <a:ext cx="7858125" cy="646331"/>
          </a:xfrm>
          <a:prstGeom prst="rect">
            <a:avLst/>
          </a:prstGeom>
          <a:noFill/>
          <a:ln w="9525">
            <a:noFill/>
            <a:miter lim="800000"/>
            <a:headEnd/>
            <a:tailEnd/>
          </a:ln>
        </p:spPr>
        <p:txBody>
          <a:bodyPr>
            <a:spAutoFit/>
          </a:bodyPr>
          <a:lstStyle/>
          <a:p>
            <a:pPr defTabSz="914400">
              <a:lnSpc>
                <a:spcPct val="150000"/>
              </a:lnSpc>
              <a:spcBef>
                <a:spcPct val="50000"/>
              </a:spcBef>
            </a:pPr>
            <a:r>
              <a:rPr lang="zh-CN" altLang="en-US" sz="2400" b="1" dirty="0">
                <a:solidFill>
                  <a:srgbClr val="FF0000"/>
                </a:solidFill>
                <a:latin typeface="Times New Roman" pitchFamily="18" charset="0"/>
                <a:ea typeface="微软雅黑" pitchFamily="34" charset="-122"/>
                <a:cs typeface="Times New Roman" pitchFamily="18" charset="0"/>
              </a:rPr>
              <a:t>辐出度</a:t>
            </a:r>
            <a:r>
              <a:rPr lang="zh-CN" altLang="en-US" sz="2400" b="1" dirty="0">
                <a:latin typeface="Times New Roman" pitchFamily="18" charset="0"/>
                <a:ea typeface="微软雅黑" pitchFamily="34" charset="-122"/>
                <a:cs typeface="Times New Roman" pitchFamily="18" charset="0"/>
              </a:rPr>
              <a:t>是从面光源表面发射辐射的角度来定义的。</a:t>
            </a:r>
          </a:p>
        </p:txBody>
      </p:sp>
      <p:sp>
        <p:nvSpPr>
          <p:cNvPr id="54" name="任意多边形 20">
            <a:extLst>
              <a:ext uri="{FF2B5EF4-FFF2-40B4-BE49-F238E27FC236}">
                <a16:creationId xmlns:a16="http://schemas.microsoft.com/office/drawing/2014/main" id="{9FCEADDA-E413-4EC3-B89F-0B596D47C8D5}"/>
              </a:ext>
            </a:extLst>
          </p:cNvPr>
          <p:cNvSpPr/>
          <p:nvPr/>
        </p:nvSpPr>
        <p:spPr>
          <a:xfrm>
            <a:off x="9763733" y="1711215"/>
            <a:ext cx="2724719" cy="2755571"/>
          </a:xfrm>
          <a:custGeom>
            <a:avLst/>
            <a:gdLst>
              <a:gd name="connsiteX0" fmla="*/ 1458332 w 2724719"/>
              <a:gd name="connsiteY0" fmla="*/ 98058 h 2755571"/>
              <a:gd name="connsiteX1" fmla="*/ 2199112 w 2724719"/>
              <a:gd name="connsiteY1" fmla="*/ 514747 h 2755571"/>
              <a:gd name="connsiteX2" fmla="*/ 2592651 w 2724719"/>
              <a:gd name="connsiteY2" fmla="*/ 1197653 h 2755571"/>
              <a:gd name="connsiteX3" fmla="*/ 2673674 w 2724719"/>
              <a:gd name="connsiteY3" fmla="*/ 2088904 h 2755571"/>
              <a:gd name="connsiteX4" fmla="*/ 1863446 w 2724719"/>
              <a:gd name="connsiteY4" fmla="*/ 2123628 h 2755571"/>
              <a:gd name="connsiteX5" fmla="*/ 1319436 w 2724719"/>
              <a:gd name="connsiteY5" fmla="*/ 2748661 h 2755571"/>
              <a:gd name="connsiteX6" fmla="*/ 937471 w 2724719"/>
              <a:gd name="connsiteY6" fmla="*/ 1660641 h 2755571"/>
              <a:gd name="connsiteX7" fmla="*/ 11497 w 2724719"/>
              <a:gd name="connsiteY7" fmla="*/ 1209228 h 2755571"/>
              <a:gd name="connsiteX8" fmla="*/ 451335 w 2724719"/>
              <a:gd name="connsiteY8" fmla="*/ 352701 h 2755571"/>
              <a:gd name="connsiteX9" fmla="*/ 925897 w 2724719"/>
              <a:gd name="connsiteY9" fmla="*/ 17036 h 2755571"/>
              <a:gd name="connsiteX10" fmla="*/ 1458332 w 2724719"/>
              <a:gd name="connsiteY10" fmla="*/ 98058 h 275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4719" h="2755571">
                <a:moveTo>
                  <a:pt x="1458332" y="98058"/>
                </a:moveTo>
                <a:cubicBezTo>
                  <a:pt x="1670535" y="181010"/>
                  <a:pt x="2010059" y="331481"/>
                  <a:pt x="2199112" y="514747"/>
                </a:cubicBezTo>
                <a:cubicBezTo>
                  <a:pt x="2388165" y="698013"/>
                  <a:pt x="2513557" y="935294"/>
                  <a:pt x="2592651" y="1197653"/>
                </a:cubicBezTo>
                <a:cubicBezTo>
                  <a:pt x="2671745" y="1460012"/>
                  <a:pt x="2795208" y="1934575"/>
                  <a:pt x="2673674" y="2088904"/>
                </a:cubicBezTo>
                <a:cubicBezTo>
                  <a:pt x="2552140" y="2243233"/>
                  <a:pt x="2089152" y="2013669"/>
                  <a:pt x="1863446" y="2123628"/>
                </a:cubicBezTo>
                <a:cubicBezTo>
                  <a:pt x="1637740" y="2233587"/>
                  <a:pt x="1473765" y="2825826"/>
                  <a:pt x="1319436" y="2748661"/>
                </a:cubicBezTo>
                <a:cubicBezTo>
                  <a:pt x="1165107" y="2671497"/>
                  <a:pt x="1155461" y="1917213"/>
                  <a:pt x="937471" y="1660641"/>
                </a:cubicBezTo>
                <a:cubicBezTo>
                  <a:pt x="719481" y="1404069"/>
                  <a:pt x="92520" y="1427218"/>
                  <a:pt x="11497" y="1209228"/>
                </a:cubicBezTo>
                <a:cubicBezTo>
                  <a:pt x="-69526" y="991238"/>
                  <a:pt x="298935" y="551400"/>
                  <a:pt x="451335" y="352701"/>
                </a:cubicBezTo>
                <a:cubicBezTo>
                  <a:pt x="603735" y="154002"/>
                  <a:pt x="758064" y="59476"/>
                  <a:pt x="925897" y="17036"/>
                </a:cubicBezTo>
                <a:cubicBezTo>
                  <a:pt x="1093730" y="-25405"/>
                  <a:pt x="1246129" y="15106"/>
                  <a:pt x="1458332" y="98058"/>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4D2A6748-4613-4DE0-893F-03ADBD126FF9}"/>
              </a:ext>
            </a:extLst>
          </p:cNvPr>
          <p:cNvSpPr/>
          <p:nvPr/>
        </p:nvSpPr>
        <p:spPr>
          <a:xfrm rot="1510184">
            <a:off x="10633203" y="2724155"/>
            <a:ext cx="520861" cy="231857"/>
          </a:xfrm>
          <a:prstGeom prst="ellipse">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44D23973-D7A0-40C7-BC1A-AC90AD521A86}"/>
              </a:ext>
            </a:extLst>
          </p:cNvPr>
          <p:cNvGrpSpPr/>
          <p:nvPr/>
        </p:nvGrpSpPr>
        <p:grpSpPr>
          <a:xfrm>
            <a:off x="10608625" y="2270659"/>
            <a:ext cx="842272" cy="648718"/>
            <a:chOff x="9906500" y="3273552"/>
            <a:chExt cx="842272" cy="648718"/>
          </a:xfrm>
        </p:grpSpPr>
        <p:cxnSp>
          <p:nvCxnSpPr>
            <p:cNvPr id="57" name="直接箭头连接符 56">
              <a:extLst>
                <a:ext uri="{FF2B5EF4-FFF2-40B4-BE49-F238E27FC236}">
                  <a16:creationId xmlns:a16="http://schemas.microsoft.com/office/drawing/2014/main" id="{E8605AE2-01A5-4DB9-BD5D-937F9A5BA243}"/>
                </a:ext>
              </a:extLst>
            </p:cNvPr>
            <p:cNvCxnSpPr/>
            <p:nvPr/>
          </p:nvCxnSpPr>
          <p:spPr>
            <a:xfrm flipH="1" flipV="1">
              <a:off x="9906500" y="3273552"/>
              <a:ext cx="105602" cy="493648"/>
            </a:xfrm>
            <a:prstGeom prst="straightConnector1">
              <a:avLst/>
            </a:prstGeom>
            <a:ln w="28575">
              <a:solidFill>
                <a:srgbClr val="FFFF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BB8917EC-3A9D-4462-A740-EA344F61F18F}"/>
                </a:ext>
              </a:extLst>
            </p:cNvPr>
            <p:cNvCxnSpPr/>
            <p:nvPr/>
          </p:nvCxnSpPr>
          <p:spPr>
            <a:xfrm flipV="1">
              <a:off x="10143098" y="3331921"/>
              <a:ext cx="139379" cy="469419"/>
            </a:xfrm>
            <a:prstGeom prst="straightConnector1">
              <a:avLst/>
            </a:prstGeom>
            <a:ln w="28575">
              <a:solidFill>
                <a:srgbClr val="FFFF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40652AE7-4D2D-429E-BEE7-8575280F7E45}"/>
                </a:ext>
              </a:extLst>
            </p:cNvPr>
            <p:cNvCxnSpPr/>
            <p:nvPr/>
          </p:nvCxnSpPr>
          <p:spPr>
            <a:xfrm flipV="1">
              <a:off x="10258845" y="3490150"/>
              <a:ext cx="309172" cy="368210"/>
            </a:xfrm>
            <a:prstGeom prst="straightConnector1">
              <a:avLst/>
            </a:prstGeom>
            <a:ln w="28575">
              <a:solidFill>
                <a:srgbClr val="FFFF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63AD7CDA-F46D-4668-AC47-F8964FB3D3E9}"/>
                </a:ext>
              </a:extLst>
            </p:cNvPr>
            <p:cNvCxnSpPr/>
            <p:nvPr/>
          </p:nvCxnSpPr>
          <p:spPr>
            <a:xfrm flipV="1">
              <a:off x="10340460" y="3801340"/>
              <a:ext cx="408312" cy="120930"/>
            </a:xfrm>
            <a:prstGeom prst="straightConnector1">
              <a:avLst/>
            </a:prstGeom>
            <a:ln w="28575">
              <a:solidFill>
                <a:srgbClr val="FFFF00"/>
              </a:solidFill>
              <a:headEnd type="stealth"/>
              <a:tailEnd type="none"/>
            </a:ln>
          </p:spPr>
          <p:style>
            <a:lnRef idx="1">
              <a:schemeClr val="accent1"/>
            </a:lnRef>
            <a:fillRef idx="0">
              <a:schemeClr val="accent1"/>
            </a:fillRef>
            <a:effectRef idx="0">
              <a:schemeClr val="accent1"/>
            </a:effectRef>
            <a:fontRef idx="minor">
              <a:schemeClr val="tx1"/>
            </a:fontRef>
          </p:style>
        </p:cxnSp>
      </p:grpSp>
      <p:graphicFrame>
        <p:nvGraphicFramePr>
          <p:cNvPr id="61" name="Object 6">
            <a:extLst>
              <a:ext uri="{FF2B5EF4-FFF2-40B4-BE49-F238E27FC236}">
                <a16:creationId xmlns:a16="http://schemas.microsoft.com/office/drawing/2014/main" id="{93EAAB3C-514F-47D0-8726-558FB7BAF554}"/>
              </a:ext>
            </a:extLst>
          </p:cNvPr>
          <p:cNvGraphicFramePr>
            <a:graphicFrameLocks noChangeAspect="1"/>
          </p:cNvGraphicFramePr>
          <p:nvPr>
            <p:extLst>
              <p:ext uri="{D42A27DB-BD31-4B8C-83A1-F6EECF244321}">
                <p14:modId xmlns:p14="http://schemas.microsoft.com/office/powerpoint/2010/main" val="2101450995"/>
              </p:ext>
            </p:extLst>
          </p:nvPr>
        </p:nvGraphicFramePr>
        <p:xfrm>
          <a:off x="11027580" y="1967791"/>
          <a:ext cx="438321" cy="342596"/>
        </p:xfrm>
        <a:graphic>
          <a:graphicData uri="http://schemas.openxmlformats.org/presentationml/2006/ole">
            <mc:AlternateContent xmlns:mc="http://schemas.openxmlformats.org/markup-compatibility/2006">
              <mc:Choice xmlns:v="urn:schemas-microsoft-com:vml" Requires="v">
                <p:oleObj name="Equation" r:id="rId4" imgW="291960" imgH="228600" progId="Equation.DSMT4">
                  <p:embed/>
                </p:oleObj>
              </mc:Choice>
              <mc:Fallback>
                <p:oleObj name="Equation" r:id="rId4" imgW="291960" imgH="228600" progId="Equation.DSMT4">
                  <p:embed/>
                  <p:pic>
                    <p:nvPicPr>
                      <p:cNvPr id="28" name="Object 6"/>
                      <p:cNvPicPr>
                        <a:picLocks noChangeAspect="1" noChangeArrowheads="1"/>
                      </p:cNvPicPr>
                      <p:nvPr/>
                    </p:nvPicPr>
                    <p:blipFill>
                      <a:blip r:embed="rId5"/>
                      <a:srcRect/>
                      <a:stretch>
                        <a:fillRect/>
                      </a:stretch>
                    </p:blipFill>
                    <p:spPr bwMode="auto">
                      <a:xfrm>
                        <a:off x="11027580" y="1967791"/>
                        <a:ext cx="438321" cy="342596"/>
                      </a:xfrm>
                      <a:prstGeom prst="rect">
                        <a:avLst/>
                      </a:prstGeom>
                      <a:solidFill>
                        <a:srgbClr val="FFFF00"/>
                      </a:solidFill>
                      <a:ln>
                        <a:noFill/>
                      </a:ln>
                      <a:effectLst/>
                    </p:spPr>
                  </p:pic>
                </p:oleObj>
              </mc:Fallback>
            </mc:AlternateContent>
          </a:graphicData>
        </a:graphic>
      </p:graphicFrame>
      <p:sp>
        <p:nvSpPr>
          <p:cNvPr id="62" name="Text Box 7">
            <a:extLst>
              <a:ext uri="{FF2B5EF4-FFF2-40B4-BE49-F238E27FC236}">
                <a16:creationId xmlns:a16="http://schemas.microsoft.com/office/drawing/2014/main" id="{948E3724-511A-4D86-B997-A7E88F045E2D}"/>
              </a:ext>
            </a:extLst>
          </p:cNvPr>
          <p:cNvSpPr txBox="1">
            <a:spLocks noChangeArrowheads="1"/>
          </p:cNvSpPr>
          <p:nvPr/>
        </p:nvSpPr>
        <p:spPr bwMode="auto">
          <a:xfrm>
            <a:off x="10746996" y="2863505"/>
            <a:ext cx="427948" cy="487634"/>
          </a:xfrm>
          <a:prstGeom prst="rect">
            <a:avLst/>
          </a:prstGeom>
          <a:noFill/>
          <a:ln w="9525">
            <a:noFill/>
            <a:miter lim="800000"/>
            <a:headEnd/>
            <a:tailEnd/>
          </a:ln>
        </p:spPr>
        <p:txBody>
          <a:bodyPr wrap="square" lIns="0" tIns="0" rIns="0" bIns="0">
            <a:spAutoFit/>
          </a:bodyPr>
          <a:lstStyle/>
          <a:p>
            <a:pPr defTabSz="914400">
              <a:lnSpc>
                <a:spcPct val="150000"/>
              </a:lnSpc>
              <a:spcBef>
                <a:spcPct val="50000"/>
              </a:spcBef>
            </a:pPr>
            <a:r>
              <a:rPr lang="en-US" altLang="zh-CN" sz="2400" b="1" dirty="0">
                <a:solidFill>
                  <a:srgbClr val="0000CC"/>
                </a:solidFill>
                <a:latin typeface="Times New Roman" pitchFamily="18" charset="0"/>
                <a:ea typeface="微软雅黑" pitchFamily="34" charset="-122"/>
                <a:cs typeface="Times New Roman" pitchFamily="18" charset="0"/>
              </a:rPr>
              <a:t>d</a:t>
            </a:r>
            <a:r>
              <a:rPr lang="en-US" altLang="zh-CN" sz="2400" b="1" i="1" dirty="0">
                <a:solidFill>
                  <a:srgbClr val="0000CC"/>
                </a:solidFill>
                <a:latin typeface="Times New Roman" pitchFamily="18" charset="0"/>
                <a:ea typeface="微软雅黑" pitchFamily="34" charset="-122"/>
                <a:cs typeface="Times New Roman" pitchFamily="18" charset="0"/>
              </a:rPr>
              <a:t>S</a:t>
            </a:r>
            <a:endParaRPr lang="en-US" altLang="zh-CN" sz="2400" b="1" dirty="0">
              <a:solidFill>
                <a:srgbClr val="0000CC"/>
              </a:solidFill>
              <a:latin typeface="Times New Roman" pitchFamily="18" charset="0"/>
              <a:ea typeface="微软雅黑" pitchFamily="34" charset="-122"/>
              <a:cs typeface="Times New Roman" pitchFamily="18" charset="0"/>
            </a:endParaRPr>
          </a:p>
        </p:txBody>
      </p:sp>
      <p:sp>
        <p:nvSpPr>
          <p:cNvPr id="63" name="Text Box 60">
            <a:extLst>
              <a:ext uri="{FF2B5EF4-FFF2-40B4-BE49-F238E27FC236}">
                <a16:creationId xmlns:a16="http://schemas.microsoft.com/office/drawing/2014/main" id="{D417FE64-EC73-4A19-8908-2AE005C6AACC}"/>
              </a:ext>
            </a:extLst>
          </p:cNvPr>
          <p:cNvSpPr txBox="1">
            <a:spLocks noChangeArrowheads="1"/>
          </p:cNvSpPr>
          <p:nvPr/>
        </p:nvSpPr>
        <p:spPr bwMode="auto">
          <a:xfrm>
            <a:off x="9999113" y="4474824"/>
            <a:ext cx="2253958" cy="580865"/>
          </a:xfrm>
          <a:prstGeom prst="rect">
            <a:avLst/>
          </a:prstGeom>
          <a:noFill/>
          <a:ln w="9525">
            <a:noFill/>
            <a:miter lim="800000"/>
            <a:headEnd/>
            <a:tailEnd/>
          </a:ln>
        </p:spPr>
        <p:txBody>
          <a:bodyPr wrap="square">
            <a:spAutoFit/>
          </a:bodyPr>
          <a:lstStyle/>
          <a:p>
            <a:pPr algn="ctr" defTabSz="914400">
              <a:lnSpc>
                <a:spcPct val="150000"/>
              </a:lnSpc>
              <a:spcBef>
                <a:spcPct val="50000"/>
              </a:spcBef>
            </a:pPr>
            <a:r>
              <a:rPr lang="zh-CN" altLang="en-US" sz="2400" b="1" dirty="0">
                <a:solidFill>
                  <a:srgbClr val="0000CC"/>
                </a:solidFill>
                <a:latin typeface="Times New Roman" pitchFamily="18" charset="0"/>
                <a:ea typeface="微软雅黑" pitchFamily="34" charset="-122"/>
                <a:cs typeface="Times New Roman" pitchFamily="18" charset="0"/>
              </a:rPr>
              <a:t>辐照度示意图</a:t>
            </a:r>
            <a:endParaRPr lang="zh-CN" altLang="en-US" sz="2800" b="1" dirty="0">
              <a:solidFill>
                <a:srgbClr val="0000CC"/>
              </a:solidFill>
              <a:latin typeface="Times New Roman" pitchFamily="18" charset="0"/>
              <a:ea typeface="微软雅黑" pitchFamily="34" charset="-122"/>
              <a:cs typeface="Times New Roman" pitchFamily="18" charset="0"/>
            </a:endParaRPr>
          </a:p>
        </p:txBody>
      </p:sp>
      <p:sp>
        <p:nvSpPr>
          <p:cNvPr id="28"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29"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0" name="Text Box 6">
            <a:extLst>
              <a:ext uri="{FF2B5EF4-FFF2-40B4-BE49-F238E27FC236}">
                <a16:creationId xmlns:a16="http://schemas.microsoft.com/office/drawing/2014/main" id="{1E8E6901-DB4D-4611-A823-39A11C9BCF09}"/>
              </a:ext>
            </a:extLst>
          </p:cNvPr>
          <p:cNvSpPr txBox="1">
            <a:spLocks noChangeArrowheads="1"/>
          </p:cNvSpPr>
          <p:nvPr/>
        </p:nvSpPr>
        <p:spPr bwMode="auto">
          <a:xfrm>
            <a:off x="951364" y="2291477"/>
            <a:ext cx="4490235"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符号：</a:t>
            </a:r>
            <a:r>
              <a:rPr lang="en-US" altLang="zh-CN" sz="2400" b="1" i="1" dirty="0" err="1">
                <a:latin typeface="Times New Roman" pitchFamily="18" charset="0"/>
                <a:ea typeface="微软雅黑" pitchFamily="34" charset="-122"/>
                <a:cs typeface="Times New Roman" pitchFamily="18" charset="0"/>
              </a:rPr>
              <a:t>E</a:t>
            </a:r>
            <a:r>
              <a:rPr lang="en-US" altLang="zh-CN" sz="2400" b="1" baseline="-25000" dirty="0" err="1">
                <a:latin typeface="Times New Roman" pitchFamily="18" charset="0"/>
                <a:ea typeface="微软雅黑" pitchFamily="34" charset="-122"/>
                <a:cs typeface="Times New Roman" pitchFamily="18" charset="0"/>
              </a:rPr>
              <a:t>e</a:t>
            </a:r>
            <a:endParaRPr lang="zh-CN" altLang="en-US" sz="2400" b="1"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310606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fill="hold"/>
                                        <p:tgtEl>
                                          <p:spTgt spid="35"/>
                                        </p:tgtEl>
                                        <p:attrNameLst>
                                          <p:attrName>ppt_x</p:attrName>
                                        </p:attrNameLst>
                                      </p:cBhvr>
                                      <p:tavLst>
                                        <p:tav tm="0">
                                          <p:val>
                                            <p:strVal val="0-#ppt_w/2"/>
                                          </p:val>
                                        </p:tav>
                                        <p:tav tm="100000">
                                          <p:val>
                                            <p:strVal val="#ppt_x"/>
                                          </p:val>
                                        </p:tav>
                                      </p:tavLst>
                                    </p:anim>
                                    <p:anim calcmode="lin" valueType="num">
                                      <p:cBhvr additive="base">
                                        <p:cTn id="1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additive="base">
                                        <p:cTn id="18" dur="500" fill="hold"/>
                                        <p:tgtEl>
                                          <p:spTgt spid="30"/>
                                        </p:tgtEl>
                                        <p:attrNameLst>
                                          <p:attrName>ppt_x</p:attrName>
                                        </p:attrNameLst>
                                      </p:cBhvr>
                                      <p:tavLst>
                                        <p:tav tm="0">
                                          <p:val>
                                            <p:strVal val="0-#ppt_w/2"/>
                                          </p:val>
                                        </p:tav>
                                        <p:tav tm="100000">
                                          <p:val>
                                            <p:strVal val="#ppt_x"/>
                                          </p:val>
                                        </p:tav>
                                      </p:tavLst>
                                    </p:anim>
                                    <p:anim calcmode="lin" valueType="num">
                                      <p:cBhvr additive="base">
                                        <p:cTn id="19"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box(in)">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blinds(horizontal)">
                                      <p:cBhvr>
                                        <p:cTn id="29" dur="500"/>
                                        <p:tgtEl>
                                          <p:spTgt spid="6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50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box(in)">
                                      <p:cBhvr>
                                        <p:cTn id="43" dur="500"/>
                                        <p:tgtEl>
                                          <p:spTgt spid="62"/>
                                        </p:tgtEl>
                                      </p:cBhvr>
                                    </p:animEffect>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nodeType="click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fade">
                                      <p:cBhvr>
                                        <p:cTn id="48" dur="1000"/>
                                        <p:tgtEl>
                                          <p:spTgt spid="56"/>
                                        </p:tgtEl>
                                      </p:cBhvr>
                                    </p:animEffect>
                                    <p:anim calcmode="lin" valueType="num">
                                      <p:cBhvr>
                                        <p:cTn id="49" dur="1000" fill="hold"/>
                                        <p:tgtEl>
                                          <p:spTgt spid="56"/>
                                        </p:tgtEl>
                                        <p:attrNameLst>
                                          <p:attrName>ppt_x</p:attrName>
                                        </p:attrNameLst>
                                      </p:cBhvr>
                                      <p:tavLst>
                                        <p:tav tm="0">
                                          <p:val>
                                            <p:strVal val="#ppt_x"/>
                                          </p:val>
                                        </p:tav>
                                        <p:tav tm="100000">
                                          <p:val>
                                            <p:strVal val="#ppt_x"/>
                                          </p:val>
                                        </p:tav>
                                      </p:tavLst>
                                    </p:anim>
                                    <p:anim calcmode="lin" valueType="num">
                                      <p:cBhvr>
                                        <p:cTn id="50"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box(in)">
                                      <p:cBhvr>
                                        <p:cTn id="55" dur="500"/>
                                        <p:tgtEl>
                                          <p:spTgt spid="61"/>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box(in)">
                                      <p:cBhvr>
                                        <p:cTn id="60" dur="500"/>
                                        <p:tgtEl>
                                          <p:spTgt spid="49"/>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box(i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box(in)">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8" presetClass="entr" presetSubtype="16" fill="hold" grpId="0"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diamond(in)">
                                      <p:cBhvr>
                                        <p:cTn id="75" dur="2000"/>
                                        <p:tgtEl>
                                          <p:spTgt spid="50"/>
                                        </p:tgtEl>
                                      </p:cBhvr>
                                    </p:animEffect>
                                  </p:childTnLst>
                                </p:cTn>
                              </p:par>
                            </p:childTnLst>
                          </p:cTn>
                        </p:par>
                      </p:childTnLst>
                    </p:cTn>
                  </p:par>
                  <p:par>
                    <p:cTn id="76" fill="hold">
                      <p:stCondLst>
                        <p:cond delay="indefinite"/>
                      </p:stCondLst>
                      <p:childTnLst>
                        <p:par>
                          <p:cTn id="77" fill="hold">
                            <p:stCondLst>
                              <p:cond delay="0"/>
                            </p:stCondLst>
                            <p:childTnLst>
                              <p:par>
                                <p:cTn id="78" presetID="8" presetClass="entr" presetSubtype="16" fill="hold" grpId="0" nodeType="click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diamond(in)">
                                      <p:cBhvr>
                                        <p:cTn id="80" dur="2000"/>
                                        <p:tgtEl>
                                          <p:spTgt spid="52"/>
                                        </p:tgtEl>
                                      </p:cBhvr>
                                    </p:animEffect>
                                  </p:childTnLst>
                                </p:cTn>
                              </p:par>
                            </p:childTnLst>
                          </p:cTn>
                        </p:par>
                      </p:childTnLst>
                    </p:cTn>
                  </p:par>
                  <p:par>
                    <p:cTn id="81" fill="hold">
                      <p:stCondLst>
                        <p:cond delay="indefinite"/>
                      </p:stCondLst>
                      <p:childTnLst>
                        <p:par>
                          <p:cTn id="82" fill="hold">
                            <p:stCondLst>
                              <p:cond delay="0"/>
                            </p:stCondLst>
                            <p:childTnLst>
                              <p:par>
                                <p:cTn id="83" presetID="8" presetClass="entr" presetSubtype="16" fill="hold" grpId="0" nodeType="click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diamond(in)">
                                      <p:cBhvr>
                                        <p:cTn id="85" dur="2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autoUpdateAnimBg="0"/>
      <p:bldP spid="48" grpId="0"/>
      <p:bldP spid="49" grpId="0"/>
      <p:bldP spid="50" grpId="0"/>
      <p:bldP spid="51" grpId="0" animBg="1"/>
      <p:bldP spid="52" grpId="0"/>
      <p:bldP spid="53" grpId="0"/>
      <p:bldP spid="54" grpId="0" animBg="1"/>
      <p:bldP spid="55" grpId="0" animBg="1"/>
      <p:bldP spid="62" grpId="0" autoUpdateAnimBg="0"/>
      <p:bldP spid="63" grpId="0"/>
      <p:bldP spid="3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8" name="Text Box 5">
            <a:extLst>
              <a:ext uri="{FF2B5EF4-FFF2-40B4-BE49-F238E27FC236}">
                <a16:creationId xmlns:a16="http://schemas.microsoft.com/office/drawing/2014/main" id="{0B5B9845-C530-45F9-819E-79B9C52248F7}"/>
              </a:ext>
            </a:extLst>
          </p:cNvPr>
          <p:cNvSpPr txBox="1">
            <a:spLocks noChangeArrowheads="1"/>
          </p:cNvSpPr>
          <p:nvPr/>
        </p:nvSpPr>
        <p:spPr bwMode="auto">
          <a:xfrm>
            <a:off x="1024226" y="2014697"/>
            <a:ext cx="8264390"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dirty="0">
                <a:latin typeface="黑体" pitchFamily="2" charset="-122"/>
                <a:ea typeface="黑体" pitchFamily="2" charset="-122"/>
              </a:rPr>
              <a:t>     </a:t>
            </a:r>
            <a:r>
              <a:rPr lang="zh-CN" altLang="en-US" sz="2400" b="1" dirty="0">
                <a:latin typeface="微软雅黑" pitchFamily="34" charset="-122"/>
                <a:ea typeface="微软雅黑" pitchFamily="34" charset="-122"/>
              </a:rPr>
              <a:t>辐射源</a:t>
            </a:r>
            <a:r>
              <a:rPr lang="zh-CN" altLang="en-US" sz="2400" b="1" dirty="0">
                <a:latin typeface="Times New Roman" pitchFamily="18" charset="0"/>
                <a:ea typeface="微软雅黑" pitchFamily="34" charset="-122"/>
                <a:cs typeface="Times New Roman" pitchFamily="18" charset="0"/>
              </a:rPr>
              <a:t>表面</a:t>
            </a:r>
            <a:r>
              <a:rPr lang="zh-CN" altLang="en-US" sz="2400" b="1" dirty="0">
                <a:solidFill>
                  <a:srgbClr val="0000CC"/>
                </a:solidFill>
                <a:latin typeface="Times New Roman" pitchFamily="18" charset="0"/>
                <a:ea typeface="微软雅黑" pitchFamily="34" charset="-122"/>
                <a:cs typeface="Times New Roman" pitchFamily="18" charset="0"/>
              </a:rPr>
              <a:t>某一点处的面元</a:t>
            </a:r>
            <a:r>
              <a:rPr lang="zh-CN" altLang="en-US" sz="2400" b="1" dirty="0">
                <a:latin typeface="Times New Roman" pitchFamily="18" charset="0"/>
                <a:ea typeface="微软雅黑" pitchFamily="34" charset="-122"/>
                <a:cs typeface="Times New Roman" pitchFamily="18" charset="0"/>
              </a:rPr>
              <a:t>在</a:t>
            </a:r>
            <a:r>
              <a:rPr lang="zh-CN" altLang="en-US" sz="2400" b="1" dirty="0">
                <a:solidFill>
                  <a:srgbClr val="FF0000"/>
                </a:solidFill>
                <a:latin typeface="Times New Roman" pitchFamily="18" charset="0"/>
                <a:ea typeface="微软雅黑" pitchFamily="34" charset="-122"/>
                <a:cs typeface="Times New Roman" pitchFamily="18" charset="0"/>
              </a:rPr>
              <a:t>给定方向上</a:t>
            </a:r>
            <a:r>
              <a:rPr lang="zh-CN" altLang="en-US" sz="2400" b="1" dirty="0">
                <a:latin typeface="Times New Roman" pitchFamily="18" charset="0"/>
                <a:ea typeface="微软雅黑" pitchFamily="34" charset="-122"/>
                <a:cs typeface="Times New Roman" pitchFamily="18" charset="0"/>
              </a:rPr>
              <a:t>的</a:t>
            </a:r>
            <a:r>
              <a:rPr lang="zh-CN" altLang="en-US" sz="2400" b="1" dirty="0">
                <a:solidFill>
                  <a:srgbClr val="0000CC"/>
                </a:solidFill>
                <a:latin typeface="Times New Roman" pitchFamily="18" charset="0"/>
                <a:ea typeface="微软雅黑" pitchFamily="34" charset="-122"/>
                <a:cs typeface="Times New Roman" pitchFamily="18" charset="0"/>
              </a:rPr>
              <a:t>辐强度</a:t>
            </a:r>
            <a:r>
              <a:rPr lang="zh-CN" altLang="en-US" sz="2400" b="1" dirty="0">
                <a:latin typeface="Times New Roman" pitchFamily="18" charset="0"/>
                <a:ea typeface="微软雅黑" pitchFamily="34" charset="-122"/>
                <a:cs typeface="Times New Roman" pitchFamily="18" charset="0"/>
              </a:rPr>
              <a:t>除以该</a:t>
            </a:r>
            <a:r>
              <a:rPr lang="zh-CN" altLang="en-US" sz="2400" b="1" dirty="0">
                <a:solidFill>
                  <a:srgbClr val="00B0F0"/>
                </a:solidFill>
                <a:latin typeface="Times New Roman" pitchFamily="18" charset="0"/>
                <a:ea typeface="微软雅黑" pitchFamily="34" charset="-122"/>
                <a:cs typeface="Times New Roman" pitchFamily="18" charset="0"/>
              </a:rPr>
              <a:t>面元在垂直于给定方向平面上的正投影面积。</a:t>
            </a:r>
            <a:endParaRPr lang="zh-CN" altLang="en-US" sz="2400" b="1" dirty="0">
              <a:latin typeface="Times New Roman" pitchFamily="18" charset="0"/>
              <a:ea typeface="微软雅黑" pitchFamily="34" charset="-122"/>
              <a:cs typeface="Times New Roman" pitchFamily="18" charset="0"/>
            </a:endParaRPr>
          </a:p>
        </p:txBody>
      </p:sp>
      <p:sp>
        <p:nvSpPr>
          <p:cNvPr id="29" name="Text Box 4">
            <a:extLst>
              <a:ext uri="{FF2B5EF4-FFF2-40B4-BE49-F238E27FC236}">
                <a16:creationId xmlns:a16="http://schemas.microsoft.com/office/drawing/2014/main" id="{BFDC7D76-0B58-45FC-8C9D-96475C26697E}"/>
              </a:ext>
            </a:extLst>
          </p:cNvPr>
          <p:cNvSpPr txBox="1">
            <a:spLocks noChangeArrowheads="1"/>
          </p:cNvSpPr>
          <p:nvPr/>
        </p:nvSpPr>
        <p:spPr bwMode="auto">
          <a:xfrm>
            <a:off x="1185865" y="1126793"/>
            <a:ext cx="5523280" cy="523220"/>
          </a:xfrm>
          <a:prstGeom prst="rect">
            <a:avLst/>
          </a:prstGeom>
          <a:noFill/>
          <a:ln w="9525">
            <a:noFill/>
            <a:miter lim="800000"/>
            <a:headEnd/>
            <a:tailEnd/>
          </a:ln>
        </p:spPr>
        <p:txBody>
          <a:bodyPr wrap="square">
            <a:spAutoFit/>
          </a:bodyPr>
          <a:lstStyle/>
          <a:p>
            <a:pPr defTabSz="914400">
              <a:spcBef>
                <a:spcPct val="50000"/>
              </a:spcBef>
            </a:pPr>
            <a:r>
              <a:rPr lang="en-US" altLang="zh-CN" sz="2800" b="1" dirty="0">
                <a:solidFill>
                  <a:srgbClr val="0000FF"/>
                </a:solidFill>
                <a:latin typeface="Times New Roman" pitchFamily="18" charset="0"/>
                <a:ea typeface="黑体" pitchFamily="2" charset="-122"/>
                <a:cs typeface="Times New Roman" pitchFamily="18" charset="0"/>
              </a:rPr>
              <a:t>1.2.6 </a:t>
            </a:r>
            <a:r>
              <a:rPr lang="zh-CN" altLang="en-US" sz="2800" b="1" dirty="0">
                <a:solidFill>
                  <a:srgbClr val="0000FF"/>
                </a:solidFill>
                <a:latin typeface="微软雅黑" pitchFamily="34" charset="-122"/>
                <a:ea typeface="微软雅黑" pitchFamily="34" charset="-122"/>
                <a:cs typeface="Times New Roman" pitchFamily="18" charset="0"/>
              </a:rPr>
              <a:t>辐亮度</a:t>
            </a:r>
            <a:r>
              <a:rPr kumimoji="1" lang="en-US" altLang="zh-CN" sz="2800" b="1" dirty="0">
                <a:solidFill>
                  <a:srgbClr val="0000FF"/>
                </a:solidFill>
                <a:latin typeface="Times New Roman" pitchFamily="18" charset="0"/>
                <a:ea typeface="黑体" pitchFamily="2" charset="-122"/>
                <a:cs typeface="Times New Roman" pitchFamily="18" charset="0"/>
              </a:rPr>
              <a:t>(Radiant luminance)</a:t>
            </a:r>
          </a:p>
        </p:txBody>
      </p:sp>
      <p:sp>
        <p:nvSpPr>
          <p:cNvPr id="30" name="未知">
            <a:extLst>
              <a:ext uri="{FF2B5EF4-FFF2-40B4-BE49-F238E27FC236}">
                <a16:creationId xmlns:a16="http://schemas.microsoft.com/office/drawing/2014/main" id="{5D0495AB-5620-44E2-B424-A82716090C1D}"/>
              </a:ext>
            </a:extLst>
          </p:cNvPr>
          <p:cNvSpPr>
            <a:spLocks noChangeAspect="1"/>
          </p:cNvSpPr>
          <p:nvPr/>
        </p:nvSpPr>
        <p:spPr bwMode="auto">
          <a:xfrm>
            <a:off x="9158456" y="3813782"/>
            <a:ext cx="1590675" cy="1428750"/>
          </a:xfrm>
          <a:custGeom>
            <a:avLst/>
            <a:gdLst>
              <a:gd name="T0" fmla="*/ 2147483647 w 1696"/>
              <a:gd name="T1" fmla="*/ 2147483647 h 1689"/>
              <a:gd name="T2" fmla="*/ 2147483647 w 1696"/>
              <a:gd name="T3" fmla="*/ 2147483647 h 1689"/>
              <a:gd name="T4" fmla="*/ 2147483647 w 1696"/>
              <a:gd name="T5" fmla="*/ 0 h 1689"/>
              <a:gd name="T6" fmla="*/ 2147483647 w 1696"/>
              <a:gd name="T7" fmla="*/ 2147483647 h 1689"/>
              <a:gd name="T8" fmla="*/ 2147483647 w 1696"/>
              <a:gd name="T9" fmla="*/ 2147483647 h 1689"/>
              <a:gd name="T10" fmla="*/ 2147483647 w 1696"/>
              <a:gd name="T11" fmla="*/ 2147483647 h 1689"/>
              <a:gd name="T12" fmla="*/ 2147483647 w 1696"/>
              <a:gd name="T13" fmla="*/ 2147483647 h 1689"/>
              <a:gd name="T14" fmla="*/ 2147483647 w 1696"/>
              <a:gd name="T15" fmla="*/ 2147483647 h 1689"/>
              <a:gd name="T16" fmla="*/ 0 60000 65536"/>
              <a:gd name="T17" fmla="*/ 0 60000 65536"/>
              <a:gd name="T18" fmla="*/ 0 60000 65536"/>
              <a:gd name="T19" fmla="*/ 0 60000 65536"/>
              <a:gd name="T20" fmla="*/ 0 60000 65536"/>
              <a:gd name="T21" fmla="*/ 0 60000 65536"/>
              <a:gd name="T22" fmla="*/ 0 60000 65536"/>
              <a:gd name="T23" fmla="*/ 0 60000 65536"/>
              <a:gd name="T24" fmla="*/ 0 w 1696"/>
              <a:gd name="T25" fmla="*/ 0 h 1689"/>
              <a:gd name="T26" fmla="*/ 1696 w 1696"/>
              <a:gd name="T27" fmla="*/ 1689 h 16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96" h="1689">
                <a:moveTo>
                  <a:pt x="88" y="969"/>
                </a:moveTo>
                <a:cubicBezTo>
                  <a:pt x="0" y="736"/>
                  <a:pt x="165" y="452"/>
                  <a:pt x="278" y="291"/>
                </a:cubicBezTo>
                <a:cubicBezTo>
                  <a:pt x="391" y="130"/>
                  <a:pt x="631" y="0"/>
                  <a:pt x="768" y="0"/>
                </a:cubicBezTo>
                <a:cubicBezTo>
                  <a:pt x="905" y="0"/>
                  <a:pt x="945" y="173"/>
                  <a:pt x="1098" y="291"/>
                </a:cubicBezTo>
                <a:cubicBezTo>
                  <a:pt x="1251" y="409"/>
                  <a:pt x="1680" y="600"/>
                  <a:pt x="1688" y="711"/>
                </a:cubicBezTo>
                <a:cubicBezTo>
                  <a:pt x="1696" y="822"/>
                  <a:pt x="1295" y="797"/>
                  <a:pt x="1148" y="960"/>
                </a:cubicBezTo>
                <a:cubicBezTo>
                  <a:pt x="1001" y="1123"/>
                  <a:pt x="985" y="1689"/>
                  <a:pt x="808" y="1689"/>
                </a:cubicBezTo>
                <a:cubicBezTo>
                  <a:pt x="631" y="1689"/>
                  <a:pt x="176" y="1202"/>
                  <a:pt x="88" y="969"/>
                </a:cubicBezTo>
                <a:close/>
              </a:path>
            </a:pathLst>
          </a:custGeom>
          <a:solidFill>
            <a:srgbClr val="00FFFF"/>
          </a:solidFill>
          <a:ln w="15875">
            <a:solidFill>
              <a:srgbClr val="000000"/>
            </a:solidFill>
            <a:round/>
            <a:headEnd/>
            <a:tailEnd/>
          </a:ln>
        </p:spPr>
        <p:txBody>
          <a:bodyPr/>
          <a:lstStyle/>
          <a:p>
            <a:pPr defTabSz="914400"/>
            <a:endParaRPr lang="zh-CN" altLang="en-US" sz="1800"/>
          </a:p>
        </p:txBody>
      </p:sp>
      <p:sp>
        <p:nvSpPr>
          <p:cNvPr id="31" name="Oval 4">
            <a:extLst>
              <a:ext uri="{FF2B5EF4-FFF2-40B4-BE49-F238E27FC236}">
                <a16:creationId xmlns:a16="http://schemas.microsoft.com/office/drawing/2014/main" id="{4D44EA1A-DE69-4600-8AE6-8BBE48340BB7}"/>
              </a:ext>
            </a:extLst>
          </p:cNvPr>
          <p:cNvSpPr>
            <a:spLocks noChangeAspect="1" noChangeArrowheads="1"/>
          </p:cNvSpPr>
          <p:nvPr/>
        </p:nvSpPr>
        <p:spPr bwMode="auto">
          <a:xfrm>
            <a:off x="9783931" y="4242407"/>
            <a:ext cx="409575" cy="285750"/>
          </a:xfrm>
          <a:prstGeom prst="ellipse">
            <a:avLst/>
          </a:prstGeom>
          <a:solidFill>
            <a:srgbClr val="FF0000"/>
          </a:solidFill>
          <a:ln w="15875">
            <a:solidFill>
              <a:srgbClr val="000000"/>
            </a:solidFill>
            <a:round/>
            <a:headEnd/>
            <a:tailEnd/>
          </a:ln>
        </p:spPr>
        <p:txBody>
          <a:bodyPr/>
          <a:lstStyle/>
          <a:p>
            <a:pPr defTabSz="914400"/>
            <a:endParaRPr lang="zh-CN" altLang="en-US" sz="1800"/>
          </a:p>
        </p:txBody>
      </p:sp>
      <p:sp>
        <p:nvSpPr>
          <p:cNvPr id="32" name="Oval 3">
            <a:extLst>
              <a:ext uri="{FF2B5EF4-FFF2-40B4-BE49-F238E27FC236}">
                <a16:creationId xmlns:a16="http://schemas.microsoft.com/office/drawing/2014/main" id="{CCB4EF1B-2A3F-4ED1-BE19-EA1F8B60B079}"/>
              </a:ext>
            </a:extLst>
          </p:cNvPr>
          <p:cNvSpPr>
            <a:spLocks noChangeAspect="1" noChangeArrowheads="1"/>
          </p:cNvSpPr>
          <p:nvPr/>
        </p:nvSpPr>
        <p:spPr bwMode="auto">
          <a:xfrm rot="2089649">
            <a:off x="9855369" y="4299557"/>
            <a:ext cx="312737" cy="149225"/>
          </a:xfrm>
          <a:prstGeom prst="ellipse">
            <a:avLst/>
          </a:prstGeom>
          <a:solidFill>
            <a:srgbClr val="FFFF00"/>
          </a:solidFill>
          <a:ln w="38100">
            <a:solidFill>
              <a:srgbClr val="FFFF00"/>
            </a:solidFill>
            <a:round/>
            <a:headEnd/>
            <a:tailEnd/>
          </a:ln>
        </p:spPr>
        <p:txBody>
          <a:bodyPr/>
          <a:lstStyle/>
          <a:p>
            <a:pPr defTabSz="914400"/>
            <a:endParaRPr lang="zh-CN" altLang="en-US" sz="1800"/>
          </a:p>
        </p:txBody>
      </p:sp>
      <p:sp>
        <p:nvSpPr>
          <p:cNvPr id="34" name="Text Box 5">
            <a:extLst>
              <a:ext uri="{FF2B5EF4-FFF2-40B4-BE49-F238E27FC236}">
                <a16:creationId xmlns:a16="http://schemas.microsoft.com/office/drawing/2014/main" id="{7D10435C-3D8E-4F4C-B48D-7E0930FEB446}"/>
              </a:ext>
            </a:extLst>
          </p:cNvPr>
          <p:cNvSpPr txBox="1">
            <a:spLocks noChangeAspect="1" noChangeArrowheads="1"/>
          </p:cNvSpPr>
          <p:nvPr/>
        </p:nvSpPr>
        <p:spPr bwMode="auto">
          <a:xfrm>
            <a:off x="9372769" y="4170969"/>
            <a:ext cx="309562" cy="357188"/>
          </a:xfrm>
          <a:prstGeom prst="rect">
            <a:avLst/>
          </a:prstGeom>
          <a:solidFill>
            <a:srgbClr val="FFFFFF"/>
          </a:solidFill>
          <a:ln w="9525">
            <a:noFill/>
            <a:miter lim="800000"/>
            <a:headEnd/>
            <a:tailEnd/>
          </a:ln>
        </p:spPr>
        <p:txBody>
          <a:bodyPr lIns="0" tIns="0" rIns="0" bIns="0"/>
          <a:lstStyle/>
          <a:p>
            <a:pPr algn="just" defTabSz="914400"/>
            <a:r>
              <a:rPr lang="en-US" altLang="zh-CN" sz="2400" b="1" i="1" dirty="0">
                <a:solidFill>
                  <a:srgbClr val="FF0000"/>
                </a:solidFill>
                <a:latin typeface="Times New Roman" pitchFamily="18" charset="0"/>
              </a:rPr>
              <a:t>ds</a:t>
            </a:r>
            <a:endParaRPr lang="zh-CN" altLang="zh-CN" sz="4800" dirty="0">
              <a:solidFill>
                <a:srgbClr val="FF0000"/>
              </a:solidFill>
            </a:endParaRPr>
          </a:p>
        </p:txBody>
      </p:sp>
      <p:sp>
        <p:nvSpPr>
          <p:cNvPr id="37" name="Text Box 6">
            <a:extLst>
              <a:ext uri="{FF2B5EF4-FFF2-40B4-BE49-F238E27FC236}">
                <a16:creationId xmlns:a16="http://schemas.microsoft.com/office/drawing/2014/main" id="{8DA5953A-9114-4582-A77A-761B32A43F2A}"/>
              </a:ext>
            </a:extLst>
          </p:cNvPr>
          <p:cNvSpPr txBox="1">
            <a:spLocks noChangeAspect="1" noChangeArrowheads="1"/>
          </p:cNvSpPr>
          <p:nvPr/>
        </p:nvSpPr>
        <p:spPr bwMode="auto">
          <a:xfrm>
            <a:off x="9729956" y="4528157"/>
            <a:ext cx="487363" cy="428625"/>
          </a:xfrm>
          <a:prstGeom prst="rect">
            <a:avLst/>
          </a:prstGeom>
          <a:noFill/>
          <a:ln w="9525">
            <a:noFill/>
            <a:miter lim="800000"/>
            <a:headEnd/>
            <a:tailEnd/>
          </a:ln>
        </p:spPr>
        <p:txBody>
          <a:bodyPr lIns="0" tIns="0" rIns="0" bIns="0"/>
          <a:lstStyle/>
          <a:p>
            <a:pPr algn="just" defTabSz="914400"/>
            <a:r>
              <a:rPr lang="en-US" altLang="zh-CN" sz="2800" b="1" i="1" dirty="0">
                <a:latin typeface="Times New Roman" pitchFamily="18" charset="0"/>
              </a:rPr>
              <a:t>ds</a:t>
            </a:r>
            <a:r>
              <a:rPr lang="en-US" altLang="zh-CN" sz="2800" b="1" i="1" baseline="30000" dirty="0">
                <a:latin typeface="Times New Roman" pitchFamily="18" charset="0"/>
              </a:rPr>
              <a:t>/</a:t>
            </a:r>
            <a:endParaRPr lang="zh-CN" altLang="zh-CN" sz="2800" dirty="0"/>
          </a:p>
        </p:txBody>
      </p:sp>
      <p:grpSp>
        <p:nvGrpSpPr>
          <p:cNvPr id="38" name="组合 74">
            <a:extLst>
              <a:ext uri="{FF2B5EF4-FFF2-40B4-BE49-F238E27FC236}">
                <a16:creationId xmlns:a16="http://schemas.microsoft.com/office/drawing/2014/main" id="{B69107C3-676D-4BA8-A0C9-2596BB568C2F}"/>
              </a:ext>
            </a:extLst>
          </p:cNvPr>
          <p:cNvGrpSpPr>
            <a:grpSpLocks/>
          </p:cNvGrpSpPr>
          <p:nvPr/>
        </p:nvGrpSpPr>
        <p:grpSpPr bwMode="auto">
          <a:xfrm>
            <a:off x="9801394" y="1670657"/>
            <a:ext cx="285750" cy="2716212"/>
            <a:chOff x="5929322" y="2500306"/>
            <a:chExt cx="285752" cy="2715438"/>
          </a:xfrm>
        </p:grpSpPr>
        <p:graphicFrame>
          <p:nvGraphicFramePr>
            <p:cNvPr id="39" name="Object 24">
              <a:extLst>
                <a:ext uri="{FF2B5EF4-FFF2-40B4-BE49-F238E27FC236}">
                  <a16:creationId xmlns:a16="http://schemas.microsoft.com/office/drawing/2014/main" id="{67B9E7D7-FA2B-433A-858E-D1493642F16D}"/>
                </a:ext>
              </a:extLst>
            </p:cNvPr>
            <p:cNvGraphicFramePr>
              <a:graphicFrameLocks noChangeAspect="1"/>
            </p:cNvGraphicFramePr>
            <p:nvPr/>
          </p:nvGraphicFramePr>
          <p:xfrm>
            <a:off x="5929322" y="2500306"/>
            <a:ext cx="285752" cy="417638"/>
          </p:xfrm>
          <a:graphic>
            <a:graphicData uri="http://schemas.openxmlformats.org/presentationml/2006/ole">
              <mc:AlternateContent xmlns:mc="http://schemas.openxmlformats.org/markup-compatibility/2006">
                <mc:Choice xmlns:v="urn:schemas-microsoft-com:vml" Requires="v">
                  <p:oleObj name="Equation" r:id="rId2" imgW="127443" imgH="178420" progId="Equation.DSMT4">
                    <p:embed/>
                  </p:oleObj>
                </mc:Choice>
                <mc:Fallback>
                  <p:oleObj name="Equation" r:id="rId2" imgW="127443" imgH="178420" progId="Equation.DSMT4">
                    <p:embed/>
                    <p:pic>
                      <p:nvPicPr>
                        <p:cNvPr id="3688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322" y="2500306"/>
                          <a:ext cx="285752" cy="417638"/>
                        </a:xfrm>
                        <a:prstGeom prst="rect">
                          <a:avLst/>
                        </a:prstGeom>
                        <a:solidFill>
                          <a:srgbClr val="FFFF00"/>
                        </a:solidFill>
                      </p:spPr>
                    </p:pic>
                  </p:oleObj>
                </mc:Fallback>
              </mc:AlternateContent>
            </a:graphicData>
          </a:graphic>
        </p:graphicFrame>
        <p:cxnSp>
          <p:nvCxnSpPr>
            <p:cNvPr id="41" name="直接箭头连接符 40">
              <a:extLst>
                <a:ext uri="{FF2B5EF4-FFF2-40B4-BE49-F238E27FC236}">
                  <a16:creationId xmlns:a16="http://schemas.microsoft.com/office/drawing/2014/main" id="{40AA9668-D687-4320-A8C1-A7BDAE1CF520}"/>
                </a:ext>
              </a:extLst>
            </p:cNvPr>
            <p:cNvCxnSpPr/>
            <p:nvPr/>
          </p:nvCxnSpPr>
          <p:spPr>
            <a:xfrm rot="5400000" flipH="1" flipV="1">
              <a:off x="5009693" y="4072276"/>
              <a:ext cx="2285349" cy="1587"/>
            </a:xfrm>
            <a:prstGeom prst="straightConnector1">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42" name="组合 75">
            <a:extLst>
              <a:ext uri="{FF2B5EF4-FFF2-40B4-BE49-F238E27FC236}">
                <a16:creationId xmlns:a16="http://schemas.microsoft.com/office/drawing/2014/main" id="{8F270E8F-7F95-4732-B079-A9AF11695755}"/>
              </a:ext>
            </a:extLst>
          </p:cNvPr>
          <p:cNvGrpSpPr>
            <a:grpSpLocks/>
          </p:cNvGrpSpPr>
          <p:nvPr/>
        </p:nvGrpSpPr>
        <p:grpSpPr bwMode="auto">
          <a:xfrm>
            <a:off x="10028406" y="3170844"/>
            <a:ext cx="487363" cy="804863"/>
            <a:chOff x="6156213" y="4000504"/>
            <a:chExt cx="487489" cy="805120"/>
          </a:xfrm>
        </p:grpSpPr>
        <p:graphicFrame>
          <p:nvGraphicFramePr>
            <p:cNvPr id="43" name="Object 25">
              <a:extLst>
                <a:ext uri="{FF2B5EF4-FFF2-40B4-BE49-F238E27FC236}">
                  <a16:creationId xmlns:a16="http://schemas.microsoft.com/office/drawing/2014/main" id="{CB475265-2108-468D-967F-0C3B8183D790}"/>
                </a:ext>
              </a:extLst>
            </p:cNvPr>
            <p:cNvGraphicFramePr>
              <a:graphicFrameLocks noChangeAspect="1"/>
            </p:cNvGraphicFramePr>
            <p:nvPr/>
          </p:nvGraphicFramePr>
          <p:xfrm>
            <a:off x="6357950" y="4000504"/>
            <a:ext cx="285752" cy="417637"/>
          </p:xfrm>
          <a:graphic>
            <a:graphicData uri="http://schemas.openxmlformats.org/presentationml/2006/ole">
              <mc:AlternateContent xmlns:mc="http://schemas.openxmlformats.org/markup-compatibility/2006">
                <mc:Choice xmlns:v="urn:schemas-microsoft-com:vml" Requires="v">
                  <p:oleObj name="Equation" r:id="rId4" imgW="127443" imgH="178420" progId="Equation.DSMT4">
                    <p:embed/>
                  </p:oleObj>
                </mc:Choice>
                <mc:Fallback>
                  <p:oleObj name="Equation" r:id="rId4" imgW="127443" imgH="178420" progId="Equation.DSMT4">
                    <p:embed/>
                    <p:pic>
                      <p:nvPicPr>
                        <p:cNvPr id="36883"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7950" y="4000504"/>
                          <a:ext cx="285752" cy="417637"/>
                        </a:xfrm>
                        <a:prstGeom prst="rect">
                          <a:avLst/>
                        </a:prstGeom>
                        <a:solidFill>
                          <a:srgbClr val="00FF00"/>
                        </a:solidFill>
                      </p:spPr>
                    </p:pic>
                  </p:oleObj>
                </mc:Fallback>
              </mc:AlternateContent>
            </a:graphicData>
          </a:graphic>
        </p:graphicFrame>
        <p:sp>
          <p:nvSpPr>
            <p:cNvPr id="44" name="未知">
              <a:extLst>
                <a:ext uri="{FF2B5EF4-FFF2-40B4-BE49-F238E27FC236}">
                  <a16:creationId xmlns:a16="http://schemas.microsoft.com/office/drawing/2014/main" id="{9BA2DBE9-4156-43EE-91A0-E3ACFAEA212E}"/>
                </a:ext>
              </a:extLst>
            </p:cNvPr>
            <p:cNvSpPr>
              <a:spLocks noChangeAspect="1"/>
            </p:cNvSpPr>
            <p:nvPr/>
          </p:nvSpPr>
          <p:spPr bwMode="auto">
            <a:xfrm rot="1768743">
              <a:off x="6156213" y="4592898"/>
              <a:ext cx="431199" cy="212726"/>
            </a:xfrm>
            <a:custGeom>
              <a:avLst/>
              <a:gdLst>
                <a:gd name="T0" fmla="*/ 0 w 300"/>
                <a:gd name="T1" fmla="*/ 2147483647 h 150"/>
                <a:gd name="T2" fmla="*/ 2147483647 w 300"/>
                <a:gd name="T3" fmla="*/ 2147483647 h 150"/>
                <a:gd name="T4" fmla="*/ 2147483647 w 300"/>
                <a:gd name="T5" fmla="*/ 2147483647 h 150"/>
                <a:gd name="T6" fmla="*/ 2147483647 w 300"/>
                <a:gd name="T7" fmla="*/ 2147483647 h 150"/>
                <a:gd name="T8" fmla="*/ 0 60000 65536"/>
                <a:gd name="T9" fmla="*/ 0 60000 65536"/>
                <a:gd name="T10" fmla="*/ 0 60000 65536"/>
                <a:gd name="T11" fmla="*/ 0 60000 65536"/>
                <a:gd name="T12" fmla="*/ 0 w 300"/>
                <a:gd name="T13" fmla="*/ 0 h 150"/>
                <a:gd name="T14" fmla="*/ 300 w 300"/>
                <a:gd name="T15" fmla="*/ 150 h 150"/>
              </a:gdLst>
              <a:ahLst/>
              <a:cxnLst>
                <a:cxn ang="T8">
                  <a:pos x="T0" y="T1"/>
                </a:cxn>
                <a:cxn ang="T9">
                  <a:pos x="T2" y="T3"/>
                </a:cxn>
                <a:cxn ang="T10">
                  <a:pos x="T4" y="T5"/>
                </a:cxn>
                <a:cxn ang="T11">
                  <a:pos x="T6" y="T7"/>
                </a:cxn>
              </a:cxnLst>
              <a:rect l="T12" t="T13" r="T14" b="T15"/>
              <a:pathLst>
                <a:path w="300" h="150">
                  <a:moveTo>
                    <a:pt x="0" y="129"/>
                  </a:moveTo>
                  <a:cubicBezTo>
                    <a:pt x="38" y="79"/>
                    <a:pt x="76" y="30"/>
                    <a:pt x="112" y="15"/>
                  </a:cubicBezTo>
                  <a:cubicBezTo>
                    <a:pt x="148" y="0"/>
                    <a:pt x="187" y="17"/>
                    <a:pt x="218" y="39"/>
                  </a:cubicBezTo>
                  <a:cubicBezTo>
                    <a:pt x="249" y="61"/>
                    <a:pt x="274" y="105"/>
                    <a:pt x="300" y="150"/>
                  </a:cubicBezTo>
                </a:path>
              </a:pathLst>
            </a:custGeom>
            <a:noFill/>
            <a:ln w="31750">
              <a:solidFill>
                <a:schemeClr val="tx1"/>
              </a:solidFill>
              <a:round/>
              <a:headEnd type="stealth" w="med" len="lg"/>
              <a:tailEnd type="stealth" w="med" len="lg"/>
            </a:ln>
          </p:spPr>
          <p:txBody>
            <a:bodyPr/>
            <a:lstStyle/>
            <a:p>
              <a:pPr defTabSz="914400"/>
              <a:endParaRPr lang="zh-CN" altLang="en-US" sz="1800"/>
            </a:p>
          </p:txBody>
        </p:sp>
      </p:grpSp>
      <p:grpSp>
        <p:nvGrpSpPr>
          <p:cNvPr id="45" name="组合 76">
            <a:extLst>
              <a:ext uri="{FF2B5EF4-FFF2-40B4-BE49-F238E27FC236}">
                <a16:creationId xmlns:a16="http://schemas.microsoft.com/office/drawing/2014/main" id="{362B4FB3-46EF-40C6-B177-F3CF21305101}"/>
              </a:ext>
            </a:extLst>
          </p:cNvPr>
          <p:cNvGrpSpPr>
            <a:grpSpLocks/>
          </p:cNvGrpSpPr>
          <p:nvPr/>
        </p:nvGrpSpPr>
        <p:grpSpPr bwMode="auto">
          <a:xfrm>
            <a:off x="10022056" y="2354869"/>
            <a:ext cx="1909763" cy="2027238"/>
            <a:chOff x="6149278" y="3184659"/>
            <a:chExt cx="1910624" cy="2026504"/>
          </a:xfrm>
        </p:grpSpPr>
        <p:grpSp>
          <p:nvGrpSpPr>
            <p:cNvPr id="46" name="组合 65">
              <a:extLst>
                <a:ext uri="{FF2B5EF4-FFF2-40B4-BE49-F238E27FC236}">
                  <a16:creationId xmlns:a16="http://schemas.microsoft.com/office/drawing/2014/main" id="{C55D9FFE-7F10-4728-88BF-E31481E20C4A}"/>
                </a:ext>
              </a:extLst>
            </p:cNvPr>
            <p:cNvGrpSpPr>
              <a:grpSpLocks/>
            </p:cNvGrpSpPr>
            <p:nvPr/>
          </p:nvGrpSpPr>
          <p:grpSpPr bwMode="auto">
            <a:xfrm>
              <a:off x="6151375" y="3184659"/>
              <a:ext cx="1908527" cy="2026504"/>
              <a:chOff x="5222681" y="2327403"/>
              <a:chExt cx="1908527" cy="2026504"/>
            </a:xfrm>
          </p:grpSpPr>
          <p:sp>
            <p:nvSpPr>
              <p:cNvPr id="64" name="椭圆 63">
                <a:extLst>
                  <a:ext uri="{FF2B5EF4-FFF2-40B4-BE49-F238E27FC236}">
                    <a16:creationId xmlns:a16="http://schemas.microsoft.com/office/drawing/2014/main" id="{AE7DB59C-3F5B-455D-9E43-9F2A01DD93AE}"/>
                  </a:ext>
                </a:extLst>
              </p:cNvPr>
              <p:cNvSpPr>
                <a:spLocks noChangeArrowheads="1"/>
              </p:cNvSpPr>
              <p:nvPr/>
            </p:nvSpPr>
            <p:spPr bwMode="auto">
              <a:xfrm rot="2940885">
                <a:off x="6303359" y="2577141"/>
                <a:ext cx="999763" cy="500287"/>
              </a:xfrm>
              <a:prstGeom prst="ellipse">
                <a:avLst/>
              </a:prstGeom>
              <a:noFill/>
              <a:ln w="31750" algn="ctr">
                <a:solidFill>
                  <a:schemeClr val="tx1"/>
                </a:solidFill>
                <a:round/>
                <a:headEnd/>
                <a:tailEnd/>
              </a:ln>
            </p:spPr>
            <p:txBody>
              <a:bodyPr rot="10800000" vert="eaVert" anchor="ctr"/>
              <a:lstStyle/>
              <a:p>
                <a:pPr algn="ctr" defTabSz="914400">
                  <a:defRPr/>
                </a:pPr>
                <a:endParaRPr lang="zh-CN" altLang="en-US" sz="1800">
                  <a:solidFill>
                    <a:schemeClr val="lt1"/>
                  </a:solidFill>
                  <a:latin typeface="+mn-lt"/>
                  <a:ea typeface="+mn-ea"/>
                </a:endParaRPr>
              </a:p>
            </p:txBody>
          </p:sp>
          <p:cxnSp>
            <p:nvCxnSpPr>
              <p:cNvPr id="65" name="直接箭头连接符 64">
                <a:extLst>
                  <a:ext uri="{FF2B5EF4-FFF2-40B4-BE49-F238E27FC236}">
                    <a16:creationId xmlns:a16="http://schemas.microsoft.com/office/drawing/2014/main" id="{740219A7-2982-45CD-B204-ADCDF78DB200}"/>
                  </a:ext>
                </a:extLst>
              </p:cNvPr>
              <p:cNvCxnSpPr>
                <a:endCxn id="64" idx="6"/>
              </p:cNvCxnSpPr>
              <p:nvPr/>
            </p:nvCxnSpPr>
            <p:spPr>
              <a:xfrm flipV="1">
                <a:off x="5222173" y="3204973"/>
                <a:ext cx="1909035" cy="1148934"/>
              </a:xfrm>
              <a:prstGeom prst="straightConnector1">
                <a:avLst/>
              </a:prstGeom>
              <a:ln w="3175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grpSp>
        <p:cxnSp>
          <p:nvCxnSpPr>
            <p:cNvPr id="47" name="直接箭头连接符 46">
              <a:extLst>
                <a:ext uri="{FF2B5EF4-FFF2-40B4-BE49-F238E27FC236}">
                  <a16:creationId xmlns:a16="http://schemas.microsoft.com/office/drawing/2014/main" id="{8448CC07-9A74-44DE-BF96-A430344F4D4E}"/>
                </a:ext>
              </a:extLst>
            </p:cNvPr>
            <p:cNvCxnSpPr/>
            <p:nvPr/>
          </p:nvCxnSpPr>
          <p:spPr>
            <a:xfrm rot="5400000" flipH="1" flipV="1">
              <a:off x="5825262" y="3630868"/>
              <a:ext cx="1902723" cy="1254690"/>
            </a:xfrm>
            <a:prstGeom prst="straightConnector1">
              <a:avLst/>
            </a:prstGeom>
            <a:ln w="3175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66" name="Object 26">
            <a:extLst>
              <a:ext uri="{FF2B5EF4-FFF2-40B4-BE49-F238E27FC236}">
                <a16:creationId xmlns:a16="http://schemas.microsoft.com/office/drawing/2014/main" id="{14D9C987-0D46-4EE5-8FDA-27F048639586}"/>
              </a:ext>
            </a:extLst>
          </p:cNvPr>
          <p:cNvGraphicFramePr>
            <a:graphicFrameLocks noChangeAspect="1"/>
          </p:cNvGraphicFramePr>
          <p:nvPr>
            <p:extLst>
              <p:ext uri="{D42A27DB-BD31-4B8C-83A1-F6EECF244321}">
                <p14:modId xmlns:p14="http://schemas.microsoft.com/office/powerpoint/2010/main" val="662767426"/>
              </p:ext>
            </p:extLst>
          </p:nvPr>
        </p:nvGraphicFramePr>
        <p:xfrm>
          <a:off x="10730081" y="4028094"/>
          <a:ext cx="376238" cy="285750"/>
        </p:xfrm>
        <a:graphic>
          <a:graphicData uri="http://schemas.openxmlformats.org/presentationml/2006/ole">
            <mc:AlternateContent xmlns:mc="http://schemas.openxmlformats.org/markup-compatibility/2006">
              <mc:Choice xmlns:v="urn:schemas-microsoft-com:vml" Requires="v">
                <p:oleObj name="Equation" r:id="rId6" imgW="241825" imgH="178187" progId="Equation.DSMT4">
                  <p:embed/>
                </p:oleObj>
              </mc:Choice>
              <mc:Fallback>
                <p:oleObj name="Equation" r:id="rId6" imgW="241825" imgH="178187" progId="Equation.DSMT4">
                  <p:embed/>
                  <p:pic>
                    <p:nvPicPr>
                      <p:cNvPr id="7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30081" y="4028094"/>
                        <a:ext cx="376238" cy="285750"/>
                      </a:xfrm>
                      <a:prstGeom prst="rect">
                        <a:avLst/>
                      </a:prstGeom>
                      <a:solidFill>
                        <a:srgbClr val="00CCFF"/>
                      </a:solidFill>
                    </p:spPr>
                  </p:pic>
                </p:oleObj>
              </mc:Fallback>
            </mc:AlternateContent>
          </a:graphicData>
        </a:graphic>
      </p:graphicFrame>
      <p:sp>
        <p:nvSpPr>
          <p:cNvPr id="67" name="椭圆 66">
            <a:extLst>
              <a:ext uri="{FF2B5EF4-FFF2-40B4-BE49-F238E27FC236}">
                <a16:creationId xmlns:a16="http://schemas.microsoft.com/office/drawing/2014/main" id="{F7506E72-9EE8-4B4B-B36F-79F124FCFD71}"/>
              </a:ext>
            </a:extLst>
          </p:cNvPr>
          <p:cNvSpPr>
            <a:spLocks noChangeArrowheads="1"/>
          </p:cNvSpPr>
          <p:nvPr/>
        </p:nvSpPr>
        <p:spPr bwMode="auto">
          <a:xfrm rot="2756598">
            <a:off x="10385594" y="3826482"/>
            <a:ext cx="282575" cy="142875"/>
          </a:xfrm>
          <a:prstGeom prst="ellipse">
            <a:avLst/>
          </a:prstGeom>
          <a:noFill/>
          <a:ln w="31750" algn="ctr">
            <a:solidFill>
              <a:srgbClr val="0000FF"/>
            </a:solidFill>
            <a:round/>
            <a:headEnd/>
            <a:tailEnd/>
          </a:ln>
        </p:spPr>
        <p:txBody>
          <a:bodyPr rot="10800000" vert="eaVert" anchor="ctr"/>
          <a:lstStyle/>
          <a:p>
            <a:pPr algn="ctr" defTabSz="914400">
              <a:defRPr/>
            </a:pPr>
            <a:endParaRPr lang="zh-CN" altLang="en-US" sz="1800">
              <a:solidFill>
                <a:schemeClr val="lt1"/>
              </a:solidFill>
              <a:latin typeface="+mn-lt"/>
              <a:ea typeface="+mn-ea"/>
            </a:endParaRPr>
          </a:p>
        </p:txBody>
      </p:sp>
      <p:grpSp>
        <p:nvGrpSpPr>
          <p:cNvPr id="68" name="组合 77">
            <a:extLst>
              <a:ext uri="{FF2B5EF4-FFF2-40B4-BE49-F238E27FC236}">
                <a16:creationId xmlns:a16="http://schemas.microsoft.com/office/drawing/2014/main" id="{7AA348D1-E25D-40D2-987A-594635414829}"/>
              </a:ext>
            </a:extLst>
          </p:cNvPr>
          <p:cNvGrpSpPr>
            <a:grpSpLocks/>
          </p:cNvGrpSpPr>
          <p:nvPr/>
        </p:nvGrpSpPr>
        <p:grpSpPr bwMode="auto">
          <a:xfrm>
            <a:off x="10015706" y="1599219"/>
            <a:ext cx="2643188" cy="2795588"/>
            <a:chOff x="6143636" y="2428868"/>
            <a:chExt cx="2643206" cy="2794999"/>
          </a:xfrm>
        </p:grpSpPr>
        <p:grpSp>
          <p:nvGrpSpPr>
            <p:cNvPr id="69" name="组合 62">
              <a:extLst>
                <a:ext uri="{FF2B5EF4-FFF2-40B4-BE49-F238E27FC236}">
                  <a16:creationId xmlns:a16="http://schemas.microsoft.com/office/drawing/2014/main" id="{A823940D-6989-49CA-AE3D-D1D8495307E1}"/>
                </a:ext>
              </a:extLst>
            </p:cNvPr>
            <p:cNvGrpSpPr>
              <a:grpSpLocks/>
            </p:cNvGrpSpPr>
            <p:nvPr/>
          </p:nvGrpSpPr>
          <p:grpSpPr bwMode="auto">
            <a:xfrm>
              <a:off x="6143636" y="2985379"/>
              <a:ext cx="2263438" cy="2238488"/>
              <a:chOff x="5500694" y="2628189"/>
              <a:chExt cx="2263438" cy="2238488"/>
            </a:xfrm>
          </p:grpSpPr>
          <p:cxnSp>
            <p:nvCxnSpPr>
              <p:cNvPr id="71" name="直接箭头连接符 70">
                <a:extLst>
                  <a:ext uri="{FF2B5EF4-FFF2-40B4-BE49-F238E27FC236}">
                    <a16:creationId xmlns:a16="http://schemas.microsoft.com/office/drawing/2014/main" id="{654C4EE1-357C-4512-B61D-E7C9128CEBDB}"/>
                  </a:ext>
                </a:extLst>
              </p:cNvPr>
              <p:cNvCxnSpPr/>
              <p:nvPr/>
            </p:nvCxnSpPr>
            <p:spPr>
              <a:xfrm flipV="1">
                <a:off x="5500694" y="3571550"/>
                <a:ext cx="1357322" cy="1295127"/>
              </a:xfrm>
              <a:prstGeom prst="straightConnector1">
                <a:avLst/>
              </a:prstGeom>
              <a:ln w="31750">
                <a:solidFill>
                  <a:schemeClr val="tx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D20AFFB2-DF10-4949-8590-19B9F500247E}"/>
                  </a:ext>
                </a:extLst>
              </p:cNvPr>
              <p:cNvCxnSpPr/>
              <p:nvPr/>
            </p:nvCxnSpPr>
            <p:spPr>
              <a:xfrm rot="5400000" flipH="1" flipV="1">
                <a:off x="7075580" y="2638223"/>
                <a:ext cx="698353" cy="679455"/>
              </a:xfrm>
              <a:prstGeom prst="straightConnector1">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graphicFrame>
          <p:nvGraphicFramePr>
            <p:cNvPr id="70" name="Object 27">
              <a:extLst>
                <a:ext uri="{FF2B5EF4-FFF2-40B4-BE49-F238E27FC236}">
                  <a16:creationId xmlns:a16="http://schemas.microsoft.com/office/drawing/2014/main" id="{0775A319-C9DB-4650-BBB7-D5EA774540B3}"/>
                </a:ext>
              </a:extLst>
            </p:cNvPr>
            <p:cNvGraphicFramePr>
              <a:graphicFrameLocks noChangeAspect="1"/>
            </p:cNvGraphicFramePr>
            <p:nvPr/>
          </p:nvGraphicFramePr>
          <p:xfrm>
            <a:off x="8501090" y="2428868"/>
            <a:ext cx="285752" cy="527542"/>
          </p:xfrm>
          <a:graphic>
            <a:graphicData uri="http://schemas.openxmlformats.org/presentationml/2006/ole">
              <mc:AlternateContent xmlns:mc="http://schemas.openxmlformats.org/markup-compatibility/2006">
                <mc:Choice xmlns:v="urn:schemas-microsoft-com:vml" Requires="v">
                  <p:oleObj name="Equation" r:id="rId8" imgW="127276" imgH="229097" progId="Equation.DSMT4">
                    <p:embed/>
                  </p:oleObj>
                </mc:Choice>
                <mc:Fallback>
                  <p:oleObj name="Equation" r:id="rId8" imgW="127276" imgH="229097" progId="Equation.DSMT4">
                    <p:embed/>
                    <p:pic>
                      <p:nvPicPr>
                        <p:cNvPr id="36896"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01090" y="2428868"/>
                          <a:ext cx="285752" cy="527542"/>
                        </a:xfrm>
                        <a:prstGeom prst="rect">
                          <a:avLst/>
                        </a:prstGeom>
                        <a:solidFill>
                          <a:srgbClr val="00FFFF"/>
                        </a:solidFill>
                      </p:spPr>
                    </p:pic>
                  </p:oleObj>
                </mc:Fallback>
              </mc:AlternateContent>
            </a:graphicData>
          </a:graphic>
        </p:graphicFrame>
      </p:grpSp>
      <p:graphicFrame>
        <p:nvGraphicFramePr>
          <p:cNvPr id="73" name="Object 28">
            <a:extLst>
              <a:ext uri="{FF2B5EF4-FFF2-40B4-BE49-F238E27FC236}">
                <a16:creationId xmlns:a16="http://schemas.microsoft.com/office/drawing/2014/main" id="{B427BB34-E9D7-4E4C-A5A0-C470FBB74FFA}"/>
              </a:ext>
            </a:extLst>
          </p:cNvPr>
          <p:cNvGraphicFramePr>
            <a:graphicFrameLocks noChangeAspect="1"/>
          </p:cNvGraphicFramePr>
          <p:nvPr>
            <p:extLst>
              <p:ext uri="{D42A27DB-BD31-4B8C-83A1-F6EECF244321}">
                <p14:modId xmlns:p14="http://schemas.microsoft.com/office/powerpoint/2010/main" val="3112186207"/>
              </p:ext>
            </p:extLst>
          </p:nvPr>
        </p:nvGraphicFramePr>
        <p:xfrm>
          <a:off x="11515894" y="1813532"/>
          <a:ext cx="396875" cy="458787"/>
        </p:xfrm>
        <a:graphic>
          <a:graphicData uri="http://schemas.openxmlformats.org/presentationml/2006/ole">
            <mc:AlternateContent xmlns:mc="http://schemas.openxmlformats.org/markup-compatibility/2006">
              <mc:Choice xmlns:v="urn:schemas-microsoft-com:vml" Requires="v">
                <p:oleObj name="Equation" r:id="rId10" imgW="228600" imgH="228600" progId="Equation.DSMT4">
                  <p:embed/>
                </p:oleObj>
              </mc:Choice>
              <mc:Fallback>
                <p:oleObj name="Equation" r:id="rId10" imgW="228600" imgH="228600" progId="Equation.DSMT4">
                  <p:embed/>
                  <p:pic>
                    <p:nvPicPr>
                      <p:cNvPr id="73"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15894" y="1813532"/>
                        <a:ext cx="396875" cy="458787"/>
                      </a:xfrm>
                      <a:prstGeom prst="rect">
                        <a:avLst/>
                      </a:prstGeom>
                      <a:solidFill>
                        <a:srgbClr val="FF00FF"/>
                      </a:solidFill>
                    </p:spPr>
                  </p:pic>
                </p:oleObj>
              </mc:Fallback>
            </mc:AlternateContent>
          </a:graphicData>
        </a:graphic>
      </p:graphicFrame>
      <p:graphicFrame>
        <p:nvGraphicFramePr>
          <p:cNvPr id="74" name="Object 29">
            <a:extLst>
              <a:ext uri="{FF2B5EF4-FFF2-40B4-BE49-F238E27FC236}">
                <a16:creationId xmlns:a16="http://schemas.microsoft.com/office/drawing/2014/main" id="{3770061A-63AF-4A1C-835A-48D7A7614EB7}"/>
              </a:ext>
            </a:extLst>
          </p:cNvPr>
          <p:cNvGraphicFramePr>
            <a:graphicFrameLocks noChangeAspect="1"/>
          </p:cNvGraphicFramePr>
          <p:nvPr>
            <p:extLst>
              <p:ext uri="{D42A27DB-BD31-4B8C-83A1-F6EECF244321}">
                <p14:modId xmlns:p14="http://schemas.microsoft.com/office/powerpoint/2010/main" val="4218723718"/>
              </p:ext>
            </p:extLst>
          </p:nvPr>
        </p:nvGraphicFramePr>
        <p:xfrm>
          <a:off x="12087394" y="2599344"/>
          <a:ext cx="546100" cy="428625"/>
        </p:xfrm>
        <a:graphic>
          <a:graphicData uri="http://schemas.openxmlformats.org/presentationml/2006/ole">
            <mc:AlternateContent xmlns:mc="http://schemas.openxmlformats.org/markup-compatibility/2006">
              <mc:Choice xmlns:v="urn:schemas-microsoft-com:vml" Requires="v">
                <p:oleObj name="Equation" r:id="rId12" imgW="304560" imgH="228600" progId="Equation.DSMT4">
                  <p:embed/>
                </p:oleObj>
              </mc:Choice>
              <mc:Fallback>
                <p:oleObj name="Equation" r:id="rId12" imgW="304560" imgH="228600" progId="Equation.DSMT4">
                  <p:embed/>
                  <p:pic>
                    <p:nvPicPr>
                      <p:cNvPr id="74"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87394" y="2599344"/>
                        <a:ext cx="546100" cy="428625"/>
                      </a:xfrm>
                      <a:prstGeom prst="rect">
                        <a:avLst/>
                      </a:prstGeom>
                      <a:solidFill>
                        <a:srgbClr val="FFFF00"/>
                      </a:solidFill>
                    </p:spPr>
                  </p:pic>
                </p:oleObj>
              </mc:Fallback>
            </mc:AlternateContent>
          </a:graphicData>
        </a:graphic>
      </p:graphicFrame>
      <p:sp>
        <p:nvSpPr>
          <p:cNvPr id="75" name="Text Box 7">
            <a:extLst>
              <a:ext uri="{FF2B5EF4-FFF2-40B4-BE49-F238E27FC236}">
                <a16:creationId xmlns:a16="http://schemas.microsoft.com/office/drawing/2014/main" id="{8196A4BE-6EB3-4350-B4E6-4C13AA5EA3CE}"/>
              </a:ext>
            </a:extLst>
          </p:cNvPr>
          <p:cNvSpPr txBox="1">
            <a:spLocks noChangeArrowheads="1"/>
          </p:cNvSpPr>
          <p:nvPr/>
        </p:nvSpPr>
        <p:spPr bwMode="auto">
          <a:xfrm>
            <a:off x="3759161" y="6704394"/>
            <a:ext cx="5374265"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el-GR" altLang="zh-CN" sz="2400" b="1" dirty="0">
                <a:latin typeface="Times New Roman" pitchFamily="18" charset="0"/>
                <a:ea typeface="微软雅黑" pitchFamily="34" charset="-122"/>
                <a:cs typeface="Times New Roman" pitchFamily="18" charset="0"/>
              </a:rPr>
              <a:t>θ</a:t>
            </a:r>
            <a:r>
              <a:rPr lang="zh-CN" altLang="en-US" sz="2400" b="1" dirty="0">
                <a:latin typeface="Times New Roman" pitchFamily="18" charset="0"/>
                <a:ea typeface="微软雅黑" pitchFamily="34" charset="-122"/>
                <a:cs typeface="Times New Roman" pitchFamily="18" charset="0"/>
              </a:rPr>
              <a:t>为所给方向与面元法线之间的夹角。</a:t>
            </a:r>
          </a:p>
        </p:txBody>
      </p:sp>
      <p:sp>
        <p:nvSpPr>
          <p:cNvPr id="76" name="Text Box 7">
            <a:extLst>
              <a:ext uri="{FF2B5EF4-FFF2-40B4-BE49-F238E27FC236}">
                <a16:creationId xmlns:a16="http://schemas.microsoft.com/office/drawing/2014/main" id="{2BE38344-842C-4AF7-AC66-E1AF958F3E00}"/>
              </a:ext>
            </a:extLst>
          </p:cNvPr>
          <p:cNvSpPr txBox="1">
            <a:spLocks noChangeArrowheads="1"/>
          </p:cNvSpPr>
          <p:nvPr/>
        </p:nvSpPr>
        <p:spPr bwMode="auto">
          <a:xfrm>
            <a:off x="1029397" y="4872554"/>
            <a:ext cx="4586217" cy="461665"/>
          </a:xfrm>
          <a:prstGeom prst="rect">
            <a:avLst/>
          </a:prstGeom>
          <a:noFill/>
          <a:ln w="9525">
            <a:noFill/>
            <a:miter lim="800000"/>
            <a:headEnd/>
            <a:tailEnd/>
          </a:ln>
        </p:spPr>
        <p:txBody>
          <a:bodyPr wrap="square">
            <a:spAutoFit/>
          </a:bodyPr>
          <a:lstStyle/>
          <a:p>
            <a:pPr defTabSz="914400">
              <a:spcBef>
                <a:spcPct val="50000"/>
              </a:spcBef>
            </a:pPr>
            <a:r>
              <a:rPr lang="zh-CN" altLang="en-US" sz="2400" b="1" dirty="0">
                <a:latin typeface="Times New Roman" pitchFamily="18" charset="0"/>
                <a:ea typeface="微软雅黑" pitchFamily="34" charset="-122"/>
                <a:cs typeface="Times New Roman" pitchFamily="18" charset="0"/>
              </a:rPr>
              <a:t>辐亮度的数学表达式：</a:t>
            </a:r>
          </a:p>
        </p:txBody>
      </p:sp>
      <p:graphicFrame>
        <p:nvGraphicFramePr>
          <p:cNvPr id="77" name="对象 76">
            <a:extLst>
              <a:ext uri="{FF2B5EF4-FFF2-40B4-BE49-F238E27FC236}">
                <a16:creationId xmlns:a16="http://schemas.microsoft.com/office/drawing/2014/main" id="{B4B02C43-35DD-4EF5-9DCF-F3AA4C12F1FA}"/>
              </a:ext>
            </a:extLst>
          </p:cNvPr>
          <p:cNvGraphicFramePr>
            <a:graphicFrameLocks noChangeAspect="1"/>
          </p:cNvGraphicFramePr>
          <p:nvPr>
            <p:extLst>
              <p:ext uri="{D42A27DB-BD31-4B8C-83A1-F6EECF244321}">
                <p14:modId xmlns:p14="http://schemas.microsoft.com/office/powerpoint/2010/main" val="234339134"/>
              </p:ext>
            </p:extLst>
          </p:nvPr>
        </p:nvGraphicFramePr>
        <p:xfrm>
          <a:off x="3826024" y="5561984"/>
          <a:ext cx="2489200" cy="977900"/>
        </p:xfrm>
        <a:graphic>
          <a:graphicData uri="http://schemas.openxmlformats.org/presentationml/2006/ole">
            <mc:AlternateContent xmlns:mc="http://schemas.openxmlformats.org/markup-compatibility/2006">
              <mc:Choice xmlns:v="urn:schemas-microsoft-com:vml" Requires="v">
                <p:oleObj name="Equation" r:id="rId14" imgW="1066680" imgH="419040" progId="Equation.DSMT4">
                  <p:embed/>
                </p:oleObj>
              </mc:Choice>
              <mc:Fallback>
                <p:oleObj name="Equation" r:id="rId14" imgW="1066680" imgH="419040" progId="Equation.DSMT4">
                  <p:embed/>
                  <p:pic>
                    <p:nvPicPr>
                      <p:cNvPr id="5" name="对象 4"/>
                      <p:cNvPicPr>
                        <a:picLocks noChangeAspect="1" noChangeArrowheads="1"/>
                      </p:cNvPicPr>
                      <p:nvPr/>
                    </p:nvPicPr>
                    <p:blipFill>
                      <a:blip r:embed="rId15"/>
                      <a:srcRect/>
                      <a:stretch>
                        <a:fillRect/>
                      </a:stretch>
                    </p:blipFill>
                    <p:spPr bwMode="auto">
                      <a:xfrm>
                        <a:off x="3826024" y="5561984"/>
                        <a:ext cx="2489200" cy="977900"/>
                      </a:xfrm>
                      <a:prstGeom prst="rect">
                        <a:avLst/>
                      </a:prstGeom>
                      <a:solidFill>
                        <a:srgbClr val="FFFF00"/>
                      </a:solidFill>
                      <a:ln>
                        <a:noFill/>
                      </a:ln>
                    </p:spPr>
                  </p:pic>
                </p:oleObj>
              </mc:Fallback>
            </mc:AlternateContent>
          </a:graphicData>
        </a:graphic>
      </p:graphicFrame>
      <p:sp>
        <p:nvSpPr>
          <p:cNvPr id="78" name="Text Box 7">
            <a:extLst>
              <a:ext uri="{FF2B5EF4-FFF2-40B4-BE49-F238E27FC236}">
                <a16:creationId xmlns:a16="http://schemas.microsoft.com/office/drawing/2014/main" id="{A90C9792-35BB-4D8F-8D82-EFA5C95C3C78}"/>
              </a:ext>
            </a:extLst>
          </p:cNvPr>
          <p:cNvSpPr txBox="1">
            <a:spLocks noChangeArrowheads="1"/>
          </p:cNvSpPr>
          <p:nvPr/>
        </p:nvSpPr>
        <p:spPr bwMode="auto">
          <a:xfrm>
            <a:off x="9657761" y="5412865"/>
            <a:ext cx="2639939" cy="519113"/>
          </a:xfrm>
          <a:prstGeom prst="rect">
            <a:avLst/>
          </a:prstGeom>
          <a:noFill/>
          <a:ln w="9525">
            <a:noFill/>
            <a:miter lim="800000"/>
            <a:headEnd/>
            <a:tailEnd/>
          </a:ln>
        </p:spPr>
        <p:txBody>
          <a:bodyPr wrap="square">
            <a:spAutoFit/>
          </a:bodyPr>
          <a:lstStyle/>
          <a:p>
            <a:pPr defTabSz="914400">
              <a:spcBef>
                <a:spcPct val="50000"/>
              </a:spcBef>
            </a:pPr>
            <a:r>
              <a:rPr lang="zh-CN" altLang="en-US" sz="2800" b="1" dirty="0">
                <a:solidFill>
                  <a:srgbClr val="0000CC"/>
                </a:solidFill>
                <a:latin typeface="Times New Roman" pitchFamily="18" charset="0"/>
                <a:ea typeface="微软雅黑" pitchFamily="34" charset="-122"/>
                <a:cs typeface="Times New Roman" pitchFamily="18" charset="0"/>
              </a:rPr>
              <a:t>辐亮度示意图</a:t>
            </a:r>
          </a:p>
        </p:txBody>
      </p:sp>
      <p:sp>
        <p:nvSpPr>
          <p:cNvPr id="48"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49"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0" name="Text Box 5">
            <a:extLst>
              <a:ext uri="{FF2B5EF4-FFF2-40B4-BE49-F238E27FC236}">
                <a16:creationId xmlns:a16="http://schemas.microsoft.com/office/drawing/2014/main" id="{0B5B9845-C530-45F9-819E-79B9C52248F7}"/>
              </a:ext>
            </a:extLst>
          </p:cNvPr>
          <p:cNvSpPr txBox="1">
            <a:spLocks noChangeArrowheads="1"/>
          </p:cNvSpPr>
          <p:nvPr/>
        </p:nvSpPr>
        <p:spPr bwMode="auto">
          <a:xfrm>
            <a:off x="1098914" y="3320168"/>
            <a:ext cx="2325377"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符号：</a:t>
            </a:r>
            <a:r>
              <a:rPr lang="en-US" altLang="zh-CN" sz="2400" b="1" i="1" dirty="0">
                <a:latin typeface="Times New Roman" pitchFamily="18" charset="0"/>
                <a:ea typeface="微软雅黑" pitchFamily="34" charset="-122"/>
                <a:cs typeface="Times New Roman" pitchFamily="18" charset="0"/>
              </a:rPr>
              <a:t>L</a:t>
            </a:r>
            <a:r>
              <a:rPr lang="en-US" altLang="zh-CN" sz="2400" b="1" baseline="-25000" dirty="0">
                <a:latin typeface="Times New Roman" pitchFamily="18" charset="0"/>
                <a:ea typeface="微软雅黑" pitchFamily="34" charset="-122"/>
                <a:cs typeface="Times New Roman" pitchFamily="18" charset="0"/>
              </a:rPr>
              <a:t>e</a:t>
            </a:r>
            <a:endParaRPr lang="zh-CN" altLang="en-US" sz="2400" b="1" dirty="0">
              <a:latin typeface="Times New Roman" pitchFamily="18" charset="0"/>
              <a:ea typeface="微软雅黑" pitchFamily="34" charset="-122"/>
              <a:cs typeface="Times New Roman" pitchFamily="18" charset="0"/>
            </a:endParaRPr>
          </a:p>
        </p:txBody>
      </p:sp>
      <p:sp>
        <p:nvSpPr>
          <p:cNvPr id="51" name="Text Box 7">
            <a:extLst>
              <a:ext uri="{FF2B5EF4-FFF2-40B4-BE49-F238E27FC236}">
                <a16:creationId xmlns:a16="http://schemas.microsoft.com/office/drawing/2014/main" id="{8196A4BE-6EB3-4350-B4E6-4C13AA5EA3CE}"/>
              </a:ext>
            </a:extLst>
          </p:cNvPr>
          <p:cNvSpPr txBox="1">
            <a:spLocks noChangeArrowheads="1"/>
          </p:cNvSpPr>
          <p:nvPr/>
        </p:nvSpPr>
        <p:spPr bwMode="auto">
          <a:xfrm>
            <a:off x="1087414" y="4081971"/>
            <a:ext cx="6088964"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计量单位：瓦每球面度平方米</a:t>
            </a:r>
            <a:r>
              <a:rPr lang="en-US" altLang="zh-CN" sz="2400" b="1" dirty="0">
                <a:latin typeface="Times New Roman" pitchFamily="18" charset="0"/>
                <a:ea typeface="微软雅黑" pitchFamily="34" charset="-122"/>
                <a:cs typeface="Times New Roman" pitchFamily="18" charset="0"/>
              </a:rPr>
              <a:t>[W/(sr·m</a:t>
            </a:r>
            <a:r>
              <a:rPr lang="en-US" altLang="zh-CN" sz="2400" b="1" baseline="30000" dirty="0">
                <a:latin typeface="Times New Roman" pitchFamily="18" charset="0"/>
                <a:ea typeface="微软雅黑" pitchFamily="34" charset="-122"/>
                <a:cs typeface="Times New Roman" pitchFamily="18" charset="0"/>
              </a:rPr>
              <a:t>2</a:t>
            </a:r>
            <a:r>
              <a:rPr lang="en-US" altLang="zh-CN" sz="2400" b="1" dirty="0">
                <a:latin typeface="Times New Roman" pitchFamily="18" charset="0"/>
                <a:ea typeface="微软雅黑" pitchFamily="34" charset="-122"/>
                <a:cs typeface="Times New Roman" pitchFamily="18" charset="0"/>
              </a:rPr>
              <a:t> )]</a:t>
            </a:r>
            <a:endParaRPr lang="zh-CN" altLang="en-US" sz="2400" b="1"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232250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0-#ppt_w/2"/>
                                          </p:val>
                                        </p:tav>
                                        <p:tav tm="100000">
                                          <p:val>
                                            <p:strVal val="#ppt_x"/>
                                          </p:val>
                                        </p:tav>
                                      </p:tavLst>
                                    </p:anim>
                                    <p:anim calcmode="lin" valueType="num">
                                      <p:cBhvr additive="base">
                                        <p:cTn id="14"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0-#ppt_w/2"/>
                                          </p:val>
                                        </p:tav>
                                        <p:tav tm="100000">
                                          <p:val>
                                            <p:strVal val="#ppt_x"/>
                                          </p:val>
                                        </p:tav>
                                      </p:tavLst>
                                    </p:anim>
                                    <p:anim calcmode="lin" valueType="num">
                                      <p:cBhvr additive="base">
                                        <p:cTn id="20"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ppt_x"/>
                                          </p:val>
                                        </p:tav>
                                        <p:tav tm="100000">
                                          <p:val>
                                            <p:strVal val="#ppt_x"/>
                                          </p:val>
                                        </p:tav>
                                      </p:tavLst>
                                    </p:anim>
                                    <p:anim calcmode="lin" valueType="num">
                                      <p:cBhvr additive="base">
                                        <p:cTn id="2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78"/>
                                        </p:tgtEl>
                                        <p:attrNameLst>
                                          <p:attrName>style.visibility</p:attrName>
                                        </p:attrNameLst>
                                      </p:cBhvr>
                                      <p:to>
                                        <p:strVal val="visible"/>
                                      </p:to>
                                    </p:set>
                                    <p:animEffect transition="in" filter="box(in)">
                                      <p:cBhvr>
                                        <p:cTn id="31" dur="500"/>
                                        <p:tgtEl>
                                          <p:spTgt spid="78"/>
                                        </p:tgtEl>
                                      </p:cBhvr>
                                    </p:animEffect>
                                  </p:childTnLst>
                                </p:cTn>
                              </p:par>
                            </p:childTnLst>
                          </p:cTn>
                        </p:par>
                      </p:childTnLst>
                    </p:cTn>
                  </p:par>
                  <p:par>
                    <p:cTn id="32" fill="hold">
                      <p:stCondLst>
                        <p:cond delay="indefinite"/>
                      </p:stCondLst>
                      <p:childTnLst>
                        <p:par>
                          <p:cTn id="33" fill="hold">
                            <p:stCondLst>
                              <p:cond delay="0"/>
                            </p:stCondLst>
                            <p:childTnLst>
                              <p:par>
                                <p:cTn id="34" presetID="20"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edge">
                                      <p:cBhvr>
                                        <p:cTn id="36" dur="20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4"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heel(4)">
                                      <p:cBhvr>
                                        <p:cTn id="41" dur="20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box(in)">
                                      <p:cBhvr>
                                        <p:cTn id="46" dur="500"/>
                                        <p:tgtEl>
                                          <p:spTgt spid="34"/>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box(in)">
                                      <p:cBhvr>
                                        <p:cTn id="51" dur="500"/>
                                        <p:tgtEl>
                                          <p:spTgt spid="38"/>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box(in)">
                                      <p:cBhvr>
                                        <p:cTn id="56" dur="500"/>
                                        <p:tgtEl>
                                          <p:spTgt spid="68"/>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box(in)">
                                      <p:cBhvr>
                                        <p:cTn id="61" dur="500"/>
                                        <p:tgtEl>
                                          <p:spTgt spid="32"/>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box(in)">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box(in)">
                                      <p:cBhvr>
                                        <p:cTn id="71" dur="500"/>
                                        <p:tgtEl>
                                          <p:spTgt spid="42"/>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nodeType="click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box(in)">
                                      <p:cBhvr>
                                        <p:cTn id="76" dur="500"/>
                                        <p:tgtEl>
                                          <p:spTgt spid="45"/>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67"/>
                                        </p:tgtEl>
                                        <p:attrNameLst>
                                          <p:attrName>style.visibility</p:attrName>
                                        </p:attrNameLst>
                                      </p:cBhvr>
                                      <p:to>
                                        <p:strVal val="visible"/>
                                      </p:to>
                                    </p:set>
                                    <p:animEffect transition="in" filter="box(in)">
                                      <p:cBhvr>
                                        <p:cTn id="81" dur="500"/>
                                        <p:tgtEl>
                                          <p:spTgt spid="67"/>
                                        </p:tgtEl>
                                      </p:cBhvr>
                                    </p:animEffect>
                                  </p:childTnLst>
                                </p:cTn>
                              </p:par>
                              <p:par>
                                <p:cTn id="82" presetID="4" presetClass="entr" presetSubtype="16" fill="hold" nodeType="with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box(in)">
                                      <p:cBhvr>
                                        <p:cTn id="84" dur="500"/>
                                        <p:tgtEl>
                                          <p:spTgt spid="66"/>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nodeType="click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box(in)">
                                      <p:cBhvr>
                                        <p:cTn id="89" dur="500"/>
                                        <p:tgtEl>
                                          <p:spTgt spid="74"/>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16" fill="hold" nodeType="click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box(in)">
                                      <p:cBhvr>
                                        <p:cTn id="94" dur="500"/>
                                        <p:tgtEl>
                                          <p:spTgt spid="73"/>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box(in)">
                                      <p:cBhvr>
                                        <p:cTn id="99" dur="500"/>
                                        <p:tgtEl>
                                          <p:spTgt spid="76"/>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77"/>
                                        </p:tgtEl>
                                        <p:attrNameLst>
                                          <p:attrName>style.visibility</p:attrName>
                                        </p:attrNameLst>
                                      </p:cBhvr>
                                      <p:to>
                                        <p:strVal val="visible"/>
                                      </p:to>
                                    </p:set>
                                    <p:anim calcmode="lin" valueType="num">
                                      <p:cBhvr>
                                        <p:cTn id="104" dur="500" fill="hold"/>
                                        <p:tgtEl>
                                          <p:spTgt spid="77"/>
                                        </p:tgtEl>
                                        <p:attrNameLst>
                                          <p:attrName>ppt_w</p:attrName>
                                        </p:attrNameLst>
                                      </p:cBhvr>
                                      <p:tavLst>
                                        <p:tav tm="0">
                                          <p:val>
                                            <p:fltVal val="0"/>
                                          </p:val>
                                        </p:tav>
                                        <p:tav tm="100000">
                                          <p:val>
                                            <p:strVal val="#ppt_w"/>
                                          </p:val>
                                        </p:tav>
                                      </p:tavLst>
                                    </p:anim>
                                    <p:anim calcmode="lin" valueType="num">
                                      <p:cBhvr>
                                        <p:cTn id="105" dur="500" fill="hold"/>
                                        <p:tgtEl>
                                          <p:spTgt spid="77"/>
                                        </p:tgtEl>
                                        <p:attrNameLst>
                                          <p:attrName>ppt_h</p:attrName>
                                        </p:attrNameLst>
                                      </p:cBhvr>
                                      <p:tavLst>
                                        <p:tav tm="0">
                                          <p:val>
                                            <p:fltVal val="0"/>
                                          </p:val>
                                        </p:tav>
                                        <p:tav tm="100000">
                                          <p:val>
                                            <p:strVal val="#ppt_h"/>
                                          </p:val>
                                        </p:tav>
                                      </p:tavLst>
                                    </p:anim>
                                    <p:animEffect transition="in" filter="fade">
                                      <p:cBhvr>
                                        <p:cTn id="106" dur="500"/>
                                        <p:tgtEl>
                                          <p:spTgt spid="77"/>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75"/>
                                        </p:tgtEl>
                                        <p:attrNameLst>
                                          <p:attrName>style.visibility</p:attrName>
                                        </p:attrNameLst>
                                      </p:cBhvr>
                                      <p:to>
                                        <p:strVal val="visible"/>
                                      </p:to>
                                    </p:set>
                                    <p:anim calcmode="lin" valueType="num">
                                      <p:cBhvr additive="base">
                                        <p:cTn id="111" dur="500" fill="hold"/>
                                        <p:tgtEl>
                                          <p:spTgt spid="75"/>
                                        </p:tgtEl>
                                        <p:attrNameLst>
                                          <p:attrName>ppt_x</p:attrName>
                                        </p:attrNameLst>
                                      </p:cBhvr>
                                      <p:tavLst>
                                        <p:tav tm="0">
                                          <p:val>
                                            <p:strVal val="#ppt_x"/>
                                          </p:val>
                                        </p:tav>
                                        <p:tav tm="100000">
                                          <p:val>
                                            <p:strVal val="#ppt_x"/>
                                          </p:val>
                                        </p:tav>
                                      </p:tavLst>
                                    </p:anim>
                                    <p:anim calcmode="lin" valueType="num">
                                      <p:cBhvr additive="base">
                                        <p:cTn id="11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1" grpId="0" animBg="1"/>
      <p:bldP spid="32" grpId="0" animBg="1"/>
      <p:bldP spid="34" grpId="0" animBg="1"/>
      <p:bldP spid="37" grpId="0"/>
      <p:bldP spid="67" grpId="0" animBg="1"/>
      <p:bldP spid="75" grpId="0"/>
      <p:bldP spid="76" grpId="0"/>
      <p:bldP spid="78" grpId="0"/>
      <p:bldP spid="50" grpId="0"/>
      <p:bldP spid="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8" name="Rectangle 4">
            <a:extLst>
              <a:ext uri="{FF2B5EF4-FFF2-40B4-BE49-F238E27FC236}">
                <a16:creationId xmlns:a16="http://schemas.microsoft.com/office/drawing/2014/main" id="{33C4B61E-AF83-46EE-9582-60884994C054}"/>
              </a:ext>
            </a:extLst>
          </p:cNvPr>
          <p:cNvSpPr>
            <a:spLocks noChangeArrowheads="1"/>
          </p:cNvSpPr>
          <p:nvPr/>
        </p:nvSpPr>
        <p:spPr bwMode="auto">
          <a:xfrm>
            <a:off x="2353468" y="3340101"/>
            <a:ext cx="184150" cy="366712"/>
          </a:xfrm>
          <a:prstGeom prst="rect">
            <a:avLst/>
          </a:prstGeom>
          <a:noFill/>
          <a:ln w="9525">
            <a:noFill/>
            <a:miter lim="800000"/>
            <a:headEnd/>
            <a:tailEnd/>
          </a:ln>
        </p:spPr>
        <p:txBody>
          <a:bodyPr wrap="none" anchor="ctr">
            <a:spAutoFit/>
          </a:bodyPr>
          <a:lstStyle/>
          <a:p>
            <a:pPr defTabSz="914400"/>
            <a:endParaRPr lang="zh-CN" altLang="en-US" sz="1800"/>
          </a:p>
        </p:txBody>
      </p:sp>
      <p:sp>
        <p:nvSpPr>
          <p:cNvPr id="49" name="Rectangle 5">
            <a:extLst>
              <a:ext uri="{FF2B5EF4-FFF2-40B4-BE49-F238E27FC236}">
                <a16:creationId xmlns:a16="http://schemas.microsoft.com/office/drawing/2014/main" id="{3ACBE7AA-5C6A-4C1B-B71A-0179820E1423}"/>
              </a:ext>
            </a:extLst>
          </p:cNvPr>
          <p:cNvSpPr>
            <a:spLocks noChangeArrowheads="1"/>
          </p:cNvSpPr>
          <p:nvPr/>
        </p:nvSpPr>
        <p:spPr bwMode="auto">
          <a:xfrm>
            <a:off x="2353468" y="4079876"/>
            <a:ext cx="184150" cy="733425"/>
          </a:xfrm>
          <a:prstGeom prst="rect">
            <a:avLst/>
          </a:prstGeom>
          <a:noFill/>
          <a:ln w="9525">
            <a:noFill/>
            <a:miter lim="800000"/>
            <a:headEnd/>
            <a:tailEnd/>
          </a:ln>
        </p:spPr>
        <p:txBody>
          <a:bodyPr wrap="none" anchor="ctr">
            <a:spAutoFit/>
          </a:bodyPr>
          <a:lstStyle/>
          <a:p>
            <a:pPr defTabSz="914400">
              <a:lnSpc>
                <a:spcPct val="150000"/>
              </a:lnSpc>
            </a:pPr>
            <a:endParaRPr lang="zh-CN" altLang="en-US" sz="2800">
              <a:latin typeface="Times New Roman" pitchFamily="18" charset="0"/>
              <a:ea typeface="微软雅黑" pitchFamily="34" charset="-122"/>
              <a:cs typeface="Times New Roman" pitchFamily="18" charset="0"/>
            </a:endParaRPr>
          </a:p>
        </p:txBody>
      </p:sp>
      <p:sp>
        <p:nvSpPr>
          <p:cNvPr id="50" name="Rectangle 6">
            <a:extLst>
              <a:ext uri="{FF2B5EF4-FFF2-40B4-BE49-F238E27FC236}">
                <a16:creationId xmlns:a16="http://schemas.microsoft.com/office/drawing/2014/main" id="{E4544B10-9CAA-4CC9-B190-1E5E742E7C19}"/>
              </a:ext>
            </a:extLst>
          </p:cNvPr>
          <p:cNvSpPr>
            <a:spLocks noChangeArrowheads="1"/>
          </p:cNvSpPr>
          <p:nvPr/>
        </p:nvSpPr>
        <p:spPr bwMode="auto">
          <a:xfrm>
            <a:off x="2353468" y="4003676"/>
            <a:ext cx="184150" cy="733425"/>
          </a:xfrm>
          <a:prstGeom prst="rect">
            <a:avLst/>
          </a:prstGeom>
          <a:noFill/>
          <a:ln w="9525">
            <a:noFill/>
            <a:miter lim="800000"/>
            <a:headEnd/>
            <a:tailEnd/>
          </a:ln>
        </p:spPr>
        <p:txBody>
          <a:bodyPr wrap="none" anchor="ctr">
            <a:spAutoFit/>
          </a:bodyPr>
          <a:lstStyle/>
          <a:p>
            <a:pPr defTabSz="914400">
              <a:lnSpc>
                <a:spcPct val="150000"/>
              </a:lnSpc>
            </a:pPr>
            <a:endParaRPr lang="zh-CN" altLang="en-US" sz="2800">
              <a:latin typeface="Times New Roman" pitchFamily="18" charset="0"/>
              <a:ea typeface="微软雅黑" pitchFamily="34" charset="-122"/>
              <a:cs typeface="Times New Roman" pitchFamily="18" charset="0"/>
            </a:endParaRPr>
          </a:p>
        </p:txBody>
      </p:sp>
      <p:graphicFrame>
        <p:nvGraphicFramePr>
          <p:cNvPr id="51" name="Object 8">
            <a:extLst>
              <a:ext uri="{FF2B5EF4-FFF2-40B4-BE49-F238E27FC236}">
                <a16:creationId xmlns:a16="http://schemas.microsoft.com/office/drawing/2014/main" id="{6C58EC9D-79AA-40D8-9EBF-B99DC5CC82F6}"/>
              </a:ext>
            </a:extLst>
          </p:cNvPr>
          <p:cNvGraphicFramePr>
            <a:graphicFrameLocks noChangeAspect="1"/>
          </p:cNvGraphicFramePr>
          <p:nvPr/>
        </p:nvGraphicFramePr>
        <p:xfrm>
          <a:off x="2817761" y="2375695"/>
          <a:ext cx="2967037" cy="1147762"/>
        </p:xfrm>
        <a:graphic>
          <a:graphicData uri="http://schemas.openxmlformats.org/presentationml/2006/ole">
            <mc:AlternateContent xmlns:mc="http://schemas.openxmlformats.org/markup-compatibility/2006">
              <mc:Choice xmlns:v="urn:schemas-microsoft-com:vml" Requires="v">
                <p:oleObj name="Equation" r:id="rId2" imgW="660240" imgH="393480" progId="Equation.DSMT4">
                  <p:embed/>
                </p:oleObj>
              </mc:Choice>
              <mc:Fallback>
                <p:oleObj name="Equation" r:id="rId2" imgW="660240" imgH="393480" progId="Equation.DSMT4">
                  <p:embed/>
                  <p:pic>
                    <p:nvPicPr>
                      <p:cNvPr id="81934"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761" y="2375695"/>
                        <a:ext cx="2967037" cy="1147762"/>
                      </a:xfrm>
                      <a:prstGeom prst="rect">
                        <a:avLst/>
                      </a:prstGeom>
                      <a:solidFill>
                        <a:srgbClr val="FFFF00"/>
                      </a:solidFill>
                    </p:spPr>
                  </p:pic>
                </p:oleObj>
              </mc:Fallback>
            </mc:AlternateContent>
          </a:graphicData>
        </a:graphic>
      </p:graphicFrame>
      <p:sp>
        <p:nvSpPr>
          <p:cNvPr id="52" name="Rectangle 11">
            <a:extLst>
              <a:ext uri="{FF2B5EF4-FFF2-40B4-BE49-F238E27FC236}">
                <a16:creationId xmlns:a16="http://schemas.microsoft.com/office/drawing/2014/main" id="{B7F623E2-A967-4367-8D9C-6ED1CD9F92E2}"/>
              </a:ext>
            </a:extLst>
          </p:cNvPr>
          <p:cNvSpPr>
            <a:spLocks noChangeArrowheads="1"/>
          </p:cNvSpPr>
          <p:nvPr/>
        </p:nvSpPr>
        <p:spPr bwMode="auto">
          <a:xfrm>
            <a:off x="3165424" y="4068385"/>
            <a:ext cx="2271713" cy="1482329"/>
          </a:xfrm>
          <a:prstGeom prst="rect">
            <a:avLst/>
          </a:prstGeom>
          <a:solidFill>
            <a:srgbClr val="FFFF00"/>
          </a:solidFill>
          <a:ln w="9525">
            <a:solidFill>
              <a:schemeClr val="accent1"/>
            </a:solidFill>
            <a:miter lim="800000"/>
            <a:headEnd/>
            <a:tailEnd/>
          </a:ln>
        </p:spPr>
        <p:txBody>
          <a:bodyPr anchor="ctr">
            <a:spAutoFit/>
          </a:bodyPr>
          <a:lstStyle/>
          <a:p>
            <a:pPr algn="ctr" defTabSz="914400">
              <a:lnSpc>
                <a:spcPct val="150000"/>
              </a:lnSpc>
            </a:pPr>
            <a:r>
              <a:rPr lang="zh-CN" altLang="en-US" sz="3200" b="1">
                <a:latin typeface="Times New Roman" pitchFamily="18" charset="0"/>
                <a:ea typeface="微软雅黑" pitchFamily="34" charset="-122"/>
                <a:cs typeface="Times New Roman" pitchFamily="18" charset="0"/>
              </a:rPr>
              <a:t>面辐射源的辐射能力</a:t>
            </a:r>
          </a:p>
        </p:txBody>
      </p:sp>
      <p:sp>
        <p:nvSpPr>
          <p:cNvPr id="53" name="Rectangle 12">
            <a:extLst>
              <a:ext uri="{FF2B5EF4-FFF2-40B4-BE49-F238E27FC236}">
                <a16:creationId xmlns:a16="http://schemas.microsoft.com/office/drawing/2014/main" id="{B88244F2-FAE8-4ECD-AA44-23F2251107FE}"/>
              </a:ext>
            </a:extLst>
          </p:cNvPr>
          <p:cNvSpPr>
            <a:spLocks noChangeArrowheads="1"/>
          </p:cNvSpPr>
          <p:nvPr/>
        </p:nvSpPr>
        <p:spPr bwMode="auto">
          <a:xfrm>
            <a:off x="6993257" y="4079876"/>
            <a:ext cx="4071937" cy="1482329"/>
          </a:xfrm>
          <a:prstGeom prst="rect">
            <a:avLst/>
          </a:prstGeom>
          <a:solidFill>
            <a:srgbClr val="FFC000"/>
          </a:solidFill>
          <a:ln w="9525">
            <a:solidFill>
              <a:schemeClr val="accent1"/>
            </a:solidFill>
            <a:miter lim="800000"/>
            <a:headEnd/>
            <a:tailEnd/>
          </a:ln>
        </p:spPr>
        <p:txBody>
          <a:bodyPr anchor="ctr">
            <a:spAutoFit/>
          </a:bodyPr>
          <a:lstStyle/>
          <a:p>
            <a:pPr algn="ctr" defTabSz="914400">
              <a:lnSpc>
                <a:spcPct val="150000"/>
              </a:lnSpc>
            </a:pPr>
            <a:r>
              <a:rPr lang="zh-CN" altLang="en-US" sz="3200" b="1">
                <a:latin typeface="Times New Roman" pitchFamily="18" charset="0"/>
                <a:ea typeface="微软雅黑" pitchFamily="34" charset="-122"/>
                <a:cs typeface="Times New Roman" pitchFamily="18" charset="0"/>
              </a:rPr>
              <a:t>面辐射源沿不同方向的辐射能力的差异</a:t>
            </a:r>
            <a:r>
              <a:rPr lang="zh-CN" altLang="en-US" sz="3200" b="1">
                <a:solidFill>
                  <a:schemeClr val="bg1"/>
                </a:solidFill>
                <a:latin typeface="Times New Roman" pitchFamily="18" charset="0"/>
                <a:ea typeface="微软雅黑" pitchFamily="34" charset="-122"/>
                <a:cs typeface="Times New Roman" pitchFamily="18" charset="0"/>
              </a:rPr>
              <a:t> </a:t>
            </a:r>
          </a:p>
        </p:txBody>
      </p:sp>
      <p:sp>
        <p:nvSpPr>
          <p:cNvPr id="54" name="TextBox 9">
            <a:extLst>
              <a:ext uri="{FF2B5EF4-FFF2-40B4-BE49-F238E27FC236}">
                <a16:creationId xmlns:a16="http://schemas.microsoft.com/office/drawing/2014/main" id="{2ECE0C65-F9DE-4E7C-8732-E1A74613916C}"/>
              </a:ext>
            </a:extLst>
          </p:cNvPr>
          <p:cNvSpPr txBox="1">
            <a:spLocks noChangeArrowheads="1"/>
          </p:cNvSpPr>
          <p:nvPr/>
        </p:nvSpPr>
        <p:spPr bwMode="auto">
          <a:xfrm>
            <a:off x="3165424" y="1476460"/>
            <a:ext cx="1428750" cy="579438"/>
          </a:xfrm>
          <a:prstGeom prst="rect">
            <a:avLst/>
          </a:prstGeom>
          <a:noFill/>
          <a:ln w="9525">
            <a:noFill/>
            <a:miter lim="800000"/>
            <a:headEnd/>
            <a:tailEnd/>
          </a:ln>
        </p:spPr>
        <p:txBody>
          <a:bodyPr>
            <a:spAutoFit/>
          </a:bodyPr>
          <a:lstStyle/>
          <a:p>
            <a:pPr defTabSz="914400"/>
            <a:r>
              <a:rPr lang="zh-CN" altLang="en-US" sz="3200" b="1" dirty="0">
                <a:latin typeface="微软雅黑" pitchFamily="34" charset="-122"/>
                <a:ea typeface="微软雅黑" pitchFamily="34" charset="-122"/>
              </a:rPr>
              <a:t>注意：</a:t>
            </a:r>
          </a:p>
        </p:txBody>
      </p:sp>
      <p:graphicFrame>
        <p:nvGraphicFramePr>
          <p:cNvPr id="55" name="对象 54">
            <a:extLst>
              <a:ext uri="{FF2B5EF4-FFF2-40B4-BE49-F238E27FC236}">
                <a16:creationId xmlns:a16="http://schemas.microsoft.com/office/drawing/2014/main" id="{E99D0398-B7DC-438C-8079-47C81DB73247}"/>
              </a:ext>
            </a:extLst>
          </p:cNvPr>
          <p:cNvGraphicFramePr>
            <a:graphicFrameLocks noChangeAspect="1"/>
          </p:cNvGraphicFramePr>
          <p:nvPr/>
        </p:nvGraphicFramePr>
        <p:xfrm>
          <a:off x="6993257" y="2278789"/>
          <a:ext cx="3546090" cy="1244668"/>
        </p:xfrm>
        <a:graphic>
          <a:graphicData uri="http://schemas.openxmlformats.org/presentationml/2006/ole">
            <mc:AlternateContent xmlns:mc="http://schemas.openxmlformats.org/markup-compatibility/2006">
              <mc:Choice xmlns:v="urn:schemas-microsoft-com:vml" Requires="v">
                <p:oleObj name="公式" r:id="rId4" imgW="1193760" imgH="419040" progId="Equation.3">
                  <p:embed/>
                </p:oleObj>
              </mc:Choice>
              <mc:Fallback>
                <p:oleObj name="公式" r:id="rId4" imgW="1193760" imgH="419040" progId="Equation.3">
                  <p:embed/>
                  <p:pic>
                    <p:nvPicPr>
                      <p:cNvPr id="2" name="对象 1"/>
                      <p:cNvPicPr>
                        <a:picLocks noChangeAspect="1" noChangeArrowheads="1"/>
                      </p:cNvPicPr>
                      <p:nvPr/>
                    </p:nvPicPr>
                    <p:blipFill>
                      <a:blip r:embed="rId5"/>
                      <a:srcRect/>
                      <a:stretch>
                        <a:fillRect/>
                      </a:stretch>
                    </p:blipFill>
                    <p:spPr bwMode="auto">
                      <a:xfrm>
                        <a:off x="6993257" y="2278789"/>
                        <a:ext cx="3546090" cy="1244668"/>
                      </a:xfrm>
                      <a:prstGeom prst="rect">
                        <a:avLst/>
                      </a:prstGeom>
                      <a:solidFill>
                        <a:srgbClr val="FFC000"/>
                      </a:solidFill>
                      <a:ln>
                        <a:noFill/>
                      </a:ln>
                    </p:spPr>
                  </p:pic>
                </p:oleObj>
              </mc:Fallback>
            </mc:AlternateContent>
          </a:graphicData>
        </a:graphic>
      </p:graphicFrame>
      <p:sp>
        <p:nvSpPr>
          <p:cNvPr id="17"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18"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450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7" name="Text Box 5">
            <a:extLst>
              <a:ext uri="{FF2B5EF4-FFF2-40B4-BE49-F238E27FC236}">
                <a16:creationId xmlns:a16="http://schemas.microsoft.com/office/drawing/2014/main" id="{751F702F-7453-4EC5-BBC5-A846924BA859}"/>
              </a:ext>
            </a:extLst>
          </p:cNvPr>
          <p:cNvSpPr txBox="1">
            <a:spLocks noChangeArrowheads="1"/>
          </p:cNvSpPr>
          <p:nvPr/>
        </p:nvSpPr>
        <p:spPr bwMode="auto">
          <a:xfrm>
            <a:off x="432517" y="1310104"/>
            <a:ext cx="6409811"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1.2.7 </a:t>
            </a:r>
            <a:r>
              <a:rPr lang="zh-CN" altLang="en-US" sz="2800" b="1" dirty="0">
                <a:solidFill>
                  <a:srgbClr val="0000FF"/>
                </a:solidFill>
                <a:latin typeface="Times New Roman" pitchFamily="18" charset="0"/>
                <a:ea typeface="微软雅黑" pitchFamily="34" charset="-122"/>
                <a:cs typeface="Times New Roman" pitchFamily="18" charset="0"/>
              </a:rPr>
              <a:t>光谱辐射量（</a:t>
            </a:r>
            <a:r>
              <a:rPr lang="en-US" altLang="zh-CN" sz="2800" b="1" dirty="0">
                <a:solidFill>
                  <a:srgbClr val="0000FF"/>
                </a:solidFill>
                <a:latin typeface="Times New Roman" pitchFamily="18" charset="0"/>
                <a:ea typeface="微软雅黑" pitchFamily="34" charset="-122"/>
                <a:cs typeface="Times New Roman" pitchFamily="18" charset="0"/>
              </a:rPr>
              <a:t>Spectral radiance</a:t>
            </a:r>
            <a:r>
              <a:rPr lang="zh-CN" altLang="en-US" sz="2800" b="1" dirty="0">
                <a:solidFill>
                  <a:srgbClr val="0000FF"/>
                </a:solidFill>
                <a:latin typeface="Times New Roman" pitchFamily="18" charset="0"/>
                <a:ea typeface="微软雅黑" pitchFamily="34" charset="-122"/>
                <a:cs typeface="Times New Roman" pitchFamily="18" charset="0"/>
              </a:rPr>
              <a:t>）</a:t>
            </a:r>
          </a:p>
        </p:txBody>
      </p:sp>
      <p:sp>
        <p:nvSpPr>
          <p:cNvPr id="18" name="Text Box 6">
            <a:extLst>
              <a:ext uri="{FF2B5EF4-FFF2-40B4-BE49-F238E27FC236}">
                <a16:creationId xmlns:a16="http://schemas.microsoft.com/office/drawing/2014/main" id="{8967E728-DED3-404F-869D-96BB419B4FC1}"/>
              </a:ext>
            </a:extLst>
          </p:cNvPr>
          <p:cNvSpPr txBox="1">
            <a:spLocks noChangeArrowheads="1"/>
          </p:cNvSpPr>
          <p:nvPr/>
        </p:nvSpPr>
        <p:spPr bwMode="auto">
          <a:xfrm>
            <a:off x="1075091" y="2015643"/>
            <a:ext cx="7882714" cy="662297"/>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辐射源发射的辐射能在辐射光谱范围内是按波长分布的。</a:t>
            </a:r>
          </a:p>
        </p:txBody>
      </p:sp>
      <p:graphicFrame>
        <p:nvGraphicFramePr>
          <p:cNvPr id="19" name="Object 7">
            <a:extLst>
              <a:ext uri="{FF2B5EF4-FFF2-40B4-BE49-F238E27FC236}">
                <a16:creationId xmlns:a16="http://schemas.microsoft.com/office/drawing/2014/main" id="{C929B61A-FBFC-4F40-A259-9EE5F10B17DA}"/>
              </a:ext>
            </a:extLst>
          </p:cNvPr>
          <p:cNvGraphicFramePr>
            <a:graphicFrameLocks noChangeAspect="1"/>
          </p:cNvGraphicFramePr>
          <p:nvPr/>
        </p:nvGraphicFramePr>
        <p:xfrm>
          <a:off x="5016448" y="4151924"/>
          <a:ext cx="1973263" cy="1055687"/>
        </p:xfrm>
        <a:graphic>
          <a:graphicData uri="http://schemas.openxmlformats.org/presentationml/2006/ole">
            <mc:AlternateContent xmlns:mc="http://schemas.openxmlformats.org/markup-compatibility/2006">
              <mc:Choice xmlns:v="urn:schemas-microsoft-com:vml" Requires="v">
                <p:oleObj name="公式" r:id="rId2" imgW="736560" imgH="393480" progId="Equation.3">
                  <p:embed/>
                </p:oleObj>
              </mc:Choice>
              <mc:Fallback>
                <p:oleObj name="公式" r:id="rId2" imgW="736560" imgH="393480" progId="Equation.3">
                  <p:embed/>
                  <p:pic>
                    <p:nvPicPr>
                      <p:cNvPr id="289799"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448" y="4151924"/>
                        <a:ext cx="1973263" cy="10556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6">
            <a:extLst>
              <a:ext uri="{FF2B5EF4-FFF2-40B4-BE49-F238E27FC236}">
                <a16:creationId xmlns:a16="http://schemas.microsoft.com/office/drawing/2014/main" id="{69E705C3-C317-48F6-A696-0A74476EDF2D}"/>
              </a:ext>
            </a:extLst>
          </p:cNvPr>
          <p:cNvSpPr txBox="1">
            <a:spLocks noChangeArrowheads="1"/>
          </p:cNvSpPr>
          <p:nvPr/>
        </p:nvSpPr>
        <p:spPr bwMode="auto">
          <a:xfrm>
            <a:off x="623886" y="2777149"/>
            <a:ext cx="12313899" cy="1134862"/>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       辐射源在单位波长范围内发射的辐射量称为辐射量的光谱密度，简称为</a:t>
            </a:r>
            <a:r>
              <a:rPr lang="zh-CN" altLang="en-US" sz="2400" b="1" dirty="0">
                <a:solidFill>
                  <a:srgbClr val="FF0000"/>
                </a:solidFill>
                <a:latin typeface="Times New Roman" pitchFamily="18" charset="0"/>
                <a:ea typeface="微软雅黑" pitchFamily="34" charset="-122"/>
                <a:cs typeface="Times New Roman" pitchFamily="18" charset="0"/>
              </a:rPr>
              <a:t>光谱辐射量</a:t>
            </a:r>
            <a:r>
              <a:rPr lang="zh-CN" altLang="en-US" sz="2400" b="1" dirty="0">
                <a:latin typeface="Times New Roman" pitchFamily="18" charset="0"/>
                <a:ea typeface="微软雅黑" pitchFamily="34" charset="-122"/>
                <a:cs typeface="Times New Roman" pitchFamily="18" charset="0"/>
              </a:rPr>
              <a:t>，用</a:t>
            </a:r>
            <a:r>
              <a:rPr lang="en-US" altLang="zh-CN" sz="2400" b="1" i="1" dirty="0" err="1">
                <a:latin typeface="Times New Roman" pitchFamily="18" charset="0"/>
                <a:ea typeface="微软雅黑" pitchFamily="34" charset="-122"/>
                <a:cs typeface="Times New Roman" pitchFamily="18" charset="0"/>
              </a:rPr>
              <a:t>X</a:t>
            </a:r>
            <a:r>
              <a:rPr lang="en-US" altLang="zh-CN" sz="2400" b="1" baseline="-25000" dirty="0" err="1">
                <a:latin typeface="Times New Roman" pitchFamily="18" charset="0"/>
                <a:ea typeface="微软雅黑" pitchFamily="34" charset="-122"/>
                <a:cs typeface="Times New Roman" pitchFamily="18" charset="0"/>
              </a:rPr>
              <a:t>e,</a:t>
            </a:r>
            <a:r>
              <a:rPr lang="en-US" altLang="zh-CN" sz="2400" b="1" i="1" baseline="-25000" dirty="0" err="1">
                <a:latin typeface="Times New Roman" pitchFamily="18" charset="0"/>
                <a:ea typeface="微软雅黑" pitchFamily="34" charset="-122"/>
                <a:cs typeface="Times New Roman" pitchFamily="18" charset="0"/>
              </a:rPr>
              <a:t>λ</a:t>
            </a:r>
            <a:r>
              <a:rPr lang="zh-CN" altLang="en-US" sz="2400" b="1" dirty="0">
                <a:latin typeface="Times New Roman" pitchFamily="18" charset="0"/>
                <a:ea typeface="微软雅黑" pitchFamily="34" charset="-122"/>
                <a:cs typeface="Times New Roman" pitchFamily="18" charset="0"/>
              </a:rPr>
              <a:t>表示。</a:t>
            </a:r>
          </a:p>
        </p:txBody>
      </p:sp>
      <p:sp>
        <p:nvSpPr>
          <p:cNvPr id="22" name="Text Box 8">
            <a:extLst>
              <a:ext uri="{FF2B5EF4-FFF2-40B4-BE49-F238E27FC236}">
                <a16:creationId xmlns:a16="http://schemas.microsoft.com/office/drawing/2014/main" id="{058AF75C-5510-49C4-92D3-BBF74066A780}"/>
              </a:ext>
            </a:extLst>
          </p:cNvPr>
          <p:cNvSpPr txBox="1">
            <a:spLocks noChangeArrowheads="1"/>
          </p:cNvSpPr>
          <p:nvPr/>
        </p:nvSpPr>
        <p:spPr bwMode="auto">
          <a:xfrm>
            <a:off x="675392" y="5343795"/>
            <a:ext cx="8787107"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式中，通用符号</a:t>
            </a:r>
            <a:r>
              <a:rPr kumimoji="1" lang="en-US" altLang="zh-CN" sz="2400" b="1" i="1" dirty="0" err="1">
                <a:latin typeface="Times New Roman" pitchFamily="18" charset="0"/>
                <a:ea typeface="微软雅黑" pitchFamily="34" charset="-122"/>
                <a:cs typeface="Times New Roman" pitchFamily="18" charset="0"/>
              </a:rPr>
              <a:t>X</a:t>
            </a:r>
            <a:r>
              <a:rPr kumimoji="1" lang="en-US" altLang="zh-CN" sz="2400" b="1" baseline="-30000" dirty="0" err="1">
                <a:latin typeface="Times New Roman" pitchFamily="18" charset="0"/>
                <a:ea typeface="微软雅黑" pitchFamily="34" charset="-122"/>
                <a:cs typeface="Times New Roman" pitchFamily="18" charset="0"/>
              </a:rPr>
              <a:t>e,</a:t>
            </a:r>
            <a:r>
              <a:rPr kumimoji="1" lang="en-US" altLang="zh-CN" sz="2400" b="1" i="1" baseline="-30000" dirty="0" err="1">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是波长的函数，代表所有的光谱辐射量，如</a:t>
            </a:r>
            <a:r>
              <a:rPr kumimoji="1" lang="en-US" altLang="zh-CN" sz="2400" b="1" dirty="0">
                <a:latin typeface="Times New Roman" pitchFamily="18" charset="0"/>
                <a:ea typeface="微软雅黑" pitchFamily="34" charset="-122"/>
                <a:cs typeface="Times New Roman" pitchFamily="18" charset="0"/>
              </a:rPr>
              <a:t>:</a:t>
            </a:r>
            <a:endParaRPr kumimoji="1" lang="zh-CN" altLang="en-US" sz="2400" b="1" dirty="0">
              <a:latin typeface="Times New Roman" pitchFamily="18" charset="0"/>
              <a:ea typeface="微软雅黑" pitchFamily="34" charset="-122"/>
              <a:cs typeface="Times New Roman" pitchFamily="18" charset="0"/>
            </a:endParaRPr>
          </a:p>
        </p:txBody>
      </p:sp>
      <p:sp>
        <p:nvSpPr>
          <p:cNvPr id="14" name="Text Box 8">
            <a:extLst>
              <a:ext uri="{FF2B5EF4-FFF2-40B4-BE49-F238E27FC236}">
                <a16:creationId xmlns:a16="http://schemas.microsoft.com/office/drawing/2014/main" id="{058AF75C-5510-49C4-92D3-BBF74066A780}"/>
              </a:ext>
            </a:extLst>
          </p:cNvPr>
          <p:cNvSpPr txBox="1">
            <a:spLocks noChangeArrowheads="1"/>
          </p:cNvSpPr>
          <p:nvPr/>
        </p:nvSpPr>
        <p:spPr bwMode="auto">
          <a:xfrm>
            <a:off x="683174" y="6160660"/>
            <a:ext cx="12318307"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solidFill>
                  <a:srgbClr val="FF0000"/>
                </a:solidFill>
                <a:latin typeface="Times New Roman" pitchFamily="18" charset="0"/>
                <a:ea typeface="微软雅黑" pitchFamily="34" charset="-122"/>
                <a:cs typeface="Times New Roman" pitchFamily="18" charset="0"/>
              </a:rPr>
              <a:t>光谱辐通量</a:t>
            </a:r>
            <a:r>
              <a:rPr kumimoji="1" lang="en-US" altLang="zh-CN" sz="2400" b="1" i="1" dirty="0" err="1">
                <a:solidFill>
                  <a:srgbClr val="FF0000"/>
                </a:solidFill>
                <a:latin typeface="Times New Roman" pitchFamily="18" charset="0"/>
                <a:ea typeface="微软雅黑" pitchFamily="34" charset="-122"/>
                <a:cs typeface="Times New Roman" pitchFamily="18" charset="0"/>
              </a:rPr>
              <a:t>Φ</a:t>
            </a:r>
            <a:r>
              <a:rPr kumimoji="1" lang="en-US" altLang="zh-CN" sz="2400" b="1" baseline="-30000" dirty="0" err="1">
                <a:solidFill>
                  <a:srgbClr val="FF0000"/>
                </a:solidFill>
                <a:latin typeface="Times New Roman" pitchFamily="18" charset="0"/>
                <a:ea typeface="微软雅黑" pitchFamily="34" charset="-122"/>
                <a:cs typeface="Times New Roman" pitchFamily="18" charset="0"/>
              </a:rPr>
              <a:t>e,</a:t>
            </a:r>
            <a:r>
              <a:rPr kumimoji="1" lang="en-US" altLang="zh-CN" sz="2400" b="1" i="1" baseline="-30000" dirty="0" err="1">
                <a:solidFill>
                  <a:srgbClr val="FF0000"/>
                </a:solidFill>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a:t>
            </a:r>
            <a:r>
              <a:rPr kumimoji="1" lang="zh-CN" altLang="en-US" sz="2400" b="1" dirty="0">
                <a:solidFill>
                  <a:srgbClr val="FF0000"/>
                </a:solidFill>
                <a:latin typeface="Times New Roman" pitchFamily="18" charset="0"/>
                <a:ea typeface="微软雅黑" pitchFamily="34" charset="-122"/>
                <a:cs typeface="Times New Roman" pitchFamily="18" charset="0"/>
              </a:rPr>
              <a:t>光谱辐出度</a:t>
            </a:r>
            <a:r>
              <a:rPr kumimoji="1" lang="en-US" altLang="zh-CN" sz="2400" b="1" i="1" dirty="0" err="1">
                <a:solidFill>
                  <a:srgbClr val="FF0000"/>
                </a:solidFill>
                <a:latin typeface="Times New Roman" pitchFamily="18" charset="0"/>
                <a:ea typeface="微软雅黑" pitchFamily="34" charset="-122"/>
                <a:cs typeface="Times New Roman" pitchFamily="18" charset="0"/>
              </a:rPr>
              <a:t>M</a:t>
            </a:r>
            <a:r>
              <a:rPr kumimoji="1" lang="en-US" altLang="zh-CN" sz="2400" b="1" baseline="-30000" dirty="0" err="1">
                <a:solidFill>
                  <a:srgbClr val="FF0000"/>
                </a:solidFill>
                <a:latin typeface="Times New Roman" pitchFamily="18" charset="0"/>
                <a:ea typeface="微软雅黑" pitchFamily="34" charset="-122"/>
                <a:cs typeface="Times New Roman" pitchFamily="18" charset="0"/>
              </a:rPr>
              <a:t>e,</a:t>
            </a:r>
            <a:r>
              <a:rPr kumimoji="1" lang="en-US" altLang="zh-CN" sz="2400" b="1" i="1" baseline="-30000" dirty="0" err="1">
                <a:solidFill>
                  <a:srgbClr val="FF0000"/>
                </a:solidFill>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a:t>
            </a:r>
            <a:r>
              <a:rPr kumimoji="1" lang="zh-CN" altLang="en-US" sz="2400" b="1" dirty="0">
                <a:solidFill>
                  <a:srgbClr val="FF0000"/>
                </a:solidFill>
                <a:latin typeface="Times New Roman" pitchFamily="18" charset="0"/>
                <a:ea typeface="微软雅黑" pitchFamily="34" charset="-122"/>
                <a:cs typeface="Times New Roman" pitchFamily="18" charset="0"/>
              </a:rPr>
              <a:t>光谱辐强度</a:t>
            </a:r>
            <a:r>
              <a:rPr kumimoji="1" lang="en-US" altLang="zh-CN" sz="2400" b="1" i="1" dirty="0" err="1">
                <a:solidFill>
                  <a:srgbClr val="FF0000"/>
                </a:solidFill>
                <a:latin typeface="Times New Roman" pitchFamily="18" charset="0"/>
                <a:ea typeface="微软雅黑" pitchFamily="34" charset="-122"/>
                <a:cs typeface="Times New Roman" pitchFamily="18" charset="0"/>
              </a:rPr>
              <a:t>I</a:t>
            </a:r>
            <a:r>
              <a:rPr kumimoji="1" lang="en-US" altLang="zh-CN" sz="2400" b="1" baseline="-30000" dirty="0" err="1">
                <a:solidFill>
                  <a:srgbClr val="FF0000"/>
                </a:solidFill>
                <a:latin typeface="Times New Roman" pitchFamily="18" charset="0"/>
                <a:ea typeface="微软雅黑" pitchFamily="34" charset="-122"/>
                <a:cs typeface="Times New Roman" pitchFamily="18" charset="0"/>
              </a:rPr>
              <a:t>e,</a:t>
            </a:r>
            <a:r>
              <a:rPr kumimoji="1" lang="en-US" altLang="zh-CN" sz="2400" b="1" i="1" baseline="-30000" dirty="0" err="1">
                <a:solidFill>
                  <a:srgbClr val="FF0000"/>
                </a:solidFill>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a:t>
            </a:r>
            <a:r>
              <a:rPr kumimoji="1" lang="zh-CN" altLang="en-US" sz="2400" b="1" dirty="0">
                <a:solidFill>
                  <a:srgbClr val="FF0000"/>
                </a:solidFill>
                <a:latin typeface="Times New Roman" pitchFamily="18" charset="0"/>
                <a:ea typeface="微软雅黑" pitchFamily="34" charset="-122"/>
                <a:cs typeface="Times New Roman" pitchFamily="18" charset="0"/>
              </a:rPr>
              <a:t>光谱辐亮度</a:t>
            </a:r>
            <a:r>
              <a:rPr kumimoji="1" lang="en-US" altLang="zh-CN" sz="2400" b="1" i="1" dirty="0" err="1">
                <a:solidFill>
                  <a:srgbClr val="FF0000"/>
                </a:solidFill>
                <a:latin typeface="Times New Roman" pitchFamily="18" charset="0"/>
                <a:ea typeface="微软雅黑" pitchFamily="34" charset="-122"/>
                <a:cs typeface="Times New Roman" pitchFamily="18" charset="0"/>
              </a:rPr>
              <a:t>L</a:t>
            </a:r>
            <a:r>
              <a:rPr kumimoji="1" lang="en-US" altLang="zh-CN" sz="2400" b="1" baseline="-30000" dirty="0" err="1">
                <a:solidFill>
                  <a:srgbClr val="FF0000"/>
                </a:solidFill>
                <a:latin typeface="Times New Roman" pitchFamily="18" charset="0"/>
                <a:ea typeface="微软雅黑" pitchFamily="34" charset="-122"/>
                <a:cs typeface="Times New Roman" pitchFamily="18" charset="0"/>
              </a:rPr>
              <a:t>e,</a:t>
            </a:r>
            <a:r>
              <a:rPr kumimoji="1" lang="en-US" altLang="zh-CN" sz="2400" b="1" i="1" baseline="-30000" dirty="0" err="1">
                <a:solidFill>
                  <a:srgbClr val="FF0000"/>
                </a:solidFill>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a:t>
            </a:r>
            <a:r>
              <a:rPr kumimoji="1" lang="zh-CN" altLang="en-US" sz="2400" b="1" dirty="0">
                <a:solidFill>
                  <a:srgbClr val="FF0000"/>
                </a:solidFill>
                <a:latin typeface="Times New Roman" pitchFamily="18" charset="0"/>
                <a:ea typeface="微软雅黑" pitchFamily="34" charset="-122"/>
                <a:cs typeface="Times New Roman" pitchFamily="18" charset="0"/>
              </a:rPr>
              <a:t>光谱辐照度</a:t>
            </a:r>
            <a:r>
              <a:rPr kumimoji="1" lang="en-US" altLang="zh-CN" sz="2400" b="1" i="1" dirty="0" err="1">
                <a:solidFill>
                  <a:srgbClr val="FF0000"/>
                </a:solidFill>
                <a:latin typeface="Times New Roman" pitchFamily="18" charset="0"/>
                <a:ea typeface="微软雅黑" pitchFamily="34" charset="-122"/>
                <a:cs typeface="Times New Roman" pitchFamily="18" charset="0"/>
              </a:rPr>
              <a:t>E</a:t>
            </a:r>
            <a:r>
              <a:rPr kumimoji="1" lang="en-US" altLang="zh-CN" sz="2400" b="1" baseline="-30000" dirty="0" err="1">
                <a:solidFill>
                  <a:srgbClr val="FF0000"/>
                </a:solidFill>
                <a:latin typeface="Times New Roman" pitchFamily="18" charset="0"/>
                <a:ea typeface="微软雅黑" pitchFamily="34" charset="-122"/>
                <a:cs typeface="Times New Roman" pitchFamily="18" charset="0"/>
              </a:rPr>
              <a:t>e,</a:t>
            </a:r>
            <a:r>
              <a:rPr kumimoji="1" lang="en-US" altLang="zh-CN" sz="2400" b="1" i="1" baseline="-30000" dirty="0" err="1">
                <a:solidFill>
                  <a:srgbClr val="FF0000"/>
                </a:solidFill>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等。 </a:t>
            </a:r>
          </a:p>
        </p:txBody>
      </p:sp>
      <p:sp>
        <p:nvSpPr>
          <p:cNvPr id="15"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16"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746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ox(in)">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ox(in)">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ox(in)">
                                      <p:cBhvr>
                                        <p:cTn id="23" dur="500"/>
                                        <p:tgtEl>
                                          <p:spTgt spid="19"/>
                                        </p:tgtEl>
                                      </p:cBhvr>
                                    </p:animEffect>
                                  </p:childTnLst>
                                </p:cTn>
                              </p:par>
                            </p:childTnLst>
                          </p:cTn>
                        </p:par>
                        <p:par>
                          <p:cTn id="24" fill="hold">
                            <p:stCondLst>
                              <p:cond delay="500"/>
                            </p:stCondLst>
                            <p:childTnLst>
                              <p:par>
                                <p:cTn id="25" presetID="4" presetClass="entr" presetSubtype="16"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ox(in)">
                                      <p:cBhvr>
                                        <p:cTn id="27" dur="500"/>
                                        <p:tgtEl>
                                          <p:spTgt spid="22"/>
                                        </p:tgtEl>
                                      </p:cBhvr>
                                    </p:animEffect>
                                  </p:childTnLst>
                                </p:cTn>
                              </p:par>
                            </p:childTnLst>
                          </p:cTn>
                        </p:par>
                        <p:par>
                          <p:cTn id="28" fill="hold">
                            <p:stCondLst>
                              <p:cond delay="1000"/>
                            </p:stCondLst>
                            <p:childTnLst>
                              <p:par>
                                <p:cTn id="29" presetID="4"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ox(in)">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Text Box 6">
            <a:extLst>
              <a:ext uri="{FF2B5EF4-FFF2-40B4-BE49-F238E27FC236}">
                <a16:creationId xmlns:a16="http://schemas.microsoft.com/office/drawing/2014/main" id="{652671C2-AA0D-41D4-8AFC-9AFC1C55C717}"/>
              </a:ext>
            </a:extLst>
          </p:cNvPr>
          <p:cNvSpPr txBox="1">
            <a:spLocks noChangeArrowheads="1"/>
          </p:cNvSpPr>
          <p:nvPr/>
        </p:nvSpPr>
        <p:spPr bwMode="auto">
          <a:xfrm>
            <a:off x="1663050" y="1453660"/>
            <a:ext cx="2897863" cy="52322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9525">
            <a:noFill/>
            <a:miter lim="800000"/>
            <a:headEnd/>
            <a:tailEnd/>
          </a:ln>
        </p:spPr>
        <p:txBody>
          <a:bodyPr wrap="square">
            <a:spAutoFit/>
          </a:bodyPr>
          <a:lstStyle/>
          <a:p>
            <a:pPr algn="ctr" defTabSz="914400">
              <a:spcBef>
                <a:spcPct val="50000"/>
              </a:spcBef>
            </a:pPr>
            <a:r>
              <a:rPr lang="zh-CN" altLang="en-US" sz="2800" b="1" dirty="0">
                <a:latin typeface="Times New Roman" pitchFamily="18" charset="0"/>
                <a:ea typeface="微软雅黑" pitchFamily="34" charset="-122"/>
                <a:cs typeface="Times New Roman" pitchFamily="18" charset="0"/>
              </a:rPr>
              <a:t>如：光谱辐通量</a:t>
            </a:r>
          </a:p>
        </p:txBody>
      </p:sp>
      <p:sp>
        <p:nvSpPr>
          <p:cNvPr id="15" name="Rectangle 7">
            <a:extLst>
              <a:ext uri="{FF2B5EF4-FFF2-40B4-BE49-F238E27FC236}">
                <a16:creationId xmlns:a16="http://schemas.microsoft.com/office/drawing/2014/main" id="{D2377031-A847-43A0-A954-0BC3708D3116}"/>
              </a:ext>
            </a:extLst>
          </p:cNvPr>
          <p:cNvSpPr>
            <a:spLocks noChangeArrowheads="1"/>
          </p:cNvSpPr>
          <p:nvPr/>
        </p:nvSpPr>
        <p:spPr bwMode="auto">
          <a:xfrm>
            <a:off x="716756" y="5633828"/>
            <a:ext cx="12311197" cy="1134862"/>
          </a:xfrm>
          <a:prstGeom prst="rect">
            <a:avLst/>
          </a:prstGeom>
          <a:solidFill>
            <a:schemeClr val="accent6">
              <a:lumMod val="40000"/>
              <a:lumOff val="60000"/>
            </a:schemeClr>
          </a:solidFill>
          <a:ln w="9525">
            <a:noFill/>
            <a:miter lim="800000"/>
            <a:headEnd/>
            <a:tailEnd/>
          </a:ln>
        </p:spPr>
        <p:txBody>
          <a:bodyPr wrap="square" anchor="ctr">
            <a:spAutoFit/>
          </a:bodyPr>
          <a:lstStyle/>
          <a:p>
            <a:pPr defTabSz="914400">
              <a:lnSpc>
                <a:spcPct val="150000"/>
              </a:lnSpc>
              <a:defRPr/>
            </a:pPr>
            <a:r>
              <a:rPr lang="zh-CN" altLang="en-US" sz="2400" b="1" dirty="0">
                <a:latin typeface="Times New Roman" pitchFamily="18" charset="0"/>
                <a:ea typeface="微软雅黑" pitchFamily="34" charset="-122"/>
                <a:cs typeface="Times New Roman" pitchFamily="18" charset="0"/>
              </a:rPr>
              <a:t>光谱辐射量是该辐射量在波长</a:t>
            </a:r>
            <a:r>
              <a:rPr lang="en-US" altLang="zh-CN" sz="2400" b="1" i="1" dirty="0">
                <a:latin typeface="Times New Roman" pitchFamily="18" charset="0"/>
                <a:ea typeface="微软雅黑" pitchFamily="34" charset="-122"/>
                <a:cs typeface="Times New Roman" pitchFamily="18" charset="0"/>
              </a:rPr>
              <a:t>λ</a:t>
            </a:r>
            <a:r>
              <a:rPr lang="zh-CN" altLang="en-US" sz="2400" b="1" dirty="0">
                <a:latin typeface="Times New Roman" pitchFamily="18" charset="0"/>
                <a:ea typeface="微软雅黑" pitchFamily="34" charset="-122"/>
                <a:cs typeface="Times New Roman" pitchFamily="18" charset="0"/>
              </a:rPr>
              <a:t>处的单位波长间隔内的大小，又叫辐射量的光谱密度，是辐射量随波长的变化率。</a:t>
            </a:r>
          </a:p>
        </p:txBody>
      </p:sp>
      <p:graphicFrame>
        <p:nvGraphicFramePr>
          <p:cNvPr id="16" name="Object 7">
            <a:extLst>
              <a:ext uri="{FF2B5EF4-FFF2-40B4-BE49-F238E27FC236}">
                <a16:creationId xmlns:a16="http://schemas.microsoft.com/office/drawing/2014/main" id="{5DD67C56-5F18-4A6D-B238-CC2FC0B70024}"/>
              </a:ext>
            </a:extLst>
          </p:cNvPr>
          <p:cNvGraphicFramePr>
            <a:graphicFrameLocks noChangeAspect="1"/>
          </p:cNvGraphicFramePr>
          <p:nvPr>
            <p:extLst>
              <p:ext uri="{D42A27DB-BD31-4B8C-83A1-F6EECF244321}">
                <p14:modId xmlns:p14="http://schemas.microsoft.com/office/powerpoint/2010/main" val="178971538"/>
              </p:ext>
            </p:extLst>
          </p:nvPr>
        </p:nvGraphicFramePr>
        <p:xfrm>
          <a:off x="1759624" y="2645815"/>
          <a:ext cx="1974850" cy="1055687"/>
        </p:xfrm>
        <a:graphic>
          <a:graphicData uri="http://schemas.openxmlformats.org/presentationml/2006/ole">
            <mc:AlternateContent xmlns:mc="http://schemas.openxmlformats.org/markup-compatibility/2006">
              <mc:Choice xmlns:v="urn:schemas-microsoft-com:vml" Requires="v">
                <p:oleObj name="Equation" r:id="rId2" imgW="736560" imgH="393480" progId="Equation.DSMT4">
                  <p:embed/>
                </p:oleObj>
              </mc:Choice>
              <mc:Fallback>
                <p:oleObj name="Equation" r:id="rId2" imgW="736560" imgH="393480" progId="Equation.DSMT4">
                  <p:embed/>
                  <p:pic>
                    <p:nvPicPr>
                      <p:cNvPr id="289799"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9624" y="2645815"/>
                        <a:ext cx="1974850" cy="10556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任意多边形 11">
            <a:extLst>
              <a:ext uri="{FF2B5EF4-FFF2-40B4-BE49-F238E27FC236}">
                <a16:creationId xmlns:a16="http://schemas.microsoft.com/office/drawing/2014/main" id="{42E9F987-1CD6-4614-8A74-E5F46469E430}"/>
              </a:ext>
            </a:extLst>
          </p:cNvPr>
          <p:cNvSpPr/>
          <p:nvPr/>
        </p:nvSpPr>
        <p:spPr>
          <a:xfrm>
            <a:off x="7792004" y="1899024"/>
            <a:ext cx="3375912" cy="2249443"/>
          </a:xfrm>
          <a:custGeom>
            <a:avLst/>
            <a:gdLst>
              <a:gd name="connsiteX0" fmla="*/ 0 w 3375912"/>
              <a:gd name="connsiteY0" fmla="*/ 2249443 h 2249443"/>
              <a:gd name="connsiteX1" fmla="*/ 117008 w 3375912"/>
              <a:gd name="connsiteY1" fmla="*/ 2180105 h 2249443"/>
              <a:gd name="connsiteX2" fmla="*/ 286020 w 3375912"/>
              <a:gd name="connsiteY2" fmla="*/ 2058762 h 2249443"/>
              <a:gd name="connsiteX3" fmla="*/ 433365 w 3375912"/>
              <a:gd name="connsiteY3" fmla="*/ 1889750 h 2249443"/>
              <a:gd name="connsiteX4" fmla="*/ 619711 w 3375912"/>
              <a:gd name="connsiteY4" fmla="*/ 1621064 h 2249443"/>
              <a:gd name="connsiteX5" fmla="*/ 823393 w 3375912"/>
              <a:gd name="connsiteY5" fmla="*/ 1278706 h 2249443"/>
              <a:gd name="connsiteX6" fmla="*/ 957736 w 3375912"/>
              <a:gd name="connsiteY6" fmla="*/ 979684 h 2249443"/>
              <a:gd name="connsiteX7" fmla="*/ 1074745 w 3375912"/>
              <a:gd name="connsiteY7" fmla="*/ 680662 h 2249443"/>
              <a:gd name="connsiteX8" fmla="*/ 1165751 w 3375912"/>
              <a:gd name="connsiteY8" fmla="*/ 411976 h 2249443"/>
              <a:gd name="connsiteX9" fmla="*/ 1204754 w 3375912"/>
              <a:gd name="connsiteY9" fmla="*/ 299301 h 2249443"/>
              <a:gd name="connsiteX10" fmla="*/ 1256758 w 3375912"/>
              <a:gd name="connsiteY10" fmla="*/ 186626 h 2249443"/>
              <a:gd name="connsiteX11" fmla="*/ 1291427 w 3375912"/>
              <a:gd name="connsiteY11" fmla="*/ 121621 h 2249443"/>
              <a:gd name="connsiteX12" fmla="*/ 1365099 w 3375912"/>
              <a:gd name="connsiteY12" fmla="*/ 56616 h 2249443"/>
              <a:gd name="connsiteX13" fmla="*/ 1425770 w 3375912"/>
              <a:gd name="connsiteY13" fmla="*/ 13280 h 2249443"/>
              <a:gd name="connsiteX14" fmla="*/ 1525444 w 3375912"/>
              <a:gd name="connsiteY14" fmla="*/ 279 h 2249443"/>
              <a:gd name="connsiteX15" fmla="*/ 1607783 w 3375912"/>
              <a:gd name="connsiteY15" fmla="*/ 8946 h 2249443"/>
              <a:gd name="connsiteX16" fmla="*/ 1677122 w 3375912"/>
              <a:gd name="connsiteY16" fmla="*/ 56616 h 2249443"/>
              <a:gd name="connsiteX17" fmla="*/ 1755128 w 3375912"/>
              <a:gd name="connsiteY17" fmla="*/ 147623 h 2249443"/>
              <a:gd name="connsiteX18" fmla="*/ 1837467 w 3375912"/>
              <a:gd name="connsiteY18" fmla="*/ 290633 h 2249443"/>
              <a:gd name="connsiteX19" fmla="*/ 1984811 w 3375912"/>
              <a:gd name="connsiteY19" fmla="*/ 546319 h 2249443"/>
              <a:gd name="connsiteX20" fmla="*/ 2262165 w 3375912"/>
              <a:gd name="connsiteY20" fmla="*/ 992685 h 2249443"/>
              <a:gd name="connsiteX21" fmla="*/ 2617524 w 3375912"/>
              <a:gd name="connsiteY21" fmla="*/ 1521390 h 2249443"/>
              <a:gd name="connsiteX22" fmla="*/ 2829873 w 3375912"/>
              <a:gd name="connsiteY22" fmla="*/ 1816078 h 2249443"/>
              <a:gd name="connsiteX23" fmla="*/ 3016219 w 3375912"/>
              <a:gd name="connsiteY23" fmla="*/ 2050095 h 2249443"/>
              <a:gd name="connsiteX24" fmla="*/ 3137562 w 3375912"/>
              <a:gd name="connsiteY24" fmla="*/ 2149769 h 2249443"/>
              <a:gd name="connsiteX25" fmla="*/ 3375912 w 3375912"/>
              <a:gd name="connsiteY25" fmla="*/ 2245109 h 224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75912" h="2249443">
                <a:moveTo>
                  <a:pt x="0" y="2249443"/>
                </a:moveTo>
                <a:cubicBezTo>
                  <a:pt x="34669" y="2230664"/>
                  <a:pt x="69338" y="2211885"/>
                  <a:pt x="117008" y="2180105"/>
                </a:cubicBezTo>
                <a:cubicBezTo>
                  <a:pt x="164678" y="2148325"/>
                  <a:pt x="233294" y="2107154"/>
                  <a:pt x="286020" y="2058762"/>
                </a:cubicBezTo>
                <a:cubicBezTo>
                  <a:pt x="338746" y="2010370"/>
                  <a:pt x="377750" y="1962700"/>
                  <a:pt x="433365" y="1889750"/>
                </a:cubicBezTo>
                <a:cubicBezTo>
                  <a:pt x="488980" y="1816800"/>
                  <a:pt x="554706" y="1722905"/>
                  <a:pt x="619711" y="1621064"/>
                </a:cubicBezTo>
                <a:cubicBezTo>
                  <a:pt x="684716" y="1519223"/>
                  <a:pt x="767056" y="1385603"/>
                  <a:pt x="823393" y="1278706"/>
                </a:cubicBezTo>
                <a:cubicBezTo>
                  <a:pt x="879731" y="1171809"/>
                  <a:pt x="915844" y="1079358"/>
                  <a:pt x="957736" y="979684"/>
                </a:cubicBezTo>
                <a:cubicBezTo>
                  <a:pt x="999628" y="880010"/>
                  <a:pt x="1040076" y="775280"/>
                  <a:pt x="1074745" y="680662"/>
                </a:cubicBezTo>
                <a:cubicBezTo>
                  <a:pt x="1109414" y="586044"/>
                  <a:pt x="1144083" y="475536"/>
                  <a:pt x="1165751" y="411976"/>
                </a:cubicBezTo>
                <a:cubicBezTo>
                  <a:pt x="1187419" y="348416"/>
                  <a:pt x="1189586" y="336859"/>
                  <a:pt x="1204754" y="299301"/>
                </a:cubicBezTo>
                <a:cubicBezTo>
                  <a:pt x="1219922" y="261743"/>
                  <a:pt x="1242313" y="216239"/>
                  <a:pt x="1256758" y="186626"/>
                </a:cubicBezTo>
                <a:cubicBezTo>
                  <a:pt x="1271203" y="157013"/>
                  <a:pt x="1273370" y="143289"/>
                  <a:pt x="1291427" y="121621"/>
                </a:cubicBezTo>
                <a:cubicBezTo>
                  <a:pt x="1309484" y="99953"/>
                  <a:pt x="1342708" y="74673"/>
                  <a:pt x="1365099" y="56616"/>
                </a:cubicBezTo>
                <a:cubicBezTo>
                  <a:pt x="1387490" y="38559"/>
                  <a:pt x="1399046" y="22669"/>
                  <a:pt x="1425770" y="13280"/>
                </a:cubicBezTo>
                <a:cubicBezTo>
                  <a:pt x="1452494" y="3891"/>
                  <a:pt x="1495109" y="1001"/>
                  <a:pt x="1525444" y="279"/>
                </a:cubicBezTo>
                <a:cubicBezTo>
                  <a:pt x="1555779" y="-443"/>
                  <a:pt x="1582503" y="-444"/>
                  <a:pt x="1607783" y="8946"/>
                </a:cubicBezTo>
                <a:cubicBezTo>
                  <a:pt x="1633063" y="18335"/>
                  <a:pt x="1652565" y="33503"/>
                  <a:pt x="1677122" y="56616"/>
                </a:cubicBezTo>
                <a:cubicBezTo>
                  <a:pt x="1701679" y="79729"/>
                  <a:pt x="1728404" y="108620"/>
                  <a:pt x="1755128" y="147623"/>
                </a:cubicBezTo>
                <a:cubicBezTo>
                  <a:pt x="1781852" y="186626"/>
                  <a:pt x="1837467" y="290633"/>
                  <a:pt x="1837467" y="290633"/>
                </a:cubicBezTo>
                <a:cubicBezTo>
                  <a:pt x="1875748" y="357082"/>
                  <a:pt x="1914028" y="429310"/>
                  <a:pt x="1984811" y="546319"/>
                </a:cubicBezTo>
                <a:cubicBezTo>
                  <a:pt x="2055594" y="663328"/>
                  <a:pt x="2156713" y="830173"/>
                  <a:pt x="2262165" y="992685"/>
                </a:cubicBezTo>
                <a:cubicBezTo>
                  <a:pt x="2367617" y="1155197"/>
                  <a:pt x="2522906" y="1384158"/>
                  <a:pt x="2617524" y="1521390"/>
                </a:cubicBezTo>
                <a:cubicBezTo>
                  <a:pt x="2712142" y="1658622"/>
                  <a:pt x="2763424" y="1727961"/>
                  <a:pt x="2829873" y="1816078"/>
                </a:cubicBezTo>
                <a:cubicBezTo>
                  <a:pt x="2896322" y="1904195"/>
                  <a:pt x="2964938" y="1994480"/>
                  <a:pt x="3016219" y="2050095"/>
                </a:cubicBezTo>
                <a:cubicBezTo>
                  <a:pt x="3067501" y="2105710"/>
                  <a:pt x="3077613" y="2117267"/>
                  <a:pt x="3137562" y="2149769"/>
                </a:cubicBezTo>
                <a:cubicBezTo>
                  <a:pt x="3197511" y="2182271"/>
                  <a:pt x="3286711" y="2213690"/>
                  <a:pt x="3375912" y="2245109"/>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a:extLst>
              <a:ext uri="{FF2B5EF4-FFF2-40B4-BE49-F238E27FC236}">
                <a16:creationId xmlns:a16="http://schemas.microsoft.com/office/drawing/2014/main" id="{598DF771-3B0B-43CD-9C19-51E46388C9E0}"/>
              </a:ext>
            </a:extLst>
          </p:cNvPr>
          <p:cNvCxnSpPr/>
          <p:nvPr/>
        </p:nvCxnSpPr>
        <p:spPr>
          <a:xfrm flipV="1">
            <a:off x="7455369" y="4220668"/>
            <a:ext cx="4276725" cy="96171"/>
          </a:xfrm>
          <a:prstGeom prst="straightConnector1">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F830B7D-67F3-4372-99D2-67BF676829A8}"/>
              </a:ext>
            </a:extLst>
          </p:cNvPr>
          <p:cNvCxnSpPr/>
          <p:nvPr/>
        </p:nvCxnSpPr>
        <p:spPr>
          <a:xfrm flipV="1">
            <a:off x="7455369" y="1508325"/>
            <a:ext cx="0" cy="2808514"/>
          </a:xfrm>
          <a:prstGeom prst="straightConnector1">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CDE3770-85AE-4E3A-A293-C417323C4DBE}"/>
              </a:ext>
            </a:extLst>
          </p:cNvPr>
          <p:cNvCxnSpPr/>
          <p:nvPr/>
        </p:nvCxnSpPr>
        <p:spPr>
          <a:xfrm>
            <a:off x="8866749" y="2590837"/>
            <a:ext cx="14649" cy="168511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3CD3A44-F9C9-4FD3-94A1-F87FD94D9722}"/>
              </a:ext>
            </a:extLst>
          </p:cNvPr>
          <p:cNvCxnSpPr/>
          <p:nvPr/>
        </p:nvCxnSpPr>
        <p:spPr>
          <a:xfrm>
            <a:off x="9031077" y="2156690"/>
            <a:ext cx="840" cy="2111828"/>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ED438E01-2D67-495F-8169-8F9B8FD65524}"/>
              </a:ext>
            </a:extLst>
          </p:cNvPr>
          <p:cNvGrpSpPr/>
          <p:nvPr/>
        </p:nvGrpSpPr>
        <p:grpSpPr>
          <a:xfrm>
            <a:off x="8881397" y="2344449"/>
            <a:ext cx="150520" cy="1931424"/>
            <a:chOff x="7903028" y="2380985"/>
            <a:chExt cx="150520" cy="1931424"/>
          </a:xfrm>
        </p:grpSpPr>
        <p:cxnSp>
          <p:nvCxnSpPr>
            <p:cNvPr id="31" name="直接连接符 30">
              <a:extLst>
                <a:ext uri="{FF2B5EF4-FFF2-40B4-BE49-F238E27FC236}">
                  <a16:creationId xmlns:a16="http://schemas.microsoft.com/office/drawing/2014/main" id="{C643253C-3068-4304-81F3-A468FCC270DE}"/>
                </a:ext>
              </a:extLst>
            </p:cNvPr>
            <p:cNvCxnSpPr/>
            <p:nvPr/>
          </p:nvCxnSpPr>
          <p:spPr>
            <a:xfrm flipH="1">
              <a:off x="7904869" y="2380985"/>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E848891-3EFB-4A4A-BA36-1C2D85DA1299}"/>
                </a:ext>
              </a:extLst>
            </p:cNvPr>
            <p:cNvCxnSpPr/>
            <p:nvPr/>
          </p:nvCxnSpPr>
          <p:spPr>
            <a:xfrm flipH="1">
              <a:off x="7909688" y="2667247"/>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BA79C06F-8E4F-451B-82D5-B36E2768B3AD}"/>
                </a:ext>
              </a:extLst>
            </p:cNvPr>
            <p:cNvCxnSpPr/>
            <p:nvPr/>
          </p:nvCxnSpPr>
          <p:spPr>
            <a:xfrm flipH="1">
              <a:off x="7903029" y="3038078"/>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C611C7F-1E80-4FC8-A359-362E1BB00EF2}"/>
                </a:ext>
              </a:extLst>
            </p:cNvPr>
            <p:cNvCxnSpPr/>
            <p:nvPr/>
          </p:nvCxnSpPr>
          <p:spPr>
            <a:xfrm flipH="1">
              <a:off x="7909687" y="3336568"/>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B8E5010-B0FD-48B5-81BB-9F993921C142}"/>
                </a:ext>
              </a:extLst>
            </p:cNvPr>
            <p:cNvCxnSpPr/>
            <p:nvPr/>
          </p:nvCxnSpPr>
          <p:spPr>
            <a:xfrm flipH="1">
              <a:off x="7903028" y="3657550"/>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87DB3C3-E218-4F54-BA84-1A559CD3EBD7}"/>
                </a:ext>
              </a:extLst>
            </p:cNvPr>
            <p:cNvCxnSpPr/>
            <p:nvPr/>
          </p:nvCxnSpPr>
          <p:spPr>
            <a:xfrm flipH="1">
              <a:off x="7919905" y="3929350"/>
              <a:ext cx="133643" cy="38305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38" name="Object 7">
            <a:extLst>
              <a:ext uri="{FF2B5EF4-FFF2-40B4-BE49-F238E27FC236}">
                <a16:creationId xmlns:a16="http://schemas.microsoft.com/office/drawing/2014/main" id="{772A3ACC-E4BE-41E2-B79A-BCCD943A4C2A}"/>
              </a:ext>
            </a:extLst>
          </p:cNvPr>
          <p:cNvGraphicFramePr>
            <a:graphicFrameLocks noChangeAspect="1"/>
          </p:cNvGraphicFramePr>
          <p:nvPr>
            <p:extLst>
              <p:ext uri="{D42A27DB-BD31-4B8C-83A1-F6EECF244321}">
                <p14:modId xmlns:p14="http://schemas.microsoft.com/office/powerpoint/2010/main" val="2593822437"/>
              </p:ext>
            </p:extLst>
          </p:nvPr>
        </p:nvGraphicFramePr>
        <p:xfrm>
          <a:off x="6834546" y="1508325"/>
          <a:ext cx="568377" cy="469228"/>
        </p:xfrm>
        <a:graphic>
          <a:graphicData uri="http://schemas.openxmlformats.org/presentationml/2006/ole">
            <mc:AlternateContent xmlns:mc="http://schemas.openxmlformats.org/markup-compatibility/2006">
              <mc:Choice xmlns:v="urn:schemas-microsoft-com:vml" Requires="v">
                <p:oleObj name="Equation" r:id="rId4" imgW="291960" imgH="241200" progId="Equation.DSMT4">
                  <p:embed/>
                </p:oleObj>
              </mc:Choice>
              <mc:Fallback>
                <p:oleObj name="Equation" r:id="rId4" imgW="291960" imgH="241200" progId="Equation.DSMT4">
                  <p:embed/>
                  <p:pic>
                    <p:nvPicPr>
                      <p:cNvPr id="25" name="Object 7"/>
                      <p:cNvPicPr>
                        <a:picLocks noChangeAspect="1" noChangeArrowheads="1"/>
                      </p:cNvPicPr>
                      <p:nvPr/>
                    </p:nvPicPr>
                    <p:blipFill>
                      <a:blip r:embed="rId5"/>
                      <a:srcRect/>
                      <a:stretch>
                        <a:fillRect/>
                      </a:stretch>
                    </p:blipFill>
                    <p:spPr bwMode="auto">
                      <a:xfrm>
                        <a:off x="6834546" y="1508325"/>
                        <a:ext cx="568377" cy="469228"/>
                      </a:xfrm>
                      <a:prstGeom prst="rect">
                        <a:avLst/>
                      </a:prstGeom>
                      <a:solidFill>
                        <a:schemeClr val="bg1"/>
                      </a:solidFill>
                      <a:ln>
                        <a:noFill/>
                      </a:ln>
                      <a:effectLst/>
                    </p:spPr>
                  </p:pic>
                </p:oleObj>
              </mc:Fallback>
            </mc:AlternateContent>
          </a:graphicData>
        </a:graphic>
      </p:graphicFrame>
      <p:graphicFrame>
        <p:nvGraphicFramePr>
          <p:cNvPr id="39" name="Object 7">
            <a:extLst>
              <a:ext uri="{FF2B5EF4-FFF2-40B4-BE49-F238E27FC236}">
                <a16:creationId xmlns:a16="http://schemas.microsoft.com/office/drawing/2014/main" id="{907A6738-5D3C-4200-A509-241EAC955A6B}"/>
              </a:ext>
            </a:extLst>
          </p:cNvPr>
          <p:cNvGraphicFramePr>
            <a:graphicFrameLocks noChangeAspect="1"/>
          </p:cNvGraphicFramePr>
          <p:nvPr>
            <p:extLst>
              <p:ext uri="{D42A27DB-BD31-4B8C-83A1-F6EECF244321}">
                <p14:modId xmlns:p14="http://schemas.microsoft.com/office/powerpoint/2010/main" val="1334069297"/>
              </p:ext>
            </p:extLst>
          </p:nvPr>
        </p:nvGraphicFramePr>
        <p:xfrm>
          <a:off x="11390179" y="4268518"/>
          <a:ext cx="351292" cy="445790"/>
        </p:xfrm>
        <a:graphic>
          <a:graphicData uri="http://schemas.openxmlformats.org/presentationml/2006/ole">
            <mc:AlternateContent xmlns:mc="http://schemas.openxmlformats.org/markup-compatibility/2006">
              <mc:Choice xmlns:v="urn:schemas-microsoft-com:vml" Requires="v">
                <p:oleObj name="Equation" r:id="rId6" imgW="139680" imgH="177480" progId="Equation.DSMT4">
                  <p:embed/>
                </p:oleObj>
              </mc:Choice>
              <mc:Fallback>
                <p:oleObj name="Equation" r:id="rId6" imgW="139680" imgH="177480" progId="Equation.DSMT4">
                  <p:embed/>
                  <p:pic>
                    <p:nvPicPr>
                      <p:cNvPr id="26" name="Object 7"/>
                      <p:cNvPicPr>
                        <a:picLocks noChangeAspect="1" noChangeArrowheads="1"/>
                      </p:cNvPicPr>
                      <p:nvPr/>
                    </p:nvPicPr>
                    <p:blipFill>
                      <a:blip r:embed="rId7"/>
                      <a:srcRect/>
                      <a:stretch>
                        <a:fillRect/>
                      </a:stretch>
                    </p:blipFill>
                    <p:spPr bwMode="auto">
                      <a:xfrm>
                        <a:off x="11390179" y="4268518"/>
                        <a:ext cx="351292" cy="445790"/>
                      </a:xfrm>
                      <a:prstGeom prst="rect">
                        <a:avLst/>
                      </a:prstGeom>
                      <a:solidFill>
                        <a:schemeClr val="bg1"/>
                      </a:solidFill>
                      <a:ln>
                        <a:noFill/>
                      </a:ln>
                      <a:effectLst/>
                    </p:spPr>
                  </p:pic>
                </p:oleObj>
              </mc:Fallback>
            </mc:AlternateContent>
          </a:graphicData>
        </a:graphic>
      </p:graphicFrame>
      <p:graphicFrame>
        <p:nvGraphicFramePr>
          <p:cNvPr id="41" name="Object 7">
            <a:extLst>
              <a:ext uri="{FF2B5EF4-FFF2-40B4-BE49-F238E27FC236}">
                <a16:creationId xmlns:a16="http://schemas.microsoft.com/office/drawing/2014/main" id="{AA316783-B709-4806-9C69-115B36136D96}"/>
              </a:ext>
            </a:extLst>
          </p:cNvPr>
          <p:cNvGraphicFramePr>
            <a:graphicFrameLocks noChangeAspect="1"/>
          </p:cNvGraphicFramePr>
          <p:nvPr>
            <p:extLst>
              <p:ext uri="{D42A27DB-BD31-4B8C-83A1-F6EECF244321}">
                <p14:modId xmlns:p14="http://schemas.microsoft.com/office/powerpoint/2010/main" val="2653013168"/>
              </p:ext>
            </p:extLst>
          </p:nvPr>
        </p:nvGraphicFramePr>
        <p:xfrm>
          <a:off x="8730372" y="4319770"/>
          <a:ext cx="226732" cy="287723"/>
        </p:xfrm>
        <a:graphic>
          <a:graphicData uri="http://schemas.openxmlformats.org/presentationml/2006/ole">
            <mc:AlternateContent xmlns:mc="http://schemas.openxmlformats.org/markup-compatibility/2006">
              <mc:Choice xmlns:v="urn:schemas-microsoft-com:vml" Requires="v">
                <p:oleObj name="Equation" r:id="rId6" imgW="139680" imgH="177480" progId="Equation.DSMT4">
                  <p:embed/>
                </p:oleObj>
              </mc:Choice>
              <mc:Fallback>
                <p:oleObj name="Equation" r:id="rId6" imgW="139680" imgH="177480" progId="Equation.DSMT4">
                  <p:embed/>
                  <p:pic>
                    <p:nvPicPr>
                      <p:cNvPr id="27" name="Object 7"/>
                      <p:cNvPicPr>
                        <a:picLocks noChangeAspect="1" noChangeArrowheads="1"/>
                      </p:cNvPicPr>
                      <p:nvPr/>
                    </p:nvPicPr>
                    <p:blipFill>
                      <a:blip r:embed="rId7"/>
                      <a:srcRect/>
                      <a:stretch>
                        <a:fillRect/>
                      </a:stretch>
                    </p:blipFill>
                    <p:spPr bwMode="auto">
                      <a:xfrm>
                        <a:off x="8730372" y="4319770"/>
                        <a:ext cx="226732" cy="287723"/>
                      </a:xfrm>
                      <a:prstGeom prst="rect">
                        <a:avLst/>
                      </a:prstGeom>
                      <a:solidFill>
                        <a:schemeClr val="bg1"/>
                      </a:solidFill>
                      <a:ln>
                        <a:noFill/>
                      </a:ln>
                      <a:effectLst/>
                    </p:spPr>
                  </p:pic>
                </p:oleObj>
              </mc:Fallback>
            </mc:AlternateContent>
          </a:graphicData>
        </a:graphic>
      </p:graphicFrame>
      <p:graphicFrame>
        <p:nvGraphicFramePr>
          <p:cNvPr id="42" name="Object 7">
            <a:extLst>
              <a:ext uri="{FF2B5EF4-FFF2-40B4-BE49-F238E27FC236}">
                <a16:creationId xmlns:a16="http://schemas.microsoft.com/office/drawing/2014/main" id="{F4E4AA0F-3DBC-48E5-884B-5E367BBF1173}"/>
              </a:ext>
            </a:extLst>
          </p:cNvPr>
          <p:cNvGraphicFramePr>
            <a:graphicFrameLocks noChangeAspect="1"/>
          </p:cNvGraphicFramePr>
          <p:nvPr>
            <p:extLst>
              <p:ext uri="{D42A27DB-BD31-4B8C-83A1-F6EECF244321}">
                <p14:modId xmlns:p14="http://schemas.microsoft.com/office/powerpoint/2010/main" val="4150803326"/>
              </p:ext>
            </p:extLst>
          </p:nvPr>
        </p:nvGraphicFramePr>
        <p:xfrm>
          <a:off x="9015040" y="4322621"/>
          <a:ext cx="652449" cy="284872"/>
        </p:xfrm>
        <a:graphic>
          <a:graphicData uri="http://schemas.openxmlformats.org/presentationml/2006/ole">
            <mc:AlternateContent xmlns:mc="http://schemas.openxmlformats.org/markup-compatibility/2006">
              <mc:Choice xmlns:v="urn:schemas-microsoft-com:vml" Requires="v">
                <p:oleObj name="Equation" r:id="rId8" imgW="406080" imgH="177480" progId="Equation.DSMT4">
                  <p:embed/>
                </p:oleObj>
              </mc:Choice>
              <mc:Fallback>
                <p:oleObj name="Equation" r:id="rId8" imgW="406080" imgH="177480" progId="Equation.DSMT4">
                  <p:embed/>
                  <p:pic>
                    <p:nvPicPr>
                      <p:cNvPr id="28" name="Object 7"/>
                      <p:cNvPicPr>
                        <a:picLocks noChangeAspect="1" noChangeArrowheads="1"/>
                      </p:cNvPicPr>
                      <p:nvPr/>
                    </p:nvPicPr>
                    <p:blipFill>
                      <a:blip r:embed="rId9"/>
                      <a:srcRect/>
                      <a:stretch>
                        <a:fillRect/>
                      </a:stretch>
                    </p:blipFill>
                    <p:spPr bwMode="auto">
                      <a:xfrm>
                        <a:off x="9015040" y="4322621"/>
                        <a:ext cx="652449" cy="284872"/>
                      </a:xfrm>
                      <a:prstGeom prst="rect">
                        <a:avLst/>
                      </a:prstGeom>
                      <a:solidFill>
                        <a:schemeClr val="bg1"/>
                      </a:solidFill>
                      <a:ln>
                        <a:noFill/>
                      </a:ln>
                      <a:effectLst/>
                    </p:spPr>
                  </p:pic>
                </p:oleObj>
              </mc:Fallback>
            </mc:AlternateContent>
          </a:graphicData>
        </a:graphic>
      </p:graphicFrame>
      <p:sp>
        <p:nvSpPr>
          <p:cNvPr id="43" name="Text Box 6">
            <a:extLst>
              <a:ext uri="{FF2B5EF4-FFF2-40B4-BE49-F238E27FC236}">
                <a16:creationId xmlns:a16="http://schemas.microsoft.com/office/drawing/2014/main" id="{709BAFBC-7BCC-43D5-B045-493B34D0E2E6}"/>
              </a:ext>
            </a:extLst>
          </p:cNvPr>
          <p:cNvSpPr txBox="1">
            <a:spLocks noChangeArrowheads="1"/>
          </p:cNvSpPr>
          <p:nvPr/>
        </p:nvSpPr>
        <p:spPr bwMode="auto">
          <a:xfrm>
            <a:off x="7166752" y="4903995"/>
            <a:ext cx="4565342" cy="461665"/>
          </a:xfrm>
          <a:prstGeom prst="rect">
            <a:avLst/>
          </a:prstGeom>
          <a:noFill/>
          <a:ln w="9525">
            <a:noFill/>
            <a:miter lim="800000"/>
            <a:headEnd/>
            <a:tailEnd/>
          </a:ln>
        </p:spPr>
        <p:txBody>
          <a:bodyPr wrap="square">
            <a:spAutoFit/>
          </a:bodyPr>
          <a:lstStyle/>
          <a:p>
            <a:pPr algn="ctr" defTabSz="914400">
              <a:spcBef>
                <a:spcPct val="50000"/>
              </a:spcBef>
            </a:pPr>
            <a:r>
              <a:rPr lang="zh-CN" altLang="en-US" sz="2400" b="1" dirty="0">
                <a:solidFill>
                  <a:srgbClr val="0000FF"/>
                </a:solidFill>
                <a:latin typeface="Times New Roman" pitchFamily="18" charset="0"/>
                <a:ea typeface="微软雅黑" pitchFamily="34" charset="-122"/>
                <a:cs typeface="Times New Roman" pitchFamily="18" charset="0"/>
              </a:rPr>
              <a:t>光谱辐通量与波长关系示意图</a:t>
            </a:r>
          </a:p>
        </p:txBody>
      </p:sp>
      <p:graphicFrame>
        <p:nvGraphicFramePr>
          <p:cNvPr id="44" name="Object 7">
            <a:extLst>
              <a:ext uri="{FF2B5EF4-FFF2-40B4-BE49-F238E27FC236}">
                <a16:creationId xmlns:a16="http://schemas.microsoft.com/office/drawing/2014/main" id="{D3A0DD06-FC47-4C28-A955-24DCE56C637B}"/>
              </a:ext>
            </a:extLst>
          </p:cNvPr>
          <p:cNvGraphicFramePr>
            <a:graphicFrameLocks noChangeAspect="1"/>
          </p:cNvGraphicFramePr>
          <p:nvPr>
            <p:extLst>
              <p:ext uri="{D42A27DB-BD31-4B8C-83A1-F6EECF244321}">
                <p14:modId xmlns:p14="http://schemas.microsoft.com/office/powerpoint/2010/main" val="4152829006"/>
              </p:ext>
            </p:extLst>
          </p:nvPr>
        </p:nvGraphicFramePr>
        <p:xfrm>
          <a:off x="1759624" y="4220668"/>
          <a:ext cx="2587625" cy="885825"/>
        </p:xfrm>
        <a:graphic>
          <a:graphicData uri="http://schemas.openxmlformats.org/presentationml/2006/ole">
            <mc:AlternateContent xmlns:mc="http://schemas.openxmlformats.org/markup-compatibility/2006">
              <mc:Choice xmlns:v="urn:schemas-microsoft-com:vml" Requires="v">
                <p:oleObj name="Equation" r:id="rId10" imgW="965160" imgH="330120" progId="Equation.DSMT4">
                  <p:embed/>
                </p:oleObj>
              </mc:Choice>
              <mc:Fallback>
                <p:oleObj name="Equation" r:id="rId10" imgW="965160" imgH="330120" progId="Equation.DSMT4">
                  <p:embed/>
                  <p:pic>
                    <p:nvPicPr>
                      <p:cNvPr id="30" name="Object 7"/>
                      <p:cNvPicPr>
                        <a:picLocks noChangeAspect="1" noChangeArrowheads="1"/>
                      </p:cNvPicPr>
                      <p:nvPr/>
                    </p:nvPicPr>
                    <p:blipFill>
                      <a:blip r:embed="rId11"/>
                      <a:srcRect/>
                      <a:stretch>
                        <a:fillRect/>
                      </a:stretch>
                    </p:blipFill>
                    <p:spPr bwMode="auto">
                      <a:xfrm>
                        <a:off x="1759624" y="4220668"/>
                        <a:ext cx="2587625" cy="88582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 name="Object 7">
            <a:extLst>
              <a:ext uri="{FF2B5EF4-FFF2-40B4-BE49-F238E27FC236}">
                <a16:creationId xmlns:a16="http://schemas.microsoft.com/office/drawing/2014/main" id="{96466B5E-2350-48D9-9344-305D285A82D9}"/>
              </a:ext>
            </a:extLst>
          </p:cNvPr>
          <p:cNvGraphicFramePr>
            <a:graphicFrameLocks noChangeAspect="1"/>
          </p:cNvGraphicFramePr>
          <p:nvPr>
            <p:extLst>
              <p:ext uri="{D42A27DB-BD31-4B8C-83A1-F6EECF244321}">
                <p14:modId xmlns:p14="http://schemas.microsoft.com/office/powerpoint/2010/main" val="4085781783"/>
              </p:ext>
            </p:extLst>
          </p:nvPr>
        </p:nvGraphicFramePr>
        <p:xfrm>
          <a:off x="9164720" y="3121433"/>
          <a:ext cx="457140" cy="357198"/>
        </p:xfrm>
        <a:graphic>
          <a:graphicData uri="http://schemas.openxmlformats.org/presentationml/2006/ole">
            <mc:AlternateContent xmlns:mc="http://schemas.openxmlformats.org/markup-compatibility/2006">
              <mc:Choice xmlns:v="urn:schemas-microsoft-com:vml" Requires="v">
                <p:oleObj name="Equation" r:id="rId12" imgW="291960" imgH="228600" progId="Equation.DSMT4">
                  <p:embed/>
                </p:oleObj>
              </mc:Choice>
              <mc:Fallback>
                <p:oleObj name="Equation" r:id="rId12" imgW="291960" imgH="228600" progId="Equation.DSMT4">
                  <p:embed/>
                  <p:pic>
                    <p:nvPicPr>
                      <p:cNvPr id="31" name="Object 7"/>
                      <p:cNvPicPr>
                        <a:picLocks noChangeAspect="1" noChangeArrowheads="1"/>
                      </p:cNvPicPr>
                      <p:nvPr/>
                    </p:nvPicPr>
                    <p:blipFill>
                      <a:blip r:embed="rId13"/>
                      <a:srcRect/>
                      <a:stretch>
                        <a:fillRect/>
                      </a:stretch>
                    </p:blipFill>
                    <p:spPr bwMode="auto">
                      <a:xfrm>
                        <a:off x="9164720" y="3121433"/>
                        <a:ext cx="457140" cy="357198"/>
                      </a:xfrm>
                      <a:prstGeom prst="rect">
                        <a:avLst/>
                      </a:prstGeom>
                      <a:solidFill>
                        <a:srgbClr val="FF7C80"/>
                      </a:solidFill>
                      <a:ln>
                        <a:noFill/>
                      </a:ln>
                      <a:effectLst/>
                    </p:spPr>
                  </p:pic>
                </p:oleObj>
              </mc:Fallback>
            </mc:AlternateContent>
          </a:graphicData>
        </a:graphic>
      </p:graphicFrame>
      <p:sp>
        <p:nvSpPr>
          <p:cNvPr id="46"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47"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72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ox(in)">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ox(in)">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ox(in)">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down)">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down)">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box(in)">
                                      <p:cBhvr>
                                        <p:cTn id="46" dur="500"/>
                                        <p:tgtEl>
                                          <p:spTgt spid="4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down)">
                                      <p:cBhvr>
                                        <p:cTn id="51" dur="5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box(in)">
                                      <p:cBhvr>
                                        <p:cTn id="56" dur="500"/>
                                        <p:tgtEl>
                                          <p:spTgt spid="42"/>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heel(1)">
                                      <p:cBhvr>
                                        <p:cTn id="61" dur="2000"/>
                                        <p:tgtEl>
                                          <p:spTgt spid="30"/>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box(in)">
                                      <p:cBhvr>
                                        <p:cTn id="66" dur="500"/>
                                        <p:tgtEl>
                                          <p:spTgt spid="45"/>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box(in)">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nodeType="click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box(in)">
                                      <p:cBhvr>
                                        <p:cTn id="76" dur="500"/>
                                        <p:tgtEl>
                                          <p:spTgt spid="44"/>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box(in)">
                                      <p:cBhvr>
                                        <p:cTn id="8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animBg="1"/>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46" name="Rectangle 2">
            <a:extLst>
              <a:ext uri="{FF2B5EF4-FFF2-40B4-BE49-F238E27FC236}">
                <a16:creationId xmlns:a16="http://schemas.microsoft.com/office/drawing/2014/main" id="{25CA3070-0AD5-4E46-8E2B-B8FFE5CD82BE}"/>
              </a:ext>
            </a:extLst>
          </p:cNvPr>
          <p:cNvSpPr>
            <a:spLocks noChangeArrowheads="1"/>
          </p:cNvSpPr>
          <p:nvPr/>
        </p:nvSpPr>
        <p:spPr bwMode="auto">
          <a:xfrm>
            <a:off x="2698750" y="2638425"/>
            <a:ext cx="184150" cy="369887"/>
          </a:xfrm>
          <a:prstGeom prst="rect">
            <a:avLst/>
          </a:prstGeom>
          <a:noFill/>
          <a:ln w="9525">
            <a:noFill/>
            <a:miter lim="800000"/>
            <a:headEnd/>
            <a:tailEnd/>
          </a:ln>
        </p:spPr>
        <p:txBody>
          <a:bodyPr wrap="none" anchor="ctr">
            <a:spAutoFit/>
          </a:bodyPr>
          <a:lstStyle/>
          <a:p>
            <a:pPr defTabSz="914400"/>
            <a:endParaRPr lang="zh-CN" altLang="en-US" sz="1800" b="1">
              <a:latin typeface="Times New Roman" pitchFamily="18" charset="0"/>
              <a:ea typeface="微软雅黑" pitchFamily="34" charset="-122"/>
              <a:cs typeface="Times New Roman" pitchFamily="18" charset="0"/>
            </a:endParaRPr>
          </a:p>
        </p:txBody>
      </p:sp>
      <p:sp>
        <p:nvSpPr>
          <p:cNvPr id="47" name="Rectangle 3">
            <a:extLst>
              <a:ext uri="{FF2B5EF4-FFF2-40B4-BE49-F238E27FC236}">
                <a16:creationId xmlns:a16="http://schemas.microsoft.com/office/drawing/2014/main" id="{2F9DB4F4-1F6F-4F64-BCAD-25C5B92D81A6}"/>
              </a:ext>
            </a:extLst>
          </p:cNvPr>
          <p:cNvSpPr>
            <a:spLocks noChangeArrowheads="1"/>
          </p:cNvSpPr>
          <p:nvPr/>
        </p:nvSpPr>
        <p:spPr bwMode="auto">
          <a:xfrm>
            <a:off x="6678613" y="1306512"/>
            <a:ext cx="2449512" cy="579438"/>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zh-CN" altLang="en-US" sz="3200" b="1">
                <a:latin typeface="Times New Roman" pitchFamily="18" charset="0"/>
                <a:ea typeface="微软雅黑" pitchFamily="34" charset="-122"/>
                <a:cs typeface="Times New Roman" pitchFamily="18" charset="0"/>
              </a:rPr>
              <a:t> </a:t>
            </a:r>
            <a:r>
              <a:rPr lang="en-US" altLang="zh-CN" sz="2800" b="1">
                <a:latin typeface="Times New Roman" pitchFamily="18" charset="0"/>
                <a:ea typeface="微软雅黑" pitchFamily="34" charset="-122"/>
                <a:cs typeface="Times New Roman" pitchFamily="18" charset="0"/>
              </a:rPr>
              <a:t>1.</a:t>
            </a:r>
            <a:r>
              <a:rPr lang="zh-CN" altLang="en-US" sz="2800" b="1">
                <a:latin typeface="Times New Roman" pitchFamily="18" charset="0"/>
                <a:ea typeface="微软雅黑" pitchFamily="34" charset="-122"/>
                <a:cs typeface="Times New Roman" pitchFamily="18" charset="0"/>
              </a:rPr>
              <a:t>辐能</a:t>
            </a:r>
            <a:r>
              <a:rPr lang="en-US" altLang="zh-CN" sz="2800" b="1" i="1">
                <a:latin typeface="Times New Roman" pitchFamily="18" charset="0"/>
                <a:ea typeface="微软雅黑" pitchFamily="34" charset="-122"/>
                <a:cs typeface="Times New Roman" pitchFamily="18" charset="0"/>
              </a:rPr>
              <a:t>Q</a:t>
            </a:r>
            <a:r>
              <a:rPr lang="en-US" altLang="zh-CN" sz="2800" b="1" baseline="-25000">
                <a:latin typeface="Times New Roman" pitchFamily="18" charset="0"/>
                <a:ea typeface="微软雅黑" pitchFamily="34" charset="-122"/>
                <a:cs typeface="Times New Roman" pitchFamily="18" charset="0"/>
              </a:rPr>
              <a:t>e</a:t>
            </a:r>
            <a:r>
              <a:rPr lang="en-US" altLang="zh-CN" sz="2800" b="1">
                <a:solidFill>
                  <a:schemeClr val="bg1"/>
                </a:solidFill>
                <a:latin typeface="Times New Roman" pitchFamily="18" charset="0"/>
                <a:ea typeface="微软雅黑" pitchFamily="34" charset="-122"/>
                <a:cs typeface="Times New Roman" pitchFamily="18" charset="0"/>
              </a:rPr>
              <a:t> </a:t>
            </a:r>
          </a:p>
        </p:txBody>
      </p:sp>
      <p:sp>
        <p:nvSpPr>
          <p:cNvPr id="48" name="Rectangle 4">
            <a:extLst>
              <a:ext uri="{FF2B5EF4-FFF2-40B4-BE49-F238E27FC236}">
                <a16:creationId xmlns:a16="http://schemas.microsoft.com/office/drawing/2014/main" id="{469CE5C3-15BB-4C73-ADC0-12029ABC5002}"/>
              </a:ext>
            </a:extLst>
          </p:cNvPr>
          <p:cNvSpPr>
            <a:spLocks noChangeArrowheads="1"/>
          </p:cNvSpPr>
          <p:nvPr/>
        </p:nvSpPr>
        <p:spPr bwMode="auto">
          <a:xfrm>
            <a:off x="6678613" y="1878012"/>
            <a:ext cx="2449512" cy="579438"/>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zh-CN" altLang="en-US" sz="3200" b="1">
                <a:latin typeface="Times New Roman" pitchFamily="18" charset="0"/>
                <a:ea typeface="微软雅黑" pitchFamily="34" charset="-122"/>
                <a:cs typeface="Times New Roman" pitchFamily="18" charset="0"/>
              </a:rPr>
              <a:t> </a:t>
            </a:r>
            <a:r>
              <a:rPr lang="en-US" altLang="zh-CN" sz="2800" b="1">
                <a:latin typeface="Times New Roman" pitchFamily="18" charset="0"/>
                <a:ea typeface="微软雅黑" pitchFamily="34" charset="-122"/>
                <a:cs typeface="Times New Roman" pitchFamily="18" charset="0"/>
              </a:rPr>
              <a:t>2.</a:t>
            </a:r>
            <a:r>
              <a:rPr lang="zh-CN" altLang="en-US" sz="2800" b="1">
                <a:latin typeface="Times New Roman" pitchFamily="18" charset="0"/>
                <a:ea typeface="微软雅黑" pitchFamily="34" charset="-122"/>
                <a:cs typeface="Times New Roman" pitchFamily="18" charset="0"/>
              </a:rPr>
              <a:t>辐通量</a:t>
            </a:r>
            <a:r>
              <a:rPr lang="en-US" altLang="zh-CN" sz="2800" b="1" i="1">
                <a:latin typeface="Times New Roman" pitchFamily="18" charset="0"/>
                <a:ea typeface="微软雅黑" pitchFamily="34" charset="-122"/>
                <a:cs typeface="Times New Roman" pitchFamily="18" charset="0"/>
              </a:rPr>
              <a:t>Φ</a:t>
            </a:r>
            <a:r>
              <a:rPr lang="en-US" altLang="zh-CN" sz="2800" b="1" baseline="-25000">
                <a:latin typeface="Times New Roman" pitchFamily="18" charset="0"/>
                <a:ea typeface="微软雅黑" pitchFamily="34" charset="-122"/>
                <a:cs typeface="Times New Roman" pitchFamily="18" charset="0"/>
              </a:rPr>
              <a:t>e</a:t>
            </a:r>
          </a:p>
        </p:txBody>
      </p:sp>
      <p:sp>
        <p:nvSpPr>
          <p:cNvPr id="49" name="Rectangle 5">
            <a:extLst>
              <a:ext uri="{FF2B5EF4-FFF2-40B4-BE49-F238E27FC236}">
                <a16:creationId xmlns:a16="http://schemas.microsoft.com/office/drawing/2014/main" id="{FF9CC88A-74BC-4FA2-86A6-BF949D9DE858}"/>
              </a:ext>
            </a:extLst>
          </p:cNvPr>
          <p:cNvSpPr>
            <a:spLocks noChangeArrowheads="1"/>
          </p:cNvSpPr>
          <p:nvPr/>
        </p:nvSpPr>
        <p:spPr bwMode="auto">
          <a:xfrm>
            <a:off x="6699250" y="2592387"/>
            <a:ext cx="2428875" cy="519113"/>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en-US" altLang="zh-CN" sz="2800" b="1">
                <a:latin typeface="Times New Roman" pitchFamily="18" charset="0"/>
                <a:ea typeface="微软雅黑" pitchFamily="34" charset="-122"/>
                <a:cs typeface="Times New Roman" pitchFamily="18" charset="0"/>
              </a:rPr>
              <a:t>3.</a:t>
            </a:r>
            <a:r>
              <a:rPr lang="zh-CN" altLang="en-US" sz="2800" b="1">
                <a:latin typeface="Times New Roman" pitchFamily="18" charset="0"/>
                <a:ea typeface="微软雅黑" pitchFamily="34" charset="-122"/>
                <a:cs typeface="Times New Roman" pitchFamily="18" charset="0"/>
              </a:rPr>
              <a:t>辐强度</a:t>
            </a:r>
            <a:r>
              <a:rPr lang="en-US" altLang="zh-CN" sz="2800" b="1" i="1">
                <a:latin typeface="Times New Roman" pitchFamily="18" charset="0"/>
                <a:ea typeface="微软雅黑" pitchFamily="34" charset="-122"/>
                <a:cs typeface="Times New Roman" pitchFamily="18" charset="0"/>
              </a:rPr>
              <a:t>I</a:t>
            </a:r>
            <a:r>
              <a:rPr lang="en-US" altLang="zh-CN" sz="2800" b="1" baseline="-25000">
                <a:latin typeface="Times New Roman" pitchFamily="18" charset="0"/>
                <a:ea typeface="微软雅黑" pitchFamily="34" charset="-122"/>
                <a:cs typeface="Times New Roman" pitchFamily="18" charset="0"/>
              </a:rPr>
              <a:t>e</a:t>
            </a:r>
            <a:r>
              <a:rPr lang="zh-CN" altLang="en-US" sz="2800" b="1">
                <a:solidFill>
                  <a:schemeClr val="bg1"/>
                </a:solidFill>
                <a:latin typeface="Times New Roman" pitchFamily="18" charset="0"/>
                <a:ea typeface="微软雅黑" pitchFamily="34" charset="-122"/>
                <a:cs typeface="Times New Roman" pitchFamily="18" charset="0"/>
              </a:rPr>
              <a:t> </a:t>
            </a:r>
          </a:p>
        </p:txBody>
      </p:sp>
      <p:sp>
        <p:nvSpPr>
          <p:cNvPr id="50" name="Rectangle 6">
            <a:extLst>
              <a:ext uri="{FF2B5EF4-FFF2-40B4-BE49-F238E27FC236}">
                <a16:creationId xmlns:a16="http://schemas.microsoft.com/office/drawing/2014/main" id="{C7AA7C1D-8612-45EE-9D8A-F1CE224A5353}"/>
              </a:ext>
            </a:extLst>
          </p:cNvPr>
          <p:cNvSpPr>
            <a:spLocks noChangeArrowheads="1"/>
          </p:cNvSpPr>
          <p:nvPr/>
        </p:nvSpPr>
        <p:spPr bwMode="auto">
          <a:xfrm>
            <a:off x="2698750" y="3490912"/>
            <a:ext cx="184150" cy="369888"/>
          </a:xfrm>
          <a:prstGeom prst="rect">
            <a:avLst/>
          </a:prstGeom>
          <a:noFill/>
          <a:ln w="9525">
            <a:noFill/>
            <a:miter lim="800000"/>
            <a:headEnd/>
            <a:tailEnd/>
          </a:ln>
        </p:spPr>
        <p:txBody>
          <a:bodyPr wrap="none" anchor="ctr">
            <a:spAutoFit/>
          </a:bodyPr>
          <a:lstStyle/>
          <a:p>
            <a:pPr defTabSz="914400"/>
            <a:endParaRPr lang="zh-CN" altLang="en-US" sz="1800" b="1">
              <a:latin typeface="Times New Roman" pitchFamily="18" charset="0"/>
              <a:ea typeface="微软雅黑" pitchFamily="34" charset="-122"/>
              <a:cs typeface="Times New Roman" pitchFamily="18" charset="0"/>
            </a:endParaRPr>
          </a:p>
        </p:txBody>
      </p:sp>
      <p:sp>
        <p:nvSpPr>
          <p:cNvPr id="51" name="Rectangle 8">
            <a:extLst>
              <a:ext uri="{FF2B5EF4-FFF2-40B4-BE49-F238E27FC236}">
                <a16:creationId xmlns:a16="http://schemas.microsoft.com/office/drawing/2014/main" id="{329B12BD-0602-4D69-A1C3-E40DA1F4C14B}"/>
              </a:ext>
            </a:extLst>
          </p:cNvPr>
          <p:cNvSpPr>
            <a:spLocks noChangeArrowheads="1"/>
          </p:cNvSpPr>
          <p:nvPr/>
        </p:nvSpPr>
        <p:spPr bwMode="auto">
          <a:xfrm>
            <a:off x="6699250" y="3187700"/>
            <a:ext cx="2428875" cy="519112"/>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en-US" altLang="zh-CN" sz="2800" b="1">
                <a:latin typeface="Times New Roman" pitchFamily="18" charset="0"/>
                <a:ea typeface="微软雅黑" pitchFamily="34" charset="-122"/>
                <a:cs typeface="Times New Roman" pitchFamily="18" charset="0"/>
              </a:rPr>
              <a:t>4.</a:t>
            </a:r>
            <a:r>
              <a:rPr lang="zh-CN" altLang="en-US" sz="2800" b="1">
                <a:latin typeface="Times New Roman" pitchFamily="18" charset="0"/>
                <a:ea typeface="微软雅黑" pitchFamily="34" charset="-122"/>
                <a:cs typeface="Times New Roman" pitchFamily="18" charset="0"/>
              </a:rPr>
              <a:t>辐出度</a:t>
            </a:r>
            <a:r>
              <a:rPr lang="en-US" altLang="zh-CN" sz="2800" b="1" i="1">
                <a:latin typeface="Times New Roman" pitchFamily="18" charset="0"/>
                <a:ea typeface="微软雅黑" pitchFamily="34" charset="-122"/>
                <a:cs typeface="Times New Roman" pitchFamily="18" charset="0"/>
              </a:rPr>
              <a:t>M</a:t>
            </a:r>
            <a:r>
              <a:rPr lang="en-US" altLang="zh-CN" sz="2800" b="1" baseline="-25000">
                <a:latin typeface="Times New Roman" pitchFamily="18" charset="0"/>
                <a:ea typeface="微软雅黑" pitchFamily="34" charset="-122"/>
                <a:cs typeface="Times New Roman" pitchFamily="18" charset="0"/>
              </a:rPr>
              <a:t>e</a:t>
            </a:r>
          </a:p>
        </p:txBody>
      </p:sp>
      <p:sp>
        <p:nvSpPr>
          <p:cNvPr id="52" name="Rectangle 9">
            <a:extLst>
              <a:ext uri="{FF2B5EF4-FFF2-40B4-BE49-F238E27FC236}">
                <a16:creationId xmlns:a16="http://schemas.microsoft.com/office/drawing/2014/main" id="{623E6322-B7CB-401F-8AD8-34BA7421A55D}"/>
              </a:ext>
            </a:extLst>
          </p:cNvPr>
          <p:cNvSpPr>
            <a:spLocks noChangeArrowheads="1"/>
          </p:cNvSpPr>
          <p:nvPr/>
        </p:nvSpPr>
        <p:spPr bwMode="auto">
          <a:xfrm>
            <a:off x="6699250" y="4449762"/>
            <a:ext cx="2428875" cy="519113"/>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zh-CN" altLang="en-US" sz="2800" b="1">
                <a:latin typeface="Times New Roman" pitchFamily="18" charset="0"/>
                <a:ea typeface="微软雅黑" pitchFamily="34" charset="-122"/>
                <a:cs typeface="Times New Roman" pitchFamily="18" charset="0"/>
              </a:rPr>
              <a:t> </a:t>
            </a:r>
            <a:r>
              <a:rPr lang="en-US" altLang="zh-CN" sz="2800" b="1">
                <a:latin typeface="Times New Roman" pitchFamily="18" charset="0"/>
                <a:ea typeface="微软雅黑" pitchFamily="34" charset="-122"/>
                <a:cs typeface="Times New Roman" pitchFamily="18" charset="0"/>
              </a:rPr>
              <a:t>6.</a:t>
            </a:r>
            <a:r>
              <a:rPr lang="zh-CN" altLang="en-US" sz="2800" b="1">
                <a:latin typeface="Times New Roman" pitchFamily="18" charset="0"/>
                <a:ea typeface="微软雅黑" pitchFamily="34" charset="-122"/>
                <a:cs typeface="Times New Roman" pitchFamily="18" charset="0"/>
              </a:rPr>
              <a:t>辐照度</a:t>
            </a:r>
            <a:r>
              <a:rPr lang="en-US" altLang="zh-CN" sz="2800" b="1" i="1">
                <a:latin typeface="Times New Roman" pitchFamily="18" charset="0"/>
                <a:ea typeface="微软雅黑" pitchFamily="34" charset="-122"/>
                <a:cs typeface="Times New Roman" pitchFamily="18" charset="0"/>
              </a:rPr>
              <a:t>E</a:t>
            </a:r>
            <a:r>
              <a:rPr lang="en-US" altLang="zh-CN" sz="2800" b="1" baseline="-25000">
                <a:latin typeface="Times New Roman" pitchFamily="18" charset="0"/>
                <a:ea typeface="微软雅黑" pitchFamily="34" charset="-122"/>
                <a:cs typeface="Times New Roman" pitchFamily="18" charset="0"/>
              </a:rPr>
              <a:t>e</a:t>
            </a:r>
          </a:p>
        </p:txBody>
      </p:sp>
      <p:sp>
        <p:nvSpPr>
          <p:cNvPr id="53" name="Rectangle 10">
            <a:extLst>
              <a:ext uri="{FF2B5EF4-FFF2-40B4-BE49-F238E27FC236}">
                <a16:creationId xmlns:a16="http://schemas.microsoft.com/office/drawing/2014/main" id="{CBED5541-F0D1-44C9-89A8-389DA94109A0}"/>
              </a:ext>
            </a:extLst>
          </p:cNvPr>
          <p:cNvSpPr>
            <a:spLocks noChangeArrowheads="1"/>
          </p:cNvSpPr>
          <p:nvPr/>
        </p:nvSpPr>
        <p:spPr bwMode="auto">
          <a:xfrm>
            <a:off x="6699250" y="5092700"/>
            <a:ext cx="3143250" cy="519112"/>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en-US" altLang="zh-CN" sz="2800" b="1">
                <a:latin typeface="Times New Roman" pitchFamily="18" charset="0"/>
                <a:ea typeface="微软雅黑" pitchFamily="34" charset="-122"/>
                <a:cs typeface="Times New Roman" pitchFamily="18" charset="0"/>
              </a:rPr>
              <a:t>7. </a:t>
            </a:r>
            <a:r>
              <a:rPr lang="zh-CN" altLang="en-US" sz="2800" b="1">
                <a:latin typeface="Times New Roman" pitchFamily="18" charset="0"/>
                <a:ea typeface="微软雅黑" pitchFamily="34" charset="-122"/>
                <a:cs typeface="Times New Roman" pitchFamily="18" charset="0"/>
              </a:rPr>
              <a:t>光谱辐射量</a:t>
            </a:r>
            <a:r>
              <a:rPr lang="en-US" altLang="zh-CN" sz="2800" b="1">
                <a:latin typeface="Times New Roman" pitchFamily="18" charset="0"/>
                <a:ea typeface="微软雅黑" pitchFamily="34" charset="-122"/>
                <a:cs typeface="Times New Roman" pitchFamily="18" charset="0"/>
              </a:rPr>
              <a:t>X</a:t>
            </a:r>
            <a:r>
              <a:rPr lang="en-US" altLang="zh-CN" sz="2800" b="1" baseline="-25000">
                <a:latin typeface="Times New Roman" pitchFamily="18" charset="0"/>
                <a:ea typeface="微软雅黑" pitchFamily="34" charset="-122"/>
                <a:cs typeface="Times New Roman" pitchFamily="18" charset="0"/>
              </a:rPr>
              <a:t>e</a:t>
            </a:r>
            <a:r>
              <a:rPr lang="en-US" altLang="zh-CN" sz="2800" b="1">
                <a:latin typeface="Times New Roman" pitchFamily="18" charset="0"/>
                <a:ea typeface="微软雅黑" pitchFamily="34" charset="-122"/>
                <a:cs typeface="Times New Roman" pitchFamily="18" charset="0"/>
              </a:rPr>
              <a:t>(</a:t>
            </a:r>
            <a:r>
              <a:rPr lang="el-GR" altLang="zh-CN" sz="2800" b="1">
                <a:latin typeface="Times New Roman" pitchFamily="18" charset="0"/>
                <a:ea typeface="微软雅黑" pitchFamily="34" charset="-122"/>
                <a:cs typeface="Times New Roman" pitchFamily="18" charset="0"/>
              </a:rPr>
              <a:t>λ</a:t>
            </a:r>
            <a:r>
              <a:rPr lang="en-US" altLang="zh-CN" sz="2800" b="1">
                <a:latin typeface="Times New Roman" pitchFamily="18" charset="0"/>
                <a:ea typeface="微软雅黑" pitchFamily="34" charset="-122"/>
                <a:cs typeface="Times New Roman" pitchFamily="18" charset="0"/>
              </a:rPr>
              <a:t>)</a:t>
            </a:r>
          </a:p>
        </p:txBody>
      </p:sp>
      <p:sp>
        <p:nvSpPr>
          <p:cNvPr id="54" name="Rectangle 11">
            <a:extLst>
              <a:ext uri="{FF2B5EF4-FFF2-40B4-BE49-F238E27FC236}">
                <a16:creationId xmlns:a16="http://schemas.microsoft.com/office/drawing/2014/main" id="{E74BEA4B-5DE8-44B3-A6EA-C1A56838B0B0}"/>
              </a:ext>
            </a:extLst>
          </p:cNvPr>
          <p:cNvSpPr>
            <a:spLocks noChangeArrowheads="1"/>
          </p:cNvSpPr>
          <p:nvPr/>
        </p:nvSpPr>
        <p:spPr bwMode="auto">
          <a:xfrm>
            <a:off x="3327400" y="5876925"/>
            <a:ext cx="3865563" cy="681037"/>
          </a:xfrm>
          <a:prstGeom prst="rect">
            <a:avLst/>
          </a:prstGeom>
          <a:noFill/>
          <a:ln w="9525">
            <a:noFill/>
            <a:miter lim="800000"/>
            <a:headEnd/>
            <a:tailEnd/>
          </a:ln>
        </p:spPr>
        <p:txBody>
          <a:bodyPr anchor="ctr"/>
          <a:lstStyle/>
          <a:p>
            <a:pPr defTabSz="914400" eaLnBrk="0" hangingPunct="0"/>
            <a:r>
              <a:rPr lang="zh-CN" altLang="en-US" sz="3200" b="1">
                <a:latin typeface="华文琥珀" pitchFamily="2" charset="-122"/>
                <a:ea typeface="华文琥珀" pitchFamily="2" charset="-122"/>
              </a:rPr>
              <a:t>光电技术中最常用</a:t>
            </a:r>
            <a:r>
              <a:rPr lang="zh-CN" altLang="en-US" sz="3200">
                <a:ea typeface="黑体" pitchFamily="2" charset="-122"/>
              </a:rPr>
              <a:t>：</a:t>
            </a:r>
            <a:r>
              <a:rPr lang="zh-CN" altLang="en-US" sz="3600">
                <a:solidFill>
                  <a:srgbClr val="FFFF00"/>
                </a:solidFill>
                <a:ea typeface="黑体" pitchFamily="2" charset="-122"/>
              </a:rPr>
              <a:t>                                 </a:t>
            </a:r>
          </a:p>
        </p:txBody>
      </p:sp>
      <p:sp>
        <p:nvSpPr>
          <p:cNvPr id="55" name="Rectangle 12">
            <a:extLst>
              <a:ext uri="{FF2B5EF4-FFF2-40B4-BE49-F238E27FC236}">
                <a16:creationId xmlns:a16="http://schemas.microsoft.com/office/drawing/2014/main" id="{F21D359D-D215-4C84-9CBB-71E4E7F79C15}"/>
              </a:ext>
            </a:extLst>
          </p:cNvPr>
          <p:cNvSpPr>
            <a:spLocks noChangeArrowheads="1"/>
          </p:cNvSpPr>
          <p:nvPr/>
        </p:nvSpPr>
        <p:spPr bwMode="auto">
          <a:xfrm>
            <a:off x="9328150" y="5949950"/>
            <a:ext cx="1871663" cy="579437"/>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a:gradFill>
          <a:ln w="9525">
            <a:noFill/>
            <a:miter lim="800000"/>
            <a:headEnd/>
            <a:tailEnd/>
          </a:ln>
        </p:spPr>
        <p:txBody>
          <a:bodyPr anchor="ctr">
            <a:spAutoFit/>
          </a:bodyPr>
          <a:lstStyle/>
          <a:p>
            <a:pPr algn="ctr" defTabSz="914400"/>
            <a:r>
              <a:rPr lang="zh-CN" altLang="en-US" sz="3200">
                <a:solidFill>
                  <a:schemeClr val="bg1"/>
                </a:solidFill>
                <a:ea typeface="黑体" pitchFamily="2" charset="-122"/>
              </a:rPr>
              <a:t>辐照度</a:t>
            </a:r>
            <a:endParaRPr lang="zh-CN" altLang="en-US" sz="3200" baseline="-25000">
              <a:solidFill>
                <a:schemeClr val="bg1"/>
              </a:solidFill>
              <a:ea typeface="黑体" pitchFamily="2" charset="-122"/>
            </a:endParaRPr>
          </a:p>
        </p:txBody>
      </p:sp>
      <p:sp>
        <p:nvSpPr>
          <p:cNvPr id="56" name="Rectangle 13">
            <a:extLst>
              <a:ext uri="{FF2B5EF4-FFF2-40B4-BE49-F238E27FC236}">
                <a16:creationId xmlns:a16="http://schemas.microsoft.com/office/drawing/2014/main" id="{F9946AA2-23B6-4560-97EF-529BA401BB13}"/>
              </a:ext>
            </a:extLst>
          </p:cNvPr>
          <p:cNvSpPr>
            <a:spLocks noChangeArrowheads="1"/>
          </p:cNvSpPr>
          <p:nvPr/>
        </p:nvSpPr>
        <p:spPr bwMode="auto">
          <a:xfrm>
            <a:off x="7113588" y="5949950"/>
            <a:ext cx="1871662" cy="579437"/>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a:gradFill>
          <a:ln w="9525">
            <a:noFill/>
            <a:miter lim="800000"/>
            <a:headEnd/>
            <a:tailEnd/>
          </a:ln>
        </p:spPr>
        <p:txBody>
          <a:bodyPr anchor="ctr">
            <a:spAutoFit/>
          </a:bodyPr>
          <a:lstStyle/>
          <a:p>
            <a:pPr algn="ctr" defTabSz="914400"/>
            <a:r>
              <a:rPr lang="zh-CN" altLang="en-US" sz="3200" b="1">
                <a:solidFill>
                  <a:schemeClr val="bg1"/>
                </a:solidFill>
                <a:latin typeface="Times New Roman" pitchFamily="18" charset="0"/>
                <a:ea typeface="黑体" pitchFamily="2" charset="-122"/>
              </a:rPr>
              <a:t>辐通量</a:t>
            </a:r>
            <a:endParaRPr lang="zh-CN" altLang="en-US" sz="3200" b="1" baseline="-25000">
              <a:solidFill>
                <a:schemeClr val="bg1"/>
              </a:solidFill>
              <a:latin typeface="Times New Roman" pitchFamily="18" charset="0"/>
              <a:ea typeface="黑体" pitchFamily="2" charset="-122"/>
            </a:endParaRPr>
          </a:p>
        </p:txBody>
      </p:sp>
      <p:sp>
        <p:nvSpPr>
          <p:cNvPr id="57" name="Rectangle 14">
            <a:extLst>
              <a:ext uri="{FF2B5EF4-FFF2-40B4-BE49-F238E27FC236}">
                <a16:creationId xmlns:a16="http://schemas.microsoft.com/office/drawing/2014/main" id="{EA734D66-2F6E-4066-9152-1BCD4D875871}"/>
              </a:ext>
            </a:extLst>
          </p:cNvPr>
          <p:cNvSpPr>
            <a:spLocks noChangeArrowheads="1"/>
          </p:cNvSpPr>
          <p:nvPr/>
        </p:nvSpPr>
        <p:spPr bwMode="auto">
          <a:xfrm>
            <a:off x="3247749" y="3090862"/>
            <a:ext cx="2433638" cy="701675"/>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31750">
            <a:solidFill>
              <a:srgbClr val="FF0000"/>
            </a:solidFill>
            <a:miter lim="800000"/>
            <a:headEnd/>
            <a:tailEnd/>
          </a:ln>
        </p:spPr>
        <p:txBody>
          <a:bodyPr/>
          <a:lstStyle/>
          <a:p>
            <a:pPr algn="ctr">
              <a:lnSpc>
                <a:spcPct val="90000"/>
              </a:lnSpc>
            </a:pPr>
            <a:r>
              <a:rPr lang="zh-CN" altLang="en-US" sz="4600" b="1">
                <a:latin typeface="Times New Roman" pitchFamily="18" charset="0"/>
                <a:ea typeface="微软雅黑" pitchFamily="34" charset="-122"/>
                <a:cs typeface="Times New Roman" pitchFamily="18" charset="0"/>
              </a:rPr>
              <a:t>辐度量</a:t>
            </a:r>
          </a:p>
        </p:txBody>
      </p:sp>
      <p:sp>
        <p:nvSpPr>
          <p:cNvPr id="58" name="Rectangle 15">
            <a:extLst>
              <a:ext uri="{FF2B5EF4-FFF2-40B4-BE49-F238E27FC236}">
                <a16:creationId xmlns:a16="http://schemas.microsoft.com/office/drawing/2014/main" id="{5A92C707-3D39-43EE-A898-E23942B6743F}"/>
              </a:ext>
            </a:extLst>
          </p:cNvPr>
          <p:cNvSpPr>
            <a:spLocks noChangeArrowheads="1"/>
          </p:cNvSpPr>
          <p:nvPr/>
        </p:nvSpPr>
        <p:spPr bwMode="auto">
          <a:xfrm>
            <a:off x="6699250" y="3806825"/>
            <a:ext cx="2428875" cy="519112"/>
          </a:xfrm>
          <a:prstGeom prst="rect">
            <a:avLst/>
          </a:prstGeom>
          <a:gradFill rotWithShape="0">
            <a:gsLst>
              <a:gs pos="0">
                <a:srgbClr val="5E9EFF"/>
              </a:gs>
              <a:gs pos="39999">
                <a:srgbClr val="85C2FF"/>
              </a:gs>
              <a:gs pos="70000">
                <a:srgbClr val="C4D6EB"/>
              </a:gs>
              <a:gs pos="100000">
                <a:srgbClr val="FFEBFA"/>
              </a:gs>
            </a:gsLst>
            <a:lin ang="5400000"/>
          </a:gradFill>
          <a:ln w="9525">
            <a:noFill/>
            <a:miter lim="800000"/>
            <a:headEnd/>
            <a:tailEnd/>
          </a:ln>
        </p:spPr>
        <p:txBody>
          <a:bodyPr anchor="ctr">
            <a:spAutoFit/>
          </a:bodyPr>
          <a:lstStyle/>
          <a:p>
            <a:pPr defTabSz="914400"/>
            <a:r>
              <a:rPr lang="en-US" altLang="zh-CN" sz="2800" b="1">
                <a:latin typeface="Times New Roman" pitchFamily="18" charset="0"/>
                <a:ea typeface="微软雅黑" pitchFamily="34" charset="-122"/>
                <a:cs typeface="Times New Roman" pitchFamily="18" charset="0"/>
              </a:rPr>
              <a:t>5. </a:t>
            </a:r>
            <a:r>
              <a:rPr lang="zh-CN" altLang="en-US" sz="2800" b="1">
                <a:latin typeface="Times New Roman" pitchFamily="18" charset="0"/>
                <a:ea typeface="微软雅黑" pitchFamily="34" charset="-122"/>
                <a:cs typeface="Times New Roman" pitchFamily="18" charset="0"/>
              </a:rPr>
              <a:t>辐亮度</a:t>
            </a:r>
            <a:r>
              <a:rPr lang="en-US" altLang="zh-CN" sz="2800" b="1" i="1">
                <a:latin typeface="Times New Roman" pitchFamily="18" charset="0"/>
                <a:ea typeface="微软雅黑" pitchFamily="34" charset="-122"/>
                <a:cs typeface="Times New Roman" pitchFamily="18" charset="0"/>
              </a:rPr>
              <a:t>L</a:t>
            </a:r>
            <a:r>
              <a:rPr lang="en-US" altLang="zh-CN" sz="2800" b="1" baseline="-25000">
                <a:latin typeface="Times New Roman" pitchFamily="18" charset="0"/>
                <a:ea typeface="微软雅黑" pitchFamily="34" charset="-122"/>
                <a:cs typeface="Times New Roman" pitchFamily="18" charset="0"/>
              </a:rPr>
              <a:t>e</a:t>
            </a:r>
          </a:p>
        </p:txBody>
      </p:sp>
      <p:sp>
        <p:nvSpPr>
          <p:cNvPr id="59" name="左大括号 58">
            <a:extLst>
              <a:ext uri="{FF2B5EF4-FFF2-40B4-BE49-F238E27FC236}">
                <a16:creationId xmlns:a16="http://schemas.microsoft.com/office/drawing/2014/main" id="{32929722-9379-4E1F-A156-539A308486D1}"/>
              </a:ext>
            </a:extLst>
          </p:cNvPr>
          <p:cNvSpPr/>
          <p:nvPr/>
        </p:nvSpPr>
        <p:spPr>
          <a:xfrm>
            <a:off x="5913438" y="1519237"/>
            <a:ext cx="714375" cy="3786188"/>
          </a:xfrm>
          <a:prstGeom prst="leftBrace">
            <a:avLst>
              <a:gd name="adj1" fmla="val 833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1800" b="1">
              <a:latin typeface="Times New Roman" pitchFamily="18" charset="0"/>
              <a:ea typeface="微软雅黑" pitchFamily="34" charset="-122"/>
              <a:cs typeface="Times New Roman" pitchFamily="18" charset="0"/>
            </a:endParaRPr>
          </a:p>
        </p:txBody>
      </p:sp>
      <p:sp>
        <p:nvSpPr>
          <p:cNvPr id="23" name="文本框 60">
            <a:extLst>
              <a:ext uri="{FF2B5EF4-FFF2-40B4-BE49-F238E27FC236}">
                <a16:creationId xmlns:a16="http://schemas.microsoft.com/office/drawing/2014/main" id="{791D85D7-F412-9C48-9F2B-E33F5B7B4F3C}"/>
              </a:ext>
            </a:extLst>
          </p:cNvPr>
          <p:cNvSpPr txBox="1"/>
          <p:nvPr/>
        </p:nvSpPr>
        <p:spPr>
          <a:xfrm>
            <a:off x="1326681" y="313830"/>
            <a:ext cx="2097610"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辐射度基本物理量</a:t>
            </a:r>
          </a:p>
        </p:txBody>
      </p:sp>
      <p:cxnSp>
        <p:nvCxnSpPr>
          <p:cNvPr id="2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708915"/>
            <a:ext cx="1872000" cy="3143"/>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79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ox(in)">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box(in)">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box(in)">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box(in)">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box(in)">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box(in)">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box(in)">
                                      <p:cBhvr>
                                        <p:cTn id="37" dur="500"/>
                                        <p:tgtEl>
                                          <p:spTgt spid="5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box(in)">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box(in)">
                                      <p:cBhvr>
                                        <p:cTn id="47" dur="500"/>
                                        <p:tgtEl>
                                          <p:spTgt spid="5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box(in)">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box(in)">
                                      <p:cBhvr>
                                        <p:cTn id="57" dur="500"/>
                                        <p:tgtEl>
                                          <p:spTgt spid="56"/>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box(in)">
                                      <p:cBhvr>
                                        <p:cTn id="6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1" grpId="0" animBg="1"/>
      <p:bldP spid="52" grpId="0" animBg="1"/>
      <p:bldP spid="53" grpId="0" animBg="1"/>
      <p:bldP spid="54" grpId="0"/>
      <p:bldP spid="55" grpId="0" animBg="1"/>
      <p:bldP spid="56" grpId="0" animBg="1"/>
      <p:bldP spid="57" grpId="0" animBg="1"/>
      <p:bldP spid="58" grpId="0" animBg="1"/>
      <p:bldP spid="5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光度学基础</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348597" y="3324223"/>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198082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sp>
        <p:nvSpPr>
          <p:cNvPr id="3"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光度学基本量</a:t>
            </a:r>
          </a:p>
        </p:txBody>
      </p:sp>
      <p:sp>
        <p:nvSpPr>
          <p:cNvPr id="4" name="矩形 3"/>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045D4FB5-3BA7-4366-9C2A-762F1105D91A}"/>
              </a:ext>
            </a:extLst>
          </p:cNvPr>
          <p:cNvSpPr/>
          <p:nvPr/>
        </p:nvSpPr>
        <p:spPr>
          <a:xfrm>
            <a:off x="1348597" y="3324223"/>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1.3.1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0" name="矩形 9">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710696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Text Box 9">
            <a:extLst>
              <a:ext uri="{FF2B5EF4-FFF2-40B4-BE49-F238E27FC236}">
                <a16:creationId xmlns:a16="http://schemas.microsoft.com/office/drawing/2014/main" id="{862F7D33-0809-4285-84E3-6C272AAF0339}"/>
              </a:ext>
            </a:extLst>
          </p:cNvPr>
          <p:cNvSpPr txBox="1">
            <a:spLocks noChangeArrowheads="1"/>
          </p:cNvSpPr>
          <p:nvPr/>
        </p:nvSpPr>
        <p:spPr bwMode="auto">
          <a:xfrm>
            <a:off x="1274898" y="1073522"/>
            <a:ext cx="4456051"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a:solidFill>
                  <a:srgbClr val="0000FF"/>
                </a:solidFill>
                <a:latin typeface="Times New Roman" pitchFamily="18" charset="0"/>
                <a:ea typeface="微软雅黑" pitchFamily="34" charset="-122"/>
                <a:cs typeface="Times New Roman" pitchFamily="18" charset="0"/>
              </a:rPr>
              <a:t>1. </a:t>
            </a:r>
            <a:r>
              <a:rPr lang="zh-CN" altLang="en-US" sz="2800" b="1">
                <a:solidFill>
                  <a:srgbClr val="0000FF"/>
                </a:solidFill>
                <a:latin typeface="Times New Roman" pitchFamily="18" charset="0"/>
                <a:ea typeface="微软雅黑" pitchFamily="34" charset="-122"/>
                <a:cs typeface="Times New Roman" pitchFamily="18" charset="0"/>
              </a:rPr>
              <a:t>光能</a:t>
            </a:r>
            <a:r>
              <a:rPr lang="en-US" altLang="zh-CN" sz="2800" b="1">
                <a:solidFill>
                  <a:srgbClr val="0000FF"/>
                </a:solidFill>
                <a:latin typeface="Times New Roman" pitchFamily="18" charset="0"/>
                <a:ea typeface="微软雅黑" pitchFamily="34" charset="-122"/>
                <a:cs typeface="Times New Roman" pitchFamily="18" charset="0"/>
              </a:rPr>
              <a:t>(Luminous Energy )</a:t>
            </a:r>
          </a:p>
        </p:txBody>
      </p:sp>
      <p:sp>
        <p:nvSpPr>
          <p:cNvPr id="14" name="Text Box 10">
            <a:extLst>
              <a:ext uri="{FF2B5EF4-FFF2-40B4-BE49-F238E27FC236}">
                <a16:creationId xmlns:a16="http://schemas.microsoft.com/office/drawing/2014/main" id="{F9463DED-0457-4BBD-A411-8EC68794D872}"/>
              </a:ext>
            </a:extLst>
          </p:cNvPr>
          <p:cNvSpPr txBox="1">
            <a:spLocks noChangeArrowheads="1"/>
          </p:cNvSpPr>
          <p:nvPr/>
        </p:nvSpPr>
        <p:spPr bwMode="auto">
          <a:xfrm>
            <a:off x="1000125" y="1821031"/>
            <a:ext cx="11889024" cy="1384995"/>
          </a:xfrm>
          <a:prstGeom prst="rect">
            <a:avLst/>
          </a:prstGeom>
          <a:noFill/>
          <a:ln w="9525">
            <a:noFill/>
            <a:miter lim="800000"/>
            <a:headEnd/>
            <a:tailEnd/>
          </a:ln>
        </p:spPr>
        <p:txBody>
          <a:bodyPr wrap="square">
            <a:spAutoFit/>
          </a:bodyPr>
          <a:lstStyle/>
          <a:p>
            <a:pPr defTabSz="914400">
              <a:lnSpc>
                <a:spcPct val="150000"/>
              </a:lnSpc>
              <a:spcBef>
                <a:spcPts val="0"/>
              </a:spcBef>
            </a:pPr>
            <a:r>
              <a:rPr lang="zh-CN" altLang="en-US" sz="2800" b="1" dirty="0">
                <a:latin typeface="Times New Roman" pitchFamily="18" charset="0"/>
                <a:ea typeface="微软雅黑" pitchFamily="34" charset="-122"/>
                <a:cs typeface="Times New Roman" pitchFamily="18" charset="0"/>
              </a:rPr>
              <a:t>       光能是</a:t>
            </a:r>
            <a:r>
              <a:rPr lang="zh-CN" altLang="en-US" sz="2800" b="1" dirty="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atin typeface="Times New Roman" pitchFamily="18" charset="0"/>
                <a:ea typeface="微软雅黑" pitchFamily="34" charset="-122"/>
                <a:cs typeface="Times New Roman" pitchFamily="18" charset="0"/>
              </a:rPr>
              <a:t>光通量</a:t>
            </a:r>
            <a:r>
              <a:rPr lang="zh-CN" altLang="en-US" sz="2800" b="1" dirty="0">
                <a:latin typeface="Times New Roman" pitchFamily="18" charset="0"/>
                <a:ea typeface="微软雅黑" pitchFamily="34" charset="-122"/>
                <a:cs typeface="Times New Roman" pitchFamily="18" charset="0"/>
              </a:rPr>
              <a:t>在可见光范围内对时间的积分。以</a:t>
            </a:r>
            <a:r>
              <a:rPr lang="en-US" altLang="zh-CN" sz="2800" b="1" i="1" dirty="0">
                <a:latin typeface="Times New Roman" pitchFamily="18" charset="0"/>
                <a:ea typeface="微软雅黑" pitchFamily="34" charset="-122"/>
                <a:cs typeface="Times New Roman" pitchFamily="18" charset="0"/>
              </a:rPr>
              <a:t>Q</a:t>
            </a:r>
            <a:r>
              <a:rPr lang="en-US" altLang="zh-CN" sz="2800" b="1" baseline="-25000" dirty="0">
                <a:latin typeface="Times New Roman" pitchFamily="18" charset="0"/>
                <a:ea typeface="微软雅黑" pitchFamily="34" charset="-122"/>
                <a:cs typeface="Times New Roman" pitchFamily="18" charset="0"/>
              </a:rPr>
              <a:t>v</a:t>
            </a:r>
            <a:r>
              <a:rPr lang="zh-CN" altLang="en-US" sz="2800" b="1" dirty="0">
                <a:latin typeface="Times New Roman" pitchFamily="18" charset="0"/>
                <a:ea typeface="微软雅黑" pitchFamily="34" charset="-122"/>
                <a:cs typeface="Times New Roman" pitchFamily="18" charset="0"/>
              </a:rPr>
              <a:t>表示，其计量单位为流明</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秒（</a:t>
            </a:r>
            <a:r>
              <a:rPr lang="en-US" altLang="zh-CN" sz="2800" b="1" dirty="0" err="1">
                <a:latin typeface="Times New Roman" pitchFamily="18" charset="0"/>
                <a:ea typeface="微软雅黑" pitchFamily="34" charset="-122"/>
                <a:cs typeface="Times New Roman" pitchFamily="18" charset="0"/>
              </a:rPr>
              <a:t>lm·s</a:t>
            </a:r>
            <a:r>
              <a:rPr lang="zh-CN" altLang="en-US" sz="2800" b="1" dirty="0">
                <a:latin typeface="Times New Roman" pitchFamily="18" charset="0"/>
                <a:ea typeface="微软雅黑" pitchFamily="34" charset="-122"/>
                <a:cs typeface="Times New Roman" pitchFamily="18" charset="0"/>
              </a:rPr>
              <a:t>）</a:t>
            </a:r>
          </a:p>
        </p:txBody>
      </p:sp>
      <p:sp>
        <p:nvSpPr>
          <p:cNvPr id="15" name="Text Box 4">
            <a:extLst>
              <a:ext uri="{FF2B5EF4-FFF2-40B4-BE49-F238E27FC236}">
                <a16:creationId xmlns:a16="http://schemas.microsoft.com/office/drawing/2014/main" id="{DCB9EF4D-74EE-414A-B679-6A826B910089}"/>
              </a:ext>
            </a:extLst>
          </p:cNvPr>
          <p:cNvSpPr txBox="1">
            <a:spLocks noChangeArrowheads="1"/>
          </p:cNvSpPr>
          <p:nvPr/>
        </p:nvSpPr>
        <p:spPr bwMode="auto">
          <a:xfrm>
            <a:off x="1274898" y="3599334"/>
            <a:ext cx="4456051" cy="523220"/>
          </a:xfrm>
          <a:prstGeom prst="rect">
            <a:avLst/>
          </a:prstGeom>
          <a:noFill/>
          <a:ln w="9525">
            <a:noFill/>
            <a:miter lim="800000"/>
            <a:headEnd/>
            <a:tailEnd/>
          </a:ln>
        </p:spPr>
        <p:txBody>
          <a:bodyPr wrap="square">
            <a:spAutoFit/>
          </a:bodyPr>
          <a:lstStyle/>
          <a:p>
            <a:pPr defTabSz="914400">
              <a:spcBef>
                <a:spcPct val="50000"/>
              </a:spcBef>
            </a:pPr>
            <a:r>
              <a:rPr lang="en-US" altLang="zh-CN" sz="2800" b="1">
                <a:solidFill>
                  <a:srgbClr val="0000FF"/>
                </a:solidFill>
                <a:latin typeface="Times New Roman" pitchFamily="18" charset="0"/>
                <a:ea typeface="微软雅黑" pitchFamily="34" charset="-122"/>
                <a:cs typeface="Times New Roman" pitchFamily="18" charset="0"/>
              </a:rPr>
              <a:t>2.</a:t>
            </a:r>
            <a:r>
              <a:rPr lang="zh-CN" altLang="en-US" sz="2800" b="1">
                <a:solidFill>
                  <a:srgbClr val="0000FF"/>
                </a:solidFill>
                <a:latin typeface="Times New Roman" pitchFamily="18" charset="0"/>
                <a:ea typeface="微软雅黑" pitchFamily="34" charset="-122"/>
                <a:cs typeface="Times New Roman" pitchFamily="18" charset="0"/>
              </a:rPr>
              <a:t> 光通量</a:t>
            </a:r>
            <a:r>
              <a:rPr lang="en-US" altLang="zh-CN" sz="2800" b="1">
                <a:solidFill>
                  <a:srgbClr val="0000FF"/>
                </a:solidFill>
                <a:latin typeface="Times New Roman" pitchFamily="18" charset="0"/>
                <a:ea typeface="微软雅黑" pitchFamily="34" charset="-122"/>
                <a:cs typeface="Times New Roman" pitchFamily="18" charset="0"/>
              </a:rPr>
              <a:t>(Luminous Flux)</a:t>
            </a:r>
          </a:p>
        </p:txBody>
      </p:sp>
      <p:sp>
        <p:nvSpPr>
          <p:cNvPr id="16" name="Text Box 5">
            <a:extLst>
              <a:ext uri="{FF2B5EF4-FFF2-40B4-BE49-F238E27FC236}">
                <a16:creationId xmlns:a16="http://schemas.microsoft.com/office/drawing/2014/main" id="{B987164A-FED6-4FE1-85B7-4DC2951A7596}"/>
              </a:ext>
            </a:extLst>
          </p:cNvPr>
          <p:cNvSpPr txBox="1">
            <a:spLocks noChangeArrowheads="1"/>
          </p:cNvSpPr>
          <p:nvPr/>
        </p:nvSpPr>
        <p:spPr bwMode="auto">
          <a:xfrm>
            <a:off x="1167894" y="4615165"/>
            <a:ext cx="11721255" cy="523220"/>
          </a:xfrm>
          <a:prstGeom prst="rect">
            <a:avLst/>
          </a:prstGeom>
          <a:noFill/>
          <a:ln w="9525">
            <a:noFill/>
            <a:miter lim="800000"/>
            <a:headEnd/>
            <a:tailEnd/>
          </a:ln>
        </p:spPr>
        <p:txBody>
          <a:bodyPr wrap="square">
            <a:spAutoFit/>
          </a:bodyPr>
          <a:lstStyle/>
          <a:p>
            <a:pPr defTabSz="914400">
              <a:spcBef>
                <a:spcPct val="50000"/>
              </a:spcBef>
            </a:pPr>
            <a:r>
              <a:rPr lang="zh-CN" altLang="en-US" sz="2800" b="1" dirty="0">
                <a:latin typeface="Times New Roman" pitchFamily="18" charset="0"/>
                <a:ea typeface="微软雅黑" pitchFamily="34" charset="-122"/>
                <a:cs typeface="Times New Roman" pitchFamily="18" charset="0"/>
              </a:rPr>
              <a:t>光通量是单位时间内通过某一面积的光能。</a:t>
            </a:r>
            <a:r>
              <a:rPr lang="zh-CN" altLang="en-US" sz="2400" b="1" dirty="0">
                <a:latin typeface="Times New Roman" pitchFamily="18" charset="0"/>
                <a:ea typeface="微软雅黑" pitchFamily="34" charset="-122"/>
                <a:cs typeface="Times New Roman" pitchFamily="18" charset="0"/>
              </a:rPr>
              <a:t>以</a:t>
            </a:r>
            <a:r>
              <a:rPr lang="en-US" altLang="zh-CN" sz="2400" b="1" i="1" dirty="0">
                <a:latin typeface="Times New Roman" pitchFamily="18" charset="0"/>
                <a:ea typeface="微软雅黑" pitchFamily="34" charset="-122"/>
                <a:cs typeface="Times New Roman" pitchFamily="18" charset="0"/>
                <a:sym typeface="Symbol" pitchFamily="18" charset="2"/>
              </a:rPr>
              <a:t></a:t>
            </a:r>
            <a:r>
              <a:rPr lang="en-US" altLang="zh-CN" sz="2400" b="1" baseline="-25000" dirty="0">
                <a:latin typeface="Times New Roman" pitchFamily="18" charset="0"/>
                <a:ea typeface="微软雅黑" pitchFamily="34" charset="-122"/>
                <a:cs typeface="Times New Roman" pitchFamily="18" charset="0"/>
              </a:rPr>
              <a:t>v</a:t>
            </a:r>
            <a:r>
              <a:rPr lang="zh-CN" altLang="en-US" sz="2400" b="1" dirty="0">
                <a:latin typeface="Times New Roman" pitchFamily="18" charset="0"/>
                <a:ea typeface="微软雅黑" pitchFamily="34" charset="-122"/>
                <a:cs typeface="Times New Roman" pitchFamily="18" charset="0"/>
              </a:rPr>
              <a:t>表示，其计量单位为流明</a:t>
            </a:r>
            <a:r>
              <a:rPr lang="en-US" altLang="zh-CN" sz="2400" b="1" dirty="0">
                <a:latin typeface="Times New Roman" pitchFamily="18" charset="0"/>
                <a:ea typeface="微软雅黑" pitchFamily="34" charset="-122"/>
                <a:cs typeface="Times New Roman" pitchFamily="18" charset="0"/>
              </a:rPr>
              <a:t>(lm)</a:t>
            </a:r>
            <a:r>
              <a:rPr lang="zh-CN" altLang="en-US" sz="2400" b="1" dirty="0">
                <a:latin typeface="Times New Roman" pitchFamily="18" charset="0"/>
                <a:ea typeface="微软雅黑" pitchFamily="34" charset="-122"/>
                <a:cs typeface="Times New Roman" pitchFamily="18" charset="0"/>
              </a:rPr>
              <a:t>。</a:t>
            </a:r>
          </a:p>
        </p:txBody>
      </p:sp>
      <p:graphicFrame>
        <p:nvGraphicFramePr>
          <p:cNvPr id="17" name="Object 6">
            <a:extLst>
              <a:ext uri="{FF2B5EF4-FFF2-40B4-BE49-F238E27FC236}">
                <a16:creationId xmlns:a16="http://schemas.microsoft.com/office/drawing/2014/main" id="{7FB809AD-9083-425F-9A94-3A93BE0ECF6D}"/>
              </a:ext>
            </a:extLst>
          </p:cNvPr>
          <p:cNvGraphicFramePr>
            <a:graphicFrameLocks noChangeAspect="1"/>
          </p:cNvGraphicFramePr>
          <p:nvPr/>
        </p:nvGraphicFramePr>
        <p:xfrm>
          <a:off x="3676785" y="6105120"/>
          <a:ext cx="1482725" cy="955675"/>
        </p:xfrm>
        <a:graphic>
          <a:graphicData uri="http://schemas.openxmlformats.org/presentationml/2006/ole">
            <mc:AlternateContent xmlns:mc="http://schemas.openxmlformats.org/markup-compatibility/2006">
              <mc:Choice xmlns:v="urn:schemas-microsoft-com:vml" Requires="v">
                <p:oleObj name="Equation" r:id="rId2" imgW="571320" imgH="368280" progId="Equation.3">
                  <p:embed/>
                </p:oleObj>
              </mc:Choice>
              <mc:Fallback>
                <p:oleObj name="Equation" r:id="rId2" imgW="571320" imgH="368280" progId="Equation.3">
                  <p:embed/>
                  <p:pic>
                    <p:nvPicPr>
                      <p:cNvPr id="15"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6785" y="6105120"/>
                        <a:ext cx="1482725" cy="9556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7">
            <a:extLst>
              <a:ext uri="{FF2B5EF4-FFF2-40B4-BE49-F238E27FC236}">
                <a16:creationId xmlns:a16="http://schemas.microsoft.com/office/drawing/2014/main" id="{3DABCCD0-EEA4-4789-A514-12B56E6E9B06}"/>
              </a:ext>
            </a:extLst>
          </p:cNvPr>
          <p:cNvGraphicFramePr>
            <a:graphicFrameLocks noChangeAspect="1"/>
          </p:cNvGraphicFramePr>
          <p:nvPr/>
        </p:nvGraphicFramePr>
        <p:xfrm>
          <a:off x="6270743" y="6072592"/>
          <a:ext cx="1347787" cy="977900"/>
        </p:xfrm>
        <a:graphic>
          <a:graphicData uri="http://schemas.openxmlformats.org/presentationml/2006/ole">
            <mc:AlternateContent xmlns:mc="http://schemas.openxmlformats.org/markup-compatibility/2006">
              <mc:Choice xmlns:v="urn:schemas-microsoft-com:vml" Requires="v">
                <p:oleObj name="Equation" r:id="rId4" imgW="507960" imgH="368280" progId="Equation.3">
                  <p:embed/>
                </p:oleObj>
              </mc:Choice>
              <mc:Fallback>
                <p:oleObj name="Equation" r:id="rId4" imgW="507960" imgH="368280" progId="Equation.3">
                  <p:embed/>
                  <p:pic>
                    <p:nvPicPr>
                      <p:cNvPr id="16"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0743" y="6072592"/>
                        <a:ext cx="1347787" cy="9779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0">
            <a:extLst>
              <a:ext uri="{FF2B5EF4-FFF2-40B4-BE49-F238E27FC236}">
                <a16:creationId xmlns:a16="http://schemas.microsoft.com/office/drawing/2014/main" id="{7AE20611-50AA-4282-8711-C5FB4098A3E5}"/>
              </a:ext>
            </a:extLst>
          </p:cNvPr>
          <p:cNvSpPr txBox="1">
            <a:spLocks noChangeArrowheads="1"/>
          </p:cNvSpPr>
          <p:nvPr/>
        </p:nvSpPr>
        <p:spPr bwMode="auto">
          <a:xfrm>
            <a:off x="1274898" y="5360954"/>
            <a:ext cx="3143250" cy="519112"/>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Times New Roman" pitchFamily="18" charset="0"/>
                <a:ea typeface="微软雅黑" pitchFamily="34" charset="-122"/>
                <a:cs typeface="Times New Roman" pitchFamily="18" charset="0"/>
              </a:rPr>
              <a:t>用数学式表示为</a:t>
            </a:r>
          </a:p>
        </p:txBody>
      </p:sp>
      <p:sp>
        <p:nvSpPr>
          <p:cNvPr id="19"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22"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32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amond(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1+#ppt_w/2"/>
                                          </p:val>
                                        </p:tav>
                                        <p:tav tm="100000">
                                          <p:val>
                                            <p:strVal val="#ppt_x"/>
                                          </p:val>
                                        </p:tav>
                                      </p:tavLst>
                                    </p:anim>
                                    <p:anim calcmode="lin" valueType="num">
                                      <p:cBhvr additive="base">
                                        <p:cTn id="1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ox(in)">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linds(horizontal)">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ox(in)">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ox(in)">
                                      <p:cBhvr>
                                        <p:cTn id="3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Text Box 4">
            <a:extLst>
              <a:ext uri="{FF2B5EF4-FFF2-40B4-BE49-F238E27FC236}">
                <a16:creationId xmlns:a16="http://schemas.microsoft.com/office/drawing/2014/main" id="{F45B1AAF-7F86-4C96-A5FD-FDCAF32DA79F}"/>
              </a:ext>
            </a:extLst>
          </p:cNvPr>
          <p:cNvSpPr txBox="1">
            <a:spLocks noChangeArrowheads="1"/>
          </p:cNvSpPr>
          <p:nvPr/>
        </p:nvSpPr>
        <p:spPr bwMode="auto">
          <a:xfrm>
            <a:off x="1000126" y="1179108"/>
            <a:ext cx="5233363" cy="523220"/>
          </a:xfrm>
          <a:prstGeom prst="rect">
            <a:avLst/>
          </a:prstGeom>
          <a:noFill/>
          <a:ln w="9525">
            <a:noFill/>
            <a:miter lim="800000"/>
            <a:headEnd/>
            <a:tailEnd/>
          </a:ln>
        </p:spPr>
        <p:txBody>
          <a:bodyPr wrap="square">
            <a:spAutoFit/>
          </a:bodyPr>
          <a:lstStyle/>
          <a:p>
            <a:pP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3. </a:t>
            </a:r>
            <a:r>
              <a:rPr lang="zh-CN" altLang="en-US" sz="2800" b="1" dirty="0">
                <a:solidFill>
                  <a:srgbClr val="0000FF"/>
                </a:solidFill>
                <a:latin typeface="Times New Roman" pitchFamily="18" charset="0"/>
                <a:ea typeface="微软雅黑" pitchFamily="34" charset="-122"/>
                <a:cs typeface="Times New Roman" pitchFamily="18" charset="0"/>
              </a:rPr>
              <a:t>光出度</a:t>
            </a:r>
            <a:r>
              <a:rPr lang="en-US" altLang="zh-CN" sz="2800" b="1" dirty="0">
                <a:solidFill>
                  <a:srgbClr val="0000FF"/>
                </a:solidFill>
                <a:latin typeface="Times New Roman" pitchFamily="18" charset="0"/>
                <a:ea typeface="微软雅黑" pitchFamily="34" charset="-122"/>
                <a:cs typeface="Times New Roman" pitchFamily="18" charset="0"/>
              </a:rPr>
              <a:t>(Luminous </a:t>
            </a:r>
            <a:r>
              <a:rPr lang="en-US" altLang="zh-CN" sz="2800" b="1" dirty="0" err="1">
                <a:solidFill>
                  <a:srgbClr val="0000FF"/>
                </a:solidFill>
                <a:latin typeface="Times New Roman" pitchFamily="18" charset="0"/>
                <a:ea typeface="微软雅黑" pitchFamily="34" charset="-122"/>
                <a:cs typeface="Times New Roman" pitchFamily="18" charset="0"/>
              </a:rPr>
              <a:t>Exitance</a:t>
            </a:r>
            <a:r>
              <a:rPr lang="en-US" altLang="zh-CN" sz="2800" b="1" dirty="0">
                <a:solidFill>
                  <a:srgbClr val="0000FF"/>
                </a:solidFill>
                <a:latin typeface="Times New Roman" pitchFamily="18" charset="0"/>
                <a:ea typeface="微软雅黑" pitchFamily="34" charset="-122"/>
                <a:cs typeface="Times New Roman" pitchFamily="18" charset="0"/>
              </a:rPr>
              <a:t> )</a:t>
            </a:r>
          </a:p>
        </p:txBody>
      </p:sp>
      <p:sp>
        <p:nvSpPr>
          <p:cNvPr id="22" name="Text Box 5">
            <a:extLst>
              <a:ext uri="{FF2B5EF4-FFF2-40B4-BE49-F238E27FC236}">
                <a16:creationId xmlns:a16="http://schemas.microsoft.com/office/drawing/2014/main" id="{2DC720AB-B579-4765-A631-5D3FF8765BDA}"/>
              </a:ext>
            </a:extLst>
          </p:cNvPr>
          <p:cNvSpPr txBox="1">
            <a:spLocks noChangeArrowheads="1"/>
          </p:cNvSpPr>
          <p:nvPr/>
        </p:nvSpPr>
        <p:spPr bwMode="auto">
          <a:xfrm>
            <a:off x="1000126" y="1923217"/>
            <a:ext cx="11772871" cy="1308628"/>
          </a:xfrm>
          <a:prstGeom prst="rect">
            <a:avLst/>
          </a:prstGeom>
          <a:noFill/>
          <a:ln w="9525">
            <a:noFill/>
            <a:miter lim="800000"/>
            <a:headEnd/>
            <a:tailEnd/>
          </a:ln>
        </p:spPr>
        <p:txBody>
          <a:bodyPr wrap="square">
            <a:spAutoFit/>
          </a:bodyPr>
          <a:lstStyle/>
          <a:p>
            <a:pPr defTabSz="914400">
              <a:lnSpc>
                <a:spcPct val="150000"/>
              </a:lnSpc>
              <a:spcBef>
                <a:spcPts val="0"/>
              </a:spcBef>
            </a:pPr>
            <a:r>
              <a:rPr lang="zh-CN" altLang="en-US" sz="2800" b="1" dirty="0">
                <a:latin typeface="Times New Roman" pitchFamily="18" charset="0"/>
                <a:ea typeface="微软雅黑" pitchFamily="34" charset="-122"/>
                <a:cs typeface="Times New Roman" pitchFamily="18" charset="0"/>
              </a:rPr>
              <a:t>        光源表面单位面积上发出的光通量。用符号</a:t>
            </a:r>
            <a:r>
              <a:rPr lang="en-US" altLang="zh-CN" sz="2800" b="1" i="1" dirty="0" err="1">
                <a:latin typeface="Times New Roman" pitchFamily="18" charset="0"/>
                <a:ea typeface="微软雅黑" pitchFamily="34" charset="-122"/>
                <a:cs typeface="Times New Roman" pitchFamily="18" charset="0"/>
              </a:rPr>
              <a:t>M</a:t>
            </a:r>
            <a:r>
              <a:rPr lang="en-US" altLang="zh-CN" sz="2800" b="1" baseline="-25000" dirty="0" err="1">
                <a:latin typeface="Times New Roman" pitchFamily="18" charset="0"/>
                <a:ea typeface="微软雅黑" pitchFamily="34" charset="-122"/>
                <a:cs typeface="Times New Roman" pitchFamily="18" charset="0"/>
              </a:rPr>
              <a:t>v</a:t>
            </a:r>
            <a:r>
              <a:rPr lang="zh-CN" altLang="en-US" sz="2800" b="1" dirty="0">
                <a:latin typeface="Times New Roman" pitchFamily="18" charset="0"/>
                <a:ea typeface="微软雅黑" pitchFamily="34" charset="-122"/>
                <a:cs typeface="Times New Roman" pitchFamily="18" charset="0"/>
              </a:rPr>
              <a:t>表示，其计量单位为勒</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克司</a:t>
            </a:r>
            <a:r>
              <a:rPr lang="en-US" altLang="zh-CN" sz="2800" b="1" dirty="0">
                <a:latin typeface="Times New Roman" pitchFamily="18" charset="0"/>
                <a:ea typeface="微软雅黑" pitchFamily="34" charset="-122"/>
                <a:cs typeface="Times New Roman" pitchFamily="18" charset="0"/>
              </a:rPr>
              <a:t>)[l</a:t>
            </a:r>
            <a:r>
              <a:rPr lang="en-US" altLang="zh-CN" sz="2800" b="1" i="1" dirty="0">
                <a:latin typeface="Times New Roman" pitchFamily="18" charset="0"/>
                <a:ea typeface="微软雅黑" pitchFamily="34" charset="-122"/>
                <a:cs typeface="Times New Roman" pitchFamily="18" charset="0"/>
              </a:rPr>
              <a:t>x</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或</a:t>
            </a:r>
            <a:r>
              <a:rPr lang="en-US" altLang="zh-CN" sz="2800" b="1" dirty="0">
                <a:latin typeface="Times New Roman" pitchFamily="18" charset="0"/>
                <a:ea typeface="微软雅黑" pitchFamily="34" charset="-122"/>
                <a:cs typeface="Times New Roman" pitchFamily="18" charset="0"/>
              </a:rPr>
              <a:t>[lm/m</a:t>
            </a:r>
            <a:r>
              <a:rPr lang="en-US" altLang="zh-CN" sz="2800" b="1" baseline="30000" dirty="0">
                <a:latin typeface="Times New Roman" pitchFamily="18" charset="0"/>
                <a:ea typeface="微软雅黑" pitchFamily="34" charset="-122"/>
                <a:cs typeface="Times New Roman" pitchFamily="18" charset="0"/>
              </a:rPr>
              <a:t>2</a:t>
            </a:r>
            <a:r>
              <a:rPr lang="en-US" altLang="zh-CN" sz="2800" b="1" dirty="0">
                <a:latin typeface="Times New Roman" pitchFamily="18" charset="0"/>
                <a:ea typeface="微软雅黑" pitchFamily="34" charset="-122"/>
                <a:cs typeface="Times New Roman" pitchFamily="18" charset="0"/>
              </a:rPr>
              <a:t>]</a:t>
            </a:r>
            <a:r>
              <a:rPr lang="zh-CN" altLang="en-US" sz="2800" b="1" dirty="0">
                <a:latin typeface="Times New Roman" pitchFamily="18" charset="0"/>
                <a:ea typeface="微软雅黑" pitchFamily="34" charset="-122"/>
                <a:cs typeface="Times New Roman" pitchFamily="18" charset="0"/>
              </a:rPr>
              <a:t>。</a:t>
            </a:r>
          </a:p>
        </p:txBody>
      </p:sp>
      <p:graphicFrame>
        <p:nvGraphicFramePr>
          <p:cNvPr id="23" name="Object 6">
            <a:extLst>
              <a:ext uri="{FF2B5EF4-FFF2-40B4-BE49-F238E27FC236}">
                <a16:creationId xmlns:a16="http://schemas.microsoft.com/office/drawing/2014/main" id="{479D4716-81DB-4567-8A11-70158673F0B9}"/>
              </a:ext>
            </a:extLst>
          </p:cNvPr>
          <p:cNvGraphicFramePr>
            <a:graphicFrameLocks noChangeAspect="1"/>
          </p:cNvGraphicFramePr>
          <p:nvPr/>
        </p:nvGraphicFramePr>
        <p:xfrm>
          <a:off x="5002292" y="3354457"/>
          <a:ext cx="1532782" cy="881822"/>
        </p:xfrm>
        <a:graphic>
          <a:graphicData uri="http://schemas.openxmlformats.org/presentationml/2006/ole">
            <mc:AlternateContent xmlns:mc="http://schemas.openxmlformats.org/markup-compatibility/2006">
              <mc:Choice xmlns:v="urn:schemas-microsoft-com:vml" Requires="v">
                <p:oleObj name="公式" r:id="rId2" imgW="685800" imgH="393480" progId="Equation.3">
                  <p:embed/>
                </p:oleObj>
              </mc:Choice>
              <mc:Fallback>
                <p:oleObj name="公式" r:id="rId2" imgW="685800" imgH="393480" progId="Equation.3">
                  <p:embed/>
                  <p:pic>
                    <p:nvPicPr>
                      <p:cNvPr id="30311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2292" y="3354457"/>
                        <a:ext cx="1532782" cy="881822"/>
                      </a:xfrm>
                      <a:prstGeom prst="rect">
                        <a:avLst/>
                      </a:prstGeom>
                      <a:solidFill>
                        <a:srgbClr val="FFFF00"/>
                      </a:solidFill>
                      <a:ln>
                        <a:noFill/>
                      </a:ln>
                      <a:effectLst/>
                    </p:spPr>
                  </p:pic>
                </p:oleObj>
              </mc:Fallback>
            </mc:AlternateContent>
          </a:graphicData>
        </a:graphic>
      </p:graphicFrame>
      <p:sp>
        <p:nvSpPr>
          <p:cNvPr id="24" name="Text Box 10">
            <a:extLst>
              <a:ext uri="{FF2B5EF4-FFF2-40B4-BE49-F238E27FC236}">
                <a16:creationId xmlns:a16="http://schemas.microsoft.com/office/drawing/2014/main" id="{4894E3FB-89B2-4E20-9973-61445C39A57A}"/>
              </a:ext>
            </a:extLst>
          </p:cNvPr>
          <p:cNvSpPr txBox="1">
            <a:spLocks noChangeArrowheads="1"/>
          </p:cNvSpPr>
          <p:nvPr/>
        </p:nvSpPr>
        <p:spPr bwMode="auto">
          <a:xfrm>
            <a:off x="1764924" y="3527333"/>
            <a:ext cx="3143250" cy="519113"/>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Times New Roman" pitchFamily="18" charset="0"/>
                <a:ea typeface="微软雅黑" pitchFamily="34" charset="-122"/>
                <a:cs typeface="Times New Roman" pitchFamily="18" charset="0"/>
              </a:rPr>
              <a:t>用数学式表示为</a:t>
            </a:r>
          </a:p>
        </p:txBody>
      </p:sp>
      <p:sp>
        <p:nvSpPr>
          <p:cNvPr id="27" name="Text Box 4">
            <a:extLst>
              <a:ext uri="{FF2B5EF4-FFF2-40B4-BE49-F238E27FC236}">
                <a16:creationId xmlns:a16="http://schemas.microsoft.com/office/drawing/2014/main" id="{4C2B633D-A61E-4DA1-AEE3-D64A8EA5DB85}"/>
              </a:ext>
            </a:extLst>
          </p:cNvPr>
          <p:cNvSpPr txBox="1">
            <a:spLocks noChangeArrowheads="1"/>
          </p:cNvSpPr>
          <p:nvPr/>
        </p:nvSpPr>
        <p:spPr bwMode="auto">
          <a:xfrm>
            <a:off x="514350" y="5248488"/>
            <a:ext cx="12670479"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光源在给定方向上单位立体角内发出的光通量定义为发光强度。用符号</a:t>
            </a:r>
            <a:r>
              <a:rPr lang="en-US" altLang="zh-CN" sz="2800" b="1" i="1" dirty="0">
                <a:latin typeface="Times New Roman" pitchFamily="18" charset="0"/>
                <a:ea typeface="微软雅黑" pitchFamily="34" charset="-122"/>
                <a:cs typeface="Times New Roman" pitchFamily="18" charset="0"/>
              </a:rPr>
              <a:t>I</a:t>
            </a:r>
            <a:r>
              <a:rPr lang="en-US" altLang="zh-CN" sz="2800" b="1" baseline="-25000" dirty="0">
                <a:latin typeface="Times New Roman" pitchFamily="18" charset="0"/>
                <a:ea typeface="微软雅黑" pitchFamily="34" charset="-122"/>
                <a:cs typeface="Times New Roman" pitchFamily="18" charset="0"/>
              </a:rPr>
              <a:t>v</a:t>
            </a:r>
            <a:r>
              <a:rPr lang="zh-CN" altLang="en-US" sz="2800" b="1" dirty="0">
                <a:latin typeface="Times New Roman" pitchFamily="18" charset="0"/>
                <a:ea typeface="微软雅黑" pitchFamily="34" charset="-122"/>
                <a:cs typeface="Times New Roman" pitchFamily="18" charset="0"/>
              </a:rPr>
              <a:t>表示。</a:t>
            </a:r>
          </a:p>
        </p:txBody>
      </p:sp>
      <p:sp>
        <p:nvSpPr>
          <p:cNvPr id="28" name="Text Box 5">
            <a:extLst>
              <a:ext uri="{FF2B5EF4-FFF2-40B4-BE49-F238E27FC236}">
                <a16:creationId xmlns:a16="http://schemas.microsoft.com/office/drawing/2014/main" id="{5D8620D0-82AE-4ACE-84EB-0BC4837625C8}"/>
              </a:ext>
            </a:extLst>
          </p:cNvPr>
          <p:cNvSpPr txBox="1">
            <a:spLocks noChangeArrowheads="1"/>
          </p:cNvSpPr>
          <p:nvPr/>
        </p:nvSpPr>
        <p:spPr bwMode="auto">
          <a:xfrm>
            <a:off x="716756" y="4467581"/>
            <a:ext cx="5534949"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4. </a:t>
            </a:r>
            <a:r>
              <a:rPr lang="zh-CN" altLang="en-US" sz="2800" b="1" dirty="0">
                <a:solidFill>
                  <a:srgbClr val="0000FF"/>
                </a:solidFill>
                <a:latin typeface="Times New Roman" pitchFamily="18" charset="0"/>
                <a:ea typeface="微软雅黑" pitchFamily="34" charset="-122"/>
                <a:cs typeface="Times New Roman" pitchFamily="18" charset="0"/>
              </a:rPr>
              <a:t>发光强度  </a:t>
            </a:r>
            <a:r>
              <a:rPr lang="en-US" altLang="zh-CN" sz="2800" b="1" dirty="0">
                <a:solidFill>
                  <a:srgbClr val="0000FF"/>
                </a:solidFill>
                <a:latin typeface="Times New Roman" pitchFamily="18" charset="0"/>
                <a:ea typeface="微软雅黑" pitchFamily="34" charset="-122"/>
                <a:cs typeface="Times New Roman" pitchFamily="18" charset="0"/>
              </a:rPr>
              <a:t>(Luminous Intensity) </a:t>
            </a:r>
          </a:p>
        </p:txBody>
      </p:sp>
      <p:graphicFrame>
        <p:nvGraphicFramePr>
          <p:cNvPr id="29" name="Object 6">
            <a:extLst>
              <a:ext uri="{FF2B5EF4-FFF2-40B4-BE49-F238E27FC236}">
                <a16:creationId xmlns:a16="http://schemas.microsoft.com/office/drawing/2014/main" id="{F18C3C49-B822-4B66-B35C-E6781BD6A0C3}"/>
              </a:ext>
            </a:extLst>
          </p:cNvPr>
          <p:cNvGraphicFramePr>
            <a:graphicFrameLocks noChangeAspect="1"/>
          </p:cNvGraphicFramePr>
          <p:nvPr/>
        </p:nvGraphicFramePr>
        <p:xfrm>
          <a:off x="5016434" y="6200688"/>
          <a:ext cx="1217055" cy="802874"/>
        </p:xfrm>
        <a:graphic>
          <a:graphicData uri="http://schemas.openxmlformats.org/presentationml/2006/ole">
            <mc:AlternateContent xmlns:mc="http://schemas.openxmlformats.org/markup-compatibility/2006">
              <mc:Choice xmlns:v="urn:schemas-microsoft-com:vml" Requires="v">
                <p:oleObj name="Equation" r:id="rId4" imgW="558720" imgH="368280" progId="Equation.3">
                  <p:embed/>
                </p:oleObj>
              </mc:Choice>
              <mc:Fallback>
                <p:oleObj name="Equation" r:id="rId4" imgW="558720" imgH="368280" progId="Equation.3">
                  <p:embed/>
                  <p:pic>
                    <p:nvPicPr>
                      <p:cNvPr id="1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6434" y="6200688"/>
                        <a:ext cx="1217055" cy="802874"/>
                      </a:xfrm>
                      <a:prstGeom prst="rect">
                        <a:avLst/>
                      </a:prstGeom>
                      <a:solidFill>
                        <a:srgbClr val="FFFF00"/>
                      </a:solidFill>
                      <a:ln>
                        <a:noFill/>
                      </a:ln>
                      <a:effectLst/>
                    </p:spPr>
                  </p:pic>
                </p:oleObj>
              </mc:Fallback>
            </mc:AlternateContent>
          </a:graphicData>
        </a:graphic>
      </p:graphicFrame>
      <p:sp>
        <p:nvSpPr>
          <p:cNvPr id="30" name="Text Box 4">
            <a:extLst>
              <a:ext uri="{FF2B5EF4-FFF2-40B4-BE49-F238E27FC236}">
                <a16:creationId xmlns:a16="http://schemas.microsoft.com/office/drawing/2014/main" id="{A6C34B48-9879-4476-A2B8-F56D311AB9B0}"/>
              </a:ext>
            </a:extLst>
          </p:cNvPr>
          <p:cNvSpPr txBox="1">
            <a:spLocks noChangeArrowheads="1"/>
          </p:cNvSpPr>
          <p:nvPr/>
        </p:nvSpPr>
        <p:spPr bwMode="auto">
          <a:xfrm>
            <a:off x="6920217" y="6245292"/>
            <a:ext cx="4572000" cy="519112"/>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计量单位为坎德拉</a:t>
            </a:r>
            <a:r>
              <a:rPr lang="en-US" altLang="zh-CN" sz="2800" b="1" dirty="0">
                <a:latin typeface="Times New Roman" pitchFamily="18" charset="0"/>
                <a:ea typeface="微软雅黑" pitchFamily="34" charset="-122"/>
                <a:cs typeface="Times New Roman" pitchFamily="18" charset="0"/>
              </a:rPr>
              <a:t>(Cd)</a:t>
            </a:r>
            <a:r>
              <a:rPr lang="zh-CN" altLang="en-US" sz="2800" b="1" dirty="0">
                <a:latin typeface="Times New Roman" pitchFamily="18" charset="0"/>
                <a:ea typeface="微软雅黑" pitchFamily="34" charset="-122"/>
                <a:cs typeface="Times New Roman" pitchFamily="18" charset="0"/>
              </a:rPr>
              <a:t>。</a:t>
            </a:r>
          </a:p>
        </p:txBody>
      </p:sp>
      <p:sp>
        <p:nvSpPr>
          <p:cNvPr id="31" name="Text Box 4">
            <a:extLst>
              <a:ext uri="{FF2B5EF4-FFF2-40B4-BE49-F238E27FC236}">
                <a16:creationId xmlns:a16="http://schemas.microsoft.com/office/drawing/2014/main" id="{E27E91C6-D475-4683-A5FA-3DBE30859DDD}"/>
              </a:ext>
            </a:extLst>
          </p:cNvPr>
          <p:cNvSpPr txBox="1">
            <a:spLocks noChangeArrowheads="1"/>
          </p:cNvSpPr>
          <p:nvPr/>
        </p:nvSpPr>
        <p:spPr bwMode="auto">
          <a:xfrm>
            <a:off x="1836362" y="6342569"/>
            <a:ext cx="2696728" cy="519112"/>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微软雅黑" pitchFamily="34" charset="-122"/>
                <a:cs typeface="Times New Roman" pitchFamily="18" charset="0"/>
              </a:rPr>
              <a:t>数学表达式为：</a:t>
            </a:r>
          </a:p>
        </p:txBody>
      </p:sp>
      <p:sp>
        <p:nvSpPr>
          <p:cNvPr id="18"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21"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44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0-#ppt_w/2"/>
                                          </p:val>
                                        </p:tav>
                                        <p:tav tm="100000">
                                          <p:val>
                                            <p:strVal val="#ppt_x"/>
                                          </p:val>
                                        </p:tav>
                                      </p:tavLst>
                                    </p:anim>
                                    <p:anim calcmode="lin" valueType="num">
                                      <p:cBhvr additive="base">
                                        <p:cTn id="1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linds(horizontal)">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box(in)">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0-#ppt_w/2"/>
                                          </p:val>
                                        </p:tav>
                                        <p:tav tm="100000">
                                          <p:val>
                                            <p:strVal val="#ppt_x"/>
                                          </p:val>
                                        </p:tav>
                                      </p:tavLst>
                                    </p:anim>
                                    <p:anim calcmode="lin" valueType="num">
                                      <p:cBhvr additive="base">
                                        <p:cTn id="3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1+#ppt_w/2"/>
                                          </p:val>
                                        </p:tav>
                                        <p:tav tm="100000">
                                          <p:val>
                                            <p:strVal val="#ppt_x"/>
                                          </p:val>
                                        </p:tav>
                                      </p:tavLst>
                                    </p:anim>
                                    <p:anim calcmode="lin" valueType="num">
                                      <p:cBhvr additive="base">
                                        <p:cTn id="3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1+#ppt_w/2"/>
                                          </p:val>
                                        </p:tav>
                                        <p:tav tm="100000">
                                          <p:val>
                                            <p:strVal val="#ppt_x"/>
                                          </p:val>
                                        </p:tav>
                                      </p:tavLst>
                                    </p:anim>
                                    <p:anim calcmode="lin" valueType="num">
                                      <p:cBhvr additive="base">
                                        <p:cTn id="4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box(in)">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fill="hold"/>
                                        <p:tgtEl>
                                          <p:spTgt spid="30"/>
                                        </p:tgtEl>
                                        <p:attrNameLst>
                                          <p:attrName>ppt_x</p:attrName>
                                        </p:attrNameLst>
                                      </p:cBhvr>
                                      <p:tavLst>
                                        <p:tav tm="0">
                                          <p:val>
                                            <p:strVal val="1+#ppt_w/2"/>
                                          </p:val>
                                        </p:tav>
                                        <p:tav tm="100000">
                                          <p:val>
                                            <p:strVal val="#ppt_x"/>
                                          </p:val>
                                        </p:tav>
                                      </p:tavLst>
                                    </p:anim>
                                    <p:anim calcmode="lin" valueType="num">
                                      <p:cBhvr additive="base">
                                        <p:cTn id="53"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4" grpId="0"/>
      <p:bldP spid="27" grpId="0"/>
      <p:bldP spid="28" grpId="0"/>
      <p:bldP spid="30" grpId="0"/>
      <p:bldP spid="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8" name="Text Box 4">
            <a:extLst>
              <a:ext uri="{FF2B5EF4-FFF2-40B4-BE49-F238E27FC236}">
                <a16:creationId xmlns:a16="http://schemas.microsoft.com/office/drawing/2014/main" id="{1856B392-B603-4D10-8B94-6D3E5AF1F315}"/>
              </a:ext>
            </a:extLst>
          </p:cNvPr>
          <p:cNvSpPr txBox="1">
            <a:spLocks noChangeArrowheads="1"/>
          </p:cNvSpPr>
          <p:nvPr/>
        </p:nvSpPr>
        <p:spPr bwMode="auto">
          <a:xfrm>
            <a:off x="858570" y="1610917"/>
            <a:ext cx="12166766"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400" b="1" dirty="0">
                <a:latin typeface="Times New Roman" pitchFamily="18" charset="0"/>
                <a:ea typeface="黑体" pitchFamily="2"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发光强度的单位是坎德拉</a:t>
            </a:r>
            <a:r>
              <a:rPr lang="en-US" altLang="zh-CN" sz="2400" b="1" dirty="0">
                <a:solidFill>
                  <a:srgbClr val="FF0000"/>
                </a:solidFill>
                <a:latin typeface="Times New Roman" pitchFamily="18" charset="0"/>
                <a:ea typeface="微软雅黑" pitchFamily="34" charset="-122"/>
                <a:cs typeface="Times New Roman" pitchFamily="18" charset="0"/>
              </a:rPr>
              <a:t>(Candela)</a:t>
            </a:r>
            <a:r>
              <a:rPr lang="zh-CN" altLang="en-US" sz="2400" b="1" dirty="0">
                <a:latin typeface="Times New Roman" pitchFamily="18" charset="0"/>
                <a:ea typeface="微软雅黑" pitchFamily="34" charset="-122"/>
                <a:cs typeface="Times New Roman" pitchFamily="18" charset="0"/>
              </a:rPr>
              <a:t>，简称为坎</a:t>
            </a:r>
            <a:r>
              <a:rPr lang="en-US" altLang="zh-CN" sz="2400" b="1" dirty="0">
                <a:solidFill>
                  <a:srgbClr val="FF0000"/>
                </a:solidFill>
                <a:latin typeface="Times New Roman" pitchFamily="18" charset="0"/>
                <a:ea typeface="微软雅黑" pitchFamily="34" charset="-122"/>
                <a:cs typeface="Times New Roman" pitchFamily="18" charset="0"/>
              </a:rPr>
              <a:t>[cd]</a:t>
            </a:r>
            <a:r>
              <a:rPr lang="zh-CN" altLang="en-US" sz="2400" b="1" dirty="0">
                <a:latin typeface="Times New Roman" pitchFamily="18" charset="0"/>
                <a:ea typeface="微软雅黑" pitchFamily="34" charset="-122"/>
                <a:cs typeface="Times New Roman" pitchFamily="18" charset="0"/>
              </a:rPr>
              <a:t>。</a:t>
            </a:r>
            <a:r>
              <a:rPr lang="en-US" altLang="zh-CN" sz="2400" b="1" dirty="0">
                <a:latin typeface="Times New Roman" pitchFamily="18" charset="0"/>
                <a:ea typeface="微软雅黑" pitchFamily="34" charset="-122"/>
                <a:cs typeface="Times New Roman" pitchFamily="18" charset="0"/>
              </a:rPr>
              <a:t>1979</a:t>
            </a:r>
            <a:r>
              <a:rPr lang="zh-CN" altLang="en-US" sz="2400" b="1" dirty="0">
                <a:latin typeface="Times New Roman" pitchFamily="18" charset="0"/>
                <a:ea typeface="微软雅黑" pitchFamily="34" charset="-122"/>
                <a:cs typeface="Times New Roman" pitchFamily="18" charset="0"/>
              </a:rPr>
              <a:t>年第十六届国际计量大会通过决议，将坎德拉重新定义为：</a:t>
            </a:r>
          </a:p>
        </p:txBody>
      </p:sp>
      <p:sp>
        <p:nvSpPr>
          <p:cNvPr id="21" name="Text Box 5">
            <a:extLst>
              <a:ext uri="{FF2B5EF4-FFF2-40B4-BE49-F238E27FC236}">
                <a16:creationId xmlns:a16="http://schemas.microsoft.com/office/drawing/2014/main" id="{0E700ADB-A0D8-4D20-A142-79EDA8748EB3}"/>
              </a:ext>
            </a:extLst>
          </p:cNvPr>
          <p:cNvSpPr txBox="1">
            <a:spLocks noChangeArrowheads="1"/>
          </p:cNvSpPr>
          <p:nvPr/>
        </p:nvSpPr>
        <p:spPr bwMode="auto">
          <a:xfrm>
            <a:off x="2963944" y="989544"/>
            <a:ext cx="6911975" cy="584775"/>
          </a:xfrm>
          <a:prstGeom prst="rect">
            <a:avLst/>
          </a:prstGeom>
          <a:noFill/>
          <a:ln w="9525">
            <a:noFill/>
            <a:miter lim="800000"/>
            <a:headEnd/>
            <a:tailEnd/>
          </a:ln>
        </p:spPr>
        <p:txBody>
          <a:bodyPr>
            <a:spAutoFit/>
          </a:bodyPr>
          <a:lstStyle/>
          <a:p>
            <a:pPr algn="ctr" defTabSz="914400">
              <a:spcBef>
                <a:spcPct val="50000"/>
              </a:spcBef>
            </a:pPr>
            <a:r>
              <a:rPr lang="zh-CN" altLang="en-US" sz="3200" b="1" dirty="0">
                <a:solidFill>
                  <a:srgbClr val="0000FF"/>
                </a:solidFill>
                <a:latin typeface="微软雅黑" pitchFamily="34" charset="-122"/>
                <a:ea typeface="微软雅黑" pitchFamily="34" charset="-122"/>
              </a:rPr>
              <a:t>国际七个基本单位之一</a:t>
            </a:r>
            <a:r>
              <a:rPr lang="en-US" altLang="zh-CN" sz="3200" b="1" dirty="0">
                <a:solidFill>
                  <a:srgbClr val="0000FF"/>
                </a:solidFill>
                <a:latin typeface="微软雅黑" pitchFamily="34" charset="-122"/>
                <a:ea typeface="微软雅黑" pitchFamily="34" charset="-122"/>
              </a:rPr>
              <a:t>--</a:t>
            </a:r>
            <a:r>
              <a:rPr lang="zh-CN" altLang="en-US" sz="3200" b="1" dirty="0">
                <a:solidFill>
                  <a:srgbClr val="0000FF"/>
                </a:solidFill>
                <a:latin typeface="微软雅黑" pitchFamily="34" charset="-122"/>
                <a:ea typeface="微软雅黑" pitchFamily="34" charset="-122"/>
              </a:rPr>
              <a:t>坎德拉</a:t>
            </a:r>
          </a:p>
        </p:txBody>
      </p:sp>
      <p:sp>
        <p:nvSpPr>
          <p:cNvPr id="32" name="Text Box 4">
            <a:extLst>
              <a:ext uri="{FF2B5EF4-FFF2-40B4-BE49-F238E27FC236}">
                <a16:creationId xmlns:a16="http://schemas.microsoft.com/office/drawing/2014/main" id="{D32D5253-C877-4E44-B30A-392F53526CD8}"/>
              </a:ext>
            </a:extLst>
          </p:cNvPr>
          <p:cNvSpPr txBox="1">
            <a:spLocks noChangeArrowheads="1"/>
          </p:cNvSpPr>
          <p:nvPr/>
        </p:nvSpPr>
        <p:spPr bwMode="auto">
          <a:xfrm>
            <a:off x="716756" y="2929227"/>
            <a:ext cx="12444490"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400" b="1" dirty="0">
                <a:latin typeface="Times New Roman" pitchFamily="18" charset="0"/>
                <a:ea typeface="黑体" pitchFamily="2"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在给定方向上能发射</a:t>
            </a:r>
            <a:r>
              <a:rPr lang="en-US" altLang="zh-CN" sz="2400" b="1" dirty="0">
                <a:solidFill>
                  <a:srgbClr val="FF0000"/>
                </a:solidFill>
                <a:latin typeface="Times New Roman" pitchFamily="18" charset="0"/>
                <a:ea typeface="微软雅黑" pitchFamily="34" charset="-122"/>
                <a:cs typeface="Times New Roman" pitchFamily="18" charset="0"/>
              </a:rPr>
              <a:t>540×10</a:t>
            </a:r>
            <a:r>
              <a:rPr lang="en-US" altLang="zh-CN" sz="2400" b="1" baseline="30000" dirty="0">
                <a:solidFill>
                  <a:srgbClr val="FF0000"/>
                </a:solidFill>
                <a:latin typeface="Times New Roman" pitchFamily="18" charset="0"/>
                <a:ea typeface="微软雅黑" pitchFamily="34" charset="-122"/>
                <a:cs typeface="Times New Roman" pitchFamily="18" charset="0"/>
              </a:rPr>
              <a:t>12</a:t>
            </a:r>
            <a:r>
              <a:rPr lang="en-US" altLang="zh-CN" sz="2400" b="1" dirty="0">
                <a:solidFill>
                  <a:srgbClr val="FF0000"/>
                </a:solidFill>
                <a:latin typeface="Times New Roman" pitchFamily="18" charset="0"/>
                <a:ea typeface="微软雅黑" pitchFamily="34" charset="-122"/>
                <a:cs typeface="Times New Roman" pitchFamily="18" charset="0"/>
              </a:rPr>
              <a:t>Hz</a:t>
            </a:r>
            <a:r>
              <a:rPr lang="zh-CN" altLang="en-US" sz="2400" b="1" dirty="0">
                <a:latin typeface="Times New Roman" pitchFamily="18" charset="0"/>
                <a:ea typeface="微软雅黑" pitchFamily="34" charset="-122"/>
                <a:cs typeface="Times New Roman" pitchFamily="18" charset="0"/>
              </a:rPr>
              <a:t>的单色辐射源，在此方向上的辐射强度为</a:t>
            </a:r>
            <a:r>
              <a:rPr lang="en-US" altLang="zh-CN" sz="2400" b="1" dirty="0">
                <a:solidFill>
                  <a:srgbClr val="FF0000"/>
                </a:solidFill>
                <a:latin typeface="Times New Roman" pitchFamily="18" charset="0"/>
                <a:ea typeface="微软雅黑" pitchFamily="34" charset="-122"/>
                <a:cs typeface="Times New Roman" pitchFamily="18" charset="0"/>
              </a:rPr>
              <a:t>(1/683)W/</a:t>
            </a:r>
            <a:r>
              <a:rPr lang="en-US" altLang="zh-CN" sz="2400" b="1" dirty="0" err="1">
                <a:solidFill>
                  <a:srgbClr val="FF0000"/>
                </a:solidFill>
                <a:latin typeface="Times New Roman" pitchFamily="18" charset="0"/>
                <a:ea typeface="微软雅黑" pitchFamily="34" charset="-122"/>
                <a:cs typeface="Times New Roman" pitchFamily="18" charset="0"/>
              </a:rPr>
              <a:t>sr</a:t>
            </a:r>
            <a:r>
              <a:rPr lang="zh-CN" altLang="en-US" sz="2400" b="1" dirty="0">
                <a:latin typeface="Times New Roman" pitchFamily="18" charset="0"/>
                <a:ea typeface="微软雅黑" pitchFamily="34" charset="-122"/>
                <a:cs typeface="Times New Roman" pitchFamily="18" charset="0"/>
              </a:rPr>
              <a:t>，其发光强度定义为</a:t>
            </a:r>
            <a:r>
              <a:rPr lang="zh-CN" altLang="en-US" sz="2400" b="1" dirty="0">
                <a:solidFill>
                  <a:srgbClr val="FF0000"/>
                </a:solidFill>
                <a:latin typeface="Times New Roman" pitchFamily="18" charset="0"/>
                <a:ea typeface="微软雅黑" pitchFamily="34" charset="-122"/>
                <a:cs typeface="Times New Roman" pitchFamily="18" charset="0"/>
              </a:rPr>
              <a:t>一个坎德拉</a:t>
            </a:r>
            <a:r>
              <a:rPr lang="en-US" altLang="zh-CN" sz="2400" b="1" dirty="0">
                <a:solidFill>
                  <a:srgbClr val="FF0000"/>
                </a:solidFill>
                <a:latin typeface="Times New Roman" pitchFamily="18" charset="0"/>
                <a:ea typeface="微软雅黑" pitchFamily="34" charset="-122"/>
                <a:cs typeface="Times New Roman" pitchFamily="18" charset="0"/>
              </a:rPr>
              <a:t>[cd]</a:t>
            </a:r>
            <a:r>
              <a:rPr lang="zh-CN" altLang="en-US" sz="2400" b="1" dirty="0">
                <a:latin typeface="Times New Roman" pitchFamily="18" charset="0"/>
                <a:ea typeface="微软雅黑" pitchFamily="34" charset="-122"/>
                <a:cs typeface="Times New Roman" pitchFamily="18" charset="0"/>
              </a:rPr>
              <a:t>。</a:t>
            </a:r>
          </a:p>
        </p:txBody>
      </p:sp>
      <p:sp>
        <p:nvSpPr>
          <p:cNvPr id="34" name="Text Box 4">
            <a:extLst>
              <a:ext uri="{FF2B5EF4-FFF2-40B4-BE49-F238E27FC236}">
                <a16:creationId xmlns:a16="http://schemas.microsoft.com/office/drawing/2014/main" id="{49986A73-6031-485A-A7E7-AE181A35903A}"/>
              </a:ext>
            </a:extLst>
          </p:cNvPr>
          <p:cNvSpPr txBox="1">
            <a:spLocks noChangeArrowheads="1"/>
          </p:cNvSpPr>
          <p:nvPr/>
        </p:nvSpPr>
        <p:spPr bwMode="auto">
          <a:xfrm>
            <a:off x="716756" y="4521993"/>
            <a:ext cx="9331206"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定义：</a:t>
            </a:r>
            <a:r>
              <a:rPr lang="en-US" altLang="zh-CN" sz="2400" b="1" dirty="0">
                <a:solidFill>
                  <a:srgbClr val="FF0000"/>
                </a:solidFill>
                <a:latin typeface="Times New Roman" pitchFamily="18" charset="0"/>
                <a:ea typeface="微软雅黑" pitchFamily="34" charset="-122"/>
                <a:cs typeface="Times New Roman" pitchFamily="18" charset="0"/>
              </a:rPr>
              <a:t>1</a:t>
            </a:r>
            <a:r>
              <a:rPr lang="zh-CN" altLang="en-US" sz="2400" b="1" dirty="0">
                <a:solidFill>
                  <a:srgbClr val="FF0000"/>
                </a:solidFill>
                <a:latin typeface="Times New Roman" pitchFamily="18" charset="0"/>
                <a:ea typeface="微软雅黑" pitchFamily="34" charset="-122"/>
                <a:cs typeface="Times New Roman" pitchFamily="18" charset="0"/>
              </a:rPr>
              <a:t>流明为</a:t>
            </a:r>
            <a:r>
              <a:rPr lang="zh-CN" altLang="en-US" sz="2400" b="1" dirty="0">
                <a:latin typeface="Times New Roman" pitchFamily="18" charset="0"/>
                <a:ea typeface="微软雅黑" pitchFamily="34" charset="-122"/>
                <a:cs typeface="Times New Roman" pitchFamily="18" charset="0"/>
              </a:rPr>
              <a:t>发光强度为</a:t>
            </a:r>
            <a:r>
              <a:rPr lang="en-US" altLang="zh-CN" sz="2400" b="1" dirty="0">
                <a:solidFill>
                  <a:srgbClr val="0000FF"/>
                </a:solidFill>
                <a:latin typeface="Times New Roman" pitchFamily="18" charset="0"/>
                <a:ea typeface="微软雅黑" pitchFamily="34" charset="-122"/>
                <a:cs typeface="Times New Roman" pitchFamily="18" charset="0"/>
              </a:rPr>
              <a:t>1cd</a:t>
            </a:r>
            <a:r>
              <a:rPr lang="zh-CN" altLang="en-US" sz="2400" b="1" dirty="0">
                <a:latin typeface="Times New Roman" pitchFamily="18" charset="0"/>
                <a:ea typeface="微软雅黑" pitchFamily="34" charset="-122"/>
                <a:cs typeface="Times New Roman" pitchFamily="18" charset="0"/>
              </a:rPr>
              <a:t>的均匀点光源，在</a:t>
            </a:r>
            <a:r>
              <a:rPr lang="en-US" altLang="zh-CN" sz="2400" b="1" dirty="0">
                <a:solidFill>
                  <a:srgbClr val="0000FF"/>
                </a:solidFill>
                <a:latin typeface="Times New Roman" pitchFamily="18" charset="0"/>
                <a:ea typeface="微软雅黑" pitchFamily="34" charset="-122"/>
                <a:cs typeface="Times New Roman" pitchFamily="18" charset="0"/>
              </a:rPr>
              <a:t>1sr</a:t>
            </a:r>
            <a:r>
              <a:rPr lang="zh-CN" altLang="en-US" sz="2400" b="1" dirty="0">
                <a:latin typeface="Times New Roman" pitchFamily="18" charset="0"/>
                <a:ea typeface="微软雅黑" pitchFamily="34" charset="-122"/>
                <a:cs typeface="Times New Roman" pitchFamily="18" charset="0"/>
              </a:rPr>
              <a:t>内的光通量。</a:t>
            </a:r>
          </a:p>
        </p:txBody>
      </p:sp>
      <p:sp>
        <p:nvSpPr>
          <p:cNvPr id="35" name="Rectangle 6">
            <a:extLst>
              <a:ext uri="{FF2B5EF4-FFF2-40B4-BE49-F238E27FC236}">
                <a16:creationId xmlns:a16="http://schemas.microsoft.com/office/drawing/2014/main" id="{F9DDD9C3-E7AD-489E-9AE1-04F688124276}"/>
              </a:ext>
            </a:extLst>
          </p:cNvPr>
          <p:cNvSpPr>
            <a:spLocks noChangeArrowheads="1"/>
          </p:cNvSpPr>
          <p:nvPr/>
        </p:nvSpPr>
        <p:spPr bwMode="auto">
          <a:xfrm>
            <a:off x="225425" y="4338638"/>
            <a:ext cx="184150" cy="366712"/>
          </a:xfrm>
          <a:prstGeom prst="rect">
            <a:avLst/>
          </a:prstGeom>
          <a:noFill/>
          <a:ln w="9525">
            <a:noFill/>
            <a:miter lim="800000"/>
            <a:headEnd/>
            <a:tailEnd/>
          </a:ln>
        </p:spPr>
        <p:txBody>
          <a:bodyPr wrap="none" anchor="ctr">
            <a:spAutoFit/>
          </a:bodyPr>
          <a:lstStyle/>
          <a:p>
            <a:pPr defTabSz="914400"/>
            <a:endParaRPr lang="zh-CN" altLang="en-US" sz="1800"/>
          </a:p>
        </p:txBody>
      </p:sp>
      <p:graphicFrame>
        <p:nvGraphicFramePr>
          <p:cNvPr id="36" name="Object 5">
            <a:extLst>
              <a:ext uri="{FF2B5EF4-FFF2-40B4-BE49-F238E27FC236}">
                <a16:creationId xmlns:a16="http://schemas.microsoft.com/office/drawing/2014/main" id="{2E69EA89-17BD-4CCC-B0A3-0326E37CB01D}"/>
              </a:ext>
            </a:extLst>
          </p:cNvPr>
          <p:cNvGraphicFramePr>
            <a:graphicFrameLocks noChangeAspect="1"/>
          </p:cNvGraphicFramePr>
          <p:nvPr/>
        </p:nvGraphicFramePr>
        <p:xfrm>
          <a:off x="3512702" y="6185423"/>
          <a:ext cx="6643688" cy="931863"/>
        </p:xfrm>
        <a:graphic>
          <a:graphicData uri="http://schemas.openxmlformats.org/presentationml/2006/ole">
            <mc:AlternateContent xmlns:mc="http://schemas.openxmlformats.org/markup-compatibility/2006">
              <mc:Choice xmlns:v="urn:schemas-microsoft-com:vml" Requires="v">
                <p:oleObj name="Equation" r:id="rId2" imgW="2082600" imgH="291960" progId="Equation.DSMT4">
                  <p:embed/>
                </p:oleObj>
              </mc:Choice>
              <mc:Fallback>
                <p:oleObj name="Equation" r:id="rId2" imgW="2082600" imgH="291960" progId="Equation.DSMT4">
                  <p:embed/>
                  <p:pic>
                    <p:nvPicPr>
                      <p:cNvPr id="2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2702" y="6185423"/>
                        <a:ext cx="6643688" cy="931863"/>
                      </a:xfrm>
                      <a:prstGeom prst="rect">
                        <a:avLst/>
                      </a:prstGeom>
                      <a:solidFill>
                        <a:srgbClr val="FFCC99"/>
                      </a:solidFill>
                    </p:spPr>
                  </p:pic>
                </p:oleObj>
              </mc:Fallback>
            </mc:AlternateContent>
          </a:graphicData>
        </a:graphic>
      </p:graphicFrame>
      <p:sp>
        <p:nvSpPr>
          <p:cNvPr id="37" name="Text Box 4">
            <a:extLst>
              <a:ext uri="{FF2B5EF4-FFF2-40B4-BE49-F238E27FC236}">
                <a16:creationId xmlns:a16="http://schemas.microsoft.com/office/drawing/2014/main" id="{3FB3ACDC-69A1-459E-818B-8785FA42673D}"/>
              </a:ext>
            </a:extLst>
          </p:cNvPr>
          <p:cNvSpPr txBox="1">
            <a:spLocks noChangeArrowheads="1"/>
          </p:cNvSpPr>
          <p:nvPr/>
        </p:nvSpPr>
        <p:spPr bwMode="auto">
          <a:xfrm>
            <a:off x="716756" y="5317378"/>
            <a:ext cx="10468139"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发光强度为</a:t>
            </a:r>
            <a:r>
              <a:rPr lang="en-US" altLang="zh-CN" sz="2400" b="1" dirty="0">
                <a:latin typeface="Times New Roman" pitchFamily="18" charset="0"/>
                <a:ea typeface="微软雅黑" pitchFamily="34" charset="-122"/>
                <a:cs typeface="Times New Roman" pitchFamily="18" charset="0"/>
              </a:rPr>
              <a:t>1cd</a:t>
            </a:r>
            <a:r>
              <a:rPr lang="zh-CN" altLang="en-US" sz="2400" b="1" dirty="0">
                <a:latin typeface="Times New Roman" pitchFamily="18" charset="0"/>
                <a:ea typeface="微软雅黑" pitchFamily="34" charset="-122"/>
                <a:cs typeface="Times New Roman" pitchFamily="18" charset="0"/>
              </a:rPr>
              <a:t>的点光源在整个球空间所发出的总光通量为</a:t>
            </a:r>
          </a:p>
        </p:txBody>
      </p:sp>
      <p:sp>
        <p:nvSpPr>
          <p:cNvPr id="16"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17"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86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ox(i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ox(in)">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ox(in)">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ox(in)">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box(in)">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32" grpId="0"/>
      <p:bldP spid="34" grpId="0"/>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Text Box 5">
            <a:extLst>
              <a:ext uri="{FF2B5EF4-FFF2-40B4-BE49-F238E27FC236}">
                <a16:creationId xmlns:a16="http://schemas.microsoft.com/office/drawing/2014/main" id="{3A062ECA-7E67-49D7-BABD-094CBFDD48D1}"/>
              </a:ext>
            </a:extLst>
          </p:cNvPr>
          <p:cNvSpPr txBox="1">
            <a:spLocks noChangeArrowheads="1"/>
          </p:cNvSpPr>
          <p:nvPr/>
        </p:nvSpPr>
        <p:spPr bwMode="auto">
          <a:xfrm>
            <a:off x="1000125" y="1185863"/>
            <a:ext cx="5138959" cy="523220"/>
          </a:xfrm>
          <a:prstGeom prst="rect">
            <a:avLst/>
          </a:prstGeom>
          <a:noFill/>
          <a:ln w="9525">
            <a:noFill/>
            <a:miter lim="800000"/>
            <a:headEnd/>
            <a:tailEnd/>
          </a:ln>
        </p:spPr>
        <p:txBody>
          <a:bodyPr wrap="square">
            <a:spAutoFit/>
          </a:bodyPr>
          <a:lstStyle/>
          <a:p>
            <a:pPr algn="ct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5  </a:t>
            </a:r>
            <a:r>
              <a:rPr lang="zh-CN" altLang="en-US" sz="2800" b="1" dirty="0">
                <a:solidFill>
                  <a:srgbClr val="0000FF"/>
                </a:solidFill>
                <a:latin typeface="Times New Roman" pitchFamily="18" charset="0"/>
                <a:ea typeface="微软雅黑" pitchFamily="34" charset="-122"/>
                <a:cs typeface="Times New Roman" pitchFamily="18" charset="0"/>
              </a:rPr>
              <a:t>光照度  </a:t>
            </a:r>
            <a:r>
              <a:rPr lang="en-US" altLang="zh-CN" sz="2800" b="1" dirty="0">
                <a:solidFill>
                  <a:srgbClr val="0000FF"/>
                </a:solidFill>
                <a:latin typeface="Times New Roman" pitchFamily="18" charset="0"/>
                <a:ea typeface="微软雅黑" pitchFamily="34" charset="-122"/>
                <a:cs typeface="Times New Roman" pitchFamily="18" charset="0"/>
              </a:rPr>
              <a:t>(Luminous Intensity) </a:t>
            </a:r>
          </a:p>
        </p:txBody>
      </p:sp>
      <p:sp>
        <p:nvSpPr>
          <p:cNvPr id="17" name="TextBox 3">
            <a:extLst>
              <a:ext uri="{FF2B5EF4-FFF2-40B4-BE49-F238E27FC236}">
                <a16:creationId xmlns:a16="http://schemas.microsoft.com/office/drawing/2014/main" id="{A02259FC-AED7-44C7-8ACB-918FBFE740A1}"/>
              </a:ext>
            </a:extLst>
          </p:cNvPr>
          <p:cNvSpPr txBox="1">
            <a:spLocks noChangeArrowheads="1"/>
          </p:cNvSpPr>
          <p:nvPr/>
        </p:nvSpPr>
        <p:spPr bwMode="auto">
          <a:xfrm>
            <a:off x="1377512" y="1844532"/>
            <a:ext cx="10685056"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物体表面单位面积上接收的光通量称为光照度。符号</a:t>
            </a:r>
            <a:r>
              <a:rPr lang="en-US" altLang="zh-CN" sz="2400" b="1" dirty="0" err="1">
                <a:latin typeface="Times New Roman" pitchFamily="18" charset="0"/>
                <a:ea typeface="微软雅黑" pitchFamily="34" charset="-122"/>
                <a:cs typeface="Times New Roman" pitchFamily="18" charset="0"/>
              </a:rPr>
              <a:t>E</a:t>
            </a:r>
            <a:r>
              <a:rPr lang="en-US" altLang="zh-CN" sz="2400" b="1" i="1" baseline="-25000" dirty="0" err="1">
                <a:latin typeface="Times New Roman" pitchFamily="18" charset="0"/>
                <a:ea typeface="微软雅黑" pitchFamily="34" charset="-122"/>
                <a:cs typeface="Times New Roman" pitchFamily="18" charset="0"/>
              </a:rPr>
              <a:t>v</a:t>
            </a:r>
            <a:r>
              <a:rPr lang="zh-CN" altLang="en-US" sz="2400" b="1" baseline="-25000"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单位为勒克斯（</a:t>
            </a:r>
            <a:r>
              <a:rPr lang="en-US" altLang="zh-CN" sz="2400" b="1" i="1" dirty="0">
                <a:latin typeface="Times New Roman" pitchFamily="18" charset="0"/>
                <a:ea typeface="微软雅黑" pitchFamily="34" charset="-122"/>
                <a:cs typeface="Times New Roman" pitchFamily="18" charset="0"/>
              </a:rPr>
              <a:t>lx</a:t>
            </a:r>
            <a:r>
              <a:rPr lang="zh-CN" altLang="en-US" sz="2400" b="1" dirty="0">
                <a:latin typeface="Times New Roman" pitchFamily="18" charset="0"/>
                <a:ea typeface="微软雅黑" pitchFamily="34" charset="-122"/>
                <a:cs typeface="Times New Roman" pitchFamily="18" charset="0"/>
              </a:rPr>
              <a:t>）。</a:t>
            </a:r>
          </a:p>
        </p:txBody>
      </p:sp>
      <p:graphicFrame>
        <p:nvGraphicFramePr>
          <p:cNvPr id="19" name="Object 1">
            <a:extLst>
              <a:ext uri="{FF2B5EF4-FFF2-40B4-BE49-F238E27FC236}">
                <a16:creationId xmlns:a16="http://schemas.microsoft.com/office/drawing/2014/main" id="{A63FF4AB-9D1F-4C48-B19C-679963188354}"/>
              </a:ext>
            </a:extLst>
          </p:cNvPr>
          <p:cNvGraphicFramePr>
            <a:graphicFrameLocks noChangeAspect="1"/>
          </p:cNvGraphicFramePr>
          <p:nvPr>
            <p:extLst>
              <p:ext uri="{D42A27DB-BD31-4B8C-83A1-F6EECF244321}">
                <p14:modId xmlns:p14="http://schemas.microsoft.com/office/powerpoint/2010/main" val="144586178"/>
              </p:ext>
            </p:extLst>
          </p:nvPr>
        </p:nvGraphicFramePr>
        <p:xfrm>
          <a:off x="5110010" y="2542588"/>
          <a:ext cx="1322688" cy="809359"/>
        </p:xfrm>
        <a:graphic>
          <a:graphicData uri="http://schemas.openxmlformats.org/presentationml/2006/ole">
            <mc:AlternateContent xmlns:mc="http://schemas.openxmlformats.org/markup-compatibility/2006">
              <mc:Choice xmlns:v="urn:schemas-microsoft-com:vml" Requires="v">
                <p:oleObj name="Equation" r:id="rId2" imgW="635828" imgH="394213" progId="Equation.DSMT4">
                  <p:embed/>
                </p:oleObj>
              </mc:Choice>
              <mc:Fallback>
                <p:oleObj name="Equation" r:id="rId2" imgW="635828" imgH="394213" progId="Equation.DSMT4">
                  <p:embed/>
                  <p:pic>
                    <p:nvPicPr>
                      <p:cNvPr id="24578"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010" y="2542588"/>
                        <a:ext cx="1322688" cy="809359"/>
                      </a:xfrm>
                      <a:prstGeom prst="rect">
                        <a:avLst/>
                      </a:prstGeom>
                      <a:solidFill>
                        <a:srgbClr val="FFCC99"/>
                      </a:solidFill>
                    </p:spPr>
                  </p:pic>
                </p:oleObj>
              </mc:Fallback>
            </mc:AlternateContent>
          </a:graphicData>
        </a:graphic>
      </p:graphicFrame>
      <p:sp>
        <p:nvSpPr>
          <p:cNvPr id="22" name="TextBox 8">
            <a:extLst>
              <a:ext uri="{FF2B5EF4-FFF2-40B4-BE49-F238E27FC236}">
                <a16:creationId xmlns:a16="http://schemas.microsoft.com/office/drawing/2014/main" id="{D6A31234-4DD8-485F-81F0-3C428DBC3390}"/>
              </a:ext>
            </a:extLst>
          </p:cNvPr>
          <p:cNvSpPr txBox="1">
            <a:spLocks noChangeArrowheads="1"/>
          </p:cNvSpPr>
          <p:nvPr/>
        </p:nvSpPr>
        <p:spPr bwMode="auto">
          <a:xfrm>
            <a:off x="1377513" y="3497766"/>
            <a:ext cx="9680348" cy="646331"/>
          </a:xfrm>
          <a:prstGeom prst="rect">
            <a:avLst/>
          </a:prstGeom>
          <a:noFill/>
          <a:ln w="9525">
            <a:noFill/>
            <a:miter lim="800000"/>
            <a:headEnd/>
            <a:tailEnd/>
          </a:ln>
        </p:spPr>
        <p:txBody>
          <a:bodyPr wrap="square">
            <a:spAutoFit/>
          </a:bodyPr>
          <a:lstStyle/>
          <a:p>
            <a:pPr defTabSz="914400">
              <a:lnSpc>
                <a:spcPct val="150000"/>
              </a:lnSpc>
            </a:pPr>
            <a:r>
              <a:rPr lang="en-US" altLang="zh-CN" sz="2400" b="1" dirty="0">
                <a:solidFill>
                  <a:srgbClr val="FF0000"/>
                </a:solidFill>
                <a:latin typeface="Times New Roman" pitchFamily="18" charset="0"/>
                <a:ea typeface="微软雅黑" pitchFamily="34" charset="-122"/>
                <a:cs typeface="Times New Roman" pitchFamily="18" charset="0"/>
              </a:rPr>
              <a:t>1</a:t>
            </a:r>
            <a:r>
              <a:rPr lang="zh-CN" altLang="en-US" sz="2400" b="1" dirty="0">
                <a:solidFill>
                  <a:srgbClr val="FF0000"/>
                </a:solidFill>
                <a:latin typeface="Times New Roman" pitchFamily="18" charset="0"/>
                <a:ea typeface="微软雅黑" pitchFamily="34" charset="-122"/>
                <a:cs typeface="Times New Roman" pitchFamily="18" charset="0"/>
              </a:rPr>
              <a:t>勒克斯</a:t>
            </a:r>
            <a:r>
              <a:rPr lang="en-US" altLang="zh-CN" sz="2400" b="1" dirty="0">
                <a:solidFill>
                  <a:srgbClr val="FF0000"/>
                </a:solidFill>
                <a:latin typeface="Times New Roman" pitchFamily="18" charset="0"/>
                <a:ea typeface="微软雅黑" pitchFamily="34" charset="-122"/>
                <a:cs typeface="Times New Roman" pitchFamily="18" charset="0"/>
              </a:rPr>
              <a:t>(</a:t>
            </a:r>
            <a:r>
              <a:rPr lang="en-US" altLang="zh-CN" sz="2400" b="1" i="1" dirty="0">
                <a:solidFill>
                  <a:srgbClr val="FF0000"/>
                </a:solidFill>
                <a:latin typeface="Times New Roman" pitchFamily="18" charset="0"/>
                <a:ea typeface="微软雅黑" pitchFamily="34" charset="-122"/>
                <a:cs typeface="Times New Roman" pitchFamily="18" charset="0"/>
              </a:rPr>
              <a:t>lx)</a:t>
            </a:r>
            <a:r>
              <a:rPr lang="zh-CN" altLang="en-US" sz="2400" b="1" dirty="0">
                <a:latin typeface="Times New Roman" pitchFamily="18" charset="0"/>
                <a:ea typeface="微软雅黑" pitchFamily="34" charset="-122"/>
                <a:cs typeface="Times New Roman" pitchFamily="18" charset="0"/>
              </a:rPr>
              <a:t>等于</a:t>
            </a:r>
            <a:r>
              <a:rPr lang="en-US" altLang="zh-CN" sz="2400" b="1" dirty="0">
                <a:latin typeface="Times New Roman" pitchFamily="18" charset="0"/>
                <a:ea typeface="微软雅黑" pitchFamily="34" charset="-122"/>
                <a:cs typeface="Times New Roman" pitchFamily="18" charset="0"/>
              </a:rPr>
              <a:t>1</a:t>
            </a:r>
            <a:r>
              <a:rPr lang="zh-CN" altLang="en-US" sz="2400" b="1" dirty="0">
                <a:latin typeface="Times New Roman" pitchFamily="18" charset="0"/>
                <a:ea typeface="微软雅黑" pitchFamily="34" charset="-122"/>
                <a:cs typeface="Times New Roman" pitchFamily="18" charset="0"/>
              </a:rPr>
              <a:t>平方米面积上接收</a:t>
            </a:r>
            <a:r>
              <a:rPr lang="en-US" altLang="zh-CN" sz="2400" b="1" dirty="0">
                <a:latin typeface="Times New Roman" pitchFamily="18" charset="0"/>
                <a:ea typeface="微软雅黑" pitchFamily="34" charset="-122"/>
                <a:cs typeface="Times New Roman" pitchFamily="18" charset="0"/>
              </a:rPr>
              <a:t>1</a:t>
            </a:r>
            <a:r>
              <a:rPr lang="zh-CN" altLang="en-US" sz="2400" b="1" dirty="0">
                <a:latin typeface="Times New Roman" pitchFamily="18" charset="0"/>
                <a:ea typeface="微软雅黑" pitchFamily="34" charset="-122"/>
                <a:cs typeface="Times New Roman" pitchFamily="18" charset="0"/>
              </a:rPr>
              <a:t>流明的光通量，即</a:t>
            </a:r>
            <a:r>
              <a:rPr lang="en-US" altLang="zh-CN" sz="2400" b="1" dirty="0">
                <a:solidFill>
                  <a:srgbClr val="0000FF"/>
                </a:solidFill>
                <a:latin typeface="Times New Roman" pitchFamily="18" charset="0"/>
                <a:ea typeface="微软雅黑" pitchFamily="34" charset="-122"/>
                <a:cs typeface="Times New Roman" pitchFamily="18" charset="0"/>
              </a:rPr>
              <a:t>1 </a:t>
            </a:r>
            <a:r>
              <a:rPr lang="en-US" altLang="zh-CN" sz="2400" b="1" i="1" dirty="0">
                <a:solidFill>
                  <a:srgbClr val="0000FF"/>
                </a:solidFill>
                <a:latin typeface="Times New Roman" pitchFamily="18" charset="0"/>
                <a:ea typeface="微软雅黑" pitchFamily="34" charset="-122"/>
                <a:cs typeface="Times New Roman" pitchFamily="18" charset="0"/>
              </a:rPr>
              <a:t>lx</a:t>
            </a:r>
            <a:r>
              <a:rPr lang="en-US" altLang="zh-CN" sz="2400" b="1" dirty="0">
                <a:solidFill>
                  <a:srgbClr val="0000FF"/>
                </a:solidFill>
                <a:latin typeface="Times New Roman" pitchFamily="18" charset="0"/>
                <a:ea typeface="微软雅黑" pitchFamily="34" charset="-122"/>
                <a:cs typeface="Times New Roman" pitchFamily="18" charset="0"/>
              </a:rPr>
              <a:t>=1</a:t>
            </a:r>
            <a:r>
              <a:rPr lang="en-US" altLang="zh-CN" sz="2400" b="1" i="1" dirty="0">
                <a:solidFill>
                  <a:srgbClr val="0000FF"/>
                </a:solidFill>
                <a:latin typeface="Times New Roman" pitchFamily="18" charset="0"/>
                <a:ea typeface="微软雅黑" pitchFamily="34" charset="-122"/>
                <a:cs typeface="Times New Roman" pitchFamily="18" charset="0"/>
              </a:rPr>
              <a:t>lm</a:t>
            </a:r>
            <a:r>
              <a:rPr lang="en-US" altLang="zh-CN" sz="2400" b="1" dirty="0">
                <a:solidFill>
                  <a:srgbClr val="0000FF"/>
                </a:solidFill>
                <a:latin typeface="Times New Roman" pitchFamily="18" charset="0"/>
                <a:ea typeface="微软雅黑" pitchFamily="34" charset="-122"/>
                <a:cs typeface="Times New Roman" pitchFamily="18" charset="0"/>
              </a:rPr>
              <a:t>/m</a:t>
            </a:r>
            <a:r>
              <a:rPr lang="en-US" altLang="zh-CN" sz="2400" b="1" baseline="30000" dirty="0">
                <a:solidFill>
                  <a:srgbClr val="0000FF"/>
                </a:solidFill>
                <a:latin typeface="Times New Roman" pitchFamily="18" charset="0"/>
                <a:ea typeface="微软雅黑" pitchFamily="34" charset="-122"/>
                <a:cs typeface="Times New Roman" pitchFamily="18" charset="0"/>
              </a:rPr>
              <a:t>2 </a:t>
            </a:r>
            <a:r>
              <a:rPr lang="zh-CN" altLang="en-US" sz="2400" b="1" dirty="0">
                <a:latin typeface="Times New Roman" pitchFamily="18" charset="0"/>
                <a:ea typeface="微软雅黑" pitchFamily="34" charset="-122"/>
                <a:cs typeface="Times New Roman" pitchFamily="18" charset="0"/>
              </a:rPr>
              <a:t>。</a:t>
            </a:r>
          </a:p>
        </p:txBody>
      </p:sp>
      <p:graphicFrame>
        <p:nvGraphicFramePr>
          <p:cNvPr id="23" name="表格 22">
            <a:extLst>
              <a:ext uri="{FF2B5EF4-FFF2-40B4-BE49-F238E27FC236}">
                <a16:creationId xmlns:a16="http://schemas.microsoft.com/office/drawing/2014/main" id="{93CB82E4-B2A6-436C-BA69-3161D05AC60B}"/>
              </a:ext>
            </a:extLst>
          </p:cNvPr>
          <p:cNvGraphicFramePr>
            <a:graphicFrameLocks noGrp="1"/>
          </p:cNvGraphicFramePr>
          <p:nvPr>
            <p:extLst>
              <p:ext uri="{D42A27DB-BD31-4B8C-83A1-F6EECF244321}">
                <p14:modId xmlns:p14="http://schemas.microsoft.com/office/powerpoint/2010/main" val="1341431812"/>
              </p:ext>
            </p:extLst>
          </p:nvPr>
        </p:nvGraphicFramePr>
        <p:xfrm>
          <a:off x="1683071" y="4777568"/>
          <a:ext cx="10302950" cy="2457618"/>
        </p:xfrm>
        <a:graphic>
          <a:graphicData uri="http://schemas.openxmlformats.org/drawingml/2006/table">
            <a:tbl>
              <a:tblPr/>
              <a:tblGrid>
                <a:gridCol w="1697865">
                  <a:extLst>
                    <a:ext uri="{9D8B030D-6E8A-4147-A177-3AD203B41FA5}">
                      <a16:colId xmlns:a16="http://schemas.microsoft.com/office/drawing/2014/main" val="20000"/>
                    </a:ext>
                  </a:extLst>
                </a:gridCol>
                <a:gridCol w="1697865">
                  <a:extLst>
                    <a:ext uri="{9D8B030D-6E8A-4147-A177-3AD203B41FA5}">
                      <a16:colId xmlns:a16="http://schemas.microsoft.com/office/drawing/2014/main" val="20001"/>
                    </a:ext>
                  </a:extLst>
                </a:gridCol>
                <a:gridCol w="1794334">
                  <a:extLst>
                    <a:ext uri="{9D8B030D-6E8A-4147-A177-3AD203B41FA5}">
                      <a16:colId xmlns:a16="http://schemas.microsoft.com/office/drawing/2014/main" val="20002"/>
                    </a:ext>
                  </a:extLst>
                </a:gridCol>
                <a:gridCol w="1601395">
                  <a:extLst>
                    <a:ext uri="{9D8B030D-6E8A-4147-A177-3AD203B41FA5}">
                      <a16:colId xmlns:a16="http://schemas.microsoft.com/office/drawing/2014/main" val="20003"/>
                    </a:ext>
                  </a:extLst>
                </a:gridCol>
                <a:gridCol w="2045155">
                  <a:extLst>
                    <a:ext uri="{9D8B030D-6E8A-4147-A177-3AD203B41FA5}">
                      <a16:colId xmlns:a16="http://schemas.microsoft.com/office/drawing/2014/main" val="20004"/>
                    </a:ext>
                  </a:extLst>
                </a:gridCol>
                <a:gridCol w="1466336">
                  <a:extLst>
                    <a:ext uri="{9D8B030D-6E8A-4147-A177-3AD203B41FA5}">
                      <a16:colId xmlns:a16="http://schemas.microsoft.com/office/drawing/2014/main" val="20005"/>
                    </a:ext>
                  </a:extLst>
                </a:gridCol>
              </a:tblGrid>
              <a:tr h="409603">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光照环境</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照度</a:t>
                      </a: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/lx</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光照环境</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照度</a:t>
                      </a: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/lx</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光照环境</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照度</a:t>
                      </a: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/lx</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09603">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医院手术台</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以上</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夜间棒球场</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400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路灯下</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9603">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中午的太阳</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1.2×10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办公室、教室</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300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满月</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0.27</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9603">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无云的晴空</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食堂</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150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上、下弦月</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sz="1800" b="1" kern="100" baseline="30000" dirty="0">
                          <a:effectLst/>
                          <a:latin typeface="Times New Roman" panose="02020603050405020304" pitchFamily="18" charset="0"/>
                          <a:ea typeface="微软雅黑" panose="020B0503020204020204" pitchFamily="34" charset="-122"/>
                          <a:cs typeface="Times New Roman" panose="02020603050405020304" pitchFamily="18" charset="0"/>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9603">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阴霾的天空</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60W</a:t>
                      </a: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灯泡</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100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无月晴空</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10</a:t>
                      </a:r>
                      <a:r>
                        <a:rPr lang="en-US" sz="1800" b="1" kern="100" baseline="30000" dirty="0">
                          <a:effectLst/>
                          <a:latin typeface="Times New Roman" panose="02020603050405020304" pitchFamily="18" charset="0"/>
                          <a:ea typeface="微软雅黑" panose="020B0503020204020204" pitchFamily="34" charset="-122"/>
                          <a:cs typeface="Times New Roman" panose="02020603050405020304" pitchFamily="18" charset="0"/>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9603">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阅读、绘图</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500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晨昏朦影</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10</a:t>
                      </a:r>
                      <a:endParaRPr lang="zh-CN" sz="24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无月乌云夜空</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240"/>
                        </a:spcBef>
                        <a:spcAft>
                          <a:spcPts val="0"/>
                        </a:spcAft>
                      </a:pP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1×10</a:t>
                      </a:r>
                      <a:r>
                        <a:rPr lang="en-US" sz="1800" b="1" kern="100" baseline="30000" dirty="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24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4" name="文本框 23">
            <a:extLst>
              <a:ext uri="{FF2B5EF4-FFF2-40B4-BE49-F238E27FC236}">
                <a16:creationId xmlns:a16="http://schemas.microsoft.com/office/drawing/2014/main" id="{EC58DDE5-F403-47CC-AF97-ABE41226CD23}"/>
              </a:ext>
            </a:extLst>
          </p:cNvPr>
          <p:cNvSpPr txBox="1"/>
          <p:nvPr/>
        </p:nvSpPr>
        <p:spPr>
          <a:xfrm>
            <a:off x="4912243" y="4244466"/>
            <a:ext cx="3115338" cy="461665"/>
          </a:xfrm>
          <a:prstGeom prst="rect">
            <a:avLst/>
          </a:prstGeom>
          <a:noFill/>
        </p:spPr>
        <p:txBody>
          <a:bodyPr wrap="square" rtlCol="0">
            <a:spAutoFit/>
          </a:bodyPr>
          <a:lstStyle/>
          <a:p>
            <a:r>
              <a:rPr lang="zh-CN" altLang="zh-CN" sz="2400" b="1" dirty="0">
                <a:solidFill>
                  <a:srgbClr val="0000FF"/>
                </a:solidFill>
                <a:latin typeface="微软雅黑" panose="020B0503020204020204" pitchFamily="34" charset="-122"/>
                <a:ea typeface="微软雅黑" panose="020B0503020204020204" pitchFamily="34" charset="-122"/>
              </a:rPr>
              <a:t>不同环境的光照度值</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15"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18"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9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ox(in)">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ox(in)">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box(in)">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2" grpId="0"/>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Text Box 4">
            <a:extLst>
              <a:ext uri="{FF2B5EF4-FFF2-40B4-BE49-F238E27FC236}">
                <a16:creationId xmlns:a16="http://schemas.microsoft.com/office/drawing/2014/main" id="{AE6935A5-A2B6-4C40-A5DF-170C9FA50833}"/>
              </a:ext>
            </a:extLst>
          </p:cNvPr>
          <p:cNvSpPr txBox="1">
            <a:spLocks noChangeArrowheads="1"/>
          </p:cNvSpPr>
          <p:nvPr/>
        </p:nvSpPr>
        <p:spPr bwMode="auto">
          <a:xfrm>
            <a:off x="1405814" y="966788"/>
            <a:ext cx="4112483" cy="523220"/>
          </a:xfrm>
          <a:prstGeom prst="rect">
            <a:avLst/>
          </a:prstGeom>
          <a:noFill/>
          <a:ln w="9525">
            <a:noFill/>
            <a:miter lim="800000"/>
            <a:headEnd/>
            <a:tailEnd/>
          </a:ln>
        </p:spPr>
        <p:txBody>
          <a:bodyPr wrap="square">
            <a:spAutoFit/>
          </a:bodyPr>
          <a:lstStyle/>
          <a:p>
            <a:pPr defTabSz="914400">
              <a:spcBef>
                <a:spcPct val="50000"/>
              </a:spcBef>
            </a:pPr>
            <a:r>
              <a:rPr lang="en-US" altLang="zh-CN" sz="2800" b="1" dirty="0">
                <a:solidFill>
                  <a:srgbClr val="0000FF"/>
                </a:solidFill>
                <a:latin typeface="Times New Roman" pitchFamily="18" charset="0"/>
                <a:ea typeface="微软雅黑" pitchFamily="34" charset="-122"/>
                <a:cs typeface="Times New Roman" pitchFamily="18" charset="0"/>
              </a:rPr>
              <a:t>6   </a:t>
            </a:r>
            <a:r>
              <a:rPr lang="zh-CN" altLang="en-US" sz="2800" b="1" dirty="0">
                <a:solidFill>
                  <a:srgbClr val="0000FF"/>
                </a:solidFill>
                <a:latin typeface="Times New Roman" pitchFamily="18" charset="0"/>
                <a:ea typeface="微软雅黑" pitchFamily="34" charset="-122"/>
                <a:cs typeface="Times New Roman" pitchFamily="18" charset="0"/>
              </a:rPr>
              <a:t>光亮度</a:t>
            </a:r>
            <a:r>
              <a:rPr lang="en-US" altLang="zh-CN" sz="2800" b="1" dirty="0">
                <a:solidFill>
                  <a:srgbClr val="0000FF"/>
                </a:solidFill>
                <a:latin typeface="Times New Roman" pitchFamily="18" charset="0"/>
                <a:ea typeface="微软雅黑" pitchFamily="34" charset="-122"/>
                <a:cs typeface="Times New Roman" pitchFamily="18" charset="0"/>
              </a:rPr>
              <a:t>(</a:t>
            </a:r>
            <a:r>
              <a:rPr kumimoji="1" lang="en-US" altLang="zh-CN" sz="2800" b="1" dirty="0">
                <a:solidFill>
                  <a:srgbClr val="0000FF"/>
                </a:solidFill>
                <a:latin typeface="Times New Roman" pitchFamily="18" charset="0"/>
                <a:ea typeface="微软雅黑" pitchFamily="34" charset="-122"/>
                <a:cs typeface="Times New Roman" pitchFamily="18" charset="0"/>
              </a:rPr>
              <a:t>Luminance</a:t>
            </a:r>
            <a:r>
              <a:rPr lang="en-US" altLang="zh-CN" sz="2800" b="1" dirty="0">
                <a:solidFill>
                  <a:srgbClr val="0000FF"/>
                </a:solidFill>
                <a:latin typeface="Times New Roman" pitchFamily="18" charset="0"/>
                <a:ea typeface="微软雅黑" pitchFamily="34" charset="-122"/>
                <a:cs typeface="Times New Roman" pitchFamily="18" charset="0"/>
              </a:rPr>
              <a:t>)</a:t>
            </a:r>
          </a:p>
        </p:txBody>
      </p:sp>
      <p:graphicFrame>
        <p:nvGraphicFramePr>
          <p:cNvPr id="18" name="Object 6">
            <a:extLst>
              <a:ext uri="{FF2B5EF4-FFF2-40B4-BE49-F238E27FC236}">
                <a16:creationId xmlns:a16="http://schemas.microsoft.com/office/drawing/2014/main" id="{986C898A-CD71-4508-BEFD-402C0AC94A01}"/>
              </a:ext>
            </a:extLst>
          </p:cNvPr>
          <p:cNvGraphicFramePr>
            <a:graphicFrameLocks noChangeAspect="1"/>
          </p:cNvGraphicFramePr>
          <p:nvPr/>
        </p:nvGraphicFramePr>
        <p:xfrm>
          <a:off x="1651000" y="2984500"/>
          <a:ext cx="4113213" cy="831850"/>
        </p:xfrm>
        <a:graphic>
          <a:graphicData uri="http://schemas.openxmlformats.org/presentationml/2006/ole">
            <mc:AlternateContent xmlns:mc="http://schemas.openxmlformats.org/markup-compatibility/2006">
              <mc:Choice xmlns:v="urn:schemas-microsoft-com:vml" Requires="v">
                <p:oleObj name="公式" r:id="rId2" imgW="2070000" imgH="419040" progId="Equation.3">
                  <p:embed/>
                </p:oleObj>
              </mc:Choice>
              <mc:Fallback>
                <p:oleObj name="公式" r:id="rId2" imgW="2070000" imgH="419040" progId="Equation.3">
                  <p:embed/>
                  <p:pic>
                    <p:nvPicPr>
                      <p:cNvPr id="305158" name="Object 6"/>
                      <p:cNvPicPr>
                        <a:picLocks noChangeAspect="1" noChangeArrowheads="1"/>
                      </p:cNvPicPr>
                      <p:nvPr/>
                    </p:nvPicPr>
                    <p:blipFill>
                      <a:blip r:embed="rId3"/>
                      <a:srcRect/>
                      <a:stretch>
                        <a:fillRect/>
                      </a:stretch>
                    </p:blipFill>
                    <p:spPr bwMode="auto">
                      <a:xfrm>
                        <a:off x="1651000" y="2984500"/>
                        <a:ext cx="4113213" cy="831850"/>
                      </a:xfrm>
                      <a:prstGeom prst="rect">
                        <a:avLst/>
                      </a:prstGeom>
                      <a:solidFill>
                        <a:srgbClr val="FFFF00"/>
                      </a:solidFill>
                      <a:ln>
                        <a:noFill/>
                      </a:ln>
                      <a:effectLst/>
                    </p:spPr>
                  </p:pic>
                </p:oleObj>
              </mc:Fallback>
            </mc:AlternateContent>
          </a:graphicData>
        </a:graphic>
      </p:graphicFrame>
      <p:sp>
        <p:nvSpPr>
          <p:cNvPr id="21" name="Text Box 7">
            <a:extLst>
              <a:ext uri="{FF2B5EF4-FFF2-40B4-BE49-F238E27FC236}">
                <a16:creationId xmlns:a16="http://schemas.microsoft.com/office/drawing/2014/main" id="{56FA5953-9540-4413-8759-6730FC6EB365}"/>
              </a:ext>
            </a:extLst>
          </p:cNvPr>
          <p:cNvSpPr txBox="1">
            <a:spLocks noChangeArrowheads="1"/>
          </p:cNvSpPr>
          <p:nvPr/>
        </p:nvSpPr>
        <p:spPr bwMode="auto">
          <a:xfrm>
            <a:off x="876245" y="4100413"/>
            <a:ext cx="7160841"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400" b="1" i="1" dirty="0" err="1">
                <a:latin typeface="Times New Roman" pitchFamily="18" charset="0"/>
                <a:ea typeface="微软雅黑" pitchFamily="34" charset="-122"/>
                <a:cs typeface="Times New Roman" pitchFamily="18" charset="0"/>
              </a:rPr>
              <a:t>L</a:t>
            </a:r>
            <a:r>
              <a:rPr lang="en-US" altLang="zh-CN" sz="2400" b="1" baseline="-25000" dirty="0" err="1">
                <a:latin typeface="Times New Roman" pitchFamily="18" charset="0"/>
                <a:ea typeface="微软雅黑" pitchFamily="34" charset="-122"/>
                <a:cs typeface="Times New Roman" pitchFamily="18" charset="0"/>
              </a:rPr>
              <a:t>v</a:t>
            </a:r>
            <a:r>
              <a:rPr lang="zh-CN" altLang="en-US" sz="2400" b="1" dirty="0">
                <a:latin typeface="Times New Roman" pitchFamily="18" charset="0"/>
                <a:ea typeface="微软雅黑" pitchFamily="34" charset="-122"/>
                <a:cs typeface="Times New Roman" pitchFamily="18" charset="0"/>
              </a:rPr>
              <a:t>的计量单位是坎德拉每平方米</a:t>
            </a:r>
            <a:r>
              <a:rPr lang="en-US" altLang="zh-CN" sz="2400" b="1" dirty="0">
                <a:latin typeface="Times New Roman" pitchFamily="18" charset="0"/>
                <a:ea typeface="微软雅黑" pitchFamily="34" charset="-122"/>
                <a:cs typeface="Times New Roman" pitchFamily="18" charset="0"/>
              </a:rPr>
              <a:t>[cd/m</a:t>
            </a:r>
            <a:r>
              <a:rPr lang="en-US" altLang="zh-CN" sz="2400" b="1" baseline="30000" dirty="0">
                <a:latin typeface="Times New Roman" pitchFamily="18" charset="0"/>
                <a:ea typeface="微软雅黑" pitchFamily="34" charset="-122"/>
                <a:cs typeface="Times New Roman" pitchFamily="18" charset="0"/>
              </a:rPr>
              <a:t>2</a:t>
            </a:r>
            <a:r>
              <a:rPr lang="en-US" altLang="zh-CN" sz="2400" b="1" dirty="0">
                <a:latin typeface="Times New Roman" pitchFamily="18" charset="0"/>
                <a:ea typeface="微软雅黑" pitchFamily="34" charset="-122"/>
                <a:cs typeface="Times New Roman" pitchFamily="18" charset="0"/>
              </a:rPr>
              <a:t>]</a:t>
            </a:r>
          </a:p>
        </p:txBody>
      </p:sp>
      <p:sp>
        <p:nvSpPr>
          <p:cNvPr id="27" name="Text Box 5">
            <a:extLst>
              <a:ext uri="{FF2B5EF4-FFF2-40B4-BE49-F238E27FC236}">
                <a16:creationId xmlns:a16="http://schemas.microsoft.com/office/drawing/2014/main" id="{09613F92-3815-4023-87B8-58CDD63C28A4}"/>
              </a:ext>
            </a:extLst>
          </p:cNvPr>
          <p:cNvSpPr txBox="1">
            <a:spLocks noChangeArrowheads="1"/>
          </p:cNvSpPr>
          <p:nvPr/>
        </p:nvSpPr>
        <p:spPr bwMode="auto">
          <a:xfrm>
            <a:off x="716756" y="1532224"/>
            <a:ext cx="12297045"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亮度</a:t>
            </a:r>
            <a:r>
              <a:rPr lang="en-US" altLang="zh-CN" sz="2400" b="1" i="1" dirty="0" err="1">
                <a:latin typeface="Times New Roman" pitchFamily="18" charset="0"/>
                <a:ea typeface="微软雅黑" pitchFamily="34" charset="-122"/>
                <a:cs typeface="Times New Roman" pitchFamily="18" charset="0"/>
              </a:rPr>
              <a:t>L</a:t>
            </a:r>
            <a:r>
              <a:rPr lang="en-US" altLang="zh-CN" sz="2400" b="1" baseline="-25000" dirty="0" err="1">
                <a:latin typeface="Times New Roman" pitchFamily="18" charset="0"/>
                <a:ea typeface="微软雅黑" pitchFamily="34" charset="-122"/>
                <a:cs typeface="Times New Roman" pitchFamily="18" charset="0"/>
              </a:rPr>
              <a:t>v</a:t>
            </a:r>
            <a:r>
              <a:rPr lang="zh-CN" altLang="en-US" sz="2400" b="1" dirty="0">
                <a:latin typeface="Times New Roman" pitchFamily="18" charset="0"/>
                <a:ea typeface="微软雅黑" pitchFamily="34" charset="-122"/>
                <a:cs typeface="Times New Roman" pitchFamily="18" charset="0"/>
              </a:rPr>
              <a:t>定义为光源表面某一点处的面元在给定方向上的发光强度除以该面元在垂直给定方向平面上的正投影面积。</a:t>
            </a:r>
          </a:p>
        </p:txBody>
      </p:sp>
      <p:sp>
        <p:nvSpPr>
          <p:cNvPr id="28" name="Text Box 7">
            <a:extLst>
              <a:ext uri="{FF2B5EF4-FFF2-40B4-BE49-F238E27FC236}">
                <a16:creationId xmlns:a16="http://schemas.microsoft.com/office/drawing/2014/main" id="{FF6CD2C6-F354-4212-A611-C3216ED3A054}"/>
              </a:ext>
            </a:extLst>
          </p:cNvPr>
          <p:cNvSpPr txBox="1">
            <a:spLocks noChangeArrowheads="1"/>
          </p:cNvSpPr>
          <p:nvPr/>
        </p:nvSpPr>
        <p:spPr bwMode="auto">
          <a:xfrm>
            <a:off x="876245" y="5223049"/>
            <a:ext cx="10023643"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400" b="1" i="1" dirty="0" err="1">
                <a:latin typeface="Times New Roman" pitchFamily="18" charset="0"/>
                <a:ea typeface="微软雅黑" pitchFamily="34" charset="-122"/>
                <a:cs typeface="Times New Roman" pitchFamily="18" charset="0"/>
              </a:rPr>
              <a:t>L</a:t>
            </a:r>
            <a:r>
              <a:rPr lang="en-US" altLang="zh-CN" sz="2400" b="1" baseline="-25000" dirty="0" err="1">
                <a:latin typeface="Times New Roman" pitchFamily="18" charset="0"/>
                <a:ea typeface="微软雅黑" pitchFamily="34" charset="-122"/>
                <a:cs typeface="Times New Roman" pitchFamily="18" charset="0"/>
              </a:rPr>
              <a:t>v</a:t>
            </a:r>
            <a:r>
              <a:rPr lang="zh-CN" altLang="en-US" sz="2400" b="1" dirty="0">
                <a:latin typeface="Times New Roman" pitchFamily="18" charset="0"/>
                <a:ea typeface="微软雅黑" pitchFamily="34" charset="-122"/>
                <a:cs typeface="Times New Roman" pitchFamily="18" charset="0"/>
              </a:rPr>
              <a:t>的单位为坎德拉每平方米（</a:t>
            </a:r>
            <a:r>
              <a:rPr lang="en-US" altLang="zh-CN" sz="2400" b="1" dirty="0">
                <a:latin typeface="Times New Roman" pitchFamily="18" charset="0"/>
                <a:ea typeface="微软雅黑" pitchFamily="34" charset="-122"/>
                <a:cs typeface="Times New Roman" pitchFamily="18" charset="0"/>
              </a:rPr>
              <a:t>cd/m</a:t>
            </a:r>
            <a:r>
              <a:rPr lang="en-US" altLang="zh-CN" sz="2400" b="1" baseline="30000"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），即尼特，</a:t>
            </a:r>
            <a:r>
              <a:rPr lang="en-US" altLang="zh-CN" sz="2400" b="1" dirty="0">
                <a:latin typeface="Times New Roman" pitchFamily="18" charset="0"/>
                <a:ea typeface="微软雅黑" pitchFamily="34" charset="-122"/>
                <a:cs typeface="Times New Roman" pitchFamily="18" charset="0"/>
              </a:rPr>
              <a:t>1nit=1cd/m</a:t>
            </a:r>
            <a:r>
              <a:rPr lang="en-US" altLang="zh-CN" sz="2400" b="1" baseline="30000"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a:t>
            </a:r>
            <a:endParaRPr lang="en-US" altLang="zh-CN" sz="2400" b="1" dirty="0">
              <a:latin typeface="Times New Roman" pitchFamily="18" charset="0"/>
              <a:ea typeface="微软雅黑" pitchFamily="34" charset="-122"/>
              <a:cs typeface="Times New Roman" pitchFamily="18" charset="0"/>
            </a:endParaRPr>
          </a:p>
        </p:txBody>
      </p:sp>
      <p:sp>
        <p:nvSpPr>
          <p:cNvPr id="29" name="Text Box 7">
            <a:extLst>
              <a:ext uri="{FF2B5EF4-FFF2-40B4-BE49-F238E27FC236}">
                <a16:creationId xmlns:a16="http://schemas.microsoft.com/office/drawing/2014/main" id="{751053B7-B9F3-4A49-804F-CC1DBE35DD28}"/>
              </a:ext>
            </a:extLst>
          </p:cNvPr>
          <p:cNvSpPr txBox="1">
            <a:spLocks noChangeArrowheads="1"/>
          </p:cNvSpPr>
          <p:nvPr/>
        </p:nvSpPr>
        <p:spPr bwMode="auto">
          <a:xfrm>
            <a:off x="876245" y="6242143"/>
            <a:ext cx="10278319"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如果光源面积用</a:t>
            </a:r>
            <a:r>
              <a:rPr lang="en-US" altLang="zh-CN" sz="2400" b="1" dirty="0">
                <a:latin typeface="Times New Roman" pitchFamily="18" charset="0"/>
                <a:ea typeface="微软雅黑" pitchFamily="34" charset="-122"/>
                <a:cs typeface="Times New Roman" pitchFamily="18" charset="0"/>
              </a:rPr>
              <a:t>1cm</a:t>
            </a:r>
            <a:r>
              <a:rPr lang="en-US" altLang="zh-CN" sz="2400" b="1" baseline="30000"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，则光亮度单位为熙提</a:t>
            </a:r>
            <a:r>
              <a:rPr lang="en-US" altLang="zh-CN" sz="2400" b="1" dirty="0">
                <a:latin typeface="Times New Roman" pitchFamily="18" charset="0"/>
                <a:ea typeface="微软雅黑" pitchFamily="34" charset="-122"/>
                <a:cs typeface="Times New Roman" pitchFamily="18" charset="0"/>
              </a:rPr>
              <a:t>(</a:t>
            </a:r>
            <a:r>
              <a:rPr lang="en-US" altLang="zh-CN" sz="2400" b="1" dirty="0" err="1">
                <a:latin typeface="Times New Roman" pitchFamily="18" charset="0"/>
                <a:ea typeface="微软雅黑" pitchFamily="34" charset="-122"/>
                <a:cs typeface="Times New Roman" pitchFamily="18" charset="0"/>
              </a:rPr>
              <a:t>stilb</a:t>
            </a:r>
            <a:r>
              <a:rPr lang="en-US" altLang="zh-CN" sz="2400" b="1" dirty="0">
                <a:latin typeface="Times New Roman" pitchFamily="18" charset="0"/>
                <a:ea typeface="微软雅黑" pitchFamily="34" charset="-122"/>
                <a:cs typeface="Times New Roman" pitchFamily="18" charset="0"/>
              </a:rPr>
              <a:t>)</a:t>
            </a:r>
            <a:r>
              <a:rPr lang="zh-CN" altLang="en-US" sz="2400" b="1" dirty="0">
                <a:latin typeface="Times New Roman" pitchFamily="18" charset="0"/>
                <a:ea typeface="微软雅黑" pitchFamily="34" charset="-122"/>
                <a:cs typeface="Times New Roman" pitchFamily="18" charset="0"/>
              </a:rPr>
              <a:t>，</a:t>
            </a:r>
            <a:r>
              <a:rPr lang="en-US" altLang="zh-CN" sz="2400" b="1" dirty="0">
                <a:latin typeface="Times New Roman" pitchFamily="18" charset="0"/>
                <a:ea typeface="微软雅黑" pitchFamily="34" charset="-122"/>
                <a:cs typeface="Times New Roman" pitchFamily="18" charset="0"/>
              </a:rPr>
              <a:t>1stilb=10</a:t>
            </a:r>
            <a:r>
              <a:rPr lang="en-US" altLang="zh-CN" sz="2400" b="1" baseline="30000" dirty="0">
                <a:latin typeface="Times New Roman" pitchFamily="18" charset="0"/>
                <a:ea typeface="微软雅黑" pitchFamily="34" charset="-122"/>
                <a:cs typeface="Times New Roman" pitchFamily="18" charset="0"/>
              </a:rPr>
              <a:t>4</a:t>
            </a:r>
            <a:r>
              <a:rPr lang="en-US" altLang="zh-CN" sz="2400" b="1" dirty="0">
                <a:latin typeface="Times New Roman" pitchFamily="18" charset="0"/>
                <a:ea typeface="微软雅黑" pitchFamily="34" charset="-122"/>
                <a:cs typeface="Times New Roman" pitchFamily="18" charset="0"/>
              </a:rPr>
              <a:t>nit</a:t>
            </a:r>
            <a:r>
              <a:rPr lang="zh-CN" altLang="en-US" sz="2400" b="1" dirty="0">
                <a:latin typeface="Times New Roman" pitchFamily="18" charset="0"/>
                <a:ea typeface="微软雅黑" pitchFamily="34" charset="-122"/>
                <a:cs typeface="Times New Roman" pitchFamily="18" charset="0"/>
              </a:rPr>
              <a:t>。</a:t>
            </a:r>
            <a:endParaRPr lang="en-US" altLang="zh-CN" sz="2400" b="1" dirty="0">
              <a:latin typeface="Times New Roman" pitchFamily="18" charset="0"/>
              <a:ea typeface="微软雅黑" pitchFamily="34" charset="-122"/>
              <a:cs typeface="Times New Roman" pitchFamily="18" charset="0"/>
            </a:endParaRPr>
          </a:p>
        </p:txBody>
      </p:sp>
      <p:sp>
        <p:nvSpPr>
          <p:cNvPr id="16" name="未知">
            <a:extLst>
              <a:ext uri="{FF2B5EF4-FFF2-40B4-BE49-F238E27FC236}">
                <a16:creationId xmlns:a16="http://schemas.microsoft.com/office/drawing/2014/main" id="{5D0495AB-5620-44E2-B424-A82716090C1D}"/>
              </a:ext>
            </a:extLst>
          </p:cNvPr>
          <p:cNvSpPr>
            <a:spLocks noChangeAspect="1"/>
          </p:cNvSpPr>
          <p:nvPr/>
        </p:nvSpPr>
        <p:spPr bwMode="auto">
          <a:xfrm>
            <a:off x="9487231" y="4923394"/>
            <a:ext cx="1590675" cy="1428750"/>
          </a:xfrm>
          <a:custGeom>
            <a:avLst/>
            <a:gdLst>
              <a:gd name="T0" fmla="*/ 2147483647 w 1696"/>
              <a:gd name="T1" fmla="*/ 2147483647 h 1689"/>
              <a:gd name="T2" fmla="*/ 2147483647 w 1696"/>
              <a:gd name="T3" fmla="*/ 2147483647 h 1689"/>
              <a:gd name="T4" fmla="*/ 2147483647 w 1696"/>
              <a:gd name="T5" fmla="*/ 0 h 1689"/>
              <a:gd name="T6" fmla="*/ 2147483647 w 1696"/>
              <a:gd name="T7" fmla="*/ 2147483647 h 1689"/>
              <a:gd name="T8" fmla="*/ 2147483647 w 1696"/>
              <a:gd name="T9" fmla="*/ 2147483647 h 1689"/>
              <a:gd name="T10" fmla="*/ 2147483647 w 1696"/>
              <a:gd name="T11" fmla="*/ 2147483647 h 1689"/>
              <a:gd name="T12" fmla="*/ 2147483647 w 1696"/>
              <a:gd name="T13" fmla="*/ 2147483647 h 1689"/>
              <a:gd name="T14" fmla="*/ 2147483647 w 1696"/>
              <a:gd name="T15" fmla="*/ 2147483647 h 1689"/>
              <a:gd name="T16" fmla="*/ 0 60000 65536"/>
              <a:gd name="T17" fmla="*/ 0 60000 65536"/>
              <a:gd name="T18" fmla="*/ 0 60000 65536"/>
              <a:gd name="T19" fmla="*/ 0 60000 65536"/>
              <a:gd name="T20" fmla="*/ 0 60000 65536"/>
              <a:gd name="T21" fmla="*/ 0 60000 65536"/>
              <a:gd name="T22" fmla="*/ 0 60000 65536"/>
              <a:gd name="T23" fmla="*/ 0 60000 65536"/>
              <a:gd name="T24" fmla="*/ 0 w 1696"/>
              <a:gd name="T25" fmla="*/ 0 h 1689"/>
              <a:gd name="T26" fmla="*/ 1696 w 1696"/>
              <a:gd name="T27" fmla="*/ 1689 h 16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96" h="1689">
                <a:moveTo>
                  <a:pt x="88" y="969"/>
                </a:moveTo>
                <a:cubicBezTo>
                  <a:pt x="0" y="736"/>
                  <a:pt x="165" y="452"/>
                  <a:pt x="278" y="291"/>
                </a:cubicBezTo>
                <a:cubicBezTo>
                  <a:pt x="391" y="130"/>
                  <a:pt x="631" y="0"/>
                  <a:pt x="768" y="0"/>
                </a:cubicBezTo>
                <a:cubicBezTo>
                  <a:pt x="905" y="0"/>
                  <a:pt x="945" y="173"/>
                  <a:pt x="1098" y="291"/>
                </a:cubicBezTo>
                <a:cubicBezTo>
                  <a:pt x="1251" y="409"/>
                  <a:pt x="1680" y="600"/>
                  <a:pt x="1688" y="711"/>
                </a:cubicBezTo>
                <a:cubicBezTo>
                  <a:pt x="1696" y="822"/>
                  <a:pt x="1295" y="797"/>
                  <a:pt x="1148" y="960"/>
                </a:cubicBezTo>
                <a:cubicBezTo>
                  <a:pt x="1001" y="1123"/>
                  <a:pt x="985" y="1689"/>
                  <a:pt x="808" y="1689"/>
                </a:cubicBezTo>
                <a:cubicBezTo>
                  <a:pt x="631" y="1689"/>
                  <a:pt x="176" y="1202"/>
                  <a:pt x="88" y="969"/>
                </a:cubicBezTo>
                <a:close/>
              </a:path>
            </a:pathLst>
          </a:custGeom>
          <a:solidFill>
            <a:srgbClr val="00FFFF"/>
          </a:solidFill>
          <a:ln w="15875">
            <a:solidFill>
              <a:srgbClr val="000000"/>
            </a:solidFill>
            <a:round/>
            <a:headEnd/>
            <a:tailEnd/>
          </a:ln>
        </p:spPr>
        <p:txBody>
          <a:bodyPr/>
          <a:lstStyle/>
          <a:p>
            <a:pPr defTabSz="914400"/>
            <a:endParaRPr lang="zh-CN" altLang="en-US" sz="1800"/>
          </a:p>
        </p:txBody>
      </p:sp>
      <p:sp>
        <p:nvSpPr>
          <p:cNvPr id="17" name="Oval 4">
            <a:extLst>
              <a:ext uri="{FF2B5EF4-FFF2-40B4-BE49-F238E27FC236}">
                <a16:creationId xmlns:a16="http://schemas.microsoft.com/office/drawing/2014/main" id="{4D44EA1A-DE69-4600-8AE6-8BBE48340BB7}"/>
              </a:ext>
            </a:extLst>
          </p:cNvPr>
          <p:cNvSpPr>
            <a:spLocks noChangeAspect="1" noChangeArrowheads="1"/>
          </p:cNvSpPr>
          <p:nvPr/>
        </p:nvSpPr>
        <p:spPr bwMode="auto">
          <a:xfrm>
            <a:off x="10112706" y="5352019"/>
            <a:ext cx="409575" cy="285750"/>
          </a:xfrm>
          <a:prstGeom prst="ellipse">
            <a:avLst/>
          </a:prstGeom>
          <a:solidFill>
            <a:srgbClr val="FF0000"/>
          </a:solidFill>
          <a:ln w="15875">
            <a:solidFill>
              <a:srgbClr val="000000"/>
            </a:solidFill>
            <a:round/>
            <a:headEnd/>
            <a:tailEnd/>
          </a:ln>
        </p:spPr>
        <p:txBody>
          <a:bodyPr/>
          <a:lstStyle/>
          <a:p>
            <a:pPr defTabSz="914400"/>
            <a:endParaRPr lang="zh-CN" altLang="en-US" sz="1800"/>
          </a:p>
        </p:txBody>
      </p:sp>
      <p:sp>
        <p:nvSpPr>
          <p:cNvPr id="19" name="Oval 3">
            <a:extLst>
              <a:ext uri="{FF2B5EF4-FFF2-40B4-BE49-F238E27FC236}">
                <a16:creationId xmlns:a16="http://schemas.microsoft.com/office/drawing/2014/main" id="{CCB4EF1B-2A3F-4ED1-BE19-EA1F8B60B079}"/>
              </a:ext>
            </a:extLst>
          </p:cNvPr>
          <p:cNvSpPr>
            <a:spLocks noChangeAspect="1" noChangeArrowheads="1"/>
          </p:cNvSpPr>
          <p:nvPr/>
        </p:nvSpPr>
        <p:spPr bwMode="auto">
          <a:xfrm rot="2089649">
            <a:off x="10184144" y="5409169"/>
            <a:ext cx="312737" cy="149225"/>
          </a:xfrm>
          <a:prstGeom prst="ellipse">
            <a:avLst/>
          </a:prstGeom>
          <a:solidFill>
            <a:srgbClr val="FFFF00"/>
          </a:solidFill>
          <a:ln w="38100">
            <a:solidFill>
              <a:srgbClr val="FFFF00"/>
            </a:solidFill>
            <a:round/>
            <a:headEnd/>
            <a:tailEnd/>
          </a:ln>
        </p:spPr>
        <p:txBody>
          <a:bodyPr/>
          <a:lstStyle/>
          <a:p>
            <a:pPr defTabSz="914400"/>
            <a:endParaRPr lang="zh-CN" altLang="en-US" sz="1800"/>
          </a:p>
        </p:txBody>
      </p:sp>
      <p:sp>
        <p:nvSpPr>
          <p:cNvPr id="22" name="Text Box 5">
            <a:extLst>
              <a:ext uri="{FF2B5EF4-FFF2-40B4-BE49-F238E27FC236}">
                <a16:creationId xmlns:a16="http://schemas.microsoft.com/office/drawing/2014/main" id="{7D10435C-3D8E-4F4C-B48D-7E0930FEB446}"/>
              </a:ext>
            </a:extLst>
          </p:cNvPr>
          <p:cNvSpPr txBox="1">
            <a:spLocks noChangeAspect="1" noChangeArrowheads="1"/>
          </p:cNvSpPr>
          <p:nvPr/>
        </p:nvSpPr>
        <p:spPr bwMode="auto">
          <a:xfrm>
            <a:off x="9701544" y="5280581"/>
            <a:ext cx="371160" cy="357188"/>
          </a:xfrm>
          <a:prstGeom prst="rect">
            <a:avLst/>
          </a:prstGeom>
          <a:solidFill>
            <a:srgbClr val="FFFFFF"/>
          </a:solidFill>
          <a:ln w="9525">
            <a:noFill/>
            <a:miter lim="800000"/>
            <a:headEnd/>
            <a:tailEnd/>
          </a:ln>
        </p:spPr>
        <p:txBody>
          <a:bodyPr lIns="0" tIns="0" rIns="0" bIns="0"/>
          <a:lstStyle/>
          <a:p>
            <a:pPr algn="just" defTabSz="914400"/>
            <a:r>
              <a:rPr lang="en-US" altLang="zh-CN" sz="2400" b="1" i="1" dirty="0" err="1">
                <a:solidFill>
                  <a:srgbClr val="FF0000"/>
                </a:solidFill>
                <a:latin typeface="Times New Roman" pitchFamily="18" charset="0"/>
              </a:rPr>
              <a:t>dS</a:t>
            </a:r>
            <a:endParaRPr lang="zh-CN" altLang="zh-CN" sz="4800" dirty="0">
              <a:solidFill>
                <a:srgbClr val="FF0000"/>
              </a:solidFill>
            </a:endParaRPr>
          </a:p>
        </p:txBody>
      </p:sp>
      <p:grpSp>
        <p:nvGrpSpPr>
          <p:cNvPr id="24" name="组合 74">
            <a:extLst>
              <a:ext uri="{FF2B5EF4-FFF2-40B4-BE49-F238E27FC236}">
                <a16:creationId xmlns:a16="http://schemas.microsoft.com/office/drawing/2014/main" id="{B69107C3-676D-4BA8-A0C9-2596BB568C2F}"/>
              </a:ext>
            </a:extLst>
          </p:cNvPr>
          <p:cNvGrpSpPr>
            <a:grpSpLocks/>
          </p:cNvGrpSpPr>
          <p:nvPr/>
        </p:nvGrpSpPr>
        <p:grpSpPr bwMode="auto">
          <a:xfrm>
            <a:off x="10130169" y="2780269"/>
            <a:ext cx="285750" cy="2716212"/>
            <a:chOff x="5929322" y="2500306"/>
            <a:chExt cx="285752" cy="2715438"/>
          </a:xfrm>
        </p:grpSpPr>
        <p:graphicFrame>
          <p:nvGraphicFramePr>
            <p:cNvPr id="31" name="Object 24">
              <a:extLst>
                <a:ext uri="{FF2B5EF4-FFF2-40B4-BE49-F238E27FC236}">
                  <a16:creationId xmlns:a16="http://schemas.microsoft.com/office/drawing/2014/main" id="{67B9E7D7-FA2B-433A-858E-D1493642F16D}"/>
                </a:ext>
              </a:extLst>
            </p:cNvPr>
            <p:cNvGraphicFramePr>
              <a:graphicFrameLocks noChangeAspect="1"/>
            </p:cNvGraphicFramePr>
            <p:nvPr/>
          </p:nvGraphicFramePr>
          <p:xfrm>
            <a:off x="5929322" y="2500306"/>
            <a:ext cx="285752" cy="417638"/>
          </p:xfrm>
          <a:graphic>
            <a:graphicData uri="http://schemas.openxmlformats.org/presentationml/2006/ole">
              <mc:AlternateContent xmlns:mc="http://schemas.openxmlformats.org/markup-compatibility/2006">
                <mc:Choice xmlns:v="urn:schemas-microsoft-com:vml" Requires="v">
                  <p:oleObj name="Equation" r:id="rId4" imgW="127443" imgH="178420" progId="Equation.DSMT4">
                    <p:embed/>
                  </p:oleObj>
                </mc:Choice>
                <mc:Fallback>
                  <p:oleObj name="Equation" r:id="rId4" imgW="127443" imgH="17842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9322" y="2500306"/>
                          <a:ext cx="285752" cy="417638"/>
                        </a:xfrm>
                        <a:prstGeom prst="rect">
                          <a:avLst/>
                        </a:prstGeom>
                        <a:solidFill>
                          <a:srgbClr val="FFFF00"/>
                        </a:solidFill>
                      </p:spPr>
                    </p:pic>
                  </p:oleObj>
                </mc:Fallback>
              </mc:AlternateContent>
            </a:graphicData>
          </a:graphic>
        </p:graphicFrame>
        <p:cxnSp>
          <p:nvCxnSpPr>
            <p:cNvPr id="32" name="直接箭头连接符 31">
              <a:extLst>
                <a:ext uri="{FF2B5EF4-FFF2-40B4-BE49-F238E27FC236}">
                  <a16:creationId xmlns:a16="http://schemas.microsoft.com/office/drawing/2014/main" id="{40AA9668-D687-4320-A8C1-A7BDAE1CF520}"/>
                </a:ext>
              </a:extLst>
            </p:cNvPr>
            <p:cNvCxnSpPr/>
            <p:nvPr/>
          </p:nvCxnSpPr>
          <p:spPr>
            <a:xfrm rot="5400000" flipH="1" flipV="1">
              <a:off x="5009693" y="4072276"/>
              <a:ext cx="2285349" cy="1587"/>
            </a:xfrm>
            <a:prstGeom prst="straightConnector1">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34" name="组合 75">
            <a:extLst>
              <a:ext uri="{FF2B5EF4-FFF2-40B4-BE49-F238E27FC236}">
                <a16:creationId xmlns:a16="http://schemas.microsoft.com/office/drawing/2014/main" id="{8F270E8F-7F95-4732-B079-A9AF11695755}"/>
              </a:ext>
            </a:extLst>
          </p:cNvPr>
          <p:cNvGrpSpPr>
            <a:grpSpLocks/>
          </p:cNvGrpSpPr>
          <p:nvPr/>
        </p:nvGrpSpPr>
        <p:grpSpPr bwMode="auto">
          <a:xfrm>
            <a:off x="10357181" y="4280456"/>
            <a:ext cx="487363" cy="804863"/>
            <a:chOff x="6156213" y="4000504"/>
            <a:chExt cx="487489" cy="805120"/>
          </a:xfrm>
        </p:grpSpPr>
        <p:graphicFrame>
          <p:nvGraphicFramePr>
            <p:cNvPr id="35" name="Object 25">
              <a:extLst>
                <a:ext uri="{FF2B5EF4-FFF2-40B4-BE49-F238E27FC236}">
                  <a16:creationId xmlns:a16="http://schemas.microsoft.com/office/drawing/2014/main" id="{CB475265-2108-468D-967F-0C3B8183D790}"/>
                </a:ext>
              </a:extLst>
            </p:cNvPr>
            <p:cNvGraphicFramePr>
              <a:graphicFrameLocks noChangeAspect="1"/>
            </p:cNvGraphicFramePr>
            <p:nvPr/>
          </p:nvGraphicFramePr>
          <p:xfrm>
            <a:off x="6357950" y="4000504"/>
            <a:ext cx="285752" cy="417637"/>
          </p:xfrm>
          <a:graphic>
            <a:graphicData uri="http://schemas.openxmlformats.org/presentationml/2006/ole">
              <mc:AlternateContent xmlns:mc="http://schemas.openxmlformats.org/markup-compatibility/2006">
                <mc:Choice xmlns:v="urn:schemas-microsoft-com:vml" Requires="v">
                  <p:oleObj name="Equation" r:id="rId6" imgW="127443" imgH="178420" progId="Equation.DSMT4">
                    <p:embed/>
                  </p:oleObj>
                </mc:Choice>
                <mc:Fallback>
                  <p:oleObj name="Equation" r:id="rId6" imgW="127443" imgH="17842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7950" y="4000504"/>
                          <a:ext cx="285752" cy="417637"/>
                        </a:xfrm>
                        <a:prstGeom prst="rect">
                          <a:avLst/>
                        </a:prstGeom>
                        <a:solidFill>
                          <a:srgbClr val="00FF00"/>
                        </a:solidFill>
                      </p:spPr>
                    </p:pic>
                  </p:oleObj>
                </mc:Fallback>
              </mc:AlternateContent>
            </a:graphicData>
          </a:graphic>
        </p:graphicFrame>
        <p:sp>
          <p:nvSpPr>
            <p:cNvPr id="36" name="未知">
              <a:extLst>
                <a:ext uri="{FF2B5EF4-FFF2-40B4-BE49-F238E27FC236}">
                  <a16:creationId xmlns:a16="http://schemas.microsoft.com/office/drawing/2014/main" id="{9BA2DBE9-4156-43EE-91A0-E3ACFAEA212E}"/>
                </a:ext>
              </a:extLst>
            </p:cNvPr>
            <p:cNvSpPr>
              <a:spLocks noChangeAspect="1"/>
            </p:cNvSpPr>
            <p:nvPr/>
          </p:nvSpPr>
          <p:spPr bwMode="auto">
            <a:xfrm rot="1768743">
              <a:off x="6156213" y="4592898"/>
              <a:ext cx="431199" cy="212726"/>
            </a:xfrm>
            <a:custGeom>
              <a:avLst/>
              <a:gdLst>
                <a:gd name="T0" fmla="*/ 0 w 300"/>
                <a:gd name="T1" fmla="*/ 2147483647 h 150"/>
                <a:gd name="T2" fmla="*/ 2147483647 w 300"/>
                <a:gd name="T3" fmla="*/ 2147483647 h 150"/>
                <a:gd name="T4" fmla="*/ 2147483647 w 300"/>
                <a:gd name="T5" fmla="*/ 2147483647 h 150"/>
                <a:gd name="T6" fmla="*/ 2147483647 w 300"/>
                <a:gd name="T7" fmla="*/ 2147483647 h 150"/>
                <a:gd name="T8" fmla="*/ 0 60000 65536"/>
                <a:gd name="T9" fmla="*/ 0 60000 65536"/>
                <a:gd name="T10" fmla="*/ 0 60000 65536"/>
                <a:gd name="T11" fmla="*/ 0 60000 65536"/>
                <a:gd name="T12" fmla="*/ 0 w 300"/>
                <a:gd name="T13" fmla="*/ 0 h 150"/>
                <a:gd name="T14" fmla="*/ 300 w 300"/>
                <a:gd name="T15" fmla="*/ 150 h 150"/>
              </a:gdLst>
              <a:ahLst/>
              <a:cxnLst>
                <a:cxn ang="T8">
                  <a:pos x="T0" y="T1"/>
                </a:cxn>
                <a:cxn ang="T9">
                  <a:pos x="T2" y="T3"/>
                </a:cxn>
                <a:cxn ang="T10">
                  <a:pos x="T4" y="T5"/>
                </a:cxn>
                <a:cxn ang="T11">
                  <a:pos x="T6" y="T7"/>
                </a:cxn>
              </a:cxnLst>
              <a:rect l="T12" t="T13" r="T14" b="T15"/>
              <a:pathLst>
                <a:path w="300" h="150">
                  <a:moveTo>
                    <a:pt x="0" y="129"/>
                  </a:moveTo>
                  <a:cubicBezTo>
                    <a:pt x="38" y="79"/>
                    <a:pt x="76" y="30"/>
                    <a:pt x="112" y="15"/>
                  </a:cubicBezTo>
                  <a:cubicBezTo>
                    <a:pt x="148" y="0"/>
                    <a:pt x="187" y="17"/>
                    <a:pt x="218" y="39"/>
                  </a:cubicBezTo>
                  <a:cubicBezTo>
                    <a:pt x="249" y="61"/>
                    <a:pt x="274" y="105"/>
                    <a:pt x="300" y="150"/>
                  </a:cubicBezTo>
                </a:path>
              </a:pathLst>
            </a:custGeom>
            <a:noFill/>
            <a:ln w="31750">
              <a:solidFill>
                <a:schemeClr val="tx1"/>
              </a:solidFill>
              <a:round/>
              <a:headEnd type="stealth" w="med" len="lg"/>
              <a:tailEnd type="stealth" w="med" len="lg"/>
            </a:ln>
          </p:spPr>
          <p:txBody>
            <a:bodyPr/>
            <a:lstStyle/>
            <a:p>
              <a:pPr defTabSz="914400"/>
              <a:endParaRPr lang="zh-CN" altLang="en-US" sz="1800"/>
            </a:p>
          </p:txBody>
        </p:sp>
      </p:grpSp>
      <p:grpSp>
        <p:nvGrpSpPr>
          <p:cNvPr id="37" name="组合 76">
            <a:extLst>
              <a:ext uri="{FF2B5EF4-FFF2-40B4-BE49-F238E27FC236}">
                <a16:creationId xmlns:a16="http://schemas.microsoft.com/office/drawing/2014/main" id="{362B4FB3-46EF-40C6-B177-F3CF21305101}"/>
              </a:ext>
            </a:extLst>
          </p:cNvPr>
          <p:cNvGrpSpPr>
            <a:grpSpLocks/>
          </p:cNvGrpSpPr>
          <p:nvPr/>
        </p:nvGrpSpPr>
        <p:grpSpPr bwMode="auto">
          <a:xfrm>
            <a:off x="10350831" y="3464481"/>
            <a:ext cx="1909763" cy="2027238"/>
            <a:chOff x="6149278" y="3184659"/>
            <a:chExt cx="1910624" cy="2026504"/>
          </a:xfrm>
        </p:grpSpPr>
        <p:grpSp>
          <p:nvGrpSpPr>
            <p:cNvPr id="38" name="组合 65">
              <a:extLst>
                <a:ext uri="{FF2B5EF4-FFF2-40B4-BE49-F238E27FC236}">
                  <a16:creationId xmlns:a16="http://schemas.microsoft.com/office/drawing/2014/main" id="{C55D9FFE-7F10-4728-88BF-E31481E20C4A}"/>
                </a:ext>
              </a:extLst>
            </p:cNvPr>
            <p:cNvGrpSpPr>
              <a:grpSpLocks/>
            </p:cNvGrpSpPr>
            <p:nvPr/>
          </p:nvGrpSpPr>
          <p:grpSpPr bwMode="auto">
            <a:xfrm>
              <a:off x="6151375" y="3184659"/>
              <a:ext cx="1908527" cy="2026504"/>
              <a:chOff x="5222681" y="2327403"/>
              <a:chExt cx="1908527" cy="2026504"/>
            </a:xfrm>
          </p:grpSpPr>
          <p:sp>
            <p:nvSpPr>
              <p:cNvPr id="41" name="椭圆 40">
                <a:extLst>
                  <a:ext uri="{FF2B5EF4-FFF2-40B4-BE49-F238E27FC236}">
                    <a16:creationId xmlns:a16="http://schemas.microsoft.com/office/drawing/2014/main" id="{AE7DB59C-3F5B-455D-9E43-9F2A01DD93AE}"/>
                  </a:ext>
                </a:extLst>
              </p:cNvPr>
              <p:cNvSpPr>
                <a:spLocks noChangeArrowheads="1"/>
              </p:cNvSpPr>
              <p:nvPr/>
            </p:nvSpPr>
            <p:spPr bwMode="auto">
              <a:xfrm rot="2940885">
                <a:off x="6303359" y="2577141"/>
                <a:ext cx="999763" cy="500287"/>
              </a:xfrm>
              <a:prstGeom prst="ellipse">
                <a:avLst/>
              </a:prstGeom>
              <a:noFill/>
              <a:ln w="31750" algn="ctr">
                <a:solidFill>
                  <a:schemeClr val="tx1"/>
                </a:solidFill>
                <a:round/>
                <a:headEnd/>
                <a:tailEnd/>
              </a:ln>
            </p:spPr>
            <p:txBody>
              <a:bodyPr rot="10800000" vert="eaVert" anchor="ctr"/>
              <a:lstStyle/>
              <a:p>
                <a:pPr algn="ctr" defTabSz="914400">
                  <a:defRPr/>
                </a:pPr>
                <a:endParaRPr lang="zh-CN" altLang="en-US" sz="1800">
                  <a:solidFill>
                    <a:schemeClr val="lt1"/>
                  </a:solidFill>
                  <a:latin typeface="+mn-lt"/>
                  <a:ea typeface="+mn-ea"/>
                </a:endParaRPr>
              </a:p>
            </p:txBody>
          </p:sp>
          <p:cxnSp>
            <p:nvCxnSpPr>
              <p:cNvPr id="42" name="直接箭头连接符 41">
                <a:extLst>
                  <a:ext uri="{FF2B5EF4-FFF2-40B4-BE49-F238E27FC236}">
                    <a16:creationId xmlns:a16="http://schemas.microsoft.com/office/drawing/2014/main" id="{740219A7-2982-45CD-B204-ADCDF78DB200}"/>
                  </a:ext>
                </a:extLst>
              </p:cNvPr>
              <p:cNvCxnSpPr>
                <a:endCxn id="41" idx="6"/>
              </p:cNvCxnSpPr>
              <p:nvPr/>
            </p:nvCxnSpPr>
            <p:spPr>
              <a:xfrm flipV="1">
                <a:off x="5222173" y="3204973"/>
                <a:ext cx="1909035" cy="1148934"/>
              </a:xfrm>
              <a:prstGeom prst="straightConnector1">
                <a:avLst/>
              </a:prstGeom>
              <a:ln w="3175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grpSp>
        <p:cxnSp>
          <p:nvCxnSpPr>
            <p:cNvPr id="39" name="直接箭头连接符 38">
              <a:extLst>
                <a:ext uri="{FF2B5EF4-FFF2-40B4-BE49-F238E27FC236}">
                  <a16:creationId xmlns:a16="http://schemas.microsoft.com/office/drawing/2014/main" id="{8448CC07-9A74-44DE-BF96-A430344F4D4E}"/>
                </a:ext>
              </a:extLst>
            </p:cNvPr>
            <p:cNvCxnSpPr/>
            <p:nvPr/>
          </p:nvCxnSpPr>
          <p:spPr>
            <a:xfrm rot="5400000" flipH="1" flipV="1">
              <a:off x="5825262" y="3630868"/>
              <a:ext cx="1902723" cy="1254690"/>
            </a:xfrm>
            <a:prstGeom prst="straightConnector1">
              <a:avLst/>
            </a:prstGeom>
            <a:ln w="3175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3" name="Object 26">
            <a:extLst>
              <a:ext uri="{FF2B5EF4-FFF2-40B4-BE49-F238E27FC236}">
                <a16:creationId xmlns:a16="http://schemas.microsoft.com/office/drawing/2014/main" id="{14D9C987-0D46-4EE5-8FDA-27F048639586}"/>
              </a:ext>
            </a:extLst>
          </p:cNvPr>
          <p:cNvGraphicFramePr>
            <a:graphicFrameLocks noChangeAspect="1"/>
          </p:cNvGraphicFramePr>
          <p:nvPr>
            <p:extLst>
              <p:ext uri="{D42A27DB-BD31-4B8C-83A1-F6EECF244321}">
                <p14:modId xmlns:p14="http://schemas.microsoft.com/office/powerpoint/2010/main" val="1057372411"/>
              </p:ext>
            </p:extLst>
          </p:nvPr>
        </p:nvGraphicFramePr>
        <p:xfrm>
          <a:off x="11058856" y="5137706"/>
          <a:ext cx="376238" cy="285750"/>
        </p:xfrm>
        <a:graphic>
          <a:graphicData uri="http://schemas.openxmlformats.org/presentationml/2006/ole">
            <mc:AlternateContent xmlns:mc="http://schemas.openxmlformats.org/markup-compatibility/2006">
              <mc:Choice xmlns:v="urn:schemas-microsoft-com:vml" Requires="v">
                <p:oleObj name="Equation" r:id="rId8" imgW="241825" imgH="178187" progId="Equation.DSMT4">
                  <p:embed/>
                </p:oleObj>
              </mc:Choice>
              <mc:Fallback>
                <p:oleObj name="Equation" r:id="rId8" imgW="241825" imgH="178187"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58856" y="5137706"/>
                        <a:ext cx="376238" cy="285750"/>
                      </a:xfrm>
                      <a:prstGeom prst="rect">
                        <a:avLst/>
                      </a:prstGeom>
                      <a:solidFill>
                        <a:srgbClr val="00CCFF"/>
                      </a:solidFill>
                    </p:spPr>
                  </p:pic>
                </p:oleObj>
              </mc:Fallback>
            </mc:AlternateContent>
          </a:graphicData>
        </a:graphic>
      </p:graphicFrame>
      <p:sp>
        <p:nvSpPr>
          <p:cNvPr id="44" name="椭圆 43">
            <a:extLst>
              <a:ext uri="{FF2B5EF4-FFF2-40B4-BE49-F238E27FC236}">
                <a16:creationId xmlns:a16="http://schemas.microsoft.com/office/drawing/2014/main" id="{F7506E72-9EE8-4B4B-B36F-79F124FCFD71}"/>
              </a:ext>
            </a:extLst>
          </p:cNvPr>
          <p:cNvSpPr>
            <a:spLocks noChangeArrowheads="1"/>
          </p:cNvSpPr>
          <p:nvPr/>
        </p:nvSpPr>
        <p:spPr bwMode="auto">
          <a:xfrm rot="2756598">
            <a:off x="10714369" y="4936094"/>
            <a:ext cx="282575" cy="142875"/>
          </a:xfrm>
          <a:prstGeom prst="ellipse">
            <a:avLst/>
          </a:prstGeom>
          <a:noFill/>
          <a:ln w="31750" algn="ctr">
            <a:solidFill>
              <a:srgbClr val="0000FF"/>
            </a:solidFill>
            <a:round/>
            <a:headEnd/>
            <a:tailEnd/>
          </a:ln>
        </p:spPr>
        <p:txBody>
          <a:bodyPr rot="10800000" vert="eaVert" anchor="ctr"/>
          <a:lstStyle/>
          <a:p>
            <a:pPr algn="ctr" defTabSz="914400">
              <a:defRPr/>
            </a:pPr>
            <a:endParaRPr lang="zh-CN" altLang="en-US" sz="1800">
              <a:solidFill>
                <a:schemeClr val="lt1"/>
              </a:solidFill>
              <a:latin typeface="+mn-lt"/>
              <a:ea typeface="+mn-ea"/>
            </a:endParaRPr>
          </a:p>
        </p:txBody>
      </p:sp>
      <p:grpSp>
        <p:nvGrpSpPr>
          <p:cNvPr id="45" name="组合 77">
            <a:extLst>
              <a:ext uri="{FF2B5EF4-FFF2-40B4-BE49-F238E27FC236}">
                <a16:creationId xmlns:a16="http://schemas.microsoft.com/office/drawing/2014/main" id="{7AA348D1-E25D-40D2-987A-594635414829}"/>
              </a:ext>
            </a:extLst>
          </p:cNvPr>
          <p:cNvGrpSpPr>
            <a:grpSpLocks/>
          </p:cNvGrpSpPr>
          <p:nvPr/>
        </p:nvGrpSpPr>
        <p:grpSpPr bwMode="auto">
          <a:xfrm>
            <a:off x="10344481" y="2708831"/>
            <a:ext cx="2643188" cy="2795588"/>
            <a:chOff x="6143636" y="2428868"/>
            <a:chExt cx="2643206" cy="2794999"/>
          </a:xfrm>
        </p:grpSpPr>
        <p:grpSp>
          <p:nvGrpSpPr>
            <p:cNvPr id="46" name="组合 62">
              <a:extLst>
                <a:ext uri="{FF2B5EF4-FFF2-40B4-BE49-F238E27FC236}">
                  <a16:creationId xmlns:a16="http://schemas.microsoft.com/office/drawing/2014/main" id="{A823940D-6989-49CA-AE3D-D1D8495307E1}"/>
                </a:ext>
              </a:extLst>
            </p:cNvPr>
            <p:cNvGrpSpPr>
              <a:grpSpLocks/>
            </p:cNvGrpSpPr>
            <p:nvPr/>
          </p:nvGrpSpPr>
          <p:grpSpPr bwMode="auto">
            <a:xfrm>
              <a:off x="6143636" y="2985379"/>
              <a:ext cx="2263438" cy="2238488"/>
              <a:chOff x="5500694" y="2628189"/>
              <a:chExt cx="2263438" cy="2238488"/>
            </a:xfrm>
          </p:grpSpPr>
          <p:cxnSp>
            <p:nvCxnSpPr>
              <p:cNvPr id="48" name="直接箭头连接符 47">
                <a:extLst>
                  <a:ext uri="{FF2B5EF4-FFF2-40B4-BE49-F238E27FC236}">
                    <a16:creationId xmlns:a16="http://schemas.microsoft.com/office/drawing/2014/main" id="{654C4EE1-357C-4512-B61D-E7C9128CEBDB}"/>
                  </a:ext>
                </a:extLst>
              </p:cNvPr>
              <p:cNvCxnSpPr/>
              <p:nvPr/>
            </p:nvCxnSpPr>
            <p:spPr>
              <a:xfrm flipV="1">
                <a:off x="5500694" y="3571550"/>
                <a:ext cx="1357322" cy="1295127"/>
              </a:xfrm>
              <a:prstGeom prst="straightConnector1">
                <a:avLst/>
              </a:prstGeom>
              <a:ln w="31750">
                <a:solidFill>
                  <a:schemeClr val="tx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D20AFFB2-DF10-4949-8590-19B9F500247E}"/>
                  </a:ext>
                </a:extLst>
              </p:cNvPr>
              <p:cNvCxnSpPr/>
              <p:nvPr/>
            </p:nvCxnSpPr>
            <p:spPr>
              <a:xfrm rot="5400000" flipH="1" flipV="1">
                <a:off x="7075580" y="2638223"/>
                <a:ext cx="698353" cy="679455"/>
              </a:xfrm>
              <a:prstGeom prst="straightConnector1">
                <a:avLst/>
              </a:prstGeom>
              <a:ln w="3175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graphicFrame>
          <p:nvGraphicFramePr>
            <p:cNvPr id="47" name="Object 27">
              <a:extLst>
                <a:ext uri="{FF2B5EF4-FFF2-40B4-BE49-F238E27FC236}">
                  <a16:creationId xmlns:a16="http://schemas.microsoft.com/office/drawing/2014/main" id="{0775A319-C9DB-4650-BBB7-D5EA774540B3}"/>
                </a:ext>
              </a:extLst>
            </p:cNvPr>
            <p:cNvGraphicFramePr>
              <a:graphicFrameLocks noChangeAspect="1"/>
            </p:cNvGraphicFramePr>
            <p:nvPr/>
          </p:nvGraphicFramePr>
          <p:xfrm>
            <a:off x="8501090" y="2428868"/>
            <a:ext cx="285752" cy="527542"/>
          </p:xfrm>
          <a:graphic>
            <a:graphicData uri="http://schemas.openxmlformats.org/presentationml/2006/ole">
              <mc:AlternateContent xmlns:mc="http://schemas.openxmlformats.org/markup-compatibility/2006">
                <mc:Choice xmlns:v="urn:schemas-microsoft-com:vml" Requires="v">
                  <p:oleObj name="Equation" r:id="rId10" imgW="127276" imgH="229097" progId="Equation.DSMT4">
                    <p:embed/>
                  </p:oleObj>
                </mc:Choice>
                <mc:Fallback>
                  <p:oleObj name="Equation" r:id="rId10" imgW="127276" imgH="22909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01090" y="2428868"/>
                          <a:ext cx="285752" cy="527542"/>
                        </a:xfrm>
                        <a:prstGeom prst="rect">
                          <a:avLst/>
                        </a:prstGeom>
                        <a:solidFill>
                          <a:srgbClr val="00FFFF"/>
                        </a:solidFill>
                      </p:spPr>
                    </p:pic>
                  </p:oleObj>
                </mc:Fallback>
              </mc:AlternateContent>
            </a:graphicData>
          </a:graphic>
        </p:graphicFrame>
      </p:grpSp>
      <p:graphicFrame>
        <p:nvGraphicFramePr>
          <p:cNvPr id="50" name="Object 28">
            <a:extLst>
              <a:ext uri="{FF2B5EF4-FFF2-40B4-BE49-F238E27FC236}">
                <a16:creationId xmlns:a16="http://schemas.microsoft.com/office/drawing/2014/main" id="{B427BB34-E9D7-4E4C-A5A0-C470FBB74FFA}"/>
              </a:ext>
            </a:extLst>
          </p:cNvPr>
          <p:cNvGraphicFramePr>
            <a:graphicFrameLocks noChangeAspect="1"/>
          </p:cNvGraphicFramePr>
          <p:nvPr>
            <p:extLst>
              <p:ext uri="{D42A27DB-BD31-4B8C-83A1-F6EECF244321}">
                <p14:modId xmlns:p14="http://schemas.microsoft.com/office/powerpoint/2010/main" val="3177485304"/>
              </p:ext>
            </p:extLst>
          </p:nvPr>
        </p:nvGraphicFramePr>
        <p:xfrm>
          <a:off x="11844669" y="2923144"/>
          <a:ext cx="396875" cy="458787"/>
        </p:xfrm>
        <a:graphic>
          <a:graphicData uri="http://schemas.openxmlformats.org/presentationml/2006/ole">
            <mc:AlternateContent xmlns:mc="http://schemas.openxmlformats.org/markup-compatibility/2006">
              <mc:Choice xmlns:v="urn:schemas-microsoft-com:vml" Requires="v">
                <p:oleObj name="Equation" r:id="rId12" imgW="228600" imgH="228600" progId="Equation.DSMT4">
                  <p:embed/>
                </p:oleObj>
              </mc:Choice>
              <mc:Fallback>
                <p:oleObj name="Equation" r:id="rId12" imgW="228600" imgH="228600" progId="Equation.DSMT4">
                  <p:embed/>
                  <p:pic>
                    <p:nvPicPr>
                      <p:cNvPr id="0" name=""/>
                      <p:cNvPicPr>
                        <a:picLocks noChangeAspect="1" noChangeArrowheads="1"/>
                      </p:cNvPicPr>
                      <p:nvPr/>
                    </p:nvPicPr>
                    <p:blipFill>
                      <a:blip r:embed="rId13"/>
                      <a:srcRect/>
                      <a:stretch>
                        <a:fillRect/>
                      </a:stretch>
                    </p:blipFill>
                    <p:spPr bwMode="auto">
                      <a:xfrm>
                        <a:off x="11844669" y="2923144"/>
                        <a:ext cx="396875" cy="458787"/>
                      </a:xfrm>
                      <a:prstGeom prst="rect">
                        <a:avLst/>
                      </a:prstGeom>
                      <a:solidFill>
                        <a:srgbClr val="FF00FF"/>
                      </a:solidFill>
                    </p:spPr>
                  </p:pic>
                </p:oleObj>
              </mc:Fallback>
            </mc:AlternateContent>
          </a:graphicData>
        </a:graphic>
      </p:graphicFrame>
      <p:graphicFrame>
        <p:nvGraphicFramePr>
          <p:cNvPr id="51" name="Object 29">
            <a:extLst>
              <a:ext uri="{FF2B5EF4-FFF2-40B4-BE49-F238E27FC236}">
                <a16:creationId xmlns:a16="http://schemas.microsoft.com/office/drawing/2014/main" id="{3770061A-63AF-4A1C-835A-48D7A7614EB7}"/>
              </a:ext>
            </a:extLst>
          </p:cNvPr>
          <p:cNvGraphicFramePr>
            <a:graphicFrameLocks noChangeAspect="1"/>
          </p:cNvGraphicFramePr>
          <p:nvPr>
            <p:extLst>
              <p:ext uri="{D42A27DB-BD31-4B8C-83A1-F6EECF244321}">
                <p14:modId xmlns:p14="http://schemas.microsoft.com/office/powerpoint/2010/main" val="3138278171"/>
              </p:ext>
            </p:extLst>
          </p:nvPr>
        </p:nvGraphicFramePr>
        <p:xfrm>
          <a:off x="12416169" y="3708956"/>
          <a:ext cx="546100" cy="428625"/>
        </p:xfrm>
        <a:graphic>
          <a:graphicData uri="http://schemas.openxmlformats.org/presentationml/2006/ole">
            <mc:AlternateContent xmlns:mc="http://schemas.openxmlformats.org/markup-compatibility/2006">
              <mc:Choice xmlns:v="urn:schemas-microsoft-com:vml" Requires="v">
                <p:oleObj name="Equation" r:id="rId14" imgW="304560" imgH="228600" progId="Equation.DSMT4">
                  <p:embed/>
                </p:oleObj>
              </mc:Choice>
              <mc:Fallback>
                <p:oleObj name="Equation" r:id="rId14" imgW="304560" imgH="228600" progId="Equation.DSMT4">
                  <p:embed/>
                  <p:pic>
                    <p:nvPicPr>
                      <p:cNvPr id="0" name=""/>
                      <p:cNvPicPr>
                        <a:picLocks noChangeAspect="1" noChangeArrowheads="1"/>
                      </p:cNvPicPr>
                      <p:nvPr/>
                    </p:nvPicPr>
                    <p:blipFill>
                      <a:blip r:embed="rId15"/>
                      <a:srcRect/>
                      <a:stretch>
                        <a:fillRect/>
                      </a:stretch>
                    </p:blipFill>
                    <p:spPr bwMode="auto">
                      <a:xfrm>
                        <a:off x="12416169" y="3708956"/>
                        <a:ext cx="546100" cy="428625"/>
                      </a:xfrm>
                      <a:prstGeom prst="rect">
                        <a:avLst/>
                      </a:prstGeom>
                      <a:solidFill>
                        <a:srgbClr val="FFFF00"/>
                      </a:solidFill>
                    </p:spPr>
                  </p:pic>
                </p:oleObj>
              </mc:Fallback>
            </mc:AlternateContent>
          </a:graphicData>
        </a:graphic>
      </p:graphicFrame>
      <p:graphicFrame>
        <p:nvGraphicFramePr>
          <p:cNvPr id="52" name="Object 26">
            <a:extLst>
              <a:ext uri="{FF2B5EF4-FFF2-40B4-BE49-F238E27FC236}">
                <a16:creationId xmlns:a16="http://schemas.microsoft.com/office/drawing/2014/main" id="{14D9C987-0D46-4EE5-8FDA-27F048639586}"/>
              </a:ext>
            </a:extLst>
          </p:cNvPr>
          <p:cNvGraphicFramePr>
            <a:graphicFrameLocks noChangeAspect="1"/>
          </p:cNvGraphicFramePr>
          <p:nvPr>
            <p:extLst>
              <p:ext uri="{D42A27DB-BD31-4B8C-83A1-F6EECF244321}">
                <p14:modId xmlns:p14="http://schemas.microsoft.com/office/powerpoint/2010/main" val="447179255"/>
              </p:ext>
            </p:extLst>
          </p:nvPr>
        </p:nvGraphicFramePr>
        <p:xfrm>
          <a:off x="10019131" y="5726788"/>
          <a:ext cx="366448" cy="334729"/>
        </p:xfrm>
        <a:graphic>
          <a:graphicData uri="http://schemas.openxmlformats.org/presentationml/2006/ole">
            <mc:AlternateContent xmlns:mc="http://schemas.openxmlformats.org/markup-compatibility/2006">
              <mc:Choice xmlns:v="urn:schemas-microsoft-com:vml" Requires="v">
                <p:oleObj name="Equation" r:id="rId16" imgW="266400" imgH="177480" progId="Equation.DSMT4">
                  <p:embed/>
                </p:oleObj>
              </mc:Choice>
              <mc:Fallback>
                <p:oleObj name="Equation" r:id="rId16" imgW="266400" imgH="177480" progId="Equation.DSMT4">
                  <p:embed/>
                  <p:pic>
                    <p:nvPicPr>
                      <p:cNvPr id="0" name=""/>
                      <p:cNvPicPr>
                        <a:picLocks noChangeAspect="1" noChangeArrowheads="1"/>
                      </p:cNvPicPr>
                      <p:nvPr/>
                    </p:nvPicPr>
                    <p:blipFill>
                      <a:blip r:embed="rId17"/>
                      <a:srcRect/>
                      <a:stretch>
                        <a:fillRect/>
                      </a:stretch>
                    </p:blipFill>
                    <p:spPr bwMode="auto">
                      <a:xfrm>
                        <a:off x="10019131" y="5726788"/>
                        <a:ext cx="366448" cy="334729"/>
                      </a:xfrm>
                      <a:prstGeom prst="rect">
                        <a:avLst/>
                      </a:prstGeom>
                      <a:solidFill>
                        <a:schemeClr val="accent4">
                          <a:lumMod val="20000"/>
                          <a:lumOff val="80000"/>
                        </a:schemeClr>
                      </a:solidFill>
                    </p:spPr>
                  </p:pic>
                </p:oleObj>
              </mc:Fallback>
            </mc:AlternateContent>
          </a:graphicData>
        </a:graphic>
      </p:graphicFrame>
      <p:sp>
        <p:nvSpPr>
          <p:cNvPr id="53"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5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28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ox(in)">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ox(i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ox(in)">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box(in)">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box(in)">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20"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edge">
                                      <p:cBhvr>
                                        <p:cTn id="38" dur="20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heel(4)">
                                      <p:cBhvr>
                                        <p:cTn id="43" dur="20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ox(in)">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box(in)">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box(in)">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box(in)">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fill="hold"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box(in)">
                                      <p:cBhvr>
                                        <p:cTn id="68" dur="500"/>
                                        <p:tgtEl>
                                          <p:spTgt spid="34"/>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box(in)">
                                      <p:cBhvr>
                                        <p:cTn id="73" dur="50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16" fill="hold" grpId="0" nodeType="click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box(in)">
                                      <p:cBhvr>
                                        <p:cTn id="78" dur="500"/>
                                        <p:tgtEl>
                                          <p:spTgt spid="44"/>
                                        </p:tgtEl>
                                      </p:cBhvr>
                                    </p:animEffect>
                                  </p:childTnLst>
                                </p:cTn>
                              </p:par>
                              <p:par>
                                <p:cTn id="79" presetID="4" presetClass="entr" presetSubtype="16"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box(in)">
                                      <p:cBhvr>
                                        <p:cTn id="81" dur="500"/>
                                        <p:tgtEl>
                                          <p:spTgt spid="43"/>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nodeType="clickEffect">
                                  <p:stCondLst>
                                    <p:cond delay="0"/>
                                  </p:stCondLst>
                                  <p:childTnLst>
                                    <p:set>
                                      <p:cBhvr>
                                        <p:cTn id="85" dur="1" fill="hold">
                                          <p:stCondLst>
                                            <p:cond delay="0"/>
                                          </p:stCondLst>
                                        </p:cTn>
                                        <p:tgtEl>
                                          <p:spTgt spid="51"/>
                                        </p:tgtEl>
                                        <p:attrNameLst>
                                          <p:attrName>style.visibility</p:attrName>
                                        </p:attrNameLst>
                                      </p:cBhvr>
                                      <p:to>
                                        <p:strVal val="visible"/>
                                      </p:to>
                                    </p:set>
                                    <p:animEffect transition="in" filter="box(in)">
                                      <p:cBhvr>
                                        <p:cTn id="86" dur="500"/>
                                        <p:tgtEl>
                                          <p:spTgt spid="51"/>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16" fill="hold" nodeType="clickEffect">
                                  <p:stCondLst>
                                    <p:cond delay="0"/>
                                  </p:stCondLst>
                                  <p:childTnLst>
                                    <p:set>
                                      <p:cBhvr>
                                        <p:cTn id="90" dur="1" fill="hold">
                                          <p:stCondLst>
                                            <p:cond delay="0"/>
                                          </p:stCondLst>
                                        </p:cTn>
                                        <p:tgtEl>
                                          <p:spTgt spid="50"/>
                                        </p:tgtEl>
                                        <p:attrNameLst>
                                          <p:attrName>style.visibility</p:attrName>
                                        </p:attrNameLst>
                                      </p:cBhvr>
                                      <p:to>
                                        <p:strVal val="visible"/>
                                      </p:to>
                                    </p:set>
                                    <p:animEffect transition="in" filter="box(in)">
                                      <p:cBhvr>
                                        <p:cTn id="91" dur="500"/>
                                        <p:tgtEl>
                                          <p:spTgt spid="50"/>
                                        </p:tgtEl>
                                      </p:cBhvr>
                                    </p:animEffect>
                                  </p:childTnLst>
                                </p:cTn>
                              </p:par>
                              <p:par>
                                <p:cTn id="92" presetID="4" presetClass="entr" presetSubtype="16" fill="hold"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box(in)">
                                      <p:cBhvr>
                                        <p:cTn id="9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autoUpdateAnimBg="0"/>
      <p:bldP spid="27" grpId="0" autoUpdateAnimBg="0"/>
      <p:bldP spid="28" grpId="0" autoUpdateAnimBg="0"/>
      <p:bldP spid="29" grpId="0" autoUpdateAnimBg="0"/>
      <p:bldP spid="16" grpId="0" animBg="1"/>
      <p:bldP spid="17" grpId="0" animBg="1"/>
      <p:bldP spid="19" grpId="0" animBg="1"/>
      <p:bldP spid="22" grpId="0" animBg="1"/>
      <p:bldP spid="4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6" name="Group 65">
            <a:extLst>
              <a:ext uri="{FF2B5EF4-FFF2-40B4-BE49-F238E27FC236}">
                <a16:creationId xmlns:a16="http://schemas.microsoft.com/office/drawing/2014/main" id="{DAE04F95-B522-49A8-A9F9-9F15D6B5D253}"/>
              </a:ext>
            </a:extLst>
          </p:cNvPr>
          <p:cNvGraphicFramePr>
            <a:graphicFrameLocks noGrp="1"/>
          </p:cNvGraphicFramePr>
          <p:nvPr>
            <p:extLst>
              <p:ext uri="{D42A27DB-BD31-4B8C-83A1-F6EECF244321}">
                <p14:modId xmlns:p14="http://schemas.microsoft.com/office/powerpoint/2010/main" val="1707417868"/>
              </p:ext>
            </p:extLst>
          </p:nvPr>
        </p:nvGraphicFramePr>
        <p:xfrm>
          <a:off x="1185863" y="4382497"/>
          <a:ext cx="11277304" cy="2806122"/>
        </p:xfrm>
        <a:graphic>
          <a:graphicData uri="http://schemas.openxmlformats.org/drawingml/2006/table">
            <a:tbl>
              <a:tblPr/>
              <a:tblGrid>
                <a:gridCol w="1992997">
                  <a:extLst>
                    <a:ext uri="{9D8B030D-6E8A-4147-A177-3AD203B41FA5}">
                      <a16:colId xmlns:a16="http://schemas.microsoft.com/office/drawing/2014/main" val="20000"/>
                    </a:ext>
                  </a:extLst>
                </a:gridCol>
                <a:gridCol w="1134477">
                  <a:extLst>
                    <a:ext uri="{9D8B030D-6E8A-4147-A177-3AD203B41FA5}">
                      <a16:colId xmlns:a16="http://schemas.microsoft.com/office/drawing/2014/main" val="20001"/>
                    </a:ext>
                  </a:extLst>
                </a:gridCol>
                <a:gridCol w="3031401">
                  <a:extLst>
                    <a:ext uri="{9D8B030D-6E8A-4147-A177-3AD203B41FA5}">
                      <a16:colId xmlns:a16="http://schemas.microsoft.com/office/drawing/2014/main" val="20002"/>
                    </a:ext>
                  </a:extLst>
                </a:gridCol>
                <a:gridCol w="1404298">
                  <a:extLst>
                    <a:ext uri="{9D8B030D-6E8A-4147-A177-3AD203B41FA5}">
                      <a16:colId xmlns:a16="http://schemas.microsoft.com/office/drawing/2014/main" val="20003"/>
                    </a:ext>
                  </a:extLst>
                </a:gridCol>
                <a:gridCol w="932110">
                  <a:extLst>
                    <a:ext uri="{9D8B030D-6E8A-4147-A177-3AD203B41FA5}">
                      <a16:colId xmlns:a16="http://schemas.microsoft.com/office/drawing/2014/main" val="20004"/>
                    </a:ext>
                  </a:extLst>
                </a:gridCol>
                <a:gridCol w="2782021">
                  <a:extLst>
                    <a:ext uri="{9D8B030D-6E8A-4147-A177-3AD203B41FA5}">
                      <a16:colId xmlns:a16="http://schemas.microsoft.com/office/drawing/2014/main" val="20005"/>
                    </a:ext>
                  </a:extLst>
                </a:gridCol>
              </a:tblGrid>
              <a:tr h="37596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辐射度量</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符号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单位名称</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光度量</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符号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单位名称</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596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辐能</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Q</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焦耳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(J)</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光能</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Q</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流明秒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(lm·s)</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6987">
                <a:tc>
                  <a:txBody>
                    <a:bodyPr/>
                    <a:lstStyle/>
                    <a:p>
                      <a:pPr marL="0" marR="0" lvl="0" indent="5715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辐通量</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Φ</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瓦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(W)</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5715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光通量</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Φ</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流明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(lm)</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596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辐照度</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E</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瓦</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平方米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(W·m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光照度</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E</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勒克斯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(lx=lm·m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596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辐出度</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瓦</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平方米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(W·m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光出度</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流明</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平方米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(lm·m</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29227">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辐强度</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I</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瓦</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球面度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(W·sr</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-1</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发光强度</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I</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坎德拉 </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(cd=lm·sr</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-1</a:t>
                      </a:r>
                      <a:r>
                        <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4707">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辐亮度</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e</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瓦</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平方米球面度 </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(W·m</a:t>
                      </a:r>
                      <a:r>
                        <a:rPr kumimoji="0" lang="en-US" altLang="zh-CN" sz="1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 sr</a:t>
                      </a:r>
                      <a:r>
                        <a:rPr kumimoji="0" lang="en-US" altLang="zh-CN" sz="1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-1</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光亮度</a:t>
                      </a: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1"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L</a:t>
                      </a:r>
                      <a:r>
                        <a:rPr kumimoji="0" lang="en-US" altLang="zh-CN" sz="1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v</a:t>
                      </a:r>
                      <a:endParaRPr kumimoji="0" lang="en-US" altLang="zh-CN" sz="1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坎德拉</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r>
                        <a:rPr kumimoji="0" lang="zh-CN" altLang="en-US"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平方米 </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(cd·m</a:t>
                      </a:r>
                      <a:r>
                        <a:rPr kumimoji="0" lang="en-US" altLang="zh-CN" sz="1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-2</a:t>
                      </a:r>
                      <a:r>
                        <a:rPr kumimoji="0" lang="en-US" altLang="zh-CN" sz="1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17" name="Rectangle 62">
            <a:extLst>
              <a:ext uri="{FF2B5EF4-FFF2-40B4-BE49-F238E27FC236}">
                <a16:creationId xmlns:a16="http://schemas.microsoft.com/office/drawing/2014/main" id="{6F06BB0E-37D5-4408-992A-A5BE88626D94}"/>
              </a:ext>
            </a:extLst>
          </p:cNvPr>
          <p:cNvSpPr>
            <a:spLocks noChangeArrowheads="1"/>
          </p:cNvSpPr>
          <p:nvPr/>
        </p:nvSpPr>
        <p:spPr bwMode="auto">
          <a:xfrm>
            <a:off x="3483595" y="3791945"/>
            <a:ext cx="6701901" cy="519113"/>
          </a:xfrm>
          <a:prstGeom prst="rect">
            <a:avLst/>
          </a:prstGeom>
          <a:noFill/>
          <a:ln w="9525">
            <a:noFill/>
            <a:miter lim="800000"/>
            <a:headEnd/>
            <a:tailEnd/>
          </a:ln>
        </p:spPr>
        <p:txBody>
          <a:bodyPr wrap="square" anchor="ctr">
            <a:spAutoFit/>
          </a:bodyPr>
          <a:lstStyle/>
          <a:p>
            <a:pPr defTabSz="914400"/>
            <a:r>
              <a:rPr lang="zh-CN" altLang="en-US" sz="2800" b="1" dirty="0">
                <a:solidFill>
                  <a:srgbClr val="0000FF"/>
                </a:solidFill>
                <a:latin typeface="微软雅黑" pitchFamily="34" charset="-122"/>
                <a:ea typeface="微软雅黑" pitchFamily="34" charset="-122"/>
              </a:rPr>
              <a:t>光度量的基本物理量与辐射度量一一对应 </a:t>
            </a:r>
          </a:p>
        </p:txBody>
      </p:sp>
      <p:graphicFrame>
        <p:nvGraphicFramePr>
          <p:cNvPr id="19" name="表格 18">
            <a:extLst>
              <a:ext uri="{FF2B5EF4-FFF2-40B4-BE49-F238E27FC236}">
                <a16:creationId xmlns:a16="http://schemas.microsoft.com/office/drawing/2014/main" id="{DAFCC381-374C-4465-8A5D-EB4AC03479DF}"/>
              </a:ext>
            </a:extLst>
          </p:cNvPr>
          <p:cNvGraphicFramePr>
            <a:graphicFrameLocks noGrp="1"/>
          </p:cNvGraphicFramePr>
          <p:nvPr>
            <p:extLst>
              <p:ext uri="{D42A27DB-BD31-4B8C-83A1-F6EECF244321}">
                <p14:modId xmlns:p14="http://schemas.microsoft.com/office/powerpoint/2010/main" val="2503288451"/>
              </p:ext>
            </p:extLst>
          </p:nvPr>
        </p:nvGraphicFramePr>
        <p:xfrm>
          <a:off x="2003425" y="1574503"/>
          <a:ext cx="9516141" cy="2031705"/>
        </p:xfrm>
        <a:graphic>
          <a:graphicData uri="http://schemas.openxmlformats.org/drawingml/2006/table">
            <a:tbl>
              <a:tblPr>
                <a:tableStyleId>{5C22544A-7EE6-4342-B048-85BDC9FD1C3A}</a:tableStyleId>
              </a:tblPr>
              <a:tblGrid>
                <a:gridCol w="2689344">
                  <a:extLst>
                    <a:ext uri="{9D8B030D-6E8A-4147-A177-3AD203B41FA5}">
                      <a16:colId xmlns:a16="http://schemas.microsoft.com/office/drawing/2014/main" val="20000"/>
                    </a:ext>
                  </a:extLst>
                </a:gridCol>
                <a:gridCol w="2068727">
                  <a:extLst>
                    <a:ext uri="{9D8B030D-6E8A-4147-A177-3AD203B41FA5}">
                      <a16:colId xmlns:a16="http://schemas.microsoft.com/office/drawing/2014/main" val="20001"/>
                    </a:ext>
                  </a:extLst>
                </a:gridCol>
                <a:gridCol w="2379035">
                  <a:extLst>
                    <a:ext uri="{9D8B030D-6E8A-4147-A177-3AD203B41FA5}">
                      <a16:colId xmlns:a16="http://schemas.microsoft.com/office/drawing/2014/main" val="20002"/>
                    </a:ext>
                  </a:extLst>
                </a:gridCol>
                <a:gridCol w="2379035">
                  <a:extLst>
                    <a:ext uri="{9D8B030D-6E8A-4147-A177-3AD203B41FA5}">
                      <a16:colId xmlns:a16="http://schemas.microsoft.com/office/drawing/2014/main" val="20003"/>
                    </a:ext>
                  </a:extLst>
                </a:gridCol>
              </a:tblGrid>
              <a:tr h="406341">
                <a:tc>
                  <a:txBody>
                    <a:bodyPr/>
                    <a:lstStyle/>
                    <a:p>
                      <a:pPr algn="ctr">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光源</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光亮度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光源</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光亮度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6341">
                <a:tc>
                  <a:txBody>
                    <a:bodyPr/>
                    <a:lstStyle/>
                    <a:p>
                      <a:pPr algn="ctr">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太阳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1.5×10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月球表面</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2.5×10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6341">
                <a:tc>
                  <a:txBody>
                    <a:bodyPr/>
                    <a:lstStyle/>
                    <a:p>
                      <a:pPr algn="ctr">
                        <a:spcAft>
                          <a:spcPts val="0"/>
                        </a:spcAft>
                      </a:pPr>
                      <a:r>
                        <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白炽灯灯丝</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(5~15) ×10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人工照明下纸面</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10</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6341">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太阳光下的白色表面</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3 10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白天晴朗的天空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5×10</a:t>
                      </a:r>
                      <a:r>
                        <a:rPr lang="en-US" sz="1800" b="1" kern="100" baseline="300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6341">
                <a:tc>
                  <a:txBody>
                    <a:bodyPr/>
                    <a:lstStyle/>
                    <a:p>
                      <a:pPr algn="ctr">
                        <a:spcAft>
                          <a:spcPts val="0"/>
                        </a:spcAft>
                      </a:pP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钠光灯</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(1~2)×10</a:t>
                      </a:r>
                      <a:r>
                        <a:rPr lang="en-US" sz="1800" b="1" kern="100" baseline="30000" dirty="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a:effectLst/>
                          <a:latin typeface="Times New Roman" panose="02020603050405020304" pitchFamily="18" charset="0"/>
                          <a:ea typeface="微软雅黑" panose="020B0503020204020204" pitchFamily="34" charset="-122"/>
                          <a:cs typeface="Times New Roman" panose="02020603050405020304" pitchFamily="18" charset="0"/>
                        </a:rPr>
                        <a:t>2500K</a:t>
                      </a:r>
                      <a:r>
                        <a:rPr lang="zh-CN" sz="1800" b="1" kern="100">
                          <a:effectLst/>
                          <a:latin typeface="Times New Roman" panose="02020603050405020304" pitchFamily="18" charset="0"/>
                          <a:ea typeface="微软雅黑" panose="020B0503020204020204" pitchFamily="34" charset="-122"/>
                          <a:cs typeface="Times New Roman" panose="02020603050405020304" pitchFamily="18" charset="0"/>
                        </a:rPr>
                        <a:t>黑体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1" kern="100" dirty="0">
                          <a:effectLst/>
                          <a:latin typeface="Times New Roman" panose="02020603050405020304" pitchFamily="18" charset="0"/>
                          <a:ea typeface="微软雅黑" panose="020B0503020204020204" pitchFamily="34" charset="-122"/>
                          <a:cs typeface="Times New Roman" panose="02020603050405020304" pitchFamily="18" charset="0"/>
                        </a:rPr>
                        <a:t>5.3×10</a:t>
                      </a:r>
                      <a:r>
                        <a:rPr lang="en-US" sz="1800" b="1" kern="100" baseline="30000" dirty="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8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22" name="对象 21">
            <a:extLst>
              <a:ext uri="{FF2B5EF4-FFF2-40B4-BE49-F238E27FC236}">
                <a16:creationId xmlns:a16="http://schemas.microsoft.com/office/drawing/2014/main" id="{A7D7FBB9-4FEE-448C-BD92-F90DF91C22A0}"/>
              </a:ext>
            </a:extLst>
          </p:cNvPr>
          <p:cNvGraphicFramePr>
            <a:graphicFrameLocks noChangeAspect="1"/>
          </p:cNvGraphicFramePr>
          <p:nvPr>
            <p:extLst>
              <p:ext uri="{D42A27DB-BD31-4B8C-83A1-F6EECF244321}">
                <p14:modId xmlns:p14="http://schemas.microsoft.com/office/powerpoint/2010/main" val="2748830450"/>
              </p:ext>
            </p:extLst>
          </p:nvPr>
        </p:nvGraphicFramePr>
        <p:xfrm>
          <a:off x="5634184" y="3246622"/>
          <a:ext cx="161105" cy="174530"/>
        </p:xfrm>
        <a:graphic>
          <a:graphicData uri="http://schemas.openxmlformats.org/presentationml/2006/ole">
            <mc:AlternateContent xmlns:mc="http://schemas.openxmlformats.org/markup-compatibility/2006">
              <mc:Choice xmlns:v="urn:schemas-microsoft-com:vml" Requires="v">
                <p:oleObj name="Equation" r:id="rId2" imgW="115250" imgH="128056" progId="Equation.DSMT4">
                  <p:embed/>
                </p:oleObj>
              </mc:Choice>
              <mc:Fallback>
                <p:oleObj name="Equation" r:id="rId2" imgW="115250" imgH="128056" progId="Equation.DSMT4">
                  <p:embed/>
                  <p:pic>
                    <p:nvPicPr>
                      <p:cNvPr id="3"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4184" y="3246622"/>
                        <a:ext cx="161105" cy="174530"/>
                      </a:xfrm>
                      <a:prstGeom prst="rect">
                        <a:avLst/>
                      </a:prstGeom>
                      <a:noFill/>
                    </p:spPr>
                  </p:pic>
                </p:oleObj>
              </mc:Fallback>
            </mc:AlternateContent>
          </a:graphicData>
        </a:graphic>
      </p:graphicFrame>
      <p:sp>
        <p:nvSpPr>
          <p:cNvPr id="23" name="Rectangle 62">
            <a:extLst>
              <a:ext uri="{FF2B5EF4-FFF2-40B4-BE49-F238E27FC236}">
                <a16:creationId xmlns:a16="http://schemas.microsoft.com/office/drawing/2014/main" id="{EB1A2917-7D98-42F2-B3C9-C9176B825683}"/>
              </a:ext>
            </a:extLst>
          </p:cNvPr>
          <p:cNvSpPr>
            <a:spLocks noChangeArrowheads="1"/>
          </p:cNvSpPr>
          <p:nvPr/>
        </p:nvSpPr>
        <p:spPr bwMode="auto">
          <a:xfrm>
            <a:off x="5190604" y="1007635"/>
            <a:ext cx="3165992" cy="519113"/>
          </a:xfrm>
          <a:prstGeom prst="rect">
            <a:avLst/>
          </a:prstGeom>
          <a:noFill/>
          <a:ln w="9525">
            <a:noFill/>
            <a:miter lim="800000"/>
            <a:headEnd/>
            <a:tailEnd/>
          </a:ln>
        </p:spPr>
        <p:txBody>
          <a:bodyPr wrap="square" anchor="ctr">
            <a:spAutoFit/>
          </a:bodyPr>
          <a:lstStyle/>
          <a:p>
            <a:pPr defTabSz="914400"/>
            <a:r>
              <a:rPr lang="zh-CN" altLang="en-US" sz="2800" b="1" dirty="0">
                <a:solidFill>
                  <a:srgbClr val="0000FF"/>
                </a:solidFill>
                <a:latin typeface="微软雅黑" pitchFamily="34" charset="-122"/>
                <a:ea typeface="微软雅黑" pitchFamily="34" charset="-122"/>
              </a:rPr>
              <a:t>常见光源的光亮度</a:t>
            </a:r>
          </a:p>
        </p:txBody>
      </p:sp>
      <p:sp>
        <p:nvSpPr>
          <p:cNvPr id="14"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15"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090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2037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1.3.2</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文本框 60">
            <a:extLst>
              <a:ext uri="{FF2B5EF4-FFF2-40B4-BE49-F238E27FC236}">
                <a16:creationId xmlns:a16="http://schemas.microsoft.com/office/drawing/2014/main" id="{791D85D7-F412-9C48-9F2B-E33F5B7B4F3C}"/>
              </a:ext>
            </a:extLst>
          </p:cNvPr>
          <p:cNvSpPr txBox="1"/>
          <p:nvPr/>
        </p:nvSpPr>
        <p:spPr>
          <a:xfrm>
            <a:off x="1364781" y="293282"/>
            <a:ext cx="1525725" cy="369332"/>
          </a:xfrm>
          <a:prstGeom prst="rect">
            <a:avLst/>
          </a:prstGeom>
          <a:noFill/>
          <a:ln w="9525">
            <a:noFill/>
          </a:ln>
        </p:spPr>
        <p:txBody>
          <a:bodyPr wrap="square">
            <a:spAutoFit/>
          </a:bodyPr>
          <a:lstStyle/>
          <a:p>
            <a:pPr algn="ctr"/>
            <a:r>
              <a:rPr lang="zh-CN" altLang="en-US" sz="1800" b="1" dirty="0">
                <a:latin typeface="微软雅黑" panose="020B0503020204020204" pitchFamily="34" charset="-122"/>
                <a:ea typeface="微软雅黑" panose="020B0503020204020204" pitchFamily="34" charset="-122"/>
              </a:rPr>
              <a:t>光度学基础</a:t>
            </a:r>
          </a:p>
        </p:txBody>
      </p:sp>
      <p:cxnSp>
        <p:nvCxnSpPr>
          <p:cNvPr id="14"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1440000"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218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12" name="Picture 4">
            <a:extLst>
              <a:ext uri="{FF2B5EF4-FFF2-40B4-BE49-F238E27FC236}">
                <a16:creationId xmlns:a16="http://schemas.microsoft.com/office/drawing/2014/main" id="{72FC0FD2-9998-4FA9-A58B-C58F3147C373}"/>
              </a:ext>
            </a:extLst>
          </p:cNvPr>
          <p:cNvPicPr>
            <a:picLocks noChangeAspect="1" noChangeArrowheads="1"/>
          </p:cNvPicPr>
          <p:nvPr/>
        </p:nvPicPr>
        <p:blipFill>
          <a:blip r:embed="rId2"/>
          <a:srcRect/>
          <a:stretch>
            <a:fillRect/>
          </a:stretch>
        </p:blipFill>
        <p:spPr bwMode="auto">
          <a:xfrm>
            <a:off x="1204295" y="923444"/>
            <a:ext cx="5577652" cy="4222488"/>
          </a:xfrm>
          <a:prstGeom prst="rect">
            <a:avLst/>
          </a:prstGeom>
          <a:noFill/>
          <a:ln w="9525">
            <a:noFill/>
            <a:miter lim="800000"/>
            <a:headEnd/>
            <a:tailEnd/>
          </a:ln>
        </p:spPr>
      </p:pic>
      <p:sp>
        <p:nvSpPr>
          <p:cNvPr id="14" name="Text Box 5">
            <a:extLst>
              <a:ext uri="{FF2B5EF4-FFF2-40B4-BE49-F238E27FC236}">
                <a16:creationId xmlns:a16="http://schemas.microsoft.com/office/drawing/2014/main" id="{BB64FCB2-9002-4E8F-BB7F-C3404A0FA108}"/>
              </a:ext>
            </a:extLst>
          </p:cNvPr>
          <p:cNvSpPr txBox="1">
            <a:spLocks noChangeArrowheads="1"/>
          </p:cNvSpPr>
          <p:nvPr/>
        </p:nvSpPr>
        <p:spPr bwMode="auto">
          <a:xfrm>
            <a:off x="1787954" y="5281799"/>
            <a:ext cx="2928938" cy="1066800"/>
          </a:xfrm>
          <a:prstGeom prst="rect">
            <a:avLst/>
          </a:prstGeom>
          <a:gradFill rotWithShape="0">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a:gradFill>
          <a:ln w="9525">
            <a:noFill/>
            <a:miter lim="800000"/>
            <a:headEnd/>
            <a:tailEnd/>
          </a:ln>
        </p:spPr>
        <p:txBody>
          <a:bodyPr>
            <a:spAutoFit/>
          </a:bodyPr>
          <a:lstStyle/>
          <a:p>
            <a:pPr algn="ctr" defTabSz="914400">
              <a:spcBef>
                <a:spcPct val="50000"/>
              </a:spcBef>
            </a:pPr>
            <a:r>
              <a:rPr lang="zh-CN" altLang="en-US" sz="3200" b="1" dirty="0">
                <a:latin typeface="Times New Roman" pitchFamily="18" charset="0"/>
                <a:ea typeface="微软雅黑" pitchFamily="34" charset="-122"/>
                <a:cs typeface="Times New Roman" pitchFamily="18" charset="0"/>
              </a:rPr>
              <a:t>锥细胞</a:t>
            </a:r>
            <a:r>
              <a:rPr lang="en-US" altLang="zh-CN" sz="3200" b="1" dirty="0">
                <a:latin typeface="Times New Roman" pitchFamily="18" charset="0"/>
                <a:ea typeface="微软雅黑" pitchFamily="34" charset="-122"/>
                <a:cs typeface="Times New Roman" pitchFamily="18" charset="0"/>
              </a:rPr>
              <a:t>(cone) 6~7 million</a:t>
            </a:r>
          </a:p>
        </p:txBody>
      </p:sp>
      <p:sp>
        <p:nvSpPr>
          <p:cNvPr id="15" name="Text Box 5">
            <a:extLst>
              <a:ext uri="{FF2B5EF4-FFF2-40B4-BE49-F238E27FC236}">
                <a16:creationId xmlns:a16="http://schemas.microsoft.com/office/drawing/2014/main" id="{21B6D55B-4ACA-4403-9E51-2897D76E174F}"/>
              </a:ext>
            </a:extLst>
          </p:cNvPr>
          <p:cNvSpPr txBox="1">
            <a:spLocks noChangeArrowheads="1"/>
          </p:cNvSpPr>
          <p:nvPr/>
        </p:nvSpPr>
        <p:spPr bwMode="auto">
          <a:xfrm>
            <a:off x="8187100" y="5247939"/>
            <a:ext cx="3233385" cy="1077218"/>
          </a:xfrm>
          <a:prstGeom prst="rect">
            <a:avLst/>
          </a:prstGeom>
          <a:gradFill rotWithShape="0">
            <a:gsLst>
              <a:gs pos="0">
                <a:srgbClr val="DDEBCF"/>
              </a:gs>
              <a:gs pos="50000">
                <a:srgbClr val="9CB86E"/>
              </a:gs>
              <a:gs pos="100000">
                <a:srgbClr val="156B13"/>
              </a:gs>
            </a:gsLst>
            <a:lin ang="5400000"/>
          </a:gradFill>
          <a:ln w="9525">
            <a:noFill/>
            <a:miter lim="800000"/>
            <a:headEnd/>
            <a:tailEnd/>
          </a:ln>
        </p:spPr>
        <p:txBody>
          <a:bodyPr wrap="square">
            <a:spAutoFit/>
          </a:bodyPr>
          <a:lstStyle/>
          <a:p>
            <a:pPr algn="ctr" defTabSz="914400"/>
            <a:r>
              <a:rPr lang="zh-CN" altLang="en-US" sz="3200" b="1">
                <a:latin typeface="Times New Roman" pitchFamily="18" charset="0"/>
                <a:ea typeface="微软雅黑" pitchFamily="34" charset="-122"/>
                <a:cs typeface="Times New Roman" pitchFamily="18" charset="0"/>
              </a:rPr>
              <a:t>杆细胞</a:t>
            </a:r>
            <a:r>
              <a:rPr lang="en-US" altLang="zh-CN" sz="3200" b="1">
                <a:latin typeface="Times New Roman" pitchFamily="18" charset="0"/>
                <a:ea typeface="微软雅黑" pitchFamily="34" charset="-122"/>
                <a:cs typeface="Times New Roman" pitchFamily="18" charset="0"/>
              </a:rPr>
              <a:t>(rod)</a:t>
            </a:r>
          </a:p>
          <a:p>
            <a:pPr algn="ctr" defTabSz="914400"/>
            <a:r>
              <a:rPr lang="en-US" altLang="zh-CN" sz="3200" b="1">
                <a:latin typeface="Times New Roman" pitchFamily="18" charset="0"/>
                <a:ea typeface="微软雅黑" pitchFamily="34" charset="-122"/>
                <a:cs typeface="Times New Roman" pitchFamily="18" charset="0"/>
              </a:rPr>
              <a:t>75~150 million</a:t>
            </a:r>
            <a:endParaRPr lang="zh-CN" altLang="en-US" sz="3200" b="1">
              <a:latin typeface="Times New Roman" pitchFamily="18" charset="0"/>
              <a:ea typeface="微软雅黑" pitchFamily="34" charset="-122"/>
              <a:cs typeface="Times New Roman" pitchFamily="18" charset="0"/>
            </a:endParaRPr>
          </a:p>
        </p:txBody>
      </p:sp>
      <p:pic>
        <p:nvPicPr>
          <p:cNvPr id="16" name="Picture 9" descr="Y87MKP$HWPJ9AA1QK06_5(C">
            <a:extLst>
              <a:ext uri="{FF2B5EF4-FFF2-40B4-BE49-F238E27FC236}">
                <a16:creationId xmlns:a16="http://schemas.microsoft.com/office/drawing/2014/main" id="{5E8C6402-8242-4237-89C0-27F1D86B1AC9}"/>
              </a:ext>
            </a:extLst>
          </p:cNvPr>
          <p:cNvPicPr>
            <a:picLocks noChangeAspect="1" noChangeArrowheads="1"/>
          </p:cNvPicPr>
          <p:nvPr/>
        </p:nvPicPr>
        <p:blipFill>
          <a:blip r:embed="rId3"/>
          <a:srcRect/>
          <a:stretch>
            <a:fillRect/>
          </a:stretch>
        </p:blipFill>
        <p:spPr bwMode="auto">
          <a:xfrm>
            <a:off x="7195110" y="1062716"/>
            <a:ext cx="5217367" cy="3943943"/>
          </a:xfrm>
          <a:prstGeom prst="rect">
            <a:avLst/>
          </a:prstGeom>
          <a:noFill/>
          <a:ln w="9525">
            <a:noFill/>
            <a:miter lim="800000"/>
            <a:headEnd/>
            <a:tailEnd/>
          </a:ln>
        </p:spPr>
      </p:pic>
      <p:grpSp>
        <p:nvGrpSpPr>
          <p:cNvPr id="17" name="组合 16">
            <a:extLst>
              <a:ext uri="{FF2B5EF4-FFF2-40B4-BE49-F238E27FC236}">
                <a16:creationId xmlns:a16="http://schemas.microsoft.com/office/drawing/2014/main" id="{20811EEF-8925-4800-AF1A-0E06F9CB5056}"/>
              </a:ext>
            </a:extLst>
          </p:cNvPr>
          <p:cNvGrpSpPr/>
          <p:nvPr/>
        </p:nvGrpSpPr>
        <p:grpSpPr>
          <a:xfrm>
            <a:off x="1204295" y="6595356"/>
            <a:ext cx="4003204" cy="523220"/>
            <a:chOff x="1715453" y="6712086"/>
            <a:chExt cx="4003204" cy="523220"/>
          </a:xfrm>
        </p:grpSpPr>
        <p:sp>
          <p:nvSpPr>
            <p:cNvPr id="18" name="TextBox 1">
              <a:extLst>
                <a:ext uri="{FF2B5EF4-FFF2-40B4-BE49-F238E27FC236}">
                  <a16:creationId xmlns:a16="http://schemas.microsoft.com/office/drawing/2014/main" id="{B90E8516-5436-4326-B57D-1A4A47AC6D3A}"/>
                </a:ext>
              </a:extLst>
            </p:cNvPr>
            <p:cNvSpPr txBox="1"/>
            <p:nvPr/>
          </p:nvSpPr>
          <p:spPr>
            <a:xfrm>
              <a:off x="1715453" y="6712086"/>
              <a:ext cx="1780162" cy="523220"/>
            </a:xfrm>
            <a:prstGeom prst="rect">
              <a:avLst/>
            </a:prstGeom>
            <a:solidFill>
              <a:srgbClr val="FFC000"/>
            </a:solidFill>
          </p:spPr>
          <p:txBody>
            <a:bodyPr wrap="square" rtlCol="0">
              <a:spAutoFit/>
            </a:bodyPr>
            <a:lstStyle/>
            <a:p>
              <a:pPr algn="ctr"/>
              <a:r>
                <a:rPr lang="zh-CN" altLang="en-US" sz="2800" b="1" dirty="0">
                  <a:latin typeface="微软雅黑" pitchFamily="34" charset="-122"/>
                  <a:ea typeface="微软雅黑" pitchFamily="34" charset="-122"/>
                </a:rPr>
                <a:t>强光敏感</a:t>
              </a:r>
            </a:p>
          </p:txBody>
        </p:sp>
        <p:graphicFrame>
          <p:nvGraphicFramePr>
            <p:cNvPr id="21" name="对象 20">
              <a:extLst>
                <a:ext uri="{FF2B5EF4-FFF2-40B4-BE49-F238E27FC236}">
                  <a16:creationId xmlns:a16="http://schemas.microsoft.com/office/drawing/2014/main" id="{098F87C4-6A45-4C6E-8315-47BDCA95A1A2}"/>
                </a:ext>
              </a:extLst>
            </p:cNvPr>
            <p:cNvGraphicFramePr>
              <a:graphicFrameLocks noChangeAspect="1"/>
            </p:cNvGraphicFramePr>
            <p:nvPr/>
          </p:nvGraphicFramePr>
          <p:xfrm>
            <a:off x="3495614" y="6712086"/>
            <a:ext cx="2223043" cy="523220"/>
          </p:xfrm>
          <a:graphic>
            <a:graphicData uri="http://schemas.openxmlformats.org/presentationml/2006/ole">
              <mc:AlternateContent xmlns:mc="http://schemas.openxmlformats.org/markup-compatibility/2006">
                <mc:Choice xmlns:v="urn:schemas-microsoft-com:vml" Requires="v">
                  <p:oleObj name="Equation" r:id="rId4" imgW="1016000" imgH="241300" progId="Equation.DSMT4">
                    <p:embed/>
                  </p:oleObj>
                </mc:Choice>
                <mc:Fallback>
                  <p:oleObj name="Equation" r:id="rId4" imgW="1016000" imgH="241300" progId="Equation.DSMT4">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5614" y="6712086"/>
                          <a:ext cx="2223043" cy="523220"/>
                        </a:xfrm>
                        <a:prstGeom prst="rect">
                          <a:avLst/>
                        </a:prstGeom>
                        <a:solidFill>
                          <a:srgbClr val="FFFF00"/>
                        </a:solidFill>
                        <a:ln>
                          <a:noFill/>
                        </a:ln>
                      </p:spPr>
                    </p:pic>
                  </p:oleObj>
                </mc:Fallback>
              </mc:AlternateContent>
            </a:graphicData>
          </a:graphic>
        </p:graphicFrame>
      </p:grpSp>
      <p:grpSp>
        <p:nvGrpSpPr>
          <p:cNvPr id="22" name="组合 21">
            <a:extLst>
              <a:ext uri="{FF2B5EF4-FFF2-40B4-BE49-F238E27FC236}">
                <a16:creationId xmlns:a16="http://schemas.microsoft.com/office/drawing/2014/main" id="{E195EDBD-820E-4590-92CD-33A0C612E111}"/>
              </a:ext>
            </a:extLst>
          </p:cNvPr>
          <p:cNvGrpSpPr/>
          <p:nvPr/>
        </p:nvGrpSpPr>
        <p:grpSpPr>
          <a:xfrm>
            <a:off x="7869869" y="6595356"/>
            <a:ext cx="3867846" cy="523220"/>
            <a:chOff x="6682288" y="6634264"/>
            <a:chExt cx="3867846" cy="523220"/>
          </a:xfrm>
        </p:grpSpPr>
        <p:sp>
          <p:nvSpPr>
            <p:cNvPr id="23" name="TextBox 13">
              <a:extLst>
                <a:ext uri="{FF2B5EF4-FFF2-40B4-BE49-F238E27FC236}">
                  <a16:creationId xmlns:a16="http://schemas.microsoft.com/office/drawing/2014/main" id="{FA619533-1957-421E-92BA-5D81407EC877}"/>
                </a:ext>
              </a:extLst>
            </p:cNvPr>
            <p:cNvSpPr txBox="1"/>
            <p:nvPr/>
          </p:nvSpPr>
          <p:spPr>
            <a:xfrm>
              <a:off x="6682288" y="6634264"/>
              <a:ext cx="1673157" cy="523220"/>
            </a:xfrm>
            <a:prstGeom prst="rect">
              <a:avLst/>
            </a:prstGeom>
            <a:solidFill>
              <a:srgbClr val="92D050"/>
            </a:solidFill>
          </p:spPr>
          <p:txBody>
            <a:bodyPr wrap="square" rtlCol="0">
              <a:spAutoFit/>
            </a:bodyPr>
            <a:lstStyle/>
            <a:p>
              <a:pPr algn="ctr"/>
              <a:r>
                <a:rPr lang="zh-CN" altLang="en-US" sz="2800" b="1" dirty="0">
                  <a:latin typeface="微软雅黑" pitchFamily="34" charset="-122"/>
                  <a:ea typeface="微软雅黑" pitchFamily="34" charset="-122"/>
                </a:rPr>
                <a:t>弱光敏感</a:t>
              </a:r>
            </a:p>
          </p:txBody>
        </p:sp>
        <p:graphicFrame>
          <p:nvGraphicFramePr>
            <p:cNvPr id="27" name="对象 26">
              <a:extLst>
                <a:ext uri="{FF2B5EF4-FFF2-40B4-BE49-F238E27FC236}">
                  <a16:creationId xmlns:a16="http://schemas.microsoft.com/office/drawing/2014/main" id="{1201A19A-C3FC-4578-8B1B-A84273423708}"/>
                </a:ext>
              </a:extLst>
            </p:cNvPr>
            <p:cNvGraphicFramePr>
              <a:graphicFrameLocks noChangeAspect="1"/>
            </p:cNvGraphicFramePr>
            <p:nvPr/>
          </p:nvGraphicFramePr>
          <p:xfrm>
            <a:off x="8355445" y="6634264"/>
            <a:ext cx="2194689" cy="523220"/>
          </p:xfrm>
          <a:graphic>
            <a:graphicData uri="http://schemas.openxmlformats.org/presentationml/2006/ole">
              <mc:AlternateContent xmlns:mc="http://schemas.openxmlformats.org/markup-compatibility/2006">
                <mc:Choice xmlns:v="urn:schemas-microsoft-com:vml" Requires="v">
                  <p:oleObj name="Equation" r:id="rId6" imgW="1002865" imgH="241195" progId="Equation.DSMT4">
                    <p:embed/>
                  </p:oleObj>
                </mc:Choice>
                <mc:Fallback>
                  <p:oleObj name="Equation" r:id="rId6" imgW="1002865" imgH="241195" progId="Equation.DSMT4">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55445" y="6634264"/>
                          <a:ext cx="2194689" cy="523220"/>
                        </a:xfrm>
                        <a:prstGeom prst="rect">
                          <a:avLst/>
                        </a:prstGeom>
                        <a:solidFill>
                          <a:srgbClr val="FFFF00"/>
                        </a:solidFill>
                        <a:ln>
                          <a:noFill/>
                        </a:ln>
                      </p:spPr>
                    </p:pic>
                  </p:oleObj>
                </mc:Fallback>
              </mc:AlternateContent>
            </a:graphicData>
          </a:graphic>
        </p:graphicFrame>
      </p:grpSp>
    </p:spTree>
    <p:extLst>
      <p:ext uri="{BB962C8B-B14F-4D97-AF65-F5344CB8AC3E}">
        <p14:creationId xmlns:p14="http://schemas.microsoft.com/office/powerpoint/2010/main" val="1032091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9" name="Text Box 4">
            <a:extLst>
              <a:ext uri="{FF2B5EF4-FFF2-40B4-BE49-F238E27FC236}">
                <a16:creationId xmlns:a16="http://schemas.microsoft.com/office/drawing/2014/main" id="{4CEF426B-DDF7-41DA-9947-7E0E24C06BF8}"/>
              </a:ext>
            </a:extLst>
          </p:cNvPr>
          <p:cNvSpPr txBox="1">
            <a:spLocks noChangeArrowheads="1"/>
          </p:cNvSpPr>
          <p:nvPr/>
        </p:nvSpPr>
        <p:spPr bwMode="auto">
          <a:xfrm>
            <a:off x="636586" y="1827754"/>
            <a:ext cx="7252546" cy="2677656"/>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Times New Roman" pitchFamily="18" charset="0"/>
                <a:ea typeface="微软雅黑" pitchFamily="34" charset="-122"/>
                <a:cs typeface="Times New Roman" pitchFamily="18" charset="0"/>
              </a:rPr>
              <a:t>       用各种单色辐射分别刺激正常人眼（标准观察者）的</a:t>
            </a:r>
            <a:r>
              <a:rPr kumimoji="1" lang="zh-CN" altLang="en-US" sz="2800" b="1" dirty="0">
                <a:solidFill>
                  <a:srgbClr val="0000CC"/>
                </a:solidFill>
                <a:latin typeface="Times New Roman" pitchFamily="18" charset="0"/>
                <a:ea typeface="微软雅黑" pitchFamily="34" charset="-122"/>
                <a:cs typeface="Times New Roman" pitchFamily="18" charset="0"/>
              </a:rPr>
              <a:t>锥状细胞</a:t>
            </a:r>
            <a:r>
              <a:rPr kumimoji="1" lang="zh-CN" altLang="en-US" sz="2800" b="1" dirty="0">
                <a:latin typeface="Times New Roman" pitchFamily="18" charset="0"/>
                <a:ea typeface="微软雅黑" pitchFamily="34" charset="-122"/>
                <a:cs typeface="Times New Roman" pitchFamily="18" charset="0"/>
              </a:rPr>
              <a:t>，当</a:t>
            </a:r>
            <a:r>
              <a:rPr kumimoji="1" lang="zh-CN" altLang="en-US" sz="2800" b="1" dirty="0">
                <a:solidFill>
                  <a:srgbClr val="FF0000"/>
                </a:solidFill>
                <a:latin typeface="华文行楷" pitchFamily="2" charset="-122"/>
                <a:ea typeface="华文行楷" pitchFamily="2" charset="-122"/>
                <a:cs typeface="Times New Roman" pitchFamily="18" charset="0"/>
              </a:rPr>
              <a:t>刺激程度相同</a:t>
            </a:r>
            <a:r>
              <a:rPr kumimoji="1" lang="zh-CN" altLang="en-US" sz="2800" b="1" dirty="0">
                <a:latin typeface="Times New Roman" pitchFamily="18" charset="0"/>
                <a:ea typeface="微软雅黑" pitchFamily="34" charset="-122"/>
                <a:cs typeface="Times New Roman" pitchFamily="18" charset="0"/>
              </a:rPr>
              <a:t>时，发现波长</a:t>
            </a:r>
            <a:r>
              <a:rPr kumimoji="1" lang="en-US" altLang="zh-CN" sz="2800" b="1" dirty="0">
                <a:latin typeface="Times New Roman" pitchFamily="18" charset="0"/>
                <a:ea typeface="微软雅黑" pitchFamily="34" charset="-122"/>
                <a:cs typeface="Times New Roman" pitchFamily="18" charset="0"/>
              </a:rPr>
              <a:t>=0.555μm</a:t>
            </a:r>
            <a:r>
              <a:rPr kumimoji="1" lang="zh-CN" altLang="en-US" sz="2800" b="1" dirty="0">
                <a:latin typeface="Times New Roman" pitchFamily="18" charset="0"/>
                <a:ea typeface="微软雅黑" pitchFamily="34" charset="-122"/>
                <a:cs typeface="Times New Roman" pitchFamily="18" charset="0"/>
              </a:rPr>
              <a:t>处的</a:t>
            </a:r>
            <a:r>
              <a:rPr kumimoji="1" lang="zh-CN" altLang="en-US" sz="2800" b="1" dirty="0">
                <a:solidFill>
                  <a:srgbClr val="00B050"/>
                </a:solidFill>
                <a:latin typeface="Times New Roman" pitchFamily="18" charset="0"/>
                <a:ea typeface="微软雅黑" pitchFamily="34" charset="-122"/>
                <a:cs typeface="Times New Roman" pitchFamily="18" charset="0"/>
              </a:rPr>
              <a:t>光亮度</a:t>
            </a:r>
            <a:r>
              <a:rPr kumimoji="1" lang="en-US" altLang="zh-CN" sz="2800" b="1" i="1" dirty="0" err="1">
                <a:solidFill>
                  <a:srgbClr val="00B050"/>
                </a:solidFill>
                <a:latin typeface="Times New Roman" pitchFamily="18" charset="0"/>
                <a:ea typeface="微软雅黑" pitchFamily="34" charset="-122"/>
                <a:cs typeface="Times New Roman" pitchFamily="18" charset="0"/>
              </a:rPr>
              <a:t>L</a:t>
            </a:r>
            <a:r>
              <a:rPr kumimoji="1" lang="en-US" altLang="zh-CN" sz="2800" b="1" i="1" baseline="-25000" dirty="0" err="1">
                <a:solidFill>
                  <a:srgbClr val="00B050"/>
                </a:solidFill>
                <a:latin typeface="Times New Roman" pitchFamily="18" charset="0"/>
                <a:ea typeface="微软雅黑" pitchFamily="34" charset="-122"/>
                <a:cs typeface="Times New Roman" pitchFamily="18" charset="0"/>
              </a:rPr>
              <a:t>v</a:t>
            </a:r>
            <a:r>
              <a:rPr kumimoji="1" lang="en-US" altLang="zh-CN" sz="2800" b="1" baseline="-25000" dirty="0" err="1">
                <a:solidFill>
                  <a:srgbClr val="00B050"/>
                </a:solidFill>
                <a:latin typeface="Times New Roman" pitchFamily="18" charset="0"/>
                <a:ea typeface="微软雅黑" pitchFamily="34" charset="-122"/>
                <a:cs typeface="Times New Roman" pitchFamily="18" charset="0"/>
              </a:rPr>
              <a:t>,λm</a:t>
            </a:r>
            <a:r>
              <a:rPr kumimoji="1" lang="zh-CN" altLang="en-US" sz="2800" b="1" dirty="0">
                <a:solidFill>
                  <a:srgbClr val="00B050"/>
                </a:solidFill>
                <a:latin typeface="Times New Roman" pitchFamily="18" charset="0"/>
                <a:ea typeface="微软雅黑" pitchFamily="34" charset="-122"/>
                <a:cs typeface="Times New Roman" pitchFamily="18" charset="0"/>
              </a:rPr>
              <a:t>小于</a:t>
            </a:r>
            <a:r>
              <a:rPr kumimoji="1" lang="zh-CN" altLang="en-US" sz="2800" b="1" dirty="0">
                <a:latin typeface="Times New Roman" pitchFamily="18" charset="0"/>
                <a:ea typeface="微软雅黑" pitchFamily="34" charset="-122"/>
                <a:cs typeface="Times New Roman" pitchFamily="18" charset="0"/>
              </a:rPr>
              <a:t>其它波长的光谱辐亮度</a:t>
            </a:r>
            <a:r>
              <a:rPr kumimoji="1" lang="en-US" altLang="zh-CN" sz="2800" b="1" i="1" dirty="0" err="1">
                <a:latin typeface="Times New Roman" pitchFamily="18" charset="0"/>
                <a:ea typeface="微软雅黑" pitchFamily="34" charset="-122"/>
                <a:cs typeface="Times New Roman" pitchFamily="18" charset="0"/>
              </a:rPr>
              <a:t>L</a:t>
            </a:r>
            <a:r>
              <a:rPr kumimoji="1" lang="en-US" altLang="zh-CN" sz="2800" b="1" i="1" baseline="-25000" dirty="0" err="1">
                <a:latin typeface="Times New Roman" pitchFamily="18" charset="0"/>
                <a:ea typeface="微软雅黑" pitchFamily="34" charset="-122"/>
                <a:cs typeface="Times New Roman" pitchFamily="18" charset="0"/>
              </a:rPr>
              <a:t>v</a:t>
            </a:r>
            <a:r>
              <a:rPr kumimoji="1" lang="en-US" altLang="zh-CN" sz="2800" b="1" baseline="-25000" dirty="0" err="1">
                <a:latin typeface="Times New Roman" pitchFamily="18" charset="0"/>
                <a:ea typeface="微软雅黑" pitchFamily="34" charset="-122"/>
                <a:cs typeface="Times New Roman" pitchFamily="18" charset="0"/>
              </a:rPr>
              <a:t>,λ</a:t>
            </a:r>
            <a:r>
              <a:rPr kumimoji="1" lang="zh-CN" altLang="en-US" sz="2800" b="1" dirty="0">
                <a:latin typeface="Times New Roman" pitchFamily="18" charset="0"/>
                <a:ea typeface="微软雅黑" pitchFamily="34" charset="-122"/>
                <a:cs typeface="Times New Roman" pitchFamily="18" charset="0"/>
              </a:rPr>
              <a:t>。</a:t>
            </a:r>
          </a:p>
        </p:txBody>
      </p:sp>
      <p:sp>
        <p:nvSpPr>
          <p:cNvPr id="24" name="Text Box 6">
            <a:extLst>
              <a:ext uri="{FF2B5EF4-FFF2-40B4-BE49-F238E27FC236}">
                <a16:creationId xmlns:a16="http://schemas.microsoft.com/office/drawing/2014/main" id="{FB3E85B7-AD84-4DAF-8009-4A6841B1D0B5}"/>
              </a:ext>
            </a:extLst>
          </p:cNvPr>
          <p:cNvSpPr txBox="1">
            <a:spLocks noChangeArrowheads="1"/>
          </p:cNvSpPr>
          <p:nvPr/>
        </p:nvSpPr>
        <p:spPr bwMode="auto">
          <a:xfrm>
            <a:off x="3114102" y="1035050"/>
            <a:ext cx="4643437" cy="641350"/>
          </a:xfrm>
          <a:prstGeom prst="rect">
            <a:avLst/>
          </a:prstGeom>
          <a:noFill/>
          <a:ln w="9525">
            <a:noFill/>
            <a:miter lim="800000"/>
            <a:headEnd/>
            <a:tailEnd/>
          </a:ln>
        </p:spPr>
        <p:txBody>
          <a:bodyPr>
            <a:spAutoFit/>
          </a:bodyPr>
          <a:lstStyle/>
          <a:p>
            <a:pPr algn="ctr" defTabSz="914400">
              <a:spcBef>
                <a:spcPct val="50000"/>
              </a:spcBef>
            </a:pPr>
            <a:r>
              <a:rPr kumimoji="1" lang="zh-CN" altLang="en-US" sz="3600" b="1" u="sng" dirty="0">
                <a:solidFill>
                  <a:srgbClr val="FF0000"/>
                </a:solidFill>
                <a:latin typeface="微软雅黑" pitchFamily="34" charset="-122"/>
                <a:ea typeface="微软雅黑" pitchFamily="34" charset="-122"/>
              </a:rPr>
              <a:t>明视觉光谱光视效率</a:t>
            </a:r>
          </a:p>
        </p:txBody>
      </p:sp>
      <p:sp>
        <p:nvSpPr>
          <p:cNvPr id="28" name="Text Box 4">
            <a:extLst>
              <a:ext uri="{FF2B5EF4-FFF2-40B4-BE49-F238E27FC236}">
                <a16:creationId xmlns:a16="http://schemas.microsoft.com/office/drawing/2014/main" id="{F85648AD-F323-4F0E-AAC1-C27843D5C82D}"/>
              </a:ext>
            </a:extLst>
          </p:cNvPr>
          <p:cNvSpPr txBox="1">
            <a:spLocks noChangeArrowheads="1"/>
          </p:cNvSpPr>
          <p:nvPr/>
        </p:nvSpPr>
        <p:spPr bwMode="auto">
          <a:xfrm>
            <a:off x="488617" y="4724941"/>
            <a:ext cx="7803981" cy="203132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en-US" altLang="zh-CN" sz="2800" b="1" dirty="0">
                <a:latin typeface="Times New Roman" pitchFamily="18" charset="0"/>
                <a:ea typeface="微软雅黑" pitchFamily="34"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把波长</a:t>
            </a:r>
            <a:r>
              <a:rPr kumimoji="1" lang="en-US" altLang="zh-CN" sz="2800" b="1" dirty="0">
                <a:latin typeface="Times New Roman" pitchFamily="18" charset="0"/>
                <a:ea typeface="微软雅黑" pitchFamily="34" charset="-122"/>
                <a:cs typeface="Times New Roman" pitchFamily="18" charset="0"/>
              </a:rPr>
              <a:t>=0.555μm</a:t>
            </a:r>
            <a:r>
              <a:rPr kumimoji="1" lang="zh-CN" altLang="en-US" sz="2800" b="1" dirty="0">
                <a:latin typeface="Times New Roman" pitchFamily="18" charset="0"/>
                <a:ea typeface="微软雅黑" pitchFamily="34" charset="-122"/>
                <a:cs typeface="Times New Roman" pitchFamily="18" charset="0"/>
              </a:rPr>
              <a:t>的光亮度</a:t>
            </a:r>
            <a:r>
              <a:rPr kumimoji="1" lang="en-US" altLang="zh-CN" sz="2800" b="1" i="1" dirty="0" err="1">
                <a:latin typeface="Times New Roman" pitchFamily="18" charset="0"/>
                <a:ea typeface="微软雅黑" pitchFamily="34" charset="-122"/>
                <a:cs typeface="Times New Roman" pitchFamily="18" charset="0"/>
              </a:rPr>
              <a:t>L</a:t>
            </a:r>
            <a:r>
              <a:rPr kumimoji="1" lang="en-US" altLang="zh-CN" sz="2800" b="1" i="1" baseline="-25000" dirty="0" err="1">
                <a:latin typeface="Times New Roman" pitchFamily="18" charset="0"/>
                <a:ea typeface="微软雅黑" pitchFamily="34" charset="-122"/>
                <a:cs typeface="Times New Roman" pitchFamily="18" charset="0"/>
              </a:rPr>
              <a:t>v</a:t>
            </a:r>
            <a:r>
              <a:rPr kumimoji="1" lang="en-US" altLang="zh-CN" sz="2800" b="1" dirty="0" err="1">
                <a:latin typeface="Times New Roman" pitchFamily="18" charset="0"/>
                <a:ea typeface="微软雅黑" pitchFamily="34" charset="-122"/>
                <a:cs typeface="Times New Roman" pitchFamily="18" charset="0"/>
              </a:rPr>
              <a:t>,</a:t>
            </a:r>
            <a:r>
              <a:rPr kumimoji="1" lang="en-US" altLang="zh-CN" sz="2800" b="1" baseline="-25000" dirty="0" err="1">
                <a:latin typeface="Times New Roman" pitchFamily="18" charset="0"/>
                <a:ea typeface="微软雅黑" pitchFamily="34" charset="-122"/>
                <a:cs typeface="Times New Roman" pitchFamily="18" charset="0"/>
              </a:rPr>
              <a:t>λm</a:t>
            </a:r>
            <a:r>
              <a:rPr kumimoji="1" lang="zh-CN" altLang="en-US" sz="2800" b="1" dirty="0">
                <a:latin typeface="Times New Roman" pitchFamily="18" charset="0"/>
                <a:ea typeface="微软雅黑" pitchFamily="34" charset="-122"/>
                <a:cs typeface="Times New Roman" pitchFamily="18" charset="0"/>
              </a:rPr>
              <a:t>被其它波长的光亮度</a:t>
            </a:r>
            <a:r>
              <a:rPr kumimoji="1" lang="en-US" altLang="zh-CN" sz="2800" b="1" i="1" dirty="0" err="1">
                <a:latin typeface="Times New Roman" pitchFamily="18" charset="0"/>
                <a:ea typeface="微软雅黑" pitchFamily="34" charset="-122"/>
                <a:cs typeface="Times New Roman" pitchFamily="18" charset="0"/>
              </a:rPr>
              <a:t>L</a:t>
            </a:r>
            <a:r>
              <a:rPr kumimoji="1" lang="en-US" altLang="zh-CN" sz="2800" b="1" i="1" baseline="-25000" dirty="0" err="1">
                <a:latin typeface="Times New Roman" pitchFamily="18" charset="0"/>
                <a:ea typeface="微软雅黑" pitchFamily="34" charset="-122"/>
                <a:cs typeface="Times New Roman" pitchFamily="18" charset="0"/>
              </a:rPr>
              <a:t>v</a:t>
            </a:r>
            <a:r>
              <a:rPr kumimoji="1" lang="en-US" altLang="zh-CN" sz="2800" b="1" baseline="-25000" dirty="0" err="1">
                <a:latin typeface="Times New Roman" pitchFamily="18" charset="0"/>
                <a:ea typeface="微软雅黑" pitchFamily="34" charset="-122"/>
                <a:cs typeface="Times New Roman" pitchFamily="18" charset="0"/>
              </a:rPr>
              <a:t>,λ</a:t>
            </a:r>
            <a:r>
              <a:rPr kumimoji="1" lang="zh-CN" altLang="en-US" sz="2800" b="1" dirty="0">
                <a:latin typeface="Times New Roman" pitchFamily="18" charset="0"/>
                <a:ea typeface="微软雅黑" pitchFamily="34" charset="-122"/>
                <a:cs typeface="Times New Roman" pitchFamily="18" charset="0"/>
              </a:rPr>
              <a:t>除得的商，定义为正常人眼的明视觉</a:t>
            </a:r>
            <a:r>
              <a:rPr kumimoji="1" lang="zh-CN" altLang="en-US" sz="2800" b="1" dirty="0">
                <a:solidFill>
                  <a:srgbClr val="FF0000"/>
                </a:solidFill>
                <a:latin typeface="Times New Roman" pitchFamily="18" charset="0"/>
                <a:ea typeface="微软雅黑" pitchFamily="34" charset="-122"/>
                <a:cs typeface="Times New Roman" pitchFamily="18" charset="0"/>
              </a:rPr>
              <a:t>光谱光视效率</a:t>
            </a:r>
            <a:r>
              <a:rPr kumimoji="1" lang="en-US" altLang="zh-CN" sz="2800" b="1" dirty="0">
                <a:latin typeface="Times New Roman" pitchFamily="18" charset="0"/>
                <a:ea typeface="微软雅黑" pitchFamily="34" charset="-122"/>
                <a:cs typeface="Times New Roman" pitchFamily="18" charset="0"/>
              </a:rPr>
              <a:t>(</a:t>
            </a:r>
            <a:r>
              <a:rPr kumimoji="1" lang="zh-CN" altLang="en-US" sz="2800" b="1" dirty="0">
                <a:latin typeface="Times New Roman" pitchFamily="18" charset="0"/>
                <a:ea typeface="微软雅黑" pitchFamily="34" charset="-122"/>
                <a:cs typeface="Times New Roman" pitchFamily="18" charset="0"/>
              </a:rPr>
              <a:t>也称为</a:t>
            </a:r>
            <a:r>
              <a:rPr kumimoji="1" lang="zh-CN" altLang="en-US" sz="2800" b="1" dirty="0">
                <a:solidFill>
                  <a:srgbClr val="FF0000"/>
                </a:solidFill>
                <a:latin typeface="Times New Roman" pitchFamily="18" charset="0"/>
                <a:ea typeface="微软雅黑" pitchFamily="34" charset="-122"/>
                <a:cs typeface="Times New Roman" pitchFamily="18" charset="0"/>
              </a:rPr>
              <a:t>视见函数</a:t>
            </a:r>
            <a:r>
              <a:rPr kumimoji="1" lang="en-US" altLang="zh-CN" sz="2800" b="1" dirty="0">
                <a:latin typeface="Times New Roman" pitchFamily="18" charset="0"/>
                <a:ea typeface="微软雅黑" pitchFamily="34" charset="-122"/>
                <a:cs typeface="Times New Roman" pitchFamily="18" charset="0"/>
              </a:rPr>
              <a:t>)</a:t>
            </a:r>
            <a:r>
              <a:rPr kumimoji="1" lang="zh-CN" altLang="en-US" sz="2800" b="1" dirty="0">
                <a:latin typeface="Times New Roman" pitchFamily="18" charset="0"/>
                <a:ea typeface="微软雅黑" pitchFamily="34" charset="-122"/>
                <a:cs typeface="Times New Roman" pitchFamily="18" charset="0"/>
              </a:rPr>
              <a:t>，用</a:t>
            </a:r>
            <a:r>
              <a:rPr kumimoji="1" lang="en-US" altLang="zh-CN" sz="2800" b="1" i="1" dirty="0">
                <a:latin typeface="Times New Roman" pitchFamily="18" charset="0"/>
                <a:ea typeface="微软雅黑" pitchFamily="34" charset="-122"/>
                <a:cs typeface="Times New Roman" pitchFamily="18" charset="0"/>
              </a:rPr>
              <a:t>V</a:t>
            </a:r>
            <a:r>
              <a:rPr kumimoji="1" lang="en-US" altLang="zh-CN" sz="2800" b="1" dirty="0">
                <a:latin typeface="Times New Roman" pitchFamily="18" charset="0"/>
                <a:ea typeface="微软雅黑" pitchFamily="34" charset="-122"/>
                <a:cs typeface="Times New Roman" pitchFamily="18" charset="0"/>
              </a:rPr>
              <a:t>(λ)</a:t>
            </a:r>
            <a:r>
              <a:rPr kumimoji="1" lang="zh-CN" altLang="en-US" sz="2800" b="1" dirty="0">
                <a:latin typeface="Times New Roman" pitchFamily="18" charset="0"/>
                <a:ea typeface="微软雅黑" pitchFamily="34" charset="-122"/>
                <a:cs typeface="Times New Roman" pitchFamily="18" charset="0"/>
              </a:rPr>
              <a:t>表示。</a:t>
            </a:r>
          </a:p>
        </p:txBody>
      </p:sp>
      <p:graphicFrame>
        <p:nvGraphicFramePr>
          <p:cNvPr id="29" name="Object 8">
            <a:extLst>
              <a:ext uri="{FF2B5EF4-FFF2-40B4-BE49-F238E27FC236}">
                <a16:creationId xmlns:a16="http://schemas.microsoft.com/office/drawing/2014/main" id="{19CD2466-033B-416E-ADD1-C79945FDC9C0}"/>
              </a:ext>
            </a:extLst>
          </p:cNvPr>
          <p:cNvGraphicFramePr>
            <a:graphicFrameLocks noChangeAspect="1"/>
          </p:cNvGraphicFramePr>
          <p:nvPr/>
        </p:nvGraphicFramePr>
        <p:xfrm>
          <a:off x="7757539" y="1031875"/>
          <a:ext cx="2738437" cy="644525"/>
        </p:xfrm>
        <a:graphic>
          <a:graphicData uri="http://schemas.openxmlformats.org/presentationml/2006/ole">
            <mc:AlternateContent xmlns:mc="http://schemas.openxmlformats.org/markup-compatibility/2006">
              <mc:Choice xmlns:v="urn:schemas-microsoft-com:vml" Requires="v">
                <p:oleObj name="Equation" r:id="rId2" imgW="1015920" imgH="241200" progId="Equation.DSMT4">
                  <p:embed/>
                </p:oleObj>
              </mc:Choice>
              <mc:Fallback>
                <p:oleObj name="Equation" r:id="rId2" imgW="1015920" imgH="241200" progId="Equation.DSMT4">
                  <p:embed/>
                  <p:pic>
                    <p:nvPicPr>
                      <p:cNvPr id="2560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7539" y="1031875"/>
                        <a:ext cx="2738437" cy="644525"/>
                      </a:xfrm>
                      <a:prstGeom prst="rect">
                        <a:avLst/>
                      </a:prstGeom>
                      <a:solidFill>
                        <a:srgbClr val="FFFF00"/>
                      </a:solidFill>
                    </p:spPr>
                  </p:pic>
                </p:oleObj>
              </mc:Fallback>
            </mc:AlternateContent>
          </a:graphicData>
        </a:graphic>
      </p:graphicFrame>
      <p:pic>
        <p:nvPicPr>
          <p:cNvPr id="30" name="Picture 4">
            <a:extLst>
              <a:ext uri="{FF2B5EF4-FFF2-40B4-BE49-F238E27FC236}">
                <a16:creationId xmlns:a16="http://schemas.microsoft.com/office/drawing/2014/main" id="{EB321DE0-5DB9-4F81-83D3-9392D1D6DFBD}"/>
              </a:ext>
            </a:extLst>
          </p:cNvPr>
          <p:cNvPicPr>
            <a:picLocks noChangeAspect="1" noChangeArrowheads="1"/>
          </p:cNvPicPr>
          <p:nvPr/>
        </p:nvPicPr>
        <p:blipFill>
          <a:blip r:embed="rId4"/>
          <a:srcRect/>
          <a:stretch>
            <a:fillRect/>
          </a:stretch>
        </p:blipFill>
        <p:spPr bwMode="auto">
          <a:xfrm>
            <a:off x="8147309" y="2017950"/>
            <a:ext cx="4907994" cy="3517089"/>
          </a:xfrm>
          <a:prstGeom prst="rect">
            <a:avLst/>
          </a:prstGeom>
          <a:noFill/>
          <a:ln w="9525">
            <a:noFill/>
            <a:miter lim="800000"/>
            <a:headEnd/>
            <a:tailEnd/>
          </a:ln>
        </p:spPr>
      </p:pic>
      <p:graphicFrame>
        <p:nvGraphicFramePr>
          <p:cNvPr id="31" name="对象 30">
            <a:extLst>
              <a:ext uri="{FF2B5EF4-FFF2-40B4-BE49-F238E27FC236}">
                <a16:creationId xmlns:a16="http://schemas.microsoft.com/office/drawing/2014/main" id="{36598261-D807-4E54-956F-53B85D86AEE3}"/>
              </a:ext>
            </a:extLst>
          </p:cNvPr>
          <p:cNvGraphicFramePr>
            <a:graphicFrameLocks noChangeAspect="1"/>
          </p:cNvGraphicFramePr>
          <p:nvPr/>
        </p:nvGraphicFramePr>
        <p:xfrm>
          <a:off x="9602214" y="5740603"/>
          <a:ext cx="2357438" cy="1060450"/>
        </p:xfrm>
        <a:graphic>
          <a:graphicData uri="http://schemas.openxmlformats.org/presentationml/2006/ole">
            <mc:AlternateContent xmlns:mc="http://schemas.openxmlformats.org/markup-compatibility/2006">
              <mc:Choice xmlns:v="urn:schemas-microsoft-com:vml" Requires="v">
                <p:oleObj name="Equation" r:id="rId5" imgW="1016000" imgH="457200" progId="Equation.DSMT4">
                  <p:embed/>
                </p:oleObj>
              </mc:Choice>
              <mc:Fallback>
                <p:oleObj name="Equation" r:id="rId5" imgW="1016000" imgH="457200" progId="Equation.DSMT4">
                  <p:embed/>
                  <p:pic>
                    <p:nvPicPr>
                      <p:cNvPr id="2"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2214" y="5740603"/>
                        <a:ext cx="2357438" cy="10604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4674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ox(i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ox(in)">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box(in)">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ox(in)">
                                      <p:cBhvr>
                                        <p:cTn id="3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Rectangle 2">
            <a:extLst>
              <a:ext uri="{FF2B5EF4-FFF2-40B4-BE49-F238E27FC236}">
                <a16:creationId xmlns:a16="http://schemas.microsoft.com/office/drawing/2014/main" id="{443B775D-3729-49E8-8537-0610F9899F81}"/>
              </a:ext>
            </a:extLst>
          </p:cNvPr>
          <p:cNvSpPr>
            <a:spLocks noChangeArrowheads="1"/>
          </p:cNvSpPr>
          <p:nvPr/>
        </p:nvSpPr>
        <p:spPr bwMode="auto">
          <a:xfrm>
            <a:off x="606445" y="2427918"/>
            <a:ext cx="7542143" cy="2242858"/>
          </a:xfrm>
          <a:prstGeom prst="rect">
            <a:avLst/>
          </a:prstGeom>
          <a:noFill/>
          <a:ln w="9525">
            <a:noFill/>
            <a:miter lim="800000"/>
            <a:headEnd/>
            <a:tailEnd/>
          </a:ln>
        </p:spPr>
        <p:txBody>
          <a:bodyPr wrap="square">
            <a:spAutoFit/>
          </a:bodyPr>
          <a:lstStyle/>
          <a:p>
            <a:pPr defTabSz="914400">
              <a:lnSpc>
                <a:spcPct val="150000"/>
              </a:lnSpc>
              <a:spcBef>
                <a:spcPct val="50000"/>
              </a:spcBef>
              <a:buSzPct val="85000"/>
            </a:pPr>
            <a:r>
              <a:rPr kumimoji="1" lang="zh-CN" altLang="en-US" sz="2400" b="1" dirty="0">
                <a:latin typeface="Times New Roman" pitchFamily="18" charset="0"/>
                <a:ea typeface="微软雅黑" pitchFamily="34" charset="-122"/>
                <a:cs typeface="Times New Roman" pitchFamily="18" charset="0"/>
              </a:rPr>
              <a:t>    对于正常人眼的圆柱细胞，以微弱的各种单色辐射刺激时，发现在相同刺激程度下，波长在</a:t>
            </a:r>
            <a:r>
              <a:rPr kumimoji="1" lang="en-US" altLang="zh-CN" sz="2400" b="1" dirty="0">
                <a:solidFill>
                  <a:srgbClr val="FF0000"/>
                </a:solidFill>
                <a:latin typeface="Times New Roman" pitchFamily="18" charset="0"/>
                <a:ea typeface="微软雅黑" pitchFamily="34" charset="-122"/>
                <a:cs typeface="Times New Roman" pitchFamily="18" charset="0"/>
              </a:rPr>
              <a:t>507nm</a:t>
            </a:r>
            <a:r>
              <a:rPr kumimoji="1" lang="zh-CN" altLang="en-US" sz="2400" b="1" dirty="0">
                <a:latin typeface="Times New Roman" pitchFamily="18" charset="0"/>
                <a:ea typeface="微软雅黑" pitchFamily="34" charset="-122"/>
                <a:cs typeface="Times New Roman" pitchFamily="18" charset="0"/>
              </a:rPr>
              <a:t>处的光谱辐射亮度</a:t>
            </a:r>
            <a:r>
              <a:rPr kumimoji="1" lang="en-US" altLang="zh-CN" sz="2400" b="1" i="1" dirty="0" err="1">
                <a:latin typeface="Times New Roman" pitchFamily="18" charset="0"/>
                <a:ea typeface="微软雅黑" pitchFamily="34" charset="-122"/>
                <a:cs typeface="Times New Roman" pitchFamily="18" charset="0"/>
              </a:rPr>
              <a:t>L</a:t>
            </a:r>
            <a:r>
              <a:rPr kumimoji="1" lang="en-US" altLang="zh-CN" sz="2400" b="1" i="1" baseline="-30000" dirty="0" err="1">
                <a:latin typeface="Times New Roman" pitchFamily="18" charset="0"/>
                <a:ea typeface="微软雅黑" pitchFamily="34" charset="-122"/>
                <a:cs typeface="Times New Roman" pitchFamily="18" charset="0"/>
              </a:rPr>
              <a:t>v</a:t>
            </a:r>
            <a:r>
              <a:rPr kumimoji="1" lang="zh-CN" altLang="en-US" sz="2400" b="1" baseline="-30000" dirty="0">
                <a:latin typeface="Times New Roman" pitchFamily="18" charset="0"/>
                <a:ea typeface="微软雅黑" pitchFamily="34" charset="-122"/>
                <a:cs typeface="Times New Roman" pitchFamily="18" charset="0"/>
              </a:rPr>
              <a:t>，</a:t>
            </a:r>
            <a:r>
              <a:rPr kumimoji="1" lang="en-US" altLang="zh-CN" sz="2400" b="1" baseline="-30000" dirty="0">
                <a:latin typeface="Times New Roman" pitchFamily="18" charset="0"/>
                <a:ea typeface="微软雅黑" pitchFamily="34" charset="-122"/>
                <a:cs typeface="Times New Roman" pitchFamily="18" charset="0"/>
              </a:rPr>
              <a:t>507nm</a:t>
            </a:r>
            <a:r>
              <a:rPr kumimoji="1" lang="zh-CN" altLang="en-US" sz="2400" b="1" dirty="0">
                <a:latin typeface="Times New Roman" pitchFamily="18" charset="0"/>
                <a:ea typeface="微软雅黑" pitchFamily="34" charset="-122"/>
                <a:cs typeface="Times New Roman" pitchFamily="18" charset="0"/>
              </a:rPr>
              <a:t>小于其他波长</a:t>
            </a:r>
            <a:r>
              <a:rPr kumimoji="1" lang="en-US" altLang="zh-CN" sz="2400" b="1" i="1" dirty="0">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的光谱辐射亮度</a:t>
            </a:r>
            <a:r>
              <a:rPr kumimoji="1" lang="zh-CN" altLang="en-US" sz="2400" b="1" i="1" dirty="0">
                <a:latin typeface="Times New Roman" pitchFamily="18" charset="0"/>
                <a:ea typeface="微软雅黑" pitchFamily="34" charset="-122"/>
                <a:cs typeface="Times New Roman" pitchFamily="18" charset="0"/>
              </a:rPr>
              <a:t> </a:t>
            </a:r>
            <a:r>
              <a:rPr kumimoji="1" lang="en-US" altLang="zh-CN" sz="2400" b="1" i="1" dirty="0" err="1">
                <a:latin typeface="Times New Roman" pitchFamily="18" charset="0"/>
                <a:ea typeface="微软雅黑" pitchFamily="34" charset="-122"/>
                <a:cs typeface="Times New Roman" pitchFamily="18" charset="0"/>
              </a:rPr>
              <a:t>L</a:t>
            </a:r>
            <a:r>
              <a:rPr kumimoji="1" lang="en-US" altLang="zh-CN" sz="2400" b="1" i="1" baseline="-30000" dirty="0" err="1">
                <a:latin typeface="Times New Roman" pitchFamily="18" charset="0"/>
                <a:ea typeface="微软雅黑" pitchFamily="34" charset="-122"/>
                <a:cs typeface="Times New Roman" pitchFamily="18" charset="0"/>
              </a:rPr>
              <a:t>v,λ</a:t>
            </a:r>
            <a:r>
              <a:rPr kumimoji="1" lang="zh-CN" altLang="en-US" sz="2400" b="1" dirty="0">
                <a:latin typeface="Times New Roman" pitchFamily="18" charset="0"/>
                <a:ea typeface="微软雅黑" pitchFamily="34" charset="-122"/>
                <a:cs typeface="Times New Roman" pitchFamily="18" charset="0"/>
              </a:rPr>
              <a:t>。把 </a:t>
            </a:r>
            <a:r>
              <a:rPr kumimoji="1" lang="en-US" altLang="zh-CN" sz="2400" b="1" i="1" dirty="0" err="1">
                <a:latin typeface="Times New Roman" pitchFamily="18" charset="0"/>
                <a:ea typeface="微软雅黑" pitchFamily="34" charset="-122"/>
                <a:cs typeface="Times New Roman" pitchFamily="18" charset="0"/>
              </a:rPr>
              <a:t>L</a:t>
            </a:r>
            <a:r>
              <a:rPr kumimoji="1" lang="en-US" altLang="zh-CN" sz="2400" b="1" i="1" baseline="-30000" dirty="0" err="1">
                <a:latin typeface="Times New Roman" pitchFamily="18" charset="0"/>
                <a:ea typeface="微软雅黑" pitchFamily="34" charset="-122"/>
                <a:cs typeface="Times New Roman" pitchFamily="18" charset="0"/>
              </a:rPr>
              <a:t>v</a:t>
            </a:r>
            <a:r>
              <a:rPr kumimoji="1" lang="zh-CN" altLang="en-US" sz="2400" b="1" baseline="-30000" dirty="0">
                <a:latin typeface="Times New Roman" pitchFamily="18" charset="0"/>
                <a:ea typeface="微软雅黑" pitchFamily="34" charset="-122"/>
                <a:cs typeface="Times New Roman" pitchFamily="18" charset="0"/>
              </a:rPr>
              <a:t>，</a:t>
            </a:r>
            <a:r>
              <a:rPr kumimoji="1" lang="en-US" altLang="zh-CN" sz="2400" b="1" baseline="-30000" dirty="0">
                <a:latin typeface="Times New Roman" pitchFamily="18" charset="0"/>
                <a:ea typeface="微软雅黑" pitchFamily="34" charset="-122"/>
                <a:cs typeface="Times New Roman" pitchFamily="18" charset="0"/>
              </a:rPr>
              <a:t>507nm </a:t>
            </a:r>
            <a:r>
              <a:rPr kumimoji="1" lang="zh-CN" altLang="en-US" sz="2400" b="1" dirty="0">
                <a:latin typeface="Times New Roman" pitchFamily="18" charset="0"/>
                <a:ea typeface="微软雅黑" pitchFamily="34" charset="-122"/>
                <a:cs typeface="Times New Roman" pitchFamily="18" charset="0"/>
              </a:rPr>
              <a:t>与</a:t>
            </a:r>
            <a:r>
              <a:rPr kumimoji="1" lang="en-US" altLang="zh-CN" sz="2400" b="1" i="1" dirty="0" err="1">
                <a:latin typeface="Times New Roman" pitchFamily="18" charset="0"/>
                <a:ea typeface="微软雅黑" pitchFamily="34" charset="-122"/>
                <a:cs typeface="Times New Roman" pitchFamily="18" charset="0"/>
              </a:rPr>
              <a:t>L</a:t>
            </a:r>
            <a:r>
              <a:rPr kumimoji="1" lang="en-US" altLang="zh-CN" sz="2400" b="1" i="1" baseline="-30000" dirty="0" err="1">
                <a:latin typeface="Times New Roman" pitchFamily="18" charset="0"/>
                <a:ea typeface="微软雅黑" pitchFamily="34" charset="-122"/>
                <a:cs typeface="Times New Roman" pitchFamily="18" charset="0"/>
              </a:rPr>
              <a:t>v</a:t>
            </a:r>
            <a:r>
              <a:rPr kumimoji="1" lang="en-US" altLang="zh-CN" sz="2400" b="1" baseline="-30000" dirty="0" err="1">
                <a:latin typeface="Times New Roman" pitchFamily="18" charset="0"/>
                <a:ea typeface="微软雅黑" pitchFamily="34" charset="-122"/>
                <a:cs typeface="Times New Roman" pitchFamily="18" charset="0"/>
              </a:rPr>
              <a:t>,</a:t>
            </a:r>
            <a:r>
              <a:rPr kumimoji="1" lang="en-US" altLang="zh-CN" sz="2400" b="1" i="1" baseline="-30000" dirty="0" err="1">
                <a:latin typeface="Times New Roman" pitchFamily="18" charset="0"/>
                <a:ea typeface="微软雅黑" pitchFamily="34" charset="-122"/>
                <a:cs typeface="Times New Roman" pitchFamily="18" charset="0"/>
              </a:rPr>
              <a:t>λ</a:t>
            </a:r>
            <a:r>
              <a:rPr kumimoji="1" lang="zh-CN" altLang="en-US" sz="2400" b="1" dirty="0">
                <a:latin typeface="Times New Roman" pitchFamily="18" charset="0"/>
                <a:ea typeface="微软雅黑" pitchFamily="34" charset="-122"/>
                <a:cs typeface="Times New Roman" pitchFamily="18" charset="0"/>
              </a:rPr>
              <a:t>的比值称为暗视觉光谱光视效率。</a:t>
            </a:r>
          </a:p>
        </p:txBody>
      </p:sp>
      <p:graphicFrame>
        <p:nvGraphicFramePr>
          <p:cNvPr id="16" name="Object 3">
            <a:extLst>
              <a:ext uri="{FF2B5EF4-FFF2-40B4-BE49-F238E27FC236}">
                <a16:creationId xmlns:a16="http://schemas.microsoft.com/office/drawing/2014/main" id="{13F57DDA-4C4E-4495-B38D-6E255F09CCDB}"/>
              </a:ext>
            </a:extLst>
          </p:cNvPr>
          <p:cNvGraphicFramePr>
            <a:graphicFrameLocks noChangeAspect="1"/>
          </p:cNvGraphicFramePr>
          <p:nvPr>
            <p:extLst>
              <p:ext uri="{D42A27DB-BD31-4B8C-83A1-F6EECF244321}">
                <p14:modId xmlns:p14="http://schemas.microsoft.com/office/powerpoint/2010/main" val="1317073725"/>
              </p:ext>
            </p:extLst>
          </p:nvPr>
        </p:nvGraphicFramePr>
        <p:xfrm>
          <a:off x="2871788" y="5584825"/>
          <a:ext cx="3019425" cy="1412875"/>
        </p:xfrm>
        <a:graphic>
          <a:graphicData uri="http://schemas.openxmlformats.org/presentationml/2006/ole">
            <mc:AlternateContent xmlns:mc="http://schemas.openxmlformats.org/markup-compatibility/2006">
              <mc:Choice xmlns:v="urn:schemas-microsoft-com:vml" Requires="v">
                <p:oleObj name="Equation" r:id="rId2" imgW="977760" imgH="457200" progId="Equation.DSMT4">
                  <p:embed/>
                </p:oleObj>
              </mc:Choice>
              <mc:Fallback>
                <p:oleObj name="Equation" r:id="rId2" imgW="977760" imgH="457200" progId="Equation.DSMT4">
                  <p:embed/>
                  <p:pic>
                    <p:nvPicPr>
                      <p:cNvPr id="295939" name="Object 3"/>
                      <p:cNvPicPr>
                        <a:picLocks noChangeAspect="1" noChangeArrowheads="1"/>
                      </p:cNvPicPr>
                      <p:nvPr/>
                    </p:nvPicPr>
                    <p:blipFill>
                      <a:blip r:embed="rId3"/>
                      <a:srcRect/>
                      <a:stretch>
                        <a:fillRect/>
                      </a:stretch>
                    </p:blipFill>
                    <p:spPr bwMode="auto">
                      <a:xfrm>
                        <a:off x="2871788" y="5584825"/>
                        <a:ext cx="3019425" cy="14128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5">
            <a:extLst>
              <a:ext uri="{FF2B5EF4-FFF2-40B4-BE49-F238E27FC236}">
                <a16:creationId xmlns:a16="http://schemas.microsoft.com/office/drawing/2014/main" id="{B56E8BFA-BBEB-4E50-95F1-A98E2B40B508}"/>
              </a:ext>
            </a:extLst>
          </p:cNvPr>
          <p:cNvSpPr txBox="1">
            <a:spLocks noChangeArrowheads="1"/>
          </p:cNvSpPr>
          <p:nvPr/>
        </p:nvSpPr>
        <p:spPr bwMode="auto">
          <a:xfrm>
            <a:off x="908619" y="1193715"/>
            <a:ext cx="4899025" cy="584775"/>
          </a:xfrm>
          <a:prstGeom prst="rect">
            <a:avLst/>
          </a:prstGeom>
          <a:noFill/>
          <a:ln w="9525">
            <a:noFill/>
            <a:miter lim="800000"/>
            <a:headEnd/>
            <a:tailEnd/>
          </a:ln>
        </p:spPr>
        <p:txBody>
          <a:bodyPr>
            <a:spAutoFit/>
          </a:bodyPr>
          <a:lstStyle/>
          <a:p>
            <a:pPr algn="ctr" defTabSz="914400">
              <a:spcBef>
                <a:spcPct val="50000"/>
              </a:spcBef>
            </a:pPr>
            <a:r>
              <a:rPr kumimoji="1" lang="zh-CN" altLang="en-US" sz="3200" b="1" u="sng" dirty="0">
                <a:solidFill>
                  <a:srgbClr val="FF0000"/>
                </a:solidFill>
                <a:latin typeface="微软雅黑" panose="020B0503020204020204" pitchFamily="34" charset="-122"/>
                <a:ea typeface="微软雅黑" panose="020B0503020204020204" pitchFamily="34" charset="-122"/>
              </a:rPr>
              <a:t>暗视觉光谱光视效率</a:t>
            </a:r>
          </a:p>
        </p:txBody>
      </p:sp>
      <p:graphicFrame>
        <p:nvGraphicFramePr>
          <p:cNvPr id="18" name="Object 7">
            <a:extLst>
              <a:ext uri="{FF2B5EF4-FFF2-40B4-BE49-F238E27FC236}">
                <a16:creationId xmlns:a16="http://schemas.microsoft.com/office/drawing/2014/main" id="{003E6C4E-E817-45C3-AFFD-E41784E005CD}"/>
              </a:ext>
            </a:extLst>
          </p:cNvPr>
          <p:cNvGraphicFramePr>
            <a:graphicFrameLocks noChangeAspect="1"/>
          </p:cNvGraphicFramePr>
          <p:nvPr/>
        </p:nvGraphicFramePr>
        <p:xfrm>
          <a:off x="5722226" y="1163841"/>
          <a:ext cx="2703512" cy="644525"/>
        </p:xfrm>
        <a:graphic>
          <a:graphicData uri="http://schemas.openxmlformats.org/presentationml/2006/ole">
            <mc:AlternateContent xmlns:mc="http://schemas.openxmlformats.org/markup-compatibility/2006">
              <mc:Choice xmlns:v="urn:schemas-microsoft-com:vml" Requires="v">
                <p:oleObj name="Equation" r:id="rId4" imgW="1002960" imgH="241200" progId="Equation.DSMT4">
                  <p:embed/>
                </p:oleObj>
              </mc:Choice>
              <mc:Fallback>
                <p:oleObj name="Equation" r:id="rId4" imgW="1002960" imgH="241200" progId="Equation.DSMT4">
                  <p:embed/>
                  <p:pic>
                    <p:nvPicPr>
                      <p:cNvPr id="2663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2226" y="1163841"/>
                        <a:ext cx="2703512" cy="644525"/>
                      </a:xfrm>
                      <a:prstGeom prst="rect">
                        <a:avLst/>
                      </a:prstGeom>
                      <a:solidFill>
                        <a:srgbClr val="FFFF00"/>
                      </a:solidFill>
                    </p:spPr>
                  </p:pic>
                </p:oleObj>
              </mc:Fallback>
            </mc:AlternateContent>
          </a:graphicData>
        </a:graphic>
      </p:graphicFrame>
      <p:pic>
        <p:nvPicPr>
          <p:cNvPr id="21" name="Picture 4">
            <a:extLst>
              <a:ext uri="{FF2B5EF4-FFF2-40B4-BE49-F238E27FC236}">
                <a16:creationId xmlns:a16="http://schemas.microsoft.com/office/drawing/2014/main" id="{228B2392-3F8D-42B1-811B-E466E6F86F9A}"/>
              </a:ext>
            </a:extLst>
          </p:cNvPr>
          <p:cNvPicPr>
            <a:picLocks noChangeAspect="1" noChangeArrowheads="1"/>
          </p:cNvPicPr>
          <p:nvPr/>
        </p:nvPicPr>
        <p:blipFill>
          <a:blip r:embed="rId6"/>
          <a:srcRect/>
          <a:stretch>
            <a:fillRect/>
          </a:stretch>
        </p:blipFill>
        <p:spPr bwMode="auto">
          <a:xfrm>
            <a:off x="8341651" y="2076804"/>
            <a:ext cx="4761675" cy="4571966"/>
          </a:xfrm>
          <a:prstGeom prst="rect">
            <a:avLst/>
          </a:prstGeom>
          <a:noFill/>
          <a:ln w="9525">
            <a:noFill/>
            <a:miter lim="800000"/>
            <a:headEnd/>
            <a:tailEnd/>
          </a:ln>
        </p:spPr>
      </p:pic>
    </p:spTree>
    <p:extLst>
      <p:ext uri="{BB962C8B-B14F-4D97-AF65-F5344CB8AC3E}">
        <p14:creationId xmlns:p14="http://schemas.microsoft.com/office/powerpoint/2010/main" val="178904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ox(i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in)">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Text Box 4">
            <a:extLst>
              <a:ext uri="{FF2B5EF4-FFF2-40B4-BE49-F238E27FC236}">
                <a16:creationId xmlns:a16="http://schemas.microsoft.com/office/drawing/2014/main" id="{5FF4428F-4DC5-4156-8E30-A63115FD3930}"/>
              </a:ext>
            </a:extLst>
          </p:cNvPr>
          <p:cNvSpPr txBox="1">
            <a:spLocks noChangeArrowheads="1"/>
          </p:cNvSpPr>
          <p:nvPr/>
        </p:nvSpPr>
        <p:spPr bwMode="auto">
          <a:xfrm>
            <a:off x="2854036" y="3929366"/>
            <a:ext cx="2809875" cy="701675"/>
          </a:xfrm>
          <a:prstGeom prst="rect">
            <a:avLst/>
          </a:prstGeom>
          <a:noFill/>
          <a:ln w="9525">
            <a:noFill/>
            <a:miter lim="800000"/>
            <a:headEnd/>
            <a:tailEnd/>
          </a:ln>
        </p:spPr>
        <p:txBody>
          <a:bodyPr>
            <a:spAutoFit/>
          </a:bodyPr>
          <a:lstStyle/>
          <a:p>
            <a:pPr algn="ctr" defTabSz="914400">
              <a:spcBef>
                <a:spcPct val="50000"/>
              </a:spcBef>
            </a:pPr>
            <a:r>
              <a:rPr kumimoji="1" lang="zh-CN" altLang="en-US" sz="4000" b="1" dirty="0">
                <a:solidFill>
                  <a:srgbClr val="FF00FF"/>
                </a:solidFill>
                <a:latin typeface="微软雅黑" pitchFamily="34" charset="-122"/>
                <a:ea typeface="微软雅黑" pitchFamily="34" charset="-122"/>
              </a:rPr>
              <a:t>辐射度量</a:t>
            </a:r>
          </a:p>
        </p:txBody>
      </p:sp>
      <p:sp>
        <p:nvSpPr>
          <p:cNvPr id="19" name="Text Box 5">
            <a:extLst>
              <a:ext uri="{FF2B5EF4-FFF2-40B4-BE49-F238E27FC236}">
                <a16:creationId xmlns:a16="http://schemas.microsoft.com/office/drawing/2014/main" id="{ACCEB5A4-DA96-4C22-B35A-78D241C7A9F5}"/>
              </a:ext>
            </a:extLst>
          </p:cNvPr>
          <p:cNvSpPr txBox="1">
            <a:spLocks noChangeArrowheads="1"/>
          </p:cNvSpPr>
          <p:nvPr/>
        </p:nvSpPr>
        <p:spPr bwMode="auto">
          <a:xfrm>
            <a:off x="8854786" y="4010329"/>
            <a:ext cx="2143125" cy="701675"/>
          </a:xfrm>
          <a:prstGeom prst="rect">
            <a:avLst/>
          </a:prstGeom>
          <a:noFill/>
          <a:ln w="9525">
            <a:noFill/>
            <a:miter lim="800000"/>
            <a:headEnd/>
            <a:tailEnd/>
          </a:ln>
        </p:spPr>
        <p:txBody>
          <a:bodyPr>
            <a:spAutoFit/>
          </a:bodyPr>
          <a:lstStyle/>
          <a:p>
            <a:pPr algn="ctr" defTabSz="914400">
              <a:spcBef>
                <a:spcPct val="50000"/>
              </a:spcBef>
            </a:pPr>
            <a:r>
              <a:rPr kumimoji="1" lang="zh-CN" altLang="en-US" sz="4000" b="1">
                <a:solidFill>
                  <a:srgbClr val="FF0000"/>
                </a:solidFill>
                <a:latin typeface="微软雅黑" pitchFamily="34" charset="-122"/>
                <a:ea typeface="微软雅黑" pitchFamily="34" charset="-122"/>
              </a:rPr>
              <a:t>光度量</a:t>
            </a:r>
            <a:endParaRPr lang="zh-CN" altLang="en-US" sz="4000" b="1">
              <a:solidFill>
                <a:srgbClr val="FF0000"/>
              </a:solidFill>
              <a:latin typeface="微软雅黑" pitchFamily="34" charset="-122"/>
              <a:ea typeface="微软雅黑" pitchFamily="34" charset="-122"/>
            </a:endParaRPr>
          </a:p>
        </p:txBody>
      </p:sp>
      <p:sp>
        <p:nvSpPr>
          <p:cNvPr id="22" name="Rectangle 6">
            <a:extLst>
              <a:ext uri="{FF2B5EF4-FFF2-40B4-BE49-F238E27FC236}">
                <a16:creationId xmlns:a16="http://schemas.microsoft.com/office/drawing/2014/main" id="{83DBF8C0-BCB3-4D3C-9034-C3FA09937E4D}"/>
              </a:ext>
            </a:extLst>
          </p:cNvPr>
          <p:cNvSpPr>
            <a:spLocks noChangeArrowheads="1"/>
          </p:cNvSpPr>
          <p:nvPr/>
        </p:nvSpPr>
        <p:spPr bwMode="auto">
          <a:xfrm>
            <a:off x="2003425" y="1838341"/>
            <a:ext cx="5877865" cy="584775"/>
          </a:xfrm>
          <a:prstGeom prst="rect">
            <a:avLst/>
          </a:prstGeom>
          <a:noFill/>
          <a:ln w="9525">
            <a:noFill/>
            <a:miter lim="800000"/>
            <a:headEnd/>
            <a:tailEnd/>
          </a:ln>
        </p:spPr>
        <p:txBody>
          <a:bodyPr wrap="square" anchor="ctr">
            <a:spAutoFit/>
          </a:bodyPr>
          <a:lstStyle/>
          <a:p>
            <a:pPr algn="ctr" defTabSz="914400"/>
            <a:r>
              <a:rPr lang="en-US" altLang="zh-CN" sz="3200" dirty="0">
                <a:solidFill>
                  <a:srgbClr val="0000FF"/>
                </a:solidFill>
                <a:latin typeface="Times New Roman" pitchFamily="18" charset="0"/>
                <a:ea typeface="黑体" pitchFamily="2" charset="-122"/>
                <a:cs typeface="Times New Roman" pitchFamily="18" charset="0"/>
              </a:rPr>
              <a:t>1.3.3 </a:t>
            </a:r>
            <a:r>
              <a:rPr lang="zh-CN" altLang="en-US" sz="3200" dirty="0">
                <a:solidFill>
                  <a:srgbClr val="0000FF"/>
                </a:solidFill>
                <a:latin typeface="Times New Roman" pitchFamily="18" charset="0"/>
                <a:ea typeface="黑体" pitchFamily="2" charset="-122"/>
                <a:cs typeface="Times New Roman" pitchFamily="18" charset="0"/>
              </a:rPr>
              <a:t> </a:t>
            </a:r>
            <a:r>
              <a:rPr lang="zh-CN" altLang="en-US" sz="3200" b="1" dirty="0">
                <a:solidFill>
                  <a:srgbClr val="0000FF"/>
                </a:solidFill>
                <a:latin typeface="微软雅黑" pitchFamily="34" charset="-122"/>
                <a:ea typeface="微软雅黑" pitchFamily="34" charset="-122"/>
                <a:cs typeface="Times New Roman" pitchFamily="18" charset="0"/>
              </a:rPr>
              <a:t>辐射度量与光度量的关系</a:t>
            </a:r>
          </a:p>
        </p:txBody>
      </p:sp>
      <p:sp>
        <p:nvSpPr>
          <p:cNvPr id="23" name="AutoShape 7">
            <a:extLst>
              <a:ext uri="{FF2B5EF4-FFF2-40B4-BE49-F238E27FC236}">
                <a16:creationId xmlns:a16="http://schemas.microsoft.com/office/drawing/2014/main" id="{896DDE6A-5A5E-4E57-88EA-0CC0BDF10C78}"/>
              </a:ext>
            </a:extLst>
          </p:cNvPr>
          <p:cNvSpPr>
            <a:spLocks noChangeArrowheads="1"/>
          </p:cNvSpPr>
          <p:nvPr/>
        </p:nvSpPr>
        <p:spPr bwMode="auto">
          <a:xfrm>
            <a:off x="5987761" y="3857929"/>
            <a:ext cx="2295525" cy="428625"/>
          </a:xfrm>
          <a:prstGeom prst="notchedRightArrow">
            <a:avLst>
              <a:gd name="adj1" fmla="val 50000"/>
              <a:gd name="adj2" fmla="val 378063"/>
            </a:avLst>
          </a:prstGeom>
          <a:solidFill>
            <a:srgbClr val="FF00FF"/>
          </a:solidFill>
          <a:ln w="9525">
            <a:solidFill>
              <a:schemeClr val="tx1"/>
            </a:solidFill>
            <a:miter lim="800000"/>
            <a:headEnd/>
            <a:tailEnd/>
          </a:ln>
        </p:spPr>
        <p:txBody>
          <a:bodyPr wrap="none" anchor="ctr"/>
          <a:lstStyle/>
          <a:p>
            <a:pPr defTabSz="914400"/>
            <a:endParaRPr lang="zh-CN" altLang="en-US" sz="1800"/>
          </a:p>
        </p:txBody>
      </p:sp>
      <p:sp>
        <p:nvSpPr>
          <p:cNvPr id="24" name="AutoShape 8">
            <a:extLst>
              <a:ext uri="{FF2B5EF4-FFF2-40B4-BE49-F238E27FC236}">
                <a16:creationId xmlns:a16="http://schemas.microsoft.com/office/drawing/2014/main" id="{743297F4-B80D-4B36-B3E5-C8B5D04570A8}"/>
              </a:ext>
            </a:extLst>
          </p:cNvPr>
          <p:cNvSpPr>
            <a:spLocks noChangeArrowheads="1"/>
          </p:cNvSpPr>
          <p:nvPr/>
        </p:nvSpPr>
        <p:spPr bwMode="auto">
          <a:xfrm rot="10800000">
            <a:off x="5987761" y="4513566"/>
            <a:ext cx="2224088" cy="415925"/>
          </a:xfrm>
          <a:prstGeom prst="notchedRightArrow">
            <a:avLst>
              <a:gd name="adj1" fmla="val 50000"/>
              <a:gd name="adj2" fmla="val 348913"/>
            </a:avLst>
          </a:prstGeom>
          <a:solidFill>
            <a:srgbClr val="FFFF00"/>
          </a:solidFill>
          <a:ln w="9525">
            <a:solidFill>
              <a:schemeClr val="tx1"/>
            </a:solidFill>
            <a:miter lim="800000"/>
            <a:headEnd/>
            <a:tailEnd/>
          </a:ln>
        </p:spPr>
        <p:txBody>
          <a:bodyPr rot="10800000" wrap="none" anchor="ctr"/>
          <a:lstStyle/>
          <a:p>
            <a:pPr defTabSz="914400"/>
            <a:endParaRPr lang="zh-CN" altLang="en-US" sz="1800"/>
          </a:p>
        </p:txBody>
      </p:sp>
      <p:sp>
        <p:nvSpPr>
          <p:cNvPr id="27" name="Text Box 9">
            <a:extLst>
              <a:ext uri="{FF2B5EF4-FFF2-40B4-BE49-F238E27FC236}">
                <a16:creationId xmlns:a16="http://schemas.microsoft.com/office/drawing/2014/main" id="{0BF018FA-7D38-401A-8A23-717A080E5FAC}"/>
              </a:ext>
            </a:extLst>
          </p:cNvPr>
          <p:cNvSpPr txBox="1">
            <a:spLocks noChangeArrowheads="1"/>
          </p:cNvSpPr>
          <p:nvPr/>
        </p:nvSpPr>
        <p:spPr bwMode="auto">
          <a:xfrm>
            <a:off x="5170199" y="5500991"/>
            <a:ext cx="3827462" cy="641350"/>
          </a:xfrm>
          <a:prstGeom prst="rect">
            <a:avLst/>
          </a:prstGeom>
          <a:noFill/>
          <a:ln w="9525">
            <a:noFill/>
            <a:miter lim="800000"/>
            <a:headEnd/>
            <a:tailEnd/>
          </a:ln>
        </p:spPr>
        <p:txBody>
          <a:bodyPr>
            <a:spAutoFit/>
          </a:bodyPr>
          <a:lstStyle/>
          <a:p>
            <a:pPr algn="ctr" defTabSz="914400">
              <a:spcBef>
                <a:spcPct val="50000"/>
              </a:spcBef>
            </a:pPr>
            <a:r>
              <a:rPr lang="en-US" altLang="zh-CN" sz="3600" b="1">
                <a:latin typeface="Times New Roman" pitchFamily="18" charset="0"/>
              </a:rPr>
              <a:t>0.38um---0.78um</a:t>
            </a:r>
          </a:p>
        </p:txBody>
      </p:sp>
      <p:sp>
        <p:nvSpPr>
          <p:cNvPr id="28" name="Rectangle 10">
            <a:extLst>
              <a:ext uri="{FF2B5EF4-FFF2-40B4-BE49-F238E27FC236}">
                <a16:creationId xmlns:a16="http://schemas.microsoft.com/office/drawing/2014/main" id="{4B641132-33F7-4B1C-ACE2-FC068B510CDE}"/>
              </a:ext>
            </a:extLst>
          </p:cNvPr>
          <p:cNvSpPr>
            <a:spLocks noChangeArrowheads="1"/>
          </p:cNvSpPr>
          <p:nvPr/>
        </p:nvSpPr>
        <p:spPr bwMode="auto">
          <a:xfrm>
            <a:off x="7068849" y="3000679"/>
            <a:ext cx="576262" cy="914400"/>
          </a:xfrm>
          <a:prstGeom prst="rect">
            <a:avLst/>
          </a:prstGeom>
          <a:noFill/>
          <a:ln w="9525">
            <a:noFill/>
            <a:miter lim="800000"/>
            <a:headEnd/>
            <a:tailEnd/>
          </a:ln>
        </p:spPr>
        <p:txBody>
          <a:bodyPr lIns="0" tIns="0" rIns="0" bIns="0">
            <a:spAutoFit/>
          </a:bodyPr>
          <a:lstStyle/>
          <a:p>
            <a:pPr defTabSz="914400"/>
            <a:r>
              <a:rPr lang="zh-CN" altLang="en-US" sz="6000"/>
              <a:t>？</a:t>
            </a:r>
          </a:p>
        </p:txBody>
      </p:sp>
    </p:spTree>
    <p:extLst>
      <p:ext uri="{BB962C8B-B14F-4D97-AF65-F5344CB8AC3E}">
        <p14:creationId xmlns:p14="http://schemas.microsoft.com/office/powerpoint/2010/main" val="26678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ox(i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0-#ppt_w/2"/>
                                          </p:val>
                                        </p:tav>
                                        <p:tav tm="100000">
                                          <p:val>
                                            <p:strVal val="#ppt_x"/>
                                          </p:val>
                                        </p:tav>
                                      </p:tavLst>
                                    </p:anim>
                                    <p:anim calcmode="lin" valueType="num">
                                      <p:cBhvr additive="base">
                                        <p:cTn id="23"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fill="hold"/>
                                        <p:tgtEl>
                                          <p:spTgt spid="24"/>
                                        </p:tgtEl>
                                        <p:attrNameLst>
                                          <p:attrName>ppt_x</p:attrName>
                                        </p:attrNameLst>
                                      </p:cBhvr>
                                      <p:tavLst>
                                        <p:tav tm="0">
                                          <p:val>
                                            <p:strVal val="1+#ppt_w/2"/>
                                          </p:val>
                                        </p:tav>
                                        <p:tav tm="100000">
                                          <p:val>
                                            <p:strVal val="#ppt_x"/>
                                          </p:val>
                                        </p:tav>
                                      </p:tavLst>
                                    </p:anim>
                                    <p:anim calcmode="lin" valueType="num">
                                      <p:cBhvr additive="base">
                                        <p:cTn id="2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500" fill="hold"/>
                                        <p:tgtEl>
                                          <p:spTgt spid="27"/>
                                        </p:tgtEl>
                                        <p:attrNameLst>
                                          <p:attrName>ppt_x</p:attrName>
                                        </p:attrNameLst>
                                      </p:cBhvr>
                                      <p:tavLst>
                                        <p:tav tm="0">
                                          <p:val>
                                            <p:strVal val="#ppt_x"/>
                                          </p:val>
                                        </p:tav>
                                        <p:tav tm="100000">
                                          <p:val>
                                            <p:strVal val="#ppt_x"/>
                                          </p:val>
                                        </p:tav>
                                      </p:tavLst>
                                    </p:anim>
                                    <p:anim calcmode="lin" valueType="num">
                                      <p:cBhvr additive="base">
                                        <p:cTn id="3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ox(in)">
                                      <p:cBhvr>
                                        <p:cTn id="40" dur="10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grpId="1" nodeType="clickEffect">
                                  <p:stCondLst>
                                    <p:cond delay="0"/>
                                  </p:stCondLst>
                                  <p:childTnLst>
                                    <p:animScale>
                                      <p:cBhvr>
                                        <p:cTn id="44" dur="1000" fill="hold"/>
                                        <p:tgtEl>
                                          <p:spTgt spid="2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2" grpId="0"/>
      <p:bldP spid="23" grpId="0" animBg="1"/>
      <p:bldP spid="24" grpId="0" animBg="1"/>
      <p:bldP spid="27" grpId="0"/>
      <p:bldP spid="28" grpId="0"/>
      <p:bldP spid="28"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Rectangle 10">
            <a:extLst>
              <a:ext uri="{FF2B5EF4-FFF2-40B4-BE49-F238E27FC236}">
                <a16:creationId xmlns:a16="http://schemas.microsoft.com/office/drawing/2014/main" id="{853A502F-966A-4FFC-BEEA-7F52C91A540B}"/>
              </a:ext>
            </a:extLst>
          </p:cNvPr>
          <p:cNvSpPr>
            <a:spLocks noChangeArrowheads="1"/>
          </p:cNvSpPr>
          <p:nvPr/>
        </p:nvSpPr>
        <p:spPr bwMode="auto">
          <a:xfrm>
            <a:off x="1450506" y="1162362"/>
            <a:ext cx="3239547" cy="523220"/>
          </a:xfrm>
          <a:prstGeom prst="rect">
            <a:avLst/>
          </a:prstGeom>
          <a:solidFill>
            <a:srgbClr val="FF66FF"/>
          </a:solidFill>
          <a:ln w="9525">
            <a:noFill/>
            <a:miter lim="800000"/>
            <a:headEnd/>
            <a:tailEnd/>
          </a:ln>
        </p:spPr>
        <p:txBody>
          <a:bodyPr wrap="square" anchor="ctr">
            <a:spAutoFit/>
          </a:bodyPr>
          <a:lstStyle/>
          <a:p>
            <a:pPr defTabSz="914400"/>
            <a:r>
              <a:rPr lang="zh-CN" altLang="en-US" sz="2800" b="1" dirty="0">
                <a:latin typeface="微软雅黑" pitchFamily="34" charset="-122"/>
                <a:ea typeface="微软雅黑" pitchFamily="34" charset="-122"/>
              </a:rPr>
              <a:t>由坎德拉定义有：</a:t>
            </a:r>
            <a:endParaRPr lang="en-US" altLang="zh-CN" sz="2800" b="1" dirty="0">
              <a:latin typeface="微软雅黑" pitchFamily="34" charset="-122"/>
              <a:ea typeface="微软雅黑" pitchFamily="34" charset="-122"/>
            </a:endParaRPr>
          </a:p>
        </p:txBody>
      </p:sp>
      <p:sp>
        <p:nvSpPr>
          <p:cNvPr id="17" name="Text Box 7">
            <a:extLst>
              <a:ext uri="{FF2B5EF4-FFF2-40B4-BE49-F238E27FC236}">
                <a16:creationId xmlns:a16="http://schemas.microsoft.com/office/drawing/2014/main" id="{4F3B1E62-B23C-4852-A955-921E1B8AE34C}"/>
              </a:ext>
            </a:extLst>
          </p:cNvPr>
          <p:cNvSpPr txBox="1">
            <a:spLocks noChangeArrowheads="1"/>
          </p:cNvSpPr>
          <p:nvPr/>
        </p:nvSpPr>
        <p:spPr bwMode="auto">
          <a:xfrm>
            <a:off x="1364781" y="3696613"/>
            <a:ext cx="11747499" cy="1477328"/>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3200" b="1" dirty="0">
                <a:latin typeface="Times New Roman" pitchFamily="18" charset="0"/>
                <a:ea typeface="黑体" pitchFamily="2"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在明视觉条件下，考虑到人眼对不同波长的敏感程度是不一样的，这样对应任意波长</a:t>
            </a:r>
            <a:r>
              <a:rPr lang="el-GR" altLang="zh-CN" sz="2800" b="1" dirty="0">
                <a:latin typeface="Times New Roman" pitchFamily="18" charset="0"/>
                <a:ea typeface="微软雅黑" pitchFamily="34" charset="-122"/>
                <a:cs typeface="Times New Roman" pitchFamily="18" charset="0"/>
              </a:rPr>
              <a:t>λ</a:t>
            </a:r>
            <a:r>
              <a:rPr lang="zh-CN" altLang="en-US" sz="2800" b="1" dirty="0">
                <a:latin typeface="Times New Roman" pitchFamily="18" charset="0"/>
                <a:ea typeface="微软雅黑" pitchFamily="34" charset="-122"/>
                <a:cs typeface="Times New Roman" pitchFamily="18" charset="0"/>
              </a:rPr>
              <a:t>，光谱光通量与光谱辐通量的关系可以表示为：</a:t>
            </a:r>
          </a:p>
        </p:txBody>
      </p:sp>
      <p:graphicFrame>
        <p:nvGraphicFramePr>
          <p:cNvPr id="18" name="Object 8">
            <a:extLst>
              <a:ext uri="{FF2B5EF4-FFF2-40B4-BE49-F238E27FC236}">
                <a16:creationId xmlns:a16="http://schemas.microsoft.com/office/drawing/2014/main" id="{2BC3B937-86A7-4BB1-A750-E8A6CCBC492C}"/>
              </a:ext>
            </a:extLst>
          </p:cNvPr>
          <p:cNvGraphicFramePr>
            <a:graphicFrameLocks noChangeAspect="1"/>
          </p:cNvGraphicFramePr>
          <p:nvPr/>
        </p:nvGraphicFramePr>
        <p:xfrm>
          <a:off x="2211387" y="5688046"/>
          <a:ext cx="4429125" cy="873125"/>
        </p:xfrm>
        <a:graphic>
          <a:graphicData uri="http://schemas.openxmlformats.org/presentationml/2006/ole">
            <mc:AlternateContent xmlns:mc="http://schemas.openxmlformats.org/markup-compatibility/2006">
              <mc:Choice xmlns:v="urn:schemas-microsoft-com:vml" Requires="v">
                <p:oleObj name="Equation" r:id="rId2" imgW="1206360" imgH="241200" progId="Equation.DSMT4">
                  <p:embed/>
                </p:oleObj>
              </mc:Choice>
              <mc:Fallback>
                <p:oleObj name="Equation" r:id="rId2" imgW="1206360" imgH="241200" progId="Equation.DSMT4">
                  <p:embed/>
                  <p:pic>
                    <p:nvPicPr>
                      <p:cNvPr id="1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1387" y="5688046"/>
                        <a:ext cx="4429125" cy="873125"/>
                      </a:xfrm>
                      <a:prstGeom prst="rect">
                        <a:avLst/>
                      </a:prstGeom>
                      <a:solidFill>
                        <a:srgbClr val="FFFF00"/>
                      </a:solidFill>
                    </p:spPr>
                  </p:pic>
                </p:oleObj>
              </mc:Fallback>
            </mc:AlternateContent>
          </a:graphicData>
        </a:graphic>
      </p:graphicFrame>
      <p:graphicFrame>
        <p:nvGraphicFramePr>
          <p:cNvPr id="21" name="Object 5">
            <a:extLst>
              <a:ext uri="{FF2B5EF4-FFF2-40B4-BE49-F238E27FC236}">
                <a16:creationId xmlns:a16="http://schemas.microsoft.com/office/drawing/2014/main" id="{EF007FC5-ACA3-4F7B-B0C3-79821712CE3C}"/>
              </a:ext>
            </a:extLst>
          </p:cNvPr>
          <p:cNvGraphicFramePr>
            <a:graphicFrameLocks noChangeAspect="1"/>
          </p:cNvGraphicFramePr>
          <p:nvPr/>
        </p:nvGraphicFramePr>
        <p:xfrm>
          <a:off x="7583522" y="5628465"/>
          <a:ext cx="3684588" cy="828675"/>
        </p:xfrm>
        <a:graphic>
          <a:graphicData uri="http://schemas.openxmlformats.org/presentationml/2006/ole">
            <mc:AlternateContent xmlns:mc="http://schemas.openxmlformats.org/markup-compatibility/2006">
              <mc:Choice xmlns:v="urn:schemas-microsoft-com:vml" Requires="v">
                <p:oleObj name="Equation" r:id="rId4" imgW="1002960" imgH="228600" progId="Equation.DSMT4">
                  <p:embed/>
                </p:oleObj>
              </mc:Choice>
              <mc:Fallback>
                <p:oleObj name="Equation" r:id="rId4" imgW="1002960" imgH="228600" progId="Equation.DSMT4">
                  <p:embed/>
                  <p:pic>
                    <p:nvPicPr>
                      <p:cNvPr id="1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3522" y="5628465"/>
                        <a:ext cx="3684588" cy="828675"/>
                      </a:xfrm>
                      <a:prstGeom prst="rect">
                        <a:avLst/>
                      </a:prstGeom>
                      <a:solidFill>
                        <a:srgbClr val="FFFF00"/>
                      </a:solidFill>
                    </p:spPr>
                  </p:pic>
                </p:oleObj>
              </mc:Fallback>
            </mc:AlternateContent>
          </a:graphicData>
        </a:graphic>
      </p:graphicFrame>
      <p:sp>
        <p:nvSpPr>
          <p:cNvPr id="29" name="Text Box 7">
            <a:extLst>
              <a:ext uri="{FF2B5EF4-FFF2-40B4-BE49-F238E27FC236}">
                <a16:creationId xmlns:a16="http://schemas.microsoft.com/office/drawing/2014/main" id="{EBF5EAB3-6CDB-457E-AC8D-9D34A3D58BEB}"/>
              </a:ext>
            </a:extLst>
          </p:cNvPr>
          <p:cNvSpPr txBox="1">
            <a:spLocks noChangeArrowheads="1"/>
          </p:cNvSpPr>
          <p:nvPr/>
        </p:nvSpPr>
        <p:spPr bwMode="auto">
          <a:xfrm>
            <a:off x="1365353" y="1865094"/>
            <a:ext cx="4924426" cy="662297"/>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Times New Roman" pitchFamily="18" charset="0"/>
                <a:ea typeface="微软雅黑" pitchFamily="34" charset="-122"/>
                <a:cs typeface="Times New Roman" pitchFamily="18" charset="0"/>
              </a:rPr>
              <a:t>在对应波长为</a:t>
            </a:r>
            <a:r>
              <a:rPr lang="en-US" altLang="zh-CN" sz="2800" b="1" dirty="0">
                <a:latin typeface="Times New Roman" pitchFamily="18" charset="0"/>
                <a:ea typeface="微软雅黑" pitchFamily="34" charset="-122"/>
                <a:cs typeface="Times New Roman" pitchFamily="18" charset="0"/>
              </a:rPr>
              <a:t>555nm</a:t>
            </a:r>
            <a:r>
              <a:rPr lang="zh-CN" altLang="en-US" sz="2800" b="1" dirty="0">
                <a:latin typeface="Times New Roman" pitchFamily="18" charset="0"/>
                <a:ea typeface="微软雅黑" pitchFamily="34" charset="-122"/>
                <a:cs typeface="Times New Roman" pitchFamily="18" charset="0"/>
              </a:rPr>
              <a:t>光波</a:t>
            </a:r>
          </a:p>
        </p:txBody>
      </p:sp>
      <p:sp>
        <p:nvSpPr>
          <p:cNvPr id="30" name="Text Box 7">
            <a:extLst>
              <a:ext uri="{FF2B5EF4-FFF2-40B4-BE49-F238E27FC236}">
                <a16:creationId xmlns:a16="http://schemas.microsoft.com/office/drawing/2014/main" id="{6B6C8420-389B-464A-986C-C6A7215FC6FE}"/>
              </a:ext>
            </a:extLst>
          </p:cNvPr>
          <p:cNvSpPr txBox="1">
            <a:spLocks noChangeArrowheads="1"/>
          </p:cNvSpPr>
          <p:nvPr/>
        </p:nvSpPr>
        <p:spPr bwMode="auto">
          <a:xfrm>
            <a:off x="1450506" y="2819466"/>
            <a:ext cx="6935545" cy="662297"/>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辐射度学的</a:t>
            </a:r>
            <a:r>
              <a:rPr lang="en-US" altLang="zh-CN"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1W</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等效于光度学的</a:t>
            </a:r>
            <a:r>
              <a:rPr lang="en-US" altLang="zh-CN"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683</a:t>
            </a:r>
            <a:r>
              <a:rPr lang="en-US" altLang="zh-CN" sz="2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lm</a:t>
            </a:r>
            <a:endParaRPr lang="zh-CN" altLang="en-US"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348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ox(in)">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ox(i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ox(i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ox(in)">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29" grpId="0"/>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3" name="Text Box 4">
            <a:extLst>
              <a:ext uri="{FF2B5EF4-FFF2-40B4-BE49-F238E27FC236}">
                <a16:creationId xmlns:a16="http://schemas.microsoft.com/office/drawing/2014/main" id="{980D0882-A08A-4A63-B814-BAAF8D808DDB}"/>
              </a:ext>
            </a:extLst>
          </p:cNvPr>
          <p:cNvSpPr txBox="1">
            <a:spLocks noChangeArrowheads="1"/>
          </p:cNvSpPr>
          <p:nvPr/>
        </p:nvSpPr>
        <p:spPr bwMode="auto">
          <a:xfrm>
            <a:off x="1000125" y="1031065"/>
            <a:ext cx="8571182"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400" b="1" dirty="0">
                <a:latin typeface="Times New Roman" pitchFamily="18" charset="0"/>
                <a:ea typeface="微软雅黑" pitchFamily="34" charset="-122"/>
                <a:cs typeface="Times New Roman" pitchFamily="18" charset="0"/>
              </a:rPr>
              <a:t>在可见光范围内，光度量与辐射度量关系可以表示为</a:t>
            </a:r>
          </a:p>
        </p:txBody>
      </p:sp>
      <p:graphicFrame>
        <p:nvGraphicFramePr>
          <p:cNvPr id="24" name="Object 5">
            <a:extLst>
              <a:ext uri="{FF2B5EF4-FFF2-40B4-BE49-F238E27FC236}">
                <a16:creationId xmlns:a16="http://schemas.microsoft.com/office/drawing/2014/main" id="{F91BE1C5-7619-482C-80A2-16548ADA6AF2}"/>
              </a:ext>
            </a:extLst>
          </p:cNvPr>
          <p:cNvGraphicFramePr>
            <a:graphicFrameLocks noChangeAspect="1"/>
          </p:cNvGraphicFramePr>
          <p:nvPr>
            <p:extLst>
              <p:ext uri="{D42A27DB-BD31-4B8C-83A1-F6EECF244321}">
                <p14:modId xmlns:p14="http://schemas.microsoft.com/office/powerpoint/2010/main" val="2666312593"/>
              </p:ext>
            </p:extLst>
          </p:nvPr>
        </p:nvGraphicFramePr>
        <p:xfrm>
          <a:off x="3349190" y="2199248"/>
          <a:ext cx="6970712" cy="868363"/>
        </p:xfrm>
        <a:graphic>
          <a:graphicData uri="http://schemas.openxmlformats.org/presentationml/2006/ole">
            <mc:AlternateContent xmlns:mc="http://schemas.openxmlformats.org/markup-compatibility/2006">
              <mc:Choice xmlns:v="urn:schemas-microsoft-com:vml" Requires="v">
                <p:oleObj name="Equation" r:id="rId2" imgW="1942920" imgH="241200" progId="Equation.DSMT4">
                  <p:embed/>
                </p:oleObj>
              </mc:Choice>
              <mc:Fallback>
                <p:oleObj name="Equation" r:id="rId2" imgW="1942920" imgH="241200" progId="Equation.DSMT4">
                  <p:embed/>
                  <p:pic>
                    <p:nvPicPr>
                      <p:cNvPr id="31334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190" y="2199248"/>
                        <a:ext cx="6970712" cy="86836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Text Box 6">
            <a:extLst>
              <a:ext uri="{FF2B5EF4-FFF2-40B4-BE49-F238E27FC236}">
                <a16:creationId xmlns:a16="http://schemas.microsoft.com/office/drawing/2014/main" id="{FA5B0374-6121-4509-9E29-537BC1432C3B}"/>
              </a:ext>
            </a:extLst>
          </p:cNvPr>
          <p:cNvSpPr txBox="1">
            <a:spLocks noChangeArrowheads="1"/>
          </p:cNvSpPr>
          <p:nvPr/>
        </p:nvSpPr>
        <p:spPr bwMode="auto">
          <a:xfrm>
            <a:off x="836239" y="3364114"/>
            <a:ext cx="12212367" cy="1134862"/>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式中，</a:t>
            </a:r>
            <a:r>
              <a:rPr kumimoji="1" lang="en-US" altLang="zh-CN" sz="2400" b="1" i="1" dirty="0">
                <a:solidFill>
                  <a:srgbClr val="FF0000"/>
                </a:solidFill>
                <a:latin typeface="Times New Roman" pitchFamily="18" charset="0"/>
                <a:ea typeface="微软雅黑" pitchFamily="34" charset="-122"/>
                <a:cs typeface="Times New Roman" pitchFamily="18" charset="0"/>
              </a:rPr>
              <a:t>K</a:t>
            </a:r>
            <a:r>
              <a:rPr kumimoji="1" lang="en-US" altLang="zh-CN" sz="2400" b="1" baseline="-30000" dirty="0">
                <a:solidFill>
                  <a:srgbClr val="FF0000"/>
                </a:solidFill>
                <a:latin typeface="Times New Roman" pitchFamily="18" charset="0"/>
                <a:ea typeface="微软雅黑" pitchFamily="34" charset="-122"/>
                <a:cs typeface="Times New Roman" pitchFamily="18" charset="0"/>
              </a:rPr>
              <a:t>m</a:t>
            </a:r>
            <a:r>
              <a:rPr kumimoji="1" lang="zh-CN" altLang="en-US" sz="2400" b="1" dirty="0">
                <a:latin typeface="Times New Roman" pitchFamily="18" charset="0"/>
                <a:ea typeface="微软雅黑" pitchFamily="34" charset="-122"/>
                <a:cs typeface="Times New Roman" pitchFamily="18" charset="0"/>
              </a:rPr>
              <a:t>为人眼的</a:t>
            </a:r>
            <a:r>
              <a:rPr kumimoji="1" lang="zh-CN" altLang="en-US" sz="2400" b="1" dirty="0">
                <a:solidFill>
                  <a:srgbClr val="FF0000"/>
                </a:solidFill>
                <a:latin typeface="Times New Roman" pitchFamily="18" charset="0"/>
                <a:ea typeface="微软雅黑" pitchFamily="34" charset="-122"/>
                <a:cs typeface="Times New Roman" pitchFamily="18" charset="0"/>
              </a:rPr>
              <a:t>明视觉</a:t>
            </a:r>
            <a:r>
              <a:rPr kumimoji="1" lang="zh-CN" altLang="en-US" sz="2400" b="1" dirty="0">
                <a:latin typeface="Times New Roman" pitchFamily="18" charset="0"/>
                <a:ea typeface="微软雅黑" pitchFamily="34" charset="-122"/>
                <a:cs typeface="Times New Roman" pitchFamily="18" charset="0"/>
              </a:rPr>
              <a:t>最灵敏波长的光度参量对辐射度参量的转换常数，其值为</a:t>
            </a:r>
            <a:r>
              <a:rPr kumimoji="1" lang="en-US" altLang="zh-CN" sz="2400" b="1" dirty="0">
                <a:solidFill>
                  <a:srgbClr val="FF0000"/>
                </a:solidFill>
                <a:latin typeface="Times New Roman" pitchFamily="18" charset="0"/>
                <a:ea typeface="微软雅黑" pitchFamily="34" charset="-122"/>
                <a:cs typeface="Times New Roman" pitchFamily="18" charset="0"/>
              </a:rPr>
              <a:t>683lm/W</a:t>
            </a:r>
            <a:r>
              <a:rPr kumimoji="1" lang="zh-CN" altLang="en-US" sz="2400" b="1" dirty="0">
                <a:latin typeface="Times New Roman" pitchFamily="18" charset="0"/>
                <a:ea typeface="微软雅黑" pitchFamily="34" charset="-122"/>
                <a:cs typeface="Times New Roman" pitchFamily="18" charset="0"/>
              </a:rPr>
              <a:t>。</a:t>
            </a:r>
            <a:endParaRPr kumimoji="1" lang="en-US" altLang="zh-CN" sz="1800" b="1" dirty="0">
              <a:latin typeface="Times New Roman" pitchFamily="18" charset="0"/>
              <a:ea typeface="微软雅黑" pitchFamily="34" charset="-122"/>
              <a:cs typeface="Times New Roman" pitchFamily="18" charset="0"/>
            </a:endParaRPr>
          </a:p>
        </p:txBody>
      </p:sp>
      <p:sp>
        <p:nvSpPr>
          <p:cNvPr id="28" name="Text Box 6">
            <a:extLst>
              <a:ext uri="{FF2B5EF4-FFF2-40B4-BE49-F238E27FC236}">
                <a16:creationId xmlns:a16="http://schemas.microsoft.com/office/drawing/2014/main" id="{DC8EB1B8-9A1E-407E-904B-BC4451C689F6}"/>
              </a:ext>
            </a:extLst>
          </p:cNvPr>
          <p:cNvSpPr txBox="1">
            <a:spLocks noChangeArrowheads="1"/>
          </p:cNvSpPr>
          <p:nvPr/>
        </p:nvSpPr>
        <p:spPr bwMode="auto">
          <a:xfrm>
            <a:off x="1081088" y="6225063"/>
            <a:ext cx="11238352"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式中，</a:t>
            </a:r>
            <a:r>
              <a:rPr kumimoji="1" lang="en-US" altLang="zh-CN" sz="2400" b="1" dirty="0">
                <a:latin typeface="Times New Roman" pitchFamily="18" charset="0"/>
                <a:ea typeface="微软雅黑" pitchFamily="34" charset="-122"/>
                <a:cs typeface="Times New Roman" pitchFamily="18" charset="0"/>
              </a:rPr>
              <a:t>K(</a:t>
            </a:r>
            <a:r>
              <a:rPr kumimoji="1" lang="el-GR" altLang="zh-CN" sz="2400" b="1" dirty="0">
                <a:latin typeface="Times New Roman" pitchFamily="18" charset="0"/>
                <a:ea typeface="微软雅黑" pitchFamily="34" charset="-122"/>
                <a:cs typeface="Times New Roman" pitchFamily="18" charset="0"/>
              </a:rPr>
              <a:t>λ</a:t>
            </a:r>
            <a:r>
              <a:rPr kumimoji="1" lang="en-US" altLang="zh-CN" sz="2400" b="1" dirty="0">
                <a:latin typeface="Times New Roman" pitchFamily="18" charset="0"/>
                <a:ea typeface="微软雅黑" pitchFamily="34" charset="-122"/>
                <a:cs typeface="Times New Roman" pitchFamily="18" charset="0"/>
              </a:rPr>
              <a:t>)</a:t>
            </a:r>
            <a:r>
              <a:rPr kumimoji="1" lang="zh-CN" altLang="en-US" sz="2400" b="1" dirty="0">
                <a:latin typeface="Times New Roman" pitchFamily="18" charset="0"/>
                <a:ea typeface="微软雅黑" pitchFamily="34" charset="-122"/>
                <a:cs typeface="Times New Roman" pitchFamily="18" charset="0"/>
              </a:rPr>
              <a:t>为</a:t>
            </a:r>
            <a:r>
              <a:rPr kumimoji="1" lang="zh-CN" altLang="en-US" sz="2400" b="1" dirty="0">
                <a:solidFill>
                  <a:srgbClr val="FF0000"/>
                </a:solidFill>
                <a:latin typeface="Times New Roman" pitchFamily="18" charset="0"/>
                <a:ea typeface="微软雅黑" pitchFamily="34" charset="-122"/>
                <a:cs typeface="Times New Roman" pitchFamily="18" charset="0"/>
              </a:rPr>
              <a:t>明视觉光谱光视</a:t>
            </a:r>
            <a:r>
              <a:rPr kumimoji="1" lang="zh-CN" altLang="en-US" sz="2400" b="1" dirty="0">
                <a:solidFill>
                  <a:srgbClr val="FF00FF"/>
                </a:solidFill>
                <a:latin typeface="Times New Roman" pitchFamily="18" charset="0"/>
                <a:ea typeface="微软雅黑" pitchFamily="34" charset="-122"/>
                <a:cs typeface="Times New Roman" pitchFamily="18" charset="0"/>
              </a:rPr>
              <a:t>效能</a:t>
            </a:r>
            <a:r>
              <a:rPr kumimoji="1" lang="zh-CN" altLang="en-US" sz="2400" b="1" dirty="0">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K</a:t>
            </a:r>
            <a:r>
              <a:rPr kumimoji="1" lang="en-US" altLang="zh-CN" sz="2400" b="1" baseline="-25000" dirty="0">
                <a:latin typeface="Times New Roman" pitchFamily="18" charset="0"/>
                <a:ea typeface="微软雅黑" pitchFamily="34" charset="-122"/>
                <a:cs typeface="Times New Roman" pitchFamily="18" charset="0"/>
              </a:rPr>
              <a:t>m</a:t>
            </a:r>
            <a:r>
              <a:rPr kumimoji="1" lang="zh-CN" altLang="en-US" sz="2400" b="1" dirty="0">
                <a:latin typeface="Times New Roman" pitchFamily="18" charset="0"/>
                <a:ea typeface="微软雅黑" pitchFamily="34" charset="-122"/>
                <a:cs typeface="Times New Roman" pitchFamily="18" charset="0"/>
              </a:rPr>
              <a:t>为明视觉最大光谱光视效能。</a:t>
            </a:r>
            <a:endParaRPr kumimoji="1" lang="en-US" altLang="zh-CN" sz="1800" b="1" dirty="0">
              <a:latin typeface="Times New Roman" pitchFamily="18" charset="0"/>
              <a:ea typeface="微软雅黑" pitchFamily="34" charset="-122"/>
              <a:cs typeface="Times New Roman" pitchFamily="18" charset="0"/>
            </a:endParaRPr>
          </a:p>
        </p:txBody>
      </p:sp>
      <p:graphicFrame>
        <p:nvGraphicFramePr>
          <p:cNvPr id="31" name="Object 1">
            <a:extLst>
              <a:ext uri="{FF2B5EF4-FFF2-40B4-BE49-F238E27FC236}">
                <a16:creationId xmlns:a16="http://schemas.microsoft.com/office/drawing/2014/main" id="{7317968B-2056-4C54-8ED7-DE2F121E38C7}"/>
              </a:ext>
            </a:extLst>
          </p:cNvPr>
          <p:cNvGraphicFramePr>
            <a:graphicFrameLocks noChangeAspect="1"/>
          </p:cNvGraphicFramePr>
          <p:nvPr>
            <p:extLst>
              <p:ext uri="{D42A27DB-BD31-4B8C-83A1-F6EECF244321}">
                <p14:modId xmlns:p14="http://schemas.microsoft.com/office/powerpoint/2010/main" val="1140699723"/>
              </p:ext>
            </p:extLst>
          </p:nvPr>
        </p:nvGraphicFramePr>
        <p:xfrm>
          <a:off x="5003226" y="4957346"/>
          <a:ext cx="3394075" cy="1071563"/>
        </p:xfrm>
        <a:graphic>
          <a:graphicData uri="http://schemas.openxmlformats.org/presentationml/2006/ole">
            <mc:AlternateContent xmlns:mc="http://schemas.openxmlformats.org/markup-compatibility/2006">
              <mc:Choice xmlns:v="urn:schemas-microsoft-com:vml" Requires="v">
                <p:oleObj name="Equation" r:id="rId4" imgW="1447800" imgH="457200" progId="Equation.DSMT4">
                  <p:embed/>
                </p:oleObj>
              </mc:Choice>
              <mc:Fallback>
                <p:oleObj name="Equation" r:id="rId4" imgW="1447800" imgH="457200" progId="Equation.DSMT4">
                  <p:embed/>
                  <p:pic>
                    <p:nvPicPr>
                      <p:cNvPr id="13"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226" y="4957346"/>
                        <a:ext cx="3394075" cy="1071563"/>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12762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ox(in)">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ox(in)">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ox(in)">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2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Text Box 6">
            <a:extLst>
              <a:ext uri="{FF2B5EF4-FFF2-40B4-BE49-F238E27FC236}">
                <a16:creationId xmlns:a16="http://schemas.microsoft.com/office/drawing/2014/main" id="{33F39DBE-508C-4ED6-A6F2-902BA7E010BA}"/>
              </a:ext>
            </a:extLst>
          </p:cNvPr>
          <p:cNvSpPr txBox="1">
            <a:spLocks noChangeArrowheads="1"/>
          </p:cNvSpPr>
          <p:nvPr/>
        </p:nvSpPr>
        <p:spPr bwMode="auto">
          <a:xfrm>
            <a:off x="1631156" y="1370807"/>
            <a:ext cx="4071937" cy="733425"/>
          </a:xfrm>
          <a:prstGeom prst="rect">
            <a:avLst/>
          </a:prstGeom>
          <a:noFill/>
          <a:ln w="9525">
            <a:noFill/>
            <a:miter lim="800000"/>
            <a:headEnd/>
            <a:tailEnd/>
          </a:ln>
        </p:spPr>
        <p:txBody>
          <a:bodyPr>
            <a:spAutoFit/>
          </a:bodyPr>
          <a:lstStyle/>
          <a:p>
            <a:pPr defTabSz="914400">
              <a:lnSpc>
                <a:spcPct val="150000"/>
              </a:lnSpc>
              <a:spcBef>
                <a:spcPct val="50000"/>
              </a:spcBef>
            </a:pPr>
            <a:r>
              <a:rPr kumimoji="1" lang="zh-CN" altLang="en-US" sz="2800" b="1" dirty="0">
                <a:latin typeface="Times New Roman" pitchFamily="18" charset="0"/>
                <a:ea typeface="微软雅黑" pitchFamily="34" charset="-122"/>
                <a:cs typeface="Times New Roman" pitchFamily="18" charset="0"/>
              </a:rPr>
              <a:t>同样，对于暗视觉有</a:t>
            </a:r>
            <a:endParaRPr kumimoji="1" lang="en-US" altLang="zh-CN" b="1" dirty="0">
              <a:latin typeface="Times New Roman" pitchFamily="18" charset="0"/>
              <a:ea typeface="微软雅黑" pitchFamily="34" charset="-122"/>
              <a:cs typeface="Times New Roman" pitchFamily="18" charset="0"/>
            </a:endParaRPr>
          </a:p>
        </p:txBody>
      </p:sp>
      <p:graphicFrame>
        <p:nvGraphicFramePr>
          <p:cNvPr id="15" name="Object 3">
            <a:extLst>
              <a:ext uri="{FF2B5EF4-FFF2-40B4-BE49-F238E27FC236}">
                <a16:creationId xmlns:a16="http://schemas.microsoft.com/office/drawing/2014/main" id="{88D682DE-F765-4EBA-B152-31B9DC43BF70}"/>
              </a:ext>
            </a:extLst>
          </p:cNvPr>
          <p:cNvGraphicFramePr>
            <a:graphicFrameLocks noChangeAspect="1"/>
          </p:cNvGraphicFramePr>
          <p:nvPr>
            <p:extLst>
              <p:ext uri="{D42A27DB-BD31-4B8C-83A1-F6EECF244321}">
                <p14:modId xmlns:p14="http://schemas.microsoft.com/office/powerpoint/2010/main" val="1271222303"/>
              </p:ext>
            </p:extLst>
          </p:nvPr>
        </p:nvGraphicFramePr>
        <p:xfrm>
          <a:off x="5703093" y="1254974"/>
          <a:ext cx="3632200" cy="1071563"/>
        </p:xfrm>
        <a:graphic>
          <a:graphicData uri="http://schemas.openxmlformats.org/presentationml/2006/ole">
            <mc:AlternateContent xmlns:mc="http://schemas.openxmlformats.org/markup-compatibility/2006">
              <mc:Choice xmlns:v="urn:schemas-microsoft-com:vml" Requires="v">
                <p:oleObj name="Equation" r:id="rId2" imgW="1549080" imgH="457200" progId="Equation.DSMT4">
                  <p:embed/>
                </p:oleObj>
              </mc:Choice>
              <mc:Fallback>
                <p:oleObj name="Equation" r:id="rId2" imgW="1549080" imgH="457200" progId="Equation.DSMT4">
                  <p:embed/>
                  <p:pic>
                    <p:nvPicPr>
                      <p:cNvPr id="9523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3093" y="1254974"/>
                        <a:ext cx="3632200" cy="1071563"/>
                      </a:xfrm>
                      <a:prstGeom prst="rect">
                        <a:avLst/>
                      </a:prstGeom>
                      <a:solidFill>
                        <a:srgbClr val="FF99CC"/>
                      </a:solidFill>
                    </p:spPr>
                  </p:pic>
                </p:oleObj>
              </mc:Fallback>
            </mc:AlternateContent>
          </a:graphicData>
        </a:graphic>
      </p:graphicFrame>
      <p:graphicFrame>
        <p:nvGraphicFramePr>
          <p:cNvPr id="16" name="Object 4">
            <a:extLst>
              <a:ext uri="{FF2B5EF4-FFF2-40B4-BE49-F238E27FC236}">
                <a16:creationId xmlns:a16="http://schemas.microsoft.com/office/drawing/2014/main" id="{34CC7CC6-8B5B-45CC-974F-6C33F7CF980B}"/>
              </a:ext>
            </a:extLst>
          </p:cNvPr>
          <p:cNvGraphicFramePr>
            <a:graphicFrameLocks noChangeAspect="1"/>
          </p:cNvGraphicFramePr>
          <p:nvPr>
            <p:extLst>
              <p:ext uri="{D42A27DB-BD31-4B8C-83A1-F6EECF244321}">
                <p14:modId xmlns:p14="http://schemas.microsoft.com/office/powerpoint/2010/main" val="1845153375"/>
              </p:ext>
            </p:extLst>
          </p:nvPr>
        </p:nvGraphicFramePr>
        <p:xfrm>
          <a:off x="5703093" y="2766067"/>
          <a:ext cx="2589213" cy="655637"/>
        </p:xfrm>
        <a:graphic>
          <a:graphicData uri="http://schemas.openxmlformats.org/presentationml/2006/ole">
            <mc:AlternateContent xmlns:mc="http://schemas.openxmlformats.org/markup-compatibility/2006">
              <mc:Choice xmlns:v="urn:schemas-microsoft-com:vml" Requires="v">
                <p:oleObj name="Equation" r:id="rId4" imgW="1104840" imgH="279360" progId="Equation.DSMT4">
                  <p:embed/>
                </p:oleObj>
              </mc:Choice>
              <mc:Fallback>
                <p:oleObj name="Equation" r:id="rId4" imgW="1104840" imgH="279360" progId="Equation.DSMT4">
                  <p:embed/>
                  <p:pic>
                    <p:nvPicPr>
                      <p:cNvPr id="9523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3093" y="2766067"/>
                        <a:ext cx="2589213" cy="655637"/>
                      </a:xfrm>
                      <a:prstGeom prst="rect">
                        <a:avLst/>
                      </a:prstGeom>
                      <a:solidFill>
                        <a:srgbClr val="FF99CC"/>
                      </a:solidFill>
                    </p:spPr>
                  </p:pic>
                </p:oleObj>
              </mc:Fallback>
            </mc:AlternateContent>
          </a:graphicData>
        </a:graphic>
      </p:graphicFrame>
      <p:sp>
        <p:nvSpPr>
          <p:cNvPr id="17" name="Text Box 6">
            <a:extLst>
              <a:ext uri="{FF2B5EF4-FFF2-40B4-BE49-F238E27FC236}">
                <a16:creationId xmlns:a16="http://schemas.microsoft.com/office/drawing/2014/main" id="{BC2BD025-7C58-440F-9E24-3B798F559D0E}"/>
              </a:ext>
            </a:extLst>
          </p:cNvPr>
          <p:cNvSpPr txBox="1">
            <a:spLocks noChangeArrowheads="1"/>
          </p:cNvSpPr>
          <p:nvPr/>
        </p:nvSpPr>
        <p:spPr bwMode="auto">
          <a:xfrm>
            <a:off x="3422650" y="2717817"/>
            <a:ext cx="1143000" cy="733425"/>
          </a:xfrm>
          <a:prstGeom prst="rect">
            <a:avLst/>
          </a:prstGeom>
          <a:noFill/>
          <a:ln w="9525">
            <a:noFill/>
            <a:miter lim="800000"/>
            <a:headEnd/>
            <a:tailEnd/>
          </a:ln>
        </p:spPr>
        <p:txBody>
          <a:bodyPr>
            <a:spAutoFit/>
          </a:bodyPr>
          <a:lstStyle/>
          <a:p>
            <a:pPr defTabSz="914400">
              <a:lnSpc>
                <a:spcPct val="150000"/>
              </a:lnSpc>
              <a:spcBef>
                <a:spcPct val="50000"/>
              </a:spcBef>
            </a:pPr>
            <a:r>
              <a:rPr kumimoji="1" lang="zh-CN" altLang="en-US" sz="2800" b="1" dirty="0">
                <a:latin typeface="Times New Roman" pitchFamily="18" charset="0"/>
                <a:ea typeface="微软雅黑" pitchFamily="34" charset="-122"/>
                <a:cs typeface="Times New Roman" pitchFamily="18" charset="0"/>
              </a:rPr>
              <a:t>式中</a:t>
            </a:r>
            <a:endParaRPr kumimoji="1" lang="en-US" altLang="zh-CN" sz="2800" b="1" dirty="0">
              <a:latin typeface="Times New Roman" pitchFamily="18" charset="0"/>
              <a:ea typeface="微软雅黑" pitchFamily="34" charset="-122"/>
              <a:cs typeface="Times New Roman" pitchFamily="18" charset="0"/>
            </a:endParaRPr>
          </a:p>
        </p:txBody>
      </p:sp>
      <p:sp>
        <p:nvSpPr>
          <p:cNvPr id="18" name="Text Box 12">
            <a:extLst>
              <a:ext uri="{FF2B5EF4-FFF2-40B4-BE49-F238E27FC236}">
                <a16:creationId xmlns:a16="http://schemas.microsoft.com/office/drawing/2014/main" id="{A80181E1-7CAF-4BE4-ADBD-243501E958BB}"/>
              </a:ext>
            </a:extLst>
          </p:cNvPr>
          <p:cNvSpPr txBox="1">
            <a:spLocks noChangeArrowheads="1"/>
          </p:cNvSpPr>
          <p:nvPr/>
        </p:nvSpPr>
        <p:spPr bwMode="auto">
          <a:xfrm>
            <a:off x="1976961" y="4089552"/>
            <a:ext cx="8072438" cy="519113"/>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微软雅黑" pitchFamily="34" charset="-122"/>
                <a:ea typeface="微软雅黑" pitchFamily="34" charset="-122"/>
              </a:rPr>
              <a:t>如：对于光谱光通量与辐通量关系可以表示为</a:t>
            </a:r>
          </a:p>
        </p:txBody>
      </p:sp>
      <p:graphicFrame>
        <p:nvGraphicFramePr>
          <p:cNvPr id="19" name="Object 13">
            <a:extLst>
              <a:ext uri="{FF2B5EF4-FFF2-40B4-BE49-F238E27FC236}">
                <a16:creationId xmlns:a16="http://schemas.microsoft.com/office/drawing/2014/main" id="{E5788EA2-5F57-47C3-BAF9-3FF8D9DCB187}"/>
              </a:ext>
            </a:extLst>
          </p:cNvPr>
          <p:cNvGraphicFramePr>
            <a:graphicFrameLocks noChangeAspect="1"/>
          </p:cNvGraphicFramePr>
          <p:nvPr>
            <p:extLst>
              <p:ext uri="{D42A27DB-BD31-4B8C-83A1-F6EECF244321}">
                <p14:modId xmlns:p14="http://schemas.microsoft.com/office/powerpoint/2010/main" val="1332114731"/>
              </p:ext>
            </p:extLst>
          </p:nvPr>
        </p:nvGraphicFramePr>
        <p:xfrm>
          <a:off x="4118171" y="4748078"/>
          <a:ext cx="4586287" cy="638175"/>
        </p:xfrm>
        <a:graphic>
          <a:graphicData uri="http://schemas.openxmlformats.org/presentationml/2006/ole">
            <mc:AlternateContent xmlns:mc="http://schemas.openxmlformats.org/markup-compatibility/2006">
              <mc:Choice xmlns:v="urn:schemas-microsoft-com:vml" Requires="v">
                <p:oleObj name="Equation" r:id="rId6" imgW="1739880" imgH="241200" progId="Equation.DSMT4">
                  <p:embed/>
                </p:oleObj>
              </mc:Choice>
              <mc:Fallback>
                <p:oleObj name="Equation" r:id="rId6" imgW="1739880" imgH="241200" progId="Equation.DSMT4">
                  <p:embed/>
                  <p:pic>
                    <p:nvPicPr>
                      <p:cNvPr id="17"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8171" y="4748078"/>
                        <a:ext cx="4586287" cy="6381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4">
            <a:extLst>
              <a:ext uri="{FF2B5EF4-FFF2-40B4-BE49-F238E27FC236}">
                <a16:creationId xmlns:a16="http://schemas.microsoft.com/office/drawing/2014/main" id="{33250AAF-DF97-4BB4-9D63-4DBF16A1E80F}"/>
              </a:ext>
            </a:extLst>
          </p:cNvPr>
          <p:cNvSpPr txBox="1">
            <a:spLocks noChangeArrowheads="1"/>
          </p:cNvSpPr>
          <p:nvPr/>
        </p:nvSpPr>
        <p:spPr bwMode="auto">
          <a:xfrm>
            <a:off x="1906318" y="5598319"/>
            <a:ext cx="8213725" cy="519112"/>
          </a:xfrm>
          <a:prstGeom prst="rect">
            <a:avLst/>
          </a:prstGeom>
          <a:noFill/>
          <a:ln w="9525">
            <a:noFill/>
            <a:miter lim="800000"/>
            <a:headEnd/>
            <a:tailEnd/>
          </a:ln>
        </p:spPr>
        <p:txBody>
          <a:bodyPr>
            <a:spAutoFit/>
          </a:bodyPr>
          <a:lstStyle/>
          <a:p>
            <a:pPr defTabSz="914400">
              <a:spcBef>
                <a:spcPct val="50000"/>
              </a:spcBef>
            </a:pPr>
            <a:r>
              <a:rPr lang="zh-CN" altLang="en-US" sz="2800" b="1" dirty="0">
                <a:latin typeface="微软雅黑" pitchFamily="34" charset="-122"/>
                <a:ea typeface="微软雅黑" pitchFamily="34" charset="-122"/>
              </a:rPr>
              <a:t>对于多波长时，光度量与辐射度量关系可以表示为</a:t>
            </a:r>
          </a:p>
        </p:txBody>
      </p:sp>
      <p:graphicFrame>
        <p:nvGraphicFramePr>
          <p:cNvPr id="22" name="Object 15">
            <a:extLst>
              <a:ext uri="{FF2B5EF4-FFF2-40B4-BE49-F238E27FC236}">
                <a16:creationId xmlns:a16="http://schemas.microsoft.com/office/drawing/2014/main" id="{18AE708D-D2A8-4F69-8773-F05DB1BF5D22}"/>
              </a:ext>
            </a:extLst>
          </p:cNvPr>
          <p:cNvGraphicFramePr>
            <a:graphicFrameLocks noChangeAspect="1"/>
          </p:cNvGraphicFramePr>
          <p:nvPr>
            <p:extLst>
              <p:ext uri="{D42A27DB-BD31-4B8C-83A1-F6EECF244321}">
                <p14:modId xmlns:p14="http://schemas.microsoft.com/office/powerpoint/2010/main" val="3111644428"/>
              </p:ext>
            </p:extLst>
          </p:nvPr>
        </p:nvGraphicFramePr>
        <p:xfrm>
          <a:off x="4435672" y="6138913"/>
          <a:ext cx="3951287" cy="939800"/>
        </p:xfrm>
        <a:graphic>
          <a:graphicData uri="http://schemas.openxmlformats.org/presentationml/2006/ole">
            <mc:AlternateContent xmlns:mc="http://schemas.openxmlformats.org/markup-compatibility/2006">
              <mc:Choice xmlns:v="urn:schemas-microsoft-com:vml" Requires="v">
                <p:oleObj name="Equation" r:id="rId8" imgW="1498320" imgH="355320" progId="Equation.DSMT4">
                  <p:embed/>
                </p:oleObj>
              </mc:Choice>
              <mc:Fallback>
                <p:oleObj name="Equation" r:id="rId8" imgW="1498320" imgH="355320" progId="Equation.DSMT4">
                  <p:embed/>
                  <p:pic>
                    <p:nvPicPr>
                      <p:cNvPr id="19"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35672" y="6138913"/>
                        <a:ext cx="3951287" cy="9398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1737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i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i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i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ox(i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ox(in)">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ox(i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ox(in)">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3" name="Rectangle 4">
            <a:extLst>
              <a:ext uri="{FF2B5EF4-FFF2-40B4-BE49-F238E27FC236}">
                <a16:creationId xmlns:a16="http://schemas.microsoft.com/office/drawing/2014/main" id="{97D2EDFF-53CB-451B-8EE3-9FE20D78D138}"/>
              </a:ext>
            </a:extLst>
          </p:cNvPr>
          <p:cNvSpPr>
            <a:spLocks noChangeArrowheads="1"/>
          </p:cNvSpPr>
          <p:nvPr/>
        </p:nvSpPr>
        <p:spPr bwMode="auto">
          <a:xfrm>
            <a:off x="352425" y="1490340"/>
            <a:ext cx="12915706" cy="1336675"/>
          </a:xfrm>
          <a:prstGeom prst="rect">
            <a:avLst/>
          </a:prstGeom>
          <a:noFill/>
          <a:ln w="9525">
            <a:noFill/>
            <a:miter lim="800000"/>
            <a:headEnd/>
            <a:tailEnd/>
          </a:ln>
        </p:spPr>
        <p:txBody>
          <a:bodyPr/>
          <a:lstStyle/>
          <a:p>
            <a:pPr marL="742950" lvl="1" indent="-285750" algn="just" defTabSz="914400">
              <a:lnSpc>
                <a:spcPct val="150000"/>
              </a:lnSpc>
              <a:spcBef>
                <a:spcPct val="20000"/>
              </a:spcBef>
              <a:buFont typeface="Wingdings" pitchFamily="2" charset="2"/>
              <a:buNone/>
            </a:pPr>
            <a:r>
              <a:rPr lang="zh-CN" altLang="en-US" sz="2800" b="1" dirty="0">
                <a:solidFill>
                  <a:srgbClr val="FF0000"/>
                </a:solidFill>
                <a:latin typeface="Times New Roman" pitchFamily="18" charset="0"/>
                <a:ea typeface="微软雅黑" pitchFamily="34" charset="-122"/>
                <a:cs typeface="Times New Roman" pitchFamily="18" charset="0"/>
              </a:rPr>
              <a:t>例 </a:t>
            </a:r>
            <a:r>
              <a:rPr lang="zh-CN" altLang="en-US" sz="2800" b="1" dirty="0">
                <a:latin typeface="Times New Roman" pitchFamily="18" charset="0"/>
                <a:ea typeface="微软雅黑" pitchFamily="34" charset="-122"/>
                <a:cs typeface="Times New Roman" pitchFamily="18" charset="0"/>
              </a:rPr>
              <a:t>已知某</a:t>
            </a:r>
            <a:r>
              <a:rPr lang="en-US" altLang="zh-CN" sz="2800" b="1" dirty="0">
                <a:latin typeface="Times New Roman" pitchFamily="18" charset="0"/>
                <a:ea typeface="微软雅黑" pitchFamily="34" charset="-122"/>
                <a:cs typeface="Times New Roman" pitchFamily="18" charset="0"/>
              </a:rPr>
              <a:t>He-Ne</a:t>
            </a:r>
            <a:r>
              <a:rPr lang="zh-CN" altLang="en-US" sz="2800" b="1" dirty="0">
                <a:latin typeface="Times New Roman" pitchFamily="18" charset="0"/>
                <a:ea typeface="微软雅黑" pitchFamily="34" charset="-122"/>
                <a:cs typeface="Times New Roman" pitchFamily="18" charset="0"/>
              </a:rPr>
              <a:t>激光器的输出功率为</a:t>
            </a:r>
            <a:r>
              <a:rPr lang="en-US" altLang="zh-CN" sz="2800" b="1" dirty="0">
                <a:latin typeface="Times New Roman" pitchFamily="18" charset="0"/>
                <a:ea typeface="微软雅黑" pitchFamily="34" charset="-122"/>
                <a:cs typeface="Times New Roman" pitchFamily="18" charset="0"/>
              </a:rPr>
              <a:t>3mW</a:t>
            </a:r>
            <a:r>
              <a:rPr lang="zh-CN" altLang="en-US" sz="2800" b="1" dirty="0">
                <a:latin typeface="Times New Roman" pitchFamily="18" charset="0"/>
                <a:ea typeface="微软雅黑" pitchFamily="34" charset="-122"/>
                <a:cs typeface="Times New Roman" pitchFamily="18" charset="0"/>
              </a:rPr>
              <a:t>，试计算其发出的光通量为多少</a:t>
            </a:r>
            <a:r>
              <a:rPr lang="en-US" altLang="zh-CN" sz="2800" b="1" dirty="0">
                <a:latin typeface="Times New Roman" pitchFamily="18" charset="0"/>
                <a:ea typeface="微软雅黑" pitchFamily="34" charset="-122"/>
                <a:cs typeface="Times New Roman" pitchFamily="18" charset="0"/>
              </a:rPr>
              <a:t>lm</a:t>
            </a:r>
            <a:r>
              <a:rPr lang="zh-CN" altLang="en-US" sz="2800" b="1" dirty="0">
                <a:latin typeface="Times New Roman" pitchFamily="18" charset="0"/>
                <a:ea typeface="微软雅黑" pitchFamily="34" charset="-122"/>
                <a:cs typeface="Times New Roman" pitchFamily="18" charset="0"/>
              </a:rPr>
              <a:t>？</a:t>
            </a:r>
          </a:p>
          <a:p>
            <a:pPr marL="742950" lvl="1" indent="-285750" algn="just" defTabSz="914400">
              <a:lnSpc>
                <a:spcPct val="150000"/>
              </a:lnSpc>
              <a:spcBef>
                <a:spcPct val="20000"/>
              </a:spcBef>
              <a:buFont typeface="Wingdings" pitchFamily="2" charset="2"/>
              <a:buChar char="v"/>
            </a:pPr>
            <a:endParaRPr lang="zh-CN" altLang="en-US" sz="2800" dirty="0">
              <a:latin typeface="Times New Roman" pitchFamily="18" charset="0"/>
              <a:ea typeface="微软雅黑" pitchFamily="34" charset="-122"/>
              <a:cs typeface="Times New Roman" pitchFamily="18" charset="0"/>
            </a:endParaRPr>
          </a:p>
          <a:p>
            <a:pPr marL="742950" lvl="1" indent="-285750" defTabSz="914400">
              <a:lnSpc>
                <a:spcPct val="150000"/>
              </a:lnSpc>
              <a:spcBef>
                <a:spcPct val="20000"/>
              </a:spcBef>
              <a:buFont typeface="Wingdings" pitchFamily="2" charset="2"/>
              <a:buChar char="v"/>
            </a:pPr>
            <a:endParaRPr lang="zh-CN" altLang="en-US" sz="2800" dirty="0">
              <a:latin typeface="Times New Roman" pitchFamily="18" charset="0"/>
              <a:ea typeface="微软雅黑" pitchFamily="34" charset="-122"/>
              <a:cs typeface="Times New Roman" pitchFamily="18" charset="0"/>
            </a:endParaRPr>
          </a:p>
        </p:txBody>
      </p:sp>
      <p:sp>
        <p:nvSpPr>
          <p:cNvPr id="24" name="Text Box 5">
            <a:extLst>
              <a:ext uri="{FF2B5EF4-FFF2-40B4-BE49-F238E27FC236}">
                <a16:creationId xmlns:a16="http://schemas.microsoft.com/office/drawing/2014/main" id="{43EAD9D6-4126-408A-881B-0E56D2AC31A3}"/>
              </a:ext>
            </a:extLst>
          </p:cNvPr>
          <p:cNvSpPr txBox="1">
            <a:spLocks noChangeArrowheads="1"/>
          </p:cNvSpPr>
          <p:nvPr/>
        </p:nvSpPr>
        <p:spPr bwMode="auto">
          <a:xfrm>
            <a:off x="432517" y="2823771"/>
            <a:ext cx="12280360" cy="580865"/>
          </a:xfrm>
          <a:prstGeom prst="rect">
            <a:avLst/>
          </a:prstGeom>
          <a:noFill/>
          <a:ln w="9525">
            <a:noFill/>
            <a:miter lim="800000"/>
            <a:headEnd/>
            <a:tailEnd/>
          </a:ln>
        </p:spPr>
        <p:txBody>
          <a:bodyPr wrap="square">
            <a:spAutoFit/>
          </a:bodyPr>
          <a:lstStyle/>
          <a:p>
            <a:pPr marL="457200" lvl="1" indent="0" defTabSz="914400">
              <a:lnSpc>
                <a:spcPct val="150000"/>
              </a:lnSpc>
            </a:pPr>
            <a:r>
              <a:rPr lang="zh-CN" altLang="en-US" sz="2400" b="1" dirty="0">
                <a:latin typeface="Times New Roman" pitchFamily="18" charset="0"/>
                <a:ea typeface="微软雅黑" pitchFamily="34" charset="-122"/>
                <a:cs typeface="Times New Roman" pitchFamily="18" charset="0"/>
              </a:rPr>
              <a:t>解：  </a:t>
            </a:r>
            <a:r>
              <a:rPr lang="en-US" altLang="zh-CN" sz="2400" b="1" dirty="0">
                <a:latin typeface="Times New Roman" pitchFamily="18" charset="0"/>
                <a:ea typeface="微软雅黑" pitchFamily="34" charset="-122"/>
                <a:cs typeface="Times New Roman" pitchFamily="18" charset="0"/>
              </a:rPr>
              <a:t>He-Ne</a:t>
            </a:r>
            <a:r>
              <a:rPr lang="zh-CN" altLang="en-US" sz="2400" b="1" dirty="0">
                <a:latin typeface="Times New Roman" pitchFamily="18" charset="0"/>
                <a:ea typeface="微软雅黑" pitchFamily="34" charset="-122"/>
                <a:cs typeface="Times New Roman" pitchFamily="18" charset="0"/>
              </a:rPr>
              <a:t>激光器输出的光为光谱辐射通量，可以计算出它发出的光通量为</a:t>
            </a:r>
          </a:p>
        </p:txBody>
      </p:sp>
      <p:sp>
        <p:nvSpPr>
          <p:cNvPr id="27" name="Text Box 6">
            <a:extLst>
              <a:ext uri="{FF2B5EF4-FFF2-40B4-BE49-F238E27FC236}">
                <a16:creationId xmlns:a16="http://schemas.microsoft.com/office/drawing/2014/main" id="{F45C4E31-755F-4F3D-922C-850CFB3F53E0}"/>
              </a:ext>
            </a:extLst>
          </p:cNvPr>
          <p:cNvSpPr txBox="1">
            <a:spLocks noChangeArrowheads="1"/>
          </p:cNvSpPr>
          <p:nvPr/>
        </p:nvSpPr>
        <p:spPr bwMode="auto">
          <a:xfrm>
            <a:off x="3330873" y="3850617"/>
            <a:ext cx="5327650" cy="733425"/>
          </a:xfrm>
          <a:prstGeom prst="rect">
            <a:avLst/>
          </a:prstGeom>
          <a:noFill/>
          <a:ln w="9525">
            <a:noFill/>
            <a:miter lim="800000"/>
            <a:headEnd/>
            <a:tailEnd/>
          </a:ln>
        </p:spPr>
        <p:txBody>
          <a:bodyPr>
            <a:spAutoFit/>
          </a:bodyPr>
          <a:lstStyle/>
          <a:p>
            <a:pPr marL="457200" lvl="1" indent="0" defTabSz="914400">
              <a:lnSpc>
                <a:spcPct val="150000"/>
              </a:lnSpc>
            </a:pPr>
            <a:r>
              <a:rPr lang="en-US" altLang="zh-CN" sz="2800" i="1" dirty="0" err="1">
                <a:latin typeface="Times New Roman" pitchFamily="18" charset="0"/>
                <a:ea typeface="微软雅黑" pitchFamily="34" charset="-122"/>
                <a:cs typeface="Times New Roman" pitchFamily="18" charset="0"/>
              </a:rPr>
              <a:t>Φ</a:t>
            </a:r>
            <a:r>
              <a:rPr lang="en-US" altLang="zh-CN" sz="2800" baseline="-25000" dirty="0" err="1">
                <a:latin typeface="Times New Roman" pitchFamily="18" charset="0"/>
                <a:ea typeface="微软雅黑" pitchFamily="34" charset="-122"/>
                <a:cs typeface="Times New Roman" pitchFamily="18" charset="0"/>
              </a:rPr>
              <a:t>v</a:t>
            </a:r>
            <a:r>
              <a:rPr lang="en-US" altLang="zh-CN" sz="2800" dirty="0">
                <a:latin typeface="Times New Roman" pitchFamily="18" charset="0"/>
                <a:ea typeface="微软雅黑" pitchFamily="34" charset="-122"/>
                <a:cs typeface="Times New Roman" pitchFamily="18" charset="0"/>
              </a:rPr>
              <a:t>=</a:t>
            </a:r>
            <a:r>
              <a:rPr lang="en-US" altLang="zh-CN" sz="2800" i="1" dirty="0" err="1">
                <a:latin typeface="Times New Roman" pitchFamily="18" charset="0"/>
                <a:ea typeface="微软雅黑" pitchFamily="34" charset="-122"/>
                <a:cs typeface="Times New Roman" pitchFamily="18" charset="0"/>
              </a:rPr>
              <a:t>K</a:t>
            </a:r>
            <a:r>
              <a:rPr lang="en-US" altLang="zh-CN" sz="2800" baseline="-25000" dirty="0" err="1">
                <a:latin typeface="Times New Roman" pitchFamily="18" charset="0"/>
                <a:ea typeface="微软雅黑" pitchFamily="34" charset="-122"/>
                <a:cs typeface="Times New Roman" pitchFamily="18" charset="0"/>
              </a:rPr>
              <a:t>λ</a:t>
            </a:r>
            <a:r>
              <a:rPr lang="en-US" altLang="zh-CN" sz="2800" i="1" dirty="0" err="1">
                <a:latin typeface="Times New Roman" pitchFamily="18" charset="0"/>
                <a:ea typeface="微软雅黑" pitchFamily="34" charset="-122"/>
                <a:cs typeface="Times New Roman" pitchFamily="18" charset="0"/>
              </a:rPr>
              <a:t>Φ</a:t>
            </a:r>
            <a:r>
              <a:rPr lang="en-US" altLang="zh-CN" sz="2800" baseline="-25000" dirty="0" err="1">
                <a:latin typeface="Times New Roman" pitchFamily="18" charset="0"/>
                <a:ea typeface="微软雅黑" pitchFamily="34" charset="-122"/>
                <a:cs typeface="Times New Roman" pitchFamily="18" charset="0"/>
              </a:rPr>
              <a:t>e</a:t>
            </a:r>
            <a:r>
              <a:rPr lang="en-US" altLang="zh-CN" sz="2800" dirty="0">
                <a:latin typeface="Times New Roman" pitchFamily="18" charset="0"/>
                <a:ea typeface="微软雅黑" pitchFamily="34" charset="-122"/>
                <a:cs typeface="Times New Roman" pitchFamily="18" charset="0"/>
              </a:rPr>
              <a:t>=</a:t>
            </a:r>
            <a:r>
              <a:rPr lang="en-US" altLang="zh-CN" sz="2800" dirty="0" err="1">
                <a:latin typeface="Times New Roman" pitchFamily="18" charset="0"/>
                <a:ea typeface="微软雅黑" pitchFamily="34" charset="-122"/>
                <a:cs typeface="Times New Roman" pitchFamily="18" charset="0"/>
              </a:rPr>
              <a:t>K</a:t>
            </a:r>
            <a:r>
              <a:rPr lang="en-US" altLang="zh-CN" sz="2800" baseline="-25000" dirty="0" err="1">
                <a:latin typeface="Times New Roman" pitchFamily="18" charset="0"/>
                <a:ea typeface="微软雅黑" pitchFamily="34" charset="-122"/>
                <a:cs typeface="Times New Roman" pitchFamily="18" charset="0"/>
              </a:rPr>
              <a:t>m</a:t>
            </a:r>
            <a:r>
              <a:rPr lang="en-US" altLang="zh-CN" sz="2800" dirty="0" err="1">
                <a:latin typeface="Times New Roman" pitchFamily="18" charset="0"/>
                <a:ea typeface="微软雅黑" pitchFamily="34" charset="-122"/>
                <a:cs typeface="Times New Roman" pitchFamily="18" charset="0"/>
              </a:rPr>
              <a:t>V</a:t>
            </a:r>
            <a:r>
              <a:rPr lang="en-US" altLang="zh-CN" sz="2800" dirty="0">
                <a:latin typeface="Times New Roman" pitchFamily="18" charset="0"/>
                <a:ea typeface="微软雅黑" pitchFamily="34" charset="-122"/>
                <a:cs typeface="Times New Roman" pitchFamily="18" charset="0"/>
              </a:rPr>
              <a:t>(λ)</a:t>
            </a:r>
            <a:r>
              <a:rPr lang="en-US" altLang="zh-CN" sz="2800" i="1" dirty="0" err="1">
                <a:latin typeface="Times New Roman" pitchFamily="18" charset="0"/>
                <a:ea typeface="微软雅黑" pitchFamily="34" charset="-122"/>
                <a:cs typeface="Times New Roman" pitchFamily="18" charset="0"/>
              </a:rPr>
              <a:t>Φ</a:t>
            </a:r>
            <a:r>
              <a:rPr lang="en-US" altLang="zh-CN" sz="2800" baseline="-25000" dirty="0" err="1">
                <a:latin typeface="Times New Roman" pitchFamily="18" charset="0"/>
                <a:ea typeface="微软雅黑" pitchFamily="34" charset="-122"/>
                <a:cs typeface="Times New Roman" pitchFamily="18" charset="0"/>
              </a:rPr>
              <a:t>e,λ</a:t>
            </a:r>
            <a:r>
              <a:rPr lang="en-US" altLang="zh-CN" sz="2800" dirty="0">
                <a:latin typeface="Times New Roman" pitchFamily="18" charset="0"/>
                <a:ea typeface="微软雅黑" pitchFamily="34" charset="-122"/>
                <a:cs typeface="Times New Roman" pitchFamily="18" charset="0"/>
              </a:rPr>
              <a:t>        </a:t>
            </a:r>
          </a:p>
        </p:txBody>
      </p:sp>
      <p:sp>
        <p:nvSpPr>
          <p:cNvPr id="28" name="Text Box 7">
            <a:extLst>
              <a:ext uri="{FF2B5EF4-FFF2-40B4-BE49-F238E27FC236}">
                <a16:creationId xmlns:a16="http://schemas.microsoft.com/office/drawing/2014/main" id="{904819B4-E982-4317-AC7A-FD1B6EE21685}"/>
              </a:ext>
            </a:extLst>
          </p:cNvPr>
          <p:cNvSpPr txBox="1">
            <a:spLocks noChangeArrowheads="1"/>
          </p:cNvSpPr>
          <p:nvPr/>
        </p:nvSpPr>
        <p:spPr bwMode="auto">
          <a:xfrm>
            <a:off x="3422650" y="5119974"/>
            <a:ext cx="4824413" cy="733425"/>
          </a:xfrm>
          <a:prstGeom prst="rect">
            <a:avLst/>
          </a:prstGeom>
          <a:noFill/>
          <a:ln w="9525">
            <a:noFill/>
            <a:miter lim="800000"/>
            <a:headEnd/>
            <a:tailEnd/>
          </a:ln>
        </p:spPr>
        <p:txBody>
          <a:bodyPr>
            <a:spAutoFit/>
          </a:bodyPr>
          <a:lstStyle/>
          <a:p>
            <a:pPr marL="457200" lvl="1" indent="0" defTabSz="914400">
              <a:lnSpc>
                <a:spcPct val="150000"/>
              </a:lnSpc>
            </a:pPr>
            <a:r>
              <a:rPr lang="en-US" altLang="zh-CN" sz="2800" dirty="0">
                <a:latin typeface="Times New Roman" pitchFamily="18" charset="0"/>
                <a:ea typeface="微软雅黑" pitchFamily="34" charset="-122"/>
                <a:cs typeface="Times New Roman" pitchFamily="18" charset="0"/>
              </a:rPr>
              <a:t>=683×0.24×3×10</a:t>
            </a:r>
            <a:r>
              <a:rPr lang="en-US" altLang="zh-CN" sz="2800" baseline="30000" dirty="0">
                <a:latin typeface="Times New Roman" pitchFamily="18" charset="0"/>
                <a:ea typeface="微软雅黑" pitchFamily="34" charset="-122"/>
                <a:cs typeface="Times New Roman" pitchFamily="18" charset="0"/>
              </a:rPr>
              <a:t>-3</a:t>
            </a:r>
            <a:r>
              <a:rPr lang="en-US" altLang="zh-CN" sz="2800" dirty="0">
                <a:latin typeface="Times New Roman" pitchFamily="18" charset="0"/>
                <a:ea typeface="微软雅黑" pitchFamily="34" charset="-122"/>
                <a:cs typeface="Times New Roman" pitchFamily="18" charset="0"/>
              </a:rPr>
              <a:t>     </a:t>
            </a:r>
            <a:endParaRPr lang="zh-CN" altLang="en-US" sz="2800" dirty="0">
              <a:latin typeface="Times New Roman" pitchFamily="18" charset="0"/>
              <a:ea typeface="微软雅黑" pitchFamily="34" charset="-122"/>
              <a:cs typeface="Times New Roman" pitchFamily="18" charset="0"/>
            </a:endParaRPr>
          </a:p>
        </p:txBody>
      </p:sp>
      <p:sp>
        <p:nvSpPr>
          <p:cNvPr id="29" name="Text Box 8">
            <a:extLst>
              <a:ext uri="{FF2B5EF4-FFF2-40B4-BE49-F238E27FC236}">
                <a16:creationId xmlns:a16="http://schemas.microsoft.com/office/drawing/2014/main" id="{E4D4F3B4-E5FB-4DED-8F31-39CB1B0E8D73}"/>
              </a:ext>
            </a:extLst>
          </p:cNvPr>
          <p:cNvSpPr txBox="1">
            <a:spLocks noChangeArrowheads="1"/>
          </p:cNvSpPr>
          <p:nvPr/>
        </p:nvSpPr>
        <p:spPr bwMode="auto">
          <a:xfrm>
            <a:off x="3817937" y="6191839"/>
            <a:ext cx="4537075" cy="733425"/>
          </a:xfrm>
          <a:prstGeom prst="rect">
            <a:avLst/>
          </a:prstGeom>
          <a:noFill/>
          <a:ln w="9525">
            <a:noFill/>
            <a:miter lim="800000"/>
            <a:headEnd/>
            <a:tailEnd/>
          </a:ln>
        </p:spPr>
        <p:txBody>
          <a:bodyPr>
            <a:spAutoFit/>
          </a:bodyPr>
          <a:lstStyle/>
          <a:p>
            <a:pPr marL="457200" lvl="1" indent="0" defTabSz="914400">
              <a:lnSpc>
                <a:spcPct val="150000"/>
              </a:lnSpc>
            </a:pPr>
            <a:r>
              <a:rPr lang="en-US" altLang="zh-CN" sz="2800" dirty="0">
                <a:latin typeface="Times New Roman" pitchFamily="18" charset="0"/>
                <a:ea typeface="微软雅黑" pitchFamily="34" charset="-122"/>
                <a:cs typeface="Times New Roman" pitchFamily="18" charset="0"/>
              </a:rPr>
              <a:t>=0.492(lm)</a:t>
            </a:r>
            <a:endParaRPr lang="zh-CN" altLang="en-US" sz="2800" dirty="0">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355021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ox(in)">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ox(in)">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amond(in)">
                                      <p:cBhvr>
                                        <p:cTn id="22" dur="20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linds(horizontal)">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24" grpId="0"/>
      <p:bldP spid="27" grpId="0"/>
      <p:bldP spid="28" grpId="0"/>
      <p:bldP spid="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光谱光视效率</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4" name="Object 4">
            <a:extLst>
              <a:ext uri="{FF2B5EF4-FFF2-40B4-BE49-F238E27FC236}">
                <a16:creationId xmlns:a16="http://schemas.microsoft.com/office/drawing/2014/main" id="{D5B7171E-3169-429B-9595-51CC0618D799}"/>
              </a:ext>
            </a:extLst>
          </p:cNvPr>
          <p:cNvGraphicFramePr>
            <a:graphicFrameLocks noChangeAspect="1"/>
          </p:cNvGraphicFramePr>
          <p:nvPr/>
        </p:nvGraphicFramePr>
        <p:xfrm>
          <a:off x="5493544" y="1991063"/>
          <a:ext cx="542925" cy="576262"/>
        </p:xfrm>
        <a:graphic>
          <a:graphicData uri="http://schemas.openxmlformats.org/presentationml/2006/ole">
            <mc:AlternateContent xmlns:mc="http://schemas.openxmlformats.org/markup-compatibility/2006">
              <mc:Choice xmlns:v="urn:schemas-microsoft-com:vml" Requires="v">
                <p:oleObj name="公式" r:id="rId2" imgW="215640" imgH="228600" progId="Equation.3">
                  <p:embed/>
                </p:oleObj>
              </mc:Choice>
              <mc:Fallback>
                <p:oleObj name="公式" r:id="rId2" imgW="215640" imgH="228600" progId="Equation.3">
                  <p:embed/>
                  <p:pic>
                    <p:nvPicPr>
                      <p:cNvPr id="3481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3544" y="1991063"/>
                        <a:ext cx="542925" cy="576262"/>
                      </a:xfrm>
                      <a:prstGeom prst="rect">
                        <a:avLst/>
                      </a:prstGeom>
                      <a:solidFill>
                        <a:srgbClr val="00FFFF"/>
                      </a:solidFill>
                    </p:spPr>
                  </p:pic>
                </p:oleObj>
              </mc:Fallback>
            </mc:AlternateContent>
          </a:graphicData>
        </a:graphic>
      </p:graphicFrame>
      <p:graphicFrame>
        <p:nvGraphicFramePr>
          <p:cNvPr id="15" name="Object 5">
            <a:extLst>
              <a:ext uri="{FF2B5EF4-FFF2-40B4-BE49-F238E27FC236}">
                <a16:creationId xmlns:a16="http://schemas.microsoft.com/office/drawing/2014/main" id="{B7F4A452-9D74-4355-B14C-4674949DBC68}"/>
              </a:ext>
            </a:extLst>
          </p:cNvPr>
          <p:cNvGraphicFramePr>
            <a:graphicFrameLocks noChangeAspect="1"/>
          </p:cNvGraphicFramePr>
          <p:nvPr/>
        </p:nvGraphicFramePr>
        <p:xfrm>
          <a:off x="7774781" y="1259225"/>
          <a:ext cx="606425" cy="576263"/>
        </p:xfrm>
        <a:graphic>
          <a:graphicData uri="http://schemas.openxmlformats.org/presentationml/2006/ole">
            <mc:AlternateContent xmlns:mc="http://schemas.openxmlformats.org/markup-compatibility/2006">
              <mc:Choice xmlns:v="urn:schemas-microsoft-com:vml" Requires="v">
                <p:oleObj name="公式" r:id="rId4" imgW="241200" imgH="228600" progId="Equation.3">
                  <p:embed/>
                </p:oleObj>
              </mc:Choice>
              <mc:Fallback>
                <p:oleObj name="公式" r:id="rId4" imgW="241200" imgH="228600" progId="Equation.3">
                  <p:embed/>
                  <p:pic>
                    <p:nvPicPr>
                      <p:cNvPr id="3481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4781" y="1259225"/>
                        <a:ext cx="606425" cy="576263"/>
                      </a:xfrm>
                      <a:prstGeom prst="rect">
                        <a:avLst/>
                      </a:prstGeom>
                      <a:solidFill>
                        <a:srgbClr val="00FFFF"/>
                      </a:solidFill>
                    </p:spPr>
                  </p:pic>
                </p:oleObj>
              </mc:Fallback>
            </mc:AlternateContent>
          </a:graphicData>
        </a:graphic>
      </p:graphicFrame>
      <p:graphicFrame>
        <p:nvGraphicFramePr>
          <p:cNvPr id="16" name="Object 6">
            <a:extLst>
              <a:ext uri="{FF2B5EF4-FFF2-40B4-BE49-F238E27FC236}">
                <a16:creationId xmlns:a16="http://schemas.microsoft.com/office/drawing/2014/main" id="{CC1CE23A-E1BE-4DE8-833D-FC9B520E8E54}"/>
              </a:ext>
            </a:extLst>
          </p:cNvPr>
          <p:cNvGraphicFramePr>
            <a:graphicFrameLocks noChangeAspect="1"/>
          </p:cNvGraphicFramePr>
          <p:nvPr/>
        </p:nvGraphicFramePr>
        <p:xfrm>
          <a:off x="7893844" y="2848313"/>
          <a:ext cx="384175" cy="576262"/>
        </p:xfrm>
        <a:graphic>
          <a:graphicData uri="http://schemas.openxmlformats.org/presentationml/2006/ole">
            <mc:AlternateContent xmlns:mc="http://schemas.openxmlformats.org/markup-compatibility/2006">
              <mc:Choice xmlns:v="urn:schemas-microsoft-com:vml" Requires="v">
                <p:oleObj name="公式" r:id="rId6" imgW="152280" imgH="228600" progId="Equation.3">
                  <p:embed/>
                </p:oleObj>
              </mc:Choice>
              <mc:Fallback>
                <p:oleObj name="公式" r:id="rId6" imgW="152280" imgH="228600" progId="Equation.3">
                  <p:embed/>
                  <p:pic>
                    <p:nvPicPr>
                      <p:cNvPr id="3482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93844" y="2848313"/>
                        <a:ext cx="384175" cy="576262"/>
                      </a:xfrm>
                      <a:prstGeom prst="rect">
                        <a:avLst/>
                      </a:prstGeom>
                      <a:solidFill>
                        <a:srgbClr val="00FFFF"/>
                      </a:solidFill>
                    </p:spPr>
                  </p:pic>
                </p:oleObj>
              </mc:Fallback>
            </mc:AlternateContent>
          </a:graphicData>
        </a:graphic>
      </p:graphicFrame>
      <p:graphicFrame>
        <p:nvGraphicFramePr>
          <p:cNvPr id="17" name="Object 7">
            <a:extLst>
              <a:ext uri="{FF2B5EF4-FFF2-40B4-BE49-F238E27FC236}">
                <a16:creationId xmlns:a16="http://schemas.microsoft.com/office/drawing/2014/main" id="{E73A29EC-80A0-4CB0-8994-13B0F1843B7A}"/>
              </a:ext>
            </a:extLst>
          </p:cNvPr>
          <p:cNvGraphicFramePr>
            <a:graphicFrameLocks noChangeAspect="1"/>
          </p:cNvGraphicFramePr>
          <p:nvPr/>
        </p:nvGraphicFramePr>
        <p:xfrm>
          <a:off x="10036969" y="2051388"/>
          <a:ext cx="447675" cy="576262"/>
        </p:xfrm>
        <a:graphic>
          <a:graphicData uri="http://schemas.openxmlformats.org/presentationml/2006/ole">
            <mc:AlternateContent xmlns:mc="http://schemas.openxmlformats.org/markup-compatibility/2006">
              <mc:Choice xmlns:v="urn:schemas-microsoft-com:vml" Requires="v">
                <p:oleObj name="公式" r:id="rId8" imgW="177480" imgH="228600" progId="Equation.3">
                  <p:embed/>
                </p:oleObj>
              </mc:Choice>
              <mc:Fallback>
                <p:oleObj name="公式" r:id="rId8" imgW="177480" imgH="228600" progId="Equation.3">
                  <p:embed/>
                  <p:pic>
                    <p:nvPicPr>
                      <p:cNvPr id="3482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36969" y="2051388"/>
                        <a:ext cx="447675" cy="576262"/>
                      </a:xfrm>
                      <a:prstGeom prst="rect">
                        <a:avLst/>
                      </a:prstGeom>
                      <a:solidFill>
                        <a:srgbClr val="00FFFF"/>
                      </a:solidFill>
                    </p:spPr>
                  </p:pic>
                </p:oleObj>
              </mc:Fallback>
            </mc:AlternateContent>
          </a:graphicData>
        </a:graphic>
      </p:graphicFrame>
      <p:graphicFrame>
        <p:nvGraphicFramePr>
          <p:cNvPr id="18" name="Object 8">
            <a:extLst>
              <a:ext uri="{FF2B5EF4-FFF2-40B4-BE49-F238E27FC236}">
                <a16:creationId xmlns:a16="http://schemas.microsoft.com/office/drawing/2014/main" id="{231F488D-3B2C-4F61-9231-20DB4C0A3BBB}"/>
              </a:ext>
            </a:extLst>
          </p:cNvPr>
          <p:cNvGraphicFramePr>
            <a:graphicFrameLocks noChangeAspect="1"/>
          </p:cNvGraphicFramePr>
          <p:nvPr/>
        </p:nvGraphicFramePr>
        <p:xfrm>
          <a:off x="6465094" y="1475125"/>
          <a:ext cx="358775" cy="439738"/>
        </p:xfrm>
        <a:graphic>
          <a:graphicData uri="http://schemas.openxmlformats.org/presentationml/2006/ole">
            <mc:AlternateContent xmlns:mc="http://schemas.openxmlformats.org/markup-compatibility/2006">
              <mc:Choice xmlns:v="urn:schemas-microsoft-com:vml" Requires="v">
                <p:oleObj name="公式" r:id="rId10" imgW="114120" imgH="139680" progId="Equation.3">
                  <p:embed/>
                </p:oleObj>
              </mc:Choice>
              <mc:Fallback>
                <p:oleObj name="公式" r:id="rId10" imgW="114120" imgH="139680" progId="Equation.3">
                  <p:embed/>
                  <p:pic>
                    <p:nvPicPr>
                      <p:cNvPr id="34822"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65094" y="1475125"/>
                        <a:ext cx="358775" cy="439738"/>
                      </a:xfrm>
                      <a:prstGeom prst="rect">
                        <a:avLst/>
                      </a:prstGeom>
                      <a:solidFill>
                        <a:srgbClr val="00FFFF"/>
                      </a:solidFill>
                    </p:spPr>
                  </p:pic>
                </p:oleObj>
              </mc:Fallback>
            </mc:AlternateContent>
          </a:graphicData>
        </a:graphic>
      </p:graphicFrame>
      <p:graphicFrame>
        <p:nvGraphicFramePr>
          <p:cNvPr id="19" name="Object 9">
            <a:extLst>
              <a:ext uri="{FF2B5EF4-FFF2-40B4-BE49-F238E27FC236}">
                <a16:creationId xmlns:a16="http://schemas.microsoft.com/office/drawing/2014/main" id="{41A2C38D-FECD-46BE-B277-4282367D7262}"/>
              </a:ext>
            </a:extLst>
          </p:cNvPr>
          <p:cNvGraphicFramePr>
            <a:graphicFrameLocks noChangeAspect="1"/>
          </p:cNvGraphicFramePr>
          <p:nvPr/>
        </p:nvGraphicFramePr>
        <p:xfrm>
          <a:off x="6536531" y="2705438"/>
          <a:ext cx="415925" cy="417512"/>
        </p:xfrm>
        <a:graphic>
          <a:graphicData uri="http://schemas.openxmlformats.org/presentationml/2006/ole">
            <mc:AlternateContent xmlns:mc="http://schemas.openxmlformats.org/markup-compatibility/2006">
              <mc:Choice xmlns:v="urn:schemas-microsoft-com:vml" Requires="v">
                <p:oleObj name="公式" r:id="rId12" imgW="164880" imgH="164880" progId="Equation.3">
                  <p:embed/>
                </p:oleObj>
              </mc:Choice>
              <mc:Fallback>
                <p:oleObj name="公式" r:id="rId12" imgW="164880" imgH="164880" progId="Equation.3">
                  <p:embed/>
                  <p:pic>
                    <p:nvPicPr>
                      <p:cNvPr id="34823"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36531" y="2705438"/>
                        <a:ext cx="415925" cy="417512"/>
                      </a:xfrm>
                      <a:prstGeom prst="rect">
                        <a:avLst/>
                      </a:prstGeom>
                      <a:solidFill>
                        <a:srgbClr val="00FFFF"/>
                      </a:solidFill>
                    </p:spPr>
                  </p:pic>
                </p:oleObj>
              </mc:Fallback>
            </mc:AlternateContent>
          </a:graphicData>
        </a:graphic>
      </p:graphicFrame>
      <p:sp>
        <p:nvSpPr>
          <p:cNvPr id="21" name="Line 10">
            <a:extLst>
              <a:ext uri="{FF2B5EF4-FFF2-40B4-BE49-F238E27FC236}">
                <a16:creationId xmlns:a16="http://schemas.microsoft.com/office/drawing/2014/main" id="{BE43E8CB-B301-481C-900C-AA133316989E}"/>
              </a:ext>
            </a:extLst>
          </p:cNvPr>
          <p:cNvSpPr>
            <a:spLocks noChangeShapeType="1"/>
          </p:cNvSpPr>
          <p:nvPr/>
        </p:nvSpPr>
        <p:spPr bwMode="auto">
          <a:xfrm flipV="1">
            <a:off x="6077744" y="1546563"/>
            <a:ext cx="1727200" cy="720725"/>
          </a:xfrm>
          <a:prstGeom prst="line">
            <a:avLst/>
          </a:prstGeom>
          <a:noFill/>
          <a:ln w="31750">
            <a:solidFill>
              <a:schemeClr val="tx1"/>
            </a:solidFill>
            <a:round/>
            <a:headEnd/>
            <a:tailEnd type="triangle" w="med" len="med"/>
          </a:ln>
        </p:spPr>
        <p:txBody>
          <a:bodyPr/>
          <a:lstStyle/>
          <a:p>
            <a:endParaRPr lang="zh-CN" altLang="en-US"/>
          </a:p>
        </p:txBody>
      </p:sp>
      <p:sp>
        <p:nvSpPr>
          <p:cNvPr id="22" name="Line 11">
            <a:extLst>
              <a:ext uri="{FF2B5EF4-FFF2-40B4-BE49-F238E27FC236}">
                <a16:creationId xmlns:a16="http://schemas.microsoft.com/office/drawing/2014/main" id="{40AEB322-CBFD-4662-AE5A-DB192C401C64}"/>
              </a:ext>
            </a:extLst>
          </p:cNvPr>
          <p:cNvSpPr>
            <a:spLocks noChangeShapeType="1"/>
          </p:cNvSpPr>
          <p:nvPr/>
        </p:nvSpPr>
        <p:spPr bwMode="auto">
          <a:xfrm>
            <a:off x="6095206" y="2276813"/>
            <a:ext cx="1798638" cy="857250"/>
          </a:xfrm>
          <a:prstGeom prst="line">
            <a:avLst/>
          </a:prstGeom>
          <a:noFill/>
          <a:ln w="31750">
            <a:solidFill>
              <a:schemeClr val="tx1"/>
            </a:solidFill>
            <a:round/>
            <a:headEnd/>
            <a:tailEnd type="triangle" w="med" len="med"/>
          </a:ln>
        </p:spPr>
        <p:txBody>
          <a:bodyPr/>
          <a:lstStyle/>
          <a:p>
            <a:endParaRPr lang="zh-CN" altLang="en-US"/>
          </a:p>
        </p:txBody>
      </p:sp>
      <p:sp>
        <p:nvSpPr>
          <p:cNvPr id="30" name="Line 12">
            <a:extLst>
              <a:ext uri="{FF2B5EF4-FFF2-40B4-BE49-F238E27FC236}">
                <a16:creationId xmlns:a16="http://schemas.microsoft.com/office/drawing/2014/main" id="{8DD291DC-BF7C-4F1E-AF46-92451888E25F}"/>
              </a:ext>
            </a:extLst>
          </p:cNvPr>
          <p:cNvSpPr>
            <a:spLocks noChangeShapeType="1"/>
          </p:cNvSpPr>
          <p:nvPr/>
        </p:nvSpPr>
        <p:spPr bwMode="auto">
          <a:xfrm>
            <a:off x="8381206" y="1619588"/>
            <a:ext cx="1512888" cy="576262"/>
          </a:xfrm>
          <a:prstGeom prst="line">
            <a:avLst/>
          </a:prstGeom>
          <a:noFill/>
          <a:ln w="31750">
            <a:solidFill>
              <a:schemeClr val="tx1"/>
            </a:solidFill>
            <a:round/>
            <a:headEnd/>
            <a:tailEnd type="triangle" w="med" len="med"/>
          </a:ln>
        </p:spPr>
        <p:txBody>
          <a:bodyPr/>
          <a:lstStyle/>
          <a:p>
            <a:endParaRPr lang="zh-CN" altLang="en-US"/>
          </a:p>
        </p:txBody>
      </p:sp>
      <p:sp>
        <p:nvSpPr>
          <p:cNvPr id="31" name="Line 13">
            <a:extLst>
              <a:ext uri="{FF2B5EF4-FFF2-40B4-BE49-F238E27FC236}">
                <a16:creationId xmlns:a16="http://schemas.microsoft.com/office/drawing/2014/main" id="{DB2EAA99-9CF5-4A2B-B68E-1D19444D6849}"/>
              </a:ext>
            </a:extLst>
          </p:cNvPr>
          <p:cNvSpPr>
            <a:spLocks noChangeShapeType="1"/>
          </p:cNvSpPr>
          <p:nvPr/>
        </p:nvSpPr>
        <p:spPr bwMode="auto">
          <a:xfrm flipV="1">
            <a:off x="6095206" y="2284750"/>
            <a:ext cx="3798888" cy="0"/>
          </a:xfrm>
          <a:prstGeom prst="line">
            <a:avLst/>
          </a:prstGeom>
          <a:noFill/>
          <a:ln w="31750">
            <a:solidFill>
              <a:schemeClr val="tx1"/>
            </a:solidFill>
            <a:round/>
            <a:headEnd/>
            <a:tailEnd type="triangle" w="med" len="med"/>
          </a:ln>
        </p:spPr>
        <p:txBody>
          <a:bodyPr/>
          <a:lstStyle/>
          <a:p>
            <a:endParaRPr lang="zh-CN" altLang="en-US"/>
          </a:p>
        </p:txBody>
      </p:sp>
      <p:sp>
        <p:nvSpPr>
          <p:cNvPr id="32" name="Line 14">
            <a:extLst>
              <a:ext uri="{FF2B5EF4-FFF2-40B4-BE49-F238E27FC236}">
                <a16:creationId xmlns:a16="http://schemas.microsoft.com/office/drawing/2014/main" id="{7B13E42E-47A2-4D3C-89A8-B3BD517B5ABB}"/>
              </a:ext>
            </a:extLst>
          </p:cNvPr>
          <p:cNvSpPr>
            <a:spLocks noChangeShapeType="1"/>
          </p:cNvSpPr>
          <p:nvPr/>
        </p:nvSpPr>
        <p:spPr bwMode="auto">
          <a:xfrm flipV="1">
            <a:off x="8309769" y="2419688"/>
            <a:ext cx="1565275" cy="711200"/>
          </a:xfrm>
          <a:prstGeom prst="line">
            <a:avLst/>
          </a:prstGeom>
          <a:noFill/>
          <a:ln w="31750">
            <a:solidFill>
              <a:schemeClr val="tx1"/>
            </a:solidFill>
            <a:round/>
            <a:headEnd/>
            <a:tailEnd type="triangle" w="med" len="med"/>
          </a:ln>
        </p:spPr>
        <p:txBody>
          <a:bodyPr/>
          <a:lstStyle/>
          <a:p>
            <a:endParaRPr lang="zh-CN" altLang="en-US"/>
          </a:p>
        </p:txBody>
      </p:sp>
      <p:graphicFrame>
        <p:nvGraphicFramePr>
          <p:cNvPr id="34" name="Object 16">
            <a:extLst>
              <a:ext uri="{FF2B5EF4-FFF2-40B4-BE49-F238E27FC236}">
                <a16:creationId xmlns:a16="http://schemas.microsoft.com/office/drawing/2014/main" id="{064C3C49-DC58-418A-9C58-8E0E9130600A}"/>
              </a:ext>
            </a:extLst>
          </p:cNvPr>
          <p:cNvGraphicFramePr>
            <a:graphicFrameLocks noChangeAspect="1"/>
          </p:cNvGraphicFramePr>
          <p:nvPr/>
        </p:nvGraphicFramePr>
        <p:xfrm>
          <a:off x="7893844" y="2062500"/>
          <a:ext cx="319087" cy="447675"/>
        </p:xfrm>
        <a:graphic>
          <a:graphicData uri="http://schemas.openxmlformats.org/presentationml/2006/ole">
            <mc:AlternateContent xmlns:mc="http://schemas.openxmlformats.org/markup-compatibility/2006">
              <mc:Choice xmlns:v="urn:schemas-microsoft-com:vml" Requires="v">
                <p:oleObj name="公式" r:id="rId14" imgW="126720" imgH="177480" progId="Equation.3">
                  <p:embed/>
                </p:oleObj>
              </mc:Choice>
              <mc:Fallback>
                <p:oleObj name="公式" r:id="rId14" imgW="126720" imgH="177480" progId="Equation.3">
                  <p:embed/>
                  <p:pic>
                    <p:nvPicPr>
                      <p:cNvPr id="34824"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93844" y="2062500"/>
                        <a:ext cx="319087" cy="447675"/>
                      </a:xfrm>
                      <a:prstGeom prst="rect">
                        <a:avLst/>
                      </a:prstGeom>
                      <a:solidFill>
                        <a:srgbClr val="00FFFF"/>
                      </a:solidFill>
                    </p:spPr>
                  </p:pic>
                </p:oleObj>
              </mc:Fallback>
            </mc:AlternateContent>
          </a:graphicData>
        </a:graphic>
      </p:graphicFrame>
      <p:graphicFrame>
        <p:nvGraphicFramePr>
          <p:cNvPr id="35" name="Object 19">
            <a:extLst>
              <a:ext uri="{FF2B5EF4-FFF2-40B4-BE49-F238E27FC236}">
                <a16:creationId xmlns:a16="http://schemas.microsoft.com/office/drawing/2014/main" id="{046689C8-FE04-46E1-9B5D-D536AF9CC58E}"/>
              </a:ext>
            </a:extLst>
          </p:cNvPr>
          <p:cNvGraphicFramePr>
            <a:graphicFrameLocks noChangeAspect="1"/>
          </p:cNvGraphicFramePr>
          <p:nvPr/>
        </p:nvGraphicFramePr>
        <p:xfrm>
          <a:off x="5607844" y="5283538"/>
          <a:ext cx="608012" cy="576262"/>
        </p:xfrm>
        <a:graphic>
          <a:graphicData uri="http://schemas.openxmlformats.org/presentationml/2006/ole">
            <mc:AlternateContent xmlns:mc="http://schemas.openxmlformats.org/markup-compatibility/2006">
              <mc:Choice xmlns:v="urn:schemas-microsoft-com:vml" Requires="v">
                <p:oleObj name="公式" r:id="rId16" imgW="241200" imgH="228600" progId="Equation.3">
                  <p:embed/>
                </p:oleObj>
              </mc:Choice>
              <mc:Fallback>
                <p:oleObj name="公式" r:id="rId16" imgW="241200" imgH="228600" progId="Equation.3">
                  <p:embed/>
                  <p:pic>
                    <p:nvPicPr>
                      <p:cNvPr id="34825"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07844" y="5283538"/>
                        <a:ext cx="608012" cy="576262"/>
                      </a:xfrm>
                      <a:prstGeom prst="rect">
                        <a:avLst/>
                      </a:prstGeom>
                      <a:solidFill>
                        <a:srgbClr val="FFCC00"/>
                      </a:solidFill>
                    </p:spPr>
                  </p:pic>
                </p:oleObj>
              </mc:Fallback>
            </mc:AlternateContent>
          </a:graphicData>
        </a:graphic>
      </p:graphicFrame>
      <p:graphicFrame>
        <p:nvGraphicFramePr>
          <p:cNvPr id="36" name="Object 20">
            <a:extLst>
              <a:ext uri="{FF2B5EF4-FFF2-40B4-BE49-F238E27FC236}">
                <a16:creationId xmlns:a16="http://schemas.microsoft.com/office/drawing/2014/main" id="{950E8A17-88D1-48A2-A305-DFD6DC4763E1}"/>
              </a:ext>
            </a:extLst>
          </p:cNvPr>
          <p:cNvGraphicFramePr>
            <a:graphicFrameLocks noChangeAspect="1"/>
          </p:cNvGraphicFramePr>
          <p:nvPr/>
        </p:nvGraphicFramePr>
        <p:xfrm>
          <a:off x="7938294" y="4491375"/>
          <a:ext cx="638175" cy="576263"/>
        </p:xfrm>
        <a:graphic>
          <a:graphicData uri="http://schemas.openxmlformats.org/presentationml/2006/ole">
            <mc:AlternateContent xmlns:mc="http://schemas.openxmlformats.org/markup-compatibility/2006">
              <mc:Choice xmlns:v="urn:schemas-microsoft-com:vml" Requires="v">
                <p:oleObj name="公式" r:id="rId18" imgW="253800" imgH="228600" progId="Equation.3">
                  <p:embed/>
                </p:oleObj>
              </mc:Choice>
              <mc:Fallback>
                <p:oleObj name="公式" r:id="rId18" imgW="253800" imgH="228600" progId="Equation.3">
                  <p:embed/>
                  <p:pic>
                    <p:nvPicPr>
                      <p:cNvPr id="34826"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38294" y="4491375"/>
                        <a:ext cx="638175" cy="576263"/>
                      </a:xfrm>
                      <a:prstGeom prst="rect">
                        <a:avLst/>
                      </a:prstGeom>
                      <a:solidFill>
                        <a:srgbClr val="FFCC00"/>
                      </a:solidFill>
                    </p:spPr>
                  </p:pic>
                </p:oleObj>
              </mc:Fallback>
            </mc:AlternateContent>
          </a:graphicData>
        </a:graphic>
      </p:graphicFrame>
      <p:graphicFrame>
        <p:nvGraphicFramePr>
          <p:cNvPr id="37" name="Object 21">
            <a:extLst>
              <a:ext uri="{FF2B5EF4-FFF2-40B4-BE49-F238E27FC236}">
                <a16:creationId xmlns:a16="http://schemas.microsoft.com/office/drawing/2014/main" id="{786E6FEA-803A-4904-B2CA-09AC8026A04E}"/>
              </a:ext>
            </a:extLst>
          </p:cNvPr>
          <p:cNvGraphicFramePr>
            <a:graphicFrameLocks noChangeAspect="1"/>
          </p:cNvGraphicFramePr>
          <p:nvPr/>
        </p:nvGraphicFramePr>
        <p:xfrm>
          <a:off x="8074819" y="6063000"/>
          <a:ext cx="447675" cy="576263"/>
        </p:xfrm>
        <a:graphic>
          <a:graphicData uri="http://schemas.openxmlformats.org/presentationml/2006/ole">
            <mc:AlternateContent xmlns:mc="http://schemas.openxmlformats.org/markup-compatibility/2006">
              <mc:Choice xmlns:v="urn:schemas-microsoft-com:vml" Requires="v">
                <p:oleObj name="公式" r:id="rId20" imgW="177480" imgH="228600" progId="Equation.3">
                  <p:embed/>
                </p:oleObj>
              </mc:Choice>
              <mc:Fallback>
                <p:oleObj name="公式" r:id="rId20" imgW="177480" imgH="228600" progId="Equation.3">
                  <p:embed/>
                  <p:pic>
                    <p:nvPicPr>
                      <p:cNvPr id="34827"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74819" y="6063000"/>
                        <a:ext cx="447675" cy="576263"/>
                      </a:xfrm>
                      <a:prstGeom prst="rect">
                        <a:avLst/>
                      </a:prstGeom>
                      <a:solidFill>
                        <a:srgbClr val="FFCC00"/>
                      </a:solidFill>
                    </p:spPr>
                  </p:pic>
                </p:oleObj>
              </mc:Fallback>
            </mc:AlternateContent>
          </a:graphicData>
        </a:graphic>
      </p:graphicFrame>
      <p:graphicFrame>
        <p:nvGraphicFramePr>
          <p:cNvPr id="38" name="Object 22">
            <a:extLst>
              <a:ext uri="{FF2B5EF4-FFF2-40B4-BE49-F238E27FC236}">
                <a16:creationId xmlns:a16="http://schemas.microsoft.com/office/drawing/2014/main" id="{61C803C9-1B7A-4534-8495-0420E058CF87}"/>
              </a:ext>
            </a:extLst>
          </p:cNvPr>
          <p:cNvGraphicFramePr>
            <a:graphicFrameLocks noChangeAspect="1"/>
          </p:cNvGraphicFramePr>
          <p:nvPr/>
        </p:nvGraphicFramePr>
        <p:xfrm>
          <a:off x="10210006" y="5283538"/>
          <a:ext cx="469900" cy="565150"/>
        </p:xfrm>
        <a:graphic>
          <a:graphicData uri="http://schemas.openxmlformats.org/presentationml/2006/ole">
            <mc:AlternateContent xmlns:mc="http://schemas.openxmlformats.org/markup-compatibility/2006">
              <mc:Choice xmlns:v="urn:schemas-microsoft-com:vml" Requires="v">
                <p:oleObj name="公式" r:id="rId22" imgW="190440" imgH="228600" progId="Equation.3">
                  <p:embed/>
                </p:oleObj>
              </mc:Choice>
              <mc:Fallback>
                <p:oleObj name="公式" r:id="rId22" imgW="190440" imgH="228600" progId="Equation.3">
                  <p:embed/>
                  <p:pic>
                    <p:nvPicPr>
                      <p:cNvPr id="34828"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210006" y="5283538"/>
                        <a:ext cx="469900" cy="565150"/>
                      </a:xfrm>
                      <a:prstGeom prst="rect">
                        <a:avLst/>
                      </a:prstGeom>
                      <a:solidFill>
                        <a:srgbClr val="FFCC00"/>
                      </a:solidFill>
                    </p:spPr>
                  </p:pic>
                </p:oleObj>
              </mc:Fallback>
            </mc:AlternateContent>
          </a:graphicData>
        </a:graphic>
      </p:graphicFrame>
      <p:graphicFrame>
        <p:nvGraphicFramePr>
          <p:cNvPr id="39" name="Object 23">
            <a:extLst>
              <a:ext uri="{FF2B5EF4-FFF2-40B4-BE49-F238E27FC236}">
                <a16:creationId xmlns:a16="http://schemas.microsoft.com/office/drawing/2014/main" id="{3DB9EFF0-6E8B-4961-AFDE-B26D5F743479}"/>
              </a:ext>
            </a:extLst>
          </p:cNvPr>
          <p:cNvGraphicFramePr>
            <a:graphicFrameLocks noChangeAspect="1"/>
          </p:cNvGraphicFramePr>
          <p:nvPr/>
        </p:nvGraphicFramePr>
        <p:xfrm>
          <a:off x="6750844" y="4618375"/>
          <a:ext cx="358775" cy="439738"/>
        </p:xfrm>
        <a:graphic>
          <a:graphicData uri="http://schemas.openxmlformats.org/presentationml/2006/ole">
            <mc:AlternateContent xmlns:mc="http://schemas.openxmlformats.org/markup-compatibility/2006">
              <mc:Choice xmlns:v="urn:schemas-microsoft-com:vml" Requires="v">
                <p:oleObj name="公式" r:id="rId24" imgW="114120" imgH="139680" progId="Equation.3">
                  <p:embed/>
                </p:oleObj>
              </mc:Choice>
              <mc:Fallback>
                <p:oleObj name="公式" r:id="rId24" imgW="114120" imgH="139680" progId="Equation.3">
                  <p:embed/>
                  <p:pic>
                    <p:nvPicPr>
                      <p:cNvPr id="34829"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50844" y="4618375"/>
                        <a:ext cx="358775" cy="439738"/>
                      </a:xfrm>
                      <a:prstGeom prst="rect">
                        <a:avLst/>
                      </a:prstGeom>
                      <a:solidFill>
                        <a:srgbClr val="FFCC00"/>
                      </a:solidFill>
                    </p:spPr>
                  </p:pic>
                </p:oleObj>
              </mc:Fallback>
            </mc:AlternateContent>
          </a:graphicData>
        </a:graphic>
      </p:graphicFrame>
      <p:graphicFrame>
        <p:nvGraphicFramePr>
          <p:cNvPr id="41" name="Object 24">
            <a:extLst>
              <a:ext uri="{FF2B5EF4-FFF2-40B4-BE49-F238E27FC236}">
                <a16:creationId xmlns:a16="http://schemas.microsoft.com/office/drawing/2014/main" id="{B3433AB3-A092-4599-A4B6-72EC0EA39EE7}"/>
              </a:ext>
            </a:extLst>
          </p:cNvPr>
          <p:cNvGraphicFramePr>
            <a:graphicFrameLocks noChangeAspect="1"/>
          </p:cNvGraphicFramePr>
          <p:nvPr/>
        </p:nvGraphicFramePr>
        <p:xfrm>
          <a:off x="6769894" y="5967750"/>
          <a:ext cx="415925" cy="417513"/>
        </p:xfrm>
        <a:graphic>
          <a:graphicData uri="http://schemas.openxmlformats.org/presentationml/2006/ole">
            <mc:AlternateContent xmlns:mc="http://schemas.openxmlformats.org/markup-compatibility/2006">
              <mc:Choice xmlns:v="urn:schemas-microsoft-com:vml" Requires="v">
                <p:oleObj name="公式" r:id="rId26" imgW="164880" imgH="164880" progId="Equation.3">
                  <p:embed/>
                </p:oleObj>
              </mc:Choice>
              <mc:Fallback>
                <p:oleObj name="公式" r:id="rId26" imgW="164880" imgH="164880" progId="Equation.3">
                  <p:embed/>
                  <p:pic>
                    <p:nvPicPr>
                      <p:cNvPr id="34830" name="Object 2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769894" y="5967750"/>
                        <a:ext cx="415925" cy="417513"/>
                      </a:xfrm>
                      <a:prstGeom prst="rect">
                        <a:avLst/>
                      </a:prstGeom>
                      <a:solidFill>
                        <a:srgbClr val="FFCC00"/>
                      </a:solidFill>
                    </p:spPr>
                  </p:pic>
                </p:oleObj>
              </mc:Fallback>
            </mc:AlternateContent>
          </a:graphicData>
        </a:graphic>
      </p:graphicFrame>
      <p:sp>
        <p:nvSpPr>
          <p:cNvPr id="42" name="Line 25">
            <a:extLst>
              <a:ext uri="{FF2B5EF4-FFF2-40B4-BE49-F238E27FC236}">
                <a16:creationId xmlns:a16="http://schemas.microsoft.com/office/drawing/2014/main" id="{F2B5BE71-556F-4A55-96FC-EAA54131E5B8}"/>
              </a:ext>
            </a:extLst>
          </p:cNvPr>
          <p:cNvSpPr>
            <a:spLocks noChangeShapeType="1"/>
          </p:cNvSpPr>
          <p:nvPr/>
        </p:nvSpPr>
        <p:spPr bwMode="auto">
          <a:xfrm flipV="1">
            <a:off x="6257131" y="4778713"/>
            <a:ext cx="1727200" cy="720725"/>
          </a:xfrm>
          <a:prstGeom prst="line">
            <a:avLst/>
          </a:prstGeom>
          <a:noFill/>
          <a:ln w="31750">
            <a:solidFill>
              <a:schemeClr val="tx1"/>
            </a:solidFill>
            <a:round/>
            <a:headEnd/>
            <a:tailEnd type="triangle" w="med" len="med"/>
          </a:ln>
        </p:spPr>
        <p:txBody>
          <a:bodyPr/>
          <a:lstStyle/>
          <a:p>
            <a:endParaRPr lang="zh-CN" altLang="en-US"/>
          </a:p>
        </p:txBody>
      </p:sp>
      <p:sp>
        <p:nvSpPr>
          <p:cNvPr id="43" name="Line 26">
            <a:extLst>
              <a:ext uri="{FF2B5EF4-FFF2-40B4-BE49-F238E27FC236}">
                <a16:creationId xmlns:a16="http://schemas.microsoft.com/office/drawing/2014/main" id="{C297FDA6-D1E1-4D7C-9C4C-CDCB69746136}"/>
              </a:ext>
            </a:extLst>
          </p:cNvPr>
          <p:cNvSpPr>
            <a:spLocks noChangeShapeType="1"/>
          </p:cNvSpPr>
          <p:nvPr/>
        </p:nvSpPr>
        <p:spPr bwMode="auto">
          <a:xfrm>
            <a:off x="6274594" y="5551825"/>
            <a:ext cx="1762125" cy="796925"/>
          </a:xfrm>
          <a:prstGeom prst="line">
            <a:avLst/>
          </a:prstGeom>
          <a:noFill/>
          <a:ln w="31750">
            <a:solidFill>
              <a:schemeClr val="tx1"/>
            </a:solidFill>
            <a:round/>
            <a:headEnd/>
            <a:tailEnd type="triangle" w="med" len="med"/>
          </a:ln>
        </p:spPr>
        <p:txBody>
          <a:bodyPr/>
          <a:lstStyle/>
          <a:p>
            <a:endParaRPr lang="zh-CN" altLang="en-US"/>
          </a:p>
        </p:txBody>
      </p:sp>
      <p:sp>
        <p:nvSpPr>
          <p:cNvPr id="44" name="Line 27">
            <a:extLst>
              <a:ext uri="{FF2B5EF4-FFF2-40B4-BE49-F238E27FC236}">
                <a16:creationId xmlns:a16="http://schemas.microsoft.com/office/drawing/2014/main" id="{8C5CB2DD-6090-438D-958C-40D83E866519}"/>
              </a:ext>
            </a:extLst>
          </p:cNvPr>
          <p:cNvSpPr>
            <a:spLocks noChangeShapeType="1"/>
          </p:cNvSpPr>
          <p:nvPr/>
        </p:nvSpPr>
        <p:spPr bwMode="auto">
          <a:xfrm>
            <a:off x="8549481" y="4807288"/>
            <a:ext cx="1512888" cy="576262"/>
          </a:xfrm>
          <a:prstGeom prst="line">
            <a:avLst/>
          </a:prstGeom>
          <a:noFill/>
          <a:ln w="31750">
            <a:solidFill>
              <a:schemeClr val="tx1"/>
            </a:solidFill>
            <a:round/>
            <a:headEnd/>
            <a:tailEnd type="triangle" w="med" len="med"/>
          </a:ln>
        </p:spPr>
        <p:txBody>
          <a:bodyPr/>
          <a:lstStyle/>
          <a:p>
            <a:endParaRPr lang="zh-CN" altLang="en-US"/>
          </a:p>
        </p:txBody>
      </p:sp>
      <p:sp>
        <p:nvSpPr>
          <p:cNvPr id="45" name="Line 28">
            <a:extLst>
              <a:ext uri="{FF2B5EF4-FFF2-40B4-BE49-F238E27FC236}">
                <a16:creationId xmlns:a16="http://schemas.microsoft.com/office/drawing/2014/main" id="{55DCFD49-13D3-4E99-8267-8CA53093CFDA}"/>
              </a:ext>
            </a:extLst>
          </p:cNvPr>
          <p:cNvSpPr>
            <a:spLocks noChangeShapeType="1"/>
          </p:cNvSpPr>
          <p:nvPr/>
        </p:nvSpPr>
        <p:spPr bwMode="auto">
          <a:xfrm flipV="1">
            <a:off x="6274594" y="5516900"/>
            <a:ext cx="3798887" cy="0"/>
          </a:xfrm>
          <a:prstGeom prst="line">
            <a:avLst/>
          </a:prstGeom>
          <a:noFill/>
          <a:ln w="31750">
            <a:solidFill>
              <a:schemeClr val="tx1"/>
            </a:solidFill>
            <a:round/>
            <a:headEnd/>
            <a:tailEnd type="triangle" w="med" len="med"/>
          </a:ln>
        </p:spPr>
        <p:txBody>
          <a:bodyPr/>
          <a:lstStyle/>
          <a:p>
            <a:endParaRPr lang="zh-CN" altLang="en-US"/>
          </a:p>
        </p:txBody>
      </p:sp>
      <p:sp>
        <p:nvSpPr>
          <p:cNvPr id="46" name="Line 29">
            <a:extLst>
              <a:ext uri="{FF2B5EF4-FFF2-40B4-BE49-F238E27FC236}">
                <a16:creationId xmlns:a16="http://schemas.microsoft.com/office/drawing/2014/main" id="{F4089166-2B0A-4369-AF47-8BB82F1404C1}"/>
              </a:ext>
            </a:extLst>
          </p:cNvPr>
          <p:cNvSpPr>
            <a:spLocks noChangeShapeType="1"/>
          </p:cNvSpPr>
          <p:nvPr/>
        </p:nvSpPr>
        <p:spPr bwMode="auto">
          <a:xfrm flipV="1">
            <a:off x="8608219" y="5651838"/>
            <a:ext cx="1446212" cy="696912"/>
          </a:xfrm>
          <a:prstGeom prst="line">
            <a:avLst/>
          </a:prstGeom>
          <a:noFill/>
          <a:ln w="31750">
            <a:solidFill>
              <a:schemeClr val="tx1"/>
            </a:solidFill>
            <a:round/>
            <a:headEnd/>
            <a:tailEnd type="triangle" w="med" len="med"/>
          </a:ln>
        </p:spPr>
        <p:txBody>
          <a:bodyPr/>
          <a:lstStyle/>
          <a:p>
            <a:endParaRPr lang="zh-CN" altLang="en-US"/>
          </a:p>
        </p:txBody>
      </p:sp>
      <p:graphicFrame>
        <p:nvGraphicFramePr>
          <p:cNvPr id="47" name="Object 30">
            <a:extLst>
              <a:ext uri="{FF2B5EF4-FFF2-40B4-BE49-F238E27FC236}">
                <a16:creationId xmlns:a16="http://schemas.microsoft.com/office/drawing/2014/main" id="{504D865D-DAD5-4CB1-9D13-C015DF61AB93}"/>
              </a:ext>
            </a:extLst>
          </p:cNvPr>
          <p:cNvGraphicFramePr>
            <a:graphicFrameLocks noChangeAspect="1"/>
          </p:cNvGraphicFramePr>
          <p:nvPr/>
        </p:nvGraphicFramePr>
        <p:xfrm>
          <a:off x="8108156" y="5258138"/>
          <a:ext cx="319088" cy="447675"/>
        </p:xfrm>
        <a:graphic>
          <a:graphicData uri="http://schemas.openxmlformats.org/presentationml/2006/ole">
            <mc:AlternateContent xmlns:mc="http://schemas.openxmlformats.org/markup-compatibility/2006">
              <mc:Choice xmlns:v="urn:schemas-microsoft-com:vml" Requires="v">
                <p:oleObj name="公式" r:id="rId28" imgW="126720" imgH="177480" progId="Equation.3">
                  <p:embed/>
                </p:oleObj>
              </mc:Choice>
              <mc:Fallback>
                <p:oleObj name="公式" r:id="rId28" imgW="126720" imgH="177480" progId="Equation.3">
                  <p:embed/>
                  <p:pic>
                    <p:nvPicPr>
                      <p:cNvPr id="34831"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108156" y="5258138"/>
                        <a:ext cx="319088" cy="447675"/>
                      </a:xfrm>
                      <a:prstGeom prst="rect">
                        <a:avLst/>
                      </a:prstGeom>
                      <a:solidFill>
                        <a:srgbClr val="FFCC00"/>
                      </a:solidFill>
                    </p:spPr>
                  </p:pic>
                </p:oleObj>
              </mc:Fallback>
            </mc:AlternateContent>
          </a:graphicData>
        </a:graphic>
      </p:graphicFrame>
      <p:sp>
        <p:nvSpPr>
          <p:cNvPr id="48" name="AutoShape 31">
            <a:extLst>
              <a:ext uri="{FF2B5EF4-FFF2-40B4-BE49-F238E27FC236}">
                <a16:creationId xmlns:a16="http://schemas.microsoft.com/office/drawing/2014/main" id="{1054B7D2-8C61-4160-B27D-52AA1252EA36}"/>
              </a:ext>
            </a:extLst>
          </p:cNvPr>
          <p:cNvSpPr>
            <a:spLocks noChangeArrowheads="1"/>
          </p:cNvSpPr>
          <p:nvPr/>
        </p:nvSpPr>
        <p:spPr bwMode="auto">
          <a:xfrm>
            <a:off x="6107906" y="3562688"/>
            <a:ext cx="428625" cy="922337"/>
          </a:xfrm>
          <a:prstGeom prst="downArrow">
            <a:avLst>
              <a:gd name="adj1" fmla="val 50000"/>
              <a:gd name="adj2" fmla="val 83105"/>
            </a:avLst>
          </a:prstGeom>
          <a:solidFill>
            <a:srgbClr val="00FFFF"/>
          </a:solidFill>
          <a:ln w="9525">
            <a:solidFill>
              <a:schemeClr val="tx1"/>
            </a:solidFill>
            <a:miter lim="800000"/>
            <a:headEnd/>
            <a:tailEnd/>
          </a:ln>
        </p:spPr>
        <p:txBody>
          <a:bodyPr vert="eaVert" wrap="none" anchor="ctr"/>
          <a:lstStyle/>
          <a:p>
            <a:pPr defTabSz="914400"/>
            <a:endParaRPr lang="zh-CN" altLang="en-US" sz="1800"/>
          </a:p>
        </p:txBody>
      </p:sp>
      <p:sp>
        <p:nvSpPr>
          <p:cNvPr id="49" name="Text Box 33">
            <a:extLst>
              <a:ext uri="{FF2B5EF4-FFF2-40B4-BE49-F238E27FC236}">
                <a16:creationId xmlns:a16="http://schemas.microsoft.com/office/drawing/2014/main" id="{7941D69F-DB87-4F9A-9AB7-5B05C4B6EC5E}"/>
              </a:ext>
            </a:extLst>
          </p:cNvPr>
          <p:cNvSpPr txBox="1">
            <a:spLocks noChangeArrowheads="1"/>
          </p:cNvSpPr>
          <p:nvPr/>
        </p:nvSpPr>
        <p:spPr bwMode="auto">
          <a:xfrm>
            <a:off x="3750469" y="5277188"/>
            <a:ext cx="1643062" cy="579437"/>
          </a:xfrm>
          <a:prstGeom prst="rect">
            <a:avLst/>
          </a:prstGeom>
          <a:solidFill>
            <a:srgbClr val="FFC000"/>
          </a:solidFill>
          <a:ln w="9525">
            <a:noFill/>
            <a:miter lim="800000"/>
            <a:headEnd/>
            <a:tailEnd/>
          </a:ln>
        </p:spPr>
        <p:txBody>
          <a:bodyPr>
            <a:spAutoFit/>
          </a:bodyPr>
          <a:lstStyle/>
          <a:p>
            <a:pPr algn="ctr" defTabSz="914400">
              <a:spcBef>
                <a:spcPct val="50000"/>
              </a:spcBef>
            </a:pPr>
            <a:r>
              <a:rPr lang="zh-CN" altLang="en-US" sz="3200" b="1">
                <a:latin typeface="黑体" pitchFamily="2" charset="-122"/>
                <a:ea typeface="黑体" pitchFamily="2" charset="-122"/>
              </a:rPr>
              <a:t>光度量</a:t>
            </a:r>
          </a:p>
        </p:txBody>
      </p:sp>
      <p:sp>
        <p:nvSpPr>
          <p:cNvPr id="50" name="Text Box 34">
            <a:extLst>
              <a:ext uri="{FF2B5EF4-FFF2-40B4-BE49-F238E27FC236}">
                <a16:creationId xmlns:a16="http://schemas.microsoft.com/office/drawing/2014/main" id="{FC560915-3C48-480F-A23C-7E9D2A48C054}"/>
              </a:ext>
            </a:extLst>
          </p:cNvPr>
          <p:cNvSpPr txBox="1">
            <a:spLocks noChangeArrowheads="1"/>
          </p:cNvSpPr>
          <p:nvPr/>
        </p:nvSpPr>
        <p:spPr bwMode="auto">
          <a:xfrm>
            <a:off x="3536156" y="1978363"/>
            <a:ext cx="1928813" cy="579437"/>
          </a:xfrm>
          <a:prstGeom prst="rect">
            <a:avLst/>
          </a:prstGeom>
          <a:solidFill>
            <a:srgbClr val="33CCFF"/>
          </a:solidFill>
          <a:ln w="9525">
            <a:noFill/>
            <a:miter lim="800000"/>
            <a:headEnd/>
            <a:tailEnd/>
          </a:ln>
        </p:spPr>
        <p:txBody>
          <a:bodyPr>
            <a:spAutoFit/>
          </a:bodyPr>
          <a:lstStyle/>
          <a:p>
            <a:pPr defTabSz="914400">
              <a:spcBef>
                <a:spcPct val="50000"/>
              </a:spcBef>
            </a:pPr>
            <a:r>
              <a:rPr lang="zh-CN" altLang="en-US" sz="3200" b="1">
                <a:latin typeface="黑体" pitchFamily="2" charset="-122"/>
                <a:ea typeface="黑体" pitchFamily="2" charset="-122"/>
              </a:rPr>
              <a:t>辐射度量</a:t>
            </a:r>
          </a:p>
        </p:txBody>
      </p:sp>
      <p:sp>
        <p:nvSpPr>
          <p:cNvPr id="51" name="Text Box 35">
            <a:extLst>
              <a:ext uri="{FF2B5EF4-FFF2-40B4-BE49-F238E27FC236}">
                <a16:creationId xmlns:a16="http://schemas.microsoft.com/office/drawing/2014/main" id="{942400F1-0DAC-4DE1-87C4-E55ED2CC9984}"/>
              </a:ext>
            </a:extLst>
          </p:cNvPr>
          <p:cNvSpPr txBox="1">
            <a:spLocks noChangeArrowheads="1"/>
          </p:cNvSpPr>
          <p:nvPr/>
        </p:nvSpPr>
        <p:spPr bwMode="auto">
          <a:xfrm>
            <a:off x="2464594" y="3491250"/>
            <a:ext cx="631825" cy="1190625"/>
          </a:xfrm>
          <a:prstGeom prst="rect">
            <a:avLst/>
          </a:prstGeom>
          <a:solidFill>
            <a:srgbClr val="FFC000"/>
          </a:solidFill>
          <a:ln w="9525">
            <a:noFill/>
            <a:miter lim="800000"/>
            <a:headEnd/>
            <a:tailEnd/>
          </a:ln>
        </p:spPr>
        <p:txBody>
          <a:bodyPr>
            <a:spAutoFit/>
          </a:bodyPr>
          <a:lstStyle/>
          <a:p>
            <a:pPr defTabSz="914400">
              <a:spcBef>
                <a:spcPct val="50000"/>
              </a:spcBef>
            </a:pPr>
            <a:r>
              <a:rPr lang="zh-CN" altLang="en-US" sz="3600" b="1">
                <a:latin typeface="华文琥珀" pitchFamily="2" charset="-122"/>
                <a:ea typeface="华文琥珀" pitchFamily="2" charset="-122"/>
              </a:rPr>
              <a:t>小结</a:t>
            </a:r>
          </a:p>
        </p:txBody>
      </p:sp>
      <p:sp>
        <p:nvSpPr>
          <p:cNvPr id="52" name="AutoShape 36">
            <a:extLst>
              <a:ext uri="{FF2B5EF4-FFF2-40B4-BE49-F238E27FC236}">
                <a16:creationId xmlns:a16="http://schemas.microsoft.com/office/drawing/2014/main" id="{C195CC12-1972-4B28-9EC5-C1BE87FB7233}"/>
              </a:ext>
            </a:extLst>
          </p:cNvPr>
          <p:cNvSpPr>
            <a:spLocks/>
          </p:cNvSpPr>
          <p:nvPr/>
        </p:nvSpPr>
        <p:spPr bwMode="auto">
          <a:xfrm>
            <a:off x="3085306" y="2238713"/>
            <a:ext cx="450850" cy="3556000"/>
          </a:xfrm>
          <a:prstGeom prst="leftBrace">
            <a:avLst>
              <a:gd name="adj1" fmla="val 65728"/>
              <a:gd name="adj2" fmla="val 50000"/>
            </a:avLst>
          </a:prstGeom>
          <a:noFill/>
          <a:ln w="28575">
            <a:solidFill>
              <a:schemeClr val="tx1"/>
            </a:solidFill>
            <a:round/>
            <a:headEnd/>
            <a:tailEnd/>
          </a:ln>
        </p:spPr>
        <p:txBody>
          <a:bodyPr wrap="none" anchor="ctr"/>
          <a:lstStyle/>
          <a:p>
            <a:pPr defTabSz="914400"/>
            <a:endParaRPr lang="zh-CN" altLang="en-US" sz="1800"/>
          </a:p>
        </p:txBody>
      </p:sp>
      <p:sp>
        <p:nvSpPr>
          <p:cNvPr id="53" name="Text Box 37">
            <a:extLst>
              <a:ext uri="{FF2B5EF4-FFF2-40B4-BE49-F238E27FC236}">
                <a16:creationId xmlns:a16="http://schemas.microsoft.com/office/drawing/2014/main" id="{E08B3CFC-6BE4-4343-BA2B-D79B5BA52086}"/>
              </a:ext>
            </a:extLst>
          </p:cNvPr>
          <p:cNvSpPr txBox="1">
            <a:spLocks noChangeArrowheads="1"/>
          </p:cNvSpPr>
          <p:nvPr/>
        </p:nvSpPr>
        <p:spPr bwMode="auto">
          <a:xfrm>
            <a:off x="3799681" y="2508588"/>
            <a:ext cx="1439863" cy="457200"/>
          </a:xfrm>
          <a:prstGeom prst="rect">
            <a:avLst/>
          </a:prstGeom>
          <a:noFill/>
          <a:ln w="9525">
            <a:noFill/>
            <a:miter lim="800000"/>
            <a:headEnd/>
            <a:tailEnd/>
          </a:ln>
        </p:spPr>
        <p:txBody>
          <a:bodyPr>
            <a:spAutoFit/>
          </a:bodyPr>
          <a:lstStyle/>
          <a:p>
            <a:pPr defTabSz="914400">
              <a:spcBef>
                <a:spcPct val="50000"/>
              </a:spcBef>
            </a:pPr>
            <a:r>
              <a:rPr lang="en-US" altLang="zh-CN" sz="2400" b="1">
                <a:latin typeface="黑体" pitchFamily="2" charset="-122"/>
                <a:ea typeface="黑体" pitchFamily="2" charset="-122"/>
              </a:rPr>
              <a:t>(</a:t>
            </a:r>
            <a:r>
              <a:rPr lang="zh-CN" altLang="en-US" sz="2400" b="1">
                <a:latin typeface="黑体" pitchFamily="2" charset="-122"/>
                <a:ea typeface="黑体" pitchFamily="2" charset="-122"/>
              </a:rPr>
              <a:t>电磁波</a:t>
            </a:r>
            <a:r>
              <a:rPr lang="en-US" altLang="zh-CN" sz="2400" b="1">
                <a:latin typeface="黑体" pitchFamily="2" charset="-122"/>
                <a:ea typeface="黑体" pitchFamily="2" charset="-122"/>
              </a:rPr>
              <a:t>)</a:t>
            </a:r>
          </a:p>
        </p:txBody>
      </p:sp>
      <p:sp>
        <p:nvSpPr>
          <p:cNvPr id="54" name="Text Box 38">
            <a:extLst>
              <a:ext uri="{FF2B5EF4-FFF2-40B4-BE49-F238E27FC236}">
                <a16:creationId xmlns:a16="http://schemas.microsoft.com/office/drawing/2014/main" id="{DC4100D0-8E99-437C-B756-93BEB54F858A}"/>
              </a:ext>
            </a:extLst>
          </p:cNvPr>
          <p:cNvSpPr txBox="1">
            <a:spLocks noChangeArrowheads="1"/>
          </p:cNvSpPr>
          <p:nvPr/>
        </p:nvSpPr>
        <p:spPr bwMode="auto">
          <a:xfrm>
            <a:off x="3821906" y="5991563"/>
            <a:ext cx="1528763" cy="457200"/>
          </a:xfrm>
          <a:prstGeom prst="rect">
            <a:avLst/>
          </a:prstGeom>
          <a:noFill/>
          <a:ln w="9525">
            <a:noFill/>
            <a:miter lim="800000"/>
            <a:headEnd/>
            <a:tailEnd/>
          </a:ln>
        </p:spPr>
        <p:txBody>
          <a:bodyPr>
            <a:spAutoFit/>
          </a:bodyPr>
          <a:lstStyle/>
          <a:p>
            <a:pPr defTabSz="914400">
              <a:spcBef>
                <a:spcPct val="50000"/>
              </a:spcBef>
            </a:pPr>
            <a:r>
              <a:rPr lang="en-US" altLang="zh-CN" sz="2400" b="1">
                <a:latin typeface="黑体" pitchFamily="2" charset="-122"/>
                <a:ea typeface="黑体" pitchFamily="2" charset="-122"/>
              </a:rPr>
              <a:t>(</a:t>
            </a:r>
            <a:r>
              <a:rPr lang="zh-CN" altLang="en-US" sz="2400" b="1">
                <a:latin typeface="黑体" pitchFamily="2" charset="-122"/>
                <a:ea typeface="黑体" pitchFamily="2" charset="-122"/>
              </a:rPr>
              <a:t>可见光</a:t>
            </a:r>
            <a:r>
              <a:rPr lang="en-US" altLang="zh-CN" sz="2400" b="1">
                <a:latin typeface="黑体" pitchFamily="2" charset="-122"/>
                <a:ea typeface="黑体" pitchFamily="2" charset="-122"/>
              </a:rPr>
              <a:t>)</a:t>
            </a:r>
          </a:p>
        </p:txBody>
      </p:sp>
      <p:graphicFrame>
        <p:nvGraphicFramePr>
          <p:cNvPr id="55" name="Object 36">
            <a:extLst>
              <a:ext uri="{FF2B5EF4-FFF2-40B4-BE49-F238E27FC236}">
                <a16:creationId xmlns:a16="http://schemas.microsoft.com/office/drawing/2014/main" id="{EBA57A8D-A5F9-44FA-A7F6-F54EA45178BA}"/>
              </a:ext>
            </a:extLst>
          </p:cNvPr>
          <p:cNvGraphicFramePr>
            <a:graphicFrameLocks noChangeAspect="1"/>
          </p:cNvGraphicFramePr>
          <p:nvPr/>
        </p:nvGraphicFramePr>
        <p:xfrm>
          <a:off x="6750844" y="3634125"/>
          <a:ext cx="2941637" cy="596900"/>
        </p:xfrm>
        <a:graphic>
          <a:graphicData uri="http://schemas.openxmlformats.org/presentationml/2006/ole">
            <mc:AlternateContent xmlns:mc="http://schemas.openxmlformats.org/markup-compatibility/2006">
              <mc:Choice xmlns:v="urn:schemas-microsoft-com:vml" Requires="v">
                <p:oleObj name="Equation" r:id="rId30" imgW="1193760" imgH="241200" progId="Equation.DSMT4">
                  <p:embed/>
                </p:oleObj>
              </mc:Choice>
              <mc:Fallback>
                <p:oleObj name="Equation" r:id="rId30" imgW="1193760" imgH="241200" progId="Equation.DSMT4">
                  <p:embed/>
                  <p:pic>
                    <p:nvPicPr>
                      <p:cNvPr id="313349" name="Object 3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50844" y="3634125"/>
                        <a:ext cx="2941637" cy="596900"/>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 name="AutoShape 31">
            <a:extLst>
              <a:ext uri="{FF2B5EF4-FFF2-40B4-BE49-F238E27FC236}">
                <a16:creationId xmlns:a16="http://schemas.microsoft.com/office/drawing/2014/main" id="{F8B13AB6-4642-41E5-A545-F756A39EB608}"/>
              </a:ext>
            </a:extLst>
          </p:cNvPr>
          <p:cNvSpPr>
            <a:spLocks noChangeArrowheads="1"/>
          </p:cNvSpPr>
          <p:nvPr/>
        </p:nvSpPr>
        <p:spPr bwMode="auto">
          <a:xfrm rot="10800000">
            <a:off x="9822656" y="3419813"/>
            <a:ext cx="428625" cy="922337"/>
          </a:xfrm>
          <a:prstGeom prst="downArrow">
            <a:avLst>
              <a:gd name="adj1" fmla="val 50000"/>
              <a:gd name="adj2" fmla="val 83105"/>
            </a:avLst>
          </a:prstGeom>
          <a:solidFill>
            <a:srgbClr val="FFFF00"/>
          </a:solidFill>
          <a:ln w="9525">
            <a:solidFill>
              <a:schemeClr val="tx1"/>
            </a:solidFill>
            <a:miter lim="800000"/>
            <a:headEnd/>
            <a:tailEnd/>
          </a:ln>
        </p:spPr>
        <p:txBody>
          <a:bodyPr rot="10800000" vert="eaVert" wrap="none" anchor="ctr"/>
          <a:lstStyle/>
          <a:p>
            <a:pPr defTabSz="914400"/>
            <a:endParaRPr lang="zh-CN" altLang="en-US" sz="1800"/>
          </a:p>
        </p:txBody>
      </p:sp>
    </p:spTree>
    <p:extLst>
      <p:ext uri="{BB962C8B-B14F-4D97-AF65-F5344CB8AC3E}">
        <p14:creationId xmlns:p14="http://schemas.microsoft.com/office/powerpoint/2010/main" val="353868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in)">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box(in)">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box(in)">
                                      <p:cBhvr>
                                        <p:cTn id="17" dur="500"/>
                                        <p:tgtEl>
                                          <p:spTgt spid="50"/>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box(in)">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box(in)">
                                      <p:cBhvr>
                                        <p:cTn id="25" dur="500"/>
                                        <p:tgtEl>
                                          <p:spTgt spid="54"/>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box(in)">
                                      <p:cBhvr>
                                        <p:cTn id="28" dur="500"/>
                                        <p:tgtEl>
                                          <p:spTgt spid="49"/>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ox(in)">
                                      <p:cBhvr>
                                        <p:cTn id="33" dur="500"/>
                                        <p:tgtEl>
                                          <p:spTgt spid="14"/>
                                        </p:tgtEl>
                                      </p:cBhvr>
                                    </p:animEffect>
                                  </p:childTnLst>
                                </p:cTn>
                              </p:par>
                              <p:par>
                                <p:cTn id="34" presetID="4" presetClass="entr" presetSubtype="16"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box(in)">
                                      <p:cBhvr>
                                        <p:cTn id="36" dur="500"/>
                                        <p:tgtEl>
                                          <p:spTgt spid="3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ox(in)">
                                      <p:cBhvr>
                                        <p:cTn id="41" dur="500"/>
                                        <p:tgtEl>
                                          <p:spTgt spid="14"/>
                                        </p:tgtEl>
                                      </p:cBhvr>
                                    </p:animEffect>
                                  </p:childTnLst>
                                </p:cTn>
                              </p:par>
                              <p:par>
                                <p:cTn id="42" presetID="4" presetClass="entr" presetSubtype="16"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box(in)">
                                      <p:cBhvr>
                                        <p:cTn id="44" dur="500"/>
                                        <p:tgtEl>
                                          <p:spTgt spid="35"/>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ox(in)">
                                      <p:cBhvr>
                                        <p:cTn id="47" dur="500"/>
                                        <p:tgtEl>
                                          <p:spTgt spid="21"/>
                                        </p:tgtEl>
                                      </p:cBhvr>
                                    </p:animEffect>
                                  </p:childTnLst>
                                </p:cTn>
                              </p:par>
                              <p:par>
                                <p:cTn id="48" presetID="4" presetClass="entr" presetSubtype="16"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box(in)">
                                      <p:cBhvr>
                                        <p:cTn id="50" dur="500"/>
                                        <p:tgtEl>
                                          <p:spTgt spid="18"/>
                                        </p:tgtEl>
                                      </p:cBhvr>
                                    </p:animEffect>
                                  </p:childTnLst>
                                </p:cTn>
                              </p:par>
                            </p:childTnLst>
                          </p:cTn>
                        </p:par>
                        <p:par>
                          <p:cTn id="51" fill="hold">
                            <p:stCondLst>
                              <p:cond delay="500"/>
                            </p:stCondLst>
                            <p:childTnLst>
                              <p:par>
                                <p:cTn id="52" presetID="4" presetClass="entr" presetSubtype="16"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box(in)">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box(in)">
                                      <p:cBhvr>
                                        <p:cTn id="59" dur="500"/>
                                        <p:tgtEl>
                                          <p:spTgt spid="42"/>
                                        </p:tgtEl>
                                      </p:cBhvr>
                                    </p:animEffect>
                                  </p:childTnLst>
                                </p:cTn>
                              </p:par>
                              <p:par>
                                <p:cTn id="60" presetID="4" presetClass="entr" presetSubtype="16"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ox(in)">
                                      <p:cBhvr>
                                        <p:cTn id="62" dur="500"/>
                                        <p:tgtEl>
                                          <p:spTgt spid="39"/>
                                        </p:tgtEl>
                                      </p:cBhvr>
                                    </p:animEffect>
                                  </p:childTnLst>
                                </p:cTn>
                              </p:par>
                              <p:par>
                                <p:cTn id="63" presetID="4" presetClass="entr" presetSubtype="16"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box(i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box(in)">
                                      <p:cBhvr>
                                        <p:cTn id="70" dur="500"/>
                                        <p:tgtEl>
                                          <p:spTgt spid="19"/>
                                        </p:tgtEl>
                                      </p:cBhvr>
                                    </p:animEffect>
                                  </p:childTnLst>
                                </p:cTn>
                              </p:par>
                              <p:par>
                                <p:cTn id="71" presetID="4" presetClass="entr" presetSubtype="16"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box(in)">
                                      <p:cBhvr>
                                        <p:cTn id="73" dur="500"/>
                                        <p:tgtEl>
                                          <p:spTgt spid="22"/>
                                        </p:tgtEl>
                                      </p:cBhvr>
                                    </p:animEffect>
                                  </p:childTnLst>
                                </p:cTn>
                              </p:par>
                              <p:par>
                                <p:cTn id="74" presetID="4" presetClass="entr" presetSubtype="16" fill="hold"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box(in)">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nodeType="click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box(in)">
                                      <p:cBhvr>
                                        <p:cTn id="81" dur="500"/>
                                        <p:tgtEl>
                                          <p:spTgt spid="41"/>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box(in)">
                                      <p:cBhvr>
                                        <p:cTn id="84" dur="500"/>
                                        <p:tgtEl>
                                          <p:spTgt spid="43"/>
                                        </p:tgtEl>
                                      </p:cBhvr>
                                    </p:animEffect>
                                  </p:childTnLst>
                                </p:cTn>
                              </p:par>
                              <p:par>
                                <p:cTn id="85" presetID="4" presetClass="entr" presetSubtype="16"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box(in)">
                                      <p:cBhvr>
                                        <p:cTn id="87" dur="500"/>
                                        <p:tgtEl>
                                          <p:spTgt spid="37"/>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box(in)">
                                      <p:cBhvr>
                                        <p:cTn id="92" dur="500"/>
                                        <p:tgtEl>
                                          <p:spTgt spid="34"/>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box(in)">
                                      <p:cBhvr>
                                        <p:cTn id="95" dur="500"/>
                                        <p:tgtEl>
                                          <p:spTgt spid="31"/>
                                        </p:tgtEl>
                                      </p:cBhvr>
                                    </p:animEffect>
                                  </p:childTnLst>
                                </p:cTn>
                              </p:par>
                              <p:par>
                                <p:cTn id="96" presetID="4" presetClass="entr" presetSubtype="16" fill="hold" nodeType="with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box(in)">
                                      <p:cBhvr>
                                        <p:cTn id="98" dur="500"/>
                                        <p:tgtEl>
                                          <p:spTgt spid="17"/>
                                        </p:tgtEl>
                                      </p:cBhvr>
                                    </p:animEffect>
                                  </p:childTnLst>
                                </p:cTn>
                              </p:par>
                            </p:childTnLst>
                          </p:cTn>
                        </p:par>
                      </p:childTnLst>
                    </p:cTn>
                  </p:par>
                  <p:par>
                    <p:cTn id="99" fill="hold">
                      <p:stCondLst>
                        <p:cond delay="indefinite"/>
                      </p:stCondLst>
                      <p:childTnLst>
                        <p:par>
                          <p:cTn id="100" fill="hold">
                            <p:stCondLst>
                              <p:cond delay="0"/>
                            </p:stCondLst>
                            <p:childTnLst>
                              <p:par>
                                <p:cTn id="101" presetID="4" presetClass="entr" presetSubtype="16" fill="hold" nodeType="click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box(in)">
                                      <p:cBhvr>
                                        <p:cTn id="103" dur="500"/>
                                        <p:tgtEl>
                                          <p:spTgt spid="47"/>
                                        </p:tgtEl>
                                      </p:cBhvr>
                                    </p:animEffect>
                                  </p:childTnLst>
                                </p:cTn>
                              </p:par>
                              <p:par>
                                <p:cTn id="104" presetID="4" presetClass="entr" presetSubtype="16" fill="hold" grpId="0" nodeType="with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box(in)">
                                      <p:cBhvr>
                                        <p:cTn id="106" dur="500"/>
                                        <p:tgtEl>
                                          <p:spTgt spid="45"/>
                                        </p:tgtEl>
                                      </p:cBhvr>
                                    </p:animEffect>
                                  </p:childTnLst>
                                </p:cTn>
                              </p:par>
                              <p:par>
                                <p:cTn id="107" presetID="4" presetClass="entr" presetSubtype="16" fill="hold"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box(in)">
                                      <p:cBhvr>
                                        <p:cTn id="109" dur="500"/>
                                        <p:tgtEl>
                                          <p:spTgt spid="38"/>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box(in)">
                                      <p:cBhvr>
                                        <p:cTn id="114" dur="500"/>
                                        <p:tgtEl>
                                          <p:spTgt spid="32"/>
                                        </p:tgtEl>
                                      </p:cBhvr>
                                    </p:animEffect>
                                  </p:childTnLst>
                                </p:cTn>
                              </p:par>
                              <p:par>
                                <p:cTn id="115" presetID="4" presetClass="entr" presetSubtype="16"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box(in)">
                                      <p:cBhvr>
                                        <p:cTn id="117" dur="500"/>
                                        <p:tgtEl>
                                          <p:spTgt spid="30"/>
                                        </p:tgtEl>
                                      </p:cBhvr>
                                    </p:animEffect>
                                  </p:childTnLst>
                                </p:cTn>
                              </p:par>
                              <p:par>
                                <p:cTn id="118" presetID="4" presetClass="entr" presetSubtype="16"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box(in)">
                                      <p:cBhvr>
                                        <p:cTn id="120" dur="500"/>
                                        <p:tgtEl>
                                          <p:spTgt spid="44"/>
                                        </p:tgtEl>
                                      </p:cBhvr>
                                    </p:animEffect>
                                  </p:childTnLst>
                                </p:cTn>
                              </p:par>
                              <p:par>
                                <p:cTn id="121" presetID="4" presetClass="entr" presetSubtype="16" fill="hold" grpId="0" nodeType="withEffect">
                                  <p:stCondLst>
                                    <p:cond delay="0"/>
                                  </p:stCondLst>
                                  <p:childTnLst>
                                    <p:set>
                                      <p:cBhvr>
                                        <p:cTn id="122" dur="1" fill="hold">
                                          <p:stCondLst>
                                            <p:cond delay="0"/>
                                          </p:stCondLst>
                                        </p:cTn>
                                        <p:tgtEl>
                                          <p:spTgt spid="46"/>
                                        </p:tgtEl>
                                        <p:attrNameLst>
                                          <p:attrName>style.visibility</p:attrName>
                                        </p:attrNameLst>
                                      </p:cBhvr>
                                      <p:to>
                                        <p:strVal val="visible"/>
                                      </p:to>
                                    </p:set>
                                    <p:animEffect transition="in" filter="box(in)">
                                      <p:cBhvr>
                                        <p:cTn id="123" dur="500"/>
                                        <p:tgtEl>
                                          <p:spTgt spid="46"/>
                                        </p:tgtEl>
                                      </p:cBhvr>
                                    </p:animEffect>
                                  </p:childTnLst>
                                </p:cTn>
                              </p:par>
                            </p:childTnLst>
                          </p:cTn>
                        </p:par>
                      </p:childTnLst>
                    </p:cTn>
                  </p:par>
                  <p:par>
                    <p:cTn id="124" fill="hold">
                      <p:stCondLst>
                        <p:cond delay="indefinite"/>
                      </p:stCondLst>
                      <p:childTnLst>
                        <p:par>
                          <p:cTn id="125" fill="hold">
                            <p:stCondLst>
                              <p:cond delay="0"/>
                            </p:stCondLst>
                            <p:childTnLst>
                              <p:par>
                                <p:cTn id="126" presetID="4" presetClass="entr" presetSubtype="16" fill="hold" nodeType="click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box(in)">
                                      <p:cBhvr>
                                        <p:cTn id="128" dur="500"/>
                                        <p:tgtEl>
                                          <p:spTgt spid="55"/>
                                        </p:tgtEl>
                                      </p:cBhvr>
                                    </p:animEffect>
                                  </p:childTnLst>
                                </p:cTn>
                              </p:par>
                              <p:par>
                                <p:cTn id="129" presetID="4" presetClass="entr" presetSubtype="16"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animEffect transition="in" filter="box(in)">
                                      <p:cBhvr>
                                        <p:cTn id="131" dur="500"/>
                                        <p:tgtEl>
                                          <p:spTgt spid="48"/>
                                        </p:tgtEl>
                                      </p:cBhvr>
                                    </p:animEffect>
                                  </p:childTnLst>
                                </p:cTn>
                              </p:par>
                              <p:par>
                                <p:cTn id="132" presetID="4" presetClass="entr" presetSubtype="16" fill="hold" grpId="0" nodeType="withEffect">
                                  <p:stCondLst>
                                    <p:cond delay="0"/>
                                  </p:stCondLst>
                                  <p:childTnLst>
                                    <p:set>
                                      <p:cBhvr>
                                        <p:cTn id="133" dur="1" fill="hold">
                                          <p:stCondLst>
                                            <p:cond delay="0"/>
                                          </p:stCondLst>
                                        </p:cTn>
                                        <p:tgtEl>
                                          <p:spTgt spid="56"/>
                                        </p:tgtEl>
                                        <p:attrNameLst>
                                          <p:attrName>style.visibility</p:attrName>
                                        </p:attrNameLst>
                                      </p:cBhvr>
                                      <p:to>
                                        <p:strVal val="visible"/>
                                      </p:to>
                                    </p:set>
                                    <p:animEffect transition="in" filter="box(in)">
                                      <p:cBhvr>
                                        <p:cTn id="13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30" grpId="0" animBg="1"/>
      <p:bldP spid="31" grpId="0" animBg="1"/>
      <p:bldP spid="32"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p:bldP spid="54" grpId="0"/>
      <p:bldP spid="5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2002718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Rectangle 5">
            <a:extLst>
              <a:ext uri="{FF2B5EF4-FFF2-40B4-BE49-F238E27FC236}">
                <a16:creationId xmlns:a16="http://schemas.microsoft.com/office/drawing/2014/main" id="{F87F74C6-E351-4F07-8953-906632D72637}"/>
              </a:ext>
            </a:extLst>
          </p:cNvPr>
          <p:cNvSpPr>
            <a:spLocks noChangeArrowheads="1"/>
          </p:cNvSpPr>
          <p:nvPr/>
        </p:nvSpPr>
        <p:spPr bwMode="auto">
          <a:xfrm>
            <a:off x="716756" y="2307602"/>
            <a:ext cx="6871308" cy="661207"/>
          </a:xfrm>
          <a:prstGeom prst="rect">
            <a:avLst/>
          </a:prstGeom>
          <a:noFill/>
          <a:ln w="9525">
            <a:no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如：太阳、荧光屏、毛玻璃灯罩等等</a:t>
            </a:r>
          </a:p>
        </p:txBody>
      </p:sp>
      <p:sp>
        <p:nvSpPr>
          <p:cNvPr id="14" name="Rectangle 6">
            <a:extLst>
              <a:ext uri="{FF2B5EF4-FFF2-40B4-BE49-F238E27FC236}">
                <a16:creationId xmlns:a16="http://schemas.microsoft.com/office/drawing/2014/main" id="{4A88B618-593E-48F0-A1E2-42E28C499D8C}"/>
              </a:ext>
            </a:extLst>
          </p:cNvPr>
          <p:cNvSpPr>
            <a:spLocks noChangeArrowheads="1"/>
          </p:cNvSpPr>
          <p:nvPr/>
        </p:nvSpPr>
        <p:spPr bwMode="auto">
          <a:xfrm>
            <a:off x="401638" y="5540375"/>
            <a:ext cx="184150" cy="733425"/>
          </a:xfrm>
          <a:prstGeom prst="rect">
            <a:avLst/>
          </a:prstGeom>
          <a:noFill/>
          <a:ln w="9525">
            <a:noFill/>
            <a:miter lim="800000"/>
            <a:headEnd/>
            <a:tailEnd/>
          </a:ln>
        </p:spPr>
        <p:txBody>
          <a:bodyPr wrap="none" anchor="ctr">
            <a:spAutoFit/>
          </a:bodyPr>
          <a:lstStyle/>
          <a:p>
            <a:pPr defTabSz="914400">
              <a:lnSpc>
                <a:spcPct val="150000"/>
              </a:lnSpc>
            </a:pPr>
            <a:endParaRPr lang="zh-CN" altLang="en-US" sz="2800" b="1">
              <a:latin typeface="Times New Roman" pitchFamily="18" charset="0"/>
              <a:ea typeface="微软雅黑" pitchFamily="34" charset="-122"/>
              <a:cs typeface="Times New Roman" pitchFamily="18" charset="0"/>
            </a:endParaRPr>
          </a:p>
        </p:txBody>
      </p:sp>
      <p:sp>
        <p:nvSpPr>
          <p:cNvPr id="15" name="Rectangle 8">
            <a:extLst>
              <a:ext uri="{FF2B5EF4-FFF2-40B4-BE49-F238E27FC236}">
                <a16:creationId xmlns:a16="http://schemas.microsoft.com/office/drawing/2014/main" id="{787D1839-8DB7-467C-B7C7-077A6EA299CA}"/>
              </a:ext>
            </a:extLst>
          </p:cNvPr>
          <p:cNvSpPr>
            <a:spLocks noChangeArrowheads="1"/>
          </p:cNvSpPr>
          <p:nvPr/>
        </p:nvSpPr>
        <p:spPr bwMode="auto">
          <a:xfrm>
            <a:off x="401638" y="5624513"/>
            <a:ext cx="184150" cy="733425"/>
          </a:xfrm>
          <a:prstGeom prst="rect">
            <a:avLst/>
          </a:prstGeom>
          <a:noFill/>
          <a:ln w="9525">
            <a:noFill/>
            <a:miter lim="800000"/>
            <a:headEnd/>
            <a:tailEnd/>
          </a:ln>
        </p:spPr>
        <p:txBody>
          <a:bodyPr wrap="none" anchor="ctr">
            <a:spAutoFit/>
          </a:bodyPr>
          <a:lstStyle/>
          <a:p>
            <a:pPr defTabSz="914400">
              <a:lnSpc>
                <a:spcPct val="150000"/>
              </a:lnSpc>
            </a:pPr>
            <a:endParaRPr lang="zh-CN" altLang="en-US" sz="2800" b="1">
              <a:latin typeface="Times New Roman" pitchFamily="18" charset="0"/>
              <a:ea typeface="微软雅黑" pitchFamily="34" charset="-122"/>
              <a:cs typeface="Times New Roman" pitchFamily="18" charset="0"/>
            </a:endParaRPr>
          </a:p>
        </p:txBody>
      </p:sp>
      <p:sp>
        <p:nvSpPr>
          <p:cNvPr id="16" name="Rectangle 10">
            <a:extLst>
              <a:ext uri="{FF2B5EF4-FFF2-40B4-BE49-F238E27FC236}">
                <a16:creationId xmlns:a16="http://schemas.microsoft.com/office/drawing/2014/main" id="{8AFEAEBE-0FA1-4F69-B943-1C959B06DED7}"/>
              </a:ext>
            </a:extLst>
          </p:cNvPr>
          <p:cNvSpPr>
            <a:spLocks noChangeArrowheads="1"/>
          </p:cNvSpPr>
          <p:nvPr/>
        </p:nvSpPr>
        <p:spPr bwMode="auto">
          <a:xfrm>
            <a:off x="401638" y="5356668"/>
            <a:ext cx="184150" cy="733425"/>
          </a:xfrm>
          <a:prstGeom prst="rect">
            <a:avLst/>
          </a:prstGeom>
          <a:noFill/>
          <a:ln w="9525">
            <a:noFill/>
            <a:miter lim="800000"/>
            <a:headEnd/>
            <a:tailEnd/>
          </a:ln>
        </p:spPr>
        <p:txBody>
          <a:bodyPr wrap="none" anchor="ctr">
            <a:spAutoFit/>
          </a:bodyPr>
          <a:lstStyle/>
          <a:p>
            <a:pPr defTabSz="914400">
              <a:lnSpc>
                <a:spcPct val="150000"/>
              </a:lnSpc>
            </a:pPr>
            <a:endParaRPr lang="zh-CN" altLang="en-US" sz="2800" b="1">
              <a:latin typeface="Times New Roman" pitchFamily="18" charset="0"/>
              <a:ea typeface="微软雅黑" pitchFamily="34" charset="-122"/>
              <a:cs typeface="Times New Roman" pitchFamily="18" charset="0"/>
            </a:endParaRPr>
          </a:p>
        </p:txBody>
      </p:sp>
      <p:graphicFrame>
        <p:nvGraphicFramePr>
          <p:cNvPr id="17" name="Object 11">
            <a:extLst>
              <a:ext uri="{FF2B5EF4-FFF2-40B4-BE49-F238E27FC236}">
                <a16:creationId xmlns:a16="http://schemas.microsoft.com/office/drawing/2014/main" id="{5E303886-6432-4A52-91C0-5A4662A696CC}"/>
              </a:ext>
            </a:extLst>
          </p:cNvPr>
          <p:cNvGraphicFramePr>
            <a:graphicFrameLocks noChangeAspect="1"/>
          </p:cNvGraphicFramePr>
          <p:nvPr/>
        </p:nvGraphicFramePr>
        <p:xfrm>
          <a:off x="8865309" y="1973263"/>
          <a:ext cx="3709987" cy="3286125"/>
        </p:xfrm>
        <a:graphic>
          <a:graphicData uri="http://schemas.openxmlformats.org/presentationml/2006/ole">
            <mc:AlternateContent xmlns:mc="http://schemas.openxmlformats.org/markup-compatibility/2006">
              <mc:Choice xmlns:v="urn:schemas-microsoft-com:vml" Requires="v">
                <p:oleObj name="Visio" r:id="rId2" imgW="763126" imgH="882360" progId="Visio.Drawing.11">
                  <p:embed/>
                </p:oleObj>
              </mc:Choice>
              <mc:Fallback>
                <p:oleObj name="Visio" r:id="rId2" imgW="763126" imgH="882360" progId="Visio.Drawing.11">
                  <p:embed/>
                  <p:pic>
                    <p:nvPicPr>
                      <p:cNvPr id="2" name="Object 11"/>
                      <p:cNvPicPr>
                        <a:picLocks noChangeAspect="1" noChangeArrowheads="1"/>
                      </p:cNvPicPr>
                      <p:nvPr/>
                    </p:nvPicPr>
                    <p:blipFill>
                      <a:blip r:embed="rId3"/>
                      <a:srcRect/>
                      <a:stretch>
                        <a:fillRect/>
                      </a:stretch>
                    </p:blipFill>
                    <p:spPr bwMode="auto">
                      <a:xfrm>
                        <a:off x="8865309" y="1973263"/>
                        <a:ext cx="3709987" cy="3286125"/>
                      </a:xfrm>
                      <a:prstGeom prst="rect">
                        <a:avLst/>
                      </a:prstGeom>
                      <a:solidFill>
                        <a:schemeClr val="bg1"/>
                      </a:solidFill>
                    </p:spPr>
                  </p:pic>
                </p:oleObj>
              </mc:Fallback>
            </mc:AlternateContent>
          </a:graphicData>
        </a:graphic>
      </p:graphicFrame>
      <p:sp>
        <p:nvSpPr>
          <p:cNvPr id="18" name="Rectangle 4">
            <a:extLst>
              <a:ext uri="{FF2B5EF4-FFF2-40B4-BE49-F238E27FC236}">
                <a16:creationId xmlns:a16="http://schemas.microsoft.com/office/drawing/2014/main" id="{94BF71CB-3ACA-4271-BB18-92514D2D6E29}"/>
              </a:ext>
            </a:extLst>
          </p:cNvPr>
          <p:cNvSpPr>
            <a:spLocks noChangeArrowheads="1"/>
          </p:cNvSpPr>
          <p:nvPr/>
        </p:nvSpPr>
        <p:spPr bwMode="auto">
          <a:xfrm>
            <a:off x="742410" y="1568938"/>
            <a:ext cx="7036070" cy="738664"/>
          </a:xfrm>
          <a:prstGeom prst="rect">
            <a:avLst/>
          </a:prstGeom>
          <a:noFill/>
          <a:ln w="9525">
            <a:no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“余弦辐射体”或“朗伯辐射体”</a:t>
            </a:r>
            <a:r>
              <a:rPr lang="zh-CN" altLang="en-US" sz="2800" b="1" dirty="0">
                <a:solidFill>
                  <a:schemeClr val="bg1"/>
                </a:solidFill>
                <a:latin typeface="Times New Roman" pitchFamily="18" charset="0"/>
                <a:ea typeface="微软雅黑" pitchFamily="34" charset="-122"/>
                <a:cs typeface="Times New Roman" pitchFamily="18" charset="0"/>
              </a:rPr>
              <a:t> </a:t>
            </a:r>
          </a:p>
        </p:txBody>
      </p:sp>
      <p:sp>
        <p:nvSpPr>
          <p:cNvPr id="21" name="Rectangle 3">
            <a:extLst>
              <a:ext uri="{FF2B5EF4-FFF2-40B4-BE49-F238E27FC236}">
                <a16:creationId xmlns:a16="http://schemas.microsoft.com/office/drawing/2014/main" id="{BC6B8FE5-8D75-4FCE-A92A-0A11524EDA3A}"/>
              </a:ext>
            </a:extLst>
          </p:cNvPr>
          <p:cNvSpPr>
            <a:spLocks noChangeArrowheads="1"/>
          </p:cNvSpPr>
          <p:nvPr/>
        </p:nvSpPr>
        <p:spPr bwMode="auto">
          <a:xfrm>
            <a:off x="4950535" y="958665"/>
            <a:ext cx="4286250" cy="584775"/>
          </a:xfrm>
          <a:prstGeom prst="rect">
            <a:avLst/>
          </a:prstGeom>
          <a:noFill/>
          <a:ln w="9525">
            <a:noFill/>
            <a:miter lim="800000"/>
            <a:headEnd/>
            <a:tailEnd/>
          </a:ln>
        </p:spPr>
        <p:txBody>
          <a:bodyPr anchor="ctr">
            <a:spAutoFit/>
          </a:bodyPr>
          <a:lstStyle/>
          <a:p>
            <a:pPr algn="ctr" defTabSz="914400"/>
            <a:r>
              <a:rPr lang="en-US" altLang="zh-CN" sz="3200" b="1">
                <a:solidFill>
                  <a:srgbClr val="0000FF"/>
                </a:solidFill>
                <a:latin typeface="微软雅黑" pitchFamily="34" charset="-122"/>
                <a:ea typeface="微软雅黑" pitchFamily="34" charset="-122"/>
                <a:cs typeface="Times New Roman" pitchFamily="18" charset="0"/>
              </a:rPr>
              <a:t>1.</a:t>
            </a:r>
            <a:r>
              <a:rPr lang="zh-CN" altLang="en-US" sz="3200" b="1">
                <a:solidFill>
                  <a:srgbClr val="0000FF"/>
                </a:solidFill>
                <a:latin typeface="微软雅黑" pitchFamily="34" charset="-122"/>
                <a:ea typeface="微软雅黑" pitchFamily="34" charset="-122"/>
                <a:cs typeface="Times New Roman" pitchFamily="18" charset="0"/>
              </a:rPr>
              <a:t>朗伯余弦定律 </a:t>
            </a:r>
          </a:p>
        </p:txBody>
      </p:sp>
      <p:sp>
        <p:nvSpPr>
          <p:cNvPr id="22" name="Rectangle 5">
            <a:extLst>
              <a:ext uri="{FF2B5EF4-FFF2-40B4-BE49-F238E27FC236}">
                <a16:creationId xmlns:a16="http://schemas.microsoft.com/office/drawing/2014/main" id="{FC956DC0-5E7E-4756-90B1-2DC42AAB7D5E}"/>
              </a:ext>
            </a:extLst>
          </p:cNvPr>
          <p:cNvSpPr>
            <a:spLocks noChangeArrowheads="1"/>
          </p:cNvSpPr>
          <p:nvPr/>
        </p:nvSpPr>
        <p:spPr bwMode="auto">
          <a:xfrm>
            <a:off x="588996" y="2952387"/>
            <a:ext cx="7810768" cy="738664"/>
          </a:xfrm>
          <a:prstGeom prst="rect">
            <a:avLst/>
          </a:prstGeom>
          <a:noFill/>
          <a:ln w="9525">
            <a:no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特点：各方向的辐射亮度是一样的 </a:t>
            </a:r>
          </a:p>
        </p:txBody>
      </p:sp>
      <p:graphicFrame>
        <p:nvGraphicFramePr>
          <p:cNvPr id="23" name="对象 22">
            <a:extLst>
              <a:ext uri="{FF2B5EF4-FFF2-40B4-BE49-F238E27FC236}">
                <a16:creationId xmlns:a16="http://schemas.microsoft.com/office/drawing/2014/main" id="{91444207-BD3C-4E89-8905-B8FC81EE8A49}"/>
              </a:ext>
            </a:extLst>
          </p:cNvPr>
          <p:cNvGraphicFramePr>
            <a:graphicFrameLocks noChangeAspect="1"/>
          </p:cNvGraphicFramePr>
          <p:nvPr/>
        </p:nvGraphicFramePr>
        <p:xfrm>
          <a:off x="1739326" y="3604678"/>
          <a:ext cx="1274999" cy="948836"/>
        </p:xfrm>
        <a:graphic>
          <a:graphicData uri="http://schemas.openxmlformats.org/presentationml/2006/ole">
            <mc:AlternateContent xmlns:mc="http://schemas.openxmlformats.org/markup-compatibility/2006">
              <mc:Choice xmlns:v="urn:schemas-microsoft-com:vml" Requires="v">
                <p:oleObj name="公式" r:id="rId4" imgW="545760" imgH="406080" progId="Equation.3">
                  <p:embed/>
                </p:oleObj>
              </mc:Choice>
              <mc:Fallback>
                <p:oleObj name="公式" r:id="rId4" imgW="545760" imgH="406080" progId="Equation.3">
                  <p:embed/>
                  <p:pic>
                    <p:nvPicPr>
                      <p:cNvPr id="3" name="对象 2"/>
                      <p:cNvPicPr/>
                      <p:nvPr/>
                    </p:nvPicPr>
                    <p:blipFill>
                      <a:blip r:embed="rId5"/>
                      <a:stretch>
                        <a:fillRect/>
                      </a:stretch>
                    </p:blipFill>
                    <p:spPr>
                      <a:xfrm>
                        <a:off x="1739326" y="3604678"/>
                        <a:ext cx="1274999" cy="948836"/>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21C17C33-7257-430B-A8FA-A64DAA4A4C38}"/>
              </a:ext>
            </a:extLst>
          </p:cNvPr>
          <p:cNvGraphicFramePr>
            <a:graphicFrameLocks noChangeAspect="1"/>
          </p:cNvGraphicFramePr>
          <p:nvPr/>
        </p:nvGraphicFramePr>
        <p:xfrm>
          <a:off x="3221814" y="3605227"/>
          <a:ext cx="1866900" cy="947738"/>
        </p:xfrm>
        <a:graphic>
          <a:graphicData uri="http://schemas.openxmlformats.org/presentationml/2006/ole">
            <mc:AlternateContent xmlns:mc="http://schemas.openxmlformats.org/markup-compatibility/2006">
              <mc:Choice xmlns:v="urn:schemas-microsoft-com:vml" Requires="v">
                <p:oleObj name="公式" r:id="rId6" imgW="799920" imgH="406080" progId="Equation.3">
                  <p:embed/>
                </p:oleObj>
              </mc:Choice>
              <mc:Fallback>
                <p:oleObj name="公式" r:id="rId6" imgW="799920" imgH="406080" progId="Equation.3">
                  <p:embed/>
                  <p:pic>
                    <p:nvPicPr>
                      <p:cNvPr id="4" name="对象 3"/>
                      <p:cNvPicPr>
                        <a:picLocks noChangeAspect="1" noChangeArrowheads="1"/>
                      </p:cNvPicPr>
                      <p:nvPr/>
                    </p:nvPicPr>
                    <p:blipFill>
                      <a:blip r:embed="rId7"/>
                      <a:srcRect/>
                      <a:stretch>
                        <a:fillRect/>
                      </a:stretch>
                    </p:blipFill>
                    <p:spPr bwMode="auto">
                      <a:xfrm>
                        <a:off x="3221814" y="3605227"/>
                        <a:ext cx="18669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9">
            <a:extLst>
              <a:ext uri="{FF2B5EF4-FFF2-40B4-BE49-F238E27FC236}">
                <a16:creationId xmlns:a16="http://schemas.microsoft.com/office/drawing/2014/main" id="{32258574-2B0B-4152-83E3-551509B4F0C3}"/>
              </a:ext>
            </a:extLst>
          </p:cNvPr>
          <p:cNvGraphicFramePr>
            <a:graphicFrameLocks noChangeAspect="1"/>
          </p:cNvGraphicFramePr>
          <p:nvPr/>
        </p:nvGraphicFramePr>
        <p:xfrm>
          <a:off x="2790521" y="4841394"/>
          <a:ext cx="3040839" cy="745000"/>
        </p:xfrm>
        <a:graphic>
          <a:graphicData uri="http://schemas.openxmlformats.org/presentationml/2006/ole">
            <mc:AlternateContent xmlns:mc="http://schemas.openxmlformats.org/markup-compatibility/2006">
              <mc:Choice xmlns:v="urn:schemas-microsoft-com:vml" Requires="v">
                <p:oleObj name="Equation" r:id="rId8" imgW="685800" imgH="203040" progId="Equation.DSMT4">
                  <p:embed/>
                </p:oleObj>
              </mc:Choice>
              <mc:Fallback>
                <p:oleObj name="Equation" r:id="rId8" imgW="685800" imgH="203040" progId="Equation.DSMT4">
                  <p:embed/>
                  <p:pic>
                    <p:nvPicPr>
                      <p:cNvPr id="18"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0521" y="4841394"/>
                        <a:ext cx="3040839" cy="745000"/>
                      </a:xfrm>
                      <a:prstGeom prst="rect">
                        <a:avLst/>
                      </a:prstGeom>
                      <a:solidFill>
                        <a:srgbClr val="FFCC99"/>
                      </a:solidFill>
                    </p:spPr>
                  </p:pic>
                </p:oleObj>
              </mc:Fallback>
            </mc:AlternateContent>
          </a:graphicData>
        </a:graphic>
      </p:graphicFrame>
      <p:sp>
        <p:nvSpPr>
          <p:cNvPr id="29" name="AutoShape 12">
            <a:extLst>
              <a:ext uri="{FF2B5EF4-FFF2-40B4-BE49-F238E27FC236}">
                <a16:creationId xmlns:a16="http://schemas.microsoft.com/office/drawing/2014/main" id="{34EB8952-087E-478A-9D68-D6DEE4CA8B1C}"/>
              </a:ext>
            </a:extLst>
          </p:cNvPr>
          <p:cNvSpPr>
            <a:spLocks noChangeArrowheads="1"/>
          </p:cNvSpPr>
          <p:nvPr/>
        </p:nvSpPr>
        <p:spPr bwMode="auto">
          <a:xfrm>
            <a:off x="1479144" y="4890044"/>
            <a:ext cx="1150938" cy="647700"/>
          </a:xfrm>
          <a:prstGeom prst="rightArrow">
            <a:avLst>
              <a:gd name="adj1" fmla="val 50000"/>
              <a:gd name="adj2" fmla="val 44424"/>
            </a:avLst>
          </a:prstGeom>
          <a:solidFill>
            <a:schemeClr val="accent1"/>
          </a:solidFill>
          <a:ln w="9525">
            <a:solidFill>
              <a:schemeClr val="tx1"/>
            </a:solidFill>
            <a:miter lim="800000"/>
            <a:headEnd/>
            <a:tailEnd/>
          </a:ln>
        </p:spPr>
        <p:txBody>
          <a:bodyPr wrap="none" anchor="ctr"/>
          <a:lstStyle/>
          <a:p>
            <a:pPr defTabSz="914400"/>
            <a:endParaRPr lang="zh-CN" altLang="en-US" sz="1800"/>
          </a:p>
        </p:txBody>
      </p:sp>
      <p:sp>
        <p:nvSpPr>
          <p:cNvPr id="30" name="Rectangle 13">
            <a:extLst>
              <a:ext uri="{FF2B5EF4-FFF2-40B4-BE49-F238E27FC236}">
                <a16:creationId xmlns:a16="http://schemas.microsoft.com/office/drawing/2014/main" id="{768FA1AF-3761-4ABF-BAF3-700986DCC05D}"/>
              </a:ext>
            </a:extLst>
          </p:cNvPr>
          <p:cNvSpPr>
            <a:spLocks noChangeArrowheads="1"/>
          </p:cNvSpPr>
          <p:nvPr/>
        </p:nvSpPr>
        <p:spPr bwMode="auto">
          <a:xfrm>
            <a:off x="2630082" y="5876230"/>
            <a:ext cx="8153603" cy="1308884"/>
          </a:xfrm>
          <a:prstGeom prst="rect">
            <a:avLst/>
          </a:prstGeom>
          <a:solidFill>
            <a:srgbClr val="00FFFF"/>
          </a:solidFill>
          <a:ln w="9525">
            <a:solidFill>
              <a:schemeClr val="accent1"/>
            </a:solidFill>
            <a:miter lim="800000"/>
            <a:headEnd/>
            <a:tailEnd/>
          </a:ln>
        </p:spPr>
        <p:txBody>
          <a:bodyPr wrap="square" anchor="ctr">
            <a:spAutoFit/>
          </a:bodyPr>
          <a:lstStyle/>
          <a:p>
            <a:pPr algn="ctr" defTabSz="914400">
              <a:lnSpc>
                <a:spcPct val="150000"/>
              </a:lnSpc>
            </a:pPr>
            <a:r>
              <a:rPr lang="zh-CN" altLang="en-US" sz="2800" b="1">
                <a:latin typeface="微软雅黑" pitchFamily="34" charset="-122"/>
                <a:ea typeface="微软雅黑" pitchFamily="34" charset="-122"/>
              </a:rPr>
              <a:t>其物理意义是：各个方向上光亮度相等的发光表面，其发光强度按余弦规律变化。</a:t>
            </a:r>
          </a:p>
        </p:txBody>
      </p:sp>
    </p:spTree>
    <p:extLst>
      <p:ext uri="{BB962C8B-B14F-4D97-AF65-F5344CB8AC3E}">
        <p14:creationId xmlns:p14="http://schemas.microsoft.com/office/powerpoint/2010/main" val="85212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heckerboard(across)">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checkerboard(across)">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heckerboard(across)">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checkerboard(across)">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500" fill="hold"/>
                                        <p:tgtEl>
                                          <p:spTgt spid="23"/>
                                        </p:tgtEl>
                                        <p:attrNameLst>
                                          <p:attrName>ppt_w</p:attrName>
                                        </p:attrNameLst>
                                      </p:cBhvr>
                                      <p:tavLst>
                                        <p:tav tm="0">
                                          <p:val>
                                            <p:fltVal val="0"/>
                                          </p:val>
                                        </p:tav>
                                        <p:tav tm="100000">
                                          <p:val>
                                            <p:strVal val="#ppt_w"/>
                                          </p:val>
                                        </p:tav>
                                      </p:tavLst>
                                    </p:anim>
                                    <p:anim calcmode="lin" valueType="num">
                                      <p:cBhvr>
                                        <p:cTn id="33" dur="500" fill="hold"/>
                                        <p:tgtEl>
                                          <p:spTgt spid="23"/>
                                        </p:tgtEl>
                                        <p:attrNameLst>
                                          <p:attrName>ppt_h</p:attrName>
                                        </p:attrNameLst>
                                      </p:cBhvr>
                                      <p:tavLst>
                                        <p:tav tm="0">
                                          <p:val>
                                            <p:fltVal val="0"/>
                                          </p:val>
                                        </p:tav>
                                        <p:tav tm="100000">
                                          <p:val>
                                            <p:strVal val="#ppt_h"/>
                                          </p:val>
                                        </p:tav>
                                      </p:tavLst>
                                    </p:anim>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fltVal val="0"/>
                                          </p:val>
                                        </p:tav>
                                        <p:tav tm="100000">
                                          <p:val>
                                            <p:strVal val="#ppt_h"/>
                                          </p:val>
                                        </p:tav>
                                      </p:tavLst>
                                    </p:anim>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checkerboard(across)">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animEffect transition="in" filter="fade">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checkerboard(across)">
                                      <p:cBhvr>
                                        <p:cTn id="5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21" grpId="0"/>
      <p:bldP spid="22" grpId="0"/>
      <p:bldP spid="29" grpId="0" animBg="1" autoUpdateAnimBg="0"/>
      <p:bldP spid="30"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4" name="AutoShape 13">
            <a:extLst>
              <a:ext uri="{FF2B5EF4-FFF2-40B4-BE49-F238E27FC236}">
                <a16:creationId xmlns:a16="http://schemas.microsoft.com/office/drawing/2014/main" id="{B0C56721-20FD-4091-AEE8-3B81FBAFE6EF}"/>
              </a:ext>
            </a:extLst>
          </p:cNvPr>
          <p:cNvSpPr>
            <a:spLocks noChangeAspect="1" noChangeArrowheads="1"/>
          </p:cNvSpPr>
          <p:nvPr/>
        </p:nvSpPr>
        <p:spPr bwMode="auto">
          <a:xfrm>
            <a:off x="4003742" y="3783995"/>
            <a:ext cx="434975" cy="395288"/>
          </a:xfrm>
          <a:prstGeom prst="sun">
            <a:avLst>
              <a:gd name="adj" fmla="val 25000"/>
            </a:avLst>
          </a:prstGeom>
          <a:solidFill>
            <a:srgbClr val="FF0000"/>
          </a:solidFill>
          <a:ln w="9525">
            <a:solidFill>
              <a:srgbClr val="FF9900"/>
            </a:solidFill>
            <a:miter lim="800000"/>
            <a:headEnd/>
            <a:tailEnd/>
          </a:ln>
        </p:spPr>
        <p:txBody>
          <a:bodyPr lIns="0" tIns="0" rIns="0"/>
          <a:lstStyle/>
          <a:p>
            <a:pPr defTabSz="914400"/>
            <a:endParaRPr lang="zh-CN" altLang="en-US" sz="1800"/>
          </a:p>
        </p:txBody>
      </p:sp>
      <p:sp>
        <p:nvSpPr>
          <p:cNvPr id="31" name="Oval 4">
            <a:extLst>
              <a:ext uri="{FF2B5EF4-FFF2-40B4-BE49-F238E27FC236}">
                <a16:creationId xmlns:a16="http://schemas.microsoft.com/office/drawing/2014/main" id="{5FF0D84C-561A-4F9E-9A63-00CB217B63C9}"/>
              </a:ext>
            </a:extLst>
          </p:cNvPr>
          <p:cNvSpPr>
            <a:spLocks noChangeAspect="1" noChangeArrowheads="1"/>
          </p:cNvSpPr>
          <p:nvPr/>
        </p:nvSpPr>
        <p:spPr bwMode="auto">
          <a:xfrm rot="904109">
            <a:off x="6704080" y="2680683"/>
            <a:ext cx="839787" cy="2413000"/>
          </a:xfrm>
          <a:prstGeom prst="ellipse">
            <a:avLst/>
          </a:prstGeom>
          <a:solidFill>
            <a:srgbClr val="FF9999"/>
          </a:solidFill>
          <a:ln w="31750">
            <a:solidFill>
              <a:schemeClr val="tx1"/>
            </a:solidFill>
            <a:round/>
            <a:headEnd/>
            <a:tailEnd/>
          </a:ln>
        </p:spPr>
        <p:txBody>
          <a:bodyPr/>
          <a:lstStyle/>
          <a:p>
            <a:pPr defTabSz="914400"/>
            <a:endParaRPr lang="zh-CN" altLang="en-US" sz="1800"/>
          </a:p>
        </p:txBody>
      </p:sp>
      <p:grpSp>
        <p:nvGrpSpPr>
          <p:cNvPr id="32" name="组合 63">
            <a:extLst>
              <a:ext uri="{FF2B5EF4-FFF2-40B4-BE49-F238E27FC236}">
                <a16:creationId xmlns:a16="http://schemas.microsoft.com/office/drawing/2014/main" id="{5DC21D87-90C5-4787-B953-7C16D460EA71}"/>
              </a:ext>
            </a:extLst>
          </p:cNvPr>
          <p:cNvGrpSpPr>
            <a:grpSpLocks/>
          </p:cNvGrpSpPr>
          <p:nvPr/>
        </p:nvGrpSpPr>
        <p:grpSpPr bwMode="auto">
          <a:xfrm>
            <a:off x="4168842" y="3952270"/>
            <a:ext cx="2935288" cy="1614488"/>
            <a:chOff x="2451438" y="3027355"/>
            <a:chExt cx="2934937" cy="1615390"/>
          </a:xfrm>
        </p:grpSpPr>
        <p:sp>
          <p:nvSpPr>
            <p:cNvPr id="34" name="Line 10">
              <a:extLst>
                <a:ext uri="{FF2B5EF4-FFF2-40B4-BE49-F238E27FC236}">
                  <a16:creationId xmlns:a16="http://schemas.microsoft.com/office/drawing/2014/main" id="{6D671129-1656-4FAF-9607-A281DB1A99AA}"/>
                </a:ext>
              </a:extLst>
            </p:cNvPr>
            <p:cNvSpPr>
              <a:spLocks noChangeAspect="1" noChangeShapeType="1"/>
            </p:cNvSpPr>
            <p:nvPr/>
          </p:nvSpPr>
          <p:spPr bwMode="auto">
            <a:xfrm flipH="1">
              <a:off x="5357818" y="3027355"/>
              <a:ext cx="28557" cy="1544653"/>
            </a:xfrm>
            <a:prstGeom prst="line">
              <a:avLst/>
            </a:prstGeom>
            <a:noFill/>
            <a:ln w="31750">
              <a:solidFill>
                <a:schemeClr val="tx1"/>
              </a:solidFill>
              <a:prstDash val="dash"/>
              <a:round/>
              <a:headEnd/>
              <a:tailEnd/>
            </a:ln>
          </p:spPr>
          <p:txBody>
            <a:bodyPr/>
            <a:lstStyle/>
            <a:p>
              <a:endParaRPr lang="zh-CN" altLang="en-US"/>
            </a:p>
          </p:txBody>
        </p:sp>
        <p:sp>
          <p:nvSpPr>
            <p:cNvPr id="35" name="Line 10">
              <a:extLst>
                <a:ext uri="{FF2B5EF4-FFF2-40B4-BE49-F238E27FC236}">
                  <a16:creationId xmlns:a16="http://schemas.microsoft.com/office/drawing/2014/main" id="{908DB510-8A74-47F4-A7DF-EB2420A1DEE7}"/>
                </a:ext>
              </a:extLst>
            </p:cNvPr>
            <p:cNvSpPr>
              <a:spLocks noChangeAspect="1" noChangeShapeType="1"/>
            </p:cNvSpPr>
            <p:nvPr/>
          </p:nvSpPr>
          <p:spPr bwMode="auto">
            <a:xfrm flipH="1">
              <a:off x="2451438" y="3098092"/>
              <a:ext cx="28557" cy="1544653"/>
            </a:xfrm>
            <a:prstGeom prst="line">
              <a:avLst/>
            </a:prstGeom>
            <a:noFill/>
            <a:ln w="31750">
              <a:solidFill>
                <a:schemeClr val="tx1"/>
              </a:solidFill>
              <a:prstDash val="dash"/>
              <a:round/>
              <a:headEnd/>
              <a:tailEnd/>
            </a:ln>
          </p:spPr>
          <p:txBody>
            <a:bodyPr/>
            <a:lstStyle/>
            <a:p>
              <a:endParaRPr lang="zh-CN" altLang="en-US"/>
            </a:p>
          </p:txBody>
        </p:sp>
      </p:grpSp>
      <p:grpSp>
        <p:nvGrpSpPr>
          <p:cNvPr id="36" name="组合 64">
            <a:extLst>
              <a:ext uri="{FF2B5EF4-FFF2-40B4-BE49-F238E27FC236}">
                <a16:creationId xmlns:a16="http://schemas.microsoft.com/office/drawing/2014/main" id="{C1517AD5-D7DB-4F98-95F3-5355EC43C338}"/>
              </a:ext>
            </a:extLst>
          </p:cNvPr>
          <p:cNvGrpSpPr>
            <a:grpSpLocks/>
          </p:cNvGrpSpPr>
          <p:nvPr/>
        </p:nvGrpSpPr>
        <p:grpSpPr bwMode="auto">
          <a:xfrm>
            <a:off x="4146617" y="5139720"/>
            <a:ext cx="2930525" cy="427038"/>
            <a:chOff x="2428860" y="4214818"/>
            <a:chExt cx="2930537" cy="427707"/>
          </a:xfrm>
        </p:grpSpPr>
        <p:sp>
          <p:nvSpPr>
            <p:cNvPr id="37" name="Line 19">
              <a:extLst>
                <a:ext uri="{FF2B5EF4-FFF2-40B4-BE49-F238E27FC236}">
                  <a16:creationId xmlns:a16="http://schemas.microsoft.com/office/drawing/2014/main" id="{3A3E85C0-6861-4CAC-8BEC-CF7F27CB8AEA}"/>
                </a:ext>
              </a:extLst>
            </p:cNvPr>
            <p:cNvSpPr>
              <a:spLocks noChangeAspect="1" noChangeShapeType="1"/>
            </p:cNvSpPr>
            <p:nvPr/>
          </p:nvSpPr>
          <p:spPr bwMode="auto">
            <a:xfrm flipH="1">
              <a:off x="2428860" y="4432836"/>
              <a:ext cx="1285884" cy="0"/>
            </a:xfrm>
            <a:prstGeom prst="line">
              <a:avLst/>
            </a:prstGeom>
            <a:noFill/>
            <a:ln w="38100">
              <a:solidFill>
                <a:schemeClr val="tx1"/>
              </a:solidFill>
              <a:round/>
              <a:headEnd/>
              <a:tailEnd type="stealth" w="med" len="lg"/>
            </a:ln>
          </p:spPr>
          <p:txBody>
            <a:bodyPr/>
            <a:lstStyle/>
            <a:p>
              <a:endParaRPr lang="zh-CN" altLang="en-US"/>
            </a:p>
          </p:txBody>
        </p:sp>
        <p:sp>
          <p:nvSpPr>
            <p:cNvPr id="38" name="Line 20">
              <a:extLst>
                <a:ext uri="{FF2B5EF4-FFF2-40B4-BE49-F238E27FC236}">
                  <a16:creationId xmlns:a16="http://schemas.microsoft.com/office/drawing/2014/main" id="{32CD5551-2BFF-40F6-9231-4F07ECE6B6F7}"/>
                </a:ext>
              </a:extLst>
            </p:cNvPr>
            <p:cNvSpPr>
              <a:spLocks noChangeAspect="1" noChangeShapeType="1"/>
            </p:cNvSpPr>
            <p:nvPr/>
          </p:nvSpPr>
          <p:spPr bwMode="auto">
            <a:xfrm>
              <a:off x="4071934" y="4429132"/>
              <a:ext cx="1287463" cy="0"/>
            </a:xfrm>
            <a:prstGeom prst="line">
              <a:avLst/>
            </a:prstGeom>
            <a:noFill/>
            <a:ln w="38100">
              <a:solidFill>
                <a:schemeClr val="tx1"/>
              </a:solidFill>
              <a:round/>
              <a:headEnd/>
              <a:tailEnd type="stealth" w="med" len="lg"/>
            </a:ln>
          </p:spPr>
          <p:txBody>
            <a:bodyPr/>
            <a:lstStyle/>
            <a:p>
              <a:endParaRPr lang="zh-CN" altLang="en-US"/>
            </a:p>
          </p:txBody>
        </p:sp>
        <p:sp>
          <p:nvSpPr>
            <p:cNvPr id="39" name="TextBox 33">
              <a:extLst>
                <a:ext uri="{FF2B5EF4-FFF2-40B4-BE49-F238E27FC236}">
                  <a16:creationId xmlns:a16="http://schemas.microsoft.com/office/drawing/2014/main" id="{11CF7220-B22D-4E98-ABB7-7BFF88F35BD8}"/>
                </a:ext>
              </a:extLst>
            </p:cNvPr>
            <p:cNvSpPr txBox="1">
              <a:spLocks noChangeArrowheads="1"/>
            </p:cNvSpPr>
            <p:nvPr/>
          </p:nvSpPr>
          <p:spPr bwMode="auto">
            <a:xfrm>
              <a:off x="3857616" y="4214818"/>
              <a:ext cx="214313" cy="427707"/>
            </a:xfrm>
            <a:prstGeom prst="rect">
              <a:avLst/>
            </a:prstGeom>
            <a:solidFill>
              <a:schemeClr val="bg1"/>
            </a:solidFill>
            <a:ln w="9525">
              <a:noFill/>
              <a:miter lim="800000"/>
              <a:headEnd/>
              <a:tailEnd/>
            </a:ln>
          </p:spPr>
          <p:txBody>
            <a:bodyPr lIns="0" tIns="0" rIns="0" bIns="0">
              <a:spAutoFit/>
            </a:bodyPr>
            <a:lstStyle/>
            <a:p>
              <a:pPr defTabSz="914400"/>
              <a:r>
                <a:rPr lang="en-US" altLang="zh-CN" sz="2800" b="1" i="1">
                  <a:latin typeface="Times New Roman" pitchFamily="18" charset="0"/>
                  <a:cs typeface="Times New Roman" pitchFamily="18" charset="0"/>
                </a:rPr>
                <a:t>r</a:t>
              </a:r>
              <a:endParaRPr lang="zh-CN" altLang="en-US" sz="2800" b="1" i="1">
                <a:latin typeface="Times New Roman" pitchFamily="18" charset="0"/>
                <a:cs typeface="Times New Roman" pitchFamily="18" charset="0"/>
              </a:endParaRPr>
            </a:p>
          </p:txBody>
        </p:sp>
      </p:grpSp>
      <p:sp>
        <p:nvSpPr>
          <p:cNvPr id="41" name="TextBox 34">
            <a:extLst>
              <a:ext uri="{FF2B5EF4-FFF2-40B4-BE49-F238E27FC236}">
                <a16:creationId xmlns:a16="http://schemas.microsoft.com/office/drawing/2014/main" id="{AA885FE4-3DA3-4E32-8C9C-92738D5850A8}"/>
              </a:ext>
            </a:extLst>
          </p:cNvPr>
          <p:cNvSpPr txBox="1">
            <a:spLocks noChangeArrowheads="1"/>
          </p:cNvSpPr>
          <p:nvPr/>
        </p:nvSpPr>
        <p:spPr bwMode="auto">
          <a:xfrm>
            <a:off x="7075555" y="2996595"/>
            <a:ext cx="428625" cy="427038"/>
          </a:xfrm>
          <a:prstGeom prst="rect">
            <a:avLst/>
          </a:prstGeom>
          <a:noFill/>
          <a:ln w="9525">
            <a:noFill/>
            <a:miter lim="800000"/>
            <a:headEnd/>
            <a:tailEnd/>
          </a:ln>
        </p:spPr>
        <p:txBody>
          <a:bodyPr lIns="0" tIns="0" rIns="0" bIns="0">
            <a:spAutoFit/>
          </a:bodyPr>
          <a:lstStyle/>
          <a:p>
            <a:pPr defTabSz="914400"/>
            <a:r>
              <a:rPr lang="en-US" altLang="zh-CN" sz="2800" dirty="0">
                <a:latin typeface="Times New Roman" pitchFamily="18" charset="0"/>
                <a:cs typeface="Times New Roman" pitchFamily="18" charset="0"/>
              </a:rPr>
              <a:t>d</a:t>
            </a:r>
            <a:r>
              <a:rPr lang="en-US" altLang="zh-CN" sz="2800" i="1" dirty="0">
                <a:latin typeface="Times New Roman" pitchFamily="18" charset="0"/>
                <a:cs typeface="Times New Roman" pitchFamily="18" charset="0"/>
              </a:rPr>
              <a:t>s</a:t>
            </a:r>
          </a:p>
        </p:txBody>
      </p:sp>
      <p:sp>
        <p:nvSpPr>
          <p:cNvPr id="42" name="TextBox 35">
            <a:extLst>
              <a:ext uri="{FF2B5EF4-FFF2-40B4-BE49-F238E27FC236}">
                <a16:creationId xmlns:a16="http://schemas.microsoft.com/office/drawing/2014/main" id="{B3FB1301-492C-4E36-8772-FDBD353717D9}"/>
              </a:ext>
            </a:extLst>
          </p:cNvPr>
          <p:cNvSpPr txBox="1"/>
          <p:nvPr/>
        </p:nvSpPr>
        <p:spPr>
          <a:xfrm>
            <a:off x="2146367" y="3783995"/>
            <a:ext cx="1214438" cy="365125"/>
          </a:xfrm>
          <a:prstGeom prst="rect">
            <a:avLst/>
          </a:prstGeom>
          <a:solidFill>
            <a:srgbClr val="00FFFF"/>
          </a:solidFill>
        </p:spPr>
        <p:txBody>
          <a:bodyPr lIns="0" tIns="0" rIns="0" bIns="0">
            <a:spAutoFit/>
          </a:bodyPr>
          <a:lstStyle/>
          <a:p>
            <a:pPr defTabSz="914400">
              <a:defRPr/>
            </a:pPr>
            <a:r>
              <a:rPr lang="zh-CN" altLang="en-US" sz="2400" b="1" dirty="0">
                <a:latin typeface="Times New Roman" pitchFamily="18" charset="0"/>
                <a:ea typeface="+mn-ea"/>
                <a:cs typeface="Times New Roman" pitchFamily="18" charset="0"/>
              </a:rPr>
              <a:t>点光源</a:t>
            </a:r>
            <a:r>
              <a:rPr lang="en-US" altLang="zh-CN" b="1" dirty="0">
                <a:latin typeface="Times New Roman" pitchFamily="18" charset="0"/>
                <a:ea typeface="+mn-ea"/>
                <a:cs typeface="Times New Roman" pitchFamily="18" charset="0"/>
              </a:rPr>
              <a:t>A</a:t>
            </a:r>
            <a:endParaRPr lang="zh-CN" altLang="en-US" b="1" dirty="0">
              <a:latin typeface="Times New Roman" pitchFamily="18" charset="0"/>
              <a:ea typeface="+mn-ea"/>
              <a:cs typeface="Times New Roman" pitchFamily="18" charset="0"/>
            </a:endParaRPr>
          </a:p>
        </p:txBody>
      </p:sp>
      <p:cxnSp>
        <p:nvCxnSpPr>
          <p:cNvPr id="43" name="直接箭头连接符 42">
            <a:extLst>
              <a:ext uri="{FF2B5EF4-FFF2-40B4-BE49-F238E27FC236}">
                <a16:creationId xmlns:a16="http://schemas.microsoft.com/office/drawing/2014/main" id="{A5B78DE1-4D6B-4A96-ACEA-D230F77E9730}"/>
              </a:ext>
            </a:extLst>
          </p:cNvPr>
          <p:cNvCxnSpPr/>
          <p:nvPr/>
        </p:nvCxnSpPr>
        <p:spPr>
          <a:xfrm>
            <a:off x="7108892" y="3936395"/>
            <a:ext cx="1109663" cy="631825"/>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44" name="弧形 42">
            <a:extLst>
              <a:ext uri="{FF2B5EF4-FFF2-40B4-BE49-F238E27FC236}">
                <a16:creationId xmlns:a16="http://schemas.microsoft.com/office/drawing/2014/main" id="{66C61CA0-31AA-4BB6-A877-EEC54E4BB87D}"/>
              </a:ext>
            </a:extLst>
          </p:cNvPr>
          <p:cNvSpPr>
            <a:spLocks noChangeArrowheads="1"/>
          </p:cNvSpPr>
          <p:nvPr/>
        </p:nvSpPr>
        <p:spPr bwMode="auto">
          <a:xfrm rot="10619130" flipH="1">
            <a:off x="7593080" y="3577620"/>
            <a:ext cx="431800" cy="747713"/>
          </a:xfrm>
          <a:custGeom>
            <a:avLst/>
            <a:gdLst>
              <a:gd name="T0" fmla="*/ 215900 w 431800"/>
              <a:gd name="T1" fmla="*/ 0 h 747713"/>
              <a:gd name="T2" fmla="*/ 215900 w 431800"/>
              <a:gd name="T3" fmla="*/ 373857 h 747713"/>
              <a:gd name="T4" fmla="*/ 431800 w 431800"/>
              <a:gd name="T5" fmla="*/ 373857 h 747713"/>
              <a:gd name="T6" fmla="*/ 11796480 60000 65536"/>
              <a:gd name="T7" fmla="*/ 11796480 60000 65536"/>
              <a:gd name="T8" fmla="*/ 5898240 60000 65536"/>
              <a:gd name="T9" fmla="*/ 215900 w 431800"/>
              <a:gd name="T10" fmla="*/ 0 h 747713"/>
              <a:gd name="T11" fmla="*/ 431800 w 431800"/>
              <a:gd name="T12" fmla="*/ 373857 h 747713"/>
            </a:gdLst>
            <a:ahLst/>
            <a:cxnLst>
              <a:cxn ang="T6">
                <a:pos x="T0" y="T1"/>
              </a:cxn>
              <a:cxn ang="T7">
                <a:pos x="T2" y="T3"/>
              </a:cxn>
              <a:cxn ang="T8">
                <a:pos x="T4" y="T5"/>
              </a:cxn>
            </a:cxnLst>
            <a:rect l="T9" t="T10" r="T11" b="T12"/>
            <a:pathLst>
              <a:path w="431800" h="747713" stroke="0">
                <a:moveTo>
                  <a:pt x="215900" y="0"/>
                </a:moveTo>
                <a:lnTo>
                  <a:pt x="215899" y="0"/>
                </a:lnTo>
                <a:cubicBezTo>
                  <a:pt x="335138" y="0"/>
                  <a:pt x="431800" y="167381"/>
                  <a:pt x="431800" y="373857"/>
                </a:cubicBezTo>
                <a:cubicBezTo>
                  <a:pt x="431800" y="373857"/>
                  <a:pt x="431799" y="373857"/>
                  <a:pt x="431799" y="373857"/>
                </a:cubicBezTo>
                <a:lnTo>
                  <a:pt x="215900" y="373857"/>
                </a:lnTo>
                <a:close/>
              </a:path>
              <a:path w="431800" h="747713" fill="none">
                <a:moveTo>
                  <a:pt x="215900" y="0"/>
                </a:moveTo>
                <a:lnTo>
                  <a:pt x="215899" y="0"/>
                </a:lnTo>
                <a:cubicBezTo>
                  <a:pt x="335138" y="0"/>
                  <a:pt x="431800" y="167381"/>
                  <a:pt x="431800" y="373857"/>
                </a:cubicBezTo>
                <a:cubicBezTo>
                  <a:pt x="431800" y="373857"/>
                  <a:pt x="431799" y="373857"/>
                  <a:pt x="431799" y="373857"/>
                </a:cubicBezTo>
              </a:path>
            </a:pathLst>
          </a:custGeom>
          <a:noFill/>
          <a:ln w="38100" algn="ctr">
            <a:solidFill>
              <a:schemeClr val="tx1"/>
            </a:solidFill>
            <a:miter lim="800000"/>
            <a:headEnd type="stealth" w="med" len="lg"/>
            <a:tailEnd type="stealth" w="med" len="lg"/>
          </a:ln>
        </p:spPr>
        <p:txBody>
          <a:bodyPr rot="10800000" anchor="ctr"/>
          <a:lstStyle/>
          <a:p>
            <a:pPr algn="ctr" defTabSz="914400">
              <a:defRPr/>
            </a:pPr>
            <a:endParaRPr lang="zh-CN" altLang="en-US" sz="1800">
              <a:latin typeface="+mn-lt"/>
              <a:ea typeface="+mn-ea"/>
            </a:endParaRPr>
          </a:p>
        </p:txBody>
      </p:sp>
      <p:graphicFrame>
        <p:nvGraphicFramePr>
          <p:cNvPr id="45" name="Object 9">
            <a:extLst>
              <a:ext uri="{FF2B5EF4-FFF2-40B4-BE49-F238E27FC236}">
                <a16:creationId xmlns:a16="http://schemas.microsoft.com/office/drawing/2014/main" id="{D5F43AE8-8C48-4F55-8A37-102E015CA9E8}"/>
              </a:ext>
            </a:extLst>
          </p:cNvPr>
          <p:cNvGraphicFramePr>
            <a:graphicFrameLocks noChangeAspect="1"/>
          </p:cNvGraphicFramePr>
          <p:nvPr/>
        </p:nvGraphicFramePr>
        <p:xfrm>
          <a:off x="8075680" y="3996720"/>
          <a:ext cx="428625" cy="458788"/>
        </p:xfrm>
        <a:graphic>
          <a:graphicData uri="http://schemas.openxmlformats.org/presentationml/2006/ole">
            <mc:AlternateContent xmlns:mc="http://schemas.openxmlformats.org/markup-compatibility/2006">
              <mc:Choice xmlns:v="urn:schemas-microsoft-com:vml" Requires="v">
                <p:oleObj name="Equation" r:id="rId2" imgW="126720" imgH="164880" progId="Equation.DSMT4">
                  <p:embed/>
                </p:oleObj>
              </mc:Choice>
              <mc:Fallback>
                <p:oleObj name="Equation" r:id="rId2" imgW="126720" imgH="164880" progId="Equation.DSMT4">
                  <p:embed/>
                  <p:pic>
                    <p:nvPicPr>
                      <p:cNvPr id="30723"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5680" y="3996720"/>
                        <a:ext cx="428625" cy="458788"/>
                      </a:xfrm>
                      <a:prstGeom prst="rect">
                        <a:avLst/>
                      </a:prstGeom>
                      <a:noFill/>
                      <a:extLst>
                        <a:ext uri="{909E8E84-426E-40DD-AFC4-6F175D3DCCD1}">
                          <a14:hiddenFill xmlns:a14="http://schemas.microsoft.com/office/drawing/2010/main">
                            <a:solidFill>
                              <a:srgbClr val="FFCC99"/>
                            </a:solidFill>
                          </a14:hiddenFill>
                        </a:ext>
                      </a:extLst>
                    </p:spPr>
                  </p:pic>
                </p:oleObj>
              </mc:Fallback>
            </mc:AlternateContent>
          </a:graphicData>
        </a:graphic>
      </p:graphicFrame>
      <p:graphicFrame>
        <p:nvGraphicFramePr>
          <p:cNvPr id="46" name="Object 25">
            <a:extLst>
              <a:ext uri="{FF2B5EF4-FFF2-40B4-BE49-F238E27FC236}">
                <a16:creationId xmlns:a16="http://schemas.microsoft.com/office/drawing/2014/main" id="{8B1676CB-1C08-4588-B336-39991256DD0C}"/>
              </a:ext>
            </a:extLst>
          </p:cNvPr>
          <p:cNvGraphicFramePr>
            <a:graphicFrameLocks noChangeAspect="1"/>
          </p:cNvGraphicFramePr>
          <p:nvPr/>
        </p:nvGraphicFramePr>
        <p:xfrm>
          <a:off x="4789555" y="3783995"/>
          <a:ext cx="785812" cy="444500"/>
        </p:xfrm>
        <a:graphic>
          <a:graphicData uri="http://schemas.openxmlformats.org/presentationml/2006/ole">
            <mc:AlternateContent xmlns:mc="http://schemas.openxmlformats.org/markup-compatibility/2006">
              <mc:Choice xmlns:v="urn:schemas-microsoft-com:vml" Requires="v">
                <p:oleObj name="Equation" r:id="rId4" imgW="241200" imgH="164880" progId="Equation.DSMT4">
                  <p:embed/>
                </p:oleObj>
              </mc:Choice>
              <mc:Fallback>
                <p:oleObj name="Equation" r:id="rId4" imgW="241200" imgH="164880" progId="Equation.DSMT4">
                  <p:embed/>
                  <p:pic>
                    <p:nvPicPr>
                      <p:cNvPr id="2"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9555" y="3783995"/>
                        <a:ext cx="785812" cy="444500"/>
                      </a:xfrm>
                      <a:prstGeom prst="rect">
                        <a:avLst/>
                      </a:prstGeom>
                      <a:noFill/>
                      <a:extLst>
                        <a:ext uri="{909E8E84-426E-40DD-AFC4-6F175D3DCCD1}">
                          <a14:hiddenFill xmlns:a14="http://schemas.microsoft.com/office/drawing/2010/main">
                            <a:solidFill>
                              <a:srgbClr val="FFCC99"/>
                            </a:solidFill>
                          </a14:hiddenFill>
                        </a:ext>
                      </a:extLst>
                    </p:spPr>
                  </p:pic>
                </p:oleObj>
              </mc:Fallback>
            </mc:AlternateContent>
          </a:graphicData>
        </a:graphic>
      </p:graphicFrame>
      <p:graphicFrame>
        <p:nvGraphicFramePr>
          <p:cNvPr id="47" name="Object 26">
            <a:extLst>
              <a:ext uri="{FF2B5EF4-FFF2-40B4-BE49-F238E27FC236}">
                <a16:creationId xmlns:a16="http://schemas.microsoft.com/office/drawing/2014/main" id="{DD784F6F-592F-4B2C-A2B4-85AD0647A1C8}"/>
              </a:ext>
            </a:extLst>
          </p:cNvPr>
          <p:cNvGraphicFramePr>
            <a:graphicFrameLocks noChangeAspect="1"/>
          </p:cNvGraphicFramePr>
          <p:nvPr/>
        </p:nvGraphicFramePr>
        <p:xfrm>
          <a:off x="6146867" y="3283933"/>
          <a:ext cx="762000" cy="430212"/>
        </p:xfrm>
        <a:graphic>
          <a:graphicData uri="http://schemas.openxmlformats.org/presentationml/2006/ole">
            <mc:AlternateContent xmlns:mc="http://schemas.openxmlformats.org/markup-compatibility/2006">
              <mc:Choice xmlns:v="urn:schemas-microsoft-com:vml" Requires="v">
                <p:oleObj name="Equation" r:id="rId6" imgW="241200" imgH="164880" progId="Equation.DSMT4">
                  <p:embed/>
                </p:oleObj>
              </mc:Choice>
              <mc:Fallback>
                <p:oleObj name="Equation" r:id="rId6" imgW="241200" imgH="164880" progId="Equation.DSMT4">
                  <p:embed/>
                  <p:pic>
                    <p:nvPicPr>
                      <p:cNvPr id="3"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6867" y="3283933"/>
                        <a:ext cx="762000" cy="430212"/>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48" name="组合 65">
            <a:extLst>
              <a:ext uri="{FF2B5EF4-FFF2-40B4-BE49-F238E27FC236}">
                <a16:creationId xmlns:a16="http://schemas.microsoft.com/office/drawing/2014/main" id="{7EBD397C-AA00-4677-845D-906FFFC2A46D}"/>
              </a:ext>
            </a:extLst>
          </p:cNvPr>
          <p:cNvGrpSpPr>
            <a:grpSpLocks/>
          </p:cNvGrpSpPr>
          <p:nvPr/>
        </p:nvGrpSpPr>
        <p:grpSpPr bwMode="auto">
          <a:xfrm>
            <a:off x="4191067" y="2733070"/>
            <a:ext cx="3098800" cy="2332038"/>
            <a:chOff x="2474016" y="1808504"/>
            <a:chExt cx="3098116" cy="2332702"/>
          </a:xfrm>
        </p:grpSpPr>
        <p:cxnSp>
          <p:nvCxnSpPr>
            <p:cNvPr id="49" name="直接连接符 48">
              <a:extLst>
                <a:ext uri="{FF2B5EF4-FFF2-40B4-BE49-F238E27FC236}">
                  <a16:creationId xmlns:a16="http://schemas.microsoft.com/office/drawing/2014/main" id="{BDE438A5-FBAF-49EE-BDEE-67FB63168546}"/>
                </a:ext>
              </a:extLst>
            </p:cNvPr>
            <p:cNvCxnSpPr/>
            <p:nvPr/>
          </p:nvCxnSpPr>
          <p:spPr>
            <a:xfrm flipV="1">
              <a:off x="2474016" y="1808504"/>
              <a:ext cx="3098116" cy="12592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61FC7F5-776A-4ABF-8EAE-851FF1E3D296}"/>
                </a:ext>
              </a:extLst>
            </p:cNvPr>
            <p:cNvCxnSpPr/>
            <p:nvPr/>
          </p:nvCxnSpPr>
          <p:spPr>
            <a:xfrm>
              <a:off x="2477190" y="3074102"/>
              <a:ext cx="2615623" cy="1067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1" name="TextBox 59">
            <a:extLst>
              <a:ext uri="{FF2B5EF4-FFF2-40B4-BE49-F238E27FC236}">
                <a16:creationId xmlns:a16="http://schemas.microsoft.com/office/drawing/2014/main" id="{8CCC920F-ECBA-4189-B660-46C9C4CEC874}"/>
              </a:ext>
            </a:extLst>
          </p:cNvPr>
          <p:cNvSpPr txBox="1">
            <a:spLocks noChangeArrowheads="1"/>
          </p:cNvSpPr>
          <p:nvPr/>
        </p:nvSpPr>
        <p:spPr bwMode="auto">
          <a:xfrm>
            <a:off x="6146867" y="3998308"/>
            <a:ext cx="285750" cy="487362"/>
          </a:xfrm>
          <a:prstGeom prst="rect">
            <a:avLst/>
          </a:prstGeom>
          <a:solidFill>
            <a:schemeClr val="bg1"/>
          </a:solidFill>
          <a:ln w="9525">
            <a:noFill/>
            <a:miter lim="800000"/>
            <a:headEnd/>
            <a:tailEnd/>
          </a:ln>
        </p:spPr>
        <p:txBody>
          <a:bodyPr lIns="0" tIns="0" rIns="0" bIns="0">
            <a:spAutoFit/>
          </a:bodyPr>
          <a:lstStyle/>
          <a:p>
            <a:pPr defTabSz="914400"/>
            <a:r>
              <a:rPr lang="en-US" altLang="zh-CN" sz="3200">
                <a:latin typeface="Times New Roman" pitchFamily="18" charset="0"/>
                <a:cs typeface="Times New Roman" pitchFamily="18" charset="0"/>
              </a:rPr>
              <a:t>I</a:t>
            </a:r>
            <a:endParaRPr lang="zh-CN" altLang="en-US" sz="3200">
              <a:latin typeface="Times New Roman" pitchFamily="18" charset="0"/>
              <a:cs typeface="Times New Roman" pitchFamily="18" charset="0"/>
            </a:endParaRPr>
          </a:p>
        </p:txBody>
      </p:sp>
      <p:grpSp>
        <p:nvGrpSpPr>
          <p:cNvPr id="52" name="组合 62">
            <a:extLst>
              <a:ext uri="{FF2B5EF4-FFF2-40B4-BE49-F238E27FC236}">
                <a16:creationId xmlns:a16="http://schemas.microsoft.com/office/drawing/2014/main" id="{4ECF6C6B-9DF9-4314-A4C2-209A611C664C}"/>
              </a:ext>
            </a:extLst>
          </p:cNvPr>
          <p:cNvGrpSpPr>
            <a:grpSpLocks/>
          </p:cNvGrpSpPr>
          <p:nvPr/>
        </p:nvGrpSpPr>
        <p:grpSpPr bwMode="auto">
          <a:xfrm>
            <a:off x="4218055" y="3925283"/>
            <a:ext cx="4121150" cy="69850"/>
            <a:chOff x="2500298" y="3000372"/>
            <a:chExt cx="4120826" cy="70689"/>
          </a:xfrm>
        </p:grpSpPr>
        <p:cxnSp>
          <p:nvCxnSpPr>
            <p:cNvPr id="53" name="直接箭头连接符 52">
              <a:extLst>
                <a:ext uri="{FF2B5EF4-FFF2-40B4-BE49-F238E27FC236}">
                  <a16:creationId xmlns:a16="http://schemas.microsoft.com/office/drawing/2014/main" id="{1B530B07-83CB-412D-8261-DB7DD5531DF2}"/>
                </a:ext>
              </a:extLst>
            </p:cNvPr>
            <p:cNvCxnSpPr/>
            <p:nvPr/>
          </p:nvCxnSpPr>
          <p:spPr>
            <a:xfrm>
              <a:off x="5390908" y="3000372"/>
              <a:ext cx="1230216" cy="11245"/>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grpSp>
          <p:nvGrpSpPr>
            <p:cNvPr id="54" name="组合 31">
              <a:extLst>
                <a:ext uri="{FF2B5EF4-FFF2-40B4-BE49-F238E27FC236}">
                  <a16:creationId xmlns:a16="http://schemas.microsoft.com/office/drawing/2014/main" id="{505AB92A-4311-4414-AD70-D8C48CBC0939}"/>
                </a:ext>
              </a:extLst>
            </p:cNvPr>
            <p:cNvGrpSpPr>
              <a:grpSpLocks/>
            </p:cNvGrpSpPr>
            <p:nvPr/>
          </p:nvGrpSpPr>
          <p:grpSpPr bwMode="auto">
            <a:xfrm>
              <a:off x="2500298" y="3011661"/>
              <a:ext cx="2883802" cy="59400"/>
              <a:chOff x="2500298" y="2989083"/>
              <a:chExt cx="2883802" cy="59400"/>
            </a:xfrm>
          </p:grpSpPr>
          <p:cxnSp>
            <p:nvCxnSpPr>
              <p:cNvPr id="55" name="直接箭头连接符 54">
                <a:extLst>
                  <a:ext uri="{FF2B5EF4-FFF2-40B4-BE49-F238E27FC236}">
                    <a16:creationId xmlns:a16="http://schemas.microsoft.com/office/drawing/2014/main" id="{869D3049-5B2F-4A85-AD72-C11CD23548B8}"/>
                  </a:ext>
                </a:extLst>
              </p:cNvPr>
              <p:cNvCxnSpPr/>
              <p:nvPr/>
            </p:nvCxnSpPr>
            <p:spPr>
              <a:xfrm flipV="1">
                <a:off x="2500298" y="3008318"/>
                <a:ext cx="2214388" cy="40165"/>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9D940EC-0F37-4411-9F20-F3762FA3896C}"/>
                  </a:ext>
                </a:extLst>
              </p:cNvPr>
              <p:cNvCxnSpPr/>
              <p:nvPr/>
            </p:nvCxnSpPr>
            <p:spPr>
              <a:xfrm>
                <a:off x="4741672" y="2989039"/>
                <a:ext cx="642886" cy="160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aphicFrame>
        <p:nvGraphicFramePr>
          <p:cNvPr id="57" name="Object 28">
            <a:extLst>
              <a:ext uri="{FF2B5EF4-FFF2-40B4-BE49-F238E27FC236}">
                <a16:creationId xmlns:a16="http://schemas.microsoft.com/office/drawing/2014/main" id="{1101D594-EA1C-4F2A-A1A4-E04F0044A125}"/>
              </a:ext>
            </a:extLst>
          </p:cNvPr>
          <p:cNvGraphicFramePr>
            <a:graphicFrameLocks noChangeAspect="1"/>
          </p:cNvGraphicFramePr>
          <p:nvPr/>
        </p:nvGraphicFramePr>
        <p:xfrm>
          <a:off x="8218555" y="4496783"/>
          <a:ext cx="385762" cy="460375"/>
        </p:xfrm>
        <a:graphic>
          <a:graphicData uri="http://schemas.openxmlformats.org/presentationml/2006/ole">
            <mc:AlternateContent xmlns:mc="http://schemas.openxmlformats.org/markup-compatibility/2006">
              <mc:Choice xmlns:v="urn:schemas-microsoft-com:vml" Requires="v">
                <p:oleObj name="Equation" r:id="rId8" imgW="114120" imgH="164880" progId="Equation.DSMT4">
                  <p:embed/>
                </p:oleObj>
              </mc:Choice>
              <mc:Fallback>
                <p:oleObj name="Equation" r:id="rId8" imgW="114120" imgH="164880" progId="Equation.DSMT4">
                  <p:embed/>
                  <p:pic>
                    <p:nvPicPr>
                      <p:cNvPr id="5"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18555" y="4496783"/>
                        <a:ext cx="385762" cy="460375"/>
                      </a:xfrm>
                      <a:prstGeom prst="rect">
                        <a:avLst/>
                      </a:prstGeom>
                      <a:solidFill>
                        <a:srgbClr val="FFFF00"/>
                      </a:solidFill>
                    </p:spPr>
                  </p:pic>
                </p:oleObj>
              </mc:Fallback>
            </mc:AlternateContent>
          </a:graphicData>
        </a:graphic>
      </p:graphicFrame>
      <p:sp>
        <p:nvSpPr>
          <p:cNvPr id="58" name="TextBox 66">
            <a:extLst>
              <a:ext uri="{FF2B5EF4-FFF2-40B4-BE49-F238E27FC236}">
                <a16:creationId xmlns:a16="http://schemas.microsoft.com/office/drawing/2014/main" id="{5044624E-8351-4C1A-A969-0009EAF790DF}"/>
              </a:ext>
            </a:extLst>
          </p:cNvPr>
          <p:cNvSpPr txBox="1"/>
          <p:nvPr/>
        </p:nvSpPr>
        <p:spPr>
          <a:xfrm>
            <a:off x="6861242" y="3496658"/>
            <a:ext cx="357188" cy="365125"/>
          </a:xfrm>
          <a:prstGeom prst="rect">
            <a:avLst/>
          </a:prstGeom>
          <a:noFill/>
        </p:spPr>
        <p:txBody>
          <a:bodyPr lIns="0" tIns="0" rIns="0" bIns="0">
            <a:spAutoFit/>
          </a:bodyPr>
          <a:lstStyle/>
          <a:p>
            <a:pPr algn="ctr" defTabSz="914400">
              <a:defRPr/>
            </a:pPr>
            <a:r>
              <a:rPr lang="en-US" altLang="zh-CN" sz="2400" b="1" dirty="0">
                <a:latin typeface="Times New Roman" pitchFamily="18" charset="0"/>
                <a:ea typeface="+mn-ea"/>
                <a:cs typeface="Times New Roman" pitchFamily="18" charset="0"/>
              </a:rPr>
              <a:t>O</a:t>
            </a:r>
            <a:endParaRPr lang="zh-CN" altLang="en-US" b="1" dirty="0">
              <a:latin typeface="Times New Roman" pitchFamily="18" charset="0"/>
              <a:ea typeface="+mn-ea"/>
              <a:cs typeface="Times New Roman" pitchFamily="18" charset="0"/>
            </a:endParaRPr>
          </a:p>
        </p:txBody>
      </p:sp>
      <p:sp>
        <p:nvSpPr>
          <p:cNvPr id="59" name="Rectangle 3">
            <a:extLst>
              <a:ext uri="{FF2B5EF4-FFF2-40B4-BE49-F238E27FC236}">
                <a16:creationId xmlns:a16="http://schemas.microsoft.com/office/drawing/2014/main" id="{20DED21C-3719-4756-BD7D-B55D3D2F61D3}"/>
              </a:ext>
            </a:extLst>
          </p:cNvPr>
          <p:cNvSpPr>
            <a:spLocks noChangeArrowheads="1"/>
          </p:cNvSpPr>
          <p:nvPr/>
        </p:nvSpPr>
        <p:spPr bwMode="auto">
          <a:xfrm>
            <a:off x="3940265" y="1151216"/>
            <a:ext cx="4929188" cy="584775"/>
          </a:xfrm>
          <a:prstGeom prst="rect">
            <a:avLst/>
          </a:prstGeom>
          <a:noFill/>
          <a:ln w="9525">
            <a:noFill/>
            <a:miter lim="800000"/>
            <a:headEnd/>
            <a:tailEnd/>
          </a:ln>
        </p:spPr>
        <p:txBody>
          <a:bodyPr anchor="ctr">
            <a:spAutoFit/>
          </a:bodyPr>
          <a:lstStyle/>
          <a:p>
            <a:pPr algn="ctr" defTabSz="914400"/>
            <a:r>
              <a:rPr lang="en-US" altLang="zh-CN" sz="3200" b="1" dirty="0">
                <a:solidFill>
                  <a:srgbClr val="0000FF"/>
                </a:solidFill>
                <a:latin typeface="微软雅黑" panose="020B0503020204020204" pitchFamily="34" charset="-122"/>
                <a:ea typeface="微软雅黑" panose="020B0503020204020204" pitchFamily="34" charset="-122"/>
                <a:cs typeface="Times New Roman" pitchFamily="18" charset="0"/>
              </a:rPr>
              <a:t>2.</a:t>
            </a:r>
            <a:r>
              <a:rPr lang="zh-CN" altLang="en-US" sz="3200" b="1" dirty="0">
                <a:solidFill>
                  <a:srgbClr val="0000FF"/>
                </a:solidFill>
                <a:latin typeface="微软雅黑" panose="020B0503020204020204" pitchFamily="34" charset="-122"/>
                <a:ea typeface="微软雅黑" panose="020B0503020204020204" pitchFamily="34" charset="-122"/>
                <a:cs typeface="Times New Roman" pitchFamily="18" charset="0"/>
              </a:rPr>
              <a:t>距离平方反比定律 </a:t>
            </a:r>
          </a:p>
        </p:txBody>
      </p:sp>
      <p:graphicFrame>
        <p:nvGraphicFramePr>
          <p:cNvPr id="60" name="Object 29">
            <a:extLst>
              <a:ext uri="{FF2B5EF4-FFF2-40B4-BE49-F238E27FC236}">
                <a16:creationId xmlns:a16="http://schemas.microsoft.com/office/drawing/2014/main" id="{5672057C-ED67-4E9A-AFD4-9CB75091DCE0}"/>
              </a:ext>
            </a:extLst>
          </p:cNvPr>
          <p:cNvGraphicFramePr>
            <a:graphicFrameLocks noChangeAspect="1"/>
          </p:cNvGraphicFramePr>
          <p:nvPr/>
        </p:nvGraphicFramePr>
        <p:xfrm>
          <a:off x="8718617" y="2712433"/>
          <a:ext cx="1104900" cy="871537"/>
        </p:xfrm>
        <a:graphic>
          <a:graphicData uri="http://schemas.openxmlformats.org/presentationml/2006/ole">
            <mc:AlternateContent xmlns:mc="http://schemas.openxmlformats.org/markup-compatibility/2006">
              <mc:Choice xmlns:v="urn:schemas-microsoft-com:vml" Requires="v">
                <p:oleObj name="Equation" r:id="rId10" imgW="496161" imgH="394385" progId="Equation.DSMT4">
                  <p:embed/>
                </p:oleObj>
              </mc:Choice>
              <mc:Fallback>
                <p:oleObj name="Equation" r:id="rId10" imgW="496161" imgH="394385" progId="Equation.DSMT4">
                  <p:embed/>
                  <p:pic>
                    <p:nvPicPr>
                      <p:cNvPr id="88093"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18617" y="2712433"/>
                        <a:ext cx="1104900" cy="871537"/>
                      </a:xfrm>
                      <a:prstGeom prst="rect">
                        <a:avLst/>
                      </a:prstGeom>
                      <a:solidFill>
                        <a:srgbClr val="FFFF99"/>
                      </a:solidFill>
                    </p:spPr>
                  </p:pic>
                </p:oleObj>
              </mc:Fallback>
            </mc:AlternateContent>
          </a:graphicData>
        </a:graphic>
      </p:graphicFrame>
      <p:graphicFrame>
        <p:nvGraphicFramePr>
          <p:cNvPr id="61" name="Object 31">
            <a:extLst>
              <a:ext uri="{FF2B5EF4-FFF2-40B4-BE49-F238E27FC236}">
                <a16:creationId xmlns:a16="http://schemas.microsoft.com/office/drawing/2014/main" id="{80187060-1C4F-4DB7-9D21-19A7749D616B}"/>
              </a:ext>
            </a:extLst>
          </p:cNvPr>
          <p:cNvGraphicFramePr>
            <a:graphicFrameLocks noChangeAspect="1"/>
          </p:cNvGraphicFramePr>
          <p:nvPr/>
        </p:nvGraphicFramePr>
        <p:xfrm>
          <a:off x="8647180" y="3926870"/>
          <a:ext cx="1839912" cy="785813"/>
        </p:xfrm>
        <a:graphic>
          <a:graphicData uri="http://schemas.openxmlformats.org/presentationml/2006/ole">
            <mc:AlternateContent xmlns:mc="http://schemas.openxmlformats.org/markup-compatibility/2006">
              <mc:Choice xmlns:v="urn:schemas-microsoft-com:vml" Requires="v">
                <p:oleObj name="Equation" r:id="rId12" imgW="915592" imgH="394213" progId="Equation.DSMT4">
                  <p:embed/>
                </p:oleObj>
              </mc:Choice>
              <mc:Fallback>
                <p:oleObj name="Equation" r:id="rId12" imgW="915592" imgH="394213" progId="Equation.DSMT4">
                  <p:embed/>
                  <p:pic>
                    <p:nvPicPr>
                      <p:cNvPr id="88095"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47180" y="3926870"/>
                        <a:ext cx="1839912" cy="785813"/>
                      </a:xfrm>
                      <a:prstGeom prst="rect">
                        <a:avLst/>
                      </a:prstGeom>
                      <a:solidFill>
                        <a:srgbClr val="FFFF99"/>
                      </a:solidFill>
                    </p:spPr>
                  </p:pic>
                </p:oleObj>
              </mc:Fallback>
            </mc:AlternateContent>
          </a:graphicData>
        </a:graphic>
      </p:graphicFrame>
      <p:graphicFrame>
        <p:nvGraphicFramePr>
          <p:cNvPr id="62" name="Object 33">
            <a:extLst>
              <a:ext uri="{FF2B5EF4-FFF2-40B4-BE49-F238E27FC236}">
                <a16:creationId xmlns:a16="http://schemas.microsoft.com/office/drawing/2014/main" id="{384879CE-4215-4641-BB0A-4DD5FFDF7E7B}"/>
              </a:ext>
            </a:extLst>
          </p:cNvPr>
          <p:cNvGraphicFramePr>
            <a:graphicFrameLocks noChangeAspect="1"/>
          </p:cNvGraphicFramePr>
          <p:nvPr/>
        </p:nvGraphicFramePr>
        <p:xfrm>
          <a:off x="7596255" y="5069870"/>
          <a:ext cx="2836862" cy="785813"/>
        </p:xfrm>
        <a:graphic>
          <a:graphicData uri="http://schemas.openxmlformats.org/presentationml/2006/ole">
            <mc:AlternateContent xmlns:mc="http://schemas.openxmlformats.org/markup-compatibility/2006">
              <mc:Choice xmlns:v="urn:schemas-microsoft-com:vml" Requires="v">
                <p:oleObj name="Equation" r:id="rId14" imgW="1411538" imgH="394213" progId="Equation.DSMT4">
                  <p:embed/>
                </p:oleObj>
              </mc:Choice>
              <mc:Fallback>
                <p:oleObj name="Equation" r:id="rId14" imgW="1411538" imgH="394213" progId="Equation.DSMT4">
                  <p:embed/>
                  <p:pic>
                    <p:nvPicPr>
                      <p:cNvPr id="88097" name="Object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96255" y="5069870"/>
                        <a:ext cx="2836862" cy="785813"/>
                      </a:xfrm>
                      <a:prstGeom prst="rect">
                        <a:avLst/>
                      </a:prstGeom>
                      <a:solidFill>
                        <a:srgbClr val="FFFF99"/>
                      </a:solidFill>
                    </p:spPr>
                  </p:pic>
                </p:oleObj>
              </mc:Fallback>
            </mc:AlternateContent>
          </a:graphicData>
        </a:graphic>
      </p:graphicFrame>
      <p:graphicFrame>
        <p:nvGraphicFramePr>
          <p:cNvPr id="63" name="Object 35">
            <a:extLst>
              <a:ext uri="{FF2B5EF4-FFF2-40B4-BE49-F238E27FC236}">
                <a16:creationId xmlns:a16="http://schemas.microsoft.com/office/drawing/2014/main" id="{39639254-0CC5-4D0B-BE42-7CA43C2011DF}"/>
              </a:ext>
            </a:extLst>
          </p:cNvPr>
          <p:cNvGraphicFramePr>
            <a:graphicFrameLocks noChangeAspect="1"/>
          </p:cNvGraphicFramePr>
          <p:nvPr/>
        </p:nvGraphicFramePr>
        <p:xfrm>
          <a:off x="4859093" y="6072732"/>
          <a:ext cx="2714625" cy="904875"/>
        </p:xfrm>
        <a:graphic>
          <a:graphicData uri="http://schemas.openxmlformats.org/presentationml/2006/ole">
            <mc:AlternateContent xmlns:mc="http://schemas.openxmlformats.org/markup-compatibility/2006">
              <mc:Choice xmlns:v="urn:schemas-microsoft-com:vml" Requires="v">
                <p:oleObj name="Equation" r:id="rId16" imgW="1169923" imgH="394213" progId="Equation.DSMT4">
                  <p:embed/>
                </p:oleObj>
              </mc:Choice>
              <mc:Fallback>
                <p:oleObj name="Equation" r:id="rId16" imgW="1169923" imgH="394213" progId="Equation.DSMT4">
                  <p:embed/>
                  <p:pic>
                    <p:nvPicPr>
                      <p:cNvPr id="88099" name="Object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59093" y="6072732"/>
                        <a:ext cx="2714625" cy="904875"/>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18778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ox(in)">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ox(in)">
                                      <p:cBhvr>
                                        <p:cTn id="12" dur="500"/>
                                        <p:tgtEl>
                                          <p:spTgt spid="42"/>
                                        </p:tgtEl>
                                      </p:cBhvr>
                                    </p:animEffec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box(in)">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ox(in)">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box(in)">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box(in)">
                                      <p:cBhvr>
                                        <p:cTn id="31" dur="5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box(in)">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box(i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box(in)">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box(in)">
                                      <p:cBhvr>
                                        <p:cTn id="51" dur="500"/>
                                        <p:tgtEl>
                                          <p:spTgt spid="51"/>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box(in)">
                                      <p:cBhvr>
                                        <p:cTn id="56" dur="500"/>
                                        <p:tgtEl>
                                          <p:spTgt spid="58"/>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box(in)">
                                      <p:cBhvr>
                                        <p:cTn id="61" dur="500"/>
                                        <p:tgtEl>
                                          <p:spTgt spid="32"/>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box(in)">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box(in)">
                                      <p:cBhvr>
                                        <p:cTn id="71" dur="500"/>
                                        <p:tgtEl>
                                          <p:spTgt spid="43"/>
                                        </p:tgtEl>
                                      </p:cBhvr>
                                    </p:animEffect>
                                  </p:childTnLst>
                                </p:cTn>
                              </p:par>
                            </p:childTnLst>
                          </p:cTn>
                        </p:par>
                        <p:par>
                          <p:cTn id="72" fill="hold">
                            <p:stCondLst>
                              <p:cond delay="500"/>
                            </p:stCondLst>
                            <p:childTnLst>
                              <p:par>
                                <p:cTn id="73" presetID="4" presetClass="entr" presetSubtype="16" fill="hold" nodeType="afterEffect">
                                  <p:stCondLst>
                                    <p:cond delay="0"/>
                                  </p:stCondLst>
                                  <p:childTnLst>
                                    <p:set>
                                      <p:cBhvr>
                                        <p:cTn id="74" dur="1" fill="hold">
                                          <p:stCondLst>
                                            <p:cond delay="0"/>
                                          </p:stCondLst>
                                        </p:cTn>
                                        <p:tgtEl>
                                          <p:spTgt spid="57"/>
                                        </p:tgtEl>
                                        <p:attrNameLst>
                                          <p:attrName>style.visibility</p:attrName>
                                        </p:attrNameLst>
                                      </p:cBhvr>
                                      <p:to>
                                        <p:strVal val="visible"/>
                                      </p:to>
                                    </p:set>
                                    <p:animEffect transition="in" filter="box(in)">
                                      <p:cBhvr>
                                        <p:cTn id="75" dur="500"/>
                                        <p:tgtEl>
                                          <p:spTgt spid="57"/>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grpId="0" nodeType="click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box(in)">
                                      <p:cBhvr>
                                        <p:cTn id="80" dur="500"/>
                                        <p:tgtEl>
                                          <p:spTgt spid="44"/>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box(in)">
                                      <p:cBhvr>
                                        <p:cTn id="85" dur="500"/>
                                        <p:tgtEl>
                                          <p:spTgt spid="45"/>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box(in)">
                                      <p:cBhvr>
                                        <p:cTn id="90" dur="500"/>
                                        <p:tgtEl>
                                          <p:spTgt spid="60"/>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nodeType="click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box(in)">
                                      <p:cBhvr>
                                        <p:cTn id="95" dur="500"/>
                                        <p:tgtEl>
                                          <p:spTgt spid="61"/>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16" fill="hold" nodeType="clickEffect">
                                  <p:stCondLst>
                                    <p:cond delay="0"/>
                                  </p:stCondLst>
                                  <p:childTnLst>
                                    <p:set>
                                      <p:cBhvr>
                                        <p:cTn id="99" dur="1" fill="hold">
                                          <p:stCondLst>
                                            <p:cond delay="0"/>
                                          </p:stCondLst>
                                        </p:cTn>
                                        <p:tgtEl>
                                          <p:spTgt spid="62"/>
                                        </p:tgtEl>
                                        <p:attrNameLst>
                                          <p:attrName>style.visibility</p:attrName>
                                        </p:attrNameLst>
                                      </p:cBhvr>
                                      <p:to>
                                        <p:strVal val="visible"/>
                                      </p:to>
                                    </p:set>
                                    <p:animEffect transition="in" filter="box(in)">
                                      <p:cBhvr>
                                        <p:cTn id="100" dur="500"/>
                                        <p:tgtEl>
                                          <p:spTgt spid="62"/>
                                        </p:tgtEl>
                                      </p:cBhvr>
                                    </p:animEffect>
                                  </p:childTnLst>
                                </p:cTn>
                              </p:par>
                            </p:childTnLst>
                          </p:cTn>
                        </p:par>
                      </p:childTnLst>
                    </p:cTn>
                  </p:par>
                  <p:par>
                    <p:cTn id="101" fill="hold">
                      <p:stCondLst>
                        <p:cond delay="indefinite"/>
                      </p:stCondLst>
                      <p:childTnLst>
                        <p:par>
                          <p:cTn id="102" fill="hold">
                            <p:stCondLst>
                              <p:cond delay="0"/>
                            </p:stCondLst>
                            <p:childTnLst>
                              <p:par>
                                <p:cTn id="103" presetID="4" presetClass="entr" presetSubtype="16" fill="hold" nodeType="click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box(in)">
                                      <p:cBhvr>
                                        <p:cTn id="10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animBg="1" autoUpdateAnimBg="0"/>
      <p:bldP spid="41" grpId="0" autoUpdateAnimBg="0"/>
      <p:bldP spid="42" grpId="0" animBg="1" autoUpdateAnimBg="0"/>
      <p:bldP spid="44" grpId="0" animBg="1" autoUpdateAnimBg="0"/>
      <p:bldP spid="51" grpId="0" animBg="1" autoUpdateAnimBg="0"/>
      <p:bldP spid="58" grpId="0" autoUpdateAnimBg="0"/>
      <p:bldP spid="5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64" name="Rectangle 13">
            <a:extLst>
              <a:ext uri="{FF2B5EF4-FFF2-40B4-BE49-F238E27FC236}">
                <a16:creationId xmlns:a16="http://schemas.microsoft.com/office/drawing/2014/main" id="{5CCE13B9-4A7D-4B70-8E22-6373D51DF419}"/>
              </a:ext>
            </a:extLst>
          </p:cNvPr>
          <p:cNvSpPr>
            <a:spLocks noChangeArrowheads="1"/>
          </p:cNvSpPr>
          <p:nvPr/>
        </p:nvSpPr>
        <p:spPr bwMode="auto">
          <a:xfrm>
            <a:off x="4276895" y="5450191"/>
            <a:ext cx="4711464" cy="1412875"/>
          </a:xfrm>
          <a:prstGeom prst="rect">
            <a:avLst/>
          </a:prstGeom>
          <a:noFill/>
          <a:ln w="38100">
            <a:solidFill>
              <a:srgbClr val="FF0000"/>
            </a:solidFill>
            <a:miter lim="800000"/>
            <a:headEnd/>
            <a:tailEnd/>
          </a:ln>
        </p:spPr>
        <p:txBody>
          <a:bodyPr wrap="square" anchor="ctr">
            <a:spAutoFit/>
          </a:bodyPr>
          <a:lstStyle/>
          <a:p>
            <a:pPr defTabSz="914400">
              <a:lnSpc>
                <a:spcPct val="150000"/>
              </a:lnSpc>
            </a:pPr>
            <a:r>
              <a:rPr lang="zh-CN" altLang="en-US" sz="2800" b="1">
                <a:latin typeface="Times New Roman" pitchFamily="18" charset="0"/>
                <a:ea typeface="微软雅黑" pitchFamily="34" charset="-122"/>
                <a:cs typeface="Times New Roman" pitchFamily="18" charset="0"/>
              </a:rPr>
              <a:t>应用</a:t>
            </a:r>
            <a:r>
              <a:rPr lang="en-US" altLang="zh-CN" sz="2800" b="1">
                <a:latin typeface="Times New Roman" pitchFamily="18" charset="0"/>
                <a:ea typeface="微软雅黑" pitchFamily="34" charset="-122"/>
                <a:cs typeface="Times New Roman" pitchFamily="18" charset="0"/>
              </a:rPr>
              <a:t>:</a:t>
            </a:r>
            <a:r>
              <a:rPr lang="zh-CN" altLang="en-US" sz="2800" b="1">
                <a:latin typeface="Times New Roman" pitchFamily="18" charset="0"/>
                <a:ea typeface="微软雅黑" pitchFamily="34" charset="-122"/>
                <a:cs typeface="Times New Roman" pitchFamily="18" charset="0"/>
              </a:rPr>
              <a:t>光源尺寸远小于距离</a:t>
            </a:r>
            <a:r>
              <a:rPr lang="en-US" altLang="zh-CN" sz="2800" b="1" i="1">
                <a:latin typeface="Times New Roman" pitchFamily="18" charset="0"/>
                <a:ea typeface="微软雅黑" pitchFamily="34" charset="-122"/>
                <a:cs typeface="Times New Roman" pitchFamily="18" charset="0"/>
              </a:rPr>
              <a:t>r</a:t>
            </a:r>
            <a:endParaRPr lang="en-US" altLang="zh-CN" sz="2800" b="1">
              <a:latin typeface="Times New Roman" pitchFamily="18" charset="0"/>
              <a:ea typeface="微软雅黑" pitchFamily="34" charset="-122"/>
              <a:cs typeface="Times New Roman" pitchFamily="18" charset="0"/>
            </a:endParaRPr>
          </a:p>
          <a:p>
            <a:pPr defTabSz="914400">
              <a:lnSpc>
                <a:spcPct val="150000"/>
              </a:lnSpc>
            </a:pPr>
            <a:r>
              <a:rPr lang="en-US" altLang="zh-CN" sz="2800" b="1">
                <a:latin typeface="Times New Roman" pitchFamily="18" charset="0"/>
                <a:ea typeface="微软雅黑" pitchFamily="34" charset="-122"/>
                <a:cs typeface="Times New Roman" pitchFamily="18" charset="0"/>
              </a:rPr>
              <a:t>     </a:t>
            </a:r>
            <a:r>
              <a:rPr lang="zh-CN" altLang="en-US" sz="2800" b="1">
                <a:latin typeface="Times New Roman" pitchFamily="18" charset="0"/>
                <a:ea typeface="微软雅黑" pitchFamily="34" charset="-122"/>
                <a:cs typeface="Times New Roman" pitchFamily="18" charset="0"/>
              </a:rPr>
              <a:t>计算面元接收到光能量</a:t>
            </a:r>
            <a:endParaRPr lang="en-US" altLang="zh-CN" sz="2800" b="1">
              <a:latin typeface="Times New Roman" pitchFamily="18" charset="0"/>
              <a:ea typeface="微软雅黑" pitchFamily="34" charset="-122"/>
              <a:cs typeface="Times New Roman" pitchFamily="18" charset="0"/>
            </a:endParaRPr>
          </a:p>
        </p:txBody>
      </p:sp>
      <p:sp>
        <p:nvSpPr>
          <p:cNvPr id="65" name="TextBox 3">
            <a:extLst>
              <a:ext uri="{FF2B5EF4-FFF2-40B4-BE49-F238E27FC236}">
                <a16:creationId xmlns:a16="http://schemas.microsoft.com/office/drawing/2014/main" id="{9D47D781-E95C-44FE-B7F4-4D39C796583B}"/>
              </a:ext>
            </a:extLst>
          </p:cNvPr>
          <p:cNvSpPr txBox="1">
            <a:spLocks noChangeArrowheads="1"/>
          </p:cNvSpPr>
          <p:nvPr/>
        </p:nvSpPr>
        <p:spPr bwMode="auto">
          <a:xfrm>
            <a:off x="2506697" y="1165090"/>
            <a:ext cx="6072187" cy="733425"/>
          </a:xfrm>
          <a:prstGeom prst="rect">
            <a:avLst/>
          </a:prstGeom>
          <a:noFill/>
          <a:ln w="9525">
            <a:noFill/>
            <a:miter lim="800000"/>
            <a:headEnd/>
            <a:tailEnd/>
          </a:ln>
        </p:spPr>
        <p:txBody>
          <a:bodyP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当</a:t>
            </a:r>
            <a:r>
              <a:rPr lang="el-GR" altLang="zh-CN" sz="2800" b="1" dirty="0">
                <a:latin typeface="Times New Roman" pitchFamily="18" charset="0"/>
                <a:ea typeface="微软雅黑" pitchFamily="34" charset="-122"/>
                <a:cs typeface="Times New Roman" pitchFamily="18" charset="0"/>
              </a:rPr>
              <a:t>θ</a:t>
            </a:r>
            <a:r>
              <a:rPr lang="en-US" altLang="zh-CN" sz="2800" b="1" dirty="0">
                <a:latin typeface="Times New Roman" pitchFamily="18" charset="0"/>
                <a:ea typeface="微软雅黑" pitchFamily="34" charset="-122"/>
                <a:cs typeface="Times New Roman" pitchFamily="18" charset="0"/>
              </a:rPr>
              <a:t>=0</a:t>
            </a:r>
            <a:r>
              <a:rPr lang="zh-CN" altLang="en-US" sz="2800" b="1" dirty="0">
                <a:latin typeface="Times New Roman" pitchFamily="18" charset="0"/>
                <a:ea typeface="微软雅黑" pitchFamily="34" charset="-122"/>
                <a:cs typeface="Times New Roman" pitchFamily="18" charset="0"/>
              </a:rPr>
              <a:t>时，即点光源垂直照射时</a:t>
            </a:r>
          </a:p>
        </p:txBody>
      </p:sp>
      <p:graphicFrame>
        <p:nvGraphicFramePr>
          <p:cNvPr id="66" name="Object 1">
            <a:extLst>
              <a:ext uri="{FF2B5EF4-FFF2-40B4-BE49-F238E27FC236}">
                <a16:creationId xmlns:a16="http://schemas.microsoft.com/office/drawing/2014/main" id="{B0BCFB42-3AEF-49E7-B409-77E3785D9C39}"/>
              </a:ext>
            </a:extLst>
          </p:cNvPr>
          <p:cNvGraphicFramePr>
            <a:graphicFrameLocks noChangeAspect="1"/>
          </p:cNvGraphicFramePr>
          <p:nvPr/>
        </p:nvGraphicFramePr>
        <p:xfrm>
          <a:off x="5542790" y="2194229"/>
          <a:ext cx="1143000" cy="996950"/>
        </p:xfrm>
        <a:graphic>
          <a:graphicData uri="http://schemas.openxmlformats.org/presentationml/2006/ole">
            <mc:AlternateContent xmlns:mc="http://schemas.openxmlformats.org/markup-compatibility/2006">
              <mc:Choice xmlns:v="urn:schemas-microsoft-com:vml" Requires="v">
                <p:oleObj name="Equation" r:id="rId2" imgW="445855" imgH="394900" progId="Equation.DSMT4">
                  <p:embed/>
                </p:oleObj>
              </mc:Choice>
              <mc:Fallback>
                <p:oleObj name="Equation" r:id="rId2" imgW="445855" imgH="394900" progId="Equation.DSMT4">
                  <p:embed/>
                  <p:pic>
                    <p:nvPicPr>
                      <p:cNvPr id="99329"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2790" y="2194229"/>
                        <a:ext cx="1143000" cy="996950"/>
                      </a:xfrm>
                      <a:prstGeom prst="rect">
                        <a:avLst/>
                      </a:prstGeom>
                      <a:solidFill>
                        <a:srgbClr val="FF99CC"/>
                      </a:solidFill>
                    </p:spPr>
                  </p:pic>
                </p:oleObj>
              </mc:Fallback>
            </mc:AlternateContent>
          </a:graphicData>
        </a:graphic>
      </p:graphicFrame>
      <p:sp>
        <p:nvSpPr>
          <p:cNvPr id="67" name="TextBox 6">
            <a:extLst>
              <a:ext uri="{FF2B5EF4-FFF2-40B4-BE49-F238E27FC236}">
                <a16:creationId xmlns:a16="http://schemas.microsoft.com/office/drawing/2014/main" id="{A27F9930-11A6-4CAF-B7ED-B8054E74A230}"/>
              </a:ext>
            </a:extLst>
          </p:cNvPr>
          <p:cNvSpPr txBox="1">
            <a:spLocks noChangeArrowheads="1"/>
          </p:cNvSpPr>
          <p:nvPr/>
        </p:nvSpPr>
        <p:spPr bwMode="auto">
          <a:xfrm>
            <a:off x="1793339" y="3605044"/>
            <a:ext cx="10071168" cy="1482329"/>
          </a:xfrm>
          <a:prstGeom prst="rect">
            <a:avLst/>
          </a:prstGeom>
          <a:solidFill>
            <a:srgbClr val="FFFF00"/>
          </a:solidFill>
          <a:ln w="9525">
            <a:noFill/>
            <a:miter lim="800000"/>
            <a:headEnd/>
            <a:tailEnd/>
          </a:ln>
        </p:spPr>
        <p:txBody>
          <a:bodyPr wrap="square">
            <a:spAutoFit/>
          </a:bodyPr>
          <a:lstStyle/>
          <a:p>
            <a:pPr algn="ctr" defTabSz="914400">
              <a:lnSpc>
                <a:spcPct val="150000"/>
              </a:lnSpc>
            </a:pPr>
            <a:r>
              <a:rPr lang="zh-CN" altLang="en-US" sz="3200" b="1" dirty="0">
                <a:latin typeface="Times New Roman" pitchFamily="18" charset="0"/>
                <a:ea typeface="微软雅黑" pitchFamily="34" charset="-122"/>
                <a:cs typeface="Times New Roman" pitchFamily="18" charset="0"/>
              </a:rPr>
              <a:t>物理意义是：点光源在距离</a:t>
            </a:r>
            <a:r>
              <a:rPr lang="en-US" altLang="zh-CN" sz="3200" b="1" dirty="0">
                <a:latin typeface="Times New Roman" pitchFamily="18" charset="0"/>
                <a:ea typeface="微软雅黑" pitchFamily="34" charset="-122"/>
                <a:cs typeface="Times New Roman" pitchFamily="18" charset="0"/>
              </a:rPr>
              <a:t>r</a:t>
            </a:r>
            <a:r>
              <a:rPr lang="zh-CN" altLang="en-US" sz="3200" b="1" dirty="0">
                <a:latin typeface="Times New Roman" pitchFamily="18" charset="0"/>
                <a:ea typeface="微软雅黑" pitchFamily="34" charset="-122"/>
                <a:cs typeface="Times New Roman" pitchFamily="18" charset="0"/>
              </a:rPr>
              <a:t>处所产生的光照度与发光强度成正比，与距离的平方成反比。</a:t>
            </a:r>
          </a:p>
        </p:txBody>
      </p:sp>
    </p:spTree>
    <p:extLst>
      <p:ext uri="{BB962C8B-B14F-4D97-AF65-F5344CB8AC3E}">
        <p14:creationId xmlns:p14="http://schemas.microsoft.com/office/powerpoint/2010/main" val="293513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ox(in)">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box(in)">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box(in)">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box(in)">
                                      <p:cBhvr>
                                        <p:cTn id="2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p:bldP spid="6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4" name="组合 13">
            <a:extLst>
              <a:ext uri="{FF2B5EF4-FFF2-40B4-BE49-F238E27FC236}">
                <a16:creationId xmlns:a16="http://schemas.microsoft.com/office/drawing/2014/main" id="{C7549047-34DE-4932-91A4-2E2F077193E8}"/>
              </a:ext>
            </a:extLst>
          </p:cNvPr>
          <p:cNvGrpSpPr>
            <a:grpSpLocks/>
          </p:cNvGrpSpPr>
          <p:nvPr/>
        </p:nvGrpSpPr>
        <p:grpSpPr bwMode="auto">
          <a:xfrm>
            <a:off x="5965364" y="1856674"/>
            <a:ext cx="1120775" cy="2214562"/>
            <a:chOff x="1285901" y="2008344"/>
            <a:chExt cx="1120775" cy="2214563"/>
          </a:xfrm>
        </p:grpSpPr>
        <p:pic>
          <p:nvPicPr>
            <p:cNvPr id="15" name="Picture 2">
              <a:extLst>
                <a:ext uri="{FF2B5EF4-FFF2-40B4-BE49-F238E27FC236}">
                  <a16:creationId xmlns:a16="http://schemas.microsoft.com/office/drawing/2014/main" id="{BEBCCCEB-F50D-45A3-B693-555F694E1BBF}"/>
                </a:ext>
              </a:extLst>
            </p:cNvPr>
            <p:cNvPicPr>
              <a:picLocks noChangeAspect="1" noChangeArrowheads="1"/>
            </p:cNvPicPr>
            <p:nvPr/>
          </p:nvPicPr>
          <p:blipFill>
            <a:blip r:embed="rId2"/>
            <a:srcRect/>
            <a:stretch>
              <a:fillRect/>
            </a:stretch>
          </p:blipFill>
          <p:spPr bwMode="auto">
            <a:xfrm>
              <a:off x="1285901" y="2008344"/>
              <a:ext cx="1120775" cy="2214563"/>
            </a:xfrm>
            <a:prstGeom prst="rect">
              <a:avLst/>
            </a:prstGeom>
            <a:noFill/>
            <a:ln w="9525">
              <a:noFill/>
              <a:miter lim="800000"/>
              <a:headEnd/>
              <a:tailEnd/>
            </a:ln>
          </p:spPr>
        </p:pic>
        <p:sp>
          <p:nvSpPr>
            <p:cNvPr id="16" name="Rectangle 72">
              <a:extLst>
                <a:ext uri="{FF2B5EF4-FFF2-40B4-BE49-F238E27FC236}">
                  <a16:creationId xmlns:a16="http://schemas.microsoft.com/office/drawing/2014/main" id="{1933C729-531A-4C44-83B2-E0FD962E152C}"/>
                </a:ext>
              </a:extLst>
            </p:cNvPr>
            <p:cNvSpPr>
              <a:spLocks noChangeArrowheads="1"/>
            </p:cNvSpPr>
            <p:nvPr/>
          </p:nvSpPr>
          <p:spPr bwMode="auto">
            <a:xfrm>
              <a:off x="1428776" y="2294094"/>
              <a:ext cx="660400" cy="519113"/>
            </a:xfrm>
            <a:prstGeom prst="rect">
              <a:avLst/>
            </a:prstGeom>
            <a:noFill/>
            <a:ln w="28575">
              <a:noFill/>
              <a:miter lim="800000"/>
              <a:headEnd/>
              <a:tailEnd/>
            </a:ln>
          </p:spPr>
          <p:txBody>
            <a:bodyPr wrap="none" lIns="92075" tIns="46038" rIns="92075" bIns="46038">
              <a:spAutoFit/>
            </a:bodyPr>
            <a:lstStyle/>
            <a:p>
              <a:pPr defTabSz="914400" eaLnBrk="0" hangingPunct="0"/>
              <a:r>
                <a:rPr lang="en-US" altLang="zh-CN" sz="2800" i="1" dirty="0">
                  <a:latin typeface="Times New Roman" pitchFamily="18" charset="0"/>
                  <a:cs typeface="Times New Roman" pitchFamily="18" charset="0"/>
                  <a:sym typeface="Symbol" pitchFamily="18" charset="2"/>
                </a:rPr>
                <a:t>dS</a:t>
              </a:r>
              <a:r>
                <a:rPr lang="en-US" altLang="zh-CN" sz="2800" i="1" baseline="-25000" dirty="0">
                  <a:latin typeface="Times New Roman" pitchFamily="18" charset="0"/>
                  <a:cs typeface="Times New Roman" pitchFamily="18" charset="0"/>
                  <a:sym typeface="Symbol" pitchFamily="18" charset="2"/>
                </a:rPr>
                <a:t>1</a:t>
              </a:r>
              <a:endParaRPr lang="en-US" altLang="zh-CN" sz="2800" i="1" dirty="0">
                <a:latin typeface="Times New Roman" pitchFamily="18" charset="0"/>
                <a:cs typeface="Times New Roman" pitchFamily="18" charset="0"/>
              </a:endParaRPr>
            </a:p>
          </p:txBody>
        </p:sp>
      </p:grpSp>
      <p:grpSp>
        <p:nvGrpSpPr>
          <p:cNvPr id="17" name="组合 4">
            <a:extLst>
              <a:ext uri="{FF2B5EF4-FFF2-40B4-BE49-F238E27FC236}">
                <a16:creationId xmlns:a16="http://schemas.microsoft.com/office/drawing/2014/main" id="{765E8928-DC00-4BF7-B8E9-04905DACB9B1}"/>
              </a:ext>
            </a:extLst>
          </p:cNvPr>
          <p:cNvGrpSpPr>
            <a:grpSpLocks/>
          </p:cNvGrpSpPr>
          <p:nvPr/>
        </p:nvGrpSpPr>
        <p:grpSpPr bwMode="auto">
          <a:xfrm>
            <a:off x="10894552" y="2402774"/>
            <a:ext cx="1517650" cy="1668462"/>
            <a:chOff x="6215089" y="2554444"/>
            <a:chExt cx="1517734" cy="1668463"/>
          </a:xfrm>
        </p:grpSpPr>
        <p:pic>
          <p:nvPicPr>
            <p:cNvPr id="18" name="Picture 6">
              <a:extLst>
                <a:ext uri="{FF2B5EF4-FFF2-40B4-BE49-F238E27FC236}">
                  <a16:creationId xmlns:a16="http://schemas.microsoft.com/office/drawing/2014/main" id="{F8C623F3-A739-4487-8E28-C75DB12367B8}"/>
                </a:ext>
              </a:extLst>
            </p:cNvPr>
            <p:cNvPicPr>
              <a:picLocks noChangeAspect="1" noChangeArrowheads="1"/>
            </p:cNvPicPr>
            <p:nvPr/>
          </p:nvPicPr>
          <p:blipFill>
            <a:blip r:embed="rId3"/>
            <a:srcRect/>
            <a:stretch>
              <a:fillRect/>
            </a:stretch>
          </p:blipFill>
          <p:spPr bwMode="auto">
            <a:xfrm>
              <a:off x="6215089" y="2554444"/>
              <a:ext cx="1357312" cy="1668463"/>
            </a:xfrm>
            <a:prstGeom prst="rect">
              <a:avLst/>
            </a:prstGeom>
            <a:noFill/>
            <a:ln w="9525">
              <a:noFill/>
              <a:miter lim="800000"/>
              <a:headEnd/>
              <a:tailEnd/>
            </a:ln>
          </p:spPr>
        </p:pic>
        <p:sp>
          <p:nvSpPr>
            <p:cNvPr id="19" name="Rectangle 73">
              <a:extLst>
                <a:ext uri="{FF2B5EF4-FFF2-40B4-BE49-F238E27FC236}">
                  <a16:creationId xmlns:a16="http://schemas.microsoft.com/office/drawing/2014/main" id="{20CAEDE1-8940-43E1-815B-FEABD2559BFF}"/>
                </a:ext>
              </a:extLst>
            </p:cNvPr>
            <p:cNvSpPr>
              <a:spLocks noChangeArrowheads="1"/>
            </p:cNvSpPr>
            <p:nvPr/>
          </p:nvSpPr>
          <p:spPr bwMode="auto">
            <a:xfrm>
              <a:off x="7072387" y="3651407"/>
              <a:ext cx="660436" cy="519112"/>
            </a:xfrm>
            <a:prstGeom prst="rect">
              <a:avLst/>
            </a:prstGeom>
            <a:noFill/>
            <a:ln w="28575">
              <a:noFill/>
              <a:miter lim="800000"/>
              <a:headEnd/>
              <a:tailEnd/>
            </a:ln>
          </p:spPr>
          <p:txBody>
            <a:bodyPr wrap="none" lIns="92075" tIns="46038" rIns="92075" bIns="46038">
              <a:spAutoFit/>
            </a:bodyPr>
            <a:lstStyle/>
            <a:p>
              <a:pPr defTabSz="914400" eaLnBrk="0" hangingPunct="0"/>
              <a:r>
                <a:rPr lang="en-US" altLang="zh-CN" sz="2800" i="1" dirty="0">
                  <a:latin typeface="Times New Roman" pitchFamily="18" charset="0"/>
                  <a:cs typeface="Times New Roman" pitchFamily="18" charset="0"/>
                  <a:sym typeface="Symbol" pitchFamily="18" charset="2"/>
                </a:rPr>
                <a:t>dS</a:t>
              </a:r>
              <a:r>
                <a:rPr lang="en-US" altLang="zh-CN" sz="2800" i="1" baseline="-25000" dirty="0">
                  <a:latin typeface="Times New Roman" pitchFamily="18" charset="0"/>
                  <a:cs typeface="Times New Roman" pitchFamily="18" charset="0"/>
                  <a:sym typeface="Symbol" pitchFamily="18" charset="2"/>
                </a:rPr>
                <a:t>2</a:t>
              </a:r>
              <a:endParaRPr lang="en-US" altLang="zh-CN" sz="2800" i="1" dirty="0">
                <a:latin typeface="Times New Roman" pitchFamily="18" charset="0"/>
                <a:cs typeface="Times New Roman" pitchFamily="18" charset="0"/>
              </a:endParaRPr>
            </a:p>
          </p:txBody>
        </p:sp>
      </p:grpSp>
      <p:sp>
        <p:nvSpPr>
          <p:cNvPr id="21" name="Line 10">
            <a:extLst>
              <a:ext uri="{FF2B5EF4-FFF2-40B4-BE49-F238E27FC236}">
                <a16:creationId xmlns:a16="http://schemas.microsoft.com/office/drawing/2014/main" id="{5BDBDEC2-345B-4B2A-B462-4D74A2EBADDA}"/>
              </a:ext>
            </a:extLst>
          </p:cNvPr>
          <p:cNvSpPr>
            <a:spLocks noChangeShapeType="1"/>
          </p:cNvSpPr>
          <p:nvPr/>
        </p:nvSpPr>
        <p:spPr bwMode="auto">
          <a:xfrm>
            <a:off x="6608302" y="2999674"/>
            <a:ext cx="5929312" cy="214312"/>
          </a:xfrm>
          <a:prstGeom prst="line">
            <a:avLst/>
          </a:prstGeom>
          <a:noFill/>
          <a:ln w="38100">
            <a:solidFill>
              <a:schemeClr val="tx1"/>
            </a:solidFill>
            <a:prstDash val="dash"/>
            <a:round/>
            <a:headEnd/>
            <a:tailEnd/>
          </a:ln>
        </p:spPr>
        <p:txBody>
          <a:bodyPr wrap="none" anchor="ctr"/>
          <a:lstStyle/>
          <a:p>
            <a:endParaRPr lang="zh-CN" altLang="en-US"/>
          </a:p>
        </p:txBody>
      </p:sp>
      <p:sp>
        <p:nvSpPr>
          <p:cNvPr id="22" name="Line 65">
            <a:extLst>
              <a:ext uri="{FF2B5EF4-FFF2-40B4-BE49-F238E27FC236}">
                <a16:creationId xmlns:a16="http://schemas.microsoft.com/office/drawing/2014/main" id="{6E5C0685-39B7-45BE-B5F2-69E6590A5814}"/>
              </a:ext>
            </a:extLst>
          </p:cNvPr>
          <p:cNvSpPr>
            <a:spLocks noChangeShapeType="1"/>
          </p:cNvSpPr>
          <p:nvPr/>
        </p:nvSpPr>
        <p:spPr bwMode="auto">
          <a:xfrm flipH="1" flipV="1">
            <a:off x="10823114" y="1642361"/>
            <a:ext cx="785813" cy="1500188"/>
          </a:xfrm>
          <a:prstGeom prst="line">
            <a:avLst/>
          </a:prstGeom>
          <a:noFill/>
          <a:ln w="38100">
            <a:solidFill>
              <a:schemeClr val="tx1"/>
            </a:solidFill>
            <a:round/>
            <a:headEnd/>
            <a:tailEnd type="stealth" w="med" len="lg"/>
          </a:ln>
        </p:spPr>
        <p:txBody>
          <a:bodyPr wrap="none" anchor="ctr"/>
          <a:lstStyle/>
          <a:p>
            <a:endParaRPr lang="zh-CN" altLang="en-US"/>
          </a:p>
        </p:txBody>
      </p:sp>
      <p:grpSp>
        <p:nvGrpSpPr>
          <p:cNvPr id="23" name="组合 9">
            <a:extLst>
              <a:ext uri="{FF2B5EF4-FFF2-40B4-BE49-F238E27FC236}">
                <a16:creationId xmlns:a16="http://schemas.microsoft.com/office/drawing/2014/main" id="{33C70890-9E48-4EE4-8388-32AB42927927}"/>
              </a:ext>
            </a:extLst>
          </p:cNvPr>
          <p:cNvGrpSpPr>
            <a:grpSpLocks/>
          </p:cNvGrpSpPr>
          <p:nvPr/>
        </p:nvGrpSpPr>
        <p:grpSpPr bwMode="auto">
          <a:xfrm>
            <a:off x="6605127" y="2991736"/>
            <a:ext cx="5014912" cy="1785938"/>
            <a:chOff x="1925775" y="3143258"/>
            <a:chExt cx="5014815" cy="1785940"/>
          </a:xfrm>
        </p:grpSpPr>
        <p:cxnSp>
          <p:nvCxnSpPr>
            <p:cNvPr id="24" name="直接连接符 23">
              <a:extLst>
                <a:ext uri="{FF2B5EF4-FFF2-40B4-BE49-F238E27FC236}">
                  <a16:creationId xmlns:a16="http://schemas.microsoft.com/office/drawing/2014/main" id="{E541330D-A36E-41EF-BAC7-096F8B077D97}"/>
                </a:ext>
              </a:extLst>
            </p:cNvPr>
            <p:cNvCxnSpPr/>
            <p:nvPr/>
          </p:nvCxnSpPr>
          <p:spPr>
            <a:xfrm rot="16200000" flipH="1">
              <a:off x="1038361" y="4030672"/>
              <a:ext cx="1785940" cy="11112"/>
            </a:xfrm>
            <a:prstGeom prst="line">
              <a:avLst/>
            </a:prstGeom>
            <a:ln w="38100"/>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D1341BE6-518C-46EE-A892-B3BB40FD6C2B}"/>
                </a:ext>
              </a:extLst>
            </p:cNvPr>
            <p:cNvCxnSpPr/>
            <p:nvPr/>
          </p:nvCxnSpPr>
          <p:spPr>
            <a:xfrm rot="16200000" flipH="1">
              <a:off x="6149220" y="4074329"/>
              <a:ext cx="1571627" cy="11112"/>
            </a:xfrm>
            <a:prstGeom prst="line">
              <a:avLst/>
            </a:prstGeom>
            <a:ln w="38100"/>
          </p:spPr>
          <p:style>
            <a:lnRef idx="1">
              <a:schemeClr val="dk1"/>
            </a:lnRef>
            <a:fillRef idx="0">
              <a:schemeClr val="dk1"/>
            </a:fillRef>
            <a:effectRef idx="0">
              <a:schemeClr val="dk1"/>
            </a:effectRef>
            <a:fontRef idx="minor">
              <a:schemeClr val="tx1"/>
            </a:fontRef>
          </p:style>
        </p:cxnSp>
      </p:grpSp>
      <p:grpSp>
        <p:nvGrpSpPr>
          <p:cNvPr id="28" name="组合 44">
            <a:extLst>
              <a:ext uri="{FF2B5EF4-FFF2-40B4-BE49-F238E27FC236}">
                <a16:creationId xmlns:a16="http://schemas.microsoft.com/office/drawing/2014/main" id="{1A7EFD25-B225-46DF-9D26-1A861CBD2BC7}"/>
              </a:ext>
            </a:extLst>
          </p:cNvPr>
          <p:cNvGrpSpPr>
            <a:grpSpLocks/>
          </p:cNvGrpSpPr>
          <p:nvPr/>
        </p:nvGrpSpPr>
        <p:grpSpPr bwMode="auto">
          <a:xfrm>
            <a:off x="6608302" y="4214111"/>
            <a:ext cx="5000625" cy="427038"/>
            <a:chOff x="2428860" y="4214818"/>
            <a:chExt cx="2930537" cy="427707"/>
          </a:xfrm>
        </p:grpSpPr>
        <p:sp>
          <p:nvSpPr>
            <p:cNvPr id="29" name="Line 19">
              <a:extLst>
                <a:ext uri="{FF2B5EF4-FFF2-40B4-BE49-F238E27FC236}">
                  <a16:creationId xmlns:a16="http://schemas.microsoft.com/office/drawing/2014/main" id="{7E53CEEC-8481-4183-8D57-BEBC97E8B923}"/>
                </a:ext>
              </a:extLst>
            </p:cNvPr>
            <p:cNvSpPr>
              <a:spLocks noChangeAspect="1" noChangeShapeType="1"/>
            </p:cNvSpPr>
            <p:nvPr/>
          </p:nvSpPr>
          <p:spPr bwMode="auto">
            <a:xfrm flipH="1">
              <a:off x="2428860" y="4432836"/>
              <a:ext cx="1285884" cy="0"/>
            </a:xfrm>
            <a:prstGeom prst="line">
              <a:avLst/>
            </a:prstGeom>
            <a:noFill/>
            <a:ln w="38100">
              <a:solidFill>
                <a:schemeClr val="tx1"/>
              </a:solidFill>
              <a:round/>
              <a:headEnd/>
              <a:tailEnd type="stealth" w="med" len="lg"/>
            </a:ln>
          </p:spPr>
          <p:txBody>
            <a:bodyPr/>
            <a:lstStyle/>
            <a:p>
              <a:endParaRPr lang="zh-CN" altLang="en-US"/>
            </a:p>
          </p:txBody>
        </p:sp>
        <p:sp>
          <p:nvSpPr>
            <p:cNvPr id="30" name="Line 20">
              <a:extLst>
                <a:ext uri="{FF2B5EF4-FFF2-40B4-BE49-F238E27FC236}">
                  <a16:creationId xmlns:a16="http://schemas.microsoft.com/office/drawing/2014/main" id="{5EE58A3B-92DF-467E-AB86-8AF3C512349B}"/>
                </a:ext>
              </a:extLst>
            </p:cNvPr>
            <p:cNvSpPr>
              <a:spLocks noChangeAspect="1" noChangeShapeType="1"/>
            </p:cNvSpPr>
            <p:nvPr/>
          </p:nvSpPr>
          <p:spPr bwMode="auto">
            <a:xfrm>
              <a:off x="4071934" y="4429132"/>
              <a:ext cx="1287463" cy="0"/>
            </a:xfrm>
            <a:prstGeom prst="line">
              <a:avLst/>
            </a:prstGeom>
            <a:noFill/>
            <a:ln w="38100">
              <a:solidFill>
                <a:schemeClr val="tx1"/>
              </a:solidFill>
              <a:round/>
              <a:headEnd/>
              <a:tailEnd type="stealth" w="med" len="lg"/>
            </a:ln>
          </p:spPr>
          <p:txBody>
            <a:bodyPr/>
            <a:lstStyle/>
            <a:p>
              <a:endParaRPr lang="zh-CN" altLang="en-US"/>
            </a:p>
          </p:txBody>
        </p:sp>
        <p:sp>
          <p:nvSpPr>
            <p:cNvPr id="31" name="TextBox 9">
              <a:extLst>
                <a:ext uri="{FF2B5EF4-FFF2-40B4-BE49-F238E27FC236}">
                  <a16:creationId xmlns:a16="http://schemas.microsoft.com/office/drawing/2014/main" id="{A982F5DF-07BC-4CD2-A464-B1ADF468AD0E}"/>
                </a:ext>
              </a:extLst>
            </p:cNvPr>
            <p:cNvSpPr txBox="1">
              <a:spLocks noChangeArrowheads="1"/>
            </p:cNvSpPr>
            <p:nvPr/>
          </p:nvSpPr>
          <p:spPr bwMode="auto">
            <a:xfrm>
              <a:off x="3857846" y="4214818"/>
              <a:ext cx="213975" cy="427707"/>
            </a:xfrm>
            <a:prstGeom prst="rect">
              <a:avLst/>
            </a:prstGeom>
            <a:solidFill>
              <a:schemeClr val="bg1"/>
            </a:solidFill>
            <a:ln w="9525">
              <a:noFill/>
              <a:miter lim="800000"/>
              <a:headEnd/>
              <a:tailEnd/>
            </a:ln>
          </p:spPr>
          <p:txBody>
            <a:bodyPr lIns="0" tIns="0" rIns="0" bIns="0">
              <a:spAutoFit/>
            </a:bodyPr>
            <a:lstStyle/>
            <a:p>
              <a:pPr defTabSz="914400"/>
              <a:r>
                <a:rPr lang="en-US" altLang="zh-CN" sz="2800" b="1" i="1">
                  <a:latin typeface="Times New Roman" pitchFamily="18" charset="0"/>
                  <a:cs typeface="Times New Roman" pitchFamily="18" charset="0"/>
                </a:rPr>
                <a:t>r</a:t>
              </a:r>
              <a:endParaRPr lang="zh-CN" altLang="en-US" sz="2800" b="1" i="1">
                <a:latin typeface="Times New Roman" pitchFamily="18" charset="0"/>
                <a:cs typeface="Times New Roman" pitchFamily="18" charset="0"/>
              </a:endParaRPr>
            </a:p>
          </p:txBody>
        </p:sp>
      </p:grpSp>
      <p:grpSp>
        <p:nvGrpSpPr>
          <p:cNvPr id="32" name="组合 16">
            <a:extLst>
              <a:ext uri="{FF2B5EF4-FFF2-40B4-BE49-F238E27FC236}">
                <a16:creationId xmlns:a16="http://schemas.microsoft.com/office/drawing/2014/main" id="{EB615B57-2A8B-43BE-BFD7-26A64CB81980}"/>
              </a:ext>
            </a:extLst>
          </p:cNvPr>
          <p:cNvGrpSpPr>
            <a:grpSpLocks/>
          </p:cNvGrpSpPr>
          <p:nvPr/>
        </p:nvGrpSpPr>
        <p:grpSpPr bwMode="auto">
          <a:xfrm>
            <a:off x="6536863" y="1856674"/>
            <a:ext cx="6500814" cy="2214562"/>
            <a:chOff x="1857400" y="2008344"/>
            <a:chExt cx="6500814" cy="2214563"/>
          </a:xfrm>
        </p:grpSpPr>
        <p:sp>
          <p:nvSpPr>
            <p:cNvPr id="34" name="Line 59">
              <a:extLst>
                <a:ext uri="{FF2B5EF4-FFF2-40B4-BE49-F238E27FC236}">
                  <a16:creationId xmlns:a16="http://schemas.microsoft.com/office/drawing/2014/main" id="{069D842B-F6F1-4D3B-9C9C-B40DF13AE75D}"/>
                </a:ext>
              </a:extLst>
            </p:cNvPr>
            <p:cNvSpPr>
              <a:spLocks noChangeShapeType="1"/>
            </p:cNvSpPr>
            <p:nvPr/>
          </p:nvSpPr>
          <p:spPr bwMode="auto">
            <a:xfrm>
              <a:off x="1857401" y="2008344"/>
              <a:ext cx="6500813" cy="642938"/>
            </a:xfrm>
            <a:prstGeom prst="line">
              <a:avLst/>
            </a:prstGeom>
            <a:noFill/>
            <a:ln w="38100">
              <a:solidFill>
                <a:schemeClr val="tx1"/>
              </a:solidFill>
              <a:round/>
              <a:headEnd/>
              <a:tailEnd type="stealth" w="med" len="lg"/>
            </a:ln>
          </p:spPr>
          <p:txBody>
            <a:bodyPr wrap="none" anchor="ctr"/>
            <a:lstStyle/>
            <a:p>
              <a:endParaRPr lang="zh-CN" altLang="en-US"/>
            </a:p>
          </p:txBody>
        </p:sp>
        <p:sp>
          <p:nvSpPr>
            <p:cNvPr id="35" name="Line 20">
              <a:extLst>
                <a:ext uri="{FF2B5EF4-FFF2-40B4-BE49-F238E27FC236}">
                  <a16:creationId xmlns:a16="http://schemas.microsoft.com/office/drawing/2014/main" id="{190AF530-2A48-4C38-8D35-6DDC3E76EAC9}"/>
                </a:ext>
              </a:extLst>
            </p:cNvPr>
            <p:cNvSpPr>
              <a:spLocks noChangeAspect="1" noChangeShapeType="1"/>
            </p:cNvSpPr>
            <p:nvPr/>
          </p:nvSpPr>
          <p:spPr bwMode="auto">
            <a:xfrm>
              <a:off x="1857400" y="4222907"/>
              <a:ext cx="6500813" cy="0"/>
            </a:xfrm>
            <a:prstGeom prst="line">
              <a:avLst/>
            </a:prstGeom>
            <a:noFill/>
            <a:ln w="38100">
              <a:solidFill>
                <a:schemeClr val="tx1"/>
              </a:solidFill>
              <a:round/>
              <a:headEnd/>
              <a:tailEnd type="stealth" w="med" len="lg"/>
            </a:ln>
          </p:spPr>
          <p:txBody>
            <a:bodyPr/>
            <a:lstStyle/>
            <a:p>
              <a:endParaRPr lang="zh-CN" altLang="en-US"/>
            </a:p>
          </p:txBody>
        </p:sp>
      </p:grpSp>
      <p:grpSp>
        <p:nvGrpSpPr>
          <p:cNvPr id="36" name="组合 19">
            <a:extLst>
              <a:ext uri="{FF2B5EF4-FFF2-40B4-BE49-F238E27FC236}">
                <a16:creationId xmlns:a16="http://schemas.microsoft.com/office/drawing/2014/main" id="{228ABA07-46F3-47DF-B2F9-D1F3CB7FE13F}"/>
              </a:ext>
            </a:extLst>
          </p:cNvPr>
          <p:cNvGrpSpPr>
            <a:grpSpLocks/>
          </p:cNvGrpSpPr>
          <p:nvPr/>
        </p:nvGrpSpPr>
        <p:grpSpPr bwMode="auto">
          <a:xfrm>
            <a:off x="6608302" y="2428174"/>
            <a:ext cx="5357812" cy="1643062"/>
            <a:chOff x="1928839" y="2579844"/>
            <a:chExt cx="5357812" cy="1643063"/>
          </a:xfrm>
        </p:grpSpPr>
        <p:sp>
          <p:nvSpPr>
            <p:cNvPr id="37" name="Line 7">
              <a:extLst>
                <a:ext uri="{FF2B5EF4-FFF2-40B4-BE49-F238E27FC236}">
                  <a16:creationId xmlns:a16="http://schemas.microsoft.com/office/drawing/2014/main" id="{D98D4EF4-09AF-4CE6-9479-15A5FA1F57C6}"/>
                </a:ext>
              </a:extLst>
            </p:cNvPr>
            <p:cNvSpPr>
              <a:spLocks noChangeShapeType="1"/>
            </p:cNvSpPr>
            <p:nvPr/>
          </p:nvSpPr>
          <p:spPr bwMode="auto">
            <a:xfrm>
              <a:off x="1928839" y="3151344"/>
              <a:ext cx="4572000" cy="1071563"/>
            </a:xfrm>
            <a:prstGeom prst="line">
              <a:avLst/>
            </a:prstGeom>
            <a:noFill/>
            <a:ln w="38100">
              <a:solidFill>
                <a:srgbClr val="FF0000"/>
              </a:solidFill>
              <a:prstDash val="dash"/>
              <a:round/>
              <a:headEnd/>
              <a:tailEnd/>
            </a:ln>
          </p:spPr>
          <p:txBody>
            <a:bodyPr wrap="none" anchor="ctr"/>
            <a:lstStyle/>
            <a:p>
              <a:endParaRPr lang="zh-CN" altLang="en-US"/>
            </a:p>
          </p:txBody>
        </p:sp>
        <p:sp>
          <p:nvSpPr>
            <p:cNvPr id="38" name="Line 6">
              <a:extLst>
                <a:ext uri="{FF2B5EF4-FFF2-40B4-BE49-F238E27FC236}">
                  <a16:creationId xmlns:a16="http://schemas.microsoft.com/office/drawing/2014/main" id="{15E48194-7D59-4041-A43E-7968AADA53F4}"/>
                </a:ext>
              </a:extLst>
            </p:cNvPr>
            <p:cNvSpPr>
              <a:spLocks noChangeShapeType="1"/>
            </p:cNvSpPr>
            <p:nvPr/>
          </p:nvSpPr>
          <p:spPr bwMode="auto">
            <a:xfrm flipV="1">
              <a:off x="1928839" y="2579844"/>
              <a:ext cx="5357812" cy="533400"/>
            </a:xfrm>
            <a:prstGeom prst="line">
              <a:avLst/>
            </a:prstGeom>
            <a:noFill/>
            <a:ln w="38100">
              <a:solidFill>
                <a:srgbClr val="FF0000"/>
              </a:solidFill>
              <a:prstDash val="dash"/>
              <a:round/>
              <a:headEnd/>
              <a:tailEnd/>
            </a:ln>
          </p:spPr>
          <p:txBody>
            <a:bodyPr wrap="none" anchor="ctr"/>
            <a:lstStyle/>
            <a:p>
              <a:endParaRPr lang="zh-CN" altLang="en-US"/>
            </a:p>
          </p:txBody>
        </p:sp>
      </p:grpSp>
      <p:grpSp>
        <p:nvGrpSpPr>
          <p:cNvPr id="39" name="组合 22">
            <a:extLst>
              <a:ext uri="{FF2B5EF4-FFF2-40B4-BE49-F238E27FC236}">
                <a16:creationId xmlns:a16="http://schemas.microsoft.com/office/drawing/2014/main" id="{0935E61D-0C63-4211-93E5-57D4E42DB2B2}"/>
              </a:ext>
            </a:extLst>
          </p:cNvPr>
          <p:cNvGrpSpPr>
            <a:grpSpLocks/>
          </p:cNvGrpSpPr>
          <p:nvPr/>
        </p:nvGrpSpPr>
        <p:grpSpPr bwMode="auto">
          <a:xfrm>
            <a:off x="8108489" y="2785361"/>
            <a:ext cx="738188" cy="579438"/>
            <a:chOff x="3429026" y="2937032"/>
            <a:chExt cx="738188" cy="579437"/>
          </a:xfrm>
        </p:grpSpPr>
        <p:sp>
          <p:nvSpPr>
            <p:cNvPr id="41" name="Oval 41">
              <a:extLst>
                <a:ext uri="{FF2B5EF4-FFF2-40B4-BE49-F238E27FC236}">
                  <a16:creationId xmlns:a16="http://schemas.microsoft.com/office/drawing/2014/main" id="{5B8DCD2D-96F2-4E4F-A78A-068C0BC3F6C4}"/>
                </a:ext>
              </a:extLst>
            </p:cNvPr>
            <p:cNvSpPr>
              <a:spLocks noChangeAspect="1" noChangeArrowheads="1"/>
            </p:cNvSpPr>
            <p:nvPr/>
          </p:nvSpPr>
          <p:spPr bwMode="auto">
            <a:xfrm>
              <a:off x="3429026" y="2937032"/>
              <a:ext cx="214313" cy="579437"/>
            </a:xfrm>
            <a:prstGeom prst="ellipse">
              <a:avLst/>
            </a:prstGeom>
            <a:solidFill>
              <a:schemeClr val="accent6">
                <a:lumMod val="40000"/>
                <a:lumOff val="60000"/>
              </a:schemeClr>
            </a:solidFill>
            <a:ln w="12700">
              <a:solidFill>
                <a:srgbClr val="000000"/>
              </a:solidFill>
              <a:round/>
              <a:headEnd/>
              <a:tailEnd/>
            </a:ln>
          </p:spPr>
          <p:txBody>
            <a:bodyPr lIns="0" tIns="0" rIns="0"/>
            <a:lstStyle/>
            <a:p>
              <a:pPr defTabSz="914400">
                <a:defRPr/>
              </a:pPr>
              <a:endParaRPr lang="zh-CN" altLang="en-US" sz="1800">
                <a:latin typeface="Arial" charset="0"/>
              </a:endParaRPr>
            </a:p>
          </p:txBody>
        </p:sp>
        <p:graphicFrame>
          <p:nvGraphicFramePr>
            <p:cNvPr id="42" name="Object 2">
              <a:extLst>
                <a:ext uri="{FF2B5EF4-FFF2-40B4-BE49-F238E27FC236}">
                  <a16:creationId xmlns:a16="http://schemas.microsoft.com/office/drawing/2014/main" id="{3853CD8F-A9E8-44AE-9838-7DED25E8F57C}"/>
                </a:ext>
              </a:extLst>
            </p:cNvPr>
            <p:cNvGraphicFramePr>
              <a:graphicFrameLocks/>
            </p:cNvGraphicFramePr>
            <p:nvPr/>
          </p:nvGraphicFramePr>
          <p:xfrm>
            <a:off x="3632226" y="2995769"/>
            <a:ext cx="534988" cy="473075"/>
          </p:xfrm>
          <a:graphic>
            <a:graphicData uri="http://schemas.openxmlformats.org/presentationml/2006/ole">
              <mc:AlternateContent xmlns:mc="http://schemas.openxmlformats.org/markup-compatibility/2006">
                <mc:Choice xmlns:v="urn:schemas-microsoft-com:vml" Requires="v">
                  <p:oleObj name="Equation" r:id="rId4" imgW="291960" imgH="228600" progId="Equation.DSMT4">
                    <p:embed/>
                  </p:oleObj>
                </mc:Choice>
                <mc:Fallback>
                  <p:oleObj name="Equation" r:id="rId4" imgW="291960" imgH="228600" progId="Equation.DSMT4">
                    <p:embed/>
                    <p:pic>
                      <p:nvPicPr>
                        <p:cNvPr id="75807"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2226" y="2995769"/>
                          <a:ext cx="534988" cy="4730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3" name="Line 67">
            <a:extLst>
              <a:ext uri="{FF2B5EF4-FFF2-40B4-BE49-F238E27FC236}">
                <a16:creationId xmlns:a16="http://schemas.microsoft.com/office/drawing/2014/main" id="{FE63C17D-8475-4CA2-8F93-278C1B9212AF}"/>
              </a:ext>
            </a:extLst>
          </p:cNvPr>
          <p:cNvSpPr>
            <a:spLocks noChangeShapeType="1"/>
          </p:cNvSpPr>
          <p:nvPr/>
        </p:nvSpPr>
        <p:spPr bwMode="auto">
          <a:xfrm flipV="1">
            <a:off x="6600364" y="1777299"/>
            <a:ext cx="1793875" cy="1195387"/>
          </a:xfrm>
          <a:prstGeom prst="line">
            <a:avLst/>
          </a:prstGeom>
          <a:noFill/>
          <a:ln w="38100">
            <a:solidFill>
              <a:schemeClr val="tx1"/>
            </a:solidFill>
            <a:round/>
            <a:headEnd/>
            <a:tailEnd type="stealth" w="med" len="lg"/>
          </a:ln>
        </p:spPr>
        <p:txBody>
          <a:bodyPr wrap="none" anchor="ctr"/>
          <a:lstStyle/>
          <a:p>
            <a:endParaRPr lang="zh-CN" altLang="en-US"/>
          </a:p>
        </p:txBody>
      </p:sp>
      <p:grpSp>
        <p:nvGrpSpPr>
          <p:cNvPr id="44" name="组合 26">
            <a:extLst>
              <a:ext uri="{FF2B5EF4-FFF2-40B4-BE49-F238E27FC236}">
                <a16:creationId xmlns:a16="http://schemas.microsoft.com/office/drawing/2014/main" id="{7CF85EB5-C172-415A-8665-227D441D4E4E}"/>
              </a:ext>
            </a:extLst>
          </p:cNvPr>
          <p:cNvGrpSpPr>
            <a:grpSpLocks/>
          </p:cNvGrpSpPr>
          <p:nvPr/>
        </p:nvGrpSpPr>
        <p:grpSpPr bwMode="auto">
          <a:xfrm>
            <a:off x="7036927" y="2499611"/>
            <a:ext cx="752475" cy="519113"/>
            <a:chOff x="2357464" y="2651282"/>
            <a:chExt cx="752475" cy="519112"/>
          </a:xfrm>
        </p:grpSpPr>
        <p:sp>
          <p:nvSpPr>
            <p:cNvPr id="45" name="Arc 68">
              <a:extLst>
                <a:ext uri="{FF2B5EF4-FFF2-40B4-BE49-F238E27FC236}">
                  <a16:creationId xmlns:a16="http://schemas.microsoft.com/office/drawing/2014/main" id="{261DBB18-4125-4495-9630-60F0BA5B23F5}"/>
                </a:ext>
              </a:extLst>
            </p:cNvPr>
            <p:cNvSpPr>
              <a:spLocks/>
            </p:cNvSpPr>
            <p:nvPr/>
          </p:nvSpPr>
          <p:spPr bwMode="auto">
            <a:xfrm>
              <a:off x="2357464" y="2865595"/>
              <a:ext cx="142875" cy="28574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accent6">
                  <a:lumMod val="50000"/>
                </a:schemeClr>
              </a:solidFill>
              <a:round/>
              <a:headEnd type="stealth" w="sm" len="lg"/>
              <a:tailEnd type="stealth" w="sm" len="lg"/>
            </a:ln>
            <a:effectLst/>
          </p:spPr>
          <p:txBody>
            <a:bodyPr wrap="none" anchor="ctr"/>
            <a:lstStyle/>
            <a:p>
              <a:pPr defTabSz="914400">
                <a:defRPr/>
              </a:pPr>
              <a:endParaRPr lang="zh-CN" altLang="en-US" sz="1800">
                <a:latin typeface="Arial" charset="0"/>
              </a:endParaRPr>
            </a:p>
          </p:txBody>
        </p:sp>
        <p:sp>
          <p:nvSpPr>
            <p:cNvPr id="46" name="Rectangle 71">
              <a:extLst>
                <a:ext uri="{FF2B5EF4-FFF2-40B4-BE49-F238E27FC236}">
                  <a16:creationId xmlns:a16="http://schemas.microsoft.com/office/drawing/2014/main" id="{570B1419-6ECA-42DE-9255-F811F1A704E7}"/>
                </a:ext>
              </a:extLst>
            </p:cNvPr>
            <p:cNvSpPr>
              <a:spLocks noChangeArrowheads="1"/>
            </p:cNvSpPr>
            <p:nvPr/>
          </p:nvSpPr>
          <p:spPr bwMode="auto">
            <a:xfrm>
              <a:off x="2500339" y="2651282"/>
              <a:ext cx="609600" cy="519112"/>
            </a:xfrm>
            <a:prstGeom prst="rect">
              <a:avLst/>
            </a:prstGeom>
            <a:noFill/>
            <a:ln w="28575">
              <a:noFill/>
              <a:miter lim="800000"/>
              <a:headEnd/>
              <a:tailEnd/>
            </a:ln>
          </p:spPr>
          <p:txBody>
            <a:bodyPr lIns="92075" tIns="46038" rIns="92075" bIns="46038">
              <a:spAutoFit/>
            </a:bodyPr>
            <a:lstStyle/>
            <a:p>
              <a:pPr defTabSz="914400" eaLnBrk="0" hangingPunct="0"/>
              <a:r>
                <a:rPr lang="en-US" altLang="zh-CN" sz="2800" i="1">
                  <a:latin typeface="Bookman Old Style" pitchFamily="18" charset="0"/>
                  <a:sym typeface="Symbol" pitchFamily="18" charset="2"/>
                </a:rPr>
                <a:t></a:t>
              </a:r>
              <a:r>
                <a:rPr lang="en-US" altLang="en-US" sz="2800" i="1" baseline="-25000">
                  <a:latin typeface="Bookman Old Style" pitchFamily="18" charset="0"/>
                  <a:sym typeface="Symbol" pitchFamily="18" charset="2"/>
                </a:rPr>
                <a:t>1</a:t>
              </a:r>
              <a:endParaRPr lang="en-US" altLang="zh-CN" sz="2800" i="1">
                <a:latin typeface="Bookman Old Style" pitchFamily="18" charset="0"/>
              </a:endParaRPr>
            </a:p>
          </p:txBody>
        </p:sp>
      </p:grpSp>
      <p:grpSp>
        <p:nvGrpSpPr>
          <p:cNvPr id="47" name="组合 29">
            <a:extLst>
              <a:ext uri="{FF2B5EF4-FFF2-40B4-BE49-F238E27FC236}">
                <a16:creationId xmlns:a16="http://schemas.microsoft.com/office/drawing/2014/main" id="{2A1FDFDB-1DCA-4C41-BE51-9C8F11307BB9}"/>
              </a:ext>
            </a:extLst>
          </p:cNvPr>
          <p:cNvGrpSpPr>
            <a:grpSpLocks/>
          </p:cNvGrpSpPr>
          <p:nvPr/>
        </p:nvGrpSpPr>
        <p:grpSpPr bwMode="auto">
          <a:xfrm>
            <a:off x="10537364" y="2428174"/>
            <a:ext cx="785813" cy="733425"/>
            <a:chOff x="5857901" y="2579844"/>
            <a:chExt cx="785813" cy="733425"/>
          </a:xfrm>
        </p:grpSpPr>
        <p:sp>
          <p:nvSpPr>
            <p:cNvPr id="48" name="Arc 66">
              <a:extLst>
                <a:ext uri="{FF2B5EF4-FFF2-40B4-BE49-F238E27FC236}">
                  <a16:creationId xmlns:a16="http://schemas.microsoft.com/office/drawing/2014/main" id="{D1B2A80C-3549-473A-81C5-E1785881B68E}"/>
                </a:ext>
              </a:extLst>
            </p:cNvPr>
            <p:cNvSpPr>
              <a:spLocks/>
            </p:cNvSpPr>
            <p:nvPr/>
          </p:nvSpPr>
          <p:spPr bwMode="auto">
            <a:xfrm flipH="1">
              <a:off x="6286526" y="2794157"/>
              <a:ext cx="357188" cy="51911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type="stealth" w="sm" len="lg"/>
              <a:tailEnd type="stealth" w="sm" len="lg"/>
            </a:ln>
          </p:spPr>
          <p:txBody>
            <a:bodyPr wrap="none" anchor="ctr"/>
            <a:lstStyle/>
            <a:p>
              <a:pPr defTabSz="914400"/>
              <a:endParaRPr lang="zh-CN" altLang="en-US" sz="1800"/>
            </a:p>
          </p:txBody>
        </p:sp>
        <p:sp>
          <p:nvSpPr>
            <p:cNvPr id="49" name="Rectangle 70">
              <a:extLst>
                <a:ext uri="{FF2B5EF4-FFF2-40B4-BE49-F238E27FC236}">
                  <a16:creationId xmlns:a16="http://schemas.microsoft.com/office/drawing/2014/main" id="{6C347EB8-EC86-4B0B-9CEE-E632505C4BAB}"/>
                </a:ext>
              </a:extLst>
            </p:cNvPr>
            <p:cNvSpPr>
              <a:spLocks noChangeArrowheads="1"/>
            </p:cNvSpPr>
            <p:nvPr/>
          </p:nvSpPr>
          <p:spPr bwMode="auto">
            <a:xfrm>
              <a:off x="5857901" y="2579844"/>
              <a:ext cx="533400" cy="519113"/>
            </a:xfrm>
            <a:prstGeom prst="rect">
              <a:avLst/>
            </a:prstGeom>
            <a:noFill/>
            <a:ln w="28575">
              <a:noFill/>
              <a:miter lim="800000"/>
              <a:headEnd/>
              <a:tailEnd/>
            </a:ln>
          </p:spPr>
          <p:txBody>
            <a:bodyPr lIns="92075" tIns="46038" rIns="92075" bIns="46038">
              <a:spAutoFit/>
            </a:bodyPr>
            <a:lstStyle/>
            <a:p>
              <a:pPr defTabSz="914400" eaLnBrk="0" hangingPunct="0"/>
              <a:r>
                <a:rPr lang="en-US" altLang="zh-CN" sz="2800" i="1">
                  <a:latin typeface="Bookman Old Style" pitchFamily="18" charset="0"/>
                  <a:sym typeface="Symbol" pitchFamily="18" charset="2"/>
                </a:rPr>
                <a:t></a:t>
              </a:r>
              <a:r>
                <a:rPr lang="en-US" altLang="en-US" sz="2800" i="1" baseline="-25000">
                  <a:latin typeface="Bookman Old Style" pitchFamily="18" charset="0"/>
                  <a:sym typeface="Symbol" pitchFamily="18" charset="2"/>
                </a:rPr>
                <a:t>2</a:t>
              </a:r>
              <a:endParaRPr lang="en-US" altLang="zh-CN" sz="2800" i="1">
                <a:latin typeface="Bookman Old Style" pitchFamily="18" charset="0"/>
              </a:endParaRPr>
            </a:p>
          </p:txBody>
        </p:sp>
      </p:grpSp>
      <p:grpSp>
        <p:nvGrpSpPr>
          <p:cNvPr id="50" name="组合 32">
            <a:extLst>
              <a:ext uri="{FF2B5EF4-FFF2-40B4-BE49-F238E27FC236}">
                <a16:creationId xmlns:a16="http://schemas.microsoft.com/office/drawing/2014/main" id="{A8E61816-C74D-4F13-9909-4740FEE4069B}"/>
              </a:ext>
            </a:extLst>
          </p:cNvPr>
          <p:cNvGrpSpPr>
            <a:grpSpLocks/>
          </p:cNvGrpSpPr>
          <p:nvPr/>
        </p:nvGrpSpPr>
        <p:grpSpPr bwMode="auto">
          <a:xfrm>
            <a:off x="6536864" y="1856674"/>
            <a:ext cx="5072063" cy="2214562"/>
            <a:chOff x="1857401" y="2008344"/>
            <a:chExt cx="5072063" cy="2214563"/>
          </a:xfrm>
        </p:grpSpPr>
        <p:sp>
          <p:nvSpPr>
            <p:cNvPr id="51" name="Line 62">
              <a:extLst>
                <a:ext uri="{FF2B5EF4-FFF2-40B4-BE49-F238E27FC236}">
                  <a16:creationId xmlns:a16="http://schemas.microsoft.com/office/drawing/2014/main" id="{7040BC76-AA5A-4299-A293-7F2A5D87EA6D}"/>
                </a:ext>
              </a:extLst>
            </p:cNvPr>
            <p:cNvSpPr>
              <a:spLocks noChangeShapeType="1"/>
            </p:cNvSpPr>
            <p:nvPr/>
          </p:nvSpPr>
          <p:spPr bwMode="auto">
            <a:xfrm flipH="1">
              <a:off x="1857401" y="3365657"/>
              <a:ext cx="5029200" cy="857250"/>
            </a:xfrm>
            <a:prstGeom prst="line">
              <a:avLst/>
            </a:prstGeom>
            <a:noFill/>
            <a:ln w="38100">
              <a:solidFill>
                <a:srgbClr val="0000FF"/>
              </a:solidFill>
              <a:prstDash val="dash"/>
              <a:round/>
              <a:headEnd/>
              <a:tailEnd/>
            </a:ln>
          </p:spPr>
          <p:txBody>
            <a:bodyPr wrap="none" anchor="ctr"/>
            <a:lstStyle/>
            <a:p>
              <a:endParaRPr lang="zh-CN" altLang="en-US"/>
            </a:p>
          </p:txBody>
        </p:sp>
        <p:sp>
          <p:nvSpPr>
            <p:cNvPr id="52" name="Line 61">
              <a:extLst>
                <a:ext uri="{FF2B5EF4-FFF2-40B4-BE49-F238E27FC236}">
                  <a16:creationId xmlns:a16="http://schemas.microsoft.com/office/drawing/2014/main" id="{3793D48B-E28F-457F-8442-C2C766E775CC}"/>
                </a:ext>
              </a:extLst>
            </p:cNvPr>
            <p:cNvSpPr>
              <a:spLocks noChangeShapeType="1"/>
            </p:cNvSpPr>
            <p:nvPr/>
          </p:nvSpPr>
          <p:spPr bwMode="auto">
            <a:xfrm flipH="1" flipV="1">
              <a:off x="1857401" y="2008344"/>
              <a:ext cx="5072063" cy="1285875"/>
            </a:xfrm>
            <a:prstGeom prst="line">
              <a:avLst/>
            </a:prstGeom>
            <a:noFill/>
            <a:ln w="38100">
              <a:solidFill>
                <a:srgbClr val="0000FF"/>
              </a:solidFill>
              <a:prstDash val="dash"/>
              <a:round/>
              <a:headEnd/>
              <a:tailEnd/>
            </a:ln>
          </p:spPr>
          <p:txBody>
            <a:bodyPr wrap="none" anchor="ctr"/>
            <a:lstStyle/>
            <a:p>
              <a:endParaRPr lang="zh-CN" altLang="en-US"/>
            </a:p>
          </p:txBody>
        </p:sp>
      </p:grpSp>
      <p:grpSp>
        <p:nvGrpSpPr>
          <p:cNvPr id="53" name="组合 35">
            <a:extLst>
              <a:ext uri="{FF2B5EF4-FFF2-40B4-BE49-F238E27FC236}">
                <a16:creationId xmlns:a16="http://schemas.microsoft.com/office/drawing/2014/main" id="{AADC63EF-492F-41E5-95E0-5E3DBF5D8581}"/>
              </a:ext>
            </a:extLst>
          </p:cNvPr>
          <p:cNvGrpSpPr>
            <a:grpSpLocks/>
          </p:cNvGrpSpPr>
          <p:nvPr/>
        </p:nvGrpSpPr>
        <p:grpSpPr bwMode="auto">
          <a:xfrm>
            <a:off x="9597564" y="2785361"/>
            <a:ext cx="817563" cy="642938"/>
            <a:chOff x="4918101" y="2937032"/>
            <a:chExt cx="817563" cy="642937"/>
          </a:xfrm>
        </p:grpSpPr>
        <p:sp>
          <p:nvSpPr>
            <p:cNvPr id="54" name="Oval 36">
              <a:extLst>
                <a:ext uri="{FF2B5EF4-FFF2-40B4-BE49-F238E27FC236}">
                  <a16:creationId xmlns:a16="http://schemas.microsoft.com/office/drawing/2014/main" id="{5CD11222-EAC0-4381-AEB3-E974867E9AEE}"/>
                </a:ext>
              </a:extLst>
            </p:cNvPr>
            <p:cNvSpPr>
              <a:spLocks noChangeAspect="1" noChangeArrowheads="1"/>
            </p:cNvSpPr>
            <p:nvPr/>
          </p:nvSpPr>
          <p:spPr bwMode="auto">
            <a:xfrm>
              <a:off x="5500714" y="2937032"/>
              <a:ext cx="234950" cy="642937"/>
            </a:xfrm>
            <a:prstGeom prst="ellipse">
              <a:avLst/>
            </a:prstGeom>
            <a:solidFill>
              <a:schemeClr val="accent5">
                <a:lumMod val="40000"/>
                <a:lumOff val="60000"/>
              </a:schemeClr>
            </a:solidFill>
            <a:ln w="9525">
              <a:solidFill>
                <a:srgbClr val="000000"/>
              </a:solidFill>
              <a:round/>
              <a:headEnd/>
              <a:tailEnd/>
            </a:ln>
          </p:spPr>
          <p:txBody>
            <a:bodyPr lIns="0" tIns="0" rIns="0"/>
            <a:lstStyle/>
            <a:p>
              <a:pPr defTabSz="914400">
                <a:defRPr/>
              </a:pPr>
              <a:endParaRPr lang="zh-CN" altLang="en-US" sz="1800">
                <a:latin typeface="Arial" charset="0"/>
              </a:endParaRPr>
            </a:p>
          </p:txBody>
        </p:sp>
        <p:graphicFrame>
          <p:nvGraphicFramePr>
            <p:cNvPr id="55" name="Object 3">
              <a:extLst>
                <a:ext uri="{FF2B5EF4-FFF2-40B4-BE49-F238E27FC236}">
                  <a16:creationId xmlns:a16="http://schemas.microsoft.com/office/drawing/2014/main" id="{61179393-206F-45D8-A8DC-68385C23670E}"/>
                </a:ext>
              </a:extLst>
            </p:cNvPr>
            <p:cNvGraphicFramePr>
              <a:graphicFrameLocks/>
            </p:cNvGraphicFramePr>
            <p:nvPr/>
          </p:nvGraphicFramePr>
          <p:xfrm>
            <a:off x="4918101" y="3067207"/>
            <a:ext cx="555625" cy="474662"/>
          </p:xfrm>
          <a:graphic>
            <a:graphicData uri="http://schemas.openxmlformats.org/presentationml/2006/ole">
              <mc:AlternateContent xmlns:mc="http://schemas.openxmlformats.org/markup-compatibility/2006">
                <mc:Choice xmlns:v="urn:schemas-microsoft-com:vml" Requires="v">
                  <p:oleObj name="Equation" r:id="rId6" imgW="304560" imgH="228600" progId="Equation.DSMT4">
                    <p:embed/>
                  </p:oleObj>
                </mc:Choice>
                <mc:Fallback>
                  <p:oleObj name="Equation" r:id="rId6" imgW="304560" imgH="228600" progId="Equation.DSMT4">
                    <p:embed/>
                    <p:pic>
                      <p:nvPicPr>
                        <p:cNvPr id="7582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8101" y="3067207"/>
                          <a:ext cx="555625" cy="4746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6" name="Object 4">
            <a:extLst>
              <a:ext uri="{FF2B5EF4-FFF2-40B4-BE49-F238E27FC236}">
                <a16:creationId xmlns:a16="http://schemas.microsoft.com/office/drawing/2014/main" id="{91D8673D-3883-4350-8500-48DBCDE4C360}"/>
              </a:ext>
            </a:extLst>
          </p:cNvPr>
          <p:cNvGraphicFramePr>
            <a:graphicFrameLocks noChangeAspect="1"/>
          </p:cNvGraphicFramePr>
          <p:nvPr/>
        </p:nvGraphicFramePr>
        <p:xfrm>
          <a:off x="10323052" y="1562986"/>
          <a:ext cx="385762" cy="460375"/>
        </p:xfrm>
        <a:graphic>
          <a:graphicData uri="http://schemas.openxmlformats.org/presentationml/2006/ole">
            <mc:AlternateContent xmlns:mc="http://schemas.openxmlformats.org/markup-compatibility/2006">
              <mc:Choice xmlns:v="urn:schemas-microsoft-com:vml" Requires="v">
                <p:oleObj name="Equation" r:id="rId8" imgW="114120" imgH="164880" progId="Equation.DSMT4">
                  <p:embed/>
                </p:oleObj>
              </mc:Choice>
              <mc:Fallback>
                <p:oleObj name="Equation" r:id="rId8" imgW="114120" imgH="164880" progId="Equation.DSMT4">
                  <p:embed/>
                  <p:pic>
                    <p:nvPicPr>
                      <p:cNvPr id="39"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23052" y="1562986"/>
                        <a:ext cx="385762" cy="460375"/>
                      </a:xfrm>
                      <a:prstGeom prst="rect">
                        <a:avLst/>
                      </a:prstGeom>
                      <a:solidFill>
                        <a:srgbClr val="FFFF00"/>
                      </a:solidFill>
                    </p:spPr>
                  </p:pic>
                </p:oleObj>
              </mc:Fallback>
            </mc:AlternateContent>
          </a:graphicData>
        </a:graphic>
      </p:graphicFrame>
      <p:graphicFrame>
        <p:nvGraphicFramePr>
          <p:cNvPr id="57" name="Object 5">
            <a:extLst>
              <a:ext uri="{FF2B5EF4-FFF2-40B4-BE49-F238E27FC236}">
                <a16:creationId xmlns:a16="http://schemas.microsoft.com/office/drawing/2014/main" id="{664D73F8-CE37-4861-9921-4ADE6C53DB5A}"/>
              </a:ext>
            </a:extLst>
          </p:cNvPr>
          <p:cNvGraphicFramePr>
            <a:graphicFrameLocks noChangeAspect="1"/>
          </p:cNvGraphicFramePr>
          <p:nvPr/>
        </p:nvGraphicFramePr>
        <p:xfrm>
          <a:off x="8394239" y="1491549"/>
          <a:ext cx="385763" cy="460375"/>
        </p:xfrm>
        <a:graphic>
          <a:graphicData uri="http://schemas.openxmlformats.org/presentationml/2006/ole">
            <mc:AlternateContent xmlns:mc="http://schemas.openxmlformats.org/markup-compatibility/2006">
              <mc:Choice xmlns:v="urn:schemas-microsoft-com:vml" Requires="v">
                <p:oleObj name="Equation" r:id="rId8" imgW="114120" imgH="164880" progId="Equation.DSMT4">
                  <p:embed/>
                </p:oleObj>
              </mc:Choice>
              <mc:Fallback>
                <p:oleObj name="Equation" r:id="rId8" imgW="114120" imgH="164880" progId="Equation.DSMT4">
                  <p:embed/>
                  <p:pic>
                    <p:nvPicPr>
                      <p:cNvPr id="4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4239" y="1491549"/>
                        <a:ext cx="385763" cy="460375"/>
                      </a:xfrm>
                      <a:prstGeom prst="rect">
                        <a:avLst/>
                      </a:prstGeom>
                      <a:solidFill>
                        <a:srgbClr val="FFFF00"/>
                      </a:solidFill>
                    </p:spPr>
                  </p:pic>
                </p:oleObj>
              </mc:Fallback>
            </mc:AlternateContent>
          </a:graphicData>
        </a:graphic>
      </p:graphicFrame>
      <p:sp>
        <p:nvSpPr>
          <p:cNvPr id="58" name="Rectangle 3">
            <a:extLst>
              <a:ext uri="{FF2B5EF4-FFF2-40B4-BE49-F238E27FC236}">
                <a16:creationId xmlns:a16="http://schemas.microsoft.com/office/drawing/2014/main" id="{44C8CDA6-5FAA-4EB3-B0EC-5F30EE004157}"/>
              </a:ext>
            </a:extLst>
          </p:cNvPr>
          <p:cNvSpPr>
            <a:spLocks noChangeArrowheads="1"/>
          </p:cNvSpPr>
          <p:nvPr/>
        </p:nvSpPr>
        <p:spPr bwMode="auto">
          <a:xfrm>
            <a:off x="4650417" y="906291"/>
            <a:ext cx="4286250" cy="584775"/>
          </a:xfrm>
          <a:prstGeom prst="rect">
            <a:avLst/>
          </a:prstGeom>
          <a:noFill/>
          <a:ln w="9525">
            <a:noFill/>
            <a:miter lim="800000"/>
            <a:headEnd/>
            <a:tailEnd/>
          </a:ln>
        </p:spPr>
        <p:txBody>
          <a:bodyPr anchor="ctr">
            <a:spAutoFit/>
          </a:bodyPr>
          <a:lstStyle/>
          <a:p>
            <a:pPr algn="ctr" defTabSz="914400"/>
            <a:r>
              <a:rPr lang="en-US" altLang="zh-CN" sz="3200" b="1" dirty="0">
                <a:solidFill>
                  <a:srgbClr val="0000CC"/>
                </a:solidFill>
                <a:latin typeface="微软雅黑" panose="020B0503020204020204" pitchFamily="34" charset="-122"/>
                <a:ea typeface="微软雅黑" panose="020B0503020204020204" pitchFamily="34" charset="-122"/>
                <a:cs typeface="Times New Roman" pitchFamily="18" charset="0"/>
              </a:rPr>
              <a:t>3.</a:t>
            </a:r>
            <a:r>
              <a:rPr lang="zh-CN" altLang="en-US" sz="3200" b="1" dirty="0">
                <a:solidFill>
                  <a:srgbClr val="0000CC"/>
                </a:solidFill>
                <a:latin typeface="微软雅黑" panose="020B0503020204020204" pitchFamily="34" charset="-122"/>
                <a:ea typeface="微软雅黑" panose="020B0503020204020204" pitchFamily="34" charset="-122"/>
                <a:cs typeface="Times New Roman" pitchFamily="18" charset="0"/>
              </a:rPr>
              <a:t>亮度守恒定律</a:t>
            </a:r>
          </a:p>
        </p:txBody>
      </p:sp>
      <p:graphicFrame>
        <p:nvGraphicFramePr>
          <p:cNvPr id="59" name="Object 6">
            <a:extLst>
              <a:ext uri="{FF2B5EF4-FFF2-40B4-BE49-F238E27FC236}">
                <a16:creationId xmlns:a16="http://schemas.microsoft.com/office/drawing/2014/main" id="{AE25CEAF-FBB1-4DE0-9237-D24D91E96FB9}"/>
              </a:ext>
            </a:extLst>
          </p:cNvPr>
          <p:cNvGraphicFramePr>
            <a:graphicFrameLocks noChangeAspect="1"/>
          </p:cNvGraphicFramePr>
          <p:nvPr/>
        </p:nvGraphicFramePr>
        <p:xfrm>
          <a:off x="958102" y="1724915"/>
          <a:ext cx="1520825" cy="571500"/>
        </p:xfrm>
        <a:graphic>
          <a:graphicData uri="http://schemas.openxmlformats.org/presentationml/2006/ole">
            <mc:AlternateContent xmlns:mc="http://schemas.openxmlformats.org/markup-compatibility/2006">
              <mc:Choice xmlns:v="urn:schemas-microsoft-com:vml" Requires="v">
                <p:oleObj name="Equation" r:id="rId10" imgW="1079280" imgH="393480" progId="Equation.DSMT4">
                  <p:embed/>
                </p:oleObj>
              </mc:Choice>
              <mc:Fallback>
                <p:oleObj name="Equation" r:id="rId10" imgW="1079280" imgH="393480" progId="Equation.DSMT4">
                  <p:embed/>
                  <p:pic>
                    <p:nvPicPr>
                      <p:cNvPr id="4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8102" y="1724915"/>
                        <a:ext cx="1520825" cy="571500"/>
                      </a:xfrm>
                      <a:prstGeom prst="rect">
                        <a:avLst/>
                      </a:prstGeom>
                      <a:solidFill>
                        <a:srgbClr val="FFCC99"/>
                      </a:solidFill>
                    </p:spPr>
                  </p:pic>
                </p:oleObj>
              </mc:Fallback>
            </mc:AlternateContent>
          </a:graphicData>
        </a:graphic>
      </p:graphicFrame>
      <p:graphicFrame>
        <p:nvGraphicFramePr>
          <p:cNvPr id="60" name="Object 7">
            <a:extLst>
              <a:ext uri="{FF2B5EF4-FFF2-40B4-BE49-F238E27FC236}">
                <a16:creationId xmlns:a16="http://schemas.microsoft.com/office/drawing/2014/main" id="{A3066194-0C85-4BF1-B7A7-FF668F1328B9}"/>
              </a:ext>
            </a:extLst>
          </p:cNvPr>
          <p:cNvGraphicFramePr>
            <a:graphicFrameLocks noChangeAspect="1"/>
          </p:cNvGraphicFramePr>
          <p:nvPr/>
        </p:nvGraphicFramePr>
        <p:xfrm>
          <a:off x="3007851" y="1689196"/>
          <a:ext cx="1671638" cy="642937"/>
        </p:xfrm>
        <a:graphic>
          <a:graphicData uri="http://schemas.openxmlformats.org/presentationml/2006/ole">
            <mc:AlternateContent xmlns:mc="http://schemas.openxmlformats.org/markup-compatibility/2006">
              <mc:Choice xmlns:v="urn:schemas-microsoft-com:vml" Requires="v">
                <p:oleObj name="Equation" r:id="rId12" imgW="1054080" imgH="393480" progId="Equation.DSMT4">
                  <p:embed/>
                </p:oleObj>
              </mc:Choice>
              <mc:Fallback>
                <p:oleObj name="Equation" r:id="rId12" imgW="1054080" imgH="393480" progId="Equation.DSMT4">
                  <p:embed/>
                  <p:pic>
                    <p:nvPicPr>
                      <p:cNvPr id="43"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07851" y="1689196"/>
                        <a:ext cx="1671638" cy="642937"/>
                      </a:xfrm>
                      <a:prstGeom prst="rect">
                        <a:avLst/>
                      </a:prstGeom>
                      <a:solidFill>
                        <a:srgbClr val="FFCC99"/>
                      </a:solidFill>
                    </p:spPr>
                  </p:pic>
                </p:oleObj>
              </mc:Fallback>
            </mc:AlternateContent>
          </a:graphicData>
        </a:graphic>
      </p:graphicFrame>
      <p:graphicFrame>
        <p:nvGraphicFramePr>
          <p:cNvPr id="61" name="Object 10">
            <a:extLst>
              <a:ext uri="{FF2B5EF4-FFF2-40B4-BE49-F238E27FC236}">
                <a16:creationId xmlns:a16="http://schemas.microsoft.com/office/drawing/2014/main" id="{459EBDB7-4539-4949-B359-4821416F31BE}"/>
              </a:ext>
            </a:extLst>
          </p:cNvPr>
          <p:cNvGraphicFramePr>
            <a:graphicFrameLocks noChangeAspect="1"/>
          </p:cNvGraphicFramePr>
          <p:nvPr>
            <p:extLst>
              <p:ext uri="{D42A27DB-BD31-4B8C-83A1-F6EECF244321}">
                <p14:modId xmlns:p14="http://schemas.microsoft.com/office/powerpoint/2010/main" val="548997535"/>
              </p:ext>
            </p:extLst>
          </p:nvPr>
        </p:nvGraphicFramePr>
        <p:xfrm>
          <a:off x="10965989" y="6203482"/>
          <a:ext cx="1243013" cy="622300"/>
        </p:xfrm>
        <a:graphic>
          <a:graphicData uri="http://schemas.openxmlformats.org/presentationml/2006/ole">
            <mc:AlternateContent xmlns:mc="http://schemas.openxmlformats.org/markup-compatibility/2006">
              <mc:Choice xmlns:v="urn:schemas-microsoft-com:vml" Requires="v">
                <p:oleObj name="Equation" r:id="rId14" imgW="458793" imgH="229397" progId="Equation.DSMT4">
                  <p:embed/>
                </p:oleObj>
              </mc:Choice>
              <mc:Fallback>
                <p:oleObj name="Equation" r:id="rId14" imgW="458793" imgH="229397" progId="Equation.DSMT4">
                  <p:embed/>
                  <p:pic>
                    <p:nvPicPr>
                      <p:cNvPr id="46"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965989" y="6203482"/>
                        <a:ext cx="1243013" cy="622300"/>
                      </a:xfrm>
                      <a:prstGeom prst="rect">
                        <a:avLst/>
                      </a:prstGeom>
                      <a:solidFill>
                        <a:srgbClr val="FFFF00"/>
                      </a:solidFill>
                    </p:spPr>
                  </p:pic>
                </p:oleObj>
              </mc:Fallback>
            </mc:AlternateContent>
          </a:graphicData>
        </a:graphic>
      </p:graphicFrame>
      <p:sp>
        <p:nvSpPr>
          <p:cNvPr id="62" name="AutoShape 12">
            <a:extLst>
              <a:ext uri="{FF2B5EF4-FFF2-40B4-BE49-F238E27FC236}">
                <a16:creationId xmlns:a16="http://schemas.microsoft.com/office/drawing/2014/main" id="{B5C346F3-DD20-4D8C-A4B7-62F737026ABF}"/>
              </a:ext>
            </a:extLst>
          </p:cNvPr>
          <p:cNvSpPr>
            <a:spLocks noChangeArrowheads="1"/>
          </p:cNvSpPr>
          <p:nvPr/>
        </p:nvSpPr>
        <p:spPr bwMode="auto">
          <a:xfrm>
            <a:off x="9787269" y="6052967"/>
            <a:ext cx="799640" cy="867749"/>
          </a:xfrm>
          <a:prstGeom prst="rightArrow">
            <a:avLst>
              <a:gd name="adj1" fmla="val 50000"/>
              <a:gd name="adj2" fmla="val 44422"/>
            </a:avLst>
          </a:prstGeom>
          <a:solidFill>
            <a:srgbClr val="FF0000"/>
          </a:solidFill>
          <a:ln w="9525">
            <a:solidFill>
              <a:schemeClr val="tx1"/>
            </a:solidFill>
            <a:miter lim="800000"/>
            <a:headEnd/>
            <a:tailEnd/>
          </a:ln>
        </p:spPr>
        <p:txBody>
          <a:bodyPr wrap="none" anchor="ctr"/>
          <a:lstStyle/>
          <a:p>
            <a:pPr defTabSz="914400"/>
            <a:endParaRPr lang="zh-CN" altLang="en-US" sz="1800"/>
          </a:p>
        </p:txBody>
      </p:sp>
      <p:graphicFrame>
        <p:nvGraphicFramePr>
          <p:cNvPr id="63" name="对象 62">
            <a:extLst>
              <a:ext uri="{FF2B5EF4-FFF2-40B4-BE49-F238E27FC236}">
                <a16:creationId xmlns:a16="http://schemas.microsoft.com/office/drawing/2014/main" id="{550FA90D-14B5-405A-8FEE-24BC8BC7DD45}"/>
              </a:ext>
            </a:extLst>
          </p:cNvPr>
          <p:cNvGraphicFramePr>
            <a:graphicFrameLocks noChangeAspect="1"/>
          </p:cNvGraphicFramePr>
          <p:nvPr/>
        </p:nvGraphicFramePr>
        <p:xfrm>
          <a:off x="792542" y="3192402"/>
          <a:ext cx="2083777" cy="742732"/>
        </p:xfrm>
        <a:graphic>
          <a:graphicData uri="http://schemas.openxmlformats.org/presentationml/2006/ole">
            <mc:AlternateContent xmlns:mc="http://schemas.openxmlformats.org/markup-compatibility/2006">
              <mc:Choice xmlns:v="urn:schemas-microsoft-com:vml" Requires="v">
                <p:oleObj name="公式" r:id="rId16" imgW="1282680" imgH="457200" progId="Equation.3">
                  <p:embed/>
                </p:oleObj>
              </mc:Choice>
              <mc:Fallback>
                <p:oleObj name="公式" r:id="rId16" imgW="1282680" imgH="457200" progId="Equation.3">
                  <p:embed/>
                  <p:pic>
                    <p:nvPicPr>
                      <p:cNvPr id="18" name="对象 17"/>
                      <p:cNvPicPr/>
                      <p:nvPr/>
                    </p:nvPicPr>
                    <p:blipFill>
                      <a:blip r:embed="rId17"/>
                      <a:stretch>
                        <a:fillRect/>
                      </a:stretch>
                    </p:blipFill>
                    <p:spPr>
                      <a:xfrm>
                        <a:off x="792542" y="3192402"/>
                        <a:ext cx="2083777" cy="742732"/>
                      </a:xfrm>
                      <a:prstGeom prst="rect">
                        <a:avLst/>
                      </a:prstGeom>
                      <a:solidFill>
                        <a:schemeClr val="accent4">
                          <a:lumMod val="40000"/>
                          <a:lumOff val="60000"/>
                        </a:schemeClr>
                      </a:solidFill>
                    </p:spPr>
                  </p:pic>
                </p:oleObj>
              </mc:Fallback>
            </mc:AlternateContent>
          </a:graphicData>
        </a:graphic>
      </p:graphicFrame>
      <p:sp>
        <p:nvSpPr>
          <p:cNvPr id="68" name="TextBox 18">
            <a:extLst>
              <a:ext uri="{FF2B5EF4-FFF2-40B4-BE49-F238E27FC236}">
                <a16:creationId xmlns:a16="http://schemas.microsoft.com/office/drawing/2014/main" id="{A286DB3F-FF8A-4193-9760-A0C9C7F18B94}"/>
              </a:ext>
            </a:extLst>
          </p:cNvPr>
          <p:cNvSpPr txBox="1"/>
          <p:nvPr/>
        </p:nvSpPr>
        <p:spPr>
          <a:xfrm>
            <a:off x="716756" y="2544607"/>
            <a:ext cx="3279050" cy="461665"/>
          </a:xfrm>
          <a:prstGeom prst="rect">
            <a:avLst/>
          </a:prstGeom>
          <a:noFill/>
        </p:spPr>
        <p:txBody>
          <a:bodyPr wrap="square" rtlCol="0">
            <a:spAutoFit/>
          </a:bodyPr>
          <a:lstStyle/>
          <a:p>
            <a:r>
              <a:rPr lang="zh-CN" altLang="en-US" sz="2400" b="1" dirty="0">
                <a:latin typeface="Times New Roman" pitchFamily="18" charset="0"/>
                <a:ea typeface="微软雅黑" pitchFamily="34" charset="-122"/>
                <a:cs typeface="Times New Roman" pitchFamily="18" charset="0"/>
              </a:rPr>
              <a:t>设面元</a:t>
            </a:r>
            <a:r>
              <a:rPr lang="en-US" altLang="zh-CN" sz="2400" b="1" dirty="0">
                <a:latin typeface="Times New Roman" pitchFamily="18" charset="0"/>
                <a:ea typeface="微软雅黑" pitchFamily="34" charset="-122"/>
                <a:cs typeface="Times New Roman" pitchFamily="18" charset="0"/>
              </a:rPr>
              <a:t>1</a:t>
            </a:r>
            <a:r>
              <a:rPr lang="zh-CN" altLang="en-US" sz="2400" b="1" dirty="0">
                <a:latin typeface="Times New Roman" pitchFamily="18" charset="0"/>
                <a:ea typeface="微软雅黑" pitchFamily="34" charset="-122"/>
                <a:cs typeface="Times New Roman" pitchFamily="18" charset="0"/>
              </a:rPr>
              <a:t>的辐亮度为</a:t>
            </a:r>
            <a:r>
              <a:rPr lang="en-US" altLang="zh-CN" sz="2400" b="1" dirty="0">
                <a:latin typeface="Times New Roman" pitchFamily="18" charset="0"/>
                <a:ea typeface="微软雅黑" pitchFamily="34" charset="-122"/>
                <a:cs typeface="Times New Roman" pitchFamily="18" charset="0"/>
              </a:rPr>
              <a:t>L</a:t>
            </a:r>
            <a:r>
              <a:rPr lang="en-US" altLang="zh-CN" sz="1400" b="1" dirty="0">
                <a:latin typeface="Times New Roman" pitchFamily="18" charset="0"/>
                <a:ea typeface="微软雅黑" pitchFamily="34" charset="-122"/>
                <a:cs typeface="Times New Roman" pitchFamily="18" charset="0"/>
              </a:rPr>
              <a:t>1</a:t>
            </a:r>
            <a:endParaRPr lang="zh-CN" altLang="en-US" sz="1400" b="1" dirty="0">
              <a:latin typeface="Times New Roman" pitchFamily="18" charset="0"/>
              <a:ea typeface="微软雅黑" pitchFamily="34" charset="-122"/>
              <a:cs typeface="Times New Roman" pitchFamily="18" charset="0"/>
            </a:endParaRPr>
          </a:p>
        </p:txBody>
      </p:sp>
      <p:graphicFrame>
        <p:nvGraphicFramePr>
          <p:cNvPr id="69" name="对象 68">
            <a:extLst>
              <a:ext uri="{FF2B5EF4-FFF2-40B4-BE49-F238E27FC236}">
                <a16:creationId xmlns:a16="http://schemas.microsoft.com/office/drawing/2014/main" id="{97E0B4B4-68E5-4A2D-B947-483B7B60148B}"/>
              </a:ext>
            </a:extLst>
          </p:cNvPr>
          <p:cNvGraphicFramePr>
            <a:graphicFrameLocks noChangeAspect="1"/>
          </p:cNvGraphicFramePr>
          <p:nvPr/>
        </p:nvGraphicFramePr>
        <p:xfrm>
          <a:off x="1158645" y="4451221"/>
          <a:ext cx="2513691" cy="379855"/>
        </p:xfrm>
        <a:graphic>
          <a:graphicData uri="http://schemas.openxmlformats.org/presentationml/2006/ole">
            <mc:AlternateContent xmlns:mc="http://schemas.openxmlformats.org/markup-compatibility/2006">
              <mc:Choice xmlns:v="urn:schemas-microsoft-com:vml" Requires="v">
                <p:oleObj name="公式" r:id="rId18" imgW="1600200" imgH="241200" progId="Equation.3">
                  <p:embed/>
                </p:oleObj>
              </mc:Choice>
              <mc:Fallback>
                <p:oleObj name="公式" r:id="rId18" imgW="1600200" imgH="241200" progId="Equation.3">
                  <p:embed/>
                  <p:pic>
                    <p:nvPicPr>
                      <p:cNvPr id="20" name="对象 19"/>
                      <p:cNvPicPr>
                        <a:picLocks noChangeAspect="1" noChangeArrowheads="1"/>
                      </p:cNvPicPr>
                      <p:nvPr/>
                    </p:nvPicPr>
                    <p:blipFill>
                      <a:blip r:embed="rId19"/>
                      <a:srcRect/>
                      <a:stretch>
                        <a:fillRect/>
                      </a:stretch>
                    </p:blipFill>
                    <p:spPr bwMode="auto">
                      <a:xfrm>
                        <a:off x="1158645" y="4451221"/>
                        <a:ext cx="2513691" cy="379855"/>
                      </a:xfrm>
                      <a:prstGeom prst="rect">
                        <a:avLst/>
                      </a:prstGeom>
                      <a:solidFill>
                        <a:srgbClr val="FFE699"/>
                      </a:solidFill>
                      <a:ln>
                        <a:noFill/>
                      </a:ln>
                    </p:spPr>
                  </p:pic>
                </p:oleObj>
              </mc:Fallback>
            </mc:AlternateContent>
          </a:graphicData>
        </a:graphic>
      </p:graphicFrame>
      <p:graphicFrame>
        <p:nvGraphicFramePr>
          <p:cNvPr id="70" name="对象 69">
            <a:extLst>
              <a:ext uri="{FF2B5EF4-FFF2-40B4-BE49-F238E27FC236}">
                <a16:creationId xmlns:a16="http://schemas.microsoft.com/office/drawing/2014/main" id="{EE308C61-E5E8-4273-833D-F6B4F97BCC8A}"/>
              </a:ext>
            </a:extLst>
          </p:cNvPr>
          <p:cNvGraphicFramePr>
            <a:graphicFrameLocks noChangeAspect="1"/>
          </p:cNvGraphicFramePr>
          <p:nvPr/>
        </p:nvGraphicFramePr>
        <p:xfrm>
          <a:off x="608660" y="5125360"/>
          <a:ext cx="3464004" cy="670098"/>
        </p:xfrm>
        <a:graphic>
          <a:graphicData uri="http://schemas.openxmlformats.org/presentationml/2006/ole">
            <mc:AlternateContent xmlns:mc="http://schemas.openxmlformats.org/markup-compatibility/2006">
              <mc:Choice xmlns:v="urn:schemas-microsoft-com:vml" Requires="v">
                <p:oleObj name="公式" r:id="rId20" imgW="2108160" imgH="406080" progId="Equation.3">
                  <p:embed/>
                </p:oleObj>
              </mc:Choice>
              <mc:Fallback>
                <p:oleObj name="公式" r:id="rId20" imgW="2108160" imgH="406080" progId="Equation.3">
                  <p:embed/>
                  <p:pic>
                    <p:nvPicPr>
                      <p:cNvPr id="21" name="对象 20"/>
                      <p:cNvPicPr>
                        <a:picLocks noChangeAspect="1" noChangeArrowheads="1"/>
                      </p:cNvPicPr>
                      <p:nvPr/>
                    </p:nvPicPr>
                    <p:blipFill>
                      <a:blip r:embed="rId21"/>
                      <a:srcRect/>
                      <a:stretch>
                        <a:fillRect/>
                      </a:stretch>
                    </p:blipFill>
                    <p:spPr bwMode="auto">
                      <a:xfrm>
                        <a:off x="608660" y="5125360"/>
                        <a:ext cx="3464004" cy="670098"/>
                      </a:xfrm>
                      <a:prstGeom prst="rect">
                        <a:avLst/>
                      </a:prstGeom>
                      <a:solidFill>
                        <a:srgbClr val="FFE699"/>
                      </a:solidFill>
                      <a:ln>
                        <a:noFill/>
                      </a:ln>
                    </p:spPr>
                  </p:pic>
                </p:oleObj>
              </mc:Fallback>
            </mc:AlternateContent>
          </a:graphicData>
        </a:graphic>
      </p:graphicFrame>
      <p:sp>
        <p:nvSpPr>
          <p:cNvPr id="71" name="右箭头 21">
            <a:extLst>
              <a:ext uri="{FF2B5EF4-FFF2-40B4-BE49-F238E27FC236}">
                <a16:creationId xmlns:a16="http://schemas.microsoft.com/office/drawing/2014/main" id="{20972305-D458-43FB-99F9-3CE70601107B}"/>
              </a:ext>
            </a:extLst>
          </p:cNvPr>
          <p:cNvSpPr/>
          <p:nvPr/>
        </p:nvSpPr>
        <p:spPr>
          <a:xfrm>
            <a:off x="558116" y="4486027"/>
            <a:ext cx="571500" cy="385342"/>
          </a:xfrm>
          <a:prstGeom prst="rightArrow">
            <a:avLst/>
          </a:prstGeom>
          <a:solidFill>
            <a:srgbClr val="00B0F0"/>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右箭头 57">
            <a:extLst>
              <a:ext uri="{FF2B5EF4-FFF2-40B4-BE49-F238E27FC236}">
                <a16:creationId xmlns:a16="http://schemas.microsoft.com/office/drawing/2014/main" id="{E9AB384B-4849-4D2D-A803-219EBDABA5DC}"/>
              </a:ext>
            </a:extLst>
          </p:cNvPr>
          <p:cNvSpPr/>
          <p:nvPr/>
        </p:nvSpPr>
        <p:spPr>
          <a:xfrm>
            <a:off x="3701367" y="4451221"/>
            <a:ext cx="571500" cy="385342"/>
          </a:xfrm>
          <a:prstGeom prst="rightArrow">
            <a:avLst/>
          </a:prstGeom>
          <a:solidFill>
            <a:srgbClr val="00B0F0"/>
          </a:solidFill>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TextBox 58">
            <a:extLst>
              <a:ext uri="{FF2B5EF4-FFF2-40B4-BE49-F238E27FC236}">
                <a16:creationId xmlns:a16="http://schemas.microsoft.com/office/drawing/2014/main" id="{9C3ECEFB-421C-4E82-A2A1-62872F1ADED6}"/>
              </a:ext>
            </a:extLst>
          </p:cNvPr>
          <p:cNvSpPr txBox="1"/>
          <p:nvPr/>
        </p:nvSpPr>
        <p:spPr>
          <a:xfrm>
            <a:off x="1000124" y="6052967"/>
            <a:ext cx="4036242" cy="461665"/>
          </a:xfrm>
          <a:prstGeom prst="rect">
            <a:avLst/>
          </a:prstGeom>
          <a:noFill/>
        </p:spPr>
        <p:txBody>
          <a:bodyPr wrap="square" rtlCol="0">
            <a:spAutoFit/>
          </a:bodyPr>
          <a:lstStyle/>
          <a:p>
            <a:r>
              <a:rPr lang="zh-CN" altLang="en-US" sz="2400" b="1" dirty="0">
                <a:latin typeface="Times New Roman" pitchFamily="18" charset="0"/>
                <a:ea typeface="微软雅黑" pitchFamily="34" charset="-122"/>
                <a:cs typeface="Times New Roman" pitchFamily="18" charset="0"/>
              </a:rPr>
              <a:t>面元</a:t>
            </a:r>
            <a:r>
              <a:rPr lang="en-US" altLang="zh-CN" sz="2400" b="1"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的辐亮度</a:t>
            </a:r>
            <a:r>
              <a:rPr lang="en-US" altLang="zh-CN" sz="2400" b="1" dirty="0">
                <a:latin typeface="Times New Roman" pitchFamily="18" charset="0"/>
                <a:ea typeface="微软雅黑" pitchFamily="34" charset="-122"/>
                <a:cs typeface="Times New Roman" pitchFamily="18" charset="0"/>
              </a:rPr>
              <a:t>L</a:t>
            </a:r>
            <a:r>
              <a:rPr lang="en-US" altLang="zh-CN" sz="1400" b="1" dirty="0">
                <a:latin typeface="Times New Roman" pitchFamily="18" charset="0"/>
                <a:ea typeface="微软雅黑" pitchFamily="34" charset="-122"/>
                <a:cs typeface="Times New Roman" pitchFamily="18" charset="0"/>
              </a:rPr>
              <a:t>2</a:t>
            </a:r>
            <a:r>
              <a:rPr lang="zh-CN" altLang="en-US" sz="2400" b="1" dirty="0">
                <a:latin typeface="Times New Roman" pitchFamily="18" charset="0"/>
                <a:ea typeface="微软雅黑" pitchFamily="34" charset="-122"/>
                <a:cs typeface="Times New Roman" pitchFamily="18" charset="0"/>
              </a:rPr>
              <a:t>可以表示为</a:t>
            </a:r>
            <a:endParaRPr lang="zh-CN" altLang="en-US" sz="1400" b="1" dirty="0">
              <a:latin typeface="Times New Roman" pitchFamily="18" charset="0"/>
              <a:ea typeface="微软雅黑" pitchFamily="34" charset="-122"/>
              <a:cs typeface="Times New Roman" pitchFamily="18" charset="0"/>
            </a:endParaRPr>
          </a:p>
        </p:txBody>
      </p:sp>
      <p:graphicFrame>
        <p:nvGraphicFramePr>
          <p:cNvPr id="74" name="对象 73">
            <a:extLst>
              <a:ext uri="{FF2B5EF4-FFF2-40B4-BE49-F238E27FC236}">
                <a16:creationId xmlns:a16="http://schemas.microsoft.com/office/drawing/2014/main" id="{099D7AB4-8E39-4605-8EAE-966F02653A63}"/>
              </a:ext>
            </a:extLst>
          </p:cNvPr>
          <p:cNvGraphicFramePr>
            <a:graphicFrameLocks noChangeAspect="1"/>
          </p:cNvGraphicFramePr>
          <p:nvPr>
            <p:extLst>
              <p:ext uri="{D42A27DB-BD31-4B8C-83A1-F6EECF244321}">
                <p14:modId xmlns:p14="http://schemas.microsoft.com/office/powerpoint/2010/main" val="358860397"/>
              </p:ext>
            </p:extLst>
          </p:nvPr>
        </p:nvGraphicFramePr>
        <p:xfrm>
          <a:off x="5135101" y="5921271"/>
          <a:ext cx="3946525" cy="650875"/>
        </p:xfrm>
        <a:graphic>
          <a:graphicData uri="http://schemas.openxmlformats.org/presentationml/2006/ole">
            <mc:AlternateContent xmlns:mc="http://schemas.openxmlformats.org/markup-compatibility/2006">
              <mc:Choice xmlns:v="urn:schemas-microsoft-com:vml" Requires="v">
                <p:oleObj name="Equation" r:id="rId22" imgW="2768400" imgH="457200" progId="Equation.DSMT4">
                  <p:embed/>
                </p:oleObj>
              </mc:Choice>
              <mc:Fallback>
                <p:oleObj name="Equation" r:id="rId22" imgW="2768400" imgH="457200" progId="Equation.DSMT4">
                  <p:embed/>
                  <p:pic>
                    <p:nvPicPr>
                      <p:cNvPr id="23" name="对象 22"/>
                      <p:cNvPicPr>
                        <a:picLocks noChangeAspect="1" noChangeArrowheads="1"/>
                      </p:cNvPicPr>
                      <p:nvPr/>
                    </p:nvPicPr>
                    <p:blipFill>
                      <a:blip r:embed="rId23"/>
                      <a:srcRect/>
                      <a:stretch>
                        <a:fillRect/>
                      </a:stretch>
                    </p:blipFill>
                    <p:spPr bwMode="auto">
                      <a:xfrm>
                        <a:off x="5135101" y="5921271"/>
                        <a:ext cx="3946525" cy="650875"/>
                      </a:xfrm>
                      <a:prstGeom prst="rect">
                        <a:avLst/>
                      </a:prstGeom>
                      <a:solidFill>
                        <a:srgbClr val="FFE699"/>
                      </a:solidFill>
                      <a:ln>
                        <a:noFill/>
                      </a:ln>
                    </p:spPr>
                  </p:pic>
                </p:oleObj>
              </mc:Fallback>
            </mc:AlternateContent>
          </a:graphicData>
        </a:graphic>
      </p:graphicFrame>
      <p:sp>
        <p:nvSpPr>
          <p:cNvPr id="75" name="TextBox 58">
            <a:extLst>
              <a:ext uri="{FF2B5EF4-FFF2-40B4-BE49-F238E27FC236}">
                <a16:creationId xmlns:a16="http://schemas.microsoft.com/office/drawing/2014/main" id="{85CE2B9D-35F6-4C73-97A8-70982869A1D2}"/>
              </a:ext>
            </a:extLst>
          </p:cNvPr>
          <p:cNvSpPr txBox="1"/>
          <p:nvPr/>
        </p:nvSpPr>
        <p:spPr>
          <a:xfrm>
            <a:off x="1000124" y="6701233"/>
            <a:ext cx="4333875" cy="461665"/>
          </a:xfrm>
          <a:prstGeom prst="rect">
            <a:avLst/>
          </a:prstGeom>
          <a:noFill/>
        </p:spPr>
        <p:txBody>
          <a:bodyPr wrap="square" rtlCol="0">
            <a:spAutoFit/>
          </a:bodyPr>
          <a:lstStyle/>
          <a:p>
            <a:r>
              <a:rPr lang="zh-CN" altLang="en-US" sz="2400" b="1" dirty="0">
                <a:latin typeface="Times New Roman" pitchFamily="18" charset="0"/>
                <a:ea typeface="微软雅黑" pitchFamily="34" charset="-122"/>
                <a:cs typeface="Times New Roman" pitchFamily="18" charset="0"/>
              </a:rPr>
              <a:t>传输过程中没有能量损耗时有</a:t>
            </a:r>
            <a:endParaRPr lang="zh-CN" altLang="en-US" sz="1400" b="1" dirty="0">
              <a:latin typeface="Times New Roman" pitchFamily="18" charset="0"/>
              <a:ea typeface="微软雅黑" pitchFamily="34" charset="-122"/>
              <a:cs typeface="Times New Roman" pitchFamily="18" charset="0"/>
            </a:endParaRPr>
          </a:p>
        </p:txBody>
      </p:sp>
      <p:graphicFrame>
        <p:nvGraphicFramePr>
          <p:cNvPr id="76" name="对象 75">
            <a:extLst>
              <a:ext uri="{FF2B5EF4-FFF2-40B4-BE49-F238E27FC236}">
                <a16:creationId xmlns:a16="http://schemas.microsoft.com/office/drawing/2014/main" id="{4E9EF03D-C5B7-4D33-848E-93BB64B9600C}"/>
              </a:ext>
            </a:extLst>
          </p:cNvPr>
          <p:cNvGraphicFramePr>
            <a:graphicFrameLocks noChangeAspect="1"/>
          </p:cNvGraphicFramePr>
          <p:nvPr>
            <p:extLst>
              <p:ext uri="{D42A27DB-BD31-4B8C-83A1-F6EECF244321}">
                <p14:modId xmlns:p14="http://schemas.microsoft.com/office/powerpoint/2010/main" val="3410673937"/>
              </p:ext>
            </p:extLst>
          </p:nvPr>
        </p:nvGraphicFramePr>
        <p:xfrm>
          <a:off x="6108239" y="6664250"/>
          <a:ext cx="1640208" cy="427491"/>
        </p:xfrm>
        <a:graphic>
          <a:graphicData uri="http://schemas.openxmlformats.org/presentationml/2006/ole">
            <mc:AlternateContent xmlns:mc="http://schemas.openxmlformats.org/markup-compatibility/2006">
              <mc:Choice xmlns:v="urn:schemas-microsoft-com:vml" Requires="v">
                <p:oleObj name="Equation" r:id="rId24" imgW="927000" imgH="241200" progId="Equation.DSMT4">
                  <p:embed/>
                </p:oleObj>
              </mc:Choice>
              <mc:Fallback>
                <p:oleObj name="Equation" r:id="rId24" imgW="927000" imgH="241200" progId="Equation.DSMT4">
                  <p:embed/>
                  <p:pic>
                    <p:nvPicPr>
                      <p:cNvPr id="63" name="对象 62"/>
                      <p:cNvPicPr>
                        <a:picLocks noChangeAspect="1" noChangeArrowheads="1"/>
                      </p:cNvPicPr>
                      <p:nvPr/>
                    </p:nvPicPr>
                    <p:blipFill>
                      <a:blip r:embed="rId25"/>
                      <a:srcRect/>
                      <a:stretch>
                        <a:fillRect/>
                      </a:stretch>
                    </p:blipFill>
                    <p:spPr bwMode="auto">
                      <a:xfrm>
                        <a:off x="6108239" y="6664250"/>
                        <a:ext cx="1640208" cy="427491"/>
                      </a:xfrm>
                      <a:prstGeom prst="rect">
                        <a:avLst/>
                      </a:prstGeom>
                      <a:solidFill>
                        <a:srgbClr val="FFE699"/>
                      </a:solidFill>
                      <a:ln>
                        <a:noFill/>
                      </a:ln>
                    </p:spPr>
                  </p:pic>
                </p:oleObj>
              </mc:Fallback>
            </mc:AlternateContent>
          </a:graphicData>
        </a:graphic>
      </p:graphicFrame>
    </p:spTree>
    <p:extLst>
      <p:ext uri="{BB962C8B-B14F-4D97-AF65-F5344CB8AC3E}">
        <p14:creationId xmlns:p14="http://schemas.microsoft.com/office/powerpoint/2010/main" val="3558416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ox(i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ox(in)">
                                      <p:cBhvr>
                                        <p:cTn id="12" dur="500"/>
                                        <p:tgtEl>
                                          <p:spTgt spid="32"/>
                                        </p:tgtEl>
                                      </p:cBhvr>
                                    </p:animEffect>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ox(in)">
                                      <p:cBhvr>
                                        <p:cTn id="16" dur="500"/>
                                        <p:tgtEl>
                                          <p:spTgt spid="14"/>
                                        </p:tgtEl>
                                      </p:cBhvr>
                                    </p:animEffect>
                                  </p:childTnLst>
                                </p:cTn>
                              </p:par>
                            </p:childTnLst>
                          </p:cTn>
                        </p:par>
                        <p:par>
                          <p:cTn id="17" fill="hold">
                            <p:stCondLst>
                              <p:cond delay="1000"/>
                            </p:stCondLst>
                            <p:childTnLst>
                              <p:par>
                                <p:cTn id="18" presetID="4" presetClass="entr" presetSubtype="16"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ox(in)">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box(in)">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ox(in)">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ox(in)">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box(in)">
                                      <p:cBhvr>
                                        <p:cTn id="40" dur="500"/>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box(in)">
                                      <p:cBhvr>
                                        <p:cTn id="45" dur="500"/>
                                        <p:tgtEl>
                                          <p:spTgt spid="57"/>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box(in)">
                                      <p:cBhvr>
                                        <p:cTn id="50" dur="500"/>
                                        <p:tgtEl>
                                          <p:spTgt spid="44"/>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ox(in)">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nodeType="click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box(in)">
                                      <p:cBhvr>
                                        <p:cTn id="60" dur="500"/>
                                        <p:tgtEl>
                                          <p:spTgt spid="56"/>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box(in)">
                                      <p:cBhvr>
                                        <p:cTn id="65" dur="500"/>
                                        <p:tgtEl>
                                          <p:spTgt spid="47"/>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box(in)">
                                      <p:cBhvr>
                                        <p:cTn id="70" dur="500"/>
                                        <p:tgtEl>
                                          <p:spTgt spid="36"/>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nodeType="click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box(in)">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nodeType="click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box(in)">
                                      <p:cBhvr>
                                        <p:cTn id="80" dur="500"/>
                                        <p:tgtEl>
                                          <p:spTgt spid="59"/>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box(in)">
                                      <p:cBhvr>
                                        <p:cTn id="85" dur="500"/>
                                        <p:tgtEl>
                                          <p:spTgt spid="50"/>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box(in)">
                                      <p:cBhvr>
                                        <p:cTn id="90" dur="500"/>
                                        <p:tgtEl>
                                          <p:spTgt spid="53"/>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nodeType="clickEffect">
                                  <p:stCondLst>
                                    <p:cond delay="0"/>
                                  </p:stCondLst>
                                  <p:childTnLst>
                                    <p:set>
                                      <p:cBhvr>
                                        <p:cTn id="94" dur="1" fill="hold">
                                          <p:stCondLst>
                                            <p:cond delay="0"/>
                                          </p:stCondLst>
                                        </p:cTn>
                                        <p:tgtEl>
                                          <p:spTgt spid="60"/>
                                        </p:tgtEl>
                                        <p:attrNameLst>
                                          <p:attrName>style.visibility</p:attrName>
                                        </p:attrNameLst>
                                      </p:cBhvr>
                                      <p:to>
                                        <p:strVal val="visible"/>
                                      </p:to>
                                    </p:set>
                                    <p:animEffect transition="in" filter="box(in)">
                                      <p:cBhvr>
                                        <p:cTn id="95" dur="500"/>
                                        <p:tgtEl>
                                          <p:spTgt spid="60"/>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68"/>
                                        </p:tgtEl>
                                        <p:attrNameLst>
                                          <p:attrName>style.visibility</p:attrName>
                                        </p:attrNameLst>
                                      </p:cBhvr>
                                      <p:to>
                                        <p:strVal val="visible"/>
                                      </p:to>
                                    </p:set>
                                    <p:anim calcmode="lin" valueType="num">
                                      <p:cBhvr>
                                        <p:cTn id="100" dur="500" fill="hold"/>
                                        <p:tgtEl>
                                          <p:spTgt spid="68"/>
                                        </p:tgtEl>
                                        <p:attrNameLst>
                                          <p:attrName>ppt_w</p:attrName>
                                        </p:attrNameLst>
                                      </p:cBhvr>
                                      <p:tavLst>
                                        <p:tav tm="0">
                                          <p:val>
                                            <p:fltVal val="0"/>
                                          </p:val>
                                        </p:tav>
                                        <p:tav tm="100000">
                                          <p:val>
                                            <p:strVal val="#ppt_w"/>
                                          </p:val>
                                        </p:tav>
                                      </p:tavLst>
                                    </p:anim>
                                    <p:anim calcmode="lin" valueType="num">
                                      <p:cBhvr>
                                        <p:cTn id="101" dur="500" fill="hold"/>
                                        <p:tgtEl>
                                          <p:spTgt spid="68"/>
                                        </p:tgtEl>
                                        <p:attrNameLst>
                                          <p:attrName>ppt_h</p:attrName>
                                        </p:attrNameLst>
                                      </p:cBhvr>
                                      <p:tavLst>
                                        <p:tav tm="0">
                                          <p:val>
                                            <p:fltVal val="0"/>
                                          </p:val>
                                        </p:tav>
                                        <p:tav tm="100000">
                                          <p:val>
                                            <p:strVal val="#ppt_h"/>
                                          </p:val>
                                        </p:tav>
                                      </p:tavLst>
                                    </p:anim>
                                    <p:animEffect transition="in" filter="fade">
                                      <p:cBhvr>
                                        <p:cTn id="102" dur="500"/>
                                        <p:tgtEl>
                                          <p:spTgt spid="68"/>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anim calcmode="lin" valueType="num">
                                      <p:cBhvr>
                                        <p:cTn id="107" dur="500" fill="hold"/>
                                        <p:tgtEl>
                                          <p:spTgt spid="63"/>
                                        </p:tgtEl>
                                        <p:attrNameLst>
                                          <p:attrName>ppt_w</p:attrName>
                                        </p:attrNameLst>
                                      </p:cBhvr>
                                      <p:tavLst>
                                        <p:tav tm="0">
                                          <p:val>
                                            <p:fltVal val="0"/>
                                          </p:val>
                                        </p:tav>
                                        <p:tav tm="100000">
                                          <p:val>
                                            <p:strVal val="#ppt_w"/>
                                          </p:val>
                                        </p:tav>
                                      </p:tavLst>
                                    </p:anim>
                                    <p:anim calcmode="lin" valueType="num">
                                      <p:cBhvr>
                                        <p:cTn id="108" dur="500" fill="hold"/>
                                        <p:tgtEl>
                                          <p:spTgt spid="63"/>
                                        </p:tgtEl>
                                        <p:attrNameLst>
                                          <p:attrName>ppt_h</p:attrName>
                                        </p:attrNameLst>
                                      </p:cBhvr>
                                      <p:tavLst>
                                        <p:tav tm="0">
                                          <p:val>
                                            <p:fltVal val="0"/>
                                          </p:val>
                                        </p:tav>
                                        <p:tav tm="100000">
                                          <p:val>
                                            <p:strVal val="#ppt_h"/>
                                          </p:val>
                                        </p:tav>
                                      </p:tavLst>
                                    </p:anim>
                                    <p:animEffect transition="in" filter="fade">
                                      <p:cBhvr>
                                        <p:cTn id="109" dur="500"/>
                                        <p:tgtEl>
                                          <p:spTgt spid="63"/>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71"/>
                                        </p:tgtEl>
                                        <p:attrNameLst>
                                          <p:attrName>style.visibility</p:attrName>
                                        </p:attrNameLst>
                                      </p:cBhvr>
                                      <p:to>
                                        <p:strVal val="visible"/>
                                      </p:to>
                                    </p:set>
                                    <p:anim calcmode="lin" valueType="num">
                                      <p:cBhvr>
                                        <p:cTn id="114" dur="500" fill="hold"/>
                                        <p:tgtEl>
                                          <p:spTgt spid="71"/>
                                        </p:tgtEl>
                                        <p:attrNameLst>
                                          <p:attrName>ppt_w</p:attrName>
                                        </p:attrNameLst>
                                      </p:cBhvr>
                                      <p:tavLst>
                                        <p:tav tm="0">
                                          <p:val>
                                            <p:fltVal val="0"/>
                                          </p:val>
                                        </p:tav>
                                        <p:tav tm="100000">
                                          <p:val>
                                            <p:strVal val="#ppt_w"/>
                                          </p:val>
                                        </p:tav>
                                      </p:tavLst>
                                    </p:anim>
                                    <p:anim calcmode="lin" valueType="num">
                                      <p:cBhvr>
                                        <p:cTn id="115" dur="500" fill="hold"/>
                                        <p:tgtEl>
                                          <p:spTgt spid="71"/>
                                        </p:tgtEl>
                                        <p:attrNameLst>
                                          <p:attrName>ppt_h</p:attrName>
                                        </p:attrNameLst>
                                      </p:cBhvr>
                                      <p:tavLst>
                                        <p:tav tm="0">
                                          <p:val>
                                            <p:fltVal val="0"/>
                                          </p:val>
                                        </p:tav>
                                        <p:tav tm="100000">
                                          <p:val>
                                            <p:strVal val="#ppt_h"/>
                                          </p:val>
                                        </p:tav>
                                      </p:tavLst>
                                    </p:anim>
                                    <p:animEffect transition="in" filter="fade">
                                      <p:cBhvr>
                                        <p:cTn id="116" dur="500"/>
                                        <p:tgtEl>
                                          <p:spTgt spid="71"/>
                                        </p:tgtEl>
                                      </p:cBhvr>
                                    </p:animEffect>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nodeType="clickEffect">
                                  <p:stCondLst>
                                    <p:cond delay="0"/>
                                  </p:stCondLst>
                                  <p:childTnLst>
                                    <p:set>
                                      <p:cBhvr>
                                        <p:cTn id="120" dur="1" fill="hold">
                                          <p:stCondLst>
                                            <p:cond delay="0"/>
                                          </p:stCondLst>
                                        </p:cTn>
                                        <p:tgtEl>
                                          <p:spTgt spid="69"/>
                                        </p:tgtEl>
                                        <p:attrNameLst>
                                          <p:attrName>style.visibility</p:attrName>
                                        </p:attrNameLst>
                                      </p:cBhvr>
                                      <p:to>
                                        <p:strVal val="visible"/>
                                      </p:to>
                                    </p:set>
                                    <p:anim calcmode="lin" valueType="num">
                                      <p:cBhvr>
                                        <p:cTn id="121" dur="500" fill="hold"/>
                                        <p:tgtEl>
                                          <p:spTgt spid="69"/>
                                        </p:tgtEl>
                                        <p:attrNameLst>
                                          <p:attrName>ppt_w</p:attrName>
                                        </p:attrNameLst>
                                      </p:cBhvr>
                                      <p:tavLst>
                                        <p:tav tm="0">
                                          <p:val>
                                            <p:fltVal val="0"/>
                                          </p:val>
                                        </p:tav>
                                        <p:tav tm="100000">
                                          <p:val>
                                            <p:strVal val="#ppt_w"/>
                                          </p:val>
                                        </p:tav>
                                      </p:tavLst>
                                    </p:anim>
                                    <p:anim calcmode="lin" valueType="num">
                                      <p:cBhvr>
                                        <p:cTn id="122" dur="500" fill="hold"/>
                                        <p:tgtEl>
                                          <p:spTgt spid="69"/>
                                        </p:tgtEl>
                                        <p:attrNameLst>
                                          <p:attrName>ppt_h</p:attrName>
                                        </p:attrNameLst>
                                      </p:cBhvr>
                                      <p:tavLst>
                                        <p:tav tm="0">
                                          <p:val>
                                            <p:fltVal val="0"/>
                                          </p:val>
                                        </p:tav>
                                        <p:tav tm="100000">
                                          <p:val>
                                            <p:strVal val="#ppt_h"/>
                                          </p:val>
                                        </p:tav>
                                      </p:tavLst>
                                    </p:anim>
                                    <p:animEffect transition="in" filter="fade">
                                      <p:cBhvr>
                                        <p:cTn id="123" dur="500"/>
                                        <p:tgtEl>
                                          <p:spTgt spid="69"/>
                                        </p:tgtEl>
                                      </p:cBhvr>
                                    </p:animEffect>
                                  </p:childTnLst>
                                </p:cTn>
                              </p:par>
                            </p:childTnLst>
                          </p:cTn>
                        </p:par>
                      </p:childTnLst>
                    </p:cTn>
                  </p:par>
                  <p:par>
                    <p:cTn id="124" fill="hold">
                      <p:stCondLst>
                        <p:cond delay="indefinite"/>
                      </p:stCondLst>
                      <p:childTnLst>
                        <p:par>
                          <p:cTn id="125" fill="hold">
                            <p:stCondLst>
                              <p:cond delay="0"/>
                            </p:stCondLst>
                            <p:childTnLst>
                              <p:par>
                                <p:cTn id="126" presetID="53" presetClass="entr" presetSubtype="16" fill="hold" grpId="0" nodeType="clickEffect">
                                  <p:stCondLst>
                                    <p:cond delay="0"/>
                                  </p:stCondLst>
                                  <p:childTnLst>
                                    <p:set>
                                      <p:cBhvr>
                                        <p:cTn id="127" dur="1" fill="hold">
                                          <p:stCondLst>
                                            <p:cond delay="0"/>
                                          </p:stCondLst>
                                        </p:cTn>
                                        <p:tgtEl>
                                          <p:spTgt spid="72"/>
                                        </p:tgtEl>
                                        <p:attrNameLst>
                                          <p:attrName>style.visibility</p:attrName>
                                        </p:attrNameLst>
                                      </p:cBhvr>
                                      <p:to>
                                        <p:strVal val="visible"/>
                                      </p:to>
                                    </p:set>
                                    <p:anim calcmode="lin" valueType="num">
                                      <p:cBhvr>
                                        <p:cTn id="128" dur="500" fill="hold"/>
                                        <p:tgtEl>
                                          <p:spTgt spid="72"/>
                                        </p:tgtEl>
                                        <p:attrNameLst>
                                          <p:attrName>ppt_w</p:attrName>
                                        </p:attrNameLst>
                                      </p:cBhvr>
                                      <p:tavLst>
                                        <p:tav tm="0">
                                          <p:val>
                                            <p:fltVal val="0"/>
                                          </p:val>
                                        </p:tav>
                                        <p:tav tm="100000">
                                          <p:val>
                                            <p:strVal val="#ppt_w"/>
                                          </p:val>
                                        </p:tav>
                                      </p:tavLst>
                                    </p:anim>
                                    <p:anim calcmode="lin" valueType="num">
                                      <p:cBhvr>
                                        <p:cTn id="129" dur="500" fill="hold"/>
                                        <p:tgtEl>
                                          <p:spTgt spid="72"/>
                                        </p:tgtEl>
                                        <p:attrNameLst>
                                          <p:attrName>ppt_h</p:attrName>
                                        </p:attrNameLst>
                                      </p:cBhvr>
                                      <p:tavLst>
                                        <p:tav tm="0">
                                          <p:val>
                                            <p:fltVal val="0"/>
                                          </p:val>
                                        </p:tav>
                                        <p:tav tm="100000">
                                          <p:val>
                                            <p:strVal val="#ppt_h"/>
                                          </p:val>
                                        </p:tav>
                                      </p:tavLst>
                                    </p:anim>
                                    <p:animEffect transition="in" filter="fade">
                                      <p:cBhvr>
                                        <p:cTn id="130" dur="500"/>
                                        <p:tgtEl>
                                          <p:spTgt spid="72"/>
                                        </p:tgtEl>
                                      </p:cBhvr>
                                    </p:animEffect>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nodeType="clickEffect">
                                  <p:stCondLst>
                                    <p:cond delay="0"/>
                                  </p:stCondLst>
                                  <p:childTnLst>
                                    <p:set>
                                      <p:cBhvr>
                                        <p:cTn id="134" dur="1" fill="hold">
                                          <p:stCondLst>
                                            <p:cond delay="0"/>
                                          </p:stCondLst>
                                        </p:cTn>
                                        <p:tgtEl>
                                          <p:spTgt spid="70"/>
                                        </p:tgtEl>
                                        <p:attrNameLst>
                                          <p:attrName>style.visibility</p:attrName>
                                        </p:attrNameLst>
                                      </p:cBhvr>
                                      <p:to>
                                        <p:strVal val="visible"/>
                                      </p:to>
                                    </p:set>
                                    <p:anim calcmode="lin" valueType="num">
                                      <p:cBhvr>
                                        <p:cTn id="135" dur="500" fill="hold"/>
                                        <p:tgtEl>
                                          <p:spTgt spid="70"/>
                                        </p:tgtEl>
                                        <p:attrNameLst>
                                          <p:attrName>ppt_w</p:attrName>
                                        </p:attrNameLst>
                                      </p:cBhvr>
                                      <p:tavLst>
                                        <p:tav tm="0">
                                          <p:val>
                                            <p:fltVal val="0"/>
                                          </p:val>
                                        </p:tav>
                                        <p:tav tm="100000">
                                          <p:val>
                                            <p:strVal val="#ppt_w"/>
                                          </p:val>
                                        </p:tav>
                                      </p:tavLst>
                                    </p:anim>
                                    <p:anim calcmode="lin" valueType="num">
                                      <p:cBhvr>
                                        <p:cTn id="136" dur="500" fill="hold"/>
                                        <p:tgtEl>
                                          <p:spTgt spid="70"/>
                                        </p:tgtEl>
                                        <p:attrNameLst>
                                          <p:attrName>ppt_h</p:attrName>
                                        </p:attrNameLst>
                                      </p:cBhvr>
                                      <p:tavLst>
                                        <p:tav tm="0">
                                          <p:val>
                                            <p:fltVal val="0"/>
                                          </p:val>
                                        </p:tav>
                                        <p:tav tm="100000">
                                          <p:val>
                                            <p:strVal val="#ppt_h"/>
                                          </p:val>
                                        </p:tav>
                                      </p:tavLst>
                                    </p:anim>
                                    <p:animEffect transition="in" filter="fade">
                                      <p:cBhvr>
                                        <p:cTn id="137" dur="500"/>
                                        <p:tgtEl>
                                          <p:spTgt spid="70"/>
                                        </p:tgtEl>
                                      </p:cBhvr>
                                    </p:animEffect>
                                  </p:childTnLst>
                                </p:cTn>
                              </p:par>
                            </p:childTnLst>
                          </p:cTn>
                        </p:par>
                      </p:childTnLst>
                    </p:cTn>
                  </p:par>
                  <p:par>
                    <p:cTn id="138" fill="hold">
                      <p:stCondLst>
                        <p:cond delay="indefinite"/>
                      </p:stCondLst>
                      <p:childTnLst>
                        <p:par>
                          <p:cTn id="139" fill="hold">
                            <p:stCondLst>
                              <p:cond delay="0"/>
                            </p:stCondLst>
                            <p:childTnLst>
                              <p:par>
                                <p:cTn id="140" presetID="53" presetClass="entr" presetSubtype="16" fill="hold" grpId="0" nodeType="clickEffect">
                                  <p:stCondLst>
                                    <p:cond delay="0"/>
                                  </p:stCondLst>
                                  <p:childTnLst>
                                    <p:set>
                                      <p:cBhvr>
                                        <p:cTn id="141" dur="1" fill="hold">
                                          <p:stCondLst>
                                            <p:cond delay="0"/>
                                          </p:stCondLst>
                                        </p:cTn>
                                        <p:tgtEl>
                                          <p:spTgt spid="73"/>
                                        </p:tgtEl>
                                        <p:attrNameLst>
                                          <p:attrName>style.visibility</p:attrName>
                                        </p:attrNameLst>
                                      </p:cBhvr>
                                      <p:to>
                                        <p:strVal val="visible"/>
                                      </p:to>
                                    </p:set>
                                    <p:anim calcmode="lin" valueType="num">
                                      <p:cBhvr>
                                        <p:cTn id="142" dur="500" fill="hold"/>
                                        <p:tgtEl>
                                          <p:spTgt spid="73"/>
                                        </p:tgtEl>
                                        <p:attrNameLst>
                                          <p:attrName>ppt_w</p:attrName>
                                        </p:attrNameLst>
                                      </p:cBhvr>
                                      <p:tavLst>
                                        <p:tav tm="0">
                                          <p:val>
                                            <p:fltVal val="0"/>
                                          </p:val>
                                        </p:tav>
                                        <p:tav tm="100000">
                                          <p:val>
                                            <p:strVal val="#ppt_w"/>
                                          </p:val>
                                        </p:tav>
                                      </p:tavLst>
                                    </p:anim>
                                    <p:anim calcmode="lin" valueType="num">
                                      <p:cBhvr>
                                        <p:cTn id="143" dur="500" fill="hold"/>
                                        <p:tgtEl>
                                          <p:spTgt spid="73"/>
                                        </p:tgtEl>
                                        <p:attrNameLst>
                                          <p:attrName>ppt_h</p:attrName>
                                        </p:attrNameLst>
                                      </p:cBhvr>
                                      <p:tavLst>
                                        <p:tav tm="0">
                                          <p:val>
                                            <p:fltVal val="0"/>
                                          </p:val>
                                        </p:tav>
                                        <p:tav tm="100000">
                                          <p:val>
                                            <p:strVal val="#ppt_h"/>
                                          </p:val>
                                        </p:tav>
                                      </p:tavLst>
                                    </p:anim>
                                    <p:animEffect transition="in" filter="fade">
                                      <p:cBhvr>
                                        <p:cTn id="144" dur="500"/>
                                        <p:tgtEl>
                                          <p:spTgt spid="73"/>
                                        </p:tgtEl>
                                      </p:cBhvr>
                                    </p:animEffect>
                                  </p:childTnLst>
                                </p:cTn>
                              </p:par>
                            </p:childTnLst>
                          </p:cTn>
                        </p:par>
                      </p:childTnLst>
                    </p:cTn>
                  </p:par>
                  <p:par>
                    <p:cTn id="145" fill="hold">
                      <p:stCondLst>
                        <p:cond delay="indefinite"/>
                      </p:stCondLst>
                      <p:childTnLst>
                        <p:par>
                          <p:cTn id="146" fill="hold">
                            <p:stCondLst>
                              <p:cond delay="0"/>
                            </p:stCondLst>
                            <p:childTnLst>
                              <p:par>
                                <p:cTn id="147" presetID="53" presetClass="entr" presetSubtype="16" fill="hold" nodeType="clickEffect">
                                  <p:stCondLst>
                                    <p:cond delay="0"/>
                                  </p:stCondLst>
                                  <p:childTnLst>
                                    <p:set>
                                      <p:cBhvr>
                                        <p:cTn id="148" dur="1" fill="hold">
                                          <p:stCondLst>
                                            <p:cond delay="0"/>
                                          </p:stCondLst>
                                        </p:cTn>
                                        <p:tgtEl>
                                          <p:spTgt spid="74"/>
                                        </p:tgtEl>
                                        <p:attrNameLst>
                                          <p:attrName>style.visibility</p:attrName>
                                        </p:attrNameLst>
                                      </p:cBhvr>
                                      <p:to>
                                        <p:strVal val="visible"/>
                                      </p:to>
                                    </p:set>
                                    <p:anim calcmode="lin" valueType="num">
                                      <p:cBhvr>
                                        <p:cTn id="149" dur="500" fill="hold"/>
                                        <p:tgtEl>
                                          <p:spTgt spid="74"/>
                                        </p:tgtEl>
                                        <p:attrNameLst>
                                          <p:attrName>ppt_w</p:attrName>
                                        </p:attrNameLst>
                                      </p:cBhvr>
                                      <p:tavLst>
                                        <p:tav tm="0">
                                          <p:val>
                                            <p:fltVal val="0"/>
                                          </p:val>
                                        </p:tav>
                                        <p:tav tm="100000">
                                          <p:val>
                                            <p:strVal val="#ppt_w"/>
                                          </p:val>
                                        </p:tav>
                                      </p:tavLst>
                                    </p:anim>
                                    <p:anim calcmode="lin" valueType="num">
                                      <p:cBhvr>
                                        <p:cTn id="150" dur="500" fill="hold"/>
                                        <p:tgtEl>
                                          <p:spTgt spid="74"/>
                                        </p:tgtEl>
                                        <p:attrNameLst>
                                          <p:attrName>ppt_h</p:attrName>
                                        </p:attrNameLst>
                                      </p:cBhvr>
                                      <p:tavLst>
                                        <p:tav tm="0">
                                          <p:val>
                                            <p:fltVal val="0"/>
                                          </p:val>
                                        </p:tav>
                                        <p:tav tm="100000">
                                          <p:val>
                                            <p:strVal val="#ppt_h"/>
                                          </p:val>
                                        </p:tav>
                                      </p:tavLst>
                                    </p:anim>
                                    <p:animEffect transition="in" filter="fade">
                                      <p:cBhvr>
                                        <p:cTn id="151" dur="500"/>
                                        <p:tgtEl>
                                          <p:spTgt spid="74"/>
                                        </p:tgtEl>
                                      </p:cBhvr>
                                    </p:animEffect>
                                  </p:childTnLst>
                                </p:cTn>
                              </p:par>
                            </p:childTnLst>
                          </p:cTn>
                        </p:par>
                      </p:childTnLst>
                    </p:cTn>
                  </p:par>
                  <p:par>
                    <p:cTn id="152" fill="hold">
                      <p:stCondLst>
                        <p:cond delay="indefinite"/>
                      </p:stCondLst>
                      <p:childTnLst>
                        <p:par>
                          <p:cTn id="153" fill="hold">
                            <p:stCondLst>
                              <p:cond delay="0"/>
                            </p:stCondLst>
                            <p:childTnLst>
                              <p:par>
                                <p:cTn id="154" presetID="5" presetClass="entr" presetSubtype="10" fill="hold" grpId="0" nodeType="click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checkerboard(across)">
                                      <p:cBhvr>
                                        <p:cTn id="156" dur="500"/>
                                        <p:tgtEl>
                                          <p:spTgt spid="62"/>
                                        </p:tgtEl>
                                      </p:cBhvr>
                                    </p:animEffect>
                                  </p:childTnLst>
                                </p:cTn>
                              </p:par>
                            </p:childTnLst>
                          </p:cTn>
                        </p:par>
                      </p:childTnLst>
                    </p:cTn>
                  </p:par>
                  <p:par>
                    <p:cTn id="157" fill="hold">
                      <p:stCondLst>
                        <p:cond delay="indefinite"/>
                      </p:stCondLst>
                      <p:childTnLst>
                        <p:par>
                          <p:cTn id="158" fill="hold">
                            <p:stCondLst>
                              <p:cond delay="0"/>
                            </p:stCondLst>
                            <p:childTnLst>
                              <p:par>
                                <p:cTn id="159" presetID="4" presetClass="entr" presetSubtype="16" fill="hold" nodeType="click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box(in)">
                                      <p:cBhvr>
                                        <p:cTn id="161" dur="500"/>
                                        <p:tgtEl>
                                          <p:spTgt spid="61"/>
                                        </p:tgtEl>
                                      </p:cBhvr>
                                    </p:animEffect>
                                  </p:childTnLst>
                                </p:cTn>
                              </p:par>
                            </p:childTnLst>
                          </p:cTn>
                        </p:par>
                      </p:childTnLst>
                    </p:cTn>
                  </p:par>
                  <p:par>
                    <p:cTn id="162" fill="hold">
                      <p:stCondLst>
                        <p:cond delay="indefinite"/>
                      </p:stCondLst>
                      <p:childTnLst>
                        <p:par>
                          <p:cTn id="163" fill="hold">
                            <p:stCondLst>
                              <p:cond delay="0"/>
                            </p:stCondLst>
                            <p:childTnLst>
                              <p:par>
                                <p:cTn id="164" presetID="53" presetClass="entr" presetSubtype="16" fill="hold" grpId="0" nodeType="clickEffect">
                                  <p:stCondLst>
                                    <p:cond delay="0"/>
                                  </p:stCondLst>
                                  <p:childTnLst>
                                    <p:set>
                                      <p:cBhvr>
                                        <p:cTn id="165" dur="1" fill="hold">
                                          <p:stCondLst>
                                            <p:cond delay="0"/>
                                          </p:stCondLst>
                                        </p:cTn>
                                        <p:tgtEl>
                                          <p:spTgt spid="75"/>
                                        </p:tgtEl>
                                        <p:attrNameLst>
                                          <p:attrName>style.visibility</p:attrName>
                                        </p:attrNameLst>
                                      </p:cBhvr>
                                      <p:to>
                                        <p:strVal val="visible"/>
                                      </p:to>
                                    </p:set>
                                    <p:anim calcmode="lin" valueType="num">
                                      <p:cBhvr>
                                        <p:cTn id="166" dur="500" fill="hold"/>
                                        <p:tgtEl>
                                          <p:spTgt spid="75"/>
                                        </p:tgtEl>
                                        <p:attrNameLst>
                                          <p:attrName>ppt_w</p:attrName>
                                        </p:attrNameLst>
                                      </p:cBhvr>
                                      <p:tavLst>
                                        <p:tav tm="0">
                                          <p:val>
                                            <p:fltVal val="0"/>
                                          </p:val>
                                        </p:tav>
                                        <p:tav tm="100000">
                                          <p:val>
                                            <p:strVal val="#ppt_w"/>
                                          </p:val>
                                        </p:tav>
                                      </p:tavLst>
                                    </p:anim>
                                    <p:anim calcmode="lin" valueType="num">
                                      <p:cBhvr>
                                        <p:cTn id="167" dur="500" fill="hold"/>
                                        <p:tgtEl>
                                          <p:spTgt spid="75"/>
                                        </p:tgtEl>
                                        <p:attrNameLst>
                                          <p:attrName>ppt_h</p:attrName>
                                        </p:attrNameLst>
                                      </p:cBhvr>
                                      <p:tavLst>
                                        <p:tav tm="0">
                                          <p:val>
                                            <p:fltVal val="0"/>
                                          </p:val>
                                        </p:tav>
                                        <p:tav tm="100000">
                                          <p:val>
                                            <p:strVal val="#ppt_h"/>
                                          </p:val>
                                        </p:tav>
                                      </p:tavLst>
                                    </p:anim>
                                    <p:animEffect transition="in" filter="fade">
                                      <p:cBhvr>
                                        <p:cTn id="168" dur="500"/>
                                        <p:tgtEl>
                                          <p:spTgt spid="75"/>
                                        </p:tgtEl>
                                      </p:cBhvr>
                                    </p:animEffect>
                                  </p:childTnLst>
                                </p:cTn>
                              </p:par>
                            </p:childTnLst>
                          </p:cTn>
                        </p:par>
                      </p:childTnLst>
                    </p:cTn>
                  </p:par>
                  <p:par>
                    <p:cTn id="169" fill="hold">
                      <p:stCondLst>
                        <p:cond delay="indefinite"/>
                      </p:stCondLst>
                      <p:childTnLst>
                        <p:par>
                          <p:cTn id="170" fill="hold">
                            <p:stCondLst>
                              <p:cond delay="0"/>
                            </p:stCondLst>
                            <p:childTnLst>
                              <p:par>
                                <p:cTn id="171" presetID="53" presetClass="entr" presetSubtype="16" fill="hold" nodeType="clickEffect">
                                  <p:stCondLst>
                                    <p:cond delay="0"/>
                                  </p:stCondLst>
                                  <p:childTnLst>
                                    <p:set>
                                      <p:cBhvr>
                                        <p:cTn id="172" dur="1" fill="hold">
                                          <p:stCondLst>
                                            <p:cond delay="0"/>
                                          </p:stCondLst>
                                        </p:cTn>
                                        <p:tgtEl>
                                          <p:spTgt spid="76"/>
                                        </p:tgtEl>
                                        <p:attrNameLst>
                                          <p:attrName>style.visibility</p:attrName>
                                        </p:attrNameLst>
                                      </p:cBhvr>
                                      <p:to>
                                        <p:strVal val="visible"/>
                                      </p:to>
                                    </p:set>
                                    <p:anim calcmode="lin" valueType="num">
                                      <p:cBhvr>
                                        <p:cTn id="173" dur="500" fill="hold"/>
                                        <p:tgtEl>
                                          <p:spTgt spid="76"/>
                                        </p:tgtEl>
                                        <p:attrNameLst>
                                          <p:attrName>ppt_w</p:attrName>
                                        </p:attrNameLst>
                                      </p:cBhvr>
                                      <p:tavLst>
                                        <p:tav tm="0">
                                          <p:val>
                                            <p:fltVal val="0"/>
                                          </p:val>
                                        </p:tav>
                                        <p:tav tm="100000">
                                          <p:val>
                                            <p:strVal val="#ppt_w"/>
                                          </p:val>
                                        </p:tav>
                                      </p:tavLst>
                                    </p:anim>
                                    <p:anim calcmode="lin" valueType="num">
                                      <p:cBhvr>
                                        <p:cTn id="174" dur="500" fill="hold"/>
                                        <p:tgtEl>
                                          <p:spTgt spid="76"/>
                                        </p:tgtEl>
                                        <p:attrNameLst>
                                          <p:attrName>ppt_h</p:attrName>
                                        </p:attrNameLst>
                                      </p:cBhvr>
                                      <p:tavLst>
                                        <p:tav tm="0">
                                          <p:val>
                                            <p:fltVal val="0"/>
                                          </p:val>
                                        </p:tav>
                                        <p:tav tm="100000">
                                          <p:val>
                                            <p:strVal val="#ppt_h"/>
                                          </p:val>
                                        </p:tav>
                                      </p:tavLst>
                                    </p:anim>
                                    <p:animEffect transition="in" filter="fade">
                                      <p:cBhvr>
                                        <p:cTn id="175"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43" grpId="0" animBg="1"/>
      <p:bldP spid="58" grpId="0"/>
      <p:bldP spid="62" grpId="0" animBg="1" autoUpdateAnimBg="0"/>
      <p:bldP spid="68" grpId="0"/>
      <p:bldP spid="71" grpId="0" animBg="1"/>
      <p:bldP spid="72" grpId="0" animBg="1"/>
      <p:bldP spid="73" grpId="0"/>
      <p:bldP spid="7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辐射度与光度学几条基本定律</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64" name="TextBox 1">
            <a:extLst>
              <a:ext uri="{FF2B5EF4-FFF2-40B4-BE49-F238E27FC236}">
                <a16:creationId xmlns:a16="http://schemas.microsoft.com/office/drawing/2014/main" id="{DAEB4787-4AC8-4689-AE5C-DA10A473DCCB}"/>
              </a:ext>
            </a:extLst>
          </p:cNvPr>
          <p:cNvSpPr txBox="1">
            <a:spLocks noChangeArrowheads="1"/>
          </p:cNvSpPr>
          <p:nvPr/>
        </p:nvSpPr>
        <p:spPr bwMode="auto">
          <a:xfrm>
            <a:off x="1081088" y="1424619"/>
            <a:ext cx="11099833" cy="1384995"/>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光辐射能在传输介质中没有损失时，表面</a:t>
            </a:r>
            <a:r>
              <a:rPr lang="en-US" altLang="zh-CN" sz="2800" b="1" dirty="0">
                <a:latin typeface="Times New Roman" pitchFamily="18" charset="0"/>
                <a:ea typeface="微软雅黑" pitchFamily="34" charset="-122"/>
                <a:cs typeface="Times New Roman" pitchFamily="18" charset="0"/>
              </a:rPr>
              <a:t>2</a:t>
            </a:r>
            <a:r>
              <a:rPr lang="zh-CN" altLang="en-US" sz="2800" b="1" dirty="0">
                <a:latin typeface="Times New Roman" pitchFamily="18" charset="0"/>
                <a:ea typeface="微软雅黑" pitchFamily="34" charset="-122"/>
                <a:cs typeface="Times New Roman" pitchFamily="18" charset="0"/>
              </a:rPr>
              <a:t>的辐亮度和表面</a:t>
            </a:r>
            <a:r>
              <a:rPr lang="en-US" altLang="zh-CN" sz="2800" b="1" dirty="0">
                <a:latin typeface="Times New Roman" pitchFamily="18" charset="0"/>
                <a:ea typeface="微软雅黑" pitchFamily="34" charset="-122"/>
                <a:cs typeface="Times New Roman" pitchFamily="18" charset="0"/>
              </a:rPr>
              <a:t>1</a:t>
            </a:r>
            <a:r>
              <a:rPr lang="zh-CN" altLang="en-US" sz="2800" b="1" dirty="0">
                <a:latin typeface="Times New Roman" pitchFamily="18" charset="0"/>
                <a:ea typeface="微软雅黑" pitchFamily="34" charset="-122"/>
                <a:cs typeface="Times New Roman" pitchFamily="18" charset="0"/>
              </a:rPr>
              <a:t>的辐亮度是相等的，即辐亮度是守恒的。</a:t>
            </a:r>
          </a:p>
        </p:txBody>
      </p:sp>
      <p:graphicFrame>
        <p:nvGraphicFramePr>
          <p:cNvPr id="65" name="Object 1">
            <a:extLst>
              <a:ext uri="{FF2B5EF4-FFF2-40B4-BE49-F238E27FC236}">
                <a16:creationId xmlns:a16="http://schemas.microsoft.com/office/drawing/2014/main" id="{73F87215-FFFB-44D7-BFE2-FEAF92F571CB}"/>
              </a:ext>
            </a:extLst>
          </p:cNvPr>
          <p:cNvGraphicFramePr>
            <a:graphicFrameLocks noChangeAspect="1"/>
          </p:cNvGraphicFramePr>
          <p:nvPr/>
        </p:nvGraphicFramePr>
        <p:xfrm>
          <a:off x="5389111" y="3465884"/>
          <a:ext cx="1428750" cy="976313"/>
        </p:xfrm>
        <a:graphic>
          <a:graphicData uri="http://schemas.openxmlformats.org/presentationml/2006/ole">
            <mc:AlternateContent xmlns:mc="http://schemas.openxmlformats.org/markup-compatibility/2006">
              <mc:Choice xmlns:v="urn:schemas-microsoft-com:vml" Requires="v">
                <p:oleObj name="Equation" r:id="rId2" imgW="572494" imgH="394385" progId="Equation.DSMT4">
                  <p:embed/>
                </p:oleObj>
              </mc:Choice>
              <mc:Fallback>
                <p:oleObj name="Equation" r:id="rId2" imgW="572494" imgH="394385" progId="Equation.DSMT4">
                  <p:embed/>
                  <p:pic>
                    <p:nvPicPr>
                      <p:cNvPr id="4096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9111" y="3465884"/>
                        <a:ext cx="1428750" cy="976313"/>
                      </a:xfrm>
                      <a:prstGeom prst="rect">
                        <a:avLst/>
                      </a:prstGeom>
                      <a:solidFill>
                        <a:srgbClr val="FFFF99"/>
                      </a:solidFill>
                    </p:spPr>
                  </p:pic>
                </p:oleObj>
              </mc:Fallback>
            </mc:AlternateContent>
          </a:graphicData>
        </a:graphic>
      </p:graphicFrame>
      <p:grpSp>
        <p:nvGrpSpPr>
          <p:cNvPr id="66" name="组合 8">
            <a:extLst>
              <a:ext uri="{FF2B5EF4-FFF2-40B4-BE49-F238E27FC236}">
                <a16:creationId xmlns:a16="http://schemas.microsoft.com/office/drawing/2014/main" id="{B97C7FBB-04D5-404E-A655-57D85BD168B9}"/>
              </a:ext>
            </a:extLst>
          </p:cNvPr>
          <p:cNvGrpSpPr>
            <a:grpSpLocks/>
          </p:cNvGrpSpPr>
          <p:nvPr/>
        </p:nvGrpSpPr>
        <p:grpSpPr bwMode="auto">
          <a:xfrm>
            <a:off x="1231510" y="5140325"/>
            <a:ext cx="11093450" cy="1374775"/>
            <a:chOff x="428625" y="4116402"/>
            <a:chExt cx="8215313" cy="1374775"/>
          </a:xfrm>
        </p:grpSpPr>
        <p:sp>
          <p:nvSpPr>
            <p:cNvPr id="67" name="TextBox 6">
              <a:extLst>
                <a:ext uri="{FF2B5EF4-FFF2-40B4-BE49-F238E27FC236}">
                  <a16:creationId xmlns:a16="http://schemas.microsoft.com/office/drawing/2014/main" id="{28710C3D-2E72-47BA-BC10-8759257DBDA1}"/>
                </a:ext>
              </a:extLst>
            </p:cNvPr>
            <p:cNvSpPr txBox="1">
              <a:spLocks noChangeArrowheads="1"/>
            </p:cNvSpPr>
            <p:nvPr/>
          </p:nvSpPr>
          <p:spPr bwMode="auto">
            <a:xfrm>
              <a:off x="428625" y="4116402"/>
              <a:ext cx="8215313" cy="1374775"/>
            </a:xfrm>
            <a:prstGeom prst="rect">
              <a:avLst/>
            </a:prstGeom>
            <a:noFill/>
            <a:ln w="9525">
              <a:noFill/>
              <a:miter lim="800000"/>
              <a:headEnd/>
              <a:tailEnd/>
            </a:ln>
          </p:spPr>
          <p:txBody>
            <a:bodyPr>
              <a:spAutoFit/>
            </a:bodyPr>
            <a:lstStyle/>
            <a:p>
              <a:pPr defTabSz="914400">
                <a:lnSpc>
                  <a:spcPct val="150000"/>
                </a:lnSpc>
              </a:pPr>
              <a:r>
                <a:rPr lang="en-US" altLang="zh-CN"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若将</a:t>
              </a:r>
              <a:r>
                <a:rPr lang="en-US"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叫做基本辐亮度，那么在不同介质中，传播光束的基本辐亮度是守恒的。</a:t>
              </a:r>
            </a:p>
          </p:txBody>
        </p:sp>
        <p:graphicFrame>
          <p:nvGraphicFramePr>
            <p:cNvPr id="77" name="Object 3">
              <a:extLst>
                <a:ext uri="{FF2B5EF4-FFF2-40B4-BE49-F238E27FC236}">
                  <a16:creationId xmlns:a16="http://schemas.microsoft.com/office/drawing/2014/main" id="{001A8606-6907-4E5E-9AD2-B6B8FE60FCB5}"/>
                </a:ext>
              </a:extLst>
            </p:cNvPr>
            <p:cNvGraphicFramePr>
              <a:graphicFrameLocks noChangeAspect="1"/>
            </p:cNvGraphicFramePr>
            <p:nvPr/>
          </p:nvGraphicFramePr>
          <p:xfrm>
            <a:off x="1660450" y="4277651"/>
            <a:ext cx="832589" cy="448316"/>
          </p:xfrm>
          <a:graphic>
            <a:graphicData uri="http://schemas.openxmlformats.org/presentationml/2006/ole">
              <mc:AlternateContent xmlns:mc="http://schemas.openxmlformats.org/markup-compatibility/2006">
                <mc:Choice xmlns:v="urn:schemas-microsoft-com:vml" Requires="v">
                  <p:oleObj name="Equation" r:id="rId4" imgW="369422" imgH="203819" progId="Equation.DSMT4">
                    <p:embed/>
                  </p:oleObj>
                </mc:Choice>
                <mc:Fallback>
                  <p:oleObj name="Equation" r:id="rId4" imgW="369422" imgH="203819" progId="Equation.DSMT4">
                    <p:embed/>
                    <p:pic>
                      <p:nvPicPr>
                        <p:cNvPr id="7681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450" y="4277651"/>
                          <a:ext cx="832589" cy="448316"/>
                        </a:xfrm>
                        <a:prstGeom prst="rect">
                          <a:avLst/>
                        </a:prstGeom>
                        <a:noFill/>
                      </p:spPr>
                    </p:pic>
                  </p:oleObj>
                </mc:Fallback>
              </mc:AlternateContent>
            </a:graphicData>
          </a:graphic>
        </p:graphicFrame>
      </p:grpSp>
    </p:spTree>
    <p:extLst>
      <p:ext uri="{BB962C8B-B14F-4D97-AF65-F5344CB8AC3E}">
        <p14:creationId xmlns:p14="http://schemas.microsoft.com/office/powerpoint/2010/main" val="340189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box(in)">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ox(in)">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box(in)">
                                      <p:cBhvr>
                                        <p:cTn id="1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983</TotalTime>
  <Words>2818</Words>
  <Application>Microsoft Office PowerPoint</Application>
  <PresentationFormat>自定义</PresentationFormat>
  <Paragraphs>589</Paragraphs>
  <Slides>46</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65" baseType="lpstr">
      <vt:lpstr>冬青黑体简体中文 W3</vt:lpstr>
      <vt:lpstr>冬青黑体简体中文 W6</vt:lpstr>
      <vt:lpstr>黑体</vt:lpstr>
      <vt:lpstr>华文彩云</vt:lpstr>
      <vt:lpstr>华文琥珀</vt:lpstr>
      <vt:lpstr>华文行楷</vt:lpstr>
      <vt:lpstr>微软雅黑</vt:lpstr>
      <vt:lpstr>微软雅黑</vt:lpstr>
      <vt:lpstr>Arial</vt:lpstr>
      <vt:lpstr>Bookman Old Style</vt:lpstr>
      <vt:lpstr>Calibri</vt:lpstr>
      <vt:lpstr>Calibri Light</vt:lpstr>
      <vt:lpstr>Microsoft Yi Baiti</vt:lpstr>
      <vt:lpstr>Times New Roman</vt:lpstr>
      <vt:lpstr>Wingdings</vt:lpstr>
      <vt:lpstr>光电技术模板-2015-6-18</vt:lpstr>
      <vt:lpstr>Visio</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珂 宋</cp:lastModifiedBy>
  <cp:revision>115</cp:revision>
  <dcterms:created xsi:type="dcterms:W3CDTF">2015-06-18T01:42:52Z</dcterms:created>
  <dcterms:modified xsi:type="dcterms:W3CDTF">2025-12-05T12:15:20Z</dcterms:modified>
</cp:coreProperties>
</file>