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112"/>
  </p:notesMasterIdLst>
  <p:handoutMasterIdLst>
    <p:handoutMasterId r:id="rId113"/>
  </p:handoutMasterIdLst>
  <p:sldIdLst>
    <p:sldId id="549" r:id="rId2"/>
    <p:sldId id="420" r:id="rId3"/>
    <p:sldId id="574" r:id="rId4"/>
    <p:sldId id="421" r:id="rId5"/>
    <p:sldId id="558" r:id="rId6"/>
    <p:sldId id="560" r:id="rId7"/>
    <p:sldId id="561" r:id="rId8"/>
    <p:sldId id="562" r:id="rId9"/>
    <p:sldId id="563" r:id="rId10"/>
    <p:sldId id="564" r:id="rId11"/>
    <p:sldId id="565" r:id="rId12"/>
    <p:sldId id="566" r:id="rId13"/>
    <p:sldId id="567" r:id="rId14"/>
    <p:sldId id="568" r:id="rId15"/>
    <p:sldId id="569" r:id="rId16"/>
    <p:sldId id="573" r:id="rId17"/>
    <p:sldId id="571" r:id="rId18"/>
    <p:sldId id="572" r:id="rId19"/>
    <p:sldId id="439" r:id="rId20"/>
    <p:sldId id="440" r:id="rId21"/>
    <p:sldId id="441" r:id="rId22"/>
    <p:sldId id="442" r:id="rId23"/>
    <p:sldId id="443" r:id="rId24"/>
    <p:sldId id="530" r:id="rId25"/>
    <p:sldId id="532" r:id="rId26"/>
    <p:sldId id="444" r:id="rId27"/>
    <p:sldId id="445" r:id="rId28"/>
    <p:sldId id="446" r:id="rId29"/>
    <p:sldId id="449" r:id="rId30"/>
    <p:sldId id="450" r:id="rId31"/>
    <p:sldId id="451" r:id="rId32"/>
    <p:sldId id="452" r:id="rId33"/>
    <p:sldId id="453" r:id="rId34"/>
    <p:sldId id="454" r:id="rId35"/>
    <p:sldId id="455" r:id="rId36"/>
    <p:sldId id="456" r:id="rId37"/>
    <p:sldId id="457" r:id="rId38"/>
    <p:sldId id="459" r:id="rId39"/>
    <p:sldId id="460" r:id="rId40"/>
    <p:sldId id="553" r:id="rId41"/>
    <p:sldId id="462" r:id="rId42"/>
    <p:sldId id="554" r:id="rId43"/>
    <p:sldId id="464" r:id="rId44"/>
    <p:sldId id="465" r:id="rId45"/>
    <p:sldId id="466" r:id="rId46"/>
    <p:sldId id="467" r:id="rId47"/>
    <p:sldId id="468" r:id="rId48"/>
    <p:sldId id="469" r:id="rId49"/>
    <p:sldId id="470" r:id="rId50"/>
    <p:sldId id="471" r:id="rId51"/>
    <p:sldId id="473" r:id="rId52"/>
    <p:sldId id="474" r:id="rId53"/>
    <p:sldId id="555" r:id="rId54"/>
    <p:sldId id="475" r:id="rId55"/>
    <p:sldId id="476" r:id="rId56"/>
    <p:sldId id="477" r:id="rId57"/>
    <p:sldId id="478" r:id="rId58"/>
    <p:sldId id="479" r:id="rId59"/>
    <p:sldId id="480" r:id="rId60"/>
    <p:sldId id="575" r:id="rId61"/>
    <p:sldId id="576" r:id="rId62"/>
    <p:sldId id="577" r:id="rId63"/>
    <p:sldId id="578" r:id="rId64"/>
    <p:sldId id="579" r:id="rId65"/>
    <p:sldId id="580" r:id="rId66"/>
    <p:sldId id="581" r:id="rId67"/>
    <p:sldId id="582" r:id="rId68"/>
    <p:sldId id="583" r:id="rId69"/>
    <p:sldId id="584" r:id="rId70"/>
    <p:sldId id="491" r:id="rId71"/>
    <p:sldId id="492" r:id="rId72"/>
    <p:sldId id="493" r:id="rId73"/>
    <p:sldId id="494" r:id="rId74"/>
    <p:sldId id="495" r:id="rId75"/>
    <p:sldId id="496" r:id="rId76"/>
    <p:sldId id="497" r:id="rId77"/>
    <p:sldId id="498" r:id="rId78"/>
    <p:sldId id="499" r:id="rId79"/>
    <p:sldId id="500" r:id="rId80"/>
    <p:sldId id="501" r:id="rId81"/>
    <p:sldId id="503" r:id="rId82"/>
    <p:sldId id="504" r:id="rId83"/>
    <p:sldId id="505" r:id="rId84"/>
    <p:sldId id="506" r:id="rId85"/>
    <p:sldId id="542" r:id="rId86"/>
    <p:sldId id="543" r:id="rId87"/>
    <p:sldId id="544" r:id="rId88"/>
    <p:sldId id="507" r:id="rId89"/>
    <p:sldId id="508" r:id="rId90"/>
    <p:sldId id="509" r:id="rId91"/>
    <p:sldId id="548" r:id="rId92"/>
    <p:sldId id="510" r:id="rId93"/>
    <p:sldId id="511" r:id="rId94"/>
    <p:sldId id="512" r:id="rId95"/>
    <p:sldId id="516" r:id="rId96"/>
    <p:sldId id="517" r:id="rId97"/>
    <p:sldId id="556" r:id="rId98"/>
    <p:sldId id="518" r:id="rId99"/>
    <p:sldId id="519" r:id="rId100"/>
    <p:sldId id="557" r:id="rId101"/>
    <p:sldId id="520" r:id="rId102"/>
    <p:sldId id="521" r:id="rId103"/>
    <p:sldId id="522" r:id="rId104"/>
    <p:sldId id="523" r:id="rId105"/>
    <p:sldId id="524" r:id="rId106"/>
    <p:sldId id="525" r:id="rId107"/>
    <p:sldId id="526" r:id="rId108"/>
    <p:sldId id="527" r:id="rId109"/>
    <p:sldId id="528" r:id="rId110"/>
    <p:sldId id="529" r:id="rId11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00"/>
    <a:srgbClr val="FF0000"/>
    <a:srgbClr val="0000FF"/>
    <a:srgbClr val="0066CC"/>
    <a:srgbClr val="FF66FF"/>
    <a:srgbClr val="FF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9" autoAdjust="0"/>
    <p:restoredTop sz="94683" autoAdjust="0"/>
  </p:normalViewPr>
  <p:slideViewPr>
    <p:cSldViewPr snapToGrid="0">
      <p:cViewPr>
        <p:scale>
          <a:sx n="80" d="100"/>
          <a:sy n="80" d="100"/>
        </p:scale>
        <p:origin x="-2490" y="-6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4" d="100"/>
          <a:sy n="84" d="100"/>
        </p:scale>
        <p:origin x="-3804"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0.wmf"/><Relationship Id="rId1" Type="http://schemas.openxmlformats.org/officeDocument/2006/relationships/image" Target="../media/image8.wmf"/><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4.png"/></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png"/></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4" Type="http://schemas.openxmlformats.org/officeDocument/2006/relationships/image" Target="../media/image79.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5.wmf"/><Relationship Id="rId1" Type="http://schemas.openxmlformats.org/officeDocument/2006/relationships/image" Target="../media/image104.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62.wmf"/><Relationship Id="rId5" Type="http://schemas.openxmlformats.org/officeDocument/2006/relationships/image" Target="../media/image123.wmf"/><Relationship Id="rId4" Type="http://schemas.openxmlformats.org/officeDocument/2006/relationships/image" Target="../media/image122.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125.wmf"/><Relationship Id="rId1" Type="http://schemas.openxmlformats.org/officeDocument/2006/relationships/image" Target="../media/image124.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 Id="rId5" Type="http://schemas.openxmlformats.org/officeDocument/2006/relationships/image" Target="../media/image13.wmf"/><Relationship Id="rId4" Type="http://schemas.openxmlformats.org/officeDocument/2006/relationships/image" Target="../media/image129.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8742031D-326D-4E38-BB51-6AE6D94E80A4}" type="datetimeFigureOut">
              <a:rPr lang="zh-CN" altLang="en-US"/>
              <a:pPr>
                <a:defRPr/>
              </a:pPr>
              <a:t>2018/2/24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24945998-4D9D-4FAD-83E3-2470B22360C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512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40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12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512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0FD5F6B-BD68-4CF8-9130-C0F539D796E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a:ln/>
        </p:spPr>
      </p:sp>
      <p:sp>
        <p:nvSpPr>
          <p:cNvPr id="141315" name="备注占位符 2"/>
          <p:cNvSpPr>
            <a:spLocks noGrp="1"/>
          </p:cNvSpPr>
          <p:nvPr>
            <p:ph type="body" idx="1"/>
          </p:nvPr>
        </p:nvSpPr>
        <p:spPr>
          <a:noFill/>
          <a:ln/>
        </p:spPr>
        <p:txBody>
          <a:bodyPr/>
          <a:lstStyle/>
          <a:p>
            <a:endParaRPr lang="zh-CN" altLang="en-US" smtClean="0"/>
          </a:p>
        </p:txBody>
      </p:sp>
      <p:sp>
        <p:nvSpPr>
          <p:cNvPr id="141316" name="灯片编号占位符 3"/>
          <p:cNvSpPr>
            <a:spLocks noGrp="1"/>
          </p:cNvSpPr>
          <p:nvPr>
            <p:ph type="sldNum" sz="quarter" idx="5"/>
          </p:nvPr>
        </p:nvSpPr>
        <p:spPr>
          <a:noFill/>
        </p:spPr>
        <p:txBody>
          <a:bodyPr/>
          <a:lstStyle/>
          <a:p>
            <a:fld id="{7170B79A-43E4-40BD-B06C-7F9EDCACFD52}" type="slidenum">
              <a:rPr lang="en-US" altLang="zh-CN" smtClean="0"/>
              <a:pPr/>
              <a:t>33</a:t>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auto">
          <a:xfrm>
            <a:off x="4760913" y="20638"/>
            <a:ext cx="4438650" cy="4038600"/>
          </a:xfrm>
          <a:custGeom>
            <a:avLst/>
            <a:gdLst/>
            <a:ahLst/>
            <a:cxnLst>
              <a:cxn ang="0">
                <a:pos x="23" y="4"/>
              </a:cxn>
              <a:cxn ang="0">
                <a:pos x="11" y="71"/>
              </a:cxn>
              <a:cxn ang="0">
                <a:pos x="25" y="393"/>
              </a:cxn>
              <a:cxn ang="0">
                <a:pos x="54" y="457"/>
              </a:cxn>
              <a:cxn ang="0">
                <a:pos x="158" y="482"/>
              </a:cxn>
              <a:cxn ang="0">
                <a:pos x="204" y="495"/>
              </a:cxn>
              <a:cxn ang="0">
                <a:pos x="520" y="475"/>
              </a:cxn>
              <a:cxn ang="0">
                <a:pos x="533" y="167"/>
              </a:cxn>
              <a:cxn ang="0">
                <a:pos x="369" y="16"/>
              </a:cxn>
              <a:cxn ang="0">
                <a:pos x="249" y="29"/>
              </a:cxn>
              <a:cxn ang="0">
                <a:pos x="198" y="11"/>
              </a:cxn>
              <a:cxn ang="0">
                <a:pos x="151" y="2"/>
              </a:cxn>
              <a:cxn ang="0">
                <a:pos x="23" y="4"/>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w="0">
            <a:noFill/>
            <a:prstDash val="solid"/>
            <a:round/>
            <a:headEnd/>
            <a:tailEnd/>
          </a:ln>
        </p:spPr>
        <p:txBody>
          <a:bodyPr/>
          <a:lstStyle/>
          <a:p>
            <a:pPr>
              <a:defRPr/>
            </a:pPr>
            <a:endParaRPr lang="zh-CN" altLang="en-US"/>
          </a:p>
        </p:txBody>
      </p:sp>
      <p:grpSp>
        <p:nvGrpSpPr>
          <p:cNvPr id="5" name="Group 3"/>
          <p:cNvGrpSpPr>
            <a:grpSpLocks/>
          </p:cNvGrpSpPr>
          <p:nvPr/>
        </p:nvGrpSpPr>
        <p:grpSpPr bwMode="auto">
          <a:xfrm>
            <a:off x="4572000" y="28575"/>
            <a:ext cx="4756150" cy="4338638"/>
            <a:chOff x="2918" y="18"/>
            <a:chExt cx="2958" cy="2699"/>
          </a:xfrm>
        </p:grpSpPr>
        <p:sp>
          <p:nvSpPr>
            <p:cNvPr id="6" name="Freeform 4"/>
            <p:cNvSpPr>
              <a:spLocks/>
            </p:cNvSpPr>
            <p:nvPr/>
          </p:nvSpPr>
          <p:spPr bwMode="auto">
            <a:xfrm>
              <a:off x="3060" y="18"/>
              <a:ext cx="490" cy="187"/>
            </a:xfrm>
            <a:custGeom>
              <a:avLst/>
              <a:gdLst/>
              <a:ahLst/>
              <a:cxnLst>
                <a:cxn ang="0">
                  <a:pos x="71" y="25"/>
                </a:cxn>
                <a:cxn ang="0">
                  <a:pos x="91" y="20"/>
                </a:cxn>
                <a:cxn ang="0">
                  <a:pos x="92" y="17"/>
                </a:cxn>
                <a:cxn ang="0">
                  <a:pos x="88" y="0"/>
                </a:cxn>
                <a:cxn ang="0">
                  <a:pos x="25" y="0"/>
                </a:cxn>
                <a:cxn ang="0">
                  <a:pos x="10" y="22"/>
                </a:cxn>
                <a:cxn ang="0">
                  <a:pos x="71" y="25"/>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w="0">
              <a:noFill/>
              <a:prstDash val="solid"/>
              <a:round/>
              <a:headEnd/>
              <a:tailEnd/>
            </a:ln>
          </p:spPr>
          <p:txBody>
            <a:bodyPr/>
            <a:lstStyle/>
            <a:p>
              <a:pPr>
                <a:defRPr/>
              </a:pPr>
              <a:endParaRPr lang="zh-CN" altLang="en-US"/>
            </a:p>
          </p:txBody>
        </p:sp>
        <p:sp>
          <p:nvSpPr>
            <p:cNvPr id="7" name="Freeform 5"/>
            <p:cNvSpPr>
              <a:spLocks noEditPoints="1"/>
            </p:cNvSpPr>
            <p:nvPr/>
          </p:nvSpPr>
          <p:spPr bwMode="auto">
            <a:xfrm>
              <a:off x="2918" y="18"/>
              <a:ext cx="2958" cy="2699"/>
            </a:xfrm>
            <a:custGeom>
              <a:avLst/>
              <a:gdLst/>
              <a:ahLst/>
              <a:cxnLst>
                <a:cxn ang="0">
                  <a:pos x="504" y="1"/>
                </a:cxn>
                <a:cxn ang="0">
                  <a:pos x="157" y="0"/>
                </a:cxn>
                <a:cxn ang="0">
                  <a:pos x="225" y="21"/>
                </a:cxn>
                <a:cxn ang="0">
                  <a:pos x="174" y="39"/>
                </a:cxn>
                <a:cxn ang="0">
                  <a:pos x="207" y="71"/>
                </a:cxn>
                <a:cxn ang="0">
                  <a:pos x="74" y="60"/>
                </a:cxn>
                <a:cxn ang="0">
                  <a:pos x="26" y="63"/>
                </a:cxn>
                <a:cxn ang="0">
                  <a:pos x="199" y="487"/>
                </a:cxn>
                <a:cxn ang="0">
                  <a:pos x="144" y="341"/>
                </a:cxn>
                <a:cxn ang="0">
                  <a:pos x="105" y="376"/>
                </a:cxn>
                <a:cxn ang="0">
                  <a:pos x="94" y="435"/>
                </a:cxn>
                <a:cxn ang="0">
                  <a:pos x="124" y="265"/>
                </a:cxn>
                <a:cxn ang="0">
                  <a:pos x="153" y="228"/>
                </a:cxn>
                <a:cxn ang="0">
                  <a:pos x="209" y="237"/>
                </a:cxn>
                <a:cxn ang="0">
                  <a:pos x="188" y="306"/>
                </a:cxn>
                <a:cxn ang="0">
                  <a:pos x="192" y="395"/>
                </a:cxn>
                <a:cxn ang="0">
                  <a:pos x="515" y="483"/>
                </a:cxn>
                <a:cxn ang="0">
                  <a:pos x="454" y="427"/>
                </a:cxn>
                <a:cxn ang="0">
                  <a:pos x="425" y="345"/>
                </a:cxn>
                <a:cxn ang="0">
                  <a:pos x="396" y="270"/>
                </a:cxn>
                <a:cxn ang="0">
                  <a:pos x="460" y="256"/>
                </a:cxn>
                <a:cxn ang="0">
                  <a:pos x="407" y="223"/>
                </a:cxn>
                <a:cxn ang="0">
                  <a:pos x="439" y="226"/>
                </a:cxn>
                <a:cxn ang="0">
                  <a:pos x="438" y="209"/>
                </a:cxn>
                <a:cxn ang="0">
                  <a:pos x="376" y="211"/>
                </a:cxn>
                <a:cxn ang="0">
                  <a:pos x="357" y="343"/>
                </a:cxn>
                <a:cxn ang="0">
                  <a:pos x="347" y="230"/>
                </a:cxn>
                <a:cxn ang="0">
                  <a:pos x="331" y="182"/>
                </a:cxn>
                <a:cxn ang="0">
                  <a:pos x="347" y="136"/>
                </a:cxn>
                <a:cxn ang="0">
                  <a:pos x="339" y="99"/>
                </a:cxn>
                <a:cxn ang="0">
                  <a:pos x="331" y="62"/>
                </a:cxn>
                <a:cxn ang="0">
                  <a:pos x="369" y="103"/>
                </a:cxn>
                <a:cxn ang="0">
                  <a:pos x="415" y="47"/>
                </a:cxn>
                <a:cxn ang="0">
                  <a:pos x="409" y="95"/>
                </a:cxn>
                <a:cxn ang="0">
                  <a:pos x="401" y="130"/>
                </a:cxn>
                <a:cxn ang="0">
                  <a:pos x="401" y="181"/>
                </a:cxn>
                <a:cxn ang="0">
                  <a:pos x="558" y="181"/>
                </a:cxn>
                <a:cxn ang="0">
                  <a:pos x="554" y="76"/>
                </a:cxn>
                <a:cxn ang="0">
                  <a:pos x="249" y="69"/>
                </a:cxn>
                <a:cxn ang="0">
                  <a:pos x="293" y="93"/>
                </a:cxn>
                <a:cxn ang="0">
                  <a:pos x="171" y="195"/>
                </a:cxn>
                <a:cxn ang="0">
                  <a:pos x="69" y="98"/>
                </a:cxn>
                <a:cxn ang="0">
                  <a:pos x="191" y="106"/>
                </a:cxn>
                <a:cxn ang="0">
                  <a:pos x="220" y="105"/>
                </a:cxn>
                <a:cxn ang="0">
                  <a:pos x="302" y="121"/>
                </a:cxn>
                <a:cxn ang="0">
                  <a:pos x="276" y="256"/>
                </a:cxn>
                <a:cxn ang="0">
                  <a:pos x="260" y="137"/>
                </a:cxn>
                <a:cxn ang="0">
                  <a:pos x="171" y="195"/>
                </a:cxn>
                <a:cxn ang="0">
                  <a:pos x="223" y="225"/>
                </a:cxn>
                <a:cxn ang="0">
                  <a:pos x="247" y="158"/>
                </a:cxn>
                <a:cxn ang="0">
                  <a:pos x="326" y="292"/>
                </a:cxn>
                <a:cxn ang="0">
                  <a:pos x="215" y="321"/>
                </a:cxn>
                <a:cxn ang="0">
                  <a:pos x="309" y="277"/>
                </a:cxn>
                <a:cxn ang="0">
                  <a:pos x="318" y="133"/>
                </a:cxn>
                <a:cxn ang="0">
                  <a:pos x="313" y="213"/>
                </a:cxn>
                <a:cxn ang="0">
                  <a:pos x="299" y="144"/>
                </a:cxn>
                <a:cxn ang="0">
                  <a:pos x="507" y="179"/>
                </a:cxn>
                <a:cxn ang="0">
                  <a:pos x="461" y="162"/>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w="0">
              <a:noFill/>
              <a:prstDash val="solid"/>
              <a:round/>
              <a:headEnd/>
              <a:tailEnd/>
            </a:ln>
          </p:spPr>
          <p:txBody>
            <a:bodyPr/>
            <a:lstStyle/>
            <a:p>
              <a:pPr>
                <a:defRPr/>
              </a:pPr>
              <a:endParaRPr lang="zh-CN" altLang="en-US"/>
            </a:p>
          </p:txBody>
        </p:sp>
        <p:sp>
          <p:nvSpPr>
            <p:cNvPr id="8" name="Freeform 6"/>
            <p:cNvSpPr>
              <a:spLocks/>
            </p:cNvSpPr>
            <p:nvPr/>
          </p:nvSpPr>
          <p:spPr bwMode="auto">
            <a:xfrm>
              <a:off x="3621" y="1287"/>
              <a:ext cx="238" cy="283"/>
            </a:xfrm>
            <a:custGeom>
              <a:avLst/>
              <a:gdLst/>
              <a:ahLst/>
              <a:cxnLst>
                <a:cxn ang="0">
                  <a:pos x="40" y="15"/>
                </a:cxn>
                <a:cxn ang="0">
                  <a:pos x="27" y="56"/>
                </a:cxn>
                <a:cxn ang="0">
                  <a:pos x="40" y="15"/>
                </a:cxn>
              </a:cxnLst>
              <a:rect l="0" t="0" r="r" b="b"/>
              <a:pathLst>
                <a:path w="47" h="56">
                  <a:moveTo>
                    <a:pt x="40" y="15"/>
                  </a:moveTo>
                  <a:cubicBezTo>
                    <a:pt x="37" y="0"/>
                    <a:pt x="0" y="23"/>
                    <a:pt x="27" y="56"/>
                  </a:cubicBezTo>
                  <a:cubicBezTo>
                    <a:pt x="27" y="56"/>
                    <a:pt x="47" y="49"/>
                    <a:pt x="40" y="15"/>
                  </a:cubicBezTo>
                  <a:close/>
                </a:path>
              </a:pathLst>
            </a:custGeom>
            <a:solidFill>
              <a:schemeClr val="bg1"/>
            </a:solidFill>
            <a:ln w="0">
              <a:noFill/>
              <a:prstDash val="solid"/>
              <a:round/>
              <a:headEnd/>
              <a:tailEnd/>
            </a:ln>
          </p:spPr>
          <p:txBody>
            <a:bodyPr/>
            <a:lstStyle/>
            <a:p>
              <a:pPr>
                <a:defRPr/>
              </a:pPr>
              <a:endParaRPr lang="zh-CN" altLang="en-US"/>
            </a:p>
          </p:txBody>
        </p:sp>
        <p:sp>
          <p:nvSpPr>
            <p:cNvPr id="9" name="Freeform 7"/>
            <p:cNvSpPr>
              <a:spLocks/>
            </p:cNvSpPr>
            <p:nvPr/>
          </p:nvSpPr>
          <p:spPr bwMode="auto">
            <a:xfrm>
              <a:off x="3403" y="1403"/>
              <a:ext cx="208" cy="379"/>
            </a:xfrm>
            <a:custGeom>
              <a:avLst/>
              <a:gdLst/>
              <a:ahLst/>
              <a:cxnLst>
                <a:cxn ang="0">
                  <a:pos x="19" y="27"/>
                </a:cxn>
                <a:cxn ang="0">
                  <a:pos x="12" y="69"/>
                </a:cxn>
                <a:cxn ang="0">
                  <a:pos x="40" y="45"/>
                </a:cxn>
                <a:cxn ang="0">
                  <a:pos x="37" y="24"/>
                </a:cxn>
                <a:cxn ang="0">
                  <a:pos x="19" y="27"/>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w="0">
              <a:noFill/>
              <a:prstDash val="solid"/>
              <a:round/>
              <a:headEnd/>
              <a:tailEnd/>
            </a:ln>
          </p:spPr>
          <p:txBody>
            <a:bodyPr/>
            <a:lstStyle/>
            <a:p>
              <a:pPr>
                <a:defRPr/>
              </a:pPr>
              <a:endParaRPr lang="zh-CN" altLang="en-US"/>
            </a:p>
          </p:txBody>
        </p:sp>
        <p:sp>
          <p:nvSpPr>
            <p:cNvPr id="10" name="Freeform 8"/>
            <p:cNvSpPr>
              <a:spLocks/>
            </p:cNvSpPr>
            <p:nvPr/>
          </p:nvSpPr>
          <p:spPr bwMode="auto">
            <a:xfrm>
              <a:off x="3272" y="645"/>
              <a:ext cx="679" cy="318"/>
            </a:xfrm>
            <a:custGeom>
              <a:avLst/>
              <a:gdLst/>
              <a:ahLst/>
              <a:cxnLst>
                <a:cxn ang="0">
                  <a:pos x="112" y="4"/>
                </a:cxn>
                <a:cxn ang="0">
                  <a:pos x="24" y="4"/>
                </a:cxn>
                <a:cxn ang="0">
                  <a:pos x="2" y="25"/>
                </a:cxn>
                <a:cxn ang="0">
                  <a:pos x="60" y="58"/>
                </a:cxn>
                <a:cxn ang="0">
                  <a:pos x="96" y="54"/>
                </a:cxn>
                <a:cxn ang="0">
                  <a:pos x="113" y="53"/>
                </a:cxn>
                <a:cxn ang="0">
                  <a:pos x="112" y="4"/>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w="0">
              <a:noFill/>
              <a:prstDash val="solid"/>
              <a:round/>
              <a:headEnd/>
              <a:tailEnd/>
            </a:ln>
          </p:spPr>
          <p:txBody>
            <a:bodyPr/>
            <a:lstStyle/>
            <a:p>
              <a:pPr>
                <a:defRPr/>
              </a:pPr>
              <a:endParaRPr lang="zh-CN" altLang="en-US"/>
            </a:p>
          </p:txBody>
        </p:sp>
        <p:sp>
          <p:nvSpPr>
            <p:cNvPr id="11" name="Freeform 9"/>
            <p:cNvSpPr>
              <a:spLocks/>
            </p:cNvSpPr>
            <p:nvPr/>
          </p:nvSpPr>
          <p:spPr bwMode="auto">
            <a:xfrm>
              <a:off x="4046" y="1545"/>
              <a:ext cx="494" cy="516"/>
            </a:xfrm>
            <a:custGeom>
              <a:avLst/>
              <a:gdLst/>
              <a:ahLst/>
              <a:cxnLst>
                <a:cxn ang="0">
                  <a:pos x="67" y="5"/>
                </a:cxn>
                <a:cxn ang="0">
                  <a:pos x="31" y="5"/>
                </a:cxn>
                <a:cxn ang="0">
                  <a:pos x="12" y="57"/>
                </a:cxn>
                <a:cxn ang="0">
                  <a:pos x="79" y="62"/>
                </a:cxn>
                <a:cxn ang="0">
                  <a:pos x="67" y="5"/>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w="0">
              <a:noFill/>
              <a:prstDash val="solid"/>
              <a:round/>
              <a:headEnd/>
              <a:tailEnd/>
            </a:ln>
          </p:spPr>
          <p:txBody>
            <a:bodyPr/>
            <a:lstStyle/>
            <a:p>
              <a:pPr>
                <a:defRPr/>
              </a:pPr>
              <a:endParaRPr lang="zh-CN" altLang="en-US"/>
            </a:p>
          </p:txBody>
        </p:sp>
        <p:sp>
          <p:nvSpPr>
            <p:cNvPr id="12" name="Freeform 10"/>
            <p:cNvSpPr>
              <a:spLocks/>
            </p:cNvSpPr>
            <p:nvPr/>
          </p:nvSpPr>
          <p:spPr bwMode="auto">
            <a:xfrm>
              <a:off x="5173" y="1024"/>
              <a:ext cx="501" cy="96"/>
            </a:xfrm>
            <a:custGeom>
              <a:avLst/>
              <a:gdLst/>
              <a:ahLst/>
              <a:cxnLst>
                <a:cxn ang="0">
                  <a:pos x="15" y="0"/>
                </a:cxn>
                <a:cxn ang="0">
                  <a:pos x="40" y="15"/>
                </a:cxn>
                <a:cxn ang="0">
                  <a:pos x="15" y="0"/>
                </a:cxn>
              </a:cxnLst>
              <a:rect l="0" t="0" r="r" b="b"/>
              <a:pathLst>
                <a:path w="99" h="19">
                  <a:moveTo>
                    <a:pt x="15" y="0"/>
                  </a:moveTo>
                  <a:cubicBezTo>
                    <a:pt x="0" y="0"/>
                    <a:pt x="19" y="19"/>
                    <a:pt x="40" y="15"/>
                  </a:cubicBezTo>
                  <a:cubicBezTo>
                    <a:pt x="99" y="1"/>
                    <a:pt x="15" y="0"/>
                    <a:pt x="15" y="0"/>
                  </a:cubicBezTo>
                  <a:close/>
                </a:path>
              </a:pathLst>
            </a:custGeom>
            <a:solidFill>
              <a:schemeClr val="bg1"/>
            </a:solidFill>
            <a:ln w="0">
              <a:noFill/>
              <a:prstDash val="solid"/>
              <a:round/>
              <a:headEnd/>
              <a:tailEnd/>
            </a:ln>
          </p:spPr>
          <p:txBody>
            <a:bodyPr/>
            <a:lstStyle/>
            <a:p>
              <a:pPr>
                <a:defRPr/>
              </a:pPr>
              <a:endParaRPr lang="zh-CN" altLang="en-US"/>
            </a:p>
          </p:txBody>
        </p:sp>
        <p:sp>
          <p:nvSpPr>
            <p:cNvPr id="13" name="Freeform 11"/>
            <p:cNvSpPr>
              <a:spLocks/>
            </p:cNvSpPr>
            <p:nvPr/>
          </p:nvSpPr>
          <p:spPr bwMode="auto">
            <a:xfrm>
              <a:off x="5340" y="1004"/>
              <a:ext cx="385" cy="237"/>
            </a:xfrm>
            <a:custGeom>
              <a:avLst/>
              <a:gdLst/>
              <a:ahLst/>
              <a:cxnLst>
                <a:cxn ang="0">
                  <a:pos x="21" y="37"/>
                </a:cxn>
                <a:cxn ang="0">
                  <a:pos x="70" y="17"/>
                </a:cxn>
                <a:cxn ang="0">
                  <a:pos x="48" y="3"/>
                </a:cxn>
                <a:cxn ang="0">
                  <a:pos x="19" y="32"/>
                </a:cxn>
                <a:cxn ang="0">
                  <a:pos x="21" y="37"/>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w="0">
              <a:noFill/>
              <a:prstDash val="solid"/>
              <a:round/>
              <a:headEnd/>
              <a:tailEnd/>
            </a:ln>
          </p:spPr>
          <p:txBody>
            <a:bodyPr/>
            <a:lstStyle/>
            <a:p>
              <a:pPr>
                <a:defRPr/>
              </a:pPr>
              <a:endParaRPr lang="zh-CN" altLang="en-US"/>
            </a:p>
          </p:txBody>
        </p:sp>
        <p:sp>
          <p:nvSpPr>
            <p:cNvPr id="14" name="Freeform 12"/>
            <p:cNvSpPr>
              <a:spLocks/>
            </p:cNvSpPr>
            <p:nvPr/>
          </p:nvSpPr>
          <p:spPr bwMode="auto">
            <a:xfrm>
              <a:off x="5325" y="1201"/>
              <a:ext cx="415" cy="187"/>
            </a:xfrm>
            <a:custGeom>
              <a:avLst/>
              <a:gdLst/>
              <a:ahLst/>
              <a:cxnLst>
                <a:cxn ang="0">
                  <a:pos x="72" y="6"/>
                </a:cxn>
                <a:cxn ang="0">
                  <a:pos x="24" y="17"/>
                </a:cxn>
                <a:cxn ang="0">
                  <a:pos x="17" y="26"/>
                </a:cxn>
                <a:cxn ang="0">
                  <a:pos x="76" y="23"/>
                </a:cxn>
                <a:cxn ang="0">
                  <a:pos x="82" y="20"/>
                </a:cxn>
                <a:cxn ang="0">
                  <a:pos x="82" y="0"/>
                </a:cxn>
                <a:cxn ang="0">
                  <a:pos x="72" y="6"/>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w="0">
              <a:noFill/>
              <a:prstDash val="solid"/>
              <a:round/>
              <a:headEnd/>
              <a:tailEnd/>
            </a:ln>
          </p:spPr>
          <p:txBody>
            <a:bodyPr/>
            <a:lstStyle/>
            <a:p>
              <a:pPr>
                <a:defRPr/>
              </a:pPr>
              <a:endParaRPr lang="zh-CN" altLang="en-US"/>
            </a:p>
          </p:txBody>
        </p:sp>
        <p:sp>
          <p:nvSpPr>
            <p:cNvPr id="15" name="Freeform 13"/>
            <p:cNvSpPr>
              <a:spLocks/>
            </p:cNvSpPr>
            <p:nvPr/>
          </p:nvSpPr>
          <p:spPr bwMode="auto">
            <a:xfrm>
              <a:off x="5001" y="1378"/>
              <a:ext cx="698" cy="167"/>
            </a:xfrm>
            <a:custGeom>
              <a:avLst/>
              <a:gdLst/>
              <a:ahLst/>
              <a:cxnLst>
                <a:cxn ang="0">
                  <a:pos x="21" y="1"/>
                </a:cxn>
                <a:cxn ang="0">
                  <a:pos x="8" y="14"/>
                </a:cxn>
                <a:cxn ang="0">
                  <a:pos x="57" y="22"/>
                </a:cxn>
                <a:cxn ang="0">
                  <a:pos x="117" y="23"/>
                </a:cxn>
                <a:cxn ang="0">
                  <a:pos x="114" y="8"/>
                </a:cxn>
                <a:cxn ang="0">
                  <a:pos x="82" y="3"/>
                </a:cxn>
                <a:cxn ang="0">
                  <a:pos x="21" y="1"/>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w="0">
              <a:noFill/>
              <a:prstDash val="solid"/>
              <a:round/>
              <a:headEnd/>
              <a:tailEnd/>
            </a:ln>
          </p:spPr>
          <p:txBody>
            <a:bodyPr/>
            <a:lstStyle/>
            <a:p>
              <a:pPr>
                <a:defRPr/>
              </a:pPr>
              <a:endParaRPr lang="zh-CN" altLang="en-US"/>
            </a:p>
          </p:txBody>
        </p:sp>
        <p:sp>
          <p:nvSpPr>
            <p:cNvPr id="16" name="Freeform 14"/>
            <p:cNvSpPr>
              <a:spLocks/>
            </p:cNvSpPr>
            <p:nvPr/>
          </p:nvSpPr>
          <p:spPr bwMode="auto">
            <a:xfrm>
              <a:off x="5077" y="1540"/>
              <a:ext cx="567" cy="146"/>
            </a:xfrm>
            <a:custGeom>
              <a:avLst/>
              <a:gdLst/>
              <a:ahLst/>
              <a:cxnLst>
                <a:cxn ang="0">
                  <a:pos x="98" y="19"/>
                </a:cxn>
                <a:cxn ang="0">
                  <a:pos x="103" y="4"/>
                </a:cxn>
                <a:cxn ang="0">
                  <a:pos x="74" y="10"/>
                </a:cxn>
                <a:cxn ang="0">
                  <a:pos x="36" y="6"/>
                </a:cxn>
                <a:cxn ang="0">
                  <a:pos x="2" y="4"/>
                </a:cxn>
                <a:cxn ang="0">
                  <a:pos x="98" y="19"/>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w="0">
              <a:noFill/>
              <a:prstDash val="solid"/>
              <a:round/>
              <a:headEnd/>
              <a:tailEnd/>
            </a:ln>
          </p:spPr>
          <p:txBody>
            <a:bodyPr/>
            <a:lstStyle/>
            <a:p>
              <a:pPr>
                <a:defRPr/>
              </a:pPr>
              <a:endParaRPr lang="zh-CN" altLang="en-US"/>
            </a:p>
          </p:txBody>
        </p:sp>
        <p:sp>
          <p:nvSpPr>
            <p:cNvPr id="17" name="Freeform 15"/>
            <p:cNvSpPr>
              <a:spLocks/>
            </p:cNvSpPr>
            <p:nvPr/>
          </p:nvSpPr>
          <p:spPr bwMode="auto">
            <a:xfrm>
              <a:off x="5042" y="1656"/>
              <a:ext cx="584" cy="480"/>
            </a:xfrm>
            <a:custGeom>
              <a:avLst/>
              <a:gdLst/>
              <a:ahLst/>
              <a:cxnLst>
                <a:cxn ang="0">
                  <a:pos x="3" y="53"/>
                </a:cxn>
                <a:cxn ang="0">
                  <a:pos x="26" y="54"/>
                </a:cxn>
                <a:cxn ang="0">
                  <a:pos x="50" y="77"/>
                </a:cxn>
                <a:cxn ang="0">
                  <a:pos x="59" y="84"/>
                </a:cxn>
                <a:cxn ang="0">
                  <a:pos x="81" y="52"/>
                </a:cxn>
                <a:cxn ang="0">
                  <a:pos x="111" y="52"/>
                </a:cxn>
                <a:cxn ang="0">
                  <a:pos x="79" y="27"/>
                </a:cxn>
                <a:cxn ang="0">
                  <a:pos x="37" y="16"/>
                </a:cxn>
                <a:cxn ang="0">
                  <a:pos x="12" y="41"/>
                </a:cxn>
                <a:cxn ang="0">
                  <a:pos x="3" y="53"/>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w="0">
              <a:noFill/>
              <a:prstDash val="solid"/>
              <a:round/>
              <a:headEnd/>
              <a:tailEnd/>
            </a:ln>
          </p:spPr>
          <p:txBody>
            <a:bodyPr/>
            <a:lstStyle/>
            <a:p>
              <a:pPr>
                <a:defRPr/>
              </a:pPr>
              <a:endParaRPr lang="zh-CN" altLang="en-US"/>
            </a:p>
          </p:txBody>
        </p:sp>
        <p:sp>
          <p:nvSpPr>
            <p:cNvPr id="18" name="Freeform 16"/>
            <p:cNvSpPr>
              <a:spLocks/>
            </p:cNvSpPr>
            <p:nvPr/>
          </p:nvSpPr>
          <p:spPr bwMode="auto">
            <a:xfrm>
              <a:off x="5421" y="1464"/>
              <a:ext cx="329" cy="854"/>
            </a:xfrm>
            <a:custGeom>
              <a:avLst/>
              <a:gdLst/>
              <a:ahLst/>
              <a:cxnLst>
                <a:cxn ang="0">
                  <a:pos x="51" y="40"/>
                </a:cxn>
                <a:cxn ang="0">
                  <a:pos x="22" y="49"/>
                </a:cxn>
                <a:cxn ang="0">
                  <a:pos x="22" y="59"/>
                </a:cxn>
                <a:cxn ang="0">
                  <a:pos x="50" y="90"/>
                </a:cxn>
                <a:cxn ang="0">
                  <a:pos x="34" y="118"/>
                </a:cxn>
                <a:cxn ang="0">
                  <a:pos x="0" y="148"/>
                </a:cxn>
                <a:cxn ang="0">
                  <a:pos x="17" y="155"/>
                </a:cxn>
                <a:cxn ang="0">
                  <a:pos x="47" y="166"/>
                </a:cxn>
                <a:cxn ang="0">
                  <a:pos x="63" y="162"/>
                </a:cxn>
                <a:cxn ang="0">
                  <a:pos x="65" y="0"/>
                </a:cxn>
                <a:cxn ang="0">
                  <a:pos x="51" y="40"/>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w="0">
              <a:noFill/>
              <a:prstDash val="solid"/>
              <a:round/>
              <a:headEnd/>
              <a:tailEnd/>
            </a:ln>
          </p:spPr>
          <p:txBody>
            <a:bodyPr/>
            <a:lstStyle/>
            <a:p>
              <a:pPr>
                <a:defRPr/>
              </a:pPr>
              <a:endParaRPr lang="zh-CN" altLang="en-US"/>
            </a:p>
          </p:txBody>
        </p:sp>
      </p:grpSp>
      <p:grpSp>
        <p:nvGrpSpPr>
          <p:cNvPr id="19" name="Group 17"/>
          <p:cNvGrpSpPr>
            <a:grpSpLocks/>
          </p:cNvGrpSpPr>
          <p:nvPr/>
        </p:nvGrpSpPr>
        <p:grpSpPr bwMode="auto">
          <a:xfrm>
            <a:off x="554038" y="36513"/>
            <a:ext cx="7891462" cy="6821487"/>
            <a:chOff x="349" y="23"/>
            <a:chExt cx="4971" cy="4297"/>
          </a:xfrm>
        </p:grpSpPr>
        <p:sp>
          <p:nvSpPr>
            <p:cNvPr id="20" name="Rectangle 18"/>
            <p:cNvSpPr>
              <a:spLocks noChangeArrowheads="1"/>
            </p:cNvSpPr>
            <p:nvPr/>
          </p:nvSpPr>
          <p:spPr bwMode="auto">
            <a:xfrm>
              <a:off x="384" y="23"/>
              <a:ext cx="21"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21" name="Freeform 19"/>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2" name="Freeform 20"/>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3" name="Freeform 21"/>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4" name="Freeform 22"/>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5" name="Freeform 23"/>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6" name="Freeform 24"/>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7" name="Freeform 25"/>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8" name="Freeform 26"/>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29" name="Freeform 27"/>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0" name="Freeform 28"/>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1" name="Rectangle 29"/>
            <p:cNvSpPr>
              <a:spLocks noChangeArrowheads="1"/>
            </p:cNvSpPr>
            <p:nvPr/>
          </p:nvSpPr>
          <p:spPr bwMode="auto">
            <a:xfrm>
              <a:off x="384" y="4269"/>
              <a:ext cx="21"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32" name="Rectangle 30"/>
            <p:cNvSpPr>
              <a:spLocks noChangeArrowheads="1"/>
            </p:cNvSpPr>
            <p:nvPr/>
          </p:nvSpPr>
          <p:spPr bwMode="auto">
            <a:xfrm>
              <a:off x="829" y="23"/>
              <a:ext cx="21"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33" name="Freeform 31"/>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4" name="Freeform 32"/>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5" name="Freeform 33"/>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6" name="Freeform 34"/>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7" name="Freeform 35"/>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8" name="Freeform 36"/>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39" name="Freeform 37"/>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0" name="Freeform 38"/>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1" name="Freeform 39"/>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2" name="Freeform 40"/>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3" name="Rectangle 41"/>
            <p:cNvSpPr>
              <a:spLocks noChangeArrowheads="1"/>
            </p:cNvSpPr>
            <p:nvPr/>
          </p:nvSpPr>
          <p:spPr bwMode="auto">
            <a:xfrm>
              <a:off x="829" y="4269"/>
              <a:ext cx="21"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44" name="Rectangle 42"/>
            <p:cNvSpPr>
              <a:spLocks noChangeArrowheads="1"/>
            </p:cNvSpPr>
            <p:nvPr/>
          </p:nvSpPr>
          <p:spPr bwMode="auto">
            <a:xfrm>
              <a:off x="1279" y="23"/>
              <a:ext cx="21"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45" name="Freeform 43"/>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6" name="Freeform 44"/>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7" name="Freeform 45"/>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8" name="Freeform 46"/>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49" name="Freeform 47"/>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0" name="Freeform 48"/>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1" name="Freeform 49"/>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2" name="Freeform 50"/>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3" name="Freeform 51"/>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4" name="Freeform 52"/>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5" name="Rectangle 53"/>
            <p:cNvSpPr>
              <a:spLocks noChangeArrowheads="1"/>
            </p:cNvSpPr>
            <p:nvPr/>
          </p:nvSpPr>
          <p:spPr bwMode="auto">
            <a:xfrm>
              <a:off x="1279" y="4269"/>
              <a:ext cx="21"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56" name="Rectangle 54"/>
            <p:cNvSpPr>
              <a:spLocks noChangeArrowheads="1"/>
            </p:cNvSpPr>
            <p:nvPr/>
          </p:nvSpPr>
          <p:spPr bwMode="auto">
            <a:xfrm>
              <a:off x="1724" y="23"/>
              <a:ext cx="21"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57" name="Freeform 55"/>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8" name="Freeform 56"/>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59" name="Freeform 57"/>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0" name="Freeform 58"/>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1" name="Freeform 59"/>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2" name="Freeform 60"/>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3" name="Freeform 61"/>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4" name="Freeform 62"/>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5" name="Freeform 63"/>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6" name="Freeform 64"/>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67" name="Rectangle 65"/>
            <p:cNvSpPr>
              <a:spLocks noChangeArrowheads="1"/>
            </p:cNvSpPr>
            <p:nvPr/>
          </p:nvSpPr>
          <p:spPr bwMode="auto">
            <a:xfrm>
              <a:off x="1724" y="4269"/>
              <a:ext cx="21"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68" name="Rectangle 66"/>
            <p:cNvSpPr>
              <a:spLocks noChangeArrowheads="1"/>
            </p:cNvSpPr>
            <p:nvPr/>
          </p:nvSpPr>
          <p:spPr bwMode="auto">
            <a:xfrm>
              <a:off x="2169" y="23"/>
              <a:ext cx="21"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69" name="Freeform 67"/>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0" name="Freeform 68"/>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1" name="Freeform 69"/>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2" name="Freeform 70"/>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3" name="Freeform 71"/>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4" name="Freeform 72"/>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5" name="Freeform 73"/>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6" name="Freeform 74"/>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7" name="Freeform 75"/>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8" name="Freeform 76"/>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79" name="Rectangle 77"/>
            <p:cNvSpPr>
              <a:spLocks noChangeArrowheads="1"/>
            </p:cNvSpPr>
            <p:nvPr/>
          </p:nvSpPr>
          <p:spPr bwMode="auto">
            <a:xfrm>
              <a:off x="2169" y="4269"/>
              <a:ext cx="21"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80" name="Rectangle 78"/>
            <p:cNvSpPr>
              <a:spLocks noChangeArrowheads="1"/>
            </p:cNvSpPr>
            <p:nvPr/>
          </p:nvSpPr>
          <p:spPr bwMode="auto">
            <a:xfrm>
              <a:off x="2620"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81" name="Freeform 79"/>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2" name="Freeform 80"/>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3" name="Freeform 81"/>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4" name="Freeform 82"/>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5" name="Freeform 83"/>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6" name="Freeform 84"/>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7" name="Freeform 85"/>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8" name="Freeform 86"/>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89" name="Freeform 87"/>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0" name="Freeform 88"/>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1" name="Rectangle 89"/>
            <p:cNvSpPr>
              <a:spLocks noChangeArrowheads="1"/>
            </p:cNvSpPr>
            <p:nvPr/>
          </p:nvSpPr>
          <p:spPr bwMode="auto">
            <a:xfrm>
              <a:off x="2620"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92" name="Rectangle 90"/>
            <p:cNvSpPr>
              <a:spLocks noChangeArrowheads="1"/>
            </p:cNvSpPr>
            <p:nvPr/>
          </p:nvSpPr>
          <p:spPr bwMode="auto">
            <a:xfrm>
              <a:off x="3065"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93" name="Freeform 91"/>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4" name="Freeform 92"/>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5" name="Freeform 93"/>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6" name="Freeform 94"/>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7" name="Freeform 95"/>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8" name="Freeform 96"/>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99" name="Freeform 97"/>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0" name="Freeform 98"/>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1" name="Freeform 99"/>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2" name="Freeform 100"/>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3" name="Rectangle 101"/>
            <p:cNvSpPr>
              <a:spLocks noChangeArrowheads="1"/>
            </p:cNvSpPr>
            <p:nvPr/>
          </p:nvSpPr>
          <p:spPr bwMode="auto">
            <a:xfrm>
              <a:off x="3065"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04" name="Rectangle 102"/>
            <p:cNvSpPr>
              <a:spLocks noChangeArrowheads="1"/>
            </p:cNvSpPr>
            <p:nvPr/>
          </p:nvSpPr>
          <p:spPr bwMode="auto">
            <a:xfrm>
              <a:off x="3510"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05" name="Freeform 103"/>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6" name="Freeform 104"/>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7" name="Freeform 105"/>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8" name="Freeform 106"/>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09" name="Freeform 107"/>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0" name="Freeform 108"/>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1" name="Freeform 109"/>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2" name="Freeform 110"/>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3" name="Freeform 111"/>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4" name="Freeform 112"/>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5" name="Rectangle 113"/>
            <p:cNvSpPr>
              <a:spLocks noChangeArrowheads="1"/>
            </p:cNvSpPr>
            <p:nvPr/>
          </p:nvSpPr>
          <p:spPr bwMode="auto">
            <a:xfrm>
              <a:off x="3510"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16" name="Rectangle 114"/>
            <p:cNvSpPr>
              <a:spLocks noChangeArrowheads="1"/>
            </p:cNvSpPr>
            <p:nvPr/>
          </p:nvSpPr>
          <p:spPr bwMode="auto">
            <a:xfrm>
              <a:off x="3960"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17" name="Freeform 115"/>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8" name="Freeform 116"/>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19" name="Freeform 117"/>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0" name="Freeform 118"/>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1" name="Freeform 119"/>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2" name="Freeform 120"/>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3" name="Freeform 121"/>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4" name="Freeform 122"/>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5" name="Freeform 123"/>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6" name="Freeform 124"/>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27" name="Rectangle 125"/>
            <p:cNvSpPr>
              <a:spLocks noChangeArrowheads="1"/>
            </p:cNvSpPr>
            <p:nvPr/>
          </p:nvSpPr>
          <p:spPr bwMode="auto">
            <a:xfrm>
              <a:off x="3960"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28" name="Rectangle 126"/>
            <p:cNvSpPr>
              <a:spLocks noChangeArrowheads="1"/>
            </p:cNvSpPr>
            <p:nvPr/>
          </p:nvSpPr>
          <p:spPr bwMode="auto">
            <a:xfrm>
              <a:off x="4405"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29" name="Freeform 127"/>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0" name="Freeform 128"/>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1" name="Freeform 129"/>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2" name="Freeform 130"/>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3" name="Freeform 131"/>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4" name="Freeform 132"/>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5" name="Freeform 133"/>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6" name="Freeform 134"/>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7" name="Freeform 135"/>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8" name="Freeform 136"/>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39" name="Rectangle 137"/>
            <p:cNvSpPr>
              <a:spLocks noChangeArrowheads="1"/>
            </p:cNvSpPr>
            <p:nvPr/>
          </p:nvSpPr>
          <p:spPr bwMode="auto">
            <a:xfrm>
              <a:off x="4405"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40" name="Rectangle 138"/>
            <p:cNvSpPr>
              <a:spLocks noChangeArrowheads="1"/>
            </p:cNvSpPr>
            <p:nvPr/>
          </p:nvSpPr>
          <p:spPr bwMode="auto">
            <a:xfrm>
              <a:off x="4850"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41" name="Freeform 139"/>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2" name="Freeform 140"/>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3" name="Freeform 141"/>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4" name="Freeform 142"/>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5" name="Freeform 143"/>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6" name="Freeform 144"/>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7" name="Freeform 145"/>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8" name="Freeform 146"/>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49" name="Freeform 147"/>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0" name="Freeform 148"/>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1" name="Rectangle 149"/>
            <p:cNvSpPr>
              <a:spLocks noChangeArrowheads="1"/>
            </p:cNvSpPr>
            <p:nvPr/>
          </p:nvSpPr>
          <p:spPr bwMode="auto">
            <a:xfrm>
              <a:off x="4850"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52" name="Rectangle 150"/>
            <p:cNvSpPr>
              <a:spLocks noChangeArrowheads="1"/>
            </p:cNvSpPr>
            <p:nvPr/>
          </p:nvSpPr>
          <p:spPr bwMode="auto">
            <a:xfrm>
              <a:off x="5300" y="23"/>
              <a:ext cx="20" cy="10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53" name="Freeform 151"/>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4" name="Freeform 152"/>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5" name="Freeform 153"/>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6" name="Freeform 154"/>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7" name="Freeform 155"/>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8" name="Freeform 156"/>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59" name="Freeform 157"/>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60" name="Freeform 158"/>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61" name="Freeform 159"/>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62" name="Freeform 160"/>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w="0">
              <a:noFill/>
              <a:prstDash val="solid"/>
              <a:round/>
              <a:headEnd/>
              <a:tailEnd/>
            </a:ln>
          </p:spPr>
          <p:txBody>
            <a:bodyPr/>
            <a:lstStyle/>
            <a:p>
              <a:pPr>
                <a:defRPr/>
              </a:pPr>
              <a:endParaRPr lang="zh-CN" altLang="en-US"/>
            </a:p>
          </p:txBody>
        </p:sp>
        <p:sp>
          <p:nvSpPr>
            <p:cNvPr id="163" name="Rectangle 161"/>
            <p:cNvSpPr>
              <a:spLocks noChangeArrowheads="1"/>
            </p:cNvSpPr>
            <p:nvPr/>
          </p:nvSpPr>
          <p:spPr bwMode="auto">
            <a:xfrm>
              <a:off x="5300" y="4269"/>
              <a:ext cx="20" cy="51"/>
            </a:xfrm>
            <a:prstGeom prst="rect">
              <a:avLst/>
            </a:prstGeom>
            <a:solidFill>
              <a:schemeClr val="bg2">
                <a:alpha val="50000"/>
              </a:schemeClr>
            </a:solidFill>
            <a:ln w="0">
              <a:noFill/>
              <a:miter lim="800000"/>
              <a:headEnd/>
              <a:tailEnd/>
            </a:ln>
          </p:spPr>
          <p:txBody>
            <a:bodyPr/>
            <a:lstStyle/>
            <a:p>
              <a:pPr>
                <a:defRPr/>
              </a:pPr>
              <a:endParaRPr lang="zh-CN" altLang="en-US"/>
            </a:p>
          </p:txBody>
        </p:sp>
        <p:sp>
          <p:nvSpPr>
            <p:cNvPr id="164" name="Freeform 162"/>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50000"/>
              </a:schemeClr>
            </a:solidFill>
            <a:ln w="0">
              <a:noFill/>
              <a:prstDash val="solid"/>
              <a:round/>
              <a:headEnd/>
              <a:tailEnd/>
            </a:ln>
          </p:spPr>
          <p:txBody>
            <a:bodyPr/>
            <a:lstStyle/>
            <a:p>
              <a:pPr>
                <a:defRPr/>
              </a:pPr>
              <a:endParaRPr lang="zh-CN" altLang="en-US"/>
            </a:p>
          </p:txBody>
        </p:sp>
      </p:grpSp>
      <p:grpSp>
        <p:nvGrpSpPr>
          <p:cNvPr id="165" name="Group 168"/>
          <p:cNvGrpSpPr>
            <a:grpSpLocks/>
          </p:cNvGrpSpPr>
          <p:nvPr/>
        </p:nvGrpSpPr>
        <p:grpSpPr bwMode="auto">
          <a:xfrm>
            <a:off x="152400" y="4724400"/>
            <a:ext cx="1685925" cy="1557338"/>
            <a:chOff x="96" y="2784"/>
            <a:chExt cx="1062" cy="981"/>
          </a:xfrm>
        </p:grpSpPr>
        <p:sp>
          <p:nvSpPr>
            <p:cNvPr id="166" name="Freeform 169"/>
            <p:cNvSpPr>
              <a:spLocks/>
            </p:cNvSpPr>
            <p:nvPr userDrawn="1"/>
          </p:nvSpPr>
          <p:spPr bwMode="auto">
            <a:xfrm>
              <a:off x="121" y="2784"/>
              <a:ext cx="207" cy="81"/>
            </a:xfrm>
            <a:custGeom>
              <a:avLst/>
              <a:gdLst/>
              <a:ahLst/>
              <a:cxnLst>
                <a:cxn ang="0">
                  <a:pos x="30" y="12"/>
                </a:cxn>
                <a:cxn ang="0">
                  <a:pos x="37" y="10"/>
                </a:cxn>
                <a:cxn ang="0">
                  <a:pos x="38" y="9"/>
                </a:cxn>
                <a:cxn ang="0">
                  <a:pos x="31" y="1"/>
                </a:cxn>
                <a:cxn ang="0">
                  <a:pos x="8" y="11"/>
                </a:cxn>
                <a:cxn ang="0">
                  <a:pos x="30" y="12"/>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w="0">
              <a:noFill/>
              <a:prstDash val="solid"/>
              <a:round/>
              <a:headEnd/>
              <a:tailEnd/>
            </a:ln>
          </p:spPr>
          <p:txBody>
            <a:bodyPr/>
            <a:lstStyle/>
            <a:p>
              <a:pPr>
                <a:defRPr/>
              </a:pPr>
              <a:endParaRPr lang="zh-CN" altLang="en-US"/>
            </a:p>
          </p:txBody>
        </p:sp>
        <p:sp>
          <p:nvSpPr>
            <p:cNvPr id="167" name="Freeform 170"/>
            <p:cNvSpPr>
              <a:spLocks noEditPoints="1"/>
            </p:cNvSpPr>
            <p:nvPr userDrawn="1"/>
          </p:nvSpPr>
          <p:spPr bwMode="auto">
            <a:xfrm>
              <a:off x="96" y="2789"/>
              <a:ext cx="1062" cy="976"/>
            </a:xfrm>
            <a:custGeom>
              <a:avLst/>
              <a:gdLst/>
              <a:ahLst/>
              <a:cxnLst>
                <a:cxn ang="0">
                  <a:pos x="163" y="155"/>
                </a:cxn>
                <a:cxn ang="0">
                  <a:pos x="152" y="125"/>
                </a:cxn>
                <a:cxn ang="0">
                  <a:pos x="142" y="99"/>
                </a:cxn>
                <a:cxn ang="0">
                  <a:pos x="165" y="93"/>
                </a:cxn>
                <a:cxn ang="0">
                  <a:pos x="146" y="82"/>
                </a:cxn>
                <a:cxn ang="0">
                  <a:pos x="157" y="83"/>
                </a:cxn>
                <a:cxn ang="0">
                  <a:pos x="157" y="77"/>
                </a:cxn>
                <a:cxn ang="0">
                  <a:pos x="135" y="78"/>
                </a:cxn>
                <a:cxn ang="0">
                  <a:pos x="128" y="125"/>
                </a:cxn>
                <a:cxn ang="0">
                  <a:pos x="124" y="84"/>
                </a:cxn>
                <a:cxn ang="0">
                  <a:pos x="118" y="67"/>
                </a:cxn>
                <a:cxn ang="0">
                  <a:pos x="124" y="51"/>
                </a:cxn>
                <a:cxn ang="0">
                  <a:pos x="121" y="37"/>
                </a:cxn>
                <a:cxn ang="0">
                  <a:pos x="119" y="24"/>
                </a:cxn>
                <a:cxn ang="0">
                  <a:pos x="132" y="39"/>
                </a:cxn>
                <a:cxn ang="0">
                  <a:pos x="149" y="18"/>
                </a:cxn>
                <a:cxn ang="0">
                  <a:pos x="147" y="36"/>
                </a:cxn>
                <a:cxn ang="0">
                  <a:pos x="143" y="48"/>
                </a:cxn>
                <a:cxn ang="0">
                  <a:pos x="144" y="67"/>
                </a:cxn>
                <a:cxn ang="0">
                  <a:pos x="199" y="29"/>
                </a:cxn>
                <a:cxn ang="0">
                  <a:pos x="90" y="1"/>
                </a:cxn>
                <a:cxn ang="0">
                  <a:pos x="56" y="8"/>
                </a:cxn>
                <a:cxn ang="0">
                  <a:pos x="85" y="12"/>
                </a:cxn>
                <a:cxn ang="0">
                  <a:pos x="60" y="22"/>
                </a:cxn>
                <a:cxn ang="0">
                  <a:pos x="58" y="29"/>
                </a:cxn>
                <a:cxn ang="0">
                  <a:pos x="38" y="17"/>
                </a:cxn>
                <a:cxn ang="0">
                  <a:pos x="13" y="115"/>
                </a:cxn>
                <a:cxn ang="0">
                  <a:pos x="61" y="146"/>
                </a:cxn>
                <a:cxn ang="0">
                  <a:pos x="45" y="133"/>
                </a:cxn>
                <a:cxn ang="0">
                  <a:pos x="35" y="145"/>
                </a:cxn>
                <a:cxn ang="0">
                  <a:pos x="32" y="128"/>
                </a:cxn>
                <a:cxn ang="0">
                  <a:pos x="46" y="86"/>
                </a:cxn>
                <a:cxn ang="0">
                  <a:pos x="67" y="83"/>
                </a:cxn>
                <a:cxn ang="0">
                  <a:pos x="71" y="95"/>
                </a:cxn>
                <a:cxn ang="0">
                  <a:pos x="61" y="121"/>
                </a:cxn>
                <a:cxn ang="0">
                  <a:pos x="91" y="180"/>
                </a:cxn>
                <a:cxn ang="0">
                  <a:pos x="186" y="166"/>
                </a:cxn>
                <a:cxn ang="0">
                  <a:pos x="182" y="66"/>
                </a:cxn>
                <a:cxn ang="0">
                  <a:pos x="165" y="60"/>
                </a:cxn>
                <a:cxn ang="0">
                  <a:pos x="113" y="61"/>
                </a:cxn>
                <a:cxn ang="0">
                  <a:pos x="108" y="87"/>
                </a:cxn>
                <a:cxn ang="0">
                  <a:pos x="114" y="50"/>
                </a:cxn>
                <a:cxn ang="0">
                  <a:pos x="89" y="26"/>
                </a:cxn>
                <a:cxn ang="0">
                  <a:pos x="105" y="35"/>
                </a:cxn>
                <a:cxn ang="0">
                  <a:pos x="61" y="72"/>
                </a:cxn>
                <a:cxn ang="0">
                  <a:pos x="24" y="37"/>
                </a:cxn>
                <a:cxn ang="0">
                  <a:pos x="68" y="40"/>
                </a:cxn>
                <a:cxn ang="0">
                  <a:pos x="79" y="40"/>
                </a:cxn>
                <a:cxn ang="0">
                  <a:pos x="108" y="45"/>
                </a:cxn>
                <a:cxn ang="0">
                  <a:pos x="99" y="93"/>
                </a:cxn>
                <a:cxn ang="0">
                  <a:pos x="93" y="51"/>
                </a:cxn>
                <a:cxn ang="0">
                  <a:pos x="61" y="72"/>
                </a:cxn>
                <a:cxn ang="0">
                  <a:pos x="80" y="82"/>
                </a:cxn>
                <a:cxn ang="0">
                  <a:pos x="88" y="58"/>
                </a:cxn>
                <a:cxn ang="0">
                  <a:pos x="102" y="145"/>
                </a:cxn>
                <a:cxn ang="0">
                  <a:pos x="82" y="96"/>
                </a:cxn>
                <a:cxn ang="0">
                  <a:pos x="117" y="106"/>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w="0">
              <a:noFill/>
              <a:prstDash val="solid"/>
              <a:round/>
              <a:headEnd/>
              <a:tailEnd/>
            </a:ln>
          </p:spPr>
          <p:txBody>
            <a:bodyPr/>
            <a:lstStyle/>
            <a:p>
              <a:pPr>
                <a:defRPr/>
              </a:pPr>
              <a:endParaRPr lang="zh-CN" altLang="en-US"/>
            </a:p>
          </p:txBody>
        </p:sp>
        <p:sp>
          <p:nvSpPr>
            <p:cNvPr id="168" name="Freeform 171"/>
            <p:cNvSpPr>
              <a:spLocks/>
            </p:cNvSpPr>
            <p:nvPr userDrawn="1"/>
          </p:nvSpPr>
          <p:spPr bwMode="auto">
            <a:xfrm>
              <a:off x="348" y="3254"/>
              <a:ext cx="86" cy="102"/>
            </a:xfrm>
            <a:custGeom>
              <a:avLst/>
              <a:gdLst/>
              <a:ahLst/>
              <a:cxnLst>
                <a:cxn ang="0">
                  <a:pos x="14" y="5"/>
                </a:cxn>
                <a:cxn ang="0">
                  <a:pos x="9" y="20"/>
                </a:cxn>
                <a:cxn ang="0">
                  <a:pos x="14" y="5"/>
                </a:cxn>
              </a:cxnLst>
              <a:rect l="0" t="0" r="r" b="b"/>
              <a:pathLst>
                <a:path w="17" h="20">
                  <a:moveTo>
                    <a:pt x="14" y="5"/>
                  </a:moveTo>
                  <a:cubicBezTo>
                    <a:pt x="13" y="0"/>
                    <a:pt x="0" y="8"/>
                    <a:pt x="9" y="20"/>
                  </a:cubicBezTo>
                  <a:cubicBezTo>
                    <a:pt x="9" y="20"/>
                    <a:pt x="17" y="17"/>
                    <a:pt x="14" y="5"/>
                  </a:cubicBezTo>
                  <a:close/>
                </a:path>
              </a:pathLst>
            </a:custGeom>
            <a:solidFill>
              <a:schemeClr val="folHlink"/>
            </a:solidFill>
            <a:ln w="0">
              <a:noFill/>
              <a:prstDash val="solid"/>
              <a:round/>
              <a:headEnd/>
              <a:tailEnd/>
            </a:ln>
          </p:spPr>
          <p:txBody>
            <a:bodyPr/>
            <a:lstStyle/>
            <a:p>
              <a:pPr>
                <a:defRPr/>
              </a:pPr>
              <a:endParaRPr lang="zh-CN" altLang="en-US"/>
            </a:p>
          </p:txBody>
        </p:sp>
        <p:sp>
          <p:nvSpPr>
            <p:cNvPr id="169" name="Freeform 172"/>
            <p:cNvSpPr>
              <a:spLocks/>
            </p:cNvSpPr>
            <p:nvPr userDrawn="1"/>
          </p:nvSpPr>
          <p:spPr bwMode="auto">
            <a:xfrm>
              <a:off x="267" y="3295"/>
              <a:ext cx="76" cy="136"/>
            </a:xfrm>
            <a:custGeom>
              <a:avLst/>
              <a:gdLst/>
              <a:ahLst/>
              <a:cxnLst>
                <a:cxn ang="0">
                  <a:pos x="7" y="10"/>
                </a:cxn>
                <a:cxn ang="0">
                  <a:pos x="4" y="25"/>
                </a:cxn>
                <a:cxn ang="0">
                  <a:pos x="15" y="16"/>
                </a:cxn>
                <a:cxn ang="0">
                  <a:pos x="13" y="8"/>
                </a:cxn>
                <a:cxn ang="0">
                  <a:pos x="7" y="10"/>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w="0">
              <a:noFill/>
              <a:prstDash val="solid"/>
              <a:round/>
              <a:headEnd/>
              <a:tailEnd/>
            </a:ln>
          </p:spPr>
          <p:txBody>
            <a:bodyPr/>
            <a:lstStyle/>
            <a:p>
              <a:pPr>
                <a:defRPr/>
              </a:pPr>
              <a:endParaRPr lang="zh-CN" altLang="en-US"/>
            </a:p>
          </p:txBody>
        </p:sp>
        <p:sp>
          <p:nvSpPr>
            <p:cNvPr id="170" name="Freeform 173"/>
            <p:cNvSpPr>
              <a:spLocks/>
            </p:cNvSpPr>
            <p:nvPr userDrawn="1"/>
          </p:nvSpPr>
          <p:spPr bwMode="auto">
            <a:xfrm>
              <a:off x="222" y="3022"/>
              <a:ext cx="243" cy="116"/>
            </a:xfrm>
            <a:custGeom>
              <a:avLst/>
              <a:gdLst/>
              <a:ahLst/>
              <a:cxnLst>
                <a:cxn ang="0">
                  <a:pos x="40" y="2"/>
                </a:cxn>
                <a:cxn ang="0">
                  <a:pos x="9" y="1"/>
                </a:cxn>
                <a:cxn ang="0">
                  <a:pos x="1" y="9"/>
                </a:cxn>
                <a:cxn ang="0">
                  <a:pos x="22" y="21"/>
                </a:cxn>
                <a:cxn ang="0">
                  <a:pos x="34" y="20"/>
                </a:cxn>
                <a:cxn ang="0">
                  <a:pos x="40" y="19"/>
                </a:cxn>
                <a:cxn ang="0">
                  <a:pos x="40" y="2"/>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w="0">
              <a:noFill/>
              <a:prstDash val="solid"/>
              <a:round/>
              <a:headEnd/>
              <a:tailEnd/>
            </a:ln>
          </p:spPr>
          <p:txBody>
            <a:bodyPr/>
            <a:lstStyle/>
            <a:p>
              <a:pPr>
                <a:defRPr/>
              </a:pPr>
              <a:endParaRPr lang="zh-CN" altLang="en-US"/>
            </a:p>
          </p:txBody>
        </p:sp>
        <p:sp>
          <p:nvSpPr>
            <p:cNvPr id="171" name="Freeform 174"/>
            <p:cNvSpPr>
              <a:spLocks/>
            </p:cNvSpPr>
            <p:nvPr userDrawn="1"/>
          </p:nvSpPr>
          <p:spPr bwMode="auto">
            <a:xfrm>
              <a:off x="500" y="3345"/>
              <a:ext cx="177" cy="187"/>
            </a:xfrm>
            <a:custGeom>
              <a:avLst/>
              <a:gdLst/>
              <a:ahLst/>
              <a:cxnLst>
                <a:cxn ang="0">
                  <a:pos x="24" y="2"/>
                </a:cxn>
                <a:cxn ang="0">
                  <a:pos x="11" y="2"/>
                </a:cxn>
                <a:cxn ang="0">
                  <a:pos x="4" y="20"/>
                </a:cxn>
                <a:cxn ang="0">
                  <a:pos x="28" y="22"/>
                </a:cxn>
                <a:cxn ang="0">
                  <a:pos x="24" y="2"/>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w="0">
              <a:noFill/>
              <a:prstDash val="solid"/>
              <a:round/>
              <a:headEnd/>
              <a:tailEnd/>
            </a:ln>
          </p:spPr>
          <p:txBody>
            <a:bodyPr/>
            <a:lstStyle/>
            <a:p>
              <a:pPr>
                <a:defRPr/>
              </a:pPr>
              <a:endParaRPr lang="zh-CN" altLang="en-US"/>
            </a:p>
          </p:txBody>
        </p:sp>
        <p:sp>
          <p:nvSpPr>
            <p:cNvPr id="172" name="Freeform 175"/>
            <p:cNvSpPr>
              <a:spLocks/>
            </p:cNvSpPr>
            <p:nvPr userDrawn="1"/>
          </p:nvSpPr>
          <p:spPr bwMode="auto">
            <a:xfrm>
              <a:off x="905" y="3158"/>
              <a:ext cx="177" cy="36"/>
            </a:xfrm>
            <a:custGeom>
              <a:avLst/>
              <a:gdLst/>
              <a:ahLst/>
              <a:cxnLst>
                <a:cxn ang="0">
                  <a:pos x="5" y="0"/>
                </a:cxn>
                <a:cxn ang="0">
                  <a:pos x="14" y="5"/>
                </a:cxn>
                <a:cxn ang="0">
                  <a:pos x="5" y="0"/>
                </a:cxn>
              </a:cxnLst>
              <a:rect l="0" t="0" r="r" b="b"/>
              <a:pathLst>
                <a:path w="35" h="7">
                  <a:moveTo>
                    <a:pt x="5" y="0"/>
                  </a:moveTo>
                  <a:cubicBezTo>
                    <a:pt x="0" y="0"/>
                    <a:pt x="7" y="7"/>
                    <a:pt x="14" y="5"/>
                  </a:cubicBezTo>
                  <a:cubicBezTo>
                    <a:pt x="35" y="1"/>
                    <a:pt x="5" y="0"/>
                    <a:pt x="5" y="0"/>
                  </a:cubicBezTo>
                  <a:close/>
                </a:path>
              </a:pathLst>
            </a:custGeom>
            <a:solidFill>
              <a:schemeClr val="folHlink"/>
            </a:solidFill>
            <a:ln w="0">
              <a:noFill/>
              <a:prstDash val="solid"/>
              <a:round/>
              <a:headEnd/>
              <a:tailEnd/>
            </a:ln>
          </p:spPr>
          <p:txBody>
            <a:bodyPr/>
            <a:lstStyle/>
            <a:p>
              <a:pPr>
                <a:defRPr/>
              </a:pPr>
              <a:endParaRPr lang="zh-CN" altLang="en-US"/>
            </a:p>
          </p:txBody>
        </p:sp>
        <p:sp>
          <p:nvSpPr>
            <p:cNvPr id="173" name="Freeform 176"/>
            <p:cNvSpPr>
              <a:spLocks/>
            </p:cNvSpPr>
            <p:nvPr userDrawn="1"/>
          </p:nvSpPr>
          <p:spPr bwMode="auto">
            <a:xfrm>
              <a:off x="965" y="3153"/>
              <a:ext cx="137" cy="81"/>
            </a:xfrm>
            <a:custGeom>
              <a:avLst/>
              <a:gdLst/>
              <a:ahLst/>
              <a:cxnLst>
                <a:cxn ang="0">
                  <a:pos x="7" y="13"/>
                </a:cxn>
                <a:cxn ang="0">
                  <a:pos x="25" y="6"/>
                </a:cxn>
                <a:cxn ang="0">
                  <a:pos x="17" y="1"/>
                </a:cxn>
                <a:cxn ang="0">
                  <a:pos x="7" y="11"/>
                </a:cxn>
                <a:cxn ang="0">
                  <a:pos x="7" y="13"/>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w="0">
              <a:noFill/>
              <a:prstDash val="solid"/>
              <a:round/>
              <a:headEnd/>
              <a:tailEnd/>
            </a:ln>
          </p:spPr>
          <p:txBody>
            <a:bodyPr/>
            <a:lstStyle/>
            <a:p>
              <a:pPr>
                <a:defRPr/>
              </a:pPr>
              <a:endParaRPr lang="zh-CN" altLang="en-US"/>
            </a:p>
          </p:txBody>
        </p:sp>
        <p:sp>
          <p:nvSpPr>
            <p:cNvPr id="174" name="Freeform 177"/>
            <p:cNvSpPr>
              <a:spLocks/>
            </p:cNvSpPr>
            <p:nvPr userDrawn="1"/>
          </p:nvSpPr>
          <p:spPr bwMode="auto">
            <a:xfrm>
              <a:off x="960" y="3204"/>
              <a:ext cx="177" cy="86"/>
            </a:xfrm>
            <a:custGeom>
              <a:avLst/>
              <a:gdLst/>
              <a:ahLst/>
              <a:cxnLst>
                <a:cxn ang="0">
                  <a:pos x="25" y="6"/>
                </a:cxn>
                <a:cxn ang="0">
                  <a:pos x="8" y="10"/>
                </a:cxn>
                <a:cxn ang="0">
                  <a:pos x="6" y="13"/>
                </a:cxn>
                <a:cxn ang="0">
                  <a:pos x="27" y="12"/>
                </a:cxn>
                <a:cxn ang="0">
                  <a:pos x="25" y="6"/>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w="0">
              <a:noFill/>
              <a:prstDash val="solid"/>
              <a:round/>
              <a:headEnd/>
              <a:tailEnd/>
            </a:ln>
          </p:spPr>
          <p:txBody>
            <a:bodyPr/>
            <a:lstStyle/>
            <a:p>
              <a:pPr>
                <a:defRPr/>
              </a:pPr>
              <a:endParaRPr lang="zh-CN" altLang="en-US"/>
            </a:p>
          </p:txBody>
        </p:sp>
        <p:sp>
          <p:nvSpPr>
            <p:cNvPr id="175" name="Freeform 178"/>
            <p:cNvSpPr>
              <a:spLocks/>
            </p:cNvSpPr>
            <p:nvPr userDrawn="1"/>
          </p:nvSpPr>
          <p:spPr bwMode="auto">
            <a:xfrm>
              <a:off x="844" y="3285"/>
              <a:ext cx="248" cy="60"/>
            </a:xfrm>
            <a:custGeom>
              <a:avLst/>
              <a:gdLst/>
              <a:ahLst/>
              <a:cxnLst>
                <a:cxn ang="0">
                  <a:pos x="40" y="3"/>
                </a:cxn>
                <a:cxn ang="0">
                  <a:pos x="29" y="1"/>
                </a:cxn>
                <a:cxn ang="0">
                  <a:pos x="7" y="0"/>
                </a:cxn>
                <a:cxn ang="0">
                  <a:pos x="2" y="5"/>
                </a:cxn>
                <a:cxn ang="0">
                  <a:pos x="20" y="8"/>
                </a:cxn>
                <a:cxn ang="0">
                  <a:pos x="41" y="8"/>
                </a:cxn>
                <a:cxn ang="0">
                  <a:pos x="40" y="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w="0">
              <a:noFill/>
              <a:prstDash val="solid"/>
              <a:round/>
              <a:headEnd/>
              <a:tailEnd/>
            </a:ln>
          </p:spPr>
          <p:txBody>
            <a:bodyPr/>
            <a:lstStyle/>
            <a:p>
              <a:pPr>
                <a:defRPr/>
              </a:pPr>
              <a:endParaRPr lang="zh-CN" altLang="en-US"/>
            </a:p>
          </p:txBody>
        </p:sp>
        <p:sp>
          <p:nvSpPr>
            <p:cNvPr id="176" name="Freeform 179"/>
            <p:cNvSpPr>
              <a:spLocks/>
            </p:cNvSpPr>
            <p:nvPr userDrawn="1"/>
          </p:nvSpPr>
          <p:spPr bwMode="auto">
            <a:xfrm>
              <a:off x="869" y="3340"/>
              <a:ext cx="203" cy="56"/>
            </a:xfrm>
            <a:custGeom>
              <a:avLst/>
              <a:gdLst/>
              <a:ahLst/>
              <a:cxnLst>
                <a:cxn ang="0">
                  <a:pos x="37" y="2"/>
                </a:cxn>
                <a:cxn ang="0">
                  <a:pos x="26" y="4"/>
                </a:cxn>
                <a:cxn ang="0">
                  <a:pos x="13" y="3"/>
                </a:cxn>
                <a:cxn ang="0">
                  <a:pos x="1" y="2"/>
                </a:cxn>
                <a:cxn ang="0">
                  <a:pos x="35" y="8"/>
                </a:cxn>
                <a:cxn ang="0">
                  <a:pos x="37" y="2"/>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w="0">
              <a:noFill/>
              <a:prstDash val="solid"/>
              <a:round/>
              <a:headEnd/>
              <a:tailEnd/>
            </a:ln>
          </p:spPr>
          <p:txBody>
            <a:bodyPr/>
            <a:lstStyle/>
            <a:p>
              <a:pPr>
                <a:defRPr/>
              </a:pPr>
              <a:endParaRPr lang="zh-CN" altLang="en-US"/>
            </a:p>
          </p:txBody>
        </p:sp>
        <p:sp>
          <p:nvSpPr>
            <p:cNvPr id="177" name="Freeform 180"/>
            <p:cNvSpPr>
              <a:spLocks/>
            </p:cNvSpPr>
            <p:nvPr userDrawn="1"/>
          </p:nvSpPr>
          <p:spPr bwMode="auto">
            <a:xfrm>
              <a:off x="859" y="3386"/>
              <a:ext cx="207" cy="172"/>
            </a:xfrm>
            <a:custGeom>
              <a:avLst/>
              <a:gdLst/>
              <a:ahLst/>
              <a:cxnLst>
                <a:cxn ang="0">
                  <a:pos x="28" y="9"/>
                </a:cxn>
                <a:cxn ang="0">
                  <a:pos x="13" y="6"/>
                </a:cxn>
                <a:cxn ang="0">
                  <a:pos x="4" y="15"/>
                </a:cxn>
                <a:cxn ang="0">
                  <a:pos x="1" y="19"/>
                </a:cxn>
                <a:cxn ang="0">
                  <a:pos x="9" y="19"/>
                </a:cxn>
                <a:cxn ang="0">
                  <a:pos x="17" y="27"/>
                </a:cxn>
                <a:cxn ang="0">
                  <a:pos x="21" y="30"/>
                </a:cxn>
                <a:cxn ang="0">
                  <a:pos x="29" y="19"/>
                </a:cxn>
                <a:cxn ang="0">
                  <a:pos x="39" y="19"/>
                </a:cxn>
                <a:cxn ang="0">
                  <a:pos x="28" y="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w="0">
              <a:noFill/>
              <a:prstDash val="solid"/>
              <a:round/>
              <a:headEnd/>
              <a:tailEnd/>
            </a:ln>
          </p:spPr>
          <p:txBody>
            <a:bodyPr/>
            <a:lstStyle/>
            <a:p>
              <a:pPr>
                <a:defRPr/>
              </a:pPr>
              <a:endParaRPr lang="zh-CN" altLang="en-US"/>
            </a:p>
          </p:txBody>
        </p:sp>
        <p:sp>
          <p:nvSpPr>
            <p:cNvPr id="178" name="Freeform 181"/>
            <p:cNvSpPr>
              <a:spLocks/>
            </p:cNvSpPr>
            <p:nvPr userDrawn="1"/>
          </p:nvSpPr>
          <p:spPr bwMode="auto">
            <a:xfrm>
              <a:off x="996" y="3305"/>
              <a:ext cx="126" cy="318"/>
            </a:xfrm>
            <a:custGeom>
              <a:avLst/>
              <a:gdLst/>
              <a:ahLst/>
              <a:cxnLst>
                <a:cxn ang="0">
                  <a:pos x="22" y="2"/>
                </a:cxn>
                <a:cxn ang="0">
                  <a:pos x="18" y="17"/>
                </a:cxn>
                <a:cxn ang="0">
                  <a:pos x="7" y="20"/>
                </a:cxn>
                <a:cxn ang="0">
                  <a:pos x="7" y="23"/>
                </a:cxn>
                <a:cxn ang="0">
                  <a:pos x="17" y="34"/>
                </a:cxn>
                <a:cxn ang="0">
                  <a:pos x="12" y="45"/>
                </a:cxn>
                <a:cxn ang="0">
                  <a:pos x="0" y="55"/>
                </a:cxn>
                <a:cxn ang="0">
                  <a:pos x="5" y="58"/>
                </a:cxn>
                <a:cxn ang="0">
                  <a:pos x="16" y="62"/>
                </a:cxn>
                <a:cxn ang="0">
                  <a:pos x="23" y="57"/>
                </a:cxn>
                <a:cxn ang="0">
                  <a:pos x="25" y="14"/>
                </a:cxn>
                <a:cxn ang="0">
                  <a:pos x="25" y="2"/>
                </a:cxn>
                <a:cxn ang="0">
                  <a:pos x="22" y="2"/>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w="0">
              <a:noFill/>
              <a:prstDash val="solid"/>
              <a:round/>
              <a:headEnd/>
              <a:tailEnd/>
            </a:ln>
          </p:spPr>
          <p:txBody>
            <a:bodyPr/>
            <a:lstStyle/>
            <a:p>
              <a:pPr>
                <a:defRPr/>
              </a:pPr>
              <a:endParaRPr lang="zh-CN" altLang="en-US"/>
            </a:p>
          </p:txBody>
        </p:sp>
      </p:grpSp>
      <p:sp>
        <p:nvSpPr>
          <p:cNvPr id="376995" name="Rectangle 163"/>
          <p:cNvSpPr>
            <a:spLocks noGrp="1" noRot="1" noChangeArrowheads="1"/>
          </p:cNvSpPr>
          <p:nvPr>
            <p:ph type="ctrTitle"/>
          </p:nvPr>
        </p:nvSpPr>
        <p:spPr>
          <a:xfrm>
            <a:off x="685800" y="2057400"/>
            <a:ext cx="7772400" cy="1143000"/>
          </a:xfrm>
          <a:prstGeom prst="rect">
            <a:avLst/>
          </a:prstGeom>
        </p:spPr>
        <p:txBody>
          <a:bodyPr/>
          <a:lstStyle>
            <a:lvl1pPr>
              <a:defRPr/>
            </a:lvl1pPr>
          </a:lstStyle>
          <a:p>
            <a:r>
              <a:rPr lang="zh-CN" altLang="en-US"/>
              <a:t>单击此处编辑母版标题样式</a:t>
            </a:r>
          </a:p>
        </p:txBody>
      </p:sp>
      <p:sp>
        <p:nvSpPr>
          <p:cNvPr id="376999" name="Rectangle 167"/>
          <p:cNvSpPr>
            <a:spLocks noGrp="1" noRot="1" noChangeArrowheads="1"/>
          </p:cNvSpPr>
          <p:nvPr>
            <p:ph type="subTitle" idx="1"/>
          </p:nvPr>
        </p:nvSpPr>
        <p:spPr>
          <a:xfrm>
            <a:off x="1371600" y="3505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79" name="Rectangle 164"/>
          <p:cNvSpPr>
            <a:spLocks noGrp="1" noChangeArrowheads="1"/>
          </p:cNvSpPr>
          <p:nvPr>
            <p:ph type="dt" sz="half" idx="10"/>
          </p:nvPr>
        </p:nvSpPr>
        <p:spPr>
          <a:xfrm>
            <a:off x="301625" y="6248400"/>
            <a:ext cx="2289175" cy="476250"/>
          </a:xfrm>
        </p:spPr>
        <p:txBody>
          <a:bodyPr/>
          <a:lstStyle>
            <a:lvl1pPr>
              <a:defRPr/>
            </a:lvl1pPr>
          </a:lstStyle>
          <a:p>
            <a:pPr>
              <a:defRPr/>
            </a:pPr>
            <a:fld id="{C9EE940E-1DC9-4840-B10B-CB331A433382}" type="datetime1">
              <a:rPr lang="zh-CN" altLang="en-US"/>
              <a:pPr>
                <a:defRPr/>
              </a:pPr>
              <a:t>2018/2/24</a:t>
            </a:fld>
            <a:endParaRPr lang="en-US" altLang="zh-CN"/>
          </a:p>
        </p:txBody>
      </p:sp>
      <p:sp>
        <p:nvSpPr>
          <p:cNvPr id="180" name="Rectangle 165"/>
          <p:cNvSpPr>
            <a:spLocks noGrp="1" noChangeArrowheads="1"/>
          </p:cNvSpPr>
          <p:nvPr>
            <p:ph type="ftr" sz="quarter" idx="11"/>
          </p:nvPr>
        </p:nvSpPr>
        <p:spPr>
          <a:xfrm>
            <a:off x="3124200" y="6248400"/>
            <a:ext cx="2895600" cy="476250"/>
          </a:xfrm>
        </p:spPr>
        <p:txBody>
          <a:bodyPr/>
          <a:lstStyle>
            <a:lvl1pPr>
              <a:defRPr/>
            </a:lvl1pPr>
          </a:lstStyle>
          <a:p>
            <a:pPr>
              <a:defRPr/>
            </a:pPr>
            <a:endParaRPr lang="en-US" altLang="zh-CN"/>
          </a:p>
        </p:txBody>
      </p:sp>
      <p:sp>
        <p:nvSpPr>
          <p:cNvPr id="181" name="Rectangle 166"/>
          <p:cNvSpPr>
            <a:spLocks noGrp="1" noChangeArrowheads="1"/>
          </p:cNvSpPr>
          <p:nvPr>
            <p:ph type="sldNum" sz="quarter" idx="12"/>
          </p:nvPr>
        </p:nvSpPr>
        <p:spPr>
          <a:xfrm>
            <a:off x="6553200" y="6248400"/>
            <a:ext cx="2289175" cy="476250"/>
          </a:xfrm>
        </p:spPr>
        <p:txBody>
          <a:bodyPr/>
          <a:lstStyle>
            <a:lvl1pPr>
              <a:defRPr/>
            </a:lvl1pPr>
          </a:lstStyle>
          <a:p>
            <a:pPr>
              <a:defRPr/>
            </a:pPr>
            <a:fld id="{BA2E7D1C-1607-4566-B9A4-BE4E525FECF2}" type="slidenum">
              <a:rPr lang="en-US" altLang="zh-CN"/>
              <a:pPr>
                <a:defRPr/>
              </a:pPr>
              <a:t>‹#›</a:t>
            </a:fld>
            <a:endParaRPr lang="en-US" altLang="zh-CN"/>
          </a:p>
        </p:txBody>
      </p:sp>
    </p:spTree>
  </p:cSld>
  <p:clrMapOvr>
    <a:masterClrMapping/>
  </p:clrMapOvr>
  <p:transition>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A9AB9D8D-974E-4F6E-8C5D-62AF2874A5EB}" type="datetime1">
              <a:rPr lang="zh-CN" altLang="en-US"/>
              <a:pPr>
                <a:defRPr/>
              </a:pPr>
              <a:t>2018/2/24</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D5A7E167-3345-42F6-871C-4CAFDBA07513}" type="slidenum">
              <a:rPr lang="en-US" altLang="zh-CN"/>
              <a:pPr>
                <a:defRPr/>
              </a:pPr>
              <a:t>‹#›</a:t>
            </a:fld>
            <a:endParaRPr lang="en-US" altLang="zh-CN"/>
          </a:p>
        </p:txBody>
      </p:sp>
    </p:spTree>
  </p:cSld>
  <p:clrMapOvr>
    <a:masterClrMapping/>
  </p:clrMapOvr>
  <p:transition>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250"/>
          <p:cNvSpPr>
            <a:spLocks noGrp="1" noChangeArrowheads="1"/>
          </p:cNvSpPr>
          <p:nvPr>
            <p:ph type="dt" sz="half" idx="10"/>
          </p:nvPr>
        </p:nvSpPr>
        <p:spPr>
          <a:ln/>
        </p:spPr>
        <p:txBody>
          <a:bodyPr/>
          <a:lstStyle>
            <a:lvl1pPr>
              <a:defRPr/>
            </a:lvl1pPr>
          </a:lstStyle>
          <a:p>
            <a:pPr>
              <a:defRPr/>
            </a:pPr>
            <a:fld id="{05F8E46F-A417-4CDD-B4A3-306C51A4B9B4}" type="datetime1">
              <a:rPr lang="zh-CN" altLang="en-US"/>
              <a:pPr>
                <a:defRPr/>
              </a:pPr>
              <a:t>2018/2/24</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F8AF8402-3037-4C90-BAF5-46ECB0AB3F92}" type="slidenum">
              <a:rPr lang="en-US" altLang="zh-CN"/>
              <a:pPr>
                <a:defRPr/>
              </a:pPr>
              <a:t>‹#›</a:t>
            </a:fld>
            <a:endParaRPr lang="en-US" altLang="zh-CN"/>
          </a:p>
        </p:txBody>
      </p:sp>
    </p:spTree>
  </p:cSld>
  <p:clrMapOvr>
    <a:masterClrMapping/>
  </p:clrMapOvr>
  <p:transition>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62500" y="1600200"/>
            <a:ext cx="4000500"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250"/>
          <p:cNvSpPr>
            <a:spLocks noGrp="1" noChangeArrowheads="1"/>
          </p:cNvSpPr>
          <p:nvPr>
            <p:ph type="dt" sz="half" idx="10"/>
          </p:nvPr>
        </p:nvSpPr>
        <p:spPr>
          <a:ln/>
        </p:spPr>
        <p:txBody>
          <a:bodyPr/>
          <a:lstStyle>
            <a:lvl1pPr>
              <a:defRPr/>
            </a:lvl1pPr>
          </a:lstStyle>
          <a:p>
            <a:pPr>
              <a:defRPr/>
            </a:pPr>
            <a:fld id="{46437012-87E1-481A-AF34-91157BE5FED0}" type="datetime1">
              <a:rPr lang="zh-CN" altLang="en-US"/>
              <a:pPr>
                <a:defRPr/>
              </a:pPr>
              <a:t>2018/2/24</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7C55D548-580D-4AEA-9CA0-3413BA8BD4A2}" type="slidenum">
              <a:rPr lang="en-US" altLang="zh-CN"/>
              <a:pPr>
                <a:defRPr/>
              </a:pPr>
              <a:t>‹#›</a:t>
            </a:fld>
            <a:endParaRPr lang="en-US" altLang="zh-CN"/>
          </a:p>
        </p:txBody>
      </p:sp>
    </p:spTree>
  </p:cSld>
  <p:clrMapOvr>
    <a:masterClrMapping/>
  </p:clrMapOvr>
  <p:transition>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250"/>
          <p:cNvSpPr>
            <a:spLocks noGrp="1" noChangeArrowheads="1"/>
          </p:cNvSpPr>
          <p:nvPr>
            <p:ph type="dt" sz="half" idx="10"/>
          </p:nvPr>
        </p:nvSpPr>
        <p:spPr>
          <a:ln/>
        </p:spPr>
        <p:txBody>
          <a:bodyPr/>
          <a:lstStyle>
            <a:lvl1pPr>
              <a:defRPr/>
            </a:lvl1pPr>
          </a:lstStyle>
          <a:p>
            <a:pPr>
              <a:defRPr/>
            </a:pPr>
            <a:fld id="{EFFC5835-8BC3-4348-9D3F-104A48258090}" type="datetime1">
              <a:rPr lang="zh-CN" altLang="en-US"/>
              <a:pPr>
                <a:defRPr/>
              </a:pPr>
              <a:t>2018/2/24</a:t>
            </a:fld>
            <a:endParaRPr lang="en-US" altLang="zh-CN"/>
          </a:p>
        </p:txBody>
      </p:sp>
      <p:sp>
        <p:nvSpPr>
          <p:cNvPr id="8"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252"/>
          <p:cNvSpPr>
            <a:spLocks noGrp="1" noChangeArrowheads="1"/>
          </p:cNvSpPr>
          <p:nvPr>
            <p:ph type="sldNum" sz="quarter" idx="12"/>
          </p:nvPr>
        </p:nvSpPr>
        <p:spPr>
          <a:ln/>
        </p:spPr>
        <p:txBody>
          <a:bodyPr/>
          <a:lstStyle>
            <a:lvl1pPr>
              <a:defRPr/>
            </a:lvl1pPr>
          </a:lstStyle>
          <a:p>
            <a:pPr>
              <a:defRPr/>
            </a:pPr>
            <a:fld id="{55970D42-88C4-44D9-9F0B-5A39D815B647}" type="slidenum">
              <a:rPr lang="en-US" altLang="zh-CN"/>
              <a:pPr>
                <a:defRPr/>
              </a:pPr>
              <a:t>‹#›</a:t>
            </a:fld>
            <a:endParaRPr lang="en-US" altLang="zh-CN"/>
          </a:p>
        </p:txBody>
      </p:sp>
    </p:spTree>
  </p:cSld>
  <p:clrMapOvr>
    <a:masterClrMapping/>
  </p:clrMapOvr>
  <p:transition>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a:prstGeom prst="rect">
            <a:avLst/>
          </a:prstGeom>
        </p:spPr>
        <p:txBody>
          <a:bodyPr/>
          <a:lstStyle/>
          <a:p>
            <a:r>
              <a:rPr lang="zh-CN" altLang="en-US" smtClean="0"/>
              <a:t>单击此处编辑母版标题样式</a:t>
            </a:r>
            <a:endParaRPr lang="zh-CN" altLang="en-US"/>
          </a:p>
        </p:txBody>
      </p:sp>
      <p:sp>
        <p:nvSpPr>
          <p:cNvPr id="3" name="Rectangle 250"/>
          <p:cNvSpPr>
            <a:spLocks noGrp="1" noChangeArrowheads="1"/>
          </p:cNvSpPr>
          <p:nvPr>
            <p:ph type="dt" sz="half" idx="10"/>
          </p:nvPr>
        </p:nvSpPr>
        <p:spPr>
          <a:ln/>
        </p:spPr>
        <p:txBody>
          <a:bodyPr/>
          <a:lstStyle>
            <a:lvl1pPr>
              <a:defRPr/>
            </a:lvl1pPr>
          </a:lstStyle>
          <a:p>
            <a:pPr>
              <a:defRPr/>
            </a:pPr>
            <a:fld id="{BB6F2FD0-1E70-4EF7-91B1-A91515B34EF3}" type="datetime1">
              <a:rPr lang="zh-CN" altLang="en-US"/>
              <a:pPr>
                <a:defRPr/>
              </a:pPr>
              <a:t>2018/2/24</a:t>
            </a:fld>
            <a:endParaRPr lang="en-US" altLang="zh-CN"/>
          </a:p>
        </p:txBody>
      </p:sp>
      <p:sp>
        <p:nvSpPr>
          <p:cNvPr id="4"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252"/>
          <p:cNvSpPr>
            <a:spLocks noGrp="1" noChangeArrowheads="1"/>
          </p:cNvSpPr>
          <p:nvPr>
            <p:ph type="sldNum" sz="quarter" idx="12"/>
          </p:nvPr>
        </p:nvSpPr>
        <p:spPr>
          <a:ln/>
        </p:spPr>
        <p:txBody>
          <a:bodyPr/>
          <a:lstStyle>
            <a:lvl1pPr>
              <a:defRPr/>
            </a:lvl1pPr>
          </a:lstStyle>
          <a:p>
            <a:pPr>
              <a:defRPr/>
            </a:pPr>
            <a:fld id="{72AE28EA-FAEB-43A9-8FD2-01EF9CE1EEB7}" type="slidenum">
              <a:rPr lang="en-US" altLang="zh-CN"/>
              <a:pPr>
                <a:defRPr/>
              </a:pPr>
              <a:t>‹#›</a:t>
            </a:fld>
            <a:endParaRPr lang="en-US" altLang="zh-CN"/>
          </a:p>
        </p:txBody>
      </p:sp>
    </p:spTree>
  </p:cSld>
  <p:clrMapOvr>
    <a:masterClrMapping/>
  </p:clrMapOvr>
  <p:transition>
    <p:circl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0"/>
          <p:cNvSpPr>
            <a:spLocks noGrp="1" noChangeArrowheads="1"/>
          </p:cNvSpPr>
          <p:nvPr>
            <p:ph type="dt" sz="half" idx="10"/>
          </p:nvPr>
        </p:nvSpPr>
        <p:spPr>
          <a:ln/>
        </p:spPr>
        <p:txBody>
          <a:bodyPr/>
          <a:lstStyle>
            <a:lvl1pPr>
              <a:defRPr/>
            </a:lvl1pPr>
          </a:lstStyle>
          <a:p>
            <a:pPr>
              <a:defRPr/>
            </a:pPr>
            <a:fld id="{FD2C16B9-6B7E-4412-9B98-5AFE3FF89F99}" type="datetime1">
              <a:rPr lang="zh-CN" altLang="en-US"/>
              <a:pPr>
                <a:defRPr/>
              </a:pPr>
              <a:t>2018/2/24</a:t>
            </a:fld>
            <a:endParaRPr lang="en-US" altLang="zh-CN"/>
          </a:p>
        </p:txBody>
      </p:sp>
      <p:sp>
        <p:nvSpPr>
          <p:cNvPr id="3"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252"/>
          <p:cNvSpPr>
            <a:spLocks noGrp="1" noChangeArrowheads="1"/>
          </p:cNvSpPr>
          <p:nvPr>
            <p:ph type="sldNum" sz="quarter" idx="12"/>
          </p:nvPr>
        </p:nvSpPr>
        <p:spPr>
          <a:ln/>
        </p:spPr>
        <p:txBody>
          <a:bodyPr/>
          <a:lstStyle>
            <a:lvl1pPr>
              <a:defRPr/>
            </a:lvl1pPr>
          </a:lstStyle>
          <a:p>
            <a:pPr>
              <a:defRPr/>
            </a:pPr>
            <a:fld id="{245BC8C3-F53A-4C0A-B213-FCBD075EAE6E}" type="slidenum">
              <a:rPr lang="en-US" altLang="zh-CN"/>
              <a:pPr>
                <a:defRPr/>
              </a:pPr>
              <a:t>‹#›</a:t>
            </a:fld>
            <a:endParaRPr lang="en-US" altLang="zh-CN"/>
          </a:p>
        </p:txBody>
      </p:sp>
    </p:spTree>
  </p:cSld>
  <p:clrMapOvr>
    <a:masterClrMapping/>
  </p:clrMapOvr>
  <p:transition>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fld id="{3012D452-23CD-4D64-B6CA-85B68B551BE4}" type="datetime1">
              <a:rPr lang="zh-CN" altLang="en-US"/>
              <a:pPr>
                <a:defRPr/>
              </a:pPr>
              <a:t>2018/2/24</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93EA7B2E-78AD-454D-9798-73A3EFFBAB61}" type="slidenum">
              <a:rPr lang="en-US" altLang="zh-CN"/>
              <a:pPr>
                <a:defRPr/>
              </a:pPr>
              <a:t>‹#›</a:t>
            </a:fld>
            <a:endParaRPr lang="en-US" altLang="zh-CN"/>
          </a:p>
        </p:txBody>
      </p:sp>
    </p:spTree>
  </p:cSld>
  <p:clrMapOvr>
    <a:masterClrMapping/>
  </p:clrMapOvr>
  <p:transition>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250"/>
          <p:cNvSpPr>
            <a:spLocks noGrp="1" noChangeArrowheads="1"/>
          </p:cNvSpPr>
          <p:nvPr>
            <p:ph type="dt" sz="half" idx="10"/>
          </p:nvPr>
        </p:nvSpPr>
        <p:spPr>
          <a:ln/>
        </p:spPr>
        <p:txBody>
          <a:bodyPr/>
          <a:lstStyle>
            <a:lvl1pPr>
              <a:defRPr/>
            </a:lvl1pPr>
          </a:lstStyle>
          <a:p>
            <a:pPr>
              <a:defRPr/>
            </a:pPr>
            <a:fld id="{21F6F456-2937-4A1F-8B69-47CF715ACE22}" type="datetime1">
              <a:rPr lang="zh-CN" altLang="en-US"/>
              <a:pPr>
                <a:defRPr/>
              </a:pPr>
              <a:t>2018/2/24</a:t>
            </a:fld>
            <a:endParaRPr lang="en-US" altLang="zh-CN"/>
          </a:p>
        </p:txBody>
      </p:sp>
      <p:sp>
        <p:nvSpPr>
          <p:cNvPr id="6"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252"/>
          <p:cNvSpPr>
            <a:spLocks noGrp="1" noChangeArrowheads="1"/>
          </p:cNvSpPr>
          <p:nvPr>
            <p:ph type="sldNum" sz="quarter" idx="12"/>
          </p:nvPr>
        </p:nvSpPr>
        <p:spPr>
          <a:ln/>
        </p:spPr>
        <p:txBody>
          <a:bodyPr/>
          <a:lstStyle>
            <a:lvl1pPr>
              <a:defRPr/>
            </a:lvl1pPr>
          </a:lstStyle>
          <a:p>
            <a:pPr>
              <a:defRPr/>
            </a:pPr>
            <a:fld id="{60AC6FE7-0C51-408D-886F-D5D81A79D4DF}" type="slidenum">
              <a:rPr lang="en-US" altLang="zh-CN"/>
              <a:pPr>
                <a:defRPr/>
              </a:pPr>
              <a:t>‹#›</a:t>
            </a:fld>
            <a:endParaRPr lang="en-US" altLang="zh-CN"/>
          </a:p>
        </p:txBody>
      </p:sp>
    </p:spTree>
  </p:cSld>
  <p:clrMapOvr>
    <a:masterClrMapping/>
  </p:clrMapOvr>
  <p:transition>
    <p:circl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298450" y="228600"/>
            <a:ext cx="854075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2ED436D8-F7AB-4730-A5F3-CFA2661AFF16}" type="datetime1">
              <a:rPr lang="zh-CN" altLang="en-US"/>
              <a:pPr>
                <a:defRPr/>
              </a:pPr>
              <a:t>2018/2/24</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CC05E3EA-3EAB-4DD6-839A-1D5CF0F08569}" type="slidenum">
              <a:rPr lang="en-US" altLang="zh-CN"/>
              <a:pPr>
                <a:defRPr/>
              </a:pPr>
              <a:t>‹#›</a:t>
            </a:fld>
            <a:endParaRPr lang="en-US" altLang="zh-CN"/>
          </a:p>
        </p:txBody>
      </p:sp>
    </p:spTree>
  </p:cSld>
  <p:clrMapOvr>
    <a:masterClrMapping/>
  </p:clrMapOvr>
  <p:transition>
    <p:circl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7057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98450" y="228600"/>
            <a:ext cx="6253163" cy="5870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250"/>
          <p:cNvSpPr>
            <a:spLocks noGrp="1" noChangeArrowheads="1"/>
          </p:cNvSpPr>
          <p:nvPr>
            <p:ph type="dt" sz="half" idx="10"/>
          </p:nvPr>
        </p:nvSpPr>
        <p:spPr>
          <a:ln/>
        </p:spPr>
        <p:txBody>
          <a:bodyPr/>
          <a:lstStyle>
            <a:lvl1pPr>
              <a:defRPr/>
            </a:lvl1pPr>
          </a:lstStyle>
          <a:p>
            <a:pPr>
              <a:defRPr/>
            </a:pPr>
            <a:fld id="{5D4DE215-FFEE-4F67-BA94-413FF599F8D5}" type="datetime1">
              <a:rPr lang="zh-CN" altLang="en-US"/>
              <a:pPr>
                <a:defRPr/>
              </a:pPr>
              <a:t>2018/2/24</a:t>
            </a:fld>
            <a:endParaRPr lang="en-US" altLang="zh-CN"/>
          </a:p>
        </p:txBody>
      </p:sp>
      <p:sp>
        <p:nvSpPr>
          <p:cNvPr id="5" name="Rectangle 25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252"/>
          <p:cNvSpPr>
            <a:spLocks noGrp="1" noChangeArrowheads="1"/>
          </p:cNvSpPr>
          <p:nvPr>
            <p:ph type="sldNum" sz="quarter" idx="12"/>
          </p:nvPr>
        </p:nvSpPr>
        <p:spPr>
          <a:ln/>
        </p:spPr>
        <p:txBody>
          <a:bodyPr/>
          <a:lstStyle>
            <a:lvl1pPr>
              <a:defRPr/>
            </a:lvl1pPr>
          </a:lstStyle>
          <a:p>
            <a:pPr>
              <a:defRPr/>
            </a:pPr>
            <a:fld id="{6229CE4C-ABCE-4C5A-AA01-7FDF59AD47BD}" type="slidenum">
              <a:rPr lang="en-US" altLang="zh-CN"/>
              <a:pPr>
                <a:defRPr/>
              </a:pPr>
              <a:t>‹#›</a:t>
            </a:fld>
            <a:endParaRPr lang="en-US" altLang="zh-CN"/>
          </a:p>
        </p:txBody>
      </p:sp>
    </p:spTree>
  </p:cSld>
  <p:clrMapOvr>
    <a:masterClrMapping/>
  </p:clrMapOvr>
  <p:transition>
    <p:circl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298450" y="6245225"/>
            <a:ext cx="2289175" cy="476250"/>
          </a:xfrm>
        </p:spPr>
        <p:txBody>
          <a:bodyPr/>
          <a:lstStyle>
            <a:lvl1pPr>
              <a:defRPr/>
            </a:lvl1pPr>
          </a:lstStyle>
          <a:p>
            <a:fld id="{EC896C1F-6528-47F1-B954-2D4BBB33E5CC}" type="datetime1">
              <a:rPr lang="zh-CN" altLang="en-US"/>
              <a:pPr/>
              <a:t>2018/2/24</a:t>
            </a:fld>
            <a:endParaRPr lang="en-US" sz="1800"/>
          </a:p>
        </p:txBody>
      </p:sp>
      <p:sp>
        <p:nvSpPr>
          <p:cNvPr id="4" name="页脚占位符 3"/>
          <p:cNvSpPr>
            <a:spLocks noGrp="1"/>
          </p:cNvSpPr>
          <p:nvPr>
            <p:ph type="ftr" sz="quarter" idx="11"/>
          </p:nvPr>
        </p:nvSpPr>
        <p:spPr>
          <a:xfrm>
            <a:off x="3121025" y="6245225"/>
            <a:ext cx="2895600" cy="476250"/>
          </a:xfrm>
        </p:spPr>
        <p:txBody>
          <a:bodyPr/>
          <a:lstStyle>
            <a:lvl1pPr>
              <a:defRPr/>
            </a:lvl1pPr>
          </a:lstStyle>
          <a:p>
            <a:endParaRPr lang="zh-CN" altLang="zh-CN"/>
          </a:p>
        </p:txBody>
      </p:sp>
    </p:spTree>
  </p:cSld>
  <p:clrMapOvr>
    <a:masterClrMapping/>
  </p:clrMapOvr>
  <p:transition>
    <p:circl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9874" name="Group 2"/>
          <p:cNvGrpSpPr>
            <a:grpSpLocks/>
          </p:cNvGrpSpPr>
          <p:nvPr/>
        </p:nvGrpSpPr>
        <p:grpSpPr bwMode="auto">
          <a:xfrm>
            <a:off x="566738" y="0"/>
            <a:ext cx="7891462" cy="6821488"/>
            <a:chOff x="349" y="23"/>
            <a:chExt cx="4971" cy="4297"/>
          </a:xfrm>
        </p:grpSpPr>
        <p:sp>
          <p:nvSpPr>
            <p:cNvPr id="375811" name="Rectangle 3"/>
            <p:cNvSpPr>
              <a:spLocks noChangeArrowheads="1"/>
            </p:cNvSpPr>
            <p:nvPr/>
          </p:nvSpPr>
          <p:spPr bwMode="auto">
            <a:xfrm>
              <a:off x="384" y="23"/>
              <a:ext cx="21"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12" name="Freeform 4"/>
            <p:cNvSpPr>
              <a:spLocks noEditPoints="1"/>
            </p:cNvSpPr>
            <p:nvPr/>
          </p:nvSpPr>
          <p:spPr bwMode="auto">
            <a:xfrm>
              <a:off x="38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3" name="Freeform 5"/>
            <p:cNvSpPr>
              <a:spLocks noEditPoints="1"/>
            </p:cNvSpPr>
            <p:nvPr/>
          </p:nvSpPr>
          <p:spPr bwMode="auto">
            <a:xfrm>
              <a:off x="38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4" name="Freeform 6"/>
            <p:cNvSpPr>
              <a:spLocks noEditPoints="1"/>
            </p:cNvSpPr>
            <p:nvPr/>
          </p:nvSpPr>
          <p:spPr bwMode="auto">
            <a:xfrm>
              <a:off x="38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5" name="Freeform 7"/>
            <p:cNvSpPr>
              <a:spLocks noEditPoints="1"/>
            </p:cNvSpPr>
            <p:nvPr/>
          </p:nvSpPr>
          <p:spPr bwMode="auto">
            <a:xfrm>
              <a:off x="38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6" name="Freeform 8"/>
            <p:cNvSpPr>
              <a:spLocks noEditPoints="1"/>
            </p:cNvSpPr>
            <p:nvPr/>
          </p:nvSpPr>
          <p:spPr bwMode="auto">
            <a:xfrm>
              <a:off x="38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7" name="Freeform 9"/>
            <p:cNvSpPr>
              <a:spLocks noEditPoints="1"/>
            </p:cNvSpPr>
            <p:nvPr/>
          </p:nvSpPr>
          <p:spPr bwMode="auto">
            <a:xfrm>
              <a:off x="38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8" name="Freeform 10"/>
            <p:cNvSpPr>
              <a:spLocks noEditPoints="1"/>
            </p:cNvSpPr>
            <p:nvPr/>
          </p:nvSpPr>
          <p:spPr bwMode="auto">
            <a:xfrm>
              <a:off x="38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19" name="Freeform 11"/>
            <p:cNvSpPr>
              <a:spLocks noEditPoints="1"/>
            </p:cNvSpPr>
            <p:nvPr/>
          </p:nvSpPr>
          <p:spPr bwMode="auto">
            <a:xfrm>
              <a:off x="38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0" name="Freeform 12"/>
            <p:cNvSpPr>
              <a:spLocks noEditPoints="1"/>
            </p:cNvSpPr>
            <p:nvPr/>
          </p:nvSpPr>
          <p:spPr bwMode="auto">
            <a:xfrm>
              <a:off x="38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1" name="Freeform 13"/>
            <p:cNvSpPr>
              <a:spLocks noEditPoints="1"/>
            </p:cNvSpPr>
            <p:nvPr/>
          </p:nvSpPr>
          <p:spPr bwMode="auto">
            <a:xfrm>
              <a:off x="38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2" name="Rectangle 14"/>
            <p:cNvSpPr>
              <a:spLocks noChangeArrowheads="1"/>
            </p:cNvSpPr>
            <p:nvPr/>
          </p:nvSpPr>
          <p:spPr bwMode="auto">
            <a:xfrm>
              <a:off x="384" y="4269"/>
              <a:ext cx="21"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23" name="Rectangle 15"/>
            <p:cNvSpPr>
              <a:spLocks noChangeArrowheads="1"/>
            </p:cNvSpPr>
            <p:nvPr/>
          </p:nvSpPr>
          <p:spPr bwMode="auto">
            <a:xfrm>
              <a:off x="829" y="23"/>
              <a:ext cx="21"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24" name="Freeform 16"/>
            <p:cNvSpPr>
              <a:spLocks noEditPoints="1"/>
            </p:cNvSpPr>
            <p:nvPr/>
          </p:nvSpPr>
          <p:spPr bwMode="auto">
            <a:xfrm>
              <a:off x="82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5" name="Freeform 17"/>
            <p:cNvSpPr>
              <a:spLocks noEditPoints="1"/>
            </p:cNvSpPr>
            <p:nvPr/>
          </p:nvSpPr>
          <p:spPr bwMode="auto">
            <a:xfrm>
              <a:off x="82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6" name="Freeform 18"/>
            <p:cNvSpPr>
              <a:spLocks noEditPoints="1"/>
            </p:cNvSpPr>
            <p:nvPr/>
          </p:nvSpPr>
          <p:spPr bwMode="auto">
            <a:xfrm>
              <a:off x="82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7" name="Freeform 19"/>
            <p:cNvSpPr>
              <a:spLocks noEditPoints="1"/>
            </p:cNvSpPr>
            <p:nvPr/>
          </p:nvSpPr>
          <p:spPr bwMode="auto">
            <a:xfrm>
              <a:off x="82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8" name="Freeform 20"/>
            <p:cNvSpPr>
              <a:spLocks noEditPoints="1"/>
            </p:cNvSpPr>
            <p:nvPr/>
          </p:nvSpPr>
          <p:spPr bwMode="auto">
            <a:xfrm>
              <a:off x="82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29" name="Freeform 21"/>
            <p:cNvSpPr>
              <a:spLocks noEditPoints="1"/>
            </p:cNvSpPr>
            <p:nvPr/>
          </p:nvSpPr>
          <p:spPr bwMode="auto">
            <a:xfrm>
              <a:off x="82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0" name="Freeform 22"/>
            <p:cNvSpPr>
              <a:spLocks noEditPoints="1"/>
            </p:cNvSpPr>
            <p:nvPr/>
          </p:nvSpPr>
          <p:spPr bwMode="auto">
            <a:xfrm>
              <a:off x="82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1" name="Freeform 23"/>
            <p:cNvSpPr>
              <a:spLocks noEditPoints="1"/>
            </p:cNvSpPr>
            <p:nvPr/>
          </p:nvSpPr>
          <p:spPr bwMode="auto">
            <a:xfrm>
              <a:off x="82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2" name="Freeform 24"/>
            <p:cNvSpPr>
              <a:spLocks noEditPoints="1"/>
            </p:cNvSpPr>
            <p:nvPr/>
          </p:nvSpPr>
          <p:spPr bwMode="auto">
            <a:xfrm>
              <a:off x="82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3" name="Freeform 25"/>
            <p:cNvSpPr>
              <a:spLocks noEditPoints="1"/>
            </p:cNvSpPr>
            <p:nvPr/>
          </p:nvSpPr>
          <p:spPr bwMode="auto">
            <a:xfrm>
              <a:off x="82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4" name="Rectangle 26"/>
            <p:cNvSpPr>
              <a:spLocks noChangeArrowheads="1"/>
            </p:cNvSpPr>
            <p:nvPr/>
          </p:nvSpPr>
          <p:spPr bwMode="auto">
            <a:xfrm>
              <a:off x="829" y="4269"/>
              <a:ext cx="21"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35" name="Rectangle 27"/>
            <p:cNvSpPr>
              <a:spLocks noChangeArrowheads="1"/>
            </p:cNvSpPr>
            <p:nvPr/>
          </p:nvSpPr>
          <p:spPr bwMode="auto">
            <a:xfrm>
              <a:off x="1279" y="23"/>
              <a:ext cx="21"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36" name="Freeform 28"/>
            <p:cNvSpPr>
              <a:spLocks noEditPoints="1"/>
            </p:cNvSpPr>
            <p:nvPr/>
          </p:nvSpPr>
          <p:spPr bwMode="auto">
            <a:xfrm>
              <a:off x="127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7" name="Freeform 29"/>
            <p:cNvSpPr>
              <a:spLocks noEditPoints="1"/>
            </p:cNvSpPr>
            <p:nvPr/>
          </p:nvSpPr>
          <p:spPr bwMode="auto">
            <a:xfrm>
              <a:off x="127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8" name="Freeform 30"/>
            <p:cNvSpPr>
              <a:spLocks noEditPoints="1"/>
            </p:cNvSpPr>
            <p:nvPr/>
          </p:nvSpPr>
          <p:spPr bwMode="auto">
            <a:xfrm>
              <a:off x="127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39" name="Freeform 31"/>
            <p:cNvSpPr>
              <a:spLocks noEditPoints="1"/>
            </p:cNvSpPr>
            <p:nvPr/>
          </p:nvSpPr>
          <p:spPr bwMode="auto">
            <a:xfrm>
              <a:off x="127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0" name="Freeform 32"/>
            <p:cNvSpPr>
              <a:spLocks noEditPoints="1"/>
            </p:cNvSpPr>
            <p:nvPr/>
          </p:nvSpPr>
          <p:spPr bwMode="auto">
            <a:xfrm>
              <a:off x="127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1" name="Freeform 33"/>
            <p:cNvSpPr>
              <a:spLocks noEditPoints="1"/>
            </p:cNvSpPr>
            <p:nvPr/>
          </p:nvSpPr>
          <p:spPr bwMode="auto">
            <a:xfrm>
              <a:off x="127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2" name="Freeform 34"/>
            <p:cNvSpPr>
              <a:spLocks noEditPoints="1"/>
            </p:cNvSpPr>
            <p:nvPr/>
          </p:nvSpPr>
          <p:spPr bwMode="auto">
            <a:xfrm>
              <a:off x="127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3" name="Freeform 35"/>
            <p:cNvSpPr>
              <a:spLocks noEditPoints="1"/>
            </p:cNvSpPr>
            <p:nvPr/>
          </p:nvSpPr>
          <p:spPr bwMode="auto">
            <a:xfrm>
              <a:off x="127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4" name="Freeform 36"/>
            <p:cNvSpPr>
              <a:spLocks noEditPoints="1"/>
            </p:cNvSpPr>
            <p:nvPr/>
          </p:nvSpPr>
          <p:spPr bwMode="auto">
            <a:xfrm>
              <a:off x="127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5" name="Freeform 37"/>
            <p:cNvSpPr>
              <a:spLocks noEditPoints="1"/>
            </p:cNvSpPr>
            <p:nvPr/>
          </p:nvSpPr>
          <p:spPr bwMode="auto">
            <a:xfrm>
              <a:off x="127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6" name="Rectangle 38"/>
            <p:cNvSpPr>
              <a:spLocks noChangeArrowheads="1"/>
            </p:cNvSpPr>
            <p:nvPr/>
          </p:nvSpPr>
          <p:spPr bwMode="auto">
            <a:xfrm>
              <a:off x="1279" y="4269"/>
              <a:ext cx="21"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47" name="Rectangle 39"/>
            <p:cNvSpPr>
              <a:spLocks noChangeArrowheads="1"/>
            </p:cNvSpPr>
            <p:nvPr/>
          </p:nvSpPr>
          <p:spPr bwMode="auto">
            <a:xfrm>
              <a:off x="1724" y="23"/>
              <a:ext cx="21"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48" name="Freeform 40"/>
            <p:cNvSpPr>
              <a:spLocks noEditPoints="1"/>
            </p:cNvSpPr>
            <p:nvPr/>
          </p:nvSpPr>
          <p:spPr bwMode="auto">
            <a:xfrm>
              <a:off x="1724"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49" name="Freeform 41"/>
            <p:cNvSpPr>
              <a:spLocks noEditPoints="1"/>
            </p:cNvSpPr>
            <p:nvPr/>
          </p:nvSpPr>
          <p:spPr bwMode="auto">
            <a:xfrm>
              <a:off x="1724"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0" name="Freeform 42"/>
            <p:cNvSpPr>
              <a:spLocks noEditPoints="1"/>
            </p:cNvSpPr>
            <p:nvPr/>
          </p:nvSpPr>
          <p:spPr bwMode="auto">
            <a:xfrm>
              <a:off x="1724"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1" name="Freeform 43"/>
            <p:cNvSpPr>
              <a:spLocks noEditPoints="1"/>
            </p:cNvSpPr>
            <p:nvPr/>
          </p:nvSpPr>
          <p:spPr bwMode="auto">
            <a:xfrm>
              <a:off x="1724"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2" name="Freeform 44"/>
            <p:cNvSpPr>
              <a:spLocks noEditPoints="1"/>
            </p:cNvSpPr>
            <p:nvPr/>
          </p:nvSpPr>
          <p:spPr bwMode="auto">
            <a:xfrm>
              <a:off x="1724"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3" name="Freeform 45"/>
            <p:cNvSpPr>
              <a:spLocks noEditPoints="1"/>
            </p:cNvSpPr>
            <p:nvPr/>
          </p:nvSpPr>
          <p:spPr bwMode="auto">
            <a:xfrm>
              <a:off x="1724"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4" name="Freeform 46"/>
            <p:cNvSpPr>
              <a:spLocks noEditPoints="1"/>
            </p:cNvSpPr>
            <p:nvPr/>
          </p:nvSpPr>
          <p:spPr bwMode="auto">
            <a:xfrm>
              <a:off x="1724"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5" name="Freeform 47"/>
            <p:cNvSpPr>
              <a:spLocks noEditPoints="1"/>
            </p:cNvSpPr>
            <p:nvPr/>
          </p:nvSpPr>
          <p:spPr bwMode="auto">
            <a:xfrm>
              <a:off x="1724"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6" name="Freeform 48"/>
            <p:cNvSpPr>
              <a:spLocks noEditPoints="1"/>
            </p:cNvSpPr>
            <p:nvPr/>
          </p:nvSpPr>
          <p:spPr bwMode="auto">
            <a:xfrm>
              <a:off x="1724"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7" name="Freeform 49"/>
            <p:cNvSpPr>
              <a:spLocks noEditPoints="1"/>
            </p:cNvSpPr>
            <p:nvPr/>
          </p:nvSpPr>
          <p:spPr bwMode="auto">
            <a:xfrm>
              <a:off x="1724"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58" name="Rectangle 50"/>
            <p:cNvSpPr>
              <a:spLocks noChangeArrowheads="1"/>
            </p:cNvSpPr>
            <p:nvPr/>
          </p:nvSpPr>
          <p:spPr bwMode="auto">
            <a:xfrm>
              <a:off x="1724" y="4269"/>
              <a:ext cx="21"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59" name="Rectangle 51"/>
            <p:cNvSpPr>
              <a:spLocks noChangeArrowheads="1"/>
            </p:cNvSpPr>
            <p:nvPr/>
          </p:nvSpPr>
          <p:spPr bwMode="auto">
            <a:xfrm>
              <a:off x="2169" y="23"/>
              <a:ext cx="21"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60" name="Freeform 52"/>
            <p:cNvSpPr>
              <a:spLocks noEditPoints="1"/>
            </p:cNvSpPr>
            <p:nvPr/>
          </p:nvSpPr>
          <p:spPr bwMode="auto">
            <a:xfrm>
              <a:off x="2169" y="225"/>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1" name="Freeform 53"/>
            <p:cNvSpPr>
              <a:spLocks noEditPoints="1"/>
            </p:cNvSpPr>
            <p:nvPr/>
          </p:nvSpPr>
          <p:spPr bwMode="auto">
            <a:xfrm>
              <a:off x="2169" y="630"/>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2" name="Freeform 54"/>
            <p:cNvSpPr>
              <a:spLocks noEditPoints="1"/>
            </p:cNvSpPr>
            <p:nvPr/>
          </p:nvSpPr>
          <p:spPr bwMode="auto">
            <a:xfrm>
              <a:off x="2169" y="1034"/>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3" name="Freeform 55"/>
            <p:cNvSpPr>
              <a:spLocks noEditPoints="1"/>
            </p:cNvSpPr>
            <p:nvPr/>
          </p:nvSpPr>
          <p:spPr bwMode="auto">
            <a:xfrm>
              <a:off x="2169" y="1438"/>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4" name="Freeform 56"/>
            <p:cNvSpPr>
              <a:spLocks noEditPoints="1"/>
            </p:cNvSpPr>
            <p:nvPr/>
          </p:nvSpPr>
          <p:spPr bwMode="auto">
            <a:xfrm>
              <a:off x="2169" y="1843"/>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5" name="Freeform 57"/>
            <p:cNvSpPr>
              <a:spLocks noEditPoints="1"/>
            </p:cNvSpPr>
            <p:nvPr/>
          </p:nvSpPr>
          <p:spPr bwMode="auto">
            <a:xfrm>
              <a:off x="2169" y="2247"/>
              <a:ext cx="21"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6" name="Freeform 58"/>
            <p:cNvSpPr>
              <a:spLocks noEditPoints="1"/>
            </p:cNvSpPr>
            <p:nvPr/>
          </p:nvSpPr>
          <p:spPr bwMode="auto">
            <a:xfrm>
              <a:off x="2169" y="2652"/>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7" name="Freeform 59"/>
            <p:cNvSpPr>
              <a:spLocks noEditPoints="1"/>
            </p:cNvSpPr>
            <p:nvPr/>
          </p:nvSpPr>
          <p:spPr bwMode="auto">
            <a:xfrm>
              <a:off x="2169" y="3056"/>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8" name="Freeform 60"/>
            <p:cNvSpPr>
              <a:spLocks noEditPoints="1"/>
            </p:cNvSpPr>
            <p:nvPr/>
          </p:nvSpPr>
          <p:spPr bwMode="auto">
            <a:xfrm>
              <a:off x="2169" y="3461"/>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69" name="Freeform 61"/>
            <p:cNvSpPr>
              <a:spLocks noEditPoints="1"/>
            </p:cNvSpPr>
            <p:nvPr/>
          </p:nvSpPr>
          <p:spPr bwMode="auto">
            <a:xfrm>
              <a:off x="2169" y="3865"/>
              <a:ext cx="21"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0" name="Rectangle 62"/>
            <p:cNvSpPr>
              <a:spLocks noChangeArrowheads="1"/>
            </p:cNvSpPr>
            <p:nvPr/>
          </p:nvSpPr>
          <p:spPr bwMode="auto">
            <a:xfrm>
              <a:off x="2169" y="4269"/>
              <a:ext cx="21"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71" name="Rectangle 63"/>
            <p:cNvSpPr>
              <a:spLocks noChangeArrowheads="1"/>
            </p:cNvSpPr>
            <p:nvPr/>
          </p:nvSpPr>
          <p:spPr bwMode="auto">
            <a:xfrm>
              <a:off x="2620"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72" name="Freeform 64"/>
            <p:cNvSpPr>
              <a:spLocks noEditPoints="1"/>
            </p:cNvSpPr>
            <p:nvPr/>
          </p:nvSpPr>
          <p:spPr bwMode="auto">
            <a:xfrm>
              <a:off x="262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3" name="Freeform 65"/>
            <p:cNvSpPr>
              <a:spLocks noEditPoints="1"/>
            </p:cNvSpPr>
            <p:nvPr/>
          </p:nvSpPr>
          <p:spPr bwMode="auto">
            <a:xfrm>
              <a:off x="262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4" name="Freeform 66"/>
            <p:cNvSpPr>
              <a:spLocks noEditPoints="1"/>
            </p:cNvSpPr>
            <p:nvPr/>
          </p:nvSpPr>
          <p:spPr bwMode="auto">
            <a:xfrm>
              <a:off x="262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5" name="Freeform 67"/>
            <p:cNvSpPr>
              <a:spLocks noEditPoints="1"/>
            </p:cNvSpPr>
            <p:nvPr/>
          </p:nvSpPr>
          <p:spPr bwMode="auto">
            <a:xfrm>
              <a:off x="262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6" name="Freeform 68"/>
            <p:cNvSpPr>
              <a:spLocks noEditPoints="1"/>
            </p:cNvSpPr>
            <p:nvPr/>
          </p:nvSpPr>
          <p:spPr bwMode="auto">
            <a:xfrm>
              <a:off x="262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7" name="Freeform 69"/>
            <p:cNvSpPr>
              <a:spLocks noEditPoints="1"/>
            </p:cNvSpPr>
            <p:nvPr/>
          </p:nvSpPr>
          <p:spPr bwMode="auto">
            <a:xfrm>
              <a:off x="262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8" name="Freeform 70"/>
            <p:cNvSpPr>
              <a:spLocks noEditPoints="1"/>
            </p:cNvSpPr>
            <p:nvPr/>
          </p:nvSpPr>
          <p:spPr bwMode="auto">
            <a:xfrm>
              <a:off x="262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79" name="Freeform 71"/>
            <p:cNvSpPr>
              <a:spLocks noEditPoints="1"/>
            </p:cNvSpPr>
            <p:nvPr/>
          </p:nvSpPr>
          <p:spPr bwMode="auto">
            <a:xfrm>
              <a:off x="262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0" name="Freeform 72"/>
            <p:cNvSpPr>
              <a:spLocks noEditPoints="1"/>
            </p:cNvSpPr>
            <p:nvPr/>
          </p:nvSpPr>
          <p:spPr bwMode="auto">
            <a:xfrm>
              <a:off x="262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1" name="Freeform 73"/>
            <p:cNvSpPr>
              <a:spLocks noEditPoints="1"/>
            </p:cNvSpPr>
            <p:nvPr/>
          </p:nvSpPr>
          <p:spPr bwMode="auto">
            <a:xfrm>
              <a:off x="262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2" name="Rectangle 74"/>
            <p:cNvSpPr>
              <a:spLocks noChangeArrowheads="1"/>
            </p:cNvSpPr>
            <p:nvPr/>
          </p:nvSpPr>
          <p:spPr bwMode="auto">
            <a:xfrm>
              <a:off x="2620"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83" name="Rectangle 75"/>
            <p:cNvSpPr>
              <a:spLocks noChangeArrowheads="1"/>
            </p:cNvSpPr>
            <p:nvPr/>
          </p:nvSpPr>
          <p:spPr bwMode="auto">
            <a:xfrm>
              <a:off x="3065"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84" name="Freeform 76"/>
            <p:cNvSpPr>
              <a:spLocks noEditPoints="1"/>
            </p:cNvSpPr>
            <p:nvPr/>
          </p:nvSpPr>
          <p:spPr bwMode="auto">
            <a:xfrm>
              <a:off x="306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5" name="Freeform 77"/>
            <p:cNvSpPr>
              <a:spLocks noEditPoints="1"/>
            </p:cNvSpPr>
            <p:nvPr/>
          </p:nvSpPr>
          <p:spPr bwMode="auto">
            <a:xfrm>
              <a:off x="306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6" name="Freeform 78"/>
            <p:cNvSpPr>
              <a:spLocks noEditPoints="1"/>
            </p:cNvSpPr>
            <p:nvPr/>
          </p:nvSpPr>
          <p:spPr bwMode="auto">
            <a:xfrm>
              <a:off x="306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7" name="Freeform 79"/>
            <p:cNvSpPr>
              <a:spLocks noEditPoints="1"/>
            </p:cNvSpPr>
            <p:nvPr/>
          </p:nvSpPr>
          <p:spPr bwMode="auto">
            <a:xfrm>
              <a:off x="306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8" name="Freeform 80"/>
            <p:cNvSpPr>
              <a:spLocks noEditPoints="1"/>
            </p:cNvSpPr>
            <p:nvPr/>
          </p:nvSpPr>
          <p:spPr bwMode="auto">
            <a:xfrm>
              <a:off x="306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89" name="Freeform 81"/>
            <p:cNvSpPr>
              <a:spLocks noEditPoints="1"/>
            </p:cNvSpPr>
            <p:nvPr/>
          </p:nvSpPr>
          <p:spPr bwMode="auto">
            <a:xfrm>
              <a:off x="306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0" name="Freeform 82"/>
            <p:cNvSpPr>
              <a:spLocks noEditPoints="1"/>
            </p:cNvSpPr>
            <p:nvPr/>
          </p:nvSpPr>
          <p:spPr bwMode="auto">
            <a:xfrm>
              <a:off x="306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1" name="Freeform 83"/>
            <p:cNvSpPr>
              <a:spLocks noEditPoints="1"/>
            </p:cNvSpPr>
            <p:nvPr/>
          </p:nvSpPr>
          <p:spPr bwMode="auto">
            <a:xfrm>
              <a:off x="306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2" name="Freeform 84"/>
            <p:cNvSpPr>
              <a:spLocks noEditPoints="1"/>
            </p:cNvSpPr>
            <p:nvPr/>
          </p:nvSpPr>
          <p:spPr bwMode="auto">
            <a:xfrm>
              <a:off x="306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3" name="Freeform 85"/>
            <p:cNvSpPr>
              <a:spLocks noEditPoints="1"/>
            </p:cNvSpPr>
            <p:nvPr/>
          </p:nvSpPr>
          <p:spPr bwMode="auto">
            <a:xfrm>
              <a:off x="306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4" name="Rectangle 86"/>
            <p:cNvSpPr>
              <a:spLocks noChangeArrowheads="1"/>
            </p:cNvSpPr>
            <p:nvPr/>
          </p:nvSpPr>
          <p:spPr bwMode="auto">
            <a:xfrm>
              <a:off x="3065"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95" name="Rectangle 87"/>
            <p:cNvSpPr>
              <a:spLocks noChangeArrowheads="1"/>
            </p:cNvSpPr>
            <p:nvPr/>
          </p:nvSpPr>
          <p:spPr bwMode="auto">
            <a:xfrm>
              <a:off x="3510"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896" name="Freeform 88"/>
            <p:cNvSpPr>
              <a:spLocks noEditPoints="1"/>
            </p:cNvSpPr>
            <p:nvPr/>
          </p:nvSpPr>
          <p:spPr bwMode="auto">
            <a:xfrm>
              <a:off x="351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7" name="Freeform 89"/>
            <p:cNvSpPr>
              <a:spLocks noEditPoints="1"/>
            </p:cNvSpPr>
            <p:nvPr/>
          </p:nvSpPr>
          <p:spPr bwMode="auto">
            <a:xfrm>
              <a:off x="351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8" name="Freeform 90"/>
            <p:cNvSpPr>
              <a:spLocks noEditPoints="1"/>
            </p:cNvSpPr>
            <p:nvPr/>
          </p:nvSpPr>
          <p:spPr bwMode="auto">
            <a:xfrm>
              <a:off x="351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899" name="Freeform 91"/>
            <p:cNvSpPr>
              <a:spLocks noEditPoints="1"/>
            </p:cNvSpPr>
            <p:nvPr/>
          </p:nvSpPr>
          <p:spPr bwMode="auto">
            <a:xfrm>
              <a:off x="351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0" name="Freeform 92"/>
            <p:cNvSpPr>
              <a:spLocks noEditPoints="1"/>
            </p:cNvSpPr>
            <p:nvPr/>
          </p:nvSpPr>
          <p:spPr bwMode="auto">
            <a:xfrm>
              <a:off x="351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1" name="Freeform 93"/>
            <p:cNvSpPr>
              <a:spLocks noEditPoints="1"/>
            </p:cNvSpPr>
            <p:nvPr/>
          </p:nvSpPr>
          <p:spPr bwMode="auto">
            <a:xfrm>
              <a:off x="351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2" name="Freeform 94"/>
            <p:cNvSpPr>
              <a:spLocks noEditPoints="1"/>
            </p:cNvSpPr>
            <p:nvPr/>
          </p:nvSpPr>
          <p:spPr bwMode="auto">
            <a:xfrm>
              <a:off x="351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3" name="Freeform 95"/>
            <p:cNvSpPr>
              <a:spLocks noEditPoints="1"/>
            </p:cNvSpPr>
            <p:nvPr/>
          </p:nvSpPr>
          <p:spPr bwMode="auto">
            <a:xfrm>
              <a:off x="351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4" name="Freeform 96"/>
            <p:cNvSpPr>
              <a:spLocks noEditPoints="1"/>
            </p:cNvSpPr>
            <p:nvPr/>
          </p:nvSpPr>
          <p:spPr bwMode="auto">
            <a:xfrm>
              <a:off x="351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5" name="Freeform 97"/>
            <p:cNvSpPr>
              <a:spLocks noEditPoints="1"/>
            </p:cNvSpPr>
            <p:nvPr/>
          </p:nvSpPr>
          <p:spPr bwMode="auto">
            <a:xfrm>
              <a:off x="351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6" name="Rectangle 98"/>
            <p:cNvSpPr>
              <a:spLocks noChangeArrowheads="1"/>
            </p:cNvSpPr>
            <p:nvPr/>
          </p:nvSpPr>
          <p:spPr bwMode="auto">
            <a:xfrm>
              <a:off x="3510"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07" name="Rectangle 99"/>
            <p:cNvSpPr>
              <a:spLocks noChangeArrowheads="1"/>
            </p:cNvSpPr>
            <p:nvPr/>
          </p:nvSpPr>
          <p:spPr bwMode="auto">
            <a:xfrm>
              <a:off x="3960"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08" name="Freeform 100"/>
            <p:cNvSpPr>
              <a:spLocks noEditPoints="1"/>
            </p:cNvSpPr>
            <p:nvPr/>
          </p:nvSpPr>
          <p:spPr bwMode="auto">
            <a:xfrm>
              <a:off x="396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09" name="Freeform 101"/>
            <p:cNvSpPr>
              <a:spLocks noEditPoints="1"/>
            </p:cNvSpPr>
            <p:nvPr/>
          </p:nvSpPr>
          <p:spPr bwMode="auto">
            <a:xfrm>
              <a:off x="396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0" name="Freeform 102"/>
            <p:cNvSpPr>
              <a:spLocks noEditPoints="1"/>
            </p:cNvSpPr>
            <p:nvPr/>
          </p:nvSpPr>
          <p:spPr bwMode="auto">
            <a:xfrm>
              <a:off x="396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1" name="Freeform 103"/>
            <p:cNvSpPr>
              <a:spLocks noEditPoints="1"/>
            </p:cNvSpPr>
            <p:nvPr/>
          </p:nvSpPr>
          <p:spPr bwMode="auto">
            <a:xfrm>
              <a:off x="396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2" name="Freeform 104"/>
            <p:cNvSpPr>
              <a:spLocks noEditPoints="1"/>
            </p:cNvSpPr>
            <p:nvPr/>
          </p:nvSpPr>
          <p:spPr bwMode="auto">
            <a:xfrm>
              <a:off x="396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3" name="Freeform 105"/>
            <p:cNvSpPr>
              <a:spLocks noEditPoints="1"/>
            </p:cNvSpPr>
            <p:nvPr/>
          </p:nvSpPr>
          <p:spPr bwMode="auto">
            <a:xfrm>
              <a:off x="396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4" name="Freeform 106"/>
            <p:cNvSpPr>
              <a:spLocks noEditPoints="1"/>
            </p:cNvSpPr>
            <p:nvPr/>
          </p:nvSpPr>
          <p:spPr bwMode="auto">
            <a:xfrm>
              <a:off x="396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5" name="Freeform 107"/>
            <p:cNvSpPr>
              <a:spLocks noEditPoints="1"/>
            </p:cNvSpPr>
            <p:nvPr/>
          </p:nvSpPr>
          <p:spPr bwMode="auto">
            <a:xfrm>
              <a:off x="396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6" name="Freeform 108"/>
            <p:cNvSpPr>
              <a:spLocks noEditPoints="1"/>
            </p:cNvSpPr>
            <p:nvPr/>
          </p:nvSpPr>
          <p:spPr bwMode="auto">
            <a:xfrm>
              <a:off x="396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7" name="Freeform 109"/>
            <p:cNvSpPr>
              <a:spLocks noEditPoints="1"/>
            </p:cNvSpPr>
            <p:nvPr/>
          </p:nvSpPr>
          <p:spPr bwMode="auto">
            <a:xfrm>
              <a:off x="396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18" name="Rectangle 110"/>
            <p:cNvSpPr>
              <a:spLocks noChangeArrowheads="1"/>
            </p:cNvSpPr>
            <p:nvPr/>
          </p:nvSpPr>
          <p:spPr bwMode="auto">
            <a:xfrm>
              <a:off x="3960"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19" name="Rectangle 111"/>
            <p:cNvSpPr>
              <a:spLocks noChangeArrowheads="1"/>
            </p:cNvSpPr>
            <p:nvPr/>
          </p:nvSpPr>
          <p:spPr bwMode="auto">
            <a:xfrm>
              <a:off x="4405"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20" name="Freeform 112"/>
            <p:cNvSpPr>
              <a:spLocks noEditPoints="1"/>
            </p:cNvSpPr>
            <p:nvPr/>
          </p:nvSpPr>
          <p:spPr bwMode="auto">
            <a:xfrm>
              <a:off x="4405"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1" name="Freeform 113"/>
            <p:cNvSpPr>
              <a:spLocks noEditPoints="1"/>
            </p:cNvSpPr>
            <p:nvPr/>
          </p:nvSpPr>
          <p:spPr bwMode="auto">
            <a:xfrm>
              <a:off x="4405"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2" name="Freeform 114"/>
            <p:cNvSpPr>
              <a:spLocks noEditPoints="1"/>
            </p:cNvSpPr>
            <p:nvPr/>
          </p:nvSpPr>
          <p:spPr bwMode="auto">
            <a:xfrm>
              <a:off x="4405"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3" name="Freeform 115"/>
            <p:cNvSpPr>
              <a:spLocks noEditPoints="1"/>
            </p:cNvSpPr>
            <p:nvPr/>
          </p:nvSpPr>
          <p:spPr bwMode="auto">
            <a:xfrm>
              <a:off x="4405"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4" name="Freeform 116"/>
            <p:cNvSpPr>
              <a:spLocks noEditPoints="1"/>
            </p:cNvSpPr>
            <p:nvPr/>
          </p:nvSpPr>
          <p:spPr bwMode="auto">
            <a:xfrm>
              <a:off x="4405"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5" name="Freeform 117"/>
            <p:cNvSpPr>
              <a:spLocks noEditPoints="1"/>
            </p:cNvSpPr>
            <p:nvPr/>
          </p:nvSpPr>
          <p:spPr bwMode="auto">
            <a:xfrm>
              <a:off x="4405"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6" name="Freeform 118"/>
            <p:cNvSpPr>
              <a:spLocks noEditPoints="1"/>
            </p:cNvSpPr>
            <p:nvPr/>
          </p:nvSpPr>
          <p:spPr bwMode="auto">
            <a:xfrm>
              <a:off x="4405"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7" name="Freeform 119"/>
            <p:cNvSpPr>
              <a:spLocks noEditPoints="1"/>
            </p:cNvSpPr>
            <p:nvPr/>
          </p:nvSpPr>
          <p:spPr bwMode="auto">
            <a:xfrm>
              <a:off x="4405"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8" name="Freeform 120"/>
            <p:cNvSpPr>
              <a:spLocks noEditPoints="1"/>
            </p:cNvSpPr>
            <p:nvPr/>
          </p:nvSpPr>
          <p:spPr bwMode="auto">
            <a:xfrm>
              <a:off x="4405"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29" name="Freeform 121"/>
            <p:cNvSpPr>
              <a:spLocks noEditPoints="1"/>
            </p:cNvSpPr>
            <p:nvPr/>
          </p:nvSpPr>
          <p:spPr bwMode="auto">
            <a:xfrm>
              <a:off x="4405"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0" name="Rectangle 122"/>
            <p:cNvSpPr>
              <a:spLocks noChangeArrowheads="1"/>
            </p:cNvSpPr>
            <p:nvPr/>
          </p:nvSpPr>
          <p:spPr bwMode="auto">
            <a:xfrm>
              <a:off x="4405"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31" name="Rectangle 123"/>
            <p:cNvSpPr>
              <a:spLocks noChangeArrowheads="1"/>
            </p:cNvSpPr>
            <p:nvPr/>
          </p:nvSpPr>
          <p:spPr bwMode="auto">
            <a:xfrm>
              <a:off x="4850"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32" name="Freeform 124"/>
            <p:cNvSpPr>
              <a:spLocks noEditPoints="1"/>
            </p:cNvSpPr>
            <p:nvPr/>
          </p:nvSpPr>
          <p:spPr bwMode="auto">
            <a:xfrm>
              <a:off x="485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3" name="Freeform 125"/>
            <p:cNvSpPr>
              <a:spLocks noEditPoints="1"/>
            </p:cNvSpPr>
            <p:nvPr/>
          </p:nvSpPr>
          <p:spPr bwMode="auto">
            <a:xfrm>
              <a:off x="485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4" name="Freeform 126"/>
            <p:cNvSpPr>
              <a:spLocks noEditPoints="1"/>
            </p:cNvSpPr>
            <p:nvPr/>
          </p:nvSpPr>
          <p:spPr bwMode="auto">
            <a:xfrm>
              <a:off x="485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5" name="Freeform 127"/>
            <p:cNvSpPr>
              <a:spLocks noEditPoints="1"/>
            </p:cNvSpPr>
            <p:nvPr/>
          </p:nvSpPr>
          <p:spPr bwMode="auto">
            <a:xfrm>
              <a:off x="485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6" name="Freeform 128"/>
            <p:cNvSpPr>
              <a:spLocks noEditPoints="1"/>
            </p:cNvSpPr>
            <p:nvPr/>
          </p:nvSpPr>
          <p:spPr bwMode="auto">
            <a:xfrm>
              <a:off x="485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7" name="Freeform 129"/>
            <p:cNvSpPr>
              <a:spLocks noEditPoints="1"/>
            </p:cNvSpPr>
            <p:nvPr/>
          </p:nvSpPr>
          <p:spPr bwMode="auto">
            <a:xfrm>
              <a:off x="485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8" name="Freeform 130"/>
            <p:cNvSpPr>
              <a:spLocks noEditPoints="1"/>
            </p:cNvSpPr>
            <p:nvPr/>
          </p:nvSpPr>
          <p:spPr bwMode="auto">
            <a:xfrm>
              <a:off x="485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39" name="Freeform 131"/>
            <p:cNvSpPr>
              <a:spLocks noEditPoints="1"/>
            </p:cNvSpPr>
            <p:nvPr/>
          </p:nvSpPr>
          <p:spPr bwMode="auto">
            <a:xfrm>
              <a:off x="485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0" name="Freeform 132"/>
            <p:cNvSpPr>
              <a:spLocks noEditPoints="1"/>
            </p:cNvSpPr>
            <p:nvPr/>
          </p:nvSpPr>
          <p:spPr bwMode="auto">
            <a:xfrm>
              <a:off x="485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1" name="Freeform 133"/>
            <p:cNvSpPr>
              <a:spLocks noEditPoints="1"/>
            </p:cNvSpPr>
            <p:nvPr/>
          </p:nvSpPr>
          <p:spPr bwMode="auto">
            <a:xfrm>
              <a:off x="485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2" name="Rectangle 134"/>
            <p:cNvSpPr>
              <a:spLocks noChangeArrowheads="1"/>
            </p:cNvSpPr>
            <p:nvPr/>
          </p:nvSpPr>
          <p:spPr bwMode="auto">
            <a:xfrm>
              <a:off x="4850"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43" name="Rectangle 135"/>
            <p:cNvSpPr>
              <a:spLocks noChangeArrowheads="1"/>
            </p:cNvSpPr>
            <p:nvPr/>
          </p:nvSpPr>
          <p:spPr bwMode="auto">
            <a:xfrm>
              <a:off x="5300" y="23"/>
              <a:ext cx="20" cy="10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44" name="Freeform 136"/>
            <p:cNvSpPr>
              <a:spLocks noEditPoints="1"/>
            </p:cNvSpPr>
            <p:nvPr/>
          </p:nvSpPr>
          <p:spPr bwMode="auto">
            <a:xfrm>
              <a:off x="5300" y="225"/>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5" name="Freeform 137"/>
            <p:cNvSpPr>
              <a:spLocks noEditPoints="1"/>
            </p:cNvSpPr>
            <p:nvPr/>
          </p:nvSpPr>
          <p:spPr bwMode="auto">
            <a:xfrm>
              <a:off x="5300" y="630"/>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6" name="Freeform 138"/>
            <p:cNvSpPr>
              <a:spLocks noEditPoints="1"/>
            </p:cNvSpPr>
            <p:nvPr/>
          </p:nvSpPr>
          <p:spPr bwMode="auto">
            <a:xfrm>
              <a:off x="5300" y="1034"/>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7" name="Freeform 139"/>
            <p:cNvSpPr>
              <a:spLocks noEditPoints="1"/>
            </p:cNvSpPr>
            <p:nvPr/>
          </p:nvSpPr>
          <p:spPr bwMode="auto">
            <a:xfrm>
              <a:off x="5300" y="1438"/>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8" name="Freeform 140"/>
            <p:cNvSpPr>
              <a:spLocks noEditPoints="1"/>
            </p:cNvSpPr>
            <p:nvPr/>
          </p:nvSpPr>
          <p:spPr bwMode="auto">
            <a:xfrm>
              <a:off x="5300" y="1843"/>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49" name="Freeform 141"/>
            <p:cNvSpPr>
              <a:spLocks noEditPoints="1"/>
            </p:cNvSpPr>
            <p:nvPr/>
          </p:nvSpPr>
          <p:spPr bwMode="auto">
            <a:xfrm>
              <a:off x="5300" y="2247"/>
              <a:ext cx="20" cy="304"/>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50" name="Freeform 142"/>
            <p:cNvSpPr>
              <a:spLocks noEditPoints="1"/>
            </p:cNvSpPr>
            <p:nvPr/>
          </p:nvSpPr>
          <p:spPr bwMode="auto">
            <a:xfrm>
              <a:off x="5300" y="2652"/>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51" name="Freeform 143"/>
            <p:cNvSpPr>
              <a:spLocks noEditPoints="1"/>
            </p:cNvSpPr>
            <p:nvPr/>
          </p:nvSpPr>
          <p:spPr bwMode="auto">
            <a:xfrm>
              <a:off x="5300" y="3056"/>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52" name="Freeform 144"/>
            <p:cNvSpPr>
              <a:spLocks noEditPoints="1"/>
            </p:cNvSpPr>
            <p:nvPr/>
          </p:nvSpPr>
          <p:spPr bwMode="auto">
            <a:xfrm>
              <a:off x="5300" y="3461"/>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53" name="Freeform 145"/>
            <p:cNvSpPr>
              <a:spLocks noEditPoints="1"/>
            </p:cNvSpPr>
            <p:nvPr/>
          </p:nvSpPr>
          <p:spPr bwMode="auto">
            <a:xfrm>
              <a:off x="5300" y="3865"/>
              <a:ext cx="20" cy="303"/>
            </a:xfrm>
            <a:custGeom>
              <a:avLst/>
              <a:gdLst/>
              <a:ahLst/>
              <a:cxnLst>
                <a:cxn ang="0">
                  <a:pos x="0" y="0"/>
                </a:cxn>
                <a:cxn ang="0">
                  <a:pos x="0" y="20"/>
                </a:cxn>
                <a:cxn ang="0">
                  <a:pos x="4" y="20"/>
                </a:cxn>
                <a:cxn ang="0">
                  <a:pos x="4" y="0"/>
                </a:cxn>
                <a:cxn ang="0">
                  <a:pos x="0" y="0"/>
                </a:cxn>
                <a:cxn ang="0">
                  <a:pos x="0" y="40"/>
                </a:cxn>
                <a:cxn ang="0">
                  <a:pos x="0" y="60"/>
                </a:cxn>
                <a:cxn ang="0">
                  <a:pos x="4" y="60"/>
                </a:cxn>
                <a:cxn ang="0">
                  <a:pos x="4" y="40"/>
                </a:cxn>
                <a:cxn ang="0">
                  <a:pos x="0" y="40"/>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w="0">
              <a:noFill/>
              <a:prstDash val="solid"/>
              <a:round/>
              <a:headEnd/>
              <a:tailEnd/>
            </a:ln>
          </p:spPr>
          <p:txBody>
            <a:bodyPr/>
            <a:lstStyle/>
            <a:p>
              <a:pPr>
                <a:defRPr/>
              </a:pPr>
              <a:endParaRPr lang="zh-CN" altLang="en-US"/>
            </a:p>
          </p:txBody>
        </p:sp>
        <p:sp>
          <p:nvSpPr>
            <p:cNvPr id="375954" name="Rectangle 146"/>
            <p:cNvSpPr>
              <a:spLocks noChangeArrowheads="1"/>
            </p:cNvSpPr>
            <p:nvPr/>
          </p:nvSpPr>
          <p:spPr bwMode="auto">
            <a:xfrm>
              <a:off x="5300" y="4269"/>
              <a:ext cx="20" cy="51"/>
            </a:xfrm>
            <a:prstGeom prst="rect">
              <a:avLst/>
            </a:prstGeom>
            <a:solidFill>
              <a:schemeClr val="bg2">
                <a:alpha val="60001"/>
              </a:schemeClr>
            </a:solidFill>
            <a:ln w="0">
              <a:noFill/>
              <a:miter lim="800000"/>
              <a:headEnd/>
              <a:tailEnd/>
            </a:ln>
          </p:spPr>
          <p:txBody>
            <a:bodyPr/>
            <a:lstStyle/>
            <a:p>
              <a:pPr>
                <a:defRPr/>
              </a:pPr>
              <a:endParaRPr lang="zh-CN" altLang="en-US"/>
            </a:p>
          </p:txBody>
        </p:sp>
        <p:sp>
          <p:nvSpPr>
            <p:cNvPr id="375955" name="Freeform 147"/>
            <p:cNvSpPr>
              <a:spLocks/>
            </p:cNvSpPr>
            <p:nvPr/>
          </p:nvSpPr>
          <p:spPr bwMode="auto">
            <a:xfrm>
              <a:off x="349" y="3304"/>
              <a:ext cx="20" cy="10"/>
            </a:xfrm>
            <a:custGeom>
              <a:avLst/>
              <a:gdLst/>
              <a:ahLst/>
              <a:cxnLst>
                <a:cxn ang="0">
                  <a:pos x="0" y="1"/>
                </a:cxn>
                <a:cxn ang="0">
                  <a:pos x="0" y="1"/>
                </a:cxn>
              </a:cxnLst>
              <a:rect l="0" t="0" r="r" b="b"/>
              <a:pathLst>
                <a:path w="4" h="2">
                  <a:moveTo>
                    <a:pt x="0" y="1"/>
                  </a:moveTo>
                  <a:cubicBezTo>
                    <a:pt x="1" y="2"/>
                    <a:pt x="4" y="0"/>
                    <a:pt x="0" y="1"/>
                  </a:cubicBezTo>
                  <a:close/>
                </a:path>
              </a:pathLst>
            </a:custGeom>
            <a:solidFill>
              <a:schemeClr val="bg2">
                <a:alpha val="60001"/>
              </a:schemeClr>
            </a:solidFill>
            <a:ln w="0">
              <a:noFill/>
              <a:prstDash val="solid"/>
              <a:round/>
              <a:headEnd/>
              <a:tailEnd/>
            </a:ln>
          </p:spPr>
          <p:txBody>
            <a:bodyPr/>
            <a:lstStyle/>
            <a:p>
              <a:pPr>
                <a:defRPr/>
              </a:pPr>
              <a:endParaRPr lang="zh-CN" altLang="en-US"/>
            </a:p>
          </p:txBody>
        </p:sp>
      </p:grpSp>
      <p:sp>
        <p:nvSpPr>
          <p:cNvPr id="376057" name="Rectangle 249"/>
          <p:cNvSpPr>
            <a:spLocks noGrp="1" noRot="1" noChangeArrowheads="1"/>
          </p:cNvSpPr>
          <p:nvPr>
            <p:ph type="body" idx="1"/>
          </p:nvPr>
        </p:nvSpPr>
        <p:spPr bwMode="auto">
          <a:xfrm>
            <a:off x="609600" y="1600200"/>
            <a:ext cx="8153400" cy="44989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376058" name="Rectangle 250"/>
          <p:cNvSpPr>
            <a:spLocks noGrp="1" noChangeArrowheads="1"/>
          </p:cNvSpPr>
          <p:nvPr>
            <p:ph type="dt" sz="half" idx="2"/>
          </p:nvPr>
        </p:nvSpPr>
        <p:spPr bwMode="auto">
          <a:xfrm>
            <a:off x="29845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C8B2B29D-C687-44E9-BDA5-6CA28BFEFE00}" type="datetime1">
              <a:rPr lang="zh-CN" altLang="en-US"/>
              <a:pPr>
                <a:defRPr/>
              </a:pPr>
              <a:t>2018/2/24</a:t>
            </a:fld>
            <a:endParaRPr lang="en-US" altLang="zh-CN"/>
          </a:p>
        </p:txBody>
      </p:sp>
      <p:sp>
        <p:nvSpPr>
          <p:cNvPr id="376059" name="Rectangle 251"/>
          <p:cNvSpPr>
            <a:spLocks noGrp="1" noChangeArrowheads="1"/>
          </p:cNvSpPr>
          <p:nvPr>
            <p:ph type="ftr" sz="quarter" idx="3"/>
          </p:nvPr>
        </p:nvSpPr>
        <p:spPr bwMode="auto">
          <a:xfrm>
            <a:off x="3121025"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376060" name="Rectangle 252"/>
          <p:cNvSpPr>
            <a:spLocks noGrp="1" noChangeArrowheads="1"/>
          </p:cNvSpPr>
          <p:nvPr>
            <p:ph type="sldNum" sz="quarter" idx="4"/>
          </p:nvPr>
        </p:nvSpPr>
        <p:spPr bwMode="auto">
          <a:xfrm>
            <a:off x="65500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58ED70E-0480-4110-B921-11CF774CE3C3}" type="slidenum">
              <a:rPr lang="en-US" altLang="zh-CN"/>
              <a:pPr>
                <a:defRPr/>
              </a:pPr>
              <a:t>‹#›</a:t>
            </a:fld>
            <a:endParaRPr lang="en-US" altLang="zh-CN"/>
          </a:p>
        </p:txBody>
      </p:sp>
      <p:sp>
        <p:nvSpPr>
          <p:cNvPr id="376061" name="Rectangle 253"/>
          <p:cNvSpPr>
            <a:spLocks noChangeArrowheads="1"/>
          </p:cNvSpPr>
          <p:nvPr/>
        </p:nvSpPr>
        <p:spPr bwMode="auto">
          <a:xfrm>
            <a:off x="0" y="-19050"/>
            <a:ext cx="6694488" cy="336550"/>
          </a:xfrm>
          <a:prstGeom prst="rect">
            <a:avLst/>
          </a:prstGeom>
          <a:noFill/>
          <a:ln w="9525">
            <a:noFill/>
            <a:miter lim="800000"/>
            <a:headEnd/>
            <a:tailEnd/>
          </a:ln>
          <a:effectLst/>
        </p:spPr>
        <p:txBody>
          <a:bodyPr>
            <a:spAutoFit/>
          </a:bodyPr>
          <a:lstStyle/>
          <a:p>
            <a:pPr>
              <a:defRPr/>
            </a:pPr>
            <a:r>
              <a:rPr lang="en-US" altLang="zh-CN" sz="1600" b="1" dirty="0">
                <a:solidFill>
                  <a:srgbClr val="FF0000"/>
                </a:solidFill>
                <a:effectLst>
                  <a:outerShdw blurRad="38100" dist="38100" dir="2700000" algn="tl">
                    <a:srgbClr val="C0C0C0"/>
                  </a:outerShdw>
                </a:effectLst>
                <a:latin typeface="Times New Roman" pitchFamily="18" charset="0"/>
              </a:rPr>
              <a:t>Chapter 2</a:t>
            </a:r>
            <a:r>
              <a:rPr lang="zh-CN" altLang="en-US" sz="1600" b="1" dirty="0">
                <a:solidFill>
                  <a:srgbClr val="FF0000"/>
                </a:solidFill>
                <a:effectLst>
                  <a:outerShdw blurRad="38100" dist="38100" dir="2700000" algn="tl">
                    <a:srgbClr val="C0C0C0"/>
                  </a:outerShdw>
                </a:effectLst>
                <a:latin typeface="Times New Roman" pitchFamily="18" charset="0"/>
              </a:rPr>
              <a:t>   </a:t>
            </a:r>
            <a:r>
              <a:rPr lang="en-US" altLang="zh-CN" sz="1600" b="1" dirty="0">
                <a:solidFill>
                  <a:srgbClr val="FF0000"/>
                </a:solidFill>
                <a:effectLst>
                  <a:outerShdw blurRad="38100" dist="38100" dir="2700000" algn="tl">
                    <a:srgbClr val="C0C0C0"/>
                  </a:outerShdw>
                </a:effectLst>
                <a:latin typeface="Times New Roman" pitchFamily="18" charset="0"/>
              </a:rPr>
              <a:t>Test Techniques of  Optical System Parameters</a:t>
            </a:r>
            <a:r>
              <a:rPr lang="zh-CN" altLang="en-US" sz="1600" b="1" dirty="0">
                <a:effectLst>
                  <a:outerShdw blurRad="38100" dist="38100" dir="2700000" algn="tl">
                    <a:srgbClr val="C0C0C0"/>
                  </a:outerShdw>
                </a:effectLst>
                <a:latin typeface="Times New Roman" pitchFamily="18" charset="0"/>
                <a:ea typeface="方正姚体" pitchFamily="2" charset="-122"/>
              </a:rPr>
              <a:t> </a:t>
            </a:r>
          </a:p>
        </p:txBody>
      </p:sp>
    </p:spTree>
  </p:cSld>
  <p:clrMap bg1="lt1" tx1="dk1" bg2="lt2" tx2="dk2" accent1="accent1" accent2="accent2" accent3="accent3" accent4="accent4" accent5="accent5" accent6="accent6" hlink="hlink" folHlink="folHlink"/>
  <p:sldLayoutIdLst>
    <p:sldLayoutId id="2147483747"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8" r:id="rId12"/>
  </p:sldLayoutIdLst>
  <p:transition>
    <p:circle/>
  </p:transition>
  <p:timing>
    <p:tnLst>
      <p:par>
        <p:cTn id="1" dur="indefinite" restart="never" nodeType="tmRoot"/>
      </p:par>
    </p:tnLst>
  </p:timing>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24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000" b="1">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3.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3.bin"/><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oleObject" Target="../embeddings/oleObject29.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3.bin"/><Relationship Id="rId5" Type="http://schemas.openxmlformats.org/officeDocument/2006/relationships/oleObject" Target="../embeddings/oleObject32.bin"/><Relationship Id="rId4" Type="http://schemas.openxmlformats.org/officeDocument/2006/relationships/oleObject" Target="../embeddings/oleObject31.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oleObject36.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5.v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oleObject" Target="../embeddings/oleObject38.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oleObject" Target="../embeddings/oleObject44.bin"/><Relationship Id="rId4" Type="http://schemas.openxmlformats.org/officeDocument/2006/relationships/oleObject" Target="../embeddings/oleObject43.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55.jpe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oleObject" Target="../embeddings/oleObject54.bin"/><Relationship Id="rId4" Type="http://schemas.openxmlformats.org/officeDocument/2006/relationships/oleObject" Target="../embeddings/oleObject53.bin"/></Relationships>
</file>

<file path=ppt/slides/_rels/slide51.xml.rels><?xml version="1.0" encoding="UTF-8" standalone="yes"?>
<Relationships xmlns="http://schemas.openxmlformats.org/package/2006/relationships"><Relationship Id="rId3" Type="http://schemas.openxmlformats.org/officeDocument/2006/relationships/slide" Target="slide106.xml"/><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oleObject" Target="../embeddings/oleObject56.bin"/><Relationship Id="rId4" Type="http://schemas.openxmlformats.org/officeDocument/2006/relationships/oleObject" Target="../embeddings/oleObject5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oleObject" Target="../embeddings/oleObject5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oleObject" Target="../embeddings/oleObject60.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7.v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8.v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oleObject" Target="../embeddings/oleObject65.bin"/><Relationship Id="rId4" Type="http://schemas.openxmlformats.org/officeDocument/2006/relationships/oleObject" Target="../embeddings/oleObject64.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69.bin"/><Relationship Id="rId5" Type="http://schemas.openxmlformats.org/officeDocument/2006/relationships/oleObject" Target="../embeddings/oleObject68.bin"/><Relationship Id="rId4" Type="http://schemas.openxmlformats.org/officeDocument/2006/relationships/oleObject" Target="../embeddings/oleObject67.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31.v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oleObject" Target="../embeddings/oleObject72.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33.v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4.v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35.v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36.v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oleObject" Target="../embeddings/oleObject78.bin"/></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vmlDrawing" Target="../drawings/vmlDrawing38.vml"/><Relationship Id="rId5" Type="http://schemas.openxmlformats.org/officeDocument/2006/relationships/oleObject" Target="../embeddings/oleObject81.bin"/><Relationship Id="rId4" Type="http://schemas.openxmlformats.org/officeDocument/2006/relationships/oleObject" Target="../embeddings/oleObject80.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39.v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40.vml"/><Relationship Id="rId4" Type="http://schemas.openxmlformats.org/officeDocument/2006/relationships/oleObject" Target="../embeddings/oleObject84.bin"/></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41.vml"/><Relationship Id="rId4" Type="http://schemas.openxmlformats.org/officeDocument/2006/relationships/oleObject" Target="../embeddings/oleObject86.bin"/></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vmlDrawing" Target="../drawings/vmlDrawing42.v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43.vml"/><Relationship Id="rId4" Type="http://schemas.openxmlformats.org/officeDocument/2006/relationships/oleObject" Target="../embeddings/oleObject89.bin"/></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oleObject" Target="../embeddings/oleObject91.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45.v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46.v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47.v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2.xml"/><Relationship Id="rId1" Type="http://schemas.openxmlformats.org/officeDocument/2006/relationships/vmlDrawing" Target="../drawings/vmlDrawing48.vml"/><Relationship Id="rId5" Type="http://schemas.openxmlformats.org/officeDocument/2006/relationships/oleObject" Target="../embeddings/oleObject97.bin"/><Relationship Id="rId4" Type="http://schemas.openxmlformats.org/officeDocument/2006/relationships/oleObject" Target="../embeddings/oleObject96.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49.v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oleObject" Target="../embeddings/oleObject100.bin"/></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51.vml"/><Relationship Id="rId4" Type="http://schemas.openxmlformats.org/officeDocument/2006/relationships/oleObject" Target="../embeddings/oleObject102.bin"/></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2.xml"/><Relationship Id="rId1" Type="http://schemas.openxmlformats.org/officeDocument/2006/relationships/vmlDrawing" Target="../drawings/vmlDrawing52.v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13.jpeg"/><Relationship Id="rId7" Type="http://schemas.openxmlformats.org/officeDocument/2006/relationships/image" Target="../media/image117.emf"/><Relationship Id="rId2" Type="http://schemas.openxmlformats.org/officeDocument/2006/relationships/image" Target="../media/image112.emf"/><Relationship Id="rId1" Type="http://schemas.openxmlformats.org/officeDocument/2006/relationships/slideLayout" Target="../slideLayouts/slideLayout2.xml"/><Relationship Id="rId6" Type="http://schemas.openxmlformats.org/officeDocument/2006/relationships/image" Target="../media/image116.emf"/><Relationship Id="rId5" Type="http://schemas.openxmlformats.org/officeDocument/2006/relationships/image" Target="../media/image115.emf"/><Relationship Id="rId4" Type="http://schemas.openxmlformats.org/officeDocument/2006/relationships/image" Target="../media/image114.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53.v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110.bin"/><Relationship Id="rId3" Type="http://schemas.openxmlformats.org/officeDocument/2006/relationships/oleObject" Target="../embeddings/oleObject105.bin"/><Relationship Id="rId7" Type="http://schemas.openxmlformats.org/officeDocument/2006/relationships/oleObject" Target="../embeddings/oleObject109.bin"/><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oleObject" Target="../embeddings/oleObject108.bin"/><Relationship Id="rId5" Type="http://schemas.openxmlformats.org/officeDocument/2006/relationships/oleObject" Target="../embeddings/oleObject107.bin"/><Relationship Id="rId4" Type="http://schemas.openxmlformats.org/officeDocument/2006/relationships/oleObject" Target="../embeddings/oleObject106.bin"/></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slide" Target="slide51.xml"/><Relationship Id="rId5" Type="http://schemas.openxmlformats.org/officeDocument/2006/relationships/oleObject" Target="../embeddings/oleObject113.bin"/><Relationship Id="rId4" Type="http://schemas.openxmlformats.org/officeDocument/2006/relationships/oleObject" Target="../embeddings/oleObject112.bin"/></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14.bin"/><Relationship Id="rId7" Type="http://schemas.openxmlformats.org/officeDocument/2006/relationships/oleObject" Target="../embeddings/oleObject118.bin"/><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oleObject" Target="../embeddings/oleObject117.bin"/><Relationship Id="rId5" Type="http://schemas.openxmlformats.org/officeDocument/2006/relationships/oleObject" Target="../embeddings/oleObject116.bin"/><Relationship Id="rId4" Type="http://schemas.openxmlformats.org/officeDocument/2006/relationships/oleObject" Target="../embeddings/oleObject115.bin"/></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2.xml"/><Relationship Id="rId1" Type="http://schemas.openxmlformats.org/officeDocument/2006/relationships/vmlDrawing" Target="../drawings/vmlDrawing57.v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slide" Target="slide22.xml"/><Relationship Id="rId5" Type="http://schemas.openxmlformats.org/officeDocument/2006/relationships/oleObject" Target="../embeddings/oleObject122.bin"/><Relationship Id="rId4" Type="http://schemas.openxmlformats.org/officeDocument/2006/relationships/oleObject" Target="../embeddings/oleObject1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ctrTitle" idx="4294967295"/>
          </p:nvPr>
        </p:nvSpPr>
        <p:spPr bwMode="auto">
          <a:xfrm>
            <a:off x="2206625" y="2379663"/>
            <a:ext cx="4745038" cy="1046162"/>
          </a:xfrm>
          <a:prstGeom prst="rect">
            <a:avLst/>
          </a:prstGeom>
          <a:noFill/>
          <a:ln>
            <a:miter lim="800000"/>
            <a:headEnd/>
            <a:tailEnd/>
          </a:ln>
        </p:spPr>
        <p:txBody>
          <a:bodyPr/>
          <a:lstStyle/>
          <a:p>
            <a:pPr algn="l" eaLnBrk="1" hangingPunct="1"/>
            <a:r>
              <a:rPr lang="zh-CN" altLang="en-US" sz="5400" b="1" smtClean="0">
                <a:solidFill>
                  <a:srgbClr val="FF0000"/>
                </a:solidFill>
                <a:latin typeface="华文新魏" pitchFamily="2" charset="-122"/>
                <a:ea typeface="华文新魏" pitchFamily="2" charset="-122"/>
              </a:rPr>
              <a:t>光电测试技术</a:t>
            </a:r>
          </a:p>
        </p:txBody>
      </p:sp>
      <p:sp>
        <p:nvSpPr>
          <p:cNvPr id="6" name="Rectangle 7"/>
          <p:cNvSpPr>
            <a:spLocks noRot="1" noChangeArrowheads="1"/>
          </p:cNvSpPr>
          <p:nvPr/>
        </p:nvSpPr>
        <p:spPr bwMode="auto">
          <a:xfrm>
            <a:off x="2320925" y="4205288"/>
            <a:ext cx="6400800" cy="2106612"/>
          </a:xfrm>
          <a:prstGeom prst="rect">
            <a:avLst/>
          </a:prstGeom>
          <a:noFill/>
          <a:ln w="9525">
            <a:noFill/>
            <a:miter lim="800000"/>
            <a:headEnd/>
            <a:tailEnd/>
          </a:ln>
          <a:effectLst/>
        </p:spPr>
        <p:txBody>
          <a:bodyPr/>
          <a:lstStyle/>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latin typeface="Arial" pitchFamily="34" charset="0"/>
                <a:ea typeface="黑体" pitchFamily="2" charset="-122"/>
              </a:rPr>
              <a:t>范志刚     </a:t>
            </a:r>
          </a:p>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latin typeface="Arial" pitchFamily="34" charset="0"/>
                <a:ea typeface="黑体" pitchFamily="2" charset="-122"/>
              </a:rPr>
              <a:t>航天学院 空间光学工程研究中心</a:t>
            </a:r>
          </a:p>
          <a:p>
            <a:pPr algn="ctr">
              <a:spcBef>
                <a:spcPct val="20000"/>
              </a:spcBef>
              <a:buClr>
                <a:schemeClr val="hlink"/>
              </a:buClr>
              <a:buFont typeface="Wingdings" pitchFamily="2" charset="2"/>
              <a:buNone/>
              <a:defRPr/>
            </a:pPr>
            <a:r>
              <a:rPr lang="zh-CN" altLang="en-US" sz="2800" b="1" dirty="0">
                <a:effectLst>
                  <a:outerShdw blurRad="38100" dist="38100" dir="2700000" algn="tl">
                    <a:srgbClr val="C0C0C0"/>
                  </a:outerShdw>
                </a:effectLst>
                <a:latin typeface="Arial" pitchFamily="34" charset="0"/>
                <a:ea typeface="黑体" pitchFamily="2" charset="-122"/>
              </a:rPr>
              <a:t>哈尔滨工业大学</a:t>
            </a:r>
          </a:p>
        </p:txBody>
      </p:sp>
      <p:sp>
        <p:nvSpPr>
          <p:cNvPr id="5" name="Rectangle 2"/>
          <p:cNvSpPr txBox="1">
            <a:spLocks noRot="1" noChangeArrowheads="1"/>
          </p:cNvSpPr>
          <p:nvPr/>
        </p:nvSpPr>
        <p:spPr bwMode="auto">
          <a:xfrm>
            <a:off x="349250" y="595313"/>
            <a:ext cx="8794750" cy="1373187"/>
          </a:xfrm>
          <a:prstGeom prst="rect">
            <a:avLst/>
          </a:prstGeom>
          <a:noFill/>
          <a:ln w="9525">
            <a:noFill/>
            <a:miter lim="800000"/>
            <a:headEnd/>
            <a:tailEnd/>
          </a:ln>
        </p:spPr>
        <p:txBody>
          <a:bodyPr anchor="ctr"/>
          <a:lstStyle/>
          <a:p>
            <a:pPr>
              <a:defRPr/>
            </a:pPr>
            <a:r>
              <a:rPr lang="en-US" altLang="zh-CN" sz="4400" b="1" kern="0" dirty="0">
                <a:solidFill>
                  <a:srgbClr val="FF0000"/>
                </a:solidFill>
                <a:latin typeface="Britannic Bold" pitchFamily="34" charset="0"/>
                <a:ea typeface="华文新魏" pitchFamily="2" charset="-122"/>
                <a:cs typeface="+mj-cs"/>
              </a:rPr>
              <a:t>Electro-optical Test Technique</a:t>
            </a:r>
            <a:endParaRPr lang="zh-CN" altLang="en-US" sz="4400" b="1" kern="0" dirty="0">
              <a:solidFill>
                <a:srgbClr val="FF0000"/>
              </a:solidFill>
              <a:latin typeface="Britannic Bold" pitchFamily="34" charset="0"/>
              <a:ea typeface="华文新魏" pitchFamily="2" charset="-122"/>
              <a:cs typeface="+mj-cs"/>
            </a:endParaRPr>
          </a:p>
        </p:txBody>
      </p:sp>
    </p:spTree>
  </p:cSld>
  <p:clrMapOvr>
    <a:masterClrMapping/>
  </p:clrMapOvr>
  <p:transition>
    <p:circl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4" name="Text Box 4"/>
          <p:cNvSpPr txBox="1">
            <a:spLocks noChangeArrowheads="1"/>
          </p:cNvSpPr>
          <p:nvPr/>
        </p:nvSpPr>
        <p:spPr bwMode="auto">
          <a:xfrm>
            <a:off x="392113" y="2333625"/>
            <a:ext cx="8520112" cy="1465263"/>
          </a:xfrm>
          <a:prstGeom prst="rect">
            <a:avLst/>
          </a:prstGeom>
          <a:noFill/>
          <a:ln w="9525">
            <a:noFill/>
            <a:miter lim="800000"/>
            <a:headEnd/>
            <a:tailEnd/>
          </a:ln>
          <a:effectLst/>
        </p:spPr>
        <p:txBody>
          <a:bodyPr>
            <a:spAutoFit/>
          </a:bodyPr>
          <a:lstStyle/>
          <a:p>
            <a:pPr>
              <a:spcBef>
                <a:spcPct val="50000"/>
              </a:spcBef>
              <a:defRPr/>
            </a:pPr>
            <a:r>
              <a:rPr lang="en-US" altLang="zh-CN" sz="3600" b="1" dirty="0">
                <a:solidFill>
                  <a:srgbClr val="FF0000"/>
                </a:solidFill>
                <a:effectLst>
                  <a:outerShdw blurRad="38100" dist="38100" dir="2700000" algn="tl">
                    <a:srgbClr val="C0C0C0"/>
                  </a:outerShdw>
                </a:effectLst>
                <a:latin typeface="Arial Black" pitchFamily="34" charset="0"/>
                <a:ea typeface="GungsuhChe" pitchFamily="49" charset="-127"/>
              </a:rPr>
              <a:t>Chapter 2</a:t>
            </a:r>
            <a:r>
              <a:rPr lang="zh-CN" altLang="en-US" sz="3600" b="1" dirty="0">
                <a:solidFill>
                  <a:srgbClr val="FF0000"/>
                </a:solidFill>
                <a:effectLst>
                  <a:outerShdw blurRad="38100" dist="38100" dir="2700000" algn="tl">
                    <a:srgbClr val="C0C0C0"/>
                  </a:outerShdw>
                </a:effectLst>
                <a:latin typeface="Arial Black" pitchFamily="34" charset="0"/>
                <a:ea typeface="GungsuhChe" pitchFamily="49" charset="-127"/>
              </a:rPr>
              <a:t>   </a:t>
            </a:r>
            <a:r>
              <a:rPr lang="en-US" altLang="zh-CN" sz="3600" b="1" dirty="0">
                <a:solidFill>
                  <a:srgbClr val="FF0000"/>
                </a:solidFill>
                <a:effectLst>
                  <a:outerShdw blurRad="38100" dist="38100" dir="2700000" algn="tl">
                    <a:srgbClr val="C0C0C0"/>
                  </a:outerShdw>
                </a:effectLst>
                <a:latin typeface="Arial Black" pitchFamily="34" charset="0"/>
                <a:ea typeface="GungsuhChe" pitchFamily="49" charset="-127"/>
              </a:rPr>
              <a:t>Test Techniques of  </a:t>
            </a:r>
          </a:p>
          <a:p>
            <a:pPr algn="ctr">
              <a:spcBef>
                <a:spcPct val="50000"/>
              </a:spcBef>
              <a:defRPr/>
            </a:pPr>
            <a:r>
              <a:rPr lang="en-US" altLang="zh-CN" sz="3600" b="1" dirty="0">
                <a:solidFill>
                  <a:srgbClr val="FF0000"/>
                </a:solidFill>
                <a:effectLst>
                  <a:outerShdw blurRad="38100" dist="38100" dir="2700000" algn="tl">
                    <a:srgbClr val="C0C0C0"/>
                  </a:outerShdw>
                </a:effectLst>
                <a:latin typeface="Arial Black" pitchFamily="34" charset="0"/>
                <a:ea typeface="GungsuhChe" pitchFamily="49" charset="-127"/>
              </a:rPr>
              <a:t>Optical System Parameters</a:t>
            </a:r>
            <a:r>
              <a:rPr lang="zh-CN" altLang="en-US" sz="3600" b="1" dirty="0">
                <a:solidFill>
                  <a:srgbClr val="FF0000"/>
                </a:solidFill>
                <a:effectLst>
                  <a:outerShdw blurRad="38100" dist="38100" dir="2700000" algn="tl">
                    <a:srgbClr val="C0C0C0"/>
                  </a:outerShdw>
                </a:effectLst>
                <a:latin typeface="Arial Black" pitchFamily="34" charset="0"/>
                <a:ea typeface="GungsuhChe" pitchFamily="49" charset="-127"/>
              </a:rPr>
              <a:t> </a:t>
            </a:r>
          </a:p>
        </p:txBody>
      </p:sp>
    </p:spTree>
  </p:cSld>
  <p:clrMapOvr>
    <a:masterClrMapping/>
  </p:clrMapOvr>
  <p:transition>
    <p:circl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idx="4294967295"/>
          </p:nvPr>
        </p:nvSpPr>
        <p:spPr>
          <a:xfrm>
            <a:off x="571500" y="684213"/>
            <a:ext cx="8358188" cy="706437"/>
          </a:xfrm>
          <a:prstGeom prst="rect">
            <a:avLst/>
          </a:prstGeom>
        </p:spPr>
        <p:txBody>
          <a:bodyPr/>
          <a:lstStyle/>
          <a:p>
            <a:pPr algn="l"/>
            <a:r>
              <a:rPr lang="zh-CN" altLang="en-US" sz="2000" smtClean="0">
                <a:solidFill>
                  <a:schemeClr val="tx1"/>
                </a:solidFill>
                <a:latin typeface="微软雅黑" pitchFamily="34" charset="-122"/>
                <a:ea typeface="微软雅黑" pitchFamily="34" charset="-122"/>
              </a:rPr>
              <a:t>▍ 本章主要内容</a:t>
            </a:r>
          </a:p>
        </p:txBody>
      </p:sp>
      <p:grpSp>
        <p:nvGrpSpPr>
          <p:cNvPr id="2" name="组合 96"/>
          <p:cNvGrpSpPr>
            <a:grpSpLocks/>
          </p:cNvGrpSpPr>
          <p:nvPr/>
        </p:nvGrpSpPr>
        <p:grpSpPr bwMode="auto">
          <a:xfrm>
            <a:off x="802883" y="1444460"/>
            <a:ext cx="7715250" cy="666750"/>
            <a:chOff x="785786" y="1285866"/>
            <a:chExt cx="7715304" cy="571504"/>
          </a:xfrm>
        </p:grpSpPr>
        <p:sp>
          <p:nvSpPr>
            <p:cNvPr id="84" name="燕尾形 83"/>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81"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smtClean="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对准和调焦技术</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grpSp>
        <p:nvGrpSpPr>
          <p:cNvPr id="3" name="组合 96"/>
          <p:cNvGrpSpPr>
            <a:grpSpLocks/>
          </p:cNvGrpSpPr>
          <p:nvPr/>
        </p:nvGrpSpPr>
        <p:grpSpPr bwMode="auto">
          <a:xfrm>
            <a:off x="802883" y="2361458"/>
            <a:ext cx="7715250" cy="666750"/>
            <a:chOff x="785786" y="1285866"/>
            <a:chExt cx="7715304" cy="571504"/>
          </a:xfrm>
        </p:grpSpPr>
        <p:sp>
          <p:nvSpPr>
            <p:cNvPr id="23" name="燕尾形 22"/>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24"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smtClean="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焦距的测量</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grpSp>
        <p:nvGrpSpPr>
          <p:cNvPr id="4" name="组合 96"/>
          <p:cNvGrpSpPr>
            <a:grpSpLocks/>
          </p:cNvGrpSpPr>
          <p:nvPr/>
        </p:nvGrpSpPr>
        <p:grpSpPr bwMode="auto">
          <a:xfrm>
            <a:off x="802883" y="3278456"/>
            <a:ext cx="7715250" cy="666750"/>
            <a:chOff x="785786" y="1285866"/>
            <a:chExt cx="7715304" cy="571504"/>
          </a:xfrm>
        </p:grpSpPr>
        <p:sp>
          <p:nvSpPr>
            <p:cNvPr id="26" name="燕尾形 25"/>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27"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smtClean="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星点检验</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grpSp>
        <p:nvGrpSpPr>
          <p:cNvPr id="5" name="组合 96"/>
          <p:cNvGrpSpPr>
            <a:grpSpLocks/>
          </p:cNvGrpSpPr>
          <p:nvPr/>
        </p:nvGrpSpPr>
        <p:grpSpPr bwMode="auto">
          <a:xfrm>
            <a:off x="802883" y="4195454"/>
            <a:ext cx="7715250" cy="666750"/>
            <a:chOff x="785786" y="1285866"/>
            <a:chExt cx="7715304" cy="571504"/>
          </a:xfrm>
        </p:grpSpPr>
        <p:sp>
          <p:nvSpPr>
            <p:cNvPr id="29" name="燕尾形 28"/>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30"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smtClean="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分辨率的测试</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grpSp>
        <p:nvGrpSpPr>
          <p:cNvPr id="15" name="组合 96"/>
          <p:cNvGrpSpPr>
            <a:grpSpLocks/>
          </p:cNvGrpSpPr>
          <p:nvPr/>
        </p:nvGrpSpPr>
        <p:grpSpPr bwMode="auto">
          <a:xfrm>
            <a:off x="802883" y="5112451"/>
            <a:ext cx="7715250" cy="666750"/>
            <a:chOff x="785786" y="1285866"/>
            <a:chExt cx="7715304" cy="571504"/>
          </a:xfrm>
        </p:grpSpPr>
        <p:sp>
          <p:nvSpPr>
            <p:cNvPr id="16" name="燕尾形 15"/>
            <p:cNvSpPr/>
            <p:nvPr/>
          </p:nvSpPr>
          <p:spPr>
            <a:xfrm>
              <a:off x="785786" y="1285866"/>
              <a:ext cx="7715304" cy="571504"/>
            </a:xfrm>
            <a:prstGeom prst="chevron">
              <a:avLst>
                <a:gd name="adj" fmla="val 0"/>
              </a:avLst>
            </a:prstGeom>
            <a:ln/>
          </p:spPr>
          <p:style>
            <a:lnRef idx="0">
              <a:schemeClr val="accent2"/>
            </a:lnRef>
            <a:fillRef idx="3">
              <a:schemeClr val="accent2"/>
            </a:fillRef>
            <a:effectRef idx="3">
              <a:schemeClr val="accent2"/>
            </a:effectRef>
            <a:fontRef idx="minor">
              <a:schemeClr val="lt1"/>
            </a:fontRef>
          </p:style>
          <p:txBody>
            <a:bodyPr anchor="ctr"/>
            <a:lstStyle/>
            <a:p>
              <a:pPr>
                <a:defRPr/>
              </a:pPr>
              <a:endParaRPr lang="zh-CN" altLang="en-US" sz="2000">
                <a:solidFill>
                  <a:schemeClr val="tx1"/>
                </a:solidFill>
              </a:endParaRPr>
            </a:p>
          </p:txBody>
        </p:sp>
        <p:sp>
          <p:nvSpPr>
            <p:cNvPr id="17" name="TextBox 24"/>
            <p:cNvSpPr txBox="1">
              <a:spLocks noChangeArrowheads="1"/>
            </p:cNvSpPr>
            <p:nvPr/>
          </p:nvSpPr>
          <p:spPr bwMode="auto">
            <a:xfrm>
              <a:off x="1071538" y="1399464"/>
              <a:ext cx="6981356" cy="342951"/>
            </a:xfrm>
            <a:prstGeom prst="rect">
              <a:avLst/>
            </a:prstGeom>
            <a:noFill/>
            <a:ln>
              <a:noFill/>
              <a:headEnd/>
              <a:tailEnd/>
            </a:ln>
          </p:spPr>
          <p:style>
            <a:lnRef idx="0">
              <a:schemeClr val="accent2"/>
            </a:lnRef>
            <a:fillRef idx="3">
              <a:schemeClr val="accent2"/>
            </a:fillRef>
            <a:effectRef idx="3">
              <a:schemeClr val="accent2"/>
            </a:effectRef>
            <a:fontRef idx="minor">
              <a:schemeClr val="lt1"/>
            </a:fontRef>
          </p:style>
          <p:txBody>
            <a:bodyPr>
              <a:spAutoFit/>
            </a:bodyPr>
            <a:lstStyle/>
            <a:p>
              <a:pPr>
                <a:buFont typeface="Wingdings" pitchFamily="2" charset="2"/>
                <a:buChar char="Ø"/>
                <a:defRPr/>
              </a:pPr>
              <a:r>
                <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000" dirty="0" smtClean="0">
                  <a:solidFill>
                    <a:schemeClr val="tx1"/>
                  </a:solidFill>
                  <a:effectLst>
                    <a:outerShdw blurRad="38100" dist="38100" dir="2700000" algn="tl">
                      <a:srgbClr val="000000">
                        <a:alpha val="43137"/>
                      </a:srgbClr>
                    </a:outerShdw>
                  </a:effectLst>
                  <a:latin typeface="微软雅黑" pitchFamily="34" charset="-122"/>
                  <a:ea typeface="微软雅黑" pitchFamily="34" charset="-122"/>
                </a:rPr>
                <a:t>光学传递函数的测试</a:t>
              </a:r>
              <a:endParaRPr lang="zh-CN" altLang="en-US" sz="2000" dirty="0">
                <a:solidFill>
                  <a:schemeClr val="tx1"/>
                </a:solidFill>
                <a:effectLst>
                  <a:outerShdw blurRad="38100" dist="38100" dir="2700000" algn="tl">
                    <a:srgbClr val="000000">
                      <a:alpha val="43137"/>
                    </a:srgbClr>
                  </a:outerShdw>
                </a:effectLst>
                <a:latin typeface="微软雅黑" pitchFamily="34" charset="-122"/>
                <a:ea typeface="微软雅黑" pitchFamily="34" charset="-122"/>
              </a:endParaRPr>
            </a:p>
          </p:txBody>
        </p:sp>
      </p:grpSp>
    </p:spTree>
  </p:cSld>
  <p:clrMapOvr>
    <a:masterClrMapping/>
  </p:clrMapOvr>
  <p:transition spd="slow" advTm="30076"/>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3"/>
          <p:cNvSpPr>
            <a:spLocks noGrp="1"/>
          </p:cNvSpPr>
          <p:nvPr>
            <p:ph type="dt" sz="quarter" idx="10"/>
          </p:nvPr>
        </p:nvSpPr>
        <p:spPr>
          <a:noFill/>
        </p:spPr>
        <p:txBody>
          <a:bodyPr/>
          <a:lstStyle/>
          <a:p>
            <a:fld id="{A7F84673-99DB-46D7-AA8A-3AA86DBC8712}" type="datetime1">
              <a:rPr lang="zh-CN" altLang="en-US" smtClean="0"/>
              <a:pPr/>
              <a:t>2018/2/24</a:t>
            </a:fld>
            <a:endParaRPr lang="en-US" altLang="zh-CN" smtClean="0"/>
          </a:p>
        </p:txBody>
      </p:sp>
      <p:sp>
        <p:nvSpPr>
          <p:cNvPr id="83971" name="灯片编号占位符 5"/>
          <p:cNvSpPr>
            <a:spLocks noGrp="1"/>
          </p:cNvSpPr>
          <p:nvPr>
            <p:ph type="sldNum" sz="quarter" idx="12"/>
          </p:nvPr>
        </p:nvSpPr>
        <p:spPr>
          <a:noFill/>
        </p:spPr>
        <p:txBody>
          <a:bodyPr/>
          <a:lstStyle/>
          <a:p>
            <a:fld id="{B4D4611E-7511-4163-B35A-D24272162988}" type="slidenum">
              <a:rPr lang="en-US" altLang="zh-CN" smtClean="0"/>
              <a:pPr/>
              <a:t>4</a:t>
            </a:fld>
            <a:endParaRPr lang="en-US" altLang="zh-CN" smtClean="0"/>
          </a:p>
        </p:txBody>
      </p:sp>
      <p:sp>
        <p:nvSpPr>
          <p:cNvPr id="548866" name="Rectangle 2"/>
          <p:cNvSpPr>
            <a:spLocks noGrp="1" noRot="1" noChangeArrowheads="1"/>
          </p:cNvSpPr>
          <p:nvPr>
            <p:ph type="title"/>
          </p:nvPr>
        </p:nvSpPr>
        <p:spPr>
          <a:xfrm>
            <a:off x="500063" y="2593975"/>
            <a:ext cx="8229600" cy="1139825"/>
          </a:xfrm>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endPar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6146"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13DD5040-C3E0-49E1-984D-7036513EFD65}" type="slidenum">
              <a:rPr lang="en-US"/>
              <a:pPr algn="r"/>
              <a:t>5</a:t>
            </a:fld>
            <a:endParaRPr lang="en-US"/>
          </a:p>
        </p:txBody>
      </p:sp>
      <p:sp>
        <p:nvSpPr>
          <p:cNvPr id="6147" name="Rectangle 3"/>
          <p:cNvSpPr>
            <a:spLocks noGrp="1" noRot="1" noChangeArrowheads="1"/>
          </p:cNvSpPr>
          <p:nvPr>
            <p:ph type="body" idx="4294967295"/>
          </p:nvPr>
        </p:nvSpPr>
        <p:spPr bwMode="auto">
          <a:xfrm>
            <a:off x="485775" y="1298575"/>
            <a:ext cx="8186738" cy="5226050"/>
          </a:xfrm>
          <a:prstGeom prst="rect">
            <a:avLst/>
          </a:prstGeom>
          <a:noFill/>
          <a:ln/>
        </p:spPr>
        <p:txBody>
          <a:bodyPr/>
          <a:lstStyle/>
          <a:p>
            <a:pPr marL="0" indent="0" eaLnBrk="1" hangingPunct="1">
              <a:lnSpc>
                <a:spcPct val="130000"/>
              </a:lnSpc>
              <a:spcBef>
                <a:spcPct val="0"/>
              </a:spcBef>
              <a:buFont typeface="Wingdings" pitchFamily="2" charset="2"/>
              <a:buNone/>
            </a:pPr>
            <a:r>
              <a:rPr lang="zh-CN" dirty="0">
                <a:effectLst>
                  <a:outerShdw blurRad="38100" dist="38100" dir="2700000" algn="tl">
                    <a:srgbClr val="C0C0C0"/>
                  </a:outerShdw>
                </a:effectLst>
                <a:latin typeface="Times New Roman" pitchFamily="18" charset="0"/>
                <a:ea typeface="黑体" pitchFamily="2" charset="-122"/>
                <a:sym typeface="Times New Roman" pitchFamily="18" charset="0"/>
              </a:rPr>
              <a:t>概念</a:t>
            </a:r>
          </a:p>
          <a:p>
            <a:pPr eaLnBrk="1" hangingPunct="1">
              <a:lnSpc>
                <a:spcPct val="130000"/>
              </a:lnSpc>
              <a:spcBef>
                <a:spcPct val="0"/>
              </a:spcBef>
            </a:pPr>
            <a:r>
              <a:rPr lang="zh-CN" sz="2000" dirty="0">
                <a:solidFill>
                  <a:srgbClr val="FF0000"/>
                </a:solidFill>
                <a:latin typeface="Times New Roman" pitchFamily="18" charset="0"/>
                <a:ea typeface="黑体" pitchFamily="2" charset="-122"/>
                <a:sym typeface="Times New Roman" pitchFamily="18" charset="0"/>
              </a:rPr>
              <a:t>对准（横向对准）</a:t>
            </a:r>
            <a:r>
              <a:rPr lang="zh-CN" sz="2000" dirty="0">
                <a:latin typeface="Times New Roman" pitchFamily="18" charset="0"/>
                <a:ea typeface="黑体" pitchFamily="2" charset="-122"/>
                <a:sym typeface="Times New Roman" pitchFamily="18" charset="0"/>
              </a:rPr>
              <a:t>是指一个目标与比较标志在垂直瞄准轴方向的重合或置中。</a:t>
            </a:r>
          </a:p>
          <a:p>
            <a:pPr eaLnBrk="1" hangingPunct="1">
              <a:lnSpc>
                <a:spcPct val="130000"/>
              </a:lnSpc>
              <a:spcBef>
                <a:spcPct val="0"/>
              </a:spcBef>
            </a:pPr>
            <a:r>
              <a:rPr lang="zh-CN" sz="2000" dirty="0">
                <a:solidFill>
                  <a:srgbClr val="FF0000"/>
                </a:solidFill>
                <a:latin typeface="Times New Roman" pitchFamily="18" charset="0"/>
                <a:ea typeface="黑体" pitchFamily="2" charset="-122"/>
                <a:sym typeface="Times New Roman" pitchFamily="18" charset="0"/>
              </a:rPr>
              <a:t>调焦（纵向对准）</a:t>
            </a:r>
            <a:r>
              <a:rPr lang="zh-CN" sz="2000" dirty="0">
                <a:latin typeface="Times New Roman" pitchFamily="18" charset="0"/>
                <a:ea typeface="黑体" pitchFamily="2" charset="-122"/>
                <a:sym typeface="Times New Roman" pitchFamily="18" charset="0"/>
              </a:rPr>
              <a:t>是指一个目标与比较标志在瞄准轴方向的重合。（►变焦）</a:t>
            </a:r>
          </a:p>
          <a:p>
            <a:pPr marL="0" indent="0" eaLnBrk="1" hangingPunct="1">
              <a:lnSpc>
                <a:spcPct val="130000"/>
              </a:lnSpc>
              <a:spcBef>
                <a:spcPct val="0"/>
              </a:spcBef>
              <a:buFont typeface="Wingdings" pitchFamily="2" charset="2"/>
              <a:buNone/>
            </a:pPr>
            <a:r>
              <a:rPr lang="zh-CN" dirty="0">
                <a:effectLst>
                  <a:outerShdw blurRad="38100" dist="38100" dir="2700000" algn="tl">
                    <a:srgbClr val="C0C0C0"/>
                  </a:outerShdw>
                </a:effectLst>
                <a:latin typeface="Times New Roman" pitchFamily="18" charset="0"/>
                <a:ea typeface="黑体" pitchFamily="2" charset="-122"/>
                <a:sym typeface="Times New Roman" pitchFamily="18" charset="0"/>
              </a:rPr>
              <a:t>表述方法</a:t>
            </a:r>
          </a:p>
          <a:p>
            <a:pPr eaLnBrk="1" hangingPunct="1">
              <a:lnSpc>
                <a:spcPct val="130000"/>
              </a:lnSpc>
              <a:spcBef>
                <a:spcPct val="0"/>
              </a:spcBef>
            </a:pPr>
            <a:r>
              <a:rPr lang="zh-CN" dirty="0">
                <a:latin typeface="Times New Roman" pitchFamily="18" charset="0"/>
                <a:ea typeface="黑体" pitchFamily="2" charset="-122"/>
                <a:sym typeface="Times New Roman" pitchFamily="18" charset="0"/>
              </a:rPr>
              <a:t>对准</a:t>
            </a:r>
            <a:r>
              <a:rPr lang="zh-CN" altLang="zh-CN" dirty="0">
                <a:latin typeface="Times New Roman" pitchFamily="18" charset="0"/>
                <a:ea typeface="黑体" pitchFamily="2" charset="-122"/>
                <a:sym typeface="Times New Roman" pitchFamily="18" charset="0"/>
              </a:rPr>
              <a:t>——</a:t>
            </a:r>
            <a:r>
              <a:rPr lang="zh-CN" dirty="0">
                <a:latin typeface="Times New Roman" pitchFamily="18" charset="0"/>
                <a:ea typeface="黑体" pitchFamily="2" charset="-122"/>
                <a:sym typeface="Times New Roman" pitchFamily="18" charset="0"/>
              </a:rPr>
              <a:t>眼睛的对准不确定度是以对准残余量对眼瞳中心的</a:t>
            </a:r>
            <a:r>
              <a:rPr lang="zh-CN" dirty="0">
                <a:solidFill>
                  <a:srgbClr val="FF0000"/>
                </a:solidFill>
                <a:latin typeface="Times New Roman" pitchFamily="18" charset="0"/>
                <a:ea typeface="黑体" pitchFamily="2" charset="-122"/>
                <a:sym typeface="Times New Roman" pitchFamily="18" charset="0"/>
              </a:rPr>
              <a:t>夹角</a:t>
            </a:r>
            <a:r>
              <a:rPr lang="zh-CN" dirty="0">
                <a:latin typeface="Times New Roman" pitchFamily="18" charset="0"/>
                <a:ea typeface="黑体" pitchFamily="2" charset="-122"/>
                <a:sym typeface="Times New Roman" pitchFamily="18" charset="0"/>
              </a:rPr>
              <a:t>表示的</a:t>
            </a:r>
          </a:p>
          <a:p>
            <a:pPr eaLnBrk="1" hangingPunct="1">
              <a:lnSpc>
                <a:spcPct val="130000"/>
              </a:lnSpc>
              <a:spcBef>
                <a:spcPct val="0"/>
              </a:spcBef>
            </a:pPr>
            <a:r>
              <a:rPr lang="zh-CN" dirty="0">
                <a:latin typeface="Times New Roman" pitchFamily="18" charset="0"/>
                <a:ea typeface="黑体" pitchFamily="2" charset="-122"/>
                <a:sym typeface="Times New Roman" pitchFamily="18" charset="0"/>
              </a:rPr>
              <a:t>调焦</a:t>
            </a:r>
            <a:r>
              <a:rPr lang="zh-CN" altLang="zh-CN" dirty="0">
                <a:latin typeface="Times New Roman" pitchFamily="18" charset="0"/>
                <a:ea typeface="黑体" pitchFamily="2" charset="-122"/>
                <a:sym typeface="Times New Roman" pitchFamily="18" charset="0"/>
              </a:rPr>
              <a:t>——</a:t>
            </a:r>
            <a:r>
              <a:rPr lang="zh-CN" dirty="0">
                <a:latin typeface="Times New Roman" pitchFamily="18" charset="0"/>
                <a:ea typeface="黑体" pitchFamily="2" charset="-122"/>
                <a:sym typeface="Times New Roman" pitchFamily="18" charset="0"/>
              </a:rPr>
              <a:t>眼睛的调焦不确定度以目标和标志到眼瞳距离的</a:t>
            </a:r>
            <a:r>
              <a:rPr lang="zh-CN" dirty="0">
                <a:solidFill>
                  <a:schemeClr val="tx2"/>
                </a:solidFill>
                <a:latin typeface="Times New Roman" pitchFamily="18" charset="0"/>
                <a:ea typeface="黑体" pitchFamily="2" charset="-122"/>
                <a:sym typeface="Times New Roman" pitchFamily="18" charset="0"/>
              </a:rPr>
              <a:t>倒数</a:t>
            </a:r>
            <a:r>
              <a:rPr lang="zh-CN" dirty="0">
                <a:latin typeface="Times New Roman" pitchFamily="18" charset="0"/>
                <a:ea typeface="黑体" pitchFamily="2" charset="-122"/>
                <a:sym typeface="Times New Roman" pitchFamily="18" charset="0"/>
              </a:rPr>
              <a:t>之差表示。</a:t>
            </a:r>
          </a:p>
          <a:p>
            <a:pPr eaLnBrk="1" hangingPunct="1">
              <a:lnSpc>
                <a:spcPct val="130000"/>
              </a:lnSpc>
              <a:spcBef>
                <a:spcPct val="0"/>
              </a:spcBef>
            </a:pPr>
            <a:endParaRPr lang="zh-CN" dirty="0">
              <a:latin typeface="Times New Roman" pitchFamily="18" charset="0"/>
              <a:ea typeface="黑体" pitchFamily="2" charset="-122"/>
              <a:sym typeface="Times New Roman" pitchFamily="18" charset="0"/>
            </a:endParaRPr>
          </a:p>
          <a:p>
            <a:pPr eaLnBrk="1" hangingPunct="1">
              <a:lnSpc>
                <a:spcPct val="130000"/>
              </a:lnSpc>
              <a:spcBef>
                <a:spcPct val="0"/>
              </a:spcBef>
            </a:pPr>
            <a:endParaRPr lang="zh-CN" sz="2000" dirty="0">
              <a:latin typeface="Times New Roman" pitchFamily="18" charset="0"/>
              <a:ea typeface="黑体" pitchFamily="2" charset="-122"/>
              <a:sym typeface="Times New Roman" pitchFamily="18" charset="0"/>
            </a:endParaRPr>
          </a:p>
          <a:p>
            <a:pPr eaLnBrk="1" hangingPunct="1">
              <a:lnSpc>
                <a:spcPct val="130000"/>
              </a:lnSpc>
              <a:spcBef>
                <a:spcPct val="0"/>
              </a:spcBef>
            </a:pPr>
            <a:endParaRPr lang="zh-CN" altLang="zh-CN" sz="2000" dirty="0">
              <a:latin typeface="Times New Roman" pitchFamily="18" charset="0"/>
              <a:ea typeface="黑体" pitchFamily="2" charset="-122"/>
              <a:sym typeface="Times New Roman" pitchFamily="18" charset="0"/>
            </a:endParaRPr>
          </a:p>
        </p:txBody>
      </p:sp>
      <p:sp>
        <p:nvSpPr>
          <p:cNvPr id="6148" name="Rectangle 3"/>
          <p:cNvSpPr>
            <a:spLocks noRot="1" noChangeArrowheads="1"/>
          </p:cNvSpPr>
          <p:nvPr/>
        </p:nvSpPr>
        <p:spPr bwMode="auto">
          <a:xfrm>
            <a:off x="457200" y="417513"/>
            <a:ext cx="8229600" cy="1139825"/>
          </a:xfrm>
          <a:prstGeom prst="rect">
            <a:avLst/>
          </a:prstGeom>
          <a:noFill/>
          <a:ln w="9525" cmpd="sng">
            <a:noFill/>
            <a:miter lim="800000"/>
            <a:headEnd/>
            <a:tailEnd/>
          </a:ln>
        </p:spPr>
        <p:txBody>
          <a:bodyPr anchor="ctr"/>
          <a:lstStyle/>
          <a:p>
            <a:r>
              <a:rPr lang="en-US" sz="4000" b="1" dirty="0">
                <a:solidFill>
                  <a:srgbClr val="000000"/>
                </a:solidFill>
                <a:latin typeface="Times New Roman" pitchFamily="18" charset="0"/>
                <a:ea typeface="黑体" pitchFamily="2" charset="-122"/>
                <a:sym typeface="Times New Roman" pitchFamily="18" charset="0"/>
              </a:rPr>
              <a:t>§2-1  </a:t>
            </a:r>
            <a:r>
              <a:rPr lang="zh-CN" altLang="en-US" sz="4000" b="1" dirty="0" smtClean="0">
                <a:solidFill>
                  <a:srgbClr val="000000"/>
                </a:solidFill>
                <a:latin typeface="Times New Roman" pitchFamily="18" charset="0"/>
                <a:ea typeface="黑体" pitchFamily="2" charset="-122"/>
                <a:sym typeface="Times New Roman" pitchFamily="18" charset="0"/>
              </a:rPr>
              <a:t>对准</a:t>
            </a:r>
            <a:r>
              <a:rPr lang="zh-CN" altLang="en-US" sz="4000" b="1" dirty="0">
                <a:solidFill>
                  <a:srgbClr val="000000"/>
                </a:solidFill>
                <a:latin typeface="Times New Roman" pitchFamily="18" charset="0"/>
                <a:ea typeface="黑体" pitchFamily="2" charset="-122"/>
                <a:sym typeface="Times New Roman" pitchFamily="18" charset="0"/>
              </a:rPr>
              <a:t>和调焦技术</a:t>
            </a:r>
            <a:endParaRPr lang="zh-CN" altLang="en-US" sz="2800" b="1" dirty="0">
              <a:solidFill>
                <a:srgbClr val="000000"/>
              </a:solidFill>
              <a:latin typeface="Times New Roman" pitchFamily="18" charset="0"/>
              <a:ea typeface="黑体" pitchFamily="2" charset="-122"/>
              <a:sym typeface="Times New Roman" pitchFamily="18" charset="0"/>
            </a:endParaRPr>
          </a:p>
        </p:txBody>
      </p:sp>
    </p:spTree>
  </p:cSld>
  <p:clrMapOvr>
    <a:masterClrMapping/>
  </p:clrMapOvr>
  <p:transition>
    <p:circl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7170"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F138466D-B687-4480-BF28-B5E103574D22}" type="slidenum">
              <a:rPr lang="en-US"/>
              <a:pPr algn="r"/>
              <a:t>6</a:t>
            </a:fld>
            <a:endParaRPr lang="en-US"/>
          </a:p>
        </p:txBody>
      </p:sp>
      <p:sp>
        <p:nvSpPr>
          <p:cNvPr id="7171" name="Rectangle 2"/>
          <p:cNvSpPr>
            <a:spLocks noChangeArrowheads="1"/>
          </p:cNvSpPr>
          <p:nvPr/>
        </p:nvSpPr>
        <p:spPr bwMode="auto">
          <a:xfrm>
            <a:off x="1071563" y="3286125"/>
            <a:ext cx="7058025" cy="3386138"/>
          </a:xfrm>
          <a:prstGeom prst="rect">
            <a:avLst/>
          </a:prstGeom>
          <a:solidFill>
            <a:schemeClr val="accent1"/>
          </a:solidFill>
          <a:ln w="9525" cmpd="sng">
            <a:solidFill>
              <a:schemeClr val="tx1"/>
            </a:solidFill>
            <a:miter lim="800000"/>
            <a:headEnd/>
            <a:tailEnd/>
          </a:ln>
        </p:spPr>
        <p:txBody>
          <a:bodyPr wrap="none" anchor="ctr"/>
          <a:lstStyle/>
          <a:p>
            <a:pPr algn="ctr"/>
            <a:endParaRPr lang="zh-CN" altLang="zh-CN">
              <a:solidFill>
                <a:srgbClr val="000000"/>
              </a:solidFill>
              <a:sym typeface="Arial" pitchFamily="34" charset="0"/>
            </a:endParaRPr>
          </a:p>
        </p:txBody>
      </p:sp>
      <p:sp>
        <p:nvSpPr>
          <p:cNvPr id="7172" name="Rectangle 3"/>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7173" name="Rectangle 4"/>
          <p:cNvSpPr>
            <a:spLocks noGrp="1" noRot="1" noChangeArrowheads="1"/>
          </p:cNvSpPr>
          <p:nvPr>
            <p:ph type="body" idx="4294967295"/>
          </p:nvPr>
        </p:nvSpPr>
        <p:spPr bwMode="auto">
          <a:xfrm>
            <a:off x="471488" y="1533525"/>
            <a:ext cx="8229600" cy="1692275"/>
          </a:xfrm>
          <a:prstGeom prst="rect">
            <a:avLst/>
          </a:prstGeom>
          <a:noFill/>
          <a:ln/>
        </p:spPr>
        <p:txBody>
          <a:bodyPr/>
          <a:lstStyle/>
          <a:p>
            <a:pPr marL="0" indent="0" eaLnBrk="1" hangingPunct="1">
              <a:buFont typeface="Wingdings" pitchFamily="2" charset="2"/>
              <a:buNone/>
            </a:pPr>
            <a:r>
              <a:rPr lang="zh-CN" dirty="0">
                <a:effectLst>
                  <a:outerShdw blurRad="38100" dist="38100" dir="2700000" algn="tl">
                    <a:srgbClr val="C0C0C0"/>
                  </a:outerShdw>
                </a:effectLst>
                <a:latin typeface="Times New Roman" pitchFamily="18" charset="0"/>
                <a:ea typeface="黑体" pitchFamily="2" charset="-122"/>
                <a:sym typeface="Times New Roman" pitchFamily="18" charset="0"/>
              </a:rPr>
              <a:t>表述</a:t>
            </a:r>
            <a:r>
              <a:rPr lang="zh-CN" dirty="0" smtClean="0">
                <a:effectLst>
                  <a:outerShdw blurRad="38100" dist="38100" dir="2700000" algn="tl">
                    <a:srgbClr val="C0C0C0"/>
                  </a:outerShdw>
                </a:effectLst>
                <a:latin typeface="Times New Roman" pitchFamily="18" charset="0"/>
                <a:ea typeface="黑体" pitchFamily="2" charset="-122"/>
                <a:sym typeface="Times New Roman" pitchFamily="18" charset="0"/>
              </a:rPr>
              <a:t>方法</a:t>
            </a:r>
            <a:r>
              <a:rPr lang="en-US" altLang="zh-CN" dirty="0" smtClean="0">
                <a:effectLst>
                  <a:outerShdw blurRad="38100" dist="38100" dir="2700000" algn="tl">
                    <a:srgbClr val="C0C0C0"/>
                  </a:outerShdw>
                </a:effectLst>
                <a:latin typeface="Times New Roman" pitchFamily="18" charset="0"/>
                <a:ea typeface="黑体" pitchFamily="2" charset="-122"/>
                <a:sym typeface="Times New Roman" pitchFamily="18" charset="0"/>
              </a:rPr>
              <a:t>:</a:t>
            </a:r>
            <a:endParaRPr lang="zh-CN" dirty="0">
              <a:effectLst>
                <a:outerShdw blurRad="38100" dist="38100" dir="2700000" algn="tl">
                  <a:srgbClr val="C0C0C0"/>
                </a:outerShdw>
              </a:effectLst>
              <a:latin typeface="Times New Roman" pitchFamily="18" charset="0"/>
              <a:ea typeface="黑体" pitchFamily="2" charset="-122"/>
              <a:sym typeface="Times New Roman" pitchFamily="18" charset="0"/>
            </a:endParaRPr>
          </a:p>
          <a:p>
            <a:pPr eaLnBrk="1" hangingPunct="1"/>
            <a:r>
              <a:rPr lang="zh-CN" dirty="0">
                <a:latin typeface="Times New Roman" pitchFamily="18" charset="0"/>
                <a:ea typeface="黑体" pitchFamily="2" charset="-122"/>
                <a:sym typeface="Times New Roman" pitchFamily="18" charset="0"/>
              </a:rPr>
              <a:t>眼睛通过光学系统去对准或调焦的</a:t>
            </a:r>
            <a:r>
              <a:rPr lang="zh-CN" dirty="0">
                <a:solidFill>
                  <a:srgbClr val="FF0000"/>
                </a:solidFill>
                <a:latin typeface="Times New Roman" pitchFamily="18" charset="0"/>
                <a:ea typeface="黑体" pitchFamily="2" charset="-122"/>
                <a:sym typeface="Times New Roman" pitchFamily="18" charset="0"/>
              </a:rPr>
              <a:t>目的</a:t>
            </a:r>
            <a:r>
              <a:rPr lang="zh-CN" dirty="0">
                <a:latin typeface="Times New Roman" pitchFamily="18" charset="0"/>
                <a:ea typeface="黑体" pitchFamily="2" charset="-122"/>
                <a:sym typeface="Times New Roman" pitchFamily="18" charset="0"/>
              </a:rPr>
              <a:t>是利用系统的有效</a:t>
            </a:r>
            <a:r>
              <a:rPr lang="zh-CN" dirty="0">
                <a:solidFill>
                  <a:srgbClr val="FF0000"/>
                </a:solidFill>
                <a:latin typeface="Times New Roman" pitchFamily="18" charset="0"/>
                <a:ea typeface="黑体" pitchFamily="2" charset="-122"/>
                <a:sym typeface="Times New Roman" pitchFamily="18" charset="0"/>
              </a:rPr>
              <a:t>放大率</a:t>
            </a:r>
            <a:r>
              <a:rPr lang="zh-CN" dirty="0">
                <a:latin typeface="Times New Roman" pitchFamily="18" charset="0"/>
                <a:ea typeface="黑体" pitchFamily="2" charset="-122"/>
                <a:sym typeface="Times New Roman" pitchFamily="18" charset="0"/>
              </a:rPr>
              <a:t>和有利的</a:t>
            </a:r>
            <a:r>
              <a:rPr lang="zh-CN" dirty="0">
                <a:solidFill>
                  <a:srgbClr val="FF0000"/>
                </a:solidFill>
                <a:latin typeface="Times New Roman" pitchFamily="18" charset="0"/>
                <a:ea typeface="黑体" pitchFamily="2" charset="-122"/>
                <a:sym typeface="Times New Roman" pitchFamily="18" charset="0"/>
              </a:rPr>
              <a:t>比较标志</a:t>
            </a:r>
            <a:r>
              <a:rPr lang="zh-CN" dirty="0">
                <a:latin typeface="Times New Roman" pitchFamily="18" charset="0"/>
                <a:ea typeface="黑体" pitchFamily="2" charset="-122"/>
                <a:sym typeface="Times New Roman" pitchFamily="18" charset="0"/>
              </a:rPr>
              <a:t>以提高对准和调焦的准确度。所以对准和调焦不确定度应以观察系统的</a:t>
            </a:r>
            <a:r>
              <a:rPr lang="zh-CN" dirty="0">
                <a:solidFill>
                  <a:schemeClr val="tx2"/>
                </a:solidFill>
                <a:latin typeface="Times New Roman" pitchFamily="18" charset="0"/>
                <a:ea typeface="黑体" pitchFamily="2" charset="-122"/>
                <a:sym typeface="Times New Roman" pitchFamily="18" charset="0"/>
              </a:rPr>
              <a:t>物方对应值</a:t>
            </a:r>
            <a:r>
              <a:rPr lang="zh-CN" dirty="0">
                <a:latin typeface="Times New Roman" pitchFamily="18" charset="0"/>
                <a:ea typeface="黑体" pitchFamily="2" charset="-122"/>
                <a:sym typeface="Times New Roman" pitchFamily="18" charset="0"/>
              </a:rPr>
              <a:t>表示。</a:t>
            </a:r>
          </a:p>
          <a:p>
            <a:pPr eaLnBrk="1" hangingPunct="1"/>
            <a:endParaRPr lang="zh-CN" altLang="zh-CN" dirty="0">
              <a:latin typeface="Times New Roman" pitchFamily="18" charset="0"/>
              <a:ea typeface="黑体" pitchFamily="2" charset="-122"/>
              <a:sym typeface="Times New Roman" pitchFamily="18" charset="0"/>
            </a:endParaRPr>
          </a:p>
        </p:txBody>
      </p:sp>
      <p:sp>
        <p:nvSpPr>
          <p:cNvPr id="7174" name="Text Box 5"/>
          <p:cNvSpPr>
            <a:spLocks noChangeArrowheads="1"/>
          </p:cNvSpPr>
          <p:nvPr/>
        </p:nvSpPr>
        <p:spPr bwMode="auto">
          <a:xfrm>
            <a:off x="1022350" y="3511550"/>
            <a:ext cx="627063" cy="642938"/>
          </a:xfrm>
          <a:prstGeom prst="rect">
            <a:avLst/>
          </a:prstGeom>
          <a:noFill/>
          <a:ln w="9525" cmpd="sng">
            <a:noFill/>
            <a:miter lim="800000"/>
            <a:headEnd/>
            <a:tailEnd/>
          </a:ln>
        </p:spPr>
        <p:txBody>
          <a:bodyPr/>
          <a:lstStyle/>
          <a:p>
            <a:pPr algn="just"/>
            <a:r>
              <a:rPr lang="en-US" sz="2000">
                <a:solidFill>
                  <a:srgbClr val="000000"/>
                </a:solidFill>
                <a:latin typeface="Times New Roman" pitchFamily="18" charset="0"/>
                <a:sym typeface="Times New Roman" pitchFamily="18" charset="0"/>
              </a:rPr>
              <a:t>Δ</a:t>
            </a:r>
            <a:r>
              <a:rPr lang="en-US" sz="2000" i="1">
                <a:solidFill>
                  <a:srgbClr val="000000"/>
                </a:solidFill>
                <a:latin typeface="Times New Roman" pitchFamily="18" charset="0"/>
                <a:sym typeface="Times New Roman" pitchFamily="18" charset="0"/>
              </a:rPr>
              <a:t>y</a:t>
            </a:r>
            <a:endParaRPr lang="en-US" sz="2000">
              <a:solidFill>
                <a:srgbClr val="000000"/>
              </a:solidFill>
              <a:sym typeface="Arial" pitchFamily="34" charset="0"/>
            </a:endParaRPr>
          </a:p>
        </p:txBody>
      </p:sp>
      <p:sp>
        <p:nvSpPr>
          <p:cNvPr id="7175" name="Text Box 6"/>
          <p:cNvSpPr>
            <a:spLocks noChangeArrowheads="1"/>
          </p:cNvSpPr>
          <p:nvPr/>
        </p:nvSpPr>
        <p:spPr bwMode="auto">
          <a:xfrm>
            <a:off x="7088188" y="4511675"/>
            <a:ext cx="760412" cy="642938"/>
          </a:xfrm>
          <a:prstGeom prst="rect">
            <a:avLst/>
          </a:prstGeom>
          <a:noFill/>
          <a:ln w="9525" cmpd="sng">
            <a:noFill/>
            <a:miter lim="800000"/>
            <a:headEnd/>
            <a:tailEnd/>
          </a:ln>
        </p:spPr>
        <p:txBody>
          <a:bodyPr/>
          <a:lstStyle/>
          <a:p>
            <a:pPr algn="just"/>
            <a:r>
              <a:rPr lang="en-US" sz="1600" b="1" i="1">
                <a:solidFill>
                  <a:srgbClr val="000000"/>
                </a:solidFill>
                <a:latin typeface="Times New Roman" pitchFamily="18" charset="0"/>
                <a:sym typeface="Times New Roman" pitchFamily="18" charset="0"/>
              </a:rPr>
              <a:t>F</a:t>
            </a:r>
            <a:r>
              <a:rPr lang="en-US" sz="1600" b="1">
                <a:solidFill>
                  <a:srgbClr val="000000"/>
                </a:solidFill>
                <a:latin typeface="宋体" pitchFamily="2" charset="-122"/>
                <a:sym typeface="宋体" pitchFamily="2" charset="-122"/>
              </a:rPr>
              <a:t>′</a:t>
            </a:r>
            <a:endParaRPr lang="en-US" sz="1600" b="1">
              <a:solidFill>
                <a:srgbClr val="000000"/>
              </a:solidFill>
              <a:sym typeface="Arial" pitchFamily="34" charset="0"/>
            </a:endParaRPr>
          </a:p>
        </p:txBody>
      </p:sp>
      <p:sp>
        <p:nvSpPr>
          <p:cNvPr id="7176" name="Text Box 7"/>
          <p:cNvSpPr>
            <a:spLocks noChangeArrowheads="1"/>
          </p:cNvSpPr>
          <p:nvPr/>
        </p:nvSpPr>
        <p:spPr bwMode="auto">
          <a:xfrm>
            <a:off x="4889500" y="4433888"/>
            <a:ext cx="812800" cy="642937"/>
          </a:xfrm>
          <a:prstGeom prst="rect">
            <a:avLst/>
          </a:prstGeom>
          <a:noFill/>
          <a:ln w="9525" cmpd="sng">
            <a:noFill/>
            <a:miter lim="800000"/>
            <a:headEnd/>
            <a:tailEnd/>
          </a:ln>
        </p:spPr>
        <p:txBody>
          <a:bodyPr/>
          <a:lstStyle/>
          <a:p>
            <a:pPr algn="just"/>
            <a:r>
              <a:rPr lang="en-US" sz="1600" b="1" i="1">
                <a:solidFill>
                  <a:srgbClr val="000000"/>
                </a:solidFill>
                <a:latin typeface="Times New Roman" pitchFamily="18" charset="0"/>
                <a:sym typeface="Times New Roman" pitchFamily="18" charset="0"/>
              </a:rPr>
              <a:t>l</a:t>
            </a:r>
            <a:r>
              <a:rPr lang="en-US" sz="1600" b="1" baseline="-25000">
                <a:solidFill>
                  <a:srgbClr val="000000"/>
                </a:solidFill>
                <a:latin typeface="Times New Roman" pitchFamily="18" charset="0"/>
                <a:sym typeface="Times New Roman" pitchFamily="18" charset="0"/>
              </a:rPr>
              <a:t>0 </a:t>
            </a:r>
            <a:r>
              <a:rPr lang="en-US" sz="1600" b="1">
                <a:solidFill>
                  <a:srgbClr val="000000"/>
                </a:solidFill>
                <a:latin typeface="Times New Roman" pitchFamily="18" charset="0"/>
                <a:sym typeface="Times New Roman" pitchFamily="18" charset="0"/>
              </a:rPr>
              <a:t>= </a:t>
            </a:r>
            <a:r>
              <a:rPr lang="en-US" sz="1600" b="1">
                <a:solidFill>
                  <a:srgbClr val="000000"/>
                </a:solidFill>
                <a:latin typeface="宋体" pitchFamily="2" charset="-122"/>
                <a:sym typeface="宋体" pitchFamily="2" charset="-122"/>
              </a:rPr>
              <a:t>∞</a:t>
            </a:r>
            <a:endParaRPr lang="en-US" sz="1600" b="1">
              <a:solidFill>
                <a:srgbClr val="000000"/>
              </a:solidFill>
              <a:sym typeface="Arial" pitchFamily="34" charset="0"/>
            </a:endParaRPr>
          </a:p>
        </p:txBody>
      </p:sp>
      <p:sp>
        <p:nvSpPr>
          <p:cNvPr id="7177" name="Text Box 8"/>
          <p:cNvSpPr>
            <a:spLocks noChangeArrowheads="1"/>
          </p:cNvSpPr>
          <p:nvPr/>
        </p:nvSpPr>
        <p:spPr bwMode="auto">
          <a:xfrm>
            <a:off x="5219700" y="5441950"/>
            <a:ext cx="1133475" cy="563563"/>
          </a:xfrm>
          <a:prstGeom prst="rect">
            <a:avLst/>
          </a:prstGeom>
          <a:noFill/>
          <a:ln w="9525" cmpd="sng">
            <a:noFill/>
            <a:miter lim="800000"/>
            <a:headEnd/>
            <a:tailEnd/>
          </a:ln>
        </p:spPr>
        <p:txBody>
          <a:bodyPr lIns="0" tIns="0" rIns="0" bIns="0"/>
          <a:lstStyle/>
          <a:p>
            <a:pPr algn="just"/>
            <a:r>
              <a:rPr lang="en-US" b="1" i="1">
                <a:solidFill>
                  <a:srgbClr val="000000"/>
                </a:solidFill>
                <a:latin typeface="Times New Roman" pitchFamily="18" charset="0"/>
                <a:sym typeface="Times New Roman" pitchFamily="18" charset="0"/>
              </a:rPr>
              <a:t>l</a:t>
            </a:r>
            <a:r>
              <a:rPr lang="en-US" b="1">
                <a:solidFill>
                  <a:srgbClr val="000000"/>
                </a:solidFill>
                <a:latin typeface="Times New Roman" pitchFamily="18" charset="0"/>
                <a:sym typeface="Times New Roman" pitchFamily="18" charset="0"/>
              </a:rPr>
              <a:t> = </a:t>
            </a:r>
            <a:r>
              <a:rPr lang="en-US">
                <a:solidFill>
                  <a:srgbClr val="000000"/>
                </a:solidFill>
                <a:latin typeface="Times New Roman" pitchFamily="18" charset="0"/>
                <a:sym typeface="Times New Roman" pitchFamily="18" charset="0"/>
              </a:rPr>
              <a:t>1/</a:t>
            </a:r>
            <a:r>
              <a:rPr lang="en-US" i="1">
                <a:solidFill>
                  <a:srgbClr val="000000"/>
                </a:solidFill>
                <a:latin typeface="Times New Roman" pitchFamily="18" charset="0"/>
                <a:sym typeface="Times New Roman" pitchFamily="18" charset="0"/>
              </a:rPr>
              <a:t>φ</a:t>
            </a:r>
            <a:endParaRPr lang="en-US">
              <a:solidFill>
                <a:srgbClr val="000000"/>
              </a:solidFill>
              <a:sym typeface="Arial" pitchFamily="34" charset="0"/>
            </a:endParaRPr>
          </a:p>
        </p:txBody>
      </p:sp>
      <p:sp>
        <p:nvSpPr>
          <p:cNvPr id="7178" name="Text Box 9"/>
          <p:cNvSpPr>
            <a:spLocks noChangeArrowheads="1"/>
          </p:cNvSpPr>
          <p:nvPr/>
        </p:nvSpPr>
        <p:spPr bwMode="auto">
          <a:xfrm>
            <a:off x="1423988" y="6124575"/>
            <a:ext cx="6315075" cy="547688"/>
          </a:xfrm>
          <a:prstGeom prst="rect">
            <a:avLst/>
          </a:prstGeom>
          <a:noFill/>
          <a:ln w="9525" cmpd="sng">
            <a:noFill/>
            <a:miter lim="800000"/>
            <a:headEnd/>
            <a:tailEnd/>
          </a:ln>
        </p:spPr>
        <p:txBody>
          <a:bodyPr/>
          <a:lstStyle/>
          <a:p>
            <a:pPr algn="ctr"/>
            <a:r>
              <a:rPr lang="zh-CN" altLang="en-US" sz="2400">
                <a:solidFill>
                  <a:srgbClr val="000000"/>
                </a:solidFill>
                <a:latin typeface="黑体" pitchFamily="2" charset="-122"/>
                <a:ea typeface="黑体" pitchFamily="2" charset="-122"/>
                <a:sym typeface="黑体" pitchFamily="2" charset="-122"/>
              </a:rPr>
              <a:t>观察系统物方的对准和调焦不确定度的表示</a:t>
            </a:r>
            <a:endParaRPr lang="zh-CN" altLang="en-US" sz="2400">
              <a:solidFill>
                <a:srgbClr val="000000"/>
              </a:solidFill>
              <a:sym typeface="Arial" pitchFamily="34" charset="0"/>
            </a:endParaRPr>
          </a:p>
        </p:txBody>
      </p:sp>
      <p:sp>
        <p:nvSpPr>
          <p:cNvPr id="7179" name="Text Box 10"/>
          <p:cNvSpPr>
            <a:spLocks noChangeArrowheads="1"/>
          </p:cNvSpPr>
          <p:nvPr/>
        </p:nvSpPr>
        <p:spPr bwMode="auto">
          <a:xfrm>
            <a:off x="4645025" y="3717925"/>
            <a:ext cx="627063" cy="642938"/>
          </a:xfrm>
          <a:prstGeom prst="rect">
            <a:avLst/>
          </a:prstGeom>
          <a:noFill/>
          <a:ln w="9525" cmpd="sng">
            <a:noFill/>
            <a:miter lim="800000"/>
            <a:headEnd/>
            <a:tailEnd/>
          </a:ln>
        </p:spPr>
        <p:txBody>
          <a:bodyPr/>
          <a:lstStyle/>
          <a:p>
            <a:pPr algn="just"/>
            <a:r>
              <a:rPr lang="en-US" sz="2000" b="1" i="1">
                <a:solidFill>
                  <a:srgbClr val="000000"/>
                </a:solidFill>
                <a:latin typeface="Times New Roman" pitchFamily="18" charset="0"/>
                <a:sym typeface="Times New Roman" pitchFamily="18" charset="0"/>
              </a:rPr>
              <a:t>  </a:t>
            </a:r>
            <a:r>
              <a:rPr lang="zh-CN" altLang="en-US" sz="2000" i="1">
                <a:solidFill>
                  <a:srgbClr val="000000"/>
                </a:solidFill>
                <a:latin typeface="Times New Roman" pitchFamily="18" charset="0"/>
                <a:sym typeface="Times New Roman" pitchFamily="18" charset="0"/>
              </a:rPr>
              <a:t>γ</a:t>
            </a:r>
            <a:endParaRPr lang="zh-CN" altLang="en-US"/>
          </a:p>
        </p:txBody>
      </p:sp>
      <p:sp>
        <p:nvSpPr>
          <p:cNvPr id="7180" name="Text Box 11"/>
          <p:cNvSpPr>
            <a:spLocks noChangeArrowheads="1"/>
          </p:cNvSpPr>
          <p:nvPr/>
        </p:nvSpPr>
        <p:spPr bwMode="auto">
          <a:xfrm>
            <a:off x="1538288" y="4645025"/>
            <a:ext cx="773112" cy="647700"/>
          </a:xfrm>
          <a:prstGeom prst="rect">
            <a:avLst/>
          </a:prstGeom>
          <a:noFill/>
          <a:ln w="9525" cmpd="sng">
            <a:noFill/>
            <a:miter lim="800000"/>
            <a:headEnd/>
            <a:tailEnd/>
          </a:ln>
        </p:spPr>
        <p:txBody>
          <a:bodyPr/>
          <a:lstStyle/>
          <a:p>
            <a:pPr algn="just"/>
            <a:r>
              <a:rPr lang="en-US" sz="1400" b="1">
                <a:solidFill>
                  <a:srgbClr val="000000"/>
                </a:solidFill>
                <a:latin typeface="Times New Roman" pitchFamily="18" charset="0"/>
                <a:sym typeface="Times New Roman" pitchFamily="18" charset="0"/>
              </a:rPr>
              <a:t>Δ</a:t>
            </a:r>
            <a:r>
              <a:rPr lang="en-US" sz="1400" b="1" i="1">
                <a:solidFill>
                  <a:srgbClr val="000000"/>
                </a:solidFill>
                <a:latin typeface="Times New Roman" pitchFamily="18" charset="0"/>
                <a:sym typeface="Times New Roman" pitchFamily="18" charset="0"/>
              </a:rPr>
              <a:t>x</a:t>
            </a:r>
            <a:endParaRPr lang="en-US" sz="1400" b="1">
              <a:solidFill>
                <a:srgbClr val="000000"/>
              </a:solidFill>
              <a:sym typeface="Arial" pitchFamily="34" charset="0"/>
            </a:endParaRPr>
          </a:p>
        </p:txBody>
      </p:sp>
      <p:grpSp>
        <p:nvGrpSpPr>
          <p:cNvPr id="2" name="Group 12"/>
          <p:cNvGrpSpPr>
            <a:grpSpLocks/>
          </p:cNvGrpSpPr>
          <p:nvPr/>
        </p:nvGrpSpPr>
        <p:grpSpPr bwMode="auto">
          <a:xfrm>
            <a:off x="1116013" y="3416300"/>
            <a:ext cx="6959600" cy="2490788"/>
            <a:chOff x="0" y="0"/>
            <a:chExt cx="4384" cy="1569"/>
          </a:xfrm>
        </p:grpSpPr>
        <p:sp>
          <p:nvSpPr>
            <p:cNvPr id="7182" name="Line 13"/>
            <p:cNvSpPr>
              <a:spLocks noChangeShapeType="1"/>
            </p:cNvSpPr>
            <p:nvPr/>
          </p:nvSpPr>
          <p:spPr bwMode="auto">
            <a:xfrm>
              <a:off x="25" y="306"/>
              <a:ext cx="1991" cy="1"/>
            </a:xfrm>
            <a:prstGeom prst="line">
              <a:avLst/>
            </a:prstGeom>
            <a:noFill/>
            <a:ln w="19050" cmpd="sng">
              <a:solidFill>
                <a:srgbClr val="000000"/>
              </a:solidFill>
              <a:prstDash val="dashDot"/>
              <a:bevel/>
              <a:headEnd/>
              <a:tailEnd/>
            </a:ln>
          </p:spPr>
          <p:txBody>
            <a:bodyPr/>
            <a:lstStyle/>
            <a:p>
              <a:endParaRPr lang="zh-CN" altLang="zh-CN">
                <a:solidFill>
                  <a:srgbClr val="000000"/>
                </a:solidFill>
                <a:sym typeface="Arial" pitchFamily="34" charset="0"/>
              </a:endParaRPr>
            </a:p>
          </p:txBody>
        </p:sp>
        <p:grpSp>
          <p:nvGrpSpPr>
            <p:cNvPr id="3" name="Group 14"/>
            <p:cNvGrpSpPr>
              <a:grpSpLocks/>
            </p:cNvGrpSpPr>
            <p:nvPr/>
          </p:nvGrpSpPr>
          <p:grpSpPr bwMode="auto">
            <a:xfrm>
              <a:off x="865" y="119"/>
              <a:ext cx="157" cy="386"/>
              <a:chOff x="0" y="0"/>
              <a:chExt cx="279" cy="586"/>
            </a:xfrm>
          </p:grpSpPr>
          <p:sp>
            <p:nvSpPr>
              <p:cNvPr id="7184" name="Arc 15"/>
              <p:cNvSpPr>
                <a:spLocks noChangeArrowheads="1"/>
              </p:cNvSpPr>
              <p:nvPr/>
            </p:nvSpPr>
            <p:spPr bwMode="auto">
              <a:xfrm>
                <a:off x="116" y="1"/>
                <a:ext cx="58" cy="582"/>
              </a:xfrm>
              <a:custGeom>
                <a:avLst/>
                <a:gdLst>
                  <a:gd name="T0" fmla="*/ 0 w 21600"/>
                  <a:gd name="T1" fmla="*/ 0 h 42977"/>
                  <a:gd name="T2" fmla="*/ 0 w 21600"/>
                  <a:gd name="T3" fmla="*/ 0 h 42977"/>
                  <a:gd name="T4" fmla="*/ 0 w 21600"/>
                  <a:gd name="T5" fmla="*/ 0 h 42977"/>
                  <a:gd name="T6" fmla="*/ 0 60000 65536"/>
                  <a:gd name="T7" fmla="*/ 0 60000 65536"/>
                  <a:gd name="T8" fmla="*/ 0 60000 65536"/>
                  <a:gd name="T9" fmla="*/ 0 w 21600"/>
                  <a:gd name="T10" fmla="*/ 0 h 42977"/>
                  <a:gd name="T11" fmla="*/ 21600 w 21600"/>
                  <a:gd name="T12" fmla="*/ 42977 h 42977"/>
                </a:gdLst>
                <a:ahLst/>
                <a:cxnLst>
                  <a:cxn ang="T6">
                    <a:pos x="T0" y="T1"/>
                  </a:cxn>
                  <a:cxn ang="T7">
                    <a:pos x="T2" y="T3"/>
                  </a:cxn>
                  <a:cxn ang="T8">
                    <a:pos x="T4" y="T5"/>
                  </a:cxn>
                </a:cxnLst>
                <a:rect l="T9" t="T10" r="T11" b="T12"/>
                <a:pathLst>
                  <a:path w="21600" h="42977">
                    <a:moveTo>
                      <a:pt x="-1" y="0"/>
                    </a:moveTo>
                    <a:cubicBezTo>
                      <a:pt x="11929" y="0"/>
                      <a:pt x="21600" y="9670"/>
                      <a:pt x="21600" y="21600"/>
                    </a:cubicBezTo>
                    <a:cubicBezTo>
                      <a:pt x="21600" y="32333"/>
                      <a:pt x="13719" y="41437"/>
                      <a:pt x="3096" y="42976"/>
                    </a:cubicBezTo>
                  </a:path>
                  <a:path w="21600" h="42977">
                    <a:moveTo>
                      <a:pt x="-1" y="0"/>
                    </a:moveTo>
                    <a:cubicBezTo>
                      <a:pt x="11929" y="0"/>
                      <a:pt x="21600" y="9670"/>
                      <a:pt x="21600" y="21600"/>
                    </a:cubicBezTo>
                    <a:cubicBezTo>
                      <a:pt x="21600" y="32333"/>
                      <a:pt x="13719" y="41437"/>
                      <a:pt x="3096" y="42976"/>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85" name="Arc 16"/>
              <p:cNvSpPr>
                <a:spLocks noChangeArrowheads="1"/>
              </p:cNvSpPr>
              <p:nvPr/>
            </p:nvSpPr>
            <p:spPr bwMode="auto">
              <a:xfrm rot="10729539">
                <a:off x="0" y="2"/>
                <a:ext cx="58" cy="583"/>
              </a:xfrm>
              <a:custGeom>
                <a:avLst/>
                <a:gdLst>
                  <a:gd name="T0" fmla="*/ 0 w 21600"/>
                  <a:gd name="T1" fmla="*/ 0 h 43088"/>
                  <a:gd name="T2" fmla="*/ 0 w 21600"/>
                  <a:gd name="T3" fmla="*/ 0 h 43088"/>
                  <a:gd name="T4" fmla="*/ 0 w 21600"/>
                  <a:gd name="T5" fmla="*/ 0 h 43088"/>
                  <a:gd name="T6" fmla="*/ 0 60000 65536"/>
                  <a:gd name="T7" fmla="*/ 0 60000 65536"/>
                  <a:gd name="T8" fmla="*/ 0 60000 65536"/>
                  <a:gd name="T9" fmla="*/ 0 w 21600"/>
                  <a:gd name="T10" fmla="*/ 0 h 43088"/>
                  <a:gd name="T11" fmla="*/ 21600 w 21600"/>
                  <a:gd name="T12" fmla="*/ 43088 h 43088"/>
                </a:gdLst>
                <a:ahLst/>
                <a:cxnLst>
                  <a:cxn ang="T6">
                    <a:pos x="T0" y="T1"/>
                  </a:cxn>
                  <a:cxn ang="T7">
                    <a:pos x="T2" y="T3"/>
                  </a:cxn>
                  <a:cxn ang="T8">
                    <a:pos x="T4" y="T5"/>
                  </a:cxn>
                </a:cxnLst>
                <a:rect l="T9" t="T10" r="T11" b="T12"/>
                <a:pathLst>
                  <a:path w="21600" h="43088">
                    <a:moveTo>
                      <a:pt x="-1" y="0"/>
                    </a:moveTo>
                    <a:cubicBezTo>
                      <a:pt x="11929" y="0"/>
                      <a:pt x="21600" y="9670"/>
                      <a:pt x="21600" y="21600"/>
                    </a:cubicBezTo>
                    <a:cubicBezTo>
                      <a:pt x="21600" y="32678"/>
                      <a:pt x="13218" y="41960"/>
                      <a:pt x="2197" y="43087"/>
                    </a:cubicBezTo>
                  </a:path>
                  <a:path w="21600" h="43088">
                    <a:moveTo>
                      <a:pt x="-1" y="0"/>
                    </a:moveTo>
                    <a:cubicBezTo>
                      <a:pt x="11929" y="0"/>
                      <a:pt x="21600" y="9670"/>
                      <a:pt x="21600" y="21600"/>
                    </a:cubicBezTo>
                    <a:cubicBezTo>
                      <a:pt x="21600" y="32678"/>
                      <a:pt x="13218" y="41960"/>
                      <a:pt x="2197" y="43087"/>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186" name="Arc 17"/>
              <p:cNvSpPr>
                <a:spLocks noChangeArrowheads="1"/>
              </p:cNvSpPr>
              <p:nvPr/>
            </p:nvSpPr>
            <p:spPr bwMode="auto">
              <a:xfrm>
                <a:off x="221" y="1"/>
                <a:ext cx="58" cy="582"/>
              </a:xfrm>
              <a:custGeom>
                <a:avLst/>
                <a:gdLst>
                  <a:gd name="T0" fmla="*/ 0 w 21600"/>
                  <a:gd name="T1" fmla="*/ 0 h 42981"/>
                  <a:gd name="T2" fmla="*/ 0 w 21600"/>
                  <a:gd name="T3" fmla="*/ 0 h 42981"/>
                  <a:gd name="T4" fmla="*/ 0 w 21600"/>
                  <a:gd name="T5" fmla="*/ 0 h 42981"/>
                  <a:gd name="T6" fmla="*/ 0 60000 65536"/>
                  <a:gd name="T7" fmla="*/ 0 60000 65536"/>
                  <a:gd name="T8" fmla="*/ 0 60000 65536"/>
                  <a:gd name="T9" fmla="*/ 0 w 21600"/>
                  <a:gd name="T10" fmla="*/ 0 h 42981"/>
                  <a:gd name="T11" fmla="*/ 21600 w 21600"/>
                  <a:gd name="T12" fmla="*/ 42981 h 42981"/>
                </a:gdLst>
                <a:ahLst/>
                <a:cxnLst>
                  <a:cxn ang="T6">
                    <a:pos x="T0" y="T1"/>
                  </a:cxn>
                  <a:cxn ang="T7">
                    <a:pos x="T2" y="T3"/>
                  </a:cxn>
                  <a:cxn ang="T8">
                    <a:pos x="T4" y="T5"/>
                  </a:cxn>
                </a:cxnLst>
                <a:rect l="T9" t="T10" r="T11" b="T12"/>
                <a:pathLst>
                  <a:path w="21600" h="42981">
                    <a:moveTo>
                      <a:pt x="-1" y="0"/>
                    </a:moveTo>
                    <a:cubicBezTo>
                      <a:pt x="11929" y="0"/>
                      <a:pt x="21600" y="9670"/>
                      <a:pt x="21600" y="21600"/>
                    </a:cubicBezTo>
                    <a:cubicBezTo>
                      <a:pt x="21600" y="32345"/>
                      <a:pt x="13701" y="41456"/>
                      <a:pt x="3065" y="42981"/>
                    </a:cubicBezTo>
                  </a:path>
                  <a:path w="21600" h="42981">
                    <a:moveTo>
                      <a:pt x="-1" y="0"/>
                    </a:moveTo>
                    <a:cubicBezTo>
                      <a:pt x="11929" y="0"/>
                      <a:pt x="21600" y="9670"/>
                      <a:pt x="21600" y="21600"/>
                    </a:cubicBezTo>
                    <a:cubicBezTo>
                      <a:pt x="21600" y="32345"/>
                      <a:pt x="13701" y="41456"/>
                      <a:pt x="3065" y="42981"/>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87" name="Line 18"/>
              <p:cNvSpPr>
                <a:spLocks noChangeShapeType="1"/>
              </p:cNvSpPr>
              <p:nvPr/>
            </p:nvSpPr>
            <p:spPr bwMode="auto">
              <a:xfrm>
                <a:off x="48" y="0"/>
                <a:ext cx="172"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88" name="Line 19"/>
              <p:cNvSpPr>
                <a:spLocks noChangeShapeType="1"/>
              </p:cNvSpPr>
              <p:nvPr/>
            </p:nvSpPr>
            <p:spPr bwMode="auto">
              <a:xfrm>
                <a:off x="58" y="586"/>
                <a:ext cx="173"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sp>
          <p:nvSpPr>
            <p:cNvPr id="7189" name="Line 20"/>
            <p:cNvSpPr>
              <a:spLocks noChangeShapeType="1"/>
            </p:cNvSpPr>
            <p:nvPr/>
          </p:nvSpPr>
          <p:spPr bwMode="auto">
            <a:xfrm flipV="1">
              <a:off x="411" y="207"/>
              <a:ext cx="1059" cy="197"/>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0" name="Line 21"/>
            <p:cNvSpPr>
              <a:spLocks noChangeShapeType="1"/>
            </p:cNvSpPr>
            <p:nvPr/>
          </p:nvSpPr>
          <p:spPr bwMode="auto">
            <a:xfrm flipH="1">
              <a:off x="109" y="404"/>
              <a:ext cx="302"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1" name="Line 22"/>
            <p:cNvSpPr>
              <a:spLocks noChangeShapeType="1"/>
            </p:cNvSpPr>
            <p:nvPr/>
          </p:nvSpPr>
          <p:spPr bwMode="auto">
            <a:xfrm flipH="1">
              <a:off x="1461" y="108"/>
              <a:ext cx="1" cy="454"/>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2" name="Oval 23"/>
            <p:cNvSpPr>
              <a:spLocks noChangeArrowheads="1"/>
            </p:cNvSpPr>
            <p:nvPr/>
          </p:nvSpPr>
          <p:spPr bwMode="auto">
            <a:xfrm flipH="1" flipV="1">
              <a:off x="413" y="380"/>
              <a:ext cx="40"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193" name="Oval 24"/>
            <p:cNvSpPr>
              <a:spLocks noChangeArrowheads="1"/>
            </p:cNvSpPr>
            <p:nvPr/>
          </p:nvSpPr>
          <p:spPr bwMode="auto">
            <a:xfrm flipH="1" flipV="1">
              <a:off x="1438" y="182"/>
              <a:ext cx="39"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194" name="Line 25"/>
            <p:cNvSpPr>
              <a:spLocks noChangeShapeType="1"/>
            </p:cNvSpPr>
            <p:nvPr/>
          </p:nvSpPr>
          <p:spPr bwMode="auto">
            <a:xfrm flipH="1">
              <a:off x="252" y="88"/>
              <a:ext cx="1" cy="553"/>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5" name="Line 26"/>
            <p:cNvSpPr>
              <a:spLocks noChangeShapeType="1"/>
            </p:cNvSpPr>
            <p:nvPr/>
          </p:nvSpPr>
          <p:spPr bwMode="auto">
            <a:xfrm flipH="1">
              <a:off x="252" y="79"/>
              <a:ext cx="1" cy="227"/>
            </a:xfrm>
            <a:prstGeom prst="line">
              <a:avLst/>
            </a:prstGeom>
            <a:noFill/>
            <a:ln w="19050" cmpd="sng">
              <a:solidFill>
                <a:srgbClr val="000000"/>
              </a:solidFill>
              <a:bevel/>
              <a:headEnd/>
              <a:tailEnd type="stealth" w="med" len="lg"/>
            </a:ln>
          </p:spPr>
          <p:txBody>
            <a:bodyPr/>
            <a:lstStyle/>
            <a:p>
              <a:endParaRPr lang="zh-CN" altLang="zh-CN">
                <a:solidFill>
                  <a:srgbClr val="000000"/>
                </a:solidFill>
                <a:sym typeface="Arial" pitchFamily="34" charset="0"/>
              </a:endParaRPr>
            </a:p>
          </p:txBody>
        </p:sp>
        <p:sp>
          <p:nvSpPr>
            <p:cNvPr id="7196" name="Line 27"/>
            <p:cNvSpPr>
              <a:spLocks noChangeShapeType="1"/>
            </p:cNvSpPr>
            <p:nvPr/>
          </p:nvSpPr>
          <p:spPr bwMode="auto">
            <a:xfrm flipH="1">
              <a:off x="252" y="414"/>
              <a:ext cx="1" cy="197"/>
            </a:xfrm>
            <a:prstGeom prst="line">
              <a:avLst/>
            </a:prstGeom>
            <a:noFill/>
            <a:ln w="19050" cmpd="sng">
              <a:solidFill>
                <a:srgbClr val="000000"/>
              </a:solidFill>
              <a:bevel/>
              <a:headEnd type="stealth" w="med" len="lg"/>
              <a:tailEnd/>
            </a:ln>
          </p:spPr>
          <p:txBody>
            <a:bodyPr/>
            <a:lstStyle/>
            <a:p>
              <a:endParaRPr lang="zh-CN" altLang="zh-CN">
                <a:solidFill>
                  <a:srgbClr val="000000"/>
                </a:solidFill>
                <a:sym typeface="Arial" pitchFamily="34" charset="0"/>
              </a:endParaRPr>
            </a:p>
          </p:txBody>
        </p:sp>
        <p:sp>
          <p:nvSpPr>
            <p:cNvPr id="7197" name="Line 28"/>
            <p:cNvSpPr>
              <a:spLocks noChangeShapeType="1"/>
            </p:cNvSpPr>
            <p:nvPr/>
          </p:nvSpPr>
          <p:spPr bwMode="auto">
            <a:xfrm flipH="1">
              <a:off x="411" y="286"/>
              <a:ext cx="34" cy="3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8" name="Line 29"/>
            <p:cNvSpPr>
              <a:spLocks noChangeShapeType="1"/>
            </p:cNvSpPr>
            <p:nvPr/>
          </p:nvSpPr>
          <p:spPr bwMode="auto">
            <a:xfrm>
              <a:off x="411" y="286"/>
              <a:ext cx="34" cy="3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199" name="Line 30"/>
            <p:cNvSpPr>
              <a:spLocks noChangeShapeType="1"/>
            </p:cNvSpPr>
            <p:nvPr/>
          </p:nvSpPr>
          <p:spPr bwMode="auto">
            <a:xfrm flipH="1">
              <a:off x="1436" y="296"/>
              <a:ext cx="34" cy="3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0" name="Line 31"/>
            <p:cNvSpPr>
              <a:spLocks noChangeShapeType="1"/>
            </p:cNvSpPr>
            <p:nvPr/>
          </p:nvSpPr>
          <p:spPr bwMode="auto">
            <a:xfrm>
              <a:off x="1444" y="296"/>
              <a:ext cx="34" cy="3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1" name="Line 32"/>
            <p:cNvSpPr>
              <a:spLocks noChangeShapeType="1"/>
            </p:cNvSpPr>
            <p:nvPr/>
          </p:nvSpPr>
          <p:spPr bwMode="auto">
            <a:xfrm>
              <a:off x="2343" y="996"/>
              <a:ext cx="1991" cy="1"/>
            </a:xfrm>
            <a:prstGeom prst="line">
              <a:avLst/>
            </a:prstGeom>
            <a:noFill/>
            <a:ln w="19050" cmpd="sng">
              <a:solidFill>
                <a:srgbClr val="000000"/>
              </a:solidFill>
              <a:prstDash val="dashDot"/>
              <a:bevel/>
              <a:headEnd/>
              <a:tailEnd/>
            </a:ln>
          </p:spPr>
          <p:txBody>
            <a:bodyPr/>
            <a:lstStyle/>
            <a:p>
              <a:endParaRPr lang="zh-CN" altLang="zh-CN">
                <a:solidFill>
                  <a:srgbClr val="000000"/>
                </a:solidFill>
                <a:sym typeface="Arial" pitchFamily="34" charset="0"/>
              </a:endParaRPr>
            </a:p>
          </p:txBody>
        </p:sp>
        <p:sp>
          <p:nvSpPr>
            <p:cNvPr id="7202" name="Oval 33"/>
            <p:cNvSpPr>
              <a:spLocks noChangeArrowheads="1"/>
            </p:cNvSpPr>
            <p:nvPr/>
          </p:nvSpPr>
          <p:spPr bwMode="auto">
            <a:xfrm flipH="1" flipV="1">
              <a:off x="2387" y="972"/>
              <a:ext cx="40"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03" name="Oval 34"/>
            <p:cNvSpPr>
              <a:spLocks noChangeArrowheads="1"/>
            </p:cNvSpPr>
            <p:nvPr/>
          </p:nvSpPr>
          <p:spPr bwMode="auto">
            <a:xfrm flipH="1" flipV="1">
              <a:off x="3865" y="972"/>
              <a:ext cx="40"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04" name="Line 35"/>
            <p:cNvSpPr>
              <a:spLocks noChangeShapeType="1"/>
            </p:cNvSpPr>
            <p:nvPr/>
          </p:nvSpPr>
          <p:spPr bwMode="auto">
            <a:xfrm>
              <a:off x="2830" y="805"/>
              <a:ext cx="420"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5" name="Line 36"/>
            <p:cNvSpPr>
              <a:spLocks noChangeShapeType="1"/>
            </p:cNvSpPr>
            <p:nvPr/>
          </p:nvSpPr>
          <p:spPr bwMode="auto">
            <a:xfrm>
              <a:off x="3317" y="811"/>
              <a:ext cx="563" cy="18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6" name="Line 37"/>
            <p:cNvSpPr>
              <a:spLocks noChangeShapeType="1"/>
            </p:cNvSpPr>
            <p:nvPr/>
          </p:nvSpPr>
          <p:spPr bwMode="auto">
            <a:xfrm>
              <a:off x="2855" y="1182"/>
              <a:ext cx="395"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7" name="Line 38"/>
            <p:cNvSpPr>
              <a:spLocks noChangeShapeType="1"/>
            </p:cNvSpPr>
            <p:nvPr/>
          </p:nvSpPr>
          <p:spPr bwMode="auto">
            <a:xfrm flipV="1">
              <a:off x="3312" y="996"/>
              <a:ext cx="576" cy="184"/>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8" name="Line 39"/>
            <p:cNvSpPr>
              <a:spLocks noChangeShapeType="1"/>
            </p:cNvSpPr>
            <p:nvPr/>
          </p:nvSpPr>
          <p:spPr bwMode="auto">
            <a:xfrm flipV="1">
              <a:off x="2738" y="809"/>
              <a:ext cx="463" cy="6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09" name="Line 40"/>
            <p:cNvSpPr>
              <a:spLocks noChangeShapeType="1"/>
            </p:cNvSpPr>
            <p:nvPr/>
          </p:nvSpPr>
          <p:spPr bwMode="auto">
            <a:xfrm>
              <a:off x="2746" y="1115"/>
              <a:ext cx="460" cy="6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0" name="Line 41"/>
            <p:cNvSpPr>
              <a:spLocks noChangeShapeType="1"/>
            </p:cNvSpPr>
            <p:nvPr/>
          </p:nvSpPr>
          <p:spPr bwMode="auto">
            <a:xfrm flipV="1">
              <a:off x="2419" y="947"/>
              <a:ext cx="243" cy="3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1" name="Line 42"/>
            <p:cNvSpPr>
              <a:spLocks noChangeShapeType="1"/>
            </p:cNvSpPr>
            <p:nvPr/>
          </p:nvSpPr>
          <p:spPr bwMode="auto">
            <a:xfrm>
              <a:off x="2410" y="1006"/>
              <a:ext cx="261"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2" name="Line 43"/>
            <p:cNvSpPr>
              <a:spLocks noChangeShapeType="1"/>
            </p:cNvSpPr>
            <p:nvPr/>
          </p:nvSpPr>
          <p:spPr bwMode="auto">
            <a:xfrm>
              <a:off x="3779" y="809"/>
              <a:ext cx="1" cy="38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3" name="Freeform 44"/>
            <p:cNvSpPr>
              <a:spLocks noChangeArrowheads="1"/>
            </p:cNvSpPr>
            <p:nvPr/>
          </p:nvSpPr>
          <p:spPr bwMode="auto">
            <a:xfrm>
              <a:off x="2681" y="953"/>
              <a:ext cx="19" cy="112"/>
            </a:xfrm>
            <a:custGeom>
              <a:avLst/>
              <a:gdLst>
                <a:gd name="T0" fmla="*/ 2 w 56"/>
                <a:gd name="T1" fmla="*/ 0 h 285"/>
                <a:gd name="T2" fmla="*/ 1 w 56"/>
                <a:gd name="T3" fmla="*/ 7 h 285"/>
                <a:gd name="T4" fmla="*/ 2 w 56"/>
                <a:gd name="T5" fmla="*/ 13 h 285"/>
                <a:gd name="T6" fmla="*/ 1 w 56"/>
                <a:gd name="T7" fmla="*/ 17 h 285"/>
                <a:gd name="T8" fmla="*/ 0 60000 65536"/>
                <a:gd name="T9" fmla="*/ 0 60000 65536"/>
                <a:gd name="T10" fmla="*/ 0 60000 65536"/>
                <a:gd name="T11" fmla="*/ 0 60000 65536"/>
                <a:gd name="T12" fmla="*/ 0 w 56"/>
                <a:gd name="T13" fmla="*/ 0 h 285"/>
                <a:gd name="T14" fmla="*/ 56 w 56"/>
                <a:gd name="T15" fmla="*/ 285 h 285"/>
              </a:gdLst>
              <a:ahLst/>
              <a:cxnLst>
                <a:cxn ang="T8">
                  <a:pos x="T0" y="T1"/>
                </a:cxn>
                <a:cxn ang="T9">
                  <a:pos x="T2" y="T3"/>
                </a:cxn>
                <a:cxn ang="T10">
                  <a:pos x="T4" y="T5"/>
                </a:cxn>
                <a:cxn ang="T11">
                  <a:pos x="T6" y="T7"/>
                </a:cxn>
              </a:cxnLst>
              <a:rect l="T12" t="T13" r="T14" b="T15"/>
              <a:pathLst>
                <a:path w="56" h="285">
                  <a:moveTo>
                    <a:pt x="41" y="0"/>
                  </a:moveTo>
                  <a:cubicBezTo>
                    <a:pt x="0" y="61"/>
                    <a:pt x="3" y="34"/>
                    <a:pt x="26" y="120"/>
                  </a:cubicBezTo>
                  <a:cubicBezTo>
                    <a:pt x="34" y="151"/>
                    <a:pt x="56" y="210"/>
                    <a:pt x="56" y="210"/>
                  </a:cubicBezTo>
                  <a:cubicBezTo>
                    <a:pt x="39" y="277"/>
                    <a:pt x="56" y="255"/>
                    <a:pt x="26" y="285"/>
                  </a:cubicBezTo>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4" name="Freeform 45"/>
            <p:cNvSpPr>
              <a:spLocks noChangeArrowheads="1"/>
            </p:cNvSpPr>
            <p:nvPr/>
          </p:nvSpPr>
          <p:spPr bwMode="auto">
            <a:xfrm>
              <a:off x="2711" y="947"/>
              <a:ext cx="18" cy="112"/>
            </a:xfrm>
            <a:custGeom>
              <a:avLst/>
              <a:gdLst>
                <a:gd name="T0" fmla="*/ 1 w 56"/>
                <a:gd name="T1" fmla="*/ 0 h 285"/>
                <a:gd name="T2" fmla="*/ 1 w 56"/>
                <a:gd name="T3" fmla="*/ 7 h 285"/>
                <a:gd name="T4" fmla="*/ 2 w 56"/>
                <a:gd name="T5" fmla="*/ 13 h 285"/>
                <a:gd name="T6" fmla="*/ 1 w 56"/>
                <a:gd name="T7" fmla="*/ 17 h 285"/>
                <a:gd name="T8" fmla="*/ 0 60000 65536"/>
                <a:gd name="T9" fmla="*/ 0 60000 65536"/>
                <a:gd name="T10" fmla="*/ 0 60000 65536"/>
                <a:gd name="T11" fmla="*/ 0 60000 65536"/>
                <a:gd name="T12" fmla="*/ 0 w 56"/>
                <a:gd name="T13" fmla="*/ 0 h 285"/>
                <a:gd name="T14" fmla="*/ 56 w 56"/>
                <a:gd name="T15" fmla="*/ 285 h 285"/>
              </a:gdLst>
              <a:ahLst/>
              <a:cxnLst>
                <a:cxn ang="T8">
                  <a:pos x="T0" y="T1"/>
                </a:cxn>
                <a:cxn ang="T9">
                  <a:pos x="T2" y="T3"/>
                </a:cxn>
                <a:cxn ang="T10">
                  <a:pos x="T4" y="T5"/>
                </a:cxn>
                <a:cxn ang="T11">
                  <a:pos x="T6" y="T7"/>
                </a:cxn>
              </a:cxnLst>
              <a:rect l="T12" t="T13" r="T14" b="T15"/>
              <a:pathLst>
                <a:path w="56" h="285">
                  <a:moveTo>
                    <a:pt x="41" y="0"/>
                  </a:moveTo>
                  <a:cubicBezTo>
                    <a:pt x="0" y="61"/>
                    <a:pt x="3" y="34"/>
                    <a:pt x="26" y="120"/>
                  </a:cubicBezTo>
                  <a:cubicBezTo>
                    <a:pt x="34" y="151"/>
                    <a:pt x="56" y="210"/>
                    <a:pt x="56" y="210"/>
                  </a:cubicBezTo>
                  <a:cubicBezTo>
                    <a:pt x="39" y="277"/>
                    <a:pt x="56" y="255"/>
                    <a:pt x="26" y="285"/>
                  </a:cubicBezTo>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5" name="Line 46"/>
            <p:cNvSpPr>
              <a:spLocks noChangeShapeType="1"/>
            </p:cNvSpPr>
            <p:nvPr/>
          </p:nvSpPr>
          <p:spPr bwMode="auto">
            <a:xfrm>
              <a:off x="2402" y="996"/>
              <a:ext cx="1" cy="573"/>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6" name="Line 47"/>
            <p:cNvSpPr>
              <a:spLocks noChangeShapeType="1"/>
            </p:cNvSpPr>
            <p:nvPr/>
          </p:nvSpPr>
          <p:spPr bwMode="auto">
            <a:xfrm>
              <a:off x="3242" y="1194"/>
              <a:ext cx="1" cy="37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17" name="Line 48"/>
            <p:cNvSpPr>
              <a:spLocks noChangeShapeType="1"/>
            </p:cNvSpPr>
            <p:nvPr/>
          </p:nvSpPr>
          <p:spPr bwMode="auto">
            <a:xfrm>
              <a:off x="2400" y="1470"/>
              <a:ext cx="832" cy="1"/>
            </a:xfrm>
            <a:prstGeom prst="line">
              <a:avLst/>
            </a:prstGeom>
            <a:noFill/>
            <a:ln w="19050" cmpd="sng">
              <a:solidFill>
                <a:srgbClr val="000000"/>
              </a:solidFill>
              <a:bevel/>
              <a:headEnd type="stealth" w="med" len="lg"/>
              <a:tailEnd type="stealth" w="med" len="lg"/>
            </a:ln>
          </p:spPr>
          <p:txBody>
            <a:bodyPr/>
            <a:lstStyle/>
            <a:p>
              <a:endParaRPr lang="zh-CN" altLang="zh-CN">
                <a:solidFill>
                  <a:srgbClr val="000000"/>
                </a:solidFill>
                <a:sym typeface="Arial" pitchFamily="34" charset="0"/>
              </a:endParaRPr>
            </a:p>
          </p:txBody>
        </p:sp>
        <p:sp>
          <p:nvSpPr>
            <p:cNvPr id="7218" name="Line 49"/>
            <p:cNvSpPr>
              <a:spLocks noChangeShapeType="1"/>
            </p:cNvSpPr>
            <p:nvPr/>
          </p:nvSpPr>
          <p:spPr bwMode="auto">
            <a:xfrm>
              <a:off x="2393" y="197"/>
              <a:ext cx="1991" cy="1"/>
            </a:xfrm>
            <a:prstGeom prst="line">
              <a:avLst/>
            </a:prstGeom>
            <a:noFill/>
            <a:ln w="19050" cmpd="sng">
              <a:solidFill>
                <a:srgbClr val="000000"/>
              </a:solidFill>
              <a:prstDash val="dashDot"/>
              <a:bevel/>
              <a:headEnd/>
              <a:tailEnd/>
            </a:ln>
          </p:spPr>
          <p:txBody>
            <a:bodyPr/>
            <a:lstStyle/>
            <a:p>
              <a:endParaRPr lang="zh-CN" altLang="zh-CN">
                <a:solidFill>
                  <a:srgbClr val="000000"/>
                </a:solidFill>
                <a:sym typeface="Arial" pitchFamily="34" charset="0"/>
              </a:endParaRPr>
            </a:p>
          </p:txBody>
        </p:sp>
        <p:sp>
          <p:nvSpPr>
            <p:cNvPr id="7219" name="Oval 50"/>
            <p:cNvSpPr>
              <a:spLocks noChangeArrowheads="1"/>
            </p:cNvSpPr>
            <p:nvPr/>
          </p:nvSpPr>
          <p:spPr bwMode="auto">
            <a:xfrm flipH="1" flipV="1">
              <a:off x="3815" y="84"/>
              <a:ext cx="39"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20" name="Oval 51"/>
            <p:cNvSpPr>
              <a:spLocks noChangeArrowheads="1"/>
            </p:cNvSpPr>
            <p:nvPr/>
          </p:nvSpPr>
          <p:spPr bwMode="auto">
            <a:xfrm flipH="1" flipV="1">
              <a:off x="2454" y="449"/>
              <a:ext cx="40" cy="47"/>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21" name="Line 52"/>
            <p:cNvSpPr>
              <a:spLocks noChangeShapeType="1"/>
            </p:cNvSpPr>
            <p:nvPr/>
          </p:nvSpPr>
          <p:spPr bwMode="auto">
            <a:xfrm flipV="1">
              <a:off x="2864" y="108"/>
              <a:ext cx="982" cy="178"/>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2" name="Line 53"/>
            <p:cNvSpPr>
              <a:spLocks noChangeShapeType="1"/>
            </p:cNvSpPr>
            <p:nvPr/>
          </p:nvSpPr>
          <p:spPr bwMode="auto">
            <a:xfrm>
              <a:off x="3838" y="0"/>
              <a:ext cx="1" cy="404"/>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3" name="Line 54"/>
            <p:cNvSpPr>
              <a:spLocks noChangeShapeType="1"/>
            </p:cNvSpPr>
            <p:nvPr/>
          </p:nvSpPr>
          <p:spPr bwMode="auto">
            <a:xfrm flipH="1">
              <a:off x="2494" y="394"/>
              <a:ext cx="294" cy="69"/>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4" name="Line 55"/>
            <p:cNvSpPr>
              <a:spLocks noChangeShapeType="1"/>
            </p:cNvSpPr>
            <p:nvPr/>
          </p:nvSpPr>
          <p:spPr bwMode="auto">
            <a:xfrm flipH="1">
              <a:off x="2452" y="177"/>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5" name="Line 56"/>
            <p:cNvSpPr>
              <a:spLocks noChangeShapeType="1"/>
            </p:cNvSpPr>
            <p:nvPr/>
          </p:nvSpPr>
          <p:spPr bwMode="auto">
            <a:xfrm>
              <a:off x="2452" y="177"/>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6" name="Line 57"/>
            <p:cNvSpPr>
              <a:spLocks noChangeShapeType="1"/>
            </p:cNvSpPr>
            <p:nvPr/>
          </p:nvSpPr>
          <p:spPr bwMode="auto">
            <a:xfrm flipH="1">
              <a:off x="3813" y="177"/>
              <a:ext cx="33"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7" name="Line 58"/>
            <p:cNvSpPr>
              <a:spLocks noChangeShapeType="1"/>
            </p:cNvSpPr>
            <p:nvPr/>
          </p:nvSpPr>
          <p:spPr bwMode="auto">
            <a:xfrm>
              <a:off x="3821" y="177"/>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8" name="Freeform 59"/>
            <p:cNvSpPr>
              <a:spLocks noChangeArrowheads="1"/>
            </p:cNvSpPr>
            <p:nvPr/>
          </p:nvSpPr>
          <p:spPr bwMode="auto">
            <a:xfrm>
              <a:off x="2757" y="154"/>
              <a:ext cx="18" cy="112"/>
            </a:xfrm>
            <a:custGeom>
              <a:avLst/>
              <a:gdLst>
                <a:gd name="T0" fmla="*/ 1 w 56"/>
                <a:gd name="T1" fmla="*/ 0 h 285"/>
                <a:gd name="T2" fmla="*/ 1 w 56"/>
                <a:gd name="T3" fmla="*/ 7 h 285"/>
                <a:gd name="T4" fmla="*/ 2 w 56"/>
                <a:gd name="T5" fmla="*/ 13 h 285"/>
                <a:gd name="T6" fmla="*/ 1 w 56"/>
                <a:gd name="T7" fmla="*/ 17 h 285"/>
                <a:gd name="T8" fmla="*/ 0 60000 65536"/>
                <a:gd name="T9" fmla="*/ 0 60000 65536"/>
                <a:gd name="T10" fmla="*/ 0 60000 65536"/>
                <a:gd name="T11" fmla="*/ 0 60000 65536"/>
                <a:gd name="T12" fmla="*/ 0 w 56"/>
                <a:gd name="T13" fmla="*/ 0 h 285"/>
                <a:gd name="T14" fmla="*/ 56 w 56"/>
                <a:gd name="T15" fmla="*/ 285 h 285"/>
              </a:gdLst>
              <a:ahLst/>
              <a:cxnLst>
                <a:cxn ang="T8">
                  <a:pos x="T0" y="T1"/>
                </a:cxn>
                <a:cxn ang="T9">
                  <a:pos x="T2" y="T3"/>
                </a:cxn>
                <a:cxn ang="T10">
                  <a:pos x="T4" y="T5"/>
                </a:cxn>
                <a:cxn ang="T11">
                  <a:pos x="T6" y="T7"/>
                </a:cxn>
              </a:cxnLst>
              <a:rect l="T12" t="T13" r="T14" b="T15"/>
              <a:pathLst>
                <a:path w="56" h="285">
                  <a:moveTo>
                    <a:pt x="41" y="0"/>
                  </a:moveTo>
                  <a:cubicBezTo>
                    <a:pt x="0" y="61"/>
                    <a:pt x="3" y="34"/>
                    <a:pt x="26" y="120"/>
                  </a:cubicBezTo>
                  <a:cubicBezTo>
                    <a:pt x="34" y="151"/>
                    <a:pt x="56" y="210"/>
                    <a:pt x="56" y="210"/>
                  </a:cubicBezTo>
                  <a:cubicBezTo>
                    <a:pt x="39" y="277"/>
                    <a:pt x="56" y="255"/>
                    <a:pt x="26" y="285"/>
                  </a:cubicBezTo>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29" name="Freeform 60"/>
            <p:cNvSpPr>
              <a:spLocks noChangeArrowheads="1"/>
            </p:cNvSpPr>
            <p:nvPr/>
          </p:nvSpPr>
          <p:spPr bwMode="auto">
            <a:xfrm>
              <a:off x="2787" y="148"/>
              <a:ext cx="18" cy="112"/>
            </a:xfrm>
            <a:custGeom>
              <a:avLst/>
              <a:gdLst>
                <a:gd name="T0" fmla="*/ 1 w 56"/>
                <a:gd name="T1" fmla="*/ 0 h 285"/>
                <a:gd name="T2" fmla="*/ 1 w 56"/>
                <a:gd name="T3" fmla="*/ 7 h 285"/>
                <a:gd name="T4" fmla="*/ 2 w 56"/>
                <a:gd name="T5" fmla="*/ 13 h 285"/>
                <a:gd name="T6" fmla="*/ 1 w 56"/>
                <a:gd name="T7" fmla="*/ 17 h 285"/>
                <a:gd name="T8" fmla="*/ 0 60000 65536"/>
                <a:gd name="T9" fmla="*/ 0 60000 65536"/>
                <a:gd name="T10" fmla="*/ 0 60000 65536"/>
                <a:gd name="T11" fmla="*/ 0 60000 65536"/>
                <a:gd name="T12" fmla="*/ 0 w 56"/>
                <a:gd name="T13" fmla="*/ 0 h 285"/>
                <a:gd name="T14" fmla="*/ 56 w 56"/>
                <a:gd name="T15" fmla="*/ 285 h 285"/>
              </a:gdLst>
              <a:ahLst/>
              <a:cxnLst>
                <a:cxn ang="T8">
                  <a:pos x="T0" y="T1"/>
                </a:cxn>
                <a:cxn ang="T9">
                  <a:pos x="T2" y="T3"/>
                </a:cxn>
                <a:cxn ang="T10">
                  <a:pos x="T4" y="T5"/>
                </a:cxn>
                <a:cxn ang="T11">
                  <a:pos x="T6" y="T7"/>
                </a:cxn>
              </a:cxnLst>
              <a:rect l="T12" t="T13" r="T14" b="T15"/>
              <a:pathLst>
                <a:path w="56" h="285">
                  <a:moveTo>
                    <a:pt x="41" y="0"/>
                  </a:moveTo>
                  <a:cubicBezTo>
                    <a:pt x="0" y="61"/>
                    <a:pt x="3" y="34"/>
                    <a:pt x="26" y="120"/>
                  </a:cubicBezTo>
                  <a:cubicBezTo>
                    <a:pt x="34" y="151"/>
                    <a:pt x="56" y="210"/>
                    <a:pt x="56" y="210"/>
                  </a:cubicBezTo>
                  <a:cubicBezTo>
                    <a:pt x="39" y="277"/>
                    <a:pt x="56" y="255"/>
                    <a:pt x="26" y="285"/>
                  </a:cubicBezTo>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30" name="Arc 61"/>
            <p:cNvSpPr>
              <a:spLocks/>
            </p:cNvSpPr>
            <p:nvPr/>
          </p:nvSpPr>
          <p:spPr bwMode="auto">
            <a:xfrm>
              <a:off x="2603" y="186"/>
              <a:ext cx="623" cy="247"/>
            </a:xfrm>
            <a:custGeom>
              <a:avLst/>
              <a:gdLst>
                <a:gd name="T0" fmla="*/ 0 w 21600"/>
                <a:gd name="T1" fmla="*/ 0 h 11288"/>
                <a:gd name="T2" fmla="*/ 0 w 21600"/>
                <a:gd name="T3" fmla="*/ 0 h 11288"/>
                <a:gd name="T4" fmla="*/ 0 w 21600"/>
                <a:gd name="T5" fmla="*/ 0 h 11288"/>
                <a:gd name="T6" fmla="*/ 0 60000 65536"/>
                <a:gd name="T7" fmla="*/ 0 60000 65536"/>
                <a:gd name="T8" fmla="*/ 0 60000 65536"/>
                <a:gd name="T9" fmla="*/ 0 w 21600"/>
                <a:gd name="T10" fmla="*/ 0 h 11288"/>
                <a:gd name="T11" fmla="*/ 21600 w 21600"/>
                <a:gd name="T12" fmla="*/ 11288 h 11288"/>
              </a:gdLst>
              <a:ahLst/>
              <a:cxnLst>
                <a:cxn ang="T6">
                  <a:pos x="T0" y="T1"/>
                </a:cxn>
                <a:cxn ang="T7">
                  <a:pos x="T2" y="T3"/>
                </a:cxn>
                <a:cxn ang="T8">
                  <a:pos x="T4" y="T5"/>
                </a:cxn>
              </a:cxnLst>
              <a:rect l="T9" t="T10" r="T11" b="T12"/>
              <a:pathLst>
                <a:path w="21600" h="11288">
                  <a:moveTo>
                    <a:pt x="1419" y="11287"/>
                  </a:moveTo>
                  <a:cubicBezTo>
                    <a:pt x="480" y="8829"/>
                    <a:pt x="0" y="6219"/>
                    <a:pt x="0" y="3588"/>
                  </a:cubicBezTo>
                  <a:cubicBezTo>
                    <a:pt x="-1" y="2385"/>
                    <a:pt x="100" y="1185"/>
                    <a:pt x="300" y="0"/>
                  </a:cubicBezTo>
                </a:path>
                <a:path w="21600" h="11288">
                  <a:moveTo>
                    <a:pt x="1419" y="11287"/>
                  </a:moveTo>
                  <a:cubicBezTo>
                    <a:pt x="480" y="8829"/>
                    <a:pt x="0" y="6219"/>
                    <a:pt x="0" y="3588"/>
                  </a:cubicBezTo>
                  <a:cubicBezTo>
                    <a:pt x="-1" y="2385"/>
                    <a:pt x="100" y="1185"/>
                    <a:pt x="300" y="0"/>
                  </a:cubicBezTo>
                  <a:lnTo>
                    <a:pt x="21600" y="3588"/>
                  </a:lnTo>
                  <a:close/>
                </a:path>
              </a:pathLst>
            </a:custGeom>
            <a:noFill/>
            <a:ln w="19050" cmpd="sng">
              <a:solidFill>
                <a:srgbClr val="000000"/>
              </a:solidFill>
              <a:bevel/>
              <a:headEnd type="stealth" w="med" len="lg"/>
              <a:tailEnd type="stealth" w="med" len="lg"/>
            </a:ln>
          </p:spPr>
          <p:txBody>
            <a:bodyPr/>
            <a:lstStyle/>
            <a:p>
              <a:endParaRPr lang="zh-CN" altLang="zh-CN">
                <a:solidFill>
                  <a:srgbClr val="000000"/>
                </a:solidFill>
                <a:sym typeface="Arial" pitchFamily="34" charset="0"/>
              </a:endParaRPr>
            </a:p>
          </p:txBody>
        </p:sp>
        <p:sp>
          <p:nvSpPr>
            <p:cNvPr id="7231" name="Line 62"/>
            <p:cNvSpPr>
              <a:spLocks noChangeShapeType="1"/>
            </p:cNvSpPr>
            <p:nvPr/>
          </p:nvSpPr>
          <p:spPr bwMode="auto">
            <a:xfrm>
              <a:off x="0" y="1312"/>
              <a:ext cx="1990" cy="1"/>
            </a:xfrm>
            <a:prstGeom prst="line">
              <a:avLst/>
            </a:prstGeom>
            <a:noFill/>
            <a:ln w="19050" cmpd="sng">
              <a:solidFill>
                <a:srgbClr val="000000"/>
              </a:solidFill>
              <a:prstDash val="dashDot"/>
              <a:bevel/>
              <a:headEnd/>
              <a:tailEnd/>
            </a:ln>
          </p:spPr>
          <p:txBody>
            <a:bodyPr/>
            <a:lstStyle/>
            <a:p>
              <a:endParaRPr lang="zh-CN" altLang="zh-CN">
                <a:solidFill>
                  <a:srgbClr val="000000"/>
                </a:solidFill>
                <a:sym typeface="Arial" pitchFamily="34" charset="0"/>
              </a:endParaRPr>
            </a:p>
          </p:txBody>
        </p:sp>
        <p:sp>
          <p:nvSpPr>
            <p:cNvPr id="7232" name="Arc 63"/>
            <p:cNvSpPr>
              <a:spLocks noChangeArrowheads="1"/>
            </p:cNvSpPr>
            <p:nvPr/>
          </p:nvSpPr>
          <p:spPr bwMode="auto">
            <a:xfrm>
              <a:off x="905" y="1127"/>
              <a:ext cx="33" cy="384"/>
            </a:xfrm>
            <a:custGeom>
              <a:avLst/>
              <a:gdLst>
                <a:gd name="T0" fmla="*/ 0 w 21600"/>
                <a:gd name="T1" fmla="*/ 0 h 43109"/>
                <a:gd name="T2" fmla="*/ 0 w 21600"/>
                <a:gd name="T3" fmla="*/ 0 h 43109"/>
                <a:gd name="T4" fmla="*/ 0 w 21600"/>
                <a:gd name="T5" fmla="*/ 0 h 43109"/>
                <a:gd name="T6" fmla="*/ 0 60000 65536"/>
                <a:gd name="T7" fmla="*/ 0 60000 65536"/>
                <a:gd name="T8" fmla="*/ 0 60000 65536"/>
                <a:gd name="T9" fmla="*/ 0 w 21600"/>
                <a:gd name="T10" fmla="*/ 0 h 43109"/>
                <a:gd name="T11" fmla="*/ 21600 w 21600"/>
                <a:gd name="T12" fmla="*/ 43109 h 43109"/>
              </a:gdLst>
              <a:ahLst/>
              <a:cxnLst>
                <a:cxn ang="T6">
                  <a:pos x="T0" y="T1"/>
                </a:cxn>
                <a:cxn ang="T7">
                  <a:pos x="T2" y="T3"/>
                </a:cxn>
                <a:cxn ang="T8">
                  <a:pos x="T4" y="T5"/>
                </a:cxn>
              </a:cxnLst>
              <a:rect l="T9" t="T10" r="T11" b="T12"/>
              <a:pathLst>
                <a:path w="21600" h="43109">
                  <a:moveTo>
                    <a:pt x="-1" y="0"/>
                  </a:moveTo>
                  <a:cubicBezTo>
                    <a:pt x="11929" y="0"/>
                    <a:pt x="21600" y="9670"/>
                    <a:pt x="21600" y="21600"/>
                  </a:cubicBezTo>
                  <a:cubicBezTo>
                    <a:pt x="21600" y="32762"/>
                    <a:pt x="13095" y="42085"/>
                    <a:pt x="1980" y="43109"/>
                  </a:cubicBezTo>
                </a:path>
                <a:path w="21600" h="43109">
                  <a:moveTo>
                    <a:pt x="-1" y="0"/>
                  </a:moveTo>
                  <a:cubicBezTo>
                    <a:pt x="11929" y="0"/>
                    <a:pt x="21600" y="9670"/>
                    <a:pt x="21600" y="21600"/>
                  </a:cubicBezTo>
                  <a:cubicBezTo>
                    <a:pt x="21600" y="32762"/>
                    <a:pt x="13095" y="42085"/>
                    <a:pt x="1980" y="43109"/>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33" name="Arc 64"/>
            <p:cNvSpPr>
              <a:spLocks noChangeArrowheads="1"/>
            </p:cNvSpPr>
            <p:nvPr/>
          </p:nvSpPr>
          <p:spPr bwMode="auto">
            <a:xfrm rot="10729539">
              <a:off x="840" y="1127"/>
              <a:ext cx="33" cy="384"/>
            </a:xfrm>
            <a:custGeom>
              <a:avLst/>
              <a:gdLst>
                <a:gd name="T0" fmla="*/ 0 w 21600"/>
                <a:gd name="T1" fmla="*/ 0 h 43085"/>
                <a:gd name="T2" fmla="*/ 0 w 21600"/>
                <a:gd name="T3" fmla="*/ 0 h 43085"/>
                <a:gd name="T4" fmla="*/ 0 w 21600"/>
                <a:gd name="T5" fmla="*/ 0 h 43085"/>
                <a:gd name="T6" fmla="*/ 0 60000 65536"/>
                <a:gd name="T7" fmla="*/ 0 60000 65536"/>
                <a:gd name="T8" fmla="*/ 0 60000 65536"/>
                <a:gd name="T9" fmla="*/ 0 w 21600"/>
                <a:gd name="T10" fmla="*/ 0 h 43085"/>
                <a:gd name="T11" fmla="*/ 21600 w 21600"/>
                <a:gd name="T12" fmla="*/ 43085 h 43085"/>
              </a:gdLst>
              <a:ahLst/>
              <a:cxnLst>
                <a:cxn ang="T6">
                  <a:pos x="T0" y="T1"/>
                </a:cxn>
                <a:cxn ang="T7">
                  <a:pos x="T2" y="T3"/>
                </a:cxn>
                <a:cxn ang="T8">
                  <a:pos x="T4" y="T5"/>
                </a:cxn>
              </a:cxnLst>
              <a:rect l="T9" t="T10" r="T11" b="T12"/>
              <a:pathLst>
                <a:path w="21600" h="43085">
                  <a:moveTo>
                    <a:pt x="-1" y="0"/>
                  </a:moveTo>
                  <a:cubicBezTo>
                    <a:pt x="11929" y="0"/>
                    <a:pt x="21600" y="9670"/>
                    <a:pt x="21600" y="21600"/>
                  </a:cubicBezTo>
                  <a:cubicBezTo>
                    <a:pt x="21600" y="32667"/>
                    <a:pt x="13234" y="41944"/>
                    <a:pt x="2225" y="43085"/>
                  </a:cubicBezTo>
                </a:path>
                <a:path w="21600" h="43085">
                  <a:moveTo>
                    <a:pt x="-1" y="0"/>
                  </a:moveTo>
                  <a:cubicBezTo>
                    <a:pt x="11929" y="0"/>
                    <a:pt x="21600" y="9670"/>
                    <a:pt x="21600" y="21600"/>
                  </a:cubicBezTo>
                  <a:cubicBezTo>
                    <a:pt x="21600" y="32667"/>
                    <a:pt x="13234" y="41944"/>
                    <a:pt x="2225" y="43085"/>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34" name="Arc 65"/>
            <p:cNvSpPr>
              <a:spLocks noChangeArrowheads="1"/>
            </p:cNvSpPr>
            <p:nvPr/>
          </p:nvSpPr>
          <p:spPr bwMode="auto">
            <a:xfrm>
              <a:off x="964" y="1127"/>
              <a:ext cx="32" cy="380"/>
            </a:xfrm>
            <a:custGeom>
              <a:avLst/>
              <a:gdLst>
                <a:gd name="T0" fmla="*/ 0 w 21600"/>
                <a:gd name="T1" fmla="*/ 0 h 42773"/>
                <a:gd name="T2" fmla="*/ 0 w 21600"/>
                <a:gd name="T3" fmla="*/ 0 h 42773"/>
                <a:gd name="T4" fmla="*/ 0 w 21600"/>
                <a:gd name="T5" fmla="*/ 0 h 42773"/>
                <a:gd name="T6" fmla="*/ 0 60000 65536"/>
                <a:gd name="T7" fmla="*/ 0 60000 65536"/>
                <a:gd name="T8" fmla="*/ 0 60000 65536"/>
                <a:gd name="T9" fmla="*/ 0 w 21600"/>
                <a:gd name="T10" fmla="*/ 0 h 42773"/>
                <a:gd name="T11" fmla="*/ 21600 w 21600"/>
                <a:gd name="T12" fmla="*/ 42773 h 42773"/>
              </a:gdLst>
              <a:ahLst/>
              <a:cxnLst>
                <a:cxn ang="T6">
                  <a:pos x="T0" y="T1"/>
                </a:cxn>
                <a:cxn ang="T7">
                  <a:pos x="T2" y="T3"/>
                </a:cxn>
                <a:cxn ang="T8">
                  <a:pos x="T4" y="T5"/>
                </a:cxn>
              </a:cxnLst>
              <a:rect l="T9" t="T10" r="T11" b="T12"/>
              <a:pathLst>
                <a:path w="21600" h="42773">
                  <a:moveTo>
                    <a:pt x="-1" y="0"/>
                  </a:moveTo>
                  <a:cubicBezTo>
                    <a:pt x="11929" y="0"/>
                    <a:pt x="21600" y="9670"/>
                    <a:pt x="21600" y="21600"/>
                  </a:cubicBezTo>
                  <a:cubicBezTo>
                    <a:pt x="21600" y="31881"/>
                    <a:pt x="14352" y="40737"/>
                    <a:pt x="4274" y="42772"/>
                  </a:cubicBezTo>
                </a:path>
                <a:path w="21600" h="42773">
                  <a:moveTo>
                    <a:pt x="-1" y="0"/>
                  </a:moveTo>
                  <a:cubicBezTo>
                    <a:pt x="11929" y="0"/>
                    <a:pt x="21600" y="9670"/>
                    <a:pt x="21600" y="21600"/>
                  </a:cubicBezTo>
                  <a:cubicBezTo>
                    <a:pt x="21600" y="31881"/>
                    <a:pt x="14352" y="40737"/>
                    <a:pt x="4274" y="42772"/>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35" name="Line 66"/>
            <p:cNvSpPr>
              <a:spLocks noChangeShapeType="1"/>
            </p:cNvSpPr>
            <p:nvPr/>
          </p:nvSpPr>
          <p:spPr bwMode="auto">
            <a:xfrm>
              <a:off x="865" y="1125"/>
              <a:ext cx="101"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36" name="Line 67"/>
            <p:cNvSpPr>
              <a:spLocks noChangeShapeType="1"/>
            </p:cNvSpPr>
            <p:nvPr/>
          </p:nvSpPr>
          <p:spPr bwMode="auto">
            <a:xfrm>
              <a:off x="880" y="1511"/>
              <a:ext cx="87"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37" name="Oval 68"/>
            <p:cNvSpPr>
              <a:spLocks noChangeArrowheads="1"/>
            </p:cNvSpPr>
            <p:nvPr/>
          </p:nvSpPr>
          <p:spPr bwMode="auto">
            <a:xfrm flipH="1" flipV="1">
              <a:off x="304" y="1288"/>
              <a:ext cx="40" cy="46"/>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38" name="Oval 69"/>
            <p:cNvSpPr>
              <a:spLocks noChangeArrowheads="1"/>
            </p:cNvSpPr>
            <p:nvPr/>
          </p:nvSpPr>
          <p:spPr bwMode="auto">
            <a:xfrm flipH="1" flipV="1">
              <a:off x="1253" y="1288"/>
              <a:ext cx="40" cy="46"/>
            </a:xfrm>
            <a:prstGeom prst="ellipse">
              <a:avLst/>
            </a:prstGeom>
            <a:solidFill>
              <a:srgbClr val="000000"/>
            </a:solid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39" name="Line 70"/>
            <p:cNvSpPr>
              <a:spLocks noChangeShapeType="1"/>
            </p:cNvSpPr>
            <p:nvPr/>
          </p:nvSpPr>
          <p:spPr bwMode="auto">
            <a:xfrm flipV="1">
              <a:off x="495" y="1136"/>
              <a:ext cx="361" cy="176"/>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0" name="Line 71"/>
            <p:cNvSpPr>
              <a:spLocks noChangeShapeType="1"/>
            </p:cNvSpPr>
            <p:nvPr/>
          </p:nvSpPr>
          <p:spPr bwMode="auto">
            <a:xfrm>
              <a:off x="976" y="1136"/>
              <a:ext cx="468" cy="186"/>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1" name="Line 72"/>
            <p:cNvSpPr>
              <a:spLocks noChangeShapeType="1"/>
            </p:cNvSpPr>
            <p:nvPr/>
          </p:nvSpPr>
          <p:spPr bwMode="auto">
            <a:xfrm>
              <a:off x="1436" y="1134"/>
              <a:ext cx="1" cy="39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2" name="Line 73"/>
            <p:cNvSpPr>
              <a:spLocks noChangeShapeType="1"/>
            </p:cNvSpPr>
            <p:nvPr/>
          </p:nvSpPr>
          <p:spPr bwMode="auto">
            <a:xfrm>
              <a:off x="285" y="1312"/>
              <a:ext cx="575" cy="184"/>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3" name="Line 74"/>
            <p:cNvSpPr>
              <a:spLocks noChangeShapeType="1"/>
            </p:cNvSpPr>
            <p:nvPr/>
          </p:nvSpPr>
          <p:spPr bwMode="auto">
            <a:xfrm flipV="1">
              <a:off x="974" y="1223"/>
              <a:ext cx="462" cy="27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4" name="Line 75"/>
            <p:cNvSpPr>
              <a:spLocks noChangeShapeType="1"/>
            </p:cNvSpPr>
            <p:nvPr/>
          </p:nvSpPr>
          <p:spPr bwMode="auto">
            <a:xfrm flipH="1">
              <a:off x="477" y="1296"/>
              <a:ext cx="33"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5" name="Line 76"/>
            <p:cNvSpPr>
              <a:spLocks noChangeShapeType="1"/>
            </p:cNvSpPr>
            <p:nvPr/>
          </p:nvSpPr>
          <p:spPr bwMode="auto">
            <a:xfrm>
              <a:off x="480" y="1296"/>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6" name="Line 77"/>
            <p:cNvSpPr>
              <a:spLocks noChangeShapeType="1"/>
            </p:cNvSpPr>
            <p:nvPr/>
          </p:nvSpPr>
          <p:spPr bwMode="auto">
            <a:xfrm flipH="1">
              <a:off x="1419" y="1296"/>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7" name="Line 78"/>
            <p:cNvSpPr>
              <a:spLocks noChangeShapeType="1"/>
            </p:cNvSpPr>
            <p:nvPr/>
          </p:nvSpPr>
          <p:spPr bwMode="auto">
            <a:xfrm>
              <a:off x="1419" y="1298"/>
              <a:ext cx="34" cy="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8" name="Line 79"/>
            <p:cNvSpPr>
              <a:spLocks noChangeShapeType="1"/>
            </p:cNvSpPr>
            <p:nvPr/>
          </p:nvSpPr>
          <p:spPr bwMode="auto">
            <a:xfrm>
              <a:off x="319" y="947"/>
              <a:ext cx="1" cy="38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49" name="Line 80"/>
            <p:cNvSpPr>
              <a:spLocks noChangeShapeType="1"/>
            </p:cNvSpPr>
            <p:nvPr/>
          </p:nvSpPr>
          <p:spPr bwMode="auto">
            <a:xfrm>
              <a:off x="495" y="937"/>
              <a:ext cx="1" cy="385"/>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50" name="Line 81"/>
            <p:cNvSpPr>
              <a:spLocks noChangeShapeType="1"/>
            </p:cNvSpPr>
            <p:nvPr/>
          </p:nvSpPr>
          <p:spPr bwMode="auto">
            <a:xfrm>
              <a:off x="134" y="1115"/>
              <a:ext cx="529" cy="1"/>
            </a:xfrm>
            <a:prstGeom prst="line">
              <a:avLst/>
            </a:prstGeom>
            <a:noFill/>
            <a:ln w="1270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51" name="Line 82"/>
            <p:cNvSpPr>
              <a:spLocks noChangeShapeType="1"/>
            </p:cNvSpPr>
            <p:nvPr/>
          </p:nvSpPr>
          <p:spPr bwMode="auto">
            <a:xfrm>
              <a:off x="168" y="1115"/>
              <a:ext cx="151" cy="1"/>
            </a:xfrm>
            <a:prstGeom prst="line">
              <a:avLst/>
            </a:prstGeom>
            <a:noFill/>
            <a:ln w="19050" cmpd="sng">
              <a:solidFill>
                <a:srgbClr val="000000"/>
              </a:solidFill>
              <a:bevel/>
              <a:headEnd/>
              <a:tailEnd type="stealth" w="med" len="lg"/>
            </a:ln>
          </p:spPr>
          <p:txBody>
            <a:bodyPr/>
            <a:lstStyle/>
            <a:p>
              <a:endParaRPr lang="zh-CN" altLang="zh-CN">
                <a:solidFill>
                  <a:srgbClr val="000000"/>
                </a:solidFill>
                <a:sym typeface="Arial" pitchFamily="34" charset="0"/>
              </a:endParaRPr>
            </a:p>
          </p:txBody>
        </p:sp>
        <p:sp>
          <p:nvSpPr>
            <p:cNvPr id="7252" name="Line 83"/>
            <p:cNvSpPr>
              <a:spLocks noChangeShapeType="1"/>
            </p:cNvSpPr>
            <p:nvPr/>
          </p:nvSpPr>
          <p:spPr bwMode="auto">
            <a:xfrm flipH="1">
              <a:off x="495" y="1115"/>
              <a:ext cx="101" cy="1"/>
            </a:xfrm>
            <a:prstGeom prst="line">
              <a:avLst/>
            </a:prstGeom>
            <a:noFill/>
            <a:ln w="19050" cmpd="sng">
              <a:solidFill>
                <a:srgbClr val="000000"/>
              </a:solidFill>
              <a:bevel/>
              <a:headEnd/>
              <a:tailEnd type="stealth" w="med" len="lg"/>
            </a:ln>
          </p:spPr>
          <p:txBody>
            <a:bodyPr/>
            <a:lstStyle/>
            <a:p>
              <a:endParaRPr lang="zh-CN" altLang="zh-CN">
                <a:solidFill>
                  <a:srgbClr val="000000"/>
                </a:solidFill>
                <a:sym typeface="Arial" pitchFamily="34" charset="0"/>
              </a:endParaRPr>
            </a:p>
          </p:txBody>
        </p:sp>
        <p:grpSp>
          <p:nvGrpSpPr>
            <p:cNvPr id="4" name="Group 84"/>
            <p:cNvGrpSpPr>
              <a:grpSpLocks/>
            </p:cNvGrpSpPr>
            <p:nvPr/>
          </p:nvGrpSpPr>
          <p:grpSpPr bwMode="auto">
            <a:xfrm>
              <a:off x="3245" y="1"/>
              <a:ext cx="156" cy="385"/>
              <a:chOff x="0" y="0"/>
              <a:chExt cx="279" cy="586"/>
            </a:xfrm>
          </p:grpSpPr>
          <p:sp>
            <p:nvSpPr>
              <p:cNvPr id="7254" name="Arc 85"/>
              <p:cNvSpPr>
                <a:spLocks noChangeArrowheads="1"/>
              </p:cNvSpPr>
              <p:nvPr/>
            </p:nvSpPr>
            <p:spPr bwMode="auto">
              <a:xfrm>
                <a:off x="116" y="1"/>
                <a:ext cx="58" cy="582"/>
              </a:xfrm>
              <a:custGeom>
                <a:avLst/>
                <a:gdLst>
                  <a:gd name="T0" fmla="*/ 0 w 21600"/>
                  <a:gd name="T1" fmla="*/ 0 h 42977"/>
                  <a:gd name="T2" fmla="*/ 0 w 21600"/>
                  <a:gd name="T3" fmla="*/ 0 h 42977"/>
                  <a:gd name="T4" fmla="*/ 0 w 21600"/>
                  <a:gd name="T5" fmla="*/ 0 h 42977"/>
                  <a:gd name="T6" fmla="*/ 0 60000 65536"/>
                  <a:gd name="T7" fmla="*/ 0 60000 65536"/>
                  <a:gd name="T8" fmla="*/ 0 60000 65536"/>
                  <a:gd name="T9" fmla="*/ 0 w 21600"/>
                  <a:gd name="T10" fmla="*/ 0 h 42977"/>
                  <a:gd name="T11" fmla="*/ 21600 w 21600"/>
                  <a:gd name="T12" fmla="*/ 42977 h 42977"/>
                </a:gdLst>
                <a:ahLst/>
                <a:cxnLst>
                  <a:cxn ang="T6">
                    <a:pos x="T0" y="T1"/>
                  </a:cxn>
                  <a:cxn ang="T7">
                    <a:pos x="T2" y="T3"/>
                  </a:cxn>
                  <a:cxn ang="T8">
                    <a:pos x="T4" y="T5"/>
                  </a:cxn>
                </a:cxnLst>
                <a:rect l="T9" t="T10" r="T11" b="T12"/>
                <a:pathLst>
                  <a:path w="21600" h="42977">
                    <a:moveTo>
                      <a:pt x="-1" y="0"/>
                    </a:moveTo>
                    <a:cubicBezTo>
                      <a:pt x="11929" y="0"/>
                      <a:pt x="21600" y="9670"/>
                      <a:pt x="21600" y="21600"/>
                    </a:cubicBezTo>
                    <a:cubicBezTo>
                      <a:pt x="21600" y="32333"/>
                      <a:pt x="13719" y="41437"/>
                      <a:pt x="3096" y="42976"/>
                    </a:cubicBezTo>
                  </a:path>
                  <a:path w="21600" h="42977">
                    <a:moveTo>
                      <a:pt x="-1" y="0"/>
                    </a:moveTo>
                    <a:cubicBezTo>
                      <a:pt x="11929" y="0"/>
                      <a:pt x="21600" y="9670"/>
                      <a:pt x="21600" y="21600"/>
                    </a:cubicBezTo>
                    <a:cubicBezTo>
                      <a:pt x="21600" y="32333"/>
                      <a:pt x="13719" y="41437"/>
                      <a:pt x="3096" y="42976"/>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55" name="Arc 86"/>
              <p:cNvSpPr>
                <a:spLocks noChangeArrowheads="1"/>
              </p:cNvSpPr>
              <p:nvPr/>
            </p:nvSpPr>
            <p:spPr bwMode="auto">
              <a:xfrm rot="10729539">
                <a:off x="0" y="2"/>
                <a:ext cx="58" cy="583"/>
              </a:xfrm>
              <a:custGeom>
                <a:avLst/>
                <a:gdLst>
                  <a:gd name="T0" fmla="*/ 0 w 21600"/>
                  <a:gd name="T1" fmla="*/ 0 h 43088"/>
                  <a:gd name="T2" fmla="*/ 0 w 21600"/>
                  <a:gd name="T3" fmla="*/ 0 h 43088"/>
                  <a:gd name="T4" fmla="*/ 0 w 21600"/>
                  <a:gd name="T5" fmla="*/ 0 h 43088"/>
                  <a:gd name="T6" fmla="*/ 0 60000 65536"/>
                  <a:gd name="T7" fmla="*/ 0 60000 65536"/>
                  <a:gd name="T8" fmla="*/ 0 60000 65536"/>
                  <a:gd name="T9" fmla="*/ 0 w 21600"/>
                  <a:gd name="T10" fmla="*/ 0 h 43088"/>
                  <a:gd name="T11" fmla="*/ 21600 w 21600"/>
                  <a:gd name="T12" fmla="*/ 43088 h 43088"/>
                </a:gdLst>
                <a:ahLst/>
                <a:cxnLst>
                  <a:cxn ang="T6">
                    <a:pos x="T0" y="T1"/>
                  </a:cxn>
                  <a:cxn ang="T7">
                    <a:pos x="T2" y="T3"/>
                  </a:cxn>
                  <a:cxn ang="T8">
                    <a:pos x="T4" y="T5"/>
                  </a:cxn>
                </a:cxnLst>
                <a:rect l="T9" t="T10" r="T11" b="T12"/>
                <a:pathLst>
                  <a:path w="21600" h="43088">
                    <a:moveTo>
                      <a:pt x="-1" y="0"/>
                    </a:moveTo>
                    <a:cubicBezTo>
                      <a:pt x="11929" y="0"/>
                      <a:pt x="21600" y="9670"/>
                      <a:pt x="21600" y="21600"/>
                    </a:cubicBezTo>
                    <a:cubicBezTo>
                      <a:pt x="21600" y="32678"/>
                      <a:pt x="13218" y="41960"/>
                      <a:pt x="2197" y="43087"/>
                    </a:cubicBezTo>
                  </a:path>
                  <a:path w="21600" h="43088">
                    <a:moveTo>
                      <a:pt x="-1" y="0"/>
                    </a:moveTo>
                    <a:cubicBezTo>
                      <a:pt x="11929" y="0"/>
                      <a:pt x="21600" y="9670"/>
                      <a:pt x="21600" y="21600"/>
                    </a:cubicBezTo>
                    <a:cubicBezTo>
                      <a:pt x="21600" y="32678"/>
                      <a:pt x="13218" y="41960"/>
                      <a:pt x="2197" y="43087"/>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56" name="Arc 87"/>
              <p:cNvSpPr>
                <a:spLocks noChangeArrowheads="1"/>
              </p:cNvSpPr>
              <p:nvPr/>
            </p:nvSpPr>
            <p:spPr bwMode="auto">
              <a:xfrm>
                <a:off x="221" y="1"/>
                <a:ext cx="58" cy="582"/>
              </a:xfrm>
              <a:custGeom>
                <a:avLst/>
                <a:gdLst>
                  <a:gd name="T0" fmla="*/ 0 w 21600"/>
                  <a:gd name="T1" fmla="*/ 0 h 42981"/>
                  <a:gd name="T2" fmla="*/ 0 w 21600"/>
                  <a:gd name="T3" fmla="*/ 0 h 42981"/>
                  <a:gd name="T4" fmla="*/ 0 w 21600"/>
                  <a:gd name="T5" fmla="*/ 0 h 42981"/>
                  <a:gd name="T6" fmla="*/ 0 60000 65536"/>
                  <a:gd name="T7" fmla="*/ 0 60000 65536"/>
                  <a:gd name="T8" fmla="*/ 0 60000 65536"/>
                  <a:gd name="T9" fmla="*/ 0 w 21600"/>
                  <a:gd name="T10" fmla="*/ 0 h 42981"/>
                  <a:gd name="T11" fmla="*/ 21600 w 21600"/>
                  <a:gd name="T12" fmla="*/ 42981 h 42981"/>
                </a:gdLst>
                <a:ahLst/>
                <a:cxnLst>
                  <a:cxn ang="T6">
                    <a:pos x="T0" y="T1"/>
                  </a:cxn>
                  <a:cxn ang="T7">
                    <a:pos x="T2" y="T3"/>
                  </a:cxn>
                  <a:cxn ang="T8">
                    <a:pos x="T4" y="T5"/>
                  </a:cxn>
                </a:cxnLst>
                <a:rect l="T9" t="T10" r="T11" b="T12"/>
                <a:pathLst>
                  <a:path w="21600" h="42981">
                    <a:moveTo>
                      <a:pt x="-1" y="0"/>
                    </a:moveTo>
                    <a:cubicBezTo>
                      <a:pt x="11929" y="0"/>
                      <a:pt x="21600" y="9670"/>
                      <a:pt x="21600" y="21600"/>
                    </a:cubicBezTo>
                    <a:cubicBezTo>
                      <a:pt x="21600" y="32345"/>
                      <a:pt x="13701" y="41456"/>
                      <a:pt x="3065" y="42981"/>
                    </a:cubicBezTo>
                  </a:path>
                  <a:path w="21600" h="42981">
                    <a:moveTo>
                      <a:pt x="-1" y="0"/>
                    </a:moveTo>
                    <a:cubicBezTo>
                      <a:pt x="11929" y="0"/>
                      <a:pt x="21600" y="9670"/>
                      <a:pt x="21600" y="21600"/>
                    </a:cubicBezTo>
                    <a:cubicBezTo>
                      <a:pt x="21600" y="32345"/>
                      <a:pt x="13701" y="41456"/>
                      <a:pt x="3065" y="42981"/>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57" name="Line 88"/>
              <p:cNvSpPr>
                <a:spLocks noChangeShapeType="1"/>
              </p:cNvSpPr>
              <p:nvPr/>
            </p:nvSpPr>
            <p:spPr bwMode="auto">
              <a:xfrm>
                <a:off x="48" y="0"/>
                <a:ext cx="172"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58" name="Line 89"/>
              <p:cNvSpPr>
                <a:spLocks noChangeShapeType="1"/>
              </p:cNvSpPr>
              <p:nvPr/>
            </p:nvSpPr>
            <p:spPr bwMode="auto">
              <a:xfrm>
                <a:off x="74" y="586"/>
                <a:ext cx="150"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5" name="Group 90"/>
            <p:cNvGrpSpPr>
              <a:grpSpLocks/>
            </p:cNvGrpSpPr>
            <p:nvPr/>
          </p:nvGrpSpPr>
          <p:grpSpPr bwMode="auto">
            <a:xfrm>
              <a:off x="3182" y="800"/>
              <a:ext cx="156" cy="386"/>
              <a:chOff x="0" y="0"/>
              <a:chExt cx="279" cy="586"/>
            </a:xfrm>
          </p:grpSpPr>
          <p:sp>
            <p:nvSpPr>
              <p:cNvPr id="7260" name="Arc 91"/>
              <p:cNvSpPr>
                <a:spLocks noChangeArrowheads="1"/>
              </p:cNvSpPr>
              <p:nvPr/>
            </p:nvSpPr>
            <p:spPr bwMode="auto">
              <a:xfrm>
                <a:off x="116" y="1"/>
                <a:ext cx="58" cy="582"/>
              </a:xfrm>
              <a:custGeom>
                <a:avLst/>
                <a:gdLst>
                  <a:gd name="T0" fmla="*/ 0 w 21600"/>
                  <a:gd name="T1" fmla="*/ 0 h 42977"/>
                  <a:gd name="T2" fmla="*/ 0 w 21600"/>
                  <a:gd name="T3" fmla="*/ 0 h 42977"/>
                  <a:gd name="T4" fmla="*/ 0 w 21600"/>
                  <a:gd name="T5" fmla="*/ 0 h 42977"/>
                  <a:gd name="T6" fmla="*/ 0 60000 65536"/>
                  <a:gd name="T7" fmla="*/ 0 60000 65536"/>
                  <a:gd name="T8" fmla="*/ 0 60000 65536"/>
                  <a:gd name="T9" fmla="*/ 0 w 21600"/>
                  <a:gd name="T10" fmla="*/ 0 h 42977"/>
                  <a:gd name="T11" fmla="*/ 21600 w 21600"/>
                  <a:gd name="T12" fmla="*/ 42977 h 42977"/>
                </a:gdLst>
                <a:ahLst/>
                <a:cxnLst>
                  <a:cxn ang="T6">
                    <a:pos x="T0" y="T1"/>
                  </a:cxn>
                  <a:cxn ang="T7">
                    <a:pos x="T2" y="T3"/>
                  </a:cxn>
                  <a:cxn ang="T8">
                    <a:pos x="T4" y="T5"/>
                  </a:cxn>
                </a:cxnLst>
                <a:rect l="T9" t="T10" r="T11" b="T12"/>
                <a:pathLst>
                  <a:path w="21600" h="42977">
                    <a:moveTo>
                      <a:pt x="-1" y="0"/>
                    </a:moveTo>
                    <a:cubicBezTo>
                      <a:pt x="11929" y="0"/>
                      <a:pt x="21600" y="9670"/>
                      <a:pt x="21600" y="21600"/>
                    </a:cubicBezTo>
                    <a:cubicBezTo>
                      <a:pt x="21600" y="32333"/>
                      <a:pt x="13719" y="41437"/>
                      <a:pt x="3096" y="42976"/>
                    </a:cubicBezTo>
                  </a:path>
                  <a:path w="21600" h="42977">
                    <a:moveTo>
                      <a:pt x="-1" y="0"/>
                    </a:moveTo>
                    <a:cubicBezTo>
                      <a:pt x="11929" y="0"/>
                      <a:pt x="21600" y="9670"/>
                      <a:pt x="21600" y="21600"/>
                    </a:cubicBezTo>
                    <a:cubicBezTo>
                      <a:pt x="21600" y="32333"/>
                      <a:pt x="13719" y="41437"/>
                      <a:pt x="3096" y="42976"/>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61" name="Arc 92"/>
              <p:cNvSpPr>
                <a:spLocks noChangeArrowheads="1"/>
              </p:cNvSpPr>
              <p:nvPr/>
            </p:nvSpPr>
            <p:spPr bwMode="auto">
              <a:xfrm rot="10729539">
                <a:off x="0" y="2"/>
                <a:ext cx="58" cy="583"/>
              </a:xfrm>
              <a:custGeom>
                <a:avLst/>
                <a:gdLst>
                  <a:gd name="T0" fmla="*/ 0 w 21600"/>
                  <a:gd name="T1" fmla="*/ 0 h 43088"/>
                  <a:gd name="T2" fmla="*/ 0 w 21600"/>
                  <a:gd name="T3" fmla="*/ 0 h 43088"/>
                  <a:gd name="T4" fmla="*/ 0 w 21600"/>
                  <a:gd name="T5" fmla="*/ 0 h 43088"/>
                  <a:gd name="T6" fmla="*/ 0 60000 65536"/>
                  <a:gd name="T7" fmla="*/ 0 60000 65536"/>
                  <a:gd name="T8" fmla="*/ 0 60000 65536"/>
                  <a:gd name="T9" fmla="*/ 0 w 21600"/>
                  <a:gd name="T10" fmla="*/ 0 h 43088"/>
                  <a:gd name="T11" fmla="*/ 21600 w 21600"/>
                  <a:gd name="T12" fmla="*/ 43088 h 43088"/>
                </a:gdLst>
                <a:ahLst/>
                <a:cxnLst>
                  <a:cxn ang="T6">
                    <a:pos x="T0" y="T1"/>
                  </a:cxn>
                  <a:cxn ang="T7">
                    <a:pos x="T2" y="T3"/>
                  </a:cxn>
                  <a:cxn ang="T8">
                    <a:pos x="T4" y="T5"/>
                  </a:cxn>
                </a:cxnLst>
                <a:rect l="T9" t="T10" r="T11" b="T12"/>
                <a:pathLst>
                  <a:path w="21600" h="43088">
                    <a:moveTo>
                      <a:pt x="-1" y="0"/>
                    </a:moveTo>
                    <a:cubicBezTo>
                      <a:pt x="11929" y="0"/>
                      <a:pt x="21600" y="9670"/>
                      <a:pt x="21600" y="21600"/>
                    </a:cubicBezTo>
                    <a:cubicBezTo>
                      <a:pt x="21600" y="32678"/>
                      <a:pt x="13218" y="41960"/>
                      <a:pt x="2197" y="43087"/>
                    </a:cubicBezTo>
                  </a:path>
                  <a:path w="21600" h="43088">
                    <a:moveTo>
                      <a:pt x="-1" y="0"/>
                    </a:moveTo>
                    <a:cubicBezTo>
                      <a:pt x="11929" y="0"/>
                      <a:pt x="21600" y="9670"/>
                      <a:pt x="21600" y="21600"/>
                    </a:cubicBezTo>
                    <a:cubicBezTo>
                      <a:pt x="21600" y="32678"/>
                      <a:pt x="13218" y="41960"/>
                      <a:pt x="2197" y="43087"/>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62" name="Arc 93"/>
              <p:cNvSpPr>
                <a:spLocks noChangeArrowheads="1"/>
              </p:cNvSpPr>
              <p:nvPr/>
            </p:nvSpPr>
            <p:spPr bwMode="auto">
              <a:xfrm>
                <a:off x="221" y="1"/>
                <a:ext cx="58" cy="582"/>
              </a:xfrm>
              <a:custGeom>
                <a:avLst/>
                <a:gdLst>
                  <a:gd name="T0" fmla="*/ 0 w 21600"/>
                  <a:gd name="T1" fmla="*/ 0 h 42981"/>
                  <a:gd name="T2" fmla="*/ 0 w 21600"/>
                  <a:gd name="T3" fmla="*/ 0 h 42981"/>
                  <a:gd name="T4" fmla="*/ 0 w 21600"/>
                  <a:gd name="T5" fmla="*/ 0 h 42981"/>
                  <a:gd name="T6" fmla="*/ 0 60000 65536"/>
                  <a:gd name="T7" fmla="*/ 0 60000 65536"/>
                  <a:gd name="T8" fmla="*/ 0 60000 65536"/>
                  <a:gd name="T9" fmla="*/ 0 w 21600"/>
                  <a:gd name="T10" fmla="*/ 0 h 42981"/>
                  <a:gd name="T11" fmla="*/ 21600 w 21600"/>
                  <a:gd name="T12" fmla="*/ 42981 h 42981"/>
                </a:gdLst>
                <a:ahLst/>
                <a:cxnLst>
                  <a:cxn ang="T6">
                    <a:pos x="T0" y="T1"/>
                  </a:cxn>
                  <a:cxn ang="T7">
                    <a:pos x="T2" y="T3"/>
                  </a:cxn>
                  <a:cxn ang="T8">
                    <a:pos x="T4" y="T5"/>
                  </a:cxn>
                </a:cxnLst>
                <a:rect l="T9" t="T10" r="T11" b="T12"/>
                <a:pathLst>
                  <a:path w="21600" h="42981">
                    <a:moveTo>
                      <a:pt x="-1" y="0"/>
                    </a:moveTo>
                    <a:cubicBezTo>
                      <a:pt x="11929" y="0"/>
                      <a:pt x="21600" y="9670"/>
                      <a:pt x="21600" y="21600"/>
                    </a:cubicBezTo>
                    <a:cubicBezTo>
                      <a:pt x="21600" y="32345"/>
                      <a:pt x="13701" y="41456"/>
                      <a:pt x="3065" y="42981"/>
                    </a:cubicBezTo>
                  </a:path>
                  <a:path w="21600" h="42981">
                    <a:moveTo>
                      <a:pt x="-1" y="0"/>
                    </a:moveTo>
                    <a:cubicBezTo>
                      <a:pt x="11929" y="0"/>
                      <a:pt x="21600" y="9670"/>
                      <a:pt x="21600" y="21600"/>
                    </a:cubicBezTo>
                    <a:cubicBezTo>
                      <a:pt x="21600" y="32345"/>
                      <a:pt x="13701" y="41456"/>
                      <a:pt x="3065" y="42981"/>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63" name="Line 94"/>
              <p:cNvSpPr>
                <a:spLocks noChangeShapeType="1"/>
              </p:cNvSpPr>
              <p:nvPr/>
            </p:nvSpPr>
            <p:spPr bwMode="auto">
              <a:xfrm>
                <a:off x="48" y="0"/>
                <a:ext cx="172"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64" name="Line 95"/>
              <p:cNvSpPr>
                <a:spLocks noChangeShapeType="1"/>
              </p:cNvSpPr>
              <p:nvPr/>
            </p:nvSpPr>
            <p:spPr bwMode="auto">
              <a:xfrm>
                <a:off x="74" y="586"/>
                <a:ext cx="150"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6" name="Group 96"/>
            <p:cNvGrpSpPr>
              <a:grpSpLocks/>
            </p:cNvGrpSpPr>
            <p:nvPr/>
          </p:nvGrpSpPr>
          <p:grpSpPr bwMode="auto">
            <a:xfrm>
              <a:off x="3989" y="81"/>
              <a:ext cx="232" cy="230"/>
              <a:chOff x="0" y="0"/>
              <a:chExt cx="414" cy="351"/>
            </a:xfrm>
          </p:grpSpPr>
          <p:grpSp>
            <p:nvGrpSpPr>
              <p:cNvPr id="7" name="Group 97"/>
              <p:cNvGrpSpPr>
                <a:grpSpLocks/>
              </p:cNvGrpSpPr>
              <p:nvPr/>
            </p:nvGrpSpPr>
            <p:grpSpPr bwMode="auto">
              <a:xfrm>
                <a:off x="0" y="0"/>
                <a:ext cx="174" cy="351"/>
                <a:chOff x="0" y="0"/>
                <a:chExt cx="174" cy="351"/>
              </a:xfrm>
            </p:grpSpPr>
            <p:sp>
              <p:nvSpPr>
                <p:cNvPr id="7267" name="Arc 98"/>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68" name="Arc 99"/>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69" name="Arc 100"/>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70" name="Line 101"/>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71" name="Line 102"/>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8" name="Group 103"/>
              <p:cNvGrpSpPr>
                <a:grpSpLocks/>
              </p:cNvGrpSpPr>
              <p:nvPr/>
            </p:nvGrpSpPr>
            <p:grpSpPr bwMode="auto">
              <a:xfrm flipH="1">
                <a:off x="240" y="0"/>
                <a:ext cx="174" cy="351"/>
                <a:chOff x="0" y="0"/>
                <a:chExt cx="174" cy="351"/>
              </a:xfrm>
            </p:grpSpPr>
            <p:sp>
              <p:nvSpPr>
                <p:cNvPr id="7273" name="Arc 104"/>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74" name="Arc 105"/>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75" name="Arc 106"/>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76" name="Line 107"/>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77" name="Line 108"/>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grpSp>
          <p:nvGrpSpPr>
            <p:cNvPr id="9" name="Group 109"/>
            <p:cNvGrpSpPr>
              <a:grpSpLocks/>
            </p:cNvGrpSpPr>
            <p:nvPr/>
          </p:nvGrpSpPr>
          <p:grpSpPr bwMode="auto">
            <a:xfrm>
              <a:off x="1626" y="186"/>
              <a:ext cx="232" cy="231"/>
              <a:chOff x="0" y="0"/>
              <a:chExt cx="414" cy="351"/>
            </a:xfrm>
          </p:grpSpPr>
          <p:grpSp>
            <p:nvGrpSpPr>
              <p:cNvPr id="10" name="Group 110"/>
              <p:cNvGrpSpPr>
                <a:grpSpLocks/>
              </p:cNvGrpSpPr>
              <p:nvPr/>
            </p:nvGrpSpPr>
            <p:grpSpPr bwMode="auto">
              <a:xfrm>
                <a:off x="0" y="0"/>
                <a:ext cx="174" cy="351"/>
                <a:chOff x="0" y="0"/>
                <a:chExt cx="174" cy="351"/>
              </a:xfrm>
            </p:grpSpPr>
            <p:sp>
              <p:nvSpPr>
                <p:cNvPr id="7280" name="Arc 111"/>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81" name="Arc 112"/>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82" name="Arc 113"/>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83" name="Line 114"/>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84" name="Line 115"/>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11" name="Group 116"/>
              <p:cNvGrpSpPr>
                <a:grpSpLocks/>
              </p:cNvGrpSpPr>
              <p:nvPr/>
            </p:nvGrpSpPr>
            <p:grpSpPr bwMode="auto">
              <a:xfrm flipH="1">
                <a:off x="240" y="0"/>
                <a:ext cx="174" cy="351"/>
                <a:chOff x="0" y="0"/>
                <a:chExt cx="174" cy="351"/>
              </a:xfrm>
            </p:grpSpPr>
            <p:sp>
              <p:nvSpPr>
                <p:cNvPr id="7286" name="Arc 117"/>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87" name="Arc 118"/>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88" name="Arc 119"/>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89" name="Line 120"/>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90" name="Line 121"/>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grpSp>
          <p:nvGrpSpPr>
            <p:cNvPr id="12" name="Group 122"/>
            <p:cNvGrpSpPr>
              <a:grpSpLocks/>
            </p:cNvGrpSpPr>
            <p:nvPr/>
          </p:nvGrpSpPr>
          <p:grpSpPr bwMode="auto">
            <a:xfrm>
              <a:off x="1620" y="1192"/>
              <a:ext cx="232" cy="231"/>
              <a:chOff x="0" y="0"/>
              <a:chExt cx="414" cy="351"/>
            </a:xfrm>
          </p:grpSpPr>
          <p:grpSp>
            <p:nvGrpSpPr>
              <p:cNvPr id="13" name="Group 123"/>
              <p:cNvGrpSpPr>
                <a:grpSpLocks/>
              </p:cNvGrpSpPr>
              <p:nvPr/>
            </p:nvGrpSpPr>
            <p:grpSpPr bwMode="auto">
              <a:xfrm>
                <a:off x="0" y="0"/>
                <a:ext cx="174" cy="351"/>
                <a:chOff x="0" y="0"/>
                <a:chExt cx="174" cy="351"/>
              </a:xfrm>
            </p:grpSpPr>
            <p:sp>
              <p:nvSpPr>
                <p:cNvPr id="7293" name="Arc 124"/>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94" name="Arc 125"/>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95" name="Arc 126"/>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296" name="Line 127"/>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297" name="Line 128"/>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14" name="Group 129"/>
              <p:cNvGrpSpPr>
                <a:grpSpLocks/>
              </p:cNvGrpSpPr>
              <p:nvPr/>
            </p:nvGrpSpPr>
            <p:grpSpPr bwMode="auto">
              <a:xfrm flipH="1">
                <a:off x="240" y="0"/>
                <a:ext cx="174" cy="351"/>
                <a:chOff x="0" y="0"/>
                <a:chExt cx="174" cy="351"/>
              </a:xfrm>
            </p:grpSpPr>
            <p:sp>
              <p:nvSpPr>
                <p:cNvPr id="7299" name="Arc 130"/>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00" name="Arc 131"/>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01" name="Arc 132"/>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02" name="Line 133"/>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03" name="Line 134"/>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grpSp>
          <p:nvGrpSpPr>
            <p:cNvPr id="15" name="Group 135"/>
            <p:cNvGrpSpPr>
              <a:grpSpLocks/>
            </p:cNvGrpSpPr>
            <p:nvPr/>
          </p:nvGrpSpPr>
          <p:grpSpPr bwMode="auto">
            <a:xfrm>
              <a:off x="4011" y="877"/>
              <a:ext cx="232" cy="230"/>
              <a:chOff x="0" y="0"/>
              <a:chExt cx="414" cy="351"/>
            </a:xfrm>
          </p:grpSpPr>
          <p:grpSp>
            <p:nvGrpSpPr>
              <p:cNvPr id="16" name="Group 136"/>
              <p:cNvGrpSpPr>
                <a:grpSpLocks/>
              </p:cNvGrpSpPr>
              <p:nvPr/>
            </p:nvGrpSpPr>
            <p:grpSpPr bwMode="auto">
              <a:xfrm>
                <a:off x="0" y="0"/>
                <a:ext cx="174" cy="351"/>
                <a:chOff x="0" y="0"/>
                <a:chExt cx="174" cy="351"/>
              </a:xfrm>
            </p:grpSpPr>
            <p:sp>
              <p:nvSpPr>
                <p:cNvPr id="7306" name="Arc 137"/>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07" name="Arc 138"/>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08" name="Arc 139"/>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09" name="Line 140"/>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10" name="Line 141"/>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17" name="Group 142"/>
              <p:cNvGrpSpPr>
                <a:grpSpLocks/>
              </p:cNvGrpSpPr>
              <p:nvPr/>
            </p:nvGrpSpPr>
            <p:grpSpPr bwMode="auto">
              <a:xfrm flipH="1">
                <a:off x="240" y="0"/>
                <a:ext cx="174" cy="351"/>
                <a:chOff x="0" y="0"/>
                <a:chExt cx="174" cy="351"/>
              </a:xfrm>
            </p:grpSpPr>
            <p:sp>
              <p:nvSpPr>
                <p:cNvPr id="7312" name="Arc 143"/>
                <p:cNvSpPr>
                  <a:spLocks noChangeArrowheads="1"/>
                </p:cNvSpPr>
                <p:nvPr/>
              </p:nvSpPr>
              <p:spPr bwMode="auto">
                <a:xfrm rot="10933140">
                  <a:off x="66" y="5"/>
                  <a:ext cx="36" cy="344"/>
                </a:xfrm>
                <a:custGeom>
                  <a:avLst/>
                  <a:gdLst>
                    <a:gd name="T0" fmla="*/ 0 w 21600"/>
                    <a:gd name="T1" fmla="*/ 0 h 42972"/>
                    <a:gd name="T2" fmla="*/ 0 w 21600"/>
                    <a:gd name="T3" fmla="*/ 0 h 42972"/>
                    <a:gd name="T4" fmla="*/ 0 w 21600"/>
                    <a:gd name="T5" fmla="*/ 0 h 42972"/>
                    <a:gd name="T6" fmla="*/ 0 60000 65536"/>
                    <a:gd name="T7" fmla="*/ 0 60000 65536"/>
                    <a:gd name="T8" fmla="*/ 0 60000 65536"/>
                    <a:gd name="T9" fmla="*/ 0 w 21600"/>
                    <a:gd name="T10" fmla="*/ 0 h 42972"/>
                    <a:gd name="T11" fmla="*/ 21600 w 21600"/>
                    <a:gd name="T12" fmla="*/ 42972 h 42972"/>
                  </a:gdLst>
                  <a:ahLst/>
                  <a:cxnLst>
                    <a:cxn ang="T6">
                      <a:pos x="T0" y="T1"/>
                    </a:cxn>
                    <a:cxn ang="T7">
                      <a:pos x="T2" y="T3"/>
                    </a:cxn>
                    <a:cxn ang="T8">
                      <a:pos x="T4" y="T5"/>
                    </a:cxn>
                  </a:cxnLst>
                  <a:rect l="T9" t="T10" r="T11" b="T12"/>
                  <a:pathLst>
                    <a:path w="21600" h="42972">
                      <a:moveTo>
                        <a:pt x="-1" y="0"/>
                      </a:moveTo>
                      <a:cubicBezTo>
                        <a:pt x="11929" y="0"/>
                        <a:pt x="21600" y="9670"/>
                        <a:pt x="21600" y="21600"/>
                      </a:cubicBezTo>
                      <a:cubicBezTo>
                        <a:pt x="21600" y="32320"/>
                        <a:pt x="13736" y="41419"/>
                        <a:pt x="3129" y="42972"/>
                      </a:cubicBezTo>
                    </a:path>
                    <a:path w="21600" h="42972">
                      <a:moveTo>
                        <a:pt x="-1" y="0"/>
                      </a:moveTo>
                      <a:cubicBezTo>
                        <a:pt x="11929" y="0"/>
                        <a:pt x="21600" y="9670"/>
                        <a:pt x="21600" y="21600"/>
                      </a:cubicBezTo>
                      <a:cubicBezTo>
                        <a:pt x="21600" y="32320"/>
                        <a:pt x="13736" y="41419"/>
                        <a:pt x="3129" y="42972"/>
                      </a:cubicBezTo>
                      <a:lnTo>
                        <a:pt x="0"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13" name="Arc 144"/>
                <p:cNvSpPr>
                  <a:spLocks noChangeArrowheads="1"/>
                </p:cNvSpPr>
                <p:nvPr/>
              </p:nvSpPr>
              <p:spPr bwMode="auto">
                <a:xfrm rot="62677">
                  <a:off x="138" y="5"/>
                  <a:ext cx="36" cy="346"/>
                </a:xfrm>
                <a:custGeom>
                  <a:avLst/>
                  <a:gdLst>
                    <a:gd name="T0" fmla="*/ 0 w 21600"/>
                    <a:gd name="T1" fmla="*/ 0 h 43195"/>
                    <a:gd name="T2" fmla="*/ 0 w 21600"/>
                    <a:gd name="T3" fmla="*/ 0 h 43195"/>
                    <a:gd name="T4" fmla="*/ 0 w 21600"/>
                    <a:gd name="T5" fmla="*/ 0 h 43195"/>
                    <a:gd name="T6" fmla="*/ 0 60000 65536"/>
                    <a:gd name="T7" fmla="*/ 0 60000 65536"/>
                    <a:gd name="T8" fmla="*/ 0 60000 65536"/>
                    <a:gd name="T9" fmla="*/ 0 w 21600"/>
                    <a:gd name="T10" fmla="*/ 0 h 43195"/>
                    <a:gd name="T11" fmla="*/ 21600 w 21600"/>
                    <a:gd name="T12" fmla="*/ 43195 h 43195"/>
                  </a:gdLst>
                  <a:ahLst/>
                  <a:cxnLst>
                    <a:cxn ang="T6">
                      <a:pos x="T0" y="T1"/>
                    </a:cxn>
                    <a:cxn ang="T7">
                      <a:pos x="T2" y="T3"/>
                    </a:cxn>
                    <a:cxn ang="T8">
                      <a:pos x="T4" y="T5"/>
                    </a:cxn>
                  </a:cxnLst>
                  <a:rect l="T9" t="T10" r="T11" b="T12"/>
                  <a:pathLst>
                    <a:path w="21600" h="43195">
                      <a:moveTo>
                        <a:pt x="-1" y="0"/>
                      </a:moveTo>
                      <a:cubicBezTo>
                        <a:pt x="11929" y="0"/>
                        <a:pt x="21600" y="9670"/>
                        <a:pt x="21600" y="21600"/>
                      </a:cubicBezTo>
                      <a:cubicBezTo>
                        <a:pt x="21600" y="33356"/>
                        <a:pt x="12197" y="42953"/>
                        <a:pt x="444" y="43195"/>
                      </a:cubicBezTo>
                    </a:path>
                    <a:path w="21600" h="43195">
                      <a:moveTo>
                        <a:pt x="-1" y="0"/>
                      </a:moveTo>
                      <a:cubicBezTo>
                        <a:pt x="11929" y="0"/>
                        <a:pt x="21600" y="9670"/>
                        <a:pt x="21600" y="21600"/>
                      </a:cubicBezTo>
                      <a:cubicBezTo>
                        <a:pt x="21600" y="33356"/>
                        <a:pt x="12197" y="42953"/>
                        <a:pt x="444" y="43195"/>
                      </a:cubicBezTo>
                      <a:lnTo>
                        <a:pt x="0" y="21600"/>
                      </a:lnTo>
                      <a:close/>
                    </a:path>
                  </a:pathLst>
                </a:cu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14" name="Arc 145"/>
                <p:cNvSpPr>
                  <a:spLocks noChangeArrowheads="1"/>
                </p:cNvSpPr>
                <p:nvPr/>
              </p:nvSpPr>
              <p:spPr bwMode="auto">
                <a:xfrm rot="10933140">
                  <a:off x="0" y="0"/>
                  <a:ext cx="40" cy="346"/>
                </a:xfrm>
                <a:custGeom>
                  <a:avLst/>
                  <a:gdLst>
                    <a:gd name="T0" fmla="*/ 0 w 23678"/>
                    <a:gd name="T1" fmla="*/ 0 h 43200"/>
                    <a:gd name="T2" fmla="*/ 0 w 23678"/>
                    <a:gd name="T3" fmla="*/ 0 h 43200"/>
                    <a:gd name="T4" fmla="*/ 0 w 23678"/>
                    <a:gd name="T5" fmla="*/ 0 h 43200"/>
                    <a:gd name="T6" fmla="*/ 0 60000 65536"/>
                    <a:gd name="T7" fmla="*/ 0 60000 65536"/>
                    <a:gd name="T8" fmla="*/ 0 60000 65536"/>
                    <a:gd name="T9" fmla="*/ 0 w 23678"/>
                    <a:gd name="T10" fmla="*/ 0 h 43200"/>
                    <a:gd name="T11" fmla="*/ 23678 w 23678"/>
                    <a:gd name="T12" fmla="*/ 43200 h 43200"/>
                  </a:gdLst>
                  <a:ahLst/>
                  <a:cxnLst>
                    <a:cxn ang="T6">
                      <a:pos x="T0" y="T1"/>
                    </a:cxn>
                    <a:cxn ang="T7">
                      <a:pos x="T2" y="T3"/>
                    </a:cxn>
                    <a:cxn ang="T8">
                      <a:pos x="T4" y="T5"/>
                    </a:cxn>
                  </a:cxnLst>
                  <a:rect l="T9" t="T10" r="T11" b="T12"/>
                  <a:pathLst>
                    <a:path w="23678" h="43200">
                      <a:moveTo>
                        <a:pt x="2077" y="0"/>
                      </a:moveTo>
                      <a:cubicBezTo>
                        <a:pt x="14007" y="0"/>
                        <a:pt x="23678" y="9670"/>
                        <a:pt x="23678" y="21600"/>
                      </a:cubicBezTo>
                      <a:cubicBezTo>
                        <a:pt x="23678" y="33529"/>
                        <a:pt x="14007" y="43200"/>
                        <a:pt x="2078" y="43200"/>
                      </a:cubicBezTo>
                      <a:cubicBezTo>
                        <a:pt x="1384" y="43200"/>
                        <a:pt x="690" y="43166"/>
                        <a:pt x="0" y="43099"/>
                      </a:cubicBezTo>
                    </a:path>
                    <a:path w="23678" h="43200">
                      <a:moveTo>
                        <a:pt x="2077" y="0"/>
                      </a:moveTo>
                      <a:cubicBezTo>
                        <a:pt x="14007" y="0"/>
                        <a:pt x="23678" y="9670"/>
                        <a:pt x="23678" y="21600"/>
                      </a:cubicBezTo>
                      <a:cubicBezTo>
                        <a:pt x="23678" y="33529"/>
                        <a:pt x="14007" y="43200"/>
                        <a:pt x="2078" y="43200"/>
                      </a:cubicBezTo>
                      <a:cubicBezTo>
                        <a:pt x="1384" y="43200"/>
                        <a:pt x="690" y="43166"/>
                        <a:pt x="0" y="43099"/>
                      </a:cubicBezTo>
                      <a:lnTo>
                        <a:pt x="2078" y="21600"/>
                      </a:lnTo>
                      <a:close/>
                    </a:path>
                  </a:pathLst>
                </a:custGeom>
                <a:noFill/>
                <a:ln w="19050" cmpd="sng">
                  <a:solidFill>
                    <a:srgbClr val="000000"/>
                  </a:solidFill>
                  <a:bevel/>
                  <a:headEnd/>
                  <a:tailEnd/>
                </a:ln>
              </p:spPr>
              <p:txBody>
                <a:bodyPr rot="10800000"/>
                <a:lstStyle/>
                <a:p>
                  <a:endParaRPr lang="zh-CN" altLang="zh-CN">
                    <a:solidFill>
                      <a:srgbClr val="000000"/>
                    </a:solidFill>
                    <a:sym typeface="Arial" pitchFamily="34" charset="0"/>
                  </a:endParaRPr>
                </a:p>
              </p:txBody>
            </p:sp>
            <p:sp>
              <p:nvSpPr>
                <p:cNvPr id="7315" name="Line 146"/>
                <p:cNvSpPr>
                  <a:spLocks noChangeShapeType="1"/>
                </p:cNvSpPr>
                <p:nvPr/>
              </p:nvSpPr>
              <p:spPr bwMode="auto">
                <a:xfrm rot="10933140">
                  <a:off x="34" y="349"/>
                  <a:ext cx="10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7316" name="Line 147"/>
                <p:cNvSpPr>
                  <a:spLocks noChangeShapeType="1"/>
                </p:cNvSpPr>
                <p:nvPr/>
              </p:nvSpPr>
              <p:spPr bwMode="auto">
                <a:xfrm rot="10933140">
                  <a:off x="39" y="3"/>
                  <a:ext cx="94" cy="1"/>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grpSp>
        </p:grpSp>
      </p:gr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8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ldLvl="0" animBg="1" autoUpdateAnimBg="0"/>
      <p:bldP spid="7174" grpId="0" bldLvl="0" autoUpdateAnimBg="0"/>
      <p:bldP spid="7175" grpId="0" bldLvl="0" autoUpdateAnimBg="0"/>
      <p:bldP spid="7176" grpId="0" bldLvl="0" autoUpdateAnimBg="0"/>
      <p:bldP spid="7177" grpId="0" bldLvl="0" autoUpdateAnimBg="0"/>
      <p:bldP spid="7178" grpId="0" bldLvl="0" autoUpdateAnimBg="0"/>
      <p:bldP spid="7179" grpId="0" bldLvl="0" autoUpdateAnimBg="0"/>
      <p:bldP spid="7180"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 name="Group 86"/>
          <p:cNvGraphicFramePr>
            <a:graphicFrameLocks noGrp="1"/>
          </p:cNvGraphicFramePr>
          <p:nvPr/>
        </p:nvGraphicFramePr>
        <p:xfrm>
          <a:off x="236949" y="2604365"/>
          <a:ext cx="8729662" cy="3893822"/>
        </p:xfrm>
        <a:graphic>
          <a:graphicData uri="http://schemas.openxmlformats.org/drawingml/2006/table">
            <a:tbl>
              <a:tblPr/>
              <a:tblGrid>
                <a:gridCol w="2279650"/>
                <a:gridCol w="1246187"/>
                <a:gridCol w="1276350"/>
                <a:gridCol w="3927475"/>
              </a:tblGrid>
              <a:tr h="731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对准方式</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示　意　图</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人眼的对准标准不确定度</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δ</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宋体" pitchFamily="2" charset="-122"/>
                          <a:ea typeface="宋体" pitchFamily="2" charset="-122"/>
                          <a:cs typeface="Times New Roman" pitchFamily="18" charset="0"/>
                        </a:rPr>
                        <a:t>″)</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附　　注</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7318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压线对准</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（单线与单线重合）</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60~120</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两条实线重合时，设线宽分别为</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2</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，则</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δ</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2</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/2</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）实线与虚线重合时，设虚线宽为</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2</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b</a:t>
                      </a:r>
                      <a:r>
                        <a:rPr kumimoji="0" lang="en-US" altLang="zh-CN" sz="1400" b="1"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2</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时，</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δ</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宋体" pitchFamily="2" charset="-122"/>
                          <a:ea typeface="宋体" pitchFamily="2" charset="-122"/>
                          <a:cs typeface="Times New Roman" pitchFamily="18" charset="0"/>
                        </a:rPr>
                        <a:t>′</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730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游标对准</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宋体" pitchFamily="2" charset="-122"/>
                          <a:ea typeface="宋体" pitchFamily="2" charset="-122"/>
                          <a:cs typeface="Times New Roman" pitchFamily="18" charset="0"/>
                        </a:rPr>
                        <a:t>（一直线在另一直线延长线上）</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15</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线宽不宜大于</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分界线</a:t>
                      </a:r>
                      <a:r>
                        <a:rPr kumimoji="0" lang="en-US" altLang="zh-CN" sz="1400" b="1"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aa</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应细而整齐</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566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夹线对准（一条稍粗直线位于两条平行细线中间）</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10</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三线严格平行。两平行线中心间距最好等于粗直线宽度的</a:t>
                      </a: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1.6</a:t>
                      </a: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倍</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5651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叉线对准（一条直线位于叉线中心）</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10</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直线应与叉线的一条角等分线重合</a:t>
                      </a:r>
                      <a:endParaRPr kumimoji="0" lang="zh-CN" altLang="en-US"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566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狭缝叉线对准或狭缝夹线对准</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10</a:t>
                      </a:r>
                      <a:endParaRPr kumimoji="0" lang="en-US" altLang="zh-CN" sz="1400" b="1" i="0" u="none" strike="noStrike" cap="none" normalizeH="0" baseline="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a typeface="宋体" pitchFamily="2" charset="-122"/>
                          <a:cs typeface="Times New Roman" pitchFamily="18" charset="0"/>
                        </a:rPr>
                        <a:t>直线与狭缝严格平行</a:t>
                      </a:r>
                      <a:endParaRPr kumimoji="0" lang="zh-CN" altLang="en-US" sz="1400" b="1" i="0" u="none" strike="noStrike" cap="none" normalizeH="0" baseline="0" dirty="0" smtClean="0">
                        <a:ln>
                          <a:noFill/>
                        </a:ln>
                        <a:solidFill>
                          <a:schemeClr val="tx1"/>
                        </a:solidFill>
                        <a:effectLst>
                          <a:outerShdw blurRad="38100" dist="38100" dir="2700000" algn="tl">
                            <a:srgbClr val="FFFFFF"/>
                          </a:outerShdw>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bl>
          </a:graphicData>
        </a:graphic>
      </p:graphicFrame>
      <p:sp>
        <p:nvSpPr>
          <p:cNvPr id="79"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8194" name="灯片编号占位符 5"/>
          <p:cNvSpPr>
            <a:spLocks noGrp="1" noChangeArrowheads="1"/>
          </p:cNvSpPr>
          <p:nvPr/>
        </p:nvSpPr>
        <p:spPr bwMode="auto">
          <a:xfrm>
            <a:off x="6407150" y="6027738"/>
            <a:ext cx="2289175" cy="476250"/>
          </a:xfrm>
          <a:prstGeom prst="rect">
            <a:avLst/>
          </a:prstGeom>
          <a:noFill/>
          <a:ln>
            <a:noFill/>
          </a:ln>
        </p:spPr>
        <p:txBody>
          <a:bodyPr/>
          <a:lstStyle/>
          <a:p>
            <a:pPr algn="r"/>
            <a:fld id="{31C1AF1A-9594-4545-91A5-9FA1FED615BC}" type="slidenum">
              <a:rPr lang="en-US"/>
              <a:pPr algn="r"/>
              <a:t>7</a:t>
            </a:fld>
            <a:endParaRPr lang="en-US"/>
          </a:p>
        </p:txBody>
      </p:sp>
      <p:sp>
        <p:nvSpPr>
          <p:cNvPr id="8233" name="Rectangle 40"/>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3600" b="1" dirty="0">
                <a:solidFill>
                  <a:schemeClr val="tx1"/>
                </a:solidFill>
                <a:latin typeface="Times New Roman" pitchFamily="18" charset="0"/>
                <a:ea typeface="黑体" pitchFamily="2" charset="-122"/>
                <a:sym typeface="Times New Roman" pitchFamily="18" charset="0"/>
              </a:rPr>
              <a:t>§2-1  </a:t>
            </a:r>
            <a:r>
              <a:rPr lang="zh-CN" altLang="en-US" sz="3600" b="1" dirty="0" smtClean="0">
                <a:solidFill>
                  <a:schemeClr val="tx1"/>
                </a:solidFill>
                <a:latin typeface="Times New Roman" pitchFamily="18" charset="0"/>
                <a:ea typeface="黑体" pitchFamily="2" charset="-122"/>
                <a:sym typeface="Times New Roman" pitchFamily="18" charset="0"/>
              </a:rPr>
              <a:t>对准</a:t>
            </a:r>
            <a:r>
              <a:rPr lang="zh-CN" altLang="en-US" sz="3600" b="1" dirty="0">
                <a:solidFill>
                  <a:schemeClr val="tx1"/>
                </a:solidFill>
                <a:latin typeface="Times New Roman" pitchFamily="18" charset="0"/>
                <a:ea typeface="黑体" pitchFamily="2" charset="-122"/>
                <a:sym typeface="Times New Roman" pitchFamily="18" charset="0"/>
              </a:rPr>
              <a:t>和调焦技术</a:t>
            </a:r>
            <a:br>
              <a:rPr lang="zh-CN" altLang="en-US" sz="3600" b="1" dirty="0">
                <a:solidFill>
                  <a:schemeClr val="tx1"/>
                </a:solidFill>
                <a:latin typeface="Times New Roman" pitchFamily="18" charset="0"/>
                <a:ea typeface="黑体" pitchFamily="2" charset="-122"/>
                <a:sym typeface="Times New Roman" pitchFamily="18" charset="0"/>
              </a:rPr>
            </a:br>
            <a:r>
              <a:rPr lang="zh-CN" altLang="en-US" sz="1000" b="1" dirty="0">
                <a:solidFill>
                  <a:schemeClr val="tx1"/>
                </a:solidFill>
                <a:latin typeface="Times New Roman" pitchFamily="18" charset="0"/>
                <a:ea typeface="黑体" pitchFamily="2" charset="-122"/>
                <a:sym typeface="Times New Roman" pitchFamily="18" charset="0"/>
              </a:rPr>
              <a:t/>
            </a:r>
            <a:br>
              <a:rPr lang="zh-CN" altLang="en-US" sz="1000" b="1" dirty="0">
                <a:solidFill>
                  <a:schemeClr val="tx1"/>
                </a:solidFill>
                <a:latin typeface="Times New Roman" pitchFamily="18" charset="0"/>
                <a:ea typeface="黑体" pitchFamily="2" charset="-122"/>
                <a:sym typeface="Times New Roman" pitchFamily="18" charset="0"/>
              </a:rPr>
            </a:br>
            <a:endParaRPr lang="zh-CN" altLang="en-US" sz="1000" b="1" dirty="0">
              <a:solidFill>
                <a:schemeClr val="tx1"/>
              </a:solidFill>
              <a:latin typeface="Times New Roman" pitchFamily="18" charset="0"/>
              <a:ea typeface="黑体" pitchFamily="2" charset="-122"/>
              <a:sym typeface="Times New Roman" pitchFamily="18" charset="0"/>
            </a:endParaRPr>
          </a:p>
        </p:txBody>
      </p:sp>
      <p:sp>
        <p:nvSpPr>
          <p:cNvPr id="8234" name="Rectangle 41"/>
          <p:cNvSpPr>
            <a:spLocks noGrp="1" noRot="1" noChangeArrowheads="1"/>
          </p:cNvSpPr>
          <p:nvPr>
            <p:ph type="body" idx="4294967295"/>
          </p:nvPr>
        </p:nvSpPr>
        <p:spPr bwMode="auto">
          <a:xfrm>
            <a:off x="381000" y="1584325"/>
            <a:ext cx="8672513" cy="4803775"/>
          </a:xfrm>
          <a:prstGeom prst="rect">
            <a:avLst/>
          </a:prstGeom>
          <a:noFill/>
          <a:ln/>
        </p:spPr>
        <p:txBody>
          <a:bodyPr/>
          <a:lstStyle/>
          <a:p>
            <a:pPr eaLnBrk="1" hangingPunct="1">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r>
              <a:rPr lang="zh-CN" altLang="en-US" dirty="0">
                <a:solidFill>
                  <a:srgbClr val="FF0000"/>
                </a:solidFill>
                <a:latin typeface="Times New Roman" pitchFamily="18" charset="0"/>
                <a:ea typeface="黑体" pitchFamily="2" charset="-122"/>
                <a:sym typeface="Times New Roman" pitchFamily="18" charset="0"/>
              </a:rPr>
              <a:t>对准不确定度</a:t>
            </a:r>
            <a:r>
              <a:rPr lang="zh-CN" altLang="en-US" dirty="0">
                <a:latin typeface="Times New Roman" pitchFamily="18" charset="0"/>
                <a:ea typeface="黑体" pitchFamily="2" charset="-122"/>
                <a:sym typeface="Times New Roman" pitchFamily="18" charset="0"/>
              </a:rPr>
              <a:t>    常见</a:t>
            </a:r>
            <a:r>
              <a:rPr lang="zh-CN" altLang="en-US" dirty="0">
                <a:solidFill>
                  <a:srgbClr val="FF0000"/>
                </a:solidFill>
                <a:latin typeface="Times New Roman" pitchFamily="18" charset="0"/>
                <a:ea typeface="黑体" pitchFamily="2" charset="-122"/>
                <a:sym typeface="Times New Roman" pitchFamily="18" charset="0"/>
              </a:rPr>
              <a:t>对准</a:t>
            </a:r>
            <a:r>
              <a:rPr lang="zh-CN" altLang="en-US" dirty="0">
                <a:latin typeface="Times New Roman" pitchFamily="18" charset="0"/>
                <a:ea typeface="黑体" pitchFamily="2" charset="-122"/>
                <a:sym typeface="Times New Roman" pitchFamily="18" charset="0"/>
              </a:rPr>
              <a:t>方式及其对准标准不确定度见表。</a:t>
            </a:r>
            <a:endParaRPr lang="zh-CN" altLang="en-US" dirty="0"/>
          </a:p>
        </p:txBody>
      </p:sp>
      <p:grpSp>
        <p:nvGrpSpPr>
          <p:cNvPr id="2" name="Group 42"/>
          <p:cNvGrpSpPr>
            <a:grpSpLocks/>
          </p:cNvGrpSpPr>
          <p:nvPr/>
        </p:nvGrpSpPr>
        <p:grpSpPr bwMode="auto">
          <a:xfrm>
            <a:off x="3057525" y="4906963"/>
            <a:ext cx="342900" cy="342900"/>
            <a:chOff x="0" y="0"/>
            <a:chExt cx="540" cy="540"/>
          </a:xfrm>
        </p:grpSpPr>
        <p:sp>
          <p:nvSpPr>
            <p:cNvPr id="8236" name="Oval 43"/>
            <p:cNvSpPr>
              <a:spLocks noChangeArrowheads="1"/>
            </p:cNvSpPr>
            <p:nvPr/>
          </p:nvSpPr>
          <p:spPr bwMode="auto">
            <a:xfrm>
              <a:off x="0" y="0"/>
              <a:ext cx="540" cy="540"/>
            </a:xfrm>
            <a:prstGeom prst="ellipse">
              <a:avLst/>
            </a:prstGeom>
            <a:solidFill>
              <a:srgbClr val="FFFFFF"/>
            </a:solid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37" name="Line 44"/>
            <p:cNvSpPr>
              <a:spLocks noChangeShapeType="1"/>
            </p:cNvSpPr>
            <p:nvPr/>
          </p:nvSpPr>
          <p:spPr bwMode="auto">
            <a:xfrm>
              <a:off x="240" y="160"/>
              <a:ext cx="1" cy="22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38" name="Line 45"/>
            <p:cNvSpPr>
              <a:spLocks noChangeShapeType="1"/>
            </p:cNvSpPr>
            <p:nvPr/>
          </p:nvSpPr>
          <p:spPr bwMode="auto">
            <a:xfrm>
              <a:off x="320" y="160"/>
              <a:ext cx="1" cy="22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39" name="Line 46"/>
            <p:cNvSpPr>
              <a:spLocks noChangeShapeType="1"/>
            </p:cNvSpPr>
            <p:nvPr/>
          </p:nvSpPr>
          <p:spPr bwMode="auto">
            <a:xfrm>
              <a:off x="280" y="100"/>
              <a:ext cx="1" cy="36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grpSp>
      <p:grpSp>
        <p:nvGrpSpPr>
          <p:cNvPr id="3" name="Group 47"/>
          <p:cNvGrpSpPr>
            <a:grpSpLocks/>
          </p:cNvGrpSpPr>
          <p:nvPr/>
        </p:nvGrpSpPr>
        <p:grpSpPr bwMode="auto">
          <a:xfrm>
            <a:off x="3070225" y="5519738"/>
            <a:ext cx="342900" cy="342900"/>
            <a:chOff x="0" y="0"/>
            <a:chExt cx="540" cy="540"/>
          </a:xfrm>
        </p:grpSpPr>
        <p:sp>
          <p:nvSpPr>
            <p:cNvPr id="8241" name="Oval 48"/>
            <p:cNvSpPr>
              <a:spLocks noChangeArrowheads="1"/>
            </p:cNvSpPr>
            <p:nvPr/>
          </p:nvSpPr>
          <p:spPr bwMode="auto">
            <a:xfrm>
              <a:off x="0" y="0"/>
              <a:ext cx="540" cy="540"/>
            </a:xfrm>
            <a:prstGeom prst="ellipse">
              <a:avLst/>
            </a:prstGeom>
            <a:solidFill>
              <a:srgbClr val="FFFFFF"/>
            </a:solid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2" name="Line 49"/>
            <p:cNvSpPr>
              <a:spLocks noChangeShapeType="1"/>
            </p:cNvSpPr>
            <p:nvPr/>
          </p:nvSpPr>
          <p:spPr bwMode="auto">
            <a:xfrm>
              <a:off x="263" y="0"/>
              <a:ext cx="1" cy="540"/>
            </a:xfrm>
            <a:prstGeom prst="line">
              <a:avLst/>
            </a:prstGeom>
            <a:noFill/>
            <a:ln w="19050"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3" name="Line 50"/>
            <p:cNvSpPr>
              <a:spLocks noChangeShapeType="1"/>
            </p:cNvSpPr>
            <p:nvPr/>
          </p:nvSpPr>
          <p:spPr bwMode="auto">
            <a:xfrm flipH="1">
              <a:off x="98" y="59"/>
              <a:ext cx="340" cy="42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4" name="Line 51"/>
            <p:cNvSpPr>
              <a:spLocks noChangeShapeType="1"/>
            </p:cNvSpPr>
            <p:nvPr/>
          </p:nvSpPr>
          <p:spPr bwMode="auto">
            <a:xfrm>
              <a:off x="90" y="82"/>
              <a:ext cx="355" cy="385"/>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grpSp>
      <p:sp>
        <p:nvSpPr>
          <p:cNvPr id="8245" name="Oval 53" descr="浅色上对角线"/>
          <p:cNvSpPr>
            <a:spLocks noChangeArrowheads="1"/>
          </p:cNvSpPr>
          <p:nvPr/>
        </p:nvSpPr>
        <p:spPr bwMode="auto">
          <a:xfrm>
            <a:off x="2835275" y="6064250"/>
            <a:ext cx="342900" cy="342900"/>
          </a:xfrm>
          <a:prstGeom prst="ellipse">
            <a:avLst/>
          </a:prstGeom>
          <a:blipFill dpi="0" rotWithShape="1">
            <a:blip r:embed="rId2"/>
            <a:srcRect/>
            <a:tile tx="0" ty="0" sx="100000" sy="100000" flip="none" algn="tl"/>
          </a:blip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6" name="Rectangle 54"/>
          <p:cNvSpPr>
            <a:spLocks noChangeArrowheads="1"/>
          </p:cNvSpPr>
          <p:nvPr/>
        </p:nvSpPr>
        <p:spPr bwMode="auto">
          <a:xfrm>
            <a:off x="2987675" y="6140450"/>
            <a:ext cx="50800" cy="215900"/>
          </a:xfrm>
          <a:prstGeom prst="rect">
            <a:avLst/>
          </a:prstGeom>
          <a:solidFill>
            <a:srgbClr val="FFFFFF"/>
          </a:solidFill>
          <a:ln w="9525" cmpd="sng">
            <a:solidFill>
              <a:srgbClr val="000000"/>
            </a:solidFill>
            <a:miter lim="800000"/>
            <a:headEnd/>
            <a:tailEnd/>
          </a:ln>
        </p:spPr>
        <p:txBody>
          <a:bodyPr/>
          <a:lstStyle/>
          <a:p>
            <a:endParaRPr lang="zh-CN" altLang="zh-CN">
              <a:solidFill>
                <a:srgbClr val="000000"/>
              </a:solidFill>
              <a:sym typeface="Arial" pitchFamily="34" charset="0"/>
            </a:endParaRPr>
          </a:p>
        </p:txBody>
      </p:sp>
      <p:sp>
        <p:nvSpPr>
          <p:cNvPr id="8247" name="Line 55"/>
          <p:cNvSpPr>
            <a:spLocks noChangeShapeType="1"/>
          </p:cNvSpPr>
          <p:nvPr/>
        </p:nvSpPr>
        <p:spPr bwMode="auto">
          <a:xfrm>
            <a:off x="2838450" y="6238875"/>
            <a:ext cx="342900" cy="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8" name="Line 56"/>
          <p:cNvSpPr>
            <a:spLocks noChangeShapeType="1"/>
          </p:cNvSpPr>
          <p:nvPr/>
        </p:nvSpPr>
        <p:spPr bwMode="auto">
          <a:xfrm flipH="1">
            <a:off x="2898775" y="6111875"/>
            <a:ext cx="227013" cy="257175"/>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49" name="Line 57"/>
          <p:cNvSpPr>
            <a:spLocks noChangeShapeType="1"/>
          </p:cNvSpPr>
          <p:nvPr/>
        </p:nvSpPr>
        <p:spPr bwMode="auto">
          <a:xfrm>
            <a:off x="2895600" y="6105525"/>
            <a:ext cx="233363" cy="255588"/>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0" name="Oval 59" descr="浅色上对角线"/>
          <p:cNvSpPr>
            <a:spLocks noChangeArrowheads="1"/>
          </p:cNvSpPr>
          <p:nvPr/>
        </p:nvSpPr>
        <p:spPr bwMode="auto">
          <a:xfrm>
            <a:off x="3311525" y="6064250"/>
            <a:ext cx="342900" cy="342900"/>
          </a:xfrm>
          <a:prstGeom prst="ellipse">
            <a:avLst/>
          </a:prstGeom>
          <a:blipFill dpi="0" rotWithShape="1">
            <a:blip r:embed="rId2"/>
            <a:srcRect/>
            <a:tile tx="0" ty="0" sx="100000" sy="100000" flip="none" algn="tl"/>
          </a:blipFill>
          <a:ln w="9525" cmpd="sng">
            <a:solidFill>
              <a:srgbClr val="000000"/>
            </a:solidFill>
            <a:bevel/>
            <a:headEnd/>
            <a:tailEnd/>
          </a:ln>
        </p:spPr>
        <p:txBody>
          <a:bodyPr/>
          <a:lstStyle/>
          <a:p>
            <a:endParaRPr lang="zh-CN" altLang="zh-CN">
              <a:solidFill>
                <a:srgbClr val="000000"/>
              </a:solidFill>
              <a:sym typeface="Arial" pitchFamily="34" charset="0"/>
            </a:endParaRPr>
          </a:p>
        </p:txBody>
      </p:sp>
      <p:grpSp>
        <p:nvGrpSpPr>
          <p:cNvPr id="4" name="Group 62"/>
          <p:cNvGrpSpPr>
            <a:grpSpLocks/>
          </p:cNvGrpSpPr>
          <p:nvPr/>
        </p:nvGrpSpPr>
        <p:grpSpPr bwMode="auto">
          <a:xfrm>
            <a:off x="3044825" y="3548063"/>
            <a:ext cx="342900" cy="342900"/>
            <a:chOff x="0" y="0"/>
            <a:chExt cx="540" cy="540"/>
          </a:xfrm>
        </p:grpSpPr>
        <p:sp>
          <p:nvSpPr>
            <p:cNvPr id="8252" name="Oval 63"/>
            <p:cNvSpPr>
              <a:spLocks noChangeArrowheads="1"/>
            </p:cNvSpPr>
            <p:nvPr/>
          </p:nvSpPr>
          <p:spPr bwMode="auto">
            <a:xfrm>
              <a:off x="0" y="0"/>
              <a:ext cx="540" cy="540"/>
            </a:xfrm>
            <a:prstGeom prst="ellipse">
              <a:avLst/>
            </a:prstGeom>
            <a:solidFill>
              <a:srgbClr val="FFFFFF"/>
            </a:solid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3" name="Rectangle 64"/>
            <p:cNvSpPr>
              <a:spLocks noChangeArrowheads="1"/>
            </p:cNvSpPr>
            <p:nvPr/>
          </p:nvSpPr>
          <p:spPr bwMode="auto">
            <a:xfrm>
              <a:off x="220" y="100"/>
              <a:ext cx="60" cy="340"/>
            </a:xfrm>
            <a:prstGeom prst="rect">
              <a:avLst/>
            </a:prstGeom>
            <a:solidFill>
              <a:srgbClr val="FFFFFF"/>
            </a:solidFill>
            <a:ln w="9525" cmpd="sng">
              <a:solidFill>
                <a:srgbClr val="000000"/>
              </a:solidFill>
              <a:miter lim="800000"/>
              <a:headEnd/>
              <a:tailEnd/>
            </a:ln>
          </p:spPr>
          <p:txBody>
            <a:bodyPr/>
            <a:lstStyle/>
            <a:p>
              <a:endParaRPr lang="zh-CN" altLang="zh-CN">
                <a:solidFill>
                  <a:srgbClr val="000000"/>
                </a:solidFill>
                <a:sym typeface="Arial" pitchFamily="34" charset="0"/>
              </a:endParaRPr>
            </a:p>
          </p:txBody>
        </p:sp>
        <p:sp>
          <p:nvSpPr>
            <p:cNvPr id="8254" name="Rectangle 65"/>
            <p:cNvSpPr>
              <a:spLocks noChangeArrowheads="1"/>
            </p:cNvSpPr>
            <p:nvPr/>
          </p:nvSpPr>
          <p:spPr bwMode="auto">
            <a:xfrm>
              <a:off x="260" y="120"/>
              <a:ext cx="60" cy="340"/>
            </a:xfrm>
            <a:prstGeom prst="rect">
              <a:avLst/>
            </a:prstGeom>
            <a:solidFill>
              <a:srgbClr val="FFFFFF"/>
            </a:solidFill>
            <a:ln w="9525" cmpd="sng">
              <a:solidFill>
                <a:srgbClr val="000000"/>
              </a:solidFill>
              <a:miter lim="800000"/>
              <a:headEnd/>
              <a:tailEnd/>
            </a:ln>
          </p:spPr>
          <p:txBody>
            <a:bodyPr/>
            <a:lstStyle/>
            <a:p>
              <a:endParaRPr lang="zh-CN" altLang="zh-CN">
                <a:solidFill>
                  <a:srgbClr val="000000"/>
                </a:solidFill>
                <a:sym typeface="Arial" pitchFamily="34" charset="0"/>
              </a:endParaRPr>
            </a:p>
          </p:txBody>
        </p:sp>
      </p:grpSp>
      <p:sp>
        <p:nvSpPr>
          <p:cNvPr id="8255" name="Oval 66"/>
          <p:cNvSpPr>
            <a:spLocks noChangeArrowheads="1"/>
          </p:cNvSpPr>
          <p:nvPr/>
        </p:nvSpPr>
        <p:spPr bwMode="auto">
          <a:xfrm>
            <a:off x="3063875" y="4156075"/>
            <a:ext cx="342900" cy="342900"/>
          </a:xfrm>
          <a:prstGeom prst="ellipse">
            <a:avLst/>
          </a:prstGeom>
          <a:solidFill>
            <a:srgbClr val="FFFFFF"/>
          </a:solid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6" name="Line 67"/>
          <p:cNvSpPr>
            <a:spLocks noChangeShapeType="1"/>
          </p:cNvSpPr>
          <p:nvPr/>
        </p:nvSpPr>
        <p:spPr bwMode="auto">
          <a:xfrm>
            <a:off x="3076575" y="4333875"/>
            <a:ext cx="330200" cy="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7" name="Line 68"/>
          <p:cNvSpPr>
            <a:spLocks noChangeShapeType="1"/>
          </p:cNvSpPr>
          <p:nvPr/>
        </p:nvSpPr>
        <p:spPr bwMode="auto">
          <a:xfrm>
            <a:off x="3228975" y="4219575"/>
            <a:ext cx="0" cy="2286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8" name="Line 69"/>
          <p:cNvSpPr>
            <a:spLocks noChangeShapeType="1"/>
          </p:cNvSpPr>
          <p:nvPr/>
        </p:nvSpPr>
        <p:spPr bwMode="auto">
          <a:xfrm flipH="1">
            <a:off x="3127375" y="4232275"/>
            <a:ext cx="0" cy="1016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59" name="Line 70"/>
          <p:cNvSpPr>
            <a:spLocks noChangeShapeType="1"/>
          </p:cNvSpPr>
          <p:nvPr/>
        </p:nvSpPr>
        <p:spPr bwMode="auto">
          <a:xfrm flipH="1">
            <a:off x="3330575" y="4232275"/>
            <a:ext cx="0" cy="1016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60" name="Line 71"/>
          <p:cNvSpPr>
            <a:spLocks noChangeShapeType="1"/>
          </p:cNvSpPr>
          <p:nvPr/>
        </p:nvSpPr>
        <p:spPr bwMode="auto">
          <a:xfrm flipH="1">
            <a:off x="3140075" y="4333875"/>
            <a:ext cx="0" cy="1016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61" name="Line 72"/>
          <p:cNvSpPr>
            <a:spLocks noChangeShapeType="1"/>
          </p:cNvSpPr>
          <p:nvPr/>
        </p:nvSpPr>
        <p:spPr bwMode="auto">
          <a:xfrm flipH="1">
            <a:off x="3317875" y="4333875"/>
            <a:ext cx="0" cy="1016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
        <p:nvSpPr>
          <p:cNvPr id="8262" name="Text Box 73"/>
          <p:cNvSpPr>
            <a:spLocks noChangeArrowheads="1"/>
          </p:cNvSpPr>
          <p:nvPr/>
        </p:nvSpPr>
        <p:spPr bwMode="auto">
          <a:xfrm>
            <a:off x="2917825" y="4219575"/>
            <a:ext cx="101600" cy="190500"/>
          </a:xfrm>
          <a:prstGeom prst="rect">
            <a:avLst/>
          </a:prstGeom>
          <a:noFill/>
          <a:ln w="9525" cmpd="sng">
            <a:noFill/>
            <a:miter lim="800000"/>
            <a:headEnd/>
            <a:tailEnd/>
          </a:ln>
        </p:spPr>
        <p:txBody>
          <a:bodyPr lIns="0" tIns="0" rIns="0" bIns="0"/>
          <a:lstStyle/>
          <a:p>
            <a:r>
              <a:rPr lang="en-US" sz="1400" i="1">
                <a:solidFill>
                  <a:srgbClr val="000000"/>
                </a:solidFill>
                <a:latin typeface="Times New Roman" pitchFamily="18" charset="0"/>
                <a:sym typeface="Times New Roman" pitchFamily="18" charset="0"/>
              </a:rPr>
              <a:t>a</a:t>
            </a:r>
            <a:endParaRPr lang="en-US" sz="1400">
              <a:solidFill>
                <a:srgbClr val="000000"/>
              </a:solidFill>
              <a:sym typeface="Arial" pitchFamily="34" charset="0"/>
            </a:endParaRPr>
          </a:p>
        </p:txBody>
      </p:sp>
      <p:sp>
        <p:nvSpPr>
          <p:cNvPr id="8263" name="Rectangle 7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8264" name="Rectangle 7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8265" name="Rectangle 7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8266" name="Rectangle 7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8267" name="Rectangle 7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8268" name="Text Box 79"/>
          <p:cNvSpPr>
            <a:spLocks noChangeArrowheads="1"/>
          </p:cNvSpPr>
          <p:nvPr/>
        </p:nvSpPr>
        <p:spPr bwMode="auto">
          <a:xfrm>
            <a:off x="3460750" y="4233863"/>
            <a:ext cx="101600" cy="190500"/>
          </a:xfrm>
          <a:prstGeom prst="rect">
            <a:avLst/>
          </a:prstGeom>
          <a:noFill/>
          <a:ln w="9525" cmpd="sng">
            <a:noFill/>
            <a:miter lim="800000"/>
            <a:headEnd/>
            <a:tailEnd/>
          </a:ln>
        </p:spPr>
        <p:txBody>
          <a:bodyPr lIns="0" tIns="0" rIns="0" bIns="0"/>
          <a:lstStyle/>
          <a:p>
            <a:r>
              <a:rPr lang="en-US" sz="1400" i="1">
                <a:solidFill>
                  <a:srgbClr val="000000"/>
                </a:solidFill>
                <a:latin typeface="Times New Roman" pitchFamily="18" charset="0"/>
                <a:sym typeface="Times New Roman" pitchFamily="18" charset="0"/>
              </a:rPr>
              <a:t>a</a:t>
            </a:r>
            <a:endParaRPr lang="en-US" sz="1400">
              <a:solidFill>
                <a:srgbClr val="000000"/>
              </a:solidFill>
              <a:sym typeface="Arial" pitchFamily="34" charset="0"/>
            </a:endParaRPr>
          </a:p>
        </p:txBody>
      </p:sp>
      <p:sp>
        <p:nvSpPr>
          <p:cNvPr id="8269" name="Rectangle 60"/>
          <p:cNvSpPr>
            <a:spLocks noChangeArrowheads="1"/>
          </p:cNvSpPr>
          <p:nvPr/>
        </p:nvSpPr>
        <p:spPr bwMode="auto">
          <a:xfrm>
            <a:off x="3454400" y="6127750"/>
            <a:ext cx="50800" cy="215900"/>
          </a:xfrm>
          <a:prstGeom prst="rect">
            <a:avLst/>
          </a:prstGeom>
          <a:solidFill>
            <a:schemeClr val="bg1"/>
          </a:solidFill>
          <a:ln w="9525" cmpd="sng">
            <a:solidFill>
              <a:srgbClr val="000000"/>
            </a:solidFill>
            <a:miter lim="800000"/>
            <a:headEnd/>
            <a:tailEnd/>
          </a:ln>
        </p:spPr>
        <p:txBody>
          <a:bodyPr/>
          <a:lstStyle/>
          <a:p>
            <a:endParaRPr lang="zh-CN" altLang="zh-CN">
              <a:solidFill>
                <a:srgbClr val="000000"/>
              </a:solidFill>
              <a:sym typeface="Arial" pitchFamily="34" charset="0"/>
            </a:endParaRPr>
          </a:p>
        </p:txBody>
      </p:sp>
      <p:sp>
        <p:nvSpPr>
          <p:cNvPr id="8270" name="Line 61" descr="浅色上对角线"/>
          <p:cNvSpPr>
            <a:spLocks noChangeShapeType="1"/>
          </p:cNvSpPr>
          <p:nvPr/>
        </p:nvSpPr>
        <p:spPr bwMode="auto">
          <a:xfrm>
            <a:off x="3479800" y="6089650"/>
            <a:ext cx="0" cy="304800"/>
          </a:xfrm>
          <a:prstGeom prst="line">
            <a:avLst/>
          </a:prstGeom>
          <a:noFill/>
          <a:ln w="9525" cmpd="sng">
            <a:solidFill>
              <a:srgbClr val="000000"/>
            </a:solidFill>
            <a:bevel/>
            <a:headEnd/>
            <a:tailEnd/>
          </a:ln>
        </p:spPr>
        <p:txBody>
          <a:bodyP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9218"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2C48AF82-DC21-4178-AFC7-2AFFF6F74EDB}" type="slidenum">
              <a:rPr lang="en-US"/>
              <a:pPr algn="r"/>
              <a:t>8</a:t>
            </a:fld>
            <a:endParaRPr lang="en-US" dirty="0"/>
          </a:p>
        </p:txBody>
      </p:sp>
      <p:sp>
        <p:nvSpPr>
          <p:cNvPr id="9219"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9220" name="Rectangle 3"/>
          <p:cNvSpPr>
            <a:spLocks noGrp="1" noRot="1" noChangeArrowheads="1"/>
          </p:cNvSpPr>
          <p:nvPr>
            <p:ph type="body" idx="4294967295"/>
          </p:nvPr>
        </p:nvSpPr>
        <p:spPr bwMode="auto">
          <a:xfrm>
            <a:off x="471488" y="1558925"/>
            <a:ext cx="8229600" cy="4805363"/>
          </a:xfrm>
          <a:prstGeom prst="rect">
            <a:avLst/>
          </a:prstGeom>
          <a:noFill/>
          <a:ln/>
        </p:spPr>
        <p:txBody>
          <a:bodyPr/>
          <a:lstStyle/>
          <a:p>
            <a:pPr eaLnBrk="1" hangingPunct="1">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调焦不确定度</a:t>
            </a:r>
            <a:r>
              <a:rPr lang="en-US" dirty="0">
                <a:solidFill>
                  <a:srgbClr val="FF0000"/>
                </a:solidFill>
                <a:latin typeface="Times New Roman" pitchFamily="18" charset="0"/>
                <a:ea typeface="黑体" pitchFamily="2" charset="-122"/>
                <a:sym typeface="Times New Roman" pitchFamily="18" charset="0"/>
              </a:rPr>
              <a:t>——</a:t>
            </a:r>
            <a:r>
              <a:rPr lang="zh-CN" altLang="en-US" dirty="0">
                <a:solidFill>
                  <a:srgbClr val="FF0000"/>
                </a:solidFill>
                <a:latin typeface="Times New Roman" pitchFamily="18" charset="0"/>
                <a:ea typeface="黑体" pitchFamily="2" charset="-122"/>
                <a:sym typeface="Times New Roman" pitchFamily="18" charset="0"/>
              </a:rPr>
              <a:t>清晰度法</a:t>
            </a:r>
            <a:endParaRPr lang="en-US" dirty="0">
              <a:solidFill>
                <a:srgbClr val="FF0000"/>
              </a:solidFill>
              <a:latin typeface="Times New Roman" pitchFamily="18" charset="0"/>
              <a:ea typeface="黑体" pitchFamily="2" charset="-122"/>
              <a:sym typeface="Times New Roman" pitchFamily="18" charset="0"/>
            </a:endParaRPr>
          </a:p>
          <a:p>
            <a:pPr eaLnBrk="1" hangingPunct="1">
              <a:lnSpc>
                <a:spcPct val="120000"/>
              </a:lnSpc>
            </a:pPr>
            <a:r>
              <a:rPr lang="zh-CN" altLang="en-US" dirty="0">
                <a:latin typeface="Times New Roman" pitchFamily="18" charset="0"/>
                <a:ea typeface="黑体" pitchFamily="2" charset="-122"/>
                <a:sym typeface="Times New Roman" pitchFamily="18" charset="0"/>
              </a:rPr>
              <a:t>最简便最常用的</a:t>
            </a:r>
            <a:r>
              <a:rPr lang="zh-CN" altLang="en-US" dirty="0">
                <a:solidFill>
                  <a:srgbClr val="FF0000"/>
                </a:solidFill>
                <a:latin typeface="Times New Roman" pitchFamily="18" charset="0"/>
                <a:ea typeface="黑体" pitchFamily="2" charset="-122"/>
                <a:sym typeface="Times New Roman" pitchFamily="18" charset="0"/>
              </a:rPr>
              <a:t>调焦</a:t>
            </a:r>
            <a:r>
              <a:rPr lang="zh-CN" altLang="en-US" dirty="0">
                <a:latin typeface="Times New Roman" pitchFamily="18" charset="0"/>
                <a:ea typeface="黑体" pitchFamily="2" charset="-122"/>
                <a:sym typeface="Times New Roman" pitchFamily="18" charset="0"/>
              </a:rPr>
              <a:t>方法是清晰度法和消视差法。</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清晰度法</a:t>
            </a:r>
            <a:r>
              <a:rPr lang="zh-CN" altLang="en-US" dirty="0">
                <a:latin typeface="Times New Roman" pitchFamily="18" charset="0"/>
                <a:ea typeface="黑体" pitchFamily="2" charset="-122"/>
                <a:sym typeface="Times New Roman" pitchFamily="18" charset="0"/>
              </a:rPr>
              <a:t>是以目标与比较标志同样清晰为准。</a:t>
            </a:r>
          </a:p>
          <a:p>
            <a:pPr eaLnBrk="1" hangingPunct="1">
              <a:lnSpc>
                <a:spcPct val="120000"/>
              </a:lnSpc>
            </a:pPr>
            <a:r>
              <a:rPr lang="zh-CN" altLang="en-US" dirty="0">
                <a:latin typeface="Times New Roman" pitchFamily="18" charset="0"/>
                <a:ea typeface="黑体" pitchFamily="2" charset="-122"/>
                <a:sym typeface="Times New Roman" pitchFamily="18" charset="0"/>
              </a:rPr>
              <a:t>调焦不准是由几何</a:t>
            </a:r>
            <a:r>
              <a:rPr lang="zh-CN" altLang="en-US" dirty="0" smtClean="0">
                <a:latin typeface="Times New Roman" pitchFamily="18" charset="0"/>
                <a:ea typeface="黑体" pitchFamily="2" charset="-122"/>
                <a:sym typeface="Times New Roman" pitchFamily="18" charset="0"/>
              </a:rPr>
              <a:t>焦深、物理</a:t>
            </a:r>
            <a:r>
              <a:rPr lang="zh-CN" altLang="en-US" dirty="0">
                <a:latin typeface="Times New Roman" pitchFamily="18" charset="0"/>
                <a:ea typeface="黑体" pitchFamily="2" charset="-122"/>
                <a:sym typeface="Times New Roman" pitchFamily="18" charset="0"/>
              </a:rPr>
              <a:t>焦深造成的。</a:t>
            </a:r>
          </a:p>
          <a:p>
            <a:pPr algn="just" eaLnBrk="1" hangingPunct="1">
              <a:lnSpc>
                <a:spcPct val="120000"/>
              </a:lnSpc>
            </a:pPr>
            <a:r>
              <a:rPr lang="zh-CN" altLang="en-US" dirty="0" smtClean="0">
                <a:solidFill>
                  <a:srgbClr val="FF0000"/>
                </a:solidFill>
                <a:latin typeface="Times New Roman" pitchFamily="18" charset="0"/>
                <a:ea typeface="黑体" pitchFamily="2" charset="-122"/>
                <a:sym typeface="Times New Roman" pitchFamily="18" charset="0"/>
              </a:rPr>
              <a:t>几何焦深：</a:t>
            </a:r>
            <a:r>
              <a:rPr lang="zh-CN" altLang="en-US" dirty="0" smtClean="0">
                <a:latin typeface="Times New Roman" pitchFamily="18" charset="0"/>
                <a:ea typeface="黑体" pitchFamily="2" charset="-122"/>
                <a:sym typeface="Times New Roman" pitchFamily="18" charset="0"/>
              </a:rPr>
              <a:t>按照</a:t>
            </a:r>
            <a:r>
              <a:rPr lang="zh-CN" altLang="en-US" dirty="0">
                <a:latin typeface="Times New Roman" pitchFamily="18" charset="0"/>
                <a:ea typeface="黑体" pitchFamily="2" charset="-122"/>
                <a:sym typeface="Times New Roman" pitchFamily="18" charset="0"/>
              </a:rPr>
              <a:t>光学理论，像面位置和物面的对应关系是唯一的。但是由于接收器的不完善，即使像面沿光轴有些移动</a:t>
            </a:r>
            <a:r>
              <a:rPr lang="zh-CN" altLang="en-US" dirty="0" smtClean="0">
                <a:latin typeface="Times New Roman" pitchFamily="18" charset="0"/>
                <a:ea typeface="黑体" pitchFamily="2" charset="-122"/>
                <a:sym typeface="Times New Roman" pitchFamily="18" charset="0"/>
              </a:rPr>
              <a:t>，接收器</a:t>
            </a:r>
            <a:r>
              <a:rPr lang="zh-CN" altLang="en-US" dirty="0">
                <a:latin typeface="Times New Roman" pitchFamily="18" charset="0"/>
                <a:ea typeface="黑体" pitchFamily="2" charset="-122"/>
                <a:sym typeface="Times New Roman" pitchFamily="18" charset="0"/>
              </a:rPr>
              <a:t>所感到的像仍然是清晰的。像面能在一定范围里沿光轴移动的量，称为几何焦深</a:t>
            </a:r>
            <a:r>
              <a:rPr lang="zh-CN" altLang="en-US" dirty="0" smtClean="0">
                <a:latin typeface="Times New Roman" pitchFamily="18" charset="0"/>
                <a:ea typeface="黑体" pitchFamily="2" charset="-122"/>
                <a:sym typeface="Times New Roman" pitchFamily="18" charset="0"/>
              </a:rPr>
              <a:t>。几何</a:t>
            </a:r>
            <a:r>
              <a:rPr lang="zh-CN" altLang="en-US" dirty="0">
                <a:latin typeface="Times New Roman" pitchFamily="18" charset="0"/>
                <a:ea typeface="黑体" pitchFamily="2" charset="-122"/>
                <a:sym typeface="Times New Roman" pitchFamily="18" charset="0"/>
              </a:rPr>
              <a:t>焦深没有考虑像差的作用。</a:t>
            </a:r>
          </a:p>
        </p:txBody>
      </p:sp>
      <p:sp>
        <p:nvSpPr>
          <p:cNvPr id="9221"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9222"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9223"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9224"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9225"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9226" name="Rectangle 11"/>
          <p:cNvSpPr>
            <a:spLocks noChangeArrowheads="1"/>
          </p:cNvSpPr>
          <p:nvPr/>
        </p:nvSpPr>
        <p:spPr bwMode="auto">
          <a:xfrm>
            <a:off x="0" y="3165475"/>
            <a:ext cx="184150" cy="366713"/>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p:cNvSpPr>
            <a:spLocks noGrp="1" noChangeArrowheads="1"/>
          </p:cNvSpPr>
          <p:nvPr/>
        </p:nvSpPr>
        <p:spPr bwMode="auto">
          <a:xfrm>
            <a:off x="298450" y="6245225"/>
            <a:ext cx="2289175" cy="476250"/>
          </a:xfrm>
          <a:prstGeom prst="rect">
            <a:avLst/>
          </a:prstGeom>
          <a:noFill/>
          <a:ln w="9525" cmpd="sng">
            <a:noFill/>
            <a:miter lim="800000"/>
            <a:headEnd/>
            <a:tailEnd/>
          </a:ln>
        </p:spPr>
        <p:txBody>
          <a:bodyPr/>
          <a:lstStyle/>
          <a:p>
            <a:fld id="{1F5E0783-D102-41EA-BE44-8A9A0CAD29E6}" type="datetime1">
              <a:rPr lang="zh-CN" altLang="en-US" sz="1400">
                <a:solidFill>
                  <a:srgbClr val="000000"/>
                </a:solidFill>
                <a:sym typeface="Arial" pitchFamily="34" charset="0"/>
              </a:rPr>
              <a:pPr/>
              <a:t>2018/2/24</a:t>
            </a:fld>
            <a:endParaRPr lang="en-US" sz="1400">
              <a:solidFill>
                <a:srgbClr val="000000"/>
              </a:solidFill>
              <a:sym typeface="Arial" pitchFamily="34" charset="0"/>
            </a:endParaRPr>
          </a:p>
        </p:txBody>
      </p:sp>
      <p:sp>
        <p:nvSpPr>
          <p:cNvPr id="10243" name="灯片编号占位符 5"/>
          <p:cNvSpPr>
            <a:spLocks noGrp="1" noChangeArrowheads="1"/>
          </p:cNvSpPr>
          <p:nvPr/>
        </p:nvSpPr>
        <p:spPr bwMode="auto">
          <a:xfrm>
            <a:off x="6550025" y="6245225"/>
            <a:ext cx="2289175" cy="476250"/>
          </a:xfrm>
          <a:prstGeom prst="rect">
            <a:avLst/>
          </a:prstGeom>
          <a:noFill/>
          <a:ln w="9525" cmpd="sng">
            <a:noFill/>
            <a:miter lim="800000"/>
            <a:headEnd/>
            <a:tailEnd/>
          </a:ln>
        </p:spPr>
        <p:txBody>
          <a:bodyPr/>
          <a:lstStyle/>
          <a:p>
            <a:pPr algn="r"/>
            <a:fld id="{A5C13721-5EFE-47FB-A93D-9B133207983E}" type="slidenum">
              <a:rPr lang="en-US" sz="1400">
                <a:solidFill>
                  <a:srgbClr val="000000"/>
                </a:solidFill>
                <a:sym typeface="Arial" pitchFamily="34" charset="0"/>
              </a:rPr>
              <a:pPr algn="r"/>
              <a:t>9</a:t>
            </a:fld>
            <a:endParaRPr lang="en-US" sz="1400" dirty="0">
              <a:solidFill>
                <a:srgbClr val="000000"/>
              </a:solidFill>
              <a:sym typeface="Arial" pitchFamily="34" charset="0"/>
            </a:endParaRPr>
          </a:p>
        </p:txBody>
      </p:sp>
      <p:sp>
        <p:nvSpPr>
          <p:cNvPr id="10244"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0245" name="Rectangle 3"/>
          <p:cNvSpPr>
            <a:spLocks noGrp="1" noRot="1" noChangeArrowheads="1"/>
          </p:cNvSpPr>
          <p:nvPr>
            <p:ph type="body" idx="4294967295"/>
          </p:nvPr>
        </p:nvSpPr>
        <p:spPr>
          <a:xfrm>
            <a:off x="484188" y="1804988"/>
            <a:ext cx="8229600" cy="3767137"/>
          </a:xfrm>
          <a:ln/>
        </p:spPr>
        <p:txBody>
          <a:bodyPr/>
          <a:lstStyle/>
          <a:p>
            <a:pPr eaLnBrk="1" hangingPunct="1">
              <a:lnSpc>
                <a:spcPct val="90000"/>
              </a:lnSpc>
              <a:buFont typeface="Wingdings" pitchFamily="2" charset="2"/>
              <a:buNone/>
            </a:pPr>
            <a:r>
              <a:rPr lang="en-US" sz="2800">
                <a:latin typeface="Times New Roman" pitchFamily="18" charset="0"/>
                <a:ea typeface="黑体" pitchFamily="2" charset="-122"/>
                <a:sym typeface="Times New Roman" pitchFamily="18" charset="0"/>
              </a:rPr>
              <a:t>1. </a:t>
            </a:r>
            <a:r>
              <a:rPr lang="zh-CN" altLang="en-US" sz="280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a:solidFill>
                  <a:srgbClr val="FF0000"/>
                </a:solidFill>
                <a:latin typeface="Times New Roman" pitchFamily="18" charset="0"/>
                <a:ea typeface="黑体" pitchFamily="2" charset="-122"/>
                <a:sym typeface="Times New Roman" pitchFamily="18" charset="0"/>
              </a:rPr>
              <a:t>调焦不确定度</a:t>
            </a:r>
            <a:r>
              <a:rPr lang="en-US">
                <a:solidFill>
                  <a:srgbClr val="FF0000"/>
                </a:solidFill>
                <a:latin typeface="Times New Roman" pitchFamily="18" charset="0"/>
                <a:ea typeface="黑体" pitchFamily="2" charset="-122"/>
                <a:sym typeface="Times New Roman" pitchFamily="18" charset="0"/>
              </a:rPr>
              <a:t>——</a:t>
            </a:r>
            <a:r>
              <a:rPr lang="zh-CN" altLang="en-US">
                <a:solidFill>
                  <a:srgbClr val="FF0000"/>
                </a:solidFill>
                <a:latin typeface="Times New Roman" pitchFamily="18" charset="0"/>
                <a:ea typeface="黑体" pitchFamily="2" charset="-122"/>
                <a:sym typeface="Times New Roman" pitchFamily="18" charset="0"/>
              </a:rPr>
              <a:t>清晰度法</a:t>
            </a:r>
          </a:p>
          <a:p>
            <a:pPr eaLnBrk="1" hangingPunct="1">
              <a:lnSpc>
                <a:spcPct val="120000"/>
              </a:lnSpc>
            </a:pPr>
            <a:r>
              <a:rPr lang="zh-CN" altLang="en-US">
                <a:latin typeface="Times New Roman" pitchFamily="18" charset="0"/>
                <a:ea typeface="黑体" pitchFamily="2" charset="-122"/>
                <a:sym typeface="Times New Roman" pitchFamily="18" charset="0"/>
              </a:rPr>
              <a:t>由几何焦深造成的人眼调焦标准不确定度为</a:t>
            </a:r>
          </a:p>
          <a:p>
            <a:pPr eaLnBrk="1" hangingPunct="1">
              <a:lnSpc>
                <a:spcPct val="120000"/>
              </a:lnSpc>
            </a:pPr>
            <a:endParaRPr lang="zh-CN" altLang="en-US">
              <a:latin typeface="Times New Roman" pitchFamily="18" charset="0"/>
              <a:ea typeface="黑体" pitchFamily="2" charset="-122"/>
              <a:sym typeface="Times New Roman" pitchFamily="18" charset="0"/>
            </a:endParaRPr>
          </a:p>
          <a:p>
            <a:pPr eaLnBrk="1" hangingPunct="1">
              <a:lnSpc>
                <a:spcPct val="120000"/>
              </a:lnSpc>
            </a:pPr>
            <a:endParaRPr lang="zh-CN" altLang="en-US">
              <a:latin typeface="Times New Roman" pitchFamily="18" charset="0"/>
              <a:ea typeface="黑体" pitchFamily="2" charset="-122"/>
              <a:sym typeface="Times New Roman" pitchFamily="18" charset="0"/>
            </a:endParaRPr>
          </a:p>
          <a:p>
            <a:pPr eaLnBrk="1" hangingPunct="1">
              <a:lnSpc>
                <a:spcPct val="120000"/>
              </a:lnSpc>
              <a:buFont typeface="Wingdings" pitchFamily="2" charset="2"/>
              <a:buNone/>
            </a:pPr>
            <a:r>
              <a:rPr lang="zh-CN" altLang="en-US">
                <a:latin typeface="Times New Roman" pitchFamily="18" charset="0"/>
                <a:ea typeface="黑体" pitchFamily="2" charset="-122"/>
                <a:sym typeface="Times New Roman" pitchFamily="18" charset="0"/>
              </a:rPr>
              <a:t>     式中，      以</a:t>
            </a:r>
            <a:r>
              <a:rPr lang="en-US">
                <a:latin typeface="Times New Roman" pitchFamily="18" charset="0"/>
                <a:ea typeface="黑体" pitchFamily="2" charset="-122"/>
                <a:sym typeface="Times New Roman" pitchFamily="18" charset="0"/>
              </a:rPr>
              <a:t>m</a:t>
            </a:r>
            <a:r>
              <a:rPr lang="en-US" baseline="30000">
                <a:latin typeface="Times New Roman" pitchFamily="18" charset="0"/>
                <a:ea typeface="黑体" pitchFamily="2" charset="-122"/>
                <a:sym typeface="Times New Roman" pitchFamily="18" charset="0"/>
              </a:rPr>
              <a:t>-1</a:t>
            </a:r>
            <a:r>
              <a:rPr lang="zh-CN" altLang="en-US">
                <a:latin typeface="Times New Roman" pitchFamily="18" charset="0"/>
                <a:ea typeface="黑体" pitchFamily="2" charset="-122"/>
                <a:sym typeface="Times New Roman" pitchFamily="18" charset="0"/>
              </a:rPr>
              <a:t>为单位，这时</a:t>
            </a:r>
            <a:r>
              <a:rPr lang="en-US" i="1">
                <a:latin typeface="Times New Roman" pitchFamily="18" charset="0"/>
                <a:ea typeface="黑体" pitchFamily="2" charset="-122"/>
                <a:sym typeface="Times New Roman" pitchFamily="18" charset="0"/>
              </a:rPr>
              <a:t>l</a:t>
            </a:r>
            <a:r>
              <a:rPr lang="en-US" baseline="-25000">
                <a:latin typeface="Times New Roman" pitchFamily="18" charset="0"/>
                <a:ea typeface="黑体" pitchFamily="2" charset="-122"/>
                <a:sym typeface="Times New Roman" pitchFamily="18" charset="0"/>
              </a:rPr>
              <a:t>1</a:t>
            </a:r>
            <a:r>
              <a:rPr lang="zh-CN" altLang="en-US">
                <a:latin typeface="Times New Roman" pitchFamily="18" charset="0"/>
                <a:ea typeface="黑体" pitchFamily="2" charset="-122"/>
                <a:sym typeface="Times New Roman" pitchFamily="18" charset="0"/>
              </a:rPr>
              <a:t>、</a:t>
            </a:r>
            <a:r>
              <a:rPr lang="en-US" i="1">
                <a:latin typeface="Times New Roman" pitchFamily="18" charset="0"/>
                <a:ea typeface="黑体" pitchFamily="2" charset="-122"/>
                <a:sym typeface="Times New Roman" pitchFamily="18" charset="0"/>
              </a:rPr>
              <a:t>l</a:t>
            </a:r>
            <a:r>
              <a:rPr lang="en-US" baseline="-25000">
                <a:latin typeface="Times New Roman" pitchFamily="18" charset="0"/>
                <a:ea typeface="黑体" pitchFamily="2" charset="-122"/>
                <a:sym typeface="Times New Roman" pitchFamily="18" charset="0"/>
              </a:rPr>
              <a:t>2</a:t>
            </a:r>
            <a:r>
              <a:rPr lang="zh-CN" altLang="en-US">
                <a:latin typeface="Times New Roman" pitchFamily="18" charset="0"/>
                <a:ea typeface="黑体" pitchFamily="2" charset="-122"/>
                <a:sym typeface="Times New Roman" pitchFamily="18" charset="0"/>
              </a:rPr>
              <a:t>和</a:t>
            </a:r>
            <a:r>
              <a:rPr lang="en-US" i="1">
                <a:latin typeface="Times New Roman" pitchFamily="18" charset="0"/>
                <a:ea typeface="黑体" pitchFamily="2" charset="-122"/>
                <a:sym typeface="Times New Roman" pitchFamily="18" charset="0"/>
              </a:rPr>
              <a:t>D</a:t>
            </a:r>
            <a:r>
              <a:rPr lang="en-US" baseline="-25000">
                <a:latin typeface="Times New Roman" pitchFamily="18" charset="0"/>
                <a:ea typeface="黑体" pitchFamily="2" charset="-122"/>
                <a:sym typeface="Times New Roman" pitchFamily="18" charset="0"/>
              </a:rPr>
              <a:t>e</a:t>
            </a:r>
            <a:r>
              <a:rPr lang="zh-CN" altLang="en-US">
                <a:latin typeface="Times New Roman" pitchFamily="18" charset="0"/>
                <a:ea typeface="黑体" pitchFamily="2" charset="-122"/>
                <a:sym typeface="Times New Roman" pitchFamily="18" charset="0"/>
              </a:rPr>
              <a:t>的单位为</a:t>
            </a:r>
            <a:r>
              <a:rPr lang="en-US">
                <a:latin typeface="Times New Roman" pitchFamily="18" charset="0"/>
                <a:ea typeface="黑体" pitchFamily="2" charset="-122"/>
                <a:sym typeface="Times New Roman" pitchFamily="18" charset="0"/>
              </a:rPr>
              <a:t>m</a:t>
            </a:r>
            <a:r>
              <a:rPr lang="zh-CN" altLang="en-US">
                <a:latin typeface="Times New Roman" pitchFamily="18" charset="0"/>
                <a:ea typeface="黑体" pitchFamily="2" charset="-122"/>
                <a:sym typeface="Times New Roman" pitchFamily="18" charset="0"/>
              </a:rPr>
              <a:t>，</a:t>
            </a:r>
            <a:r>
              <a:rPr lang="en-US" i="1">
                <a:latin typeface="Times New Roman" pitchFamily="18" charset="0"/>
                <a:ea typeface="黑体" pitchFamily="2" charset="-122"/>
                <a:sym typeface="Times New Roman" pitchFamily="18" charset="0"/>
              </a:rPr>
              <a:t>α</a:t>
            </a:r>
            <a:r>
              <a:rPr lang="en-US" baseline="-25000">
                <a:latin typeface="Times New Roman" pitchFamily="18" charset="0"/>
                <a:ea typeface="黑体" pitchFamily="2" charset="-122"/>
                <a:sym typeface="Times New Roman" pitchFamily="18" charset="0"/>
              </a:rPr>
              <a:t>e</a:t>
            </a:r>
            <a:r>
              <a:rPr lang="zh-CN" altLang="en-US">
                <a:latin typeface="Times New Roman" pitchFamily="18" charset="0"/>
                <a:ea typeface="黑体" pitchFamily="2" charset="-122"/>
                <a:sym typeface="Times New Roman" pitchFamily="18" charset="0"/>
              </a:rPr>
              <a:t>的单位为</a:t>
            </a:r>
            <a:r>
              <a:rPr lang="en-US">
                <a:latin typeface="Times New Roman" pitchFamily="18" charset="0"/>
                <a:ea typeface="黑体" pitchFamily="2" charset="-122"/>
                <a:sym typeface="Times New Roman" pitchFamily="18" charset="0"/>
              </a:rPr>
              <a:t>rad</a:t>
            </a:r>
            <a:r>
              <a:rPr lang="zh-CN" altLang="en-US">
                <a:latin typeface="Times New Roman" pitchFamily="18" charset="0"/>
                <a:ea typeface="黑体" pitchFamily="2" charset="-122"/>
                <a:sym typeface="Times New Roman" pitchFamily="18" charset="0"/>
              </a:rPr>
              <a:t>。</a:t>
            </a:r>
            <a:endParaRPr lang="zh-CN" altLang="en-US"/>
          </a:p>
        </p:txBody>
      </p:sp>
      <p:sp>
        <p:nvSpPr>
          <p:cNvPr id="10246"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0247"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0248"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0249"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0250"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0251"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0252" name="Object 10"/>
          <p:cNvGraphicFramePr>
            <a:graphicFrameLocks noChangeAspect="1"/>
          </p:cNvGraphicFramePr>
          <p:nvPr/>
        </p:nvGraphicFramePr>
        <p:xfrm>
          <a:off x="3406775" y="3582988"/>
          <a:ext cx="1873250" cy="771525"/>
        </p:xfrm>
        <a:graphic>
          <a:graphicData uri="http://schemas.openxmlformats.org/presentationml/2006/ole">
            <p:oleObj spid="_x0000_s137218" r:id="rId3" imgW="24993917" imgH="10363517" progId="">
              <p:embed/>
            </p:oleObj>
          </a:graphicData>
        </a:graphic>
      </p:graphicFrame>
      <p:sp>
        <p:nvSpPr>
          <p:cNvPr id="10253" name="Rectangle 11"/>
          <p:cNvSpPr>
            <a:spLocks noChangeArrowheads="1"/>
          </p:cNvSpPr>
          <p:nvPr/>
        </p:nvSpPr>
        <p:spPr bwMode="auto">
          <a:xfrm>
            <a:off x="0" y="3165475"/>
            <a:ext cx="184150" cy="366713"/>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0254" name="Object 12"/>
          <p:cNvGraphicFramePr>
            <a:graphicFrameLocks noChangeAspect="1"/>
          </p:cNvGraphicFramePr>
          <p:nvPr/>
        </p:nvGraphicFramePr>
        <p:xfrm>
          <a:off x="1858963" y="4433888"/>
          <a:ext cx="376237" cy="433387"/>
        </p:xfrm>
        <a:graphic>
          <a:graphicData uri="http://schemas.openxmlformats.org/presentationml/2006/ole">
            <p:oleObj spid="_x0000_s137219" r:id="rId4" imgW="4572317" imgH="5181917" progId="">
              <p:embed/>
            </p:oleObj>
          </a:graphicData>
        </a:graphic>
      </p:graphicFrame>
    </p:spTree>
  </p:cSld>
  <p:clrMapOvr>
    <a:masterClrMapping/>
  </p:clrMapOvr>
  <p:transition>
    <p:circl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1266"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0A1CA936-1A36-4611-BCF6-A3AF0C1E36B6}" type="slidenum">
              <a:rPr lang="en-US"/>
              <a:pPr algn="r"/>
              <a:t>10</a:t>
            </a:fld>
            <a:endParaRPr lang="en-US" dirty="0"/>
          </a:p>
        </p:txBody>
      </p:sp>
      <p:sp>
        <p:nvSpPr>
          <p:cNvPr id="11267"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1268" name="Rectangle 3"/>
          <p:cNvSpPr>
            <a:spLocks noGrp="1" noRot="1" noChangeArrowheads="1"/>
          </p:cNvSpPr>
          <p:nvPr>
            <p:ph type="body" idx="4294967295"/>
          </p:nvPr>
        </p:nvSpPr>
        <p:spPr bwMode="auto">
          <a:xfrm>
            <a:off x="485775" y="1687513"/>
            <a:ext cx="8229600" cy="4681537"/>
          </a:xfrm>
          <a:prstGeom prst="rect">
            <a:avLst/>
          </a:prstGeom>
          <a:noFill/>
          <a:ln/>
        </p:spPr>
        <p:txBody>
          <a:bodyPr/>
          <a:lstStyle/>
          <a:p>
            <a:pPr eaLnBrk="1" hangingPunct="1">
              <a:lnSpc>
                <a:spcPct val="120000"/>
              </a:lnSpc>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调焦不确定度</a:t>
            </a:r>
            <a:r>
              <a:rPr lang="en-US" dirty="0">
                <a:solidFill>
                  <a:srgbClr val="FF0000"/>
                </a:solidFill>
                <a:latin typeface="Times New Roman" pitchFamily="18" charset="0"/>
                <a:ea typeface="黑体" pitchFamily="2" charset="-122"/>
                <a:sym typeface="Times New Roman" pitchFamily="18" charset="0"/>
              </a:rPr>
              <a:t>——</a:t>
            </a:r>
            <a:r>
              <a:rPr lang="zh-CN" altLang="en-US" dirty="0">
                <a:solidFill>
                  <a:srgbClr val="FF0000"/>
                </a:solidFill>
                <a:latin typeface="Times New Roman" pitchFamily="18" charset="0"/>
                <a:ea typeface="黑体" pitchFamily="2" charset="-122"/>
                <a:sym typeface="Times New Roman" pitchFamily="18" charset="0"/>
              </a:rPr>
              <a:t>清晰度法</a:t>
            </a:r>
          </a:p>
          <a:p>
            <a:pPr algn="just" eaLnBrk="1" hangingPunct="1">
              <a:lnSpc>
                <a:spcPct val="120000"/>
              </a:lnSpc>
            </a:pPr>
            <a:r>
              <a:rPr lang="zh-CN" altLang="en-US" dirty="0" smtClean="0">
                <a:solidFill>
                  <a:srgbClr val="FF0000"/>
                </a:solidFill>
                <a:latin typeface="Times New Roman" pitchFamily="18" charset="0"/>
                <a:ea typeface="黑体" pitchFamily="2" charset="-122"/>
                <a:sym typeface="Times New Roman" pitchFamily="18" charset="0"/>
              </a:rPr>
              <a:t>物理焦深：</a:t>
            </a:r>
            <a:r>
              <a:rPr lang="zh-CN" altLang="en-US" dirty="0" smtClean="0">
                <a:latin typeface="Times New Roman" pitchFamily="18" charset="0"/>
                <a:ea typeface="黑体" pitchFamily="2" charset="-122"/>
                <a:sym typeface="Times New Roman" pitchFamily="18" charset="0"/>
              </a:rPr>
              <a:t>根据</a:t>
            </a:r>
            <a:r>
              <a:rPr lang="zh-CN" altLang="en-US" dirty="0">
                <a:latin typeface="Times New Roman" pitchFamily="18" charset="0"/>
                <a:ea typeface="黑体" pitchFamily="2" charset="-122"/>
                <a:sym typeface="Times New Roman" pitchFamily="18" charset="0"/>
              </a:rPr>
              <a:t>衍射理论，由于眼瞳大小有限，即使是理想成像，一物点在视网膜上的像也不再是一个点而是一个艾里斑。当物点沿轴向移动</a:t>
            </a:r>
            <a:r>
              <a:rPr lang="en-US" dirty="0">
                <a:latin typeface="Times New Roman" pitchFamily="18" charset="0"/>
                <a:ea typeface="黑体" pitchFamily="2" charset="-122"/>
                <a:sym typeface="Times New Roman" pitchFamily="18" charset="0"/>
              </a:rPr>
              <a:t>d</a:t>
            </a:r>
            <a:r>
              <a:rPr lang="en-US" i="1" dirty="0">
                <a:latin typeface="Times New Roman" pitchFamily="18" charset="0"/>
                <a:ea typeface="黑体" pitchFamily="2" charset="-122"/>
                <a:sym typeface="Times New Roman" pitchFamily="18" charset="0"/>
              </a:rPr>
              <a:t>l</a:t>
            </a:r>
            <a:r>
              <a:rPr lang="zh-CN" altLang="en-US" dirty="0">
                <a:latin typeface="Times New Roman" pitchFamily="18" charset="0"/>
                <a:ea typeface="黑体" pitchFamily="2" charset="-122"/>
                <a:sym typeface="Times New Roman" pitchFamily="18" charset="0"/>
              </a:rPr>
              <a:t>后，在眼瞳面上产生的波差小于或等于</a:t>
            </a:r>
            <a:r>
              <a:rPr lang="zh-CN" altLang="en-US" i="1" dirty="0">
                <a:latin typeface="Times New Roman" pitchFamily="18" charset="0"/>
                <a:ea typeface="黑体" pitchFamily="2" charset="-122"/>
                <a:sym typeface="Times New Roman" pitchFamily="18" charset="0"/>
              </a:rPr>
              <a:t>λ</a:t>
            </a:r>
            <a:r>
              <a:rPr lang="en-US" dirty="0">
                <a:latin typeface="Times New Roman" pitchFamily="18" charset="0"/>
                <a:ea typeface="黑体" pitchFamily="2" charset="-122"/>
                <a:sym typeface="Times New Roman" pitchFamily="18" charset="0"/>
              </a:rPr>
              <a:t>/</a:t>
            </a:r>
            <a:r>
              <a:rPr lang="en-US" i="1" dirty="0">
                <a:latin typeface="Times New Roman" pitchFamily="18" charset="0"/>
                <a:ea typeface="黑体" pitchFamily="2" charset="-122"/>
                <a:sym typeface="Times New Roman" pitchFamily="18" charset="0"/>
              </a:rPr>
              <a:t>K</a:t>
            </a:r>
            <a:r>
              <a:rPr lang="zh-CN" altLang="en-US" dirty="0">
                <a:latin typeface="Times New Roman" pitchFamily="18" charset="0"/>
                <a:ea typeface="黑体" pitchFamily="2" charset="-122"/>
                <a:sym typeface="Times New Roman" pitchFamily="18" charset="0"/>
              </a:rPr>
              <a:t>（常取</a:t>
            </a:r>
            <a:r>
              <a:rPr lang="en-US" i="1" dirty="0">
                <a:latin typeface="Times New Roman" pitchFamily="18" charset="0"/>
                <a:ea typeface="黑体" pitchFamily="2" charset="-122"/>
                <a:sym typeface="Times New Roman" pitchFamily="18" charset="0"/>
              </a:rPr>
              <a:t>K</a:t>
            </a:r>
            <a:r>
              <a:rPr lang="zh-CN" altLang="en-US" dirty="0">
                <a:latin typeface="Times New Roman" pitchFamily="18" charset="0"/>
                <a:ea typeface="黑体" pitchFamily="2" charset="-122"/>
                <a:sym typeface="Times New Roman" pitchFamily="18" charset="0"/>
              </a:rPr>
              <a:t>＝</a:t>
            </a:r>
            <a:r>
              <a:rPr lang="en-US" dirty="0">
                <a:latin typeface="Times New Roman" pitchFamily="18" charset="0"/>
                <a:ea typeface="黑体" pitchFamily="2" charset="-122"/>
                <a:sym typeface="Times New Roman" pitchFamily="18" charset="0"/>
              </a:rPr>
              <a:t>6</a:t>
            </a:r>
            <a:r>
              <a:rPr lang="zh-CN" altLang="en-US" dirty="0">
                <a:latin typeface="Times New Roman" pitchFamily="18" charset="0"/>
                <a:ea typeface="黑体" pitchFamily="2" charset="-122"/>
                <a:sym typeface="Times New Roman" pitchFamily="18" charset="0"/>
              </a:rPr>
              <a:t>）时，人眼仍分辨不出此时视网膜上的衍射图像与艾里斑有什么差别。即如果目标与标志相距小于</a:t>
            </a:r>
            <a:r>
              <a:rPr lang="en-US" dirty="0">
                <a:latin typeface="Times New Roman" pitchFamily="18" charset="0"/>
                <a:ea typeface="黑体" pitchFamily="2" charset="-122"/>
                <a:sym typeface="Times New Roman" pitchFamily="18" charset="0"/>
              </a:rPr>
              <a:t>d</a:t>
            </a:r>
            <a:r>
              <a:rPr lang="en-US" i="1" dirty="0">
                <a:latin typeface="Times New Roman" pitchFamily="18" charset="0"/>
                <a:ea typeface="黑体" pitchFamily="2" charset="-122"/>
                <a:sym typeface="Times New Roman" pitchFamily="18" charset="0"/>
              </a:rPr>
              <a:t>l</a:t>
            </a:r>
            <a:r>
              <a:rPr lang="zh-CN" altLang="en-US" dirty="0">
                <a:latin typeface="Times New Roman" pitchFamily="18" charset="0"/>
                <a:ea typeface="黑体" pitchFamily="2" charset="-122"/>
                <a:sym typeface="Times New Roman" pitchFamily="18" charset="0"/>
              </a:rPr>
              <a:t>时眼睛仍认为二者的像同样清晰，通常将</a:t>
            </a:r>
            <a:r>
              <a:rPr lang="en-US" dirty="0">
                <a:latin typeface="Times New Roman" pitchFamily="18" charset="0"/>
                <a:ea typeface="黑体" pitchFamily="2" charset="-122"/>
                <a:sym typeface="Times New Roman" pitchFamily="18" charset="0"/>
              </a:rPr>
              <a:t>2d</a:t>
            </a:r>
            <a:r>
              <a:rPr lang="en-US" i="1" dirty="0">
                <a:latin typeface="Times New Roman" pitchFamily="18" charset="0"/>
                <a:ea typeface="黑体" pitchFamily="2" charset="-122"/>
                <a:sym typeface="Times New Roman" pitchFamily="18" charset="0"/>
              </a:rPr>
              <a:t>l</a:t>
            </a:r>
            <a:r>
              <a:rPr lang="zh-CN" altLang="en-US" dirty="0">
                <a:latin typeface="Times New Roman" pitchFamily="18" charset="0"/>
                <a:ea typeface="黑体" pitchFamily="2" charset="-122"/>
                <a:sym typeface="Times New Roman" pitchFamily="18" charset="0"/>
              </a:rPr>
              <a:t>称为物理焦深。</a:t>
            </a:r>
            <a:endParaRPr lang="zh-CN" altLang="en-US" dirty="0"/>
          </a:p>
        </p:txBody>
      </p:sp>
      <p:sp>
        <p:nvSpPr>
          <p:cNvPr id="11269"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0"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1"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2"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3"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4"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5"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6"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1277" name="Rectangle 13"/>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p:cNvSpPr>
            <a:spLocks noGrp="1" noChangeArrowheads="1"/>
          </p:cNvSpPr>
          <p:nvPr/>
        </p:nvSpPr>
        <p:spPr bwMode="auto">
          <a:xfrm>
            <a:off x="298450" y="6245225"/>
            <a:ext cx="2289175" cy="476250"/>
          </a:xfrm>
          <a:prstGeom prst="rect">
            <a:avLst/>
          </a:prstGeom>
          <a:noFill/>
          <a:ln w="9525" cmpd="sng">
            <a:noFill/>
            <a:miter lim="800000"/>
            <a:headEnd/>
            <a:tailEnd/>
          </a:ln>
        </p:spPr>
        <p:txBody>
          <a:bodyPr/>
          <a:lstStyle/>
          <a:p>
            <a:fld id="{77D76BD8-815F-482D-8AEB-46F14153FD43}" type="datetime1">
              <a:rPr lang="zh-CN" altLang="en-US" sz="1400">
                <a:solidFill>
                  <a:srgbClr val="000000"/>
                </a:solidFill>
                <a:sym typeface="Arial" pitchFamily="34" charset="0"/>
              </a:rPr>
              <a:pPr/>
              <a:t>2018/2/24</a:t>
            </a:fld>
            <a:endParaRPr lang="en-US" sz="1400">
              <a:solidFill>
                <a:srgbClr val="000000"/>
              </a:solidFill>
              <a:sym typeface="Arial" pitchFamily="34" charset="0"/>
            </a:endParaRPr>
          </a:p>
        </p:txBody>
      </p:sp>
      <p:sp>
        <p:nvSpPr>
          <p:cNvPr id="12291" name="灯片编号占位符 5"/>
          <p:cNvSpPr>
            <a:spLocks noGrp="1" noChangeArrowheads="1"/>
          </p:cNvSpPr>
          <p:nvPr/>
        </p:nvSpPr>
        <p:spPr bwMode="auto">
          <a:xfrm>
            <a:off x="6550025" y="6245225"/>
            <a:ext cx="2289175" cy="476250"/>
          </a:xfrm>
          <a:prstGeom prst="rect">
            <a:avLst/>
          </a:prstGeom>
          <a:noFill/>
          <a:ln w="9525" cmpd="sng">
            <a:noFill/>
            <a:miter lim="800000"/>
            <a:headEnd/>
            <a:tailEnd/>
          </a:ln>
        </p:spPr>
        <p:txBody>
          <a:bodyPr/>
          <a:lstStyle/>
          <a:p>
            <a:pPr algn="r"/>
            <a:fld id="{8C4FD529-C533-4889-845A-00D03D93E146}" type="slidenum">
              <a:rPr lang="en-US" sz="1400">
                <a:solidFill>
                  <a:srgbClr val="000000"/>
                </a:solidFill>
                <a:sym typeface="Arial" pitchFamily="34" charset="0"/>
              </a:rPr>
              <a:pPr algn="r"/>
              <a:t>11</a:t>
            </a:fld>
            <a:endParaRPr lang="en-US" sz="1400">
              <a:solidFill>
                <a:srgbClr val="000000"/>
              </a:solidFill>
              <a:sym typeface="Arial" pitchFamily="34" charset="0"/>
            </a:endParaRPr>
          </a:p>
        </p:txBody>
      </p:sp>
      <p:sp>
        <p:nvSpPr>
          <p:cNvPr id="12292"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2293" name="Rectangle 3"/>
          <p:cNvSpPr>
            <a:spLocks noGrp="1" noRot="1" noChangeArrowheads="1"/>
          </p:cNvSpPr>
          <p:nvPr>
            <p:ph type="body" idx="4294967295"/>
          </p:nvPr>
        </p:nvSpPr>
        <p:spPr>
          <a:xfrm>
            <a:off x="473075" y="1962150"/>
            <a:ext cx="8496300" cy="4803775"/>
          </a:xfrm>
          <a:ln/>
        </p:spPr>
        <p:txBody>
          <a:bodyPr/>
          <a:lstStyle/>
          <a:p>
            <a:pPr eaLnBrk="1" hangingPunct="1">
              <a:lnSpc>
                <a:spcPct val="120000"/>
              </a:lnSpc>
              <a:buFont typeface="Wingdings" pitchFamily="2" charset="2"/>
              <a:buNone/>
            </a:pPr>
            <a:r>
              <a:rPr lang="en-US" sz="2800">
                <a:latin typeface="Times New Roman" pitchFamily="18" charset="0"/>
                <a:ea typeface="黑体" pitchFamily="2" charset="-122"/>
                <a:sym typeface="Times New Roman" pitchFamily="18" charset="0"/>
              </a:rPr>
              <a:t>1. </a:t>
            </a:r>
            <a:r>
              <a:rPr lang="zh-CN" altLang="en-US" sz="280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a:solidFill>
                  <a:srgbClr val="FF0000"/>
                </a:solidFill>
                <a:latin typeface="Times New Roman" pitchFamily="18" charset="0"/>
                <a:ea typeface="黑体" pitchFamily="2" charset="-122"/>
                <a:sym typeface="Times New Roman" pitchFamily="18" charset="0"/>
              </a:rPr>
              <a:t>调焦不确定度</a:t>
            </a:r>
            <a:r>
              <a:rPr lang="en-US">
                <a:solidFill>
                  <a:srgbClr val="FF0000"/>
                </a:solidFill>
                <a:latin typeface="Times New Roman" pitchFamily="18" charset="0"/>
                <a:ea typeface="黑体" pitchFamily="2" charset="-122"/>
                <a:sym typeface="Times New Roman" pitchFamily="18" charset="0"/>
              </a:rPr>
              <a:t>——</a:t>
            </a:r>
            <a:r>
              <a:rPr lang="zh-CN" altLang="en-US">
                <a:solidFill>
                  <a:srgbClr val="FF0000"/>
                </a:solidFill>
                <a:latin typeface="Times New Roman" pitchFamily="18" charset="0"/>
                <a:ea typeface="黑体" pitchFamily="2" charset="-122"/>
                <a:sym typeface="Times New Roman" pitchFamily="18" charset="0"/>
              </a:rPr>
              <a:t>清晰度法</a:t>
            </a:r>
          </a:p>
          <a:p>
            <a:pPr eaLnBrk="1" hangingPunct="1">
              <a:lnSpc>
                <a:spcPct val="120000"/>
              </a:lnSpc>
            </a:pPr>
            <a:r>
              <a:rPr lang="zh-CN" altLang="en-US">
                <a:latin typeface="Times New Roman" pitchFamily="18" charset="0"/>
                <a:ea typeface="黑体" pitchFamily="2" charset="-122"/>
                <a:sym typeface="Times New Roman" pitchFamily="18" charset="0"/>
              </a:rPr>
              <a:t>由物理焦深造成的人眼调焦的标准不确定度由下式求得</a:t>
            </a:r>
          </a:p>
          <a:p>
            <a:pPr eaLnBrk="1" hangingPunct="1">
              <a:lnSpc>
                <a:spcPct val="120000"/>
              </a:lnSpc>
            </a:pPr>
            <a:endParaRPr lang="zh-CN" altLang="en-US">
              <a:latin typeface="Times New Roman" pitchFamily="18" charset="0"/>
              <a:ea typeface="黑体" pitchFamily="2" charset="-122"/>
              <a:sym typeface="Times New Roman" pitchFamily="18" charset="0"/>
            </a:endParaRPr>
          </a:p>
          <a:p>
            <a:pPr eaLnBrk="1" hangingPunct="1">
              <a:lnSpc>
                <a:spcPct val="120000"/>
              </a:lnSpc>
            </a:pPr>
            <a:endParaRPr lang="zh-CN" altLang="en-US">
              <a:latin typeface="Times New Roman" pitchFamily="18" charset="0"/>
              <a:ea typeface="黑体" pitchFamily="2" charset="-122"/>
              <a:sym typeface="Times New Roman" pitchFamily="18" charset="0"/>
            </a:endParaRPr>
          </a:p>
          <a:p>
            <a:pPr eaLnBrk="1" hangingPunct="1">
              <a:lnSpc>
                <a:spcPct val="120000"/>
              </a:lnSpc>
            </a:pPr>
            <a:endParaRPr lang="zh-CN" altLang="en-US">
              <a:latin typeface="Times New Roman" pitchFamily="18" charset="0"/>
              <a:ea typeface="黑体" pitchFamily="2" charset="-122"/>
              <a:sym typeface="Times New Roman" pitchFamily="18" charset="0"/>
            </a:endParaRPr>
          </a:p>
          <a:p>
            <a:pPr eaLnBrk="1" hangingPunct="1">
              <a:lnSpc>
                <a:spcPct val="120000"/>
              </a:lnSpc>
            </a:pPr>
            <a:r>
              <a:rPr lang="zh-CN" altLang="en-US">
                <a:latin typeface="Times New Roman" pitchFamily="18" charset="0"/>
                <a:ea typeface="黑体" pitchFamily="2" charset="-122"/>
                <a:sym typeface="Times New Roman" pitchFamily="18" charset="0"/>
              </a:rPr>
              <a:t>式中，</a:t>
            </a:r>
            <a:r>
              <a:rPr lang="en-US" i="1">
                <a:latin typeface="Times New Roman" pitchFamily="18" charset="0"/>
                <a:ea typeface="黑体" pitchFamily="2" charset="-122"/>
                <a:sym typeface="Times New Roman" pitchFamily="18" charset="0"/>
              </a:rPr>
              <a:t>l</a:t>
            </a:r>
            <a:r>
              <a:rPr lang="en-US" baseline="-25000">
                <a:latin typeface="Times New Roman" pitchFamily="18" charset="0"/>
                <a:ea typeface="黑体" pitchFamily="2" charset="-122"/>
                <a:sym typeface="Times New Roman" pitchFamily="18" charset="0"/>
              </a:rPr>
              <a:t>2</a:t>
            </a:r>
            <a:r>
              <a:rPr lang="zh-CN" altLang="en-US">
                <a:latin typeface="Times New Roman" pitchFamily="18" charset="0"/>
                <a:ea typeface="黑体" pitchFamily="2" charset="-122"/>
                <a:sym typeface="Times New Roman" pitchFamily="18" charset="0"/>
              </a:rPr>
              <a:t>＝</a:t>
            </a:r>
            <a:r>
              <a:rPr lang="en-US" i="1">
                <a:latin typeface="Times New Roman" pitchFamily="18" charset="0"/>
                <a:ea typeface="黑体" pitchFamily="2" charset="-122"/>
                <a:sym typeface="Times New Roman" pitchFamily="18" charset="0"/>
              </a:rPr>
              <a:t>l</a:t>
            </a:r>
            <a:r>
              <a:rPr lang="en-US" baseline="-25000">
                <a:latin typeface="Times New Roman" pitchFamily="18" charset="0"/>
                <a:ea typeface="黑体" pitchFamily="2" charset="-122"/>
                <a:sym typeface="Times New Roman" pitchFamily="18" charset="0"/>
              </a:rPr>
              <a:t>1</a:t>
            </a:r>
            <a:r>
              <a:rPr lang="en-US">
                <a:latin typeface="Times New Roman" pitchFamily="18" charset="0"/>
                <a:ea typeface="黑体" pitchFamily="2" charset="-122"/>
                <a:sym typeface="Times New Roman" pitchFamily="18" charset="0"/>
              </a:rPr>
              <a:t>±d</a:t>
            </a:r>
            <a:r>
              <a:rPr lang="en-US" i="1">
                <a:latin typeface="Times New Roman" pitchFamily="18" charset="0"/>
                <a:ea typeface="黑体" pitchFamily="2" charset="-122"/>
                <a:sym typeface="Times New Roman" pitchFamily="18" charset="0"/>
              </a:rPr>
              <a:t>l</a:t>
            </a:r>
            <a:r>
              <a:rPr lang="zh-CN" altLang="en-US">
                <a:latin typeface="Times New Roman" pitchFamily="18" charset="0"/>
                <a:ea typeface="黑体" pitchFamily="2" charset="-122"/>
                <a:sym typeface="Times New Roman" pitchFamily="18" charset="0"/>
              </a:rPr>
              <a:t>；</a:t>
            </a:r>
            <a:r>
              <a:rPr lang="en-US" i="1">
                <a:latin typeface="Times New Roman" pitchFamily="18" charset="0"/>
                <a:ea typeface="黑体" pitchFamily="2" charset="-122"/>
                <a:sym typeface="Times New Roman" pitchFamily="18" charset="0"/>
              </a:rPr>
              <a:t>D</a:t>
            </a:r>
            <a:r>
              <a:rPr lang="en-US" i="1" baseline="-25000">
                <a:latin typeface="Times New Roman" pitchFamily="18" charset="0"/>
                <a:ea typeface="黑体" pitchFamily="2" charset="-122"/>
                <a:sym typeface="Times New Roman" pitchFamily="18" charset="0"/>
              </a:rPr>
              <a:t>e</a:t>
            </a:r>
            <a:r>
              <a:rPr lang="zh-CN" altLang="en-US">
                <a:latin typeface="Times New Roman" pitchFamily="18" charset="0"/>
                <a:ea typeface="黑体" pitchFamily="2" charset="-122"/>
                <a:sym typeface="Times New Roman" pitchFamily="18" charset="0"/>
              </a:rPr>
              <a:t>为眼瞳直径（</a:t>
            </a:r>
            <a:r>
              <a:rPr lang="en-US" i="1">
                <a:latin typeface="Times New Roman" pitchFamily="18" charset="0"/>
                <a:ea typeface="黑体" pitchFamily="2" charset="-122"/>
                <a:sym typeface="Times New Roman" pitchFamily="18" charset="0"/>
              </a:rPr>
              <a:t>D</a:t>
            </a:r>
            <a:r>
              <a:rPr lang="en-US" i="1" baseline="-25000">
                <a:latin typeface="Times New Roman" pitchFamily="18" charset="0"/>
                <a:ea typeface="黑体" pitchFamily="2" charset="-122"/>
                <a:sym typeface="Times New Roman" pitchFamily="18" charset="0"/>
              </a:rPr>
              <a:t>e</a:t>
            </a:r>
            <a:r>
              <a:rPr lang="zh-CN" altLang="en-US">
                <a:latin typeface="Times New Roman" pitchFamily="18" charset="0"/>
                <a:ea typeface="黑体" pitchFamily="2" charset="-122"/>
                <a:sym typeface="Times New Roman" pitchFamily="18" charset="0"/>
              </a:rPr>
              <a:t>与波长</a:t>
            </a:r>
            <a:r>
              <a:rPr lang="zh-CN" altLang="en-US" i="1">
                <a:latin typeface="Times New Roman" pitchFamily="18" charset="0"/>
                <a:ea typeface="黑体" pitchFamily="2" charset="-122"/>
                <a:sym typeface="Times New Roman" pitchFamily="18" charset="0"/>
              </a:rPr>
              <a:t>λ</a:t>
            </a:r>
            <a:r>
              <a:rPr lang="zh-CN" altLang="en-US">
                <a:latin typeface="Times New Roman" pitchFamily="18" charset="0"/>
                <a:ea typeface="黑体" pitchFamily="2" charset="-122"/>
                <a:sym typeface="Times New Roman" pitchFamily="18" charset="0"/>
              </a:rPr>
              <a:t>的单位皆为</a:t>
            </a:r>
            <a:r>
              <a:rPr lang="en-US">
                <a:latin typeface="Times New Roman" pitchFamily="18" charset="0"/>
                <a:ea typeface="黑体" pitchFamily="2" charset="-122"/>
                <a:sym typeface="Times New Roman" pitchFamily="18" charset="0"/>
              </a:rPr>
              <a:t>m</a:t>
            </a:r>
            <a:r>
              <a:rPr lang="zh-CN" altLang="en-US">
                <a:latin typeface="Times New Roman" pitchFamily="18" charset="0"/>
                <a:ea typeface="黑体" pitchFamily="2" charset="-122"/>
                <a:sym typeface="Times New Roman" pitchFamily="18" charset="0"/>
              </a:rPr>
              <a:t>）。</a:t>
            </a:r>
            <a:endParaRPr lang="zh-CN" altLang="en-US"/>
          </a:p>
        </p:txBody>
      </p:sp>
      <p:sp>
        <p:nvSpPr>
          <p:cNvPr id="12294"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295"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296"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297"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298"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299"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300"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2301"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2302" name="Object 12"/>
          <p:cNvGraphicFramePr>
            <a:graphicFrameLocks noChangeAspect="1"/>
          </p:cNvGraphicFramePr>
          <p:nvPr/>
        </p:nvGraphicFramePr>
        <p:xfrm>
          <a:off x="2070100" y="3927475"/>
          <a:ext cx="1685925" cy="842963"/>
        </p:xfrm>
        <a:graphic>
          <a:graphicData uri="http://schemas.openxmlformats.org/presentationml/2006/ole">
            <p:oleObj spid="_x0000_s138242" r:id="rId3" imgW="21945917" imgH="10973117" progId="">
              <p:embed/>
            </p:oleObj>
          </a:graphicData>
        </a:graphic>
      </p:graphicFrame>
      <p:sp>
        <p:nvSpPr>
          <p:cNvPr id="12303" name="Rectangle 13"/>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2304" name="Object 14"/>
          <p:cNvGraphicFramePr>
            <a:graphicFrameLocks noChangeAspect="1"/>
          </p:cNvGraphicFramePr>
          <p:nvPr/>
        </p:nvGraphicFramePr>
        <p:xfrm>
          <a:off x="4646613" y="3940175"/>
          <a:ext cx="2328862" cy="842963"/>
        </p:xfrm>
        <a:graphic>
          <a:graphicData uri="http://schemas.openxmlformats.org/presentationml/2006/ole">
            <p:oleObj spid="_x0000_s138243" r:id="rId4" imgW="28346717" imgH="10363517" progId="">
              <p:embed/>
            </p:oleObj>
          </a:graphicData>
        </a:graphic>
      </p:graphicFrame>
      <p:sp>
        <p:nvSpPr>
          <p:cNvPr id="12305" name="AutoShape 17"/>
          <p:cNvSpPr>
            <a:spLocks noChangeArrowheads="1"/>
          </p:cNvSpPr>
          <p:nvPr/>
        </p:nvSpPr>
        <p:spPr bwMode="auto">
          <a:xfrm>
            <a:off x="3860800" y="4206875"/>
            <a:ext cx="623888" cy="319088"/>
          </a:xfrm>
          <a:prstGeom prst="rightArrow">
            <a:avLst>
              <a:gd name="adj1" fmla="val 50000"/>
              <a:gd name="adj2" fmla="val 48899"/>
            </a:avLst>
          </a:prstGeom>
          <a:solidFill>
            <a:schemeClr val="accent1"/>
          </a:solidFill>
          <a:ln w="9525" cmpd="sng">
            <a:solidFill>
              <a:schemeClr val="tx1"/>
            </a:solidFill>
            <a:miter lim="800000"/>
            <a:headEnd/>
            <a:tailEnd/>
          </a:ln>
        </p:spPr>
        <p:txBody>
          <a:bodyPr wrap="none" anchor="ct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3314"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C0D53CB2-A123-4C48-BB12-5626E07F860D}" type="slidenum">
              <a:rPr lang="en-US"/>
              <a:pPr algn="r"/>
              <a:t>12</a:t>
            </a:fld>
            <a:endParaRPr lang="en-US" dirty="0"/>
          </a:p>
        </p:txBody>
      </p:sp>
      <p:sp>
        <p:nvSpPr>
          <p:cNvPr id="13315"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3316" name="Rectangle 3"/>
          <p:cNvSpPr>
            <a:spLocks noGrp="1" noRot="1" noChangeArrowheads="1"/>
          </p:cNvSpPr>
          <p:nvPr>
            <p:ph type="body" idx="4294967295"/>
          </p:nvPr>
        </p:nvSpPr>
        <p:spPr bwMode="auto">
          <a:xfrm>
            <a:off x="471488" y="1960563"/>
            <a:ext cx="8229600" cy="4014787"/>
          </a:xfrm>
          <a:prstGeom prst="rect">
            <a:avLst/>
          </a:prstGeom>
          <a:noFill/>
          <a:ln/>
        </p:spPr>
        <p:txBody>
          <a:bodyPr/>
          <a:lstStyle/>
          <a:p>
            <a:pPr eaLnBrk="1" hangingPunct="1">
              <a:lnSpc>
                <a:spcPct val="120000"/>
              </a:lnSpc>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调焦不确定度</a:t>
            </a:r>
            <a:r>
              <a:rPr lang="en-US" dirty="0">
                <a:solidFill>
                  <a:srgbClr val="FF0000"/>
                </a:solidFill>
                <a:latin typeface="Times New Roman" pitchFamily="18" charset="0"/>
                <a:ea typeface="黑体" pitchFamily="2" charset="-122"/>
                <a:sym typeface="Times New Roman" pitchFamily="18" charset="0"/>
              </a:rPr>
              <a:t>——</a:t>
            </a:r>
            <a:r>
              <a:rPr lang="zh-CN" altLang="en-US" dirty="0">
                <a:solidFill>
                  <a:srgbClr val="FF0000"/>
                </a:solidFill>
                <a:latin typeface="Times New Roman" pitchFamily="18" charset="0"/>
                <a:ea typeface="黑体" pitchFamily="2" charset="-122"/>
                <a:sym typeface="Times New Roman" pitchFamily="18" charset="0"/>
              </a:rPr>
              <a:t>清晰度法</a:t>
            </a:r>
          </a:p>
          <a:p>
            <a:pPr eaLnBrk="1" hangingPunct="1">
              <a:lnSpc>
                <a:spcPct val="120000"/>
              </a:lnSpc>
            </a:pPr>
            <a:r>
              <a:rPr lang="zh-CN" altLang="en-US" dirty="0">
                <a:latin typeface="Times New Roman" pitchFamily="18" charset="0"/>
                <a:ea typeface="黑体" pitchFamily="2" charset="-122"/>
                <a:sym typeface="Times New Roman" pitchFamily="18" charset="0"/>
              </a:rPr>
              <a:t>由清晰度法产生的人眼调焦合成标准不确定度为几何焦深和物理焦深造成的调焦标准不确定度的平方和再开方。即</a:t>
            </a: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pPr>
            <a:r>
              <a:rPr lang="zh-CN" altLang="en-US" dirty="0">
                <a:latin typeface="Times New Roman" pitchFamily="18" charset="0"/>
                <a:ea typeface="黑体" pitchFamily="2" charset="-122"/>
                <a:sym typeface="Times New Roman" pitchFamily="18" charset="0"/>
              </a:rPr>
              <a:t>                                                                                           </a:t>
            </a:r>
            <a:r>
              <a:rPr lang="en-US" dirty="0">
                <a:latin typeface="Times New Roman" pitchFamily="18" charset="0"/>
                <a:ea typeface="黑体" pitchFamily="2" charset="-122"/>
                <a:sym typeface="Times New Roman" pitchFamily="18" charset="0"/>
              </a:rPr>
              <a:t>(m</a:t>
            </a:r>
            <a:r>
              <a:rPr lang="en-US" baseline="30000" dirty="0">
                <a:latin typeface="Times New Roman" pitchFamily="18" charset="0"/>
                <a:ea typeface="黑体" pitchFamily="2" charset="-122"/>
                <a:sym typeface="Times New Roman" pitchFamily="18" charset="0"/>
              </a:rPr>
              <a:t>-1</a:t>
            </a:r>
            <a:r>
              <a:rPr lang="en-US" dirty="0" smtClean="0">
                <a:latin typeface="Times New Roman" pitchFamily="18" charset="0"/>
                <a:ea typeface="黑体" pitchFamily="2" charset="-122"/>
                <a:sym typeface="Times New Roman" pitchFamily="18" charset="0"/>
              </a:rPr>
              <a:t>)</a:t>
            </a:r>
            <a:endParaRPr lang="zh-CN" altLang="en-US" dirty="0">
              <a:latin typeface="Times New Roman" pitchFamily="18" charset="0"/>
              <a:ea typeface="黑体" pitchFamily="2" charset="-122"/>
              <a:sym typeface="Times New Roman" pitchFamily="18" charset="0"/>
            </a:endParaRPr>
          </a:p>
        </p:txBody>
      </p:sp>
      <p:sp>
        <p:nvSpPr>
          <p:cNvPr id="13317"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18"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19"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0"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1"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2"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3"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4"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5" name="Rectangle 12"/>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3326" name="Rectangle 13"/>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3327" name="Object 14"/>
          <p:cNvGraphicFramePr>
            <a:graphicFrameLocks noChangeAspect="1"/>
          </p:cNvGraphicFramePr>
          <p:nvPr/>
        </p:nvGraphicFramePr>
        <p:xfrm>
          <a:off x="2025650" y="4529138"/>
          <a:ext cx="5273675" cy="1309687"/>
        </p:xfrm>
        <a:graphic>
          <a:graphicData uri="http://schemas.openxmlformats.org/presentationml/2006/ole">
            <p:oleObj spid="_x0000_s139266" r:id="rId3" imgW="54254717" imgH="13411517" progId="">
              <p:embed/>
            </p:oleObj>
          </a:graphicData>
        </a:graphic>
      </p:graphicFrame>
    </p:spTree>
  </p:cSld>
  <p:clrMapOvr>
    <a:masterClrMapping/>
  </p:clrMapOvr>
  <p:transition>
    <p:circl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4338"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B8F2D0D5-24E9-4DDE-A33D-09BD85B8859B}" type="slidenum">
              <a:rPr lang="en-US"/>
              <a:pPr algn="r"/>
              <a:t>13</a:t>
            </a:fld>
            <a:endParaRPr lang="en-US" dirty="0"/>
          </a:p>
        </p:txBody>
      </p:sp>
      <p:sp>
        <p:nvSpPr>
          <p:cNvPr id="14339"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4340" name="Rectangle 3"/>
          <p:cNvSpPr>
            <a:spLocks noGrp="1" noRot="1" noChangeArrowheads="1"/>
          </p:cNvSpPr>
          <p:nvPr>
            <p:ph type="body" idx="4294967295"/>
          </p:nvPr>
        </p:nvSpPr>
        <p:spPr bwMode="auto">
          <a:xfrm>
            <a:off x="471488" y="1960563"/>
            <a:ext cx="8229600" cy="4111053"/>
          </a:xfrm>
          <a:prstGeom prst="rect">
            <a:avLst/>
          </a:prstGeom>
          <a:noFill/>
          <a:ln/>
        </p:spPr>
        <p:txBody>
          <a:bodyPr/>
          <a:lstStyle/>
          <a:p>
            <a:pPr eaLnBrk="1" hangingPunct="1">
              <a:lnSpc>
                <a:spcPct val="120000"/>
              </a:lnSpc>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调焦不确定度</a:t>
            </a:r>
            <a:r>
              <a:rPr lang="en-US" dirty="0">
                <a:solidFill>
                  <a:srgbClr val="FF0000"/>
                </a:solidFill>
                <a:latin typeface="Times New Roman" pitchFamily="18" charset="0"/>
                <a:ea typeface="黑体" pitchFamily="2" charset="-122"/>
                <a:sym typeface="Times New Roman" pitchFamily="18" charset="0"/>
              </a:rPr>
              <a:t>——</a:t>
            </a:r>
            <a:r>
              <a:rPr lang="zh-CN" altLang="en-US" dirty="0">
                <a:solidFill>
                  <a:srgbClr val="FF0000"/>
                </a:solidFill>
                <a:latin typeface="Times New Roman" pitchFamily="18" charset="0"/>
                <a:ea typeface="黑体" pitchFamily="2" charset="-122"/>
                <a:sym typeface="Times New Roman" pitchFamily="18" charset="0"/>
              </a:rPr>
              <a:t>消视差法</a:t>
            </a:r>
          </a:p>
          <a:p>
            <a:pPr eaLnBrk="1" hangingPunct="1">
              <a:lnSpc>
                <a:spcPct val="120000"/>
              </a:lnSpc>
            </a:pPr>
            <a:r>
              <a:rPr lang="zh-CN" altLang="en-US" dirty="0">
                <a:latin typeface="Times New Roman" pitchFamily="18" charset="0"/>
                <a:ea typeface="黑体" pitchFamily="2" charset="-122"/>
                <a:sym typeface="Times New Roman" pitchFamily="18" charset="0"/>
              </a:rPr>
              <a:t>以眼睛在垂轴平面上左右摆动也看不出目标和标志有相对横移为准。</a:t>
            </a:r>
          </a:p>
          <a:p>
            <a:pPr eaLnBrk="1" hangingPunct="1">
              <a:lnSpc>
                <a:spcPct val="120000"/>
              </a:lnSpc>
            </a:pPr>
            <a:r>
              <a:rPr lang="en-US" dirty="0">
                <a:latin typeface="Times New Roman" pitchFamily="18" charset="0"/>
                <a:ea typeface="黑体" pitchFamily="2" charset="-122"/>
                <a:sym typeface="Times New Roman" pitchFamily="18" charset="0"/>
              </a:rPr>
              <a:t>1</a:t>
            </a:r>
            <a:r>
              <a:rPr lang="zh-CN" altLang="en-US" dirty="0">
                <a:latin typeface="Times New Roman" pitchFamily="18" charset="0"/>
                <a:ea typeface="黑体" pitchFamily="2" charset="-122"/>
                <a:sym typeface="Times New Roman" pitchFamily="18" charset="0"/>
              </a:rPr>
              <a:t>）由于无相对横移时目标不一定与标志同样清晰，所以消视差法不受焦深的影响；</a:t>
            </a:r>
          </a:p>
          <a:p>
            <a:pPr eaLnBrk="1" hangingPunct="1">
              <a:lnSpc>
                <a:spcPct val="120000"/>
              </a:lnSpc>
            </a:pPr>
            <a:r>
              <a:rPr lang="en-US" dirty="0">
                <a:latin typeface="Times New Roman" pitchFamily="18" charset="0"/>
                <a:ea typeface="黑体" pitchFamily="2" charset="-122"/>
                <a:sym typeface="Times New Roman" pitchFamily="18" charset="0"/>
              </a:rPr>
              <a:t>2</a:t>
            </a:r>
            <a:r>
              <a:rPr lang="zh-CN" altLang="en-US" dirty="0">
                <a:latin typeface="Times New Roman" pitchFamily="18" charset="0"/>
                <a:ea typeface="黑体" pitchFamily="2" charset="-122"/>
                <a:sym typeface="Times New Roman" pitchFamily="18" charset="0"/>
              </a:rPr>
              <a:t>）由于消视差法把纵向调焦变成横向对准，从而可通过选择准确度高的对准方式来提高调焦准确度。</a:t>
            </a:r>
            <a:endParaRPr lang="zh-CN" altLang="en-US" dirty="0"/>
          </a:p>
        </p:txBody>
      </p:sp>
      <p:sp>
        <p:nvSpPr>
          <p:cNvPr id="14341"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2"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3"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4"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5"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6"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7"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8" name="Rectangle 12"/>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49" name="Rectangle 13"/>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4350" name="Rectangle 14"/>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p:cNvSpPr>
            <a:spLocks noGrp="1" noChangeArrowheads="1"/>
          </p:cNvSpPr>
          <p:nvPr/>
        </p:nvSpPr>
        <p:spPr bwMode="auto">
          <a:xfrm>
            <a:off x="298450" y="6245225"/>
            <a:ext cx="2289175" cy="476250"/>
          </a:xfrm>
          <a:prstGeom prst="rect">
            <a:avLst/>
          </a:prstGeom>
          <a:noFill/>
          <a:ln w="9525" cmpd="sng">
            <a:noFill/>
            <a:miter lim="800000"/>
            <a:headEnd/>
            <a:tailEnd/>
          </a:ln>
        </p:spPr>
        <p:txBody>
          <a:bodyPr/>
          <a:lstStyle/>
          <a:p>
            <a:fld id="{1B245E03-9B9F-4DDA-B336-36A5D5BD0A3D}" type="datetime1">
              <a:rPr lang="zh-CN" altLang="en-US" sz="1400">
                <a:solidFill>
                  <a:srgbClr val="000000"/>
                </a:solidFill>
                <a:sym typeface="Arial" pitchFamily="34" charset="0"/>
              </a:rPr>
              <a:pPr/>
              <a:t>2018/2/24</a:t>
            </a:fld>
            <a:endParaRPr lang="en-US" sz="1400">
              <a:solidFill>
                <a:srgbClr val="000000"/>
              </a:solidFill>
              <a:sym typeface="Arial" pitchFamily="34" charset="0"/>
            </a:endParaRPr>
          </a:p>
        </p:txBody>
      </p:sp>
      <p:sp>
        <p:nvSpPr>
          <p:cNvPr id="15363" name="灯片编号占位符 5"/>
          <p:cNvSpPr>
            <a:spLocks noGrp="1" noChangeArrowheads="1"/>
          </p:cNvSpPr>
          <p:nvPr/>
        </p:nvSpPr>
        <p:spPr bwMode="auto">
          <a:xfrm>
            <a:off x="6550025" y="6245225"/>
            <a:ext cx="2289175" cy="476250"/>
          </a:xfrm>
          <a:prstGeom prst="rect">
            <a:avLst/>
          </a:prstGeom>
          <a:noFill/>
          <a:ln w="9525" cmpd="sng">
            <a:noFill/>
            <a:miter lim="800000"/>
            <a:headEnd/>
            <a:tailEnd/>
          </a:ln>
        </p:spPr>
        <p:txBody>
          <a:bodyPr/>
          <a:lstStyle/>
          <a:p>
            <a:pPr algn="r"/>
            <a:fld id="{08544917-8377-4E63-926E-AE77A07495A2}" type="slidenum">
              <a:rPr lang="en-US" sz="1400">
                <a:solidFill>
                  <a:srgbClr val="000000"/>
                </a:solidFill>
                <a:sym typeface="Arial" pitchFamily="34" charset="0"/>
              </a:rPr>
              <a:pPr algn="r"/>
              <a:t>14</a:t>
            </a:fld>
            <a:endParaRPr lang="en-US" sz="1400" dirty="0">
              <a:solidFill>
                <a:srgbClr val="000000"/>
              </a:solidFill>
              <a:sym typeface="Arial" pitchFamily="34" charset="0"/>
            </a:endParaRPr>
          </a:p>
        </p:txBody>
      </p:sp>
      <p:sp>
        <p:nvSpPr>
          <p:cNvPr id="15364"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4000" b="1" dirty="0">
                <a:solidFill>
                  <a:schemeClr val="tx1"/>
                </a:solidFill>
                <a:latin typeface="Times New Roman" pitchFamily="18" charset="0"/>
                <a:ea typeface="黑体" pitchFamily="2" charset="-122"/>
                <a:sym typeface="Times New Roman" pitchFamily="18" charset="0"/>
              </a:rPr>
              <a:t>§2-1  </a:t>
            </a:r>
            <a:r>
              <a:rPr lang="zh-CN" altLang="en-US" sz="4000" b="1" dirty="0" smtClean="0">
                <a:solidFill>
                  <a:schemeClr val="tx1"/>
                </a:solidFill>
                <a:latin typeface="Times New Roman" pitchFamily="18" charset="0"/>
                <a:ea typeface="黑体" pitchFamily="2" charset="-122"/>
                <a:sym typeface="Times New Roman" pitchFamily="18" charset="0"/>
              </a:rPr>
              <a:t>对准</a:t>
            </a:r>
            <a:r>
              <a:rPr lang="zh-CN" altLang="en-US" sz="4000" b="1" dirty="0">
                <a:solidFill>
                  <a:schemeClr val="tx1"/>
                </a:solidFill>
                <a:latin typeface="Times New Roman" pitchFamily="18" charset="0"/>
                <a:ea typeface="黑体" pitchFamily="2" charset="-122"/>
                <a:sym typeface="Times New Roman" pitchFamily="18" charset="0"/>
              </a:rPr>
              <a:t>和调焦技术</a:t>
            </a:r>
            <a:br>
              <a:rPr lang="zh-CN" altLang="en-US" sz="4000" b="1" dirty="0">
                <a:solidFill>
                  <a:schemeClr val="tx1"/>
                </a:solidFill>
                <a:latin typeface="Times New Roman" pitchFamily="18" charset="0"/>
                <a:ea typeface="黑体" pitchFamily="2" charset="-122"/>
                <a:sym typeface="Times New Roman" pitchFamily="18" charset="0"/>
              </a:rPr>
            </a:br>
            <a:r>
              <a:rPr lang="zh-CN" altLang="en-US" sz="1200" b="1" dirty="0">
                <a:solidFill>
                  <a:schemeClr val="tx1"/>
                </a:solidFill>
                <a:latin typeface="Times New Roman" pitchFamily="18" charset="0"/>
                <a:ea typeface="黑体" pitchFamily="2" charset="-122"/>
                <a:sym typeface="Times New Roman" pitchFamily="18" charset="0"/>
              </a:rPr>
              <a:t/>
            </a:r>
            <a:br>
              <a:rPr lang="zh-CN" altLang="en-US" sz="1200" b="1" dirty="0">
                <a:solidFill>
                  <a:schemeClr val="tx1"/>
                </a:solidFill>
                <a:latin typeface="Times New Roman" pitchFamily="18" charset="0"/>
                <a:ea typeface="黑体" pitchFamily="2" charset="-122"/>
                <a:sym typeface="Times New Roman" pitchFamily="18" charset="0"/>
              </a:rPr>
            </a:br>
            <a:endParaRPr lang="zh-CN" altLang="en-US" sz="1200" b="1" dirty="0">
              <a:solidFill>
                <a:schemeClr val="tx1"/>
              </a:solidFill>
              <a:latin typeface="Times New Roman" pitchFamily="18" charset="0"/>
              <a:ea typeface="黑体" pitchFamily="2" charset="-122"/>
              <a:sym typeface="Times New Roman" pitchFamily="18" charset="0"/>
            </a:endParaRPr>
          </a:p>
        </p:txBody>
      </p:sp>
      <p:sp>
        <p:nvSpPr>
          <p:cNvPr id="15365" name="Rectangle 3"/>
          <p:cNvSpPr>
            <a:spLocks noGrp="1" noRot="1" noChangeArrowheads="1"/>
          </p:cNvSpPr>
          <p:nvPr>
            <p:ph type="body" idx="4294967295"/>
          </p:nvPr>
        </p:nvSpPr>
        <p:spPr>
          <a:xfrm>
            <a:off x="471488" y="1960563"/>
            <a:ext cx="8229600" cy="4107728"/>
          </a:xfrm>
          <a:ln/>
        </p:spPr>
        <p:txBody>
          <a:bodyPr/>
          <a:lstStyle/>
          <a:p>
            <a:pPr eaLnBrk="1" hangingPunct="1">
              <a:lnSpc>
                <a:spcPct val="120000"/>
              </a:lnSpc>
              <a:buFont typeface="Wingdings" pitchFamily="2" charset="2"/>
              <a:buNone/>
            </a:pPr>
            <a:r>
              <a:rPr lang="en-US" sz="2800" dirty="0">
                <a:latin typeface="Times New Roman" pitchFamily="18" charset="0"/>
                <a:ea typeface="黑体" pitchFamily="2" charset="-122"/>
                <a:sym typeface="Times New Roman" pitchFamily="18" charset="0"/>
              </a:rPr>
              <a:t>1. </a:t>
            </a:r>
            <a:r>
              <a:rPr lang="zh-CN" altLang="en-US" sz="2800" dirty="0">
                <a:latin typeface="Times New Roman" pitchFamily="18" charset="0"/>
                <a:ea typeface="黑体" pitchFamily="2" charset="-122"/>
                <a:sym typeface="Times New Roman" pitchFamily="18" charset="0"/>
              </a:rPr>
              <a:t>人眼的对准和调焦</a:t>
            </a:r>
          </a:p>
          <a:p>
            <a:pPr eaLnBrk="1" hangingPunct="1">
              <a:lnSpc>
                <a:spcPct val="120000"/>
              </a:lnSpc>
            </a:pPr>
            <a:r>
              <a:rPr lang="zh-CN" altLang="en-US" dirty="0">
                <a:solidFill>
                  <a:srgbClr val="FF0000"/>
                </a:solidFill>
                <a:latin typeface="Times New Roman" pitchFamily="18" charset="0"/>
                <a:ea typeface="黑体" pitchFamily="2" charset="-122"/>
                <a:sym typeface="Times New Roman" pitchFamily="18" charset="0"/>
              </a:rPr>
              <a:t>调焦不确定度</a:t>
            </a:r>
            <a:r>
              <a:rPr lang="en-US" dirty="0">
                <a:solidFill>
                  <a:srgbClr val="FF0000"/>
                </a:solidFill>
                <a:latin typeface="Times New Roman" pitchFamily="18" charset="0"/>
                <a:ea typeface="黑体" pitchFamily="2" charset="-122"/>
                <a:sym typeface="Times New Roman" pitchFamily="18" charset="0"/>
              </a:rPr>
              <a:t>——</a:t>
            </a:r>
            <a:r>
              <a:rPr lang="zh-CN" altLang="en-US" dirty="0">
                <a:solidFill>
                  <a:srgbClr val="FF0000"/>
                </a:solidFill>
                <a:latin typeface="Times New Roman" pitchFamily="18" charset="0"/>
                <a:ea typeface="黑体" pitchFamily="2" charset="-122"/>
                <a:sym typeface="Times New Roman" pitchFamily="18" charset="0"/>
              </a:rPr>
              <a:t>消视差法</a:t>
            </a:r>
          </a:p>
          <a:p>
            <a:pPr eaLnBrk="1" hangingPunct="1">
              <a:lnSpc>
                <a:spcPct val="120000"/>
              </a:lnSpc>
            </a:pPr>
            <a:r>
              <a:rPr lang="zh-CN" altLang="en-US" dirty="0">
                <a:latin typeface="Times New Roman" pitchFamily="18" charset="0"/>
                <a:ea typeface="黑体" pitchFamily="2" charset="-122"/>
                <a:sym typeface="Times New Roman" pitchFamily="18" charset="0"/>
              </a:rPr>
              <a:t>设眼睛摆动距离为</a:t>
            </a:r>
            <a:r>
              <a:rPr lang="en-US" i="1" dirty="0">
                <a:latin typeface="Times New Roman" pitchFamily="18" charset="0"/>
                <a:ea typeface="黑体" pitchFamily="2" charset="-122"/>
                <a:sym typeface="Times New Roman" pitchFamily="18" charset="0"/>
              </a:rPr>
              <a:t>b</a:t>
            </a:r>
            <a:r>
              <a:rPr lang="zh-CN" altLang="en-US" dirty="0">
                <a:latin typeface="Times New Roman" pitchFamily="18" charset="0"/>
                <a:ea typeface="黑体" pitchFamily="2" charset="-122"/>
                <a:sym typeface="Times New Roman" pitchFamily="18" charset="0"/>
              </a:rPr>
              <a:t>，所选择对准方式的对准标准不确定度为</a:t>
            </a:r>
            <a:r>
              <a:rPr lang="en-US" i="1" dirty="0">
                <a:latin typeface="Times New Roman" pitchFamily="18" charset="0"/>
                <a:ea typeface="黑体" pitchFamily="2" charset="-122"/>
                <a:sym typeface="Times New Roman" pitchFamily="18" charset="0"/>
              </a:rPr>
              <a:t>δ</a:t>
            </a:r>
            <a:r>
              <a:rPr lang="zh-CN" altLang="en-US" dirty="0">
                <a:latin typeface="Times New Roman" pitchFamily="18" charset="0"/>
                <a:ea typeface="黑体" pitchFamily="2" charset="-122"/>
                <a:sym typeface="Times New Roman" pitchFamily="18" charset="0"/>
              </a:rPr>
              <a:t>，定焦时目标和标志到眼睛的轴向距离分别为</a:t>
            </a:r>
            <a:r>
              <a:rPr lang="en-US" i="1" dirty="0">
                <a:latin typeface="Times New Roman" pitchFamily="18" charset="0"/>
                <a:ea typeface="黑体" pitchFamily="2" charset="-122"/>
                <a:sym typeface="Times New Roman" pitchFamily="18" charset="0"/>
              </a:rPr>
              <a:t>l</a:t>
            </a:r>
            <a:r>
              <a:rPr lang="en-US" baseline="-25000" dirty="0">
                <a:latin typeface="Times New Roman" pitchFamily="18" charset="0"/>
                <a:ea typeface="黑体" pitchFamily="2" charset="-122"/>
                <a:sym typeface="Times New Roman" pitchFamily="18" charset="0"/>
              </a:rPr>
              <a:t>1</a:t>
            </a:r>
            <a:r>
              <a:rPr lang="zh-CN" altLang="en-US" dirty="0">
                <a:latin typeface="Times New Roman" pitchFamily="18" charset="0"/>
                <a:ea typeface="黑体" pitchFamily="2" charset="-122"/>
                <a:sym typeface="Times New Roman" pitchFamily="18" charset="0"/>
              </a:rPr>
              <a:t>和</a:t>
            </a:r>
            <a:r>
              <a:rPr lang="en-US" i="1" dirty="0">
                <a:latin typeface="Times New Roman" pitchFamily="18" charset="0"/>
                <a:ea typeface="黑体" pitchFamily="2" charset="-122"/>
                <a:sym typeface="Times New Roman" pitchFamily="18" charset="0"/>
              </a:rPr>
              <a:t>l</a:t>
            </a:r>
            <a:r>
              <a:rPr lang="en-US" baseline="-25000" dirty="0">
                <a:latin typeface="Times New Roman" pitchFamily="18" charset="0"/>
                <a:ea typeface="黑体" pitchFamily="2" charset="-122"/>
                <a:sym typeface="Times New Roman" pitchFamily="18" charset="0"/>
              </a:rPr>
              <a:t>2</a:t>
            </a:r>
            <a:r>
              <a:rPr lang="zh-CN" altLang="en-US" dirty="0">
                <a:latin typeface="Times New Roman" pitchFamily="18" charset="0"/>
                <a:ea typeface="黑体" pitchFamily="2" charset="-122"/>
                <a:sym typeface="Times New Roman" pitchFamily="18" charset="0"/>
              </a:rPr>
              <a:t>，此时人眼直接观察的调焦标准不确定度可由定义式为</a:t>
            </a: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buFont typeface="Wingdings" pitchFamily="2" charset="2"/>
              <a:buNone/>
            </a:pPr>
            <a:r>
              <a:rPr lang="zh-CN" altLang="en-US" dirty="0">
                <a:latin typeface="Times New Roman" pitchFamily="18" charset="0"/>
                <a:ea typeface="黑体" pitchFamily="2" charset="-122"/>
                <a:sym typeface="Times New Roman" pitchFamily="18" charset="0"/>
              </a:rPr>
              <a:t>     式中，</a:t>
            </a:r>
            <a:r>
              <a:rPr lang="en-US" i="1" dirty="0">
                <a:latin typeface="Times New Roman" pitchFamily="18" charset="0"/>
                <a:ea typeface="黑体" pitchFamily="2" charset="-122"/>
                <a:sym typeface="Times New Roman" pitchFamily="18" charset="0"/>
              </a:rPr>
              <a:t>δ</a:t>
            </a:r>
            <a:r>
              <a:rPr lang="zh-CN" altLang="en-US" dirty="0">
                <a:latin typeface="Times New Roman" pitchFamily="18" charset="0"/>
                <a:ea typeface="黑体" pitchFamily="2" charset="-122"/>
                <a:sym typeface="Times New Roman" pitchFamily="18" charset="0"/>
              </a:rPr>
              <a:t>的单位为</a:t>
            </a:r>
            <a:r>
              <a:rPr lang="en-US" dirty="0" err="1">
                <a:latin typeface="Times New Roman" pitchFamily="18" charset="0"/>
                <a:ea typeface="黑体" pitchFamily="2" charset="-122"/>
                <a:sym typeface="Times New Roman" pitchFamily="18" charset="0"/>
              </a:rPr>
              <a:t>rad</a:t>
            </a:r>
            <a:r>
              <a:rPr lang="zh-CN" altLang="en-US" dirty="0">
                <a:latin typeface="Times New Roman" pitchFamily="18" charset="0"/>
                <a:ea typeface="黑体" pitchFamily="2" charset="-122"/>
                <a:sym typeface="Times New Roman" pitchFamily="18" charset="0"/>
              </a:rPr>
              <a:t>，</a:t>
            </a:r>
            <a:r>
              <a:rPr lang="en-US" i="1" dirty="0">
                <a:latin typeface="Times New Roman" pitchFamily="18" charset="0"/>
                <a:ea typeface="黑体" pitchFamily="2" charset="-122"/>
                <a:sym typeface="Times New Roman" pitchFamily="18" charset="0"/>
              </a:rPr>
              <a:t>b</a:t>
            </a:r>
            <a:r>
              <a:rPr lang="zh-CN" altLang="en-US" dirty="0">
                <a:latin typeface="Times New Roman" pitchFamily="18" charset="0"/>
                <a:ea typeface="黑体" pitchFamily="2" charset="-122"/>
                <a:sym typeface="Times New Roman" pitchFamily="18" charset="0"/>
              </a:rPr>
              <a:t>的单位为</a:t>
            </a:r>
            <a:r>
              <a:rPr lang="en-US" dirty="0">
                <a:latin typeface="Times New Roman" pitchFamily="18" charset="0"/>
                <a:ea typeface="黑体" pitchFamily="2" charset="-122"/>
                <a:sym typeface="Times New Roman" pitchFamily="18" charset="0"/>
              </a:rPr>
              <a:t>m</a:t>
            </a:r>
            <a:r>
              <a:rPr lang="zh-CN" altLang="en-US" dirty="0">
                <a:latin typeface="Times New Roman" pitchFamily="18" charset="0"/>
                <a:ea typeface="黑体" pitchFamily="2" charset="-122"/>
                <a:sym typeface="Times New Roman" pitchFamily="18" charset="0"/>
              </a:rPr>
              <a:t>。</a:t>
            </a:r>
            <a:endParaRPr lang="zh-CN" altLang="en-US" dirty="0"/>
          </a:p>
        </p:txBody>
      </p:sp>
      <p:sp>
        <p:nvSpPr>
          <p:cNvPr id="15366"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67"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68"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69"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0"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1"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2"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3"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4" name="Rectangle 12"/>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5" name="Rectangle 13"/>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5376" name="Rectangle 14"/>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5377" name="Object 15"/>
          <p:cNvGraphicFramePr>
            <a:graphicFrameLocks noChangeAspect="1"/>
          </p:cNvGraphicFramePr>
          <p:nvPr/>
        </p:nvGraphicFramePr>
        <p:xfrm>
          <a:off x="3316288" y="4471988"/>
          <a:ext cx="2128837" cy="968375"/>
        </p:xfrm>
        <a:graphic>
          <a:graphicData uri="http://schemas.openxmlformats.org/presentationml/2006/ole">
            <p:oleObj spid="_x0000_s140290" r:id="rId3" imgW="22555517" imgH="10363517" progId="">
              <p:embed/>
            </p:oleObj>
          </a:graphicData>
        </a:graphic>
      </p:graphicFrame>
    </p:spTree>
  </p:cSld>
  <p:clrMapOvr>
    <a:masterClrMapping/>
  </p:clrMapOvr>
  <p:transition>
    <p:circl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6386"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557675EA-7BD5-48FD-9A08-98B5363F5647}" type="slidenum">
              <a:rPr lang="en-US"/>
              <a:pPr algn="r"/>
              <a:t>15</a:t>
            </a:fld>
            <a:endParaRPr lang="en-US" dirty="0"/>
          </a:p>
        </p:txBody>
      </p:sp>
      <p:sp>
        <p:nvSpPr>
          <p:cNvPr id="16387"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3600" b="1" dirty="0">
                <a:solidFill>
                  <a:schemeClr val="tx1"/>
                </a:solidFill>
                <a:latin typeface="Times New Roman" pitchFamily="18" charset="0"/>
                <a:ea typeface="黑体" pitchFamily="2" charset="-122"/>
                <a:sym typeface="Times New Roman" pitchFamily="18" charset="0"/>
              </a:rPr>
              <a:t>§2-1  </a:t>
            </a:r>
            <a:r>
              <a:rPr lang="zh-CN" altLang="en-US" sz="3600" b="1" dirty="0" smtClean="0">
                <a:solidFill>
                  <a:schemeClr val="tx1"/>
                </a:solidFill>
                <a:latin typeface="Times New Roman" pitchFamily="18" charset="0"/>
                <a:ea typeface="黑体" pitchFamily="2" charset="-122"/>
                <a:sym typeface="Times New Roman" pitchFamily="18" charset="0"/>
              </a:rPr>
              <a:t>对准</a:t>
            </a:r>
            <a:r>
              <a:rPr lang="zh-CN" altLang="en-US" sz="3600" b="1" dirty="0">
                <a:solidFill>
                  <a:schemeClr val="tx1"/>
                </a:solidFill>
                <a:latin typeface="Times New Roman" pitchFamily="18" charset="0"/>
                <a:ea typeface="黑体" pitchFamily="2" charset="-122"/>
                <a:sym typeface="Times New Roman" pitchFamily="18" charset="0"/>
              </a:rPr>
              <a:t>和调焦技术</a:t>
            </a:r>
            <a:br>
              <a:rPr lang="zh-CN" altLang="en-US" sz="3600" b="1" dirty="0">
                <a:solidFill>
                  <a:schemeClr val="tx1"/>
                </a:solidFill>
                <a:latin typeface="Times New Roman" pitchFamily="18" charset="0"/>
                <a:ea typeface="黑体" pitchFamily="2" charset="-122"/>
                <a:sym typeface="Times New Roman" pitchFamily="18" charset="0"/>
              </a:rPr>
            </a:br>
            <a:r>
              <a:rPr lang="zh-CN" altLang="en-US" sz="1000" b="1" dirty="0">
                <a:solidFill>
                  <a:schemeClr val="tx1"/>
                </a:solidFill>
                <a:latin typeface="Times New Roman" pitchFamily="18" charset="0"/>
                <a:ea typeface="黑体" pitchFamily="2" charset="-122"/>
                <a:sym typeface="Times New Roman" pitchFamily="18" charset="0"/>
              </a:rPr>
              <a:t/>
            </a:r>
            <a:br>
              <a:rPr lang="zh-CN" altLang="en-US" sz="1000" b="1" dirty="0">
                <a:solidFill>
                  <a:schemeClr val="tx1"/>
                </a:solidFill>
                <a:latin typeface="Times New Roman" pitchFamily="18" charset="0"/>
                <a:ea typeface="黑体" pitchFamily="2" charset="-122"/>
                <a:sym typeface="Times New Roman" pitchFamily="18" charset="0"/>
              </a:rPr>
            </a:br>
            <a:r>
              <a:rPr lang="zh-CN" altLang="en-US" sz="2800" b="1" dirty="0">
                <a:solidFill>
                  <a:schemeClr val="tx1"/>
                </a:solidFill>
                <a:latin typeface="Times New Roman" pitchFamily="18" charset="0"/>
                <a:ea typeface="黑体" pitchFamily="2" charset="-122"/>
                <a:sym typeface="Times New Roman" pitchFamily="18" charset="0"/>
              </a:rPr>
              <a:t>2</a:t>
            </a:r>
            <a:r>
              <a:rPr lang="en-US" sz="2800" b="1" dirty="0">
                <a:solidFill>
                  <a:schemeClr val="tx1"/>
                </a:solidFill>
                <a:latin typeface="Times New Roman" pitchFamily="18" charset="0"/>
                <a:ea typeface="黑体" pitchFamily="2" charset="-122"/>
                <a:sym typeface="Times New Roman" pitchFamily="18" charset="0"/>
              </a:rPr>
              <a:t>. </a:t>
            </a:r>
            <a:r>
              <a:rPr lang="zh-CN" altLang="en-US" sz="2800" b="1" dirty="0">
                <a:solidFill>
                  <a:schemeClr val="tx1"/>
                </a:solidFill>
                <a:latin typeface="Times New Roman" pitchFamily="18" charset="0"/>
                <a:ea typeface="黑体" pitchFamily="2" charset="-122"/>
                <a:sym typeface="Times New Roman" pitchFamily="18" charset="0"/>
              </a:rPr>
              <a:t>目视系统的对准和调焦</a:t>
            </a:r>
          </a:p>
        </p:txBody>
      </p:sp>
      <p:sp>
        <p:nvSpPr>
          <p:cNvPr id="16388" name="Rectangle 3"/>
          <p:cNvSpPr>
            <a:spLocks noGrp="1" noRot="1" noChangeArrowheads="1"/>
          </p:cNvSpPr>
          <p:nvPr>
            <p:ph type="body" idx="4294967295"/>
          </p:nvPr>
        </p:nvSpPr>
        <p:spPr bwMode="auto">
          <a:xfrm>
            <a:off x="471488" y="1960563"/>
            <a:ext cx="8229600" cy="3763343"/>
          </a:xfrm>
          <a:prstGeom prst="rect">
            <a:avLst/>
          </a:prstGeom>
          <a:noFill/>
          <a:ln/>
        </p:spPr>
        <p:txBody>
          <a:bodyPr/>
          <a:lstStyle/>
          <a:p>
            <a:pPr eaLnBrk="1" hangingPunct="1">
              <a:lnSpc>
                <a:spcPct val="120000"/>
              </a:lnSpc>
              <a:buFont typeface="Wingdings" pitchFamily="2" charset="2"/>
              <a:buNone/>
            </a:pPr>
            <a:r>
              <a:rPr lang="zh-CN" altLang="en-US" dirty="0">
                <a:latin typeface="Times New Roman" pitchFamily="18" charset="0"/>
                <a:ea typeface="黑体" pitchFamily="2" charset="-122"/>
                <a:sym typeface="Times New Roman" pitchFamily="18" charset="0"/>
              </a:rPr>
              <a:t>望远系统：</a:t>
            </a:r>
          </a:p>
          <a:p>
            <a:pPr eaLnBrk="1" hangingPunct="1">
              <a:lnSpc>
                <a:spcPct val="120000"/>
              </a:lnSpc>
              <a:buSzPct val="100000"/>
              <a:buFont typeface="Wingdings" pitchFamily="2" charset="2"/>
              <a:buChar char="n"/>
            </a:pPr>
            <a:r>
              <a:rPr lang="zh-CN" altLang="en-US" dirty="0">
                <a:latin typeface="Times New Roman" pitchFamily="18" charset="0"/>
                <a:ea typeface="黑体" pitchFamily="2" charset="-122"/>
                <a:sym typeface="Times New Roman" pitchFamily="18" charset="0"/>
              </a:rPr>
              <a:t>望远系统的对准标准不确定度</a:t>
            </a:r>
          </a:p>
          <a:p>
            <a:pPr eaLnBrk="1" hangingPunct="1">
              <a:lnSpc>
                <a:spcPct val="120000"/>
              </a:lnSpc>
              <a:buSzPct val="100000"/>
              <a:buFont typeface="Wingdings" pitchFamily="2" charset="2"/>
              <a:buChar char="n"/>
            </a:pPr>
            <a:endParaRPr lang="zh-CN" altLang="en-US" dirty="0">
              <a:latin typeface="Times New Roman" pitchFamily="18" charset="0"/>
              <a:ea typeface="黑体" pitchFamily="2" charset="-122"/>
              <a:sym typeface="Times New Roman" pitchFamily="18" charset="0"/>
            </a:endParaRPr>
          </a:p>
          <a:p>
            <a:pPr eaLnBrk="1" hangingPunct="1">
              <a:lnSpc>
                <a:spcPct val="120000"/>
              </a:lnSpc>
              <a:buSzPct val="100000"/>
              <a:buFont typeface="Wingdings" pitchFamily="2" charset="2"/>
              <a:buChar char="n"/>
            </a:pPr>
            <a:r>
              <a:rPr lang="zh-CN" altLang="en-US" dirty="0">
                <a:latin typeface="Times New Roman" pitchFamily="18" charset="0"/>
                <a:ea typeface="黑体" pitchFamily="2" charset="-122"/>
                <a:sym typeface="Times New Roman" pitchFamily="18" charset="0"/>
              </a:rPr>
              <a:t>望远系统的调焦标准不确定度</a:t>
            </a: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pPr>
            <a:endParaRPr lang="zh-CN" altLang="en-US" dirty="0">
              <a:latin typeface="Times New Roman" pitchFamily="18" charset="0"/>
              <a:ea typeface="黑体" pitchFamily="2" charset="-122"/>
              <a:sym typeface="Times New Roman" pitchFamily="18" charset="0"/>
            </a:endParaRPr>
          </a:p>
          <a:p>
            <a:pPr eaLnBrk="1" hangingPunct="1">
              <a:lnSpc>
                <a:spcPct val="120000"/>
              </a:lnSpc>
            </a:pPr>
            <a:r>
              <a:rPr lang="zh-CN" altLang="en-US" dirty="0">
                <a:latin typeface="Times New Roman" pitchFamily="18" charset="0"/>
                <a:ea typeface="黑体" pitchFamily="2" charset="-122"/>
                <a:sym typeface="Times New Roman" pitchFamily="18" charset="0"/>
              </a:rPr>
              <a:t>望远系统的放大率为</a:t>
            </a:r>
            <a:r>
              <a:rPr lang="en-US" i="1" dirty="0">
                <a:latin typeface="Times New Roman" pitchFamily="18" charset="0"/>
                <a:ea typeface="黑体" pitchFamily="2" charset="-122"/>
                <a:sym typeface="Times New Roman" pitchFamily="18" charset="0"/>
              </a:rPr>
              <a:t>Γ</a:t>
            </a:r>
            <a:r>
              <a:rPr lang="zh-CN" altLang="en-US" dirty="0">
                <a:latin typeface="Times New Roman" pitchFamily="18" charset="0"/>
                <a:ea typeface="黑体" pitchFamily="2" charset="-122"/>
                <a:sym typeface="Times New Roman" pitchFamily="18" charset="0"/>
              </a:rPr>
              <a:t>。                                                          </a:t>
            </a:r>
            <a:endParaRPr lang="zh-CN" altLang="en-US" dirty="0"/>
          </a:p>
        </p:txBody>
      </p:sp>
      <p:sp>
        <p:nvSpPr>
          <p:cNvPr id="16389"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0"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1"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2"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3"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4"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5"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6"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7" name="Rectangle 12"/>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8" name="Rectangle 13"/>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9" name="Rectangle 14"/>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400" name="Rectangle 15"/>
          <p:cNvSpPr>
            <a:spLocks noChangeArrowheads="1"/>
          </p:cNvSpPr>
          <p:nvPr/>
        </p:nvSpPr>
        <p:spPr bwMode="auto">
          <a:xfrm>
            <a:off x="0" y="323373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6401" name="Object 16"/>
          <p:cNvGraphicFramePr>
            <a:graphicFrameLocks noChangeAspect="1"/>
          </p:cNvGraphicFramePr>
          <p:nvPr/>
        </p:nvGraphicFramePr>
        <p:xfrm>
          <a:off x="5767388" y="2305050"/>
          <a:ext cx="966787" cy="920750"/>
        </p:xfrm>
        <a:graphic>
          <a:graphicData uri="http://schemas.openxmlformats.org/presentationml/2006/ole">
            <p:oleObj spid="_x0000_s141314" r:id="rId3" imgW="9753917" imgH="9449117" progId="">
              <p:embed/>
            </p:oleObj>
          </a:graphicData>
        </a:graphic>
      </p:graphicFrame>
      <p:graphicFrame>
        <p:nvGraphicFramePr>
          <p:cNvPr id="16402" name="Object 17"/>
          <p:cNvGraphicFramePr>
            <a:graphicFrameLocks noChangeAspect="1"/>
          </p:cNvGraphicFramePr>
          <p:nvPr/>
        </p:nvGraphicFramePr>
        <p:xfrm>
          <a:off x="5743575" y="3406775"/>
          <a:ext cx="1085850" cy="927100"/>
        </p:xfrm>
        <a:graphic>
          <a:graphicData uri="http://schemas.openxmlformats.org/presentationml/2006/ole">
            <p:oleObj spid="_x0000_s141315" r:id="rId4" imgW="10973117" imgH="9449117" progId="Equation.3">
              <p:embed/>
            </p:oleObj>
          </a:graphicData>
        </a:graphic>
      </p:graphicFrame>
    </p:spTree>
  </p:cSld>
  <p:clrMapOvr>
    <a:masterClrMapping/>
  </p:clrMapOvr>
  <p:transition>
    <p:circl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6386"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557675EA-7BD5-48FD-9A08-98B5363F5647}" type="slidenum">
              <a:rPr lang="en-US"/>
              <a:pPr algn="r"/>
              <a:t>16</a:t>
            </a:fld>
            <a:endParaRPr lang="en-US" dirty="0"/>
          </a:p>
        </p:txBody>
      </p:sp>
      <p:sp>
        <p:nvSpPr>
          <p:cNvPr id="16387" name="Rectangle 2"/>
          <p:cNvSpPr>
            <a:spLocks noGrp="1" noRot="1" noChangeArrowheads="1"/>
          </p:cNvSpPr>
          <p:nvPr>
            <p:ph type="title" idx="4294967295"/>
          </p:nvPr>
        </p:nvSpPr>
        <p:spPr bwMode="auto">
          <a:xfrm>
            <a:off x="457200" y="635000"/>
            <a:ext cx="8229600" cy="1139825"/>
          </a:xfrm>
          <a:prstGeom prst="rect">
            <a:avLst/>
          </a:prstGeom>
          <a:noFill/>
          <a:ln>
            <a:miter lim="800000"/>
            <a:headEnd/>
            <a:tailEnd/>
          </a:ln>
        </p:spPr>
        <p:txBody>
          <a:bodyPr/>
          <a:lstStyle/>
          <a:p>
            <a:pPr algn="l" eaLnBrk="1" hangingPunct="1"/>
            <a:r>
              <a:rPr lang="en-US" sz="3600" b="1" dirty="0">
                <a:solidFill>
                  <a:schemeClr val="tx1"/>
                </a:solidFill>
                <a:latin typeface="Times New Roman" pitchFamily="18" charset="0"/>
                <a:ea typeface="黑体" pitchFamily="2" charset="-122"/>
                <a:sym typeface="Times New Roman" pitchFamily="18" charset="0"/>
              </a:rPr>
              <a:t>§2-1  </a:t>
            </a:r>
            <a:r>
              <a:rPr lang="zh-CN" altLang="en-US" sz="3600" b="1" dirty="0" smtClean="0">
                <a:solidFill>
                  <a:schemeClr val="tx1"/>
                </a:solidFill>
                <a:latin typeface="Times New Roman" pitchFamily="18" charset="0"/>
                <a:ea typeface="黑体" pitchFamily="2" charset="-122"/>
                <a:sym typeface="Times New Roman" pitchFamily="18" charset="0"/>
              </a:rPr>
              <a:t>对准</a:t>
            </a:r>
            <a:r>
              <a:rPr lang="zh-CN" altLang="en-US" sz="3600" b="1" dirty="0">
                <a:solidFill>
                  <a:schemeClr val="tx1"/>
                </a:solidFill>
                <a:latin typeface="Times New Roman" pitchFamily="18" charset="0"/>
                <a:ea typeface="黑体" pitchFamily="2" charset="-122"/>
                <a:sym typeface="Times New Roman" pitchFamily="18" charset="0"/>
              </a:rPr>
              <a:t>和调焦技术</a:t>
            </a:r>
            <a:br>
              <a:rPr lang="zh-CN" altLang="en-US" sz="3600" b="1" dirty="0">
                <a:solidFill>
                  <a:schemeClr val="tx1"/>
                </a:solidFill>
                <a:latin typeface="Times New Roman" pitchFamily="18" charset="0"/>
                <a:ea typeface="黑体" pitchFamily="2" charset="-122"/>
                <a:sym typeface="Times New Roman" pitchFamily="18" charset="0"/>
              </a:rPr>
            </a:br>
            <a:r>
              <a:rPr lang="zh-CN" altLang="en-US" sz="1000" b="1" dirty="0">
                <a:solidFill>
                  <a:schemeClr val="tx1"/>
                </a:solidFill>
                <a:latin typeface="Times New Roman" pitchFamily="18" charset="0"/>
                <a:ea typeface="黑体" pitchFamily="2" charset="-122"/>
                <a:sym typeface="Times New Roman" pitchFamily="18" charset="0"/>
              </a:rPr>
              <a:t/>
            </a:r>
            <a:br>
              <a:rPr lang="zh-CN" altLang="en-US" sz="1000" b="1" dirty="0">
                <a:solidFill>
                  <a:schemeClr val="tx1"/>
                </a:solidFill>
                <a:latin typeface="Times New Roman" pitchFamily="18" charset="0"/>
                <a:ea typeface="黑体" pitchFamily="2" charset="-122"/>
                <a:sym typeface="Times New Roman" pitchFamily="18" charset="0"/>
              </a:rPr>
            </a:br>
            <a:r>
              <a:rPr lang="zh-CN" altLang="en-US" sz="2800" b="1" dirty="0">
                <a:solidFill>
                  <a:schemeClr val="tx1"/>
                </a:solidFill>
                <a:latin typeface="Times New Roman" pitchFamily="18" charset="0"/>
                <a:ea typeface="黑体" pitchFamily="2" charset="-122"/>
                <a:sym typeface="Times New Roman" pitchFamily="18" charset="0"/>
              </a:rPr>
              <a:t>2</a:t>
            </a:r>
            <a:r>
              <a:rPr lang="en-US" sz="2800" b="1" dirty="0">
                <a:solidFill>
                  <a:schemeClr val="tx1"/>
                </a:solidFill>
                <a:latin typeface="Times New Roman" pitchFamily="18" charset="0"/>
                <a:ea typeface="黑体" pitchFamily="2" charset="-122"/>
                <a:sym typeface="Times New Roman" pitchFamily="18" charset="0"/>
              </a:rPr>
              <a:t>. </a:t>
            </a:r>
            <a:r>
              <a:rPr lang="zh-CN" altLang="en-US" sz="2800" b="1" dirty="0">
                <a:solidFill>
                  <a:schemeClr val="tx1"/>
                </a:solidFill>
                <a:latin typeface="Times New Roman" pitchFamily="18" charset="0"/>
                <a:ea typeface="黑体" pitchFamily="2" charset="-122"/>
                <a:sym typeface="Times New Roman" pitchFamily="18" charset="0"/>
              </a:rPr>
              <a:t>目视系统的对准和调焦</a:t>
            </a:r>
          </a:p>
        </p:txBody>
      </p:sp>
      <p:sp>
        <p:nvSpPr>
          <p:cNvPr id="16389"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0"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1"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2"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3"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4" name="Rectangle 9"/>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5" name="Rectangle 10"/>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6" name="Rectangle 11"/>
          <p:cNvSpPr>
            <a:spLocks noChangeArrowheads="1"/>
          </p:cNvSpPr>
          <p:nvPr/>
        </p:nvSpPr>
        <p:spPr bwMode="auto">
          <a:xfrm>
            <a:off x="0" y="32004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7" name="Rectangle 12"/>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8" name="Rectangle 13"/>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399" name="Rectangle 14"/>
          <p:cNvSpPr>
            <a:spLocks noChangeArrowheads="1"/>
          </p:cNvSpPr>
          <p:nvPr/>
        </p:nvSpPr>
        <p:spPr bwMode="auto">
          <a:xfrm>
            <a:off x="0" y="32146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6400" name="Rectangle 15"/>
          <p:cNvSpPr>
            <a:spLocks noChangeArrowheads="1"/>
          </p:cNvSpPr>
          <p:nvPr/>
        </p:nvSpPr>
        <p:spPr bwMode="auto">
          <a:xfrm>
            <a:off x="0" y="323373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20" name="Rectangle 3"/>
          <p:cNvSpPr txBox="1">
            <a:spLocks noRot="1" noChangeArrowheads="1"/>
          </p:cNvSpPr>
          <p:nvPr/>
        </p:nvSpPr>
        <p:spPr>
          <a:xfrm>
            <a:off x="471488" y="1960563"/>
            <a:ext cx="8229600" cy="4805362"/>
          </a:xfrm>
          <a:prstGeom prst="rect">
            <a:avLst/>
          </a:prstGeom>
          <a:ln/>
        </p:spPr>
        <p:txBody>
          <a:bodyPr/>
          <a:lstStyle/>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显微系统：</a:t>
            </a:r>
          </a:p>
          <a:p>
            <a:pPr marL="342900" marR="0" lvl="0" indent="-342900" algn="l" defTabSz="914400" rtl="0" eaLnBrk="1" fontAlgn="base" latinLnBrk="0" hangingPunct="1">
              <a:lnSpc>
                <a:spcPct val="120000"/>
              </a:lnSpc>
              <a:spcBef>
                <a:spcPct val="20000"/>
              </a:spcBef>
              <a:spcAft>
                <a:spcPct val="0"/>
              </a:spcAft>
              <a:buClr>
                <a:schemeClr val="hlink"/>
              </a:buClr>
              <a:buSzPct val="100000"/>
              <a:buFont typeface="Wingdings" pitchFamily="2" charset="2"/>
              <a:buChar char="n"/>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显微系统的对准标准不确定度</a:t>
            </a:r>
          </a:p>
          <a:p>
            <a:pPr marL="342900" marR="0" lvl="0" indent="-342900" algn="l" defTabSz="914400" rtl="0" eaLnBrk="1" fontAlgn="base" latinLnBrk="0" hangingPunct="1">
              <a:lnSpc>
                <a:spcPct val="120000"/>
              </a:lnSpc>
              <a:spcBef>
                <a:spcPct val="20000"/>
              </a:spcBef>
              <a:spcAft>
                <a:spcPct val="0"/>
              </a:spcAft>
              <a:buClr>
                <a:schemeClr val="hlink"/>
              </a:buClr>
              <a:buSzPct val="100000"/>
              <a:buFont typeface="Wingdings" pitchFamily="2" charset="2"/>
              <a:buChar char="n"/>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显微系统的调焦标准不确定度</a:t>
            </a:r>
          </a:p>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清晰度法：</a:t>
            </a:r>
          </a:p>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endPar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endParaRPr>
          </a:p>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消视差法：</a:t>
            </a:r>
          </a:p>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endPar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endParaRPr>
          </a:p>
          <a:p>
            <a:pPr marL="342900" marR="0" lvl="0" indent="-342900" algn="l" defTabSz="914400" rtl="0" eaLnBrk="1" fontAlgn="base" latinLnBrk="0" hangingPunct="1">
              <a:lnSpc>
                <a:spcPct val="120000"/>
              </a:lnSpc>
              <a:spcBef>
                <a:spcPct val="20000"/>
              </a:spcBef>
              <a:spcAft>
                <a:spcPct val="0"/>
              </a:spcAft>
              <a:buClr>
                <a:schemeClr val="hlink"/>
              </a:buClr>
              <a:buSzTx/>
              <a:buFont typeface="Wingdings" pitchFamily="2" charset="2"/>
              <a:buChar char="§"/>
              <a:tabLst/>
              <a:defRPr/>
            </a:pPr>
            <a:r>
              <a:rPr kumimoji="0" 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n-cs"/>
                <a:sym typeface="Times New Roman" pitchFamily="18" charset="0"/>
              </a:rPr>
              <a:t>把显微系统看作一个放大率较大的放大镜，其等效焦距为                                             </a:t>
            </a:r>
            <a:endParaRPr kumimoji="0" lang="zh-CN"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endParaRPr>
          </a:p>
        </p:txBody>
      </p:sp>
      <p:graphicFrame>
        <p:nvGraphicFramePr>
          <p:cNvPr id="21" name="Object 18"/>
          <p:cNvGraphicFramePr>
            <a:graphicFrameLocks noChangeAspect="1"/>
          </p:cNvGraphicFramePr>
          <p:nvPr/>
        </p:nvGraphicFramePr>
        <p:xfrm>
          <a:off x="5202238" y="2200275"/>
          <a:ext cx="1609725" cy="868363"/>
        </p:xfrm>
        <a:graphic>
          <a:graphicData uri="http://schemas.openxmlformats.org/presentationml/2006/ole">
            <p:oleObj spid="_x0000_s144388" r:id="rId3" imgW="17373917" imgH="9449117" progId="Equation.3">
              <p:embed/>
            </p:oleObj>
          </a:graphicData>
        </a:graphic>
      </p:graphicFrame>
      <p:graphicFrame>
        <p:nvGraphicFramePr>
          <p:cNvPr id="22" name="Object 25"/>
          <p:cNvGraphicFramePr>
            <a:graphicFrameLocks noChangeAspect="1"/>
          </p:cNvGraphicFramePr>
          <p:nvPr/>
        </p:nvGraphicFramePr>
        <p:xfrm>
          <a:off x="3376613" y="3511738"/>
          <a:ext cx="4281487" cy="1109662"/>
        </p:xfrm>
        <a:graphic>
          <a:graphicData uri="http://schemas.openxmlformats.org/presentationml/2006/ole">
            <p:oleObj spid="_x0000_s144389" r:id="rId4" imgW="49377917" imgH="12801917" progId="Equation.3">
              <p:embed/>
            </p:oleObj>
          </a:graphicData>
        </a:graphic>
      </p:graphicFrame>
      <p:graphicFrame>
        <p:nvGraphicFramePr>
          <p:cNvPr id="23" name="Object 18"/>
          <p:cNvGraphicFramePr>
            <a:graphicFrameLocks noChangeAspect="1"/>
          </p:cNvGraphicFramePr>
          <p:nvPr/>
        </p:nvGraphicFramePr>
        <p:xfrm>
          <a:off x="3375025" y="4607113"/>
          <a:ext cx="2711450" cy="1004887"/>
        </p:xfrm>
        <a:graphic>
          <a:graphicData uri="http://schemas.openxmlformats.org/presentationml/2006/ole">
            <p:oleObj spid="_x0000_s144390" r:id="rId5" imgW="27432317" imgH="10058717" progId="Equation.3">
              <p:embed/>
            </p:oleObj>
          </a:graphicData>
        </a:graphic>
      </p:graphicFrame>
      <p:grpSp>
        <p:nvGrpSpPr>
          <p:cNvPr id="24" name="Group 18"/>
          <p:cNvGrpSpPr>
            <a:grpSpLocks/>
          </p:cNvGrpSpPr>
          <p:nvPr/>
        </p:nvGrpSpPr>
        <p:grpSpPr bwMode="auto">
          <a:xfrm>
            <a:off x="3786188" y="6016625"/>
            <a:ext cx="1971675" cy="774700"/>
            <a:chOff x="0" y="0"/>
            <a:chExt cx="1242" cy="488"/>
          </a:xfrm>
        </p:grpSpPr>
        <p:graphicFrame>
          <p:nvGraphicFramePr>
            <p:cNvPr id="25" name="Object 19"/>
            <p:cNvGraphicFramePr>
              <a:graphicFrameLocks noChangeAspect="1"/>
            </p:cNvGraphicFramePr>
            <p:nvPr/>
          </p:nvGraphicFramePr>
          <p:xfrm>
            <a:off x="0" y="0"/>
            <a:ext cx="846" cy="488"/>
          </p:xfrm>
          <a:graphic>
            <a:graphicData uri="http://schemas.openxmlformats.org/presentationml/2006/ole">
              <p:oleObj spid="_x0000_s144391" r:id="rId6" imgW="16154717" imgH="9449117" progId="Equation.3">
                <p:embed/>
              </p:oleObj>
            </a:graphicData>
          </a:graphic>
        </p:graphicFrame>
        <p:sp>
          <p:nvSpPr>
            <p:cNvPr id="26" name="Rectangle 20"/>
            <p:cNvSpPr>
              <a:spLocks noChangeArrowheads="1"/>
            </p:cNvSpPr>
            <p:nvPr/>
          </p:nvSpPr>
          <p:spPr bwMode="auto">
            <a:xfrm>
              <a:off x="828" y="111"/>
              <a:ext cx="414" cy="288"/>
            </a:xfrm>
            <a:prstGeom prst="rect">
              <a:avLst/>
            </a:prstGeom>
            <a:solidFill>
              <a:schemeClr val="accent1"/>
            </a:solidFill>
            <a:ln w="9525" cap="flat" cmpd="sng">
              <a:noFill/>
              <a:miter lim="800000"/>
              <a:headEnd/>
              <a:tailEnd/>
            </a:ln>
            <a:effectLst/>
          </p:spPr>
          <p:txBody>
            <a:bodyPr wrap="none" anchor="ctr">
              <a:spAutoFit/>
            </a:bodyPr>
            <a:lstStyle/>
            <a:p>
              <a:r>
                <a:rPr lang="en-US" sz="2400">
                  <a:solidFill>
                    <a:srgbClr val="003300"/>
                  </a:solidFill>
                  <a:latin typeface="Times New Roman" pitchFamily="18" charset="0"/>
                  <a:sym typeface="Times New Roman" pitchFamily="18" charset="0"/>
                </a:rPr>
                <a:t>mm</a:t>
              </a:r>
              <a:endParaRPr lang="en-US" sz="2400">
                <a:solidFill>
                  <a:srgbClr val="003300"/>
                </a:solidFill>
                <a:sym typeface="Arial" pitchFamily="34" charset="0"/>
              </a:endParaRPr>
            </a:p>
          </p:txBody>
        </p:sp>
      </p:grpSp>
    </p:spTree>
  </p:cSld>
  <p:clrMapOvr>
    <a:masterClrMapping/>
  </p:clrMapOvr>
  <p:transition>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8434"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252F360E-4576-42DE-A94E-2D7A4E1223E2}" type="slidenum">
              <a:rPr lang="en-US"/>
              <a:pPr algn="r"/>
              <a:t>17</a:t>
            </a:fld>
            <a:endParaRPr lang="en-US"/>
          </a:p>
        </p:txBody>
      </p:sp>
      <p:sp>
        <p:nvSpPr>
          <p:cNvPr id="18435" name="Rectangle 2"/>
          <p:cNvSpPr>
            <a:spLocks noGrp="1" noRot="1" noChangeArrowheads="1"/>
          </p:cNvSpPr>
          <p:nvPr>
            <p:ph type="title" idx="4294967295"/>
          </p:nvPr>
        </p:nvSpPr>
        <p:spPr bwMode="auto">
          <a:xfrm>
            <a:off x="457200" y="635000"/>
            <a:ext cx="8229600" cy="1404938"/>
          </a:xfrm>
          <a:prstGeom prst="rect">
            <a:avLst/>
          </a:prstGeom>
          <a:noFill/>
          <a:ln>
            <a:miter lim="800000"/>
            <a:headEnd/>
            <a:tailEnd/>
          </a:ln>
        </p:spPr>
        <p:txBody>
          <a:bodyPr/>
          <a:lstStyle/>
          <a:p>
            <a:pPr algn="l" eaLnBrk="1" hangingPunct="1"/>
            <a:r>
              <a:rPr lang="en-US" sz="3600" b="1" dirty="0">
                <a:solidFill>
                  <a:schemeClr val="tx1"/>
                </a:solidFill>
                <a:latin typeface="Times New Roman" pitchFamily="18" charset="0"/>
                <a:ea typeface="黑体" pitchFamily="2" charset="-122"/>
                <a:sym typeface="Times New Roman" pitchFamily="18" charset="0"/>
              </a:rPr>
              <a:t>§2-1  </a:t>
            </a:r>
            <a:r>
              <a:rPr lang="zh-CN" altLang="en-US" sz="3600" b="1" dirty="0" smtClean="0">
                <a:solidFill>
                  <a:schemeClr val="tx1"/>
                </a:solidFill>
                <a:latin typeface="Times New Roman" pitchFamily="18" charset="0"/>
                <a:ea typeface="黑体" pitchFamily="2" charset="-122"/>
                <a:sym typeface="Times New Roman" pitchFamily="18" charset="0"/>
              </a:rPr>
              <a:t>对准</a:t>
            </a:r>
            <a:r>
              <a:rPr lang="zh-CN" altLang="en-US" sz="3600" b="1" dirty="0">
                <a:solidFill>
                  <a:schemeClr val="tx1"/>
                </a:solidFill>
                <a:latin typeface="Times New Roman" pitchFamily="18" charset="0"/>
                <a:ea typeface="黑体" pitchFamily="2" charset="-122"/>
                <a:sym typeface="Times New Roman" pitchFamily="18" charset="0"/>
              </a:rPr>
              <a:t>和调焦技术</a:t>
            </a:r>
            <a:br>
              <a:rPr lang="zh-CN" altLang="en-US" sz="3600" b="1" dirty="0">
                <a:solidFill>
                  <a:schemeClr val="tx1"/>
                </a:solidFill>
                <a:latin typeface="Times New Roman" pitchFamily="18" charset="0"/>
                <a:ea typeface="黑体" pitchFamily="2" charset="-122"/>
                <a:sym typeface="Times New Roman" pitchFamily="18" charset="0"/>
              </a:rPr>
            </a:br>
            <a:r>
              <a:rPr lang="zh-CN" altLang="en-US" sz="1000" b="1" dirty="0">
                <a:solidFill>
                  <a:schemeClr val="tx1"/>
                </a:solidFill>
                <a:latin typeface="Times New Roman" pitchFamily="18" charset="0"/>
                <a:ea typeface="黑体" pitchFamily="2" charset="-122"/>
                <a:sym typeface="Times New Roman" pitchFamily="18" charset="0"/>
              </a:rPr>
              <a:t/>
            </a:r>
            <a:br>
              <a:rPr lang="zh-CN" altLang="en-US" sz="1000" b="1" dirty="0">
                <a:solidFill>
                  <a:schemeClr val="tx1"/>
                </a:solidFill>
                <a:latin typeface="Times New Roman" pitchFamily="18" charset="0"/>
                <a:ea typeface="黑体" pitchFamily="2" charset="-122"/>
                <a:sym typeface="Times New Roman" pitchFamily="18" charset="0"/>
              </a:rPr>
            </a:br>
            <a:r>
              <a:rPr lang="zh-CN" altLang="en-US" sz="2800" b="1" dirty="0">
                <a:solidFill>
                  <a:schemeClr val="tx1"/>
                </a:solidFill>
                <a:latin typeface="Times New Roman" pitchFamily="18" charset="0"/>
                <a:ea typeface="黑体" pitchFamily="2" charset="-122"/>
                <a:sym typeface="Times New Roman" pitchFamily="18" charset="0"/>
              </a:rPr>
              <a:t>2</a:t>
            </a:r>
            <a:r>
              <a:rPr lang="en-US" sz="2800" b="1" dirty="0">
                <a:solidFill>
                  <a:schemeClr val="tx1"/>
                </a:solidFill>
                <a:latin typeface="Times New Roman" pitchFamily="18" charset="0"/>
                <a:ea typeface="黑体" pitchFamily="2" charset="-122"/>
                <a:sym typeface="Times New Roman" pitchFamily="18" charset="0"/>
              </a:rPr>
              <a:t>. </a:t>
            </a:r>
            <a:r>
              <a:rPr lang="zh-CN" altLang="en-US" sz="2800" b="1" dirty="0">
                <a:solidFill>
                  <a:schemeClr val="tx1"/>
                </a:solidFill>
                <a:latin typeface="Times New Roman" pitchFamily="18" charset="0"/>
                <a:ea typeface="黑体" pitchFamily="2" charset="-122"/>
                <a:sym typeface="Times New Roman" pitchFamily="18" charset="0"/>
              </a:rPr>
              <a:t>目视系统的对准和调焦</a:t>
            </a:r>
          </a:p>
        </p:txBody>
      </p:sp>
      <p:sp>
        <p:nvSpPr>
          <p:cNvPr id="18436" name="Rectangle 3"/>
          <p:cNvSpPr>
            <a:spLocks noGrp="1" noRot="1" noChangeArrowheads="1"/>
          </p:cNvSpPr>
          <p:nvPr>
            <p:ph type="body" idx="4294967295"/>
          </p:nvPr>
        </p:nvSpPr>
        <p:spPr bwMode="auto">
          <a:xfrm>
            <a:off x="471488" y="1960563"/>
            <a:ext cx="8358187" cy="4805362"/>
          </a:xfrm>
          <a:prstGeom prst="rect">
            <a:avLst/>
          </a:prstGeom>
          <a:noFill/>
          <a:ln/>
        </p:spPr>
        <p:txBody>
          <a:bodyPr/>
          <a:lstStyle/>
          <a:p>
            <a:pPr eaLnBrk="1" hangingPunct="1"/>
            <a:r>
              <a:rPr lang="zh-CN" altLang="en-US">
                <a:latin typeface="Times New Roman" pitchFamily="18" charset="0"/>
                <a:ea typeface="黑体" pitchFamily="2" charset="-122"/>
                <a:sym typeface="Times New Roman" pitchFamily="18" charset="0"/>
              </a:rPr>
              <a:t>关于对准标准不确定度的讨论</a:t>
            </a:r>
          </a:p>
          <a:p>
            <a:pPr lvl="1" eaLnBrk="1" hangingPunct="1"/>
            <a:r>
              <a:rPr lang="zh-CN" altLang="en-US">
                <a:latin typeface="Times New Roman" pitchFamily="18" charset="0"/>
                <a:ea typeface="黑体" pitchFamily="2" charset="-122"/>
                <a:sym typeface="Times New Roman" pitchFamily="18" charset="0"/>
              </a:rPr>
              <a:t>由公式可以看出，对准的标准不确定度与放大率</a:t>
            </a:r>
            <a:r>
              <a:rPr lang="en-US" i="1">
                <a:latin typeface="Times New Roman" pitchFamily="18" charset="0"/>
                <a:ea typeface="黑体" pitchFamily="2" charset="-122"/>
                <a:sym typeface="Times New Roman" pitchFamily="18" charset="0"/>
              </a:rPr>
              <a:t>Γ</a:t>
            </a:r>
            <a:r>
              <a:rPr lang="zh-CN" altLang="en-US">
                <a:latin typeface="Times New Roman" pitchFamily="18" charset="0"/>
                <a:ea typeface="黑体" pitchFamily="2" charset="-122"/>
                <a:sym typeface="Times New Roman" pitchFamily="18" charset="0"/>
              </a:rPr>
              <a:t>成反比。是否可以认为，只要单纯增大</a:t>
            </a:r>
            <a:r>
              <a:rPr lang="en-US" i="1">
                <a:latin typeface="Times New Roman" pitchFamily="18" charset="0"/>
                <a:ea typeface="黑体" pitchFamily="2" charset="-122"/>
                <a:sym typeface="Times New Roman" pitchFamily="18" charset="0"/>
              </a:rPr>
              <a:t>Γ</a:t>
            </a:r>
            <a:r>
              <a:rPr lang="zh-CN" altLang="en-US">
                <a:latin typeface="Times New Roman" pitchFamily="18" charset="0"/>
                <a:ea typeface="黑体" pitchFamily="2" charset="-122"/>
                <a:sym typeface="Times New Roman" pitchFamily="18" charset="0"/>
              </a:rPr>
              <a:t>，对准的标准不确定度必然减小呢？实践证明，</a:t>
            </a:r>
            <a:r>
              <a:rPr lang="zh-CN" altLang="en-US">
                <a:solidFill>
                  <a:srgbClr val="FF0000"/>
                </a:solidFill>
                <a:latin typeface="Times New Roman" pitchFamily="18" charset="0"/>
                <a:ea typeface="黑体" pitchFamily="2" charset="-122"/>
                <a:sym typeface="Times New Roman" pitchFamily="18" charset="0"/>
              </a:rPr>
              <a:t>对准标准不确定度的减小还受到光学仪器分辨率的限制</a:t>
            </a:r>
            <a:r>
              <a:rPr lang="zh-CN" altLang="en-US">
                <a:latin typeface="Times New Roman" pitchFamily="18" charset="0"/>
                <a:ea typeface="黑体" pitchFamily="2" charset="-122"/>
                <a:sym typeface="Times New Roman" pitchFamily="18" charset="0"/>
              </a:rPr>
              <a:t>。因为即使光学仪器像质优良，对准和分辨也都存在着目标经物镜成像的清晰度受衍射影响这一因素，所以两者有一定的联系。</a:t>
            </a:r>
          </a:p>
          <a:p>
            <a:pPr lvl="1" eaLnBrk="1" hangingPunct="1"/>
            <a:r>
              <a:rPr lang="zh-CN" altLang="en-US">
                <a:latin typeface="Times New Roman" pitchFamily="18" charset="0"/>
                <a:ea typeface="黑体" pitchFamily="2" charset="-122"/>
                <a:sym typeface="Times New Roman" pitchFamily="18" charset="0"/>
              </a:rPr>
              <a:t>实验结果指出，像质优良的望远系统和显微系统的单次对准标准不确定度最小只能达到它的</a:t>
            </a:r>
            <a:r>
              <a:rPr lang="zh-CN" altLang="en-US">
                <a:solidFill>
                  <a:srgbClr val="FF0000"/>
                </a:solidFill>
                <a:latin typeface="Times New Roman" pitchFamily="18" charset="0"/>
                <a:ea typeface="黑体" pitchFamily="2" charset="-122"/>
                <a:sym typeface="Times New Roman" pitchFamily="18" charset="0"/>
              </a:rPr>
              <a:t>理论分辨率的</a:t>
            </a:r>
            <a:r>
              <a:rPr lang="en-US">
                <a:solidFill>
                  <a:srgbClr val="FF0000"/>
                </a:solidFill>
                <a:latin typeface="Times New Roman" pitchFamily="18" charset="0"/>
                <a:ea typeface="黑体" pitchFamily="2" charset="-122"/>
                <a:sym typeface="Times New Roman" pitchFamily="18" charset="0"/>
              </a:rPr>
              <a:t>1/6~1/10</a:t>
            </a:r>
            <a:r>
              <a:rPr lang="en-US">
                <a:latin typeface="Times New Roman" pitchFamily="18" charset="0"/>
                <a:ea typeface="黑体" pitchFamily="2" charset="-122"/>
                <a:sym typeface="Times New Roman" pitchFamily="18" charset="0"/>
              </a:rPr>
              <a:t> </a:t>
            </a:r>
            <a:r>
              <a:rPr lang="zh-CN" altLang="en-US">
                <a:latin typeface="Times New Roman" pitchFamily="18" charset="0"/>
                <a:ea typeface="黑体" pitchFamily="2" charset="-122"/>
                <a:sym typeface="Times New Roman" pitchFamily="18" charset="0"/>
              </a:rPr>
              <a:t>，即</a:t>
            </a:r>
            <a:endParaRPr lang="zh-CN" altLang="en-US"/>
          </a:p>
        </p:txBody>
      </p:sp>
      <p:sp>
        <p:nvSpPr>
          <p:cNvPr id="18437"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8438"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8439"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8440"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8441"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8442" name="Object 9"/>
          <p:cNvGraphicFramePr>
            <a:graphicFrameLocks noChangeAspect="1"/>
          </p:cNvGraphicFramePr>
          <p:nvPr/>
        </p:nvGraphicFramePr>
        <p:xfrm>
          <a:off x="5357813" y="1404938"/>
          <a:ext cx="966787" cy="920750"/>
        </p:xfrm>
        <a:graphic>
          <a:graphicData uri="http://schemas.openxmlformats.org/presentationml/2006/ole">
            <p:oleObj spid="_x0000_s143362" r:id="rId3" imgW="9753917" imgH="9449117" progId="">
              <p:embed/>
            </p:oleObj>
          </a:graphicData>
        </a:graphic>
      </p:graphicFrame>
      <p:graphicFrame>
        <p:nvGraphicFramePr>
          <p:cNvPr id="18443" name="Object 10"/>
          <p:cNvGraphicFramePr>
            <a:graphicFrameLocks noChangeAspect="1"/>
          </p:cNvGraphicFramePr>
          <p:nvPr/>
        </p:nvGraphicFramePr>
        <p:xfrm>
          <a:off x="6500813" y="1419225"/>
          <a:ext cx="1609725" cy="868363"/>
        </p:xfrm>
        <a:graphic>
          <a:graphicData uri="http://schemas.openxmlformats.org/presentationml/2006/ole">
            <p:oleObj spid="_x0000_s143363" r:id="rId4" imgW="17373917" imgH="9449117" progId="">
              <p:embed/>
            </p:oleObj>
          </a:graphicData>
        </a:graphic>
      </p:graphicFrame>
      <p:sp>
        <p:nvSpPr>
          <p:cNvPr id="18444" name="Rectangle 11"/>
          <p:cNvSpPr>
            <a:spLocks noChangeArrowheads="1"/>
          </p:cNvSpPr>
          <p:nvPr/>
        </p:nvSpPr>
        <p:spPr bwMode="auto">
          <a:xfrm>
            <a:off x="0" y="289718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8445" name="Object 12"/>
          <p:cNvGraphicFramePr>
            <a:graphicFrameLocks noChangeAspect="1"/>
          </p:cNvGraphicFramePr>
          <p:nvPr/>
        </p:nvGraphicFramePr>
        <p:xfrm>
          <a:off x="2943225" y="4797425"/>
          <a:ext cx="1876425" cy="747713"/>
        </p:xfrm>
        <a:graphic>
          <a:graphicData uri="http://schemas.openxmlformats.org/presentationml/2006/ole">
            <p:oleObj spid="_x0000_s143364" r:id="rId5" imgW="25908317" imgH="10363517" progId="">
              <p:embed/>
            </p:oleObj>
          </a:graphicData>
        </a:graphic>
      </p:graphicFrame>
      <p:sp>
        <p:nvSpPr>
          <p:cNvPr id="18446" name="Rectangle 13"/>
          <p:cNvSpPr>
            <a:spLocks noChangeArrowheads="1"/>
          </p:cNvSpPr>
          <p:nvPr/>
        </p:nvSpPr>
        <p:spPr bwMode="auto">
          <a:xfrm>
            <a:off x="0" y="3325813"/>
            <a:ext cx="279400" cy="244475"/>
          </a:xfrm>
          <a:prstGeom prst="rect">
            <a:avLst/>
          </a:prstGeom>
          <a:noFill/>
          <a:ln w="9525" cmpd="sng">
            <a:noFill/>
            <a:miter lim="800000"/>
            <a:headEnd/>
            <a:tailEnd/>
          </a:ln>
        </p:spPr>
        <p:txBody>
          <a:bodyPr wrap="none" anchor="ctr">
            <a:spAutoFit/>
          </a:bodyPr>
          <a:lstStyle/>
          <a:p>
            <a:r>
              <a:rPr lang="en-US" sz="1000">
                <a:solidFill>
                  <a:srgbClr val="000000"/>
                </a:solidFill>
                <a:latin typeface="Times New Roman" pitchFamily="18" charset="0"/>
                <a:sym typeface="Times New Roman" pitchFamily="18" charset="0"/>
              </a:rPr>
              <a:t>   </a:t>
            </a:r>
            <a:endParaRPr lang="en-US">
              <a:solidFill>
                <a:srgbClr val="000000"/>
              </a:solidFill>
              <a:sym typeface="Arial" pitchFamily="34" charset="0"/>
            </a:endParaRPr>
          </a:p>
        </p:txBody>
      </p:sp>
      <p:graphicFrame>
        <p:nvGraphicFramePr>
          <p:cNvPr id="18447" name="Object 14"/>
          <p:cNvGraphicFramePr>
            <a:graphicFrameLocks noChangeAspect="1"/>
          </p:cNvGraphicFramePr>
          <p:nvPr/>
        </p:nvGraphicFramePr>
        <p:xfrm>
          <a:off x="2943225" y="5741988"/>
          <a:ext cx="1895475" cy="647700"/>
        </p:xfrm>
        <a:graphic>
          <a:graphicData uri="http://schemas.openxmlformats.org/presentationml/2006/ole">
            <p:oleObj spid="_x0000_s143365" r:id="rId6" imgW="27432317" imgH="9449117" progId="">
              <p:embed/>
            </p:oleObj>
          </a:graphicData>
        </a:graphic>
      </p:graphicFrame>
      <p:sp>
        <p:nvSpPr>
          <p:cNvPr id="18448" name="Rectangle 15"/>
          <p:cNvSpPr>
            <a:spLocks noChangeArrowheads="1"/>
          </p:cNvSpPr>
          <p:nvPr/>
        </p:nvSpPr>
        <p:spPr bwMode="auto">
          <a:xfrm>
            <a:off x="0" y="27860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graphicFrame>
        <p:nvGraphicFramePr>
          <p:cNvPr id="18449" name="Object 16"/>
          <p:cNvGraphicFramePr>
            <a:graphicFrameLocks noChangeAspect="1"/>
          </p:cNvGraphicFramePr>
          <p:nvPr/>
        </p:nvGraphicFramePr>
        <p:xfrm>
          <a:off x="5257800" y="4772025"/>
          <a:ext cx="1258888" cy="747713"/>
        </p:xfrm>
        <a:graphic>
          <a:graphicData uri="http://schemas.openxmlformats.org/presentationml/2006/ole">
            <p:oleObj spid="_x0000_s143366" r:id="rId7" imgW="15849917" imgH="9449117" progId="">
              <p:embed/>
            </p:oleObj>
          </a:graphicData>
        </a:graphic>
      </p:graphicFrame>
      <p:graphicFrame>
        <p:nvGraphicFramePr>
          <p:cNvPr id="18450" name="Object 17"/>
          <p:cNvGraphicFramePr>
            <a:graphicFrameLocks noChangeAspect="1"/>
          </p:cNvGraphicFramePr>
          <p:nvPr/>
        </p:nvGraphicFramePr>
        <p:xfrm>
          <a:off x="5243513" y="5692775"/>
          <a:ext cx="1262062" cy="728663"/>
        </p:xfrm>
        <a:graphic>
          <a:graphicData uri="http://schemas.openxmlformats.org/presentationml/2006/ole">
            <p:oleObj spid="_x0000_s143367" r:id="rId8" imgW="16154717" imgH="9449117" progId="">
              <p:embed/>
            </p:oleObj>
          </a:graphicData>
        </a:graphic>
      </p:graphicFrame>
      <p:sp>
        <p:nvSpPr>
          <p:cNvPr id="18451" name="Rectangle 18"/>
          <p:cNvSpPr>
            <a:spLocks noChangeArrowheads="1"/>
          </p:cNvSpPr>
          <p:nvPr/>
        </p:nvSpPr>
        <p:spPr bwMode="auto">
          <a:xfrm>
            <a:off x="0" y="3811588"/>
            <a:ext cx="222250" cy="260350"/>
          </a:xfrm>
          <a:prstGeom prst="rect">
            <a:avLst/>
          </a:prstGeom>
          <a:noFill/>
          <a:ln w="9525" cmpd="sng">
            <a:noFill/>
            <a:miter lim="800000"/>
            <a:headEnd/>
            <a:tailEnd/>
          </a:ln>
        </p:spPr>
        <p:txBody>
          <a:bodyPr wrap="none" anchor="ctr">
            <a:spAutoFit/>
          </a:bodyPr>
          <a:lstStyle/>
          <a:p>
            <a:r>
              <a:rPr lang="en-US" sz="1100">
                <a:solidFill>
                  <a:srgbClr val="000000"/>
                </a:solidFill>
                <a:sym typeface="Arial" pitchFamily="34" charset="0"/>
              </a:rPr>
              <a:t> </a:t>
            </a:r>
            <a:endParaRPr lang="en-US">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2"/>
          <p:cNvSpPr>
            <a:spLocks noGrp="1"/>
          </p:cNvSpPr>
          <p:nvPr>
            <p:ph type="dt" sz="half" idx="10"/>
          </p:nvPr>
        </p:nvSpPr>
        <p:spPr/>
        <p:txBody>
          <a:bodyPr/>
          <a:lstStyle/>
          <a:p>
            <a:fld id="{EC896C1F-6528-47F1-B954-2D4BBB33E5CC}" type="datetime1">
              <a:rPr lang="zh-CN" altLang="en-US"/>
              <a:pPr/>
              <a:t>2018/2/24</a:t>
            </a:fld>
            <a:endParaRPr lang="en-US" sz="1800"/>
          </a:p>
        </p:txBody>
      </p:sp>
      <p:sp>
        <p:nvSpPr>
          <p:cNvPr id="19458" name="灯片编号占位符 5"/>
          <p:cNvSpPr>
            <a:spLocks noGrp="1" noChangeArrowheads="1"/>
          </p:cNvSpPr>
          <p:nvPr/>
        </p:nvSpPr>
        <p:spPr bwMode="auto">
          <a:xfrm>
            <a:off x="6550025" y="6245225"/>
            <a:ext cx="2289175" cy="476250"/>
          </a:xfrm>
          <a:prstGeom prst="rect">
            <a:avLst/>
          </a:prstGeom>
          <a:noFill/>
          <a:ln>
            <a:noFill/>
          </a:ln>
        </p:spPr>
        <p:txBody>
          <a:bodyPr/>
          <a:lstStyle/>
          <a:p>
            <a:pPr algn="r"/>
            <a:fld id="{881CB1C1-FDA9-4B9E-BE22-B003BC1A57B5}" type="slidenum">
              <a:rPr lang="en-US"/>
              <a:pPr algn="r"/>
              <a:t>18</a:t>
            </a:fld>
            <a:endParaRPr lang="en-US"/>
          </a:p>
        </p:txBody>
      </p:sp>
      <p:sp>
        <p:nvSpPr>
          <p:cNvPr id="19459" name="Rectangle 2"/>
          <p:cNvSpPr>
            <a:spLocks noGrp="1" noRot="1" noChangeArrowheads="1"/>
          </p:cNvSpPr>
          <p:nvPr>
            <p:ph type="title" idx="4294967295"/>
          </p:nvPr>
        </p:nvSpPr>
        <p:spPr bwMode="auto">
          <a:xfrm>
            <a:off x="457200" y="635000"/>
            <a:ext cx="8229600" cy="1444625"/>
          </a:xfrm>
          <a:prstGeom prst="rect">
            <a:avLst/>
          </a:prstGeom>
          <a:noFill/>
          <a:ln>
            <a:miter lim="800000"/>
            <a:headEnd/>
            <a:tailEnd/>
          </a:ln>
        </p:spPr>
        <p:txBody>
          <a:bodyPr/>
          <a:lstStyle/>
          <a:p>
            <a:pPr algn="l" eaLnBrk="1" hangingPunct="1"/>
            <a:r>
              <a:rPr lang="en-US" sz="3600" b="1" dirty="0">
                <a:solidFill>
                  <a:schemeClr val="tx1"/>
                </a:solidFill>
                <a:latin typeface="Times New Roman" pitchFamily="18" charset="0"/>
                <a:ea typeface="黑体" pitchFamily="2" charset="-122"/>
                <a:sym typeface="Times New Roman" pitchFamily="18" charset="0"/>
              </a:rPr>
              <a:t>§2-1  </a:t>
            </a:r>
            <a:r>
              <a:rPr lang="zh-CN" altLang="en-US" sz="3600" b="1" dirty="0" smtClean="0">
                <a:solidFill>
                  <a:schemeClr val="tx1"/>
                </a:solidFill>
                <a:latin typeface="Times New Roman" pitchFamily="18" charset="0"/>
                <a:ea typeface="黑体" pitchFamily="2" charset="-122"/>
                <a:sym typeface="Times New Roman" pitchFamily="18" charset="0"/>
              </a:rPr>
              <a:t>对准</a:t>
            </a:r>
            <a:r>
              <a:rPr lang="zh-CN" altLang="en-US" sz="3600" b="1" dirty="0">
                <a:solidFill>
                  <a:schemeClr val="tx1"/>
                </a:solidFill>
                <a:latin typeface="Times New Roman" pitchFamily="18" charset="0"/>
                <a:ea typeface="黑体" pitchFamily="2" charset="-122"/>
                <a:sym typeface="Times New Roman" pitchFamily="18" charset="0"/>
              </a:rPr>
              <a:t>和调焦技术</a:t>
            </a:r>
            <a:br>
              <a:rPr lang="zh-CN" altLang="en-US" sz="3600" b="1" dirty="0">
                <a:solidFill>
                  <a:schemeClr val="tx1"/>
                </a:solidFill>
                <a:latin typeface="Times New Roman" pitchFamily="18" charset="0"/>
                <a:ea typeface="黑体" pitchFamily="2" charset="-122"/>
                <a:sym typeface="Times New Roman" pitchFamily="18" charset="0"/>
              </a:rPr>
            </a:br>
            <a:r>
              <a:rPr lang="zh-CN" altLang="en-US" sz="1000" b="1" dirty="0">
                <a:solidFill>
                  <a:schemeClr val="tx1"/>
                </a:solidFill>
                <a:latin typeface="Times New Roman" pitchFamily="18" charset="0"/>
                <a:ea typeface="黑体" pitchFamily="2" charset="-122"/>
                <a:sym typeface="Times New Roman" pitchFamily="18" charset="0"/>
              </a:rPr>
              <a:t/>
            </a:r>
            <a:br>
              <a:rPr lang="zh-CN" altLang="en-US" sz="1000" b="1" dirty="0">
                <a:solidFill>
                  <a:schemeClr val="tx1"/>
                </a:solidFill>
                <a:latin typeface="Times New Roman" pitchFamily="18" charset="0"/>
                <a:ea typeface="黑体" pitchFamily="2" charset="-122"/>
                <a:sym typeface="Times New Roman" pitchFamily="18" charset="0"/>
              </a:rPr>
            </a:br>
            <a:r>
              <a:rPr lang="zh-CN" altLang="en-US" sz="2800" b="1" dirty="0">
                <a:solidFill>
                  <a:schemeClr val="tx1"/>
                </a:solidFill>
                <a:latin typeface="Times New Roman" pitchFamily="18" charset="0"/>
                <a:ea typeface="黑体" pitchFamily="2" charset="-122"/>
                <a:sym typeface="Times New Roman" pitchFamily="18" charset="0"/>
              </a:rPr>
              <a:t>2</a:t>
            </a:r>
            <a:r>
              <a:rPr lang="en-US" sz="2800" b="1" dirty="0">
                <a:solidFill>
                  <a:schemeClr val="tx1"/>
                </a:solidFill>
                <a:latin typeface="Times New Roman" pitchFamily="18" charset="0"/>
                <a:ea typeface="黑体" pitchFamily="2" charset="-122"/>
                <a:sym typeface="Times New Roman" pitchFamily="18" charset="0"/>
              </a:rPr>
              <a:t>. </a:t>
            </a:r>
            <a:r>
              <a:rPr lang="zh-CN" altLang="en-US" sz="2800" b="1" dirty="0">
                <a:solidFill>
                  <a:schemeClr val="tx1"/>
                </a:solidFill>
                <a:latin typeface="Times New Roman" pitchFamily="18" charset="0"/>
                <a:ea typeface="黑体" pitchFamily="2" charset="-122"/>
                <a:sym typeface="Times New Roman" pitchFamily="18" charset="0"/>
              </a:rPr>
              <a:t>目视系统的对准和调焦</a:t>
            </a:r>
          </a:p>
        </p:txBody>
      </p:sp>
      <p:sp>
        <p:nvSpPr>
          <p:cNvPr id="19460" name="Rectangle 3"/>
          <p:cNvSpPr>
            <a:spLocks noGrp="1" noRot="1" noChangeArrowheads="1"/>
          </p:cNvSpPr>
          <p:nvPr>
            <p:ph type="body" idx="4294967295"/>
          </p:nvPr>
        </p:nvSpPr>
        <p:spPr bwMode="auto">
          <a:xfrm>
            <a:off x="471488" y="1960563"/>
            <a:ext cx="8193087" cy="4805362"/>
          </a:xfrm>
          <a:prstGeom prst="rect">
            <a:avLst/>
          </a:prstGeom>
          <a:noFill/>
          <a:ln/>
        </p:spPr>
        <p:txBody>
          <a:bodyPr/>
          <a:lstStyle/>
          <a:p>
            <a:pPr eaLnBrk="1" hangingPunct="1"/>
            <a:r>
              <a:rPr lang="zh-CN" altLang="en-US">
                <a:latin typeface="Times New Roman" pitchFamily="18" charset="0"/>
                <a:ea typeface="黑体" pitchFamily="2" charset="-122"/>
                <a:sym typeface="Times New Roman" pitchFamily="18" charset="0"/>
              </a:rPr>
              <a:t>关于两种调焦方法不确定度的讨论：</a:t>
            </a:r>
          </a:p>
          <a:p>
            <a:pPr lvl="1" eaLnBrk="1" hangingPunct="1"/>
            <a:r>
              <a:rPr lang="zh-CN" altLang="en-US" sz="2400">
                <a:latin typeface="Times New Roman" pitchFamily="18" charset="0"/>
                <a:ea typeface="黑体" pitchFamily="2" charset="-122"/>
                <a:sym typeface="Times New Roman" pitchFamily="18" charset="0"/>
              </a:rPr>
              <a:t>由于消视差法可通过选择有利的对准方式使对准标准不确定度</a:t>
            </a:r>
            <a:r>
              <a:rPr lang="en-US" sz="2400" i="1">
                <a:latin typeface="Times New Roman" pitchFamily="18" charset="0"/>
                <a:ea typeface="黑体" pitchFamily="2" charset="-122"/>
                <a:sym typeface="Times New Roman" pitchFamily="18" charset="0"/>
              </a:rPr>
              <a:t>δ</a:t>
            </a:r>
            <a:r>
              <a:rPr lang="zh-CN" altLang="en-US" sz="2400">
                <a:latin typeface="Times New Roman" pitchFamily="18" charset="0"/>
                <a:ea typeface="黑体" pitchFamily="2" charset="-122"/>
                <a:sym typeface="Times New Roman" pitchFamily="18" charset="0"/>
              </a:rPr>
              <a:t>大大减小，因此，系统出瞳直径</a:t>
            </a:r>
            <a:r>
              <a:rPr lang="en-US" sz="2400" i="1">
                <a:latin typeface="Times New Roman" pitchFamily="18" charset="0"/>
                <a:ea typeface="黑体" pitchFamily="2" charset="-122"/>
                <a:sym typeface="Times New Roman" pitchFamily="18" charset="0"/>
              </a:rPr>
              <a:t>D</a:t>
            </a:r>
            <a:r>
              <a:rPr lang="en-US" sz="2400">
                <a:latin typeface="Times New Roman" pitchFamily="18" charset="0"/>
                <a:ea typeface="黑体" pitchFamily="2" charset="-122"/>
                <a:sym typeface="Times New Roman" pitchFamily="18" charset="0"/>
              </a:rPr>
              <a:t>′≥2mm</a:t>
            </a:r>
            <a:r>
              <a:rPr lang="zh-CN" altLang="en-US" sz="2400">
                <a:latin typeface="Times New Roman" pitchFamily="18" charset="0"/>
                <a:ea typeface="黑体" pitchFamily="2" charset="-122"/>
                <a:sym typeface="Times New Roman" pitchFamily="18" charset="0"/>
              </a:rPr>
              <a:t>时，用消视差法准确度高；</a:t>
            </a:r>
          </a:p>
          <a:p>
            <a:pPr lvl="1" eaLnBrk="1" hangingPunct="1"/>
            <a:r>
              <a:rPr lang="en-US" sz="2400" i="1">
                <a:latin typeface="Times New Roman" pitchFamily="18" charset="0"/>
                <a:ea typeface="黑体" pitchFamily="2" charset="-122"/>
                <a:sym typeface="Times New Roman" pitchFamily="18" charset="0"/>
              </a:rPr>
              <a:t>D</a:t>
            </a:r>
            <a:r>
              <a:rPr lang="en-US" sz="2400">
                <a:latin typeface="Times New Roman" pitchFamily="18" charset="0"/>
                <a:ea typeface="黑体" pitchFamily="2" charset="-122"/>
                <a:sym typeface="Times New Roman" pitchFamily="18" charset="0"/>
              </a:rPr>
              <a:t>′≤1mm</a:t>
            </a:r>
            <a:r>
              <a:rPr lang="zh-CN" altLang="en-US" sz="2400">
                <a:latin typeface="Times New Roman" pitchFamily="18" charset="0"/>
                <a:ea typeface="黑体" pitchFamily="2" charset="-122"/>
                <a:sym typeface="Times New Roman" pitchFamily="18" charset="0"/>
              </a:rPr>
              <a:t>时，用清晰度法准确度高；</a:t>
            </a:r>
          </a:p>
          <a:p>
            <a:pPr lvl="1" eaLnBrk="1" hangingPunct="1"/>
            <a:r>
              <a:rPr lang="en-US" sz="2400">
                <a:latin typeface="Times New Roman" pitchFamily="18" charset="0"/>
                <a:ea typeface="黑体" pitchFamily="2" charset="-122"/>
                <a:sym typeface="Times New Roman" pitchFamily="18" charset="0"/>
              </a:rPr>
              <a:t>1mm</a:t>
            </a:r>
            <a:r>
              <a:rPr lang="zh-CN" altLang="en-US" sz="2400">
                <a:latin typeface="Times New Roman" pitchFamily="18" charset="0"/>
                <a:ea typeface="黑体" pitchFamily="2" charset="-122"/>
                <a:sym typeface="Times New Roman" pitchFamily="18" charset="0"/>
              </a:rPr>
              <a:t>＜</a:t>
            </a:r>
            <a:r>
              <a:rPr lang="en-US" sz="2400" i="1">
                <a:latin typeface="Times New Roman" pitchFamily="18" charset="0"/>
                <a:ea typeface="黑体" pitchFamily="2" charset="-122"/>
                <a:sym typeface="Times New Roman" pitchFamily="18" charset="0"/>
              </a:rPr>
              <a:t>D</a:t>
            </a:r>
            <a:r>
              <a:rPr lang="en-US" sz="2400">
                <a:latin typeface="Times New Roman" pitchFamily="18" charset="0"/>
                <a:ea typeface="黑体" pitchFamily="2" charset="-122"/>
                <a:sym typeface="Times New Roman" pitchFamily="18" charset="0"/>
              </a:rPr>
              <a:t>′</a:t>
            </a:r>
            <a:r>
              <a:rPr lang="zh-CN" altLang="en-US" sz="2400">
                <a:latin typeface="Times New Roman" pitchFamily="18" charset="0"/>
                <a:ea typeface="黑体" pitchFamily="2" charset="-122"/>
                <a:sym typeface="Times New Roman" pitchFamily="18" charset="0"/>
              </a:rPr>
              <a:t>＜</a:t>
            </a:r>
            <a:r>
              <a:rPr lang="en-US" sz="2400">
                <a:latin typeface="Times New Roman" pitchFamily="18" charset="0"/>
                <a:ea typeface="黑体" pitchFamily="2" charset="-122"/>
                <a:sym typeface="Times New Roman" pitchFamily="18" charset="0"/>
              </a:rPr>
              <a:t>2mm</a:t>
            </a:r>
            <a:r>
              <a:rPr lang="zh-CN" altLang="en-US" sz="2400">
                <a:latin typeface="Times New Roman" pitchFamily="18" charset="0"/>
                <a:ea typeface="黑体" pitchFamily="2" charset="-122"/>
                <a:sym typeface="Times New Roman" pitchFamily="18" charset="0"/>
              </a:rPr>
              <a:t>时，两种方法准确度相差不多。</a:t>
            </a:r>
          </a:p>
          <a:p>
            <a:pPr eaLnBrk="1" hangingPunct="1"/>
            <a:r>
              <a:rPr lang="zh-CN" altLang="en-US">
                <a:latin typeface="Times New Roman" pitchFamily="18" charset="0"/>
                <a:ea typeface="黑体" pitchFamily="2" charset="-122"/>
                <a:sym typeface="Times New Roman" pitchFamily="18" charset="0"/>
              </a:rPr>
              <a:t>实际进行目视法调焦时，往往两种方法同时采用。就是说，首先调至目标与标志同样清晰，再左右摆动眼睛看二者间有无视差，最后以“</a:t>
            </a:r>
            <a:r>
              <a:rPr lang="zh-CN" altLang="en-US">
                <a:solidFill>
                  <a:srgbClr val="FF0000"/>
                </a:solidFill>
                <a:latin typeface="Times New Roman" pitchFamily="18" charset="0"/>
                <a:ea typeface="黑体" pitchFamily="2" charset="-122"/>
                <a:sym typeface="Times New Roman" pitchFamily="18" charset="0"/>
              </a:rPr>
              <a:t>清晰无视差</a:t>
            </a:r>
            <a:r>
              <a:rPr lang="zh-CN" altLang="en-US">
                <a:latin typeface="Times New Roman" pitchFamily="18" charset="0"/>
                <a:ea typeface="黑体" pitchFamily="2" charset="-122"/>
                <a:sym typeface="Times New Roman" pitchFamily="18" charset="0"/>
              </a:rPr>
              <a:t>”定焦。</a:t>
            </a:r>
            <a:endParaRPr lang="zh-CN" altLang="en-US"/>
          </a:p>
        </p:txBody>
      </p:sp>
      <p:sp>
        <p:nvSpPr>
          <p:cNvPr id="19461" name="Rectangle 4"/>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2" name="Rectangle 5"/>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3" name="Rectangle 6"/>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4" name="Rectangle 7"/>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5" name="Rectangle 8"/>
          <p:cNvSpPr>
            <a:spLocks noChangeArrowheads="1"/>
          </p:cNvSpPr>
          <p:nvPr/>
        </p:nvSpPr>
        <p:spPr bwMode="auto">
          <a:xfrm>
            <a:off x="985838" y="1733550"/>
            <a:ext cx="11684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6" name="Rectangle 9"/>
          <p:cNvSpPr>
            <a:spLocks noChangeArrowheads="1"/>
          </p:cNvSpPr>
          <p:nvPr/>
        </p:nvSpPr>
        <p:spPr bwMode="auto">
          <a:xfrm>
            <a:off x="0" y="33194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7" name="Rectangle 10"/>
          <p:cNvSpPr>
            <a:spLocks noChangeArrowheads="1"/>
          </p:cNvSpPr>
          <p:nvPr/>
        </p:nvSpPr>
        <p:spPr bwMode="auto">
          <a:xfrm>
            <a:off x="0" y="312896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8" name="Rectangle 11"/>
          <p:cNvSpPr>
            <a:spLocks noChangeArrowheads="1"/>
          </p:cNvSpPr>
          <p:nvPr/>
        </p:nvSpPr>
        <p:spPr bwMode="auto">
          <a:xfrm>
            <a:off x="0" y="31115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69" name="Rectangle 12"/>
          <p:cNvSpPr>
            <a:spLocks noChangeArrowheads="1"/>
          </p:cNvSpPr>
          <p:nvPr/>
        </p:nvSpPr>
        <p:spPr bwMode="auto">
          <a:xfrm>
            <a:off x="0" y="3162300"/>
            <a:ext cx="9144000" cy="0"/>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70" name="Rectangle 13"/>
          <p:cNvSpPr>
            <a:spLocks noChangeArrowheads="1"/>
          </p:cNvSpPr>
          <p:nvPr/>
        </p:nvSpPr>
        <p:spPr bwMode="auto">
          <a:xfrm>
            <a:off x="0" y="3233738"/>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
        <p:nvSpPr>
          <p:cNvPr id="19471" name="Rectangle 14"/>
          <p:cNvSpPr>
            <a:spLocks noChangeArrowheads="1"/>
          </p:cNvSpPr>
          <p:nvPr/>
        </p:nvSpPr>
        <p:spPr bwMode="auto">
          <a:xfrm>
            <a:off x="0" y="3224213"/>
            <a:ext cx="9144000" cy="1587"/>
          </a:xfrm>
          <a:prstGeom prst="rect">
            <a:avLst/>
          </a:prstGeom>
          <a:noFill/>
          <a:ln w="9525" cmpd="sng">
            <a:noFill/>
            <a:miter lim="800000"/>
            <a:headEnd/>
            <a:tailEnd/>
          </a:ln>
        </p:spPr>
        <p:txBody>
          <a:bodyPr wrap="none" anchor="ctr">
            <a:spAutoFit/>
          </a:bodyPr>
          <a:lstStyle/>
          <a:p>
            <a:endParaRPr lang="zh-CN" altLang="zh-CN">
              <a:solidFill>
                <a:srgbClr val="000000"/>
              </a:solidFill>
              <a:sym typeface="Arial" pitchFamily="34" charset="0"/>
            </a:endParaRPr>
          </a:p>
        </p:txBody>
      </p:sp>
    </p:spTree>
  </p:cSld>
  <p:clrMapOvr>
    <a:masterClrMapping/>
  </p:clrMapOvr>
  <p:transition>
    <p:circl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p:cNvSpPr>
            <a:spLocks noGrp="1"/>
          </p:cNvSpPr>
          <p:nvPr>
            <p:ph type="dt" sz="quarter" idx="10"/>
          </p:nvPr>
        </p:nvSpPr>
        <p:spPr>
          <a:noFill/>
        </p:spPr>
        <p:txBody>
          <a:bodyPr/>
          <a:lstStyle/>
          <a:p>
            <a:fld id="{E7A7C403-2E09-4CE0-B0B3-9F9673962640}" type="datetime1">
              <a:rPr lang="zh-CN" altLang="en-US" smtClean="0"/>
              <a:pPr/>
              <a:t>2018/2/24</a:t>
            </a:fld>
            <a:endParaRPr lang="en-US" altLang="zh-CN" smtClean="0"/>
          </a:p>
        </p:txBody>
      </p:sp>
      <p:sp>
        <p:nvSpPr>
          <p:cNvPr id="92163" name="灯片编号占位符 5"/>
          <p:cNvSpPr>
            <a:spLocks noGrp="1"/>
          </p:cNvSpPr>
          <p:nvPr>
            <p:ph type="sldNum" sz="quarter" idx="12"/>
          </p:nvPr>
        </p:nvSpPr>
        <p:spPr>
          <a:noFill/>
        </p:spPr>
        <p:txBody>
          <a:bodyPr/>
          <a:lstStyle/>
          <a:p>
            <a:fld id="{286E1AEA-74B8-4326-BAFA-E9F8FFCE18FC}" type="slidenum">
              <a:rPr lang="en-US" altLang="zh-CN" smtClean="0"/>
              <a:pPr/>
              <a:t>19</a:t>
            </a:fld>
            <a:endParaRPr lang="en-US" altLang="zh-CN" smtClean="0"/>
          </a:p>
        </p:txBody>
      </p:sp>
      <p:sp>
        <p:nvSpPr>
          <p:cNvPr id="567298" name="Rectangle 2"/>
          <p:cNvSpPr>
            <a:spLocks noGrp="1" noRot="1" noChangeArrowheads="1"/>
          </p:cNvSpPr>
          <p:nvPr>
            <p:ph type="title"/>
          </p:nvPr>
        </p:nvSpPr>
        <p:spPr>
          <a:xfrm>
            <a:off x="457200" y="635000"/>
            <a:ext cx="82296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2800" b="1" dirty="0" smtClean="0">
                <a:solidFill>
                  <a:schemeClr val="tx1"/>
                </a:solidFill>
                <a:effectLst>
                  <a:outerShdw blurRad="38100" dist="38100" dir="2700000" algn="tl">
                    <a:srgbClr val="C0C0C0"/>
                  </a:outerShdw>
                </a:effectLst>
                <a:latin typeface="Times New Roman" pitchFamily="18" charset="0"/>
                <a:ea typeface="黑体" pitchFamily="2" charset="-122"/>
              </a:rPr>
              <a:t>3.  </a:t>
            </a:r>
            <a:r>
              <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rPr>
              <a:t>光电对准</a:t>
            </a:r>
          </a:p>
        </p:txBody>
      </p:sp>
      <p:sp>
        <p:nvSpPr>
          <p:cNvPr id="567299" name="Rectangle 3"/>
          <p:cNvSpPr>
            <a:spLocks noGrp="1" noRot="1" noChangeArrowheads="1"/>
          </p:cNvSpPr>
          <p:nvPr>
            <p:ph type="body" idx="1"/>
          </p:nvPr>
        </p:nvSpPr>
        <p:spPr>
          <a:xfrm>
            <a:off x="471488" y="1960563"/>
            <a:ext cx="8229600" cy="4805362"/>
          </a:xfrm>
        </p:spPr>
        <p:txBody>
          <a:bodyPr/>
          <a:lstStyle/>
          <a:p>
            <a:pPr eaLnBrk="1" hangingPunct="1">
              <a:defRPr/>
            </a:pPr>
            <a:r>
              <a:rPr lang="zh-CN" altLang="en-US" dirty="0" smtClean="0">
                <a:latin typeface="Times New Roman" pitchFamily="18" charset="0"/>
                <a:ea typeface="黑体" pitchFamily="2" charset="-122"/>
              </a:rPr>
              <a:t>光电探测不仅可以代替眼睛进行对准、调焦和读数；还可以大大提高对准、调焦准确度；实现测量的自动化，提高工作效率，而且是实现计算机实时控制和处理的前提。</a:t>
            </a:r>
          </a:p>
          <a:p>
            <a:pPr eaLnBrk="1" hangingPunct="1">
              <a:defRPr/>
            </a:pPr>
            <a:r>
              <a:rPr lang="zh-CN" altLang="en-US" dirty="0" smtClean="0">
                <a:latin typeface="Times New Roman" pitchFamily="18" charset="0"/>
                <a:ea typeface="黑体" pitchFamily="2" charset="-122"/>
              </a:rPr>
              <a:t>目前，光电对准装置可分为光电显微镜和光电望远镜两大类，两类仪器对准标准不确定度分别达到</a:t>
            </a:r>
          </a:p>
          <a:p>
            <a:pPr algn="ctr" eaLnBrk="1" hangingPunct="1">
              <a:buFont typeface="Wingdings" pitchFamily="2" charset="2"/>
              <a:buNone/>
              <a:defRPr/>
            </a:pPr>
            <a:r>
              <a:rPr lang="en-US" altLang="zh-CN" dirty="0" smtClean="0">
                <a:latin typeface="Times New Roman" pitchFamily="18" charset="0"/>
                <a:ea typeface="黑体" pitchFamily="2" charset="-122"/>
              </a:rPr>
              <a:t>0.01μm~0.02μm</a:t>
            </a:r>
            <a:r>
              <a:rPr lang="zh-CN" altLang="en-US" dirty="0" smtClean="0">
                <a:latin typeface="Times New Roman" pitchFamily="18" charset="0"/>
                <a:ea typeface="黑体" pitchFamily="2" charset="-122"/>
              </a:rPr>
              <a:t>和</a:t>
            </a:r>
            <a:r>
              <a:rPr lang="en-US" altLang="zh-CN" dirty="0" smtClean="0">
                <a:latin typeface="Times New Roman" pitchFamily="18" charset="0"/>
                <a:ea typeface="黑体" pitchFamily="2" charset="-122"/>
              </a:rPr>
              <a:t>0.05″~0.1″</a:t>
            </a:r>
          </a:p>
          <a:p>
            <a:pPr eaLnBrk="1" hangingPunct="1">
              <a:defRPr/>
            </a:pPr>
            <a:r>
              <a:rPr lang="zh-CN" altLang="en-US" dirty="0" smtClean="0">
                <a:latin typeface="Times New Roman" pitchFamily="18" charset="0"/>
                <a:ea typeface="黑体" pitchFamily="2" charset="-122"/>
              </a:rPr>
              <a:t>光电对准分类：</a:t>
            </a:r>
          </a:p>
          <a:p>
            <a:pPr lvl="1" eaLnBrk="1" hangingPunct="1">
              <a:defRPr/>
            </a:pPr>
            <a:r>
              <a:rPr lang="zh-CN" altLang="en-US" sz="2400" dirty="0" smtClean="0">
                <a:latin typeface="Times New Roman" pitchFamily="18" charset="0"/>
                <a:ea typeface="黑体" pitchFamily="2" charset="-122"/>
              </a:rPr>
              <a:t>光度式：普通光度式、差动光度式</a:t>
            </a:r>
          </a:p>
          <a:p>
            <a:pPr lvl="1" eaLnBrk="1" hangingPunct="1">
              <a:defRPr/>
            </a:pPr>
            <a:r>
              <a:rPr lang="zh-CN" altLang="en-US" sz="2400" dirty="0" smtClean="0">
                <a:latin typeface="Times New Roman" pitchFamily="18" charset="0"/>
                <a:ea typeface="黑体" pitchFamily="2" charset="-122"/>
              </a:rPr>
              <a:t>相位式</a:t>
            </a:r>
          </a:p>
        </p:txBody>
      </p:sp>
      <p:sp>
        <p:nvSpPr>
          <p:cNvPr id="92166"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2167"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2168"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2169"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2170" name="Rectangle 8"/>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2171"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92172" name="Rectangle 10"/>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92173" name="Rectangle 11"/>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92174" name="Rectangle 12"/>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92175"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92176" name="Rectangle 14"/>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日期占位符 3"/>
          <p:cNvSpPr>
            <a:spLocks noGrp="1"/>
          </p:cNvSpPr>
          <p:nvPr>
            <p:ph type="dt" sz="quarter" idx="10"/>
          </p:nvPr>
        </p:nvSpPr>
        <p:spPr>
          <a:noFill/>
        </p:spPr>
        <p:txBody>
          <a:bodyPr/>
          <a:lstStyle/>
          <a:p>
            <a:fld id="{4A0700AA-E926-4DE8-BBCE-B821C156C32A}" type="datetime1">
              <a:rPr lang="zh-CN" altLang="en-US" smtClean="0"/>
              <a:pPr/>
              <a:t>2018/2/24</a:t>
            </a:fld>
            <a:endParaRPr lang="en-US" altLang="zh-CN" smtClean="0"/>
          </a:p>
        </p:txBody>
      </p:sp>
      <p:sp>
        <p:nvSpPr>
          <p:cNvPr id="14340" name="灯片编号占位符 5"/>
          <p:cNvSpPr>
            <a:spLocks noGrp="1"/>
          </p:cNvSpPr>
          <p:nvPr>
            <p:ph type="sldNum" sz="quarter" idx="12"/>
          </p:nvPr>
        </p:nvSpPr>
        <p:spPr>
          <a:noFill/>
        </p:spPr>
        <p:txBody>
          <a:bodyPr/>
          <a:lstStyle/>
          <a:p>
            <a:fld id="{732F2898-86BC-44DA-B7A1-7F2F73A56FBA}" type="slidenum">
              <a:rPr lang="en-US" altLang="zh-CN" smtClean="0"/>
              <a:pPr/>
              <a:t>20</a:t>
            </a:fld>
            <a:endParaRPr lang="en-US" altLang="zh-CN" smtClean="0"/>
          </a:p>
        </p:txBody>
      </p:sp>
      <p:sp>
        <p:nvSpPr>
          <p:cNvPr id="568324" name="Text Box 4"/>
          <p:cNvSpPr txBox="1">
            <a:spLocks noChangeArrowheads="1"/>
          </p:cNvSpPr>
          <p:nvPr/>
        </p:nvSpPr>
        <p:spPr bwMode="auto">
          <a:xfrm>
            <a:off x="3055938" y="5568950"/>
            <a:ext cx="5640387" cy="555625"/>
          </a:xfrm>
          <a:prstGeom prst="rect">
            <a:avLst/>
          </a:prstGeom>
          <a:noFill/>
          <a:ln w="9525">
            <a:noFill/>
            <a:miter lim="800000"/>
            <a:headEnd/>
            <a:tailEnd/>
          </a:ln>
        </p:spPr>
        <p:txBody>
          <a:bodyPr/>
          <a:lstStyle/>
          <a:p>
            <a:pPr algn="ctr">
              <a:defRPr/>
            </a:pPr>
            <a:r>
              <a:rPr lang="zh-CN" altLang="en-US" sz="2400" b="1" dirty="0">
                <a:effectLst>
                  <a:outerShdw blurRad="38100" dist="38100" dir="2700000" algn="tl">
                    <a:srgbClr val="C0C0C0"/>
                  </a:outerShdw>
                </a:effectLst>
                <a:latin typeface="黑体" pitchFamily="2" charset="-122"/>
                <a:ea typeface="黑体" pitchFamily="2" charset="-122"/>
              </a:rPr>
              <a:t>光电自准直望远镜工作原理（相位式）</a:t>
            </a:r>
            <a:endParaRPr lang="zh-CN" altLang="en-US" sz="2400" b="1" dirty="0">
              <a:effectLst>
                <a:outerShdw blurRad="38100" dist="38100" dir="2700000" algn="tl">
                  <a:srgbClr val="C0C0C0"/>
                </a:outerShdw>
              </a:effectLst>
            </a:endParaRPr>
          </a:p>
        </p:txBody>
      </p:sp>
      <p:sp>
        <p:nvSpPr>
          <p:cNvPr id="568414" name="Rectangle 94"/>
          <p:cNvSpPr>
            <a:spLocks noGrp="1" noRot="1" noChangeArrowheads="1"/>
          </p:cNvSpPr>
          <p:nvPr>
            <p:ph type="title"/>
          </p:nvPr>
        </p:nvSpPr>
        <p:spPr>
          <a:xfrm>
            <a:off x="428625" y="635000"/>
            <a:ext cx="86868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2800" b="1" dirty="0" smtClean="0">
                <a:solidFill>
                  <a:schemeClr val="tx1"/>
                </a:solidFill>
                <a:effectLst>
                  <a:outerShdw blurRad="38100" dist="38100" dir="2700000" algn="tl">
                    <a:srgbClr val="C0C0C0"/>
                  </a:outerShdw>
                </a:effectLst>
                <a:latin typeface="Times New Roman" pitchFamily="18" charset="0"/>
                <a:ea typeface="黑体" pitchFamily="2" charset="-122"/>
              </a:rPr>
              <a:t>3.  </a:t>
            </a:r>
            <a:r>
              <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rPr>
              <a:t>光电对准</a:t>
            </a:r>
          </a:p>
        </p:txBody>
      </p:sp>
      <p:sp>
        <p:nvSpPr>
          <p:cNvPr id="14343" name="Rectangle 9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4344" name="Rectangle 9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4345" name="Rectangle 9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4346" name="Rectangle 98"/>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4347" name="Rectangle 99"/>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4348" name="Rectangle 100"/>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4349" name="Rectangle 101"/>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14350" name="Rectangle 102"/>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14351" name="Rectangle 103"/>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14352" name="Rectangle 104"/>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4338" name="Object 105"/>
          <p:cNvGraphicFramePr>
            <a:graphicFrameLocks noChangeAspect="1"/>
          </p:cNvGraphicFramePr>
          <p:nvPr/>
        </p:nvGraphicFramePr>
        <p:xfrm>
          <a:off x="328613" y="3335338"/>
          <a:ext cx="2089150" cy="528637"/>
        </p:xfrm>
        <a:graphic>
          <a:graphicData uri="http://schemas.openxmlformats.org/presentationml/2006/ole">
            <p:oleObj spid="_x0000_s14338" name="公式" r:id="rId3" imgW="18897917" imgH="4877117" progId="Equation.3">
              <p:embed/>
            </p:oleObj>
          </a:graphicData>
        </a:graphic>
      </p:graphicFrame>
      <p:sp>
        <p:nvSpPr>
          <p:cNvPr id="14353" name="Rectangle 18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pSp>
        <p:nvGrpSpPr>
          <p:cNvPr id="14354" name="Group 108"/>
          <p:cNvGrpSpPr>
            <a:grpSpLocks/>
          </p:cNvGrpSpPr>
          <p:nvPr/>
        </p:nvGrpSpPr>
        <p:grpSpPr bwMode="auto">
          <a:xfrm>
            <a:off x="3057525" y="2324100"/>
            <a:ext cx="5562600" cy="3143250"/>
            <a:chOff x="2942" y="7947"/>
            <a:chExt cx="5853" cy="3263"/>
          </a:xfrm>
        </p:grpSpPr>
        <p:grpSp>
          <p:nvGrpSpPr>
            <p:cNvPr id="14355" name="Group 177"/>
            <p:cNvGrpSpPr>
              <a:grpSpLocks/>
            </p:cNvGrpSpPr>
            <p:nvPr/>
          </p:nvGrpSpPr>
          <p:grpSpPr bwMode="auto">
            <a:xfrm>
              <a:off x="4527" y="8907"/>
              <a:ext cx="1118" cy="498"/>
              <a:chOff x="4658" y="4327"/>
              <a:chExt cx="825" cy="368"/>
            </a:xfrm>
          </p:grpSpPr>
          <p:grpSp>
            <p:nvGrpSpPr>
              <p:cNvPr id="14424" name="Group 181"/>
              <p:cNvGrpSpPr>
                <a:grpSpLocks/>
              </p:cNvGrpSpPr>
              <p:nvPr/>
            </p:nvGrpSpPr>
            <p:grpSpPr bwMode="auto">
              <a:xfrm>
                <a:off x="5115" y="4327"/>
                <a:ext cx="368" cy="368"/>
                <a:chOff x="4110" y="4215"/>
                <a:chExt cx="495" cy="495"/>
              </a:xfrm>
            </p:grpSpPr>
            <p:sp>
              <p:nvSpPr>
                <p:cNvPr id="14519" name="Line 183"/>
                <p:cNvSpPr>
                  <a:spLocks noChangeShapeType="1"/>
                </p:cNvSpPr>
                <p:nvPr/>
              </p:nvSpPr>
              <p:spPr bwMode="auto">
                <a:xfrm flipH="1">
                  <a:off x="4117" y="4231"/>
                  <a:ext cx="487" cy="480"/>
                </a:xfrm>
                <a:prstGeom prst="line">
                  <a:avLst/>
                </a:prstGeom>
                <a:noFill/>
                <a:ln w="9525">
                  <a:solidFill>
                    <a:srgbClr val="000000"/>
                  </a:solidFill>
                  <a:round/>
                  <a:headEnd/>
                  <a:tailEnd/>
                </a:ln>
              </p:spPr>
              <p:txBody>
                <a:bodyPr/>
                <a:lstStyle/>
                <a:p>
                  <a:pPr>
                    <a:defRPr/>
                  </a:pPr>
                  <a:endParaRPr lang="zh-CN" altLang="en-US" sz="1050"/>
                </a:p>
              </p:txBody>
            </p:sp>
            <p:sp>
              <p:nvSpPr>
                <p:cNvPr id="14518" name="Rectangle 182"/>
                <p:cNvSpPr>
                  <a:spLocks noChangeArrowheads="1"/>
                </p:cNvSpPr>
                <p:nvPr/>
              </p:nvSpPr>
              <p:spPr bwMode="auto">
                <a:xfrm>
                  <a:off x="4111" y="4216"/>
                  <a:ext cx="494" cy="495"/>
                </a:xfrm>
                <a:prstGeom prst="rect">
                  <a:avLst/>
                </a:prstGeom>
                <a:noFill/>
                <a:ln w="9525">
                  <a:solidFill>
                    <a:srgbClr val="000000"/>
                  </a:solidFill>
                  <a:miter lim="800000"/>
                  <a:headEnd/>
                  <a:tailEnd/>
                </a:ln>
              </p:spPr>
              <p:txBody>
                <a:bodyPr/>
                <a:lstStyle/>
                <a:p>
                  <a:pPr>
                    <a:defRPr/>
                  </a:pPr>
                  <a:endParaRPr lang="zh-CN" altLang="en-US" sz="1050"/>
                </a:p>
              </p:txBody>
            </p:sp>
          </p:grpSp>
          <p:grpSp>
            <p:nvGrpSpPr>
              <p:cNvPr id="14425" name="Group 178"/>
              <p:cNvGrpSpPr>
                <a:grpSpLocks/>
              </p:cNvGrpSpPr>
              <p:nvPr/>
            </p:nvGrpSpPr>
            <p:grpSpPr bwMode="auto">
              <a:xfrm flipH="1">
                <a:off x="4658" y="4327"/>
                <a:ext cx="368" cy="368"/>
                <a:chOff x="4110" y="4215"/>
                <a:chExt cx="495" cy="495"/>
              </a:xfrm>
            </p:grpSpPr>
            <p:sp>
              <p:nvSpPr>
                <p:cNvPr id="14516" name="Line 180"/>
                <p:cNvSpPr>
                  <a:spLocks noChangeShapeType="1"/>
                </p:cNvSpPr>
                <p:nvPr/>
              </p:nvSpPr>
              <p:spPr bwMode="auto">
                <a:xfrm flipH="1">
                  <a:off x="4117" y="4231"/>
                  <a:ext cx="487" cy="480"/>
                </a:xfrm>
                <a:prstGeom prst="line">
                  <a:avLst/>
                </a:prstGeom>
                <a:noFill/>
                <a:ln w="9525">
                  <a:solidFill>
                    <a:srgbClr val="000000"/>
                  </a:solidFill>
                  <a:round/>
                  <a:headEnd/>
                  <a:tailEnd/>
                </a:ln>
              </p:spPr>
              <p:txBody>
                <a:bodyPr/>
                <a:lstStyle/>
                <a:p>
                  <a:pPr>
                    <a:defRPr/>
                  </a:pPr>
                  <a:endParaRPr lang="zh-CN" altLang="en-US" sz="1050"/>
                </a:p>
              </p:txBody>
            </p:sp>
            <p:sp>
              <p:nvSpPr>
                <p:cNvPr id="14515" name="Rectangle 179"/>
                <p:cNvSpPr>
                  <a:spLocks noChangeArrowheads="1"/>
                </p:cNvSpPr>
                <p:nvPr/>
              </p:nvSpPr>
              <p:spPr bwMode="auto">
                <a:xfrm>
                  <a:off x="4111" y="4216"/>
                  <a:ext cx="494" cy="495"/>
                </a:xfrm>
                <a:prstGeom prst="rect">
                  <a:avLst/>
                </a:prstGeom>
                <a:noFill/>
                <a:ln w="9525">
                  <a:solidFill>
                    <a:srgbClr val="000000"/>
                  </a:solidFill>
                  <a:miter lim="800000"/>
                  <a:headEnd/>
                  <a:tailEnd/>
                </a:ln>
              </p:spPr>
              <p:txBody>
                <a:bodyPr/>
                <a:lstStyle/>
                <a:p>
                  <a:pPr>
                    <a:defRPr/>
                  </a:pPr>
                  <a:endParaRPr lang="zh-CN" altLang="en-US" sz="1050"/>
                </a:p>
              </p:txBody>
            </p:sp>
          </p:grpSp>
        </p:grpSp>
        <p:sp>
          <p:nvSpPr>
            <p:cNvPr id="14512" name="Line 176"/>
            <p:cNvSpPr>
              <a:spLocks noChangeShapeType="1"/>
            </p:cNvSpPr>
            <p:nvPr/>
          </p:nvSpPr>
          <p:spPr bwMode="auto">
            <a:xfrm flipV="1">
              <a:off x="5389" y="9181"/>
              <a:ext cx="0" cy="1735"/>
            </a:xfrm>
            <a:prstGeom prst="line">
              <a:avLst/>
            </a:prstGeom>
            <a:noFill/>
            <a:ln w="6350">
              <a:solidFill>
                <a:srgbClr val="000000"/>
              </a:solidFill>
              <a:prstDash val="lgDashDot"/>
              <a:round/>
              <a:headEnd/>
              <a:tailEnd/>
            </a:ln>
          </p:spPr>
          <p:txBody>
            <a:bodyPr/>
            <a:lstStyle/>
            <a:p>
              <a:pPr>
                <a:defRPr/>
              </a:pPr>
              <a:endParaRPr lang="zh-CN" altLang="en-US" sz="1050"/>
            </a:p>
          </p:txBody>
        </p:sp>
        <p:grpSp>
          <p:nvGrpSpPr>
            <p:cNvPr id="14357" name="Group 164"/>
            <p:cNvGrpSpPr>
              <a:grpSpLocks/>
            </p:cNvGrpSpPr>
            <p:nvPr/>
          </p:nvGrpSpPr>
          <p:grpSpPr bwMode="auto">
            <a:xfrm>
              <a:off x="5134" y="9932"/>
              <a:ext cx="509" cy="1278"/>
              <a:chOff x="5101" y="5089"/>
              <a:chExt cx="376" cy="943"/>
            </a:xfrm>
          </p:grpSpPr>
          <p:sp>
            <p:nvSpPr>
              <p:cNvPr id="14511" name="Rectangle 175"/>
              <p:cNvSpPr>
                <a:spLocks noChangeArrowheads="1"/>
              </p:cNvSpPr>
              <p:nvPr/>
            </p:nvSpPr>
            <p:spPr bwMode="auto">
              <a:xfrm>
                <a:off x="5102" y="5090"/>
                <a:ext cx="375" cy="71"/>
              </a:xfrm>
              <a:prstGeom prst="rect">
                <a:avLst/>
              </a:prstGeom>
              <a:solidFill>
                <a:srgbClr val="FFFFFF"/>
              </a:solidFill>
              <a:ln w="9525">
                <a:solidFill>
                  <a:srgbClr val="000000"/>
                </a:solidFill>
                <a:miter lim="800000"/>
                <a:headEnd/>
                <a:tailEnd/>
              </a:ln>
            </p:spPr>
            <p:txBody>
              <a:bodyPr/>
              <a:lstStyle/>
              <a:p>
                <a:pPr>
                  <a:defRPr/>
                </a:pPr>
                <a:endParaRPr lang="zh-CN" altLang="en-US" sz="1050"/>
              </a:p>
            </p:txBody>
          </p:sp>
          <p:grpSp>
            <p:nvGrpSpPr>
              <p:cNvPr id="14414" name="Group 172"/>
              <p:cNvGrpSpPr>
                <a:grpSpLocks/>
              </p:cNvGrpSpPr>
              <p:nvPr/>
            </p:nvGrpSpPr>
            <p:grpSpPr bwMode="auto">
              <a:xfrm>
                <a:off x="5102" y="5348"/>
                <a:ext cx="375" cy="112"/>
                <a:chOff x="5123" y="5348"/>
                <a:chExt cx="375" cy="112"/>
              </a:xfrm>
            </p:grpSpPr>
            <p:sp>
              <p:nvSpPr>
                <p:cNvPr id="14510" name="Freeform 174"/>
                <p:cNvSpPr>
                  <a:spLocks/>
                </p:cNvSpPr>
                <p:nvPr/>
              </p:nvSpPr>
              <p:spPr bwMode="auto">
                <a:xfrm>
                  <a:off x="5123" y="5408"/>
                  <a:ext cx="375" cy="52"/>
                </a:xfrm>
                <a:custGeom>
                  <a:avLst/>
                  <a:gdLst/>
                  <a:ahLst/>
                  <a:cxnLst>
                    <a:cxn ang="0">
                      <a:pos x="0" y="0"/>
                    </a:cxn>
                    <a:cxn ang="0">
                      <a:pos x="0" y="52"/>
                    </a:cxn>
                    <a:cxn ang="0">
                      <a:pos x="375" y="52"/>
                    </a:cxn>
                    <a:cxn ang="0">
                      <a:pos x="375" y="7"/>
                    </a:cxn>
                  </a:cxnLst>
                  <a:rect l="0" t="0" r="r" b="b"/>
                  <a:pathLst>
                    <a:path w="375" h="52">
                      <a:moveTo>
                        <a:pt x="0" y="0"/>
                      </a:moveTo>
                      <a:lnTo>
                        <a:pt x="0" y="52"/>
                      </a:lnTo>
                      <a:lnTo>
                        <a:pt x="375" y="52"/>
                      </a:lnTo>
                      <a:lnTo>
                        <a:pt x="375" y="7"/>
                      </a:lnTo>
                    </a:path>
                  </a:pathLst>
                </a:custGeom>
                <a:noFill/>
                <a:ln w="9525">
                  <a:solidFill>
                    <a:srgbClr val="000000"/>
                  </a:solidFill>
                  <a:round/>
                  <a:headEnd/>
                  <a:tailEnd/>
                </a:ln>
              </p:spPr>
              <p:txBody>
                <a:bodyPr/>
                <a:lstStyle/>
                <a:p>
                  <a:pPr>
                    <a:defRPr/>
                  </a:pPr>
                  <a:endParaRPr lang="zh-CN" altLang="en-US" sz="1050"/>
                </a:p>
              </p:txBody>
            </p:sp>
            <p:sp>
              <p:nvSpPr>
                <p:cNvPr id="14509" name="Arc 173"/>
                <p:cNvSpPr>
                  <a:spLocks/>
                </p:cNvSpPr>
                <p:nvPr/>
              </p:nvSpPr>
              <p:spPr bwMode="auto">
                <a:xfrm>
                  <a:off x="5123" y="5349"/>
                  <a:ext cx="375" cy="81"/>
                </a:xfrm>
                <a:custGeom>
                  <a:avLst/>
                  <a:gdLst>
                    <a:gd name="G0" fmla="+- 21600 0 0"/>
                    <a:gd name="G1" fmla="+- 21600 0 0"/>
                    <a:gd name="G2" fmla="+- 21600 0 0"/>
                    <a:gd name="T0" fmla="*/ 100 w 43200"/>
                    <a:gd name="T1" fmla="*/ 23674 h 23674"/>
                    <a:gd name="T2" fmla="*/ 43200 w 43200"/>
                    <a:gd name="T3" fmla="*/ 21600 h 23674"/>
                    <a:gd name="T4" fmla="*/ 21600 w 43200"/>
                    <a:gd name="T5" fmla="*/ 21600 h 23674"/>
                  </a:gdLst>
                  <a:ahLst/>
                  <a:cxnLst>
                    <a:cxn ang="0">
                      <a:pos x="T0" y="T1"/>
                    </a:cxn>
                    <a:cxn ang="0">
                      <a:pos x="T2" y="T3"/>
                    </a:cxn>
                    <a:cxn ang="0">
                      <a:pos x="T4" y="T5"/>
                    </a:cxn>
                  </a:cxnLst>
                  <a:rect l="0" t="0" r="r" b="b"/>
                  <a:pathLst>
                    <a:path w="43200" h="23674" fill="none" extrusionOk="0">
                      <a:moveTo>
                        <a:pt x="99" y="23674"/>
                      </a:moveTo>
                      <a:cubicBezTo>
                        <a:pt x="33" y="22984"/>
                        <a:pt x="0" y="22292"/>
                        <a:pt x="0" y="21600"/>
                      </a:cubicBezTo>
                      <a:cubicBezTo>
                        <a:pt x="0" y="9670"/>
                        <a:pt x="9670" y="0"/>
                        <a:pt x="21600" y="0"/>
                      </a:cubicBezTo>
                      <a:cubicBezTo>
                        <a:pt x="33529" y="-1"/>
                        <a:pt x="43199" y="9670"/>
                        <a:pt x="43200" y="21599"/>
                      </a:cubicBezTo>
                    </a:path>
                    <a:path w="43200" h="23674" stroke="0" extrusionOk="0">
                      <a:moveTo>
                        <a:pt x="99" y="23674"/>
                      </a:moveTo>
                      <a:cubicBezTo>
                        <a:pt x="33" y="22984"/>
                        <a:pt x="0" y="22292"/>
                        <a:pt x="0" y="21600"/>
                      </a:cubicBezTo>
                      <a:cubicBezTo>
                        <a:pt x="0" y="9670"/>
                        <a:pt x="9670" y="0"/>
                        <a:pt x="21600" y="0"/>
                      </a:cubicBezTo>
                      <a:cubicBezTo>
                        <a:pt x="33529" y="-1"/>
                        <a:pt x="43199" y="9670"/>
                        <a:pt x="43200" y="21599"/>
                      </a:cubicBezTo>
                      <a:lnTo>
                        <a:pt x="21600" y="21600"/>
                      </a:lnTo>
                      <a:close/>
                    </a:path>
                  </a:pathLst>
                </a:custGeom>
                <a:noFill/>
                <a:ln w="9525">
                  <a:solidFill>
                    <a:srgbClr val="000000"/>
                  </a:solidFill>
                  <a:round/>
                  <a:headEnd/>
                  <a:tailEnd/>
                </a:ln>
              </p:spPr>
              <p:txBody>
                <a:bodyPr/>
                <a:lstStyle/>
                <a:p>
                  <a:pPr>
                    <a:defRPr/>
                  </a:pPr>
                  <a:endParaRPr lang="zh-CN" altLang="en-US" sz="1050"/>
                </a:p>
              </p:txBody>
            </p:sp>
          </p:grpSp>
          <p:sp>
            <p:nvSpPr>
              <p:cNvPr id="14507" name="Rectangle 171"/>
              <p:cNvSpPr>
                <a:spLocks noChangeArrowheads="1"/>
              </p:cNvSpPr>
              <p:nvPr/>
            </p:nvSpPr>
            <p:spPr bwMode="auto">
              <a:xfrm>
                <a:off x="5101" y="5538"/>
                <a:ext cx="375" cy="71"/>
              </a:xfrm>
              <a:prstGeom prst="rect">
                <a:avLst/>
              </a:prstGeom>
              <a:solidFill>
                <a:srgbClr val="FFFFFF"/>
              </a:solidFill>
              <a:ln w="9525">
                <a:solidFill>
                  <a:srgbClr val="000000"/>
                </a:solidFill>
                <a:miter lim="800000"/>
                <a:headEnd/>
                <a:tailEnd/>
              </a:ln>
            </p:spPr>
            <p:txBody>
              <a:bodyPr/>
              <a:lstStyle/>
              <a:p>
                <a:pPr>
                  <a:defRPr/>
                </a:pPr>
                <a:endParaRPr lang="zh-CN" altLang="en-US" sz="1050"/>
              </a:p>
            </p:txBody>
          </p:sp>
          <p:grpSp>
            <p:nvGrpSpPr>
              <p:cNvPr id="14416" name="Group 167"/>
              <p:cNvGrpSpPr>
                <a:grpSpLocks/>
              </p:cNvGrpSpPr>
              <p:nvPr/>
            </p:nvGrpSpPr>
            <p:grpSpPr bwMode="auto">
              <a:xfrm>
                <a:off x="5185" y="5824"/>
                <a:ext cx="208" cy="208"/>
                <a:chOff x="5151" y="5784"/>
                <a:chExt cx="333" cy="333"/>
              </a:xfrm>
            </p:grpSpPr>
            <p:sp>
              <p:nvSpPr>
                <p:cNvPr id="14506" name="Oval 170"/>
                <p:cNvSpPr>
                  <a:spLocks noChangeArrowheads="1"/>
                </p:cNvSpPr>
                <p:nvPr/>
              </p:nvSpPr>
              <p:spPr bwMode="auto">
                <a:xfrm>
                  <a:off x="5150" y="5784"/>
                  <a:ext cx="334" cy="333"/>
                </a:xfrm>
                <a:prstGeom prst="ellipse">
                  <a:avLst/>
                </a:prstGeom>
                <a:solidFill>
                  <a:srgbClr val="FFFFFF"/>
                </a:solidFill>
                <a:ln w="9525">
                  <a:solidFill>
                    <a:srgbClr val="000000"/>
                  </a:solidFill>
                  <a:round/>
                  <a:headEnd/>
                  <a:tailEnd/>
                </a:ln>
              </p:spPr>
              <p:txBody>
                <a:bodyPr/>
                <a:lstStyle/>
                <a:p>
                  <a:pPr>
                    <a:defRPr/>
                  </a:pPr>
                  <a:endParaRPr lang="zh-CN" altLang="en-US" sz="1050"/>
                </a:p>
              </p:txBody>
            </p:sp>
            <p:sp>
              <p:nvSpPr>
                <p:cNvPr id="14505" name="Line 169"/>
                <p:cNvSpPr>
                  <a:spLocks noChangeShapeType="1"/>
                </p:cNvSpPr>
                <p:nvPr/>
              </p:nvSpPr>
              <p:spPr bwMode="auto">
                <a:xfrm flipH="1">
                  <a:off x="5202" y="5835"/>
                  <a:ext cx="237" cy="234"/>
                </a:xfrm>
                <a:prstGeom prst="line">
                  <a:avLst/>
                </a:prstGeom>
                <a:noFill/>
                <a:ln w="9525">
                  <a:solidFill>
                    <a:srgbClr val="000000"/>
                  </a:solidFill>
                  <a:round/>
                  <a:headEnd/>
                  <a:tailEnd/>
                </a:ln>
              </p:spPr>
              <p:txBody>
                <a:bodyPr/>
                <a:lstStyle/>
                <a:p>
                  <a:pPr>
                    <a:defRPr/>
                  </a:pPr>
                  <a:endParaRPr lang="zh-CN" altLang="en-US" sz="1050"/>
                </a:p>
              </p:txBody>
            </p:sp>
            <p:sp>
              <p:nvSpPr>
                <p:cNvPr id="14504" name="Line 168"/>
                <p:cNvSpPr>
                  <a:spLocks noChangeShapeType="1"/>
                </p:cNvSpPr>
                <p:nvPr/>
              </p:nvSpPr>
              <p:spPr bwMode="auto">
                <a:xfrm>
                  <a:off x="5186" y="5844"/>
                  <a:ext cx="247" cy="216"/>
                </a:xfrm>
                <a:prstGeom prst="line">
                  <a:avLst/>
                </a:prstGeom>
                <a:noFill/>
                <a:ln w="9525">
                  <a:solidFill>
                    <a:srgbClr val="000000"/>
                  </a:solidFill>
                  <a:round/>
                  <a:headEnd/>
                  <a:tailEnd/>
                </a:ln>
              </p:spPr>
              <p:txBody>
                <a:bodyPr/>
                <a:lstStyle/>
                <a:p>
                  <a:pPr>
                    <a:defRPr/>
                  </a:pPr>
                  <a:endParaRPr lang="zh-CN" altLang="en-US" sz="1050"/>
                </a:p>
              </p:txBody>
            </p:sp>
          </p:grpSp>
          <p:sp>
            <p:nvSpPr>
              <p:cNvPr id="14502" name="Line 166"/>
              <p:cNvSpPr>
                <a:spLocks noChangeShapeType="1"/>
              </p:cNvSpPr>
              <p:nvPr/>
            </p:nvSpPr>
            <p:spPr bwMode="auto">
              <a:xfrm flipV="1">
                <a:off x="5335" y="5615"/>
                <a:ext cx="0" cy="220"/>
              </a:xfrm>
              <a:prstGeom prst="line">
                <a:avLst/>
              </a:prstGeom>
              <a:noFill/>
              <a:ln w="6350">
                <a:solidFill>
                  <a:srgbClr val="000000"/>
                </a:solidFill>
                <a:round/>
                <a:headEnd/>
                <a:tailEnd/>
              </a:ln>
            </p:spPr>
            <p:txBody>
              <a:bodyPr/>
              <a:lstStyle/>
              <a:p>
                <a:pPr>
                  <a:defRPr/>
                </a:pPr>
                <a:endParaRPr lang="zh-CN" altLang="en-US" sz="1050"/>
              </a:p>
            </p:txBody>
          </p:sp>
          <p:sp>
            <p:nvSpPr>
              <p:cNvPr id="14501" name="Line 165"/>
              <p:cNvSpPr>
                <a:spLocks noChangeShapeType="1"/>
              </p:cNvSpPr>
              <p:nvPr/>
            </p:nvSpPr>
            <p:spPr bwMode="auto">
              <a:xfrm flipV="1">
                <a:off x="5240" y="5610"/>
                <a:ext cx="0" cy="220"/>
              </a:xfrm>
              <a:prstGeom prst="line">
                <a:avLst/>
              </a:prstGeom>
              <a:noFill/>
              <a:ln w="6350">
                <a:solidFill>
                  <a:srgbClr val="000000"/>
                </a:solidFill>
                <a:round/>
                <a:headEnd/>
                <a:tailEnd/>
              </a:ln>
            </p:spPr>
            <p:txBody>
              <a:bodyPr/>
              <a:lstStyle/>
              <a:p>
                <a:pPr>
                  <a:defRPr/>
                </a:pPr>
                <a:endParaRPr lang="zh-CN" altLang="en-US" sz="1050"/>
              </a:p>
            </p:txBody>
          </p:sp>
        </p:grpSp>
        <p:sp>
          <p:nvSpPr>
            <p:cNvPr id="14499" name="Line 163"/>
            <p:cNvSpPr>
              <a:spLocks noChangeShapeType="1"/>
            </p:cNvSpPr>
            <p:nvPr/>
          </p:nvSpPr>
          <p:spPr bwMode="auto">
            <a:xfrm flipH="1" flipV="1">
              <a:off x="5240" y="9325"/>
              <a:ext cx="224" cy="961"/>
            </a:xfrm>
            <a:prstGeom prst="line">
              <a:avLst/>
            </a:prstGeom>
            <a:noFill/>
            <a:ln w="6350">
              <a:solidFill>
                <a:srgbClr val="000000"/>
              </a:solidFill>
              <a:round/>
              <a:headEnd/>
              <a:tailEnd/>
            </a:ln>
          </p:spPr>
          <p:txBody>
            <a:bodyPr/>
            <a:lstStyle/>
            <a:p>
              <a:pPr>
                <a:defRPr/>
              </a:pPr>
              <a:endParaRPr lang="zh-CN" altLang="en-US" sz="1050"/>
            </a:p>
          </p:txBody>
        </p:sp>
        <p:sp>
          <p:nvSpPr>
            <p:cNvPr id="14498" name="Line 162"/>
            <p:cNvSpPr>
              <a:spLocks noChangeShapeType="1"/>
            </p:cNvSpPr>
            <p:nvPr/>
          </p:nvSpPr>
          <p:spPr bwMode="auto">
            <a:xfrm flipV="1">
              <a:off x="5309" y="9018"/>
              <a:ext cx="251" cy="1254"/>
            </a:xfrm>
            <a:prstGeom prst="line">
              <a:avLst/>
            </a:prstGeom>
            <a:noFill/>
            <a:ln w="6350">
              <a:solidFill>
                <a:srgbClr val="000000"/>
              </a:solidFill>
              <a:round/>
              <a:headEnd/>
              <a:tailEnd/>
            </a:ln>
          </p:spPr>
          <p:txBody>
            <a:bodyPr/>
            <a:lstStyle/>
            <a:p>
              <a:pPr>
                <a:defRPr/>
              </a:pPr>
              <a:endParaRPr lang="zh-CN" altLang="en-US" sz="1050"/>
            </a:p>
          </p:txBody>
        </p:sp>
        <p:grpSp>
          <p:nvGrpSpPr>
            <p:cNvPr id="14360" name="Group 156"/>
            <p:cNvGrpSpPr>
              <a:grpSpLocks/>
            </p:cNvGrpSpPr>
            <p:nvPr/>
          </p:nvGrpSpPr>
          <p:grpSpPr bwMode="auto">
            <a:xfrm>
              <a:off x="7219" y="8714"/>
              <a:ext cx="469" cy="942"/>
              <a:chOff x="7230" y="4005"/>
              <a:chExt cx="346" cy="640"/>
            </a:xfrm>
          </p:grpSpPr>
          <p:sp>
            <p:nvSpPr>
              <p:cNvPr id="14497" name="Arc 161"/>
              <p:cNvSpPr>
                <a:spLocks/>
              </p:cNvSpPr>
              <p:nvPr/>
            </p:nvSpPr>
            <p:spPr bwMode="auto">
              <a:xfrm flipH="1">
                <a:off x="7231" y="4005"/>
                <a:ext cx="97" cy="637"/>
              </a:xfrm>
              <a:custGeom>
                <a:avLst/>
                <a:gdLst>
                  <a:gd name="G0" fmla="+- 0 0 0"/>
                  <a:gd name="G1" fmla="+- 21600 0 0"/>
                  <a:gd name="G2" fmla="+- 21600 0 0"/>
                  <a:gd name="T0" fmla="*/ 0 w 21600"/>
                  <a:gd name="T1" fmla="*/ 0 h 42904"/>
                  <a:gd name="T2" fmla="*/ 3566 w 21600"/>
                  <a:gd name="T3" fmla="*/ 42904 h 42904"/>
                  <a:gd name="T4" fmla="*/ 0 w 21600"/>
                  <a:gd name="T5" fmla="*/ 21600 h 42904"/>
                </a:gdLst>
                <a:ahLst/>
                <a:cxnLst>
                  <a:cxn ang="0">
                    <a:pos x="T0" y="T1"/>
                  </a:cxn>
                  <a:cxn ang="0">
                    <a:pos x="T2" y="T3"/>
                  </a:cxn>
                  <a:cxn ang="0">
                    <a:pos x="T4" y="T5"/>
                  </a:cxn>
                </a:cxnLst>
                <a:rect l="0" t="0" r="r" b="b"/>
                <a:pathLst>
                  <a:path w="21600" h="42904" fill="none" extrusionOk="0">
                    <a:moveTo>
                      <a:pt x="-1" y="0"/>
                    </a:moveTo>
                    <a:cubicBezTo>
                      <a:pt x="11929" y="0"/>
                      <a:pt x="21600" y="9670"/>
                      <a:pt x="21600" y="21600"/>
                    </a:cubicBezTo>
                    <a:cubicBezTo>
                      <a:pt x="21600" y="32153"/>
                      <a:pt x="13974" y="41161"/>
                      <a:pt x="3565" y="42903"/>
                    </a:cubicBezTo>
                  </a:path>
                  <a:path w="21600" h="42904" stroke="0" extrusionOk="0">
                    <a:moveTo>
                      <a:pt x="-1" y="0"/>
                    </a:moveTo>
                    <a:cubicBezTo>
                      <a:pt x="11929" y="0"/>
                      <a:pt x="21600" y="9670"/>
                      <a:pt x="21600" y="21600"/>
                    </a:cubicBezTo>
                    <a:cubicBezTo>
                      <a:pt x="21600" y="32153"/>
                      <a:pt x="13974" y="41161"/>
                      <a:pt x="3565" y="42903"/>
                    </a:cubicBezTo>
                    <a:lnTo>
                      <a:pt x="0" y="21600"/>
                    </a:lnTo>
                    <a:close/>
                  </a:path>
                </a:pathLst>
              </a:custGeom>
              <a:noFill/>
              <a:ln w="9525">
                <a:solidFill>
                  <a:srgbClr val="000000"/>
                </a:solidFill>
                <a:round/>
                <a:headEnd/>
                <a:tailEnd/>
              </a:ln>
            </p:spPr>
            <p:txBody>
              <a:bodyPr/>
              <a:lstStyle/>
              <a:p>
                <a:pPr>
                  <a:defRPr/>
                </a:pPr>
                <a:endParaRPr lang="zh-CN" altLang="en-US" sz="1050"/>
              </a:p>
            </p:txBody>
          </p:sp>
          <p:sp>
            <p:nvSpPr>
              <p:cNvPr id="14496" name="Arc 160"/>
              <p:cNvSpPr>
                <a:spLocks/>
              </p:cNvSpPr>
              <p:nvPr/>
            </p:nvSpPr>
            <p:spPr bwMode="auto">
              <a:xfrm flipH="1">
                <a:off x="7291" y="4005"/>
                <a:ext cx="99" cy="637"/>
              </a:xfrm>
              <a:custGeom>
                <a:avLst/>
                <a:gdLst>
                  <a:gd name="G0" fmla="+- 0 0 0"/>
                  <a:gd name="G1" fmla="+- 21600 0 0"/>
                  <a:gd name="G2" fmla="+- 21600 0 0"/>
                  <a:gd name="T0" fmla="*/ 0 w 21600"/>
                  <a:gd name="T1" fmla="*/ 0 h 42904"/>
                  <a:gd name="T2" fmla="*/ 3566 w 21600"/>
                  <a:gd name="T3" fmla="*/ 42904 h 42904"/>
                  <a:gd name="T4" fmla="*/ 0 w 21600"/>
                  <a:gd name="T5" fmla="*/ 21600 h 42904"/>
                </a:gdLst>
                <a:ahLst/>
                <a:cxnLst>
                  <a:cxn ang="0">
                    <a:pos x="T0" y="T1"/>
                  </a:cxn>
                  <a:cxn ang="0">
                    <a:pos x="T2" y="T3"/>
                  </a:cxn>
                  <a:cxn ang="0">
                    <a:pos x="T4" y="T5"/>
                  </a:cxn>
                </a:cxnLst>
                <a:rect l="0" t="0" r="r" b="b"/>
                <a:pathLst>
                  <a:path w="21600" h="42904" fill="none" extrusionOk="0">
                    <a:moveTo>
                      <a:pt x="-1" y="0"/>
                    </a:moveTo>
                    <a:cubicBezTo>
                      <a:pt x="11929" y="0"/>
                      <a:pt x="21600" y="9670"/>
                      <a:pt x="21600" y="21600"/>
                    </a:cubicBezTo>
                    <a:cubicBezTo>
                      <a:pt x="21600" y="32153"/>
                      <a:pt x="13974" y="41161"/>
                      <a:pt x="3565" y="42903"/>
                    </a:cubicBezTo>
                  </a:path>
                  <a:path w="21600" h="42904" stroke="0" extrusionOk="0">
                    <a:moveTo>
                      <a:pt x="-1" y="0"/>
                    </a:moveTo>
                    <a:cubicBezTo>
                      <a:pt x="11929" y="0"/>
                      <a:pt x="21600" y="9670"/>
                      <a:pt x="21600" y="21600"/>
                    </a:cubicBezTo>
                    <a:cubicBezTo>
                      <a:pt x="21600" y="32153"/>
                      <a:pt x="13974" y="41161"/>
                      <a:pt x="3565" y="42903"/>
                    </a:cubicBezTo>
                    <a:lnTo>
                      <a:pt x="0" y="21600"/>
                    </a:lnTo>
                    <a:close/>
                  </a:path>
                </a:pathLst>
              </a:custGeom>
              <a:noFill/>
              <a:ln w="9525">
                <a:solidFill>
                  <a:srgbClr val="000000"/>
                </a:solidFill>
                <a:round/>
                <a:headEnd/>
                <a:tailEnd/>
              </a:ln>
            </p:spPr>
            <p:txBody>
              <a:bodyPr/>
              <a:lstStyle/>
              <a:p>
                <a:pPr>
                  <a:defRPr/>
                </a:pPr>
                <a:endParaRPr lang="zh-CN" altLang="en-US" sz="1050"/>
              </a:p>
            </p:txBody>
          </p:sp>
          <p:sp>
            <p:nvSpPr>
              <p:cNvPr id="14495" name="Arc 159"/>
              <p:cNvSpPr>
                <a:spLocks/>
              </p:cNvSpPr>
              <p:nvPr/>
            </p:nvSpPr>
            <p:spPr bwMode="auto">
              <a:xfrm>
                <a:off x="7425" y="4009"/>
                <a:ext cx="150" cy="636"/>
              </a:xfrm>
              <a:custGeom>
                <a:avLst/>
                <a:gdLst>
                  <a:gd name="G0" fmla="+- 0 0 0"/>
                  <a:gd name="G1" fmla="+- 20990 0 0"/>
                  <a:gd name="G2" fmla="+- 21600 0 0"/>
                  <a:gd name="T0" fmla="*/ 5098 w 21600"/>
                  <a:gd name="T1" fmla="*/ 0 h 41788"/>
                  <a:gd name="T2" fmla="*/ 5831 w 21600"/>
                  <a:gd name="T3" fmla="*/ 41788 h 41788"/>
                  <a:gd name="T4" fmla="*/ 0 w 21600"/>
                  <a:gd name="T5" fmla="*/ 20990 h 41788"/>
                </a:gdLst>
                <a:ahLst/>
                <a:cxnLst>
                  <a:cxn ang="0">
                    <a:pos x="T0" y="T1"/>
                  </a:cxn>
                  <a:cxn ang="0">
                    <a:pos x="T2" y="T3"/>
                  </a:cxn>
                  <a:cxn ang="0">
                    <a:pos x="T4" y="T5"/>
                  </a:cxn>
                </a:cxnLst>
                <a:rect l="0" t="0" r="r" b="b"/>
                <a:pathLst>
                  <a:path w="21600" h="41788" fill="none" extrusionOk="0">
                    <a:moveTo>
                      <a:pt x="5097" y="0"/>
                    </a:moveTo>
                    <a:cubicBezTo>
                      <a:pt x="14782" y="2352"/>
                      <a:pt x="21600" y="11024"/>
                      <a:pt x="21600" y="20990"/>
                    </a:cubicBezTo>
                    <a:cubicBezTo>
                      <a:pt x="21600" y="30673"/>
                      <a:pt x="15155" y="39173"/>
                      <a:pt x="5831" y="41788"/>
                    </a:cubicBezTo>
                  </a:path>
                  <a:path w="21600" h="41788" stroke="0" extrusionOk="0">
                    <a:moveTo>
                      <a:pt x="5097" y="0"/>
                    </a:moveTo>
                    <a:cubicBezTo>
                      <a:pt x="14782" y="2352"/>
                      <a:pt x="21600" y="11024"/>
                      <a:pt x="21600" y="20990"/>
                    </a:cubicBezTo>
                    <a:cubicBezTo>
                      <a:pt x="21600" y="30673"/>
                      <a:pt x="15155" y="39173"/>
                      <a:pt x="5831" y="41788"/>
                    </a:cubicBezTo>
                    <a:lnTo>
                      <a:pt x="0" y="20990"/>
                    </a:lnTo>
                    <a:close/>
                  </a:path>
                </a:pathLst>
              </a:custGeom>
              <a:noFill/>
              <a:ln w="9525">
                <a:solidFill>
                  <a:srgbClr val="000000"/>
                </a:solidFill>
                <a:round/>
                <a:headEnd/>
                <a:tailEnd/>
              </a:ln>
            </p:spPr>
            <p:txBody>
              <a:bodyPr/>
              <a:lstStyle/>
              <a:p>
                <a:pPr>
                  <a:defRPr/>
                </a:pPr>
                <a:endParaRPr lang="zh-CN" altLang="en-US" sz="1050"/>
              </a:p>
            </p:txBody>
          </p:sp>
          <p:sp>
            <p:nvSpPr>
              <p:cNvPr id="14494" name="Line 158"/>
              <p:cNvSpPr>
                <a:spLocks noChangeShapeType="1"/>
              </p:cNvSpPr>
              <p:nvPr/>
            </p:nvSpPr>
            <p:spPr bwMode="auto">
              <a:xfrm>
                <a:off x="7317" y="4005"/>
                <a:ext cx="138" cy="0"/>
              </a:xfrm>
              <a:prstGeom prst="line">
                <a:avLst/>
              </a:prstGeom>
              <a:noFill/>
              <a:ln w="9525">
                <a:solidFill>
                  <a:srgbClr val="000000"/>
                </a:solidFill>
                <a:round/>
                <a:headEnd/>
                <a:tailEnd/>
              </a:ln>
            </p:spPr>
            <p:txBody>
              <a:bodyPr/>
              <a:lstStyle/>
              <a:p>
                <a:pPr>
                  <a:defRPr/>
                </a:pPr>
                <a:endParaRPr lang="zh-CN" altLang="en-US" sz="1050"/>
              </a:p>
            </p:txBody>
          </p:sp>
          <p:sp>
            <p:nvSpPr>
              <p:cNvPr id="14493" name="Line 157"/>
              <p:cNvSpPr>
                <a:spLocks noChangeShapeType="1"/>
              </p:cNvSpPr>
              <p:nvPr/>
            </p:nvSpPr>
            <p:spPr bwMode="auto">
              <a:xfrm>
                <a:off x="7312" y="4644"/>
                <a:ext cx="158" cy="0"/>
              </a:xfrm>
              <a:prstGeom prst="line">
                <a:avLst/>
              </a:prstGeom>
              <a:noFill/>
              <a:ln w="9525">
                <a:solidFill>
                  <a:srgbClr val="000000"/>
                </a:solidFill>
                <a:round/>
                <a:headEnd/>
                <a:tailEnd/>
              </a:ln>
            </p:spPr>
            <p:txBody>
              <a:bodyPr/>
              <a:lstStyle/>
              <a:p>
                <a:pPr>
                  <a:defRPr/>
                </a:pPr>
                <a:endParaRPr lang="zh-CN" altLang="en-US" sz="1050"/>
              </a:p>
            </p:txBody>
          </p:sp>
        </p:grpSp>
        <p:sp>
          <p:nvSpPr>
            <p:cNvPr id="14491" name="Rectangle 155"/>
            <p:cNvSpPr>
              <a:spLocks noChangeArrowheads="1"/>
            </p:cNvSpPr>
            <p:nvPr/>
          </p:nvSpPr>
          <p:spPr bwMode="auto">
            <a:xfrm>
              <a:off x="8107" y="8687"/>
              <a:ext cx="105" cy="984"/>
            </a:xfrm>
            <a:prstGeom prst="rect">
              <a:avLst/>
            </a:prstGeom>
            <a:solidFill>
              <a:srgbClr val="FFFFFF"/>
            </a:solidFill>
            <a:ln w="9525">
              <a:solidFill>
                <a:srgbClr val="000000"/>
              </a:solidFill>
              <a:miter lim="800000"/>
              <a:headEnd/>
              <a:tailEnd/>
            </a:ln>
          </p:spPr>
          <p:txBody>
            <a:bodyPr/>
            <a:lstStyle/>
            <a:p>
              <a:pPr>
                <a:defRPr/>
              </a:pPr>
              <a:endParaRPr lang="zh-CN" altLang="en-US" sz="1050"/>
            </a:p>
          </p:txBody>
        </p:sp>
        <p:sp>
          <p:nvSpPr>
            <p:cNvPr id="14490" name="Line 154"/>
            <p:cNvSpPr>
              <a:spLocks noChangeShapeType="1"/>
            </p:cNvSpPr>
            <p:nvPr/>
          </p:nvSpPr>
          <p:spPr bwMode="auto">
            <a:xfrm flipV="1">
              <a:off x="3963" y="8741"/>
              <a:ext cx="3344" cy="509"/>
            </a:xfrm>
            <a:prstGeom prst="line">
              <a:avLst/>
            </a:prstGeom>
            <a:noFill/>
            <a:ln w="6350">
              <a:solidFill>
                <a:srgbClr val="000000"/>
              </a:solidFill>
              <a:round/>
              <a:headEnd/>
              <a:tailEnd/>
            </a:ln>
          </p:spPr>
          <p:txBody>
            <a:bodyPr/>
            <a:lstStyle/>
            <a:p>
              <a:pPr>
                <a:defRPr/>
              </a:pPr>
              <a:endParaRPr lang="zh-CN" altLang="en-US" sz="1050"/>
            </a:p>
          </p:txBody>
        </p:sp>
        <p:sp>
          <p:nvSpPr>
            <p:cNvPr id="14489" name="Line 153"/>
            <p:cNvSpPr>
              <a:spLocks noChangeShapeType="1"/>
            </p:cNvSpPr>
            <p:nvPr/>
          </p:nvSpPr>
          <p:spPr bwMode="auto">
            <a:xfrm>
              <a:off x="7537" y="8728"/>
              <a:ext cx="570" cy="0"/>
            </a:xfrm>
            <a:prstGeom prst="line">
              <a:avLst/>
            </a:prstGeom>
            <a:noFill/>
            <a:ln w="6350">
              <a:solidFill>
                <a:srgbClr val="000000"/>
              </a:solidFill>
              <a:round/>
              <a:headEnd/>
              <a:tailEnd/>
            </a:ln>
          </p:spPr>
          <p:txBody>
            <a:bodyPr/>
            <a:lstStyle/>
            <a:p>
              <a:pPr>
                <a:defRPr/>
              </a:pPr>
              <a:endParaRPr lang="zh-CN" altLang="en-US" sz="1050"/>
            </a:p>
          </p:txBody>
        </p:sp>
        <p:sp>
          <p:nvSpPr>
            <p:cNvPr id="14488" name="Line 152"/>
            <p:cNvSpPr>
              <a:spLocks noChangeShapeType="1"/>
            </p:cNvSpPr>
            <p:nvPr/>
          </p:nvSpPr>
          <p:spPr bwMode="auto">
            <a:xfrm>
              <a:off x="3968" y="9119"/>
              <a:ext cx="3326" cy="496"/>
            </a:xfrm>
            <a:prstGeom prst="line">
              <a:avLst/>
            </a:prstGeom>
            <a:noFill/>
            <a:ln w="6350">
              <a:solidFill>
                <a:srgbClr val="000000"/>
              </a:solidFill>
              <a:round/>
              <a:headEnd/>
              <a:tailEnd/>
            </a:ln>
          </p:spPr>
          <p:txBody>
            <a:bodyPr/>
            <a:lstStyle/>
            <a:p>
              <a:pPr>
                <a:defRPr/>
              </a:pPr>
              <a:endParaRPr lang="zh-CN" altLang="en-US" sz="1050"/>
            </a:p>
          </p:txBody>
        </p:sp>
        <p:sp>
          <p:nvSpPr>
            <p:cNvPr id="14487" name="Line 151"/>
            <p:cNvSpPr>
              <a:spLocks noChangeShapeType="1"/>
            </p:cNvSpPr>
            <p:nvPr/>
          </p:nvSpPr>
          <p:spPr bwMode="auto">
            <a:xfrm>
              <a:off x="7577" y="9615"/>
              <a:ext cx="523" cy="7"/>
            </a:xfrm>
            <a:prstGeom prst="line">
              <a:avLst/>
            </a:prstGeom>
            <a:noFill/>
            <a:ln w="6350">
              <a:solidFill>
                <a:srgbClr val="000000"/>
              </a:solidFill>
              <a:round/>
              <a:headEnd/>
              <a:tailEnd/>
            </a:ln>
          </p:spPr>
          <p:txBody>
            <a:bodyPr/>
            <a:lstStyle/>
            <a:p>
              <a:pPr>
                <a:defRPr/>
              </a:pPr>
              <a:endParaRPr lang="zh-CN" altLang="en-US" sz="1050"/>
            </a:p>
          </p:txBody>
        </p:sp>
        <p:sp>
          <p:nvSpPr>
            <p:cNvPr id="14486" name="Rectangle 150"/>
            <p:cNvSpPr>
              <a:spLocks noChangeArrowheads="1"/>
            </p:cNvSpPr>
            <p:nvPr/>
          </p:nvSpPr>
          <p:spPr bwMode="auto">
            <a:xfrm>
              <a:off x="4278" y="8990"/>
              <a:ext cx="95" cy="427"/>
            </a:xfrm>
            <a:prstGeom prst="rect">
              <a:avLst/>
            </a:prstGeom>
            <a:solidFill>
              <a:srgbClr val="FFFFFF"/>
            </a:solidFill>
            <a:ln w="9525">
              <a:solidFill>
                <a:srgbClr val="000000"/>
              </a:solidFill>
              <a:miter lim="800000"/>
              <a:headEnd/>
              <a:tailEnd/>
            </a:ln>
          </p:spPr>
          <p:txBody>
            <a:bodyPr/>
            <a:lstStyle/>
            <a:p>
              <a:pPr>
                <a:defRPr/>
              </a:pPr>
              <a:endParaRPr lang="zh-CN" altLang="en-US" sz="1050"/>
            </a:p>
          </p:txBody>
        </p:sp>
        <p:sp>
          <p:nvSpPr>
            <p:cNvPr id="14485" name="Line 149"/>
            <p:cNvSpPr>
              <a:spLocks noChangeShapeType="1"/>
            </p:cNvSpPr>
            <p:nvPr/>
          </p:nvSpPr>
          <p:spPr bwMode="auto">
            <a:xfrm>
              <a:off x="3052" y="9190"/>
              <a:ext cx="5258" cy="0"/>
            </a:xfrm>
            <a:prstGeom prst="line">
              <a:avLst/>
            </a:prstGeom>
            <a:noFill/>
            <a:ln w="6350">
              <a:solidFill>
                <a:srgbClr val="000000"/>
              </a:solidFill>
              <a:prstDash val="lgDashDot"/>
              <a:round/>
              <a:headEnd/>
              <a:tailEnd/>
            </a:ln>
          </p:spPr>
          <p:txBody>
            <a:bodyPr/>
            <a:lstStyle/>
            <a:p>
              <a:pPr>
                <a:defRPr/>
              </a:pPr>
              <a:endParaRPr lang="zh-CN" altLang="en-US" sz="1050"/>
            </a:p>
          </p:txBody>
        </p:sp>
        <p:grpSp>
          <p:nvGrpSpPr>
            <p:cNvPr id="14368" name="Group 143"/>
            <p:cNvGrpSpPr>
              <a:grpSpLocks/>
            </p:cNvGrpSpPr>
            <p:nvPr/>
          </p:nvGrpSpPr>
          <p:grpSpPr bwMode="auto">
            <a:xfrm>
              <a:off x="3771" y="8938"/>
              <a:ext cx="197" cy="488"/>
              <a:chOff x="7230" y="4005"/>
              <a:chExt cx="346" cy="640"/>
            </a:xfrm>
          </p:grpSpPr>
          <p:sp>
            <p:nvSpPr>
              <p:cNvPr id="14484" name="Arc 148"/>
              <p:cNvSpPr>
                <a:spLocks/>
              </p:cNvSpPr>
              <p:nvPr/>
            </p:nvSpPr>
            <p:spPr bwMode="auto">
              <a:xfrm flipH="1">
                <a:off x="7229" y="4004"/>
                <a:ext cx="97" cy="638"/>
              </a:xfrm>
              <a:custGeom>
                <a:avLst/>
                <a:gdLst>
                  <a:gd name="G0" fmla="+- 0 0 0"/>
                  <a:gd name="G1" fmla="+- 21600 0 0"/>
                  <a:gd name="G2" fmla="+- 21600 0 0"/>
                  <a:gd name="T0" fmla="*/ 0 w 21600"/>
                  <a:gd name="T1" fmla="*/ 0 h 42904"/>
                  <a:gd name="T2" fmla="*/ 3566 w 21600"/>
                  <a:gd name="T3" fmla="*/ 42904 h 42904"/>
                  <a:gd name="T4" fmla="*/ 0 w 21600"/>
                  <a:gd name="T5" fmla="*/ 21600 h 42904"/>
                </a:gdLst>
                <a:ahLst/>
                <a:cxnLst>
                  <a:cxn ang="0">
                    <a:pos x="T0" y="T1"/>
                  </a:cxn>
                  <a:cxn ang="0">
                    <a:pos x="T2" y="T3"/>
                  </a:cxn>
                  <a:cxn ang="0">
                    <a:pos x="T4" y="T5"/>
                  </a:cxn>
                </a:cxnLst>
                <a:rect l="0" t="0" r="r" b="b"/>
                <a:pathLst>
                  <a:path w="21600" h="42904" fill="none" extrusionOk="0">
                    <a:moveTo>
                      <a:pt x="-1" y="0"/>
                    </a:moveTo>
                    <a:cubicBezTo>
                      <a:pt x="11929" y="0"/>
                      <a:pt x="21600" y="9670"/>
                      <a:pt x="21600" y="21600"/>
                    </a:cubicBezTo>
                    <a:cubicBezTo>
                      <a:pt x="21600" y="32153"/>
                      <a:pt x="13974" y="41161"/>
                      <a:pt x="3565" y="42903"/>
                    </a:cubicBezTo>
                  </a:path>
                  <a:path w="21600" h="42904" stroke="0" extrusionOk="0">
                    <a:moveTo>
                      <a:pt x="-1" y="0"/>
                    </a:moveTo>
                    <a:cubicBezTo>
                      <a:pt x="11929" y="0"/>
                      <a:pt x="21600" y="9670"/>
                      <a:pt x="21600" y="21600"/>
                    </a:cubicBezTo>
                    <a:cubicBezTo>
                      <a:pt x="21600" y="32153"/>
                      <a:pt x="13974" y="41161"/>
                      <a:pt x="3565" y="42903"/>
                    </a:cubicBezTo>
                    <a:lnTo>
                      <a:pt x="0" y="21600"/>
                    </a:lnTo>
                    <a:close/>
                  </a:path>
                </a:pathLst>
              </a:custGeom>
              <a:noFill/>
              <a:ln w="9525">
                <a:solidFill>
                  <a:srgbClr val="000000"/>
                </a:solidFill>
                <a:round/>
                <a:headEnd/>
                <a:tailEnd/>
              </a:ln>
            </p:spPr>
            <p:txBody>
              <a:bodyPr/>
              <a:lstStyle/>
              <a:p>
                <a:pPr>
                  <a:defRPr/>
                </a:pPr>
                <a:endParaRPr lang="zh-CN" altLang="en-US" sz="1050"/>
              </a:p>
            </p:txBody>
          </p:sp>
          <p:sp>
            <p:nvSpPr>
              <p:cNvPr id="14483" name="Arc 147"/>
              <p:cNvSpPr>
                <a:spLocks/>
              </p:cNvSpPr>
              <p:nvPr/>
            </p:nvSpPr>
            <p:spPr bwMode="auto">
              <a:xfrm flipH="1">
                <a:off x="7291" y="4004"/>
                <a:ext cx="97" cy="638"/>
              </a:xfrm>
              <a:custGeom>
                <a:avLst/>
                <a:gdLst>
                  <a:gd name="G0" fmla="+- 0 0 0"/>
                  <a:gd name="G1" fmla="+- 21600 0 0"/>
                  <a:gd name="G2" fmla="+- 21600 0 0"/>
                  <a:gd name="T0" fmla="*/ 0 w 21600"/>
                  <a:gd name="T1" fmla="*/ 0 h 42904"/>
                  <a:gd name="T2" fmla="*/ 3566 w 21600"/>
                  <a:gd name="T3" fmla="*/ 42904 h 42904"/>
                  <a:gd name="T4" fmla="*/ 0 w 21600"/>
                  <a:gd name="T5" fmla="*/ 21600 h 42904"/>
                </a:gdLst>
                <a:ahLst/>
                <a:cxnLst>
                  <a:cxn ang="0">
                    <a:pos x="T0" y="T1"/>
                  </a:cxn>
                  <a:cxn ang="0">
                    <a:pos x="T2" y="T3"/>
                  </a:cxn>
                  <a:cxn ang="0">
                    <a:pos x="T4" y="T5"/>
                  </a:cxn>
                </a:cxnLst>
                <a:rect l="0" t="0" r="r" b="b"/>
                <a:pathLst>
                  <a:path w="21600" h="42904" fill="none" extrusionOk="0">
                    <a:moveTo>
                      <a:pt x="-1" y="0"/>
                    </a:moveTo>
                    <a:cubicBezTo>
                      <a:pt x="11929" y="0"/>
                      <a:pt x="21600" y="9670"/>
                      <a:pt x="21600" y="21600"/>
                    </a:cubicBezTo>
                    <a:cubicBezTo>
                      <a:pt x="21600" y="32153"/>
                      <a:pt x="13974" y="41161"/>
                      <a:pt x="3565" y="42903"/>
                    </a:cubicBezTo>
                  </a:path>
                  <a:path w="21600" h="42904" stroke="0" extrusionOk="0">
                    <a:moveTo>
                      <a:pt x="-1" y="0"/>
                    </a:moveTo>
                    <a:cubicBezTo>
                      <a:pt x="11929" y="0"/>
                      <a:pt x="21600" y="9670"/>
                      <a:pt x="21600" y="21600"/>
                    </a:cubicBezTo>
                    <a:cubicBezTo>
                      <a:pt x="21600" y="32153"/>
                      <a:pt x="13974" y="41161"/>
                      <a:pt x="3565" y="42903"/>
                    </a:cubicBezTo>
                    <a:lnTo>
                      <a:pt x="0" y="21600"/>
                    </a:lnTo>
                    <a:close/>
                  </a:path>
                </a:pathLst>
              </a:custGeom>
              <a:noFill/>
              <a:ln w="9525">
                <a:solidFill>
                  <a:srgbClr val="000000"/>
                </a:solidFill>
                <a:round/>
                <a:headEnd/>
                <a:tailEnd/>
              </a:ln>
            </p:spPr>
            <p:txBody>
              <a:bodyPr/>
              <a:lstStyle/>
              <a:p>
                <a:pPr>
                  <a:defRPr/>
                </a:pPr>
                <a:endParaRPr lang="zh-CN" altLang="en-US" sz="1050"/>
              </a:p>
            </p:txBody>
          </p:sp>
          <p:sp>
            <p:nvSpPr>
              <p:cNvPr id="14482" name="Arc 146"/>
              <p:cNvSpPr>
                <a:spLocks/>
              </p:cNvSpPr>
              <p:nvPr/>
            </p:nvSpPr>
            <p:spPr bwMode="auto">
              <a:xfrm>
                <a:off x="7426" y="4009"/>
                <a:ext cx="150" cy="635"/>
              </a:xfrm>
              <a:custGeom>
                <a:avLst/>
                <a:gdLst>
                  <a:gd name="G0" fmla="+- 0 0 0"/>
                  <a:gd name="G1" fmla="+- 20990 0 0"/>
                  <a:gd name="G2" fmla="+- 21600 0 0"/>
                  <a:gd name="T0" fmla="*/ 5098 w 21600"/>
                  <a:gd name="T1" fmla="*/ 0 h 41788"/>
                  <a:gd name="T2" fmla="*/ 5831 w 21600"/>
                  <a:gd name="T3" fmla="*/ 41788 h 41788"/>
                  <a:gd name="T4" fmla="*/ 0 w 21600"/>
                  <a:gd name="T5" fmla="*/ 20990 h 41788"/>
                </a:gdLst>
                <a:ahLst/>
                <a:cxnLst>
                  <a:cxn ang="0">
                    <a:pos x="T0" y="T1"/>
                  </a:cxn>
                  <a:cxn ang="0">
                    <a:pos x="T2" y="T3"/>
                  </a:cxn>
                  <a:cxn ang="0">
                    <a:pos x="T4" y="T5"/>
                  </a:cxn>
                </a:cxnLst>
                <a:rect l="0" t="0" r="r" b="b"/>
                <a:pathLst>
                  <a:path w="21600" h="41788" fill="none" extrusionOk="0">
                    <a:moveTo>
                      <a:pt x="5097" y="0"/>
                    </a:moveTo>
                    <a:cubicBezTo>
                      <a:pt x="14782" y="2352"/>
                      <a:pt x="21600" y="11024"/>
                      <a:pt x="21600" y="20990"/>
                    </a:cubicBezTo>
                    <a:cubicBezTo>
                      <a:pt x="21600" y="30673"/>
                      <a:pt x="15155" y="39173"/>
                      <a:pt x="5831" y="41788"/>
                    </a:cubicBezTo>
                  </a:path>
                  <a:path w="21600" h="41788" stroke="0" extrusionOk="0">
                    <a:moveTo>
                      <a:pt x="5097" y="0"/>
                    </a:moveTo>
                    <a:cubicBezTo>
                      <a:pt x="14782" y="2352"/>
                      <a:pt x="21600" y="11024"/>
                      <a:pt x="21600" y="20990"/>
                    </a:cubicBezTo>
                    <a:cubicBezTo>
                      <a:pt x="21600" y="30673"/>
                      <a:pt x="15155" y="39173"/>
                      <a:pt x="5831" y="41788"/>
                    </a:cubicBezTo>
                    <a:lnTo>
                      <a:pt x="0" y="20990"/>
                    </a:lnTo>
                    <a:close/>
                  </a:path>
                </a:pathLst>
              </a:custGeom>
              <a:noFill/>
              <a:ln w="9525">
                <a:solidFill>
                  <a:srgbClr val="000000"/>
                </a:solidFill>
                <a:round/>
                <a:headEnd/>
                <a:tailEnd/>
              </a:ln>
            </p:spPr>
            <p:txBody>
              <a:bodyPr/>
              <a:lstStyle/>
              <a:p>
                <a:pPr>
                  <a:defRPr/>
                </a:pPr>
                <a:endParaRPr lang="zh-CN" altLang="en-US" sz="1050"/>
              </a:p>
            </p:txBody>
          </p:sp>
          <p:sp>
            <p:nvSpPr>
              <p:cNvPr id="14481" name="Line 145"/>
              <p:cNvSpPr>
                <a:spLocks noChangeShapeType="1"/>
              </p:cNvSpPr>
              <p:nvPr/>
            </p:nvSpPr>
            <p:spPr bwMode="auto">
              <a:xfrm>
                <a:off x="7317" y="4004"/>
                <a:ext cx="138" cy="0"/>
              </a:xfrm>
              <a:prstGeom prst="line">
                <a:avLst/>
              </a:prstGeom>
              <a:noFill/>
              <a:ln w="9525">
                <a:solidFill>
                  <a:srgbClr val="000000"/>
                </a:solidFill>
                <a:round/>
                <a:headEnd/>
                <a:tailEnd/>
              </a:ln>
            </p:spPr>
            <p:txBody>
              <a:bodyPr/>
              <a:lstStyle/>
              <a:p>
                <a:pPr>
                  <a:defRPr/>
                </a:pPr>
                <a:endParaRPr lang="zh-CN" altLang="en-US" sz="1050"/>
              </a:p>
            </p:txBody>
          </p:sp>
          <p:sp>
            <p:nvSpPr>
              <p:cNvPr id="14480" name="Line 144"/>
              <p:cNvSpPr>
                <a:spLocks noChangeShapeType="1"/>
              </p:cNvSpPr>
              <p:nvPr/>
            </p:nvSpPr>
            <p:spPr bwMode="auto">
              <a:xfrm>
                <a:off x="7311" y="4644"/>
                <a:ext cx="158" cy="0"/>
              </a:xfrm>
              <a:prstGeom prst="line">
                <a:avLst/>
              </a:prstGeom>
              <a:noFill/>
              <a:ln w="9525">
                <a:solidFill>
                  <a:srgbClr val="000000"/>
                </a:solidFill>
                <a:round/>
                <a:headEnd/>
                <a:tailEnd/>
              </a:ln>
            </p:spPr>
            <p:txBody>
              <a:bodyPr/>
              <a:lstStyle/>
              <a:p>
                <a:pPr>
                  <a:defRPr/>
                </a:pPr>
                <a:endParaRPr lang="zh-CN" altLang="en-US" sz="1050"/>
              </a:p>
            </p:txBody>
          </p:sp>
        </p:grpSp>
        <p:grpSp>
          <p:nvGrpSpPr>
            <p:cNvPr id="14369" name="Group 140"/>
            <p:cNvGrpSpPr>
              <a:grpSpLocks/>
            </p:cNvGrpSpPr>
            <p:nvPr/>
          </p:nvGrpSpPr>
          <p:grpSpPr bwMode="auto">
            <a:xfrm>
              <a:off x="3588" y="8931"/>
              <a:ext cx="113" cy="495"/>
              <a:chOff x="3245" y="4260"/>
              <a:chExt cx="163" cy="570"/>
            </a:xfrm>
          </p:grpSpPr>
          <p:sp>
            <p:nvSpPr>
              <p:cNvPr id="14478" name="Arc 142"/>
              <p:cNvSpPr>
                <a:spLocks/>
              </p:cNvSpPr>
              <p:nvPr/>
            </p:nvSpPr>
            <p:spPr bwMode="auto">
              <a:xfrm>
                <a:off x="3316" y="4262"/>
                <a:ext cx="92" cy="567"/>
              </a:xfrm>
              <a:custGeom>
                <a:avLst/>
                <a:gdLst>
                  <a:gd name="G0" fmla="+- 0 0 0"/>
                  <a:gd name="G1" fmla="+- 21600 0 0"/>
                  <a:gd name="G2" fmla="+- 21600 0 0"/>
                  <a:gd name="T0" fmla="*/ 0 w 21600"/>
                  <a:gd name="T1" fmla="*/ 0 h 43138"/>
                  <a:gd name="T2" fmla="*/ 1642 w 21600"/>
                  <a:gd name="T3" fmla="*/ 43138 h 43138"/>
                  <a:gd name="T4" fmla="*/ 0 w 21600"/>
                  <a:gd name="T5" fmla="*/ 21600 h 43138"/>
                </a:gdLst>
                <a:ahLst/>
                <a:cxnLst>
                  <a:cxn ang="0">
                    <a:pos x="T0" y="T1"/>
                  </a:cxn>
                  <a:cxn ang="0">
                    <a:pos x="T2" y="T3"/>
                  </a:cxn>
                  <a:cxn ang="0">
                    <a:pos x="T4" y="T5"/>
                  </a:cxn>
                </a:cxnLst>
                <a:rect l="0" t="0" r="r" b="b"/>
                <a:pathLst>
                  <a:path w="21600" h="43138" fill="none" extrusionOk="0">
                    <a:moveTo>
                      <a:pt x="-1" y="0"/>
                    </a:moveTo>
                    <a:cubicBezTo>
                      <a:pt x="11929" y="0"/>
                      <a:pt x="21600" y="9670"/>
                      <a:pt x="21600" y="21600"/>
                    </a:cubicBezTo>
                    <a:cubicBezTo>
                      <a:pt x="21600" y="32892"/>
                      <a:pt x="12901" y="42279"/>
                      <a:pt x="1641" y="43137"/>
                    </a:cubicBezTo>
                  </a:path>
                  <a:path w="21600" h="43138" stroke="0" extrusionOk="0">
                    <a:moveTo>
                      <a:pt x="-1" y="0"/>
                    </a:moveTo>
                    <a:cubicBezTo>
                      <a:pt x="11929" y="0"/>
                      <a:pt x="21600" y="9670"/>
                      <a:pt x="21600" y="21600"/>
                    </a:cubicBezTo>
                    <a:cubicBezTo>
                      <a:pt x="21600" y="32892"/>
                      <a:pt x="12901" y="42279"/>
                      <a:pt x="1641" y="43137"/>
                    </a:cubicBezTo>
                    <a:lnTo>
                      <a:pt x="0" y="21600"/>
                    </a:lnTo>
                    <a:close/>
                  </a:path>
                </a:pathLst>
              </a:custGeom>
              <a:noFill/>
              <a:ln w="9525">
                <a:solidFill>
                  <a:srgbClr val="000000"/>
                </a:solidFill>
                <a:round/>
                <a:headEnd/>
                <a:tailEnd/>
              </a:ln>
            </p:spPr>
            <p:txBody>
              <a:bodyPr/>
              <a:lstStyle/>
              <a:p>
                <a:pPr>
                  <a:defRPr/>
                </a:pPr>
                <a:endParaRPr lang="zh-CN" altLang="en-US" sz="1050"/>
              </a:p>
            </p:txBody>
          </p:sp>
          <p:sp>
            <p:nvSpPr>
              <p:cNvPr id="14477" name="Freeform 141"/>
              <p:cNvSpPr>
                <a:spLocks/>
              </p:cNvSpPr>
              <p:nvPr/>
            </p:nvSpPr>
            <p:spPr bwMode="auto">
              <a:xfrm>
                <a:off x="3246" y="4260"/>
                <a:ext cx="70" cy="569"/>
              </a:xfrm>
              <a:custGeom>
                <a:avLst/>
                <a:gdLst/>
                <a:ahLst/>
                <a:cxnLst>
                  <a:cxn ang="0">
                    <a:pos x="70" y="0"/>
                  </a:cxn>
                  <a:cxn ang="0">
                    <a:pos x="0" y="0"/>
                  </a:cxn>
                  <a:cxn ang="0">
                    <a:pos x="0" y="570"/>
                  </a:cxn>
                  <a:cxn ang="0">
                    <a:pos x="70" y="570"/>
                  </a:cxn>
                </a:cxnLst>
                <a:rect l="0" t="0" r="r" b="b"/>
                <a:pathLst>
                  <a:path w="70" h="570">
                    <a:moveTo>
                      <a:pt x="70" y="0"/>
                    </a:moveTo>
                    <a:lnTo>
                      <a:pt x="0" y="0"/>
                    </a:lnTo>
                    <a:lnTo>
                      <a:pt x="0" y="570"/>
                    </a:lnTo>
                    <a:lnTo>
                      <a:pt x="70" y="570"/>
                    </a:lnTo>
                  </a:path>
                </a:pathLst>
              </a:custGeom>
              <a:noFill/>
              <a:ln w="9525">
                <a:solidFill>
                  <a:srgbClr val="000000"/>
                </a:solidFill>
                <a:round/>
                <a:headEnd/>
                <a:tailEnd/>
              </a:ln>
            </p:spPr>
            <p:txBody>
              <a:bodyPr/>
              <a:lstStyle/>
              <a:p>
                <a:pPr>
                  <a:defRPr/>
                </a:pPr>
                <a:endParaRPr lang="zh-CN" altLang="en-US" sz="1050"/>
              </a:p>
            </p:txBody>
          </p:sp>
        </p:grpSp>
        <p:sp>
          <p:nvSpPr>
            <p:cNvPr id="14475" name="Line 139"/>
            <p:cNvSpPr>
              <a:spLocks noChangeShapeType="1"/>
            </p:cNvSpPr>
            <p:nvPr/>
          </p:nvSpPr>
          <p:spPr bwMode="auto">
            <a:xfrm>
              <a:off x="3289" y="9101"/>
              <a:ext cx="292" cy="0"/>
            </a:xfrm>
            <a:prstGeom prst="line">
              <a:avLst/>
            </a:prstGeom>
            <a:noFill/>
            <a:ln w="6350">
              <a:solidFill>
                <a:srgbClr val="000000"/>
              </a:solidFill>
              <a:round/>
              <a:headEnd/>
              <a:tailEnd/>
            </a:ln>
          </p:spPr>
          <p:txBody>
            <a:bodyPr/>
            <a:lstStyle/>
            <a:p>
              <a:pPr>
                <a:defRPr/>
              </a:pPr>
              <a:endParaRPr lang="zh-CN" altLang="en-US" sz="1050"/>
            </a:p>
          </p:txBody>
        </p:sp>
        <p:sp>
          <p:nvSpPr>
            <p:cNvPr id="14474" name="Line 138"/>
            <p:cNvSpPr>
              <a:spLocks noChangeShapeType="1"/>
            </p:cNvSpPr>
            <p:nvPr/>
          </p:nvSpPr>
          <p:spPr bwMode="auto">
            <a:xfrm>
              <a:off x="3289" y="9270"/>
              <a:ext cx="292" cy="0"/>
            </a:xfrm>
            <a:prstGeom prst="line">
              <a:avLst/>
            </a:prstGeom>
            <a:noFill/>
            <a:ln w="6350">
              <a:solidFill>
                <a:srgbClr val="000000"/>
              </a:solidFill>
              <a:round/>
              <a:headEnd/>
              <a:tailEnd/>
            </a:ln>
          </p:spPr>
          <p:txBody>
            <a:bodyPr/>
            <a:lstStyle/>
            <a:p>
              <a:pPr>
                <a:defRPr/>
              </a:pPr>
              <a:endParaRPr lang="zh-CN" altLang="en-US" sz="1050"/>
            </a:p>
          </p:txBody>
        </p:sp>
        <p:sp>
          <p:nvSpPr>
            <p:cNvPr id="14473" name="Oval 137"/>
            <p:cNvSpPr>
              <a:spLocks noChangeArrowheads="1"/>
            </p:cNvSpPr>
            <p:nvPr/>
          </p:nvSpPr>
          <p:spPr bwMode="auto">
            <a:xfrm>
              <a:off x="3183" y="9068"/>
              <a:ext cx="95" cy="234"/>
            </a:xfrm>
            <a:prstGeom prst="ellipse">
              <a:avLst/>
            </a:prstGeom>
            <a:solidFill>
              <a:srgbClr val="000000"/>
            </a:solidFill>
            <a:ln w="9525">
              <a:solidFill>
                <a:srgbClr val="000000"/>
              </a:solidFill>
              <a:round/>
              <a:headEnd/>
              <a:tailEnd/>
            </a:ln>
          </p:spPr>
          <p:txBody>
            <a:bodyPr/>
            <a:lstStyle/>
            <a:p>
              <a:pPr>
                <a:defRPr/>
              </a:pPr>
              <a:endParaRPr lang="zh-CN" altLang="en-US" sz="1050"/>
            </a:p>
          </p:txBody>
        </p:sp>
        <p:grpSp>
          <p:nvGrpSpPr>
            <p:cNvPr id="14373" name="Group 134"/>
            <p:cNvGrpSpPr>
              <a:grpSpLocks/>
            </p:cNvGrpSpPr>
            <p:nvPr/>
          </p:nvGrpSpPr>
          <p:grpSpPr bwMode="auto">
            <a:xfrm>
              <a:off x="2942" y="8980"/>
              <a:ext cx="237" cy="415"/>
              <a:chOff x="3463" y="4396"/>
              <a:chExt cx="175" cy="306"/>
            </a:xfrm>
          </p:grpSpPr>
          <p:sp>
            <p:nvSpPr>
              <p:cNvPr id="14472" name="Arc 136"/>
              <p:cNvSpPr>
                <a:spLocks/>
              </p:cNvSpPr>
              <p:nvPr/>
            </p:nvSpPr>
            <p:spPr bwMode="auto">
              <a:xfrm flipV="1">
                <a:off x="3463" y="4396"/>
                <a:ext cx="175" cy="156"/>
              </a:xfrm>
              <a:custGeom>
                <a:avLst/>
                <a:gdLst>
                  <a:gd name="G0" fmla="+- 4857 0 0"/>
                  <a:gd name="G1" fmla="+- 21600 0 0"/>
                  <a:gd name="G2" fmla="+- 21600 0 0"/>
                  <a:gd name="T0" fmla="*/ 0 w 26457"/>
                  <a:gd name="T1" fmla="*/ 553 h 23499"/>
                  <a:gd name="T2" fmla="*/ 26373 w 26457"/>
                  <a:gd name="T3" fmla="*/ 23499 h 23499"/>
                  <a:gd name="T4" fmla="*/ 4857 w 26457"/>
                  <a:gd name="T5" fmla="*/ 21600 h 23499"/>
                </a:gdLst>
                <a:ahLst/>
                <a:cxnLst>
                  <a:cxn ang="0">
                    <a:pos x="T0" y="T1"/>
                  </a:cxn>
                  <a:cxn ang="0">
                    <a:pos x="T2" y="T3"/>
                  </a:cxn>
                  <a:cxn ang="0">
                    <a:pos x="T4" y="T5"/>
                  </a:cxn>
                </a:cxnLst>
                <a:rect l="0" t="0" r="r" b="b"/>
                <a:pathLst>
                  <a:path w="26457" h="23499" fill="none" extrusionOk="0">
                    <a:moveTo>
                      <a:pt x="0" y="553"/>
                    </a:moveTo>
                    <a:cubicBezTo>
                      <a:pt x="1592" y="185"/>
                      <a:pt x="3222" y="-1"/>
                      <a:pt x="4857" y="0"/>
                    </a:cubicBezTo>
                    <a:cubicBezTo>
                      <a:pt x="16786" y="0"/>
                      <a:pt x="26457" y="9670"/>
                      <a:pt x="26457" y="21600"/>
                    </a:cubicBezTo>
                    <a:cubicBezTo>
                      <a:pt x="26457" y="22233"/>
                      <a:pt x="26429" y="22867"/>
                      <a:pt x="26373" y="23499"/>
                    </a:cubicBezTo>
                  </a:path>
                  <a:path w="26457" h="23499" stroke="0" extrusionOk="0">
                    <a:moveTo>
                      <a:pt x="0" y="553"/>
                    </a:moveTo>
                    <a:cubicBezTo>
                      <a:pt x="1592" y="185"/>
                      <a:pt x="3222" y="-1"/>
                      <a:pt x="4857" y="0"/>
                    </a:cubicBezTo>
                    <a:cubicBezTo>
                      <a:pt x="16786" y="0"/>
                      <a:pt x="26457" y="9670"/>
                      <a:pt x="26457" y="21600"/>
                    </a:cubicBezTo>
                    <a:cubicBezTo>
                      <a:pt x="26457" y="22233"/>
                      <a:pt x="26429" y="22867"/>
                      <a:pt x="26373" y="23499"/>
                    </a:cubicBezTo>
                    <a:lnTo>
                      <a:pt x="4857" y="21600"/>
                    </a:lnTo>
                    <a:close/>
                  </a:path>
                </a:pathLst>
              </a:custGeom>
              <a:noFill/>
              <a:ln w="9525">
                <a:solidFill>
                  <a:srgbClr val="000000"/>
                </a:solidFill>
                <a:round/>
                <a:headEnd/>
                <a:tailEnd/>
              </a:ln>
            </p:spPr>
            <p:txBody>
              <a:bodyPr/>
              <a:lstStyle/>
              <a:p>
                <a:pPr>
                  <a:defRPr/>
                </a:pPr>
                <a:endParaRPr lang="zh-CN" altLang="en-US" sz="1050"/>
              </a:p>
            </p:txBody>
          </p:sp>
          <p:sp>
            <p:nvSpPr>
              <p:cNvPr id="14471" name="Arc 135"/>
              <p:cNvSpPr>
                <a:spLocks/>
              </p:cNvSpPr>
              <p:nvPr/>
            </p:nvSpPr>
            <p:spPr bwMode="auto">
              <a:xfrm>
                <a:off x="3463" y="4547"/>
                <a:ext cx="175" cy="156"/>
              </a:xfrm>
              <a:custGeom>
                <a:avLst/>
                <a:gdLst>
                  <a:gd name="G0" fmla="+- 4857 0 0"/>
                  <a:gd name="G1" fmla="+- 21600 0 0"/>
                  <a:gd name="G2" fmla="+- 21600 0 0"/>
                  <a:gd name="T0" fmla="*/ 0 w 26457"/>
                  <a:gd name="T1" fmla="*/ 553 h 23499"/>
                  <a:gd name="T2" fmla="*/ 26373 w 26457"/>
                  <a:gd name="T3" fmla="*/ 23499 h 23499"/>
                  <a:gd name="T4" fmla="*/ 4857 w 26457"/>
                  <a:gd name="T5" fmla="*/ 21600 h 23499"/>
                </a:gdLst>
                <a:ahLst/>
                <a:cxnLst>
                  <a:cxn ang="0">
                    <a:pos x="T0" y="T1"/>
                  </a:cxn>
                  <a:cxn ang="0">
                    <a:pos x="T2" y="T3"/>
                  </a:cxn>
                  <a:cxn ang="0">
                    <a:pos x="T4" y="T5"/>
                  </a:cxn>
                </a:cxnLst>
                <a:rect l="0" t="0" r="r" b="b"/>
                <a:pathLst>
                  <a:path w="26457" h="23499" fill="none" extrusionOk="0">
                    <a:moveTo>
                      <a:pt x="0" y="553"/>
                    </a:moveTo>
                    <a:cubicBezTo>
                      <a:pt x="1592" y="185"/>
                      <a:pt x="3222" y="-1"/>
                      <a:pt x="4857" y="0"/>
                    </a:cubicBezTo>
                    <a:cubicBezTo>
                      <a:pt x="16786" y="0"/>
                      <a:pt x="26457" y="9670"/>
                      <a:pt x="26457" y="21600"/>
                    </a:cubicBezTo>
                    <a:cubicBezTo>
                      <a:pt x="26457" y="22233"/>
                      <a:pt x="26429" y="22867"/>
                      <a:pt x="26373" y="23499"/>
                    </a:cubicBezTo>
                  </a:path>
                  <a:path w="26457" h="23499" stroke="0" extrusionOk="0">
                    <a:moveTo>
                      <a:pt x="0" y="553"/>
                    </a:moveTo>
                    <a:cubicBezTo>
                      <a:pt x="1592" y="185"/>
                      <a:pt x="3222" y="-1"/>
                      <a:pt x="4857" y="0"/>
                    </a:cubicBezTo>
                    <a:cubicBezTo>
                      <a:pt x="16786" y="0"/>
                      <a:pt x="26457" y="9670"/>
                      <a:pt x="26457" y="21600"/>
                    </a:cubicBezTo>
                    <a:cubicBezTo>
                      <a:pt x="26457" y="22233"/>
                      <a:pt x="26429" y="22867"/>
                      <a:pt x="26373" y="23499"/>
                    </a:cubicBezTo>
                    <a:lnTo>
                      <a:pt x="4857" y="21600"/>
                    </a:lnTo>
                    <a:close/>
                  </a:path>
                </a:pathLst>
              </a:custGeom>
              <a:noFill/>
              <a:ln w="9525">
                <a:solidFill>
                  <a:srgbClr val="000000"/>
                </a:solidFill>
                <a:round/>
                <a:headEnd/>
                <a:tailEnd/>
              </a:ln>
            </p:spPr>
            <p:txBody>
              <a:bodyPr/>
              <a:lstStyle/>
              <a:p>
                <a:pPr>
                  <a:defRPr/>
                </a:pPr>
                <a:endParaRPr lang="zh-CN" altLang="en-US" sz="1050"/>
              </a:p>
            </p:txBody>
          </p:sp>
        </p:grpSp>
        <p:sp>
          <p:nvSpPr>
            <p:cNvPr id="14469" name="Line 133"/>
            <p:cNvSpPr>
              <a:spLocks noChangeShapeType="1"/>
            </p:cNvSpPr>
            <p:nvPr/>
          </p:nvSpPr>
          <p:spPr bwMode="auto">
            <a:xfrm>
              <a:off x="3072" y="8998"/>
              <a:ext cx="95" cy="41"/>
            </a:xfrm>
            <a:prstGeom prst="line">
              <a:avLst/>
            </a:prstGeom>
            <a:noFill/>
            <a:ln w="9525">
              <a:solidFill>
                <a:srgbClr val="000000"/>
              </a:solidFill>
              <a:round/>
              <a:headEnd/>
              <a:tailEnd/>
            </a:ln>
          </p:spPr>
          <p:txBody>
            <a:bodyPr/>
            <a:lstStyle/>
            <a:p>
              <a:pPr>
                <a:defRPr/>
              </a:pPr>
              <a:endParaRPr lang="zh-CN" altLang="en-US" sz="1050"/>
            </a:p>
          </p:txBody>
        </p:sp>
        <p:sp>
          <p:nvSpPr>
            <p:cNvPr id="14468" name="Line 132"/>
            <p:cNvSpPr>
              <a:spLocks noChangeShapeType="1"/>
            </p:cNvSpPr>
            <p:nvPr/>
          </p:nvSpPr>
          <p:spPr bwMode="auto">
            <a:xfrm>
              <a:off x="3087" y="8951"/>
              <a:ext cx="95" cy="41"/>
            </a:xfrm>
            <a:prstGeom prst="line">
              <a:avLst/>
            </a:prstGeom>
            <a:noFill/>
            <a:ln w="9525">
              <a:solidFill>
                <a:srgbClr val="000000"/>
              </a:solidFill>
              <a:round/>
              <a:headEnd/>
              <a:tailEnd/>
            </a:ln>
          </p:spPr>
          <p:txBody>
            <a:bodyPr/>
            <a:lstStyle/>
            <a:p>
              <a:pPr>
                <a:defRPr/>
              </a:pPr>
              <a:endParaRPr lang="zh-CN" altLang="en-US" sz="1050"/>
            </a:p>
          </p:txBody>
        </p:sp>
        <p:sp>
          <p:nvSpPr>
            <p:cNvPr id="14467" name="Line 131"/>
            <p:cNvSpPr>
              <a:spLocks noChangeShapeType="1"/>
            </p:cNvSpPr>
            <p:nvPr/>
          </p:nvSpPr>
          <p:spPr bwMode="auto">
            <a:xfrm>
              <a:off x="3052" y="9053"/>
              <a:ext cx="95" cy="41"/>
            </a:xfrm>
            <a:prstGeom prst="line">
              <a:avLst/>
            </a:prstGeom>
            <a:noFill/>
            <a:ln w="9525">
              <a:solidFill>
                <a:srgbClr val="000000"/>
              </a:solidFill>
              <a:round/>
              <a:headEnd/>
              <a:tailEnd/>
            </a:ln>
          </p:spPr>
          <p:txBody>
            <a:bodyPr/>
            <a:lstStyle/>
            <a:p>
              <a:pPr>
                <a:defRPr/>
              </a:pPr>
              <a:endParaRPr lang="zh-CN" altLang="en-US" sz="1050"/>
            </a:p>
          </p:txBody>
        </p:sp>
        <p:sp>
          <p:nvSpPr>
            <p:cNvPr id="14466" name="Line 130"/>
            <p:cNvSpPr>
              <a:spLocks noChangeShapeType="1"/>
            </p:cNvSpPr>
            <p:nvPr/>
          </p:nvSpPr>
          <p:spPr bwMode="auto">
            <a:xfrm flipH="1" flipV="1">
              <a:off x="4726" y="8295"/>
              <a:ext cx="134" cy="961"/>
            </a:xfrm>
            <a:prstGeom prst="line">
              <a:avLst/>
            </a:prstGeom>
            <a:noFill/>
            <a:ln w="6350">
              <a:solidFill>
                <a:srgbClr val="000000"/>
              </a:solidFill>
              <a:round/>
              <a:headEnd/>
              <a:tailEnd/>
            </a:ln>
          </p:spPr>
          <p:txBody>
            <a:bodyPr/>
            <a:lstStyle/>
            <a:p>
              <a:pPr>
                <a:defRPr/>
              </a:pPr>
              <a:endParaRPr lang="zh-CN" altLang="en-US" sz="1050"/>
            </a:p>
          </p:txBody>
        </p:sp>
        <p:sp>
          <p:nvSpPr>
            <p:cNvPr id="14465" name="Line 129"/>
            <p:cNvSpPr>
              <a:spLocks noChangeShapeType="1"/>
            </p:cNvSpPr>
            <p:nvPr/>
          </p:nvSpPr>
          <p:spPr bwMode="auto">
            <a:xfrm flipV="1">
              <a:off x="4783" y="8283"/>
              <a:ext cx="0" cy="892"/>
            </a:xfrm>
            <a:prstGeom prst="line">
              <a:avLst/>
            </a:prstGeom>
            <a:noFill/>
            <a:ln w="6350">
              <a:solidFill>
                <a:srgbClr val="000000"/>
              </a:solidFill>
              <a:prstDash val="lgDashDot"/>
              <a:round/>
              <a:headEnd/>
              <a:tailEnd/>
            </a:ln>
          </p:spPr>
          <p:txBody>
            <a:bodyPr/>
            <a:lstStyle/>
            <a:p>
              <a:pPr>
                <a:defRPr/>
              </a:pPr>
              <a:endParaRPr lang="zh-CN" altLang="en-US" sz="1050"/>
            </a:p>
          </p:txBody>
        </p:sp>
        <p:sp>
          <p:nvSpPr>
            <p:cNvPr id="14464" name="Line 128"/>
            <p:cNvSpPr>
              <a:spLocks noChangeShapeType="1"/>
            </p:cNvSpPr>
            <p:nvPr/>
          </p:nvSpPr>
          <p:spPr bwMode="auto">
            <a:xfrm flipV="1">
              <a:off x="4726" y="8295"/>
              <a:ext cx="114" cy="831"/>
            </a:xfrm>
            <a:prstGeom prst="line">
              <a:avLst/>
            </a:prstGeom>
            <a:noFill/>
            <a:ln w="6350">
              <a:solidFill>
                <a:srgbClr val="000000"/>
              </a:solidFill>
              <a:round/>
              <a:headEnd/>
              <a:tailEnd/>
            </a:ln>
          </p:spPr>
          <p:txBody>
            <a:bodyPr/>
            <a:lstStyle/>
            <a:p>
              <a:pPr>
                <a:defRPr/>
              </a:pPr>
              <a:endParaRPr lang="zh-CN" altLang="en-US" sz="1050"/>
            </a:p>
          </p:txBody>
        </p:sp>
        <p:grpSp>
          <p:nvGrpSpPr>
            <p:cNvPr id="14380" name="Group 125"/>
            <p:cNvGrpSpPr>
              <a:grpSpLocks/>
            </p:cNvGrpSpPr>
            <p:nvPr/>
          </p:nvGrpSpPr>
          <p:grpSpPr bwMode="auto">
            <a:xfrm>
              <a:off x="4220" y="8610"/>
              <a:ext cx="1056" cy="91"/>
              <a:chOff x="5730" y="4328"/>
              <a:chExt cx="780" cy="67"/>
            </a:xfrm>
          </p:grpSpPr>
          <p:sp>
            <p:nvSpPr>
              <p:cNvPr id="14463" name="Freeform 127"/>
              <p:cNvSpPr>
                <a:spLocks/>
              </p:cNvSpPr>
              <p:nvPr/>
            </p:nvSpPr>
            <p:spPr bwMode="auto">
              <a:xfrm>
                <a:off x="5730" y="4343"/>
                <a:ext cx="390" cy="52"/>
              </a:xfrm>
              <a:custGeom>
                <a:avLst/>
                <a:gdLst/>
                <a:ahLst/>
                <a:cxnLst>
                  <a:cxn ang="0">
                    <a:pos x="0" y="0"/>
                  </a:cxn>
                  <a:cxn ang="0">
                    <a:pos x="353" y="0"/>
                  </a:cxn>
                  <a:cxn ang="0">
                    <a:pos x="390" y="52"/>
                  </a:cxn>
                  <a:cxn ang="0">
                    <a:pos x="8" y="52"/>
                  </a:cxn>
                </a:cxnLst>
                <a:rect l="0" t="0" r="r" b="b"/>
                <a:pathLst>
                  <a:path w="390" h="52">
                    <a:moveTo>
                      <a:pt x="0" y="0"/>
                    </a:moveTo>
                    <a:lnTo>
                      <a:pt x="353" y="0"/>
                    </a:lnTo>
                    <a:lnTo>
                      <a:pt x="390" y="52"/>
                    </a:lnTo>
                    <a:lnTo>
                      <a:pt x="8" y="52"/>
                    </a:lnTo>
                  </a:path>
                </a:pathLst>
              </a:custGeom>
              <a:noFill/>
              <a:ln w="9525">
                <a:solidFill>
                  <a:srgbClr val="000000"/>
                </a:solidFill>
                <a:round/>
                <a:headEnd/>
                <a:tailEnd/>
              </a:ln>
            </p:spPr>
            <p:txBody>
              <a:bodyPr/>
              <a:lstStyle/>
              <a:p>
                <a:pPr>
                  <a:defRPr/>
                </a:pPr>
                <a:endParaRPr lang="zh-CN" altLang="en-US" sz="1050"/>
              </a:p>
            </p:txBody>
          </p:sp>
          <p:sp>
            <p:nvSpPr>
              <p:cNvPr id="14462" name="Freeform 126"/>
              <p:cNvSpPr>
                <a:spLocks/>
              </p:cNvSpPr>
              <p:nvPr/>
            </p:nvSpPr>
            <p:spPr bwMode="auto">
              <a:xfrm>
                <a:off x="6172" y="4328"/>
                <a:ext cx="338" cy="61"/>
              </a:xfrm>
              <a:custGeom>
                <a:avLst/>
                <a:gdLst/>
                <a:ahLst/>
                <a:cxnLst>
                  <a:cxn ang="0">
                    <a:pos x="338" y="60"/>
                  </a:cxn>
                  <a:cxn ang="0">
                    <a:pos x="0" y="60"/>
                  </a:cxn>
                  <a:cxn ang="0">
                    <a:pos x="30" y="7"/>
                  </a:cxn>
                  <a:cxn ang="0">
                    <a:pos x="338" y="0"/>
                  </a:cxn>
                  <a:cxn ang="0">
                    <a:pos x="338" y="60"/>
                  </a:cxn>
                </a:cxnLst>
                <a:rect l="0" t="0" r="r" b="b"/>
                <a:pathLst>
                  <a:path w="338" h="60">
                    <a:moveTo>
                      <a:pt x="338" y="60"/>
                    </a:moveTo>
                    <a:lnTo>
                      <a:pt x="0" y="60"/>
                    </a:lnTo>
                    <a:lnTo>
                      <a:pt x="30" y="7"/>
                    </a:lnTo>
                    <a:lnTo>
                      <a:pt x="338" y="0"/>
                    </a:lnTo>
                    <a:lnTo>
                      <a:pt x="338" y="60"/>
                    </a:lnTo>
                    <a:close/>
                  </a:path>
                </a:pathLst>
              </a:custGeom>
              <a:solidFill>
                <a:srgbClr val="FFFFFF"/>
              </a:solidFill>
              <a:ln w="9525">
                <a:solidFill>
                  <a:srgbClr val="000000"/>
                </a:solidFill>
                <a:round/>
                <a:headEnd/>
                <a:tailEnd/>
              </a:ln>
            </p:spPr>
            <p:txBody>
              <a:bodyPr/>
              <a:lstStyle/>
              <a:p>
                <a:pPr>
                  <a:defRPr/>
                </a:pPr>
                <a:endParaRPr lang="zh-CN" altLang="en-US" sz="1050"/>
              </a:p>
            </p:txBody>
          </p:sp>
        </p:grpSp>
        <p:sp>
          <p:nvSpPr>
            <p:cNvPr id="14460" name="Rectangle 124"/>
            <p:cNvSpPr>
              <a:spLocks noChangeArrowheads="1"/>
            </p:cNvSpPr>
            <p:nvPr/>
          </p:nvSpPr>
          <p:spPr bwMode="auto">
            <a:xfrm>
              <a:off x="3466" y="8506"/>
              <a:ext cx="964" cy="318"/>
            </a:xfrm>
            <a:prstGeom prst="rect">
              <a:avLst/>
            </a:prstGeom>
            <a:solidFill>
              <a:srgbClr val="FFFFFF"/>
            </a:solidFill>
            <a:ln w="9525">
              <a:solidFill>
                <a:srgbClr val="000000"/>
              </a:solidFill>
              <a:miter lim="800000"/>
              <a:headEnd/>
              <a:tailEnd/>
            </a:ln>
          </p:spPr>
          <p:txBody>
            <a:bodyPr/>
            <a:lstStyle/>
            <a:p>
              <a:pPr algn="ctr" eaLnBrk="0" hangingPunct="0">
                <a:defRPr/>
              </a:pPr>
              <a:r>
                <a:rPr lang="zh-CN" sz="1050">
                  <a:latin typeface="Calibri" pitchFamily="34" charset="0"/>
                  <a:cs typeface="Times New Roman" pitchFamily="18" charset="0"/>
                </a:rPr>
                <a:t>测微器</a:t>
              </a:r>
              <a:endParaRPr lang="zh-CN" sz="1050">
                <a:latin typeface="Arial" pitchFamily="34" charset="0"/>
              </a:endParaRPr>
            </a:p>
            <a:p>
              <a:pPr eaLnBrk="0" hangingPunct="0">
                <a:defRPr/>
              </a:pPr>
              <a:endParaRPr lang="zh-CN" sz="1050">
                <a:latin typeface="Arial" pitchFamily="34" charset="0"/>
              </a:endParaRPr>
            </a:p>
          </p:txBody>
        </p:sp>
        <p:sp>
          <p:nvSpPr>
            <p:cNvPr id="14459" name="Line 123"/>
            <p:cNvSpPr>
              <a:spLocks noChangeShapeType="1"/>
            </p:cNvSpPr>
            <p:nvPr/>
          </p:nvSpPr>
          <p:spPr bwMode="auto">
            <a:xfrm>
              <a:off x="4320" y="8824"/>
              <a:ext cx="0" cy="165"/>
            </a:xfrm>
            <a:prstGeom prst="line">
              <a:avLst/>
            </a:prstGeom>
            <a:noFill/>
            <a:ln w="9525">
              <a:solidFill>
                <a:srgbClr val="000000"/>
              </a:solidFill>
              <a:prstDash val="sysDot"/>
              <a:round/>
              <a:headEnd/>
              <a:tailEnd type="none" w="sm" len="sm"/>
            </a:ln>
          </p:spPr>
          <p:txBody>
            <a:bodyPr/>
            <a:lstStyle/>
            <a:p>
              <a:pPr>
                <a:defRPr/>
              </a:pPr>
              <a:endParaRPr lang="zh-CN" altLang="en-US" sz="1050"/>
            </a:p>
          </p:txBody>
        </p:sp>
        <p:sp>
          <p:nvSpPr>
            <p:cNvPr id="14458" name="Text Box 122"/>
            <p:cNvSpPr txBox="1">
              <a:spLocks noChangeArrowheads="1"/>
            </p:cNvSpPr>
            <p:nvPr/>
          </p:nvSpPr>
          <p:spPr bwMode="auto">
            <a:xfrm>
              <a:off x="5227" y="8418"/>
              <a:ext cx="1092" cy="410"/>
            </a:xfrm>
            <a:prstGeom prst="rect">
              <a:avLst/>
            </a:prstGeom>
            <a:noFill/>
            <a:ln w="9525">
              <a:noFill/>
              <a:miter lim="800000"/>
              <a:headEnd/>
              <a:tailEnd/>
            </a:ln>
          </p:spPr>
          <p:txBody>
            <a:bodyPr/>
            <a:lstStyle/>
            <a:p>
              <a:pPr eaLnBrk="0" hangingPunct="0">
                <a:defRPr/>
              </a:pPr>
              <a:r>
                <a:rPr lang="zh-CN" sz="1050">
                  <a:latin typeface="Calibri" pitchFamily="34" charset="0"/>
                  <a:cs typeface="Times New Roman" pitchFamily="18" charset="0"/>
                </a:rPr>
                <a:t>振动狭缝</a:t>
              </a:r>
              <a:endParaRPr lang="zh-CN" sz="1050">
                <a:latin typeface="Arial" pitchFamily="34" charset="0"/>
              </a:endParaRPr>
            </a:p>
            <a:p>
              <a:pPr eaLnBrk="0" hangingPunct="0">
                <a:defRPr/>
              </a:pPr>
              <a:endParaRPr lang="zh-CN" sz="1050">
                <a:latin typeface="Arial" pitchFamily="34" charset="0"/>
              </a:endParaRPr>
            </a:p>
          </p:txBody>
        </p:sp>
        <p:sp>
          <p:nvSpPr>
            <p:cNvPr id="14457" name="Line 121"/>
            <p:cNvSpPr>
              <a:spLocks noChangeShapeType="1"/>
            </p:cNvSpPr>
            <p:nvPr/>
          </p:nvSpPr>
          <p:spPr bwMode="auto">
            <a:xfrm>
              <a:off x="5276" y="8127"/>
              <a:ext cx="244" cy="2"/>
            </a:xfrm>
            <a:prstGeom prst="line">
              <a:avLst/>
            </a:prstGeom>
            <a:noFill/>
            <a:ln w="6350">
              <a:solidFill>
                <a:srgbClr val="000000"/>
              </a:solidFill>
              <a:round/>
              <a:headEnd/>
              <a:tailEnd type="stealth" w="sm" len="sm"/>
            </a:ln>
          </p:spPr>
          <p:txBody>
            <a:bodyPr/>
            <a:lstStyle/>
            <a:p>
              <a:pPr>
                <a:defRPr/>
              </a:pPr>
              <a:endParaRPr lang="zh-CN" altLang="en-US" sz="1050"/>
            </a:p>
          </p:txBody>
        </p:sp>
        <p:sp>
          <p:nvSpPr>
            <p:cNvPr id="14456" name="Rectangle 120"/>
            <p:cNvSpPr>
              <a:spLocks noChangeArrowheads="1"/>
            </p:cNvSpPr>
            <p:nvPr/>
          </p:nvSpPr>
          <p:spPr bwMode="auto">
            <a:xfrm>
              <a:off x="5538" y="7955"/>
              <a:ext cx="1056" cy="348"/>
            </a:xfrm>
            <a:prstGeom prst="rect">
              <a:avLst/>
            </a:prstGeom>
            <a:solidFill>
              <a:srgbClr val="FFFFFF"/>
            </a:solidFill>
            <a:ln w="9525">
              <a:solidFill>
                <a:srgbClr val="000000"/>
              </a:solidFill>
              <a:miter lim="800000"/>
              <a:headEnd/>
              <a:tailEnd/>
            </a:ln>
          </p:spPr>
          <p:txBody>
            <a:bodyPr/>
            <a:lstStyle/>
            <a:p>
              <a:pPr eaLnBrk="0" hangingPunct="0">
                <a:defRPr/>
              </a:pPr>
              <a:r>
                <a:rPr lang="zh-CN" sz="1050">
                  <a:latin typeface="Calibri" pitchFamily="34" charset="0"/>
                  <a:cs typeface="Times New Roman" pitchFamily="18" charset="0"/>
                </a:rPr>
                <a:t>信号处理器</a:t>
              </a:r>
              <a:endParaRPr lang="zh-CN" sz="1050">
                <a:latin typeface="Arial" pitchFamily="34" charset="0"/>
              </a:endParaRPr>
            </a:p>
          </p:txBody>
        </p:sp>
        <p:sp>
          <p:nvSpPr>
            <p:cNvPr id="14455" name="Text Box 119"/>
            <p:cNvSpPr txBox="1">
              <a:spLocks noChangeArrowheads="1"/>
            </p:cNvSpPr>
            <p:nvPr/>
          </p:nvSpPr>
          <p:spPr bwMode="auto">
            <a:xfrm>
              <a:off x="3400" y="9476"/>
              <a:ext cx="1411" cy="661"/>
            </a:xfrm>
            <a:prstGeom prst="rect">
              <a:avLst/>
            </a:prstGeom>
            <a:noFill/>
            <a:ln w="9525">
              <a:noFill/>
              <a:miter lim="800000"/>
              <a:headEnd/>
              <a:tailEnd/>
            </a:ln>
          </p:spPr>
          <p:txBody>
            <a:bodyPr/>
            <a:lstStyle/>
            <a:p>
              <a:pPr eaLnBrk="0" hangingPunct="0">
                <a:defRPr/>
              </a:pPr>
              <a:r>
                <a:rPr lang="zh-CN" sz="1050" dirty="0">
                  <a:latin typeface="Calibri" pitchFamily="34" charset="0"/>
                  <a:cs typeface="Times New Roman" pitchFamily="18" charset="0"/>
                </a:rPr>
                <a:t>目镜</a:t>
              </a:r>
              <a:endParaRPr lang="zh-CN" sz="1050" dirty="0">
                <a:latin typeface="Arial" pitchFamily="34" charset="0"/>
              </a:endParaRPr>
            </a:p>
          </p:txBody>
        </p:sp>
        <p:sp>
          <p:nvSpPr>
            <p:cNvPr id="14454" name="Text Box 118"/>
            <p:cNvSpPr txBox="1">
              <a:spLocks noChangeArrowheads="1"/>
            </p:cNvSpPr>
            <p:nvPr/>
          </p:nvSpPr>
          <p:spPr bwMode="auto">
            <a:xfrm>
              <a:off x="3836" y="9503"/>
              <a:ext cx="1411" cy="659"/>
            </a:xfrm>
            <a:prstGeom prst="rect">
              <a:avLst/>
            </a:prstGeom>
            <a:noFill/>
            <a:ln w="9525">
              <a:noFill/>
              <a:miter lim="800000"/>
              <a:headEnd/>
              <a:tailEnd/>
            </a:ln>
          </p:spPr>
          <p:txBody>
            <a:bodyPr/>
            <a:lstStyle/>
            <a:p>
              <a:pPr eaLnBrk="0" hangingPunct="0">
                <a:defRPr/>
              </a:pPr>
              <a:r>
                <a:rPr lang="zh-CN" sz="1050" dirty="0">
                  <a:latin typeface="Calibri" pitchFamily="34" charset="0"/>
                  <a:cs typeface="Times New Roman" pitchFamily="18" charset="0"/>
                </a:rPr>
                <a:t>分划板</a:t>
              </a:r>
              <a:endParaRPr lang="zh-CN" sz="1050" dirty="0">
                <a:latin typeface="Arial" pitchFamily="34" charset="0"/>
              </a:endParaRPr>
            </a:p>
          </p:txBody>
        </p:sp>
        <p:sp>
          <p:nvSpPr>
            <p:cNvPr id="14453" name="Text Box 117"/>
            <p:cNvSpPr txBox="1">
              <a:spLocks noChangeArrowheads="1"/>
            </p:cNvSpPr>
            <p:nvPr/>
          </p:nvSpPr>
          <p:spPr bwMode="auto">
            <a:xfrm>
              <a:off x="4085" y="9939"/>
              <a:ext cx="1411" cy="661"/>
            </a:xfrm>
            <a:prstGeom prst="rect">
              <a:avLst/>
            </a:prstGeom>
            <a:noFill/>
            <a:ln w="9525">
              <a:noFill/>
              <a:miter lim="800000"/>
              <a:headEnd/>
              <a:tailEnd/>
            </a:ln>
          </p:spPr>
          <p:txBody>
            <a:bodyPr/>
            <a:lstStyle/>
            <a:p>
              <a:pPr eaLnBrk="0" hangingPunct="0">
                <a:defRPr/>
              </a:pPr>
              <a:r>
                <a:rPr lang="zh-CN" sz="1050" dirty="0">
                  <a:latin typeface="Times New Roman" pitchFamily="18" charset="0"/>
                  <a:cs typeface="Times New Roman" pitchFamily="18" charset="0"/>
                </a:rPr>
                <a:t>分束棱镜</a:t>
              </a:r>
              <a:r>
                <a:rPr lang="en-US" altLang="zh-CN" sz="1050" dirty="0">
                  <a:latin typeface="Times New Roman" pitchFamily="18" charset="0"/>
                  <a:cs typeface="Times New Roman" pitchFamily="18" charset="0"/>
                </a:rPr>
                <a:t>II</a:t>
              </a:r>
              <a:endParaRPr lang="en-US" altLang="zh-CN" sz="1050" dirty="0">
                <a:latin typeface="Arial" pitchFamily="34" charset="0"/>
              </a:endParaRPr>
            </a:p>
          </p:txBody>
        </p:sp>
        <p:sp>
          <p:nvSpPr>
            <p:cNvPr id="14452" name="Line 116"/>
            <p:cNvSpPr>
              <a:spLocks noChangeShapeType="1"/>
            </p:cNvSpPr>
            <p:nvPr/>
          </p:nvSpPr>
          <p:spPr bwMode="auto">
            <a:xfrm flipV="1">
              <a:off x="4666" y="9316"/>
              <a:ext cx="174" cy="651"/>
            </a:xfrm>
            <a:prstGeom prst="line">
              <a:avLst/>
            </a:prstGeom>
            <a:noFill/>
            <a:ln w="6350">
              <a:solidFill>
                <a:srgbClr val="000000"/>
              </a:solidFill>
              <a:round/>
              <a:headEnd/>
              <a:tailEnd/>
            </a:ln>
          </p:spPr>
          <p:txBody>
            <a:bodyPr/>
            <a:lstStyle/>
            <a:p>
              <a:pPr>
                <a:defRPr/>
              </a:pPr>
              <a:endParaRPr lang="zh-CN" altLang="en-US" sz="1050"/>
            </a:p>
          </p:txBody>
        </p:sp>
        <p:sp>
          <p:nvSpPr>
            <p:cNvPr id="14451" name="Text Box 115"/>
            <p:cNvSpPr txBox="1">
              <a:spLocks noChangeArrowheads="1"/>
            </p:cNvSpPr>
            <p:nvPr/>
          </p:nvSpPr>
          <p:spPr bwMode="auto">
            <a:xfrm>
              <a:off x="5575" y="9448"/>
              <a:ext cx="1411" cy="659"/>
            </a:xfrm>
            <a:prstGeom prst="rect">
              <a:avLst/>
            </a:prstGeom>
            <a:noFill/>
            <a:ln w="9525">
              <a:noFill/>
              <a:miter lim="800000"/>
              <a:headEnd/>
              <a:tailEnd/>
            </a:ln>
          </p:spPr>
          <p:txBody>
            <a:bodyPr/>
            <a:lstStyle/>
            <a:p>
              <a:pPr eaLnBrk="0" hangingPunct="0">
                <a:defRPr/>
              </a:pPr>
              <a:r>
                <a:rPr lang="zh-CN" sz="1050">
                  <a:latin typeface="Times New Roman" pitchFamily="18" charset="0"/>
                  <a:cs typeface="Times New Roman" pitchFamily="18" charset="0"/>
                </a:rPr>
                <a:t>分束棱镜</a:t>
              </a:r>
              <a:r>
                <a:rPr lang="en-US" altLang="zh-CN" sz="1050">
                  <a:latin typeface="Times New Roman" pitchFamily="18" charset="0"/>
                  <a:cs typeface="Times New Roman" pitchFamily="18" charset="0"/>
                </a:rPr>
                <a:t>I</a:t>
              </a:r>
              <a:endParaRPr lang="en-US" altLang="zh-CN" sz="1050">
                <a:latin typeface="Arial" pitchFamily="34" charset="0"/>
              </a:endParaRPr>
            </a:p>
          </p:txBody>
        </p:sp>
        <p:sp>
          <p:nvSpPr>
            <p:cNvPr id="14450" name="Line 114"/>
            <p:cNvSpPr>
              <a:spLocks noChangeShapeType="1"/>
            </p:cNvSpPr>
            <p:nvPr/>
          </p:nvSpPr>
          <p:spPr bwMode="auto">
            <a:xfrm flipH="1" flipV="1">
              <a:off x="5519" y="9379"/>
              <a:ext cx="167" cy="277"/>
            </a:xfrm>
            <a:prstGeom prst="line">
              <a:avLst/>
            </a:prstGeom>
            <a:noFill/>
            <a:ln w="6350">
              <a:solidFill>
                <a:srgbClr val="000000"/>
              </a:solidFill>
              <a:round/>
              <a:headEnd/>
              <a:tailEnd/>
            </a:ln>
          </p:spPr>
          <p:txBody>
            <a:bodyPr/>
            <a:lstStyle/>
            <a:p>
              <a:pPr>
                <a:defRPr/>
              </a:pPr>
              <a:endParaRPr lang="zh-CN" altLang="en-US" sz="1050"/>
            </a:p>
          </p:txBody>
        </p:sp>
        <p:sp>
          <p:nvSpPr>
            <p:cNvPr id="14449" name="Text Box 113"/>
            <p:cNvSpPr txBox="1">
              <a:spLocks noChangeArrowheads="1"/>
            </p:cNvSpPr>
            <p:nvPr/>
          </p:nvSpPr>
          <p:spPr bwMode="auto">
            <a:xfrm>
              <a:off x="5559" y="9742"/>
              <a:ext cx="1777" cy="661"/>
            </a:xfrm>
            <a:prstGeom prst="rect">
              <a:avLst/>
            </a:prstGeom>
            <a:noFill/>
            <a:ln w="9525">
              <a:noFill/>
              <a:miter lim="800000"/>
              <a:headEnd/>
              <a:tailEnd/>
            </a:ln>
          </p:spPr>
          <p:txBody>
            <a:bodyPr/>
            <a:lstStyle/>
            <a:p>
              <a:pPr eaLnBrk="0" hangingPunct="0">
                <a:defRPr/>
              </a:pPr>
              <a:r>
                <a:rPr lang="zh-CN" sz="1050">
                  <a:latin typeface="Calibri" pitchFamily="34" charset="0"/>
                  <a:cs typeface="Times New Roman" pitchFamily="18" charset="0"/>
                </a:rPr>
                <a:t>十字线分划板</a:t>
              </a:r>
              <a:endParaRPr lang="zh-CN" sz="1050">
                <a:latin typeface="Arial" pitchFamily="34" charset="0"/>
              </a:endParaRPr>
            </a:p>
          </p:txBody>
        </p:sp>
        <p:sp>
          <p:nvSpPr>
            <p:cNvPr id="14448" name="Text Box 112"/>
            <p:cNvSpPr txBox="1">
              <a:spLocks noChangeArrowheads="1"/>
            </p:cNvSpPr>
            <p:nvPr/>
          </p:nvSpPr>
          <p:spPr bwMode="auto">
            <a:xfrm>
              <a:off x="5601" y="10356"/>
              <a:ext cx="1413" cy="659"/>
            </a:xfrm>
            <a:prstGeom prst="rect">
              <a:avLst/>
            </a:prstGeom>
            <a:noFill/>
            <a:ln w="9525">
              <a:noFill/>
              <a:miter lim="800000"/>
              <a:headEnd/>
              <a:tailEnd/>
            </a:ln>
          </p:spPr>
          <p:txBody>
            <a:bodyPr/>
            <a:lstStyle/>
            <a:p>
              <a:pPr eaLnBrk="0" hangingPunct="0">
                <a:defRPr/>
              </a:pPr>
              <a:r>
                <a:rPr lang="zh-CN" sz="1050">
                  <a:latin typeface="Calibri" pitchFamily="34" charset="0"/>
                  <a:cs typeface="Times New Roman" pitchFamily="18" charset="0"/>
                </a:rPr>
                <a:t>毛玻璃</a:t>
              </a:r>
              <a:endParaRPr lang="zh-CN" sz="1050">
                <a:latin typeface="Arial" pitchFamily="34" charset="0"/>
              </a:endParaRPr>
            </a:p>
          </p:txBody>
        </p:sp>
        <p:sp>
          <p:nvSpPr>
            <p:cNvPr id="14447" name="Text Box 111"/>
            <p:cNvSpPr txBox="1">
              <a:spLocks noChangeArrowheads="1"/>
            </p:cNvSpPr>
            <p:nvPr/>
          </p:nvSpPr>
          <p:spPr bwMode="auto">
            <a:xfrm>
              <a:off x="7044" y="9725"/>
              <a:ext cx="1411" cy="659"/>
            </a:xfrm>
            <a:prstGeom prst="rect">
              <a:avLst/>
            </a:prstGeom>
            <a:noFill/>
            <a:ln w="9525">
              <a:noFill/>
              <a:miter lim="800000"/>
              <a:headEnd/>
              <a:tailEnd/>
            </a:ln>
          </p:spPr>
          <p:txBody>
            <a:bodyPr/>
            <a:lstStyle/>
            <a:p>
              <a:pPr eaLnBrk="0" hangingPunct="0">
                <a:defRPr/>
              </a:pPr>
              <a:r>
                <a:rPr lang="zh-CN" sz="1050" dirty="0">
                  <a:latin typeface="Calibri" pitchFamily="34" charset="0"/>
                  <a:cs typeface="Times New Roman" pitchFamily="18" charset="0"/>
                </a:rPr>
                <a:t>物镜</a:t>
              </a:r>
              <a:endParaRPr lang="zh-CN" sz="1050" dirty="0">
                <a:latin typeface="Arial" pitchFamily="34" charset="0"/>
              </a:endParaRPr>
            </a:p>
          </p:txBody>
        </p:sp>
        <p:sp>
          <p:nvSpPr>
            <p:cNvPr id="14446" name="Text Box 110"/>
            <p:cNvSpPr txBox="1">
              <a:spLocks noChangeArrowheads="1"/>
            </p:cNvSpPr>
            <p:nvPr/>
          </p:nvSpPr>
          <p:spPr bwMode="auto">
            <a:xfrm>
              <a:off x="7781" y="9752"/>
              <a:ext cx="1014" cy="659"/>
            </a:xfrm>
            <a:prstGeom prst="rect">
              <a:avLst/>
            </a:prstGeom>
            <a:noFill/>
            <a:ln w="9525">
              <a:noFill/>
              <a:miter lim="800000"/>
              <a:headEnd/>
              <a:tailEnd/>
            </a:ln>
          </p:spPr>
          <p:txBody>
            <a:bodyPr/>
            <a:lstStyle/>
            <a:p>
              <a:pPr eaLnBrk="0" hangingPunct="0">
                <a:defRPr/>
              </a:pPr>
              <a:r>
                <a:rPr lang="zh-CN" sz="1050" dirty="0">
                  <a:latin typeface="Calibri" pitchFamily="34" charset="0"/>
                  <a:cs typeface="Times New Roman" pitchFamily="18" charset="0"/>
                </a:rPr>
                <a:t>平面镜</a:t>
              </a:r>
              <a:endParaRPr lang="zh-CN" sz="1050" dirty="0">
                <a:latin typeface="Arial" pitchFamily="34" charset="0"/>
              </a:endParaRPr>
            </a:p>
          </p:txBody>
        </p:sp>
        <p:sp>
          <p:nvSpPr>
            <p:cNvPr id="14445" name="Rectangle 109"/>
            <p:cNvSpPr>
              <a:spLocks noChangeArrowheads="1"/>
            </p:cNvSpPr>
            <p:nvPr/>
          </p:nvSpPr>
          <p:spPr bwMode="auto">
            <a:xfrm>
              <a:off x="4227" y="7947"/>
              <a:ext cx="1056" cy="348"/>
            </a:xfrm>
            <a:prstGeom prst="rect">
              <a:avLst/>
            </a:prstGeom>
            <a:solidFill>
              <a:srgbClr val="FFFFFF"/>
            </a:solidFill>
            <a:ln w="9525">
              <a:solidFill>
                <a:srgbClr val="000000"/>
              </a:solidFill>
              <a:miter lim="800000"/>
              <a:headEnd/>
              <a:tailEnd/>
            </a:ln>
          </p:spPr>
          <p:txBody>
            <a:bodyPr/>
            <a:lstStyle/>
            <a:p>
              <a:pPr eaLnBrk="0" hangingPunct="0">
                <a:defRPr/>
              </a:pPr>
              <a:r>
                <a:rPr lang="zh-CN" sz="1050">
                  <a:latin typeface="Calibri" pitchFamily="34" charset="0"/>
                  <a:cs typeface="Times New Roman" pitchFamily="18" charset="0"/>
                </a:rPr>
                <a:t>光电探测器</a:t>
              </a:r>
              <a:endParaRPr lang="zh-CN" sz="1050">
                <a:latin typeface="Arial" pitchFamily="34" charset="0"/>
              </a:endParaRPr>
            </a:p>
          </p:txBody>
        </p:sp>
      </p:grpSp>
    </p:spTree>
  </p:cSld>
  <p:clrMapOvr>
    <a:masterClrMapping/>
  </p:clrMapOvr>
  <p:transition>
    <p:circl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p:cNvSpPr>
            <a:spLocks noGrp="1"/>
          </p:cNvSpPr>
          <p:nvPr>
            <p:ph type="dt" sz="quarter" idx="10"/>
          </p:nvPr>
        </p:nvSpPr>
        <p:spPr>
          <a:noFill/>
        </p:spPr>
        <p:txBody>
          <a:bodyPr/>
          <a:lstStyle/>
          <a:p>
            <a:fld id="{AEEB5504-8A51-479F-88C5-952FA67F056A}" type="datetime1">
              <a:rPr lang="zh-CN" altLang="en-US" smtClean="0"/>
              <a:pPr/>
              <a:t>2018/2/24</a:t>
            </a:fld>
            <a:endParaRPr lang="en-US" altLang="zh-CN" smtClean="0"/>
          </a:p>
        </p:txBody>
      </p:sp>
      <p:sp>
        <p:nvSpPr>
          <p:cNvPr id="93187" name="灯片编号占位符 5"/>
          <p:cNvSpPr>
            <a:spLocks noGrp="1"/>
          </p:cNvSpPr>
          <p:nvPr>
            <p:ph type="sldNum" sz="quarter" idx="12"/>
          </p:nvPr>
        </p:nvSpPr>
        <p:spPr>
          <a:noFill/>
        </p:spPr>
        <p:txBody>
          <a:bodyPr/>
          <a:lstStyle/>
          <a:p>
            <a:fld id="{5A36DB91-F84B-4135-81B3-9FCC293FD5EA}" type="slidenum">
              <a:rPr lang="en-US" altLang="zh-CN" smtClean="0"/>
              <a:pPr/>
              <a:t>21</a:t>
            </a:fld>
            <a:endParaRPr lang="en-US" altLang="zh-CN" smtClean="0"/>
          </a:p>
        </p:txBody>
      </p:sp>
      <p:sp>
        <p:nvSpPr>
          <p:cNvPr id="93188" name="Rectangle 3"/>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3189"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3190"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3191"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3192"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3193" name="Rectangle 8"/>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93194" name="Rectangle 9"/>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93195" name="Rectangle 10"/>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93196" name="Rectangle 11"/>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93197" name="Rectangle 12"/>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69357" name="Rectangle 13"/>
          <p:cNvSpPr>
            <a:spLocks noChangeAspect="1" noChangeArrowheads="1"/>
          </p:cNvSpPr>
          <p:nvPr/>
        </p:nvSpPr>
        <p:spPr bwMode="auto">
          <a:xfrm>
            <a:off x="431800" y="1903413"/>
            <a:ext cx="8151813" cy="4064000"/>
          </a:xfrm>
          <a:prstGeom prst="rect">
            <a:avLst/>
          </a:prstGeom>
          <a:noFill/>
          <a:ln w="9525">
            <a:noFill/>
            <a:miter lim="800000"/>
            <a:headEnd/>
            <a:tailEnd/>
          </a:ln>
          <a:effectLst/>
        </p:spPr>
        <p:txBody>
          <a:bodyPr/>
          <a:lstStyle/>
          <a:p>
            <a:pPr marL="357188" indent="-357188">
              <a:buFont typeface="Wingdings" pitchFamily="2" charset="2"/>
              <a:buChar char="Ø"/>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调焦实质上是确定物镜的最佳像面的位置。</a:t>
            </a:r>
          </a:p>
          <a:p>
            <a:pPr marL="357188" indent="-357188">
              <a:buFont typeface="Wingdings" pitchFamily="2" charset="2"/>
              <a:buChar char="Ø"/>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事实上，确定最佳像面的标准有多种，如</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最高对比度像面</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最高分辨率像面</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最小波像差像面</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最小弥散圆像面</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最大调制传递函数像面</a:t>
            </a:r>
          </a:p>
          <a:p>
            <a:pPr marL="800100" lvl="1" indent="-263525">
              <a:buFont typeface="Wingdings" pitchFamily="2" charset="2"/>
              <a:buChar char="ü"/>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点像光斑中心照度最大值像面等。</a:t>
            </a:r>
          </a:p>
          <a:p>
            <a:pPr marL="357188" indent="-357188">
              <a:buFont typeface="Wingdings" pitchFamily="2" charset="2"/>
              <a:buChar char="Ø"/>
              <a:defRPr/>
            </a:pPr>
            <a:r>
              <a:rPr lang="zh-CN" altLang="en-US" sz="2400" b="1" dirty="0">
                <a:effectLst>
                  <a:outerShdw blurRad="38100" dist="38100" dir="2700000" algn="tl">
                    <a:srgbClr val="C0C0C0"/>
                  </a:outerShdw>
                </a:effectLst>
                <a:latin typeface="Times New Roman" pitchFamily="18" charset="0"/>
                <a:ea typeface="黑体" pitchFamily="2" charset="-122"/>
                <a:cs typeface="Times New Roman" pitchFamily="18" charset="0"/>
              </a:rPr>
              <a:t>对于一个有剩余像差和加工误差的实际物镜来说，通常这些像面并不重合。实验确定最佳像面时，像面位置还与照明光源的光谱成分和接收器的光谱灵敏度有关。</a:t>
            </a:r>
          </a:p>
        </p:txBody>
      </p:sp>
      <p:sp>
        <p:nvSpPr>
          <p:cNvPr id="570370" name="Rectangle 2"/>
          <p:cNvSpPr>
            <a:spLocks noRot="1" noChangeArrowheads="1"/>
          </p:cNvSpPr>
          <p:nvPr/>
        </p:nvSpPr>
        <p:spPr bwMode="auto">
          <a:xfrm>
            <a:off x="457200" y="635000"/>
            <a:ext cx="8229600" cy="1139825"/>
          </a:xfrm>
          <a:prstGeom prst="rect">
            <a:avLst/>
          </a:prstGeom>
          <a:noFill/>
          <a:ln w="9525">
            <a:noFill/>
            <a:miter lim="800000"/>
            <a:headEnd/>
            <a:tailEnd/>
          </a:ln>
        </p:spPr>
        <p:txBody>
          <a:bodyPr anchor="ctr"/>
          <a:lstStyle/>
          <a:p>
            <a:pPr>
              <a:defRPr/>
            </a:pPr>
            <a:r>
              <a:rPr lang="en-US" altLang="zh-CN" sz="4000" b="1" kern="0" dirty="0">
                <a:effectLst>
                  <a:outerShdw blurRad="38100" dist="38100" dir="2700000" algn="tl">
                    <a:srgbClr val="C0C0C0"/>
                  </a:outerShdw>
                </a:effectLst>
                <a:latin typeface="Times New Roman" pitchFamily="18" charset="0"/>
                <a:ea typeface="黑体" pitchFamily="2" charset="-122"/>
                <a:cs typeface="+mj-cs"/>
              </a:rPr>
              <a:t>§2-1  </a:t>
            </a:r>
            <a:r>
              <a:rPr lang="zh-CN" altLang="en-US" sz="4000" b="1" kern="0" dirty="0" smtClean="0">
                <a:effectLst>
                  <a:outerShdw blurRad="38100" dist="38100" dir="2700000" algn="tl">
                    <a:srgbClr val="C0C0C0"/>
                  </a:outerShdw>
                </a:effectLst>
                <a:latin typeface="Times New Roman" pitchFamily="18" charset="0"/>
                <a:ea typeface="黑体" pitchFamily="2" charset="-122"/>
                <a:cs typeface="+mj-cs"/>
              </a:rPr>
              <a:t>对准</a:t>
            </a:r>
            <a:r>
              <a:rPr lang="zh-CN" altLang="en-US" sz="4000" b="1" kern="0" dirty="0">
                <a:effectLst>
                  <a:outerShdw blurRad="38100" dist="38100" dir="2700000" algn="tl">
                    <a:srgbClr val="C0C0C0"/>
                  </a:outerShdw>
                </a:effectLst>
                <a:latin typeface="Times New Roman" pitchFamily="18" charset="0"/>
                <a:ea typeface="黑体" pitchFamily="2" charset="-122"/>
                <a:cs typeface="+mj-cs"/>
              </a:rPr>
              <a:t>和调焦技术</a:t>
            </a:r>
            <a:br>
              <a:rPr lang="zh-CN" altLang="en-US" sz="4000" b="1" kern="0" dirty="0">
                <a:effectLst>
                  <a:outerShdw blurRad="38100" dist="38100" dir="2700000" algn="tl">
                    <a:srgbClr val="C0C0C0"/>
                  </a:outerShdw>
                </a:effectLst>
                <a:latin typeface="Times New Roman" pitchFamily="18" charset="0"/>
                <a:ea typeface="黑体" pitchFamily="2" charset="-122"/>
                <a:cs typeface="+mj-cs"/>
              </a:rPr>
            </a:br>
            <a:r>
              <a:rPr lang="zh-CN" altLang="en-US" sz="1400" b="1" kern="0" dirty="0">
                <a:effectLst>
                  <a:outerShdw blurRad="38100" dist="38100" dir="2700000" algn="tl">
                    <a:srgbClr val="C0C0C0"/>
                  </a:outerShdw>
                </a:effectLst>
                <a:latin typeface="Times New Roman" pitchFamily="18" charset="0"/>
                <a:ea typeface="黑体" pitchFamily="2" charset="-122"/>
                <a:cs typeface="+mj-cs"/>
              </a:rPr>
              <a:t/>
            </a:r>
            <a:br>
              <a:rPr lang="zh-CN" altLang="en-US" sz="1400" b="1" kern="0" dirty="0">
                <a:effectLst>
                  <a:outerShdw blurRad="38100" dist="38100" dir="2700000" algn="tl">
                    <a:srgbClr val="C0C0C0"/>
                  </a:outerShdw>
                </a:effectLst>
                <a:latin typeface="Times New Roman" pitchFamily="18" charset="0"/>
                <a:ea typeface="黑体" pitchFamily="2" charset="-122"/>
                <a:cs typeface="+mj-cs"/>
              </a:rPr>
            </a:br>
            <a:r>
              <a:rPr lang="zh-CN" altLang="en-US" sz="1400" b="1" kern="0" dirty="0" smtClean="0">
                <a:effectLst>
                  <a:outerShdw blurRad="38100" dist="38100" dir="2700000" algn="tl">
                    <a:srgbClr val="C0C0C0"/>
                  </a:outerShdw>
                </a:effectLst>
                <a:latin typeface="Times New Roman" pitchFamily="18" charset="0"/>
                <a:ea typeface="黑体" pitchFamily="2" charset="-122"/>
                <a:cs typeface="+mj-cs"/>
              </a:rPr>
              <a:t> </a:t>
            </a:r>
            <a:r>
              <a:rPr lang="en-US" altLang="zh-CN" sz="3200" b="1" kern="0" dirty="0" smtClean="0">
                <a:effectLst>
                  <a:outerShdw blurRad="38100" dist="38100" dir="2700000" algn="tl">
                    <a:srgbClr val="C0C0C0"/>
                  </a:outerShdw>
                </a:effectLst>
                <a:latin typeface="Times New Roman" pitchFamily="18" charset="0"/>
                <a:ea typeface="黑体" pitchFamily="2" charset="-122"/>
                <a:cs typeface="+mj-cs"/>
              </a:rPr>
              <a:t>4.  </a:t>
            </a:r>
            <a:r>
              <a:rPr lang="zh-CN" altLang="en-US" sz="3200" b="1" kern="0" dirty="0">
                <a:effectLst>
                  <a:outerShdw blurRad="38100" dist="38100" dir="2700000" algn="tl">
                    <a:srgbClr val="C0C0C0"/>
                  </a:outerShdw>
                </a:effectLst>
                <a:latin typeface="Times New Roman" pitchFamily="18" charset="0"/>
                <a:ea typeface="黑体" pitchFamily="2" charset="-122"/>
                <a:cs typeface="+mj-cs"/>
              </a:rPr>
              <a:t>光电调焦</a:t>
            </a:r>
            <a:r>
              <a:rPr lang="zh-CN" altLang="en-US" sz="4400" b="1" kern="0" dirty="0">
                <a:effectLst>
                  <a:outerShdw blurRad="38100" dist="38100" dir="2700000" algn="tl">
                    <a:srgbClr val="C0C0C0"/>
                  </a:outerShdw>
                </a:effectLst>
                <a:latin typeface="Times New Roman" pitchFamily="18" charset="0"/>
                <a:ea typeface="黑体" pitchFamily="2" charset="-122"/>
                <a:cs typeface="+mj-cs"/>
              </a:rPr>
              <a:t> </a:t>
            </a:r>
          </a:p>
        </p:txBody>
      </p:sp>
    </p:spTree>
  </p:cSld>
  <p:clrMapOvr>
    <a:masterClrMapping/>
  </p:clrMapOvr>
  <p:transition>
    <p:circl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p:cNvSpPr>
            <a:spLocks noGrp="1"/>
          </p:cNvSpPr>
          <p:nvPr>
            <p:ph type="dt" sz="quarter" idx="10"/>
          </p:nvPr>
        </p:nvSpPr>
        <p:spPr>
          <a:noFill/>
        </p:spPr>
        <p:txBody>
          <a:bodyPr/>
          <a:lstStyle/>
          <a:p>
            <a:fld id="{EEBDF0E3-2D89-4478-B91B-CAFB2BB99917}" type="datetime1">
              <a:rPr lang="zh-CN" altLang="en-US" smtClean="0"/>
              <a:pPr/>
              <a:t>2018/2/24</a:t>
            </a:fld>
            <a:endParaRPr lang="en-US" altLang="zh-CN" smtClean="0"/>
          </a:p>
        </p:txBody>
      </p:sp>
      <p:sp>
        <p:nvSpPr>
          <p:cNvPr id="94211" name="灯片编号占位符 5"/>
          <p:cNvSpPr>
            <a:spLocks noGrp="1"/>
          </p:cNvSpPr>
          <p:nvPr>
            <p:ph type="sldNum" sz="quarter" idx="12"/>
          </p:nvPr>
        </p:nvSpPr>
        <p:spPr>
          <a:noFill/>
        </p:spPr>
        <p:txBody>
          <a:bodyPr/>
          <a:lstStyle/>
          <a:p>
            <a:fld id="{1A7C6A6A-D4C6-4D40-9E3B-B7C22381AD98}" type="slidenum">
              <a:rPr lang="en-US" altLang="zh-CN" smtClean="0"/>
              <a:pPr/>
              <a:t>22</a:t>
            </a:fld>
            <a:endParaRPr lang="en-US" altLang="zh-CN" smtClean="0"/>
          </a:p>
        </p:txBody>
      </p:sp>
      <p:sp>
        <p:nvSpPr>
          <p:cNvPr id="570370" name="Rectangle 2"/>
          <p:cNvSpPr>
            <a:spLocks noGrp="1" noRot="1" noChangeArrowheads="1"/>
          </p:cNvSpPr>
          <p:nvPr>
            <p:ph type="title"/>
          </p:nvPr>
        </p:nvSpPr>
        <p:spPr>
          <a:xfrm>
            <a:off x="457200" y="635000"/>
            <a:ext cx="82296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光电调焦</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p>
        </p:txBody>
      </p:sp>
      <p:sp>
        <p:nvSpPr>
          <p:cNvPr id="570371" name="Rectangle 3"/>
          <p:cNvSpPr>
            <a:spLocks noGrp="1" noRot="1" noChangeArrowheads="1"/>
          </p:cNvSpPr>
          <p:nvPr>
            <p:ph type="body" idx="1"/>
          </p:nvPr>
        </p:nvSpPr>
        <p:spPr>
          <a:xfrm>
            <a:off x="471488" y="2269313"/>
            <a:ext cx="8229600" cy="3917723"/>
          </a:xfrm>
        </p:spPr>
        <p:txBody>
          <a:bodyPr/>
          <a:lstStyle/>
          <a:p>
            <a:pPr eaLnBrk="1" hangingPunct="1">
              <a:defRPr/>
            </a:pPr>
            <a:r>
              <a:rPr lang="zh-CN" altLang="en-US" dirty="0" smtClean="0">
                <a:latin typeface="Times New Roman" pitchFamily="18" charset="0"/>
                <a:ea typeface="黑体" pitchFamily="2" charset="-122"/>
              </a:rPr>
              <a:t>光电调焦的方法有多种，如</a:t>
            </a:r>
          </a:p>
          <a:p>
            <a:pPr lvl="1" eaLnBrk="1" hangingPunct="1">
              <a:defRPr/>
            </a:pPr>
            <a:r>
              <a:rPr lang="zh-CN" altLang="en-US" sz="2400" dirty="0" smtClean="0">
                <a:latin typeface="Times New Roman" pitchFamily="18" charset="0"/>
                <a:ea typeface="黑体" pitchFamily="2" charset="-122"/>
              </a:rPr>
              <a:t>扇形光栅法</a:t>
            </a:r>
          </a:p>
          <a:p>
            <a:pPr lvl="1" eaLnBrk="1" hangingPunct="1">
              <a:defRPr/>
            </a:pPr>
            <a:r>
              <a:rPr lang="zh-CN" altLang="en-US" sz="2400" dirty="0" smtClean="0">
                <a:latin typeface="Times New Roman" pitchFamily="18" charset="0"/>
                <a:ea typeface="黑体" pitchFamily="2" charset="-122"/>
              </a:rPr>
              <a:t>小孔光阑法</a:t>
            </a:r>
          </a:p>
          <a:p>
            <a:pPr lvl="1" eaLnBrk="1" hangingPunct="1">
              <a:defRPr/>
            </a:pPr>
            <a:r>
              <a:rPr lang="zh-CN" altLang="en-US" sz="2400" dirty="0" smtClean="0">
                <a:latin typeface="Times New Roman" pitchFamily="18" charset="0"/>
                <a:ea typeface="黑体" pitchFamily="2" charset="-122"/>
              </a:rPr>
              <a:t>刀口检验法</a:t>
            </a:r>
          </a:p>
          <a:p>
            <a:pPr lvl="1" eaLnBrk="1" hangingPunct="1">
              <a:defRPr/>
            </a:pPr>
            <a:r>
              <a:rPr lang="en-US" altLang="zh-CN" sz="2400" dirty="0" smtClean="0">
                <a:latin typeface="Times New Roman" pitchFamily="18" charset="0"/>
                <a:ea typeface="黑体" pitchFamily="2" charset="-122"/>
              </a:rPr>
              <a:t>MTF</a:t>
            </a:r>
            <a:r>
              <a:rPr lang="zh-CN" altLang="en-US" sz="2400" dirty="0" smtClean="0">
                <a:latin typeface="Times New Roman" pitchFamily="18" charset="0"/>
                <a:ea typeface="黑体" pitchFamily="2" charset="-122"/>
              </a:rPr>
              <a:t>法等。</a:t>
            </a:r>
          </a:p>
          <a:p>
            <a:pPr eaLnBrk="1" hangingPunct="1">
              <a:defRPr/>
            </a:pPr>
            <a:r>
              <a:rPr lang="zh-CN" altLang="en-US" dirty="0" smtClean="0">
                <a:latin typeface="Times New Roman" pitchFamily="18" charset="0"/>
                <a:ea typeface="黑体" pitchFamily="2" charset="-122"/>
              </a:rPr>
              <a:t>这里以扇形光栅法为例介绍光电定焦方法。该方法已广泛用于测量照相物镜的工作距离（从最佳像面到物镜框端的距离）。同时，还能测量和研究其它光学特性，如弥散斑直径、</a:t>
            </a:r>
            <a:r>
              <a:rPr lang="en-US" altLang="zh-CN" dirty="0" smtClean="0">
                <a:latin typeface="Times New Roman" pitchFamily="18" charset="0"/>
                <a:ea typeface="黑体" pitchFamily="2" charset="-122"/>
              </a:rPr>
              <a:t>OTF</a:t>
            </a:r>
            <a:r>
              <a:rPr lang="zh-CN" altLang="en-US" dirty="0" smtClean="0">
                <a:latin typeface="Times New Roman" pitchFamily="18" charset="0"/>
                <a:ea typeface="黑体" pitchFamily="2" charset="-122"/>
              </a:rPr>
              <a:t>、焦距等。</a:t>
            </a:r>
          </a:p>
        </p:txBody>
      </p:sp>
      <p:sp>
        <p:nvSpPr>
          <p:cNvPr id="94214"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4215"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4216"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4217"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4218" name="Rectangle 8"/>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4219"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94220" name="Rectangle 10"/>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94221" name="Rectangle 11"/>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94222" name="Rectangle 12"/>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94223"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94224" name="Rectangle 14"/>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日期占位符 3"/>
          <p:cNvSpPr>
            <a:spLocks noGrp="1"/>
          </p:cNvSpPr>
          <p:nvPr>
            <p:ph type="dt" sz="quarter" idx="10"/>
          </p:nvPr>
        </p:nvSpPr>
        <p:spPr>
          <a:noFill/>
        </p:spPr>
        <p:txBody>
          <a:bodyPr/>
          <a:lstStyle/>
          <a:p>
            <a:fld id="{D7CB9950-C02B-4F60-B8DB-E2EFAABD3586}" type="datetime1">
              <a:rPr lang="zh-CN" altLang="en-US" smtClean="0"/>
              <a:pPr/>
              <a:t>2018/2/24</a:t>
            </a:fld>
            <a:endParaRPr lang="en-US" altLang="zh-CN" smtClean="0"/>
          </a:p>
        </p:txBody>
      </p:sp>
      <p:sp>
        <p:nvSpPr>
          <p:cNvPr id="15366" name="灯片编号占位符 5"/>
          <p:cNvSpPr>
            <a:spLocks noGrp="1"/>
          </p:cNvSpPr>
          <p:nvPr>
            <p:ph type="sldNum" sz="quarter" idx="12"/>
          </p:nvPr>
        </p:nvSpPr>
        <p:spPr>
          <a:noFill/>
        </p:spPr>
        <p:txBody>
          <a:bodyPr/>
          <a:lstStyle/>
          <a:p>
            <a:fld id="{1737787E-A49B-4BC4-BEAA-10C49554A82C}" type="slidenum">
              <a:rPr lang="en-US" altLang="zh-CN" smtClean="0"/>
              <a:pPr/>
              <a:t>23</a:t>
            </a:fld>
            <a:endParaRPr lang="en-US" altLang="zh-CN" smtClean="0"/>
          </a:p>
        </p:txBody>
      </p:sp>
      <p:sp>
        <p:nvSpPr>
          <p:cNvPr id="571394" name="Rectangle 2"/>
          <p:cNvSpPr>
            <a:spLocks noGrp="1" noRot="1" noChangeArrowheads="1"/>
          </p:cNvSpPr>
          <p:nvPr>
            <p:ph type="title"/>
          </p:nvPr>
        </p:nvSpPr>
        <p:spPr>
          <a:xfrm>
            <a:off x="457200" y="635000"/>
            <a:ext cx="82296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光电调焦</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p>
        </p:txBody>
      </p:sp>
      <p:sp>
        <p:nvSpPr>
          <p:cNvPr id="15368" name="Rectangle 3"/>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5369"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5370"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5371"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5372"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5373" name="Rectangle 8"/>
          <p:cNvSpPr>
            <a:spLocks noChangeArrowheads="1"/>
          </p:cNvSpPr>
          <p:nvPr/>
        </p:nvSpPr>
        <p:spPr bwMode="auto">
          <a:xfrm>
            <a:off x="0" y="3305175"/>
            <a:ext cx="9144000" cy="0"/>
          </a:xfrm>
          <a:prstGeom prst="rect">
            <a:avLst/>
          </a:prstGeom>
          <a:noFill/>
          <a:ln w="9525">
            <a:noFill/>
            <a:miter lim="800000"/>
            <a:headEnd/>
            <a:tailEnd/>
          </a:ln>
        </p:spPr>
        <p:txBody>
          <a:bodyPr wrap="none" anchor="ctr">
            <a:spAutoFit/>
          </a:bodyPr>
          <a:lstStyle/>
          <a:p>
            <a:endParaRPr lang="zh-CN" altLang="en-US"/>
          </a:p>
        </p:txBody>
      </p:sp>
      <p:sp>
        <p:nvSpPr>
          <p:cNvPr id="15374" name="Rectangle 9"/>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15375" name="Rectangle 10"/>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15376" name="Rectangle 11"/>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15377" name="Rectangle 12"/>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15378" name="Rectangle 13"/>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15379" name="Rectangle 6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5362" name="Object 64"/>
          <p:cNvGraphicFramePr>
            <a:graphicFrameLocks noChangeAspect="1"/>
          </p:cNvGraphicFramePr>
          <p:nvPr/>
        </p:nvGraphicFramePr>
        <p:xfrm>
          <a:off x="685800" y="2171700"/>
          <a:ext cx="1114425" cy="727075"/>
        </p:xfrm>
        <a:graphic>
          <a:graphicData uri="http://schemas.openxmlformats.org/presentationml/2006/ole">
            <p:oleObj spid="_x0000_s15362" name="公式" r:id="rId3" imgW="15849917" imgH="10363517" progId="Equation.3">
              <p:embed/>
            </p:oleObj>
          </a:graphicData>
        </a:graphic>
      </p:graphicFrame>
      <p:sp>
        <p:nvSpPr>
          <p:cNvPr id="15380" name="Rectangle 6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5363" name="Object 66"/>
          <p:cNvGraphicFramePr>
            <a:graphicFrameLocks noChangeAspect="1"/>
          </p:cNvGraphicFramePr>
          <p:nvPr/>
        </p:nvGraphicFramePr>
        <p:xfrm>
          <a:off x="1985963" y="2314575"/>
          <a:ext cx="1909762" cy="617538"/>
        </p:xfrm>
        <a:graphic>
          <a:graphicData uri="http://schemas.openxmlformats.org/presentationml/2006/ole">
            <p:oleObj spid="_x0000_s15363" name="公式" r:id="rId4" imgW="31699517" imgH="10363517" progId="Equation.3">
              <p:embed/>
            </p:oleObj>
          </a:graphicData>
        </a:graphic>
      </p:graphicFrame>
      <p:sp>
        <p:nvSpPr>
          <p:cNvPr id="15381" name="Rectangle 6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5364" name="Object 68"/>
          <p:cNvGraphicFramePr>
            <a:graphicFrameLocks noChangeAspect="1"/>
          </p:cNvGraphicFramePr>
          <p:nvPr/>
        </p:nvGraphicFramePr>
        <p:xfrm>
          <a:off x="3943350" y="2171700"/>
          <a:ext cx="1824038" cy="785813"/>
        </p:xfrm>
        <a:graphic>
          <a:graphicData uri="http://schemas.openxmlformats.org/presentationml/2006/ole">
            <p:oleObj spid="_x0000_s15364" name="公式" r:id="rId5" imgW="24993917" imgH="10668317" progId="Equation.3">
              <p:embed/>
            </p:oleObj>
          </a:graphicData>
        </a:graphic>
      </p:graphicFrame>
      <p:sp>
        <p:nvSpPr>
          <p:cNvPr id="15382" name="Text Box 69"/>
          <p:cNvSpPr txBox="1">
            <a:spLocks noChangeArrowheads="1"/>
          </p:cNvSpPr>
          <p:nvPr/>
        </p:nvSpPr>
        <p:spPr bwMode="auto">
          <a:xfrm>
            <a:off x="4154488" y="3573463"/>
            <a:ext cx="3316287" cy="441325"/>
          </a:xfrm>
          <a:prstGeom prst="rect">
            <a:avLst/>
          </a:prstGeom>
          <a:noFill/>
          <a:ln w="9525">
            <a:noFill/>
            <a:miter lim="800000"/>
            <a:headEnd/>
            <a:tailEnd/>
          </a:ln>
        </p:spPr>
        <p:txBody>
          <a:bodyPr/>
          <a:lstStyle/>
          <a:p>
            <a:endParaRPr lang="zh-CN" altLang="en-US"/>
          </a:p>
        </p:txBody>
      </p:sp>
      <p:sp>
        <p:nvSpPr>
          <p:cNvPr id="15383" name="Rectangle 70"/>
          <p:cNvSpPr>
            <a:spLocks noChangeArrowheads="1"/>
          </p:cNvSpPr>
          <p:nvPr/>
        </p:nvSpPr>
        <p:spPr bwMode="auto">
          <a:xfrm>
            <a:off x="100013" y="3128963"/>
            <a:ext cx="5915025" cy="325755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5384" name="Line 71"/>
          <p:cNvSpPr>
            <a:spLocks noChangeShapeType="1"/>
          </p:cNvSpPr>
          <p:nvPr/>
        </p:nvSpPr>
        <p:spPr bwMode="auto">
          <a:xfrm flipV="1">
            <a:off x="1392238" y="4452938"/>
            <a:ext cx="668337" cy="903287"/>
          </a:xfrm>
          <a:prstGeom prst="line">
            <a:avLst/>
          </a:prstGeom>
          <a:noFill/>
          <a:ln w="6350">
            <a:solidFill>
              <a:srgbClr val="000000"/>
            </a:solidFill>
            <a:round/>
            <a:headEnd/>
            <a:tailEnd type="stealth" w="sm" len="sm"/>
          </a:ln>
        </p:spPr>
        <p:txBody>
          <a:bodyPr/>
          <a:lstStyle/>
          <a:p>
            <a:endParaRPr lang="zh-CN" altLang="en-US"/>
          </a:p>
        </p:txBody>
      </p:sp>
      <p:sp>
        <p:nvSpPr>
          <p:cNvPr id="15385" name="Oval 72"/>
          <p:cNvSpPr>
            <a:spLocks noChangeArrowheads="1"/>
          </p:cNvSpPr>
          <p:nvPr/>
        </p:nvSpPr>
        <p:spPr bwMode="auto">
          <a:xfrm>
            <a:off x="1319213" y="4206875"/>
            <a:ext cx="130175" cy="128588"/>
          </a:xfrm>
          <a:prstGeom prst="ellipse">
            <a:avLst/>
          </a:prstGeom>
          <a:noFill/>
          <a:ln w="12700">
            <a:solidFill>
              <a:srgbClr val="000000"/>
            </a:solidFill>
            <a:prstDash val="dash"/>
            <a:round/>
            <a:headEnd/>
            <a:tailEnd/>
          </a:ln>
        </p:spPr>
        <p:txBody>
          <a:bodyPr/>
          <a:lstStyle/>
          <a:p>
            <a:endParaRPr lang="zh-CN" altLang="en-US"/>
          </a:p>
        </p:txBody>
      </p:sp>
      <p:sp>
        <p:nvSpPr>
          <p:cNvPr id="15386" name="Line 73"/>
          <p:cNvSpPr>
            <a:spLocks noChangeShapeType="1"/>
          </p:cNvSpPr>
          <p:nvPr/>
        </p:nvSpPr>
        <p:spPr bwMode="auto">
          <a:xfrm flipH="1" flipV="1">
            <a:off x="1247775" y="3394075"/>
            <a:ext cx="44450" cy="595313"/>
          </a:xfrm>
          <a:prstGeom prst="line">
            <a:avLst/>
          </a:prstGeom>
          <a:noFill/>
          <a:ln w="9525">
            <a:solidFill>
              <a:srgbClr val="000000"/>
            </a:solidFill>
            <a:round/>
            <a:headEnd/>
            <a:tailEnd/>
          </a:ln>
        </p:spPr>
        <p:txBody>
          <a:bodyPr/>
          <a:lstStyle/>
          <a:p>
            <a:endParaRPr lang="zh-CN" altLang="en-US"/>
          </a:p>
        </p:txBody>
      </p:sp>
      <p:sp>
        <p:nvSpPr>
          <p:cNvPr id="15387" name="Line 74"/>
          <p:cNvSpPr>
            <a:spLocks noChangeShapeType="1"/>
          </p:cNvSpPr>
          <p:nvPr/>
        </p:nvSpPr>
        <p:spPr bwMode="auto">
          <a:xfrm flipV="1">
            <a:off x="1482725" y="3411538"/>
            <a:ext cx="17463" cy="614362"/>
          </a:xfrm>
          <a:prstGeom prst="line">
            <a:avLst/>
          </a:prstGeom>
          <a:noFill/>
          <a:ln w="9525">
            <a:solidFill>
              <a:srgbClr val="000000"/>
            </a:solidFill>
            <a:round/>
            <a:headEnd/>
            <a:tailEnd/>
          </a:ln>
        </p:spPr>
        <p:txBody>
          <a:bodyPr/>
          <a:lstStyle/>
          <a:p>
            <a:endParaRPr lang="zh-CN" altLang="en-US"/>
          </a:p>
        </p:txBody>
      </p:sp>
      <p:grpSp>
        <p:nvGrpSpPr>
          <p:cNvPr id="15388" name="Group 75"/>
          <p:cNvGrpSpPr>
            <a:grpSpLocks/>
          </p:cNvGrpSpPr>
          <p:nvPr/>
        </p:nvGrpSpPr>
        <p:grpSpPr bwMode="auto">
          <a:xfrm rot="90414">
            <a:off x="768350" y="3890963"/>
            <a:ext cx="1158875" cy="1498600"/>
            <a:chOff x="2100" y="12020"/>
            <a:chExt cx="1283" cy="1660"/>
          </a:xfrm>
        </p:grpSpPr>
        <p:sp>
          <p:nvSpPr>
            <p:cNvPr id="15488" name="Freeform 76" descr="浅色上对角线"/>
            <p:cNvSpPr>
              <a:spLocks/>
            </p:cNvSpPr>
            <p:nvPr/>
          </p:nvSpPr>
          <p:spPr bwMode="auto">
            <a:xfrm>
              <a:off x="2100" y="12110"/>
              <a:ext cx="700" cy="1570"/>
            </a:xfrm>
            <a:custGeom>
              <a:avLst/>
              <a:gdLst>
                <a:gd name="T0" fmla="*/ 700 w 700"/>
                <a:gd name="T1" fmla="*/ 1570 h 1570"/>
                <a:gd name="T2" fmla="*/ 0 w 700"/>
                <a:gd name="T3" fmla="*/ 80 h 1570"/>
                <a:gd name="T4" fmla="*/ 180 w 700"/>
                <a:gd name="T5" fmla="*/ 0 h 1570"/>
                <a:gd name="T6" fmla="*/ 700 w 700"/>
                <a:gd name="T7" fmla="*/ 1570 h 1570"/>
                <a:gd name="T8" fmla="*/ 0 60000 65536"/>
                <a:gd name="T9" fmla="*/ 0 60000 65536"/>
                <a:gd name="T10" fmla="*/ 0 60000 65536"/>
                <a:gd name="T11" fmla="*/ 0 60000 65536"/>
                <a:gd name="T12" fmla="*/ 0 w 700"/>
                <a:gd name="T13" fmla="*/ 0 h 1570"/>
                <a:gd name="T14" fmla="*/ 700 w 700"/>
                <a:gd name="T15" fmla="*/ 1570 h 1570"/>
              </a:gdLst>
              <a:ahLst/>
              <a:cxnLst>
                <a:cxn ang="T8">
                  <a:pos x="T0" y="T1"/>
                </a:cxn>
                <a:cxn ang="T9">
                  <a:pos x="T2" y="T3"/>
                </a:cxn>
                <a:cxn ang="T10">
                  <a:pos x="T4" y="T5"/>
                </a:cxn>
                <a:cxn ang="T11">
                  <a:pos x="T6" y="T7"/>
                </a:cxn>
              </a:cxnLst>
              <a:rect l="T12" t="T13" r="T14" b="T15"/>
              <a:pathLst>
                <a:path w="700" h="1570">
                  <a:moveTo>
                    <a:pt x="700" y="1570"/>
                  </a:moveTo>
                  <a:lnTo>
                    <a:pt x="0" y="80"/>
                  </a:lnTo>
                  <a:lnTo>
                    <a:pt x="180" y="0"/>
                  </a:lnTo>
                  <a:lnTo>
                    <a:pt x="700" y="1570"/>
                  </a:lnTo>
                  <a:close/>
                </a:path>
              </a:pathLst>
            </a:custGeom>
            <a:pattFill prst="ltUpDiag">
              <a:fgClr>
                <a:srgbClr val="000000"/>
              </a:fgClr>
              <a:bgClr>
                <a:srgbClr val="FFFFFF"/>
              </a:bgClr>
            </a:pattFill>
            <a:ln w="9525">
              <a:solidFill>
                <a:srgbClr val="000000"/>
              </a:solidFill>
              <a:round/>
              <a:headEnd/>
              <a:tailEnd/>
            </a:ln>
          </p:spPr>
          <p:txBody>
            <a:bodyPr/>
            <a:lstStyle/>
            <a:p>
              <a:endParaRPr lang="zh-CN" altLang="en-US"/>
            </a:p>
          </p:txBody>
        </p:sp>
        <p:sp>
          <p:nvSpPr>
            <p:cNvPr id="15489" name="Freeform 77" descr="浅色上对角线"/>
            <p:cNvSpPr>
              <a:spLocks/>
            </p:cNvSpPr>
            <p:nvPr/>
          </p:nvSpPr>
          <p:spPr bwMode="auto">
            <a:xfrm rot="741985">
              <a:off x="2299" y="12058"/>
              <a:ext cx="690" cy="1572"/>
            </a:xfrm>
            <a:custGeom>
              <a:avLst/>
              <a:gdLst>
                <a:gd name="T0" fmla="*/ 670 w 700"/>
                <a:gd name="T1" fmla="*/ 1576 h 1570"/>
                <a:gd name="T2" fmla="*/ 0 w 700"/>
                <a:gd name="T3" fmla="*/ 80 h 1570"/>
                <a:gd name="T4" fmla="*/ 172 w 700"/>
                <a:gd name="T5" fmla="*/ 0 h 1570"/>
                <a:gd name="T6" fmla="*/ 670 w 700"/>
                <a:gd name="T7" fmla="*/ 1576 h 1570"/>
                <a:gd name="T8" fmla="*/ 0 60000 65536"/>
                <a:gd name="T9" fmla="*/ 0 60000 65536"/>
                <a:gd name="T10" fmla="*/ 0 60000 65536"/>
                <a:gd name="T11" fmla="*/ 0 60000 65536"/>
                <a:gd name="T12" fmla="*/ 0 w 700"/>
                <a:gd name="T13" fmla="*/ 0 h 1570"/>
                <a:gd name="T14" fmla="*/ 700 w 700"/>
                <a:gd name="T15" fmla="*/ 1570 h 1570"/>
              </a:gdLst>
              <a:ahLst/>
              <a:cxnLst>
                <a:cxn ang="T8">
                  <a:pos x="T0" y="T1"/>
                </a:cxn>
                <a:cxn ang="T9">
                  <a:pos x="T2" y="T3"/>
                </a:cxn>
                <a:cxn ang="T10">
                  <a:pos x="T4" y="T5"/>
                </a:cxn>
                <a:cxn ang="T11">
                  <a:pos x="T6" y="T7"/>
                </a:cxn>
              </a:cxnLst>
              <a:rect l="T12" t="T13" r="T14" b="T15"/>
              <a:pathLst>
                <a:path w="700" h="1570">
                  <a:moveTo>
                    <a:pt x="700" y="1570"/>
                  </a:moveTo>
                  <a:lnTo>
                    <a:pt x="0" y="80"/>
                  </a:lnTo>
                  <a:lnTo>
                    <a:pt x="180" y="0"/>
                  </a:lnTo>
                  <a:lnTo>
                    <a:pt x="700" y="1570"/>
                  </a:lnTo>
                  <a:close/>
                </a:path>
              </a:pathLst>
            </a:custGeom>
            <a:pattFill prst="ltUpDiag">
              <a:fgClr>
                <a:srgbClr val="000000"/>
              </a:fgClr>
              <a:bgClr>
                <a:srgbClr val="FFFFFF"/>
              </a:bgClr>
            </a:pattFill>
            <a:ln w="9525">
              <a:solidFill>
                <a:srgbClr val="000000"/>
              </a:solidFill>
              <a:round/>
              <a:headEnd/>
              <a:tailEnd/>
            </a:ln>
          </p:spPr>
          <p:txBody>
            <a:bodyPr/>
            <a:lstStyle/>
            <a:p>
              <a:endParaRPr lang="zh-CN" altLang="en-US"/>
            </a:p>
          </p:txBody>
        </p:sp>
        <p:sp>
          <p:nvSpPr>
            <p:cNvPr id="15490" name="Freeform 78" descr="浅色上对角线"/>
            <p:cNvSpPr>
              <a:spLocks/>
            </p:cNvSpPr>
            <p:nvPr/>
          </p:nvSpPr>
          <p:spPr bwMode="auto">
            <a:xfrm rot="1656137">
              <a:off x="2500" y="12020"/>
              <a:ext cx="700" cy="1570"/>
            </a:xfrm>
            <a:custGeom>
              <a:avLst/>
              <a:gdLst>
                <a:gd name="T0" fmla="*/ 700 w 700"/>
                <a:gd name="T1" fmla="*/ 1570 h 1570"/>
                <a:gd name="T2" fmla="*/ 0 w 700"/>
                <a:gd name="T3" fmla="*/ 80 h 1570"/>
                <a:gd name="T4" fmla="*/ 180 w 700"/>
                <a:gd name="T5" fmla="*/ 0 h 1570"/>
                <a:gd name="T6" fmla="*/ 700 w 700"/>
                <a:gd name="T7" fmla="*/ 1570 h 1570"/>
                <a:gd name="T8" fmla="*/ 0 60000 65536"/>
                <a:gd name="T9" fmla="*/ 0 60000 65536"/>
                <a:gd name="T10" fmla="*/ 0 60000 65536"/>
                <a:gd name="T11" fmla="*/ 0 60000 65536"/>
                <a:gd name="T12" fmla="*/ 0 w 700"/>
                <a:gd name="T13" fmla="*/ 0 h 1570"/>
                <a:gd name="T14" fmla="*/ 700 w 700"/>
                <a:gd name="T15" fmla="*/ 1570 h 1570"/>
              </a:gdLst>
              <a:ahLst/>
              <a:cxnLst>
                <a:cxn ang="T8">
                  <a:pos x="T0" y="T1"/>
                </a:cxn>
                <a:cxn ang="T9">
                  <a:pos x="T2" y="T3"/>
                </a:cxn>
                <a:cxn ang="T10">
                  <a:pos x="T4" y="T5"/>
                </a:cxn>
                <a:cxn ang="T11">
                  <a:pos x="T6" y="T7"/>
                </a:cxn>
              </a:cxnLst>
              <a:rect l="T12" t="T13" r="T14" b="T15"/>
              <a:pathLst>
                <a:path w="700" h="1570">
                  <a:moveTo>
                    <a:pt x="700" y="1570"/>
                  </a:moveTo>
                  <a:lnTo>
                    <a:pt x="0" y="80"/>
                  </a:lnTo>
                  <a:lnTo>
                    <a:pt x="180" y="0"/>
                  </a:lnTo>
                  <a:lnTo>
                    <a:pt x="700" y="1570"/>
                  </a:lnTo>
                  <a:close/>
                </a:path>
              </a:pathLst>
            </a:custGeom>
            <a:pattFill prst="ltUpDiag">
              <a:fgClr>
                <a:srgbClr val="000000"/>
              </a:fgClr>
              <a:bgClr>
                <a:srgbClr val="FFFFFF"/>
              </a:bgClr>
            </a:pattFill>
            <a:ln w="9525">
              <a:solidFill>
                <a:srgbClr val="000000"/>
              </a:solidFill>
              <a:round/>
              <a:headEnd/>
              <a:tailEnd/>
            </a:ln>
          </p:spPr>
          <p:txBody>
            <a:bodyPr/>
            <a:lstStyle/>
            <a:p>
              <a:endParaRPr lang="zh-CN" altLang="en-US"/>
            </a:p>
          </p:txBody>
        </p:sp>
        <p:sp>
          <p:nvSpPr>
            <p:cNvPr id="15491" name="Freeform 79" descr="浅色上对角线"/>
            <p:cNvSpPr>
              <a:spLocks/>
            </p:cNvSpPr>
            <p:nvPr/>
          </p:nvSpPr>
          <p:spPr bwMode="auto">
            <a:xfrm rot="2356273">
              <a:off x="2683" y="12061"/>
              <a:ext cx="700" cy="1555"/>
            </a:xfrm>
            <a:custGeom>
              <a:avLst/>
              <a:gdLst>
                <a:gd name="T0" fmla="*/ 700 w 700"/>
                <a:gd name="T1" fmla="*/ 1525 h 1570"/>
                <a:gd name="T2" fmla="*/ 0 w 700"/>
                <a:gd name="T3" fmla="*/ 77 h 1570"/>
                <a:gd name="T4" fmla="*/ 180 w 700"/>
                <a:gd name="T5" fmla="*/ 0 h 1570"/>
                <a:gd name="T6" fmla="*/ 700 w 700"/>
                <a:gd name="T7" fmla="*/ 1525 h 1570"/>
                <a:gd name="T8" fmla="*/ 0 60000 65536"/>
                <a:gd name="T9" fmla="*/ 0 60000 65536"/>
                <a:gd name="T10" fmla="*/ 0 60000 65536"/>
                <a:gd name="T11" fmla="*/ 0 60000 65536"/>
                <a:gd name="T12" fmla="*/ 0 w 700"/>
                <a:gd name="T13" fmla="*/ 0 h 1570"/>
                <a:gd name="T14" fmla="*/ 700 w 700"/>
                <a:gd name="T15" fmla="*/ 1570 h 1570"/>
              </a:gdLst>
              <a:ahLst/>
              <a:cxnLst>
                <a:cxn ang="T8">
                  <a:pos x="T0" y="T1"/>
                </a:cxn>
                <a:cxn ang="T9">
                  <a:pos x="T2" y="T3"/>
                </a:cxn>
                <a:cxn ang="T10">
                  <a:pos x="T4" y="T5"/>
                </a:cxn>
                <a:cxn ang="T11">
                  <a:pos x="T6" y="T7"/>
                </a:cxn>
              </a:cxnLst>
              <a:rect l="T12" t="T13" r="T14" b="T15"/>
              <a:pathLst>
                <a:path w="700" h="1570">
                  <a:moveTo>
                    <a:pt x="700" y="1570"/>
                  </a:moveTo>
                  <a:lnTo>
                    <a:pt x="0" y="80"/>
                  </a:lnTo>
                  <a:lnTo>
                    <a:pt x="180" y="0"/>
                  </a:lnTo>
                  <a:lnTo>
                    <a:pt x="700" y="1570"/>
                  </a:lnTo>
                  <a:close/>
                </a:path>
              </a:pathLst>
            </a:custGeom>
            <a:pattFill prst="ltUpDiag">
              <a:fgClr>
                <a:srgbClr val="000000"/>
              </a:fgClr>
              <a:bgClr>
                <a:srgbClr val="FFFFFF"/>
              </a:bgClr>
            </a:pattFill>
            <a:ln w="9525">
              <a:solidFill>
                <a:srgbClr val="000000"/>
              </a:solidFill>
              <a:round/>
              <a:headEnd/>
              <a:tailEnd/>
            </a:ln>
          </p:spPr>
          <p:txBody>
            <a:bodyPr/>
            <a:lstStyle/>
            <a:p>
              <a:endParaRPr lang="zh-CN" altLang="en-US"/>
            </a:p>
          </p:txBody>
        </p:sp>
      </p:grpSp>
      <p:sp>
        <p:nvSpPr>
          <p:cNvPr id="15389" name="Freeform 80"/>
          <p:cNvSpPr>
            <a:spLocks/>
          </p:cNvSpPr>
          <p:nvPr/>
        </p:nvSpPr>
        <p:spPr bwMode="auto">
          <a:xfrm>
            <a:off x="2332038" y="4295775"/>
            <a:ext cx="2024062" cy="492125"/>
          </a:xfrm>
          <a:custGeom>
            <a:avLst/>
            <a:gdLst>
              <a:gd name="T0" fmla="*/ 0 w 2240"/>
              <a:gd name="T1" fmla="*/ 2147483647 h 545"/>
              <a:gd name="T2" fmla="*/ 2147483647 w 2240"/>
              <a:gd name="T3" fmla="*/ 2147483647 h 545"/>
              <a:gd name="T4" fmla="*/ 2147483647 w 2240"/>
              <a:gd name="T5" fmla="*/ 2147483647 h 545"/>
              <a:gd name="T6" fmla="*/ 2147483647 w 2240"/>
              <a:gd name="T7" fmla="*/ 2147483647 h 545"/>
              <a:gd name="T8" fmla="*/ 2147483647 w 2240"/>
              <a:gd name="T9" fmla="*/ 2147483647 h 545"/>
              <a:gd name="T10" fmla="*/ 0 60000 65536"/>
              <a:gd name="T11" fmla="*/ 0 60000 65536"/>
              <a:gd name="T12" fmla="*/ 0 60000 65536"/>
              <a:gd name="T13" fmla="*/ 0 60000 65536"/>
              <a:gd name="T14" fmla="*/ 0 60000 65536"/>
              <a:gd name="T15" fmla="*/ 0 w 2240"/>
              <a:gd name="T16" fmla="*/ 0 h 545"/>
              <a:gd name="T17" fmla="*/ 2240 w 2240"/>
              <a:gd name="T18" fmla="*/ 545 h 545"/>
            </a:gdLst>
            <a:ahLst/>
            <a:cxnLst>
              <a:cxn ang="T10">
                <a:pos x="T0" y="T1"/>
              </a:cxn>
              <a:cxn ang="T11">
                <a:pos x="T2" y="T3"/>
              </a:cxn>
              <a:cxn ang="T12">
                <a:pos x="T4" y="T5"/>
              </a:cxn>
              <a:cxn ang="T13">
                <a:pos x="T6" y="T7"/>
              </a:cxn>
              <a:cxn ang="T14">
                <a:pos x="T8" y="T9"/>
              </a:cxn>
            </a:cxnLst>
            <a:rect l="T15" t="T16" r="T17" b="T18"/>
            <a:pathLst>
              <a:path w="2240" h="545">
                <a:moveTo>
                  <a:pt x="0" y="292"/>
                </a:moveTo>
                <a:cubicBezTo>
                  <a:pt x="76" y="146"/>
                  <a:pt x="153" y="0"/>
                  <a:pt x="320" y="42"/>
                </a:cubicBezTo>
                <a:cubicBezTo>
                  <a:pt x="487" y="84"/>
                  <a:pt x="773" y="545"/>
                  <a:pt x="1000" y="542"/>
                </a:cubicBezTo>
                <a:cubicBezTo>
                  <a:pt x="1227" y="539"/>
                  <a:pt x="1473" y="30"/>
                  <a:pt x="1680" y="22"/>
                </a:cubicBezTo>
                <a:cubicBezTo>
                  <a:pt x="1887" y="14"/>
                  <a:pt x="2063" y="253"/>
                  <a:pt x="2240" y="492"/>
                </a:cubicBezTo>
              </a:path>
            </a:pathLst>
          </a:custGeom>
          <a:noFill/>
          <a:ln w="28575">
            <a:solidFill>
              <a:srgbClr val="0066CC"/>
            </a:solidFill>
            <a:prstDash val="dash"/>
            <a:round/>
            <a:headEnd/>
            <a:tailEnd/>
          </a:ln>
        </p:spPr>
        <p:txBody>
          <a:bodyPr/>
          <a:lstStyle/>
          <a:p>
            <a:endParaRPr lang="zh-CN" altLang="en-US"/>
          </a:p>
        </p:txBody>
      </p:sp>
      <p:sp>
        <p:nvSpPr>
          <p:cNvPr id="15390" name="Freeform 81"/>
          <p:cNvSpPr>
            <a:spLocks/>
          </p:cNvSpPr>
          <p:nvPr/>
        </p:nvSpPr>
        <p:spPr bwMode="auto">
          <a:xfrm>
            <a:off x="2322513" y="4486275"/>
            <a:ext cx="2024062" cy="244475"/>
          </a:xfrm>
          <a:custGeom>
            <a:avLst/>
            <a:gdLst>
              <a:gd name="T0" fmla="*/ 0 w 2240"/>
              <a:gd name="T1" fmla="*/ 2147483647 h 270"/>
              <a:gd name="T2" fmla="*/ 2147483647 w 2240"/>
              <a:gd name="T3" fmla="*/ 0 h 270"/>
              <a:gd name="T4" fmla="*/ 2147483647 w 2240"/>
              <a:gd name="T5" fmla="*/ 2147483647 h 270"/>
              <a:gd name="T6" fmla="*/ 2147483647 w 2240"/>
              <a:gd name="T7" fmla="*/ 2147483647 h 270"/>
              <a:gd name="T8" fmla="*/ 2147483647 w 2240"/>
              <a:gd name="T9" fmla="*/ 2147483647 h 270"/>
              <a:gd name="T10" fmla="*/ 2147483647 w 2240"/>
              <a:gd name="T11" fmla="*/ 0 h 270"/>
              <a:gd name="T12" fmla="*/ 2147483647 w 2240"/>
              <a:gd name="T13" fmla="*/ 2147483647 h 270"/>
              <a:gd name="T14" fmla="*/ 2147483647 w 2240"/>
              <a:gd name="T15" fmla="*/ 2147483647 h 270"/>
              <a:gd name="T16" fmla="*/ 0 60000 65536"/>
              <a:gd name="T17" fmla="*/ 0 60000 65536"/>
              <a:gd name="T18" fmla="*/ 0 60000 65536"/>
              <a:gd name="T19" fmla="*/ 0 60000 65536"/>
              <a:gd name="T20" fmla="*/ 0 60000 65536"/>
              <a:gd name="T21" fmla="*/ 0 60000 65536"/>
              <a:gd name="T22" fmla="*/ 0 60000 65536"/>
              <a:gd name="T23" fmla="*/ 0 60000 65536"/>
              <a:gd name="T24" fmla="*/ 0 w 2240"/>
              <a:gd name="T25" fmla="*/ 0 h 270"/>
              <a:gd name="T26" fmla="*/ 2240 w 2240"/>
              <a:gd name="T27" fmla="*/ 270 h 2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40" h="270">
                <a:moveTo>
                  <a:pt x="0" y="70"/>
                </a:moveTo>
                <a:cubicBezTo>
                  <a:pt x="110" y="35"/>
                  <a:pt x="220" y="0"/>
                  <a:pt x="330" y="0"/>
                </a:cubicBezTo>
                <a:cubicBezTo>
                  <a:pt x="440" y="0"/>
                  <a:pt x="543" y="42"/>
                  <a:pt x="660" y="70"/>
                </a:cubicBezTo>
                <a:cubicBezTo>
                  <a:pt x="777" y="98"/>
                  <a:pt x="912" y="167"/>
                  <a:pt x="1030" y="170"/>
                </a:cubicBezTo>
                <a:cubicBezTo>
                  <a:pt x="1148" y="173"/>
                  <a:pt x="1258" y="118"/>
                  <a:pt x="1370" y="90"/>
                </a:cubicBezTo>
                <a:cubicBezTo>
                  <a:pt x="1482" y="62"/>
                  <a:pt x="1592" y="0"/>
                  <a:pt x="1700" y="0"/>
                </a:cubicBezTo>
                <a:cubicBezTo>
                  <a:pt x="1808" y="0"/>
                  <a:pt x="1930" y="45"/>
                  <a:pt x="2020" y="90"/>
                </a:cubicBezTo>
                <a:cubicBezTo>
                  <a:pt x="2110" y="135"/>
                  <a:pt x="2202" y="240"/>
                  <a:pt x="2240" y="270"/>
                </a:cubicBezTo>
              </a:path>
            </a:pathLst>
          </a:custGeom>
          <a:noFill/>
          <a:ln w="28575">
            <a:solidFill>
              <a:srgbClr val="000000"/>
            </a:solidFill>
            <a:round/>
            <a:headEnd/>
            <a:tailEnd/>
          </a:ln>
        </p:spPr>
        <p:txBody>
          <a:bodyPr/>
          <a:lstStyle/>
          <a:p>
            <a:endParaRPr lang="zh-CN" altLang="en-US"/>
          </a:p>
        </p:txBody>
      </p:sp>
      <p:sp>
        <p:nvSpPr>
          <p:cNvPr id="15391" name="Line 82"/>
          <p:cNvSpPr>
            <a:spLocks noChangeShapeType="1"/>
          </p:cNvSpPr>
          <p:nvPr/>
        </p:nvSpPr>
        <p:spPr bwMode="auto">
          <a:xfrm flipH="1" flipV="1">
            <a:off x="2611438" y="3944938"/>
            <a:ext cx="0" cy="1011237"/>
          </a:xfrm>
          <a:prstGeom prst="line">
            <a:avLst/>
          </a:prstGeom>
          <a:noFill/>
          <a:ln w="6350">
            <a:solidFill>
              <a:srgbClr val="000000"/>
            </a:solidFill>
            <a:round/>
            <a:headEnd/>
            <a:tailEnd type="stealth" w="sm" len="sm"/>
          </a:ln>
        </p:spPr>
        <p:txBody>
          <a:bodyPr/>
          <a:lstStyle/>
          <a:p>
            <a:endParaRPr lang="zh-CN" altLang="en-US"/>
          </a:p>
        </p:txBody>
      </p:sp>
      <p:sp>
        <p:nvSpPr>
          <p:cNvPr id="15392" name="Line 83"/>
          <p:cNvSpPr>
            <a:spLocks noChangeShapeType="1"/>
          </p:cNvSpPr>
          <p:nvPr/>
        </p:nvSpPr>
        <p:spPr bwMode="auto">
          <a:xfrm flipV="1">
            <a:off x="2611438" y="4956175"/>
            <a:ext cx="1590675" cy="0"/>
          </a:xfrm>
          <a:prstGeom prst="line">
            <a:avLst/>
          </a:prstGeom>
          <a:noFill/>
          <a:ln w="6350">
            <a:solidFill>
              <a:srgbClr val="000000"/>
            </a:solidFill>
            <a:round/>
            <a:headEnd/>
            <a:tailEnd type="stealth" w="sm" len="sm"/>
          </a:ln>
        </p:spPr>
        <p:txBody>
          <a:bodyPr/>
          <a:lstStyle/>
          <a:p>
            <a:endParaRPr lang="zh-CN" altLang="en-US"/>
          </a:p>
        </p:txBody>
      </p:sp>
      <p:sp>
        <p:nvSpPr>
          <p:cNvPr id="15393" name="Line 84"/>
          <p:cNvSpPr>
            <a:spLocks noChangeShapeType="1"/>
          </p:cNvSpPr>
          <p:nvPr/>
        </p:nvSpPr>
        <p:spPr bwMode="auto">
          <a:xfrm>
            <a:off x="2286000" y="4564063"/>
            <a:ext cx="2006600" cy="0"/>
          </a:xfrm>
          <a:prstGeom prst="line">
            <a:avLst/>
          </a:prstGeom>
          <a:noFill/>
          <a:ln w="6350">
            <a:solidFill>
              <a:srgbClr val="000000"/>
            </a:solidFill>
            <a:round/>
            <a:headEnd/>
            <a:tailEnd/>
          </a:ln>
        </p:spPr>
        <p:txBody>
          <a:bodyPr/>
          <a:lstStyle/>
          <a:p>
            <a:endParaRPr lang="zh-CN" altLang="en-US"/>
          </a:p>
        </p:txBody>
      </p:sp>
      <p:sp>
        <p:nvSpPr>
          <p:cNvPr id="15394" name="Line 85"/>
          <p:cNvSpPr>
            <a:spLocks noChangeShapeType="1"/>
          </p:cNvSpPr>
          <p:nvPr/>
        </p:nvSpPr>
        <p:spPr bwMode="auto">
          <a:xfrm>
            <a:off x="3695700" y="4549775"/>
            <a:ext cx="0" cy="40640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15395" name="Line 86"/>
          <p:cNvSpPr>
            <a:spLocks noChangeShapeType="1"/>
          </p:cNvSpPr>
          <p:nvPr/>
        </p:nvSpPr>
        <p:spPr bwMode="auto">
          <a:xfrm>
            <a:off x="3832225" y="4125913"/>
            <a:ext cx="396875" cy="0"/>
          </a:xfrm>
          <a:prstGeom prst="line">
            <a:avLst/>
          </a:prstGeom>
          <a:noFill/>
          <a:ln w="6350">
            <a:solidFill>
              <a:srgbClr val="000000"/>
            </a:solidFill>
            <a:round/>
            <a:headEnd/>
            <a:tailEnd/>
          </a:ln>
        </p:spPr>
        <p:txBody>
          <a:bodyPr/>
          <a:lstStyle/>
          <a:p>
            <a:endParaRPr lang="zh-CN" altLang="en-US"/>
          </a:p>
        </p:txBody>
      </p:sp>
      <p:sp>
        <p:nvSpPr>
          <p:cNvPr id="15396" name="Line 87"/>
          <p:cNvSpPr>
            <a:spLocks noChangeShapeType="1"/>
          </p:cNvSpPr>
          <p:nvPr/>
        </p:nvSpPr>
        <p:spPr bwMode="auto">
          <a:xfrm>
            <a:off x="4211638" y="4116388"/>
            <a:ext cx="0" cy="442912"/>
          </a:xfrm>
          <a:prstGeom prst="line">
            <a:avLst/>
          </a:prstGeom>
          <a:noFill/>
          <a:ln w="6350">
            <a:solidFill>
              <a:srgbClr val="000000"/>
            </a:solidFill>
            <a:round/>
            <a:headEnd type="stealth" w="sm" len="sm"/>
            <a:tailEnd type="stealth" w="sm" len="sm"/>
          </a:ln>
        </p:spPr>
        <p:txBody>
          <a:bodyPr/>
          <a:lstStyle/>
          <a:p>
            <a:endParaRPr lang="zh-CN" altLang="en-US"/>
          </a:p>
        </p:txBody>
      </p:sp>
      <p:sp>
        <p:nvSpPr>
          <p:cNvPr id="15397" name="Freeform 88"/>
          <p:cNvSpPr>
            <a:spLocks/>
          </p:cNvSpPr>
          <p:nvPr/>
        </p:nvSpPr>
        <p:spPr bwMode="auto">
          <a:xfrm>
            <a:off x="4627563" y="3946525"/>
            <a:ext cx="1039812" cy="847725"/>
          </a:xfrm>
          <a:custGeom>
            <a:avLst/>
            <a:gdLst>
              <a:gd name="T0" fmla="*/ 0 w 1150"/>
              <a:gd name="T1" fmla="*/ 2147483647 h 938"/>
              <a:gd name="T2" fmla="*/ 2147483647 w 1150"/>
              <a:gd name="T3" fmla="*/ 2147483647 h 938"/>
              <a:gd name="T4" fmla="*/ 2147483647 w 1150"/>
              <a:gd name="T5" fmla="*/ 2147483647 h 938"/>
              <a:gd name="T6" fmla="*/ 0 60000 65536"/>
              <a:gd name="T7" fmla="*/ 0 60000 65536"/>
              <a:gd name="T8" fmla="*/ 0 60000 65536"/>
              <a:gd name="T9" fmla="*/ 0 w 1150"/>
              <a:gd name="T10" fmla="*/ 0 h 938"/>
              <a:gd name="T11" fmla="*/ 1150 w 1150"/>
              <a:gd name="T12" fmla="*/ 938 h 938"/>
            </a:gdLst>
            <a:ahLst/>
            <a:cxnLst>
              <a:cxn ang="T6">
                <a:pos x="T0" y="T1"/>
              </a:cxn>
              <a:cxn ang="T7">
                <a:pos x="T2" y="T3"/>
              </a:cxn>
              <a:cxn ang="T8">
                <a:pos x="T4" y="T5"/>
              </a:cxn>
            </a:cxnLst>
            <a:rect l="T9" t="T10" r="T11" b="T12"/>
            <a:pathLst>
              <a:path w="1150" h="938">
                <a:moveTo>
                  <a:pt x="0" y="888"/>
                </a:moveTo>
                <a:cubicBezTo>
                  <a:pt x="189" y="444"/>
                  <a:pt x="378" y="0"/>
                  <a:pt x="570" y="8"/>
                </a:cubicBezTo>
                <a:cubicBezTo>
                  <a:pt x="762" y="16"/>
                  <a:pt x="956" y="477"/>
                  <a:pt x="1150" y="938"/>
                </a:cubicBezTo>
              </a:path>
            </a:pathLst>
          </a:custGeom>
          <a:noFill/>
          <a:ln w="9525">
            <a:solidFill>
              <a:srgbClr val="000000"/>
            </a:solidFill>
            <a:round/>
            <a:headEnd/>
            <a:tailEnd/>
          </a:ln>
        </p:spPr>
        <p:txBody>
          <a:bodyPr/>
          <a:lstStyle/>
          <a:p>
            <a:endParaRPr lang="zh-CN" altLang="en-US"/>
          </a:p>
        </p:txBody>
      </p:sp>
      <p:sp>
        <p:nvSpPr>
          <p:cNvPr id="15398" name="Line 89"/>
          <p:cNvSpPr>
            <a:spLocks noChangeShapeType="1"/>
          </p:cNvSpPr>
          <p:nvPr/>
        </p:nvSpPr>
        <p:spPr bwMode="auto">
          <a:xfrm>
            <a:off x="4841875" y="4284663"/>
            <a:ext cx="592138" cy="3175"/>
          </a:xfrm>
          <a:prstGeom prst="line">
            <a:avLst/>
          </a:prstGeom>
          <a:noFill/>
          <a:ln w="9525">
            <a:solidFill>
              <a:srgbClr val="000000"/>
            </a:solidFill>
            <a:round/>
            <a:headEnd/>
            <a:tailEnd/>
          </a:ln>
        </p:spPr>
        <p:txBody>
          <a:bodyPr/>
          <a:lstStyle/>
          <a:p>
            <a:endParaRPr lang="zh-CN" altLang="en-US"/>
          </a:p>
        </p:txBody>
      </p:sp>
      <p:sp>
        <p:nvSpPr>
          <p:cNvPr id="15399" name="Line 90"/>
          <p:cNvSpPr>
            <a:spLocks noChangeShapeType="1"/>
          </p:cNvSpPr>
          <p:nvPr/>
        </p:nvSpPr>
        <p:spPr bwMode="auto">
          <a:xfrm flipH="1">
            <a:off x="4843463" y="4287838"/>
            <a:ext cx="0" cy="641350"/>
          </a:xfrm>
          <a:prstGeom prst="line">
            <a:avLst/>
          </a:prstGeom>
          <a:noFill/>
          <a:ln w="9525">
            <a:solidFill>
              <a:srgbClr val="000000"/>
            </a:solidFill>
            <a:round/>
            <a:headEnd/>
            <a:tailEnd/>
          </a:ln>
        </p:spPr>
        <p:txBody>
          <a:bodyPr/>
          <a:lstStyle/>
          <a:p>
            <a:endParaRPr lang="zh-CN" altLang="en-US"/>
          </a:p>
        </p:txBody>
      </p:sp>
      <p:sp>
        <p:nvSpPr>
          <p:cNvPr id="15400" name="Line 91"/>
          <p:cNvSpPr>
            <a:spLocks noChangeShapeType="1"/>
          </p:cNvSpPr>
          <p:nvPr/>
        </p:nvSpPr>
        <p:spPr bwMode="auto">
          <a:xfrm flipH="1">
            <a:off x="5430838" y="4297363"/>
            <a:ext cx="0" cy="631825"/>
          </a:xfrm>
          <a:prstGeom prst="line">
            <a:avLst/>
          </a:prstGeom>
          <a:noFill/>
          <a:ln w="9525">
            <a:solidFill>
              <a:srgbClr val="000000"/>
            </a:solidFill>
            <a:round/>
            <a:headEnd/>
            <a:tailEnd/>
          </a:ln>
        </p:spPr>
        <p:txBody>
          <a:bodyPr/>
          <a:lstStyle/>
          <a:p>
            <a:endParaRPr lang="zh-CN" altLang="en-US"/>
          </a:p>
        </p:txBody>
      </p:sp>
      <p:sp>
        <p:nvSpPr>
          <p:cNvPr id="15401" name="Line 92"/>
          <p:cNvSpPr>
            <a:spLocks noChangeShapeType="1"/>
          </p:cNvSpPr>
          <p:nvPr/>
        </p:nvSpPr>
        <p:spPr bwMode="auto">
          <a:xfrm flipV="1">
            <a:off x="4483100" y="4929188"/>
            <a:ext cx="1346200" cy="9525"/>
          </a:xfrm>
          <a:prstGeom prst="line">
            <a:avLst/>
          </a:prstGeom>
          <a:noFill/>
          <a:ln w="6350">
            <a:solidFill>
              <a:srgbClr val="000000"/>
            </a:solidFill>
            <a:round/>
            <a:headEnd/>
            <a:tailEnd/>
          </a:ln>
        </p:spPr>
        <p:txBody>
          <a:bodyPr/>
          <a:lstStyle/>
          <a:p>
            <a:endParaRPr lang="zh-CN" altLang="en-US"/>
          </a:p>
        </p:txBody>
      </p:sp>
      <p:sp>
        <p:nvSpPr>
          <p:cNvPr id="15402" name="Line 93"/>
          <p:cNvSpPr>
            <a:spLocks noChangeShapeType="1"/>
          </p:cNvSpPr>
          <p:nvPr/>
        </p:nvSpPr>
        <p:spPr bwMode="auto">
          <a:xfrm>
            <a:off x="4637088" y="4884738"/>
            <a:ext cx="0" cy="53975"/>
          </a:xfrm>
          <a:prstGeom prst="line">
            <a:avLst/>
          </a:prstGeom>
          <a:noFill/>
          <a:ln w="6350">
            <a:solidFill>
              <a:srgbClr val="000000"/>
            </a:solidFill>
            <a:round/>
            <a:headEnd/>
            <a:tailEnd/>
          </a:ln>
        </p:spPr>
        <p:txBody>
          <a:bodyPr/>
          <a:lstStyle/>
          <a:p>
            <a:endParaRPr lang="zh-CN" altLang="en-US"/>
          </a:p>
        </p:txBody>
      </p:sp>
      <p:sp>
        <p:nvSpPr>
          <p:cNvPr id="15403" name="Line 94"/>
          <p:cNvSpPr>
            <a:spLocks noChangeShapeType="1"/>
          </p:cNvSpPr>
          <p:nvPr/>
        </p:nvSpPr>
        <p:spPr bwMode="auto">
          <a:xfrm>
            <a:off x="4899025" y="4884738"/>
            <a:ext cx="0" cy="53975"/>
          </a:xfrm>
          <a:prstGeom prst="line">
            <a:avLst/>
          </a:prstGeom>
          <a:noFill/>
          <a:ln w="6350">
            <a:solidFill>
              <a:srgbClr val="000000"/>
            </a:solidFill>
            <a:round/>
            <a:headEnd/>
            <a:tailEnd/>
          </a:ln>
        </p:spPr>
        <p:txBody>
          <a:bodyPr/>
          <a:lstStyle/>
          <a:p>
            <a:endParaRPr lang="zh-CN" altLang="en-US"/>
          </a:p>
        </p:txBody>
      </p:sp>
      <p:sp>
        <p:nvSpPr>
          <p:cNvPr id="15404" name="Line 95"/>
          <p:cNvSpPr>
            <a:spLocks noChangeShapeType="1"/>
          </p:cNvSpPr>
          <p:nvPr/>
        </p:nvSpPr>
        <p:spPr bwMode="auto">
          <a:xfrm>
            <a:off x="5403850" y="4884738"/>
            <a:ext cx="0" cy="53975"/>
          </a:xfrm>
          <a:prstGeom prst="line">
            <a:avLst/>
          </a:prstGeom>
          <a:noFill/>
          <a:ln w="6350">
            <a:solidFill>
              <a:srgbClr val="000000"/>
            </a:solidFill>
            <a:round/>
            <a:headEnd/>
            <a:tailEnd/>
          </a:ln>
        </p:spPr>
        <p:txBody>
          <a:bodyPr/>
          <a:lstStyle/>
          <a:p>
            <a:endParaRPr lang="zh-CN" altLang="en-US"/>
          </a:p>
        </p:txBody>
      </p:sp>
      <p:sp>
        <p:nvSpPr>
          <p:cNvPr id="15405" name="Line 96"/>
          <p:cNvSpPr>
            <a:spLocks noChangeShapeType="1"/>
          </p:cNvSpPr>
          <p:nvPr/>
        </p:nvSpPr>
        <p:spPr bwMode="auto">
          <a:xfrm>
            <a:off x="5675313" y="4884738"/>
            <a:ext cx="0" cy="53975"/>
          </a:xfrm>
          <a:prstGeom prst="line">
            <a:avLst/>
          </a:prstGeom>
          <a:noFill/>
          <a:ln w="6350">
            <a:solidFill>
              <a:srgbClr val="000000"/>
            </a:solidFill>
            <a:round/>
            <a:headEnd/>
            <a:tailEnd/>
          </a:ln>
        </p:spPr>
        <p:txBody>
          <a:bodyPr/>
          <a:lstStyle/>
          <a:p>
            <a:endParaRPr lang="zh-CN" altLang="en-US"/>
          </a:p>
        </p:txBody>
      </p:sp>
      <p:sp>
        <p:nvSpPr>
          <p:cNvPr id="15406" name="Line 97"/>
          <p:cNvSpPr>
            <a:spLocks noChangeShapeType="1"/>
          </p:cNvSpPr>
          <p:nvPr/>
        </p:nvSpPr>
        <p:spPr bwMode="auto">
          <a:xfrm>
            <a:off x="5141913" y="3763963"/>
            <a:ext cx="0" cy="1219200"/>
          </a:xfrm>
          <a:prstGeom prst="line">
            <a:avLst/>
          </a:prstGeom>
          <a:noFill/>
          <a:ln w="6350">
            <a:solidFill>
              <a:srgbClr val="000000"/>
            </a:solidFill>
            <a:round/>
            <a:headEnd/>
            <a:tailEnd/>
          </a:ln>
        </p:spPr>
        <p:txBody>
          <a:bodyPr/>
          <a:lstStyle/>
          <a:p>
            <a:endParaRPr lang="zh-CN" altLang="en-US"/>
          </a:p>
        </p:txBody>
      </p:sp>
      <p:sp>
        <p:nvSpPr>
          <p:cNvPr id="15407" name="Freeform 98"/>
          <p:cNvSpPr>
            <a:spLocks/>
          </p:cNvSpPr>
          <p:nvPr/>
        </p:nvSpPr>
        <p:spPr bwMode="auto">
          <a:xfrm>
            <a:off x="2312988" y="4062413"/>
            <a:ext cx="1943100" cy="896937"/>
          </a:xfrm>
          <a:custGeom>
            <a:avLst/>
            <a:gdLst>
              <a:gd name="T0" fmla="*/ 0 w 2150"/>
              <a:gd name="T1" fmla="*/ 2147483647 h 993"/>
              <a:gd name="T2" fmla="*/ 2147483647 w 2150"/>
              <a:gd name="T3" fmla="*/ 0 h 993"/>
              <a:gd name="T4" fmla="*/ 2147483647 w 2150"/>
              <a:gd name="T5" fmla="*/ 2147483647 h 993"/>
              <a:gd name="T6" fmla="*/ 2147483647 w 2150"/>
              <a:gd name="T7" fmla="*/ 2147483647 h 993"/>
              <a:gd name="T8" fmla="*/ 2147483647 w 2150"/>
              <a:gd name="T9" fmla="*/ 2147483647 h 993"/>
              <a:gd name="T10" fmla="*/ 2147483647 w 2150"/>
              <a:gd name="T11" fmla="*/ 2147483647 h 993"/>
              <a:gd name="T12" fmla="*/ 2147483647 w 2150"/>
              <a:gd name="T13" fmla="*/ 2147483647 h 993"/>
              <a:gd name="T14" fmla="*/ 2147483647 w 2150"/>
              <a:gd name="T15" fmla="*/ 2147483647 h 993"/>
              <a:gd name="T16" fmla="*/ 0 60000 65536"/>
              <a:gd name="T17" fmla="*/ 0 60000 65536"/>
              <a:gd name="T18" fmla="*/ 0 60000 65536"/>
              <a:gd name="T19" fmla="*/ 0 60000 65536"/>
              <a:gd name="T20" fmla="*/ 0 60000 65536"/>
              <a:gd name="T21" fmla="*/ 0 60000 65536"/>
              <a:gd name="T22" fmla="*/ 0 60000 65536"/>
              <a:gd name="T23" fmla="*/ 0 60000 65536"/>
              <a:gd name="T24" fmla="*/ 0 w 2150"/>
              <a:gd name="T25" fmla="*/ 0 h 993"/>
              <a:gd name="T26" fmla="*/ 2150 w 2150"/>
              <a:gd name="T27" fmla="*/ 993 h 9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50" h="993">
                <a:moveTo>
                  <a:pt x="0" y="550"/>
                </a:moveTo>
                <a:cubicBezTo>
                  <a:pt x="113" y="275"/>
                  <a:pt x="227" y="0"/>
                  <a:pt x="330" y="0"/>
                </a:cubicBezTo>
                <a:cubicBezTo>
                  <a:pt x="433" y="0"/>
                  <a:pt x="503" y="385"/>
                  <a:pt x="620" y="550"/>
                </a:cubicBezTo>
                <a:cubicBezTo>
                  <a:pt x="737" y="715"/>
                  <a:pt x="905" y="993"/>
                  <a:pt x="1030" y="990"/>
                </a:cubicBezTo>
                <a:cubicBezTo>
                  <a:pt x="1155" y="987"/>
                  <a:pt x="1262" y="683"/>
                  <a:pt x="1370" y="530"/>
                </a:cubicBezTo>
                <a:cubicBezTo>
                  <a:pt x="1478" y="377"/>
                  <a:pt x="1567" y="65"/>
                  <a:pt x="1680" y="70"/>
                </a:cubicBezTo>
                <a:cubicBezTo>
                  <a:pt x="1793" y="75"/>
                  <a:pt x="1972" y="445"/>
                  <a:pt x="2050" y="560"/>
                </a:cubicBezTo>
                <a:cubicBezTo>
                  <a:pt x="2128" y="675"/>
                  <a:pt x="2133" y="728"/>
                  <a:pt x="2150" y="760"/>
                </a:cubicBezTo>
              </a:path>
            </a:pathLst>
          </a:custGeom>
          <a:noFill/>
          <a:ln w="28575">
            <a:solidFill>
              <a:srgbClr val="FF0000"/>
            </a:solidFill>
            <a:round/>
            <a:headEnd/>
            <a:tailEnd/>
          </a:ln>
        </p:spPr>
        <p:txBody>
          <a:bodyPr/>
          <a:lstStyle/>
          <a:p>
            <a:endParaRPr lang="zh-CN" altLang="en-US"/>
          </a:p>
        </p:txBody>
      </p:sp>
      <p:sp>
        <p:nvSpPr>
          <p:cNvPr id="15408" name="Line 99"/>
          <p:cNvSpPr>
            <a:spLocks noChangeShapeType="1"/>
          </p:cNvSpPr>
          <p:nvPr/>
        </p:nvSpPr>
        <p:spPr bwMode="auto">
          <a:xfrm>
            <a:off x="1382713" y="3636963"/>
            <a:ext cx="0" cy="1808162"/>
          </a:xfrm>
          <a:prstGeom prst="line">
            <a:avLst/>
          </a:prstGeom>
          <a:noFill/>
          <a:ln w="9525">
            <a:solidFill>
              <a:srgbClr val="000000"/>
            </a:solidFill>
            <a:round/>
            <a:headEnd/>
            <a:tailEnd/>
          </a:ln>
        </p:spPr>
        <p:txBody>
          <a:bodyPr/>
          <a:lstStyle/>
          <a:p>
            <a:endParaRPr lang="zh-CN" altLang="en-US"/>
          </a:p>
        </p:txBody>
      </p:sp>
      <p:sp>
        <p:nvSpPr>
          <p:cNvPr id="15409" name="Text Box 100"/>
          <p:cNvSpPr txBox="1">
            <a:spLocks noChangeArrowheads="1"/>
          </p:cNvSpPr>
          <p:nvPr/>
        </p:nvSpPr>
        <p:spPr bwMode="auto">
          <a:xfrm>
            <a:off x="1222375" y="5426075"/>
            <a:ext cx="614363" cy="361950"/>
          </a:xfrm>
          <a:prstGeom prst="rect">
            <a:avLst/>
          </a:prstGeom>
          <a:noFill/>
          <a:ln w="9525">
            <a:noFill/>
            <a:miter lim="800000"/>
            <a:headEnd/>
            <a:tailEnd/>
          </a:ln>
        </p:spPr>
        <p:txBody>
          <a:bodyPr/>
          <a:lstStyle/>
          <a:p>
            <a:pPr algn="just"/>
            <a:r>
              <a:rPr lang="en-US" altLang="zh-CN" sz="1600" b="1">
                <a:latin typeface="Times New Roman" pitchFamily="18" charset="0"/>
              </a:rPr>
              <a:t>a</a:t>
            </a:r>
            <a:r>
              <a:rPr lang="zh-CN" altLang="en-US" sz="1600" b="1">
                <a:latin typeface="Times New Roman" pitchFamily="18" charset="0"/>
              </a:rPr>
              <a:t>）</a:t>
            </a:r>
            <a:endParaRPr lang="zh-CN" altLang="en-US" sz="1600" b="1"/>
          </a:p>
        </p:txBody>
      </p:sp>
      <p:sp>
        <p:nvSpPr>
          <p:cNvPr id="15410" name="Text Box 101"/>
          <p:cNvSpPr txBox="1">
            <a:spLocks noChangeArrowheads="1"/>
          </p:cNvSpPr>
          <p:nvPr/>
        </p:nvSpPr>
        <p:spPr bwMode="auto">
          <a:xfrm>
            <a:off x="3030538" y="5445125"/>
            <a:ext cx="614362" cy="360363"/>
          </a:xfrm>
          <a:prstGeom prst="rect">
            <a:avLst/>
          </a:prstGeom>
          <a:noFill/>
          <a:ln w="9525">
            <a:noFill/>
            <a:miter lim="800000"/>
            <a:headEnd/>
            <a:tailEnd/>
          </a:ln>
        </p:spPr>
        <p:txBody>
          <a:bodyPr/>
          <a:lstStyle/>
          <a:p>
            <a:pPr algn="ctr"/>
            <a:r>
              <a:rPr lang="en-US" altLang="zh-CN" sz="1600" b="1">
                <a:latin typeface="Times New Roman" pitchFamily="18" charset="0"/>
              </a:rPr>
              <a:t>b</a:t>
            </a:r>
            <a:r>
              <a:rPr lang="zh-CN" altLang="en-US" sz="1600" b="1">
                <a:latin typeface="Times New Roman" pitchFamily="18" charset="0"/>
              </a:rPr>
              <a:t>）</a:t>
            </a:r>
            <a:endParaRPr lang="zh-CN" altLang="en-US" sz="1600" b="1"/>
          </a:p>
        </p:txBody>
      </p:sp>
      <p:sp>
        <p:nvSpPr>
          <p:cNvPr id="15411" name="Text Box 102"/>
          <p:cNvSpPr txBox="1">
            <a:spLocks noChangeArrowheads="1"/>
          </p:cNvSpPr>
          <p:nvPr/>
        </p:nvSpPr>
        <p:spPr bwMode="auto">
          <a:xfrm>
            <a:off x="4883150" y="5426075"/>
            <a:ext cx="614363" cy="361950"/>
          </a:xfrm>
          <a:prstGeom prst="rect">
            <a:avLst/>
          </a:prstGeom>
          <a:noFill/>
          <a:ln w="9525">
            <a:noFill/>
            <a:miter lim="800000"/>
            <a:headEnd/>
            <a:tailEnd/>
          </a:ln>
        </p:spPr>
        <p:txBody>
          <a:bodyPr/>
          <a:lstStyle/>
          <a:p>
            <a:pPr algn="ctr"/>
            <a:r>
              <a:rPr lang="en-US" altLang="zh-CN" sz="1600" b="1">
                <a:latin typeface="Times New Roman" pitchFamily="18" charset="0"/>
              </a:rPr>
              <a:t>c</a:t>
            </a:r>
            <a:r>
              <a:rPr lang="zh-CN" altLang="en-US" sz="1600" b="1">
                <a:latin typeface="Times New Roman" pitchFamily="18" charset="0"/>
              </a:rPr>
              <a:t>）</a:t>
            </a:r>
            <a:endParaRPr lang="zh-CN" altLang="en-US" sz="1600" b="1"/>
          </a:p>
        </p:txBody>
      </p:sp>
      <p:sp>
        <p:nvSpPr>
          <p:cNvPr id="15412" name="Text Box 103"/>
          <p:cNvSpPr txBox="1">
            <a:spLocks noChangeArrowheads="1"/>
          </p:cNvSpPr>
          <p:nvPr/>
        </p:nvSpPr>
        <p:spPr bwMode="auto">
          <a:xfrm>
            <a:off x="1463675" y="5891213"/>
            <a:ext cx="3324225" cy="469900"/>
          </a:xfrm>
          <a:prstGeom prst="rect">
            <a:avLst/>
          </a:prstGeom>
          <a:noFill/>
          <a:ln w="9525">
            <a:noFill/>
            <a:miter lim="800000"/>
            <a:headEnd/>
            <a:tailEnd/>
          </a:ln>
        </p:spPr>
        <p:txBody>
          <a:bodyPr/>
          <a:lstStyle/>
          <a:p>
            <a:pPr algn="ctr"/>
            <a:r>
              <a:rPr lang="zh-CN" altLang="en-US" sz="2000" b="1">
                <a:latin typeface="黑体" pitchFamily="2" charset="-122"/>
                <a:ea typeface="黑体" pitchFamily="2" charset="-122"/>
              </a:rPr>
              <a:t>用扇形光栅确定像面</a:t>
            </a:r>
            <a:endParaRPr lang="zh-CN" altLang="en-US" sz="2000" b="1"/>
          </a:p>
        </p:txBody>
      </p:sp>
      <p:sp>
        <p:nvSpPr>
          <p:cNvPr id="15413" name="Oval 104"/>
          <p:cNvSpPr>
            <a:spLocks noChangeArrowheads="1"/>
          </p:cNvSpPr>
          <p:nvPr/>
        </p:nvSpPr>
        <p:spPr bwMode="auto">
          <a:xfrm>
            <a:off x="1181100" y="4070350"/>
            <a:ext cx="388938" cy="398463"/>
          </a:xfrm>
          <a:prstGeom prst="ellipse">
            <a:avLst/>
          </a:prstGeom>
          <a:noFill/>
          <a:ln w="12700">
            <a:solidFill>
              <a:srgbClr val="000000"/>
            </a:solidFill>
            <a:prstDash val="dash"/>
            <a:round/>
            <a:headEnd/>
            <a:tailEnd/>
          </a:ln>
        </p:spPr>
        <p:txBody>
          <a:bodyPr/>
          <a:lstStyle/>
          <a:p>
            <a:endParaRPr lang="zh-CN" altLang="en-US"/>
          </a:p>
        </p:txBody>
      </p:sp>
      <p:sp>
        <p:nvSpPr>
          <p:cNvPr id="15414" name="Oval 105"/>
          <p:cNvSpPr>
            <a:spLocks noChangeArrowheads="1"/>
          </p:cNvSpPr>
          <p:nvPr/>
        </p:nvSpPr>
        <p:spPr bwMode="auto">
          <a:xfrm>
            <a:off x="1247775" y="4143375"/>
            <a:ext cx="261938" cy="261938"/>
          </a:xfrm>
          <a:prstGeom prst="ellipse">
            <a:avLst/>
          </a:prstGeom>
          <a:noFill/>
          <a:ln w="12700">
            <a:solidFill>
              <a:srgbClr val="000000"/>
            </a:solidFill>
            <a:prstDash val="dash"/>
            <a:round/>
            <a:headEnd/>
            <a:tailEnd/>
          </a:ln>
        </p:spPr>
        <p:txBody>
          <a:bodyPr/>
          <a:lstStyle/>
          <a:p>
            <a:endParaRPr lang="zh-CN" altLang="en-US"/>
          </a:p>
        </p:txBody>
      </p:sp>
      <p:sp>
        <p:nvSpPr>
          <p:cNvPr id="15415" name="Arc 106"/>
          <p:cNvSpPr>
            <a:spLocks/>
          </p:cNvSpPr>
          <p:nvPr/>
        </p:nvSpPr>
        <p:spPr bwMode="auto">
          <a:xfrm>
            <a:off x="1382713" y="4264025"/>
            <a:ext cx="730250" cy="450850"/>
          </a:xfrm>
          <a:custGeom>
            <a:avLst/>
            <a:gdLst>
              <a:gd name="T0" fmla="*/ 0 w 19775"/>
              <a:gd name="T1" fmla="*/ 0 h 21600"/>
              <a:gd name="T2" fmla="*/ 2147483647 w 19775"/>
              <a:gd name="T3" fmla="*/ 2147483647 h 21600"/>
              <a:gd name="T4" fmla="*/ 0 w 19775"/>
              <a:gd name="T5" fmla="*/ 2147483647 h 21600"/>
              <a:gd name="T6" fmla="*/ 0 60000 65536"/>
              <a:gd name="T7" fmla="*/ 0 60000 65536"/>
              <a:gd name="T8" fmla="*/ 0 60000 65536"/>
              <a:gd name="T9" fmla="*/ 0 w 19775"/>
              <a:gd name="T10" fmla="*/ 0 h 21600"/>
              <a:gd name="T11" fmla="*/ 19775 w 19775"/>
              <a:gd name="T12" fmla="*/ 21600 h 21600"/>
            </a:gdLst>
            <a:ahLst/>
            <a:cxnLst>
              <a:cxn ang="T6">
                <a:pos x="T0" y="T1"/>
              </a:cxn>
              <a:cxn ang="T7">
                <a:pos x="T2" y="T3"/>
              </a:cxn>
              <a:cxn ang="T8">
                <a:pos x="T4" y="T5"/>
              </a:cxn>
            </a:cxnLst>
            <a:rect l="T9" t="T10" r="T11" b="T12"/>
            <a:pathLst>
              <a:path w="19775" h="21600" fill="none" extrusionOk="0">
                <a:moveTo>
                  <a:pt x="-1" y="0"/>
                </a:moveTo>
                <a:cubicBezTo>
                  <a:pt x="8568" y="0"/>
                  <a:pt x="16327" y="5065"/>
                  <a:pt x="19774" y="12910"/>
                </a:cubicBezTo>
              </a:path>
              <a:path w="19775" h="21600" stroke="0" extrusionOk="0">
                <a:moveTo>
                  <a:pt x="-1" y="0"/>
                </a:moveTo>
                <a:cubicBezTo>
                  <a:pt x="8568" y="0"/>
                  <a:pt x="16327" y="5065"/>
                  <a:pt x="19774" y="12910"/>
                </a:cubicBezTo>
                <a:lnTo>
                  <a:pt x="0" y="21600"/>
                </a:lnTo>
                <a:close/>
              </a:path>
            </a:pathLst>
          </a:custGeom>
          <a:noFill/>
          <a:ln w="6350">
            <a:solidFill>
              <a:srgbClr val="000000"/>
            </a:solidFill>
            <a:round/>
            <a:headEnd/>
            <a:tailEnd/>
          </a:ln>
        </p:spPr>
        <p:txBody>
          <a:bodyPr/>
          <a:lstStyle/>
          <a:p>
            <a:endParaRPr lang="zh-CN" altLang="en-US"/>
          </a:p>
        </p:txBody>
      </p:sp>
      <p:sp>
        <p:nvSpPr>
          <p:cNvPr id="15416" name="Line 107"/>
          <p:cNvSpPr>
            <a:spLocks noChangeShapeType="1"/>
          </p:cNvSpPr>
          <p:nvPr/>
        </p:nvSpPr>
        <p:spPr bwMode="auto">
          <a:xfrm flipH="1">
            <a:off x="577850" y="4216400"/>
            <a:ext cx="804863" cy="0"/>
          </a:xfrm>
          <a:prstGeom prst="line">
            <a:avLst/>
          </a:prstGeom>
          <a:noFill/>
          <a:ln w="9525">
            <a:solidFill>
              <a:srgbClr val="000000"/>
            </a:solidFill>
            <a:round/>
            <a:headEnd/>
            <a:tailEnd/>
          </a:ln>
        </p:spPr>
        <p:txBody>
          <a:bodyPr/>
          <a:lstStyle/>
          <a:p>
            <a:endParaRPr lang="zh-CN" altLang="en-US"/>
          </a:p>
        </p:txBody>
      </p:sp>
      <p:sp>
        <p:nvSpPr>
          <p:cNvPr id="15417" name="Line 108"/>
          <p:cNvSpPr>
            <a:spLocks noChangeShapeType="1"/>
          </p:cNvSpPr>
          <p:nvPr/>
        </p:nvSpPr>
        <p:spPr bwMode="auto">
          <a:xfrm flipH="1">
            <a:off x="569913" y="4333875"/>
            <a:ext cx="812800" cy="0"/>
          </a:xfrm>
          <a:prstGeom prst="line">
            <a:avLst/>
          </a:prstGeom>
          <a:noFill/>
          <a:ln w="9525">
            <a:solidFill>
              <a:srgbClr val="000000"/>
            </a:solidFill>
            <a:round/>
            <a:headEnd/>
            <a:tailEnd/>
          </a:ln>
        </p:spPr>
        <p:txBody>
          <a:bodyPr/>
          <a:lstStyle/>
          <a:p>
            <a:endParaRPr lang="zh-CN" altLang="en-US"/>
          </a:p>
        </p:txBody>
      </p:sp>
      <p:sp>
        <p:nvSpPr>
          <p:cNvPr id="15418" name="Line 109"/>
          <p:cNvSpPr>
            <a:spLocks noChangeShapeType="1"/>
          </p:cNvSpPr>
          <p:nvPr/>
        </p:nvSpPr>
        <p:spPr bwMode="auto">
          <a:xfrm>
            <a:off x="668338" y="4216400"/>
            <a:ext cx="0" cy="111125"/>
          </a:xfrm>
          <a:prstGeom prst="line">
            <a:avLst/>
          </a:prstGeom>
          <a:noFill/>
          <a:ln w="6350">
            <a:solidFill>
              <a:srgbClr val="000000"/>
            </a:solidFill>
            <a:round/>
            <a:headEnd/>
            <a:tailEnd/>
          </a:ln>
        </p:spPr>
        <p:txBody>
          <a:bodyPr/>
          <a:lstStyle/>
          <a:p>
            <a:endParaRPr lang="zh-CN" altLang="en-US"/>
          </a:p>
        </p:txBody>
      </p:sp>
      <p:sp>
        <p:nvSpPr>
          <p:cNvPr id="15419" name="Line 110"/>
          <p:cNvSpPr>
            <a:spLocks noChangeShapeType="1"/>
          </p:cNvSpPr>
          <p:nvPr/>
        </p:nvSpPr>
        <p:spPr bwMode="auto">
          <a:xfrm>
            <a:off x="668338" y="4021138"/>
            <a:ext cx="0" cy="192087"/>
          </a:xfrm>
          <a:prstGeom prst="line">
            <a:avLst/>
          </a:prstGeom>
          <a:noFill/>
          <a:ln w="6350">
            <a:solidFill>
              <a:srgbClr val="000000"/>
            </a:solidFill>
            <a:round/>
            <a:headEnd/>
            <a:tailEnd type="stealth" w="sm" len="sm"/>
          </a:ln>
        </p:spPr>
        <p:txBody>
          <a:bodyPr/>
          <a:lstStyle/>
          <a:p>
            <a:endParaRPr lang="zh-CN" altLang="en-US"/>
          </a:p>
        </p:txBody>
      </p:sp>
      <p:sp>
        <p:nvSpPr>
          <p:cNvPr id="15420" name="Line 111"/>
          <p:cNvSpPr>
            <a:spLocks noChangeShapeType="1"/>
          </p:cNvSpPr>
          <p:nvPr/>
        </p:nvSpPr>
        <p:spPr bwMode="auto">
          <a:xfrm flipV="1">
            <a:off x="668338" y="4333875"/>
            <a:ext cx="0" cy="190500"/>
          </a:xfrm>
          <a:prstGeom prst="line">
            <a:avLst/>
          </a:prstGeom>
          <a:noFill/>
          <a:ln w="6350">
            <a:solidFill>
              <a:srgbClr val="000000"/>
            </a:solidFill>
            <a:round/>
            <a:headEnd/>
            <a:tailEnd type="stealth" w="sm" len="sm"/>
          </a:ln>
        </p:spPr>
        <p:txBody>
          <a:bodyPr/>
          <a:lstStyle/>
          <a:p>
            <a:endParaRPr lang="zh-CN" altLang="en-US"/>
          </a:p>
        </p:txBody>
      </p:sp>
      <p:sp>
        <p:nvSpPr>
          <p:cNvPr id="15421" name="Arc 112"/>
          <p:cNvSpPr>
            <a:spLocks/>
          </p:cNvSpPr>
          <p:nvPr/>
        </p:nvSpPr>
        <p:spPr bwMode="auto">
          <a:xfrm rot="-2078596">
            <a:off x="1041400" y="3702050"/>
            <a:ext cx="244475" cy="128588"/>
          </a:xfrm>
          <a:custGeom>
            <a:avLst/>
            <a:gdLst>
              <a:gd name="T0" fmla="*/ 0 w 18754"/>
              <a:gd name="T1" fmla="*/ 0 h 21600"/>
              <a:gd name="T2" fmla="*/ 541571578 w 18754"/>
              <a:gd name="T3" fmla="*/ 13670191 h 21600"/>
              <a:gd name="T4" fmla="*/ 0 w 18754"/>
              <a:gd name="T5" fmla="*/ 27129403 h 21600"/>
              <a:gd name="T6" fmla="*/ 0 60000 65536"/>
              <a:gd name="T7" fmla="*/ 0 60000 65536"/>
              <a:gd name="T8" fmla="*/ 0 60000 65536"/>
              <a:gd name="T9" fmla="*/ 0 w 18754"/>
              <a:gd name="T10" fmla="*/ 0 h 21600"/>
              <a:gd name="T11" fmla="*/ 18754 w 18754"/>
              <a:gd name="T12" fmla="*/ 21600 h 21600"/>
            </a:gdLst>
            <a:ahLst/>
            <a:cxnLst>
              <a:cxn ang="T6">
                <a:pos x="T0" y="T1"/>
              </a:cxn>
              <a:cxn ang="T7">
                <a:pos x="T2" y="T3"/>
              </a:cxn>
              <a:cxn ang="T8">
                <a:pos x="T4" y="T5"/>
              </a:cxn>
            </a:cxnLst>
            <a:rect l="T9" t="T10" r="T11" b="T12"/>
            <a:pathLst>
              <a:path w="18754" h="21600" fill="none" extrusionOk="0">
                <a:moveTo>
                  <a:pt x="-1" y="0"/>
                </a:moveTo>
                <a:cubicBezTo>
                  <a:pt x="7751" y="0"/>
                  <a:pt x="14908" y="4153"/>
                  <a:pt x="18754" y="10883"/>
                </a:cubicBezTo>
              </a:path>
              <a:path w="18754" h="21600" stroke="0" extrusionOk="0">
                <a:moveTo>
                  <a:pt x="-1" y="0"/>
                </a:moveTo>
                <a:cubicBezTo>
                  <a:pt x="7751" y="0"/>
                  <a:pt x="14908" y="4153"/>
                  <a:pt x="18754" y="10883"/>
                </a:cubicBezTo>
                <a:lnTo>
                  <a:pt x="0" y="21600"/>
                </a:lnTo>
                <a:close/>
              </a:path>
            </a:pathLst>
          </a:custGeom>
          <a:noFill/>
          <a:ln w="6350">
            <a:solidFill>
              <a:srgbClr val="000000"/>
            </a:solidFill>
            <a:round/>
            <a:headEnd/>
            <a:tailEnd type="stealth" w="sm" len="sm"/>
          </a:ln>
        </p:spPr>
        <p:txBody>
          <a:bodyPr/>
          <a:lstStyle/>
          <a:p>
            <a:endParaRPr lang="zh-CN" altLang="en-US"/>
          </a:p>
        </p:txBody>
      </p:sp>
      <p:sp>
        <p:nvSpPr>
          <p:cNvPr id="15422" name="Arc 113"/>
          <p:cNvSpPr>
            <a:spLocks/>
          </p:cNvSpPr>
          <p:nvPr/>
        </p:nvSpPr>
        <p:spPr bwMode="auto">
          <a:xfrm rot="-59354">
            <a:off x="1493838" y="3692525"/>
            <a:ext cx="242887" cy="128588"/>
          </a:xfrm>
          <a:custGeom>
            <a:avLst/>
            <a:gdLst>
              <a:gd name="T0" fmla="*/ 0 w 18754"/>
              <a:gd name="T1" fmla="*/ 0 h 21600"/>
              <a:gd name="T2" fmla="*/ 527636858 w 18754"/>
              <a:gd name="T3" fmla="*/ 13670191 h 21600"/>
              <a:gd name="T4" fmla="*/ 0 w 18754"/>
              <a:gd name="T5" fmla="*/ 27129403 h 21600"/>
              <a:gd name="T6" fmla="*/ 0 60000 65536"/>
              <a:gd name="T7" fmla="*/ 0 60000 65536"/>
              <a:gd name="T8" fmla="*/ 0 60000 65536"/>
              <a:gd name="T9" fmla="*/ 0 w 18754"/>
              <a:gd name="T10" fmla="*/ 0 h 21600"/>
              <a:gd name="T11" fmla="*/ 18754 w 18754"/>
              <a:gd name="T12" fmla="*/ 21600 h 21600"/>
            </a:gdLst>
            <a:ahLst/>
            <a:cxnLst>
              <a:cxn ang="T6">
                <a:pos x="T0" y="T1"/>
              </a:cxn>
              <a:cxn ang="T7">
                <a:pos x="T2" y="T3"/>
              </a:cxn>
              <a:cxn ang="T8">
                <a:pos x="T4" y="T5"/>
              </a:cxn>
            </a:cxnLst>
            <a:rect l="T9" t="T10" r="T11" b="T12"/>
            <a:pathLst>
              <a:path w="18754" h="21600" fill="none" extrusionOk="0">
                <a:moveTo>
                  <a:pt x="-1" y="0"/>
                </a:moveTo>
                <a:cubicBezTo>
                  <a:pt x="7751" y="0"/>
                  <a:pt x="14908" y="4153"/>
                  <a:pt x="18754" y="10883"/>
                </a:cubicBezTo>
              </a:path>
              <a:path w="18754" h="21600" stroke="0" extrusionOk="0">
                <a:moveTo>
                  <a:pt x="-1" y="0"/>
                </a:moveTo>
                <a:cubicBezTo>
                  <a:pt x="7751" y="0"/>
                  <a:pt x="14908" y="4153"/>
                  <a:pt x="18754" y="10883"/>
                </a:cubicBezTo>
                <a:lnTo>
                  <a:pt x="0" y="21600"/>
                </a:lnTo>
                <a:close/>
              </a:path>
            </a:pathLst>
          </a:custGeom>
          <a:noFill/>
          <a:ln w="6350">
            <a:solidFill>
              <a:srgbClr val="000000"/>
            </a:solidFill>
            <a:round/>
            <a:headEnd type="stealth" w="sm" len="sm"/>
            <a:tailEnd/>
          </a:ln>
        </p:spPr>
        <p:txBody>
          <a:bodyPr/>
          <a:lstStyle/>
          <a:p>
            <a:endParaRPr lang="zh-CN" altLang="en-US"/>
          </a:p>
        </p:txBody>
      </p:sp>
      <p:sp>
        <p:nvSpPr>
          <p:cNvPr id="15423" name="Text Box 114"/>
          <p:cNvSpPr txBox="1">
            <a:spLocks noChangeArrowheads="1"/>
          </p:cNvSpPr>
          <p:nvPr/>
        </p:nvSpPr>
        <p:spPr bwMode="auto">
          <a:xfrm>
            <a:off x="2341563" y="4781550"/>
            <a:ext cx="500062" cy="406400"/>
          </a:xfrm>
          <a:prstGeom prst="rect">
            <a:avLst/>
          </a:prstGeom>
          <a:noFill/>
          <a:ln w="9525">
            <a:noFill/>
            <a:miter lim="800000"/>
            <a:headEnd/>
            <a:tailEnd/>
          </a:ln>
        </p:spPr>
        <p:txBody>
          <a:bodyPr/>
          <a:lstStyle/>
          <a:p>
            <a:pPr algn="just"/>
            <a:r>
              <a:rPr lang="en-US" altLang="zh-CN" sz="1600" b="1">
                <a:latin typeface="Times New Roman" pitchFamily="18" charset="0"/>
              </a:rPr>
              <a:t>0</a:t>
            </a:r>
            <a:endParaRPr lang="en-US" altLang="zh-CN" sz="1600" b="1"/>
          </a:p>
        </p:txBody>
      </p:sp>
      <p:sp>
        <p:nvSpPr>
          <p:cNvPr id="15424" name="Text Box 115"/>
          <p:cNvSpPr txBox="1">
            <a:spLocks noChangeArrowheads="1"/>
          </p:cNvSpPr>
          <p:nvPr/>
        </p:nvSpPr>
        <p:spPr bwMode="auto">
          <a:xfrm>
            <a:off x="4146550" y="4105275"/>
            <a:ext cx="558800" cy="406400"/>
          </a:xfrm>
          <a:prstGeom prst="rect">
            <a:avLst/>
          </a:prstGeom>
          <a:noFill/>
          <a:ln w="9525">
            <a:noFill/>
            <a:miter lim="800000"/>
            <a:headEnd/>
            <a:tailEnd/>
          </a:ln>
        </p:spPr>
        <p:txBody>
          <a:bodyPr/>
          <a:lstStyle/>
          <a:p>
            <a:pPr algn="just"/>
            <a:r>
              <a:rPr lang="en-US" altLang="zh-CN" sz="1600" b="1" i="1">
                <a:latin typeface="Times New Roman" pitchFamily="18" charset="0"/>
              </a:rPr>
              <a:t>a</a:t>
            </a:r>
            <a:r>
              <a:rPr lang="en-US" altLang="zh-CN" sz="1600" b="1" baseline="-25000">
                <a:latin typeface="Times New Roman" pitchFamily="18" charset="0"/>
              </a:rPr>
              <a:t>max</a:t>
            </a:r>
            <a:endParaRPr lang="en-US" altLang="zh-CN" sz="1600" b="1"/>
          </a:p>
        </p:txBody>
      </p:sp>
      <p:sp>
        <p:nvSpPr>
          <p:cNvPr id="15425" name="Text Box 116"/>
          <p:cNvSpPr txBox="1">
            <a:spLocks noChangeArrowheads="1"/>
          </p:cNvSpPr>
          <p:nvPr/>
        </p:nvSpPr>
        <p:spPr bwMode="auto">
          <a:xfrm>
            <a:off x="3429000" y="4538663"/>
            <a:ext cx="501650" cy="406400"/>
          </a:xfrm>
          <a:prstGeom prst="rect">
            <a:avLst/>
          </a:prstGeom>
          <a:noFill/>
          <a:ln w="9525">
            <a:noFill/>
            <a:miter lim="800000"/>
            <a:headEnd/>
            <a:tailEnd/>
          </a:ln>
        </p:spPr>
        <p:txBody>
          <a:bodyPr/>
          <a:lstStyle/>
          <a:p>
            <a:pPr algn="just"/>
            <a:r>
              <a:rPr lang="en-US" altLang="zh-CN" sz="1600" b="1" i="1">
                <a:latin typeface="Times New Roman" pitchFamily="18" charset="0"/>
              </a:rPr>
              <a:t>a</a:t>
            </a:r>
            <a:r>
              <a:rPr lang="en-US" altLang="zh-CN" sz="1600" b="1" baseline="-25000">
                <a:latin typeface="Times New Roman" pitchFamily="18" charset="0"/>
              </a:rPr>
              <a:t>0</a:t>
            </a:r>
            <a:endParaRPr lang="en-US" altLang="zh-CN" sz="1600" b="1"/>
          </a:p>
        </p:txBody>
      </p:sp>
      <p:sp>
        <p:nvSpPr>
          <p:cNvPr id="15426" name="Text Box 117"/>
          <p:cNvSpPr txBox="1">
            <a:spLocks noChangeArrowheads="1"/>
          </p:cNvSpPr>
          <p:nvPr/>
        </p:nvSpPr>
        <p:spPr bwMode="auto">
          <a:xfrm>
            <a:off x="4429125" y="4876800"/>
            <a:ext cx="1441450" cy="406400"/>
          </a:xfrm>
          <a:prstGeom prst="rect">
            <a:avLst/>
          </a:prstGeom>
          <a:noFill/>
          <a:ln w="9525">
            <a:noFill/>
            <a:miter lim="800000"/>
            <a:headEnd/>
            <a:tailEnd/>
          </a:ln>
        </p:spPr>
        <p:txBody>
          <a:bodyPr/>
          <a:lstStyle/>
          <a:p>
            <a:pPr algn="just"/>
            <a:r>
              <a:rPr lang="en-US" altLang="zh-CN" sz="1600" b="1">
                <a:latin typeface="Times New Roman" pitchFamily="18" charset="0"/>
              </a:rPr>
              <a:t>-0.2            0                0.2</a:t>
            </a:r>
            <a:endParaRPr lang="en-US" altLang="zh-CN" sz="1600" b="1"/>
          </a:p>
        </p:txBody>
      </p:sp>
      <p:sp>
        <p:nvSpPr>
          <p:cNvPr id="15427" name="Text Box 118"/>
          <p:cNvSpPr txBox="1">
            <a:spLocks noChangeArrowheads="1"/>
          </p:cNvSpPr>
          <p:nvPr/>
        </p:nvSpPr>
        <p:spPr bwMode="auto">
          <a:xfrm>
            <a:off x="2286000" y="3725863"/>
            <a:ext cx="501650" cy="406400"/>
          </a:xfrm>
          <a:prstGeom prst="rect">
            <a:avLst/>
          </a:prstGeom>
          <a:noFill/>
          <a:ln w="9525">
            <a:noFill/>
            <a:miter lim="800000"/>
            <a:headEnd/>
            <a:tailEnd/>
          </a:ln>
        </p:spPr>
        <p:txBody>
          <a:bodyPr/>
          <a:lstStyle/>
          <a:p>
            <a:pPr algn="just"/>
            <a:r>
              <a:rPr lang="en-US" altLang="zh-CN" sz="1600" b="1" i="1">
                <a:latin typeface="Times New Roman" pitchFamily="18" charset="0"/>
              </a:rPr>
              <a:t>a</a:t>
            </a:r>
            <a:endParaRPr lang="en-US" altLang="zh-CN" sz="1600" b="1"/>
          </a:p>
        </p:txBody>
      </p:sp>
      <p:sp>
        <p:nvSpPr>
          <p:cNvPr id="15428" name="Text Box 119"/>
          <p:cNvSpPr txBox="1">
            <a:spLocks noChangeArrowheads="1"/>
          </p:cNvSpPr>
          <p:nvPr/>
        </p:nvSpPr>
        <p:spPr bwMode="auto">
          <a:xfrm>
            <a:off x="3949700" y="4870450"/>
            <a:ext cx="501650" cy="406400"/>
          </a:xfrm>
          <a:prstGeom prst="rect">
            <a:avLst/>
          </a:prstGeom>
          <a:noFill/>
          <a:ln w="9525">
            <a:noFill/>
            <a:miter lim="800000"/>
            <a:headEnd/>
            <a:tailEnd/>
          </a:ln>
        </p:spPr>
        <p:txBody>
          <a:bodyPr/>
          <a:lstStyle/>
          <a:p>
            <a:pPr algn="just"/>
            <a:r>
              <a:rPr lang="en-US" altLang="zh-CN" sz="1600" b="1" i="1">
                <a:latin typeface="Times New Roman" pitchFamily="18" charset="0"/>
              </a:rPr>
              <a:t>f</a:t>
            </a:r>
            <a:endParaRPr lang="en-US" altLang="zh-CN" sz="1600" b="1"/>
          </a:p>
        </p:txBody>
      </p:sp>
      <p:sp>
        <p:nvSpPr>
          <p:cNvPr id="15429" name="Text Box 120"/>
          <p:cNvSpPr txBox="1">
            <a:spLocks noChangeArrowheads="1"/>
          </p:cNvSpPr>
          <p:nvPr/>
        </p:nvSpPr>
        <p:spPr bwMode="auto">
          <a:xfrm>
            <a:off x="1509713" y="3365500"/>
            <a:ext cx="501650" cy="406400"/>
          </a:xfrm>
          <a:prstGeom prst="rect">
            <a:avLst/>
          </a:prstGeom>
          <a:noFill/>
          <a:ln w="9525">
            <a:noFill/>
            <a:miter lim="800000"/>
            <a:headEnd/>
            <a:tailEnd/>
          </a:ln>
        </p:spPr>
        <p:txBody>
          <a:bodyPr/>
          <a:lstStyle/>
          <a:p>
            <a:pPr algn="just"/>
            <a:r>
              <a:rPr lang="en-US" altLang="zh-CN" sz="1600" b="1" i="1">
                <a:latin typeface="宋体" pitchFamily="2" charset="-122"/>
              </a:rPr>
              <a:t>φ</a:t>
            </a:r>
            <a:endParaRPr lang="en-US" altLang="zh-CN" sz="1600" b="1"/>
          </a:p>
        </p:txBody>
      </p:sp>
      <p:sp>
        <p:nvSpPr>
          <p:cNvPr id="15430" name="Text Box 121"/>
          <p:cNvSpPr txBox="1">
            <a:spLocks noChangeArrowheads="1"/>
          </p:cNvSpPr>
          <p:nvPr/>
        </p:nvSpPr>
        <p:spPr bwMode="auto">
          <a:xfrm>
            <a:off x="5087938" y="4259263"/>
            <a:ext cx="420687" cy="393700"/>
          </a:xfrm>
          <a:prstGeom prst="rect">
            <a:avLst/>
          </a:prstGeom>
          <a:noFill/>
          <a:ln w="9525">
            <a:noFill/>
            <a:miter lim="800000"/>
            <a:headEnd/>
            <a:tailEnd/>
          </a:ln>
        </p:spPr>
        <p:txBody>
          <a:bodyPr/>
          <a:lstStyle/>
          <a:p>
            <a:pPr algn="just"/>
            <a:r>
              <a:rPr lang="en-US" altLang="zh-CN" sz="1600" b="1">
                <a:latin typeface="Times New Roman" pitchFamily="18" charset="0"/>
              </a:rPr>
              <a:t>50</a:t>
            </a:r>
            <a:endParaRPr lang="en-US" altLang="zh-CN" sz="1600" b="1"/>
          </a:p>
        </p:txBody>
      </p:sp>
      <p:sp>
        <p:nvSpPr>
          <p:cNvPr id="15431" name="Text Box 122"/>
          <p:cNvSpPr txBox="1">
            <a:spLocks noChangeArrowheads="1"/>
          </p:cNvSpPr>
          <p:nvPr/>
        </p:nvSpPr>
        <p:spPr bwMode="auto">
          <a:xfrm>
            <a:off x="4546600" y="3556000"/>
            <a:ext cx="984250" cy="406400"/>
          </a:xfrm>
          <a:prstGeom prst="rect">
            <a:avLst/>
          </a:prstGeom>
          <a:noFill/>
          <a:ln w="9525">
            <a:noFill/>
            <a:miter lim="800000"/>
            <a:headEnd/>
            <a:tailEnd/>
          </a:ln>
        </p:spPr>
        <p:txBody>
          <a:bodyPr/>
          <a:lstStyle/>
          <a:p>
            <a:pPr algn="just"/>
            <a:r>
              <a:rPr lang="en-US" altLang="zh-CN" sz="1600" b="1" i="1">
                <a:latin typeface="Times New Roman" pitchFamily="18" charset="0"/>
              </a:rPr>
              <a:t>a</a:t>
            </a:r>
            <a:r>
              <a:rPr lang="zh-CN" altLang="en-US" sz="1600" b="1">
                <a:latin typeface="Times New Roman" pitchFamily="18" charset="0"/>
              </a:rPr>
              <a:t>（</a:t>
            </a:r>
            <a:r>
              <a:rPr lang="en-US" altLang="zh-CN" sz="1600" b="1">
                <a:latin typeface="Times New Roman" pitchFamily="18" charset="0"/>
              </a:rPr>
              <a:t>%</a:t>
            </a:r>
            <a:r>
              <a:rPr lang="zh-CN" altLang="en-US" sz="1600" b="1">
                <a:latin typeface="Times New Roman" pitchFamily="18" charset="0"/>
              </a:rPr>
              <a:t>）   </a:t>
            </a:r>
            <a:r>
              <a:rPr lang="en-US" altLang="zh-CN" sz="1600" b="1">
                <a:latin typeface="Times New Roman" pitchFamily="18" charset="0"/>
              </a:rPr>
              <a:t>100</a:t>
            </a:r>
            <a:endParaRPr lang="en-US" altLang="zh-CN" sz="1600" b="1"/>
          </a:p>
        </p:txBody>
      </p:sp>
      <p:sp>
        <p:nvSpPr>
          <p:cNvPr id="15432" name="Text Box 123"/>
          <p:cNvSpPr txBox="1">
            <a:spLocks noChangeArrowheads="1"/>
          </p:cNvSpPr>
          <p:nvPr/>
        </p:nvSpPr>
        <p:spPr bwMode="auto">
          <a:xfrm>
            <a:off x="4803775" y="4381500"/>
            <a:ext cx="501650" cy="406400"/>
          </a:xfrm>
          <a:prstGeom prst="rect">
            <a:avLst/>
          </a:prstGeom>
          <a:noFill/>
          <a:ln w="9525">
            <a:noFill/>
            <a:miter lim="800000"/>
            <a:headEnd/>
            <a:tailEnd/>
          </a:ln>
        </p:spPr>
        <p:txBody>
          <a:bodyPr/>
          <a:lstStyle/>
          <a:p>
            <a:pPr algn="just"/>
            <a:r>
              <a:rPr lang="en-US" altLang="zh-CN" sz="1600" b="1">
                <a:latin typeface="宋体" pitchFamily="2" charset="-122"/>
              </a:rPr>
              <a:t>Δ</a:t>
            </a:r>
            <a:endParaRPr lang="en-US" altLang="zh-CN" sz="1600" b="1"/>
          </a:p>
        </p:txBody>
      </p:sp>
      <p:sp>
        <p:nvSpPr>
          <p:cNvPr id="15433" name="Line 124"/>
          <p:cNvSpPr>
            <a:spLocks noChangeShapeType="1"/>
          </p:cNvSpPr>
          <p:nvPr/>
        </p:nvSpPr>
        <p:spPr bwMode="auto">
          <a:xfrm>
            <a:off x="4849813" y="4694238"/>
            <a:ext cx="569912"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15434" name="Text Box 125"/>
          <p:cNvSpPr txBox="1">
            <a:spLocks noChangeArrowheads="1"/>
          </p:cNvSpPr>
          <p:nvPr/>
        </p:nvSpPr>
        <p:spPr bwMode="auto">
          <a:xfrm>
            <a:off x="207963" y="4070350"/>
            <a:ext cx="596900" cy="407988"/>
          </a:xfrm>
          <a:prstGeom prst="rect">
            <a:avLst/>
          </a:prstGeom>
          <a:noFill/>
          <a:ln w="9525">
            <a:noFill/>
            <a:miter lim="800000"/>
            <a:headEnd/>
            <a:tailEnd/>
          </a:ln>
        </p:spPr>
        <p:txBody>
          <a:bodyPr/>
          <a:lstStyle/>
          <a:p>
            <a:pPr algn="just"/>
            <a:r>
              <a:rPr lang="en-US" altLang="zh-CN" sz="1600" b="1" i="1">
                <a:latin typeface="Times New Roman" pitchFamily="18" charset="0"/>
              </a:rPr>
              <a:t>d′</a:t>
            </a:r>
            <a:endParaRPr lang="en-US" altLang="zh-CN" sz="1600" b="1"/>
          </a:p>
        </p:txBody>
      </p:sp>
      <p:sp>
        <p:nvSpPr>
          <p:cNvPr id="15435" name="Text Box 126"/>
          <p:cNvSpPr txBox="1">
            <a:spLocks noChangeArrowheads="1"/>
          </p:cNvSpPr>
          <p:nvPr/>
        </p:nvSpPr>
        <p:spPr bwMode="auto">
          <a:xfrm>
            <a:off x="1619250" y="4478338"/>
            <a:ext cx="474663" cy="379412"/>
          </a:xfrm>
          <a:prstGeom prst="rect">
            <a:avLst/>
          </a:prstGeom>
          <a:noFill/>
          <a:ln w="9525">
            <a:noFill/>
            <a:miter lim="800000"/>
            <a:headEnd/>
            <a:tailEnd/>
          </a:ln>
        </p:spPr>
        <p:txBody>
          <a:bodyPr/>
          <a:lstStyle/>
          <a:p>
            <a:pPr algn="just"/>
            <a:r>
              <a:rPr lang="en-US" altLang="zh-CN" sz="1600" b="1" i="1">
                <a:latin typeface="Times New Roman" pitchFamily="18" charset="0"/>
              </a:rPr>
              <a:t>R</a:t>
            </a:r>
            <a:endParaRPr lang="en-US" altLang="zh-CN" sz="1600" b="1"/>
          </a:p>
        </p:txBody>
      </p:sp>
      <p:grpSp>
        <p:nvGrpSpPr>
          <p:cNvPr id="15436" name="Group 132"/>
          <p:cNvGrpSpPr>
            <a:grpSpLocks/>
          </p:cNvGrpSpPr>
          <p:nvPr/>
        </p:nvGrpSpPr>
        <p:grpSpPr bwMode="auto">
          <a:xfrm>
            <a:off x="6462713" y="1625600"/>
            <a:ext cx="2290762" cy="4927600"/>
            <a:chOff x="5467" y="1484"/>
            <a:chExt cx="2983" cy="5939"/>
          </a:xfrm>
        </p:grpSpPr>
        <p:sp>
          <p:nvSpPr>
            <p:cNvPr id="15437" name="Line 133"/>
            <p:cNvSpPr>
              <a:spLocks noChangeShapeType="1"/>
            </p:cNvSpPr>
            <p:nvPr/>
          </p:nvSpPr>
          <p:spPr bwMode="auto">
            <a:xfrm>
              <a:off x="6571" y="1970"/>
              <a:ext cx="0" cy="4889"/>
            </a:xfrm>
            <a:prstGeom prst="line">
              <a:avLst/>
            </a:prstGeom>
            <a:noFill/>
            <a:ln w="9525">
              <a:solidFill>
                <a:srgbClr val="000000"/>
              </a:solidFill>
              <a:prstDash val="dash"/>
              <a:round/>
              <a:headEnd/>
              <a:tailEnd/>
            </a:ln>
          </p:spPr>
          <p:txBody>
            <a:bodyPr anchor="ctr"/>
            <a:lstStyle/>
            <a:p>
              <a:endParaRPr lang="zh-CN" altLang="en-US"/>
            </a:p>
          </p:txBody>
        </p:sp>
        <p:sp>
          <p:nvSpPr>
            <p:cNvPr id="15438" name="Rectangle 134"/>
            <p:cNvSpPr>
              <a:spLocks noChangeArrowheads="1"/>
            </p:cNvSpPr>
            <p:nvPr/>
          </p:nvSpPr>
          <p:spPr bwMode="auto">
            <a:xfrm>
              <a:off x="5488" y="3133"/>
              <a:ext cx="1551" cy="94"/>
            </a:xfrm>
            <a:prstGeom prst="rect">
              <a:avLst/>
            </a:prstGeom>
            <a:solidFill>
              <a:srgbClr val="FFFFFF"/>
            </a:solidFill>
            <a:ln w="9525">
              <a:solidFill>
                <a:srgbClr val="000000"/>
              </a:solidFill>
              <a:miter lim="800000"/>
              <a:headEnd/>
              <a:tailEnd/>
            </a:ln>
          </p:spPr>
          <p:txBody>
            <a:bodyPr anchor="ctr"/>
            <a:lstStyle/>
            <a:p>
              <a:endParaRPr lang="zh-CN" altLang="en-US" sz="900"/>
            </a:p>
          </p:txBody>
        </p:sp>
        <p:sp>
          <p:nvSpPr>
            <p:cNvPr id="15439" name="Oval 135"/>
            <p:cNvSpPr>
              <a:spLocks noChangeArrowheads="1"/>
            </p:cNvSpPr>
            <p:nvPr/>
          </p:nvSpPr>
          <p:spPr bwMode="auto">
            <a:xfrm>
              <a:off x="6276" y="2714"/>
              <a:ext cx="615" cy="116"/>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40" name="Oval 136"/>
            <p:cNvSpPr>
              <a:spLocks noChangeArrowheads="1"/>
            </p:cNvSpPr>
            <p:nvPr/>
          </p:nvSpPr>
          <p:spPr bwMode="auto">
            <a:xfrm>
              <a:off x="6421" y="2111"/>
              <a:ext cx="320" cy="303"/>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41" name="Line 137"/>
            <p:cNvSpPr>
              <a:spLocks noChangeShapeType="1"/>
            </p:cNvSpPr>
            <p:nvPr/>
          </p:nvSpPr>
          <p:spPr bwMode="auto">
            <a:xfrm>
              <a:off x="6529" y="2321"/>
              <a:ext cx="98" cy="0"/>
            </a:xfrm>
            <a:prstGeom prst="line">
              <a:avLst/>
            </a:prstGeom>
            <a:noFill/>
            <a:ln w="12700">
              <a:solidFill>
                <a:srgbClr val="000000"/>
              </a:solidFill>
              <a:round/>
              <a:headEnd/>
              <a:tailEnd/>
            </a:ln>
          </p:spPr>
          <p:txBody>
            <a:bodyPr anchor="ctr"/>
            <a:lstStyle/>
            <a:p>
              <a:endParaRPr lang="zh-CN" altLang="en-US"/>
            </a:p>
          </p:txBody>
        </p:sp>
        <p:sp>
          <p:nvSpPr>
            <p:cNvPr id="15442" name="Freeform 138"/>
            <p:cNvSpPr>
              <a:spLocks/>
            </p:cNvSpPr>
            <p:nvPr/>
          </p:nvSpPr>
          <p:spPr bwMode="auto">
            <a:xfrm rot="10138245" flipV="1">
              <a:off x="6477" y="2151"/>
              <a:ext cx="206" cy="75"/>
            </a:xfrm>
            <a:custGeom>
              <a:avLst/>
              <a:gdLst>
                <a:gd name="T0" fmla="*/ 0 w 140"/>
                <a:gd name="T1" fmla="*/ 67 h 67"/>
                <a:gd name="T2" fmla="*/ 60 w 140"/>
                <a:gd name="T3" fmla="*/ 7 h 67"/>
                <a:gd name="T4" fmla="*/ 140 w 140"/>
                <a:gd name="T5" fmla="*/ 27 h 67"/>
                <a:gd name="T6" fmla="*/ 0 60000 65536"/>
                <a:gd name="T7" fmla="*/ 0 60000 65536"/>
                <a:gd name="T8" fmla="*/ 0 60000 65536"/>
                <a:gd name="T9" fmla="*/ 0 w 140"/>
                <a:gd name="T10" fmla="*/ 0 h 67"/>
                <a:gd name="T11" fmla="*/ 140 w 140"/>
                <a:gd name="T12" fmla="*/ 67 h 67"/>
              </a:gdLst>
              <a:ahLst/>
              <a:cxnLst>
                <a:cxn ang="T6">
                  <a:pos x="T0" y="T1"/>
                </a:cxn>
                <a:cxn ang="T7">
                  <a:pos x="T2" y="T3"/>
                </a:cxn>
                <a:cxn ang="T8">
                  <a:pos x="T4" y="T5"/>
                </a:cxn>
              </a:cxnLst>
              <a:rect l="T9" t="T10" r="T11" b="T12"/>
              <a:pathLst>
                <a:path w="140" h="67">
                  <a:moveTo>
                    <a:pt x="0" y="67"/>
                  </a:moveTo>
                  <a:cubicBezTo>
                    <a:pt x="18" y="40"/>
                    <a:pt x="37" y="14"/>
                    <a:pt x="60" y="7"/>
                  </a:cubicBezTo>
                  <a:cubicBezTo>
                    <a:pt x="83" y="0"/>
                    <a:pt x="123" y="17"/>
                    <a:pt x="140" y="27"/>
                  </a:cubicBezTo>
                </a:path>
              </a:pathLst>
            </a:custGeom>
            <a:noFill/>
            <a:ln w="12700">
              <a:solidFill>
                <a:srgbClr val="000000"/>
              </a:solidFill>
              <a:round/>
              <a:headEnd/>
              <a:tailEnd/>
            </a:ln>
          </p:spPr>
          <p:txBody>
            <a:bodyPr anchor="ctr"/>
            <a:lstStyle/>
            <a:p>
              <a:endParaRPr lang="zh-CN" altLang="en-US" sz="900"/>
            </a:p>
          </p:txBody>
        </p:sp>
        <p:sp>
          <p:nvSpPr>
            <p:cNvPr id="15443" name="Oval 139"/>
            <p:cNvSpPr>
              <a:spLocks noChangeArrowheads="1"/>
            </p:cNvSpPr>
            <p:nvPr/>
          </p:nvSpPr>
          <p:spPr bwMode="auto">
            <a:xfrm>
              <a:off x="6079" y="4276"/>
              <a:ext cx="1009" cy="163"/>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44" name="Line 140"/>
            <p:cNvSpPr>
              <a:spLocks noChangeShapeType="1"/>
            </p:cNvSpPr>
            <p:nvPr/>
          </p:nvSpPr>
          <p:spPr bwMode="auto">
            <a:xfrm flipV="1">
              <a:off x="6239" y="2830"/>
              <a:ext cx="431" cy="1470"/>
            </a:xfrm>
            <a:prstGeom prst="line">
              <a:avLst/>
            </a:prstGeom>
            <a:noFill/>
            <a:ln w="9525">
              <a:solidFill>
                <a:srgbClr val="000000"/>
              </a:solidFill>
              <a:round/>
              <a:headEnd/>
              <a:tailEnd/>
            </a:ln>
          </p:spPr>
          <p:txBody>
            <a:bodyPr anchor="ctr"/>
            <a:lstStyle/>
            <a:p>
              <a:endParaRPr lang="zh-CN" altLang="en-US"/>
            </a:p>
          </p:txBody>
        </p:sp>
        <p:sp>
          <p:nvSpPr>
            <p:cNvPr id="15445" name="Line 141"/>
            <p:cNvSpPr>
              <a:spLocks noChangeShapeType="1"/>
            </p:cNvSpPr>
            <p:nvPr/>
          </p:nvSpPr>
          <p:spPr bwMode="auto">
            <a:xfrm flipH="1" flipV="1">
              <a:off x="6476" y="2828"/>
              <a:ext cx="447" cy="1472"/>
            </a:xfrm>
            <a:prstGeom prst="line">
              <a:avLst/>
            </a:prstGeom>
            <a:noFill/>
            <a:ln w="9525">
              <a:solidFill>
                <a:srgbClr val="000000"/>
              </a:solidFill>
              <a:round/>
              <a:headEnd/>
              <a:tailEnd/>
            </a:ln>
          </p:spPr>
          <p:txBody>
            <a:bodyPr anchor="ctr"/>
            <a:lstStyle/>
            <a:p>
              <a:endParaRPr lang="zh-CN" altLang="en-US"/>
            </a:p>
          </p:txBody>
        </p:sp>
        <p:sp>
          <p:nvSpPr>
            <p:cNvPr id="15446" name="Line 142"/>
            <p:cNvSpPr>
              <a:spLocks noChangeShapeType="1"/>
            </p:cNvSpPr>
            <p:nvPr/>
          </p:nvSpPr>
          <p:spPr bwMode="auto">
            <a:xfrm>
              <a:off x="6473" y="2387"/>
              <a:ext cx="0" cy="327"/>
            </a:xfrm>
            <a:prstGeom prst="line">
              <a:avLst/>
            </a:prstGeom>
            <a:noFill/>
            <a:ln w="9525">
              <a:solidFill>
                <a:srgbClr val="000000"/>
              </a:solidFill>
              <a:round/>
              <a:headEnd/>
              <a:tailEnd/>
            </a:ln>
          </p:spPr>
          <p:txBody>
            <a:bodyPr anchor="ctr"/>
            <a:lstStyle/>
            <a:p>
              <a:endParaRPr lang="zh-CN" altLang="en-US"/>
            </a:p>
          </p:txBody>
        </p:sp>
        <p:sp>
          <p:nvSpPr>
            <p:cNvPr id="15447" name="Line 143"/>
            <p:cNvSpPr>
              <a:spLocks noChangeShapeType="1"/>
            </p:cNvSpPr>
            <p:nvPr/>
          </p:nvSpPr>
          <p:spPr bwMode="auto">
            <a:xfrm>
              <a:off x="6670" y="2387"/>
              <a:ext cx="0" cy="323"/>
            </a:xfrm>
            <a:prstGeom prst="line">
              <a:avLst/>
            </a:prstGeom>
            <a:noFill/>
            <a:ln w="9525">
              <a:solidFill>
                <a:srgbClr val="000000"/>
              </a:solidFill>
              <a:round/>
              <a:headEnd/>
              <a:tailEnd/>
            </a:ln>
          </p:spPr>
          <p:txBody>
            <a:bodyPr anchor="ctr"/>
            <a:lstStyle/>
            <a:p>
              <a:endParaRPr lang="zh-CN" altLang="en-US"/>
            </a:p>
          </p:txBody>
        </p:sp>
        <p:sp>
          <p:nvSpPr>
            <p:cNvPr id="15448" name="Oval 144"/>
            <p:cNvSpPr>
              <a:spLocks noChangeArrowheads="1"/>
            </p:cNvSpPr>
            <p:nvPr/>
          </p:nvSpPr>
          <p:spPr bwMode="auto">
            <a:xfrm>
              <a:off x="6177" y="4978"/>
              <a:ext cx="813" cy="140"/>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49" name="Line 145"/>
            <p:cNvSpPr>
              <a:spLocks noChangeShapeType="1"/>
            </p:cNvSpPr>
            <p:nvPr/>
          </p:nvSpPr>
          <p:spPr bwMode="auto">
            <a:xfrm>
              <a:off x="6221" y="4412"/>
              <a:ext cx="9" cy="600"/>
            </a:xfrm>
            <a:prstGeom prst="line">
              <a:avLst/>
            </a:prstGeom>
            <a:noFill/>
            <a:ln w="9525">
              <a:solidFill>
                <a:srgbClr val="000000"/>
              </a:solidFill>
              <a:round/>
              <a:headEnd/>
              <a:tailEnd/>
            </a:ln>
          </p:spPr>
          <p:txBody>
            <a:bodyPr anchor="ctr"/>
            <a:lstStyle/>
            <a:p>
              <a:endParaRPr lang="zh-CN" altLang="en-US"/>
            </a:p>
          </p:txBody>
        </p:sp>
        <p:sp>
          <p:nvSpPr>
            <p:cNvPr id="15450" name="Line 146"/>
            <p:cNvSpPr>
              <a:spLocks noChangeShapeType="1"/>
            </p:cNvSpPr>
            <p:nvPr/>
          </p:nvSpPr>
          <p:spPr bwMode="auto">
            <a:xfrm>
              <a:off x="6938" y="4420"/>
              <a:ext cx="3" cy="591"/>
            </a:xfrm>
            <a:prstGeom prst="line">
              <a:avLst/>
            </a:prstGeom>
            <a:noFill/>
            <a:ln w="9525">
              <a:solidFill>
                <a:srgbClr val="000000"/>
              </a:solidFill>
              <a:round/>
              <a:headEnd/>
              <a:tailEnd/>
            </a:ln>
          </p:spPr>
          <p:txBody>
            <a:bodyPr anchor="ctr"/>
            <a:lstStyle/>
            <a:p>
              <a:endParaRPr lang="zh-CN" altLang="en-US"/>
            </a:p>
          </p:txBody>
        </p:sp>
        <p:sp>
          <p:nvSpPr>
            <p:cNvPr id="15451" name="Line 147"/>
            <p:cNvSpPr>
              <a:spLocks noChangeShapeType="1"/>
            </p:cNvSpPr>
            <p:nvPr/>
          </p:nvSpPr>
          <p:spPr bwMode="auto">
            <a:xfrm flipV="1">
              <a:off x="6448" y="5087"/>
              <a:ext cx="478" cy="1127"/>
            </a:xfrm>
            <a:prstGeom prst="line">
              <a:avLst/>
            </a:prstGeom>
            <a:noFill/>
            <a:ln w="9525">
              <a:solidFill>
                <a:srgbClr val="000000"/>
              </a:solidFill>
              <a:round/>
              <a:headEnd/>
              <a:tailEnd/>
            </a:ln>
          </p:spPr>
          <p:txBody>
            <a:bodyPr anchor="ctr"/>
            <a:lstStyle/>
            <a:p>
              <a:endParaRPr lang="zh-CN" altLang="en-US"/>
            </a:p>
          </p:txBody>
        </p:sp>
        <p:sp>
          <p:nvSpPr>
            <p:cNvPr id="15452" name="Line 148"/>
            <p:cNvSpPr>
              <a:spLocks noChangeShapeType="1"/>
            </p:cNvSpPr>
            <p:nvPr/>
          </p:nvSpPr>
          <p:spPr bwMode="auto">
            <a:xfrm flipH="1" flipV="1">
              <a:off x="6239" y="5090"/>
              <a:ext cx="456" cy="1124"/>
            </a:xfrm>
            <a:prstGeom prst="line">
              <a:avLst/>
            </a:prstGeom>
            <a:noFill/>
            <a:ln w="9525">
              <a:solidFill>
                <a:srgbClr val="000000"/>
              </a:solidFill>
              <a:round/>
              <a:headEnd/>
              <a:tailEnd/>
            </a:ln>
          </p:spPr>
          <p:txBody>
            <a:bodyPr anchor="ctr"/>
            <a:lstStyle/>
            <a:p>
              <a:endParaRPr lang="zh-CN" altLang="en-US"/>
            </a:p>
          </p:txBody>
        </p:sp>
        <p:sp>
          <p:nvSpPr>
            <p:cNvPr id="15453" name="Line 149"/>
            <p:cNvSpPr>
              <a:spLocks noChangeShapeType="1"/>
            </p:cNvSpPr>
            <p:nvPr/>
          </p:nvSpPr>
          <p:spPr bwMode="auto">
            <a:xfrm>
              <a:off x="6014" y="4845"/>
              <a:ext cx="0" cy="490"/>
            </a:xfrm>
            <a:prstGeom prst="line">
              <a:avLst/>
            </a:prstGeom>
            <a:noFill/>
            <a:ln w="9525">
              <a:solidFill>
                <a:srgbClr val="000000"/>
              </a:solidFill>
              <a:round/>
              <a:headEnd type="stealth" w="sm" len="sm"/>
              <a:tailEnd type="stealth" w="sm" len="sm"/>
            </a:ln>
          </p:spPr>
          <p:txBody>
            <a:bodyPr anchor="ctr"/>
            <a:lstStyle/>
            <a:p>
              <a:endParaRPr lang="zh-CN" altLang="en-US"/>
            </a:p>
          </p:txBody>
        </p:sp>
        <p:sp>
          <p:nvSpPr>
            <p:cNvPr id="15454" name="Oval 150"/>
            <p:cNvSpPr>
              <a:spLocks noChangeArrowheads="1"/>
            </p:cNvSpPr>
            <p:nvPr/>
          </p:nvSpPr>
          <p:spPr bwMode="auto">
            <a:xfrm>
              <a:off x="5808" y="3553"/>
              <a:ext cx="296" cy="280"/>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55" name="Line 151"/>
            <p:cNvSpPr>
              <a:spLocks noChangeShapeType="1"/>
            </p:cNvSpPr>
            <p:nvPr/>
          </p:nvSpPr>
          <p:spPr bwMode="auto">
            <a:xfrm flipV="1">
              <a:off x="5956" y="2900"/>
              <a:ext cx="0" cy="653"/>
            </a:xfrm>
            <a:prstGeom prst="line">
              <a:avLst/>
            </a:prstGeom>
            <a:noFill/>
            <a:ln w="9525">
              <a:solidFill>
                <a:srgbClr val="000000"/>
              </a:solidFill>
              <a:round/>
              <a:headEnd/>
              <a:tailEnd/>
            </a:ln>
          </p:spPr>
          <p:txBody>
            <a:bodyPr anchor="ctr"/>
            <a:lstStyle/>
            <a:p>
              <a:endParaRPr lang="zh-CN" altLang="en-US"/>
            </a:p>
          </p:txBody>
        </p:sp>
        <p:sp>
          <p:nvSpPr>
            <p:cNvPr id="15456" name="Freeform 152"/>
            <p:cNvSpPr>
              <a:spLocks/>
            </p:cNvSpPr>
            <p:nvPr/>
          </p:nvSpPr>
          <p:spPr bwMode="auto">
            <a:xfrm>
              <a:off x="5780" y="3319"/>
              <a:ext cx="310" cy="125"/>
            </a:xfrm>
            <a:custGeom>
              <a:avLst/>
              <a:gdLst>
                <a:gd name="T0" fmla="*/ 310 w 310"/>
                <a:gd name="T1" fmla="*/ 1 h 125"/>
                <a:gd name="T2" fmla="*/ 250 w 310"/>
                <a:gd name="T3" fmla="*/ 107 h 125"/>
                <a:gd name="T4" fmla="*/ 107 w 310"/>
                <a:gd name="T5" fmla="*/ 107 h 125"/>
                <a:gd name="T6" fmla="*/ 0 w 310"/>
                <a:gd name="T7" fmla="*/ 0 h 125"/>
                <a:gd name="T8" fmla="*/ 0 60000 65536"/>
                <a:gd name="T9" fmla="*/ 0 60000 65536"/>
                <a:gd name="T10" fmla="*/ 0 60000 65536"/>
                <a:gd name="T11" fmla="*/ 0 60000 65536"/>
                <a:gd name="T12" fmla="*/ 0 w 310"/>
                <a:gd name="T13" fmla="*/ 0 h 125"/>
                <a:gd name="T14" fmla="*/ 310 w 310"/>
                <a:gd name="T15" fmla="*/ 125 h 125"/>
              </a:gdLst>
              <a:ahLst/>
              <a:cxnLst>
                <a:cxn ang="T8">
                  <a:pos x="T0" y="T1"/>
                </a:cxn>
                <a:cxn ang="T9">
                  <a:pos x="T2" y="T3"/>
                </a:cxn>
                <a:cxn ang="T10">
                  <a:pos x="T4" y="T5"/>
                </a:cxn>
                <a:cxn ang="T11">
                  <a:pos x="T6" y="T7"/>
                </a:cxn>
              </a:cxnLst>
              <a:rect l="T12" t="T13" r="T14" b="T15"/>
              <a:pathLst>
                <a:path w="310" h="125">
                  <a:moveTo>
                    <a:pt x="310" y="1"/>
                  </a:moveTo>
                  <a:cubicBezTo>
                    <a:pt x="300" y="18"/>
                    <a:pt x="284" y="89"/>
                    <a:pt x="250" y="107"/>
                  </a:cubicBezTo>
                  <a:cubicBezTo>
                    <a:pt x="216" y="125"/>
                    <a:pt x="148" y="125"/>
                    <a:pt x="107" y="107"/>
                  </a:cubicBezTo>
                  <a:cubicBezTo>
                    <a:pt x="66" y="90"/>
                    <a:pt x="18" y="18"/>
                    <a:pt x="0" y="0"/>
                  </a:cubicBezTo>
                </a:path>
              </a:pathLst>
            </a:custGeom>
            <a:noFill/>
            <a:ln w="9525">
              <a:solidFill>
                <a:srgbClr val="000000"/>
              </a:solidFill>
              <a:round/>
              <a:headEnd/>
              <a:tailEnd type="stealth" w="sm" len="sm"/>
            </a:ln>
          </p:spPr>
          <p:txBody>
            <a:bodyPr anchor="ctr"/>
            <a:lstStyle/>
            <a:p>
              <a:endParaRPr lang="zh-CN" altLang="en-US" sz="900"/>
            </a:p>
          </p:txBody>
        </p:sp>
        <p:sp>
          <p:nvSpPr>
            <p:cNvPr id="15457" name="Text Box 153"/>
            <p:cNvSpPr txBox="1">
              <a:spLocks noChangeArrowheads="1"/>
            </p:cNvSpPr>
            <p:nvPr/>
          </p:nvSpPr>
          <p:spPr bwMode="auto">
            <a:xfrm>
              <a:off x="5740" y="3437"/>
              <a:ext cx="541" cy="396"/>
            </a:xfrm>
            <a:prstGeom prst="rect">
              <a:avLst/>
            </a:prstGeom>
            <a:noFill/>
            <a:ln w="9525">
              <a:noFill/>
              <a:miter lim="800000"/>
              <a:headEnd/>
              <a:tailEnd/>
            </a:ln>
          </p:spPr>
          <p:txBody>
            <a:bodyPr anchor="ctr"/>
            <a:lstStyle/>
            <a:p>
              <a:pPr algn="just"/>
              <a:r>
                <a:rPr lang="en-US" altLang="zh-CN" sz="900" i="1">
                  <a:latin typeface="Calibri" pitchFamily="34" charset="0"/>
                </a:rPr>
                <a:t>M</a:t>
              </a:r>
              <a:endParaRPr lang="zh-CN" altLang="zh-CN" sz="900"/>
            </a:p>
          </p:txBody>
        </p:sp>
        <p:sp>
          <p:nvSpPr>
            <p:cNvPr id="15458" name="Line 154"/>
            <p:cNvSpPr>
              <a:spLocks noChangeShapeType="1"/>
            </p:cNvSpPr>
            <p:nvPr/>
          </p:nvSpPr>
          <p:spPr bwMode="auto">
            <a:xfrm>
              <a:off x="6568" y="1977"/>
              <a:ext cx="3" cy="113"/>
            </a:xfrm>
            <a:prstGeom prst="line">
              <a:avLst/>
            </a:prstGeom>
            <a:noFill/>
            <a:ln w="9525">
              <a:solidFill>
                <a:srgbClr val="000000"/>
              </a:solidFill>
              <a:round/>
              <a:headEnd/>
              <a:tailEnd/>
            </a:ln>
          </p:spPr>
          <p:txBody>
            <a:bodyPr anchor="ctr"/>
            <a:lstStyle/>
            <a:p>
              <a:endParaRPr lang="zh-CN" altLang="en-US"/>
            </a:p>
          </p:txBody>
        </p:sp>
        <p:sp>
          <p:nvSpPr>
            <p:cNvPr id="15459" name="Text Box 155"/>
            <p:cNvSpPr txBox="1">
              <a:spLocks noChangeArrowheads="1"/>
            </p:cNvSpPr>
            <p:nvPr/>
          </p:nvSpPr>
          <p:spPr bwMode="auto">
            <a:xfrm>
              <a:off x="6963" y="2063"/>
              <a:ext cx="1086" cy="397"/>
            </a:xfrm>
            <a:prstGeom prst="rect">
              <a:avLst/>
            </a:prstGeom>
            <a:noFill/>
            <a:ln w="9525">
              <a:noFill/>
              <a:miter lim="800000"/>
              <a:headEnd/>
              <a:tailEnd/>
            </a:ln>
          </p:spPr>
          <p:txBody>
            <a:bodyPr anchor="ctr"/>
            <a:lstStyle/>
            <a:p>
              <a:r>
                <a:rPr lang="zh-CN" altLang="en-US" sz="900">
                  <a:latin typeface="Calibri" pitchFamily="34" charset="0"/>
                </a:rPr>
                <a:t>光电探测器</a:t>
              </a:r>
              <a:endParaRPr lang="zh-CN" sz="900"/>
            </a:p>
          </p:txBody>
        </p:sp>
        <p:sp>
          <p:nvSpPr>
            <p:cNvPr id="15460" name="Text Box 156"/>
            <p:cNvSpPr txBox="1">
              <a:spLocks noChangeArrowheads="1"/>
            </p:cNvSpPr>
            <p:nvPr/>
          </p:nvSpPr>
          <p:spPr bwMode="auto">
            <a:xfrm>
              <a:off x="7048" y="6532"/>
              <a:ext cx="1186" cy="396"/>
            </a:xfrm>
            <a:prstGeom prst="rect">
              <a:avLst/>
            </a:prstGeom>
            <a:noFill/>
            <a:ln w="9525">
              <a:noFill/>
              <a:miter lim="800000"/>
              <a:headEnd/>
              <a:tailEnd/>
            </a:ln>
          </p:spPr>
          <p:txBody>
            <a:bodyPr anchor="ctr"/>
            <a:lstStyle/>
            <a:p>
              <a:pPr algn="just"/>
              <a:r>
                <a:rPr lang="zh-CN" altLang="en-US" sz="900">
                  <a:latin typeface="Calibri" pitchFamily="34" charset="0"/>
                </a:rPr>
                <a:t>光源</a:t>
              </a:r>
              <a:endParaRPr lang="zh-CN" sz="900"/>
            </a:p>
          </p:txBody>
        </p:sp>
        <p:sp>
          <p:nvSpPr>
            <p:cNvPr id="15461" name="Text Box 157"/>
            <p:cNvSpPr txBox="1">
              <a:spLocks noChangeArrowheads="1"/>
            </p:cNvSpPr>
            <p:nvPr/>
          </p:nvSpPr>
          <p:spPr bwMode="auto">
            <a:xfrm>
              <a:off x="7094" y="5677"/>
              <a:ext cx="1072" cy="443"/>
            </a:xfrm>
            <a:prstGeom prst="rect">
              <a:avLst/>
            </a:prstGeom>
            <a:noFill/>
            <a:ln w="9525">
              <a:noFill/>
              <a:miter lim="800000"/>
              <a:headEnd/>
              <a:tailEnd/>
            </a:ln>
          </p:spPr>
          <p:txBody>
            <a:bodyPr anchor="ctr"/>
            <a:lstStyle/>
            <a:p>
              <a:pPr algn="just"/>
              <a:r>
                <a:rPr lang="zh-CN" altLang="en-US" sz="900">
                  <a:latin typeface="Calibri" pitchFamily="34" charset="0"/>
                </a:rPr>
                <a:t>小孔光阑</a:t>
              </a:r>
              <a:endParaRPr lang="zh-CN" sz="900"/>
            </a:p>
          </p:txBody>
        </p:sp>
        <p:sp>
          <p:nvSpPr>
            <p:cNvPr id="15462" name="Text Box 158"/>
            <p:cNvSpPr txBox="1">
              <a:spLocks noChangeArrowheads="1"/>
            </p:cNvSpPr>
            <p:nvPr/>
          </p:nvSpPr>
          <p:spPr bwMode="auto">
            <a:xfrm>
              <a:off x="7020" y="6001"/>
              <a:ext cx="1430" cy="784"/>
            </a:xfrm>
            <a:prstGeom prst="rect">
              <a:avLst/>
            </a:prstGeom>
            <a:noFill/>
            <a:ln w="9525">
              <a:noFill/>
              <a:miter lim="800000"/>
              <a:headEnd/>
              <a:tailEnd/>
            </a:ln>
          </p:spPr>
          <p:txBody>
            <a:bodyPr anchor="ctr"/>
            <a:lstStyle/>
            <a:p>
              <a:pPr algn="just"/>
              <a:r>
                <a:rPr lang="zh-CN" altLang="en-US" sz="900">
                  <a:latin typeface="Calibri" pitchFamily="34" charset="0"/>
                </a:rPr>
                <a:t>聚光镜</a:t>
              </a:r>
              <a:endParaRPr lang="zh-CN" sz="900"/>
            </a:p>
          </p:txBody>
        </p:sp>
        <p:sp>
          <p:nvSpPr>
            <p:cNvPr id="15463" name="Text Box 159"/>
            <p:cNvSpPr txBox="1">
              <a:spLocks noChangeArrowheads="1"/>
            </p:cNvSpPr>
            <p:nvPr/>
          </p:nvSpPr>
          <p:spPr bwMode="auto">
            <a:xfrm>
              <a:off x="7177" y="4102"/>
              <a:ext cx="1057" cy="576"/>
            </a:xfrm>
            <a:prstGeom prst="rect">
              <a:avLst/>
            </a:prstGeom>
            <a:noFill/>
            <a:ln w="9525">
              <a:noFill/>
              <a:miter lim="800000"/>
              <a:headEnd/>
              <a:tailEnd/>
            </a:ln>
          </p:spPr>
          <p:txBody>
            <a:bodyPr anchor="ctr"/>
            <a:lstStyle/>
            <a:p>
              <a:pPr algn="just"/>
              <a:r>
                <a:rPr lang="zh-CN" altLang="en-US" sz="900">
                  <a:latin typeface="Calibri" pitchFamily="34" charset="0"/>
                </a:rPr>
                <a:t>光管物镜</a:t>
              </a:r>
              <a:endParaRPr lang="zh-CN" sz="900"/>
            </a:p>
          </p:txBody>
        </p:sp>
        <p:sp>
          <p:nvSpPr>
            <p:cNvPr id="15464" name="Text Box 160"/>
            <p:cNvSpPr txBox="1">
              <a:spLocks noChangeArrowheads="1"/>
            </p:cNvSpPr>
            <p:nvPr/>
          </p:nvSpPr>
          <p:spPr bwMode="auto">
            <a:xfrm>
              <a:off x="7125" y="4827"/>
              <a:ext cx="911" cy="397"/>
            </a:xfrm>
            <a:prstGeom prst="rect">
              <a:avLst/>
            </a:prstGeom>
            <a:noFill/>
            <a:ln w="9525">
              <a:noFill/>
              <a:miter lim="800000"/>
              <a:headEnd/>
              <a:tailEnd/>
            </a:ln>
          </p:spPr>
          <p:txBody>
            <a:bodyPr anchor="ctr"/>
            <a:lstStyle/>
            <a:p>
              <a:pPr algn="just"/>
              <a:r>
                <a:rPr lang="zh-CN" altLang="en-US" sz="900">
                  <a:latin typeface="Calibri" pitchFamily="34" charset="0"/>
                </a:rPr>
                <a:t>被测物镜</a:t>
              </a:r>
              <a:endParaRPr lang="zh-CN" sz="900"/>
            </a:p>
          </p:txBody>
        </p:sp>
        <p:sp>
          <p:nvSpPr>
            <p:cNvPr id="15465" name="Text Box 161"/>
            <p:cNvSpPr txBox="1">
              <a:spLocks noChangeArrowheads="1"/>
            </p:cNvSpPr>
            <p:nvPr/>
          </p:nvSpPr>
          <p:spPr bwMode="auto">
            <a:xfrm>
              <a:off x="7058" y="3054"/>
              <a:ext cx="1053" cy="410"/>
            </a:xfrm>
            <a:prstGeom prst="rect">
              <a:avLst/>
            </a:prstGeom>
            <a:noFill/>
            <a:ln w="9525">
              <a:noFill/>
              <a:miter lim="800000"/>
              <a:headEnd/>
              <a:tailEnd/>
            </a:ln>
          </p:spPr>
          <p:txBody>
            <a:bodyPr/>
            <a:lstStyle/>
            <a:p>
              <a:pPr algn="just"/>
              <a:r>
                <a:rPr lang="zh-CN" altLang="en-US" sz="900">
                  <a:latin typeface="Calibri" pitchFamily="34" charset="0"/>
                </a:rPr>
                <a:t>扇形光栅盘</a:t>
              </a:r>
              <a:endParaRPr lang="zh-CN" altLang="en-US" sz="900">
                <a:latin typeface="Times New Roman" pitchFamily="18" charset="0"/>
              </a:endParaRPr>
            </a:p>
            <a:p>
              <a:pPr algn="just"/>
              <a:endParaRPr lang="zh-CN" altLang="en-US" sz="900">
                <a:latin typeface="Times New Roman" pitchFamily="18" charset="0"/>
              </a:endParaRPr>
            </a:p>
            <a:p>
              <a:pPr algn="just"/>
              <a:endParaRPr lang="zh-CN" altLang="en-US" sz="900">
                <a:latin typeface="Times New Roman" pitchFamily="18" charset="0"/>
              </a:endParaRPr>
            </a:p>
            <a:p>
              <a:pPr algn="just"/>
              <a:endParaRPr lang="zh-CN" altLang="en-US" sz="900">
                <a:latin typeface="Times New Roman" pitchFamily="18" charset="0"/>
              </a:endParaRPr>
            </a:p>
            <a:p>
              <a:pPr algn="just"/>
              <a:endParaRPr lang="zh-CN" altLang="en-US" sz="900">
                <a:latin typeface="Times New Roman" pitchFamily="18" charset="0"/>
              </a:endParaRPr>
            </a:p>
            <a:p>
              <a:pPr algn="just"/>
              <a:endParaRPr lang="zh-CN" altLang="en-US" sz="900">
                <a:latin typeface="Times New Roman" pitchFamily="18" charset="0"/>
              </a:endParaRPr>
            </a:p>
            <a:p>
              <a:endParaRPr lang="zh-CN" altLang="zh-CN" sz="900"/>
            </a:p>
          </p:txBody>
        </p:sp>
        <p:sp>
          <p:nvSpPr>
            <p:cNvPr id="15522" name="Text Box 162"/>
            <p:cNvSpPr txBox="1">
              <a:spLocks noChangeArrowheads="1"/>
            </p:cNvSpPr>
            <p:nvPr/>
          </p:nvSpPr>
          <p:spPr bwMode="auto">
            <a:xfrm>
              <a:off x="5467" y="6822"/>
              <a:ext cx="2625" cy="601"/>
            </a:xfrm>
            <a:prstGeom prst="rect">
              <a:avLst/>
            </a:prstGeom>
            <a:noFill/>
            <a:ln w="9525">
              <a:noFill/>
              <a:miter lim="800000"/>
              <a:headEnd/>
              <a:tailEnd/>
            </a:ln>
            <a:effectLst/>
          </p:spPr>
          <p:txBody>
            <a:bodyPr anchor="ctr"/>
            <a:lstStyle/>
            <a:p>
              <a:pPr algn="ctr">
                <a:defRPr/>
              </a:pPr>
              <a:r>
                <a:rPr lang="en-US" altLang="zh-CN" sz="1400" b="1" dirty="0">
                  <a:effectLst>
                    <a:outerShdw blurRad="38100" dist="38100" dir="2700000" algn="tl">
                      <a:srgbClr val="000000">
                        <a:alpha val="43137"/>
                      </a:srgbClr>
                    </a:outerShdw>
                  </a:effectLst>
                  <a:latin typeface="黑体" pitchFamily="2" charset="-122"/>
                </a:rPr>
                <a:t> </a:t>
              </a:r>
              <a:r>
                <a:rPr lang="zh-CN" altLang="en-US" sz="1400" b="1" dirty="0">
                  <a:effectLst>
                    <a:outerShdw blurRad="38100" dist="38100" dir="2700000" algn="tl">
                      <a:srgbClr val="000000">
                        <a:alpha val="43137"/>
                      </a:srgbClr>
                    </a:outerShdw>
                  </a:effectLst>
                  <a:latin typeface="黑体" pitchFamily="2" charset="-122"/>
                </a:rPr>
                <a:t>扇形光栅法调焦系统</a:t>
              </a:r>
              <a:endParaRPr lang="zh-CN" sz="1400" b="1" dirty="0">
                <a:effectLst>
                  <a:outerShdw blurRad="38100" dist="38100" dir="2700000" algn="tl">
                    <a:srgbClr val="000000">
                      <a:alpha val="43137"/>
                    </a:srgbClr>
                  </a:outerShdw>
                </a:effectLst>
                <a:latin typeface="Arial" pitchFamily="34" charset="0"/>
              </a:endParaRPr>
            </a:p>
          </p:txBody>
        </p:sp>
        <p:grpSp>
          <p:nvGrpSpPr>
            <p:cNvPr id="15467" name="Group 163"/>
            <p:cNvGrpSpPr>
              <a:grpSpLocks/>
            </p:cNvGrpSpPr>
            <p:nvPr/>
          </p:nvGrpSpPr>
          <p:grpSpPr bwMode="auto">
            <a:xfrm>
              <a:off x="6325" y="5904"/>
              <a:ext cx="517" cy="979"/>
              <a:chOff x="8080" y="6274"/>
              <a:chExt cx="517" cy="979"/>
            </a:xfrm>
          </p:grpSpPr>
          <p:sp>
            <p:nvSpPr>
              <p:cNvPr id="15475" name="Line 164"/>
              <p:cNvSpPr>
                <a:spLocks noChangeShapeType="1"/>
              </p:cNvSpPr>
              <p:nvPr/>
            </p:nvSpPr>
            <p:spPr bwMode="auto">
              <a:xfrm flipH="1">
                <a:off x="8080" y="6274"/>
                <a:ext cx="197" cy="0"/>
              </a:xfrm>
              <a:prstGeom prst="line">
                <a:avLst/>
              </a:prstGeom>
              <a:noFill/>
              <a:ln w="9525">
                <a:solidFill>
                  <a:srgbClr val="000000"/>
                </a:solidFill>
                <a:round/>
                <a:headEnd/>
                <a:tailEnd/>
              </a:ln>
            </p:spPr>
            <p:txBody>
              <a:bodyPr anchor="ctr"/>
              <a:lstStyle/>
              <a:p>
                <a:endParaRPr lang="zh-CN" altLang="en-US"/>
              </a:p>
            </p:txBody>
          </p:sp>
          <p:sp>
            <p:nvSpPr>
              <p:cNvPr id="15476" name="Line 165"/>
              <p:cNvSpPr>
                <a:spLocks noChangeShapeType="1"/>
              </p:cNvSpPr>
              <p:nvPr/>
            </p:nvSpPr>
            <p:spPr bwMode="auto">
              <a:xfrm>
                <a:off x="8376" y="6274"/>
                <a:ext cx="221" cy="0"/>
              </a:xfrm>
              <a:prstGeom prst="line">
                <a:avLst/>
              </a:prstGeom>
              <a:noFill/>
              <a:ln w="9525">
                <a:solidFill>
                  <a:srgbClr val="000000"/>
                </a:solidFill>
                <a:round/>
                <a:headEnd/>
                <a:tailEnd/>
              </a:ln>
            </p:spPr>
            <p:txBody>
              <a:bodyPr anchor="ctr"/>
              <a:lstStyle/>
              <a:p>
                <a:endParaRPr lang="zh-CN" altLang="en-US"/>
              </a:p>
            </p:txBody>
          </p:sp>
          <p:sp>
            <p:nvSpPr>
              <p:cNvPr id="15477" name="Oval 166"/>
              <p:cNvSpPr>
                <a:spLocks noChangeArrowheads="1"/>
              </p:cNvSpPr>
              <p:nvPr/>
            </p:nvSpPr>
            <p:spPr bwMode="auto">
              <a:xfrm>
                <a:off x="8228" y="7066"/>
                <a:ext cx="197" cy="187"/>
              </a:xfrm>
              <a:prstGeom prst="ellipse">
                <a:avLst/>
              </a:prstGeom>
              <a:solidFill>
                <a:srgbClr val="FFFFFF"/>
              </a:solidFill>
              <a:ln w="9525">
                <a:solidFill>
                  <a:srgbClr val="000000"/>
                </a:solidFill>
                <a:round/>
                <a:headEnd/>
                <a:tailEnd/>
              </a:ln>
            </p:spPr>
            <p:txBody>
              <a:bodyPr anchor="ctr"/>
              <a:lstStyle/>
              <a:p>
                <a:endParaRPr lang="zh-CN" altLang="en-US" sz="900"/>
              </a:p>
            </p:txBody>
          </p:sp>
          <p:sp>
            <p:nvSpPr>
              <p:cNvPr id="15478" name="Line 167"/>
              <p:cNvSpPr>
                <a:spLocks noChangeShapeType="1"/>
              </p:cNvSpPr>
              <p:nvPr/>
            </p:nvSpPr>
            <p:spPr bwMode="auto">
              <a:xfrm>
                <a:off x="8243" y="7113"/>
                <a:ext cx="157" cy="93"/>
              </a:xfrm>
              <a:prstGeom prst="line">
                <a:avLst/>
              </a:prstGeom>
              <a:noFill/>
              <a:ln w="9525">
                <a:solidFill>
                  <a:srgbClr val="000000"/>
                </a:solidFill>
                <a:round/>
                <a:headEnd/>
                <a:tailEnd/>
              </a:ln>
            </p:spPr>
            <p:txBody>
              <a:bodyPr anchor="ctr"/>
              <a:lstStyle/>
              <a:p>
                <a:endParaRPr lang="zh-CN" altLang="en-US"/>
              </a:p>
            </p:txBody>
          </p:sp>
          <p:sp>
            <p:nvSpPr>
              <p:cNvPr id="15479" name="Line 168"/>
              <p:cNvSpPr>
                <a:spLocks noChangeShapeType="1"/>
              </p:cNvSpPr>
              <p:nvPr/>
            </p:nvSpPr>
            <p:spPr bwMode="auto">
              <a:xfrm flipH="1">
                <a:off x="8259" y="7096"/>
                <a:ext cx="135" cy="128"/>
              </a:xfrm>
              <a:prstGeom prst="line">
                <a:avLst/>
              </a:prstGeom>
              <a:noFill/>
              <a:ln w="9525">
                <a:solidFill>
                  <a:srgbClr val="000000"/>
                </a:solidFill>
                <a:round/>
                <a:headEnd/>
                <a:tailEnd/>
              </a:ln>
            </p:spPr>
            <p:txBody>
              <a:bodyPr anchor="ctr"/>
              <a:lstStyle/>
              <a:p>
                <a:endParaRPr lang="zh-CN" altLang="en-US"/>
              </a:p>
            </p:txBody>
          </p:sp>
          <p:sp>
            <p:nvSpPr>
              <p:cNvPr id="15480" name="Line 169"/>
              <p:cNvSpPr>
                <a:spLocks noChangeShapeType="1"/>
              </p:cNvSpPr>
              <p:nvPr/>
            </p:nvSpPr>
            <p:spPr bwMode="auto">
              <a:xfrm flipH="1" flipV="1">
                <a:off x="8211" y="6910"/>
                <a:ext cx="66" cy="156"/>
              </a:xfrm>
              <a:prstGeom prst="line">
                <a:avLst/>
              </a:prstGeom>
              <a:noFill/>
              <a:ln w="9525">
                <a:solidFill>
                  <a:srgbClr val="000000"/>
                </a:solidFill>
                <a:round/>
                <a:headEnd/>
                <a:tailEnd/>
              </a:ln>
            </p:spPr>
            <p:txBody>
              <a:bodyPr anchor="ctr"/>
              <a:lstStyle/>
              <a:p>
                <a:endParaRPr lang="zh-CN" altLang="en-US"/>
              </a:p>
            </p:txBody>
          </p:sp>
          <p:sp>
            <p:nvSpPr>
              <p:cNvPr id="15481" name="Line 170"/>
              <p:cNvSpPr>
                <a:spLocks noChangeShapeType="1"/>
              </p:cNvSpPr>
              <p:nvPr/>
            </p:nvSpPr>
            <p:spPr bwMode="auto">
              <a:xfrm flipV="1">
                <a:off x="8351" y="6907"/>
                <a:ext cx="79" cy="159"/>
              </a:xfrm>
              <a:prstGeom prst="line">
                <a:avLst/>
              </a:prstGeom>
              <a:noFill/>
              <a:ln w="9525">
                <a:solidFill>
                  <a:srgbClr val="000000"/>
                </a:solidFill>
                <a:round/>
                <a:headEnd/>
                <a:tailEnd/>
              </a:ln>
            </p:spPr>
            <p:txBody>
              <a:bodyPr anchor="ctr"/>
              <a:lstStyle/>
              <a:p>
                <a:endParaRPr lang="zh-CN" altLang="en-US"/>
              </a:p>
            </p:txBody>
          </p:sp>
          <p:grpSp>
            <p:nvGrpSpPr>
              <p:cNvPr id="15482" name="Group 171"/>
              <p:cNvGrpSpPr>
                <a:grpSpLocks/>
              </p:cNvGrpSpPr>
              <p:nvPr/>
            </p:nvGrpSpPr>
            <p:grpSpPr bwMode="auto">
              <a:xfrm>
                <a:off x="8162" y="6598"/>
                <a:ext cx="327" cy="119"/>
                <a:chOff x="7981" y="8126"/>
                <a:chExt cx="327" cy="119"/>
              </a:xfrm>
            </p:grpSpPr>
            <p:sp>
              <p:nvSpPr>
                <p:cNvPr id="15486" name="Line 172"/>
                <p:cNvSpPr>
                  <a:spLocks noChangeShapeType="1"/>
                </p:cNvSpPr>
                <p:nvPr/>
              </p:nvSpPr>
              <p:spPr bwMode="auto">
                <a:xfrm rot="5363961">
                  <a:off x="8145" y="7968"/>
                  <a:ext cx="0" cy="323"/>
                </a:xfrm>
                <a:prstGeom prst="line">
                  <a:avLst/>
                </a:prstGeom>
                <a:noFill/>
                <a:ln w="9525">
                  <a:solidFill>
                    <a:srgbClr val="000000"/>
                  </a:solidFill>
                  <a:round/>
                  <a:headEnd/>
                  <a:tailEnd/>
                </a:ln>
              </p:spPr>
              <p:txBody>
                <a:bodyPr anchor="ctr"/>
                <a:lstStyle/>
                <a:p>
                  <a:endParaRPr lang="zh-CN" altLang="en-US"/>
                </a:p>
              </p:txBody>
            </p:sp>
            <p:sp>
              <p:nvSpPr>
                <p:cNvPr id="15487" name="Arc 173"/>
                <p:cNvSpPr>
                  <a:spLocks/>
                </p:cNvSpPr>
                <p:nvPr/>
              </p:nvSpPr>
              <p:spPr bwMode="auto">
                <a:xfrm>
                  <a:off x="7981" y="8126"/>
                  <a:ext cx="327" cy="119"/>
                </a:xfrm>
                <a:custGeom>
                  <a:avLst/>
                  <a:gdLst>
                    <a:gd name="T0" fmla="*/ 327 w 43159"/>
                    <a:gd name="T1" fmla="*/ 6 h 21600"/>
                    <a:gd name="T2" fmla="*/ 0 w 43159"/>
                    <a:gd name="T3" fmla="*/ 5 h 21600"/>
                    <a:gd name="T4" fmla="*/ 164 w 43159"/>
                    <a:gd name="T5" fmla="*/ 0 h 21600"/>
                    <a:gd name="T6" fmla="*/ 0 60000 65536"/>
                    <a:gd name="T7" fmla="*/ 0 60000 65536"/>
                    <a:gd name="T8" fmla="*/ 0 60000 65536"/>
                    <a:gd name="T9" fmla="*/ 0 w 43159"/>
                    <a:gd name="T10" fmla="*/ 0 h 21600"/>
                    <a:gd name="T11" fmla="*/ 43159 w 43159"/>
                    <a:gd name="T12" fmla="*/ 21600 h 21600"/>
                  </a:gdLst>
                  <a:ahLst/>
                  <a:cxnLst>
                    <a:cxn ang="T6">
                      <a:pos x="T0" y="T1"/>
                    </a:cxn>
                    <a:cxn ang="T7">
                      <a:pos x="T2" y="T3"/>
                    </a:cxn>
                    <a:cxn ang="T8">
                      <a:pos x="T4" y="T5"/>
                    </a:cxn>
                  </a:cxnLst>
                  <a:rect l="T9" t="T10" r="T11" b="T12"/>
                  <a:pathLst>
                    <a:path w="43159" h="21600" fill="none" extrusionOk="0">
                      <a:moveTo>
                        <a:pt x="43158" y="1027"/>
                      </a:moveTo>
                      <a:cubicBezTo>
                        <a:pt x="42609" y="12544"/>
                        <a:pt x="33112" y="21599"/>
                        <a:pt x="21583" y="21600"/>
                      </a:cubicBezTo>
                      <a:cubicBezTo>
                        <a:pt x="9986" y="21600"/>
                        <a:pt x="459" y="12443"/>
                        <a:pt x="-1" y="856"/>
                      </a:cubicBezTo>
                    </a:path>
                    <a:path w="43159" h="21600" stroke="0" extrusionOk="0">
                      <a:moveTo>
                        <a:pt x="43158" y="1027"/>
                      </a:moveTo>
                      <a:cubicBezTo>
                        <a:pt x="42609" y="12544"/>
                        <a:pt x="33112" y="21599"/>
                        <a:pt x="21583" y="21600"/>
                      </a:cubicBezTo>
                      <a:cubicBezTo>
                        <a:pt x="9986" y="21600"/>
                        <a:pt x="459" y="12443"/>
                        <a:pt x="-1" y="856"/>
                      </a:cubicBezTo>
                      <a:lnTo>
                        <a:pt x="21583" y="0"/>
                      </a:lnTo>
                      <a:close/>
                    </a:path>
                  </a:pathLst>
                </a:custGeom>
                <a:noFill/>
                <a:ln w="9525">
                  <a:solidFill>
                    <a:srgbClr val="000000"/>
                  </a:solidFill>
                  <a:round/>
                  <a:headEnd/>
                  <a:tailEnd/>
                </a:ln>
              </p:spPr>
              <p:txBody>
                <a:bodyPr anchor="ctr"/>
                <a:lstStyle/>
                <a:p>
                  <a:endParaRPr lang="zh-CN" altLang="en-US" sz="900"/>
                </a:p>
              </p:txBody>
            </p:sp>
          </p:grpSp>
          <p:grpSp>
            <p:nvGrpSpPr>
              <p:cNvPr id="15483" name="Group 174"/>
              <p:cNvGrpSpPr>
                <a:grpSpLocks/>
              </p:cNvGrpSpPr>
              <p:nvPr/>
            </p:nvGrpSpPr>
            <p:grpSpPr bwMode="auto">
              <a:xfrm flipV="1">
                <a:off x="8159" y="6787"/>
                <a:ext cx="327" cy="119"/>
                <a:chOff x="7981" y="8126"/>
                <a:chExt cx="327" cy="119"/>
              </a:xfrm>
            </p:grpSpPr>
            <p:sp>
              <p:nvSpPr>
                <p:cNvPr id="15484" name="Line 175"/>
                <p:cNvSpPr>
                  <a:spLocks noChangeShapeType="1"/>
                </p:cNvSpPr>
                <p:nvPr/>
              </p:nvSpPr>
              <p:spPr bwMode="auto">
                <a:xfrm rot="5363961">
                  <a:off x="8145" y="7968"/>
                  <a:ext cx="0" cy="323"/>
                </a:xfrm>
                <a:prstGeom prst="line">
                  <a:avLst/>
                </a:prstGeom>
                <a:noFill/>
                <a:ln w="9525">
                  <a:solidFill>
                    <a:srgbClr val="000000"/>
                  </a:solidFill>
                  <a:round/>
                  <a:headEnd/>
                  <a:tailEnd/>
                </a:ln>
              </p:spPr>
              <p:txBody>
                <a:bodyPr anchor="ctr"/>
                <a:lstStyle/>
                <a:p>
                  <a:endParaRPr lang="zh-CN" altLang="en-US"/>
                </a:p>
              </p:txBody>
            </p:sp>
            <p:sp>
              <p:nvSpPr>
                <p:cNvPr id="15485" name="Arc 176"/>
                <p:cNvSpPr>
                  <a:spLocks/>
                </p:cNvSpPr>
                <p:nvPr/>
              </p:nvSpPr>
              <p:spPr bwMode="auto">
                <a:xfrm>
                  <a:off x="7981" y="8126"/>
                  <a:ext cx="327" cy="119"/>
                </a:xfrm>
                <a:custGeom>
                  <a:avLst/>
                  <a:gdLst>
                    <a:gd name="T0" fmla="*/ 327 w 43159"/>
                    <a:gd name="T1" fmla="*/ 6 h 21600"/>
                    <a:gd name="T2" fmla="*/ 0 w 43159"/>
                    <a:gd name="T3" fmla="*/ 5 h 21600"/>
                    <a:gd name="T4" fmla="*/ 164 w 43159"/>
                    <a:gd name="T5" fmla="*/ 0 h 21600"/>
                    <a:gd name="T6" fmla="*/ 0 60000 65536"/>
                    <a:gd name="T7" fmla="*/ 0 60000 65536"/>
                    <a:gd name="T8" fmla="*/ 0 60000 65536"/>
                    <a:gd name="T9" fmla="*/ 0 w 43159"/>
                    <a:gd name="T10" fmla="*/ 0 h 21600"/>
                    <a:gd name="T11" fmla="*/ 43159 w 43159"/>
                    <a:gd name="T12" fmla="*/ 21600 h 21600"/>
                  </a:gdLst>
                  <a:ahLst/>
                  <a:cxnLst>
                    <a:cxn ang="T6">
                      <a:pos x="T0" y="T1"/>
                    </a:cxn>
                    <a:cxn ang="T7">
                      <a:pos x="T2" y="T3"/>
                    </a:cxn>
                    <a:cxn ang="T8">
                      <a:pos x="T4" y="T5"/>
                    </a:cxn>
                  </a:cxnLst>
                  <a:rect l="T9" t="T10" r="T11" b="T12"/>
                  <a:pathLst>
                    <a:path w="43159" h="21600" fill="none" extrusionOk="0">
                      <a:moveTo>
                        <a:pt x="43158" y="1027"/>
                      </a:moveTo>
                      <a:cubicBezTo>
                        <a:pt x="42609" y="12544"/>
                        <a:pt x="33112" y="21599"/>
                        <a:pt x="21583" y="21600"/>
                      </a:cubicBezTo>
                      <a:cubicBezTo>
                        <a:pt x="9986" y="21600"/>
                        <a:pt x="459" y="12443"/>
                        <a:pt x="-1" y="856"/>
                      </a:cubicBezTo>
                    </a:path>
                    <a:path w="43159" h="21600" stroke="0" extrusionOk="0">
                      <a:moveTo>
                        <a:pt x="43158" y="1027"/>
                      </a:moveTo>
                      <a:cubicBezTo>
                        <a:pt x="42609" y="12544"/>
                        <a:pt x="33112" y="21599"/>
                        <a:pt x="21583" y="21600"/>
                      </a:cubicBezTo>
                      <a:cubicBezTo>
                        <a:pt x="9986" y="21600"/>
                        <a:pt x="459" y="12443"/>
                        <a:pt x="-1" y="856"/>
                      </a:cubicBezTo>
                      <a:lnTo>
                        <a:pt x="21583" y="0"/>
                      </a:lnTo>
                      <a:close/>
                    </a:path>
                  </a:pathLst>
                </a:custGeom>
                <a:noFill/>
                <a:ln w="9525">
                  <a:solidFill>
                    <a:srgbClr val="000000"/>
                  </a:solidFill>
                  <a:round/>
                  <a:headEnd/>
                  <a:tailEnd/>
                </a:ln>
              </p:spPr>
              <p:txBody>
                <a:bodyPr anchor="ctr"/>
                <a:lstStyle/>
                <a:p>
                  <a:endParaRPr lang="zh-CN" altLang="en-US" sz="900"/>
                </a:p>
              </p:txBody>
            </p:sp>
          </p:grpSp>
        </p:grpSp>
        <p:cxnSp>
          <p:nvCxnSpPr>
            <p:cNvPr id="15468" name="AutoShape 177"/>
            <p:cNvCxnSpPr>
              <a:cxnSpLocks noChangeShapeType="1"/>
            </p:cNvCxnSpPr>
            <p:nvPr/>
          </p:nvCxnSpPr>
          <p:spPr bwMode="auto">
            <a:xfrm>
              <a:off x="6675" y="6799"/>
              <a:ext cx="468" cy="1"/>
            </a:xfrm>
            <a:prstGeom prst="straightConnector1">
              <a:avLst/>
            </a:prstGeom>
            <a:noFill/>
            <a:ln w="9525">
              <a:solidFill>
                <a:srgbClr val="000000"/>
              </a:solidFill>
              <a:round/>
              <a:headEnd/>
              <a:tailEnd/>
            </a:ln>
          </p:spPr>
        </p:cxnSp>
        <p:sp>
          <p:nvSpPr>
            <p:cNvPr id="15469" name="AutoShape 178"/>
            <p:cNvSpPr>
              <a:spLocks/>
            </p:cNvSpPr>
            <p:nvPr/>
          </p:nvSpPr>
          <p:spPr bwMode="auto">
            <a:xfrm>
              <a:off x="6959" y="6155"/>
              <a:ext cx="89" cy="460"/>
            </a:xfrm>
            <a:prstGeom prst="rightBrace">
              <a:avLst>
                <a:gd name="adj1" fmla="val 43071"/>
                <a:gd name="adj2" fmla="val 50000"/>
              </a:avLst>
            </a:prstGeom>
            <a:noFill/>
            <a:ln w="6350">
              <a:solidFill>
                <a:srgbClr val="000000"/>
              </a:solidFill>
              <a:round/>
              <a:headEnd/>
              <a:tailEnd/>
            </a:ln>
          </p:spPr>
          <p:txBody>
            <a:bodyPr anchor="ctr"/>
            <a:lstStyle/>
            <a:p>
              <a:endParaRPr lang="zh-CN" altLang="en-US" sz="900"/>
            </a:p>
          </p:txBody>
        </p:sp>
        <p:cxnSp>
          <p:nvCxnSpPr>
            <p:cNvPr id="15470" name="AutoShape 179"/>
            <p:cNvCxnSpPr>
              <a:cxnSpLocks noChangeShapeType="1"/>
            </p:cNvCxnSpPr>
            <p:nvPr/>
          </p:nvCxnSpPr>
          <p:spPr bwMode="auto">
            <a:xfrm>
              <a:off x="6915" y="5904"/>
              <a:ext cx="228" cy="0"/>
            </a:xfrm>
            <a:prstGeom prst="straightConnector1">
              <a:avLst/>
            </a:prstGeom>
            <a:noFill/>
            <a:ln w="9525">
              <a:solidFill>
                <a:srgbClr val="000000"/>
              </a:solidFill>
              <a:round/>
              <a:headEnd/>
              <a:tailEnd/>
            </a:ln>
          </p:spPr>
        </p:cxnSp>
        <p:cxnSp>
          <p:nvCxnSpPr>
            <p:cNvPr id="15471" name="AutoShape 180"/>
            <p:cNvCxnSpPr>
              <a:cxnSpLocks noChangeShapeType="1"/>
            </p:cNvCxnSpPr>
            <p:nvPr/>
          </p:nvCxnSpPr>
          <p:spPr bwMode="auto">
            <a:xfrm>
              <a:off x="6996" y="5047"/>
              <a:ext cx="228" cy="0"/>
            </a:xfrm>
            <a:prstGeom prst="straightConnector1">
              <a:avLst/>
            </a:prstGeom>
            <a:noFill/>
            <a:ln w="9525">
              <a:solidFill>
                <a:srgbClr val="000000"/>
              </a:solidFill>
              <a:round/>
              <a:headEnd/>
              <a:tailEnd/>
            </a:ln>
          </p:spPr>
        </p:cxnSp>
        <p:cxnSp>
          <p:nvCxnSpPr>
            <p:cNvPr id="15472" name="AutoShape 181"/>
            <p:cNvCxnSpPr>
              <a:cxnSpLocks noChangeShapeType="1"/>
            </p:cNvCxnSpPr>
            <p:nvPr/>
          </p:nvCxnSpPr>
          <p:spPr bwMode="auto">
            <a:xfrm>
              <a:off x="7077" y="4351"/>
              <a:ext cx="228" cy="0"/>
            </a:xfrm>
            <a:prstGeom prst="straightConnector1">
              <a:avLst/>
            </a:prstGeom>
            <a:noFill/>
            <a:ln w="9525">
              <a:solidFill>
                <a:srgbClr val="000000"/>
              </a:solidFill>
              <a:round/>
              <a:headEnd/>
              <a:tailEnd/>
            </a:ln>
          </p:spPr>
        </p:cxnSp>
        <p:sp>
          <p:nvSpPr>
            <p:cNvPr id="15473" name="Text Box 182"/>
            <p:cNvSpPr txBox="1">
              <a:spLocks noChangeArrowheads="1"/>
            </p:cNvSpPr>
            <p:nvPr/>
          </p:nvSpPr>
          <p:spPr bwMode="auto">
            <a:xfrm>
              <a:off x="6008" y="1484"/>
              <a:ext cx="1120" cy="493"/>
            </a:xfrm>
            <a:prstGeom prst="rect">
              <a:avLst/>
            </a:prstGeom>
            <a:solidFill>
              <a:srgbClr val="FFFFFF"/>
            </a:solidFill>
            <a:ln w="9525" algn="ctr">
              <a:solidFill>
                <a:srgbClr val="000000"/>
              </a:solidFill>
              <a:miter lim="800000"/>
              <a:headEnd/>
              <a:tailEnd/>
            </a:ln>
          </p:spPr>
          <p:txBody>
            <a:bodyPr anchor="ctr"/>
            <a:lstStyle/>
            <a:p>
              <a:pPr algn="ctr"/>
              <a:r>
                <a:rPr lang="zh-CN" altLang="en-US" sz="900">
                  <a:latin typeface="Calibri" pitchFamily="34" charset="0"/>
                </a:rPr>
                <a:t>信号处理器</a:t>
              </a:r>
              <a:endParaRPr lang="zh-CN" sz="900"/>
            </a:p>
          </p:txBody>
        </p:sp>
        <p:cxnSp>
          <p:nvCxnSpPr>
            <p:cNvPr id="15474" name="AutoShape 183"/>
            <p:cNvCxnSpPr>
              <a:cxnSpLocks noChangeShapeType="1"/>
            </p:cNvCxnSpPr>
            <p:nvPr/>
          </p:nvCxnSpPr>
          <p:spPr bwMode="auto">
            <a:xfrm>
              <a:off x="6729" y="2321"/>
              <a:ext cx="319" cy="1"/>
            </a:xfrm>
            <a:prstGeom prst="straightConnector1">
              <a:avLst/>
            </a:prstGeom>
            <a:noFill/>
            <a:ln w="9525">
              <a:solidFill>
                <a:srgbClr val="000000"/>
              </a:solidFill>
              <a:round/>
              <a:headEnd/>
              <a:tailEnd/>
            </a:ln>
          </p:spPr>
        </p:cxnSp>
      </p:grpSp>
    </p:spTree>
  </p:cSld>
  <p:clrMapOvr>
    <a:masterClrMapping/>
  </p:clrMapOvr>
  <p:transition>
    <p:circl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p:cNvSpPr>
            <a:spLocks noGrp="1"/>
          </p:cNvSpPr>
          <p:nvPr>
            <p:ph type="dt" sz="quarter" idx="10"/>
          </p:nvPr>
        </p:nvSpPr>
        <p:spPr>
          <a:noFill/>
        </p:spPr>
        <p:txBody>
          <a:bodyPr/>
          <a:lstStyle/>
          <a:p>
            <a:fld id="{3A509332-0666-45B7-B7CA-B5087258997D}" type="datetime1">
              <a:rPr lang="zh-CN" altLang="en-US" smtClean="0"/>
              <a:pPr/>
              <a:t>2018/2/24</a:t>
            </a:fld>
            <a:endParaRPr lang="en-US" altLang="zh-CN" smtClean="0"/>
          </a:p>
        </p:txBody>
      </p:sp>
      <p:sp>
        <p:nvSpPr>
          <p:cNvPr id="95235" name="灯片编号占位符 5"/>
          <p:cNvSpPr>
            <a:spLocks noGrp="1"/>
          </p:cNvSpPr>
          <p:nvPr>
            <p:ph type="sldNum" sz="quarter" idx="12"/>
          </p:nvPr>
        </p:nvSpPr>
        <p:spPr>
          <a:noFill/>
        </p:spPr>
        <p:txBody>
          <a:bodyPr/>
          <a:lstStyle/>
          <a:p>
            <a:fld id="{AC57D14A-4D53-4EF5-A654-7AFA290E338E}" type="slidenum">
              <a:rPr lang="en-US" altLang="zh-CN" smtClean="0"/>
              <a:pPr/>
              <a:t>24</a:t>
            </a:fld>
            <a:endParaRPr lang="en-US" altLang="zh-CN" smtClean="0"/>
          </a:p>
        </p:txBody>
      </p:sp>
      <p:sp>
        <p:nvSpPr>
          <p:cNvPr id="660482" name="Rectangle 2"/>
          <p:cNvSpPr>
            <a:spLocks noGrp="1" noRot="1" noChangeArrowheads="1"/>
          </p:cNvSpPr>
          <p:nvPr>
            <p:ph type="title"/>
          </p:nvPr>
        </p:nvSpPr>
        <p:spPr>
          <a:xfrm>
            <a:off x="457200" y="387350"/>
            <a:ext cx="82296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光电调焦</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p>
        </p:txBody>
      </p:sp>
      <p:sp>
        <p:nvSpPr>
          <p:cNvPr id="660483" name="Rectangle 3"/>
          <p:cNvSpPr>
            <a:spLocks noGrp="1" noRot="1" noChangeArrowheads="1"/>
          </p:cNvSpPr>
          <p:nvPr>
            <p:ph type="body" idx="1"/>
          </p:nvPr>
        </p:nvSpPr>
        <p:spPr>
          <a:xfrm>
            <a:off x="471488" y="1960563"/>
            <a:ext cx="8229600" cy="3992562"/>
          </a:xfrm>
        </p:spPr>
        <p:txBody>
          <a:bodyPr/>
          <a:lstStyle/>
          <a:p>
            <a:pPr eaLnBrk="1" hangingPunct="1">
              <a:lnSpc>
                <a:spcPct val="110000"/>
              </a:lnSpc>
              <a:defRPr/>
            </a:pPr>
            <a:r>
              <a:rPr lang="zh-CN" altLang="en-US" sz="2000" dirty="0" smtClean="0">
                <a:latin typeface="Times New Roman" pitchFamily="18" charset="0"/>
                <a:ea typeface="黑体" pitchFamily="2" charset="-122"/>
              </a:rPr>
              <a:t>随着图像采集技术和数字图像处理技术的快速发展，数字图像自动调焦（又称聚焦）技术也获得快速发展，并成为图像测量技术、计算机视觉技术等的关键技术之一。</a:t>
            </a:r>
          </a:p>
          <a:p>
            <a:pPr eaLnBrk="1" hangingPunct="1">
              <a:lnSpc>
                <a:spcPct val="110000"/>
              </a:lnSpc>
              <a:defRPr/>
            </a:pPr>
            <a:r>
              <a:rPr lang="zh-CN" altLang="en-US" sz="2000" dirty="0" smtClean="0">
                <a:latin typeface="Times New Roman" pitchFamily="18" charset="0"/>
                <a:ea typeface="黑体" pitchFamily="2" charset="-122"/>
              </a:rPr>
              <a:t>基于数字图像处理的自动调焦过程可以</a:t>
            </a:r>
            <a:r>
              <a:rPr lang="zh-CN" altLang="en-US" sz="2000" dirty="0" smtClean="0">
                <a:solidFill>
                  <a:srgbClr val="FF0000"/>
                </a:solidFill>
                <a:latin typeface="Times New Roman" pitchFamily="18" charset="0"/>
                <a:ea typeface="黑体" pitchFamily="2" charset="-122"/>
              </a:rPr>
              <a:t>描述</a:t>
            </a:r>
            <a:r>
              <a:rPr lang="zh-CN" altLang="en-US" sz="2000" dirty="0" smtClean="0">
                <a:latin typeface="Times New Roman" pitchFamily="18" charset="0"/>
                <a:ea typeface="黑体" pitchFamily="2" charset="-122"/>
              </a:rPr>
              <a:t>为：计算机通过光学系统和图像采集设备采集到一系列的数字图像，对每一帧图像进行实时处理，判断聚焦是否准确、成像是否清晰，并给出反馈信号控制镜头的运动，直到采集到的图像符合使用要求，即完成自动调焦。</a:t>
            </a:r>
          </a:p>
          <a:p>
            <a:pPr>
              <a:lnSpc>
                <a:spcPct val="110000"/>
              </a:lnSpc>
              <a:defRPr/>
            </a:pPr>
            <a:r>
              <a:rPr lang="zh-CN" altLang="en-US" sz="2000" dirty="0" smtClean="0">
                <a:latin typeface="Times New Roman" pitchFamily="18" charset="0"/>
                <a:ea typeface="黑体" pitchFamily="2" charset="-122"/>
              </a:rPr>
              <a:t>目前，自动调焦算法主要从</a:t>
            </a:r>
            <a:r>
              <a:rPr lang="zh-CN" altLang="en-US" sz="2000" dirty="0" smtClean="0">
                <a:solidFill>
                  <a:srgbClr val="FF0000"/>
                </a:solidFill>
                <a:latin typeface="Times New Roman" pitchFamily="18" charset="0"/>
                <a:ea typeface="黑体" pitchFamily="2" charset="-122"/>
              </a:rPr>
              <a:t>空间域</a:t>
            </a:r>
            <a:r>
              <a:rPr lang="zh-CN" altLang="en-US" sz="2000" dirty="0" smtClean="0">
                <a:latin typeface="Times New Roman" pitchFamily="18" charset="0"/>
                <a:ea typeface="黑体" pitchFamily="2" charset="-122"/>
              </a:rPr>
              <a:t>、</a:t>
            </a:r>
            <a:r>
              <a:rPr lang="zh-CN" altLang="en-US" sz="2000" dirty="0" smtClean="0">
                <a:solidFill>
                  <a:srgbClr val="FF0000"/>
                </a:solidFill>
                <a:latin typeface="Times New Roman" pitchFamily="18" charset="0"/>
                <a:ea typeface="黑体" pitchFamily="2" charset="-122"/>
              </a:rPr>
              <a:t>信息域</a:t>
            </a:r>
            <a:r>
              <a:rPr lang="zh-CN" altLang="en-US" sz="2000" dirty="0" smtClean="0">
                <a:latin typeface="Times New Roman" pitchFamily="18" charset="0"/>
                <a:ea typeface="黑体" pitchFamily="2" charset="-122"/>
              </a:rPr>
              <a:t>、</a:t>
            </a:r>
            <a:r>
              <a:rPr lang="zh-CN" altLang="en-US" sz="2000" dirty="0" smtClean="0">
                <a:solidFill>
                  <a:srgbClr val="FF0000"/>
                </a:solidFill>
                <a:latin typeface="Times New Roman" pitchFamily="18" charset="0"/>
                <a:ea typeface="黑体" pitchFamily="2" charset="-122"/>
              </a:rPr>
              <a:t>频域</a:t>
            </a:r>
            <a:r>
              <a:rPr lang="zh-CN" altLang="en-US" sz="2000" dirty="0" smtClean="0">
                <a:latin typeface="Times New Roman" pitchFamily="18" charset="0"/>
                <a:ea typeface="黑体" pitchFamily="2" charset="-122"/>
              </a:rPr>
              <a:t>三个方面展开自动调焦评价函数原理及算法的讨论和研究，并结合实际应用选择最适用于系统的自动调焦算法。</a:t>
            </a:r>
            <a:endParaRPr lang="en-US" altLang="zh-CN" sz="2000" dirty="0" smtClean="0">
              <a:latin typeface="Times New Roman" pitchFamily="18" charset="0"/>
              <a:ea typeface="黑体" pitchFamily="2" charset="-122"/>
            </a:endParaRPr>
          </a:p>
          <a:p>
            <a:pPr>
              <a:lnSpc>
                <a:spcPct val="110000"/>
              </a:lnSpc>
              <a:defRPr/>
            </a:pPr>
            <a:r>
              <a:rPr lang="zh-CN" altLang="en-US" sz="2000" dirty="0" smtClean="0">
                <a:solidFill>
                  <a:srgbClr val="FF0000"/>
                </a:solidFill>
                <a:latin typeface="Times New Roman" pitchFamily="18" charset="0"/>
                <a:ea typeface="黑体" pitchFamily="2" charset="-122"/>
              </a:rPr>
              <a:t>特别指出，</a:t>
            </a:r>
            <a:r>
              <a:rPr lang="zh-CN" altLang="en-US" sz="2000" dirty="0" smtClean="0">
                <a:latin typeface="Times New Roman" pitchFamily="18" charset="0"/>
                <a:ea typeface="黑体" pitchFamily="2" charset="-122"/>
              </a:rPr>
              <a:t>调焦评价函数通常基于离焦图像与聚焦图像的内容信息的差别等先验知识，没有对任何情况都适用的全能方法。</a:t>
            </a:r>
          </a:p>
          <a:p>
            <a:pPr>
              <a:lnSpc>
                <a:spcPct val="110000"/>
              </a:lnSpc>
              <a:defRPr/>
            </a:pPr>
            <a:endParaRPr lang="zh-CN" altLang="en-US" sz="2000" dirty="0" smtClean="0">
              <a:latin typeface="Times New Roman" pitchFamily="18" charset="0"/>
              <a:ea typeface="黑体" pitchFamily="2" charset="-122"/>
            </a:endParaRPr>
          </a:p>
        </p:txBody>
      </p:sp>
      <p:sp>
        <p:nvSpPr>
          <p:cNvPr id="95238"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5239"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5240"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5241"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5242" name="Rectangle 8"/>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95243"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95244" name="Rectangle 10"/>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95245" name="Rectangle 11"/>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95246" name="Rectangle 12"/>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95247"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95248" name="Rectangle 14"/>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日期占位符 3"/>
          <p:cNvSpPr>
            <a:spLocks noGrp="1"/>
          </p:cNvSpPr>
          <p:nvPr>
            <p:ph type="dt" sz="quarter" idx="10"/>
          </p:nvPr>
        </p:nvSpPr>
        <p:spPr>
          <a:noFill/>
        </p:spPr>
        <p:txBody>
          <a:bodyPr/>
          <a:lstStyle/>
          <a:p>
            <a:fld id="{62DED68C-9DDF-46DF-B939-3EC34E033572}" type="datetime1">
              <a:rPr lang="zh-CN" altLang="en-US" smtClean="0"/>
              <a:pPr/>
              <a:t>2018/2/24</a:t>
            </a:fld>
            <a:endParaRPr lang="en-US" altLang="zh-CN" smtClean="0"/>
          </a:p>
        </p:txBody>
      </p:sp>
      <p:sp>
        <p:nvSpPr>
          <p:cNvPr id="16388" name="灯片编号占位符 5"/>
          <p:cNvSpPr>
            <a:spLocks noGrp="1"/>
          </p:cNvSpPr>
          <p:nvPr>
            <p:ph type="sldNum" sz="quarter" idx="12"/>
          </p:nvPr>
        </p:nvSpPr>
        <p:spPr>
          <a:noFill/>
        </p:spPr>
        <p:txBody>
          <a:bodyPr/>
          <a:lstStyle/>
          <a:p>
            <a:fld id="{3698E5A8-A5B6-4441-99EE-C1A1C42BF478}" type="slidenum">
              <a:rPr lang="en-US" altLang="zh-CN" smtClean="0"/>
              <a:pPr/>
              <a:t>25</a:t>
            </a:fld>
            <a:endParaRPr lang="en-US" altLang="zh-CN" smtClean="0"/>
          </a:p>
        </p:txBody>
      </p:sp>
      <p:sp>
        <p:nvSpPr>
          <p:cNvPr id="662530" name="Rectangle 2"/>
          <p:cNvSpPr>
            <a:spLocks noGrp="1" noRot="1" noChangeArrowheads="1"/>
          </p:cNvSpPr>
          <p:nvPr>
            <p:ph type="title"/>
          </p:nvPr>
        </p:nvSpPr>
        <p:spPr>
          <a:xfrm>
            <a:off x="457200" y="635000"/>
            <a:ext cx="8229600"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§2-1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对准和调焦技术</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光电调焦</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p>
        </p:txBody>
      </p:sp>
      <p:sp>
        <p:nvSpPr>
          <p:cNvPr id="16390"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6391"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6392"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6393"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6394" name="Rectangle 8"/>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16395"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6396" name="Rectangle 10"/>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16397" name="Rectangle 11"/>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16398" name="Rectangle 12"/>
          <p:cNvSpPr>
            <a:spLocks noChangeArrowheads="1"/>
          </p:cNvSpPr>
          <p:nvPr/>
        </p:nvSpPr>
        <p:spPr bwMode="auto">
          <a:xfrm>
            <a:off x="0" y="3162300"/>
            <a:ext cx="9144000" cy="0"/>
          </a:xfrm>
          <a:prstGeom prst="rect">
            <a:avLst/>
          </a:prstGeom>
          <a:noFill/>
          <a:ln w="9525">
            <a:noFill/>
            <a:miter lim="800000"/>
            <a:headEnd/>
            <a:tailEnd/>
          </a:ln>
        </p:spPr>
        <p:txBody>
          <a:bodyPr wrap="none" anchor="ctr">
            <a:spAutoFit/>
          </a:bodyPr>
          <a:lstStyle/>
          <a:p>
            <a:endParaRPr lang="zh-CN" altLang="en-US"/>
          </a:p>
        </p:txBody>
      </p:sp>
      <p:sp>
        <p:nvSpPr>
          <p:cNvPr id="16399"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16400" name="Rectangle 14"/>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16401" name="Rectangle 1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pic>
        <p:nvPicPr>
          <p:cNvPr id="22" name="Picture 70"/>
          <p:cNvPicPr>
            <a:picLocks noChangeAspect="1" noChangeArrowheads="1"/>
          </p:cNvPicPr>
          <p:nvPr/>
        </p:nvPicPr>
        <p:blipFill>
          <a:blip r:embed="rId3"/>
          <a:srcRect/>
          <a:stretch>
            <a:fillRect/>
          </a:stretch>
        </p:blipFill>
        <p:spPr bwMode="auto">
          <a:xfrm>
            <a:off x="4302125" y="1433513"/>
            <a:ext cx="2346325" cy="2297112"/>
          </a:xfrm>
          <a:prstGeom prst="rect">
            <a:avLst/>
          </a:prstGeom>
          <a:noFill/>
          <a:ln w="9525">
            <a:noFill/>
            <a:miter lim="800000"/>
            <a:headEnd/>
            <a:tailEnd/>
          </a:ln>
        </p:spPr>
      </p:pic>
      <p:pic>
        <p:nvPicPr>
          <p:cNvPr id="23" name="Picture 71" descr="db"/>
          <p:cNvPicPr>
            <a:picLocks noChangeAspect="1" noChangeArrowheads="1"/>
          </p:cNvPicPr>
          <p:nvPr/>
        </p:nvPicPr>
        <p:blipFill>
          <a:blip r:embed="rId4"/>
          <a:srcRect l="9024" r="51471" b="5151"/>
          <a:stretch>
            <a:fillRect/>
          </a:stretch>
        </p:blipFill>
        <p:spPr bwMode="auto">
          <a:xfrm>
            <a:off x="6727825" y="1651000"/>
            <a:ext cx="2271713" cy="1930400"/>
          </a:xfrm>
          <a:prstGeom prst="rect">
            <a:avLst/>
          </a:prstGeom>
          <a:noFill/>
          <a:ln w="9525">
            <a:noFill/>
            <a:miter lim="800000"/>
            <a:headEnd/>
            <a:tailEnd/>
          </a:ln>
        </p:spPr>
      </p:pic>
      <p:pic>
        <p:nvPicPr>
          <p:cNvPr id="16404" name="Picture 7" descr="dbzj"/>
          <p:cNvPicPr>
            <a:picLocks noChangeAspect="1" noChangeArrowheads="1"/>
          </p:cNvPicPr>
          <p:nvPr/>
        </p:nvPicPr>
        <p:blipFill>
          <a:blip r:embed="rId5"/>
          <a:srcRect l="9766" t="6119" r="48529" b="5112"/>
          <a:stretch>
            <a:fillRect/>
          </a:stretch>
        </p:blipFill>
        <p:spPr bwMode="auto">
          <a:xfrm>
            <a:off x="5375275" y="3917950"/>
            <a:ext cx="2990850" cy="2301875"/>
          </a:xfrm>
          <a:prstGeom prst="rect">
            <a:avLst/>
          </a:prstGeom>
          <a:noFill/>
          <a:ln w="9525">
            <a:noFill/>
            <a:miter lim="800000"/>
            <a:headEnd/>
            <a:tailEnd/>
          </a:ln>
        </p:spPr>
      </p:pic>
      <p:sp>
        <p:nvSpPr>
          <p:cNvPr id="25" name="Rectangle 3"/>
          <p:cNvSpPr txBox="1">
            <a:spLocks noRot="1" noChangeArrowheads="1"/>
          </p:cNvSpPr>
          <p:nvPr/>
        </p:nvSpPr>
        <p:spPr bwMode="auto">
          <a:xfrm>
            <a:off x="390525" y="5133975"/>
            <a:ext cx="4314825" cy="1162050"/>
          </a:xfrm>
          <a:prstGeom prst="rect">
            <a:avLst/>
          </a:prstGeom>
          <a:noFill/>
          <a:ln w="9525">
            <a:noFill/>
            <a:miter lim="800000"/>
            <a:headEnd/>
            <a:tailEnd/>
          </a:ln>
          <a:effectLst/>
        </p:spPr>
        <p:txBody>
          <a:bodyPr/>
          <a:lstStyle/>
          <a:p>
            <a:pPr marL="342900" indent="-342900" eaLnBrk="0" hangingPunct="0">
              <a:lnSpc>
                <a:spcPct val="110000"/>
              </a:lnSpc>
              <a:spcBef>
                <a:spcPct val="20000"/>
              </a:spcBef>
              <a:buClr>
                <a:schemeClr val="hlink"/>
              </a:buClr>
              <a:buFont typeface="Wingdings" pitchFamily="2" charset="2"/>
              <a:buChar char="§"/>
              <a:defRPr/>
            </a:pPr>
            <a:r>
              <a:rPr lang="zh-CN" altLang="en-US" sz="1600" b="1" kern="0" dirty="0">
                <a:effectLst>
                  <a:outerShdw blurRad="38100" dist="38100" dir="2700000" algn="tl">
                    <a:srgbClr val="C0C0C0"/>
                  </a:outerShdw>
                </a:effectLst>
                <a:latin typeface="Times New Roman" pitchFamily="18" charset="0"/>
                <a:ea typeface="黑体" pitchFamily="2" charset="-122"/>
              </a:rPr>
              <a:t>例：短波红外无热化效果评估设</a:t>
            </a:r>
            <a:r>
              <a:rPr lang="zh-CN" altLang="en-US" sz="1600" b="1" kern="0" dirty="0">
                <a:effectLst>
                  <a:outerShdw blurRad="38100" dist="38100" dir="2700000" algn="tl">
                    <a:srgbClr val="000000">
                      <a:alpha val="43137"/>
                    </a:srgbClr>
                  </a:outerShdw>
                </a:effectLst>
                <a:latin typeface="Times New Roman" pitchFamily="18" charset="0"/>
                <a:ea typeface="黑体" pitchFamily="2" charset="-122"/>
              </a:rPr>
              <a:t>备中的定</a:t>
            </a:r>
            <a:endParaRPr lang="en-US" altLang="zh-CN" sz="1600" b="1" kern="0" dirty="0">
              <a:effectLst>
                <a:outerShdw blurRad="38100" dist="38100" dir="2700000" algn="tl">
                  <a:srgbClr val="000000">
                    <a:alpha val="43137"/>
                  </a:srgbClr>
                </a:outerShdw>
              </a:effectLst>
              <a:latin typeface="Times New Roman" pitchFamily="18" charset="0"/>
              <a:ea typeface="黑体" pitchFamily="2" charset="-122"/>
            </a:endParaRPr>
          </a:p>
          <a:p>
            <a:pPr marL="342900" indent="-342900" eaLnBrk="0" hangingPunct="0">
              <a:lnSpc>
                <a:spcPct val="110000"/>
              </a:lnSpc>
              <a:spcBef>
                <a:spcPct val="20000"/>
              </a:spcBef>
              <a:buClr>
                <a:schemeClr val="hlink"/>
              </a:buClr>
              <a:defRPr/>
            </a:pPr>
            <a:r>
              <a:rPr lang="en-US" altLang="zh-CN" sz="1600" b="1" kern="0" dirty="0">
                <a:effectLst>
                  <a:outerShdw blurRad="38100" dist="38100" dir="2700000" algn="tl">
                    <a:srgbClr val="000000">
                      <a:alpha val="43137"/>
                    </a:srgbClr>
                  </a:outerShdw>
                </a:effectLst>
                <a:latin typeface="Times New Roman" pitchFamily="18" charset="0"/>
                <a:ea typeface="黑体" pitchFamily="2" charset="-122"/>
              </a:rPr>
              <a:t>               </a:t>
            </a:r>
            <a:r>
              <a:rPr lang="zh-CN" altLang="en-US" sz="1600" b="1" kern="0" dirty="0">
                <a:effectLst>
                  <a:outerShdw blurRad="38100" dist="38100" dir="2700000" algn="tl">
                    <a:srgbClr val="000000">
                      <a:alpha val="43137"/>
                    </a:srgbClr>
                  </a:outerShdw>
                </a:effectLst>
                <a:latin typeface="Times New Roman" pitchFamily="18" charset="0"/>
                <a:ea typeface="黑体" pitchFamily="2" charset="-122"/>
              </a:rPr>
              <a:t>焦算法（</a:t>
            </a:r>
            <a:r>
              <a:rPr lang="zh-CN" altLang="en-US" sz="1600" b="1" dirty="0">
                <a:effectLst>
                  <a:outerShdw blurRad="38100" dist="38100" dir="2700000" algn="tl">
                    <a:srgbClr val="000000">
                      <a:alpha val="43137"/>
                    </a:srgbClr>
                  </a:outerShdw>
                </a:effectLst>
                <a:latin typeface="Times New Roman" pitchFamily="18" charset="0"/>
                <a:ea typeface="黑体" pitchFamily="2" charset="-122"/>
              </a:rPr>
              <a:t> －</a:t>
            </a:r>
            <a:r>
              <a:rPr lang="en-US" altLang="zh-CN" sz="1600" b="1" dirty="0">
                <a:effectLst>
                  <a:outerShdw blurRad="38100" dist="38100" dir="2700000" algn="tl">
                    <a:srgbClr val="000000">
                      <a:alpha val="43137"/>
                    </a:srgbClr>
                  </a:outerShdw>
                </a:effectLst>
                <a:latin typeface="Times New Roman" pitchFamily="18" charset="0"/>
                <a:ea typeface="黑体" pitchFamily="2" charset="-122"/>
              </a:rPr>
              <a:t>50℃</a:t>
            </a:r>
            <a:r>
              <a:rPr lang="zh-CN" altLang="en-US" sz="1600" b="1" dirty="0">
                <a:effectLst>
                  <a:outerShdw blurRad="38100" dist="38100" dir="2700000" algn="tl">
                    <a:srgbClr val="000000">
                      <a:alpha val="43137"/>
                    </a:srgbClr>
                  </a:outerShdw>
                </a:effectLst>
                <a:latin typeface="Times New Roman" pitchFamily="18" charset="0"/>
                <a:ea typeface="黑体" pitchFamily="2" charset="-122"/>
              </a:rPr>
              <a:t>～</a:t>
            </a:r>
            <a:r>
              <a:rPr lang="en-US" altLang="zh-CN" sz="1600" b="1" dirty="0">
                <a:effectLst>
                  <a:outerShdw blurRad="38100" dist="38100" dir="2700000" algn="tl">
                    <a:srgbClr val="000000">
                      <a:alpha val="43137"/>
                    </a:srgbClr>
                  </a:outerShdw>
                </a:effectLst>
                <a:latin typeface="Times New Roman" pitchFamily="18" charset="0"/>
                <a:ea typeface="黑体" pitchFamily="2" charset="-122"/>
              </a:rPr>
              <a:t>+75℃ </a:t>
            </a:r>
            <a:r>
              <a:rPr lang="zh-CN" altLang="en-US" sz="1600" b="1" kern="0" dirty="0">
                <a:effectLst>
                  <a:outerShdw blurRad="38100" dist="38100" dir="2700000" algn="tl">
                    <a:srgbClr val="000000">
                      <a:alpha val="43137"/>
                    </a:srgbClr>
                  </a:outerShdw>
                </a:effectLst>
                <a:latin typeface="Times New Roman" pitchFamily="18" charset="0"/>
                <a:ea typeface="黑体" pitchFamily="2" charset="-122"/>
              </a:rPr>
              <a:t>）</a:t>
            </a:r>
          </a:p>
          <a:p>
            <a:pPr marL="342900" indent="-342900" eaLnBrk="0" hangingPunct="0">
              <a:lnSpc>
                <a:spcPct val="110000"/>
              </a:lnSpc>
              <a:spcBef>
                <a:spcPct val="20000"/>
              </a:spcBef>
              <a:buClr>
                <a:schemeClr val="hlink"/>
              </a:buClr>
              <a:buFont typeface="Wingdings" pitchFamily="2" charset="2"/>
              <a:buChar char="§"/>
              <a:defRPr/>
            </a:pPr>
            <a:endParaRPr lang="zh-CN" altLang="en-US" sz="1600" b="1" kern="0" dirty="0">
              <a:effectLst>
                <a:outerShdw blurRad="38100" dist="38100" dir="2700000" algn="tl">
                  <a:srgbClr val="C0C0C0"/>
                </a:outerShdw>
              </a:effectLst>
              <a:latin typeface="Times New Roman" pitchFamily="18" charset="0"/>
              <a:ea typeface="黑体" pitchFamily="2" charset="-122"/>
            </a:endParaRPr>
          </a:p>
        </p:txBody>
      </p:sp>
      <p:graphicFrame>
        <p:nvGraphicFramePr>
          <p:cNvPr id="16386" name="Object 20"/>
          <p:cNvGraphicFramePr>
            <a:graphicFrameLocks noChangeAspect="1"/>
          </p:cNvGraphicFramePr>
          <p:nvPr/>
        </p:nvGraphicFramePr>
        <p:xfrm>
          <a:off x="157163" y="2468563"/>
          <a:ext cx="4183062" cy="2122487"/>
        </p:xfrm>
        <a:graphic>
          <a:graphicData uri="http://schemas.openxmlformats.org/presentationml/2006/ole">
            <p:oleObj spid="_x0000_s16386" name="AutoCAD Drawing" r:id="rId6" imgW="311696417" imgH="158677292" progId="AutoCAD.Drawing.17">
              <p:embed/>
            </p:oleObj>
          </a:graphicData>
        </a:graphic>
      </p:graphicFrame>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
          <p:cNvSpPr>
            <a:spLocks noGrp="1"/>
          </p:cNvSpPr>
          <p:nvPr>
            <p:ph type="dt" sz="quarter" idx="10"/>
          </p:nvPr>
        </p:nvSpPr>
        <p:spPr>
          <a:noFill/>
        </p:spPr>
        <p:txBody>
          <a:bodyPr/>
          <a:lstStyle/>
          <a:p>
            <a:fld id="{645A6FF2-BAD2-42A0-B200-C51898B2D250}" type="datetime1">
              <a:rPr lang="zh-CN" altLang="en-US" smtClean="0"/>
              <a:pPr/>
              <a:t>2018/2/24</a:t>
            </a:fld>
            <a:endParaRPr lang="en-US" altLang="zh-CN" smtClean="0"/>
          </a:p>
        </p:txBody>
      </p:sp>
      <p:sp>
        <p:nvSpPr>
          <p:cNvPr id="96259" name="灯片编号占位符 5"/>
          <p:cNvSpPr>
            <a:spLocks noGrp="1"/>
          </p:cNvSpPr>
          <p:nvPr>
            <p:ph type="sldNum" sz="quarter" idx="12"/>
          </p:nvPr>
        </p:nvSpPr>
        <p:spPr>
          <a:noFill/>
        </p:spPr>
        <p:txBody>
          <a:bodyPr/>
          <a:lstStyle/>
          <a:p>
            <a:fld id="{B57AFE37-75C8-4DB5-828A-3AAD8D42BF93}" type="slidenum">
              <a:rPr lang="en-US" altLang="zh-CN" smtClean="0"/>
              <a:pPr/>
              <a:t>26</a:t>
            </a:fld>
            <a:endParaRPr lang="en-US" altLang="zh-CN" smtClean="0"/>
          </a:p>
        </p:txBody>
      </p:sp>
      <p:sp>
        <p:nvSpPr>
          <p:cNvPr id="572418" name="Rectangle 2"/>
          <p:cNvSpPr>
            <a:spLocks noGrp="1" noRot="1" noChangeArrowheads="1"/>
          </p:cNvSpPr>
          <p:nvPr>
            <p:ph type="title"/>
          </p:nvPr>
        </p:nvSpPr>
        <p:spPr>
          <a:xfrm>
            <a:off x="958850" y="2520950"/>
            <a:ext cx="7269163" cy="1139825"/>
          </a:xfrm>
        </p:spPr>
        <p:txBody>
          <a:bodyPr/>
          <a:lstStyle/>
          <a:p>
            <a:pPr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endPar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p>
            <a:fld id="{BDE2BD82-B8BA-4758-8776-854427DF8805}" type="datetime1">
              <a:rPr lang="zh-CN" altLang="en-US" smtClean="0"/>
              <a:pPr/>
              <a:t>2018/2/24</a:t>
            </a:fld>
            <a:endParaRPr lang="en-US" altLang="zh-CN" smtClean="0"/>
          </a:p>
        </p:txBody>
      </p:sp>
      <p:sp>
        <p:nvSpPr>
          <p:cNvPr id="97283" name="灯片编号占位符 5"/>
          <p:cNvSpPr>
            <a:spLocks noGrp="1"/>
          </p:cNvSpPr>
          <p:nvPr>
            <p:ph type="sldNum" sz="quarter" idx="12"/>
          </p:nvPr>
        </p:nvSpPr>
        <p:spPr>
          <a:noFill/>
        </p:spPr>
        <p:txBody>
          <a:bodyPr/>
          <a:lstStyle/>
          <a:p>
            <a:fld id="{DE109DE5-F9D3-4519-AC50-992F16E62438}" type="slidenum">
              <a:rPr lang="en-US" altLang="zh-CN" smtClean="0"/>
              <a:pPr/>
              <a:t>27</a:t>
            </a:fld>
            <a:endParaRPr lang="en-US" altLang="zh-CN" smtClean="0"/>
          </a:p>
        </p:txBody>
      </p:sp>
      <p:sp>
        <p:nvSpPr>
          <p:cNvPr id="97284" name="Rectangle 3"/>
          <p:cNvSpPr>
            <a:spLocks noGrp="1" noRot="1" noChangeArrowheads="1"/>
          </p:cNvSpPr>
          <p:nvPr>
            <p:ph type="title"/>
          </p:nvPr>
        </p:nvSpPr>
        <p:spPr bwMode="auto">
          <a:xfrm>
            <a:off x="557213" y="692150"/>
            <a:ext cx="7500937" cy="113982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en-US" altLang="zh-CN" sz="4000" b="1" dirty="0" smtClean="0">
                <a:solidFill>
                  <a:schemeClr val="tx1"/>
                </a:solidFill>
                <a:latin typeface="Times New Roman" pitchFamily="18" charset="0"/>
                <a:ea typeface="黑体" pitchFamily="2" charset="-122"/>
              </a:rPr>
              <a:t>             §2-2  </a:t>
            </a:r>
            <a:r>
              <a:rPr lang="zh-CN" altLang="en-US" sz="4000" b="1" dirty="0" smtClean="0">
                <a:solidFill>
                  <a:schemeClr val="tx1"/>
                </a:solidFill>
                <a:latin typeface="Times New Roman" pitchFamily="18" charset="0"/>
                <a:ea typeface="黑体" pitchFamily="2" charset="-122"/>
              </a:rPr>
              <a:t>焦距的测量</a:t>
            </a:r>
            <a:r>
              <a:rPr lang="zh-CN" altLang="en-US" sz="1200" b="1" dirty="0" smtClean="0">
                <a:solidFill>
                  <a:schemeClr val="tx1"/>
                </a:solidFill>
                <a:latin typeface="Times New Roman" pitchFamily="18" charset="0"/>
                <a:ea typeface="黑体" pitchFamily="2" charset="-122"/>
              </a:rPr>
              <a:t/>
            </a:r>
            <a:br>
              <a:rPr lang="zh-CN" altLang="en-US" sz="1200" b="1" dirty="0" smtClean="0">
                <a:solidFill>
                  <a:schemeClr val="tx1"/>
                </a:solidFill>
                <a:latin typeface="Times New Roman" pitchFamily="18" charset="0"/>
                <a:ea typeface="黑体" pitchFamily="2" charset="-122"/>
              </a:rPr>
            </a:br>
            <a:r>
              <a:rPr lang="zh-CN" altLang="en-US" sz="1200" b="1" dirty="0" smtClean="0">
                <a:solidFill>
                  <a:schemeClr val="tx1"/>
                </a:solidFill>
                <a:latin typeface="Times New Roman" pitchFamily="18" charset="0"/>
                <a:ea typeface="黑体" pitchFamily="2" charset="-122"/>
              </a:rPr>
              <a:t/>
            </a:r>
            <a:br>
              <a:rPr lang="zh-CN" altLang="en-US" sz="1200" b="1" dirty="0" smtClean="0">
                <a:solidFill>
                  <a:schemeClr val="tx1"/>
                </a:solidFill>
                <a:latin typeface="Times New Roman" pitchFamily="18" charset="0"/>
                <a:ea typeface="黑体" pitchFamily="2" charset="-122"/>
              </a:rPr>
            </a:br>
            <a:r>
              <a:rPr lang="en-US" altLang="zh-CN" sz="3200" b="1" dirty="0" smtClean="0">
                <a:solidFill>
                  <a:schemeClr val="tx1"/>
                </a:solidFill>
                <a:latin typeface="Times New Roman" pitchFamily="18" charset="0"/>
                <a:ea typeface="黑体" pitchFamily="2" charset="-122"/>
              </a:rPr>
              <a:t>1.</a:t>
            </a:r>
            <a:r>
              <a:rPr lang="zh-CN" altLang="en-US" sz="3200" b="1" dirty="0" smtClean="0">
                <a:solidFill>
                  <a:schemeClr val="tx1"/>
                </a:solidFill>
                <a:latin typeface="Times New Roman" pitchFamily="18" charset="0"/>
                <a:ea typeface="黑体" pitchFamily="2" charset="-122"/>
              </a:rPr>
              <a:t>概述</a:t>
            </a:r>
          </a:p>
        </p:txBody>
      </p:sp>
      <p:sp>
        <p:nvSpPr>
          <p:cNvPr id="573444" name="Rectangle 4"/>
          <p:cNvSpPr>
            <a:spLocks noGrp="1" noRot="1" noChangeArrowheads="1"/>
          </p:cNvSpPr>
          <p:nvPr>
            <p:ph type="body" idx="1"/>
          </p:nvPr>
        </p:nvSpPr>
        <p:spPr>
          <a:xfrm>
            <a:off x="471488" y="1960563"/>
            <a:ext cx="8229600" cy="908050"/>
          </a:xfrm>
        </p:spPr>
        <p:txBody>
          <a:bodyPr/>
          <a:lstStyle/>
          <a:p>
            <a:pPr eaLnBrk="1" hangingPunct="1">
              <a:defRPr/>
            </a:pPr>
            <a:r>
              <a:rPr lang="zh-CN" altLang="en-US" smtClean="0">
                <a:ea typeface="黑体" pitchFamily="2" charset="-122"/>
              </a:rPr>
              <a:t>关于光具座</a:t>
            </a:r>
          </a:p>
        </p:txBody>
      </p:sp>
      <p:grpSp>
        <p:nvGrpSpPr>
          <p:cNvPr id="97286" name="Group 65"/>
          <p:cNvGrpSpPr>
            <a:grpSpLocks/>
          </p:cNvGrpSpPr>
          <p:nvPr/>
        </p:nvGrpSpPr>
        <p:grpSpPr bwMode="auto">
          <a:xfrm>
            <a:off x="1042988" y="2528888"/>
            <a:ext cx="7246937" cy="4086225"/>
            <a:chOff x="657" y="1593"/>
            <a:chExt cx="4565" cy="2574"/>
          </a:xfrm>
        </p:grpSpPr>
        <p:sp>
          <p:nvSpPr>
            <p:cNvPr id="573442" name="Rectangle 2"/>
            <p:cNvSpPr>
              <a:spLocks noChangeArrowheads="1"/>
            </p:cNvSpPr>
            <p:nvPr/>
          </p:nvSpPr>
          <p:spPr bwMode="auto">
            <a:xfrm>
              <a:off x="657" y="1593"/>
              <a:ext cx="4545" cy="2574"/>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zh-CN" altLang="zh-CN" b="1">
                <a:effectLst>
                  <a:outerShdw blurRad="38100" dist="38100" dir="2700000" algn="tl">
                    <a:srgbClr val="FFFFFF"/>
                  </a:outerShdw>
                </a:effectLst>
              </a:endParaRPr>
            </a:p>
          </p:txBody>
        </p:sp>
        <p:sp>
          <p:nvSpPr>
            <p:cNvPr id="573446" name="Text Box 6"/>
            <p:cNvSpPr txBox="1">
              <a:spLocks noChangeArrowheads="1"/>
            </p:cNvSpPr>
            <p:nvPr/>
          </p:nvSpPr>
          <p:spPr bwMode="auto">
            <a:xfrm>
              <a:off x="929" y="3698"/>
              <a:ext cx="4147" cy="348"/>
            </a:xfrm>
            <a:prstGeom prst="rect">
              <a:avLst/>
            </a:prstGeom>
            <a:noFill/>
            <a:ln w="9525">
              <a:noFill/>
              <a:miter lim="800000"/>
              <a:headEnd/>
              <a:tailEnd/>
            </a:ln>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光具座的结构示意图</a:t>
              </a:r>
              <a:endParaRPr lang="zh-CN" altLang="en-US" sz="2000" b="1">
                <a:effectLst>
                  <a:outerShdw blurRad="38100" dist="38100" dir="2700000" algn="tl">
                    <a:srgbClr val="C0C0C0"/>
                  </a:outerShdw>
                </a:effectLst>
              </a:endParaRPr>
            </a:p>
          </p:txBody>
        </p:sp>
        <p:sp>
          <p:nvSpPr>
            <p:cNvPr id="97289" name="Rectangle 7"/>
            <p:cNvSpPr>
              <a:spLocks noChangeArrowheads="1"/>
            </p:cNvSpPr>
            <p:nvPr/>
          </p:nvSpPr>
          <p:spPr bwMode="auto">
            <a:xfrm>
              <a:off x="896" y="3229"/>
              <a:ext cx="4239" cy="292"/>
            </a:xfrm>
            <a:prstGeom prst="rect">
              <a:avLst/>
            </a:prstGeom>
            <a:noFill/>
            <a:ln w="9525">
              <a:solidFill>
                <a:srgbClr val="000000"/>
              </a:solidFill>
              <a:miter lim="800000"/>
              <a:headEnd/>
              <a:tailEnd/>
            </a:ln>
          </p:spPr>
          <p:txBody>
            <a:bodyPr/>
            <a:lstStyle/>
            <a:p>
              <a:endParaRPr lang="zh-CN" altLang="en-US"/>
            </a:p>
          </p:txBody>
        </p:sp>
        <p:sp>
          <p:nvSpPr>
            <p:cNvPr id="97290" name="Rectangle 8"/>
            <p:cNvSpPr>
              <a:spLocks noChangeArrowheads="1"/>
            </p:cNvSpPr>
            <p:nvPr/>
          </p:nvSpPr>
          <p:spPr bwMode="auto">
            <a:xfrm>
              <a:off x="3898" y="3062"/>
              <a:ext cx="737" cy="362"/>
            </a:xfrm>
            <a:prstGeom prst="rect">
              <a:avLst/>
            </a:prstGeom>
            <a:noFill/>
            <a:ln w="9525">
              <a:solidFill>
                <a:srgbClr val="000000"/>
              </a:solidFill>
              <a:miter lim="800000"/>
              <a:headEnd/>
              <a:tailEnd/>
            </a:ln>
          </p:spPr>
          <p:txBody>
            <a:bodyPr/>
            <a:lstStyle/>
            <a:p>
              <a:endParaRPr lang="zh-CN" altLang="en-US"/>
            </a:p>
          </p:txBody>
        </p:sp>
        <p:sp>
          <p:nvSpPr>
            <p:cNvPr id="97291" name="Oval 9"/>
            <p:cNvSpPr>
              <a:spLocks noChangeArrowheads="1"/>
            </p:cNvSpPr>
            <p:nvPr/>
          </p:nvSpPr>
          <p:spPr bwMode="auto">
            <a:xfrm>
              <a:off x="4178" y="3156"/>
              <a:ext cx="180" cy="181"/>
            </a:xfrm>
            <a:prstGeom prst="ellipse">
              <a:avLst/>
            </a:prstGeom>
            <a:noFill/>
            <a:ln w="9525">
              <a:solidFill>
                <a:srgbClr val="000000"/>
              </a:solidFill>
              <a:round/>
              <a:headEnd/>
              <a:tailEnd/>
            </a:ln>
          </p:spPr>
          <p:txBody>
            <a:bodyPr/>
            <a:lstStyle/>
            <a:p>
              <a:endParaRPr lang="zh-CN" altLang="en-US"/>
            </a:p>
          </p:txBody>
        </p:sp>
        <p:sp>
          <p:nvSpPr>
            <p:cNvPr id="97292" name="Rectangle 10"/>
            <p:cNvSpPr>
              <a:spLocks noChangeArrowheads="1"/>
            </p:cNvSpPr>
            <p:nvPr/>
          </p:nvSpPr>
          <p:spPr bwMode="auto">
            <a:xfrm>
              <a:off x="4357" y="2896"/>
              <a:ext cx="125" cy="166"/>
            </a:xfrm>
            <a:prstGeom prst="rect">
              <a:avLst/>
            </a:prstGeom>
            <a:noFill/>
            <a:ln w="9525">
              <a:solidFill>
                <a:srgbClr val="000000"/>
              </a:solidFill>
              <a:miter lim="800000"/>
              <a:headEnd/>
              <a:tailEnd/>
            </a:ln>
          </p:spPr>
          <p:txBody>
            <a:bodyPr/>
            <a:lstStyle/>
            <a:p>
              <a:endParaRPr lang="zh-CN" altLang="en-US"/>
            </a:p>
          </p:txBody>
        </p:sp>
        <p:sp>
          <p:nvSpPr>
            <p:cNvPr id="97293" name="Rectangle 11"/>
            <p:cNvSpPr>
              <a:spLocks noChangeArrowheads="1"/>
            </p:cNvSpPr>
            <p:nvPr/>
          </p:nvSpPr>
          <p:spPr bwMode="auto">
            <a:xfrm>
              <a:off x="3731" y="2701"/>
              <a:ext cx="1154" cy="195"/>
            </a:xfrm>
            <a:prstGeom prst="rect">
              <a:avLst/>
            </a:prstGeom>
            <a:noFill/>
            <a:ln w="9525">
              <a:solidFill>
                <a:srgbClr val="000000"/>
              </a:solidFill>
              <a:miter lim="800000"/>
              <a:headEnd/>
              <a:tailEnd/>
            </a:ln>
          </p:spPr>
          <p:txBody>
            <a:bodyPr/>
            <a:lstStyle/>
            <a:p>
              <a:endParaRPr lang="zh-CN" altLang="en-US"/>
            </a:p>
          </p:txBody>
        </p:sp>
        <p:sp>
          <p:nvSpPr>
            <p:cNvPr id="97294" name="Rectangle 12"/>
            <p:cNvSpPr>
              <a:spLocks noChangeArrowheads="1"/>
            </p:cNvSpPr>
            <p:nvPr/>
          </p:nvSpPr>
          <p:spPr bwMode="auto">
            <a:xfrm flipV="1">
              <a:off x="3884" y="2896"/>
              <a:ext cx="237" cy="69"/>
            </a:xfrm>
            <a:prstGeom prst="rect">
              <a:avLst/>
            </a:prstGeom>
            <a:noFill/>
            <a:ln w="9525">
              <a:solidFill>
                <a:srgbClr val="000000"/>
              </a:solidFill>
              <a:miter lim="800000"/>
              <a:headEnd/>
              <a:tailEnd/>
            </a:ln>
          </p:spPr>
          <p:txBody>
            <a:bodyPr/>
            <a:lstStyle/>
            <a:p>
              <a:endParaRPr lang="zh-CN" altLang="en-US"/>
            </a:p>
          </p:txBody>
        </p:sp>
        <p:sp>
          <p:nvSpPr>
            <p:cNvPr id="97295" name="Rectangle 13"/>
            <p:cNvSpPr>
              <a:spLocks noChangeArrowheads="1"/>
            </p:cNvSpPr>
            <p:nvPr/>
          </p:nvSpPr>
          <p:spPr bwMode="auto">
            <a:xfrm>
              <a:off x="4357" y="2632"/>
              <a:ext cx="278" cy="69"/>
            </a:xfrm>
            <a:prstGeom prst="rect">
              <a:avLst/>
            </a:prstGeom>
            <a:noFill/>
            <a:ln w="9525">
              <a:solidFill>
                <a:srgbClr val="000000"/>
              </a:solidFill>
              <a:miter lim="800000"/>
              <a:headEnd/>
              <a:tailEnd/>
            </a:ln>
          </p:spPr>
          <p:txBody>
            <a:bodyPr/>
            <a:lstStyle/>
            <a:p>
              <a:endParaRPr lang="zh-CN" altLang="en-US"/>
            </a:p>
          </p:txBody>
        </p:sp>
        <p:sp>
          <p:nvSpPr>
            <p:cNvPr id="97296" name="Rectangle 14"/>
            <p:cNvSpPr>
              <a:spLocks noChangeArrowheads="1"/>
            </p:cNvSpPr>
            <p:nvPr/>
          </p:nvSpPr>
          <p:spPr bwMode="auto">
            <a:xfrm>
              <a:off x="4287" y="2256"/>
              <a:ext cx="403" cy="306"/>
            </a:xfrm>
            <a:prstGeom prst="rect">
              <a:avLst/>
            </a:prstGeom>
            <a:noFill/>
            <a:ln w="9525">
              <a:solidFill>
                <a:srgbClr val="000000"/>
              </a:solidFill>
              <a:miter lim="800000"/>
              <a:headEnd/>
              <a:tailEnd/>
            </a:ln>
          </p:spPr>
          <p:txBody>
            <a:bodyPr/>
            <a:lstStyle/>
            <a:p>
              <a:endParaRPr lang="zh-CN" altLang="en-US"/>
            </a:p>
          </p:txBody>
        </p:sp>
        <p:sp>
          <p:nvSpPr>
            <p:cNvPr id="97297" name="Line 15"/>
            <p:cNvSpPr>
              <a:spLocks noChangeShapeType="1"/>
            </p:cNvSpPr>
            <p:nvPr/>
          </p:nvSpPr>
          <p:spPr bwMode="auto">
            <a:xfrm>
              <a:off x="4287" y="2562"/>
              <a:ext cx="70" cy="83"/>
            </a:xfrm>
            <a:prstGeom prst="line">
              <a:avLst/>
            </a:prstGeom>
            <a:noFill/>
            <a:ln w="9525">
              <a:solidFill>
                <a:srgbClr val="000000"/>
              </a:solidFill>
              <a:round/>
              <a:headEnd/>
              <a:tailEnd/>
            </a:ln>
          </p:spPr>
          <p:txBody>
            <a:bodyPr/>
            <a:lstStyle/>
            <a:p>
              <a:endParaRPr lang="zh-CN" altLang="en-US"/>
            </a:p>
          </p:txBody>
        </p:sp>
        <p:sp>
          <p:nvSpPr>
            <p:cNvPr id="97298" name="Line 16"/>
            <p:cNvSpPr>
              <a:spLocks noChangeShapeType="1"/>
            </p:cNvSpPr>
            <p:nvPr/>
          </p:nvSpPr>
          <p:spPr bwMode="auto">
            <a:xfrm flipH="1">
              <a:off x="4635" y="2562"/>
              <a:ext cx="55" cy="70"/>
            </a:xfrm>
            <a:prstGeom prst="line">
              <a:avLst/>
            </a:prstGeom>
            <a:noFill/>
            <a:ln w="9525">
              <a:solidFill>
                <a:srgbClr val="000000"/>
              </a:solidFill>
              <a:round/>
              <a:headEnd/>
              <a:tailEnd/>
            </a:ln>
          </p:spPr>
          <p:txBody>
            <a:bodyPr/>
            <a:lstStyle/>
            <a:p>
              <a:endParaRPr lang="zh-CN" altLang="en-US"/>
            </a:p>
          </p:txBody>
        </p:sp>
        <p:sp>
          <p:nvSpPr>
            <p:cNvPr id="97299" name="Rectangle 17"/>
            <p:cNvSpPr>
              <a:spLocks noChangeArrowheads="1"/>
            </p:cNvSpPr>
            <p:nvPr/>
          </p:nvSpPr>
          <p:spPr bwMode="auto">
            <a:xfrm>
              <a:off x="3968" y="2284"/>
              <a:ext cx="319" cy="222"/>
            </a:xfrm>
            <a:prstGeom prst="rect">
              <a:avLst/>
            </a:prstGeom>
            <a:noFill/>
            <a:ln w="9525">
              <a:solidFill>
                <a:srgbClr val="000000"/>
              </a:solidFill>
              <a:miter lim="800000"/>
              <a:headEnd/>
              <a:tailEnd/>
            </a:ln>
          </p:spPr>
          <p:txBody>
            <a:bodyPr/>
            <a:lstStyle/>
            <a:p>
              <a:endParaRPr lang="zh-CN" altLang="en-US"/>
            </a:p>
          </p:txBody>
        </p:sp>
        <p:sp>
          <p:nvSpPr>
            <p:cNvPr id="97300" name="Rectangle 18"/>
            <p:cNvSpPr>
              <a:spLocks noChangeArrowheads="1"/>
            </p:cNvSpPr>
            <p:nvPr/>
          </p:nvSpPr>
          <p:spPr bwMode="auto">
            <a:xfrm>
              <a:off x="3634" y="2326"/>
              <a:ext cx="334" cy="125"/>
            </a:xfrm>
            <a:prstGeom prst="rect">
              <a:avLst/>
            </a:prstGeom>
            <a:noFill/>
            <a:ln w="9525">
              <a:solidFill>
                <a:srgbClr val="000000"/>
              </a:solidFill>
              <a:miter lim="800000"/>
              <a:headEnd/>
              <a:tailEnd/>
            </a:ln>
          </p:spPr>
          <p:txBody>
            <a:bodyPr/>
            <a:lstStyle/>
            <a:p>
              <a:endParaRPr lang="zh-CN" altLang="en-US"/>
            </a:p>
          </p:txBody>
        </p:sp>
        <p:sp>
          <p:nvSpPr>
            <p:cNvPr id="97301" name="Rectangle 19"/>
            <p:cNvSpPr>
              <a:spLocks noChangeArrowheads="1"/>
            </p:cNvSpPr>
            <p:nvPr/>
          </p:nvSpPr>
          <p:spPr bwMode="auto">
            <a:xfrm>
              <a:off x="4690" y="2298"/>
              <a:ext cx="98" cy="208"/>
            </a:xfrm>
            <a:prstGeom prst="rect">
              <a:avLst/>
            </a:prstGeom>
            <a:noFill/>
            <a:ln w="9525">
              <a:solidFill>
                <a:srgbClr val="000000"/>
              </a:solidFill>
              <a:miter lim="800000"/>
              <a:headEnd/>
              <a:tailEnd/>
            </a:ln>
          </p:spPr>
          <p:txBody>
            <a:bodyPr/>
            <a:lstStyle/>
            <a:p>
              <a:endParaRPr lang="zh-CN" altLang="en-US"/>
            </a:p>
          </p:txBody>
        </p:sp>
        <p:sp>
          <p:nvSpPr>
            <p:cNvPr id="97302" name="Rectangle 20"/>
            <p:cNvSpPr>
              <a:spLocks noChangeArrowheads="1"/>
            </p:cNvSpPr>
            <p:nvPr/>
          </p:nvSpPr>
          <p:spPr bwMode="auto">
            <a:xfrm>
              <a:off x="4788" y="2256"/>
              <a:ext cx="83" cy="292"/>
            </a:xfrm>
            <a:prstGeom prst="rect">
              <a:avLst/>
            </a:prstGeom>
            <a:noFill/>
            <a:ln w="9525">
              <a:solidFill>
                <a:srgbClr val="000000"/>
              </a:solidFill>
              <a:miter lim="800000"/>
              <a:headEnd/>
              <a:tailEnd/>
            </a:ln>
          </p:spPr>
          <p:txBody>
            <a:bodyPr/>
            <a:lstStyle/>
            <a:p>
              <a:endParaRPr lang="zh-CN" altLang="en-US"/>
            </a:p>
          </p:txBody>
        </p:sp>
        <p:sp>
          <p:nvSpPr>
            <p:cNvPr id="97303" name="Rectangle 21"/>
            <p:cNvSpPr>
              <a:spLocks noChangeArrowheads="1"/>
            </p:cNvSpPr>
            <p:nvPr/>
          </p:nvSpPr>
          <p:spPr bwMode="auto">
            <a:xfrm>
              <a:off x="4871" y="2326"/>
              <a:ext cx="97" cy="153"/>
            </a:xfrm>
            <a:prstGeom prst="rect">
              <a:avLst/>
            </a:prstGeom>
            <a:noFill/>
            <a:ln w="9525">
              <a:solidFill>
                <a:srgbClr val="000000"/>
              </a:solidFill>
              <a:miter lim="800000"/>
              <a:headEnd/>
              <a:tailEnd/>
            </a:ln>
          </p:spPr>
          <p:txBody>
            <a:bodyPr/>
            <a:lstStyle/>
            <a:p>
              <a:endParaRPr lang="zh-CN" altLang="en-US"/>
            </a:p>
          </p:txBody>
        </p:sp>
        <p:sp>
          <p:nvSpPr>
            <p:cNvPr id="97304" name="Line 22"/>
            <p:cNvSpPr>
              <a:spLocks noChangeShapeType="1"/>
            </p:cNvSpPr>
            <p:nvPr/>
          </p:nvSpPr>
          <p:spPr bwMode="auto">
            <a:xfrm>
              <a:off x="3731" y="2812"/>
              <a:ext cx="1154" cy="0"/>
            </a:xfrm>
            <a:prstGeom prst="line">
              <a:avLst/>
            </a:prstGeom>
            <a:noFill/>
            <a:ln w="9525">
              <a:solidFill>
                <a:srgbClr val="000000"/>
              </a:solidFill>
              <a:round/>
              <a:headEnd/>
              <a:tailEnd/>
            </a:ln>
          </p:spPr>
          <p:txBody>
            <a:bodyPr/>
            <a:lstStyle/>
            <a:p>
              <a:endParaRPr lang="zh-CN" altLang="en-US"/>
            </a:p>
          </p:txBody>
        </p:sp>
        <p:grpSp>
          <p:nvGrpSpPr>
            <p:cNvPr id="97305" name="Group 23"/>
            <p:cNvGrpSpPr>
              <a:grpSpLocks/>
            </p:cNvGrpSpPr>
            <p:nvPr/>
          </p:nvGrpSpPr>
          <p:grpSpPr bwMode="auto">
            <a:xfrm>
              <a:off x="2912" y="2117"/>
              <a:ext cx="430" cy="1307"/>
              <a:chOff x="4594" y="1554"/>
              <a:chExt cx="620" cy="1880"/>
            </a:xfrm>
          </p:grpSpPr>
          <p:sp>
            <p:nvSpPr>
              <p:cNvPr id="97338" name="Rectangle 24"/>
              <p:cNvSpPr>
                <a:spLocks noChangeArrowheads="1"/>
              </p:cNvSpPr>
              <p:nvPr/>
            </p:nvSpPr>
            <p:spPr bwMode="auto">
              <a:xfrm>
                <a:off x="4594" y="2934"/>
                <a:ext cx="620" cy="500"/>
              </a:xfrm>
              <a:prstGeom prst="rect">
                <a:avLst/>
              </a:prstGeom>
              <a:noFill/>
              <a:ln w="9525">
                <a:solidFill>
                  <a:srgbClr val="000000"/>
                </a:solidFill>
                <a:miter lim="800000"/>
                <a:headEnd/>
                <a:tailEnd/>
              </a:ln>
            </p:spPr>
            <p:txBody>
              <a:bodyPr/>
              <a:lstStyle/>
              <a:p>
                <a:endParaRPr lang="zh-CN" altLang="en-US"/>
              </a:p>
            </p:txBody>
          </p:sp>
          <p:sp>
            <p:nvSpPr>
              <p:cNvPr id="97339" name="Line 25"/>
              <p:cNvSpPr>
                <a:spLocks noChangeShapeType="1"/>
              </p:cNvSpPr>
              <p:nvPr/>
            </p:nvSpPr>
            <p:spPr bwMode="auto">
              <a:xfrm>
                <a:off x="4674" y="1554"/>
                <a:ext cx="0" cy="1380"/>
              </a:xfrm>
              <a:prstGeom prst="line">
                <a:avLst/>
              </a:prstGeom>
              <a:noFill/>
              <a:ln w="9525">
                <a:solidFill>
                  <a:srgbClr val="000000"/>
                </a:solidFill>
                <a:round/>
                <a:headEnd/>
                <a:tailEnd/>
              </a:ln>
            </p:spPr>
            <p:txBody>
              <a:bodyPr/>
              <a:lstStyle/>
              <a:p>
                <a:endParaRPr lang="zh-CN" altLang="en-US"/>
              </a:p>
            </p:txBody>
          </p:sp>
          <p:sp>
            <p:nvSpPr>
              <p:cNvPr id="97340" name="Line 26"/>
              <p:cNvSpPr>
                <a:spLocks noChangeShapeType="1"/>
              </p:cNvSpPr>
              <p:nvPr/>
            </p:nvSpPr>
            <p:spPr bwMode="auto">
              <a:xfrm>
                <a:off x="4794" y="1554"/>
                <a:ext cx="0" cy="900"/>
              </a:xfrm>
              <a:prstGeom prst="line">
                <a:avLst/>
              </a:prstGeom>
              <a:noFill/>
              <a:ln w="9525">
                <a:solidFill>
                  <a:srgbClr val="000000"/>
                </a:solidFill>
                <a:round/>
                <a:headEnd/>
                <a:tailEnd/>
              </a:ln>
            </p:spPr>
            <p:txBody>
              <a:bodyPr/>
              <a:lstStyle/>
              <a:p>
                <a:endParaRPr lang="zh-CN" altLang="en-US"/>
              </a:p>
            </p:txBody>
          </p:sp>
          <p:sp>
            <p:nvSpPr>
              <p:cNvPr id="97341" name="Line 27"/>
              <p:cNvSpPr>
                <a:spLocks noChangeShapeType="1"/>
              </p:cNvSpPr>
              <p:nvPr/>
            </p:nvSpPr>
            <p:spPr bwMode="auto">
              <a:xfrm>
                <a:off x="4794" y="2454"/>
                <a:ext cx="300" cy="0"/>
              </a:xfrm>
              <a:prstGeom prst="line">
                <a:avLst/>
              </a:prstGeom>
              <a:noFill/>
              <a:ln w="9525">
                <a:solidFill>
                  <a:srgbClr val="000000"/>
                </a:solidFill>
                <a:round/>
                <a:headEnd/>
                <a:tailEnd/>
              </a:ln>
            </p:spPr>
            <p:txBody>
              <a:bodyPr/>
              <a:lstStyle/>
              <a:p>
                <a:endParaRPr lang="zh-CN" altLang="en-US"/>
              </a:p>
            </p:txBody>
          </p:sp>
          <p:sp>
            <p:nvSpPr>
              <p:cNvPr id="97342" name="Line 28"/>
              <p:cNvSpPr>
                <a:spLocks noChangeShapeType="1"/>
              </p:cNvSpPr>
              <p:nvPr/>
            </p:nvSpPr>
            <p:spPr bwMode="auto">
              <a:xfrm>
                <a:off x="5094" y="2454"/>
                <a:ext cx="0" cy="480"/>
              </a:xfrm>
              <a:prstGeom prst="line">
                <a:avLst/>
              </a:prstGeom>
              <a:noFill/>
              <a:ln w="9525">
                <a:solidFill>
                  <a:srgbClr val="000000"/>
                </a:solidFill>
                <a:round/>
                <a:headEnd/>
                <a:tailEnd/>
              </a:ln>
            </p:spPr>
            <p:txBody>
              <a:bodyPr/>
              <a:lstStyle/>
              <a:p>
                <a:endParaRPr lang="zh-CN" altLang="en-US"/>
              </a:p>
            </p:txBody>
          </p:sp>
          <p:sp>
            <p:nvSpPr>
              <p:cNvPr id="97343" name="Line 29"/>
              <p:cNvSpPr>
                <a:spLocks noChangeShapeType="1"/>
              </p:cNvSpPr>
              <p:nvPr/>
            </p:nvSpPr>
            <p:spPr bwMode="auto">
              <a:xfrm>
                <a:off x="4674" y="1554"/>
                <a:ext cx="120" cy="0"/>
              </a:xfrm>
              <a:prstGeom prst="line">
                <a:avLst/>
              </a:prstGeom>
              <a:noFill/>
              <a:ln w="9525">
                <a:solidFill>
                  <a:srgbClr val="000000"/>
                </a:solidFill>
                <a:round/>
                <a:headEnd/>
                <a:tailEnd/>
              </a:ln>
            </p:spPr>
            <p:txBody>
              <a:bodyPr/>
              <a:lstStyle/>
              <a:p>
                <a:endParaRPr lang="zh-CN" altLang="en-US"/>
              </a:p>
            </p:txBody>
          </p:sp>
          <p:sp>
            <p:nvSpPr>
              <p:cNvPr id="97344" name="Rectangle 30"/>
              <p:cNvSpPr>
                <a:spLocks noChangeArrowheads="1"/>
              </p:cNvSpPr>
              <p:nvPr/>
            </p:nvSpPr>
            <p:spPr bwMode="auto">
              <a:xfrm>
                <a:off x="4794" y="1614"/>
                <a:ext cx="120" cy="640"/>
              </a:xfrm>
              <a:prstGeom prst="rect">
                <a:avLst/>
              </a:prstGeom>
              <a:noFill/>
              <a:ln w="9525">
                <a:solidFill>
                  <a:srgbClr val="000000"/>
                </a:solidFill>
                <a:miter lim="800000"/>
                <a:headEnd/>
                <a:tailEnd/>
              </a:ln>
            </p:spPr>
            <p:txBody>
              <a:bodyPr/>
              <a:lstStyle/>
              <a:p>
                <a:endParaRPr lang="zh-CN" altLang="en-US"/>
              </a:p>
            </p:txBody>
          </p:sp>
          <p:sp>
            <p:nvSpPr>
              <p:cNvPr id="97345" name="Rectangle 31"/>
              <p:cNvSpPr>
                <a:spLocks noChangeArrowheads="1"/>
              </p:cNvSpPr>
              <p:nvPr/>
            </p:nvSpPr>
            <p:spPr bwMode="auto">
              <a:xfrm>
                <a:off x="4914" y="1614"/>
                <a:ext cx="60" cy="640"/>
              </a:xfrm>
              <a:prstGeom prst="rect">
                <a:avLst/>
              </a:prstGeom>
              <a:noFill/>
              <a:ln w="9525">
                <a:solidFill>
                  <a:srgbClr val="000000"/>
                </a:solidFill>
                <a:miter lim="800000"/>
                <a:headEnd/>
                <a:tailEnd/>
              </a:ln>
            </p:spPr>
            <p:txBody>
              <a:bodyPr/>
              <a:lstStyle/>
              <a:p>
                <a:endParaRPr lang="zh-CN" altLang="en-US"/>
              </a:p>
            </p:txBody>
          </p:sp>
        </p:grpSp>
        <p:sp>
          <p:nvSpPr>
            <p:cNvPr id="97306" name="Oval 32"/>
            <p:cNvSpPr>
              <a:spLocks noChangeArrowheads="1"/>
            </p:cNvSpPr>
            <p:nvPr/>
          </p:nvSpPr>
          <p:spPr bwMode="auto">
            <a:xfrm>
              <a:off x="3037" y="3180"/>
              <a:ext cx="166" cy="167"/>
            </a:xfrm>
            <a:prstGeom prst="ellipse">
              <a:avLst/>
            </a:prstGeom>
            <a:noFill/>
            <a:ln w="9525">
              <a:solidFill>
                <a:srgbClr val="000000"/>
              </a:solidFill>
              <a:round/>
              <a:headEnd/>
              <a:tailEnd/>
            </a:ln>
          </p:spPr>
          <p:txBody>
            <a:bodyPr/>
            <a:lstStyle/>
            <a:p>
              <a:endParaRPr lang="zh-CN" altLang="en-US"/>
            </a:p>
          </p:txBody>
        </p:sp>
        <p:sp>
          <p:nvSpPr>
            <p:cNvPr id="97307" name="Oval 33"/>
            <p:cNvSpPr>
              <a:spLocks noChangeArrowheads="1"/>
            </p:cNvSpPr>
            <p:nvPr/>
          </p:nvSpPr>
          <p:spPr bwMode="auto">
            <a:xfrm>
              <a:off x="1591" y="2784"/>
              <a:ext cx="556" cy="376"/>
            </a:xfrm>
            <a:prstGeom prst="ellipse">
              <a:avLst/>
            </a:prstGeom>
            <a:noFill/>
            <a:ln w="9525">
              <a:solidFill>
                <a:srgbClr val="000000"/>
              </a:solidFill>
              <a:round/>
              <a:headEnd/>
              <a:tailEnd/>
            </a:ln>
          </p:spPr>
          <p:txBody>
            <a:bodyPr/>
            <a:lstStyle/>
            <a:p>
              <a:endParaRPr lang="zh-CN" altLang="en-US"/>
            </a:p>
          </p:txBody>
        </p:sp>
        <p:sp>
          <p:nvSpPr>
            <p:cNvPr id="97308" name="Rectangle 34"/>
            <p:cNvSpPr>
              <a:spLocks noChangeArrowheads="1"/>
            </p:cNvSpPr>
            <p:nvPr/>
          </p:nvSpPr>
          <p:spPr bwMode="auto">
            <a:xfrm>
              <a:off x="1480" y="2659"/>
              <a:ext cx="792" cy="334"/>
            </a:xfrm>
            <a:prstGeom prst="rect">
              <a:avLst/>
            </a:prstGeom>
            <a:noFill/>
            <a:ln w="9525">
              <a:noFill/>
              <a:miter lim="800000"/>
              <a:headEnd/>
              <a:tailEnd/>
            </a:ln>
          </p:spPr>
          <p:txBody>
            <a:bodyPr/>
            <a:lstStyle/>
            <a:p>
              <a:endParaRPr lang="zh-CN" altLang="en-US"/>
            </a:p>
          </p:txBody>
        </p:sp>
        <p:sp>
          <p:nvSpPr>
            <p:cNvPr id="97309" name="Line 35"/>
            <p:cNvSpPr>
              <a:spLocks noChangeShapeType="1"/>
            </p:cNvSpPr>
            <p:nvPr/>
          </p:nvSpPr>
          <p:spPr bwMode="auto">
            <a:xfrm flipV="1">
              <a:off x="1591" y="2159"/>
              <a:ext cx="0" cy="834"/>
            </a:xfrm>
            <a:prstGeom prst="line">
              <a:avLst/>
            </a:prstGeom>
            <a:noFill/>
            <a:ln w="9525">
              <a:solidFill>
                <a:srgbClr val="000000"/>
              </a:solidFill>
              <a:round/>
              <a:headEnd/>
              <a:tailEnd/>
            </a:ln>
          </p:spPr>
          <p:txBody>
            <a:bodyPr/>
            <a:lstStyle/>
            <a:p>
              <a:endParaRPr lang="zh-CN" altLang="en-US"/>
            </a:p>
          </p:txBody>
        </p:sp>
        <p:sp>
          <p:nvSpPr>
            <p:cNvPr id="97310" name="Line 36"/>
            <p:cNvSpPr>
              <a:spLocks noChangeShapeType="1"/>
            </p:cNvSpPr>
            <p:nvPr/>
          </p:nvSpPr>
          <p:spPr bwMode="auto">
            <a:xfrm flipV="1">
              <a:off x="2147" y="2173"/>
              <a:ext cx="0" cy="834"/>
            </a:xfrm>
            <a:prstGeom prst="line">
              <a:avLst/>
            </a:prstGeom>
            <a:noFill/>
            <a:ln w="9525">
              <a:solidFill>
                <a:srgbClr val="000000"/>
              </a:solidFill>
              <a:round/>
              <a:headEnd/>
              <a:tailEnd/>
            </a:ln>
          </p:spPr>
          <p:txBody>
            <a:bodyPr/>
            <a:lstStyle/>
            <a:p>
              <a:endParaRPr lang="zh-CN" altLang="en-US"/>
            </a:p>
          </p:txBody>
        </p:sp>
        <p:sp>
          <p:nvSpPr>
            <p:cNvPr id="97311" name="Line 37"/>
            <p:cNvSpPr>
              <a:spLocks noChangeShapeType="1"/>
            </p:cNvSpPr>
            <p:nvPr/>
          </p:nvSpPr>
          <p:spPr bwMode="auto">
            <a:xfrm>
              <a:off x="1508" y="2173"/>
              <a:ext cx="0" cy="903"/>
            </a:xfrm>
            <a:prstGeom prst="line">
              <a:avLst/>
            </a:prstGeom>
            <a:noFill/>
            <a:ln w="9525">
              <a:solidFill>
                <a:srgbClr val="000000"/>
              </a:solidFill>
              <a:round/>
              <a:headEnd/>
              <a:tailEnd/>
            </a:ln>
          </p:spPr>
          <p:txBody>
            <a:bodyPr/>
            <a:lstStyle/>
            <a:p>
              <a:endParaRPr lang="zh-CN" altLang="en-US"/>
            </a:p>
          </p:txBody>
        </p:sp>
        <p:sp>
          <p:nvSpPr>
            <p:cNvPr id="97312" name="Line 38"/>
            <p:cNvSpPr>
              <a:spLocks noChangeShapeType="1"/>
            </p:cNvSpPr>
            <p:nvPr/>
          </p:nvSpPr>
          <p:spPr bwMode="auto">
            <a:xfrm>
              <a:off x="2231" y="2173"/>
              <a:ext cx="0" cy="903"/>
            </a:xfrm>
            <a:prstGeom prst="line">
              <a:avLst/>
            </a:prstGeom>
            <a:noFill/>
            <a:ln w="9525">
              <a:solidFill>
                <a:srgbClr val="000000"/>
              </a:solidFill>
              <a:round/>
              <a:headEnd/>
              <a:tailEnd/>
            </a:ln>
          </p:spPr>
          <p:txBody>
            <a:bodyPr/>
            <a:lstStyle/>
            <a:p>
              <a:endParaRPr lang="zh-CN" altLang="en-US"/>
            </a:p>
          </p:txBody>
        </p:sp>
        <p:sp>
          <p:nvSpPr>
            <p:cNvPr id="97313" name="Line 39"/>
            <p:cNvSpPr>
              <a:spLocks noChangeShapeType="1"/>
            </p:cNvSpPr>
            <p:nvPr/>
          </p:nvSpPr>
          <p:spPr bwMode="auto">
            <a:xfrm>
              <a:off x="1716" y="3437"/>
              <a:ext cx="318" cy="0"/>
            </a:xfrm>
            <a:prstGeom prst="line">
              <a:avLst/>
            </a:prstGeom>
            <a:noFill/>
            <a:ln w="9525">
              <a:solidFill>
                <a:srgbClr val="000000"/>
              </a:solidFill>
              <a:round/>
              <a:headEnd/>
              <a:tailEnd/>
            </a:ln>
          </p:spPr>
          <p:txBody>
            <a:bodyPr/>
            <a:lstStyle/>
            <a:p>
              <a:endParaRPr lang="zh-CN" altLang="en-US"/>
            </a:p>
          </p:txBody>
        </p:sp>
        <p:sp>
          <p:nvSpPr>
            <p:cNvPr id="97314" name="Line 40"/>
            <p:cNvSpPr>
              <a:spLocks noChangeShapeType="1"/>
            </p:cNvSpPr>
            <p:nvPr/>
          </p:nvSpPr>
          <p:spPr bwMode="auto">
            <a:xfrm>
              <a:off x="1508" y="3076"/>
              <a:ext cx="208" cy="361"/>
            </a:xfrm>
            <a:prstGeom prst="line">
              <a:avLst/>
            </a:prstGeom>
            <a:noFill/>
            <a:ln w="9525">
              <a:solidFill>
                <a:srgbClr val="000000"/>
              </a:solidFill>
              <a:round/>
              <a:headEnd/>
              <a:tailEnd/>
            </a:ln>
          </p:spPr>
          <p:txBody>
            <a:bodyPr/>
            <a:lstStyle/>
            <a:p>
              <a:endParaRPr lang="zh-CN" altLang="en-US"/>
            </a:p>
          </p:txBody>
        </p:sp>
        <p:sp>
          <p:nvSpPr>
            <p:cNvPr id="97315" name="Line 41"/>
            <p:cNvSpPr>
              <a:spLocks noChangeShapeType="1"/>
            </p:cNvSpPr>
            <p:nvPr/>
          </p:nvSpPr>
          <p:spPr bwMode="auto">
            <a:xfrm flipH="1">
              <a:off x="2036" y="3076"/>
              <a:ext cx="195" cy="361"/>
            </a:xfrm>
            <a:prstGeom prst="line">
              <a:avLst/>
            </a:prstGeom>
            <a:noFill/>
            <a:ln w="9525">
              <a:solidFill>
                <a:srgbClr val="000000"/>
              </a:solidFill>
              <a:round/>
              <a:headEnd/>
              <a:tailEnd/>
            </a:ln>
          </p:spPr>
          <p:txBody>
            <a:bodyPr/>
            <a:lstStyle/>
            <a:p>
              <a:endParaRPr lang="zh-CN" altLang="en-US"/>
            </a:p>
          </p:txBody>
        </p:sp>
        <p:sp>
          <p:nvSpPr>
            <p:cNvPr id="97316" name="Rectangle 42"/>
            <p:cNvSpPr>
              <a:spLocks noChangeArrowheads="1"/>
            </p:cNvSpPr>
            <p:nvPr/>
          </p:nvSpPr>
          <p:spPr bwMode="auto">
            <a:xfrm>
              <a:off x="1602" y="3178"/>
              <a:ext cx="546" cy="57"/>
            </a:xfrm>
            <a:prstGeom prst="rect">
              <a:avLst/>
            </a:prstGeom>
            <a:noFill/>
            <a:ln w="9525">
              <a:noFill/>
              <a:miter lim="800000"/>
              <a:headEnd/>
              <a:tailEnd/>
            </a:ln>
          </p:spPr>
          <p:txBody>
            <a:bodyPr/>
            <a:lstStyle/>
            <a:p>
              <a:endParaRPr lang="zh-CN" altLang="en-US"/>
            </a:p>
          </p:txBody>
        </p:sp>
        <p:sp>
          <p:nvSpPr>
            <p:cNvPr id="97317" name="Line 43"/>
            <p:cNvSpPr>
              <a:spLocks noChangeShapeType="1"/>
            </p:cNvSpPr>
            <p:nvPr/>
          </p:nvSpPr>
          <p:spPr bwMode="auto">
            <a:xfrm>
              <a:off x="1508" y="2173"/>
              <a:ext cx="83" cy="0"/>
            </a:xfrm>
            <a:prstGeom prst="line">
              <a:avLst/>
            </a:prstGeom>
            <a:noFill/>
            <a:ln w="9525">
              <a:solidFill>
                <a:srgbClr val="000000"/>
              </a:solidFill>
              <a:round/>
              <a:headEnd/>
              <a:tailEnd/>
            </a:ln>
          </p:spPr>
          <p:txBody>
            <a:bodyPr/>
            <a:lstStyle/>
            <a:p>
              <a:endParaRPr lang="zh-CN" altLang="en-US"/>
            </a:p>
          </p:txBody>
        </p:sp>
        <p:sp>
          <p:nvSpPr>
            <p:cNvPr id="97318" name="Line 44"/>
            <p:cNvSpPr>
              <a:spLocks noChangeShapeType="1"/>
            </p:cNvSpPr>
            <p:nvPr/>
          </p:nvSpPr>
          <p:spPr bwMode="auto">
            <a:xfrm>
              <a:off x="2147" y="2187"/>
              <a:ext cx="84" cy="0"/>
            </a:xfrm>
            <a:prstGeom prst="line">
              <a:avLst/>
            </a:prstGeom>
            <a:noFill/>
            <a:ln w="9525">
              <a:solidFill>
                <a:srgbClr val="000000"/>
              </a:solidFill>
              <a:round/>
              <a:headEnd/>
              <a:tailEnd/>
            </a:ln>
          </p:spPr>
          <p:txBody>
            <a:bodyPr/>
            <a:lstStyle/>
            <a:p>
              <a:endParaRPr lang="zh-CN" altLang="en-US"/>
            </a:p>
          </p:txBody>
        </p:sp>
        <p:sp>
          <p:nvSpPr>
            <p:cNvPr id="97319" name="Oval 45"/>
            <p:cNvSpPr>
              <a:spLocks noChangeArrowheads="1"/>
            </p:cNvSpPr>
            <p:nvPr/>
          </p:nvSpPr>
          <p:spPr bwMode="auto">
            <a:xfrm>
              <a:off x="1786" y="3208"/>
              <a:ext cx="167" cy="167"/>
            </a:xfrm>
            <a:prstGeom prst="ellipse">
              <a:avLst/>
            </a:prstGeom>
            <a:noFill/>
            <a:ln w="9525">
              <a:solidFill>
                <a:srgbClr val="000000"/>
              </a:solidFill>
              <a:round/>
              <a:headEnd/>
              <a:tailEnd/>
            </a:ln>
          </p:spPr>
          <p:txBody>
            <a:bodyPr/>
            <a:lstStyle/>
            <a:p>
              <a:endParaRPr lang="zh-CN" altLang="en-US"/>
            </a:p>
          </p:txBody>
        </p:sp>
        <p:sp>
          <p:nvSpPr>
            <p:cNvPr id="97320" name="Rectangle 46"/>
            <p:cNvSpPr>
              <a:spLocks noChangeArrowheads="1"/>
            </p:cNvSpPr>
            <p:nvPr/>
          </p:nvSpPr>
          <p:spPr bwMode="auto">
            <a:xfrm>
              <a:off x="1591" y="2270"/>
              <a:ext cx="556" cy="250"/>
            </a:xfrm>
            <a:prstGeom prst="rect">
              <a:avLst/>
            </a:prstGeom>
            <a:noFill/>
            <a:ln w="9525">
              <a:solidFill>
                <a:srgbClr val="000000"/>
              </a:solidFill>
              <a:miter lim="800000"/>
              <a:headEnd/>
              <a:tailEnd/>
            </a:ln>
          </p:spPr>
          <p:txBody>
            <a:bodyPr/>
            <a:lstStyle/>
            <a:p>
              <a:endParaRPr lang="zh-CN" altLang="en-US"/>
            </a:p>
          </p:txBody>
        </p:sp>
        <p:sp>
          <p:nvSpPr>
            <p:cNvPr id="97321" name="Rectangle 47"/>
            <p:cNvSpPr>
              <a:spLocks noChangeArrowheads="1"/>
            </p:cNvSpPr>
            <p:nvPr/>
          </p:nvSpPr>
          <p:spPr bwMode="auto">
            <a:xfrm>
              <a:off x="2231" y="2256"/>
              <a:ext cx="291" cy="264"/>
            </a:xfrm>
            <a:prstGeom prst="rect">
              <a:avLst/>
            </a:prstGeom>
            <a:noFill/>
            <a:ln w="9525">
              <a:solidFill>
                <a:srgbClr val="000000"/>
              </a:solidFill>
              <a:miter lim="800000"/>
              <a:headEnd/>
              <a:tailEnd/>
            </a:ln>
          </p:spPr>
          <p:txBody>
            <a:bodyPr/>
            <a:lstStyle/>
            <a:p>
              <a:endParaRPr lang="zh-CN" altLang="en-US"/>
            </a:p>
          </p:txBody>
        </p:sp>
        <p:sp>
          <p:nvSpPr>
            <p:cNvPr id="97322" name="Rectangle 48"/>
            <p:cNvSpPr>
              <a:spLocks noChangeArrowheads="1"/>
            </p:cNvSpPr>
            <p:nvPr/>
          </p:nvSpPr>
          <p:spPr bwMode="auto">
            <a:xfrm>
              <a:off x="2522" y="2201"/>
              <a:ext cx="70" cy="389"/>
            </a:xfrm>
            <a:prstGeom prst="rect">
              <a:avLst/>
            </a:prstGeom>
            <a:noFill/>
            <a:ln w="9525">
              <a:solidFill>
                <a:srgbClr val="000000"/>
              </a:solidFill>
              <a:miter lim="800000"/>
              <a:headEnd/>
              <a:tailEnd/>
            </a:ln>
          </p:spPr>
          <p:txBody>
            <a:bodyPr/>
            <a:lstStyle/>
            <a:p>
              <a:endParaRPr lang="zh-CN" altLang="en-US"/>
            </a:p>
          </p:txBody>
        </p:sp>
        <p:sp>
          <p:nvSpPr>
            <p:cNvPr id="97323" name="Rectangle 49"/>
            <p:cNvSpPr>
              <a:spLocks noChangeArrowheads="1"/>
            </p:cNvSpPr>
            <p:nvPr/>
          </p:nvSpPr>
          <p:spPr bwMode="auto">
            <a:xfrm>
              <a:off x="2592" y="2145"/>
              <a:ext cx="97" cy="487"/>
            </a:xfrm>
            <a:prstGeom prst="rect">
              <a:avLst/>
            </a:prstGeom>
            <a:noFill/>
            <a:ln w="9525">
              <a:solidFill>
                <a:srgbClr val="000000"/>
              </a:solidFill>
              <a:miter lim="800000"/>
              <a:headEnd/>
              <a:tailEnd/>
            </a:ln>
          </p:spPr>
          <p:txBody>
            <a:bodyPr/>
            <a:lstStyle/>
            <a:p>
              <a:endParaRPr lang="zh-CN" altLang="en-US"/>
            </a:p>
          </p:txBody>
        </p:sp>
        <p:sp>
          <p:nvSpPr>
            <p:cNvPr id="97324" name="Rectangle 50"/>
            <p:cNvSpPr>
              <a:spLocks noChangeArrowheads="1"/>
            </p:cNvSpPr>
            <p:nvPr/>
          </p:nvSpPr>
          <p:spPr bwMode="auto">
            <a:xfrm>
              <a:off x="1299" y="2270"/>
              <a:ext cx="209" cy="250"/>
            </a:xfrm>
            <a:prstGeom prst="rect">
              <a:avLst/>
            </a:prstGeom>
            <a:noFill/>
            <a:ln w="9525">
              <a:solidFill>
                <a:srgbClr val="000000"/>
              </a:solidFill>
              <a:miter lim="800000"/>
              <a:headEnd/>
              <a:tailEnd/>
            </a:ln>
          </p:spPr>
          <p:txBody>
            <a:bodyPr/>
            <a:lstStyle/>
            <a:p>
              <a:endParaRPr lang="zh-CN" altLang="en-US"/>
            </a:p>
          </p:txBody>
        </p:sp>
        <p:sp>
          <p:nvSpPr>
            <p:cNvPr id="97325" name="Rectangle 51"/>
            <p:cNvSpPr>
              <a:spLocks noChangeArrowheads="1"/>
            </p:cNvSpPr>
            <p:nvPr/>
          </p:nvSpPr>
          <p:spPr bwMode="auto">
            <a:xfrm>
              <a:off x="1105" y="2298"/>
              <a:ext cx="194" cy="195"/>
            </a:xfrm>
            <a:prstGeom prst="rect">
              <a:avLst/>
            </a:prstGeom>
            <a:noFill/>
            <a:ln w="9525">
              <a:solidFill>
                <a:srgbClr val="000000"/>
              </a:solidFill>
              <a:miter lim="800000"/>
              <a:headEnd/>
              <a:tailEnd/>
            </a:ln>
          </p:spPr>
          <p:txBody>
            <a:bodyPr/>
            <a:lstStyle/>
            <a:p>
              <a:endParaRPr lang="zh-CN" altLang="en-US"/>
            </a:p>
          </p:txBody>
        </p:sp>
        <p:sp>
          <p:nvSpPr>
            <p:cNvPr id="97326" name="Rectangle 52"/>
            <p:cNvSpPr>
              <a:spLocks noChangeArrowheads="1"/>
            </p:cNvSpPr>
            <p:nvPr/>
          </p:nvSpPr>
          <p:spPr bwMode="auto">
            <a:xfrm>
              <a:off x="952" y="2340"/>
              <a:ext cx="153" cy="111"/>
            </a:xfrm>
            <a:prstGeom prst="rect">
              <a:avLst/>
            </a:prstGeom>
            <a:noFill/>
            <a:ln w="9525">
              <a:solidFill>
                <a:srgbClr val="000000"/>
              </a:solidFill>
              <a:miter lim="800000"/>
              <a:headEnd/>
              <a:tailEnd/>
            </a:ln>
          </p:spPr>
          <p:txBody>
            <a:bodyPr/>
            <a:lstStyle/>
            <a:p>
              <a:endParaRPr lang="zh-CN" altLang="en-US"/>
            </a:p>
          </p:txBody>
        </p:sp>
        <p:sp>
          <p:nvSpPr>
            <p:cNvPr id="97327" name="Line 53"/>
            <p:cNvSpPr>
              <a:spLocks noChangeShapeType="1"/>
            </p:cNvSpPr>
            <p:nvPr/>
          </p:nvSpPr>
          <p:spPr bwMode="auto">
            <a:xfrm>
              <a:off x="827" y="2395"/>
              <a:ext cx="4266" cy="14"/>
            </a:xfrm>
            <a:prstGeom prst="line">
              <a:avLst/>
            </a:prstGeom>
            <a:noFill/>
            <a:ln w="6350">
              <a:solidFill>
                <a:srgbClr val="000000"/>
              </a:solidFill>
              <a:prstDash val="lgDashDot"/>
              <a:round/>
              <a:headEnd/>
              <a:tailEnd/>
            </a:ln>
          </p:spPr>
          <p:txBody>
            <a:bodyPr/>
            <a:lstStyle/>
            <a:p>
              <a:endParaRPr lang="zh-CN" altLang="en-US"/>
            </a:p>
          </p:txBody>
        </p:sp>
        <p:sp>
          <p:nvSpPr>
            <p:cNvPr id="97328" name="Line 54"/>
            <p:cNvSpPr>
              <a:spLocks noChangeShapeType="1"/>
            </p:cNvSpPr>
            <p:nvPr/>
          </p:nvSpPr>
          <p:spPr bwMode="auto">
            <a:xfrm flipH="1" flipV="1">
              <a:off x="1702" y="2062"/>
              <a:ext cx="139" cy="264"/>
            </a:xfrm>
            <a:prstGeom prst="line">
              <a:avLst/>
            </a:prstGeom>
            <a:noFill/>
            <a:ln w="9525">
              <a:solidFill>
                <a:srgbClr val="000000"/>
              </a:solidFill>
              <a:round/>
              <a:headEnd/>
              <a:tailEnd/>
            </a:ln>
          </p:spPr>
          <p:txBody>
            <a:bodyPr/>
            <a:lstStyle/>
            <a:p>
              <a:endParaRPr lang="zh-CN" altLang="en-US"/>
            </a:p>
          </p:txBody>
        </p:sp>
        <p:sp>
          <p:nvSpPr>
            <p:cNvPr id="97329" name="Line 55"/>
            <p:cNvSpPr>
              <a:spLocks noChangeShapeType="1"/>
            </p:cNvSpPr>
            <p:nvPr/>
          </p:nvSpPr>
          <p:spPr bwMode="auto">
            <a:xfrm flipH="1" flipV="1">
              <a:off x="2967" y="1992"/>
              <a:ext cx="111" cy="292"/>
            </a:xfrm>
            <a:prstGeom prst="line">
              <a:avLst/>
            </a:prstGeom>
            <a:noFill/>
            <a:ln w="9525">
              <a:solidFill>
                <a:srgbClr val="000000"/>
              </a:solidFill>
              <a:round/>
              <a:headEnd/>
              <a:tailEnd/>
            </a:ln>
          </p:spPr>
          <p:txBody>
            <a:bodyPr/>
            <a:lstStyle/>
            <a:p>
              <a:endParaRPr lang="zh-CN" altLang="en-US"/>
            </a:p>
          </p:txBody>
        </p:sp>
        <p:sp>
          <p:nvSpPr>
            <p:cNvPr id="97330" name="Line 56"/>
            <p:cNvSpPr>
              <a:spLocks noChangeShapeType="1"/>
            </p:cNvSpPr>
            <p:nvPr/>
          </p:nvSpPr>
          <p:spPr bwMode="auto">
            <a:xfrm flipH="1" flipV="1">
              <a:off x="4041" y="2017"/>
              <a:ext cx="93" cy="351"/>
            </a:xfrm>
            <a:prstGeom prst="line">
              <a:avLst/>
            </a:prstGeom>
            <a:noFill/>
            <a:ln w="9525">
              <a:solidFill>
                <a:srgbClr val="000000"/>
              </a:solidFill>
              <a:round/>
              <a:headEnd/>
              <a:tailEnd/>
            </a:ln>
          </p:spPr>
          <p:txBody>
            <a:bodyPr/>
            <a:lstStyle/>
            <a:p>
              <a:endParaRPr lang="zh-CN" altLang="en-US"/>
            </a:p>
          </p:txBody>
        </p:sp>
        <p:sp>
          <p:nvSpPr>
            <p:cNvPr id="97331" name="Line 57"/>
            <p:cNvSpPr>
              <a:spLocks noChangeShapeType="1"/>
            </p:cNvSpPr>
            <p:nvPr/>
          </p:nvSpPr>
          <p:spPr bwMode="auto">
            <a:xfrm flipH="1" flipV="1">
              <a:off x="4759" y="2026"/>
              <a:ext cx="84" cy="300"/>
            </a:xfrm>
            <a:prstGeom prst="line">
              <a:avLst/>
            </a:prstGeom>
            <a:noFill/>
            <a:ln w="9525">
              <a:solidFill>
                <a:srgbClr val="000000"/>
              </a:solidFill>
              <a:round/>
              <a:headEnd/>
              <a:tailEnd/>
            </a:ln>
          </p:spPr>
          <p:txBody>
            <a:bodyPr/>
            <a:lstStyle/>
            <a:p>
              <a:endParaRPr lang="zh-CN" altLang="en-US"/>
            </a:p>
          </p:txBody>
        </p:sp>
        <p:sp>
          <p:nvSpPr>
            <p:cNvPr id="97332" name="Line 58"/>
            <p:cNvSpPr>
              <a:spLocks noChangeShapeType="1"/>
            </p:cNvSpPr>
            <p:nvPr/>
          </p:nvSpPr>
          <p:spPr bwMode="auto">
            <a:xfrm flipH="1" flipV="1">
              <a:off x="1202" y="3090"/>
              <a:ext cx="167" cy="264"/>
            </a:xfrm>
            <a:prstGeom prst="line">
              <a:avLst/>
            </a:prstGeom>
            <a:noFill/>
            <a:ln w="9525">
              <a:solidFill>
                <a:srgbClr val="000000"/>
              </a:solidFill>
              <a:round/>
              <a:headEnd/>
              <a:tailEnd/>
            </a:ln>
          </p:spPr>
          <p:txBody>
            <a:bodyPr/>
            <a:lstStyle/>
            <a:p>
              <a:endParaRPr lang="zh-CN" altLang="en-US"/>
            </a:p>
          </p:txBody>
        </p:sp>
        <p:sp>
          <p:nvSpPr>
            <p:cNvPr id="573499" name="Text Box 59"/>
            <p:cNvSpPr txBox="1">
              <a:spLocks noChangeArrowheads="1"/>
            </p:cNvSpPr>
            <p:nvPr/>
          </p:nvSpPr>
          <p:spPr bwMode="auto">
            <a:xfrm>
              <a:off x="1344" y="1770"/>
              <a:ext cx="740" cy="25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ea typeface="黑体" pitchFamily="2" charset="-122"/>
                </a:rPr>
                <a:t>平行光管</a:t>
              </a:r>
            </a:p>
          </p:txBody>
        </p:sp>
        <p:sp>
          <p:nvSpPr>
            <p:cNvPr id="573500" name="Text Box 60"/>
            <p:cNvSpPr txBox="1">
              <a:spLocks noChangeArrowheads="1"/>
            </p:cNvSpPr>
            <p:nvPr/>
          </p:nvSpPr>
          <p:spPr bwMode="auto">
            <a:xfrm>
              <a:off x="2517" y="1770"/>
              <a:ext cx="987" cy="292"/>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ea typeface="黑体" pitchFamily="2" charset="-122"/>
                </a:rPr>
                <a:t>透镜夹持器</a:t>
              </a:r>
            </a:p>
          </p:txBody>
        </p:sp>
        <p:sp>
          <p:nvSpPr>
            <p:cNvPr id="573501" name="Text Box 61"/>
            <p:cNvSpPr txBox="1">
              <a:spLocks noChangeArrowheads="1"/>
            </p:cNvSpPr>
            <p:nvPr/>
          </p:nvSpPr>
          <p:spPr bwMode="auto">
            <a:xfrm>
              <a:off x="3610" y="1624"/>
              <a:ext cx="867" cy="32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ea typeface="黑体" pitchFamily="2" charset="-122"/>
                </a:rPr>
                <a:t>测量显微镜</a:t>
              </a:r>
            </a:p>
            <a:p>
              <a:pPr algn="just">
                <a:defRPr/>
              </a:pPr>
              <a:r>
                <a:rPr lang="zh-CN" altLang="en-US" sz="1600" b="1">
                  <a:effectLst>
                    <a:outerShdw blurRad="38100" dist="38100" dir="2700000" algn="tl">
                      <a:srgbClr val="C0C0C0"/>
                    </a:outerShdw>
                  </a:effectLst>
                  <a:ea typeface="黑体" pitchFamily="2" charset="-122"/>
                </a:rPr>
                <a:t>（前置镜）</a:t>
              </a:r>
            </a:p>
          </p:txBody>
        </p:sp>
        <p:sp>
          <p:nvSpPr>
            <p:cNvPr id="573502" name="Text Box 62"/>
            <p:cNvSpPr txBox="1">
              <a:spLocks noChangeArrowheads="1"/>
            </p:cNvSpPr>
            <p:nvPr/>
          </p:nvSpPr>
          <p:spPr bwMode="auto">
            <a:xfrm>
              <a:off x="4524" y="1770"/>
              <a:ext cx="698" cy="27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ea typeface="黑体" pitchFamily="2" charset="-122"/>
                </a:rPr>
                <a:t>测微目镜</a:t>
              </a:r>
            </a:p>
          </p:txBody>
        </p:sp>
        <p:sp>
          <p:nvSpPr>
            <p:cNvPr id="573503" name="Text Box 63"/>
            <p:cNvSpPr txBox="1">
              <a:spLocks noChangeArrowheads="1"/>
            </p:cNvSpPr>
            <p:nvPr/>
          </p:nvSpPr>
          <p:spPr bwMode="auto">
            <a:xfrm>
              <a:off x="990" y="2858"/>
              <a:ext cx="576" cy="27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ea typeface="黑体" pitchFamily="2" charset="-122"/>
                </a:rPr>
                <a:t>导轨</a:t>
              </a:r>
            </a:p>
          </p:txBody>
        </p:sp>
      </p:grpSp>
    </p:spTree>
  </p:cSld>
  <p:clrMapOvr>
    <a:masterClrMapping/>
  </p:clrMapOvr>
  <p:transition>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p:cNvSpPr>
            <a:spLocks noGrp="1"/>
          </p:cNvSpPr>
          <p:nvPr>
            <p:ph type="dt" sz="quarter" idx="10"/>
          </p:nvPr>
        </p:nvSpPr>
        <p:spPr>
          <a:noFill/>
        </p:spPr>
        <p:txBody>
          <a:bodyPr/>
          <a:lstStyle/>
          <a:p>
            <a:fld id="{E05EE723-CF42-410E-9BD5-3345A185443A}" type="datetime1">
              <a:rPr lang="zh-CN" altLang="en-US" smtClean="0"/>
              <a:pPr/>
              <a:t>2018/2/24</a:t>
            </a:fld>
            <a:endParaRPr lang="en-US" altLang="zh-CN" smtClean="0"/>
          </a:p>
        </p:txBody>
      </p:sp>
      <p:sp>
        <p:nvSpPr>
          <p:cNvPr id="98307" name="灯片编号占位符 5"/>
          <p:cNvSpPr>
            <a:spLocks noGrp="1"/>
          </p:cNvSpPr>
          <p:nvPr>
            <p:ph type="sldNum" sz="quarter" idx="12"/>
          </p:nvPr>
        </p:nvSpPr>
        <p:spPr>
          <a:noFill/>
        </p:spPr>
        <p:txBody>
          <a:bodyPr/>
          <a:lstStyle/>
          <a:p>
            <a:fld id="{5E368625-10E6-47DB-BC95-B0FE0C923DCE}" type="slidenum">
              <a:rPr lang="en-US" altLang="zh-CN" smtClean="0"/>
              <a:pPr/>
              <a:t>28</a:t>
            </a:fld>
            <a:endParaRPr lang="en-US" altLang="zh-CN" smtClean="0"/>
          </a:p>
        </p:txBody>
      </p:sp>
      <p:sp>
        <p:nvSpPr>
          <p:cNvPr id="574467" name="Rectangle 3"/>
          <p:cNvSpPr>
            <a:spLocks noGrp="1" noRot="1" noChangeArrowheads="1"/>
          </p:cNvSpPr>
          <p:nvPr>
            <p:ph type="body" idx="1"/>
          </p:nvPr>
        </p:nvSpPr>
        <p:spPr>
          <a:xfrm>
            <a:off x="471488" y="1803400"/>
            <a:ext cx="8229600" cy="4805363"/>
          </a:xfrm>
        </p:spPr>
        <p:txBody>
          <a:bodyPr/>
          <a:lstStyle/>
          <a:p>
            <a:pPr eaLnBrk="1" hangingPunct="1">
              <a:lnSpc>
                <a:spcPct val="125000"/>
              </a:lnSpc>
              <a:defRPr/>
            </a:pPr>
            <a:r>
              <a:rPr lang="zh-CN" altLang="en-US" smtClean="0">
                <a:latin typeface="Times New Roman" pitchFamily="18" charset="0"/>
                <a:ea typeface="黑体" pitchFamily="2" charset="-122"/>
              </a:rPr>
              <a:t>关于分划板</a:t>
            </a:r>
          </a:p>
          <a:p>
            <a:pPr eaLnBrk="1" hangingPunct="1">
              <a:lnSpc>
                <a:spcPct val="125000"/>
              </a:lnSpc>
              <a:defRPr/>
            </a:pPr>
            <a:r>
              <a:rPr lang="zh-CN" altLang="en-US" smtClean="0">
                <a:latin typeface="Times New Roman" pitchFamily="18" charset="0"/>
                <a:ea typeface="黑体" pitchFamily="2" charset="-122"/>
              </a:rPr>
              <a:t>平行光管的分划板形式多样</a:t>
            </a:r>
          </a:p>
          <a:p>
            <a:pPr eaLnBrk="1" hangingPunct="1">
              <a:lnSpc>
                <a:spcPct val="125000"/>
              </a:lnSpc>
              <a:defRPr/>
            </a:pPr>
            <a:r>
              <a:rPr lang="zh-CN" altLang="en-US" smtClean="0">
                <a:latin typeface="Times New Roman" pitchFamily="18" charset="0"/>
                <a:ea typeface="黑体" pitchFamily="2" charset="-122"/>
              </a:rPr>
              <a:t>玻罗</a:t>
            </a:r>
            <a:r>
              <a:rPr lang="en-US" altLang="zh-CN" smtClean="0">
                <a:latin typeface="Times New Roman" pitchFamily="18" charset="0"/>
                <a:ea typeface="黑体" pitchFamily="2" charset="-122"/>
              </a:rPr>
              <a:t>(Porro)</a:t>
            </a:r>
            <a:r>
              <a:rPr lang="zh-CN" altLang="en-US" smtClean="0">
                <a:latin typeface="Times New Roman" pitchFamily="18" charset="0"/>
                <a:ea typeface="黑体" pitchFamily="2" charset="-122"/>
              </a:rPr>
              <a:t>分划板形状如图所示。它上面刻有四组间隔不同的平行线，这四对平行线的间隔距离分别为：</a:t>
            </a:r>
            <a:r>
              <a:rPr lang="en-US" altLang="zh-CN" i="1" smtClean="0">
                <a:latin typeface="Times New Roman" pitchFamily="18" charset="0"/>
                <a:ea typeface="黑体" pitchFamily="2" charset="-122"/>
              </a:rPr>
              <a:t>y</a:t>
            </a:r>
            <a:r>
              <a:rPr lang="en-US" altLang="zh-CN" baseline="-25000" smtClean="0">
                <a:latin typeface="Times New Roman" pitchFamily="18" charset="0"/>
                <a:ea typeface="黑体" pitchFamily="2" charset="-122"/>
              </a:rPr>
              <a:t>01</a:t>
            </a:r>
            <a:r>
              <a:rPr lang="en-US" altLang="zh-CN" smtClean="0">
                <a:latin typeface="Times New Roman" pitchFamily="18" charset="0"/>
                <a:ea typeface="黑体" pitchFamily="2" charset="-122"/>
              </a:rPr>
              <a:t>=3mm</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en-US" altLang="zh-CN" baseline="-25000" smtClean="0">
                <a:latin typeface="Times New Roman" pitchFamily="18" charset="0"/>
                <a:ea typeface="黑体" pitchFamily="2" charset="-122"/>
              </a:rPr>
              <a:t>02</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6mm</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en-US" altLang="zh-CN" baseline="-25000" smtClean="0">
                <a:latin typeface="Times New Roman" pitchFamily="18" charset="0"/>
                <a:ea typeface="黑体" pitchFamily="2" charset="-122"/>
              </a:rPr>
              <a:t>03</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12mm</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en-US" altLang="zh-CN" baseline="-25000" smtClean="0">
                <a:latin typeface="Times New Roman" pitchFamily="18" charset="0"/>
                <a:ea typeface="黑体" pitchFamily="2" charset="-122"/>
              </a:rPr>
              <a:t>04</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30mm</a:t>
            </a:r>
            <a:r>
              <a:rPr lang="zh-CN" altLang="en-US" smtClean="0">
                <a:latin typeface="Times New Roman" pitchFamily="18" charset="0"/>
                <a:ea typeface="黑体" pitchFamily="2" charset="-122"/>
              </a:rPr>
              <a:t>。刻线间隔的准确度要求是很高的，</a:t>
            </a:r>
          </a:p>
          <a:p>
            <a:pPr eaLnBrk="1" hangingPunct="1">
              <a:lnSpc>
                <a:spcPct val="125000"/>
              </a:lnSpc>
              <a:buFont typeface="Wingdings" pitchFamily="2" charset="2"/>
              <a:buNone/>
              <a:defRPr/>
            </a:pPr>
            <a:r>
              <a:rPr lang="zh-CN" altLang="en-US" smtClean="0">
                <a:latin typeface="Times New Roman" pitchFamily="18" charset="0"/>
                <a:ea typeface="黑体" pitchFamily="2" charset="-122"/>
              </a:rPr>
              <a:t>     相对于实际要求值的标准</a:t>
            </a:r>
          </a:p>
          <a:p>
            <a:pPr eaLnBrk="1" hangingPunct="1">
              <a:lnSpc>
                <a:spcPct val="125000"/>
              </a:lnSpc>
              <a:buFont typeface="Wingdings" pitchFamily="2" charset="2"/>
              <a:buNone/>
              <a:defRPr/>
            </a:pPr>
            <a:r>
              <a:rPr lang="zh-CN" altLang="en-US" smtClean="0">
                <a:latin typeface="Times New Roman" pitchFamily="18" charset="0"/>
                <a:ea typeface="黑体" pitchFamily="2" charset="-122"/>
              </a:rPr>
              <a:t>     不确定度为</a:t>
            </a:r>
            <a:r>
              <a:rPr lang="en-US" altLang="zh-CN" smtClean="0">
                <a:latin typeface="Times New Roman" pitchFamily="18" charset="0"/>
                <a:ea typeface="黑体" pitchFamily="2" charset="-122"/>
              </a:rPr>
              <a:t>0.001mm</a:t>
            </a:r>
            <a:r>
              <a:rPr lang="zh-CN" altLang="en-US" smtClean="0">
                <a:latin typeface="Times New Roman" pitchFamily="18" charset="0"/>
                <a:ea typeface="黑体" pitchFamily="2" charset="-122"/>
              </a:rPr>
              <a:t>。</a:t>
            </a:r>
          </a:p>
        </p:txBody>
      </p:sp>
      <p:grpSp>
        <p:nvGrpSpPr>
          <p:cNvPr id="98309" name="Group 4"/>
          <p:cNvGrpSpPr>
            <a:grpSpLocks/>
          </p:cNvGrpSpPr>
          <p:nvPr/>
        </p:nvGrpSpPr>
        <p:grpSpPr bwMode="auto">
          <a:xfrm>
            <a:off x="5027613" y="4303713"/>
            <a:ext cx="3590925" cy="3336925"/>
            <a:chOff x="3105" y="2493"/>
            <a:chExt cx="2262" cy="2102"/>
          </a:xfrm>
        </p:grpSpPr>
        <p:sp>
          <p:nvSpPr>
            <p:cNvPr id="98311" name="Rectangle 5"/>
            <p:cNvSpPr>
              <a:spLocks noChangeArrowheads="1"/>
            </p:cNvSpPr>
            <p:nvPr/>
          </p:nvSpPr>
          <p:spPr bwMode="auto">
            <a:xfrm>
              <a:off x="3105" y="2493"/>
              <a:ext cx="2088" cy="1674"/>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98312" name="Group 6"/>
            <p:cNvGrpSpPr>
              <a:grpSpLocks/>
            </p:cNvGrpSpPr>
            <p:nvPr/>
          </p:nvGrpSpPr>
          <p:grpSpPr bwMode="auto">
            <a:xfrm>
              <a:off x="3294" y="2703"/>
              <a:ext cx="2073" cy="1892"/>
              <a:chOff x="3934" y="5634"/>
              <a:chExt cx="2520" cy="2300"/>
            </a:xfrm>
          </p:grpSpPr>
          <p:sp>
            <p:nvSpPr>
              <p:cNvPr id="98313" name="Oval 7"/>
              <p:cNvSpPr>
                <a:spLocks noChangeArrowheads="1"/>
              </p:cNvSpPr>
              <p:nvPr/>
            </p:nvSpPr>
            <p:spPr bwMode="auto">
              <a:xfrm>
                <a:off x="4214" y="5634"/>
                <a:ext cx="1540" cy="1540"/>
              </a:xfrm>
              <a:prstGeom prst="ellipse">
                <a:avLst/>
              </a:prstGeom>
              <a:noFill/>
              <a:ln w="9525">
                <a:solidFill>
                  <a:srgbClr val="000000"/>
                </a:solidFill>
                <a:round/>
                <a:headEnd/>
                <a:tailEnd/>
              </a:ln>
            </p:spPr>
            <p:txBody>
              <a:bodyPr/>
              <a:lstStyle/>
              <a:p>
                <a:endParaRPr lang="zh-CN" altLang="en-US"/>
              </a:p>
            </p:txBody>
          </p:sp>
          <p:sp>
            <p:nvSpPr>
              <p:cNvPr id="98314" name="Line 8"/>
              <p:cNvSpPr>
                <a:spLocks noChangeShapeType="1"/>
              </p:cNvSpPr>
              <p:nvPr/>
            </p:nvSpPr>
            <p:spPr bwMode="auto">
              <a:xfrm>
                <a:off x="4414" y="5894"/>
                <a:ext cx="0" cy="1020"/>
              </a:xfrm>
              <a:prstGeom prst="line">
                <a:avLst/>
              </a:prstGeom>
              <a:noFill/>
              <a:ln w="9525">
                <a:solidFill>
                  <a:srgbClr val="000000"/>
                </a:solidFill>
                <a:round/>
                <a:headEnd/>
                <a:tailEnd/>
              </a:ln>
            </p:spPr>
            <p:txBody>
              <a:bodyPr/>
              <a:lstStyle/>
              <a:p>
                <a:endParaRPr lang="zh-CN" altLang="en-US"/>
              </a:p>
            </p:txBody>
          </p:sp>
          <p:sp>
            <p:nvSpPr>
              <p:cNvPr id="98315" name="Line 9"/>
              <p:cNvSpPr>
                <a:spLocks noChangeShapeType="1"/>
              </p:cNvSpPr>
              <p:nvPr/>
            </p:nvSpPr>
            <p:spPr bwMode="auto">
              <a:xfrm>
                <a:off x="5554" y="5894"/>
                <a:ext cx="0" cy="1020"/>
              </a:xfrm>
              <a:prstGeom prst="line">
                <a:avLst/>
              </a:prstGeom>
              <a:noFill/>
              <a:ln w="9525">
                <a:solidFill>
                  <a:srgbClr val="000000"/>
                </a:solidFill>
                <a:round/>
                <a:headEnd/>
                <a:tailEnd/>
              </a:ln>
            </p:spPr>
            <p:txBody>
              <a:bodyPr/>
              <a:lstStyle/>
              <a:p>
                <a:endParaRPr lang="zh-CN" altLang="en-US"/>
              </a:p>
            </p:txBody>
          </p:sp>
          <p:sp>
            <p:nvSpPr>
              <p:cNvPr id="98316" name="Line 10"/>
              <p:cNvSpPr>
                <a:spLocks noChangeShapeType="1"/>
              </p:cNvSpPr>
              <p:nvPr/>
            </p:nvSpPr>
            <p:spPr bwMode="auto">
              <a:xfrm>
                <a:off x="4674" y="6074"/>
                <a:ext cx="0" cy="660"/>
              </a:xfrm>
              <a:prstGeom prst="line">
                <a:avLst/>
              </a:prstGeom>
              <a:noFill/>
              <a:ln w="9525">
                <a:solidFill>
                  <a:srgbClr val="000000"/>
                </a:solidFill>
                <a:round/>
                <a:headEnd/>
                <a:tailEnd/>
              </a:ln>
            </p:spPr>
            <p:txBody>
              <a:bodyPr/>
              <a:lstStyle/>
              <a:p>
                <a:endParaRPr lang="zh-CN" altLang="en-US"/>
              </a:p>
            </p:txBody>
          </p:sp>
          <p:sp>
            <p:nvSpPr>
              <p:cNvPr id="98317" name="Line 11"/>
              <p:cNvSpPr>
                <a:spLocks noChangeShapeType="1"/>
              </p:cNvSpPr>
              <p:nvPr/>
            </p:nvSpPr>
            <p:spPr bwMode="auto">
              <a:xfrm>
                <a:off x="5294" y="6054"/>
                <a:ext cx="0" cy="660"/>
              </a:xfrm>
              <a:prstGeom prst="line">
                <a:avLst/>
              </a:prstGeom>
              <a:noFill/>
              <a:ln w="9525">
                <a:solidFill>
                  <a:srgbClr val="000000"/>
                </a:solidFill>
                <a:round/>
                <a:headEnd/>
                <a:tailEnd/>
              </a:ln>
            </p:spPr>
            <p:txBody>
              <a:bodyPr/>
              <a:lstStyle/>
              <a:p>
                <a:endParaRPr lang="zh-CN" altLang="en-US"/>
              </a:p>
            </p:txBody>
          </p:sp>
          <p:sp>
            <p:nvSpPr>
              <p:cNvPr id="98318" name="Line 12"/>
              <p:cNvSpPr>
                <a:spLocks noChangeShapeType="1"/>
              </p:cNvSpPr>
              <p:nvPr/>
            </p:nvSpPr>
            <p:spPr bwMode="auto">
              <a:xfrm>
                <a:off x="4834" y="6154"/>
                <a:ext cx="0" cy="500"/>
              </a:xfrm>
              <a:prstGeom prst="line">
                <a:avLst/>
              </a:prstGeom>
              <a:noFill/>
              <a:ln w="9525">
                <a:solidFill>
                  <a:srgbClr val="000000"/>
                </a:solidFill>
                <a:round/>
                <a:headEnd/>
                <a:tailEnd/>
              </a:ln>
            </p:spPr>
            <p:txBody>
              <a:bodyPr/>
              <a:lstStyle/>
              <a:p>
                <a:endParaRPr lang="zh-CN" altLang="en-US"/>
              </a:p>
            </p:txBody>
          </p:sp>
          <p:sp>
            <p:nvSpPr>
              <p:cNvPr id="98319" name="Line 13"/>
              <p:cNvSpPr>
                <a:spLocks noChangeShapeType="1"/>
              </p:cNvSpPr>
              <p:nvPr/>
            </p:nvSpPr>
            <p:spPr bwMode="auto">
              <a:xfrm>
                <a:off x="5154" y="6134"/>
                <a:ext cx="0" cy="500"/>
              </a:xfrm>
              <a:prstGeom prst="line">
                <a:avLst/>
              </a:prstGeom>
              <a:noFill/>
              <a:ln w="9525">
                <a:solidFill>
                  <a:srgbClr val="000000"/>
                </a:solidFill>
                <a:round/>
                <a:headEnd/>
                <a:tailEnd/>
              </a:ln>
            </p:spPr>
            <p:txBody>
              <a:bodyPr/>
              <a:lstStyle/>
              <a:p>
                <a:endParaRPr lang="zh-CN" altLang="en-US"/>
              </a:p>
            </p:txBody>
          </p:sp>
          <p:sp>
            <p:nvSpPr>
              <p:cNvPr id="98320" name="Line 14"/>
              <p:cNvSpPr>
                <a:spLocks noChangeShapeType="1"/>
              </p:cNvSpPr>
              <p:nvPr/>
            </p:nvSpPr>
            <p:spPr bwMode="auto">
              <a:xfrm>
                <a:off x="4934" y="6234"/>
                <a:ext cx="0" cy="360"/>
              </a:xfrm>
              <a:prstGeom prst="line">
                <a:avLst/>
              </a:prstGeom>
              <a:noFill/>
              <a:ln w="9525">
                <a:solidFill>
                  <a:srgbClr val="000000"/>
                </a:solidFill>
                <a:round/>
                <a:headEnd/>
                <a:tailEnd/>
              </a:ln>
            </p:spPr>
            <p:txBody>
              <a:bodyPr/>
              <a:lstStyle/>
              <a:p>
                <a:endParaRPr lang="zh-CN" altLang="en-US"/>
              </a:p>
            </p:txBody>
          </p:sp>
          <p:sp>
            <p:nvSpPr>
              <p:cNvPr id="98321" name="Line 15"/>
              <p:cNvSpPr>
                <a:spLocks noChangeShapeType="1"/>
              </p:cNvSpPr>
              <p:nvPr/>
            </p:nvSpPr>
            <p:spPr bwMode="auto">
              <a:xfrm>
                <a:off x="5054" y="6234"/>
                <a:ext cx="0" cy="360"/>
              </a:xfrm>
              <a:prstGeom prst="line">
                <a:avLst/>
              </a:prstGeom>
              <a:noFill/>
              <a:ln w="9525">
                <a:solidFill>
                  <a:srgbClr val="000000"/>
                </a:solidFill>
                <a:round/>
                <a:headEnd/>
                <a:tailEnd/>
              </a:ln>
            </p:spPr>
            <p:txBody>
              <a:bodyPr/>
              <a:lstStyle/>
              <a:p>
                <a:endParaRPr lang="zh-CN" altLang="en-US"/>
              </a:p>
            </p:txBody>
          </p:sp>
          <p:sp>
            <p:nvSpPr>
              <p:cNvPr id="98322" name="Text Box 16"/>
              <p:cNvSpPr txBox="1">
                <a:spLocks noChangeArrowheads="1"/>
              </p:cNvSpPr>
              <p:nvPr/>
            </p:nvSpPr>
            <p:spPr bwMode="auto">
              <a:xfrm>
                <a:off x="3934" y="7434"/>
                <a:ext cx="2520" cy="500"/>
              </a:xfrm>
              <a:prstGeom prst="rect">
                <a:avLst/>
              </a:prstGeom>
              <a:noFill/>
              <a:ln w="9525">
                <a:noFill/>
                <a:miter lim="800000"/>
                <a:headEnd/>
                <a:tailEnd/>
              </a:ln>
            </p:spPr>
            <p:txBody>
              <a:bodyPr/>
              <a:lstStyle/>
              <a:p>
                <a:pPr algn="ctr"/>
                <a:endParaRPr lang="zh-CN" altLang="zh-CN"/>
              </a:p>
            </p:txBody>
          </p:sp>
        </p:grpSp>
      </p:grpSp>
      <p:sp>
        <p:nvSpPr>
          <p:cNvPr id="98310" name="Rectangle 3"/>
          <p:cNvSpPr>
            <a:spLocks noGrp="1" noRot="1" noChangeArrowheads="1"/>
          </p:cNvSpPr>
          <p:nvPr>
            <p:ph type="title"/>
          </p:nvPr>
        </p:nvSpPr>
        <p:spPr bwMode="auto">
          <a:xfrm>
            <a:off x="557213" y="463550"/>
            <a:ext cx="7500937" cy="113982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en-US" altLang="zh-CN" sz="4000" b="1" smtClean="0">
                <a:solidFill>
                  <a:schemeClr val="tx1"/>
                </a:solidFill>
                <a:latin typeface="Times New Roman" pitchFamily="18" charset="0"/>
                <a:ea typeface="黑体" pitchFamily="2" charset="-122"/>
              </a:rPr>
              <a:t>             §2-2  </a:t>
            </a:r>
            <a:r>
              <a:rPr lang="zh-CN" altLang="en-US" sz="4000" b="1" smtClean="0">
                <a:solidFill>
                  <a:schemeClr val="tx1"/>
                </a:solidFill>
                <a:latin typeface="Times New Roman" pitchFamily="18" charset="0"/>
                <a:ea typeface="黑体" pitchFamily="2" charset="-122"/>
              </a:rPr>
              <a:t>焦距的测量</a:t>
            </a:r>
            <a:r>
              <a:rPr lang="zh-CN" altLang="en-US" sz="1200" b="1" smtClean="0">
                <a:solidFill>
                  <a:schemeClr val="tx1"/>
                </a:solidFill>
                <a:latin typeface="Times New Roman" pitchFamily="18" charset="0"/>
                <a:ea typeface="黑体" pitchFamily="2" charset="-122"/>
              </a:rPr>
              <a:t/>
            </a:r>
            <a:br>
              <a:rPr lang="zh-CN" altLang="en-US" sz="1200" b="1" smtClean="0">
                <a:solidFill>
                  <a:schemeClr val="tx1"/>
                </a:solidFill>
                <a:latin typeface="Times New Roman" pitchFamily="18" charset="0"/>
                <a:ea typeface="黑体" pitchFamily="2" charset="-122"/>
              </a:rPr>
            </a:br>
            <a:r>
              <a:rPr lang="zh-CN" altLang="en-US" sz="1200" b="1" smtClean="0">
                <a:solidFill>
                  <a:schemeClr val="tx1"/>
                </a:solidFill>
                <a:latin typeface="Times New Roman" pitchFamily="18" charset="0"/>
                <a:ea typeface="黑体" pitchFamily="2" charset="-122"/>
              </a:rPr>
              <a:t/>
            </a:r>
            <a:br>
              <a:rPr lang="zh-CN" altLang="en-US" sz="1200" b="1" smtClean="0">
                <a:solidFill>
                  <a:schemeClr val="tx1"/>
                </a:solidFill>
                <a:latin typeface="Times New Roman" pitchFamily="18" charset="0"/>
                <a:ea typeface="黑体" pitchFamily="2" charset="-122"/>
              </a:rPr>
            </a:br>
            <a:r>
              <a:rPr lang="en-US" altLang="zh-CN" sz="3200" b="1" smtClean="0">
                <a:solidFill>
                  <a:schemeClr val="tx1"/>
                </a:solidFill>
                <a:latin typeface="Times New Roman" pitchFamily="18" charset="0"/>
                <a:ea typeface="黑体" pitchFamily="2" charset="-122"/>
              </a:rPr>
              <a:t>1.</a:t>
            </a:r>
            <a:r>
              <a:rPr lang="zh-CN" altLang="en-US" sz="3200" b="1" smtClean="0">
                <a:solidFill>
                  <a:schemeClr val="tx1"/>
                </a:solidFill>
                <a:latin typeface="Times New Roman" pitchFamily="18" charset="0"/>
                <a:ea typeface="黑体" pitchFamily="2" charset="-122"/>
              </a:rPr>
              <a:t>概述</a:t>
            </a:r>
          </a:p>
        </p:txBody>
      </p:sp>
    </p:spTree>
  </p:cSld>
  <p:clrMapOvr>
    <a:masterClrMapping/>
  </p:clrMapOvr>
  <p:transition>
    <p:circl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a:spLocks noGrp="1"/>
          </p:cNvSpPr>
          <p:nvPr>
            <p:ph type="dt" sz="quarter" idx="10"/>
          </p:nvPr>
        </p:nvSpPr>
        <p:spPr>
          <a:noFill/>
        </p:spPr>
        <p:txBody>
          <a:bodyPr/>
          <a:lstStyle/>
          <a:p>
            <a:fld id="{79845FDE-BA95-4AE2-B355-6C68DE89BAFB}" type="datetime1">
              <a:rPr lang="zh-CN" altLang="en-US" smtClean="0"/>
              <a:pPr/>
              <a:t>2018/2/24</a:t>
            </a:fld>
            <a:endParaRPr lang="en-US" altLang="zh-CN" smtClean="0"/>
          </a:p>
        </p:txBody>
      </p:sp>
      <p:sp>
        <p:nvSpPr>
          <p:cNvPr id="101379" name="灯片编号占位符 5"/>
          <p:cNvSpPr>
            <a:spLocks noGrp="1"/>
          </p:cNvSpPr>
          <p:nvPr>
            <p:ph type="sldNum" sz="quarter" idx="12"/>
          </p:nvPr>
        </p:nvSpPr>
        <p:spPr>
          <a:noFill/>
        </p:spPr>
        <p:txBody>
          <a:bodyPr/>
          <a:lstStyle/>
          <a:p>
            <a:fld id="{2B5E543B-C64A-4D1C-A2DD-66A011930F9D}" type="slidenum">
              <a:rPr lang="en-US" altLang="zh-CN" smtClean="0"/>
              <a:pPr/>
              <a:t>29</a:t>
            </a:fld>
            <a:endParaRPr lang="en-US" altLang="zh-CN" smtClean="0"/>
          </a:p>
        </p:txBody>
      </p:sp>
      <p:sp>
        <p:nvSpPr>
          <p:cNvPr id="577538" name="Rectangle 2"/>
          <p:cNvSpPr>
            <a:spLocks noGrp="1" noRot="1" noChangeArrowheads="1"/>
          </p:cNvSpPr>
          <p:nvPr>
            <p:ph type="title"/>
          </p:nvPr>
        </p:nvSpPr>
        <p:spPr>
          <a:xfrm>
            <a:off x="557213" y="692150"/>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放大率法</a:t>
            </a:r>
          </a:p>
        </p:txBody>
      </p:sp>
      <p:sp>
        <p:nvSpPr>
          <p:cNvPr id="577539" name="Rectangle 3"/>
          <p:cNvSpPr>
            <a:spLocks noGrp="1" noRot="1" noChangeArrowheads="1"/>
          </p:cNvSpPr>
          <p:nvPr>
            <p:ph type="body" idx="1"/>
          </p:nvPr>
        </p:nvSpPr>
        <p:spPr>
          <a:xfrm>
            <a:off x="1020763" y="2049463"/>
            <a:ext cx="7445375" cy="3381375"/>
          </a:xfrm>
        </p:spPr>
        <p:txBody>
          <a:bodyPr/>
          <a:lstStyle/>
          <a:p>
            <a:pPr eaLnBrk="1" hangingPunct="1">
              <a:lnSpc>
                <a:spcPct val="115000"/>
              </a:lnSpc>
              <a:defRPr/>
            </a:pPr>
            <a:r>
              <a:rPr lang="zh-CN" altLang="en-US" smtClean="0">
                <a:latin typeface="Times New Roman" pitchFamily="18" charset="0"/>
                <a:ea typeface="黑体" pitchFamily="2" charset="-122"/>
              </a:rPr>
              <a:t>放大率法是目前最常用的方法，因为它所需设备简单、测量范围较大、测量准确度较高而且操作简便。</a:t>
            </a:r>
          </a:p>
          <a:p>
            <a:pPr eaLnBrk="1" hangingPunct="1">
              <a:lnSpc>
                <a:spcPct val="115000"/>
              </a:lnSpc>
              <a:defRPr/>
            </a:pPr>
            <a:r>
              <a:rPr lang="zh-CN" altLang="en-US" smtClean="0">
                <a:latin typeface="Times New Roman" pitchFamily="18" charset="0"/>
                <a:ea typeface="黑体" pitchFamily="2" charset="-122"/>
              </a:rPr>
              <a:t>这种方法主要用于测量望远物镜、照相物镜和目镜的焦距和顶焦距，也可以用于生产中检验正、负透镜的焦距和顶焦距。</a:t>
            </a:r>
          </a:p>
        </p:txBody>
      </p:sp>
    </p:spTree>
  </p:cSld>
  <p:clrMapOvr>
    <a:masterClrMapping/>
  </p:clrMapOvr>
  <p:transition>
    <p:circl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日期占位符 3"/>
          <p:cNvSpPr>
            <a:spLocks noGrp="1"/>
          </p:cNvSpPr>
          <p:nvPr>
            <p:ph type="dt" sz="quarter" idx="10"/>
          </p:nvPr>
        </p:nvSpPr>
        <p:spPr>
          <a:noFill/>
        </p:spPr>
        <p:txBody>
          <a:bodyPr/>
          <a:lstStyle/>
          <a:p>
            <a:fld id="{74FB0E9D-A226-4F8D-AFCC-650450DCDB51}" type="datetime1">
              <a:rPr lang="zh-CN" altLang="en-US" smtClean="0"/>
              <a:pPr/>
              <a:t>2018/2/24</a:t>
            </a:fld>
            <a:endParaRPr lang="en-US" altLang="zh-CN" smtClean="0"/>
          </a:p>
        </p:txBody>
      </p:sp>
      <p:sp>
        <p:nvSpPr>
          <p:cNvPr id="17415" name="灯片编号占位符 5"/>
          <p:cNvSpPr>
            <a:spLocks noGrp="1"/>
          </p:cNvSpPr>
          <p:nvPr>
            <p:ph type="sldNum" sz="quarter" idx="12"/>
          </p:nvPr>
        </p:nvSpPr>
        <p:spPr>
          <a:noFill/>
        </p:spPr>
        <p:txBody>
          <a:bodyPr/>
          <a:lstStyle/>
          <a:p>
            <a:fld id="{2C85EE95-297A-419F-9055-4426AB0D985F}" type="slidenum">
              <a:rPr lang="en-US" altLang="zh-CN" smtClean="0"/>
              <a:pPr/>
              <a:t>30</a:t>
            </a:fld>
            <a:endParaRPr lang="en-US" altLang="zh-CN" smtClean="0"/>
          </a:p>
        </p:txBody>
      </p:sp>
      <p:sp>
        <p:nvSpPr>
          <p:cNvPr id="17416" name="Rectangle 3"/>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410" name="Object 4"/>
          <p:cNvGraphicFramePr>
            <a:graphicFrameLocks noChangeAspect="1"/>
          </p:cNvGraphicFramePr>
          <p:nvPr/>
        </p:nvGraphicFramePr>
        <p:xfrm>
          <a:off x="1443038" y="5230813"/>
          <a:ext cx="1381125" cy="763587"/>
        </p:xfrm>
        <a:graphic>
          <a:graphicData uri="http://schemas.openxmlformats.org/presentationml/2006/ole">
            <p:oleObj spid="_x0000_s17410" name="公式" r:id="rId3" imgW="19507517" imgH="10668317" progId="Equation.3">
              <p:embed/>
            </p:oleObj>
          </a:graphicData>
        </a:graphic>
      </p:graphicFrame>
      <p:grpSp>
        <p:nvGrpSpPr>
          <p:cNvPr id="17417" name="Group 5"/>
          <p:cNvGrpSpPr>
            <a:grpSpLocks/>
          </p:cNvGrpSpPr>
          <p:nvPr/>
        </p:nvGrpSpPr>
        <p:grpSpPr bwMode="auto">
          <a:xfrm>
            <a:off x="1028700" y="1943100"/>
            <a:ext cx="7100888" cy="3128963"/>
            <a:chOff x="648" y="1224"/>
            <a:chExt cx="4473" cy="1971"/>
          </a:xfrm>
        </p:grpSpPr>
        <p:sp>
          <p:nvSpPr>
            <p:cNvPr id="17422" name="Rectangle 6"/>
            <p:cNvSpPr>
              <a:spLocks noChangeArrowheads="1"/>
            </p:cNvSpPr>
            <p:nvPr/>
          </p:nvSpPr>
          <p:spPr bwMode="auto">
            <a:xfrm>
              <a:off x="648" y="1224"/>
              <a:ext cx="4473" cy="1971"/>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7423" name="Oval 7"/>
            <p:cNvSpPr>
              <a:spLocks noChangeArrowheads="1"/>
            </p:cNvSpPr>
            <p:nvPr/>
          </p:nvSpPr>
          <p:spPr bwMode="auto">
            <a:xfrm>
              <a:off x="2656" y="1448"/>
              <a:ext cx="186" cy="1013"/>
            </a:xfrm>
            <a:prstGeom prst="ellipse">
              <a:avLst/>
            </a:prstGeom>
            <a:noFill/>
            <a:ln w="9525">
              <a:solidFill>
                <a:srgbClr val="000000"/>
              </a:solidFill>
              <a:round/>
              <a:headEnd/>
              <a:tailEnd/>
            </a:ln>
          </p:spPr>
          <p:txBody>
            <a:bodyPr/>
            <a:lstStyle/>
            <a:p>
              <a:endParaRPr lang="zh-CN" altLang="en-US"/>
            </a:p>
          </p:txBody>
        </p:sp>
        <p:sp>
          <p:nvSpPr>
            <p:cNvPr id="17424" name="Oval 8"/>
            <p:cNvSpPr>
              <a:spLocks noChangeArrowheads="1"/>
            </p:cNvSpPr>
            <p:nvPr/>
          </p:nvSpPr>
          <p:spPr bwMode="auto">
            <a:xfrm>
              <a:off x="3349" y="1475"/>
              <a:ext cx="200" cy="946"/>
            </a:xfrm>
            <a:prstGeom prst="ellipse">
              <a:avLst/>
            </a:prstGeom>
            <a:noFill/>
            <a:ln w="9525">
              <a:solidFill>
                <a:srgbClr val="000000"/>
              </a:solidFill>
              <a:round/>
              <a:headEnd/>
              <a:tailEnd/>
            </a:ln>
          </p:spPr>
          <p:txBody>
            <a:bodyPr/>
            <a:lstStyle/>
            <a:p>
              <a:endParaRPr lang="zh-CN" altLang="en-US"/>
            </a:p>
          </p:txBody>
        </p:sp>
        <p:sp>
          <p:nvSpPr>
            <p:cNvPr id="17425" name="Line 9"/>
            <p:cNvSpPr>
              <a:spLocks noChangeShapeType="1"/>
            </p:cNvSpPr>
            <p:nvPr/>
          </p:nvSpPr>
          <p:spPr bwMode="auto">
            <a:xfrm>
              <a:off x="1097" y="1690"/>
              <a:ext cx="0" cy="537"/>
            </a:xfrm>
            <a:prstGeom prst="line">
              <a:avLst/>
            </a:prstGeom>
            <a:noFill/>
            <a:ln w="9525">
              <a:solidFill>
                <a:srgbClr val="000000"/>
              </a:solidFill>
              <a:round/>
              <a:headEnd/>
              <a:tailEnd/>
            </a:ln>
          </p:spPr>
          <p:txBody>
            <a:bodyPr/>
            <a:lstStyle/>
            <a:p>
              <a:endParaRPr lang="zh-CN" altLang="en-US"/>
            </a:p>
          </p:txBody>
        </p:sp>
        <p:sp>
          <p:nvSpPr>
            <p:cNvPr id="17426" name="Line 10"/>
            <p:cNvSpPr>
              <a:spLocks noChangeShapeType="1"/>
            </p:cNvSpPr>
            <p:nvPr/>
          </p:nvSpPr>
          <p:spPr bwMode="auto">
            <a:xfrm>
              <a:off x="1097" y="1688"/>
              <a:ext cx="2372" cy="386"/>
            </a:xfrm>
            <a:prstGeom prst="line">
              <a:avLst/>
            </a:prstGeom>
            <a:noFill/>
            <a:ln w="9525">
              <a:solidFill>
                <a:srgbClr val="000000"/>
              </a:solidFill>
              <a:round/>
              <a:headEnd/>
              <a:tailEnd/>
            </a:ln>
          </p:spPr>
          <p:txBody>
            <a:bodyPr/>
            <a:lstStyle/>
            <a:p>
              <a:endParaRPr lang="zh-CN" altLang="en-US"/>
            </a:p>
          </p:txBody>
        </p:sp>
        <p:sp>
          <p:nvSpPr>
            <p:cNvPr id="17427" name="Line 11"/>
            <p:cNvSpPr>
              <a:spLocks noChangeShapeType="1"/>
            </p:cNvSpPr>
            <p:nvPr/>
          </p:nvSpPr>
          <p:spPr bwMode="auto">
            <a:xfrm>
              <a:off x="1097" y="1688"/>
              <a:ext cx="1652" cy="0"/>
            </a:xfrm>
            <a:prstGeom prst="line">
              <a:avLst/>
            </a:prstGeom>
            <a:noFill/>
            <a:ln w="9525">
              <a:solidFill>
                <a:srgbClr val="000000"/>
              </a:solidFill>
              <a:round/>
              <a:headEnd/>
              <a:tailEnd/>
            </a:ln>
          </p:spPr>
          <p:txBody>
            <a:bodyPr/>
            <a:lstStyle/>
            <a:p>
              <a:endParaRPr lang="zh-CN" altLang="en-US"/>
            </a:p>
          </p:txBody>
        </p:sp>
        <p:sp>
          <p:nvSpPr>
            <p:cNvPr id="17428" name="Line 12"/>
            <p:cNvSpPr>
              <a:spLocks noChangeShapeType="1"/>
            </p:cNvSpPr>
            <p:nvPr/>
          </p:nvSpPr>
          <p:spPr bwMode="auto">
            <a:xfrm>
              <a:off x="1097" y="1688"/>
              <a:ext cx="1652" cy="559"/>
            </a:xfrm>
            <a:prstGeom prst="line">
              <a:avLst/>
            </a:prstGeom>
            <a:noFill/>
            <a:ln w="9525">
              <a:solidFill>
                <a:srgbClr val="000000"/>
              </a:solidFill>
              <a:round/>
              <a:headEnd/>
              <a:tailEnd/>
            </a:ln>
          </p:spPr>
          <p:txBody>
            <a:bodyPr/>
            <a:lstStyle/>
            <a:p>
              <a:endParaRPr lang="zh-CN" altLang="en-US"/>
            </a:p>
          </p:txBody>
        </p:sp>
        <p:sp>
          <p:nvSpPr>
            <p:cNvPr id="17429" name="Line 13"/>
            <p:cNvSpPr>
              <a:spLocks noChangeShapeType="1"/>
            </p:cNvSpPr>
            <p:nvPr/>
          </p:nvSpPr>
          <p:spPr bwMode="auto">
            <a:xfrm>
              <a:off x="2762" y="2247"/>
              <a:ext cx="693" cy="120"/>
            </a:xfrm>
            <a:prstGeom prst="line">
              <a:avLst/>
            </a:prstGeom>
            <a:noFill/>
            <a:ln w="9525">
              <a:solidFill>
                <a:srgbClr val="000000"/>
              </a:solidFill>
              <a:round/>
              <a:headEnd/>
              <a:tailEnd/>
            </a:ln>
          </p:spPr>
          <p:txBody>
            <a:bodyPr/>
            <a:lstStyle/>
            <a:p>
              <a:endParaRPr lang="zh-CN" altLang="en-US"/>
            </a:p>
          </p:txBody>
        </p:sp>
        <p:sp>
          <p:nvSpPr>
            <p:cNvPr id="17430" name="Line 14"/>
            <p:cNvSpPr>
              <a:spLocks noChangeShapeType="1"/>
            </p:cNvSpPr>
            <p:nvPr/>
          </p:nvSpPr>
          <p:spPr bwMode="auto">
            <a:xfrm>
              <a:off x="2752" y="1689"/>
              <a:ext cx="717" cy="132"/>
            </a:xfrm>
            <a:prstGeom prst="line">
              <a:avLst/>
            </a:prstGeom>
            <a:noFill/>
            <a:ln w="9525">
              <a:solidFill>
                <a:srgbClr val="000000"/>
              </a:solidFill>
              <a:round/>
              <a:headEnd/>
              <a:tailEnd/>
            </a:ln>
          </p:spPr>
          <p:txBody>
            <a:bodyPr/>
            <a:lstStyle/>
            <a:p>
              <a:endParaRPr lang="zh-CN" altLang="en-US"/>
            </a:p>
          </p:txBody>
        </p:sp>
        <p:sp>
          <p:nvSpPr>
            <p:cNvPr id="17431" name="Line 15"/>
            <p:cNvSpPr>
              <a:spLocks noChangeShapeType="1"/>
            </p:cNvSpPr>
            <p:nvPr/>
          </p:nvSpPr>
          <p:spPr bwMode="auto">
            <a:xfrm>
              <a:off x="4588" y="1741"/>
              <a:ext cx="0" cy="400"/>
            </a:xfrm>
            <a:prstGeom prst="line">
              <a:avLst/>
            </a:prstGeom>
            <a:noFill/>
            <a:ln w="9525">
              <a:solidFill>
                <a:srgbClr val="000000"/>
              </a:solidFill>
              <a:round/>
              <a:headEnd/>
              <a:tailEnd/>
            </a:ln>
          </p:spPr>
          <p:txBody>
            <a:bodyPr/>
            <a:lstStyle/>
            <a:p>
              <a:endParaRPr lang="zh-CN" altLang="en-US"/>
            </a:p>
          </p:txBody>
        </p:sp>
        <p:sp>
          <p:nvSpPr>
            <p:cNvPr id="17432" name="Line 16"/>
            <p:cNvSpPr>
              <a:spLocks noChangeShapeType="1"/>
            </p:cNvSpPr>
            <p:nvPr/>
          </p:nvSpPr>
          <p:spPr bwMode="auto">
            <a:xfrm>
              <a:off x="3469" y="2074"/>
              <a:ext cx="1119" cy="80"/>
            </a:xfrm>
            <a:prstGeom prst="line">
              <a:avLst/>
            </a:prstGeom>
            <a:noFill/>
            <a:ln w="9525">
              <a:solidFill>
                <a:srgbClr val="000000"/>
              </a:solidFill>
              <a:round/>
              <a:headEnd/>
              <a:tailEnd/>
            </a:ln>
          </p:spPr>
          <p:txBody>
            <a:bodyPr/>
            <a:lstStyle/>
            <a:p>
              <a:endParaRPr lang="zh-CN" altLang="en-US"/>
            </a:p>
          </p:txBody>
        </p:sp>
        <p:sp>
          <p:nvSpPr>
            <p:cNvPr id="17433" name="Line 17"/>
            <p:cNvSpPr>
              <a:spLocks noChangeShapeType="1"/>
            </p:cNvSpPr>
            <p:nvPr/>
          </p:nvSpPr>
          <p:spPr bwMode="auto">
            <a:xfrm flipV="1">
              <a:off x="3442" y="2154"/>
              <a:ext cx="1146" cy="213"/>
            </a:xfrm>
            <a:prstGeom prst="line">
              <a:avLst/>
            </a:prstGeom>
            <a:noFill/>
            <a:ln w="9525">
              <a:solidFill>
                <a:srgbClr val="000000"/>
              </a:solidFill>
              <a:round/>
              <a:headEnd/>
              <a:tailEnd/>
            </a:ln>
          </p:spPr>
          <p:txBody>
            <a:bodyPr/>
            <a:lstStyle/>
            <a:p>
              <a:endParaRPr lang="zh-CN" altLang="en-US"/>
            </a:p>
          </p:txBody>
        </p:sp>
        <p:sp>
          <p:nvSpPr>
            <p:cNvPr id="17434" name="Freeform 18"/>
            <p:cNvSpPr>
              <a:spLocks/>
            </p:cNvSpPr>
            <p:nvPr/>
          </p:nvSpPr>
          <p:spPr bwMode="auto">
            <a:xfrm>
              <a:off x="3455" y="1821"/>
              <a:ext cx="1130" cy="338"/>
            </a:xfrm>
            <a:custGeom>
              <a:avLst/>
              <a:gdLst>
                <a:gd name="T0" fmla="*/ 0 w 1695"/>
                <a:gd name="T1" fmla="*/ 0 h 507"/>
                <a:gd name="T2" fmla="*/ 502 w 1695"/>
                <a:gd name="T3" fmla="*/ 150 h 507"/>
                <a:gd name="T4" fmla="*/ 0 60000 65536"/>
                <a:gd name="T5" fmla="*/ 0 60000 65536"/>
                <a:gd name="T6" fmla="*/ 0 w 1695"/>
                <a:gd name="T7" fmla="*/ 0 h 507"/>
                <a:gd name="T8" fmla="*/ 1695 w 1695"/>
                <a:gd name="T9" fmla="*/ 507 h 507"/>
              </a:gdLst>
              <a:ahLst/>
              <a:cxnLst>
                <a:cxn ang="T4">
                  <a:pos x="T0" y="T1"/>
                </a:cxn>
                <a:cxn ang="T5">
                  <a:pos x="T2" y="T3"/>
                </a:cxn>
              </a:cxnLst>
              <a:rect l="T6" t="T7" r="T8" b="T9"/>
              <a:pathLst>
                <a:path w="1695" h="507">
                  <a:moveTo>
                    <a:pt x="0" y="0"/>
                  </a:moveTo>
                  <a:lnTo>
                    <a:pt x="1695" y="507"/>
                  </a:lnTo>
                </a:path>
              </a:pathLst>
            </a:custGeom>
            <a:noFill/>
            <a:ln w="9525">
              <a:solidFill>
                <a:srgbClr val="000000"/>
              </a:solidFill>
              <a:round/>
              <a:headEnd/>
              <a:tailEnd/>
            </a:ln>
          </p:spPr>
          <p:txBody>
            <a:bodyPr/>
            <a:lstStyle/>
            <a:p>
              <a:endParaRPr lang="zh-CN" altLang="en-US"/>
            </a:p>
          </p:txBody>
        </p:sp>
        <p:sp>
          <p:nvSpPr>
            <p:cNvPr id="17435" name="Line 19"/>
            <p:cNvSpPr>
              <a:spLocks noChangeShapeType="1"/>
            </p:cNvSpPr>
            <p:nvPr/>
          </p:nvSpPr>
          <p:spPr bwMode="auto">
            <a:xfrm>
              <a:off x="1097" y="2194"/>
              <a:ext cx="0" cy="560"/>
            </a:xfrm>
            <a:prstGeom prst="line">
              <a:avLst/>
            </a:prstGeom>
            <a:noFill/>
            <a:ln w="6350">
              <a:solidFill>
                <a:srgbClr val="000000"/>
              </a:solidFill>
              <a:round/>
              <a:headEnd/>
              <a:tailEnd/>
            </a:ln>
          </p:spPr>
          <p:txBody>
            <a:bodyPr/>
            <a:lstStyle/>
            <a:p>
              <a:endParaRPr lang="zh-CN" altLang="en-US"/>
            </a:p>
          </p:txBody>
        </p:sp>
        <p:sp>
          <p:nvSpPr>
            <p:cNvPr id="17436" name="Line 20"/>
            <p:cNvSpPr>
              <a:spLocks noChangeShapeType="1"/>
            </p:cNvSpPr>
            <p:nvPr/>
          </p:nvSpPr>
          <p:spPr bwMode="auto">
            <a:xfrm>
              <a:off x="4588" y="2141"/>
              <a:ext cx="0" cy="599"/>
            </a:xfrm>
            <a:prstGeom prst="line">
              <a:avLst/>
            </a:prstGeom>
            <a:noFill/>
            <a:ln w="6350">
              <a:solidFill>
                <a:srgbClr val="000000"/>
              </a:solidFill>
              <a:round/>
              <a:headEnd/>
              <a:tailEnd/>
            </a:ln>
          </p:spPr>
          <p:txBody>
            <a:bodyPr/>
            <a:lstStyle/>
            <a:p>
              <a:endParaRPr lang="zh-CN" altLang="en-US"/>
            </a:p>
          </p:txBody>
        </p:sp>
        <p:sp>
          <p:nvSpPr>
            <p:cNvPr id="17437" name="Line 21"/>
            <p:cNvSpPr>
              <a:spLocks noChangeShapeType="1"/>
            </p:cNvSpPr>
            <p:nvPr/>
          </p:nvSpPr>
          <p:spPr bwMode="auto">
            <a:xfrm>
              <a:off x="1097" y="2645"/>
              <a:ext cx="1652"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17438" name="Line 22"/>
            <p:cNvSpPr>
              <a:spLocks noChangeShapeType="1"/>
            </p:cNvSpPr>
            <p:nvPr/>
          </p:nvSpPr>
          <p:spPr bwMode="auto">
            <a:xfrm>
              <a:off x="3455" y="2645"/>
              <a:ext cx="1133"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78583" name="Text Box 23"/>
            <p:cNvSpPr txBox="1">
              <a:spLocks noChangeArrowheads="1"/>
            </p:cNvSpPr>
            <p:nvPr/>
          </p:nvSpPr>
          <p:spPr bwMode="auto">
            <a:xfrm>
              <a:off x="1742" y="2399"/>
              <a:ext cx="466" cy="320"/>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f</a:t>
              </a:r>
              <a:r>
                <a:rPr lang="en-US" altLang="zh-CN" b="1" baseline="-25000">
                  <a:effectLst>
                    <a:outerShdw blurRad="38100" dist="38100" dir="2700000" algn="tl">
                      <a:srgbClr val="C0C0C0"/>
                    </a:outerShdw>
                  </a:effectLst>
                  <a:latin typeface="Times New Roman" pitchFamily="18" charset="0"/>
                </a:rPr>
                <a:t>0</a:t>
              </a:r>
              <a:r>
                <a:rPr lang="en-US" altLang="zh-CN" b="1">
                  <a:effectLst>
                    <a:outerShdw blurRad="38100" dist="38100" dir="2700000" algn="tl">
                      <a:srgbClr val="C0C0C0"/>
                    </a:outerShdw>
                  </a:effectLst>
                  <a:latin typeface="Times New Roman" pitchFamily="18" charset="0"/>
                </a:rPr>
                <a:t>′</a:t>
              </a:r>
              <a:endParaRPr lang="en-US" altLang="zh-CN" b="1">
                <a:effectLst>
                  <a:outerShdw blurRad="38100" dist="38100" dir="2700000" algn="tl">
                    <a:srgbClr val="C0C0C0"/>
                  </a:outerShdw>
                </a:effectLst>
              </a:endParaRPr>
            </a:p>
          </p:txBody>
        </p:sp>
        <p:sp>
          <p:nvSpPr>
            <p:cNvPr id="578584" name="Text Box 24"/>
            <p:cNvSpPr txBox="1">
              <a:spLocks noChangeArrowheads="1"/>
            </p:cNvSpPr>
            <p:nvPr/>
          </p:nvSpPr>
          <p:spPr bwMode="auto">
            <a:xfrm>
              <a:off x="3831" y="2410"/>
              <a:ext cx="427" cy="306"/>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f </a:t>
              </a:r>
              <a:r>
                <a:rPr lang="en-US" altLang="zh-CN" b="1">
                  <a:effectLst>
                    <a:outerShdw blurRad="38100" dist="38100" dir="2700000" algn="tl">
                      <a:srgbClr val="C0C0C0"/>
                    </a:outerShdw>
                  </a:effectLst>
                  <a:latin typeface="Times New Roman" pitchFamily="18" charset="0"/>
                </a:rPr>
                <a:t>′</a:t>
              </a:r>
              <a:endParaRPr lang="en-US" altLang="zh-CN" b="1">
                <a:effectLst>
                  <a:outerShdw blurRad="38100" dist="38100" dir="2700000" algn="tl">
                    <a:srgbClr val="C0C0C0"/>
                  </a:outerShdw>
                </a:effectLst>
              </a:endParaRPr>
            </a:p>
          </p:txBody>
        </p:sp>
        <p:sp>
          <p:nvSpPr>
            <p:cNvPr id="17441" name="Freeform 25"/>
            <p:cNvSpPr>
              <a:spLocks/>
            </p:cNvSpPr>
            <p:nvPr/>
          </p:nvSpPr>
          <p:spPr bwMode="auto">
            <a:xfrm>
              <a:off x="845" y="1687"/>
              <a:ext cx="252" cy="1"/>
            </a:xfrm>
            <a:custGeom>
              <a:avLst/>
              <a:gdLst>
                <a:gd name="T0" fmla="*/ 0 w 378"/>
                <a:gd name="T1" fmla="*/ 0 h 2"/>
                <a:gd name="T2" fmla="*/ 112 w 378"/>
                <a:gd name="T3" fmla="*/ 1 h 2"/>
                <a:gd name="T4" fmla="*/ 0 60000 65536"/>
                <a:gd name="T5" fmla="*/ 0 60000 65536"/>
                <a:gd name="T6" fmla="*/ 0 w 378"/>
                <a:gd name="T7" fmla="*/ 0 h 2"/>
                <a:gd name="T8" fmla="*/ 378 w 378"/>
                <a:gd name="T9" fmla="*/ 2 h 2"/>
              </a:gdLst>
              <a:ahLst/>
              <a:cxnLst>
                <a:cxn ang="T4">
                  <a:pos x="T0" y="T1"/>
                </a:cxn>
                <a:cxn ang="T5">
                  <a:pos x="T2" y="T3"/>
                </a:cxn>
              </a:cxnLst>
              <a:rect l="T6" t="T7" r="T8" b="T9"/>
              <a:pathLst>
                <a:path w="378" h="2">
                  <a:moveTo>
                    <a:pt x="0" y="0"/>
                  </a:moveTo>
                  <a:lnTo>
                    <a:pt x="378" y="2"/>
                  </a:lnTo>
                </a:path>
              </a:pathLst>
            </a:custGeom>
            <a:noFill/>
            <a:ln w="6350">
              <a:solidFill>
                <a:srgbClr val="000000"/>
              </a:solidFill>
              <a:round/>
              <a:headEnd/>
              <a:tailEnd/>
            </a:ln>
          </p:spPr>
          <p:txBody>
            <a:bodyPr/>
            <a:lstStyle/>
            <a:p>
              <a:endParaRPr lang="zh-CN" altLang="en-US"/>
            </a:p>
          </p:txBody>
        </p:sp>
        <p:sp>
          <p:nvSpPr>
            <p:cNvPr id="17442" name="Freeform 26"/>
            <p:cNvSpPr>
              <a:spLocks/>
            </p:cNvSpPr>
            <p:nvPr/>
          </p:nvSpPr>
          <p:spPr bwMode="auto">
            <a:xfrm>
              <a:off x="843" y="2235"/>
              <a:ext cx="254" cy="0"/>
            </a:xfrm>
            <a:custGeom>
              <a:avLst/>
              <a:gdLst>
                <a:gd name="T0" fmla="*/ 0 w 381"/>
                <a:gd name="T1" fmla="*/ 0 h 1"/>
                <a:gd name="T2" fmla="*/ 113 w 381"/>
                <a:gd name="T3" fmla="*/ 0 h 1"/>
                <a:gd name="T4" fmla="*/ 0 60000 65536"/>
                <a:gd name="T5" fmla="*/ 0 60000 65536"/>
                <a:gd name="T6" fmla="*/ 0 w 381"/>
                <a:gd name="T7" fmla="*/ 0 h 1"/>
                <a:gd name="T8" fmla="*/ 381 w 381"/>
                <a:gd name="T9" fmla="*/ 0 h 1"/>
              </a:gdLst>
              <a:ahLst/>
              <a:cxnLst>
                <a:cxn ang="T4">
                  <a:pos x="T0" y="T1"/>
                </a:cxn>
                <a:cxn ang="T5">
                  <a:pos x="T2" y="T3"/>
                </a:cxn>
              </a:cxnLst>
              <a:rect l="T6" t="T7" r="T8" b="T9"/>
              <a:pathLst>
                <a:path w="381" h="1">
                  <a:moveTo>
                    <a:pt x="0" y="0"/>
                  </a:moveTo>
                  <a:lnTo>
                    <a:pt x="381" y="0"/>
                  </a:lnTo>
                </a:path>
              </a:pathLst>
            </a:custGeom>
            <a:noFill/>
            <a:ln w="6350">
              <a:solidFill>
                <a:srgbClr val="000000"/>
              </a:solidFill>
              <a:round/>
              <a:headEnd/>
              <a:tailEnd/>
            </a:ln>
          </p:spPr>
          <p:txBody>
            <a:bodyPr/>
            <a:lstStyle/>
            <a:p>
              <a:endParaRPr lang="zh-CN" altLang="en-US"/>
            </a:p>
          </p:txBody>
        </p:sp>
        <p:sp>
          <p:nvSpPr>
            <p:cNvPr id="17443" name="Line 27"/>
            <p:cNvSpPr>
              <a:spLocks noChangeShapeType="1"/>
            </p:cNvSpPr>
            <p:nvPr/>
          </p:nvSpPr>
          <p:spPr bwMode="auto">
            <a:xfrm>
              <a:off x="963" y="1688"/>
              <a:ext cx="0" cy="546"/>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78588" name="Text Box 28"/>
            <p:cNvSpPr txBox="1">
              <a:spLocks noChangeArrowheads="1"/>
            </p:cNvSpPr>
            <p:nvPr/>
          </p:nvSpPr>
          <p:spPr bwMode="auto">
            <a:xfrm>
              <a:off x="651" y="1756"/>
              <a:ext cx="373" cy="387"/>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y</a:t>
              </a:r>
              <a:r>
                <a:rPr lang="en-US" altLang="zh-CN" b="1" baseline="-25000">
                  <a:effectLst>
                    <a:outerShdw blurRad="38100" dist="38100" dir="2700000" algn="tl">
                      <a:srgbClr val="C0C0C0"/>
                    </a:outerShdw>
                  </a:effectLst>
                  <a:latin typeface="Times New Roman" pitchFamily="18" charset="0"/>
                </a:rPr>
                <a:t>0</a:t>
              </a:r>
              <a:endParaRPr lang="en-US" altLang="zh-CN" b="1">
                <a:effectLst>
                  <a:outerShdw blurRad="38100" dist="38100" dir="2700000" algn="tl">
                    <a:srgbClr val="C0C0C0"/>
                  </a:outerShdw>
                </a:effectLst>
              </a:endParaRPr>
            </a:p>
          </p:txBody>
        </p:sp>
        <p:sp>
          <p:nvSpPr>
            <p:cNvPr id="17445" name="Line 29"/>
            <p:cNvSpPr>
              <a:spLocks noChangeShapeType="1"/>
            </p:cNvSpPr>
            <p:nvPr/>
          </p:nvSpPr>
          <p:spPr bwMode="auto">
            <a:xfrm flipV="1">
              <a:off x="1097" y="1834"/>
              <a:ext cx="2372" cy="400"/>
            </a:xfrm>
            <a:prstGeom prst="line">
              <a:avLst/>
            </a:prstGeom>
            <a:noFill/>
            <a:ln w="9525">
              <a:solidFill>
                <a:srgbClr val="000000"/>
              </a:solidFill>
              <a:prstDash val="dash"/>
              <a:round/>
              <a:headEnd/>
              <a:tailEnd/>
            </a:ln>
          </p:spPr>
          <p:txBody>
            <a:bodyPr/>
            <a:lstStyle/>
            <a:p>
              <a:endParaRPr lang="zh-CN" altLang="en-US"/>
            </a:p>
          </p:txBody>
        </p:sp>
        <p:sp>
          <p:nvSpPr>
            <p:cNvPr id="17446" name="Line 30"/>
            <p:cNvSpPr>
              <a:spLocks noChangeShapeType="1"/>
            </p:cNvSpPr>
            <p:nvPr/>
          </p:nvSpPr>
          <p:spPr bwMode="auto">
            <a:xfrm flipV="1">
              <a:off x="3455" y="1741"/>
              <a:ext cx="1133" cy="213"/>
            </a:xfrm>
            <a:prstGeom prst="line">
              <a:avLst/>
            </a:prstGeom>
            <a:noFill/>
            <a:ln w="9525">
              <a:solidFill>
                <a:srgbClr val="000000"/>
              </a:solidFill>
              <a:prstDash val="dash"/>
              <a:round/>
              <a:headEnd/>
              <a:tailEnd/>
            </a:ln>
          </p:spPr>
          <p:txBody>
            <a:bodyPr/>
            <a:lstStyle/>
            <a:p>
              <a:endParaRPr lang="zh-CN" altLang="en-US"/>
            </a:p>
          </p:txBody>
        </p:sp>
        <p:sp>
          <p:nvSpPr>
            <p:cNvPr id="17447" name="Line 31"/>
            <p:cNvSpPr>
              <a:spLocks noChangeShapeType="1"/>
            </p:cNvSpPr>
            <p:nvPr/>
          </p:nvSpPr>
          <p:spPr bwMode="auto">
            <a:xfrm>
              <a:off x="4588" y="1741"/>
              <a:ext cx="316" cy="0"/>
            </a:xfrm>
            <a:prstGeom prst="line">
              <a:avLst/>
            </a:prstGeom>
            <a:noFill/>
            <a:ln w="6350">
              <a:solidFill>
                <a:srgbClr val="000000"/>
              </a:solidFill>
              <a:round/>
              <a:headEnd/>
              <a:tailEnd/>
            </a:ln>
          </p:spPr>
          <p:txBody>
            <a:bodyPr/>
            <a:lstStyle/>
            <a:p>
              <a:endParaRPr lang="zh-CN" altLang="en-US"/>
            </a:p>
          </p:txBody>
        </p:sp>
        <p:sp>
          <p:nvSpPr>
            <p:cNvPr id="17448" name="Line 32"/>
            <p:cNvSpPr>
              <a:spLocks noChangeShapeType="1"/>
            </p:cNvSpPr>
            <p:nvPr/>
          </p:nvSpPr>
          <p:spPr bwMode="auto">
            <a:xfrm>
              <a:off x="4588" y="2167"/>
              <a:ext cx="322" cy="0"/>
            </a:xfrm>
            <a:prstGeom prst="line">
              <a:avLst/>
            </a:prstGeom>
            <a:noFill/>
            <a:ln w="6350">
              <a:solidFill>
                <a:srgbClr val="000000"/>
              </a:solidFill>
              <a:round/>
              <a:headEnd/>
              <a:tailEnd/>
            </a:ln>
          </p:spPr>
          <p:txBody>
            <a:bodyPr/>
            <a:lstStyle/>
            <a:p>
              <a:endParaRPr lang="zh-CN" altLang="en-US"/>
            </a:p>
          </p:txBody>
        </p:sp>
        <p:sp>
          <p:nvSpPr>
            <p:cNvPr id="17449" name="Line 33"/>
            <p:cNvSpPr>
              <a:spLocks noChangeShapeType="1"/>
            </p:cNvSpPr>
            <p:nvPr/>
          </p:nvSpPr>
          <p:spPr bwMode="auto">
            <a:xfrm>
              <a:off x="4815" y="1741"/>
              <a:ext cx="0" cy="426"/>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78594" name="Text Box 34"/>
            <p:cNvSpPr txBox="1">
              <a:spLocks noChangeArrowheads="1"/>
            </p:cNvSpPr>
            <p:nvPr/>
          </p:nvSpPr>
          <p:spPr bwMode="auto">
            <a:xfrm>
              <a:off x="4677" y="1786"/>
              <a:ext cx="426" cy="321"/>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y </a:t>
              </a:r>
              <a:r>
                <a:rPr lang="en-US" altLang="zh-CN" b="1">
                  <a:effectLst>
                    <a:outerShdw blurRad="38100" dist="38100" dir="2700000" algn="tl">
                      <a:srgbClr val="C0C0C0"/>
                    </a:outerShdw>
                  </a:effectLst>
                  <a:latin typeface="Times New Roman" pitchFamily="18" charset="0"/>
                </a:rPr>
                <a:t>′</a:t>
              </a:r>
              <a:endParaRPr lang="en-US" altLang="zh-CN" b="1">
                <a:effectLst>
                  <a:outerShdw blurRad="38100" dist="38100" dir="2700000" algn="tl">
                    <a:srgbClr val="C0C0C0"/>
                  </a:outerShdw>
                </a:effectLst>
              </a:endParaRPr>
            </a:p>
          </p:txBody>
        </p:sp>
        <p:sp>
          <p:nvSpPr>
            <p:cNvPr id="578595" name="Text Box 35"/>
            <p:cNvSpPr txBox="1">
              <a:spLocks noChangeArrowheads="1"/>
            </p:cNvSpPr>
            <p:nvPr/>
          </p:nvSpPr>
          <p:spPr bwMode="auto">
            <a:xfrm>
              <a:off x="2504" y="1288"/>
              <a:ext cx="386" cy="293"/>
            </a:xfrm>
            <a:prstGeom prst="rect">
              <a:avLst/>
            </a:prstGeom>
            <a:noFill/>
            <a:ln w="9525">
              <a:noFill/>
              <a:miter lim="800000"/>
              <a:headEnd/>
              <a:tailEnd/>
            </a:ln>
          </p:spPr>
          <p:txBody>
            <a:bodyPr/>
            <a:lstStyle/>
            <a:p>
              <a:pPr algn="just">
                <a:defRPr/>
              </a:pPr>
              <a:r>
                <a:rPr lang="en-US" altLang="zh-CN" b="1" i="1" dirty="0">
                  <a:effectLst>
                    <a:outerShdw blurRad="38100" dist="38100" dir="2700000" algn="tl">
                      <a:srgbClr val="C0C0C0"/>
                    </a:outerShdw>
                  </a:effectLst>
                  <a:latin typeface="Times New Roman" pitchFamily="18" charset="0"/>
                </a:rPr>
                <a:t>O</a:t>
              </a:r>
              <a:endParaRPr lang="en-US" altLang="zh-CN" b="1" dirty="0">
                <a:effectLst>
                  <a:outerShdw blurRad="38100" dist="38100" dir="2700000" algn="tl">
                    <a:srgbClr val="C0C0C0"/>
                  </a:outerShdw>
                </a:effectLst>
              </a:endParaRPr>
            </a:p>
          </p:txBody>
        </p:sp>
        <p:sp>
          <p:nvSpPr>
            <p:cNvPr id="578596" name="Text Box 36"/>
            <p:cNvSpPr txBox="1">
              <a:spLocks noChangeArrowheads="1"/>
            </p:cNvSpPr>
            <p:nvPr/>
          </p:nvSpPr>
          <p:spPr bwMode="auto">
            <a:xfrm>
              <a:off x="3354" y="1267"/>
              <a:ext cx="453" cy="346"/>
            </a:xfrm>
            <a:prstGeom prst="rect">
              <a:avLst/>
            </a:prstGeom>
            <a:noFill/>
            <a:ln w="9525">
              <a:noFill/>
              <a:miter lim="800000"/>
              <a:headEnd/>
              <a:tailEnd/>
            </a:ln>
          </p:spPr>
          <p:txBody>
            <a:bodyPr/>
            <a:lstStyle/>
            <a:p>
              <a:pPr algn="just">
                <a:defRPr/>
              </a:pPr>
              <a:r>
                <a:rPr lang="en-US" altLang="zh-CN" b="1" i="1" dirty="0">
                  <a:effectLst>
                    <a:outerShdw blurRad="38100" dist="38100" dir="2700000" algn="tl">
                      <a:srgbClr val="C0C0C0"/>
                    </a:outerShdw>
                  </a:effectLst>
                  <a:latin typeface="Times New Roman" pitchFamily="18" charset="0"/>
                </a:rPr>
                <a:t>L</a:t>
              </a:r>
              <a:endParaRPr lang="en-US" altLang="zh-CN" b="1" dirty="0">
                <a:effectLst>
                  <a:outerShdw blurRad="38100" dist="38100" dir="2700000" algn="tl">
                    <a:srgbClr val="C0C0C0"/>
                  </a:outerShdw>
                </a:effectLst>
              </a:endParaRPr>
            </a:p>
          </p:txBody>
        </p:sp>
        <p:sp>
          <p:nvSpPr>
            <p:cNvPr id="17453" name="Rectangle 37"/>
            <p:cNvSpPr>
              <a:spLocks noChangeArrowheads="1"/>
            </p:cNvSpPr>
            <p:nvPr/>
          </p:nvSpPr>
          <p:spPr bwMode="auto">
            <a:xfrm>
              <a:off x="2680" y="1395"/>
              <a:ext cx="147" cy="93"/>
            </a:xfrm>
            <a:prstGeom prst="rect">
              <a:avLst/>
            </a:prstGeom>
            <a:solidFill>
              <a:schemeClr val="accent1"/>
            </a:solidFill>
            <a:ln w="9525">
              <a:noFill/>
              <a:miter lim="800000"/>
              <a:headEnd/>
              <a:tailEnd/>
            </a:ln>
          </p:spPr>
          <p:txBody>
            <a:bodyPr/>
            <a:lstStyle/>
            <a:p>
              <a:endParaRPr lang="zh-CN" altLang="en-US"/>
            </a:p>
          </p:txBody>
        </p:sp>
        <p:sp>
          <p:nvSpPr>
            <p:cNvPr id="17454" name="Line 38"/>
            <p:cNvSpPr>
              <a:spLocks noChangeShapeType="1"/>
            </p:cNvSpPr>
            <p:nvPr/>
          </p:nvSpPr>
          <p:spPr bwMode="auto">
            <a:xfrm>
              <a:off x="2709" y="1488"/>
              <a:ext cx="80" cy="0"/>
            </a:xfrm>
            <a:prstGeom prst="line">
              <a:avLst/>
            </a:prstGeom>
            <a:noFill/>
            <a:ln w="9525">
              <a:solidFill>
                <a:srgbClr val="000000"/>
              </a:solidFill>
              <a:round/>
              <a:headEnd/>
              <a:tailEnd/>
            </a:ln>
          </p:spPr>
          <p:txBody>
            <a:bodyPr/>
            <a:lstStyle/>
            <a:p>
              <a:endParaRPr lang="zh-CN" altLang="en-US"/>
            </a:p>
          </p:txBody>
        </p:sp>
        <p:sp>
          <p:nvSpPr>
            <p:cNvPr id="578599" name="Text Box 39"/>
            <p:cNvSpPr txBox="1">
              <a:spLocks noChangeArrowheads="1"/>
            </p:cNvSpPr>
            <p:nvPr/>
          </p:nvSpPr>
          <p:spPr bwMode="auto">
            <a:xfrm>
              <a:off x="3375" y="1435"/>
              <a:ext cx="134" cy="66"/>
            </a:xfrm>
            <a:prstGeom prst="rect">
              <a:avLst/>
            </a:prstGeom>
            <a:solidFill>
              <a:schemeClr val="accent1"/>
            </a:solidFill>
            <a:ln w="9525">
              <a:noFill/>
              <a:miter lim="800000"/>
              <a:headEnd/>
              <a:tailEnd/>
            </a:ln>
          </p:spPr>
          <p:txBody>
            <a:bodyPr/>
            <a:lstStyle/>
            <a:p>
              <a:pPr>
                <a:defRPr/>
              </a:pPr>
              <a:endParaRPr lang="zh-CN" altLang="zh-CN" b="1">
                <a:effectLst>
                  <a:outerShdw blurRad="38100" dist="38100" dir="2700000" algn="tl">
                    <a:srgbClr val="FFFFFF"/>
                  </a:outerShdw>
                </a:effectLst>
              </a:endParaRPr>
            </a:p>
          </p:txBody>
        </p:sp>
        <p:sp>
          <p:nvSpPr>
            <p:cNvPr id="17456" name="Line 40"/>
            <p:cNvSpPr>
              <a:spLocks noChangeShapeType="1"/>
            </p:cNvSpPr>
            <p:nvPr/>
          </p:nvSpPr>
          <p:spPr bwMode="auto">
            <a:xfrm>
              <a:off x="3415" y="1501"/>
              <a:ext cx="67" cy="0"/>
            </a:xfrm>
            <a:prstGeom prst="line">
              <a:avLst/>
            </a:prstGeom>
            <a:noFill/>
            <a:ln w="9525">
              <a:solidFill>
                <a:srgbClr val="000000"/>
              </a:solidFill>
              <a:round/>
              <a:headEnd/>
              <a:tailEnd/>
            </a:ln>
          </p:spPr>
          <p:txBody>
            <a:bodyPr/>
            <a:lstStyle/>
            <a:p>
              <a:endParaRPr lang="zh-CN" altLang="en-US"/>
            </a:p>
          </p:txBody>
        </p:sp>
        <p:sp>
          <p:nvSpPr>
            <p:cNvPr id="17457" name="Rectangle 41"/>
            <p:cNvSpPr>
              <a:spLocks noChangeArrowheads="1"/>
            </p:cNvSpPr>
            <p:nvPr/>
          </p:nvSpPr>
          <p:spPr bwMode="auto">
            <a:xfrm>
              <a:off x="2696" y="2434"/>
              <a:ext cx="120" cy="53"/>
            </a:xfrm>
            <a:prstGeom prst="rect">
              <a:avLst/>
            </a:prstGeom>
            <a:solidFill>
              <a:schemeClr val="accent1"/>
            </a:solidFill>
            <a:ln w="9525">
              <a:noFill/>
              <a:miter lim="800000"/>
              <a:headEnd/>
              <a:tailEnd/>
            </a:ln>
          </p:spPr>
          <p:txBody>
            <a:bodyPr/>
            <a:lstStyle/>
            <a:p>
              <a:endParaRPr lang="zh-CN" altLang="en-US"/>
            </a:p>
          </p:txBody>
        </p:sp>
        <p:sp>
          <p:nvSpPr>
            <p:cNvPr id="17458" name="Line 42"/>
            <p:cNvSpPr>
              <a:spLocks noChangeShapeType="1"/>
            </p:cNvSpPr>
            <p:nvPr/>
          </p:nvSpPr>
          <p:spPr bwMode="auto">
            <a:xfrm>
              <a:off x="2709" y="2421"/>
              <a:ext cx="67" cy="0"/>
            </a:xfrm>
            <a:prstGeom prst="line">
              <a:avLst/>
            </a:prstGeom>
            <a:noFill/>
            <a:ln w="9525">
              <a:solidFill>
                <a:srgbClr val="000000"/>
              </a:solidFill>
              <a:round/>
              <a:headEnd/>
              <a:tailEnd/>
            </a:ln>
          </p:spPr>
          <p:txBody>
            <a:bodyPr/>
            <a:lstStyle/>
            <a:p>
              <a:endParaRPr lang="zh-CN" altLang="en-US"/>
            </a:p>
          </p:txBody>
        </p:sp>
        <p:sp>
          <p:nvSpPr>
            <p:cNvPr id="17459" name="Rectangle 43"/>
            <p:cNvSpPr>
              <a:spLocks noChangeArrowheads="1"/>
            </p:cNvSpPr>
            <p:nvPr/>
          </p:nvSpPr>
          <p:spPr bwMode="auto">
            <a:xfrm>
              <a:off x="3389" y="2396"/>
              <a:ext cx="133" cy="53"/>
            </a:xfrm>
            <a:prstGeom prst="rect">
              <a:avLst/>
            </a:prstGeom>
            <a:solidFill>
              <a:schemeClr val="accent1"/>
            </a:solidFill>
            <a:ln w="9525">
              <a:noFill/>
              <a:miter lim="800000"/>
              <a:headEnd/>
              <a:tailEnd/>
            </a:ln>
          </p:spPr>
          <p:txBody>
            <a:bodyPr/>
            <a:lstStyle/>
            <a:p>
              <a:endParaRPr lang="zh-CN" altLang="en-US"/>
            </a:p>
          </p:txBody>
        </p:sp>
        <p:sp>
          <p:nvSpPr>
            <p:cNvPr id="17460" name="Line 44"/>
            <p:cNvSpPr>
              <a:spLocks noChangeShapeType="1"/>
            </p:cNvSpPr>
            <p:nvPr/>
          </p:nvSpPr>
          <p:spPr bwMode="auto">
            <a:xfrm>
              <a:off x="3415" y="2394"/>
              <a:ext cx="67" cy="0"/>
            </a:xfrm>
            <a:prstGeom prst="line">
              <a:avLst/>
            </a:prstGeom>
            <a:noFill/>
            <a:ln w="9525">
              <a:solidFill>
                <a:srgbClr val="000000"/>
              </a:solidFill>
              <a:round/>
              <a:headEnd/>
              <a:tailEnd/>
            </a:ln>
          </p:spPr>
          <p:txBody>
            <a:bodyPr/>
            <a:lstStyle/>
            <a:p>
              <a:endParaRPr lang="zh-CN" altLang="en-US"/>
            </a:p>
          </p:txBody>
        </p:sp>
        <p:sp>
          <p:nvSpPr>
            <p:cNvPr id="17461" name="Line 45"/>
            <p:cNvSpPr>
              <a:spLocks noChangeShapeType="1"/>
            </p:cNvSpPr>
            <p:nvPr/>
          </p:nvSpPr>
          <p:spPr bwMode="auto">
            <a:xfrm>
              <a:off x="2749" y="1421"/>
              <a:ext cx="0" cy="1319"/>
            </a:xfrm>
            <a:prstGeom prst="line">
              <a:avLst/>
            </a:prstGeom>
            <a:noFill/>
            <a:ln w="6350">
              <a:solidFill>
                <a:srgbClr val="000000"/>
              </a:solidFill>
              <a:round/>
              <a:headEnd/>
              <a:tailEnd/>
            </a:ln>
          </p:spPr>
          <p:txBody>
            <a:bodyPr/>
            <a:lstStyle/>
            <a:p>
              <a:endParaRPr lang="zh-CN" altLang="en-US"/>
            </a:p>
          </p:txBody>
        </p:sp>
        <p:sp>
          <p:nvSpPr>
            <p:cNvPr id="17462" name="Line 46"/>
            <p:cNvSpPr>
              <a:spLocks noChangeShapeType="1"/>
            </p:cNvSpPr>
            <p:nvPr/>
          </p:nvSpPr>
          <p:spPr bwMode="auto">
            <a:xfrm>
              <a:off x="3455" y="1461"/>
              <a:ext cx="0" cy="1279"/>
            </a:xfrm>
            <a:prstGeom prst="line">
              <a:avLst/>
            </a:prstGeom>
            <a:noFill/>
            <a:ln w="6350">
              <a:solidFill>
                <a:srgbClr val="000000"/>
              </a:solidFill>
              <a:round/>
              <a:headEnd/>
              <a:tailEnd/>
            </a:ln>
          </p:spPr>
          <p:txBody>
            <a:bodyPr/>
            <a:lstStyle/>
            <a:p>
              <a:endParaRPr lang="zh-CN" altLang="en-US"/>
            </a:p>
          </p:txBody>
        </p:sp>
        <p:sp>
          <p:nvSpPr>
            <p:cNvPr id="17463" name="Line 47"/>
            <p:cNvSpPr>
              <a:spLocks noChangeShapeType="1"/>
            </p:cNvSpPr>
            <p:nvPr/>
          </p:nvSpPr>
          <p:spPr bwMode="auto">
            <a:xfrm>
              <a:off x="1030" y="1954"/>
              <a:ext cx="3678" cy="0"/>
            </a:xfrm>
            <a:prstGeom prst="line">
              <a:avLst/>
            </a:prstGeom>
            <a:noFill/>
            <a:ln w="6350">
              <a:solidFill>
                <a:srgbClr val="000000"/>
              </a:solidFill>
              <a:prstDash val="lgDashDot"/>
              <a:round/>
              <a:headEnd/>
              <a:tailEnd/>
            </a:ln>
          </p:spPr>
          <p:txBody>
            <a:bodyPr/>
            <a:lstStyle/>
            <a:p>
              <a:endParaRPr lang="zh-CN" altLang="en-US"/>
            </a:p>
          </p:txBody>
        </p:sp>
        <p:sp>
          <p:nvSpPr>
            <p:cNvPr id="578608" name="Text Box 48"/>
            <p:cNvSpPr txBox="1">
              <a:spLocks noChangeArrowheads="1"/>
            </p:cNvSpPr>
            <p:nvPr/>
          </p:nvSpPr>
          <p:spPr bwMode="auto">
            <a:xfrm>
              <a:off x="1878" y="1772"/>
              <a:ext cx="333" cy="266"/>
            </a:xfrm>
            <a:prstGeom prst="rect">
              <a:avLst/>
            </a:prstGeom>
            <a:noFill/>
            <a:ln w="9525">
              <a:noFill/>
              <a:miter lim="800000"/>
              <a:headEnd/>
              <a:tailEnd/>
            </a:ln>
          </p:spPr>
          <p:txBody>
            <a:bodyPr/>
            <a:lstStyle/>
            <a:p>
              <a:pPr algn="just">
                <a:defRPr/>
              </a:pPr>
              <a:r>
                <a:rPr lang="en-US" altLang="zh-CN" b="1" i="1" dirty="0">
                  <a:effectLst>
                    <a:outerShdw blurRad="38100" dist="38100" dir="2700000" algn="tl">
                      <a:srgbClr val="C0C0C0"/>
                    </a:outerShdw>
                  </a:effectLst>
                  <a:latin typeface="宋体" pitchFamily="2" charset="-122"/>
                </a:rPr>
                <a:t>ω</a:t>
              </a:r>
              <a:endParaRPr lang="en-US" altLang="zh-CN" b="1" dirty="0">
                <a:effectLst>
                  <a:outerShdw blurRad="38100" dist="38100" dir="2700000" algn="tl">
                    <a:srgbClr val="C0C0C0"/>
                  </a:outerShdw>
                </a:effectLst>
              </a:endParaRPr>
            </a:p>
          </p:txBody>
        </p:sp>
        <p:sp>
          <p:nvSpPr>
            <p:cNvPr id="17465" name="Line 49"/>
            <p:cNvSpPr>
              <a:spLocks noChangeShapeType="1"/>
            </p:cNvSpPr>
            <p:nvPr/>
          </p:nvSpPr>
          <p:spPr bwMode="auto">
            <a:xfrm>
              <a:off x="3455" y="1954"/>
              <a:ext cx="1133" cy="213"/>
            </a:xfrm>
            <a:prstGeom prst="line">
              <a:avLst/>
            </a:prstGeom>
            <a:noFill/>
            <a:ln w="9525">
              <a:solidFill>
                <a:srgbClr val="000000"/>
              </a:solidFill>
              <a:round/>
              <a:headEnd/>
              <a:tailEnd/>
            </a:ln>
          </p:spPr>
          <p:txBody>
            <a:bodyPr/>
            <a:lstStyle/>
            <a:p>
              <a:endParaRPr lang="zh-CN" altLang="en-US"/>
            </a:p>
          </p:txBody>
        </p:sp>
        <p:sp>
          <p:nvSpPr>
            <p:cNvPr id="578610" name="Text Box 50"/>
            <p:cNvSpPr txBox="1">
              <a:spLocks noChangeArrowheads="1"/>
            </p:cNvSpPr>
            <p:nvPr/>
          </p:nvSpPr>
          <p:spPr bwMode="auto">
            <a:xfrm>
              <a:off x="4122" y="1754"/>
              <a:ext cx="586" cy="360"/>
            </a:xfrm>
            <a:prstGeom prst="rect">
              <a:avLst/>
            </a:prstGeom>
            <a:noFill/>
            <a:ln w="9525">
              <a:noFill/>
              <a:miter lim="800000"/>
              <a:headEnd/>
              <a:tailEnd/>
            </a:ln>
          </p:spPr>
          <p:txBody>
            <a:bodyPr/>
            <a:lstStyle/>
            <a:p>
              <a:pPr algn="just">
                <a:lnSpc>
                  <a:spcPct val="96000"/>
                </a:lnSpc>
                <a:defRPr/>
              </a:pPr>
              <a:r>
                <a:rPr lang="en-US" altLang="zh-CN" b="1" i="1">
                  <a:effectLst>
                    <a:outerShdw blurRad="38100" dist="38100" dir="2700000" algn="tl">
                      <a:srgbClr val="C0C0C0"/>
                    </a:outerShdw>
                  </a:effectLst>
                  <a:latin typeface="宋体" pitchFamily="2" charset="-122"/>
                </a:rPr>
                <a:t>ω</a:t>
              </a:r>
              <a:r>
                <a:rPr lang="en-US" altLang="zh-CN" b="1">
                  <a:effectLst>
                    <a:outerShdw blurRad="38100" dist="38100" dir="2700000" algn="tl">
                      <a:srgbClr val="C0C0C0"/>
                    </a:outerShdw>
                  </a:effectLst>
                  <a:latin typeface="宋体" pitchFamily="2" charset="-122"/>
                </a:rPr>
                <a:t>′</a:t>
              </a:r>
              <a:endParaRPr lang="en-US" altLang="zh-CN" b="1">
                <a:effectLst>
                  <a:outerShdw blurRad="38100" dist="38100" dir="2700000" algn="tl">
                    <a:srgbClr val="C0C0C0"/>
                  </a:outerShdw>
                </a:effectLst>
              </a:endParaRPr>
            </a:p>
          </p:txBody>
        </p:sp>
        <p:sp>
          <p:nvSpPr>
            <p:cNvPr id="578611" name="Text Box 51"/>
            <p:cNvSpPr txBox="1">
              <a:spLocks noChangeArrowheads="1"/>
            </p:cNvSpPr>
            <p:nvPr/>
          </p:nvSpPr>
          <p:spPr bwMode="auto">
            <a:xfrm>
              <a:off x="884" y="1435"/>
              <a:ext cx="333" cy="279"/>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A</a:t>
              </a:r>
              <a:endParaRPr lang="en-US" altLang="zh-CN" b="1">
                <a:effectLst>
                  <a:outerShdw blurRad="38100" dist="38100" dir="2700000" algn="tl">
                    <a:srgbClr val="C0C0C0"/>
                  </a:outerShdw>
                </a:effectLst>
              </a:endParaRPr>
            </a:p>
          </p:txBody>
        </p:sp>
        <p:sp>
          <p:nvSpPr>
            <p:cNvPr id="578612" name="Text Box 52"/>
            <p:cNvSpPr txBox="1">
              <a:spLocks noChangeArrowheads="1"/>
            </p:cNvSpPr>
            <p:nvPr/>
          </p:nvSpPr>
          <p:spPr bwMode="auto">
            <a:xfrm>
              <a:off x="870" y="2207"/>
              <a:ext cx="440" cy="373"/>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B</a:t>
              </a:r>
              <a:endParaRPr lang="en-US" altLang="zh-CN" b="1">
                <a:effectLst>
                  <a:outerShdw blurRad="38100" dist="38100" dir="2700000" algn="tl">
                    <a:srgbClr val="C0C0C0"/>
                  </a:outerShdw>
                </a:effectLst>
              </a:endParaRPr>
            </a:p>
          </p:txBody>
        </p:sp>
        <p:sp>
          <p:nvSpPr>
            <p:cNvPr id="578613" name="Text Box 53"/>
            <p:cNvSpPr txBox="1">
              <a:spLocks noChangeArrowheads="1"/>
            </p:cNvSpPr>
            <p:nvPr/>
          </p:nvSpPr>
          <p:spPr bwMode="auto">
            <a:xfrm>
              <a:off x="4495" y="1475"/>
              <a:ext cx="439" cy="306"/>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B</a:t>
              </a:r>
              <a:r>
                <a:rPr lang="en-US" altLang="zh-CN" b="1">
                  <a:effectLst>
                    <a:outerShdw blurRad="38100" dist="38100" dir="2700000" algn="tl">
                      <a:srgbClr val="C0C0C0"/>
                    </a:outerShdw>
                  </a:effectLst>
                  <a:latin typeface="Times New Roman" pitchFamily="18" charset="0"/>
                </a:rPr>
                <a:t>′</a:t>
              </a:r>
              <a:endParaRPr lang="en-US" altLang="zh-CN" b="1">
                <a:effectLst>
                  <a:outerShdw blurRad="38100" dist="38100" dir="2700000" algn="tl">
                    <a:srgbClr val="C0C0C0"/>
                  </a:outerShdw>
                </a:effectLst>
              </a:endParaRPr>
            </a:p>
          </p:txBody>
        </p:sp>
        <p:sp>
          <p:nvSpPr>
            <p:cNvPr id="578614" name="Text Box 54"/>
            <p:cNvSpPr txBox="1">
              <a:spLocks noChangeArrowheads="1"/>
            </p:cNvSpPr>
            <p:nvPr/>
          </p:nvSpPr>
          <p:spPr bwMode="auto">
            <a:xfrm>
              <a:off x="4521" y="2127"/>
              <a:ext cx="533" cy="413"/>
            </a:xfrm>
            <a:prstGeom prst="rect">
              <a:avLst/>
            </a:prstGeom>
            <a:noFill/>
            <a:ln w="9525">
              <a:noFill/>
              <a:miter lim="800000"/>
              <a:headEnd/>
              <a:tailEnd/>
            </a:ln>
          </p:spPr>
          <p:txBody>
            <a:bodyPr/>
            <a:lstStyle/>
            <a:p>
              <a:pPr algn="just">
                <a:defRPr/>
              </a:pPr>
              <a:r>
                <a:rPr lang="en-US" altLang="zh-CN" b="1" i="1">
                  <a:effectLst>
                    <a:outerShdw blurRad="38100" dist="38100" dir="2700000" algn="tl">
                      <a:srgbClr val="C0C0C0"/>
                    </a:outerShdw>
                  </a:effectLst>
                  <a:latin typeface="Times New Roman" pitchFamily="18" charset="0"/>
                </a:rPr>
                <a:t>A</a:t>
              </a:r>
              <a:r>
                <a:rPr lang="en-US" altLang="zh-CN" b="1">
                  <a:effectLst>
                    <a:outerShdw blurRad="38100" dist="38100" dir="2700000" algn="tl">
                      <a:srgbClr val="C0C0C0"/>
                    </a:outerShdw>
                  </a:effectLst>
                  <a:latin typeface="Times New Roman" pitchFamily="18" charset="0"/>
                </a:rPr>
                <a:t>′</a:t>
              </a:r>
              <a:endParaRPr lang="en-US" altLang="zh-CN" b="1">
                <a:effectLst>
                  <a:outerShdw blurRad="38100" dist="38100" dir="2700000" algn="tl">
                    <a:srgbClr val="C0C0C0"/>
                  </a:outerShdw>
                </a:effectLst>
              </a:endParaRPr>
            </a:p>
          </p:txBody>
        </p:sp>
        <p:sp>
          <p:nvSpPr>
            <p:cNvPr id="578615" name="Text Box 55"/>
            <p:cNvSpPr txBox="1">
              <a:spLocks noChangeArrowheads="1"/>
            </p:cNvSpPr>
            <p:nvPr/>
          </p:nvSpPr>
          <p:spPr bwMode="auto">
            <a:xfrm>
              <a:off x="1856" y="2860"/>
              <a:ext cx="2226" cy="320"/>
            </a:xfrm>
            <a:prstGeom prst="rect">
              <a:avLst/>
            </a:prstGeom>
            <a:noFill/>
            <a:ln w="9525">
              <a:noFill/>
              <a:miter lim="800000"/>
              <a:headEnd/>
              <a:tailEnd/>
            </a:ln>
          </p:spPr>
          <p:txBody>
            <a:bodyPr/>
            <a:lstStyle/>
            <a:p>
              <a:pPr algn="ctr">
                <a:defRPr/>
              </a:pPr>
              <a:r>
                <a:rPr lang="zh-CN" altLang="en-US" b="1">
                  <a:effectLst>
                    <a:outerShdw blurRad="38100" dist="38100" dir="2700000" algn="tl">
                      <a:srgbClr val="C0C0C0"/>
                    </a:outerShdw>
                  </a:effectLst>
                  <a:latin typeface="黑体" pitchFamily="2" charset="-122"/>
                  <a:ea typeface="黑体" pitchFamily="2" charset="-122"/>
                </a:rPr>
                <a:t>放大率法测量原理图</a:t>
              </a:r>
              <a:endParaRPr lang="zh-CN" altLang="en-US" b="1">
                <a:effectLst>
                  <a:outerShdw blurRad="38100" dist="38100" dir="2700000" algn="tl">
                    <a:srgbClr val="C0C0C0"/>
                  </a:outerShdw>
                </a:effectLst>
              </a:endParaRPr>
            </a:p>
          </p:txBody>
        </p:sp>
        <p:sp>
          <p:nvSpPr>
            <p:cNvPr id="17472" name="Freeform 56"/>
            <p:cNvSpPr>
              <a:spLocks/>
            </p:cNvSpPr>
            <p:nvPr/>
          </p:nvSpPr>
          <p:spPr bwMode="auto">
            <a:xfrm>
              <a:off x="2099" y="1859"/>
              <a:ext cx="17" cy="92"/>
            </a:xfrm>
            <a:custGeom>
              <a:avLst/>
              <a:gdLst>
                <a:gd name="T0" fmla="*/ 8 w 25"/>
                <a:gd name="T1" fmla="*/ 0 h 138"/>
                <a:gd name="T2" fmla="*/ 1 w 25"/>
                <a:gd name="T3" fmla="*/ 18 h 138"/>
                <a:gd name="T4" fmla="*/ 1 w 25"/>
                <a:gd name="T5" fmla="*/ 41 h 138"/>
                <a:gd name="T6" fmla="*/ 0 60000 65536"/>
                <a:gd name="T7" fmla="*/ 0 60000 65536"/>
                <a:gd name="T8" fmla="*/ 0 60000 65536"/>
                <a:gd name="T9" fmla="*/ 0 w 25"/>
                <a:gd name="T10" fmla="*/ 0 h 138"/>
                <a:gd name="T11" fmla="*/ 25 w 25"/>
                <a:gd name="T12" fmla="*/ 138 h 138"/>
              </a:gdLst>
              <a:ahLst/>
              <a:cxnLst>
                <a:cxn ang="T6">
                  <a:pos x="T0" y="T1"/>
                </a:cxn>
                <a:cxn ang="T7">
                  <a:pos x="T2" y="T3"/>
                </a:cxn>
                <a:cxn ang="T8">
                  <a:pos x="T4" y="T5"/>
                </a:cxn>
              </a:cxnLst>
              <a:rect l="T9" t="T10" r="T11" b="T12"/>
              <a:pathLst>
                <a:path w="25" h="138">
                  <a:moveTo>
                    <a:pt x="25" y="0"/>
                  </a:moveTo>
                  <a:cubicBezTo>
                    <a:pt x="22" y="10"/>
                    <a:pt x="8" y="37"/>
                    <a:pt x="4" y="60"/>
                  </a:cubicBezTo>
                  <a:cubicBezTo>
                    <a:pt x="0" y="83"/>
                    <a:pt x="1" y="125"/>
                    <a:pt x="1" y="138"/>
                  </a:cubicBezTo>
                </a:path>
              </a:pathLst>
            </a:custGeom>
            <a:noFill/>
            <a:ln w="6350">
              <a:solidFill>
                <a:srgbClr val="000000"/>
              </a:solidFill>
              <a:round/>
              <a:headEnd/>
              <a:tailEnd/>
            </a:ln>
          </p:spPr>
          <p:txBody>
            <a:bodyPr/>
            <a:lstStyle/>
            <a:p>
              <a:endParaRPr lang="zh-CN" altLang="en-US"/>
            </a:p>
          </p:txBody>
        </p:sp>
        <p:sp>
          <p:nvSpPr>
            <p:cNvPr id="17473" name="Freeform 57"/>
            <p:cNvSpPr>
              <a:spLocks/>
            </p:cNvSpPr>
            <p:nvPr/>
          </p:nvSpPr>
          <p:spPr bwMode="auto">
            <a:xfrm>
              <a:off x="4109" y="1833"/>
              <a:ext cx="37" cy="120"/>
            </a:xfrm>
            <a:custGeom>
              <a:avLst/>
              <a:gdLst>
                <a:gd name="T0" fmla="*/ 0 w 56"/>
                <a:gd name="T1" fmla="*/ 0 h 180"/>
                <a:gd name="T2" fmla="*/ 14 w 56"/>
                <a:gd name="T3" fmla="*/ 26 h 180"/>
                <a:gd name="T4" fmla="*/ 15 w 56"/>
                <a:gd name="T5" fmla="*/ 53 h 180"/>
                <a:gd name="T6" fmla="*/ 0 60000 65536"/>
                <a:gd name="T7" fmla="*/ 0 60000 65536"/>
                <a:gd name="T8" fmla="*/ 0 60000 65536"/>
                <a:gd name="T9" fmla="*/ 0 w 56"/>
                <a:gd name="T10" fmla="*/ 0 h 180"/>
                <a:gd name="T11" fmla="*/ 56 w 56"/>
                <a:gd name="T12" fmla="*/ 180 h 180"/>
              </a:gdLst>
              <a:ahLst/>
              <a:cxnLst>
                <a:cxn ang="T6">
                  <a:pos x="T0" y="T1"/>
                </a:cxn>
                <a:cxn ang="T7">
                  <a:pos x="T2" y="T3"/>
                </a:cxn>
                <a:cxn ang="T8">
                  <a:pos x="T4" y="T5"/>
                </a:cxn>
              </a:cxnLst>
              <a:rect l="T9" t="T10" r="T11" b="T12"/>
              <a:pathLst>
                <a:path w="56" h="180">
                  <a:moveTo>
                    <a:pt x="0" y="0"/>
                  </a:moveTo>
                  <a:cubicBezTo>
                    <a:pt x="8" y="14"/>
                    <a:pt x="40" y="57"/>
                    <a:pt x="48" y="87"/>
                  </a:cubicBezTo>
                  <a:cubicBezTo>
                    <a:pt x="56" y="117"/>
                    <a:pt x="51" y="161"/>
                    <a:pt x="51" y="180"/>
                  </a:cubicBezTo>
                </a:path>
              </a:pathLst>
            </a:custGeom>
            <a:noFill/>
            <a:ln w="6350">
              <a:solidFill>
                <a:srgbClr val="000000"/>
              </a:solidFill>
              <a:round/>
              <a:headEnd/>
              <a:tailEnd/>
            </a:ln>
          </p:spPr>
          <p:txBody>
            <a:bodyPr/>
            <a:lstStyle/>
            <a:p>
              <a:endParaRPr lang="zh-CN" altLang="en-US"/>
            </a:p>
          </p:txBody>
        </p:sp>
        <p:sp>
          <p:nvSpPr>
            <p:cNvPr id="578618" name="Rectangle 58"/>
            <p:cNvSpPr>
              <a:spLocks noChangeArrowheads="1"/>
            </p:cNvSpPr>
            <p:nvPr/>
          </p:nvSpPr>
          <p:spPr bwMode="auto">
            <a:xfrm>
              <a:off x="2752" y="2092"/>
              <a:ext cx="256" cy="154"/>
            </a:xfrm>
            <a:prstGeom prst="rect">
              <a:avLst/>
            </a:prstGeom>
            <a:noFill/>
            <a:ln w="9525">
              <a:noFill/>
              <a:miter lim="800000"/>
              <a:headEnd/>
              <a:tailEnd/>
            </a:ln>
            <a:effectLst/>
          </p:spPr>
          <p:txBody>
            <a:bodyPr wrap="none" anchor="ctr">
              <a:spAutoFit/>
            </a:bodyPr>
            <a:lstStyle/>
            <a:p>
              <a:pPr algn="ctr">
                <a:defRPr/>
              </a:pPr>
              <a:r>
                <a:rPr lang="en-US" altLang="zh-CN" sz="1000" b="1">
                  <a:effectLst>
                    <a:outerShdw blurRad="38100" dist="38100" dir="2700000" algn="tl">
                      <a:srgbClr val="C0C0C0"/>
                    </a:outerShdw>
                  </a:effectLst>
                  <a:latin typeface="Times New Roman" pitchFamily="18" charset="0"/>
                  <a:cs typeface="Times New Roman" pitchFamily="18" charset="0"/>
                </a:rPr>
                <a:t>       </a:t>
              </a:r>
              <a:endParaRPr lang="en-US" altLang="zh-CN" b="1">
                <a:effectLst>
                  <a:outerShdw blurRad="38100" dist="38100" dir="2700000" algn="tl">
                    <a:srgbClr val="C0C0C0"/>
                  </a:outerShdw>
                </a:effectLst>
              </a:endParaRPr>
            </a:p>
          </p:txBody>
        </p:sp>
      </p:grpSp>
      <p:graphicFrame>
        <p:nvGraphicFramePr>
          <p:cNvPr id="17411" name="Object 59"/>
          <p:cNvGraphicFramePr>
            <a:graphicFrameLocks noChangeAspect="1"/>
          </p:cNvGraphicFramePr>
          <p:nvPr/>
        </p:nvGraphicFramePr>
        <p:xfrm>
          <a:off x="1443038" y="6081713"/>
          <a:ext cx="1436687" cy="725487"/>
        </p:xfrm>
        <a:graphic>
          <a:graphicData uri="http://schemas.openxmlformats.org/presentationml/2006/ole">
            <p:oleObj spid="_x0000_s17411" name="公式" r:id="rId4" imgW="19812317" imgH="10058717" progId="Equation.3">
              <p:embed/>
            </p:oleObj>
          </a:graphicData>
        </a:graphic>
      </p:graphicFrame>
      <p:sp>
        <p:nvSpPr>
          <p:cNvPr id="17418" name="Rectangle 6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412" name="Object 61"/>
          <p:cNvGraphicFramePr>
            <a:graphicFrameLocks noChangeAspect="1"/>
          </p:cNvGraphicFramePr>
          <p:nvPr/>
        </p:nvGraphicFramePr>
        <p:xfrm>
          <a:off x="3443288" y="5729288"/>
          <a:ext cx="1219200" cy="712787"/>
        </p:xfrm>
        <a:graphic>
          <a:graphicData uri="http://schemas.openxmlformats.org/presentationml/2006/ole">
            <p:oleObj spid="_x0000_s17412" name="公式" r:id="rId5" imgW="17678717" imgH="10363517" progId="Equation.3">
              <p:embed/>
            </p:oleObj>
          </a:graphicData>
        </a:graphic>
      </p:graphicFrame>
      <p:sp>
        <p:nvSpPr>
          <p:cNvPr id="17419" name="Rectangle 62"/>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413" name="Object 63"/>
          <p:cNvGraphicFramePr>
            <a:graphicFrameLocks noChangeAspect="1"/>
          </p:cNvGraphicFramePr>
          <p:nvPr/>
        </p:nvGraphicFramePr>
        <p:xfrm>
          <a:off x="5686425" y="5505450"/>
          <a:ext cx="1714500" cy="1074738"/>
        </p:xfrm>
        <a:graphic>
          <a:graphicData uri="http://schemas.openxmlformats.org/presentationml/2006/ole">
            <p:oleObj spid="_x0000_s17413" name="公式" r:id="rId6" imgW="17069117" imgH="10668317" progId="Equation.3">
              <p:embed/>
            </p:oleObj>
          </a:graphicData>
        </a:graphic>
      </p:graphicFrame>
      <p:sp>
        <p:nvSpPr>
          <p:cNvPr id="17420" name="Line 64"/>
          <p:cNvSpPr>
            <a:spLocks noChangeShapeType="1"/>
          </p:cNvSpPr>
          <p:nvPr/>
        </p:nvSpPr>
        <p:spPr bwMode="auto">
          <a:xfrm>
            <a:off x="4800600" y="6115050"/>
            <a:ext cx="714375" cy="0"/>
          </a:xfrm>
          <a:prstGeom prst="line">
            <a:avLst/>
          </a:prstGeom>
          <a:noFill/>
          <a:ln w="28575">
            <a:solidFill>
              <a:schemeClr val="tx1"/>
            </a:solidFill>
            <a:round/>
            <a:headEnd/>
            <a:tailEnd type="triangle" w="lg" len="lg"/>
          </a:ln>
        </p:spPr>
        <p:txBody>
          <a:bodyPr/>
          <a:lstStyle/>
          <a:p>
            <a:endParaRPr lang="zh-CN" altLang="en-US"/>
          </a:p>
        </p:txBody>
      </p:sp>
      <p:sp>
        <p:nvSpPr>
          <p:cNvPr id="68" name="Rectangle 2"/>
          <p:cNvSpPr>
            <a:spLocks noGrp="1" noRot="1" noChangeArrowheads="1"/>
          </p:cNvSpPr>
          <p:nvPr>
            <p:ph type="title"/>
          </p:nvPr>
        </p:nvSpPr>
        <p:spPr>
          <a:xfrm>
            <a:off x="557213" y="434975"/>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放大率法</a:t>
            </a:r>
          </a:p>
        </p:txBody>
      </p:sp>
    </p:spTree>
  </p:cSld>
  <p:clrMapOvr>
    <a:masterClrMapping/>
  </p:clrMapOvr>
  <p:transition>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日期占位符 3"/>
          <p:cNvSpPr>
            <a:spLocks noGrp="1"/>
          </p:cNvSpPr>
          <p:nvPr>
            <p:ph type="dt" sz="quarter" idx="10"/>
          </p:nvPr>
        </p:nvSpPr>
        <p:spPr>
          <a:noFill/>
        </p:spPr>
        <p:txBody>
          <a:bodyPr/>
          <a:lstStyle/>
          <a:p>
            <a:fld id="{F36DE647-72F0-4203-AEED-FD28D007B445}" type="datetime1">
              <a:rPr lang="zh-CN" altLang="en-US" smtClean="0"/>
              <a:pPr/>
              <a:t>2018/2/24</a:t>
            </a:fld>
            <a:endParaRPr lang="en-US" altLang="zh-CN" smtClean="0"/>
          </a:p>
        </p:txBody>
      </p:sp>
      <p:sp>
        <p:nvSpPr>
          <p:cNvPr id="18437" name="灯片编号占位符 5"/>
          <p:cNvSpPr>
            <a:spLocks noGrp="1"/>
          </p:cNvSpPr>
          <p:nvPr>
            <p:ph type="sldNum" sz="quarter" idx="12"/>
          </p:nvPr>
        </p:nvSpPr>
        <p:spPr>
          <a:noFill/>
        </p:spPr>
        <p:txBody>
          <a:bodyPr/>
          <a:lstStyle/>
          <a:p>
            <a:fld id="{86466474-1E67-4245-90E4-DD8E8C36444A}" type="slidenum">
              <a:rPr lang="en-US" altLang="zh-CN" smtClean="0"/>
              <a:pPr/>
              <a:t>31</a:t>
            </a:fld>
            <a:endParaRPr lang="en-US" altLang="zh-CN" smtClean="0"/>
          </a:p>
        </p:txBody>
      </p:sp>
      <p:sp>
        <p:nvSpPr>
          <p:cNvPr id="579586" name="Rectangle 2"/>
          <p:cNvSpPr>
            <a:spLocks noGrp="1" noChangeArrowheads="1"/>
          </p:cNvSpPr>
          <p:nvPr>
            <p:ph type="body" idx="1"/>
          </p:nvPr>
        </p:nvSpPr>
        <p:spPr>
          <a:xfrm>
            <a:off x="471488" y="1960563"/>
            <a:ext cx="8229600" cy="4805362"/>
          </a:xfrm>
        </p:spPr>
        <p:txBody>
          <a:bodyPr/>
          <a:lstStyle/>
          <a:p>
            <a:pPr eaLnBrk="1" hangingPunct="1">
              <a:lnSpc>
                <a:spcPct val="90000"/>
              </a:lnSpc>
              <a:defRPr/>
            </a:pPr>
            <a:r>
              <a:rPr lang="zh-CN" altLang="en-US" smtClean="0">
                <a:latin typeface="Times New Roman" pitchFamily="18" charset="0"/>
                <a:ea typeface="黑体" pitchFamily="2" charset="-122"/>
              </a:rPr>
              <a:t>考虑到读数显微镜的参数，公式变为</a:t>
            </a:r>
          </a:p>
          <a:p>
            <a:pPr eaLnBrk="1" hangingPunct="1">
              <a:lnSpc>
                <a:spcPct val="90000"/>
              </a:lnSpc>
              <a:defRPr/>
            </a:pPr>
            <a:endParaRPr lang="zh-CN" altLang="en-US" smtClean="0">
              <a:latin typeface="Times New Roman" pitchFamily="18" charset="0"/>
              <a:ea typeface="黑体" pitchFamily="2" charset="-122"/>
            </a:endParaRPr>
          </a:p>
          <a:p>
            <a:pPr eaLnBrk="1" hangingPunct="1">
              <a:lnSpc>
                <a:spcPct val="90000"/>
              </a:lnSpc>
              <a:defRPr/>
            </a:pPr>
            <a:endParaRPr lang="zh-CN" altLang="en-US" smtClean="0">
              <a:latin typeface="Times New Roman" pitchFamily="18" charset="0"/>
              <a:ea typeface="黑体" pitchFamily="2" charset="-122"/>
            </a:endParaRPr>
          </a:p>
          <a:p>
            <a:pPr eaLnBrk="1" hangingPunct="1">
              <a:spcBef>
                <a:spcPct val="40000"/>
              </a:spcBef>
              <a:buFont typeface="Wingdings" pitchFamily="2" charset="2"/>
              <a:buNone/>
              <a:defRPr/>
            </a:pPr>
            <a:r>
              <a:rPr lang="zh-CN" altLang="en-US" smtClean="0">
                <a:latin typeface="Times New Roman" pitchFamily="18" charset="0"/>
                <a:ea typeface="黑体" pitchFamily="2" charset="-122"/>
              </a:rPr>
              <a:t>     式中，</a:t>
            </a:r>
            <a:r>
              <a:rPr lang="el-GR" altLang="zh-CN" i="1" smtClean="0">
                <a:latin typeface="Times New Roman" pitchFamily="18" charset="0"/>
                <a:ea typeface="黑体" pitchFamily="2" charset="-122"/>
              </a:rPr>
              <a:t>β</a:t>
            </a:r>
            <a:r>
              <a:rPr lang="zh-CN" altLang="en-US" smtClean="0">
                <a:latin typeface="Times New Roman" pitchFamily="18" charset="0"/>
                <a:ea typeface="黑体" pitchFamily="2" charset="-122"/>
              </a:rPr>
              <a:t>是所用显微物镜的倍率；</a:t>
            </a:r>
            <a:r>
              <a:rPr lang="en-US" altLang="zh-CN" i="1" smtClean="0">
                <a:latin typeface="Times New Roman" pitchFamily="18" charset="0"/>
                <a:ea typeface="黑体" pitchFamily="2" charset="-122"/>
              </a:rPr>
              <a:t>k</a:t>
            </a:r>
            <a:r>
              <a:rPr lang="zh-CN" altLang="en-US" smtClean="0">
                <a:latin typeface="Times New Roman" pitchFamily="18" charset="0"/>
                <a:ea typeface="黑体" pitchFamily="2" charset="-122"/>
              </a:rPr>
              <a:t>是测微目镜的测微丝杠螺距的倒数； </a:t>
            </a:r>
            <a:r>
              <a:rPr lang="en-US" altLang="zh-CN" i="1" smtClean="0">
                <a:latin typeface="Times New Roman" pitchFamily="18" charset="0"/>
                <a:ea typeface="黑体" pitchFamily="2" charset="-122"/>
              </a:rPr>
              <a:t>D</a:t>
            </a:r>
            <a:r>
              <a:rPr lang="zh-CN" altLang="en-US" smtClean="0">
                <a:latin typeface="Times New Roman" pitchFamily="18" charset="0"/>
                <a:ea typeface="黑体" pitchFamily="2" charset="-122"/>
              </a:rPr>
              <a:t>是测微目镜对的读数</a:t>
            </a:r>
          </a:p>
          <a:p>
            <a:pPr eaLnBrk="1" hangingPunct="1">
              <a:lnSpc>
                <a:spcPct val="90000"/>
              </a:lnSpc>
              <a:defRPr/>
            </a:pPr>
            <a:endParaRPr lang="zh-CN" altLang="en-US" smtClean="0">
              <a:latin typeface="Times New Roman" pitchFamily="18" charset="0"/>
              <a:ea typeface="黑体" pitchFamily="2" charset="-122"/>
            </a:endParaRPr>
          </a:p>
          <a:p>
            <a:pPr eaLnBrk="1" hangingPunct="1">
              <a:lnSpc>
                <a:spcPct val="90000"/>
              </a:lnSpc>
              <a:defRPr/>
            </a:pPr>
            <a:r>
              <a:rPr lang="zh-CN" altLang="en-US" smtClean="0">
                <a:latin typeface="Times New Roman" pitchFamily="18" charset="0"/>
                <a:ea typeface="黑体" pitchFamily="2" charset="-122"/>
              </a:rPr>
              <a:t>焦距合成标准不确定度</a:t>
            </a:r>
          </a:p>
        </p:txBody>
      </p:sp>
      <p:sp>
        <p:nvSpPr>
          <p:cNvPr id="18439" name="Rectangle 4"/>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sp>
        <p:nvSpPr>
          <p:cNvPr id="18440" name="Rectangle 5"/>
          <p:cNvSpPr>
            <a:spLocks noChangeArrowheads="1"/>
          </p:cNvSpPr>
          <p:nvPr/>
        </p:nvSpPr>
        <p:spPr bwMode="auto">
          <a:xfrm>
            <a:off x="4368800" y="3321050"/>
            <a:ext cx="406400" cy="244475"/>
          </a:xfrm>
          <a:prstGeom prst="rect">
            <a:avLst/>
          </a:prstGeom>
          <a:noFill/>
          <a:ln w="9525">
            <a:noFill/>
            <a:miter lim="800000"/>
            <a:headEnd/>
            <a:tailEnd/>
          </a:ln>
        </p:spPr>
        <p:txBody>
          <a:bodyPr wrap="none" anchor="ctr">
            <a:spAutoFit/>
          </a:bodyPr>
          <a:lstStyle/>
          <a:p>
            <a:pPr algn="ctr"/>
            <a:r>
              <a:rPr lang="en-US" altLang="zh-CN" sz="1000">
                <a:latin typeface="Times New Roman" pitchFamily="18" charset="0"/>
                <a:cs typeface="Times New Roman" pitchFamily="18" charset="0"/>
              </a:rPr>
              <a:t>       </a:t>
            </a:r>
            <a:endParaRPr lang="en-US" altLang="zh-CN"/>
          </a:p>
        </p:txBody>
      </p:sp>
      <p:sp>
        <p:nvSpPr>
          <p:cNvPr id="18441"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8442" name="Rectangle 7"/>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18443"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434" name="Object 9"/>
          <p:cNvGraphicFramePr>
            <a:graphicFrameLocks noChangeAspect="1"/>
          </p:cNvGraphicFramePr>
          <p:nvPr/>
        </p:nvGraphicFramePr>
        <p:xfrm>
          <a:off x="2900363" y="2400300"/>
          <a:ext cx="2990850" cy="857250"/>
        </p:xfrm>
        <a:graphic>
          <a:graphicData uri="http://schemas.openxmlformats.org/presentationml/2006/ole">
            <p:oleObj spid="_x0000_s18434" name="公式" r:id="rId3" imgW="35966717" imgH="10363517" progId="Equation.3">
              <p:embed/>
            </p:oleObj>
          </a:graphicData>
        </a:graphic>
      </p:graphicFrame>
      <p:graphicFrame>
        <p:nvGraphicFramePr>
          <p:cNvPr id="18435" name="Object 10"/>
          <p:cNvGraphicFramePr>
            <a:graphicFrameLocks noChangeAspect="1"/>
          </p:cNvGraphicFramePr>
          <p:nvPr/>
        </p:nvGraphicFramePr>
        <p:xfrm>
          <a:off x="2014538" y="4932363"/>
          <a:ext cx="4857750" cy="958850"/>
        </p:xfrm>
        <a:graphic>
          <a:graphicData uri="http://schemas.openxmlformats.org/presentationml/2006/ole">
            <p:oleObj spid="_x0000_s18435" name="公式" r:id="rId4" imgW="85953917" imgH="13411517" progId="Equation.3">
              <p:embed/>
            </p:oleObj>
          </a:graphicData>
        </a:graphic>
      </p:graphicFrame>
      <p:sp>
        <p:nvSpPr>
          <p:cNvPr id="14" name="Rectangle 2"/>
          <p:cNvSpPr>
            <a:spLocks noGrp="1" noRot="1" noChangeArrowheads="1"/>
          </p:cNvSpPr>
          <p:nvPr>
            <p:ph type="title"/>
          </p:nvPr>
        </p:nvSpPr>
        <p:spPr>
          <a:xfrm>
            <a:off x="557213" y="434975"/>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放大率法</a:t>
            </a:r>
          </a:p>
        </p:txBody>
      </p:sp>
    </p:spTree>
  </p:cSld>
  <p:clrMapOvr>
    <a:masterClrMapping/>
  </p:clrMapOvr>
  <p:transition>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4" name="日期占位符 3"/>
          <p:cNvSpPr>
            <a:spLocks noGrp="1"/>
          </p:cNvSpPr>
          <p:nvPr>
            <p:ph type="dt" sz="quarter" idx="10"/>
          </p:nvPr>
        </p:nvSpPr>
        <p:spPr>
          <a:noFill/>
        </p:spPr>
        <p:txBody>
          <a:bodyPr/>
          <a:lstStyle/>
          <a:p>
            <a:fld id="{90FDE6DB-5401-49B5-83CC-AED1C1C357A7}" type="datetime1">
              <a:rPr lang="zh-CN" altLang="en-US" smtClean="0"/>
              <a:pPr/>
              <a:t>2018/2/24</a:t>
            </a:fld>
            <a:endParaRPr lang="en-US" altLang="zh-CN" smtClean="0"/>
          </a:p>
        </p:txBody>
      </p:sp>
      <p:sp>
        <p:nvSpPr>
          <p:cNvPr id="19465" name="灯片编号占位符 5"/>
          <p:cNvSpPr>
            <a:spLocks noGrp="1"/>
          </p:cNvSpPr>
          <p:nvPr>
            <p:ph type="sldNum" sz="quarter" idx="12"/>
          </p:nvPr>
        </p:nvSpPr>
        <p:spPr>
          <a:noFill/>
        </p:spPr>
        <p:txBody>
          <a:bodyPr/>
          <a:lstStyle/>
          <a:p>
            <a:fld id="{C41DA20E-EE38-4586-A31C-D221EB044F24}" type="slidenum">
              <a:rPr lang="en-US" altLang="zh-CN" smtClean="0"/>
              <a:pPr/>
              <a:t>32</a:t>
            </a:fld>
            <a:endParaRPr lang="en-US" altLang="zh-CN" smtClean="0"/>
          </a:p>
        </p:txBody>
      </p:sp>
      <p:sp>
        <p:nvSpPr>
          <p:cNvPr id="580610" name="Rectangle 2"/>
          <p:cNvSpPr>
            <a:spLocks noGrp="1" noChangeArrowheads="1"/>
          </p:cNvSpPr>
          <p:nvPr>
            <p:ph type="body" idx="1"/>
          </p:nvPr>
        </p:nvSpPr>
        <p:spPr>
          <a:xfrm>
            <a:off x="471488" y="1960563"/>
            <a:ext cx="8229600" cy="4805362"/>
          </a:xfrm>
        </p:spPr>
        <p:txBody>
          <a:bodyPr/>
          <a:lstStyle/>
          <a:p>
            <a:pPr eaLnBrk="1" hangingPunct="1">
              <a:defRPr/>
            </a:pPr>
            <a:r>
              <a:rPr lang="zh-CN" altLang="en-US" dirty="0" smtClean="0">
                <a:latin typeface="Times New Roman" pitchFamily="18" charset="0"/>
                <a:ea typeface="黑体" pitchFamily="2" charset="-122"/>
              </a:rPr>
              <a:t>平行光管焦距的相对标准不确定度可达到            </a:t>
            </a:r>
            <a:r>
              <a:rPr lang="en-US" altLang="zh-CN" dirty="0" smtClean="0">
                <a:latin typeface="Times New Roman" pitchFamily="18" charset="0"/>
                <a:ea typeface="黑体" pitchFamily="2" charset="-122"/>
              </a:rPr>
              <a:t>= 0.1%</a:t>
            </a:r>
            <a:r>
              <a:rPr lang="zh-CN" altLang="en-US" dirty="0" smtClean="0">
                <a:latin typeface="Times New Roman" pitchFamily="18" charset="0"/>
                <a:ea typeface="黑体" pitchFamily="2" charset="-122"/>
              </a:rPr>
              <a:t>；仪器的分划板刻线间距的标准不确定度        ＝</a:t>
            </a:r>
            <a:r>
              <a:rPr lang="en-US" altLang="zh-CN" dirty="0" smtClean="0">
                <a:latin typeface="Times New Roman" pitchFamily="18" charset="0"/>
                <a:ea typeface="黑体" pitchFamily="2" charset="-122"/>
              </a:rPr>
              <a:t>0.003mm</a:t>
            </a:r>
            <a:r>
              <a:rPr lang="zh-CN" altLang="en-US" dirty="0" smtClean="0">
                <a:latin typeface="Times New Roman" pitchFamily="18" charset="0"/>
                <a:ea typeface="黑体" pitchFamily="2" charset="-122"/>
              </a:rPr>
              <a:t>；考虑到对准不确定度和估读不确定度，取     ≈</a:t>
            </a:r>
            <a:r>
              <a:rPr lang="en-US" altLang="zh-CN" dirty="0" smtClean="0">
                <a:latin typeface="Times New Roman" pitchFamily="18" charset="0"/>
                <a:ea typeface="黑体" pitchFamily="2" charset="-122"/>
              </a:rPr>
              <a:t>0.005mm</a:t>
            </a:r>
            <a:r>
              <a:rPr lang="zh-CN" altLang="en-US" dirty="0" smtClean="0">
                <a:latin typeface="Times New Roman" pitchFamily="18" charset="0"/>
                <a:ea typeface="黑体" pitchFamily="2" charset="-122"/>
              </a:rPr>
              <a:t>；放大率</a:t>
            </a:r>
            <a:r>
              <a:rPr lang="el-GR" altLang="zh-CN" i="1" dirty="0" smtClean="0">
                <a:latin typeface="Times New Roman" pitchFamily="18" charset="0"/>
                <a:ea typeface="黑体" pitchFamily="2" charset="-122"/>
              </a:rPr>
              <a:t>β</a:t>
            </a:r>
            <a:r>
              <a:rPr lang="zh-CN" altLang="en-US" dirty="0" smtClean="0">
                <a:latin typeface="Times New Roman" pitchFamily="18" charset="0"/>
                <a:ea typeface="黑体" pitchFamily="2" charset="-122"/>
              </a:rPr>
              <a:t>和测微器读数进行综合校正，故                ≤</a:t>
            </a:r>
            <a:r>
              <a:rPr lang="en-US" altLang="zh-CN" dirty="0" smtClean="0">
                <a:latin typeface="Times New Roman" pitchFamily="18" charset="0"/>
                <a:ea typeface="黑体" pitchFamily="2" charset="-122"/>
              </a:rPr>
              <a:t>0.1</a:t>
            </a:r>
            <a:r>
              <a:rPr lang="zh-CN" altLang="en-US" dirty="0" smtClean="0">
                <a:latin typeface="Times New Roman" pitchFamily="18" charset="0"/>
                <a:ea typeface="黑体" pitchFamily="2" charset="-122"/>
              </a:rPr>
              <a:t>％。</a:t>
            </a:r>
          </a:p>
          <a:p>
            <a:pPr eaLnBrk="1" hangingPunct="1">
              <a:defRPr/>
            </a:pPr>
            <a:r>
              <a:rPr lang="zh-CN" altLang="en-US" dirty="0" smtClean="0">
                <a:latin typeface="Times New Roman" pitchFamily="18" charset="0"/>
                <a:ea typeface="黑体" pitchFamily="2" charset="-122"/>
              </a:rPr>
              <a:t>当 </a:t>
            </a:r>
            <a:r>
              <a:rPr lang="en-US" altLang="zh-CN" i="1" dirty="0" smtClean="0">
                <a:latin typeface="Times New Roman" pitchFamily="18" charset="0"/>
                <a:ea typeface="黑体" pitchFamily="2" charset="-122"/>
              </a:rPr>
              <a:t>f </a:t>
            </a:r>
            <a:r>
              <a:rPr lang="en-US" altLang="zh-CN" dirty="0" smtClean="0">
                <a:latin typeface="Times New Roman" pitchFamily="18" charset="0"/>
                <a:ea typeface="黑体" pitchFamily="2" charset="-122"/>
              </a:rPr>
              <a:t>′= 1200mm</a:t>
            </a:r>
            <a:r>
              <a:rPr lang="zh-CN" altLang="en-US" dirty="0" smtClean="0">
                <a:latin typeface="Times New Roman" pitchFamily="18" charset="0"/>
                <a:ea typeface="黑体" pitchFamily="2" charset="-122"/>
              </a:rPr>
              <a:t>时，取</a:t>
            </a:r>
            <a:r>
              <a:rPr lang="el-GR" altLang="zh-CN" i="1" dirty="0" smtClean="0">
                <a:latin typeface="Times New Roman" pitchFamily="18" charset="0"/>
                <a:ea typeface="黑体" pitchFamily="2" charset="-122"/>
              </a:rPr>
              <a:t>β</a:t>
            </a:r>
            <a:r>
              <a:rPr lang="en-US" altLang="zh-CN" dirty="0" smtClean="0">
                <a:latin typeface="Times New Roman" pitchFamily="18" charset="0"/>
                <a:ea typeface="黑体" pitchFamily="2" charset="-122"/>
              </a:rPr>
              <a:t> </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1</a:t>
            </a:r>
            <a:r>
              <a:rPr lang="en-US" altLang="zh-CN" baseline="30000" dirty="0" smtClean="0">
                <a:latin typeface="Times New Roman" pitchFamily="18" charset="0"/>
                <a:ea typeface="黑体" pitchFamily="2" charset="-122"/>
              </a:rPr>
              <a:t>×</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y</a:t>
            </a:r>
            <a:r>
              <a:rPr lang="en-US" altLang="zh-CN" baseline="-25000" dirty="0" smtClean="0">
                <a:latin typeface="Times New Roman" pitchFamily="18" charset="0"/>
                <a:ea typeface="黑体" pitchFamily="2" charset="-122"/>
              </a:rPr>
              <a:t>0</a:t>
            </a:r>
            <a:r>
              <a:rPr lang="en-US" altLang="zh-CN" dirty="0" smtClean="0">
                <a:latin typeface="Times New Roman" pitchFamily="18" charset="0"/>
                <a:ea typeface="黑体" pitchFamily="2" charset="-122"/>
              </a:rPr>
              <a:t> = 6mm</a:t>
            </a:r>
            <a:r>
              <a:rPr lang="zh-CN" altLang="en-US" dirty="0" smtClean="0">
                <a:latin typeface="Times New Roman" pitchFamily="18" charset="0"/>
                <a:ea typeface="黑体" pitchFamily="2" charset="-122"/>
              </a:rPr>
              <a:t>，得</a:t>
            </a:r>
            <a:r>
              <a:rPr lang="en-US" altLang="zh-CN" i="1" dirty="0" smtClean="0">
                <a:latin typeface="Times New Roman" pitchFamily="18" charset="0"/>
                <a:ea typeface="黑体" pitchFamily="2" charset="-122"/>
              </a:rPr>
              <a:t>D=</a:t>
            </a:r>
            <a:r>
              <a:rPr lang="en-US" altLang="zh-CN" dirty="0" smtClean="0">
                <a:latin typeface="Times New Roman" pitchFamily="18" charset="0"/>
                <a:ea typeface="黑体" pitchFamily="2" charset="-122"/>
              </a:rPr>
              <a:t>24mm</a:t>
            </a:r>
          </a:p>
          <a:p>
            <a:pPr eaLnBrk="1" hangingPunct="1">
              <a:defRPr/>
            </a:pPr>
            <a:endParaRPr lang="en-US" altLang="zh-CN" dirty="0" smtClean="0">
              <a:latin typeface="Times New Roman" pitchFamily="18" charset="0"/>
              <a:ea typeface="黑体" pitchFamily="2" charset="-122"/>
            </a:endParaRPr>
          </a:p>
          <a:p>
            <a:pPr eaLnBrk="1" hangingPunct="1">
              <a:defRPr/>
            </a:pPr>
            <a:endParaRPr lang="en-US" altLang="zh-CN" dirty="0" smtClean="0">
              <a:latin typeface="Times New Roman" pitchFamily="18" charset="0"/>
              <a:ea typeface="黑体" pitchFamily="2" charset="-122"/>
            </a:endParaRPr>
          </a:p>
          <a:p>
            <a:pPr eaLnBrk="1" hangingPunct="1">
              <a:defRPr/>
            </a:pPr>
            <a:r>
              <a:rPr lang="zh-CN" altLang="en-US" dirty="0" smtClean="0">
                <a:latin typeface="Times New Roman" pitchFamily="18" charset="0"/>
                <a:ea typeface="黑体" pitchFamily="2" charset="-122"/>
              </a:rPr>
              <a:t>当 </a:t>
            </a:r>
            <a:r>
              <a:rPr lang="en-US" altLang="zh-CN" i="1" dirty="0" smtClean="0">
                <a:latin typeface="Times New Roman" pitchFamily="18" charset="0"/>
                <a:ea typeface="黑体" pitchFamily="2" charset="-122"/>
              </a:rPr>
              <a:t>f </a:t>
            </a:r>
            <a:r>
              <a:rPr lang="en-US" altLang="zh-CN" dirty="0" smtClean="0">
                <a:latin typeface="Times New Roman" pitchFamily="18" charset="0"/>
                <a:ea typeface="黑体" pitchFamily="2" charset="-122"/>
              </a:rPr>
              <a:t>′=5mm</a:t>
            </a:r>
            <a:r>
              <a:rPr lang="zh-CN" altLang="en-US" dirty="0" smtClean="0">
                <a:latin typeface="Times New Roman" pitchFamily="18" charset="0"/>
                <a:ea typeface="黑体" pitchFamily="2" charset="-122"/>
              </a:rPr>
              <a:t>时</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β</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5</a:t>
            </a:r>
            <a:r>
              <a:rPr lang="en-US" altLang="zh-CN" baseline="30000" dirty="0" smtClean="0">
                <a:latin typeface="Times New Roman" pitchFamily="18" charset="0"/>
                <a:ea typeface="黑体" pitchFamily="2" charset="-122"/>
              </a:rPr>
              <a:t>×</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y</a:t>
            </a:r>
            <a:r>
              <a:rPr lang="en-US" altLang="zh-CN" baseline="-25000" dirty="0" smtClean="0">
                <a:latin typeface="Times New Roman" pitchFamily="18" charset="0"/>
                <a:ea typeface="黑体" pitchFamily="2" charset="-122"/>
              </a:rPr>
              <a:t>0</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30mm,</a:t>
            </a:r>
            <a:r>
              <a:rPr lang="en-US" altLang="zh-CN" i="1" dirty="0" smtClean="0">
                <a:latin typeface="Times New Roman" pitchFamily="18" charset="0"/>
                <a:ea typeface="黑体" pitchFamily="2" charset="-122"/>
              </a:rPr>
              <a:t>D</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2.5mm, </a:t>
            </a:r>
            <a:r>
              <a:rPr lang="zh-CN" altLang="en-US" dirty="0" smtClean="0">
                <a:latin typeface="Times New Roman" pitchFamily="18" charset="0"/>
                <a:ea typeface="黑体" pitchFamily="2" charset="-122"/>
              </a:rPr>
              <a:t>则</a:t>
            </a:r>
          </a:p>
          <a:p>
            <a:pPr eaLnBrk="1" hangingPunct="1">
              <a:defRPr/>
            </a:pPr>
            <a:r>
              <a:rPr lang="zh-CN" altLang="en-US" dirty="0" smtClean="0">
                <a:latin typeface="Times New Roman" pitchFamily="18" charset="0"/>
                <a:ea typeface="黑体" pitchFamily="2" charset="-122"/>
              </a:rPr>
              <a:t>以上计算结果说明，</a:t>
            </a:r>
            <a:r>
              <a:rPr lang="en-US" altLang="zh-CN" dirty="0" smtClean="0">
                <a:latin typeface="Times New Roman" pitchFamily="18" charset="0"/>
                <a:ea typeface="黑体" pitchFamily="2" charset="-122"/>
              </a:rPr>
              <a:t>GXY</a:t>
            </a:r>
            <a:r>
              <a:rPr lang="zh-CN" altLang="en-US" dirty="0" smtClean="0">
                <a:latin typeface="Times New Roman" pitchFamily="18" charset="0"/>
                <a:ea typeface="黑体" pitchFamily="2" charset="-122"/>
              </a:rPr>
              <a:t>－</a:t>
            </a:r>
            <a:r>
              <a:rPr lang="en-US" altLang="zh-CN" dirty="0" smtClean="0">
                <a:latin typeface="Times New Roman" pitchFamily="18" charset="0"/>
                <a:ea typeface="黑体" pitchFamily="2" charset="-122"/>
              </a:rPr>
              <a:t>08A</a:t>
            </a:r>
            <a:r>
              <a:rPr lang="zh-CN" altLang="en-US" dirty="0" smtClean="0">
                <a:latin typeface="Times New Roman" pitchFamily="18" charset="0"/>
                <a:ea typeface="黑体" pitchFamily="2" charset="-122"/>
              </a:rPr>
              <a:t>型光具座测量焦距的合成标准不确定度可以达到</a:t>
            </a:r>
            <a:r>
              <a:rPr lang="en-US" altLang="zh-CN" dirty="0" smtClean="0">
                <a:latin typeface="Times New Roman" pitchFamily="18" charset="0"/>
                <a:ea typeface="黑体" pitchFamily="2" charset="-122"/>
              </a:rPr>
              <a:t>0.3</a:t>
            </a:r>
            <a:r>
              <a:rPr lang="zh-CN" altLang="en-US" dirty="0" smtClean="0">
                <a:latin typeface="Times New Roman" pitchFamily="18" charset="0"/>
                <a:ea typeface="黑体" pitchFamily="2" charset="-122"/>
              </a:rPr>
              <a:t>％。</a:t>
            </a:r>
          </a:p>
        </p:txBody>
      </p:sp>
      <p:sp>
        <p:nvSpPr>
          <p:cNvPr id="19467" name="Rectangle 4"/>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sp>
        <p:nvSpPr>
          <p:cNvPr id="19468" name="Rectangle 5"/>
          <p:cNvSpPr>
            <a:spLocks noChangeArrowheads="1"/>
          </p:cNvSpPr>
          <p:nvPr/>
        </p:nvSpPr>
        <p:spPr bwMode="auto">
          <a:xfrm>
            <a:off x="4368800" y="3321050"/>
            <a:ext cx="406400" cy="244475"/>
          </a:xfrm>
          <a:prstGeom prst="rect">
            <a:avLst/>
          </a:prstGeom>
          <a:noFill/>
          <a:ln w="9525">
            <a:noFill/>
            <a:miter lim="800000"/>
            <a:headEnd/>
            <a:tailEnd/>
          </a:ln>
        </p:spPr>
        <p:txBody>
          <a:bodyPr wrap="none" anchor="ctr">
            <a:spAutoFit/>
          </a:bodyPr>
          <a:lstStyle/>
          <a:p>
            <a:pPr algn="ctr"/>
            <a:r>
              <a:rPr lang="en-US" altLang="zh-CN" sz="1000">
                <a:latin typeface="Times New Roman" pitchFamily="18" charset="0"/>
                <a:cs typeface="Times New Roman" pitchFamily="18" charset="0"/>
              </a:rPr>
              <a:t>       </a:t>
            </a:r>
            <a:endParaRPr lang="en-US" altLang="zh-CN"/>
          </a:p>
        </p:txBody>
      </p:sp>
      <p:sp>
        <p:nvSpPr>
          <p:cNvPr id="19469"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9470" name="Rectangle 7"/>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19471"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9472" name="Rectangle 9"/>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58" name="Object 10"/>
          <p:cNvGraphicFramePr>
            <a:graphicFrameLocks noChangeAspect="1"/>
          </p:cNvGraphicFramePr>
          <p:nvPr/>
        </p:nvGraphicFramePr>
        <p:xfrm>
          <a:off x="6486525" y="2038350"/>
          <a:ext cx="744538" cy="338138"/>
        </p:xfrm>
        <a:graphic>
          <a:graphicData uri="http://schemas.openxmlformats.org/presentationml/2006/ole">
            <p:oleObj spid="_x0000_s19458" name="公式" r:id="rId3" imgW="12497117" imgH="5791517" progId="Equation.3">
              <p:embed/>
            </p:oleObj>
          </a:graphicData>
        </a:graphic>
      </p:graphicFrame>
      <p:sp>
        <p:nvSpPr>
          <p:cNvPr id="19473" name="Rectangle 11"/>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59" name="Object 12"/>
          <p:cNvGraphicFramePr>
            <a:graphicFrameLocks noChangeAspect="1"/>
          </p:cNvGraphicFramePr>
          <p:nvPr/>
        </p:nvGraphicFramePr>
        <p:xfrm>
          <a:off x="6215063" y="2395538"/>
          <a:ext cx="352425" cy="352425"/>
        </p:xfrm>
        <a:graphic>
          <a:graphicData uri="http://schemas.openxmlformats.org/presentationml/2006/ole">
            <p:oleObj spid="_x0000_s19459" name="公式" r:id="rId4" imgW="5791517" imgH="5791517" progId="Equation.3">
              <p:embed/>
            </p:oleObj>
          </a:graphicData>
        </a:graphic>
      </p:graphicFrame>
      <p:sp>
        <p:nvSpPr>
          <p:cNvPr id="19474" name="Rectangle 13"/>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60" name="Object 14"/>
          <p:cNvGraphicFramePr>
            <a:graphicFrameLocks noChangeAspect="1"/>
          </p:cNvGraphicFramePr>
          <p:nvPr/>
        </p:nvGraphicFramePr>
        <p:xfrm>
          <a:off x="6429375" y="2762250"/>
          <a:ext cx="347663" cy="347663"/>
        </p:xfrm>
        <a:graphic>
          <a:graphicData uri="http://schemas.openxmlformats.org/presentationml/2006/ole">
            <p:oleObj spid="_x0000_s19460" name="公式" r:id="rId5" imgW="5181917" imgH="5181917" progId="Equation.3">
              <p:embed/>
            </p:oleObj>
          </a:graphicData>
        </a:graphic>
      </p:graphicFrame>
      <p:sp>
        <p:nvSpPr>
          <p:cNvPr id="19475"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61" name="Object 16"/>
          <p:cNvGraphicFramePr>
            <a:graphicFrameLocks noChangeAspect="1"/>
          </p:cNvGraphicFramePr>
          <p:nvPr/>
        </p:nvGraphicFramePr>
        <p:xfrm>
          <a:off x="6560633" y="3144240"/>
          <a:ext cx="820737" cy="371475"/>
        </p:xfrm>
        <a:graphic>
          <a:graphicData uri="http://schemas.openxmlformats.org/presentationml/2006/ole">
            <p:oleObj spid="_x0000_s19461" name="公式" r:id="rId6" imgW="12192317" imgH="5486717" progId="Equation.3">
              <p:embed/>
            </p:oleObj>
          </a:graphicData>
        </a:graphic>
      </p:graphicFrame>
      <p:sp>
        <p:nvSpPr>
          <p:cNvPr id="19476" name="Rectangle 17"/>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62" name="Object 18"/>
          <p:cNvGraphicFramePr>
            <a:graphicFrameLocks noChangeAspect="1"/>
          </p:cNvGraphicFramePr>
          <p:nvPr/>
        </p:nvGraphicFramePr>
        <p:xfrm>
          <a:off x="2001796" y="3999963"/>
          <a:ext cx="5416550" cy="777875"/>
        </p:xfrm>
        <a:graphic>
          <a:graphicData uri="http://schemas.openxmlformats.org/presentationml/2006/ole">
            <p:oleObj spid="_x0000_s19462" name="公式" r:id="rId7" imgW="84429917" imgH="12192317" progId="Equation.3">
              <p:embed/>
            </p:oleObj>
          </a:graphicData>
        </a:graphic>
      </p:graphicFrame>
      <p:sp>
        <p:nvSpPr>
          <p:cNvPr id="19477" name="Rectangle 19"/>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63" name="Object 20"/>
          <p:cNvGraphicFramePr>
            <a:graphicFrameLocks noChangeAspect="1"/>
          </p:cNvGraphicFramePr>
          <p:nvPr/>
        </p:nvGraphicFramePr>
        <p:xfrm>
          <a:off x="7595755" y="4535199"/>
          <a:ext cx="1314450" cy="701675"/>
        </p:xfrm>
        <a:graphic>
          <a:graphicData uri="http://schemas.openxmlformats.org/presentationml/2006/ole">
            <p:oleObj spid="_x0000_s19463" name="公式" r:id="rId8" imgW="20117117" imgH="10668317" progId="Equation.3">
              <p:embed/>
            </p:oleObj>
          </a:graphicData>
        </a:graphic>
      </p:graphicFrame>
      <p:sp>
        <p:nvSpPr>
          <p:cNvPr id="24" name="Rectangle 2"/>
          <p:cNvSpPr>
            <a:spLocks noGrp="1" noRot="1" noChangeArrowheads="1"/>
          </p:cNvSpPr>
          <p:nvPr>
            <p:ph type="title"/>
          </p:nvPr>
        </p:nvSpPr>
        <p:spPr>
          <a:xfrm>
            <a:off x="557213" y="434975"/>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放大率法</a:t>
            </a:r>
          </a:p>
        </p:txBody>
      </p:sp>
    </p:spTree>
  </p:cSld>
  <p:clrMapOvr>
    <a:masterClrMapping/>
  </p:clrMapOvr>
  <p:transition>
    <p:circl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日期占位符 3"/>
          <p:cNvSpPr>
            <a:spLocks noGrp="1"/>
          </p:cNvSpPr>
          <p:nvPr>
            <p:ph type="dt" sz="quarter" idx="10"/>
          </p:nvPr>
        </p:nvSpPr>
        <p:spPr>
          <a:noFill/>
        </p:spPr>
        <p:txBody>
          <a:bodyPr/>
          <a:lstStyle/>
          <a:p>
            <a:fld id="{ACF19DE2-711E-4A17-B31A-7C5E04EB05E6}" type="datetime1">
              <a:rPr lang="zh-CN" altLang="en-US" smtClean="0"/>
              <a:pPr/>
              <a:t>2018/2/24</a:t>
            </a:fld>
            <a:endParaRPr lang="en-US" altLang="zh-CN" smtClean="0"/>
          </a:p>
        </p:txBody>
      </p:sp>
      <p:sp>
        <p:nvSpPr>
          <p:cNvPr id="20484" name="灯片编号占位符 5"/>
          <p:cNvSpPr>
            <a:spLocks noGrp="1"/>
          </p:cNvSpPr>
          <p:nvPr>
            <p:ph type="sldNum" sz="quarter" idx="12"/>
          </p:nvPr>
        </p:nvSpPr>
        <p:spPr>
          <a:noFill/>
        </p:spPr>
        <p:txBody>
          <a:bodyPr/>
          <a:lstStyle/>
          <a:p>
            <a:fld id="{7796DC3F-69B3-4261-829B-EAA065485881}" type="slidenum">
              <a:rPr lang="en-US" altLang="zh-CN" smtClean="0"/>
              <a:pPr/>
              <a:t>33</a:t>
            </a:fld>
            <a:endParaRPr lang="en-US" altLang="zh-CN" smtClean="0"/>
          </a:p>
        </p:txBody>
      </p:sp>
      <p:sp>
        <p:nvSpPr>
          <p:cNvPr id="581634" name="Rectangle 2"/>
          <p:cNvSpPr>
            <a:spLocks noGrp="1" noChangeArrowheads="1"/>
          </p:cNvSpPr>
          <p:nvPr>
            <p:ph type="body" idx="1"/>
          </p:nvPr>
        </p:nvSpPr>
        <p:spPr>
          <a:xfrm>
            <a:off x="471488" y="1960563"/>
            <a:ext cx="8229600" cy="4805362"/>
          </a:xfrm>
        </p:spPr>
        <p:txBody>
          <a:bodyPr/>
          <a:lstStyle/>
          <a:p>
            <a:pPr eaLnBrk="1" hangingPunct="1">
              <a:defRPr/>
            </a:pPr>
            <a:r>
              <a:rPr lang="zh-CN" altLang="en-US" dirty="0" smtClean="0">
                <a:latin typeface="Times New Roman" pitchFamily="18" charset="0"/>
                <a:ea typeface="黑体" pitchFamily="2" charset="-122"/>
              </a:rPr>
              <a:t>本方法主要用来测量负透镜的焦距：</a:t>
            </a: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endParaRPr lang="zh-CN" altLang="en-US" dirty="0" smtClean="0">
              <a:latin typeface="Times New Roman" pitchFamily="18" charset="0"/>
              <a:ea typeface="黑体" pitchFamily="2" charset="-122"/>
            </a:endParaRPr>
          </a:p>
          <a:p>
            <a:pPr eaLnBrk="1" hangingPunct="1">
              <a:defRPr/>
            </a:pPr>
            <a:r>
              <a:rPr lang="zh-CN" altLang="en-US" dirty="0" smtClean="0">
                <a:latin typeface="Times New Roman" pitchFamily="18" charset="0"/>
                <a:ea typeface="黑体" pitchFamily="2" charset="-122"/>
              </a:rPr>
              <a:t>本方法的测量不确定度与放大率法相当，其主要来自正透镜焦距的不确定度的影响。 </a:t>
            </a:r>
          </a:p>
        </p:txBody>
      </p:sp>
      <p:sp>
        <p:nvSpPr>
          <p:cNvPr id="581635" name="Rectangle 3"/>
          <p:cNvSpPr>
            <a:spLocks noGrp="1" noRot="1" noChangeArrowheads="1"/>
          </p:cNvSpPr>
          <p:nvPr>
            <p:ph type="title"/>
          </p:nvPr>
        </p:nvSpPr>
        <p:spPr>
          <a:xfrm>
            <a:off x="557213" y="692150"/>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28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rPr>
              <a:t>附加透镜法</a:t>
            </a:r>
          </a:p>
        </p:txBody>
      </p:sp>
      <p:sp>
        <p:nvSpPr>
          <p:cNvPr id="20487" name="Rectangle 4"/>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sp>
        <p:nvSpPr>
          <p:cNvPr id="20488" name="Rectangle 5"/>
          <p:cNvSpPr>
            <a:spLocks noChangeArrowheads="1"/>
          </p:cNvSpPr>
          <p:nvPr/>
        </p:nvSpPr>
        <p:spPr bwMode="auto">
          <a:xfrm>
            <a:off x="4368800" y="3321050"/>
            <a:ext cx="406400" cy="244475"/>
          </a:xfrm>
          <a:prstGeom prst="rect">
            <a:avLst/>
          </a:prstGeom>
          <a:noFill/>
          <a:ln w="9525">
            <a:noFill/>
            <a:miter lim="800000"/>
            <a:headEnd/>
            <a:tailEnd/>
          </a:ln>
        </p:spPr>
        <p:txBody>
          <a:bodyPr wrap="none" anchor="ctr">
            <a:spAutoFit/>
          </a:bodyPr>
          <a:lstStyle/>
          <a:p>
            <a:pPr algn="ctr"/>
            <a:r>
              <a:rPr lang="en-US" altLang="zh-CN" sz="1000">
                <a:latin typeface="Times New Roman" pitchFamily="18" charset="0"/>
                <a:cs typeface="Times New Roman" pitchFamily="18" charset="0"/>
              </a:rPr>
              <a:t>       </a:t>
            </a:r>
            <a:endParaRPr lang="en-US" altLang="zh-CN"/>
          </a:p>
        </p:txBody>
      </p:sp>
      <p:sp>
        <p:nvSpPr>
          <p:cNvPr id="20489"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0490" name="Rectangle 7"/>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20491"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0492" name="Rectangle 9"/>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20493" name="Rectangle 10"/>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20494" name="Rectangle 11"/>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20495"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20496" name="Rectangle 13"/>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20497" name="Rectangle 14"/>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98" name="矩形 97"/>
          <p:cNvSpPr/>
          <p:nvPr/>
        </p:nvSpPr>
        <p:spPr>
          <a:xfrm>
            <a:off x="3571875" y="3562350"/>
            <a:ext cx="119063" cy="7429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0499" name="Group 15"/>
          <p:cNvGrpSpPr>
            <a:grpSpLocks/>
          </p:cNvGrpSpPr>
          <p:nvPr/>
        </p:nvGrpSpPr>
        <p:grpSpPr bwMode="auto">
          <a:xfrm>
            <a:off x="1190625" y="2667000"/>
            <a:ext cx="7086600" cy="3062288"/>
            <a:chOff x="696" y="1706"/>
            <a:chExt cx="4518" cy="2065"/>
          </a:xfrm>
        </p:grpSpPr>
        <p:sp>
          <p:nvSpPr>
            <p:cNvPr id="20501" name="Rectangle 16"/>
            <p:cNvSpPr>
              <a:spLocks noChangeArrowheads="1"/>
            </p:cNvSpPr>
            <p:nvPr/>
          </p:nvSpPr>
          <p:spPr bwMode="auto">
            <a:xfrm>
              <a:off x="696" y="1706"/>
              <a:ext cx="4518" cy="205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20502" name="Group 17"/>
            <p:cNvGrpSpPr>
              <a:grpSpLocks/>
            </p:cNvGrpSpPr>
            <p:nvPr/>
          </p:nvGrpSpPr>
          <p:grpSpPr bwMode="auto">
            <a:xfrm>
              <a:off x="723" y="1763"/>
              <a:ext cx="4430" cy="2008"/>
              <a:chOff x="2774" y="12258"/>
              <a:chExt cx="6360" cy="2882"/>
            </a:xfrm>
          </p:grpSpPr>
          <p:grpSp>
            <p:nvGrpSpPr>
              <p:cNvPr id="20503" name="Group 18"/>
              <p:cNvGrpSpPr>
                <a:grpSpLocks/>
              </p:cNvGrpSpPr>
              <p:nvPr/>
            </p:nvGrpSpPr>
            <p:grpSpPr bwMode="auto">
              <a:xfrm>
                <a:off x="4797" y="12968"/>
                <a:ext cx="257" cy="880"/>
                <a:chOff x="3517" y="6954"/>
                <a:chExt cx="257" cy="880"/>
              </a:xfrm>
            </p:grpSpPr>
            <p:sp>
              <p:nvSpPr>
                <p:cNvPr id="20573" name="Oval 19"/>
                <p:cNvSpPr>
                  <a:spLocks noChangeArrowheads="1"/>
                </p:cNvSpPr>
                <p:nvPr/>
              </p:nvSpPr>
              <p:spPr bwMode="auto">
                <a:xfrm>
                  <a:off x="3517" y="6994"/>
                  <a:ext cx="201" cy="782"/>
                </a:xfrm>
                <a:prstGeom prst="ellipse">
                  <a:avLst/>
                </a:prstGeom>
                <a:noFill/>
                <a:ln w="9525">
                  <a:solidFill>
                    <a:srgbClr val="000000"/>
                  </a:solidFill>
                  <a:round/>
                  <a:headEnd/>
                  <a:tailEnd/>
                </a:ln>
              </p:spPr>
              <p:txBody>
                <a:bodyPr/>
                <a:lstStyle/>
                <a:p>
                  <a:endParaRPr lang="zh-CN" altLang="en-US"/>
                </a:p>
              </p:txBody>
            </p:sp>
            <p:sp>
              <p:nvSpPr>
                <p:cNvPr id="20574" name="Oval 20"/>
                <p:cNvSpPr>
                  <a:spLocks noChangeArrowheads="1"/>
                </p:cNvSpPr>
                <p:nvPr/>
              </p:nvSpPr>
              <p:spPr bwMode="auto">
                <a:xfrm>
                  <a:off x="3594" y="6994"/>
                  <a:ext cx="180" cy="780"/>
                </a:xfrm>
                <a:prstGeom prst="ellipse">
                  <a:avLst/>
                </a:prstGeom>
                <a:noFill/>
                <a:ln w="9525">
                  <a:solidFill>
                    <a:srgbClr val="000000"/>
                  </a:solidFill>
                  <a:round/>
                  <a:headEnd/>
                  <a:tailEnd/>
                </a:ln>
              </p:spPr>
              <p:txBody>
                <a:bodyPr/>
                <a:lstStyle/>
                <a:p>
                  <a:endParaRPr lang="zh-CN" altLang="en-US"/>
                </a:p>
              </p:txBody>
            </p:sp>
            <p:sp>
              <p:nvSpPr>
                <p:cNvPr id="20575" name="Rectangle 21"/>
                <p:cNvSpPr>
                  <a:spLocks noChangeArrowheads="1"/>
                </p:cNvSpPr>
                <p:nvPr/>
              </p:nvSpPr>
              <p:spPr bwMode="auto">
                <a:xfrm>
                  <a:off x="3554" y="6954"/>
                  <a:ext cx="180" cy="80"/>
                </a:xfrm>
                <a:prstGeom prst="rect">
                  <a:avLst/>
                </a:prstGeom>
                <a:solidFill>
                  <a:schemeClr val="accent1"/>
                </a:solidFill>
                <a:ln w="9525">
                  <a:noFill/>
                  <a:miter lim="800000"/>
                  <a:headEnd/>
                  <a:tailEnd/>
                </a:ln>
              </p:spPr>
              <p:txBody>
                <a:bodyPr/>
                <a:lstStyle/>
                <a:p>
                  <a:endParaRPr lang="zh-CN" altLang="en-US"/>
                </a:p>
              </p:txBody>
            </p:sp>
            <p:sp>
              <p:nvSpPr>
                <p:cNvPr id="20576" name="Rectangle 22"/>
                <p:cNvSpPr>
                  <a:spLocks noChangeArrowheads="1"/>
                </p:cNvSpPr>
                <p:nvPr/>
              </p:nvSpPr>
              <p:spPr bwMode="auto">
                <a:xfrm>
                  <a:off x="3534" y="7754"/>
                  <a:ext cx="240" cy="80"/>
                </a:xfrm>
                <a:prstGeom prst="rect">
                  <a:avLst/>
                </a:prstGeom>
                <a:solidFill>
                  <a:schemeClr val="accent1"/>
                </a:solidFill>
                <a:ln w="9525">
                  <a:noFill/>
                  <a:miter lim="800000"/>
                  <a:headEnd/>
                  <a:tailEnd/>
                </a:ln>
              </p:spPr>
              <p:txBody>
                <a:bodyPr/>
                <a:lstStyle/>
                <a:p>
                  <a:endParaRPr lang="zh-CN" altLang="en-US"/>
                </a:p>
              </p:txBody>
            </p:sp>
            <p:sp>
              <p:nvSpPr>
                <p:cNvPr id="20577" name="Line 23"/>
                <p:cNvSpPr>
                  <a:spLocks noChangeShapeType="1"/>
                </p:cNvSpPr>
                <p:nvPr/>
              </p:nvSpPr>
              <p:spPr bwMode="auto">
                <a:xfrm>
                  <a:off x="3574" y="7034"/>
                  <a:ext cx="140" cy="0"/>
                </a:xfrm>
                <a:prstGeom prst="line">
                  <a:avLst/>
                </a:prstGeom>
                <a:noFill/>
                <a:ln w="9525">
                  <a:solidFill>
                    <a:srgbClr val="000000"/>
                  </a:solidFill>
                  <a:round/>
                  <a:headEnd/>
                  <a:tailEnd/>
                </a:ln>
              </p:spPr>
              <p:txBody>
                <a:bodyPr/>
                <a:lstStyle/>
                <a:p>
                  <a:endParaRPr lang="zh-CN" altLang="en-US"/>
                </a:p>
              </p:txBody>
            </p:sp>
            <p:sp>
              <p:nvSpPr>
                <p:cNvPr id="20578" name="Line 24"/>
                <p:cNvSpPr>
                  <a:spLocks noChangeShapeType="1"/>
                </p:cNvSpPr>
                <p:nvPr/>
              </p:nvSpPr>
              <p:spPr bwMode="auto">
                <a:xfrm>
                  <a:off x="3574" y="7754"/>
                  <a:ext cx="140" cy="0"/>
                </a:xfrm>
                <a:prstGeom prst="line">
                  <a:avLst/>
                </a:prstGeom>
                <a:noFill/>
                <a:ln w="9525">
                  <a:solidFill>
                    <a:srgbClr val="000000"/>
                  </a:solidFill>
                  <a:round/>
                  <a:headEnd/>
                  <a:tailEnd/>
                </a:ln>
              </p:spPr>
              <p:txBody>
                <a:bodyPr/>
                <a:lstStyle/>
                <a:p>
                  <a:endParaRPr lang="zh-CN" altLang="en-US"/>
                </a:p>
              </p:txBody>
            </p:sp>
          </p:grpSp>
          <p:grpSp>
            <p:nvGrpSpPr>
              <p:cNvPr id="20504" name="Group 25"/>
              <p:cNvGrpSpPr>
                <a:grpSpLocks/>
              </p:cNvGrpSpPr>
              <p:nvPr/>
            </p:nvGrpSpPr>
            <p:grpSpPr bwMode="auto">
              <a:xfrm>
                <a:off x="5314" y="13028"/>
                <a:ext cx="160" cy="740"/>
                <a:chOff x="4034" y="7014"/>
                <a:chExt cx="160" cy="740"/>
              </a:xfrm>
            </p:grpSpPr>
            <p:sp>
              <p:nvSpPr>
                <p:cNvPr id="20568" name="Oval 26"/>
                <p:cNvSpPr>
                  <a:spLocks noChangeArrowheads="1"/>
                </p:cNvSpPr>
                <p:nvPr/>
              </p:nvSpPr>
              <p:spPr bwMode="auto">
                <a:xfrm>
                  <a:off x="4074" y="7034"/>
                  <a:ext cx="120" cy="680"/>
                </a:xfrm>
                <a:prstGeom prst="ellipse">
                  <a:avLst/>
                </a:prstGeom>
                <a:noFill/>
                <a:ln w="9525">
                  <a:solidFill>
                    <a:srgbClr val="000000"/>
                  </a:solidFill>
                  <a:round/>
                  <a:headEnd/>
                  <a:tailEnd/>
                </a:ln>
              </p:spPr>
              <p:txBody>
                <a:bodyPr/>
                <a:lstStyle/>
                <a:p>
                  <a:endParaRPr lang="zh-CN" altLang="en-US"/>
                </a:p>
              </p:txBody>
            </p:sp>
            <p:sp>
              <p:nvSpPr>
                <p:cNvPr id="20569" name="Rectangle 27"/>
                <p:cNvSpPr>
                  <a:spLocks noChangeArrowheads="1"/>
                </p:cNvSpPr>
                <p:nvPr/>
              </p:nvSpPr>
              <p:spPr bwMode="auto">
                <a:xfrm>
                  <a:off x="4054" y="7694"/>
                  <a:ext cx="120" cy="60"/>
                </a:xfrm>
                <a:prstGeom prst="rect">
                  <a:avLst/>
                </a:prstGeom>
                <a:noFill/>
                <a:ln w="9525">
                  <a:noFill/>
                  <a:miter lim="800000"/>
                  <a:headEnd/>
                  <a:tailEnd/>
                </a:ln>
              </p:spPr>
              <p:txBody>
                <a:bodyPr/>
                <a:lstStyle/>
                <a:p>
                  <a:endParaRPr lang="zh-CN" altLang="en-US"/>
                </a:p>
              </p:txBody>
            </p:sp>
            <p:sp>
              <p:nvSpPr>
                <p:cNvPr id="20570" name="Rectangle 28"/>
                <p:cNvSpPr>
                  <a:spLocks noChangeArrowheads="1"/>
                </p:cNvSpPr>
                <p:nvPr/>
              </p:nvSpPr>
              <p:spPr bwMode="auto">
                <a:xfrm>
                  <a:off x="4034" y="7014"/>
                  <a:ext cx="140" cy="60"/>
                </a:xfrm>
                <a:prstGeom prst="rect">
                  <a:avLst/>
                </a:prstGeom>
                <a:solidFill>
                  <a:schemeClr val="accent1"/>
                </a:solidFill>
                <a:ln w="9525">
                  <a:noFill/>
                  <a:miter lim="800000"/>
                  <a:headEnd/>
                  <a:tailEnd/>
                </a:ln>
              </p:spPr>
              <p:txBody>
                <a:bodyPr/>
                <a:lstStyle/>
                <a:p>
                  <a:endParaRPr lang="zh-CN" altLang="en-US"/>
                </a:p>
              </p:txBody>
            </p:sp>
            <p:sp>
              <p:nvSpPr>
                <p:cNvPr id="20571" name="Line 29"/>
                <p:cNvSpPr>
                  <a:spLocks noChangeShapeType="1"/>
                </p:cNvSpPr>
                <p:nvPr/>
              </p:nvSpPr>
              <p:spPr bwMode="auto">
                <a:xfrm>
                  <a:off x="4103" y="7074"/>
                  <a:ext cx="60" cy="0"/>
                </a:xfrm>
                <a:prstGeom prst="line">
                  <a:avLst/>
                </a:prstGeom>
                <a:noFill/>
                <a:ln w="9525">
                  <a:solidFill>
                    <a:srgbClr val="000000"/>
                  </a:solidFill>
                  <a:round/>
                  <a:headEnd/>
                  <a:tailEnd/>
                </a:ln>
              </p:spPr>
              <p:txBody>
                <a:bodyPr/>
                <a:lstStyle/>
                <a:p>
                  <a:endParaRPr lang="zh-CN" altLang="en-US"/>
                </a:p>
              </p:txBody>
            </p:sp>
            <p:sp>
              <p:nvSpPr>
                <p:cNvPr id="20572" name="Line 30"/>
                <p:cNvSpPr>
                  <a:spLocks noChangeShapeType="1"/>
                </p:cNvSpPr>
                <p:nvPr/>
              </p:nvSpPr>
              <p:spPr bwMode="auto">
                <a:xfrm>
                  <a:off x="4114" y="7694"/>
                  <a:ext cx="40" cy="0"/>
                </a:xfrm>
                <a:prstGeom prst="line">
                  <a:avLst/>
                </a:prstGeom>
                <a:noFill/>
                <a:ln w="9525">
                  <a:solidFill>
                    <a:srgbClr val="000000"/>
                  </a:solidFill>
                  <a:round/>
                  <a:headEnd/>
                  <a:tailEnd/>
                </a:ln>
              </p:spPr>
              <p:txBody>
                <a:bodyPr/>
                <a:lstStyle/>
                <a:p>
                  <a:endParaRPr lang="zh-CN" altLang="en-US"/>
                </a:p>
              </p:txBody>
            </p:sp>
          </p:grpSp>
          <p:grpSp>
            <p:nvGrpSpPr>
              <p:cNvPr id="20505" name="Group 31"/>
              <p:cNvGrpSpPr>
                <a:grpSpLocks/>
              </p:cNvGrpSpPr>
              <p:nvPr/>
            </p:nvGrpSpPr>
            <p:grpSpPr bwMode="auto">
              <a:xfrm>
                <a:off x="5954" y="13008"/>
                <a:ext cx="500" cy="823"/>
                <a:chOff x="5034" y="6974"/>
                <a:chExt cx="500" cy="823"/>
              </a:xfrm>
            </p:grpSpPr>
            <p:sp>
              <p:nvSpPr>
                <p:cNvPr id="20560" name="Oval 32"/>
                <p:cNvSpPr>
                  <a:spLocks noChangeArrowheads="1"/>
                </p:cNvSpPr>
                <p:nvPr/>
              </p:nvSpPr>
              <p:spPr bwMode="auto">
                <a:xfrm>
                  <a:off x="5134" y="7014"/>
                  <a:ext cx="140" cy="680"/>
                </a:xfrm>
                <a:prstGeom prst="ellipse">
                  <a:avLst/>
                </a:prstGeom>
                <a:noFill/>
                <a:ln w="9525">
                  <a:solidFill>
                    <a:srgbClr val="000000"/>
                  </a:solidFill>
                  <a:round/>
                  <a:headEnd/>
                  <a:tailEnd/>
                </a:ln>
              </p:spPr>
              <p:txBody>
                <a:bodyPr/>
                <a:lstStyle/>
                <a:p>
                  <a:endParaRPr lang="zh-CN" altLang="en-US"/>
                </a:p>
              </p:txBody>
            </p:sp>
            <p:sp>
              <p:nvSpPr>
                <p:cNvPr id="20561" name="Oval 33"/>
                <p:cNvSpPr>
                  <a:spLocks noChangeArrowheads="1"/>
                </p:cNvSpPr>
                <p:nvPr/>
              </p:nvSpPr>
              <p:spPr bwMode="auto">
                <a:xfrm>
                  <a:off x="5334" y="7014"/>
                  <a:ext cx="100" cy="680"/>
                </a:xfrm>
                <a:prstGeom prst="ellipse">
                  <a:avLst/>
                </a:prstGeom>
                <a:noFill/>
                <a:ln w="9525">
                  <a:solidFill>
                    <a:srgbClr val="000000"/>
                  </a:solidFill>
                  <a:round/>
                  <a:headEnd/>
                  <a:tailEnd/>
                </a:ln>
              </p:spPr>
              <p:txBody>
                <a:bodyPr/>
                <a:lstStyle/>
                <a:p>
                  <a:endParaRPr lang="zh-CN" altLang="en-US"/>
                </a:p>
              </p:txBody>
            </p:sp>
            <p:sp>
              <p:nvSpPr>
                <p:cNvPr id="20562" name="Rectangle 34"/>
                <p:cNvSpPr>
                  <a:spLocks noChangeArrowheads="1"/>
                </p:cNvSpPr>
                <p:nvPr/>
              </p:nvSpPr>
              <p:spPr bwMode="auto">
                <a:xfrm>
                  <a:off x="5131" y="6974"/>
                  <a:ext cx="400" cy="60"/>
                </a:xfrm>
                <a:prstGeom prst="rect">
                  <a:avLst/>
                </a:prstGeom>
                <a:solidFill>
                  <a:schemeClr val="accent1"/>
                </a:solidFill>
                <a:ln w="9525">
                  <a:noFill/>
                  <a:miter lim="800000"/>
                  <a:headEnd/>
                  <a:tailEnd/>
                </a:ln>
              </p:spPr>
              <p:txBody>
                <a:bodyPr/>
                <a:lstStyle/>
                <a:p>
                  <a:endParaRPr lang="zh-CN" altLang="en-US"/>
                </a:p>
              </p:txBody>
            </p:sp>
            <p:sp>
              <p:nvSpPr>
                <p:cNvPr id="20563" name="Rectangle 35"/>
                <p:cNvSpPr>
                  <a:spLocks noChangeArrowheads="1"/>
                </p:cNvSpPr>
                <p:nvPr/>
              </p:nvSpPr>
              <p:spPr bwMode="auto">
                <a:xfrm>
                  <a:off x="5094" y="7674"/>
                  <a:ext cx="440" cy="60"/>
                </a:xfrm>
                <a:prstGeom prst="rect">
                  <a:avLst/>
                </a:prstGeom>
                <a:solidFill>
                  <a:schemeClr val="accent1"/>
                </a:solidFill>
                <a:ln w="9525">
                  <a:noFill/>
                  <a:miter lim="800000"/>
                  <a:headEnd/>
                  <a:tailEnd/>
                </a:ln>
              </p:spPr>
              <p:txBody>
                <a:bodyPr/>
                <a:lstStyle/>
                <a:p>
                  <a:endParaRPr lang="zh-CN" altLang="en-US"/>
                </a:p>
              </p:txBody>
            </p:sp>
            <p:sp>
              <p:nvSpPr>
                <p:cNvPr id="20564" name="Line 36"/>
                <p:cNvSpPr>
                  <a:spLocks noChangeShapeType="1"/>
                </p:cNvSpPr>
                <p:nvPr/>
              </p:nvSpPr>
              <p:spPr bwMode="auto">
                <a:xfrm flipV="1">
                  <a:off x="5176" y="7034"/>
                  <a:ext cx="198" cy="0"/>
                </a:xfrm>
                <a:prstGeom prst="line">
                  <a:avLst/>
                </a:prstGeom>
                <a:noFill/>
                <a:ln w="9525">
                  <a:solidFill>
                    <a:srgbClr val="000000"/>
                  </a:solidFill>
                  <a:round/>
                  <a:headEnd/>
                  <a:tailEnd/>
                </a:ln>
              </p:spPr>
              <p:txBody>
                <a:bodyPr/>
                <a:lstStyle/>
                <a:p>
                  <a:endParaRPr lang="zh-CN" altLang="en-US"/>
                </a:p>
              </p:txBody>
            </p:sp>
            <p:sp>
              <p:nvSpPr>
                <p:cNvPr id="20565" name="Line 37"/>
                <p:cNvSpPr>
                  <a:spLocks noChangeShapeType="1"/>
                </p:cNvSpPr>
                <p:nvPr/>
              </p:nvSpPr>
              <p:spPr bwMode="auto">
                <a:xfrm>
                  <a:off x="5173" y="7674"/>
                  <a:ext cx="198" cy="0"/>
                </a:xfrm>
                <a:prstGeom prst="line">
                  <a:avLst/>
                </a:prstGeom>
                <a:noFill/>
                <a:ln w="9525">
                  <a:solidFill>
                    <a:srgbClr val="000000"/>
                  </a:solidFill>
                  <a:round/>
                  <a:headEnd/>
                  <a:tailEnd/>
                </a:ln>
              </p:spPr>
              <p:txBody>
                <a:bodyPr/>
                <a:lstStyle/>
                <a:p>
                  <a:endParaRPr lang="zh-CN" altLang="en-US"/>
                </a:p>
              </p:txBody>
            </p:sp>
            <p:sp>
              <p:nvSpPr>
                <p:cNvPr id="20566" name="Rectangle 38"/>
                <p:cNvSpPr>
                  <a:spLocks noChangeArrowheads="1"/>
                </p:cNvSpPr>
                <p:nvPr/>
              </p:nvSpPr>
              <p:spPr bwMode="auto">
                <a:xfrm>
                  <a:off x="5034" y="6977"/>
                  <a:ext cx="200" cy="820"/>
                </a:xfrm>
                <a:prstGeom prst="rect">
                  <a:avLst/>
                </a:prstGeom>
                <a:solidFill>
                  <a:schemeClr val="accent1"/>
                </a:solidFill>
                <a:ln w="9525">
                  <a:noFill/>
                  <a:miter lim="800000"/>
                  <a:headEnd/>
                  <a:tailEnd/>
                </a:ln>
              </p:spPr>
              <p:txBody>
                <a:bodyPr/>
                <a:lstStyle/>
                <a:p>
                  <a:endParaRPr lang="zh-CN" altLang="en-US"/>
                </a:p>
              </p:txBody>
            </p:sp>
            <p:sp>
              <p:nvSpPr>
                <p:cNvPr id="20567" name="Rectangle 39"/>
                <p:cNvSpPr>
                  <a:spLocks noChangeArrowheads="1"/>
                </p:cNvSpPr>
                <p:nvPr/>
              </p:nvSpPr>
              <p:spPr bwMode="auto">
                <a:xfrm>
                  <a:off x="5394" y="7034"/>
                  <a:ext cx="100" cy="660"/>
                </a:xfrm>
                <a:prstGeom prst="rect">
                  <a:avLst/>
                </a:prstGeom>
                <a:solidFill>
                  <a:schemeClr val="accent1"/>
                </a:solidFill>
                <a:ln w="9525">
                  <a:noFill/>
                  <a:miter lim="800000"/>
                  <a:headEnd/>
                  <a:tailEnd/>
                </a:ln>
              </p:spPr>
              <p:txBody>
                <a:bodyPr/>
                <a:lstStyle/>
                <a:p>
                  <a:endParaRPr lang="zh-CN" altLang="en-US"/>
                </a:p>
              </p:txBody>
            </p:sp>
          </p:grpSp>
          <p:grpSp>
            <p:nvGrpSpPr>
              <p:cNvPr id="20506" name="Group 40"/>
              <p:cNvGrpSpPr>
                <a:grpSpLocks/>
              </p:cNvGrpSpPr>
              <p:nvPr/>
            </p:nvGrpSpPr>
            <p:grpSpPr bwMode="auto">
              <a:xfrm rot="10737839">
                <a:off x="6774" y="13068"/>
                <a:ext cx="181" cy="660"/>
                <a:chOff x="3534" y="6954"/>
                <a:chExt cx="240" cy="880"/>
              </a:xfrm>
            </p:grpSpPr>
            <p:sp>
              <p:nvSpPr>
                <p:cNvPr id="20554" name="Oval 41"/>
                <p:cNvSpPr>
                  <a:spLocks noChangeArrowheads="1"/>
                </p:cNvSpPr>
                <p:nvPr/>
              </p:nvSpPr>
              <p:spPr bwMode="auto">
                <a:xfrm>
                  <a:off x="3534" y="6994"/>
                  <a:ext cx="140" cy="780"/>
                </a:xfrm>
                <a:prstGeom prst="ellipse">
                  <a:avLst/>
                </a:prstGeom>
                <a:solidFill>
                  <a:schemeClr val="accent1"/>
                </a:solidFill>
                <a:ln w="9525">
                  <a:solidFill>
                    <a:srgbClr val="000000"/>
                  </a:solidFill>
                  <a:round/>
                  <a:headEnd/>
                  <a:tailEnd/>
                </a:ln>
              </p:spPr>
              <p:txBody>
                <a:bodyPr/>
                <a:lstStyle/>
                <a:p>
                  <a:endParaRPr lang="zh-CN" altLang="en-US"/>
                </a:p>
              </p:txBody>
            </p:sp>
            <p:sp>
              <p:nvSpPr>
                <p:cNvPr id="20555" name="Oval 42"/>
                <p:cNvSpPr>
                  <a:spLocks noChangeArrowheads="1"/>
                </p:cNvSpPr>
                <p:nvPr/>
              </p:nvSpPr>
              <p:spPr bwMode="auto">
                <a:xfrm>
                  <a:off x="3594" y="6994"/>
                  <a:ext cx="180" cy="780"/>
                </a:xfrm>
                <a:prstGeom prst="ellipse">
                  <a:avLst/>
                </a:prstGeom>
                <a:noFill/>
                <a:ln w="9525">
                  <a:solidFill>
                    <a:srgbClr val="000000"/>
                  </a:solidFill>
                  <a:round/>
                  <a:headEnd/>
                  <a:tailEnd/>
                </a:ln>
              </p:spPr>
              <p:txBody>
                <a:bodyPr/>
                <a:lstStyle/>
                <a:p>
                  <a:endParaRPr lang="zh-CN" altLang="en-US"/>
                </a:p>
              </p:txBody>
            </p:sp>
            <p:sp>
              <p:nvSpPr>
                <p:cNvPr id="20556" name="Rectangle 43"/>
                <p:cNvSpPr>
                  <a:spLocks noChangeArrowheads="1"/>
                </p:cNvSpPr>
                <p:nvPr/>
              </p:nvSpPr>
              <p:spPr bwMode="auto">
                <a:xfrm>
                  <a:off x="3554" y="6954"/>
                  <a:ext cx="180" cy="80"/>
                </a:xfrm>
                <a:prstGeom prst="rect">
                  <a:avLst/>
                </a:prstGeom>
                <a:solidFill>
                  <a:schemeClr val="accent1"/>
                </a:solidFill>
                <a:ln w="9525">
                  <a:noFill/>
                  <a:miter lim="800000"/>
                  <a:headEnd/>
                  <a:tailEnd/>
                </a:ln>
              </p:spPr>
              <p:txBody>
                <a:bodyPr/>
                <a:lstStyle/>
                <a:p>
                  <a:endParaRPr lang="zh-CN" altLang="en-US"/>
                </a:p>
              </p:txBody>
            </p:sp>
            <p:sp>
              <p:nvSpPr>
                <p:cNvPr id="20557" name="Rectangle 44"/>
                <p:cNvSpPr>
                  <a:spLocks noChangeArrowheads="1"/>
                </p:cNvSpPr>
                <p:nvPr/>
              </p:nvSpPr>
              <p:spPr bwMode="auto">
                <a:xfrm>
                  <a:off x="3534" y="7754"/>
                  <a:ext cx="240" cy="80"/>
                </a:xfrm>
                <a:prstGeom prst="rect">
                  <a:avLst/>
                </a:prstGeom>
                <a:solidFill>
                  <a:schemeClr val="accent1"/>
                </a:solidFill>
                <a:ln w="9525">
                  <a:noFill/>
                  <a:miter lim="800000"/>
                  <a:headEnd/>
                  <a:tailEnd/>
                </a:ln>
              </p:spPr>
              <p:txBody>
                <a:bodyPr/>
                <a:lstStyle/>
                <a:p>
                  <a:endParaRPr lang="zh-CN" altLang="en-US"/>
                </a:p>
              </p:txBody>
            </p:sp>
            <p:sp>
              <p:nvSpPr>
                <p:cNvPr id="20558" name="Line 45"/>
                <p:cNvSpPr>
                  <a:spLocks noChangeShapeType="1"/>
                </p:cNvSpPr>
                <p:nvPr/>
              </p:nvSpPr>
              <p:spPr bwMode="auto">
                <a:xfrm>
                  <a:off x="3574" y="7034"/>
                  <a:ext cx="140" cy="0"/>
                </a:xfrm>
                <a:prstGeom prst="line">
                  <a:avLst/>
                </a:prstGeom>
                <a:noFill/>
                <a:ln w="9525">
                  <a:solidFill>
                    <a:srgbClr val="000000"/>
                  </a:solidFill>
                  <a:round/>
                  <a:headEnd/>
                  <a:tailEnd/>
                </a:ln>
              </p:spPr>
              <p:txBody>
                <a:bodyPr/>
                <a:lstStyle/>
                <a:p>
                  <a:endParaRPr lang="zh-CN" altLang="en-US"/>
                </a:p>
              </p:txBody>
            </p:sp>
            <p:sp>
              <p:nvSpPr>
                <p:cNvPr id="20559" name="Line 46"/>
                <p:cNvSpPr>
                  <a:spLocks noChangeShapeType="1"/>
                </p:cNvSpPr>
                <p:nvPr/>
              </p:nvSpPr>
              <p:spPr bwMode="auto">
                <a:xfrm>
                  <a:off x="3574" y="7754"/>
                  <a:ext cx="140" cy="0"/>
                </a:xfrm>
                <a:prstGeom prst="line">
                  <a:avLst/>
                </a:prstGeom>
                <a:noFill/>
                <a:ln w="9525">
                  <a:solidFill>
                    <a:srgbClr val="000000"/>
                  </a:solidFill>
                  <a:round/>
                  <a:headEnd/>
                  <a:tailEnd/>
                </a:ln>
              </p:spPr>
              <p:txBody>
                <a:bodyPr/>
                <a:lstStyle/>
                <a:p>
                  <a:endParaRPr lang="zh-CN" altLang="en-US"/>
                </a:p>
              </p:txBody>
            </p:sp>
          </p:grpSp>
          <p:grpSp>
            <p:nvGrpSpPr>
              <p:cNvPr id="20507" name="Group 47"/>
              <p:cNvGrpSpPr>
                <a:grpSpLocks/>
              </p:cNvGrpSpPr>
              <p:nvPr/>
            </p:nvGrpSpPr>
            <p:grpSpPr bwMode="auto">
              <a:xfrm>
                <a:off x="8475" y="13068"/>
                <a:ext cx="499" cy="520"/>
                <a:chOff x="6414" y="7054"/>
                <a:chExt cx="499" cy="520"/>
              </a:xfrm>
            </p:grpSpPr>
            <p:grpSp>
              <p:nvGrpSpPr>
                <p:cNvPr id="20538" name="Group 48"/>
                <p:cNvGrpSpPr>
                  <a:grpSpLocks/>
                </p:cNvGrpSpPr>
                <p:nvPr/>
              </p:nvGrpSpPr>
              <p:grpSpPr bwMode="auto">
                <a:xfrm>
                  <a:off x="6614" y="7214"/>
                  <a:ext cx="120" cy="360"/>
                  <a:chOff x="3534" y="6954"/>
                  <a:chExt cx="240" cy="880"/>
                </a:xfrm>
              </p:grpSpPr>
              <p:sp>
                <p:nvSpPr>
                  <p:cNvPr id="20548" name="Oval 49"/>
                  <p:cNvSpPr>
                    <a:spLocks noChangeArrowheads="1"/>
                  </p:cNvSpPr>
                  <p:nvPr/>
                </p:nvSpPr>
                <p:spPr bwMode="auto">
                  <a:xfrm>
                    <a:off x="3534" y="6994"/>
                    <a:ext cx="140" cy="780"/>
                  </a:xfrm>
                  <a:prstGeom prst="ellipse">
                    <a:avLst/>
                  </a:prstGeom>
                  <a:noFill/>
                  <a:ln w="9525">
                    <a:solidFill>
                      <a:srgbClr val="000000"/>
                    </a:solidFill>
                    <a:round/>
                    <a:headEnd/>
                    <a:tailEnd/>
                  </a:ln>
                </p:spPr>
                <p:txBody>
                  <a:bodyPr/>
                  <a:lstStyle/>
                  <a:p>
                    <a:endParaRPr lang="zh-CN" altLang="en-US"/>
                  </a:p>
                </p:txBody>
              </p:sp>
              <p:sp>
                <p:nvSpPr>
                  <p:cNvPr id="20549" name="Oval 50"/>
                  <p:cNvSpPr>
                    <a:spLocks noChangeArrowheads="1"/>
                  </p:cNvSpPr>
                  <p:nvPr/>
                </p:nvSpPr>
                <p:spPr bwMode="auto">
                  <a:xfrm>
                    <a:off x="3594" y="6994"/>
                    <a:ext cx="180" cy="780"/>
                  </a:xfrm>
                  <a:prstGeom prst="ellipse">
                    <a:avLst/>
                  </a:prstGeom>
                  <a:noFill/>
                  <a:ln w="9525">
                    <a:solidFill>
                      <a:srgbClr val="000000"/>
                    </a:solidFill>
                    <a:round/>
                    <a:headEnd/>
                    <a:tailEnd/>
                  </a:ln>
                </p:spPr>
                <p:txBody>
                  <a:bodyPr/>
                  <a:lstStyle/>
                  <a:p>
                    <a:endParaRPr lang="zh-CN" altLang="en-US"/>
                  </a:p>
                </p:txBody>
              </p:sp>
              <p:sp>
                <p:nvSpPr>
                  <p:cNvPr id="20550" name="Rectangle 51"/>
                  <p:cNvSpPr>
                    <a:spLocks noChangeArrowheads="1"/>
                  </p:cNvSpPr>
                  <p:nvPr/>
                </p:nvSpPr>
                <p:spPr bwMode="auto">
                  <a:xfrm>
                    <a:off x="3554" y="6954"/>
                    <a:ext cx="180" cy="80"/>
                  </a:xfrm>
                  <a:prstGeom prst="rect">
                    <a:avLst/>
                  </a:prstGeom>
                  <a:noFill/>
                  <a:ln w="9525">
                    <a:noFill/>
                    <a:miter lim="800000"/>
                    <a:headEnd/>
                    <a:tailEnd/>
                  </a:ln>
                </p:spPr>
                <p:txBody>
                  <a:bodyPr/>
                  <a:lstStyle/>
                  <a:p>
                    <a:endParaRPr lang="zh-CN" altLang="en-US"/>
                  </a:p>
                </p:txBody>
              </p:sp>
              <p:sp>
                <p:nvSpPr>
                  <p:cNvPr id="20551" name="Rectangle 52"/>
                  <p:cNvSpPr>
                    <a:spLocks noChangeArrowheads="1"/>
                  </p:cNvSpPr>
                  <p:nvPr/>
                </p:nvSpPr>
                <p:spPr bwMode="auto">
                  <a:xfrm>
                    <a:off x="3534" y="7754"/>
                    <a:ext cx="240" cy="80"/>
                  </a:xfrm>
                  <a:prstGeom prst="rect">
                    <a:avLst/>
                  </a:prstGeom>
                  <a:noFill/>
                  <a:ln w="9525">
                    <a:noFill/>
                    <a:miter lim="800000"/>
                    <a:headEnd/>
                    <a:tailEnd/>
                  </a:ln>
                </p:spPr>
                <p:txBody>
                  <a:bodyPr/>
                  <a:lstStyle/>
                  <a:p>
                    <a:endParaRPr lang="zh-CN" altLang="en-US"/>
                  </a:p>
                </p:txBody>
              </p:sp>
              <p:sp>
                <p:nvSpPr>
                  <p:cNvPr id="20552" name="Line 53"/>
                  <p:cNvSpPr>
                    <a:spLocks noChangeShapeType="1"/>
                  </p:cNvSpPr>
                  <p:nvPr/>
                </p:nvSpPr>
                <p:spPr bwMode="auto">
                  <a:xfrm>
                    <a:off x="3574" y="7034"/>
                    <a:ext cx="140" cy="0"/>
                  </a:xfrm>
                  <a:prstGeom prst="line">
                    <a:avLst/>
                  </a:prstGeom>
                  <a:noFill/>
                  <a:ln w="9525">
                    <a:solidFill>
                      <a:srgbClr val="000000"/>
                    </a:solidFill>
                    <a:round/>
                    <a:headEnd/>
                    <a:tailEnd/>
                  </a:ln>
                </p:spPr>
                <p:txBody>
                  <a:bodyPr/>
                  <a:lstStyle/>
                  <a:p>
                    <a:endParaRPr lang="zh-CN" altLang="en-US"/>
                  </a:p>
                </p:txBody>
              </p:sp>
              <p:sp>
                <p:nvSpPr>
                  <p:cNvPr id="20553" name="Line 54"/>
                  <p:cNvSpPr>
                    <a:spLocks noChangeShapeType="1"/>
                  </p:cNvSpPr>
                  <p:nvPr/>
                </p:nvSpPr>
                <p:spPr bwMode="auto">
                  <a:xfrm>
                    <a:off x="3574" y="7754"/>
                    <a:ext cx="140" cy="0"/>
                  </a:xfrm>
                  <a:prstGeom prst="line">
                    <a:avLst/>
                  </a:prstGeom>
                  <a:noFill/>
                  <a:ln w="9525">
                    <a:solidFill>
                      <a:srgbClr val="000000"/>
                    </a:solidFill>
                    <a:round/>
                    <a:headEnd/>
                    <a:tailEnd/>
                  </a:ln>
                </p:spPr>
                <p:txBody>
                  <a:bodyPr/>
                  <a:lstStyle/>
                  <a:p>
                    <a:endParaRPr lang="zh-CN" altLang="en-US"/>
                  </a:p>
                </p:txBody>
              </p:sp>
            </p:grpSp>
            <p:grpSp>
              <p:nvGrpSpPr>
                <p:cNvPr id="20539" name="Group 55"/>
                <p:cNvGrpSpPr>
                  <a:grpSpLocks/>
                </p:cNvGrpSpPr>
                <p:nvPr/>
              </p:nvGrpSpPr>
              <p:grpSpPr bwMode="auto">
                <a:xfrm rot="10737839">
                  <a:off x="6773" y="7213"/>
                  <a:ext cx="140" cy="340"/>
                  <a:chOff x="3534" y="6954"/>
                  <a:chExt cx="240" cy="880"/>
                </a:xfrm>
              </p:grpSpPr>
              <p:sp>
                <p:nvSpPr>
                  <p:cNvPr id="20542" name="Oval 56"/>
                  <p:cNvSpPr>
                    <a:spLocks noChangeArrowheads="1"/>
                  </p:cNvSpPr>
                  <p:nvPr/>
                </p:nvSpPr>
                <p:spPr bwMode="auto">
                  <a:xfrm>
                    <a:off x="3534" y="6994"/>
                    <a:ext cx="140" cy="780"/>
                  </a:xfrm>
                  <a:prstGeom prst="ellipse">
                    <a:avLst/>
                  </a:prstGeom>
                  <a:noFill/>
                  <a:ln w="9525">
                    <a:solidFill>
                      <a:srgbClr val="000000"/>
                    </a:solidFill>
                    <a:round/>
                    <a:headEnd/>
                    <a:tailEnd/>
                  </a:ln>
                </p:spPr>
                <p:txBody>
                  <a:bodyPr/>
                  <a:lstStyle/>
                  <a:p>
                    <a:endParaRPr lang="zh-CN" altLang="en-US"/>
                  </a:p>
                </p:txBody>
              </p:sp>
              <p:sp>
                <p:nvSpPr>
                  <p:cNvPr id="20543" name="Oval 57"/>
                  <p:cNvSpPr>
                    <a:spLocks noChangeArrowheads="1"/>
                  </p:cNvSpPr>
                  <p:nvPr/>
                </p:nvSpPr>
                <p:spPr bwMode="auto">
                  <a:xfrm>
                    <a:off x="3594" y="6994"/>
                    <a:ext cx="180" cy="780"/>
                  </a:xfrm>
                  <a:prstGeom prst="ellipse">
                    <a:avLst/>
                  </a:prstGeom>
                  <a:noFill/>
                  <a:ln w="9525">
                    <a:solidFill>
                      <a:srgbClr val="000000"/>
                    </a:solidFill>
                    <a:round/>
                    <a:headEnd/>
                    <a:tailEnd/>
                  </a:ln>
                </p:spPr>
                <p:txBody>
                  <a:bodyPr/>
                  <a:lstStyle/>
                  <a:p>
                    <a:endParaRPr lang="zh-CN" altLang="en-US"/>
                  </a:p>
                </p:txBody>
              </p:sp>
              <p:sp>
                <p:nvSpPr>
                  <p:cNvPr id="20544" name="Rectangle 58"/>
                  <p:cNvSpPr>
                    <a:spLocks noChangeArrowheads="1"/>
                  </p:cNvSpPr>
                  <p:nvPr/>
                </p:nvSpPr>
                <p:spPr bwMode="auto">
                  <a:xfrm>
                    <a:off x="3554" y="6954"/>
                    <a:ext cx="180" cy="80"/>
                  </a:xfrm>
                  <a:prstGeom prst="rect">
                    <a:avLst/>
                  </a:prstGeom>
                  <a:noFill/>
                  <a:ln w="9525">
                    <a:noFill/>
                    <a:miter lim="800000"/>
                    <a:headEnd/>
                    <a:tailEnd/>
                  </a:ln>
                </p:spPr>
                <p:txBody>
                  <a:bodyPr/>
                  <a:lstStyle/>
                  <a:p>
                    <a:endParaRPr lang="zh-CN" altLang="en-US"/>
                  </a:p>
                </p:txBody>
              </p:sp>
              <p:sp>
                <p:nvSpPr>
                  <p:cNvPr id="20545" name="Rectangle 59"/>
                  <p:cNvSpPr>
                    <a:spLocks noChangeArrowheads="1"/>
                  </p:cNvSpPr>
                  <p:nvPr/>
                </p:nvSpPr>
                <p:spPr bwMode="auto">
                  <a:xfrm>
                    <a:off x="3534" y="7754"/>
                    <a:ext cx="240" cy="80"/>
                  </a:xfrm>
                  <a:prstGeom prst="rect">
                    <a:avLst/>
                  </a:prstGeom>
                  <a:noFill/>
                  <a:ln w="9525">
                    <a:noFill/>
                    <a:miter lim="800000"/>
                    <a:headEnd/>
                    <a:tailEnd/>
                  </a:ln>
                </p:spPr>
                <p:txBody>
                  <a:bodyPr/>
                  <a:lstStyle/>
                  <a:p>
                    <a:endParaRPr lang="zh-CN" altLang="en-US"/>
                  </a:p>
                </p:txBody>
              </p:sp>
              <p:sp>
                <p:nvSpPr>
                  <p:cNvPr id="20546" name="Line 60"/>
                  <p:cNvSpPr>
                    <a:spLocks noChangeShapeType="1"/>
                  </p:cNvSpPr>
                  <p:nvPr/>
                </p:nvSpPr>
                <p:spPr bwMode="auto">
                  <a:xfrm>
                    <a:off x="3574" y="7034"/>
                    <a:ext cx="140" cy="0"/>
                  </a:xfrm>
                  <a:prstGeom prst="line">
                    <a:avLst/>
                  </a:prstGeom>
                  <a:noFill/>
                  <a:ln w="9525">
                    <a:solidFill>
                      <a:srgbClr val="000000"/>
                    </a:solidFill>
                    <a:round/>
                    <a:headEnd/>
                    <a:tailEnd/>
                  </a:ln>
                </p:spPr>
                <p:txBody>
                  <a:bodyPr/>
                  <a:lstStyle/>
                  <a:p>
                    <a:endParaRPr lang="zh-CN" altLang="en-US"/>
                  </a:p>
                </p:txBody>
              </p:sp>
              <p:sp>
                <p:nvSpPr>
                  <p:cNvPr id="20547" name="Line 61"/>
                  <p:cNvSpPr>
                    <a:spLocks noChangeShapeType="1"/>
                  </p:cNvSpPr>
                  <p:nvPr/>
                </p:nvSpPr>
                <p:spPr bwMode="auto">
                  <a:xfrm>
                    <a:off x="3574" y="7754"/>
                    <a:ext cx="140" cy="0"/>
                  </a:xfrm>
                  <a:prstGeom prst="line">
                    <a:avLst/>
                  </a:prstGeom>
                  <a:noFill/>
                  <a:ln w="9525">
                    <a:solidFill>
                      <a:srgbClr val="000000"/>
                    </a:solidFill>
                    <a:round/>
                    <a:headEnd/>
                    <a:tailEnd/>
                  </a:ln>
                </p:spPr>
                <p:txBody>
                  <a:bodyPr/>
                  <a:lstStyle/>
                  <a:p>
                    <a:endParaRPr lang="zh-CN" altLang="en-US"/>
                  </a:p>
                </p:txBody>
              </p:sp>
            </p:grpSp>
            <p:sp>
              <p:nvSpPr>
                <p:cNvPr id="20540" name="Rectangle 62"/>
                <p:cNvSpPr>
                  <a:spLocks noChangeArrowheads="1"/>
                </p:cNvSpPr>
                <p:nvPr/>
              </p:nvSpPr>
              <p:spPr bwMode="auto">
                <a:xfrm>
                  <a:off x="6414" y="7054"/>
                  <a:ext cx="40" cy="500"/>
                </a:xfrm>
                <a:prstGeom prst="rect">
                  <a:avLst/>
                </a:prstGeom>
                <a:noFill/>
                <a:ln w="9525">
                  <a:solidFill>
                    <a:srgbClr val="000000"/>
                  </a:solidFill>
                  <a:miter lim="800000"/>
                  <a:headEnd/>
                  <a:tailEnd/>
                </a:ln>
              </p:spPr>
              <p:txBody>
                <a:bodyPr/>
                <a:lstStyle/>
                <a:p>
                  <a:endParaRPr lang="zh-CN" altLang="en-US"/>
                </a:p>
              </p:txBody>
            </p:sp>
            <p:sp>
              <p:nvSpPr>
                <p:cNvPr id="20541" name="Rectangle 63"/>
                <p:cNvSpPr>
                  <a:spLocks noChangeArrowheads="1"/>
                </p:cNvSpPr>
                <p:nvPr/>
              </p:nvSpPr>
              <p:spPr bwMode="auto">
                <a:xfrm>
                  <a:off x="6454" y="7254"/>
                  <a:ext cx="40" cy="260"/>
                </a:xfrm>
                <a:prstGeom prst="rect">
                  <a:avLst/>
                </a:prstGeom>
                <a:noFill/>
                <a:ln w="9525">
                  <a:solidFill>
                    <a:srgbClr val="000000"/>
                  </a:solidFill>
                  <a:miter lim="800000"/>
                  <a:headEnd/>
                  <a:tailEnd/>
                </a:ln>
              </p:spPr>
              <p:txBody>
                <a:bodyPr/>
                <a:lstStyle/>
                <a:p>
                  <a:endParaRPr lang="zh-CN" altLang="en-US"/>
                </a:p>
              </p:txBody>
            </p:sp>
          </p:grpSp>
          <p:sp>
            <p:nvSpPr>
              <p:cNvPr id="20508" name="Rectangle 64"/>
              <p:cNvSpPr>
                <a:spLocks noChangeArrowheads="1"/>
              </p:cNvSpPr>
              <p:nvPr/>
            </p:nvSpPr>
            <p:spPr bwMode="auto">
              <a:xfrm>
                <a:off x="2974" y="13248"/>
                <a:ext cx="40" cy="300"/>
              </a:xfrm>
              <a:prstGeom prst="rect">
                <a:avLst/>
              </a:prstGeom>
              <a:noFill/>
              <a:ln w="9525">
                <a:solidFill>
                  <a:srgbClr val="000000"/>
                </a:solidFill>
                <a:miter lim="800000"/>
                <a:headEnd/>
                <a:tailEnd/>
              </a:ln>
            </p:spPr>
            <p:txBody>
              <a:bodyPr/>
              <a:lstStyle/>
              <a:p>
                <a:endParaRPr lang="zh-CN" altLang="en-US"/>
              </a:p>
            </p:txBody>
          </p:sp>
          <p:sp>
            <p:nvSpPr>
              <p:cNvPr id="20509" name="Line 65"/>
              <p:cNvSpPr>
                <a:spLocks noChangeShapeType="1"/>
              </p:cNvSpPr>
              <p:nvPr/>
            </p:nvSpPr>
            <p:spPr bwMode="auto">
              <a:xfrm flipV="1">
                <a:off x="2974" y="13108"/>
                <a:ext cx="1920" cy="300"/>
              </a:xfrm>
              <a:prstGeom prst="line">
                <a:avLst/>
              </a:prstGeom>
              <a:noFill/>
              <a:ln w="9525">
                <a:solidFill>
                  <a:srgbClr val="000000"/>
                </a:solidFill>
                <a:round/>
                <a:headEnd/>
                <a:tailEnd/>
              </a:ln>
            </p:spPr>
            <p:txBody>
              <a:bodyPr/>
              <a:lstStyle/>
              <a:p>
                <a:endParaRPr lang="zh-CN" altLang="en-US"/>
              </a:p>
            </p:txBody>
          </p:sp>
          <p:sp>
            <p:nvSpPr>
              <p:cNvPr id="20510" name="Line 66"/>
              <p:cNvSpPr>
                <a:spLocks noChangeShapeType="1"/>
              </p:cNvSpPr>
              <p:nvPr/>
            </p:nvSpPr>
            <p:spPr bwMode="auto">
              <a:xfrm>
                <a:off x="2974" y="13408"/>
                <a:ext cx="1920" cy="280"/>
              </a:xfrm>
              <a:prstGeom prst="line">
                <a:avLst/>
              </a:prstGeom>
              <a:noFill/>
              <a:ln w="9525">
                <a:solidFill>
                  <a:srgbClr val="000000"/>
                </a:solidFill>
                <a:round/>
                <a:headEnd/>
                <a:tailEnd/>
              </a:ln>
            </p:spPr>
            <p:txBody>
              <a:bodyPr/>
              <a:lstStyle/>
              <a:p>
                <a:endParaRPr lang="zh-CN" altLang="en-US"/>
              </a:p>
            </p:txBody>
          </p:sp>
          <p:sp>
            <p:nvSpPr>
              <p:cNvPr id="20511" name="Line 69"/>
              <p:cNvSpPr>
                <a:spLocks noChangeShapeType="1"/>
              </p:cNvSpPr>
              <p:nvPr/>
            </p:nvSpPr>
            <p:spPr bwMode="auto">
              <a:xfrm>
                <a:off x="6234" y="13228"/>
                <a:ext cx="1100" cy="180"/>
              </a:xfrm>
              <a:prstGeom prst="line">
                <a:avLst/>
              </a:prstGeom>
              <a:noFill/>
              <a:ln w="9525">
                <a:solidFill>
                  <a:srgbClr val="000000"/>
                </a:solidFill>
                <a:prstDash val="dash"/>
                <a:round/>
                <a:headEnd/>
                <a:tailEnd/>
              </a:ln>
            </p:spPr>
            <p:txBody>
              <a:bodyPr/>
              <a:lstStyle/>
              <a:p>
                <a:endParaRPr lang="zh-CN" altLang="en-US"/>
              </a:p>
            </p:txBody>
          </p:sp>
          <p:sp>
            <p:nvSpPr>
              <p:cNvPr id="20512" name="Line 70"/>
              <p:cNvSpPr>
                <a:spLocks noChangeShapeType="1"/>
              </p:cNvSpPr>
              <p:nvPr/>
            </p:nvSpPr>
            <p:spPr bwMode="auto">
              <a:xfrm flipV="1">
                <a:off x="6254" y="13408"/>
                <a:ext cx="1080" cy="160"/>
              </a:xfrm>
              <a:prstGeom prst="line">
                <a:avLst/>
              </a:prstGeom>
              <a:noFill/>
              <a:ln w="9525">
                <a:solidFill>
                  <a:srgbClr val="000000"/>
                </a:solidFill>
                <a:prstDash val="dash"/>
                <a:round/>
                <a:headEnd/>
                <a:tailEnd/>
              </a:ln>
            </p:spPr>
            <p:txBody>
              <a:bodyPr/>
              <a:lstStyle/>
              <a:p>
                <a:endParaRPr lang="zh-CN" altLang="en-US"/>
              </a:p>
            </p:txBody>
          </p:sp>
          <p:sp>
            <p:nvSpPr>
              <p:cNvPr id="20513" name="Line 71"/>
              <p:cNvSpPr>
                <a:spLocks noChangeShapeType="1"/>
              </p:cNvSpPr>
              <p:nvPr/>
            </p:nvSpPr>
            <p:spPr bwMode="auto">
              <a:xfrm>
                <a:off x="5414" y="13108"/>
                <a:ext cx="800" cy="120"/>
              </a:xfrm>
              <a:prstGeom prst="line">
                <a:avLst/>
              </a:prstGeom>
              <a:noFill/>
              <a:ln w="9525">
                <a:solidFill>
                  <a:srgbClr val="000000"/>
                </a:solidFill>
                <a:round/>
                <a:headEnd/>
                <a:tailEnd/>
              </a:ln>
            </p:spPr>
            <p:txBody>
              <a:bodyPr/>
              <a:lstStyle/>
              <a:p>
                <a:endParaRPr lang="zh-CN" altLang="en-US"/>
              </a:p>
            </p:txBody>
          </p:sp>
          <p:sp>
            <p:nvSpPr>
              <p:cNvPr id="20514" name="Line 72"/>
              <p:cNvSpPr>
                <a:spLocks noChangeShapeType="1"/>
              </p:cNvSpPr>
              <p:nvPr/>
            </p:nvSpPr>
            <p:spPr bwMode="auto">
              <a:xfrm flipV="1">
                <a:off x="5434" y="13568"/>
                <a:ext cx="780" cy="120"/>
              </a:xfrm>
              <a:prstGeom prst="line">
                <a:avLst/>
              </a:prstGeom>
              <a:noFill/>
              <a:ln w="9525">
                <a:solidFill>
                  <a:srgbClr val="000000"/>
                </a:solidFill>
                <a:round/>
                <a:headEnd/>
                <a:tailEnd/>
              </a:ln>
            </p:spPr>
            <p:txBody>
              <a:bodyPr/>
              <a:lstStyle/>
              <a:p>
                <a:endParaRPr lang="zh-CN" altLang="en-US"/>
              </a:p>
            </p:txBody>
          </p:sp>
          <p:sp>
            <p:nvSpPr>
              <p:cNvPr id="20515" name="Line 73"/>
              <p:cNvSpPr>
                <a:spLocks noChangeShapeType="1"/>
              </p:cNvSpPr>
              <p:nvPr/>
            </p:nvSpPr>
            <p:spPr bwMode="auto">
              <a:xfrm>
                <a:off x="6234" y="13228"/>
                <a:ext cx="640" cy="0"/>
              </a:xfrm>
              <a:prstGeom prst="line">
                <a:avLst/>
              </a:prstGeom>
              <a:noFill/>
              <a:ln w="9525">
                <a:solidFill>
                  <a:srgbClr val="000000"/>
                </a:solidFill>
                <a:round/>
                <a:headEnd/>
                <a:tailEnd/>
              </a:ln>
            </p:spPr>
            <p:txBody>
              <a:bodyPr/>
              <a:lstStyle/>
              <a:p>
                <a:endParaRPr lang="zh-CN" altLang="en-US"/>
              </a:p>
            </p:txBody>
          </p:sp>
          <p:sp>
            <p:nvSpPr>
              <p:cNvPr id="20516" name="Line 74"/>
              <p:cNvSpPr>
                <a:spLocks noChangeShapeType="1"/>
              </p:cNvSpPr>
              <p:nvPr/>
            </p:nvSpPr>
            <p:spPr bwMode="auto">
              <a:xfrm>
                <a:off x="6214" y="13568"/>
                <a:ext cx="680" cy="0"/>
              </a:xfrm>
              <a:prstGeom prst="line">
                <a:avLst/>
              </a:prstGeom>
              <a:noFill/>
              <a:ln w="9525">
                <a:solidFill>
                  <a:srgbClr val="000000"/>
                </a:solidFill>
                <a:round/>
                <a:headEnd/>
                <a:tailEnd/>
              </a:ln>
            </p:spPr>
            <p:txBody>
              <a:bodyPr/>
              <a:lstStyle/>
              <a:p>
                <a:endParaRPr lang="zh-CN" altLang="en-US"/>
              </a:p>
            </p:txBody>
          </p:sp>
          <p:sp>
            <p:nvSpPr>
              <p:cNvPr id="20517" name="Line 75"/>
              <p:cNvSpPr>
                <a:spLocks noChangeShapeType="1"/>
              </p:cNvSpPr>
              <p:nvPr/>
            </p:nvSpPr>
            <p:spPr bwMode="auto">
              <a:xfrm>
                <a:off x="6874" y="13228"/>
                <a:ext cx="1600" cy="180"/>
              </a:xfrm>
              <a:prstGeom prst="line">
                <a:avLst/>
              </a:prstGeom>
              <a:noFill/>
              <a:ln w="9525">
                <a:solidFill>
                  <a:srgbClr val="000000"/>
                </a:solidFill>
                <a:round/>
                <a:headEnd/>
                <a:tailEnd/>
              </a:ln>
            </p:spPr>
            <p:txBody>
              <a:bodyPr/>
              <a:lstStyle/>
              <a:p>
                <a:endParaRPr lang="zh-CN" altLang="en-US"/>
              </a:p>
            </p:txBody>
          </p:sp>
          <p:sp>
            <p:nvSpPr>
              <p:cNvPr id="20518" name="Line 76"/>
              <p:cNvSpPr>
                <a:spLocks noChangeShapeType="1"/>
              </p:cNvSpPr>
              <p:nvPr/>
            </p:nvSpPr>
            <p:spPr bwMode="auto">
              <a:xfrm flipV="1">
                <a:off x="6894" y="13388"/>
                <a:ext cx="1600" cy="180"/>
              </a:xfrm>
              <a:prstGeom prst="line">
                <a:avLst/>
              </a:prstGeom>
              <a:noFill/>
              <a:ln w="9525">
                <a:solidFill>
                  <a:srgbClr val="000000"/>
                </a:solidFill>
                <a:round/>
                <a:headEnd/>
                <a:tailEnd/>
              </a:ln>
            </p:spPr>
            <p:txBody>
              <a:bodyPr/>
              <a:lstStyle/>
              <a:p>
                <a:endParaRPr lang="zh-CN" altLang="en-US"/>
              </a:p>
            </p:txBody>
          </p:sp>
          <p:sp>
            <p:nvSpPr>
              <p:cNvPr id="20519" name="Line 77"/>
              <p:cNvSpPr>
                <a:spLocks noChangeShapeType="1"/>
              </p:cNvSpPr>
              <p:nvPr/>
            </p:nvSpPr>
            <p:spPr bwMode="auto">
              <a:xfrm>
                <a:off x="2774" y="13408"/>
                <a:ext cx="6360" cy="0"/>
              </a:xfrm>
              <a:prstGeom prst="line">
                <a:avLst/>
              </a:prstGeom>
              <a:noFill/>
              <a:ln w="6350">
                <a:solidFill>
                  <a:srgbClr val="000000"/>
                </a:solidFill>
                <a:prstDash val="lgDashDot"/>
                <a:round/>
                <a:headEnd/>
                <a:tailEnd/>
              </a:ln>
            </p:spPr>
            <p:txBody>
              <a:bodyPr/>
              <a:lstStyle/>
              <a:p>
                <a:endParaRPr lang="zh-CN" altLang="en-US"/>
              </a:p>
            </p:txBody>
          </p:sp>
          <p:sp>
            <p:nvSpPr>
              <p:cNvPr id="20520" name="Line 78"/>
              <p:cNvSpPr>
                <a:spLocks noChangeShapeType="1"/>
              </p:cNvSpPr>
              <p:nvPr/>
            </p:nvSpPr>
            <p:spPr bwMode="auto">
              <a:xfrm>
                <a:off x="6234" y="13688"/>
                <a:ext cx="0" cy="360"/>
              </a:xfrm>
              <a:prstGeom prst="line">
                <a:avLst/>
              </a:prstGeom>
              <a:noFill/>
              <a:ln w="9525">
                <a:solidFill>
                  <a:srgbClr val="000000"/>
                </a:solidFill>
                <a:round/>
                <a:headEnd/>
                <a:tailEnd/>
              </a:ln>
            </p:spPr>
            <p:txBody>
              <a:bodyPr/>
              <a:lstStyle/>
              <a:p>
                <a:endParaRPr lang="zh-CN" altLang="en-US"/>
              </a:p>
            </p:txBody>
          </p:sp>
          <p:sp>
            <p:nvSpPr>
              <p:cNvPr id="20521" name="Line 79"/>
              <p:cNvSpPr>
                <a:spLocks noChangeShapeType="1"/>
              </p:cNvSpPr>
              <p:nvPr/>
            </p:nvSpPr>
            <p:spPr bwMode="auto">
              <a:xfrm>
                <a:off x="7294" y="13408"/>
                <a:ext cx="0" cy="1000"/>
              </a:xfrm>
              <a:prstGeom prst="line">
                <a:avLst/>
              </a:prstGeom>
              <a:noFill/>
              <a:ln w="6350">
                <a:solidFill>
                  <a:srgbClr val="000000"/>
                </a:solidFill>
                <a:round/>
                <a:headEnd/>
                <a:tailEnd/>
              </a:ln>
            </p:spPr>
            <p:txBody>
              <a:bodyPr/>
              <a:lstStyle/>
              <a:p>
                <a:endParaRPr lang="zh-CN" altLang="en-US"/>
              </a:p>
            </p:txBody>
          </p:sp>
          <p:sp>
            <p:nvSpPr>
              <p:cNvPr id="20522" name="Line 80"/>
              <p:cNvSpPr>
                <a:spLocks noChangeShapeType="1"/>
              </p:cNvSpPr>
              <p:nvPr/>
            </p:nvSpPr>
            <p:spPr bwMode="auto">
              <a:xfrm>
                <a:off x="5414" y="13688"/>
                <a:ext cx="0" cy="780"/>
              </a:xfrm>
              <a:prstGeom prst="line">
                <a:avLst/>
              </a:prstGeom>
              <a:noFill/>
              <a:ln w="6350">
                <a:solidFill>
                  <a:srgbClr val="000000"/>
                </a:solidFill>
                <a:round/>
                <a:headEnd/>
                <a:tailEnd/>
              </a:ln>
            </p:spPr>
            <p:txBody>
              <a:bodyPr/>
              <a:lstStyle/>
              <a:p>
                <a:endParaRPr lang="zh-CN" altLang="en-US"/>
              </a:p>
            </p:txBody>
          </p:sp>
          <p:sp>
            <p:nvSpPr>
              <p:cNvPr id="20523" name="Line 81"/>
              <p:cNvSpPr>
                <a:spLocks noChangeShapeType="1"/>
              </p:cNvSpPr>
              <p:nvPr/>
            </p:nvSpPr>
            <p:spPr bwMode="auto">
              <a:xfrm>
                <a:off x="6234" y="13968"/>
                <a:ext cx="1060"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20524" name="Line 82"/>
              <p:cNvSpPr>
                <a:spLocks noChangeShapeType="1"/>
              </p:cNvSpPr>
              <p:nvPr/>
            </p:nvSpPr>
            <p:spPr bwMode="auto">
              <a:xfrm>
                <a:off x="5414" y="14348"/>
                <a:ext cx="1880"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81715" name="Text Box 83"/>
              <p:cNvSpPr txBox="1">
                <a:spLocks noChangeArrowheads="1"/>
              </p:cNvSpPr>
              <p:nvPr/>
            </p:nvSpPr>
            <p:spPr bwMode="auto">
              <a:xfrm>
                <a:off x="6542" y="13673"/>
                <a:ext cx="789" cy="419"/>
              </a:xfrm>
              <a:prstGeom prst="rect">
                <a:avLst/>
              </a:prstGeom>
              <a:noFill/>
              <a:ln w="9525">
                <a:noFill/>
                <a:miter lim="800000"/>
                <a:headEnd/>
                <a:tailEnd/>
              </a:ln>
            </p:spPr>
            <p:txBody>
              <a:bodyPr lIns="36000" tIns="0" rIns="36000" bIns="0"/>
              <a:lstStyle/>
              <a:p>
                <a:pPr algn="just">
                  <a:defRPr/>
                </a:pPr>
                <a:r>
                  <a:rPr lang="en-US" altLang="zh-CN" sz="1600" b="1" i="1" dirty="0" err="1">
                    <a:effectLst>
                      <a:outerShdw blurRad="38100" dist="38100" dir="2700000" algn="tl">
                        <a:srgbClr val="C0C0C0"/>
                      </a:outerShdw>
                    </a:effectLst>
                    <a:latin typeface="Times New Roman" pitchFamily="18" charset="0"/>
                    <a:ea typeface="黑体" pitchFamily="2" charset="-122"/>
                    <a:cs typeface="Times New Roman" pitchFamily="18" charset="0"/>
                  </a:rPr>
                  <a:t>f</a:t>
                </a:r>
                <a:r>
                  <a:rPr lang="en-US" altLang="zh-CN" sz="1600" b="1" baseline="-25000" dirty="0" err="1">
                    <a:effectLst>
                      <a:outerShdw blurRad="38100" dist="38100" dir="2700000" algn="tl">
                        <a:srgbClr val="C0C0C0"/>
                      </a:outerShdw>
                    </a:effectLst>
                    <a:latin typeface="Times New Roman" pitchFamily="18" charset="0"/>
                    <a:ea typeface="黑体" pitchFamily="2" charset="-122"/>
                    <a:cs typeface="Times New Roman" pitchFamily="18" charset="0"/>
                  </a:rPr>
                  <a:t>N</a:t>
                </a:r>
                <a:r>
                  <a:rPr lang="en-US" altLang="zh-CN" sz="1600" b="1" dirty="0">
                    <a:effectLst>
                      <a:outerShdw blurRad="38100" dist="38100" dir="2700000" algn="tl">
                        <a:srgbClr val="C0C0C0"/>
                      </a:outerShdw>
                    </a:effectLst>
                    <a:latin typeface="Times New Roman" pitchFamily="18" charset="0"/>
                    <a:ea typeface="黑体" pitchFamily="2" charset="-122"/>
                    <a:cs typeface="Times New Roman" pitchFamily="18" charset="0"/>
                  </a:rPr>
                  <a:t>′</a:t>
                </a:r>
              </a:p>
            </p:txBody>
          </p:sp>
          <p:sp>
            <p:nvSpPr>
              <p:cNvPr id="581716" name="Text Box 84"/>
              <p:cNvSpPr txBox="1">
                <a:spLocks noChangeArrowheads="1"/>
              </p:cNvSpPr>
              <p:nvPr/>
            </p:nvSpPr>
            <p:spPr bwMode="auto">
              <a:xfrm>
                <a:off x="6105" y="14064"/>
                <a:ext cx="571" cy="381"/>
              </a:xfrm>
              <a:prstGeom prst="rect">
                <a:avLst/>
              </a:prstGeom>
              <a:noFill/>
              <a:ln w="9525">
                <a:noFill/>
                <a:miter lim="800000"/>
                <a:headEnd/>
                <a:tailEnd/>
              </a:ln>
            </p:spPr>
            <p:txBody>
              <a:bodyPr lIns="36000" tIns="0" rIns="0" bIns="0"/>
              <a:lstStyle/>
              <a:p>
                <a:pPr algn="just">
                  <a:defRPr/>
                </a:pPr>
                <a:r>
                  <a:rPr lang="en-US" altLang="zh-CN" sz="1600" b="1" i="1" dirty="0" err="1">
                    <a:effectLst>
                      <a:outerShdw blurRad="38100" dist="38100" dir="2700000" algn="tl">
                        <a:srgbClr val="C0C0C0"/>
                      </a:outerShdw>
                    </a:effectLst>
                    <a:latin typeface="Times New Roman" pitchFamily="18" charset="0"/>
                    <a:ea typeface="黑体" pitchFamily="2" charset="-122"/>
                    <a:cs typeface="Times New Roman" pitchFamily="18" charset="0"/>
                  </a:rPr>
                  <a:t>f</a:t>
                </a:r>
                <a:r>
                  <a:rPr lang="en-US" altLang="zh-CN" sz="1600" b="1" baseline="-25000" dirty="0" err="1">
                    <a:effectLst>
                      <a:outerShdw blurRad="38100" dist="38100" dir="2700000" algn="tl">
                        <a:srgbClr val="C0C0C0"/>
                      </a:outerShdw>
                    </a:effectLst>
                    <a:latin typeface="Times New Roman" pitchFamily="18" charset="0"/>
                    <a:ea typeface="黑体" pitchFamily="2" charset="-122"/>
                    <a:cs typeface="Times New Roman" pitchFamily="18" charset="0"/>
                  </a:rPr>
                  <a:t>P</a:t>
                </a:r>
                <a:r>
                  <a:rPr lang="en-US" altLang="zh-CN" sz="1600" b="1" dirty="0">
                    <a:effectLst>
                      <a:outerShdw blurRad="38100" dist="38100" dir="2700000" algn="tl">
                        <a:srgbClr val="C0C0C0"/>
                      </a:outerShdw>
                    </a:effectLst>
                    <a:latin typeface="Times New Roman" pitchFamily="18" charset="0"/>
                    <a:ea typeface="黑体" pitchFamily="2" charset="-122"/>
                    <a:cs typeface="Times New Roman" pitchFamily="18" charset="0"/>
                  </a:rPr>
                  <a:t>′</a:t>
                </a:r>
              </a:p>
            </p:txBody>
          </p:sp>
          <p:sp>
            <p:nvSpPr>
              <p:cNvPr id="581717" name="Text Box 85"/>
              <p:cNvSpPr txBox="1">
                <a:spLocks noChangeArrowheads="1"/>
              </p:cNvSpPr>
              <p:nvPr/>
            </p:nvSpPr>
            <p:spPr bwMode="auto">
              <a:xfrm>
                <a:off x="4454" y="14668"/>
                <a:ext cx="2941" cy="472"/>
              </a:xfrm>
              <a:prstGeom prst="rect">
                <a:avLst/>
              </a:prstGeom>
              <a:noFill/>
              <a:ln w="9525">
                <a:noFill/>
                <a:miter lim="800000"/>
                <a:headEnd/>
                <a:tailEnd/>
              </a:ln>
            </p:spPr>
            <p:txBody>
              <a:bodyPr/>
              <a:lstStyle/>
              <a:p>
                <a:pPr algn="ctr">
                  <a:defRPr/>
                </a:pPr>
                <a:r>
                  <a:rPr lang="zh-CN" altLang="en-US" b="1">
                    <a:effectLst>
                      <a:outerShdw blurRad="38100" dist="38100" dir="2700000" algn="tl">
                        <a:srgbClr val="C0C0C0"/>
                      </a:outerShdw>
                    </a:effectLst>
                    <a:latin typeface="黑体" pitchFamily="2" charset="-122"/>
                    <a:ea typeface="黑体" pitchFamily="2" charset="-122"/>
                  </a:rPr>
                  <a:t>附加透镜法原理图</a:t>
                </a:r>
              </a:p>
              <a:p>
                <a:pPr>
                  <a:defRPr/>
                </a:pPr>
                <a:endParaRPr lang="en-US" altLang="zh-CN" b="1">
                  <a:effectLst>
                    <a:outerShdw blurRad="38100" dist="38100" dir="2700000" algn="tl">
                      <a:srgbClr val="C0C0C0"/>
                    </a:outerShdw>
                  </a:effectLst>
                  <a:latin typeface="黑体" pitchFamily="2" charset="-122"/>
                  <a:ea typeface="黑体" pitchFamily="2" charset="-122"/>
                </a:endParaRPr>
              </a:p>
            </p:txBody>
          </p:sp>
          <p:sp>
            <p:nvSpPr>
              <p:cNvPr id="20528" name="AutoShape 86"/>
              <p:cNvSpPr>
                <a:spLocks/>
              </p:cNvSpPr>
              <p:nvPr/>
            </p:nvSpPr>
            <p:spPr bwMode="auto">
              <a:xfrm rot="5350193">
                <a:off x="3823" y="11839"/>
                <a:ext cx="340" cy="1998"/>
              </a:xfrm>
              <a:prstGeom prst="leftBrace">
                <a:avLst>
                  <a:gd name="adj1" fmla="val 48971"/>
                  <a:gd name="adj2" fmla="val 50000"/>
                </a:avLst>
              </a:prstGeom>
              <a:noFill/>
              <a:ln w="6350">
                <a:solidFill>
                  <a:srgbClr val="000000"/>
                </a:solidFill>
                <a:round/>
                <a:headEnd/>
                <a:tailEnd/>
              </a:ln>
            </p:spPr>
            <p:txBody>
              <a:bodyPr/>
              <a:lstStyle/>
              <a:p>
                <a:endParaRPr lang="zh-CN" altLang="en-US"/>
              </a:p>
            </p:txBody>
          </p:sp>
          <p:sp>
            <p:nvSpPr>
              <p:cNvPr id="20529" name="AutoShape 87"/>
              <p:cNvSpPr>
                <a:spLocks/>
              </p:cNvSpPr>
              <p:nvPr/>
            </p:nvSpPr>
            <p:spPr bwMode="auto">
              <a:xfrm rot="5350193">
                <a:off x="7734" y="11848"/>
                <a:ext cx="280" cy="2120"/>
              </a:xfrm>
              <a:prstGeom prst="leftBrace">
                <a:avLst>
                  <a:gd name="adj1" fmla="val 63095"/>
                  <a:gd name="adj2" fmla="val 50000"/>
                </a:avLst>
              </a:prstGeom>
              <a:noFill/>
              <a:ln w="6350">
                <a:solidFill>
                  <a:srgbClr val="000000"/>
                </a:solidFill>
                <a:round/>
                <a:headEnd/>
                <a:tailEnd/>
              </a:ln>
            </p:spPr>
            <p:txBody>
              <a:bodyPr/>
              <a:lstStyle/>
              <a:p>
                <a:endParaRPr lang="zh-CN" altLang="en-US"/>
              </a:p>
            </p:txBody>
          </p:sp>
          <p:sp>
            <p:nvSpPr>
              <p:cNvPr id="581720" name="Text Box 88"/>
              <p:cNvSpPr txBox="1">
                <a:spLocks noChangeArrowheads="1"/>
              </p:cNvSpPr>
              <p:nvPr/>
            </p:nvSpPr>
            <p:spPr bwMode="auto">
              <a:xfrm>
                <a:off x="3334" y="12262"/>
                <a:ext cx="1386" cy="441"/>
              </a:xfrm>
              <a:prstGeom prst="rect">
                <a:avLst/>
              </a:prstGeom>
              <a:noFill/>
              <a:ln w="9525">
                <a:noFill/>
                <a:miter lim="800000"/>
                <a:headEnd/>
                <a:tailEnd/>
              </a:ln>
            </p:spPr>
            <p:txBody>
              <a:bodyPr/>
              <a:lstStyle/>
              <a:p>
                <a:pPr algn="ctr">
                  <a:defRPr/>
                </a:pPr>
                <a:r>
                  <a:rPr lang="zh-CN" altLang="en-US" sz="1600" b="1">
                    <a:effectLst>
                      <a:outerShdw blurRad="38100" dist="38100" dir="2700000" algn="tl">
                        <a:srgbClr val="C0C0C0"/>
                      </a:outerShdw>
                    </a:effectLst>
                    <a:latin typeface="黑体" pitchFamily="2" charset="-122"/>
                    <a:ea typeface="黑体" pitchFamily="2" charset="-122"/>
                  </a:rPr>
                  <a:t>平行光管</a:t>
                </a:r>
              </a:p>
            </p:txBody>
          </p:sp>
          <p:sp>
            <p:nvSpPr>
              <p:cNvPr id="581721" name="Text Box 89"/>
              <p:cNvSpPr txBox="1">
                <a:spLocks noChangeArrowheads="1"/>
              </p:cNvSpPr>
              <p:nvPr/>
            </p:nvSpPr>
            <p:spPr bwMode="auto">
              <a:xfrm>
                <a:off x="5339" y="12308"/>
                <a:ext cx="1340" cy="45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黑体" pitchFamily="2" charset="-122"/>
                    <a:ea typeface="黑体" pitchFamily="2" charset="-122"/>
                  </a:rPr>
                  <a:t>正透镜</a:t>
                </a:r>
              </a:p>
            </p:txBody>
          </p:sp>
          <p:sp>
            <p:nvSpPr>
              <p:cNvPr id="581722" name="Text Box 90"/>
              <p:cNvSpPr txBox="1">
                <a:spLocks noChangeArrowheads="1"/>
              </p:cNvSpPr>
              <p:nvPr/>
            </p:nvSpPr>
            <p:spPr bwMode="auto">
              <a:xfrm>
                <a:off x="6115" y="12258"/>
                <a:ext cx="1010" cy="479"/>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黑体" pitchFamily="2" charset="-122"/>
                    <a:ea typeface="黑体" pitchFamily="2" charset="-122"/>
                  </a:rPr>
                  <a:t>负透镜</a:t>
                </a:r>
              </a:p>
            </p:txBody>
          </p:sp>
          <p:sp>
            <p:nvSpPr>
              <p:cNvPr id="581723" name="Text Box 91"/>
              <p:cNvSpPr txBox="1">
                <a:spLocks noChangeArrowheads="1"/>
              </p:cNvSpPr>
              <p:nvPr/>
            </p:nvSpPr>
            <p:spPr bwMode="auto">
              <a:xfrm>
                <a:off x="7504" y="12308"/>
                <a:ext cx="981" cy="43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黑体" pitchFamily="2" charset="-122"/>
                    <a:ea typeface="黑体" pitchFamily="2" charset="-122"/>
                  </a:rPr>
                  <a:t>前置镜</a:t>
                </a:r>
              </a:p>
            </p:txBody>
          </p:sp>
          <p:sp>
            <p:nvSpPr>
              <p:cNvPr id="20534" name="Line 92"/>
              <p:cNvSpPr>
                <a:spLocks noChangeShapeType="1"/>
              </p:cNvSpPr>
              <p:nvPr/>
            </p:nvSpPr>
            <p:spPr bwMode="auto">
              <a:xfrm flipV="1">
                <a:off x="5414" y="12668"/>
                <a:ext cx="220" cy="440"/>
              </a:xfrm>
              <a:prstGeom prst="line">
                <a:avLst/>
              </a:prstGeom>
              <a:noFill/>
              <a:ln w="6350">
                <a:solidFill>
                  <a:srgbClr val="000000"/>
                </a:solidFill>
                <a:round/>
                <a:headEnd/>
                <a:tailEnd/>
              </a:ln>
            </p:spPr>
            <p:txBody>
              <a:bodyPr/>
              <a:lstStyle/>
              <a:p>
                <a:endParaRPr lang="zh-CN" altLang="en-US"/>
              </a:p>
            </p:txBody>
          </p:sp>
          <p:sp>
            <p:nvSpPr>
              <p:cNvPr id="20535" name="Line 93"/>
              <p:cNvSpPr>
                <a:spLocks noChangeShapeType="1"/>
              </p:cNvSpPr>
              <p:nvPr/>
            </p:nvSpPr>
            <p:spPr bwMode="auto">
              <a:xfrm flipV="1">
                <a:off x="6234" y="12608"/>
                <a:ext cx="220" cy="480"/>
              </a:xfrm>
              <a:prstGeom prst="line">
                <a:avLst/>
              </a:prstGeom>
              <a:noFill/>
              <a:ln w="6350">
                <a:solidFill>
                  <a:srgbClr val="000000"/>
                </a:solidFill>
                <a:round/>
                <a:headEnd/>
                <a:tailEnd/>
              </a:ln>
            </p:spPr>
            <p:txBody>
              <a:bodyPr/>
              <a:lstStyle/>
              <a:p>
                <a:endParaRPr lang="zh-CN" altLang="en-US"/>
              </a:p>
            </p:txBody>
          </p:sp>
          <p:sp>
            <p:nvSpPr>
              <p:cNvPr id="20536" name="Line 68"/>
              <p:cNvSpPr>
                <a:spLocks noChangeShapeType="1"/>
              </p:cNvSpPr>
              <p:nvPr/>
            </p:nvSpPr>
            <p:spPr bwMode="auto">
              <a:xfrm>
                <a:off x="4894" y="13688"/>
                <a:ext cx="520" cy="0"/>
              </a:xfrm>
              <a:prstGeom prst="line">
                <a:avLst/>
              </a:prstGeom>
              <a:noFill/>
              <a:ln w="9525">
                <a:solidFill>
                  <a:srgbClr val="000000"/>
                </a:solidFill>
                <a:round/>
                <a:headEnd/>
                <a:tailEnd/>
              </a:ln>
            </p:spPr>
            <p:txBody>
              <a:bodyPr/>
              <a:lstStyle/>
              <a:p>
                <a:endParaRPr lang="zh-CN" altLang="en-US"/>
              </a:p>
            </p:txBody>
          </p:sp>
          <p:sp>
            <p:nvSpPr>
              <p:cNvPr id="20537" name="Line 67"/>
              <p:cNvSpPr>
                <a:spLocks noChangeShapeType="1"/>
              </p:cNvSpPr>
              <p:nvPr/>
            </p:nvSpPr>
            <p:spPr bwMode="auto">
              <a:xfrm>
                <a:off x="4894" y="13108"/>
                <a:ext cx="500" cy="0"/>
              </a:xfrm>
              <a:prstGeom prst="line">
                <a:avLst/>
              </a:prstGeom>
              <a:noFill/>
              <a:ln w="9525">
                <a:solidFill>
                  <a:srgbClr val="000000"/>
                </a:solidFill>
                <a:round/>
                <a:headEnd/>
                <a:tailEnd/>
              </a:ln>
            </p:spPr>
            <p:txBody>
              <a:bodyPr/>
              <a:lstStyle/>
              <a:p>
                <a:endParaRPr lang="zh-CN" altLang="en-US"/>
              </a:p>
            </p:txBody>
          </p:sp>
        </p:grpSp>
      </p:grpSp>
      <p:sp>
        <p:nvSpPr>
          <p:cNvPr id="20500" name="Rectangle 9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482" name="Object 95"/>
          <p:cNvGraphicFramePr>
            <a:graphicFrameLocks noChangeAspect="1"/>
          </p:cNvGraphicFramePr>
          <p:nvPr/>
        </p:nvGraphicFramePr>
        <p:xfrm>
          <a:off x="5972175" y="1714500"/>
          <a:ext cx="1592263" cy="842963"/>
        </p:xfrm>
        <a:graphic>
          <a:graphicData uri="http://schemas.openxmlformats.org/presentationml/2006/ole">
            <p:oleObj spid="_x0000_s20482" name="公式" r:id="rId4" imgW="19507517" imgH="10363517" progId="Equation.3">
              <p:embed/>
            </p:oleObj>
          </a:graphicData>
        </a:graphic>
      </p:graphicFrame>
    </p:spTree>
  </p:cSld>
  <p:clrMapOvr>
    <a:masterClrMapping/>
  </p:clrMapOvr>
  <p:transition>
    <p:circl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日期占位符 3"/>
          <p:cNvSpPr>
            <a:spLocks noGrp="1"/>
          </p:cNvSpPr>
          <p:nvPr>
            <p:ph type="dt" sz="quarter" idx="10"/>
          </p:nvPr>
        </p:nvSpPr>
        <p:spPr>
          <a:noFill/>
        </p:spPr>
        <p:txBody>
          <a:bodyPr/>
          <a:lstStyle/>
          <a:p>
            <a:fld id="{F8F2FFB1-8233-4232-BD2E-B3049A7F44F2}" type="datetime1">
              <a:rPr lang="zh-CN" altLang="en-US" smtClean="0"/>
              <a:pPr/>
              <a:t>2018/2/24</a:t>
            </a:fld>
            <a:endParaRPr lang="en-US" altLang="zh-CN" smtClean="0"/>
          </a:p>
        </p:txBody>
      </p:sp>
      <p:sp>
        <p:nvSpPr>
          <p:cNvPr id="21508" name="灯片编号占位符 5"/>
          <p:cNvSpPr>
            <a:spLocks noGrp="1"/>
          </p:cNvSpPr>
          <p:nvPr>
            <p:ph type="sldNum" sz="quarter" idx="12"/>
          </p:nvPr>
        </p:nvSpPr>
        <p:spPr>
          <a:noFill/>
        </p:spPr>
        <p:txBody>
          <a:bodyPr/>
          <a:lstStyle/>
          <a:p>
            <a:fld id="{A2D938D1-4A38-4F18-9450-5A22E3B5782D}" type="slidenum">
              <a:rPr lang="en-US" altLang="zh-CN" smtClean="0"/>
              <a:pPr/>
              <a:t>34</a:t>
            </a:fld>
            <a:endParaRPr lang="en-US" altLang="zh-CN" smtClean="0"/>
          </a:p>
        </p:txBody>
      </p:sp>
      <p:sp>
        <p:nvSpPr>
          <p:cNvPr id="582658" name="Rectangle 2"/>
          <p:cNvSpPr>
            <a:spLocks noGrp="1" noChangeArrowheads="1"/>
          </p:cNvSpPr>
          <p:nvPr>
            <p:ph type="body" idx="1"/>
          </p:nvPr>
        </p:nvSpPr>
        <p:spPr>
          <a:xfrm>
            <a:off x="471488" y="1960563"/>
            <a:ext cx="8229600" cy="4805362"/>
          </a:xfrm>
        </p:spPr>
        <p:txBody>
          <a:bodyPr/>
          <a:lstStyle/>
          <a:p>
            <a:pPr eaLnBrk="1" hangingPunct="1">
              <a:defRPr/>
            </a:pPr>
            <a:r>
              <a:rPr lang="zh-CN" altLang="en-US" smtClean="0">
                <a:latin typeface="Times New Roman" pitchFamily="18" charset="0"/>
                <a:ea typeface="黑体" pitchFamily="2" charset="-122"/>
              </a:rPr>
              <a:t>精密测角法是通过测出被测物镜所观察的两条刻线的夹角，再通过计算而求得被测物镜焦距的一种方法。</a:t>
            </a:r>
          </a:p>
          <a:p>
            <a:pPr eaLnBrk="1" hangingPunct="1">
              <a:defRPr/>
            </a:pPr>
            <a:endParaRPr lang="zh-CN" altLang="en-US" smtClean="0">
              <a:latin typeface="Times New Roman" pitchFamily="18" charset="0"/>
              <a:ea typeface="黑体" pitchFamily="2" charset="-122"/>
            </a:endParaRPr>
          </a:p>
          <a:p>
            <a:pPr eaLnBrk="1" hangingPunct="1">
              <a:defRPr/>
            </a:pPr>
            <a:endParaRPr lang="zh-CN" altLang="en-US" smtClean="0">
              <a:latin typeface="Times New Roman" pitchFamily="18" charset="0"/>
              <a:ea typeface="黑体" pitchFamily="2" charset="-122"/>
            </a:endParaRPr>
          </a:p>
          <a:p>
            <a:pPr eaLnBrk="1" hangingPunct="1">
              <a:defRPr/>
            </a:pPr>
            <a:endParaRPr lang="zh-CN" altLang="en-US" smtClean="0">
              <a:latin typeface="Times New Roman" pitchFamily="18" charset="0"/>
              <a:ea typeface="黑体" pitchFamily="2" charset="-122"/>
            </a:endParaRPr>
          </a:p>
          <a:p>
            <a:pPr eaLnBrk="1" hangingPunct="1">
              <a:defRPr/>
            </a:pPr>
            <a:r>
              <a:rPr lang="zh-CN" altLang="en-US" smtClean="0">
                <a:latin typeface="Times New Roman" pitchFamily="18" charset="0"/>
                <a:ea typeface="黑体" pitchFamily="2" charset="-122"/>
              </a:rPr>
              <a:t>精密测角法测量焦</a:t>
            </a:r>
          </a:p>
          <a:p>
            <a:pPr eaLnBrk="1" hangingPunct="1">
              <a:buFont typeface="Wingdings" pitchFamily="2" charset="2"/>
              <a:buNone/>
              <a:defRPr/>
            </a:pPr>
            <a:r>
              <a:rPr lang="zh-CN" altLang="en-US" smtClean="0">
                <a:latin typeface="Times New Roman" pitchFamily="18" charset="0"/>
                <a:ea typeface="黑体" pitchFamily="2" charset="-122"/>
              </a:rPr>
              <a:t>    距的相对不确定度</a:t>
            </a:r>
          </a:p>
          <a:p>
            <a:pPr eaLnBrk="1" hangingPunct="1">
              <a:buFont typeface="Wingdings" pitchFamily="2" charset="2"/>
              <a:buNone/>
              <a:defRPr/>
            </a:pPr>
            <a:r>
              <a:rPr lang="zh-CN" altLang="en-US" smtClean="0">
                <a:latin typeface="Times New Roman" pitchFamily="18" charset="0"/>
                <a:ea typeface="黑体" pitchFamily="2" charset="-122"/>
              </a:rPr>
              <a:t>     可达</a:t>
            </a:r>
            <a:r>
              <a:rPr lang="en-US" altLang="zh-CN" smtClean="0">
                <a:latin typeface="Times New Roman" pitchFamily="18" charset="0"/>
                <a:ea typeface="黑体" pitchFamily="2" charset="-122"/>
              </a:rPr>
              <a:t>0.1</a:t>
            </a:r>
            <a:r>
              <a:rPr lang="zh-CN" altLang="en-US" smtClean="0">
                <a:latin typeface="Times New Roman" pitchFamily="18" charset="0"/>
                <a:ea typeface="黑体" pitchFamily="2" charset="-122"/>
              </a:rPr>
              <a:t>％。</a:t>
            </a:r>
          </a:p>
          <a:p>
            <a:pPr eaLnBrk="1" hangingPunct="1">
              <a:defRPr/>
            </a:pPr>
            <a:endParaRPr lang="en-US" altLang="zh-CN" smtClean="0">
              <a:latin typeface="Times New Roman" pitchFamily="18" charset="0"/>
              <a:ea typeface="黑体" pitchFamily="2" charset="-122"/>
            </a:endParaRPr>
          </a:p>
        </p:txBody>
      </p:sp>
      <p:sp>
        <p:nvSpPr>
          <p:cNvPr id="582659" name="Rectangle 3"/>
          <p:cNvSpPr>
            <a:spLocks noGrp="1" noRot="1" noChangeArrowheads="1"/>
          </p:cNvSpPr>
          <p:nvPr>
            <p:ph type="title"/>
          </p:nvPr>
        </p:nvSpPr>
        <p:spPr>
          <a:xfrm>
            <a:off x="557213" y="692150"/>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28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rPr>
              <a:t>精密测角法</a:t>
            </a:r>
          </a:p>
        </p:txBody>
      </p:sp>
      <p:sp>
        <p:nvSpPr>
          <p:cNvPr id="21511" name="Rectangle 4"/>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sp>
        <p:nvSpPr>
          <p:cNvPr id="21512" name="Rectangle 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1513"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21514"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1515" name="Rectangle 8"/>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21516" name="Rectangle 9"/>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21517" name="Rectangle 10"/>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21518"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21519" name="Rectangle 12"/>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21520" name="Rectangle 13"/>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21521" name="Rectangle 1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1522" name="Text Box 15"/>
          <p:cNvSpPr txBox="1">
            <a:spLocks noChangeArrowheads="1"/>
          </p:cNvSpPr>
          <p:nvPr/>
        </p:nvSpPr>
        <p:spPr bwMode="auto">
          <a:xfrm>
            <a:off x="4164013" y="6337300"/>
            <a:ext cx="2840037" cy="520700"/>
          </a:xfrm>
          <a:prstGeom prst="rect">
            <a:avLst/>
          </a:prstGeom>
          <a:noFill/>
          <a:ln w="9525">
            <a:noFill/>
            <a:miter lim="800000"/>
            <a:headEnd/>
            <a:tailEnd/>
          </a:ln>
        </p:spPr>
        <p:txBody>
          <a:bodyPr/>
          <a:lstStyle/>
          <a:p>
            <a:pPr algn="ctr"/>
            <a:r>
              <a:rPr lang="zh-CN" altLang="en-US">
                <a:latin typeface="黑体" pitchFamily="2" charset="-122"/>
                <a:ea typeface="黑体" pitchFamily="2" charset="-122"/>
              </a:rPr>
              <a:t>精密测角法测量原理图</a:t>
            </a:r>
            <a:endParaRPr lang="zh-CN" altLang="en-US"/>
          </a:p>
        </p:txBody>
      </p:sp>
      <p:grpSp>
        <p:nvGrpSpPr>
          <p:cNvPr id="21523" name="Group 16"/>
          <p:cNvGrpSpPr>
            <a:grpSpLocks/>
          </p:cNvGrpSpPr>
          <p:nvPr/>
        </p:nvGrpSpPr>
        <p:grpSpPr bwMode="auto">
          <a:xfrm>
            <a:off x="3551238" y="2957513"/>
            <a:ext cx="5221287" cy="3657600"/>
            <a:chOff x="2003" y="1890"/>
            <a:chExt cx="3289" cy="2304"/>
          </a:xfrm>
        </p:grpSpPr>
        <p:sp>
          <p:nvSpPr>
            <p:cNvPr id="21525" name="Rectangle 17"/>
            <p:cNvSpPr>
              <a:spLocks noChangeArrowheads="1"/>
            </p:cNvSpPr>
            <p:nvPr/>
          </p:nvSpPr>
          <p:spPr bwMode="auto">
            <a:xfrm>
              <a:off x="2016" y="1890"/>
              <a:ext cx="3276" cy="2304"/>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82674" name="Rectangle 18"/>
            <p:cNvSpPr>
              <a:spLocks noChangeArrowheads="1"/>
            </p:cNvSpPr>
            <p:nvPr/>
          </p:nvSpPr>
          <p:spPr bwMode="auto">
            <a:xfrm>
              <a:off x="2710" y="2063"/>
              <a:ext cx="340" cy="212"/>
            </a:xfrm>
            <a:prstGeom prst="rect">
              <a:avLst/>
            </a:prstGeom>
            <a:noFill/>
            <a:ln w="9525">
              <a:noFill/>
              <a:miter lim="800000"/>
              <a:headEnd/>
              <a:tailEnd/>
            </a:ln>
            <a:effectLst/>
          </p:spPr>
          <p:txBody>
            <a:bodyPr wrap="none" anchor="ctr">
              <a:spAutoFit/>
            </a:bodyPr>
            <a:lstStyle/>
            <a:p>
              <a:pPr algn="ctr">
                <a:defRPr/>
              </a:pPr>
              <a:r>
                <a:rPr lang="en-US" altLang="zh-CN" sz="1600" b="1">
                  <a:effectLst>
                    <a:outerShdw blurRad="38100" dist="38100" dir="2700000" algn="tl">
                      <a:srgbClr val="C0C0C0"/>
                    </a:outerShdw>
                  </a:effectLst>
                  <a:latin typeface="Times New Roman" pitchFamily="18" charset="0"/>
                  <a:cs typeface="Times New Roman" pitchFamily="18" charset="0"/>
                </a:rPr>
                <a:t>       </a:t>
              </a:r>
              <a:endParaRPr lang="en-US" altLang="zh-CN" sz="1600" b="1">
                <a:effectLst>
                  <a:outerShdw blurRad="38100" dist="38100" dir="2700000" algn="tl">
                    <a:srgbClr val="C0C0C0"/>
                  </a:outerShdw>
                </a:effectLst>
              </a:endParaRPr>
            </a:p>
          </p:txBody>
        </p:sp>
        <p:sp>
          <p:nvSpPr>
            <p:cNvPr id="21527" name="Oval 19"/>
            <p:cNvSpPr>
              <a:spLocks noChangeArrowheads="1"/>
            </p:cNvSpPr>
            <p:nvPr/>
          </p:nvSpPr>
          <p:spPr bwMode="auto">
            <a:xfrm>
              <a:off x="3098" y="2420"/>
              <a:ext cx="1131" cy="1131"/>
            </a:xfrm>
            <a:prstGeom prst="ellipse">
              <a:avLst/>
            </a:prstGeom>
            <a:noFill/>
            <a:ln w="9525">
              <a:solidFill>
                <a:srgbClr val="000000"/>
              </a:solidFill>
              <a:round/>
              <a:headEnd/>
              <a:tailEnd/>
            </a:ln>
          </p:spPr>
          <p:txBody>
            <a:bodyPr/>
            <a:lstStyle/>
            <a:p>
              <a:endParaRPr lang="zh-CN" altLang="en-US"/>
            </a:p>
          </p:txBody>
        </p:sp>
        <p:sp>
          <p:nvSpPr>
            <p:cNvPr id="21528" name="Oval 20"/>
            <p:cNvSpPr>
              <a:spLocks noChangeArrowheads="1"/>
            </p:cNvSpPr>
            <p:nvPr/>
          </p:nvSpPr>
          <p:spPr bwMode="auto">
            <a:xfrm>
              <a:off x="3171" y="2480"/>
              <a:ext cx="998" cy="998"/>
            </a:xfrm>
            <a:prstGeom prst="ellipse">
              <a:avLst/>
            </a:prstGeom>
            <a:noFill/>
            <a:ln w="9525">
              <a:solidFill>
                <a:srgbClr val="000000"/>
              </a:solidFill>
              <a:round/>
              <a:headEnd/>
              <a:tailEnd/>
            </a:ln>
          </p:spPr>
          <p:txBody>
            <a:bodyPr/>
            <a:lstStyle/>
            <a:p>
              <a:endParaRPr lang="zh-CN" altLang="en-US"/>
            </a:p>
          </p:txBody>
        </p:sp>
        <p:sp>
          <p:nvSpPr>
            <p:cNvPr id="21529" name="Oval 21"/>
            <p:cNvSpPr>
              <a:spLocks noChangeArrowheads="1"/>
            </p:cNvSpPr>
            <p:nvPr/>
          </p:nvSpPr>
          <p:spPr bwMode="auto">
            <a:xfrm>
              <a:off x="3621" y="2626"/>
              <a:ext cx="97" cy="706"/>
            </a:xfrm>
            <a:prstGeom prst="ellipse">
              <a:avLst/>
            </a:prstGeom>
            <a:noFill/>
            <a:ln w="9525">
              <a:solidFill>
                <a:srgbClr val="000000"/>
              </a:solidFill>
              <a:round/>
              <a:headEnd/>
              <a:tailEnd/>
            </a:ln>
          </p:spPr>
          <p:txBody>
            <a:bodyPr/>
            <a:lstStyle/>
            <a:p>
              <a:endParaRPr lang="zh-CN" altLang="en-US"/>
            </a:p>
          </p:txBody>
        </p:sp>
        <p:sp>
          <p:nvSpPr>
            <p:cNvPr id="21530" name="Rectangle 22"/>
            <p:cNvSpPr>
              <a:spLocks noChangeArrowheads="1"/>
            </p:cNvSpPr>
            <p:nvPr/>
          </p:nvSpPr>
          <p:spPr bwMode="auto">
            <a:xfrm>
              <a:off x="2514" y="2395"/>
              <a:ext cx="49" cy="1156"/>
            </a:xfrm>
            <a:prstGeom prst="rect">
              <a:avLst/>
            </a:prstGeom>
            <a:noFill/>
            <a:ln w="9525">
              <a:solidFill>
                <a:srgbClr val="000000"/>
              </a:solidFill>
              <a:miter lim="800000"/>
              <a:headEnd/>
              <a:tailEnd/>
            </a:ln>
          </p:spPr>
          <p:txBody>
            <a:bodyPr/>
            <a:lstStyle/>
            <a:p>
              <a:endParaRPr lang="zh-CN" altLang="en-US"/>
            </a:p>
          </p:txBody>
        </p:sp>
        <p:grpSp>
          <p:nvGrpSpPr>
            <p:cNvPr id="21531" name="Group 23"/>
            <p:cNvGrpSpPr>
              <a:grpSpLocks/>
            </p:cNvGrpSpPr>
            <p:nvPr/>
          </p:nvGrpSpPr>
          <p:grpSpPr bwMode="auto">
            <a:xfrm rot="1536464">
              <a:off x="4302" y="3344"/>
              <a:ext cx="755" cy="171"/>
              <a:chOff x="6114" y="11574"/>
              <a:chExt cx="1240" cy="280"/>
            </a:xfrm>
          </p:grpSpPr>
          <p:sp>
            <p:nvSpPr>
              <p:cNvPr id="21567" name="Rectangle 24"/>
              <p:cNvSpPr>
                <a:spLocks noChangeArrowheads="1"/>
              </p:cNvSpPr>
              <p:nvPr/>
            </p:nvSpPr>
            <p:spPr bwMode="auto">
              <a:xfrm>
                <a:off x="6114" y="11574"/>
                <a:ext cx="880" cy="280"/>
              </a:xfrm>
              <a:prstGeom prst="rect">
                <a:avLst/>
              </a:prstGeom>
              <a:noFill/>
              <a:ln w="9525">
                <a:solidFill>
                  <a:srgbClr val="000000"/>
                </a:solidFill>
                <a:prstDash val="dash"/>
                <a:miter lim="800000"/>
                <a:headEnd/>
                <a:tailEnd/>
              </a:ln>
            </p:spPr>
            <p:txBody>
              <a:bodyPr/>
              <a:lstStyle/>
              <a:p>
                <a:endParaRPr lang="zh-CN" altLang="en-US"/>
              </a:p>
            </p:txBody>
          </p:sp>
          <p:sp>
            <p:nvSpPr>
              <p:cNvPr id="21568" name="Rectangle 25"/>
              <p:cNvSpPr>
                <a:spLocks noChangeArrowheads="1"/>
              </p:cNvSpPr>
              <p:nvPr/>
            </p:nvSpPr>
            <p:spPr bwMode="auto">
              <a:xfrm>
                <a:off x="6994" y="11634"/>
                <a:ext cx="260" cy="160"/>
              </a:xfrm>
              <a:prstGeom prst="rect">
                <a:avLst/>
              </a:prstGeom>
              <a:noFill/>
              <a:ln w="9525">
                <a:solidFill>
                  <a:srgbClr val="000000"/>
                </a:solidFill>
                <a:prstDash val="dash"/>
                <a:miter lim="800000"/>
                <a:headEnd/>
                <a:tailEnd/>
              </a:ln>
            </p:spPr>
            <p:txBody>
              <a:bodyPr/>
              <a:lstStyle/>
              <a:p>
                <a:endParaRPr lang="zh-CN" altLang="en-US"/>
              </a:p>
            </p:txBody>
          </p:sp>
          <p:sp>
            <p:nvSpPr>
              <p:cNvPr id="21569" name="Line 26"/>
              <p:cNvSpPr>
                <a:spLocks noChangeShapeType="1"/>
              </p:cNvSpPr>
              <p:nvPr/>
            </p:nvSpPr>
            <p:spPr bwMode="auto">
              <a:xfrm>
                <a:off x="7334" y="11614"/>
                <a:ext cx="0" cy="220"/>
              </a:xfrm>
              <a:prstGeom prst="line">
                <a:avLst/>
              </a:prstGeom>
              <a:noFill/>
              <a:ln w="9525">
                <a:solidFill>
                  <a:srgbClr val="000000"/>
                </a:solidFill>
                <a:prstDash val="dash"/>
                <a:round/>
                <a:headEnd/>
                <a:tailEnd/>
              </a:ln>
            </p:spPr>
            <p:txBody>
              <a:bodyPr/>
              <a:lstStyle/>
              <a:p>
                <a:endParaRPr lang="zh-CN" altLang="en-US"/>
              </a:p>
            </p:txBody>
          </p:sp>
          <p:sp>
            <p:nvSpPr>
              <p:cNvPr id="21570" name="Line 27"/>
              <p:cNvSpPr>
                <a:spLocks noChangeShapeType="1"/>
              </p:cNvSpPr>
              <p:nvPr/>
            </p:nvSpPr>
            <p:spPr bwMode="auto">
              <a:xfrm flipV="1">
                <a:off x="7254" y="11614"/>
                <a:ext cx="80" cy="20"/>
              </a:xfrm>
              <a:prstGeom prst="line">
                <a:avLst/>
              </a:prstGeom>
              <a:noFill/>
              <a:ln w="9525">
                <a:solidFill>
                  <a:srgbClr val="000000"/>
                </a:solidFill>
                <a:prstDash val="dash"/>
                <a:round/>
                <a:headEnd/>
                <a:tailEnd/>
              </a:ln>
            </p:spPr>
            <p:txBody>
              <a:bodyPr/>
              <a:lstStyle/>
              <a:p>
                <a:endParaRPr lang="zh-CN" altLang="en-US"/>
              </a:p>
            </p:txBody>
          </p:sp>
          <p:sp>
            <p:nvSpPr>
              <p:cNvPr id="21571" name="Line 28"/>
              <p:cNvSpPr>
                <a:spLocks noChangeShapeType="1"/>
              </p:cNvSpPr>
              <p:nvPr/>
            </p:nvSpPr>
            <p:spPr bwMode="auto">
              <a:xfrm>
                <a:off x="7254" y="11794"/>
                <a:ext cx="100" cy="20"/>
              </a:xfrm>
              <a:prstGeom prst="line">
                <a:avLst/>
              </a:prstGeom>
              <a:noFill/>
              <a:ln w="9525">
                <a:solidFill>
                  <a:srgbClr val="000000"/>
                </a:solidFill>
                <a:prstDash val="dash"/>
                <a:round/>
                <a:headEnd/>
                <a:tailEnd/>
              </a:ln>
            </p:spPr>
            <p:txBody>
              <a:bodyPr/>
              <a:lstStyle/>
              <a:p>
                <a:endParaRPr lang="zh-CN" altLang="en-US"/>
              </a:p>
            </p:txBody>
          </p:sp>
        </p:grpSp>
        <p:grpSp>
          <p:nvGrpSpPr>
            <p:cNvPr id="21532" name="Group 29"/>
            <p:cNvGrpSpPr>
              <a:grpSpLocks/>
            </p:cNvGrpSpPr>
            <p:nvPr/>
          </p:nvGrpSpPr>
          <p:grpSpPr bwMode="auto">
            <a:xfrm rot="-1409359">
              <a:off x="4290" y="2468"/>
              <a:ext cx="755" cy="171"/>
              <a:chOff x="6114" y="11574"/>
              <a:chExt cx="1240" cy="280"/>
            </a:xfrm>
          </p:grpSpPr>
          <p:sp>
            <p:nvSpPr>
              <p:cNvPr id="21562" name="Rectangle 30"/>
              <p:cNvSpPr>
                <a:spLocks noChangeArrowheads="1"/>
              </p:cNvSpPr>
              <p:nvPr/>
            </p:nvSpPr>
            <p:spPr bwMode="auto">
              <a:xfrm>
                <a:off x="6114" y="11574"/>
                <a:ext cx="880" cy="280"/>
              </a:xfrm>
              <a:prstGeom prst="rect">
                <a:avLst/>
              </a:prstGeom>
              <a:noFill/>
              <a:ln w="9525">
                <a:solidFill>
                  <a:srgbClr val="000000"/>
                </a:solidFill>
                <a:miter lim="800000"/>
                <a:headEnd/>
                <a:tailEnd/>
              </a:ln>
            </p:spPr>
            <p:txBody>
              <a:bodyPr/>
              <a:lstStyle/>
              <a:p>
                <a:endParaRPr lang="zh-CN" altLang="en-US"/>
              </a:p>
            </p:txBody>
          </p:sp>
          <p:sp>
            <p:nvSpPr>
              <p:cNvPr id="21563" name="Rectangle 31"/>
              <p:cNvSpPr>
                <a:spLocks noChangeArrowheads="1"/>
              </p:cNvSpPr>
              <p:nvPr/>
            </p:nvSpPr>
            <p:spPr bwMode="auto">
              <a:xfrm>
                <a:off x="6994" y="11634"/>
                <a:ext cx="260" cy="160"/>
              </a:xfrm>
              <a:prstGeom prst="rect">
                <a:avLst/>
              </a:prstGeom>
              <a:noFill/>
              <a:ln w="9525">
                <a:solidFill>
                  <a:srgbClr val="000000"/>
                </a:solidFill>
                <a:miter lim="800000"/>
                <a:headEnd/>
                <a:tailEnd/>
              </a:ln>
            </p:spPr>
            <p:txBody>
              <a:bodyPr/>
              <a:lstStyle/>
              <a:p>
                <a:endParaRPr lang="zh-CN" altLang="en-US"/>
              </a:p>
            </p:txBody>
          </p:sp>
          <p:sp>
            <p:nvSpPr>
              <p:cNvPr id="21564" name="Line 32"/>
              <p:cNvSpPr>
                <a:spLocks noChangeShapeType="1"/>
              </p:cNvSpPr>
              <p:nvPr/>
            </p:nvSpPr>
            <p:spPr bwMode="auto">
              <a:xfrm>
                <a:off x="7334" y="11614"/>
                <a:ext cx="0" cy="220"/>
              </a:xfrm>
              <a:prstGeom prst="line">
                <a:avLst/>
              </a:prstGeom>
              <a:noFill/>
              <a:ln w="9525">
                <a:solidFill>
                  <a:srgbClr val="000000"/>
                </a:solidFill>
                <a:round/>
                <a:headEnd/>
                <a:tailEnd/>
              </a:ln>
            </p:spPr>
            <p:txBody>
              <a:bodyPr/>
              <a:lstStyle/>
              <a:p>
                <a:endParaRPr lang="zh-CN" altLang="en-US"/>
              </a:p>
            </p:txBody>
          </p:sp>
          <p:sp>
            <p:nvSpPr>
              <p:cNvPr id="21565" name="Line 33"/>
              <p:cNvSpPr>
                <a:spLocks noChangeShapeType="1"/>
              </p:cNvSpPr>
              <p:nvPr/>
            </p:nvSpPr>
            <p:spPr bwMode="auto">
              <a:xfrm flipV="1">
                <a:off x="7254" y="11614"/>
                <a:ext cx="80" cy="20"/>
              </a:xfrm>
              <a:prstGeom prst="line">
                <a:avLst/>
              </a:prstGeom>
              <a:noFill/>
              <a:ln w="9525">
                <a:solidFill>
                  <a:srgbClr val="000000"/>
                </a:solidFill>
                <a:round/>
                <a:headEnd/>
                <a:tailEnd/>
              </a:ln>
            </p:spPr>
            <p:txBody>
              <a:bodyPr/>
              <a:lstStyle/>
              <a:p>
                <a:endParaRPr lang="zh-CN" altLang="en-US"/>
              </a:p>
            </p:txBody>
          </p:sp>
          <p:sp>
            <p:nvSpPr>
              <p:cNvPr id="21566" name="Line 34"/>
              <p:cNvSpPr>
                <a:spLocks noChangeShapeType="1"/>
              </p:cNvSpPr>
              <p:nvPr/>
            </p:nvSpPr>
            <p:spPr bwMode="auto">
              <a:xfrm>
                <a:off x="7254" y="11794"/>
                <a:ext cx="100" cy="20"/>
              </a:xfrm>
              <a:prstGeom prst="line">
                <a:avLst/>
              </a:prstGeom>
              <a:noFill/>
              <a:ln w="9525">
                <a:solidFill>
                  <a:srgbClr val="000000"/>
                </a:solidFill>
                <a:round/>
                <a:headEnd/>
                <a:tailEnd/>
              </a:ln>
            </p:spPr>
            <p:txBody>
              <a:bodyPr/>
              <a:lstStyle/>
              <a:p>
                <a:endParaRPr lang="zh-CN" altLang="en-US"/>
              </a:p>
            </p:txBody>
          </p:sp>
        </p:grpSp>
        <p:sp>
          <p:nvSpPr>
            <p:cNvPr id="21533" name="Line 35"/>
            <p:cNvSpPr>
              <a:spLocks noChangeShapeType="1"/>
            </p:cNvSpPr>
            <p:nvPr/>
          </p:nvSpPr>
          <p:spPr bwMode="auto">
            <a:xfrm>
              <a:off x="2563" y="2480"/>
              <a:ext cx="2555" cy="1144"/>
            </a:xfrm>
            <a:prstGeom prst="line">
              <a:avLst/>
            </a:prstGeom>
            <a:noFill/>
            <a:ln w="6350">
              <a:solidFill>
                <a:srgbClr val="000000"/>
              </a:solidFill>
              <a:prstDash val="lgDashDot"/>
              <a:round/>
              <a:headEnd/>
              <a:tailEnd/>
            </a:ln>
          </p:spPr>
          <p:txBody>
            <a:bodyPr/>
            <a:lstStyle/>
            <a:p>
              <a:endParaRPr lang="zh-CN" altLang="en-US"/>
            </a:p>
          </p:txBody>
        </p:sp>
        <p:sp>
          <p:nvSpPr>
            <p:cNvPr id="21534" name="Line 36"/>
            <p:cNvSpPr>
              <a:spLocks noChangeShapeType="1"/>
            </p:cNvSpPr>
            <p:nvPr/>
          </p:nvSpPr>
          <p:spPr bwMode="auto">
            <a:xfrm flipV="1">
              <a:off x="2563" y="2334"/>
              <a:ext cx="2579" cy="1156"/>
            </a:xfrm>
            <a:prstGeom prst="line">
              <a:avLst/>
            </a:prstGeom>
            <a:noFill/>
            <a:ln w="6350">
              <a:solidFill>
                <a:srgbClr val="000000"/>
              </a:solidFill>
              <a:prstDash val="lgDashDot"/>
              <a:round/>
              <a:headEnd/>
              <a:tailEnd/>
            </a:ln>
          </p:spPr>
          <p:txBody>
            <a:bodyPr/>
            <a:lstStyle/>
            <a:p>
              <a:endParaRPr lang="zh-CN" altLang="en-US"/>
            </a:p>
          </p:txBody>
        </p:sp>
        <p:sp>
          <p:nvSpPr>
            <p:cNvPr id="21535" name="Line 37"/>
            <p:cNvSpPr>
              <a:spLocks noChangeShapeType="1"/>
            </p:cNvSpPr>
            <p:nvPr/>
          </p:nvSpPr>
          <p:spPr bwMode="auto">
            <a:xfrm>
              <a:off x="2563" y="3456"/>
              <a:ext cx="0" cy="402"/>
            </a:xfrm>
            <a:prstGeom prst="line">
              <a:avLst/>
            </a:prstGeom>
            <a:noFill/>
            <a:ln w="6350">
              <a:solidFill>
                <a:srgbClr val="000000"/>
              </a:solidFill>
              <a:round/>
              <a:headEnd/>
              <a:tailEnd/>
            </a:ln>
          </p:spPr>
          <p:txBody>
            <a:bodyPr/>
            <a:lstStyle/>
            <a:p>
              <a:endParaRPr lang="zh-CN" altLang="en-US"/>
            </a:p>
          </p:txBody>
        </p:sp>
        <p:sp>
          <p:nvSpPr>
            <p:cNvPr id="21536" name="Line 38"/>
            <p:cNvSpPr>
              <a:spLocks noChangeShapeType="1"/>
            </p:cNvSpPr>
            <p:nvPr/>
          </p:nvSpPr>
          <p:spPr bwMode="auto">
            <a:xfrm>
              <a:off x="3672" y="3335"/>
              <a:ext cx="0" cy="524"/>
            </a:xfrm>
            <a:prstGeom prst="line">
              <a:avLst/>
            </a:prstGeom>
            <a:noFill/>
            <a:ln w="6350">
              <a:solidFill>
                <a:srgbClr val="000000"/>
              </a:solidFill>
              <a:round/>
              <a:headEnd/>
              <a:tailEnd/>
            </a:ln>
          </p:spPr>
          <p:txBody>
            <a:bodyPr/>
            <a:lstStyle/>
            <a:p>
              <a:endParaRPr lang="zh-CN" altLang="en-US"/>
            </a:p>
          </p:txBody>
        </p:sp>
        <p:sp>
          <p:nvSpPr>
            <p:cNvPr id="21537" name="Line 39"/>
            <p:cNvSpPr>
              <a:spLocks noChangeShapeType="1"/>
            </p:cNvSpPr>
            <p:nvPr/>
          </p:nvSpPr>
          <p:spPr bwMode="auto">
            <a:xfrm>
              <a:off x="2563" y="3760"/>
              <a:ext cx="1119" cy="0"/>
            </a:xfrm>
            <a:prstGeom prst="line">
              <a:avLst/>
            </a:prstGeom>
            <a:noFill/>
            <a:ln w="6350">
              <a:solidFill>
                <a:srgbClr val="000000"/>
              </a:solidFill>
              <a:round/>
              <a:headEnd type="stealth" w="lg" len="lg"/>
              <a:tailEnd type="stealth" w="lg" len="lg"/>
            </a:ln>
          </p:spPr>
          <p:txBody>
            <a:bodyPr/>
            <a:lstStyle/>
            <a:p>
              <a:endParaRPr lang="zh-CN" altLang="en-US"/>
            </a:p>
          </p:txBody>
        </p:sp>
        <p:sp>
          <p:nvSpPr>
            <p:cNvPr id="21538" name="Arc 40"/>
            <p:cNvSpPr>
              <a:spLocks/>
            </p:cNvSpPr>
            <p:nvPr/>
          </p:nvSpPr>
          <p:spPr bwMode="auto">
            <a:xfrm rot="18976106" flipH="1">
              <a:off x="2940" y="2772"/>
              <a:ext cx="402" cy="623"/>
            </a:xfrm>
            <a:custGeom>
              <a:avLst/>
              <a:gdLst>
                <a:gd name="T0" fmla="*/ 0 w 20027"/>
                <a:gd name="T1" fmla="*/ 0 h 21600"/>
                <a:gd name="T2" fmla="*/ 0 w 20027"/>
                <a:gd name="T3" fmla="*/ 0 h 21600"/>
                <a:gd name="T4" fmla="*/ 0 w 20027"/>
                <a:gd name="T5" fmla="*/ 0 h 21600"/>
                <a:gd name="T6" fmla="*/ 0 60000 65536"/>
                <a:gd name="T7" fmla="*/ 0 60000 65536"/>
                <a:gd name="T8" fmla="*/ 0 60000 65536"/>
                <a:gd name="T9" fmla="*/ 0 w 20027"/>
                <a:gd name="T10" fmla="*/ 0 h 21600"/>
                <a:gd name="T11" fmla="*/ 20027 w 20027"/>
                <a:gd name="T12" fmla="*/ 21600 h 21600"/>
              </a:gdLst>
              <a:ahLst/>
              <a:cxnLst>
                <a:cxn ang="T6">
                  <a:pos x="T0" y="T1"/>
                </a:cxn>
                <a:cxn ang="T7">
                  <a:pos x="T2" y="T3"/>
                </a:cxn>
                <a:cxn ang="T8">
                  <a:pos x="T4" y="T5"/>
                </a:cxn>
              </a:cxnLst>
              <a:rect l="T9" t="T10" r="T11" b="T12"/>
              <a:pathLst>
                <a:path w="20027" h="21600" fill="none" extrusionOk="0">
                  <a:moveTo>
                    <a:pt x="-1" y="0"/>
                  </a:moveTo>
                  <a:cubicBezTo>
                    <a:pt x="8804" y="0"/>
                    <a:pt x="16728" y="5344"/>
                    <a:pt x="20026" y="13508"/>
                  </a:cubicBezTo>
                </a:path>
                <a:path w="20027" h="21600" stroke="0" extrusionOk="0">
                  <a:moveTo>
                    <a:pt x="-1" y="0"/>
                  </a:moveTo>
                  <a:cubicBezTo>
                    <a:pt x="8804" y="0"/>
                    <a:pt x="16728" y="5344"/>
                    <a:pt x="20026" y="13508"/>
                  </a:cubicBezTo>
                  <a:lnTo>
                    <a:pt x="0" y="21600"/>
                  </a:lnTo>
                  <a:close/>
                </a:path>
              </a:pathLst>
            </a:custGeom>
            <a:noFill/>
            <a:ln w="9525">
              <a:solidFill>
                <a:srgbClr val="000000"/>
              </a:solidFill>
              <a:round/>
              <a:headEnd type="stealth" w="med" len="lg"/>
              <a:tailEnd type="stealth" w="med" len="lg"/>
            </a:ln>
          </p:spPr>
          <p:txBody>
            <a:bodyPr/>
            <a:lstStyle/>
            <a:p>
              <a:endParaRPr lang="zh-CN" altLang="en-US"/>
            </a:p>
          </p:txBody>
        </p:sp>
        <p:sp>
          <p:nvSpPr>
            <p:cNvPr id="21539" name="Arc 41"/>
            <p:cNvSpPr>
              <a:spLocks/>
            </p:cNvSpPr>
            <p:nvPr/>
          </p:nvSpPr>
          <p:spPr bwMode="auto">
            <a:xfrm rot="2285351">
              <a:off x="4363" y="2675"/>
              <a:ext cx="584" cy="6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6350">
              <a:solidFill>
                <a:srgbClr val="000000"/>
              </a:solidFill>
              <a:round/>
              <a:headEnd type="stealth" w="lg" len="lg"/>
              <a:tailEnd type="stealth" w="lg" len="lg"/>
            </a:ln>
          </p:spPr>
          <p:txBody>
            <a:bodyPr/>
            <a:lstStyle/>
            <a:p>
              <a:endParaRPr lang="zh-CN" altLang="en-US"/>
            </a:p>
          </p:txBody>
        </p:sp>
        <p:sp>
          <p:nvSpPr>
            <p:cNvPr id="21540" name="Line 42"/>
            <p:cNvSpPr>
              <a:spLocks noChangeShapeType="1"/>
            </p:cNvSpPr>
            <p:nvPr/>
          </p:nvSpPr>
          <p:spPr bwMode="auto">
            <a:xfrm>
              <a:off x="2234" y="2225"/>
              <a:ext cx="548" cy="0"/>
            </a:xfrm>
            <a:prstGeom prst="line">
              <a:avLst/>
            </a:prstGeom>
            <a:noFill/>
            <a:ln w="6350">
              <a:solidFill>
                <a:srgbClr val="000000"/>
              </a:solidFill>
              <a:round/>
              <a:headEnd/>
              <a:tailEnd/>
            </a:ln>
          </p:spPr>
          <p:txBody>
            <a:bodyPr/>
            <a:lstStyle/>
            <a:p>
              <a:endParaRPr lang="zh-CN" altLang="en-US"/>
            </a:p>
          </p:txBody>
        </p:sp>
        <p:sp>
          <p:nvSpPr>
            <p:cNvPr id="21541" name="Line 43"/>
            <p:cNvSpPr>
              <a:spLocks noChangeShapeType="1"/>
            </p:cNvSpPr>
            <p:nvPr/>
          </p:nvSpPr>
          <p:spPr bwMode="auto">
            <a:xfrm flipH="1" flipV="1">
              <a:off x="2228" y="2223"/>
              <a:ext cx="280" cy="304"/>
            </a:xfrm>
            <a:prstGeom prst="line">
              <a:avLst/>
            </a:prstGeom>
            <a:noFill/>
            <a:ln w="6350">
              <a:solidFill>
                <a:srgbClr val="000000"/>
              </a:solidFill>
              <a:round/>
              <a:headEnd/>
              <a:tailEnd/>
            </a:ln>
          </p:spPr>
          <p:txBody>
            <a:bodyPr/>
            <a:lstStyle/>
            <a:p>
              <a:endParaRPr lang="zh-CN" altLang="en-US"/>
            </a:p>
          </p:txBody>
        </p:sp>
        <p:sp>
          <p:nvSpPr>
            <p:cNvPr id="21542" name="Line 44"/>
            <p:cNvSpPr>
              <a:spLocks noChangeShapeType="1"/>
            </p:cNvSpPr>
            <p:nvPr/>
          </p:nvSpPr>
          <p:spPr bwMode="auto">
            <a:xfrm>
              <a:off x="2903" y="2225"/>
              <a:ext cx="268" cy="0"/>
            </a:xfrm>
            <a:prstGeom prst="line">
              <a:avLst/>
            </a:prstGeom>
            <a:noFill/>
            <a:ln w="6350">
              <a:solidFill>
                <a:srgbClr val="000000"/>
              </a:solidFill>
              <a:round/>
              <a:headEnd/>
              <a:tailEnd/>
            </a:ln>
          </p:spPr>
          <p:txBody>
            <a:bodyPr/>
            <a:lstStyle/>
            <a:p>
              <a:endParaRPr lang="zh-CN" altLang="en-US"/>
            </a:p>
          </p:txBody>
        </p:sp>
        <p:sp>
          <p:nvSpPr>
            <p:cNvPr id="21543" name="Line 45"/>
            <p:cNvSpPr>
              <a:spLocks noChangeShapeType="1"/>
            </p:cNvSpPr>
            <p:nvPr/>
          </p:nvSpPr>
          <p:spPr bwMode="auto">
            <a:xfrm>
              <a:off x="3368" y="2225"/>
              <a:ext cx="487" cy="0"/>
            </a:xfrm>
            <a:prstGeom prst="line">
              <a:avLst/>
            </a:prstGeom>
            <a:noFill/>
            <a:ln w="6350">
              <a:solidFill>
                <a:srgbClr val="000000"/>
              </a:solidFill>
              <a:round/>
              <a:headEnd/>
              <a:tailEnd/>
            </a:ln>
          </p:spPr>
          <p:txBody>
            <a:bodyPr/>
            <a:lstStyle/>
            <a:p>
              <a:endParaRPr lang="zh-CN" altLang="en-US"/>
            </a:p>
          </p:txBody>
        </p:sp>
        <p:sp>
          <p:nvSpPr>
            <p:cNvPr id="21544" name="Line 46"/>
            <p:cNvSpPr>
              <a:spLocks noChangeShapeType="1"/>
            </p:cNvSpPr>
            <p:nvPr/>
          </p:nvSpPr>
          <p:spPr bwMode="auto">
            <a:xfrm>
              <a:off x="4388" y="2225"/>
              <a:ext cx="596" cy="0"/>
            </a:xfrm>
            <a:prstGeom prst="line">
              <a:avLst/>
            </a:prstGeom>
            <a:noFill/>
            <a:ln w="6350">
              <a:solidFill>
                <a:srgbClr val="000000"/>
              </a:solidFill>
              <a:round/>
              <a:headEnd/>
              <a:tailEnd/>
            </a:ln>
          </p:spPr>
          <p:txBody>
            <a:bodyPr/>
            <a:lstStyle/>
            <a:p>
              <a:endParaRPr lang="zh-CN" altLang="en-US"/>
            </a:p>
          </p:txBody>
        </p:sp>
        <p:sp>
          <p:nvSpPr>
            <p:cNvPr id="21545" name="Line 47"/>
            <p:cNvSpPr>
              <a:spLocks noChangeShapeType="1"/>
            </p:cNvSpPr>
            <p:nvPr/>
          </p:nvSpPr>
          <p:spPr bwMode="auto">
            <a:xfrm flipH="1" flipV="1">
              <a:off x="2903" y="2227"/>
              <a:ext cx="548" cy="426"/>
            </a:xfrm>
            <a:prstGeom prst="line">
              <a:avLst/>
            </a:prstGeom>
            <a:noFill/>
            <a:ln w="6350">
              <a:solidFill>
                <a:srgbClr val="000000"/>
              </a:solidFill>
              <a:round/>
              <a:headEnd/>
              <a:tailEnd/>
            </a:ln>
          </p:spPr>
          <p:txBody>
            <a:bodyPr/>
            <a:lstStyle/>
            <a:p>
              <a:endParaRPr lang="zh-CN" altLang="en-US"/>
            </a:p>
          </p:txBody>
        </p:sp>
        <p:sp>
          <p:nvSpPr>
            <p:cNvPr id="21546" name="Line 48"/>
            <p:cNvSpPr>
              <a:spLocks noChangeShapeType="1"/>
            </p:cNvSpPr>
            <p:nvPr/>
          </p:nvSpPr>
          <p:spPr bwMode="auto">
            <a:xfrm flipH="1" flipV="1">
              <a:off x="3366" y="2225"/>
              <a:ext cx="316" cy="474"/>
            </a:xfrm>
            <a:prstGeom prst="line">
              <a:avLst/>
            </a:prstGeom>
            <a:noFill/>
            <a:ln w="6350">
              <a:solidFill>
                <a:srgbClr val="000000"/>
              </a:solidFill>
              <a:round/>
              <a:headEnd/>
              <a:tailEnd/>
            </a:ln>
          </p:spPr>
          <p:txBody>
            <a:bodyPr/>
            <a:lstStyle/>
            <a:p>
              <a:endParaRPr lang="zh-CN" altLang="en-US"/>
            </a:p>
          </p:txBody>
        </p:sp>
        <p:sp>
          <p:nvSpPr>
            <p:cNvPr id="21547" name="Line 49"/>
            <p:cNvSpPr>
              <a:spLocks noChangeShapeType="1"/>
            </p:cNvSpPr>
            <p:nvPr/>
          </p:nvSpPr>
          <p:spPr bwMode="auto">
            <a:xfrm flipH="1" flipV="1">
              <a:off x="4385" y="2225"/>
              <a:ext cx="183" cy="377"/>
            </a:xfrm>
            <a:prstGeom prst="line">
              <a:avLst/>
            </a:prstGeom>
            <a:noFill/>
            <a:ln w="6350">
              <a:solidFill>
                <a:srgbClr val="000000"/>
              </a:solidFill>
              <a:round/>
              <a:headEnd/>
              <a:tailEnd/>
            </a:ln>
          </p:spPr>
          <p:txBody>
            <a:bodyPr/>
            <a:lstStyle/>
            <a:p>
              <a:endParaRPr lang="zh-CN" altLang="en-US"/>
            </a:p>
          </p:txBody>
        </p:sp>
        <p:sp>
          <p:nvSpPr>
            <p:cNvPr id="582706" name="Text Box 50"/>
            <p:cNvSpPr txBox="1">
              <a:spLocks noChangeArrowheads="1"/>
            </p:cNvSpPr>
            <p:nvPr/>
          </p:nvSpPr>
          <p:spPr bwMode="auto">
            <a:xfrm>
              <a:off x="4777" y="2724"/>
              <a:ext cx="377" cy="292"/>
            </a:xfrm>
            <a:prstGeom prst="rect">
              <a:avLst/>
            </a:prstGeom>
            <a:noFill/>
            <a:ln w="9525">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rPr>
                <a:t>2</a:t>
              </a:r>
              <a:r>
                <a:rPr lang="en-US" altLang="zh-CN" sz="1600" b="1" i="1">
                  <a:effectLst>
                    <a:outerShdw blurRad="38100" dist="38100" dir="2700000" algn="tl">
                      <a:srgbClr val="C0C0C0"/>
                    </a:outerShdw>
                  </a:effectLst>
                  <a:latin typeface="宋体" pitchFamily="2" charset="-122"/>
                </a:rPr>
                <a:t>ω</a:t>
              </a:r>
              <a:endParaRPr lang="en-US" altLang="zh-CN" sz="1600" b="1">
                <a:effectLst>
                  <a:outerShdw blurRad="38100" dist="38100" dir="2700000" algn="tl">
                    <a:srgbClr val="C0C0C0"/>
                  </a:outerShdw>
                </a:effectLst>
              </a:endParaRPr>
            </a:p>
          </p:txBody>
        </p:sp>
        <p:sp>
          <p:nvSpPr>
            <p:cNvPr id="582707" name="Text Box 51"/>
            <p:cNvSpPr txBox="1">
              <a:spLocks noChangeArrowheads="1"/>
            </p:cNvSpPr>
            <p:nvPr/>
          </p:nvSpPr>
          <p:spPr bwMode="auto">
            <a:xfrm>
              <a:off x="2623" y="2760"/>
              <a:ext cx="116" cy="212"/>
            </a:xfrm>
            <a:prstGeom prst="rect">
              <a:avLst/>
            </a:prstGeom>
            <a:noFill/>
            <a:ln w="9525">
              <a:noFill/>
              <a:miter lim="800000"/>
              <a:headEnd/>
              <a:tailEnd/>
            </a:ln>
          </p:spPr>
          <p:txBody>
            <a:bodyPr wrap="none">
              <a:spAutoFit/>
            </a:bodyPr>
            <a:lstStyle/>
            <a:p>
              <a:pPr algn="just">
                <a:defRPr/>
              </a:pPr>
              <a:endParaRPr lang="zh-CN" altLang="zh-CN" sz="1600" b="1">
                <a:effectLst>
                  <a:outerShdw blurRad="38100" dist="38100" dir="2700000" algn="tl">
                    <a:srgbClr val="C0C0C0"/>
                  </a:outerShdw>
                </a:effectLst>
              </a:endParaRPr>
            </a:p>
          </p:txBody>
        </p:sp>
        <p:sp>
          <p:nvSpPr>
            <p:cNvPr id="582708" name="Text Box 52"/>
            <p:cNvSpPr txBox="1">
              <a:spLocks noChangeArrowheads="1"/>
            </p:cNvSpPr>
            <p:nvPr/>
          </p:nvSpPr>
          <p:spPr bwMode="auto">
            <a:xfrm>
              <a:off x="2949" y="3536"/>
              <a:ext cx="614" cy="325"/>
            </a:xfrm>
            <a:prstGeom prst="rect">
              <a:avLst/>
            </a:prstGeom>
            <a:noFill/>
            <a:ln w="9525">
              <a:noFill/>
              <a:miter lim="800000"/>
              <a:headEnd/>
              <a:tailEnd/>
            </a:ln>
          </p:spPr>
          <p:txBody>
            <a:bodyPr/>
            <a:lstStyle/>
            <a:p>
              <a:pPr>
                <a:defRPr/>
              </a:pPr>
              <a:r>
                <a:rPr lang="en-US" altLang="zh-CN" sz="1600" b="1" i="1">
                  <a:effectLst>
                    <a:outerShdw blurRad="38100" dist="38100" dir="2700000" algn="tl">
                      <a:srgbClr val="C0C0C0"/>
                    </a:outerShdw>
                  </a:effectLst>
                  <a:latin typeface="Times New Roman" pitchFamily="18" charset="0"/>
                </a:rPr>
                <a:t>f</a:t>
              </a:r>
              <a:r>
                <a:rPr lang="en-US" altLang="zh-CN" sz="1600" b="1">
                  <a:effectLst>
                    <a:outerShdw blurRad="38100" dist="38100" dir="2700000" algn="tl">
                      <a:srgbClr val="C0C0C0"/>
                    </a:outerShdw>
                  </a:effectLst>
                  <a:latin typeface="Times New Roman" pitchFamily="18" charset="0"/>
                </a:rPr>
                <a:t>′ </a:t>
              </a:r>
              <a:endParaRPr lang="en-US" altLang="zh-CN" sz="1600" b="1">
                <a:effectLst>
                  <a:outerShdw blurRad="38100" dist="38100" dir="2700000" algn="tl">
                    <a:srgbClr val="C0C0C0"/>
                  </a:outerShdw>
                </a:effectLst>
              </a:endParaRPr>
            </a:p>
          </p:txBody>
        </p:sp>
        <p:sp>
          <p:nvSpPr>
            <p:cNvPr id="582709" name="Text Box 53"/>
            <p:cNvSpPr txBox="1">
              <a:spLocks noChangeArrowheads="1"/>
            </p:cNvSpPr>
            <p:nvPr/>
          </p:nvSpPr>
          <p:spPr bwMode="auto">
            <a:xfrm>
              <a:off x="2263" y="2016"/>
              <a:ext cx="548" cy="32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刻线尺   </a:t>
              </a:r>
              <a:endParaRPr lang="zh-CN" altLang="en-US" sz="1600" b="1">
                <a:effectLst>
                  <a:outerShdw blurRad="38100" dist="38100" dir="2700000" algn="tl">
                    <a:srgbClr val="C0C0C0"/>
                  </a:outerShdw>
                </a:effectLst>
              </a:endParaRPr>
            </a:p>
          </p:txBody>
        </p:sp>
        <p:sp>
          <p:nvSpPr>
            <p:cNvPr id="582710" name="Text Box 54"/>
            <p:cNvSpPr txBox="1">
              <a:spLocks noChangeArrowheads="1"/>
            </p:cNvSpPr>
            <p:nvPr/>
          </p:nvSpPr>
          <p:spPr bwMode="auto">
            <a:xfrm>
              <a:off x="2864" y="2007"/>
              <a:ext cx="413" cy="28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度盘</a:t>
              </a:r>
              <a:endParaRPr lang="zh-CN" altLang="en-US" sz="1600" b="1">
                <a:effectLst>
                  <a:outerShdw blurRad="38100" dist="38100" dir="2700000" algn="tl">
                    <a:srgbClr val="C0C0C0"/>
                  </a:outerShdw>
                </a:effectLst>
              </a:endParaRPr>
            </a:p>
          </p:txBody>
        </p:sp>
        <p:sp>
          <p:nvSpPr>
            <p:cNvPr id="582711" name="Text Box 55"/>
            <p:cNvSpPr txBox="1">
              <a:spLocks noChangeArrowheads="1"/>
            </p:cNvSpPr>
            <p:nvPr/>
          </p:nvSpPr>
          <p:spPr bwMode="auto">
            <a:xfrm>
              <a:off x="3354" y="1981"/>
              <a:ext cx="633" cy="28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被测物镜  </a:t>
              </a:r>
            </a:p>
            <a:p>
              <a:pPr algn="just">
                <a:defRPr/>
              </a:pPr>
              <a:r>
                <a:rPr lang="zh-CN" altLang="en-US" sz="1600" b="1">
                  <a:effectLst>
                    <a:outerShdw blurRad="38100" dist="38100" dir="2700000" algn="tl">
                      <a:srgbClr val="C0C0C0"/>
                    </a:outerShdw>
                  </a:effectLst>
                  <a:latin typeface="Times New Roman" pitchFamily="18" charset="0"/>
                </a:rPr>
                <a:t>      </a:t>
              </a:r>
              <a:endParaRPr lang="zh-CN" altLang="en-US" sz="1600" b="1">
                <a:effectLst>
                  <a:outerShdw blurRad="38100" dist="38100" dir="2700000" algn="tl">
                    <a:srgbClr val="C0C0C0"/>
                  </a:outerShdw>
                </a:effectLst>
              </a:endParaRPr>
            </a:p>
          </p:txBody>
        </p:sp>
        <p:sp>
          <p:nvSpPr>
            <p:cNvPr id="582712" name="Text Box 56"/>
            <p:cNvSpPr txBox="1">
              <a:spLocks noChangeArrowheads="1"/>
            </p:cNvSpPr>
            <p:nvPr/>
          </p:nvSpPr>
          <p:spPr bwMode="auto">
            <a:xfrm>
              <a:off x="4369" y="1994"/>
              <a:ext cx="917" cy="365"/>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观察望远镜</a:t>
              </a:r>
              <a:endParaRPr lang="zh-CN" altLang="en-US" sz="1600" b="1">
                <a:effectLst>
                  <a:outerShdw blurRad="38100" dist="38100" dir="2700000" algn="tl">
                    <a:srgbClr val="C0C0C0"/>
                  </a:outerShdw>
                </a:effectLst>
              </a:endParaRPr>
            </a:p>
          </p:txBody>
        </p:sp>
        <p:sp>
          <p:nvSpPr>
            <p:cNvPr id="582713" name="Text Box 57"/>
            <p:cNvSpPr txBox="1">
              <a:spLocks noChangeArrowheads="1"/>
            </p:cNvSpPr>
            <p:nvPr/>
          </p:nvSpPr>
          <p:spPr bwMode="auto">
            <a:xfrm>
              <a:off x="2575" y="3369"/>
              <a:ext cx="413" cy="328"/>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B</a:t>
              </a:r>
              <a:endParaRPr lang="en-US" altLang="zh-CN" sz="1600" b="1">
                <a:effectLst>
                  <a:outerShdw blurRad="38100" dist="38100" dir="2700000" algn="tl">
                    <a:srgbClr val="C0C0C0"/>
                  </a:outerShdw>
                </a:effectLst>
              </a:endParaRPr>
            </a:p>
          </p:txBody>
        </p:sp>
        <p:sp>
          <p:nvSpPr>
            <p:cNvPr id="582714" name="Text Box 58"/>
            <p:cNvSpPr txBox="1">
              <a:spLocks noChangeArrowheads="1"/>
            </p:cNvSpPr>
            <p:nvPr/>
          </p:nvSpPr>
          <p:spPr bwMode="auto">
            <a:xfrm>
              <a:off x="2599" y="2292"/>
              <a:ext cx="316" cy="268"/>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A</a:t>
              </a:r>
              <a:endParaRPr lang="en-US" altLang="zh-CN" sz="1600" b="1">
                <a:effectLst>
                  <a:outerShdw blurRad="38100" dist="38100" dir="2700000" algn="tl">
                    <a:srgbClr val="C0C0C0"/>
                  </a:outerShdw>
                </a:effectLst>
              </a:endParaRPr>
            </a:p>
          </p:txBody>
        </p:sp>
        <p:sp>
          <p:nvSpPr>
            <p:cNvPr id="21557" name="Line 59"/>
            <p:cNvSpPr>
              <a:spLocks noChangeShapeType="1"/>
            </p:cNvSpPr>
            <p:nvPr/>
          </p:nvSpPr>
          <p:spPr bwMode="auto">
            <a:xfrm flipH="1">
              <a:off x="2185" y="2493"/>
              <a:ext cx="378" cy="0"/>
            </a:xfrm>
            <a:prstGeom prst="line">
              <a:avLst/>
            </a:prstGeom>
            <a:noFill/>
            <a:ln w="6350">
              <a:solidFill>
                <a:srgbClr val="000000"/>
              </a:solidFill>
              <a:round/>
              <a:headEnd/>
              <a:tailEnd/>
            </a:ln>
          </p:spPr>
          <p:txBody>
            <a:bodyPr/>
            <a:lstStyle/>
            <a:p>
              <a:endParaRPr lang="zh-CN" altLang="en-US"/>
            </a:p>
          </p:txBody>
        </p:sp>
        <p:sp>
          <p:nvSpPr>
            <p:cNvPr id="21558" name="Line 60"/>
            <p:cNvSpPr>
              <a:spLocks noChangeShapeType="1"/>
            </p:cNvSpPr>
            <p:nvPr/>
          </p:nvSpPr>
          <p:spPr bwMode="auto">
            <a:xfrm flipH="1">
              <a:off x="2185" y="3444"/>
              <a:ext cx="378" cy="0"/>
            </a:xfrm>
            <a:prstGeom prst="line">
              <a:avLst/>
            </a:prstGeom>
            <a:noFill/>
            <a:ln w="6350">
              <a:solidFill>
                <a:srgbClr val="000000"/>
              </a:solidFill>
              <a:round/>
              <a:headEnd/>
              <a:tailEnd/>
            </a:ln>
          </p:spPr>
          <p:txBody>
            <a:bodyPr/>
            <a:lstStyle/>
            <a:p>
              <a:endParaRPr lang="zh-CN" altLang="en-US"/>
            </a:p>
          </p:txBody>
        </p:sp>
        <p:sp>
          <p:nvSpPr>
            <p:cNvPr id="21559" name="Line 61"/>
            <p:cNvSpPr>
              <a:spLocks noChangeShapeType="1"/>
            </p:cNvSpPr>
            <p:nvPr/>
          </p:nvSpPr>
          <p:spPr bwMode="auto">
            <a:xfrm>
              <a:off x="2344" y="2493"/>
              <a:ext cx="0" cy="952"/>
            </a:xfrm>
            <a:prstGeom prst="line">
              <a:avLst/>
            </a:prstGeom>
            <a:noFill/>
            <a:ln w="6350">
              <a:solidFill>
                <a:srgbClr val="000000"/>
              </a:solidFill>
              <a:round/>
              <a:headEnd type="stealth" w="lg" len="lg"/>
              <a:tailEnd type="stealth" w="lg" len="lg"/>
            </a:ln>
          </p:spPr>
          <p:txBody>
            <a:bodyPr/>
            <a:lstStyle/>
            <a:p>
              <a:endParaRPr lang="zh-CN" altLang="en-US"/>
            </a:p>
          </p:txBody>
        </p:sp>
        <p:sp>
          <p:nvSpPr>
            <p:cNvPr id="582718" name="Text Box 62"/>
            <p:cNvSpPr txBox="1">
              <a:spLocks noChangeArrowheads="1"/>
            </p:cNvSpPr>
            <p:nvPr/>
          </p:nvSpPr>
          <p:spPr bwMode="auto">
            <a:xfrm>
              <a:off x="2003" y="2772"/>
              <a:ext cx="377" cy="378"/>
            </a:xfrm>
            <a:prstGeom prst="rect">
              <a:avLst/>
            </a:prstGeom>
            <a:noFill/>
            <a:ln w="9525">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rPr>
                <a:t>2</a:t>
              </a:r>
              <a:r>
                <a:rPr lang="en-US" altLang="zh-CN" sz="1600" b="1" i="1">
                  <a:effectLst>
                    <a:outerShdw blurRad="38100" dist="38100" dir="2700000" algn="tl">
                      <a:srgbClr val="C0C0C0"/>
                    </a:outerShdw>
                  </a:effectLst>
                  <a:latin typeface="Times New Roman" pitchFamily="18" charset="0"/>
                </a:rPr>
                <a:t>y</a:t>
              </a:r>
              <a:r>
                <a:rPr lang="en-US" altLang="zh-CN" sz="1600" b="1" baseline="-25000">
                  <a:effectLst>
                    <a:outerShdw blurRad="38100" dist="38100" dir="2700000" algn="tl">
                      <a:srgbClr val="C0C0C0"/>
                    </a:outerShdw>
                  </a:effectLst>
                  <a:latin typeface="Times New Roman" pitchFamily="18" charset="0"/>
                </a:rPr>
                <a:t>0</a:t>
              </a:r>
              <a:endParaRPr lang="en-US" altLang="zh-CN" sz="1600" b="1">
                <a:effectLst>
                  <a:outerShdw blurRad="38100" dist="38100" dir="2700000" algn="tl">
                    <a:srgbClr val="C0C0C0"/>
                  </a:outerShdw>
                </a:effectLst>
              </a:endParaRPr>
            </a:p>
          </p:txBody>
        </p:sp>
        <p:sp>
          <p:nvSpPr>
            <p:cNvPr id="21561" name="Line 63"/>
            <p:cNvSpPr>
              <a:spLocks noChangeShapeType="1"/>
            </p:cNvSpPr>
            <p:nvPr/>
          </p:nvSpPr>
          <p:spPr bwMode="auto">
            <a:xfrm>
              <a:off x="2611" y="2991"/>
              <a:ext cx="1935" cy="0"/>
            </a:xfrm>
            <a:prstGeom prst="line">
              <a:avLst/>
            </a:prstGeom>
            <a:noFill/>
            <a:ln w="6350">
              <a:solidFill>
                <a:srgbClr val="000000"/>
              </a:solidFill>
              <a:prstDash val="lgDashDot"/>
              <a:round/>
              <a:headEnd/>
              <a:tailEnd/>
            </a:ln>
          </p:spPr>
          <p:txBody>
            <a:bodyPr/>
            <a:lstStyle/>
            <a:p>
              <a:endParaRPr lang="zh-CN" altLang="en-US"/>
            </a:p>
          </p:txBody>
        </p:sp>
      </p:grpSp>
      <p:sp>
        <p:nvSpPr>
          <p:cNvPr id="21524" name="Rectangle 6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1506" name="Object 65"/>
          <p:cNvGraphicFramePr>
            <a:graphicFrameLocks noChangeAspect="1"/>
          </p:cNvGraphicFramePr>
          <p:nvPr/>
        </p:nvGraphicFramePr>
        <p:xfrm>
          <a:off x="1314450" y="3106738"/>
          <a:ext cx="1328738" cy="757237"/>
        </p:xfrm>
        <a:graphic>
          <a:graphicData uri="http://schemas.openxmlformats.org/presentationml/2006/ole">
            <p:oleObj spid="_x0000_s21506" name="公式" r:id="rId3" imgW="16459517" imgH="9449117" progId="Equation.3">
              <p:embed/>
            </p:oleObj>
          </a:graphicData>
        </a:graphic>
      </p:graphicFrame>
    </p:spTree>
  </p:cSld>
  <p:clrMapOvr>
    <a:masterClrMapping/>
  </p:clrMapOvr>
  <p:transition>
    <p:circl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p:cNvSpPr>
            <a:spLocks noGrp="1"/>
          </p:cNvSpPr>
          <p:nvPr>
            <p:ph type="dt" sz="quarter" idx="10"/>
          </p:nvPr>
        </p:nvSpPr>
        <p:spPr>
          <a:noFill/>
        </p:spPr>
        <p:txBody>
          <a:bodyPr/>
          <a:lstStyle/>
          <a:p>
            <a:fld id="{5B1C7EC3-6357-4E27-9E8F-2EB799481EFD}" type="datetime1">
              <a:rPr lang="zh-CN" altLang="en-US" smtClean="0"/>
              <a:pPr/>
              <a:t>2018/2/24</a:t>
            </a:fld>
            <a:endParaRPr lang="en-US" altLang="zh-CN" smtClean="0"/>
          </a:p>
        </p:txBody>
      </p:sp>
      <p:sp>
        <p:nvSpPr>
          <p:cNvPr id="102403" name="灯片编号占位符 5"/>
          <p:cNvSpPr>
            <a:spLocks noGrp="1"/>
          </p:cNvSpPr>
          <p:nvPr>
            <p:ph type="sldNum" sz="quarter" idx="12"/>
          </p:nvPr>
        </p:nvSpPr>
        <p:spPr>
          <a:noFill/>
        </p:spPr>
        <p:txBody>
          <a:bodyPr/>
          <a:lstStyle/>
          <a:p>
            <a:fld id="{1932979B-2298-4700-961C-0E9462002582}" type="slidenum">
              <a:rPr lang="en-US" altLang="zh-CN" smtClean="0"/>
              <a:pPr/>
              <a:t>35</a:t>
            </a:fld>
            <a:endParaRPr lang="en-US" altLang="zh-CN" smtClean="0"/>
          </a:p>
        </p:txBody>
      </p:sp>
      <p:sp>
        <p:nvSpPr>
          <p:cNvPr id="583682" name="Rectangle 2"/>
          <p:cNvSpPr>
            <a:spLocks noGrp="1" noChangeArrowheads="1"/>
          </p:cNvSpPr>
          <p:nvPr>
            <p:ph type="body" idx="1"/>
          </p:nvPr>
        </p:nvSpPr>
        <p:spPr>
          <a:xfrm>
            <a:off x="471488" y="1960563"/>
            <a:ext cx="8229600" cy="4805362"/>
          </a:xfrm>
        </p:spPr>
        <p:txBody>
          <a:bodyPr/>
          <a:lstStyle/>
          <a:p>
            <a:pPr eaLnBrk="1" hangingPunct="1">
              <a:defRPr/>
            </a:pPr>
            <a:r>
              <a:rPr lang="zh-CN" altLang="en-US" smtClean="0">
                <a:latin typeface="黑体" pitchFamily="2" charset="-122"/>
                <a:ea typeface="黑体" pitchFamily="2" charset="-122"/>
              </a:rPr>
              <a:t>关键技术：</a:t>
            </a:r>
            <a:r>
              <a:rPr lang="zh-CN" altLang="en-US" smtClean="0">
                <a:solidFill>
                  <a:srgbClr val="FF0000"/>
                </a:solidFill>
                <a:latin typeface="黑体" pitchFamily="2" charset="-122"/>
                <a:ea typeface="黑体" pitchFamily="2" charset="-122"/>
              </a:rPr>
              <a:t>自准直定焦</a:t>
            </a:r>
            <a:r>
              <a:rPr lang="zh-CN" altLang="en-US" smtClean="0">
                <a:latin typeface="黑体" pitchFamily="2" charset="-122"/>
                <a:ea typeface="黑体" pitchFamily="2" charset="-122"/>
              </a:rPr>
              <a:t> </a:t>
            </a:r>
          </a:p>
        </p:txBody>
      </p:sp>
      <p:sp>
        <p:nvSpPr>
          <p:cNvPr id="583683" name="Rectangle 3"/>
          <p:cNvSpPr>
            <a:spLocks noGrp="1" noRot="1" noChangeArrowheads="1"/>
          </p:cNvSpPr>
          <p:nvPr>
            <p:ph type="title"/>
          </p:nvPr>
        </p:nvSpPr>
        <p:spPr>
          <a:xfrm>
            <a:off x="557213" y="692150"/>
            <a:ext cx="7500937" cy="1139825"/>
          </a:xfrm>
        </p:spPr>
        <p:txBody>
          <a:bodyPr/>
          <a:lstStyle/>
          <a:p>
            <a:pPr algn="l" eaLnBrk="1"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             §2-2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焦距的测量</a:t>
            </a:r>
            <a:b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2800" b="1" dirty="0" smtClean="0">
                <a:solidFill>
                  <a:schemeClr val="tx1"/>
                </a:solidFill>
                <a:effectLst>
                  <a:outerShdw blurRad="38100" dist="38100" dir="2700000" algn="tl">
                    <a:srgbClr val="C0C0C0"/>
                  </a:outerShdw>
                </a:effectLst>
                <a:latin typeface="Times New Roman" pitchFamily="18" charset="0"/>
                <a:ea typeface="黑体" pitchFamily="2" charset="-122"/>
              </a:rPr>
              <a:t>4. </a:t>
            </a:r>
            <a:r>
              <a:rPr lang="zh-CN" altLang="en-US" sz="2800" b="1" dirty="0" smtClean="0">
                <a:solidFill>
                  <a:schemeClr val="tx1"/>
                </a:solidFill>
                <a:effectLst>
                  <a:outerShdw blurRad="38100" dist="38100" dir="2700000" algn="tl">
                    <a:srgbClr val="C0C0C0"/>
                  </a:outerShdw>
                </a:effectLst>
                <a:latin typeface="Times New Roman" pitchFamily="18" charset="0"/>
                <a:ea typeface="黑体" pitchFamily="2" charset="-122"/>
              </a:rPr>
              <a:t>精密测角法</a:t>
            </a:r>
          </a:p>
        </p:txBody>
      </p:sp>
      <p:sp>
        <p:nvSpPr>
          <p:cNvPr id="102406" name="Rectangle 4"/>
          <p:cNvSpPr>
            <a:spLocks noChangeArrowheads="1"/>
          </p:cNvSpPr>
          <p:nvPr/>
        </p:nvSpPr>
        <p:spPr bwMode="auto">
          <a:xfrm>
            <a:off x="0" y="2873375"/>
            <a:ext cx="9144000" cy="0"/>
          </a:xfrm>
          <a:prstGeom prst="rect">
            <a:avLst/>
          </a:prstGeom>
          <a:noFill/>
          <a:ln w="9525">
            <a:noFill/>
            <a:miter lim="800000"/>
            <a:headEnd/>
            <a:tailEnd/>
          </a:ln>
        </p:spPr>
        <p:txBody>
          <a:bodyPr wrap="none" anchor="ctr">
            <a:spAutoFit/>
          </a:bodyPr>
          <a:lstStyle/>
          <a:p>
            <a:endParaRPr lang="zh-CN" altLang="en-US"/>
          </a:p>
        </p:txBody>
      </p:sp>
      <p:sp>
        <p:nvSpPr>
          <p:cNvPr id="102407" name="Rectangle 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02408"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102409"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02410" name="Rectangle 8"/>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102411" name="Rectangle 9"/>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102412" name="Rectangle 10"/>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02413"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02414" name="Rectangle 12"/>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102415" name="Rectangle 13"/>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102416" name="Rectangle 1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02417" name="Rectangle 1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pSp>
        <p:nvGrpSpPr>
          <p:cNvPr id="102418" name="Group 16"/>
          <p:cNvGrpSpPr>
            <a:grpSpLocks/>
          </p:cNvGrpSpPr>
          <p:nvPr/>
        </p:nvGrpSpPr>
        <p:grpSpPr bwMode="auto">
          <a:xfrm>
            <a:off x="371475" y="2600325"/>
            <a:ext cx="8458200" cy="4257675"/>
            <a:chOff x="234" y="1638"/>
            <a:chExt cx="5328" cy="2682"/>
          </a:xfrm>
        </p:grpSpPr>
        <p:sp>
          <p:nvSpPr>
            <p:cNvPr id="102419" name="Rectangle 17"/>
            <p:cNvSpPr>
              <a:spLocks noChangeArrowheads="1"/>
            </p:cNvSpPr>
            <p:nvPr/>
          </p:nvSpPr>
          <p:spPr bwMode="auto">
            <a:xfrm>
              <a:off x="234" y="1638"/>
              <a:ext cx="5328" cy="268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02420" name="Oval 18"/>
            <p:cNvSpPr>
              <a:spLocks noChangeArrowheads="1"/>
            </p:cNvSpPr>
            <p:nvPr/>
          </p:nvSpPr>
          <p:spPr bwMode="auto">
            <a:xfrm>
              <a:off x="2589" y="2144"/>
              <a:ext cx="1338" cy="1265"/>
            </a:xfrm>
            <a:prstGeom prst="ellipse">
              <a:avLst/>
            </a:prstGeom>
            <a:noFill/>
            <a:ln w="9525">
              <a:solidFill>
                <a:srgbClr val="000000"/>
              </a:solidFill>
              <a:round/>
              <a:headEnd/>
              <a:tailEnd/>
            </a:ln>
          </p:spPr>
          <p:txBody>
            <a:bodyPr/>
            <a:lstStyle/>
            <a:p>
              <a:endParaRPr lang="zh-CN" altLang="en-US"/>
            </a:p>
          </p:txBody>
        </p:sp>
        <p:sp>
          <p:nvSpPr>
            <p:cNvPr id="102421" name="Oval 19"/>
            <p:cNvSpPr>
              <a:spLocks noChangeArrowheads="1"/>
            </p:cNvSpPr>
            <p:nvPr/>
          </p:nvSpPr>
          <p:spPr bwMode="auto">
            <a:xfrm>
              <a:off x="2679" y="2212"/>
              <a:ext cx="1180" cy="1115"/>
            </a:xfrm>
            <a:prstGeom prst="ellipse">
              <a:avLst/>
            </a:prstGeom>
            <a:noFill/>
            <a:ln w="9525">
              <a:solidFill>
                <a:srgbClr val="000000"/>
              </a:solidFill>
              <a:round/>
              <a:headEnd/>
              <a:tailEnd/>
            </a:ln>
          </p:spPr>
          <p:txBody>
            <a:bodyPr/>
            <a:lstStyle/>
            <a:p>
              <a:endParaRPr lang="zh-CN" altLang="en-US"/>
            </a:p>
          </p:txBody>
        </p:sp>
        <p:sp>
          <p:nvSpPr>
            <p:cNvPr id="102422" name="Oval 20"/>
            <p:cNvSpPr>
              <a:spLocks noChangeArrowheads="1"/>
            </p:cNvSpPr>
            <p:nvPr/>
          </p:nvSpPr>
          <p:spPr bwMode="auto">
            <a:xfrm>
              <a:off x="3186" y="2375"/>
              <a:ext cx="115" cy="789"/>
            </a:xfrm>
            <a:prstGeom prst="ellipse">
              <a:avLst/>
            </a:prstGeom>
            <a:noFill/>
            <a:ln w="9525">
              <a:solidFill>
                <a:srgbClr val="000000"/>
              </a:solidFill>
              <a:round/>
              <a:headEnd/>
              <a:tailEnd/>
            </a:ln>
          </p:spPr>
          <p:txBody>
            <a:bodyPr/>
            <a:lstStyle/>
            <a:p>
              <a:endParaRPr lang="zh-CN" altLang="en-US"/>
            </a:p>
          </p:txBody>
        </p:sp>
        <p:sp>
          <p:nvSpPr>
            <p:cNvPr id="102423" name="Rectangle 21"/>
            <p:cNvSpPr>
              <a:spLocks noChangeArrowheads="1"/>
            </p:cNvSpPr>
            <p:nvPr/>
          </p:nvSpPr>
          <p:spPr bwMode="auto">
            <a:xfrm>
              <a:off x="2006" y="2117"/>
              <a:ext cx="58" cy="1292"/>
            </a:xfrm>
            <a:prstGeom prst="rect">
              <a:avLst/>
            </a:prstGeom>
            <a:noFill/>
            <a:ln w="9525">
              <a:solidFill>
                <a:srgbClr val="000000"/>
              </a:solidFill>
              <a:miter lim="800000"/>
              <a:headEnd/>
              <a:tailEnd/>
            </a:ln>
          </p:spPr>
          <p:txBody>
            <a:bodyPr/>
            <a:lstStyle/>
            <a:p>
              <a:endParaRPr lang="zh-CN" altLang="en-US"/>
            </a:p>
          </p:txBody>
        </p:sp>
        <p:grpSp>
          <p:nvGrpSpPr>
            <p:cNvPr id="102424" name="Group 22"/>
            <p:cNvGrpSpPr>
              <a:grpSpLocks/>
            </p:cNvGrpSpPr>
            <p:nvPr/>
          </p:nvGrpSpPr>
          <p:grpSpPr bwMode="auto">
            <a:xfrm rot="1536464">
              <a:off x="3966" y="3168"/>
              <a:ext cx="887" cy="191"/>
              <a:chOff x="6114" y="11574"/>
              <a:chExt cx="1240" cy="280"/>
            </a:xfrm>
          </p:grpSpPr>
          <p:sp>
            <p:nvSpPr>
              <p:cNvPr id="102481" name="Rectangle 23"/>
              <p:cNvSpPr>
                <a:spLocks noChangeArrowheads="1"/>
              </p:cNvSpPr>
              <p:nvPr/>
            </p:nvSpPr>
            <p:spPr bwMode="auto">
              <a:xfrm>
                <a:off x="6114" y="11574"/>
                <a:ext cx="880" cy="280"/>
              </a:xfrm>
              <a:prstGeom prst="rect">
                <a:avLst/>
              </a:prstGeom>
              <a:noFill/>
              <a:ln w="9525">
                <a:solidFill>
                  <a:srgbClr val="000000"/>
                </a:solidFill>
                <a:prstDash val="dash"/>
                <a:miter lim="800000"/>
                <a:headEnd/>
                <a:tailEnd/>
              </a:ln>
            </p:spPr>
            <p:txBody>
              <a:bodyPr/>
              <a:lstStyle/>
              <a:p>
                <a:endParaRPr lang="zh-CN" altLang="en-US"/>
              </a:p>
            </p:txBody>
          </p:sp>
          <p:sp>
            <p:nvSpPr>
              <p:cNvPr id="102482" name="Rectangle 24"/>
              <p:cNvSpPr>
                <a:spLocks noChangeArrowheads="1"/>
              </p:cNvSpPr>
              <p:nvPr/>
            </p:nvSpPr>
            <p:spPr bwMode="auto">
              <a:xfrm>
                <a:off x="6994" y="11634"/>
                <a:ext cx="260" cy="160"/>
              </a:xfrm>
              <a:prstGeom prst="rect">
                <a:avLst/>
              </a:prstGeom>
              <a:noFill/>
              <a:ln w="9525">
                <a:solidFill>
                  <a:srgbClr val="000000"/>
                </a:solidFill>
                <a:prstDash val="dash"/>
                <a:miter lim="800000"/>
                <a:headEnd/>
                <a:tailEnd/>
              </a:ln>
            </p:spPr>
            <p:txBody>
              <a:bodyPr/>
              <a:lstStyle/>
              <a:p>
                <a:endParaRPr lang="zh-CN" altLang="en-US"/>
              </a:p>
            </p:txBody>
          </p:sp>
          <p:sp>
            <p:nvSpPr>
              <p:cNvPr id="102483" name="Line 25"/>
              <p:cNvSpPr>
                <a:spLocks noChangeShapeType="1"/>
              </p:cNvSpPr>
              <p:nvPr/>
            </p:nvSpPr>
            <p:spPr bwMode="auto">
              <a:xfrm>
                <a:off x="7334" y="11614"/>
                <a:ext cx="0" cy="220"/>
              </a:xfrm>
              <a:prstGeom prst="line">
                <a:avLst/>
              </a:prstGeom>
              <a:noFill/>
              <a:ln w="9525">
                <a:solidFill>
                  <a:srgbClr val="000000"/>
                </a:solidFill>
                <a:prstDash val="dash"/>
                <a:round/>
                <a:headEnd/>
                <a:tailEnd/>
              </a:ln>
            </p:spPr>
            <p:txBody>
              <a:bodyPr/>
              <a:lstStyle/>
              <a:p>
                <a:endParaRPr lang="zh-CN" altLang="en-US"/>
              </a:p>
            </p:txBody>
          </p:sp>
          <p:sp>
            <p:nvSpPr>
              <p:cNvPr id="102484" name="Line 26"/>
              <p:cNvSpPr>
                <a:spLocks noChangeShapeType="1"/>
              </p:cNvSpPr>
              <p:nvPr/>
            </p:nvSpPr>
            <p:spPr bwMode="auto">
              <a:xfrm flipV="1">
                <a:off x="7254" y="11614"/>
                <a:ext cx="80" cy="20"/>
              </a:xfrm>
              <a:prstGeom prst="line">
                <a:avLst/>
              </a:prstGeom>
              <a:noFill/>
              <a:ln w="9525">
                <a:solidFill>
                  <a:srgbClr val="000000"/>
                </a:solidFill>
                <a:prstDash val="dash"/>
                <a:round/>
                <a:headEnd/>
                <a:tailEnd/>
              </a:ln>
            </p:spPr>
            <p:txBody>
              <a:bodyPr/>
              <a:lstStyle/>
              <a:p>
                <a:endParaRPr lang="zh-CN" altLang="en-US"/>
              </a:p>
            </p:txBody>
          </p:sp>
          <p:sp>
            <p:nvSpPr>
              <p:cNvPr id="102485" name="Line 27"/>
              <p:cNvSpPr>
                <a:spLocks noChangeShapeType="1"/>
              </p:cNvSpPr>
              <p:nvPr/>
            </p:nvSpPr>
            <p:spPr bwMode="auto">
              <a:xfrm>
                <a:off x="7254" y="11794"/>
                <a:ext cx="100" cy="20"/>
              </a:xfrm>
              <a:prstGeom prst="line">
                <a:avLst/>
              </a:prstGeom>
              <a:noFill/>
              <a:ln w="9525">
                <a:solidFill>
                  <a:srgbClr val="000000"/>
                </a:solidFill>
                <a:prstDash val="dash"/>
                <a:round/>
                <a:headEnd/>
                <a:tailEnd/>
              </a:ln>
            </p:spPr>
            <p:txBody>
              <a:bodyPr/>
              <a:lstStyle/>
              <a:p>
                <a:endParaRPr lang="zh-CN" altLang="en-US"/>
              </a:p>
            </p:txBody>
          </p:sp>
        </p:grpSp>
        <p:grpSp>
          <p:nvGrpSpPr>
            <p:cNvPr id="102425" name="Group 28"/>
            <p:cNvGrpSpPr>
              <a:grpSpLocks/>
            </p:cNvGrpSpPr>
            <p:nvPr/>
          </p:nvGrpSpPr>
          <p:grpSpPr bwMode="auto">
            <a:xfrm rot="-1409359">
              <a:off x="3950" y="2207"/>
              <a:ext cx="889" cy="191"/>
              <a:chOff x="6114" y="11574"/>
              <a:chExt cx="1240" cy="280"/>
            </a:xfrm>
          </p:grpSpPr>
          <p:sp>
            <p:nvSpPr>
              <p:cNvPr id="102476" name="Rectangle 29"/>
              <p:cNvSpPr>
                <a:spLocks noChangeArrowheads="1"/>
              </p:cNvSpPr>
              <p:nvPr/>
            </p:nvSpPr>
            <p:spPr bwMode="auto">
              <a:xfrm>
                <a:off x="6114" y="11574"/>
                <a:ext cx="880" cy="280"/>
              </a:xfrm>
              <a:prstGeom prst="rect">
                <a:avLst/>
              </a:prstGeom>
              <a:noFill/>
              <a:ln w="9525">
                <a:solidFill>
                  <a:srgbClr val="000000"/>
                </a:solidFill>
                <a:miter lim="800000"/>
                <a:headEnd/>
                <a:tailEnd/>
              </a:ln>
            </p:spPr>
            <p:txBody>
              <a:bodyPr/>
              <a:lstStyle/>
              <a:p>
                <a:endParaRPr lang="zh-CN" altLang="en-US"/>
              </a:p>
            </p:txBody>
          </p:sp>
          <p:sp>
            <p:nvSpPr>
              <p:cNvPr id="102477" name="Rectangle 30"/>
              <p:cNvSpPr>
                <a:spLocks noChangeArrowheads="1"/>
              </p:cNvSpPr>
              <p:nvPr/>
            </p:nvSpPr>
            <p:spPr bwMode="auto">
              <a:xfrm>
                <a:off x="6994" y="11634"/>
                <a:ext cx="260" cy="160"/>
              </a:xfrm>
              <a:prstGeom prst="rect">
                <a:avLst/>
              </a:prstGeom>
              <a:noFill/>
              <a:ln w="9525">
                <a:solidFill>
                  <a:srgbClr val="000000"/>
                </a:solidFill>
                <a:miter lim="800000"/>
                <a:headEnd/>
                <a:tailEnd/>
              </a:ln>
            </p:spPr>
            <p:txBody>
              <a:bodyPr/>
              <a:lstStyle/>
              <a:p>
                <a:endParaRPr lang="zh-CN" altLang="en-US"/>
              </a:p>
            </p:txBody>
          </p:sp>
          <p:sp>
            <p:nvSpPr>
              <p:cNvPr id="102478" name="Line 31"/>
              <p:cNvSpPr>
                <a:spLocks noChangeShapeType="1"/>
              </p:cNvSpPr>
              <p:nvPr/>
            </p:nvSpPr>
            <p:spPr bwMode="auto">
              <a:xfrm>
                <a:off x="7334" y="11614"/>
                <a:ext cx="0" cy="220"/>
              </a:xfrm>
              <a:prstGeom prst="line">
                <a:avLst/>
              </a:prstGeom>
              <a:noFill/>
              <a:ln w="9525">
                <a:solidFill>
                  <a:srgbClr val="000000"/>
                </a:solidFill>
                <a:round/>
                <a:headEnd/>
                <a:tailEnd/>
              </a:ln>
            </p:spPr>
            <p:txBody>
              <a:bodyPr/>
              <a:lstStyle/>
              <a:p>
                <a:endParaRPr lang="zh-CN" altLang="en-US"/>
              </a:p>
            </p:txBody>
          </p:sp>
          <p:sp>
            <p:nvSpPr>
              <p:cNvPr id="102479" name="Line 32"/>
              <p:cNvSpPr>
                <a:spLocks noChangeShapeType="1"/>
              </p:cNvSpPr>
              <p:nvPr/>
            </p:nvSpPr>
            <p:spPr bwMode="auto">
              <a:xfrm flipV="1">
                <a:off x="7254" y="11614"/>
                <a:ext cx="80" cy="20"/>
              </a:xfrm>
              <a:prstGeom prst="line">
                <a:avLst/>
              </a:prstGeom>
              <a:noFill/>
              <a:ln w="9525">
                <a:solidFill>
                  <a:srgbClr val="000000"/>
                </a:solidFill>
                <a:round/>
                <a:headEnd/>
                <a:tailEnd/>
              </a:ln>
            </p:spPr>
            <p:txBody>
              <a:bodyPr/>
              <a:lstStyle/>
              <a:p>
                <a:endParaRPr lang="zh-CN" altLang="en-US"/>
              </a:p>
            </p:txBody>
          </p:sp>
          <p:sp>
            <p:nvSpPr>
              <p:cNvPr id="102480" name="Line 33"/>
              <p:cNvSpPr>
                <a:spLocks noChangeShapeType="1"/>
              </p:cNvSpPr>
              <p:nvPr/>
            </p:nvSpPr>
            <p:spPr bwMode="auto">
              <a:xfrm>
                <a:off x="7254" y="11794"/>
                <a:ext cx="100" cy="20"/>
              </a:xfrm>
              <a:prstGeom prst="line">
                <a:avLst/>
              </a:prstGeom>
              <a:noFill/>
              <a:ln w="9525">
                <a:solidFill>
                  <a:srgbClr val="000000"/>
                </a:solidFill>
                <a:round/>
                <a:headEnd/>
                <a:tailEnd/>
              </a:ln>
            </p:spPr>
            <p:txBody>
              <a:bodyPr/>
              <a:lstStyle/>
              <a:p>
                <a:endParaRPr lang="zh-CN" altLang="en-US"/>
              </a:p>
            </p:txBody>
          </p:sp>
        </p:grpSp>
        <p:sp>
          <p:nvSpPr>
            <p:cNvPr id="102426" name="Line 34"/>
            <p:cNvSpPr>
              <a:spLocks noChangeShapeType="1"/>
            </p:cNvSpPr>
            <p:nvPr/>
          </p:nvSpPr>
          <p:spPr bwMode="auto">
            <a:xfrm>
              <a:off x="1899" y="2212"/>
              <a:ext cx="3020" cy="1278"/>
            </a:xfrm>
            <a:prstGeom prst="line">
              <a:avLst/>
            </a:prstGeom>
            <a:noFill/>
            <a:ln w="6350">
              <a:solidFill>
                <a:srgbClr val="000000"/>
              </a:solidFill>
              <a:prstDash val="lgDashDot"/>
              <a:round/>
              <a:headEnd/>
              <a:tailEnd/>
            </a:ln>
          </p:spPr>
          <p:txBody>
            <a:bodyPr/>
            <a:lstStyle/>
            <a:p>
              <a:endParaRPr lang="zh-CN" altLang="en-US"/>
            </a:p>
          </p:txBody>
        </p:sp>
        <p:sp>
          <p:nvSpPr>
            <p:cNvPr id="102427" name="Line 35"/>
            <p:cNvSpPr>
              <a:spLocks noChangeShapeType="1"/>
            </p:cNvSpPr>
            <p:nvPr/>
          </p:nvSpPr>
          <p:spPr bwMode="auto">
            <a:xfrm flipV="1">
              <a:off x="1897" y="2049"/>
              <a:ext cx="3049" cy="1292"/>
            </a:xfrm>
            <a:prstGeom prst="line">
              <a:avLst/>
            </a:prstGeom>
            <a:noFill/>
            <a:ln w="6350">
              <a:solidFill>
                <a:srgbClr val="000000"/>
              </a:solidFill>
              <a:prstDash val="lgDashDot"/>
              <a:round/>
              <a:headEnd/>
              <a:tailEnd/>
            </a:ln>
          </p:spPr>
          <p:txBody>
            <a:bodyPr/>
            <a:lstStyle/>
            <a:p>
              <a:endParaRPr lang="zh-CN" altLang="en-US"/>
            </a:p>
          </p:txBody>
        </p:sp>
        <p:sp>
          <p:nvSpPr>
            <p:cNvPr id="102428" name="Line 36"/>
            <p:cNvSpPr>
              <a:spLocks noChangeShapeType="1"/>
            </p:cNvSpPr>
            <p:nvPr/>
          </p:nvSpPr>
          <p:spPr bwMode="auto">
            <a:xfrm>
              <a:off x="2064" y="3354"/>
              <a:ext cx="0" cy="449"/>
            </a:xfrm>
            <a:prstGeom prst="line">
              <a:avLst/>
            </a:prstGeom>
            <a:noFill/>
            <a:ln w="6350">
              <a:solidFill>
                <a:srgbClr val="000000"/>
              </a:solidFill>
              <a:round/>
              <a:headEnd/>
              <a:tailEnd/>
            </a:ln>
          </p:spPr>
          <p:txBody>
            <a:bodyPr/>
            <a:lstStyle/>
            <a:p>
              <a:endParaRPr lang="zh-CN" altLang="en-US"/>
            </a:p>
          </p:txBody>
        </p:sp>
        <p:sp>
          <p:nvSpPr>
            <p:cNvPr id="102429" name="Line 37"/>
            <p:cNvSpPr>
              <a:spLocks noChangeShapeType="1"/>
            </p:cNvSpPr>
            <p:nvPr/>
          </p:nvSpPr>
          <p:spPr bwMode="auto">
            <a:xfrm>
              <a:off x="3248" y="3164"/>
              <a:ext cx="1" cy="678"/>
            </a:xfrm>
            <a:prstGeom prst="line">
              <a:avLst/>
            </a:prstGeom>
            <a:noFill/>
            <a:ln w="6350">
              <a:solidFill>
                <a:srgbClr val="000000"/>
              </a:solidFill>
              <a:round/>
              <a:headEnd/>
              <a:tailEnd/>
            </a:ln>
          </p:spPr>
          <p:txBody>
            <a:bodyPr/>
            <a:lstStyle/>
            <a:p>
              <a:endParaRPr lang="zh-CN" altLang="en-US"/>
            </a:p>
          </p:txBody>
        </p:sp>
        <p:sp>
          <p:nvSpPr>
            <p:cNvPr id="102430" name="Line 38"/>
            <p:cNvSpPr>
              <a:spLocks noChangeShapeType="1"/>
            </p:cNvSpPr>
            <p:nvPr/>
          </p:nvSpPr>
          <p:spPr bwMode="auto">
            <a:xfrm>
              <a:off x="2062" y="3694"/>
              <a:ext cx="1180" cy="1"/>
            </a:xfrm>
            <a:prstGeom prst="line">
              <a:avLst/>
            </a:prstGeom>
            <a:noFill/>
            <a:ln w="6350">
              <a:solidFill>
                <a:srgbClr val="000000"/>
              </a:solidFill>
              <a:round/>
              <a:headEnd type="stealth" w="lg" len="lg"/>
              <a:tailEnd type="stealth" w="lg" len="lg"/>
            </a:ln>
          </p:spPr>
          <p:txBody>
            <a:bodyPr/>
            <a:lstStyle/>
            <a:p>
              <a:endParaRPr lang="zh-CN" altLang="en-US"/>
            </a:p>
          </p:txBody>
        </p:sp>
        <p:sp>
          <p:nvSpPr>
            <p:cNvPr id="102431" name="Arc 39"/>
            <p:cNvSpPr>
              <a:spLocks/>
            </p:cNvSpPr>
            <p:nvPr/>
          </p:nvSpPr>
          <p:spPr bwMode="auto">
            <a:xfrm rot="18976106" flipH="1">
              <a:off x="2430" y="2541"/>
              <a:ext cx="458" cy="695"/>
            </a:xfrm>
            <a:custGeom>
              <a:avLst/>
              <a:gdLst>
                <a:gd name="T0" fmla="*/ 0 w 19532"/>
                <a:gd name="T1" fmla="*/ 0 h 21600"/>
                <a:gd name="T2" fmla="*/ 0 w 19532"/>
                <a:gd name="T3" fmla="*/ 0 h 21600"/>
                <a:gd name="T4" fmla="*/ 0 w 19532"/>
                <a:gd name="T5" fmla="*/ 0 h 21600"/>
                <a:gd name="T6" fmla="*/ 0 60000 65536"/>
                <a:gd name="T7" fmla="*/ 0 60000 65536"/>
                <a:gd name="T8" fmla="*/ 0 60000 65536"/>
                <a:gd name="T9" fmla="*/ 0 w 19532"/>
                <a:gd name="T10" fmla="*/ 0 h 21600"/>
                <a:gd name="T11" fmla="*/ 19532 w 19532"/>
                <a:gd name="T12" fmla="*/ 21600 h 21600"/>
              </a:gdLst>
              <a:ahLst/>
              <a:cxnLst>
                <a:cxn ang="T6">
                  <a:pos x="T0" y="T1"/>
                </a:cxn>
                <a:cxn ang="T7">
                  <a:pos x="T2" y="T3"/>
                </a:cxn>
                <a:cxn ang="T8">
                  <a:pos x="T4" y="T5"/>
                </a:cxn>
              </a:cxnLst>
              <a:rect l="T9" t="T10" r="T11" b="T12"/>
              <a:pathLst>
                <a:path w="19532" h="21600" fill="none" extrusionOk="0">
                  <a:moveTo>
                    <a:pt x="-1" y="0"/>
                  </a:moveTo>
                  <a:cubicBezTo>
                    <a:pt x="8357" y="0"/>
                    <a:pt x="15964" y="4820"/>
                    <a:pt x="19532" y="12377"/>
                  </a:cubicBezTo>
                </a:path>
                <a:path w="19532" h="21600" stroke="0" extrusionOk="0">
                  <a:moveTo>
                    <a:pt x="-1" y="0"/>
                  </a:moveTo>
                  <a:cubicBezTo>
                    <a:pt x="8357" y="0"/>
                    <a:pt x="15964" y="4820"/>
                    <a:pt x="19532" y="12377"/>
                  </a:cubicBezTo>
                  <a:lnTo>
                    <a:pt x="0" y="21600"/>
                  </a:lnTo>
                  <a:close/>
                </a:path>
              </a:pathLst>
            </a:custGeom>
            <a:noFill/>
            <a:ln w="6350">
              <a:solidFill>
                <a:srgbClr val="000000"/>
              </a:solidFill>
              <a:round/>
              <a:headEnd type="stealth" w="lg" len="lg"/>
              <a:tailEnd type="stealth" w="lg" len="lg"/>
            </a:ln>
          </p:spPr>
          <p:txBody>
            <a:bodyPr/>
            <a:lstStyle/>
            <a:p>
              <a:endParaRPr lang="zh-CN" altLang="en-US"/>
            </a:p>
          </p:txBody>
        </p:sp>
        <p:sp>
          <p:nvSpPr>
            <p:cNvPr id="102432" name="Arc 40"/>
            <p:cNvSpPr>
              <a:spLocks/>
            </p:cNvSpPr>
            <p:nvPr/>
          </p:nvSpPr>
          <p:spPr bwMode="auto">
            <a:xfrm rot="2285351">
              <a:off x="4049" y="2420"/>
              <a:ext cx="683" cy="70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6350">
              <a:solidFill>
                <a:srgbClr val="000000"/>
              </a:solidFill>
              <a:round/>
              <a:headEnd type="stealth" w="lg" len="lg"/>
              <a:tailEnd type="stealth" w="lg" len="lg"/>
            </a:ln>
          </p:spPr>
          <p:txBody>
            <a:bodyPr/>
            <a:lstStyle/>
            <a:p>
              <a:endParaRPr lang="zh-CN" altLang="en-US"/>
            </a:p>
          </p:txBody>
        </p:sp>
        <p:sp>
          <p:nvSpPr>
            <p:cNvPr id="102433" name="Line 41"/>
            <p:cNvSpPr>
              <a:spLocks noChangeShapeType="1"/>
            </p:cNvSpPr>
            <p:nvPr/>
          </p:nvSpPr>
          <p:spPr bwMode="auto">
            <a:xfrm>
              <a:off x="1661" y="1927"/>
              <a:ext cx="647" cy="0"/>
            </a:xfrm>
            <a:prstGeom prst="line">
              <a:avLst/>
            </a:prstGeom>
            <a:noFill/>
            <a:ln w="6350">
              <a:solidFill>
                <a:srgbClr val="000000"/>
              </a:solidFill>
              <a:round/>
              <a:headEnd/>
              <a:tailEnd/>
            </a:ln>
          </p:spPr>
          <p:txBody>
            <a:bodyPr/>
            <a:lstStyle/>
            <a:p>
              <a:endParaRPr lang="zh-CN" altLang="en-US"/>
            </a:p>
          </p:txBody>
        </p:sp>
        <p:sp>
          <p:nvSpPr>
            <p:cNvPr id="102434" name="Line 42"/>
            <p:cNvSpPr>
              <a:spLocks noChangeShapeType="1"/>
            </p:cNvSpPr>
            <p:nvPr/>
          </p:nvSpPr>
          <p:spPr bwMode="auto">
            <a:xfrm flipH="1" flipV="1">
              <a:off x="1665" y="1927"/>
              <a:ext cx="361" cy="289"/>
            </a:xfrm>
            <a:prstGeom prst="line">
              <a:avLst/>
            </a:prstGeom>
            <a:noFill/>
            <a:ln w="6350">
              <a:solidFill>
                <a:srgbClr val="000000"/>
              </a:solidFill>
              <a:round/>
              <a:headEnd/>
              <a:tailEnd/>
            </a:ln>
          </p:spPr>
          <p:txBody>
            <a:bodyPr/>
            <a:lstStyle/>
            <a:p>
              <a:endParaRPr lang="zh-CN" altLang="en-US"/>
            </a:p>
          </p:txBody>
        </p:sp>
        <p:sp>
          <p:nvSpPr>
            <p:cNvPr id="102435" name="Line 43"/>
            <p:cNvSpPr>
              <a:spLocks noChangeShapeType="1"/>
            </p:cNvSpPr>
            <p:nvPr/>
          </p:nvSpPr>
          <p:spPr bwMode="auto">
            <a:xfrm>
              <a:off x="2427" y="1927"/>
              <a:ext cx="317" cy="0"/>
            </a:xfrm>
            <a:prstGeom prst="line">
              <a:avLst/>
            </a:prstGeom>
            <a:noFill/>
            <a:ln w="6350">
              <a:solidFill>
                <a:srgbClr val="000000"/>
              </a:solidFill>
              <a:round/>
              <a:headEnd/>
              <a:tailEnd/>
            </a:ln>
          </p:spPr>
          <p:txBody>
            <a:bodyPr/>
            <a:lstStyle/>
            <a:p>
              <a:endParaRPr lang="zh-CN" altLang="en-US"/>
            </a:p>
          </p:txBody>
        </p:sp>
        <p:sp>
          <p:nvSpPr>
            <p:cNvPr id="102436" name="Line 44"/>
            <p:cNvSpPr>
              <a:spLocks noChangeShapeType="1"/>
            </p:cNvSpPr>
            <p:nvPr/>
          </p:nvSpPr>
          <p:spPr bwMode="auto">
            <a:xfrm>
              <a:off x="2943" y="1927"/>
              <a:ext cx="576" cy="0"/>
            </a:xfrm>
            <a:prstGeom prst="line">
              <a:avLst/>
            </a:prstGeom>
            <a:noFill/>
            <a:ln w="6350">
              <a:solidFill>
                <a:srgbClr val="000000"/>
              </a:solidFill>
              <a:round/>
              <a:headEnd/>
              <a:tailEnd/>
            </a:ln>
          </p:spPr>
          <p:txBody>
            <a:bodyPr/>
            <a:lstStyle/>
            <a:p>
              <a:endParaRPr lang="zh-CN" altLang="en-US"/>
            </a:p>
          </p:txBody>
        </p:sp>
        <p:sp>
          <p:nvSpPr>
            <p:cNvPr id="102437" name="Line 45"/>
            <p:cNvSpPr>
              <a:spLocks noChangeShapeType="1"/>
            </p:cNvSpPr>
            <p:nvPr/>
          </p:nvSpPr>
          <p:spPr bwMode="auto">
            <a:xfrm>
              <a:off x="4065" y="1927"/>
              <a:ext cx="705" cy="0"/>
            </a:xfrm>
            <a:prstGeom prst="line">
              <a:avLst/>
            </a:prstGeom>
            <a:noFill/>
            <a:ln w="6350">
              <a:solidFill>
                <a:srgbClr val="000000"/>
              </a:solidFill>
              <a:round/>
              <a:headEnd/>
              <a:tailEnd/>
            </a:ln>
          </p:spPr>
          <p:txBody>
            <a:bodyPr/>
            <a:lstStyle/>
            <a:p>
              <a:endParaRPr lang="zh-CN" altLang="en-US"/>
            </a:p>
          </p:txBody>
        </p:sp>
        <p:sp>
          <p:nvSpPr>
            <p:cNvPr id="102438" name="Line 46"/>
            <p:cNvSpPr>
              <a:spLocks noChangeShapeType="1"/>
            </p:cNvSpPr>
            <p:nvPr/>
          </p:nvSpPr>
          <p:spPr bwMode="auto">
            <a:xfrm flipH="1" flipV="1">
              <a:off x="2416" y="1927"/>
              <a:ext cx="647" cy="476"/>
            </a:xfrm>
            <a:prstGeom prst="line">
              <a:avLst/>
            </a:prstGeom>
            <a:noFill/>
            <a:ln w="6350">
              <a:solidFill>
                <a:srgbClr val="000000"/>
              </a:solidFill>
              <a:round/>
              <a:headEnd/>
              <a:tailEnd/>
            </a:ln>
          </p:spPr>
          <p:txBody>
            <a:bodyPr/>
            <a:lstStyle/>
            <a:p>
              <a:endParaRPr lang="zh-CN" altLang="en-US"/>
            </a:p>
          </p:txBody>
        </p:sp>
        <p:sp>
          <p:nvSpPr>
            <p:cNvPr id="102439" name="Line 47"/>
            <p:cNvSpPr>
              <a:spLocks noChangeShapeType="1"/>
            </p:cNvSpPr>
            <p:nvPr/>
          </p:nvSpPr>
          <p:spPr bwMode="auto">
            <a:xfrm flipH="1" flipV="1">
              <a:off x="2941" y="1927"/>
              <a:ext cx="292" cy="525"/>
            </a:xfrm>
            <a:prstGeom prst="line">
              <a:avLst/>
            </a:prstGeom>
            <a:noFill/>
            <a:ln w="6350">
              <a:solidFill>
                <a:srgbClr val="000000"/>
              </a:solidFill>
              <a:round/>
              <a:headEnd/>
              <a:tailEnd/>
            </a:ln>
          </p:spPr>
          <p:txBody>
            <a:bodyPr/>
            <a:lstStyle/>
            <a:p>
              <a:endParaRPr lang="zh-CN" altLang="en-US"/>
            </a:p>
          </p:txBody>
        </p:sp>
        <p:sp>
          <p:nvSpPr>
            <p:cNvPr id="102440" name="Line 48"/>
            <p:cNvSpPr>
              <a:spLocks noChangeShapeType="1"/>
            </p:cNvSpPr>
            <p:nvPr/>
          </p:nvSpPr>
          <p:spPr bwMode="auto">
            <a:xfrm flipH="1" flipV="1">
              <a:off x="4058" y="1927"/>
              <a:ext cx="215" cy="421"/>
            </a:xfrm>
            <a:prstGeom prst="line">
              <a:avLst/>
            </a:prstGeom>
            <a:noFill/>
            <a:ln w="6350">
              <a:solidFill>
                <a:srgbClr val="000000"/>
              </a:solidFill>
              <a:round/>
              <a:headEnd/>
              <a:tailEnd/>
            </a:ln>
          </p:spPr>
          <p:txBody>
            <a:bodyPr/>
            <a:lstStyle/>
            <a:p>
              <a:endParaRPr lang="zh-CN" altLang="en-US"/>
            </a:p>
          </p:txBody>
        </p:sp>
        <p:sp>
          <p:nvSpPr>
            <p:cNvPr id="583729" name="Text Box 49"/>
            <p:cNvSpPr txBox="1">
              <a:spLocks noChangeArrowheads="1"/>
            </p:cNvSpPr>
            <p:nvPr/>
          </p:nvSpPr>
          <p:spPr bwMode="auto">
            <a:xfrm>
              <a:off x="4514" y="2484"/>
              <a:ext cx="446" cy="327"/>
            </a:xfrm>
            <a:prstGeom prst="rect">
              <a:avLst/>
            </a:prstGeom>
            <a:noFill/>
            <a:ln w="9525">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rPr>
                <a:t>2</a:t>
              </a:r>
              <a:r>
                <a:rPr lang="en-US" altLang="zh-CN" sz="1600" b="1" i="1">
                  <a:effectLst>
                    <a:outerShdw blurRad="38100" dist="38100" dir="2700000" algn="tl">
                      <a:srgbClr val="C0C0C0"/>
                    </a:outerShdw>
                  </a:effectLst>
                  <a:latin typeface="宋体" pitchFamily="2" charset="-122"/>
                </a:rPr>
                <a:t>ω</a:t>
              </a:r>
              <a:endParaRPr lang="en-US" altLang="zh-CN" sz="1600" b="1">
                <a:effectLst>
                  <a:outerShdw blurRad="38100" dist="38100" dir="2700000" algn="tl">
                    <a:srgbClr val="C0C0C0"/>
                  </a:outerShdw>
                </a:effectLst>
              </a:endParaRPr>
            </a:p>
          </p:txBody>
        </p:sp>
        <p:sp>
          <p:nvSpPr>
            <p:cNvPr id="583730" name="Text Box 50"/>
            <p:cNvSpPr txBox="1">
              <a:spLocks noChangeArrowheads="1"/>
            </p:cNvSpPr>
            <p:nvPr/>
          </p:nvSpPr>
          <p:spPr bwMode="auto">
            <a:xfrm>
              <a:off x="2175" y="2811"/>
              <a:ext cx="460" cy="367"/>
            </a:xfrm>
            <a:prstGeom prst="rect">
              <a:avLst/>
            </a:prstGeom>
            <a:noFill/>
            <a:ln w="9525">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rPr>
                <a:t>2</a:t>
              </a:r>
              <a:r>
                <a:rPr lang="en-US" altLang="zh-CN" sz="1600" b="1" i="1">
                  <a:effectLst>
                    <a:outerShdw blurRad="38100" dist="38100" dir="2700000" algn="tl">
                      <a:srgbClr val="C0C0C0"/>
                    </a:outerShdw>
                  </a:effectLst>
                  <a:latin typeface="Times New Roman" pitchFamily="18" charset="0"/>
                </a:rPr>
                <a:t>ω</a:t>
              </a:r>
              <a:endParaRPr lang="en-US" altLang="zh-CN" sz="1600" b="1">
                <a:effectLst>
                  <a:outerShdw blurRad="38100" dist="38100" dir="2700000" algn="tl">
                    <a:srgbClr val="C0C0C0"/>
                  </a:outerShdw>
                </a:effectLst>
              </a:endParaRPr>
            </a:p>
          </p:txBody>
        </p:sp>
        <p:sp>
          <p:nvSpPr>
            <p:cNvPr id="583731" name="Text Box 51"/>
            <p:cNvSpPr txBox="1">
              <a:spLocks noChangeArrowheads="1"/>
            </p:cNvSpPr>
            <p:nvPr/>
          </p:nvSpPr>
          <p:spPr bwMode="auto">
            <a:xfrm>
              <a:off x="2445" y="3433"/>
              <a:ext cx="460" cy="339"/>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f </a:t>
              </a:r>
              <a:r>
                <a:rPr lang="en-US" altLang="zh-CN" sz="1600" b="1">
                  <a:effectLst>
                    <a:outerShdw blurRad="38100" dist="38100" dir="2700000" algn="tl">
                      <a:srgbClr val="C0C0C0"/>
                    </a:outerShdw>
                  </a:effectLst>
                  <a:latin typeface="Times New Roman" pitchFamily="18" charset="0"/>
                </a:rPr>
                <a:t>′</a:t>
              </a:r>
              <a:endParaRPr lang="en-US" altLang="zh-CN" sz="1600" b="1">
                <a:effectLst>
                  <a:outerShdw blurRad="38100" dist="38100" dir="2700000" algn="tl">
                    <a:srgbClr val="C0C0C0"/>
                  </a:outerShdw>
                </a:effectLst>
              </a:endParaRPr>
            </a:p>
          </p:txBody>
        </p:sp>
        <p:sp>
          <p:nvSpPr>
            <p:cNvPr id="583732" name="Text Box 52"/>
            <p:cNvSpPr txBox="1">
              <a:spLocks noChangeArrowheads="1"/>
            </p:cNvSpPr>
            <p:nvPr/>
          </p:nvSpPr>
          <p:spPr bwMode="auto">
            <a:xfrm>
              <a:off x="1695" y="1675"/>
              <a:ext cx="647" cy="367"/>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刻线尺   </a:t>
              </a:r>
              <a:endParaRPr lang="zh-CN" altLang="en-US" sz="1600" b="1">
                <a:effectLst>
                  <a:outerShdw blurRad="38100" dist="38100" dir="2700000" algn="tl">
                    <a:srgbClr val="C0C0C0"/>
                  </a:outerShdw>
                </a:effectLst>
              </a:endParaRPr>
            </a:p>
          </p:txBody>
        </p:sp>
        <p:sp>
          <p:nvSpPr>
            <p:cNvPr id="583733" name="Text Box 53"/>
            <p:cNvSpPr txBox="1">
              <a:spLocks noChangeArrowheads="1"/>
            </p:cNvSpPr>
            <p:nvPr/>
          </p:nvSpPr>
          <p:spPr bwMode="auto">
            <a:xfrm>
              <a:off x="2370" y="1682"/>
              <a:ext cx="489" cy="313"/>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度盘</a:t>
              </a:r>
              <a:endParaRPr lang="zh-CN" altLang="en-US" sz="1600" b="1">
                <a:effectLst>
                  <a:outerShdw blurRad="38100" dist="38100" dir="2700000" algn="tl">
                    <a:srgbClr val="C0C0C0"/>
                  </a:outerShdw>
                </a:effectLst>
              </a:endParaRPr>
            </a:p>
          </p:txBody>
        </p:sp>
        <p:sp>
          <p:nvSpPr>
            <p:cNvPr id="583734" name="Text Box 54"/>
            <p:cNvSpPr txBox="1">
              <a:spLocks noChangeArrowheads="1"/>
            </p:cNvSpPr>
            <p:nvPr/>
          </p:nvSpPr>
          <p:spPr bwMode="auto">
            <a:xfrm>
              <a:off x="2914" y="1695"/>
              <a:ext cx="747" cy="313"/>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被测物镜  </a:t>
              </a:r>
            </a:p>
            <a:p>
              <a:pPr algn="just">
                <a:defRPr/>
              </a:pPr>
              <a:r>
                <a:rPr lang="zh-CN" altLang="en-US" sz="1600" b="1">
                  <a:effectLst>
                    <a:outerShdw blurRad="38100" dist="38100" dir="2700000" algn="tl">
                      <a:srgbClr val="C0C0C0"/>
                    </a:outerShdw>
                  </a:effectLst>
                  <a:latin typeface="Times New Roman" pitchFamily="18" charset="0"/>
                </a:rPr>
                <a:t>      </a:t>
              </a:r>
              <a:endParaRPr lang="zh-CN" altLang="en-US" sz="1600" b="1">
                <a:effectLst>
                  <a:outerShdw blurRad="38100" dist="38100" dir="2700000" algn="tl">
                    <a:srgbClr val="C0C0C0"/>
                  </a:outerShdw>
                </a:effectLst>
              </a:endParaRPr>
            </a:p>
          </p:txBody>
        </p:sp>
        <p:sp>
          <p:nvSpPr>
            <p:cNvPr id="583735" name="Text Box 55"/>
            <p:cNvSpPr txBox="1">
              <a:spLocks noChangeArrowheads="1"/>
            </p:cNvSpPr>
            <p:nvPr/>
          </p:nvSpPr>
          <p:spPr bwMode="auto">
            <a:xfrm>
              <a:off x="4061" y="1682"/>
              <a:ext cx="892" cy="40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观察望远镜</a:t>
              </a:r>
              <a:endParaRPr lang="zh-CN" altLang="en-US" sz="1600" b="1">
                <a:effectLst>
                  <a:outerShdw blurRad="38100" dist="38100" dir="2700000" algn="tl">
                    <a:srgbClr val="C0C0C0"/>
                  </a:outerShdw>
                </a:effectLst>
              </a:endParaRPr>
            </a:p>
          </p:txBody>
        </p:sp>
        <p:sp>
          <p:nvSpPr>
            <p:cNvPr id="583736" name="Text Box 56"/>
            <p:cNvSpPr txBox="1">
              <a:spLocks noChangeArrowheads="1"/>
            </p:cNvSpPr>
            <p:nvPr/>
          </p:nvSpPr>
          <p:spPr bwMode="auto">
            <a:xfrm>
              <a:off x="2005" y="3221"/>
              <a:ext cx="488" cy="367"/>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B</a:t>
              </a:r>
              <a:endParaRPr lang="en-US" altLang="zh-CN" sz="1600" b="1">
                <a:effectLst>
                  <a:outerShdw blurRad="38100" dist="38100" dir="2700000" algn="tl">
                    <a:srgbClr val="C0C0C0"/>
                  </a:outerShdw>
                </a:effectLst>
              </a:endParaRPr>
            </a:p>
          </p:txBody>
        </p:sp>
        <p:sp>
          <p:nvSpPr>
            <p:cNvPr id="583737" name="Text Box 57"/>
            <p:cNvSpPr txBox="1">
              <a:spLocks noChangeArrowheads="1"/>
            </p:cNvSpPr>
            <p:nvPr/>
          </p:nvSpPr>
          <p:spPr bwMode="auto">
            <a:xfrm>
              <a:off x="2037" y="2063"/>
              <a:ext cx="373" cy="299"/>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A</a:t>
              </a:r>
              <a:endParaRPr lang="en-US" altLang="zh-CN" sz="1600" b="1">
                <a:effectLst>
                  <a:outerShdw blurRad="38100" dist="38100" dir="2700000" algn="tl">
                    <a:srgbClr val="C0C0C0"/>
                  </a:outerShdw>
                </a:effectLst>
              </a:endParaRPr>
            </a:p>
          </p:txBody>
        </p:sp>
        <p:sp>
          <p:nvSpPr>
            <p:cNvPr id="583738" name="Text Box 58"/>
            <p:cNvSpPr txBox="1">
              <a:spLocks noChangeArrowheads="1"/>
            </p:cNvSpPr>
            <p:nvPr/>
          </p:nvSpPr>
          <p:spPr bwMode="auto">
            <a:xfrm>
              <a:off x="1971" y="2389"/>
              <a:ext cx="446" cy="422"/>
            </a:xfrm>
            <a:prstGeom prst="rect">
              <a:avLst/>
            </a:prstGeom>
            <a:noFill/>
            <a:ln w="9525">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rPr>
                <a:t>  2</a:t>
              </a:r>
              <a:r>
                <a:rPr lang="en-US" altLang="zh-CN" sz="1600" b="1" i="1">
                  <a:effectLst>
                    <a:outerShdw blurRad="38100" dist="38100" dir="2700000" algn="tl">
                      <a:srgbClr val="C0C0C0"/>
                    </a:outerShdw>
                  </a:effectLst>
                  <a:latin typeface="Times New Roman" pitchFamily="18" charset="0"/>
                </a:rPr>
                <a:t>y</a:t>
              </a:r>
              <a:r>
                <a:rPr lang="en-US" altLang="zh-CN" sz="1600" b="1" baseline="-25000">
                  <a:effectLst>
                    <a:outerShdw blurRad="38100" dist="38100" dir="2700000" algn="tl">
                      <a:srgbClr val="C0C0C0"/>
                    </a:outerShdw>
                  </a:effectLst>
                  <a:latin typeface="Times New Roman" pitchFamily="18" charset="0"/>
                </a:rPr>
                <a:t>0</a:t>
              </a:r>
              <a:endParaRPr lang="en-US" altLang="zh-CN" sz="1600" b="1">
                <a:effectLst>
                  <a:outerShdw blurRad="38100" dist="38100" dir="2700000" algn="tl">
                    <a:srgbClr val="C0C0C0"/>
                  </a:outerShdw>
                </a:effectLst>
              </a:endParaRPr>
            </a:p>
          </p:txBody>
        </p:sp>
        <p:sp>
          <p:nvSpPr>
            <p:cNvPr id="583739" name="Text Box 59"/>
            <p:cNvSpPr txBox="1">
              <a:spLocks noChangeArrowheads="1"/>
            </p:cNvSpPr>
            <p:nvPr/>
          </p:nvSpPr>
          <p:spPr bwMode="auto">
            <a:xfrm>
              <a:off x="1663" y="3953"/>
              <a:ext cx="2114" cy="367"/>
            </a:xfrm>
            <a:prstGeom prst="rect">
              <a:avLst/>
            </a:prstGeom>
            <a:noFill/>
            <a:ln w="9525">
              <a:noFill/>
              <a:miter lim="800000"/>
              <a:headEnd/>
              <a:tailEnd/>
            </a:ln>
          </p:spPr>
          <p:txBody>
            <a:bodyPr/>
            <a:lstStyle/>
            <a:p>
              <a:pPr algn="ctr">
                <a:defRPr/>
              </a:pPr>
              <a:r>
                <a:rPr lang="zh-CN" altLang="en-US" sz="2400" b="1">
                  <a:effectLst>
                    <a:outerShdw blurRad="38100" dist="38100" dir="2700000" algn="tl">
                      <a:srgbClr val="C0C0C0"/>
                    </a:outerShdw>
                  </a:effectLst>
                  <a:latin typeface="黑体" pitchFamily="2" charset="-122"/>
                  <a:ea typeface="黑体" pitchFamily="2" charset="-122"/>
                </a:rPr>
                <a:t>精密测角法测量装置图</a:t>
              </a:r>
              <a:endParaRPr lang="zh-CN" altLang="en-US" sz="2400" b="1">
                <a:effectLst>
                  <a:outerShdw blurRad="38100" dist="38100" dir="2700000" algn="tl">
                    <a:srgbClr val="C0C0C0"/>
                  </a:outerShdw>
                </a:effectLst>
              </a:endParaRPr>
            </a:p>
          </p:txBody>
        </p:sp>
        <p:sp>
          <p:nvSpPr>
            <p:cNvPr id="102452" name="Line 60"/>
            <p:cNvSpPr>
              <a:spLocks noChangeShapeType="1"/>
            </p:cNvSpPr>
            <p:nvPr/>
          </p:nvSpPr>
          <p:spPr bwMode="auto">
            <a:xfrm>
              <a:off x="296" y="2783"/>
              <a:ext cx="3984" cy="1"/>
            </a:xfrm>
            <a:prstGeom prst="line">
              <a:avLst/>
            </a:prstGeom>
            <a:noFill/>
            <a:ln w="6350">
              <a:solidFill>
                <a:srgbClr val="000000"/>
              </a:solidFill>
              <a:prstDash val="lgDashDot"/>
              <a:round/>
              <a:headEnd/>
              <a:tailEnd/>
            </a:ln>
          </p:spPr>
          <p:txBody>
            <a:bodyPr/>
            <a:lstStyle/>
            <a:p>
              <a:endParaRPr lang="zh-CN" altLang="en-US"/>
            </a:p>
          </p:txBody>
        </p:sp>
        <p:sp>
          <p:nvSpPr>
            <p:cNvPr id="102453" name="Rectangle 61"/>
            <p:cNvSpPr>
              <a:spLocks noChangeArrowheads="1"/>
            </p:cNvSpPr>
            <p:nvPr/>
          </p:nvSpPr>
          <p:spPr bwMode="auto">
            <a:xfrm rot="3154800">
              <a:off x="960" y="2728"/>
              <a:ext cx="897" cy="86"/>
            </a:xfrm>
            <a:prstGeom prst="rect">
              <a:avLst/>
            </a:prstGeom>
            <a:noFill/>
            <a:ln w="9525">
              <a:solidFill>
                <a:srgbClr val="000000"/>
              </a:solidFill>
              <a:miter lim="800000"/>
              <a:headEnd/>
              <a:tailEnd/>
            </a:ln>
          </p:spPr>
          <p:txBody>
            <a:bodyPr/>
            <a:lstStyle/>
            <a:p>
              <a:endParaRPr lang="zh-CN" altLang="en-US"/>
            </a:p>
          </p:txBody>
        </p:sp>
        <p:sp>
          <p:nvSpPr>
            <p:cNvPr id="102454" name="Line 62"/>
            <p:cNvSpPr>
              <a:spLocks noChangeShapeType="1"/>
            </p:cNvSpPr>
            <p:nvPr/>
          </p:nvSpPr>
          <p:spPr bwMode="auto">
            <a:xfrm>
              <a:off x="1479" y="2199"/>
              <a:ext cx="1" cy="584"/>
            </a:xfrm>
            <a:prstGeom prst="line">
              <a:avLst/>
            </a:prstGeom>
            <a:noFill/>
            <a:ln w="9525">
              <a:solidFill>
                <a:srgbClr val="000000"/>
              </a:solidFill>
              <a:round/>
              <a:headEnd/>
              <a:tailEnd/>
            </a:ln>
          </p:spPr>
          <p:txBody>
            <a:bodyPr/>
            <a:lstStyle/>
            <a:p>
              <a:endParaRPr lang="zh-CN" altLang="en-US"/>
            </a:p>
          </p:txBody>
        </p:sp>
        <p:grpSp>
          <p:nvGrpSpPr>
            <p:cNvPr id="102455" name="Group 63"/>
            <p:cNvGrpSpPr>
              <a:grpSpLocks/>
            </p:cNvGrpSpPr>
            <p:nvPr/>
          </p:nvGrpSpPr>
          <p:grpSpPr bwMode="auto">
            <a:xfrm>
              <a:off x="1403" y="2103"/>
              <a:ext cx="144" cy="136"/>
              <a:chOff x="1814" y="5474"/>
              <a:chExt cx="200" cy="200"/>
            </a:xfrm>
          </p:grpSpPr>
          <p:sp>
            <p:nvSpPr>
              <p:cNvPr id="102473" name="Oval 64"/>
              <p:cNvSpPr>
                <a:spLocks noChangeArrowheads="1"/>
              </p:cNvSpPr>
              <p:nvPr/>
            </p:nvSpPr>
            <p:spPr bwMode="auto">
              <a:xfrm>
                <a:off x="1814" y="5474"/>
                <a:ext cx="200" cy="200"/>
              </a:xfrm>
              <a:prstGeom prst="ellipse">
                <a:avLst/>
              </a:prstGeom>
              <a:noFill/>
              <a:ln w="9525">
                <a:solidFill>
                  <a:srgbClr val="000000"/>
                </a:solidFill>
                <a:round/>
                <a:headEnd/>
                <a:tailEnd/>
              </a:ln>
            </p:spPr>
            <p:txBody>
              <a:bodyPr/>
              <a:lstStyle/>
              <a:p>
                <a:endParaRPr lang="zh-CN" altLang="en-US"/>
              </a:p>
            </p:txBody>
          </p:sp>
          <p:sp>
            <p:nvSpPr>
              <p:cNvPr id="102474" name="Line 65"/>
              <p:cNvSpPr>
                <a:spLocks noChangeShapeType="1"/>
              </p:cNvSpPr>
              <p:nvPr/>
            </p:nvSpPr>
            <p:spPr bwMode="auto">
              <a:xfrm flipH="1">
                <a:off x="1834" y="5514"/>
                <a:ext cx="140" cy="120"/>
              </a:xfrm>
              <a:prstGeom prst="line">
                <a:avLst/>
              </a:prstGeom>
              <a:noFill/>
              <a:ln w="9525">
                <a:solidFill>
                  <a:srgbClr val="000000"/>
                </a:solidFill>
                <a:round/>
                <a:headEnd/>
                <a:tailEnd/>
              </a:ln>
            </p:spPr>
            <p:txBody>
              <a:bodyPr/>
              <a:lstStyle/>
              <a:p>
                <a:endParaRPr lang="zh-CN" altLang="en-US"/>
              </a:p>
            </p:txBody>
          </p:sp>
          <p:sp>
            <p:nvSpPr>
              <p:cNvPr id="102475" name="Line 66"/>
              <p:cNvSpPr>
                <a:spLocks noChangeShapeType="1"/>
              </p:cNvSpPr>
              <p:nvPr/>
            </p:nvSpPr>
            <p:spPr bwMode="auto">
              <a:xfrm>
                <a:off x="1834" y="5514"/>
                <a:ext cx="140" cy="120"/>
              </a:xfrm>
              <a:prstGeom prst="line">
                <a:avLst/>
              </a:prstGeom>
              <a:noFill/>
              <a:ln w="9525">
                <a:solidFill>
                  <a:srgbClr val="000000"/>
                </a:solidFill>
                <a:round/>
                <a:headEnd/>
                <a:tailEnd/>
              </a:ln>
            </p:spPr>
            <p:txBody>
              <a:bodyPr/>
              <a:lstStyle/>
              <a:p>
                <a:endParaRPr lang="zh-CN" altLang="en-US"/>
              </a:p>
            </p:txBody>
          </p:sp>
        </p:grpSp>
        <p:sp>
          <p:nvSpPr>
            <p:cNvPr id="102456" name="Oval 67"/>
            <p:cNvSpPr>
              <a:spLocks noChangeArrowheads="1"/>
            </p:cNvSpPr>
            <p:nvPr/>
          </p:nvSpPr>
          <p:spPr bwMode="auto">
            <a:xfrm>
              <a:off x="847" y="2389"/>
              <a:ext cx="129" cy="789"/>
            </a:xfrm>
            <a:prstGeom prst="ellipse">
              <a:avLst/>
            </a:prstGeom>
            <a:noFill/>
            <a:ln w="9525">
              <a:solidFill>
                <a:srgbClr val="000000"/>
              </a:solidFill>
              <a:round/>
              <a:headEnd/>
              <a:tailEnd/>
            </a:ln>
          </p:spPr>
          <p:txBody>
            <a:bodyPr/>
            <a:lstStyle/>
            <a:p>
              <a:endParaRPr lang="zh-CN" altLang="en-US"/>
            </a:p>
          </p:txBody>
        </p:sp>
        <p:sp>
          <p:nvSpPr>
            <p:cNvPr id="102457" name="Oval 68"/>
            <p:cNvSpPr>
              <a:spLocks noChangeArrowheads="1"/>
            </p:cNvSpPr>
            <p:nvPr/>
          </p:nvSpPr>
          <p:spPr bwMode="auto">
            <a:xfrm>
              <a:off x="414" y="2566"/>
              <a:ext cx="86" cy="435"/>
            </a:xfrm>
            <a:prstGeom prst="ellipse">
              <a:avLst/>
            </a:prstGeom>
            <a:solidFill>
              <a:schemeClr val="accent1"/>
            </a:solidFill>
            <a:ln w="9525">
              <a:solidFill>
                <a:srgbClr val="000000"/>
              </a:solidFill>
              <a:round/>
              <a:headEnd/>
              <a:tailEnd/>
            </a:ln>
          </p:spPr>
          <p:txBody>
            <a:bodyPr/>
            <a:lstStyle/>
            <a:p>
              <a:endParaRPr lang="zh-CN" altLang="en-US"/>
            </a:p>
          </p:txBody>
        </p:sp>
        <p:sp>
          <p:nvSpPr>
            <p:cNvPr id="102458" name="Oval 69"/>
            <p:cNvSpPr>
              <a:spLocks noChangeArrowheads="1"/>
            </p:cNvSpPr>
            <p:nvPr/>
          </p:nvSpPr>
          <p:spPr bwMode="auto">
            <a:xfrm>
              <a:off x="454" y="2566"/>
              <a:ext cx="87" cy="435"/>
            </a:xfrm>
            <a:prstGeom prst="ellipse">
              <a:avLst/>
            </a:prstGeom>
            <a:solidFill>
              <a:schemeClr val="accent1"/>
            </a:solidFill>
            <a:ln w="9525">
              <a:solidFill>
                <a:srgbClr val="000000"/>
              </a:solidFill>
              <a:round/>
              <a:headEnd/>
              <a:tailEnd/>
            </a:ln>
          </p:spPr>
          <p:txBody>
            <a:bodyPr/>
            <a:lstStyle/>
            <a:p>
              <a:endParaRPr lang="zh-CN" altLang="en-US"/>
            </a:p>
          </p:txBody>
        </p:sp>
        <p:sp>
          <p:nvSpPr>
            <p:cNvPr id="102459" name="Line 70"/>
            <p:cNvSpPr>
              <a:spLocks noChangeShapeType="1"/>
            </p:cNvSpPr>
            <p:nvPr/>
          </p:nvSpPr>
          <p:spPr bwMode="auto">
            <a:xfrm flipV="1">
              <a:off x="442" y="2566"/>
              <a:ext cx="58" cy="13"/>
            </a:xfrm>
            <a:prstGeom prst="line">
              <a:avLst/>
            </a:prstGeom>
            <a:noFill/>
            <a:ln w="9525">
              <a:solidFill>
                <a:srgbClr val="000000"/>
              </a:solidFill>
              <a:round/>
              <a:headEnd/>
              <a:tailEnd/>
            </a:ln>
          </p:spPr>
          <p:txBody>
            <a:bodyPr/>
            <a:lstStyle/>
            <a:p>
              <a:endParaRPr lang="zh-CN" altLang="en-US"/>
            </a:p>
          </p:txBody>
        </p:sp>
        <p:sp>
          <p:nvSpPr>
            <p:cNvPr id="102460" name="Line 71"/>
            <p:cNvSpPr>
              <a:spLocks noChangeShapeType="1"/>
            </p:cNvSpPr>
            <p:nvPr/>
          </p:nvSpPr>
          <p:spPr bwMode="auto">
            <a:xfrm>
              <a:off x="442" y="3001"/>
              <a:ext cx="58" cy="1"/>
            </a:xfrm>
            <a:prstGeom prst="line">
              <a:avLst/>
            </a:prstGeom>
            <a:noFill/>
            <a:ln w="9525">
              <a:solidFill>
                <a:srgbClr val="000000"/>
              </a:solidFill>
              <a:round/>
              <a:headEnd/>
              <a:tailEnd/>
            </a:ln>
          </p:spPr>
          <p:txBody>
            <a:bodyPr/>
            <a:lstStyle/>
            <a:p>
              <a:endParaRPr lang="zh-CN" altLang="en-US"/>
            </a:p>
          </p:txBody>
        </p:sp>
        <p:sp>
          <p:nvSpPr>
            <p:cNvPr id="583752" name="Text Box 72"/>
            <p:cNvSpPr txBox="1">
              <a:spLocks noChangeArrowheads="1"/>
            </p:cNvSpPr>
            <p:nvPr/>
          </p:nvSpPr>
          <p:spPr bwMode="auto">
            <a:xfrm>
              <a:off x="677" y="3354"/>
              <a:ext cx="1101" cy="30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自准直高斯目镜</a:t>
              </a:r>
              <a:endParaRPr lang="zh-CN" altLang="en-US" sz="1600" b="1">
                <a:effectLst>
                  <a:outerShdw blurRad="38100" dist="38100" dir="2700000" algn="tl">
                    <a:srgbClr val="C0C0C0"/>
                  </a:outerShdw>
                </a:effectLst>
              </a:endParaRPr>
            </a:p>
          </p:txBody>
        </p:sp>
        <p:sp>
          <p:nvSpPr>
            <p:cNvPr id="102462" name="Rectangle 73"/>
            <p:cNvSpPr>
              <a:spLocks noChangeArrowheads="1"/>
            </p:cNvSpPr>
            <p:nvPr/>
          </p:nvSpPr>
          <p:spPr bwMode="auto">
            <a:xfrm>
              <a:off x="3417" y="2525"/>
              <a:ext cx="129" cy="489"/>
            </a:xfrm>
            <a:prstGeom prst="rect">
              <a:avLst/>
            </a:prstGeom>
            <a:noFill/>
            <a:ln w="9525">
              <a:solidFill>
                <a:srgbClr val="000000"/>
              </a:solidFill>
              <a:miter lim="800000"/>
              <a:headEnd/>
              <a:tailEnd/>
            </a:ln>
          </p:spPr>
          <p:txBody>
            <a:bodyPr/>
            <a:lstStyle/>
            <a:p>
              <a:endParaRPr lang="zh-CN" altLang="en-US"/>
            </a:p>
          </p:txBody>
        </p:sp>
        <p:sp>
          <p:nvSpPr>
            <p:cNvPr id="102463" name="Line 74"/>
            <p:cNvSpPr>
              <a:spLocks noChangeShapeType="1"/>
            </p:cNvSpPr>
            <p:nvPr/>
          </p:nvSpPr>
          <p:spPr bwMode="auto">
            <a:xfrm flipH="1">
              <a:off x="3420" y="2552"/>
              <a:ext cx="58" cy="41"/>
            </a:xfrm>
            <a:prstGeom prst="line">
              <a:avLst/>
            </a:prstGeom>
            <a:noFill/>
            <a:ln w="9525">
              <a:solidFill>
                <a:srgbClr val="000000"/>
              </a:solidFill>
              <a:round/>
              <a:headEnd/>
              <a:tailEnd/>
            </a:ln>
          </p:spPr>
          <p:txBody>
            <a:bodyPr/>
            <a:lstStyle/>
            <a:p>
              <a:endParaRPr lang="zh-CN" altLang="en-US"/>
            </a:p>
          </p:txBody>
        </p:sp>
        <p:sp>
          <p:nvSpPr>
            <p:cNvPr id="102464" name="Line 75"/>
            <p:cNvSpPr>
              <a:spLocks noChangeShapeType="1"/>
            </p:cNvSpPr>
            <p:nvPr/>
          </p:nvSpPr>
          <p:spPr bwMode="auto">
            <a:xfrm flipH="1">
              <a:off x="3420" y="2647"/>
              <a:ext cx="58" cy="41"/>
            </a:xfrm>
            <a:prstGeom prst="line">
              <a:avLst/>
            </a:prstGeom>
            <a:noFill/>
            <a:ln w="9525">
              <a:solidFill>
                <a:srgbClr val="000000"/>
              </a:solidFill>
              <a:round/>
              <a:headEnd/>
              <a:tailEnd/>
            </a:ln>
          </p:spPr>
          <p:txBody>
            <a:bodyPr/>
            <a:lstStyle/>
            <a:p>
              <a:endParaRPr lang="zh-CN" altLang="en-US"/>
            </a:p>
          </p:txBody>
        </p:sp>
        <p:sp>
          <p:nvSpPr>
            <p:cNvPr id="102465" name="Line 76"/>
            <p:cNvSpPr>
              <a:spLocks noChangeShapeType="1"/>
            </p:cNvSpPr>
            <p:nvPr/>
          </p:nvSpPr>
          <p:spPr bwMode="auto">
            <a:xfrm flipH="1">
              <a:off x="3420" y="2743"/>
              <a:ext cx="58" cy="40"/>
            </a:xfrm>
            <a:prstGeom prst="line">
              <a:avLst/>
            </a:prstGeom>
            <a:noFill/>
            <a:ln w="9525">
              <a:solidFill>
                <a:srgbClr val="000000"/>
              </a:solidFill>
              <a:round/>
              <a:headEnd/>
              <a:tailEnd/>
            </a:ln>
          </p:spPr>
          <p:txBody>
            <a:bodyPr/>
            <a:lstStyle/>
            <a:p>
              <a:endParaRPr lang="zh-CN" altLang="en-US"/>
            </a:p>
          </p:txBody>
        </p:sp>
        <p:sp>
          <p:nvSpPr>
            <p:cNvPr id="102466" name="Line 77"/>
            <p:cNvSpPr>
              <a:spLocks noChangeShapeType="1"/>
            </p:cNvSpPr>
            <p:nvPr/>
          </p:nvSpPr>
          <p:spPr bwMode="auto">
            <a:xfrm flipH="1">
              <a:off x="3420" y="2811"/>
              <a:ext cx="58" cy="40"/>
            </a:xfrm>
            <a:prstGeom prst="line">
              <a:avLst/>
            </a:prstGeom>
            <a:noFill/>
            <a:ln w="9525">
              <a:solidFill>
                <a:srgbClr val="000000"/>
              </a:solidFill>
              <a:round/>
              <a:headEnd/>
              <a:tailEnd/>
            </a:ln>
          </p:spPr>
          <p:txBody>
            <a:bodyPr/>
            <a:lstStyle/>
            <a:p>
              <a:endParaRPr lang="zh-CN" altLang="en-US"/>
            </a:p>
          </p:txBody>
        </p:sp>
        <p:sp>
          <p:nvSpPr>
            <p:cNvPr id="102467" name="Line 78"/>
            <p:cNvSpPr>
              <a:spLocks noChangeShapeType="1"/>
            </p:cNvSpPr>
            <p:nvPr/>
          </p:nvSpPr>
          <p:spPr bwMode="auto">
            <a:xfrm flipH="1">
              <a:off x="3420" y="2892"/>
              <a:ext cx="58" cy="41"/>
            </a:xfrm>
            <a:prstGeom prst="line">
              <a:avLst/>
            </a:prstGeom>
            <a:noFill/>
            <a:ln w="9525">
              <a:solidFill>
                <a:srgbClr val="000000"/>
              </a:solidFill>
              <a:round/>
              <a:headEnd/>
              <a:tailEnd/>
            </a:ln>
          </p:spPr>
          <p:txBody>
            <a:bodyPr/>
            <a:lstStyle/>
            <a:p>
              <a:endParaRPr lang="zh-CN" altLang="en-US"/>
            </a:p>
          </p:txBody>
        </p:sp>
        <p:sp>
          <p:nvSpPr>
            <p:cNvPr id="102468" name="Line 79"/>
            <p:cNvSpPr>
              <a:spLocks noChangeShapeType="1"/>
            </p:cNvSpPr>
            <p:nvPr/>
          </p:nvSpPr>
          <p:spPr bwMode="auto">
            <a:xfrm flipH="1">
              <a:off x="3420" y="2960"/>
              <a:ext cx="58" cy="41"/>
            </a:xfrm>
            <a:prstGeom prst="line">
              <a:avLst/>
            </a:prstGeom>
            <a:noFill/>
            <a:ln w="9525">
              <a:solidFill>
                <a:srgbClr val="000000"/>
              </a:solidFill>
              <a:round/>
              <a:headEnd/>
              <a:tailEnd/>
            </a:ln>
          </p:spPr>
          <p:txBody>
            <a:bodyPr/>
            <a:lstStyle/>
            <a:p>
              <a:endParaRPr lang="zh-CN" altLang="en-US"/>
            </a:p>
          </p:txBody>
        </p:sp>
        <p:sp>
          <p:nvSpPr>
            <p:cNvPr id="102469" name="Line 80"/>
            <p:cNvSpPr>
              <a:spLocks noChangeShapeType="1"/>
            </p:cNvSpPr>
            <p:nvPr/>
          </p:nvSpPr>
          <p:spPr bwMode="auto">
            <a:xfrm>
              <a:off x="3495" y="2987"/>
              <a:ext cx="187" cy="748"/>
            </a:xfrm>
            <a:prstGeom prst="line">
              <a:avLst/>
            </a:prstGeom>
            <a:noFill/>
            <a:ln w="6350">
              <a:solidFill>
                <a:srgbClr val="000000"/>
              </a:solidFill>
              <a:round/>
              <a:headEnd/>
              <a:tailEnd/>
            </a:ln>
          </p:spPr>
          <p:txBody>
            <a:bodyPr/>
            <a:lstStyle/>
            <a:p>
              <a:endParaRPr lang="zh-CN" altLang="en-US"/>
            </a:p>
          </p:txBody>
        </p:sp>
        <p:sp>
          <p:nvSpPr>
            <p:cNvPr id="102470" name="Line 81"/>
            <p:cNvSpPr>
              <a:spLocks noChangeShapeType="1"/>
            </p:cNvSpPr>
            <p:nvPr/>
          </p:nvSpPr>
          <p:spPr bwMode="auto">
            <a:xfrm flipV="1">
              <a:off x="3682" y="3738"/>
              <a:ext cx="714" cy="4"/>
            </a:xfrm>
            <a:prstGeom prst="line">
              <a:avLst/>
            </a:prstGeom>
            <a:noFill/>
            <a:ln w="6350">
              <a:solidFill>
                <a:srgbClr val="000000"/>
              </a:solidFill>
              <a:round/>
              <a:headEnd/>
              <a:tailEnd/>
            </a:ln>
          </p:spPr>
          <p:txBody>
            <a:bodyPr/>
            <a:lstStyle/>
            <a:p>
              <a:endParaRPr lang="zh-CN" altLang="en-US"/>
            </a:p>
          </p:txBody>
        </p:sp>
        <p:sp>
          <p:nvSpPr>
            <p:cNvPr id="583762" name="Text Box 82"/>
            <p:cNvSpPr txBox="1">
              <a:spLocks noChangeArrowheads="1"/>
            </p:cNvSpPr>
            <p:nvPr/>
          </p:nvSpPr>
          <p:spPr bwMode="auto">
            <a:xfrm>
              <a:off x="3676" y="3490"/>
              <a:ext cx="862" cy="286"/>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平面反射镜</a:t>
              </a:r>
              <a:endParaRPr lang="zh-CN" altLang="en-US" sz="1600" b="1">
                <a:effectLst>
                  <a:outerShdw blurRad="38100" dist="38100" dir="2700000" algn="tl">
                    <a:srgbClr val="C0C0C0"/>
                  </a:outerShdw>
                </a:effectLst>
              </a:endParaRPr>
            </a:p>
          </p:txBody>
        </p:sp>
        <p:sp>
          <p:nvSpPr>
            <p:cNvPr id="102472" name="AutoShape 83"/>
            <p:cNvSpPr>
              <a:spLocks/>
            </p:cNvSpPr>
            <p:nvPr/>
          </p:nvSpPr>
          <p:spPr bwMode="auto">
            <a:xfrm rot="-5400000">
              <a:off x="1036" y="2667"/>
              <a:ext cx="129" cy="1272"/>
            </a:xfrm>
            <a:prstGeom prst="leftBrace">
              <a:avLst>
                <a:gd name="adj1" fmla="val 82171"/>
                <a:gd name="adj2" fmla="val 50000"/>
              </a:avLst>
            </a:prstGeom>
            <a:noFill/>
            <a:ln w="6350">
              <a:solidFill>
                <a:srgbClr val="000000"/>
              </a:solidFill>
              <a:round/>
              <a:headEnd/>
              <a:tailEnd/>
            </a:ln>
          </p:spPr>
          <p:txBody>
            <a:bodyPr/>
            <a:lstStyle/>
            <a:p>
              <a:endParaRPr lang="zh-CN" altLang="en-US"/>
            </a:p>
          </p:txBody>
        </p:sp>
      </p:grpSp>
    </p:spTree>
  </p:cSld>
  <p:clrMapOvr>
    <a:masterClrMapping/>
  </p:clrMapOvr>
  <p:transition>
    <p:circl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a:spLocks noGrp="1"/>
          </p:cNvSpPr>
          <p:nvPr>
            <p:ph type="dt" sz="quarter" idx="10"/>
          </p:nvPr>
        </p:nvSpPr>
        <p:spPr>
          <a:noFill/>
        </p:spPr>
        <p:txBody>
          <a:bodyPr/>
          <a:lstStyle/>
          <a:p>
            <a:fld id="{853AE4C5-85A0-4A2F-BE82-E6D3AC0E4633}" type="datetime1">
              <a:rPr lang="zh-CN" altLang="en-US" smtClean="0"/>
              <a:pPr/>
              <a:t>2018/2/24</a:t>
            </a:fld>
            <a:endParaRPr lang="en-US" altLang="zh-CN" smtClean="0"/>
          </a:p>
        </p:txBody>
      </p:sp>
      <p:sp>
        <p:nvSpPr>
          <p:cNvPr id="103427" name="灯片编号占位符 5"/>
          <p:cNvSpPr>
            <a:spLocks noGrp="1"/>
          </p:cNvSpPr>
          <p:nvPr>
            <p:ph type="sldNum" sz="quarter" idx="12"/>
          </p:nvPr>
        </p:nvSpPr>
        <p:spPr>
          <a:noFill/>
        </p:spPr>
        <p:txBody>
          <a:bodyPr/>
          <a:lstStyle/>
          <a:p>
            <a:fld id="{41B3B4AA-EE63-4140-BEC8-1CADB7F72913}" type="slidenum">
              <a:rPr lang="en-US" altLang="zh-CN" smtClean="0"/>
              <a:pPr/>
              <a:t>36</a:t>
            </a:fld>
            <a:endParaRPr lang="en-US" altLang="zh-CN" smtClean="0"/>
          </a:p>
        </p:txBody>
      </p:sp>
      <p:sp>
        <p:nvSpPr>
          <p:cNvPr id="584706" name="Rectangle 2"/>
          <p:cNvSpPr>
            <a:spLocks noGrp="1" noRot="1" noChangeArrowheads="1"/>
          </p:cNvSpPr>
          <p:nvPr>
            <p:ph type="title"/>
          </p:nvPr>
        </p:nvSpPr>
        <p:spPr>
          <a:xfrm>
            <a:off x="542925" y="276701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endPar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p:circl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p:cNvSpPr>
            <a:spLocks noGrp="1"/>
          </p:cNvSpPr>
          <p:nvPr>
            <p:ph type="dt" sz="quarter" idx="10"/>
          </p:nvPr>
        </p:nvSpPr>
        <p:spPr>
          <a:noFill/>
        </p:spPr>
        <p:txBody>
          <a:bodyPr/>
          <a:lstStyle/>
          <a:p>
            <a:fld id="{1F04EBA1-9FF6-488C-9383-88806929A93A}" type="datetime1">
              <a:rPr lang="zh-CN" altLang="en-US" smtClean="0"/>
              <a:pPr/>
              <a:t>2018/2/24</a:t>
            </a:fld>
            <a:endParaRPr lang="en-US" altLang="zh-CN" smtClean="0"/>
          </a:p>
        </p:txBody>
      </p:sp>
      <p:sp>
        <p:nvSpPr>
          <p:cNvPr id="104451" name="灯片编号占位符 5"/>
          <p:cNvSpPr>
            <a:spLocks noGrp="1"/>
          </p:cNvSpPr>
          <p:nvPr>
            <p:ph type="sldNum" sz="quarter" idx="12"/>
          </p:nvPr>
        </p:nvSpPr>
        <p:spPr>
          <a:noFill/>
        </p:spPr>
        <p:txBody>
          <a:bodyPr/>
          <a:lstStyle/>
          <a:p>
            <a:fld id="{CA094934-99F5-4608-9788-467E40B06006}" type="slidenum">
              <a:rPr lang="en-US" altLang="zh-CN" smtClean="0"/>
              <a:pPr/>
              <a:t>37</a:t>
            </a:fld>
            <a:endParaRPr lang="en-US" altLang="zh-CN" smtClean="0"/>
          </a:p>
        </p:txBody>
      </p:sp>
      <p:sp>
        <p:nvSpPr>
          <p:cNvPr id="585730"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星点检验的理论基础</a:t>
            </a:r>
          </a:p>
        </p:txBody>
      </p:sp>
      <p:sp>
        <p:nvSpPr>
          <p:cNvPr id="585731" name="Rectangle 3"/>
          <p:cNvSpPr>
            <a:spLocks noGrp="1" noRot="1" noChangeArrowheads="1"/>
          </p:cNvSpPr>
          <p:nvPr>
            <p:ph type="body" idx="1"/>
          </p:nvPr>
        </p:nvSpPr>
        <p:spPr>
          <a:xfrm>
            <a:off x="471488" y="1960563"/>
            <a:ext cx="8229600" cy="4805362"/>
          </a:xfrm>
        </p:spPr>
        <p:txBody>
          <a:bodyPr/>
          <a:lstStyle/>
          <a:p>
            <a:pPr eaLnBrk="1" hangingPunct="1">
              <a:lnSpc>
                <a:spcPct val="120000"/>
              </a:lnSpc>
              <a:defRPr/>
            </a:pPr>
            <a:r>
              <a:rPr lang="zh-CN" altLang="en-US" sz="2000" dirty="0" smtClean="0">
                <a:latin typeface="Times New Roman" pitchFamily="18" charset="0"/>
                <a:ea typeface="黑体" pitchFamily="2" charset="-122"/>
              </a:rPr>
              <a:t>任何成像光学系统的作用都是为了给出一个符合要求的物体的像。光学系统的各种像差和误差都必然反映在这个像中。所以很自然地会想到，如果能直接通过物体的像来分析光学系统本身的缺陷，将是一个十分方便的方法。</a:t>
            </a:r>
          </a:p>
          <a:p>
            <a:pPr eaLnBrk="1" hangingPunct="1">
              <a:lnSpc>
                <a:spcPct val="120000"/>
              </a:lnSpc>
              <a:defRPr/>
            </a:pPr>
            <a:r>
              <a:rPr lang="zh-CN" altLang="en-US" sz="2000" dirty="0" smtClean="0">
                <a:latin typeface="Times New Roman" pitchFamily="18" charset="0"/>
                <a:ea typeface="黑体" pitchFamily="2" charset="-122"/>
              </a:rPr>
              <a:t>由近代物理光学知道，利用满足线性和空间不变性条件的系统的</a:t>
            </a:r>
            <a:r>
              <a:rPr lang="zh-CN" altLang="en-US" sz="2000" dirty="0" smtClean="0">
                <a:solidFill>
                  <a:srgbClr val="FF0000"/>
                </a:solidFill>
                <a:latin typeface="Times New Roman" pitchFamily="18" charset="0"/>
                <a:ea typeface="黑体" pitchFamily="2" charset="-122"/>
              </a:rPr>
              <a:t>线性叠加</a:t>
            </a:r>
            <a:r>
              <a:rPr lang="zh-CN" altLang="en-US" sz="2000" dirty="0" smtClean="0">
                <a:latin typeface="Times New Roman" pitchFamily="18" charset="0"/>
                <a:ea typeface="黑体" pitchFamily="2" charset="-122"/>
              </a:rPr>
              <a:t>特性，可以将任何物方图样分解为许多基元图样，这些基元图样对应的像方图样是容易知道的，然后由这些基元的像方图样线性叠加得出总的像方图样。</a:t>
            </a:r>
          </a:p>
          <a:p>
            <a:pPr eaLnBrk="1" hangingPunct="1">
              <a:lnSpc>
                <a:spcPct val="120000"/>
              </a:lnSpc>
              <a:defRPr/>
            </a:pPr>
            <a:r>
              <a:rPr lang="zh-CN" altLang="en-US" sz="2000" dirty="0" smtClean="0">
                <a:latin typeface="Times New Roman" pitchFamily="18" charset="0"/>
                <a:ea typeface="黑体" pitchFamily="2" charset="-122"/>
              </a:rPr>
              <a:t>通过考察一个点光源（即星点）经过光学系统后在像面前后不同截面上所成衍射像的光强分布，就可以</a:t>
            </a:r>
            <a:r>
              <a:rPr lang="zh-CN" altLang="en-US" sz="2000" dirty="0" smtClean="0">
                <a:solidFill>
                  <a:srgbClr val="FF0000"/>
                </a:solidFill>
                <a:latin typeface="Times New Roman" pitchFamily="18" charset="0"/>
                <a:ea typeface="黑体" pitchFamily="2" charset="-122"/>
              </a:rPr>
              <a:t>定性</a:t>
            </a:r>
            <a:r>
              <a:rPr lang="zh-CN" altLang="en-US" sz="2000" dirty="0" smtClean="0">
                <a:latin typeface="Times New Roman" pitchFamily="18" charset="0"/>
                <a:ea typeface="黑体" pitchFamily="2" charset="-122"/>
              </a:rPr>
              <a:t>地评定光学系统自身的像差和缺陷的影响，定性地评价光学系统成像质量，称之为星点检验法。</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5731">
                                            <p:txEl>
                                              <p:pRg st="1" end="1"/>
                                            </p:txEl>
                                          </p:spTgt>
                                        </p:tgtEl>
                                        <p:attrNameLst>
                                          <p:attrName>style.visibility</p:attrName>
                                        </p:attrNameLst>
                                      </p:cBhvr>
                                      <p:to>
                                        <p:strVal val="visible"/>
                                      </p:to>
                                    </p:set>
                                    <p:anim calcmode="lin" valueType="num">
                                      <p:cBhvr additive="base">
                                        <p:cTn id="7" dur="500" fill="hold"/>
                                        <p:tgtEl>
                                          <p:spTgt spid="5857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57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5731">
                                            <p:txEl>
                                              <p:pRg st="2" end="2"/>
                                            </p:txEl>
                                          </p:spTgt>
                                        </p:tgtEl>
                                        <p:attrNameLst>
                                          <p:attrName>style.visibility</p:attrName>
                                        </p:attrNameLst>
                                      </p:cBhvr>
                                      <p:to>
                                        <p:strVal val="visible"/>
                                      </p:to>
                                    </p:set>
                                    <p:anim calcmode="lin" valueType="num">
                                      <p:cBhvr additive="base">
                                        <p:cTn id="13" dur="500" fill="hold"/>
                                        <p:tgtEl>
                                          <p:spTgt spid="5857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573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a:spLocks noGrp="1"/>
          </p:cNvSpPr>
          <p:nvPr>
            <p:ph type="dt" sz="quarter" idx="10"/>
          </p:nvPr>
        </p:nvSpPr>
        <p:spPr>
          <a:noFill/>
        </p:spPr>
        <p:txBody>
          <a:bodyPr/>
          <a:lstStyle/>
          <a:p>
            <a:fld id="{89586F24-B412-4E30-AC12-26D50D370B75}" type="datetime1">
              <a:rPr lang="zh-CN" altLang="en-US" smtClean="0"/>
              <a:pPr/>
              <a:t>2018/2/24</a:t>
            </a:fld>
            <a:endParaRPr lang="en-US" altLang="zh-CN" smtClean="0"/>
          </a:p>
        </p:txBody>
      </p:sp>
      <p:sp>
        <p:nvSpPr>
          <p:cNvPr id="105475" name="灯片编号占位符 5"/>
          <p:cNvSpPr>
            <a:spLocks noGrp="1"/>
          </p:cNvSpPr>
          <p:nvPr>
            <p:ph type="sldNum" sz="quarter" idx="12"/>
          </p:nvPr>
        </p:nvSpPr>
        <p:spPr>
          <a:noFill/>
        </p:spPr>
        <p:txBody>
          <a:bodyPr/>
          <a:lstStyle/>
          <a:p>
            <a:fld id="{634E9EAC-F644-4B96-9030-C48A15199920}" type="slidenum">
              <a:rPr lang="en-US" altLang="zh-CN" smtClean="0"/>
              <a:pPr/>
              <a:t>38</a:t>
            </a:fld>
            <a:endParaRPr lang="en-US" altLang="zh-CN" smtClean="0"/>
          </a:p>
        </p:txBody>
      </p:sp>
      <p:sp>
        <p:nvSpPr>
          <p:cNvPr id="105478" name="Rectangle 4"/>
          <p:cNvSpPr>
            <a:spLocks noChangeArrowheads="1"/>
          </p:cNvSpPr>
          <p:nvPr/>
        </p:nvSpPr>
        <p:spPr bwMode="auto">
          <a:xfrm>
            <a:off x="0" y="2976563"/>
            <a:ext cx="9144000" cy="0"/>
          </a:xfrm>
          <a:prstGeom prst="rect">
            <a:avLst/>
          </a:prstGeom>
          <a:noFill/>
          <a:ln w="9525">
            <a:noFill/>
            <a:miter lim="800000"/>
            <a:headEnd/>
            <a:tailEnd/>
          </a:ln>
        </p:spPr>
        <p:txBody>
          <a:bodyPr wrap="none" anchor="ctr">
            <a:spAutoFit/>
          </a:bodyPr>
          <a:lstStyle/>
          <a:p>
            <a:endParaRPr lang="zh-CN" altLang="en-US"/>
          </a:p>
        </p:txBody>
      </p:sp>
      <p:pic>
        <p:nvPicPr>
          <p:cNvPr id="105479" name="Picture 5" descr="1"/>
          <p:cNvPicPr>
            <a:picLocks noChangeAspect="1" noChangeArrowheads="1"/>
          </p:cNvPicPr>
          <p:nvPr/>
        </p:nvPicPr>
        <p:blipFill>
          <a:blip r:embed="rId3"/>
          <a:srcRect/>
          <a:stretch>
            <a:fillRect/>
          </a:stretch>
        </p:blipFill>
        <p:spPr bwMode="auto">
          <a:xfrm>
            <a:off x="4430238" y="4594937"/>
            <a:ext cx="3728110" cy="1918679"/>
          </a:xfrm>
          <a:prstGeom prst="rect">
            <a:avLst/>
          </a:prstGeom>
          <a:noFill/>
          <a:ln w="9525">
            <a:noFill/>
            <a:miter lim="800000"/>
            <a:headEnd/>
            <a:tailEnd/>
          </a:ln>
        </p:spPr>
      </p:pic>
      <p:grpSp>
        <p:nvGrpSpPr>
          <p:cNvPr id="105480" name="Group 6"/>
          <p:cNvGrpSpPr>
            <a:grpSpLocks/>
          </p:cNvGrpSpPr>
          <p:nvPr/>
        </p:nvGrpSpPr>
        <p:grpSpPr bwMode="auto">
          <a:xfrm>
            <a:off x="3683205" y="1846758"/>
            <a:ext cx="5172075" cy="2435225"/>
            <a:chOff x="2223" y="2444"/>
            <a:chExt cx="3258" cy="1534"/>
          </a:xfrm>
        </p:grpSpPr>
        <p:sp>
          <p:nvSpPr>
            <p:cNvPr id="105481" name="Rectangle 7"/>
            <p:cNvSpPr>
              <a:spLocks noChangeArrowheads="1"/>
            </p:cNvSpPr>
            <p:nvPr/>
          </p:nvSpPr>
          <p:spPr bwMode="auto">
            <a:xfrm>
              <a:off x="2223" y="2448"/>
              <a:ext cx="3258" cy="1530"/>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105482" name="Group 8"/>
            <p:cNvGrpSpPr>
              <a:grpSpLocks/>
            </p:cNvGrpSpPr>
            <p:nvPr/>
          </p:nvGrpSpPr>
          <p:grpSpPr bwMode="auto">
            <a:xfrm>
              <a:off x="2236" y="2444"/>
              <a:ext cx="3223" cy="1524"/>
              <a:chOff x="2200" y="2310"/>
              <a:chExt cx="7010" cy="3315"/>
            </a:xfrm>
          </p:grpSpPr>
          <p:grpSp>
            <p:nvGrpSpPr>
              <p:cNvPr id="105483" name="Group 9"/>
              <p:cNvGrpSpPr>
                <a:grpSpLocks/>
              </p:cNvGrpSpPr>
              <p:nvPr/>
            </p:nvGrpSpPr>
            <p:grpSpPr bwMode="auto">
              <a:xfrm>
                <a:off x="2200" y="2310"/>
                <a:ext cx="7010" cy="2630"/>
                <a:chOff x="2200" y="2310"/>
                <a:chExt cx="7010" cy="2630"/>
              </a:xfrm>
            </p:grpSpPr>
            <p:grpSp>
              <p:nvGrpSpPr>
                <p:cNvPr id="105485" name="Group 10"/>
                <p:cNvGrpSpPr>
                  <a:grpSpLocks/>
                </p:cNvGrpSpPr>
                <p:nvPr/>
              </p:nvGrpSpPr>
              <p:grpSpPr bwMode="auto">
                <a:xfrm>
                  <a:off x="2200" y="2310"/>
                  <a:ext cx="5210" cy="2630"/>
                  <a:chOff x="2200" y="2310"/>
                  <a:chExt cx="3410" cy="1490"/>
                </a:xfrm>
              </p:grpSpPr>
              <p:grpSp>
                <p:nvGrpSpPr>
                  <p:cNvPr id="105496" name="Group 11"/>
                  <p:cNvGrpSpPr>
                    <a:grpSpLocks/>
                  </p:cNvGrpSpPr>
                  <p:nvPr/>
                </p:nvGrpSpPr>
                <p:grpSpPr bwMode="auto">
                  <a:xfrm rot="5400000">
                    <a:off x="4365" y="2543"/>
                    <a:ext cx="1185" cy="988"/>
                    <a:chOff x="4365" y="2543"/>
                    <a:chExt cx="1185" cy="988"/>
                  </a:xfrm>
                </p:grpSpPr>
                <p:sp>
                  <p:nvSpPr>
                    <p:cNvPr id="105514" name="Freeform 12"/>
                    <p:cNvSpPr>
                      <a:spLocks/>
                    </p:cNvSpPr>
                    <p:nvPr/>
                  </p:nvSpPr>
                  <p:spPr bwMode="auto">
                    <a:xfrm>
                      <a:off x="4365" y="2548"/>
                      <a:ext cx="595" cy="983"/>
                    </a:xfrm>
                    <a:custGeom>
                      <a:avLst/>
                      <a:gdLst>
                        <a:gd name="T0" fmla="*/ 0 w 595"/>
                        <a:gd name="T1" fmla="*/ 972 h 983"/>
                        <a:gd name="T2" fmla="*/ 85 w 595"/>
                        <a:gd name="T3" fmla="*/ 872 h 983"/>
                        <a:gd name="T4" fmla="*/ 175 w 595"/>
                        <a:gd name="T5" fmla="*/ 972 h 983"/>
                        <a:gd name="T6" fmla="*/ 220 w 595"/>
                        <a:gd name="T7" fmla="*/ 857 h 983"/>
                        <a:gd name="T8" fmla="*/ 255 w 595"/>
                        <a:gd name="T9" fmla="*/ 822 h 983"/>
                        <a:gd name="T10" fmla="*/ 300 w 595"/>
                        <a:gd name="T11" fmla="*/ 847 h 983"/>
                        <a:gd name="T12" fmla="*/ 355 w 595"/>
                        <a:gd name="T13" fmla="*/ 972 h 983"/>
                        <a:gd name="T14" fmla="*/ 425 w 595"/>
                        <a:gd name="T15" fmla="*/ 912 h 983"/>
                        <a:gd name="T16" fmla="*/ 480 w 595"/>
                        <a:gd name="T17" fmla="*/ 567 h 983"/>
                        <a:gd name="T18" fmla="*/ 560 w 595"/>
                        <a:gd name="T19" fmla="*/ 92 h 983"/>
                        <a:gd name="T20" fmla="*/ 595 w 595"/>
                        <a:gd name="T21" fmla="*/ 12 h 9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5"/>
                        <a:gd name="T34" fmla="*/ 0 h 983"/>
                        <a:gd name="T35" fmla="*/ 595 w 595"/>
                        <a:gd name="T36" fmla="*/ 983 h 9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5" h="983">
                          <a:moveTo>
                            <a:pt x="0" y="972"/>
                          </a:moveTo>
                          <a:cubicBezTo>
                            <a:pt x="28" y="922"/>
                            <a:pt x="56" y="872"/>
                            <a:pt x="85" y="872"/>
                          </a:cubicBezTo>
                          <a:cubicBezTo>
                            <a:pt x="114" y="872"/>
                            <a:pt x="153" y="974"/>
                            <a:pt x="175" y="972"/>
                          </a:cubicBezTo>
                          <a:cubicBezTo>
                            <a:pt x="197" y="970"/>
                            <a:pt x="207" y="882"/>
                            <a:pt x="220" y="857"/>
                          </a:cubicBezTo>
                          <a:cubicBezTo>
                            <a:pt x="233" y="832"/>
                            <a:pt x="242" y="824"/>
                            <a:pt x="255" y="822"/>
                          </a:cubicBezTo>
                          <a:cubicBezTo>
                            <a:pt x="268" y="820"/>
                            <a:pt x="283" y="822"/>
                            <a:pt x="300" y="847"/>
                          </a:cubicBezTo>
                          <a:cubicBezTo>
                            <a:pt x="317" y="872"/>
                            <a:pt x="334" y="961"/>
                            <a:pt x="355" y="972"/>
                          </a:cubicBezTo>
                          <a:cubicBezTo>
                            <a:pt x="376" y="983"/>
                            <a:pt x="404" y="979"/>
                            <a:pt x="425" y="912"/>
                          </a:cubicBezTo>
                          <a:cubicBezTo>
                            <a:pt x="446" y="845"/>
                            <a:pt x="458" y="704"/>
                            <a:pt x="480" y="567"/>
                          </a:cubicBezTo>
                          <a:cubicBezTo>
                            <a:pt x="502" y="430"/>
                            <a:pt x="541" y="184"/>
                            <a:pt x="560" y="92"/>
                          </a:cubicBezTo>
                          <a:cubicBezTo>
                            <a:pt x="579" y="0"/>
                            <a:pt x="587" y="6"/>
                            <a:pt x="595" y="12"/>
                          </a:cubicBezTo>
                        </a:path>
                      </a:pathLst>
                    </a:custGeom>
                    <a:noFill/>
                    <a:ln w="9525">
                      <a:solidFill>
                        <a:srgbClr val="000000"/>
                      </a:solidFill>
                      <a:round/>
                      <a:headEnd/>
                      <a:tailEnd/>
                    </a:ln>
                  </p:spPr>
                  <p:txBody>
                    <a:bodyPr/>
                    <a:lstStyle/>
                    <a:p>
                      <a:endParaRPr lang="zh-CN" altLang="en-US"/>
                    </a:p>
                  </p:txBody>
                </p:sp>
                <p:sp>
                  <p:nvSpPr>
                    <p:cNvPr id="105515" name="Freeform 13"/>
                    <p:cNvSpPr>
                      <a:spLocks/>
                    </p:cNvSpPr>
                    <p:nvPr/>
                  </p:nvSpPr>
                  <p:spPr bwMode="auto">
                    <a:xfrm flipH="1">
                      <a:off x="4955" y="2543"/>
                      <a:ext cx="595" cy="983"/>
                    </a:xfrm>
                    <a:custGeom>
                      <a:avLst/>
                      <a:gdLst>
                        <a:gd name="T0" fmla="*/ 0 w 595"/>
                        <a:gd name="T1" fmla="*/ 972 h 983"/>
                        <a:gd name="T2" fmla="*/ 85 w 595"/>
                        <a:gd name="T3" fmla="*/ 872 h 983"/>
                        <a:gd name="T4" fmla="*/ 175 w 595"/>
                        <a:gd name="T5" fmla="*/ 972 h 983"/>
                        <a:gd name="T6" fmla="*/ 220 w 595"/>
                        <a:gd name="T7" fmla="*/ 857 h 983"/>
                        <a:gd name="T8" fmla="*/ 255 w 595"/>
                        <a:gd name="T9" fmla="*/ 822 h 983"/>
                        <a:gd name="T10" fmla="*/ 300 w 595"/>
                        <a:gd name="T11" fmla="*/ 847 h 983"/>
                        <a:gd name="T12" fmla="*/ 355 w 595"/>
                        <a:gd name="T13" fmla="*/ 972 h 983"/>
                        <a:gd name="T14" fmla="*/ 425 w 595"/>
                        <a:gd name="T15" fmla="*/ 912 h 983"/>
                        <a:gd name="T16" fmla="*/ 480 w 595"/>
                        <a:gd name="T17" fmla="*/ 567 h 983"/>
                        <a:gd name="T18" fmla="*/ 560 w 595"/>
                        <a:gd name="T19" fmla="*/ 92 h 983"/>
                        <a:gd name="T20" fmla="*/ 595 w 595"/>
                        <a:gd name="T21" fmla="*/ 12 h 9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5"/>
                        <a:gd name="T34" fmla="*/ 0 h 983"/>
                        <a:gd name="T35" fmla="*/ 595 w 595"/>
                        <a:gd name="T36" fmla="*/ 983 h 9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5" h="983">
                          <a:moveTo>
                            <a:pt x="0" y="972"/>
                          </a:moveTo>
                          <a:cubicBezTo>
                            <a:pt x="28" y="922"/>
                            <a:pt x="56" y="872"/>
                            <a:pt x="85" y="872"/>
                          </a:cubicBezTo>
                          <a:cubicBezTo>
                            <a:pt x="114" y="872"/>
                            <a:pt x="153" y="974"/>
                            <a:pt x="175" y="972"/>
                          </a:cubicBezTo>
                          <a:cubicBezTo>
                            <a:pt x="197" y="970"/>
                            <a:pt x="207" y="882"/>
                            <a:pt x="220" y="857"/>
                          </a:cubicBezTo>
                          <a:cubicBezTo>
                            <a:pt x="233" y="832"/>
                            <a:pt x="242" y="824"/>
                            <a:pt x="255" y="822"/>
                          </a:cubicBezTo>
                          <a:cubicBezTo>
                            <a:pt x="268" y="820"/>
                            <a:pt x="283" y="822"/>
                            <a:pt x="300" y="847"/>
                          </a:cubicBezTo>
                          <a:cubicBezTo>
                            <a:pt x="317" y="872"/>
                            <a:pt x="334" y="961"/>
                            <a:pt x="355" y="972"/>
                          </a:cubicBezTo>
                          <a:cubicBezTo>
                            <a:pt x="376" y="983"/>
                            <a:pt x="404" y="979"/>
                            <a:pt x="425" y="912"/>
                          </a:cubicBezTo>
                          <a:cubicBezTo>
                            <a:pt x="446" y="845"/>
                            <a:pt x="458" y="704"/>
                            <a:pt x="480" y="567"/>
                          </a:cubicBezTo>
                          <a:cubicBezTo>
                            <a:pt x="502" y="430"/>
                            <a:pt x="541" y="184"/>
                            <a:pt x="560" y="92"/>
                          </a:cubicBezTo>
                          <a:cubicBezTo>
                            <a:pt x="579" y="0"/>
                            <a:pt x="587" y="6"/>
                            <a:pt x="595" y="12"/>
                          </a:cubicBezTo>
                        </a:path>
                      </a:pathLst>
                    </a:custGeom>
                    <a:noFill/>
                    <a:ln w="9525">
                      <a:solidFill>
                        <a:srgbClr val="000000"/>
                      </a:solidFill>
                      <a:round/>
                      <a:headEnd/>
                      <a:tailEnd/>
                    </a:ln>
                  </p:spPr>
                  <p:txBody>
                    <a:bodyPr/>
                    <a:lstStyle/>
                    <a:p>
                      <a:endParaRPr lang="zh-CN" altLang="en-US"/>
                    </a:p>
                  </p:txBody>
                </p:sp>
              </p:grpSp>
              <p:sp>
                <p:nvSpPr>
                  <p:cNvPr id="105497" name="Line 14"/>
                  <p:cNvSpPr>
                    <a:spLocks noChangeShapeType="1"/>
                  </p:cNvSpPr>
                  <p:nvPr/>
                </p:nvSpPr>
                <p:spPr bwMode="auto">
                  <a:xfrm>
                    <a:off x="4465" y="2310"/>
                    <a:ext cx="0" cy="1490"/>
                  </a:xfrm>
                  <a:prstGeom prst="line">
                    <a:avLst/>
                  </a:prstGeom>
                  <a:noFill/>
                  <a:ln w="6350">
                    <a:solidFill>
                      <a:srgbClr val="000000"/>
                    </a:solidFill>
                    <a:round/>
                    <a:headEnd/>
                    <a:tailEnd/>
                  </a:ln>
                </p:spPr>
                <p:txBody>
                  <a:bodyPr/>
                  <a:lstStyle/>
                  <a:p>
                    <a:endParaRPr lang="zh-CN" altLang="en-US"/>
                  </a:p>
                </p:txBody>
              </p:sp>
              <p:sp>
                <p:nvSpPr>
                  <p:cNvPr id="105498" name="Line 15"/>
                  <p:cNvSpPr>
                    <a:spLocks noChangeShapeType="1"/>
                  </p:cNvSpPr>
                  <p:nvPr/>
                </p:nvSpPr>
                <p:spPr bwMode="auto">
                  <a:xfrm>
                    <a:off x="2200" y="3035"/>
                    <a:ext cx="3410" cy="5"/>
                  </a:xfrm>
                  <a:prstGeom prst="line">
                    <a:avLst/>
                  </a:prstGeom>
                  <a:noFill/>
                  <a:ln w="6350">
                    <a:solidFill>
                      <a:srgbClr val="000000"/>
                    </a:solidFill>
                    <a:prstDash val="lgDashDot"/>
                    <a:round/>
                    <a:headEnd/>
                    <a:tailEnd/>
                  </a:ln>
                </p:spPr>
                <p:txBody>
                  <a:bodyPr/>
                  <a:lstStyle/>
                  <a:p>
                    <a:endParaRPr lang="zh-CN" altLang="en-US"/>
                  </a:p>
                </p:txBody>
              </p:sp>
              <p:sp>
                <p:nvSpPr>
                  <p:cNvPr id="105499" name="Arc 16"/>
                  <p:cNvSpPr>
                    <a:spLocks/>
                  </p:cNvSpPr>
                  <p:nvPr/>
                </p:nvSpPr>
                <p:spPr bwMode="auto">
                  <a:xfrm>
                    <a:off x="2975" y="2687"/>
                    <a:ext cx="183" cy="700"/>
                  </a:xfrm>
                  <a:custGeom>
                    <a:avLst/>
                    <a:gdLst>
                      <a:gd name="T0" fmla="*/ 0 w 21600"/>
                      <a:gd name="T1" fmla="*/ 0 h 36575"/>
                      <a:gd name="T2" fmla="*/ 0 w 21600"/>
                      <a:gd name="T3" fmla="*/ 0 h 36575"/>
                      <a:gd name="T4" fmla="*/ 0 w 21600"/>
                      <a:gd name="T5" fmla="*/ 0 h 36575"/>
                      <a:gd name="T6" fmla="*/ 0 60000 65536"/>
                      <a:gd name="T7" fmla="*/ 0 60000 65536"/>
                      <a:gd name="T8" fmla="*/ 0 60000 65536"/>
                      <a:gd name="T9" fmla="*/ 0 w 21600"/>
                      <a:gd name="T10" fmla="*/ 0 h 36575"/>
                      <a:gd name="T11" fmla="*/ 21600 w 21600"/>
                      <a:gd name="T12" fmla="*/ 36575 h 36575"/>
                    </a:gdLst>
                    <a:ahLst/>
                    <a:cxnLst>
                      <a:cxn ang="T6">
                        <a:pos x="T0" y="T1"/>
                      </a:cxn>
                      <a:cxn ang="T7">
                        <a:pos x="T2" y="T3"/>
                      </a:cxn>
                      <a:cxn ang="T8">
                        <a:pos x="T4" y="T5"/>
                      </a:cxn>
                    </a:cxnLst>
                    <a:rect l="T9" t="T10" r="T11" b="T12"/>
                    <a:pathLst>
                      <a:path w="21600" h="36575" fill="none" extrusionOk="0">
                        <a:moveTo>
                          <a:pt x="10843" y="-1"/>
                        </a:moveTo>
                        <a:cubicBezTo>
                          <a:pt x="17501" y="3864"/>
                          <a:pt x="21600" y="10981"/>
                          <a:pt x="21600" y="18681"/>
                        </a:cubicBezTo>
                        <a:cubicBezTo>
                          <a:pt x="21600" y="25853"/>
                          <a:pt x="18039" y="32558"/>
                          <a:pt x="12097" y="36575"/>
                        </a:cubicBezTo>
                      </a:path>
                      <a:path w="21600" h="36575" stroke="0" extrusionOk="0">
                        <a:moveTo>
                          <a:pt x="10843" y="-1"/>
                        </a:moveTo>
                        <a:cubicBezTo>
                          <a:pt x="17501" y="3864"/>
                          <a:pt x="21600" y="10981"/>
                          <a:pt x="21600" y="18681"/>
                        </a:cubicBezTo>
                        <a:cubicBezTo>
                          <a:pt x="21600" y="25853"/>
                          <a:pt x="18039" y="32558"/>
                          <a:pt x="12097" y="36575"/>
                        </a:cubicBezTo>
                        <a:lnTo>
                          <a:pt x="0" y="18681"/>
                        </a:lnTo>
                        <a:close/>
                      </a:path>
                    </a:pathLst>
                  </a:custGeom>
                  <a:noFill/>
                  <a:ln w="9525">
                    <a:solidFill>
                      <a:srgbClr val="000000"/>
                    </a:solidFill>
                    <a:round/>
                    <a:headEnd/>
                    <a:tailEnd/>
                  </a:ln>
                </p:spPr>
                <p:txBody>
                  <a:bodyPr/>
                  <a:lstStyle/>
                  <a:p>
                    <a:endParaRPr lang="zh-CN" altLang="en-US"/>
                  </a:p>
                </p:txBody>
              </p:sp>
              <p:sp>
                <p:nvSpPr>
                  <p:cNvPr id="105500" name="Arc 17"/>
                  <p:cNvSpPr>
                    <a:spLocks/>
                  </p:cNvSpPr>
                  <p:nvPr/>
                </p:nvSpPr>
                <p:spPr bwMode="auto">
                  <a:xfrm flipH="1">
                    <a:off x="2715" y="2682"/>
                    <a:ext cx="183" cy="700"/>
                  </a:xfrm>
                  <a:custGeom>
                    <a:avLst/>
                    <a:gdLst>
                      <a:gd name="T0" fmla="*/ 0 w 21600"/>
                      <a:gd name="T1" fmla="*/ 0 h 36575"/>
                      <a:gd name="T2" fmla="*/ 0 w 21600"/>
                      <a:gd name="T3" fmla="*/ 0 h 36575"/>
                      <a:gd name="T4" fmla="*/ 0 w 21600"/>
                      <a:gd name="T5" fmla="*/ 0 h 36575"/>
                      <a:gd name="T6" fmla="*/ 0 60000 65536"/>
                      <a:gd name="T7" fmla="*/ 0 60000 65536"/>
                      <a:gd name="T8" fmla="*/ 0 60000 65536"/>
                      <a:gd name="T9" fmla="*/ 0 w 21600"/>
                      <a:gd name="T10" fmla="*/ 0 h 36575"/>
                      <a:gd name="T11" fmla="*/ 21600 w 21600"/>
                      <a:gd name="T12" fmla="*/ 36575 h 36575"/>
                    </a:gdLst>
                    <a:ahLst/>
                    <a:cxnLst>
                      <a:cxn ang="T6">
                        <a:pos x="T0" y="T1"/>
                      </a:cxn>
                      <a:cxn ang="T7">
                        <a:pos x="T2" y="T3"/>
                      </a:cxn>
                      <a:cxn ang="T8">
                        <a:pos x="T4" y="T5"/>
                      </a:cxn>
                    </a:cxnLst>
                    <a:rect l="T9" t="T10" r="T11" b="T12"/>
                    <a:pathLst>
                      <a:path w="21600" h="36575" fill="none" extrusionOk="0">
                        <a:moveTo>
                          <a:pt x="10843" y="-1"/>
                        </a:moveTo>
                        <a:cubicBezTo>
                          <a:pt x="17501" y="3864"/>
                          <a:pt x="21600" y="10981"/>
                          <a:pt x="21600" y="18681"/>
                        </a:cubicBezTo>
                        <a:cubicBezTo>
                          <a:pt x="21600" y="25853"/>
                          <a:pt x="18039" y="32558"/>
                          <a:pt x="12097" y="36575"/>
                        </a:cubicBezTo>
                      </a:path>
                      <a:path w="21600" h="36575" stroke="0" extrusionOk="0">
                        <a:moveTo>
                          <a:pt x="10843" y="-1"/>
                        </a:moveTo>
                        <a:cubicBezTo>
                          <a:pt x="17501" y="3864"/>
                          <a:pt x="21600" y="10981"/>
                          <a:pt x="21600" y="18681"/>
                        </a:cubicBezTo>
                        <a:cubicBezTo>
                          <a:pt x="21600" y="25853"/>
                          <a:pt x="18039" y="32558"/>
                          <a:pt x="12097" y="36575"/>
                        </a:cubicBezTo>
                        <a:lnTo>
                          <a:pt x="0" y="18681"/>
                        </a:lnTo>
                        <a:close/>
                      </a:path>
                    </a:pathLst>
                  </a:custGeom>
                  <a:noFill/>
                  <a:ln w="9525">
                    <a:solidFill>
                      <a:srgbClr val="000000"/>
                    </a:solidFill>
                    <a:round/>
                    <a:headEnd/>
                    <a:tailEnd/>
                  </a:ln>
                </p:spPr>
                <p:txBody>
                  <a:bodyPr/>
                  <a:lstStyle/>
                  <a:p>
                    <a:endParaRPr lang="zh-CN" altLang="en-US"/>
                  </a:p>
                </p:txBody>
              </p:sp>
              <p:sp>
                <p:nvSpPr>
                  <p:cNvPr id="105501" name="Line 18"/>
                  <p:cNvSpPr>
                    <a:spLocks noChangeShapeType="1"/>
                  </p:cNvSpPr>
                  <p:nvPr/>
                </p:nvSpPr>
                <p:spPr bwMode="auto">
                  <a:xfrm>
                    <a:off x="2875" y="2690"/>
                    <a:ext cx="0" cy="690"/>
                  </a:xfrm>
                  <a:prstGeom prst="line">
                    <a:avLst/>
                  </a:prstGeom>
                  <a:noFill/>
                  <a:ln w="6350">
                    <a:solidFill>
                      <a:srgbClr val="000000"/>
                    </a:solidFill>
                    <a:round/>
                    <a:headEnd/>
                    <a:tailEnd/>
                  </a:ln>
                </p:spPr>
                <p:txBody>
                  <a:bodyPr/>
                  <a:lstStyle/>
                  <a:p>
                    <a:endParaRPr lang="zh-CN" altLang="en-US"/>
                  </a:p>
                </p:txBody>
              </p:sp>
              <p:sp>
                <p:nvSpPr>
                  <p:cNvPr id="105502" name="Line 19"/>
                  <p:cNvSpPr>
                    <a:spLocks noChangeShapeType="1"/>
                  </p:cNvSpPr>
                  <p:nvPr/>
                </p:nvSpPr>
                <p:spPr bwMode="auto">
                  <a:xfrm>
                    <a:off x="2980" y="2690"/>
                    <a:ext cx="0" cy="950"/>
                  </a:xfrm>
                  <a:prstGeom prst="line">
                    <a:avLst/>
                  </a:prstGeom>
                  <a:noFill/>
                  <a:ln w="6350">
                    <a:solidFill>
                      <a:srgbClr val="000000"/>
                    </a:solidFill>
                    <a:round/>
                    <a:headEnd/>
                    <a:tailEnd/>
                  </a:ln>
                </p:spPr>
                <p:txBody>
                  <a:bodyPr/>
                  <a:lstStyle/>
                  <a:p>
                    <a:endParaRPr lang="zh-CN" altLang="en-US"/>
                  </a:p>
                </p:txBody>
              </p:sp>
              <p:sp>
                <p:nvSpPr>
                  <p:cNvPr id="105503" name="Line 20"/>
                  <p:cNvSpPr>
                    <a:spLocks noChangeShapeType="1"/>
                  </p:cNvSpPr>
                  <p:nvPr/>
                </p:nvSpPr>
                <p:spPr bwMode="auto">
                  <a:xfrm>
                    <a:off x="2395" y="2705"/>
                    <a:ext cx="385" cy="0"/>
                  </a:xfrm>
                  <a:prstGeom prst="line">
                    <a:avLst/>
                  </a:prstGeom>
                  <a:noFill/>
                  <a:ln w="9525">
                    <a:solidFill>
                      <a:srgbClr val="000000"/>
                    </a:solidFill>
                    <a:round/>
                    <a:headEnd/>
                    <a:tailEnd type="stealth" w="lg" len="lg"/>
                  </a:ln>
                </p:spPr>
                <p:txBody>
                  <a:bodyPr/>
                  <a:lstStyle/>
                  <a:p>
                    <a:endParaRPr lang="zh-CN" altLang="en-US"/>
                  </a:p>
                </p:txBody>
              </p:sp>
              <p:sp>
                <p:nvSpPr>
                  <p:cNvPr id="105504" name="Line 21"/>
                  <p:cNvSpPr>
                    <a:spLocks noChangeShapeType="1"/>
                  </p:cNvSpPr>
                  <p:nvPr/>
                </p:nvSpPr>
                <p:spPr bwMode="auto">
                  <a:xfrm>
                    <a:off x="2385" y="3355"/>
                    <a:ext cx="385" cy="0"/>
                  </a:xfrm>
                  <a:prstGeom prst="line">
                    <a:avLst/>
                  </a:prstGeom>
                  <a:noFill/>
                  <a:ln w="9525">
                    <a:solidFill>
                      <a:srgbClr val="000000"/>
                    </a:solidFill>
                    <a:round/>
                    <a:headEnd/>
                    <a:tailEnd type="stealth" w="lg" len="lg"/>
                  </a:ln>
                </p:spPr>
                <p:txBody>
                  <a:bodyPr/>
                  <a:lstStyle/>
                  <a:p>
                    <a:endParaRPr lang="zh-CN" altLang="en-US"/>
                  </a:p>
                </p:txBody>
              </p:sp>
              <p:sp>
                <p:nvSpPr>
                  <p:cNvPr id="105505" name="Line 22"/>
                  <p:cNvSpPr>
                    <a:spLocks noChangeShapeType="1"/>
                  </p:cNvSpPr>
                  <p:nvPr/>
                </p:nvSpPr>
                <p:spPr bwMode="auto">
                  <a:xfrm>
                    <a:off x="2460" y="2710"/>
                    <a:ext cx="0" cy="325"/>
                  </a:xfrm>
                  <a:prstGeom prst="line">
                    <a:avLst/>
                  </a:prstGeom>
                  <a:noFill/>
                  <a:ln w="6350">
                    <a:solidFill>
                      <a:srgbClr val="000000"/>
                    </a:solidFill>
                    <a:round/>
                    <a:headEnd type="stealth" w="lg" len="lg"/>
                    <a:tailEnd type="stealth" w="lg" len="lg"/>
                  </a:ln>
                </p:spPr>
                <p:txBody>
                  <a:bodyPr/>
                  <a:lstStyle/>
                  <a:p>
                    <a:endParaRPr lang="zh-CN" altLang="en-US"/>
                  </a:p>
                </p:txBody>
              </p:sp>
              <p:sp>
                <p:nvSpPr>
                  <p:cNvPr id="105506" name="Line 23"/>
                  <p:cNvSpPr>
                    <a:spLocks noChangeShapeType="1"/>
                  </p:cNvSpPr>
                  <p:nvPr/>
                </p:nvSpPr>
                <p:spPr bwMode="auto">
                  <a:xfrm>
                    <a:off x="3080" y="2710"/>
                    <a:ext cx="1385" cy="325"/>
                  </a:xfrm>
                  <a:prstGeom prst="line">
                    <a:avLst/>
                  </a:prstGeom>
                  <a:noFill/>
                  <a:ln w="9525">
                    <a:solidFill>
                      <a:srgbClr val="000000"/>
                    </a:solidFill>
                    <a:round/>
                    <a:headEnd/>
                    <a:tailEnd/>
                  </a:ln>
                </p:spPr>
                <p:txBody>
                  <a:bodyPr/>
                  <a:lstStyle/>
                  <a:p>
                    <a:endParaRPr lang="zh-CN" altLang="en-US"/>
                  </a:p>
                </p:txBody>
              </p:sp>
              <p:sp>
                <p:nvSpPr>
                  <p:cNvPr id="105507" name="Line 24"/>
                  <p:cNvSpPr>
                    <a:spLocks noChangeShapeType="1"/>
                  </p:cNvSpPr>
                  <p:nvPr/>
                </p:nvSpPr>
                <p:spPr bwMode="auto">
                  <a:xfrm flipV="1">
                    <a:off x="3095" y="3035"/>
                    <a:ext cx="1370" cy="310"/>
                  </a:xfrm>
                  <a:prstGeom prst="line">
                    <a:avLst/>
                  </a:prstGeom>
                  <a:noFill/>
                  <a:ln w="9525">
                    <a:solidFill>
                      <a:srgbClr val="000000"/>
                    </a:solidFill>
                    <a:round/>
                    <a:headEnd/>
                    <a:tailEnd/>
                  </a:ln>
                </p:spPr>
                <p:txBody>
                  <a:bodyPr/>
                  <a:lstStyle/>
                  <a:p>
                    <a:endParaRPr lang="zh-CN" altLang="en-US"/>
                  </a:p>
                </p:txBody>
              </p:sp>
              <p:sp>
                <p:nvSpPr>
                  <p:cNvPr id="105508" name="Line 25"/>
                  <p:cNvSpPr>
                    <a:spLocks noChangeShapeType="1"/>
                  </p:cNvSpPr>
                  <p:nvPr/>
                </p:nvSpPr>
                <p:spPr bwMode="auto">
                  <a:xfrm>
                    <a:off x="3350" y="2777"/>
                    <a:ext cx="225" cy="50"/>
                  </a:xfrm>
                  <a:prstGeom prst="line">
                    <a:avLst/>
                  </a:prstGeom>
                  <a:noFill/>
                  <a:ln w="9525">
                    <a:solidFill>
                      <a:srgbClr val="000000"/>
                    </a:solidFill>
                    <a:round/>
                    <a:headEnd/>
                    <a:tailEnd type="stealth" w="lg" len="lg"/>
                  </a:ln>
                </p:spPr>
                <p:txBody>
                  <a:bodyPr/>
                  <a:lstStyle/>
                  <a:p>
                    <a:endParaRPr lang="zh-CN" altLang="en-US"/>
                  </a:p>
                </p:txBody>
              </p:sp>
              <p:sp>
                <p:nvSpPr>
                  <p:cNvPr id="105509" name="Line 26"/>
                  <p:cNvSpPr>
                    <a:spLocks noChangeShapeType="1"/>
                  </p:cNvSpPr>
                  <p:nvPr/>
                </p:nvSpPr>
                <p:spPr bwMode="auto">
                  <a:xfrm flipV="1">
                    <a:off x="3325" y="3240"/>
                    <a:ext cx="235" cy="50"/>
                  </a:xfrm>
                  <a:prstGeom prst="line">
                    <a:avLst/>
                  </a:prstGeom>
                  <a:noFill/>
                  <a:ln w="9525">
                    <a:solidFill>
                      <a:srgbClr val="000000"/>
                    </a:solidFill>
                    <a:round/>
                    <a:headEnd/>
                    <a:tailEnd type="stealth" w="lg" len="lg"/>
                  </a:ln>
                </p:spPr>
                <p:txBody>
                  <a:bodyPr/>
                  <a:lstStyle/>
                  <a:p>
                    <a:endParaRPr lang="zh-CN" altLang="en-US"/>
                  </a:p>
                </p:txBody>
              </p:sp>
              <p:sp>
                <p:nvSpPr>
                  <p:cNvPr id="105510" name="Line 27"/>
                  <p:cNvSpPr>
                    <a:spLocks noChangeShapeType="1"/>
                  </p:cNvSpPr>
                  <p:nvPr/>
                </p:nvSpPr>
                <p:spPr bwMode="auto">
                  <a:xfrm flipV="1">
                    <a:off x="2975" y="2825"/>
                    <a:ext cx="1500" cy="205"/>
                  </a:xfrm>
                  <a:prstGeom prst="line">
                    <a:avLst/>
                  </a:prstGeom>
                  <a:noFill/>
                  <a:ln w="6350">
                    <a:solidFill>
                      <a:srgbClr val="000000"/>
                    </a:solidFill>
                    <a:round/>
                    <a:headEnd/>
                    <a:tailEnd/>
                  </a:ln>
                </p:spPr>
                <p:txBody>
                  <a:bodyPr/>
                  <a:lstStyle/>
                  <a:p>
                    <a:endParaRPr lang="zh-CN" altLang="en-US"/>
                  </a:p>
                </p:txBody>
              </p:sp>
              <p:sp>
                <p:nvSpPr>
                  <p:cNvPr id="105511" name="Line 28"/>
                  <p:cNvSpPr>
                    <a:spLocks noChangeShapeType="1"/>
                  </p:cNvSpPr>
                  <p:nvPr/>
                </p:nvSpPr>
                <p:spPr bwMode="auto">
                  <a:xfrm>
                    <a:off x="2980" y="3610"/>
                    <a:ext cx="1485" cy="0"/>
                  </a:xfrm>
                  <a:prstGeom prst="line">
                    <a:avLst/>
                  </a:prstGeom>
                  <a:noFill/>
                  <a:ln w="6350">
                    <a:solidFill>
                      <a:srgbClr val="000000"/>
                    </a:solidFill>
                    <a:round/>
                    <a:headEnd type="stealth" w="lg" len="lg"/>
                    <a:tailEnd type="stealth" w="lg" len="lg"/>
                  </a:ln>
                </p:spPr>
                <p:txBody>
                  <a:bodyPr/>
                  <a:lstStyle/>
                  <a:p>
                    <a:endParaRPr lang="zh-CN" altLang="en-US"/>
                  </a:p>
                </p:txBody>
              </p:sp>
              <p:sp>
                <p:nvSpPr>
                  <p:cNvPr id="105512" name="Freeform 29"/>
                  <p:cNvSpPr>
                    <a:spLocks/>
                  </p:cNvSpPr>
                  <p:nvPr/>
                </p:nvSpPr>
                <p:spPr bwMode="auto">
                  <a:xfrm>
                    <a:off x="3683" y="2933"/>
                    <a:ext cx="31" cy="112"/>
                  </a:xfrm>
                  <a:custGeom>
                    <a:avLst/>
                    <a:gdLst>
                      <a:gd name="T0" fmla="*/ 0 w 31"/>
                      <a:gd name="T1" fmla="*/ 0 h 112"/>
                      <a:gd name="T2" fmla="*/ 30 w 31"/>
                      <a:gd name="T3" fmla="*/ 52 h 112"/>
                      <a:gd name="T4" fmla="*/ 31 w 31"/>
                      <a:gd name="T5" fmla="*/ 112 h 112"/>
                      <a:gd name="T6" fmla="*/ 0 60000 65536"/>
                      <a:gd name="T7" fmla="*/ 0 60000 65536"/>
                      <a:gd name="T8" fmla="*/ 0 60000 65536"/>
                      <a:gd name="T9" fmla="*/ 0 w 31"/>
                      <a:gd name="T10" fmla="*/ 0 h 112"/>
                      <a:gd name="T11" fmla="*/ 31 w 31"/>
                      <a:gd name="T12" fmla="*/ 112 h 112"/>
                    </a:gdLst>
                    <a:ahLst/>
                    <a:cxnLst>
                      <a:cxn ang="T6">
                        <a:pos x="T0" y="T1"/>
                      </a:cxn>
                      <a:cxn ang="T7">
                        <a:pos x="T2" y="T3"/>
                      </a:cxn>
                      <a:cxn ang="T8">
                        <a:pos x="T4" y="T5"/>
                      </a:cxn>
                    </a:cxnLst>
                    <a:rect l="T9" t="T10" r="T11" b="T12"/>
                    <a:pathLst>
                      <a:path w="31" h="112">
                        <a:moveTo>
                          <a:pt x="0" y="0"/>
                        </a:moveTo>
                        <a:lnTo>
                          <a:pt x="30" y="52"/>
                        </a:lnTo>
                        <a:lnTo>
                          <a:pt x="31" y="112"/>
                        </a:lnTo>
                      </a:path>
                    </a:pathLst>
                  </a:custGeom>
                  <a:noFill/>
                  <a:ln w="6350">
                    <a:solidFill>
                      <a:srgbClr val="000000"/>
                    </a:solidFill>
                    <a:round/>
                    <a:headEnd/>
                    <a:tailEnd/>
                  </a:ln>
                </p:spPr>
                <p:txBody>
                  <a:bodyPr/>
                  <a:lstStyle/>
                  <a:p>
                    <a:endParaRPr lang="zh-CN" altLang="en-US"/>
                  </a:p>
                </p:txBody>
              </p:sp>
              <p:sp>
                <p:nvSpPr>
                  <p:cNvPr id="105513" name="Freeform 30"/>
                  <p:cNvSpPr>
                    <a:spLocks/>
                  </p:cNvSpPr>
                  <p:nvPr/>
                </p:nvSpPr>
                <p:spPr bwMode="auto">
                  <a:xfrm>
                    <a:off x="3773" y="3045"/>
                    <a:ext cx="37" cy="135"/>
                  </a:xfrm>
                  <a:custGeom>
                    <a:avLst/>
                    <a:gdLst>
                      <a:gd name="T0" fmla="*/ 0 w 37"/>
                      <a:gd name="T1" fmla="*/ 0 h 135"/>
                      <a:gd name="T2" fmla="*/ 0 w 37"/>
                      <a:gd name="T3" fmla="*/ 60 h 135"/>
                      <a:gd name="T4" fmla="*/ 37 w 37"/>
                      <a:gd name="T5" fmla="*/ 135 h 135"/>
                      <a:gd name="T6" fmla="*/ 0 60000 65536"/>
                      <a:gd name="T7" fmla="*/ 0 60000 65536"/>
                      <a:gd name="T8" fmla="*/ 0 60000 65536"/>
                      <a:gd name="T9" fmla="*/ 0 w 37"/>
                      <a:gd name="T10" fmla="*/ 0 h 135"/>
                      <a:gd name="T11" fmla="*/ 37 w 37"/>
                      <a:gd name="T12" fmla="*/ 135 h 135"/>
                    </a:gdLst>
                    <a:ahLst/>
                    <a:cxnLst>
                      <a:cxn ang="T6">
                        <a:pos x="T0" y="T1"/>
                      </a:cxn>
                      <a:cxn ang="T7">
                        <a:pos x="T2" y="T3"/>
                      </a:cxn>
                      <a:cxn ang="T8">
                        <a:pos x="T4" y="T5"/>
                      </a:cxn>
                    </a:cxnLst>
                    <a:rect l="T9" t="T10" r="T11" b="T12"/>
                    <a:pathLst>
                      <a:path w="37" h="135">
                        <a:moveTo>
                          <a:pt x="0" y="0"/>
                        </a:moveTo>
                        <a:lnTo>
                          <a:pt x="0" y="60"/>
                        </a:lnTo>
                        <a:lnTo>
                          <a:pt x="37" y="135"/>
                        </a:lnTo>
                      </a:path>
                    </a:pathLst>
                  </a:custGeom>
                  <a:noFill/>
                  <a:ln w="6350">
                    <a:solidFill>
                      <a:srgbClr val="000000"/>
                    </a:solidFill>
                    <a:round/>
                    <a:headEnd/>
                    <a:tailEnd/>
                  </a:ln>
                </p:spPr>
                <p:txBody>
                  <a:bodyPr/>
                  <a:lstStyle/>
                  <a:p>
                    <a:endParaRPr lang="zh-CN" altLang="en-US"/>
                  </a:p>
                </p:txBody>
              </p:sp>
            </p:grpSp>
            <p:grpSp>
              <p:nvGrpSpPr>
                <p:cNvPr id="105486" name="Group 31"/>
                <p:cNvGrpSpPr>
                  <a:grpSpLocks/>
                </p:cNvGrpSpPr>
                <p:nvPr/>
              </p:nvGrpSpPr>
              <p:grpSpPr bwMode="auto">
                <a:xfrm>
                  <a:off x="7485" y="2700"/>
                  <a:ext cx="1725" cy="1725"/>
                  <a:chOff x="7620" y="2865"/>
                  <a:chExt cx="1425" cy="1425"/>
                </a:xfrm>
              </p:grpSpPr>
              <p:sp>
                <p:nvSpPr>
                  <p:cNvPr id="105492" name="Oval 32"/>
                  <p:cNvSpPr>
                    <a:spLocks noChangeArrowheads="1"/>
                  </p:cNvSpPr>
                  <p:nvPr/>
                </p:nvSpPr>
                <p:spPr bwMode="auto">
                  <a:xfrm>
                    <a:off x="7620" y="2865"/>
                    <a:ext cx="1425" cy="1425"/>
                  </a:xfrm>
                  <a:prstGeom prst="ellipse">
                    <a:avLst/>
                  </a:prstGeom>
                  <a:solidFill>
                    <a:srgbClr val="000000"/>
                  </a:solidFill>
                  <a:ln w="9525">
                    <a:solidFill>
                      <a:srgbClr val="000000"/>
                    </a:solidFill>
                    <a:round/>
                    <a:headEnd/>
                    <a:tailEnd/>
                  </a:ln>
                </p:spPr>
                <p:txBody>
                  <a:bodyPr/>
                  <a:lstStyle/>
                  <a:p>
                    <a:endParaRPr lang="zh-CN" altLang="en-US"/>
                  </a:p>
                </p:txBody>
              </p:sp>
              <p:sp>
                <p:nvSpPr>
                  <p:cNvPr id="105493" name="Oval 33"/>
                  <p:cNvSpPr>
                    <a:spLocks noChangeArrowheads="1"/>
                  </p:cNvSpPr>
                  <p:nvPr/>
                </p:nvSpPr>
                <p:spPr bwMode="auto">
                  <a:xfrm>
                    <a:off x="8010" y="3255"/>
                    <a:ext cx="645" cy="645"/>
                  </a:xfrm>
                  <a:prstGeom prst="ellipse">
                    <a:avLst/>
                  </a:prstGeom>
                  <a:solidFill>
                    <a:srgbClr val="FFFFFF"/>
                  </a:solidFill>
                  <a:ln w="9525">
                    <a:solidFill>
                      <a:srgbClr val="000000"/>
                    </a:solidFill>
                    <a:round/>
                    <a:headEnd/>
                    <a:tailEnd/>
                  </a:ln>
                </p:spPr>
                <p:txBody>
                  <a:bodyPr/>
                  <a:lstStyle/>
                  <a:p>
                    <a:endParaRPr lang="zh-CN" altLang="en-US"/>
                  </a:p>
                </p:txBody>
              </p:sp>
              <p:sp>
                <p:nvSpPr>
                  <p:cNvPr id="105494" name="Oval 34"/>
                  <p:cNvSpPr>
                    <a:spLocks noChangeArrowheads="1"/>
                  </p:cNvSpPr>
                  <p:nvPr/>
                </p:nvSpPr>
                <p:spPr bwMode="auto">
                  <a:xfrm>
                    <a:off x="8093" y="3338"/>
                    <a:ext cx="480" cy="480"/>
                  </a:xfrm>
                  <a:prstGeom prst="ellipse">
                    <a:avLst/>
                  </a:prstGeom>
                  <a:solidFill>
                    <a:srgbClr val="000000"/>
                  </a:solidFill>
                  <a:ln w="9525">
                    <a:solidFill>
                      <a:srgbClr val="000000"/>
                    </a:solidFill>
                    <a:round/>
                    <a:headEnd/>
                    <a:tailEnd/>
                  </a:ln>
                </p:spPr>
                <p:txBody>
                  <a:bodyPr/>
                  <a:lstStyle/>
                  <a:p>
                    <a:endParaRPr lang="zh-CN" altLang="en-US"/>
                  </a:p>
                </p:txBody>
              </p:sp>
              <p:sp>
                <p:nvSpPr>
                  <p:cNvPr id="105495" name="Oval 35"/>
                  <p:cNvSpPr>
                    <a:spLocks noChangeArrowheads="1"/>
                  </p:cNvSpPr>
                  <p:nvPr/>
                </p:nvSpPr>
                <p:spPr bwMode="auto">
                  <a:xfrm>
                    <a:off x="8190" y="3435"/>
                    <a:ext cx="285" cy="285"/>
                  </a:xfrm>
                  <a:prstGeom prst="ellipse">
                    <a:avLst/>
                  </a:prstGeom>
                  <a:solidFill>
                    <a:srgbClr val="FFFFFF"/>
                  </a:solidFill>
                  <a:ln w="9525">
                    <a:solidFill>
                      <a:srgbClr val="000000"/>
                    </a:solidFill>
                    <a:round/>
                    <a:headEnd/>
                    <a:tailEnd/>
                  </a:ln>
                </p:spPr>
                <p:txBody>
                  <a:bodyPr/>
                  <a:lstStyle/>
                  <a:p>
                    <a:endParaRPr lang="zh-CN" altLang="en-US"/>
                  </a:p>
                </p:txBody>
              </p:sp>
            </p:grpSp>
            <p:sp>
              <p:nvSpPr>
                <p:cNvPr id="105487" name="Text Box 36"/>
                <p:cNvSpPr txBox="1">
                  <a:spLocks noChangeArrowheads="1"/>
                </p:cNvSpPr>
                <p:nvPr/>
              </p:nvSpPr>
              <p:spPr bwMode="auto">
                <a:xfrm>
                  <a:off x="2265" y="3075"/>
                  <a:ext cx="405" cy="570"/>
                </a:xfrm>
                <a:prstGeom prst="rect">
                  <a:avLst/>
                </a:prstGeom>
                <a:noFill/>
                <a:ln w="9525">
                  <a:noFill/>
                  <a:miter lim="800000"/>
                  <a:headEnd/>
                  <a:tailEnd/>
                </a:ln>
              </p:spPr>
              <p:txBody>
                <a:bodyPr/>
                <a:lstStyle/>
                <a:p>
                  <a:pPr algn="just"/>
                  <a:r>
                    <a:rPr lang="en-US" altLang="zh-CN" i="1">
                      <a:latin typeface="Times New Roman" pitchFamily="18" charset="0"/>
                    </a:rPr>
                    <a:t>a</a:t>
                  </a:r>
                  <a:endParaRPr lang="en-US" altLang="zh-CN"/>
                </a:p>
              </p:txBody>
            </p:sp>
            <p:sp>
              <p:nvSpPr>
                <p:cNvPr id="105488" name="Text Box 37"/>
                <p:cNvSpPr txBox="1">
                  <a:spLocks noChangeArrowheads="1"/>
                </p:cNvSpPr>
                <p:nvPr/>
              </p:nvSpPr>
              <p:spPr bwMode="auto">
                <a:xfrm>
                  <a:off x="4222" y="4260"/>
                  <a:ext cx="720" cy="570"/>
                </a:xfrm>
                <a:prstGeom prst="rect">
                  <a:avLst/>
                </a:prstGeom>
                <a:noFill/>
                <a:ln w="9525">
                  <a:noFill/>
                  <a:miter lim="800000"/>
                  <a:headEnd/>
                  <a:tailEnd/>
                </a:ln>
              </p:spPr>
              <p:txBody>
                <a:bodyPr/>
                <a:lstStyle/>
                <a:p>
                  <a:pPr algn="just"/>
                  <a:r>
                    <a:rPr lang="en-US" altLang="zh-CN" i="1">
                      <a:latin typeface="Times New Roman" pitchFamily="18" charset="0"/>
                    </a:rPr>
                    <a:t>f′</a:t>
                  </a:r>
                  <a:endParaRPr lang="en-US" altLang="zh-CN"/>
                </a:p>
              </p:txBody>
            </p:sp>
            <p:sp>
              <p:nvSpPr>
                <p:cNvPr id="105489" name="Text Box 38"/>
                <p:cNvSpPr txBox="1">
                  <a:spLocks noChangeArrowheads="1"/>
                </p:cNvSpPr>
                <p:nvPr/>
              </p:nvSpPr>
              <p:spPr bwMode="auto">
                <a:xfrm>
                  <a:off x="5392" y="3090"/>
                  <a:ext cx="405" cy="570"/>
                </a:xfrm>
                <a:prstGeom prst="rect">
                  <a:avLst/>
                </a:prstGeom>
                <a:noFill/>
                <a:ln w="9525">
                  <a:noFill/>
                  <a:miter lim="800000"/>
                  <a:headEnd/>
                  <a:tailEnd/>
                </a:ln>
              </p:spPr>
              <p:txBody>
                <a:bodyPr/>
                <a:lstStyle/>
                <a:p>
                  <a:pPr algn="just"/>
                  <a:endParaRPr lang="zh-CN" altLang="zh-CN"/>
                </a:p>
              </p:txBody>
            </p:sp>
            <p:sp>
              <p:nvSpPr>
                <p:cNvPr id="105490" name="Text Box 39"/>
                <p:cNvSpPr txBox="1">
                  <a:spLocks noChangeArrowheads="1"/>
                </p:cNvSpPr>
                <p:nvPr/>
              </p:nvSpPr>
              <p:spPr bwMode="auto">
                <a:xfrm>
                  <a:off x="4096" y="3516"/>
                  <a:ext cx="720" cy="570"/>
                </a:xfrm>
                <a:prstGeom prst="rect">
                  <a:avLst/>
                </a:prstGeom>
                <a:noFill/>
                <a:ln w="9525">
                  <a:noFill/>
                  <a:miter lim="800000"/>
                  <a:headEnd/>
                  <a:tailEnd/>
                </a:ln>
              </p:spPr>
              <p:txBody>
                <a:bodyPr/>
                <a:lstStyle/>
                <a:p>
                  <a:pPr algn="just"/>
                  <a:r>
                    <a:rPr lang="en-US" altLang="zh-CN" sz="1400" i="1">
                      <a:latin typeface="Times New Roman" pitchFamily="18" charset="0"/>
                    </a:rPr>
                    <a:t>U′</a:t>
                  </a:r>
                  <a:endParaRPr lang="en-US" altLang="zh-CN" sz="1400"/>
                </a:p>
              </p:txBody>
            </p:sp>
            <p:sp>
              <p:nvSpPr>
                <p:cNvPr id="105491" name="Text Box 40"/>
                <p:cNvSpPr txBox="1">
                  <a:spLocks noChangeArrowheads="1"/>
                </p:cNvSpPr>
                <p:nvPr/>
              </p:nvSpPr>
              <p:spPr bwMode="auto">
                <a:xfrm>
                  <a:off x="4350" y="3247"/>
                  <a:ext cx="502" cy="570"/>
                </a:xfrm>
                <a:prstGeom prst="rect">
                  <a:avLst/>
                </a:prstGeom>
                <a:noFill/>
                <a:ln w="9525">
                  <a:noFill/>
                  <a:miter lim="800000"/>
                  <a:headEnd/>
                  <a:tailEnd/>
                </a:ln>
              </p:spPr>
              <p:txBody>
                <a:bodyPr/>
                <a:lstStyle/>
                <a:p>
                  <a:pPr algn="just"/>
                  <a:r>
                    <a:rPr lang="en-US" altLang="zh-CN" i="1">
                      <a:latin typeface="宋体" pitchFamily="2" charset="-122"/>
                    </a:rPr>
                    <a:t>θ</a:t>
                  </a:r>
                  <a:endParaRPr lang="en-US" altLang="zh-CN"/>
                </a:p>
              </p:txBody>
            </p:sp>
          </p:grpSp>
          <p:sp>
            <p:nvSpPr>
              <p:cNvPr id="105484" name="Text Box 41"/>
              <p:cNvSpPr txBox="1">
                <a:spLocks noChangeArrowheads="1"/>
              </p:cNvSpPr>
              <p:nvPr/>
            </p:nvSpPr>
            <p:spPr bwMode="auto">
              <a:xfrm>
                <a:off x="2385" y="5175"/>
                <a:ext cx="6555" cy="450"/>
              </a:xfrm>
              <a:prstGeom prst="rect">
                <a:avLst/>
              </a:prstGeom>
              <a:noFill/>
              <a:ln w="9525">
                <a:noFill/>
                <a:miter lim="800000"/>
                <a:headEnd/>
                <a:tailEnd/>
              </a:ln>
            </p:spPr>
            <p:txBody>
              <a:bodyPr/>
              <a:lstStyle/>
              <a:p>
                <a:pPr algn="ctr"/>
                <a:r>
                  <a:rPr lang="zh-CN" altLang="en-US">
                    <a:latin typeface="黑体" pitchFamily="2" charset="-122"/>
                    <a:ea typeface="黑体" pitchFamily="2" charset="-122"/>
                  </a:rPr>
                  <a:t>夫朗和斐圆孔衍射图</a:t>
                </a:r>
                <a:r>
                  <a:rPr lang="en-US" altLang="zh-CN">
                    <a:latin typeface="Times New Roman" pitchFamily="18" charset="0"/>
                    <a:ea typeface="黑体" pitchFamily="2" charset="-122"/>
                  </a:rPr>
                  <a:t>——</a:t>
                </a:r>
                <a:r>
                  <a:rPr lang="zh-CN" altLang="en-US">
                    <a:latin typeface="黑体" pitchFamily="2" charset="-122"/>
                    <a:ea typeface="黑体" pitchFamily="2" charset="-122"/>
                  </a:rPr>
                  <a:t>艾里斑</a:t>
                </a:r>
                <a:endParaRPr lang="zh-CN" altLang="en-US"/>
              </a:p>
            </p:txBody>
          </p:sp>
        </p:grpSp>
      </p:grpSp>
      <p:sp>
        <p:nvSpPr>
          <p:cNvPr id="45"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星点检验的理论基础</a:t>
            </a:r>
          </a:p>
        </p:txBody>
      </p:sp>
      <p:graphicFrame>
        <p:nvGraphicFramePr>
          <p:cNvPr id="184321" name="Object 5"/>
          <p:cNvGraphicFramePr>
            <a:graphicFrameLocks noChangeAspect="1"/>
          </p:cNvGraphicFramePr>
          <p:nvPr/>
        </p:nvGraphicFramePr>
        <p:xfrm>
          <a:off x="1311132" y="4513717"/>
          <a:ext cx="2017712" cy="1679575"/>
        </p:xfrm>
        <a:graphic>
          <a:graphicData uri="http://schemas.openxmlformats.org/presentationml/2006/ole">
            <p:oleObj spid="_x0000_s184321" name="公式" r:id="rId4" imgW="26822717" imgH="22250717" progId="Equation.3">
              <p:embed/>
            </p:oleObj>
          </a:graphicData>
        </a:graphic>
      </p:graphicFrame>
      <p:sp>
        <p:nvSpPr>
          <p:cNvPr id="46" name="矩形 45"/>
          <p:cNvSpPr/>
          <p:nvPr/>
        </p:nvSpPr>
        <p:spPr>
          <a:xfrm>
            <a:off x="587828" y="2041088"/>
            <a:ext cx="2915392" cy="2308324"/>
          </a:xfrm>
          <a:prstGeom prst="rect">
            <a:avLst/>
          </a:prstGeom>
        </p:spPr>
        <p:txBody>
          <a:bodyPr wrap="square">
            <a:spAutoFit/>
          </a:bodyPr>
          <a:lstStyle/>
          <a:p>
            <a:pPr eaLnBrk="1" hangingPunct="1">
              <a:lnSpc>
                <a:spcPct val="90000"/>
              </a:lnSpc>
              <a:defRPr/>
            </a:pPr>
            <a:r>
              <a:rPr lang="zh-CN" altLang="en-US" sz="2000" b="1" dirty="0" smtClean="0">
                <a:effectLst>
                  <a:outerShdw blurRad="38100" dist="38100" dir="2700000" algn="tl">
                    <a:srgbClr val="000000">
                      <a:alpha val="43137"/>
                    </a:srgbClr>
                  </a:outerShdw>
                </a:effectLst>
                <a:latin typeface="黑体" pitchFamily="2" charset="-122"/>
                <a:ea typeface="黑体" pitchFamily="2" charset="-122"/>
              </a:rPr>
              <a:t>位于无限远处的发光物点经过理想光学系统成像，在像平面上的光强分布已经研究得很清楚</a:t>
            </a:r>
            <a:r>
              <a:rPr lang="en-US" altLang="zh-CN" sz="2000" b="1" dirty="0" smtClean="0">
                <a:effectLst>
                  <a:outerShdw blurRad="38100" dist="38100" dir="2700000" algn="tl">
                    <a:srgbClr val="000000">
                      <a:alpha val="43137"/>
                    </a:srgbClr>
                  </a:outerShdw>
                </a:effectLst>
                <a:latin typeface="黑体" pitchFamily="2" charset="-122"/>
                <a:ea typeface="黑体" pitchFamily="2" charset="-122"/>
              </a:rPr>
              <a:t>——</a:t>
            </a:r>
            <a:r>
              <a:rPr lang="zh-CN" altLang="en-US" sz="2000" b="1" dirty="0" smtClean="0">
                <a:effectLst>
                  <a:outerShdw blurRad="38100" dist="38100" dir="2700000" algn="tl">
                    <a:srgbClr val="000000">
                      <a:alpha val="43137"/>
                    </a:srgbClr>
                  </a:outerShdw>
                </a:effectLst>
                <a:latin typeface="黑体" pitchFamily="2" charset="-122"/>
                <a:ea typeface="黑体" pitchFamily="2" charset="-122"/>
              </a:rPr>
              <a:t>符合物理光学中的夫朗和斐（</a:t>
            </a:r>
            <a:r>
              <a:rPr lang="en-US" altLang="zh-CN" sz="2000" b="1" dirty="0" err="1" smtClean="0">
                <a:effectLst>
                  <a:outerShdw blurRad="38100" dist="38100" dir="2700000" algn="tl">
                    <a:srgbClr val="000000">
                      <a:alpha val="43137"/>
                    </a:srgbClr>
                  </a:outerShdw>
                </a:effectLst>
                <a:latin typeface="黑体" pitchFamily="2" charset="-122"/>
                <a:ea typeface="黑体" pitchFamily="2" charset="-122"/>
              </a:rPr>
              <a:t>Fraunhofer</a:t>
            </a:r>
            <a:r>
              <a:rPr lang="zh-CN" altLang="en-US" sz="2000" b="1" dirty="0" smtClean="0">
                <a:effectLst>
                  <a:outerShdw blurRad="38100" dist="38100" dir="2700000" algn="tl">
                    <a:srgbClr val="000000">
                      <a:alpha val="43137"/>
                    </a:srgbClr>
                  </a:outerShdw>
                </a:effectLst>
                <a:latin typeface="黑体" pitchFamily="2" charset="-122"/>
                <a:ea typeface="黑体" pitchFamily="2" charset="-122"/>
              </a:rPr>
              <a:t>）衍射理论。</a:t>
            </a:r>
          </a:p>
        </p:txBody>
      </p:sp>
    </p:spTree>
  </p:cSld>
  <p:clrMapOvr>
    <a:masterClrMapping/>
  </p:clrMapOvr>
  <p:transition>
    <p:circl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日期占位符 3"/>
          <p:cNvSpPr>
            <a:spLocks noGrp="1"/>
          </p:cNvSpPr>
          <p:nvPr>
            <p:ph type="dt" sz="quarter" idx="10"/>
          </p:nvPr>
        </p:nvSpPr>
        <p:spPr>
          <a:noFill/>
        </p:spPr>
        <p:txBody>
          <a:bodyPr/>
          <a:lstStyle/>
          <a:p>
            <a:fld id="{5E92D5C4-3A84-484F-A276-FB113EDF330B}" type="datetime1">
              <a:rPr lang="zh-CN" altLang="en-US" smtClean="0"/>
              <a:pPr/>
              <a:t>2018/2/24</a:t>
            </a:fld>
            <a:endParaRPr lang="en-US" altLang="zh-CN" smtClean="0"/>
          </a:p>
        </p:txBody>
      </p:sp>
      <p:sp>
        <p:nvSpPr>
          <p:cNvPr id="23556" name="灯片编号占位符 5"/>
          <p:cNvSpPr>
            <a:spLocks noGrp="1"/>
          </p:cNvSpPr>
          <p:nvPr>
            <p:ph type="sldNum" sz="quarter" idx="12"/>
          </p:nvPr>
        </p:nvSpPr>
        <p:spPr>
          <a:noFill/>
        </p:spPr>
        <p:txBody>
          <a:bodyPr/>
          <a:lstStyle/>
          <a:p>
            <a:fld id="{7755CB16-2FFF-4B23-8951-55DF3C7E0786}" type="slidenum">
              <a:rPr lang="en-US" altLang="zh-CN" smtClean="0"/>
              <a:pPr/>
              <a:t>39</a:t>
            </a:fld>
            <a:endParaRPr lang="en-US" altLang="zh-CN" smtClean="0"/>
          </a:p>
        </p:txBody>
      </p:sp>
      <p:sp>
        <p:nvSpPr>
          <p:cNvPr id="23558" name="Rectangle 3"/>
          <p:cNvSpPr>
            <a:spLocks noChangeArrowheads="1"/>
          </p:cNvSpPr>
          <p:nvPr/>
        </p:nvSpPr>
        <p:spPr bwMode="auto">
          <a:xfrm>
            <a:off x="0" y="2976563"/>
            <a:ext cx="9144000" cy="0"/>
          </a:xfrm>
          <a:prstGeom prst="rect">
            <a:avLst/>
          </a:prstGeom>
          <a:noFill/>
          <a:ln w="9525">
            <a:noFill/>
            <a:miter lim="800000"/>
            <a:headEnd/>
            <a:tailEnd/>
          </a:ln>
        </p:spPr>
        <p:txBody>
          <a:bodyPr wrap="none" anchor="ctr">
            <a:spAutoFit/>
          </a:bodyPr>
          <a:lstStyle/>
          <a:p>
            <a:endParaRPr lang="zh-CN" altLang="en-US"/>
          </a:p>
        </p:txBody>
      </p:sp>
      <p:sp>
        <p:nvSpPr>
          <p:cNvPr id="23559" name="Rectangle 4"/>
          <p:cNvSpPr>
            <a:spLocks noChangeArrowheads="1"/>
          </p:cNvSpPr>
          <p:nvPr/>
        </p:nvSpPr>
        <p:spPr bwMode="auto">
          <a:xfrm>
            <a:off x="1071563" y="2179638"/>
            <a:ext cx="1063625" cy="0"/>
          </a:xfrm>
          <a:prstGeom prst="rect">
            <a:avLst/>
          </a:prstGeom>
          <a:noFill/>
          <a:ln w="9525">
            <a:noFill/>
            <a:miter lim="800000"/>
            <a:headEnd/>
            <a:tailEnd/>
          </a:ln>
        </p:spPr>
        <p:txBody>
          <a:bodyPr wrap="none" anchor="ctr">
            <a:spAutoFit/>
          </a:bodyPr>
          <a:lstStyle/>
          <a:p>
            <a:endParaRPr lang="zh-CN" altLang="en-US"/>
          </a:p>
        </p:txBody>
      </p:sp>
      <p:sp>
        <p:nvSpPr>
          <p:cNvPr id="23560" name="Rectangle 5"/>
          <p:cNvSpPr>
            <a:spLocks noChangeArrowheads="1"/>
          </p:cNvSpPr>
          <p:nvPr/>
        </p:nvSpPr>
        <p:spPr bwMode="auto">
          <a:xfrm>
            <a:off x="1071563" y="2179638"/>
            <a:ext cx="1063625" cy="0"/>
          </a:xfrm>
          <a:prstGeom prst="rect">
            <a:avLst/>
          </a:prstGeom>
          <a:noFill/>
          <a:ln w="9525">
            <a:noFill/>
            <a:miter lim="800000"/>
            <a:headEnd/>
            <a:tailEnd/>
          </a:ln>
        </p:spPr>
        <p:txBody>
          <a:bodyPr wrap="none" anchor="ctr">
            <a:spAutoFit/>
          </a:bodyPr>
          <a:lstStyle/>
          <a:p>
            <a:endParaRPr lang="zh-CN" altLang="en-US"/>
          </a:p>
        </p:txBody>
      </p:sp>
      <p:graphicFrame>
        <p:nvGraphicFramePr>
          <p:cNvPr id="588879" name="Group 79"/>
          <p:cNvGraphicFramePr>
            <a:graphicFrameLocks noGrp="1"/>
          </p:cNvGraphicFramePr>
          <p:nvPr/>
        </p:nvGraphicFramePr>
        <p:xfrm>
          <a:off x="315913" y="2028825"/>
          <a:ext cx="8585200" cy="4400553"/>
        </p:xfrm>
        <a:graphic>
          <a:graphicData uri="http://schemas.openxmlformats.org/drawingml/2006/table">
            <a:tbl>
              <a:tblPr/>
              <a:tblGrid>
                <a:gridCol w="1441450"/>
                <a:gridCol w="1879600"/>
                <a:gridCol w="1879600"/>
                <a:gridCol w="1878012"/>
                <a:gridCol w="1506538"/>
              </a:tblGrid>
              <a:tr h="8048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l-GR" altLang="zh-CN" sz="20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rPr>
                        <a:t>θ</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I</a:t>
                      </a:r>
                      <a:r>
                        <a:rPr kumimoji="0" lang="en-US" altLang="zh-CN" sz="20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20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I</a:t>
                      </a:r>
                      <a:r>
                        <a:rPr kumimoji="0" lang="en-US" altLang="zh-CN" sz="2000" b="0" i="0" u="none" strike="noStrike" cap="none" normalizeH="0" baseline="-3000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endParaRPr kumimoji="0" lang="en-US" altLang="zh-CN" sz="20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光能分配</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中央亮斑</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83.78</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400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第一暗环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1.220π=3.83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0.610</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endPar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第一亮环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1.635π=5.14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0.818</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0.0175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7.22</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第二暗环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2.233π=7.02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1.116</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r>
              <a:tr h="400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第二亮环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2.679π=8.42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1.339</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0.0042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2.77</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第三暗环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3.238π=10.17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1.619</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r>
              <a:tr h="4016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第三亮环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3.699π=11.62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1.849</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0.0016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1.46</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r h="400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第四暗环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4.240π=13.32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2.120</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66FF"/>
                    </a:solidFill>
                  </a:tcPr>
                </a:tc>
              </a:tr>
              <a:tr h="387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第四亮环</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4.711π=14.80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2.356</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λ</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t>
                      </a:r>
                      <a:r>
                        <a:rPr kumimoji="0" lang="en-US" altLang="zh-CN" sz="1600" b="0" i="1"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a</a:t>
                      </a: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0.0008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a typeface="黑体" pitchFamily="2" charset="-122"/>
                          <a:cs typeface="Times New Roman" pitchFamily="18" charset="0"/>
                        </a:rPr>
                        <a:t>0.86</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r>
            </a:tbl>
          </a:graphicData>
        </a:graphic>
      </p:graphicFrame>
      <p:graphicFrame>
        <p:nvGraphicFramePr>
          <p:cNvPr id="23554" name="Object 75"/>
          <p:cNvGraphicFramePr>
            <a:graphicFrameLocks noChangeAspect="1"/>
          </p:cNvGraphicFramePr>
          <p:nvPr/>
        </p:nvGraphicFramePr>
        <p:xfrm>
          <a:off x="1992313" y="2051050"/>
          <a:ext cx="1497012" cy="814388"/>
        </p:xfrm>
        <a:graphic>
          <a:graphicData uri="http://schemas.openxmlformats.org/presentationml/2006/ole">
            <p:oleObj spid="_x0000_s23554" name="公式" r:id="rId3" imgW="17069117" imgH="9449117" progId="Equation.3">
              <p:embed/>
            </p:oleObj>
          </a:graphicData>
        </a:graphic>
      </p:graphicFrame>
      <p:sp>
        <p:nvSpPr>
          <p:cNvPr id="11"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2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星点检验的理论基础</a:t>
            </a:r>
          </a:p>
        </p:txBody>
      </p:sp>
    </p:spTree>
  </p:cSld>
  <p:clrMapOvr>
    <a:masterClrMapping/>
  </p:clrMapOvr>
  <p:transition>
    <p:circl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txBox="1">
            <a:spLocks noGrp="1"/>
          </p:cNvSpPr>
          <p:nvPr/>
        </p:nvSpPr>
        <p:spPr bwMode="auto">
          <a:xfrm>
            <a:off x="298450" y="6245225"/>
            <a:ext cx="2289175" cy="476250"/>
          </a:xfrm>
          <a:prstGeom prst="rect">
            <a:avLst/>
          </a:prstGeom>
          <a:noFill/>
          <a:ln w="9525">
            <a:noFill/>
            <a:miter lim="800000"/>
            <a:headEnd/>
            <a:tailEnd/>
          </a:ln>
        </p:spPr>
        <p:txBody>
          <a:bodyPr/>
          <a:lstStyle/>
          <a:p>
            <a:fld id="{FC4CC683-654A-4204-842F-B03BA1A4B71A}" type="datetime1">
              <a:rPr lang="zh-CN" altLang="en-US" sz="1400"/>
              <a:pPr/>
              <a:t>2018/2/24</a:t>
            </a:fld>
            <a:endParaRPr lang="en-US" altLang="zh-CN" sz="1400"/>
          </a:p>
        </p:txBody>
      </p:sp>
      <p:sp>
        <p:nvSpPr>
          <p:cNvPr id="107523" name="灯片编号占位符 5"/>
          <p:cNvSpPr txBox="1">
            <a:spLocks noGrp="1"/>
          </p:cNvSpPr>
          <p:nvPr/>
        </p:nvSpPr>
        <p:spPr bwMode="auto">
          <a:xfrm>
            <a:off x="6550025" y="6245225"/>
            <a:ext cx="2289175" cy="476250"/>
          </a:xfrm>
          <a:prstGeom prst="rect">
            <a:avLst/>
          </a:prstGeom>
          <a:noFill/>
          <a:ln w="9525">
            <a:noFill/>
            <a:miter lim="800000"/>
            <a:headEnd/>
            <a:tailEnd/>
          </a:ln>
        </p:spPr>
        <p:txBody>
          <a:bodyPr/>
          <a:lstStyle/>
          <a:p>
            <a:pPr algn="r"/>
            <a:fld id="{DA4A57E8-AC10-4BB4-B0B8-24294EB77098}" type="slidenum">
              <a:rPr lang="en-US" altLang="zh-CN" sz="1400"/>
              <a:pPr algn="r"/>
              <a:t>40</a:t>
            </a:fld>
            <a:endParaRPr lang="en-US" altLang="zh-CN" sz="1400"/>
          </a:p>
        </p:txBody>
      </p:sp>
      <p:sp>
        <p:nvSpPr>
          <p:cNvPr id="589827" name="Rectangle 3"/>
          <p:cNvSpPr>
            <a:spLocks noGrp="1" noRot="1" noChangeArrowheads="1"/>
          </p:cNvSpPr>
          <p:nvPr>
            <p:ph type="body" idx="4294967295"/>
          </p:nvPr>
        </p:nvSpPr>
        <p:spPr>
          <a:xfrm>
            <a:off x="471488" y="1960563"/>
            <a:ext cx="8229600" cy="4805362"/>
          </a:xfrm>
        </p:spPr>
        <p:txBody>
          <a:bodyPr/>
          <a:lstStyle/>
          <a:p>
            <a:pPr marL="261938" indent="-261938" eaLnBrk="1" hangingPunct="1">
              <a:lnSpc>
                <a:spcPct val="120000"/>
              </a:lnSpc>
              <a:defRPr/>
            </a:pPr>
            <a:r>
              <a:rPr lang="zh-CN" altLang="en-US" dirty="0" smtClean="0">
                <a:latin typeface="Times New Roman" pitchFamily="18" charset="0"/>
                <a:ea typeface="黑体" pitchFamily="2" charset="-122"/>
              </a:rPr>
              <a:t>星点检验特点：</a:t>
            </a:r>
          </a:p>
          <a:p>
            <a:pPr marL="727075" lvl="1" eaLnBrk="1" hangingPunct="1">
              <a:lnSpc>
                <a:spcPct val="120000"/>
              </a:lnSpc>
              <a:defRPr/>
            </a:pPr>
            <a:r>
              <a:rPr lang="zh-CN" altLang="en-US" sz="2400" dirty="0" smtClean="0">
                <a:latin typeface="Times New Roman" pitchFamily="18" charset="0"/>
                <a:ea typeface="黑体" pitchFamily="2" charset="-122"/>
              </a:rPr>
              <a:t>非常灵敏</a:t>
            </a:r>
          </a:p>
          <a:p>
            <a:pPr marL="727075" lvl="1" eaLnBrk="1" hangingPunct="1">
              <a:lnSpc>
                <a:spcPct val="120000"/>
              </a:lnSpc>
              <a:defRPr/>
            </a:pPr>
            <a:r>
              <a:rPr lang="zh-CN" altLang="en-US" sz="2400" dirty="0" smtClean="0">
                <a:latin typeface="Times New Roman" pitchFamily="18" charset="0"/>
                <a:ea typeface="黑体" pitchFamily="2" charset="-122"/>
              </a:rPr>
              <a:t>十分方便</a:t>
            </a:r>
          </a:p>
          <a:p>
            <a:pPr marL="727075" lvl="1" eaLnBrk="1" hangingPunct="1">
              <a:lnSpc>
                <a:spcPct val="120000"/>
              </a:lnSpc>
              <a:defRPr/>
            </a:pPr>
            <a:r>
              <a:rPr lang="zh-CN" altLang="en-US" sz="2400" dirty="0" smtClean="0">
                <a:latin typeface="Times New Roman" pitchFamily="18" charset="0"/>
                <a:ea typeface="黑体" pitchFamily="2" charset="-122"/>
              </a:rPr>
              <a:t>设备简单</a:t>
            </a:r>
          </a:p>
          <a:p>
            <a:pPr marL="727075" lvl="1" eaLnBrk="1" hangingPunct="1">
              <a:lnSpc>
                <a:spcPct val="120000"/>
              </a:lnSpc>
              <a:defRPr/>
            </a:pPr>
            <a:r>
              <a:rPr lang="zh-CN" altLang="en-US" sz="2400" dirty="0" smtClean="0">
                <a:latin typeface="Times New Roman" pitchFamily="18" charset="0"/>
                <a:ea typeface="黑体" pitchFamily="2" charset="-122"/>
              </a:rPr>
              <a:t>定性检验</a:t>
            </a:r>
          </a:p>
          <a:p>
            <a:pPr marL="727075" lvl="1" eaLnBrk="1" hangingPunct="1">
              <a:lnSpc>
                <a:spcPct val="120000"/>
              </a:lnSpc>
              <a:defRPr/>
            </a:pPr>
            <a:r>
              <a:rPr lang="zh-CN" altLang="en-US" sz="2400" dirty="0" smtClean="0">
                <a:solidFill>
                  <a:srgbClr val="FF0000"/>
                </a:solidFill>
                <a:latin typeface="Times New Roman" pitchFamily="18" charset="0"/>
                <a:ea typeface="黑体" pitchFamily="2" charset="-122"/>
              </a:rPr>
              <a:t>需要丰富的经验</a:t>
            </a:r>
          </a:p>
          <a:p>
            <a:pPr marL="261938" indent="-261938" eaLnBrk="1" hangingPunct="1">
              <a:lnSpc>
                <a:spcPct val="120000"/>
              </a:lnSpc>
              <a:defRPr/>
            </a:pPr>
            <a:r>
              <a:rPr lang="zh-CN" altLang="en-US" dirty="0" smtClean="0">
                <a:latin typeface="Times New Roman" pitchFamily="18" charset="0"/>
                <a:ea typeface="黑体" pitchFamily="2" charset="-122"/>
              </a:rPr>
              <a:t>实际光学系统的光瞳形状并不总是圆孔形的，有时可能是矩形或者圆环形的。</a:t>
            </a:r>
          </a:p>
        </p:txBody>
      </p:sp>
      <p:sp>
        <p:nvSpPr>
          <p:cNvPr id="107526" name="Rectangle 4"/>
          <p:cNvSpPr>
            <a:spLocks noChangeArrowheads="1"/>
          </p:cNvSpPr>
          <p:nvPr/>
        </p:nvSpPr>
        <p:spPr bwMode="auto">
          <a:xfrm>
            <a:off x="0" y="2976563"/>
            <a:ext cx="9144000" cy="0"/>
          </a:xfrm>
          <a:prstGeom prst="rect">
            <a:avLst/>
          </a:prstGeom>
          <a:noFill/>
          <a:ln w="9525">
            <a:noFill/>
            <a:miter lim="800000"/>
            <a:headEnd/>
            <a:tailEnd/>
          </a:ln>
        </p:spPr>
        <p:txBody>
          <a:bodyPr wrap="none" anchor="ctr">
            <a:spAutoFit/>
          </a:bodyPr>
          <a:lstStyle/>
          <a:p>
            <a:endParaRPr lang="zh-CN" altLang="en-US"/>
          </a:p>
        </p:txBody>
      </p:sp>
      <p:sp>
        <p:nvSpPr>
          <p:cNvPr id="8" name="Rectangle 2"/>
          <p:cNvSpPr txBox="1">
            <a:spLocks noRot="1" noChangeArrowheads="1"/>
          </p:cNvSpPr>
          <p:nvPr/>
        </p:nvSpPr>
        <p:spPr>
          <a:xfrm>
            <a:off x="557213" y="482600"/>
            <a:ext cx="7500937" cy="1139825"/>
          </a:xfrm>
          <a:prstGeom prst="rect">
            <a:avLst/>
          </a:prstGeom>
        </p:spPr>
        <p: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altLang="zh-CN"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§2-3  </a:t>
            </a:r>
            <a:r>
              <a:rPr kumimoji="0" lang="zh-CN" altLang="en-US" sz="4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星点检验            </a:t>
            </a:r>
            <a:r>
              <a:rPr kumimoji="0" lang="zh-CN" altLang="en-US" sz="1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
            </a:r>
            <a:br>
              <a:rPr kumimoji="0" lang="zh-CN" altLang="en-US" sz="1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br>
            <a:r>
              <a:rPr kumimoji="0" lang="zh-CN" altLang="en-US" sz="1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
            </a:r>
            <a:br>
              <a:rPr kumimoji="0" lang="zh-CN" altLang="en-US" sz="1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b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1.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星点检验的理论基础</a:t>
            </a:r>
          </a:p>
        </p:txBody>
      </p:sp>
    </p:spTree>
  </p:cSld>
  <p:clrMapOvr>
    <a:masterClrMapping/>
  </p:clrMapOvr>
  <p:transition>
    <p:circl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a:spLocks noGrp="1"/>
          </p:cNvSpPr>
          <p:nvPr>
            <p:ph type="dt" sz="quarter" idx="10"/>
          </p:nvPr>
        </p:nvSpPr>
        <p:spPr>
          <a:noFill/>
        </p:spPr>
        <p:txBody>
          <a:bodyPr/>
          <a:lstStyle/>
          <a:p>
            <a:fld id="{39686423-AE49-4464-AAF9-428842E86F13}" type="datetime1">
              <a:rPr lang="zh-CN" altLang="en-US" smtClean="0"/>
              <a:pPr/>
              <a:t>2018/2/24</a:t>
            </a:fld>
            <a:endParaRPr lang="en-US" altLang="zh-CN" smtClean="0"/>
          </a:p>
        </p:txBody>
      </p:sp>
      <p:sp>
        <p:nvSpPr>
          <p:cNvPr id="108547" name="灯片编号占位符 5"/>
          <p:cNvSpPr>
            <a:spLocks noGrp="1"/>
          </p:cNvSpPr>
          <p:nvPr>
            <p:ph type="sldNum" sz="quarter" idx="12"/>
          </p:nvPr>
        </p:nvSpPr>
        <p:spPr>
          <a:noFill/>
        </p:spPr>
        <p:txBody>
          <a:bodyPr/>
          <a:lstStyle/>
          <a:p>
            <a:fld id="{AD560350-059D-418A-AE95-85B53DA9AB68}" type="slidenum">
              <a:rPr lang="en-US" altLang="zh-CN" smtClean="0"/>
              <a:pPr/>
              <a:t>41</a:t>
            </a:fld>
            <a:endParaRPr lang="en-US" altLang="zh-CN" smtClean="0"/>
          </a:p>
        </p:txBody>
      </p:sp>
      <p:sp>
        <p:nvSpPr>
          <p:cNvPr id="590850"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．星点检验条件</a:t>
            </a:r>
          </a:p>
        </p:txBody>
      </p:sp>
      <p:sp>
        <p:nvSpPr>
          <p:cNvPr id="590851" name="Rectangle 3"/>
          <p:cNvSpPr>
            <a:spLocks noGrp="1" noRot="1" noChangeArrowheads="1"/>
          </p:cNvSpPr>
          <p:nvPr>
            <p:ph type="body" idx="1"/>
          </p:nvPr>
        </p:nvSpPr>
        <p:spPr>
          <a:xfrm>
            <a:off x="471488" y="1960563"/>
            <a:ext cx="8229600" cy="4805362"/>
          </a:xfrm>
        </p:spPr>
        <p:txBody>
          <a:bodyPr/>
          <a:lstStyle/>
          <a:p>
            <a:pPr marL="457200" indent="-457200" eaLnBrk="1" hangingPunct="1">
              <a:lnSpc>
                <a:spcPct val="90000"/>
              </a:lnSpc>
              <a:defRPr/>
            </a:pPr>
            <a:r>
              <a:rPr lang="zh-CN" altLang="en-US" smtClean="0">
                <a:ea typeface="黑体" pitchFamily="2" charset="-122"/>
              </a:rPr>
              <a:t>星点检验的装置</a:t>
            </a:r>
          </a:p>
        </p:txBody>
      </p:sp>
      <p:sp>
        <p:nvSpPr>
          <p:cNvPr id="108550" name="Rectangle 4"/>
          <p:cNvSpPr>
            <a:spLocks noChangeArrowheads="1"/>
          </p:cNvSpPr>
          <p:nvPr/>
        </p:nvSpPr>
        <p:spPr bwMode="auto">
          <a:xfrm>
            <a:off x="0" y="2976563"/>
            <a:ext cx="9144000" cy="0"/>
          </a:xfrm>
          <a:prstGeom prst="rect">
            <a:avLst/>
          </a:prstGeom>
          <a:noFill/>
          <a:ln w="9525">
            <a:noFill/>
            <a:miter lim="800000"/>
            <a:headEnd/>
            <a:tailEnd/>
          </a:ln>
        </p:spPr>
        <p:txBody>
          <a:bodyPr wrap="none" anchor="ctr">
            <a:spAutoFit/>
          </a:bodyPr>
          <a:lstStyle/>
          <a:p>
            <a:endParaRPr lang="zh-CN" altLang="en-US"/>
          </a:p>
        </p:txBody>
      </p:sp>
      <p:grpSp>
        <p:nvGrpSpPr>
          <p:cNvPr id="108551" name="Group 77"/>
          <p:cNvGrpSpPr>
            <a:grpSpLocks/>
          </p:cNvGrpSpPr>
          <p:nvPr/>
        </p:nvGrpSpPr>
        <p:grpSpPr bwMode="auto">
          <a:xfrm>
            <a:off x="571500" y="2546350"/>
            <a:ext cx="8029575" cy="3154363"/>
            <a:chOff x="360" y="1604"/>
            <a:chExt cx="5058" cy="1987"/>
          </a:xfrm>
        </p:grpSpPr>
        <p:sp>
          <p:nvSpPr>
            <p:cNvPr id="590854" name="Rectangle 6"/>
            <p:cNvSpPr>
              <a:spLocks noChangeArrowheads="1"/>
            </p:cNvSpPr>
            <p:nvPr/>
          </p:nvSpPr>
          <p:spPr bwMode="auto">
            <a:xfrm>
              <a:off x="360" y="1629"/>
              <a:ext cx="5058" cy="1962"/>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zh-CN" altLang="zh-CN" b="1">
                <a:effectLst>
                  <a:outerShdw blurRad="38100" dist="38100" dir="2700000" algn="tl">
                    <a:srgbClr val="FFFFFF"/>
                  </a:outerShdw>
                </a:effectLst>
              </a:endParaRPr>
            </a:p>
          </p:txBody>
        </p:sp>
        <p:sp>
          <p:nvSpPr>
            <p:cNvPr id="108553" name="Line 7"/>
            <p:cNvSpPr>
              <a:spLocks noChangeShapeType="1"/>
            </p:cNvSpPr>
            <p:nvPr/>
          </p:nvSpPr>
          <p:spPr bwMode="auto">
            <a:xfrm>
              <a:off x="395" y="2267"/>
              <a:ext cx="4800" cy="24"/>
            </a:xfrm>
            <a:prstGeom prst="line">
              <a:avLst/>
            </a:prstGeom>
            <a:noFill/>
            <a:ln w="6350">
              <a:solidFill>
                <a:srgbClr val="000000"/>
              </a:solidFill>
              <a:prstDash val="lgDashDot"/>
              <a:round/>
              <a:headEnd/>
              <a:tailEnd/>
            </a:ln>
          </p:spPr>
          <p:txBody>
            <a:bodyPr/>
            <a:lstStyle/>
            <a:p>
              <a:endParaRPr lang="zh-CN" altLang="en-US"/>
            </a:p>
          </p:txBody>
        </p:sp>
        <p:sp>
          <p:nvSpPr>
            <p:cNvPr id="108554" name="AutoShape 8"/>
            <p:cNvSpPr>
              <a:spLocks/>
            </p:cNvSpPr>
            <p:nvPr/>
          </p:nvSpPr>
          <p:spPr bwMode="auto">
            <a:xfrm>
              <a:off x="1583" y="2474"/>
              <a:ext cx="38" cy="369"/>
            </a:xfrm>
            <a:prstGeom prst="rightBracket">
              <a:avLst>
                <a:gd name="adj" fmla="val 80921"/>
              </a:avLst>
            </a:prstGeom>
            <a:noFill/>
            <a:ln w="9525">
              <a:solidFill>
                <a:srgbClr val="000000"/>
              </a:solidFill>
              <a:round/>
              <a:headEnd/>
              <a:tailEnd/>
            </a:ln>
          </p:spPr>
          <p:txBody>
            <a:bodyPr/>
            <a:lstStyle/>
            <a:p>
              <a:endParaRPr lang="zh-CN" altLang="en-US"/>
            </a:p>
          </p:txBody>
        </p:sp>
        <p:sp>
          <p:nvSpPr>
            <p:cNvPr id="108555" name="Rectangle 9"/>
            <p:cNvSpPr>
              <a:spLocks noChangeArrowheads="1"/>
            </p:cNvSpPr>
            <p:nvPr/>
          </p:nvSpPr>
          <p:spPr bwMode="auto">
            <a:xfrm>
              <a:off x="381" y="2952"/>
              <a:ext cx="4954" cy="235"/>
            </a:xfrm>
            <a:prstGeom prst="rect">
              <a:avLst/>
            </a:prstGeom>
            <a:noFill/>
            <a:ln w="9525">
              <a:solidFill>
                <a:srgbClr val="000000"/>
              </a:solidFill>
              <a:miter lim="800000"/>
              <a:headEnd/>
              <a:tailEnd/>
            </a:ln>
          </p:spPr>
          <p:txBody>
            <a:bodyPr/>
            <a:lstStyle/>
            <a:p>
              <a:endParaRPr lang="zh-CN" altLang="en-US"/>
            </a:p>
          </p:txBody>
        </p:sp>
        <p:sp>
          <p:nvSpPr>
            <p:cNvPr id="108556" name="Rectangle 10"/>
            <p:cNvSpPr>
              <a:spLocks noChangeArrowheads="1"/>
            </p:cNvSpPr>
            <p:nvPr/>
          </p:nvSpPr>
          <p:spPr bwMode="auto">
            <a:xfrm>
              <a:off x="4505" y="2812"/>
              <a:ext cx="552" cy="293"/>
            </a:xfrm>
            <a:prstGeom prst="rect">
              <a:avLst/>
            </a:prstGeom>
            <a:noFill/>
            <a:ln w="9525">
              <a:solidFill>
                <a:srgbClr val="000000"/>
              </a:solidFill>
              <a:miter lim="800000"/>
              <a:headEnd/>
              <a:tailEnd/>
            </a:ln>
          </p:spPr>
          <p:txBody>
            <a:bodyPr/>
            <a:lstStyle/>
            <a:p>
              <a:endParaRPr lang="zh-CN" altLang="en-US"/>
            </a:p>
          </p:txBody>
        </p:sp>
        <p:sp>
          <p:nvSpPr>
            <p:cNvPr id="108557" name="Oval 11"/>
            <p:cNvSpPr>
              <a:spLocks noChangeArrowheads="1"/>
            </p:cNvSpPr>
            <p:nvPr/>
          </p:nvSpPr>
          <p:spPr bwMode="auto">
            <a:xfrm>
              <a:off x="4717" y="2890"/>
              <a:ext cx="135" cy="146"/>
            </a:xfrm>
            <a:prstGeom prst="ellipse">
              <a:avLst/>
            </a:prstGeom>
            <a:noFill/>
            <a:ln w="9525">
              <a:solidFill>
                <a:srgbClr val="000000"/>
              </a:solidFill>
              <a:round/>
              <a:headEnd/>
              <a:tailEnd/>
            </a:ln>
          </p:spPr>
          <p:txBody>
            <a:bodyPr/>
            <a:lstStyle/>
            <a:p>
              <a:endParaRPr lang="zh-CN" altLang="en-US"/>
            </a:p>
          </p:txBody>
        </p:sp>
        <p:sp>
          <p:nvSpPr>
            <p:cNvPr id="108558" name="Rectangle 12"/>
            <p:cNvSpPr>
              <a:spLocks noChangeArrowheads="1"/>
            </p:cNvSpPr>
            <p:nvPr/>
          </p:nvSpPr>
          <p:spPr bwMode="auto">
            <a:xfrm>
              <a:off x="4849" y="2678"/>
              <a:ext cx="94" cy="134"/>
            </a:xfrm>
            <a:prstGeom prst="rect">
              <a:avLst/>
            </a:prstGeom>
            <a:noFill/>
            <a:ln w="9525">
              <a:solidFill>
                <a:srgbClr val="000000"/>
              </a:solidFill>
              <a:miter lim="800000"/>
              <a:headEnd/>
              <a:tailEnd/>
            </a:ln>
          </p:spPr>
          <p:txBody>
            <a:bodyPr/>
            <a:lstStyle/>
            <a:p>
              <a:endParaRPr lang="zh-CN" altLang="en-US"/>
            </a:p>
          </p:txBody>
        </p:sp>
        <p:grpSp>
          <p:nvGrpSpPr>
            <p:cNvPr id="108559" name="Group 13"/>
            <p:cNvGrpSpPr>
              <a:grpSpLocks/>
            </p:cNvGrpSpPr>
            <p:nvPr/>
          </p:nvGrpSpPr>
          <p:grpSpPr bwMode="auto">
            <a:xfrm>
              <a:off x="4223" y="2183"/>
              <a:ext cx="1000" cy="572"/>
              <a:chOff x="7997" y="7765"/>
              <a:chExt cx="1427" cy="817"/>
            </a:xfrm>
          </p:grpSpPr>
          <p:sp>
            <p:nvSpPr>
              <p:cNvPr id="108611" name="Rectangle 14"/>
              <p:cNvSpPr>
                <a:spLocks noChangeArrowheads="1"/>
              </p:cNvSpPr>
              <p:nvPr/>
            </p:nvSpPr>
            <p:spPr bwMode="auto">
              <a:xfrm>
                <a:off x="8101" y="8278"/>
                <a:ext cx="1234" cy="224"/>
              </a:xfrm>
              <a:prstGeom prst="rect">
                <a:avLst/>
              </a:prstGeom>
              <a:noFill/>
              <a:ln w="9525">
                <a:solidFill>
                  <a:srgbClr val="000000"/>
                </a:solidFill>
                <a:miter lim="800000"/>
                <a:headEnd/>
                <a:tailEnd/>
              </a:ln>
            </p:spPr>
            <p:txBody>
              <a:bodyPr/>
              <a:lstStyle/>
              <a:p>
                <a:endParaRPr lang="zh-CN" altLang="en-US"/>
              </a:p>
            </p:txBody>
          </p:sp>
          <p:sp>
            <p:nvSpPr>
              <p:cNvPr id="108612" name="Rectangle 15"/>
              <p:cNvSpPr>
                <a:spLocks noChangeArrowheads="1"/>
              </p:cNvSpPr>
              <p:nvPr/>
            </p:nvSpPr>
            <p:spPr bwMode="auto">
              <a:xfrm flipV="1">
                <a:off x="8265" y="8502"/>
                <a:ext cx="252" cy="80"/>
              </a:xfrm>
              <a:prstGeom prst="rect">
                <a:avLst/>
              </a:prstGeom>
              <a:noFill/>
              <a:ln w="9525">
                <a:solidFill>
                  <a:srgbClr val="000000"/>
                </a:solidFill>
                <a:miter lim="800000"/>
                <a:headEnd/>
                <a:tailEnd/>
              </a:ln>
            </p:spPr>
            <p:txBody>
              <a:bodyPr/>
              <a:lstStyle/>
              <a:p>
                <a:endParaRPr lang="zh-CN" altLang="en-US"/>
              </a:p>
            </p:txBody>
          </p:sp>
          <p:sp>
            <p:nvSpPr>
              <p:cNvPr id="108613" name="Rectangle 16"/>
              <p:cNvSpPr>
                <a:spLocks noChangeArrowheads="1"/>
              </p:cNvSpPr>
              <p:nvPr/>
            </p:nvSpPr>
            <p:spPr bwMode="auto">
              <a:xfrm>
                <a:off x="8770" y="8198"/>
                <a:ext cx="297" cy="80"/>
              </a:xfrm>
              <a:prstGeom prst="rect">
                <a:avLst/>
              </a:prstGeom>
              <a:noFill/>
              <a:ln w="9525">
                <a:solidFill>
                  <a:srgbClr val="000000"/>
                </a:solidFill>
                <a:miter lim="800000"/>
                <a:headEnd/>
                <a:tailEnd/>
              </a:ln>
            </p:spPr>
            <p:txBody>
              <a:bodyPr/>
              <a:lstStyle/>
              <a:p>
                <a:endParaRPr lang="zh-CN" altLang="en-US"/>
              </a:p>
            </p:txBody>
          </p:sp>
          <p:sp>
            <p:nvSpPr>
              <p:cNvPr id="108614" name="Rectangle 17"/>
              <p:cNvSpPr>
                <a:spLocks noChangeArrowheads="1"/>
              </p:cNvSpPr>
              <p:nvPr/>
            </p:nvSpPr>
            <p:spPr bwMode="auto">
              <a:xfrm>
                <a:off x="8696" y="7765"/>
                <a:ext cx="431" cy="353"/>
              </a:xfrm>
              <a:prstGeom prst="rect">
                <a:avLst/>
              </a:prstGeom>
              <a:noFill/>
              <a:ln w="9525">
                <a:solidFill>
                  <a:srgbClr val="000000"/>
                </a:solidFill>
                <a:miter lim="800000"/>
                <a:headEnd/>
                <a:tailEnd/>
              </a:ln>
            </p:spPr>
            <p:txBody>
              <a:bodyPr/>
              <a:lstStyle/>
              <a:p>
                <a:endParaRPr lang="zh-CN" altLang="en-US"/>
              </a:p>
            </p:txBody>
          </p:sp>
          <p:sp>
            <p:nvSpPr>
              <p:cNvPr id="108615" name="Line 18"/>
              <p:cNvSpPr>
                <a:spLocks noChangeShapeType="1"/>
              </p:cNvSpPr>
              <p:nvPr/>
            </p:nvSpPr>
            <p:spPr bwMode="auto">
              <a:xfrm>
                <a:off x="8696" y="8118"/>
                <a:ext cx="74" cy="96"/>
              </a:xfrm>
              <a:prstGeom prst="line">
                <a:avLst/>
              </a:prstGeom>
              <a:noFill/>
              <a:ln w="9525">
                <a:solidFill>
                  <a:srgbClr val="000000"/>
                </a:solidFill>
                <a:round/>
                <a:headEnd/>
                <a:tailEnd/>
              </a:ln>
            </p:spPr>
            <p:txBody>
              <a:bodyPr/>
              <a:lstStyle/>
              <a:p>
                <a:endParaRPr lang="zh-CN" altLang="en-US"/>
              </a:p>
            </p:txBody>
          </p:sp>
          <p:sp>
            <p:nvSpPr>
              <p:cNvPr id="108616" name="Line 19"/>
              <p:cNvSpPr>
                <a:spLocks noChangeShapeType="1"/>
              </p:cNvSpPr>
              <p:nvPr/>
            </p:nvSpPr>
            <p:spPr bwMode="auto">
              <a:xfrm flipH="1">
                <a:off x="9067" y="8118"/>
                <a:ext cx="60" cy="80"/>
              </a:xfrm>
              <a:prstGeom prst="line">
                <a:avLst/>
              </a:prstGeom>
              <a:noFill/>
              <a:ln w="9525">
                <a:solidFill>
                  <a:srgbClr val="000000"/>
                </a:solidFill>
                <a:round/>
                <a:headEnd/>
                <a:tailEnd/>
              </a:ln>
            </p:spPr>
            <p:txBody>
              <a:bodyPr/>
              <a:lstStyle/>
              <a:p>
                <a:endParaRPr lang="zh-CN" altLang="en-US"/>
              </a:p>
            </p:txBody>
          </p:sp>
          <p:sp>
            <p:nvSpPr>
              <p:cNvPr id="108617" name="Rectangle 20"/>
              <p:cNvSpPr>
                <a:spLocks noChangeArrowheads="1"/>
              </p:cNvSpPr>
              <p:nvPr/>
            </p:nvSpPr>
            <p:spPr bwMode="auto">
              <a:xfrm>
                <a:off x="8354" y="7797"/>
                <a:ext cx="342" cy="256"/>
              </a:xfrm>
              <a:prstGeom prst="rect">
                <a:avLst/>
              </a:prstGeom>
              <a:noFill/>
              <a:ln w="9525">
                <a:solidFill>
                  <a:srgbClr val="000000"/>
                </a:solidFill>
                <a:miter lim="800000"/>
                <a:headEnd/>
                <a:tailEnd/>
              </a:ln>
            </p:spPr>
            <p:txBody>
              <a:bodyPr/>
              <a:lstStyle/>
              <a:p>
                <a:endParaRPr lang="zh-CN" altLang="en-US"/>
              </a:p>
            </p:txBody>
          </p:sp>
          <p:sp>
            <p:nvSpPr>
              <p:cNvPr id="108618" name="Rectangle 21"/>
              <p:cNvSpPr>
                <a:spLocks noChangeArrowheads="1"/>
              </p:cNvSpPr>
              <p:nvPr/>
            </p:nvSpPr>
            <p:spPr bwMode="auto">
              <a:xfrm>
                <a:off x="7997" y="7845"/>
                <a:ext cx="357" cy="144"/>
              </a:xfrm>
              <a:prstGeom prst="rect">
                <a:avLst/>
              </a:prstGeom>
              <a:noFill/>
              <a:ln w="9525">
                <a:solidFill>
                  <a:srgbClr val="000000"/>
                </a:solidFill>
                <a:miter lim="800000"/>
                <a:headEnd/>
                <a:tailEnd/>
              </a:ln>
            </p:spPr>
            <p:txBody>
              <a:bodyPr/>
              <a:lstStyle/>
              <a:p>
                <a:endParaRPr lang="zh-CN" altLang="en-US"/>
              </a:p>
            </p:txBody>
          </p:sp>
          <p:sp>
            <p:nvSpPr>
              <p:cNvPr id="108619" name="Rectangle 22"/>
              <p:cNvSpPr>
                <a:spLocks noChangeArrowheads="1"/>
              </p:cNvSpPr>
              <p:nvPr/>
            </p:nvSpPr>
            <p:spPr bwMode="auto">
              <a:xfrm>
                <a:off x="9127" y="7813"/>
                <a:ext cx="104" cy="240"/>
              </a:xfrm>
              <a:prstGeom prst="rect">
                <a:avLst/>
              </a:prstGeom>
              <a:noFill/>
              <a:ln w="9525">
                <a:solidFill>
                  <a:srgbClr val="000000"/>
                </a:solidFill>
                <a:miter lim="800000"/>
                <a:headEnd/>
                <a:tailEnd/>
              </a:ln>
            </p:spPr>
            <p:txBody>
              <a:bodyPr/>
              <a:lstStyle/>
              <a:p>
                <a:endParaRPr lang="zh-CN" altLang="en-US"/>
              </a:p>
            </p:txBody>
          </p:sp>
          <p:sp>
            <p:nvSpPr>
              <p:cNvPr id="108620" name="Rectangle 23"/>
              <p:cNvSpPr>
                <a:spLocks noChangeArrowheads="1"/>
              </p:cNvSpPr>
              <p:nvPr/>
            </p:nvSpPr>
            <p:spPr bwMode="auto">
              <a:xfrm>
                <a:off x="9231" y="7765"/>
                <a:ext cx="89" cy="337"/>
              </a:xfrm>
              <a:prstGeom prst="rect">
                <a:avLst/>
              </a:prstGeom>
              <a:noFill/>
              <a:ln w="9525">
                <a:solidFill>
                  <a:srgbClr val="000000"/>
                </a:solidFill>
                <a:miter lim="800000"/>
                <a:headEnd/>
                <a:tailEnd/>
              </a:ln>
            </p:spPr>
            <p:txBody>
              <a:bodyPr/>
              <a:lstStyle/>
              <a:p>
                <a:endParaRPr lang="zh-CN" altLang="en-US"/>
              </a:p>
            </p:txBody>
          </p:sp>
          <p:sp>
            <p:nvSpPr>
              <p:cNvPr id="108621" name="Rectangle 24"/>
              <p:cNvSpPr>
                <a:spLocks noChangeArrowheads="1"/>
              </p:cNvSpPr>
              <p:nvPr/>
            </p:nvSpPr>
            <p:spPr bwMode="auto">
              <a:xfrm>
                <a:off x="9320" y="7845"/>
                <a:ext cx="104" cy="176"/>
              </a:xfrm>
              <a:prstGeom prst="rect">
                <a:avLst/>
              </a:prstGeom>
              <a:noFill/>
              <a:ln w="9525">
                <a:solidFill>
                  <a:srgbClr val="000000"/>
                </a:solidFill>
                <a:miter lim="800000"/>
                <a:headEnd/>
                <a:tailEnd/>
              </a:ln>
            </p:spPr>
            <p:txBody>
              <a:bodyPr/>
              <a:lstStyle/>
              <a:p>
                <a:endParaRPr lang="zh-CN" altLang="en-US"/>
              </a:p>
            </p:txBody>
          </p:sp>
          <p:sp>
            <p:nvSpPr>
              <p:cNvPr id="108622" name="Line 25"/>
              <p:cNvSpPr>
                <a:spLocks noChangeShapeType="1"/>
              </p:cNvSpPr>
              <p:nvPr/>
            </p:nvSpPr>
            <p:spPr bwMode="auto">
              <a:xfrm>
                <a:off x="8101" y="8406"/>
                <a:ext cx="1234" cy="0"/>
              </a:xfrm>
              <a:prstGeom prst="line">
                <a:avLst/>
              </a:prstGeom>
              <a:noFill/>
              <a:ln w="9525">
                <a:solidFill>
                  <a:srgbClr val="000000"/>
                </a:solidFill>
                <a:round/>
                <a:headEnd/>
                <a:tailEnd/>
              </a:ln>
            </p:spPr>
            <p:txBody>
              <a:bodyPr/>
              <a:lstStyle/>
              <a:p>
                <a:endParaRPr lang="zh-CN" altLang="en-US"/>
              </a:p>
            </p:txBody>
          </p:sp>
        </p:grpSp>
        <p:sp>
          <p:nvSpPr>
            <p:cNvPr id="108560" name="Rectangle 26"/>
            <p:cNvSpPr>
              <a:spLocks noChangeArrowheads="1"/>
            </p:cNvSpPr>
            <p:nvPr/>
          </p:nvSpPr>
          <p:spPr bwMode="auto">
            <a:xfrm>
              <a:off x="3423" y="2828"/>
              <a:ext cx="322" cy="281"/>
            </a:xfrm>
            <a:prstGeom prst="rect">
              <a:avLst/>
            </a:prstGeom>
            <a:noFill/>
            <a:ln w="9525">
              <a:solidFill>
                <a:srgbClr val="000000"/>
              </a:solidFill>
              <a:miter lim="800000"/>
              <a:headEnd/>
              <a:tailEnd/>
            </a:ln>
          </p:spPr>
          <p:txBody>
            <a:bodyPr/>
            <a:lstStyle/>
            <a:p>
              <a:endParaRPr lang="zh-CN" altLang="en-US"/>
            </a:p>
          </p:txBody>
        </p:sp>
        <p:sp>
          <p:nvSpPr>
            <p:cNvPr id="108561" name="Line 27"/>
            <p:cNvSpPr>
              <a:spLocks noChangeShapeType="1"/>
            </p:cNvSpPr>
            <p:nvPr/>
          </p:nvSpPr>
          <p:spPr bwMode="auto">
            <a:xfrm flipV="1">
              <a:off x="3475" y="2559"/>
              <a:ext cx="208" cy="4"/>
            </a:xfrm>
            <a:prstGeom prst="line">
              <a:avLst/>
            </a:prstGeom>
            <a:noFill/>
            <a:ln w="9525">
              <a:solidFill>
                <a:srgbClr val="000000"/>
              </a:solidFill>
              <a:round/>
              <a:headEnd/>
              <a:tailEnd/>
            </a:ln>
          </p:spPr>
          <p:txBody>
            <a:bodyPr/>
            <a:lstStyle/>
            <a:p>
              <a:endParaRPr lang="zh-CN" altLang="en-US"/>
            </a:p>
          </p:txBody>
        </p:sp>
        <p:sp>
          <p:nvSpPr>
            <p:cNvPr id="108562" name="Line 28"/>
            <p:cNvSpPr>
              <a:spLocks noChangeShapeType="1"/>
            </p:cNvSpPr>
            <p:nvPr/>
          </p:nvSpPr>
          <p:spPr bwMode="auto">
            <a:xfrm>
              <a:off x="3683" y="2559"/>
              <a:ext cx="0" cy="269"/>
            </a:xfrm>
            <a:prstGeom prst="line">
              <a:avLst/>
            </a:prstGeom>
            <a:noFill/>
            <a:ln w="9525">
              <a:solidFill>
                <a:srgbClr val="000000"/>
              </a:solidFill>
              <a:round/>
              <a:headEnd/>
              <a:tailEnd/>
            </a:ln>
          </p:spPr>
          <p:txBody>
            <a:bodyPr/>
            <a:lstStyle/>
            <a:p>
              <a:endParaRPr lang="zh-CN" altLang="en-US"/>
            </a:p>
          </p:txBody>
        </p:sp>
        <p:sp>
          <p:nvSpPr>
            <p:cNvPr id="108563" name="Rectangle 29"/>
            <p:cNvSpPr>
              <a:spLocks noChangeArrowheads="1"/>
            </p:cNvSpPr>
            <p:nvPr/>
          </p:nvSpPr>
          <p:spPr bwMode="auto">
            <a:xfrm>
              <a:off x="3514" y="2449"/>
              <a:ext cx="127" cy="114"/>
            </a:xfrm>
            <a:prstGeom prst="rect">
              <a:avLst/>
            </a:prstGeom>
            <a:noFill/>
            <a:ln w="9525">
              <a:solidFill>
                <a:srgbClr val="000000"/>
              </a:solidFill>
              <a:miter lim="800000"/>
              <a:headEnd/>
              <a:tailEnd/>
            </a:ln>
          </p:spPr>
          <p:txBody>
            <a:bodyPr/>
            <a:lstStyle/>
            <a:p>
              <a:endParaRPr lang="zh-CN" altLang="en-US"/>
            </a:p>
          </p:txBody>
        </p:sp>
        <p:sp>
          <p:nvSpPr>
            <p:cNvPr id="108564" name="Oval 30"/>
            <p:cNvSpPr>
              <a:spLocks noChangeArrowheads="1"/>
            </p:cNvSpPr>
            <p:nvPr/>
          </p:nvSpPr>
          <p:spPr bwMode="auto">
            <a:xfrm>
              <a:off x="3520" y="2899"/>
              <a:ext cx="125" cy="134"/>
            </a:xfrm>
            <a:prstGeom prst="ellipse">
              <a:avLst/>
            </a:prstGeom>
            <a:noFill/>
            <a:ln w="9525">
              <a:solidFill>
                <a:srgbClr val="000000"/>
              </a:solidFill>
              <a:round/>
              <a:headEnd/>
              <a:tailEnd/>
            </a:ln>
          </p:spPr>
          <p:txBody>
            <a:bodyPr/>
            <a:lstStyle/>
            <a:p>
              <a:endParaRPr lang="zh-CN" altLang="en-US"/>
            </a:p>
          </p:txBody>
        </p:sp>
        <p:sp>
          <p:nvSpPr>
            <p:cNvPr id="108565" name="Rectangle 31"/>
            <p:cNvSpPr>
              <a:spLocks noChangeArrowheads="1"/>
            </p:cNvSpPr>
            <p:nvPr/>
          </p:nvSpPr>
          <p:spPr bwMode="auto">
            <a:xfrm>
              <a:off x="2674" y="2850"/>
              <a:ext cx="271" cy="259"/>
            </a:xfrm>
            <a:prstGeom prst="rect">
              <a:avLst/>
            </a:prstGeom>
            <a:noFill/>
            <a:ln w="9525">
              <a:solidFill>
                <a:srgbClr val="000000"/>
              </a:solidFill>
              <a:miter lim="800000"/>
              <a:headEnd/>
              <a:tailEnd/>
            </a:ln>
          </p:spPr>
          <p:txBody>
            <a:bodyPr/>
            <a:lstStyle/>
            <a:p>
              <a:endParaRPr lang="zh-CN" altLang="en-US"/>
            </a:p>
          </p:txBody>
        </p:sp>
        <p:sp>
          <p:nvSpPr>
            <p:cNvPr id="108566" name="Rectangle 32"/>
            <p:cNvSpPr>
              <a:spLocks noChangeArrowheads="1"/>
            </p:cNvSpPr>
            <p:nvPr/>
          </p:nvSpPr>
          <p:spPr bwMode="auto">
            <a:xfrm>
              <a:off x="1539" y="2840"/>
              <a:ext cx="270" cy="258"/>
            </a:xfrm>
            <a:prstGeom prst="rect">
              <a:avLst/>
            </a:prstGeom>
            <a:noFill/>
            <a:ln w="9525">
              <a:solidFill>
                <a:srgbClr val="000000"/>
              </a:solidFill>
              <a:miter lim="800000"/>
              <a:headEnd/>
              <a:tailEnd/>
            </a:ln>
          </p:spPr>
          <p:txBody>
            <a:bodyPr/>
            <a:lstStyle/>
            <a:p>
              <a:endParaRPr lang="zh-CN" altLang="en-US"/>
            </a:p>
          </p:txBody>
        </p:sp>
        <p:sp>
          <p:nvSpPr>
            <p:cNvPr id="108567" name="Oval 33"/>
            <p:cNvSpPr>
              <a:spLocks noChangeArrowheads="1"/>
            </p:cNvSpPr>
            <p:nvPr/>
          </p:nvSpPr>
          <p:spPr bwMode="auto">
            <a:xfrm>
              <a:off x="1616" y="2898"/>
              <a:ext cx="124" cy="135"/>
            </a:xfrm>
            <a:prstGeom prst="ellipse">
              <a:avLst/>
            </a:prstGeom>
            <a:noFill/>
            <a:ln w="9525">
              <a:solidFill>
                <a:srgbClr val="000000"/>
              </a:solidFill>
              <a:round/>
              <a:headEnd/>
              <a:tailEnd/>
            </a:ln>
          </p:spPr>
          <p:txBody>
            <a:bodyPr/>
            <a:lstStyle/>
            <a:p>
              <a:endParaRPr lang="zh-CN" altLang="en-US"/>
            </a:p>
          </p:txBody>
        </p:sp>
        <p:sp>
          <p:nvSpPr>
            <p:cNvPr id="108568" name="Oval 34"/>
            <p:cNvSpPr>
              <a:spLocks noChangeArrowheads="1"/>
            </p:cNvSpPr>
            <p:nvPr/>
          </p:nvSpPr>
          <p:spPr bwMode="auto">
            <a:xfrm>
              <a:off x="2747" y="2910"/>
              <a:ext cx="125" cy="134"/>
            </a:xfrm>
            <a:prstGeom prst="ellipse">
              <a:avLst/>
            </a:prstGeom>
            <a:noFill/>
            <a:ln w="9525">
              <a:solidFill>
                <a:srgbClr val="000000"/>
              </a:solidFill>
              <a:round/>
              <a:headEnd/>
              <a:tailEnd/>
            </a:ln>
          </p:spPr>
          <p:txBody>
            <a:bodyPr/>
            <a:lstStyle/>
            <a:p>
              <a:endParaRPr lang="zh-CN" altLang="en-US"/>
            </a:p>
          </p:txBody>
        </p:sp>
        <p:sp>
          <p:nvSpPr>
            <p:cNvPr id="108569" name="AutoShape 35"/>
            <p:cNvSpPr>
              <a:spLocks/>
            </p:cNvSpPr>
            <p:nvPr/>
          </p:nvSpPr>
          <p:spPr bwMode="auto">
            <a:xfrm>
              <a:off x="2874" y="2474"/>
              <a:ext cx="51" cy="369"/>
            </a:xfrm>
            <a:prstGeom prst="leftBracket">
              <a:avLst>
                <a:gd name="adj" fmla="val 60294"/>
              </a:avLst>
            </a:prstGeom>
            <a:noFill/>
            <a:ln w="9525">
              <a:solidFill>
                <a:srgbClr val="000000"/>
              </a:solidFill>
              <a:round/>
              <a:headEnd/>
              <a:tailEnd/>
            </a:ln>
          </p:spPr>
          <p:txBody>
            <a:bodyPr/>
            <a:lstStyle/>
            <a:p>
              <a:endParaRPr lang="zh-CN" altLang="en-US"/>
            </a:p>
          </p:txBody>
        </p:sp>
        <p:sp>
          <p:nvSpPr>
            <p:cNvPr id="108570" name="Rectangle 36"/>
            <p:cNvSpPr>
              <a:spLocks noChangeArrowheads="1"/>
            </p:cNvSpPr>
            <p:nvPr/>
          </p:nvSpPr>
          <p:spPr bwMode="auto">
            <a:xfrm>
              <a:off x="1277" y="2076"/>
              <a:ext cx="2042" cy="393"/>
            </a:xfrm>
            <a:prstGeom prst="rect">
              <a:avLst/>
            </a:prstGeom>
            <a:noFill/>
            <a:ln w="9525">
              <a:solidFill>
                <a:srgbClr val="000000"/>
              </a:solidFill>
              <a:miter lim="800000"/>
              <a:headEnd/>
              <a:tailEnd/>
            </a:ln>
          </p:spPr>
          <p:txBody>
            <a:bodyPr/>
            <a:lstStyle/>
            <a:p>
              <a:endParaRPr lang="zh-CN" altLang="en-US"/>
            </a:p>
          </p:txBody>
        </p:sp>
        <p:sp>
          <p:nvSpPr>
            <p:cNvPr id="108571" name="AutoShape 37"/>
            <p:cNvSpPr>
              <a:spLocks/>
            </p:cNvSpPr>
            <p:nvPr/>
          </p:nvSpPr>
          <p:spPr bwMode="auto">
            <a:xfrm>
              <a:off x="1736" y="2474"/>
              <a:ext cx="51" cy="357"/>
            </a:xfrm>
            <a:prstGeom prst="leftBracket">
              <a:avLst>
                <a:gd name="adj" fmla="val 58333"/>
              </a:avLst>
            </a:prstGeom>
            <a:noFill/>
            <a:ln w="9525">
              <a:solidFill>
                <a:srgbClr val="000000"/>
              </a:solidFill>
              <a:round/>
              <a:headEnd/>
              <a:tailEnd/>
            </a:ln>
          </p:spPr>
          <p:txBody>
            <a:bodyPr/>
            <a:lstStyle/>
            <a:p>
              <a:endParaRPr lang="zh-CN" altLang="en-US"/>
            </a:p>
          </p:txBody>
        </p:sp>
        <p:sp>
          <p:nvSpPr>
            <p:cNvPr id="108572" name="AutoShape 38"/>
            <p:cNvSpPr>
              <a:spLocks/>
            </p:cNvSpPr>
            <p:nvPr/>
          </p:nvSpPr>
          <p:spPr bwMode="auto">
            <a:xfrm>
              <a:off x="2720" y="2474"/>
              <a:ext cx="39" cy="369"/>
            </a:xfrm>
            <a:prstGeom prst="rightBracket">
              <a:avLst>
                <a:gd name="adj" fmla="val 78846"/>
              </a:avLst>
            </a:prstGeom>
            <a:noFill/>
            <a:ln w="9525">
              <a:solidFill>
                <a:srgbClr val="000000"/>
              </a:solidFill>
              <a:round/>
              <a:headEnd/>
              <a:tailEnd/>
            </a:ln>
          </p:spPr>
          <p:txBody>
            <a:bodyPr/>
            <a:lstStyle/>
            <a:p>
              <a:endParaRPr lang="zh-CN" altLang="en-US"/>
            </a:p>
          </p:txBody>
        </p:sp>
        <p:sp>
          <p:nvSpPr>
            <p:cNvPr id="108573" name="Oval 39"/>
            <p:cNvSpPr>
              <a:spLocks noChangeArrowheads="1"/>
            </p:cNvSpPr>
            <p:nvPr/>
          </p:nvSpPr>
          <p:spPr bwMode="auto">
            <a:xfrm>
              <a:off x="906" y="2117"/>
              <a:ext cx="76" cy="293"/>
            </a:xfrm>
            <a:prstGeom prst="ellipse">
              <a:avLst/>
            </a:prstGeom>
            <a:noFill/>
            <a:ln w="9525">
              <a:solidFill>
                <a:srgbClr val="000000"/>
              </a:solidFill>
              <a:round/>
              <a:headEnd/>
              <a:tailEnd/>
            </a:ln>
          </p:spPr>
          <p:txBody>
            <a:bodyPr/>
            <a:lstStyle/>
            <a:p>
              <a:endParaRPr lang="zh-CN" altLang="en-US"/>
            </a:p>
          </p:txBody>
        </p:sp>
        <p:sp>
          <p:nvSpPr>
            <p:cNvPr id="108574" name="Oval 40"/>
            <p:cNvSpPr>
              <a:spLocks noChangeArrowheads="1"/>
            </p:cNvSpPr>
            <p:nvPr/>
          </p:nvSpPr>
          <p:spPr bwMode="auto">
            <a:xfrm>
              <a:off x="458" y="2219"/>
              <a:ext cx="103" cy="102"/>
            </a:xfrm>
            <a:prstGeom prst="ellipse">
              <a:avLst/>
            </a:prstGeom>
            <a:noFill/>
            <a:ln w="9525">
              <a:solidFill>
                <a:srgbClr val="000000"/>
              </a:solidFill>
              <a:round/>
              <a:headEnd/>
              <a:tailEnd/>
            </a:ln>
          </p:spPr>
          <p:txBody>
            <a:bodyPr/>
            <a:lstStyle/>
            <a:p>
              <a:endParaRPr lang="zh-CN" altLang="en-US"/>
            </a:p>
          </p:txBody>
        </p:sp>
        <p:sp>
          <p:nvSpPr>
            <p:cNvPr id="108575" name="Line 41"/>
            <p:cNvSpPr>
              <a:spLocks noChangeShapeType="1"/>
            </p:cNvSpPr>
            <p:nvPr/>
          </p:nvSpPr>
          <p:spPr bwMode="auto">
            <a:xfrm flipH="1">
              <a:off x="471" y="2245"/>
              <a:ext cx="77" cy="51"/>
            </a:xfrm>
            <a:prstGeom prst="line">
              <a:avLst/>
            </a:prstGeom>
            <a:noFill/>
            <a:ln w="9525">
              <a:solidFill>
                <a:srgbClr val="000000"/>
              </a:solidFill>
              <a:round/>
              <a:headEnd/>
              <a:tailEnd/>
            </a:ln>
          </p:spPr>
          <p:txBody>
            <a:bodyPr/>
            <a:lstStyle/>
            <a:p>
              <a:endParaRPr lang="zh-CN" altLang="en-US"/>
            </a:p>
          </p:txBody>
        </p:sp>
        <p:sp>
          <p:nvSpPr>
            <p:cNvPr id="108576" name="Line 42"/>
            <p:cNvSpPr>
              <a:spLocks noChangeShapeType="1"/>
            </p:cNvSpPr>
            <p:nvPr/>
          </p:nvSpPr>
          <p:spPr bwMode="auto">
            <a:xfrm>
              <a:off x="471" y="2245"/>
              <a:ext cx="77" cy="51"/>
            </a:xfrm>
            <a:prstGeom prst="line">
              <a:avLst/>
            </a:prstGeom>
            <a:noFill/>
            <a:ln w="9525">
              <a:solidFill>
                <a:srgbClr val="000000"/>
              </a:solidFill>
              <a:round/>
              <a:headEnd/>
              <a:tailEnd/>
            </a:ln>
          </p:spPr>
          <p:txBody>
            <a:bodyPr/>
            <a:lstStyle/>
            <a:p>
              <a:endParaRPr lang="zh-CN" altLang="en-US"/>
            </a:p>
          </p:txBody>
        </p:sp>
        <p:sp>
          <p:nvSpPr>
            <p:cNvPr id="108577" name="Line 43"/>
            <p:cNvSpPr>
              <a:spLocks noChangeShapeType="1"/>
            </p:cNvSpPr>
            <p:nvPr/>
          </p:nvSpPr>
          <p:spPr bwMode="auto">
            <a:xfrm flipV="1">
              <a:off x="522" y="2130"/>
              <a:ext cx="422" cy="140"/>
            </a:xfrm>
            <a:prstGeom prst="line">
              <a:avLst/>
            </a:prstGeom>
            <a:noFill/>
            <a:ln w="9525">
              <a:solidFill>
                <a:srgbClr val="000000"/>
              </a:solidFill>
              <a:round/>
              <a:headEnd/>
              <a:tailEnd/>
            </a:ln>
          </p:spPr>
          <p:txBody>
            <a:bodyPr/>
            <a:lstStyle/>
            <a:p>
              <a:endParaRPr lang="zh-CN" altLang="en-US"/>
            </a:p>
          </p:txBody>
        </p:sp>
        <p:sp>
          <p:nvSpPr>
            <p:cNvPr id="108578" name="Line 44"/>
            <p:cNvSpPr>
              <a:spLocks noChangeShapeType="1"/>
            </p:cNvSpPr>
            <p:nvPr/>
          </p:nvSpPr>
          <p:spPr bwMode="auto">
            <a:xfrm>
              <a:off x="522" y="2270"/>
              <a:ext cx="409" cy="128"/>
            </a:xfrm>
            <a:prstGeom prst="line">
              <a:avLst/>
            </a:prstGeom>
            <a:noFill/>
            <a:ln w="9525">
              <a:solidFill>
                <a:srgbClr val="000000"/>
              </a:solidFill>
              <a:round/>
              <a:headEnd/>
              <a:tailEnd/>
            </a:ln>
          </p:spPr>
          <p:txBody>
            <a:bodyPr/>
            <a:lstStyle/>
            <a:p>
              <a:endParaRPr lang="zh-CN" altLang="en-US"/>
            </a:p>
          </p:txBody>
        </p:sp>
        <p:sp>
          <p:nvSpPr>
            <p:cNvPr id="108579" name="Oval 45"/>
            <p:cNvSpPr>
              <a:spLocks noChangeArrowheads="1"/>
            </p:cNvSpPr>
            <p:nvPr/>
          </p:nvSpPr>
          <p:spPr bwMode="auto">
            <a:xfrm>
              <a:off x="3207" y="2080"/>
              <a:ext cx="89" cy="381"/>
            </a:xfrm>
            <a:prstGeom prst="ellipse">
              <a:avLst/>
            </a:prstGeom>
            <a:noFill/>
            <a:ln w="9525">
              <a:solidFill>
                <a:srgbClr val="000000"/>
              </a:solidFill>
              <a:round/>
              <a:headEnd/>
              <a:tailEnd/>
            </a:ln>
          </p:spPr>
          <p:txBody>
            <a:bodyPr/>
            <a:lstStyle/>
            <a:p>
              <a:endParaRPr lang="zh-CN" altLang="en-US"/>
            </a:p>
          </p:txBody>
        </p:sp>
        <p:sp>
          <p:nvSpPr>
            <p:cNvPr id="108580" name="Rectangle 46"/>
            <p:cNvSpPr>
              <a:spLocks noChangeArrowheads="1"/>
            </p:cNvSpPr>
            <p:nvPr/>
          </p:nvSpPr>
          <p:spPr bwMode="auto">
            <a:xfrm>
              <a:off x="3309" y="2105"/>
              <a:ext cx="50" cy="331"/>
            </a:xfrm>
            <a:prstGeom prst="rect">
              <a:avLst/>
            </a:prstGeom>
            <a:noFill/>
            <a:ln w="9525">
              <a:noFill/>
              <a:miter lim="800000"/>
              <a:headEnd/>
              <a:tailEnd/>
            </a:ln>
          </p:spPr>
          <p:txBody>
            <a:bodyPr/>
            <a:lstStyle/>
            <a:p>
              <a:endParaRPr lang="zh-CN" altLang="en-US"/>
            </a:p>
          </p:txBody>
        </p:sp>
        <p:sp>
          <p:nvSpPr>
            <p:cNvPr id="108581" name="Rectangle 47"/>
            <p:cNvSpPr>
              <a:spLocks noChangeArrowheads="1"/>
            </p:cNvSpPr>
            <p:nvPr/>
          </p:nvSpPr>
          <p:spPr bwMode="auto">
            <a:xfrm>
              <a:off x="407" y="2117"/>
              <a:ext cx="870" cy="293"/>
            </a:xfrm>
            <a:prstGeom prst="rect">
              <a:avLst/>
            </a:prstGeom>
            <a:noFill/>
            <a:ln w="9525">
              <a:solidFill>
                <a:srgbClr val="000000"/>
              </a:solidFill>
              <a:miter lim="800000"/>
              <a:headEnd/>
              <a:tailEnd/>
            </a:ln>
          </p:spPr>
          <p:txBody>
            <a:bodyPr/>
            <a:lstStyle/>
            <a:p>
              <a:endParaRPr lang="zh-CN" altLang="en-US"/>
            </a:p>
          </p:txBody>
        </p:sp>
        <p:sp>
          <p:nvSpPr>
            <p:cNvPr id="108582" name="Rectangle 48"/>
            <p:cNvSpPr>
              <a:spLocks noChangeArrowheads="1"/>
            </p:cNvSpPr>
            <p:nvPr/>
          </p:nvSpPr>
          <p:spPr bwMode="auto">
            <a:xfrm>
              <a:off x="1251" y="2245"/>
              <a:ext cx="63" cy="51"/>
            </a:xfrm>
            <a:prstGeom prst="rect">
              <a:avLst/>
            </a:prstGeom>
            <a:noFill/>
            <a:ln w="9525">
              <a:noFill/>
              <a:miter lim="800000"/>
              <a:headEnd/>
              <a:tailEnd/>
            </a:ln>
          </p:spPr>
          <p:txBody>
            <a:bodyPr/>
            <a:lstStyle/>
            <a:p>
              <a:endParaRPr lang="zh-CN" altLang="en-US"/>
            </a:p>
          </p:txBody>
        </p:sp>
        <p:sp>
          <p:nvSpPr>
            <p:cNvPr id="108583" name="Line 49"/>
            <p:cNvSpPr>
              <a:spLocks noChangeShapeType="1"/>
            </p:cNvSpPr>
            <p:nvPr/>
          </p:nvSpPr>
          <p:spPr bwMode="auto">
            <a:xfrm>
              <a:off x="944" y="2130"/>
              <a:ext cx="333" cy="140"/>
            </a:xfrm>
            <a:prstGeom prst="line">
              <a:avLst/>
            </a:prstGeom>
            <a:noFill/>
            <a:ln w="9525">
              <a:solidFill>
                <a:srgbClr val="000000"/>
              </a:solidFill>
              <a:round/>
              <a:headEnd/>
              <a:tailEnd/>
            </a:ln>
          </p:spPr>
          <p:txBody>
            <a:bodyPr/>
            <a:lstStyle/>
            <a:p>
              <a:endParaRPr lang="zh-CN" altLang="en-US"/>
            </a:p>
          </p:txBody>
        </p:sp>
        <p:sp>
          <p:nvSpPr>
            <p:cNvPr id="108584" name="Line 50"/>
            <p:cNvSpPr>
              <a:spLocks noChangeShapeType="1"/>
            </p:cNvSpPr>
            <p:nvPr/>
          </p:nvSpPr>
          <p:spPr bwMode="auto">
            <a:xfrm flipV="1">
              <a:off x="931" y="2270"/>
              <a:ext cx="346" cy="140"/>
            </a:xfrm>
            <a:prstGeom prst="line">
              <a:avLst/>
            </a:prstGeom>
            <a:noFill/>
            <a:ln w="9525">
              <a:solidFill>
                <a:srgbClr val="000000"/>
              </a:solidFill>
              <a:round/>
              <a:headEnd/>
              <a:tailEnd/>
            </a:ln>
          </p:spPr>
          <p:txBody>
            <a:bodyPr/>
            <a:lstStyle/>
            <a:p>
              <a:endParaRPr lang="zh-CN" altLang="en-US"/>
            </a:p>
          </p:txBody>
        </p:sp>
        <p:sp>
          <p:nvSpPr>
            <p:cNvPr id="108585" name="Line 51"/>
            <p:cNvSpPr>
              <a:spLocks noChangeShapeType="1"/>
            </p:cNvSpPr>
            <p:nvPr/>
          </p:nvSpPr>
          <p:spPr bwMode="auto">
            <a:xfrm flipV="1">
              <a:off x="1277" y="2117"/>
              <a:ext cx="1967" cy="153"/>
            </a:xfrm>
            <a:prstGeom prst="line">
              <a:avLst/>
            </a:prstGeom>
            <a:noFill/>
            <a:ln w="9525">
              <a:solidFill>
                <a:srgbClr val="000000"/>
              </a:solidFill>
              <a:round/>
              <a:headEnd/>
              <a:tailEnd/>
            </a:ln>
          </p:spPr>
          <p:txBody>
            <a:bodyPr/>
            <a:lstStyle/>
            <a:p>
              <a:endParaRPr lang="zh-CN" altLang="en-US"/>
            </a:p>
          </p:txBody>
        </p:sp>
        <p:sp>
          <p:nvSpPr>
            <p:cNvPr id="108586" name="Line 52"/>
            <p:cNvSpPr>
              <a:spLocks noChangeShapeType="1"/>
            </p:cNvSpPr>
            <p:nvPr/>
          </p:nvSpPr>
          <p:spPr bwMode="auto">
            <a:xfrm>
              <a:off x="1277" y="2270"/>
              <a:ext cx="1981" cy="166"/>
            </a:xfrm>
            <a:prstGeom prst="line">
              <a:avLst/>
            </a:prstGeom>
            <a:noFill/>
            <a:ln w="9525">
              <a:solidFill>
                <a:srgbClr val="000000"/>
              </a:solidFill>
              <a:round/>
              <a:headEnd/>
              <a:tailEnd/>
            </a:ln>
          </p:spPr>
          <p:txBody>
            <a:bodyPr/>
            <a:lstStyle/>
            <a:p>
              <a:endParaRPr lang="zh-CN" altLang="en-US"/>
            </a:p>
          </p:txBody>
        </p:sp>
        <p:sp>
          <p:nvSpPr>
            <p:cNvPr id="108587" name="Oval 53"/>
            <p:cNvSpPr>
              <a:spLocks noChangeArrowheads="1"/>
            </p:cNvSpPr>
            <p:nvPr/>
          </p:nvSpPr>
          <p:spPr bwMode="auto">
            <a:xfrm>
              <a:off x="3551" y="2105"/>
              <a:ext cx="51" cy="344"/>
            </a:xfrm>
            <a:prstGeom prst="ellipse">
              <a:avLst/>
            </a:prstGeom>
            <a:noFill/>
            <a:ln w="9525">
              <a:solidFill>
                <a:srgbClr val="000000"/>
              </a:solidFill>
              <a:round/>
              <a:headEnd/>
              <a:tailEnd/>
            </a:ln>
          </p:spPr>
          <p:txBody>
            <a:bodyPr/>
            <a:lstStyle/>
            <a:p>
              <a:endParaRPr lang="zh-CN" altLang="en-US"/>
            </a:p>
          </p:txBody>
        </p:sp>
        <p:sp>
          <p:nvSpPr>
            <p:cNvPr id="108588" name="Line 54"/>
            <p:cNvSpPr>
              <a:spLocks noChangeShapeType="1"/>
            </p:cNvSpPr>
            <p:nvPr/>
          </p:nvSpPr>
          <p:spPr bwMode="auto">
            <a:xfrm flipV="1">
              <a:off x="3475" y="2563"/>
              <a:ext cx="0" cy="255"/>
            </a:xfrm>
            <a:prstGeom prst="line">
              <a:avLst/>
            </a:prstGeom>
            <a:noFill/>
            <a:ln w="9525">
              <a:solidFill>
                <a:srgbClr val="000000"/>
              </a:solidFill>
              <a:round/>
              <a:headEnd/>
              <a:tailEnd/>
            </a:ln>
          </p:spPr>
          <p:txBody>
            <a:bodyPr/>
            <a:lstStyle/>
            <a:p>
              <a:endParaRPr lang="zh-CN" altLang="en-US"/>
            </a:p>
          </p:txBody>
        </p:sp>
        <p:sp>
          <p:nvSpPr>
            <p:cNvPr id="108589" name="Rectangle 55"/>
            <p:cNvSpPr>
              <a:spLocks noChangeArrowheads="1"/>
            </p:cNvSpPr>
            <p:nvPr/>
          </p:nvSpPr>
          <p:spPr bwMode="auto">
            <a:xfrm>
              <a:off x="3513" y="2041"/>
              <a:ext cx="128" cy="64"/>
            </a:xfrm>
            <a:prstGeom prst="rect">
              <a:avLst/>
            </a:prstGeom>
            <a:noFill/>
            <a:ln w="9525">
              <a:solidFill>
                <a:srgbClr val="000000"/>
              </a:solidFill>
              <a:miter lim="800000"/>
              <a:headEnd/>
              <a:tailEnd/>
            </a:ln>
          </p:spPr>
          <p:txBody>
            <a:bodyPr/>
            <a:lstStyle/>
            <a:p>
              <a:endParaRPr lang="zh-CN" altLang="en-US"/>
            </a:p>
          </p:txBody>
        </p:sp>
        <p:sp>
          <p:nvSpPr>
            <p:cNvPr id="108590" name="Line 56"/>
            <p:cNvSpPr>
              <a:spLocks noChangeShapeType="1"/>
            </p:cNvSpPr>
            <p:nvPr/>
          </p:nvSpPr>
          <p:spPr bwMode="auto">
            <a:xfrm>
              <a:off x="3244" y="2117"/>
              <a:ext cx="333" cy="0"/>
            </a:xfrm>
            <a:prstGeom prst="line">
              <a:avLst/>
            </a:prstGeom>
            <a:noFill/>
            <a:ln w="9525">
              <a:solidFill>
                <a:srgbClr val="000000"/>
              </a:solidFill>
              <a:round/>
              <a:headEnd/>
              <a:tailEnd/>
            </a:ln>
          </p:spPr>
          <p:txBody>
            <a:bodyPr/>
            <a:lstStyle/>
            <a:p>
              <a:endParaRPr lang="zh-CN" altLang="en-US"/>
            </a:p>
          </p:txBody>
        </p:sp>
        <p:sp>
          <p:nvSpPr>
            <p:cNvPr id="108591" name="Line 57"/>
            <p:cNvSpPr>
              <a:spLocks noChangeShapeType="1"/>
            </p:cNvSpPr>
            <p:nvPr/>
          </p:nvSpPr>
          <p:spPr bwMode="auto">
            <a:xfrm>
              <a:off x="3258" y="2436"/>
              <a:ext cx="319" cy="0"/>
            </a:xfrm>
            <a:prstGeom prst="line">
              <a:avLst/>
            </a:prstGeom>
            <a:noFill/>
            <a:ln w="9525">
              <a:solidFill>
                <a:srgbClr val="000000"/>
              </a:solidFill>
              <a:round/>
              <a:headEnd/>
              <a:tailEnd/>
            </a:ln>
          </p:spPr>
          <p:txBody>
            <a:bodyPr/>
            <a:lstStyle/>
            <a:p>
              <a:endParaRPr lang="zh-CN" altLang="en-US"/>
            </a:p>
          </p:txBody>
        </p:sp>
        <p:sp>
          <p:nvSpPr>
            <p:cNvPr id="108592" name="Line 58"/>
            <p:cNvSpPr>
              <a:spLocks noChangeShapeType="1"/>
            </p:cNvSpPr>
            <p:nvPr/>
          </p:nvSpPr>
          <p:spPr bwMode="auto">
            <a:xfrm>
              <a:off x="3577" y="2117"/>
              <a:ext cx="658" cy="220"/>
            </a:xfrm>
            <a:prstGeom prst="line">
              <a:avLst/>
            </a:prstGeom>
            <a:noFill/>
            <a:ln w="9525">
              <a:solidFill>
                <a:srgbClr val="000000"/>
              </a:solidFill>
              <a:round/>
              <a:headEnd/>
              <a:tailEnd/>
            </a:ln>
          </p:spPr>
          <p:txBody>
            <a:bodyPr/>
            <a:lstStyle/>
            <a:p>
              <a:endParaRPr lang="zh-CN" altLang="en-US"/>
            </a:p>
          </p:txBody>
        </p:sp>
        <p:sp>
          <p:nvSpPr>
            <p:cNvPr id="108593" name="Line 59"/>
            <p:cNvSpPr>
              <a:spLocks noChangeShapeType="1"/>
            </p:cNvSpPr>
            <p:nvPr/>
          </p:nvSpPr>
          <p:spPr bwMode="auto">
            <a:xfrm flipV="1">
              <a:off x="3577" y="2253"/>
              <a:ext cx="651" cy="183"/>
            </a:xfrm>
            <a:prstGeom prst="line">
              <a:avLst/>
            </a:prstGeom>
            <a:noFill/>
            <a:ln w="9525">
              <a:solidFill>
                <a:srgbClr val="000000"/>
              </a:solidFill>
              <a:round/>
              <a:headEnd/>
              <a:tailEnd/>
            </a:ln>
          </p:spPr>
          <p:txBody>
            <a:bodyPr/>
            <a:lstStyle/>
            <a:p>
              <a:endParaRPr lang="zh-CN" altLang="en-US"/>
            </a:p>
          </p:txBody>
        </p:sp>
        <p:sp>
          <p:nvSpPr>
            <p:cNvPr id="590908" name="Text Box 60"/>
            <p:cNvSpPr txBox="1">
              <a:spLocks noChangeArrowheads="1"/>
            </p:cNvSpPr>
            <p:nvPr/>
          </p:nvSpPr>
          <p:spPr bwMode="auto">
            <a:xfrm>
              <a:off x="1903" y="3279"/>
              <a:ext cx="2354" cy="306"/>
            </a:xfrm>
            <a:prstGeom prst="rect">
              <a:avLst/>
            </a:prstGeom>
            <a:noFill/>
            <a:ln w="9525">
              <a:noFill/>
              <a:miter lim="800000"/>
              <a:headEnd/>
              <a:tailEnd/>
            </a:ln>
          </p:spPr>
          <p:txBody>
            <a:bodyPr/>
            <a:lstStyle/>
            <a:p>
              <a:pPr algn="ctr">
                <a:defRPr/>
              </a:pPr>
              <a:r>
                <a:rPr lang="zh-CN" altLang="en-US" sz="2400" b="1">
                  <a:effectLst>
                    <a:outerShdw blurRad="38100" dist="38100" dir="2700000" algn="tl">
                      <a:srgbClr val="C0C0C0"/>
                    </a:outerShdw>
                  </a:effectLst>
                  <a:latin typeface="黑体" pitchFamily="2" charset="-122"/>
                  <a:ea typeface="黑体" pitchFamily="2" charset="-122"/>
                </a:rPr>
                <a:t>星点检验装置示意图</a:t>
              </a:r>
            </a:p>
            <a:p>
              <a:pPr>
                <a:defRPr/>
              </a:pPr>
              <a:endParaRPr lang="en-US" altLang="zh-CN" sz="2400" b="1">
                <a:effectLst>
                  <a:outerShdw blurRad="38100" dist="38100" dir="2700000" algn="tl">
                    <a:srgbClr val="C0C0C0"/>
                  </a:outerShdw>
                </a:effectLst>
              </a:endParaRPr>
            </a:p>
          </p:txBody>
        </p:sp>
        <p:sp>
          <p:nvSpPr>
            <p:cNvPr id="590909" name="Text Box 61"/>
            <p:cNvSpPr txBox="1">
              <a:spLocks noChangeArrowheads="1"/>
            </p:cNvSpPr>
            <p:nvPr/>
          </p:nvSpPr>
          <p:spPr bwMode="auto">
            <a:xfrm>
              <a:off x="361" y="1846"/>
              <a:ext cx="504" cy="351"/>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光源</a:t>
              </a:r>
              <a:endParaRPr lang="zh-CN" altLang="en-US" sz="1600" b="1">
                <a:effectLst>
                  <a:outerShdw blurRad="38100" dist="38100" dir="2700000" algn="tl">
                    <a:srgbClr val="C0C0C0"/>
                  </a:outerShdw>
                </a:effectLst>
              </a:endParaRPr>
            </a:p>
          </p:txBody>
        </p:sp>
        <p:sp>
          <p:nvSpPr>
            <p:cNvPr id="590910" name="Text Box 62"/>
            <p:cNvSpPr txBox="1">
              <a:spLocks noChangeArrowheads="1"/>
            </p:cNvSpPr>
            <p:nvPr/>
          </p:nvSpPr>
          <p:spPr bwMode="auto">
            <a:xfrm>
              <a:off x="1132" y="1797"/>
              <a:ext cx="567" cy="30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星点孔</a:t>
              </a:r>
              <a:endParaRPr lang="zh-CN" altLang="en-US" sz="1600" b="1">
                <a:effectLst>
                  <a:outerShdw blurRad="38100" dist="38100" dir="2700000" algn="tl">
                    <a:srgbClr val="C0C0C0"/>
                  </a:outerShdw>
                </a:effectLst>
              </a:endParaRPr>
            </a:p>
          </p:txBody>
        </p:sp>
        <p:sp>
          <p:nvSpPr>
            <p:cNvPr id="590911" name="Text Box 63"/>
            <p:cNvSpPr txBox="1">
              <a:spLocks noChangeArrowheads="1"/>
            </p:cNvSpPr>
            <p:nvPr/>
          </p:nvSpPr>
          <p:spPr bwMode="auto">
            <a:xfrm>
              <a:off x="2568" y="1769"/>
              <a:ext cx="981" cy="336"/>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平行光管物镜</a:t>
              </a:r>
              <a:endParaRPr lang="zh-CN" altLang="en-US" sz="1600" b="1">
                <a:effectLst>
                  <a:outerShdw blurRad="38100" dist="38100" dir="2700000" algn="tl">
                    <a:srgbClr val="C0C0C0"/>
                  </a:outerShdw>
                </a:effectLst>
              </a:endParaRPr>
            </a:p>
          </p:txBody>
        </p:sp>
        <p:sp>
          <p:nvSpPr>
            <p:cNvPr id="590912" name="Text Box 64"/>
            <p:cNvSpPr txBox="1">
              <a:spLocks noChangeArrowheads="1"/>
            </p:cNvSpPr>
            <p:nvPr/>
          </p:nvSpPr>
          <p:spPr bwMode="auto">
            <a:xfrm>
              <a:off x="3202" y="1604"/>
              <a:ext cx="799" cy="30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被检物镜</a:t>
              </a:r>
              <a:endParaRPr lang="zh-CN" altLang="en-US" sz="1600" b="1">
                <a:effectLst>
                  <a:outerShdw blurRad="38100" dist="38100" dir="2700000" algn="tl">
                    <a:srgbClr val="C0C0C0"/>
                  </a:outerShdw>
                </a:effectLst>
              </a:endParaRPr>
            </a:p>
          </p:txBody>
        </p:sp>
        <p:sp>
          <p:nvSpPr>
            <p:cNvPr id="590913" name="Text Box 65"/>
            <p:cNvSpPr txBox="1">
              <a:spLocks noChangeArrowheads="1"/>
            </p:cNvSpPr>
            <p:nvPr/>
          </p:nvSpPr>
          <p:spPr bwMode="auto">
            <a:xfrm>
              <a:off x="4536" y="1818"/>
              <a:ext cx="855" cy="30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观察显微镜</a:t>
              </a:r>
              <a:endParaRPr lang="zh-CN" altLang="en-US" sz="1600" b="1">
                <a:effectLst>
                  <a:outerShdw blurRad="38100" dist="38100" dir="2700000" algn="tl">
                    <a:srgbClr val="C0C0C0"/>
                  </a:outerShdw>
                </a:effectLst>
              </a:endParaRPr>
            </a:p>
          </p:txBody>
        </p:sp>
        <p:sp>
          <p:nvSpPr>
            <p:cNvPr id="590914" name="Text Box 66"/>
            <p:cNvSpPr txBox="1">
              <a:spLocks noChangeArrowheads="1"/>
            </p:cNvSpPr>
            <p:nvPr/>
          </p:nvSpPr>
          <p:spPr bwMode="auto">
            <a:xfrm>
              <a:off x="3724" y="1678"/>
              <a:ext cx="700" cy="37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星点像</a:t>
              </a:r>
              <a:endParaRPr lang="zh-CN" altLang="en-US" sz="1600" b="1">
                <a:effectLst>
                  <a:outerShdw blurRad="38100" dist="38100" dir="2700000" algn="tl">
                    <a:srgbClr val="C0C0C0"/>
                  </a:outerShdw>
                </a:effectLst>
              </a:endParaRPr>
            </a:p>
          </p:txBody>
        </p:sp>
        <p:sp>
          <p:nvSpPr>
            <p:cNvPr id="590915" name="Text Box 67"/>
            <p:cNvSpPr txBox="1">
              <a:spLocks noChangeArrowheads="1"/>
            </p:cNvSpPr>
            <p:nvPr/>
          </p:nvSpPr>
          <p:spPr bwMode="auto">
            <a:xfrm>
              <a:off x="739" y="2435"/>
              <a:ext cx="715" cy="308"/>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聚光镜</a:t>
              </a:r>
              <a:endParaRPr lang="zh-CN" altLang="en-US" sz="1600" b="1">
                <a:effectLst>
                  <a:outerShdw blurRad="38100" dist="38100" dir="2700000" algn="tl">
                    <a:srgbClr val="C0C0C0"/>
                  </a:outerShdw>
                </a:effectLst>
              </a:endParaRPr>
            </a:p>
          </p:txBody>
        </p:sp>
        <p:sp>
          <p:nvSpPr>
            <p:cNvPr id="590916" name="Text Box 68"/>
            <p:cNvSpPr txBox="1">
              <a:spLocks noChangeArrowheads="1"/>
            </p:cNvSpPr>
            <p:nvPr/>
          </p:nvSpPr>
          <p:spPr bwMode="auto">
            <a:xfrm>
              <a:off x="431" y="2687"/>
              <a:ext cx="589" cy="280"/>
            </a:xfrm>
            <a:prstGeom prst="rect">
              <a:avLst/>
            </a:prstGeom>
            <a:noFill/>
            <a:ln w="9525">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rPr>
                <a:t>导轨</a:t>
              </a:r>
              <a:endParaRPr lang="zh-CN" altLang="en-US" sz="1600" b="1">
                <a:effectLst>
                  <a:outerShdw blurRad="38100" dist="38100" dir="2700000" algn="tl">
                    <a:srgbClr val="C0C0C0"/>
                  </a:outerShdw>
                </a:effectLst>
              </a:endParaRPr>
            </a:p>
          </p:txBody>
        </p:sp>
        <p:sp>
          <p:nvSpPr>
            <p:cNvPr id="108603" name="Arc 69"/>
            <p:cNvSpPr>
              <a:spLocks/>
            </p:cNvSpPr>
            <p:nvPr/>
          </p:nvSpPr>
          <p:spPr bwMode="auto">
            <a:xfrm>
              <a:off x="3784" y="2009"/>
              <a:ext cx="244" cy="281"/>
            </a:xfrm>
            <a:custGeom>
              <a:avLst/>
              <a:gdLst>
                <a:gd name="T0" fmla="*/ 0 w 20019"/>
                <a:gd name="T1" fmla="*/ 0 h 19973"/>
                <a:gd name="T2" fmla="*/ 0 w 20019"/>
                <a:gd name="T3" fmla="*/ 0 h 19973"/>
                <a:gd name="T4" fmla="*/ 0 w 20019"/>
                <a:gd name="T5" fmla="*/ 0 h 19973"/>
                <a:gd name="T6" fmla="*/ 0 60000 65536"/>
                <a:gd name="T7" fmla="*/ 0 60000 65536"/>
                <a:gd name="T8" fmla="*/ 0 60000 65536"/>
                <a:gd name="T9" fmla="*/ 0 w 20019"/>
                <a:gd name="T10" fmla="*/ 0 h 19973"/>
                <a:gd name="T11" fmla="*/ 20019 w 20019"/>
                <a:gd name="T12" fmla="*/ 19973 h 19973"/>
              </a:gdLst>
              <a:ahLst/>
              <a:cxnLst>
                <a:cxn ang="T6">
                  <a:pos x="T0" y="T1"/>
                </a:cxn>
                <a:cxn ang="T7">
                  <a:pos x="T2" y="T3"/>
                </a:cxn>
                <a:cxn ang="T8">
                  <a:pos x="T4" y="T5"/>
                </a:cxn>
              </a:cxnLst>
              <a:rect l="T9" t="T10" r="T11" b="T12"/>
              <a:pathLst>
                <a:path w="20019" h="19973" fill="none" extrusionOk="0">
                  <a:moveTo>
                    <a:pt x="-1" y="11861"/>
                  </a:moveTo>
                  <a:cubicBezTo>
                    <a:pt x="2178" y="6484"/>
                    <a:pt x="6429" y="2209"/>
                    <a:pt x="11794" y="-1"/>
                  </a:cubicBezTo>
                </a:path>
                <a:path w="20019" h="19973" stroke="0" extrusionOk="0">
                  <a:moveTo>
                    <a:pt x="-1" y="11861"/>
                  </a:moveTo>
                  <a:cubicBezTo>
                    <a:pt x="2178" y="6484"/>
                    <a:pt x="6429" y="2209"/>
                    <a:pt x="11794" y="-1"/>
                  </a:cubicBezTo>
                  <a:lnTo>
                    <a:pt x="20019" y="19973"/>
                  </a:lnTo>
                  <a:close/>
                </a:path>
              </a:pathLst>
            </a:custGeom>
            <a:noFill/>
            <a:ln w="6350">
              <a:solidFill>
                <a:srgbClr val="000000"/>
              </a:solidFill>
              <a:round/>
              <a:headEnd type="stealth" w="lg" len="lg"/>
              <a:tailEnd/>
            </a:ln>
          </p:spPr>
          <p:txBody>
            <a:bodyPr/>
            <a:lstStyle/>
            <a:p>
              <a:endParaRPr lang="zh-CN" altLang="en-US"/>
            </a:p>
          </p:txBody>
        </p:sp>
        <p:sp>
          <p:nvSpPr>
            <p:cNvPr id="108604" name="Arc 70"/>
            <p:cNvSpPr>
              <a:spLocks/>
            </p:cNvSpPr>
            <p:nvPr/>
          </p:nvSpPr>
          <p:spPr bwMode="auto">
            <a:xfrm flipV="1">
              <a:off x="3790" y="2275"/>
              <a:ext cx="244" cy="273"/>
            </a:xfrm>
            <a:custGeom>
              <a:avLst/>
              <a:gdLst>
                <a:gd name="T0" fmla="*/ 0 w 20019"/>
                <a:gd name="T1" fmla="*/ 0 h 19393"/>
                <a:gd name="T2" fmla="*/ 0 w 20019"/>
                <a:gd name="T3" fmla="*/ 0 h 19393"/>
                <a:gd name="T4" fmla="*/ 0 w 20019"/>
                <a:gd name="T5" fmla="*/ 0 h 19393"/>
                <a:gd name="T6" fmla="*/ 0 60000 65536"/>
                <a:gd name="T7" fmla="*/ 0 60000 65536"/>
                <a:gd name="T8" fmla="*/ 0 60000 65536"/>
                <a:gd name="T9" fmla="*/ 0 w 20019"/>
                <a:gd name="T10" fmla="*/ 0 h 19393"/>
                <a:gd name="T11" fmla="*/ 20019 w 20019"/>
                <a:gd name="T12" fmla="*/ 19393 h 19393"/>
              </a:gdLst>
              <a:ahLst/>
              <a:cxnLst>
                <a:cxn ang="T6">
                  <a:pos x="T0" y="T1"/>
                </a:cxn>
                <a:cxn ang="T7">
                  <a:pos x="T2" y="T3"/>
                </a:cxn>
                <a:cxn ang="T8">
                  <a:pos x="T4" y="T5"/>
                </a:cxn>
              </a:cxnLst>
              <a:rect l="T9" t="T10" r="T11" b="T12"/>
              <a:pathLst>
                <a:path w="20019" h="19393" fill="none" extrusionOk="0">
                  <a:moveTo>
                    <a:pt x="-1" y="11281"/>
                  </a:moveTo>
                  <a:cubicBezTo>
                    <a:pt x="1995" y="6356"/>
                    <a:pt x="5736" y="2339"/>
                    <a:pt x="10507" y="-1"/>
                  </a:cubicBezTo>
                </a:path>
                <a:path w="20019" h="19393" stroke="0" extrusionOk="0">
                  <a:moveTo>
                    <a:pt x="-1" y="11281"/>
                  </a:moveTo>
                  <a:cubicBezTo>
                    <a:pt x="1995" y="6356"/>
                    <a:pt x="5736" y="2339"/>
                    <a:pt x="10507" y="-1"/>
                  </a:cubicBezTo>
                  <a:lnTo>
                    <a:pt x="20019" y="19393"/>
                  </a:lnTo>
                  <a:close/>
                </a:path>
              </a:pathLst>
            </a:custGeom>
            <a:noFill/>
            <a:ln w="6350">
              <a:solidFill>
                <a:srgbClr val="000000"/>
              </a:solidFill>
              <a:round/>
              <a:headEnd type="stealth" w="lg" len="lg"/>
              <a:tailEnd/>
            </a:ln>
          </p:spPr>
          <p:txBody>
            <a:bodyPr/>
            <a:lstStyle/>
            <a:p>
              <a:endParaRPr lang="zh-CN" altLang="en-US"/>
            </a:p>
          </p:txBody>
        </p:sp>
        <p:sp>
          <p:nvSpPr>
            <p:cNvPr id="108605" name="Line 71"/>
            <p:cNvSpPr>
              <a:spLocks noChangeShapeType="1"/>
            </p:cNvSpPr>
            <p:nvPr/>
          </p:nvSpPr>
          <p:spPr bwMode="auto">
            <a:xfrm>
              <a:off x="3980" y="1927"/>
              <a:ext cx="84" cy="343"/>
            </a:xfrm>
            <a:prstGeom prst="line">
              <a:avLst/>
            </a:prstGeom>
            <a:noFill/>
            <a:ln w="6350">
              <a:solidFill>
                <a:srgbClr val="000000"/>
              </a:solidFill>
              <a:round/>
              <a:headEnd/>
              <a:tailEnd/>
            </a:ln>
          </p:spPr>
          <p:txBody>
            <a:bodyPr/>
            <a:lstStyle/>
            <a:p>
              <a:endParaRPr lang="zh-CN" altLang="en-US"/>
            </a:p>
          </p:txBody>
        </p:sp>
        <p:sp>
          <p:nvSpPr>
            <p:cNvPr id="590920" name="Text Box 72"/>
            <p:cNvSpPr txBox="1">
              <a:spLocks noChangeArrowheads="1"/>
            </p:cNvSpPr>
            <p:nvPr/>
          </p:nvSpPr>
          <p:spPr bwMode="auto">
            <a:xfrm>
              <a:off x="3738" y="2470"/>
              <a:ext cx="406" cy="308"/>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U</a:t>
              </a:r>
              <a:r>
                <a:rPr lang="en-US" altLang="zh-CN" sz="1600" b="1">
                  <a:effectLst>
                    <a:outerShdw blurRad="38100" dist="38100" dir="2700000" algn="tl">
                      <a:srgbClr val="C0C0C0"/>
                    </a:outerShdw>
                  </a:effectLst>
                  <a:latin typeface="Times New Roman" pitchFamily="18" charset="0"/>
                </a:rPr>
                <a:t>′</a:t>
              </a:r>
              <a:endParaRPr lang="en-US" altLang="zh-CN" sz="1600" b="1">
                <a:effectLst>
                  <a:outerShdw blurRad="38100" dist="38100" dir="2700000" algn="tl">
                    <a:srgbClr val="C0C0C0"/>
                  </a:outerShdw>
                </a:effectLst>
              </a:endParaRPr>
            </a:p>
          </p:txBody>
        </p:sp>
        <p:sp>
          <p:nvSpPr>
            <p:cNvPr id="108607" name="Arc 73"/>
            <p:cNvSpPr>
              <a:spLocks/>
            </p:cNvSpPr>
            <p:nvPr/>
          </p:nvSpPr>
          <p:spPr bwMode="auto">
            <a:xfrm flipH="1">
              <a:off x="3924" y="2117"/>
              <a:ext cx="244" cy="257"/>
            </a:xfrm>
            <a:custGeom>
              <a:avLst/>
              <a:gdLst>
                <a:gd name="T0" fmla="*/ 0 w 20019"/>
                <a:gd name="T1" fmla="*/ 0 h 18314"/>
                <a:gd name="T2" fmla="*/ 0 w 20019"/>
                <a:gd name="T3" fmla="*/ 0 h 18314"/>
                <a:gd name="T4" fmla="*/ 0 w 20019"/>
                <a:gd name="T5" fmla="*/ 0 h 18314"/>
                <a:gd name="T6" fmla="*/ 0 60000 65536"/>
                <a:gd name="T7" fmla="*/ 0 60000 65536"/>
                <a:gd name="T8" fmla="*/ 0 60000 65536"/>
                <a:gd name="T9" fmla="*/ 0 w 20019"/>
                <a:gd name="T10" fmla="*/ 0 h 18314"/>
                <a:gd name="T11" fmla="*/ 20019 w 20019"/>
                <a:gd name="T12" fmla="*/ 18314 h 18314"/>
              </a:gdLst>
              <a:ahLst/>
              <a:cxnLst>
                <a:cxn ang="T6">
                  <a:pos x="T0" y="T1"/>
                </a:cxn>
                <a:cxn ang="T7">
                  <a:pos x="T2" y="T3"/>
                </a:cxn>
                <a:cxn ang="T8">
                  <a:pos x="T4" y="T5"/>
                </a:cxn>
              </a:cxnLst>
              <a:rect l="T9" t="T10" r="T11" b="T12"/>
              <a:pathLst>
                <a:path w="20019" h="18314" fill="none" extrusionOk="0">
                  <a:moveTo>
                    <a:pt x="-1" y="10202"/>
                  </a:moveTo>
                  <a:cubicBezTo>
                    <a:pt x="1709" y="5984"/>
                    <a:pt x="4707" y="2413"/>
                    <a:pt x="8566" y="-1"/>
                  </a:cubicBezTo>
                </a:path>
                <a:path w="20019" h="18314" stroke="0" extrusionOk="0">
                  <a:moveTo>
                    <a:pt x="-1" y="10202"/>
                  </a:moveTo>
                  <a:cubicBezTo>
                    <a:pt x="1709" y="5984"/>
                    <a:pt x="4707" y="2413"/>
                    <a:pt x="8566" y="-1"/>
                  </a:cubicBezTo>
                  <a:lnTo>
                    <a:pt x="20019" y="18314"/>
                  </a:lnTo>
                  <a:close/>
                </a:path>
              </a:pathLst>
            </a:custGeom>
            <a:noFill/>
            <a:ln w="6350">
              <a:solidFill>
                <a:srgbClr val="000000"/>
              </a:solidFill>
              <a:round/>
              <a:headEnd type="stealth" w="lg" len="lg"/>
              <a:tailEnd/>
            </a:ln>
          </p:spPr>
          <p:txBody>
            <a:bodyPr/>
            <a:lstStyle/>
            <a:p>
              <a:endParaRPr lang="zh-CN" altLang="en-US"/>
            </a:p>
          </p:txBody>
        </p:sp>
        <p:sp>
          <p:nvSpPr>
            <p:cNvPr id="108608" name="Arc 74"/>
            <p:cNvSpPr>
              <a:spLocks/>
            </p:cNvSpPr>
            <p:nvPr/>
          </p:nvSpPr>
          <p:spPr bwMode="auto">
            <a:xfrm flipH="1" flipV="1">
              <a:off x="3931" y="2215"/>
              <a:ext cx="244" cy="257"/>
            </a:xfrm>
            <a:custGeom>
              <a:avLst/>
              <a:gdLst>
                <a:gd name="T0" fmla="*/ 0 w 20019"/>
                <a:gd name="T1" fmla="*/ 0 h 18314"/>
                <a:gd name="T2" fmla="*/ 0 w 20019"/>
                <a:gd name="T3" fmla="*/ 0 h 18314"/>
                <a:gd name="T4" fmla="*/ 0 w 20019"/>
                <a:gd name="T5" fmla="*/ 0 h 18314"/>
                <a:gd name="T6" fmla="*/ 0 60000 65536"/>
                <a:gd name="T7" fmla="*/ 0 60000 65536"/>
                <a:gd name="T8" fmla="*/ 0 60000 65536"/>
                <a:gd name="T9" fmla="*/ 0 w 20019"/>
                <a:gd name="T10" fmla="*/ 0 h 18314"/>
                <a:gd name="T11" fmla="*/ 20019 w 20019"/>
                <a:gd name="T12" fmla="*/ 18314 h 18314"/>
              </a:gdLst>
              <a:ahLst/>
              <a:cxnLst>
                <a:cxn ang="T6">
                  <a:pos x="T0" y="T1"/>
                </a:cxn>
                <a:cxn ang="T7">
                  <a:pos x="T2" y="T3"/>
                </a:cxn>
                <a:cxn ang="T8">
                  <a:pos x="T4" y="T5"/>
                </a:cxn>
              </a:cxnLst>
              <a:rect l="T9" t="T10" r="T11" b="T12"/>
              <a:pathLst>
                <a:path w="20019" h="18314" fill="none" extrusionOk="0">
                  <a:moveTo>
                    <a:pt x="-1" y="10202"/>
                  </a:moveTo>
                  <a:cubicBezTo>
                    <a:pt x="1709" y="5984"/>
                    <a:pt x="4707" y="2413"/>
                    <a:pt x="8566" y="-1"/>
                  </a:cubicBezTo>
                </a:path>
                <a:path w="20019" h="18314" stroke="0" extrusionOk="0">
                  <a:moveTo>
                    <a:pt x="-1" y="10202"/>
                  </a:moveTo>
                  <a:cubicBezTo>
                    <a:pt x="1709" y="5984"/>
                    <a:pt x="4707" y="2413"/>
                    <a:pt x="8566" y="-1"/>
                  </a:cubicBezTo>
                  <a:lnTo>
                    <a:pt x="20019" y="18314"/>
                  </a:lnTo>
                  <a:close/>
                </a:path>
              </a:pathLst>
            </a:custGeom>
            <a:noFill/>
            <a:ln w="6350">
              <a:solidFill>
                <a:srgbClr val="000000"/>
              </a:solidFill>
              <a:round/>
              <a:headEnd type="stealth" w="lg" len="lg"/>
              <a:tailEnd/>
            </a:ln>
          </p:spPr>
          <p:txBody>
            <a:bodyPr/>
            <a:lstStyle/>
            <a:p>
              <a:endParaRPr lang="zh-CN" altLang="en-US"/>
            </a:p>
          </p:txBody>
        </p:sp>
        <p:sp>
          <p:nvSpPr>
            <p:cNvPr id="590923" name="Text Box 75"/>
            <p:cNvSpPr txBox="1">
              <a:spLocks noChangeArrowheads="1"/>
            </p:cNvSpPr>
            <p:nvPr/>
          </p:nvSpPr>
          <p:spPr bwMode="auto">
            <a:xfrm>
              <a:off x="3955" y="2365"/>
              <a:ext cx="406" cy="308"/>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rPr>
                <a:t>U</a:t>
              </a:r>
              <a:r>
                <a:rPr lang="en-US" altLang="zh-CN" sz="1600" b="1" baseline="-25000">
                  <a:effectLst>
                    <a:outerShdw blurRad="38100" dist="38100" dir="2700000" algn="tl">
                      <a:srgbClr val="C0C0C0"/>
                    </a:outerShdw>
                  </a:effectLst>
                  <a:latin typeface="Times New Roman" pitchFamily="18" charset="0"/>
                </a:rPr>
                <a:t>max</a:t>
              </a:r>
              <a:endParaRPr lang="en-US" altLang="zh-CN" sz="1600" b="1">
                <a:effectLst>
                  <a:outerShdw blurRad="38100" dist="38100" dir="2700000" algn="tl">
                    <a:srgbClr val="C0C0C0"/>
                  </a:outerShdw>
                </a:effectLst>
              </a:endParaRPr>
            </a:p>
          </p:txBody>
        </p:sp>
        <p:sp>
          <p:nvSpPr>
            <p:cNvPr id="108610" name="Line 76"/>
            <p:cNvSpPr>
              <a:spLocks noChangeShapeType="1"/>
            </p:cNvSpPr>
            <p:nvPr/>
          </p:nvSpPr>
          <p:spPr bwMode="auto">
            <a:xfrm flipH="1">
              <a:off x="3575" y="1829"/>
              <a:ext cx="9" cy="347"/>
            </a:xfrm>
            <a:prstGeom prst="line">
              <a:avLst/>
            </a:prstGeom>
            <a:noFill/>
            <a:ln w="9525">
              <a:solidFill>
                <a:schemeClr val="tx1"/>
              </a:solidFill>
              <a:round/>
              <a:headEnd/>
              <a:tailEnd/>
            </a:ln>
          </p:spPr>
          <p:txBody>
            <a:bodyPr/>
            <a:lstStyle/>
            <a:p>
              <a:endParaRPr lang="zh-CN" altLang="en-US"/>
            </a:p>
          </p:txBody>
        </p:sp>
      </p:grpSp>
    </p:spTree>
  </p:cSld>
  <p:clrMapOvr>
    <a:masterClrMapping/>
  </p:clrMapOvr>
  <p:transition>
    <p:circl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日期占位符 3"/>
          <p:cNvSpPr txBox="1">
            <a:spLocks noGrp="1"/>
          </p:cNvSpPr>
          <p:nvPr/>
        </p:nvSpPr>
        <p:spPr bwMode="auto">
          <a:xfrm>
            <a:off x="298450" y="6245225"/>
            <a:ext cx="2289175" cy="476250"/>
          </a:xfrm>
          <a:prstGeom prst="rect">
            <a:avLst/>
          </a:prstGeom>
          <a:noFill/>
          <a:ln w="9525">
            <a:noFill/>
            <a:miter lim="800000"/>
            <a:headEnd/>
            <a:tailEnd/>
          </a:ln>
        </p:spPr>
        <p:txBody>
          <a:bodyPr/>
          <a:lstStyle/>
          <a:p>
            <a:fld id="{F1B3C3A9-4A7C-40AD-8011-368BC8C42AE2}" type="datetime1">
              <a:rPr lang="zh-CN" altLang="en-US" sz="1400"/>
              <a:pPr/>
              <a:t>2018/2/24</a:t>
            </a:fld>
            <a:endParaRPr lang="en-US" altLang="zh-CN" sz="1400"/>
          </a:p>
        </p:txBody>
      </p:sp>
      <p:sp>
        <p:nvSpPr>
          <p:cNvPr id="24581" name="灯片编号占位符 5"/>
          <p:cNvSpPr txBox="1">
            <a:spLocks noGrp="1"/>
          </p:cNvSpPr>
          <p:nvPr/>
        </p:nvSpPr>
        <p:spPr bwMode="auto">
          <a:xfrm>
            <a:off x="6550025" y="6245225"/>
            <a:ext cx="2289175" cy="476250"/>
          </a:xfrm>
          <a:prstGeom prst="rect">
            <a:avLst/>
          </a:prstGeom>
          <a:noFill/>
          <a:ln w="9525">
            <a:noFill/>
            <a:miter lim="800000"/>
            <a:headEnd/>
            <a:tailEnd/>
          </a:ln>
        </p:spPr>
        <p:txBody>
          <a:bodyPr/>
          <a:lstStyle/>
          <a:p>
            <a:pPr algn="r"/>
            <a:fld id="{AEF33F09-C072-4B64-836E-C0A2F769CC53}" type="slidenum">
              <a:rPr lang="en-US" altLang="zh-CN" sz="1400"/>
              <a:pPr algn="r"/>
              <a:t>42</a:t>
            </a:fld>
            <a:endParaRPr lang="en-US" altLang="zh-CN" sz="1400"/>
          </a:p>
        </p:txBody>
      </p:sp>
      <p:sp>
        <p:nvSpPr>
          <p:cNvPr id="591875" name="Rectangle 3"/>
          <p:cNvSpPr>
            <a:spLocks noGrp="1" noRot="1" noChangeArrowheads="1"/>
          </p:cNvSpPr>
          <p:nvPr>
            <p:ph type="body" idx="4294967295"/>
          </p:nvPr>
        </p:nvSpPr>
        <p:spPr>
          <a:xfrm>
            <a:off x="471488" y="1960563"/>
            <a:ext cx="8229600" cy="4805362"/>
          </a:xfrm>
        </p:spPr>
        <p:txBody>
          <a:bodyPr/>
          <a:lstStyle/>
          <a:p>
            <a:pPr marL="457200" indent="-457200" eaLnBrk="1" hangingPunct="1">
              <a:lnSpc>
                <a:spcPct val="125000"/>
              </a:lnSpc>
              <a:defRPr/>
            </a:pPr>
            <a:r>
              <a:rPr lang="zh-CN" altLang="en-US" dirty="0" smtClean="0">
                <a:solidFill>
                  <a:srgbClr val="FF0000"/>
                </a:solidFill>
                <a:latin typeface="Times New Roman" pitchFamily="18" charset="0"/>
                <a:ea typeface="黑体" pitchFamily="2" charset="-122"/>
              </a:rPr>
              <a:t>星点孔的尺寸：</a:t>
            </a:r>
            <a:r>
              <a:rPr lang="zh-CN" altLang="en-US" dirty="0" smtClean="0">
                <a:latin typeface="Times New Roman" pitchFamily="18" charset="0"/>
                <a:ea typeface="黑体" pitchFamily="2" charset="-122"/>
              </a:rPr>
              <a:t>在实际装置中，为了能清晰地看到星点衍射像，通常把</a:t>
            </a:r>
            <a:r>
              <a:rPr lang="en-US" altLang="zh-CN" i="1" dirty="0" smtClean="0">
                <a:latin typeface="Times New Roman" pitchFamily="18" charset="0"/>
                <a:ea typeface="黑体" pitchFamily="2" charset="-122"/>
              </a:rPr>
              <a:t>α</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θ</a:t>
            </a: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a:t>
            </a:r>
            <a:r>
              <a:rPr lang="en-US" altLang="zh-CN" i="1" dirty="0" smtClean="0">
                <a:solidFill>
                  <a:srgbClr val="FF0000"/>
                </a:solidFill>
                <a:latin typeface="Times New Roman" pitchFamily="18" charset="0"/>
                <a:ea typeface="黑体" pitchFamily="2" charset="-122"/>
              </a:rPr>
              <a:t>θ</a:t>
            </a:r>
            <a:r>
              <a:rPr lang="zh-CN" altLang="en-US" dirty="0" smtClean="0">
                <a:solidFill>
                  <a:srgbClr val="FF0000"/>
                </a:solidFill>
                <a:latin typeface="Times New Roman" pitchFamily="18" charset="0"/>
                <a:ea typeface="黑体" pitchFamily="2" charset="-122"/>
              </a:rPr>
              <a:t>第一衍射暗环所对应的衍射角）</a:t>
            </a:r>
            <a:r>
              <a:rPr lang="zh-CN" altLang="en-US" dirty="0" smtClean="0">
                <a:latin typeface="Times New Roman" pitchFamily="18" charset="0"/>
                <a:ea typeface="黑体" pitchFamily="2" charset="-122"/>
              </a:rPr>
              <a:t>作为计算时所要求的星点孔直径的条件。即应有                                           </a:t>
            </a:r>
          </a:p>
        </p:txBody>
      </p:sp>
      <p:sp>
        <p:nvSpPr>
          <p:cNvPr id="24584"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4578" name="Object 5"/>
          <p:cNvGraphicFramePr>
            <a:graphicFrameLocks noChangeAspect="1"/>
          </p:cNvGraphicFramePr>
          <p:nvPr/>
        </p:nvGraphicFramePr>
        <p:xfrm>
          <a:off x="3079956" y="3556495"/>
          <a:ext cx="3427413" cy="776288"/>
        </p:xfrm>
        <a:graphic>
          <a:graphicData uri="http://schemas.openxmlformats.org/presentationml/2006/ole">
            <p:oleObj spid="_x0000_s24578" name="公式" r:id="rId3" imgW="41453117" imgH="9449117" progId="Equation.3">
              <p:embed/>
            </p:oleObj>
          </a:graphicData>
        </a:graphic>
      </p:graphicFrame>
      <p:sp>
        <p:nvSpPr>
          <p:cNvPr id="24585" name="Rectangle 6"/>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4579" name="Object 7"/>
          <p:cNvGraphicFramePr>
            <a:graphicFrameLocks noChangeAspect="1"/>
          </p:cNvGraphicFramePr>
          <p:nvPr/>
        </p:nvGraphicFramePr>
        <p:xfrm>
          <a:off x="3283486" y="4593380"/>
          <a:ext cx="2732088" cy="762000"/>
        </p:xfrm>
        <a:graphic>
          <a:graphicData uri="http://schemas.openxmlformats.org/presentationml/2006/ole">
            <p:oleObj spid="_x0000_s24579" name="公式" r:id="rId4" imgW="33528317" imgH="9449117" progId="Equation.3">
              <p:embed/>
            </p:oleObj>
          </a:graphicData>
        </a:graphic>
      </p:graphicFrame>
      <p:sp>
        <p:nvSpPr>
          <p:cNvPr id="10" name="Rectangle 2"/>
          <p:cNvSpPr txBox="1">
            <a:spLocks noRot="1" noChangeArrowheads="1"/>
          </p:cNvSpPr>
          <p:nvPr/>
        </p:nvSpPr>
        <p:spPr>
          <a:xfrm>
            <a:off x="557213" y="482600"/>
            <a:ext cx="7500937" cy="1139825"/>
          </a:xfrm>
          <a:prstGeom prst="rect">
            <a:avLst/>
          </a:prstGeom>
        </p:spPr>
        <p:txBody>
          <a:body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altLang="zh-CN" sz="40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§2-3  </a:t>
            </a:r>
            <a:r>
              <a:rPr kumimoji="0" lang="zh-CN" altLang="en-US" sz="40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星点检验            </a:t>
            </a:r>
            <a:r>
              <a:rPr kumimoji="0" lang="zh-CN" altLang="en-US" sz="1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
            </a:r>
            <a:br>
              <a:rPr kumimoji="0" lang="zh-CN" altLang="en-US" sz="1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br>
            <a:r>
              <a:rPr kumimoji="0" lang="zh-CN" altLang="en-US" sz="9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
            </a:r>
            <a:br>
              <a:rPr kumimoji="0" lang="zh-CN" altLang="en-US" sz="9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b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2</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rPr>
              <a:t>．星点检验条件</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Times New Roman" pitchFamily="18" charset="0"/>
              <a:ea typeface="黑体" pitchFamily="2" charset="-122"/>
              <a:cs typeface="+mj-cs"/>
            </a:endParaRPr>
          </a:p>
        </p:txBody>
      </p:sp>
    </p:spTree>
  </p:cSld>
  <p:clrMapOvr>
    <a:masterClrMapping/>
  </p:clrMapOvr>
  <p:transition>
    <p:circl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日期占位符 3"/>
          <p:cNvSpPr>
            <a:spLocks noGrp="1"/>
          </p:cNvSpPr>
          <p:nvPr>
            <p:ph type="dt" sz="quarter" idx="10"/>
          </p:nvPr>
        </p:nvSpPr>
        <p:spPr>
          <a:noFill/>
        </p:spPr>
        <p:txBody>
          <a:bodyPr/>
          <a:lstStyle/>
          <a:p>
            <a:fld id="{04F81E3A-1ABA-47DE-9FE8-461A962FC4AE}" type="datetime1">
              <a:rPr lang="zh-CN" altLang="en-US" smtClean="0"/>
              <a:pPr/>
              <a:t>2018/2/24</a:t>
            </a:fld>
            <a:endParaRPr lang="en-US" altLang="zh-CN" smtClean="0"/>
          </a:p>
        </p:txBody>
      </p:sp>
      <p:sp>
        <p:nvSpPr>
          <p:cNvPr id="25606" name="灯片编号占位符 5"/>
          <p:cNvSpPr>
            <a:spLocks noGrp="1"/>
          </p:cNvSpPr>
          <p:nvPr>
            <p:ph type="sldNum" sz="quarter" idx="12"/>
          </p:nvPr>
        </p:nvSpPr>
        <p:spPr>
          <a:noFill/>
        </p:spPr>
        <p:txBody>
          <a:bodyPr/>
          <a:lstStyle/>
          <a:p>
            <a:fld id="{B710A1E7-C2DF-4149-AA36-E76104B00414}" type="slidenum">
              <a:rPr lang="en-US" altLang="zh-CN" smtClean="0"/>
              <a:pPr/>
              <a:t>43</a:t>
            </a:fld>
            <a:endParaRPr lang="en-US" altLang="zh-CN" smtClean="0"/>
          </a:p>
        </p:txBody>
      </p:sp>
      <p:sp>
        <p:nvSpPr>
          <p:cNvPr id="592899" name="Rectangle 3"/>
          <p:cNvSpPr>
            <a:spLocks noGrp="1" noRot="1" noChangeArrowheads="1"/>
          </p:cNvSpPr>
          <p:nvPr>
            <p:ph type="body" idx="1"/>
          </p:nvPr>
        </p:nvSpPr>
        <p:spPr>
          <a:xfrm>
            <a:off x="471488" y="1960563"/>
            <a:ext cx="8229600" cy="4476750"/>
          </a:xfrm>
        </p:spPr>
        <p:txBody>
          <a:bodyPr/>
          <a:lstStyle/>
          <a:p>
            <a:pPr marL="457200" indent="-457200" eaLnBrk="1" hangingPunct="1">
              <a:lnSpc>
                <a:spcPct val="110000"/>
              </a:lnSpc>
              <a:defRPr/>
            </a:pPr>
            <a:r>
              <a:rPr lang="zh-CN" altLang="en-US" dirty="0" smtClean="0">
                <a:latin typeface="Times New Roman" pitchFamily="18" charset="0"/>
                <a:ea typeface="黑体" pitchFamily="2" charset="-122"/>
              </a:rPr>
              <a:t>观察显微镜物镜数值孔径：</a:t>
            </a:r>
            <a:endParaRPr lang="en-US" altLang="zh-CN" dirty="0" smtClean="0">
              <a:latin typeface="Times New Roman" pitchFamily="18" charset="0"/>
              <a:ea typeface="黑体" pitchFamily="2" charset="-122"/>
            </a:endParaRPr>
          </a:p>
          <a:p>
            <a:pPr marL="457200" indent="-457200" eaLnBrk="1" hangingPunct="1">
              <a:lnSpc>
                <a:spcPct val="110000"/>
              </a:lnSpc>
              <a:defRPr/>
            </a:pPr>
            <a:r>
              <a:rPr lang="zh-CN" altLang="en-US" dirty="0" smtClean="0">
                <a:latin typeface="Times New Roman" pitchFamily="18" charset="0"/>
                <a:ea typeface="黑体" pitchFamily="2" charset="-122"/>
              </a:rPr>
              <a:t>由于</a:t>
            </a:r>
            <a:r>
              <a:rPr lang="zh-CN" altLang="en-US" dirty="0" smtClean="0">
                <a:solidFill>
                  <a:srgbClr val="FF0000"/>
                </a:solidFill>
                <a:latin typeface="Times New Roman" pitchFamily="18" charset="0"/>
                <a:ea typeface="黑体" pitchFamily="2" charset="-122"/>
              </a:rPr>
              <a:t>被测物镜的星点衍射像与它的孔径直接有关</a:t>
            </a:r>
            <a:r>
              <a:rPr lang="zh-CN" altLang="en-US" dirty="0" smtClean="0">
                <a:latin typeface="Times New Roman" pitchFamily="18" charset="0"/>
                <a:ea typeface="黑体" pitchFamily="2" charset="-122"/>
              </a:rPr>
              <a:t>，所以在测量装置上必须保证经过被测系统的光束全部无阻挡地通过观察显微镜，即：</a:t>
            </a:r>
            <a:endParaRPr lang="en-US" altLang="zh-CN" dirty="0" smtClean="0">
              <a:latin typeface="Times New Roman" pitchFamily="18" charset="0"/>
              <a:ea typeface="黑体" pitchFamily="2" charset="-122"/>
            </a:endParaRPr>
          </a:p>
          <a:p>
            <a:pPr marL="457200" indent="-457200" eaLnBrk="1" hangingPunct="1">
              <a:lnSpc>
                <a:spcPct val="110000"/>
              </a:lnSpc>
              <a:defRPr/>
            </a:pPr>
            <a:endParaRPr lang="zh-CN" altLang="en-US" dirty="0" smtClean="0">
              <a:latin typeface="Times New Roman" pitchFamily="18" charset="0"/>
              <a:ea typeface="黑体" pitchFamily="2" charset="-122"/>
            </a:endParaRPr>
          </a:p>
          <a:p>
            <a:pPr marL="457200" indent="-457200" eaLnBrk="1" hangingPunct="1">
              <a:lnSpc>
                <a:spcPct val="110000"/>
              </a:lnSpc>
              <a:defRPr/>
            </a:pPr>
            <a:r>
              <a:rPr lang="zh-CN" altLang="en-US" dirty="0" smtClean="0">
                <a:latin typeface="Times New Roman" pitchFamily="18" charset="0"/>
                <a:ea typeface="黑体" pitchFamily="2" charset="-122"/>
              </a:rPr>
              <a:t>由于                         ，而显微物镜有                 。，通常可以根据被检物镜的相对孔径来选用显微物镜的数值孔径，如书上表</a:t>
            </a:r>
            <a:r>
              <a:rPr lang="en-US" altLang="zh-CN" dirty="0" smtClean="0">
                <a:latin typeface="Times New Roman" pitchFamily="18" charset="0"/>
                <a:ea typeface="黑体" pitchFamily="2" charset="-122"/>
              </a:rPr>
              <a:t>2.4</a:t>
            </a:r>
            <a:r>
              <a:rPr lang="zh-CN" altLang="en-US" dirty="0" smtClean="0">
                <a:latin typeface="Times New Roman" pitchFamily="18" charset="0"/>
                <a:ea typeface="黑体" pitchFamily="2" charset="-122"/>
              </a:rPr>
              <a:t>。</a:t>
            </a:r>
          </a:p>
        </p:txBody>
      </p:sp>
      <p:sp>
        <p:nvSpPr>
          <p:cNvPr id="25609"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25610" name="Rectangle 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25611"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5602" name="Object 7"/>
          <p:cNvGraphicFramePr>
            <a:graphicFrameLocks noChangeAspect="1"/>
          </p:cNvGraphicFramePr>
          <p:nvPr/>
        </p:nvGraphicFramePr>
        <p:xfrm>
          <a:off x="1735262" y="4259076"/>
          <a:ext cx="1601787" cy="328613"/>
        </p:xfrm>
        <a:graphic>
          <a:graphicData uri="http://schemas.openxmlformats.org/presentationml/2006/ole">
            <p:oleObj spid="_x0000_s25602" name="公式" r:id="rId3" imgW="23469917" imgH="4877117" progId="Equation.3">
              <p:embed/>
            </p:oleObj>
          </a:graphicData>
        </a:graphic>
      </p:graphicFrame>
      <p:sp>
        <p:nvSpPr>
          <p:cNvPr id="25612" name="Rectangle 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5604" name="Object 10"/>
          <p:cNvGraphicFramePr>
            <a:graphicFrameLocks noChangeAspect="1"/>
          </p:cNvGraphicFramePr>
          <p:nvPr/>
        </p:nvGraphicFramePr>
        <p:xfrm>
          <a:off x="5734814" y="4251140"/>
          <a:ext cx="1581150" cy="369887"/>
        </p:xfrm>
        <a:graphic>
          <a:graphicData uri="http://schemas.openxmlformats.org/presentationml/2006/ole">
            <p:oleObj spid="_x0000_s25604" name="公式" r:id="rId4" imgW="23165117" imgH="5486717" progId="Equation.3">
              <p:embed/>
            </p:oleObj>
          </a:graphicData>
        </a:graphic>
      </p:graphicFrame>
      <p:sp>
        <p:nvSpPr>
          <p:cNvPr id="14"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．星点检验条件</a:t>
            </a:r>
          </a:p>
        </p:txBody>
      </p:sp>
      <p:graphicFrame>
        <p:nvGraphicFramePr>
          <p:cNvPr id="13" name="Object 9"/>
          <p:cNvGraphicFramePr>
            <a:graphicFrameLocks noChangeAspect="1"/>
          </p:cNvGraphicFramePr>
          <p:nvPr/>
        </p:nvGraphicFramePr>
        <p:xfrm>
          <a:off x="4630264" y="3491346"/>
          <a:ext cx="1716678" cy="597105"/>
        </p:xfrm>
        <a:graphic>
          <a:graphicData uri="http://schemas.openxmlformats.org/presentationml/2006/ole">
            <p:oleObj spid="_x0000_s25605" name="公式" r:id="rId5" imgW="15849917" imgH="5486717" progId="Equation.3">
              <p:embed/>
            </p:oleObj>
          </a:graphicData>
        </a:graphic>
      </p:graphicFrame>
    </p:spTree>
  </p:cSld>
  <p:clrMapOvr>
    <a:masterClrMapping/>
  </p:clrMapOvr>
  <p:transition>
    <p:circl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日期占位符 3"/>
          <p:cNvSpPr>
            <a:spLocks noGrp="1"/>
          </p:cNvSpPr>
          <p:nvPr>
            <p:ph type="dt" sz="quarter" idx="10"/>
          </p:nvPr>
        </p:nvSpPr>
        <p:spPr>
          <a:noFill/>
        </p:spPr>
        <p:txBody>
          <a:bodyPr/>
          <a:lstStyle/>
          <a:p>
            <a:fld id="{C22080B6-9FFC-458E-8DB5-6FBADF2336AF}" type="datetime1">
              <a:rPr lang="zh-CN" altLang="en-US" smtClean="0"/>
              <a:pPr/>
              <a:t>2018/2/24</a:t>
            </a:fld>
            <a:endParaRPr lang="en-US" altLang="zh-CN" smtClean="0"/>
          </a:p>
        </p:txBody>
      </p:sp>
      <p:sp>
        <p:nvSpPr>
          <p:cNvPr id="26630" name="灯片编号占位符 5"/>
          <p:cNvSpPr>
            <a:spLocks noGrp="1"/>
          </p:cNvSpPr>
          <p:nvPr>
            <p:ph type="sldNum" sz="quarter" idx="12"/>
          </p:nvPr>
        </p:nvSpPr>
        <p:spPr>
          <a:noFill/>
        </p:spPr>
        <p:txBody>
          <a:bodyPr/>
          <a:lstStyle/>
          <a:p>
            <a:fld id="{76C9570F-90AB-471D-8D87-C3338B88954B}" type="slidenum">
              <a:rPr lang="en-US" altLang="zh-CN" smtClean="0"/>
              <a:pPr/>
              <a:t>44</a:t>
            </a:fld>
            <a:endParaRPr lang="en-US" altLang="zh-CN" smtClean="0"/>
          </a:p>
        </p:txBody>
      </p:sp>
      <p:sp>
        <p:nvSpPr>
          <p:cNvPr id="593923" name="Rectangle 3"/>
          <p:cNvSpPr>
            <a:spLocks noGrp="1" noRot="1" noChangeArrowheads="1"/>
          </p:cNvSpPr>
          <p:nvPr>
            <p:ph type="body" idx="1"/>
          </p:nvPr>
        </p:nvSpPr>
        <p:spPr>
          <a:xfrm>
            <a:off x="471488" y="1960563"/>
            <a:ext cx="8229600" cy="4476750"/>
          </a:xfrm>
        </p:spPr>
        <p:txBody>
          <a:bodyPr/>
          <a:lstStyle/>
          <a:p>
            <a:pPr marL="457200" indent="-457200" eaLnBrk="1" hangingPunct="1">
              <a:defRPr/>
            </a:pPr>
            <a:r>
              <a:rPr lang="zh-CN" altLang="en-US" dirty="0" smtClean="0">
                <a:latin typeface="Times New Roman" pitchFamily="18" charset="0"/>
                <a:ea typeface="黑体" pitchFamily="2" charset="-122"/>
              </a:rPr>
              <a:t>观察显微镜的放大率要求</a:t>
            </a:r>
          </a:p>
          <a:p>
            <a:pPr marL="457200" indent="-457200" eaLnBrk="1" hangingPunct="1">
              <a:defRPr/>
            </a:pPr>
            <a:r>
              <a:rPr lang="zh-CN" altLang="en-US" dirty="0" smtClean="0">
                <a:latin typeface="Times New Roman" pitchFamily="18" charset="0"/>
                <a:ea typeface="黑体" pitchFamily="2" charset="-122"/>
              </a:rPr>
              <a:t>观察显微镜的放大率应</a:t>
            </a:r>
            <a:r>
              <a:rPr lang="zh-CN" altLang="en-US" dirty="0" smtClean="0">
                <a:solidFill>
                  <a:srgbClr val="FF0000"/>
                </a:solidFill>
                <a:latin typeface="Times New Roman" pitchFamily="18" charset="0"/>
                <a:ea typeface="黑体" pitchFamily="2" charset="-122"/>
              </a:rPr>
              <a:t>保证衍射像的第一衍射亮环和第二衍射亮环经放大后对人眼的张角要大于人眼的鉴别率</a:t>
            </a:r>
            <a:r>
              <a:rPr lang="zh-CN" altLang="en-US" dirty="0" smtClean="0">
                <a:latin typeface="Times New Roman" pitchFamily="18" charset="0"/>
                <a:ea typeface="黑体" pitchFamily="2" charset="-122"/>
              </a:rPr>
              <a:t>，通常这个张角应不小于</a:t>
            </a: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a:t>
            </a:r>
          </a:p>
          <a:p>
            <a:pPr marL="457200" indent="-457200" eaLnBrk="1" hangingPunct="1">
              <a:defRPr/>
            </a:pPr>
            <a:r>
              <a:rPr lang="zh-CN" altLang="en-US" dirty="0" smtClean="0">
                <a:latin typeface="Times New Roman" pitchFamily="18" charset="0"/>
                <a:ea typeface="黑体" pitchFamily="2" charset="-122"/>
              </a:rPr>
              <a:t>第一衍射亮环和第二衍射亮环在像平面上的间距为：</a:t>
            </a:r>
          </a:p>
          <a:p>
            <a:pPr marL="457200" indent="-457200" eaLnBrk="1" hangingPunct="1">
              <a:defRPr/>
            </a:pPr>
            <a:r>
              <a:rPr lang="zh-CN" altLang="en-US" dirty="0" smtClean="0">
                <a:latin typeface="Times New Roman" pitchFamily="18" charset="0"/>
                <a:ea typeface="黑体" pitchFamily="2" charset="-122"/>
              </a:rPr>
              <a:t>    </a:t>
            </a:r>
          </a:p>
          <a:p>
            <a:pPr marL="457200" indent="-457200" eaLnBrk="1" hangingPunct="1">
              <a:defRPr/>
            </a:pPr>
            <a:endParaRPr lang="zh-CN" altLang="en-US" dirty="0" smtClean="0">
              <a:latin typeface="Times New Roman" pitchFamily="18" charset="0"/>
              <a:ea typeface="黑体" pitchFamily="2" charset="-122"/>
            </a:endParaRPr>
          </a:p>
          <a:p>
            <a:pPr marL="457200" indent="-457200" eaLnBrk="1" hangingPunct="1">
              <a:defRPr/>
            </a:pPr>
            <a:r>
              <a:rPr lang="zh-CN" altLang="en-US" dirty="0" smtClean="0">
                <a:latin typeface="Times New Roman" pitchFamily="18" charset="0"/>
                <a:ea typeface="黑体" pitchFamily="2" charset="-122"/>
              </a:rPr>
              <a:t>人眼在明视距离处观察，经过显微镜将该视角放大到</a:t>
            </a:r>
            <a:r>
              <a:rPr lang="en-US" altLang="zh-CN" dirty="0" smtClean="0">
                <a:latin typeface="Times New Roman" pitchFamily="18" charset="0"/>
                <a:ea typeface="黑体" pitchFamily="2" charset="-122"/>
              </a:rPr>
              <a:t>3′     </a:t>
            </a:r>
          </a:p>
        </p:txBody>
      </p:sp>
      <p:graphicFrame>
        <p:nvGraphicFramePr>
          <p:cNvPr id="26626" name="Object 4"/>
          <p:cNvGraphicFramePr>
            <a:graphicFrameLocks noChangeAspect="1"/>
          </p:cNvGraphicFramePr>
          <p:nvPr/>
        </p:nvGraphicFramePr>
        <p:xfrm>
          <a:off x="1782640" y="4106203"/>
          <a:ext cx="6080125" cy="704850"/>
        </p:xfrm>
        <a:graphic>
          <a:graphicData uri="http://schemas.openxmlformats.org/presentationml/2006/ole">
            <p:oleObj spid="_x0000_s26626" name="公式" r:id="rId3" imgW="80772317" imgH="9449117" progId="Equation.3">
              <p:embed/>
            </p:oleObj>
          </a:graphicData>
        </a:graphic>
      </p:graphicFrame>
      <p:sp>
        <p:nvSpPr>
          <p:cNvPr id="26633" name="Rectangle 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6627" name="Object 6"/>
          <p:cNvGraphicFramePr>
            <a:graphicFrameLocks noChangeAspect="1"/>
          </p:cNvGraphicFramePr>
          <p:nvPr/>
        </p:nvGraphicFramePr>
        <p:xfrm>
          <a:off x="1718438" y="5435138"/>
          <a:ext cx="2505075" cy="733425"/>
        </p:xfrm>
        <a:graphic>
          <a:graphicData uri="http://schemas.openxmlformats.org/presentationml/2006/ole">
            <p:oleObj spid="_x0000_s26627" name="公式" r:id="rId4" imgW="32004317" imgH="9449117" progId="Equation.3">
              <p:embed/>
            </p:oleObj>
          </a:graphicData>
        </a:graphic>
      </p:graphicFrame>
      <p:sp>
        <p:nvSpPr>
          <p:cNvPr id="26634" name="Rectangle 7"/>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6628" name="Object 8"/>
          <p:cNvGraphicFramePr>
            <a:graphicFrameLocks noChangeAspect="1"/>
          </p:cNvGraphicFramePr>
          <p:nvPr/>
        </p:nvGraphicFramePr>
        <p:xfrm>
          <a:off x="5569713" y="5377988"/>
          <a:ext cx="1557337" cy="787400"/>
        </p:xfrm>
        <a:graphic>
          <a:graphicData uri="http://schemas.openxmlformats.org/presentationml/2006/ole">
            <p:oleObj spid="_x0000_s26628" name="公式" r:id="rId5" imgW="19812317" imgH="10058717" progId="Equation.3">
              <p:embed/>
            </p:oleObj>
          </a:graphicData>
        </a:graphic>
      </p:graphicFrame>
      <p:sp>
        <p:nvSpPr>
          <p:cNvPr id="26635" name="Line 9"/>
          <p:cNvSpPr>
            <a:spLocks noChangeShapeType="1"/>
          </p:cNvSpPr>
          <p:nvPr/>
        </p:nvSpPr>
        <p:spPr bwMode="auto">
          <a:xfrm>
            <a:off x="4441000" y="5801850"/>
            <a:ext cx="957263" cy="0"/>
          </a:xfrm>
          <a:prstGeom prst="line">
            <a:avLst/>
          </a:prstGeom>
          <a:noFill/>
          <a:ln w="38100">
            <a:solidFill>
              <a:schemeClr val="tx1"/>
            </a:solidFill>
            <a:round/>
            <a:headEnd/>
            <a:tailEnd type="stealth" w="lg" len="lg"/>
          </a:ln>
        </p:spPr>
        <p:txBody>
          <a:bodyPr/>
          <a:lstStyle/>
          <a:p>
            <a:endParaRPr lang="zh-CN" altLang="en-US"/>
          </a:p>
        </p:txBody>
      </p:sp>
      <p:sp>
        <p:nvSpPr>
          <p:cNvPr id="13" name="Rectangle 2"/>
          <p:cNvSpPr>
            <a:spLocks noGrp="1" noRot="1" noChangeArrowheads="1"/>
          </p:cNvSpPr>
          <p:nvPr>
            <p:ph type="title"/>
          </p:nvPr>
        </p:nvSpPr>
        <p:spPr>
          <a:xfrm>
            <a:off x="557213" y="4826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9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．星点检验条件</a:t>
            </a:r>
          </a:p>
        </p:txBody>
      </p:sp>
    </p:spTree>
  </p:cSld>
  <p:clrMapOvr>
    <a:masterClrMapping/>
  </p:clrMapOvr>
  <p:transition>
    <p:circl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3"/>
          <p:cNvSpPr>
            <a:spLocks noGrp="1"/>
          </p:cNvSpPr>
          <p:nvPr>
            <p:ph type="dt" sz="quarter" idx="10"/>
          </p:nvPr>
        </p:nvSpPr>
        <p:spPr>
          <a:noFill/>
        </p:spPr>
        <p:txBody>
          <a:bodyPr/>
          <a:lstStyle/>
          <a:p>
            <a:fld id="{F15333CC-9E10-43D2-AB8D-57195C5B15B1}" type="datetime1">
              <a:rPr lang="zh-CN" altLang="en-US" smtClean="0"/>
              <a:pPr/>
              <a:t>2018/2/24</a:t>
            </a:fld>
            <a:endParaRPr lang="en-US" altLang="zh-CN" smtClean="0"/>
          </a:p>
        </p:txBody>
      </p:sp>
      <p:sp>
        <p:nvSpPr>
          <p:cNvPr id="110595" name="灯片编号占位符 5"/>
          <p:cNvSpPr>
            <a:spLocks noGrp="1"/>
          </p:cNvSpPr>
          <p:nvPr>
            <p:ph type="sldNum" sz="quarter" idx="12"/>
          </p:nvPr>
        </p:nvSpPr>
        <p:spPr>
          <a:noFill/>
        </p:spPr>
        <p:txBody>
          <a:bodyPr/>
          <a:lstStyle/>
          <a:p>
            <a:fld id="{C12EC9D3-A839-491F-8D6A-B368D4112E53}" type="slidenum">
              <a:rPr lang="en-US" altLang="zh-CN" smtClean="0"/>
              <a:pPr/>
              <a:t>45</a:t>
            </a:fld>
            <a:endParaRPr lang="en-US" altLang="zh-CN" smtClean="0"/>
          </a:p>
        </p:txBody>
      </p:sp>
      <p:sp>
        <p:nvSpPr>
          <p:cNvPr id="594946" name="Rectangle 2"/>
          <p:cNvSpPr>
            <a:spLocks noGrp="1" noRot="1" noChangeArrowheads="1"/>
          </p:cNvSpPr>
          <p:nvPr>
            <p:ph type="title"/>
          </p:nvPr>
        </p:nvSpPr>
        <p:spPr>
          <a:xfrm>
            <a:off x="557213" y="52070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§2-3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3600"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星点检验图像例</a:t>
            </a:r>
          </a:p>
        </p:txBody>
      </p:sp>
      <p:sp>
        <p:nvSpPr>
          <p:cNvPr id="110597" name="Rectangle 3"/>
          <p:cNvSpPr>
            <a:spLocks noChangeArrowheads="1"/>
          </p:cNvSpPr>
          <p:nvPr/>
        </p:nvSpPr>
        <p:spPr bwMode="auto">
          <a:xfrm>
            <a:off x="0" y="2976563"/>
            <a:ext cx="9144000" cy="0"/>
          </a:xfrm>
          <a:prstGeom prst="rect">
            <a:avLst/>
          </a:prstGeom>
          <a:noFill/>
          <a:ln w="9525">
            <a:noFill/>
            <a:miter lim="800000"/>
            <a:headEnd/>
            <a:tailEnd/>
          </a:ln>
        </p:spPr>
        <p:txBody>
          <a:bodyPr wrap="none" anchor="ctr">
            <a:spAutoFit/>
          </a:bodyPr>
          <a:lstStyle/>
          <a:p>
            <a:endParaRPr lang="zh-CN" altLang="en-US"/>
          </a:p>
        </p:txBody>
      </p:sp>
      <p:grpSp>
        <p:nvGrpSpPr>
          <p:cNvPr id="110598" name="Group 4"/>
          <p:cNvGrpSpPr>
            <a:grpSpLocks/>
          </p:cNvGrpSpPr>
          <p:nvPr/>
        </p:nvGrpSpPr>
        <p:grpSpPr bwMode="auto">
          <a:xfrm>
            <a:off x="352425" y="2049463"/>
            <a:ext cx="4759325" cy="4575175"/>
            <a:chOff x="119" y="1180"/>
            <a:chExt cx="2998" cy="2882"/>
          </a:xfrm>
        </p:grpSpPr>
        <p:pic>
          <p:nvPicPr>
            <p:cNvPr id="110602" name="Picture 5" descr="2"/>
            <p:cNvPicPr>
              <a:picLocks noChangeAspect="1" noChangeArrowheads="1"/>
            </p:cNvPicPr>
            <p:nvPr/>
          </p:nvPicPr>
          <p:blipFill>
            <a:blip r:embed="rId2"/>
            <a:srcRect/>
            <a:stretch>
              <a:fillRect/>
            </a:stretch>
          </p:blipFill>
          <p:spPr bwMode="auto">
            <a:xfrm>
              <a:off x="119" y="1180"/>
              <a:ext cx="2998" cy="2609"/>
            </a:xfrm>
            <a:prstGeom prst="rect">
              <a:avLst/>
            </a:prstGeom>
            <a:noFill/>
            <a:ln w="9525">
              <a:noFill/>
              <a:miter lim="800000"/>
              <a:headEnd/>
              <a:tailEnd/>
            </a:ln>
          </p:spPr>
        </p:pic>
        <p:sp>
          <p:nvSpPr>
            <p:cNvPr id="594950" name="Text Box 6"/>
            <p:cNvSpPr txBox="1">
              <a:spLocks noChangeArrowheads="1"/>
            </p:cNvSpPr>
            <p:nvPr/>
          </p:nvSpPr>
          <p:spPr bwMode="auto">
            <a:xfrm>
              <a:off x="608" y="3774"/>
              <a:ext cx="1853" cy="288"/>
            </a:xfrm>
            <a:prstGeom prst="rect">
              <a:avLst/>
            </a:prstGeom>
            <a:noFill/>
            <a:ln w="9525">
              <a:noFill/>
              <a:miter lim="800000"/>
              <a:headEnd/>
              <a:tailEnd/>
            </a:ln>
            <a:effectLst/>
          </p:spPr>
          <p:txBody>
            <a:bodyPr wrap="none">
              <a:spAutoFit/>
            </a:bodyPr>
            <a:lstStyle/>
            <a:p>
              <a:pPr>
                <a:defRPr/>
              </a:pPr>
              <a:r>
                <a:rPr lang="zh-CN" altLang="en-US" sz="2400" b="1">
                  <a:effectLst>
                    <a:outerShdw blurRad="38100" dist="38100" dir="2700000" algn="tl">
                      <a:srgbClr val="C0C0C0"/>
                    </a:outerShdw>
                  </a:effectLst>
                  <a:ea typeface="黑体" pitchFamily="2" charset="-122"/>
                </a:rPr>
                <a:t>不同球差时的星点像</a:t>
              </a:r>
            </a:p>
          </p:txBody>
        </p:sp>
      </p:grpSp>
      <p:grpSp>
        <p:nvGrpSpPr>
          <p:cNvPr id="110599" name="Group 7"/>
          <p:cNvGrpSpPr>
            <a:grpSpLocks/>
          </p:cNvGrpSpPr>
          <p:nvPr/>
        </p:nvGrpSpPr>
        <p:grpSpPr bwMode="auto">
          <a:xfrm>
            <a:off x="5076825" y="2473325"/>
            <a:ext cx="4067175" cy="3713163"/>
            <a:chOff x="3198" y="1777"/>
            <a:chExt cx="2562" cy="2339"/>
          </a:xfrm>
        </p:grpSpPr>
        <p:pic>
          <p:nvPicPr>
            <p:cNvPr id="110600" name="Picture 8" descr="3"/>
            <p:cNvPicPr>
              <a:picLocks noChangeAspect="1" noChangeArrowheads="1"/>
            </p:cNvPicPr>
            <p:nvPr/>
          </p:nvPicPr>
          <p:blipFill>
            <a:blip r:embed="rId3"/>
            <a:srcRect/>
            <a:stretch>
              <a:fillRect/>
            </a:stretch>
          </p:blipFill>
          <p:spPr bwMode="auto">
            <a:xfrm>
              <a:off x="3198" y="1777"/>
              <a:ext cx="2562" cy="1974"/>
            </a:xfrm>
            <a:prstGeom prst="rect">
              <a:avLst/>
            </a:prstGeom>
            <a:noFill/>
            <a:ln w="9525">
              <a:noFill/>
              <a:miter lim="800000"/>
              <a:headEnd/>
              <a:tailEnd/>
            </a:ln>
          </p:spPr>
        </p:pic>
        <p:sp>
          <p:nvSpPr>
            <p:cNvPr id="594953" name="Text Box 9"/>
            <p:cNvSpPr txBox="1">
              <a:spLocks noChangeArrowheads="1"/>
            </p:cNvSpPr>
            <p:nvPr/>
          </p:nvSpPr>
          <p:spPr bwMode="auto">
            <a:xfrm>
              <a:off x="3533" y="3828"/>
              <a:ext cx="1853" cy="288"/>
            </a:xfrm>
            <a:prstGeom prst="rect">
              <a:avLst/>
            </a:prstGeom>
            <a:noFill/>
            <a:ln w="9525">
              <a:noFill/>
              <a:miter lim="800000"/>
              <a:headEnd/>
              <a:tailEnd/>
            </a:ln>
            <a:effectLst/>
          </p:spPr>
          <p:txBody>
            <a:bodyPr wrap="none">
              <a:spAutoFit/>
            </a:bodyPr>
            <a:lstStyle/>
            <a:p>
              <a:pPr>
                <a:defRPr/>
              </a:pPr>
              <a:r>
                <a:rPr lang="zh-CN" altLang="en-US" sz="2400" b="1">
                  <a:effectLst>
                    <a:outerShdw blurRad="38100" dist="38100" dir="2700000" algn="tl">
                      <a:srgbClr val="C0C0C0"/>
                    </a:outerShdw>
                  </a:effectLst>
                  <a:ea typeface="黑体" pitchFamily="2" charset="-122"/>
                </a:rPr>
                <a:t>不同彗差时的星点像</a:t>
              </a:r>
            </a:p>
          </p:txBody>
        </p:sp>
      </p:grpSp>
      <p:pic>
        <p:nvPicPr>
          <p:cNvPr id="110605" name="Picture 13" descr="http://static5.photo.sina.com.cn/middle/6124f7f5g9c3e7317fbd4&amp;690"/>
          <p:cNvPicPr>
            <a:picLocks noChangeAspect="1" noChangeArrowheads="1"/>
          </p:cNvPicPr>
          <p:nvPr/>
        </p:nvPicPr>
        <p:blipFill>
          <a:blip r:embed="rId4"/>
          <a:srcRect/>
          <a:stretch>
            <a:fillRect/>
          </a:stretch>
        </p:blipFill>
        <p:spPr bwMode="auto">
          <a:xfrm>
            <a:off x="6362700" y="238125"/>
            <a:ext cx="2457450" cy="1802408"/>
          </a:xfrm>
          <a:prstGeom prst="rect">
            <a:avLst/>
          </a:prstGeom>
          <a:noFill/>
        </p:spPr>
      </p:pic>
    </p:spTree>
  </p:cSld>
  <p:clrMapOvr>
    <a:masterClrMapping/>
  </p:clrMapOvr>
  <p:transition>
    <p:circl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p:cNvSpPr>
            <a:spLocks noGrp="1"/>
          </p:cNvSpPr>
          <p:nvPr>
            <p:ph type="dt" sz="quarter" idx="10"/>
          </p:nvPr>
        </p:nvSpPr>
        <p:spPr>
          <a:noFill/>
        </p:spPr>
        <p:txBody>
          <a:bodyPr/>
          <a:lstStyle/>
          <a:p>
            <a:fld id="{86BA94EE-D851-4EEF-87A2-ED82F90B2763}" type="datetime1">
              <a:rPr lang="zh-CN" altLang="en-US" smtClean="0"/>
              <a:pPr/>
              <a:t>2018/2/24</a:t>
            </a:fld>
            <a:endParaRPr lang="en-US" altLang="zh-CN" smtClean="0"/>
          </a:p>
        </p:txBody>
      </p:sp>
      <p:sp>
        <p:nvSpPr>
          <p:cNvPr id="111619" name="灯片编号占位符 5"/>
          <p:cNvSpPr>
            <a:spLocks noGrp="1"/>
          </p:cNvSpPr>
          <p:nvPr>
            <p:ph type="sldNum" sz="quarter" idx="12"/>
          </p:nvPr>
        </p:nvSpPr>
        <p:spPr>
          <a:noFill/>
        </p:spPr>
        <p:txBody>
          <a:bodyPr/>
          <a:lstStyle/>
          <a:p>
            <a:fld id="{E20461A3-775F-43E9-B10C-CE7953F1536A}" type="slidenum">
              <a:rPr lang="en-US" altLang="zh-CN" smtClean="0"/>
              <a:pPr/>
              <a:t>46</a:t>
            </a:fld>
            <a:endParaRPr lang="en-US" altLang="zh-CN" smtClean="0"/>
          </a:p>
        </p:txBody>
      </p:sp>
      <p:sp>
        <p:nvSpPr>
          <p:cNvPr id="595970" name="Rectangle 2"/>
          <p:cNvSpPr>
            <a:spLocks noGrp="1" noRot="1" noChangeArrowheads="1"/>
          </p:cNvSpPr>
          <p:nvPr>
            <p:ph type="title"/>
          </p:nvPr>
        </p:nvSpPr>
        <p:spPr>
          <a:xfrm>
            <a:off x="892175" y="25939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endPar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spd="slow">
    <p:circl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日期占位符 3"/>
          <p:cNvSpPr>
            <a:spLocks noGrp="1"/>
          </p:cNvSpPr>
          <p:nvPr>
            <p:ph type="dt" sz="quarter" idx="10"/>
          </p:nvPr>
        </p:nvSpPr>
        <p:spPr>
          <a:noFill/>
        </p:spPr>
        <p:txBody>
          <a:bodyPr/>
          <a:lstStyle/>
          <a:p>
            <a:fld id="{95C3C789-BFA8-486E-8770-4A80DA0C14FD}" type="datetime1">
              <a:rPr lang="zh-CN" altLang="en-US" smtClean="0"/>
              <a:pPr/>
              <a:t>2018/2/24</a:t>
            </a:fld>
            <a:endParaRPr lang="en-US" altLang="zh-CN" smtClean="0"/>
          </a:p>
        </p:txBody>
      </p:sp>
      <p:sp>
        <p:nvSpPr>
          <p:cNvPr id="112643" name="灯片编号占位符 5"/>
          <p:cNvSpPr>
            <a:spLocks noGrp="1"/>
          </p:cNvSpPr>
          <p:nvPr>
            <p:ph type="sldNum" sz="quarter" idx="12"/>
          </p:nvPr>
        </p:nvSpPr>
        <p:spPr>
          <a:noFill/>
        </p:spPr>
        <p:txBody>
          <a:bodyPr/>
          <a:lstStyle/>
          <a:p>
            <a:fld id="{F644C588-FA5F-4A97-9B4C-E5D3AE8D1823}" type="slidenum">
              <a:rPr lang="en-US" altLang="zh-CN" smtClean="0"/>
              <a:pPr/>
              <a:t>47</a:t>
            </a:fld>
            <a:endParaRPr lang="en-US" altLang="zh-CN" smtClean="0"/>
          </a:p>
        </p:txBody>
      </p:sp>
      <p:sp>
        <p:nvSpPr>
          <p:cNvPr id="596994" name="Rectangle 2"/>
          <p:cNvSpPr>
            <a:spLocks noGrp="1" noRot="1" noChangeArrowheads="1"/>
          </p:cNvSpPr>
          <p:nvPr>
            <p:ph type="title"/>
          </p:nvPr>
        </p:nvSpPr>
        <p:spPr>
          <a:xfrm>
            <a:off x="557213" y="692150"/>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endPar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
        <p:nvSpPr>
          <p:cNvPr id="596995" name="Rectangle 3"/>
          <p:cNvSpPr>
            <a:spLocks noGrp="1" noRot="1" noChangeArrowheads="1"/>
          </p:cNvSpPr>
          <p:nvPr>
            <p:ph type="body" idx="1"/>
          </p:nvPr>
        </p:nvSpPr>
        <p:spPr>
          <a:xfrm>
            <a:off x="471488" y="1617663"/>
            <a:ext cx="8229600" cy="4805362"/>
          </a:xfrm>
        </p:spPr>
        <p:txBody>
          <a:bodyPr/>
          <a:lstStyle/>
          <a:p>
            <a:pPr eaLnBrk="1" hangingPunct="1">
              <a:lnSpc>
                <a:spcPct val="110000"/>
              </a:lnSpc>
              <a:defRPr/>
            </a:pPr>
            <a:r>
              <a:rPr lang="zh-CN" altLang="en-US" smtClean="0">
                <a:latin typeface="Times New Roman" pitchFamily="18" charset="0"/>
                <a:ea typeface="黑体" pitchFamily="2" charset="-122"/>
              </a:rPr>
              <a:t>分辨率测量的特点：</a:t>
            </a:r>
          </a:p>
          <a:p>
            <a:pPr lvl="1" eaLnBrk="1" hangingPunct="1">
              <a:lnSpc>
                <a:spcPct val="110000"/>
              </a:lnSpc>
              <a:defRPr/>
            </a:pPr>
            <a:r>
              <a:rPr lang="zh-CN" altLang="en-US" smtClean="0">
                <a:latin typeface="Times New Roman" pitchFamily="18" charset="0"/>
                <a:ea typeface="黑体" pitchFamily="2" charset="-122"/>
              </a:rPr>
              <a:t>所获得的有关被测系统像质的信息量不及星点检验多；</a:t>
            </a:r>
          </a:p>
          <a:p>
            <a:pPr lvl="1" eaLnBrk="1" hangingPunct="1">
              <a:lnSpc>
                <a:spcPct val="110000"/>
              </a:lnSpc>
              <a:defRPr/>
            </a:pPr>
            <a:r>
              <a:rPr lang="zh-CN" altLang="en-US" smtClean="0">
                <a:latin typeface="Times New Roman" pitchFamily="18" charset="0"/>
                <a:ea typeface="黑体" pitchFamily="2" charset="-122"/>
              </a:rPr>
              <a:t>发现像差和误差的灵敏度也不如星点检验高；</a:t>
            </a:r>
          </a:p>
          <a:p>
            <a:pPr lvl="1" eaLnBrk="1" hangingPunct="1">
              <a:lnSpc>
                <a:spcPct val="110000"/>
              </a:lnSpc>
              <a:defRPr/>
            </a:pPr>
            <a:r>
              <a:rPr lang="zh-CN" altLang="en-US" smtClean="0">
                <a:latin typeface="Times New Roman" pitchFamily="18" charset="0"/>
                <a:ea typeface="黑体" pitchFamily="2" charset="-122"/>
              </a:rPr>
              <a:t>分辨率能以确定的数值作为评价被测系统的像质的综合性指标</a:t>
            </a:r>
            <a:r>
              <a:rPr lang="en-US" altLang="zh-CN" smtClean="0">
                <a:latin typeface="Times New Roman" pitchFamily="18" charset="0"/>
                <a:ea typeface="黑体" pitchFamily="2" charset="-122"/>
              </a:rPr>
              <a:t>——</a:t>
            </a:r>
            <a:r>
              <a:rPr lang="zh-CN" altLang="en-US" smtClean="0">
                <a:solidFill>
                  <a:srgbClr val="FF0000"/>
                </a:solidFill>
                <a:latin typeface="Times New Roman" pitchFamily="18" charset="0"/>
                <a:ea typeface="黑体" pitchFamily="2" charset="-122"/>
              </a:rPr>
              <a:t>定量测量；</a:t>
            </a:r>
          </a:p>
          <a:p>
            <a:pPr lvl="1" eaLnBrk="1" hangingPunct="1">
              <a:lnSpc>
                <a:spcPct val="110000"/>
              </a:lnSpc>
              <a:defRPr/>
            </a:pPr>
            <a:r>
              <a:rPr lang="zh-CN" altLang="en-US" smtClean="0">
                <a:latin typeface="Times New Roman" pitchFamily="18" charset="0"/>
                <a:ea typeface="黑体" pitchFamily="2" charset="-122"/>
              </a:rPr>
              <a:t>并且不需要多少经验就能获得正确的分辨率值</a:t>
            </a:r>
            <a:r>
              <a:rPr lang="en-US" altLang="zh-CN" smtClean="0">
                <a:latin typeface="Times New Roman" pitchFamily="18" charset="0"/>
                <a:ea typeface="黑体" pitchFamily="2" charset="-122"/>
              </a:rPr>
              <a:t>——</a:t>
            </a:r>
            <a:r>
              <a:rPr lang="zh-CN" altLang="en-US" smtClean="0">
                <a:solidFill>
                  <a:srgbClr val="FF0000"/>
                </a:solidFill>
                <a:latin typeface="Times New Roman" pitchFamily="18" charset="0"/>
                <a:ea typeface="黑体" pitchFamily="2" charset="-122"/>
              </a:rPr>
              <a:t>客观性</a:t>
            </a:r>
            <a:r>
              <a:rPr lang="zh-CN" altLang="en-US" smtClean="0">
                <a:latin typeface="Times New Roman" pitchFamily="18" charset="0"/>
                <a:ea typeface="黑体" pitchFamily="2" charset="-122"/>
              </a:rPr>
              <a:t>；</a:t>
            </a:r>
          </a:p>
          <a:p>
            <a:pPr lvl="1" eaLnBrk="1" hangingPunct="1">
              <a:lnSpc>
                <a:spcPct val="110000"/>
              </a:lnSpc>
              <a:defRPr/>
            </a:pPr>
            <a:r>
              <a:rPr lang="zh-CN" altLang="en-US" smtClean="0">
                <a:latin typeface="Times New Roman" pitchFamily="18" charset="0"/>
                <a:ea typeface="黑体" pitchFamily="2" charset="-122"/>
              </a:rPr>
              <a:t>对于有较大像差的光学系统，分辨率会随像差变化而有较明显的变化，因而能用分辨率区分大像差</a:t>
            </a:r>
            <a:r>
              <a:rPr lang="zh-CN" altLang="en-US" smtClean="0">
                <a:solidFill>
                  <a:srgbClr val="FF0000"/>
                </a:solidFill>
                <a:latin typeface="Times New Roman" pitchFamily="18" charset="0"/>
                <a:ea typeface="黑体" pitchFamily="2" charset="-122"/>
              </a:rPr>
              <a:t>系统间的</a:t>
            </a:r>
            <a:r>
              <a:rPr lang="zh-CN" altLang="en-US" smtClean="0">
                <a:latin typeface="Times New Roman" pitchFamily="18" charset="0"/>
                <a:ea typeface="黑体" pitchFamily="2" charset="-122"/>
              </a:rPr>
              <a:t>像质差异，这是星点检验法所不如的；</a:t>
            </a:r>
          </a:p>
          <a:p>
            <a:pPr lvl="1" eaLnBrk="1" hangingPunct="1">
              <a:lnSpc>
                <a:spcPct val="110000"/>
              </a:lnSpc>
              <a:defRPr/>
            </a:pPr>
            <a:r>
              <a:rPr lang="zh-CN" altLang="en-US" smtClean="0">
                <a:latin typeface="Times New Roman" pitchFamily="18" charset="0"/>
                <a:ea typeface="黑体" pitchFamily="2" charset="-122"/>
              </a:rPr>
              <a:t>分辨率测量装置几乎和星点检验一样简单。</a:t>
            </a:r>
          </a:p>
          <a:p>
            <a:pPr eaLnBrk="1" hangingPunct="1">
              <a:lnSpc>
                <a:spcPct val="110000"/>
              </a:lnSpc>
              <a:defRPr/>
            </a:pPr>
            <a:r>
              <a:rPr lang="zh-CN" altLang="en-US" smtClean="0">
                <a:latin typeface="Times New Roman" pitchFamily="18" charset="0"/>
                <a:ea typeface="黑体" pitchFamily="2" charset="-122"/>
              </a:rPr>
              <a:t>分辨率测量仍然是目前生产中检验一般成像光学系统质量的主要手段之一。</a:t>
            </a:r>
          </a:p>
        </p:txBody>
      </p:sp>
    </p:spTree>
  </p:cSld>
  <p:clrMapOvr>
    <a:masterClrMapping/>
  </p:clrMapOvr>
  <p:transition spd="slow">
    <p:circl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日期占位符 3"/>
          <p:cNvSpPr>
            <a:spLocks noGrp="1"/>
          </p:cNvSpPr>
          <p:nvPr>
            <p:ph type="dt" sz="quarter" idx="10"/>
          </p:nvPr>
        </p:nvSpPr>
        <p:spPr>
          <a:noFill/>
        </p:spPr>
        <p:txBody>
          <a:bodyPr/>
          <a:lstStyle/>
          <a:p>
            <a:fld id="{C656EC93-935F-4699-9786-DF6D4EEB1ACC}" type="datetime1">
              <a:rPr lang="zh-CN" altLang="en-US" smtClean="0"/>
              <a:pPr/>
              <a:t>2018/2/24</a:t>
            </a:fld>
            <a:endParaRPr lang="en-US" altLang="zh-CN" smtClean="0"/>
          </a:p>
        </p:txBody>
      </p:sp>
      <p:sp>
        <p:nvSpPr>
          <p:cNvPr id="27652" name="灯片编号占位符 5"/>
          <p:cNvSpPr>
            <a:spLocks noGrp="1"/>
          </p:cNvSpPr>
          <p:nvPr>
            <p:ph type="sldNum" sz="quarter" idx="12"/>
          </p:nvPr>
        </p:nvSpPr>
        <p:spPr>
          <a:noFill/>
        </p:spPr>
        <p:txBody>
          <a:bodyPr/>
          <a:lstStyle/>
          <a:p>
            <a:fld id="{32E01BC0-95ED-45A1-B355-591C45CBCAEE}" type="slidenum">
              <a:rPr lang="en-US" altLang="zh-CN" smtClean="0"/>
              <a:pPr/>
              <a:t>48</a:t>
            </a:fld>
            <a:endParaRPr lang="en-US" altLang="zh-CN" smtClean="0"/>
          </a:p>
        </p:txBody>
      </p:sp>
      <p:sp>
        <p:nvSpPr>
          <p:cNvPr id="598018" name="Rectangle 2"/>
          <p:cNvSpPr>
            <a:spLocks noGrp="1" noRot="1" noChangeArrowheads="1"/>
          </p:cNvSpPr>
          <p:nvPr>
            <p:ph type="title"/>
          </p:nvPr>
        </p:nvSpPr>
        <p:spPr>
          <a:xfrm>
            <a:off x="742950" y="4730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衍射受限系统的分辨率</a:t>
            </a:r>
            <a:endParaRPr lang="zh-CN" altLang="en-US" sz="36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
        <p:nvSpPr>
          <p:cNvPr id="598019" name="Rectangle 3"/>
          <p:cNvSpPr>
            <a:spLocks noGrp="1" noRot="1" noChangeArrowheads="1"/>
          </p:cNvSpPr>
          <p:nvPr>
            <p:ph type="body" idx="1"/>
          </p:nvPr>
        </p:nvSpPr>
        <p:spPr>
          <a:xfrm>
            <a:off x="471488" y="1960563"/>
            <a:ext cx="8229600" cy="4805362"/>
          </a:xfrm>
        </p:spPr>
        <p:txBody>
          <a:bodyPr/>
          <a:lstStyle/>
          <a:p>
            <a:pPr eaLnBrk="1" hangingPunct="1">
              <a:defRPr/>
            </a:pPr>
            <a:r>
              <a:rPr lang="zh-CN" altLang="en-US" smtClean="0">
                <a:latin typeface="Times New Roman" pitchFamily="18" charset="0"/>
                <a:ea typeface="黑体" pitchFamily="2" charset="-122"/>
              </a:rPr>
              <a:t>理想系统的理论分辨率数值</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对非相干光波，两个衍射光斑重叠部分的光强度为两光斑强度之和。</a:t>
            </a:r>
          </a:p>
        </p:txBody>
      </p:sp>
      <p:grpSp>
        <p:nvGrpSpPr>
          <p:cNvPr id="2" name="Group 4"/>
          <p:cNvGrpSpPr>
            <a:grpSpLocks/>
          </p:cNvGrpSpPr>
          <p:nvPr/>
        </p:nvGrpSpPr>
        <p:grpSpPr bwMode="auto">
          <a:xfrm>
            <a:off x="760413" y="2886075"/>
            <a:ext cx="8026400" cy="3586163"/>
            <a:chOff x="515" y="1710"/>
            <a:chExt cx="5056" cy="2259"/>
          </a:xfrm>
        </p:grpSpPr>
        <p:sp>
          <p:nvSpPr>
            <p:cNvPr id="27656" name="Rectangle 5"/>
            <p:cNvSpPr>
              <a:spLocks noChangeArrowheads="1"/>
            </p:cNvSpPr>
            <p:nvPr/>
          </p:nvSpPr>
          <p:spPr bwMode="auto">
            <a:xfrm>
              <a:off x="540" y="1710"/>
              <a:ext cx="5031" cy="2259"/>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27657" name="Line 6"/>
            <p:cNvSpPr>
              <a:spLocks noChangeShapeType="1"/>
            </p:cNvSpPr>
            <p:nvPr/>
          </p:nvSpPr>
          <p:spPr bwMode="auto">
            <a:xfrm flipV="1">
              <a:off x="515" y="2530"/>
              <a:ext cx="2531" cy="6"/>
            </a:xfrm>
            <a:prstGeom prst="line">
              <a:avLst/>
            </a:prstGeom>
            <a:noFill/>
            <a:ln w="9525">
              <a:solidFill>
                <a:srgbClr val="000000"/>
              </a:solidFill>
              <a:round/>
              <a:headEnd/>
              <a:tailEnd/>
            </a:ln>
          </p:spPr>
          <p:txBody>
            <a:bodyPr/>
            <a:lstStyle/>
            <a:p>
              <a:endParaRPr lang="zh-CN" altLang="en-US"/>
            </a:p>
          </p:txBody>
        </p:sp>
        <p:sp>
          <p:nvSpPr>
            <p:cNvPr id="27658" name="Line 7"/>
            <p:cNvSpPr>
              <a:spLocks noChangeShapeType="1"/>
            </p:cNvSpPr>
            <p:nvPr/>
          </p:nvSpPr>
          <p:spPr bwMode="auto">
            <a:xfrm>
              <a:off x="791" y="1845"/>
              <a:ext cx="0" cy="1054"/>
            </a:xfrm>
            <a:prstGeom prst="line">
              <a:avLst/>
            </a:prstGeom>
            <a:noFill/>
            <a:ln w="6350">
              <a:solidFill>
                <a:srgbClr val="000000"/>
              </a:solidFill>
              <a:prstDash val="lgDashDot"/>
              <a:round/>
              <a:headEnd/>
              <a:tailEnd/>
            </a:ln>
          </p:spPr>
          <p:txBody>
            <a:bodyPr/>
            <a:lstStyle/>
            <a:p>
              <a:endParaRPr lang="zh-CN" altLang="en-US"/>
            </a:p>
          </p:txBody>
        </p:sp>
        <p:sp>
          <p:nvSpPr>
            <p:cNvPr id="27659" name="Line 8"/>
            <p:cNvSpPr>
              <a:spLocks noChangeShapeType="1"/>
            </p:cNvSpPr>
            <p:nvPr/>
          </p:nvSpPr>
          <p:spPr bwMode="auto">
            <a:xfrm>
              <a:off x="1232" y="1871"/>
              <a:ext cx="0" cy="1054"/>
            </a:xfrm>
            <a:prstGeom prst="line">
              <a:avLst/>
            </a:prstGeom>
            <a:noFill/>
            <a:ln w="6350">
              <a:solidFill>
                <a:srgbClr val="000000"/>
              </a:solidFill>
              <a:prstDash val="lgDashDot"/>
              <a:round/>
              <a:headEnd/>
              <a:tailEnd/>
            </a:ln>
          </p:spPr>
          <p:txBody>
            <a:bodyPr/>
            <a:lstStyle/>
            <a:p>
              <a:endParaRPr lang="zh-CN" altLang="en-US"/>
            </a:p>
          </p:txBody>
        </p:sp>
        <p:sp>
          <p:nvSpPr>
            <p:cNvPr id="27660" name="Freeform 9"/>
            <p:cNvSpPr>
              <a:spLocks/>
            </p:cNvSpPr>
            <p:nvPr/>
          </p:nvSpPr>
          <p:spPr bwMode="auto">
            <a:xfrm>
              <a:off x="584" y="1916"/>
              <a:ext cx="864" cy="629"/>
            </a:xfrm>
            <a:custGeom>
              <a:avLst/>
              <a:gdLst>
                <a:gd name="T0" fmla="*/ 0 w 1500"/>
                <a:gd name="T1" fmla="*/ 209 h 1092"/>
                <a:gd name="T2" fmla="*/ 32 w 1500"/>
                <a:gd name="T3" fmla="*/ 165 h 1092"/>
                <a:gd name="T4" fmla="*/ 60 w 1500"/>
                <a:gd name="T5" fmla="*/ 22 h 1092"/>
                <a:gd name="T6" fmla="*/ 77 w 1500"/>
                <a:gd name="T7" fmla="*/ 31 h 1092"/>
                <a:gd name="T8" fmla="*/ 97 w 1500"/>
                <a:gd name="T9" fmla="*/ 174 h 1092"/>
                <a:gd name="T10" fmla="*/ 138 w 1500"/>
                <a:gd name="T11" fmla="*/ 203 h 1092"/>
                <a:gd name="T12" fmla="*/ 172 w 1500"/>
                <a:gd name="T13" fmla="*/ 169 h 1092"/>
                <a:gd name="T14" fmla="*/ 203 w 1500"/>
                <a:gd name="T15" fmla="*/ 34 h 1092"/>
                <a:gd name="T16" fmla="*/ 226 w 1500"/>
                <a:gd name="T17" fmla="*/ 40 h 1092"/>
                <a:gd name="T18" fmla="*/ 255 w 1500"/>
                <a:gd name="T19" fmla="*/ 174 h 1092"/>
                <a:gd name="T20" fmla="*/ 287 w 1500"/>
                <a:gd name="T21" fmla="*/ 203 h 10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00"/>
                <a:gd name="T34" fmla="*/ 0 h 1092"/>
                <a:gd name="T35" fmla="*/ 1500 w 1500"/>
                <a:gd name="T36" fmla="*/ 1092 h 10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00" h="1092">
                  <a:moveTo>
                    <a:pt x="0" y="1092"/>
                  </a:moveTo>
                  <a:cubicBezTo>
                    <a:pt x="54" y="1064"/>
                    <a:pt x="113" y="1029"/>
                    <a:pt x="165" y="867"/>
                  </a:cubicBezTo>
                  <a:cubicBezTo>
                    <a:pt x="217" y="705"/>
                    <a:pt x="275" y="234"/>
                    <a:pt x="315" y="117"/>
                  </a:cubicBezTo>
                  <a:cubicBezTo>
                    <a:pt x="355" y="0"/>
                    <a:pt x="372" y="30"/>
                    <a:pt x="405" y="162"/>
                  </a:cubicBezTo>
                  <a:cubicBezTo>
                    <a:pt x="438" y="294"/>
                    <a:pt x="458" y="762"/>
                    <a:pt x="510" y="912"/>
                  </a:cubicBezTo>
                  <a:cubicBezTo>
                    <a:pt x="562" y="1062"/>
                    <a:pt x="655" y="1067"/>
                    <a:pt x="720" y="1062"/>
                  </a:cubicBezTo>
                  <a:cubicBezTo>
                    <a:pt x="785" y="1057"/>
                    <a:pt x="843" y="1029"/>
                    <a:pt x="900" y="882"/>
                  </a:cubicBezTo>
                  <a:cubicBezTo>
                    <a:pt x="957" y="735"/>
                    <a:pt x="1018" y="289"/>
                    <a:pt x="1065" y="177"/>
                  </a:cubicBezTo>
                  <a:cubicBezTo>
                    <a:pt x="1112" y="65"/>
                    <a:pt x="1140" y="85"/>
                    <a:pt x="1185" y="207"/>
                  </a:cubicBezTo>
                  <a:cubicBezTo>
                    <a:pt x="1230" y="329"/>
                    <a:pt x="1282" y="769"/>
                    <a:pt x="1335" y="912"/>
                  </a:cubicBezTo>
                  <a:cubicBezTo>
                    <a:pt x="1388" y="1055"/>
                    <a:pt x="1450" y="1066"/>
                    <a:pt x="1500" y="1062"/>
                  </a:cubicBezTo>
                </a:path>
              </a:pathLst>
            </a:custGeom>
            <a:noFill/>
            <a:ln w="9525">
              <a:solidFill>
                <a:srgbClr val="000000"/>
              </a:solidFill>
              <a:round/>
              <a:headEnd/>
              <a:tailEnd/>
            </a:ln>
          </p:spPr>
          <p:txBody>
            <a:bodyPr/>
            <a:lstStyle/>
            <a:p>
              <a:endParaRPr lang="zh-CN" altLang="en-US"/>
            </a:p>
          </p:txBody>
        </p:sp>
        <p:sp>
          <p:nvSpPr>
            <p:cNvPr id="27661" name="Line 10"/>
            <p:cNvSpPr>
              <a:spLocks noChangeShapeType="1"/>
            </p:cNvSpPr>
            <p:nvPr/>
          </p:nvSpPr>
          <p:spPr bwMode="auto">
            <a:xfrm>
              <a:off x="1949" y="1888"/>
              <a:ext cx="0" cy="1054"/>
            </a:xfrm>
            <a:prstGeom prst="line">
              <a:avLst/>
            </a:prstGeom>
            <a:noFill/>
            <a:ln w="6350">
              <a:solidFill>
                <a:srgbClr val="000000"/>
              </a:solidFill>
              <a:prstDash val="lgDashDot"/>
              <a:round/>
              <a:headEnd/>
              <a:tailEnd/>
            </a:ln>
          </p:spPr>
          <p:txBody>
            <a:bodyPr/>
            <a:lstStyle/>
            <a:p>
              <a:endParaRPr lang="zh-CN" altLang="en-US"/>
            </a:p>
          </p:txBody>
        </p:sp>
        <p:sp>
          <p:nvSpPr>
            <p:cNvPr id="27662" name="Line 11"/>
            <p:cNvSpPr>
              <a:spLocks noChangeShapeType="1"/>
            </p:cNvSpPr>
            <p:nvPr/>
          </p:nvSpPr>
          <p:spPr bwMode="auto">
            <a:xfrm>
              <a:off x="1724" y="1888"/>
              <a:ext cx="0" cy="1054"/>
            </a:xfrm>
            <a:prstGeom prst="line">
              <a:avLst/>
            </a:prstGeom>
            <a:noFill/>
            <a:ln w="6350">
              <a:solidFill>
                <a:srgbClr val="000000"/>
              </a:solidFill>
              <a:prstDash val="lgDashDot"/>
              <a:round/>
              <a:headEnd/>
              <a:tailEnd/>
            </a:ln>
          </p:spPr>
          <p:txBody>
            <a:bodyPr/>
            <a:lstStyle/>
            <a:p>
              <a:endParaRPr lang="zh-CN" altLang="en-US"/>
            </a:p>
          </p:txBody>
        </p:sp>
        <p:sp>
          <p:nvSpPr>
            <p:cNvPr id="27663" name="Freeform 12"/>
            <p:cNvSpPr>
              <a:spLocks/>
            </p:cNvSpPr>
            <p:nvPr/>
          </p:nvSpPr>
          <p:spPr bwMode="auto">
            <a:xfrm>
              <a:off x="1508" y="1979"/>
              <a:ext cx="432" cy="560"/>
            </a:xfrm>
            <a:custGeom>
              <a:avLst/>
              <a:gdLst>
                <a:gd name="T0" fmla="*/ 0 w 750"/>
                <a:gd name="T1" fmla="*/ 185 h 972"/>
                <a:gd name="T2" fmla="*/ 32 w 750"/>
                <a:gd name="T3" fmla="*/ 147 h 972"/>
                <a:gd name="T4" fmla="*/ 71 w 750"/>
                <a:gd name="T5" fmla="*/ 1 h 972"/>
                <a:gd name="T6" fmla="*/ 112 w 750"/>
                <a:gd name="T7" fmla="*/ 156 h 972"/>
                <a:gd name="T8" fmla="*/ 143 w 750"/>
                <a:gd name="T9" fmla="*/ 179 h 972"/>
                <a:gd name="T10" fmla="*/ 0 60000 65536"/>
                <a:gd name="T11" fmla="*/ 0 60000 65536"/>
                <a:gd name="T12" fmla="*/ 0 60000 65536"/>
                <a:gd name="T13" fmla="*/ 0 60000 65536"/>
                <a:gd name="T14" fmla="*/ 0 60000 65536"/>
                <a:gd name="T15" fmla="*/ 0 w 750"/>
                <a:gd name="T16" fmla="*/ 0 h 972"/>
                <a:gd name="T17" fmla="*/ 750 w 750"/>
                <a:gd name="T18" fmla="*/ 972 h 972"/>
              </a:gdLst>
              <a:ahLst/>
              <a:cxnLst>
                <a:cxn ang="T10">
                  <a:pos x="T0" y="T1"/>
                </a:cxn>
                <a:cxn ang="T11">
                  <a:pos x="T2" y="T3"/>
                </a:cxn>
                <a:cxn ang="T12">
                  <a:pos x="T4" y="T5"/>
                </a:cxn>
                <a:cxn ang="T13">
                  <a:pos x="T6" y="T7"/>
                </a:cxn>
                <a:cxn ang="T14">
                  <a:pos x="T8" y="T9"/>
                </a:cxn>
              </a:cxnLst>
              <a:rect l="T15" t="T16" r="T17" b="T18"/>
              <a:pathLst>
                <a:path w="750" h="972">
                  <a:moveTo>
                    <a:pt x="0" y="967"/>
                  </a:moveTo>
                  <a:cubicBezTo>
                    <a:pt x="51" y="949"/>
                    <a:pt x="103" y="932"/>
                    <a:pt x="165" y="772"/>
                  </a:cubicBezTo>
                  <a:cubicBezTo>
                    <a:pt x="227" y="612"/>
                    <a:pt x="305" y="0"/>
                    <a:pt x="375" y="7"/>
                  </a:cubicBezTo>
                  <a:cubicBezTo>
                    <a:pt x="445" y="14"/>
                    <a:pt x="523" y="662"/>
                    <a:pt x="585" y="817"/>
                  </a:cubicBezTo>
                  <a:cubicBezTo>
                    <a:pt x="647" y="972"/>
                    <a:pt x="698" y="954"/>
                    <a:pt x="750" y="937"/>
                  </a:cubicBezTo>
                </a:path>
              </a:pathLst>
            </a:custGeom>
            <a:noFill/>
            <a:ln w="9525">
              <a:solidFill>
                <a:srgbClr val="000000"/>
              </a:solidFill>
              <a:round/>
              <a:headEnd/>
              <a:tailEnd/>
            </a:ln>
          </p:spPr>
          <p:txBody>
            <a:bodyPr/>
            <a:lstStyle/>
            <a:p>
              <a:endParaRPr lang="zh-CN" altLang="en-US"/>
            </a:p>
          </p:txBody>
        </p:sp>
        <p:sp>
          <p:nvSpPr>
            <p:cNvPr id="27664" name="Freeform 13"/>
            <p:cNvSpPr>
              <a:spLocks/>
            </p:cNvSpPr>
            <p:nvPr/>
          </p:nvSpPr>
          <p:spPr bwMode="auto">
            <a:xfrm>
              <a:off x="1724" y="1995"/>
              <a:ext cx="389" cy="551"/>
            </a:xfrm>
            <a:custGeom>
              <a:avLst/>
              <a:gdLst>
                <a:gd name="T0" fmla="*/ 0 w 675"/>
                <a:gd name="T1" fmla="*/ 182 h 958"/>
                <a:gd name="T2" fmla="*/ 37 w 675"/>
                <a:gd name="T3" fmla="*/ 141 h 958"/>
                <a:gd name="T4" fmla="*/ 75 w 675"/>
                <a:gd name="T5" fmla="*/ 2 h 958"/>
                <a:gd name="T6" fmla="*/ 109 w 675"/>
                <a:gd name="T7" fmla="*/ 153 h 958"/>
                <a:gd name="T8" fmla="*/ 129 w 675"/>
                <a:gd name="T9" fmla="*/ 176 h 958"/>
                <a:gd name="T10" fmla="*/ 0 60000 65536"/>
                <a:gd name="T11" fmla="*/ 0 60000 65536"/>
                <a:gd name="T12" fmla="*/ 0 60000 65536"/>
                <a:gd name="T13" fmla="*/ 0 60000 65536"/>
                <a:gd name="T14" fmla="*/ 0 60000 65536"/>
                <a:gd name="T15" fmla="*/ 0 w 675"/>
                <a:gd name="T16" fmla="*/ 0 h 958"/>
                <a:gd name="T17" fmla="*/ 675 w 675"/>
                <a:gd name="T18" fmla="*/ 958 h 958"/>
              </a:gdLst>
              <a:ahLst/>
              <a:cxnLst>
                <a:cxn ang="T10">
                  <a:pos x="T0" y="T1"/>
                </a:cxn>
                <a:cxn ang="T11">
                  <a:pos x="T2" y="T3"/>
                </a:cxn>
                <a:cxn ang="T12">
                  <a:pos x="T4" y="T5"/>
                </a:cxn>
                <a:cxn ang="T13">
                  <a:pos x="T6" y="T7"/>
                </a:cxn>
                <a:cxn ang="T14">
                  <a:pos x="T8" y="T9"/>
                </a:cxn>
              </a:cxnLst>
              <a:rect l="T15" t="T16" r="T17" b="T18"/>
              <a:pathLst>
                <a:path w="675" h="958">
                  <a:moveTo>
                    <a:pt x="0" y="955"/>
                  </a:moveTo>
                  <a:cubicBezTo>
                    <a:pt x="65" y="929"/>
                    <a:pt x="130" y="903"/>
                    <a:pt x="195" y="745"/>
                  </a:cubicBezTo>
                  <a:cubicBezTo>
                    <a:pt x="260" y="587"/>
                    <a:pt x="328" y="0"/>
                    <a:pt x="390" y="10"/>
                  </a:cubicBezTo>
                  <a:cubicBezTo>
                    <a:pt x="452" y="20"/>
                    <a:pt x="522" y="652"/>
                    <a:pt x="570" y="805"/>
                  </a:cubicBezTo>
                  <a:cubicBezTo>
                    <a:pt x="618" y="958"/>
                    <a:pt x="646" y="941"/>
                    <a:pt x="675" y="925"/>
                  </a:cubicBezTo>
                </a:path>
              </a:pathLst>
            </a:custGeom>
            <a:noFill/>
            <a:ln w="9525">
              <a:solidFill>
                <a:srgbClr val="000000"/>
              </a:solidFill>
              <a:round/>
              <a:headEnd/>
              <a:tailEnd/>
            </a:ln>
          </p:spPr>
          <p:txBody>
            <a:bodyPr/>
            <a:lstStyle/>
            <a:p>
              <a:endParaRPr lang="zh-CN" altLang="en-US"/>
            </a:p>
          </p:txBody>
        </p:sp>
        <p:sp>
          <p:nvSpPr>
            <p:cNvPr id="27665" name="Freeform 14"/>
            <p:cNvSpPr>
              <a:spLocks/>
            </p:cNvSpPr>
            <p:nvPr/>
          </p:nvSpPr>
          <p:spPr bwMode="auto">
            <a:xfrm>
              <a:off x="1724" y="1992"/>
              <a:ext cx="216" cy="89"/>
            </a:xfrm>
            <a:custGeom>
              <a:avLst/>
              <a:gdLst>
                <a:gd name="T0" fmla="*/ 0 w 375"/>
                <a:gd name="T1" fmla="*/ 0 h 155"/>
                <a:gd name="T2" fmla="*/ 40 w 375"/>
                <a:gd name="T3" fmla="*/ 28 h 155"/>
                <a:gd name="T4" fmla="*/ 71 w 375"/>
                <a:gd name="T5" fmla="*/ 6 h 155"/>
                <a:gd name="T6" fmla="*/ 0 60000 65536"/>
                <a:gd name="T7" fmla="*/ 0 60000 65536"/>
                <a:gd name="T8" fmla="*/ 0 60000 65536"/>
                <a:gd name="T9" fmla="*/ 0 w 375"/>
                <a:gd name="T10" fmla="*/ 0 h 155"/>
                <a:gd name="T11" fmla="*/ 375 w 375"/>
                <a:gd name="T12" fmla="*/ 155 h 155"/>
              </a:gdLst>
              <a:ahLst/>
              <a:cxnLst>
                <a:cxn ang="T6">
                  <a:pos x="T0" y="T1"/>
                </a:cxn>
                <a:cxn ang="T7">
                  <a:pos x="T2" y="T3"/>
                </a:cxn>
                <a:cxn ang="T8">
                  <a:pos x="T4" y="T5"/>
                </a:cxn>
              </a:cxnLst>
              <a:rect l="T9" t="T10" r="T11" b="T12"/>
              <a:pathLst>
                <a:path w="375" h="155">
                  <a:moveTo>
                    <a:pt x="0" y="0"/>
                  </a:moveTo>
                  <a:cubicBezTo>
                    <a:pt x="74" y="72"/>
                    <a:pt x="148" y="145"/>
                    <a:pt x="210" y="150"/>
                  </a:cubicBezTo>
                  <a:cubicBezTo>
                    <a:pt x="272" y="155"/>
                    <a:pt x="323" y="92"/>
                    <a:pt x="375" y="30"/>
                  </a:cubicBezTo>
                </a:path>
              </a:pathLst>
            </a:custGeom>
            <a:noFill/>
            <a:ln w="9525">
              <a:solidFill>
                <a:srgbClr val="000000"/>
              </a:solidFill>
              <a:prstDash val="dash"/>
              <a:round/>
              <a:headEnd/>
              <a:tailEnd/>
            </a:ln>
          </p:spPr>
          <p:txBody>
            <a:bodyPr/>
            <a:lstStyle/>
            <a:p>
              <a:endParaRPr lang="zh-CN" altLang="en-US"/>
            </a:p>
          </p:txBody>
        </p:sp>
        <p:sp>
          <p:nvSpPr>
            <p:cNvPr id="27666" name="Line 15"/>
            <p:cNvSpPr>
              <a:spLocks noChangeShapeType="1"/>
            </p:cNvSpPr>
            <p:nvPr/>
          </p:nvSpPr>
          <p:spPr bwMode="auto">
            <a:xfrm>
              <a:off x="1845" y="2078"/>
              <a:ext cx="320" cy="0"/>
            </a:xfrm>
            <a:prstGeom prst="line">
              <a:avLst/>
            </a:prstGeom>
            <a:noFill/>
            <a:ln w="6350">
              <a:solidFill>
                <a:srgbClr val="000000"/>
              </a:solidFill>
              <a:round/>
              <a:headEnd/>
              <a:tailEnd/>
            </a:ln>
          </p:spPr>
          <p:txBody>
            <a:bodyPr/>
            <a:lstStyle/>
            <a:p>
              <a:endParaRPr lang="zh-CN" altLang="en-US"/>
            </a:p>
          </p:txBody>
        </p:sp>
        <p:sp>
          <p:nvSpPr>
            <p:cNvPr id="27667" name="Line 16"/>
            <p:cNvSpPr>
              <a:spLocks noChangeShapeType="1"/>
            </p:cNvSpPr>
            <p:nvPr/>
          </p:nvSpPr>
          <p:spPr bwMode="auto">
            <a:xfrm>
              <a:off x="1949" y="2009"/>
              <a:ext cx="423" cy="0"/>
            </a:xfrm>
            <a:prstGeom prst="line">
              <a:avLst/>
            </a:prstGeom>
            <a:noFill/>
            <a:ln w="6350">
              <a:solidFill>
                <a:srgbClr val="000000"/>
              </a:solidFill>
              <a:round/>
              <a:headEnd/>
              <a:tailEnd/>
            </a:ln>
          </p:spPr>
          <p:txBody>
            <a:bodyPr/>
            <a:lstStyle/>
            <a:p>
              <a:endParaRPr lang="zh-CN" altLang="en-US"/>
            </a:p>
          </p:txBody>
        </p:sp>
        <p:sp>
          <p:nvSpPr>
            <p:cNvPr id="27668" name="Line 17"/>
            <p:cNvSpPr>
              <a:spLocks noChangeShapeType="1"/>
            </p:cNvSpPr>
            <p:nvPr/>
          </p:nvSpPr>
          <p:spPr bwMode="auto">
            <a:xfrm>
              <a:off x="791" y="2778"/>
              <a:ext cx="441"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98034" name="Text Box 18"/>
            <p:cNvSpPr txBox="1">
              <a:spLocks noChangeArrowheads="1"/>
            </p:cNvSpPr>
            <p:nvPr/>
          </p:nvSpPr>
          <p:spPr bwMode="auto">
            <a:xfrm>
              <a:off x="869" y="2588"/>
              <a:ext cx="380" cy="259"/>
            </a:xfrm>
            <a:prstGeom prst="rect">
              <a:avLst/>
            </a:prstGeom>
            <a:noFill/>
            <a:ln w="9525">
              <a:noFill/>
              <a:miter lim="800000"/>
              <a:headEnd/>
              <a:tailEnd/>
            </a:ln>
            <a:effectLst/>
          </p:spPr>
          <p:txBody>
            <a:bodyPr/>
            <a:lstStyle/>
            <a:p>
              <a:pPr>
                <a:defRPr/>
              </a:pPr>
              <a:r>
                <a:rPr lang="en-US" altLang="zh-CN" sz="1600" b="1" i="1">
                  <a:effectLst>
                    <a:outerShdw blurRad="38100" dist="38100" dir="2700000" algn="tl">
                      <a:srgbClr val="C0C0C0"/>
                    </a:outerShdw>
                  </a:effectLst>
                  <a:latin typeface="Times New Roman" pitchFamily="18" charset="0"/>
                </a:rPr>
                <a:t>σ</a:t>
              </a:r>
              <a:endParaRPr lang="en-US" altLang="zh-CN" sz="1600" b="1">
                <a:effectLst>
                  <a:outerShdw blurRad="38100" dist="38100" dir="2700000" algn="tl">
                    <a:srgbClr val="C0C0C0"/>
                  </a:outerShdw>
                </a:effectLst>
              </a:endParaRPr>
            </a:p>
          </p:txBody>
        </p:sp>
        <p:sp>
          <p:nvSpPr>
            <p:cNvPr id="27670" name="Line 19"/>
            <p:cNvSpPr>
              <a:spLocks noChangeShapeType="1"/>
            </p:cNvSpPr>
            <p:nvPr/>
          </p:nvSpPr>
          <p:spPr bwMode="auto">
            <a:xfrm>
              <a:off x="1500" y="2786"/>
              <a:ext cx="224" cy="0"/>
            </a:xfrm>
            <a:prstGeom prst="line">
              <a:avLst/>
            </a:prstGeom>
            <a:noFill/>
            <a:ln w="6350">
              <a:solidFill>
                <a:srgbClr val="000000"/>
              </a:solidFill>
              <a:round/>
              <a:headEnd/>
              <a:tailEnd type="stealth" w="sm" len="sm"/>
            </a:ln>
          </p:spPr>
          <p:txBody>
            <a:bodyPr/>
            <a:lstStyle/>
            <a:p>
              <a:endParaRPr lang="zh-CN" altLang="en-US"/>
            </a:p>
          </p:txBody>
        </p:sp>
        <p:sp>
          <p:nvSpPr>
            <p:cNvPr id="27671" name="Line 20"/>
            <p:cNvSpPr>
              <a:spLocks noChangeShapeType="1"/>
            </p:cNvSpPr>
            <p:nvPr/>
          </p:nvSpPr>
          <p:spPr bwMode="auto">
            <a:xfrm flipH="1">
              <a:off x="1940" y="2786"/>
              <a:ext cx="190" cy="0"/>
            </a:xfrm>
            <a:prstGeom prst="line">
              <a:avLst/>
            </a:prstGeom>
            <a:noFill/>
            <a:ln w="6350">
              <a:solidFill>
                <a:srgbClr val="000000"/>
              </a:solidFill>
              <a:round/>
              <a:headEnd/>
              <a:tailEnd type="stealth" w="sm" len="sm"/>
            </a:ln>
          </p:spPr>
          <p:txBody>
            <a:bodyPr/>
            <a:lstStyle/>
            <a:p>
              <a:endParaRPr lang="zh-CN" altLang="en-US"/>
            </a:p>
          </p:txBody>
        </p:sp>
        <p:sp>
          <p:nvSpPr>
            <p:cNvPr id="598037" name="Text Box 21"/>
            <p:cNvSpPr txBox="1">
              <a:spLocks noChangeArrowheads="1"/>
            </p:cNvSpPr>
            <p:nvPr/>
          </p:nvSpPr>
          <p:spPr bwMode="auto">
            <a:xfrm>
              <a:off x="1698" y="2614"/>
              <a:ext cx="380" cy="259"/>
            </a:xfrm>
            <a:prstGeom prst="rect">
              <a:avLst/>
            </a:prstGeom>
            <a:noFill/>
            <a:ln w="9525">
              <a:noFill/>
              <a:miter lim="800000"/>
              <a:headEnd/>
              <a:tailEnd/>
            </a:ln>
            <a:effectLst/>
          </p:spPr>
          <p:txBody>
            <a:bodyPr/>
            <a:lstStyle/>
            <a:p>
              <a:pPr>
                <a:defRPr/>
              </a:pPr>
              <a:r>
                <a:rPr lang="en-US" altLang="zh-CN" sz="1600" b="1" i="1">
                  <a:effectLst>
                    <a:outerShdw blurRad="38100" dist="38100" dir="2700000" algn="tl">
                      <a:srgbClr val="C0C0C0"/>
                    </a:outerShdw>
                  </a:effectLst>
                  <a:latin typeface="Times New Roman" pitchFamily="18" charset="0"/>
                </a:rPr>
                <a:t>σ</a:t>
              </a:r>
              <a:endParaRPr lang="en-US" altLang="zh-CN" sz="1600" b="1">
                <a:effectLst>
                  <a:outerShdw blurRad="38100" dist="38100" dir="2700000" algn="tl">
                    <a:srgbClr val="C0C0C0"/>
                  </a:outerShdw>
                </a:effectLst>
              </a:endParaRPr>
            </a:p>
          </p:txBody>
        </p:sp>
        <p:sp>
          <p:nvSpPr>
            <p:cNvPr id="27673" name="Line 22"/>
            <p:cNvSpPr>
              <a:spLocks noChangeShapeType="1"/>
            </p:cNvSpPr>
            <p:nvPr/>
          </p:nvSpPr>
          <p:spPr bwMode="auto">
            <a:xfrm>
              <a:off x="2130" y="2078"/>
              <a:ext cx="0" cy="449"/>
            </a:xfrm>
            <a:prstGeom prst="line">
              <a:avLst/>
            </a:prstGeom>
            <a:noFill/>
            <a:ln w="6350">
              <a:solidFill>
                <a:srgbClr val="000000"/>
              </a:solidFill>
              <a:round/>
              <a:headEnd type="stealth" w="sm" len="sm"/>
              <a:tailEnd type="stealth" w="sm" len="sm"/>
            </a:ln>
          </p:spPr>
          <p:txBody>
            <a:bodyPr/>
            <a:lstStyle/>
            <a:p>
              <a:endParaRPr lang="zh-CN" altLang="en-US"/>
            </a:p>
          </p:txBody>
        </p:sp>
        <p:sp>
          <p:nvSpPr>
            <p:cNvPr id="27674" name="Line 23"/>
            <p:cNvSpPr>
              <a:spLocks noChangeShapeType="1"/>
            </p:cNvSpPr>
            <p:nvPr/>
          </p:nvSpPr>
          <p:spPr bwMode="auto">
            <a:xfrm>
              <a:off x="2329" y="2009"/>
              <a:ext cx="0" cy="527"/>
            </a:xfrm>
            <a:prstGeom prst="line">
              <a:avLst/>
            </a:prstGeom>
            <a:noFill/>
            <a:ln w="6350">
              <a:solidFill>
                <a:srgbClr val="000000"/>
              </a:solidFill>
              <a:round/>
              <a:headEnd type="stealth" w="sm" len="sm"/>
              <a:tailEnd type="stealth" w="sm" len="sm"/>
            </a:ln>
          </p:spPr>
          <p:txBody>
            <a:bodyPr/>
            <a:lstStyle/>
            <a:p>
              <a:endParaRPr lang="zh-CN" altLang="en-US"/>
            </a:p>
          </p:txBody>
        </p:sp>
        <p:sp>
          <p:nvSpPr>
            <p:cNvPr id="27675" name="Line 24"/>
            <p:cNvSpPr>
              <a:spLocks noChangeShapeType="1"/>
            </p:cNvSpPr>
            <p:nvPr/>
          </p:nvSpPr>
          <p:spPr bwMode="auto">
            <a:xfrm>
              <a:off x="2433" y="2769"/>
              <a:ext cx="224" cy="0"/>
            </a:xfrm>
            <a:prstGeom prst="line">
              <a:avLst/>
            </a:prstGeom>
            <a:noFill/>
            <a:ln w="6350">
              <a:solidFill>
                <a:srgbClr val="000000"/>
              </a:solidFill>
              <a:round/>
              <a:headEnd/>
              <a:tailEnd type="stealth" w="sm" len="sm"/>
            </a:ln>
          </p:spPr>
          <p:txBody>
            <a:bodyPr/>
            <a:lstStyle/>
            <a:p>
              <a:endParaRPr lang="zh-CN" altLang="en-US"/>
            </a:p>
          </p:txBody>
        </p:sp>
        <p:sp>
          <p:nvSpPr>
            <p:cNvPr id="27676" name="Line 25"/>
            <p:cNvSpPr>
              <a:spLocks noChangeShapeType="1"/>
            </p:cNvSpPr>
            <p:nvPr/>
          </p:nvSpPr>
          <p:spPr bwMode="auto">
            <a:xfrm flipH="1">
              <a:off x="2804" y="2769"/>
              <a:ext cx="190" cy="0"/>
            </a:xfrm>
            <a:prstGeom prst="line">
              <a:avLst/>
            </a:prstGeom>
            <a:noFill/>
            <a:ln w="6350">
              <a:solidFill>
                <a:srgbClr val="000000"/>
              </a:solidFill>
              <a:round/>
              <a:headEnd/>
              <a:tailEnd type="stealth" w="sm" len="sm"/>
            </a:ln>
          </p:spPr>
          <p:txBody>
            <a:bodyPr/>
            <a:lstStyle/>
            <a:p>
              <a:endParaRPr lang="zh-CN" altLang="en-US"/>
            </a:p>
          </p:txBody>
        </p:sp>
        <p:sp>
          <p:nvSpPr>
            <p:cNvPr id="598042" name="Text Box 26"/>
            <p:cNvSpPr txBox="1">
              <a:spLocks noChangeArrowheads="1"/>
            </p:cNvSpPr>
            <p:nvPr/>
          </p:nvSpPr>
          <p:spPr bwMode="auto">
            <a:xfrm>
              <a:off x="2605" y="2596"/>
              <a:ext cx="380" cy="260"/>
            </a:xfrm>
            <a:prstGeom prst="rect">
              <a:avLst/>
            </a:prstGeom>
            <a:noFill/>
            <a:ln w="9525">
              <a:noFill/>
              <a:miter lim="800000"/>
              <a:headEnd/>
              <a:tailEnd/>
            </a:ln>
            <a:effectLst/>
          </p:spPr>
          <p:txBody>
            <a:bodyPr/>
            <a:lstStyle/>
            <a:p>
              <a:pPr>
                <a:defRPr/>
              </a:pPr>
              <a:r>
                <a:rPr lang="en-US" altLang="zh-CN" sz="1600" b="1" i="1">
                  <a:effectLst>
                    <a:outerShdw blurRad="38100" dist="38100" dir="2700000" algn="tl">
                      <a:srgbClr val="C0C0C0"/>
                    </a:outerShdw>
                  </a:effectLst>
                  <a:latin typeface="Times New Roman" pitchFamily="18" charset="0"/>
                </a:rPr>
                <a:t>σ</a:t>
              </a:r>
              <a:endParaRPr lang="en-US" altLang="zh-CN" sz="1600" b="1">
                <a:effectLst>
                  <a:outerShdw blurRad="38100" dist="38100" dir="2700000" algn="tl">
                    <a:srgbClr val="C0C0C0"/>
                  </a:outerShdw>
                </a:effectLst>
              </a:endParaRPr>
            </a:p>
          </p:txBody>
        </p:sp>
        <p:sp>
          <p:nvSpPr>
            <p:cNvPr id="27678" name="Line 27"/>
            <p:cNvSpPr>
              <a:spLocks noChangeShapeType="1"/>
            </p:cNvSpPr>
            <p:nvPr/>
          </p:nvSpPr>
          <p:spPr bwMode="auto">
            <a:xfrm>
              <a:off x="2804" y="1897"/>
              <a:ext cx="0" cy="1054"/>
            </a:xfrm>
            <a:prstGeom prst="line">
              <a:avLst/>
            </a:prstGeom>
            <a:noFill/>
            <a:ln w="6350">
              <a:solidFill>
                <a:srgbClr val="000000"/>
              </a:solidFill>
              <a:prstDash val="lgDashDot"/>
              <a:round/>
              <a:headEnd/>
              <a:tailEnd/>
            </a:ln>
          </p:spPr>
          <p:txBody>
            <a:bodyPr/>
            <a:lstStyle/>
            <a:p>
              <a:endParaRPr lang="zh-CN" altLang="en-US"/>
            </a:p>
          </p:txBody>
        </p:sp>
        <p:sp>
          <p:nvSpPr>
            <p:cNvPr id="27679" name="Freeform 28"/>
            <p:cNvSpPr>
              <a:spLocks/>
            </p:cNvSpPr>
            <p:nvPr/>
          </p:nvSpPr>
          <p:spPr bwMode="auto">
            <a:xfrm>
              <a:off x="2588" y="1983"/>
              <a:ext cx="432" cy="560"/>
            </a:xfrm>
            <a:custGeom>
              <a:avLst/>
              <a:gdLst>
                <a:gd name="T0" fmla="*/ 0 w 750"/>
                <a:gd name="T1" fmla="*/ 185 h 972"/>
                <a:gd name="T2" fmla="*/ 32 w 750"/>
                <a:gd name="T3" fmla="*/ 147 h 972"/>
                <a:gd name="T4" fmla="*/ 71 w 750"/>
                <a:gd name="T5" fmla="*/ 1 h 972"/>
                <a:gd name="T6" fmla="*/ 112 w 750"/>
                <a:gd name="T7" fmla="*/ 156 h 972"/>
                <a:gd name="T8" fmla="*/ 143 w 750"/>
                <a:gd name="T9" fmla="*/ 179 h 972"/>
                <a:gd name="T10" fmla="*/ 0 60000 65536"/>
                <a:gd name="T11" fmla="*/ 0 60000 65536"/>
                <a:gd name="T12" fmla="*/ 0 60000 65536"/>
                <a:gd name="T13" fmla="*/ 0 60000 65536"/>
                <a:gd name="T14" fmla="*/ 0 60000 65536"/>
                <a:gd name="T15" fmla="*/ 0 w 750"/>
                <a:gd name="T16" fmla="*/ 0 h 972"/>
                <a:gd name="T17" fmla="*/ 750 w 750"/>
                <a:gd name="T18" fmla="*/ 972 h 972"/>
              </a:gdLst>
              <a:ahLst/>
              <a:cxnLst>
                <a:cxn ang="T10">
                  <a:pos x="T0" y="T1"/>
                </a:cxn>
                <a:cxn ang="T11">
                  <a:pos x="T2" y="T3"/>
                </a:cxn>
                <a:cxn ang="T12">
                  <a:pos x="T4" y="T5"/>
                </a:cxn>
                <a:cxn ang="T13">
                  <a:pos x="T6" y="T7"/>
                </a:cxn>
                <a:cxn ang="T14">
                  <a:pos x="T8" y="T9"/>
                </a:cxn>
              </a:cxnLst>
              <a:rect l="T15" t="T16" r="T17" b="T18"/>
              <a:pathLst>
                <a:path w="750" h="972">
                  <a:moveTo>
                    <a:pt x="0" y="967"/>
                  </a:moveTo>
                  <a:cubicBezTo>
                    <a:pt x="51" y="949"/>
                    <a:pt x="103" y="932"/>
                    <a:pt x="165" y="772"/>
                  </a:cubicBezTo>
                  <a:cubicBezTo>
                    <a:pt x="227" y="612"/>
                    <a:pt x="305" y="0"/>
                    <a:pt x="375" y="7"/>
                  </a:cubicBezTo>
                  <a:cubicBezTo>
                    <a:pt x="445" y="14"/>
                    <a:pt x="523" y="662"/>
                    <a:pt x="585" y="817"/>
                  </a:cubicBezTo>
                  <a:cubicBezTo>
                    <a:pt x="647" y="972"/>
                    <a:pt x="698" y="954"/>
                    <a:pt x="750" y="937"/>
                  </a:cubicBezTo>
                </a:path>
              </a:pathLst>
            </a:custGeom>
            <a:noFill/>
            <a:ln w="9525">
              <a:solidFill>
                <a:srgbClr val="000000"/>
              </a:solidFill>
              <a:round/>
              <a:headEnd/>
              <a:tailEnd/>
            </a:ln>
          </p:spPr>
          <p:txBody>
            <a:bodyPr/>
            <a:lstStyle/>
            <a:p>
              <a:endParaRPr lang="zh-CN" altLang="en-US"/>
            </a:p>
          </p:txBody>
        </p:sp>
        <p:sp>
          <p:nvSpPr>
            <p:cNvPr id="27680" name="Line 29"/>
            <p:cNvSpPr>
              <a:spLocks noChangeShapeType="1"/>
            </p:cNvSpPr>
            <p:nvPr/>
          </p:nvSpPr>
          <p:spPr bwMode="auto">
            <a:xfrm>
              <a:off x="2657" y="1888"/>
              <a:ext cx="0" cy="1054"/>
            </a:xfrm>
            <a:prstGeom prst="line">
              <a:avLst/>
            </a:prstGeom>
            <a:noFill/>
            <a:ln w="6350">
              <a:solidFill>
                <a:srgbClr val="000000"/>
              </a:solidFill>
              <a:prstDash val="lgDashDot"/>
              <a:round/>
              <a:headEnd/>
              <a:tailEnd/>
            </a:ln>
          </p:spPr>
          <p:txBody>
            <a:bodyPr/>
            <a:lstStyle/>
            <a:p>
              <a:endParaRPr lang="zh-CN" altLang="en-US"/>
            </a:p>
          </p:txBody>
        </p:sp>
        <p:sp>
          <p:nvSpPr>
            <p:cNvPr id="27681" name="Freeform 30"/>
            <p:cNvSpPr>
              <a:spLocks/>
            </p:cNvSpPr>
            <p:nvPr/>
          </p:nvSpPr>
          <p:spPr bwMode="auto">
            <a:xfrm>
              <a:off x="2441" y="1979"/>
              <a:ext cx="432" cy="560"/>
            </a:xfrm>
            <a:custGeom>
              <a:avLst/>
              <a:gdLst>
                <a:gd name="T0" fmla="*/ 0 w 750"/>
                <a:gd name="T1" fmla="*/ 185 h 972"/>
                <a:gd name="T2" fmla="*/ 32 w 750"/>
                <a:gd name="T3" fmla="*/ 147 h 972"/>
                <a:gd name="T4" fmla="*/ 71 w 750"/>
                <a:gd name="T5" fmla="*/ 1 h 972"/>
                <a:gd name="T6" fmla="*/ 112 w 750"/>
                <a:gd name="T7" fmla="*/ 156 h 972"/>
                <a:gd name="T8" fmla="*/ 143 w 750"/>
                <a:gd name="T9" fmla="*/ 179 h 972"/>
                <a:gd name="T10" fmla="*/ 0 60000 65536"/>
                <a:gd name="T11" fmla="*/ 0 60000 65536"/>
                <a:gd name="T12" fmla="*/ 0 60000 65536"/>
                <a:gd name="T13" fmla="*/ 0 60000 65536"/>
                <a:gd name="T14" fmla="*/ 0 60000 65536"/>
                <a:gd name="T15" fmla="*/ 0 w 750"/>
                <a:gd name="T16" fmla="*/ 0 h 972"/>
                <a:gd name="T17" fmla="*/ 750 w 750"/>
                <a:gd name="T18" fmla="*/ 972 h 972"/>
              </a:gdLst>
              <a:ahLst/>
              <a:cxnLst>
                <a:cxn ang="T10">
                  <a:pos x="T0" y="T1"/>
                </a:cxn>
                <a:cxn ang="T11">
                  <a:pos x="T2" y="T3"/>
                </a:cxn>
                <a:cxn ang="T12">
                  <a:pos x="T4" y="T5"/>
                </a:cxn>
                <a:cxn ang="T13">
                  <a:pos x="T6" y="T7"/>
                </a:cxn>
                <a:cxn ang="T14">
                  <a:pos x="T8" y="T9"/>
                </a:cxn>
              </a:cxnLst>
              <a:rect l="T15" t="T16" r="T17" b="T18"/>
              <a:pathLst>
                <a:path w="750" h="972">
                  <a:moveTo>
                    <a:pt x="0" y="967"/>
                  </a:moveTo>
                  <a:cubicBezTo>
                    <a:pt x="51" y="949"/>
                    <a:pt x="103" y="932"/>
                    <a:pt x="165" y="772"/>
                  </a:cubicBezTo>
                  <a:cubicBezTo>
                    <a:pt x="227" y="612"/>
                    <a:pt x="305" y="0"/>
                    <a:pt x="375" y="7"/>
                  </a:cubicBezTo>
                  <a:cubicBezTo>
                    <a:pt x="445" y="14"/>
                    <a:pt x="523" y="662"/>
                    <a:pt x="585" y="817"/>
                  </a:cubicBezTo>
                  <a:cubicBezTo>
                    <a:pt x="647" y="972"/>
                    <a:pt x="698" y="954"/>
                    <a:pt x="750" y="937"/>
                  </a:cubicBezTo>
                </a:path>
              </a:pathLst>
            </a:custGeom>
            <a:noFill/>
            <a:ln w="9525">
              <a:solidFill>
                <a:srgbClr val="000000"/>
              </a:solidFill>
              <a:round/>
              <a:headEnd/>
              <a:tailEnd/>
            </a:ln>
          </p:spPr>
          <p:txBody>
            <a:bodyPr/>
            <a:lstStyle/>
            <a:p>
              <a:endParaRPr lang="zh-CN" altLang="en-US"/>
            </a:p>
          </p:txBody>
        </p:sp>
        <p:sp>
          <p:nvSpPr>
            <p:cNvPr id="27682" name="Freeform 31"/>
            <p:cNvSpPr>
              <a:spLocks/>
            </p:cNvSpPr>
            <p:nvPr/>
          </p:nvSpPr>
          <p:spPr bwMode="auto">
            <a:xfrm>
              <a:off x="2623" y="1947"/>
              <a:ext cx="216" cy="105"/>
            </a:xfrm>
            <a:custGeom>
              <a:avLst/>
              <a:gdLst>
                <a:gd name="T0" fmla="*/ 0 w 375"/>
                <a:gd name="T1" fmla="*/ 29 h 183"/>
                <a:gd name="T2" fmla="*/ 12 w 375"/>
                <a:gd name="T3" fmla="*/ 6 h 183"/>
                <a:gd name="T4" fmla="*/ 46 w 375"/>
                <a:gd name="T5" fmla="*/ 1 h 183"/>
                <a:gd name="T6" fmla="*/ 58 w 375"/>
                <a:gd name="T7" fmla="*/ 9 h 183"/>
                <a:gd name="T8" fmla="*/ 71 w 375"/>
                <a:gd name="T9" fmla="*/ 34 h 183"/>
                <a:gd name="T10" fmla="*/ 0 60000 65536"/>
                <a:gd name="T11" fmla="*/ 0 60000 65536"/>
                <a:gd name="T12" fmla="*/ 0 60000 65536"/>
                <a:gd name="T13" fmla="*/ 0 60000 65536"/>
                <a:gd name="T14" fmla="*/ 0 60000 65536"/>
                <a:gd name="T15" fmla="*/ 0 w 375"/>
                <a:gd name="T16" fmla="*/ 0 h 183"/>
                <a:gd name="T17" fmla="*/ 375 w 375"/>
                <a:gd name="T18" fmla="*/ 183 h 183"/>
              </a:gdLst>
              <a:ahLst/>
              <a:cxnLst>
                <a:cxn ang="T10">
                  <a:pos x="T0" y="T1"/>
                </a:cxn>
                <a:cxn ang="T11">
                  <a:pos x="T2" y="T3"/>
                </a:cxn>
                <a:cxn ang="T12">
                  <a:pos x="T4" y="T5"/>
                </a:cxn>
                <a:cxn ang="T13">
                  <a:pos x="T6" y="T7"/>
                </a:cxn>
                <a:cxn ang="T14">
                  <a:pos x="T8" y="T9"/>
                </a:cxn>
              </a:cxnLst>
              <a:rect l="T15" t="T16" r="T17" b="T18"/>
              <a:pathLst>
                <a:path w="375" h="183">
                  <a:moveTo>
                    <a:pt x="0" y="153"/>
                  </a:moveTo>
                  <a:cubicBezTo>
                    <a:pt x="7" y="108"/>
                    <a:pt x="20" y="58"/>
                    <a:pt x="60" y="33"/>
                  </a:cubicBezTo>
                  <a:cubicBezTo>
                    <a:pt x="100" y="8"/>
                    <a:pt x="200" y="0"/>
                    <a:pt x="240" y="3"/>
                  </a:cubicBezTo>
                  <a:cubicBezTo>
                    <a:pt x="280" y="6"/>
                    <a:pt x="278" y="18"/>
                    <a:pt x="300" y="48"/>
                  </a:cubicBezTo>
                  <a:cubicBezTo>
                    <a:pt x="322" y="78"/>
                    <a:pt x="360" y="155"/>
                    <a:pt x="375" y="183"/>
                  </a:cubicBezTo>
                </a:path>
              </a:pathLst>
            </a:custGeom>
            <a:noFill/>
            <a:ln w="9525">
              <a:solidFill>
                <a:srgbClr val="000000"/>
              </a:solidFill>
              <a:prstDash val="dash"/>
              <a:round/>
              <a:headEnd/>
              <a:tailEnd/>
            </a:ln>
          </p:spPr>
          <p:txBody>
            <a:bodyPr/>
            <a:lstStyle/>
            <a:p>
              <a:endParaRPr lang="zh-CN" altLang="en-US"/>
            </a:p>
          </p:txBody>
        </p:sp>
        <p:sp>
          <p:nvSpPr>
            <p:cNvPr id="598048" name="Text Box 32"/>
            <p:cNvSpPr txBox="1">
              <a:spLocks noChangeArrowheads="1"/>
            </p:cNvSpPr>
            <p:nvPr/>
          </p:nvSpPr>
          <p:spPr bwMode="auto">
            <a:xfrm>
              <a:off x="2072" y="2173"/>
              <a:ext cx="345" cy="337"/>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I</a:t>
              </a:r>
              <a:r>
                <a:rPr lang="en-US" altLang="zh-CN" sz="1600" b="1" baseline="-25000">
                  <a:effectLst>
                    <a:outerShdw blurRad="38100" dist="38100" dir="2700000" algn="tl">
                      <a:srgbClr val="C0C0C0"/>
                    </a:outerShdw>
                  </a:effectLst>
                  <a:latin typeface="Times New Roman" pitchFamily="18" charset="0"/>
                </a:rPr>
                <a:t>min</a:t>
              </a:r>
              <a:endParaRPr lang="en-US" altLang="zh-CN" sz="1600" b="1">
                <a:effectLst>
                  <a:outerShdw blurRad="38100" dist="38100" dir="2700000" algn="tl">
                    <a:srgbClr val="C0C0C0"/>
                  </a:outerShdw>
                </a:effectLst>
              </a:endParaRPr>
            </a:p>
          </p:txBody>
        </p:sp>
        <p:sp>
          <p:nvSpPr>
            <p:cNvPr id="598049" name="Text Box 33"/>
            <p:cNvSpPr txBox="1">
              <a:spLocks noChangeArrowheads="1"/>
            </p:cNvSpPr>
            <p:nvPr/>
          </p:nvSpPr>
          <p:spPr bwMode="auto">
            <a:xfrm>
              <a:off x="2279" y="2182"/>
              <a:ext cx="345" cy="337"/>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I</a:t>
              </a:r>
              <a:r>
                <a:rPr lang="en-US" altLang="zh-CN" sz="1600" b="1" baseline="-25000">
                  <a:effectLst>
                    <a:outerShdw blurRad="38100" dist="38100" dir="2700000" algn="tl">
                      <a:srgbClr val="C0C0C0"/>
                    </a:outerShdw>
                  </a:effectLst>
                  <a:latin typeface="Times New Roman" pitchFamily="18" charset="0"/>
                </a:rPr>
                <a:t>max</a:t>
              </a:r>
              <a:endParaRPr lang="en-US" altLang="zh-CN" sz="1600" b="1">
                <a:effectLst>
                  <a:outerShdw blurRad="38100" dist="38100" dir="2700000" algn="tl">
                    <a:srgbClr val="C0C0C0"/>
                  </a:outerShdw>
                </a:effectLst>
              </a:endParaRPr>
            </a:p>
          </p:txBody>
        </p:sp>
        <p:graphicFrame>
          <p:nvGraphicFramePr>
            <p:cNvPr id="27650" name="Object 34"/>
            <p:cNvGraphicFramePr>
              <a:graphicFrameLocks noChangeAspect="1"/>
            </p:cNvGraphicFramePr>
            <p:nvPr/>
          </p:nvGraphicFramePr>
          <p:xfrm>
            <a:off x="675" y="2885"/>
            <a:ext cx="2337" cy="363"/>
          </p:xfrm>
          <a:graphic>
            <a:graphicData uri="http://schemas.openxmlformats.org/presentationml/2006/ole">
              <p:oleObj spid="_x0000_s27650" name="位图图像" r:id="rId3" imgW="4238095" imgH="571731" progId="PBrush">
                <p:embed/>
              </p:oleObj>
            </a:graphicData>
          </a:graphic>
        </p:graphicFrame>
        <p:sp>
          <p:nvSpPr>
            <p:cNvPr id="598051" name="Text Box 35"/>
            <p:cNvSpPr txBox="1">
              <a:spLocks noChangeArrowheads="1"/>
            </p:cNvSpPr>
            <p:nvPr/>
          </p:nvSpPr>
          <p:spPr bwMode="auto">
            <a:xfrm>
              <a:off x="907" y="3238"/>
              <a:ext cx="1992" cy="277"/>
            </a:xfrm>
            <a:prstGeom prst="rect">
              <a:avLst/>
            </a:prstGeom>
            <a:noFill/>
            <a:ln w="9525">
              <a:noFill/>
              <a:miter lim="800000"/>
              <a:headEnd/>
              <a:tailEnd/>
            </a:ln>
            <a:effectLst/>
          </p:spPr>
          <p:txBody>
            <a:bodyPr/>
            <a:lstStyle/>
            <a:p>
              <a:pPr algn="dist">
                <a:defRPr/>
              </a:pPr>
              <a:r>
                <a:rPr lang="en-US" altLang="zh-CN" sz="1600" b="1">
                  <a:effectLst>
                    <a:outerShdw blurRad="38100" dist="38100" dir="2700000" algn="tl">
                      <a:srgbClr val="C0C0C0"/>
                    </a:outerShdw>
                  </a:effectLst>
                  <a:latin typeface="Times New Roman" pitchFamily="18" charset="0"/>
                </a:rPr>
                <a:t>a)           b)           c)</a:t>
              </a:r>
              <a:endParaRPr lang="en-US" altLang="zh-CN" sz="1600" b="1">
                <a:effectLst>
                  <a:outerShdw blurRad="38100" dist="38100" dir="2700000" algn="tl">
                    <a:srgbClr val="C0C0C0"/>
                  </a:outerShdw>
                </a:effectLst>
              </a:endParaRPr>
            </a:p>
          </p:txBody>
        </p:sp>
        <p:sp>
          <p:nvSpPr>
            <p:cNvPr id="598052" name="Text Box 36"/>
            <p:cNvSpPr txBox="1">
              <a:spLocks noChangeArrowheads="1"/>
            </p:cNvSpPr>
            <p:nvPr/>
          </p:nvSpPr>
          <p:spPr bwMode="auto">
            <a:xfrm>
              <a:off x="731" y="3520"/>
              <a:ext cx="2244" cy="432"/>
            </a:xfrm>
            <a:prstGeom prst="rect">
              <a:avLst/>
            </a:prstGeom>
            <a:noFill/>
            <a:ln w="9525">
              <a:noFill/>
              <a:miter lim="800000"/>
              <a:headEnd/>
              <a:tailEnd/>
            </a:ln>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两衍射斑中心距不同时的光强分布曲线和光强对比度</a:t>
              </a:r>
              <a:endParaRPr lang="zh-CN" altLang="en-US" sz="2000" b="1">
                <a:effectLst>
                  <a:outerShdw blurRad="38100" dist="38100" dir="2700000" algn="tl">
                    <a:srgbClr val="C0C0C0"/>
                  </a:outerShdw>
                </a:effectLst>
              </a:endParaRPr>
            </a:p>
          </p:txBody>
        </p:sp>
        <p:sp>
          <p:nvSpPr>
            <p:cNvPr id="27687" name="Line 37"/>
            <p:cNvSpPr>
              <a:spLocks noChangeShapeType="1"/>
            </p:cNvSpPr>
            <p:nvPr/>
          </p:nvSpPr>
          <p:spPr bwMode="auto">
            <a:xfrm flipV="1">
              <a:off x="3524" y="3107"/>
              <a:ext cx="1699" cy="0"/>
            </a:xfrm>
            <a:prstGeom prst="line">
              <a:avLst/>
            </a:prstGeom>
            <a:noFill/>
            <a:ln w="9525">
              <a:solidFill>
                <a:srgbClr val="000000"/>
              </a:solidFill>
              <a:round/>
              <a:headEnd/>
              <a:tailEnd/>
            </a:ln>
          </p:spPr>
          <p:txBody>
            <a:bodyPr/>
            <a:lstStyle/>
            <a:p>
              <a:endParaRPr lang="zh-CN" altLang="en-US"/>
            </a:p>
          </p:txBody>
        </p:sp>
        <p:sp>
          <p:nvSpPr>
            <p:cNvPr id="27688" name="Line 38"/>
            <p:cNvSpPr>
              <a:spLocks noChangeShapeType="1"/>
            </p:cNvSpPr>
            <p:nvPr/>
          </p:nvSpPr>
          <p:spPr bwMode="auto">
            <a:xfrm>
              <a:off x="4180" y="2013"/>
              <a:ext cx="0" cy="1479"/>
            </a:xfrm>
            <a:prstGeom prst="line">
              <a:avLst/>
            </a:prstGeom>
            <a:noFill/>
            <a:ln w="6350">
              <a:solidFill>
                <a:srgbClr val="000000"/>
              </a:solidFill>
              <a:prstDash val="lgDashDot"/>
              <a:round/>
              <a:headEnd/>
              <a:tailEnd/>
            </a:ln>
          </p:spPr>
          <p:txBody>
            <a:bodyPr/>
            <a:lstStyle/>
            <a:p>
              <a:endParaRPr lang="zh-CN" altLang="en-US"/>
            </a:p>
          </p:txBody>
        </p:sp>
        <p:sp>
          <p:nvSpPr>
            <p:cNvPr id="27689" name="Freeform 39"/>
            <p:cNvSpPr>
              <a:spLocks/>
            </p:cNvSpPr>
            <p:nvPr/>
          </p:nvSpPr>
          <p:spPr bwMode="auto">
            <a:xfrm>
              <a:off x="3599" y="2017"/>
              <a:ext cx="1197" cy="1197"/>
            </a:xfrm>
            <a:custGeom>
              <a:avLst/>
              <a:gdLst>
                <a:gd name="T0" fmla="*/ 0 w 2080"/>
                <a:gd name="T1" fmla="*/ 357 h 2080"/>
                <a:gd name="T2" fmla="*/ 42 w 2080"/>
                <a:gd name="T3" fmla="*/ 329 h 2080"/>
                <a:gd name="T4" fmla="*/ 103 w 2080"/>
                <a:gd name="T5" fmla="*/ 342 h 2080"/>
                <a:gd name="T6" fmla="*/ 192 w 2080"/>
                <a:gd name="T7" fmla="*/ 1 h 2080"/>
                <a:gd name="T8" fmla="*/ 280 w 2080"/>
                <a:gd name="T9" fmla="*/ 338 h 2080"/>
                <a:gd name="T10" fmla="*/ 349 w 2080"/>
                <a:gd name="T11" fmla="*/ 329 h 2080"/>
                <a:gd name="T12" fmla="*/ 397 w 2080"/>
                <a:gd name="T13" fmla="*/ 359 h 2080"/>
                <a:gd name="T14" fmla="*/ 0 60000 65536"/>
                <a:gd name="T15" fmla="*/ 0 60000 65536"/>
                <a:gd name="T16" fmla="*/ 0 60000 65536"/>
                <a:gd name="T17" fmla="*/ 0 60000 65536"/>
                <a:gd name="T18" fmla="*/ 0 60000 65536"/>
                <a:gd name="T19" fmla="*/ 0 60000 65536"/>
                <a:gd name="T20" fmla="*/ 0 60000 65536"/>
                <a:gd name="T21" fmla="*/ 0 w 2080"/>
                <a:gd name="T22" fmla="*/ 0 h 2080"/>
                <a:gd name="T23" fmla="*/ 2080 w 2080"/>
                <a:gd name="T24" fmla="*/ 2080 h 2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80" h="2080">
                  <a:moveTo>
                    <a:pt x="0" y="1873"/>
                  </a:moveTo>
                  <a:cubicBezTo>
                    <a:pt x="35" y="1848"/>
                    <a:pt x="130" y="1736"/>
                    <a:pt x="220" y="1723"/>
                  </a:cubicBezTo>
                  <a:cubicBezTo>
                    <a:pt x="310" y="1710"/>
                    <a:pt x="408" y="2080"/>
                    <a:pt x="540" y="1793"/>
                  </a:cubicBezTo>
                  <a:cubicBezTo>
                    <a:pt x="672" y="1506"/>
                    <a:pt x="855" y="6"/>
                    <a:pt x="1010" y="3"/>
                  </a:cubicBezTo>
                  <a:cubicBezTo>
                    <a:pt x="1165" y="0"/>
                    <a:pt x="1333" y="1486"/>
                    <a:pt x="1470" y="1773"/>
                  </a:cubicBezTo>
                  <a:cubicBezTo>
                    <a:pt x="1607" y="2060"/>
                    <a:pt x="1728" y="1705"/>
                    <a:pt x="1830" y="1723"/>
                  </a:cubicBezTo>
                  <a:cubicBezTo>
                    <a:pt x="1932" y="1741"/>
                    <a:pt x="2028" y="1850"/>
                    <a:pt x="2080" y="1883"/>
                  </a:cubicBezTo>
                </a:path>
              </a:pathLst>
            </a:custGeom>
            <a:noFill/>
            <a:ln w="9525">
              <a:solidFill>
                <a:srgbClr val="000000"/>
              </a:solidFill>
              <a:round/>
              <a:headEnd/>
              <a:tailEnd/>
            </a:ln>
          </p:spPr>
          <p:txBody>
            <a:bodyPr/>
            <a:lstStyle/>
            <a:p>
              <a:endParaRPr lang="zh-CN" altLang="en-US"/>
            </a:p>
          </p:txBody>
        </p:sp>
        <p:sp>
          <p:nvSpPr>
            <p:cNvPr id="27690" name="Line 40"/>
            <p:cNvSpPr>
              <a:spLocks noChangeShapeType="1"/>
            </p:cNvSpPr>
            <p:nvPr/>
          </p:nvSpPr>
          <p:spPr bwMode="auto">
            <a:xfrm>
              <a:off x="4514" y="2013"/>
              <a:ext cx="0" cy="1479"/>
            </a:xfrm>
            <a:prstGeom prst="line">
              <a:avLst/>
            </a:prstGeom>
            <a:noFill/>
            <a:ln w="6350">
              <a:solidFill>
                <a:srgbClr val="000000"/>
              </a:solidFill>
              <a:prstDash val="lgDashDot"/>
              <a:round/>
              <a:headEnd/>
              <a:tailEnd/>
            </a:ln>
          </p:spPr>
          <p:txBody>
            <a:bodyPr/>
            <a:lstStyle/>
            <a:p>
              <a:endParaRPr lang="zh-CN" altLang="en-US"/>
            </a:p>
          </p:txBody>
        </p:sp>
        <p:sp>
          <p:nvSpPr>
            <p:cNvPr id="27691" name="Freeform 41"/>
            <p:cNvSpPr>
              <a:spLocks/>
            </p:cNvSpPr>
            <p:nvPr/>
          </p:nvSpPr>
          <p:spPr bwMode="auto">
            <a:xfrm>
              <a:off x="3933" y="2017"/>
              <a:ext cx="1197" cy="1197"/>
            </a:xfrm>
            <a:custGeom>
              <a:avLst/>
              <a:gdLst>
                <a:gd name="T0" fmla="*/ 0 w 2080"/>
                <a:gd name="T1" fmla="*/ 357 h 2080"/>
                <a:gd name="T2" fmla="*/ 42 w 2080"/>
                <a:gd name="T3" fmla="*/ 329 h 2080"/>
                <a:gd name="T4" fmla="*/ 103 w 2080"/>
                <a:gd name="T5" fmla="*/ 342 h 2080"/>
                <a:gd name="T6" fmla="*/ 192 w 2080"/>
                <a:gd name="T7" fmla="*/ 1 h 2080"/>
                <a:gd name="T8" fmla="*/ 280 w 2080"/>
                <a:gd name="T9" fmla="*/ 338 h 2080"/>
                <a:gd name="T10" fmla="*/ 349 w 2080"/>
                <a:gd name="T11" fmla="*/ 329 h 2080"/>
                <a:gd name="T12" fmla="*/ 397 w 2080"/>
                <a:gd name="T13" fmla="*/ 359 h 2080"/>
                <a:gd name="T14" fmla="*/ 0 60000 65536"/>
                <a:gd name="T15" fmla="*/ 0 60000 65536"/>
                <a:gd name="T16" fmla="*/ 0 60000 65536"/>
                <a:gd name="T17" fmla="*/ 0 60000 65536"/>
                <a:gd name="T18" fmla="*/ 0 60000 65536"/>
                <a:gd name="T19" fmla="*/ 0 60000 65536"/>
                <a:gd name="T20" fmla="*/ 0 60000 65536"/>
                <a:gd name="T21" fmla="*/ 0 w 2080"/>
                <a:gd name="T22" fmla="*/ 0 h 2080"/>
                <a:gd name="T23" fmla="*/ 2080 w 2080"/>
                <a:gd name="T24" fmla="*/ 2080 h 2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80" h="2080">
                  <a:moveTo>
                    <a:pt x="0" y="1873"/>
                  </a:moveTo>
                  <a:cubicBezTo>
                    <a:pt x="35" y="1848"/>
                    <a:pt x="130" y="1736"/>
                    <a:pt x="220" y="1723"/>
                  </a:cubicBezTo>
                  <a:cubicBezTo>
                    <a:pt x="310" y="1710"/>
                    <a:pt x="408" y="2080"/>
                    <a:pt x="540" y="1793"/>
                  </a:cubicBezTo>
                  <a:cubicBezTo>
                    <a:pt x="672" y="1506"/>
                    <a:pt x="855" y="6"/>
                    <a:pt x="1010" y="3"/>
                  </a:cubicBezTo>
                  <a:cubicBezTo>
                    <a:pt x="1165" y="0"/>
                    <a:pt x="1333" y="1486"/>
                    <a:pt x="1470" y="1773"/>
                  </a:cubicBezTo>
                  <a:cubicBezTo>
                    <a:pt x="1607" y="2060"/>
                    <a:pt x="1728" y="1705"/>
                    <a:pt x="1830" y="1723"/>
                  </a:cubicBezTo>
                  <a:cubicBezTo>
                    <a:pt x="1932" y="1741"/>
                    <a:pt x="2028" y="1850"/>
                    <a:pt x="2080" y="1883"/>
                  </a:cubicBezTo>
                </a:path>
              </a:pathLst>
            </a:custGeom>
            <a:noFill/>
            <a:ln w="9525">
              <a:solidFill>
                <a:srgbClr val="000000"/>
              </a:solidFill>
              <a:round/>
              <a:headEnd/>
              <a:tailEnd/>
            </a:ln>
          </p:spPr>
          <p:txBody>
            <a:bodyPr/>
            <a:lstStyle/>
            <a:p>
              <a:endParaRPr lang="zh-CN" altLang="en-US"/>
            </a:p>
          </p:txBody>
        </p:sp>
        <p:sp>
          <p:nvSpPr>
            <p:cNvPr id="27692" name="Line 42"/>
            <p:cNvSpPr>
              <a:spLocks noChangeShapeType="1"/>
            </p:cNvSpPr>
            <p:nvPr/>
          </p:nvSpPr>
          <p:spPr bwMode="auto">
            <a:xfrm>
              <a:off x="4180" y="3383"/>
              <a:ext cx="334"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98059" name="Text Box 43"/>
            <p:cNvSpPr txBox="1">
              <a:spLocks noChangeArrowheads="1"/>
            </p:cNvSpPr>
            <p:nvPr/>
          </p:nvSpPr>
          <p:spPr bwMode="auto">
            <a:xfrm>
              <a:off x="4215" y="3164"/>
              <a:ext cx="282" cy="230"/>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宋体" pitchFamily="2" charset="-122"/>
                </a:rPr>
                <a:t>σ</a:t>
              </a:r>
              <a:endParaRPr lang="en-US" altLang="zh-CN" sz="1600" b="1">
                <a:effectLst>
                  <a:outerShdw blurRad="38100" dist="38100" dir="2700000" algn="tl">
                    <a:srgbClr val="C0C0C0"/>
                  </a:outerShdw>
                </a:effectLst>
              </a:endParaRPr>
            </a:p>
          </p:txBody>
        </p:sp>
        <p:sp>
          <p:nvSpPr>
            <p:cNvPr id="27694" name="Freeform 44"/>
            <p:cNvSpPr>
              <a:spLocks/>
            </p:cNvSpPr>
            <p:nvPr/>
          </p:nvSpPr>
          <p:spPr bwMode="auto">
            <a:xfrm>
              <a:off x="4221" y="2059"/>
              <a:ext cx="259" cy="139"/>
            </a:xfrm>
            <a:custGeom>
              <a:avLst/>
              <a:gdLst>
                <a:gd name="T0" fmla="*/ 0 w 450"/>
                <a:gd name="T1" fmla="*/ 0 h 242"/>
                <a:gd name="T2" fmla="*/ 17 w 450"/>
                <a:gd name="T3" fmla="*/ 28 h 242"/>
                <a:gd name="T4" fmla="*/ 28 w 450"/>
                <a:gd name="T5" fmla="*/ 38 h 242"/>
                <a:gd name="T6" fmla="*/ 44 w 450"/>
                <a:gd name="T7" fmla="*/ 45 h 242"/>
                <a:gd name="T8" fmla="*/ 58 w 450"/>
                <a:gd name="T9" fmla="*/ 40 h 242"/>
                <a:gd name="T10" fmla="*/ 68 w 450"/>
                <a:gd name="T11" fmla="*/ 30 h 242"/>
                <a:gd name="T12" fmla="*/ 76 w 450"/>
                <a:gd name="T13" fmla="*/ 17 h 242"/>
                <a:gd name="T14" fmla="*/ 86 w 450"/>
                <a:gd name="T15" fmla="*/ 0 h 242"/>
                <a:gd name="T16" fmla="*/ 0 60000 65536"/>
                <a:gd name="T17" fmla="*/ 0 60000 65536"/>
                <a:gd name="T18" fmla="*/ 0 60000 65536"/>
                <a:gd name="T19" fmla="*/ 0 60000 65536"/>
                <a:gd name="T20" fmla="*/ 0 60000 65536"/>
                <a:gd name="T21" fmla="*/ 0 60000 65536"/>
                <a:gd name="T22" fmla="*/ 0 60000 65536"/>
                <a:gd name="T23" fmla="*/ 0 60000 65536"/>
                <a:gd name="T24" fmla="*/ 0 w 450"/>
                <a:gd name="T25" fmla="*/ 0 h 242"/>
                <a:gd name="T26" fmla="*/ 450 w 450"/>
                <a:gd name="T27" fmla="*/ 242 h 2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0" h="242">
                  <a:moveTo>
                    <a:pt x="0" y="0"/>
                  </a:moveTo>
                  <a:cubicBezTo>
                    <a:pt x="13" y="25"/>
                    <a:pt x="65" y="117"/>
                    <a:pt x="90" y="150"/>
                  </a:cubicBezTo>
                  <a:cubicBezTo>
                    <a:pt x="115" y="183"/>
                    <a:pt x="127" y="185"/>
                    <a:pt x="150" y="200"/>
                  </a:cubicBezTo>
                  <a:cubicBezTo>
                    <a:pt x="173" y="215"/>
                    <a:pt x="205" y="238"/>
                    <a:pt x="230" y="240"/>
                  </a:cubicBezTo>
                  <a:cubicBezTo>
                    <a:pt x="255" y="242"/>
                    <a:pt x="278" y="223"/>
                    <a:pt x="300" y="210"/>
                  </a:cubicBezTo>
                  <a:cubicBezTo>
                    <a:pt x="322" y="197"/>
                    <a:pt x="343" y="180"/>
                    <a:pt x="360" y="160"/>
                  </a:cubicBezTo>
                  <a:cubicBezTo>
                    <a:pt x="377" y="140"/>
                    <a:pt x="385" y="117"/>
                    <a:pt x="400" y="90"/>
                  </a:cubicBezTo>
                  <a:cubicBezTo>
                    <a:pt x="415" y="63"/>
                    <a:pt x="440" y="19"/>
                    <a:pt x="450" y="0"/>
                  </a:cubicBezTo>
                </a:path>
              </a:pathLst>
            </a:custGeom>
            <a:noFill/>
            <a:ln w="9525">
              <a:solidFill>
                <a:srgbClr val="000000"/>
              </a:solidFill>
              <a:prstDash val="dash"/>
              <a:round/>
              <a:headEnd/>
              <a:tailEnd/>
            </a:ln>
          </p:spPr>
          <p:txBody>
            <a:bodyPr/>
            <a:lstStyle/>
            <a:p>
              <a:endParaRPr lang="zh-CN" altLang="en-US"/>
            </a:p>
          </p:txBody>
        </p:sp>
        <p:sp>
          <p:nvSpPr>
            <p:cNvPr id="27695" name="Freeform 45"/>
            <p:cNvSpPr>
              <a:spLocks/>
            </p:cNvSpPr>
            <p:nvPr/>
          </p:nvSpPr>
          <p:spPr bwMode="auto">
            <a:xfrm>
              <a:off x="4186" y="1877"/>
              <a:ext cx="323" cy="147"/>
            </a:xfrm>
            <a:custGeom>
              <a:avLst/>
              <a:gdLst>
                <a:gd name="T0" fmla="*/ 0 w 560"/>
                <a:gd name="T1" fmla="*/ 47 h 255"/>
                <a:gd name="T2" fmla="*/ 7 w 560"/>
                <a:gd name="T3" fmla="*/ 29 h 255"/>
                <a:gd name="T4" fmla="*/ 17 w 560"/>
                <a:gd name="T5" fmla="*/ 16 h 255"/>
                <a:gd name="T6" fmla="*/ 31 w 560"/>
                <a:gd name="T7" fmla="*/ 7 h 255"/>
                <a:gd name="T8" fmla="*/ 44 w 560"/>
                <a:gd name="T9" fmla="*/ 3 h 255"/>
                <a:gd name="T10" fmla="*/ 63 w 560"/>
                <a:gd name="T11" fmla="*/ 1 h 255"/>
                <a:gd name="T12" fmla="*/ 82 w 560"/>
                <a:gd name="T13" fmla="*/ 9 h 255"/>
                <a:gd name="T14" fmla="*/ 94 w 560"/>
                <a:gd name="T15" fmla="*/ 20 h 255"/>
                <a:gd name="T16" fmla="*/ 100 w 560"/>
                <a:gd name="T17" fmla="*/ 28 h 255"/>
                <a:gd name="T18" fmla="*/ 107 w 560"/>
                <a:gd name="T19" fmla="*/ 49 h 2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0"/>
                <a:gd name="T31" fmla="*/ 0 h 255"/>
                <a:gd name="T32" fmla="*/ 560 w 560"/>
                <a:gd name="T33" fmla="*/ 255 h 25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0" h="255">
                  <a:moveTo>
                    <a:pt x="0" y="245"/>
                  </a:moveTo>
                  <a:cubicBezTo>
                    <a:pt x="12" y="213"/>
                    <a:pt x="25" y="182"/>
                    <a:pt x="40" y="155"/>
                  </a:cubicBezTo>
                  <a:cubicBezTo>
                    <a:pt x="55" y="128"/>
                    <a:pt x="70" y="105"/>
                    <a:pt x="90" y="85"/>
                  </a:cubicBezTo>
                  <a:cubicBezTo>
                    <a:pt x="110" y="65"/>
                    <a:pt x="137" y="47"/>
                    <a:pt x="160" y="35"/>
                  </a:cubicBezTo>
                  <a:cubicBezTo>
                    <a:pt x="183" y="23"/>
                    <a:pt x="202" y="20"/>
                    <a:pt x="230" y="15"/>
                  </a:cubicBezTo>
                  <a:cubicBezTo>
                    <a:pt x="258" y="10"/>
                    <a:pt x="297" y="0"/>
                    <a:pt x="330" y="5"/>
                  </a:cubicBezTo>
                  <a:cubicBezTo>
                    <a:pt x="363" y="10"/>
                    <a:pt x="403" y="28"/>
                    <a:pt x="430" y="45"/>
                  </a:cubicBezTo>
                  <a:cubicBezTo>
                    <a:pt x="457" y="62"/>
                    <a:pt x="475" y="88"/>
                    <a:pt x="490" y="105"/>
                  </a:cubicBezTo>
                  <a:cubicBezTo>
                    <a:pt x="505" y="122"/>
                    <a:pt x="508" y="120"/>
                    <a:pt x="520" y="145"/>
                  </a:cubicBezTo>
                  <a:cubicBezTo>
                    <a:pt x="532" y="170"/>
                    <a:pt x="552" y="232"/>
                    <a:pt x="560" y="255"/>
                  </a:cubicBezTo>
                </a:path>
              </a:pathLst>
            </a:custGeom>
            <a:noFill/>
            <a:ln w="9525">
              <a:solidFill>
                <a:srgbClr val="000000"/>
              </a:solidFill>
              <a:prstDash val="dash"/>
              <a:round/>
              <a:headEnd/>
              <a:tailEnd/>
            </a:ln>
          </p:spPr>
          <p:txBody>
            <a:bodyPr/>
            <a:lstStyle/>
            <a:p>
              <a:endParaRPr lang="zh-CN" altLang="en-US"/>
            </a:p>
          </p:txBody>
        </p:sp>
        <p:sp>
          <p:nvSpPr>
            <p:cNvPr id="27696" name="Freeform 46"/>
            <p:cNvSpPr>
              <a:spLocks/>
            </p:cNvSpPr>
            <p:nvPr/>
          </p:nvSpPr>
          <p:spPr bwMode="auto">
            <a:xfrm>
              <a:off x="4192" y="1978"/>
              <a:ext cx="317" cy="46"/>
            </a:xfrm>
            <a:custGeom>
              <a:avLst/>
              <a:gdLst>
                <a:gd name="T0" fmla="*/ 0 w 550"/>
                <a:gd name="T1" fmla="*/ 15 h 80"/>
                <a:gd name="T2" fmla="*/ 10 w 550"/>
                <a:gd name="T3" fmla="*/ 6 h 80"/>
                <a:gd name="T4" fmla="*/ 19 w 550"/>
                <a:gd name="T5" fmla="*/ 0 h 80"/>
                <a:gd name="T6" fmla="*/ 35 w 550"/>
                <a:gd name="T7" fmla="*/ 6 h 80"/>
                <a:gd name="T8" fmla="*/ 48 w 550"/>
                <a:gd name="T9" fmla="*/ 12 h 80"/>
                <a:gd name="T10" fmla="*/ 61 w 550"/>
                <a:gd name="T11" fmla="*/ 10 h 80"/>
                <a:gd name="T12" fmla="*/ 73 w 550"/>
                <a:gd name="T13" fmla="*/ 6 h 80"/>
                <a:gd name="T14" fmla="*/ 88 w 550"/>
                <a:gd name="T15" fmla="*/ 2 h 80"/>
                <a:gd name="T16" fmla="*/ 105 w 550"/>
                <a:gd name="T17" fmla="*/ 13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0"/>
                <a:gd name="T28" fmla="*/ 0 h 80"/>
                <a:gd name="T29" fmla="*/ 550 w 550"/>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0" h="80">
                  <a:moveTo>
                    <a:pt x="0" y="80"/>
                  </a:moveTo>
                  <a:cubicBezTo>
                    <a:pt x="14" y="61"/>
                    <a:pt x="33" y="43"/>
                    <a:pt x="50" y="30"/>
                  </a:cubicBezTo>
                  <a:cubicBezTo>
                    <a:pt x="67" y="17"/>
                    <a:pt x="78" y="0"/>
                    <a:pt x="100" y="0"/>
                  </a:cubicBezTo>
                  <a:cubicBezTo>
                    <a:pt x="122" y="0"/>
                    <a:pt x="155" y="20"/>
                    <a:pt x="180" y="30"/>
                  </a:cubicBezTo>
                  <a:cubicBezTo>
                    <a:pt x="205" y="40"/>
                    <a:pt x="227" y="57"/>
                    <a:pt x="250" y="60"/>
                  </a:cubicBezTo>
                  <a:cubicBezTo>
                    <a:pt x="273" y="63"/>
                    <a:pt x="298" y="55"/>
                    <a:pt x="320" y="50"/>
                  </a:cubicBezTo>
                  <a:cubicBezTo>
                    <a:pt x="342" y="45"/>
                    <a:pt x="357" y="37"/>
                    <a:pt x="380" y="30"/>
                  </a:cubicBezTo>
                  <a:cubicBezTo>
                    <a:pt x="403" y="23"/>
                    <a:pt x="432" y="3"/>
                    <a:pt x="460" y="10"/>
                  </a:cubicBezTo>
                  <a:cubicBezTo>
                    <a:pt x="488" y="17"/>
                    <a:pt x="531" y="58"/>
                    <a:pt x="550" y="70"/>
                  </a:cubicBezTo>
                </a:path>
              </a:pathLst>
            </a:custGeom>
            <a:noFill/>
            <a:ln w="9525">
              <a:solidFill>
                <a:srgbClr val="000000"/>
              </a:solidFill>
              <a:prstDash val="dash"/>
              <a:round/>
              <a:headEnd/>
              <a:tailEnd/>
            </a:ln>
          </p:spPr>
          <p:txBody>
            <a:bodyPr/>
            <a:lstStyle/>
            <a:p>
              <a:endParaRPr lang="zh-CN" altLang="en-US"/>
            </a:p>
          </p:txBody>
        </p:sp>
        <p:sp>
          <p:nvSpPr>
            <p:cNvPr id="598063" name="Text Box 47"/>
            <p:cNvSpPr txBox="1">
              <a:spLocks noChangeArrowheads="1"/>
            </p:cNvSpPr>
            <p:nvPr/>
          </p:nvSpPr>
          <p:spPr bwMode="auto">
            <a:xfrm>
              <a:off x="3143" y="3554"/>
              <a:ext cx="2410" cy="259"/>
            </a:xfrm>
            <a:prstGeom prst="rect">
              <a:avLst/>
            </a:prstGeom>
            <a:noFill/>
            <a:ln w="9525">
              <a:noFill/>
              <a:miter lim="800000"/>
              <a:headEnd/>
              <a:tailEnd/>
            </a:ln>
          </p:spPr>
          <p:txBody>
            <a:bodyPr/>
            <a:lstStyle/>
            <a:p>
              <a:pPr algn="just">
                <a:defRPr/>
              </a:pPr>
              <a:r>
                <a:rPr lang="zh-CN" altLang="en-US" sz="2000" b="1">
                  <a:effectLst>
                    <a:outerShdw blurRad="38100" dist="38100" dir="2700000" algn="tl">
                      <a:srgbClr val="C0C0C0"/>
                    </a:outerShdw>
                  </a:effectLst>
                  <a:latin typeface="黑体" pitchFamily="2" charset="-122"/>
                  <a:ea typeface="黑体" pitchFamily="2" charset="-122"/>
                </a:rPr>
                <a:t>三种判据的部分合光强分布曲线</a:t>
              </a:r>
              <a:endParaRPr lang="zh-CN" altLang="en-US" sz="2000" b="1">
                <a:effectLst>
                  <a:outerShdw blurRad="38100" dist="38100" dir="2700000" algn="tl">
                    <a:srgbClr val="C0C0C0"/>
                  </a:outerShdw>
                </a:effectLst>
              </a:endParaRPr>
            </a:p>
          </p:txBody>
        </p:sp>
        <p:sp>
          <p:nvSpPr>
            <p:cNvPr id="27698" name="Line 48"/>
            <p:cNvSpPr>
              <a:spLocks noChangeShapeType="1"/>
            </p:cNvSpPr>
            <p:nvPr/>
          </p:nvSpPr>
          <p:spPr bwMode="auto">
            <a:xfrm flipH="1">
              <a:off x="3927" y="2197"/>
              <a:ext cx="432" cy="0"/>
            </a:xfrm>
            <a:prstGeom prst="line">
              <a:avLst/>
            </a:prstGeom>
            <a:noFill/>
            <a:ln w="6350">
              <a:solidFill>
                <a:srgbClr val="000000"/>
              </a:solidFill>
              <a:round/>
              <a:headEnd/>
              <a:tailEnd/>
            </a:ln>
          </p:spPr>
          <p:txBody>
            <a:bodyPr/>
            <a:lstStyle/>
            <a:p>
              <a:endParaRPr lang="zh-CN" altLang="en-US"/>
            </a:p>
          </p:txBody>
        </p:sp>
        <p:sp>
          <p:nvSpPr>
            <p:cNvPr id="598065" name="Text Box 49"/>
            <p:cNvSpPr txBox="1">
              <a:spLocks noChangeArrowheads="1"/>
            </p:cNvSpPr>
            <p:nvPr/>
          </p:nvSpPr>
          <p:spPr bwMode="auto">
            <a:xfrm>
              <a:off x="3033" y="2110"/>
              <a:ext cx="1165" cy="329"/>
            </a:xfrm>
            <a:prstGeom prst="rect">
              <a:avLst/>
            </a:prstGeom>
            <a:noFill/>
            <a:ln w="9525">
              <a:noFill/>
              <a:miter lim="800000"/>
              <a:headEnd/>
              <a:tailEnd/>
            </a:ln>
            <a:effectLst/>
          </p:spPr>
          <p:txBody>
            <a:bodyPr lIns="0" tIns="0" rIns="0" bIns="0"/>
            <a:lstStyle/>
            <a:p>
              <a:pPr algn="just">
                <a:defRPr/>
              </a:pPr>
              <a:r>
                <a:rPr lang="en-US" altLang="zh-CN" sz="1600" b="1">
                  <a:effectLst>
                    <a:outerShdw blurRad="38100" dist="38100" dir="2700000" algn="tl">
                      <a:srgbClr val="C0C0C0"/>
                    </a:outerShdw>
                  </a:effectLst>
                  <a:latin typeface="Times New Roman" pitchFamily="18" charset="0"/>
                </a:rPr>
                <a:t>0.735 </a:t>
              </a:r>
              <a:r>
                <a:rPr lang="zh-CN" altLang="en-US" sz="1600" b="1">
                  <a:effectLst>
                    <a:outerShdw blurRad="38100" dist="38100" dir="2700000" algn="tl">
                      <a:srgbClr val="C0C0C0"/>
                    </a:outerShdw>
                  </a:effectLst>
                  <a:latin typeface="Times New Roman" pitchFamily="18" charset="0"/>
                </a:rPr>
                <a:t>（瑞利）</a:t>
              </a:r>
              <a:endParaRPr lang="zh-CN" altLang="en-US" sz="1600" b="1">
                <a:effectLst>
                  <a:outerShdw blurRad="38100" dist="38100" dir="2700000" algn="tl">
                    <a:srgbClr val="C0C0C0"/>
                  </a:outerShdw>
                </a:effectLst>
              </a:endParaRPr>
            </a:p>
          </p:txBody>
        </p:sp>
        <p:sp>
          <p:nvSpPr>
            <p:cNvPr id="27700" name="Line 50"/>
            <p:cNvSpPr>
              <a:spLocks noChangeShapeType="1"/>
            </p:cNvSpPr>
            <p:nvPr/>
          </p:nvSpPr>
          <p:spPr bwMode="auto">
            <a:xfrm flipH="1">
              <a:off x="3915" y="1874"/>
              <a:ext cx="438" cy="0"/>
            </a:xfrm>
            <a:prstGeom prst="line">
              <a:avLst/>
            </a:prstGeom>
            <a:noFill/>
            <a:ln w="6350">
              <a:solidFill>
                <a:srgbClr val="000000"/>
              </a:solidFill>
              <a:round/>
              <a:headEnd/>
              <a:tailEnd/>
            </a:ln>
          </p:spPr>
          <p:txBody>
            <a:bodyPr/>
            <a:lstStyle/>
            <a:p>
              <a:endParaRPr lang="zh-CN" altLang="en-US"/>
            </a:p>
          </p:txBody>
        </p:sp>
        <p:sp>
          <p:nvSpPr>
            <p:cNvPr id="598067" name="Text Box 51"/>
            <p:cNvSpPr txBox="1">
              <a:spLocks noChangeArrowheads="1"/>
            </p:cNvSpPr>
            <p:nvPr/>
          </p:nvSpPr>
          <p:spPr bwMode="auto">
            <a:xfrm>
              <a:off x="3016" y="1788"/>
              <a:ext cx="1084" cy="328"/>
            </a:xfrm>
            <a:prstGeom prst="rect">
              <a:avLst/>
            </a:prstGeom>
            <a:noFill/>
            <a:ln w="9525">
              <a:noFill/>
              <a:miter lim="800000"/>
              <a:headEnd/>
              <a:tailEnd/>
            </a:ln>
            <a:effectLst/>
          </p:spPr>
          <p:txBody>
            <a:bodyPr lIns="0" tIns="0" rIns="0" bIns="0"/>
            <a:lstStyle/>
            <a:p>
              <a:pPr algn="just">
                <a:defRPr/>
              </a:pPr>
              <a:r>
                <a:rPr lang="en-US" altLang="zh-CN" sz="1600" b="1">
                  <a:effectLst>
                    <a:outerShdw blurRad="38100" dist="38100" dir="2700000" algn="tl">
                      <a:srgbClr val="C0C0C0"/>
                    </a:outerShdw>
                  </a:effectLst>
                  <a:latin typeface="Times New Roman" pitchFamily="18" charset="0"/>
                </a:rPr>
                <a:t>1.118 </a:t>
              </a:r>
              <a:r>
                <a:rPr lang="zh-CN" altLang="en-US" sz="1600" b="1">
                  <a:effectLst>
                    <a:outerShdw blurRad="38100" dist="38100" dir="2700000" algn="tl">
                      <a:srgbClr val="C0C0C0"/>
                    </a:outerShdw>
                  </a:effectLst>
                  <a:latin typeface="Times New Roman" pitchFamily="18" charset="0"/>
                </a:rPr>
                <a:t>（斯派罗）</a:t>
              </a:r>
              <a:endParaRPr lang="zh-CN" altLang="en-US" sz="1600" b="1">
                <a:effectLst>
                  <a:outerShdw blurRad="38100" dist="38100" dir="2700000" algn="tl">
                    <a:srgbClr val="C0C0C0"/>
                  </a:outerShdw>
                </a:effectLst>
              </a:endParaRPr>
            </a:p>
          </p:txBody>
        </p:sp>
        <p:sp>
          <p:nvSpPr>
            <p:cNvPr id="598068" name="Text Box 52"/>
            <p:cNvSpPr txBox="1">
              <a:spLocks noChangeArrowheads="1"/>
            </p:cNvSpPr>
            <p:nvPr/>
          </p:nvSpPr>
          <p:spPr bwMode="auto">
            <a:xfrm>
              <a:off x="3025" y="1943"/>
              <a:ext cx="1155" cy="329"/>
            </a:xfrm>
            <a:prstGeom prst="rect">
              <a:avLst/>
            </a:prstGeom>
            <a:noFill/>
            <a:ln w="9525">
              <a:noFill/>
              <a:miter lim="800000"/>
              <a:headEnd/>
              <a:tailEnd/>
            </a:ln>
            <a:effectLst/>
          </p:spPr>
          <p:txBody>
            <a:bodyPr lIns="0" tIns="0" rIns="0" bIns="0"/>
            <a:lstStyle/>
            <a:p>
              <a:pPr algn="just">
                <a:defRPr/>
              </a:pPr>
              <a:r>
                <a:rPr lang="en-US" altLang="zh-CN" sz="1600" b="1">
                  <a:effectLst>
                    <a:outerShdw blurRad="38100" dist="38100" dir="2700000" algn="tl">
                      <a:srgbClr val="C0C0C0"/>
                    </a:outerShdw>
                  </a:effectLst>
                  <a:latin typeface="Times New Roman" pitchFamily="18" charset="0"/>
                </a:rPr>
                <a:t>1.013 </a:t>
              </a:r>
              <a:r>
                <a:rPr lang="zh-CN" altLang="en-US" sz="1600" b="1">
                  <a:effectLst>
                    <a:outerShdw blurRad="38100" dist="38100" dir="2700000" algn="tl">
                      <a:srgbClr val="C0C0C0"/>
                    </a:outerShdw>
                  </a:effectLst>
                  <a:latin typeface="Times New Roman" pitchFamily="18" charset="0"/>
                </a:rPr>
                <a:t>（道斯）</a:t>
              </a:r>
              <a:endParaRPr lang="zh-CN" altLang="en-US" sz="1600" b="1">
                <a:effectLst>
                  <a:outerShdw blurRad="38100" dist="38100" dir="2700000" algn="tl">
                    <a:srgbClr val="C0C0C0"/>
                  </a:outerShdw>
                </a:effectLst>
              </a:endParaRPr>
            </a:p>
          </p:txBody>
        </p:sp>
        <p:sp>
          <p:nvSpPr>
            <p:cNvPr id="27703" name="Line 53"/>
            <p:cNvSpPr>
              <a:spLocks noChangeShapeType="1"/>
            </p:cNvSpPr>
            <p:nvPr/>
          </p:nvSpPr>
          <p:spPr bwMode="auto">
            <a:xfrm flipH="1">
              <a:off x="3921" y="2018"/>
              <a:ext cx="426" cy="0"/>
            </a:xfrm>
            <a:prstGeom prst="line">
              <a:avLst/>
            </a:prstGeom>
            <a:noFill/>
            <a:ln w="6350">
              <a:solidFill>
                <a:srgbClr val="000000"/>
              </a:solidFill>
              <a:round/>
              <a:headEnd/>
              <a:tailEnd/>
            </a:ln>
          </p:spPr>
          <p:txBody>
            <a:bodyPr/>
            <a:lstStyle/>
            <a:p>
              <a:endParaRPr lang="zh-CN" altLang="en-US"/>
            </a:p>
          </p:txBody>
        </p:sp>
        <p:sp>
          <p:nvSpPr>
            <p:cNvPr id="598070" name="Text Box 54"/>
            <p:cNvSpPr txBox="1">
              <a:spLocks noChangeArrowheads="1"/>
            </p:cNvSpPr>
            <p:nvPr/>
          </p:nvSpPr>
          <p:spPr bwMode="auto">
            <a:xfrm>
              <a:off x="4819" y="1966"/>
              <a:ext cx="556" cy="153"/>
            </a:xfrm>
            <a:prstGeom prst="rect">
              <a:avLst/>
            </a:prstGeom>
            <a:noFill/>
            <a:ln w="9525">
              <a:noFill/>
              <a:miter lim="800000"/>
              <a:headEnd/>
              <a:tailEnd/>
            </a:ln>
            <a:effectLst/>
          </p:spPr>
          <p:txBody>
            <a:bodyPr lIns="0" tIns="0" rIns="0" bIns="0"/>
            <a:lstStyle/>
            <a:p>
              <a:pPr algn="just">
                <a:defRPr/>
              </a:pPr>
              <a:r>
                <a:rPr lang="en-US" altLang="zh-CN" sz="1600" b="1">
                  <a:effectLst>
                    <a:outerShdw blurRad="38100" dist="38100" dir="2700000" algn="tl">
                      <a:srgbClr val="C0C0C0"/>
                    </a:outerShdw>
                  </a:effectLst>
                  <a:latin typeface="Times New Roman" pitchFamily="18" charset="0"/>
                </a:rPr>
                <a:t>1.000</a:t>
              </a:r>
            </a:p>
            <a:p>
              <a:pPr algn="just">
                <a:defRPr/>
              </a:pPr>
              <a:endParaRPr lang="en-US" altLang="zh-CN" sz="1600" b="1">
                <a:effectLst>
                  <a:outerShdw blurRad="38100" dist="38100" dir="2700000" algn="tl">
                    <a:srgbClr val="C0C0C0"/>
                  </a:outerShdw>
                </a:effectLst>
                <a:latin typeface="Times New Roman" pitchFamily="18" charset="0"/>
              </a:endParaRPr>
            </a:p>
            <a:p>
              <a:pPr>
                <a:defRPr/>
              </a:pPr>
              <a:endParaRPr lang="en-US" altLang="zh-CN" sz="1600" b="1">
                <a:effectLst>
                  <a:outerShdw blurRad="38100" dist="38100" dir="2700000" algn="tl">
                    <a:srgbClr val="C0C0C0"/>
                  </a:outerShdw>
                </a:effectLst>
              </a:endParaRPr>
            </a:p>
          </p:txBody>
        </p:sp>
        <p:sp>
          <p:nvSpPr>
            <p:cNvPr id="598071" name="Text Box 55"/>
            <p:cNvSpPr txBox="1">
              <a:spLocks noChangeArrowheads="1"/>
            </p:cNvSpPr>
            <p:nvPr/>
          </p:nvSpPr>
          <p:spPr bwMode="auto">
            <a:xfrm>
              <a:off x="4819" y="1872"/>
              <a:ext cx="424" cy="152"/>
            </a:xfrm>
            <a:prstGeom prst="rect">
              <a:avLst/>
            </a:prstGeom>
            <a:noFill/>
            <a:ln w="9525">
              <a:noFill/>
              <a:miter lim="800000"/>
              <a:headEnd/>
              <a:tailEnd/>
            </a:ln>
            <a:effectLst/>
          </p:spPr>
          <p:txBody>
            <a:bodyPr lIns="0" tIns="0" rIns="0" bIns="0"/>
            <a:lstStyle/>
            <a:p>
              <a:pPr algn="just">
                <a:defRPr/>
              </a:pPr>
              <a:r>
                <a:rPr lang="en-US" altLang="zh-CN" sz="1600" b="1">
                  <a:effectLst>
                    <a:outerShdw blurRad="38100" dist="38100" dir="2700000" algn="tl">
                      <a:srgbClr val="C0C0C0"/>
                    </a:outerShdw>
                  </a:effectLst>
                  <a:latin typeface="Times New Roman" pitchFamily="18" charset="0"/>
                </a:rPr>
                <a:t>1.045</a:t>
              </a:r>
              <a:endParaRPr lang="en-US" altLang="zh-CN" sz="1600" b="1">
                <a:effectLst>
                  <a:outerShdw blurRad="38100" dist="38100" dir="2700000" algn="tl">
                    <a:srgbClr val="C0C0C0"/>
                  </a:outerShdw>
                </a:effectLst>
              </a:endParaRPr>
            </a:p>
          </p:txBody>
        </p:sp>
        <p:sp>
          <p:nvSpPr>
            <p:cNvPr id="27706" name="Line 56"/>
            <p:cNvSpPr>
              <a:spLocks noChangeShapeType="1"/>
            </p:cNvSpPr>
            <p:nvPr/>
          </p:nvSpPr>
          <p:spPr bwMode="auto">
            <a:xfrm flipV="1">
              <a:off x="4457" y="1984"/>
              <a:ext cx="334" cy="0"/>
            </a:xfrm>
            <a:prstGeom prst="line">
              <a:avLst/>
            </a:prstGeom>
            <a:noFill/>
            <a:ln w="6350">
              <a:solidFill>
                <a:srgbClr val="000000"/>
              </a:solidFill>
              <a:round/>
              <a:headEnd/>
              <a:tailEnd/>
            </a:ln>
          </p:spPr>
          <p:txBody>
            <a:bodyPr/>
            <a:lstStyle/>
            <a:p>
              <a:endParaRPr lang="zh-CN" altLang="en-US"/>
            </a:p>
          </p:txBody>
        </p:sp>
        <p:sp>
          <p:nvSpPr>
            <p:cNvPr id="27707" name="Line 57"/>
            <p:cNvSpPr>
              <a:spLocks noChangeShapeType="1"/>
            </p:cNvSpPr>
            <p:nvPr/>
          </p:nvSpPr>
          <p:spPr bwMode="auto">
            <a:xfrm>
              <a:off x="4520" y="2024"/>
              <a:ext cx="276" cy="0"/>
            </a:xfrm>
            <a:prstGeom prst="line">
              <a:avLst/>
            </a:prstGeom>
            <a:noFill/>
            <a:ln w="6350">
              <a:solidFill>
                <a:srgbClr val="000000"/>
              </a:solidFill>
              <a:round/>
              <a:headEnd/>
              <a:tailEnd/>
            </a:ln>
          </p:spPr>
          <p:txBody>
            <a:bodyPr/>
            <a:lstStyle/>
            <a:p>
              <a:endParaRPr lang="zh-CN" altLang="en-US"/>
            </a:p>
          </p:txBody>
        </p:sp>
      </p:grpSp>
      <p:pic>
        <p:nvPicPr>
          <p:cNvPr id="27709" name="Picture 61" descr="http://nhjy.hzau.edu.cn/kech/dxwl/study/phyclass/lightbodong/iframe/lightyanshe/movie/ruilipju.jpg"/>
          <p:cNvPicPr>
            <a:picLocks noChangeAspect="1" noChangeArrowheads="1"/>
          </p:cNvPicPr>
          <p:nvPr/>
        </p:nvPicPr>
        <p:blipFill>
          <a:blip r:embed="rId4" cstate="print"/>
          <a:srcRect l="2075" t="37396" r="1832" b="9751"/>
          <a:stretch>
            <a:fillRect/>
          </a:stretch>
        </p:blipFill>
        <p:spPr bwMode="auto">
          <a:xfrm>
            <a:off x="6962776" y="1217902"/>
            <a:ext cx="1924050" cy="677572"/>
          </a:xfrm>
          <a:prstGeom prst="rect">
            <a:avLst/>
          </a:prstGeom>
          <a:noFill/>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7" name="日期占位符 3"/>
          <p:cNvSpPr>
            <a:spLocks noGrp="1"/>
          </p:cNvSpPr>
          <p:nvPr>
            <p:ph type="dt" sz="quarter" idx="10"/>
          </p:nvPr>
        </p:nvSpPr>
        <p:spPr>
          <a:noFill/>
        </p:spPr>
        <p:txBody>
          <a:bodyPr/>
          <a:lstStyle/>
          <a:p>
            <a:fld id="{98ECDEAF-2ABD-4150-A168-399A201FDA62}" type="datetime1">
              <a:rPr lang="zh-CN" altLang="en-US" smtClean="0"/>
              <a:pPr/>
              <a:t>2018/2/24</a:t>
            </a:fld>
            <a:endParaRPr lang="en-US" altLang="zh-CN" smtClean="0"/>
          </a:p>
        </p:txBody>
      </p:sp>
      <p:sp>
        <p:nvSpPr>
          <p:cNvPr id="28678" name="灯片编号占位符 5"/>
          <p:cNvSpPr>
            <a:spLocks noGrp="1"/>
          </p:cNvSpPr>
          <p:nvPr>
            <p:ph type="sldNum" sz="quarter" idx="12"/>
          </p:nvPr>
        </p:nvSpPr>
        <p:spPr>
          <a:noFill/>
        </p:spPr>
        <p:txBody>
          <a:bodyPr/>
          <a:lstStyle/>
          <a:p>
            <a:fld id="{37E2E9C1-98A9-45EC-B4F0-1CE5E47EA1E9}" type="slidenum">
              <a:rPr lang="en-US" altLang="zh-CN" smtClean="0"/>
              <a:pPr/>
              <a:t>49</a:t>
            </a:fld>
            <a:endParaRPr lang="en-US" altLang="zh-CN" smtClean="0"/>
          </a:p>
        </p:txBody>
      </p:sp>
      <p:sp>
        <p:nvSpPr>
          <p:cNvPr id="599043" name="Rectangle 3"/>
          <p:cNvSpPr>
            <a:spLocks noGrp="1" noRot="1" noChangeArrowheads="1"/>
          </p:cNvSpPr>
          <p:nvPr>
            <p:ph type="body" idx="1"/>
          </p:nvPr>
        </p:nvSpPr>
        <p:spPr>
          <a:xfrm>
            <a:off x="471488" y="2132013"/>
            <a:ext cx="8229600" cy="4319587"/>
          </a:xfrm>
        </p:spPr>
        <p:txBody>
          <a:bodyPr/>
          <a:lstStyle/>
          <a:p>
            <a:pPr eaLnBrk="1" hangingPunct="1">
              <a:lnSpc>
                <a:spcPct val="90000"/>
              </a:lnSpc>
              <a:defRPr/>
            </a:pPr>
            <a:r>
              <a:rPr lang="zh-CN" altLang="en-US" smtClean="0">
                <a:latin typeface="Times New Roman" pitchFamily="18" charset="0"/>
                <a:ea typeface="黑体" pitchFamily="2" charset="-122"/>
              </a:rPr>
              <a:t>瑞利（</a:t>
            </a:r>
            <a:r>
              <a:rPr lang="en-US" altLang="zh-CN" smtClean="0">
                <a:latin typeface="Times New Roman" pitchFamily="18" charset="0"/>
                <a:ea typeface="黑体" pitchFamily="2" charset="-122"/>
              </a:rPr>
              <a:t>Rayleigh</a:t>
            </a:r>
            <a:r>
              <a:rPr lang="zh-CN" altLang="en-US" smtClean="0">
                <a:latin typeface="Times New Roman" pitchFamily="18" charset="0"/>
                <a:ea typeface="黑体" pitchFamily="2" charset="-122"/>
              </a:rPr>
              <a:t>）认为，当两衍射斑中心距正好等于第一暗环的半径时，人眼刚能分辨开这两个像点，这时两衍射斑的中心距为</a:t>
            </a:r>
          </a:p>
          <a:p>
            <a:pPr eaLnBrk="1" hangingPunct="1">
              <a:lnSpc>
                <a:spcPct val="90000"/>
              </a:lnSpc>
              <a:defRPr/>
            </a:pPr>
            <a:endParaRPr lang="zh-CN" altLang="en-US" smtClean="0">
              <a:latin typeface="Times New Roman" pitchFamily="18" charset="0"/>
              <a:ea typeface="黑体" pitchFamily="2" charset="-122"/>
            </a:endParaRPr>
          </a:p>
          <a:p>
            <a:pPr eaLnBrk="1" hangingPunct="1">
              <a:lnSpc>
                <a:spcPct val="90000"/>
              </a:lnSpc>
              <a:defRPr/>
            </a:pPr>
            <a:r>
              <a:rPr lang="zh-CN" altLang="en-US" smtClean="0">
                <a:latin typeface="Times New Roman" pitchFamily="18" charset="0"/>
                <a:ea typeface="黑体" pitchFamily="2" charset="-122"/>
              </a:rPr>
              <a:t>道斯（</a:t>
            </a:r>
            <a:r>
              <a:rPr lang="en-US" altLang="zh-CN" smtClean="0">
                <a:latin typeface="Times New Roman" pitchFamily="18" charset="0"/>
                <a:ea typeface="黑体" pitchFamily="2" charset="-122"/>
              </a:rPr>
              <a:t>Dawes</a:t>
            </a:r>
            <a:r>
              <a:rPr lang="zh-CN" altLang="en-US" smtClean="0">
                <a:latin typeface="Times New Roman" pitchFamily="18" charset="0"/>
                <a:ea typeface="黑体" pitchFamily="2" charset="-122"/>
              </a:rPr>
              <a:t>）判据认为，人眼刚能分辨两个衍射像点的最小中心距为</a:t>
            </a:r>
          </a:p>
          <a:p>
            <a:pPr eaLnBrk="1" hangingPunct="1">
              <a:lnSpc>
                <a:spcPct val="90000"/>
              </a:lnSpc>
              <a:defRPr/>
            </a:pPr>
            <a:endParaRPr lang="zh-CN" altLang="en-US" smtClean="0">
              <a:latin typeface="Times New Roman" pitchFamily="18" charset="0"/>
              <a:ea typeface="黑体" pitchFamily="2" charset="-122"/>
            </a:endParaRPr>
          </a:p>
          <a:p>
            <a:pPr eaLnBrk="1" hangingPunct="1">
              <a:lnSpc>
                <a:spcPct val="90000"/>
              </a:lnSpc>
              <a:defRPr/>
            </a:pPr>
            <a:r>
              <a:rPr lang="zh-CN" altLang="en-US" smtClean="0">
                <a:latin typeface="Times New Roman" pitchFamily="18" charset="0"/>
                <a:ea typeface="黑体" pitchFamily="2" charset="-122"/>
              </a:rPr>
              <a:t>斯派罗（</a:t>
            </a:r>
            <a:r>
              <a:rPr lang="en-US" altLang="zh-CN" smtClean="0">
                <a:latin typeface="Times New Roman" pitchFamily="18" charset="0"/>
                <a:ea typeface="黑体" pitchFamily="2" charset="-122"/>
              </a:rPr>
              <a:t>Sparrow</a:t>
            </a:r>
            <a:r>
              <a:rPr lang="zh-CN" altLang="en-US" smtClean="0">
                <a:latin typeface="Times New Roman" pitchFamily="18" charset="0"/>
                <a:ea typeface="黑体" pitchFamily="2" charset="-122"/>
              </a:rPr>
              <a:t>）判据认为，当两个衍射斑之间的合光强刚好不出现下凹时为刚可分辨的极限情况，两衍射斑之间的最小中心距为</a:t>
            </a:r>
          </a:p>
        </p:txBody>
      </p:sp>
      <p:sp>
        <p:nvSpPr>
          <p:cNvPr id="28681"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99045" name="Object 5"/>
          <p:cNvGraphicFramePr>
            <a:graphicFrameLocks noChangeAspect="1"/>
          </p:cNvGraphicFramePr>
          <p:nvPr/>
        </p:nvGraphicFramePr>
        <p:xfrm>
          <a:off x="3275013" y="2905125"/>
          <a:ext cx="2609850" cy="690563"/>
        </p:xfrm>
        <a:graphic>
          <a:graphicData uri="http://schemas.openxmlformats.org/presentationml/2006/ole">
            <p:oleObj spid="_x0000_s28674" name="公式" r:id="rId3" imgW="35357117" imgH="9449117" progId="Equation.3">
              <p:embed/>
            </p:oleObj>
          </a:graphicData>
        </a:graphic>
      </p:graphicFrame>
      <p:sp>
        <p:nvSpPr>
          <p:cNvPr id="28682"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99047" name="Object 7"/>
          <p:cNvGraphicFramePr>
            <a:graphicFrameLocks noChangeAspect="1"/>
          </p:cNvGraphicFramePr>
          <p:nvPr/>
        </p:nvGraphicFramePr>
        <p:xfrm>
          <a:off x="3667125" y="4144963"/>
          <a:ext cx="1817688" cy="501650"/>
        </p:xfrm>
        <a:graphic>
          <a:graphicData uri="http://schemas.openxmlformats.org/presentationml/2006/ole">
            <p:oleObj spid="_x0000_s28675" name="公式" r:id="rId4" imgW="19812317" imgH="5486717" progId="Equation.3">
              <p:embed/>
            </p:oleObj>
          </a:graphicData>
        </a:graphic>
      </p:graphicFrame>
      <p:sp>
        <p:nvSpPr>
          <p:cNvPr id="28683" name="Rectangle 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99049" name="Object 9"/>
          <p:cNvGraphicFramePr>
            <a:graphicFrameLocks noChangeAspect="1"/>
          </p:cNvGraphicFramePr>
          <p:nvPr/>
        </p:nvGraphicFramePr>
        <p:xfrm>
          <a:off x="3600450" y="5630863"/>
          <a:ext cx="1957388" cy="490537"/>
        </p:xfrm>
        <a:graphic>
          <a:graphicData uri="http://schemas.openxmlformats.org/presentationml/2006/ole">
            <p:oleObj spid="_x0000_s28676" name="公式" r:id="rId5" imgW="21945917" imgH="5486717" progId="Equation.3">
              <p:embed/>
            </p:oleObj>
          </a:graphicData>
        </a:graphic>
      </p:graphicFrame>
      <p:sp>
        <p:nvSpPr>
          <p:cNvPr id="13" name="Rectangle 2"/>
          <p:cNvSpPr>
            <a:spLocks noGrp="1" noRot="1" noChangeArrowheads="1"/>
          </p:cNvSpPr>
          <p:nvPr>
            <p:ph type="title"/>
          </p:nvPr>
        </p:nvSpPr>
        <p:spPr>
          <a:xfrm>
            <a:off x="742950" y="4730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衍射受限系统的分辨率</a:t>
            </a:r>
            <a:endParaRPr lang="zh-CN" altLang="en-US" sz="36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99045"/>
                                        </p:tgtEl>
                                        <p:attrNameLst>
                                          <p:attrName>style.visibility</p:attrName>
                                        </p:attrNameLst>
                                      </p:cBhvr>
                                      <p:to>
                                        <p:strVal val="visible"/>
                                      </p:to>
                                    </p:set>
                                    <p:anim calcmode="lin" valueType="num">
                                      <p:cBhvr additive="base">
                                        <p:cTn id="7" dur="500" fill="hold"/>
                                        <p:tgtEl>
                                          <p:spTgt spid="599045"/>
                                        </p:tgtEl>
                                        <p:attrNameLst>
                                          <p:attrName>ppt_x</p:attrName>
                                        </p:attrNameLst>
                                      </p:cBhvr>
                                      <p:tavLst>
                                        <p:tav tm="0">
                                          <p:val>
                                            <p:strVal val="#ppt_x"/>
                                          </p:val>
                                        </p:tav>
                                        <p:tav tm="100000">
                                          <p:val>
                                            <p:strVal val="#ppt_x"/>
                                          </p:val>
                                        </p:tav>
                                      </p:tavLst>
                                    </p:anim>
                                    <p:anim calcmode="lin" valueType="num">
                                      <p:cBhvr additive="base">
                                        <p:cTn id="8" dur="500" fill="hold"/>
                                        <p:tgtEl>
                                          <p:spTgt spid="5990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99047"/>
                                        </p:tgtEl>
                                        <p:attrNameLst>
                                          <p:attrName>style.visibility</p:attrName>
                                        </p:attrNameLst>
                                      </p:cBhvr>
                                      <p:to>
                                        <p:strVal val="visible"/>
                                      </p:to>
                                    </p:set>
                                    <p:anim calcmode="lin" valueType="num">
                                      <p:cBhvr additive="base">
                                        <p:cTn id="11" dur="500" fill="hold"/>
                                        <p:tgtEl>
                                          <p:spTgt spid="599047"/>
                                        </p:tgtEl>
                                        <p:attrNameLst>
                                          <p:attrName>ppt_x</p:attrName>
                                        </p:attrNameLst>
                                      </p:cBhvr>
                                      <p:tavLst>
                                        <p:tav tm="0">
                                          <p:val>
                                            <p:strVal val="#ppt_x"/>
                                          </p:val>
                                        </p:tav>
                                        <p:tav tm="100000">
                                          <p:val>
                                            <p:strVal val="#ppt_x"/>
                                          </p:val>
                                        </p:tav>
                                      </p:tavLst>
                                    </p:anim>
                                    <p:anim calcmode="lin" valueType="num">
                                      <p:cBhvr additive="base">
                                        <p:cTn id="12" dur="500" fill="hold"/>
                                        <p:tgtEl>
                                          <p:spTgt spid="59904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99049"/>
                                        </p:tgtEl>
                                        <p:attrNameLst>
                                          <p:attrName>style.visibility</p:attrName>
                                        </p:attrNameLst>
                                      </p:cBhvr>
                                      <p:to>
                                        <p:strVal val="visible"/>
                                      </p:to>
                                    </p:set>
                                    <p:anim calcmode="lin" valueType="num">
                                      <p:cBhvr additive="base">
                                        <p:cTn id="15" dur="500" fill="hold"/>
                                        <p:tgtEl>
                                          <p:spTgt spid="599049"/>
                                        </p:tgtEl>
                                        <p:attrNameLst>
                                          <p:attrName>ppt_x</p:attrName>
                                        </p:attrNameLst>
                                      </p:cBhvr>
                                      <p:tavLst>
                                        <p:tav tm="0">
                                          <p:val>
                                            <p:strVal val="#ppt_x"/>
                                          </p:val>
                                        </p:tav>
                                        <p:tav tm="100000">
                                          <p:val>
                                            <p:strVal val="#ppt_x"/>
                                          </p:val>
                                        </p:tav>
                                      </p:tavLst>
                                    </p:anim>
                                    <p:anim calcmode="lin" valueType="num">
                                      <p:cBhvr additive="base">
                                        <p:cTn id="16" dur="500" fill="hold"/>
                                        <p:tgtEl>
                                          <p:spTgt spid="5990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1" name="日期占位符 3"/>
          <p:cNvSpPr>
            <a:spLocks noGrp="1"/>
          </p:cNvSpPr>
          <p:nvPr>
            <p:ph type="dt" sz="quarter" idx="10"/>
          </p:nvPr>
        </p:nvSpPr>
        <p:spPr>
          <a:noFill/>
        </p:spPr>
        <p:txBody>
          <a:bodyPr/>
          <a:lstStyle/>
          <a:p>
            <a:fld id="{4AD486BB-F6F1-4184-AAAA-D8FAAC7D2617}" type="datetime1">
              <a:rPr lang="zh-CN" altLang="en-US" smtClean="0"/>
              <a:pPr/>
              <a:t>2018/2/24</a:t>
            </a:fld>
            <a:endParaRPr lang="en-US" altLang="zh-CN" smtClean="0"/>
          </a:p>
        </p:txBody>
      </p:sp>
      <p:sp>
        <p:nvSpPr>
          <p:cNvPr id="29702" name="灯片编号占位符 5"/>
          <p:cNvSpPr>
            <a:spLocks noGrp="1"/>
          </p:cNvSpPr>
          <p:nvPr>
            <p:ph type="sldNum" sz="quarter" idx="12"/>
          </p:nvPr>
        </p:nvSpPr>
        <p:spPr>
          <a:noFill/>
        </p:spPr>
        <p:txBody>
          <a:bodyPr/>
          <a:lstStyle/>
          <a:p>
            <a:fld id="{14D20C73-A6FC-4BA0-8542-007B7CCE969A}" type="slidenum">
              <a:rPr lang="en-US" altLang="zh-CN" smtClean="0"/>
              <a:pPr/>
              <a:t>50</a:t>
            </a:fld>
            <a:endParaRPr lang="en-US" altLang="zh-CN" smtClean="0"/>
          </a:p>
        </p:txBody>
      </p:sp>
      <p:sp>
        <p:nvSpPr>
          <p:cNvPr id="600067" name="Rectangle 3"/>
          <p:cNvSpPr>
            <a:spLocks noGrp="1" noRot="1" noChangeArrowheads="1"/>
          </p:cNvSpPr>
          <p:nvPr>
            <p:ph type="body" idx="1"/>
          </p:nvPr>
        </p:nvSpPr>
        <p:spPr>
          <a:xfrm>
            <a:off x="471488" y="2132013"/>
            <a:ext cx="8229600" cy="4319587"/>
          </a:xfrm>
        </p:spPr>
        <p:txBody>
          <a:bodyPr/>
          <a:lstStyle/>
          <a:p>
            <a:pPr eaLnBrk="1" hangingPunct="1">
              <a:lnSpc>
                <a:spcPct val="110000"/>
              </a:lnSpc>
              <a:defRPr/>
            </a:pPr>
            <a:r>
              <a:rPr lang="zh-CN" altLang="en-US" smtClean="0">
                <a:latin typeface="Times New Roman" pitchFamily="18" charset="0"/>
                <a:ea typeface="黑体" pitchFamily="2" charset="-122"/>
              </a:rPr>
              <a:t>实际工作中，由于光学系统的种类不同，用途不同，分辨率的具体表示形式也不同：</a:t>
            </a:r>
          </a:p>
          <a:p>
            <a:pPr lvl="1" eaLnBrk="1" hangingPunct="1">
              <a:lnSpc>
                <a:spcPct val="110000"/>
              </a:lnSpc>
              <a:defRPr/>
            </a:pPr>
            <a:r>
              <a:rPr lang="zh-CN" altLang="en-US" smtClean="0">
                <a:solidFill>
                  <a:srgbClr val="FF0000"/>
                </a:solidFill>
                <a:latin typeface="Times New Roman" pitchFamily="18" charset="0"/>
                <a:ea typeface="黑体" pitchFamily="2" charset="-122"/>
              </a:rPr>
              <a:t>望远系统</a:t>
            </a:r>
            <a:r>
              <a:rPr lang="zh-CN" altLang="en-US" smtClean="0">
                <a:latin typeface="Times New Roman" pitchFamily="18" charset="0"/>
                <a:ea typeface="黑体" pitchFamily="2" charset="-122"/>
              </a:rPr>
              <a:t>，由于物体位于无限远，所以用角距离表示刚能分辨的两点间的最小距离，即以望远物镜</a:t>
            </a:r>
            <a:r>
              <a:rPr lang="zh-CN" altLang="en-US" smtClean="0">
                <a:solidFill>
                  <a:srgbClr val="FF0000"/>
                </a:solidFill>
                <a:latin typeface="Times New Roman" pitchFamily="18" charset="0"/>
                <a:ea typeface="黑体" pitchFamily="2" charset="-122"/>
              </a:rPr>
              <a:t>后焦面</a:t>
            </a:r>
            <a:r>
              <a:rPr lang="zh-CN" altLang="en-US" smtClean="0">
                <a:latin typeface="Times New Roman" pitchFamily="18" charset="0"/>
                <a:ea typeface="黑体" pitchFamily="2" charset="-122"/>
              </a:rPr>
              <a:t>上</a:t>
            </a:r>
          </a:p>
          <a:p>
            <a:pPr lvl="1" eaLnBrk="1" hangingPunct="1">
              <a:lnSpc>
                <a:spcPct val="110000"/>
              </a:lnSpc>
              <a:buFont typeface="Wingdings" pitchFamily="2" charset="2"/>
              <a:buNone/>
              <a:defRPr/>
            </a:pPr>
            <a:r>
              <a:rPr lang="zh-CN" altLang="en-US" smtClean="0">
                <a:latin typeface="Times New Roman" pitchFamily="18" charset="0"/>
                <a:ea typeface="黑体" pitchFamily="2" charset="-122"/>
              </a:rPr>
              <a:t>    两衍射斑的中心距对物镜后主点的张角</a:t>
            </a:r>
            <a:r>
              <a:rPr lang="en-US" altLang="zh-CN" i="1" smtClean="0">
                <a:latin typeface="Times New Roman" pitchFamily="18" charset="0"/>
                <a:ea typeface="黑体" pitchFamily="2" charset="-122"/>
              </a:rPr>
              <a:t>a</a:t>
            </a:r>
            <a:r>
              <a:rPr lang="zh-CN" altLang="en-US" smtClean="0">
                <a:latin typeface="Times New Roman" pitchFamily="18" charset="0"/>
                <a:ea typeface="黑体" pitchFamily="2" charset="-122"/>
              </a:rPr>
              <a:t>表示</a:t>
            </a:r>
          </a:p>
          <a:p>
            <a:pPr lvl="1" eaLnBrk="1" hangingPunct="1">
              <a:lnSpc>
                <a:spcPct val="110000"/>
              </a:lnSpc>
              <a:defRPr/>
            </a:pPr>
            <a:endParaRPr lang="zh-CN" altLang="en-US" smtClean="0">
              <a:latin typeface="Times New Roman" pitchFamily="18" charset="0"/>
              <a:ea typeface="黑体" pitchFamily="2" charset="-122"/>
            </a:endParaRPr>
          </a:p>
          <a:p>
            <a:pPr lvl="1" eaLnBrk="1" hangingPunct="1">
              <a:lnSpc>
                <a:spcPct val="110000"/>
              </a:lnSpc>
              <a:defRPr/>
            </a:pPr>
            <a:r>
              <a:rPr lang="zh-CN" altLang="en-US" smtClean="0">
                <a:solidFill>
                  <a:srgbClr val="FF0000"/>
                </a:solidFill>
                <a:latin typeface="Times New Roman" pitchFamily="18" charset="0"/>
                <a:ea typeface="黑体" pitchFamily="2" charset="-122"/>
              </a:rPr>
              <a:t>照相系统</a:t>
            </a:r>
            <a:r>
              <a:rPr lang="zh-CN" altLang="en-US" smtClean="0">
                <a:latin typeface="Times New Roman" pitchFamily="18" charset="0"/>
                <a:ea typeface="黑体" pitchFamily="2" charset="-122"/>
              </a:rPr>
              <a:t>以</a:t>
            </a:r>
            <a:r>
              <a:rPr lang="zh-CN" altLang="en-US" smtClean="0">
                <a:solidFill>
                  <a:srgbClr val="FF0000"/>
                </a:solidFill>
                <a:latin typeface="Times New Roman" pitchFamily="18" charset="0"/>
                <a:ea typeface="黑体" pitchFamily="2" charset="-122"/>
              </a:rPr>
              <a:t>像面</a:t>
            </a:r>
            <a:r>
              <a:rPr lang="zh-CN" altLang="en-US" smtClean="0">
                <a:latin typeface="Times New Roman" pitchFamily="18" charset="0"/>
                <a:ea typeface="黑体" pitchFamily="2" charset="-122"/>
              </a:rPr>
              <a:t>上刚能分辨的两衍射斑中心</a:t>
            </a:r>
          </a:p>
          <a:p>
            <a:pPr lvl="1" eaLnBrk="1" hangingPunct="1">
              <a:lnSpc>
                <a:spcPct val="110000"/>
              </a:lnSpc>
              <a:buFont typeface="Wingdings" pitchFamily="2" charset="2"/>
              <a:buNone/>
              <a:defRPr/>
            </a:pPr>
            <a:r>
              <a:rPr lang="zh-CN" altLang="en-US" smtClean="0">
                <a:latin typeface="Times New Roman" pitchFamily="18" charset="0"/>
                <a:ea typeface="黑体" pitchFamily="2" charset="-122"/>
              </a:rPr>
              <a:t>                                             距的倒数表示分辨率</a:t>
            </a:r>
          </a:p>
          <a:p>
            <a:pPr lvl="1" eaLnBrk="1" hangingPunct="1">
              <a:lnSpc>
                <a:spcPct val="110000"/>
              </a:lnSpc>
              <a:defRPr/>
            </a:pPr>
            <a:r>
              <a:rPr lang="zh-CN" altLang="en-US" smtClean="0">
                <a:solidFill>
                  <a:srgbClr val="FF0000"/>
                </a:solidFill>
                <a:latin typeface="Times New Roman" pitchFamily="18" charset="0"/>
                <a:ea typeface="黑体" pitchFamily="2" charset="-122"/>
              </a:rPr>
              <a:t>显微系统</a:t>
            </a:r>
            <a:r>
              <a:rPr lang="zh-CN" altLang="en-US" smtClean="0">
                <a:latin typeface="Times New Roman" pitchFamily="18" charset="0"/>
                <a:ea typeface="黑体" pitchFamily="2" charset="-122"/>
              </a:rPr>
              <a:t>则直接以刚能分辨开的两</a:t>
            </a:r>
            <a:r>
              <a:rPr lang="zh-CN" altLang="en-US" smtClean="0">
                <a:solidFill>
                  <a:srgbClr val="FF0000"/>
                </a:solidFill>
                <a:latin typeface="Times New Roman" pitchFamily="18" charset="0"/>
                <a:ea typeface="黑体" pitchFamily="2" charset="-122"/>
              </a:rPr>
              <a:t>物点间</a:t>
            </a:r>
            <a:r>
              <a:rPr lang="zh-CN" altLang="en-US" smtClean="0">
                <a:latin typeface="Times New Roman" pitchFamily="18" charset="0"/>
                <a:ea typeface="黑体" pitchFamily="2" charset="-122"/>
              </a:rPr>
              <a:t>的</a:t>
            </a:r>
          </a:p>
          <a:p>
            <a:pPr lvl="1" eaLnBrk="1" hangingPunct="1">
              <a:lnSpc>
                <a:spcPct val="110000"/>
              </a:lnSpc>
              <a:buFont typeface="Wingdings" pitchFamily="2" charset="2"/>
              <a:buNone/>
              <a:defRPr/>
            </a:pPr>
            <a:r>
              <a:rPr lang="zh-CN" altLang="en-US" smtClean="0">
                <a:latin typeface="Times New Roman" pitchFamily="18" charset="0"/>
                <a:ea typeface="黑体" pitchFamily="2" charset="-122"/>
              </a:rPr>
              <a:t>                                                     距离表示分辨率</a:t>
            </a:r>
          </a:p>
        </p:txBody>
      </p:sp>
      <p:sp>
        <p:nvSpPr>
          <p:cNvPr id="29705"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29706"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29707" name="Rectangle 6"/>
          <p:cNvSpPr>
            <a:spLocks noChangeArrowheads="1"/>
          </p:cNvSpPr>
          <p:nvPr/>
        </p:nvSpPr>
        <p:spPr bwMode="auto">
          <a:xfrm>
            <a:off x="392113" y="3298825"/>
            <a:ext cx="9144000" cy="0"/>
          </a:xfrm>
          <a:prstGeom prst="rect">
            <a:avLst/>
          </a:prstGeom>
          <a:noFill/>
          <a:ln w="9525">
            <a:noFill/>
            <a:miter lim="800000"/>
            <a:headEnd/>
            <a:tailEnd/>
          </a:ln>
        </p:spPr>
        <p:txBody>
          <a:bodyPr wrap="none" anchor="ctr">
            <a:spAutoFit/>
          </a:bodyPr>
          <a:lstStyle/>
          <a:p>
            <a:endParaRPr lang="zh-CN" altLang="en-US"/>
          </a:p>
        </p:txBody>
      </p:sp>
      <p:sp>
        <p:nvSpPr>
          <p:cNvPr id="29708"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0072" name="Object 8"/>
          <p:cNvGraphicFramePr>
            <a:graphicFrameLocks noChangeAspect="1"/>
          </p:cNvGraphicFramePr>
          <p:nvPr/>
        </p:nvGraphicFramePr>
        <p:xfrm>
          <a:off x="6872288" y="3457575"/>
          <a:ext cx="871537" cy="768350"/>
        </p:xfrm>
        <a:graphic>
          <a:graphicData uri="http://schemas.openxmlformats.org/presentationml/2006/ole">
            <p:oleObj spid="_x0000_s29698" name="公式" r:id="rId3" imgW="11582717" imgH="10363517" progId="Equation.3">
              <p:embed/>
            </p:oleObj>
          </a:graphicData>
        </a:graphic>
      </p:graphicFrame>
      <p:sp>
        <p:nvSpPr>
          <p:cNvPr id="29709" name="Rectangle 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0074" name="Object 10"/>
          <p:cNvGraphicFramePr>
            <a:graphicFrameLocks noChangeAspect="1"/>
          </p:cNvGraphicFramePr>
          <p:nvPr/>
        </p:nvGraphicFramePr>
        <p:xfrm>
          <a:off x="6872288" y="4572000"/>
          <a:ext cx="889000" cy="714375"/>
        </p:xfrm>
        <a:graphic>
          <a:graphicData uri="http://schemas.openxmlformats.org/presentationml/2006/ole">
            <p:oleObj spid="_x0000_s29699" name="公式" r:id="rId4" imgW="12801917" imgH="10363517" progId="Equation.3">
              <p:embed/>
            </p:oleObj>
          </a:graphicData>
        </a:graphic>
      </p:graphicFrame>
      <p:sp>
        <p:nvSpPr>
          <p:cNvPr id="29710" name="Rectangle 11"/>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0076" name="Object 12"/>
          <p:cNvGraphicFramePr>
            <a:graphicFrameLocks noChangeAspect="1"/>
          </p:cNvGraphicFramePr>
          <p:nvPr/>
        </p:nvGraphicFramePr>
        <p:xfrm>
          <a:off x="6872288" y="5486400"/>
          <a:ext cx="917575" cy="809625"/>
        </p:xfrm>
        <a:graphic>
          <a:graphicData uri="http://schemas.openxmlformats.org/presentationml/2006/ole">
            <p:oleObj spid="_x0000_s29700" name="公式" r:id="rId5" imgW="11582717" imgH="10363517" progId="Equation.3">
              <p:embed/>
            </p:oleObj>
          </a:graphicData>
        </a:graphic>
      </p:graphicFrame>
      <p:sp>
        <p:nvSpPr>
          <p:cNvPr id="16" name="Rectangle 2"/>
          <p:cNvSpPr>
            <a:spLocks noGrp="1" noRot="1" noChangeArrowheads="1"/>
          </p:cNvSpPr>
          <p:nvPr>
            <p:ph type="title"/>
          </p:nvPr>
        </p:nvSpPr>
        <p:spPr>
          <a:xfrm>
            <a:off x="742950" y="4730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衍射受限系统的分辨率</a:t>
            </a:r>
            <a:endParaRPr lang="zh-CN" altLang="en-US" sz="36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spd="slow">
    <p:circl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8" name="日期占位符 3"/>
          <p:cNvSpPr>
            <a:spLocks noGrp="1"/>
          </p:cNvSpPr>
          <p:nvPr>
            <p:ph type="dt" sz="quarter" idx="10"/>
          </p:nvPr>
        </p:nvSpPr>
        <p:spPr>
          <a:noFill/>
        </p:spPr>
        <p:txBody>
          <a:bodyPr/>
          <a:lstStyle/>
          <a:p>
            <a:fld id="{FF7211F2-7EC7-4779-9009-D3659C1642CB}" type="datetime1">
              <a:rPr lang="zh-CN" altLang="en-US" smtClean="0"/>
              <a:pPr/>
              <a:t>2018/2/24</a:t>
            </a:fld>
            <a:endParaRPr lang="en-US" altLang="zh-CN" smtClean="0"/>
          </a:p>
        </p:txBody>
      </p:sp>
      <p:sp>
        <p:nvSpPr>
          <p:cNvPr id="31749" name="灯片编号占位符 5"/>
          <p:cNvSpPr>
            <a:spLocks noGrp="1"/>
          </p:cNvSpPr>
          <p:nvPr>
            <p:ph type="sldNum" sz="quarter" idx="12"/>
          </p:nvPr>
        </p:nvSpPr>
        <p:spPr>
          <a:noFill/>
        </p:spPr>
        <p:txBody>
          <a:bodyPr/>
          <a:lstStyle/>
          <a:p>
            <a:fld id="{568A96DB-2CE7-4438-9C9E-15410D19501A}" type="slidenum">
              <a:rPr lang="en-US" altLang="zh-CN" smtClean="0"/>
              <a:pPr/>
              <a:t>51</a:t>
            </a:fld>
            <a:endParaRPr lang="en-US" altLang="zh-CN" smtClean="0"/>
          </a:p>
        </p:txBody>
      </p:sp>
      <p:sp>
        <p:nvSpPr>
          <p:cNvPr id="602115" name="Rectangle 3"/>
          <p:cNvSpPr>
            <a:spLocks noGrp="1" noRot="1" noChangeArrowheads="1"/>
          </p:cNvSpPr>
          <p:nvPr>
            <p:ph type="body" idx="1"/>
          </p:nvPr>
        </p:nvSpPr>
        <p:spPr>
          <a:xfrm>
            <a:off x="228600" y="2132013"/>
            <a:ext cx="8686800" cy="4319587"/>
          </a:xfrm>
        </p:spPr>
        <p:txBody>
          <a:bodyPr/>
          <a:lstStyle/>
          <a:p>
            <a:pPr marL="442913" indent="-442913" algn="just" eaLnBrk="1" hangingPunct="1">
              <a:defRPr/>
            </a:pPr>
            <a:r>
              <a:rPr lang="zh-CN" altLang="en-US" dirty="0" smtClean="0">
                <a:latin typeface="Times New Roman" pitchFamily="18" charset="0"/>
                <a:ea typeface="黑体" pitchFamily="2" charset="-122"/>
              </a:rPr>
              <a:t>上述讨论只适用于视场中心的情况。</a:t>
            </a:r>
            <a:endParaRPr lang="en-US" altLang="zh-CN" dirty="0" smtClean="0">
              <a:latin typeface="Times New Roman" pitchFamily="18" charset="0"/>
              <a:ea typeface="黑体" pitchFamily="2" charset="-122"/>
            </a:endParaRPr>
          </a:p>
          <a:p>
            <a:pPr marL="442913" indent="-442913" algn="just" eaLnBrk="1" hangingPunct="1">
              <a:defRPr/>
            </a:pPr>
            <a:r>
              <a:rPr lang="zh-CN" altLang="en-US" dirty="0" smtClean="0">
                <a:latin typeface="Times New Roman" pitchFamily="18" charset="0"/>
                <a:ea typeface="黑体" pitchFamily="2" charset="-122"/>
              </a:rPr>
              <a:t>对照相系统，由于视场通常较大，除考察视场中心的分辨率外还应考察中心以外视场的分辨率。</a:t>
            </a:r>
          </a:p>
          <a:p>
            <a:pPr marL="442913" indent="-442913" algn="just" eaLnBrk="1" hangingPunct="1">
              <a:defRPr/>
            </a:pPr>
            <a:r>
              <a:rPr lang="zh-CN" altLang="en-US" dirty="0" smtClean="0">
                <a:latin typeface="Times New Roman" pitchFamily="18" charset="0"/>
                <a:ea typeface="黑体" pitchFamily="2" charset="-122"/>
              </a:rPr>
              <a:t>经过</a:t>
            </a:r>
            <a:r>
              <a:rPr lang="zh-CN" altLang="en-US" dirty="0" smtClean="0">
                <a:latin typeface="Times New Roman" pitchFamily="18" charset="0"/>
                <a:ea typeface="黑体" pitchFamily="2" charset="-122"/>
                <a:hlinkClick r:id="rId3" action="ppaction://hlinksldjump"/>
              </a:rPr>
              <a:t>推导</a:t>
            </a:r>
            <a:r>
              <a:rPr lang="zh-CN" altLang="en-US" dirty="0" smtClean="0">
                <a:latin typeface="Times New Roman" pitchFamily="18" charset="0"/>
                <a:ea typeface="黑体" pitchFamily="2" charset="-122"/>
              </a:rPr>
              <a:t>照相系统轴外分辨率为</a:t>
            </a:r>
            <a:r>
              <a:rPr lang="en-US" altLang="zh-CN" dirty="0" smtClean="0">
                <a:latin typeface="Times New Roman" pitchFamily="18" charset="0"/>
                <a:ea typeface="黑体" pitchFamily="2" charset="-122"/>
              </a:rPr>
              <a:t>:</a:t>
            </a:r>
          </a:p>
        </p:txBody>
      </p:sp>
      <p:sp>
        <p:nvSpPr>
          <p:cNvPr id="31752"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1753"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1754" name="Rectangle 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1755"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1756"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1757" name="Rectangle 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1758"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59"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0"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1"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2"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3"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4"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5"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6"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7"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8"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69"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70"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71"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72"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73"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1774"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graphicFrame>
        <p:nvGraphicFramePr>
          <p:cNvPr id="31746" name="Object 28"/>
          <p:cNvGraphicFramePr>
            <a:graphicFrameLocks noChangeAspect="1"/>
          </p:cNvGraphicFramePr>
          <p:nvPr/>
        </p:nvGraphicFramePr>
        <p:xfrm>
          <a:off x="1271588" y="4005263"/>
          <a:ext cx="3076575" cy="647700"/>
        </p:xfrm>
        <a:graphic>
          <a:graphicData uri="http://schemas.openxmlformats.org/presentationml/2006/ole">
            <p:oleObj spid="_x0000_s31746" name="公式" r:id="rId4" imgW="47853917" imgH="10058717" progId="Equation.3">
              <p:embed/>
            </p:oleObj>
          </a:graphicData>
        </a:graphic>
      </p:graphicFrame>
      <p:graphicFrame>
        <p:nvGraphicFramePr>
          <p:cNvPr id="31747" name="Object 29"/>
          <p:cNvGraphicFramePr>
            <a:graphicFrameLocks noChangeAspect="1"/>
          </p:cNvGraphicFramePr>
          <p:nvPr/>
        </p:nvGraphicFramePr>
        <p:xfrm>
          <a:off x="1271588" y="4776788"/>
          <a:ext cx="3065462" cy="735012"/>
        </p:xfrm>
        <a:graphic>
          <a:graphicData uri="http://schemas.openxmlformats.org/presentationml/2006/ole">
            <p:oleObj spid="_x0000_s31747" name="公式" r:id="rId5" imgW="44805917" imgH="10668317" progId="Equation.3">
              <p:embed/>
            </p:oleObj>
          </a:graphicData>
        </a:graphic>
      </p:graphicFrame>
      <p:grpSp>
        <p:nvGrpSpPr>
          <p:cNvPr id="31775" name="Group 30"/>
          <p:cNvGrpSpPr>
            <a:grpSpLocks/>
          </p:cNvGrpSpPr>
          <p:nvPr/>
        </p:nvGrpSpPr>
        <p:grpSpPr bwMode="auto">
          <a:xfrm>
            <a:off x="5214938" y="3471863"/>
            <a:ext cx="3900487" cy="3257550"/>
            <a:chOff x="2943" y="2268"/>
            <a:chExt cx="2457" cy="2052"/>
          </a:xfrm>
        </p:grpSpPr>
        <p:sp>
          <p:nvSpPr>
            <p:cNvPr id="31776" name="Rectangle 31"/>
            <p:cNvSpPr>
              <a:spLocks noChangeArrowheads="1"/>
            </p:cNvSpPr>
            <p:nvPr/>
          </p:nvSpPr>
          <p:spPr bwMode="auto">
            <a:xfrm>
              <a:off x="2943" y="2268"/>
              <a:ext cx="2457" cy="205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31777" name="Line 32"/>
            <p:cNvSpPr>
              <a:spLocks noChangeShapeType="1"/>
            </p:cNvSpPr>
            <p:nvPr/>
          </p:nvSpPr>
          <p:spPr bwMode="auto">
            <a:xfrm>
              <a:off x="3565" y="2469"/>
              <a:ext cx="0" cy="1281"/>
            </a:xfrm>
            <a:prstGeom prst="line">
              <a:avLst/>
            </a:prstGeom>
            <a:noFill/>
            <a:ln w="6350">
              <a:solidFill>
                <a:srgbClr val="000000"/>
              </a:solidFill>
              <a:round/>
              <a:headEnd type="stealth" w="sm" len="sm"/>
              <a:tailEnd/>
            </a:ln>
          </p:spPr>
          <p:txBody>
            <a:bodyPr/>
            <a:lstStyle/>
            <a:p>
              <a:endParaRPr lang="zh-CN" altLang="en-US"/>
            </a:p>
          </p:txBody>
        </p:sp>
        <p:sp>
          <p:nvSpPr>
            <p:cNvPr id="31778" name="Line 33"/>
            <p:cNvSpPr>
              <a:spLocks noChangeShapeType="1"/>
            </p:cNvSpPr>
            <p:nvPr/>
          </p:nvSpPr>
          <p:spPr bwMode="auto">
            <a:xfrm>
              <a:off x="3565" y="3750"/>
              <a:ext cx="1348" cy="0"/>
            </a:xfrm>
            <a:prstGeom prst="line">
              <a:avLst/>
            </a:prstGeom>
            <a:noFill/>
            <a:ln w="6350">
              <a:solidFill>
                <a:srgbClr val="000000"/>
              </a:solidFill>
              <a:round/>
              <a:headEnd/>
              <a:tailEnd type="stealth" w="sm" len="sm"/>
            </a:ln>
          </p:spPr>
          <p:txBody>
            <a:bodyPr/>
            <a:lstStyle/>
            <a:p>
              <a:endParaRPr lang="zh-CN" altLang="en-US"/>
            </a:p>
          </p:txBody>
        </p:sp>
        <p:sp>
          <p:nvSpPr>
            <p:cNvPr id="31779" name="Freeform 34"/>
            <p:cNvSpPr>
              <a:spLocks/>
            </p:cNvSpPr>
            <p:nvPr/>
          </p:nvSpPr>
          <p:spPr bwMode="auto">
            <a:xfrm>
              <a:off x="3575" y="2614"/>
              <a:ext cx="853" cy="475"/>
            </a:xfrm>
            <a:custGeom>
              <a:avLst/>
              <a:gdLst>
                <a:gd name="T0" fmla="*/ 0 w 1320"/>
                <a:gd name="T1" fmla="*/ 0 h 735"/>
                <a:gd name="T2" fmla="*/ 101 w 1320"/>
                <a:gd name="T3" fmla="*/ 16 h 735"/>
                <a:gd name="T4" fmla="*/ 202 w 1320"/>
                <a:gd name="T5" fmla="*/ 69 h 735"/>
                <a:gd name="T6" fmla="*/ 279 w 1320"/>
                <a:gd name="T7" fmla="*/ 129 h 735"/>
                <a:gd name="T8" fmla="*/ 356 w 1320"/>
                <a:gd name="T9" fmla="*/ 198 h 735"/>
                <a:gd name="T10" fmla="*/ 0 60000 65536"/>
                <a:gd name="T11" fmla="*/ 0 60000 65536"/>
                <a:gd name="T12" fmla="*/ 0 60000 65536"/>
                <a:gd name="T13" fmla="*/ 0 60000 65536"/>
                <a:gd name="T14" fmla="*/ 0 60000 65536"/>
                <a:gd name="T15" fmla="*/ 0 w 1320"/>
                <a:gd name="T16" fmla="*/ 0 h 735"/>
                <a:gd name="T17" fmla="*/ 1320 w 1320"/>
                <a:gd name="T18" fmla="*/ 735 h 735"/>
              </a:gdLst>
              <a:ahLst/>
              <a:cxnLst>
                <a:cxn ang="T10">
                  <a:pos x="T0" y="T1"/>
                </a:cxn>
                <a:cxn ang="T11">
                  <a:pos x="T2" y="T3"/>
                </a:cxn>
                <a:cxn ang="T12">
                  <a:pos x="T4" y="T5"/>
                </a:cxn>
                <a:cxn ang="T13">
                  <a:pos x="T6" y="T7"/>
                </a:cxn>
                <a:cxn ang="T14">
                  <a:pos x="T8" y="T9"/>
                </a:cxn>
              </a:cxnLst>
              <a:rect l="T15" t="T16" r="T17" b="T18"/>
              <a:pathLst>
                <a:path w="1320" h="735">
                  <a:moveTo>
                    <a:pt x="0" y="0"/>
                  </a:moveTo>
                  <a:cubicBezTo>
                    <a:pt x="125" y="9"/>
                    <a:pt x="250" y="18"/>
                    <a:pt x="375" y="60"/>
                  </a:cubicBezTo>
                  <a:cubicBezTo>
                    <a:pt x="500" y="102"/>
                    <a:pt x="640" y="185"/>
                    <a:pt x="750" y="255"/>
                  </a:cubicBezTo>
                  <a:cubicBezTo>
                    <a:pt x="860" y="325"/>
                    <a:pt x="940" y="400"/>
                    <a:pt x="1035" y="480"/>
                  </a:cubicBezTo>
                  <a:cubicBezTo>
                    <a:pt x="1130" y="560"/>
                    <a:pt x="1275" y="697"/>
                    <a:pt x="1320" y="735"/>
                  </a:cubicBezTo>
                </a:path>
              </a:pathLst>
            </a:custGeom>
            <a:noFill/>
            <a:ln w="9525">
              <a:solidFill>
                <a:srgbClr val="000000"/>
              </a:solidFill>
              <a:round/>
              <a:headEnd/>
              <a:tailEnd/>
            </a:ln>
          </p:spPr>
          <p:txBody>
            <a:bodyPr/>
            <a:lstStyle/>
            <a:p>
              <a:endParaRPr lang="zh-CN" altLang="en-US"/>
            </a:p>
          </p:txBody>
        </p:sp>
        <p:sp>
          <p:nvSpPr>
            <p:cNvPr id="31780" name="Freeform 35"/>
            <p:cNvSpPr>
              <a:spLocks/>
            </p:cNvSpPr>
            <p:nvPr/>
          </p:nvSpPr>
          <p:spPr bwMode="auto">
            <a:xfrm>
              <a:off x="3565" y="2624"/>
              <a:ext cx="834" cy="1009"/>
            </a:xfrm>
            <a:custGeom>
              <a:avLst/>
              <a:gdLst>
                <a:gd name="T0" fmla="*/ 0 w 1290"/>
                <a:gd name="T1" fmla="*/ 0 h 1560"/>
                <a:gd name="T2" fmla="*/ 61 w 1290"/>
                <a:gd name="T3" fmla="*/ 21 h 1560"/>
                <a:gd name="T4" fmla="*/ 134 w 1290"/>
                <a:gd name="T5" fmla="*/ 73 h 1560"/>
                <a:gd name="T6" fmla="*/ 203 w 1290"/>
                <a:gd name="T7" fmla="*/ 195 h 1560"/>
                <a:gd name="T8" fmla="*/ 243 w 1290"/>
                <a:gd name="T9" fmla="*/ 272 h 1560"/>
                <a:gd name="T10" fmla="*/ 316 w 1290"/>
                <a:gd name="T11" fmla="*/ 385 h 1560"/>
                <a:gd name="T12" fmla="*/ 348 w 1290"/>
                <a:gd name="T13" fmla="*/ 422 h 1560"/>
                <a:gd name="T14" fmla="*/ 0 60000 65536"/>
                <a:gd name="T15" fmla="*/ 0 60000 65536"/>
                <a:gd name="T16" fmla="*/ 0 60000 65536"/>
                <a:gd name="T17" fmla="*/ 0 60000 65536"/>
                <a:gd name="T18" fmla="*/ 0 60000 65536"/>
                <a:gd name="T19" fmla="*/ 0 60000 65536"/>
                <a:gd name="T20" fmla="*/ 0 60000 65536"/>
                <a:gd name="T21" fmla="*/ 0 w 1290"/>
                <a:gd name="T22" fmla="*/ 0 h 1560"/>
                <a:gd name="T23" fmla="*/ 1290 w 1290"/>
                <a:gd name="T24" fmla="*/ 1560 h 15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90" h="1560">
                  <a:moveTo>
                    <a:pt x="0" y="0"/>
                  </a:moveTo>
                  <a:cubicBezTo>
                    <a:pt x="71" y="15"/>
                    <a:pt x="143" y="30"/>
                    <a:pt x="225" y="75"/>
                  </a:cubicBezTo>
                  <a:cubicBezTo>
                    <a:pt x="307" y="120"/>
                    <a:pt x="408" y="163"/>
                    <a:pt x="495" y="270"/>
                  </a:cubicBezTo>
                  <a:cubicBezTo>
                    <a:pt x="582" y="377"/>
                    <a:pt x="683" y="598"/>
                    <a:pt x="750" y="720"/>
                  </a:cubicBezTo>
                  <a:cubicBezTo>
                    <a:pt x="817" y="842"/>
                    <a:pt x="830" y="888"/>
                    <a:pt x="900" y="1005"/>
                  </a:cubicBezTo>
                  <a:cubicBezTo>
                    <a:pt x="970" y="1122"/>
                    <a:pt x="1105" y="1333"/>
                    <a:pt x="1170" y="1425"/>
                  </a:cubicBezTo>
                  <a:cubicBezTo>
                    <a:pt x="1235" y="1517"/>
                    <a:pt x="1265" y="1532"/>
                    <a:pt x="1290" y="1560"/>
                  </a:cubicBezTo>
                </a:path>
              </a:pathLst>
            </a:custGeom>
            <a:noFill/>
            <a:ln w="9525">
              <a:solidFill>
                <a:srgbClr val="000000"/>
              </a:solidFill>
              <a:round/>
              <a:headEnd/>
              <a:tailEnd/>
            </a:ln>
          </p:spPr>
          <p:txBody>
            <a:bodyPr/>
            <a:lstStyle/>
            <a:p>
              <a:endParaRPr lang="zh-CN" altLang="en-US"/>
            </a:p>
          </p:txBody>
        </p:sp>
        <p:sp>
          <p:nvSpPr>
            <p:cNvPr id="31781" name="Text Box 36"/>
            <p:cNvSpPr txBox="1">
              <a:spLocks noChangeArrowheads="1"/>
            </p:cNvSpPr>
            <p:nvPr/>
          </p:nvSpPr>
          <p:spPr bwMode="auto">
            <a:xfrm>
              <a:off x="3255" y="2488"/>
              <a:ext cx="446" cy="281"/>
            </a:xfrm>
            <a:prstGeom prst="rect">
              <a:avLst/>
            </a:prstGeom>
            <a:noFill/>
            <a:ln w="9525">
              <a:noFill/>
              <a:miter lim="800000"/>
              <a:headEnd/>
              <a:tailEnd/>
            </a:ln>
          </p:spPr>
          <p:txBody>
            <a:bodyPr/>
            <a:lstStyle/>
            <a:p>
              <a:pPr algn="just"/>
              <a:r>
                <a:rPr lang="en-US" altLang="zh-CN" sz="1600" b="1">
                  <a:latin typeface="Times New Roman" pitchFamily="18" charset="0"/>
                </a:rPr>
                <a:t>100</a:t>
              </a:r>
            </a:p>
          </p:txBody>
        </p:sp>
        <p:sp>
          <p:nvSpPr>
            <p:cNvPr id="31782" name="Text Box 37"/>
            <p:cNvSpPr txBox="1">
              <a:spLocks noChangeArrowheads="1"/>
            </p:cNvSpPr>
            <p:nvPr/>
          </p:nvSpPr>
          <p:spPr bwMode="auto">
            <a:xfrm>
              <a:off x="3284" y="2702"/>
              <a:ext cx="446" cy="281"/>
            </a:xfrm>
            <a:prstGeom prst="rect">
              <a:avLst/>
            </a:prstGeom>
            <a:noFill/>
            <a:ln w="9525">
              <a:noFill/>
              <a:miter lim="800000"/>
              <a:headEnd/>
              <a:tailEnd/>
            </a:ln>
          </p:spPr>
          <p:txBody>
            <a:bodyPr/>
            <a:lstStyle/>
            <a:p>
              <a:pPr algn="just"/>
              <a:r>
                <a:rPr lang="en-US" altLang="zh-CN" sz="1600" b="1">
                  <a:latin typeface="Times New Roman" pitchFamily="18" charset="0"/>
                </a:rPr>
                <a:t>80</a:t>
              </a:r>
            </a:p>
          </p:txBody>
        </p:sp>
        <p:sp>
          <p:nvSpPr>
            <p:cNvPr id="31783" name="Text Box 38"/>
            <p:cNvSpPr txBox="1">
              <a:spLocks noChangeArrowheads="1"/>
            </p:cNvSpPr>
            <p:nvPr/>
          </p:nvSpPr>
          <p:spPr bwMode="auto">
            <a:xfrm>
              <a:off x="3284" y="2915"/>
              <a:ext cx="446" cy="281"/>
            </a:xfrm>
            <a:prstGeom prst="rect">
              <a:avLst/>
            </a:prstGeom>
            <a:noFill/>
            <a:ln w="9525">
              <a:noFill/>
              <a:miter lim="800000"/>
              <a:headEnd/>
              <a:tailEnd/>
            </a:ln>
          </p:spPr>
          <p:txBody>
            <a:bodyPr/>
            <a:lstStyle/>
            <a:p>
              <a:pPr algn="just"/>
              <a:r>
                <a:rPr lang="en-US" altLang="zh-CN" sz="1600" b="1">
                  <a:latin typeface="Times New Roman" pitchFamily="18" charset="0"/>
                </a:rPr>
                <a:t>60</a:t>
              </a:r>
            </a:p>
          </p:txBody>
        </p:sp>
        <p:sp>
          <p:nvSpPr>
            <p:cNvPr id="31784" name="Text Box 39"/>
            <p:cNvSpPr txBox="1">
              <a:spLocks noChangeArrowheads="1"/>
            </p:cNvSpPr>
            <p:nvPr/>
          </p:nvSpPr>
          <p:spPr bwMode="auto">
            <a:xfrm>
              <a:off x="3391" y="3643"/>
              <a:ext cx="446" cy="281"/>
            </a:xfrm>
            <a:prstGeom prst="rect">
              <a:avLst/>
            </a:prstGeom>
            <a:noFill/>
            <a:ln w="9525">
              <a:noFill/>
              <a:miter lim="800000"/>
              <a:headEnd/>
              <a:tailEnd/>
            </a:ln>
          </p:spPr>
          <p:txBody>
            <a:bodyPr/>
            <a:lstStyle/>
            <a:p>
              <a:pPr algn="just"/>
              <a:r>
                <a:rPr lang="en-US" altLang="zh-CN" sz="1600" b="1">
                  <a:latin typeface="Times New Roman" pitchFamily="18" charset="0"/>
                </a:rPr>
                <a:t>0</a:t>
              </a:r>
            </a:p>
          </p:txBody>
        </p:sp>
        <p:sp>
          <p:nvSpPr>
            <p:cNvPr id="31785" name="Text Box 40"/>
            <p:cNvSpPr txBox="1">
              <a:spLocks noChangeArrowheads="1"/>
            </p:cNvSpPr>
            <p:nvPr/>
          </p:nvSpPr>
          <p:spPr bwMode="auto">
            <a:xfrm>
              <a:off x="3294" y="3138"/>
              <a:ext cx="446" cy="282"/>
            </a:xfrm>
            <a:prstGeom prst="rect">
              <a:avLst/>
            </a:prstGeom>
            <a:noFill/>
            <a:ln w="9525">
              <a:noFill/>
              <a:miter lim="800000"/>
              <a:headEnd/>
              <a:tailEnd/>
            </a:ln>
          </p:spPr>
          <p:txBody>
            <a:bodyPr/>
            <a:lstStyle/>
            <a:p>
              <a:pPr algn="just"/>
              <a:r>
                <a:rPr lang="en-US" altLang="zh-CN" sz="1600" b="1">
                  <a:latin typeface="Times New Roman" pitchFamily="18" charset="0"/>
                </a:rPr>
                <a:t>40</a:t>
              </a:r>
            </a:p>
          </p:txBody>
        </p:sp>
        <p:sp>
          <p:nvSpPr>
            <p:cNvPr id="31786" name="Text Box 41"/>
            <p:cNvSpPr txBox="1">
              <a:spLocks noChangeArrowheads="1"/>
            </p:cNvSpPr>
            <p:nvPr/>
          </p:nvSpPr>
          <p:spPr bwMode="auto">
            <a:xfrm>
              <a:off x="3294" y="3380"/>
              <a:ext cx="446" cy="283"/>
            </a:xfrm>
            <a:prstGeom prst="rect">
              <a:avLst/>
            </a:prstGeom>
            <a:noFill/>
            <a:ln w="9525">
              <a:noFill/>
              <a:miter lim="800000"/>
              <a:headEnd/>
              <a:tailEnd/>
            </a:ln>
          </p:spPr>
          <p:txBody>
            <a:bodyPr/>
            <a:lstStyle/>
            <a:p>
              <a:pPr algn="just"/>
              <a:r>
                <a:rPr lang="en-US" altLang="zh-CN" sz="1600" b="1">
                  <a:latin typeface="Times New Roman" pitchFamily="18" charset="0"/>
                </a:rPr>
                <a:t>20</a:t>
              </a:r>
            </a:p>
          </p:txBody>
        </p:sp>
        <p:sp>
          <p:nvSpPr>
            <p:cNvPr id="31787" name="Text Box 42"/>
            <p:cNvSpPr txBox="1">
              <a:spLocks noChangeArrowheads="1"/>
            </p:cNvSpPr>
            <p:nvPr/>
          </p:nvSpPr>
          <p:spPr bwMode="auto">
            <a:xfrm>
              <a:off x="3682" y="3701"/>
              <a:ext cx="446" cy="281"/>
            </a:xfrm>
            <a:prstGeom prst="rect">
              <a:avLst/>
            </a:prstGeom>
            <a:noFill/>
            <a:ln w="9525">
              <a:noFill/>
              <a:miter lim="800000"/>
              <a:headEnd/>
              <a:tailEnd/>
            </a:ln>
          </p:spPr>
          <p:txBody>
            <a:bodyPr/>
            <a:lstStyle/>
            <a:p>
              <a:pPr algn="just"/>
              <a:r>
                <a:rPr lang="en-US" altLang="zh-CN" sz="1600" b="1">
                  <a:latin typeface="Times New Roman" pitchFamily="18" charset="0"/>
                </a:rPr>
                <a:t>20</a:t>
              </a:r>
            </a:p>
          </p:txBody>
        </p:sp>
        <p:sp>
          <p:nvSpPr>
            <p:cNvPr id="31788" name="Text Box 43"/>
            <p:cNvSpPr txBox="1">
              <a:spLocks noChangeArrowheads="1"/>
            </p:cNvSpPr>
            <p:nvPr/>
          </p:nvSpPr>
          <p:spPr bwMode="auto">
            <a:xfrm>
              <a:off x="3982" y="3701"/>
              <a:ext cx="446" cy="281"/>
            </a:xfrm>
            <a:prstGeom prst="rect">
              <a:avLst/>
            </a:prstGeom>
            <a:noFill/>
            <a:ln w="9525">
              <a:noFill/>
              <a:miter lim="800000"/>
              <a:headEnd/>
              <a:tailEnd/>
            </a:ln>
          </p:spPr>
          <p:txBody>
            <a:bodyPr/>
            <a:lstStyle/>
            <a:p>
              <a:pPr algn="just"/>
              <a:r>
                <a:rPr lang="en-US" altLang="zh-CN" sz="1600" b="1">
                  <a:latin typeface="Times New Roman" pitchFamily="18" charset="0"/>
                </a:rPr>
                <a:t>40</a:t>
              </a:r>
            </a:p>
          </p:txBody>
        </p:sp>
        <p:sp>
          <p:nvSpPr>
            <p:cNvPr id="31789" name="Text Box 44"/>
            <p:cNvSpPr txBox="1">
              <a:spLocks noChangeArrowheads="1"/>
            </p:cNvSpPr>
            <p:nvPr/>
          </p:nvSpPr>
          <p:spPr bwMode="auto">
            <a:xfrm>
              <a:off x="4283" y="3692"/>
              <a:ext cx="445" cy="281"/>
            </a:xfrm>
            <a:prstGeom prst="rect">
              <a:avLst/>
            </a:prstGeom>
            <a:noFill/>
            <a:ln w="9525">
              <a:noFill/>
              <a:miter lim="800000"/>
              <a:headEnd/>
              <a:tailEnd/>
            </a:ln>
          </p:spPr>
          <p:txBody>
            <a:bodyPr/>
            <a:lstStyle/>
            <a:p>
              <a:pPr algn="just"/>
              <a:r>
                <a:rPr lang="en-US" altLang="zh-CN" sz="1600" b="1">
                  <a:latin typeface="Times New Roman" pitchFamily="18" charset="0"/>
                </a:rPr>
                <a:t>60</a:t>
              </a:r>
            </a:p>
          </p:txBody>
        </p:sp>
        <p:sp>
          <p:nvSpPr>
            <p:cNvPr id="31790" name="Text Box 45"/>
            <p:cNvSpPr txBox="1">
              <a:spLocks noChangeArrowheads="1"/>
            </p:cNvSpPr>
            <p:nvPr/>
          </p:nvSpPr>
          <p:spPr bwMode="auto">
            <a:xfrm>
              <a:off x="4699" y="3672"/>
              <a:ext cx="446" cy="281"/>
            </a:xfrm>
            <a:prstGeom prst="rect">
              <a:avLst/>
            </a:prstGeom>
            <a:noFill/>
            <a:ln w="9525">
              <a:noFill/>
              <a:miter lim="800000"/>
              <a:headEnd/>
              <a:tailEnd/>
            </a:ln>
          </p:spPr>
          <p:txBody>
            <a:bodyPr/>
            <a:lstStyle/>
            <a:p>
              <a:pPr algn="just"/>
              <a:r>
                <a:rPr lang="en-US" altLang="zh-CN" sz="1600" b="1" i="1">
                  <a:latin typeface="Times New Roman" pitchFamily="18" charset="0"/>
                </a:rPr>
                <a:t>ω</a:t>
              </a:r>
              <a:endParaRPr lang="en-US" altLang="zh-CN" sz="1600" b="1">
                <a:latin typeface="Times New Roman" pitchFamily="18" charset="0"/>
              </a:endParaRPr>
            </a:p>
          </p:txBody>
        </p:sp>
        <p:sp>
          <p:nvSpPr>
            <p:cNvPr id="31791" name="Text Box 46"/>
            <p:cNvSpPr txBox="1">
              <a:spLocks noChangeArrowheads="1"/>
            </p:cNvSpPr>
            <p:nvPr/>
          </p:nvSpPr>
          <p:spPr bwMode="auto">
            <a:xfrm>
              <a:off x="3569" y="2343"/>
              <a:ext cx="1073" cy="271"/>
            </a:xfrm>
            <a:prstGeom prst="rect">
              <a:avLst/>
            </a:prstGeom>
            <a:noFill/>
            <a:ln w="9525">
              <a:noFill/>
              <a:miter lim="800000"/>
              <a:headEnd/>
              <a:tailEnd/>
            </a:ln>
          </p:spPr>
          <p:txBody>
            <a:bodyPr/>
            <a:lstStyle/>
            <a:p>
              <a:r>
                <a:rPr lang="en-US" altLang="zh-CN" sz="1600" b="1" i="1">
                  <a:latin typeface="Times New Roman" pitchFamily="18" charset="0"/>
                </a:rPr>
                <a:t>N</a:t>
              </a:r>
              <a:r>
                <a:rPr lang="en-US" altLang="zh-CN" sz="1600" b="1" baseline="-25000">
                  <a:latin typeface="Times New Roman" pitchFamily="18" charset="0"/>
                </a:rPr>
                <a:t>t </a:t>
              </a:r>
              <a:r>
                <a:rPr lang="en-US" altLang="zh-CN" sz="1600" b="1">
                  <a:latin typeface="Times New Roman" pitchFamily="18" charset="0"/>
                </a:rPr>
                <a:t>/ </a:t>
              </a:r>
              <a:r>
                <a:rPr lang="en-US" altLang="zh-CN" sz="1600" b="1" i="1">
                  <a:latin typeface="Times New Roman" pitchFamily="18" charset="0"/>
                </a:rPr>
                <a:t>N</a:t>
              </a:r>
              <a:r>
                <a:rPr lang="en-US" altLang="zh-CN" sz="1600" b="1">
                  <a:latin typeface="Times New Roman" pitchFamily="18" charset="0"/>
                </a:rPr>
                <a:t>, </a:t>
              </a:r>
              <a:r>
                <a:rPr lang="en-US" altLang="zh-CN" sz="1600" b="1" i="1">
                  <a:latin typeface="Times New Roman" pitchFamily="18" charset="0"/>
                </a:rPr>
                <a:t>N </a:t>
              </a:r>
              <a:r>
                <a:rPr lang="en-US" altLang="zh-CN" sz="1600" b="1" baseline="-25000">
                  <a:latin typeface="Times New Roman" pitchFamily="18" charset="0"/>
                </a:rPr>
                <a:t>s</a:t>
              </a:r>
              <a:r>
                <a:rPr lang="en-US" altLang="zh-CN" sz="1600" b="1">
                  <a:latin typeface="Times New Roman" pitchFamily="18" charset="0"/>
                </a:rPr>
                <a:t>/ </a:t>
              </a:r>
              <a:r>
                <a:rPr lang="en-US" altLang="zh-CN" sz="1600" b="1" i="1">
                  <a:latin typeface="Times New Roman" pitchFamily="18" charset="0"/>
                </a:rPr>
                <a:t>N </a:t>
              </a:r>
              <a:r>
                <a:rPr lang="en-US" altLang="zh-CN" sz="1600" b="1">
                  <a:latin typeface="Times New Roman" pitchFamily="18" charset="0"/>
                </a:rPr>
                <a:t>(%)</a:t>
              </a:r>
            </a:p>
          </p:txBody>
        </p:sp>
        <p:sp>
          <p:nvSpPr>
            <p:cNvPr id="31792" name="Text Box 47"/>
            <p:cNvSpPr txBox="1">
              <a:spLocks noChangeArrowheads="1"/>
            </p:cNvSpPr>
            <p:nvPr/>
          </p:nvSpPr>
          <p:spPr bwMode="auto">
            <a:xfrm>
              <a:off x="4107" y="2677"/>
              <a:ext cx="445" cy="281"/>
            </a:xfrm>
            <a:prstGeom prst="rect">
              <a:avLst/>
            </a:prstGeom>
            <a:noFill/>
            <a:ln w="9525">
              <a:noFill/>
              <a:miter lim="800000"/>
              <a:headEnd/>
              <a:tailEnd/>
            </a:ln>
          </p:spPr>
          <p:txBody>
            <a:bodyPr/>
            <a:lstStyle/>
            <a:p>
              <a:pPr algn="just"/>
              <a:r>
                <a:rPr lang="en-US" altLang="zh-CN" sz="1600" b="1" i="1">
                  <a:latin typeface="Times New Roman" pitchFamily="18" charset="0"/>
                </a:rPr>
                <a:t>N</a:t>
              </a:r>
              <a:r>
                <a:rPr lang="en-US" altLang="zh-CN" sz="1600" b="1" baseline="-25000">
                  <a:latin typeface="Times New Roman" pitchFamily="18" charset="0"/>
                </a:rPr>
                <a:t>s </a:t>
              </a:r>
              <a:r>
                <a:rPr lang="en-US" altLang="zh-CN" sz="1600" b="1">
                  <a:latin typeface="Times New Roman" pitchFamily="18" charset="0"/>
                </a:rPr>
                <a:t>/ </a:t>
              </a:r>
              <a:r>
                <a:rPr lang="en-US" altLang="zh-CN" sz="1600" b="1" i="1">
                  <a:latin typeface="Times New Roman" pitchFamily="18" charset="0"/>
                </a:rPr>
                <a:t>N</a:t>
              </a:r>
              <a:endParaRPr lang="en-US" altLang="zh-CN" sz="1600" b="1">
                <a:latin typeface="Times New Roman" pitchFamily="18" charset="0"/>
              </a:endParaRPr>
            </a:p>
          </p:txBody>
        </p:sp>
        <p:sp>
          <p:nvSpPr>
            <p:cNvPr id="31793" name="Text Box 48"/>
            <p:cNvSpPr txBox="1">
              <a:spLocks noChangeArrowheads="1"/>
            </p:cNvSpPr>
            <p:nvPr/>
          </p:nvSpPr>
          <p:spPr bwMode="auto">
            <a:xfrm>
              <a:off x="4087" y="3104"/>
              <a:ext cx="446" cy="281"/>
            </a:xfrm>
            <a:prstGeom prst="rect">
              <a:avLst/>
            </a:prstGeom>
            <a:noFill/>
            <a:ln w="9525">
              <a:noFill/>
              <a:miter lim="800000"/>
              <a:headEnd/>
              <a:tailEnd/>
            </a:ln>
          </p:spPr>
          <p:txBody>
            <a:bodyPr/>
            <a:lstStyle/>
            <a:p>
              <a:pPr algn="just"/>
              <a:r>
                <a:rPr lang="en-US" altLang="zh-CN" sz="1600" b="1" i="1">
                  <a:latin typeface="Times New Roman" pitchFamily="18" charset="0"/>
                </a:rPr>
                <a:t>N</a:t>
              </a:r>
              <a:r>
                <a:rPr lang="en-US" altLang="zh-CN" sz="1600" b="1" baseline="-25000">
                  <a:latin typeface="Times New Roman" pitchFamily="18" charset="0"/>
                </a:rPr>
                <a:t>t </a:t>
              </a:r>
              <a:r>
                <a:rPr lang="en-US" altLang="zh-CN" sz="1600" b="1">
                  <a:latin typeface="Times New Roman" pitchFamily="18" charset="0"/>
                </a:rPr>
                <a:t>/ </a:t>
              </a:r>
              <a:r>
                <a:rPr lang="en-US" altLang="zh-CN" sz="1600" b="1" i="1">
                  <a:latin typeface="Times New Roman" pitchFamily="18" charset="0"/>
                </a:rPr>
                <a:t>N</a:t>
              </a:r>
              <a:endParaRPr lang="en-US" altLang="zh-CN" sz="1600" b="1">
                <a:latin typeface="Times New Roman" pitchFamily="18" charset="0"/>
              </a:endParaRPr>
            </a:p>
          </p:txBody>
        </p:sp>
        <p:sp>
          <p:nvSpPr>
            <p:cNvPr id="31794" name="Text Box 49"/>
            <p:cNvSpPr txBox="1">
              <a:spLocks noChangeArrowheads="1"/>
            </p:cNvSpPr>
            <p:nvPr/>
          </p:nvSpPr>
          <p:spPr bwMode="auto">
            <a:xfrm>
              <a:off x="2981" y="3984"/>
              <a:ext cx="2382" cy="336"/>
            </a:xfrm>
            <a:prstGeom prst="rect">
              <a:avLst/>
            </a:prstGeom>
            <a:noFill/>
            <a:ln w="9525">
              <a:noFill/>
              <a:miter lim="800000"/>
              <a:headEnd/>
              <a:tailEnd/>
            </a:ln>
          </p:spPr>
          <p:txBody>
            <a:bodyPr lIns="0" rIns="0"/>
            <a:lstStyle/>
            <a:p>
              <a:pPr algn="ctr"/>
              <a:r>
                <a:rPr lang="zh-CN" altLang="en-US" sz="2000" b="1">
                  <a:latin typeface="Times New Roman" pitchFamily="18" charset="0"/>
                  <a:ea typeface="黑体" pitchFamily="2" charset="-122"/>
                </a:rPr>
                <a:t>理论分辨率随视场</a:t>
              </a:r>
              <a:r>
                <a:rPr lang="en-US" altLang="zh-CN" sz="2000" b="1" i="1">
                  <a:latin typeface="Times New Roman" pitchFamily="18" charset="0"/>
                  <a:ea typeface="黑体" pitchFamily="2" charset="-122"/>
                </a:rPr>
                <a:t>ω</a:t>
              </a:r>
              <a:r>
                <a:rPr lang="zh-CN" altLang="en-US" sz="2000" b="1">
                  <a:latin typeface="Times New Roman" pitchFamily="18" charset="0"/>
                  <a:ea typeface="黑体" pitchFamily="2" charset="-122"/>
                </a:rPr>
                <a:t>变化的曲线</a:t>
              </a:r>
              <a:endParaRPr lang="zh-CN" altLang="en-US" sz="2000" b="1">
                <a:latin typeface="Times New Roman" pitchFamily="18" charset="0"/>
              </a:endParaRPr>
            </a:p>
          </p:txBody>
        </p:sp>
      </p:grpSp>
      <p:sp>
        <p:nvSpPr>
          <p:cNvPr id="52" name="Rectangle 2"/>
          <p:cNvSpPr>
            <a:spLocks noGrp="1" noRot="1" noChangeArrowheads="1"/>
          </p:cNvSpPr>
          <p:nvPr>
            <p:ph type="title"/>
          </p:nvPr>
        </p:nvSpPr>
        <p:spPr>
          <a:xfrm>
            <a:off x="742950" y="4730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衍射受限系统的分辨率</a:t>
            </a:r>
            <a:endParaRPr lang="zh-CN" altLang="en-US" sz="3600" b="1" dirty="0" smtClean="0">
              <a:solidFill>
                <a:schemeClr val="tx1"/>
              </a:solidFill>
              <a:effectLst>
                <a:outerShdw blurRad="38100" dist="38100" dir="2700000" algn="tl">
                  <a:srgbClr val="C0C0C0"/>
                </a:outerShdw>
              </a:effectLst>
              <a:latin typeface="Times New Roman" pitchFamily="18" charset="0"/>
              <a:ea typeface="黑体" pitchFamily="2" charset="-122"/>
            </a:endParaRPr>
          </a:p>
        </p:txBody>
      </p:sp>
    </p:spTree>
  </p:cSld>
  <p:clrMapOvr>
    <a:masterClrMapping/>
  </p:clrMapOvr>
  <p:transition spd="slow">
    <p:circl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日期占位符 3"/>
          <p:cNvSpPr>
            <a:spLocks noGrp="1"/>
          </p:cNvSpPr>
          <p:nvPr>
            <p:ph type="dt" sz="quarter" idx="10"/>
          </p:nvPr>
        </p:nvSpPr>
        <p:spPr>
          <a:noFill/>
        </p:spPr>
        <p:txBody>
          <a:bodyPr/>
          <a:lstStyle/>
          <a:p>
            <a:fld id="{E5DA8E11-8D3C-4393-B3FD-E0A07E26677E}" type="datetime1">
              <a:rPr lang="zh-CN" altLang="en-US" smtClean="0"/>
              <a:pPr/>
              <a:t>2018/2/24</a:t>
            </a:fld>
            <a:endParaRPr lang="en-US" altLang="zh-CN" smtClean="0"/>
          </a:p>
        </p:txBody>
      </p:sp>
      <p:sp>
        <p:nvSpPr>
          <p:cNvPr id="32772" name="灯片编号占位符 5"/>
          <p:cNvSpPr>
            <a:spLocks noGrp="1"/>
          </p:cNvSpPr>
          <p:nvPr>
            <p:ph type="sldNum" sz="quarter" idx="12"/>
          </p:nvPr>
        </p:nvSpPr>
        <p:spPr>
          <a:noFill/>
        </p:spPr>
        <p:txBody>
          <a:bodyPr/>
          <a:lstStyle/>
          <a:p>
            <a:fld id="{8362C9DD-1961-427E-8383-141578B74391}" type="slidenum">
              <a:rPr lang="en-US" altLang="zh-CN" smtClean="0"/>
              <a:pPr/>
              <a:t>52</a:t>
            </a:fld>
            <a:endParaRPr lang="en-US" altLang="zh-CN" smtClean="0"/>
          </a:p>
        </p:txBody>
      </p:sp>
      <p:sp>
        <p:nvSpPr>
          <p:cNvPr id="603138"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
        <p:nvSpPr>
          <p:cNvPr id="603139" name="Rectangle 3"/>
          <p:cNvSpPr>
            <a:spLocks noGrp="1" noRot="1" noChangeArrowheads="1"/>
          </p:cNvSpPr>
          <p:nvPr>
            <p:ph type="body" idx="1"/>
          </p:nvPr>
        </p:nvSpPr>
        <p:spPr>
          <a:xfrm>
            <a:off x="228600" y="1917700"/>
            <a:ext cx="8686800" cy="4319588"/>
          </a:xfrm>
        </p:spPr>
        <p:txBody>
          <a:bodyPr/>
          <a:lstStyle/>
          <a:p>
            <a:pPr marL="442913" indent="-442913" eaLnBrk="1" hangingPunct="1">
              <a:lnSpc>
                <a:spcPct val="90000"/>
              </a:lnSpc>
              <a:buFont typeface="Wingdings" pitchFamily="2" charset="2"/>
              <a:buNone/>
              <a:defRPr/>
            </a:pPr>
            <a:r>
              <a:rPr lang="en-US" altLang="zh-CN" dirty="0" smtClean="0">
                <a:latin typeface="Times New Roman" pitchFamily="18" charset="0"/>
                <a:ea typeface="黑体" pitchFamily="2" charset="-122"/>
              </a:rPr>
              <a:t>2.1  </a:t>
            </a:r>
            <a:r>
              <a:rPr lang="zh-CN" altLang="en-US" dirty="0" smtClean="0">
                <a:latin typeface="Times New Roman" pitchFamily="18" charset="0"/>
                <a:ea typeface="黑体" pitchFamily="2" charset="-122"/>
              </a:rPr>
              <a:t>分辨率图案</a:t>
            </a:r>
          </a:p>
          <a:p>
            <a:pPr marL="442913" indent="-442913" eaLnBrk="1" hangingPunct="1">
              <a:lnSpc>
                <a:spcPct val="150000"/>
              </a:lnSpc>
              <a:defRPr/>
            </a:pPr>
            <a:r>
              <a:rPr lang="zh-CN" altLang="en-US" dirty="0" smtClean="0">
                <a:latin typeface="Times New Roman" pitchFamily="18" charset="0"/>
                <a:ea typeface="黑体" pitchFamily="2" charset="-122"/>
              </a:rPr>
              <a:t>要直接用人工方法获取两个非常靠近的非相干点光源作为检验光学系统分辨率的目标物是比较困难的，因此，通常采用由不同粗细的</a:t>
            </a:r>
            <a:r>
              <a:rPr lang="zh-CN" altLang="en-US" dirty="0" smtClean="0">
                <a:solidFill>
                  <a:srgbClr val="FF0000"/>
                </a:solidFill>
                <a:latin typeface="Times New Roman" pitchFamily="18" charset="0"/>
                <a:ea typeface="黑体" pitchFamily="2" charset="-122"/>
              </a:rPr>
              <a:t>黑白线条</a:t>
            </a:r>
            <a:r>
              <a:rPr lang="zh-CN" altLang="en-US" dirty="0" smtClean="0">
                <a:latin typeface="Times New Roman" pitchFamily="18" charset="0"/>
                <a:ea typeface="黑体" pitchFamily="2" charset="-122"/>
              </a:rPr>
              <a:t>组成的人工特制图案或</a:t>
            </a:r>
            <a:r>
              <a:rPr lang="zh-CN" altLang="en-US" dirty="0" smtClean="0">
                <a:solidFill>
                  <a:srgbClr val="FF0000"/>
                </a:solidFill>
                <a:latin typeface="Times New Roman" pitchFamily="18" charset="0"/>
                <a:ea typeface="黑体" pitchFamily="2" charset="-122"/>
              </a:rPr>
              <a:t>实物标本</a:t>
            </a:r>
            <a:r>
              <a:rPr lang="zh-CN" altLang="en-US" dirty="0" smtClean="0">
                <a:latin typeface="Times New Roman" pitchFamily="18" charset="0"/>
                <a:ea typeface="黑体" pitchFamily="2" charset="-122"/>
              </a:rPr>
              <a:t>作为目标来检验光学系统的分辨率。</a:t>
            </a:r>
          </a:p>
          <a:p>
            <a:pPr marL="442913" indent="-442913" eaLnBrk="1" hangingPunct="1">
              <a:lnSpc>
                <a:spcPct val="150000"/>
              </a:lnSpc>
              <a:defRPr/>
            </a:pPr>
            <a:r>
              <a:rPr lang="zh-CN" altLang="en-US" dirty="0" smtClean="0">
                <a:latin typeface="Times New Roman" pitchFamily="18" charset="0"/>
                <a:ea typeface="黑体" pitchFamily="2" charset="-122"/>
              </a:rPr>
              <a:t>由于各类光学系统的用途不同，工作条件不同，要求不同，所以设计制作的分辨率图案在形式上也很不一样。</a:t>
            </a:r>
          </a:p>
        </p:txBody>
      </p:sp>
      <p:sp>
        <p:nvSpPr>
          <p:cNvPr id="32775"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2776"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2777" name="Rectangle 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2778"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79"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80" name="Rectangle 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81"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2"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3"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4"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5"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6"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7"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8"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9"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0"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1"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2"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3"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4"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5"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6"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7"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8" name="Rectangle 2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spd="slow">
    <p:circl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日期占位符 3"/>
          <p:cNvSpPr>
            <a:spLocks noGrp="1"/>
          </p:cNvSpPr>
          <p:nvPr>
            <p:ph type="dt" sz="quarter" idx="10"/>
          </p:nvPr>
        </p:nvSpPr>
        <p:spPr>
          <a:noFill/>
        </p:spPr>
        <p:txBody>
          <a:bodyPr/>
          <a:lstStyle/>
          <a:p>
            <a:fld id="{E5DA8E11-8D3C-4393-B3FD-E0A07E26677E}" type="datetime1">
              <a:rPr lang="zh-CN" altLang="en-US" smtClean="0"/>
              <a:pPr/>
              <a:t>2018/2/24</a:t>
            </a:fld>
            <a:endParaRPr lang="en-US" altLang="zh-CN" smtClean="0"/>
          </a:p>
        </p:txBody>
      </p:sp>
      <p:sp>
        <p:nvSpPr>
          <p:cNvPr id="32772" name="灯片编号占位符 5"/>
          <p:cNvSpPr>
            <a:spLocks noGrp="1"/>
          </p:cNvSpPr>
          <p:nvPr>
            <p:ph type="sldNum" sz="quarter" idx="12"/>
          </p:nvPr>
        </p:nvSpPr>
        <p:spPr>
          <a:noFill/>
        </p:spPr>
        <p:txBody>
          <a:bodyPr/>
          <a:lstStyle/>
          <a:p>
            <a:fld id="{8362C9DD-1961-427E-8383-141578B74391}" type="slidenum">
              <a:rPr lang="en-US" altLang="zh-CN" smtClean="0"/>
              <a:pPr/>
              <a:t>53</a:t>
            </a:fld>
            <a:endParaRPr lang="en-US" altLang="zh-CN" smtClean="0"/>
          </a:p>
        </p:txBody>
      </p:sp>
      <p:sp>
        <p:nvSpPr>
          <p:cNvPr id="603138"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
        <p:nvSpPr>
          <p:cNvPr id="603139" name="Rectangle 3"/>
          <p:cNvSpPr>
            <a:spLocks noGrp="1" noRot="1" noChangeArrowheads="1"/>
          </p:cNvSpPr>
          <p:nvPr>
            <p:ph type="body" idx="1"/>
          </p:nvPr>
        </p:nvSpPr>
        <p:spPr>
          <a:xfrm>
            <a:off x="228600" y="1917700"/>
            <a:ext cx="8686800" cy="4319588"/>
          </a:xfrm>
        </p:spPr>
        <p:txBody>
          <a:bodyPr/>
          <a:lstStyle/>
          <a:p>
            <a:pPr marL="442913" indent="-442913" eaLnBrk="1" hangingPunct="1">
              <a:lnSpc>
                <a:spcPct val="90000"/>
              </a:lnSpc>
              <a:buFont typeface="Wingdings" pitchFamily="2" charset="2"/>
              <a:buNone/>
              <a:defRPr/>
            </a:pPr>
            <a:r>
              <a:rPr lang="en-US" altLang="zh-CN" dirty="0" smtClean="0">
                <a:latin typeface="Times New Roman" pitchFamily="18" charset="0"/>
                <a:ea typeface="黑体" pitchFamily="2" charset="-122"/>
              </a:rPr>
              <a:t>2.1  </a:t>
            </a:r>
            <a:r>
              <a:rPr lang="zh-CN" altLang="en-US" dirty="0" smtClean="0">
                <a:latin typeface="Times New Roman" pitchFamily="18" charset="0"/>
                <a:ea typeface="黑体" pitchFamily="2" charset="-122"/>
              </a:rPr>
              <a:t>分辨率图案</a:t>
            </a:r>
          </a:p>
          <a:p>
            <a:pPr marL="442913" indent="-442913" eaLnBrk="1" hangingPunct="1">
              <a:lnSpc>
                <a:spcPct val="90000"/>
              </a:lnSpc>
              <a:buFont typeface="Wingdings" pitchFamily="2" charset="2"/>
              <a:buNone/>
              <a:defRPr/>
            </a:pPr>
            <a:endParaRPr lang="zh-CN" altLang="en-US" dirty="0" smtClean="0">
              <a:latin typeface="Times New Roman" pitchFamily="18" charset="0"/>
              <a:ea typeface="黑体" pitchFamily="2" charset="-122"/>
            </a:endParaRPr>
          </a:p>
        </p:txBody>
      </p:sp>
      <p:sp>
        <p:nvSpPr>
          <p:cNvPr id="32775"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2776"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2777" name="Rectangle 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2778"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79"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80" name="Rectangle 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2781"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2"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3"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4"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5"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6"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7"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8"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89"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0"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1"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2"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3"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4"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5"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6"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7"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8" name="Rectangle 2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2799" name="Text Box 29"/>
          <p:cNvSpPr txBox="1">
            <a:spLocks noChangeArrowheads="1"/>
          </p:cNvSpPr>
          <p:nvPr/>
        </p:nvSpPr>
        <p:spPr bwMode="auto">
          <a:xfrm>
            <a:off x="2355850" y="3281363"/>
            <a:ext cx="1477963" cy="271462"/>
          </a:xfrm>
          <a:prstGeom prst="rect">
            <a:avLst/>
          </a:prstGeom>
          <a:noFill/>
          <a:ln w="9525">
            <a:noFill/>
            <a:miter lim="800000"/>
            <a:headEnd/>
            <a:tailEnd/>
          </a:ln>
        </p:spPr>
        <p:txBody>
          <a:bodyPr/>
          <a:lstStyle/>
          <a:p>
            <a:endParaRPr lang="zh-CN" altLang="zh-CN"/>
          </a:p>
        </p:txBody>
      </p:sp>
      <p:pic>
        <p:nvPicPr>
          <p:cNvPr id="32801" name="Picture 33" descr="http://www.hisky-hk.com/images/201001/1264329408630327203.jpg"/>
          <p:cNvPicPr>
            <a:picLocks noChangeAspect="1" noChangeArrowheads="1"/>
          </p:cNvPicPr>
          <p:nvPr/>
        </p:nvPicPr>
        <p:blipFill>
          <a:blip r:embed="rId2"/>
          <a:srcRect l="10519" r="6370"/>
          <a:stretch>
            <a:fillRect/>
          </a:stretch>
        </p:blipFill>
        <p:spPr bwMode="auto">
          <a:xfrm>
            <a:off x="6448425" y="1239727"/>
            <a:ext cx="1952625" cy="1827323"/>
          </a:xfrm>
          <a:prstGeom prst="rect">
            <a:avLst/>
          </a:prstGeom>
          <a:noFill/>
          <a:ln>
            <a:solidFill>
              <a:schemeClr val="tx1"/>
            </a:solidFill>
          </a:ln>
        </p:spPr>
      </p:pic>
      <p:sp>
        <p:nvSpPr>
          <p:cNvPr id="33" name="矩形 32"/>
          <p:cNvSpPr/>
          <p:nvPr/>
        </p:nvSpPr>
        <p:spPr>
          <a:xfrm>
            <a:off x="4740823" y="6178034"/>
            <a:ext cx="3300904" cy="369332"/>
          </a:xfrm>
          <a:prstGeom prst="rect">
            <a:avLst/>
          </a:prstGeom>
        </p:spPr>
        <p:txBody>
          <a:bodyPr wrap="none">
            <a:spAutoFit/>
          </a:bodyPr>
          <a:lstStyle/>
          <a:p>
            <a:r>
              <a:rPr lang="en-US" altLang="zh-CN" dirty="0"/>
              <a:t>ISO12233</a:t>
            </a:r>
            <a:r>
              <a:rPr lang="zh-CN" altLang="en-US" dirty="0"/>
              <a:t>成像分辨率测试标板</a:t>
            </a:r>
          </a:p>
        </p:txBody>
      </p:sp>
      <p:pic>
        <p:nvPicPr>
          <p:cNvPr id="165892" name="Picture 4" descr="http://cimg2.163.com/catchimg/20071226/3029582_30.jpg"/>
          <p:cNvPicPr>
            <a:picLocks noChangeAspect="1" noChangeArrowheads="1"/>
          </p:cNvPicPr>
          <p:nvPr/>
        </p:nvPicPr>
        <p:blipFill>
          <a:blip r:embed="rId3"/>
          <a:srcRect/>
          <a:stretch>
            <a:fillRect/>
          </a:stretch>
        </p:blipFill>
        <p:spPr bwMode="auto">
          <a:xfrm>
            <a:off x="3822700" y="3201987"/>
            <a:ext cx="4762500" cy="2886076"/>
          </a:xfrm>
          <a:prstGeom prst="rect">
            <a:avLst/>
          </a:prstGeom>
          <a:noFill/>
        </p:spPr>
      </p:pic>
      <p:pic>
        <p:nvPicPr>
          <p:cNvPr id="165894" name="Picture 6" descr="http://www.hengyangtech.com/uploads/pictures/products/prm7212812382.jpg"/>
          <p:cNvPicPr>
            <a:picLocks noChangeAspect="1" noChangeArrowheads="1"/>
          </p:cNvPicPr>
          <p:nvPr/>
        </p:nvPicPr>
        <p:blipFill>
          <a:blip r:embed="rId4"/>
          <a:srcRect/>
          <a:stretch>
            <a:fillRect/>
          </a:stretch>
        </p:blipFill>
        <p:spPr bwMode="auto">
          <a:xfrm>
            <a:off x="212725" y="2640012"/>
            <a:ext cx="3333750" cy="3190876"/>
          </a:xfrm>
          <a:prstGeom prst="rect">
            <a:avLst/>
          </a:prstGeom>
          <a:noFill/>
        </p:spPr>
      </p:pic>
    </p:spTree>
  </p:cSld>
  <p:clrMapOvr>
    <a:masterClrMapping/>
  </p:clrMapOvr>
  <p:transition spd="slow">
    <p:circl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3796" name="日期占位符 3"/>
          <p:cNvSpPr>
            <a:spLocks noGrp="1"/>
          </p:cNvSpPr>
          <p:nvPr>
            <p:ph type="dt" sz="quarter" idx="10"/>
          </p:nvPr>
        </p:nvSpPr>
        <p:spPr>
          <a:noFill/>
        </p:spPr>
        <p:txBody>
          <a:bodyPr/>
          <a:lstStyle/>
          <a:p>
            <a:fld id="{3A7A2A59-F153-4C59-B1A5-338A08AB04CB}" type="datetime1">
              <a:rPr lang="zh-CN" altLang="en-US" smtClean="0"/>
              <a:pPr/>
              <a:t>2018/2/24</a:t>
            </a:fld>
            <a:endParaRPr lang="en-US" altLang="zh-CN" smtClean="0"/>
          </a:p>
        </p:txBody>
      </p:sp>
      <p:sp>
        <p:nvSpPr>
          <p:cNvPr id="33797" name="灯片编号占位符 5"/>
          <p:cNvSpPr>
            <a:spLocks noGrp="1"/>
          </p:cNvSpPr>
          <p:nvPr>
            <p:ph type="sldNum" sz="quarter" idx="12"/>
          </p:nvPr>
        </p:nvSpPr>
        <p:spPr>
          <a:noFill/>
        </p:spPr>
        <p:txBody>
          <a:bodyPr/>
          <a:lstStyle/>
          <a:p>
            <a:fld id="{4F5C36A9-7E21-45BB-8418-A6766C39D0A5}" type="slidenum">
              <a:rPr lang="en-US" altLang="zh-CN" smtClean="0"/>
              <a:pPr/>
              <a:t>54</a:t>
            </a:fld>
            <a:endParaRPr lang="en-US" altLang="zh-CN" smtClean="0"/>
          </a:p>
        </p:txBody>
      </p:sp>
      <p:sp>
        <p:nvSpPr>
          <p:cNvPr id="33799" name="Rectangle 3"/>
          <p:cNvSpPr>
            <a:spLocks noGrp="1" noRot="1" noChangeArrowheads="1"/>
          </p:cNvSpPr>
          <p:nvPr>
            <p:ph type="body" idx="1"/>
          </p:nvPr>
        </p:nvSpPr>
        <p:spPr>
          <a:xfrm>
            <a:off x="228600" y="1917700"/>
            <a:ext cx="8743950" cy="4319588"/>
          </a:xfrm>
        </p:spPr>
        <p:txBody>
          <a:bodyPr/>
          <a:lstStyle/>
          <a:p>
            <a:pPr marL="271463" indent="-271463" eaLnBrk="1" hangingPunct="1">
              <a:lnSpc>
                <a:spcPct val="90000"/>
              </a:lnSpc>
              <a:buFont typeface="Wingdings" pitchFamily="2" charset="2"/>
              <a:buNone/>
            </a:pPr>
            <a:r>
              <a:rPr lang="en-US" altLang="zh-CN" dirty="0" smtClean="0">
                <a:effectLst/>
                <a:latin typeface="Times New Roman" pitchFamily="18" charset="0"/>
                <a:ea typeface="黑体" pitchFamily="2" charset="-122"/>
              </a:rPr>
              <a:t>2.1  </a:t>
            </a:r>
            <a:r>
              <a:rPr lang="zh-CN" altLang="en-US" dirty="0" smtClean="0">
                <a:effectLst/>
                <a:latin typeface="Times New Roman" pitchFamily="18" charset="0"/>
                <a:ea typeface="黑体" pitchFamily="2" charset="-122"/>
              </a:rPr>
              <a:t>分辨率图案</a:t>
            </a:r>
          </a:p>
          <a:p>
            <a:pPr marL="271463" indent="-271463" eaLnBrk="1" hangingPunct="1">
              <a:lnSpc>
                <a:spcPct val="90000"/>
              </a:lnSpc>
            </a:pPr>
            <a:r>
              <a:rPr lang="en-US" altLang="zh-CN" dirty="0" smtClean="0">
                <a:effectLst/>
                <a:latin typeface="Times New Roman" pitchFamily="18" charset="0"/>
                <a:ea typeface="黑体" pitchFamily="2" charset="-122"/>
              </a:rPr>
              <a:t>ZBN35003-89</a:t>
            </a:r>
            <a:r>
              <a:rPr lang="zh-CN" altLang="en-US" dirty="0" smtClean="0">
                <a:effectLst/>
                <a:latin typeface="Times New Roman" pitchFamily="18" charset="0"/>
                <a:ea typeface="黑体" pitchFamily="2" charset="-122"/>
              </a:rPr>
              <a:t>国家专业标准图案例：</a:t>
            </a:r>
          </a:p>
          <a:p>
            <a:pPr marL="628650" lvl="1" indent="-177800" eaLnBrk="1" hangingPunct="1">
              <a:lnSpc>
                <a:spcPct val="90000"/>
              </a:lnSpc>
            </a:pPr>
            <a:r>
              <a:rPr lang="zh-CN" altLang="en-US" sz="2400" dirty="0" smtClean="0">
                <a:effectLst/>
                <a:latin typeface="Times New Roman" pitchFamily="18" charset="0"/>
                <a:ea typeface="黑体" pitchFamily="2" charset="-122"/>
              </a:rPr>
              <a:t>线条宽度：宽度</a:t>
            </a:r>
            <a:r>
              <a:rPr lang="en-US" altLang="zh-CN" sz="2400" i="1" dirty="0" smtClean="0">
                <a:effectLst/>
                <a:latin typeface="Times New Roman" pitchFamily="18" charset="0"/>
                <a:ea typeface="黑体" pitchFamily="2" charset="-122"/>
              </a:rPr>
              <a:t>P</a:t>
            </a:r>
            <a:r>
              <a:rPr lang="zh-CN" altLang="en-US" sz="2400" dirty="0" smtClean="0">
                <a:effectLst/>
                <a:latin typeface="Times New Roman" pitchFamily="18" charset="0"/>
                <a:ea typeface="黑体" pitchFamily="2" charset="-122"/>
              </a:rPr>
              <a:t>按等比级数规律依次递减</a:t>
            </a:r>
            <a:endParaRPr lang="zh-CN" altLang="en-US" sz="2400" i="1" dirty="0" smtClean="0">
              <a:effectLst/>
              <a:latin typeface="Times New Roman" pitchFamily="18" charset="0"/>
              <a:ea typeface="黑体" pitchFamily="2" charset="-122"/>
            </a:endParaRPr>
          </a:p>
          <a:p>
            <a:pPr marL="628650" lvl="1" indent="-177800" eaLnBrk="1" hangingPunct="1">
              <a:lnSpc>
                <a:spcPct val="90000"/>
              </a:lnSpc>
              <a:buFont typeface="Wingdings" pitchFamily="2" charset="2"/>
              <a:buNone/>
            </a:pPr>
            <a:r>
              <a:rPr lang="zh-CN" altLang="en-US" sz="1800" i="1" dirty="0" smtClean="0">
                <a:effectLst/>
                <a:latin typeface="Times New Roman" pitchFamily="18" charset="0"/>
                <a:ea typeface="黑体" pitchFamily="2" charset="-122"/>
              </a:rPr>
              <a:t>                       </a:t>
            </a:r>
            <a:r>
              <a:rPr lang="en-US" altLang="zh-CN" sz="1800" i="1" dirty="0" smtClean="0">
                <a:effectLst/>
                <a:latin typeface="Times New Roman" pitchFamily="18" charset="0"/>
                <a:ea typeface="黑体" pitchFamily="2" charset="-122"/>
              </a:rPr>
              <a:t>P</a:t>
            </a:r>
            <a:r>
              <a:rPr lang="zh-CN" altLang="en-US" sz="1800" dirty="0" smtClean="0">
                <a:effectLst/>
                <a:latin typeface="Times New Roman" pitchFamily="18" charset="0"/>
                <a:ea typeface="黑体" pitchFamily="2" charset="-122"/>
              </a:rPr>
              <a:t>＝</a:t>
            </a:r>
            <a:r>
              <a:rPr lang="en-US" altLang="zh-CN" sz="1800" i="1" dirty="0" smtClean="0">
                <a:effectLst/>
                <a:latin typeface="Times New Roman" pitchFamily="18" charset="0"/>
                <a:ea typeface="黑体" pitchFamily="2" charset="-122"/>
              </a:rPr>
              <a:t>P</a:t>
            </a:r>
            <a:r>
              <a:rPr lang="en-US" altLang="zh-CN" sz="1800" baseline="-25000" dirty="0" smtClean="0">
                <a:effectLst/>
                <a:latin typeface="Times New Roman" pitchFamily="18" charset="0"/>
                <a:ea typeface="黑体" pitchFamily="2" charset="-122"/>
              </a:rPr>
              <a:t>0 </a:t>
            </a:r>
            <a:r>
              <a:rPr lang="en-US" altLang="zh-CN" sz="1800" i="1" dirty="0" smtClean="0">
                <a:effectLst/>
                <a:latin typeface="Times New Roman" pitchFamily="18" charset="0"/>
                <a:ea typeface="黑体" pitchFamily="2" charset="-122"/>
              </a:rPr>
              <a:t>q </a:t>
            </a:r>
            <a:r>
              <a:rPr lang="en-US" altLang="zh-CN" sz="1800" i="1" baseline="30000" dirty="0" smtClean="0">
                <a:effectLst/>
                <a:latin typeface="Times New Roman" pitchFamily="18" charset="0"/>
                <a:ea typeface="黑体" pitchFamily="2" charset="-122"/>
              </a:rPr>
              <a:t>n</a:t>
            </a:r>
            <a:r>
              <a:rPr lang="en-US" altLang="zh-CN" sz="1800" baseline="30000" dirty="0" smtClean="0">
                <a:effectLst/>
                <a:latin typeface="Times New Roman" pitchFamily="18" charset="0"/>
                <a:ea typeface="黑体" pitchFamily="2" charset="-122"/>
              </a:rPr>
              <a:t>-1</a:t>
            </a:r>
          </a:p>
          <a:p>
            <a:pPr marL="628650" lvl="1" indent="-177800" eaLnBrk="1" hangingPunct="1">
              <a:lnSpc>
                <a:spcPct val="90000"/>
              </a:lnSpc>
              <a:buFont typeface="Wingdings" pitchFamily="2" charset="2"/>
              <a:buNone/>
            </a:pPr>
            <a:r>
              <a:rPr lang="en-US" altLang="zh-CN" sz="1800" i="1" dirty="0" smtClean="0">
                <a:effectLst/>
                <a:latin typeface="Times New Roman" pitchFamily="18" charset="0"/>
                <a:ea typeface="黑体" pitchFamily="2" charset="-122"/>
              </a:rPr>
              <a:t>P</a:t>
            </a:r>
            <a:r>
              <a:rPr lang="en-US" altLang="zh-CN" sz="1800" baseline="-25000" dirty="0" smtClean="0">
                <a:effectLst/>
                <a:latin typeface="Times New Roman" pitchFamily="18" charset="0"/>
                <a:ea typeface="黑体" pitchFamily="2" charset="-122"/>
              </a:rPr>
              <a:t>0</a:t>
            </a:r>
            <a:r>
              <a:rPr lang="zh-CN" altLang="en-US" sz="1800" dirty="0" smtClean="0">
                <a:effectLst/>
                <a:latin typeface="Times New Roman" pitchFamily="18" charset="0"/>
                <a:ea typeface="黑体" pitchFamily="2" charset="-122"/>
              </a:rPr>
              <a:t>＝</a:t>
            </a:r>
            <a:r>
              <a:rPr lang="en-US" altLang="zh-CN" sz="1800" dirty="0" smtClean="0">
                <a:effectLst/>
                <a:latin typeface="Times New Roman" pitchFamily="18" charset="0"/>
                <a:ea typeface="黑体" pitchFamily="2" charset="-122"/>
              </a:rPr>
              <a:t>160μm</a:t>
            </a:r>
            <a:r>
              <a:rPr lang="zh-CN" altLang="en-US" sz="1800" dirty="0" smtClean="0">
                <a:effectLst/>
                <a:latin typeface="Times New Roman" pitchFamily="18" charset="0"/>
                <a:ea typeface="黑体" pitchFamily="2" charset="-122"/>
              </a:rPr>
              <a:t>；                               ；</a:t>
            </a:r>
            <a:r>
              <a:rPr lang="en-US" altLang="zh-CN" sz="1800" i="1" dirty="0" smtClean="0">
                <a:effectLst/>
                <a:latin typeface="Times New Roman" pitchFamily="18" charset="0"/>
                <a:ea typeface="黑体" pitchFamily="2" charset="-122"/>
              </a:rPr>
              <a:t>n</a:t>
            </a:r>
            <a:r>
              <a:rPr lang="zh-CN" altLang="en-US" sz="1800" dirty="0" smtClean="0">
                <a:effectLst/>
                <a:latin typeface="Times New Roman" pitchFamily="18" charset="0"/>
                <a:ea typeface="黑体" pitchFamily="2" charset="-122"/>
              </a:rPr>
              <a:t>＝</a:t>
            </a:r>
            <a:r>
              <a:rPr lang="en-US" altLang="zh-CN" sz="1800" dirty="0" smtClean="0">
                <a:effectLst/>
                <a:latin typeface="Times New Roman" pitchFamily="18" charset="0"/>
                <a:ea typeface="黑体" pitchFamily="2" charset="-122"/>
              </a:rPr>
              <a:t>1</a:t>
            </a:r>
            <a:r>
              <a:rPr lang="zh-CN" altLang="en-US" sz="1800" dirty="0" smtClean="0">
                <a:effectLst/>
                <a:latin typeface="Times New Roman" pitchFamily="18" charset="0"/>
                <a:ea typeface="黑体" pitchFamily="2" charset="-122"/>
              </a:rPr>
              <a:t>～</a:t>
            </a:r>
            <a:r>
              <a:rPr lang="en-US" altLang="zh-CN" sz="1800" dirty="0" smtClean="0">
                <a:effectLst/>
                <a:latin typeface="Times New Roman" pitchFamily="18" charset="0"/>
                <a:ea typeface="黑体" pitchFamily="2" charset="-122"/>
              </a:rPr>
              <a:t>85</a:t>
            </a:r>
          </a:p>
          <a:p>
            <a:pPr marL="628650" lvl="1" indent="-177800" eaLnBrk="1" hangingPunct="1">
              <a:lnSpc>
                <a:spcPct val="90000"/>
              </a:lnSpc>
              <a:buFont typeface="Wingdings" pitchFamily="2" charset="2"/>
              <a:buNone/>
            </a:pPr>
            <a:r>
              <a:rPr lang="en-US" altLang="zh-CN" sz="1800" i="1" dirty="0" smtClean="0">
                <a:effectLst/>
                <a:latin typeface="Times New Roman" pitchFamily="18" charset="0"/>
                <a:ea typeface="黑体" pitchFamily="2" charset="-122"/>
              </a:rPr>
              <a:t>P</a:t>
            </a:r>
            <a:r>
              <a:rPr lang="en-US" altLang="zh-CN" sz="1800" baseline="-25000" dirty="0" smtClean="0">
                <a:effectLst/>
                <a:latin typeface="Times New Roman" pitchFamily="18" charset="0"/>
                <a:ea typeface="黑体" pitchFamily="2" charset="-122"/>
              </a:rPr>
              <a:t>84</a:t>
            </a:r>
            <a:r>
              <a:rPr lang="zh-CN" altLang="en-US" sz="1800" dirty="0" smtClean="0">
                <a:effectLst/>
                <a:latin typeface="Times New Roman" pitchFamily="18" charset="0"/>
                <a:ea typeface="黑体" pitchFamily="2" charset="-122"/>
              </a:rPr>
              <a:t>＝</a:t>
            </a:r>
            <a:r>
              <a:rPr lang="en-US" altLang="zh-CN" sz="1800" dirty="0" smtClean="0">
                <a:effectLst/>
                <a:latin typeface="Times New Roman" pitchFamily="18" charset="0"/>
                <a:ea typeface="黑体" pitchFamily="2" charset="-122"/>
              </a:rPr>
              <a:t>1.25μm</a:t>
            </a:r>
          </a:p>
          <a:p>
            <a:pPr marL="628650" lvl="1" indent="-177800" eaLnBrk="1" hangingPunct="1">
              <a:lnSpc>
                <a:spcPct val="90000"/>
              </a:lnSpc>
            </a:pPr>
            <a:endParaRPr lang="en-US" altLang="zh-CN" sz="1800" dirty="0" smtClean="0">
              <a:effectLst/>
              <a:latin typeface="Times New Roman" pitchFamily="18" charset="0"/>
              <a:ea typeface="黑体" pitchFamily="2" charset="-122"/>
            </a:endParaRPr>
          </a:p>
          <a:p>
            <a:pPr marL="628650" lvl="1" indent="-177800" eaLnBrk="1" hangingPunct="1">
              <a:lnSpc>
                <a:spcPct val="90000"/>
              </a:lnSpc>
            </a:pPr>
            <a:r>
              <a:rPr lang="zh-CN" altLang="en-US" sz="2400" dirty="0" smtClean="0">
                <a:effectLst/>
                <a:latin typeface="Times New Roman" pitchFamily="18" charset="0"/>
                <a:ea typeface="黑体" pitchFamily="2" charset="-122"/>
              </a:rPr>
              <a:t>分组：将</a:t>
            </a:r>
            <a:r>
              <a:rPr lang="en-US" altLang="zh-CN" sz="2400" dirty="0" smtClean="0">
                <a:effectLst/>
                <a:latin typeface="Times New Roman" pitchFamily="18" charset="0"/>
                <a:ea typeface="黑体" pitchFamily="2" charset="-122"/>
              </a:rPr>
              <a:t>85</a:t>
            </a:r>
            <a:r>
              <a:rPr lang="zh-CN" altLang="en-US" sz="2400" dirty="0" smtClean="0">
                <a:effectLst/>
                <a:latin typeface="Times New Roman" pitchFamily="18" charset="0"/>
                <a:ea typeface="黑体" pitchFamily="2" charset="-122"/>
              </a:rPr>
              <a:t>种不同宽度的分辨率线条分成七组，通常称为</a:t>
            </a:r>
            <a:r>
              <a:rPr lang="en-US" altLang="zh-CN" sz="2400" dirty="0" smtClean="0">
                <a:effectLst/>
                <a:latin typeface="Times New Roman" pitchFamily="18" charset="0"/>
                <a:ea typeface="黑体" pitchFamily="2" charset="-122"/>
              </a:rPr>
              <a:t>1</a:t>
            </a:r>
            <a:r>
              <a:rPr lang="zh-CN" altLang="en-US" sz="2400" dirty="0" smtClean="0">
                <a:effectLst/>
                <a:latin typeface="Times New Roman" pitchFamily="18" charset="0"/>
                <a:ea typeface="黑体" pitchFamily="2" charset="-122"/>
              </a:rPr>
              <a:t>号到</a:t>
            </a:r>
            <a:r>
              <a:rPr lang="en-US" altLang="zh-CN" sz="2400" dirty="0" smtClean="0">
                <a:effectLst/>
                <a:latin typeface="Times New Roman" pitchFamily="18" charset="0"/>
                <a:ea typeface="黑体" pitchFamily="2" charset="-122"/>
              </a:rPr>
              <a:t>7</a:t>
            </a:r>
            <a:r>
              <a:rPr lang="zh-CN" altLang="en-US" sz="2400" dirty="0" smtClean="0">
                <a:effectLst/>
                <a:latin typeface="Times New Roman" pitchFamily="18" charset="0"/>
                <a:ea typeface="黑体" pitchFamily="2" charset="-122"/>
              </a:rPr>
              <a:t>号板，即</a:t>
            </a:r>
            <a:r>
              <a:rPr lang="en-US" altLang="zh-CN" sz="2400" dirty="0" smtClean="0">
                <a:effectLst/>
                <a:latin typeface="Times New Roman" pitchFamily="18" charset="0"/>
                <a:ea typeface="黑体" pitchFamily="2" charset="-122"/>
              </a:rPr>
              <a:t>A1~A7</a:t>
            </a:r>
            <a:r>
              <a:rPr lang="zh-CN" altLang="en-US" sz="2400" dirty="0" smtClean="0">
                <a:effectLst/>
                <a:latin typeface="Times New Roman" pitchFamily="18" charset="0"/>
                <a:ea typeface="黑体" pitchFamily="2" charset="-122"/>
              </a:rPr>
              <a:t>分辨率板。</a:t>
            </a:r>
          </a:p>
          <a:p>
            <a:pPr marL="963613" lvl="2" indent="-155575" eaLnBrk="1" hangingPunct="1">
              <a:lnSpc>
                <a:spcPct val="90000"/>
              </a:lnSpc>
            </a:pPr>
            <a:r>
              <a:rPr lang="zh-CN" altLang="en-US" sz="2000" b="1" dirty="0" smtClean="0">
                <a:latin typeface="Times New Roman" pitchFamily="18" charset="0"/>
                <a:ea typeface="黑体" pitchFamily="2" charset="-122"/>
              </a:rPr>
              <a:t>    每号分辨率板包含有</a:t>
            </a:r>
            <a:r>
              <a:rPr lang="en-US" altLang="zh-CN" sz="2000" b="1" dirty="0" smtClean="0">
                <a:latin typeface="Times New Roman" pitchFamily="18" charset="0"/>
                <a:ea typeface="黑体" pitchFamily="2" charset="-122"/>
              </a:rPr>
              <a:t>25</a:t>
            </a:r>
            <a:r>
              <a:rPr lang="zh-CN" altLang="en-US" sz="2000" b="1" dirty="0" smtClean="0">
                <a:latin typeface="Times New Roman" pitchFamily="18" charset="0"/>
                <a:ea typeface="黑体" pitchFamily="2" charset="-122"/>
              </a:rPr>
              <a:t>种不同宽度的分辨率线条；</a:t>
            </a:r>
          </a:p>
          <a:p>
            <a:pPr marL="963613" lvl="2" indent="-155575" eaLnBrk="1" hangingPunct="1">
              <a:lnSpc>
                <a:spcPct val="90000"/>
              </a:lnSpc>
            </a:pPr>
            <a:r>
              <a:rPr lang="zh-CN" altLang="en-US" sz="2000" b="1" dirty="0" smtClean="0">
                <a:latin typeface="Times New Roman" pitchFamily="18" charset="0"/>
                <a:ea typeface="黑体" pitchFamily="2" charset="-122"/>
              </a:rPr>
              <a:t>    相邻两号分辨率图案之间有一部分单元是彼此重复的 ；</a:t>
            </a:r>
          </a:p>
          <a:p>
            <a:pPr marL="963613" lvl="2" indent="-155575" eaLnBrk="1" hangingPunct="1">
              <a:lnSpc>
                <a:spcPct val="90000"/>
              </a:lnSpc>
            </a:pPr>
            <a:r>
              <a:rPr lang="zh-CN" altLang="en-US" sz="2000" b="1" dirty="0" smtClean="0">
                <a:latin typeface="Times New Roman" pitchFamily="18" charset="0"/>
                <a:ea typeface="黑体" pitchFamily="2" charset="-122"/>
              </a:rPr>
              <a:t>    同一宽度的分辨率线条又按四个不同的方向排列构成一个“单元”</a:t>
            </a:r>
            <a:r>
              <a:rPr lang="zh-CN" altLang="en-US" b="1" dirty="0" smtClean="0">
                <a:latin typeface="Times New Roman" pitchFamily="18" charset="0"/>
                <a:ea typeface="黑体" pitchFamily="2" charset="-122"/>
              </a:rPr>
              <a:t> </a:t>
            </a:r>
          </a:p>
        </p:txBody>
      </p:sp>
      <p:sp>
        <p:nvSpPr>
          <p:cNvPr id="33800"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380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3802"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3803"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3804"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3805"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06"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07"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08"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09"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0"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1"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2"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3"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4"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5"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6"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7"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8"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19"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20"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21"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3822"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graphicFrame>
        <p:nvGraphicFramePr>
          <p:cNvPr id="33794" name="Object 27"/>
          <p:cNvGraphicFramePr>
            <a:graphicFrameLocks noChangeAspect="1"/>
          </p:cNvGraphicFramePr>
          <p:nvPr/>
        </p:nvGraphicFramePr>
        <p:xfrm>
          <a:off x="6630988" y="1271588"/>
          <a:ext cx="2060575" cy="2332037"/>
        </p:xfrm>
        <a:graphic>
          <a:graphicData uri="http://schemas.openxmlformats.org/presentationml/2006/ole">
            <p:oleObj spid="_x0000_s33794" name="位图图像" r:id="rId3" imgW="2600000" imgH="2943636" progId="PBrush">
              <p:embed/>
            </p:oleObj>
          </a:graphicData>
        </a:graphic>
      </p:graphicFrame>
      <p:graphicFrame>
        <p:nvGraphicFramePr>
          <p:cNvPr id="33795" name="Object 28"/>
          <p:cNvGraphicFramePr>
            <a:graphicFrameLocks noChangeAspect="1"/>
          </p:cNvGraphicFramePr>
          <p:nvPr/>
        </p:nvGraphicFramePr>
        <p:xfrm>
          <a:off x="2041525" y="3394075"/>
          <a:ext cx="2027238" cy="381000"/>
        </p:xfrm>
        <a:graphic>
          <a:graphicData uri="http://schemas.openxmlformats.org/presentationml/2006/ole">
            <p:oleObj spid="_x0000_s33795" name="Microsoft 公式 3.0" r:id="rId4" imgW="30480317" imgH="5791517" progId="Equation.3">
              <p:embed/>
            </p:oleObj>
          </a:graphicData>
        </a:graphic>
      </p:graphicFrame>
      <p:sp>
        <p:nvSpPr>
          <p:cNvPr id="33824" name="AutoShape 32" descr="http://www.hengyangtech.com/uploads/pictures/products/prm7212812382.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33"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Tree>
  </p:cSld>
  <p:clrMapOvr>
    <a:masterClrMapping/>
  </p:clrMapOvr>
  <p:transition spd="slow">
    <p:circl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日期占位符 3"/>
          <p:cNvSpPr>
            <a:spLocks noGrp="1"/>
          </p:cNvSpPr>
          <p:nvPr>
            <p:ph type="dt" sz="quarter" idx="10"/>
          </p:nvPr>
        </p:nvSpPr>
        <p:spPr>
          <a:noFill/>
        </p:spPr>
        <p:txBody>
          <a:bodyPr/>
          <a:lstStyle/>
          <a:p>
            <a:fld id="{8EB5D325-31AC-465C-9B8C-7D788EA0F19B}" type="datetime1">
              <a:rPr lang="zh-CN" altLang="en-US" smtClean="0"/>
              <a:pPr/>
              <a:t>2018/2/24</a:t>
            </a:fld>
            <a:endParaRPr lang="en-US" altLang="zh-CN" smtClean="0"/>
          </a:p>
        </p:txBody>
      </p:sp>
      <p:sp>
        <p:nvSpPr>
          <p:cNvPr id="113667" name="灯片编号占位符 5"/>
          <p:cNvSpPr>
            <a:spLocks noGrp="1"/>
          </p:cNvSpPr>
          <p:nvPr>
            <p:ph type="sldNum" sz="quarter" idx="12"/>
          </p:nvPr>
        </p:nvSpPr>
        <p:spPr>
          <a:noFill/>
        </p:spPr>
        <p:txBody>
          <a:bodyPr/>
          <a:lstStyle/>
          <a:p>
            <a:fld id="{A65A8D4E-4755-4A85-BFE1-6B500C1C5A9C}" type="slidenum">
              <a:rPr lang="en-US" altLang="zh-CN" smtClean="0"/>
              <a:pPr/>
              <a:t>55</a:t>
            </a:fld>
            <a:endParaRPr lang="en-US" altLang="zh-CN" smtClean="0"/>
          </a:p>
        </p:txBody>
      </p:sp>
      <p:sp>
        <p:nvSpPr>
          <p:cNvPr id="605187" name="Rectangle 3"/>
          <p:cNvSpPr>
            <a:spLocks noGrp="1" noRot="1" noChangeArrowheads="1"/>
          </p:cNvSpPr>
          <p:nvPr>
            <p:ph type="body" idx="1"/>
          </p:nvPr>
        </p:nvSpPr>
        <p:spPr>
          <a:xfrm>
            <a:off x="228600" y="1917700"/>
            <a:ext cx="8472488" cy="4319588"/>
          </a:xfrm>
        </p:spPr>
        <p:txBody>
          <a:bodyPr/>
          <a:lstStyle/>
          <a:p>
            <a:pPr marL="271463" indent="-271463" eaLnBrk="1" hangingPunct="1">
              <a:buFont typeface="Wingdings" pitchFamily="2" charset="2"/>
              <a:buNone/>
              <a:defRPr/>
            </a:pPr>
            <a:r>
              <a:rPr lang="en-US" altLang="zh-CN" smtClean="0">
                <a:latin typeface="Times New Roman" pitchFamily="18" charset="0"/>
                <a:ea typeface="黑体" pitchFamily="2" charset="-122"/>
              </a:rPr>
              <a:t>2.2 </a:t>
            </a:r>
            <a:r>
              <a:rPr lang="zh-CN" altLang="en-US" smtClean="0">
                <a:latin typeface="Times New Roman" pitchFamily="18" charset="0"/>
                <a:ea typeface="黑体" pitchFamily="2" charset="-122"/>
              </a:rPr>
              <a:t>望远系统分辨率的测量</a:t>
            </a:r>
          </a:p>
          <a:p>
            <a:pPr marL="271463" indent="-271463" eaLnBrk="1" hangingPunct="1">
              <a:defRPr/>
            </a:pPr>
            <a:r>
              <a:rPr lang="zh-CN" altLang="en-US" smtClean="0">
                <a:latin typeface="Times New Roman" pitchFamily="18" charset="0"/>
                <a:ea typeface="黑体" pitchFamily="2" charset="-122"/>
              </a:rPr>
              <a:t>在光具座上测量望远系统分辨率时的光路安排与星点检验时类似，只是将星孔板换成分辨率板并增加一毛玻璃而已。</a:t>
            </a:r>
          </a:p>
        </p:txBody>
      </p:sp>
      <p:sp>
        <p:nvSpPr>
          <p:cNvPr id="113670"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11367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13672"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13673"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13674"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13675"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76"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77"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78"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79"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0"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1"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2"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3"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4"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5"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6"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7"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8"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89"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90"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91"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92"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13693"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pSp>
        <p:nvGrpSpPr>
          <p:cNvPr id="113694" name="Group 28"/>
          <p:cNvGrpSpPr>
            <a:grpSpLocks/>
          </p:cNvGrpSpPr>
          <p:nvPr/>
        </p:nvGrpSpPr>
        <p:grpSpPr bwMode="auto">
          <a:xfrm>
            <a:off x="671513" y="3486150"/>
            <a:ext cx="7958137" cy="2471738"/>
            <a:chOff x="279" y="2124"/>
            <a:chExt cx="5013" cy="1557"/>
          </a:xfrm>
        </p:grpSpPr>
        <p:sp>
          <p:nvSpPr>
            <p:cNvPr id="113695" name="Rectangle 29"/>
            <p:cNvSpPr>
              <a:spLocks noChangeArrowheads="1"/>
            </p:cNvSpPr>
            <p:nvPr/>
          </p:nvSpPr>
          <p:spPr bwMode="auto">
            <a:xfrm>
              <a:off x="279" y="2124"/>
              <a:ext cx="5013" cy="1557"/>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113696" name="Group 30"/>
            <p:cNvGrpSpPr>
              <a:grpSpLocks/>
            </p:cNvGrpSpPr>
            <p:nvPr/>
          </p:nvGrpSpPr>
          <p:grpSpPr bwMode="auto">
            <a:xfrm>
              <a:off x="283" y="2204"/>
              <a:ext cx="4988" cy="1469"/>
              <a:chOff x="2754" y="5045"/>
              <a:chExt cx="6435" cy="1895"/>
            </a:xfrm>
          </p:grpSpPr>
          <p:sp>
            <p:nvSpPr>
              <p:cNvPr id="605215" name="Text Box 31"/>
              <p:cNvSpPr txBox="1">
                <a:spLocks noChangeArrowheads="1"/>
              </p:cNvSpPr>
              <p:nvPr/>
            </p:nvSpPr>
            <p:spPr bwMode="auto">
              <a:xfrm>
                <a:off x="2904" y="5045"/>
                <a:ext cx="6165" cy="660"/>
              </a:xfrm>
              <a:prstGeom prst="rect">
                <a:avLst/>
              </a:prstGeom>
              <a:noFill/>
              <a:ln w="9525">
                <a:noFill/>
                <a:miter lim="800000"/>
                <a:headEnd/>
                <a:tailEnd/>
              </a:ln>
              <a:effectLst/>
            </p:spPr>
            <p:txBody>
              <a:bodyPr/>
              <a:lstStyle/>
              <a:p>
                <a:pPr algn="just">
                  <a:defRPr/>
                </a:pPr>
                <a:r>
                  <a:rPr lang="zh-CN" altLang="en-US" sz="1600" b="1">
                    <a:effectLst>
                      <a:outerShdw blurRad="38100" dist="38100" dir="2700000" algn="tl">
                        <a:srgbClr val="C0C0C0"/>
                      </a:outerShdw>
                    </a:effectLst>
                    <a:latin typeface="Times New Roman" pitchFamily="18" charset="0"/>
                  </a:rPr>
                  <a:t>光源          聚光镜      毛玻璃     分辨率板   准直物镜      被测系统         前置镜</a:t>
                </a:r>
                <a:endParaRPr lang="zh-CN" altLang="en-US" sz="1600" b="1">
                  <a:effectLst>
                    <a:outerShdw blurRad="38100" dist="38100" dir="2700000" algn="tl">
                      <a:srgbClr val="C0C0C0"/>
                    </a:outerShdw>
                  </a:effectLst>
                </a:endParaRPr>
              </a:p>
            </p:txBody>
          </p:sp>
          <p:sp>
            <p:nvSpPr>
              <p:cNvPr id="113698" name="Oval 32"/>
              <p:cNvSpPr>
                <a:spLocks noChangeArrowheads="1"/>
              </p:cNvSpPr>
              <p:nvPr/>
            </p:nvSpPr>
            <p:spPr bwMode="auto">
              <a:xfrm>
                <a:off x="4194" y="5705"/>
                <a:ext cx="300" cy="585"/>
              </a:xfrm>
              <a:prstGeom prst="ellipse">
                <a:avLst/>
              </a:prstGeom>
              <a:noFill/>
              <a:ln w="9525">
                <a:solidFill>
                  <a:srgbClr val="000000"/>
                </a:solidFill>
                <a:round/>
                <a:headEnd/>
                <a:tailEnd/>
              </a:ln>
            </p:spPr>
            <p:txBody>
              <a:bodyPr/>
              <a:lstStyle/>
              <a:p>
                <a:endParaRPr lang="zh-CN" altLang="en-US"/>
              </a:p>
            </p:txBody>
          </p:sp>
          <p:sp>
            <p:nvSpPr>
              <p:cNvPr id="113699" name="Rectangle 33"/>
              <p:cNvSpPr>
                <a:spLocks noChangeArrowheads="1"/>
              </p:cNvSpPr>
              <p:nvPr/>
            </p:nvSpPr>
            <p:spPr bwMode="auto">
              <a:xfrm>
                <a:off x="4266" y="5618"/>
                <a:ext cx="143" cy="885"/>
              </a:xfrm>
              <a:prstGeom prst="rect">
                <a:avLst/>
              </a:prstGeom>
              <a:noFill/>
              <a:ln w="9525">
                <a:noFill/>
                <a:miter lim="800000"/>
                <a:headEnd/>
                <a:tailEnd/>
              </a:ln>
            </p:spPr>
            <p:txBody>
              <a:bodyPr/>
              <a:lstStyle/>
              <a:p>
                <a:endParaRPr lang="zh-CN" altLang="en-US"/>
              </a:p>
            </p:txBody>
          </p:sp>
          <p:sp>
            <p:nvSpPr>
              <p:cNvPr id="113700" name="Oval 34"/>
              <p:cNvSpPr>
                <a:spLocks noChangeArrowheads="1"/>
              </p:cNvSpPr>
              <p:nvPr/>
            </p:nvSpPr>
            <p:spPr bwMode="auto">
              <a:xfrm>
                <a:off x="3414" y="5900"/>
                <a:ext cx="225" cy="225"/>
              </a:xfrm>
              <a:prstGeom prst="ellipse">
                <a:avLst/>
              </a:prstGeom>
              <a:noFill/>
              <a:ln w="9525">
                <a:solidFill>
                  <a:srgbClr val="000000"/>
                </a:solidFill>
                <a:round/>
                <a:headEnd/>
                <a:tailEnd/>
              </a:ln>
            </p:spPr>
            <p:txBody>
              <a:bodyPr/>
              <a:lstStyle/>
              <a:p>
                <a:endParaRPr lang="zh-CN" altLang="en-US"/>
              </a:p>
            </p:txBody>
          </p:sp>
          <p:sp>
            <p:nvSpPr>
              <p:cNvPr id="113701" name="Line 35"/>
              <p:cNvSpPr>
                <a:spLocks noChangeShapeType="1"/>
              </p:cNvSpPr>
              <p:nvPr/>
            </p:nvSpPr>
            <p:spPr bwMode="auto">
              <a:xfrm flipH="1">
                <a:off x="3429" y="5915"/>
                <a:ext cx="180" cy="180"/>
              </a:xfrm>
              <a:prstGeom prst="line">
                <a:avLst/>
              </a:prstGeom>
              <a:noFill/>
              <a:ln w="9525">
                <a:solidFill>
                  <a:srgbClr val="000000"/>
                </a:solidFill>
                <a:round/>
                <a:headEnd/>
                <a:tailEnd/>
              </a:ln>
            </p:spPr>
            <p:txBody>
              <a:bodyPr/>
              <a:lstStyle/>
              <a:p>
                <a:endParaRPr lang="zh-CN" altLang="en-US"/>
              </a:p>
            </p:txBody>
          </p:sp>
          <p:sp>
            <p:nvSpPr>
              <p:cNvPr id="113702" name="Line 36"/>
              <p:cNvSpPr>
                <a:spLocks noChangeShapeType="1"/>
              </p:cNvSpPr>
              <p:nvPr/>
            </p:nvSpPr>
            <p:spPr bwMode="auto">
              <a:xfrm>
                <a:off x="3429" y="5930"/>
                <a:ext cx="210" cy="180"/>
              </a:xfrm>
              <a:prstGeom prst="line">
                <a:avLst/>
              </a:prstGeom>
              <a:noFill/>
              <a:ln w="9525">
                <a:solidFill>
                  <a:srgbClr val="000000"/>
                </a:solidFill>
                <a:round/>
                <a:headEnd/>
                <a:tailEnd/>
              </a:ln>
            </p:spPr>
            <p:txBody>
              <a:bodyPr/>
              <a:lstStyle/>
              <a:p>
                <a:endParaRPr lang="zh-CN" altLang="en-US"/>
              </a:p>
            </p:txBody>
          </p:sp>
          <p:sp>
            <p:nvSpPr>
              <p:cNvPr id="113703" name="Line 37"/>
              <p:cNvSpPr>
                <a:spLocks noChangeShapeType="1"/>
              </p:cNvSpPr>
              <p:nvPr/>
            </p:nvSpPr>
            <p:spPr bwMode="auto">
              <a:xfrm flipV="1">
                <a:off x="3654" y="5795"/>
                <a:ext cx="600" cy="165"/>
              </a:xfrm>
              <a:prstGeom prst="line">
                <a:avLst/>
              </a:prstGeom>
              <a:noFill/>
              <a:ln w="9525">
                <a:solidFill>
                  <a:srgbClr val="000000"/>
                </a:solidFill>
                <a:round/>
                <a:headEnd/>
                <a:tailEnd/>
              </a:ln>
            </p:spPr>
            <p:txBody>
              <a:bodyPr/>
              <a:lstStyle/>
              <a:p>
                <a:endParaRPr lang="zh-CN" altLang="en-US"/>
              </a:p>
            </p:txBody>
          </p:sp>
          <p:sp>
            <p:nvSpPr>
              <p:cNvPr id="113704" name="Line 38"/>
              <p:cNvSpPr>
                <a:spLocks noChangeShapeType="1"/>
              </p:cNvSpPr>
              <p:nvPr/>
            </p:nvSpPr>
            <p:spPr bwMode="auto">
              <a:xfrm>
                <a:off x="3624" y="6080"/>
                <a:ext cx="615" cy="135"/>
              </a:xfrm>
              <a:prstGeom prst="line">
                <a:avLst/>
              </a:prstGeom>
              <a:noFill/>
              <a:ln w="9525">
                <a:solidFill>
                  <a:srgbClr val="000000"/>
                </a:solidFill>
                <a:round/>
                <a:headEnd/>
                <a:tailEnd/>
              </a:ln>
            </p:spPr>
            <p:txBody>
              <a:bodyPr/>
              <a:lstStyle/>
              <a:p>
                <a:endParaRPr lang="zh-CN" altLang="en-US"/>
              </a:p>
            </p:txBody>
          </p:sp>
          <p:sp>
            <p:nvSpPr>
              <p:cNvPr id="113705" name="Rectangle 39"/>
              <p:cNvSpPr>
                <a:spLocks noChangeArrowheads="1"/>
              </p:cNvSpPr>
              <p:nvPr/>
            </p:nvSpPr>
            <p:spPr bwMode="auto">
              <a:xfrm>
                <a:off x="4989" y="5735"/>
                <a:ext cx="71" cy="555"/>
              </a:xfrm>
              <a:prstGeom prst="rect">
                <a:avLst/>
              </a:prstGeom>
              <a:noFill/>
              <a:ln w="9525">
                <a:solidFill>
                  <a:srgbClr val="000000"/>
                </a:solidFill>
                <a:miter lim="800000"/>
                <a:headEnd/>
                <a:tailEnd/>
              </a:ln>
            </p:spPr>
            <p:txBody>
              <a:bodyPr/>
              <a:lstStyle/>
              <a:p>
                <a:endParaRPr lang="zh-CN" altLang="en-US"/>
              </a:p>
            </p:txBody>
          </p:sp>
          <p:sp>
            <p:nvSpPr>
              <p:cNvPr id="113706" name="Rectangle 40"/>
              <p:cNvSpPr>
                <a:spLocks noChangeArrowheads="1"/>
              </p:cNvSpPr>
              <p:nvPr/>
            </p:nvSpPr>
            <p:spPr bwMode="auto">
              <a:xfrm>
                <a:off x="5109" y="5735"/>
                <a:ext cx="71" cy="555"/>
              </a:xfrm>
              <a:prstGeom prst="rect">
                <a:avLst/>
              </a:prstGeom>
              <a:noFill/>
              <a:ln w="9525">
                <a:solidFill>
                  <a:srgbClr val="000000"/>
                </a:solidFill>
                <a:miter lim="800000"/>
                <a:headEnd/>
                <a:tailEnd/>
              </a:ln>
            </p:spPr>
            <p:txBody>
              <a:bodyPr/>
              <a:lstStyle/>
              <a:p>
                <a:endParaRPr lang="zh-CN" altLang="en-US"/>
              </a:p>
            </p:txBody>
          </p:sp>
          <p:sp>
            <p:nvSpPr>
              <p:cNvPr id="113707" name="Line 41"/>
              <p:cNvSpPr>
                <a:spLocks noChangeShapeType="1"/>
              </p:cNvSpPr>
              <p:nvPr/>
            </p:nvSpPr>
            <p:spPr bwMode="auto">
              <a:xfrm>
                <a:off x="4434" y="5795"/>
                <a:ext cx="720" cy="225"/>
              </a:xfrm>
              <a:prstGeom prst="line">
                <a:avLst/>
              </a:prstGeom>
              <a:noFill/>
              <a:ln w="9525">
                <a:solidFill>
                  <a:srgbClr val="000000"/>
                </a:solidFill>
                <a:round/>
                <a:headEnd/>
                <a:tailEnd/>
              </a:ln>
            </p:spPr>
            <p:txBody>
              <a:bodyPr/>
              <a:lstStyle/>
              <a:p>
                <a:endParaRPr lang="zh-CN" altLang="en-US"/>
              </a:p>
            </p:txBody>
          </p:sp>
          <p:sp>
            <p:nvSpPr>
              <p:cNvPr id="113708" name="Line 42"/>
              <p:cNvSpPr>
                <a:spLocks noChangeShapeType="1"/>
              </p:cNvSpPr>
              <p:nvPr/>
            </p:nvSpPr>
            <p:spPr bwMode="auto">
              <a:xfrm flipV="1">
                <a:off x="4449" y="6020"/>
                <a:ext cx="720" cy="225"/>
              </a:xfrm>
              <a:prstGeom prst="line">
                <a:avLst/>
              </a:prstGeom>
              <a:noFill/>
              <a:ln w="9525">
                <a:solidFill>
                  <a:srgbClr val="000000"/>
                </a:solidFill>
                <a:round/>
                <a:headEnd/>
                <a:tailEnd/>
              </a:ln>
            </p:spPr>
            <p:txBody>
              <a:bodyPr/>
              <a:lstStyle/>
              <a:p>
                <a:endParaRPr lang="zh-CN" altLang="en-US"/>
              </a:p>
            </p:txBody>
          </p:sp>
          <p:sp>
            <p:nvSpPr>
              <p:cNvPr id="113709" name="Oval 43"/>
              <p:cNvSpPr>
                <a:spLocks noChangeArrowheads="1"/>
              </p:cNvSpPr>
              <p:nvPr/>
            </p:nvSpPr>
            <p:spPr bwMode="auto">
              <a:xfrm>
                <a:off x="6414" y="5705"/>
                <a:ext cx="143" cy="615"/>
              </a:xfrm>
              <a:prstGeom prst="ellipse">
                <a:avLst/>
              </a:prstGeom>
              <a:noFill/>
              <a:ln w="9525">
                <a:solidFill>
                  <a:srgbClr val="000000"/>
                </a:solidFill>
                <a:round/>
                <a:headEnd/>
                <a:tailEnd/>
              </a:ln>
            </p:spPr>
            <p:txBody>
              <a:bodyPr/>
              <a:lstStyle/>
              <a:p>
                <a:endParaRPr lang="zh-CN" altLang="en-US"/>
              </a:p>
            </p:txBody>
          </p:sp>
          <p:sp>
            <p:nvSpPr>
              <p:cNvPr id="113710" name="Line 44"/>
              <p:cNvSpPr>
                <a:spLocks noChangeShapeType="1"/>
              </p:cNvSpPr>
              <p:nvPr/>
            </p:nvSpPr>
            <p:spPr bwMode="auto">
              <a:xfrm>
                <a:off x="6339" y="5720"/>
                <a:ext cx="0" cy="615"/>
              </a:xfrm>
              <a:prstGeom prst="line">
                <a:avLst/>
              </a:prstGeom>
              <a:noFill/>
              <a:ln w="9525">
                <a:solidFill>
                  <a:srgbClr val="000000"/>
                </a:solidFill>
                <a:round/>
                <a:headEnd/>
                <a:tailEnd/>
              </a:ln>
            </p:spPr>
            <p:txBody>
              <a:bodyPr/>
              <a:lstStyle/>
              <a:p>
                <a:endParaRPr lang="zh-CN" altLang="en-US"/>
              </a:p>
            </p:txBody>
          </p:sp>
          <p:sp>
            <p:nvSpPr>
              <p:cNvPr id="113711" name="Line 45"/>
              <p:cNvSpPr>
                <a:spLocks noChangeShapeType="1"/>
              </p:cNvSpPr>
              <p:nvPr/>
            </p:nvSpPr>
            <p:spPr bwMode="auto">
              <a:xfrm flipH="1">
                <a:off x="6339" y="6335"/>
                <a:ext cx="150" cy="0"/>
              </a:xfrm>
              <a:prstGeom prst="line">
                <a:avLst/>
              </a:prstGeom>
              <a:noFill/>
              <a:ln w="9525">
                <a:solidFill>
                  <a:srgbClr val="000000"/>
                </a:solidFill>
                <a:round/>
                <a:headEnd/>
                <a:tailEnd/>
              </a:ln>
            </p:spPr>
            <p:txBody>
              <a:bodyPr/>
              <a:lstStyle/>
              <a:p>
                <a:endParaRPr lang="zh-CN" altLang="en-US"/>
              </a:p>
            </p:txBody>
          </p:sp>
          <p:sp>
            <p:nvSpPr>
              <p:cNvPr id="113712" name="Line 46"/>
              <p:cNvSpPr>
                <a:spLocks noChangeShapeType="1"/>
              </p:cNvSpPr>
              <p:nvPr/>
            </p:nvSpPr>
            <p:spPr bwMode="auto">
              <a:xfrm flipH="1">
                <a:off x="6324" y="5705"/>
                <a:ext cx="165" cy="0"/>
              </a:xfrm>
              <a:prstGeom prst="line">
                <a:avLst/>
              </a:prstGeom>
              <a:noFill/>
              <a:ln w="9525">
                <a:solidFill>
                  <a:srgbClr val="000000"/>
                </a:solidFill>
                <a:round/>
                <a:headEnd/>
                <a:tailEnd/>
              </a:ln>
            </p:spPr>
            <p:txBody>
              <a:bodyPr/>
              <a:lstStyle/>
              <a:p>
                <a:endParaRPr lang="zh-CN" altLang="en-US"/>
              </a:p>
            </p:txBody>
          </p:sp>
          <p:sp>
            <p:nvSpPr>
              <p:cNvPr id="113713" name="Line 47"/>
              <p:cNvSpPr>
                <a:spLocks noChangeShapeType="1"/>
              </p:cNvSpPr>
              <p:nvPr/>
            </p:nvSpPr>
            <p:spPr bwMode="auto">
              <a:xfrm flipV="1">
                <a:off x="5184" y="5765"/>
                <a:ext cx="1170" cy="255"/>
              </a:xfrm>
              <a:prstGeom prst="line">
                <a:avLst/>
              </a:prstGeom>
              <a:noFill/>
              <a:ln w="9525">
                <a:solidFill>
                  <a:srgbClr val="000000"/>
                </a:solidFill>
                <a:round/>
                <a:headEnd/>
                <a:tailEnd/>
              </a:ln>
            </p:spPr>
            <p:txBody>
              <a:bodyPr/>
              <a:lstStyle/>
              <a:p>
                <a:endParaRPr lang="zh-CN" altLang="en-US"/>
              </a:p>
            </p:txBody>
          </p:sp>
          <p:sp>
            <p:nvSpPr>
              <p:cNvPr id="113714" name="Line 48"/>
              <p:cNvSpPr>
                <a:spLocks noChangeShapeType="1"/>
              </p:cNvSpPr>
              <p:nvPr/>
            </p:nvSpPr>
            <p:spPr bwMode="auto">
              <a:xfrm>
                <a:off x="5184" y="6005"/>
                <a:ext cx="1155" cy="255"/>
              </a:xfrm>
              <a:prstGeom prst="line">
                <a:avLst/>
              </a:prstGeom>
              <a:noFill/>
              <a:ln w="9525">
                <a:solidFill>
                  <a:srgbClr val="000000"/>
                </a:solidFill>
                <a:round/>
                <a:headEnd/>
                <a:tailEnd/>
              </a:ln>
            </p:spPr>
            <p:txBody>
              <a:bodyPr/>
              <a:lstStyle/>
              <a:p>
                <a:endParaRPr lang="zh-CN" altLang="en-US"/>
              </a:p>
            </p:txBody>
          </p:sp>
          <p:sp>
            <p:nvSpPr>
              <p:cNvPr id="113715" name="Line 49"/>
              <p:cNvSpPr>
                <a:spLocks noChangeShapeType="1"/>
              </p:cNvSpPr>
              <p:nvPr/>
            </p:nvSpPr>
            <p:spPr bwMode="auto">
              <a:xfrm>
                <a:off x="6519" y="5735"/>
                <a:ext cx="330" cy="0"/>
              </a:xfrm>
              <a:prstGeom prst="line">
                <a:avLst/>
              </a:prstGeom>
              <a:noFill/>
              <a:ln w="9525">
                <a:solidFill>
                  <a:srgbClr val="000000"/>
                </a:solidFill>
                <a:round/>
                <a:headEnd/>
                <a:tailEnd type="arrow" w="sm" len="sm"/>
              </a:ln>
            </p:spPr>
            <p:txBody>
              <a:bodyPr/>
              <a:lstStyle/>
              <a:p>
                <a:endParaRPr lang="zh-CN" altLang="en-US"/>
              </a:p>
            </p:txBody>
          </p:sp>
          <p:sp>
            <p:nvSpPr>
              <p:cNvPr id="113716" name="Line 50"/>
              <p:cNvSpPr>
                <a:spLocks noChangeShapeType="1"/>
              </p:cNvSpPr>
              <p:nvPr/>
            </p:nvSpPr>
            <p:spPr bwMode="auto">
              <a:xfrm>
                <a:off x="6534" y="6305"/>
                <a:ext cx="330" cy="0"/>
              </a:xfrm>
              <a:prstGeom prst="line">
                <a:avLst/>
              </a:prstGeom>
              <a:noFill/>
              <a:ln w="9525">
                <a:solidFill>
                  <a:srgbClr val="000000"/>
                </a:solidFill>
                <a:round/>
                <a:headEnd/>
                <a:tailEnd type="arrow" w="sm" len="sm"/>
              </a:ln>
            </p:spPr>
            <p:txBody>
              <a:bodyPr/>
              <a:lstStyle/>
              <a:p>
                <a:endParaRPr lang="zh-CN" altLang="en-US"/>
              </a:p>
            </p:txBody>
          </p:sp>
          <p:sp>
            <p:nvSpPr>
              <p:cNvPr id="113717" name="Rectangle 51"/>
              <p:cNvSpPr>
                <a:spLocks noChangeArrowheads="1"/>
              </p:cNvSpPr>
              <p:nvPr/>
            </p:nvSpPr>
            <p:spPr bwMode="auto">
              <a:xfrm>
                <a:off x="6894" y="5840"/>
                <a:ext cx="825" cy="375"/>
              </a:xfrm>
              <a:prstGeom prst="rect">
                <a:avLst/>
              </a:prstGeom>
              <a:noFill/>
              <a:ln w="9525">
                <a:solidFill>
                  <a:srgbClr val="000000"/>
                </a:solidFill>
                <a:prstDash val="dash"/>
                <a:miter lim="800000"/>
                <a:headEnd/>
                <a:tailEnd/>
              </a:ln>
            </p:spPr>
            <p:txBody>
              <a:bodyPr/>
              <a:lstStyle/>
              <a:p>
                <a:endParaRPr lang="zh-CN" altLang="en-US"/>
              </a:p>
            </p:txBody>
          </p:sp>
          <p:sp>
            <p:nvSpPr>
              <p:cNvPr id="113718" name="Rectangle 52"/>
              <p:cNvSpPr>
                <a:spLocks noChangeArrowheads="1"/>
              </p:cNvSpPr>
              <p:nvPr/>
            </p:nvSpPr>
            <p:spPr bwMode="auto">
              <a:xfrm>
                <a:off x="7929" y="5900"/>
                <a:ext cx="630" cy="225"/>
              </a:xfrm>
              <a:prstGeom prst="rect">
                <a:avLst/>
              </a:prstGeom>
              <a:noFill/>
              <a:ln w="9525">
                <a:solidFill>
                  <a:srgbClr val="000000"/>
                </a:solidFill>
                <a:miter lim="800000"/>
                <a:headEnd/>
                <a:tailEnd/>
              </a:ln>
            </p:spPr>
            <p:txBody>
              <a:bodyPr/>
              <a:lstStyle/>
              <a:p>
                <a:endParaRPr lang="zh-CN" altLang="en-US"/>
              </a:p>
            </p:txBody>
          </p:sp>
          <p:sp>
            <p:nvSpPr>
              <p:cNvPr id="113719" name="Rectangle 53"/>
              <p:cNvSpPr>
                <a:spLocks noChangeArrowheads="1"/>
              </p:cNvSpPr>
              <p:nvPr/>
            </p:nvSpPr>
            <p:spPr bwMode="auto">
              <a:xfrm>
                <a:off x="8559" y="5825"/>
                <a:ext cx="71" cy="375"/>
              </a:xfrm>
              <a:prstGeom prst="rect">
                <a:avLst/>
              </a:prstGeom>
              <a:noFill/>
              <a:ln w="9525">
                <a:solidFill>
                  <a:srgbClr val="000000"/>
                </a:solidFill>
                <a:miter lim="800000"/>
                <a:headEnd/>
                <a:tailEnd/>
              </a:ln>
            </p:spPr>
            <p:txBody>
              <a:bodyPr/>
              <a:lstStyle/>
              <a:p>
                <a:endParaRPr lang="zh-CN" altLang="en-US"/>
              </a:p>
            </p:txBody>
          </p:sp>
          <p:sp>
            <p:nvSpPr>
              <p:cNvPr id="113720" name="Rectangle 54"/>
              <p:cNvSpPr>
                <a:spLocks noChangeArrowheads="1"/>
              </p:cNvSpPr>
              <p:nvPr/>
            </p:nvSpPr>
            <p:spPr bwMode="auto">
              <a:xfrm>
                <a:off x="8799" y="5825"/>
                <a:ext cx="143" cy="360"/>
              </a:xfrm>
              <a:prstGeom prst="rect">
                <a:avLst/>
              </a:prstGeom>
              <a:noFill/>
              <a:ln w="9525">
                <a:solidFill>
                  <a:srgbClr val="000000"/>
                </a:solidFill>
                <a:miter lim="800000"/>
                <a:headEnd/>
                <a:tailEnd/>
              </a:ln>
            </p:spPr>
            <p:txBody>
              <a:bodyPr/>
              <a:lstStyle/>
              <a:p>
                <a:endParaRPr lang="zh-CN" altLang="en-US"/>
              </a:p>
            </p:txBody>
          </p:sp>
          <p:sp>
            <p:nvSpPr>
              <p:cNvPr id="113721" name="Rectangle 55"/>
              <p:cNvSpPr>
                <a:spLocks noChangeArrowheads="1"/>
              </p:cNvSpPr>
              <p:nvPr/>
            </p:nvSpPr>
            <p:spPr bwMode="auto">
              <a:xfrm>
                <a:off x="8641" y="5900"/>
                <a:ext cx="71" cy="225"/>
              </a:xfrm>
              <a:prstGeom prst="rect">
                <a:avLst/>
              </a:prstGeom>
              <a:noFill/>
              <a:ln w="9525">
                <a:solidFill>
                  <a:srgbClr val="000000"/>
                </a:solidFill>
                <a:miter lim="800000"/>
                <a:headEnd/>
                <a:tailEnd/>
              </a:ln>
            </p:spPr>
            <p:txBody>
              <a:bodyPr/>
              <a:lstStyle/>
              <a:p>
                <a:endParaRPr lang="zh-CN" altLang="en-US"/>
              </a:p>
            </p:txBody>
          </p:sp>
          <p:sp>
            <p:nvSpPr>
              <p:cNvPr id="113722" name="Line 56"/>
              <p:cNvSpPr>
                <a:spLocks noChangeShapeType="1"/>
              </p:cNvSpPr>
              <p:nvPr/>
            </p:nvSpPr>
            <p:spPr bwMode="auto">
              <a:xfrm flipV="1">
                <a:off x="8709" y="5825"/>
                <a:ext cx="90" cy="75"/>
              </a:xfrm>
              <a:prstGeom prst="line">
                <a:avLst/>
              </a:prstGeom>
              <a:noFill/>
              <a:ln w="9525">
                <a:solidFill>
                  <a:srgbClr val="000000"/>
                </a:solidFill>
                <a:round/>
                <a:headEnd/>
                <a:tailEnd/>
              </a:ln>
            </p:spPr>
            <p:txBody>
              <a:bodyPr/>
              <a:lstStyle/>
              <a:p>
                <a:endParaRPr lang="zh-CN" altLang="en-US"/>
              </a:p>
            </p:txBody>
          </p:sp>
          <p:sp>
            <p:nvSpPr>
              <p:cNvPr id="113723" name="Line 57"/>
              <p:cNvSpPr>
                <a:spLocks noChangeShapeType="1"/>
              </p:cNvSpPr>
              <p:nvPr/>
            </p:nvSpPr>
            <p:spPr bwMode="auto">
              <a:xfrm>
                <a:off x="8709" y="6125"/>
                <a:ext cx="105" cy="75"/>
              </a:xfrm>
              <a:prstGeom prst="line">
                <a:avLst/>
              </a:prstGeom>
              <a:noFill/>
              <a:ln w="9525">
                <a:solidFill>
                  <a:srgbClr val="000000"/>
                </a:solidFill>
                <a:round/>
                <a:headEnd/>
                <a:tailEnd/>
              </a:ln>
            </p:spPr>
            <p:txBody>
              <a:bodyPr/>
              <a:lstStyle/>
              <a:p>
                <a:endParaRPr lang="zh-CN" altLang="en-US"/>
              </a:p>
            </p:txBody>
          </p:sp>
          <p:sp>
            <p:nvSpPr>
              <p:cNvPr id="113724" name="Line 58"/>
              <p:cNvSpPr>
                <a:spLocks noChangeShapeType="1"/>
              </p:cNvSpPr>
              <p:nvPr/>
            </p:nvSpPr>
            <p:spPr bwMode="auto">
              <a:xfrm flipV="1">
                <a:off x="2754" y="6020"/>
                <a:ext cx="6435" cy="15"/>
              </a:xfrm>
              <a:prstGeom prst="line">
                <a:avLst/>
              </a:prstGeom>
              <a:noFill/>
              <a:ln w="6350">
                <a:solidFill>
                  <a:srgbClr val="000000"/>
                </a:solidFill>
                <a:prstDash val="lgDashDot"/>
                <a:round/>
                <a:headEnd/>
                <a:tailEnd/>
              </a:ln>
            </p:spPr>
            <p:txBody>
              <a:bodyPr/>
              <a:lstStyle/>
              <a:p>
                <a:endParaRPr lang="zh-CN" altLang="en-US"/>
              </a:p>
            </p:txBody>
          </p:sp>
          <p:sp>
            <p:nvSpPr>
              <p:cNvPr id="113725" name="Line 59"/>
              <p:cNvSpPr>
                <a:spLocks noChangeShapeType="1"/>
              </p:cNvSpPr>
              <p:nvPr/>
            </p:nvSpPr>
            <p:spPr bwMode="auto">
              <a:xfrm flipH="1" flipV="1">
                <a:off x="3219" y="5390"/>
                <a:ext cx="240" cy="480"/>
              </a:xfrm>
              <a:prstGeom prst="line">
                <a:avLst/>
              </a:prstGeom>
              <a:noFill/>
              <a:ln w="6350">
                <a:solidFill>
                  <a:srgbClr val="000000"/>
                </a:solidFill>
                <a:round/>
                <a:headEnd/>
                <a:tailEnd/>
              </a:ln>
            </p:spPr>
            <p:txBody>
              <a:bodyPr/>
              <a:lstStyle/>
              <a:p>
                <a:endParaRPr lang="zh-CN" altLang="en-US"/>
              </a:p>
            </p:txBody>
          </p:sp>
          <p:sp>
            <p:nvSpPr>
              <p:cNvPr id="113726" name="Line 60"/>
              <p:cNvSpPr>
                <a:spLocks noChangeShapeType="1"/>
              </p:cNvSpPr>
              <p:nvPr/>
            </p:nvSpPr>
            <p:spPr bwMode="auto">
              <a:xfrm flipH="1" flipV="1">
                <a:off x="4119" y="5390"/>
                <a:ext cx="180" cy="345"/>
              </a:xfrm>
              <a:prstGeom prst="line">
                <a:avLst/>
              </a:prstGeom>
              <a:noFill/>
              <a:ln w="6350">
                <a:solidFill>
                  <a:srgbClr val="000000"/>
                </a:solidFill>
                <a:round/>
                <a:headEnd/>
                <a:tailEnd/>
              </a:ln>
            </p:spPr>
            <p:txBody>
              <a:bodyPr/>
              <a:lstStyle/>
              <a:p>
                <a:endParaRPr lang="zh-CN" altLang="en-US"/>
              </a:p>
            </p:txBody>
          </p:sp>
          <p:sp>
            <p:nvSpPr>
              <p:cNvPr id="113727" name="Line 61"/>
              <p:cNvSpPr>
                <a:spLocks noChangeShapeType="1"/>
              </p:cNvSpPr>
              <p:nvPr/>
            </p:nvSpPr>
            <p:spPr bwMode="auto">
              <a:xfrm flipH="1" flipV="1">
                <a:off x="4749" y="5405"/>
                <a:ext cx="240" cy="315"/>
              </a:xfrm>
              <a:prstGeom prst="line">
                <a:avLst/>
              </a:prstGeom>
              <a:noFill/>
              <a:ln w="6350">
                <a:solidFill>
                  <a:srgbClr val="000000"/>
                </a:solidFill>
                <a:round/>
                <a:headEnd/>
                <a:tailEnd/>
              </a:ln>
            </p:spPr>
            <p:txBody>
              <a:bodyPr/>
              <a:lstStyle/>
              <a:p>
                <a:endParaRPr lang="zh-CN" altLang="en-US"/>
              </a:p>
            </p:txBody>
          </p:sp>
          <p:sp>
            <p:nvSpPr>
              <p:cNvPr id="113728" name="Line 62"/>
              <p:cNvSpPr>
                <a:spLocks noChangeShapeType="1"/>
              </p:cNvSpPr>
              <p:nvPr/>
            </p:nvSpPr>
            <p:spPr bwMode="auto">
              <a:xfrm flipV="1">
                <a:off x="5169" y="5390"/>
                <a:ext cx="180" cy="330"/>
              </a:xfrm>
              <a:prstGeom prst="line">
                <a:avLst/>
              </a:prstGeom>
              <a:noFill/>
              <a:ln w="6350">
                <a:solidFill>
                  <a:srgbClr val="000000"/>
                </a:solidFill>
                <a:round/>
                <a:headEnd/>
                <a:tailEnd/>
              </a:ln>
            </p:spPr>
            <p:txBody>
              <a:bodyPr/>
              <a:lstStyle/>
              <a:p>
                <a:endParaRPr lang="zh-CN" altLang="en-US"/>
              </a:p>
            </p:txBody>
          </p:sp>
          <p:sp>
            <p:nvSpPr>
              <p:cNvPr id="113729" name="Line 63"/>
              <p:cNvSpPr>
                <a:spLocks noChangeShapeType="1"/>
              </p:cNvSpPr>
              <p:nvPr/>
            </p:nvSpPr>
            <p:spPr bwMode="auto">
              <a:xfrm flipH="1" flipV="1">
                <a:off x="6189" y="5390"/>
                <a:ext cx="225" cy="300"/>
              </a:xfrm>
              <a:prstGeom prst="line">
                <a:avLst/>
              </a:prstGeom>
              <a:noFill/>
              <a:ln w="6350">
                <a:solidFill>
                  <a:srgbClr val="000000"/>
                </a:solidFill>
                <a:round/>
                <a:headEnd/>
                <a:tailEnd/>
              </a:ln>
            </p:spPr>
            <p:txBody>
              <a:bodyPr/>
              <a:lstStyle/>
              <a:p>
                <a:endParaRPr lang="zh-CN" altLang="en-US"/>
              </a:p>
            </p:txBody>
          </p:sp>
          <p:sp>
            <p:nvSpPr>
              <p:cNvPr id="113730" name="Line 64"/>
              <p:cNvSpPr>
                <a:spLocks noChangeShapeType="1"/>
              </p:cNvSpPr>
              <p:nvPr/>
            </p:nvSpPr>
            <p:spPr bwMode="auto">
              <a:xfrm flipH="1" flipV="1">
                <a:off x="7194" y="5390"/>
                <a:ext cx="210" cy="435"/>
              </a:xfrm>
              <a:prstGeom prst="line">
                <a:avLst/>
              </a:prstGeom>
              <a:noFill/>
              <a:ln w="6350">
                <a:solidFill>
                  <a:srgbClr val="000000"/>
                </a:solidFill>
                <a:round/>
                <a:headEnd/>
                <a:tailEnd/>
              </a:ln>
            </p:spPr>
            <p:txBody>
              <a:bodyPr/>
              <a:lstStyle/>
              <a:p>
                <a:endParaRPr lang="zh-CN" altLang="en-US"/>
              </a:p>
            </p:txBody>
          </p:sp>
          <p:sp>
            <p:nvSpPr>
              <p:cNvPr id="113731" name="Line 65"/>
              <p:cNvSpPr>
                <a:spLocks noChangeShapeType="1"/>
              </p:cNvSpPr>
              <p:nvPr/>
            </p:nvSpPr>
            <p:spPr bwMode="auto">
              <a:xfrm flipH="1" flipV="1">
                <a:off x="8169" y="5405"/>
                <a:ext cx="225" cy="510"/>
              </a:xfrm>
              <a:prstGeom prst="line">
                <a:avLst/>
              </a:prstGeom>
              <a:noFill/>
              <a:ln w="6350">
                <a:solidFill>
                  <a:srgbClr val="000000"/>
                </a:solidFill>
                <a:round/>
                <a:headEnd/>
                <a:tailEnd/>
              </a:ln>
            </p:spPr>
            <p:txBody>
              <a:bodyPr/>
              <a:lstStyle/>
              <a:p>
                <a:endParaRPr lang="zh-CN" altLang="en-US"/>
              </a:p>
            </p:txBody>
          </p:sp>
          <p:sp>
            <p:nvSpPr>
              <p:cNvPr id="605250" name="Text Box 66"/>
              <p:cNvSpPr txBox="1">
                <a:spLocks noChangeArrowheads="1"/>
              </p:cNvSpPr>
              <p:nvPr/>
            </p:nvSpPr>
            <p:spPr bwMode="auto">
              <a:xfrm>
                <a:off x="4314" y="6465"/>
                <a:ext cx="3317" cy="475"/>
              </a:xfrm>
              <a:prstGeom prst="rect">
                <a:avLst/>
              </a:prstGeom>
              <a:noFill/>
              <a:ln w="9525">
                <a:noFill/>
                <a:miter lim="800000"/>
                <a:headEnd/>
                <a:tailEnd/>
              </a:ln>
              <a:effectLst/>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测量望远系统分辨率装置简图</a:t>
                </a:r>
              </a:p>
              <a:p>
                <a:pPr>
                  <a:defRPr/>
                </a:pPr>
                <a:endParaRPr lang="en-US" altLang="zh-CN" sz="2000" b="1">
                  <a:effectLst>
                    <a:outerShdw blurRad="38100" dist="38100" dir="2700000" algn="tl">
                      <a:srgbClr val="C0C0C0"/>
                    </a:outerShdw>
                  </a:effectLst>
                </a:endParaRPr>
              </a:p>
            </p:txBody>
          </p:sp>
        </p:grpSp>
      </p:grpSp>
      <p:sp>
        <p:nvSpPr>
          <p:cNvPr id="70"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Tree>
  </p:cSld>
  <p:clrMapOvr>
    <a:masterClrMapping/>
  </p:clrMapOvr>
  <p:transition spd="slow">
    <p:circl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0" name="日期占位符 3"/>
          <p:cNvSpPr>
            <a:spLocks noGrp="1"/>
          </p:cNvSpPr>
          <p:nvPr>
            <p:ph type="dt" sz="quarter" idx="10"/>
          </p:nvPr>
        </p:nvSpPr>
        <p:spPr>
          <a:noFill/>
        </p:spPr>
        <p:txBody>
          <a:bodyPr/>
          <a:lstStyle/>
          <a:p>
            <a:fld id="{6DB9AC2D-6928-444E-AA86-DCAFE8DBDB4D}" type="datetime1">
              <a:rPr lang="zh-CN" altLang="en-US" smtClean="0"/>
              <a:pPr/>
              <a:t>2018/2/24</a:t>
            </a:fld>
            <a:endParaRPr lang="en-US" altLang="zh-CN" smtClean="0"/>
          </a:p>
        </p:txBody>
      </p:sp>
      <p:sp>
        <p:nvSpPr>
          <p:cNvPr id="34821" name="灯片编号占位符 5"/>
          <p:cNvSpPr>
            <a:spLocks noGrp="1"/>
          </p:cNvSpPr>
          <p:nvPr>
            <p:ph type="sldNum" sz="quarter" idx="12"/>
          </p:nvPr>
        </p:nvSpPr>
        <p:spPr>
          <a:noFill/>
        </p:spPr>
        <p:txBody>
          <a:bodyPr/>
          <a:lstStyle/>
          <a:p>
            <a:fld id="{22EE7697-3107-48E9-A5F9-F9FA65421B50}" type="slidenum">
              <a:rPr lang="en-US" altLang="zh-CN" smtClean="0"/>
              <a:pPr/>
              <a:t>56</a:t>
            </a:fld>
            <a:endParaRPr lang="en-US" altLang="zh-CN" smtClean="0"/>
          </a:p>
        </p:txBody>
      </p:sp>
      <p:sp>
        <p:nvSpPr>
          <p:cNvPr id="606211" name="Rectangle 3"/>
          <p:cNvSpPr>
            <a:spLocks noGrp="1" noRot="1" noChangeArrowheads="1"/>
          </p:cNvSpPr>
          <p:nvPr>
            <p:ph type="body" idx="1"/>
          </p:nvPr>
        </p:nvSpPr>
        <p:spPr>
          <a:xfrm>
            <a:off x="228600" y="1917700"/>
            <a:ext cx="8472488" cy="4319588"/>
          </a:xfrm>
        </p:spPr>
        <p:txBody>
          <a:bodyPr/>
          <a:lstStyle/>
          <a:p>
            <a:pPr marL="271463" indent="-271463" eaLnBrk="1" hangingPunct="1">
              <a:buFont typeface="Wingdings" pitchFamily="2" charset="2"/>
              <a:buNone/>
              <a:defRPr/>
            </a:pPr>
            <a:r>
              <a:rPr lang="en-US" altLang="zh-CN" smtClean="0">
                <a:latin typeface="Times New Roman" pitchFamily="18" charset="0"/>
                <a:ea typeface="黑体" pitchFamily="2" charset="-122"/>
              </a:rPr>
              <a:t>2.2 </a:t>
            </a:r>
            <a:r>
              <a:rPr lang="zh-CN" altLang="en-US" smtClean="0">
                <a:latin typeface="Times New Roman" pitchFamily="18" charset="0"/>
                <a:ea typeface="黑体" pitchFamily="2" charset="-122"/>
              </a:rPr>
              <a:t>望远系统分辨率的测量</a:t>
            </a:r>
          </a:p>
          <a:p>
            <a:pPr marL="271463" indent="-271463" eaLnBrk="1" hangingPunct="1">
              <a:defRPr/>
            </a:pPr>
            <a:r>
              <a:rPr lang="zh-CN" altLang="en-US" smtClean="0">
                <a:latin typeface="Times New Roman" pitchFamily="18" charset="0"/>
                <a:ea typeface="黑体" pitchFamily="2" charset="-122"/>
              </a:rPr>
              <a:t>测量时，从线条宽度大的单元向线条宽度小的单元顺序观察，找出四个方向的线条都能分辨开的所有单元中单元号最大的那个单元（简称刚能分辨的单元）。根据此单元号和分辨率板号，由表查出该单元的线条宽度</a:t>
            </a:r>
            <a:r>
              <a:rPr lang="en-US" altLang="zh-CN" i="1" smtClean="0">
                <a:latin typeface="Times New Roman" pitchFamily="18" charset="0"/>
                <a:ea typeface="黑体" pitchFamily="2" charset="-122"/>
              </a:rPr>
              <a:t>P</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mm</a:t>
            </a:r>
            <a:r>
              <a:rPr lang="zh-CN" altLang="en-US" smtClean="0">
                <a:latin typeface="Times New Roman" pitchFamily="18" charset="0"/>
                <a:ea typeface="黑体" pitchFamily="2" charset="-122"/>
              </a:rPr>
              <a:t>），再根据平行光管的焦距     （</a:t>
            </a:r>
            <a:r>
              <a:rPr lang="en-US" altLang="zh-CN" smtClean="0">
                <a:latin typeface="Times New Roman" pitchFamily="18" charset="0"/>
                <a:ea typeface="黑体" pitchFamily="2" charset="-122"/>
              </a:rPr>
              <a:t>mm</a:t>
            </a:r>
            <a:r>
              <a:rPr lang="zh-CN" altLang="en-US" smtClean="0">
                <a:latin typeface="Times New Roman" pitchFamily="18" charset="0"/>
                <a:ea typeface="黑体" pitchFamily="2" charset="-122"/>
              </a:rPr>
              <a:t>）由下式即可求出被测望远镜系统的分辨率</a:t>
            </a:r>
          </a:p>
        </p:txBody>
      </p:sp>
      <p:sp>
        <p:nvSpPr>
          <p:cNvPr id="34824"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4825"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4826"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4827"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4828"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4829"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0"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1"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2"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3"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4"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5"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6"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7"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8"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39"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0"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1"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2"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3"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4"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5"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6"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4847"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4818" name="Object 28"/>
          <p:cNvGraphicFramePr>
            <a:graphicFrameLocks noChangeAspect="1"/>
          </p:cNvGraphicFramePr>
          <p:nvPr/>
        </p:nvGraphicFramePr>
        <p:xfrm>
          <a:off x="2293938" y="3886200"/>
          <a:ext cx="304800" cy="365125"/>
        </p:xfrm>
        <a:graphic>
          <a:graphicData uri="http://schemas.openxmlformats.org/presentationml/2006/ole">
            <p:oleObj spid="_x0000_s34818" name="Microsoft 公式 3.0" r:id="rId3" imgW="4572317" imgH="5486717" progId="Equation.3">
              <p:embed/>
            </p:oleObj>
          </a:graphicData>
        </a:graphic>
      </p:graphicFrame>
      <p:sp>
        <p:nvSpPr>
          <p:cNvPr id="34848" name="Rectangle 2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4819" name="Object 30"/>
          <p:cNvGraphicFramePr>
            <a:graphicFrameLocks noChangeAspect="1"/>
          </p:cNvGraphicFramePr>
          <p:nvPr/>
        </p:nvGraphicFramePr>
        <p:xfrm>
          <a:off x="2971800" y="4757738"/>
          <a:ext cx="2724150" cy="882650"/>
        </p:xfrm>
        <a:graphic>
          <a:graphicData uri="http://schemas.openxmlformats.org/presentationml/2006/ole">
            <p:oleObj spid="_x0000_s34819" name="公式" r:id="rId4" imgW="31699517" imgH="10363517" progId="Equation.3">
              <p:embed/>
            </p:oleObj>
          </a:graphicData>
        </a:graphic>
      </p:graphicFrame>
      <p:sp>
        <p:nvSpPr>
          <p:cNvPr id="34"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Tree>
  </p:cSld>
  <p:clrMapOvr>
    <a:masterClrMapping/>
  </p:clrMapOvr>
  <p:transition spd="slow">
    <p:circl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日期占位符 3"/>
          <p:cNvSpPr>
            <a:spLocks noGrp="1"/>
          </p:cNvSpPr>
          <p:nvPr>
            <p:ph type="dt" sz="quarter" idx="10"/>
          </p:nvPr>
        </p:nvSpPr>
        <p:spPr>
          <a:noFill/>
        </p:spPr>
        <p:txBody>
          <a:bodyPr/>
          <a:lstStyle/>
          <a:p>
            <a:fld id="{4CA8793D-03C9-4DF2-B68A-2A93F24BCCBA}" type="datetime1">
              <a:rPr lang="zh-CN" altLang="en-US" smtClean="0"/>
              <a:pPr/>
              <a:t>2018/2/24</a:t>
            </a:fld>
            <a:endParaRPr lang="en-US" altLang="zh-CN" smtClean="0"/>
          </a:p>
        </p:txBody>
      </p:sp>
      <p:sp>
        <p:nvSpPr>
          <p:cNvPr id="35844" name="灯片编号占位符 5"/>
          <p:cNvSpPr>
            <a:spLocks noGrp="1"/>
          </p:cNvSpPr>
          <p:nvPr>
            <p:ph type="sldNum" sz="quarter" idx="12"/>
          </p:nvPr>
        </p:nvSpPr>
        <p:spPr>
          <a:noFill/>
        </p:spPr>
        <p:txBody>
          <a:bodyPr/>
          <a:lstStyle/>
          <a:p>
            <a:fld id="{1BD40941-B4D1-44B1-971D-2BEEC3D2CCB3}" type="slidenum">
              <a:rPr lang="en-US" altLang="zh-CN" smtClean="0"/>
              <a:pPr/>
              <a:t>57</a:t>
            </a:fld>
            <a:endParaRPr lang="en-US" altLang="zh-CN" smtClean="0"/>
          </a:p>
        </p:txBody>
      </p:sp>
      <p:sp>
        <p:nvSpPr>
          <p:cNvPr id="607235" name="Rectangle 3"/>
          <p:cNvSpPr>
            <a:spLocks noGrp="1" noRot="1" noChangeArrowheads="1"/>
          </p:cNvSpPr>
          <p:nvPr>
            <p:ph type="body" idx="1"/>
          </p:nvPr>
        </p:nvSpPr>
        <p:spPr>
          <a:xfrm>
            <a:off x="228600" y="1917700"/>
            <a:ext cx="8472488" cy="4319588"/>
          </a:xfrm>
        </p:spPr>
        <p:txBody>
          <a:bodyPr/>
          <a:lstStyle/>
          <a:p>
            <a:pPr marL="271463" indent="-271463" eaLnBrk="1" hangingPunct="1">
              <a:lnSpc>
                <a:spcPct val="80000"/>
              </a:lnSpc>
              <a:buFont typeface="Wingdings" pitchFamily="2" charset="2"/>
              <a:buNone/>
              <a:defRPr/>
            </a:pPr>
            <a:r>
              <a:rPr lang="en-US" altLang="zh-CN" smtClean="0">
                <a:latin typeface="Times New Roman" pitchFamily="18" charset="0"/>
                <a:ea typeface="黑体" pitchFamily="2" charset="-122"/>
              </a:rPr>
              <a:t>2.3 </a:t>
            </a:r>
            <a:r>
              <a:rPr lang="zh-CN" altLang="en-US" smtClean="0">
                <a:latin typeface="Times New Roman" pitchFamily="18" charset="0"/>
                <a:ea typeface="黑体" pitchFamily="2" charset="-122"/>
              </a:rPr>
              <a:t>照相物镜目视分辨率测量</a:t>
            </a:r>
          </a:p>
          <a:p>
            <a:pPr marL="271463" indent="-271463" eaLnBrk="1" hangingPunct="1">
              <a:defRPr/>
            </a:pPr>
            <a:r>
              <a:rPr lang="zh-CN" altLang="en-US" smtClean="0">
                <a:latin typeface="Times New Roman" pitchFamily="18" charset="0"/>
                <a:ea typeface="黑体" pitchFamily="2" charset="-122"/>
              </a:rPr>
              <a:t>在光具座上测量照相物镜的</a:t>
            </a:r>
            <a:r>
              <a:rPr lang="zh-CN" altLang="en-US" smtClean="0">
                <a:solidFill>
                  <a:srgbClr val="FF0000"/>
                </a:solidFill>
                <a:latin typeface="Times New Roman" pitchFamily="18" charset="0"/>
                <a:ea typeface="黑体" pitchFamily="2" charset="-122"/>
              </a:rPr>
              <a:t>目视分辨率</a:t>
            </a:r>
            <a:r>
              <a:rPr lang="zh-CN" altLang="en-US" smtClean="0">
                <a:latin typeface="Times New Roman" pitchFamily="18" charset="0"/>
                <a:ea typeface="黑体" pitchFamily="2" charset="-122"/>
              </a:rPr>
              <a:t>时通常采用目视法；</a:t>
            </a:r>
          </a:p>
          <a:p>
            <a:pPr marL="271463" indent="-271463" eaLnBrk="1" hangingPunct="1">
              <a:defRPr/>
            </a:pPr>
            <a:r>
              <a:rPr lang="zh-CN" altLang="en-US" smtClean="0">
                <a:latin typeface="Times New Roman" pitchFamily="18" charset="0"/>
                <a:ea typeface="黑体" pitchFamily="2" charset="-122"/>
              </a:rPr>
              <a:t>而要测量照相物镜的</a:t>
            </a:r>
            <a:r>
              <a:rPr lang="zh-CN" altLang="en-US" smtClean="0">
                <a:solidFill>
                  <a:srgbClr val="FF0000"/>
                </a:solidFill>
                <a:latin typeface="Times New Roman" pitchFamily="18" charset="0"/>
                <a:ea typeface="黑体" pitchFamily="2" charset="-122"/>
              </a:rPr>
              <a:t>照相分辨率</a:t>
            </a:r>
            <a:r>
              <a:rPr lang="zh-CN" altLang="en-US" smtClean="0">
                <a:latin typeface="Times New Roman" pitchFamily="18" charset="0"/>
                <a:ea typeface="黑体" pitchFamily="2" charset="-122"/>
              </a:rPr>
              <a:t>，要考虑感光材料，采用照相法。其装置图和转换公式为：</a:t>
            </a:r>
          </a:p>
          <a:p>
            <a:pPr marL="271463" indent="-271463" eaLnBrk="1" hangingPunct="1">
              <a:defRPr/>
            </a:pPr>
            <a:r>
              <a:rPr lang="zh-CN" altLang="en-US" smtClean="0">
                <a:latin typeface="Times New Roman" pitchFamily="18" charset="0"/>
                <a:ea typeface="黑体" pitchFamily="2" charset="-122"/>
              </a:rPr>
              <a:t>式中，</a:t>
            </a:r>
            <a:r>
              <a:rPr lang="en-US" altLang="zh-CN" i="1" smtClean="0">
                <a:latin typeface="Times New Roman" pitchFamily="18" charset="0"/>
                <a:ea typeface="黑体" pitchFamily="2" charset="-122"/>
              </a:rPr>
              <a:t>f</a:t>
            </a:r>
            <a:r>
              <a:rPr lang="en-US" altLang="zh-CN" i="1" baseline="-25000" smtClean="0">
                <a:latin typeface="Times New Roman" pitchFamily="18" charset="0"/>
                <a:ea typeface="黑体" pitchFamily="2" charset="-122"/>
              </a:rPr>
              <a:t>c</a:t>
            </a:r>
            <a:r>
              <a:rPr lang="zh-CN" altLang="en-US" smtClean="0">
                <a:latin typeface="Times New Roman" pitchFamily="18" charset="0"/>
                <a:ea typeface="黑体" pitchFamily="2" charset="-122"/>
              </a:rPr>
              <a:t>＇是平行光管的焦距；</a:t>
            </a:r>
            <a:r>
              <a:rPr lang="en-US" altLang="zh-CN" i="1" smtClean="0">
                <a:latin typeface="Times New Roman" pitchFamily="18" charset="0"/>
                <a:ea typeface="黑体" pitchFamily="2" charset="-122"/>
              </a:rPr>
              <a:t>f </a:t>
            </a:r>
            <a:r>
              <a:rPr lang="zh-CN" altLang="en-US" smtClean="0">
                <a:latin typeface="Times New Roman" pitchFamily="18" charset="0"/>
                <a:ea typeface="黑体" pitchFamily="2" charset="-122"/>
              </a:rPr>
              <a:t>＇是被测物镜的焦距。 </a:t>
            </a:r>
          </a:p>
        </p:txBody>
      </p:sp>
      <p:sp>
        <p:nvSpPr>
          <p:cNvPr id="35847"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5848"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5849"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5850"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5851"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5852"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3"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4"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5"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6"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7"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8"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59"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0"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1"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2"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3"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4"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5"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6"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7"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8"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69"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5870"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5871" name="Rectangle 2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5872" name="Rectangle 2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5842" name="Object 30"/>
          <p:cNvGraphicFramePr>
            <a:graphicFrameLocks noChangeAspect="1"/>
          </p:cNvGraphicFramePr>
          <p:nvPr/>
        </p:nvGraphicFramePr>
        <p:xfrm>
          <a:off x="5089525" y="3116263"/>
          <a:ext cx="2725738" cy="452437"/>
        </p:xfrm>
        <a:graphic>
          <a:graphicData uri="http://schemas.openxmlformats.org/presentationml/2006/ole">
            <p:oleObj spid="_x0000_s35842" name="公式" r:id="rId3" imgW="34747517" imgH="5791517" progId="Equation.3">
              <p:embed/>
            </p:oleObj>
          </a:graphicData>
        </a:graphic>
      </p:graphicFrame>
      <p:grpSp>
        <p:nvGrpSpPr>
          <p:cNvPr id="35873" name="Group 31"/>
          <p:cNvGrpSpPr>
            <a:grpSpLocks/>
          </p:cNvGrpSpPr>
          <p:nvPr/>
        </p:nvGrpSpPr>
        <p:grpSpPr bwMode="auto">
          <a:xfrm>
            <a:off x="1228725" y="4243388"/>
            <a:ext cx="6772275" cy="2528887"/>
            <a:chOff x="711" y="2502"/>
            <a:chExt cx="4266" cy="1593"/>
          </a:xfrm>
        </p:grpSpPr>
        <p:sp>
          <p:nvSpPr>
            <p:cNvPr id="35874" name="Rectangle 32"/>
            <p:cNvSpPr>
              <a:spLocks noChangeArrowheads="1"/>
            </p:cNvSpPr>
            <p:nvPr/>
          </p:nvSpPr>
          <p:spPr bwMode="auto">
            <a:xfrm>
              <a:off x="711" y="2502"/>
              <a:ext cx="4266" cy="1593"/>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35875" name="Group 33"/>
            <p:cNvGrpSpPr>
              <a:grpSpLocks/>
            </p:cNvGrpSpPr>
            <p:nvPr/>
          </p:nvGrpSpPr>
          <p:grpSpPr bwMode="auto">
            <a:xfrm>
              <a:off x="719" y="2514"/>
              <a:ext cx="4258" cy="1554"/>
              <a:chOff x="719" y="2514"/>
              <a:chExt cx="4258" cy="1554"/>
            </a:xfrm>
          </p:grpSpPr>
          <p:grpSp>
            <p:nvGrpSpPr>
              <p:cNvPr id="35876" name="Group 34"/>
              <p:cNvGrpSpPr>
                <a:grpSpLocks/>
              </p:cNvGrpSpPr>
              <p:nvPr/>
            </p:nvGrpSpPr>
            <p:grpSpPr bwMode="auto">
              <a:xfrm>
                <a:off x="2396" y="2847"/>
                <a:ext cx="239" cy="962"/>
                <a:chOff x="4815" y="3783"/>
                <a:chExt cx="300" cy="885"/>
              </a:xfrm>
            </p:grpSpPr>
            <p:sp>
              <p:nvSpPr>
                <p:cNvPr id="35928" name="Oval 35"/>
                <p:cNvSpPr>
                  <a:spLocks noChangeArrowheads="1"/>
                </p:cNvSpPr>
                <p:nvPr/>
              </p:nvSpPr>
              <p:spPr bwMode="auto">
                <a:xfrm>
                  <a:off x="4815" y="3870"/>
                  <a:ext cx="300" cy="585"/>
                </a:xfrm>
                <a:prstGeom prst="ellipse">
                  <a:avLst/>
                </a:prstGeom>
                <a:noFill/>
                <a:ln w="9525">
                  <a:solidFill>
                    <a:srgbClr val="000000"/>
                  </a:solidFill>
                  <a:round/>
                  <a:headEnd/>
                  <a:tailEnd/>
                </a:ln>
              </p:spPr>
              <p:txBody>
                <a:bodyPr/>
                <a:lstStyle/>
                <a:p>
                  <a:endParaRPr lang="zh-CN" altLang="en-US"/>
                </a:p>
              </p:txBody>
            </p:sp>
            <p:sp>
              <p:nvSpPr>
                <p:cNvPr id="35929" name="Rectangle 36"/>
                <p:cNvSpPr>
                  <a:spLocks noChangeArrowheads="1"/>
                </p:cNvSpPr>
                <p:nvPr/>
              </p:nvSpPr>
              <p:spPr bwMode="auto">
                <a:xfrm>
                  <a:off x="4887" y="3783"/>
                  <a:ext cx="143" cy="885"/>
                </a:xfrm>
                <a:prstGeom prst="rect">
                  <a:avLst/>
                </a:prstGeom>
                <a:noFill/>
                <a:ln w="9525">
                  <a:noFill/>
                  <a:miter lim="800000"/>
                  <a:headEnd/>
                  <a:tailEnd/>
                </a:ln>
              </p:spPr>
              <p:txBody>
                <a:bodyPr/>
                <a:lstStyle/>
                <a:p>
                  <a:endParaRPr lang="zh-CN" altLang="en-US"/>
                </a:p>
              </p:txBody>
            </p:sp>
          </p:grpSp>
          <p:sp>
            <p:nvSpPr>
              <p:cNvPr id="35877" name="Oval 37"/>
              <p:cNvSpPr>
                <a:spLocks noChangeArrowheads="1"/>
              </p:cNvSpPr>
              <p:nvPr/>
            </p:nvSpPr>
            <p:spPr bwMode="auto">
              <a:xfrm>
                <a:off x="1176" y="3202"/>
                <a:ext cx="148" cy="149"/>
              </a:xfrm>
              <a:prstGeom prst="ellipse">
                <a:avLst/>
              </a:prstGeom>
              <a:noFill/>
              <a:ln w="9525">
                <a:solidFill>
                  <a:srgbClr val="000000"/>
                </a:solidFill>
                <a:round/>
                <a:headEnd/>
                <a:tailEnd/>
              </a:ln>
            </p:spPr>
            <p:txBody>
              <a:bodyPr/>
              <a:lstStyle/>
              <a:p>
                <a:endParaRPr lang="zh-CN" altLang="en-US"/>
              </a:p>
            </p:txBody>
          </p:sp>
          <p:sp>
            <p:nvSpPr>
              <p:cNvPr id="35878" name="Line 38"/>
              <p:cNvSpPr>
                <a:spLocks noChangeShapeType="1"/>
              </p:cNvSpPr>
              <p:nvPr/>
            </p:nvSpPr>
            <p:spPr bwMode="auto">
              <a:xfrm flipH="1">
                <a:off x="1201" y="3212"/>
                <a:ext cx="104" cy="129"/>
              </a:xfrm>
              <a:prstGeom prst="line">
                <a:avLst/>
              </a:prstGeom>
              <a:noFill/>
              <a:ln w="9525">
                <a:solidFill>
                  <a:srgbClr val="000000"/>
                </a:solidFill>
                <a:round/>
                <a:headEnd/>
                <a:tailEnd/>
              </a:ln>
            </p:spPr>
            <p:txBody>
              <a:bodyPr/>
              <a:lstStyle/>
              <a:p>
                <a:endParaRPr lang="zh-CN" altLang="en-US"/>
              </a:p>
            </p:txBody>
          </p:sp>
          <p:sp>
            <p:nvSpPr>
              <p:cNvPr id="35879" name="Line 39"/>
              <p:cNvSpPr>
                <a:spLocks noChangeShapeType="1"/>
              </p:cNvSpPr>
              <p:nvPr/>
            </p:nvSpPr>
            <p:spPr bwMode="auto">
              <a:xfrm>
                <a:off x="1191" y="3222"/>
                <a:ext cx="109" cy="104"/>
              </a:xfrm>
              <a:prstGeom prst="line">
                <a:avLst/>
              </a:prstGeom>
              <a:noFill/>
              <a:ln w="9525">
                <a:solidFill>
                  <a:srgbClr val="000000"/>
                </a:solidFill>
                <a:round/>
                <a:headEnd/>
                <a:tailEnd/>
              </a:ln>
            </p:spPr>
            <p:txBody>
              <a:bodyPr/>
              <a:lstStyle/>
              <a:p>
                <a:endParaRPr lang="zh-CN" altLang="en-US"/>
              </a:p>
            </p:txBody>
          </p:sp>
          <p:grpSp>
            <p:nvGrpSpPr>
              <p:cNvPr id="35880" name="Group 40"/>
              <p:cNvGrpSpPr>
                <a:grpSpLocks/>
              </p:cNvGrpSpPr>
              <p:nvPr/>
            </p:nvGrpSpPr>
            <p:grpSpPr bwMode="auto">
              <a:xfrm>
                <a:off x="1463" y="3073"/>
                <a:ext cx="127" cy="367"/>
                <a:chOff x="4935" y="1935"/>
                <a:chExt cx="191" cy="555"/>
              </a:xfrm>
            </p:grpSpPr>
            <p:sp>
              <p:nvSpPr>
                <p:cNvPr id="35926" name="Rectangle 41"/>
                <p:cNvSpPr>
                  <a:spLocks noChangeArrowheads="1"/>
                </p:cNvSpPr>
                <p:nvPr/>
              </p:nvSpPr>
              <p:spPr bwMode="auto">
                <a:xfrm>
                  <a:off x="4935" y="1935"/>
                  <a:ext cx="71" cy="555"/>
                </a:xfrm>
                <a:prstGeom prst="rect">
                  <a:avLst/>
                </a:prstGeom>
                <a:noFill/>
                <a:ln w="9525">
                  <a:solidFill>
                    <a:srgbClr val="000000"/>
                  </a:solidFill>
                  <a:miter lim="800000"/>
                  <a:headEnd/>
                  <a:tailEnd/>
                </a:ln>
              </p:spPr>
              <p:txBody>
                <a:bodyPr/>
                <a:lstStyle/>
                <a:p>
                  <a:endParaRPr lang="zh-CN" altLang="en-US"/>
                </a:p>
              </p:txBody>
            </p:sp>
            <p:sp>
              <p:nvSpPr>
                <p:cNvPr id="35927" name="Rectangle 42"/>
                <p:cNvSpPr>
                  <a:spLocks noChangeArrowheads="1"/>
                </p:cNvSpPr>
                <p:nvPr/>
              </p:nvSpPr>
              <p:spPr bwMode="auto">
                <a:xfrm>
                  <a:off x="5055" y="1935"/>
                  <a:ext cx="71" cy="555"/>
                </a:xfrm>
                <a:prstGeom prst="rect">
                  <a:avLst/>
                </a:prstGeom>
                <a:noFill/>
                <a:ln w="9525">
                  <a:solidFill>
                    <a:srgbClr val="000000"/>
                  </a:solidFill>
                  <a:miter lim="800000"/>
                  <a:headEnd/>
                  <a:tailEnd/>
                </a:ln>
              </p:spPr>
              <p:txBody>
                <a:bodyPr/>
                <a:lstStyle/>
                <a:p>
                  <a:endParaRPr lang="zh-CN" altLang="en-US"/>
                </a:p>
              </p:txBody>
            </p:sp>
          </p:grpSp>
          <p:grpSp>
            <p:nvGrpSpPr>
              <p:cNvPr id="35881" name="Group 43"/>
              <p:cNvGrpSpPr>
                <a:grpSpLocks/>
              </p:cNvGrpSpPr>
              <p:nvPr/>
            </p:nvGrpSpPr>
            <p:grpSpPr bwMode="auto">
              <a:xfrm>
                <a:off x="3022" y="3073"/>
                <a:ext cx="154" cy="417"/>
                <a:chOff x="6870" y="4110"/>
                <a:chExt cx="233" cy="630"/>
              </a:xfrm>
            </p:grpSpPr>
            <p:sp>
              <p:nvSpPr>
                <p:cNvPr id="35922" name="Oval 44"/>
                <p:cNvSpPr>
                  <a:spLocks noChangeArrowheads="1"/>
                </p:cNvSpPr>
                <p:nvPr/>
              </p:nvSpPr>
              <p:spPr bwMode="auto">
                <a:xfrm>
                  <a:off x="6960" y="4110"/>
                  <a:ext cx="143" cy="615"/>
                </a:xfrm>
                <a:prstGeom prst="ellipse">
                  <a:avLst/>
                </a:prstGeom>
                <a:noFill/>
                <a:ln w="9525">
                  <a:solidFill>
                    <a:srgbClr val="000000"/>
                  </a:solidFill>
                  <a:round/>
                  <a:headEnd/>
                  <a:tailEnd/>
                </a:ln>
              </p:spPr>
              <p:txBody>
                <a:bodyPr/>
                <a:lstStyle/>
                <a:p>
                  <a:endParaRPr lang="zh-CN" altLang="en-US"/>
                </a:p>
              </p:txBody>
            </p:sp>
            <p:sp>
              <p:nvSpPr>
                <p:cNvPr id="35923" name="Line 45"/>
                <p:cNvSpPr>
                  <a:spLocks noChangeShapeType="1"/>
                </p:cNvSpPr>
                <p:nvPr/>
              </p:nvSpPr>
              <p:spPr bwMode="auto">
                <a:xfrm>
                  <a:off x="6885" y="4125"/>
                  <a:ext cx="0" cy="615"/>
                </a:xfrm>
                <a:prstGeom prst="line">
                  <a:avLst/>
                </a:prstGeom>
                <a:noFill/>
                <a:ln w="9525">
                  <a:solidFill>
                    <a:srgbClr val="000000"/>
                  </a:solidFill>
                  <a:round/>
                  <a:headEnd/>
                  <a:tailEnd/>
                </a:ln>
              </p:spPr>
              <p:txBody>
                <a:bodyPr/>
                <a:lstStyle/>
                <a:p>
                  <a:endParaRPr lang="zh-CN" altLang="en-US"/>
                </a:p>
              </p:txBody>
            </p:sp>
            <p:sp>
              <p:nvSpPr>
                <p:cNvPr id="35924" name="Line 46"/>
                <p:cNvSpPr>
                  <a:spLocks noChangeShapeType="1"/>
                </p:cNvSpPr>
                <p:nvPr/>
              </p:nvSpPr>
              <p:spPr bwMode="auto">
                <a:xfrm flipH="1">
                  <a:off x="6885" y="4740"/>
                  <a:ext cx="150" cy="0"/>
                </a:xfrm>
                <a:prstGeom prst="line">
                  <a:avLst/>
                </a:prstGeom>
                <a:noFill/>
                <a:ln w="9525">
                  <a:solidFill>
                    <a:srgbClr val="000000"/>
                  </a:solidFill>
                  <a:round/>
                  <a:headEnd/>
                  <a:tailEnd/>
                </a:ln>
              </p:spPr>
              <p:txBody>
                <a:bodyPr/>
                <a:lstStyle/>
                <a:p>
                  <a:endParaRPr lang="zh-CN" altLang="en-US"/>
                </a:p>
              </p:txBody>
            </p:sp>
            <p:sp>
              <p:nvSpPr>
                <p:cNvPr id="35925" name="Line 47"/>
                <p:cNvSpPr>
                  <a:spLocks noChangeShapeType="1"/>
                </p:cNvSpPr>
                <p:nvPr/>
              </p:nvSpPr>
              <p:spPr bwMode="auto">
                <a:xfrm flipH="1">
                  <a:off x="6870" y="4110"/>
                  <a:ext cx="165" cy="0"/>
                </a:xfrm>
                <a:prstGeom prst="line">
                  <a:avLst/>
                </a:prstGeom>
                <a:noFill/>
                <a:ln w="9525">
                  <a:solidFill>
                    <a:srgbClr val="000000"/>
                  </a:solidFill>
                  <a:round/>
                  <a:headEnd/>
                  <a:tailEnd/>
                </a:ln>
              </p:spPr>
              <p:txBody>
                <a:bodyPr/>
                <a:lstStyle/>
                <a:p>
                  <a:endParaRPr lang="zh-CN" altLang="en-US"/>
                </a:p>
              </p:txBody>
            </p:sp>
          </p:grpSp>
          <p:grpSp>
            <p:nvGrpSpPr>
              <p:cNvPr id="35882" name="Group 48"/>
              <p:cNvGrpSpPr>
                <a:grpSpLocks/>
              </p:cNvGrpSpPr>
              <p:nvPr/>
            </p:nvGrpSpPr>
            <p:grpSpPr bwMode="auto">
              <a:xfrm>
                <a:off x="3945" y="3202"/>
                <a:ext cx="491" cy="129"/>
                <a:chOff x="7875" y="2025"/>
                <a:chExt cx="1013" cy="375"/>
              </a:xfrm>
            </p:grpSpPr>
            <p:sp>
              <p:nvSpPr>
                <p:cNvPr id="35916" name="Rectangle 49"/>
                <p:cNvSpPr>
                  <a:spLocks noChangeArrowheads="1"/>
                </p:cNvSpPr>
                <p:nvPr/>
              </p:nvSpPr>
              <p:spPr bwMode="auto">
                <a:xfrm>
                  <a:off x="7875" y="2100"/>
                  <a:ext cx="630" cy="225"/>
                </a:xfrm>
                <a:prstGeom prst="rect">
                  <a:avLst/>
                </a:prstGeom>
                <a:noFill/>
                <a:ln w="9525">
                  <a:solidFill>
                    <a:srgbClr val="000000"/>
                  </a:solidFill>
                  <a:miter lim="800000"/>
                  <a:headEnd/>
                  <a:tailEnd/>
                </a:ln>
              </p:spPr>
              <p:txBody>
                <a:bodyPr/>
                <a:lstStyle/>
                <a:p>
                  <a:endParaRPr lang="zh-CN" altLang="en-US"/>
                </a:p>
              </p:txBody>
            </p:sp>
            <p:sp>
              <p:nvSpPr>
                <p:cNvPr id="35917" name="Rectangle 50"/>
                <p:cNvSpPr>
                  <a:spLocks noChangeArrowheads="1"/>
                </p:cNvSpPr>
                <p:nvPr/>
              </p:nvSpPr>
              <p:spPr bwMode="auto">
                <a:xfrm>
                  <a:off x="8505" y="2025"/>
                  <a:ext cx="71" cy="375"/>
                </a:xfrm>
                <a:prstGeom prst="rect">
                  <a:avLst/>
                </a:prstGeom>
                <a:noFill/>
                <a:ln w="9525">
                  <a:solidFill>
                    <a:srgbClr val="000000"/>
                  </a:solidFill>
                  <a:miter lim="800000"/>
                  <a:headEnd/>
                  <a:tailEnd/>
                </a:ln>
              </p:spPr>
              <p:txBody>
                <a:bodyPr/>
                <a:lstStyle/>
                <a:p>
                  <a:endParaRPr lang="zh-CN" altLang="en-US"/>
                </a:p>
              </p:txBody>
            </p:sp>
            <p:sp>
              <p:nvSpPr>
                <p:cNvPr id="35918" name="Rectangle 51"/>
                <p:cNvSpPr>
                  <a:spLocks noChangeArrowheads="1"/>
                </p:cNvSpPr>
                <p:nvPr/>
              </p:nvSpPr>
              <p:spPr bwMode="auto">
                <a:xfrm>
                  <a:off x="8745" y="2025"/>
                  <a:ext cx="143" cy="360"/>
                </a:xfrm>
                <a:prstGeom prst="rect">
                  <a:avLst/>
                </a:prstGeom>
                <a:noFill/>
                <a:ln w="9525">
                  <a:solidFill>
                    <a:srgbClr val="000000"/>
                  </a:solidFill>
                  <a:miter lim="800000"/>
                  <a:headEnd/>
                  <a:tailEnd/>
                </a:ln>
              </p:spPr>
              <p:txBody>
                <a:bodyPr/>
                <a:lstStyle/>
                <a:p>
                  <a:endParaRPr lang="zh-CN" altLang="en-US"/>
                </a:p>
              </p:txBody>
            </p:sp>
            <p:sp>
              <p:nvSpPr>
                <p:cNvPr id="35919" name="Rectangle 52"/>
                <p:cNvSpPr>
                  <a:spLocks noChangeArrowheads="1"/>
                </p:cNvSpPr>
                <p:nvPr/>
              </p:nvSpPr>
              <p:spPr bwMode="auto">
                <a:xfrm>
                  <a:off x="8587" y="2100"/>
                  <a:ext cx="71" cy="225"/>
                </a:xfrm>
                <a:prstGeom prst="rect">
                  <a:avLst/>
                </a:prstGeom>
                <a:noFill/>
                <a:ln w="9525">
                  <a:solidFill>
                    <a:srgbClr val="000000"/>
                  </a:solidFill>
                  <a:miter lim="800000"/>
                  <a:headEnd/>
                  <a:tailEnd/>
                </a:ln>
              </p:spPr>
              <p:txBody>
                <a:bodyPr/>
                <a:lstStyle/>
                <a:p>
                  <a:endParaRPr lang="zh-CN" altLang="en-US"/>
                </a:p>
              </p:txBody>
            </p:sp>
            <p:sp>
              <p:nvSpPr>
                <p:cNvPr id="35920" name="Line 53"/>
                <p:cNvSpPr>
                  <a:spLocks noChangeShapeType="1"/>
                </p:cNvSpPr>
                <p:nvPr/>
              </p:nvSpPr>
              <p:spPr bwMode="auto">
                <a:xfrm flipV="1">
                  <a:off x="8655" y="2025"/>
                  <a:ext cx="90" cy="75"/>
                </a:xfrm>
                <a:prstGeom prst="line">
                  <a:avLst/>
                </a:prstGeom>
                <a:noFill/>
                <a:ln w="9525">
                  <a:solidFill>
                    <a:srgbClr val="000000"/>
                  </a:solidFill>
                  <a:round/>
                  <a:headEnd/>
                  <a:tailEnd/>
                </a:ln>
              </p:spPr>
              <p:txBody>
                <a:bodyPr/>
                <a:lstStyle/>
                <a:p>
                  <a:endParaRPr lang="zh-CN" altLang="en-US"/>
                </a:p>
              </p:txBody>
            </p:sp>
            <p:sp>
              <p:nvSpPr>
                <p:cNvPr id="35921" name="Line 54"/>
                <p:cNvSpPr>
                  <a:spLocks noChangeShapeType="1"/>
                </p:cNvSpPr>
                <p:nvPr/>
              </p:nvSpPr>
              <p:spPr bwMode="auto">
                <a:xfrm>
                  <a:off x="8655" y="2325"/>
                  <a:ext cx="105" cy="75"/>
                </a:xfrm>
                <a:prstGeom prst="line">
                  <a:avLst/>
                </a:prstGeom>
                <a:noFill/>
                <a:ln w="9525">
                  <a:solidFill>
                    <a:srgbClr val="000000"/>
                  </a:solidFill>
                  <a:round/>
                  <a:headEnd/>
                  <a:tailEnd/>
                </a:ln>
              </p:spPr>
              <p:txBody>
                <a:bodyPr/>
                <a:lstStyle/>
                <a:p>
                  <a:endParaRPr lang="zh-CN" altLang="en-US"/>
                </a:p>
              </p:txBody>
            </p:sp>
          </p:grpSp>
          <p:sp>
            <p:nvSpPr>
              <p:cNvPr id="35883" name="Line 55"/>
              <p:cNvSpPr>
                <a:spLocks noChangeShapeType="1"/>
              </p:cNvSpPr>
              <p:nvPr/>
            </p:nvSpPr>
            <p:spPr bwMode="auto">
              <a:xfrm flipV="1">
                <a:off x="719" y="3272"/>
                <a:ext cx="4258" cy="9"/>
              </a:xfrm>
              <a:prstGeom prst="line">
                <a:avLst/>
              </a:prstGeom>
              <a:noFill/>
              <a:ln w="6350">
                <a:solidFill>
                  <a:srgbClr val="000000"/>
                </a:solidFill>
                <a:prstDash val="lgDashDot"/>
                <a:round/>
                <a:headEnd/>
                <a:tailEnd/>
              </a:ln>
            </p:spPr>
            <p:txBody>
              <a:bodyPr/>
              <a:lstStyle/>
              <a:p>
                <a:endParaRPr lang="zh-CN" altLang="en-US"/>
              </a:p>
            </p:txBody>
          </p:sp>
          <p:sp>
            <p:nvSpPr>
              <p:cNvPr id="607288" name="Text Box 56"/>
              <p:cNvSpPr txBox="1">
                <a:spLocks noChangeArrowheads="1"/>
              </p:cNvSpPr>
              <p:nvPr/>
            </p:nvSpPr>
            <p:spPr bwMode="auto">
              <a:xfrm>
                <a:off x="1384" y="3814"/>
                <a:ext cx="3121" cy="254"/>
              </a:xfrm>
              <a:prstGeom prst="rect">
                <a:avLst/>
              </a:prstGeom>
              <a:noFill/>
              <a:ln w="9525">
                <a:noFill/>
                <a:miter lim="800000"/>
                <a:headEnd/>
                <a:tailEnd/>
              </a:ln>
              <a:effectLst/>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在光具座上测量照相物镜分辨率的光路图</a:t>
                </a:r>
                <a:endParaRPr lang="zh-CN" altLang="en-US" sz="2000" b="1">
                  <a:effectLst>
                    <a:outerShdw blurRad="38100" dist="38100" dir="2700000" algn="tl">
                      <a:srgbClr val="C0C0C0"/>
                    </a:outerShdw>
                  </a:effectLst>
                </a:endParaRPr>
              </a:p>
            </p:txBody>
          </p:sp>
          <p:grpSp>
            <p:nvGrpSpPr>
              <p:cNvPr id="35885" name="Group 57"/>
              <p:cNvGrpSpPr>
                <a:grpSpLocks/>
              </p:cNvGrpSpPr>
              <p:nvPr/>
            </p:nvGrpSpPr>
            <p:grpSpPr bwMode="auto">
              <a:xfrm rot="-1698174">
                <a:off x="3014" y="3070"/>
                <a:ext cx="154" cy="417"/>
                <a:chOff x="6870" y="4110"/>
                <a:chExt cx="233" cy="630"/>
              </a:xfrm>
            </p:grpSpPr>
            <p:sp>
              <p:nvSpPr>
                <p:cNvPr id="35912" name="Oval 58"/>
                <p:cNvSpPr>
                  <a:spLocks noChangeArrowheads="1"/>
                </p:cNvSpPr>
                <p:nvPr/>
              </p:nvSpPr>
              <p:spPr bwMode="auto">
                <a:xfrm>
                  <a:off x="6960" y="4110"/>
                  <a:ext cx="143" cy="615"/>
                </a:xfrm>
                <a:prstGeom prst="ellipse">
                  <a:avLst/>
                </a:prstGeom>
                <a:noFill/>
                <a:ln w="9525">
                  <a:solidFill>
                    <a:srgbClr val="000000"/>
                  </a:solidFill>
                  <a:prstDash val="dash"/>
                  <a:round/>
                  <a:headEnd/>
                  <a:tailEnd/>
                </a:ln>
              </p:spPr>
              <p:txBody>
                <a:bodyPr/>
                <a:lstStyle/>
                <a:p>
                  <a:endParaRPr lang="zh-CN" altLang="en-US"/>
                </a:p>
              </p:txBody>
            </p:sp>
            <p:sp>
              <p:nvSpPr>
                <p:cNvPr id="35913" name="Line 59"/>
                <p:cNvSpPr>
                  <a:spLocks noChangeShapeType="1"/>
                </p:cNvSpPr>
                <p:nvPr/>
              </p:nvSpPr>
              <p:spPr bwMode="auto">
                <a:xfrm>
                  <a:off x="6885" y="4125"/>
                  <a:ext cx="0" cy="615"/>
                </a:xfrm>
                <a:prstGeom prst="line">
                  <a:avLst/>
                </a:prstGeom>
                <a:noFill/>
                <a:ln w="9525">
                  <a:solidFill>
                    <a:srgbClr val="000000"/>
                  </a:solidFill>
                  <a:prstDash val="dash"/>
                  <a:round/>
                  <a:headEnd/>
                  <a:tailEnd/>
                </a:ln>
              </p:spPr>
              <p:txBody>
                <a:bodyPr/>
                <a:lstStyle/>
                <a:p>
                  <a:endParaRPr lang="zh-CN" altLang="en-US"/>
                </a:p>
              </p:txBody>
            </p:sp>
            <p:sp>
              <p:nvSpPr>
                <p:cNvPr id="35914" name="Line 60"/>
                <p:cNvSpPr>
                  <a:spLocks noChangeShapeType="1"/>
                </p:cNvSpPr>
                <p:nvPr/>
              </p:nvSpPr>
              <p:spPr bwMode="auto">
                <a:xfrm flipH="1">
                  <a:off x="6885" y="4740"/>
                  <a:ext cx="150" cy="0"/>
                </a:xfrm>
                <a:prstGeom prst="line">
                  <a:avLst/>
                </a:prstGeom>
                <a:noFill/>
                <a:ln w="9525">
                  <a:solidFill>
                    <a:srgbClr val="000000"/>
                  </a:solidFill>
                  <a:prstDash val="dash"/>
                  <a:round/>
                  <a:headEnd/>
                  <a:tailEnd/>
                </a:ln>
              </p:spPr>
              <p:txBody>
                <a:bodyPr/>
                <a:lstStyle/>
                <a:p>
                  <a:endParaRPr lang="zh-CN" altLang="en-US"/>
                </a:p>
              </p:txBody>
            </p:sp>
            <p:sp>
              <p:nvSpPr>
                <p:cNvPr id="35915" name="Line 61"/>
                <p:cNvSpPr>
                  <a:spLocks noChangeShapeType="1"/>
                </p:cNvSpPr>
                <p:nvPr/>
              </p:nvSpPr>
              <p:spPr bwMode="auto">
                <a:xfrm flipH="1">
                  <a:off x="6870" y="4110"/>
                  <a:ext cx="165" cy="0"/>
                </a:xfrm>
                <a:prstGeom prst="line">
                  <a:avLst/>
                </a:prstGeom>
                <a:noFill/>
                <a:ln w="9525">
                  <a:solidFill>
                    <a:srgbClr val="000000"/>
                  </a:solidFill>
                  <a:prstDash val="dash"/>
                  <a:round/>
                  <a:headEnd/>
                  <a:tailEnd/>
                </a:ln>
              </p:spPr>
              <p:txBody>
                <a:bodyPr/>
                <a:lstStyle/>
                <a:p>
                  <a:endParaRPr lang="zh-CN" altLang="en-US"/>
                </a:p>
              </p:txBody>
            </p:sp>
          </p:grpSp>
          <p:sp>
            <p:nvSpPr>
              <p:cNvPr id="35886" name="Line 62"/>
              <p:cNvSpPr>
                <a:spLocks noChangeShapeType="1"/>
              </p:cNvSpPr>
              <p:nvPr/>
            </p:nvSpPr>
            <p:spPr bwMode="auto">
              <a:xfrm rot="-1698174">
                <a:off x="3069" y="3087"/>
                <a:ext cx="753" cy="20"/>
              </a:xfrm>
              <a:prstGeom prst="line">
                <a:avLst/>
              </a:prstGeom>
              <a:noFill/>
              <a:ln w="9525">
                <a:solidFill>
                  <a:srgbClr val="000000"/>
                </a:solidFill>
                <a:round/>
                <a:headEnd/>
                <a:tailEnd/>
              </a:ln>
            </p:spPr>
            <p:txBody>
              <a:bodyPr/>
              <a:lstStyle/>
              <a:p>
                <a:endParaRPr lang="zh-CN" altLang="en-US"/>
              </a:p>
            </p:txBody>
          </p:sp>
          <p:sp>
            <p:nvSpPr>
              <p:cNvPr id="35887" name="Line 63"/>
              <p:cNvSpPr>
                <a:spLocks noChangeShapeType="1"/>
              </p:cNvSpPr>
              <p:nvPr/>
            </p:nvSpPr>
            <p:spPr bwMode="auto">
              <a:xfrm>
                <a:off x="3687" y="2755"/>
                <a:ext cx="258" cy="487"/>
              </a:xfrm>
              <a:prstGeom prst="line">
                <a:avLst/>
              </a:prstGeom>
              <a:noFill/>
              <a:ln w="9525">
                <a:solidFill>
                  <a:srgbClr val="000000"/>
                </a:solidFill>
                <a:prstDash val="dash"/>
                <a:round/>
                <a:headEnd/>
                <a:tailEnd/>
              </a:ln>
            </p:spPr>
            <p:txBody>
              <a:bodyPr/>
              <a:lstStyle/>
              <a:p>
                <a:endParaRPr lang="zh-CN" altLang="en-US"/>
              </a:p>
            </p:txBody>
          </p:sp>
          <p:sp>
            <p:nvSpPr>
              <p:cNvPr id="35888" name="Freeform 64"/>
              <p:cNvSpPr>
                <a:spLocks/>
              </p:cNvSpPr>
              <p:nvPr/>
            </p:nvSpPr>
            <p:spPr bwMode="auto">
              <a:xfrm>
                <a:off x="3419" y="3113"/>
                <a:ext cx="45" cy="155"/>
              </a:xfrm>
              <a:custGeom>
                <a:avLst/>
                <a:gdLst>
                  <a:gd name="T0" fmla="*/ 0 w 69"/>
                  <a:gd name="T1" fmla="*/ 0 h 234"/>
                  <a:gd name="T2" fmla="*/ 15 w 69"/>
                  <a:gd name="T3" fmla="*/ 33 h 234"/>
                  <a:gd name="T4" fmla="*/ 19 w 69"/>
                  <a:gd name="T5" fmla="*/ 68 h 234"/>
                  <a:gd name="T6" fmla="*/ 0 60000 65536"/>
                  <a:gd name="T7" fmla="*/ 0 60000 65536"/>
                  <a:gd name="T8" fmla="*/ 0 60000 65536"/>
                  <a:gd name="T9" fmla="*/ 0 w 69"/>
                  <a:gd name="T10" fmla="*/ 0 h 234"/>
                  <a:gd name="T11" fmla="*/ 69 w 69"/>
                  <a:gd name="T12" fmla="*/ 234 h 234"/>
                </a:gdLst>
                <a:ahLst/>
                <a:cxnLst>
                  <a:cxn ang="T6">
                    <a:pos x="T0" y="T1"/>
                  </a:cxn>
                  <a:cxn ang="T7">
                    <a:pos x="T2" y="T3"/>
                  </a:cxn>
                  <a:cxn ang="T8">
                    <a:pos x="T4" y="T5"/>
                  </a:cxn>
                </a:cxnLst>
                <a:rect l="T9" t="T10" r="T11" b="T12"/>
                <a:pathLst>
                  <a:path w="69" h="234">
                    <a:moveTo>
                      <a:pt x="0" y="0"/>
                    </a:moveTo>
                    <a:cubicBezTo>
                      <a:pt x="9" y="19"/>
                      <a:pt x="42" y="75"/>
                      <a:pt x="54" y="114"/>
                    </a:cubicBezTo>
                    <a:cubicBezTo>
                      <a:pt x="66" y="153"/>
                      <a:pt x="66" y="209"/>
                      <a:pt x="69" y="234"/>
                    </a:cubicBezTo>
                  </a:path>
                </a:pathLst>
              </a:custGeom>
              <a:noFill/>
              <a:ln w="6350">
                <a:solidFill>
                  <a:srgbClr val="000000"/>
                </a:solidFill>
                <a:round/>
                <a:headEnd/>
                <a:tailEnd/>
              </a:ln>
            </p:spPr>
            <p:txBody>
              <a:bodyPr/>
              <a:lstStyle/>
              <a:p>
                <a:endParaRPr lang="zh-CN" altLang="en-US"/>
              </a:p>
            </p:txBody>
          </p:sp>
          <p:sp>
            <p:nvSpPr>
              <p:cNvPr id="607297" name="Text Box 65"/>
              <p:cNvSpPr txBox="1">
                <a:spLocks noChangeArrowheads="1"/>
              </p:cNvSpPr>
              <p:nvPr/>
            </p:nvSpPr>
            <p:spPr bwMode="auto">
              <a:xfrm>
                <a:off x="3419" y="3023"/>
                <a:ext cx="417" cy="30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宋体" pitchFamily="2" charset="-122"/>
                  </a:rPr>
                  <a:t>ω</a:t>
                </a:r>
                <a:endParaRPr lang="en-US" altLang="zh-CN" sz="1600" b="1">
                  <a:effectLst>
                    <a:outerShdw blurRad="38100" dist="38100" dir="2700000" algn="tl">
                      <a:srgbClr val="C0C0C0"/>
                    </a:outerShdw>
                  </a:effectLst>
                </a:endParaRPr>
              </a:p>
            </p:txBody>
          </p:sp>
          <p:sp>
            <p:nvSpPr>
              <p:cNvPr id="607298" name="Text Box 66"/>
              <p:cNvSpPr txBox="1">
                <a:spLocks noChangeArrowheads="1"/>
              </p:cNvSpPr>
              <p:nvPr/>
            </p:nvSpPr>
            <p:spPr bwMode="auto">
              <a:xfrm>
                <a:off x="3726" y="2726"/>
                <a:ext cx="417" cy="307"/>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宋体" pitchFamily="2" charset="-122"/>
                  </a:rPr>
                  <a:t>F′</a:t>
                </a:r>
                <a:endParaRPr lang="en-US" altLang="zh-CN" sz="1600" b="1">
                  <a:effectLst>
                    <a:outerShdw blurRad="38100" dist="38100" dir="2700000" algn="tl">
                      <a:srgbClr val="C0C0C0"/>
                    </a:outerShdw>
                  </a:effectLst>
                </a:endParaRPr>
              </a:p>
            </p:txBody>
          </p:sp>
          <p:sp>
            <p:nvSpPr>
              <p:cNvPr id="607299" name="Text Box 67"/>
              <p:cNvSpPr txBox="1">
                <a:spLocks noChangeArrowheads="1"/>
              </p:cNvSpPr>
              <p:nvPr/>
            </p:nvSpPr>
            <p:spPr bwMode="auto">
              <a:xfrm>
                <a:off x="3290" y="3470"/>
                <a:ext cx="417" cy="27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f</a:t>
                </a:r>
                <a:r>
                  <a:rPr lang="en-US" altLang="zh-CN" sz="1600" b="1" i="1">
                    <a:effectLst>
                      <a:outerShdw blurRad="38100" dist="38100" dir="2700000" algn="tl">
                        <a:srgbClr val="C0C0C0"/>
                      </a:outerShdw>
                    </a:effectLst>
                    <a:latin typeface="宋体" pitchFamily="2" charset="-122"/>
                  </a:rPr>
                  <a:t>′</a:t>
                </a:r>
                <a:endParaRPr lang="en-US" altLang="zh-CN" sz="1600" b="1">
                  <a:effectLst>
                    <a:outerShdw blurRad="38100" dist="38100" dir="2700000" algn="tl">
                      <a:srgbClr val="C0C0C0"/>
                    </a:outerShdw>
                  </a:effectLst>
                </a:endParaRPr>
              </a:p>
            </p:txBody>
          </p:sp>
          <p:sp>
            <p:nvSpPr>
              <p:cNvPr id="607300" name="Text Box 68"/>
              <p:cNvSpPr txBox="1">
                <a:spLocks noChangeArrowheads="1"/>
              </p:cNvSpPr>
              <p:nvPr/>
            </p:nvSpPr>
            <p:spPr bwMode="auto">
              <a:xfrm>
                <a:off x="3554" y="3257"/>
                <a:ext cx="416" cy="30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F′</a:t>
                </a:r>
                <a:endParaRPr lang="en-US" altLang="zh-CN" sz="1600" b="1">
                  <a:effectLst>
                    <a:outerShdw blurRad="38100" dist="38100" dir="2700000" algn="tl">
                      <a:srgbClr val="C0C0C0"/>
                    </a:outerShdw>
                  </a:effectLst>
                  <a:latin typeface="Times New Roman" pitchFamily="18" charset="0"/>
                </a:endParaRPr>
              </a:p>
            </p:txBody>
          </p:sp>
          <p:sp>
            <p:nvSpPr>
              <p:cNvPr id="35893" name="Line 69"/>
              <p:cNvSpPr>
                <a:spLocks noChangeShapeType="1"/>
              </p:cNvSpPr>
              <p:nvPr/>
            </p:nvSpPr>
            <p:spPr bwMode="auto">
              <a:xfrm>
                <a:off x="3081" y="3281"/>
                <a:ext cx="0" cy="507"/>
              </a:xfrm>
              <a:prstGeom prst="line">
                <a:avLst/>
              </a:prstGeom>
              <a:noFill/>
              <a:ln w="6350">
                <a:solidFill>
                  <a:srgbClr val="000000"/>
                </a:solidFill>
                <a:round/>
                <a:headEnd/>
                <a:tailEnd/>
              </a:ln>
            </p:spPr>
            <p:txBody>
              <a:bodyPr/>
              <a:lstStyle/>
              <a:p>
                <a:endParaRPr lang="zh-CN" altLang="en-US"/>
              </a:p>
            </p:txBody>
          </p:sp>
          <p:sp>
            <p:nvSpPr>
              <p:cNvPr id="35894" name="Line 70"/>
              <p:cNvSpPr>
                <a:spLocks noChangeShapeType="1"/>
              </p:cNvSpPr>
              <p:nvPr/>
            </p:nvSpPr>
            <p:spPr bwMode="auto">
              <a:xfrm>
                <a:off x="3939" y="3272"/>
                <a:ext cx="0" cy="545"/>
              </a:xfrm>
              <a:prstGeom prst="line">
                <a:avLst/>
              </a:prstGeom>
              <a:noFill/>
              <a:ln w="6350">
                <a:solidFill>
                  <a:srgbClr val="000000"/>
                </a:solidFill>
                <a:round/>
                <a:headEnd/>
                <a:tailEnd/>
              </a:ln>
            </p:spPr>
            <p:txBody>
              <a:bodyPr/>
              <a:lstStyle/>
              <a:p>
                <a:endParaRPr lang="zh-CN" altLang="en-US"/>
              </a:p>
            </p:txBody>
          </p:sp>
          <p:sp>
            <p:nvSpPr>
              <p:cNvPr id="35895" name="Line 71"/>
              <p:cNvSpPr>
                <a:spLocks noChangeShapeType="1"/>
              </p:cNvSpPr>
              <p:nvPr/>
            </p:nvSpPr>
            <p:spPr bwMode="auto">
              <a:xfrm flipH="1">
                <a:off x="3786" y="3093"/>
                <a:ext cx="0" cy="754"/>
              </a:xfrm>
              <a:prstGeom prst="line">
                <a:avLst/>
              </a:prstGeom>
              <a:noFill/>
              <a:ln w="6350">
                <a:solidFill>
                  <a:srgbClr val="000000"/>
                </a:solidFill>
                <a:round/>
                <a:headEnd/>
                <a:tailEnd/>
              </a:ln>
            </p:spPr>
            <p:txBody>
              <a:bodyPr/>
              <a:lstStyle/>
              <a:p>
                <a:endParaRPr lang="zh-CN" altLang="en-US"/>
              </a:p>
            </p:txBody>
          </p:sp>
          <p:sp>
            <p:nvSpPr>
              <p:cNvPr id="35896" name="Line 72"/>
              <p:cNvSpPr>
                <a:spLocks noChangeShapeType="1"/>
              </p:cNvSpPr>
              <p:nvPr/>
            </p:nvSpPr>
            <p:spPr bwMode="auto">
              <a:xfrm>
                <a:off x="3081" y="3698"/>
                <a:ext cx="695"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35897" name="Line 73"/>
              <p:cNvSpPr>
                <a:spLocks noChangeShapeType="1"/>
              </p:cNvSpPr>
              <p:nvPr/>
            </p:nvSpPr>
            <p:spPr bwMode="auto">
              <a:xfrm flipH="1">
                <a:off x="3935" y="3698"/>
                <a:ext cx="298" cy="0"/>
              </a:xfrm>
              <a:prstGeom prst="line">
                <a:avLst/>
              </a:prstGeom>
              <a:noFill/>
              <a:ln w="6350">
                <a:solidFill>
                  <a:srgbClr val="000000"/>
                </a:solidFill>
                <a:round/>
                <a:headEnd/>
                <a:tailEnd type="stealth" w="sm" len="sm"/>
              </a:ln>
            </p:spPr>
            <p:txBody>
              <a:bodyPr/>
              <a:lstStyle/>
              <a:p>
                <a:endParaRPr lang="zh-CN" altLang="en-US"/>
              </a:p>
            </p:txBody>
          </p:sp>
          <p:sp>
            <p:nvSpPr>
              <p:cNvPr id="607306" name="Text Box 74"/>
              <p:cNvSpPr txBox="1">
                <a:spLocks noChangeArrowheads="1"/>
              </p:cNvSpPr>
              <p:nvPr/>
            </p:nvSpPr>
            <p:spPr bwMode="auto">
              <a:xfrm>
                <a:off x="3945" y="3470"/>
                <a:ext cx="417" cy="308"/>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宋体" pitchFamily="2" charset="-122"/>
                  </a:rPr>
                  <a:t>Δ</a:t>
                </a:r>
                <a:r>
                  <a:rPr lang="en-US" altLang="zh-CN" sz="1600" b="1" i="1">
                    <a:effectLst>
                      <a:outerShdw blurRad="38100" dist="38100" dir="2700000" algn="tl">
                        <a:srgbClr val="C0C0C0"/>
                      </a:outerShdw>
                    </a:effectLst>
                    <a:latin typeface="宋体" pitchFamily="2" charset="-122"/>
                  </a:rPr>
                  <a:t>x</a:t>
                </a:r>
                <a:endParaRPr lang="en-US" altLang="zh-CN" sz="1600" b="1">
                  <a:effectLst>
                    <a:outerShdw blurRad="38100" dist="38100" dir="2700000" algn="tl">
                      <a:srgbClr val="C0C0C0"/>
                    </a:outerShdw>
                  </a:effectLst>
                </a:endParaRPr>
              </a:p>
            </p:txBody>
          </p:sp>
          <p:sp>
            <p:nvSpPr>
              <p:cNvPr id="35899" name="Line 75"/>
              <p:cNvSpPr>
                <a:spLocks noChangeShapeType="1"/>
              </p:cNvSpPr>
              <p:nvPr/>
            </p:nvSpPr>
            <p:spPr bwMode="auto">
              <a:xfrm>
                <a:off x="4471" y="3143"/>
                <a:ext cx="139" cy="129"/>
              </a:xfrm>
              <a:prstGeom prst="line">
                <a:avLst/>
              </a:prstGeom>
              <a:noFill/>
              <a:ln w="9525">
                <a:solidFill>
                  <a:srgbClr val="000000"/>
                </a:solidFill>
                <a:round/>
                <a:headEnd/>
                <a:tailEnd/>
              </a:ln>
            </p:spPr>
            <p:txBody>
              <a:bodyPr/>
              <a:lstStyle/>
              <a:p>
                <a:endParaRPr lang="zh-CN" altLang="en-US"/>
              </a:p>
            </p:txBody>
          </p:sp>
          <p:sp>
            <p:nvSpPr>
              <p:cNvPr id="35900" name="Line 76"/>
              <p:cNvSpPr>
                <a:spLocks noChangeShapeType="1"/>
              </p:cNvSpPr>
              <p:nvPr/>
            </p:nvSpPr>
            <p:spPr bwMode="auto">
              <a:xfrm flipH="1">
                <a:off x="4511" y="3272"/>
                <a:ext cx="99" cy="69"/>
              </a:xfrm>
              <a:prstGeom prst="line">
                <a:avLst/>
              </a:prstGeom>
              <a:noFill/>
              <a:ln w="9525">
                <a:solidFill>
                  <a:srgbClr val="000000"/>
                </a:solidFill>
                <a:round/>
                <a:headEnd/>
                <a:tailEnd/>
              </a:ln>
            </p:spPr>
            <p:txBody>
              <a:bodyPr/>
              <a:lstStyle/>
              <a:p>
                <a:endParaRPr lang="zh-CN" altLang="en-US"/>
              </a:p>
            </p:txBody>
          </p:sp>
          <p:sp>
            <p:nvSpPr>
              <p:cNvPr id="35901" name="Freeform 77"/>
              <p:cNvSpPr>
                <a:spLocks/>
              </p:cNvSpPr>
              <p:nvPr/>
            </p:nvSpPr>
            <p:spPr bwMode="auto">
              <a:xfrm>
                <a:off x="4530" y="3222"/>
                <a:ext cx="30" cy="59"/>
              </a:xfrm>
              <a:custGeom>
                <a:avLst/>
                <a:gdLst>
                  <a:gd name="T0" fmla="*/ 13 w 45"/>
                  <a:gd name="T1" fmla="*/ 0 h 90"/>
                  <a:gd name="T2" fmla="*/ 0 w 45"/>
                  <a:gd name="T3" fmla="*/ 26 h 90"/>
                  <a:gd name="T4" fmla="*/ 0 60000 65536"/>
                  <a:gd name="T5" fmla="*/ 0 60000 65536"/>
                  <a:gd name="T6" fmla="*/ 0 w 45"/>
                  <a:gd name="T7" fmla="*/ 0 h 90"/>
                  <a:gd name="T8" fmla="*/ 45 w 45"/>
                  <a:gd name="T9" fmla="*/ 90 h 90"/>
                </a:gdLst>
                <a:ahLst/>
                <a:cxnLst>
                  <a:cxn ang="T4">
                    <a:pos x="T0" y="T1"/>
                  </a:cxn>
                  <a:cxn ang="T5">
                    <a:pos x="T2" y="T3"/>
                  </a:cxn>
                </a:cxnLst>
                <a:rect l="T6" t="T7" r="T8" b="T9"/>
                <a:pathLst>
                  <a:path w="45" h="90">
                    <a:moveTo>
                      <a:pt x="45" y="0"/>
                    </a:moveTo>
                    <a:cubicBezTo>
                      <a:pt x="23" y="36"/>
                      <a:pt x="2" y="73"/>
                      <a:pt x="0" y="90"/>
                    </a:cubicBezTo>
                  </a:path>
                </a:pathLst>
              </a:custGeom>
              <a:noFill/>
              <a:ln w="9525">
                <a:solidFill>
                  <a:srgbClr val="000000"/>
                </a:solidFill>
                <a:round/>
                <a:headEnd/>
                <a:tailEnd/>
              </a:ln>
            </p:spPr>
            <p:txBody>
              <a:bodyPr/>
              <a:lstStyle/>
              <a:p>
                <a:endParaRPr lang="zh-CN" altLang="en-US"/>
              </a:p>
            </p:txBody>
          </p:sp>
          <p:sp>
            <p:nvSpPr>
              <p:cNvPr id="35902" name="Freeform 78"/>
              <p:cNvSpPr>
                <a:spLocks/>
              </p:cNvSpPr>
              <p:nvPr/>
            </p:nvSpPr>
            <p:spPr bwMode="auto">
              <a:xfrm>
                <a:off x="4560" y="3242"/>
                <a:ext cx="10" cy="59"/>
              </a:xfrm>
              <a:custGeom>
                <a:avLst/>
                <a:gdLst>
                  <a:gd name="T0" fmla="*/ 0 w 15"/>
                  <a:gd name="T1" fmla="*/ 0 h 90"/>
                  <a:gd name="T2" fmla="*/ 5 w 15"/>
                  <a:gd name="T3" fmla="*/ 26 h 90"/>
                  <a:gd name="T4" fmla="*/ 0 60000 65536"/>
                  <a:gd name="T5" fmla="*/ 0 60000 65536"/>
                  <a:gd name="T6" fmla="*/ 0 w 15"/>
                  <a:gd name="T7" fmla="*/ 0 h 90"/>
                  <a:gd name="T8" fmla="*/ 15 w 15"/>
                  <a:gd name="T9" fmla="*/ 90 h 90"/>
                </a:gdLst>
                <a:ahLst/>
                <a:cxnLst>
                  <a:cxn ang="T4">
                    <a:pos x="T0" y="T1"/>
                  </a:cxn>
                  <a:cxn ang="T5">
                    <a:pos x="T2" y="T3"/>
                  </a:cxn>
                </a:cxnLst>
                <a:rect l="T6" t="T7" r="T8" b="T9"/>
                <a:pathLst>
                  <a:path w="15" h="90">
                    <a:moveTo>
                      <a:pt x="0" y="0"/>
                    </a:moveTo>
                    <a:cubicBezTo>
                      <a:pt x="0" y="0"/>
                      <a:pt x="7" y="45"/>
                      <a:pt x="15" y="90"/>
                    </a:cubicBezTo>
                  </a:path>
                </a:pathLst>
              </a:custGeom>
              <a:noFill/>
              <a:ln w="9525">
                <a:solidFill>
                  <a:srgbClr val="000000"/>
                </a:solidFill>
                <a:round/>
                <a:headEnd/>
                <a:tailEnd/>
              </a:ln>
            </p:spPr>
            <p:txBody>
              <a:bodyPr/>
              <a:lstStyle/>
              <a:p>
                <a:endParaRPr lang="zh-CN" altLang="en-US"/>
              </a:p>
            </p:txBody>
          </p:sp>
          <p:sp>
            <p:nvSpPr>
              <p:cNvPr id="35903" name="Freeform 79"/>
              <p:cNvSpPr>
                <a:spLocks/>
              </p:cNvSpPr>
              <p:nvPr/>
            </p:nvSpPr>
            <p:spPr bwMode="auto">
              <a:xfrm>
                <a:off x="4550" y="3242"/>
                <a:ext cx="1" cy="69"/>
              </a:xfrm>
              <a:custGeom>
                <a:avLst/>
                <a:gdLst>
                  <a:gd name="T0" fmla="*/ 0 w 1"/>
                  <a:gd name="T1" fmla="*/ 0 h 105"/>
                  <a:gd name="T2" fmla="*/ 0 w 1"/>
                  <a:gd name="T3" fmla="*/ 30 h 105"/>
                  <a:gd name="T4" fmla="*/ 0 60000 65536"/>
                  <a:gd name="T5" fmla="*/ 0 60000 65536"/>
                  <a:gd name="T6" fmla="*/ 0 w 1"/>
                  <a:gd name="T7" fmla="*/ 0 h 105"/>
                  <a:gd name="T8" fmla="*/ 1 w 1"/>
                  <a:gd name="T9" fmla="*/ 105 h 105"/>
                </a:gdLst>
                <a:ahLst/>
                <a:cxnLst>
                  <a:cxn ang="T4">
                    <a:pos x="T0" y="T1"/>
                  </a:cxn>
                  <a:cxn ang="T5">
                    <a:pos x="T2" y="T3"/>
                  </a:cxn>
                </a:cxnLst>
                <a:rect l="T6" t="T7" r="T8" b="T9"/>
                <a:pathLst>
                  <a:path w="1" h="105">
                    <a:moveTo>
                      <a:pt x="0" y="0"/>
                    </a:moveTo>
                    <a:cubicBezTo>
                      <a:pt x="0" y="44"/>
                      <a:pt x="0" y="88"/>
                      <a:pt x="0" y="105"/>
                    </a:cubicBezTo>
                  </a:path>
                </a:pathLst>
              </a:custGeom>
              <a:noFill/>
              <a:ln w="9525">
                <a:solidFill>
                  <a:srgbClr val="000000"/>
                </a:solidFill>
                <a:round/>
                <a:headEnd/>
                <a:tailEnd/>
              </a:ln>
            </p:spPr>
            <p:txBody>
              <a:bodyPr/>
              <a:lstStyle/>
              <a:p>
                <a:endParaRPr lang="zh-CN" altLang="en-US"/>
              </a:p>
            </p:txBody>
          </p:sp>
          <p:sp>
            <p:nvSpPr>
              <p:cNvPr id="607312" name="Text Box 80"/>
              <p:cNvSpPr txBox="1">
                <a:spLocks noChangeArrowheads="1"/>
              </p:cNvSpPr>
              <p:nvPr/>
            </p:nvSpPr>
            <p:spPr bwMode="auto">
              <a:xfrm>
                <a:off x="858" y="2514"/>
                <a:ext cx="3702" cy="437"/>
              </a:xfrm>
              <a:prstGeom prst="rect">
                <a:avLst/>
              </a:prstGeom>
              <a:noFill/>
              <a:ln w="9525">
                <a:noFill/>
                <a:miter lim="800000"/>
                <a:headEnd/>
                <a:tailEnd/>
              </a:ln>
              <a:effectLst/>
            </p:spPr>
            <p:txBody>
              <a:bodyPr/>
              <a:lstStyle/>
              <a:p>
                <a:pPr algn="just">
                  <a:defRPr/>
                </a:pPr>
                <a:r>
                  <a:rPr lang="zh-CN" altLang="en-US" sz="1600" b="1">
                    <a:effectLst>
                      <a:outerShdw blurRad="38100" dist="38100" dir="2700000" algn="tl">
                        <a:srgbClr val="C0C0C0"/>
                      </a:outerShdw>
                    </a:effectLst>
                    <a:latin typeface="Times New Roman" pitchFamily="18" charset="0"/>
                  </a:rPr>
                  <a:t>光源 毛玻璃  分辨率板 准直物镜 被测物镜           </a:t>
                </a:r>
                <a:r>
                  <a:rPr lang="zh-CN" altLang="en-US" sz="1600" b="1" i="1">
                    <a:effectLst>
                      <a:outerShdw blurRad="38100" dist="38100" dir="2700000" algn="tl">
                        <a:srgbClr val="C0C0C0"/>
                      </a:outerShdw>
                    </a:effectLst>
                    <a:latin typeface="Times New Roman" pitchFamily="18" charset="0"/>
                  </a:rPr>
                  <a:t>  </a:t>
                </a:r>
                <a:r>
                  <a:rPr lang="zh-CN" altLang="en-US" sz="1600" b="1">
                    <a:effectLst>
                      <a:outerShdw blurRad="38100" dist="38100" dir="2700000" algn="tl">
                        <a:srgbClr val="C0C0C0"/>
                      </a:outerShdw>
                    </a:effectLst>
                    <a:latin typeface="Times New Roman" pitchFamily="18" charset="0"/>
                  </a:rPr>
                  <a:t>            显微镜</a:t>
                </a:r>
                <a:endParaRPr lang="zh-CN" altLang="en-US" sz="1600" b="1">
                  <a:effectLst>
                    <a:outerShdw blurRad="38100" dist="38100" dir="2700000" algn="tl">
                      <a:srgbClr val="C0C0C0"/>
                    </a:outerShdw>
                  </a:effectLst>
                </a:endParaRPr>
              </a:p>
            </p:txBody>
          </p:sp>
          <p:sp>
            <p:nvSpPr>
              <p:cNvPr id="35905" name="Line 81"/>
              <p:cNvSpPr>
                <a:spLocks noChangeShapeType="1"/>
              </p:cNvSpPr>
              <p:nvPr/>
            </p:nvSpPr>
            <p:spPr bwMode="auto">
              <a:xfrm flipH="1" flipV="1">
                <a:off x="1066" y="2765"/>
                <a:ext cx="159" cy="407"/>
              </a:xfrm>
              <a:prstGeom prst="line">
                <a:avLst/>
              </a:prstGeom>
              <a:noFill/>
              <a:ln w="6350">
                <a:solidFill>
                  <a:srgbClr val="000000"/>
                </a:solidFill>
                <a:round/>
                <a:headEnd/>
                <a:tailEnd/>
              </a:ln>
            </p:spPr>
            <p:txBody>
              <a:bodyPr/>
              <a:lstStyle/>
              <a:p>
                <a:endParaRPr lang="zh-CN" altLang="en-US"/>
              </a:p>
            </p:txBody>
          </p:sp>
          <p:sp>
            <p:nvSpPr>
              <p:cNvPr id="35906" name="Line 82"/>
              <p:cNvSpPr>
                <a:spLocks noChangeShapeType="1"/>
              </p:cNvSpPr>
              <p:nvPr/>
            </p:nvSpPr>
            <p:spPr bwMode="auto">
              <a:xfrm flipH="1" flipV="1">
                <a:off x="1354" y="2726"/>
                <a:ext cx="109" cy="337"/>
              </a:xfrm>
              <a:prstGeom prst="line">
                <a:avLst/>
              </a:prstGeom>
              <a:noFill/>
              <a:ln w="6350">
                <a:solidFill>
                  <a:srgbClr val="000000"/>
                </a:solidFill>
                <a:round/>
                <a:headEnd/>
                <a:tailEnd/>
              </a:ln>
            </p:spPr>
            <p:txBody>
              <a:bodyPr/>
              <a:lstStyle/>
              <a:p>
                <a:endParaRPr lang="zh-CN" altLang="en-US"/>
              </a:p>
            </p:txBody>
          </p:sp>
          <p:sp>
            <p:nvSpPr>
              <p:cNvPr id="35907" name="Line 83"/>
              <p:cNvSpPr>
                <a:spLocks noChangeShapeType="1"/>
              </p:cNvSpPr>
              <p:nvPr/>
            </p:nvSpPr>
            <p:spPr bwMode="auto">
              <a:xfrm flipV="1">
                <a:off x="1573" y="2726"/>
                <a:ext cx="277" cy="357"/>
              </a:xfrm>
              <a:prstGeom prst="line">
                <a:avLst/>
              </a:prstGeom>
              <a:noFill/>
              <a:ln w="6350">
                <a:solidFill>
                  <a:srgbClr val="000000"/>
                </a:solidFill>
                <a:round/>
                <a:headEnd/>
                <a:tailEnd/>
              </a:ln>
            </p:spPr>
            <p:txBody>
              <a:bodyPr/>
              <a:lstStyle/>
              <a:p>
                <a:endParaRPr lang="zh-CN" altLang="en-US"/>
              </a:p>
            </p:txBody>
          </p:sp>
          <p:sp>
            <p:nvSpPr>
              <p:cNvPr id="35908" name="Line 84"/>
              <p:cNvSpPr>
                <a:spLocks noChangeShapeType="1"/>
              </p:cNvSpPr>
              <p:nvPr/>
            </p:nvSpPr>
            <p:spPr bwMode="auto">
              <a:xfrm flipH="1" flipV="1">
                <a:off x="2337" y="2726"/>
                <a:ext cx="178" cy="278"/>
              </a:xfrm>
              <a:prstGeom prst="line">
                <a:avLst/>
              </a:prstGeom>
              <a:noFill/>
              <a:ln w="6350">
                <a:solidFill>
                  <a:srgbClr val="000000"/>
                </a:solidFill>
                <a:round/>
                <a:headEnd/>
                <a:tailEnd/>
              </a:ln>
            </p:spPr>
            <p:txBody>
              <a:bodyPr/>
              <a:lstStyle/>
              <a:p>
                <a:endParaRPr lang="zh-CN" altLang="en-US"/>
              </a:p>
            </p:txBody>
          </p:sp>
          <p:sp>
            <p:nvSpPr>
              <p:cNvPr id="35909" name="Line 85"/>
              <p:cNvSpPr>
                <a:spLocks noChangeShapeType="1"/>
              </p:cNvSpPr>
              <p:nvPr/>
            </p:nvSpPr>
            <p:spPr bwMode="auto">
              <a:xfrm flipH="1" flipV="1">
                <a:off x="2913" y="2736"/>
                <a:ext cx="188" cy="337"/>
              </a:xfrm>
              <a:prstGeom prst="line">
                <a:avLst/>
              </a:prstGeom>
              <a:noFill/>
              <a:ln w="6350">
                <a:solidFill>
                  <a:srgbClr val="000000"/>
                </a:solidFill>
                <a:round/>
                <a:headEnd/>
                <a:tailEnd/>
              </a:ln>
            </p:spPr>
            <p:txBody>
              <a:bodyPr/>
              <a:lstStyle/>
              <a:p>
                <a:endParaRPr lang="zh-CN" altLang="en-US"/>
              </a:p>
            </p:txBody>
          </p:sp>
          <p:sp>
            <p:nvSpPr>
              <p:cNvPr id="35910" name="Line 86"/>
              <p:cNvSpPr>
                <a:spLocks noChangeShapeType="1"/>
              </p:cNvSpPr>
              <p:nvPr/>
            </p:nvSpPr>
            <p:spPr bwMode="auto">
              <a:xfrm flipV="1">
                <a:off x="4024" y="2765"/>
                <a:ext cx="209" cy="457"/>
              </a:xfrm>
              <a:prstGeom prst="line">
                <a:avLst/>
              </a:prstGeom>
              <a:noFill/>
              <a:ln w="6350">
                <a:solidFill>
                  <a:srgbClr val="000000"/>
                </a:solidFill>
                <a:round/>
                <a:headEnd/>
                <a:tailEnd/>
              </a:ln>
            </p:spPr>
            <p:txBody>
              <a:bodyPr/>
              <a:lstStyle/>
              <a:p>
                <a:endParaRPr lang="zh-CN" altLang="en-US"/>
              </a:p>
            </p:txBody>
          </p:sp>
          <p:sp>
            <p:nvSpPr>
              <p:cNvPr id="35911" name="Line 87"/>
              <p:cNvSpPr>
                <a:spLocks noChangeShapeType="1"/>
              </p:cNvSpPr>
              <p:nvPr/>
            </p:nvSpPr>
            <p:spPr bwMode="auto">
              <a:xfrm flipV="1">
                <a:off x="4044" y="3411"/>
                <a:ext cx="357" cy="0"/>
              </a:xfrm>
              <a:prstGeom prst="line">
                <a:avLst/>
              </a:prstGeom>
              <a:noFill/>
              <a:ln w="9525">
                <a:solidFill>
                  <a:srgbClr val="000000"/>
                </a:solidFill>
                <a:prstDash val="dash"/>
                <a:round/>
                <a:headEnd/>
                <a:tailEnd type="stealth" w="sm" len="sm"/>
              </a:ln>
            </p:spPr>
            <p:txBody>
              <a:bodyPr/>
              <a:lstStyle/>
              <a:p>
                <a:endParaRPr lang="zh-CN" altLang="en-US"/>
              </a:p>
            </p:txBody>
          </p:sp>
        </p:grpSp>
      </p:grpSp>
      <p:sp>
        <p:nvSpPr>
          <p:cNvPr id="91"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Tree>
  </p:cSld>
  <p:clrMapOvr>
    <a:masterClrMapping/>
  </p:clrMapOvr>
  <p:transition spd="slow">
    <p:circl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
        <p:nvSpPr>
          <p:cNvPr id="36867" name="日期占位符 3"/>
          <p:cNvSpPr>
            <a:spLocks noGrp="1"/>
          </p:cNvSpPr>
          <p:nvPr>
            <p:ph type="dt" sz="quarter" idx="10"/>
          </p:nvPr>
        </p:nvSpPr>
        <p:spPr>
          <a:noFill/>
        </p:spPr>
        <p:txBody>
          <a:bodyPr/>
          <a:lstStyle/>
          <a:p>
            <a:fld id="{78973D3F-4E3D-4389-8CA8-48320CDE81E8}" type="datetime1">
              <a:rPr lang="zh-CN" altLang="en-US" smtClean="0"/>
              <a:pPr/>
              <a:t>2018/2/24</a:t>
            </a:fld>
            <a:endParaRPr lang="en-US" altLang="zh-CN" smtClean="0"/>
          </a:p>
        </p:txBody>
      </p:sp>
      <p:sp>
        <p:nvSpPr>
          <p:cNvPr id="36868" name="灯片编号占位符 5"/>
          <p:cNvSpPr>
            <a:spLocks noGrp="1"/>
          </p:cNvSpPr>
          <p:nvPr>
            <p:ph type="sldNum" sz="quarter" idx="12"/>
          </p:nvPr>
        </p:nvSpPr>
        <p:spPr>
          <a:noFill/>
        </p:spPr>
        <p:txBody>
          <a:bodyPr/>
          <a:lstStyle/>
          <a:p>
            <a:fld id="{35CDA65B-782B-4251-8B21-E91077E3068C}" type="slidenum">
              <a:rPr lang="en-US" altLang="zh-CN" smtClean="0"/>
              <a:pPr/>
              <a:t>58</a:t>
            </a:fld>
            <a:endParaRPr lang="en-US" altLang="zh-CN" smtClean="0"/>
          </a:p>
        </p:txBody>
      </p:sp>
      <p:sp>
        <p:nvSpPr>
          <p:cNvPr id="608259" name="Rectangle 3"/>
          <p:cNvSpPr>
            <a:spLocks noGrp="1" noRot="1" noChangeArrowheads="1"/>
          </p:cNvSpPr>
          <p:nvPr>
            <p:ph type="body" idx="1"/>
          </p:nvPr>
        </p:nvSpPr>
        <p:spPr>
          <a:xfrm>
            <a:off x="228600" y="1917700"/>
            <a:ext cx="8472488" cy="4319588"/>
          </a:xfrm>
        </p:spPr>
        <p:txBody>
          <a:bodyPr/>
          <a:lstStyle/>
          <a:p>
            <a:pPr marL="271463" indent="-271463" eaLnBrk="1" hangingPunct="1">
              <a:lnSpc>
                <a:spcPct val="120000"/>
              </a:lnSpc>
              <a:defRPr/>
            </a:pPr>
            <a:r>
              <a:rPr lang="en-US" altLang="zh-CN" smtClean="0">
                <a:latin typeface="Times New Roman" pitchFamily="18" charset="0"/>
                <a:ea typeface="黑体" pitchFamily="2" charset="-122"/>
              </a:rPr>
              <a:t>2.3 </a:t>
            </a:r>
            <a:r>
              <a:rPr lang="zh-CN" altLang="en-US" smtClean="0">
                <a:latin typeface="Times New Roman" pitchFamily="18" charset="0"/>
                <a:ea typeface="黑体" pitchFamily="2" charset="-122"/>
              </a:rPr>
              <a:t>照相物镜目视分辨率测量</a:t>
            </a:r>
          </a:p>
          <a:p>
            <a:pPr marL="271463" indent="-271463" eaLnBrk="1" hangingPunct="1">
              <a:lnSpc>
                <a:spcPct val="120000"/>
              </a:lnSpc>
              <a:defRPr/>
            </a:pPr>
            <a:r>
              <a:rPr lang="zh-CN" altLang="en-US" smtClean="0">
                <a:latin typeface="Times New Roman" pitchFamily="18" charset="0"/>
                <a:ea typeface="黑体" pitchFamily="2" charset="-122"/>
              </a:rPr>
              <a:t>测量</a:t>
            </a:r>
            <a:r>
              <a:rPr lang="zh-CN" altLang="en-US" smtClean="0">
                <a:solidFill>
                  <a:srgbClr val="FF0000"/>
                </a:solidFill>
                <a:latin typeface="Times New Roman" pitchFamily="18" charset="0"/>
                <a:ea typeface="黑体" pitchFamily="2" charset="-122"/>
              </a:rPr>
              <a:t>轴外点的目视分辨率</a:t>
            </a:r>
            <a:r>
              <a:rPr lang="zh-CN" altLang="en-US" smtClean="0">
                <a:latin typeface="Times New Roman" pitchFamily="18" charset="0"/>
                <a:ea typeface="黑体" pitchFamily="2" charset="-122"/>
              </a:rPr>
              <a:t>时，通常将被测物镜的后节点调整在物镜夹持器的转轴上，旋转物镜夹持器即可获得不同视场的斜光束入射，如上图中虚线所示。</a:t>
            </a:r>
          </a:p>
          <a:p>
            <a:pPr marL="271463" indent="-271463" eaLnBrk="1" hangingPunct="1">
              <a:lnSpc>
                <a:spcPct val="120000"/>
              </a:lnSpc>
              <a:defRPr/>
            </a:pPr>
            <a:r>
              <a:rPr lang="zh-CN" altLang="en-US" smtClean="0">
                <a:latin typeface="Times New Roman" pitchFamily="18" charset="0"/>
                <a:ea typeface="黑体" pitchFamily="2" charset="-122"/>
              </a:rPr>
              <a:t>为了保证轴上与轴外都在同一像面上进行测量，当物镜转过视场角</a:t>
            </a:r>
            <a:r>
              <a:rPr lang="en-US" altLang="zh-CN" i="1" smtClean="0">
                <a:latin typeface="Times New Roman" pitchFamily="18" charset="0"/>
                <a:ea typeface="黑体" pitchFamily="2" charset="-122"/>
              </a:rPr>
              <a:t>ω</a:t>
            </a:r>
            <a:r>
              <a:rPr lang="zh-CN" altLang="en-US" smtClean="0">
                <a:latin typeface="Times New Roman" pitchFamily="18" charset="0"/>
                <a:ea typeface="黑体" pitchFamily="2" charset="-122"/>
              </a:rPr>
              <a:t>时，观察显微镜必须相应地向后移动一段距离△</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p>
        </p:txBody>
      </p:sp>
      <p:sp>
        <p:nvSpPr>
          <p:cNvPr id="36871"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6872"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6873"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6874"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6875"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6876"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77"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78"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79"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0"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1"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2"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3"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4"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5"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6"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7"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8"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89"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90"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91"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92"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93"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6894"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6895" name="Rectangle 2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6896" name="Rectangle 2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6897" name="Rectangle 30"/>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36898" name="Rectangle 31"/>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32"/>
          <p:cNvGrpSpPr>
            <a:grpSpLocks/>
          </p:cNvGrpSpPr>
          <p:nvPr/>
        </p:nvGrpSpPr>
        <p:grpSpPr bwMode="auto">
          <a:xfrm>
            <a:off x="2371725" y="0"/>
            <a:ext cx="6772275" cy="2528888"/>
            <a:chOff x="711" y="2502"/>
            <a:chExt cx="4266" cy="1593"/>
          </a:xfrm>
        </p:grpSpPr>
        <p:sp>
          <p:nvSpPr>
            <p:cNvPr id="36900" name="Rectangle 33"/>
            <p:cNvSpPr>
              <a:spLocks noChangeArrowheads="1"/>
            </p:cNvSpPr>
            <p:nvPr/>
          </p:nvSpPr>
          <p:spPr bwMode="auto">
            <a:xfrm>
              <a:off x="711" y="2502"/>
              <a:ext cx="4266" cy="1593"/>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36901" name="Group 34"/>
            <p:cNvGrpSpPr>
              <a:grpSpLocks/>
            </p:cNvGrpSpPr>
            <p:nvPr/>
          </p:nvGrpSpPr>
          <p:grpSpPr bwMode="auto">
            <a:xfrm>
              <a:off x="719" y="2514"/>
              <a:ext cx="4258" cy="1554"/>
              <a:chOff x="719" y="2514"/>
              <a:chExt cx="4258" cy="1554"/>
            </a:xfrm>
          </p:grpSpPr>
          <p:grpSp>
            <p:nvGrpSpPr>
              <p:cNvPr id="36902" name="Group 35"/>
              <p:cNvGrpSpPr>
                <a:grpSpLocks/>
              </p:cNvGrpSpPr>
              <p:nvPr/>
            </p:nvGrpSpPr>
            <p:grpSpPr bwMode="auto">
              <a:xfrm>
                <a:off x="2396" y="2847"/>
                <a:ext cx="239" cy="962"/>
                <a:chOff x="4815" y="3783"/>
                <a:chExt cx="300" cy="885"/>
              </a:xfrm>
            </p:grpSpPr>
            <p:sp>
              <p:nvSpPr>
                <p:cNvPr id="36954" name="Oval 36"/>
                <p:cNvSpPr>
                  <a:spLocks noChangeArrowheads="1"/>
                </p:cNvSpPr>
                <p:nvPr/>
              </p:nvSpPr>
              <p:spPr bwMode="auto">
                <a:xfrm>
                  <a:off x="4815" y="3870"/>
                  <a:ext cx="300" cy="585"/>
                </a:xfrm>
                <a:prstGeom prst="ellipse">
                  <a:avLst/>
                </a:prstGeom>
                <a:noFill/>
                <a:ln w="9525">
                  <a:solidFill>
                    <a:srgbClr val="000000"/>
                  </a:solidFill>
                  <a:round/>
                  <a:headEnd/>
                  <a:tailEnd/>
                </a:ln>
              </p:spPr>
              <p:txBody>
                <a:bodyPr/>
                <a:lstStyle/>
                <a:p>
                  <a:endParaRPr lang="zh-CN" altLang="en-US"/>
                </a:p>
              </p:txBody>
            </p:sp>
            <p:sp>
              <p:nvSpPr>
                <p:cNvPr id="36955" name="Rectangle 37"/>
                <p:cNvSpPr>
                  <a:spLocks noChangeArrowheads="1"/>
                </p:cNvSpPr>
                <p:nvPr/>
              </p:nvSpPr>
              <p:spPr bwMode="auto">
                <a:xfrm>
                  <a:off x="4887" y="3783"/>
                  <a:ext cx="143" cy="885"/>
                </a:xfrm>
                <a:prstGeom prst="rect">
                  <a:avLst/>
                </a:prstGeom>
                <a:noFill/>
                <a:ln w="9525">
                  <a:noFill/>
                  <a:miter lim="800000"/>
                  <a:headEnd/>
                  <a:tailEnd/>
                </a:ln>
              </p:spPr>
              <p:txBody>
                <a:bodyPr/>
                <a:lstStyle/>
                <a:p>
                  <a:endParaRPr lang="zh-CN" altLang="en-US"/>
                </a:p>
              </p:txBody>
            </p:sp>
          </p:grpSp>
          <p:sp>
            <p:nvSpPr>
              <p:cNvPr id="36903" name="Oval 38"/>
              <p:cNvSpPr>
                <a:spLocks noChangeArrowheads="1"/>
              </p:cNvSpPr>
              <p:nvPr/>
            </p:nvSpPr>
            <p:spPr bwMode="auto">
              <a:xfrm>
                <a:off x="1176" y="3202"/>
                <a:ext cx="148" cy="149"/>
              </a:xfrm>
              <a:prstGeom prst="ellipse">
                <a:avLst/>
              </a:prstGeom>
              <a:noFill/>
              <a:ln w="9525">
                <a:solidFill>
                  <a:srgbClr val="000000"/>
                </a:solidFill>
                <a:round/>
                <a:headEnd/>
                <a:tailEnd/>
              </a:ln>
            </p:spPr>
            <p:txBody>
              <a:bodyPr/>
              <a:lstStyle/>
              <a:p>
                <a:endParaRPr lang="zh-CN" altLang="en-US"/>
              </a:p>
            </p:txBody>
          </p:sp>
          <p:sp>
            <p:nvSpPr>
              <p:cNvPr id="36904" name="Line 39"/>
              <p:cNvSpPr>
                <a:spLocks noChangeShapeType="1"/>
              </p:cNvSpPr>
              <p:nvPr/>
            </p:nvSpPr>
            <p:spPr bwMode="auto">
              <a:xfrm flipH="1">
                <a:off x="1201" y="3212"/>
                <a:ext cx="104" cy="129"/>
              </a:xfrm>
              <a:prstGeom prst="line">
                <a:avLst/>
              </a:prstGeom>
              <a:noFill/>
              <a:ln w="9525">
                <a:solidFill>
                  <a:srgbClr val="000000"/>
                </a:solidFill>
                <a:round/>
                <a:headEnd/>
                <a:tailEnd/>
              </a:ln>
            </p:spPr>
            <p:txBody>
              <a:bodyPr/>
              <a:lstStyle/>
              <a:p>
                <a:endParaRPr lang="zh-CN" altLang="en-US"/>
              </a:p>
            </p:txBody>
          </p:sp>
          <p:sp>
            <p:nvSpPr>
              <p:cNvPr id="36905" name="Line 40"/>
              <p:cNvSpPr>
                <a:spLocks noChangeShapeType="1"/>
              </p:cNvSpPr>
              <p:nvPr/>
            </p:nvSpPr>
            <p:spPr bwMode="auto">
              <a:xfrm>
                <a:off x="1191" y="3222"/>
                <a:ext cx="109" cy="104"/>
              </a:xfrm>
              <a:prstGeom prst="line">
                <a:avLst/>
              </a:prstGeom>
              <a:noFill/>
              <a:ln w="9525">
                <a:solidFill>
                  <a:srgbClr val="000000"/>
                </a:solidFill>
                <a:round/>
                <a:headEnd/>
                <a:tailEnd/>
              </a:ln>
            </p:spPr>
            <p:txBody>
              <a:bodyPr/>
              <a:lstStyle/>
              <a:p>
                <a:endParaRPr lang="zh-CN" altLang="en-US"/>
              </a:p>
            </p:txBody>
          </p:sp>
          <p:grpSp>
            <p:nvGrpSpPr>
              <p:cNvPr id="36906" name="Group 41"/>
              <p:cNvGrpSpPr>
                <a:grpSpLocks/>
              </p:cNvGrpSpPr>
              <p:nvPr/>
            </p:nvGrpSpPr>
            <p:grpSpPr bwMode="auto">
              <a:xfrm>
                <a:off x="1463" y="3073"/>
                <a:ext cx="127" cy="367"/>
                <a:chOff x="4935" y="1935"/>
                <a:chExt cx="191" cy="555"/>
              </a:xfrm>
            </p:grpSpPr>
            <p:sp>
              <p:nvSpPr>
                <p:cNvPr id="36952" name="Rectangle 42"/>
                <p:cNvSpPr>
                  <a:spLocks noChangeArrowheads="1"/>
                </p:cNvSpPr>
                <p:nvPr/>
              </p:nvSpPr>
              <p:spPr bwMode="auto">
                <a:xfrm>
                  <a:off x="4935" y="1935"/>
                  <a:ext cx="71" cy="555"/>
                </a:xfrm>
                <a:prstGeom prst="rect">
                  <a:avLst/>
                </a:prstGeom>
                <a:noFill/>
                <a:ln w="9525">
                  <a:solidFill>
                    <a:srgbClr val="000000"/>
                  </a:solidFill>
                  <a:miter lim="800000"/>
                  <a:headEnd/>
                  <a:tailEnd/>
                </a:ln>
              </p:spPr>
              <p:txBody>
                <a:bodyPr/>
                <a:lstStyle/>
                <a:p>
                  <a:endParaRPr lang="zh-CN" altLang="en-US"/>
                </a:p>
              </p:txBody>
            </p:sp>
            <p:sp>
              <p:nvSpPr>
                <p:cNvPr id="36953" name="Rectangle 43"/>
                <p:cNvSpPr>
                  <a:spLocks noChangeArrowheads="1"/>
                </p:cNvSpPr>
                <p:nvPr/>
              </p:nvSpPr>
              <p:spPr bwMode="auto">
                <a:xfrm>
                  <a:off x="5055" y="1935"/>
                  <a:ext cx="71" cy="555"/>
                </a:xfrm>
                <a:prstGeom prst="rect">
                  <a:avLst/>
                </a:prstGeom>
                <a:noFill/>
                <a:ln w="9525">
                  <a:solidFill>
                    <a:srgbClr val="000000"/>
                  </a:solidFill>
                  <a:miter lim="800000"/>
                  <a:headEnd/>
                  <a:tailEnd/>
                </a:ln>
              </p:spPr>
              <p:txBody>
                <a:bodyPr/>
                <a:lstStyle/>
                <a:p>
                  <a:endParaRPr lang="zh-CN" altLang="en-US"/>
                </a:p>
              </p:txBody>
            </p:sp>
          </p:grpSp>
          <p:grpSp>
            <p:nvGrpSpPr>
              <p:cNvPr id="36907" name="Group 44"/>
              <p:cNvGrpSpPr>
                <a:grpSpLocks/>
              </p:cNvGrpSpPr>
              <p:nvPr/>
            </p:nvGrpSpPr>
            <p:grpSpPr bwMode="auto">
              <a:xfrm>
                <a:off x="3022" y="3073"/>
                <a:ext cx="154" cy="417"/>
                <a:chOff x="6870" y="4110"/>
                <a:chExt cx="233" cy="630"/>
              </a:xfrm>
            </p:grpSpPr>
            <p:sp>
              <p:nvSpPr>
                <p:cNvPr id="36948" name="Oval 45"/>
                <p:cNvSpPr>
                  <a:spLocks noChangeArrowheads="1"/>
                </p:cNvSpPr>
                <p:nvPr/>
              </p:nvSpPr>
              <p:spPr bwMode="auto">
                <a:xfrm>
                  <a:off x="6960" y="4110"/>
                  <a:ext cx="143" cy="615"/>
                </a:xfrm>
                <a:prstGeom prst="ellipse">
                  <a:avLst/>
                </a:prstGeom>
                <a:noFill/>
                <a:ln w="9525">
                  <a:solidFill>
                    <a:srgbClr val="000000"/>
                  </a:solidFill>
                  <a:round/>
                  <a:headEnd/>
                  <a:tailEnd/>
                </a:ln>
              </p:spPr>
              <p:txBody>
                <a:bodyPr/>
                <a:lstStyle/>
                <a:p>
                  <a:endParaRPr lang="zh-CN" altLang="en-US"/>
                </a:p>
              </p:txBody>
            </p:sp>
            <p:sp>
              <p:nvSpPr>
                <p:cNvPr id="36949" name="Line 46"/>
                <p:cNvSpPr>
                  <a:spLocks noChangeShapeType="1"/>
                </p:cNvSpPr>
                <p:nvPr/>
              </p:nvSpPr>
              <p:spPr bwMode="auto">
                <a:xfrm>
                  <a:off x="6885" y="4125"/>
                  <a:ext cx="0" cy="615"/>
                </a:xfrm>
                <a:prstGeom prst="line">
                  <a:avLst/>
                </a:prstGeom>
                <a:noFill/>
                <a:ln w="9525">
                  <a:solidFill>
                    <a:srgbClr val="000000"/>
                  </a:solidFill>
                  <a:round/>
                  <a:headEnd/>
                  <a:tailEnd/>
                </a:ln>
              </p:spPr>
              <p:txBody>
                <a:bodyPr/>
                <a:lstStyle/>
                <a:p>
                  <a:endParaRPr lang="zh-CN" altLang="en-US"/>
                </a:p>
              </p:txBody>
            </p:sp>
            <p:sp>
              <p:nvSpPr>
                <p:cNvPr id="36950" name="Line 47"/>
                <p:cNvSpPr>
                  <a:spLocks noChangeShapeType="1"/>
                </p:cNvSpPr>
                <p:nvPr/>
              </p:nvSpPr>
              <p:spPr bwMode="auto">
                <a:xfrm flipH="1">
                  <a:off x="6885" y="4740"/>
                  <a:ext cx="150" cy="0"/>
                </a:xfrm>
                <a:prstGeom prst="line">
                  <a:avLst/>
                </a:prstGeom>
                <a:noFill/>
                <a:ln w="9525">
                  <a:solidFill>
                    <a:srgbClr val="000000"/>
                  </a:solidFill>
                  <a:round/>
                  <a:headEnd/>
                  <a:tailEnd/>
                </a:ln>
              </p:spPr>
              <p:txBody>
                <a:bodyPr/>
                <a:lstStyle/>
                <a:p>
                  <a:endParaRPr lang="zh-CN" altLang="en-US"/>
                </a:p>
              </p:txBody>
            </p:sp>
            <p:sp>
              <p:nvSpPr>
                <p:cNvPr id="36951" name="Line 48"/>
                <p:cNvSpPr>
                  <a:spLocks noChangeShapeType="1"/>
                </p:cNvSpPr>
                <p:nvPr/>
              </p:nvSpPr>
              <p:spPr bwMode="auto">
                <a:xfrm flipH="1">
                  <a:off x="6870" y="4110"/>
                  <a:ext cx="165" cy="0"/>
                </a:xfrm>
                <a:prstGeom prst="line">
                  <a:avLst/>
                </a:prstGeom>
                <a:noFill/>
                <a:ln w="9525">
                  <a:solidFill>
                    <a:srgbClr val="000000"/>
                  </a:solidFill>
                  <a:round/>
                  <a:headEnd/>
                  <a:tailEnd/>
                </a:ln>
              </p:spPr>
              <p:txBody>
                <a:bodyPr/>
                <a:lstStyle/>
                <a:p>
                  <a:endParaRPr lang="zh-CN" altLang="en-US"/>
                </a:p>
              </p:txBody>
            </p:sp>
          </p:grpSp>
          <p:grpSp>
            <p:nvGrpSpPr>
              <p:cNvPr id="36908" name="Group 49"/>
              <p:cNvGrpSpPr>
                <a:grpSpLocks/>
              </p:cNvGrpSpPr>
              <p:nvPr/>
            </p:nvGrpSpPr>
            <p:grpSpPr bwMode="auto">
              <a:xfrm>
                <a:off x="3945" y="3202"/>
                <a:ext cx="491" cy="129"/>
                <a:chOff x="7875" y="2025"/>
                <a:chExt cx="1013" cy="375"/>
              </a:xfrm>
            </p:grpSpPr>
            <p:sp>
              <p:nvSpPr>
                <p:cNvPr id="36942" name="Rectangle 50"/>
                <p:cNvSpPr>
                  <a:spLocks noChangeArrowheads="1"/>
                </p:cNvSpPr>
                <p:nvPr/>
              </p:nvSpPr>
              <p:spPr bwMode="auto">
                <a:xfrm>
                  <a:off x="7875" y="2100"/>
                  <a:ext cx="630" cy="225"/>
                </a:xfrm>
                <a:prstGeom prst="rect">
                  <a:avLst/>
                </a:prstGeom>
                <a:noFill/>
                <a:ln w="9525">
                  <a:solidFill>
                    <a:srgbClr val="000000"/>
                  </a:solidFill>
                  <a:miter lim="800000"/>
                  <a:headEnd/>
                  <a:tailEnd/>
                </a:ln>
              </p:spPr>
              <p:txBody>
                <a:bodyPr/>
                <a:lstStyle/>
                <a:p>
                  <a:endParaRPr lang="zh-CN" altLang="en-US"/>
                </a:p>
              </p:txBody>
            </p:sp>
            <p:sp>
              <p:nvSpPr>
                <p:cNvPr id="36943" name="Rectangle 51"/>
                <p:cNvSpPr>
                  <a:spLocks noChangeArrowheads="1"/>
                </p:cNvSpPr>
                <p:nvPr/>
              </p:nvSpPr>
              <p:spPr bwMode="auto">
                <a:xfrm>
                  <a:off x="8505" y="2025"/>
                  <a:ext cx="71" cy="375"/>
                </a:xfrm>
                <a:prstGeom prst="rect">
                  <a:avLst/>
                </a:prstGeom>
                <a:noFill/>
                <a:ln w="9525">
                  <a:solidFill>
                    <a:srgbClr val="000000"/>
                  </a:solidFill>
                  <a:miter lim="800000"/>
                  <a:headEnd/>
                  <a:tailEnd/>
                </a:ln>
              </p:spPr>
              <p:txBody>
                <a:bodyPr/>
                <a:lstStyle/>
                <a:p>
                  <a:endParaRPr lang="zh-CN" altLang="en-US"/>
                </a:p>
              </p:txBody>
            </p:sp>
            <p:sp>
              <p:nvSpPr>
                <p:cNvPr id="36944" name="Rectangle 52"/>
                <p:cNvSpPr>
                  <a:spLocks noChangeArrowheads="1"/>
                </p:cNvSpPr>
                <p:nvPr/>
              </p:nvSpPr>
              <p:spPr bwMode="auto">
                <a:xfrm>
                  <a:off x="8745" y="2025"/>
                  <a:ext cx="143" cy="360"/>
                </a:xfrm>
                <a:prstGeom prst="rect">
                  <a:avLst/>
                </a:prstGeom>
                <a:noFill/>
                <a:ln w="9525">
                  <a:solidFill>
                    <a:srgbClr val="000000"/>
                  </a:solidFill>
                  <a:miter lim="800000"/>
                  <a:headEnd/>
                  <a:tailEnd/>
                </a:ln>
              </p:spPr>
              <p:txBody>
                <a:bodyPr/>
                <a:lstStyle/>
                <a:p>
                  <a:endParaRPr lang="zh-CN" altLang="en-US"/>
                </a:p>
              </p:txBody>
            </p:sp>
            <p:sp>
              <p:nvSpPr>
                <p:cNvPr id="36945" name="Rectangle 53"/>
                <p:cNvSpPr>
                  <a:spLocks noChangeArrowheads="1"/>
                </p:cNvSpPr>
                <p:nvPr/>
              </p:nvSpPr>
              <p:spPr bwMode="auto">
                <a:xfrm>
                  <a:off x="8587" y="2100"/>
                  <a:ext cx="71" cy="225"/>
                </a:xfrm>
                <a:prstGeom prst="rect">
                  <a:avLst/>
                </a:prstGeom>
                <a:noFill/>
                <a:ln w="9525">
                  <a:solidFill>
                    <a:srgbClr val="000000"/>
                  </a:solidFill>
                  <a:miter lim="800000"/>
                  <a:headEnd/>
                  <a:tailEnd/>
                </a:ln>
              </p:spPr>
              <p:txBody>
                <a:bodyPr/>
                <a:lstStyle/>
                <a:p>
                  <a:endParaRPr lang="zh-CN" altLang="en-US"/>
                </a:p>
              </p:txBody>
            </p:sp>
            <p:sp>
              <p:nvSpPr>
                <p:cNvPr id="36946" name="Line 54"/>
                <p:cNvSpPr>
                  <a:spLocks noChangeShapeType="1"/>
                </p:cNvSpPr>
                <p:nvPr/>
              </p:nvSpPr>
              <p:spPr bwMode="auto">
                <a:xfrm flipV="1">
                  <a:off x="8655" y="2025"/>
                  <a:ext cx="90" cy="75"/>
                </a:xfrm>
                <a:prstGeom prst="line">
                  <a:avLst/>
                </a:prstGeom>
                <a:noFill/>
                <a:ln w="9525">
                  <a:solidFill>
                    <a:srgbClr val="000000"/>
                  </a:solidFill>
                  <a:round/>
                  <a:headEnd/>
                  <a:tailEnd/>
                </a:ln>
              </p:spPr>
              <p:txBody>
                <a:bodyPr/>
                <a:lstStyle/>
                <a:p>
                  <a:endParaRPr lang="zh-CN" altLang="en-US"/>
                </a:p>
              </p:txBody>
            </p:sp>
            <p:sp>
              <p:nvSpPr>
                <p:cNvPr id="36947" name="Line 55"/>
                <p:cNvSpPr>
                  <a:spLocks noChangeShapeType="1"/>
                </p:cNvSpPr>
                <p:nvPr/>
              </p:nvSpPr>
              <p:spPr bwMode="auto">
                <a:xfrm>
                  <a:off x="8655" y="2325"/>
                  <a:ext cx="105" cy="75"/>
                </a:xfrm>
                <a:prstGeom prst="line">
                  <a:avLst/>
                </a:prstGeom>
                <a:noFill/>
                <a:ln w="9525">
                  <a:solidFill>
                    <a:srgbClr val="000000"/>
                  </a:solidFill>
                  <a:round/>
                  <a:headEnd/>
                  <a:tailEnd/>
                </a:ln>
              </p:spPr>
              <p:txBody>
                <a:bodyPr/>
                <a:lstStyle/>
                <a:p>
                  <a:endParaRPr lang="zh-CN" altLang="en-US"/>
                </a:p>
              </p:txBody>
            </p:sp>
          </p:grpSp>
          <p:sp>
            <p:nvSpPr>
              <p:cNvPr id="36909" name="Line 56"/>
              <p:cNvSpPr>
                <a:spLocks noChangeShapeType="1"/>
              </p:cNvSpPr>
              <p:nvPr/>
            </p:nvSpPr>
            <p:spPr bwMode="auto">
              <a:xfrm flipV="1">
                <a:off x="719" y="3272"/>
                <a:ext cx="4258" cy="9"/>
              </a:xfrm>
              <a:prstGeom prst="line">
                <a:avLst/>
              </a:prstGeom>
              <a:noFill/>
              <a:ln w="6350">
                <a:solidFill>
                  <a:srgbClr val="000000"/>
                </a:solidFill>
                <a:prstDash val="lgDashDot"/>
                <a:round/>
                <a:headEnd/>
                <a:tailEnd/>
              </a:ln>
            </p:spPr>
            <p:txBody>
              <a:bodyPr/>
              <a:lstStyle/>
              <a:p>
                <a:endParaRPr lang="zh-CN" altLang="en-US"/>
              </a:p>
            </p:txBody>
          </p:sp>
          <p:sp>
            <p:nvSpPr>
              <p:cNvPr id="608313" name="Text Box 57"/>
              <p:cNvSpPr txBox="1">
                <a:spLocks noChangeArrowheads="1"/>
              </p:cNvSpPr>
              <p:nvPr/>
            </p:nvSpPr>
            <p:spPr bwMode="auto">
              <a:xfrm>
                <a:off x="1384" y="3814"/>
                <a:ext cx="3121" cy="254"/>
              </a:xfrm>
              <a:prstGeom prst="rect">
                <a:avLst/>
              </a:prstGeom>
              <a:noFill/>
              <a:ln w="9525">
                <a:noFill/>
                <a:miter lim="800000"/>
                <a:headEnd/>
                <a:tailEnd/>
              </a:ln>
              <a:effectLst/>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在光具座上测量照相物镜分辨率的光路图</a:t>
                </a:r>
                <a:endParaRPr lang="zh-CN" altLang="en-US" sz="2000" b="1">
                  <a:effectLst>
                    <a:outerShdw blurRad="38100" dist="38100" dir="2700000" algn="tl">
                      <a:srgbClr val="C0C0C0"/>
                    </a:outerShdw>
                  </a:effectLst>
                </a:endParaRPr>
              </a:p>
            </p:txBody>
          </p:sp>
          <p:grpSp>
            <p:nvGrpSpPr>
              <p:cNvPr id="36911" name="Group 58"/>
              <p:cNvGrpSpPr>
                <a:grpSpLocks/>
              </p:cNvGrpSpPr>
              <p:nvPr/>
            </p:nvGrpSpPr>
            <p:grpSpPr bwMode="auto">
              <a:xfrm rot="-1698174">
                <a:off x="3014" y="3070"/>
                <a:ext cx="154" cy="417"/>
                <a:chOff x="6870" y="4110"/>
                <a:chExt cx="233" cy="630"/>
              </a:xfrm>
            </p:grpSpPr>
            <p:sp>
              <p:nvSpPr>
                <p:cNvPr id="36938" name="Oval 59"/>
                <p:cNvSpPr>
                  <a:spLocks noChangeArrowheads="1"/>
                </p:cNvSpPr>
                <p:nvPr/>
              </p:nvSpPr>
              <p:spPr bwMode="auto">
                <a:xfrm>
                  <a:off x="6960" y="4110"/>
                  <a:ext cx="143" cy="615"/>
                </a:xfrm>
                <a:prstGeom prst="ellipse">
                  <a:avLst/>
                </a:prstGeom>
                <a:noFill/>
                <a:ln w="9525">
                  <a:solidFill>
                    <a:srgbClr val="000000"/>
                  </a:solidFill>
                  <a:prstDash val="dash"/>
                  <a:round/>
                  <a:headEnd/>
                  <a:tailEnd/>
                </a:ln>
              </p:spPr>
              <p:txBody>
                <a:bodyPr/>
                <a:lstStyle/>
                <a:p>
                  <a:endParaRPr lang="zh-CN" altLang="en-US"/>
                </a:p>
              </p:txBody>
            </p:sp>
            <p:sp>
              <p:nvSpPr>
                <p:cNvPr id="36939" name="Line 60"/>
                <p:cNvSpPr>
                  <a:spLocks noChangeShapeType="1"/>
                </p:cNvSpPr>
                <p:nvPr/>
              </p:nvSpPr>
              <p:spPr bwMode="auto">
                <a:xfrm>
                  <a:off x="6885" y="4125"/>
                  <a:ext cx="0" cy="615"/>
                </a:xfrm>
                <a:prstGeom prst="line">
                  <a:avLst/>
                </a:prstGeom>
                <a:noFill/>
                <a:ln w="9525">
                  <a:solidFill>
                    <a:srgbClr val="000000"/>
                  </a:solidFill>
                  <a:prstDash val="dash"/>
                  <a:round/>
                  <a:headEnd/>
                  <a:tailEnd/>
                </a:ln>
              </p:spPr>
              <p:txBody>
                <a:bodyPr/>
                <a:lstStyle/>
                <a:p>
                  <a:endParaRPr lang="zh-CN" altLang="en-US"/>
                </a:p>
              </p:txBody>
            </p:sp>
            <p:sp>
              <p:nvSpPr>
                <p:cNvPr id="36940" name="Line 61"/>
                <p:cNvSpPr>
                  <a:spLocks noChangeShapeType="1"/>
                </p:cNvSpPr>
                <p:nvPr/>
              </p:nvSpPr>
              <p:spPr bwMode="auto">
                <a:xfrm flipH="1">
                  <a:off x="6885" y="4740"/>
                  <a:ext cx="150" cy="0"/>
                </a:xfrm>
                <a:prstGeom prst="line">
                  <a:avLst/>
                </a:prstGeom>
                <a:noFill/>
                <a:ln w="9525">
                  <a:solidFill>
                    <a:srgbClr val="000000"/>
                  </a:solidFill>
                  <a:prstDash val="dash"/>
                  <a:round/>
                  <a:headEnd/>
                  <a:tailEnd/>
                </a:ln>
              </p:spPr>
              <p:txBody>
                <a:bodyPr/>
                <a:lstStyle/>
                <a:p>
                  <a:endParaRPr lang="zh-CN" altLang="en-US"/>
                </a:p>
              </p:txBody>
            </p:sp>
            <p:sp>
              <p:nvSpPr>
                <p:cNvPr id="36941" name="Line 62"/>
                <p:cNvSpPr>
                  <a:spLocks noChangeShapeType="1"/>
                </p:cNvSpPr>
                <p:nvPr/>
              </p:nvSpPr>
              <p:spPr bwMode="auto">
                <a:xfrm flipH="1">
                  <a:off x="6870" y="4110"/>
                  <a:ext cx="165" cy="0"/>
                </a:xfrm>
                <a:prstGeom prst="line">
                  <a:avLst/>
                </a:prstGeom>
                <a:noFill/>
                <a:ln w="9525">
                  <a:solidFill>
                    <a:srgbClr val="000000"/>
                  </a:solidFill>
                  <a:prstDash val="dash"/>
                  <a:round/>
                  <a:headEnd/>
                  <a:tailEnd/>
                </a:ln>
              </p:spPr>
              <p:txBody>
                <a:bodyPr/>
                <a:lstStyle/>
                <a:p>
                  <a:endParaRPr lang="zh-CN" altLang="en-US"/>
                </a:p>
              </p:txBody>
            </p:sp>
          </p:grpSp>
          <p:sp>
            <p:nvSpPr>
              <p:cNvPr id="36912" name="Line 63"/>
              <p:cNvSpPr>
                <a:spLocks noChangeShapeType="1"/>
              </p:cNvSpPr>
              <p:nvPr/>
            </p:nvSpPr>
            <p:spPr bwMode="auto">
              <a:xfrm rot="-1698174">
                <a:off x="3069" y="3087"/>
                <a:ext cx="753" cy="20"/>
              </a:xfrm>
              <a:prstGeom prst="line">
                <a:avLst/>
              </a:prstGeom>
              <a:noFill/>
              <a:ln w="9525">
                <a:solidFill>
                  <a:srgbClr val="000000"/>
                </a:solidFill>
                <a:round/>
                <a:headEnd/>
                <a:tailEnd/>
              </a:ln>
            </p:spPr>
            <p:txBody>
              <a:bodyPr/>
              <a:lstStyle/>
              <a:p>
                <a:endParaRPr lang="zh-CN" altLang="en-US"/>
              </a:p>
            </p:txBody>
          </p:sp>
          <p:sp>
            <p:nvSpPr>
              <p:cNvPr id="36913" name="Line 64"/>
              <p:cNvSpPr>
                <a:spLocks noChangeShapeType="1"/>
              </p:cNvSpPr>
              <p:nvPr/>
            </p:nvSpPr>
            <p:spPr bwMode="auto">
              <a:xfrm>
                <a:off x="3687" y="2755"/>
                <a:ext cx="258" cy="487"/>
              </a:xfrm>
              <a:prstGeom prst="line">
                <a:avLst/>
              </a:prstGeom>
              <a:noFill/>
              <a:ln w="9525">
                <a:solidFill>
                  <a:srgbClr val="000000"/>
                </a:solidFill>
                <a:prstDash val="dash"/>
                <a:round/>
                <a:headEnd/>
                <a:tailEnd/>
              </a:ln>
            </p:spPr>
            <p:txBody>
              <a:bodyPr/>
              <a:lstStyle/>
              <a:p>
                <a:endParaRPr lang="zh-CN" altLang="en-US"/>
              </a:p>
            </p:txBody>
          </p:sp>
          <p:sp>
            <p:nvSpPr>
              <p:cNvPr id="36914" name="Freeform 65"/>
              <p:cNvSpPr>
                <a:spLocks/>
              </p:cNvSpPr>
              <p:nvPr/>
            </p:nvSpPr>
            <p:spPr bwMode="auto">
              <a:xfrm>
                <a:off x="3419" y="3113"/>
                <a:ext cx="45" cy="155"/>
              </a:xfrm>
              <a:custGeom>
                <a:avLst/>
                <a:gdLst>
                  <a:gd name="T0" fmla="*/ 0 w 69"/>
                  <a:gd name="T1" fmla="*/ 0 h 234"/>
                  <a:gd name="T2" fmla="*/ 15 w 69"/>
                  <a:gd name="T3" fmla="*/ 33 h 234"/>
                  <a:gd name="T4" fmla="*/ 19 w 69"/>
                  <a:gd name="T5" fmla="*/ 68 h 234"/>
                  <a:gd name="T6" fmla="*/ 0 60000 65536"/>
                  <a:gd name="T7" fmla="*/ 0 60000 65536"/>
                  <a:gd name="T8" fmla="*/ 0 60000 65536"/>
                  <a:gd name="T9" fmla="*/ 0 w 69"/>
                  <a:gd name="T10" fmla="*/ 0 h 234"/>
                  <a:gd name="T11" fmla="*/ 69 w 69"/>
                  <a:gd name="T12" fmla="*/ 234 h 234"/>
                </a:gdLst>
                <a:ahLst/>
                <a:cxnLst>
                  <a:cxn ang="T6">
                    <a:pos x="T0" y="T1"/>
                  </a:cxn>
                  <a:cxn ang="T7">
                    <a:pos x="T2" y="T3"/>
                  </a:cxn>
                  <a:cxn ang="T8">
                    <a:pos x="T4" y="T5"/>
                  </a:cxn>
                </a:cxnLst>
                <a:rect l="T9" t="T10" r="T11" b="T12"/>
                <a:pathLst>
                  <a:path w="69" h="234">
                    <a:moveTo>
                      <a:pt x="0" y="0"/>
                    </a:moveTo>
                    <a:cubicBezTo>
                      <a:pt x="9" y="19"/>
                      <a:pt x="42" y="75"/>
                      <a:pt x="54" y="114"/>
                    </a:cubicBezTo>
                    <a:cubicBezTo>
                      <a:pt x="66" y="153"/>
                      <a:pt x="66" y="209"/>
                      <a:pt x="69" y="234"/>
                    </a:cubicBezTo>
                  </a:path>
                </a:pathLst>
              </a:custGeom>
              <a:noFill/>
              <a:ln w="6350">
                <a:solidFill>
                  <a:srgbClr val="000000"/>
                </a:solidFill>
                <a:round/>
                <a:headEnd/>
                <a:tailEnd/>
              </a:ln>
            </p:spPr>
            <p:txBody>
              <a:bodyPr/>
              <a:lstStyle/>
              <a:p>
                <a:endParaRPr lang="zh-CN" altLang="en-US"/>
              </a:p>
            </p:txBody>
          </p:sp>
          <p:sp>
            <p:nvSpPr>
              <p:cNvPr id="608322" name="Text Box 66"/>
              <p:cNvSpPr txBox="1">
                <a:spLocks noChangeArrowheads="1"/>
              </p:cNvSpPr>
              <p:nvPr/>
            </p:nvSpPr>
            <p:spPr bwMode="auto">
              <a:xfrm>
                <a:off x="3419" y="3023"/>
                <a:ext cx="417" cy="30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宋体" pitchFamily="2" charset="-122"/>
                  </a:rPr>
                  <a:t>ω</a:t>
                </a:r>
                <a:endParaRPr lang="en-US" altLang="zh-CN" sz="1600" b="1">
                  <a:effectLst>
                    <a:outerShdw blurRad="38100" dist="38100" dir="2700000" algn="tl">
                      <a:srgbClr val="C0C0C0"/>
                    </a:outerShdw>
                  </a:effectLst>
                </a:endParaRPr>
              </a:p>
            </p:txBody>
          </p:sp>
          <p:sp>
            <p:nvSpPr>
              <p:cNvPr id="608323" name="Text Box 67"/>
              <p:cNvSpPr txBox="1">
                <a:spLocks noChangeArrowheads="1"/>
              </p:cNvSpPr>
              <p:nvPr/>
            </p:nvSpPr>
            <p:spPr bwMode="auto">
              <a:xfrm>
                <a:off x="3726" y="2726"/>
                <a:ext cx="417" cy="307"/>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宋体" pitchFamily="2" charset="-122"/>
                  </a:rPr>
                  <a:t>F′</a:t>
                </a:r>
                <a:endParaRPr lang="en-US" altLang="zh-CN" sz="1600" b="1">
                  <a:effectLst>
                    <a:outerShdw blurRad="38100" dist="38100" dir="2700000" algn="tl">
                      <a:srgbClr val="C0C0C0"/>
                    </a:outerShdw>
                  </a:effectLst>
                </a:endParaRPr>
              </a:p>
            </p:txBody>
          </p:sp>
          <p:sp>
            <p:nvSpPr>
              <p:cNvPr id="608324" name="Text Box 68"/>
              <p:cNvSpPr txBox="1">
                <a:spLocks noChangeArrowheads="1"/>
              </p:cNvSpPr>
              <p:nvPr/>
            </p:nvSpPr>
            <p:spPr bwMode="auto">
              <a:xfrm>
                <a:off x="3290" y="3470"/>
                <a:ext cx="417" cy="27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f</a:t>
                </a:r>
                <a:r>
                  <a:rPr lang="en-US" altLang="zh-CN" sz="1600" b="1" i="1">
                    <a:effectLst>
                      <a:outerShdw blurRad="38100" dist="38100" dir="2700000" algn="tl">
                        <a:srgbClr val="C0C0C0"/>
                      </a:outerShdw>
                    </a:effectLst>
                    <a:latin typeface="宋体" pitchFamily="2" charset="-122"/>
                  </a:rPr>
                  <a:t>′</a:t>
                </a:r>
                <a:endParaRPr lang="en-US" altLang="zh-CN" sz="1600" b="1">
                  <a:effectLst>
                    <a:outerShdw blurRad="38100" dist="38100" dir="2700000" algn="tl">
                      <a:srgbClr val="C0C0C0"/>
                    </a:outerShdw>
                  </a:effectLst>
                </a:endParaRPr>
              </a:p>
            </p:txBody>
          </p:sp>
          <p:sp>
            <p:nvSpPr>
              <p:cNvPr id="608325" name="Text Box 69"/>
              <p:cNvSpPr txBox="1">
                <a:spLocks noChangeArrowheads="1"/>
              </p:cNvSpPr>
              <p:nvPr/>
            </p:nvSpPr>
            <p:spPr bwMode="auto">
              <a:xfrm>
                <a:off x="3554" y="3257"/>
                <a:ext cx="416" cy="30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F′</a:t>
                </a:r>
                <a:endParaRPr lang="en-US" altLang="zh-CN" sz="1600" b="1">
                  <a:effectLst>
                    <a:outerShdw blurRad="38100" dist="38100" dir="2700000" algn="tl">
                      <a:srgbClr val="C0C0C0"/>
                    </a:outerShdw>
                  </a:effectLst>
                  <a:latin typeface="Times New Roman" pitchFamily="18" charset="0"/>
                </a:endParaRPr>
              </a:p>
            </p:txBody>
          </p:sp>
          <p:sp>
            <p:nvSpPr>
              <p:cNvPr id="36919" name="Line 70"/>
              <p:cNvSpPr>
                <a:spLocks noChangeShapeType="1"/>
              </p:cNvSpPr>
              <p:nvPr/>
            </p:nvSpPr>
            <p:spPr bwMode="auto">
              <a:xfrm>
                <a:off x="3081" y="3281"/>
                <a:ext cx="0" cy="507"/>
              </a:xfrm>
              <a:prstGeom prst="line">
                <a:avLst/>
              </a:prstGeom>
              <a:noFill/>
              <a:ln w="6350">
                <a:solidFill>
                  <a:srgbClr val="000000"/>
                </a:solidFill>
                <a:round/>
                <a:headEnd/>
                <a:tailEnd/>
              </a:ln>
            </p:spPr>
            <p:txBody>
              <a:bodyPr/>
              <a:lstStyle/>
              <a:p>
                <a:endParaRPr lang="zh-CN" altLang="en-US"/>
              </a:p>
            </p:txBody>
          </p:sp>
          <p:sp>
            <p:nvSpPr>
              <p:cNvPr id="36920" name="Line 71"/>
              <p:cNvSpPr>
                <a:spLocks noChangeShapeType="1"/>
              </p:cNvSpPr>
              <p:nvPr/>
            </p:nvSpPr>
            <p:spPr bwMode="auto">
              <a:xfrm>
                <a:off x="3939" y="3272"/>
                <a:ext cx="0" cy="545"/>
              </a:xfrm>
              <a:prstGeom prst="line">
                <a:avLst/>
              </a:prstGeom>
              <a:noFill/>
              <a:ln w="6350">
                <a:solidFill>
                  <a:srgbClr val="000000"/>
                </a:solidFill>
                <a:round/>
                <a:headEnd/>
                <a:tailEnd/>
              </a:ln>
            </p:spPr>
            <p:txBody>
              <a:bodyPr/>
              <a:lstStyle/>
              <a:p>
                <a:endParaRPr lang="zh-CN" altLang="en-US"/>
              </a:p>
            </p:txBody>
          </p:sp>
          <p:sp>
            <p:nvSpPr>
              <p:cNvPr id="36921" name="Line 72"/>
              <p:cNvSpPr>
                <a:spLocks noChangeShapeType="1"/>
              </p:cNvSpPr>
              <p:nvPr/>
            </p:nvSpPr>
            <p:spPr bwMode="auto">
              <a:xfrm flipH="1">
                <a:off x="3786" y="3093"/>
                <a:ext cx="0" cy="754"/>
              </a:xfrm>
              <a:prstGeom prst="line">
                <a:avLst/>
              </a:prstGeom>
              <a:noFill/>
              <a:ln w="6350">
                <a:solidFill>
                  <a:srgbClr val="000000"/>
                </a:solidFill>
                <a:round/>
                <a:headEnd/>
                <a:tailEnd/>
              </a:ln>
            </p:spPr>
            <p:txBody>
              <a:bodyPr/>
              <a:lstStyle/>
              <a:p>
                <a:endParaRPr lang="zh-CN" altLang="en-US"/>
              </a:p>
            </p:txBody>
          </p:sp>
          <p:sp>
            <p:nvSpPr>
              <p:cNvPr id="36922" name="Line 73"/>
              <p:cNvSpPr>
                <a:spLocks noChangeShapeType="1"/>
              </p:cNvSpPr>
              <p:nvPr/>
            </p:nvSpPr>
            <p:spPr bwMode="auto">
              <a:xfrm>
                <a:off x="3081" y="3698"/>
                <a:ext cx="695"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36923" name="Line 74"/>
              <p:cNvSpPr>
                <a:spLocks noChangeShapeType="1"/>
              </p:cNvSpPr>
              <p:nvPr/>
            </p:nvSpPr>
            <p:spPr bwMode="auto">
              <a:xfrm flipH="1">
                <a:off x="3935" y="3698"/>
                <a:ext cx="298" cy="0"/>
              </a:xfrm>
              <a:prstGeom prst="line">
                <a:avLst/>
              </a:prstGeom>
              <a:noFill/>
              <a:ln w="6350">
                <a:solidFill>
                  <a:srgbClr val="000000"/>
                </a:solidFill>
                <a:round/>
                <a:headEnd/>
                <a:tailEnd type="stealth" w="sm" len="sm"/>
              </a:ln>
            </p:spPr>
            <p:txBody>
              <a:bodyPr/>
              <a:lstStyle/>
              <a:p>
                <a:endParaRPr lang="zh-CN" altLang="en-US"/>
              </a:p>
            </p:txBody>
          </p:sp>
          <p:sp>
            <p:nvSpPr>
              <p:cNvPr id="608331" name="Text Box 75"/>
              <p:cNvSpPr txBox="1">
                <a:spLocks noChangeArrowheads="1"/>
              </p:cNvSpPr>
              <p:nvPr/>
            </p:nvSpPr>
            <p:spPr bwMode="auto">
              <a:xfrm>
                <a:off x="3945" y="3470"/>
                <a:ext cx="417" cy="308"/>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宋体" pitchFamily="2" charset="-122"/>
                  </a:rPr>
                  <a:t>Δ</a:t>
                </a:r>
                <a:r>
                  <a:rPr lang="en-US" altLang="zh-CN" sz="1600" b="1" i="1">
                    <a:effectLst>
                      <a:outerShdw blurRad="38100" dist="38100" dir="2700000" algn="tl">
                        <a:srgbClr val="C0C0C0"/>
                      </a:outerShdw>
                    </a:effectLst>
                    <a:latin typeface="宋体" pitchFamily="2" charset="-122"/>
                  </a:rPr>
                  <a:t>x</a:t>
                </a:r>
                <a:endParaRPr lang="en-US" altLang="zh-CN" sz="1600" b="1">
                  <a:effectLst>
                    <a:outerShdw blurRad="38100" dist="38100" dir="2700000" algn="tl">
                      <a:srgbClr val="C0C0C0"/>
                    </a:outerShdw>
                  </a:effectLst>
                </a:endParaRPr>
              </a:p>
            </p:txBody>
          </p:sp>
          <p:sp>
            <p:nvSpPr>
              <p:cNvPr id="36925" name="Line 76"/>
              <p:cNvSpPr>
                <a:spLocks noChangeShapeType="1"/>
              </p:cNvSpPr>
              <p:nvPr/>
            </p:nvSpPr>
            <p:spPr bwMode="auto">
              <a:xfrm>
                <a:off x="4471" y="3143"/>
                <a:ext cx="139" cy="129"/>
              </a:xfrm>
              <a:prstGeom prst="line">
                <a:avLst/>
              </a:prstGeom>
              <a:noFill/>
              <a:ln w="9525">
                <a:solidFill>
                  <a:srgbClr val="000000"/>
                </a:solidFill>
                <a:round/>
                <a:headEnd/>
                <a:tailEnd/>
              </a:ln>
            </p:spPr>
            <p:txBody>
              <a:bodyPr/>
              <a:lstStyle/>
              <a:p>
                <a:endParaRPr lang="zh-CN" altLang="en-US"/>
              </a:p>
            </p:txBody>
          </p:sp>
          <p:sp>
            <p:nvSpPr>
              <p:cNvPr id="36926" name="Line 77"/>
              <p:cNvSpPr>
                <a:spLocks noChangeShapeType="1"/>
              </p:cNvSpPr>
              <p:nvPr/>
            </p:nvSpPr>
            <p:spPr bwMode="auto">
              <a:xfrm flipH="1">
                <a:off x="4511" y="3272"/>
                <a:ext cx="99" cy="69"/>
              </a:xfrm>
              <a:prstGeom prst="line">
                <a:avLst/>
              </a:prstGeom>
              <a:noFill/>
              <a:ln w="9525">
                <a:solidFill>
                  <a:srgbClr val="000000"/>
                </a:solidFill>
                <a:round/>
                <a:headEnd/>
                <a:tailEnd/>
              </a:ln>
            </p:spPr>
            <p:txBody>
              <a:bodyPr/>
              <a:lstStyle/>
              <a:p>
                <a:endParaRPr lang="zh-CN" altLang="en-US"/>
              </a:p>
            </p:txBody>
          </p:sp>
          <p:sp>
            <p:nvSpPr>
              <p:cNvPr id="36927" name="Freeform 78"/>
              <p:cNvSpPr>
                <a:spLocks/>
              </p:cNvSpPr>
              <p:nvPr/>
            </p:nvSpPr>
            <p:spPr bwMode="auto">
              <a:xfrm>
                <a:off x="4530" y="3222"/>
                <a:ext cx="30" cy="59"/>
              </a:xfrm>
              <a:custGeom>
                <a:avLst/>
                <a:gdLst>
                  <a:gd name="T0" fmla="*/ 13 w 45"/>
                  <a:gd name="T1" fmla="*/ 0 h 90"/>
                  <a:gd name="T2" fmla="*/ 0 w 45"/>
                  <a:gd name="T3" fmla="*/ 26 h 90"/>
                  <a:gd name="T4" fmla="*/ 0 60000 65536"/>
                  <a:gd name="T5" fmla="*/ 0 60000 65536"/>
                  <a:gd name="T6" fmla="*/ 0 w 45"/>
                  <a:gd name="T7" fmla="*/ 0 h 90"/>
                  <a:gd name="T8" fmla="*/ 45 w 45"/>
                  <a:gd name="T9" fmla="*/ 90 h 90"/>
                </a:gdLst>
                <a:ahLst/>
                <a:cxnLst>
                  <a:cxn ang="T4">
                    <a:pos x="T0" y="T1"/>
                  </a:cxn>
                  <a:cxn ang="T5">
                    <a:pos x="T2" y="T3"/>
                  </a:cxn>
                </a:cxnLst>
                <a:rect l="T6" t="T7" r="T8" b="T9"/>
                <a:pathLst>
                  <a:path w="45" h="90">
                    <a:moveTo>
                      <a:pt x="45" y="0"/>
                    </a:moveTo>
                    <a:cubicBezTo>
                      <a:pt x="23" y="36"/>
                      <a:pt x="2" y="73"/>
                      <a:pt x="0" y="90"/>
                    </a:cubicBezTo>
                  </a:path>
                </a:pathLst>
              </a:custGeom>
              <a:noFill/>
              <a:ln w="9525">
                <a:solidFill>
                  <a:srgbClr val="000000"/>
                </a:solidFill>
                <a:round/>
                <a:headEnd/>
                <a:tailEnd/>
              </a:ln>
            </p:spPr>
            <p:txBody>
              <a:bodyPr/>
              <a:lstStyle/>
              <a:p>
                <a:endParaRPr lang="zh-CN" altLang="en-US"/>
              </a:p>
            </p:txBody>
          </p:sp>
          <p:sp>
            <p:nvSpPr>
              <p:cNvPr id="36928" name="Freeform 79"/>
              <p:cNvSpPr>
                <a:spLocks/>
              </p:cNvSpPr>
              <p:nvPr/>
            </p:nvSpPr>
            <p:spPr bwMode="auto">
              <a:xfrm>
                <a:off x="4560" y="3242"/>
                <a:ext cx="10" cy="59"/>
              </a:xfrm>
              <a:custGeom>
                <a:avLst/>
                <a:gdLst>
                  <a:gd name="T0" fmla="*/ 0 w 15"/>
                  <a:gd name="T1" fmla="*/ 0 h 90"/>
                  <a:gd name="T2" fmla="*/ 5 w 15"/>
                  <a:gd name="T3" fmla="*/ 26 h 90"/>
                  <a:gd name="T4" fmla="*/ 0 60000 65536"/>
                  <a:gd name="T5" fmla="*/ 0 60000 65536"/>
                  <a:gd name="T6" fmla="*/ 0 w 15"/>
                  <a:gd name="T7" fmla="*/ 0 h 90"/>
                  <a:gd name="T8" fmla="*/ 15 w 15"/>
                  <a:gd name="T9" fmla="*/ 90 h 90"/>
                </a:gdLst>
                <a:ahLst/>
                <a:cxnLst>
                  <a:cxn ang="T4">
                    <a:pos x="T0" y="T1"/>
                  </a:cxn>
                  <a:cxn ang="T5">
                    <a:pos x="T2" y="T3"/>
                  </a:cxn>
                </a:cxnLst>
                <a:rect l="T6" t="T7" r="T8" b="T9"/>
                <a:pathLst>
                  <a:path w="15" h="90">
                    <a:moveTo>
                      <a:pt x="0" y="0"/>
                    </a:moveTo>
                    <a:cubicBezTo>
                      <a:pt x="0" y="0"/>
                      <a:pt x="7" y="45"/>
                      <a:pt x="15" y="90"/>
                    </a:cubicBezTo>
                  </a:path>
                </a:pathLst>
              </a:custGeom>
              <a:noFill/>
              <a:ln w="9525">
                <a:solidFill>
                  <a:srgbClr val="000000"/>
                </a:solidFill>
                <a:round/>
                <a:headEnd/>
                <a:tailEnd/>
              </a:ln>
            </p:spPr>
            <p:txBody>
              <a:bodyPr/>
              <a:lstStyle/>
              <a:p>
                <a:endParaRPr lang="zh-CN" altLang="en-US"/>
              </a:p>
            </p:txBody>
          </p:sp>
          <p:sp>
            <p:nvSpPr>
              <p:cNvPr id="36929" name="Freeform 80"/>
              <p:cNvSpPr>
                <a:spLocks/>
              </p:cNvSpPr>
              <p:nvPr/>
            </p:nvSpPr>
            <p:spPr bwMode="auto">
              <a:xfrm>
                <a:off x="4550" y="3242"/>
                <a:ext cx="1" cy="69"/>
              </a:xfrm>
              <a:custGeom>
                <a:avLst/>
                <a:gdLst>
                  <a:gd name="T0" fmla="*/ 0 w 1"/>
                  <a:gd name="T1" fmla="*/ 0 h 105"/>
                  <a:gd name="T2" fmla="*/ 0 w 1"/>
                  <a:gd name="T3" fmla="*/ 30 h 105"/>
                  <a:gd name="T4" fmla="*/ 0 60000 65536"/>
                  <a:gd name="T5" fmla="*/ 0 60000 65536"/>
                  <a:gd name="T6" fmla="*/ 0 w 1"/>
                  <a:gd name="T7" fmla="*/ 0 h 105"/>
                  <a:gd name="T8" fmla="*/ 1 w 1"/>
                  <a:gd name="T9" fmla="*/ 105 h 105"/>
                </a:gdLst>
                <a:ahLst/>
                <a:cxnLst>
                  <a:cxn ang="T4">
                    <a:pos x="T0" y="T1"/>
                  </a:cxn>
                  <a:cxn ang="T5">
                    <a:pos x="T2" y="T3"/>
                  </a:cxn>
                </a:cxnLst>
                <a:rect l="T6" t="T7" r="T8" b="T9"/>
                <a:pathLst>
                  <a:path w="1" h="105">
                    <a:moveTo>
                      <a:pt x="0" y="0"/>
                    </a:moveTo>
                    <a:cubicBezTo>
                      <a:pt x="0" y="44"/>
                      <a:pt x="0" y="88"/>
                      <a:pt x="0" y="105"/>
                    </a:cubicBezTo>
                  </a:path>
                </a:pathLst>
              </a:custGeom>
              <a:noFill/>
              <a:ln w="9525">
                <a:solidFill>
                  <a:srgbClr val="000000"/>
                </a:solidFill>
                <a:round/>
                <a:headEnd/>
                <a:tailEnd/>
              </a:ln>
            </p:spPr>
            <p:txBody>
              <a:bodyPr/>
              <a:lstStyle/>
              <a:p>
                <a:endParaRPr lang="zh-CN" altLang="en-US"/>
              </a:p>
            </p:txBody>
          </p:sp>
          <p:sp>
            <p:nvSpPr>
              <p:cNvPr id="608337" name="Text Box 81"/>
              <p:cNvSpPr txBox="1">
                <a:spLocks noChangeArrowheads="1"/>
              </p:cNvSpPr>
              <p:nvPr/>
            </p:nvSpPr>
            <p:spPr bwMode="auto">
              <a:xfrm>
                <a:off x="858" y="2514"/>
                <a:ext cx="3702" cy="437"/>
              </a:xfrm>
              <a:prstGeom prst="rect">
                <a:avLst/>
              </a:prstGeom>
              <a:noFill/>
              <a:ln w="9525">
                <a:noFill/>
                <a:miter lim="800000"/>
                <a:headEnd/>
                <a:tailEnd/>
              </a:ln>
              <a:effectLst/>
            </p:spPr>
            <p:txBody>
              <a:bodyPr/>
              <a:lstStyle/>
              <a:p>
                <a:pPr algn="just">
                  <a:defRPr/>
                </a:pPr>
                <a:r>
                  <a:rPr lang="zh-CN" altLang="en-US" sz="1600" b="1">
                    <a:effectLst>
                      <a:outerShdw blurRad="38100" dist="38100" dir="2700000" algn="tl">
                        <a:srgbClr val="C0C0C0"/>
                      </a:outerShdw>
                    </a:effectLst>
                    <a:latin typeface="Times New Roman" pitchFamily="18" charset="0"/>
                  </a:rPr>
                  <a:t>光源 毛玻璃  分辨率板 准直物镜 被测物镜           </a:t>
                </a:r>
                <a:r>
                  <a:rPr lang="zh-CN" altLang="en-US" sz="1600" b="1" i="1">
                    <a:effectLst>
                      <a:outerShdw blurRad="38100" dist="38100" dir="2700000" algn="tl">
                        <a:srgbClr val="C0C0C0"/>
                      </a:outerShdw>
                    </a:effectLst>
                    <a:latin typeface="Times New Roman" pitchFamily="18" charset="0"/>
                  </a:rPr>
                  <a:t>  </a:t>
                </a:r>
                <a:r>
                  <a:rPr lang="zh-CN" altLang="en-US" sz="1600" b="1">
                    <a:effectLst>
                      <a:outerShdw blurRad="38100" dist="38100" dir="2700000" algn="tl">
                        <a:srgbClr val="C0C0C0"/>
                      </a:outerShdw>
                    </a:effectLst>
                    <a:latin typeface="Times New Roman" pitchFamily="18" charset="0"/>
                  </a:rPr>
                  <a:t>            显微镜</a:t>
                </a:r>
                <a:endParaRPr lang="zh-CN" altLang="en-US" sz="1600" b="1">
                  <a:effectLst>
                    <a:outerShdw blurRad="38100" dist="38100" dir="2700000" algn="tl">
                      <a:srgbClr val="C0C0C0"/>
                    </a:outerShdw>
                  </a:effectLst>
                </a:endParaRPr>
              </a:p>
            </p:txBody>
          </p:sp>
          <p:sp>
            <p:nvSpPr>
              <p:cNvPr id="36931" name="Line 82"/>
              <p:cNvSpPr>
                <a:spLocks noChangeShapeType="1"/>
              </p:cNvSpPr>
              <p:nvPr/>
            </p:nvSpPr>
            <p:spPr bwMode="auto">
              <a:xfrm flipH="1" flipV="1">
                <a:off x="1066" y="2765"/>
                <a:ext cx="159" cy="407"/>
              </a:xfrm>
              <a:prstGeom prst="line">
                <a:avLst/>
              </a:prstGeom>
              <a:noFill/>
              <a:ln w="6350">
                <a:solidFill>
                  <a:srgbClr val="000000"/>
                </a:solidFill>
                <a:round/>
                <a:headEnd/>
                <a:tailEnd/>
              </a:ln>
            </p:spPr>
            <p:txBody>
              <a:bodyPr/>
              <a:lstStyle/>
              <a:p>
                <a:endParaRPr lang="zh-CN" altLang="en-US"/>
              </a:p>
            </p:txBody>
          </p:sp>
          <p:sp>
            <p:nvSpPr>
              <p:cNvPr id="36932" name="Line 83"/>
              <p:cNvSpPr>
                <a:spLocks noChangeShapeType="1"/>
              </p:cNvSpPr>
              <p:nvPr/>
            </p:nvSpPr>
            <p:spPr bwMode="auto">
              <a:xfrm flipH="1" flipV="1">
                <a:off x="1354" y="2726"/>
                <a:ext cx="109" cy="337"/>
              </a:xfrm>
              <a:prstGeom prst="line">
                <a:avLst/>
              </a:prstGeom>
              <a:noFill/>
              <a:ln w="6350">
                <a:solidFill>
                  <a:srgbClr val="000000"/>
                </a:solidFill>
                <a:round/>
                <a:headEnd/>
                <a:tailEnd/>
              </a:ln>
            </p:spPr>
            <p:txBody>
              <a:bodyPr/>
              <a:lstStyle/>
              <a:p>
                <a:endParaRPr lang="zh-CN" altLang="en-US"/>
              </a:p>
            </p:txBody>
          </p:sp>
          <p:sp>
            <p:nvSpPr>
              <p:cNvPr id="36933" name="Line 84"/>
              <p:cNvSpPr>
                <a:spLocks noChangeShapeType="1"/>
              </p:cNvSpPr>
              <p:nvPr/>
            </p:nvSpPr>
            <p:spPr bwMode="auto">
              <a:xfrm flipV="1">
                <a:off x="1573" y="2726"/>
                <a:ext cx="277" cy="357"/>
              </a:xfrm>
              <a:prstGeom prst="line">
                <a:avLst/>
              </a:prstGeom>
              <a:noFill/>
              <a:ln w="6350">
                <a:solidFill>
                  <a:srgbClr val="000000"/>
                </a:solidFill>
                <a:round/>
                <a:headEnd/>
                <a:tailEnd/>
              </a:ln>
            </p:spPr>
            <p:txBody>
              <a:bodyPr/>
              <a:lstStyle/>
              <a:p>
                <a:endParaRPr lang="zh-CN" altLang="en-US"/>
              </a:p>
            </p:txBody>
          </p:sp>
          <p:sp>
            <p:nvSpPr>
              <p:cNvPr id="36934" name="Line 85"/>
              <p:cNvSpPr>
                <a:spLocks noChangeShapeType="1"/>
              </p:cNvSpPr>
              <p:nvPr/>
            </p:nvSpPr>
            <p:spPr bwMode="auto">
              <a:xfrm flipH="1" flipV="1">
                <a:off x="2337" y="2726"/>
                <a:ext cx="178" cy="278"/>
              </a:xfrm>
              <a:prstGeom prst="line">
                <a:avLst/>
              </a:prstGeom>
              <a:noFill/>
              <a:ln w="6350">
                <a:solidFill>
                  <a:srgbClr val="000000"/>
                </a:solidFill>
                <a:round/>
                <a:headEnd/>
                <a:tailEnd/>
              </a:ln>
            </p:spPr>
            <p:txBody>
              <a:bodyPr/>
              <a:lstStyle/>
              <a:p>
                <a:endParaRPr lang="zh-CN" altLang="en-US"/>
              </a:p>
            </p:txBody>
          </p:sp>
          <p:sp>
            <p:nvSpPr>
              <p:cNvPr id="36935" name="Line 86"/>
              <p:cNvSpPr>
                <a:spLocks noChangeShapeType="1"/>
              </p:cNvSpPr>
              <p:nvPr/>
            </p:nvSpPr>
            <p:spPr bwMode="auto">
              <a:xfrm flipH="1" flipV="1">
                <a:off x="2913" y="2736"/>
                <a:ext cx="188" cy="337"/>
              </a:xfrm>
              <a:prstGeom prst="line">
                <a:avLst/>
              </a:prstGeom>
              <a:noFill/>
              <a:ln w="6350">
                <a:solidFill>
                  <a:srgbClr val="000000"/>
                </a:solidFill>
                <a:round/>
                <a:headEnd/>
                <a:tailEnd/>
              </a:ln>
            </p:spPr>
            <p:txBody>
              <a:bodyPr/>
              <a:lstStyle/>
              <a:p>
                <a:endParaRPr lang="zh-CN" altLang="en-US"/>
              </a:p>
            </p:txBody>
          </p:sp>
          <p:sp>
            <p:nvSpPr>
              <p:cNvPr id="36936" name="Line 87"/>
              <p:cNvSpPr>
                <a:spLocks noChangeShapeType="1"/>
              </p:cNvSpPr>
              <p:nvPr/>
            </p:nvSpPr>
            <p:spPr bwMode="auto">
              <a:xfrm flipV="1">
                <a:off x="4024" y="2765"/>
                <a:ext cx="209" cy="457"/>
              </a:xfrm>
              <a:prstGeom prst="line">
                <a:avLst/>
              </a:prstGeom>
              <a:noFill/>
              <a:ln w="6350">
                <a:solidFill>
                  <a:srgbClr val="000000"/>
                </a:solidFill>
                <a:round/>
                <a:headEnd/>
                <a:tailEnd/>
              </a:ln>
            </p:spPr>
            <p:txBody>
              <a:bodyPr/>
              <a:lstStyle/>
              <a:p>
                <a:endParaRPr lang="zh-CN" altLang="en-US"/>
              </a:p>
            </p:txBody>
          </p:sp>
          <p:sp>
            <p:nvSpPr>
              <p:cNvPr id="36937" name="Line 88"/>
              <p:cNvSpPr>
                <a:spLocks noChangeShapeType="1"/>
              </p:cNvSpPr>
              <p:nvPr/>
            </p:nvSpPr>
            <p:spPr bwMode="auto">
              <a:xfrm flipV="1">
                <a:off x="4044" y="3411"/>
                <a:ext cx="357" cy="0"/>
              </a:xfrm>
              <a:prstGeom prst="line">
                <a:avLst/>
              </a:prstGeom>
              <a:noFill/>
              <a:ln w="9525">
                <a:solidFill>
                  <a:srgbClr val="000000"/>
                </a:solidFill>
                <a:prstDash val="dash"/>
                <a:round/>
                <a:headEnd/>
                <a:tailEnd type="stealth" w="sm" len="sm"/>
              </a:ln>
            </p:spPr>
            <p:txBody>
              <a:bodyPr/>
              <a:lstStyle/>
              <a:p>
                <a:endParaRPr lang="zh-CN" altLang="en-US"/>
              </a:p>
            </p:txBody>
          </p:sp>
        </p:grpSp>
      </p:grpSp>
      <p:graphicFrame>
        <p:nvGraphicFramePr>
          <p:cNvPr id="608345" name="Object 89"/>
          <p:cNvGraphicFramePr>
            <a:graphicFrameLocks noChangeAspect="1"/>
          </p:cNvGraphicFramePr>
          <p:nvPr/>
        </p:nvGraphicFramePr>
        <p:xfrm>
          <a:off x="3205163" y="5114925"/>
          <a:ext cx="2895600" cy="1069975"/>
        </p:xfrm>
        <a:graphic>
          <a:graphicData uri="http://schemas.openxmlformats.org/presentationml/2006/ole">
            <p:oleObj spid="_x0000_s36866" name="公式" r:id="rId3" imgW="28041917" imgH="10363517" progId="Equation.3">
              <p:embed/>
            </p:oleObj>
          </a:graphicData>
        </a:graphic>
      </p:graphicFrame>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par>
                                <p:cTn id="8" presetID="2" presetClass="entr" presetSubtype="4" fill="hold" nodeType="withEffect">
                                  <p:stCondLst>
                                    <p:cond delay="0"/>
                                  </p:stCondLst>
                                  <p:childTnLst>
                                    <p:set>
                                      <p:cBhvr>
                                        <p:cTn id="9" dur="1" fill="hold">
                                          <p:stCondLst>
                                            <p:cond delay="0"/>
                                          </p:stCondLst>
                                        </p:cTn>
                                        <p:tgtEl>
                                          <p:spTgt spid="608345"/>
                                        </p:tgtEl>
                                        <p:attrNameLst>
                                          <p:attrName>style.visibility</p:attrName>
                                        </p:attrNameLst>
                                      </p:cBhvr>
                                      <p:to>
                                        <p:strVal val="visible"/>
                                      </p:to>
                                    </p:set>
                                    <p:anim calcmode="lin" valueType="num">
                                      <p:cBhvr additive="base">
                                        <p:cTn id="10" dur="500" fill="hold"/>
                                        <p:tgtEl>
                                          <p:spTgt spid="608345"/>
                                        </p:tgtEl>
                                        <p:attrNameLst>
                                          <p:attrName>ppt_x</p:attrName>
                                        </p:attrNameLst>
                                      </p:cBhvr>
                                      <p:tavLst>
                                        <p:tav tm="0">
                                          <p:val>
                                            <p:strVal val="#ppt_x"/>
                                          </p:val>
                                        </p:tav>
                                        <p:tav tm="100000">
                                          <p:val>
                                            <p:strVal val="#ppt_x"/>
                                          </p:val>
                                        </p:tav>
                                      </p:tavLst>
                                    </p:anim>
                                    <p:anim calcmode="lin" valueType="num">
                                      <p:cBhvr additive="base">
                                        <p:cTn id="11" dur="500" fill="hold"/>
                                        <p:tgtEl>
                                          <p:spTgt spid="6083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 name="Rectangle 2"/>
          <p:cNvSpPr>
            <a:spLocks noGrp="1" noRot="1" noChangeArrowheads="1"/>
          </p:cNvSpPr>
          <p:nvPr>
            <p:ph type="title"/>
          </p:nvPr>
        </p:nvSpPr>
        <p:spPr>
          <a:xfrm>
            <a:off x="557213" y="320675"/>
            <a:ext cx="7500937"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§2-4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分辨率测试技术</a:t>
            </a:r>
            <a:r>
              <a:rPr lang="zh-CN" altLang="en-US" b="1" dirty="0" smtClean="0">
                <a:solidFill>
                  <a:schemeClr val="tx1"/>
                </a:solidFill>
                <a:effectLst>
                  <a:outerShdw blurRad="38100" dist="38100" dir="2700000" algn="tl">
                    <a:srgbClr val="C0C0C0"/>
                  </a:outerShdw>
                </a:effectLst>
                <a:latin typeface="Times New Roman" pitchFamily="18" charset="0"/>
                <a:ea typeface="黑体" pitchFamily="2" charset="-122"/>
              </a:rPr>
              <a:t>            </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分辨率测试方法</a:t>
            </a:r>
          </a:p>
        </p:txBody>
      </p:sp>
      <p:sp>
        <p:nvSpPr>
          <p:cNvPr id="37893" name="日期占位符 3"/>
          <p:cNvSpPr>
            <a:spLocks noGrp="1"/>
          </p:cNvSpPr>
          <p:nvPr>
            <p:ph type="dt" sz="quarter" idx="10"/>
          </p:nvPr>
        </p:nvSpPr>
        <p:spPr>
          <a:noFill/>
        </p:spPr>
        <p:txBody>
          <a:bodyPr/>
          <a:lstStyle/>
          <a:p>
            <a:fld id="{1EA1BA46-0386-4E8C-AF39-1CBD374F4DFC}" type="datetime1">
              <a:rPr lang="zh-CN" altLang="en-US" smtClean="0"/>
              <a:pPr/>
              <a:t>2018/2/24</a:t>
            </a:fld>
            <a:endParaRPr lang="en-US" altLang="zh-CN" smtClean="0"/>
          </a:p>
        </p:txBody>
      </p:sp>
      <p:sp>
        <p:nvSpPr>
          <p:cNvPr id="37894" name="灯片编号占位符 5"/>
          <p:cNvSpPr>
            <a:spLocks noGrp="1"/>
          </p:cNvSpPr>
          <p:nvPr>
            <p:ph type="sldNum" sz="quarter" idx="12"/>
          </p:nvPr>
        </p:nvSpPr>
        <p:spPr>
          <a:noFill/>
        </p:spPr>
        <p:txBody>
          <a:bodyPr/>
          <a:lstStyle/>
          <a:p>
            <a:fld id="{FF0DEC6A-9E50-404F-A73B-87A04D1CC0AE}" type="slidenum">
              <a:rPr lang="en-US" altLang="zh-CN" smtClean="0"/>
              <a:pPr/>
              <a:t>59</a:t>
            </a:fld>
            <a:endParaRPr lang="en-US" altLang="zh-CN" smtClean="0"/>
          </a:p>
        </p:txBody>
      </p:sp>
      <p:sp>
        <p:nvSpPr>
          <p:cNvPr id="609283" name="Rectangle 3"/>
          <p:cNvSpPr>
            <a:spLocks noGrp="1" noRot="1" noChangeArrowheads="1"/>
          </p:cNvSpPr>
          <p:nvPr>
            <p:ph type="body" idx="1"/>
          </p:nvPr>
        </p:nvSpPr>
        <p:spPr>
          <a:xfrm>
            <a:off x="228600" y="1917700"/>
            <a:ext cx="8472488" cy="4319588"/>
          </a:xfrm>
        </p:spPr>
        <p:txBody>
          <a:bodyPr/>
          <a:lstStyle/>
          <a:p>
            <a:pPr marL="271463" indent="-271463" eaLnBrk="1" hangingPunct="1">
              <a:lnSpc>
                <a:spcPct val="110000"/>
              </a:lnSpc>
              <a:defRPr/>
            </a:pPr>
            <a:r>
              <a:rPr lang="en-US" altLang="zh-CN" smtClean="0">
                <a:latin typeface="Times New Roman" pitchFamily="18" charset="0"/>
                <a:ea typeface="黑体" pitchFamily="2" charset="-122"/>
              </a:rPr>
              <a:t>2.3 </a:t>
            </a:r>
            <a:r>
              <a:rPr lang="zh-CN" altLang="en-US" smtClean="0">
                <a:latin typeface="Times New Roman" pitchFamily="18" charset="0"/>
                <a:ea typeface="黑体" pitchFamily="2" charset="-122"/>
              </a:rPr>
              <a:t>照相物镜目视分辨率测量</a:t>
            </a:r>
          </a:p>
          <a:p>
            <a:pPr marL="271463" indent="-271463" eaLnBrk="1" hangingPunct="1">
              <a:lnSpc>
                <a:spcPct val="110000"/>
              </a:lnSpc>
              <a:defRPr/>
            </a:pPr>
            <a:r>
              <a:rPr lang="zh-CN" altLang="en-US" smtClean="0">
                <a:latin typeface="Times New Roman" pitchFamily="18" charset="0"/>
                <a:ea typeface="黑体" pitchFamily="2" charset="-122"/>
              </a:rPr>
              <a:t>由于分辨率板通过被测物镜后的成像面与其高斯像之间有一倾角</a:t>
            </a:r>
            <a:r>
              <a:rPr lang="en-US" altLang="zh-CN" smtClean="0">
                <a:latin typeface="Times New Roman" pitchFamily="18" charset="0"/>
                <a:ea typeface="黑体" pitchFamily="2" charset="-122"/>
              </a:rPr>
              <a:t>ω</a:t>
            </a:r>
            <a:r>
              <a:rPr lang="zh-CN" altLang="en-US" smtClean="0">
                <a:latin typeface="Times New Roman" pitchFamily="18" charset="0"/>
                <a:ea typeface="黑体" pitchFamily="2" charset="-122"/>
              </a:rPr>
              <a:t>，而且像的大小随视场角的增大而增大（不同视场的放大率不同），所以分辨率板上同一单元对轴上点和轴外点有不同的</a:t>
            </a:r>
            <a:r>
              <a:rPr lang="en-US" altLang="zh-CN" i="1" smtClean="0">
                <a:latin typeface="Times New Roman" pitchFamily="18" charset="0"/>
                <a:ea typeface="黑体" pitchFamily="2" charset="-122"/>
              </a:rPr>
              <a:t>N</a:t>
            </a:r>
            <a:r>
              <a:rPr lang="zh-CN" altLang="en-US" smtClean="0">
                <a:latin typeface="Times New Roman" pitchFamily="18" charset="0"/>
                <a:ea typeface="黑体" pitchFamily="2" charset="-122"/>
              </a:rPr>
              <a:t>值：</a:t>
            </a:r>
          </a:p>
        </p:txBody>
      </p:sp>
      <p:sp>
        <p:nvSpPr>
          <p:cNvPr id="37897"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37898"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37899"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7900"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7901"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7902"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3"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4"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5"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6"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7"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8"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09"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0"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1"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2"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3"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4"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5"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6"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7"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8"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19" name="Rectangle 2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37920"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7921" name="Rectangle 2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37922" name="Rectangle 2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7923" name="Rectangle 30"/>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9311" name="Object 31"/>
          <p:cNvGraphicFramePr>
            <a:graphicFrameLocks noChangeAspect="1"/>
          </p:cNvGraphicFramePr>
          <p:nvPr/>
        </p:nvGraphicFramePr>
        <p:xfrm>
          <a:off x="4962525" y="4248150"/>
          <a:ext cx="3906838" cy="762000"/>
        </p:xfrm>
        <a:graphic>
          <a:graphicData uri="http://schemas.openxmlformats.org/presentationml/2006/ole">
            <p:oleObj spid="_x0000_s37890" name="公式" r:id="rId3" imgW="55169117" imgH="10668317" progId="Equation.3">
              <p:embed/>
            </p:oleObj>
          </a:graphicData>
        </a:graphic>
      </p:graphicFrame>
      <p:sp>
        <p:nvSpPr>
          <p:cNvPr id="37924" name="Rectangle 32"/>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9313" name="Object 33"/>
          <p:cNvGraphicFramePr>
            <a:graphicFrameLocks noChangeAspect="1"/>
          </p:cNvGraphicFramePr>
          <p:nvPr/>
        </p:nvGraphicFramePr>
        <p:xfrm>
          <a:off x="2276475" y="5519738"/>
          <a:ext cx="3616325" cy="742950"/>
        </p:xfrm>
        <a:graphic>
          <a:graphicData uri="http://schemas.openxmlformats.org/presentationml/2006/ole">
            <p:oleObj spid="_x0000_s37891" name="公式" r:id="rId4" imgW="49987517" imgH="10363517" progId="Equation.3">
              <p:embed/>
            </p:oleObj>
          </a:graphicData>
        </a:graphic>
      </p:graphicFrame>
      <p:grpSp>
        <p:nvGrpSpPr>
          <p:cNvPr id="2" name="Group 34"/>
          <p:cNvGrpSpPr>
            <a:grpSpLocks/>
          </p:cNvGrpSpPr>
          <p:nvPr/>
        </p:nvGrpSpPr>
        <p:grpSpPr bwMode="auto">
          <a:xfrm>
            <a:off x="763588" y="0"/>
            <a:ext cx="7416800" cy="3398838"/>
            <a:chOff x="933" y="283"/>
            <a:chExt cx="4672" cy="2141"/>
          </a:xfrm>
        </p:grpSpPr>
        <p:sp>
          <p:nvSpPr>
            <p:cNvPr id="609315" name="Rectangle 35"/>
            <p:cNvSpPr>
              <a:spLocks noChangeArrowheads="1"/>
            </p:cNvSpPr>
            <p:nvPr/>
          </p:nvSpPr>
          <p:spPr bwMode="auto">
            <a:xfrm>
              <a:off x="933" y="283"/>
              <a:ext cx="4562" cy="2141"/>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zh-CN" altLang="zh-CN" b="1">
                <a:effectLst>
                  <a:outerShdw blurRad="38100" dist="38100" dir="2700000" algn="tl">
                    <a:srgbClr val="FFFFFF"/>
                  </a:outerShdw>
                </a:effectLst>
              </a:endParaRPr>
            </a:p>
          </p:txBody>
        </p:sp>
        <p:sp>
          <p:nvSpPr>
            <p:cNvPr id="609316" name="Text Box 36"/>
            <p:cNvSpPr txBox="1">
              <a:spLocks noChangeArrowheads="1"/>
            </p:cNvSpPr>
            <p:nvPr/>
          </p:nvSpPr>
          <p:spPr bwMode="auto">
            <a:xfrm>
              <a:off x="4586" y="601"/>
              <a:ext cx="1019" cy="409"/>
            </a:xfrm>
            <a:prstGeom prst="rect">
              <a:avLst/>
            </a:prstGeom>
            <a:noFill/>
            <a:ln w="9525">
              <a:noFill/>
              <a:miter lim="800000"/>
              <a:headEnd/>
              <a:tailEnd/>
            </a:ln>
            <a:effectLst/>
          </p:spPr>
          <p:txBody>
            <a:bodyPr/>
            <a:lstStyle/>
            <a:p>
              <a:pPr algn="just">
                <a:defRPr/>
              </a:pPr>
              <a:r>
                <a:rPr lang="en-US" altLang="zh-CN" b="1">
                  <a:effectLst>
                    <a:outerShdw blurRad="38100" dist="38100" dir="2700000" algn="tl">
                      <a:srgbClr val="C0C0C0"/>
                    </a:outerShdw>
                  </a:effectLst>
                  <a:latin typeface="Times New Roman" pitchFamily="18" charset="0"/>
                </a:rPr>
                <a:t>2</a:t>
              </a:r>
              <a:r>
                <a:rPr lang="en-US" altLang="zh-CN" b="1" i="1">
                  <a:effectLst>
                    <a:outerShdw blurRad="38100" dist="38100" dir="2700000" algn="tl">
                      <a:srgbClr val="C0C0C0"/>
                    </a:outerShdw>
                  </a:effectLst>
                  <a:latin typeface="Times New Roman" pitchFamily="18" charset="0"/>
                </a:rPr>
                <a:t>P</a:t>
              </a:r>
              <a:r>
                <a:rPr lang="en-US" altLang="zh-CN" b="1">
                  <a:effectLst>
                    <a:outerShdw blurRad="38100" dist="38100" dir="2700000" algn="tl">
                      <a:srgbClr val="C0C0C0"/>
                    </a:outerShdw>
                  </a:effectLst>
                  <a:latin typeface="宋体" pitchFamily="2" charset="-122"/>
                </a:rPr>
                <a:t>′=</a:t>
              </a:r>
              <a:r>
                <a:rPr lang="en-US" altLang="zh-CN" b="1" i="1">
                  <a:effectLst>
                    <a:outerShdw blurRad="38100" dist="38100" dir="2700000" algn="tl">
                      <a:srgbClr val="C0C0C0"/>
                    </a:outerShdw>
                  </a:effectLst>
                  <a:latin typeface="宋体" pitchFamily="2" charset="-122"/>
                </a:rPr>
                <a:t>α</a:t>
              </a:r>
              <a:r>
                <a:rPr lang="en-US" altLang="zh-CN" b="1" i="1">
                  <a:effectLst>
                    <a:outerShdw blurRad="38100" dist="38100" dir="2700000" algn="tl">
                      <a:srgbClr val="C0C0C0"/>
                    </a:outerShdw>
                  </a:effectLst>
                  <a:latin typeface="Times New Roman" pitchFamily="18" charset="0"/>
                </a:rPr>
                <a:t>f</a:t>
              </a:r>
              <a:r>
                <a:rPr lang="en-US" altLang="zh-CN" b="1">
                  <a:effectLst>
                    <a:outerShdw blurRad="38100" dist="38100" dir="2700000" algn="tl">
                      <a:srgbClr val="C0C0C0"/>
                    </a:outerShdw>
                  </a:effectLst>
                  <a:latin typeface="宋体" pitchFamily="2" charset="-122"/>
                </a:rPr>
                <a:t>′</a:t>
              </a:r>
              <a:endParaRPr lang="en-US" altLang="zh-CN" b="1">
                <a:effectLst>
                  <a:outerShdw blurRad="38100" dist="38100" dir="2700000" algn="tl">
                    <a:srgbClr val="C0C0C0"/>
                  </a:outerShdw>
                </a:effectLst>
              </a:endParaRPr>
            </a:p>
          </p:txBody>
        </p:sp>
        <p:sp>
          <p:nvSpPr>
            <p:cNvPr id="609317" name="Text Box 37"/>
            <p:cNvSpPr txBox="1">
              <a:spLocks noChangeArrowheads="1"/>
            </p:cNvSpPr>
            <p:nvPr/>
          </p:nvSpPr>
          <p:spPr bwMode="auto">
            <a:xfrm>
              <a:off x="1062" y="2028"/>
              <a:ext cx="4025" cy="359"/>
            </a:xfrm>
            <a:prstGeom prst="rect">
              <a:avLst/>
            </a:prstGeom>
            <a:noFill/>
            <a:ln w="9525">
              <a:noFill/>
              <a:miter lim="800000"/>
              <a:headEnd/>
              <a:tailEnd/>
            </a:ln>
            <a:effectLst/>
          </p:spPr>
          <p:txBody>
            <a:bodyPr/>
            <a:lstStyle/>
            <a:p>
              <a:pPr algn="ctr">
                <a:defRPr/>
              </a:pPr>
              <a:r>
                <a:rPr lang="zh-CN" altLang="en-US" b="1">
                  <a:effectLst>
                    <a:outerShdw blurRad="38100" dist="38100" dir="2700000" algn="tl">
                      <a:srgbClr val="C0C0C0"/>
                    </a:outerShdw>
                  </a:effectLst>
                  <a:latin typeface="黑体" pitchFamily="2" charset="-122"/>
                  <a:ea typeface="黑体" pitchFamily="2" charset="-122"/>
                </a:rPr>
                <a:t>子午面内物面上的线宽</a:t>
              </a:r>
              <a:r>
                <a:rPr lang="en-US" altLang="zh-CN" b="1" i="1">
                  <a:effectLst>
                    <a:outerShdw blurRad="38100" dist="38100" dir="2700000" algn="tl">
                      <a:srgbClr val="C0C0C0"/>
                    </a:outerShdw>
                  </a:effectLst>
                  <a:latin typeface="黑体" pitchFamily="2" charset="-122"/>
                  <a:ea typeface="黑体" pitchFamily="2" charset="-122"/>
                </a:rPr>
                <a:t>P</a:t>
              </a:r>
              <a:r>
                <a:rPr lang="en-US" altLang="zh-CN" b="1" baseline="-25000">
                  <a:effectLst>
                    <a:outerShdw blurRad="38100" dist="38100" dir="2700000" algn="tl">
                      <a:srgbClr val="C0C0C0"/>
                    </a:outerShdw>
                  </a:effectLst>
                  <a:latin typeface="黑体" pitchFamily="2" charset="-122"/>
                  <a:ea typeface="黑体" pitchFamily="2" charset="-122"/>
                </a:rPr>
                <a:t>t</a:t>
              </a:r>
              <a:r>
                <a:rPr lang="zh-CN" altLang="en-US" b="1">
                  <a:effectLst>
                    <a:outerShdw blurRad="38100" dist="38100" dir="2700000" algn="tl">
                      <a:srgbClr val="C0C0C0"/>
                    </a:outerShdw>
                  </a:effectLst>
                  <a:latin typeface="黑体" pitchFamily="2" charset="-122"/>
                  <a:ea typeface="黑体" pitchFamily="2" charset="-122"/>
                </a:rPr>
                <a:t>与像面上对应的线宽</a:t>
              </a:r>
              <a:r>
                <a:rPr lang="en-US" altLang="zh-CN" b="1" i="1">
                  <a:effectLst>
                    <a:outerShdw blurRad="38100" dist="38100" dir="2700000" algn="tl">
                      <a:srgbClr val="C0C0C0"/>
                    </a:outerShdw>
                  </a:effectLst>
                  <a:latin typeface="黑体" pitchFamily="2" charset="-122"/>
                  <a:ea typeface="黑体" pitchFamily="2" charset="-122"/>
                </a:rPr>
                <a:t>P</a:t>
              </a:r>
              <a:r>
                <a:rPr lang="en-US" altLang="zh-CN" b="1" baseline="-25000">
                  <a:effectLst>
                    <a:outerShdw blurRad="38100" dist="38100" dir="2700000" algn="tl">
                      <a:srgbClr val="C0C0C0"/>
                    </a:outerShdw>
                  </a:effectLst>
                  <a:latin typeface="黑体" pitchFamily="2" charset="-122"/>
                  <a:ea typeface="黑体" pitchFamily="2" charset="-122"/>
                </a:rPr>
                <a:t>t</a:t>
              </a:r>
              <a:r>
                <a:rPr lang="en-US" altLang="zh-CN" b="1">
                  <a:effectLst>
                    <a:outerShdw blurRad="38100" dist="38100" dir="2700000" algn="tl">
                      <a:srgbClr val="C0C0C0"/>
                    </a:outerShdw>
                  </a:effectLst>
                  <a:latin typeface="宋体" pitchFamily="2" charset="-122"/>
                </a:rPr>
                <a:t>′</a:t>
              </a:r>
              <a:r>
                <a:rPr lang="zh-CN" altLang="en-US" b="1">
                  <a:effectLst>
                    <a:outerShdw blurRad="38100" dist="38100" dir="2700000" algn="tl">
                      <a:srgbClr val="C0C0C0"/>
                    </a:outerShdw>
                  </a:effectLst>
                  <a:latin typeface="宋体" pitchFamily="2" charset="-122"/>
                  <a:ea typeface="黑体" pitchFamily="2" charset="-122"/>
                </a:rPr>
                <a:t>的关系</a:t>
              </a:r>
              <a:endParaRPr lang="zh-CN" altLang="en-US" b="1">
                <a:effectLst>
                  <a:outerShdw blurRad="38100" dist="38100" dir="2700000" algn="tl">
                    <a:srgbClr val="C0C0C0"/>
                  </a:outerShdw>
                </a:effectLst>
              </a:endParaRPr>
            </a:p>
          </p:txBody>
        </p:sp>
        <p:sp>
          <p:nvSpPr>
            <p:cNvPr id="37931" name="Line 38"/>
            <p:cNvSpPr>
              <a:spLocks noChangeShapeType="1"/>
            </p:cNvSpPr>
            <p:nvPr/>
          </p:nvSpPr>
          <p:spPr bwMode="auto">
            <a:xfrm>
              <a:off x="1040" y="1350"/>
              <a:ext cx="4240" cy="0"/>
            </a:xfrm>
            <a:prstGeom prst="line">
              <a:avLst/>
            </a:prstGeom>
            <a:noFill/>
            <a:ln w="6350">
              <a:solidFill>
                <a:srgbClr val="000000"/>
              </a:solidFill>
              <a:prstDash val="lgDashDot"/>
              <a:round/>
              <a:headEnd/>
              <a:tailEnd/>
            </a:ln>
          </p:spPr>
          <p:txBody>
            <a:bodyPr/>
            <a:lstStyle/>
            <a:p>
              <a:endParaRPr lang="zh-CN" altLang="en-US"/>
            </a:p>
          </p:txBody>
        </p:sp>
        <p:grpSp>
          <p:nvGrpSpPr>
            <p:cNvPr id="37932" name="Group 39"/>
            <p:cNvGrpSpPr>
              <a:grpSpLocks/>
            </p:cNvGrpSpPr>
            <p:nvPr/>
          </p:nvGrpSpPr>
          <p:grpSpPr bwMode="auto">
            <a:xfrm>
              <a:off x="2318" y="1005"/>
              <a:ext cx="302" cy="743"/>
              <a:chOff x="4185" y="14055"/>
              <a:chExt cx="420" cy="1035"/>
            </a:xfrm>
          </p:grpSpPr>
          <p:sp>
            <p:nvSpPr>
              <p:cNvPr id="37978" name="Oval 40"/>
              <p:cNvSpPr>
                <a:spLocks noChangeArrowheads="1"/>
              </p:cNvSpPr>
              <p:nvPr/>
            </p:nvSpPr>
            <p:spPr bwMode="auto">
              <a:xfrm>
                <a:off x="4185" y="14115"/>
                <a:ext cx="420" cy="840"/>
              </a:xfrm>
              <a:prstGeom prst="ellipse">
                <a:avLst/>
              </a:prstGeom>
              <a:solidFill>
                <a:schemeClr val="accent1"/>
              </a:solidFill>
              <a:ln w="9525">
                <a:solidFill>
                  <a:srgbClr val="000000"/>
                </a:solidFill>
                <a:round/>
                <a:headEnd/>
                <a:tailEnd/>
              </a:ln>
            </p:spPr>
            <p:txBody>
              <a:bodyPr/>
              <a:lstStyle/>
              <a:p>
                <a:endParaRPr lang="zh-CN" altLang="en-US"/>
              </a:p>
            </p:txBody>
          </p:sp>
          <p:sp>
            <p:nvSpPr>
              <p:cNvPr id="37979" name="Rectangle 41"/>
              <p:cNvSpPr>
                <a:spLocks noChangeArrowheads="1"/>
              </p:cNvSpPr>
              <p:nvPr/>
            </p:nvSpPr>
            <p:spPr bwMode="auto">
              <a:xfrm>
                <a:off x="4290" y="14055"/>
                <a:ext cx="240" cy="1035"/>
              </a:xfrm>
              <a:prstGeom prst="rect">
                <a:avLst/>
              </a:prstGeom>
              <a:solidFill>
                <a:schemeClr val="accent1"/>
              </a:solidFill>
              <a:ln w="9525">
                <a:noFill/>
                <a:miter lim="800000"/>
                <a:headEnd/>
                <a:tailEnd/>
              </a:ln>
            </p:spPr>
            <p:txBody>
              <a:bodyPr/>
              <a:lstStyle/>
              <a:p>
                <a:endParaRPr lang="zh-CN" altLang="en-US"/>
              </a:p>
            </p:txBody>
          </p:sp>
        </p:grpSp>
        <p:grpSp>
          <p:nvGrpSpPr>
            <p:cNvPr id="37933" name="Group 42"/>
            <p:cNvGrpSpPr>
              <a:grpSpLocks/>
            </p:cNvGrpSpPr>
            <p:nvPr/>
          </p:nvGrpSpPr>
          <p:grpSpPr bwMode="auto">
            <a:xfrm rot="-1312716">
              <a:off x="2889" y="1048"/>
              <a:ext cx="302" cy="743"/>
              <a:chOff x="4185" y="14055"/>
              <a:chExt cx="420" cy="1035"/>
            </a:xfrm>
          </p:grpSpPr>
          <p:sp>
            <p:nvSpPr>
              <p:cNvPr id="37976" name="Oval 43"/>
              <p:cNvSpPr>
                <a:spLocks noChangeArrowheads="1"/>
              </p:cNvSpPr>
              <p:nvPr/>
            </p:nvSpPr>
            <p:spPr bwMode="auto">
              <a:xfrm>
                <a:off x="4185" y="14115"/>
                <a:ext cx="420" cy="840"/>
              </a:xfrm>
              <a:prstGeom prst="ellipse">
                <a:avLst/>
              </a:prstGeom>
              <a:solidFill>
                <a:schemeClr val="accent1"/>
              </a:solidFill>
              <a:ln w="9525">
                <a:solidFill>
                  <a:srgbClr val="000000"/>
                </a:solidFill>
                <a:round/>
                <a:headEnd/>
                <a:tailEnd/>
              </a:ln>
            </p:spPr>
            <p:txBody>
              <a:bodyPr/>
              <a:lstStyle/>
              <a:p>
                <a:endParaRPr lang="zh-CN" altLang="en-US"/>
              </a:p>
            </p:txBody>
          </p:sp>
          <p:sp>
            <p:nvSpPr>
              <p:cNvPr id="37977" name="Rectangle 44"/>
              <p:cNvSpPr>
                <a:spLocks noChangeArrowheads="1"/>
              </p:cNvSpPr>
              <p:nvPr/>
            </p:nvSpPr>
            <p:spPr bwMode="auto">
              <a:xfrm>
                <a:off x="4290" y="14055"/>
                <a:ext cx="240" cy="1035"/>
              </a:xfrm>
              <a:prstGeom prst="rect">
                <a:avLst/>
              </a:prstGeom>
              <a:solidFill>
                <a:schemeClr val="accent1"/>
              </a:solidFill>
              <a:ln w="9525">
                <a:noFill/>
                <a:miter lim="800000"/>
                <a:headEnd/>
                <a:tailEnd/>
              </a:ln>
            </p:spPr>
            <p:txBody>
              <a:bodyPr/>
              <a:lstStyle/>
              <a:p>
                <a:endParaRPr lang="zh-CN" altLang="en-US"/>
              </a:p>
            </p:txBody>
          </p:sp>
        </p:grpSp>
        <p:sp>
          <p:nvSpPr>
            <p:cNvPr id="37934" name="Line 45"/>
            <p:cNvSpPr>
              <a:spLocks noChangeShapeType="1"/>
            </p:cNvSpPr>
            <p:nvPr/>
          </p:nvSpPr>
          <p:spPr bwMode="auto">
            <a:xfrm flipV="1">
              <a:off x="3137" y="650"/>
              <a:ext cx="1518" cy="710"/>
            </a:xfrm>
            <a:prstGeom prst="line">
              <a:avLst/>
            </a:prstGeom>
            <a:noFill/>
            <a:ln w="6350">
              <a:solidFill>
                <a:srgbClr val="000000"/>
              </a:solidFill>
              <a:prstDash val="lgDashDot"/>
              <a:round/>
              <a:headEnd/>
              <a:tailEnd/>
            </a:ln>
          </p:spPr>
          <p:txBody>
            <a:bodyPr/>
            <a:lstStyle/>
            <a:p>
              <a:endParaRPr lang="zh-CN" altLang="en-US"/>
            </a:p>
          </p:txBody>
        </p:sp>
        <p:sp>
          <p:nvSpPr>
            <p:cNvPr id="37935" name="Line 46"/>
            <p:cNvSpPr>
              <a:spLocks noChangeShapeType="1"/>
            </p:cNvSpPr>
            <p:nvPr/>
          </p:nvSpPr>
          <p:spPr bwMode="auto">
            <a:xfrm>
              <a:off x="1381" y="1263"/>
              <a:ext cx="0" cy="173"/>
            </a:xfrm>
            <a:prstGeom prst="line">
              <a:avLst/>
            </a:prstGeom>
            <a:noFill/>
            <a:ln w="19050">
              <a:solidFill>
                <a:srgbClr val="000000"/>
              </a:solidFill>
              <a:round/>
              <a:headEnd/>
              <a:tailEnd/>
            </a:ln>
          </p:spPr>
          <p:txBody>
            <a:bodyPr/>
            <a:lstStyle/>
            <a:p>
              <a:endParaRPr lang="zh-CN" altLang="en-US"/>
            </a:p>
          </p:txBody>
        </p:sp>
        <p:sp>
          <p:nvSpPr>
            <p:cNvPr id="37936" name="Line 47"/>
            <p:cNvSpPr>
              <a:spLocks noChangeShapeType="1"/>
            </p:cNvSpPr>
            <p:nvPr/>
          </p:nvSpPr>
          <p:spPr bwMode="auto">
            <a:xfrm>
              <a:off x="1381" y="1263"/>
              <a:ext cx="948" cy="87"/>
            </a:xfrm>
            <a:prstGeom prst="line">
              <a:avLst/>
            </a:prstGeom>
            <a:noFill/>
            <a:ln w="9525">
              <a:solidFill>
                <a:srgbClr val="000000"/>
              </a:solidFill>
              <a:round/>
              <a:headEnd/>
              <a:tailEnd/>
            </a:ln>
          </p:spPr>
          <p:txBody>
            <a:bodyPr/>
            <a:lstStyle/>
            <a:p>
              <a:endParaRPr lang="zh-CN" altLang="en-US"/>
            </a:p>
          </p:txBody>
        </p:sp>
        <p:sp>
          <p:nvSpPr>
            <p:cNvPr id="37937" name="Line 48"/>
            <p:cNvSpPr>
              <a:spLocks noChangeShapeType="1"/>
            </p:cNvSpPr>
            <p:nvPr/>
          </p:nvSpPr>
          <p:spPr bwMode="auto">
            <a:xfrm flipV="1">
              <a:off x="1371" y="1350"/>
              <a:ext cx="947" cy="75"/>
            </a:xfrm>
            <a:prstGeom prst="line">
              <a:avLst/>
            </a:prstGeom>
            <a:noFill/>
            <a:ln w="9525">
              <a:solidFill>
                <a:srgbClr val="000000"/>
              </a:solidFill>
              <a:round/>
              <a:headEnd/>
              <a:tailEnd/>
            </a:ln>
          </p:spPr>
          <p:txBody>
            <a:bodyPr/>
            <a:lstStyle/>
            <a:p>
              <a:endParaRPr lang="zh-CN" altLang="en-US"/>
            </a:p>
          </p:txBody>
        </p:sp>
        <p:sp>
          <p:nvSpPr>
            <p:cNvPr id="37938" name="Line 49"/>
            <p:cNvSpPr>
              <a:spLocks noChangeShapeType="1"/>
            </p:cNvSpPr>
            <p:nvPr/>
          </p:nvSpPr>
          <p:spPr bwMode="auto">
            <a:xfrm>
              <a:off x="4300" y="445"/>
              <a:ext cx="560" cy="1152"/>
            </a:xfrm>
            <a:prstGeom prst="line">
              <a:avLst/>
            </a:prstGeom>
            <a:noFill/>
            <a:ln w="6350">
              <a:solidFill>
                <a:srgbClr val="000000"/>
              </a:solidFill>
              <a:round/>
              <a:headEnd/>
              <a:tailEnd/>
            </a:ln>
          </p:spPr>
          <p:txBody>
            <a:bodyPr/>
            <a:lstStyle/>
            <a:p>
              <a:endParaRPr lang="zh-CN" altLang="en-US"/>
            </a:p>
          </p:txBody>
        </p:sp>
        <p:sp>
          <p:nvSpPr>
            <p:cNvPr id="37939" name="Line 50"/>
            <p:cNvSpPr>
              <a:spLocks noChangeShapeType="1"/>
            </p:cNvSpPr>
            <p:nvPr/>
          </p:nvSpPr>
          <p:spPr bwMode="auto">
            <a:xfrm>
              <a:off x="4408" y="660"/>
              <a:ext cx="86" cy="151"/>
            </a:xfrm>
            <a:prstGeom prst="line">
              <a:avLst/>
            </a:prstGeom>
            <a:noFill/>
            <a:ln w="38100">
              <a:solidFill>
                <a:srgbClr val="FF0000"/>
              </a:solidFill>
              <a:round/>
              <a:headEnd/>
              <a:tailEnd/>
            </a:ln>
          </p:spPr>
          <p:txBody>
            <a:bodyPr/>
            <a:lstStyle/>
            <a:p>
              <a:endParaRPr lang="zh-CN" altLang="en-US"/>
            </a:p>
          </p:txBody>
        </p:sp>
        <p:sp>
          <p:nvSpPr>
            <p:cNvPr id="37940" name="Line 51"/>
            <p:cNvSpPr>
              <a:spLocks noChangeShapeType="1"/>
            </p:cNvSpPr>
            <p:nvPr/>
          </p:nvSpPr>
          <p:spPr bwMode="auto">
            <a:xfrm>
              <a:off x="4707" y="1274"/>
              <a:ext cx="86" cy="151"/>
            </a:xfrm>
            <a:prstGeom prst="line">
              <a:avLst/>
            </a:prstGeom>
            <a:noFill/>
            <a:ln w="38100">
              <a:solidFill>
                <a:srgbClr val="FF0000"/>
              </a:solidFill>
              <a:round/>
              <a:headEnd/>
              <a:tailEnd/>
            </a:ln>
          </p:spPr>
          <p:txBody>
            <a:bodyPr/>
            <a:lstStyle/>
            <a:p>
              <a:endParaRPr lang="zh-CN" altLang="en-US"/>
            </a:p>
          </p:txBody>
        </p:sp>
        <p:sp>
          <p:nvSpPr>
            <p:cNvPr id="37941" name="Line 52"/>
            <p:cNvSpPr>
              <a:spLocks noChangeShapeType="1"/>
            </p:cNvSpPr>
            <p:nvPr/>
          </p:nvSpPr>
          <p:spPr bwMode="auto">
            <a:xfrm flipV="1">
              <a:off x="3180" y="1285"/>
              <a:ext cx="1529" cy="65"/>
            </a:xfrm>
            <a:prstGeom prst="line">
              <a:avLst/>
            </a:prstGeom>
            <a:noFill/>
            <a:ln w="9525">
              <a:solidFill>
                <a:srgbClr val="000000"/>
              </a:solidFill>
              <a:round/>
              <a:headEnd/>
              <a:tailEnd/>
            </a:ln>
          </p:spPr>
          <p:txBody>
            <a:bodyPr/>
            <a:lstStyle/>
            <a:p>
              <a:endParaRPr lang="zh-CN" altLang="en-US"/>
            </a:p>
          </p:txBody>
        </p:sp>
        <p:sp>
          <p:nvSpPr>
            <p:cNvPr id="37942" name="Line 53"/>
            <p:cNvSpPr>
              <a:spLocks noChangeShapeType="1"/>
            </p:cNvSpPr>
            <p:nvPr/>
          </p:nvSpPr>
          <p:spPr bwMode="auto">
            <a:xfrm>
              <a:off x="3169" y="1350"/>
              <a:ext cx="1615" cy="75"/>
            </a:xfrm>
            <a:prstGeom prst="line">
              <a:avLst/>
            </a:prstGeom>
            <a:noFill/>
            <a:ln w="9525">
              <a:solidFill>
                <a:srgbClr val="000000"/>
              </a:solidFill>
              <a:round/>
              <a:headEnd/>
              <a:tailEnd/>
            </a:ln>
          </p:spPr>
          <p:txBody>
            <a:bodyPr/>
            <a:lstStyle/>
            <a:p>
              <a:endParaRPr lang="zh-CN" altLang="en-US"/>
            </a:p>
          </p:txBody>
        </p:sp>
        <p:sp>
          <p:nvSpPr>
            <p:cNvPr id="37943" name="Line 54"/>
            <p:cNvSpPr>
              <a:spLocks noChangeShapeType="1"/>
            </p:cNvSpPr>
            <p:nvPr/>
          </p:nvSpPr>
          <p:spPr bwMode="auto">
            <a:xfrm flipV="1">
              <a:off x="3180" y="660"/>
              <a:ext cx="1228" cy="690"/>
            </a:xfrm>
            <a:prstGeom prst="line">
              <a:avLst/>
            </a:prstGeom>
            <a:noFill/>
            <a:ln w="9525">
              <a:solidFill>
                <a:srgbClr val="000000"/>
              </a:solidFill>
              <a:round/>
              <a:headEnd/>
              <a:tailEnd/>
            </a:ln>
          </p:spPr>
          <p:txBody>
            <a:bodyPr/>
            <a:lstStyle/>
            <a:p>
              <a:endParaRPr lang="zh-CN" altLang="en-US"/>
            </a:p>
          </p:txBody>
        </p:sp>
        <p:sp>
          <p:nvSpPr>
            <p:cNvPr id="37944" name="Line 55"/>
            <p:cNvSpPr>
              <a:spLocks noChangeShapeType="1"/>
            </p:cNvSpPr>
            <p:nvPr/>
          </p:nvSpPr>
          <p:spPr bwMode="auto">
            <a:xfrm flipV="1">
              <a:off x="3169" y="822"/>
              <a:ext cx="1325" cy="528"/>
            </a:xfrm>
            <a:prstGeom prst="line">
              <a:avLst/>
            </a:prstGeom>
            <a:noFill/>
            <a:ln w="9525">
              <a:solidFill>
                <a:srgbClr val="000000"/>
              </a:solidFill>
              <a:round/>
              <a:headEnd/>
              <a:tailEnd/>
            </a:ln>
          </p:spPr>
          <p:txBody>
            <a:bodyPr/>
            <a:lstStyle/>
            <a:p>
              <a:endParaRPr lang="zh-CN" altLang="en-US"/>
            </a:p>
          </p:txBody>
        </p:sp>
        <p:sp>
          <p:nvSpPr>
            <p:cNvPr id="609336" name="Text Box 56"/>
            <p:cNvSpPr txBox="1">
              <a:spLocks noChangeArrowheads="1"/>
            </p:cNvSpPr>
            <p:nvPr/>
          </p:nvSpPr>
          <p:spPr bwMode="auto">
            <a:xfrm>
              <a:off x="1001" y="958"/>
              <a:ext cx="488" cy="410"/>
            </a:xfrm>
            <a:prstGeom prst="rect">
              <a:avLst/>
            </a:prstGeom>
            <a:noFill/>
            <a:ln w="9525">
              <a:noFill/>
              <a:miter lim="800000"/>
              <a:headEnd/>
              <a:tailEnd/>
            </a:ln>
            <a:effectLst/>
          </p:spPr>
          <p:txBody>
            <a:bodyPr/>
            <a:lstStyle/>
            <a:p>
              <a:pPr algn="just">
                <a:defRPr/>
              </a:pPr>
              <a:r>
                <a:rPr lang="en-US" altLang="zh-CN" b="1">
                  <a:effectLst>
                    <a:outerShdw blurRad="38100" dist="38100" dir="2700000" algn="tl">
                      <a:srgbClr val="C0C0C0"/>
                    </a:outerShdw>
                  </a:effectLst>
                  <a:latin typeface="Times New Roman" pitchFamily="18" charset="0"/>
                </a:rPr>
                <a:t>2</a:t>
              </a:r>
              <a:r>
                <a:rPr lang="en-US" altLang="zh-CN" b="1" i="1">
                  <a:effectLst>
                    <a:outerShdw blurRad="38100" dist="38100" dir="2700000" algn="tl">
                      <a:srgbClr val="C0C0C0"/>
                    </a:outerShdw>
                  </a:effectLst>
                  <a:latin typeface="Times New Roman" pitchFamily="18" charset="0"/>
                </a:rPr>
                <a:t>P</a:t>
              </a:r>
              <a:r>
                <a:rPr lang="en-US" altLang="zh-CN" b="1" baseline="-25000">
                  <a:effectLst>
                    <a:outerShdw blurRad="38100" dist="38100" dir="2700000" algn="tl">
                      <a:srgbClr val="C0C0C0"/>
                    </a:outerShdw>
                  </a:effectLst>
                  <a:latin typeface="Times New Roman" pitchFamily="18" charset="0"/>
                </a:rPr>
                <a:t>t</a:t>
              </a:r>
              <a:endParaRPr lang="en-US" altLang="zh-CN" b="1">
                <a:effectLst>
                  <a:outerShdw blurRad="38100" dist="38100" dir="2700000" algn="tl">
                    <a:srgbClr val="C0C0C0"/>
                  </a:outerShdw>
                </a:effectLst>
              </a:endParaRPr>
            </a:p>
          </p:txBody>
        </p:sp>
        <p:sp>
          <p:nvSpPr>
            <p:cNvPr id="609337" name="Text Box 57"/>
            <p:cNvSpPr txBox="1">
              <a:spLocks noChangeArrowheads="1"/>
            </p:cNvSpPr>
            <p:nvPr/>
          </p:nvSpPr>
          <p:spPr bwMode="auto">
            <a:xfrm>
              <a:off x="1303" y="973"/>
              <a:ext cx="488" cy="402"/>
            </a:xfrm>
            <a:prstGeom prst="rect">
              <a:avLst/>
            </a:prstGeom>
            <a:noFill/>
            <a:ln w="9525">
              <a:noFill/>
              <a:miter lim="800000"/>
              <a:headEnd/>
              <a:tailEnd/>
            </a:ln>
            <a:effectLst/>
          </p:spPr>
          <p:txBody>
            <a:bodyPr/>
            <a:lstStyle/>
            <a:p>
              <a:pPr algn="just">
                <a:defRPr/>
              </a:pPr>
              <a:r>
                <a:rPr lang="en-US" altLang="zh-CN" b="1" i="1">
                  <a:effectLst>
                    <a:outerShdw blurRad="38100" dist="38100" dir="2700000" algn="tl">
                      <a:srgbClr val="C0C0C0"/>
                    </a:outerShdw>
                  </a:effectLst>
                  <a:latin typeface="Times New Roman" pitchFamily="18" charset="0"/>
                </a:rPr>
                <a:t>A</a:t>
              </a:r>
              <a:r>
                <a:rPr lang="en-US" altLang="zh-CN" b="1" baseline="-25000">
                  <a:effectLst>
                    <a:outerShdw blurRad="38100" dist="38100" dir="2700000" algn="tl">
                      <a:srgbClr val="C0C0C0"/>
                    </a:outerShdw>
                  </a:effectLst>
                  <a:latin typeface="Times New Roman" pitchFamily="18" charset="0"/>
                </a:rPr>
                <a:t>0</a:t>
              </a:r>
              <a:endParaRPr lang="en-US" altLang="zh-CN" b="1">
                <a:effectLst>
                  <a:outerShdw blurRad="38100" dist="38100" dir="2700000" algn="tl">
                    <a:srgbClr val="C0C0C0"/>
                  </a:outerShdw>
                </a:effectLst>
              </a:endParaRPr>
            </a:p>
          </p:txBody>
        </p:sp>
        <p:sp>
          <p:nvSpPr>
            <p:cNvPr id="609338" name="Text Box 58"/>
            <p:cNvSpPr txBox="1">
              <a:spLocks noChangeArrowheads="1"/>
            </p:cNvSpPr>
            <p:nvPr/>
          </p:nvSpPr>
          <p:spPr bwMode="auto">
            <a:xfrm>
              <a:off x="1331" y="1231"/>
              <a:ext cx="488" cy="402"/>
            </a:xfrm>
            <a:prstGeom prst="rect">
              <a:avLst/>
            </a:prstGeom>
            <a:noFill/>
            <a:ln w="9525">
              <a:noFill/>
              <a:miter lim="800000"/>
              <a:headEnd/>
              <a:tailEnd/>
            </a:ln>
            <a:effectLst/>
          </p:spPr>
          <p:txBody>
            <a:bodyPr/>
            <a:lstStyle/>
            <a:p>
              <a:pPr algn="just">
                <a:defRPr/>
              </a:pPr>
              <a:endParaRPr lang="en-US" altLang="zh-CN" b="1" i="1">
                <a:effectLst>
                  <a:outerShdw blurRad="38100" dist="38100" dir="2700000" algn="tl">
                    <a:srgbClr val="C0C0C0"/>
                  </a:outerShdw>
                </a:effectLst>
                <a:latin typeface="Times New Roman" pitchFamily="18" charset="0"/>
              </a:endParaRPr>
            </a:p>
            <a:p>
              <a:pPr algn="just">
                <a:defRPr/>
              </a:pPr>
              <a:r>
                <a:rPr lang="en-US" altLang="zh-CN" b="1" i="1">
                  <a:effectLst>
                    <a:outerShdw blurRad="38100" dist="38100" dir="2700000" algn="tl">
                      <a:srgbClr val="C0C0C0"/>
                    </a:outerShdw>
                  </a:effectLst>
                  <a:latin typeface="Times New Roman" pitchFamily="18" charset="0"/>
                </a:rPr>
                <a:t>B</a:t>
              </a:r>
              <a:r>
                <a:rPr lang="en-US" altLang="zh-CN" b="1" baseline="-25000">
                  <a:effectLst>
                    <a:outerShdw blurRad="38100" dist="38100" dir="2700000" algn="tl">
                      <a:srgbClr val="C0C0C0"/>
                    </a:outerShdw>
                  </a:effectLst>
                  <a:latin typeface="Times New Roman" pitchFamily="18" charset="0"/>
                </a:rPr>
                <a:t>0</a:t>
              </a:r>
              <a:endParaRPr lang="en-US" altLang="zh-CN" b="1">
                <a:effectLst>
                  <a:outerShdw blurRad="38100" dist="38100" dir="2700000" algn="tl">
                    <a:srgbClr val="C0C0C0"/>
                  </a:outerShdw>
                </a:effectLst>
              </a:endParaRPr>
            </a:p>
          </p:txBody>
        </p:sp>
        <p:sp>
          <p:nvSpPr>
            <p:cNvPr id="37948" name="Line 59"/>
            <p:cNvSpPr>
              <a:spLocks noChangeShapeType="1"/>
            </p:cNvSpPr>
            <p:nvPr/>
          </p:nvSpPr>
          <p:spPr bwMode="auto">
            <a:xfrm>
              <a:off x="1377" y="1425"/>
              <a:ext cx="0" cy="495"/>
            </a:xfrm>
            <a:prstGeom prst="line">
              <a:avLst/>
            </a:prstGeom>
            <a:noFill/>
            <a:ln w="6350">
              <a:solidFill>
                <a:srgbClr val="000000"/>
              </a:solidFill>
              <a:round/>
              <a:headEnd/>
              <a:tailEnd/>
            </a:ln>
          </p:spPr>
          <p:txBody>
            <a:bodyPr/>
            <a:lstStyle/>
            <a:p>
              <a:endParaRPr lang="zh-CN" altLang="en-US"/>
            </a:p>
          </p:txBody>
        </p:sp>
        <p:sp>
          <p:nvSpPr>
            <p:cNvPr id="37949" name="Line 60"/>
            <p:cNvSpPr>
              <a:spLocks noChangeShapeType="1"/>
            </p:cNvSpPr>
            <p:nvPr/>
          </p:nvSpPr>
          <p:spPr bwMode="auto">
            <a:xfrm>
              <a:off x="2408" y="1766"/>
              <a:ext cx="0" cy="176"/>
            </a:xfrm>
            <a:prstGeom prst="line">
              <a:avLst/>
            </a:prstGeom>
            <a:noFill/>
            <a:ln w="6350">
              <a:solidFill>
                <a:srgbClr val="000000"/>
              </a:solidFill>
              <a:round/>
              <a:headEnd/>
              <a:tailEnd/>
            </a:ln>
          </p:spPr>
          <p:txBody>
            <a:bodyPr/>
            <a:lstStyle/>
            <a:p>
              <a:endParaRPr lang="zh-CN" altLang="en-US"/>
            </a:p>
          </p:txBody>
        </p:sp>
        <p:sp>
          <p:nvSpPr>
            <p:cNvPr id="37950" name="Line 61"/>
            <p:cNvSpPr>
              <a:spLocks noChangeShapeType="1"/>
            </p:cNvSpPr>
            <p:nvPr/>
          </p:nvSpPr>
          <p:spPr bwMode="auto">
            <a:xfrm>
              <a:off x="1389" y="1805"/>
              <a:ext cx="1019"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609342" name="Text Box 62"/>
            <p:cNvSpPr txBox="1">
              <a:spLocks noChangeArrowheads="1"/>
            </p:cNvSpPr>
            <p:nvPr/>
          </p:nvSpPr>
          <p:spPr bwMode="auto">
            <a:xfrm>
              <a:off x="1773" y="1556"/>
              <a:ext cx="265" cy="402"/>
            </a:xfrm>
            <a:prstGeom prst="rect">
              <a:avLst/>
            </a:prstGeom>
            <a:noFill/>
            <a:ln w="9525">
              <a:noFill/>
              <a:miter lim="800000"/>
              <a:headEnd/>
              <a:tailEnd/>
            </a:ln>
            <a:effectLst/>
          </p:spPr>
          <p:txBody>
            <a:bodyPr lIns="36000" rIns="0"/>
            <a:lstStyle/>
            <a:p>
              <a:pPr algn="just">
                <a:defRPr/>
              </a:pPr>
              <a:r>
                <a:rPr lang="en-US" altLang="zh-CN" b="1">
                  <a:effectLst>
                    <a:outerShdw blurRad="38100" dist="38100" dir="2700000" algn="tl">
                      <a:srgbClr val="C0C0C0"/>
                    </a:outerShdw>
                  </a:effectLst>
                  <a:latin typeface="Times New Roman" pitchFamily="18" charset="0"/>
                </a:rPr>
                <a:t>-</a:t>
              </a:r>
              <a:r>
                <a:rPr lang="en-US" altLang="zh-CN" b="1" i="1">
                  <a:effectLst>
                    <a:outerShdw blurRad="38100" dist="38100" dir="2700000" algn="tl">
                      <a:srgbClr val="C0C0C0"/>
                    </a:outerShdw>
                  </a:effectLst>
                  <a:latin typeface="Times New Roman" pitchFamily="18" charset="0"/>
                </a:rPr>
                <a:t>f</a:t>
              </a:r>
              <a:r>
                <a:rPr lang="en-US" altLang="zh-CN" b="1" baseline="-25000">
                  <a:effectLst>
                    <a:outerShdw blurRad="38100" dist="38100" dir="2700000" algn="tl">
                      <a:srgbClr val="C0C0C0"/>
                    </a:outerShdw>
                  </a:effectLst>
                  <a:latin typeface="Times New Roman" pitchFamily="18" charset="0"/>
                </a:rPr>
                <a:t>c</a:t>
              </a:r>
              <a:endParaRPr lang="en-US" altLang="zh-CN" b="1">
                <a:effectLst>
                  <a:outerShdw blurRad="38100" dist="38100" dir="2700000" algn="tl">
                    <a:srgbClr val="C0C0C0"/>
                  </a:outerShdw>
                </a:effectLst>
              </a:endParaRPr>
            </a:p>
          </p:txBody>
        </p:sp>
        <p:sp>
          <p:nvSpPr>
            <p:cNvPr id="37952" name="Line 63"/>
            <p:cNvSpPr>
              <a:spLocks noChangeShapeType="1"/>
            </p:cNvSpPr>
            <p:nvPr/>
          </p:nvSpPr>
          <p:spPr bwMode="auto">
            <a:xfrm>
              <a:off x="3126" y="1353"/>
              <a:ext cx="0" cy="546"/>
            </a:xfrm>
            <a:prstGeom prst="line">
              <a:avLst/>
            </a:prstGeom>
            <a:noFill/>
            <a:ln w="6350">
              <a:solidFill>
                <a:srgbClr val="000000"/>
              </a:solidFill>
              <a:round/>
              <a:headEnd/>
              <a:tailEnd/>
            </a:ln>
          </p:spPr>
          <p:txBody>
            <a:bodyPr/>
            <a:lstStyle/>
            <a:p>
              <a:endParaRPr lang="zh-CN" altLang="en-US"/>
            </a:p>
          </p:txBody>
        </p:sp>
        <p:sp>
          <p:nvSpPr>
            <p:cNvPr id="37953" name="Line 64"/>
            <p:cNvSpPr>
              <a:spLocks noChangeShapeType="1"/>
            </p:cNvSpPr>
            <p:nvPr/>
          </p:nvSpPr>
          <p:spPr bwMode="auto">
            <a:xfrm>
              <a:off x="4749" y="1346"/>
              <a:ext cx="0" cy="503"/>
            </a:xfrm>
            <a:prstGeom prst="line">
              <a:avLst/>
            </a:prstGeom>
            <a:noFill/>
            <a:ln w="6350">
              <a:solidFill>
                <a:srgbClr val="000000"/>
              </a:solidFill>
              <a:round/>
              <a:headEnd/>
              <a:tailEnd/>
            </a:ln>
          </p:spPr>
          <p:txBody>
            <a:bodyPr/>
            <a:lstStyle/>
            <a:p>
              <a:endParaRPr lang="zh-CN" altLang="en-US"/>
            </a:p>
          </p:txBody>
        </p:sp>
        <p:sp>
          <p:nvSpPr>
            <p:cNvPr id="37954" name="Line 65"/>
            <p:cNvSpPr>
              <a:spLocks noChangeShapeType="1"/>
            </p:cNvSpPr>
            <p:nvPr/>
          </p:nvSpPr>
          <p:spPr bwMode="auto">
            <a:xfrm>
              <a:off x="3126" y="1805"/>
              <a:ext cx="1615" cy="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609346" name="Text Box 66"/>
            <p:cNvSpPr txBox="1">
              <a:spLocks noChangeArrowheads="1"/>
            </p:cNvSpPr>
            <p:nvPr/>
          </p:nvSpPr>
          <p:spPr bwMode="auto">
            <a:xfrm>
              <a:off x="3589" y="1555"/>
              <a:ext cx="821" cy="334"/>
            </a:xfrm>
            <a:prstGeom prst="rect">
              <a:avLst/>
            </a:prstGeom>
            <a:noFill/>
            <a:ln w="9525">
              <a:noFill/>
              <a:miter lim="800000"/>
              <a:headEnd/>
              <a:tailEnd/>
            </a:ln>
            <a:effectLst/>
          </p:spPr>
          <p:txBody>
            <a:bodyPr lIns="36000" rIns="0"/>
            <a:lstStyle/>
            <a:p>
              <a:pPr algn="just">
                <a:defRPr/>
              </a:pPr>
              <a:r>
                <a:rPr lang="en-US" altLang="zh-CN" b="1" i="1">
                  <a:effectLst>
                    <a:outerShdw blurRad="38100" dist="38100" dir="2700000" algn="tl">
                      <a:srgbClr val="C0C0C0"/>
                    </a:outerShdw>
                  </a:effectLst>
                  <a:latin typeface="Times New Roman" pitchFamily="18" charset="0"/>
                </a:rPr>
                <a:t>f</a:t>
              </a:r>
              <a:r>
                <a:rPr lang="en-US" altLang="zh-CN" b="1">
                  <a:effectLst>
                    <a:outerShdw blurRad="38100" dist="38100" dir="2700000" algn="tl">
                      <a:srgbClr val="C0C0C0"/>
                    </a:outerShdw>
                  </a:effectLst>
                  <a:latin typeface="宋体" pitchFamily="2" charset="-122"/>
                </a:rPr>
                <a:t>′/</a:t>
              </a:r>
              <a:r>
                <a:rPr lang="en-US" altLang="zh-CN" b="1">
                  <a:effectLst>
                    <a:outerShdw blurRad="38100" dist="38100" dir="2700000" algn="tl">
                      <a:srgbClr val="C0C0C0"/>
                    </a:outerShdw>
                  </a:effectLst>
                  <a:latin typeface="Times New Roman" pitchFamily="18" charset="0"/>
                </a:rPr>
                <a:t> cos</a:t>
              </a:r>
              <a:r>
                <a:rPr lang="en-US" altLang="zh-CN" b="1" i="1">
                  <a:effectLst>
                    <a:outerShdw blurRad="38100" dist="38100" dir="2700000" algn="tl">
                      <a:srgbClr val="C0C0C0"/>
                    </a:outerShdw>
                  </a:effectLst>
                  <a:latin typeface="宋体" pitchFamily="2" charset="-122"/>
                </a:rPr>
                <a:t>ω</a:t>
              </a:r>
              <a:endParaRPr lang="en-US" altLang="zh-CN" b="1">
                <a:effectLst>
                  <a:outerShdw blurRad="38100" dist="38100" dir="2700000" algn="tl">
                    <a:srgbClr val="C0C0C0"/>
                  </a:outerShdw>
                </a:effectLst>
              </a:endParaRPr>
            </a:p>
          </p:txBody>
        </p:sp>
        <p:sp>
          <p:nvSpPr>
            <p:cNvPr id="37956" name="Line 67"/>
            <p:cNvSpPr>
              <a:spLocks noChangeShapeType="1"/>
            </p:cNvSpPr>
            <p:nvPr/>
          </p:nvSpPr>
          <p:spPr bwMode="auto">
            <a:xfrm flipH="1" flipV="1">
              <a:off x="1173" y="1181"/>
              <a:ext cx="201" cy="151"/>
            </a:xfrm>
            <a:prstGeom prst="line">
              <a:avLst/>
            </a:prstGeom>
            <a:noFill/>
            <a:ln w="6350">
              <a:solidFill>
                <a:srgbClr val="000000"/>
              </a:solidFill>
              <a:round/>
              <a:headEnd/>
              <a:tailEnd/>
            </a:ln>
          </p:spPr>
          <p:txBody>
            <a:bodyPr/>
            <a:lstStyle/>
            <a:p>
              <a:endParaRPr lang="zh-CN" altLang="en-US"/>
            </a:p>
          </p:txBody>
        </p:sp>
        <p:sp>
          <p:nvSpPr>
            <p:cNvPr id="609348" name="Text Box 68"/>
            <p:cNvSpPr txBox="1">
              <a:spLocks noChangeArrowheads="1"/>
            </p:cNvSpPr>
            <p:nvPr/>
          </p:nvSpPr>
          <p:spPr bwMode="auto">
            <a:xfrm>
              <a:off x="4770" y="1066"/>
              <a:ext cx="603" cy="409"/>
            </a:xfrm>
            <a:prstGeom prst="rect">
              <a:avLst/>
            </a:prstGeom>
            <a:noFill/>
            <a:ln w="9525">
              <a:noFill/>
              <a:miter lim="800000"/>
              <a:headEnd/>
              <a:tailEnd/>
            </a:ln>
            <a:effectLst/>
          </p:spPr>
          <p:txBody>
            <a:bodyPr/>
            <a:lstStyle/>
            <a:p>
              <a:pPr algn="just">
                <a:defRPr/>
              </a:pPr>
              <a:r>
                <a:rPr lang="en-US" altLang="zh-CN" b="1">
                  <a:effectLst>
                    <a:outerShdw blurRad="38100" dist="38100" dir="2700000" algn="tl">
                      <a:srgbClr val="C0C0C0"/>
                    </a:outerShdw>
                  </a:effectLst>
                  <a:latin typeface="Times New Roman" pitchFamily="18" charset="0"/>
                </a:rPr>
                <a:t>2</a:t>
              </a:r>
              <a:r>
                <a:rPr lang="en-US" altLang="zh-CN" b="1" i="1">
                  <a:effectLst>
                    <a:outerShdw blurRad="38100" dist="38100" dir="2700000" algn="tl">
                      <a:srgbClr val="C0C0C0"/>
                    </a:outerShdw>
                  </a:effectLst>
                  <a:latin typeface="Times New Roman" pitchFamily="18" charset="0"/>
                </a:rPr>
                <a:t>P</a:t>
              </a:r>
              <a:r>
                <a:rPr lang="en-US" altLang="zh-CN" b="1" baseline="-25000">
                  <a:effectLst>
                    <a:outerShdw blurRad="38100" dist="38100" dir="2700000" algn="tl">
                      <a:srgbClr val="C0C0C0"/>
                    </a:outerShdw>
                  </a:effectLst>
                  <a:latin typeface="Times New Roman" pitchFamily="18" charset="0"/>
                </a:rPr>
                <a:t>t</a:t>
              </a:r>
              <a:r>
                <a:rPr lang="en-US" altLang="zh-CN" b="1">
                  <a:effectLst>
                    <a:outerShdw blurRad="38100" dist="38100" dir="2700000" algn="tl">
                      <a:srgbClr val="C0C0C0"/>
                    </a:outerShdw>
                  </a:effectLst>
                  <a:latin typeface="宋体" pitchFamily="2" charset="-122"/>
                </a:rPr>
                <a:t>′</a:t>
              </a:r>
              <a:endParaRPr lang="en-US" altLang="zh-CN" b="1">
                <a:effectLst>
                  <a:outerShdw blurRad="38100" dist="38100" dir="2700000" algn="tl">
                    <a:srgbClr val="C0C0C0"/>
                  </a:outerShdw>
                </a:effectLst>
              </a:endParaRPr>
            </a:p>
          </p:txBody>
        </p:sp>
        <p:sp>
          <p:nvSpPr>
            <p:cNvPr id="37958" name="Line 69"/>
            <p:cNvSpPr>
              <a:spLocks noChangeShapeType="1"/>
            </p:cNvSpPr>
            <p:nvPr/>
          </p:nvSpPr>
          <p:spPr bwMode="auto">
            <a:xfrm flipV="1">
              <a:off x="4749" y="1253"/>
              <a:ext cx="122" cy="79"/>
            </a:xfrm>
            <a:prstGeom prst="line">
              <a:avLst/>
            </a:prstGeom>
            <a:noFill/>
            <a:ln w="6350">
              <a:solidFill>
                <a:srgbClr val="000000"/>
              </a:solidFill>
              <a:round/>
              <a:headEnd/>
              <a:tailEnd/>
            </a:ln>
          </p:spPr>
          <p:txBody>
            <a:bodyPr/>
            <a:lstStyle/>
            <a:p>
              <a:endParaRPr lang="zh-CN" altLang="en-US"/>
            </a:p>
          </p:txBody>
        </p:sp>
        <p:sp>
          <p:nvSpPr>
            <p:cNvPr id="37959" name="Line 70"/>
            <p:cNvSpPr>
              <a:spLocks noChangeShapeType="1"/>
            </p:cNvSpPr>
            <p:nvPr/>
          </p:nvSpPr>
          <p:spPr bwMode="auto">
            <a:xfrm flipV="1">
              <a:off x="4476" y="750"/>
              <a:ext cx="179" cy="14"/>
            </a:xfrm>
            <a:prstGeom prst="line">
              <a:avLst/>
            </a:prstGeom>
            <a:noFill/>
            <a:ln w="6350">
              <a:solidFill>
                <a:srgbClr val="000000"/>
              </a:solidFill>
              <a:round/>
              <a:headEnd/>
              <a:tailEnd/>
            </a:ln>
          </p:spPr>
          <p:txBody>
            <a:bodyPr/>
            <a:lstStyle/>
            <a:p>
              <a:endParaRPr lang="zh-CN" altLang="en-US"/>
            </a:p>
          </p:txBody>
        </p:sp>
        <p:sp>
          <p:nvSpPr>
            <p:cNvPr id="37960" name="Freeform 71"/>
            <p:cNvSpPr>
              <a:spLocks/>
            </p:cNvSpPr>
            <p:nvPr/>
          </p:nvSpPr>
          <p:spPr bwMode="auto">
            <a:xfrm>
              <a:off x="3720" y="1103"/>
              <a:ext cx="60" cy="232"/>
            </a:xfrm>
            <a:custGeom>
              <a:avLst/>
              <a:gdLst>
                <a:gd name="T0" fmla="*/ 0 w 83"/>
                <a:gd name="T1" fmla="*/ 0 h 323"/>
                <a:gd name="T2" fmla="*/ 24 w 83"/>
                <a:gd name="T3" fmla="*/ 32 h 323"/>
                <a:gd name="T4" fmla="*/ 29 w 83"/>
                <a:gd name="T5" fmla="*/ 65 h 323"/>
                <a:gd name="T6" fmla="*/ 31 w 83"/>
                <a:gd name="T7" fmla="*/ 120 h 323"/>
                <a:gd name="T8" fmla="*/ 0 60000 65536"/>
                <a:gd name="T9" fmla="*/ 0 60000 65536"/>
                <a:gd name="T10" fmla="*/ 0 60000 65536"/>
                <a:gd name="T11" fmla="*/ 0 60000 65536"/>
                <a:gd name="T12" fmla="*/ 0 w 83"/>
                <a:gd name="T13" fmla="*/ 0 h 323"/>
                <a:gd name="T14" fmla="*/ 83 w 83"/>
                <a:gd name="T15" fmla="*/ 323 h 323"/>
              </a:gdLst>
              <a:ahLst/>
              <a:cxnLst>
                <a:cxn ang="T8">
                  <a:pos x="T0" y="T1"/>
                </a:cxn>
                <a:cxn ang="T9">
                  <a:pos x="T2" y="T3"/>
                </a:cxn>
                <a:cxn ang="T10">
                  <a:pos x="T4" y="T5"/>
                </a:cxn>
                <a:cxn ang="T11">
                  <a:pos x="T6" y="T7"/>
                </a:cxn>
              </a:cxnLst>
              <a:rect l="T12" t="T13" r="T14" b="T15"/>
              <a:pathLst>
                <a:path w="83" h="323">
                  <a:moveTo>
                    <a:pt x="0" y="0"/>
                  </a:moveTo>
                  <a:cubicBezTo>
                    <a:pt x="9" y="15"/>
                    <a:pt x="50" y="59"/>
                    <a:pt x="63" y="88"/>
                  </a:cubicBezTo>
                  <a:cubicBezTo>
                    <a:pt x="76" y="117"/>
                    <a:pt x="75" y="135"/>
                    <a:pt x="78" y="174"/>
                  </a:cubicBezTo>
                  <a:cubicBezTo>
                    <a:pt x="81" y="213"/>
                    <a:pt x="82" y="292"/>
                    <a:pt x="83" y="323"/>
                  </a:cubicBezTo>
                </a:path>
              </a:pathLst>
            </a:custGeom>
            <a:noFill/>
            <a:ln w="6350">
              <a:solidFill>
                <a:srgbClr val="000000"/>
              </a:solidFill>
              <a:round/>
              <a:headEnd type="stealth" w="sm" len="sm"/>
              <a:tailEnd type="stealth" w="sm" len="sm"/>
            </a:ln>
          </p:spPr>
          <p:txBody>
            <a:bodyPr/>
            <a:lstStyle/>
            <a:p>
              <a:endParaRPr lang="zh-CN" altLang="en-US"/>
            </a:p>
          </p:txBody>
        </p:sp>
        <p:sp>
          <p:nvSpPr>
            <p:cNvPr id="609352" name="Text Box 72"/>
            <p:cNvSpPr txBox="1">
              <a:spLocks noChangeArrowheads="1"/>
            </p:cNvSpPr>
            <p:nvPr/>
          </p:nvSpPr>
          <p:spPr bwMode="auto">
            <a:xfrm>
              <a:off x="3688" y="1050"/>
              <a:ext cx="488" cy="409"/>
            </a:xfrm>
            <a:prstGeom prst="rect">
              <a:avLst/>
            </a:prstGeom>
            <a:noFill/>
            <a:ln w="9525">
              <a:noFill/>
              <a:miter lim="800000"/>
              <a:headEnd/>
              <a:tailEnd/>
            </a:ln>
            <a:effectLst/>
          </p:spPr>
          <p:txBody>
            <a:bodyPr/>
            <a:lstStyle/>
            <a:p>
              <a:pPr algn="just">
                <a:defRPr/>
              </a:pPr>
              <a:r>
                <a:rPr lang="en-US" altLang="zh-CN" b="1" i="1">
                  <a:effectLst>
                    <a:outerShdw blurRad="38100" dist="38100" dir="2700000" algn="tl">
                      <a:srgbClr val="C0C0C0"/>
                    </a:outerShdw>
                  </a:effectLst>
                  <a:latin typeface="Times New Roman" pitchFamily="18" charset="0"/>
                </a:rPr>
                <a:t>ω</a:t>
              </a:r>
              <a:endParaRPr lang="en-US" altLang="zh-CN" b="1">
                <a:effectLst>
                  <a:outerShdw blurRad="38100" dist="38100" dir="2700000" algn="tl">
                    <a:srgbClr val="C0C0C0"/>
                  </a:outerShdw>
                </a:effectLst>
              </a:endParaRPr>
            </a:p>
          </p:txBody>
        </p:sp>
        <p:sp>
          <p:nvSpPr>
            <p:cNvPr id="37962" name="Freeform 73"/>
            <p:cNvSpPr>
              <a:spLocks/>
            </p:cNvSpPr>
            <p:nvPr/>
          </p:nvSpPr>
          <p:spPr bwMode="auto">
            <a:xfrm>
              <a:off x="1941" y="1317"/>
              <a:ext cx="8" cy="58"/>
            </a:xfrm>
            <a:custGeom>
              <a:avLst/>
              <a:gdLst>
                <a:gd name="T0" fmla="*/ 0 w 10"/>
                <a:gd name="T1" fmla="*/ 0 h 80"/>
                <a:gd name="T2" fmla="*/ 5 w 10"/>
                <a:gd name="T3" fmla="*/ 30 h 80"/>
                <a:gd name="T4" fmla="*/ 0 60000 65536"/>
                <a:gd name="T5" fmla="*/ 0 60000 65536"/>
                <a:gd name="T6" fmla="*/ 0 w 10"/>
                <a:gd name="T7" fmla="*/ 0 h 80"/>
                <a:gd name="T8" fmla="*/ 10 w 10"/>
                <a:gd name="T9" fmla="*/ 80 h 80"/>
              </a:gdLst>
              <a:ahLst/>
              <a:cxnLst>
                <a:cxn ang="T4">
                  <a:pos x="T0" y="T1"/>
                </a:cxn>
                <a:cxn ang="T5">
                  <a:pos x="T2" y="T3"/>
                </a:cxn>
              </a:cxnLst>
              <a:rect l="T6" t="T7" r="T8" b="T9"/>
              <a:pathLst>
                <a:path w="10" h="80">
                  <a:moveTo>
                    <a:pt x="0" y="0"/>
                  </a:moveTo>
                  <a:cubicBezTo>
                    <a:pt x="0" y="0"/>
                    <a:pt x="5" y="40"/>
                    <a:pt x="10" y="80"/>
                  </a:cubicBezTo>
                </a:path>
              </a:pathLst>
            </a:custGeom>
            <a:noFill/>
            <a:ln w="6350">
              <a:solidFill>
                <a:srgbClr val="000000"/>
              </a:solidFill>
              <a:round/>
              <a:headEnd/>
              <a:tailEnd/>
            </a:ln>
          </p:spPr>
          <p:txBody>
            <a:bodyPr/>
            <a:lstStyle/>
            <a:p>
              <a:endParaRPr lang="zh-CN" altLang="en-US"/>
            </a:p>
          </p:txBody>
        </p:sp>
        <p:sp>
          <p:nvSpPr>
            <p:cNvPr id="37963" name="Freeform 74"/>
            <p:cNvSpPr>
              <a:spLocks/>
            </p:cNvSpPr>
            <p:nvPr/>
          </p:nvSpPr>
          <p:spPr bwMode="auto">
            <a:xfrm>
              <a:off x="3808" y="994"/>
              <a:ext cx="65" cy="68"/>
            </a:xfrm>
            <a:custGeom>
              <a:avLst/>
              <a:gdLst>
                <a:gd name="T0" fmla="*/ 0 w 90"/>
                <a:gd name="T1" fmla="*/ 0 h 95"/>
                <a:gd name="T2" fmla="*/ 24 w 90"/>
                <a:gd name="T3" fmla="*/ 11 h 95"/>
                <a:gd name="T4" fmla="*/ 34 w 90"/>
                <a:gd name="T5" fmla="*/ 35 h 95"/>
                <a:gd name="T6" fmla="*/ 0 60000 65536"/>
                <a:gd name="T7" fmla="*/ 0 60000 65536"/>
                <a:gd name="T8" fmla="*/ 0 60000 65536"/>
                <a:gd name="T9" fmla="*/ 0 w 90"/>
                <a:gd name="T10" fmla="*/ 0 h 95"/>
                <a:gd name="T11" fmla="*/ 90 w 90"/>
                <a:gd name="T12" fmla="*/ 95 h 95"/>
              </a:gdLst>
              <a:ahLst/>
              <a:cxnLst>
                <a:cxn ang="T6">
                  <a:pos x="T0" y="T1"/>
                </a:cxn>
                <a:cxn ang="T7">
                  <a:pos x="T2" y="T3"/>
                </a:cxn>
                <a:cxn ang="T8">
                  <a:pos x="T4" y="T5"/>
                </a:cxn>
              </a:cxnLst>
              <a:rect l="T9" t="T10" r="T11" b="T12"/>
              <a:pathLst>
                <a:path w="90" h="95">
                  <a:moveTo>
                    <a:pt x="0" y="0"/>
                  </a:moveTo>
                  <a:cubicBezTo>
                    <a:pt x="11" y="5"/>
                    <a:pt x="48" y="15"/>
                    <a:pt x="63" y="31"/>
                  </a:cubicBezTo>
                  <a:cubicBezTo>
                    <a:pt x="78" y="47"/>
                    <a:pt x="85" y="82"/>
                    <a:pt x="90" y="95"/>
                  </a:cubicBezTo>
                </a:path>
              </a:pathLst>
            </a:custGeom>
            <a:noFill/>
            <a:ln w="6350">
              <a:solidFill>
                <a:srgbClr val="000000"/>
              </a:solidFill>
              <a:round/>
              <a:headEnd/>
              <a:tailEnd/>
            </a:ln>
          </p:spPr>
          <p:txBody>
            <a:bodyPr/>
            <a:lstStyle/>
            <a:p>
              <a:endParaRPr lang="zh-CN" altLang="en-US"/>
            </a:p>
          </p:txBody>
        </p:sp>
        <p:sp>
          <p:nvSpPr>
            <p:cNvPr id="37964" name="Freeform 75"/>
            <p:cNvSpPr>
              <a:spLocks/>
            </p:cNvSpPr>
            <p:nvPr/>
          </p:nvSpPr>
          <p:spPr bwMode="auto">
            <a:xfrm>
              <a:off x="4023" y="1312"/>
              <a:ext cx="18" cy="79"/>
            </a:xfrm>
            <a:custGeom>
              <a:avLst/>
              <a:gdLst>
                <a:gd name="T0" fmla="*/ 0 w 25"/>
                <a:gd name="T1" fmla="*/ 0 h 110"/>
                <a:gd name="T2" fmla="*/ 9 w 25"/>
                <a:gd name="T3" fmla="*/ 20 h 110"/>
                <a:gd name="T4" fmla="*/ 0 w 25"/>
                <a:gd name="T5" fmla="*/ 41 h 110"/>
                <a:gd name="T6" fmla="*/ 0 60000 65536"/>
                <a:gd name="T7" fmla="*/ 0 60000 65536"/>
                <a:gd name="T8" fmla="*/ 0 60000 65536"/>
                <a:gd name="T9" fmla="*/ 0 w 25"/>
                <a:gd name="T10" fmla="*/ 0 h 110"/>
                <a:gd name="T11" fmla="*/ 25 w 25"/>
                <a:gd name="T12" fmla="*/ 110 h 110"/>
              </a:gdLst>
              <a:ahLst/>
              <a:cxnLst>
                <a:cxn ang="T6">
                  <a:pos x="T0" y="T1"/>
                </a:cxn>
                <a:cxn ang="T7">
                  <a:pos x="T2" y="T3"/>
                </a:cxn>
                <a:cxn ang="T8">
                  <a:pos x="T4" y="T5"/>
                </a:cxn>
              </a:cxnLst>
              <a:rect l="T9" t="T10" r="T11" b="T12"/>
              <a:pathLst>
                <a:path w="25" h="110">
                  <a:moveTo>
                    <a:pt x="0" y="0"/>
                  </a:moveTo>
                  <a:cubicBezTo>
                    <a:pt x="4" y="9"/>
                    <a:pt x="25" y="36"/>
                    <a:pt x="25" y="54"/>
                  </a:cubicBezTo>
                  <a:cubicBezTo>
                    <a:pt x="25" y="72"/>
                    <a:pt x="5" y="98"/>
                    <a:pt x="0" y="110"/>
                  </a:cubicBezTo>
                </a:path>
              </a:pathLst>
            </a:custGeom>
            <a:noFill/>
            <a:ln w="6350">
              <a:solidFill>
                <a:srgbClr val="000000"/>
              </a:solidFill>
              <a:round/>
              <a:headEnd/>
              <a:tailEnd/>
            </a:ln>
          </p:spPr>
          <p:txBody>
            <a:bodyPr/>
            <a:lstStyle/>
            <a:p>
              <a:endParaRPr lang="zh-CN" altLang="en-US"/>
            </a:p>
          </p:txBody>
        </p:sp>
        <p:sp>
          <p:nvSpPr>
            <p:cNvPr id="609356" name="Text Box 76"/>
            <p:cNvSpPr txBox="1">
              <a:spLocks noChangeArrowheads="1"/>
            </p:cNvSpPr>
            <p:nvPr/>
          </p:nvSpPr>
          <p:spPr bwMode="auto">
            <a:xfrm>
              <a:off x="3959" y="958"/>
              <a:ext cx="488" cy="410"/>
            </a:xfrm>
            <a:prstGeom prst="rect">
              <a:avLst/>
            </a:prstGeom>
            <a:noFill/>
            <a:ln w="9525">
              <a:noFill/>
              <a:miter lim="800000"/>
              <a:headEnd/>
              <a:tailEnd/>
            </a:ln>
            <a:effectLst/>
          </p:spPr>
          <p:txBody>
            <a:bodyPr/>
            <a:lstStyle/>
            <a:p>
              <a:pPr algn="just">
                <a:defRPr/>
              </a:pPr>
              <a:r>
                <a:rPr lang="en-US" altLang="zh-CN" b="1" i="1">
                  <a:effectLst>
                    <a:outerShdw blurRad="38100" dist="38100" dir="2700000" algn="tl">
                      <a:srgbClr val="C0C0C0"/>
                    </a:outerShdw>
                  </a:effectLst>
                  <a:latin typeface="宋体" pitchFamily="2" charset="-122"/>
                </a:rPr>
                <a:t>α</a:t>
              </a:r>
              <a:endParaRPr lang="en-US" altLang="zh-CN" b="1">
                <a:effectLst>
                  <a:outerShdw blurRad="38100" dist="38100" dir="2700000" algn="tl">
                    <a:srgbClr val="C0C0C0"/>
                  </a:outerShdw>
                </a:effectLst>
              </a:endParaRPr>
            </a:p>
          </p:txBody>
        </p:sp>
        <p:sp>
          <p:nvSpPr>
            <p:cNvPr id="37966" name="Line 77"/>
            <p:cNvSpPr>
              <a:spLocks noChangeShapeType="1"/>
            </p:cNvSpPr>
            <p:nvPr/>
          </p:nvSpPr>
          <p:spPr bwMode="auto">
            <a:xfrm>
              <a:off x="3865" y="1037"/>
              <a:ext cx="202" cy="86"/>
            </a:xfrm>
            <a:prstGeom prst="line">
              <a:avLst/>
            </a:prstGeom>
            <a:noFill/>
            <a:ln w="6350">
              <a:solidFill>
                <a:srgbClr val="000000"/>
              </a:solidFill>
              <a:round/>
              <a:headEnd/>
              <a:tailEnd/>
            </a:ln>
          </p:spPr>
          <p:txBody>
            <a:bodyPr/>
            <a:lstStyle/>
            <a:p>
              <a:endParaRPr lang="zh-CN" altLang="en-US"/>
            </a:p>
          </p:txBody>
        </p:sp>
        <p:sp>
          <p:nvSpPr>
            <p:cNvPr id="37967" name="Line 78"/>
            <p:cNvSpPr>
              <a:spLocks noChangeShapeType="1"/>
            </p:cNvSpPr>
            <p:nvPr/>
          </p:nvSpPr>
          <p:spPr bwMode="auto">
            <a:xfrm flipV="1">
              <a:off x="4045" y="1174"/>
              <a:ext cx="72" cy="158"/>
            </a:xfrm>
            <a:prstGeom prst="line">
              <a:avLst/>
            </a:prstGeom>
            <a:noFill/>
            <a:ln w="6350">
              <a:solidFill>
                <a:srgbClr val="000000"/>
              </a:solidFill>
              <a:round/>
              <a:headEnd/>
              <a:tailEnd/>
            </a:ln>
          </p:spPr>
          <p:txBody>
            <a:bodyPr/>
            <a:lstStyle/>
            <a:p>
              <a:endParaRPr lang="zh-CN" altLang="en-US"/>
            </a:p>
          </p:txBody>
        </p:sp>
        <p:sp>
          <p:nvSpPr>
            <p:cNvPr id="609359" name="Text Box 79"/>
            <p:cNvSpPr txBox="1">
              <a:spLocks noChangeArrowheads="1"/>
            </p:cNvSpPr>
            <p:nvPr/>
          </p:nvSpPr>
          <p:spPr bwMode="auto">
            <a:xfrm>
              <a:off x="1655" y="1049"/>
              <a:ext cx="488" cy="410"/>
            </a:xfrm>
            <a:prstGeom prst="rect">
              <a:avLst/>
            </a:prstGeom>
            <a:noFill/>
            <a:ln w="9525">
              <a:noFill/>
              <a:miter lim="800000"/>
              <a:headEnd/>
              <a:tailEnd/>
            </a:ln>
            <a:effectLst/>
          </p:spPr>
          <p:txBody>
            <a:bodyPr/>
            <a:lstStyle/>
            <a:p>
              <a:pPr algn="just">
                <a:defRPr/>
              </a:pPr>
              <a:r>
                <a:rPr lang="en-US" altLang="zh-CN" b="1" i="1">
                  <a:effectLst>
                    <a:outerShdw blurRad="38100" dist="38100" dir="2700000" algn="tl">
                      <a:srgbClr val="C0C0C0"/>
                    </a:outerShdw>
                  </a:effectLst>
                  <a:latin typeface="宋体" pitchFamily="2" charset="-122"/>
                </a:rPr>
                <a:t>α</a:t>
              </a:r>
              <a:endParaRPr lang="en-US" altLang="zh-CN" b="1">
                <a:effectLst>
                  <a:outerShdw blurRad="38100" dist="38100" dir="2700000" algn="tl">
                    <a:srgbClr val="C0C0C0"/>
                  </a:outerShdw>
                </a:effectLst>
              </a:endParaRPr>
            </a:p>
          </p:txBody>
        </p:sp>
        <p:sp>
          <p:nvSpPr>
            <p:cNvPr id="37969" name="Line 80"/>
            <p:cNvSpPr>
              <a:spLocks noChangeShapeType="1"/>
            </p:cNvSpPr>
            <p:nvPr/>
          </p:nvSpPr>
          <p:spPr bwMode="auto">
            <a:xfrm flipH="1" flipV="1">
              <a:off x="1877" y="1260"/>
              <a:ext cx="64" cy="72"/>
            </a:xfrm>
            <a:prstGeom prst="line">
              <a:avLst/>
            </a:prstGeom>
            <a:noFill/>
            <a:ln w="6350">
              <a:solidFill>
                <a:srgbClr val="000000"/>
              </a:solidFill>
              <a:round/>
              <a:headEnd/>
              <a:tailEnd/>
            </a:ln>
          </p:spPr>
          <p:txBody>
            <a:bodyPr/>
            <a:lstStyle/>
            <a:p>
              <a:endParaRPr lang="zh-CN" altLang="en-US"/>
            </a:p>
          </p:txBody>
        </p:sp>
        <p:sp>
          <p:nvSpPr>
            <p:cNvPr id="37970" name="Line 81"/>
            <p:cNvSpPr>
              <a:spLocks noChangeShapeType="1"/>
            </p:cNvSpPr>
            <p:nvPr/>
          </p:nvSpPr>
          <p:spPr bwMode="auto">
            <a:xfrm>
              <a:off x="2954" y="1028"/>
              <a:ext cx="301" cy="641"/>
            </a:xfrm>
            <a:prstGeom prst="line">
              <a:avLst/>
            </a:prstGeom>
            <a:noFill/>
            <a:ln w="9525">
              <a:solidFill>
                <a:srgbClr val="000000"/>
              </a:solidFill>
              <a:round/>
              <a:headEnd/>
              <a:tailEnd/>
            </a:ln>
          </p:spPr>
          <p:txBody>
            <a:bodyPr/>
            <a:lstStyle/>
            <a:p>
              <a:endParaRPr lang="zh-CN" altLang="en-US"/>
            </a:p>
          </p:txBody>
        </p:sp>
        <p:sp>
          <p:nvSpPr>
            <p:cNvPr id="37971" name="Line 82"/>
            <p:cNvSpPr>
              <a:spLocks noChangeShapeType="1"/>
            </p:cNvSpPr>
            <p:nvPr/>
          </p:nvSpPr>
          <p:spPr bwMode="auto">
            <a:xfrm flipV="1">
              <a:off x="3004" y="506"/>
              <a:ext cx="1321" cy="632"/>
            </a:xfrm>
            <a:prstGeom prst="line">
              <a:avLst/>
            </a:prstGeom>
            <a:noFill/>
            <a:ln w="6350">
              <a:solidFill>
                <a:srgbClr val="000000"/>
              </a:solidFill>
              <a:round/>
              <a:headEnd type="stealth" w="lg" len="lg"/>
              <a:tailEnd type="stealth" w="lg" len="lg"/>
            </a:ln>
          </p:spPr>
          <p:txBody>
            <a:bodyPr/>
            <a:lstStyle/>
            <a:p>
              <a:endParaRPr lang="zh-CN" altLang="en-US"/>
            </a:p>
          </p:txBody>
        </p:sp>
        <p:sp>
          <p:nvSpPr>
            <p:cNvPr id="609363" name="Text Box 83"/>
            <p:cNvSpPr txBox="1">
              <a:spLocks noChangeArrowheads="1"/>
            </p:cNvSpPr>
            <p:nvPr/>
          </p:nvSpPr>
          <p:spPr bwMode="auto">
            <a:xfrm>
              <a:off x="3455" y="602"/>
              <a:ext cx="375" cy="323"/>
            </a:xfrm>
            <a:prstGeom prst="rect">
              <a:avLst/>
            </a:prstGeom>
            <a:noFill/>
            <a:ln w="9525">
              <a:noFill/>
              <a:miter lim="800000"/>
              <a:headEnd/>
              <a:tailEnd/>
            </a:ln>
            <a:effectLst/>
          </p:spPr>
          <p:txBody>
            <a:bodyPr lIns="36000" rIns="0"/>
            <a:lstStyle/>
            <a:p>
              <a:pPr algn="just">
                <a:defRPr/>
              </a:pPr>
              <a:r>
                <a:rPr lang="en-US" altLang="zh-CN" b="1" i="1">
                  <a:effectLst>
                    <a:outerShdw blurRad="38100" dist="38100" dir="2700000" algn="tl">
                      <a:srgbClr val="C0C0C0"/>
                    </a:outerShdw>
                  </a:effectLst>
                  <a:latin typeface="Times New Roman" pitchFamily="18" charset="0"/>
                </a:rPr>
                <a:t>f</a:t>
              </a:r>
              <a:r>
                <a:rPr lang="en-US" altLang="zh-CN" b="1">
                  <a:effectLst>
                    <a:outerShdw blurRad="38100" dist="38100" dir="2700000" algn="tl">
                      <a:srgbClr val="C0C0C0"/>
                    </a:outerShdw>
                  </a:effectLst>
                  <a:latin typeface="宋体" pitchFamily="2" charset="-122"/>
                </a:rPr>
                <a:t>′</a:t>
              </a:r>
              <a:endParaRPr lang="en-US" altLang="zh-CN" b="1">
                <a:effectLst>
                  <a:outerShdw blurRad="38100" dist="38100" dir="2700000" algn="tl">
                    <a:srgbClr val="C0C0C0"/>
                  </a:outerShdw>
                </a:effectLst>
              </a:endParaRPr>
            </a:p>
          </p:txBody>
        </p:sp>
        <p:sp>
          <p:nvSpPr>
            <p:cNvPr id="37973" name="Line 84"/>
            <p:cNvSpPr>
              <a:spLocks noChangeShapeType="1"/>
            </p:cNvSpPr>
            <p:nvPr/>
          </p:nvSpPr>
          <p:spPr bwMode="auto">
            <a:xfrm>
              <a:off x="2825" y="1095"/>
              <a:ext cx="294" cy="632"/>
            </a:xfrm>
            <a:prstGeom prst="line">
              <a:avLst/>
            </a:prstGeom>
            <a:noFill/>
            <a:ln w="9525">
              <a:solidFill>
                <a:srgbClr val="000000"/>
              </a:solidFill>
              <a:round/>
              <a:headEnd/>
              <a:tailEnd/>
            </a:ln>
          </p:spPr>
          <p:txBody>
            <a:bodyPr/>
            <a:lstStyle/>
            <a:p>
              <a:endParaRPr lang="zh-CN" altLang="en-US"/>
            </a:p>
          </p:txBody>
        </p:sp>
        <p:sp>
          <p:nvSpPr>
            <p:cNvPr id="37974" name="Line 85"/>
            <p:cNvSpPr>
              <a:spLocks noChangeShapeType="1"/>
            </p:cNvSpPr>
            <p:nvPr/>
          </p:nvSpPr>
          <p:spPr bwMode="auto">
            <a:xfrm>
              <a:off x="2530" y="1073"/>
              <a:ext cx="0" cy="575"/>
            </a:xfrm>
            <a:prstGeom prst="line">
              <a:avLst/>
            </a:prstGeom>
            <a:noFill/>
            <a:ln w="9525">
              <a:solidFill>
                <a:srgbClr val="000000"/>
              </a:solidFill>
              <a:round/>
              <a:headEnd/>
              <a:tailEnd/>
            </a:ln>
          </p:spPr>
          <p:txBody>
            <a:bodyPr/>
            <a:lstStyle/>
            <a:p>
              <a:endParaRPr lang="zh-CN" altLang="en-US"/>
            </a:p>
          </p:txBody>
        </p:sp>
        <p:sp>
          <p:nvSpPr>
            <p:cNvPr id="37975" name="Line 86"/>
            <p:cNvSpPr>
              <a:spLocks noChangeShapeType="1"/>
            </p:cNvSpPr>
            <p:nvPr/>
          </p:nvSpPr>
          <p:spPr bwMode="auto">
            <a:xfrm>
              <a:off x="2412" y="1079"/>
              <a:ext cx="0" cy="574"/>
            </a:xfrm>
            <a:prstGeom prst="line">
              <a:avLst/>
            </a:prstGeom>
            <a:noFill/>
            <a:ln w="9525">
              <a:solidFill>
                <a:srgbClr val="000000"/>
              </a:solidFill>
              <a:round/>
              <a:headEnd/>
              <a:tailEnd/>
            </a:ln>
          </p:spPr>
          <p:txBody>
            <a:bodyPr/>
            <a:lstStyle/>
            <a:p>
              <a:endParaRPr lang="zh-CN" altLang="en-US"/>
            </a:p>
          </p:txBody>
        </p:sp>
      </p:grpSp>
      <p:sp>
        <p:nvSpPr>
          <p:cNvPr id="37926" name="Rectangle 8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9368" name="Object 88"/>
          <p:cNvGraphicFramePr>
            <a:graphicFrameLocks noChangeAspect="1"/>
          </p:cNvGraphicFramePr>
          <p:nvPr/>
        </p:nvGraphicFramePr>
        <p:xfrm>
          <a:off x="361950" y="4246563"/>
          <a:ext cx="4246563" cy="806450"/>
        </p:xfrm>
        <a:graphic>
          <a:graphicData uri="http://schemas.openxmlformats.org/presentationml/2006/ole">
            <p:oleObj spid="_x0000_s37892" name="公式" r:id="rId5" imgW="54254717" imgH="10363517" progId="Equation.3">
              <p:embed/>
            </p:oleObj>
          </a:graphicData>
        </a:graphic>
      </p:graphicFrame>
      <p:sp>
        <p:nvSpPr>
          <p:cNvPr id="609369" name="AutoShape 89"/>
          <p:cNvSpPr>
            <a:spLocks noChangeArrowheads="1"/>
          </p:cNvSpPr>
          <p:nvPr/>
        </p:nvSpPr>
        <p:spPr bwMode="auto">
          <a:xfrm>
            <a:off x="4645025" y="4368800"/>
            <a:ext cx="274638" cy="668338"/>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09311"/>
                                        </p:tgtEl>
                                        <p:attrNameLst>
                                          <p:attrName>style.visibility</p:attrName>
                                        </p:attrNameLst>
                                      </p:cBhvr>
                                      <p:to>
                                        <p:strVal val="visible"/>
                                      </p:to>
                                    </p:set>
                                    <p:anim calcmode="lin" valueType="num">
                                      <p:cBhvr additive="base">
                                        <p:cTn id="13" dur="500" fill="hold"/>
                                        <p:tgtEl>
                                          <p:spTgt spid="609311"/>
                                        </p:tgtEl>
                                        <p:attrNameLst>
                                          <p:attrName>ppt_x</p:attrName>
                                        </p:attrNameLst>
                                      </p:cBhvr>
                                      <p:tavLst>
                                        <p:tav tm="0">
                                          <p:val>
                                            <p:strVal val="#ppt_x"/>
                                          </p:val>
                                        </p:tav>
                                        <p:tav tm="100000">
                                          <p:val>
                                            <p:strVal val="#ppt_x"/>
                                          </p:val>
                                        </p:tav>
                                      </p:tavLst>
                                    </p:anim>
                                    <p:anim calcmode="lin" valueType="num">
                                      <p:cBhvr additive="base">
                                        <p:cTn id="14" dur="500" fill="hold"/>
                                        <p:tgtEl>
                                          <p:spTgt spid="6093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09368"/>
                                        </p:tgtEl>
                                        <p:attrNameLst>
                                          <p:attrName>style.visibility</p:attrName>
                                        </p:attrNameLst>
                                      </p:cBhvr>
                                      <p:to>
                                        <p:strVal val="visible"/>
                                      </p:to>
                                    </p:set>
                                    <p:anim calcmode="lin" valueType="num">
                                      <p:cBhvr additive="base">
                                        <p:cTn id="17" dur="500" fill="hold"/>
                                        <p:tgtEl>
                                          <p:spTgt spid="609368"/>
                                        </p:tgtEl>
                                        <p:attrNameLst>
                                          <p:attrName>ppt_x</p:attrName>
                                        </p:attrNameLst>
                                      </p:cBhvr>
                                      <p:tavLst>
                                        <p:tav tm="0">
                                          <p:val>
                                            <p:strVal val="#ppt_x"/>
                                          </p:val>
                                        </p:tav>
                                        <p:tav tm="100000">
                                          <p:val>
                                            <p:strVal val="#ppt_x"/>
                                          </p:val>
                                        </p:tav>
                                      </p:tavLst>
                                    </p:anim>
                                    <p:anim calcmode="lin" valueType="num">
                                      <p:cBhvr additive="base">
                                        <p:cTn id="18" dur="500" fill="hold"/>
                                        <p:tgtEl>
                                          <p:spTgt spid="60936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09369"/>
                                        </p:tgtEl>
                                        <p:attrNameLst>
                                          <p:attrName>style.visibility</p:attrName>
                                        </p:attrNameLst>
                                      </p:cBhvr>
                                      <p:to>
                                        <p:strVal val="visible"/>
                                      </p:to>
                                    </p:set>
                                    <p:anim calcmode="lin" valueType="num">
                                      <p:cBhvr additive="base">
                                        <p:cTn id="21" dur="500" fill="hold"/>
                                        <p:tgtEl>
                                          <p:spTgt spid="609369"/>
                                        </p:tgtEl>
                                        <p:attrNameLst>
                                          <p:attrName>ppt_x</p:attrName>
                                        </p:attrNameLst>
                                      </p:cBhvr>
                                      <p:tavLst>
                                        <p:tav tm="0">
                                          <p:val>
                                            <p:strVal val="#ppt_x"/>
                                          </p:val>
                                        </p:tav>
                                        <p:tav tm="100000">
                                          <p:val>
                                            <p:strVal val="#ppt_x"/>
                                          </p:val>
                                        </p:tav>
                                      </p:tavLst>
                                    </p:anim>
                                    <p:anim calcmode="lin" valueType="num">
                                      <p:cBhvr additive="base">
                                        <p:cTn id="22" dur="500" fill="hold"/>
                                        <p:tgtEl>
                                          <p:spTgt spid="60936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09313"/>
                                        </p:tgtEl>
                                        <p:attrNameLst>
                                          <p:attrName>style.visibility</p:attrName>
                                        </p:attrNameLst>
                                      </p:cBhvr>
                                      <p:to>
                                        <p:strVal val="visible"/>
                                      </p:to>
                                    </p:set>
                                    <p:anim calcmode="lin" valueType="num">
                                      <p:cBhvr additive="base">
                                        <p:cTn id="27" dur="500" fill="hold"/>
                                        <p:tgtEl>
                                          <p:spTgt spid="609313"/>
                                        </p:tgtEl>
                                        <p:attrNameLst>
                                          <p:attrName>ppt_x</p:attrName>
                                        </p:attrNameLst>
                                      </p:cBhvr>
                                      <p:tavLst>
                                        <p:tav tm="0">
                                          <p:val>
                                            <p:strVal val="#ppt_x"/>
                                          </p:val>
                                        </p:tav>
                                        <p:tav tm="100000">
                                          <p:val>
                                            <p:strVal val="#ppt_x"/>
                                          </p:val>
                                        </p:tav>
                                      </p:tavLst>
                                    </p:anim>
                                    <p:anim calcmode="lin" valueType="num">
                                      <p:cBhvr additive="base">
                                        <p:cTn id="28" dur="500" fill="hold"/>
                                        <p:tgtEl>
                                          <p:spTgt spid="6093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36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p:cNvSpPr>
            <a:spLocks noGrp="1"/>
          </p:cNvSpPr>
          <p:nvPr>
            <p:ph type="dt" sz="quarter" idx="10"/>
          </p:nvPr>
        </p:nvSpPr>
        <p:spPr>
          <a:noFill/>
        </p:spPr>
        <p:txBody>
          <a:bodyPr/>
          <a:lstStyle/>
          <a:p>
            <a:fld id="{20905D67-A004-4EF7-9D1B-5D5A5168CC0C}" type="datetime1">
              <a:rPr lang="zh-CN" altLang="en-US" smtClean="0">
                <a:ea typeface="宋体" charset="-122"/>
              </a:rPr>
              <a:pPr/>
              <a:t>2018/2/24</a:t>
            </a:fld>
            <a:endParaRPr lang="en-US" altLang="zh-CN" smtClean="0">
              <a:ea typeface="宋体" charset="-122"/>
            </a:endParaRPr>
          </a:p>
        </p:txBody>
      </p:sp>
      <p:sp>
        <p:nvSpPr>
          <p:cNvPr id="67587" name="灯片编号占位符 5"/>
          <p:cNvSpPr>
            <a:spLocks noGrp="1"/>
          </p:cNvSpPr>
          <p:nvPr>
            <p:ph type="sldNum" sz="quarter" idx="12"/>
          </p:nvPr>
        </p:nvSpPr>
        <p:spPr>
          <a:noFill/>
        </p:spPr>
        <p:txBody>
          <a:bodyPr/>
          <a:lstStyle/>
          <a:p>
            <a:fld id="{53688469-243A-4F5B-A5F8-F8B8E81CAE7F}" type="slidenum">
              <a:rPr lang="en-US" altLang="zh-CN" smtClean="0">
                <a:ea typeface="宋体" charset="-122"/>
              </a:rPr>
              <a:pPr/>
              <a:t>60</a:t>
            </a:fld>
            <a:endParaRPr lang="en-US" altLang="zh-CN" smtClean="0">
              <a:ea typeface="宋体" charset="-122"/>
            </a:endParaRPr>
          </a:p>
        </p:txBody>
      </p:sp>
      <p:sp>
        <p:nvSpPr>
          <p:cNvPr id="478210" name="Rectangle 2"/>
          <p:cNvSpPr>
            <a:spLocks noGrp="1" noRot="1" noChangeArrowheads="1"/>
          </p:cNvSpPr>
          <p:nvPr>
            <p:ph type="title"/>
          </p:nvPr>
        </p:nvSpPr>
        <p:spPr>
          <a:xfrm>
            <a:off x="439738" y="2817813"/>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Tree>
  </p:cSld>
  <p:clrMapOvr>
    <a:masterClrMapping/>
  </p:clrMapOvr>
  <p:transition>
    <p:circl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a:spLocks noGrp="1"/>
          </p:cNvSpPr>
          <p:nvPr>
            <p:ph type="dt" sz="quarter" idx="10"/>
          </p:nvPr>
        </p:nvSpPr>
        <p:spPr>
          <a:noFill/>
        </p:spPr>
        <p:txBody>
          <a:bodyPr/>
          <a:lstStyle/>
          <a:p>
            <a:fld id="{24F017F4-5C8D-4DD3-9DA1-1339DDD73755}" type="datetime1">
              <a:rPr lang="zh-CN" altLang="en-US" smtClean="0">
                <a:ea typeface="宋体" charset="-122"/>
              </a:rPr>
              <a:pPr/>
              <a:t>2018/2/24</a:t>
            </a:fld>
            <a:endParaRPr lang="en-US" altLang="zh-CN" smtClean="0">
              <a:ea typeface="宋体" charset="-122"/>
            </a:endParaRPr>
          </a:p>
        </p:txBody>
      </p:sp>
      <p:sp>
        <p:nvSpPr>
          <p:cNvPr id="68611" name="灯片编号占位符 5"/>
          <p:cNvSpPr>
            <a:spLocks noGrp="1"/>
          </p:cNvSpPr>
          <p:nvPr>
            <p:ph type="sldNum" sz="quarter" idx="12"/>
          </p:nvPr>
        </p:nvSpPr>
        <p:spPr>
          <a:noFill/>
        </p:spPr>
        <p:txBody>
          <a:bodyPr/>
          <a:lstStyle/>
          <a:p>
            <a:fld id="{697F6BF2-C525-4080-A8CC-7154EA8D59F7}" type="slidenum">
              <a:rPr lang="en-US" altLang="zh-CN" smtClean="0">
                <a:ea typeface="宋体" charset="-122"/>
              </a:rPr>
              <a:pPr/>
              <a:t>61</a:t>
            </a:fld>
            <a:endParaRPr lang="en-US" altLang="zh-CN" smtClean="0">
              <a:ea typeface="宋体" charset="-122"/>
            </a:endParaRPr>
          </a:p>
        </p:txBody>
      </p:sp>
      <p:sp>
        <p:nvSpPr>
          <p:cNvPr id="479234"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79235" name="Rectangle 3"/>
          <p:cNvSpPr>
            <a:spLocks noGrp="1" noRot="1" noChangeArrowheads="1"/>
          </p:cNvSpPr>
          <p:nvPr>
            <p:ph type="body" idx="1"/>
          </p:nvPr>
        </p:nvSpPr>
        <p:spPr>
          <a:xfrm>
            <a:off x="296863" y="1349375"/>
            <a:ext cx="8550275" cy="5197475"/>
          </a:xfrm>
        </p:spPr>
        <p:txBody>
          <a:bodyPr/>
          <a:lstStyle/>
          <a:p>
            <a:pPr marL="449263" indent="-449263" algn="just" eaLnBrk="1" hangingPunct="1">
              <a:defRPr/>
            </a:pPr>
            <a:r>
              <a:rPr lang="zh-CN" altLang="en-US" smtClean="0">
                <a:latin typeface="Times New Roman" pitchFamily="18" charset="0"/>
                <a:ea typeface="黑体" pitchFamily="2" charset="-122"/>
              </a:rPr>
              <a:t>概述</a:t>
            </a:r>
          </a:p>
          <a:p>
            <a:pPr marL="449263" indent="-449263" algn="just" eaLnBrk="1" hangingPunct="1">
              <a:defRPr/>
            </a:pPr>
            <a:endParaRPr lang="zh-CN" altLang="en-US" smtClean="0">
              <a:latin typeface="Times New Roman" pitchFamily="18" charset="0"/>
              <a:ea typeface="黑体" pitchFamily="2" charset="-122"/>
            </a:endParaRPr>
          </a:p>
          <a:p>
            <a:pPr marL="449263" indent="-449263" algn="just" eaLnBrk="1" hangingPunct="1">
              <a:defRPr/>
            </a:pPr>
            <a:r>
              <a:rPr lang="zh-CN" altLang="en-US" smtClean="0">
                <a:latin typeface="Times New Roman" pitchFamily="18" charset="0"/>
                <a:ea typeface="黑体" pitchFamily="2" charset="-122"/>
              </a:rPr>
              <a:t>光学系统的透过率反映了经过该系统之后光能量的损失程度，是系统成像质量的</a:t>
            </a:r>
            <a:r>
              <a:rPr lang="zh-CN" altLang="en-US" smtClean="0">
                <a:solidFill>
                  <a:srgbClr val="FF0000"/>
                </a:solidFill>
                <a:latin typeface="Times New Roman" pitchFamily="18" charset="0"/>
                <a:ea typeface="黑体" pitchFamily="2" charset="-122"/>
              </a:rPr>
              <a:t>重要指标</a:t>
            </a:r>
            <a:r>
              <a:rPr lang="zh-CN" altLang="en-US" smtClean="0">
                <a:latin typeface="Times New Roman" pitchFamily="18" charset="0"/>
                <a:ea typeface="黑体" pitchFamily="2" charset="-122"/>
              </a:rPr>
              <a:t>之一。</a:t>
            </a:r>
          </a:p>
          <a:p>
            <a:pPr marL="628650" lvl="1" indent="82550" algn="just" eaLnBrk="1" hangingPunct="1">
              <a:lnSpc>
                <a:spcPct val="130000"/>
              </a:lnSpc>
              <a:defRPr/>
            </a:pPr>
            <a:r>
              <a:rPr lang="zh-CN" altLang="en-US" sz="2400" smtClean="0">
                <a:latin typeface="Times New Roman" pitchFamily="18" charset="0"/>
                <a:ea typeface="黑体" pitchFamily="2" charset="-122"/>
              </a:rPr>
              <a:t>光能量损失，亮度将降低；</a:t>
            </a:r>
          </a:p>
          <a:p>
            <a:pPr marL="628650" lvl="1" indent="82550" algn="just" eaLnBrk="1" hangingPunct="1">
              <a:lnSpc>
                <a:spcPct val="130000"/>
              </a:lnSpc>
              <a:defRPr/>
            </a:pPr>
            <a:r>
              <a:rPr lang="zh-CN" altLang="en-US" sz="2400" smtClean="0">
                <a:latin typeface="Times New Roman" pitchFamily="18" charset="0"/>
                <a:ea typeface="黑体" pitchFamily="2" charset="-122"/>
              </a:rPr>
              <a:t>光谱特性变坏；</a:t>
            </a:r>
          </a:p>
          <a:p>
            <a:pPr marL="628650" lvl="1" indent="82550" algn="just" eaLnBrk="1" hangingPunct="1">
              <a:lnSpc>
                <a:spcPct val="130000"/>
              </a:lnSpc>
              <a:defRPr/>
            </a:pPr>
            <a:r>
              <a:rPr lang="zh-CN" altLang="en-US" sz="2400" smtClean="0">
                <a:latin typeface="Times New Roman" pitchFamily="18" charset="0"/>
                <a:ea typeface="黑体" pitchFamily="2" charset="-122"/>
              </a:rPr>
              <a:t>产生杂散光；</a:t>
            </a:r>
          </a:p>
          <a:p>
            <a:pPr marL="628650" lvl="1" indent="82550" algn="just" eaLnBrk="1" hangingPunct="1">
              <a:lnSpc>
                <a:spcPct val="130000"/>
              </a:lnSpc>
              <a:defRPr/>
            </a:pPr>
            <a:r>
              <a:rPr lang="zh-CN" altLang="en-US" sz="2400" smtClean="0">
                <a:latin typeface="Times New Roman" pitchFamily="18" charset="0"/>
                <a:ea typeface="黑体" pitchFamily="2" charset="-122"/>
              </a:rPr>
              <a:t>彩色还原效果变差。</a:t>
            </a:r>
          </a:p>
        </p:txBody>
      </p:sp>
    </p:spTree>
  </p:cSld>
  <p:clrMapOvr>
    <a:masterClrMapping/>
  </p:clrMapOvr>
  <p:transition>
    <p:circl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日期占位符 3"/>
          <p:cNvSpPr>
            <a:spLocks noGrp="1"/>
          </p:cNvSpPr>
          <p:nvPr>
            <p:ph type="dt" sz="quarter" idx="10"/>
          </p:nvPr>
        </p:nvSpPr>
        <p:spPr>
          <a:noFill/>
        </p:spPr>
        <p:txBody>
          <a:bodyPr/>
          <a:lstStyle/>
          <a:p>
            <a:fld id="{08C67B5A-8748-4186-83A8-FAB7BE3F50EC}" type="datetime1">
              <a:rPr lang="zh-CN" altLang="en-US" smtClean="0">
                <a:ea typeface="宋体" charset="-122"/>
              </a:rPr>
              <a:pPr/>
              <a:t>2018/2/24</a:t>
            </a:fld>
            <a:endParaRPr lang="en-US" altLang="zh-CN" smtClean="0">
              <a:ea typeface="宋体" charset="-122"/>
            </a:endParaRPr>
          </a:p>
        </p:txBody>
      </p:sp>
      <p:sp>
        <p:nvSpPr>
          <p:cNvPr id="23559" name="灯片编号占位符 5"/>
          <p:cNvSpPr>
            <a:spLocks noGrp="1"/>
          </p:cNvSpPr>
          <p:nvPr>
            <p:ph type="sldNum" sz="quarter" idx="12"/>
          </p:nvPr>
        </p:nvSpPr>
        <p:spPr>
          <a:noFill/>
        </p:spPr>
        <p:txBody>
          <a:bodyPr/>
          <a:lstStyle/>
          <a:p>
            <a:fld id="{B468DCE8-3288-480B-A51B-9347A20C3731}" type="slidenum">
              <a:rPr lang="en-US" altLang="zh-CN" smtClean="0">
                <a:ea typeface="宋体" charset="-122"/>
              </a:rPr>
              <a:pPr/>
              <a:t>62</a:t>
            </a:fld>
            <a:endParaRPr lang="en-US" altLang="zh-CN" smtClean="0">
              <a:ea typeface="宋体" charset="-122"/>
            </a:endParaRPr>
          </a:p>
        </p:txBody>
      </p:sp>
      <p:sp>
        <p:nvSpPr>
          <p:cNvPr id="480258"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0259" name="Rectangle 3"/>
          <p:cNvSpPr>
            <a:spLocks noGrp="1" noRot="1" noChangeArrowheads="1"/>
          </p:cNvSpPr>
          <p:nvPr>
            <p:ph type="body" idx="1"/>
          </p:nvPr>
        </p:nvSpPr>
        <p:spPr>
          <a:xfrm>
            <a:off x="296863" y="1349375"/>
            <a:ext cx="8550275" cy="2251075"/>
          </a:xfrm>
        </p:spPr>
        <p:txBody>
          <a:bodyPr/>
          <a:lstStyle/>
          <a:p>
            <a:pPr marL="623888" indent="-623888" algn="just" eaLnBrk="1" hangingPunct="1">
              <a:buFont typeface="Wingdings" pitchFamily="2" charset="2"/>
              <a:buNone/>
              <a:defRPr/>
            </a:pPr>
            <a:r>
              <a:rPr lang="zh-CN" altLang="en-US" smtClean="0">
                <a:latin typeface="Times New Roman" pitchFamily="18" charset="0"/>
                <a:ea typeface="黑体" pitchFamily="2" charset="-122"/>
              </a:rPr>
              <a:t>定义：</a:t>
            </a:r>
          </a:p>
          <a:p>
            <a:pPr marL="623888" indent="-623888" algn="just" eaLnBrk="1" hangingPunct="1">
              <a:defRPr/>
            </a:pPr>
            <a:r>
              <a:rPr lang="zh-CN" altLang="en-US" smtClean="0">
                <a:latin typeface="Times New Roman" pitchFamily="18" charset="0"/>
                <a:ea typeface="黑体" pitchFamily="2" charset="-122"/>
              </a:rPr>
              <a:t>          光学系统的透过率 </a:t>
            </a:r>
          </a:p>
        </p:txBody>
      </p:sp>
      <p:sp>
        <p:nvSpPr>
          <p:cNvPr id="23562" name="Rectangle 4"/>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3554" name="Object 5"/>
          <p:cNvGraphicFramePr>
            <a:graphicFrameLocks noChangeAspect="1"/>
          </p:cNvGraphicFramePr>
          <p:nvPr/>
        </p:nvGraphicFramePr>
        <p:xfrm>
          <a:off x="4835525" y="1576388"/>
          <a:ext cx="1933575" cy="895350"/>
        </p:xfrm>
        <a:graphic>
          <a:graphicData uri="http://schemas.openxmlformats.org/presentationml/2006/ole">
            <p:oleObj spid="_x0000_s211970" name="公式" r:id="rId3" imgW="901309" imgH="418918" progId="Equation.3">
              <p:embed/>
            </p:oleObj>
          </a:graphicData>
        </a:graphic>
      </p:graphicFrame>
      <p:grpSp>
        <p:nvGrpSpPr>
          <p:cNvPr id="2" name="Group 6"/>
          <p:cNvGrpSpPr>
            <a:grpSpLocks/>
          </p:cNvGrpSpPr>
          <p:nvPr/>
        </p:nvGrpSpPr>
        <p:grpSpPr bwMode="auto">
          <a:xfrm>
            <a:off x="1365250" y="2592388"/>
            <a:ext cx="6291263" cy="895350"/>
            <a:chOff x="365" y="1633"/>
            <a:chExt cx="3963" cy="564"/>
          </a:xfrm>
        </p:grpSpPr>
        <p:sp>
          <p:nvSpPr>
            <p:cNvPr id="480263" name="Rectangle 7"/>
            <p:cNvSpPr>
              <a:spLocks noChangeArrowheads="1"/>
            </p:cNvSpPr>
            <p:nvPr/>
          </p:nvSpPr>
          <p:spPr bwMode="auto">
            <a:xfrm>
              <a:off x="365" y="1742"/>
              <a:ext cx="2129" cy="288"/>
            </a:xfrm>
            <a:prstGeom prst="rect">
              <a:avLst/>
            </a:prstGeom>
            <a:noFill/>
            <a:ln w="9525">
              <a:noFill/>
              <a:miter lim="800000"/>
              <a:headEnd/>
              <a:tailEnd/>
            </a:ln>
            <a:effectLst/>
          </p:spPr>
          <p:txBody>
            <a:bodyPr anchor="ctr">
              <a:spAutoFit/>
            </a:bodyPr>
            <a:lstStyle/>
            <a:p>
              <a:pPr>
                <a:defRPr/>
              </a:pPr>
              <a:r>
                <a:rPr lang="zh-CN" altLang="en-US" sz="2400" b="1">
                  <a:effectLst>
                    <a:outerShdw blurRad="38100" dist="38100" dir="2700000" algn="tl">
                      <a:srgbClr val="C0C0C0"/>
                    </a:outerShdw>
                  </a:effectLst>
                  <a:latin typeface="黑体" pitchFamily="2" charset="-122"/>
                  <a:ea typeface="黑体" pitchFamily="2" charset="-122"/>
                </a:rPr>
                <a:t>光学系统的光谱透过率 </a:t>
              </a:r>
            </a:p>
          </p:txBody>
        </p:sp>
        <p:graphicFrame>
          <p:nvGraphicFramePr>
            <p:cNvPr id="23557" name="Object 8"/>
            <p:cNvGraphicFramePr>
              <a:graphicFrameLocks noChangeAspect="1"/>
            </p:cNvGraphicFramePr>
            <p:nvPr/>
          </p:nvGraphicFramePr>
          <p:xfrm>
            <a:off x="2561" y="1633"/>
            <a:ext cx="1767" cy="564"/>
          </p:xfrm>
          <a:graphic>
            <a:graphicData uri="http://schemas.openxmlformats.org/presentationml/2006/ole">
              <p:oleObj spid="_x0000_s211973" name="公式" r:id="rId4" imgW="1307880" imgH="419040" progId="Equation.3">
                <p:embed/>
              </p:oleObj>
            </a:graphicData>
          </a:graphic>
        </p:graphicFrame>
      </p:grpSp>
      <p:sp>
        <p:nvSpPr>
          <p:cNvPr id="23564" name="Rectangle 9"/>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grpSp>
        <p:nvGrpSpPr>
          <p:cNvPr id="3" name="Group 10"/>
          <p:cNvGrpSpPr>
            <a:grpSpLocks/>
          </p:cNvGrpSpPr>
          <p:nvPr/>
        </p:nvGrpSpPr>
        <p:grpSpPr bwMode="auto">
          <a:xfrm>
            <a:off x="1495425" y="3614738"/>
            <a:ext cx="6153150" cy="1228725"/>
            <a:chOff x="942" y="2277"/>
            <a:chExt cx="3876" cy="774"/>
          </a:xfrm>
        </p:grpSpPr>
        <p:sp>
          <p:nvSpPr>
            <p:cNvPr id="480267" name="Rectangle 11"/>
            <p:cNvSpPr>
              <a:spLocks noChangeArrowheads="1"/>
            </p:cNvSpPr>
            <p:nvPr/>
          </p:nvSpPr>
          <p:spPr bwMode="auto">
            <a:xfrm>
              <a:off x="942" y="2491"/>
              <a:ext cx="1975" cy="288"/>
            </a:xfrm>
            <a:prstGeom prst="rect">
              <a:avLst/>
            </a:prstGeom>
            <a:noFill/>
            <a:ln w="9525">
              <a:noFill/>
              <a:miter lim="800000"/>
              <a:headEnd/>
              <a:tailEnd/>
            </a:ln>
            <a:effectLst/>
          </p:spPr>
          <p:txBody>
            <a:bodyPr anchor="ctr">
              <a:spAutoFit/>
            </a:bodyPr>
            <a:lstStyle/>
            <a:p>
              <a:pPr algn="r">
                <a:defRPr/>
              </a:pPr>
              <a:r>
                <a:rPr lang="zh-CN" altLang="en-US" sz="2400" b="1">
                  <a:effectLst>
                    <a:outerShdw blurRad="38100" dist="38100" dir="2700000" algn="tl">
                      <a:srgbClr val="C0C0C0"/>
                    </a:outerShdw>
                  </a:effectLst>
                  <a:latin typeface="黑体" pitchFamily="2" charset="-122"/>
                  <a:ea typeface="黑体" pitchFamily="2" charset="-122"/>
                </a:rPr>
                <a:t>光学系统白光透过率 </a:t>
              </a:r>
            </a:p>
          </p:txBody>
        </p:sp>
        <p:graphicFrame>
          <p:nvGraphicFramePr>
            <p:cNvPr id="23556" name="Object 12"/>
            <p:cNvGraphicFramePr>
              <a:graphicFrameLocks noChangeAspect="1"/>
            </p:cNvGraphicFramePr>
            <p:nvPr/>
          </p:nvGraphicFramePr>
          <p:xfrm>
            <a:off x="3062" y="2277"/>
            <a:ext cx="1756" cy="774"/>
          </p:xfrm>
          <a:graphic>
            <a:graphicData uri="http://schemas.openxmlformats.org/presentationml/2006/ole">
              <p:oleObj spid="_x0000_s211972" name="公式" r:id="rId5" imgW="1549080" imgH="685800" progId="Equation.3">
                <p:embed/>
              </p:oleObj>
            </a:graphicData>
          </a:graphic>
        </p:graphicFrame>
      </p:grpSp>
      <p:sp>
        <p:nvSpPr>
          <p:cNvPr id="23566" name="Rectangle 13"/>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grpSp>
        <p:nvGrpSpPr>
          <p:cNvPr id="4" name="Group 14"/>
          <p:cNvGrpSpPr>
            <a:grpSpLocks/>
          </p:cNvGrpSpPr>
          <p:nvPr/>
        </p:nvGrpSpPr>
        <p:grpSpPr bwMode="auto">
          <a:xfrm>
            <a:off x="946150" y="5065713"/>
            <a:ext cx="7664450" cy="1255712"/>
            <a:chOff x="596" y="3191"/>
            <a:chExt cx="4828" cy="791"/>
          </a:xfrm>
        </p:grpSpPr>
        <p:sp>
          <p:nvSpPr>
            <p:cNvPr id="480271" name="Rectangle 15"/>
            <p:cNvSpPr>
              <a:spLocks noChangeArrowheads="1"/>
            </p:cNvSpPr>
            <p:nvPr/>
          </p:nvSpPr>
          <p:spPr bwMode="auto">
            <a:xfrm>
              <a:off x="596" y="3336"/>
              <a:ext cx="2321" cy="518"/>
            </a:xfrm>
            <a:prstGeom prst="rect">
              <a:avLst/>
            </a:prstGeom>
            <a:noFill/>
            <a:ln w="9525">
              <a:noFill/>
              <a:miter lim="800000"/>
              <a:headEnd/>
              <a:tailEnd/>
            </a:ln>
            <a:effectLst/>
          </p:spPr>
          <p:txBody>
            <a:bodyPr anchor="ctr">
              <a:spAutoFit/>
            </a:bodyPr>
            <a:lstStyle/>
            <a:p>
              <a:pPr algn="r">
                <a:defRPr/>
              </a:pPr>
              <a:r>
                <a:rPr lang="zh-CN" altLang="en-US" sz="2400" b="1">
                  <a:effectLst>
                    <a:outerShdw blurRad="38100" dist="38100" dir="2700000" algn="tl">
                      <a:srgbClr val="C0C0C0"/>
                    </a:outerShdw>
                  </a:effectLst>
                  <a:ea typeface="黑体" pitchFamily="2" charset="-122"/>
                </a:rPr>
                <a:t>考虑照明光源、光学系统、接收器的总的透过率</a:t>
              </a:r>
            </a:p>
          </p:txBody>
        </p:sp>
        <p:graphicFrame>
          <p:nvGraphicFramePr>
            <p:cNvPr id="23555" name="Object 16"/>
            <p:cNvGraphicFramePr>
              <a:graphicFrameLocks noChangeAspect="1"/>
            </p:cNvGraphicFramePr>
            <p:nvPr/>
          </p:nvGraphicFramePr>
          <p:xfrm>
            <a:off x="3044" y="3191"/>
            <a:ext cx="2380" cy="791"/>
          </p:xfrm>
          <a:graphic>
            <a:graphicData uri="http://schemas.openxmlformats.org/presentationml/2006/ole">
              <p:oleObj spid="_x0000_s211971" name="公式" r:id="rId6" imgW="2057400" imgH="685800" progId="Equation.3">
                <p:embed/>
              </p:oleObj>
            </a:graphicData>
          </a:graphic>
        </p:graphicFrame>
      </p:grpSp>
      <p:grpSp>
        <p:nvGrpSpPr>
          <p:cNvPr id="5" name="Group 17"/>
          <p:cNvGrpSpPr>
            <a:grpSpLocks/>
          </p:cNvGrpSpPr>
          <p:nvPr/>
        </p:nvGrpSpPr>
        <p:grpSpPr bwMode="auto">
          <a:xfrm>
            <a:off x="2263775" y="681038"/>
            <a:ext cx="6372225" cy="2730500"/>
            <a:chOff x="1426" y="429"/>
            <a:chExt cx="4014" cy="1720"/>
          </a:xfrm>
        </p:grpSpPr>
        <p:sp>
          <p:nvSpPr>
            <p:cNvPr id="480274" name="AutoShape 18"/>
            <p:cNvSpPr>
              <a:spLocks noChangeArrowheads="1"/>
            </p:cNvSpPr>
            <p:nvPr/>
          </p:nvSpPr>
          <p:spPr bwMode="auto">
            <a:xfrm>
              <a:off x="1426" y="429"/>
              <a:ext cx="1884" cy="586"/>
            </a:xfrm>
            <a:prstGeom prst="wedgeEllipseCallout">
              <a:avLst>
                <a:gd name="adj1" fmla="val 58333"/>
                <a:gd name="adj2" fmla="val 67917"/>
              </a:avLst>
            </a:prstGeom>
            <a:solidFill>
              <a:schemeClr val="accent1"/>
            </a:solidFill>
            <a:ln w="9525">
              <a:solidFill>
                <a:schemeClr val="tx1"/>
              </a:solidFill>
              <a:miter lim="800000"/>
              <a:headEnd/>
              <a:tailEnd/>
            </a:ln>
            <a:effectLst/>
          </p:spPr>
          <p:txBody>
            <a:bodyPr/>
            <a:lstStyle/>
            <a:p>
              <a:pPr algn="ctr">
                <a:defRPr/>
              </a:pPr>
              <a:r>
                <a:rPr lang="zh-CN" altLang="en-US" sz="2400" b="1">
                  <a:effectLst>
                    <a:outerShdw blurRad="38100" dist="38100" dir="2700000" algn="tl">
                      <a:srgbClr val="FFFFFF"/>
                    </a:outerShdw>
                  </a:effectLst>
                  <a:latin typeface="黑体" pitchFamily="2" charset="-122"/>
                  <a:ea typeface="黑体" pitchFamily="2" charset="-122"/>
                </a:rPr>
                <a:t>出射的光通量</a:t>
              </a:r>
              <a:r>
                <a:rPr lang="zh-CN" altLang="en-US" b="1">
                  <a:effectLst>
                    <a:outerShdw blurRad="38100" dist="38100" dir="2700000" algn="tl">
                      <a:srgbClr val="FFFFFF"/>
                    </a:outerShdw>
                  </a:effectLst>
                  <a:latin typeface="黑体" pitchFamily="2" charset="-122"/>
                  <a:ea typeface="黑体" pitchFamily="2" charset="-122"/>
                </a:rPr>
                <a:t> </a:t>
              </a:r>
            </a:p>
          </p:txBody>
        </p:sp>
        <p:sp>
          <p:nvSpPr>
            <p:cNvPr id="480275" name="AutoShape 19"/>
            <p:cNvSpPr>
              <a:spLocks noChangeArrowheads="1"/>
            </p:cNvSpPr>
            <p:nvPr/>
          </p:nvSpPr>
          <p:spPr bwMode="auto">
            <a:xfrm>
              <a:off x="3556" y="1563"/>
              <a:ext cx="1884" cy="586"/>
            </a:xfrm>
            <a:prstGeom prst="wedgeEllipseCallout">
              <a:avLst>
                <a:gd name="adj1" fmla="val -51380"/>
                <a:gd name="adj2" fmla="val -74060"/>
              </a:avLst>
            </a:prstGeom>
            <a:solidFill>
              <a:schemeClr val="accent1"/>
            </a:solidFill>
            <a:ln w="9525">
              <a:solidFill>
                <a:schemeClr val="tx1"/>
              </a:solidFill>
              <a:miter lim="800000"/>
              <a:headEnd/>
              <a:tailEnd/>
            </a:ln>
            <a:effectLst/>
          </p:spPr>
          <p:txBody>
            <a:bodyPr/>
            <a:lstStyle/>
            <a:p>
              <a:pPr algn="ctr">
                <a:defRPr/>
              </a:pPr>
              <a:r>
                <a:rPr lang="zh-CN" altLang="en-US" sz="2400" b="1">
                  <a:effectLst>
                    <a:outerShdw blurRad="38100" dist="38100" dir="2700000" algn="tl">
                      <a:srgbClr val="FFFFFF"/>
                    </a:outerShdw>
                  </a:effectLst>
                  <a:latin typeface="黑体" pitchFamily="2" charset="-122"/>
                  <a:ea typeface="黑体" pitchFamily="2" charset="-122"/>
                </a:rPr>
                <a:t>入射的光通量</a:t>
              </a:r>
              <a:r>
                <a:rPr lang="zh-CN" altLang="en-US" b="1">
                  <a:effectLst>
                    <a:outerShdw blurRad="38100" dist="38100" dir="2700000" algn="tl">
                      <a:srgbClr val="FFFFFF"/>
                    </a:outerShdw>
                  </a:effectLst>
                  <a:latin typeface="黑体" pitchFamily="2" charset="-122"/>
                  <a:ea typeface="黑体" pitchFamily="2" charset="-122"/>
                </a:rPr>
                <a:t> </a:t>
              </a:r>
            </a:p>
          </p:txBody>
        </p:sp>
      </p:gr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par>
                                <p:cTn id="14" presetID="1" presetClass="exit" presetSubtype="0" fill="hold" nodeType="withEffect">
                                  <p:stCondLst>
                                    <p:cond delay="0"/>
                                  </p:stCondLst>
                                  <p:childTnLst>
                                    <p:set>
                                      <p:cBhvr>
                                        <p:cTn id="15" dur="1" fill="hold">
                                          <p:stCondLst>
                                            <p:cond delay="0"/>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日期占位符 3"/>
          <p:cNvSpPr>
            <a:spLocks noGrp="1"/>
          </p:cNvSpPr>
          <p:nvPr>
            <p:ph type="dt" sz="quarter" idx="10"/>
          </p:nvPr>
        </p:nvSpPr>
        <p:spPr>
          <a:noFill/>
        </p:spPr>
        <p:txBody>
          <a:bodyPr/>
          <a:lstStyle/>
          <a:p>
            <a:fld id="{B7512C31-C6BC-4107-B9D7-984230EDA9D6}" type="datetime1">
              <a:rPr lang="zh-CN" altLang="en-US" smtClean="0">
                <a:ea typeface="宋体" charset="-122"/>
              </a:rPr>
              <a:pPr/>
              <a:t>2018/2/24</a:t>
            </a:fld>
            <a:endParaRPr lang="en-US" altLang="zh-CN" smtClean="0">
              <a:ea typeface="宋体" charset="-122"/>
            </a:endParaRPr>
          </a:p>
        </p:txBody>
      </p:sp>
      <p:sp>
        <p:nvSpPr>
          <p:cNvPr id="24580" name="灯片编号占位符 5"/>
          <p:cNvSpPr>
            <a:spLocks noGrp="1"/>
          </p:cNvSpPr>
          <p:nvPr>
            <p:ph type="sldNum" sz="quarter" idx="12"/>
          </p:nvPr>
        </p:nvSpPr>
        <p:spPr>
          <a:noFill/>
        </p:spPr>
        <p:txBody>
          <a:bodyPr/>
          <a:lstStyle/>
          <a:p>
            <a:fld id="{318323A4-DA78-4B9E-9682-FC3E2DE932CD}" type="slidenum">
              <a:rPr lang="en-US" altLang="zh-CN" smtClean="0">
                <a:ea typeface="宋体" charset="-122"/>
              </a:rPr>
              <a:pPr/>
              <a:t>63</a:t>
            </a:fld>
            <a:endParaRPr lang="en-US" altLang="zh-CN" smtClean="0">
              <a:ea typeface="宋体" charset="-122"/>
            </a:endParaRPr>
          </a:p>
        </p:txBody>
      </p:sp>
      <p:sp>
        <p:nvSpPr>
          <p:cNvPr id="481282"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1283" name="Rectangle 3"/>
          <p:cNvSpPr>
            <a:spLocks noGrp="1" noRot="1" noChangeArrowheads="1"/>
          </p:cNvSpPr>
          <p:nvPr>
            <p:ph type="body" idx="1"/>
          </p:nvPr>
        </p:nvSpPr>
        <p:spPr>
          <a:xfrm>
            <a:off x="296863" y="1349375"/>
            <a:ext cx="8550275" cy="2251075"/>
          </a:xfrm>
        </p:spPr>
        <p:txBody>
          <a:bodyPr/>
          <a:lstStyle/>
          <a:p>
            <a:pPr marL="623888" indent="-623888" algn="just"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．望远系统透过率的测量</a:t>
            </a:r>
          </a:p>
        </p:txBody>
      </p:sp>
      <p:sp>
        <p:nvSpPr>
          <p:cNvPr id="24583"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24584"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6"/>
          <p:cNvGrpSpPr>
            <a:grpSpLocks/>
          </p:cNvGrpSpPr>
          <p:nvPr/>
        </p:nvGrpSpPr>
        <p:grpSpPr bwMode="auto">
          <a:xfrm>
            <a:off x="857250" y="1976438"/>
            <a:ext cx="7851775" cy="3062287"/>
            <a:chOff x="384" y="1071"/>
            <a:chExt cx="4946" cy="1929"/>
          </a:xfrm>
        </p:grpSpPr>
        <p:sp>
          <p:nvSpPr>
            <p:cNvPr id="24592" name="Rectangle 7"/>
            <p:cNvSpPr>
              <a:spLocks noChangeArrowheads="1"/>
            </p:cNvSpPr>
            <p:nvPr/>
          </p:nvSpPr>
          <p:spPr bwMode="auto">
            <a:xfrm>
              <a:off x="384" y="1071"/>
              <a:ext cx="4946" cy="1929"/>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3" name="Group 8"/>
            <p:cNvGrpSpPr>
              <a:grpSpLocks/>
            </p:cNvGrpSpPr>
            <p:nvPr/>
          </p:nvGrpSpPr>
          <p:grpSpPr bwMode="auto">
            <a:xfrm>
              <a:off x="407" y="1184"/>
              <a:ext cx="4771" cy="1726"/>
              <a:chOff x="2391" y="6713"/>
              <a:chExt cx="7125" cy="2577"/>
            </a:xfrm>
          </p:grpSpPr>
          <p:sp>
            <p:nvSpPr>
              <p:cNvPr id="24594" name="Line 9"/>
              <p:cNvSpPr>
                <a:spLocks noChangeShapeType="1"/>
              </p:cNvSpPr>
              <p:nvPr/>
            </p:nvSpPr>
            <p:spPr bwMode="auto">
              <a:xfrm>
                <a:off x="2391" y="7855"/>
                <a:ext cx="7125" cy="0"/>
              </a:xfrm>
              <a:prstGeom prst="line">
                <a:avLst/>
              </a:prstGeom>
              <a:noFill/>
              <a:ln w="9525">
                <a:solidFill>
                  <a:srgbClr val="000000"/>
                </a:solidFill>
                <a:prstDash val="lgDashDot"/>
                <a:round/>
                <a:headEnd/>
                <a:tailEnd/>
              </a:ln>
            </p:spPr>
            <p:txBody>
              <a:bodyPr/>
              <a:lstStyle/>
              <a:p>
                <a:endParaRPr lang="zh-CN" altLang="en-US"/>
              </a:p>
            </p:txBody>
          </p:sp>
          <p:sp>
            <p:nvSpPr>
              <p:cNvPr id="24595" name="Rectangle 10"/>
              <p:cNvSpPr>
                <a:spLocks noChangeArrowheads="1"/>
              </p:cNvSpPr>
              <p:nvPr/>
            </p:nvSpPr>
            <p:spPr bwMode="auto">
              <a:xfrm>
                <a:off x="3541" y="7492"/>
                <a:ext cx="62" cy="724"/>
              </a:xfrm>
              <a:prstGeom prst="rect">
                <a:avLst/>
              </a:prstGeom>
              <a:noFill/>
              <a:ln w="9525">
                <a:solidFill>
                  <a:srgbClr val="000000"/>
                </a:solidFill>
                <a:miter lim="800000"/>
                <a:headEnd/>
                <a:tailEnd/>
              </a:ln>
            </p:spPr>
            <p:txBody>
              <a:bodyPr/>
              <a:lstStyle/>
              <a:p>
                <a:endParaRPr lang="zh-CN" altLang="en-US"/>
              </a:p>
            </p:txBody>
          </p:sp>
          <p:sp>
            <p:nvSpPr>
              <p:cNvPr id="24596" name="Line 11"/>
              <p:cNvSpPr>
                <a:spLocks noChangeShapeType="1"/>
              </p:cNvSpPr>
              <p:nvPr/>
            </p:nvSpPr>
            <p:spPr bwMode="auto">
              <a:xfrm>
                <a:off x="3542" y="7567"/>
                <a:ext cx="65" cy="0"/>
              </a:xfrm>
              <a:prstGeom prst="line">
                <a:avLst/>
              </a:prstGeom>
              <a:noFill/>
              <a:ln w="9525">
                <a:solidFill>
                  <a:srgbClr val="000000"/>
                </a:solidFill>
                <a:round/>
                <a:headEnd/>
                <a:tailEnd/>
              </a:ln>
            </p:spPr>
            <p:txBody>
              <a:bodyPr/>
              <a:lstStyle/>
              <a:p>
                <a:endParaRPr lang="zh-CN" altLang="en-US"/>
              </a:p>
            </p:txBody>
          </p:sp>
          <p:sp>
            <p:nvSpPr>
              <p:cNvPr id="24597" name="Line 12"/>
              <p:cNvSpPr>
                <a:spLocks noChangeShapeType="1"/>
              </p:cNvSpPr>
              <p:nvPr/>
            </p:nvSpPr>
            <p:spPr bwMode="auto">
              <a:xfrm>
                <a:off x="3542" y="7755"/>
                <a:ext cx="65" cy="0"/>
              </a:xfrm>
              <a:prstGeom prst="line">
                <a:avLst/>
              </a:prstGeom>
              <a:noFill/>
              <a:ln w="9525">
                <a:solidFill>
                  <a:srgbClr val="000000"/>
                </a:solidFill>
                <a:round/>
                <a:headEnd/>
                <a:tailEnd/>
              </a:ln>
            </p:spPr>
            <p:txBody>
              <a:bodyPr/>
              <a:lstStyle/>
              <a:p>
                <a:endParaRPr lang="zh-CN" altLang="en-US"/>
              </a:p>
            </p:txBody>
          </p:sp>
          <p:sp>
            <p:nvSpPr>
              <p:cNvPr id="24598" name="Line 13"/>
              <p:cNvSpPr>
                <a:spLocks noChangeShapeType="1"/>
              </p:cNvSpPr>
              <p:nvPr/>
            </p:nvSpPr>
            <p:spPr bwMode="auto">
              <a:xfrm>
                <a:off x="3542" y="7943"/>
                <a:ext cx="65" cy="0"/>
              </a:xfrm>
              <a:prstGeom prst="line">
                <a:avLst/>
              </a:prstGeom>
              <a:noFill/>
              <a:ln w="9525">
                <a:solidFill>
                  <a:srgbClr val="000000"/>
                </a:solidFill>
                <a:round/>
                <a:headEnd/>
                <a:tailEnd/>
              </a:ln>
            </p:spPr>
            <p:txBody>
              <a:bodyPr/>
              <a:lstStyle/>
              <a:p>
                <a:endParaRPr lang="zh-CN" altLang="en-US"/>
              </a:p>
            </p:txBody>
          </p:sp>
          <p:sp>
            <p:nvSpPr>
              <p:cNvPr id="24599" name="Line 14"/>
              <p:cNvSpPr>
                <a:spLocks noChangeShapeType="1"/>
              </p:cNvSpPr>
              <p:nvPr/>
            </p:nvSpPr>
            <p:spPr bwMode="auto">
              <a:xfrm>
                <a:off x="3542" y="7661"/>
                <a:ext cx="65" cy="0"/>
              </a:xfrm>
              <a:prstGeom prst="line">
                <a:avLst/>
              </a:prstGeom>
              <a:noFill/>
              <a:ln w="9525">
                <a:solidFill>
                  <a:srgbClr val="000000"/>
                </a:solidFill>
                <a:round/>
                <a:headEnd/>
                <a:tailEnd/>
              </a:ln>
            </p:spPr>
            <p:txBody>
              <a:bodyPr/>
              <a:lstStyle/>
              <a:p>
                <a:endParaRPr lang="zh-CN" altLang="en-US"/>
              </a:p>
            </p:txBody>
          </p:sp>
          <p:sp>
            <p:nvSpPr>
              <p:cNvPr id="24600" name="Line 15"/>
              <p:cNvSpPr>
                <a:spLocks noChangeShapeType="1"/>
              </p:cNvSpPr>
              <p:nvPr/>
            </p:nvSpPr>
            <p:spPr bwMode="auto">
              <a:xfrm>
                <a:off x="3542" y="7849"/>
                <a:ext cx="65" cy="0"/>
              </a:xfrm>
              <a:prstGeom prst="line">
                <a:avLst/>
              </a:prstGeom>
              <a:noFill/>
              <a:ln w="9525">
                <a:solidFill>
                  <a:srgbClr val="000000"/>
                </a:solidFill>
                <a:round/>
                <a:headEnd/>
                <a:tailEnd/>
              </a:ln>
            </p:spPr>
            <p:txBody>
              <a:bodyPr/>
              <a:lstStyle/>
              <a:p>
                <a:endParaRPr lang="zh-CN" altLang="en-US"/>
              </a:p>
            </p:txBody>
          </p:sp>
          <p:sp>
            <p:nvSpPr>
              <p:cNvPr id="24601" name="Line 16"/>
              <p:cNvSpPr>
                <a:spLocks noChangeShapeType="1"/>
              </p:cNvSpPr>
              <p:nvPr/>
            </p:nvSpPr>
            <p:spPr bwMode="auto">
              <a:xfrm>
                <a:off x="3542" y="8037"/>
                <a:ext cx="65" cy="0"/>
              </a:xfrm>
              <a:prstGeom prst="line">
                <a:avLst/>
              </a:prstGeom>
              <a:noFill/>
              <a:ln w="9525">
                <a:solidFill>
                  <a:srgbClr val="000000"/>
                </a:solidFill>
                <a:round/>
                <a:headEnd/>
                <a:tailEnd/>
              </a:ln>
            </p:spPr>
            <p:txBody>
              <a:bodyPr/>
              <a:lstStyle/>
              <a:p>
                <a:endParaRPr lang="zh-CN" altLang="en-US"/>
              </a:p>
            </p:txBody>
          </p:sp>
          <p:sp>
            <p:nvSpPr>
              <p:cNvPr id="24602" name="Line 17"/>
              <p:cNvSpPr>
                <a:spLocks noChangeShapeType="1"/>
              </p:cNvSpPr>
              <p:nvPr/>
            </p:nvSpPr>
            <p:spPr bwMode="auto">
              <a:xfrm>
                <a:off x="3542" y="8132"/>
                <a:ext cx="65" cy="0"/>
              </a:xfrm>
              <a:prstGeom prst="line">
                <a:avLst/>
              </a:prstGeom>
              <a:noFill/>
              <a:ln w="9525">
                <a:solidFill>
                  <a:srgbClr val="000000"/>
                </a:solidFill>
                <a:round/>
                <a:headEnd/>
                <a:tailEnd/>
              </a:ln>
            </p:spPr>
            <p:txBody>
              <a:bodyPr/>
              <a:lstStyle/>
              <a:p>
                <a:endParaRPr lang="zh-CN" altLang="en-US"/>
              </a:p>
            </p:txBody>
          </p:sp>
          <p:sp>
            <p:nvSpPr>
              <p:cNvPr id="24603" name="Line 18"/>
              <p:cNvSpPr>
                <a:spLocks noChangeShapeType="1"/>
              </p:cNvSpPr>
              <p:nvPr/>
            </p:nvSpPr>
            <p:spPr bwMode="auto">
              <a:xfrm>
                <a:off x="2454" y="7576"/>
                <a:ext cx="1079" cy="0"/>
              </a:xfrm>
              <a:prstGeom prst="line">
                <a:avLst/>
              </a:prstGeom>
              <a:noFill/>
              <a:ln w="9525">
                <a:solidFill>
                  <a:srgbClr val="000000"/>
                </a:solidFill>
                <a:round/>
                <a:headEnd/>
                <a:tailEnd/>
              </a:ln>
            </p:spPr>
            <p:txBody>
              <a:bodyPr/>
              <a:lstStyle/>
              <a:p>
                <a:endParaRPr lang="zh-CN" altLang="en-US"/>
              </a:p>
            </p:txBody>
          </p:sp>
          <p:sp>
            <p:nvSpPr>
              <p:cNvPr id="24604" name="Line 19"/>
              <p:cNvSpPr>
                <a:spLocks noChangeShapeType="1"/>
              </p:cNvSpPr>
              <p:nvPr/>
            </p:nvSpPr>
            <p:spPr bwMode="auto">
              <a:xfrm>
                <a:off x="2454" y="8118"/>
                <a:ext cx="1079" cy="0"/>
              </a:xfrm>
              <a:prstGeom prst="line">
                <a:avLst/>
              </a:prstGeom>
              <a:noFill/>
              <a:ln w="9525">
                <a:solidFill>
                  <a:srgbClr val="000000"/>
                </a:solidFill>
                <a:round/>
                <a:headEnd/>
                <a:tailEnd/>
              </a:ln>
            </p:spPr>
            <p:txBody>
              <a:bodyPr/>
              <a:lstStyle/>
              <a:p>
                <a:endParaRPr lang="zh-CN" altLang="en-US"/>
              </a:p>
            </p:txBody>
          </p:sp>
          <p:sp>
            <p:nvSpPr>
              <p:cNvPr id="24605" name="Oval 20"/>
              <p:cNvSpPr>
                <a:spLocks noChangeArrowheads="1"/>
              </p:cNvSpPr>
              <p:nvPr/>
            </p:nvSpPr>
            <p:spPr bwMode="auto">
              <a:xfrm>
                <a:off x="2951" y="7611"/>
                <a:ext cx="98" cy="466"/>
              </a:xfrm>
              <a:prstGeom prst="ellipse">
                <a:avLst/>
              </a:prstGeom>
              <a:noFill/>
              <a:ln w="9525">
                <a:solidFill>
                  <a:srgbClr val="000000"/>
                </a:solidFill>
                <a:round/>
                <a:headEnd/>
                <a:tailEnd/>
              </a:ln>
            </p:spPr>
            <p:txBody>
              <a:bodyPr/>
              <a:lstStyle/>
              <a:p>
                <a:endParaRPr lang="zh-CN" altLang="en-US"/>
              </a:p>
            </p:txBody>
          </p:sp>
          <p:sp>
            <p:nvSpPr>
              <p:cNvPr id="24606" name="Oval 21"/>
              <p:cNvSpPr>
                <a:spLocks noChangeArrowheads="1"/>
              </p:cNvSpPr>
              <p:nvPr/>
            </p:nvSpPr>
            <p:spPr bwMode="auto">
              <a:xfrm>
                <a:off x="2510" y="7770"/>
                <a:ext cx="153" cy="154"/>
              </a:xfrm>
              <a:prstGeom prst="ellipse">
                <a:avLst/>
              </a:prstGeom>
              <a:noFill/>
              <a:ln w="9525">
                <a:solidFill>
                  <a:srgbClr val="000000"/>
                </a:solidFill>
                <a:round/>
                <a:headEnd/>
                <a:tailEnd/>
              </a:ln>
            </p:spPr>
            <p:txBody>
              <a:bodyPr/>
              <a:lstStyle/>
              <a:p>
                <a:endParaRPr lang="zh-CN" altLang="en-US"/>
              </a:p>
            </p:txBody>
          </p:sp>
          <p:sp>
            <p:nvSpPr>
              <p:cNvPr id="24607" name="Line 22"/>
              <p:cNvSpPr>
                <a:spLocks noChangeShapeType="1"/>
              </p:cNvSpPr>
              <p:nvPr/>
            </p:nvSpPr>
            <p:spPr bwMode="auto">
              <a:xfrm flipH="1">
                <a:off x="2538" y="7798"/>
                <a:ext cx="97" cy="112"/>
              </a:xfrm>
              <a:prstGeom prst="line">
                <a:avLst/>
              </a:prstGeom>
              <a:noFill/>
              <a:ln w="9525">
                <a:solidFill>
                  <a:srgbClr val="000000"/>
                </a:solidFill>
                <a:round/>
                <a:headEnd/>
                <a:tailEnd/>
              </a:ln>
            </p:spPr>
            <p:txBody>
              <a:bodyPr/>
              <a:lstStyle/>
              <a:p>
                <a:endParaRPr lang="zh-CN" altLang="en-US"/>
              </a:p>
            </p:txBody>
          </p:sp>
          <p:sp>
            <p:nvSpPr>
              <p:cNvPr id="24608" name="Line 23"/>
              <p:cNvSpPr>
                <a:spLocks noChangeShapeType="1"/>
              </p:cNvSpPr>
              <p:nvPr/>
            </p:nvSpPr>
            <p:spPr bwMode="auto">
              <a:xfrm>
                <a:off x="2530" y="7798"/>
                <a:ext cx="112" cy="91"/>
              </a:xfrm>
              <a:prstGeom prst="line">
                <a:avLst/>
              </a:prstGeom>
              <a:noFill/>
              <a:ln w="9525">
                <a:solidFill>
                  <a:srgbClr val="000000"/>
                </a:solidFill>
                <a:round/>
                <a:headEnd/>
                <a:tailEnd/>
              </a:ln>
            </p:spPr>
            <p:txBody>
              <a:bodyPr/>
              <a:lstStyle/>
              <a:p>
                <a:endParaRPr lang="zh-CN" altLang="en-US"/>
              </a:p>
            </p:txBody>
          </p:sp>
          <p:sp>
            <p:nvSpPr>
              <p:cNvPr id="24609" name="Freeform 24"/>
              <p:cNvSpPr>
                <a:spLocks/>
              </p:cNvSpPr>
              <p:nvPr/>
            </p:nvSpPr>
            <p:spPr bwMode="auto">
              <a:xfrm>
                <a:off x="2656" y="7625"/>
                <a:ext cx="891" cy="195"/>
              </a:xfrm>
              <a:custGeom>
                <a:avLst/>
                <a:gdLst>
                  <a:gd name="T0" fmla="*/ 0 w 960"/>
                  <a:gd name="T1" fmla="*/ 195 h 210"/>
                  <a:gd name="T2" fmla="*/ 342 w 960"/>
                  <a:gd name="T3" fmla="*/ 0 h 210"/>
                  <a:gd name="T4" fmla="*/ 891 w 960"/>
                  <a:gd name="T5" fmla="*/ 188 h 210"/>
                  <a:gd name="T6" fmla="*/ 0 60000 65536"/>
                  <a:gd name="T7" fmla="*/ 0 60000 65536"/>
                  <a:gd name="T8" fmla="*/ 0 60000 65536"/>
                  <a:gd name="T9" fmla="*/ 0 w 960"/>
                  <a:gd name="T10" fmla="*/ 0 h 210"/>
                  <a:gd name="T11" fmla="*/ 960 w 960"/>
                  <a:gd name="T12" fmla="*/ 210 h 210"/>
                </a:gdLst>
                <a:ahLst/>
                <a:cxnLst>
                  <a:cxn ang="T6">
                    <a:pos x="T0" y="T1"/>
                  </a:cxn>
                  <a:cxn ang="T7">
                    <a:pos x="T2" y="T3"/>
                  </a:cxn>
                  <a:cxn ang="T8">
                    <a:pos x="T4" y="T5"/>
                  </a:cxn>
                </a:cxnLst>
                <a:rect l="T9" t="T10" r="T11" b="T12"/>
                <a:pathLst>
                  <a:path w="960" h="210">
                    <a:moveTo>
                      <a:pt x="0" y="210"/>
                    </a:moveTo>
                    <a:lnTo>
                      <a:pt x="368" y="0"/>
                    </a:lnTo>
                    <a:lnTo>
                      <a:pt x="960" y="202"/>
                    </a:lnTo>
                  </a:path>
                </a:pathLst>
              </a:custGeom>
              <a:noFill/>
              <a:ln w="9525">
                <a:solidFill>
                  <a:srgbClr val="000000"/>
                </a:solidFill>
                <a:round/>
                <a:headEnd/>
                <a:tailEnd/>
              </a:ln>
            </p:spPr>
            <p:txBody>
              <a:bodyPr/>
              <a:lstStyle/>
              <a:p>
                <a:endParaRPr lang="zh-CN" altLang="en-US"/>
              </a:p>
            </p:txBody>
          </p:sp>
          <p:sp>
            <p:nvSpPr>
              <p:cNvPr id="24610" name="Freeform 25"/>
              <p:cNvSpPr>
                <a:spLocks/>
              </p:cNvSpPr>
              <p:nvPr/>
            </p:nvSpPr>
            <p:spPr bwMode="auto">
              <a:xfrm flipV="1">
                <a:off x="2656" y="7877"/>
                <a:ext cx="891" cy="195"/>
              </a:xfrm>
              <a:custGeom>
                <a:avLst/>
                <a:gdLst>
                  <a:gd name="T0" fmla="*/ 0 w 960"/>
                  <a:gd name="T1" fmla="*/ 195 h 210"/>
                  <a:gd name="T2" fmla="*/ 342 w 960"/>
                  <a:gd name="T3" fmla="*/ 0 h 210"/>
                  <a:gd name="T4" fmla="*/ 891 w 960"/>
                  <a:gd name="T5" fmla="*/ 188 h 210"/>
                  <a:gd name="T6" fmla="*/ 0 60000 65536"/>
                  <a:gd name="T7" fmla="*/ 0 60000 65536"/>
                  <a:gd name="T8" fmla="*/ 0 60000 65536"/>
                  <a:gd name="T9" fmla="*/ 0 w 960"/>
                  <a:gd name="T10" fmla="*/ 0 h 210"/>
                  <a:gd name="T11" fmla="*/ 960 w 960"/>
                  <a:gd name="T12" fmla="*/ 210 h 210"/>
                </a:gdLst>
                <a:ahLst/>
                <a:cxnLst>
                  <a:cxn ang="T6">
                    <a:pos x="T0" y="T1"/>
                  </a:cxn>
                  <a:cxn ang="T7">
                    <a:pos x="T2" y="T3"/>
                  </a:cxn>
                  <a:cxn ang="T8">
                    <a:pos x="T4" y="T5"/>
                  </a:cxn>
                </a:cxnLst>
                <a:rect l="T9" t="T10" r="T11" b="T12"/>
                <a:pathLst>
                  <a:path w="960" h="210">
                    <a:moveTo>
                      <a:pt x="0" y="210"/>
                    </a:moveTo>
                    <a:lnTo>
                      <a:pt x="368" y="0"/>
                    </a:lnTo>
                    <a:lnTo>
                      <a:pt x="960" y="202"/>
                    </a:lnTo>
                  </a:path>
                </a:pathLst>
              </a:custGeom>
              <a:noFill/>
              <a:ln w="9525">
                <a:solidFill>
                  <a:srgbClr val="000000"/>
                </a:solidFill>
                <a:round/>
                <a:headEnd/>
                <a:tailEnd/>
              </a:ln>
            </p:spPr>
            <p:txBody>
              <a:bodyPr/>
              <a:lstStyle/>
              <a:p>
                <a:endParaRPr lang="zh-CN" altLang="en-US"/>
              </a:p>
            </p:txBody>
          </p:sp>
          <p:sp>
            <p:nvSpPr>
              <p:cNvPr id="24611" name="Line 26"/>
              <p:cNvSpPr>
                <a:spLocks noChangeShapeType="1"/>
              </p:cNvSpPr>
              <p:nvPr/>
            </p:nvSpPr>
            <p:spPr bwMode="auto">
              <a:xfrm flipV="1">
                <a:off x="2725" y="7715"/>
                <a:ext cx="105" cy="63"/>
              </a:xfrm>
              <a:prstGeom prst="line">
                <a:avLst/>
              </a:prstGeom>
              <a:noFill/>
              <a:ln w="6350">
                <a:solidFill>
                  <a:srgbClr val="000000"/>
                </a:solidFill>
                <a:round/>
                <a:headEnd/>
                <a:tailEnd type="stealth" w="sm" len="sm"/>
              </a:ln>
            </p:spPr>
            <p:txBody>
              <a:bodyPr/>
              <a:lstStyle/>
              <a:p>
                <a:endParaRPr lang="zh-CN" altLang="en-US"/>
              </a:p>
            </p:txBody>
          </p:sp>
          <p:sp>
            <p:nvSpPr>
              <p:cNvPr id="24612" name="Line 27"/>
              <p:cNvSpPr>
                <a:spLocks noChangeShapeType="1"/>
              </p:cNvSpPr>
              <p:nvPr/>
            </p:nvSpPr>
            <p:spPr bwMode="auto">
              <a:xfrm>
                <a:off x="2733" y="7923"/>
                <a:ext cx="105" cy="63"/>
              </a:xfrm>
              <a:prstGeom prst="line">
                <a:avLst/>
              </a:prstGeom>
              <a:noFill/>
              <a:ln w="6350">
                <a:solidFill>
                  <a:srgbClr val="000000"/>
                </a:solidFill>
                <a:round/>
                <a:headEnd/>
                <a:tailEnd type="stealth" w="sm" len="sm"/>
              </a:ln>
            </p:spPr>
            <p:txBody>
              <a:bodyPr/>
              <a:lstStyle/>
              <a:p>
                <a:endParaRPr lang="zh-CN" altLang="en-US"/>
              </a:p>
            </p:txBody>
          </p:sp>
          <p:sp>
            <p:nvSpPr>
              <p:cNvPr id="24613" name="Line 28"/>
              <p:cNvSpPr>
                <a:spLocks noChangeShapeType="1"/>
              </p:cNvSpPr>
              <p:nvPr/>
            </p:nvSpPr>
            <p:spPr bwMode="auto">
              <a:xfrm>
                <a:off x="3151" y="7680"/>
                <a:ext cx="153" cy="56"/>
              </a:xfrm>
              <a:prstGeom prst="line">
                <a:avLst/>
              </a:prstGeom>
              <a:noFill/>
              <a:ln w="6350">
                <a:solidFill>
                  <a:srgbClr val="000000"/>
                </a:solidFill>
                <a:round/>
                <a:headEnd/>
                <a:tailEnd type="stealth" w="sm" len="sm"/>
              </a:ln>
            </p:spPr>
            <p:txBody>
              <a:bodyPr/>
              <a:lstStyle/>
              <a:p>
                <a:endParaRPr lang="zh-CN" altLang="en-US"/>
              </a:p>
            </p:txBody>
          </p:sp>
          <p:sp>
            <p:nvSpPr>
              <p:cNvPr id="24614" name="Line 29"/>
              <p:cNvSpPr>
                <a:spLocks noChangeShapeType="1"/>
              </p:cNvSpPr>
              <p:nvPr/>
            </p:nvSpPr>
            <p:spPr bwMode="auto">
              <a:xfrm flipV="1">
                <a:off x="3161" y="7963"/>
                <a:ext cx="153" cy="55"/>
              </a:xfrm>
              <a:prstGeom prst="line">
                <a:avLst/>
              </a:prstGeom>
              <a:noFill/>
              <a:ln w="6350">
                <a:solidFill>
                  <a:srgbClr val="000000"/>
                </a:solidFill>
                <a:round/>
                <a:headEnd/>
                <a:tailEnd type="stealth" w="sm" len="sm"/>
              </a:ln>
            </p:spPr>
            <p:txBody>
              <a:bodyPr/>
              <a:lstStyle/>
              <a:p>
                <a:endParaRPr lang="zh-CN" altLang="en-US"/>
              </a:p>
            </p:txBody>
          </p:sp>
          <p:sp>
            <p:nvSpPr>
              <p:cNvPr id="24615" name="Line 30"/>
              <p:cNvSpPr>
                <a:spLocks noChangeShapeType="1"/>
              </p:cNvSpPr>
              <p:nvPr/>
            </p:nvSpPr>
            <p:spPr bwMode="auto">
              <a:xfrm flipH="1">
                <a:off x="2986" y="7740"/>
                <a:ext cx="28" cy="63"/>
              </a:xfrm>
              <a:prstGeom prst="line">
                <a:avLst/>
              </a:prstGeom>
              <a:noFill/>
              <a:ln w="6350">
                <a:solidFill>
                  <a:srgbClr val="000000"/>
                </a:solidFill>
                <a:round/>
                <a:headEnd/>
                <a:tailEnd/>
              </a:ln>
            </p:spPr>
            <p:txBody>
              <a:bodyPr/>
              <a:lstStyle/>
              <a:p>
                <a:endParaRPr lang="zh-CN" altLang="en-US"/>
              </a:p>
            </p:txBody>
          </p:sp>
          <p:sp>
            <p:nvSpPr>
              <p:cNvPr id="24616" name="Line 31"/>
              <p:cNvSpPr>
                <a:spLocks noChangeShapeType="1"/>
              </p:cNvSpPr>
              <p:nvPr/>
            </p:nvSpPr>
            <p:spPr bwMode="auto">
              <a:xfrm flipH="1">
                <a:off x="2970" y="7733"/>
                <a:ext cx="20" cy="42"/>
              </a:xfrm>
              <a:prstGeom prst="line">
                <a:avLst/>
              </a:prstGeom>
              <a:noFill/>
              <a:ln w="6350">
                <a:solidFill>
                  <a:srgbClr val="000000"/>
                </a:solidFill>
                <a:round/>
                <a:headEnd/>
                <a:tailEnd/>
              </a:ln>
            </p:spPr>
            <p:txBody>
              <a:bodyPr/>
              <a:lstStyle/>
              <a:p>
                <a:endParaRPr lang="zh-CN" altLang="en-US"/>
              </a:p>
            </p:txBody>
          </p:sp>
          <p:sp>
            <p:nvSpPr>
              <p:cNvPr id="24617" name="Line 32"/>
              <p:cNvSpPr>
                <a:spLocks noChangeShapeType="1"/>
              </p:cNvSpPr>
              <p:nvPr/>
            </p:nvSpPr>
            <p:spPr bwMode="auto">
              <a:xfrm flipH="1">
                <a:off x="3018" y="7755"/>
                <a:ext cx="14" cy="38"/>
              </a:xfrm>
              <a:prstGeom prst="line">
                <a:avLst/>
              </a:prstGeom>
              <a:noFill/>
              <a:ln w="6350">
                <a:solidFill>
                  <a:srgbClr val="000000"/>
                </a:solidFill>
                <a:round/>
                <a:headEnd/>
                <a:tailEnd/>
              </a:ln>
            </p:spPr>
            <p:txBody>
              <a:bodyPr/>
              <a:lstStyle/>
              <a:p>
                <a:endParaRPr lang="zh-CN" altLang="en-US"/>
              </a:p>
            </p:txBody>
          </p:sp>
          <p:sp>
            <p:nvSpPr>
              <p:cNvPr id="24618" name="Line 33"/>
              <p:cNvSpPr>
                <a:spLocks noChangeShapeType="1"/>
              </p:cNvSpPr>
              <p:nvPr/>
            </p:nvSpPr>
            <p:spPr bwMode="auto">
              <a:xfrm flipH="1">
                <a:off x="2986" y="7907"/>
                <a:ext cx="28" cy="63"/>
              </a:xfrm>
              <a:prstGeom prst="line">
                <a:avLst/>
              </a:prstGeom>
              <a:noFill/>
              <a:ln w="6350">
                <a:solidFill>
                  <a:srgbClr val="000000"/>
                </a:solidFill>
                <a:round/>
                <a:headEnd/>
                <a:tailEnd/>
              </a:ln>
            </p:spPr>
            <p:txBody>
              <a:bodyPr/>
              <a:lstStyle/>
              <a:p>
                <a:endParaRPr lang="zh-CN" altLang="en-US"/>
              </a:p>
            </p:txBody>
          </p:sp>
          <p:sp>
            <p:nvSpPr>
              <p:cNvPr id="24619" name="Line 34"/>
              <p:cNvSpPr>
                <a:spLocks noChangeShapeType="1"/>
              </p:cNvSpPr>
              <p:nvPr/>
            </p:nvSpPr>
            <p:spPr bwMode="auto">
              <a:xfrm flipH="1">
                <a:off x="2970" y="7900"/>
                <a:ext cx="20" cy="42"/>
              </a:xfrm>
              <a:prstGeom prst="line">
                <a:avLst/>
              </a:prstGeom>
              <a:noFill/>
              <a:ln w="6350">
                <a:solidFill>
                  <a:srgbClr val="000000"/>
                </a:solidFill>
                <a:round/>
                <a:headEnd/>
                <a:tailEnd/>
              </a:ln>
            </p:spPr>
            <p:txBody>
              <a:bodyPr/>
              <a:lstStyle/>
              <a:p>
                <a:endParaRPr lang="zh-CN" altLang="en-US"/>
              </a:p>
            </p:txBody>
          </p:sp>
          <p:sp>
            <p:nvSpPr>
              <p:cNvPr id="24620" name="Line 35"/>
              <p:cNvSpPr>
                <a:spLocks noChangeShapeType="1"/>
              </p:cNvSpPr>
              <p:nvPr/>
            </p:nvSpPr>
            <p:spPr bwMode="auto">
              <a:xfrm flipH="1">
                <a:off x="3018" y="7922"/>
                <a:ext cx="14" cy="38"/>
              </a:xfrm>
              <a:prstGeom prst="line">
                <a:avLst/>
              </a:prstGeom>
              <a:noFill/>
              <a:ln w="6350">
                <a:solidFill>
                  <a:srgbClr val="000000"/>
                </a:solidFill>
                <a:round/>
                <a:headEnd/>
                <a:tailEnd/>
              </a:ln>
            </p:spPr>
            <p:txBody>
              <a:bodyPr/>
              <a:lstStyle/>
              <a:p>
                <a:endParaRPr lang="zh-CN" altLang="en-US"/>
              </a:p>
            </p:txBody>
          </p:sp>
          <p:sp>
            <p:nvSpPr>
              <p:cNvPr id="24621" name="Line 36"/>
              <p:cNvSpPr>
                <a:spLocks noChangeShapeType="1"/>
              </p:cNvSpPr>
              <p:nvPr/>
            </p:nvSpPr>
            <p:spPr bwMode="auto">
              <a:xfrm>
                <a:off x="3380" y="7493"/>
                <a:ext cx="2585" cy="0"/>
              </a:xfrm>
              <a:prstGeom prst="line">
                <a:avLst/>
              </a:prstGeom>
              <a:noFill/>
              <a:ln w="9525">
                <a:solidFill>
                  <a:srgbClr val="000000"/>
                </a:solidFill>
                <a:round/>
                <a:headEnd/>
                <a:tailEnd/>
              </a:ln>
            </p:spPr>
            <p:txBody>
              <a:bodyPr/>
              <a:lstStyle/>
              <a:p>
                <a:endParaRPr lang="zh-CN" altLang="en-US"/>
              </a:p>
            </p:txBody>
          </p:sp>
          <p:sp>
            <p:nvSpPr>
              <p:cNvPr id="24622" name="Line 37"/>
              <p:cNvSpPr>
                <a:spLocks noChangeShapeType="1"/>
              </p:cNvSpPr>
              <p:nvPr/>
            </p:nvSpPr>
            <p:spPr bwMode="auto">
              <a:xfrm>
                <a:off x="3386" y="8217"/>
                <a:ext cx="2584" cy="0"/>
              </a:xfrm>
              <a:prstGeom prst="line">
                <a:avLst/>
              </a:prstGeom>
              <a:noFill/>
              <a:ln w="9525">
                <a:solidFill>
                  <a:srgbClr val="000000"/>
                </a:solidFill>
                <a:round/>
                <a:headEnd/>
                <a:tailEnd/>
              </a:ln>
            </p:spPr>
            <p:txBody>
              <a:bodyPr/>
              <a:lstStyle/>
              <a:p>
                <a:endParaRPr lang="zh-CN" altLang="en-US"/>
              </a:p>
            </p:txBody>
          </p:sp>
          <p:sp>
            <p:nvSpPr>
              <p:cNvPr id="24623" name="Arc 38"/>
              <p:cNvSpPr>
                <a:spLocks/>
              </p:cNvSpPr>
              <p:nvPr/>
            </p:nvSpPr>
            <p:spPr bwMode="auto">
              <a:xfrm flipH="1">
                <a:off x="5751" y="7505"/>
                <a:ext cx="1589" cy="706"/>
              </a:xfrm>
              <a:custGeom>
                <a:avLst/>
                <a:gdLst>
                  <a:gd name="T0" fmla="*/ 113 w 21600"/>
                  <a:gd name="T1" fmla="*/ 0 h 10675"/>
                  <a:gd name="T2" fmla="*/ 114 w 21600"/>
                  <a:gd name="T3" fmla="*/ 47 h 10675"/>
                  <a:gd name="T4" fmla="*/ 0 w 21600"/>
                  <a:gd name="T5" fmla="*/ 24 h 10675"/>
                  <a:gd name="T6" fmla="*/ 0 60000 65536"/>
                  <a:gd name="T7" fmla="*/ 0 60000 65536"/>
                  <a:gd name="T8" fmla="*/ 0 60000 65536"/>
                  <a:gd name="T9" fmla="*/ 0 w 21600"/>
                  <a:gd name="T10" fmla="*/ 0 h 10675"/>
                  <a:gd name="T11" fmla="*/ 21600 w 21600"/>
                  <a:gd name="T12" fmla="*/ 10675 h 10675"/>
                </a:gdLst>
                <a:ahLst/>
                <a:cxnLst>
                  <a:cxn ang="T6">
                    <a:pos x="T0" y="T1"/>
                  </a:cxn>
                  <a:cxn ang="T7">
                    <a:pos x="T2" y="T3"/>
                  </a:cxn>
                  <a:cxn ang="T8">
                    <a:pos x="T4" y="T5"/>
                  </a:cxn>
                </a:cxnLst>
                <a:rect l="T9" t="T10" r="T11" b="T12"/>
                <a:pathLst>
                  <a:path w="21600" h="10675" fill="none" extrusionOk="0">
                    <a:moveTo>
                      <a:pt x="20889" y="-1"/>
                    </a:moveTo>
                    <a:cubicBezTo>
                      <a:pt x="21361" y="1793"/>
                      <a:pt x="21600" y="3640"/>
                      <a:pt x="21600" y="5495"/>
                    </a:cubicBezTo>
                    <a:cubicBezTo>
                      <a:pt x="21600" y="7240"/>
                      <a:pt x="21388" y="8980"/>
                      <a:pt x="20969" y="10674"/>
                    </a:cubicBezTo>
                  </a:path>
                  <a:path w="21600" h="10675" stroke="0" extrusionOk="0">
                    <a:moveTo>
                      <a:pt x="20889" y="-1"/>
                    </a:moveTo>
                    <a:cubicBezTo>
                      <a:pt x="21361" y="1793"/>
                      <a:pt x="21600" y="3640"/>
                      <a:pt x="21600" y="5495"/>
                    </a:cubicBezTo>
                    <a:cubicBezTo>
                      <a:pt x="21600" y="7240"/>
                      <a:pt x="21388" y="8980"/>
                      <a:pt x="20969" y="10674"/>
                    </a:cubicBezTo>
                    <a:lnTo>
                      <a:pt x="0" y="5495"/>
                    </a:lnTo>
                    <a:close/>
                  </a:path>
                </a:pathLst>
              </a:custGeom>
              <a:noFill/>
              <a:ln w="9525">
                <a:solidFill>
                  <a:srgbClr val="000000"/>
                </a:solidFill>
                <a:round/>
                <a:headEnd/>
                <a:tailEnd/>
              </a:ln>
            </p:spPr>
            <p:txBody>
              <a:bodyPr/>
              <a:lstStyle/>
              <a:p>
                <a:endParaRPr lang="zh-CN" altLang="en-US"/>
              </a:p>
            </p:txBody>
          </p:sp>
          <p:sp>
            <p:nvSpPr>
              <p:cNvPr id="24624" name="Arc 39"/>
              <p:cNvSpPr>
                <a:spLocks/>
              </p:cNvSpPr>
              <p:nvPr/>
            </p:nvSpPr>
            <p:spPr bwMode="auto">
              <a:xfrm flipH="1">
                <a:off x="5848" y="7505"/>
                <a:ext cx="1101" cy="706"/>
              </a:xfrm>
              <a:custGeom>
                <a:avLst/>
                <a:gdLst>
                  <a:gd name="T0" fmla="*/ 54 w 21600"/>
                  <a:gd name="T1" fmla="*/ 0 h 10675"/>
                  <a:gd name="T2" fmla="*/ 54 w 21600"/>
                  <a:gd name="T3" fmla="*/ 47 h 10675"/>
                  <a:gd name="T4" fmla="*/ 0 w 21600"/>
                  <a:gd name="T5" fmla="*/ 24 h 10675"/>
                  <a:gd name="T6" fmla="*/ 0 60000 65536"/>
                  <a:gd name="T7" fmla="*/ 0 60000 65536"/>
                  <a:gd name="T8" fmla="*/ 0 60000 65536"/>
                  <a:gd name="T9" fmla="*/ 0 w 21600"/>
                  <a:gd name="T10" fmla="*/ 0 h 10675"/>
                  <a:gd name="T11" fmla="*/ 21600 w 21600"/>
                  <a:gd name="T12" fmla="*/ 10675 h 10675"/>
                </a:gdLst>
                <a:ahLst/>
                <a:cxnLst>
                  <a:cxn ang="T6">
                    <a:pos x="T0" y="T1"/>
                  </a:cxn>
                  <a:cxn ang="T7">
                    <a:pos x="T2" y="T3"/>
                  </a:cxn>
                  <a:cxn ang="T8">
                    <a:pos x="T4" y="T5"/>
                  </a:cxn>
                </a:cxnLst>
                <a:rect l="T9" t="T10" r="T11" b="T12"/>
                <a:pathLst>
                  <a:path w="21600" h="10675" fill="none" extrusionOk="0">
                    <a:moveTo>
                      <a:pt x="20889" y="-1"/>
                    </a:moveTo>
                    <a:cubicBezTo>
                      <a:pt x="21361" y="1793"/>
                      <a:pt x="21600" y="3640"/>
                      <a:pt x="21600" y="5495"/>
                    </a:cubicBezTo>
                    <a:cubicBezTo>
                      <a:pt x="21600" y="7240"/>
                      <a:pt x="21388" y="8980"/>
                      <a:pt x="20969" y="10674"/>
                    </a:cubicBezTo>
                  </a:path>
                  <a:path w="21600" h="10675" stroke="0" extrusionOk="0">
                    <a:moveTo>
                      <a:pt x="20889" y="-1"/>
                    </a:moveTo>
                    <a:cubicBezTo>
                      <a:pt x="21361" y="1793"/>
                      <a:pt x="21600" y="3640"/>
                      <a:pt x="21600" y="5495"/>
                    </a:cubicBezTo>
                    <a:cubicBezTo>
                      <a:pt x="21600" y="7240"/>
                      <a:pt x="21388" y="8980"/>
                      <a:pt x="20969" y="10674"/>
                    </a:cubicBezTo>
                    <a:lnTo>
                      <a:pt x="0" y="5495"/>
                    </a:lnTo>
                    <a:close/>
                  </a:path>
                </a:pathLst>
              </a:custGeom>
              <a:noFill/>
              <a:ln w="9525">
                <a:solidFill>
                  <a:srgbClr val="000000"/>
                </a:solidFill>
                <a:round/>
                <a:headEnd/>
                <a:tailEnd/>
              </a:ln>
            </p:spPr>
            <p:txBody>
              <a:bodyPr/>
              <a:lstStyle/>
              <a:p>
                <a:endParaRPr lang="zh-CN" altLang="en-US"/>
              </a:p>
            </p:txBody>
          </p:sp>
          <p:sp>
            <p:nvSpPr>
              <p:cNvPr id="24625" name="Arc 40"/>
              <p:cNvSpPr>
                <a:spLocks/>
              </p:cNvSpPr>
              <p:nvPr/>
            </p:nvSpPr>
            <p:spPr bwMode="auto">
              <a:xfrm>
                <a:off x="3548" y="7498"/>
                <a:ext cx="2501" cy="706"/>
              </a:xfrm>
              <a:custGeom>
                <a:avLst/>
                <a:gdLst>
                  <a:gd name="T0" fmla="*/ 280 w 21600"/>
                  <a:gd name="T1" fmla="*/ 0 h 10675"/>
                  <a:gd name="T2" fmla="*/ 281 w 21600"/>
                  <a:gd name="T3" fmla="*/ 47 h 10675"/>
                  <a:gd name="T4" fmla="*/ 0 w 21600"/>
                  <a:gd name="T5" fmla="*/ 24 h 10675"/>
                  <a:gd name="T6" fmla="*/ 0 60000 65536"/>
                  <a:gd name="T7" fmla="*/ 0 60000 65536"/>
                  <a:gd name="T8" fmla="*/ 0 60000 65536"/>
                  <a:gd name="T9" fmla="*/ 0 w 21600"/>
                  <a:gd name="T10" fmla="*/ 0 h 10675"/>
                  <a:gd name="T11" fmla="*/ 21600 w 21600"/>
                  <a:gd name="T12" fmla="*/ 10675 h 10675"/>
                </a:gdLst>
                <a:ahLst/>
                <a:cxnLst>
                  <a:cxn ang="T6">
                    <a:pos x="T0" y="T1"/>
                  </a:cxn>
                  <a:cxn ang="T7">
                    <a:pos x="T2" y="T3"/>
                  </a:cxn>
                  <a:cxn ang="T8">
                    <a:pos x="T4" y="T5"/>
                  </a:cxn>
                </a:cxnLst>
                <a:rect l="T9" t="T10" r="T11" b="T12"/>
                <a:pathLst>
                  <a:path w="21600" h="10675" fill="none" extrusionOk="0">
                    <a:moveTo>
                      <a:pt x="20889" y="-1"/>
                    </a:moveTo>
                    <a:cubicBezTo>
                      <a:pt x="21361" y="1793"/>
                      <a:pt x="21600" y="3640"/>
                      <a:pt x="21600" y="5495"/>
                    </a:cubicBezTo>
                    <a:cubicBezTo>
                      <a:pt x="21600" y="7240"/>
                      <a:pt x="21388" y="8980"/>
                      <a:pt x="20969" y="10674"/>
                    </a:cubicBezTo>
                  </a:path>
                  <a:path w="21600" h="10675" stroke="0" extrusionOk="0">
                    <a:moveTo>
                      <a:pt x="20889" y="-1"/>
                    </a:moveTo>
                    <a:cubicBezTo>
                      <a:pt x="21361" y="1793"/>
                      <a:pt x="21600" y="3640"/>
                      <a:pt x="21600" y="5495"/>
                    </a:cubicBezTo>
                    <a:cubicBezTo>
                      <a:pt x="21600" y="7240"/>
                      <a:pt x="21388" y="8980"/>
                      <a:pt x="20969" y="10674"/>
                    </a:cubicBezTo>
                    <a:lnTo>
                      <a:pt x="0" y="5495"/>
                    </a:lnTo>
                    <a:close/>
                  </a:path>
                </a:pathLst>
              </a:custGeom>
              <a:noFill/>
              <a:ln w="9525">
                <a:solidFill>
                  <a:srgbClr val="000000"/>
                </a:solidFill>
                <a:round/>
                <a:headEnd/>
                <a:tailEnd/>
              </a:ln>
            </p:spPr>
            <p:txBody>
              <a:bodyPr/>
              <a:lstStyle/>
              <a:p>
                <a:endParaRPr lang="zh-CN" altLang="en-US"/>
              </a:p>
            </p:txBody>
          </p:sp>
          <p:sp>
            <p:nvSpPr>
              <p:cNvPr id="24626" name="Line 41"/>
              <p:cNvSpPr>
                <a:spLocks noChangeShapeType="1"/>
              </p:cNvSpPr>
              <p:nvPr/>
            </p:nvSpPr>
            <p:spPr bwMode="auto">
              <a:xfrm flipH="1">
                <a:off x="5919" y="7622"/>
                <a:ext cx="28" cy="63"/>
              </a:xfrm>
              <a:prstGeom prst="line">
                <a:avLst/>
              </a:prstGeom>
              <a:noFill/>
              <a:ln w="6350">
                <a:solidFill>
                  <a:srgbClr val="000000"/>
                </a:solidFill>
                <a:round/>
                <a:headEnd/>
                <a:tailEnd/>
              </a:ln>
            </p:spPr>
            <p:txBody>
              <a:bodyPr/>
              <a:lstStyle/>
              <a:p>
                <a:endParaRPr lang="zh-CN" altLang="en-US"/>
              </a:p>
            </p:txBody>
          </p:sp>
          <p:sp>
            <p:nvSpPr>
              <p:cNvPr id="24627" name="Line 42"/>
              <p:cNvSpPr>
                <a:spLocks noChangeShapeType="1"/>
              </p:cNvSpPr>
              <p:nvPr/>
            </p:nvSpPr>
            <p:spPr bwMode="auto">
              <a:xfrm flipH="1">
                <a:off x="5903" y="7615"/>
                <a:ext cx="20" cy="42"/>
              </a:xfrm>
              <a:prstGeom prst="line">
                <a:avLst/>
              </a:prstGeom>
              <a:noFill/>
              <a:ln w="6350">
                <a:solidFill>
                  <a:srgbClr val="000000"/>
                </a:solidFill>
                <a:round/>
                <a:headEnd/>
                <a:tailEnd/>
              </a:ln>
            </p:spPr>
            <p:txBody>
              <a:bodyPr/>
              <a:lstStyle/>
              <a:p>
                <a:endParaRPr lang="zh-CN" altLang="en-US"/>
              </a:p>
            </p:txBody>
          </p:sp>
          <p:sp>
            <p:nvSpPr>
              <p:cNvPr id="24628" name="Line 43"/>
              <p:cNvSpPr>
                <a:spLocks noChangeShapeType="1"/>
              </p:cNvSpPr>
              <p:nvPr/>
            </p:nvSpPr>
            <p:spPr bwMode="auto">
              <a:xfrm flipH="1">
                <a:off x="5951" y="7637"/>
                <a:ext cx="14" cy="38"/>
              </a:xfrm>
              <a:prstGeom prst="line">
                <a:avLst/>
              </a:prstGeom>
              <a:noFill/>
              <a:ln w="6350">
                <a:solidFill>
                  <a:srgbClr val="000000"/>
                </a:solidFill>
                <a:round/>
                <a:headEnd/>
                <a:tailEnd/>
              </a:ln>
            </p:spPr>
            <p:txBody>
              <a:bodyPr/>
              <a:lstStyle/>
              <a:p>
                <a:endParaRPr lang="zh-CN" altLang="en-US"/>
              </a:p>
            </p:txBody>
          </p:sp>
          <p:sp>
            <p:nvSpPr>
              <p:cNvPr id="24629" name="Line 44"/>
              <p:cNvSpPr>
                <a:spLocks noChangeShapeType="1"/>
              </p:cNvSpPr>
              <p:nvPr/>
            </p:nvSpPr>
            <p:spPr bwMode="auto">
              <a:xfrm flipH="1">
                <a:off x="5926" y="8039"/>
                <a:ext cx="27" cy="63"/>
              </a:xfrm>
              <a:prstGeom prst="line">
                <a:avLst/>
              </a:prstGeom>
              <a:noFill/>
              <a:ln w="6350">
                <a:solidFill>
                  <a:srgbClr val="000000"/>
                </a:solidFill>
                <a:round/>
                <a:headEnd/>
                <a:tailEnd/>
              </a:ln>
            </p:spPr>
            <p:txBody>
              <a:bodyPr/>
              <a:lstStyle/>
              <a:p>
                <a:endParaRPr lang="zh-CN" altLang="en-US"/>
              </a:p>
            </p:txBody>
          </p:sp>
          <p:sp>
            <p:nvSpPr>
              <p:cNvPr id="24630" name="Line 45"/>
              <p:cNvSpPr>
                <a:spLocks noChangeShapeType="1"/>
              </p:cNvSpPr>
              <p:nvPr/>
            </p:nvSpPr>
            <p:spPr bwMode="auto">
              <a:xfrm flipH="1">
                <a:off x="5910" y="8032"/>
                <a:ext cx="19" cy="42"/>
              </a:xfrm>
              <a:prstGeom prst="line">
                <a:avLst/>
              </a:prstGeom>
              <a:noFill/>
              <a:ln w="6350">
                <a:solidFill>
                  <a:srgbClr val="000000"/>
                </a:solidFill>
                <a:round/>
                <a:headEnd/>
                <a:tailEnd/>
              </a:ln>
            </p:spPr>
            <p:txBody>
              <a:bodyPr/>
              <a:lstStyle/>
              <a:p>
                <a:endParaRPr lang="zh-CN" altLang="en-US"/>
              </a:p>
            </p:txBody>
          </p:sp>
          <p:sp>
            <p:nvSpPr>
              <p:cNvPr id="24631" name="Line 46"/>
              <p:cNvSpPr>
                <a:spLocks noChangeShapeType="1"/>
              </p:cNvSpPr>
              <p:nvPr/>
            </p:nvSpPr>
            <p:spPr bwMode="auto">
              <a:xfrm flipH="1">
                <a:off x="5957" y="8054"/>
                <a:ext cx="14" cy="38"/>
              </a:xfrm>
              <a:prstGeom prst="line">
                <a:avLst/>
              </a:prstGeom>
              <a:noFill/>
              <a:ln w="6350">
                <a:solidFill>
                  <a:srgbClr val="000000"/>
                </a:solidFill>
                <a:round/>
                <a:headEnd/>
                <a:tailEnd/>
              </a:ln>
            </p:spPr>
            <p:txBody>
              <a:bodyPr/>
              <a:lstStyle/>
              <a:p>
                <a:endParaRPr lang="zh-CN" altLang="en-US"/>
              </a:p>
            </p:txBody>
          </p:sp>
          <p:sp>
            <p:nvSpPr>
              <p:cNvPr id="24632" name="Line 47"/>
              <p:cNvSpPr>
                <a:spLocks noChangeShapeType="1"/>
              </p:cNvSpPr>
              <p:nvPr/>
            </p:nvSpPr>
            <p:spPr bwMode="auto">
              <a:xfrm flipH="1">
                <a:off x="5932" y="7844"/>
                <a:ext cx="28" cy="63"/>
              </a:xfrm>
              <a:prstGeom prst="line">
                <a:avLst/>
              </a:prstGeom>
              <a:noFill/>
              <a:ln w="6350">
                <a:solidFill>
                  <a:srgbClr val="000000"/>
                </a:solidFill>
                <a:round/>
                <a:headEnd/>
                <a:tailEnd/>
              </a:ln>
            </p:spPr>
            <p:txBody>
              <a:bodyPr/>
              <a:lstStyle/>
              <a:p>
                <a:endParaRPr lang="zh-CN" altLang="en-US"/>
              </a:p>
            </p:txBody>
          </p:sp>
          <p:sp>
            <p:nvSpPr>
              <p:cNvPr id="24633" name="Line 48"/>
              <p:cNvSpPr>
                <a:spLocks noChangeShapeType="1"/>
              </p:cNvSpPr>
              <p:nvPr/>
            </p:nvSpPr>
            <p:spPr bwMode="auto">
              <a:xfrm flipH="1">
                <a:off x="5916" y="7837"/>
                <a:ext cx="20" cy="42"/>
              </a:xfrm>
              <a:prstGeom prst="line">
                <a:avLst/>
              </a:prstGeom>
              <a:noFill/>
              <a:ln w="6350">
                <a:solidFill>
                  <a:srgbClr val="000000"/>
                </a:solidFill>
                <a:round/>
                <a:headEnd/>
                <a:tailEnd/>
              </a:ln>
            </p:spPr>
            <p:txBody>
              <a:bodyPr/>
              <a:lstStyle/>
              <a:p>
                <a:endParaRPr lang="zh-CN" altLang="en-US"/>
              </a:p>
            </p:txBody>
          </p:sp>
          <p:sp>
            <p:nvSpPr>
              <p:cNvPr id="24634" name="Line 49"/>
              <p:cNvSpPr>
                <a:spLocks noChangeShapeType="1"/>
              </p:cNvSpPr>
              <p:nvPr/>
            </p:nvSpPr>
            <p:spPr bwMode="auto">
              <a:xfrm flipH="1">
                <a:off x="5964" y="7859"/>
                <a:ext cx="14" cy="38"/>
              </a:xfrm>
              <a:prstGeom prst="line">
                <a:avLst/>
              </a:prstGeom>
              <a:noFill/>
              <a:ln w="6350">
                <a:solidFill>
                  <a:srgbClr val="000000"/>
                </a:solidFill>
                <a:round/>
                <a:headEnd/>
                <a:tailEnd/>
              </a:ln>
            </p:spPr>
            <p:txBody>
              <a:bodyPr/>
              <a:lstStyle/>
              <a:p>
                <a:endParaRPr lang="zh-CN" altLang="en-US"/>
              </a:p>
            </p:txBody>
          </p:sp>
          <p:sp>
            <p:nvSpPr>
              <p:cNvPr id="24635" name="Line 50"/>
              <p:cNvSpPr>
                <a:spLocks noChangeShapeType="1"/>
              </p:cNvSpPr>
              <p:nvPr/>
            </p:nvSpPr>
            <p:spPr bwMode="auto">
              <a:xfrm>
                <a:off x="5795" y="7684"/>
                <a:ext cx="27" cy="63"/>
              </a:xfrm>
              <a:prstGeom prst="line">
                <a:avLst/>
              </a:prstGeom>
              <a:noFill/>
              <a:ln w="6350">
                <a:solidFill>
                  <a:srgbClr val="000000"/>
                </a:solidFill>
                <a:round/>
                <a:headEnd/>
                <a:tailEnd/>
              </a:ln>
            </p:spPr>
            <p:txBody>
              <a:bodyPr/>
              <a:lstStyle/>
              <a:p>
                <a:endParaRPr lang="zh-CN" altLang="en-US"/>
              </a:p>
            </p:txBody>
          </p:sp>
          <p:sp>
            <p:nvSpPr>
              <p:cNvPr id="24636" name="Line 51"/>
              <p:cNvSpPr>
                <a:spLocks noChangeShapeType="1"/>
              </p:cNvSpPr>
              <p:nvPr/>
            </p:nvSpPr>
            <p:spPr bwMode="auto">
              <a:xfrm>
                <a:off x="5819" y="7678"/>
                <a:ext cx="19" cy="41"/>
              </a:xfrm>
              <a:prstGeom prst="line">
                <a:avLst/>
              </a:prstGeom>
              <a:noFill/>
              <a:ln w="6350">
                <a:solidFill>
                  <a:srgbClr val="000000"/>
                </a:solidFill>
                <a:round/>
                <a:headEnd/>
                <a:tailEnd/>
              </a:ln>
            </p:spPr>
            <p:txBody>
              <a:bodyPr/>
              <a:lstStyle/>
              <a:p>
                <a:endParaRPr lang="zh-CN" altLang="en-US"/>
              </a:p>
            </p:txBody>
          </p:sp>
          <p:sp>
            <p:nvSpPr>
              <p:cNvPr id="24637" name="Line 52"/>
              <p:cNvSpPr>
                <a:spLocks noChangeShapeType="1"/>
              </p:cNvSpPr>
              <p:nvPr/>
            </p:nvSpPr>
            <p:spPr bwMode="auto">
              <a:xfrm>
                <a:off x="5777" y="7700"/>
                <a:ext cx="14" cy="37"/>
              </a:xfrm>
              <a:prstGeom prst="line">
                <a:avLst/>
              </a:prstGeom>
              <a:noFill/>
              <a:ln w="6350">
                <a:solidFill>
                  <a:srgbClr val="000000"/>
                </a:solidFill>
                <a:round/>
                <a:headEnd/>
                <a:tailEnd/>
              </a:ln>
            </p:spPr>
            <p:txBody>
              <a:bodyPr/>
              <a:lstStyle/>
              <a:p>
                <a:endParaRPr lang="zh-CN" altLang="en-US"/>
              </a:p>
            </p:txBody>
          </p:sp>
          <p:sp>
            <p:nvSpPr>
              <p:cNvPr id="24638" name="Line 53"/>
              <p:cNvSpPr>
                <a:spLocks noChangeShapeType="1"/>
              </p:cNvSpPr>
              <p:nvPr/>
            </p:nvSpPr>
            <p:spPr bwMode="auto">
              <a:xfrm>
                <a:off x="5795" y="7984"/>
                <a:ext cx="27" cy="63"/>
              </a:xfrm>
              <a:prstGeom prst="line">
                <a:avLst/>
              </a:prstGeom>
              <a:noFill/>
              <a:ln w="6350">
                <a:solidFill>
                  <a:srgbClr val="000000"/>
                </a:solidFill>
                <a:round/>
                <a:headEnd/>
                <a:tailEnd/>
              </a:ln>
            </p:spPr>
            <p:txBody>
              <a:bodyPr/>
              <a:lstStyle/>
              <a:p>
                <a:endParaRPr lang="zh-CN" altLang="en-US"/>
              </a:p>
            </p:txBody>
          </p:sp>
          <p:sp>
            <p:nvSpPr>
              <p:cNvPr id="24639" name="Line 54"/>
              <p:cNvSpPr>
                <a:spLocks noChangeShapeType="1"/>
              </p:cNvSpPr>
              <p:nvPr/>
            </p:nvSpPr>
            <p:spPr bwMode="auto">
              <a:xfrm>
                <a:off x="5819" y="7977"/>
                <a:ext cx="19" cy="42"/>
              </a:xfrm>
              <a:prstGeom prst="line">
                <a:avLst/>
              </a:prstGeom>
              <a:noFill/>
              <a:ln w="6350">
                <a:solidFill>
                  <a:srgbClr val="000000"/>
                </a:solidFill>
                <a:round/>
                <a:headEnd/>
                <a:tailEnd/>
              </a:ln>
            </p:spPr>
            <p:txBody>
              <a:bodyPr/>
              <a:lstStyle/>
              <a:p>
                <a:endParaRPr lang="zh-CN" altLang="en-US"/>
              </a:p>
            </p:txBody>
          </p:sp>
          <p:sp>
            <p:nvSpPr>
              <p:cNvPr id="24640" name="Line 55"/>
              <p:cNvSpPr>
                <a:spLocks noChangeShapeType="1"/>
              </p:cNvSpPr>
              <p:nvPr/>
            </p:nvSpPr>
            <p:spPr bwMode="auto">
              <a:xfrm>
                <a:off x="5777" y="7999"/>
                <a:ext cx="14" cy="38"/>
              </a:xfrm>
              <a:prstGeom prst="line">
                <a:avLst/>
              </a:prstGeom>
              <a:noFill/>
              <a:ln w="6350">
                <a:solidFill>
                  <a:srgbClr val="000000"/>
                </a:solidFill>
                <a:round/>
                <a:headEnd/>
                <a:tailEnd/>
              </a:ln>
            </p:spPr>
            <p:txBody>
              <a:bodyPr/>
              <a:lstStyle/>
              <a:p>
                <a:endParaRPr lang="zh-CN" altLang="en-US"/>
              </a:p>
            </p:txBody>
          </p:sp>
          <p:sp>
            <p:nvSpPr>
              <p:cNvPr id="24641" name="Line 56"/>
              <p:cNvSpPr>
                <a:spLocks noChangeShapeType="1"/>
              </p:cNvSpPr>
              <p:nvPr/>
            </p:nvSpPr>
            <p:spPr bwMode="auto">
              <a:xfrm flipV="1">
                <a:off x="3652" y="7541"/>
                <a:ext cx="2145" cy="313"/>
              </a:xfrm>
              <a:prstGeom prst="line">
                <a:avLst/>
              </a:prstGeom>
              <a:noFill/>
              <a:ln w="9525">
                <a:solidFill>
                  <a:srgbClr val="000000"/>
                </a:solidFill>
                <a:round/>
                <a:headEnd/>
                <a:tailEnd/>
              </a:ln>
            </p:spPr>
            <p:txBody>
              <a:bodyPr/>
              <a:lstStyle/>
              <a:p>
                <a:endParaRPr lang="zh-CN" altLang="en-US"/>
              </a:p>
            </p:txBody>
          </p:sp>
          <p:sp>
            <p:nvSpPr>
              <p:cNvPr id="24642" name="Line 57"/>
              <p:cNvSpPr>
                <a:spLocks noChangeShapeType="1"/>
              </p:cNvSpPr>
              <p:nvPr/>
            </p:nvSpPr>
            <p:spPr bwMode="auto">
              <a:xfrm>
                <a:off x="3645" y="7854"/>
                <a:ext cx="2138" cy="306"/>
              </a:xfrm>
              <a:prstGeom prst="line">
                <a:avLst/>
              </a:prstGeom>
              <a:noFill/>
              <a:ln w="9525">
                <a:solidFill>
                  <a:srgbClr val="000000"/>
                </a:solidFill>
                <a:round/>
                <a:headEnd/>
                <a:tailEnd/>
              </a:ln>
            </p:spPr>
            <p:txBody>
              <a:bodyPr/>
              <a:lstStyle/>
              <a:p>
                <a:endParaRPr lang="zh-CN" altLang="en-US"/>
              </a:p>
            </p:txBody>
          </p:sp>
          <p:sp>
            <p:nvSpPr>
              <p:cNvPr id="24643" name="Line 58"/>
              <p:cNvSpPr>
                <a:spLocks noChangeShapeType="1"/>
              </p:cNvSpPr>
              <p:nvPr/>
            </p:nvSpPr>
            <p:spPr bwMode="auto">
              <a:xfrm flipV="1">
                <a:off x="4376" y="7695"/>
                <a:ext cx="303" cy="52"/>
              </a:xfrm>
              <a:prstGeom prst="line">
                <a:avLst/>
              </a:prstGeom>
              <a:noFill/>
              <a:ln w="6350">
                <a:solidFill>
                  <a:srgbClr val="000000"/>
                </a:solidFill>
                <a:round/>
                <a:headEnd/>
                <a:tailEnd type="stealth" w="sm" len="sm"/>
              </a:ln>
            </p:spPr>
            <p:txBody>
              <a:bodyPr/>
              <a:lstStyle/>
              <a:p>
                <a:endParaRPr lang="zh-CN" altLang="en-US"/>
              </a:p>
            </p:txBody>
          </p:sp>
          <p:sp>
            <p:nvSpPr>
              <p:cNvPr id="24644" name="Line 59"/>
              <p:cNvSpPr>
                <a:spLocks noChangeShapeType="1"/>
              </p:cNvSpPr>
              <p:nvPr/>
            </p:nvSpPr>
            <p:spPr bwMode="auto">
              <a:xfrm>
                <a:off x="4363" y="7958"/>
                <a:ext cx="306" cy="43"/>
              </a:xfrm>
              <a:prstGeom prst="line">
                <a:avLst/>
              </a:prstGeom>
              <a:noFill/>
              <a:ln w="6350">
                <a:solidFill>
                  <a:srgbClr val="000000"/>
                </a:solidFill>
                <a:round/>
                <a:headEnd/>
                <a:tailEnd type="stealth" w="sm" len="sm"/>
              </a:ln>
            </p:spPr>
            <p:txBody>
              <a:bodyPr/>
              <a:lstStyle/>
              <a:p>
                <a:endParaRPr lang="zh-CN" altLang="en-US"/>
              </a:p>
            </p:txBody>
          </p:sp>
          <p:sp>
            <p:nvSpPr>
              <p:cNvPr id="24645" name="Line 60"/>
              <p:cNvSpPr>
                <a:spLocks noChangeShapeType="1"/>
              </p:cNvSpPr>
              <p:nvPr/>
            </p:nvSpPr>
            <p:spPr bwMode="auto">
              <a:xfrm>
                <a:off x="6041" y="7765"/>
                <a:ext cx="181" cy="0"/>
              </a:xfrm>
              <a:prstGeom prst="line">
                <a:avLst/>
              </a:prstGeom>
              <a:noFill/>
              <a:ln w="9525">
                <a:solidFill>
                  <a:srgbClr val="000000"/>
                </a:solidFill>
                <a:round/>
                <a:headEnd/>
                <a:tailEnd/>
              </a:ln>
            </p:spPr>
            <p:txBody>
              <a:bodyPr/>
              <a:lstStyle/>
              <a:p>
                <a:endParaRPr lang="zh-CN" altLang="en-US"/>
              </a:p>
            </p:txBody>
          </p:sp>
          <p:sp>
            <p:nvSpPr>
              <p:cNvPr id="24646" name="Line 61"/>
              <p:cNvSpPr>
                <a:spLocks noChangeShapeType="1"/>
              </p:cNvSpPr>
              <p:nvPr/>
            </p:nvSpPr>
            <p:spPr bwMode="auto">
              <a:xfrm>
                <a:off x="6047" y="7929"/>
                <a:ext cx="181" cy="0"/>
              </a:xfrm>
              <a:prstGeom prst="line">
                <a:avLst/>
              </a:prstGeom>
              <a:noFill/>
              <a:ln w="9525">
                <a:solidFill>
                  <a:srgbClr val="000000"/>
                </a:solidFill>
                <a:round/>
                <a:headEnd/>
                <a:tailEnd/>
              </a:ln>
            </p:spPr>
            <p:txBody>
              <a:bodyPr/>
              <a:lstStyle/>
              <a:p>
                <a:endParaRPr lang="zh-CN" altLang="en-US"/>
              </a:p>
            </p:txBody>
          </p:sp>
          <p:sp>
            <p:nvSpPr>
              <p:cNvPr id="24647" name="Rectangle 62"/>
              <p:cNvSpPr>
                <a:spLocks noChangeArrowheads="1"/>
              </p:cNvSpPr>
              <p:nvPr/>
            </p:nvSpPr>
            <p:spPr bwMode="auto">
              <a:xfrm>
                <a:off x="6228" y="7610"/>
                <a:ext cx="1247" cy="487"/>
              </a:xfrm>
              <a:prstGeom prst="rect">
                <a:avLst/>
              </a:prstGeom>
              <a:noFill/>
              <a:ln w="9525">
                <a:solidFill>
                  <a:srgbClr val="000000"/>
                </a:solidFill>
                <a:miter lim="800000"/>
                <a:headEnd/>
                <a:tailEnd/>
              </a:ln>
            </p:spPr>
            <p:txBody>
              <a:bodyPr/>
              <a:lstStyle/>
              <a:p>
                <a:endParaRPr lang="zh-CN" altLang="en-US"/>
              </a:p>
            </p:txBody>
          </p:sp>
          <p:sp>
            <p:nvSpPr>
              <p:cNvPr id="24648" name="Line 63"/>
              <p:cNvSpPr>
                <a:spLocks noChangeShapeType="1"/>
              </p:cNvSpPr>
              <p:nvPr/>
            </p:nvSpPr>
            <p:spPr bwMode="auto">
              <a:xfrm>
                <a:off x="6097" y="7722"/>
                <a:ext cx="55" cy="0"/>
              </a:xfrm>
              <a:prstGeom prst="line">
                <a:avLst/>
              </a:prstGeom>
              <a:noFill/>
              <a:ln w="9525">
                <a:solidFill>
                  <a:srgbClr val="000000"/>
                </a:solidFill>
                <a:round/>
                <a:headEnd/>
                <a:tailEnd/>
              </a:ln>
            </p:spPr>
            <p:txBody>
              <a:bodyPr/>
              <a:lstStyle/>
              <a:p>
                <a:endParaRPr lang="zh-CN" altLang="en-US"/>
              </a:p>
            </p:txBody>
          </p:sp>
          <p:sp>
            <p:nvSpPr>
              <p:cNvPr id="24649" name="Line 64"/>
              <p:cNvSpPr>
                <a:spLocks noChangeShapeType="1"/>
              </p:cNvSpPr>
              <p:nvPr/>
            </p:nvSpPr>
            <p:spPr bwMode="auto">
              <a:xfrm flipV="1">
                <a:off x="6125" y="7444"/>
                <a:ext cx="0" cy="271"/>
              </a:xfrm>
              <a:prstGeom prst="line">
                <a:avLst/>
              </a:prstGeom>
              <a:noFill/>
              <a:ln w="9525">
                <a:solidFill>
                  <a:srgbClr val="000000"/>
                </a:solidFill>
                <a:round/>
                <a:headEnd/>
                <a:tailEnd/>
              </a:ln>
            </p:spPr>
            <p:txBody>
              <a:bodyPr/>
              <a:lstStyle/>
              <a:p>
                <a:endParaRPr lang="zh-CN" altLang="en-US"/>
              </a:p>
            </p:txBody>
          </p:sp>
          <p:sp>
            <p:nvSpPr>
              <p:cNvPr id="24650" name="Line 65"/>
              <p:cNvSpPr>
                <a:spLocks noChangeShapeType="1"/>
              </p:cNvSpPr>
              <p:nvPr/>
            </p:nvSpPr>
            <p:spPr bwMode="auto">
              <a:xfrm flipV="1">
                <a:off x="6089" y="7980"/>
                <a:ext cx="56" cy="0"/>
              </a:xfrm>
              <a:prstGeom prst="line">
                <a:avLst/>
              </a:prstGeom>
              <a:noFill/>
              <a:ln w="9525">
                <a:solidFill>
                  <a:srgbClr val="000000"/>
                </a:solidFill>
                <a:round/>
                <a:headEnd/>
                <a:tailEnd/>
              </a:ln>
            </p:spPr>
            <p:txBody>
              <a:bodyPr/>
              <a:lstStyle/>
              <a:p>
                <a:endParaRPr lang="zh-CN" altLang="en-US"/>
              </a:p>
            </p:txBody>
          </p:sp>
          <p:sp>
            <p:nvSpPr>
              <p:cNvPr id="24651" name="Line 66"/>
              <p:cNvSpPr>
                <a:spLocks noChangeShapeType="1"/>
              </p:cNvSpPr>
              <p:nvPr/>
            </p:nvSpPr>
            <p:spPr bwMode="auto">
              <a:xfrm>
                <a:off x="6117" y="7987"/>
                <a:ext cx="0" cy="271"/>
              </a:xfrm>
              <a:prstGeom prst="line">
                <a:avLst/>
              </a:prstGeom>
              <a:noFill/>
              <a:ln w="9525">
                <a:solidFill>
                  <a:srgbClr val="000000"/>
                </a:solidFill>
                <a:round/>
                <a:headEnd/>
                <a:tailEnd/>
              </a:ln>
            </p:spPr>
            <p:txBody>
              <a:bodyPr/>
              <a:lstStyle/>
              <a:p>
                <a:endParaRPr lang="zh-CN" altLang="en-US"/>
              </a:p>
            </p:txBody>
          </p:sp>
          <p:sp>
            <p:nvSpPr>
              <p:cNvPr id="24652" name="Freeform 67"/>
              <p:cNvSpPr>
                <a:spLocks/>
              </p:cNvSpPr>
              <p:nvPr/>
            </p:nvSpPr>
            <p:spPr bwMode="auto">
              <a:xfrm>
                <a:off x="7469" y="7700"/>
                <a:ext cx="348" cy="314"/>
              </a:xfrm>
              <a:custGeom>
                <a:avLst/>
                <a:gdLst>
                  <a:gd name="T0" fmla="*/ 0 w 375"/>
                  <a:gd name="T1" fmla="*/ 42 h 338"/>
                  <a:gd name="T2" fmla="*/ 278 w 375"/>
                  <a:gd name="T3" fmla="*/ 42 h 338"/>
                  <a:gd name="T4" fmla="*/ 348 w 375"/>
                  <a:gd name="T5" fmla="*/ 0 h 338"/>
                  <a:gd name="T6" fmla="*/ 348 w 375"/>
                  <a:gd name="T7" fmla="*/ 314 h 338"/>
                  <a:gd name="T8" fmla="*/ 285 w 375"/>
                  <a:gd name="T9" fmla="*/ 258 h 338"/>
                  <a:gd name="T10" fmla="*/ 6 w 375"/>
                  <a:gd name="T11" fmla="*/ 258 h 338"/>
                  <a:gd name="T12" fmla="*/ 0 60000 65536"/>
                  <a:gd name="T13" fmla="*/ 0 60000 65536"/>
                  <a:gd name="T14" fmla="*/ 0 60000 65536"/>
                  <a:gd name="T15" fmla="*/ 0 60000 65536"/>
                  <a:gd name="T16" fmla="*/ 0 60000 65536"/>
                  <a:gd name="T17" fmla="*/ 0 60000 65536"/>
                  <a:gd name="T18" fmla="*/ 0 w 375"/>
                  <a:gd name="T19" fmla="*/ 0 h 338"/>
                  <a:gd name="T20" fmla="*/ 375 w 375"/>
                  <a:gd name="T21" fmla="*/ 338 h 338"/>
                </a:gdLst>
                <a:ahLst/>
                <a:cxnLst>
                  <a:cxn ang="T12">
                    <a:pos x="T0" y="T1"/>
                  </a:cxn>
                  <a:cxn ang="T13">
                    <a:pos x="T2" y="T3"/>
                  </a:cxn>
                  <a:cxn ang="T14">
                    <a:pos x="T4" y="T5"/>
                  </a:cxn>
                  <a:cxn ang="T15">
                    <a:pos x="T6" y="T7"/>
                  </a:cxn>
                  <a:cxn ang="T16">
                    <a:pos x="T8" y="T9"/>
                  </a:cxn>
                  <a:cxn ang="T17">
                    <a:pos x="T10" y="T11"/>
                  </a:cxn>
                </a:cxnLst>
                <a:rect l="T18" t="T19" r="T20" b="T21"/>
                <a:pathLst>
                  <a:path w="375" h="338">
                    <a:moveTo>
                      <a:pt x="0" y="45"/>
                    </a:moveTo>
                    <a:lnTo>
                      <a:pt x="300" y="45"/>
                    </a:lnTo>
                    <a:lnTo>
                      <a:pt x="375" y="0"/>
                    </a:lnTo>
                    <a:lnTo>
                      <a:pt x="375" y="338"/>
                    </a:lnTo>
                    <a:lnTo>
                      <a:pt x="307" y="278"/>
                    </a:lnTo>
                    <a:lnTo>
                      <a:pt x="7" y="278"/>
                    </a:lnTo>
                  </a:path>
                </a:pathLst>
              </a:custGeom>
              <a:noFill/>
              <a:ln w="9525">
                <a:solidFill>
                  <a:srgbClr val="000000"/>
                </a:solidFill>
                <a:round/>
                <a:headEnd/>
                <a:tailEnd/>
              </a:ln>
            </p:spPr>
            <p:txBody>
              <a:bodyPr/>
              <a:lstStyle/>
              <a:p>
                <a:endParaRPr lang="zh-CN" altLang="en-US"/>
              </a:p>
            </p:txBody>
          </p:sp>
          <p:sp>
            <p:nvSpPr>
              <p:cNvPr id="24653" name="Line 68"/>
              <p:cNvSpPr>
                <a:spLocks noChangeShapeType="1"/>
              </p:cNvSpPr>
              <p:nvPr/>
            </p:nvSpPr>
            <p:spPr bwMode="auto">
              <a:xfrm>
                <a:off x="7754" y="7743"/>
                <a:ext cx="0" cy="216"/>
              </a:xfrm>
              <a:prstGeom prst="line">
                <a:avLst/>
              </a:prstGeom>
              <a:noFill/>
              <a:ln w="9525">
                <a:solidFill>
                  <a:srgbClr val="000000"/>
                </a:solidFill>
                <a:round/>
                <a:headEnd/>
                <a:tailEnd/>
              </a:ln>
            </p:spPr>
            <p:txBody>
              <a:bodyPr/>
              <a:lstStyle/>
              <a:p>
                <a:endParaRPr lang="zh-CN" altLang="en-US"/>
              </a:p>
            </p:txBody>
          </p:sp>
          <p:sp>
            <p:nvSpPr>
              <p:cNvPr id="24654" name="Arc 69"/>
              <p:cNvSpPr>
                <a:spLocks/>
              </p:cNvSpPr>
              <p:nvPr/>
            </p:nvSpPr>
            <p:spPr bwMode="auto">
              <a:xfrm>
                <a:off x="8112" y="7378"/>
                <a:ext cx="924" cy="947"/>
              </a:xfrm>
              <a:custGeom>
                <a:avLst/>
                <a:gdLst>
                  <a:gd name="T0" fmla="*/ 0 w 42128"/>
                  <a:gd name="T1" fmla="*/ 7 h 43200"/>
                  <a:gd name="T2" fmla="*/ 0 w 42128"/>
                  <a:gd name="T3" fmla="*/ 14 h 43200"/>
                  <a:gd name="T4" fmla="*/ 10 w 42128"/>
                  <a:gd name="T5" fmla="*/ 10 h 43200"/>
                  <a:gd name="T6" fmla="*/ 0 60000 65536"/>
                  <a:gd name="T7" fmla="*/ 0 60000 65536"/>
                  <a:gd name="T8" fmla="*/ 0 60000 65536"/>
                  <a:gd name="T9" fmla="*/ 0 w 42128"/>
                  <a:gd name="T10" fmla="*/ 0 h 43200"/>
                  <a:gd name="T11" fmla="*/ 42128 w 42128"/>
                  <a:gd name="T12" fmla="*/ 43200 h 43200"/>
                </a:gdLst>
                <a:ahLst/>
                <a:cxnLst>
                  <a:cxn ang="T6">
                    <a:pos x="T0" y="T1"/>
                  </a:cxn>
                  <a:cxn ang="T7">
                    <a:pos x="T2" y="T3"/>
                  </a:cxn>
                  <a:cxn ang="T8">
                    <a:pos x="T4" y="T5"/>
                  </a:cxn>
                </a:cxnLst>
                <a:rect l="T9" t="T10" r="T11" b="T12"/>
                <a:pathLst>
                  <a:path w="42128" h="43200" fill="none" extrusionOk="0">
                    <a:moveTo>
                      <a:pt x="-1" y="14880"/>
                    </a:moveTo>
                    <a:cubicBezTo>
                      <a:pt x="2905" y="6003"/>
                      <a:pt x="11187" y="-1"/>
                      <a:pt x="20528" y="0"/>
                    </a:cubicBezTo>
                    <a:cubicBezTo>
                      <a:pt x="32457" y="0"/>
                      <a:pt x="42128" y="9670"/>
                      <a:pt x="42128" y="21600"/>
                    </a:cubicBezTo>
                    <a:cubicBezTo>
                      <a:pt x="42128" y="33529"/>
                      <a:pt x="32457" y="43200"/>
                      <a:pt x="20528" y="43200"/>
                    </a:cubicBezTo>
                    <a:cubicBezTo>
                      <a:pt x="11457" y="43200"/>
                      <a:pt x="3352" y="37532"/>
                      <a:pt x="239" y="29013"/>
                    </a:cubicBezTo>
                  </a:path>
                  <a:path w="42128" h="43200" stroke="0" extrusionOk="0">
                    <a:moveTo>
                      <a:pt x="-1" y="14880"/>
                    </a:moveTo>
                    <a:cubicBezTo>
                      <a:pt x="2905" y="6003"/>
                      <a:pt x="11187" y="-1"/>
                      <a:pt x="20528" y="0"/>
                    </a:cubicBezTo>
                    <a:cubicBezTo>
                      <a:pt x="32457" y="0"/>
                      <a:pt x="42128" y="9670"/>
                      <a:pt x="42128" y="21600"/>
                    </a:cubicBezTo>
                    <a:cubicBezTo>
                      <a:pt x="42128" y="33529"/>
                      <a:pt x="32457" y="43200"/>
                      <a:pt x="20528" y="43200"/>
                    </a:cubicBezTo>
                    <a:cubicBezTo>
                      <a:pt x="11457" y="43200"/>
                      <a:pt x="3352" y="37532"/>
                      <a:pt x="239" y="29013"/>
                    </a:cubicBezTo>
                    <a:lnTo>
                      <a:pt x="20528" y="21600"/>
                    </a:lnTo>
                    <a:close/>
                  </a:path>
                </a:pathLst>
              </a:custGeom>
              <a:noFill/>
              <a:ln w="9525">
                <a:solidFill>
                  <a:srgbClr val="000000"/>
                </a:solidFill>
                <a:round/>
                <a:headEnd/>
                <a:tailEnd/>
              </a:ln>
            </p:spPr>
            <p:txBody>
              <a:bodyPr/>
              <a:lstStyle/>
              <a:p>
                <a:endParaRPr lang="zh-CN" altLang="en-US"/>
              </a:p>
            </p:txBody>
          </p:sp>
          <p:sp>
            <p:nvSpPr>
              <p:cNvPr id="24655" name="Line 70"/>
              <p:cNvSpPr>
                <a:spLocks noChangeShapeType="1"/>
              </p:cNvSpPr>
              <p:nvPr/>
            </p:nvSpPr>
            <p:spPr bwMode="auto">
              <a:xfrm>
                <a:off x="6229" y="7765"/>
                <a:ext cx="2786" cy="7"/>
              </a:xfrm>
              <a:prstGeom prst="line">
                <a:avLst/>
              </a:prstGeom>
              <a:noFill/>
              <a:ln w="9525">
                <a:solidFill>
                  <a:srgbClr val="000000"/>
                </a:solidFill>
                <a:prstDash val="lgDash"/>
                <a:round/>
                <a:headEnd/>
                <a:tailEnd/>
              </a:ln>
            </p:spPr>
            <p:txBody>
              <a:bodyPr/>
              <a:lstStyle/>
              <a:p>
                <a:endParaRPr lang="zh-CN" altLang="en-US"/>
              </a:p>
            </p:txBody>
          </p:sp>
          <p:sp>
            <p:nvSpPr>
              <p:cNvPr id="24656" name="Line 71"/>
              <p:cNvSpPr>
                <a:spLocks noChangeShapeType="1"/>
              </p:cNvSpPr>
              <p:nvPr/>
            </p:nvSpPr>
            <p:spPr bwMode="auto">
              <a:xfrm>
                <a:off x="6243" y="7932"/>
                <a:ext cx="2786" cy="7"/>
              </a:xfrm>
              <a:prstGeom prst="line">
                <a:avLst/>
              </a:prstGeom>
              <a:noFill/>
              <a:ln w="9525">
                <a:solidFill>
                  <a:srgbClr val="000000"/>
                </a:solidFill>
                <a:prstDash val="lgDash"/>
                <a:round/>
                <a:headEnd/>
                <a:tailEnd/>
              </a:ln>
            </p:spPr>
            <p:txBody>
              <a:bodyPr/>
              <a:lstStyle/>
              <a:p>
                <a:endParaRPr lang="zh-CN" altLang="en-US"/>
              </a:p>
            </p:txBody>
          </p:sp>
          <p:sp>
            <p:nvSpPr>
              <p:cNvPr id="24657" name="Line 72"/>
              <p:cNvSpPr>
                <a:spLocks noChangeShapeType="1"/>
              </p:cNvSpPr>
              <p:nvPr/>
            </p:nvSpPr>
            <p:spPr bwMode="auto">
              <a:xfrm>
                <a:off x="7824" y="7806"/>
                <a:ext cx="1191" cy="0"/>
              </a:xfrm>
              <a:prstGeom prst="line">
                <a:avLst/>
              </a:prstGeom>
              <a:noFill/>
              <a:ln w="9525">
                <a:solidFill>
                  <a:srgbClr val="000000"/>
                </a:solidFill>
                <a:round/>
                <a:headEnd/>
                <a:tailEnd/>
              </a:ln>
            </p:spPr>
            <p:txBody>
              <a:bodyPr/>
              <a:lstStyle/>
              <a:p>
                <a:endParaRPr lang="zh-CN" altLang="en-US"/>
              </a:p>
            </p:txBody>
          </p:sp>
          <p:sp>
            <p:nvSpPr>
              <p:cNvPr id="24658" name="Line 73"/>
              <p:cNvSpPr>
                <a:spLocks noChangeShapeType="1"/>
              </p:cNvSpPr>
              <p:nvPr/>
            </p:nvSpPr>
            <p:spPr bwMode="auto">
              <a:xfrm>
                <a:off x="7824" y="7903"/>
                <a:ext cx="1191" cy="0"/>
              </a:xfrm>
              <a:prstGeom prst="line">
                <a:avLst/>
              </a:prstGeom>
              <a:noFill/>
              <a:ln w="9525">
                <a:solidFill>
                  <a:srgbClr val="000000"/>
                </a:solidFill>
                <a:round/>
                <a:headEnd/>
                <a:tailEnd/>
              </a:ln>
            </p:spPr>
            <p:txBody>
              <a:bodyPr/>
              <a:lstStyle/>
              <a:p>
                <a:endParaRPr lang="zh-CN" altLang="en-US"/>
              </a:p>
            </p:txBody>
          </p:sp>
          <p:sp>
            <p:nvSpPr>
              <p:cNvPr id="24659" name="Arc 74"/>
              <p:cNvSpPr>
                <a:spLocks/>
              </p:cNvSpPr>
              <p:nvPr/>
            </p:nvSpPr>
            <p:spPr bwMode="auto">
              <a:xfrm>
                <a:off x="8167" y="7354"/>
                <a:ext cx="393" cy="497"/>
              </a:xfrm>
              <a:custGeom>
                <a:avLst/>
                <a:gdLst>
                  <a:gd name="T0" fmla="*/ 0 w 16149"/>
                  <a:gd name="T1" fmla="*/ 4 h 20402"/>
                  <a:gd name="T2" fmla="*/ 5 w 16149"/>
                  <a:gd name="T3" fmla="*/ 0 h 20402"/>
                  <a:gd name="T4" fmla="*/ 10 w 16149"/>
                  <a:gd name="T5" fmla="*/ 12 h 20402"/>
                  <a:gd name="T6" fmla="*/ 0 60000 65536"/>
                  <a:gd name="T7" fmla="*/ 0 60000 65536"/>
                  <a:gd name="T8" fmla="*/ 0 60000 65536"/>
                  <a:gd name="T9" fmla="*/ 0 w 16149"/>
                  <a:gd name="T10" fmla="*/ 0 h 20402"/>
                  <a:gd name="T11" fmla="*/ 16149 w 16149"/>
                  <a:gd name="T12" fmla="*/ 20402 h 20402"/>
                </a:gdLst>
                <a:ahLst/>
                <a:cxnLst>
                  <a:cxn ang="T6">
                    <a:pos x="T0" y="T1"/>
                  </a:cxn>
                  <a:cxn ang="T7">
                    <a:pos x="T2" y="T3"/>
                  </a:cxn>
                  <a:cxn ang="T8">
                    <a:pos x="T4" y="T5"/>
                  </a:cxn>
                </a:cxnLst>
                <a:rect l="T9" t="T10" r="T11" b="T12"/>
                <a:pathLst>
                  <a:path w="16149" h="20402" fill="none" extrusionOk="0">
                    <a:moveTo>
                      <a:pt x="0" y="6057"/>
                    </a:moveTo>
                    <a:cubicBezTo>
                      <a:pt x="2451" y="3297"/>
                      <a:pt x="5569" y="1211"/>
                      <a:pt x="9056" y="-1"/>
                    </a:cubicBezTo>
                  </a:path>
                  <a:path w="16149" h="20402" stroke="0" extrusionOk="0">
                    <a:moveTo>
                      <a:pt x="0" y="6057"/>
                    </a:moveTo>
                    <a:cubicBezTo>
                      <a:pt x="2451" y="3297"/>
                      <a:pt x="5569" y="1211"/>
                      <a:pt x="9056" y="-1"/>
                    </a:cubicBezTo>
                    <a:lnTo>
                      <a:pt x="16149" y="20402"/>
                    </a:lnTo>
                    <a:close/>
                  </a:path>
                </a:pathLst>
              </a:custGeom>
              <a:noFill/>
              <a:ln w="9525">
                <a:solidFill>
                  <a:srgbClr val="000000"/>
                </a:solidFill>
                <a:round/>
                <a:headEnd/>
                <a:tailEnd/>
              </a:ln>
            </p:spPr>
            <p:txBody>
              <a:bodyPr/>
              <a:lstStyle/>
              <a:p>
                <a:endParaRPr lang="zh-CN" altLang="en-US"/>
              </a:p>
            </p:txBody>
          </p:sp>
          <p:sp>
            <p:nvSpPr>
              <p:cNvPr id="24660" name="Line 75"/>
              <p:cNvSpPr>
                <a:spLocks noChangeShapeType="1"/>
              </p:cNvSpPr>
              <p:nvPr/>
            </p:nvSpPr>
            <p:spPr bwMode="auto">
              <a:xfrm>
                <a:off x="8389" y="7353"/>
                <a:ext cx="19" cy="41"/>
              </a:xfrm>
              <a:prstGeom prst="line">
                <a:avLst/>
              </a:prstGeom>
              <a:noFill/>
              <a:ln w="9525">
                <a:solidFill>
                  <a:srgbClr val="000000"/>
                </a:solidFill>
                <a:round/>
                <a:headEnd/>
                <a:tailEnd/>
              </a:ln>
            </p:spPr>
            <p:txBody>
              <a:bodyPr/>
              <a:lstStyle/>
              <a:p>
                <a:endParaRPr lang="zh-CN" altLang="en-US"/>
              </a:p>
            </p:txBody>
          </p:sp>
          <p:sp>
            <p:nvSpPr>
              <p:cNvPr id="24661" name="Line 76"/>
              <p:cNvSpPr>
                <a:spLocks noChangeShapeType="1"/>
              </p:cNvSpPr>
              <p:nvPr/>
            </p:nvSpPr>
            <p:spPr bwMode="auto">
              <a:xfrm>
                <a:off x="8166" y="7500"/>
                <a:ext cx="31" cy="39"/>
              </a:xfrm>
              <a:prstGeom prst="line">
                <a:avLst/>
              </a:prstGeom>
              <a:noFill/>
              <a:ln w="9525">
                <a:solidFill>
                  <a:srgbClr val="000000"/>
                </a:solidFill>
                <a:round/>
                <a:headEnd/>
                <a:tailEnd/>
              </a:ln>
            </p:spPr>
            <p:txBody>
              <a:bodyPr/>
              <a:lstStyle/>
              <a:p>
                <a:endParaRPr lang="zh-CN" altLang="en-US"/>
              </a:p>
            </p:txBody>
          </p:sp>
          <p:sp>
            <p:nvSpPr>
              <p:cNvPr id="24662" name="Line 77"/>
              <p:cNvSpPr>
                <a:spLocks noChangeShapeType="1"/>
              </p:cNvSpPr>
              <p:nvPr/>
            </p:nvSpPr>
            <p:spPr bwMode="auto">
              <a:xfrm flipV="1">
                <a:off x="8166" y="7408"/>
                <a:ext cx="48" cy="50"/>
              </a:xfrm>
              <a:prstGeom prst="line">
                <a:avLst/>
              </a:prstGeom>
              <a:noFill/>
              <a:ln w="9525">
                <a:solidFill>
                  <a:srgbClr val="000000"/>
                </a:solidFill>
                <a:round/>
                <a:headEnd/>
                <a:tailEnd/>
              </a:ln>
            </p:spPr>
            <p:txBody>
              <a:bodyPr/>
              <a:lstStyle/>
              <a:p>
                <a:endParaRPr lang="zh-CN" altLang="en-US"/>
              </a:p>
            </p:txBody>
          </p:sp>
          <p:sp>
            <p:nvSpPr>
              <p:cNvPr id="24663" name="Line 78"/>
              <p:cNvSpPr>
                <a:spLocks noChangeShapeType="1"/>
              </p:cNvSpPr>
              <p:nvPr/>
            </p:nvSpPr>
            <p:spPr bwMode="auto">
              <a:xfrm flipV="1">
                <a:off x="8270" y="7333"/>
                <a:ext cx="62" cy="35"/>
              </a:xfrm>
              <a:prstGeom prst="line">
                <a:avLst/>
              </a:prstGeom>
              <a:noFill/>
              <a:ln w="9525">
                <a:solidFill>
                  <a:srgbClr val="000000"/>
                </a:solidFill>
                <a:round/>
                <a:headEnd/>
                <a:tailEnd/>
              </a:ln>
            </p:spPr>
            <p:txBody>
              <a:bodyPr/>
              <a:lstStyle/>
              <a:p>
                <a:endParaRPr lang="zh-CN" altLang="en-US"/>
              </a:p>
            </p:txBody>
          </p:sp>
          <p:sp>
            <p:nvSpPr>
              <p:cNvPr id="24664" name="Oval 79"/>
              <p:cNvSpPr>
                <a:spLocks noChangeArrowheads="1"/>
              </p:cNvSpPr>
              <p:nvPr/>
            </p:nvSpPr>
            <p:spPr bwMode="auto">
              <a:xfrm>
                <a:off x="8925" y="6810"/>
                <a:ext cx="244" cy="244"/>
              </a:xfrm>
              <a:prstGeom prst="ellipse">
                <a:avLst/>
              </a:prstGeom>
              <a:noFill/>
              <a:ln w="9525">
                <a:solidFill>
                  <a:srgbClr val="000000"/>
                </a:solidFill>
                <a:round/>
                <a:headEnd/>
                <a:tailEnd/>
              </a:ln>
            </p:spPr>
            <p:txBody>
              <a:bodyPr/>
              <a:lstStyle/>
              <a:p>
                <a:endParaRPr lang="zh-CN" altLang="en-US"/>
              </a:p>
            </p:txBody>
          </p:sp>
          <p:sp>
            <p:nvSpPr>
              <p:cNvPr id="24665" name="Freeform 80"/>
              <p:cNvSpPr>
                <a:spLocks/>
              </p:cNvSpPr>
              <p:nvPr/>
            </p:nvSpPr>
            <p:spPr bwMode="auto">
              <a:xfrm>
                <a:off x="8177" y="6763"/>
                <a:ext cx="873" cy="669"/>
              </a:xfrm>
              <a:custGeom>
                <a:avLst/>
                <a:gdLst>
                  <a:gd name="T0" fmla="*/ 873 w 940"/>
                  <a:gd name="T1" fmla="*/ 56 h 720"/>
                  <a:gd name="T2" fmla="*/ 873 w 940"/>
                  <a:gd name="T3" fmla="*/ 0 h 720"/>
                  <a:gd name="T4" fmla="*/ 9 w 940"/>
                  <a:gd name="T5" fmla="*/ 0 h 720"/>
                  <a:gd name="T6" fmla="*/ 0 w 940"/>
                  <a:gd name="T7" fmla="*/ 669 h 720"/>
                  <a:gd name="T8" fmla="*/ 0 60000 65536"/>
                  <a:gd name="T9" fmla="*/ 0 60000 65536"/>
                  <a:gd name="T10" fmla="*/ 0 60000 65536"/>
                  <a:gd name="T11" fmla="*/ 0 60000 65536"/>
                  <a:gd name="T12" fmla="*/ 0 w 940"/>
                  <a:gd name="T13" fmla="*/ 0 h 720"/>
                  <a:gd name="T14" fmla="*/ 940 w 940"/>
                  <a:gd name="T15" fmla="*/ 720 h 720"/>
                </a:gdLst>
                <a:ahLst/>
                <a:cxnLst>
                  <a:cxn ang="T8">
                    <a:pos x="T0" y="T1"/>
                  </a:cxn>
                  <a:cxn ang="T9">
                    <a:pos x="T2" y="T3"/>
                  </a:cxn>
                  <a:cxn ang="T10">
                    <a:pos x="T4" y="T5"/>
                  </a:cxn>
                  <a:cxn ang="T11">
                    <a:pos x="T6" y="T7"/>
                  </a:cxn>
                </a:cxnLst>
                <a:rect l="T12" t="T13" r="T14" b="T15"/>
                <a:pathLst>
                  <a:path w="940" h="720">
                    <a:moveTo>
                      <a:pt x="940" y="60"/>
                    </a:moveTo>
                    <a:lnTo>
                      <a:pt x="940" y="0"/>
                    </a:lnTo>
                    <a:lnTo>
                      <a:pt x="10" y="0"/>
                    </a:lnTo>
                    <a:lnTo>
                      <a:pt x="0" y="720"/>
                    </a:lnTo>
                  </a:path>
                </a:pathLst>
              </a:custGeom>
              <a:noFill/>
              <a:ln w="9525">
                <a:solidFill>
                  <a:srgbClr val="000000"/>
                </a:solidFill>
                <a:round/>
                <a:headEnd/>
                <a:tailEnd/>
              </a:ln>
            </p:spPr>
            <p:txBody>
              <a:bodyPr/>
              <a:lstStyle/>
              <a:p>
                <a:endParaRPr lang="zh-CN" altLang="en-US"/>
              </a:p>
            </p:txBody>
          </p:sp>
          <p:sp>
            <p:nvSpPr>
              <p:cNvPr id="24666" name="Freeform 81"/>
              <p:cNvSpPr>
                <a:spLocks/>
              </p:cNvSpPr>
              <p:nvPr/>
            </p:nvSpPr>
            <p:spPr bwMode="auto">
              <a:xfrm>
                <a:off x="8288" y="7060"/>
                <a:ext cx="762" cy="279"/>
              </a:xfrm>
              <a:custGeom>
                <a:avLst/>
                <a:gdLst>
                  <a:gd name="T0" fmla="*/ 762 w 820"/>
                  <a:gd name="T1" fmla="*/ 0 h 300"/>
                  <a:gd name="T2" fmla="*/ 753 w 820"/>
                  <a:gd name="T3" fmla="*/ 74 h 300"/>
                  <a:gd name="T4" fmla="*/ 0 w 820"/>
                  <a:gd name="T5" fmla="*/ 74 h 300"/>
                  <a:gd name="T6" fmla="*/ 0 w 820"/>
                  <a:gd name="T7" fmla="*/ 279 h 300"/>
                  <a:gd name="T8" fmla="*/ 0 60000 65536"/>
                  <a:gd name="T9" fmla="*/ 0 60000 65536"/>
                  <a:gd name="T10" fmla="*/ 0 60000 65536"/>
                  <a:gd name="T11" fmla="*/ 0 60000 65536"/>
                  <a:gd name="T12" fmla="*/ 0 w 820"/>
                  <a:gd name="T13" fmla="*/ 0 h 300"/>
                  <a:gd name="T14" fmla="*/ 820 w 820"/>
                  <a:gd name="T15" fmla="*/ 300 h 300"/>
                </a:gdLst>
                <a:ahLst/>
                <a:cxnLst>
                  <a:cxn ang="T8">
                    <a:pos x="T0" y="T1"/>
                  </a:cxn>
                  <a:cxn ang="T9">
                    <a:pos x="T2" y="T3"/>
                  </a:cxn>
                  <a:cxn ang="T10">
                    <a:pos x="T4" y="T5"/>
                  </a:cxn>
                  <a:cxn ang="T11">
                    <a:pos x="T6" y="T7"/>
                  </a:cxn>
                </a:cxnLst>
                <a:rect l="T12" t="T13" r="T14" b="T15"/>
                <a:pathLst>
                  <a:path w="820" h="300">
                    <a:moveTo>
                      <a:pt x="820" y="0"/>
                    </a:moveTo>
                    <a:lnTo>
                      <a:pt x="810" y="80"/>
                    </a:lnTo>
                    <a:lnTo>
                      <a:pt x="0" y="80"/>
                    </a:lnTo>
                    <a:lnTo>
                      <a:pt x="0" y="300"/>
                    </a:lnTo>
                  </a:path>
                </a:pathLst>
              </a:custGeom>
              <a:noFill/>
              <a:ln w="9525">
                <a:solidFill>
                  <a:srgbClr val="000000"/>
                </a:solidFill>
                <a:round/>
                <a:headEnd/>
                <a:tailEnd/>
              </a:ln>
            </p:spPr>
            <p:txBody>
              <a:bodyPr/>
              <a:lstStyle/>
              <a:p>
                <a:endParaRPr lang="zh-CN" altLang="en-US"/>
              </a:p>
            </p:txBody>
          </p:sp>
          <p:sp>
            <p:nvSpPr>
              <p:cNvPr id="24667" name="Line 82"/>
              <p:cNvSpPr>
                <a:spLocks noChangeShapeType="1"/>
              </p:cNvSpPr>
              <p:nvPr/>
            </p:nvSpPr>
            <p:spPr bwMode="auto">
              <a:xfrm flipH="1">
                <a:off x="8957" y="6856"/>
                <a:ext cx="167" cy="139"/>
              </a:xfrm>
              <a:prstGeom prst="line">
                <a:avLst/>
              </a:prstGeom>
              <a:noFill/>
              <a:ln w="9525">
                <a:solidFill>
                  <a:srgbClr val="000000"/>
                </a:solidFill>
                <a:round/>
                <a:headEnd/>
                <a:tailEnd type="stealth" w="sm" len="sm"/>
              </a:ln>
            </p:spPr>
            <p:txBody>
              <a:bodyPr/>
              <a:lstStyle/>
              <a:p>
                <a:endParaRPr lang="zh-CN" altLang="en-US"/>
              </a:p>
            </p:txBody>
          </p:sp>
          <p:sp>
            <p:nvSpPr>
              <p:cNvPr id="24668" name="Line 83"/>
              <p:cNvSpPr>
                <a:spLocks noChangeShapeType="1"/>
              </p:cNvSpPr>
              <p:nvPr/>
            </p:nvSpPr>
            <p:spPr bwMode="auto">
              <a:xfrm>
                <a:off x="8084" y="7701"/>
                <a:ext cx="56" cy="0"/>
              </a:xfrm>
              <a:prstGeom prst="line">
                <a:avLst/>
              </a:prstGeom>
              <a:noFill/>
              <a:ln w="9525">
                <a:solidFill>
                  <a:srgbClr val="000000"/>
                </a:solidFill>
                <a:round/>
                <a:headEnd/>
                <a:tailEnd/>
              </a:ln>
            </p:spPr>
            <p:txBody>
              <a:bodyPr/>
              <a:lstStyle/>
              <a:p>
                <a:endParaRPr lang="zh-CN" altLang="en-US"/>
              </a:p>
            </p:txBody>
          </p:sp>
          <p:sp>
            <p:nvSpPr>
              <p:cNvPr id="24669" name="Line 84"/>
              <p:cNvSpPr>
                <a:spLocks noChangeShapeType="1"/>
              </p:cNvSpPr>
              <p:nvPr/>
            </p:nvSpPr>
            <p:spPr bwMode="auto">
              <a:xfrm>
                <a:off x="8084" y="8007"/>
                <a:ext cx="56" cy="0"/>
              </a:xfrm>
              <a:prstGeom prst="line">
                <a:avLst/>
              </a:prstGeom>
              <a:noFill/>
              <a:ln w="9525">
                <a:solidFill>
                  <a:srgbClr val="000000"/>
                </a:solidFill>
                <a:round/>
                <a:headEnd/>
                <a:tailEnd/>
              </a:ln>
            </p:spPr>
            <p:txBody>
              <a:bodyPr/>
              <a:lstStyle/>
              <a:p>
                <a:endParaRPr lang="zh-CN" altLang="en-US"/>
              </a:p>
            </p:txBody>
          </p:sp>
          <p:sp>
            <p:nvSpPr>
              <p:cNvPr id="24670" name="Line 85"/>
              <p:cNvSpPr>
                <a:spLocks noChangeShapeType="1"/>
              </p:cNvSpPr>
              <p:nvPr/>
            </p:nvSpPr>
            <p:spPr bwMode="auto">
              <a:xfrm flipV="1">
                <a:off x="3571" y="7113"/>
                <a:ext cx="250" cy="500"/>
              </a:xfrm>
              <a:prstGeom prst="line">
                <a:avLst/>
              </a:prstGeom>
              <a:noFill/>
              <a:ln w="6350">
                <a:solidFill>
                  <a:srgbClr val="000000"/>
                </a:solidFill>
                <a:round/>
                <a:headEnd/>
                <a:tailEnd/>
              </a:ln>
            </p:spPr>
            <p:txBody>
              <a:bodyPr/>
              <a:lstStyle/>
              <a:p>
                <a:endParaRPr lang="zh-CN" altLang="en-US"/>
              </a:p>
            </p:txBody>
          </p:sp>
          <p:sp>
            <p:nvSpPr>
              <p:cNvPr id="481366" name="Text Box 86"/>
              <p:cNvSpPr txBox="1">
                <a:spLocks noChangeArrowheads="1"/>
              </p:cNvSpPr>
              <p:nvPr/>
            </p:nvSpPr>
            <p:spPr bwMode="auto">
              <a:xfrm>
                <a:off x="3701" y="6803"/>
                <a:ext cx="620" cy="430"/>
              </a:xfrm>
              <a:prstGeom prst="rect">
                <a:avLst/>
              </a:prstGeom>
              <a:noFill/>
              <a:ln w="9525">
                <a:noFill/>
                <a:miter lim="800000"/>
                <a:headEnd/>
                <a:tailEnd/>
              </a:ln>
            </p:spPr>
            <p:txBody>
              <a:bodyPr/>
              <a:lstStyle/>
              <a:p>
                <a:pPr algn="just">
                  <a:defRPr/>
                </a:pPr>
                <a:r>
                  <a:rPr lang="en-US" altLang="zh-CN" sz="2000" b="1">
                    <a:effectLst>
                      <a:outerShdw blurRad="38100" dist="38100" dir="2700000" algn="tl">
                        <a:srgbClr val="C0C0C0"/>
                      </a:outerShdw>
                    </a:effectLst>
                    <a:latin typeface="Times New Roman" pitchFamily="18" charset="0"/>
                    <a:ea typeface="宋体" pitchFamily="2" charset="-122"/>
                  </a:rPr>
                  <a:t>1</a:t>
                </a:r>
                <a:endParaRPr lang="en-US" altLang="zh-CN" sz="2000" b="1">
                  <a:effectLst>
                    <a:outerShdw blurRad="38100" dist="38100" dir="2700000" algn="tl">
                      <a:srgbClr val="C0C0C0"/>
                    </a:outerShdw>
                  </a:effectLst>
                  <a:ea typeface="宋体" pitchFamily="2" charset="-122"/>
                </a:endParaRPr>
              </a:p>
            </p:txBody>
          </p:sp>
          <p:sp>
            <p:nvSpPr>
              <p:cNvPr id="24672" name="Line 87"/>
              <p:cNvSpPr>
                <a:spLocks noChangeShapeType="1"/>
              </p:cNvSpPr>
              <p:nvPr/>
            </p:nvSpPr>
            <p:spPr bwMode="auto">
              <a:xfrm flipV="1">
                <a:off x="4531" y="7033"/>
                <a:ext cx="230" cy="610"/>
              </a:xfrm>
              <a:prstGeom prst="line">
                <a:avLst/>
              </a:prstGeom>
              <a:noFill/>
              <a:ln w="6350">
                <a:solidFill>
                  <a:srgbClr val="000000"/>
                </a:solidFill>
                <a:round/>
                <a:headEnd/>
                <a:tailEnd/>
              </a:ln>
            </p:spPr>
            <p:txBody>
              <a:bodyPr/>
              <a:lstStyle/>
              <a:p>
                <a:endParaRPr lang="zh-CN" altLang="en-US"/>
              </a:p>
            </p:txBody>
          </p:sp>
          <p:sp>
            <p:nvSpPr>
              <p:cNvPr id="481368" name="Text Box 88"/>
              <p:cNvSpPr txBox="1">
                <a:spLocks noChangeArrowheads="1"/>
              </p:cNvSpPr>
              <p:nvPr/>
            </p:nvSpPr>
            <p:spPr bwMode="auto">
              <a:xfrm>
                <a:off x="4661" y="6713"/>
                <a:ext cx="620" cy="775"/>
              </a:xfrm>
              <a:prstGeom prst="rect">
                <a:avLst/>
              </a:prstGeom>
              <a:noFill/>
              <a:ln w="9525">
                <a:noFill/>
                <a:miter lim="800000"/>
                <a:headEnd/>
                <a:tailEnd/>
              </a:ln>
            </p:spPr>
            <p:txBody>
              <a:bodyPr/>
              <a:lstStyle/>
              <a:p>
                <a:pPr algn="just">
                  <a:defRPr/>
                </a:pPr>
                <a:r>
                  <a:rPr lang="en-US" altLang="zh-CN" sz="2000" b="1">
                    <a:effectLst>
                      <a:outerShdw blurRad="38100" dist="38100" dir="2700000" algn="tl">
                        <a:srgbClr val="C0C0C0"/>
                      </a:outerShdw>
                    </a:effectLst>
                    <a:latin typeface="Times New Roman" pitchFamily="18" charset="0"/>
                    <a:ea typeface="宋体" pitchFamily="2" charset="-122"/>
                  </a:rPr>
                  <a:t>2</a:t>
                </a:r>
                <a:endParaRPr lang="en-US" altLang="zh-CN" sz="2000" b="1">
                  <a:effectLst>
                    <a:outerShdw blurRad="38100" dist="38100" dir="2700000" algn="tl">
                      <a:srgbClr val="C0C0C0"/>
                    </a:outerShdw>
                  </a:effectLst>
                  <a:ea typeface="宋体" pitchFamily="2" charset="-122"/>
                </a:endParaRPr>
              </a:p>
            </p:txBody>
          </p:sp>
          <p:sp>
            <p:nvSpPr>
              <p:cNvPr id="24674" name="Line 89"/>
              <p:cNvSpPr>
                <a:spLocks noChangeShapeType="1"/>
              </p:cNvSpPr>
              <p:nvPr/>
            </p:nvSpPr>
            <p:spPr bwMode="auto">
              <a:xfrm flipV="1">
                <a:off x="6121" y="7133"/>
                <a:ext cx="220" cy="430"/>
              </a:xfrm>
              <a:prstGeom prst="line">
                <a:avLst/>
              </a:prstGeom>
              <a:noFill/>
              <a:ln w="6350">
                <a:solidFill>
                  <a:srgbClr val="000000"/>
                </a:solidFill>
                <a:round/>
                <a:headEnd/>
                <a:tailEnd/>
              </a:ln>
            </p:spPr>
            <p:txBody>
              <a:bodyPr/>
              <a:lstStyle/>
              <a:p>
                <a:endParaRPr lang="zh-CN" altLang="en-US"/>
              </a:p>
            </p:txBody>
          </p:sp>
          <p:sp>
            <p:nvSpPr>
              <p:cNvPr id="481370" name="Text Box 90"/>
              <p:cNvSpPr txBox="1">
                <a:spLocks noChangeArrowheads="1"/>
              </p:cNvSpPr>
              <p:nvPr/>
            </p:nvSpPr>
            <p:spPr bwMode="auto">
              <a:xfrm>
                <a:off x="6201" y="6832"/>
                <a:ext cx="620" cy="430"/>
              </a:xfrm>
              <a:prstGeom prst="rect">
                <a:avLst/>
              </a:prstGeom>
              <a:noFill/>
              <a:ln w="9525">
                <a:noFill/>
                <a:miter lim="800000"/>
                <a:headEnd/>
                <a:tailEnd/>
              </a:ln>
            </p:spPr>
            <p:txBody>
              <a:bodyPr/>
              <a:lstStyle/>
              <a:p>
                <a:pPr algn="just">
                  <a:defRPr/>
                </a:pPr>
                <a:r>
                  <a:rPr lang="en-US" altLang="zh-CN" sz="2000" b="1">
                    <a:effectLst>
                      <a:outerShdw blurRad="38100" dist="38100" dir="2700000" algn="tl">
                        <a:srgbClr val="C0C0C0"/>
                      </a:outerShdw>
                    </a:effectLst>
                    <a:latin typeface="Times New Roman" pitchFamily="18" charset="0"/>
                    <a:ea typeface="宋体" pitchFamily="2" charset="-122"/>
                  </a:rPr>
                  <a:t>3</a:t>
                </a:r>
                <a:endParaRPr lang="en-US" altLang="zh-CN" sz="2000" b="1">
                  <a:effectLst>
                    <a:outerShdw blurRad="38100" dist="38100" dir="2700000" algn="tl">
                      <a:srgbClr val="C0C0C0"/>
                    </a:outerShdw>
                  </a:effectLst>
                  <a:ea typeface="宋体" pitchFamily="2" charset="-122"/>
                </a:endParaRPr>
              </a:p>
            </p:txBody>
          </p:sp>
          <p:sp>
            <p:nvSpPr>
              <p:cNvPr id="24676" name="Line 91"/>
              <p:cNvSpPr>
                <a:spLocks noChangeShapeType="1"/>
              </p:cNvSpPr>
              <p:nvPr/>
            </p:nvSpPr>
            <p:spPr bwMode="auto">
              <a:xfrm flipV="1">
                <a:off x="6791" y="7203"/>
                <a:ext cx="260" cy="500"/>
              </a:xfrm>
              <a:prstGeom prst="line">
                <a:avLst/>
              </a:prstGeom>
              <a:noFill/>
              <a:ln w="6350">
                <a:solidFill>
                  <a:srgbClr val="000000"/>
                </a:solidFill>
                <a:round/>
                <a:headEnd/>
                <a:tailEnd/>
              </a:ln>
            </p:spPr>
            <p:txBody>
              <a:bodyPr/>
              <a:lstStyle/>
              <a:p>
                <a:endParaRPr lang="zh-CN" altLang="en-US"/>
              </a:p>
            </p:txBody>
          </p:sp>
          <p:sp>
            <p:nvSpPr>
              <p:cNvPr id="481372" name="Text Box 92"/>
              <p:cNvSpPr txBox="1">
                <a:spLocks noChangeArrowheads="1"/>
              </p:cNvSpPr>
              <p:nvPr/>
            </p:nvSpPr>
            <p:spPr bwMode="auto">
              <a:xfrm>
                <a:off x="6941" y="6903"/>
                <a:ext cx="620" cy="430"/>
              </a:xfrm>
              <a:prstGeom prst="rect">
                <a:avLst/>
              </a:prstGeom>
              <a:noFill/>
              <a:ln w="9525">
                <a:noFill/>
                <a:miter lim="800000"/>
                <a:headEnd/>
                <a:tailEnd/>
              </a:ln>
            </p:spPr>
            <p:txBody>
              <a:bodyPr/>
              <a:lstStyle/>
              <a:p>
                <a:pPr algn="just">
                  <a:defRPr/>
                </a:pPr>
                <a:r>
                  <a:rPr lang="en-US" altLang="zh-CN" sz="2000" b="1">
                    <a:effectLst>
                      <a:outerShdw blurRad="38100" dist="38100" dir="2700000" algn="tl">
                        <a:srgbClr val="C0C0C0"/>
                      </a:outerShdw>
                    </a:effectLst>
                    <a:latin typeface="Times New Roman" pitchFamily="18" charset="0"/>
                    <a:ea typeface="宋体" pitchFamily="2" charset="-122"/>
                  </a:rPr>
                  <a:t>4</a:t>
                </a:r>
                <a:endParaRPr lang="en-US" altLang="zh-CN" sz="2000" b="1">
                  <a:effectLst>
                    <a:outerShdw blurRad="38100" dist="38100" dir="2700000" algn="tl">
                      <a:srgbClr val="C0C0C0"/>
                    </a:outerShdw>
                  </a:effectLst>
                  <a:ea typeface="宋体" pitchFamily="2" charset="-122"/>
                </a:endParaRPr>
              </a:p>
            </p:txBody>
          </p:sp>
          <p:sp>
            <p:nvSpPr>
              <p:cNvPr id="481373" name="Text Box 93"/>
              <p:cNvSpPr txBox="1">
                <a:spLocks noChangeArrowheads="1"/>
              </p:cNvSpPr>
              <p:nvPr/>
            </p:nvSpPr>
            <p:spPr bwMode="auto">
              <a:xfrm>
                <a:off x="8811" y="6753"/>
                <a:ext cx="620" cy="430"/>
              </a:xfrm>
              <a:prstGeom prst="rect">
                <a:avLst/>
              </a:prstGeom>
              <a:noFill/>
              <a:ln w="9525">
                <a:noFill/>
                <a:miter lim="800000"/>
                <a:headEnd/>
                <a:tailEnd/>
              </a:ln>
            </p:spPr>
            <p:txBody>
              <a:bodyPr/>
              <a:lstStyle/>
              <a:p>
                <a:pPr algn="r">
                  <a:defRPr/>
                </a:pPr>
                <a:r>
                  <a:rPr lang="en-US" altLang="zh-CN" sz="2000" b="1">
                    <a:effectLst>
                      <a:outerShdw blurRad="38100" dist="38100" dir="2700000" algn="tl">
                        <a:srgbClr val="C0C0C0"/>
                      </a:outerShdw>
                    </a:effectLst>
                    <a:latin typeface="Times New Roman" pitchFamily="18" charset="0"/>
                    <a:ea typeface="宋体" pitchFamily="2" charset="-122"/>
                  </a:rPr>
                  <a:t>5</a:t>
                </a:r>
                <a:endParaRPr lang="en-US" altLang="zh-CN" sz="2000" b="1">
                  <a:effectLst>
                    <a:outerShdw blurRad="38100" dist="38100" dir="2700000" algn="tl">
                      <a:srgbClr val="C0C0C0"/>
                    </a:outerShdw>
                  </a:effectLst>
                  <a:ea typeface="宋体" pitchFamily="2" charset="-122"/>
                </a:endParaRPr>
              </a:p>
            </p:txBody>
          </p:sp>
          <p:sp>
            <p:nvSpPr>
              <p:cNvPr id="481374" name="Text Box 94"/>
              <p:cNvSpPr txBox="1">
                <a:spLocks noChangeArrowheads="1"/>
              </p:cNvSpPr>
              <p:nvPr/>
            </p:nvSpPr>
            <p:spPr bwMode="auto">
              <a:xfrm>
                <a:off x="8530" y="8073"/>
                <a:ext cx="621" cy="430"/>
              </a:xfrm>
              <a:prstGeom prst="rect">
                <a:avLst/>
              </a:prstGeom>
              <a:noFill/>
              <a:ln w="9525">
                <a:noFill/>
                <a:miter lim="800000"/>
                <a:headEnd/>
                <a:tailEnd/>
              </a:ln>
            </p:spPr>
            <p:txBody>
              <a:bodyPr/>
              <a:lstStyle/>
              <a:p>
                <a:pPr algn="r">
                  <a:defRPr/>
                </a:pPr>
                <a:r>
                  <a:rPr lang="en-US" altLang="zh-CN" sz="2000" b="1">
                    <a:effectLst>
                      <a:outerShdw blurRad="38100" dist="38100" dir="2700000" algn="tl">
                        <a:srgbClr val="C0C0C0"/>
                      </a:outerShdw>
                    </a:effectLst>
                    <a:latin typeface="Times New Roman" pitchFamily="18" charset="0"/>
                    <a:ea typeface="宋体" pitchFamily="2" charset="-122"/>
                  </a:rPr>
                  <a:t>6</a:t>
                </a:r>
                <a:endParaRPr lang="en-US" altLang="zh-CN" sz="2000" b="1">
                  <a:effectLst>
                    <a:outerShdw blurRad="38100" dist="38100" dir="2700000" algn="tl">
                      <a:srgbClr val="C0C0C0"/>
                    </a:outerShdw>
                  </a:effectLst>
                  <a:ea typeface="宋体" pitchFamily="2" charset="-122"/>
                </a:endParaRPr>
              </a:p>
            </p:txBody>
          </p:sp>
          <p:sp>
            <p:nvSpPr>
              <p:cNvPr id="481375" name="Text Box 95"/>
              <p:cNvSpPr txBox="1">
                <a:spLocks noChangeArrowheads="1"/>
              </p:cNvSpPr>
              <p:nvPr/>
            </p:nvSpPr>
            <p:spPr bwMode="auto">
              <a:xfrm>
                <a:off x="2990" y="8511"/>
                <a:ext cx="5941" cy="779"/>
              </a:xfrm>
              <a:prstGeom prst="rect">
                <a:avLst/>
              </a:prstGeom>
              <a:noFill/>
              <a:ln w="9525">
                <a:noFill/>
                <a:miter lim="800000"/>
                <a:headEnd/>
                <a:tailEnd/>
              </a:ln>
            </p:spPr>
            <p:txBody>
              <a:bodyPr/>
              <a:lstStyle/>
              <a:p>
                <a:pPr algn="ctr">
                  <a:defRPr/>
                </a:pPr>
                <a:r>
                  <a:rPr lang="en-US" altLang="zh-CN" sz="1400" b="1">
                    <a:effectLst>
                      <a:outerShdw blurRad="38100" dist="38100" dir="2700000" algn="tl">
                        <a:srgbClr val="C0C0C0"/>
                      </a:outerShdw>
                    </a:effectLst>
                    <a:latin typeface="Times New Roman" pitchFamily="18" charset="0"/>
                    <a:ea typeface="宋体" pitchFamily="2" charset="-122"/>
                  </a:rPr>
                  <a:t>1-</a:t>
                </a:r>
                <a:r>
                  <a:rPr lang="zh-CN" altLang="en-US" sz="1400" b="1">
                    <a:effectLst>
                      <a:outerShdw blurRad="38100" dist="38100" dir="2700000" algn="tl">
                        <a:srgbClr val="C0C0C0"/>
                      </a:outerShdw>
                    </a:effectLst>
                    <a:latin typeface="Times New Roman" pitchFamily="18" charset="0"/>
                    <a:ea typeface="宋体" pitchFamily="2" charset="-122"/>
                  </a:rPr>
                  <a:t>小孔光阑   </a:t>
                </a:r>
                <a:r>
                  <a:rPr lang="en-US" altLang="zh-CN" sz="1400" b="1">
                    <a:effectLst>
                      <a:outerShdw blurRad="38100" dist="38100" dir="2700000" algn="tl">
                        <a:srgbClr val="C0C0C0"/>
                      </a:outerShdw>
                    </a:effectLst>
                    <a:latin typeface="Times New Roman" pitchFamily="18" charset="0"/>
                    <a:ea typeface="宋体" pitchFamily="2" charset="-122"/>
                  </a:rPr>
                  <a:t>2-</a:t>
                </a:r>
                <a:r>
                  <a:rPr lang="zh-CN" altLang="en-US" sz="1400" b="1">
                    <a:effectLst>
                      <a:outerShdw blurRad="38100" dist="38100" dir="2700000" algn="tl">
                        <a:srgbClr val="C0C0C0"/>
                      </a:outerShdw>
                    </a:effectLst>
                    <a:latin typeface="Times New Roman" pitchFamily="18" charset="0"/>
                    <a:ea typeface="宋体" pitchFamily="2" charset="-122"/>
                  </a:rPr>
                  <a:t>平行光管   </a:t>
                </a:r>
                <a:r>
                  <a:rPr lang="en-US" altLang="zh-CN" sz="1400" b="1">
                    <a:effectLst>
                      <a:outerShdw blurRad="38100" dist="38100" dir="2700000" algn="tl">
                        <a:srgbClr val="C0C0C0"/>
                      </a:outerShdw>
                    </a:effectLst>
                    <a:latin typeface="Times New Roman" pitchFamily="18" charset="0"/>
                    <a:ea typeface="宋体" pitchFamily="2" charset="-122"/>
                  </a:rPr>
                  <a:t>3-</a:t>
                </a:r>
                <a:r>
                  <a:rPr lang="zh-CN" altLang="en-US" sz="1400" b="1">
                    <a:effectLst>
                      <a:outerShdw blurRad="38100" dist="38100" dir="2700000" algn="tl">
                        <a:srgbClr val="C0C0C0"/>
                      </a:outerShdw>
                    </a:effectLst>
                    <a:latin typeface="Times New Roman" pitchFamily="18" charset="0"/>
                    <a:ea typeface="宋体" pitchFamily="2" charset="-122"/>
                  </a:rPr>
                  <a:t>可变光阑   </a:t>
                </a:r>
                <a:r>
                  <a:rPr lang="en-US" altLang="zh-CN" sz="1400" b="1">
                    <a:effectLst>
                      <a:outerShdw blurRad="38100" dist="38100" dir="2700000" algn="tl">
                        <a:srgbClr val="C0C0C0"/>
                      </a:outerShdw>
                    </a:effectLst>
                    <a:latin typeface="Times New Roman" pitchFamily="18" charset="0"/>
                    <a:ea typeface="宋体" pitchFamily="2" charset="-122"/>
                  </a:rPr>
                  <a:t>4-</a:t>
                </a:r>
                <a:r>
                  <a:rPr lang="zh-CN" altLang="en-US" sz="1400" b="1">
                    <a:effectLst>
                      <a:outerShdw blurRad="38100" dist="38100" dir="2700000" algn="tl">
                        <a:srgbClr val="C0C0C0"/>
                      </a:outerShdw>
                    </a:effectLst>
                    <a:latin typeface="Times New Roman" pitchFamily="18" charset="0"/>
                    <a:ea typeface="宋体" pitchFamily="2" charset="-122"/>
                  </a:rPr>
                  <a:t>被测望远镜   </a:t>
                </a:r>
                <a:r>
                  <a:rPr lang="en-US" altLang="zh-CN" sz="1400" b="1">
                    <a:effectLst>
                      <a:outerShdw blurRad="38100" dist="38100" dir="2700000" algn="tl">
                        <a:srgbClr val="C0C0C0"/>
                      </a:outerShdw>
                    </a:effectLst>
                    <a:latin typeface="Times New Roman" pitchFamily="18" charset="0"/>
                    <a:ea typeface="宋体" pitchFamily="2" charset="-122"/>
                  </a:rPr>
                  <a:t>5-</a:t>
                </a:r>
                <a:r>
                  <a:rPr lang="zh-CN" altLang="en-US" sz="1400" b="1">
                    <a:effectLst>
                      <a:outerShdw blurRad="38100" dist="38100" dir="2700000" algn="tl">
                        <a:srgbClr val="C0C0C0"/>
                      </a:outerShdw>
                    </a:effectLst>
                    <a:latin typeface="Times New Roman" pitchFamily="18" charset="0"/>
                    <a:ea typeface="宋体" pitchFamily="2" charset="-122"/>
                  </a:rPr>
                  <a:t>检流计   </a:t>
                </a:r>
                <a:r>
                  <a:rPr lang="en-US" altLang="zh-CN" sz="1400" b="1">
                    <a:effectLst>
                      <a:outerShdw blurRad="38100" dist="38100" dir="2700000" algn="tl">
                        <a:srgbClr val="C0C0C0"/>
                      </a:outerShdw>
                    </a:effectLst>
                    <a:latin typeface="Times New Roman" pitchFamily="18" charset="0"/>
                    <a:ea typeface="宋体" pitchFamily="2" charset="-122"/>
                  </a:rPr>
                  <a:t>6-</a:t>
                </a:r>
                <a:r>
                  <a:rPr lang="zh-CN" altLang="en-US" sz="1400" b="1">
                    <a:effectLst>
                      <a:outerShdw blurRad="38100" dist="38100" dir="2700000" algn="tl">
                        <a:srgbClr val="C0C0C0"/>
                      </a:outerShdw>
                    </a:effectLst>
                    <a:latin typeface="Times New Roman" pitchFamily="18" charset="0"/>
                    <a:ea typeface="宋体" pitchFamily="2" charset="-122"/>
                  </a:rPr>
                  <a:t>积分球</a:t>
                </a:r>
              </a:p>
              <a:p>
                <a:pPr algn="ctr">
                  <a:defRPr/>
                </a:pPr>
                <a:endParaRPr lang="zh-CN" altLang="en-US" sz="1400" b="1">
                  <a:effectLst>
                    <a:outerShdw blurRad="38100" dist="38100" dir="2700000" algn="tl">
                      <a:srgbClr val="C0C0C0"/>
                    </a:outerShdw>
                  </a:effectLst>
                  <a:latin typeface="Times New Roman" pitchFamily="18" charset="0"/>
                  <a:ea typeface="宋体" pitchFamily="2" charset="-122"/>
                </a:endParaRPr>
              </a:p>
              <a:p>
                <a:pPr algn="ctr">
                  <a:defRPr/>
                </a:pPr>
                <a:r>
                  <a:rPr lang="zh-CN" altLang="en-US" sz="2400" b="1">
                    <a:effectLst>
                      <a:outerShdw blurRad="38100" dist="38100" dir="2700000" algn="tl">
                        <a:srgbClr val="C0C0C0"/>
                      </a:outerShdw>
                    </a:effectLst>
                    <a:latin typeface="黑体" pitchFamily="2" charset="-122"/>
                    <a:ea typeface="黑体" pitchFamily="2" charset="-122"/>
                  </a:rPr>
                  <a:t>望远系统透过率测量光路图</a:t>
                </a:r>
              </a:p>
              <a:p>
                <a:pPr>
                  <a:defRPr/>
                </a:pPr>
                <a:endParaRPr lang="en-US" altLang="zh-CN" sz="2000" b="1">
                  <a:effectLst>
                    <a:outerShdw blurRad="38100" dist="38100" dir="2700000" algn="tl">
                      <a:srgbClr val="C0C0C0"/>
                    </a:outerShdw>
                  </a:effectLst>
                  <a:ea typeface="宋体" pitchFamily="2" charset="-122"/>
                </a:endParaRPr>
              </a:p>
            </p:txBody>
          </p:sp>
        </p:grpSp>
      </p:grpSp>
      <p:sp>
        <p:nvSpPr>
          <p:cNvPr id="481376" name="Rectangle 96"/>
          <p:cNvSpPr>
            <a:spLocks noChangeArrowheads="1"/>
          </p:cNvSpPr>
          <p:nvPr/>
        </p:nvSpPr>
        <p:spPr bwMode="auto">
          <a:xfrm>
            <a:off x="635000" y="5624513"/>
            <a:ext cx="3708400" cy="457200"/>
          </a:xfrm>
          <a:prstGeom prst="rect">
            <a:avLst/>
          </a:prstGeom>
          <a:noFill/>
          <a:ln w="9525">
            <a:noFill/>
            <a:miter lim="800000"/>
            <a:headEnd/>
            <a:tailEnd/>
          </a:ln>
          <a:effectLst/>
        </p:spPr>
        <p:txBody>
          <a:bodyPr wrap="none" anchor="ctr">
            <a:spAutoFit/>
          </a:bodyPr>
          <a:lstStyle/>
          <a:p>
            <a:pPr>
              <a:defRPr/>
            </a:pPr>
            <a:r>
              <a:rPr lang="zh-CN" altLang="en-US" sz="2400" b="1">
                <a:effectLst>
                  <a:outerShdw blurRad="38100" dist="38100" dir="2700000" algn="tl">
                    <a:srgbClr val="C0C0C0"/>
                  </a:outerShdw>
                </a:effectLst>
                <a:latin typeface="黑体" pitchFamily="2" charset="-122"/>
                <a:ea typeface="黑体" pitchFamily="2" charset="-122"/>
              </a:rPr>
              <a:t>望远系统的白光透过率为 </a:t>
            </a:r>
          </a:p>
        </p:txBody>
      </p:sp>
      <p:sp>
        <p:nvSpPr>
          <p:cNvPr id="24587" name="Rectangle 97"/>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4578" name="Object 98"/>
          <p:cNvGraphicFramePr>
            <a:graphicFrameLocks noChangeAspect="1"/>
          </p:cNvGraphicFramePr>
          <p:nvPr/>
        </p:nvGraphicFramePr>
        <p:xfrm>
          <a:off x="4297363" y="5426075"/>
          <a:ext cx="2538412" cy="896938"/>
        </p:xfrm>
        <a:graphic>
          <a:graphicData uri="http://schemas.openxmlformats.org/presentationml/2006/ole">
            <p:oleObj spid="_x0000_s212994" name="公式" r:id="rId3" imgW="1269449" imgH="444307" progId="Equation.3">
              <p:embed/>
            </p:oleObj>
          </a:graphicData>
        </a:graphic>
      </p:graphicFrame>
      <p:grpSp>
        <p:nvGrpSpPr>
          <p:cNvPr id="4" name="Group 99"/>
          <p:cNvGrpSpPr>
            <a:grpSpLocks/>
          </p:cNvGrpSpPr>
          <p:nvPr/>
        </p:nvGrpSpPr>
        <p:grpSpPr bwMode="auto">
          <a:xfrm>
            <a:off x="5386388" y="4659313"/>
            <a:ext cx="3757612" cy="2016125"/>
            <a:chOff x="3393" y="2935"/>
            <a:chExt cx="2367" cy="1270"/>
          </a:xfrm>
        </p:grpSpPr>
        <p:sp>
          <p:nvSpPr>
            <p:cNvPr id="481380" name="AutoShape 100"/>
            <p:cNvSpPr>
              <a:spLocks noChangeArrowheads="1"/>
            </p:cNvSpPr>
            <p:nvPr/>
          </p:nvSpPr>
          <p:spPr bwMode="auto">
            <a:xfrm>
              <a:off x="3393" y="2935"/>
              <a:ext cx="1601" cy="411"/>
            </a:xfrm>
            <a:prstGeom prst="wedgeEllipseCallout">
              <a:avLst>
                <a:gd name="adj1" fmla="val -38134"/>
                <a:gd name="adj2" fmla="val 90875"/>
              </a:avLst>
            </a:prstGeom>
            <a:solidFill>
              <a:schemeClr val="accent1"/>
            </a:solidFill>
            <a:ln w="9525">
              <a:solidFill>
                <a:schemeClr val="tx1"/>
              </a:solidFill>
              <a:miter lim="800000"/>
              <a:headEnd/>
              <a:tailEnd/>
            </a:ln>
            <a:effectLst/>
          </p:spPr>
          <p:txBody>
            <a:bodyPr/>
            <a:lstStyle/>
            <a:p>
              <a:pPr algn="ctr">
                <a:defRPr/>
              </a:pPr>
              <a:r>
                <a:rPr lang="en-US" altLang="zh-CN" sz="2400" b="1">
                  <a:effectLst>
                    <a:outerShdw blurRad="38100" dist="38100" dir="2700000" algn="tl">
                      <a:srgbClr val="FFFFFF"/>
                    </a:outerShdw>
                  </a:effectLst>
                  <a:ea typeface="黑体" pitchFamily="2" charset="-122"/>
                </a:rPr>
                <a:t>“</a:t>
              </a:r>
              <a:r>
                <a:rPr lang="zh-CN" altLang="en-US" sz="2400" b="1">
                  <a:effectLst>
                    <a:outerShdw blurRad="38100" dist="38100" dir="2700000" algn="tl">
                      <a:srgbClr val="FFFFFF"/>
                    </a:outerShdw>
                  </a:effectLst>
                  <a:ea typeface="黑体" pitchFamily="2" charset="-122"/>
                </a:rPr>
                <a:t>实测”读数</a:t>
              </a:r>
              <a:endParaRPr lang="zh-CN" altLang="en-US" sz="2400" b="1" baseline="-25000">
                <a:effectLst>
                  <a:outerShdw blurRad="38100" dist="38100" dir="2700000" algn="tl">
                    <a:srgbClr val="FFFFFF"/>
                  </a:outerShdw>
                </a:effectLst>
                <a:ea typeface="黑体" pitchFamily="2" charset="-122"/>
              </a:endParaRPr>
            </a:p>
          </p:txBody>
        </p:sp>
        <p:sp>
          <p:nvSpPr>
            <p:cNvPr id="481381" name="AutoShape 101"/>
            <p:cNvSpPr>
              <a:spLocks noChangeArrowheads="1"/>
            </p:cNvSpPr>
            <p:nvPr/>
          </p:nvSpPr>
          <p:spPr bwMode="auto">
            <a:xfrm>
              <a:off x="4159" y="3794"/>
              <a:ext cx="1601" cy="411"/>
            </a:xfrm>
            <a:prstGeom prst="wedgeEllipseCallout">
              <a:avLst>
                <a:gd name="adj1" fmla="val -84227"/>
                <a:gd name="adj2" fmla="val -27130"/>
              </a:avLst>
            </a:prstGeom>
            <a:solidFill>
              <a:schemeClr val="accent1"/>
            </a:solidFill>
            <a:ln w="9525">
              <a:solidFill>
                <a:schemeClr val="tx1"/>
              </a:solidFill>
              <a:miter lim="800000"/>
              <a:headEnd/>
              <a:tailEnd/>
            </a:ln>
            <a:effectLst/>
          </p:spPr>
          <p:txBody>
            <a:bodyPr/>
            <a:lstStyle/>
            <a:p>
              <a:pPr algn="ctr">
                <a:defRPr/>
              </a:pPr>
              <a:r>
                <a:rPr lang="en-US" altLang="zh-CN" sz="2400" b="1">
                  <a:effectLst>
                    <a:outerShdw blurRad="38100" dist="38100" dir="2700000" algn="tl">
                      <a:srgbClr val="FFFFFF"/>
                    </a:outerShdw>
                  </a:effectLst>
                  <a:ea typeface="黑体" pitchFamily="2" charset="-122"/>
                </a:rPr>
                <a:t>“</a:t>
              </a:r>
              <a:r>
                <a:rPr lang="zh-CN" altLang="en-US" sz="2400" b="1">
                  <a:effectLst>
                    <a:outerShdw blurRad="38100" dist="38100" dir="2700000" algn="tl">
                      <a:srgbClr val="FFFFFF"/>
                    </a:outerShdw>
                  </a:effectLst>
                  <a:ea typeface="黑体" pitchFamily="2" charset="-122"/>
                </a:rPr>
                <a:t>空测”读数</a:t>
              </a:r>
              <a:endParaRPr lang="zh-CN" altLang="en-US" sz="2400" b="1" baseline="-25000">
                <a:effectLst>
                  <a:outerShdw blurRad="38100" dist="38100" dir="2700000" algn="tl">
                    <a:srgbClr val="FFFFFF"/>
                  </a:outerShdw>
                </a:effectLst>
                <a:ea typeface="黑体" pitchFamily="2" charset="-122"/>
              </a:endParaRPr>
            </a:p>
          </p:txBody>
        </p:sp>
      </p:grpSp>
      <p:sp>
        <p:nvSpPr>
          <p:cNvPr id="481382" name="AutoShape 102"/>
          <p:cNvSpPr>
            <a:spLocks noChangeArrowheads="1"/>
          </p:cNvSpPr>
          <p:nvPr/>
        </p:nvSpPr>
        <p:spPr bwMode="auto">
          <a:xfrm>
            <a:off x="1131888" y="1393825"/>
            <a:ext cx="7054850" cy="3352800"/>
          </a:xfrm>
          <a:prstGeom prst="star16">
            <a:avLst>
              <a:gd name="adj" fmla="val 37500"/>
            </a:avLst>
          </a:prstGeom>
          <a:solidFill>
            <a:schemeClr val="bg1"/>
          </a:solidFill>
          <a:ln w="9525">
            <a:solidFill>
              <a:schemeClr val="tx1"/>
            </a:solidFill>
            <a:miter lim="800000"/>
            <a:headEnd/>
            <a:tailEnd/>
          </a:ln>
          <a:effectLst/>
        </p:spPr>
        <p:txBody>
          <a:bodyPr wrap="none" anchor="ctr"/>
          <a:lstStyle/>
          <a:p>
            <a:pPr>
              <a:defRPr/>
            </a:pPr>
            <a:r>
              <a:rPr lang="zh-CN" altLang="en-US" sz="2400" b="1">
                <a:effectLst>
                  <a:outerShdw blurRad="38100" dist="38100" dir="2700000" algn="tl">
                    <a:srgbClr val="C0C0C0"/>
                  </a:outerShdw>
                </a:effectLst>
                <a:latin typeface="黑体" pitchFamily="2" charset="-122"/>
                <a:ea typeface="黑体" pitchFamily="2" charset="-122"/>
              </a:rPr>
              <a:t>测望远镜系统的</a:t>
            </a:r>
            <a:r>
              <a:rPr lang="zh-CN" altLang="en-US" sz="2400" b="1">
                <a:solidFill>
                  <a:srgbClr val="FF0000"/>
                </a:solidFill>
                <a:effectLst>
                  <a:outerShdw blurRad="38100" dist="38100" dir="2700000" algn="tl">
                    <a:srgbClr val="C0C0C0"/>
                  </a:outerShdw>
                </a:effectLst>
                <a:latin typeface="黑体" pitchFamily="2" charset="-122"/>
                <a:ea typeface="黑体" pitchFamily="2" charset="-122"/>
              </a:rPr>
              <a:t>光谱透过率</a:t>
            </a:r>
            <a:r>
              <a:rPr lang="zh-CN" altLang="en-US" sz="2400" b="1">
                <a:effectLst>
                  <a:outerShdw blurRad="38100" dist="38100" dir="2700000" algn="tl">
                    <a:srgbClr val="C0C0C0"/>
                  </a:outerShdw>
                </a:effectLst>
                <a:latin typeface="黑体" pitchFamily="2" charset="-122"/>
                <a:ea typeface="黑体" pitchFamily="2" charset="-122"/>
              </a:rPr>
              <a:t>，</a:t>
            </a:r>
          </a:p>
          <a:p>
            <a:pPr>
              <a:defRPr/>
            </a:pPr>
            <a:r>
              <a:rPr lang="zh-CN" altLang="en-US" sz="2400" b="1">
                <a:effectLst>
                  <a:outerShdw blurRad="38100" dist="38100" dir="2700000" algn="tl">
                    <a:srgbClr val="C0C0C0"/>
                  </a:outerShdw>
                </a:effectLst>
                <a:latin typeface="黑体" pitchFamily="2" charset="-122"/>
                <a:ea typeface="黑体" pitchFamily="2" charset="-122"/>
              </a:rPr>
              <a:t>将照明光源换成单色光即可，</a:t>
            </a:r>
          </a:p>
          <a:p>
            <a:pPr>
              <a:defRPr/>
            </a:pPr>
            <a:r>
              <a:rPr lang="zh-CN" altLang="en-US" sz="2400" b="1">
                <a:effectLst>
                  <a:outerShdw blurRad="38100" dist="38100" dir="2700000" algn="tl">
                    <a:srgbClr val="C0C0C0"/>
                  </a:outerShdw>
                </a:effectLst>
                <a:latin typeface="黑体" pitchFamily="2" charset="-122"/>
                <a:ea typeface="黑体" pitchFamily="2" charset="-122"/>
              </a:rPr>
              <a:t>并在规定波长范围内按一定波</a:t>
            </a:r>
          </a:p>
          <a:p>
            <a:pPr>
              <a:defRPr/>
            </a:pPr>
            <a:r>
              <a:rPr lang="zh-CN" altLang="en-US" sz="2400" b="1">
                <a:effectLst>
                  <a:outerShdw blurRad="38100" dist="38100" dir="2700000" algn="tl">
                    <a:srgbClr val="C0C0C0"/>
                  </a:outerShdw>
                </a:effectLst>
                <a:latin typeface="黑体" pitchFamily="2" charset="-122"/>
                <a:ea typeface="黑体" pitchFamily="2" charset="-122"/>
              </a:rPr>
              <a:t>长间隔逐点进行透过率测量 </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481382"/>
                                        </p:tgtEl>
                                        <p:attrNameLst>
                                          <p:attrName>style.visibility</p:attrName>
                                        </p:attrNameLst>
                                      </p:cBhvr>
                                      <p:to>
                                        <p:strVal val="visible"/>
                                      </p:to>
                                    </p:set>
                                    <p:anim calcmode="lin" valueType="num">
                                      <p:cBhvr>
                                        <p:cTn id="19" dur="500" fill="hold"/>
                                        <p:tgtEl>
                                          <p:spTgt spid="481382"/>
                                        </p:tgtEl>
                                        <p:attrNameLst>
                                          <p:attrName>ppt_w</p:attrName>
                                        </p:attrNameLst>
                                      </p:cBhvr>
                                      <p:tavLst>
                                        <p:tav tm="0">
                                          <p:val>
                                            <p:fltVal val="0"/>
                                          </p:val>
                                        </p:tav>
                                        <p:tav tm="100000">
                                          <p:val>
                                            <p:strVal val="#ppt_w"/>
                                          </p:val>
                                        </p:tav>
                                      </p:tavLst>
                                    </p:anim>
                                    <p:anim calcmode="lin" valueType="num">
                                      <p:cBhvr>
                                        <p:cTn id="20" dur="500" fill="hold"/>
                                        <p:tgtEl>
                                          <p:spTgt spid="481382"/>
                                        </p:tgtEl>
                                        <p:attrNameLst>
                                          <p:attrName>ppt_h</p:attrName>
                                        </p:attrNameLst>
                                      </p:cBhvr>
                                      <p:tavLst>
                                        <p:tav tm="0">
                                          <p:val>
                                            <p:fltVal val="0"/>
                                          </p:val>
                                        </p:tav>
                                        <p:tav tm="100000">
                                          <p:val>
                                            <p:strVal val="#ppt_h"/>
                                          </p:val>
                                        </p:tav>
                                      </p:tavLst>
                                    </p:anim>
                                    <p:animEffect transition="in" filter="fade">
                                      <p:cBhvr>
                                        <p:cTn id="21" dur="500"/>
                                        <p:tgtEl>
                                          <p:spTgt spid="481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8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日期占位符 3"/>
          <p:cNvSpPr>
            <a:spLocks noGrp="1"/>
          </p:cNvSpPr>
          <p:nvPr>
            <p:ph type="dt" sz="quarter" idx="10"/>
          </p:nvPr>
        </p:nvSpPr>
        <p:spPr>
          <a:noFill/>
        </p:spPr>
        <p:txBody>
          <a:bodyPr/>
          <a:lstStyle/>
          <a:p>
            <a:fld id="{9881B535-7102-4B69-A6EF-F3CEA689C7EE}" type="datetime1">
              <a:rPr lang="zh-CN" altLang="en-US" smtClean="0">
                <a:ea typeface="宋体" charset="-122"/>
              </a:rPr>
              <a:pPr/>
              <a:t>2018/2/24</a:t>
            </a:fld>
            <a:endParaRPr lang="en-US" altLang="zh-CN" smtClean="0">
              <a:ea typeface="宋体" charset="-122"/>
            </a:endParaRPr>
          </a:p>
        </p:txBody>
      </p:sp>
      <p:sp>
        <p:nvSpPr>
          <p:cNvPr id="25605" name="灯片编号占位符 5"/>
          <p:cNvSpPr>
            <a:spLocks noGrp="1"/>
          </p:cNvSpPr>
          <p:nvPr>
            <p:ph type="sldNum" sz="quarter" idx="12"/>
          </p:nvPr>
        </p:nvSpPr>
        <p:spPr>
          <a:noFill/>
        </p:spPr>
        <p:txBody>
          <a:bodyPr/>
          <a:lstStyle/>
          <a:p>
            <a:fld id="{0FB9B2A5-2676-4F75-A09B-B834C80D62E9}" type="slidenum">
              <a:rPr lang="en-US" altLang="zh-CN" smtClean="0">
                <a:ea typeface="宋体" charset="-122"/>
              </a:rPr>
              <a:pPr/>
              <a:t>64</a:t>
            </a:fld>
            <a:endParaRPr lang="en-US" altLang="zh-CN" smtClean="0">
              <a:ea typeface="宋体" charset="-122"/>
            </a:endParaRPr>
          </a:p>
        </p:txBody>
      </p:sp>
      <p:sp>
        <p:nvSpPr>
          <p:cNvPr id="482306"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2307" name="Rectangle 3"/>
          <p:cNvSpPr>
            <a:spLocks noGrp="1" noRot="1" noChangeArrowheads="1"/>
          </p:cNvSpPr>
          <p:nvPr>
            <p:ph type="body" idx="1"/>
          </p:nvPr>
        </p:nvSpPr>
        <p:spPr>
          <a:xfrm>
            <a:off x="296863" y="1349375"/>
            <a:ext cx="8550275" cy="2251075"/>
          </a:xfrm>
        </p:spPr>
        <p:txBody>
          <a:bodyPr/>
          <a:lstStyle/>
          <a:p>
            <a:pPr marL="623888" indent="-623888" eaLnBrk="1" hangingPunct="1">
              <a:buFont typeface="Wingdings" pitchFamily="2" charset="2"/>
              <a:buNone/>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623888" indent="-623888" eaLnBrk="1" hangingPunct="1">
              <a:defRPr/>
            </a:pPr>
            <a:r>
              <a:rPr lang="zh-CN" altLang="en-US" smtClean="0">
                <a:latin typeface="Times New Roman" pitchFamily="18" charset="0"/>
                <a:ea typeface="黑体" pitchFamily="2" charset="-122"/>
              </a:rPr>
              <a:t>照相物镜透过率测量和望远系统透过率测量方法基本相同，也分空测和实测两步：</a:t>
            </a:r>
          </a:p>
          <a:p>
            <a:pPr marL="623888" indent="-623888" eaLnBrk="1" hangingPunct="1">
              <a:defRPr/>
            </a:pPr>
            <a:endParaRPr lang="zh-CN" altLang="en-US" smtClean="0">
              <a:latin typeface="Times New Roman" pitchFamily="18" charset="0"/>
              <a:ea typeface="黑体" pitchFamily="2" charset="-122"/>
            </a:endParaRPr>
          </a:p>
          <a:p>
            <a:pPr marL="623888" indent="-623888" eaLnBrk="1" hangingPunct="1">
              <a:defRPr/>
            </a:pPr>
            <a:endParaRPr lang="zh-CN" altLang="en-US" smtClean="0">
              <a:latin typeface="Times New Roman" pitchFamily="18" charset="0"/>
              <a:ea typeface="黑体" pitchFamily="2" charset="-122"/>
            </a:endParaRPr>
          </a:p>
          <a:p>
            <a:pPr marL="623888" indent="-623888" eaLnBrk="1" hangingPunct="1">
              <a:defRPr/>
            </a:pPr>
            <a:endParaRPr lang="zh-CN" altLang="en-US" smtClean="0">
              <a:latin typeface="Times New Roman" pitchFamily="18" charset="0"/>
              <a:ea typeface="黑体" pitchFamily="2" charset="-122"/>
            </a:endParaRPr>
          </a:p>
          <a:p>
            <a:pPr marL="623888" indent="-623888" eaLnBrk="1" hangingPunct="1">
              <a:defRPr/>
            </a:pPr>
            <a:endParaRPr lang="zh-CN" altLang="en-US" smtClean="0">
              <a:latin typeface="Times New Roman" pitchFamily="18" charset="0"/>
              <a:ea typeface="黑体" pitchFamily="2" charset="-122"/>
            </a:endParaRPr>
          </a:p>
          <a:p>
            <a:pPr marL="623888" indent="-623888" eaLnBrk="1" hangingPunct="1">
              <a:defRPr/>
            </a:pPr>
            <a:r>
              <a:rPr lang="zh-CN" altLang="en-US" smtClean="0">
                <a:latin typeface="Times New Roman" pitchFamily="18" charset="0"/>
                <a:ea typeface="黑体" pitchFamily="2" charset="-122"/>
              </a:rPr>
              <a:t>照相物镜的透过率一般都是指轴上透过率，也有一些广角照相物镜需要测量透过率随视场变化的情况。</a:t>
            </a:r>
          </a:p>
          <a:p>
            <a:pPr marL="623888" indent="-623888" eaLnBrk="1" hangingPunct="1">
              <a:buFont typeface="Wingdings" pitchFamily="2" charset="2"/>
              <a:buNone/>
              <a:defRPr/>
            </a:pPr>
            <a:endParaRPr lang="en-US" altLang="zh-CN" smtClean="0">
              <a:latin typeface="Times New Roman" pitchFamily="18" charset="0"/>
              <a:ea typeface="黑体" pitchFamily="2" charset="-122"/>
            </a:endParaRPr>
          </a:p>
        </p:txBody>
      </p:sp>
      <p:sp>
        <p:nvSpPr>
          <p:cNvPr id="25608"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25609"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25610"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25611" name="Rectangle 7"/>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5602" name="Object 8"/>
          <p:cNvGraphicFramePr>
            <a:graphicFrameLocks noChangeAspect="1"/>
          </p:cNvGraphicFramePr>
          <p:nvPr/>
        </p:nvGraphicFramePr>
        <p:xfrm>
          <a:off x="1625600" y="2987675"/>
          <a:ext cx="2252663" cy="795338"/>
        </p:xfrm>
        <a:graphic>
          <a:graphicData uri="http://schemas.openxmlformats.org/presentationml/2006/ole">
            <p:oleObj spid="_x0000_s214018" name="公式" r:id="rId3" imgW="1269449" imgH="444307" progId="Equation.3">
              <p:embed/>
            </p:oleObj>
          </a:graphicData>
        </a:graphic>
      </p:graphicFrame>
      <p:sp>
        <p:nvSpPr>
          <p:cNvPr id="25612" name="Rectangle 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5603" name="Object 10"/>
          <p:cNvGraphicFramePr>
            <a:graphicFrameLocks noChangeAspect="1"/>
          </p:cNvGraphicFramePr>
          <p:nvPr/>
        </p:nvGraphicFramePr>
        <p:xfrm>
          <a:off x="4456113" y="2971800"/>
          <a:ext cx="2562225" cy="811213"/>
        </p:xfrm>
        <a:graphic>
          <a:graphicData uri="http://schemas.openxmlformats.org/presentationml/2006/ole">
            <p:oleObj spid="_x0000_s214019" name="公式" r:id="rId4" imgW="1320227" imgH="418918" progId="Equation.3">
              <p:embed/>
            </p:oleObj>
          </a:graphicData>
        </a:graphic>
      </p:graphicFrame>
    </p:spTree>
  </p:cSld>
  <p:clrMapOvr>
    <a:masterClrMapping/>
  </p:clrMapOvr>
  <p:transition>
    <p:circl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a:spLocks noGrp="1"/>
          </p:cNvSpPr>
          <p:nvPr>
            <p:ph type="dt" sz="quarter" idx="10"/>
          </p:nvPr>
        </p:nvSpPr>
        <p:spPr>
          <a:noFill/>
        </p:spPr>
        <p:txBody>
          <a:bodyPr/>
          <a:lstStyle/>
          <a:p>
            <a:fld id="{CF1C9698-F63C-4622-A114-55967FA28B11}" type="datetime1">
              <a:rPr lang="zh-CN" altLang="en-US" smtClean="0">
                <a:ea typeface="宋体" charset="-122"/>
              </a:rPr>
              <a:pPr/>
              <a:t>2018/2/24</a:t>
            </a:fld>
            <a:endParaRPr lang="en-US" altLang="zh-CN" smtClean="0">
              <a:ea typeface="宋体" charset="-122"/>
            </a:endParaRPr>
          </a:p>
        </p:txBody>
      </p:sp>
      <p:sp>
        <p:nvSpPr>
          <p:cNvPr id="69635" name="灯片编号占位符 5"/>
          <p:cNvSpPr>
            <a:spLocks noGrp="1"/>
          </p:cNvSpPr>
          <p:nvPr>
            <p:ph type="sldNum" sz="quarter" idx="12"/>
          </p:nvPr>
        </p:nvSpPr>
        <p:spPr>
          <a:noFill/>
        </p:spPr>
        <p:txBody>
          <a:bodyPr/>
          <a:lstStyle/>
          <a:p>
            <a:fld id="{7A297682-1AD7-45E2-B72F-D42EF0C549E8}" type="slidenum">
              <a:rPr lang="en-US" altLang="zh-CN" smtClean="0">
                <a:ea typeface="宋体" charset="-122"/>
              </a:rPr>
              <a:pPr/>
              <a:t>65</a:t>
            </a:fld>
            <a:endParaRPr lang="en-US" altLang="zh-CN" smtClean="0">
              <a:ea typeface="宋体" charset="-122"/>
            </a:endParaRPr>
          </a:p>
        </p:txBody>
      </p:sp>
      <p:sp>
        <p:nvSpPr>
          <p:cNvPr id="483330"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3331" name="Rectangle 3"/>
          <p:cNvSpPr>
            <a:spLocks noGrp="1" noRot="1" noChangeArrowheads="1"/>
          </p:cNvSpPr>
          <p:nvPr>
            <p:ph type="body" idx="1"/>
          </p:nvPr>
        </p:nvSpPr>
        <p:spPr>
          <a:xfrm>
            <a:off x="296863" y="1349375"/>
            <a:ext cx="8550275" cy="2251075"/>
          </a:xfrm>
        </p:spPr>
        <p:txBody>
          <a:bodyPr/>
          <a:lstStyle/>
          <a:p>
            <a:pPr marL="623888" indent="-623888" eaLnBrk="1" hangingPunct="1">
              <a:buFont typeface="Wingdings" pitchFamily="2" charset="2"/>
              <a:buNone/>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623888" indent="-623888" eaLnBrk="1" hangingPunct="1">
              <a:buFont typeface="Wingdings" pitchFamily="2" charset="2"/>
              <a:buNone/>
              <a:defRPr/>
            </a:pPr>
            <a:r>
              <a:rPr lang="en-US" altLang="zh-CN" smtClean="0">
                <a:latin typeface="Times New Roman" pitchFamily="18" charset="0"/>
                <a:ea typeface="黑体" pitchFamily="2" charset="-122"/>
              </a:rPr>
              <a:t>1)  </a:t>
            </a:r>
            <a:r>
              <a:rPr lang="zh-CN" altLang="en-US" smtClean="0">
                <a:latin typeface="Times New Roman" pitchFamily="18" charset="0"/>
                <a:ea typeface="黑体" pitchFamily="2" charset="-122"/>
              </a:rPr>
              <a:t>照相物镜轴上点透过率的测量</a:t>
            </a:r>
          </a:p>
        </p:txBody>
      </p:sp>
      <p:sp>
        <p:nvSpPr>
          <p:cNvPr id="69638"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69639"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69640"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7"/>
          <p:cNvGrpSpPr>
            <a:grpSpLocks/>
          </p:cNvGrpSpPr>
          <p:nvPr/>
        </p:nvGrpSpPr>
        <p:grpSpPr bwMode="auto">
          <a:xfrm>
            <a:off x="1509713" y="2306638"/>
            <a:ext cx="6488112" cy="4303712"/>
            <a:chOff x="951" y="1453"/>
            <a:chExt cx="4087" cy="2711"/>
          </a:xfrm>
        </p:grpSpPr>
        <p:sp>
          <p:nvSpPr>
            <p:cNvPr id="69642" name="Rectangle 8"/>
            <p:cNvSpPr>
              <a:spLocks noChangeArrowheads="1"/>
            </p:cNvSpPr>
            <p:nvPr/>
          </p:nvSpPr>
          <p:spPr bwMode="auto">
            <a:xfrm>
              <a:off x="951" y="1453"/>
              <a:ext cx="4087" cy="270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9643" name="Oval 9"/>
            <p:cNvSpPr>
              <a:spLocks noChangeArrowheads="1"/>
            </p:cNvSpPr>
            <p:nvPr/>
          </p:nvSpPr>
          <p:spPr bwMode="auto">
            <a:xfrm>
              <a:off x="1257" y="1989"/>
              <a:ext cx="124" cy="338"/>
            </a:xfrm>
            <a:prstGeom prst="ellipse">
              <a:avLst/>
            </a:prstGeom>
            <a:noFill/>
            <a:ln w="9525">
              <a:solidFill>
                <a:srgbClr val="000000"/>
              </a:solidFill>
              <a:round/>
              <a:headEnd/>
              <a:tailEnd/>
            </a:ln>
          </p:spPr>
          <p:txBody>
            <a:bodyPr/>
            <a:lstStyle/>
            <a:p>
              <a:endParaRPr lang="zh-CN" altLang="en-US"/>
            </a:p>
          </p:txBody>
        </p:sp>
        <p:sp>
          <p:nvSpPr>
            <p:cNvPr id="69644" name="Rectangle 10"/>
            <p:cNvSpPr>
              <a:spLocks noChangeArrowheads="1"/>
            </p:cNvSpPr>
            <p:nvPr/>
          </p:nvSpPr>
          <p:spPr bwMode="auto">
            <a:xfrm>
              <a:off x="1212" y="1967"/>
              <a:ext cx="102" cy="394"/>
            </a:xfrm>
            <a:prstGeom prst="rect">
              <a:avLst/>
            </a:prstGeom>
            <a:solidFill>
              <a:schemeClr val="accent1"/>
            </a:solidFill>
            <a:ln w="9525">
              <a:noFill/>
              <a:miter lim="800000"/>
              <a:headEnd/>
              <a:tailEnd/>
            </a:ln>
          </p:spPr>
          <p:txBody>
            <a:bodyPr/>
            <a:lstStyle/>
            <a:p>
              <a:endParaRPr lang="zh-CN" altLang="en-US"/>
            </a:p>
          </p:txBody>
        </p:sp>
        <p:sp>
          <p:nvSpPr>
            <p:cNvPr id="69645" name="Line 11"/>
            <p:cNvSpPr>
              <a:spLocks noChangeShapeType="1"/>
            </p:cNvSpPr>
            <p:nvPr/>
          </p:nvSpPr>
          <p:spPr bwMode="auto">
            <a:xfrm>
              <a:off x="1314" y="1989"/>
              <a:ext cx="0" cy="338"/>
            </a:xfrm>
            <a:prstGeom prst="line">
              <a:avLst/>
            </a:prstGeom>
            <a:noFill/>
            <a:ln w="9525">
              <a:solidFill>
                <a:srgbClr val="000000"/>
              </a:solidFill>
              <a:round/>
              <a:headEnd/>
              <a:tailEnd/>
            </a:ln>
          </p:spPr>
          <p:txBody>
            <a:bodyPr/>
            <a:lstStyle/>
            <a:p>
              <a:endParaRPr lang="zh-CN" altLang="en-US"/>
            </a:p>
          </p:txBody>
        </p:sp>
        <p:sp>
          <p:nvSpPr>
            <p:cNvPr id="69646" name="Oval 12"/>
            <p:cNvSpPr>
              <a:spLocks noChangeArrowheads="1"/>
            </p:cNvSpPr>
            <p:nvPr/>
          </p:nvSpPr>
          <p:spPr bwMode="auto">
            <a:xfrm rot="10800000">
              <a:off x="1459" y="2000"/>
              <a:ext cx="124" cy="338"/>
            </a:xfrm>
            <a:prstGeom prst="ellipse">
              <a:avLst/>
            </a:prstGeom>
            <a:noFill/>
            <a:ln w="9525">
              <a:solidFill>
                <a:srgbClr val="000000"/>
              </a:solidFill>
              <a:round/>
              <a:headEnd/>
              <a:tailEnd/>
            </a:ln>
          </p:spPr>
          <p:txBody>
            <a:bodyPr/>
            <a:lstStyle/>
            <a:p>
              <a:endParaRPr lang="zh-CN" altLang="en-US"/>
            </a:p>
          </p:txBody>
        </p:sp>
        <p:sp>
          <p:nvSpPr>
            <p:cNvPr id="69647" name="Rectangle 13"/>
            <p:cNvSpPr>
              <a:spLocks noChangeArrowheads="1"/>
            </p:cNvSpPr>
            <p:nvPr/>
          </p:nvSpPr>
          <p:spPr bwMode="auto">
            <a:xfrm rot="10800000">
              <a:off x="1526" y="1966"/>
              <a:ext cx="102" cy="394"/>
            </a:xfrm>
            <a:prstGeom prst="rect">
              <a:avLst/>
            </a:prstGeom>
            <a:solidFill>
              <a:schemeClr val="accent1"/>
            </a:solidFill>
            <a:ln w="9525">
              <a:noFill/>
              <a:miter lim="800000"/>
              <a:headEnd/>
              <a:tailEnd/>
            </a:ln>
          </p:spPr>
          <p:txBody>
            <a:bodyPr/>
            <a:lstStyle/>
            <a:p>
              <a:endParaRPr lang="zh-CN" altLang="en-US"/>
            </a:p>
          </p:txBody>
        </p:sp>
        <p:sp>
          <p:nvSpPr>
            <p:cNvPr id="69648" name="Line 14"/>
            <p:cNvSpPr>
              <a:spLocks noChangeShapeType="1"/>
            </p:cNvSpPr>
            <p:nvPr/>
          </p:nvSpPr>
          <p:spPr bwMode="auto">
            <a:xfrm rot="10800000">
              <a:off x="1526" y="2000"/>
              <a:ext cx="0" cy="338"/>
            </a:xfrm>
            <a:prstGeom prst="line">
              <a:avLst/>
            </a:prstGeom>
            <a:noFill/>
            <a:ln w="9525">
              <a:solidFill>
                <a:srgbClr val="000000"/>
              </a:solidFill>
              <a:round/>
              <a:headEnd/>
              <a:tailEnd/>
            </a:ln>
          </p:spPr>
          <p:txBody>
            <a:bodyPr/>
            <a:lstStyle/>
            <a:p>
              <a:endParaRPr lang="zh-CN" altLang="en-US"/>
            </a:p>
          </p:txBody>
        </p:sp>
        <p:sp>
          <p:nvSpPr>
            <p:cNvPr id="69649" name="Rectangle 15"/>
            <p:cNvSpPr>
              <a:spLocks noChangeArrowheads="1"/>
            </p:cNvSpPr>
            <p:nvPr/>
          </p:nvSpPr>
          <p:spPr bwMode="auto">
            <a:xfrm>
              <a:off x="1403" y="1989"/>
              <a:ext cx="35" cy="349"/>
            </a:xfrm>
            <a:prstGeom prst="rect">
              <a:avLst/>
            </a:prstGeom>
            <a:noFill/>
            <a:ln w="9525">
              <a:solidFill>
                <a:srgbClr val="000000"/>
              </a:solidFill>
              <a:miter lim="800000"/>
              <a:headEnd/>
              <a:tailEnd/>
            </a:ln>
          </p:spPr>
          <p:txBody>
            <a:bodyPr/>
            <a:lstStyle/>
            <a:p>
              <a:endParaRPr lang="zh-CN" altLang="en-US"/>
            </a:p>
          </p:txBody>
        </p:sp>
        <p:sp>
          <p:nvSpPr>
            <p:cNvPr id="69650" name="Oval 16"/>
            <p:cNvSpPr>
              <a:spLocks noChangeArrowheads="1"/>
            </p:cNvSpPr>
            <p:nvPr/>
          </p:nvSpPr>
          <p:spPr bwMode="auto">
            <a:xfrm>
              <a:off x="1054" y="2102"/>
              <a:ext cx="113" cy="112"/>
            </a:xfrm>
            <a:prstGeom prst="ellipse">
              <a:avLst/>
            </a:prstGeom>
            <a:noFill/>
            <a:ln w="9525">
              <a:solidFill>
                <a:srgbClr val="000000"/>
              </a:solidFill>
              <a:round/>
              <a:headEnd/>
              <a:tailEnd/>
            </a:ln>
          </p:spPr>
          <p:txBody>
            <a:bodyPr/>
            <a:lstStyle/>
            <a:p>
              <a:endParaRPr lang="zh-CN" altLang="en-US"/>
            </a:p>
          </p:txBody>
        </p:sp>
        <p:sp>
          <p:nvSpPr>
            <p:cNvPr id="69651" name="Line 17"/>
            <p:cNvSpPr>
              <a:spLocks noChangeShapeType="1"/>
            </p:cNvSpPr>
            <p:nvPr/>
          </p:nvSpPr>
          <p:spPr bwMode="auto">
            <a:xfrm flipH="1">
              <a:off x="1088" y="2113"/>
              <a:ext cx="46" cy="90"/>
            </a:xfrm>
            <a:prstGeom prst="line">
              <a:avLst/>
            </a:prstGeom>
            <a:noFill/>
            <a:ln w="9525">
              <a:solidFill>
                <a:srgbClr val="000000"/>
              </a:solidFill>
              <a:round/>
              <a:headEnd/>
              <a:tailEnd/>
            </a:ln>
          </p:spPr>
          <p:txBody>
            <a:bodyPr/>
            <a:lstStyle/>
            <a:p>
              <a:endParaRPr lang="zh-CN" altLang="en-US"/>
            </a:p>
          </p:txBody>
        </p:sp>
        <p:sp>
          <p:nvSpPr>
            <p:cNvPr id="69652" name="Line 18"/>
            <p:cNvSpPr>
              <a:spLocks noChangeShapeType="1"/>
            </p:cNvSpPr>
            <p:nvPr/>
          </p:nvSpPr>
          <p:spPr bwMode="auto">
            <a:xfrm>
              <a:off x="1077" y="2113"/>
              <a:ext cx="79" cy="101"/>
            </a:xfrm>
            <a:prstGeom prst="line">
              <a:avLst/>
            </a:prstGeom>
            <a:noFill/>
            <a:ln w="9525">
              <a:solidFill>
                <a:srgbClr val="000000"/>
              </a:solidFill>
              <a:round/>
              <a:headEnd/>
              <a:tailEnd/>
            </a:ln>
          </p:spPr>
          <p:txBody>
            <a:bodyPr/>
            <a:lstStyle/>
            <a:p>
              <a:endParaRPr lang="zh-CN" altLang="en-US"/>
            </a:p>
          </p:txBody>
        </p:sp>
        <p:sp>
          <p:nvSpPr>
            <p:cNvPr id="69653" name="Line 19"/>
            <p:cNvSpPr>
              <a:spLocks noChangeShapeType="1"/>
            </p:cNvSpPr>
            <p:nvPr/>
          </p:nvSpPr>
          <p:spPr bwMode="auto">
            <a:xfrm flipV="1">
              <a:off x="1111" y="2023"/>
              <a:ext cx="203" cy="135"/>
            </a:xfrm>
            <a:prstGeom prst="line">
              <a:avLst/>
            </a:prstGeom>
            <a:noFill/>
            <a:ln w="9525">
              <a:solidFill>
                <a:srgbClr val="000000"/>
              </a:solidFill>
              <a:round/>
              <a:headEnd/>
              <a:tailEnd/>
            </a:ln>
          </p:spPr>
          <p:txBody>
            <a:bodyPr/>
            <a:lstStyle/>
            <a:p>
              <a:endParaRPr lang="zh-CN" altLang="en-US"/>
            </a:p>
          </p:txBody>
        </p:sp>
        <p:sp>
          <p:nvSpPr>
            <p:cNvPr id="69654" name="Line 20"/>
            <p:cNvSpPr>
              <a:spLocks noChangeShapeType="1"/>
            </p:cNvSpPr>
            <p:nvPr/>
          </p:nvSpPr>
          <p:spPr bwMode="auto">
            <a:xfrm>
              <a:off x="1111" y="2147"/>
              <a:ext cx="191" cy="158"/>
            </a:xfrm>
            <a:prstGeom prst="line">
              <a:avLst/>
            </a:prstGeom>
            <a:noFill/>
            <a:ln w="9525">
              <a:solidFill>
                <a:srgbClr val="000000"/>
              </a:solidFill>
              <a:round/>
              <a:headEnd/>
              <a:tailEnd/>
            </a:ln>
          </p:spPr>
          <p:txBody>
            <a:bodyPr/>
            <a:lstStyle/>
            <a:p>
              <a:endParaRPr lang="zh-CN" altLang="en-US"/>
            </a:p>
          </p:txBody>
        </p:sp>
        <p:sp>
          <p:nvSpPr>
            <p:cNvPr id="69655" name="Oval 21"/>
            <p:cNvSpPr>
              <a:spLocks noChangeArrowheads="1"/>
            </p:cNvSpPr>
            <p:nvPr/>
          </p:nvSpPr>
          <p:spPr bwMode="auto">
            <a:xfrm>
              <a:off x="3028" y="1831"/>
              <a:ext cx="145" cy="654"/>
            </a:xfrm>
            <a:prstGeom prst="ellipse">
              <a:avLst/>
            </a:prstGeom>
            <a:noFill/>
            <a:ln w="9525">
              <a:solidFill>
                <a:srgbClr val="000000"/>
              </a:solidFill>
              <a:round/>
              <a:headEnd/>
              <a:tailEnd/>
            </a:ln>
          </p:spPr>
          <p:txBody>
            <a:bodyPr/>
            <a:lstStyle/>
            <a:p>
              <a:endParaRPr lang="zh-CN" altLang="en-US"/>
            </a:p>
          </p:txBody>
        </p:sp>
        <p:sp>
          <p:nvSpPr>
            <p:cNvPr id="69656" name="Line 22"/>
            <p:cNvSpPr>
              <a:spLocks noChangeShapeType="1"/>
            </p:cNvSpPr>
            <p:nvPr/>
          </p:nvSpPr>
          <p:spPr bwMode="auto">
            <a:xfrm>
              <a:off x="2971" y="1831"/>
              <a:ext cx="0" cy="654"/>
            </a:xfrm>
            <a:prstGeom prst="line">
              <a:avLst/>
            </a:prstGeom>
            <a:noFill/>
            <a:ln w="9525">
              <a:solidFill>
                <a:srgbClr val="000000"/>
              </a:solidFill>
              <a:round/>
              <a:headEnd/>
              <a:tailEnd/>
            </a:ln>
          </p:spPr>
          <p:txBody>
            <a:bodyPr/>
            <a:lstStyle/>
            <a:p>
              <a:endParaRPr lang="zh-CN" altLang="en-US"/>
            </a:p>
          </p:txBody>
        </p:sp>
        <p:sp>
          <p:nvSpPr>
            <p:cNvPr id="69657" name="Line 23"/>
            <p:cNvSpPr>
              <a:spLocks noChangeShapeType="1"/>
            </p:cNvSpPr>
            <p:nvPr/>
          </p:nvSpPr>
          <p:spPr bwMode="auto">
            <a:xfrm>
              <a:off x="2971" y="2485"/>
              <a:ext cx="135" cy="0"/>
            </a:xfrm>
            <a:prstGeom prst="line">
              <a:avLst/>
            </a:prstGeom>
            <a:noFill/>
            <a:ln w="9525">
              <a:solidFill>
                <a:srgbClr val="000000"/>
              </a:solidFill>
              <a:round/>
              <a:headEnd/>
              <a:tailEnd/>
            </a:ln>
          </p:spPr>
          <p:txBody>
            <a:bodyPr/>
            <a:lstStyle/>
            <a:p>
              <a:endParaRPr lang="zh-CN" altLang="en-US"/>
            </a:p>
          </p:txBody>
        </p:sp>
        <p:sp>
          <p:nvSpPr>
            <p:cNvPr id="69658" name="Line 24"/>
            <p:cNvSpPr>
              <a:spLocks noChangeShapeType="1"/>
            </p:cNvSpPr>
            <p:nvPr/>
          </p:nvSpPr>
          <p:spPr bwMode="auto">
            <a:xfrm>
              <a:off x="2971" y="1831"/>
              <a:ext cx="135" cy="0"/>
            </a:xfrm>
            <a:prstGeom prst="line">
              <a:avLst/>
            </a:prstGeom>
            <a:noFill/>
            <a:ln w="9525">
              <a:solidFill>
                <a:srgbClr val="000000"/>
              </a:solidFill>
              <a:round/>
              <a:headEnd/>
              <a:tailEnd/>
            </a:ln>
          </p:spPr>
          <p:txBody>
            <a:bodyPr/>
            <a:lstStyle/>
            <a:p>
              <a:endParaRPr lang="zh-CN" altLang="en-US"/>
            </a:p>
          </p:txBody>
        </p:sp>
        <p:sp>
          <p:nvSpPr>
            <p:cNvPr id="69659" name="Line 25"/>
            <p:cNvSpPr>
              <a:spLocks noChangeShapeType="1"/>
            </p:cNvSpPr>
            <p:nvPr/>
          </p:nvSpPr>
          <p:spPr bwMode="auto">
            <a:xfrm>
              <a:off x="1516" y="2011"/>
              <a:ext cx="1455" cy="463"/>
            </a:xfrm>
            <a:prstGeom prst="line">
              <a:avLst/>
            </a:prstGeom>
            <a:noFill/>
            <a:ln w="9525">
              <a:solidFill>
                <a:srgbClr val="000000"/>
              </a:solidFill>
              <a:round/>
              <a:headEnd/>
              <a:tailEnd/>
            </a:ln>
          </p:spPr>
          <p:txBody>
            <a:bodyPr/>
            <a:lstStyle/>
            <a:p>
              <a:endParaRPr lang="zh-CN" altLang="en-US"/>
            </a:p>
          </p:txBody>
        </p:sp>
        <p:sp>
          <p:nvSpPr>
            <p:cNvPr id="69660" name="Line 26"/>
            <p:cNvSpPr>
              <a:spLocks noChangeShapeType="1"/>
            </p:cNvSpPr>
            <p:nvPr/>
          </p:nvSpPr>
          <p:spPr bwMode="auto">
            <a:xfrm flipV="1">
              <a:off x="1528" y="1831"/>
              <a:ext cx="1443" cy="485"/>
            </a:xfrm>
            <a:prstGeom prst="line">
              <a:avLst/>
            </a:prstGeom>
            <a:noFill/>
            <a:ln w="9525">
              <a:solidFill>
                <a:srgbClr val="000000"/>
              </a:solidFill>
              <a:round/>
              <a:headEnd/>
              <a:tailEnd/>
            </a:ln>
          </p:spPr>
          <p:txBody>
            <a:bodyPr/>
            <a:lstStyle/>
            <a:p>
              <a:endParaRPr lang="zh-CN" altLang="en-US"/>
            </a:p>
          </p:txBody>
        </p:sp>
        <p:sp>
          <p:nvSpPr>
            <p:cNvPr id="69661" name="Line 27"/>
            <p:cNvSpPr>
              <a:spLocks noChangeShapeType="1"/>
            </p:cNvSpPr>
            <p:nvPr/>
          </p:nvSpPr>
          <p:spPr bwMode="auto">
            <a:xfrm flipH="1">
              <a:off x="1990" y="1989"/>
              <a:ext cx="0" cy="135"/>
            </a:xfrm>
            <a:prstGeom prst="line">
              <a:avLst/>
            </a:prstGeom>
            <a:noFill/>
            <a:ln w="19050">
              <a:solidFill>
                <a:srgbClr val="000000"/>
              </a:solidFill>
              <a:round/>
              <a:headEnd/>
              <a:tailEnd/>
            </a:ln>
          </p:spPr>
          <p:txBody>
            <a:bodyPr/>
            <a:lstStyle/>
            <a:p>
              <a:endParaRPr lang="zh-CN" altLang="en-US"/>
            </a:p>
          </p:txBody>
        </p:sp>
        <p:sp>
          <p:nvSpPr>
            <p:cNvPr id="69662" name="Line 28"/>
            <p:cNvSpPr>
              <a:spLocks noChangeShapeType="1"/>
            </p:cNvSpPr>
            <p:nvPr/>
          </p:nvSpPr>
          <p:spPr bwMode="auto">
            <a:xfrm>
              <a:off x="1990" y="2219"/>
              <a:ext cx="0" cy="112"/>
            </a:xfrm>
            <a:prstGeom prst="line">
              <a:avLst/>
            </a:prstGeom>
            <a:noFill/>
            <a:ln w="19050">
              <a:solidFill>
                <a:srgbClr val="000000"/>
              </a:solidFill>
              <a:round/>
              <a:headEnd/>
              <a:tailEnd/>
            </a:ln>
          </p:spPr>
          <p:txBody>
            <a:bodyPr/>
            <a:lstStyle/>
            <a:p>
              <a:endParaRPr lang="zh-CN" altLang="en-US"/>
            </a:p>
          </p:txBody>
        </p:sp>
        <p:sp>
          <p:nvSpPr>
            <p:cNvPr id="69663" name="Line 29"/>
            <p:cNvSpPr>
              <a:spLocks noChangeShapeType="1"/>
            </p:cNvSpPr>
            <p:nvPr/>
          </p:nvSpPr>
          <p:spPr bwMode="auto">
            <a:xfrm>
              <a:off x="3332" y="1741"/>
              <a:ext cx="0" cy="237"/>
            </a:xfrm>
            <a:prstGeom prst="line">
              <a:avLst/>
            </a:prstGeom>
            <a:noFill/>
            <a:ln w="19050">
              <a:solidFill>
                <a:srgbClr val="000000"/>
              </a:solidFill>
              <a:round/>
              <a:headEnd/>
              <a:tailEnd/>
            </a:ln>
          </p:spPr>
          <p:txBody>
            <a:bodyPr/>
            <a:lstStyle/>
            <a:p>
              <a:endParaRPr lang="zh-CN" altLang="en-US"/>
            </a:p>
          </p:txBody>
        </p:sp>
        <p:sp>
          <p:nvSpPr>
            <p:cNvPr id="69664" name="Line 30"/>
            <p:cNvSpPr>
              <a:spLocks noChangeShapeType="1"/>
            </p:cNvSpPr>
            <p:nvPr/>
          </p:nvSpPr>
          <p:spPr bwMode="auto">
            <a:xfrm>
              <a:off x="3343" y="2251"/>
              <a:ext cx="0" cy="257"/>
            </a:xfrm>
            <a:prstGeom prst="line">
              <a:avLst/>
            </a:prstGeom>
            <a:noFill/>
            <a:ln w="19050">
              <a:solidFill>
                <a:srgbClr val="000000"/>
              </a:solidFill>
              <a:round/>
              <a:headEnd/>
              <a:tailEnd/>
            </a:ln>
          </p:spPr>
          <p:txBody>
            <a:bodyPr/>
            <a:lstStyle/>
            <a:p>
              <a:endParaRPr lang="zh-CN" altLang="en-US"/>
            </a:p>
          </p:txBody>
        </p:sp>
        <p:sp>
          <p:nvSpPr>
            <p:cNvPr id="69665" name="Line 31"/>
            <p:cNvSpPr>
              <a:spLocks noChangeShapeType="1"/>
            </p:cNvSpPr>
            <p:nvPr/>
          </p:nvSpPr>
          <p:spPr bwMode="auto">
            <a:xfrm>
              <a:off x="3106" y="1842"/>
              <a:ext cx="226" cy="0"/>
            </a:xfrm>
            <a:prstGeom prst="line">
              <a:avLst/>
            </a:prstGeom>
            <a:noFill/>
            <a:ln w="9525">
              <a:solidFill>
                <a:srgbClr val="000000"/>
              </a:solidFill>
              <a:round/>
              <a:headEnd/>
              <a:tailEnd/>
            </a:ln>
          </p:spPr>
          <p:txBody>
            <a:bodyPr/>
            <a:lstStyle/>
            <a:p>
              <a:endParaRPr lang="zh-CN" altLang="en-US"/>
            </a:p>
          </p:txBody>
        </p:sp>
        <p:sp>
          <p:nvSpPr>
            <p:cNvPr id="69666" name="Line 32"/>
            <p:cNvSpPr>
              <a:spLocks noChangeShapeType="1"/>
            </p:cNvSpPr>
            <p:nvPr/>
          </p:nvSpPr>
          <p:spPr bwMode="auto">
            <a:xfrm>
              <a:off x="3117" y="2474"/>
              <a:ext cx="215" cy="0"/>
            </a:xfrm>
            <a:prstGeom prst="line">
              <a:avLst/>
            </a:prstGeom>
            <a:noFill/>
            <a:ln w="9525">
              <a:solidFill>
                <a:srgbClr val="000000"/>
              </a:solidFill>
              <a:round/>
              <a:headEnd/>
              <a:tailEnd/>
            </a:ln>
          </p:spPr>
          <p:txBody>
            <a:bodyPr/>
            <a:lstStyle/>
            <a:p>
              <a:endParaRPr lang="zh-CN" altLang="en-US"/>
            </a:p>
          </p:txBody>
        </p:sp>
        <p:sp>
          <p:nvSpPr>
            <p:cNvPr id="69667" name="Line 33"/>
            <p:cNvSpPr>
              <a:spLocks noChangeShapeType="1"/>
            </p:cNvSpPr>
            <p:nvPr/>
          </p:nvSpPr>
          <p:spPr bwMode="auto">
            <a:xfrm>
              <a:off x="3162" y="2034"/>
              <a:ext cx="361" cy="0"/>
            </a:xfrm>
            <a:prstGeom prst="line">
              <a:avLst/>
            </a:prstGeom>
            <a:noFill/>
            <a:ln w="9525">
              <a:solidFill>
                <a:srgbClr val="000000"/>
              </a:solidFill>
              <a:round/>
              <a:headEnd/>
              <a:tailEnd/>
            </a:ln>
          </p:spPr>
          <p:txBody>
            <a:bodyPr/>
            <a:lstStyle/>
            <a:p>
              <a:endParaRPr lang="zh-CN" altLang="en-US"/>
            </a:p>
          </p:txBody>
        </p:sp>
        <p:sp>
          <p:nvSpPr>
            <p:cNvPr id="69668" name="Line 34"/>
            <p:cNvSpPr>
              <a:spLocks noChangeShapeType="1"/>
            </p:cNvSpPr>
            <p:nvPr/>
          </p:nvSpPr>
          <p:spPr bwMode="auto">
            <a:xfrm>
              <a:off x="3173" y="2240"/>
              <a:ext cx="362" cy="0"/>
            </a:xfrm>
            <a:prstGeom prst="line">
              <a:avLst/>
            </a:prstGeom>
            <a:noFill/>
            <a:ln w="9525">
              <a:solidFill>
                <a:srgbClr val="000000"/>
              </a:solidFill>
              <a:round/>
              <a:headEnd/>
              <a:tailEnd/>
            </a:ln>
          </p:spPr>
          <p:txBody>
            <a:bodyPr/>
            <a:lstStyle/>
            <a:p>
              <a:endParaRPr lang="zh-CN" altLang="en-US"/>
            </a:p>
          </p:txBody>
        </p:sp>
        <p:sp>
          <p:nvSpPr>
            <p:cNvPr id="69669" name="Oval 35"/>
            <p:cNvSpPr>
              <a:spLocks noChangeArrowheads="1"/>
            </p:cNvSpPr>
            <p:nvPr/>
          </p:nvSpPr>
          <p:spPr bwMode="auto">
            <a:xfrm>
              <a:off x="3511" y="1842"/>
              <a:ext cx="192" cy="631"/>
            </a:xfrm>
            <a:prstGeom prst="ellipse">
              <a:avLst/>
            </a:prstGeom>
            <a:noFill/>
            <a:ln w="9525">
              <a:solidFill>
                <a:srgbClr val="000000"/>
              </a:solidFill>
              <a:round/>
              <a:headEnd/>
              <a:tailEnd/>
            </a:ln>
          </p:spPr>
          <p:txBody>
            <a:bodyPr/>
            <a:lstStyle/>
            <a:p>
              <a:endParaRPr lang="zh-CN" altLang="en-US"/>
            </a:p>
          </p:txBody>
        </p:sp>
        <p:sp>
          <p:nvSpPr>
            <p:cNvPr id="69670" name="Rectangle 36"/>
            <p:cNvSpPr>
              <a:spLocks noChangeArrowheads="1"/>
            </p:cNvSpPr>
            <p:nvPr/>
          </p:nvSpPr>
          <p:spPr bwMode="auto">
            <a:xfrm>
              <a:off x="3511" y="1831"/>
              <a:ext cx="215" cy="79"/>
            </a:xfrm>
            <a:prstGeom prst="rect">
              <a:avLst/>
            </a:prstGeom>
            <a:noFill/>
            <a:ln w="9525">
              <a:noFill/>
              <a:miter lim="800000"/>
              <a:headEnd/>
              <a:tailEnd/>
            </a:ln>
          </p:spPr>
          <p:txBody>
            <a:bodyPr/>
            <a:lstStyle/>
            <a:p>
              <a:endParaRPr lang="zh-CN" altLang="en-US"/>
            </a:p>
          </p:txBody>
        </p:sp>
        <p:sp>
          <p:nvSpPr>
            <p:cNvPr id="69671" name="Rectangle 37"/>
            <p:cNvSpPr>
              <a:spLocks noChangeArrowheads="1"/>
            </p:cNvSpPr>
            <p:nvPr/>
          </p:nvSpPr>
          <p:spPr bwMode="auto">
            <a:xfrm>
              <a:off x="3500" y="2406"/>
              <a:ext cx="226" cy="90"/>
            </a:xfrm>
            <a:prstGeom prst="rect">
              <a:avLst/>
            </a:prstGeom>
            <a:noFill/>
            <a:ln w="9525">
              <a:noFill/>
              <a:miter lim="800000"/>
              <a:headEnd/>
              <a:tailEnd/>
            </a:ln>
          </p:spPr>
          <p:txBody>
            <a:bodyPr/>
            <a:lstStyle/>
            <a:p>
              <a:endParaRPr lang="zh-CN" altLang="en-US"/>
            </a:p>
          </p:txBody>
        </p:sp>
        <p:sp>
          <p:nvSpPr>
            <p:cNvPr id="69672" name="Line 38"/>
            <p:cNvSpPr>
              <a:spLocks noChangeShapeType="1"/>
            </p:cNvSpPr>
            <p:nvPr/>
          </p:nvSpPr>
          <p:spPr bwMode="auto">
            <a:xfrm>
              <a:off x="3602" y="1888"/>
              <a:ext cx="0" cy="146"/>
            </a:xfrm>
            <a:prstGeom prst="line">
              <a:avLst/>
            </a:prstGeom>
            <a:noFill/>
            <a:ln w="19050">
              <a:solidFill>
                <a:srgbClr val="000000"/>
              </a:solidFill>
              <a:round/>
              <a:headEnd/>
              <a:tailEnd/>
            </a:ln>
          </p:spPr>
          <p:txBody>
            <a:bodyPr/>
            <a:lstStyle/>
            <a:p>
              <a:endParaRPr lang="zh-CN" altLang="en-US"/>
            </a:p>
          </p:txBody>
        </p:sp>
        <p:sp>
          <p:nvSpPr>
            <p:cNvPr id="69673" name="Line 39"/>
            <p:cNvSpPr>
              <a:spLocks noChangeShapeType="1"/>
            </p:cNvSpPr>
            <p:nvPr/>
          </p:nvSpPr>
          <p:spPr bwMode="auto">
            <a:xfrm>
              <a:off x="3613" y="2259"/>
              <a:ext cx="0" cy="147"/>
            </a:xfrm>
            <a:prstGeom prst="line">
              <a:avLst/>
            </a:prstGeom>
            <a:noFill/>
            <a:ln w="19050">
              <a:solidFill>
                <a:srgbClr val="000000"/>
              </a:solidFill>
              <a:round/>
              <a:headEnd/>
              <a:tailEnd/>
            </a:ln>
          </p:spPr>
          <p:txBody>
            <a:bodyPr/>
            <a:lstStyle/>
            <a:p>
              <a:endParaRPr lang="zh-CN" altLang="en-US"/>
            </a:p>
          </p:txBody>
        </p:sp>
        <p:sp>
          <p:nvSpPr>
            <p:cNvPr id="69674" name="Oval 40"/>
            <p:cNvSpPr>
              <a:spLocks noChangeArrowheads="1"/>
            </p:cNvSpPr>
            <p:nvPr/>
          </p:nvSpPr>
          <p:spPr bwMode="auto">
            <a:xfrm>
              <a:off x="3986" y="1730"/>
              <a:ext cx="834" cy="834"/>
            </a:xfrm>
            <a:prstGeom prst="ellipse">
              <a:avLst/>
            </a:prstGeom>
            <a:noFill/>
            <a:ln w="9525">
              <a:solidFill>
                <a:srgbClr val="000000"/>
              </a:solidFill>
              <a:round/>
              <a:headEnd/>
              <a:tailEnd/>
            </a:ln>
          </p:spPr>
          <p:txBody>
            <a:bodyPr/>
            <a:lstStyle/>
            <a:p>
              <a:endParaRPr lang="zh-CN" altLang="en-US"/>
            </a:p>
          </p:txBody>
        </p:sp>
        <p:sp>
          <p:nvSpPr>
            <p:cNvPr id="69675" name="Rectangle 41"/>
            <p:cNvSpPr>
              <a:spLocks noChangeArrowheads="1"/>
            </p:cNvSpPr>
            <p:nvPr/>
          </p:nvSpPr>
          <p:spPr bwMode="auto">
            <a:xfrm>
              <a:off x="3940" y="2066"/>
              <a:ext cx="124" cy="191"/>
            </a:xfrm>
            <a:prstGeom prst="rect">
              <a:avLst/>
            </a:prstGeom>
            <a:solidFill>
              <a:schemeClr val="accent1"/>
            </a:solidFill>
            <a:ln w="9525">
              <a:noFill/>
              <a:miter lim="800000"/>
              <a:headEnd/>
              <a:tailEnd/>
            </a:ln>
          </p:spPr>
          <p:txBody>
            <a:bodyPr/>
            <a:lstStyle/>
            <a:p>
              <a:endParaRPr lang="zh-CN" altLang="en-US"/>
            </a:p>
          </p:txBody>
        </p:sp>
        <p:sp>
          <p:nvSpPr>
            <p:cNvPr id="69676" name="Rectangle 42"/>
            <p:cNvSpPr>
              <a:spLocks noChangeArrowheads="1"/>
            </p:cNvSpPr>
            <p:nvPr/>
          </p:nvSpPr>
          <p:spPr bwMode="auto">
            <a:xfrm rot="2774024">
              <a:off x="4069" y="1770"/>
              <a:ext cx="57" cy="136"/>
            </a:xfrm>
            <a:prstGeom prst="rect">
              <a:avLst/>
            </a:prstGeom>
            <a:noFill/>
            <a:ln w="9525">
              <a:solidFill>
                <a:srgbClr val="000000"/>
              </a:solidFill>
              <a:miter lim="800000"/>
              <a:headEnd/>
              <a:tailEnd/>
            </a:ln>
          </p:spPr>
          <p:txBody>
            <a:bodyPr/>
            <a:lstStyle/>
            <a:p>
              <a:endParaRPr lang="zh-CN" altLang="en-US"/>
            </a:p>
          </p:txBody>
        </p:sp>
        <p:sp>
          <p:nvSpPr>
            <p:cNvPr id="69677" name="Line 43"/>
            <p:cNvSpPr>
              <a:spLocks noChangeShapeType="1"/>
            </p:cNvSpPr>
            <p:nvPr/>
          </p:nvSpPr>
          <p:spPr bwMode="auto">
            <a:xfrm>
              <a:off x="3692" y="2034"/>
              <a:ext cx="1094" cy="271"/>
            </a:xfrm>
            <a:prstGeom prst="line">
              <a:avLst/>
            </a:prstGeom>
            <a:noFill/>
            <a:ln w="9525">
              <a:solidFill>
                <a:srgbClr val="000000"/>
              </a:solidFill>
              <a:round/>
              <a:headEnd/>
              <a:tailEnd/>
            </a:ln>
          </p:spPr>
          <p:txBody>
            <a:bodyPr/>
            <a:lstStyle/>
            <a:p>
              <a:endParaRPr lang="zh-CN" altLang="en-US"/>
            </a:p>
          </p:txBody>
        </p:sp>
        <p:sp>
          <p:nvSpPr>
            <p:cNvPr id="69678" name="Line 44"/>
            <p:cNvSpPr>
              <a:spLocks noChangeShapeType="1"/>
            </p:cNvSpPr>
            <p:nvPr/>
          </p:nvSpPr>
          <p:spPr bwMode="auto">
            <a:xfrm flipV="1">
              <a:off x="3692" y="2022"/>
              <a:ext cx="1116" cy="249"/>
            </a:xfrm>
            <a:prstGeom prst="line">
              <a:avLst/>
            </a:prstGeom>
            <a:noFill/>
            <a:ln w="9525">
              <a:solidFill>
                <a:srgbClr val="000000"/>
              </a:solidFill>
              <a:round/>
              <a:headEnd/>
              <a:tailEnd/>
            </a:ln>
          </p:spPr>
          <p:txBody>
            <a:bodyPr/>
            <a:lstStyle/>
            <a:p>
              <a:endParaRPr lang="zh-CN" altLang="en-US"/>
            </a:p>
          </p:txBody>
        </p:sp>
        <p:sp>
          <p:nvSpPr>
            <p:cNvPr id="69679" name="Text Box 45"/>
            <p:cNvSpPr txBox="1">
              <a:spLocks noChangeArrowheads="1"/>
            </p:cNvSpPr>
            <p:nvPr/>
          </p:nvSpPr>
          <p:spPr bwMode="auto">
            <a:xfrm>
              <a:off x="1536" y="3944"/>
              <a:ext cx="3041" cy="220"/>
            </a:xfrm>
            <a:prstGeom prst="rect">
              <a:avLst/>
            </a:prstGeom>
            <a:noFill/>
            <a:ln w="9525">
              <a:noFill/>
              <a:miter lim="800000"/>
              <a:headEnd/>
              <a:tailEnd/>
            </a:ln>
          </p:spPr>
          <p:txBody>
            <a:bodyPr/>
            <a:lstStyle/>
            <a:p>
              <a:pPr algn="ctr"/>
              <a:r>
                <a:rPr lang="zh-CN" altLang="en-US">
                  <a:latin typeface="黑体" pitchFamily="2" charset="-122"/>
                  <a:ea typeface="黑体" pitchFamily="2" charset="-122"/>
                </a:rPr>
                <a:t>测量照相物镜轴上点透过率的光路</a:t>
              </a:r>
              <a:endParaRPr lang="zh-CN" altLang="en-US"/>
            </a:p>
          </p:txBody>
        </p:sp>
        <p:sp>
          <p:nvSpPr>
            <p:cNvPr id="69680" name="Line 46"/>
            <p:cNvSpPr>
              <a:spLocks noChangeShapeType="1"/>
            </p:cNvSpPr>
            <p:nvPr/>
          </p:nvSpPr>
          <p:spPr bwMode="auto">
            <a:xfrm flipV="1">
              <a:off x="998" y="2158"/>
              <a:ext cx="4013" cy="11"/>
            </a:xfrm>
            <a:prstGeom prst="line">
              <a:avLst/>
            </a:prstGeom>
            <a:noFill/>
            <a:ln w="6350">
              <a:solidFill>
                <a:srgbClr val="000000"/>
              </a:solidFill>
              <a:prstDash val="lgDashDot"/>
              <a:round/>
              <a:headEnd/>
              <a:tailEnd/>
            </a:ln>
          </p:spPr>
          <p:txBody>
            <a:bodyPr/>
            <a:lstStyle/>
            <a:p>
              <a:endParaRPr lang="zh-CN" altLang="en-US"/>
            </a:p>
          </p:txBody>
        </p:sp>
        <p:sp>
          <p:nvSpPr>
            <p:cNvPr id="69681" name="Oval 47"/>
            <p:cNvSpPr>
              <a:spLocks noChangeArrowheads="1"/>
            </p:cNvSpPr>
            <p:nvPr/>
          </p:nvSpPr>
          <p:spPr bwMode="auto">
            <a:xfrm>
              <a:off x="1426" y="3150"/>
              <a:ext cx="124" cy="338"/>
            </a:xfrm>
            <a:prstGeom prst="ellipse">
              <a:avLst/>
            </a:prstGeom>
            <a:noFill/>
            <a:ln w="9525">
              <a:solidFill>
                <a:srgbClr val="000000"/>
              </a:solidFill>
              <a:round/>
              <a:headEnd/>
              <a:tailEnd/>
            </a:ln>
          </p:spPr>
          <p:txBody>
            <a:bodyPr/>
            <a:lstStyle/>
            <a:p>
              <a:endParaRPr lang="zh-CN" altLang="en-US"/>
            </a:p>
          </p:txBody>
        </p:sp>
        <p:sp>
          <p:nvSpPr>
            <p:cNvPr id="69682" name="Rectangle 48"/>
            <p:cNvSpPr>
              <a:spLocks noChangeArrowheads="1"/>
            </p:cNvSpPr>
            <p:nvPr/>
          </p:nvSpPr>
          <p:spPr bwMode="auto">
            <a:xfrm>
              <a:off x="1381" y="3128"/>
              <a:ext cx="101" cy="394"/>
            </a:xfrm>
            <a:prstGeom prst="rect">
              <a:avLst/>
            </a:prstGeom>
            <a:solidFill>
              <a:schemeClr val="accent1"/>
            </a:solidFill>
            <a:ln w="9525">
              <a:noFill/>
              <a:miter lim="800000"/>
              <a:headEnd/>
              <a:tailEnd/>
            </a:ln>
          </p:spPr>
          <p:txBody>
            <a:bodyPr/>
            <a:lstStyle/>
            <a:p>
              <a:endParaRPr lang="zh-CN" altLang="en-US"/>
            </a:p>
          </p:txBody>
        </p:sp>
        <p:sp>
          <p:nvSpPr>
            <p:cNvPr id="69683" name="Line 49"/>
            <p:cNvSpPr>
              <a:spLocks noChangeShapeType="1"/>
            </p:cNvSpPr>
            <p:nvPr/>
          </p:nvSpPr>
          <p:spPr bwMode="auto">
            <a:xfrm>
              <a:off x="1482" y="3150"/>
              <a:ext cx="0" cy="338"/>
            </a:xfrm>
            <a:prstGeom prst="line">
              <a:avLst/>
            </a:prstGeom>
            <a:noFill/>
            <a:ln w="9525">
              <a:solidFill>
                <a:srgbClr val="000000"/>
              </a:solidFill>
              <a:round/>
              <a:headEnd/>
              <a:tailEnd/>
            </a:ln>
          </p:spPr>
          <p:txBody>
            <a:bodyPr/>
            <a:lstStyle/>
            <a:p>
              <a:endParaRPr lang="zh-CN" altLang="en-US"/>
            </a:p>
          </p:txBody>
        </p:sp>
        <p:sp>
          <p:nvSpPr>
            <p:cNvPr id="69684" name="Oval 50"/>
            <p:cNvSpPr>
              <a:spLocks noChangeArrowheads="1"/>
            </p:cNvSpPr>
            <p:nvPr/>
          </p:nvSpPr>
          <p:spPr bwMode="auto">
            <a:xfrm rot="10800000">
              <a:off x="1628" y="3161"/>
              <a:ext cx="124" cy="337"/>
            </a:xfrm>
            <a:prstGeom prst="ellipse">
              <a:avLst/>
            </a:prstGeom>
            <a:noFill/>
            <a:ln w="9525">
              <a:solidFill>
                <a:srgbClr val="000000"/>
              </a:solidFill>
              <a:round/>
              <a:headEnd/>
              <a:tailEnd/>
            </a:ln>
          </p:spPr>
          <p:txBody>
            <a:bodyPr/>
            <a:lstStyle/>
            <a:p>
              <a:endParaRPr lang="zh-CN" altLang="en-US"/>
            </a:p>
          </p:txBody>
        </p:sp>
        <p:sp>
          <p:nvSpPr>
            <p:cNvPr id="69685" name="Rectangle 51"/>
            <p:cNvSpPr>
              <a:spLocks noChangeArrowheads="1"/>
            </p:cNvSpPr>
            <p:nvPr/>
          </p:nvSpPr>
          <p:spPr bwMode="auto">
            <a:xfrm rot="10800000">
              <a:off x="1696" y="3127"/>
              <a:ext cx="102" cy="394"/>
            </a:xfrm>
            <a:prstGeom prst="rect">
              <a:avLst/>
            </a:prstGeom>
            <a:solidFill>
              <a:schemeClr val="accent1"/>
            </a:solidFill>
            <a:ln w="9525">
              <a:noFill/>
              <a:miter lim="800000"/>
              <a:headEnd/>
              <a:tailEnd/>
            </a:ln>
          </p:spPr>
          <p:txBody>
            <a:bodyPr/>
            <a:lstStyle/>
            <a:p>
              <a:endParaRPr lang="zh-CN" altLang="en-US"/>
            </a:p>
          </p:txBody>
        </p:sp>
        <p:sp>
          <p:nvSpPr>
            <p:cNvPr id="69686" name="Line 52"/>
            <p:cNvSpPr>
              <a:spLocks noChangeShapeType="1"/>
            </p:cNvSpPr>
            <p:nvPr/>
          </p:nvSpPr>
          <p:spPr bwMode="auto">
            <a:xfrm rot="10800000">
              <a:off x="1696" y="3161"/>
              <a:ext cx="0" cy="337"/>
            </a:xfrm>
            <a:prstGeom prst="line">
              <a:avLst/>
            </a:prstGeom>
            <a:noFill/>
            <a:ln w="9525">
              <a:solidFill>
                <a:srgbClr val="000000"/>
              </a:solidFill>
              <a:round/>
              <a:headEnd/>
              <a:tailEnd/>
            </a:ln>
          </p:spPr>
          <p:txBody>
            <a:bodyPr/>
            <a:lstStyle/>
            <a:p>
              <a:endParaRPr lang="zh-CN" altLang="en-US"/>
            </a:p>
          </p:txBody>
        </p:sp>
        <p:sp>
          <p:nvSpPr>
            <p:cNvPr id="69687" name="Rectangle 53"/>
            <p:cNvSpPr>
              <a:spLocks noChangeArrowheads="1"/>
            </p:cNvSpPr>
            <p:nvPr/>
          </p:nvSpPr>
          <p:spPr bwMode="auto">
            <a:xfrm>
              <a:off x="1573" y="3150"/>
              <a:ext cx="33" cy="349"/>
            </a:xfrm>
            <a:prstGeom prst="rect">
              <a:avLst/>
            </a:prstGeom>
            <a:noFill/>
            <a:ln w="9525">
              <a:solidFill>
                <a:srgbClr val="000000"/>
              </a:solidFill>
              <a:miter lim="800000"/>
              <a:headEnd/>
              <a:tailEnd/>
            </a:ln>
          </p:spPr>
          <p:txBody>
            <a:bodyPr/>
            <a:lstStyle/>
            <a:p>
              <a:endParaRPr lang="zh-CN" altLang="en-US"/>
            </a:p>
          </p:txBody>
        </p:sp>
        <p:sp>
          <p:nvSpPr>
            <p:cNvPr id="69688" name="Oval 54"/>
            <p:cNvSpPr>
              <a:spLocks noChangeArrowheads="1"/>
            </p:cNvSpPr>
            <p:nvPr/>
          </p:nvSpPr>
          <p:spPr bwMode="auto">
            <a:xfrm>
              <a:off x="1223" y="3263"/>
              <a:ext cx="113" cy="112"/>
            </a:xfrm>
            <a:prstGeom prst="ellipse">
              <a:avLst/>
            </a:prstGeom>
            <a:noFill/>
            <a:ln w="9525">
              <a:solidFill>
                <a:srgbClr val="000000"/>
              </a:solidFill>
              <a:round/>
              <a:headEnd/>
              <a:tailEnd/>
            </a:ln>
          </p:spPr>
          <p:txBody>
            <a:bodyPr/>
            <a:lstStyle/>
            <a:p>
              <a:endParaRPr lang="zh-CN" altLang="en-US"/>
            </a:p>
          </p:txBody>
        </p:sp>
        <p:sp>
          <p:nvSpPr>
            <p:cNvPr id="69689" name="Line 55"/>
            <p:cNvSpPr>
              <a:spLocks noChangeShapeType="1"/>
            </p:cNvSpPr>
            <p:nvPr/>
          </p:nvSpPr>
          <p:spPr bwMode="auto">
            <a:xfrm flipH="1">
              <a:off x="1257" y="3273"/>
              <a:ext cx="45" cy="91"/>
            </a:xfrm>
            <a:prstGeom prst="line">
              <a:avLst/>
            </a:prstGeom>
            <a:noFill/>
            <a:ln w="9525">
              <a:solidFill>
                <a:srgbClr val="000000"/>
              </a:solidFill>
              <a:round/>
              <a:headEnd/>
              <a:tailEnd/>
            </a:ln>
          </p:spPr>
          <p:txBody>
            <a:bodyPr/>
            <a:lstStyle/>
            <a:p>
              <a:endParaRPr lang="zh-CN" altLang="en-US"/>
            </a:p>
          </p:txBody>
        </p:sp>
        <p:sp>
          <p:nvSpPr>
            <p:cNvPr id="69690" name="Line 56"/>
            <p:cNvSpPr>
              <a:spLocks noChangeShapeType="1"/>
            </p:cNvSpPr>
            <p:nvPr/>
          </p:nvSpPr>
          <p:spPr bwMode="auto">
            <a:xfrm>
              <a:off x="1246" y="3273"/>
              <a:ext cx="79" cy="102"/>
            </a:xfrm>
            <a:prstGeom prst="line">
              <a:avLst/>
            </a:prstGeom>
            <a:noFill/>
            <a:ln w="9525">
              <a:solidFill>
                <a:srgbClr val="000000"/>
              </a:solidFill>
              <a:round/>
              <a:headEnd/>
              <a:tailEnd/>
            </a:ln>
          </p:spPr>
          <p:txBody>
            <a:bodyPr/>
            <a:lstStyle/>
            <a:p>
              <a:endParaRPr lang="zh-CN" altLang="en-US"/>
            </a:p>
          </p:txBody>
        </p:sp>
        <p:sp>
          <p:nvSpPr>
            <p:cNvPr id="69691" name="Line 57"/>
            <p:cNvSpPr>
              <a:spLocks noChangeShapeType="1"/>
            </p:cNvSpPr>
            <p:nvPr/>
          </p:nvSpPr>
          <p:spPr bwMode="auto">
            <a:xfrm flipV="1">
              <a:off x="1279" y="3184"/>
              <a:ext cx="203" cy="135"/>
            </a:xfrm>
            <a:prstGeom prst="line">
              <a:avLst/>
            </a:prstGeom>
            <a:noFill/>
            <a:ln w="9525">
              <a:solidFill>
                <a:srgbClr val="000000"/>
              </a:solidFill>
              <a:round/>
              <a:headEnd/>
              <a:tailEnd/>
            </a:ln>
          </p:spPr>
          <p:txBody>
            <a:bodyPr/>
            <a:lstStyle/>
            <a:p>
              <a:endParaRPr lang="zh-CN" altLang="en-US"/>
            </a:p>
          </p:txBody>
        </p:sp>
        <p:sp>
          <p:nvSpPr>
            <p:cNvPr id="69692" name="Line 58"/>
            <p:cNvSpPr>
              <a:spLocks noChangeShapeType="1"/>
            </p:cNvSpPr>
            <p:nvPr/>
          </p:nvSpPr>
          <p:spPr bwMode="auto">
            <a:xfrm>
              <a:off x="1279" y="3308"/>
              <a:ext cx="193" cy="158"/>
            </a:xfrm>
            <a:prstGeom prst="line">
              <a:avLst/>
            </a:prstGeom>
            <a:noFill/>
            <a:ln w="9525">
              <a:solidFill>
                <a:srgbClr val="000000"/>
              </a:solidFill>
              <a:round/>
              <a:headEnd/>
              <a:tailEnd/>
            </a:ln>
          </p:spPr>
          <p:txBody>
            <a:bodyPr/>
            <a:lstStyle/>
            <a:p>
              <a:endParaRPr lang="zh-CN" altLang="en-US"/>
            </a:p>
          </p:txBody>
        </p:sp>
        <p:sp>
          <p:nvSpPr>
            <p:cNvPr id="69693" name="Oval 59"/>
            <p:cNvSpPr>
              <a:spLocks noChangeArrowheads="1"/>
            </p:cNvSpPr>
            <p:nvPr/>
          </p:nvSpPr>
          <p:spPr bwMode="auto">
            <a:xfrm>
              <a:off x="3196" y="2992"/>
              <a:ext cx="147" cy="654"/>
            </a:xfrm>
            <a:prstGeom prst="ellipse">
              <a:avLst/>
            </a:prstGeom>
            <a:noFill/>
            <a:ln w="9525">
              <a:solidFill>
                <a:srgbClr val="000000"/>
              </a:solidFill>
              <a:round/>
              <a:headEnd/>
              <a:tailEnd/>
            </a:ln>
          </p:spPr>
          <p:txBody>
            <a:bodyPr/>
            <a:lstStyle/>
            <a:p>
              <a:endParaRPr lang="zh-CN" altLang="en-US"/>
            </a:p>
          </p:txBody>
        </p:sp>
        <p:sp>
          <p:nvSpPr>
            <p:cNvPr id="69694" name="Line 60"/>
            <p:cNvSpPr>
              <a:spLocks noChangeShapeType="1"/>
            </p:cNvSpPr>
            <p:nvPr/>
          </p:nvSpPr>
          <p:spPr bwMode="auto">
            <a:xfrm>
              <a:off x="3140" y="2992"/>
              <a:ext cx="0" cy="654"/>
            </a:xfrm>
            <a:prstGeom prst="line">
              <a:avLst/>
            </a:prstGeom>
            <a:noFill/>
            <a:ln w="9525">
              <a:solidFill>
                <a:srgbClr val="000000"/>
              </a:solidFill>
              <a:round/>
              <a:headEnd/>
              <a:tailEnd/>
            </a:ln>
          </p:spPr>
          <p:txBody>
            <a:bodyPr/>
            <a:lstStyle/>
            <a:p>
              <a:endParaRPr lang="zh-CN" altLang="en-US"/>
            </a:p>
          </p:txBody>
        </p:sp>
        <p:sp>
          <p:nvSpPr>
            <p:cNvPr id="69695" name="Line 61"/>
            <p:cNvSpPr>
              <a:spLocks noChangeShapeType="1"/>
            </p:cNvSpPr>
            <p:nvPr/>
          </p:nvSpPr>
          <p:spPr bwMode="auto">
            <a:xfrm>
              <a:off x="3140" y="3646"/>
              <a:ext cx="135" cy="0"/>
            </a:xfrm>
            <a:prstGeom prst="line">
              <a:avLst/>
            </a:prstGeom>
            <a:noFill/>
            <a:ln w="9525">
              <a:solidFill>
                <a:srgbClr val="000000"/>
              </a:solidFill>
              <a:round/>
              <a:headEnd/>
              <a:tailEnd/>
            </a:ln>
          </p:spPr>
          <p:txBody>
            <a:bodyPr/>
            <a:lstStyle/>
            <a:p>
              <a:endParaRPr lang="zh-CN" altLang="en-US"/>
            </a:p>
          </p:txBody>
        </p:sp>
        <p:sp>
          <p:nvSpPr>
            <p:cNvPr id="69696" name="Line 62"/>
            <p:cNvSpPr>
              <a:spLocks noChangeShapeType="1"/>
            </p:cNvSpPr>
            <p:nvPr/>
          </p:nvSpPr>
          <p:spPr bwMode="auto">
            <a:xfrm>
              <a:off x="3140" y="2992"/>
              <a:ext cx="135" cy="0"/>
            </a:xfrm>
            <a:prstGeom prst="line">
              <a:avLst/>
            </a:prstGeom>
            <a:noFill/>
            <a:ln w="9525">
              <a:solidFill>
                <a:srgbClr val="000000"/>
              </a:solidFill>
              <a:round/>
              <a:headEnd/>
              <a:tailEnd/>
            </a:ln>
          </p:spPr>
          <p:txBody>
            <a:bodyPr/>
            <a:lstStyle/>
            <a:p>
              <a:endParaRPr lang="zh-CN" altLang="en-US"/>
            </a:p>
          </p:txBody>
        </p:sp>
        <p:sp>
          <p:nvSpPr>
            <p:cNvPr id="69697" name="Line 63"/>
            <p:cNvSpPr>
              <a:spLocks noChangeShapeType="1"/>
            </p:cNvSpPr>
            <p:nvPr/>
          </p:nvSpPr>
          <p:spPr bwMode="auto">
            <a:xfrm>
              <a:off x="1686" y="3172"/>
              <a:ext cx="1454" cy="463"/>
            </a:xfrm>
            <a:prstGeom prst="line">
              <a:avLst/>
            </a:prstGeom>
            <a:noFill/>
            <a:ln w="9525">
              <a:solidFill>
                <a:srgbClr val="000000"/>
              </a:solidFill>
              <a:round/>
              <a:headEnd/>
              <a:tailEnd/>
            </a:ln>
          </p:spPr>
          <p:txBody>
            <a:bodyPr/>
            <a:lstStyle/>
            <a:p>
              <a:endParaRPr lang="zh-CN" altLang="en-US"/>
            </a:p>
          </p:txBody>
        </p:sp>
        <p:sp>
          <p:nvSpPr>
            <p:cNvPr id="69698" name="Line 64"/>
            <p:cNvSpPr>
              <a:spLocks noChangeShapeType="1"/>
            </p:cNvSpPr>
            <p:nvPr/>
          </p:nvSpPr>
          <p:spPr bwMode="auto">
            <a:xfrm flipV="1">
              <a:off x="1696" y="2992"/>
              <a:ext cx="1444" cy="485"/>
            </a:xfrm>
            <a:prstGeom prst="line">
              <a:avLst/>
            </a:prstGeom>
            <a:noFill/>
            <a:ln w="9525">
              <a:solidFill>
                <a:srgbClr val="000000"/>
              </a:solidFill>
              <a:round/>
              <a:headEnd/>
              <a:tailEnd/>
            </a:ln>
          </p:spPr>
          <p:txBody>
            <a:bodyPr/>
            <a:lstStyle/>
            <a:p>
              <a:endParaRPr lang="zh-CN" altLang="en-US"/>
            </a:p>
          </p:txBody>
        </p:sp>
        <p:sp>
          <p:nvSpPr>
            <p:cNvPr id="69699" name="Line 65"/>
            <p:cNvSpPr>
              <a:spLocks noChangeShapeType="1"/>
            </p:cNvSpPr>
            <p:nvPr/>
          </p:nvSpPr>
          <p:spPr bwMode="auto">
            <a:xfrm flipH="1">
              <a:off x="2159" y="3150"/>
              <a:ext cx="0" cy="135"/>
            </a:xfrm>
            <a:prstGeom prst="line">
              <a:avLst/>
            </a:prstGeom>
            <a:noFill/>
            <a:ln w="19050">
              <a:solidFill>
                <a:srgbClr val="000000"/>
              </a:solidFill>
              <a:round/>
              <a:headEnd/>
              <a:tailEnd/>
            </a:ln>
          </p:spPr>
          <p:txBody>
            <a:bodyPr/>
            <a:lstStyle/>
            <a:p>
              <a:endParaRPr lang="zh-CN" altLang="en-US"/>
            </a:p>
          </p:txBody>
        </p:sp>
        <p:sp>
          <p:nvSpPr>
            <p:cNvPr id="69700" name="Line 66"/>
            <p:cNvSpPr>
              <a:spLocks noChangeShapeType="1"/>
            </p:cNvSpPr>
            <p:nvPr/>
          </p:nvSpPr>
          <p:spPr bwMode="auto">
            <a:xfrm>
              <a:off x="2159" y="3380"/>
              <a:ext cx="0" cy="112"/>
            </a:xfrm>
            <a:prstGeom prst="line">
              <a:avLst/>
            </a:prstGeom>
            <a:noFill/>
            <a:ln w="19050">
              <a:solidFill>
                <a:srgbClr val="000000"/>
              </a:solidFill>
              <a:round/>
              <a:headEnd/>
              <a:tailEnd/>
            </a:ln>
          </p:spPr>
          <p:txBody>
            <a:bodyPr/>
            <a:lstStyle/>
            <a:p>
              <a:endParaRPr lang="zh-CN" altLang="en-US"/>
            </a:p>
          </p:txBody>
        </p:sp>
        <p:sp>
          <p:nvSpPr>
            <p:cNvPr id="69701" name="Line 67"/>
            <p:cNvSpPr>
              <a:spLocks noChangeShapeType="1"/>
            </p:cNvSpPr>
            <p:nvPr/>
          </p:nvSpPr>
          <p:spPr bwMode="auto">
            <a:xfrm>
              <a:off x="3500" y="2902"/>
              <a:ext cx="0" cy="237"/>
            </a:xfrm>
            <a:prstGeom prst="line">
              <a:avLst/>
            </a:prstGeom>
            <a:noFill/>
            <a:ln w="19050">
              <a:solidFill>
                <a:srgbClr val="000000"/>
              </a:solidFill>
              <a:round/>
              <a:headEnd/>
              <a:tailEnd/>
            </a:ln>
          </p:spPr>
          <p:txBody>
            <a:bodyPr/>
            <a:lstStyle/>
            <a:p>
              <a:endParaRPr lang="zh-CN" altLang="en-US"/>
            </a:p>
          </p:txBody>
        </p:sp>
        <p:sp>
          <p:nvSpPr>
            <p:cNvPr id="69702" name="Line 68"/>
            <p:cNvSpPr>
              <a:spLocks noChangeShapeType="1"/>
            </p:cNvSpPr>
            <p:nvPr/>
          </p:nvSpPr>
          <p:spPr bwMode="auto">
            <a:xfrm>
              <a:off x="3511" y="3470"/>
              <a:ext cx="0" cy="214"/>
            </a:xfrm>
            <a:prstGeom prst="line">
              <a:avLst/>
            </a:prstGeom>
            <a:noFill/>
            <a:ln w="19050">
              <a:solidFill>
                <a:srgbClr val="000000"/>
              </a:solidFill>
              <a:round/>
              <a:headEnd/>
              <a:tailEnd/>
            </a:ln>
          </p:spPr>
          <p:txBody>
            <a:bodyPr/>
            <a:lstStyle/>
            <a:p>
              <a:endParaRPr lang="zh-CN" altLang="en-US"/>
            </a:p>
          </p:txBody>
        </p:sp>
        <p:sp>
          <p:nvSpPr>
            <p:cNvPr id="69703" name="Line 69"/>
            <p:cNvSpPr>
              <a:spLocks noChangeShapeType="1"/>
            </p:cNvSpPr>
            <p:nvPr/>
          </p:nvSpPr>
          <p:spPr bwMode="auto">
            <a:xfrm>
              <a:off x="3275" y="3003"/>
              <a:ext cx="225" cy="0"/>
            </a:xfrm>
            <a:prstGeom prst="line">
              <a:avLst/>
            </a:prstGeom>
            <a:noFill/>
            <a:ln w="9525">
              <a:solidFill>
                <a:srgbClr val="000000"/>
              </a:solidFill>
              <a:round/>
              <a:headEnd/>
              <a:tailEnd/>
            </a:ln>
          </p:spPr>
          <p:txBody>
            <a:bodyPr/>
            <a:lstStyle/>
            <a:p>
              <a:endParaRPr lang="zh-CN" altLang="en-US"/>
            </a:p>
          </p:txBody>
        </p:sp>
        <p:sp>
          <p:nvSpPr>
            <p:cNvPr id="69704" name="Line 70"/>
            <p:cNvSpPr>
              <a:spLocks noChangeShapeType="1"/>
            </p:cNvSpPr>
            <p:nvPr/>
          </p:nvSpPr>
          <p:spPr bwMode="auto">
            <a:xfrm>
              <a:off x="3286" y="3635"/>
              <a:ext cx="214" cy="0"/>
            </a:xfrm>
            <a:prstGeom prst="line">
              <a:avLst/>
            </a:prstGeom>
            <a:noFill/>
            <a:ln w="9525">
              <a:solidFill>
                <a:srgbClr val="000000"/>
              </a:solidFill>
              <a:round/>
              <a:headEnd/>
              <a:tailEnd/>
            </a:ln>
          </p:spPr>
          <p:txBody>
            <a:bodyPr/>
            <a:lstStyle/>
            <a:p>
              <a:endParaRPr lang="zh-CN" altLang="en-US"/>
            </a:p>
          </p:txBody>
        </p:sp>
        <p:sp>
          <p:nvSpPr>
            <p:cNvPr id="69705" name="Oval 71"/>
            <p:cNvSpPr>
              <a:spLocks noChangeArrowheads="1"/>
            </p:cNvSpPr>
            <p:nvPr/>
          </p:nvSpPr>
          <p:spPr bwMode="auto">
            <a:xfrm>
              <a:off x="3737" y="2902"/>
              <a:ext cx="834" cy="834"/>
            </a:xfrm>
            <a:prstGeom prst="ellipse">
              <a:avLst/>
            </a:prstGeom>
            <a:noFill/>
            <a:ln w="9525">
              <a:solidFill>
                <a:srgbClr val="000000"/>
              </a:solidFill>
              <a:round/>
              <a:headEnd/>
              <a:tailEnd/>
            </a:ln>
          </p:spPr>
          <p:txBody>
            <a:bodyPr/>
            <a:lstStyle/>
            <a:p>
              <a:endParaRPr lang="zh-CN" altLang="en-US"/>
            </a:p>
          </p:txBody>
        </p:sp>
        <p:sp>
          <p:nvSpPr>
            <p:cNvPr id="69706" name="Rectangle 72"/>
            <p:cNvSpPr>
              <a:spLocks noChangeArrowheads="1"/>
            </p:cNvSpPr>
            <p:nvPr/>
          </p:nvSpPr>
          <p:spPr bwMode="auto">
            <a:xfrm>
              <a:off x="3692" y="3200"/>
              <a:ext cx="135" cy="270"/>
            </a:xfrm>
            <a:prstGeom prst="rect">
              <a:avLst/>
            </a:prstGeom>
            <a:solidFill>
              <a:schemeClr val="accent1"/>
            </a:solidFill>
            <a:ln w="9525">
              <a:noFill/>
              <a:miter lim="800000"/>
              <a:headEnd/>
              <a:tailEnd/>
            </a:ln>
          </p:spPr>
          <p:txBody>
            <a:bodyPr/>
            <a:lstStyle/>
            <a:p>
              <a:endParaRPr lang="zh-CN" altLang="en-US"/>
            </a:p>
          </p:txBody>
        </p:sp>
        <p:sp>
          <p:nvSpPr>
            <p:cNvPr id="69707" name="Rectangle 73"/>
            <p:cNvSpPr>
              <a:spLocks noChangeArrowheads="1"/>
            </p:cNvSpPr>
            <p:nvPr/>
          </p:nvSpPr>
          <p:spPr bwMode="auto">
            <a:xfrm rot="2774024">
              <a:off x="3821" y="2943"/>
              <a:ext cx="57" cy="134"/>
            </a:xfrm>
            <a:prstGeom prst="rect">
              <a:avLst/>
            </a:prstGeom>
            <a:noFill/>
            <a:ln w="9525">
              <a:solidFill>
                <a:srgbClr val="000000"/>
              </a:solidFill>
              <a:miter lim="800000"/>
              <a:headEnd/>
              <a:tailEnd/>
            </a:ln>
          </p:spPr>
          <p:txBody>
            <a:bodyPr/>
            <a:lstStyle/>
            <a:p>
              <a:endParaRPr lang="zh-CN" altLang="en-US"/>
            </a:p>
          </p:txBody>
        </p:sp>
        <p:sp>
          <p:nvSpPr>
            <p:cNvPr id="69708" name="Line 74"/>
            <p:cNvSpPr>
              <a:spLocks noChangeShapeType="1"/>
            </p:cNvSpPr>
            <p:nvPr/>
          </p:nvSpPr>
          <p:spPr bwMode="auto">
            <a:xfrm>
              <a:off x="1099" y="3319"/>
              <a:ext cx="3642" cy="0"/>
            </a:xfrm>
            <a:prstGeom prst="line">
              <a:avLst/>
            </a:prstGeom>
            <a:noFill/>
            <a:ln w="6350">
              <a:solidFill>
                <a:srgbClr val="000000"/>
              </a:solidFill>
              <a:prstDash val="lgDashDot"/>
              <a:round/>
              <a:headEnd/>
              <a:tailEnd/>
            </a:ln>
          </p:spPr>
          <p:txBody>
            <a:bodyPr/>
            <a:lstStyle/>
            <a:p>
              <a:endParaRPr lang="zh-CN" altLang="en-US"/>
            </a:p>
          </p:txBody>
        </p:sp>
        <p:sp>
          <p:nvSpPr>
            <p:cNvPr id="69709" name="Line 75"/>
            <p:cNvSpPr>
              <a:spLocks noChangeShapeType="1"/>
            </p:cNvSpPr>
            <p:nvPr/>
          </p:nvSpPr>
          <p:spPr bwMode="auto">
            <a:xfrm>
              <a:off x="3343" y="3447"/>
              <a:ext cx="1014" cy="0"/>
            </a:xfrm>
            <a:prstGeom prst="line">
              <a:avLst/>
            </a:prstGeom>
            <a:noFill/>
            <a:ln w="9525">
              <a:solidFill>
                <a:srgbClr val="000000"/>
              </a:solidFill>
              <a:round/>
              <a:headEnd/>
              <a:tailEnd/>
            </a:ln>
          </p:spPr>
          <p:txBody>
            <a:bodyPr/>
            <a:lstStyle/>
            <a:p>
              <a:endParaRPr lang="zh-CN" altLang="en-US"/>
            </a:p>
          </p:txBody>
        </p:sp>
        <p:sp>
          <p:nvSpPr>
            <p:cNvPr id="69710" name="Line 76"/>
            <p:cNvSpPr>
              <a:spLocks noChangeShapeType="1"/>
            </p:cNvSpPr>
            <p:nvPr/>
          </p:nvSpPr>
          <p:spPr bwMode="auto">
            <a:xfrm>
              <a:off x="3331" y="3200"/>
              <a:ext cx="1015" cy="0"/>
            </a:xfrm>
            <a:prstGeom prst="line">
              <a:avLst/>
            </a:prstGeom>
            <a:noFill/>
            <a:ln w="9525">
              <a:solidFill>
                <a:srgbClr val="000000"/>
              </a:solidFill>
              <a:round/>
              <a:headEnd/>
              <a:tailEnd/>
            </a:ln>
          </p:spPr>
          <p:txBody>
            <a:bodyPr/>
            <a:lstStyle/>
            <a:p>
              <a:endParaRPr lang="zh-CN" altLang="en-US"/>
            </a:p>
          </p:txBody>
        </p:sp>
        <p:sp>
          <p:nvSpPr>
            <p:cNvPr id="69711" name="Line 77"/>
            <p:cNvSpPr>
              <a:spLocks noChangeShapeType="1"/>
            </p:cNvSpPr>
            <p:nvPr/>
          </p:nvSpPr>
          <p:spPr bwMode="auto">
            <a:xfrm flipH="1">
              <a:off x="3500" y="2985"/>
              <a:ext cx="0" cy="215"/>
            </a:xfrm>
            <a:prstGeom prst="line">
              <a:avLst/>
            </a:prstGeom>
            <a:noFill/>
            <a:ln w="19050">
              <a:solidFill>
                <a:srgbClr val="000000"/>
              </a:solidFill>
              <a:round/>
              <a:headEnd/>
              <a:tailEnd/>
            </a:ln>
          </p:spPr>
          <p:txBody>
            <a:bodyPr/>
            <a:lstStyle/>
            <a:p>
              <a:endParaRPr lang="zh-CN" altLang="en-US"/>
            </a:p>
          </p:txBody>
        </p:sp>
        <p:sp>
          <p:nvSpPr>
            <p:cNvPr id="69712" name="Text Box 78"/>
            <p:cNvSpPr txBox="1">
              <a:spLocks noChangeArrowheads="1"/>
            </p:cNvSpPr>
            <p:nvPr/>
          </p:nvSpPr>
          <p:spPr bwMode="auto">
            <a:xfrm>
              <a:off x="2756" y="2564"/>
              <a:ext cx="448" cy="335"/>
            </a:xfrm>
            <a:prstGeom prst="rect">
              <a:avLst/>
            </a:prstGeom>
            <a:noFill/>
            <a:ln w="9525">
              <a:noFill/>
              <a:miter lim="800000"/>
              <a:headEnd/>
              <a:tailEnd/>
            </a:ln>
          </p:spPr>
          <p:txBody>
            <a:bodyPr/>
            <a:lstStyle/>
            <a:p>
              <a:pPr algn="just"/>
              <a:r>
                <a:rPr lang="en-US" altLang="zh-CN">
                  <a:latin typeface="Times New Roman" pitchFamily="18" charset="0"/>
                </a:rPr>
                <a:t>a)</a:t>
              </a: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endParaRPr lang="en-US" altLang="zh-CN"/>
            </a:p>
          </p:txBody>
        </p:sp>
        <p:sp>
          <p:nvSpPr>
            <p:cNvPr id="69713" name="Text Box 79"/>
            <p:cNvSpPr txBox="1">
              <a:spLocks noChangeArrowheads="1"/>
            </p:cNvSpPr>
            <p:nvPr/>
          </p:nvSpPr>
          <p:spPr bwMode="auto">
            <a:xfrm>
              <a:off x="2858" y="3725"/>
              <a:ext cx="449" cy="353"/>
            </a:xfrm>
            <a:prstGeom prst="rect">
              <a:avLst/>
            </a:prstGeom>
            <a:noFill/>
            <a:ln w="9525">
              <a:noFill/>
              <a:miter lim="800000"/>
              <a:headEnd/>
              <a:tailEnd/>
            </a:ln>
          </p:spPr>
          <p:txBody>
            <a:bodyPr/>
            <a:lstStyle/>
            <a:p>
              <a:pPr algn="just"/>
              <a:r>
                <a:rPr lang="en-US" altLang="zh-CN">
                  <a:latin typeface="Times New Roman" pitchFamily="18" charset="0"/>
                </a:rPr>
                <a:t>b)           </a:t>
              </a:r>
              <a:endParaRPr lang="en-US" altLang="zh-CN"/>
            </a:p>
          </p:txBody>
        </p:sp>
        <p:sp>
          <p:nvSpPr>
            <p:cNvPr id="69714" name="Text Box 80"/>
            <p:cNvSpPr txBox="1">
              <a:spLocks noChangeArrowheads="1"/>
            </p:cNvSpPr>
            <p:nvPr/>
          </p:nvSpPr>
          <p:spPr bwMode="auto">
            <a:xfrm>
              <a:off x="3447" y="1583"/>
              <a:ext cx="419" cy="265"/>
            </a:xfrm>
            <a:prstGeom prst="rect">
              <a:avLst/>
            </a:prstGeom>
            <a:noFill/>
            <a:ln w="9525">
              <a:noFill/>
              <a:miter lim="800000"/>
              <a:headEnd/>
              <a:tailEnd/>
            </a:ln>
          </p:spPr>
          <p:txBody>
            <a:bodyPr/>
            <a:lstStyle/>
            <a:p>
              <a:pPr algn="just"/>
              <a:r>
                <a:rPr lang="en-US" altLang="zh-CN" i="1">
                  <a:latin typeface="Times New Roman" pitchFamily="18" charset="0"/>
                </a:rPr>
                <a:t>O</a:t>
              </a:r>
              <a:endParaRPr lang="en-US" altLang="zh-CN"/>
            </a:p>
          </p:txBody>
        </p:sp>
        <p:sp>
          <p:nvSpPr>
            <p:cNvPr id="69715" name="Text Box 81"/>
            <p:cNvSpPr txBox="1">
              <a:spLocks noChangeArrowheads="1"/>
            </p:cNvSpPr>
            <p:nvPr/>
          </p:nvSpPr>
          <p:spPr bwMode="auto">
            <a:xfrm flipH="1">
              <a:off x="2948" y="1578"/>
              <a:ext cx="523" cy="555"/>
            </a:xfrm>
            <a:prstGeom prst="rect">
              <a:avLst/>
            </a:prstGeom>
            <a:noFill/>
            <a:ln w="9525">
              <a:noFill/>
              <a:miter lim="800000"/>
              <a:headEnd/>
              <a:tailEnd/>
            </a:ln>
          </p:spPr>
          <p:txBody>
            <a:bodyPr/>
            <a:lstStyle/>
            <a:p>
              <a:pPr algn="just"/>
              <a:r>
                <a:rPr lang="en-US" altLang="zh-CN" i="1">
                  <a:latin typeface="Times New Roman" pitchFamily="18" charset="0"/>
                </a:rPr>
                <a:t>L</a:t>
              </a:r>
              <a:endParaRPr lang="en-US" altLang="zh-CN"/>
            </a:p>
          </p:txBody>
        </p:sp>
        <p:sp>
          <p:nvSpPr>
            <p:cNvPr id="69716" name="Text Box 82"/>
            <p:cNvSpPr txBox="1">
              <a:spLocks noChangeArrowheads="1"/>
            </p:cNvSpPr>
            <p:nvPr/>
          </p:nvSpPr>
          <p:spPr bwMode="auto">
            <a:xfrm>
              <a:off x="1163" y="1568"/>
              <a:ext cx="590" cy="562"/>
            </a:xfrm>
            <a:prstGeom prst="rect">
              <a:avLst/>
            </a:prstGeom>
            <a:noFill/>
            <a:ln w="9525">
              <a:noFill/>
              <a:miter lim="800000"/>
              <a:headEnd/>
              <a:tailEnd/>
            </a:ln>
          </p:spPr>
          <p:txBody>
            <a:bodyPr/>
            <a:lstStyle/>
            <a:p>
              <a:pPr algn="just"/>
              <a:r>
                <a:rPr lang="en-US" altLang="zh-CN" i="1">
                  <a:latin typeface="Times New Roman" pitchFamily="18" charset="0"/>
                </a:rPr>
                <a:t>F</a:t>
              </a:r>
              <a:endParaRPr lang="en-US" altLang="zh-CN"/>
            </a:p>
          </p:txBody>
        </p:sp>
        <p:sp>
          <p:nvSpPr>
            <p:cNvPr id="69717" name="Text Box 83"/>
            <p:cNvSpPr txBox="1">
              <a:spLocks noChangeArrowheads="1"/>
            </p:cNvSpPr>
            <p:nvPr/>
          </p:nvSpPr>
          <p:spPr bwMode="auto">
            <a:xfrm>
              <a:off x="1829" y="1708"/>
              <a:ext cx="466" cy="468"/>
            </a:xfrm>
            <a:prstGeom prst="rect">
              <a:avLst/>
            </a:prstGeom>
            <a:noFill/>
            <a:ln w="9525">
              <a:noFill/>
              <a:miter lim="800000"/>
              <a:headEnd/>
              <a:tailEnd/>
            </a:ln>
          </p:spPr>
          <p:txBody>
            <a:bodyPr/>
            <a:lstStyle/>
            <a:p>
              <a:pPr algn="just"/>
              <a:r>
                <a:rPr lang="en-US" altLang="zh-CN" i="1">
                  <a:latin typeface="Times New Roman" pitchFamily="18" charset="0"/>
                </a:rPr>
                <a:t>S</a:t>
              </a:r>
              <a:endParaRPr lang="en-US" altLang="zh-CN"/>
            </a:p>
          </p:txBody>
        </p:sp>
        <p:sp>
          <p:nvSpPr>
            <p:cNvPr id="69718" name="Text Box 84"/>
            <p:cNvSpPr txBox="1">
              <a:spLocks noChangeArrowheads="1"/>
            </p:cNvSpPr>
            <p:nvPr/>
          </p:nvSpPr>
          <p:spPr bwMode="auto">
            <a:xfrm>
              <a:off x="3184" y="1498"/>
              <a:ext cx="481" cy="375"/>
            </a:xfrm>
            <a:prstGeom prst="rect">
              <a:avLst/>
            </a:prstGeom>
            <a:noFill/>
            <a:ln w="9525">
              <a:noFill/>
              <a:miter lim="800000"/>
              <a:headEnd/>
              <a:tailEnd/>
            </a:ln>
          </p:spPr>
          <p:txBody>
            <a:bodyPr/>
            <a:lstStyle/>
            <a:p>
              <a:pPr algn="just"/>
              <a:r>
                <a:rPr lang="en-US" altLang="zh-CN" i="1">
                  <a:latin typeface="Times New Roman" pitchFamily="18" charset="0"/>
                </a:rPr>
                <a:t>A</a:t>
              </a:r>
              <a:endParaRPr lang="en-US" altLang="zh-CN"/>
            </a:p>
          </p:txBody>
        </p:sp>
        <p:sp>
          <p:nvSpPr>
            <p:cNvPr id="69719" name="Text Box 85"/>
            <p:cNvSpPr txBox="1">
              <a:spLocks noChangeArrowheads="1"/>
            </p:cNvSpPr>
            <p:nvPr/>
          </p:nvSpPr>
          <p:spPr bwMode="auto">
            <a:xfrm>
              <a:off x="3895" y="1531"/>
              <a:ext cx="570" cy="562"/>
            </a:xfrm>
            <a:prstGeom prst="rect">
              <a:avLst/>
            </a:prstGeom>
            <a:noFill/>
            <a:ln w="9525">
              <a:noFill/>
              <a:miter lim="800000"/>
              <a:headEnd/>
              <a:tailEnd/>
            </a:ln>
          </p:spPr>
          <p:txBody>
            <a:bodyPr/>
            <a:lstStyle/>
            <a:p>
              <a:pPr algn="just"/>
              <a:r>
                <a:rPr lang="en-US" altLang="zh-CN" i="1">
                  <a:latin typeface="Times New Roman" pitchFamily="18" charset="0"/>
                </a:rPr>
                <a:t>D</a:t>
              </a:r>
              <a:endParaRPr lang="en-US" altLang="zh-CN"/>
            </a:p>
          </p:txBody>
        </p:sp>
        <p:sp>
          <p:nvSpPr>
            <p:cNvPr id="69720" name="Text Box 86"/>
            <p:cNvSpPr txBox="1">
              <a:spLocks noChangeArrowheads="1"/>
            </p:cNvSpPr>
            <p:nvPr/>
          </p:nvSpPr>
          <p:spPr bwMode="auto">
            <a:xfrm>
              <a:off x="4649" y="1623"/>
              <a:ext cx="308" cy="414"/>
            </a:xfrm>
            <a:prstGeom prst="rect">
              <a:avLst/>
            </a:prstGeom>
            <a:noFill/>
            <a:ln w="9525">
              <a:noFill/>
              <a:miter lim="800000"/>
              <a:headEnd/>
              <a:tailEnd/>
            </a:ln>
          </p:spPr>
          <p:txBody>
            <a:bodyPr/>
            <a:lstStyle/>
            <a:p>
              <a:pPr algn="just"/>
              <a:r>
                <a:rPr lang="en-US" altLang="zh-CN" i="1">
                  <a:latin typeface="Times New Roman" pitchFamily="18" charset="0"/>
                </a:rPr>
                <a:t>I</a:t>
              </a:r>
              <a:endParaRPr lang="en-US" altLang="zh-CN"/>
            </a:p>
          </p:txBody>
        </p:sp>
        <p:sp>
          <p:nvSpPr>
            <p:cNvPr id="69721" name="Line 87"/>
            <p:cNvSpPr>
              <a:spLocks noChangeShapeType="1"/>
            </p:cNvSpPr>
            <p:nvPr/>
          </p:nvSpPr>
          <p:spPr bwMode="auto">
            <a:xfrm flipH="1" flipV="1">
              <a:off x="1337" y="1801"/>
              <a:ext cx="89" cy="210"/>
            </a:xfrm>
            <a:prstGeom prst="line">
              <a:avLst/>
            </a:prstGeom>
            <a:noFill/>
            <a:ln w="6350">
              <a:solidFill>
                <a:srgbClr val="000000"/>
              </a:solidFill>
              <a:round/>
              <a:headEnd/>
              <a:tailEnd/>
            </a:ln>
          </p:spPr>
          <p:txBody>
            <a:bodyPr/>
            <a:lstStyle/>
            <a:p>
              <a:endParaRPr lang="zh-CN" altLang="en-US"/>
            </a:p>
          </p:txBody>
        </p:sp>
      </p:grpSp>
    </p:spTree>
  </p:cSld>
  <p:clrMapOvr>
    <a:masterClrMapping/>
  </p:clrMapOvr>
  <p:transition>
    <p:circl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p:spPr>
        <p:txBody>
          <a:bodyPr/>
          <a:lstStyle/>
          <a:p>
            <a:fld id="{39037508-3995-4677-B8D4-1DCDEB4B2B7A}" type="datetime1">
              <a:rPr lang="zh-CN" altLang="en-US" smtClean="0">
                <a:ea typeface="宋体" charset="-122"/>
              </a:rPr>
              <a:pPr/>
              <a:t>2018/2/24</a:t>
            </a:fld>
            <a:endParaRPr lang="en-US" altLang="zh-CN" smtClean="0">
              <a:ea typeface="宋体" charset="-122"/>
            </a:endParaRPr>
          </a:p>
        </p:txBody>
      </p:sp>
      <p:sp>
        <p:nvSpPr>
          <p:cNvPr id="70659" name="灯片编号占位符 5"/>
          <p:cNvSpPr>
            <a:spLocks noGrp="1"/>
          </p:cNvSpPr>
          <p:nvPr>
            <p:ph type="sldNum" sz="quarter" idx="12"/>
          </p:nvPr>
        </p:nvSpPr>
        <p:spPr>
          <a:noFill/>
        </p:spPr>
        <p:txBody>
          <a:bodyPr/>
          <a:lstStyle/>
          <a:p>
            <a:fld id="{76FDF261-CA3A-4EF0-99AD-DC52E1DE3DDF}" type="slidenum">
              <a:rPr lang="en-US" altLang="zh-CN" smtClean="0">
                <a:ea typeface="宋体" charset="-122"/>
              </a:rPr>
              <a:pPr/>
              <a:t>66</a:t>
            </a:fld>
            <a:endParaRPr lang="en-US" altLang="zh-CN" smtClean="0">
              <a:ea typeface="宋体" charset="-122"/>
            </a:endParaRPr>
          </a:p>
        </p:txBody>
      </p:sp>
      <p:sp>
        <p:nvSpPr>
          <p:cNvPr id="70660" name="Rectangle 2"/>
          <p:cNvSpPr>
            <a:spLocks noGrp="1" noRot="1" noChangeArrowheads="1"/>
          </p:cNvSpPr>
          <p:nvPr>
            <p:ph type="title"/>
          </p:nvPr>
        </p:nvSpPr>
        <p:spPr>
          <a:xfrm>
            <a:off x="366713" y="306388"/>
            <a:ext cx="8270875" cy="839787"/>
          </a:xfrm>
        </p:spPr>
        <p:txBody>
          <a:bodyPr/>
          <a:lstStyle/>
          <a:p>
            <a:pPr eaLnBrk="1" fontAlgn="b" hangingPunct="1"/>
            <a:r>
              <a:rPr lang="en-US" altLang="zh-CN" sz="4000" b="1" dirty="0" smtClean="0">
                <a:solidFill>
                  <a:schemeClr val="tx1"/>
                </a:solidFill>
                <a:latin typeface="Times New Roman" pitchFamily="18" charset="0"/>
                <a:ea typeface="黑体" pitchFamily="2" charset="-122"/>
              </a:rPr>
              <a:t>§2-5  </a:t>
            </a:r>
            <a:r>
              <a:rPr lang="zh-CN" altLang="en-US" sz="4000" b="1" dirty="0" smtClean="0">
                <a:solidFill>
                  <a:schemeClr val="tx1"/>
                </a:solidFill>
                <a:latin typeface="Times New Roman" pitchFamily="18" charset="0"/>
                <a:ea typeface="黑体" pitchFamily="2" charset="-122"/>
              </a:rPr>
              <a:t>光学系统透过率测试技术</a:t>
            </a:r>
          </a:p>
        </p:txBody>
      </p:sp>
      <p:sp>
        <p:nvSpPr>
          <p:cNvPr id="484355" name="Rectangle 3"/>
          <p:cNvSpPr>
            <a:spLocks noGrp="1" noRot="1" noChangeArrowheads="1"/>
          </p:cNvSpPr>
          <p:nvPr>
            <p:ph type="body" idx="1"/>
          </p:nvPr>
        </p:nvSpPr>
        <p:spPr>
          <a:xfrm>
            <a:off x="296863" y="1349375"/>
            <a:ext cx="8550275" cy="2251075"/>
          </a:xfrm>
        </p:spPr>
        <p:txBody>
          <a:bodyPr/>
          <a:lstStyle/>
          <a:p>
            <a:pPr marL="623888" indent="-623888" eaLnBrk="1" hangingPunct="1">
              <a:buFont typeface="Wingdings" pitchFamily="2" charset="2"/>
              <a:buNone/>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623888" indent="-623888" eaLnBrk="1" hangingPunct="1">
              <a:buFont typeface="Wingdings" pitchFamily="2" charset="2"/>
              <a:buNone/>
              <a:defRPr/>
            </a:pPr>
            <a:r>
              <a:rPr lang="en-US" altLang="zh-CN" smtClean="0">
                <a:latin typeface="Times New Roman" pitchFamily="18" charset="0"/>
                <a:ea typeface="黑体" pitchFamily="2" charset="-122"/>
              </a:rPr>
              <a:t>1)  </a:t>
            </a:r>
            <a:r>
              <a:rPr lang="zh-CN" altLang="en-US" smtClean="0">
                <a:latin typeface="Times New Roman" pitchFamily="18" charset="0"/>
                <a:ea typeface="黑体" pitchFamily="2" charset="-122"/>
              </a:rPr>
              <a:t>照相物镜轴上点透过率的测量</a:t>
            </a:r>
          </a:p>
        </p:txBody>
      </p:sp>
      <p:sp>
        <p:nvSpPr>
          <p:cNvPr id="70662"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0663"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0664"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54"/>
          <p:cNvGrpSpPr>
            <a:grpSpLocks/>
          </p:cNvGrpSpPr>
          <p:nvPr/>
        </p:nvGrpSpPr>
        <p:grpSpPr bwMode="auto">
          <a:xfrm>
            <a:off x="1973263" y="2268538"/>
            <a:ext cx="4918075" cy="4589462"/>
            <a:chOff x="1243" y="1429"/>
            <a:chExt cx="3098" cy="2891"/>
          </a:xfrm>
        </p:grpSpPr>
        <p:sp>
          <p:nvSpPr>
            <p:cNvPr id="70667" name="Rectangle 8"/>
            <p:cNvSpPr>
              <a:spLocks noChangeArrowheads="1"/>
            </p:cNvSpPr>
            <p:nvPr/>
          </p:nvSpPr>
          <p:spPr bwMode="auto">
            <a:xfrm>
              <a:off x="1243" y="1429"/>
              <a:ext cx="3035" cy="2798"/>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70668" name="Text Box 10"/>
            <p:cNvSpPr txBox="1">
              <a:spLocks noChangeArrowheads="1"/>
            </p:cNvSpPr>
            <p:nvPr/>
          </p:nvSpPr>
          <p:spPr bwMode="auto">
            <a:xfrm>
              <a:off x="1477" y="3952"/>
              <a:ext cx="2864" cy="368"/>
            </a:xfrm>
            <a:prstGeom prst="rect">
              <a:avLst/>
            </a:prstGeom>
            <a:noFill/>
            <a:ln w="9525">
              <a:noFill/>
              <a:miter lim="800000"/>
              <a:headEnd/>
              <a:tailEnd/>
            </a:ln>
          </p:spPr>
          <p:txBody>
            <a:bodyPr/>
            <a:lstStyle/>
            <a:p>
              <a:r>
                <a:rPr lang="en-US" altLang="zh-CN" sz="2000">
                  <a:latin typeface="黑体" pitchFamily="2" charset="-122"/>
                  <a:ea typeface="黑体" pitchFamily="2" charset="-122"/>
                </a:rPr>
                <a:t> </a:t>
              </a:r>
              <a:r>
                <a:rPr lang="zh-CN" altLang="en-US" sz="2000">
                  <a:latin typeface="黑体" pitchFamily="2" charset="-122"/>
                  <a:ea typeface="黑体" pitchFamily="2" charset="-122"/>
                </a:rPr>
                <a:t>近距离工作物镜的透过率测量光路</a:t>
              </a:r>
              <a:endParaRPr lang="zh-CN" altLang="en-US" sz="2000"/>
            </a:p>
          </p:txBody>
        </p:sp>
        <p:grpSp>
          <p:nvGrpSpPr>
            <p:cNvPr id="3" name="Group 53"/>
            <p:cNvGrpSpPr>
              <a:grpSpLocks/>
            </p:cNvGrpSpPr>
            <p:nvPr/>
          </p:nvGrpSpPr>
          <p:grpSpPr bwMode="auto">
            <a:xfrm>
              <a:off x="1370" y="1671"/>
              <a:ext cx="2711" cy="811"/>
              <a:chOff x="1370" y="1671"/>
              <a:chExt cx="2711" cy="811"/>
            </a:xfrm>
          </p:grpSpPr>
          <p:grpSp>
            <p:nvGrpSpPr>
              <p:cNvPr id="4" name="Group 52"/>
              <p:cNvGrpSpPr>
                <a:grpSpLocks/>
              </p:cNvGrpSpPr>
              <p:nvPr/>
            </p:nvGrpSpPr>
            <p:grpSpPr bwMode="auto">
              <a:xfrm>
                <a:off x="3206" y="1671"/>
                <a:ext cx="875" cy="811"/>
                <a:chOff x="3206" y="1671"/>
                <a:chExt cx="875" cy="811"/>
              </a:xfrm>
            </p:grpSpPr>
            <p:sp>
              <p:nvSpPr>
                <p:cNvPr id="70700" name="Oval 14"/>
                <p:cNvSpPr>
                  <a:spLocks noChangeArrowheads="1"/>
                </p:cNvSpPr>
                <p:nvPr/>
              </p:nvSpPr>
              <p:spPr bwMode="auto">
                <a:xfrm>
                  <a:off x="3270" y="1671"/>
                  <a:ext cx="811" cy="811"/>
                </a:xfrm>
                <a:prstGeom prst="ellipse">
                  <a:avLst/>
                </a:prstGeom>
                <a:noFill/>
                <a:ln w="9525">
                  <a:solidFill>
                    <a:srgbClr val="000000"/>
                  </a:solidFill>
                  <a:round/>
                  <a:headEnd/>
                  <a:tailEnd/>
                </a:ln>
              </p:spPr>
              <p:txBody>
                <a:bodyPr/>
                <a:lstStyle/>
                <a:p>
                  <a:endParaRPr lang="zh-CN" altLang="en-US"/>
                </a:p>
              </p:txBody>
            </p:sp>
            <p:sp>
              <p:nvSpPr>
                <p:cNvPr id="70701" name="Rectangle 15"/>
                <p:cNvSpPr>
                  <a:spLocks noChangeArrowheads="1"/>
                </p:cNvSpPr>
                <p:nvPr/>
              </p:nvSpPr>
              <p:spPr bwMode="auto">
                <a:xfrm rot="-2914843">
                  <a:off x="3285" y="1763"/>
                  <a:ext cx="153" cy="61"/>
                </a:xfrm>
                <a:prstGeom prst="rect">
                  <a:avLst/>
                </a:prstGeom>
                <a:noFill/>
                <a:ln w="9525">
                  <a:solidFill>
                    <a:srgbClr val="000000"/>
                  </a:solidFill>
                  <a:miter lim="800000"/>
                  <a:headEnd/>
                  <a:tailEnd/>
                </a:ln>
              </p:spPr>
              <p:txBody>
                <a:bodyPr vert="eaVert"/>
                <a:lstStyle/>
                <a:p>
                  <a:endParaRPr lang="zh-CN" altLang="en-US"/>
                </a:p>
              </p:txBody>
            </p:sp>
            <p:sp>
              <p:nvSpPr>
                <p:cNvPr id="70702" name="Rectangle 16"/>
                <p:cNvSpPr>
                  <a:spLocks noChangeArrowheads="1"/>
                </p:cNvSpPr>
                <p:nvPr/>
              </p:nvSpPr>
              <p:spPr bwMode="auto">
                <a:xfrm>
                  <a:off x="3206" y="2008"/>
                  <a:ext cx="138" cy="137"/>
                </a:xfrm>
                <a:prstGeom prst="rect">
                  <a:avLst/>
                </a:prstGeom>
                <a:solidFill>
                  <a:schemeClr val="accent1"/>
                </a:solidFill>
                <a:ln w="9525">
                  <a:noFill/>
                  <a:miter lim="800000"/>
                  <a:headEnd/>
                  <a:tailEnd/>
                </a:ln>
              </p:spPr>
              <p:txBody>
                <a:bodyPr/>
                <a:lstStyle/>
                <a:p>
                  <a:endParaRPr lang="zh-CN" altLang="en-US"/>
                </a:p>
              </p:txBody>
            </p:sp>
          </p:grpSp>
          <p:sp>
            <p:nvSpPr>
              <p:cNvPr id="70691" name="Oval 17"/>
              <p:cNvSpPr>
                <a:spLocks noChangeArrowheads="1"/>
              </p:cNvSpPr>
              <p:nvPr/>
            </p:nvSpPr>
            <p:spPr bwMode="auto">
              <a:xfrm>
                <a:off x="2595" y="1824"/>
                <a:ext cx="184" cy="520"/>
              </a:xfrm>
              <a:prstGeom prst="ellipse">
                <a:avLst/>
              </a:prstGeom>
              <a:noFill/>
              <a:ln w="9525">
                <a:solidFill>
                  <a:srgbClr val="000000"/>
                </a:solidFill>
                <a:round/>
                <a:headEnd/>
                <a:tailEnd/>
              </a:ln>
            </p:spPr>
            <p:txBody>
              <a:bodyPr/>
              <a:lstStyle/>
              <a:p>
                <a:endParaRPr lang="zh-CN" altLang="en-US"/>
              </a:p>
            </p:txBody>
          </p:sp>
          <p:sp>
            <p:nvSpPr>
              <p:cNvPr id="70692" name="Rectangle 18"/>
              <p:cNvSpPr>
                <a:spLocks noChangeArrowheads="1"/>
              </p:cNvSpPr>
              <p:nvPr/>
            </p:nvSpPr>
            <p:spPr bwMode="auto">
              <a:xfrm>
                <a:off x="2595" y="1811"/>
                <a:ext cx="199" cy="105"/>
              </a:xfrm>
              <a:prstGeom prst="rect">
                <a:avLst/>
              </a:prstGeom>
              <a:noFill/>
              <a:ln w="9525">
                <a:noFill/>
                <a:miter lim="800000"/>
                <a:headEnd/>
                <a:tailEnd/>
              </a:ln>
            </p:spPr>
            <p:txBody>
              <a:bodyPr/>
              <a:lstStyle/>
              <a:p>
                <a:endParaRPr lang="zh-CN" altLang="en-US"/>
              </a:p>
            </p:txBody>
          </p:sp>
          <p:sp>
            <p:nvSpPr>
              <p:cNvPr id="70693" name="Rectangle 19"/>
              <p:cNvSpPr>
                <a:spLocks noChangeArrowheads="1"/>
              </p:cNvSpPr>
              <p:nvPr/>
            </p:nvSpPr>
            <p:spPr bwMode="auto">
              <a:xfrm>
                <a:off x="2580" y="2268"/>
                <a:ext cx="214" cy="107"/>
              </a:xfrm>
              <a:prstGeom prst="rect">
                <a:avLst/>
              </a:prstGeom>
              <a:noFill/>
              <a:ln w="9525">
                <a:noFill/>
                <a:miter lim="800000"/>
                <a:headEnd/>
                <a:tailEnd/>
              </a:ln>
            </p:spPr>
            <p:txBody>
              <a:bodyPr/>
              <a:lstStyle/>
              <a:p>
                <a:endParaRPr lang="zh-CN" altLang="en-US"/>
              </a:p>
            </p:txBody>
          </p:sp>
          <p:sp>
            <p:nvSpPr>
              <p:cNvPr id="70694" name="Line 20"/>
              <p:cNvSpPr>
                <a:spLocks noChangeShapeType="1"/>
              </p:cNvSpPr>
              <p:nvPr/>
            </p:nvSpPr>
            <p:spPr bwMode="auto">
              <a:xfrm flipV="1">
                <a:off x="1370" y="1946"/>
                <a:ext cx="1241" cy="138"/>
              </a:xfrm>
              <a:prstGeom prst="line">
                <a:avLst/>
              </a:prstGeom>
              <a:noFill/>
              <a:ln w="9525">
                <a:solidFill>
                  <a:srgbClr val="000000"/>
                </a:solidFill>
                <a:round/>
                <a:headEnd/>
                <a:tailEnd/>
              </a:ln>
            </p:spPr>
            <p:txBody>
              <a:bodyPr/>
              <a:lstStyle/>
              <a:p>
                <a:endParaRPr lang="zh-CN" altLang="en-US"/>
              </a:p>
            </p:txBody>
          </p:sp>
          <p:sp>
            <p:nvSpPr>
              <p:cNvPr id="70695" name="Line 21"/>
              <p:cNvSpPr>
                <a:spLocks noChangeShapeType="1"/>
              </p:cNvSpPr>
              <p:nvPr/>
            </p:nvSpPr>
            <p:spPr bwMode="auto">
              <a:xfrm>
                <a:off x="2748" y="1931"/>
                <a:ext cx="1226" cy="214"/>
              </a:xfrm>
              <a:prstGeom prst="line">
                <a:avLst/>
              </a:prstGeom>
              <a:noFill/>
              <a:ln w="9525">
                <a:solidFill>
                  <a:srgbClr val="000000"/>
                </a:solidFill>
                <a:round/>
                <a:headEnd/>
                <a:tailEnd/>
              </a:ln>
            </p:spPr>
            <p:txBody>
              <a:bodyPr/>
              <a:lstStyle/>
              <a:p>
                <a:endParaRPr lang="zh-CN" altLang="en-US"/>
              </a:p>
            </p:txBody>
          </p:sp>
          <p:sp>
            <p:nvSpPr>
              <p:cNvPr id="70696" name="Line 22"/>
              <p:cNvSpPr>
                <a:spLocks noChangeShapeType="1"/>
              </p:cNvSpPr>
              <p:nvPr/>
            </p:nvSpPr>
            <p:spPr bwMode="auto">
              <a:xfrm>
                <a:off x="1416" y="2084"/>
                <a:ext cx="1195" cy="123"/>
              </a:xfrm>
              <a:prstGeom prst="line">
                <a:avLst/>
              </a:prstGeom>
              <a:noFill/>
              <a:ln w="9525">
                <a:solidFill>
                  <a:srgbClr val="000000"/>
                </a:solidFill>
                <a:round/>
                <a:headEnd/>
                <a:tailEnd/>
              </a:ln>
            </p:spPr>
            <p:txBody>
              <a:bodyPr/>
              <a:lstStyle/>
              <a:p>
                <a:endParaRPr lang="zh-CN" altLang="en-US"/>
              </a:p>
            </p:txBody>
          </p:sp>
          <p:sp>
            <p:nvSpPr>
              <p:cNvPr id="70697" name="Line 23"/>
              <p:cNvSpPr>
                <a:spLocks noChangeShapeType="1"/>
              </p:cNvSpPr>
              <p:nvPr/>
            </p:nvSpPr>
            <p:spPr bwMode="auto">
              <a:xfrm flipV="1">
                <a:off x="2764" y="2008"/>
                <a:ext cx="1179" cy="214"/>
              </a:xfrm>
              <a:prstGeom prst="line">
                <a:avLst/>
              </a:prstGeom>
              <a:noFill/>
              <a:ln w="9525">
                <a:solidFill>
                  <a:srgbClr val="000000"/>
                </a:solidFill>
                <a:round/>
                <a:headEnd/>
                <a:tailEnd/>
              </a:ln>
            </p:spPr>
            <p:txBody>
              <a:bodyPr/>
              <a:lstStyle/>
              <a:p>
                <a:endParaRPr lang="zh-CN" altLang="en-US"/>
              </a:p>
            </p:txBody>
          </p:sp>
          <p:sp>
            <p:nvSpPr>
              <p:cNvPr id="70698" name="Line 24"/>
              <p:cNvSpPr>
                <a:spLocks noChangeShapeType="1"/>
              </p:cNvSpPr>
              <p:nvPr/>
            </p:nvSpPr>
            <p:spPr bwMode="auto">
              <a:xfrm>
                <a:off x="1431" y="1855"/>
                <a:ext cx="0" cy="168"/>
              </a:xfrm>
              <a:prstGeom prst="line">
                <a:avLst/>
              </a:prstGeom>
              <a:noFill/>
              <a:ln w="19050">
                <a:solidFill>
                  <a:srgbClr val="000000"/>
                </a:solidFill>
                <a:round/>
                <a:headEnd/>
                <a:tailEnd/>
              </a:ln>
            </p:spPr>
            <p:txBody>
              <a:bodyPr/>
              <a:lstStyle/>
              <a:p>
                <a:endParaRPr lang="zh-CN" altLang="en-US"/>
              </a:p>
            </p:txBody>
          </p:sp>
          <p:sp>
            <p:nvSpPr>
              <p:cNvPr id="70699" name="Line 25"/>
              <p:cNvSpPr>
                <a:spLocks noChangeShapeType="1"/>
              </p:cNvSpPr>
              <p:nvPr/>
            </p:nvSpPr>
            <p:spPr bwMode="auto">
              <a:xfrm>
                <a:off x="1431" y="2130"/>
                <a:ext cx="0" cy="138"/>
              </a:xfrm>
              <a:prstGeom prst="line">
                <a:avLst/>
              </a:prstGeom>
              <a:noFill/>
              <a:ln w="19050">
                <a:solidFill>
                  <a:srgbClr val="000000"/>
                </a:solidFill>
                <a:round/>
                <a:headEnd/>
                <a:tailEnd/>
              </a:ln>
            </p:spPr>
            <p:txBody>
              <a:bodyPr/>
              <a:lstStyle/>
              <a:p>
                <a:endParaRPr lang="zh-CN" altLang="en-US"/>
              </a:p>
            </p:txBody>
          </p:sp>
        </p:grpSp>
        <p:sp>
          <p:nvSpPr>
            <p:cNvPr id="70670" name="Line 26"/>
            <p:cNvSpPr>
              <a:spLocks noChangeShapeType="1"/>
            </p:cNvSpPr>
            <p:nvPr/>
          </p:nvSpPr>
          <p:spPr bwMode="auto">
            <a:xfrm flipV="1">
              <a:off x="2412" y="1717"/>
              <a:ext cx="0" cy="245"/>
            </a:xfrm>
            <a:prstGeom prst="line">
              <a:avLst/>
            </a:prstGeom>
            <a:noFill/>
            <a:ln w="19050">
              <a:solidFill>
                <a:srgbClr val="000000"/>
              </a:solidFill>
              <a:round/>
              <a:headEnd/>
              <a:tailEnd/>
            </a:ln>
          </p:spPr>
          <p:txBody>
            <a:bodyPr/>
            <a:lstStyle/>
            <a:p>
              <a:endParaRPr lang="zh-CN" altLang="en-US"/>
            </a:p>
          </p:txBody>
        </p:sp>
        <p:sp>
          <p:nvSpPr>
            <p:cNvPr id="70671" name="Line 27"/>
            <p:cNvSpPr>
              <a:spLocks noChangeShapeType="1"/>
            </p:cNvSpPr>
            <p:nvPr/>
          </p:nvSpPr>
          <p:spPr bwMode="auto">
            <a:xfrm flipH="1">
              <a:off x="2427" y="2191"/>
              <a:ext cx="0" cy="230"/>
            </a:xfrm>
            <a:prstGeom prst="line">
              <a:avLst/>
            </a:prstGeom>
            <a:noFill/>
            <a:ln w="19050">
              <a:solidFill>
                <a:srgbClr val="000000"/>
              </a:solidFill>
              <a:round/>
              <a:headEnd/>
              <a:tailEnd/>
            </a:ln>
          </p:spPr>
          <p:txBody>
            <a:bodyPr/>
            <a:lstStyle/>
            <a:p>
              <a:endParaRPr lang="zh-CN" altLang="en-US"/>
            </a:p>
          </p:txBody>
        </p:sp>
        <p:sp>
          <p:nvSpPr>
            <p:cNvPr id="70672" name="Line 28"/>
            <p:cNvSpPr>
              <a:spLocks noChangeShapeType="1"/>
            </p:cNvSpPr>
            <p:nvPr/>
          </p:nvSpPr>
          <p:spPr bwMode="auto">
            <a:xfrm>
              <a:off x="1278" y="2084"/>
              <a:ext cx="2940" cy="0"/>
            </a:xfrm>
            <a:prstGeom prst="line">
              <a:avLst/>
            </a:prstGeom>
            <a:noFill/>
            <a:ln w="9525">
              <a:solidFill>
                <a:srgbClr val="000000"/>
              </a:solidFill>
              <a:prstDash val="lgDashDot"/>
              <a:round/>
              <a:headEnd/>
              <a:tailEnd/>
            </a:ln>
          </p:spPr>
          <p:txBody>
            <a:bodyPr/>
            <a:lstStyle/>
            <a:p>
              <a:endParaRPr lang="zh-CN" altLang="en-US"/>
            </a:p>
          </p:txBody>
        </p:sp>
        <p:sp>
          <p:nvSpPr>
            <p:cNvPr id="70673" name="Oval 31"/>
            <p:cNvSpPr>
              <a:spLocks noChangeArrowheads="1"/>
            </p:cNvSpPr>
            <p:nvPr/>
          </p:nvSpPr>
          <p:spPr bwMode="auto">
            <a:xfrm>
              <a:off x="2721" y="2880"/>
              <a:ext cx="811" cy="812"/>
            </a:xfrm>
            <a:prstGeom prst="ellipse">
              <a:avLst/>
            </a:prstGeom>
            <a:noFill/>
            <a:ln w="9525">
              <a:solidFill>
                <a:srgbClr val="000000"/>
              </a:solidFill>
              <a:round/>
              <a:headEnd/>
              <a:tailEnd/>
            </a:ln>
          </p:spPr>
          <p:txBody>
            <a:bodyPr/>
            <a:lstStyle/>
            <a:p>
              <a:endParaRPr lang="zh-CN" altLang="en-US"/>
            </a:p>
          </p:txBody>
        </p:sp>
        <p:sp>
          <p:nvSpPr>
            <p:cNvPr id="70674" name="Rectangle 32"/>
            <p:cNvSpPr>
              <a:spLocks noChangeArrowheads="1"/>
            </p:cNvSpPr>
            <p:nvPr/>
          </p:nvSpPr>
          <p:spPr bwMode="auto">
            <a:xfrm rot="-2914843">
              <a:off x="2736" y="2972"/>
              <a:ext cx="153" cy="61"/>
            </a:xfrm>
            <a:prstGeom prst="rect">
              <a:avLst/>
            </a:prstGeom>
            <a:noFill/>
            <a:ln w="9525">
              <a:solidFill>
                <a:srgbClr val="000000"/>
              </a:solidFill>
              <a:miter lim="800000"/>
              <a:headEnd/>
              <a:tailEnd/>
            </a:ln>
          </p:spPr>
          <p:txBody>
            <a:bodyPr vert="eaVert"/>
            <a:lstStyle/>
            <a:p>
              <a:endParaRPr lang="zh-CN" altLang="en-US"/>
            </a:p>
          </p:txBody>
        </p:sp>
        <p:sp>
          <p:nvSpPr>
            <p:cNvPr id="70675" name="Rectangle 33"/>
            <p:cNvSpPr>
              <a:spLocks noChangeArrowheads="1"/>
            </p:cNvSpPr>
            <p:nvPr/>
          </p:nvSpPr>
          <p:spPr bwMode="auto">
            <a:xfrm>
              <a:off x="2657" y="3217"/>
              <a:ext cx="138" cy="138"/>
            </a:xfrm>
            <a:prstGeom prst="rect">
              <a:avLst/>
            </a:prstGeom>
            <a:solidFill>
              <a:schemeClr val="accent1"/>
            </a:solidFill>
            <a:ln w="9525">
              <a:noFill/>
              <a:miter lim="800000"/>
              <a:headEnd/>
              <a:tailEnd/>
            </a:ln>
          </p:spPr>
          <p:txBody>
            <a:bodyPr/>
            <a:lstStyle/>
            <a:p>
              <a:endParaRPr lang="zh-CN" altLang="en-US"/>
            </a:p>
          </p:txBody>
        </p:sp>
        <p:sp>
          <p:nvSpPr>
            <p:cNvPr id="70676" name="Line 34"/>
            <p:cNvSpPr>
              <a:spLocks noChangeShapeType="1"/>
            </p:cNvSpPr>
            <p:nvPr/>
          </p:nvSpPr>
          <p:spPr bwMode="auto">
            <a:xfrm flipV="1">
              <a:off x="1554" y="3171"/>
              <a:ext cx="1685" cy="123"/>
            </a:xfrm>
            <a:prstGeom prst="line">
              <a:avLst/>
            </a:prstGeom>
            <a:noFill/>
            <a:ln w="9525">
              <a:solidFill>
                <a:srgbClr val="000000"/>
              </a:solidFill>
              <a:round/>
              <a:headEnd/>
              <a:tailEnd/>
            </a:ln>
          </p:spPr>
          <p:txBody>
            <a:bodyPr/>
            <a:lstStyle/>
            <a:p>
              <a:endParaRPr lang="zh-CN" altLang="en-US"/>
            </a:p>
          </p:txBody>
        </p:sp>
        <p:sp>
          <p:nvSpPr>
            <p:cNvPr id="70677" name="Line 35"/>
            <p:cNvSpPr>
              <a:spLocks noChangeShapeType="1"/>
            </p:cNvSpPr>
            <p:nvPr/>
          </p:nvSpPr>
          <p:spPr bwMode="auto">
            <a:xfrm>
              <a:off x="1569" y="3294"/>
              <a:ext cx="1670" cy="107"/>
            </a:xfrm>
            <a:prstGeom prst="line">
              <a:avLst/>
            </a:prstGeom>
            <a:noFill/>
            <a:ln w="9525">
              <a:solidFill>
                <a:srgbClr val="000000"/>
              </a:solidFill>
              <a:round/>
              <a:headEnd/>
              <a:tailEnd/>
            </a:ln>
          </p:spPr>
          <p:txBody>
            <a:bodyPr/>
            <a:lstStyle/>
            <a:p>
              <a:endParaRPr lang="zh-CN" altLang="en-US"/>
            </a:p>
          </p:txBody>
        </p:sp>
        <p:sp>
          <p:nvSpPr>
            <p:cNvPr id="70678" name="Line 36"/>
            <p:cNvSpPr>
              <a:spLocks noChangeShapeType="1"/>
            </p:cNvSpPr>
            <p:nvPr/>
          </p:nvSpPr>
          <p:spPr bwMode="auto">
            <a:xfrm flipV="1">
              <a:off x="1661" y="3064"/>
              <a:ext cx="0" cy="169"/>
            </a:xfrm>
            <a:prstGeom prst="line">
              <a:avLst/>
            </a:prstGeom>
            <a:noFill/>
            <a:ln w="19050">
              <a:solidFill>
                <a:srgbClr val="000000"/>
              </a:solidFill>
              <a:round/>
              <a:headEnd/>
              <a:tailEnd/>
            </a:ln>
          </p:spPr>
          <p:txBody>
            <a:bodyPr/>
            <a:lstStyle/>
            <a:p>
              <a:endParaRPr lang="zh-CN" altLang="en-US"/>
            </a:p>
          </p:txBody>
        </p:sp>
        <p:sp>
          <p:nvSpPr>
            <p:cNvPr id="70679" name="Line 37"/>
            <p:cNvSpPr>
              <a:spLocks noChangeShapeType="1"/>
            </p:cNvSpPr>
            <p:nvPr/>
          </p:nvSpPr>
          <p:spPr bwMode="auto">
            <a:xfrm>
              <a:off x="1661" y="3340"/>
              <a:ext cx="0" cy="122"/>
            </a:xfrm>
            <a:prstGeom prst="line">
              <a:avLst/>
            </a:prstGeom>
            <a:noFill/>
            <a:ln w="19050">
              <a:solidFill>
                <a:srgbClr val="000000"/>
              </a:solidFill>
              <a:round/>
              <a:headEnd/>
              <a:tailEnd/>
            </a:ln>
          </p:spPr>
          <p:txBody>
            <a:bodyPr/>
            <a:lstStyle/>
            <a:p>
              <a:endParaRPr lang="zh-CN" altLang="en-US"/>
            </a:p>
          </p:txBody>
        </p:sp>
        <p:sp>
          <p:nvSpPr>
            <p:cNvPr id="70680" name="Line 38"/>
            <p:cNvSpPr>
              <a:spLocks noChangeShapeType="1"/>
            </p:cNvSpPr>
            <p:nvPr/>
          </p:nvSpPr>
          <p:spPr bwMode="auto">
            <a:xfrm flipV="1">
              <a:off x="2534" y="2957"/>
              <a:ext cx="0" cy="260"/>
            </a:xfrm>
            <a:prstGeom prst="line">
              <a:avLst/>
            </a:prstGeom>
            <a:noFill/>
            <a:ln w="19050">
              <a:solidFill>
                <a:srgbClr val="000000"/>
              </a:solidFill>
              <a:round/>
              <a:headEnd/>
              <a:tailEnd/>
            </a:ln>
          </p:spPr>
          <p:txBody>
            <a:bodyPr/>
            <a:lstStyle/>
            <a:p>
              <a:endParaRPr lang="zh-CN" altLang="en-US"/>
            </a:p>
          </p:txBody>
        </p:sp>
        <p:sp>
          <p:nvSpPr>
            <p:cNvPr id="70681" name="Line 39"/>
            <p:cNvSpPr>
              <a:spLocks noChangeShapeType="1"/>
            </p:cNvSpPr>
            <p:nvPr/>
          </p:nvSpPr>
          <p:spPr bwMode="auto">
            <a:xfrm>
              <a:off x="2534" y="3355"/>
              <a:ext cx="0" cy="199"/>
            </a:xfrm>
            <a:prstGeom prst="line">
              <a:avLst/>
            </a:prstGeom>
            <a:noFill/>
            <a:ln w="19050">
              <a:solidFill>
                <a:srgbClr val="000000"/>
              </a:solidFill>
              <a:round/>
              <a:headEnd/>
              <a:tailEnd/>
            </a:ln>
          </p:spPr>
          <p:txBody>
            <a:bodyPr/>
            <a:lstStyle/>
            <a:p>
              <a:endParaRPr lang="zh-CN" altLang="en-US"/>
            </a:p>
          </p:txBody>
        </p:sp>
        <p:sp>
          <p:nvSpPr>
            <p:cNvPr id="70682" name="Line 40"/>
            <p:cNvSpPr>
              <a:spLocks noChangeShapeType="1"/>
            </p:cNvSpPr>
            <p:nvPr/>
          </p:nvSpPr>
          <p:spPr bwMode="auto">
            <a:xfrm>
              <a:off x="1554" y="3294"/>
              <a:ext cx="2128" cy="0"/>
            </a:xfrm>
            <a:prstGeom prst="line">
              <a:avLst/>
            </a:prstGeom>
            <a:noFill/>
            <a:ln w="9525">
              <a:solidFill>
                <a:srgbClr val="000000"/>
              </a:solidFill>
              <a:prstDash val="lgDashDot"/>
              <a:round/>
              <a:headEnd/>
              <a:tailEnd/>
            </a:ln>
          </p:spPr>
          <p:txBody>
            <a:bodyPr/>
            <a:lstStyle/>
            <a:p>
              <a:endParaRPr lang="zh-CN" altLang="en-US"/>
            </a:p>
          </p:txBody>
        </p:sp>
        <p:sp>
          <p:nvSpPr>
            <p:cNvPr id="70683" name="Text Box 41"/>
            <p:cNvSpPr txBox="1">
              <a:spLocks noChangeArrowheads="1"/>
            </p:cNvSpPr>
            <p:nvPr/>
          </p:nvSpPr>
          <p:spPr bwMode="auto">
            <a:xfrm>
              <a:off x="2488" y="2436"/>
              <a:ext cx="444" cy="307"/>
            </a:xfrm>
            <a:prstGeom prst="rect">
              <a:avLst/>
            </a:prstGeom>
            <a:noFill/>
            <a:ln w="9525">
              <a:noFill/>
              <a:miter lim="800000"/>
              <a:headEnd/>
              <a:tailEnd/>
            </a:ln>
          </p:spPr>
          <p:txBody>
            <a:bodyPr/>
            <a:lstStyle/>
            <a:p>
              <a:pPr algn="just"/>
              <a:r>
                <a:rPr lang="en-US" altLang="zh-CN">
                  <a:latin typeface="Times New Roman" pitchFamily="18" charset="0"/>
                </a:rPr>
                <a:t>a)</a:t>
              </a:r>
              <a:endParaRPr lang="en-US" altLang="zh-CN"/>
            </a:p>
          </p:txBody>
        </p:sp>
        <p:sp>
          <p:nvSpPr>
            <p:cNvPr id="70684" name="Text Box 42"/>
            <p:cNvSpPr txBox="1">
              <a:spLocks noChangeArrowheads="1"/>
            </p:cNvSpPr>
            <p:nvPr/>
          </p:nvSpPr>
          <p:spPr bwMode="auto">
            <a:xfrm>
              <a:off x="2534" y="3692"/>
              <a:ext cx="551" cy="337"/>
            </a:xfrm>
            <a:prstGeom prst="rect">
              <a:avLst/>
            </a:prstGeom>
            <a:noFill/>
            <a:ln w="9525">
              <a:noFill/>
              <a:miter lim="800000"/>
              <a:headEnd/>
              <a:tailEnd/>
            </a:ln>
          </p:spPr>
          <p:txBody>
            <a:bodyPr/>
            <a:lstStyle/>
            <a:p>
              <a:pPr algn="just"/>
              <a:r>
                <a:rPr lang="en-US" altLang="zh-CN">
                  <a:latin typeface="Times New Roman" pitchFamily="18" charset="0"/>
                </a:rPr>
                <a:t>b)</a:t>
              </a:r>
              <a:endParaRPr lang="en-US" altLang="zh-CN"/>
            </a:p>
          </p:txBody>
        </p:sp>
        <p:sp>
          <p:nvSpPr>
            <p:cNvPr id="70685" name="Text Box 43"/>
            <p:cNvSpPr txBox="1">
              <a:spLocks noChangeArrowheads="1"/>
            </p:cNvSpPr>
            <p:nvPr/>
          </p:nvSpPr>
          <p:spPr bwMode="auto">
            <a:xfrm>
              <a:off x="1324" y="1517"/>
              <a:ext cx="368" cy="337"/>
            </a:xfrm>
            <a:prstGeom prst="rect">
              <a:avLst/>
            </a:prstGeom>
            <a:noFill/>
            <a:ln w="9525">
              <a:noFill/>
              <a:miter lim="800000"/>
              <a:headEnd/>
              <a:tailEnd/>
            </a:ln>
          </p:spPr>
          <p:txBody>
            <a:bodyPr/>
            <a:lstStyle/>
            <a:p>
              <a:pPr algn="just"/>
              <a:r>
                <a:rPr lang="en-US" altLang="zh-CN" i="1">
                  <a:latin typeface="Times New Roman" pitchFamily="18" charset="0"/>
                </a:rPr>
                <a:t>S</a:t>
              </a:r>
              <a:endParaRPr lang="en-US" altLang="zh-CN"/>
            </a:p>
          </p:txBody>
        </p:sp>
        <p:sp>
          <p:nvSpPr>
            <p:cNvPr id="70686" name="Text Box 44"/>
            <p:cNvSpPr txBox="1">
              <a:spLocks noChangeArrowheads="1"/>
            </p:cNvSpPr>
            <p:nvPr/>
          </p:nvSpPr>
          <p:spPr bwMode="auto">
            <a:xfrm>
              <a:off x="2120" y="1487"/>
              <a:ext cx="368" cy="337"/>
            </a:xfrm>
            <a:prstGeom prst="rect">
              <a:avLst/>
            </a:prstGeom>
            <a:noFill/>
            <a:ln w="9525">
              <a:noFill/>
              <a:miter lim="800000"/>
              <a:headEnd/>
              <a:tailEnd/>
            </a:ln>
          </p:spPr>
          <p:txBody>
            <a:bodyPr/>
            <a:lstStyle/>
            <a:p>
              <a:pPr algn="just"/>
              <a:r>
                <a:rPr lang="en-US" altLang="zh-CN" i="1">
                  <a:latin typeface="Times New Roman" pitchFamily="18" charset="0"/>
                </a:rPr>
                <a:t>A</a:t>
              </a:r>
              <a:endParaRPr lang="en-US" altLang="zh-CN"/>
            </a:p>
          </p:txBody>
        </p:sp>
        <p:sp>
          <p:nvSpPr>
            <p:cNvPr id="70687" name="Text Box 45"/>
            <p:cNvSpPr txBox="1">
              <a:spLocks noChangeArrowheads="1"/>
            </p:cNvSpPr>
            <p:nvPr/>
          </p:nvSpPr>
          <p:spPr bwMode="auto">
            <a:xfrm>
              <a:off x="2595" y="1517"/>
              <a:ext cx="368" cy="337"/>
            </a:xfrm>
            <a:prstGeom prst="rect">
              <a:avLst/>
            </a:prstGeom>
            <a:noFill/>
            <a:ln w="9525">
              <a:noFill/>
              <a:miter lim="800000"/>
              <a:headEnd/>
              <a:tailEnd/>
            </a:ln>
          </p:spPr>
          <p:txBody>
            <a:bodyPr/>
            <a:lstStyle/>
            <a:p>
              <a:pPr algn="just"/>
              <a:r>
                <a:rPr lang="en-US" altLang="zh-CN" i="1">
                  <a:latin typeface="Times New Roman" pitchFamily="18" charset="0"/>
                </a:rPr>
                <a:t>O</a:t>
              </a:r>
              <a:endParaRPr lang="en-US" altLang="zh-CN"/>
            </a:p>
          </p:txBody>
        </p:sp>
        <p:sp>
          <p:nvSpPr>
            <p:cNvPr id="70688" name="Text Box 46"/>
            <p:cNvSpPr txBox="1">
              <a:spLocks noChangeArrowheads="1"/>
            </p:cNvSpPr>
            <p:nvPr/>
          </p:nvSpPr>
          <p:spPr bwMode="auto">
            <a:xfrm>
              <a:off x="3143" y="1483"/>
              <a:ext cx="367" cy="337"/>
            </a:xfrm>
            <a:prstGeom prst="rect">
              <a:avLst/>
            </a:prstGeom>
            <a:noFill/>
            <a:ln w="9525">
              <a:noFill/>
              <a:miter lim="800000"/>
              <a:headEnd/>
              <a:tailEnd/>
            </a:ln>
          </p:spPr>
          <p:txBody>
            <a:bodyPr/>
            <a:lstStyle/>
            <a:p>
              <a:pPr algn="just"/>
              <a:r>
                <a:rPr lang="en-US" altLang="zh-CN" i="1">
                  <a:latin typeface="Times New Roman" pitchFamily="18" charset="0"/>
                </a:rPr>
                <a:t>D</a:t>
              </a:r>
              <a:endParaRPr lang="en-US" altLang="zh-CN"/>
            </a:p>
          </p:txBody>
        </p:sp>
        <p:sp>
          <p:nvSpPr>
            <p:cNvPr id="70689" name="Text Box 47"/>
            <p:cNvSpPr txBox="1">
              <a:spLocks noChangeArrowheads="1"/>
            </p:cNvSpPr>
            <p:nvPr/>
          </p:nvSpPr>
          <p:spPr bwMode="auto">
            <a:xfrm>
              <a:off x="3847" y="1498"/>
              <a:ext cx="368" cy="337"/>
            </a:xfrm>
            <a:prstGeom prst="rect">
              <a:avLst/>
            </a:prstGeom>
            <a:noFill/>
            <a:ln w="9525">
              <a:noFill/>
              <a:miter lim="800000"/>
              <a:headEnd/>
              <a:tailEnd/>
            </a:ln>
          </p:spPr>
          <p:txBody>
            <a:bodyPr/>
            <a:lstStyle/>
            <a:p>
              <a:pPr algn="just"/>
              <a:r>
                <a:rPr lang="en-US" altLang="zh-CN" i="1">
                  <a:latin typeface="Times New Roman" pitchFamily="18" charset="0"/>
                </a:rPr>
                <a:t>I</a:t>
              </a:r>
              <a:endParaRPr lang="en-US" altLang="zh-CN"/>
            </a:p>
          </p:txBody>
        </p:sp>
      </p:grpSp>
      <p:sp>
        <p:nvSpPr>
          <p:cNvPr id="484400" name="AutoShape 48"/>
          <p:cNvSpPr>
            <a:spLocks noChangeArrowheads="1"/>
          </p:cNvSpPr>
          <p:nvPr/>
        </p:nvSpPr>
        <p:spPr bwMode="auto">
          <a:xfrm>
            <a:off x="4586288" y="0"/>
            <a:ext cx="4340225" cy="2844800"/>
          </a:xfrm>
          <a:prstGeom prst="star16">
            <a:avLst>
              <a:gd name="adj" fmla="val 37500"/>
            </a:avLst>
          </a:prstGeom>
          <a:solidFill>
            <a:schemeClr val="accent1"/>
          </a:solidFill>
          <a:ln w="9525">
            <a:solidFill>
              <a:schemeClr val="tx1"/>
            </a:solidFill>
            <a:miter lim="800000"/>
            <a:headEnd/>
            <a:tailEnd/>
          </a:ln>
          <a:effectLst/>
        </p:spPr>
        <p:txBody>
          <a:bodyPr wrap="none" anchor="ctr"/>
          <a:lstStyle/>
          <a:p>
            <a:pPr algn="ctr">
              <a:defRPr/>
            </a:pPr>
            <a:r>
              <a:rPr lang="zh-CN" altLang="en-US" sz="2400" b="1">
                <a:solidFill>
                  <a:srgbClr val="FF0000"/>
                </a:solidFill>
                <a:effectLst>
                  <a:outerShdw blurRad="38100" dist="38100" dir="2700000" algn="tl">
                    <a:srgbClr val="000000"/>
                  </a:outerShdw>
                </a:effectLst>
                <a:latin typeface="Times New Roman" pitchFamily="18" charset="0"/>
                <a:ea typeface="黑体" pitchFamily="2" charset="-122"/>
              </a:rPr>
              <a:t>注意</a:t>
            </a:r>
            <a:r>
              <a:rPr lang="zh-CN" altLang="en-US" sz="2400" b="1">
                <a:effectLst>
                  <a:outerShdw blurRad="38100" dist="38100" dir="2700000" algn="tl">
                    <a:srgbClr val="FFFFFF"/>
                  </a:outerShdw>
                </a:effectLst>
                <a:latin typeface="Times New Roman" pitchFamily="18" charset="0"/>
                <a:ea typeface="黑体" pitchFamily="2" charset="-122"/>
              </a:rPr>
              <a:t>：会聚光路中</a:t>
            </a:r>
          </a:p>
          <a:p>
            <a:pPr algn="ctr">
              <a:defRPr/>
            </a:pPr>
            <a:r>
              <a:rPr lang="zh-CN" altLang="en-US" sz="2400" b="1">
                <a:effectLst>
                  <a:outerShdw blurRad="38100" dist="38100" dir="2700000" algn="tl">
                    <a:srgbClr val="FFFFFF"/>
                  </a:outerShdw>
                </a:effectLst>
                <a:latin typeface="Times New Roman" pitchFamily="18" charset="0"/>
                <a:ea typeface="黑体" pitchFamily="2" charset="-122"/>
              </a:rPr>
              <a:t>积分球的位置变化和</a:t>
            </a:r>
          </a:p>
          <a:p>
            <a:pPr algn="ctr">
              <a:defRPr/>
            </a:pPr>
            <a:r>
              <a:rPr lang="zh-CN" altLang="en-US" sz="2400" b="1">
                <a:effectLst>
                  <a:outerShdw blurRad="38100" dist="38100" dir="2700000" algn="tl">
                    <a:srgbClr val="FFFFFF"/>
                  </a:outerShdw>
                </a:effectLst>
                <a:latin typeface="Times New Roman" pitchFamily="18" charset="0"/>
                <a:ea typeface="黑体" pitchFamily="2" charset="-122"/>
              </a:rPr>
              <a:t>光束控制</a:t>
            </a:r>
            <a:r>
              <a:rPr lang="en-US" altLang="zh-CN" sz="2400" b="1">
                <a:effectLst>
                  <a:outerShdw blurRad="38100" dist="38100" dir="2700000" algn="tl">
                    <a:srgbClr val="FFFFFF"/>
                  </a:outerShdw>
                </a:effectLst>
                <a:latin typeface="Times New Roman" pitchFamily="18" charset="0"/>
                <a:ea typeface="黑体" pitchFamily="2" charset="-122"/>
              </a:rPr>
              <a:t>—</a:t>
            </a:r>
            <a:r>
              <a:rPr lang="zh-CN" altLang="en-US" sz="2400" b="1">
                <a:solidFill>
                  <a:srgbClr val="FF0000"/>
                </a:solidFill>
                <a:effectLst>
                  <a:outerShdw blurRad="38100" dist="38100" dir="2700000" algn="tl">
                    <a:srgbClr val="000000"/>
                  </a:outerShdw>
                </a:effectLst>
                <a:latin typeface="Times New Roman" pitchFamily="18" charset="0"/>
                <a:ea typeface="黑体" pitchFamily="2" charset="-122"/>
              </a:rPr>
              <a:t>不切割光束</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4400"/>
                                        </p:tgtEl>
                                        <p:attrNameLst>
                                          <p:attrName>style.visibility</p:attrName>
                                        </p:attrNameLst>
                                      </p:cBhvr>
                                      <p:to>
                                        <p:strVal val="visible"/>
                                      </p:to>
                                    </p:set>
                                    <p:animEffect transition="in" filter="checkerboard(across)">
                                      <p:cBhvr>
                                        <p:cTn id="7" dur="500"/>
                                        <p:tgtEl>
                                          <p:spTgt spid="484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40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a:spLocks noGrp="1"/>
          </p:cNvSpPr>
          <p:nvPr>
            <p:ph type="dt" sz="quarter" idx="10"/>
          </p:nvPr>
        </p:nvSpPr>
        <p:spPr>
          <a:noFill/>
        </p:spPr>
        <p:txBody>
          <a:bodyPr/>
          <a:lstStyle/>
          <a:p>
            <a:fld id="{5EC5CCB1-F2BF-48DC-8424-EF9268845BE8}" type="datetime1">
              <a:rPr lang="zh-CN" altLang="en-US" smtClean="0">
                <a:ea typeface="宋体" charset="-122"/>
              </a:rPr>
              <a:pPr/>
              <a:t>2018/2/24</a:t>
            </a:fld>
            <a:endParaRPr lang="en-US" altLang="zh-CN" smtClean="0">
              <a:ea typeface="宋体" charset="-122"/>
            </a:endParaRPr>
          </a:p>
        </p:txBody>
      </p:sp>
      <p:sp>
        <p:nvSpPr>
          <p:cNvPr id="71683" name="灯片编号占位符 5"/>
          <p:cNvSpPr>
            <a:spLocks noGrp="1"/>
          </p:cNvSpPr>
          <p:nvPr>
            <p:ph type="sldNum" sz="quarter" idx="12"/>
          </p:nvPr>
        </p:nvSpPr>
        <p:spPr>
          <a:noFill/>
        </p:spPr>
        <p:txBody>
          <a:bodyPr/>
          <a:lstStyle/>
          <a:p>
            <a:fld id="{6B7EA13D-5AAB-432E-8F2E-2F3B5576879D}" type="slidenum">
              <a:rPr lang="en-US" altLang="zh-CN" smtClean="0">
                <a:ea typeface="宋体" charset="-122"/>
              </a:rPr>
              <a:pPr/>
              <a:t>67</a:t>
            </a:fld>
            <a:endParaRPr lang="en-US" altLang="zh-CN" smtClean="0">
              <a:ea typeface="宋体" charset="-122"/>
            </a:endParaRPr>
          </a:p>
        </p:txBody>
      </p:sp>
      <p:sp>
        <p:nvSpPr>
          <p:cNvPr id="485378"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5379" name="Rectangle 3"/>
          <p:cNvSpPr>
            <a:spLocks noGrp="1" noRot="1" noChangeArrowheads="1"/>
          </p:cNvSpPr>
          <p:nvPr>
            <p:ph type="body" idx="1"/>
          </p:nvPr>
        </p:nvSpPr>
        <p:spPr>
          <a:xfrm>
            <a:off x="296863" y="1349375"/>
            <a:ext cx="8550275" cy="2251075"/>
          </a:xfrm>
        </p:spPr>
        <p:txBody>
          <a:bodyPr/>
          <a:lstStyle/>
          <a:p>
            <a:pPr marL="623888" indent="-623888" eaLnBrk="1" hangingPunct="1">
              <a:buFont typeface="Wingdings" pitchFamily="2" charset="2"/>
              <a:buNone/>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623888" indent="-623888" eaLnBrk="1" hangingPunct="1">
              <a:buFont typeface="Wingdings" pitchFamily="2" charset="2"/>
              <a:buNone/>
              <a:defRPr/>
            </a:pPr>
            <a:r>
              <a:rPr lang="en-US" altLang="zh-CN" smtClean="0">
                <a:latin typeface="Times New Roman" pitchFamily="18" charset="0"/>
                <a:ea typeface="黑体" pitchFamily="2" charset="-122"/>
              </a:rPr>
              <a:t>2)  </a:t>
            </a:r>
            <a:r>
              <a:rPr lang="zh-CN" altLang="en-US" smtClean="0">
                <a:latin typeface="Times New Roman" pitchFamily="18" charset="0"/>
                <a:ea typeface="黑体" pitchFamily="2" charset="-122"/>
              </a:rPr>
              <a:t>照相物镜轴外点透过率的测量</a:t>
            </a:r>
          </a:p>
          <a:p>
            <a:pPr marL="623888" indent="-623888" eaLnBrk="1" hangingPunct="1">
              <a:defRPr/>
            </a:pPr>
            <a:r>
              <a:rPr lang="zh-CN" altLang="en-US" smtClean="0">
                <a:latin typeface="Times New Roman" pitchFamily="18" charset="0"/>
                <a:ea typeface="黑体" pitchFamily="2" charset="-122"/>
              </a:rPr>
              <a:t>**应注意使入射光束的中心通过入瞳中心。</a:t>
            </a:r>
          </a:p>
        </p:txBody>
      </p:sp>
      <p:sp>
        <p:nvSpPr>
          <p:cNvPr id="71686"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1687"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1688"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7"/>
          <p:cNvGrpSpPr>
            <a:grpSpLocks/>
          </p:cNvGrpSpPr>
          <p:nvPr/>
        </p:nvGrpSpPr>
        <p:grpSpPr bwMode="auto">
          <a:xfrm>
            <a:off x="419100" y="2743200"/>
            <a:ext cx="8650288" cy="3367088"/>
            <a:chOff x="201" y="1728"/>
            <a:chExt cx="5449" cy="2121"/>
          </a:xfrm>
        </p:grpSpPr>
        <p:sp>
          <p:nvSpPr>
            <p:cNvPr id="71690" name="Rectangle 8"/>
            <p:cNvSpPr>
              <a:spLocks noChangeArrowheads="1"/>
            </p:cNvSpPr>
            <p:nvPr/>
          </p:nvSpPr>
          <p:spPr bwMode="auto">
            <a:xfrm>
              <a:off x="201" y="1728"/>
              <a:ext cx="5422" cy="2121"/>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71691" name="Text Box 9"/>
            <p:cNvSpPr txBox="1">
              <a:spLocks noChangeArrowheads="1"/>
            </p:cNvSpPr>
            <p:nvPr/>
          </p:nvSpPr>
          <p:spPr bwMode="auto">
            <a:xfrm>
              <a:off x="337" y="2106"/>
              <a:ext cx="432" cy="397"/>
            </a:xfrm>
            <a:prstGeom prst="rect">
              <a:avLst/>
            </a:prstGeom>
            <a:noFill/>
            <a:ln w="9525">
              <a:noFill/>
              <a:miter lim="800000"/>
              <a:headEnd/>
              <a:tailEnd/>
            </a:ln>
          </p:spPr>
          <p:txBody>
            <a:bodyPr/>
            <a:lstStyle/>
            <a:p>
              <a:pPr algn="just"/>
              <a:r>
                <a:rPr lang="en-US" altLang="zh-CN" i="1">
                  <a:latin typeface="Times New Roman" pitchFamily="18" charset="0"/>
                </a:rPr>
                <a:t>S</a:t>
              </a: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endParaRPr lang="en-US" altLang="zh-CN"/>
            </a:p>
          </p:txBody>
        </p:sp>
        <p:sp>
          <p:nvSpPr>
            <p:cNvPr id="71692" name="Text Box 10"/>
            <p:cNvSpPr txBox="1">
              <a:spLocks noChangeArrowheads="1"/>
            </p:cNvSpPr>
            <p:nvPr/>
          </p:nvSpPr>
          <p:spPr bwMode="auto">
            <a:xfrm>
              <a:off x="3374" y="1962"/>
              <a:ext cx="433" cy="397"/>
            </a:xfrm>
            <a:prstGeom prst="rect">
              <a:avLst/>
            </a:prstGeom>
            <a:noFill/>
            <a:ln w="9525">
              <a:noFill/>
              <a:miter lim="800000"/>
              <a:headEnd/>
              <a:tailEnd/>
            </a:ln>
          </p:spPr>
          <p:txBody>
            <a:bodyPr/>
            <a:lstStyle/>
            <a:p>
              <a:pPr algn="just"/>
              <a:r>
                <a:rPr lang="en-US" altLang="zh-CN" i="1">
                  <a:latin typeface="Times New Roman" pitchFamily="18" charset="0"/>
                </a:rPr>
                <a:t>A</a:t>
              </a:r>
              <a:endParaRPr lang="en-US" altLang="zh-CN"/>
            </a:p>
          </p:txBody>
        </p:sp>
        <p:sp>
          <p:nvSpPr>
            <p:cNvPr id="71693" name="Text Box 11"/>
            <p:cNvSpPr txBox="1">
              <a:spLocks noChangeArrowheads="1"/>
            </p:cNvSpPr>
            <p:nvPr/>
          </p:nvSpPr>
          <p:spPr bwMode="auto">
            <a:xfrm>
              <a:off x="3739" y="1985"/>
              <a:ext cx="433" cy="396"/>
            </a:xfrm>
            <a:prstGeom prst="rect">
              <a:avLst/>
            </a:prstGeom>
            <a:noFill/>
            <a:ln w="9525">
              <a:noFill/>
              <a:miter lim="800000"/>
              <a:headEnd/>
              <a:tailEnd/>
            </a:ln>
          </p:spPr>
          <p:txBody>
            <a:bodyPr/>
            <a:lstStyle/>
            <a:p>
              <a:pPr algn="just"/>
              <a:r>
                <a:rPr lang="en-US" altLang="zh-CN" i="1">
                  <a:latin typeface="Times New Roman" pitchFamily="18" charset="0"/>
                </a:rPr>
                <a:t>O</a:t>
              </a: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endParaRPr lang="en-US" altLang="zh-CN"/>
            </a:p>
          </p:txBody>
        </p:sp>
        <p:sp>
          <p:nvSpPr>
            <p:cNvPr id="71694" name="Text Box 12"/>
            <p:cNvSpPr txBox="1">
              <a:spLocks noChangeArrowheads="1"/>
            </p:cNvSpPr>
            <p:nvPr/>
          </p:nvSpPr>
          <p:spPr bwMode="auto">
            <a:xfrm>
              <a:off x="4226" y="1989"/>
              <a:ext cx="433" cy="397"/>
            </a:xfrm>
            <a:prstGeom prst="rect">
              <a:avLst/>
            </a:prstGeom>
            <a:noFill/>
            <a:ln w="9525">
              <a:noFill/>
              <a:miter lim="800000"/>
              <a:headEnd/>
              <a:tailEnd/>
            </a:ln>
          </p:spPr>
          <p:txBody>
            <a:bodyPr/>
            <a:lstStyle/>
            <a:p>
              <a:pPr algn="just"/>
              <a:r>
                <a:rPr lang="en-US" altLang="zh-CN" i="1">
                  <a:latin typeface="Times New Roman" pitchFamily="18" charset="0"/>
                </a:rPr>
                <a:t>D</a:t>
              </a:r>
              <a:endParaRPr lang="en-US" altLang="zh-CN"/>
            </a:p>
          </p:txBody>
        </p:sp>
        <p:sp>
          <p:nvSpPr>
            <p:cNvPr id="71695" name="Text Box 13"/>
            <p:cNvSpPr txBox="1">
              <a:spLocks noChangeArrowheads="1"/>
            </p:cNvSpPr>
            <p:nvPr/>
          </p:nvSpPr>
          <p:spPr bwMode="auto">
            <a:xfrm>
              <a:off x="5217" y="2228"/>
              <a:ext cx="433" cy="397"/>
            </a:xfrm>
            <a:prstGeom prst="rect">
              <a:avLst/>
            </a:prstGeom>
            <a:noFill/>
            <a:ln w="9525">
              <a:noFill/>
              <a:miter lim="800000"/>
              <a:headEnd/>
              <a:tailEnd/>
            </a:ln>
          </p:spPr>
          <p:txBody>
            <a:bodyPr/>
            <a:lstStyle/>
            <a:p>
              <a:pPr algn="just"/>
              <a:r>
                <a:rPr lang="en-US" altLang="zh-CN" i="1">
                  <a:latin typeface="Times New Roman" pitchFamily="18" charset="0"/>
                </a:rPr>
                <a:t>I</a:t>
              </a: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endParaRPr lang="en-US" altLang="zh-CN"/>
            </a:p>
          </p:txBody>
        </p:sp>
        <p:sp>
          <p:nvSpPr>
            <p:cNvPr id="71696" name="Line 14"/>
            <p:cNvSpPr>
              <a:spLocks noChangeShapeType="1"/>
            </p:cNvSpPr>
            <p:nvPr/>
          </p:nvSpPr>
          <p:spPr bwMode="auto">
            <a:xfrm>
              <a:off x="485" y="2422"/>
              <a:ext cx="0" cy="198"/>
            </a:xfrm>
            <a:prstGeom prst="line">
              <a:avLst/>
            </a:prstGeom>
            <a:noFill/>
            <a:ln w="19050">
              <a:solidFill>
                <a:srgbClr val="000000"/>
              </a:solidFill>
              <a:round/>
              <a:headEnd/>
              <a:tailEnd/>
            </a:ln>
          </p:spPr>
          <p:txBody>
            <a:bodyPr/>
            <a:lstStyle/>
            <a:p>
              <a:endParaRPr lang="zh-CN" altLang="en-US"/>
            </a:p>
          </p:txBody>
        </p:sp>
        <p:sp>
          <p:nvSpPr>
            <p:cNvPr id="71697" name="Line 15"/>
            <p:cNvSpPr>
              <a:spLocks noChangeShapeType="1"/>
            </p:cNvSpPr>
            <p:nvPr/>
          </p:nvSpPr>
          <p:spPr bwMode="auto">
            <a:xfrm>
              <a:off x="485" y="2783"/>
              <a:ext cx="0" cy="162"/>
            </a:xfrm>
            <a:prstGeom prst="line">
              <a:avLst/>
            </a:prstGeom>
            <a:noFill/>
            <a:ln w="19050">
              <a:solidFill>
                <a:srgbClr val="000000"/>
              </a:solidFill>
              <a:round/>
              <a:headEnd/>
              <a:tailEnd/>
            </a:ln>
          </p:spPr>
          <p:txBody>
            <a:bodyPr/>
            <a:lstStyle/>
            <a:p>
              <a:endParaRPr lang="zh-CN" altLang="en-US"/>
            </a:p>
          </p:txBody>
        </p:sp>
        <p:sp>
          <p:nvSpPr>
            <p:cNvPr id="71698" name="Line 16"/>
            <p:cNvSpPr>
              <a:spLocks noChangeShapeType="1"/>
            </p:cNvSpPr>
            <p:nvPr/>
          </p:nvSpPr>
          <p:spPr bwMode="auto">
            <a:xfrm>
              <a:off x="2054" y="2692"/>
              <a:ext cx="3461" cy="0"/>
            </a:xfrm>
            <a:prstGeom prst="line">
              <a:avLst/>
            </a:prstGeom>
            <a:noFill/>
            <a:ln w="9525">
              <a:solidFill>
                <a:srgbClr val="000000"/>
              </a:solidFill>
              <a:prstDash val="lgDashDot"/>
              <a:round/>
              <a:headEnd/>
              <a:tailEnd/>
            </a:ln>
          </p:spPr>
          <p:txBody>
            <a:bodyPr/>
            <a:lstStyle/>
            <a:p>
              <a:endParaRPr lang="zh-CN" altLang="en-US"/>
            </a:p>
          </p:txBody>
        </p:sp>
        <p:grpSp>
          <p:nvGrpSpPr>
            <p:cNvPr id="3" name="Group 17"/>
            <p:cNvGrpSpPr>
              <a:grpSpLocks/>
            </p:cNvGrpSpPr>
            <p:nvPr/>
          </p:nvGrpSpPr>
          <p:grpSpPr bwMode="auto">
            <a:xfrm>
              <a:off x="4322" y="2224"/>
              <a:ext cx="1031" cy="955"/>
              <a:chOff x="7997" y="12200"/>
              <a:chExt cx="1143" cy="1060"/>
            </a:xfrm>
          </p:grpSpPr>
          <p:sp>
            <p:nvSpPr>
              <p:cNvPr id="71724" name="Oval 18"/>
              <p:cNvSpPr>
                <a:spLocks noChangeArrowheads="1"/>
              </p:cNvSpPr>
              <p:nvPr/>
            </p:nvSpPr>
            <p:spPr bwMode="auto">
              <a:xfrm>
                <a:off x="8080" y="12200"/>
                <a:ext cx="1060" cy="1060"/>
              </a:xfrm>
              <a:prstGeom prst="ellipse">
                <a:avLst/>
              </a:prstGeom>
              <a:noFill/>
              <a:ln w="9525">
                <a:solidFill>
                  <a:srgbClr val="000000"/>
                </a:solidFill>
                <a:round/>
                <a:headEnd/>
                <a:tailEnd/>
              </a:ln>
            </p:spPr>
            <p:txBody>
              <a:bodyPr/>
              <a:lstStyle/>
              <a:p>
                <a:endParaRPr lang="zh-CN" altLang="en-US"/>
              </a:p>
            </p:txBody>
          </p:sp>
          <p:sp>
            <p:nvSpPr>
              <p:cNvPr id="71725" name="Rectangle 19"/>
              <p:cNvSpPr>
                <a:spLocks noChangeArrowheads="1"/>
              </p:cNvSpPr>
              <p:nvPr/>
            </p:nvSpPr>
            <p:spPr bwMode="auto">
              <a:xfrm rot="-2914843">
                <a:off x="8100" y="12320"/>
                <a:ext cx="200" cy="80"/>
              </a:xfrm>
              <a:prstGeom prst="rect">
                <a:avLst/>
              </a:prstGeom>
              <a:noFill/>
              <a:ln w="9525">
                <a:solidFill>
                  <a:srgbClr val="000000"/>
                </a:solidFill>
                <a:miter lim="800000"/>
                <a:headEnd/>
                <a:tailEnd/>
              </a:ln>
            </p:spPr>
            <p:txBody>
              <a:bodyPr/>
              <a:lstStyle/>
              <a:p>
                <a:endParaRPr lang="zh-CN" altLang="en-US"/>
              </a:p>
            </p:txBody>
          </p:sp>
          <p:sp>
            <p:nvSpPr>
              <p:cNvPr id="71726" name="Rectangle 20"/>
              <p:cNvSpPr>
                <a:spLocks noChangeArrowheads="1"/>
              </p:cNvSpPr>
              <p:nvPr/>
            </p:nvSpPr>
            <p:spPr bwMode="auto">
              <a:xfrm>
                <a:off x="7997" y="12640"/>
                <a:ext cx="180" cy="180"/>
              </a:xfrm>
              <a:prstGeom prst="rect">
                <a:avLst/>
              </a:prstGeom>
              <a:solidFill>
                <a:schemeClr val="accent1"/>
              </a:solidFill>
              <a:ln w="9525">
                <a:noFill/>
                <a:miter lim="800000"/>
                <a:headEnd/>
                <a:tailEnd/>
              </a:ln>
            </p:spPr>
            <p:txBody>
              <a:bodyPr/>
              <a:lstStyle/>
              <a:p>
                <a:endParaRPr lang="zh-CN" altLang="en-US"/>
              </a:p>
            </p:txBody>
          </p:sp>
        </p:grpSp>
        <p:sp>
          <p:nvSpPr>
            <p:cNvPr id="71700" name="Oval 21"/>
            <p:cNvSpPr>
              <a:spLocks noChangeArrowheads="1"/>
            </p:cNvSpPr>
            <p:nvPr/>
          </p:nvSpPr>
          <p:spPr bwMode="auto">
            <a:xfrm rot="1284922">
              <a:off x="3569" y="2412"/>
              <a:ext cx="248" cy="701"/>
            </a:xfrm>
            <a:prstGeom prst="ellipse">
              <a:avLst/>
            </a:prstGeom>
            <a:noFill/>
            <a:ln w="9525">
              <a:solidFill>
                <a:srgbClr val="000000"/>
              </a:solidFill>
              <a:round/>
              <a:headEnd/>
              <a:tailEnd/>
            </a:ln>
          </p:spPr>
          <p:txBody>
            <a:bodyPr/>
            <a:lstStyle/>
            <a:p>
              <a:endParaRPr lang="zh-CN" altLang="en-US"/>
            </a:p>
          </p:txBody>
        </p:sp>
        <p:sp>
          <p:nvSpPr>
            <p:cNvPr id="71701" name="Rectangle 22"/>
            <p:cNvSpPr>
              <a:spLocks noChangeArrowheads="1"/>
            </p:cNvSpPr>
            <p:nvPr/>
          </p:nvSpPr>
          <p:spPr bwMode="auto">
            <a:xfrm rot="1284922">
              <a:off x="3712" y="2386"/>
              <a:ext cx="234" cy="123"/>
            </a:xfrm>
            <a:prstGeom prst="rect">
              <a:avLst/>
            </a:prstGeom>
            <a:solidFill>
              <a:schemeClr val="accent1"/>
            </a:solidFill>
            <a:ln w="9525">
              <a:noFill/>
              <a:miter lim="800000"/>
              <a:headEnd/>
              <a:tailEnd/>
            </a:ln>
          </p:spPr>
          <p:txBody>
            <a:bodyPr/>
            <a:lstStyle/>
            <a:p>
              <a:endParaRPr lang="zh-CN" altLang="en-US"/>
            </a:p>
          </p:txBody>
        </p:sp>
        <p:sp>
          <p:nvSpPr>
            <p:cNvPr id="71702" name="Rectangle 23"/>
            <p:cNvSpPr>
              <a:spLocks noChangeArrowheads="1"/>
            </p:cNvSpPr>
            <p:nvPr/>
          </p:nvSpPr>
          <p:spPr bwMode="auto">
            <a:xfrm rot="1284922">
              <a:off x="3434" y="2996"/>
              <a:ext cx="252" cy="126"/>
            </a:xfrm>
            <a:prstGeom prst="rect">
              <a:avLst/>
            </a:prstGeom>
            <a:solidFill>
              <a:schemeClr val="accent1"/>
            </a:solidFill>
            <a:ln w="9525">
              <a:noFill/>
              <a:miter lim="800000"/>
              <a:headEnd/>
              <a:tailEnd/>
            </a:ln>
          </p:spPr>
          <p:txBody>
            <a:bodyPr/>
            <a:lstStyle/>
            <a:p>
              <a:endParaRPr lang="zh-CN" altLang="en-US"/>
            </a:p>
          </p:txBody>
        </p:sp>
        <p:sp>
          <p:nvSpPr>
            <p:cNvPr id="71703" name="Line 24"/>
            <p:cNvSpPr>
              <a:spLocks noChangeShapeType="1"/>
            </p:cNvSpPr>
            <p:nvPr/>
          </p:nvSpPr>
          <p:spPr bwMode="auto">
            <a:xfrm rot="1284922" flipV="1">
              <a:off x="3465" y="2268"/>
              <a:ext cx="0" cy="288"/>
            </a:xfrm>
            <a:prstGeom prst="line">
              <a:avLst/>
            </a:prstGeom>
            <a:noFill/>
            <a:ln w="19050">
              <a:solidFill>
                <a:srgbClr val="000000"/>
              </a:solidFill>
              <a:round/>
              <a:headEnd/>
              <a:tailEnd/>
            </a:ln>
          </p:spPr>
          <p:txBody>
            <a:bodyPr/>
            <a:lstStyle/>
            <a:p>
              <a:endParaRPr lang="zh-CN" altLang="en-US"/>
            </a:p>
          </p:txBody>
        </p:sp>
        <p:sp>
          <p:nvSpPr>
            <p:cNvPr id="71704" name="Line 25"/>
            <p:cNvSpPr>
              <a:spLocks noChangeShapeType="1"/>
            </p:cNvSpPr>
            <p:nvPr/>
          </p:nvSpPr>
          <p:spPr bwMode="auto">
            <a:xfrm rot="1284922" flipH="1">
              <a:off x="3261" y="2873"/>
              <a:ext cx="0" cy="270"/>
            </a:xfrm>
            <a:prstGeom prst="line">
              <a:avLst/>
            </a:prstGeom>
            <a:noFill/>
            <a:ln w="19050">
              <a:solidFill>
                <a:srgbClr val="000000"/>
              </a:solidFill>
              <a:round/>
              <a:headEnd/>
              <a:tailEnd/>
            </a:ln>
          </p:spPr>
          <p:txBody>
            <a:bodyPr/>
            <a:lstStyle/>
            <a:p>
              <a:endParaRPr lang="zh-CN" altLang="en-US"/>
            </a:p>
          </p:txBody>
        </p:sp>
        <p:sp>
          <p:nvSpPr>
            <p:cNvPr id="71705" name="Line 26"/>
            <p:cNvSpPr>
              <a:spLocks noChangeShapeType="1"/>
            </p:cNvSpPr>
            <p:nvPr/>
          </p:nvSpPr>
          <p:spPr bwMode="auto">
            <a:xfrm rot="1284922">
              <a:off x="3820" y="2332"/>
              <a:ext cx="0" cy="216"/>
            </a:xfrm>
            <a:prstGeom prst="line">
              <a:avLst/>
            </a:prstGeom>
            <a:noFill/>
            <a:ln w="19050">
              <a:solidFill>
                <a:srgbClr val="000000"/>
              </a:solidFill>
              <a:round/>
              <a:headEnd/>
              <a:tailEnd/>
            </a:ln>
          </p:spPr>
          <p:txBody>
            <a:bodyPr/>
            <a:lstStyle/>
            <a:p>
              <a:endParaRPr lang="zh-CN" altLang="en-US"/>
            </a:p>
          </p:txBody>
        </p:sp>
        <p:sp>
          <p:nvSpPr>
            <p:cNvPr id="71706" name="Line 27"/>
            <p:cNvSpPr>
              <a:spLocks noChangeShapeType="1"/>
            </p:cNvSpPr>
            <p:nvPr/>
          </p:nvSpPr>
          <p:spPr bwMode="auto">
            <a:xfrm rot="1284922">
              <a:off x="3622" y="2873"/>
              <a:ext cx="0" cy="180"/>
            </a:xfrm>
            <a:prstGeom prst="line">
              <a:avLst/>
            </a:prstGeom>
            <a:noFill/>
            <a:ln w="19050">
              <a:solidFill>
                <a:srgbClr val="000000"/>
              </a:solidFill>
              <a:round/>
              <a:headEnd/>
              <a:tailEnd/>
            </a:ln>
          </p:spPr>
          <p:txBody>
            <a:bodyPr/>
            <a:lstStyle/>
            <a:p>
              <a:endParaRPr lang="zh-CN" altLang="en-US"/>
            </a:p>
          </p:txBody>
        </p:sp>
        <p:sp>
          <p:nvSpPr>
            <p:cNvPr id="71707" name="Line 28"/>
            <p:cNvSpPr>
              <a:spLocks noChangeShapeType="1"/>
            </p:cNvSpPr>
            <p:nvPr/>
          </p:nvSpPr>
          <p:spPr bwMode="auto">
            <a:xfrm>
              <a:off x="3243" y="2548"/>
              <a:ext cx="469" cy="0"/>
            </a:xfrm>
            <a:prstGeom prst="line">
              <a:avLst/>
            </a:prstGeom>
            <a:noFill/>
            <a:ln w="9525">
              <a:solidFill>
                <a:srgbClr val="000000"/>
              </a:solidFill>
              <a:round/>
              <a:headEnd/>
              <a:tailEnd/>
            </a:ln>
          </p:spPr>
          <p:txBody>
            <a:bodyPr/>
            <a:lstStyle/>
            <a:p>
              <a:endParaRPr lang="zh-CN" altLang="en-US"/>
            </a:p>
          </p:txBody>
        </p:sp>
        <p:sp>
          <p:nvSpPr>
            <p:cNvPr id="71708" name="Line 29"/>
            <p:cNvSpPr>
              <a:spLocks noChangeShapeType="1"/>
            </p:cNvSpPr>
            <p:nvPr/>
          </p:nvSpPr>
          <p:spPr bwMode="auto">
            <a:xfrm>
              <a:off x="3189" y="2873"/>
              <a:ext cx="361" cy="0"/>
            </a:xfrm>
            <a:prstGeom prst="line">
              <a:avLst/>
            </a:prstGeom>
            <a:noFill/>
            <a:ln w="9525">
              <a:solidFill>
                <a:srgbClr val="000000"/>
              </a:solidFill>
              <a:round/>
              <a:headEnd/>
              <a:tailEnd/>
            </a:ln>
          </p:spPr>
          <p:txBody>
            <a:bodyPr/>
            <a:lstStyle/>
            <a:p>
              <a:endParaRPr lang="zh-CN" altLang="en-US"/>
            </a:p>
          </p:txBody>
        </p:sp>
        <p:sp>
          <p:nvSpPr>
            <p:cNvPr id="71709" name="Line 30"/>
            <p:cNvSpPr>
              <a:spLocks noChangeShapeType="1"/>
            </p:cNvSpPr>
            <p:nvPr/>
          </p:nvSpPr>
          <p:spPr bwMode="auto">
            <a:xfrm>
              <a:off x="3856" y="2566"/>
              <a:ext cx="1262" cy="379"/>
            </a:xfrm>
            <a:prstGeom prst="line">
              <a:avLst/>
            </a:prstGeom>
            <a:noFill/>
            <a:ln w="9525">
              <a:solidFill>
                <a:srgbClr val="000000"/>
              </a:solidFill>
              <a:round/>
              <a:headEnd/>
              <a:tailEnd/>
            </a:ln>
          </p:spPr>
          <p:txBody>
            <a:bodyPr/>
            <a:lstStyle/>
            <a:p>
              <a:endParaRPr lang="zh-CN" altLang="en-US"/>
            </a:p>
          </p:txBody>
        </p:sp>
        <p:sp>
          <p:nvSpPr>
            <p:cNvPr id="71710" name="Line 31"/>
            <p:cNvSpPr>
              <a:spLocks noChangeShapeType="1"/>
            </p:cNvSpPr>
            <p:nvPr/>
          </p:nvSpPr>
          <p:spPr bwMode="auto">
            <a:xfrm flipV="1">
              <a:off x="3748" y="2566"/>
              <a:ext cx="1316" cy="361"/>
            </a:xfrm>
            <a:prstGeom prst="line">
              <a:avLst/>
            </a:prstGeom>
            <a:noFill/>
            <a:ln w="9525">
              <a:solidFill>
                <a:srgbClr val="000000"/>
              </a:solidFill>
              <a:round/>
              <a:headEnd/>
              <a:tailEnd/>
            </a:ln>
          </p:spPr>
          <p:txBody>
            <a:bodyPr/>
            <a:lstStyle/>
            <a:p>
              <a:endParaRPr lang="zh-CN" altLang="en-US"/>
            </a:p>
          </p:txBody>
        </p:sp>
        <p:sp>
          <p:nvSpPr>
            <p:cNvPr id="71711" name="Oval 32"/>
            <p:cNvSpPr>
              <a:spLocks noChangeArrowheads="1"/>
            </p:cNvSpPr>
            <p:nvPr/>
          </p:nvSpPr>
          <p:spPr bwMode="auto">
            <a:xfrm>
              <a:off x="2522" y="2242"/>
              <a:ext cx="289" cy="937"/>
            </a:xfrm>
            <a:prstGeom prst="ellipse">
              <a:avLst/>
            </a:prstGeom>
            <a:noFill/>
            <a:ln w="9525">
              <a:solidFill>
                <a:srgbClr val="000000"/>
              </a:solidFill>
              <a:round/>
              <a:headEnd/>
              <a:tailEnd/>
            </a:ln>
          </p:spPr>
          <p:txBody>
            <a:bodyPr/>
            <a:lstStyle/>
            <a:p>
              <a:endParaRPr lang="zh-CN" altLang="en-US"/>
            </a:p>
          </p:txBody>
        </p:sp>
        <p:sp>
          <p:nvSpPr>
            <p:cNvPr id="71712" name="Line 33"/>
            <p:cNvSpPr>
              <a:spLocks noChangeShapeType="1"/>
            </p:cNvSpPr>
            <p:nvPr/>
          </p:nvSpPr>
          <p:spPr bwMode="auto">
            <a:xfrm>
              <a:off x="2432" y="2260"/>
              <a:ext cx="0" cy="937"/>
            </a:xfrm>
            <a:prstGeom prst="line">
              <a:avLst/>
            </a:prstGeom>
            <a:noFill/>
            <a:ln w="9525">
              <a:solidFill>
                <a:srgbClr val="000000"/>
              </a:solidFill>
              <a:round/>
              <a:headEnd/>
              <a:tailEnd/>
            </a:ln>
          </p:spPr>
          <p:txBody>
            <a:bodyPr/>
            <a:lstStyle/>
            <a:p>
              <a:endParaRPr lang="zh-CN" altLang="en-US"/>
            </a:p>
          </p:txBody>
        </p:sp>
        <p:sp>
          <p:nvSpPr>
            <p:cNvPr id="71713" name="Line 34"/>
            <p:cNvSpPr>
              <a:spLocks noChangeShapeType="1"/>
            </p:cNvSpPr>
            <p:nvPr/>
          </p:nvSpPr>
          <p:spPr bwMode="auto">
            <a:xfrm flipV="1">
              <a:off x="2432" y="2242"/>
              <a:ext cx="253" cy="0"/>
            </a:xfrm>
            <a:prstGeom prst="line">
              <a:avLst/>
            </a:prstGeom>
            <a:noFill/>
            <a:ln w="9525">
              <a:solidFill>
                <a:srgbClr val="000000"/>
              </a:solidFill>
              <a:round/>
              <a:headEnd/>
              <a:tailEnd/>
            </a:ln>
          </p:spPr>
          <p:txBody>
            <a:bodyPr/>
            <a:lstStyle/>
            <a:p>
              <a:endParaRPr lang="zh-CN" altLang="en-US"/>
            </a:p>
          </p:txBody>
        </p:sp>
        <p:sp>
          <p:nvSpPr>
            <p:cNvPr id="71714" name="Line 35"/>
            <p:cNvSpPr>
              <a:spLocks noChangeShapeType="1"/>
            </p:cNvSpPr>
            <p:nvPr/>
          </p:nvSpPr>
          <p:spPr bwMode="auto">
            <a:xfrm flipV="1">
              <a:off x="2432" y="3179"/>
              <a:ext cx="235" cy="0"/>
            </a:xfrm>
            <a:prstGeom prst="line">
              <a:avLst/>
            </a:prstGeom>
            <a:noFill/>
            <a:ln w="9525">
              <a:solidFill>
                <a:srgbClr val="000000"/>
              </a:solidFill>
              <a:round/>
              <a:headEnd/>
              <a:tailEnd/>
            </a:ln>
          </p:spPr>
          <p:txBody>
            <a:bodyPr/>
            <a:lstStyle/>
            <a:p>
              <a:endParaRPr lang="zh-CN" altLang="en-US"/>
            </a:p>
          </p:txBody>
        </p:sp>
        <p:sp>
          <p:nvSpPr>
            <p:cNvPr id="71715" name="Line 36"/>
            <p:cNvSpPr>
              <a:spLocks noChangeShapeType="1"/>
            </p:cNvSpPr>
            <p:nvPr/>
          </p:nvSpPr>
          <p:spPr bwMode="auto">
            <a:xfrm flipV="1">
              <a:off x="485" y="2296"/>
              <a:ext cx="1947" cy="414"/>
            </a:xfrm>
            <a:prstGeom prst="line">
              <a:avLst/>
            </a:prstGeom>
            <a:noFill/>
            <a:ln w="9525">
              <a:solidFill>
                <a:srgbClr val="000000"/>
              </a:solidFill>
              <a:round/>
              <a:headEnd/>
              <a:tailEnd/>
            </a:ln>
          </p:spPr>
          <p:txBody>
            <a:bodyPr/>
            <a:lstStyle/>
            <a:p>
              <a:endParaRPr lang="zh-CN" altLang="en-US"/>
            </a:p>
          </p:txBody>
        </p:sp>
        <p:sp>
          <p:nvSpPr>
            <p:cNvPr id="71716" name="Line 37"/>
            <p:cNvSpPr>
              <a:spLocks noChangeShapeType="1"/>
            </p:cNvSpPr>
            <p:nvPr/>
          </p:nvSpPr>
          <p:spPr bwMode="auto">
            <a:xfrm>
              <a:off x="485" y="2710"/>
              <a:ext cx="1947" cy="433"/>
            </a:xfrm>
            <a:prstGeom prst="line">
              <a:avLst/>
            </a:prstGeom>
            <a:noFill/>
            <a:ln w="9525">
              <a:solidFill>
                <a:srgbClr val="000000"/>
              </a:solidFill>
              <a:round/>
              <a:headEnd/>
              <a:tailEnd/>
            </a:ln>
          </p:spPr>
          <p:txBody>
            <a:bodyPr/>
            <a:lstStyle/>
            <a:p>
              <a:endParaRPr lang="zh-CN" altLang="en-US"/>
            </a:p>
          </p:txBody>
        </p:sp>
        <p:sp>
          <p:nvSpPr>
            <p:cNvPr id="71717" name="Line 38"/>
            <p:cNvSpPr>
              <a:spLocks noChangeShapeType="1"/>
            </p:cNvSpPr>
            <p:nvPr/>
          </p:nvSpPr>
          <p:spPr bwMode="auto">
            <a:xfrm>
              <a:off x="2721" y="2278"/>
              <a:ext cx="558" cy="0"/>
            </a:xfrm>
            <a:prstGeom prst="line">
              <a:avLst/>
            </a:prstGeom>
            <a:noFill/>
            <a:ln w="9525">
              <a:solidFill>
                <a:srgbClr val="000000"/>
              </a:solidFill>
              <a:round/>
              <a:headEnd/>
              <a:tailEnd/>
            </a:ln>
          </p:spPr>
          <p:txBody>
            <a:bodyPr/>
            <a:lstStyle/>
            <a:p>
              <a:endParaRPr lang="zh-CN" altLang="en-US"/>
            </a:p>
          </p:txBody>
        </p:sp>
        <p:sp>
          <p:nvSpPr>
            <p:cNvPr id="71718" name="Line 39"/>
            <p:cNvSpPr>
              <a:spLocks noChangeShapeType="1"/>
            </p:cNvSpPr>
            <p:nvPr/>
          </p:nvSpPr>
          <p:spPr bwMode="auto">
            <a:xfrm>
              <a:off x="2703" y="3143"/>
              <a:ext cx="468" cy="0"/>
            </a:xfrm>
            <a:prstGeom prst="line">
              <a:avLst/>
            </a:prstGeom>
            <a:noFill/>
            <a:ln w="9525">
              <a:solidFill>
                <a:srgbClr val="000000"/>
              </a:solidFill>
              <a:round/>
              <a:headEnd/>
              <a:tailEnd/>
            </a:ln>
          </p:spPr>
          <p:txBody>
            <a:bodyPr/>
            <a:lstStyle/>
            <a:p>
              <a:endParaRPr lang="zh-CN" altLang="en-US"/>
            </a:p>
          </p:txBody>
        </p:sp>
        <p:sp>
          <p:nvSpPr>
            <p:cNvPr id="71719" name="Line 40"/>
            <p:cNvSpPr>
              <a:spLocks noChangeShapeType="1"/>
            </p:cNvSpPr>
            <p:nvPr/>
          </p:nvSpPr>
          <p:spPr bwMode="auto">
            <a:xfrm>
              <a:off x="2793" y="2873"/>
              <a:ext cx="468" cy="0"/>
            </a:xfrm>
            <a:prstGeom prst="line">
              <a:avLst/>
            </a:prstGeom>
            <a:noFill/>
            <a:ln w="9525">
              <a:solidFill>
                <a:srgbClr val="000000"/>
              </a:solidFill>
              <a:round/>
              <a:headEnd/>
              <a:tailEnd/>
            </a:ln>
          </p:spPr>
          <p:txBody>
            <a:bodyPr/>
            <a:lstStyle/>
            <a:p>
              <a:endParaRPr lang="zh-CN" altLang="en-US"/>
            </a:p>
          </p:txBody>
        </p:sp>
        <p:sp>
          <p:nvSpPr>
            <p:cNvPr id="71720" name="Line 41"/>
            <p:cNvSpPr>
              <a:spLocks noChangeShapeType="1"/>
            </p:cNvSpPr>
            <p:nvPr/>
          </p:nvSpPr>
          <p:spPr bwMode="auto">
            <a:xfrm>
              <a:off x="2793" y="2548"/>
              <a:ext cx="468" cy="0"/>
            </a:xfrm>
            <a:prstGeom prst="line">
              <a:avLst/>
            </a:prstGeom>
            <a:noFill/>
            <a:ln w="9525">
              <a:solidFill>
                <a:srgbClr val="000000"/>
              </a:solidFill>
              <a:round/>
              <a:headEnd/>
              <a:tailEnd/>
            </a:ln>
          </p:spPr>
          <p:txBody>
            <a:bodyPr/>
            <a:lstStyle/>
            <a:p>
              <a:endParaRPr lang="zh-CN" altLang="en-US"/>
            </a:p>
          </p:txBody>
        </p:sp>
        <p:sp>
          <p:nvSpPr>
            <p:cNvPr id="485418" name="Text Box 42"/>
            <p:cNvSpPr txBox="1">
              <a:spLocks noChangeArrowheads="1"/>
            </p:cNvSpPr>
            <p:nvPr/>
          </p:nvSpPr>
          <p:spPr bwMode="auto">
            <a:xfrm>
              <a:off x="1242" y="3305"/>
              <a:ext cx="3480" cy="462"/>
            </a:xfrm>
            <a:prstGeom prst="rect">
              <a:avLst/>
            </a:prstGeom>
            <a:noFill/>
            <a:ln w="9525">
              <a:noFill/>
              <a:miter lim="800000"/>
              <a:headEnd/>
              <a:tailEnd/>
            </a:ln>
          </p:spPr>
          <p:txBody>
            <a:bodyPr/>
            <a:lstStyle/>
            <a:p>
              <a:pPr algn="ctr">
                <a:defRPr/>
              </a:pPr>
              <a:endParaRPr lang="en-US" altLang="zh-CN" sz="2400">
                <a:solidFill>
                  <a:srgbClr val="FF0000"/>
                </a:solidFill>
                <a:latin typeface="黑体" pitchFamily="2" charset="-122"/>
                <a:ea typeface="黑体" pitchFamily="2" charset="-122"/>
              </a:endParaRPr>
            </a:p>
            <a:p>
              <a:pPr algn="ctr">
                <a:defRPr/>
              </a:pPr>
              <a:r>
                <a:rPr lang="zh-CN" altLang="en-US" sz="2400" b="1">
                  <a:effectLst>
                    <a:outerShdw blurRad="38100" dist="38100" dir="2700000" algn="tl">
                      <a:srgbClr val="C0C0C0"/>
                    </a:outerShdw>
                  </a:effectLst>
                  <a:latin typeface="黑体" pitchFamily="2" charset="-122"/>
                  <a:ea typeface="黑体" pitchFamily="2" charset="-122"/>
                </a:rPr>
                <a:t>测量照相物镜轴外透过率的光路</a:t>
              </a:r>
              <a:endParaRPr lang="zh-CN" altLang="en-US" sz="2400" b="1">
                <a:effectLst>
                  <a:outerShdw blurRad="38100" dist="38100" dir="2700000" algn="tl">
                    <a:srgbClr val="C0C0C0"/>
                  </a:outerShdw>
                </a:effectLst>
                <a:ea typeface="宋体" pitchFamily="2" charset="-122"/>
              </a:endParaRPr>
            </a:p>
          </p:txBody>
        </p:sp>
        <p:sp>
          <p:nvSpPr>
            <p:cNvPr id="71722" name="Line 43"/>
            <p:cNvSpPr>
              <a:spLocks noChangeShapeType="1"/>
            </p:cNvSpPr>
            <p:nvPr/>
          </p:nvSpPr>
          <p:spPr bwMode="auto">
            <a:xfrm>
              <a:off x="233" y="2692"/>
              <a:ext cx="5282" cy="0"/>
            </a:xfrm>
            <a:prstGeom prst="line">
              <a:avLst/>
            </a:prstGeom>
            <a:noFill/>
            <a:ln w="9525">
              <a:solidFill>
                <a:srgbClr val="000000"/>
              </a:solidFill>
              <a:prstDash val="lgDashDot"/>
              <a:round/>
              <a:headEnd/>
              <a:tailEnd/>
            </a:ln>
          </p:spPr>
          <p:txBody>
            <a:bodyPr/>
            <a:lstStyle/>
            <a:p>
              <a:endParaRPr lang="zh-CN" altLang="en-US"/>
            </a:p>
          </p:txBody>
        </p:sp>
        <p:sp>
          <p:nvSpPr>
            <p:cNvPr id="71723" name="Text Box 44"/>
            <p:cNvSpPr txBox="1">
              <a:spLocks noChangeArrowheads="1"/>
            </p:cNvSpPr>
            <p:nvPr/>
          </p:nvSpPr>
          <p:spPr bwMode="auto">
            <a:xfrm>
              <a:off x="2369" y="1827"/>
              <a:ext cx="541" cy="433"/>
            </a:xfrm>
            <a:prstGeom prst="rect">
              <a:avLst/>
            </a:prstGeom>
            <a:noFill/>
            <a:ln w="9525">
              <a:noFill/>
              <a:miter lim="800000"/>
              <a:headEnd/>
              <a:tailEnd/>
            </a:ln>
          </p:spPr>
          <p:txBody>
            <a:bodyPr/>
            <a:lstStyle/>
            <a:p>
              <a:pPr algn="just"/>
              <a:r>
                <a:rPr lang="en-US" altLang="zh-CN" i="1">
                  <a:latin typeface="Times New Roman" pitchFamily="18" charset="0"/>
                </a:rPr>
                <a:t>L</a:t>
              </a: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pPr algn="just"/>
              <a:endParaRPr lang="en-US" altLang="zh-CN">
                <a:latin typeface="Times New Roman" pitchFamily="18" charset="0"/>
              </a:endParaRPr>
            </a:p>
            <a:p>
              <a:endParaRPr lang="en-US" altLang="zh-CN"/>
            </a:p>
          </p:txBody>
        </p:sp>
      </p:grpSp>
    </p:spTree>
  </p:cSld>
  <p:clrMapOvr>
    <a:masterClrMapping/>
  </p:clrMapOvr>
  <p:transition>
    <p:circl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a:spLocks noGrp="1"/>
          </p:cNvSpPr>
          <p:nvPr>
            <p:ph type="dt" sz="quarter" idx="10"/>
          </p:nvPr>
        </p:nvSpPr>
        <p:spPr>
          <a:noFill/>
        </p:spPr>
        <p:txBody>
          <a:bodyPr/>
          <a:lstStyle/>
          <a:p>
            <a:fld id="{4CF9042B-DEFC-43D3-BFA8-339E76A07697}" type="datetime1">
              <a:rPr lang="zh-CN" altLang="en-US" smtClean="0">
                <a:ea typeface="宋体" charset="-122"/>
              </a:rPr>
              <a:pPr/>
              <a:t>2018/2/24</a:t>
            </a:fld>
            <a:endParaRPr lang="en-US" altLang="zh-CN" smtClean="0">
              <a:ea typeface="宋体" charset="-122"/>
            </a:endParaRPr>
          </a:p>
        </p:txBody>
      </p:sp>
      <p:sp>
        <p:nvSpPr>
          <p:cNvPr id="72707" name="灯片编号占位符 5"/>
          <p:cNvSpPr>
            <a:spLocks noGrp="1"/>
          </p:cNvSpPr>
          <p:nvPr>
            <p:ph type="sldNum" sz="quarter" idx="12"/>
          </p:nvPr>
        </p:nvSpPr>
        <p:spPr>
          <a:noFill/>
        </p:spPr>
        <p:txBody>
          <a:bodyPr/>
          <a:lstStyle/>
          <a:p>
            <a:fld id="{B861DBB1-4BD5-4529-932C-CCDCD3B30141}" type="slidenum">
              <a:rPr lang="en-US" altLang="zh-CN" smtClean="0">
                <a:ea typeface="宋体" charset="-122"/>
              </a:rPr>
              <a:pPr/>
              <a:t>68</a:t>
            </a:fld>
            <a:endParaRPr lang="en-US" altLang="zh-CN" smtClean="0">
              <a:ea typeface="宋体" charset="-122"/>
            </a:endParaRPr>
          </a:p>
        </p:txBody>
      </p:sp>
      <p:sp>
        <p:nvSpPr>
          <p:cNvPr id="486402"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6403" name="Rectangle 3"/>
          <p:cNvSpPr>
            <a:spLocks noGrp="1" noRot="1" noChangeArrowheads="1"/>
          </p:cNvSpPr>
          <p:nvPr>
            <p:ph type="body" idx="1"/>
          </p:nvPr>
        </p:nvSpPr>
        <p:spPr>
          <a:xfrm>
            <a:off x="296863" y="1349375"/>
            <a:ext cx="8550275" cy="2251075"/>
          </a:xfrm>
        </p:spPr>
        <p:txBody>
          <a:bodyPr/>
          <a:lstStyle/>
          <a:p>
            <a:pPr marL="457200" indent="-457200" eaLnBrk="1" hangingPunct="1">
              <a:lnSpc>
                <a:spcPct val="120000"/>
              </a:lnSpc>
              <a:buFont typeface="Wingdings" pitchFamily="2" charset="2"/>
              <a:buNone/>
              <a:tabLst>
                <a:tab pos="812800" algn="l"/>
              </a:tabLst>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457200" indent="-457200" eaLnBrk="1" hangingPunct="1">
              <a:lnSpc>
                <a:spcPct val="120000"/>
              </a:lnSpc>
              <a:buFont typeface="Wingdings" pitchFamily="2" charset="2"/>
              <a:buNone/>
              <a:tabLst>
                <a:tab pos="812800" algn="l"/>
              </a:tabLst>
              <a:defRPr/>
            </a:pPr>
            <a:r>
              <a:rPr lang="en-US" altLang="zh-CN" smtClean="0">
                <a:latin typeface="Times New Roman" pitchFamily="18" charset="0"/>
                <a:ea typeface="黑体" pitchFamily="2" charset="-122"/>
              </a:rPr>
              <a:t>3)  </a:t>
            </a:r>
            <a:r>
              <a:rPr lang="zh-CN" altLang="en-US" smtClean="0">
                <a:latin typeface="Times New Roman" pitchFamily="18" charset="0"/>
                <a:ea typeface="黑体" pitchFamily="2" charset="-122"/>
              </a:rPr>
              <a:t>测量条件和注意事项</a:t>
            </a:r>
          </a:p>
          <a:p>
            <a:pPr marL="457200" indent="-457200" eaLnBrk="1" hangingPunct="1">
              <a:lnSpc>
                <a:spcPct val="120000"/>
              </a:lnSpc>
              <a:tabLst>
                <a:tab pos="812800" algn="l"/>
              </a:tabLst>
              <a:defRPr/>
            </a:pPr>
            <a:r>
              <a:rPr lang="zh-CN" altLang="en-US" smtClean="0">
                <a:latin typeface="Times New Roman" pitchFamily="18" charset="0"/>
                <a:ea typeface="黑体" pitchFamily="2" charset="-122"/>
              </a:rPr>
              <a:t>光学系统透过率的测量值与测量条件有密切关系，为了使测量结果能互相比较，必须要制订统一的测量条件标准。下面是国际标准化组织（</a:t>
            </a:r>
            <a:r>
              <a:rPr lang="en-US" altLang="zh-CN" smtClean="0">
                <a:latin typeface="Times New Roman" pitchFamily="18" charset="0"/>
                <a:ea typeface="黑体" pitchFamily="2" charset="-122"/>
              </a:rPr>
              <a:t>ISO</a:t>
            </a:r>
            <a:r>
              <a:rPr lang="zh-CN" altLang="en-US" smtClean="0">
                <a:latin typeface="Times New Roman" pitchFamily="18" charset="0"/>
                <a:ea typeface="黑体" pitchFamily="2" charset="-122"/>
              </a:rPr>
              <a:t>）在照相物镜光谱透过率测量标准中的测量条件中提出的几点建议：</a:t>
            </a:r>
          </a:p>
          <a:p>
            <a:pPr marL="923925" lvl="1" indent="-381000" eaLnBrk="1" hangingPunct="1">
              <a:lnSpc>
                <a:spcPct val="120000"/>
              </a:lnSpc>
              <a:buFont typeface="Wingdings" pitchFamily="2" charset="2"/>
              <a:buAutoNum type="circleNumDbPlain"/>
              <a:tabLst>
                <a:tab pos="812800" algn="l"/>
              </a:tabLst>
              <a:defRPr/>
            </a:pPr>
            <a:r>
              <a:rPr lang="zh-CN" altLang="en-US" smtClean="0">
                <a:latin typeface="Times New Roman" pitchFamily="18" charset="0"/>
                <a:ea typeface="黑体" pitchFamily="2" charset="-122"/>
              </a:rPr>
              <a:t>单色仪的出射狭缝高度必须小于平行光管物镜焦距的</a:t>
            </a:r>
            <a:r>
              <a:rPr lang="en-US" altLang="zh-CN" smtClean="0">
                <a:latin typeface="Times New Roman" pitchFamily="18" charset="0"/>
                <a:ea typeface="黑体" pitchFamily="2" charset="-122"/>
              </a:rPr>
              <a:t>1</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30</a:t>
            </a:r>
            <a:r>
              <a:rPr lang="zh-CN" altLang="en-US" smtClean="0">
                <a:latin typeface="Times New Roman" pitchFamily="18" charset="0"/>
                <a:ea typeface="黑体" pitchFamily="2" charset="-122"/>
              </a:rPr>
              <a:t>。</a:t>
            </a:r>
          </a:p>
          <a:p>
            <a:pPr marL="923925" lvl="1" indent="-381000" eaLnBrk="1" hangingPunct="1">
              <a:lnSpc>
                <a:spcPct val="120000"/>
              </a:lnSpc>
              <a:buFont typeface="Wingdings" pitchFamily="2" charset="2"/>
              <a:buAutoNum type="circleNumDbPlain"/>
              <a:tabLst>
                <a:tab pos="812800" algn="l"/>
              </a:tabLst>
              <a:defRPr/>
            </a:pPr>
            <a:r>
              <a:rPr lang="zh-CN" altLang="en-US" smtClean="0">
                <a:latin typeface="Times New Roman" pitchFamily="18" charset="0"/>
                <a:ea typeface="黑体" pitchFamily="2" charset="-122"/>
              </a:rPr>
              <a:t>测量光束直径应等于被测照相物镜入瞳直径一半，光束中心与入瞳中心重合。</a:t>
            </a:r>
          </a:p>
          <a:p>
            <a:pPr marL="923925" lvl="1" indent="-381000" eaLnBrk="1" hangingPunct="1">
              <a:lnSpc>
                <a:spcPct val="120000"/>
              </a:lnSpc>
              <a:buFont typeface="Wingdings" pitchFamily="2" charset="2"/>
              <a:buAutoNum type="circleNumDbPlain"/>
              <a:tabLst>
                <a:tab pos="812800" algn="l"/>
              </a:tabLst>
              <a:defRPr/>
            </a:pPr>
            <a:r>
              <a:rPr lang="zh-CN" altLang="en-US" smtClean="0">
                <a:latin typeface="Times New Roman" pitchFamily="18" charset="0"/>
                <a:ea typeface="黑体" pitchFamily="2" charset="-122"/>
              </a:rPr>
              <a:t>对一般的照相物镜，测量光谱透过率的波长范围可为</a:t>
            </a:r>
            <a:r>
              <a:rPr lang="en-US" altLang="zh-CN" smtClean="0">
                <a:latin typeface="Times New Roman" pitchFamily="18" charset="0"/>
                <a:ea typeface="黑体" pitchFamily="2" charset="-122"/>
              </a:rPr>
              <a:t>360</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700nm</a:t>
            </a:r>
            <a:r>
              <a:rPr lang="zh-CN" altLang="en-US" smtClean="0">
                <a:latin typeface="Times New Roman" pitchFamily="18" charset="0"/>
                <a:ea typeface="黑体" pitchFamily="2" charset="-122"/>
              </a:rPr>
              <a:t>。测量波长间隔的选取原则是：当每</a:t>
            </a:r>
            <a:r>
              <a:rPr lang="en-US" altLang="zh-CN" smtClean="0">
                <a:latin typeface="Times New Roman" pitchFamily="18" charset="0"/>
                <a:ea typeface="黑体" pitchFamily="2" charset="-122"/>
              </a:rPr>
              <a:t>nm</a:t>
            </a:r>
            <a:r>
              <a:rPr lang="zh-CN" altLang="en-US" smtClean="0">
                <a:latin typeface="Times New Roman" pitchFamily="18" charset="0"/>
                <a:ea typeface="黑体" pitchFamily="2" charset="-122"/>
              </a:rPr>
              <a:t>的透过率变化量大于</a:t>
            </a:r>
            <a:r>
              <a:rPr lang="en-US" altLang="zh-CN" smtClean="0">
                <a:latin typeface="Times New Roman" pitchFamily="18" charset="0"/>
                <a:ea typeface="黑体" pitchFamily="2" charset="-122"/>
              </a:rPr>
              <a:t>0.2</a:t>
            </a:r>
            <a:r>
              <a:rPr lang="zh-CN" altLang="en-US" smtClean="0">
                <a:latin typeface="Times New Roman" pitchFamily="18" charset="0"/>
                <a:ea typeface="黑体" pitchFamily="2" charset="-122"/>
              </a:rPr>
              <a:t>％时，波长间隔取</a:t>
            </a:r>
            <a:r>
              <a:rPr lang="en-US" altLang="zh-CN" smtClean="0">
                <a:latin typeface="Times New Roman" pitchFamily="18" charset="0"/>
                <a:ea typeface="黑体" pitchFamily="2" charset="-122"/>
              </a:rPr>
              <a:t>20nm</a:t>
            </a:r>
            <a:r>
              <a:rPr lang="zh-CN" altLang="en-US" smtClean="0">
                <a:latin typeface="Times New Roman" pitchFamily="18" charset="0"/>
                <a:ea typeface="黑体" pitchFamily="2" charset="-122"/>
              </a:rPr>
              <a:t>，否则取</a:t>
            </a:r>
            <a:r>
              <a:rPr lang="en-US" altLang="zh-CN" smtClean="0">
                <a:latin typeface="Times New Roman" pitchFamily="18" charset="0"/>
                <a:ea typeface="黑体" pitchFamily="2" charset="-122"/>
              </a:rPr>
              <a:t>40nm</a:t>
            </a:r>
            <a:r>
              <a:rPr lang="zh-CN" altLang="en-US" smtClean="0">
                <a:latin typeface="Times New Roman" pitchFamily="18" charset="0"/>
                <a:ea typeface="黑体" pitchFamily="2" charset="-122"/>
              </a:rPr>
              <a:t>。</a:t>
            </a:r>
          </a:p>
        </p:txBody>
      </p:sp>
      <p:sp>
        <p:nvSpPr>
          <p:cNvPr id="72710"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2711"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2712"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p:cNvSpPr>
            <a:spLocks noGrp="1"/>
          </p:cNvSpPr>
          <p:nvPr>
            <p:ph type="dt" sz="quarter" idx="10"/>
          </p:nvPr>
        </p:nvSpPr>
        <p:spPr>
          <a:noFill/>
        </p:spPr>
        <p:txBody>
          <a:bodyPr/>
          <a:lstStyle/>
          <a:p>
            <a:fld id="{368AFC4D-6E56-43E4-9A03-749AA4E74054}" type="datetime1">
              <a:rPr lang="zh-CN" altLang="en-US" smtClean="0">
                <a:ea typeface="宋体" charset="-122"/>
              </a:rPr>
              <a:pPr/>
              <a:t>2018/2/24</a:t>
            </a:fld>
            <a:endParaRPr lang="en-US" altLang="zh-CN" smtClean="0">
              <a:ea typeface="宋体" charset="-122"/>
            </a:endParaRPr>
          </a:p>
        </p:txBody>
      </p:sp>
      <p:sp>
        <p:nvSpPr>
          <p:cNvPr id="73731" name="灯片编号占位符 5"/>
          <p:cNvSpPr>
            <a:spLocks noGrp="1"/>
          </p:cNvSpPr>
          <p:nvPr>
            <p:ph type="sldNum" sz="quarter" idx="12"/>
          </p:nvPr>
        </p:nvSpPr>
        <p:spPr>
          <a:noFill/>
        </p:spPr>
        <p:txBody>
          <a:bodyPr/>
          <a:lstStyle/>
          <a:p>
            <a:fld id="{F93D6B71-DC3C-4B9B-A9B8-1B9D159E1667}" type="slidenum">
              <a:rPr lang="en-US" altLang="zh-CN" smtClean="0">
                <a:ea typeface="宋体" charset="-122"/>
              </a:rPr>
              <a:pPr/>
              <a:t>69</a:t>
            </a:fld>
            <a:endParaRPr lang="en-US" altLang="zh-CN" smtClean="0">
              <a:ea typeface="宋体" charset="-122"/>
            </a:endParaRPr>
          </a:p>
        </p:txBody>
      </p:sp>
      <p:sp>
        <p:nvSpPr>
          <p:cNvPr id="487426" name="Rectangle 2"/>
          <p:cNvSpPr>
            <a:spLocks noGrp="1" noRot="1" noChangeArrowheads="1"/>
          </p:cNvSpPr>
          <p:nvPr>
            <p:ph type="title"/>
          </p:nvPr>
        </p:nvSpPr>
        <p:spPr>
          <a:xfrm>
            <a:off x="366713" y="306388"/>
            <a:ext cx="8270875"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§2-5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光学系统透过率测试技术</a:t>
            </a:r>
          </a:p>
        </p:txBody>
      </p:sp>
      <p:sp>
        <p:nvSpPr>
          <p:cNvPr id="487427" name="Rectangle 3"/>
          <p:cNvSpPr>
            <a:spLocks noGrp="1" noRot="1" noChangeArrowheads="1"/>
          </p:cNvSpPr>
          <p:nvPr>
            <p:ph type="body" idx="1"/>
          </p:nvPr>
        </p:nvSpPr>
        <p:spPr>
          <a:xfrm>
            <a:off x="296863" y="1349375"/>
            <a:ext cx="8550275" cy="5081588"/>
          </a:xfrm>
        </p:spPr>
        <p:txBody>
          <a:bodyPr/>
          <a:lstStyle/>
          <a:p>
            <a:pPr marL="457200" indent="-457200" eaLnBrk="1" hangingPunct="1">
              <a:lnSpc>
                <a:spcPct val="120000"/>
              </a:lnSpc>
              <a:buFont typeface="Wingdings" pitchFamily="2" charset="2"/>
              <a:buNone/>
              <a:tabLst>
                <a:tab pos="812800" algn="l"/>
              </a:tabLst>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．照相物镜透过率的测量</a:t>
            </a:r>
          </a:p>
          <a:p>
            <a:pPr marL="457200" indent="-457200" eaLnBrk="1" hangingPunct="1">
              <a:lnSpc>
                <a:spcPct val="120000"/>
              </a:lnSpc>
              <a:buFont typeface="Wingdings" pitchFamily="2" charset="2"/>
              <a:buNone/>
              <a:tabLst>
                <a:tab pos="812800" algn="l"/>
              </a:tabLst>
              <a:defRPr/>
            </a:pPr>
            <a:r>
              <a:rPr lang="en-US" altLang="zh-CN" smtClean="0">
                <a:latin typeface="Times New Roman" pitchFamily="18" charset="0"/>
                <a:ea typeface="黑体" pitchFamily="2" charset="-122"/>
              </a:rPr>
              <a:t>3)   </a:t>
            </a:r>
            <a:r>
              <a:rPr lang="zh-CN" altLang="en-US" smtClean="0">
                <a:latin typeface="Times New Roman" pitchFamily="18" charset="0"/>
                <a:ea typeface="黑体" pitchFamily="2" charset="-122"/>
              </a:rPr>
              <a:t>测量条件和注意事项</a:t>
            </a:r>
          </a:p>
          <a:p>
            <a:pPr marL="923925" lvl="1" indent="-381000" eaLnBrk="1" hangingPunct="1">
              <a:lnSpc>
                <a:spcPct val="120000"/>
              </a:lnSpc>
              <a:buFont typeface="Wingdings" pitchFamily="2" charset="2"/>
              <a:buAutoNum type="circleNumDbPlain" startAt="4"/>
              <a:tabLst>
                <a:tab pos="812800" algn="l"/>
              </a:tabLst>
              <a:defRPr/>
            </a:pPr>
            <a:r>
              <a:rPr lang="zh-CN" altLang="en-US" smtClean="0">
                <a:latin typeface="Times New Roman" pitchFamily="18" charset="0"/>
                <a:ea typeface="黑体" pitchFamily="2" charset="-122"/>
              </a:rPr>
              <a:t>单色仪出射的单色光的半宽度应不大于</a:t>
            </a:r>
            <a:r>
              <a:rPr lang="en-US" altLang="zh-CN" smtClean="0">
                <a:latin typeface="Times New Roman" pitchFamily="18" charset="0"/>
                <a:ea typeface="黑体" pitchFamily="2" charset="-122"/>
              </a:rPr>
              <a:t>10nm</a:t>
            </a:r>
            <a:r>
              <a:rPr lang="zh-CN" altLang="en-US" smtClean="0">
                <a:latin typeface="Times New Roman" pitchFamily="18" charset="0"/>
                <a:ea typeface="黑体" pitchFamily="2" charset="-122"/>
              </a:rPr>
              <a:t>。如果使用窄带滤光片，则在被测物镜透射率每</a:t>
            </a:r>
            <a:r>
              <a:rPr lang="en-US" altLang="zh-CN" smtClean="0">
                <a:latin typeface="Times New Roman" pitchFamily="18" charset="0"/>
                <a:ea typeface="黑体" pitchFamily="2" charset="-122"/>
              </a:rPr>
              <a:t>nm</a:t>
            </a:r>
            <a:r>
              <a:rPr lang="zh-CN" altLang="en-US" smtClean="0">
                <a:latin typeface="Times New Roman" pitchFamily="18" charset="0"/>
                <a:ea typeface="黑体" pitchFamily="2" charset="-122"/>
              </a:rPr>
              <a:t>变化量小于</a:t>
            </a:r>
            <a:r>
              <a:rPr lang="en-US" altLang="zh-CN" smtClean="0">
                <a:latin typeface="Times New Roman" pitchFamily="18" charset="0"/>
                <a:ea typeface="黑体" pitchFamily="2" charset="-122"/>
              </a:rPr>
              <a:t>0.2</a:t>
            </a:r>
            <a:r>
              <a:rPr lang="zh-CN" altLang="en-US" smtClean="0">
                <a:latin typeface="Times New Roman" pitchFamily="18" charset="0"/>
                <a:ea typeface="黑体" pitchFamily="2" charset="-122"/>
              </a:rPr>
              <a:t>％时，半宽度选为</a:t>
            </a:r>
            <a:r>
              <a:rPr lang="en-US" altLang="zh-CN" smtClean="0">
                <a:latin typeface="Times New Roman" pitchFamily="18" charset="0"/>
                <a:ea typeface="黑体" pitchFamily="2" charset="-122"/>
              </a:rPr>
              <a:t>20nm</a:t>
            </a:r>
            <a:r>
              <a:rPr lang="zh-CN" altLang="en-US" smtClean="0">
                <a:latin typeface="Times New Roman" pitchFamily="18" charset="0"/>
                <a:ea typeface="黑体" pitchFamily="2" charset="-122"/>
              </a:rPr>
              <a:t>即可。每</a:t>
            </a:r>
            <a:r>
              <a:rPr lang="en-US" altLang="zh-CN" smtClean="0">
                <a:latin typeface="Times New Roman" pitchFamily="18" charset="0"/>
                <a:ea typeface="黑体" pitchFamily="2" charset="-122"/>
              </a:rPr>
              <a:t>nm</a:t>
            </a:r>
            <a:r>
              <a:rPr lang="zh-CN" altLang="en-US" smtClean="0">
                <a:latin typeface="Times New Roman" pitchFamily="18" charset="0"/>
                <a:ea typeface="黑体" pitchFamily="2" charset="-122"/>
              </a:rPr>
              <a:t>变化量大于</a:t>
            </a:r>
            <a:r>
              <a:rPr lang="en-US" altLang="zh-CN" smtClean="0">
                <a:latin typeface="Times New Roman" pitchFamily="18" charset="0"/>
                <a:ea typeface="黑体" pitchFamily="2" charset="-122"/>
              </a:rPr>
              <a:t>0.2</a:t>
            </a:r>
            <a:r>
              <a:rPr lang="zh-CN" altLang="en-US" smtClean="0">
                <a:latin typeface="Times New Roman" pitchFamily="18" charset="0"/>
                <a:ea typeface="黑体" pitchFamily="2" charset="-122"/>
              </a:rPr>
              <a:t>％时，半宽度应适当小些。</a:t>
            </a:r>
          </a:p>
          <a:p>
            <a:pPr marL="923925" lvl="1" indent="-381000" eaLnBrk="1" hangingPunct="1">
              <a:lnSpc>
                <a:spcPct val="120000"/>
              </a:lnSpc>
              <a:buFont typeface="Wingdings" pitchFamily="2" charset="2"/>
              <a:buAutoNum type="circleNumDbPlain" startAt="4"/>
              <a:tabLst>
                <a:tab pos="812800" algn="l"/>
              </a:tabLst>
              <a:defRPr/>
            </a:pPr>
            <a:r>
              <a:rPr lang="zh-CN" altLang="en-US" smtClean="0">
                <a:solidFill>
                  <a:srgbClr val="FF0000"/>
                </a:solidFill>
                <a:latin typeface="Times New Roman" pitchFamily="18" charset="0"/>
                <a:ea typeface="黑体" pitchFamily="2" charset="-122"/>
              </a:rPr>
              <a:t>积分球</a:t>
            </a:r>
            <a:r>
              <a:rPr lang="zh-CN" altLang="en-US" smtClean="0">
                <a:latin typeface="Times New Roman" pitchFamily="18" charset="0"/>
                <a:ea typeface="黑体" pitchFamily="2" charset="-122"/>
              </a:rPr>
              <a:t>的直径和位置应使投射到其后壁上的光斑直径为可变光阑直径的</a:t>
            </a:r>
            <a:r>
              <a:rPr lang="en-US" altLang="zh-CN" smtClean="0">
                <a:latin typeface="Times New Roman" pitchFamily="18" charset="0"/>
                <a:ea typeface="黑体" pitchFamily="2" charset="-122"/>
              </a:rPr>
              <a:t>0.5</a:t>
            </a:r>
            <a:r>
              <a:rPr lang="zh-CN" altLang="en-US" smtClean="0">
                <a:latin typeface="Times New Roman" pitchFamily="18" charset="0"/>
                <a:ea typeface="黑体" pitchFamily="2" charset="-122"/>
              </a:rPr>
              <a:t>～</a:t>
            </a: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倍。另外，积分球入口处光束直径不得超过积分球入口直径的四分之三，并且光束应位于孔中央。</a:t>
            </a:r>
          </a:p>
          <a:p>
            <a:pPr marL="923925" lvl="1" indent="-381000" eaLnBrk="1" hangingPunct="1">
              <a:lnSpc>
                <a:spcPct val="120000"/>
              </a:lnSpc>
              <a:buFont typeface="Wingdings" pitchFamily="2" charset="2"/>
              <a:buAutoNum type="circleNumDbPlain" startAt="4"/>
              <a:tabLst>
                <a:tab pos="812800" algn="l"/>
              </a:tabLst>
              <a:defRPr/>
            </a:pPr>
            <a:r>
              <a:rPr lang="zh-CN" altLang="en-US" smtClean="0">
                <a:latin typeface="Times New Roman" pitchFamily="18" charset="0"/>
                <a:ea typeface="黑体" pitchFamily="2" charset="-122"/>
              </a:rPr>
              <a:t>测量时还应注意被测物镜的外露光学表面应擦拭干净，测量应在暗室内进行，仪器照明光源漏光不能进入积分球，光电探测器应有足够好的线性，在整个测量过程中要保持光源稳定。</a:t>
            </a:r>
          </a:p>
        </p:txBody>
      </p:sp>
      <p:sp>
        <p:nvSpPr>
          <p:cNvPr id="73734" name="Rectangle 4"/>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3735" name="Rectangle 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3736" name="Rectangle 6"/>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日期占位符 3"/>
          <p:cNvSpPr>
            <a:spLocks noGrp="1"/>
          </p:cNvSpPr>
          <p:nvPr>
            <p:ph type="dt" sz="quarter" idx="10"/>
          </p:nvPr>
        </p:nvSpPr>
        <p:spPr>
          <a:noFill/>
        </p:spPr>
        <p:txBody>
          <a:bodyPr/>
          <a:lstStyle/>
          <a:p>
            <a:fld id="{E5767C76-A202-4CC4-9E91-EEA59439080D}" type="datetime1">
              <a:rPr lang="zh-CN" altLang="en-US" smtClean="0"/>
              <a:pPr/>
              <a:t>2018/2/24</a:t>
            </a:fld>
            <a:endParaRPr lang="en-US" altLang="zh-CN" smtClean="0"/>
          </a:p>
        </p:txBody>
      </p:sp>
      <p:sp>
        <p:nvSpPr>
          <p:cNvPr id="125955" name="灯片编号占位符 5"/>
          <p:cNvSpPr>
            <a:spLocks noGrp="1"/>
          </p:cNvSpPr>
          <p:nvPr>
            <p:ph type="sldNum" sz="quarter" idx="12"/>
          </p:nvPr>
        </p:nvSpPr>
        <p:spPr>
          <a:noFill/>
        </p:spPr>
        <p:txBody>
          <a:bodyPr/>
          <a:lstStyle/>
          <a:p>
            <a:fld id="{B8A88A9C-D945-4696-8F46-2FEEE4BE0374}" type="slidenum">
              <a:rPr lang="en-US" altLang="zh-CN" smtClean="0"/>
              <a:pPr/>
              <a:t>70</a:t>
            </a:fld>
            <a:endParaRPr lang="en-US" altLang="zh-CN" smtClean="0"/>
          </a:p>
        </p:txBody>
      </p:sp>
      <p:sp>
        <p:nvSpPr>
          <p:cNvPr id="620546" name="Rectangle 2"/>
          <p:cNvSpPr>
            <a:spLocks noGrp="1" noRot="1" noChangeArrowheads="1"/>
          </p:cNvSpPr>
          <p:nvPr>
            <p:ph type="title"/>
          </p:nvPr>
        </p:nvSpPr>
        <p:spPr>
          <a:xfrm>
            <a:off x="846138" y="2643188"/>
            <a:ext cx="7500937" cy="839787"/>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p>
        </p:txBody>
      </p:sp>
    </p:spTree>
  </p:cSld>
  <p:clrMapOvr>
    <a:masterClrMapping/>
  </p:clrMapOvr>
  <p:transition spd="slow">
    <p:circl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日期占位符 3"/>
          <p:cNvSpPr>
            <a:spLocks noGrp="1"/>
          </p:cNvSpPr>
          <p:nvPr>
            <p:ph type="dt" sz="quarter" idx="10"/>
          </p:nvPr>
        </p:nvSpPr>
        <p:spPr>
          <a:noFill/>
        </p:spPr>
        <p:txBody>
          <a:bodyPr/>
          <a:lstStyle/>
          <a:p>
            <a:fld id="{A3F08B13-0780-4254-AE94-8E321A4C3CB3}" type="datetime1">
              <a:rPr lang="zh-CN" altLang="en-US" smtClean="0"/>
              <a:pPr/>
              <a:t>2018/2/24</a:t>
            </a:fld>
            <a:endParaRPr lang="en-US" altLang="zh-CN" smtClean="0"/>
          </a:p>
        </p:txBody>
      </p:sp>
      <p:sp>
        <p:nvSpPr>
          <p:cNvPr id="126979" name="灯片编号占位符 5"/>
          <p:cNvSpPr>
            <a:spLocks noGrp="1"/>
          </p:cNvSpPr>
          <p:nvPr>
            <p:ph type="sldNum" sz="quarter" idx="12"/>
          </p:nvPr>
        </p:nvSpPr>
        <p:spPr>
          <a:noFill/>
        </p:spPr>
        <p:txBody>
          <a:bodyPr/>
          <a:lstStyle/>
          <a:p>
            <a:fld id="{550B3896-4D05-4FB9-AF7C-24CB1496D9B8}" type="slidenum">
              <a:rPr lang="en-US" altLang="zh-CN" smtClean="0"/>
              <a:pPr/>
              <a:t>71</a:t>
            </a:fld>
            <a:endParaRPr lang="en-US" altLang="zh-CN" smtClean="0"/>
          </a:p>
        </p:txBody>
      </p:sp>
      <p:sp>
        <p:nvSpPr>
          <p:cNvPr id="621570" name="Rectangle 2"/>
          <p:cNvSpPr>
            <a:spLocks noGrp="1" noRot="1" noChangeArrowheads="1"/>
          </p:cNvSpPr>
          <p:nvPr>
            <p:ph type="title"/>
          </p:nvPr>
        </p:nvSpPr>
        <p:spPr>
          <a:xfrm>
            <a:off x="511175" y="628650"/>
            <a:ext cx="7785100" cy="842963"/>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p>
        </p:txBody>
      </p:sp>
      <p:sp>
        <p:nvSpPr>
          <p:cNvPr id="621571" name="Rectangle 3"/>
          <p:cNvSpPr>
            <a:spLocks noGrp="1" noRot="1" noChangeArrowheads="1"/>
          </p:cNvSpPr>
          <p:nvPr>
            <p:ph type="body" idx="1"/>
          </p:nvPr>
        </p:nvSpPr>
        <p:spPr>
          <a:xfrm>
            <a:off x="514350" y="1103313"/>
            <a:ext cx="8229600" cy="4805362"/>
          </a:xfrm>
        </p:spPr>
        <p:txBody>
          <a:bodyPr/>
          <a:lstStyle/>
          <a:p>
            <a:pPr eaLnBrk="1" hangingPunct="1">
              <a:lnSpc>
                <a:spcPct val="125000"/>
              </a:lnSpc>
              <a:defRPr/>
            </a:pPr>
            <a:endParaRPr lang="en-US" altLang="zh-CN" smtClean="0">
              <a:ea typeface="黑体" pitchFamily="2" charset="-122"/>
            </a:endParaRPr>
          </a:p>
          <a:p>
            <a:pPr eaLnBrk="1" hangingPunct="1">
              <a:lnSpc>
                <a:spcPct val="125000"/>
              </a:lnSpc>
              <a:defRPr/>
            </a:pPr>
            <a:r>
              <a:rPr lang="zh-CN" altLang="en-US" smtClean="0">
                <a:latin typeface="Times New Roman" pitchFamily="18" charset="0"/>
                <a:ea typeface="黑体" pitchFamily="2" charset="-122"/>
              </a:rPr>
              <a:t>无论在光学测量还是在光学设计中，现在都普遍认为光学传递函数是一种评价光学系统成像质量较为完善的指标。</a:t>
            </a:r>
          </a:p>
          <a:p>
            <a:pPr eaLnBrk="1" hangingPunct="1">
              <a:lnSpc>
                <a:spcPct val="125000"/>
              </a:lnSpc>
              <a:defRPr/>
            </a:pPr>
            <a:r>
              <a:rPr lang="zh-CN" altLang="en-US" smtClean="0">
                <a:latin typeface="Times New Roman" pitchFamily="18" charset="0"/>
                <a:ea typeface="黑体" pitchFamily="2" charset="-122"/>
              </a:rPr>
              <a:t>光学传递函数概念在应用光学领域中，已经如同几何像差和波像差那样被大家所熟悉。</a:t>
            </a:r>
          </a:p>
        </p:txBody>
      </p:sp>
    </p:spTree>
  </p:cSld>
  <p:clrMapOvr>
    <a:masterClrMapping/>
  </p:clrMapOvr>
  <p:transition spd="slow">
    <p:circl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日期占位符 3"/>
          <p:cNvSpPr>
            <a:spLocks noGrp="1"/>
          </p:cNvSpPr>
          <p:nvPr>
            <p:ph type="dt" sz="quarter" idx="10"/>
          </p:nvPr>
        </p:nvSpPr>
        <p:spPr>
          <a:noFill/>
        </p:spPr>
        <p:txBody>
          <a:bodyPr/>
          <a:lstStyle/>
          <a:p>
            <a:fld id="{3E8CAD6D-464D-4826-8698-2FB4A0EA75D7}" type="datetime1">
              <a:rPr lang="zh-CN" altLang="en-US" smtClean="0"/>
              <a:pPr/>
              <a:t>2018/2/24</a:t>
            </a:fld>
            <a:endParaRPr lang="en-US" altLang="zh-CN" smtClean="0"/>
          </a:p>
        </p:txBody>
      </p:sp>
      <p:sp>
        <p:nvSpPr>
          <p:cNvPr id="46084" name="灯片编号占位符 5"/>
          <p:cNvSpPr>
            <a:spLocks noGrp="1"/>
          </p:cNvSpPr>
          <p:nvPr>
            <p:ph type="sldNum" sz="quarter" idx="12"/>
          </p:nvPr>
        </p:nvSpPr>
        <p:spPr>
          <a:noFill/>
        </p:spPr>
        <p:txBody>
          <a:bodyPr/>
          <a:lstStyle/>
          <a:p>
            <a:fld id="{9697D4C4-9B47-4D07-A456-2E2401868057}" type="slidenum">
              <a:rPr lang="en-US" altLang="zh-CN" smtClean="0"/>
              <a:pPr/>
              <a:t>72</a:t>
            </a:fld>
            <a:endParaRPr lang="en-US" altLang="zh-CN" smtClean="0"/>
          </a:p>
        </p:txBody>
      </p:sp>
      <p:sp>
        <p:nvSpPr>
          <p:cNvPr id="622594"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22595" name="Rectangle 3"/>
          <p:cNvSpPr>
            <a:spLocks noGrp="1" noRot="1" noChangeArrowheads="1"/>
          </p:cNvSpPr>
          <p:nvPr>
            <p:ph type="body" idx="1"/>
          </p:nvPr>
        </p:nvSpPr>
        <p:spPr>
          <a:xfrm>
            <a:off x="500063" y="1901825"/>
            <a:ext cx="8243887" cy="4748213"/>
          </a:xfrm>
        </p:spPr>
        <p:txBody>
          <a:bodyPr/>
          <a:lstStyle/>
          <a:p>
            <a:pPr eaLnBrk="1" hangingPunct="1">
              <a:buFont typeface="Wingdings" pitchFamily="2" charset="2"/>
              <a:buNone/>
              <a:defRPr/>
            </a:pPr>
            <a:r>
              <a:rPr lang="en-US" altLang="zh-CN" smtClean="0">
                <a:latin typeface="Times New Roman" pitchFamily="18" charset="0"/>
                <a:ea typeface="黑体" pitchFamily="2" charset="-122"/>
              </a:rPr>
              <a:t>1.1  </a:t>
            </a:r>
            <a:r>
              <a:rPr lang="zh-CN" altLang="en-US" smtClean="0">
                <a:latin typeface="Times New Roman" pitchFamily="18" charset="0"/>
                <a:ea typeface="黑体" pitchFamily="2" charset="-122"/>
              </a:rPr>
              <a:t>以点扩散函数为基础的定义</a:t>
            </a:r>
          </a:p>
          <a:p>
            <a:pPr eaLnBrk="1" hangingPunct="1">
              <a:buFont typeface="Wingdings" pitchFamily="2" charset="2"/>
              <a:buNone/>
              <a:defRPr/>
            </a:pPr>
            <a:r>
              <a:rPr lang="en-US" altLang="zh-CN" smtClean="0">
                <a:latin typeface="Times New Roman" pitchFamily="18" charset="0"/>
                <a:ea typeface="黑体" pitchFamily="2" charset="-122"/>
              </a:rPr>
              <a:t>1</a:t>
            </a:r>
            <a:r>
              <a:rPr lang="zh-CN" altLang="en-US" smtClean="0">
                <a:latin typeface="Times New Roman" pitchFamily="18" charset="0"/>
                <a:ea typeface="黑体" pitchFamily="2" charset="-122"/>
              </a:rPr>
              <a:t>）线性条件和空间不变性条件</a:t>
            </a:r>
          </a:p>
          <a:p>
            <a:pPr eaLnBrk="1" hangingPunct="1">
              <a:defRPr/>
            </a:pPr>
            <a:r>
              <a:rPr lang="zh-CN" altLang="en-US" smtClean="0">
                <a:latin typeface="Times New Roman" pitchFamily="18" charset="0"/>
                <a:ea typeface="黑体" pitchFamily="2" charset="-122"/>
              </a:rPr>
              <a:t>光学传递函数概念的</a:t>
            </a:r>
            <a:r>
              <a:rPr lang="zh-CN" altLang="en-US" smtClean="0">
                <a:solidFill>
                  <a:srgbClr val="FF0000"/>
                </a:solidFill>
                <a:latin typeface="Times New Roman" pitchFamily="18" charset="0"/>
                <a:ea typeface="黑体" pitchFamily="2" charset="-122"/>
              </a:rPr>
              <a:t>特点</a:t>
            </a:r>
            <a:r>
              <a:rPr lang="zh-CN" altLang="en-US" smtClean="0">
                <a:latin typeface="Times New Roman" pitchFamily="18" charset="0"/>
                <a:ea typeface="黑体" pitchFamily="2" charset="-122"/>
              </a:rPr>
              <a:t>是把物面的光量（在相干照明时指光振幅，在非相干照明时指光强度）分布和像面的</a:t>
            </a:r>
            <a:r>
              <a:rPr lang="zh-CN" altLang="en-US" smtClean="0">
                <a:solidFill>
                  <a:srgbClr val="FF0000"/>
                </a:solidFill>
                <a:latin typeface="Times New Roman" pitchFamily="18" charset="0"/>
                <a:ea typeface="黑体" pitchFamily="2" charset="-122"/>
              </a:rPr>
              <a:t>光量分布</a:t>
            </a:r>
            <a:r>
              <a:rPr lang="zh-CN" altLang="en-US" smtClean="0">
                <a:latin typeface="Times New Roman" pitchFamily="18" charset="0"/>
                <a:ea typeface="黑体" pitchFamily="2" charset="-122"/>
              </a:rPr>
              <a:t>联系起来考虑，而不是像其它像质指标那样单独考虑一个物点或者一组亮线的成像。</a:t>
            </a:r>
          </a:p>
          <a:p>
            <a:pPr eaLnBrk="1" hangingPunct="1">
              <a:defRPr/>
            </a:pPr>
            <a:r>
              <a:rPr lang="zh-CN" altLang="en-US" smtClean="0">
                <a:solidFill>
                  <a:srgbClr val="FF0000"/>
                </a:solidFill>
                <a:latin typeface="Times New Roman" pitchFamily="18" charset="0"/>
                <a:ea typeface="黑体" pitchFamily="2" charset="-122"/>
              </a:rPr>
              <a:t>线性条件</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满足线性条件的系统，其像平面上任一点处所形成的光量</a:t>
            </a:r>
            <a:r>
              <a:rPr lang="en-US" altLang="zh-CN" i="1" smtClean="0">
                <a:latin typeface="Times New Roman" pitchFamily="18" charset="0"/>
                <a:ea typeface="黑体" pitchFamily="2" charset="-122"/>
              </a:rPr>
              <a:t>i</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en-US" altLang="zh-CN" i="1" smtClean="0">
                <a:latin typeface="Times New Roman" pitchFamily="18" charset="0"/>
                <a:ea typeface="黑体" pitchFamily="2" charset="-122"/>
                <a:cs typeface="Times New Roman" pitchFamily="18" charset="0"/>
              </a:rPr>
              <a:t>'</a:t>
            </a:r>
            <a:r>
              <a:rPr lang="en-US" altLang="zh-CN" smtClean="0">
                <a:latin typeface="Times New Roman" pitchFamily="18" charset="0"/>
                <a:ea typeface="黑体" pitchFamily="2" charset="-122"/>
              </a:rPr>
              <a:t>, </a:t>
            </a:r>
            <a:r>
              <a:rPr lang="en-US" altLang="zh-CN" i="1" smtClean="0">
                <a:latin typeface="Times New Roman" pitchFamily="18" charset="0"/>
                <a:ea typeface="黑体" pitchFamily="2" charset="-122"/>
              </a:rPr>
              <a:t>v' </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可以看成是物平面上每一点处的光量</a:t>
            </a:r>
            <a:r>
              <a:rPr lang="en-US" altLang="zh-CN" i="1" smtClean="0">
                <a:latin typeface="Times New Roman" pitchFamily="18" charset="0"/>
                <a:ea typeface="黑体" pitchFamily="2" charset="-122"/>
              </a:rPr>
              <a:t>o</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v</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在像平面</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en-US" altLang="zh-CN" smtClean="0">
                <a:latin typeface="Times New Roman" pitchFamily="18" charset="0"/>
                <a:ea typeface="黑体" pitchFamily="2" charset="-122"/>
              </a:rPr>
              <a:t>, </a:t>
            </a:r>
            <a:r>
              <a:rPr lang="en-US" altLang="zh-CN" i="1" smtClean="0">
                <a:latin typeface="Times New Roman" pitchFamily="18" charset="0"/>
                <a:ea typeface="黑体" pitchFamily="2" charset="-122"/>
              </a:rPr>
              <a:t>v'</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处所形成光量的</a:t>
            </a:r>
            <a:r>
              <a:rPr lang="zh-CN" altLang="en-US" smtClean="0">
                <a:solidFill>
                  <a:srgbClr val="FF0000"/>
                </a:solidFill>
                <a:latin typeface="Times New Roman" pitchFamily="18" charset="0"/>
                <a:ea typeface="黑体" pitchFamily="2" charset="-122"/>
              </a:rPr>
              <a:t>叠加</a:t>
            </a:r>
            <a:r>
              <a:rPr lang="zh-CN" altLang="en-US" smtClean="0">
                <a:latin typeface="Times New Roman" pitchFamily="18" charset="0"/>
                <a:ea typeface="黑体" pitchFamily="2" charset="-122"/>
              </a:rPr>
              <a:t>，可以表示为</a:t>
            </a:r>
          </a:p>
        </p:txBody>
      </p:sp>
      <p:sp>
        <p:nvSpPr>
          <p:cNvPr id="46087"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2597" name="Object 5"/>
          <p:cNvGraphicFramePr>
            <a:graphicFrameLocks noChangeAspect="1"/>
          </p:cNvGraphicFramePr>
          <p:nvPr/>
        </p:nvGraphicFramePr>
        <p:xfrm>
          <a:off x="2032000" y="5575300"/>
          <a:ext cx="5232400" cy="687388"/>
        </p:xfrm>
        <a:graphic>
          <a:graphicData uri="http://schemas.openxmlformats.org/presentationml/2006/ole">
            <p:oleObj spid="_x0000_s46082" name="公式" r:id="rId3" imgW="53949917" imgH="7010717" progId="Equation.3">
              <p:embed/>
            </p:oleObj>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2597"/>
                                        </p:tgtEl>
                                        <p:attrNameLst>
                                          <p:attrName>style.visibility</p:attrName>
                                        </p:attrNameLst>
                                      </p:cBhvr>
                                      <p:to>
                                        <p:strVal val="visible"/>
                                      </p:to>
                                    </p:set>
                                    <p:anim calcmode="lin" valueType="num">
                                      <p:cBhvr additive="base">
                                        <p:cTn id="7" dur="500" fill="hold"/>
                                        <p:tgtEl>
                                          <p:spTgt spid="622597"/>
                                        </p:tgtEl>
                                        <p:attrNameLst>
                                          <p:attrName>ppt_x</p:attrName>
                                        </p:attrNameLst>
                                      </p:cBhvr>
                                      <p:tavLst>
                                        <p:tav tm="0">
                                          <p:val>
                                            <p:strVal val="#ppt_x"/>
                                          </p:val>
                                        </p:tav>
                                        <p:tav tm="100000">
                                          <p:val>
                                            <p:strVal val="#ppt_x"/>
                                          </p:val>
                                        </p:tav>
                                      </p:tavLst>
                                    </p:anim>
                                    <p:anim calcmode="lin" valueType="num">
                                      <p:cBhvr additive="base">
                                        <p:cTn id="8" dur="500" fill="hold"/>
                                        <p:tgtEl>
                                          <p:spTgt spid="6225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日期占位符 3"/>
          <p:cNvSpPr>
            <a:spLocks noGrp="1"/>
          </p:cNvSpPr>
          <p:nvPr>
            <p:ph type="dt" sz="quarter" idx="10"/>
          </p:nvPr>
        </p:nvSpPr>
        <p:spPr>
          <a:noFill/>
        </p:spPr>
        <p:txBody>
          <a:bodyPr/>
          <a:lstStyle/>
          <a:p>
            <a:fld id="{E255F9A7-A916-40F8-995B-E3A78446A6F2}" type="datetime1">
              <a:rPr lang="zh-CN" altLang="en-US" smtClean="0"/>
              <a:pPr/>
              <a:t>2018/2/24</a:t>
            </a:fld>
            <a:endParaRPr lang="en-US" altLang="zh-CN" smtClean="0"/>
          </a:p>
        </p:txBody>
      </p:sp>
      <p:sp>
        <p:nvSpPr>
          <p:cNvPr id="47108" name="灯片编号占位符 5"/>
          <p:cNvSpPr>
            <a:spLocks noGrp="1"/>
          </p:cNvSpPr>
          <p:nvPr>
            <p:ph type="sldNum" sz="quarter" idx="12"/>
          </p:nvPr>
        </p:nvSpPr>
        <p:spPr>
          <a:noFill/>
        </p:spPr>
        <p:txBody>
          <a:bodyPr/>
          <a:lstStyle/>
          <a:p>
            <a:fld id="{BAE11F06-DB4D-4894-B520-91A02EA26604}" type="slidenum">
              <a:rPr lang="en-US" altLang="zh-CN" smtClean="0"/>
              <a:pPr/>
              <a:t>73</a:t>
            </a:fld>
            <a:endParaRPr lang="en-US" altLang="zh-CN" smtClean="0"/>
          </a:p>
        </p:txBody>
      </p:sp>
      <p:sp>
        <p:nvSpPr>
          <p:cNvPr id="623619" name="Rectangle 3"/>
          <p:cNvSpPr>
            <a:spLocks noGrp="1" noRot="1" noChangeArrowheads="1"/>
          </p:cNvSpPr>
          <p:nvPr>
            <p:ph type="body" idx="1"/>
          </p:nvPr>
        </p:nvSpPr>
        <p:spPr>
          <a:xfrm>
            <a:off x="500063" y="1901825"/>
            <a:ext cx="8243887" cy="4748213"/>
          </a:xfrm>
        </p:spPr>
        <p:txBody>
          <a:bodyPr/>
          <a:lstStyle/>
          <a:p>
            <a:pPr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）线性条件和空间不变性条件</a:t>
            </a:r>
          </a:p>
          <a:p>
            <a:pPr eaLnBrk="1" hangingPunct="1">
              <a:defRPr/>
            </a:pPr>
            <a:r>
              <a:rPr lang="en-US" altLang="zh-CN" i="1" dirty="0" smtClean="0">
                <a:latin typeface="Times New Roman" pitchFamily="18" charset="0"/>
                <a:ea typeface="黑体" pitchFamily="2" charset="-122"/>
              </a:rPr>
              <a:t>h</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u,v,u</a:t>
            </a:r>
            <a:r>
              <a:rPr lang="en-US" altLang="en-US" dirty="0" err="1" smtClean="0"/>
              <a:t>´</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v</a:t>
            </a:r>
            <a:r>
              <a:rPr lang="en-US" altLang="en-US" dirty="0" smtClean="0"/>
              <a:t>´</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是</a:t>
            </a:r>
            <a:r>
              <a:rPr lang="zh-CN" altLang="en-US" dirty="0" smtClean="0">
                <a:solidFill>
                  <a:srgbClr val="FF0000"/>
                </a:solidFill>
                <a:latin typeface="Times New Roman" pitchFamily="18" charset="0"/>
                <a:ea typeface="黑体" pitchFamily="2" charset="-122"/>
              </a:rPr>
              <a:t>物平面上</a:t>
            </a:r>
            <a:r>
              <a:rPr lang="en-US" altLang="zh-CN" dirty="0" smtClean="0">
                <a:solidFill>
                  <a:srgbClr val="FF0000"/>
                </a:solidFill>
                <a:latin typeface="Times New Roman" pitchFamily="18" charset="0"/>
                <a:ea typeface="黑体" pitchFamily="2" charset="-122"/>
              </a:rPr>
              <a:t>(</a:t>
            </a:r>
            <a:r>
              <a:rPr lang="en-US" altLang="zh-CN" i="1" dirty="0" err="1" smtClean="0">
                <a:solidFill>
                  <a:srgbClr val="FF0000"/>
                </a:solidFill>
                <a:latin typeface="Times New Roman" pitchFamily="18" charset="0"/>
                <a:ea typeface="黑体" pitchFamily="2" charset="-122"/>
              </a:rPr>
              <a:t>u</a:t>
            </a:r>
            <a:r>
              <a:rPr lang="en-US" altLang="zh-CN" dirty="0" err="1" smtClean="0">
                <a:solidFill>
                  <a:srgbClr val="FF0000"/>
                </a:solidFill>
                <a:latin typeface="Times New Roman" pitchFamily="18" charset="0"/>
                <a:ea typeface="黑体" pitchFamily="2" charset="-122"/>
              </a:rPr>
              <a:t>,</a:t>
            </a:r>
            <a:r>
              <a:rPr lang="en-US" altLang="zh-CN" i="1" dirty="0" err="1" smtClean="0">
                <a:solidFill>
                  <a:srgbClr val="FF0000"/>
                </a:solidFill>
                <a:latin typeface="Times New Roman" pitchFamily="18" charset="0"/>
                <a:ea typeface="黑体" pitchFamily="2" charset="-122"/>
              </a:rPr>
              <a:t>v</a:t>
            </a:r>
            <a:r>
              <a:rPr lang="en-US" altLang="zh-CN" dirty="0" smtClean="0">
                <a:solidFill>
                  <a:srgbClr val="FF0000"/>
                </a:solidFill>
                <a:latin typeface="Times New Roman" pitchFamily="18" charset="0"/>
                <a:ea typeface="黑体" pitchFamily="2" charset="-122"/>
              </a:rPr>
              <a:t>)</a:t>
            </a:r>
            <a:r>
              <a:rPr lang="zh-CN" altLang="en-US" dirty="0" smtClean="0">
                <a:solidFill>
                  <a:srgbClr val="FF0000"/>
                </a:solidFill>
                <a:latin typeface="Times New Roman" pitchFamily="18" charset="0"/>
                <a:ea typeface="黑体" pitchFamily="2" charset="-122"/>
              </a:rPr>
              <a:t>处光量为单位值的物点经光学系统后在像面上形成的光量分布</a:t>
            </a:r>
            <a:r>
              <a:rPr lang="zh-CN" altLang="en-US" dirty="0" smtClean="0">
                <a:latin typeface="Times New Roman" pitchFamily="18" charset="0"/>
                <a:ea typeface="黑体" pitchFamily="2" charset="-122"/>
              </a:rPr>
              <a:t>。</a:t>
            </a:r>
          </a:p>
          <a:p>
            <a:pPr eaLnBrk="1" hangingPunct="1">
              <a:defRPr/>
            </a:pPr>
            <a:r>
              <a:rPr lang="zh-CN" altLang="en-US" dirty="0" smtClean="0">
                <a:latin typeface="Times New Roman" pitchFamily="18" charset="0"/>
                <a:ea typeface="黑体" pitchFamily="2" charset="-122"/>
              </a:rPr>
              <a:t>像面光量分布</a:t>
            </a:r>
            <a:r>
              <a:rPr lang="en-US" altLang="zh-CN" i="1" dirty="0" err="1" smtClean="0">
                <a:latin typeface="Times New Roman" pitchFamily="18" charset="0"/>
                <a:ea typeface="黑体" pitchFamily="2" charset="-122"/>
              </a:rPr>
              <a:t>i</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u</a:t>
            </a:r>
            <a:r>
              <a:rPr lang="en-US" altLang="en-US" dirty="0" smtClean="0"/>
              <a:t>´</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v</a:t>
            </a:r>
            <a:r>
              <a:rPr lang="en-US" altLang="en-US" dirty="0" smtClean="0"/>
              <a:t>´</a:t>
            </a:r>
            <a:r>
              <a:rPr lang="zh-CN" altLang="en-US" dirty="0" smtClean="0">
                <a:latin typeface="Times New Roman" pitchFamily="18" charset="0"/>
                <a:ea typeface="黑体" pitchFamily="2" charset="-122"/>
              </a:rPr>
              <a:t>）和物面光量分布</a:t>
            </a:r>
            <a:r>
              <a:rPr lang="en-US" altLang="zh-CN" i="1" dirty="0" smtClean="0">
                <a:latin typeface="Times New Roman" pitchFamily="18" charset="0"/>
                <a:ea typeface="黑体" pitchFamily="2" charset="-122"/>
              </a:rPr>
              <a:t>o</a:t>
            </a:r>
            <a:r>
              <a:rPr lang="zh-CN" altLang="en-US"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u,v</a:t>
            </a:r>
            <a:r>
              <a:rPr lang="zh-CN" altLang="en-US" dirty="0" smtClean="0">
                <a:latin typeface="Times New Roman" pitchFamily="18" charset="0"/>
                <a:ea typeface="黑体" pitchFamily="2" charset="-122"/>
              </a:rPr>
              <a:t>）之间是由</a:t>
            </a:r>
            <a:r>
              <a:rPr lang="en-US" altLang="zh-CN" i="1" dirty="0" smtClean="0">
                <a:latin typeface="Times New Roman" pitchFamily="18" charset="0"/>
                <a:ea typeface="黑体" pitchFamily="2" charset="-122"/>
              </a:rPr>
              <a:t>h</a:t>
            </a:r>
            <a:r>
              <a:rPr lang="zh-CN" altLang="en-US"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u,v,u</a:t>
            </a:r>
            <a:r>
              <a:rPr lang="en-US" altLang="en-US" dirty="0" err="1" smtClean="0"/>
              <a:t>´</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v</a:t>
            </a:r>
            <a:r>
              <a:rPr lang="en-US" altLang="en-US" dirty="0" smtClean="0"/>
              <a:t>´</a:t>
            </a:r>
            <a:r>
              <a:rPr lang="zh-CN" altLang="en-US" dirty="0" smtClean="0">
                <a:latin typeface="Times New Roman" pitchFamily="18" charset="0"/>
                <a:ea typeface="黑体" pitchFamily="2" charset="-122"/>
              </a:rPr>
              <a:t>）相联系的。</a:t>
            </a:r>
            <a:endParaRPr lang="en-US" altLang="zh-CN" dirty="0" smtClean="0">
              <a:latin typeface="Times New Roman" pitchFamily="18" charset="0"/>
              <a:ea typeface="黑体" pitchFamily="2" charset="-122"/>
            </a:endParaRPr>
          </a:p>
          <a:p>
            <a:pPr eaLnBrk="1" hangingPunct="1">
              <a:defRPr/>
            </a:pPr>
            <a:r>
              <a:rPr lang="zh-CN" altLang="en-US" dirty="0" smtClean="0">
                <a:latin typeface="Times New Roman" pitchFamily="18" charset="0"/>
                <a:ea typeface="黑体" pitchFamily="2" charset="-122"/>
              </a:rPr>
              <a:t>当认为物面上物体所占范围之外光量为零时，可写为：</a:t>
            </a:r>
          </a:p>
          <a:p>
            <a:pPr eaLnBrk="1" hangingPunct="1">
              <a:defRPr/>
            </a:pPr>
            <a:endParaRPr lang="zh-CN" altLang="en-US" dirty="0" smtClean="0">
              <a:latin typeface="Times New Roman" pitchFamily="18" charset="0"/>
              <a:ea typeface="黑体" pitchFamily="2" charset="-122"/>
            </a:endParaRPr>
          </a:p>
        </p:txBody>
      </p:sp>
      <p:sp>
        <p:nvSpPr>
          <p:cNvPr id="47111"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47112"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7106" name="Object 6"/>
          <p:cNvGraphicFramePr>
            <a:graphicFrameLocks noChangeAspect="1"/>
          </p:cNvGraphicFramePr>
          <p:nvPr/>
        </p:nvGraphicFramePr>
        <p:xfrm>
          <a:off x="2456193" y="5046477"/>
          <a:ext cx="4708525" cy="654050"/>
        </p:xfrm>
        <a:graphic>
          <a:graphicData uri="http://schemas.openxmlformats.org/presentationml/2006/ole">
            <p:oleObj spid="_x0000_s47106" name="公式" r:id="rId3" imgW="57607517" imgH="7925117" progId="Equation.3">
              <p:embed/>
            </p:oleObj>
          </a:graphicData>
        </a:graphic>
      </p:graphicFrame>
      <p:sp>
        <p:nvSpPr>
          <p:cNvPr id="10"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additive="base">
                                        <p:cTn id="7" dur="500" fill="hold"/>
                                        <p:tgtEl>
                                          <p:spTgt spid="47106"/>
                                        </p:tgtEl>
                                        <p:attrNameLst>
                                          <p:attrName>ppt_x</p:attrName>
                                        </p:attrNameLst>
                                      </p:cBhvr>
                                      <p:tavLst>
                                        <p:tav tm="0">
                                          <p:val>
                                            <p:strVal val="#ppt_x"/>
                                          </p:val>
                                        </p:tav>
                                        <p:tav tm="100000">
                                          <p:val>
                                            <p:strVal val="#ppt_x"/>
                                          </p:val>
                                        </p:tav>
                                      </p:tavLst>
                                    </p:anim>
                                    <p:anim calcmode="lin" valueType="num">
                                      <p:cBhvr additive="base">
                                        <p:cTn id="8" dur="500" fill="hold"/>
                                        <p:tgtEl>
                                          <p:spTgt spid="47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日期占位符 3"/>
          <p:cNvSpPr>
            <a:spLocks noGrp="1"/>
          </p:cNvSpPr>
          <p:nvPr>
            <p:ph type="dt" sz="quarter" idx="10"/>
          </p:nvPr>
        </p:nvSpPr>
        <p:spPr>
          <a:noFill/>
        </p:spPr>
        <p:txBody>
          <a:bodyPr/>
          <a:lstStyle/>
          <a:p>
            <a:fld id="{21BFF926-10F8-49E2-B2EB-D4DE5992814C}" type="datetime1">
              <a:rPr lang="zh-CN" altLang="en-US" smtClean="0"/>
              <a:pPr/>
              <a:t>2018/2/24</a:t>
            </a:fld>
            <a:endParaRPr lang="en-US" altLang="zh-CN" smtClean="0"/>
          </a:p>
        </p:txBody>
      </p:sp>
      <p:sp>
        <p:nvSpPr>
          <p:cNvPr id="48132" name="灯片编号占位符 5"/>
          <p:cNvSpPr>
            <a:spLocks noGrp="1"/>
          </p:cNvSpPr>
          <p:nvPr>
            <p:ph type="sldNum" sz="quarter" idx="12"/>
          </p:nvPr>
        </p:nvSpPr>
        <p:spPr>
          <a:noFill/>
        </p:spPr>
        <p:txBody>
          <a:bodyPr/>
          <a:lstStyle/>
          <a:p>
            <a:fld id="{F21C609C-10E6-40C5-A077-1BF2E1E88A75}" type="slidenum">
              <a:rPr lang="en-US" altLang="zh-CN" smtClean="0"/>
              <a:pPr/>
              <a:t>74</a:t>
            </a:fld>
            <a:endParaRPr lang="en-US" altLang="zh-CN" smtClean="0"/>
          </a:p>
        </p:txBody>
      </p:sp>
      <p:sp>
        <p:nvSpPr>
          <p:cNvPr id="624643" name="Rectangle 3"/>
          <p:cNvSpPr>
            <a:spLocks noGrp="1" noRot="1" noChangeArrowheads="1"/>
          </p:cNvSpPr>
          <p:nvPr>
            <p:ph type="body" idx="1"/>
          </p:nvPr>
        </p:nvSpPr>
        <p:spPr>
          <a:xfrm>
            <a:off x="500063" y="1901825"/>
            <a:ext cx="82438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）线性条件和空间不变性条件</a:t>
            </a:r>
          </a:p>
          <a:p>
            <a:pPr marL="449263" indent="-449263" algn="just" eaLnBrk="1" hangingPunct="1">
              <a:defRPr/>
            </a:pPr>
            <a:r>
              <a:rPr lang="zh-CN" altLang="en-US" dirty="0" smtClean="0">
                <a:solidFill>
                  <a:srgbClr val="FF0000"/>
                </a:solidFill>
                <a:latin typeface="Times New Roman" pitchFamily="18" charset="0"/>
                <a:ea typeface="黑体" pitchFamily="2" charset="-122"/>
              </a:rPr>
              <a:t>空间不变性条件</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表示物平面任意位置（</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v</a:t>
            </a:r>
            <a:r>
              <a:rPr lang="zh-CN" altLang="en-US" dirty="0" smtClean="0">
                <a:latin typeface="Times New Roman" pitchFamily="18" charset="0"/>
                <a:ea typeface="黑体" pitchFamily="2" charset="-122"/>
              </a:rPr>
              <a:t>）上光量为单位值的物点，在像平面上所形成的光量分布是相同的（与位置无关）。可用下式表示</a:t>
            </a:r>
          </a:p>
          <a:p>
            <a:pPr marL="449263" indent="-449263" algn="just" eaLnBrk="1" hangingPunct="1">
              <a:defRPr/>
            </a:pPr>
            <a:endParaRPr lang="zh-CN" altLang="en-US" dirty="0" smtClean="0">
              <a:latin typeface="Times New Roman" pitchFamily="18" charset="0"/>
              <a:ea typeface="黑体" pitchFamily="2" charset="-122"/>
            </a:endParaRPr>
          </a:p>
          <a:p>
            <a:pPr marL="449263" indent="-449263" algn="just" eaLnBrk="1" hangingPunct="1">
              <a:defRPr/>
            </a:pPr>
            <a:endParaRPr lang="zh-CN" altLang="en-US" dirty="0" smtClean="0">
              <a:latin typeface="Times New Roman" pitchFamily="18" charset="0"/>
              <a:ea typeface="黑体" pitchFamily="2" charset="-122"/>
            </a:endParaRPr>
          </a:p>
          <a:p>
            <a:pPr marL="449263" indent="-449263" algn="just" eaLnBrk="1" hangingPunct="1">
              <a:defRPr/>
            </a:pPr>
            <a:endParaRPr lang="en-US" altLang="zh-CN" dirty="0" smtClean="0">
              <a:latin typeface="Times New Roman" pitchFamily="18" charset="0"/>
              <a:ea typeface="黑体" pitchFamily="2" charset="-122"/>
            </a:endParaRPr>
          </a:p>
        </p:txBody>
      </p:sp>
      <p:sp>
        <p:nvSpPr>
          <p:cNvPr id="48135"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48136"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48137"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8130" name="Object 7"/>
          <p:cNvGraphicFramePr>
            <a:graphicFrameLocks noChangeAspect="1"/>
          </p:cNvGraphicFramePr>
          <p:nvPr/>
        </p:nvGraphicFramePr>
        <p:xfrm>
          <a:off x="2973388" y="4287838"/>
          <a:ext cx="3498850" cy="417512"/>
        </p:xfrm>
        <a:graphic>
          <a:graphicData uri="http://schemas.openxmlformats.org/presentationml/2006/ole">
            <p:oleObj spid="_x0000_s48130" name="公式" r:id="rId3" imgW="40233917" imgH="4877117" progId="Equation.3">
              <p:embed/>
            </p:oleObj>
          </a:graphicData>
        </a:graphic>
      </p:graphicFrame>
      <p:sp>
        <p:nvSpPr>
          <p:cNvPr id="48138" name="Rectangle 8"/>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日期占位符 3"/>
          <p:cNvSpPr>
            <a:spLocks noGrp="1"/>
          </p:cNvSpPr>
          <p:nvPr>
            <p:ph type="dt" sz="quarter" idx="10"/>
          </p:nvPr>
        </p:nvSpPr>
        <p:spPr>
          <a:noFill/>
        </p:spPr>
        <p:txBody>
          <a:bodyPr/>
          <a:lstStyle/>
          <a:p>
            <a:fld id="{F630C3B5-544F-4C6C-8EC6-A5A04121A367}" type="datetime1">
              <a:rPr lang="zh-CN" altLang="en-US" smtClean="0"/>
              <a:pPr/>
              <a:t>2018/2/24</a:t>
            </a:fld>
            <a:endParaRPr lang="en-US" altLang="zh-CN" smtClean="0"/>
          </a:p>
        </p:txBody>
      </p:sp>
      <p:sp>
        <p:nvSpPr>
          <p:cNvPr id="49156" name="灯片编号占位符 5"/>
          <p:cNvSpPr>
            <a:spLocks noGrp="1"/>
          </p:cNvSpPr>
          <p:nvPr>
            <p:ph type="sldNum" sz="quarter" idx="12"/>
          </p:nvPr>
        </p:nvSpPr>
        <p:spPr>
          <a:noFill/>
        </p:spPr>
        <p:txBody>
          <a:bodyPr/>
          <a:lstStyle/>
          <a:p>
            <a:fld id="{2BB5AE2C-0FA5-4DF1-AFBA-769A9CE1CC4D}" type="slidenum">
              <a:rPr lang="en-US" altLang="zh-CN" smtClean="0"/>
              <a:pPr/>
              <a:t>75</a:t>
            </a:fld>
            <a:endParaRPr lang="en-US" altLang="zh-CN" smtClean="0"/>
          </a:p>
        </p:txBody>
      </p:sp>
      <p:sp>
        <p:nvSpPr>
          <p:cNvPr id="625667" name="Rectangle 3"/>
          <p:cNvSpPr>
            <a:spLocks noGrp="1" noRot="1" noChangeArrowheads="1"/>
          </p:cNvSpPr>
          <p:nvPr>
            <p:ph type="body" idx="1"/>
          </p:nvPr>
        </p:nvSpPr>
        <p:spPr>
          <a:xfrm>
            <a:off x="500063" y="1901825"/>
            <a:ext cx="82438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）线性条件和空间不变性条件</a:t>
            </a:r>
          </a:p>
          <a:p>
            <a:pPr marL="449263" indent="-449263" algn="just" eaLnBrk="1" hangingPunct="1">
              <a:defRPr/>
            </a:pPr>
            <a:r>
              <a:rPr lang="zh-CN" altLang="en-US" dirty="0" smtClean="0">
                <a:latin typeface="Times New Roman" pitchFamily="18" charset="0"/>
                <a:ea typeface="黑体" pitchFamily="2" charset="-122"/>
              </a:rPr>
              <a:t>满足空间不变性条件时，成像公式可以写成 </a:t>
            </a:r>
          </a:p>
          <a:p>
            <a:pPr marL="449263" indent="-449263" algn="just" eaLnBrk="1" hangingPunct="1">
              <a:defRPr/>
            </a:pPr>
            <a:endParaRPr lang="zh-CN" altLang="en-US" dirty="0" smtClean="0">
              <a:latin typeface="Times New Roman" pitchFamily="18" charset="0"/>
              <a:ea typeface="黑体" pitchFamily="2" charset="-122"/>
            </a:endParaRPr>
          </a:p>
          <a:p>
            <a:pPr marL="449263" indent="-449263" algn="just" eaLnBrk="1" hangingPunct="1">
              <a:defRPr/>
            </a:pPr>
            <a:endParaRPr lang="zh-CN" altLang="en-US" dirty="0" smtClean="0">
              <a:latin typeface="Times New Roman" pitchFamily="18" charset="0"/>
              <a:ea typeface="黑体" pitchFamily="2" charset="-122"/>
            </a:endParaRPr>
          </a:p>
          <a:p>
            <a:pPr marL="449263" indent="-449263" algn="just" eaLnBrk="1" hangingPunct="1">
              <a:defRPr/>
            </a:pPr>
            <a:r>
              <a:rPr lang="zh-CN" altLang="en-US" dirty="0" smtClean="0">
                <a:latin typeface="Times New Roman" pitchFamily="18" charset="0"/>
                <a:ea typeface="黑体" pitchFamily="2" charset="-122"/>
              </a:rPr>
              <a:t>上式表示的数学运算称为卷积。</a:t>
            </a:r>
          </a:p>
          <a:p>
            <a:pPr marL="449263" indent="-449263" algn="just" eaLnBrk="1" hangingPunct="1">
              <a:defRPr/>
            </a:pPr>
            <a:r>
              <a:rPr lang="zh-CN" altLang="en-US" dirty="0" smtClean="0">
                <a:latin typeface="Times New Roman" pitchFamily="18" charset="0"/>
                <a:ea typeface="黑体" pitchFamily="2" charset="-122"/>
              </a:rPr>
              <a:t>一个光学系统只要满足线性条件和空间不变性条件，像面上的光量分布就可以表示成</a:t>
            </a:r>
            <a:r>
              <a:rPr lang="zh-CN" altLang="en-US" dirty="0" smtClean="0">
                <a:solidFill>
                  <a:srgbClr val="FF0000"/>
                </a:solidFill>
                <a:latin typeface="Times New Roman" pitchFamily="18" charset="0"/>
                <a:ea typeface="黑体" pitchFamily="2" charset="-122"/>
              </a:rPr>
              <a:t>物面光量分布和单位能量点物成像分布的卷积。</a:t>
            </a:r>
            <a:r>
              <a:rPr lang="zh-CN" altLang="en-US" dirty="0" smtClean="0">
                <a:latin typeface="Times New Roman" pitchFamily="18" charset="0"/>
                <a:ea typeface="黑体" pitchFamily="2" charset="-122"/>
              </a:rPr>
              <a:t> </a:t>
            </a:r>
          </a:p>
          <a:p>
            <a:pPr marL="449263" indent="-449263" algn="just" eaLnBrk="1" hangingPunct="1">
              <a:defRPr/>
            </a:pPr>
            <a:r>
              <a:rPr lang="zh-CN" altLang="en-US" dirty="0" smtClean="0">
                <a:latin typeface="Times New Roman" pitchFamily="18" charset="0"/>
                <a:ea typeface="黑体" pitchFamily="2" charset="-122"/>
              </a:rPr>
              <a:t>光学系统的空间不变性条件又称为</a:t>
            </a:r>
            <a:r>
              <a:rPr lang="zh-CN" altLang="en-US" dirty="0" smtClean="0">
                <a:solidFill>
                  <a:srgbClr val="FF0000"/>
                </a:solidFill>
                <a:latin typeface="Times New Roman" pitchFamily="18" charset="0"/>
                <a:ea typeface="黑体" pitchFamily="2" charset="-122"/>
              </a:rPr>
              <a:t>等晕条件</a:t>
            </a:r>
            <a:r>
              <a:rPr lang="zh-CN" altLang="en-US" dirty="0" smtClean="0">
                <a:latin typeface="Times New Roman" pitchFamily="18" charset="0"/>
                <a:ea typeface="黑体" pitchFamily="2" charset="-122"/>
              </a:rPr>
              <a:t>。 </a:t>
            </a:r>
          </a:p>
        </p:txBody>
      </p:sp>
      <p:sp>
        <p:nvSpPr>
          <p:cNvPr id="49159"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49160"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49161"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49162"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9154" name="Object 8"/>
          <p:cNvGraphicFramePr>
            <a:graphicFrameLocks noChangeAspect="1"/>
          </p:cNvGraphicFramePr>
          <p:nvPr/>
        </p:nvGraphicFramePr>
        <p:xfrm>
          <a:off x="2103438" y="3360738"/>
          <a:ext cx="5011737" cy="682625"/>
        </p:xfrm>
        <a:graphic>
          <a:graphicData uri="http://schemas.openxmlformats.org/presentationml/2006/ole">
            <p:oleObj spid="_x0000_s49154" name="公式" r:id="rId3" imgW="58826717" imgH="7925117" progId="Equation.3">
              <p:embed/>
            </p:oleObj>
          </a:graphicData>
        </a:graphic>
      </p:graphicFrame>
      <p:sp>
        <p:nvSpPr>
          <p:cNvPr id="12"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80" name="日期占位符 3"/>
          <p:cNvSpPr>
            <a:spLocks noGrp="1"/>
          </p:cNvSpPr>
          <p:nvPr>
            <p:ph type="dt" sz="quarter" idx="10"/>
          </p:nvPr>
        </p:nvSpPr>
        <p:spPr>
          <a:noFill/>
        </p:spPr>
        <p:txBody>
          <a:bodyPr/>
          <a:lstStyle/>
          <a:p>
            <a:fld id="{512DC2F2-0C2E-4A41-84E1-56DCAB00D95B}" type="datetime1">
              <a:rPr lang="zh-CN" altLang="en-US" smtClean="0"/>
              <a:pPr/>
              <a:t>2018/2/24</a:t>
            </a:fld>
            <a:endParaRPr lang="en-US" altLang="zh-CN" smtClean="0"/>
          </a:p>
        </p:txBody>
      </p:sp>
      <p:sp>
        <p:nvSpPr>
          <p:cNvPr id="50181" name="灯片编号占位符 5"/>
          <p:cNvSpPr>
            <a:spLocks noGrp="1"/>
          </p:cNvSpPr>
          <p:nvPr>
            <p:ph type="sldNum" sz="quarter" idx="12"/>
          </p:nvPr>
        </p:nvSpPr>
        <p:spPr>
          <a:noFill/>
        </p:spPr>
        <p:txBody>
          <a:bodyPr/>
          <a:lstStyle/>
          <a:p>
            <a:fld id="{D5588161-9326-4AA6-9D3D-A10565D4A83E}" type="slidenum">
              <a:rPr lang="en-US" altLang="zh-CN" smtClean="0"/>
              <a:pPr/>
              <a:t>76</a:t>
            </a:fld>
            <a:endParaRPr lang="en-US" altLang="zh-CN" smtClean="0"/>
          </a:p>
        </p:txBody>
      </p:sp>
      <p:sp>
        <p:nvSpPr>
          <p:cNvPr id="626691" name="Rectangle 3"/>
          <p:cNvSpPr>
            <a:spLocks noGrp="1" noRot="1" noChangeArrowheads="1"/>
          </p:cNvSpPr>
          <p:nvPr>
            <p:ph type="body" idx="1"/>
          </p:nvPr>
        </p:nvSpPr>
        <p:spPr>
          <a:xfrm>
            <a:off x="500063" y="1901825"/>
            <a:ext cx="82438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）点扩散函数</a:t>
            </a:r>
          </a:p>
          <a:p>
            <a:pPr marL="449263" indent="-449263" algn="just" eaLnBrk="1" hangingPunct="1">
              <a:defRPr/>
            </a:pPr>
            <a:r>
              <a:rPr lang="zh-CN" altLang="en-US" dirty="0" smtClean="0">
                <a:latin typeface="Times New Roman" pitchFamily="18" charset="0"/>
                <a:ea typeface="黑体" pitchFamily="2" charset="-122"/>
              </a:rPr>
              <a:t>在非相干照明条件下，如物点经光学系统成像的辐照度分布为</a:t>
            </a:r>
            <a:r>
              <a:rPr lang="en-US" altLang="zh-CN" i="1" dirty="0" smtClean="0">
                <a:latin typeface="Times New Roman" pitchFamily="18" charset="0"/>
                <a:ea typeface="黑体" pitchFamily="2" charset="-122"/>
              </a:rPr>
              <a:t>h</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，则其规化辐照度分布就称为</a:t>
            </a:r>
            <a:r>
              <a:rPr lang="zh-CN" altLang="en-US" dirty="0" smtClean="0">
                <a:solidFill>
                  <a:srgbClr val="FF0000"/>
                </a:solidFill>
                <a:latin typeface="Times New Roman" pitchFamily="18" charset="0"/>
                <a:ea typeface="黑体" pitchFamily="2" charset="-122"/>
              </a:rPr>
              <a:t>点扩散函数</a:t>
            </a:r>
            <a:r>
              <a:rPr lang="zh-CN" altLang="en-US" dirty="0" smtClean="0">
                <a:latin typeface="Times New Roman" pitchFamily="18" charset="0"/>
                <a:ea typeface="黑体" pitchFamily="2" charset="-122"/>
              </a:rPr>
              <a:t>，用符号</a:t>
            </a:r>
            <a:r>
              <a:rPr lang="en-US" altLang="zh-CN" i="1" dirty="0" smtClean="0">
                <a:latin typeface="Times New Roman" pitchFamily="18" charset="0"/>
                <a:ea typeface="黑体" pitchFamily="2" charset="-122"/>
              </a:rPr>
              <a:t>PSF</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表示，并可写成下式</a:t>
            </a: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algn="just" eaLnBrk="1" hangingPunct="1">
              <a:defRPr/>
            </a:pPr>
            <a:r>
              <a:rPr lang="zh-CN" altLang="en-US" dirty="0" smtClean="0">
                <a:latin typeface="Times New Roman" pitchFamily="18" charset="0"/>
                <a:ea typeface="黑体" pitchFamily="2" charset="-122"/>
              </a:rPr>
              <a:t>点扩散函数</a:t>
            </a:r>
            <a:r>
              <a:rPr lang="en-US" altLang="zh-CN" i="1" dirty="0" smtClean="0">
                <a:latin typeface="Times New Roman" pitchFamily="18" charset="0"/>
                <a:ea typeface="黑体" pitchFamily="2" charset="-122"/>
              </a:rPr>
              <a:t>PSF</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相同的区域就是光学系统的等晕区，即满足空间不变性条件的区域，在该区域中有</a:t>
            </a:r>
          </a:p>
          <a:p>
            <a:pPr marL="449263" indent="-449263" eaLnBrk="1" hangingPunct="1">
              <a:defRPr/>
            </a:pPr>
            <a:endParaRPr lang="en-US" altLang="zh-CN" dirty="0" smtClean="0">
              <a:latin typeface="Times New Roman" pitchFamily="18" charset="0"/>
              <a:ea typeface="黑体" pitchFamily="2" charset="-122"/>
            </a:endParaRPr>
          </a:p>
        </p:txBody>
      </p:sp>
      <p:sp>
        <p:nvSpPr>
          <p:cNvPr id="50184"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0185"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0186"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0187"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0188"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0178" name="Object 9"/>
          <p:cNvGraphicFramePr>
            <a:graphicFrameLocks noChangeAspect="1"/>
          </p:cNvGraphicFramePr>
          <p:nvPr/>
        </p:nvGraphicFramePr>
        <p:xfrm>
          <a:off x="3008313" y="3990975"/>
          <a:ext cx="3052762" cy="852488"/>
        </p:xfrm>
        <a:graphic>
          <a:graphicData uri="http://schemas.openxmlformats.org/presentationml/2006/ole">
            <p:oleObj spid="_x0000_s50178" name="公式" r:id="rId3" imgW="45110717" imgH="12497117" progId="Equation.3">
              <p:embed/>
            </p:oleObj>
          </a:graphicData>
        </a:graphic>
      </p:graphicFrame>
      <p:sp>
        <p:nvSpPr>
          <p:cNvPr id="50189" name="Rectangle 10"/>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0179" name="Object 11"/>
          <p:cNvGraphicFramePr>
            <a:graphicFrameLocks noChangeAspect="1"/>
          </p:cNvGraphicFramePr>
          <p:nvPr/>
        </p:nvGraphicFramePr>
        <p:xfrm>
          <a:off x="1930400" y="5738813"/>
          <a:ext cx="6051550" cy="504825"/>
        </p:xfrm>
        <a:graphic>
          <a:graphicData uri="http://schemas.openxmlformats.org/presentationml/2006/ole">
            <p:oleObj spid="_x0000_s50179" name="公式" r:id="rId4" imgW="65837117" imgH="5486717" progId="Equation.3">
              <p:embed/>
            </p:oleObj>
          </a:graphicData>
        </a:graphic>
      </p:graphicFrame>
      <p:sp>
        <p:nvSpPr>
          <p:cNvPr id="15"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5" name="日期占位符 3"/>
          <p:cNvSpPr>
            <a:spLocks noGrp="1"/>
          </p:cNvSpPr>
          <p:nvPr>
            <p:ph type="dt" sz="quarter" idx="10"/>
          </p:nvPr>
        </p:nvSpPr>
        <p:spPr>
          <a:noFill/>
        </p:spPr>
        <p:txBody>
          <a:bodyPr/>
          <a:lstStyle/>
          <a:p>
            <a:fld id="{4E3D8BAA-282F-4277-9F9B-AAE303737B4E}" type="datetime1">
              <a:rPr lang="zh-CN" altLang="en-US" smtClean="0"/>
              <a:pPr/>
              <a:t>2018/2/24</a:t>
            </a:fld>
            <a:endParaRPr lang="en-US" altLang="zh-CN" smtClean="0"/>
          </a:p>
        </p:txBody>
      </p:sp>
      <p:sp>
        <p:nvSpPr>
          <p:cNvPr id="51206" name="灯片编号占位符 5"/>
          <p:cNvSpPr>
            <a:spLocks noGrp="1"/>
          </p:cNvSpPr>
          <p:nvPr>
            <p:ph type="sldNum" sz="quarter" idx="12"/>
          </p:nvPr>
        </p:nvSpPr>
        <p:spPr>
          <a:noFill/>
        </p:spPr>
        <p:txBody>
          <a:bodyPr/>
          <a:lstStyle/>
          <a:p>
            <a:fld id="{D0A52092-11CD-4BC9-AE65-0DDD36A3DD47}" type="slidenum">
              <a:rPr lang="en-US" altLang="zh-CN" smtClean="0"/>
              <a:pPr/>
              <a:t>77</a:t>
            </a:fld>
            <a:endParaRPr lang="en-US" altLang="zh-CN" smtClean="0"/>
          </a:p>
        </p:txBody>
      </p:sp>
      <p:sp>
        <p:nvSpPr>
          <p:cNvPr id="627715" name="Rectangle 3"/>
          <p:cNvSpPr>
            <a:spLocks noGrp="1" noRot="1" noChangeArrowheads="1"/>
          </p:cNvSpPr>
          <p:nvPr>
            <p:ph type="body" idx="1"/>
          </p:nvPr>
        </p:nvSpPr>
        <p:spPr>
          <a:xfrm>
            <a:off x="500063" y="1901825"/>
            <a:ext cx="82438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）光学传递函数的定义</a:t>
            </a:r>
          </a:p>
          <a:p>
            <a:pPr marL="449263" indent="-449263" eaLnBrk="1" hangingPunct="1">
              <a:defRPr/>
            </a:pPr>
            <a:r>
              <a:rPr lang="zh-CN" altLang="en-US" dirty="0" smtClean="0">
                <a:latin typeface="Times New Roman" pitchFamily="18" charset="0"/>
                <a:ea typeface="黑体" pitchFamily="2" charset="-122"/>
              </a:rPr>
              <a:t>根据傅里叶变换中的卷积定理，可以将</a:t>
            </a: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r>
              <a:rPr lang="zh-CN" altLang="en-US" dirty="0" smtClean="0">
                <a:latin typeface="Times New Roman" pitchFamily="18" charset="0"/>
                <a:ea typeface="黑体" pitchFamily="2" charset="-122"/>
              </a:rPr>
              <a:t>写成</a:t>
            </a:r>
          </a:p>
          <a:p>
            <a:pPr marL="449263" indent="-449263" algn="just" eaLnBrk="1" hangingPunct="1">
              <a:defRPr/>
            </a:pPr>
            <a:r>
              <a:rPr lang="en-US" altLang="zh-CN" i="1" dirty="0" smtClean="0">
                <a:latin typeface="Times New Roman" pitchFamily="18" charset="0"/>
                <a:ea typeface="黑体" pitchFamily="2" charset="-122"/>
              </a:rPr>
              <a:t>OTF</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r</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s</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被称为</a:t>
            </a:r>
            <a:r>
              <a:rPr lang="zh-CN" altLang="en-US" dirty="0" smtClean="0">
                <a:solidFill>
                  <a:srgbClr val="FF0000"/>
                </a:solidFill>
                <a:latin typeface="Times New Roman" pitchFamily="18" charset="0"/>
                <a:ea typeface="黑体" pitchFamily="2" charset="-122"/>
              </a:rPr>
              <a:t>光学传递函数</a:t>
            </a:r>
            <a:r>
              <a:rPr lang="zh-CN" altLang="en-US" dirty="0" smtClean="0">
                <a:latin typeface="Times New Roman" pitchFamily="18" charset="0"/>
                <a:ea typeface="黑体" pitchFamily="2" charset="-122"/>
              </a:rPr>
              <a:t>，它是点扩散函数</a:t>
            </a:r>
            <a:r>
              <a:rPr lang="en-US" altLang="zh-CN" i="1" dirty="0" smtClean="0">
                <a:latin typeface="Times New Roman" pitchFamily="18" charset="0"/>
                <a:ea typeface="黑体" pitchFamily="2" charset="-122"/>
              </a:rPr>
              <a:t>PSF</a:t>
            </a:r>
            <a:r>
              <a:rPr lang="en-US" altLang="zh-CN" dirty="0" smtClean="0">
                <a:latin typeface="Times New Roman" pitchFamily="18" charset="0"/>
                <a:ea typeface="黑体" pitchFamily="2" charset="-122"/>
              </a:rPr>
              <a:t>(</a:t>
            </a:r>
            <a:r>
              <a:rPr lang="en-US" altLang="zh-CN" i="1" dirty="0" err="1" smtClean="0">
                <a:latin typeface="Times New Roman" pitchFamily="18" charset="0"/>
                <a:ea typeface="黑体" pitchFamily="2" charset="-122"/>
              </a:rPr>
              <a:t>u</a:t>
            </a:r>
            <a:r>
              <a:rPr lang="en-US" altLang="zh-CN" dirty="0" err="1" smtClean="0">
                <a:latin typeface="Times New Roman" pitchFamily="18" charset="0"/>
                <a:ea typeface="黑体" pitchFamily="2" charset="-122"/>
              </a:rPr>
              <a:t>,</a:t>
            </a:r>
            <a:r>
              <a:rPr lang="en-US" altLang="zh-CN" i="1" dirty="0" err="1" smtClean="0">
                <a:latin typeface="Times New Roman" pitchFamily="18" charset="0"/>
                <a:ea typeface="黑体" pitchFamily="2" charset="-122"/>
              </a:rPr>
              <a:t>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的傅里叶变换</a:t>
            </a:r>
          </a:p>
        </p:txBody>
      </p:sp>
      <p:sp>
        <p:nvSpPr>
          <p:cNvPr id="51209"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1210"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1211"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1212"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1213"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1214"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02" name="Object 10"/>
          <p:cNvGraphicFramePr>
            <a:graphicFrameLocks noChangeAspect="1"/>
          </p:cNvGraphicFramePr>
          <p:nvPr/>
        </p:nvGraphicFramePr>
        <p:xfrm>
          <a:off x="1857375" y="3357563"/>
          <a:ext cx="6080125" cy="504825"/>
        </p:xfrm>
        <a:graphic>
          <a:graphicData uri="http://schemas.openxmlformats.org/presentationml/2006/ole">
            <p:oleObj spid="_x0000_s51202" name="公式" r:id="rId3" imgW="66141917" imgH="5486717" progId="Equation.3">
              <p:embed/>
            </p:oleObj>
          </a:graphicData>
        </a:graphic>
      </p:graphicFrame>
      <p:sp>
        <p:nvSpPr>
          <p:cNvPr id="51215" name="Rectangle 11"/>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03" name="Object 12"/>
          <p:cNvGraphicFramePr>
            <a:graphicFrameLocks noChangeAspect="1"/>
          </p:cNvGraphicFramePr>
          <p:nvPr/>
        </p:nvGraphicFramePr>
        <p:xfrm>
          <a:off x="1843088" y="4054475"/>
          <a:ext cx="4276725" cy="519113"/>
        </p:xfrm>
        <a:graphic>
          <a:graphicData uri="http://schemas.openxmlformats.org/presentationml/2006/ole">
            <p:oleObj spid="_x0000_s51203" name="公式" r:id="rId4" imgW="39624317" imgH="4877117" progId="Equation.3">
              <p:embed/>
            </p:oleObj>
          </a:graphicData>
        </a:graphic>
      </p:graphicFrame>
      <p:sp>
        <p:nvSpPr>
          <p:cNvPr id="51216"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04" name="Object 14"/>
          <p:cNvGraphicFramePr>
            <a:graphicFrameLocks noChangeAspect="1"/>
          </p:cNvGraphicFramePr>
          <p:nvPr/>
        </p:nvGraphicFramePr>
        <p:xfrm>
          <a:off x="1509713" y="5526088"/>
          <a:ext cx="6792912" cy="711200"/>
        </p:xfrm>
        <a:graphic>
          <a:graphicData uri="http://schemas.openxmlformats.org/presentationml/2006/ole">
            <p:oleObj spid="_x0000_s51204" name="Equation" r:id="rId5" imgW="76505117" imgH="7925117" progId="">
              <p:embed/>
            </p:oleObj>
          </a:graphicData>
        </a:graphic>
      </p:graphicFrame>
      <p:sp>
        <p:nvSpPr>
          <p:cNvPr id="18"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日期占位符 3"/>
          <p:cNvSpPr>
            <a:spLocks noGrp="1"/>
          </p:cNvSpPr>
          <p:nvPr>
            <p:ph type="dt" sz="quarter" idx="10"/>
          </p:nvPr>
        </p:nvSpPr>
        <p:spPr>
          <a:noFill/>
        </p:spPr>
        <p:txBody>
          <a:bodyPr/>
          <a:lstStyle/>
          <a:p>
            <a:fld id="{291F9E0A-DCE5-4718-B589-A7F57DFCCA99}" type="datetime1">
              <a:rPr lang="zh-CN" altLang="en-US" smtClean="0"/>
              <a:pPr/>
              <a:t>2018/2/24</a:t>
            </a:fld>
            <a:endParaRPr lang="en-US" altLang="zh-CN" smtClean="0"/>
          </a:p>
        </p:txBody>
      </p:sp>
      <p:sp>
        <p:nvSpPr>
          <p:cNvPr id="52228" name="灯片编号占位符 5"/>
          <p:cNvSpPr>
            <a:spLocks noGrp="1"/>
          </p:cNvSpPr>
          <p:nvPr>
            <p:ph type="sldNum" sz="quarter" idx="12"/>
          </p:nvPr>
        </p:nvSpPr>
        <p:spPr>
          <a:noFill/>
        </p:spPr>
        <p:txBody>
          <a:bodyPr/>
          <a:lstStyle/>
          <a:p>
            <a:fld id="{9BF927CE-8267-4515-AFEB-239A7A652FB6}" type="slidenum">
              <a:rPr lang="en-US" altLang="zh-CN" smtClean="0"/>
              <a:pPr/>
              <a:t>78</a:t>
            </a:fld>
            <a:endParaRPr lang="en-US" altLang="zh-CN" smtClean="0"/>
          </a:p>
        </p:txBody>
      </p:sp>
      <p:sp>
        <p:nvSpPr>
          <p:cNvPr id="628739" name="Rectangle 3"/>
          <p:cNvSpPr>
            <a:spLocks noGrp="1" noRot="1" noChangeArrowheads="1"/>
          </p:cNvSpPr>
          <p:nvPr>
            <p:ph type="body" idx="1"/>
          </p:nvPr>
        </p:nvSpPr>
        <p:spPr>
          <a:xfrm>
            <a:off x="500063" y="1901825"/>
            <a:ext cx="82438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3</a:t>
            </a:r>
            <a:r>
              <a:rPr lang="zh-CN" altLang="en-US" dirty="0" smtClean="0">
                <a:latin typeface="Times New Roman" pitchFamily="18" charset="0"/>
                <a:ea typeface="黑体" pitchFamily="2" charset="-122"/>
              </a:rPr>
              <a:t>）光学传递函数的定义</a:t>
            </a:r>
          </a:p>
          <a:p>
            <a:pPr marL="449263" indent="-449263" eaLnBrk="1" hangingPunct="1">
              <a:defRPr/>
            </a:pPr>
            <a:r>
              <a:rPr lang="zh-CN" altLang="en-US" dirty="0" smtClean="0">
                <a:latin typeface="Times New Roman" pitchFamily="18" charset="0"/>
                <a:ea typeface="黑体" pitchFamily="2" charset="-122"/>
              </a:rPr>
              <a:t>光学传递函数</a:t>
            </a:r>
            <a:r>
              <a:rPr lang="en-US" altLang="zh-CN" i="1" dirty="0" smtClean="0">
                <a:latin typeface="Times New Roman" pitchFamily="18" charset="0"/>
                <a:ea typeface="黑体" pitchFamily="2" charset="-122"/>
              </a:rPr>
              <a:t>OTF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s</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通常是复函数，于是可表示成 </a:t>
            </a: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r>
              <a:rPr lang="zh-CN" altLang="en-US" dirty="0" smtClean="0">
                <a:latin typeface="Times New Roman" pitchFamily="18" charset="0"/>
                <a:ea typeface="黑体" pitchFamily="2" charset="-122"/>
              </a:rPr>
              <a:t>光学传递函数的模量</a:t>
            </a:r>
            <a:r>
              <a:rPr lang="en-US" altLang="zh-CN" i="1" dirty="0" smtClean="0">
                <a:latin typeface="Times New Roman" pitchFamily="18" charset="0"/>
                <a:ea typeface="黑体" pitchFamily="2" charset="-122"/>
              </a:rPr>
              <a:t>MTF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s</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称为光学系统的</a:t>
            </a:r>
            <a:r>
              <a:rPr lang="zh-CN" altLang="en-US" dirty="0" smtClean="0">
                <a:solidFill>
                  <a:srgbClr val="FF0000"/>
                </a:solidFill>
                <a:latin typeface="Times New Roman" pitchFamily="18" charset="0"/>
                <a:ea typeface="黑体" pitchFamily="2" charset="-122"/>
              </a:rPr>
              <a:t>调制传递函数</a:t>
            </a:r>
            <a:r>
              <a:rPr lang="zh-CN" altLang="en-US" dirty="0" smtClean="0">
                <a:latin typeface="Times New Roman" pitchFamily="18" charset="0"/>
                <a:ea typeface="黑体" pitchFamily="2" charset="-122"/>
              </a:rPr>
              <a:t>，辐角</a:t>
            </a:r>
            <a:r>
              <a:rPr lang="en-US" altLang="zh-CN" i="1" dirty="0" smtClean="0">
                <a:latin typeface="Times New Roman" pitchFamily="18" charset="0"/>
                <a:ea typeface="黑体" pitchFamily="2" charset="-122"/>
              </a:rPr>
              <a:t>PTF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s</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称为光学系统的</a:t>
            </a:r>
            <a:r>
              <a:rPr lang="zh-CN" altLang="en-US" dirty="0" smtClean="0">
                <a:solidFill>
                  <a:srgbClr val="FF0000"/>
                </a:solidFill>
                <a:latin typeface="Times New Roman" pitchFamily="18" charset="0"/>
                <a:ea typeface="黑体" pitchFamily="2" charset="-122"/>
              </a:rPr>
              <a:t>相位传递函数</a:t>
            </a:r>
            <a:r>
              <a:rPr lang="zh-CN" altLang="en-US" dirty="0" smtClean="0">
                <a:latin typeface="Times New Roman" pitchFamily="18" charset="0"/>
                <a:ea typeface="黑体" pitchFamily="2" charset="-122"/>
              </a:rPr>
              <a:t>。 </a:t>
            </a:r>
          </a:p>
        </p:txBody>
      </p:sp>
      <p:sp>
        <p:nvSpPr>
          <p:cNvPr id="52231"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2232"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2233"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2234"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2235"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2236"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2237"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2238"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2239"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2226" name="Object 13"/>
          <p:cNvGraphicFramePr>
            <a:graphicFrameLocks noChangeAspect="1"/>
          </p:cNvGraphicFramePr>
          <p:nvPr/>
        </p:nvGraphicFramePr>
        <p:xfrm>
          <a:off x="1798638" y="3519488"/>
          <a:ext cx="5975350" cy="615950"/>
        </p:xfrm>
        <a:graphic>
          <a:graphicData uri="http://schemas.openxmlformats.org/presentationml/2006/ole">
            <p:oleObj spid="_x0000_s52226" name="Equation" r:id="rId3" imgW="60045917" imgH="6096317" progId="">
              <p:embed/>
            </p:oleObj>
          </a:graphicData>
        </a:graphic>
      </p:graphicFrame>
      <p:sp>
        <p:nvSpPr>
          <p:cNvPr id="17"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2" name="日期占位符 3"/>
          <p:cNvSpPr>
            <a:spLocks noGrp="1"/>
          </p:cNvSpPr>
          <p:nvPr>
            <p:ph type="dt" sz="quarter" idx="10"/>
          </p:nvPr>
        </p:nvSpPr>
        <p:spPr>
          <a:noFill/>
        </p:spPr>
        <p:txBody>
          <a:bodyPr/>
          <a:lstStyle/>
          <a:p>
            <a:fld id="{176E7DCD-8991-423B-AC8E-6C799EDA8ECA}" type="datetime1">
              <a:rPr lang="zh-CN" altLang="en-US" smtClean="0"/>
              <a:pPr/>
              <a:t>2018/2/24</a:t>
            </a:fld>
            <a:endParaRPr lang="en-US" altLang="zh-CN" smtClean="0"/>
          </a:p>
        </p:txBody>
      </p:sp>
      <p:sp>
        <p:nvSpPr>
          <p:cNvPr id="53253" name="灯片编号占位符 5"/>
          <p:cNvSpPr>
            <a:spLocks noGrp="1"/>
          </p:cNvSpPr>
          <p:nvPr>
            <p:ph type="sldNum" sz="quarter" idx="12"/>
          </p:nvPr>
        </p:nvSpPr>
        <p:spPr>
          <a:noFill/>
        </p:spPr>
        <p:txBody>
          <a:bodyPr/>
          <a:lstStyle/>
          <a:p>
            <a:fld id="{487BF382-7704-47EE-9F9C-851A35FF91EB}" type="slidenum">
              <a:rPr lang="en-US" altLang="zh-CN" smtClean="0"/>
              <a:pPr/>
              <a:t>79</a:t>
            </a:fld>
            <a:endParaRPr lang="en-US" altLang="zh-CN" smtClean="0"/>
          </a:p>
        </p:txBody>
      </p:sp>
      <p:sp>
        <p:nvSpPr>
          <p:cNvPr id="629763" name="Rectangle 3"/>
          <p:cNvSpPr>
            <a:spLocks noGrp="1" noRot="1" noChangeArrowheads="1"/>
          </p:cNvSpPr>
          <p:nvPr>
            <p:ph type="body" idx="1"/>
          </p:nvPr>
        </p:nvSpPr>
        <p:spPr>
          <a:xfrm>
            <a:off x="500063" y="1901825"/>
            <a:ext cx="5297487"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1.1  </a:t>
            </a:r>
            <a:r>
              <a:rPr lang="zh-CN" altLang="en-US" dirty="0"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4</a:t>
            </a:r>
            <a:r>
              <a:rPr lang="zh-CN" altLang="en-US" dirty="0" smtClean="0">
                <a:latin typeface="Times New Roman" pitchFamily="18" charset="0"/>
                <a:ea typeface="黑体" pitchFamily="2" charset="-122"/>
              </a:rPr>
              <a:t>）线扩散函数  </a:t>
            </a:r>
          </a:p>
          <a:p>
            <a:pPr marL="449263" indent="-449263" eaLnBrk="1" hangingPunct="1">
              <a:defRPr/>
            </a:pPr>
            <a:r>
              <a:rPr lang="zh-CN" altLang="en-US" dirty="0" smtClean="0">
                <a:latin typeface="Times New Roman" pitchFamily="18" charset="0"/>
                <a:ea typeface="黑体" pitchFamily="2" charset="-122"/>
              </a:rPr>
              <a:t>不影响一般性，取垂直于正弦光栅的坐标系，光学传递函数就可以用一维函数表示：</a:t>
            </a: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r>
              <a:rPr lang="zh-CN" altLang="en-US" dirty="0" smtClean="0">
                <a:latin typeface="Times New Roman" pitchFamily="18" charset="0"/>
                <a:ea typeface="黑体" pitchFamily="2" charset="-122"/>
              </a:rPr>
              <a:t>令</a:t>
            </a:r>
          </a:p>
          <a:p>
            <a:pPr marL="449263" indent="-449263" eaLnBrk="1" hangingPunct="1">
              <a:defRPr/>
            </a:pPr>
            <a:r>
              <a:rPr lang="zh-CN" altLang="en-US" sz="2000" dirty="0" smtClean="0">
                <a:latin typeface="Times New Roman" pitchFamily="18" charset="0"/>
                <a:ea typeface="黑体" pitchFamily="2" charset="-122"/>
              </a:rPr>
              <a:t>则</a:t>
            </a:r>
            <a:r>
              <a:rPr lang="en-US" altLang="zh-CN" sz="2000" i="1" dirty="0" smtClean="0">
                <a:latin typeface="Times New Roman" pitchFamily="18" charset="0"/>
                <a:ea typeface="黑体" pitchFamily="2" charset="-122"/>
              </a:rPr>
              <a:t>LSF</a:t>
            </a:r>
            <a:r>
              <a:rPr lang="zh-CN" altLang="en-US" sz="2000" dirty="0" smtClean="0">
                <a:latin typeface="Times New Roman" pitchFamily="18" charset="0"/>
                <a:ea typeface="黑体" pitchFamily="2" charset="-122"/>
              </a:rPr>
              <a:t>被称为光学系统的</a:t>
            </a:r>
            <a:r>
              <a:rPr lang="zh-CN" altLang="en-US" sz="2000" dirty="0" smtClean="0">
                <a:solidFill>
                  <a:srgbClr val="FF0000"/>
                </a:solidFill>
                <a:latin typeface="Times New Roman" pitchFamily="18" charset="0"/>
                <a:ea typeface="黑体" pitchFamily="2" charset="-122"/>
              </a:rPr>
              <a:t>线扩散函数</a:t>
            </a:r>
            <a:r>
              <a:rPr lang="zh-CN" altLang="en-US" sz="2000" dirty="0" smtClean="0">
                <a:latin typeface="Times New Roman" pitchFamily="18" charset="0"/>
                <a:ea typeface="黑体" pitchFamily="2" charset="-122"/>
              </a:rPr>
              <a:t>。它表示物平面上垂直坐标轴方向的一条无限细亮线，经光学系统所成亮线像的归化辐照度分布。 </a:t>
            </a:r>
          </a:p>
        </p:txBody>
      </p:sp>
      <p:sp>
        <p:nvSpPr>
          <p:cNvPr id="53256"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3257"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3258"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3259"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3260"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326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3262"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3263"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3264"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pSp>
        <p:nvGrpSpPr>
          <p:cNvPr id="53265" name="Group 67"/>
          <p:cNvGrpSpPr>
            <a:grpSpLocks/>
          </p:cNvGrpSpPr>
          <p:nvPr/>
        </p:nvGrpSpPr>
        <p:grpSpPr bwMode="auto">
          <a:xfrm>
            <a:off x="5980113" y="1974850"/>
            <a:ext cx="3163887" cy="3482975"/>
            <a:chOff x="3767" y="1244"/>
            <a:chExt cx="1993" cy="2194"/>
          </a:xfrm>
        </p:grpSpPr>
        <p:sp>
          <p:nvSpPr>
            <p:cNvPr id="629774" name="Rectangle 14"/>
            <p:cNvSpPr>
              <a:spLocks noChangeArrowheads="1"/>
            </p:cNvSpPr>
            <p:nvPr/>
          </p:nvSpPr>
          <p:spPr bwMode="auto">
            <a:xfrm>
              <a:off x="3767" y="1244"/>
              <a:ext cx="1993" cy="2194"/>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zh-CN" altLang="zh-CN" b="1">
                <a:effectLst>
                  <a:outerShdw blurRad="38100" dist="38100" dir="2700000" algn="tl">
                    <a:srgbClr val="FFFFFF"/>
                  </a:outerShdw>
                </a:effectLst>
                <a:latin typeface="Times New Roman" pitchFamily="18" charset="0"/>
                <a:ea typeface="黑体" pitchFamily="2" charset="-122"/>
              </a:endParaRPr>
            </a:p>
          </p:txBody>
        </p:sp>
        <p:sp>
          <p:nvSpPr>
            <p:cNvPr id="53269" name="Line 15"/>
            <p:cNvSpPr>
              <a:spLocks noChangeShapeType="1"/>
            </p:cNvSpPr>
            <p:nvPr/>
          </p:nvSpPr>
          <p:spPr bwMode="auto">
            <a:xfrm>
              <a:off x="4217" y="2177"/>
              <a:ext cx="1478" cy="0"/>
            </a:xfrm>
            <a:prstGeom prst="line">
              <a:avLst/>
            </a:prstGeom>
            <a:noFill/>
            <a:ln w="6350">
              <a:solidFill>
                <a:srgbClr val="000000"/>
              </a:solidFill>
              <a:round/>
              <a:headEnd/>
              <a:tailEnd type="stealth" w="sm" len="sm"/>
            </a:ln>
          </p:spPr>
          <p:txBody>
            <a:bodyPr/>
            <a:lstStyle/>
            <a:p>
              <a:endParaRPr lang="zh-CN" altLang="en-US"/>
            </a:p>
          </p:txBody>
        </p:sp>
        <p:sp>
          <p:nvSpPr>
            <p:cNvPr id="53270" name="Line 16"/>
            <p:cNvSpPr>
              <a:spLocks noChangeShapeType="1"/>
            </p:cNvSpPr>
            <p:nvPr/>
          </p:nvSpPr>
          <p:spPr bwMode="auto">
            <a:xfrm>
              <a:off x="4763" y="1417"/>
              <a:ext cx="0" cy="1338"/>
            </a:xfrm>
            <a:prstGeom prst="line">
              <a:avLst/>
            </a:prstGeom>
            <a:noFill/>
            <a:ln w="6350">
              <a:solidFill>
                <a:srgbClr val="000000"/>
              </a:solidFill>
              <a:round/>
              <a:headEnd type="stealth" w="sm" len="sm"/>
              <a:tailEnd type="none" w="sm" len="sm"/>
            </a:ln>
          </p:spPr>
          <p:txBody>
            <a:bodyPr/>
            <a:lstStyle/>
            <a:p>
              <a:endParaRPr lang="zh-CN" altLang="en-US"/>
            </a:p>
          </p:txBody>
        </p:sp>
        <p:sp>
          <p:nvSpPr>
            <p:cNvPr id="53271" name="Line 17"/>
            <p:cNvSpPr>
              <a:spLocks noChangeShapeType="1"/>
            </p:cNvSpPr>
            <p:nvPr/>
          </p:nvSpPr>
          <p:spPr bwMode="auto">
            <a:xfrm rot="20438248" flipV="1">
              <a:off x="4150" y="2116"/>
              <a:ext cx="1534" cy="5"/>
            </a:xfrm>
            <a:prstGeom prst="line">
              <a:avLst/>
            </a:prstGeom>
            <a:noFill/>
            <a:ln w="6350">
              <a:solidFill>
                <a:srgbClr val="000000"/>
              </a:solidFill>
              <a:round/>
              <a:headEnd/>
              <a:tailEnd type="stealth" w="sm" len="sm"/>
            </a:ln>
          </p:spPr>
          <p:txBody>
            <a:bodyPr/>
            <a:lstStyle/>
            <a:p>
              <a:endParaRPr lang="zh-CN" altLang="en-US"/>
            </a:p>
          </p:txBody>
        </p:sp>
        <p:sp>
          <p:nvSpPr>
            <p:cNvPr id="53272" name="Line 18"/>
            <p:cNvSpPr>
              <a:spLocks noChangeShapeType="1"/>
            </p:cNvSpPr>
            <p:nvPr/>
          </p:nvSpPr>
          <p:spPr bwMode="auto">
            <a:xfrm rot="-1161752">
              <a:off x="4743" y="1420"/>
              <a:ext cx="0" cy="1396"/>
            </a:xfrm>
            <a:prstGeom prst="line">
              <a:avLst/>
            </a:prstGeom>
            <a:noFill/>
            <a:ln w="6350">
              <a:solidFill>
                <a:srgbClr val="000000"/>
              </a:solidFill>
              <a:round/>
              <a:headEnd type="stealth" w="sm" len="sm"/>
              <a:tailEnd type="none" w="sm" len="sm"/>
            </a:ln>
          </p:spPr>
          <p:txBody>
            <a:bodyPr/>
            <a:lstStyle/>
            <a:p>
              <a:endParaRPr lang="zh-CN" altLang="en-US"/>
            </a:p>
          </p:txBody>
        </p:sp>
        <p:sp>
          <p:nvSpPr>
            <p:cNvPr id="53273" name="Freeform 19"/>
            <p:cNvSpPr>
              <a:spLocks/>
            </p:cNvSpPr>
            <p:nvPr/>
          </p:nvSpPr>
          <p:spPr bwMode="auto">
            <a:xfrm>
              <a:off x="5345" y="1957"/>
              <a:ext cx="70" cy="213"/>
            </a:xfrm>
            <a:custGeom>
              <a:avLst/>
              <a:gdLst>
                <a:gd name="T0" fmla="*/ 0 w 134"/>
                <a:gd name="T1" fmla="*/ 0 h 398"/>
                <a:gd name="T2" fmla="*/ 16 w 134"/>
                <a:gd name="T3" fmla="*/ 20 h 398"/>
                <a:gd name="T4" fmla="*/ 19 w 134"/>
                <a:gd name="T5" fmla="*/ 38 h 398"/>
                <a:gd name="T6" fmla="*/ 19 w 134"/>
                <a:gd name="T7" fmla="*/ 61 h 398"/>
                <a:gd name="T8" fmla="*/ 0 60000 65536"/>
                <a:gd name="T9" fmla="*/ 0 60000 65536"/>
                <a:gd name="T10" fmla="*/ 0 60000 65536"/>
                <a:gd name="T11" fmla="*/ 0 60000 65536"/>
                <a:gd name="T12" fmla="*/ 0 w 134"/>
                <a:gd name="T13" fmla="*/ 0 h 398"/>
                <a:gd name="T14" fmla="*/ 134 w 134"/>
                <a:gd name="T15" fmla="*/ 398 h 398"/>
              </a:gdLst>
              <a:ahLst/>
              <a:cxnLst>
                <a:cxn ang="T8">
                  <a:pos x="T0" y="T1"/>
                </a:cxn>
                <a:cxn ang="T9">
                  <a:pos x="T2" y="T3"/>
                </a:cxn>
                <a:cxn ang="T10">
                  <a:pos x="T4" y="T5"/>
                </a:cxn>
                <a:cxn ang="T11">
                  <a:pos x="T6" y="T7"/>
                </a:cxn>
              </a:cxnLst>
              <a:rect l="T12" t="T13" r="T14" b="T15"/>
              <a:pathLst>
                <a:path w="134" h="398">
                  <a:moveTo>
                    <a:pt x="0" y="0"/>
                  </a:moveTo>
                  <a:cubicBezTo>
                    <a:pt x="18" y="21"/>
                    <a:pt x="89" y="87"/>
                    <a:pt x="111" y="128"/>
                  </a:cubicBezTo>
                  <a:cubicBezTo>
                    <a:pt x="133" y="169"/>
                    <a:pt x="128" y="203"/>
                    <a:pt x="131" y="248"/>
                  </a:cubicBezTo>
                  <a:cubicBezTo>
                    <a:pt x="134" y="293"/>
                    <a:pt x="131" y="367"/>
                    <a:pt x="131" y="398"/>
                  </a:cubicBezTo>
                </a:path>
              </a:pathLst>
            </a:custGeom>
            <a:noFill/>
            <a:ln w="6350">
              <a:solidFill>
                <a:srgbClr val="000000"/>
              </a:solidFill>
              <a:round/>
              <a:headEnd type="stealth" w="sm" len="sm"/>
              <a:tailEnd type="stealth" w="sm" len="sm"/>
            </a:ln>
          </p:spPr>
          <p:txBody>
            <a:bodyPr/>
            <a:lstStyle/>
            <a:p>
              <a:endParaRPr lang="zh-CN" altLang="en-US"/>
            </a:p>
          </p:txBody>
        </p:sp>
        <p:sp>
          <p:nvSpPr>
            <p:cNvPr id="53274" name="Line 20"/>
            <p:cNvSpPr>
              <a:spLocks noChangeShapeType="1"/>
            </p:cNvSpPr>
            <p:nvPr/>
          </p:nvSpPr>
          <p:spPr bwMode="auto">
            <a:xfrm>
              <a:off x="4801" y="1689"/>
              <a:ext cx="0" cy="1017"/>
            </a:xfrm>
            <a:prstGeom prst="line">
              <a:avLst/>
            </a:prstGeom>
            <a:noFill/>
            <a:ln w="19050">
              <a:solidFill>
                <a:srgbClr val="000000"/>
              </a:solidFill>
              <a:round/>
              <a:headEnd/>
              <a:tailEnd/>
            </a:ln>
          </p:spPr>
          <p:txBody>
            <a:bodyPr/>
            <a:lstStyle/>
            <a:p>
              <a:endParaRPr lang="zh-CN" altLang="en-US"/>
            </a:p>
          </p:txBody>
        </p:sp>
        <p:sp>
          <p:nvSpPr>
            <p:cNvPr id="53275" name="Line 21"/>
            <p:cNvSpPr>
              <a:spLocks noChangeShapeType="1"/>
            </p:cNvSpPr>
            <p:nvPr/>
          </p:nvSpPr>
          <p:spPr bwMode="auto">
            <a:xfrm>
              <a:off x="4749" y="1689"/>
              <a:ext cx="0" cy="1017"/>
            </a:xfrm>
            <a:prstGeom prst="line">
              <a:avLst/>
            </a:prstGeom>
            <a:noFill/>
            <a:ln w="19050">
              <a:solidFill>
                <a:srgbClr val="000000"/>
              </a:solidFill>
              <a:prstDash val="dash"/>
              <a:round/>
              <a:headEnd/>
              <a:tailEnd/>
            </a:ln>
          </p:spPr>
          <p:txBody>
            <a:bodyPr/>
            <a:lstStyle/>
            <a:p>
              <a:endParaRPr lang="zh-CN" altLang="en-US"/>
            </a:p>
          </p:txBody>
        </p:sp>
        <p:sp>
          <p:nvSpPr>
            <p:cNvPr id="53276" name="Line 22"/>
            <p:cNvSpPr>
              <a:spLocks noChangeShapeType="1"/>
            </p:cNvSpPr>
            <p:nvPr/>
          </p:nvSpPr>
          <p:spPr bwMode="auto">
            <a:xfrm>
              <a:off x="4860" y="1698"/>
              <a:ext cx="0" cy="1016"/>
            </a:xfrm>
            <a:prstGeom prst="line">
              <a:avLst/>
            </a:prstGeom>
            <a:noFill/>
            <a:ln w="19050">
              <a:solidFill>
                <a:srgbClr val="000000"/>
              </a:solidFill>
              <a:prstDash val="dash"/>
              <a:round/>
              <a:headEnd/>
              <a:tailEnd/>
            </a:ln>
          </p:spPr>
          <p:txBody>
            <a:bodyPr/>
            <a:lstStyle/>
            <a:p>
              <a:endParaRPr lang="zh-CN" altLang="en-US"/>
            </a:p>
          </p:txBody>
        </p:sp>
        <p:sp>
          <p:nvSpPr>
            <p:cNvPr id="53277" name="Line 23"/>
            <p:cNvSpPr>
              <a:spLocks noChangeShapeType="1"/>
            </p:cNvSpPr>
            <p:nvPr/>
          </p:nvSpPr>
          <p:spPr bwMode="auto">
            <a:xfrm>
              <a:off x="4911" y="1689"/>
              <a:ext cx="0" cy="1017"/>
            </a:xfrm>
            <a:prstGeom prst="line">
              <a:avLst/>
            </a:prstGeom>
            <a:noFill/>
            <a:ln w="19050">
              <a:solidFill>
                <a:srgbClr val="000000"/>
              </a:solidFill>
              <a:round/>
              <a:headEnd/>
              <a:tailEnd/>
            </a:ln>
          </p:spPr>
          <p:txBody>
            <a:bodyPr/>
            <a:lstStyle/>
            <a:p>
              <a:endParaRPr lang="zh-CN" altLang="en-US"/>
            </a:p>
          </p:txBody>
        </p:sp>
        <p:sp>
          <p:nvSpPr>
            <p:cNvPr id="53278" name="Line 24"/>
            <p:cNvSpPr>
              <a:spLocks noChangeShapeType="1"/>
            </p:cNvSpPr>
            <p:nvPr/>
          </p:nvSpPr>
          <p:spPr bwMode="auto">
            <a:xfrm>
              <a:off x="4690" y="1689"/>
              <a:ext cx="0" cy="1017"/>
            </a:xfrm>
            <a:prstGeom prst="line">
              <a:avLst/>
            </a:prstGeom>
            <a:noFill/>
            <a:ln w="19050">
              <a:solidFill>
                <a:srgbClr val="000000"/>
              </a:solidFill>
              <a:round/>
              <a:headEnd/>
              <a:tailEnd/>
            </a:ln>
          </p:spPr>
          <p:txBody>
            <a:bodyPr/>
            <a:lstStyle/>
            <a:p>
              <a:endParaRPr lang="zh-CN" altLang="en-US"/>
            </a:p>
          </p:txBody>
        </p:sp>
        <p:sp>
          <p:nvSpPr>
            <p:cNvPr id="53279" name="Line 25"/>
            <p:cNvSpPr>
              <a:spLocks noChangeShapeType="1"/>
            </p:cNvSpPr>
            <p:nvPr/>
          </p:nvSpPr>
          <p:spPr bwMode="auto">
            <a:xfrm>
              <a:off x="4638" y="1698"/>
              <a:ext cx="0" cy="1016"/>
            </a:xfrm>
            <a:prstGeom prst="line">
              <a:avLst/>
            </a:prstGeom>
            <a:noFill/>
            <a:ln w="19050">
              <a:solidFill>
                <a:srgbClr val="000000"/>
              </a:solidFill>
              <a:prstDash val="dash"/>
              <a:round/>
              <a:headEnd/>
              <a:tailEnd/>
            </a:ln>
          </p:spPr>
          <p:txBody>
            <a:bodyPr/>
            <a:lstStyle/>
            <a:p>
              <a:endParaRPr lang="zh-CN" altLang="en-US"/>
            </a:p>
          </p:txBody>
        </p:sp>
        <p:sp>
          <p:nvSpPr>
            <p:cNvPr id="53280" name="Line 26"/>
            <p:cNvSpPr>
              <a:spLocks noChangeShapeType="1"/>
            </p:cNvSpPr>
            <p:nvPr/>
          </p:nvSpPr>
          <p:spPr bwMode="auto">
            <a:xfrm>
              <a:off x="4579" y="1698"/>
              <a:ext cx="0" cy="1016"/>
            </a:xfrm>
            <a:prstGeom prst="line">
              <a:avLst/>
            </a:prstGeom>
            <a:noFill/>
            <a:ln w="19050">
              <a:solidFill>
                <a:srgbClr val="000000"/>
              </a:solidFill>
              <a:round/>
              <a:headEnd/>
              <a:tailEnd/>
            </a:ln>
          </p:spPr>
          <p:txBody>
            <a:bodyPr/>
            <a:lstStyle/>
            <a:p>
              <a:endParaRPr lang="zh-CN" altLang="en-US"/>
            </a:p>
          </p:txBody>
        </p:sp>
        <p:sp>
          <p:nvSpPr>
            <p:cNvPr id="53281" name="Line 27"/>
            <p:cNvSpPr>
              <a:spLocks noChangeShapeType="1"/>
            </p:cNvSpPr>
            <p:nvPr/>
          </p:nvSpPr>
          <p:spPr bwMode="auto">
            <a:xfrm>
              <a:off x="4527" y="1689"/>
              <a:ext cx="0" cy="1017"/>
            </a:xfrm>
            <a:prstGeom prst="line">
              <a:avLst/>
            </a:prstGeom>
            <a:noFill/>
            <a:ln w="19050">
              <a:solidFill>
                <a:srgbClr val="000000"/>
              </a:solidFill>
              <a:prstDash val="dash"/>
              <a:round/>
              <a:headEnd/>
              <a:tailEnd/>
            </a:ln>
          </p:spPr>
          <p:txBody>
            <a:bodyPr/>
            <a:lstStyle/>
            <a:p>
              <a:endParaRPr lang="zh-CN" altLang="en-US"/>
            </a:p>
          </p:txBody>
        </p:sp>
        <p:sp>
          <p:nvSpPr>
            <p:cNvPr id="53282" name="Line 28"/>
            <p:cNvSpPr>
              <a:spLocks noChangeShapeType="1"/>
            </p:cNvSpPr>
            <p:nvPr/>
          </p:nvSpPr>
          <p:spPr bwMode="auto">
            <a:xfrm>
              <a:off x="4468" y="1689"/>
              <a:ext cx="0" cy="1017"/>
            </a:xfrm>
            <a:prstGeom prst="line">
              <a:avLst/>
            </a:prstGeom>
            <a:noFill/>
            <a:ln w="19050">
              <a:solidFill>
                <a:srgbClr val="000000"/>
              </a:solidFill>
              <a:round/>
              <a:headEnd/>
              <a:tailEnd/>
            </a:ln>
          </p:spPr>
          <p:txBody>
            <a:bodyPr/>
            <a:lstStyle/>
            <a:p>
              <a:endParaRPr lang="zh-CN" altLang="en-US"/>
            </a:p>
          </p:txBody>
        </p:sp>
        <p:sp>
          <p:nvSpPr>
            <p:cNvPr id="53283" name="Line 29"/>
            <p:cNvSpPr>
              <a:spLocks noChangeShapeType="1"/>
            </p:cNvSpPr>
            <p:nvPr/>
          </p:nvSpPr>
          <p:spPr bwMode="auto">
            <a:xfrm>
              <a:off x="4416" y="1698"/>
              <a:ext cx="0" cy="1016"/>
            </a:xfrm>
            <a:prstGeom prst="line">
              <a:avLst/>
            </a:prstGeom>
            <a:noFill/>
            <a:ln w="19050">
              <a:solidFill>
                <a:srgbClr val="000000"/>
              </a:solidFill>
              <a:prstDash val="dash"/>
              <a:round/>
              <a:headEnd/>
              <a:tailEnd/>
            </a:ln>
          </p:spPr>
          <p:txBody>
            <a:bodyPr/>
            <a:lstStyle/>
            <a:p>
              <a:endParaRPr lang="zh-CN" altLang="en-US"/>
            </a:p>
          </p:txBody>
        </p:sp>
        <p:sp>
          <p:nvSpPr>
            <p:cNvPr id="53284" name="Line 30"/>
            <p:cNvSpPr>
              <a:spLocks noChangeShapeType="1"/>
            </p:cNvSpPr>
            <p:nvPr/>
          </p:nvSpPr>
          <p:spPr bwMode="auto">
            <a:xfrm>
              <a:off x="4357" y="1689"/>
              <a:ext cx="0" cy="1017"/>
            </a:xfrm>
            <a:prstGeom prst="line">
              <a:avLst/>
            </a:prstGeom>
            <a:noFill/>
            <a:ln w="19050">
              <a:solidFill>
                <a:srgbClr val="000000"/>
              </a:solidFill>
              <a:round/>
              <a:headEnd/>
              <a:tailEnd/>
            </a:ln>
          </p:spPr>
          <p:txBody>
            <a:bodyPr/>
            <a:lstStyle/>
            <a:p>
              <a:endParaRPr lang="zh-CN" altLang="en-US"/>
            </a:p>
          </p:txBody>
        </p:sp>
        <p:sp>
          <p:nvSpPr>
            <p:cNvPr id="53285" name="Line 31"/>
            <p:cNvSpPr>
              <a:spLocks noChangeShapeType="1"/>
            </p:cNvSpPr>
            <p:nvPr/>
          </p:nvSpPr>
          <p:spPr bwMode="auto">
            <a:xfrm>
              <a:off x="5074" y="1689"/>
              <a:ext cx="0" cy="1017"/>
            </a:xfrm>
            <a:prstGeom prst="line">
              <a:avLst/>
            </a:prstGeom>
            <a:noFill/>
            <a:ln w="19050">
              <a:solidFill>
                <a:srgbClr val="000000"/>
              </a:solidFill>
              <a:prstDash val="dash"/>
              <a:round/>
              <a:headEnd/>
              <a:tailEnd/>
            </a:ln>
          </p:spPr>
          <p:txBody>
            <a:bodyPr/>
            <a:lstStyle/>
            <a:p>
              <a:endParaRPr lang="zh-CN" altLang="en-US"/>
            </a:p>
          </p:txBody>
        </p:sp>
        <p:sp>
          <p:nvSpPr>
            <p:cNvPr id="53286" name="Line 32"/>
            <p:cNvSpPr>
              <a:spLocks noChangeShapeType="1"/>
            </p:cNvSpPr>
            <p:nvPr/>
          </p:nvSpPr>
          <p:spPr bwMode="auto">
            <a:xfrm>
              <a:off x="5126" y="1698"/>
              <a:ext cx="0" cy="1016"/>
            </a:xfrm>
            <a:prstGeom prst="line">
              <a:avLst/>
            </a:prstGeom>
            <a:noFill/>
            <a:ln w="19050">
              <a:solidFill>
                <a:srgbClr val="000000"/>
              </a:solidFill>
              <a:round/>
              <a:headEnd/>
              <a:tailEnd/>
            </a:ln>
          </p:spPr>
          <p:txBody>
            <a:bodyPr/>
            <a:lstStyle/>
            <a:p>
              <a:endParaRPr lang="zh-CN" altLang="en-US"/>
            </a:p>
          </p:txBody>
        </p:sp>
        <p:sp>
          <p:nvSpPr>
            <p:cNvPr id="53287" name="Line 33"/>
            <p:cNvSpPr>
              <a:spLocks noChangeShapeType="1"/>
            </p:cNvSpPr>
            <p:nvPr/>
          </p:nvSpPr>
          <p:spPr bwMode="auto">
            <a:xfrm>
              <a:off x="4970" y="1698"/>
              <a:ext cx="0" cy="1016"/>
            </a:xfrm>
            <a:prstGeom prst="line">
              <a:avLst/>
            </a:prstGeom>
            <a:noFill/>
            <a:ln w="19050">
              <a:solidFill>
                <a:srgbClr val="000000"/>
              </a:solidFill>
              <a:prstDash val="dash"/>
              <a:round/>
              <a:headEnd/>
              <a:tailEnd/>
            </a:ln>
          </p:spPr>
          <p:txBody>
            <a:bodyPr/>
            <a:lstStyle/>
            <a:p>
              <a:endParaRPr lang="zh-CN" altLang="en-US"/>
            </a:p>
          </p:txBody>
        </p:sp>
        <p:sp>
          <p:nvSpPr>
            <p:cNvPr id="53288" name="Line 34"/>
            <p:cNvSpPr>
              <a:spLocks noChangeShapeType="1"/>
            </p:cNvSpPr>
            <p:nvPr/>
          </p:nvSpPr>
          <p:spPr bwMode="auto">
            <a:xfrm>
              <a:off x="5022" y="1698"/>
              <a:ext cx="0" cy="1016"/>
            </a:xfrm>
            <a:prstGeom prst="line">
              <a:avLst/>
            </a:prstGeom>
            <a:noFill/>
            <a:ln w="19050">
              <a:solidFill>
                <a:srgbClr val="000000"/>
              </a:solidFill>
              <a:round/>
              <a:headEnd/>
              <a:tailEnd/>
            </a:ln>
          </p:spPr>
          <p:txBody>
            <a:bodyPr/>
            <a:lstStyle/>
            <a:p>
              <a:endParaRPr lang="zh-CN" altLang="en-US"/>
            </a:p>
          </p:txBody>
        </p:sp>
        <p:sp>
          <p:nvSpPr>
            <p:cNvPr id="53289" name="Line 35"/>
            <p:cNvSpPr>
              <a:spLocks noChangeShapeType="1"/>
            </p:cNvSpPr>
            <p:nvPr/>
          </p:nvSpPr>
          <p:spPr bwMode="auto">
            <a:xfrm>
              <a:off x="5177" y="1698"/>
              <a:ext cx="0" cy="1016"/>
            </a:xfrm>
            <a:prstGeom prst="line">
              <a:avLst/>
            </a:prstGeom>
            <a:noFill/>
            <a:ln w="19050">
              <a:solidFill>
                <a:srgbClr val="000000"/>
              </a:solidFill>
              <a:prstDash val="dash"/>
              <a:round/>
              <a:headEnd/>
              <a:tailEnd/>
            </a:ln>
          </p:spPr>
          <p:txBody>
            <a:bodyPr/>
            <a:lstStyle/>
            <a:p>
              <a:endParaRPr lang="zh-CN" altLang="en-US"/>
            </a:p>
          </p:txBody>
        </p:sp>
        <p:sp>
          <p:nvSpPr>
            <p:cNvPr id="53290" name="Line 36"/>
            <p:cNvSpPr>
              <a:spLocks noChangeShapeType="1"/>
            </p:cNvSpPr>
            <p:nvPr/>
          </p:nvSpPr>
          <p:spPr bwMode="auto">
            <a:xfrm>
              <a:off x="4305" y="1689"/>
              <a:ext cx="0" cy="1017"/>
            </a:xfrm>
            <a:prstGeom prst="line">
              <a:avLst/>
            </a:prstGeom>
            <a:noFill/>
            <a:ln w="19050">
              <a:solidFill>
                <a:srgbClr val="000000"/>
              </a:solidFill>
              <a:prstDash val="dash"/>
              <a:round/>
              <a:headEnd/>
              <a:tailEnd/>
            </a:ln>
          </p:spPr>
          <p:txBody>
            <a:bodyPr/>
            <a:lstStyle/>
            <a:p>
              <a:endParaRPr lang="zh-CN" altLang="en-US"/>
            </a:p>
          </p:txBody>
        </p:sp>
        <p:sp>
          <p:nvSpPr>
            <p:cNvPr id="53291" name="Line 37"/>
            <p:cNvSpPr>
              <a:spLocks noChangeShapeType="1"/>
            </p:cNvSpPr>
            <p:nvPr/>
          </p:nvSpPr>
          <p:spPr bwMode="auto">
            <a:xfrm>
              <a:off x="5236" y="1698"/>
              <a:ext cx="0" cy="1016"/>
            </a:xfrm>
            <a:prstGeom prst="line">
              <a:avLst/>
            </a:prstGeom>
            <a:noFill/>
            <a:ln w="19050">
              <a:solidFill>
                <a:srgbClr val="000000"/>
              </a:solidFill>
              <a:round/>
              <a:headEnd/>
              <a:tailEnd/>
            </a:ln>
          </p:spPr>
          <p:txBody>
            <a:bodyPr/>
            <a:lstStyle/>
            <a:p>
              <a:endParaRPr lang="zh-CN" altLang="en-US"/>
            </a:p>
          </p:txBody>
        </p:sp>
        <p:sp>
          <p:nvSpPr>
            <p:cNvPr id="53292" name="Line 38"/>
            <p:cNvSpPr>
              <a:spLocks noChangeShapeType="1"/>
            </p:cNvSpPr>
            <p:nvPr/>
          </p:nvSpPr>
          <p:spPr bwMode="auto">
            <a:xfrm flipH="1">
              <a:off x="4002" y="2129"/>
              <a:ext cx="747" cy="284"/>
            </a:xfrm>
            <a:prstGeom prst="line">
              <a:avLst/>
            </a:prstGeom>
            <a:noFill/>
            <a:ln w="9525">
              <a:solidFill>
                <a:srgbClr val="000000"/>
              </a:solidFill>
              <a:round/>
              <a:headEnd/>
              <a:tailEnd/>
            </a:ln>
          </p:spPr>
          <p:txBody>
            <a:bodyPr/>
            <a:lstStyle/>
            <a:p>
              <a:endParaRPr lang="zh-CN" altLang="en-US"/>
            </a:p>
          </p:txBody>
        </p:sp>
        <p:sp>
          <p:nvSpPr>
            <p:cNvPr id="53293" name="Line 39"/>
            <p:cNvSpPr>
              <a:spLocks noChangeShapeType="1"/>
            </p:cNvSpPr>
            <p:nvPr/>
          </p:nvSpPr>
          <p:spPr bwMode="auto">
            <a:xfrm flipH="1">
              <a:off x="3891" y="1770"/>
              <a:ext cx="747" cy="302"/>
            </a:xfrm>
            <a:prstGeom prst="line">
              <a:avLst/>
            </a:prstGeom>
            <a:noFill/>
            <a:ln w="9525">
              <a:solidFill>
                <a:srgbClr val="000000"/>
              </a:solidFill>
              <a:round/>
              <a:headEnd/>
              <a:tailEnd/>
            </a:ln>
          </p:spPr>
          <p:txBody>
            <a:bodyPr/>
            <a:lstStyle/>
            <a:p>
              <a:endParaRPr lang="zh-CN" altLang="en-US"/>
            </a:p>
          </p:txBody>
        </p:sp>
        <p:sp>
          <p:nvSpPr>
            <p:cNvPr id="53294" name="Line 40"/>
            <p:cNvSpPr>
              <a:spLocks noChangeShapeType="1"/>
            </p:cNvSpPr>
            <p:nvPr/>
          </p:nvSpPr>
          <p:spPr bwMode="auto">
            <a:xfrm>
              <a:off x="4128" y="1983"/>
              <a:ext cx="118" cy="341"/>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3295" name="Line 41"/>
            <p:cNvSpPr>
              <a:spLocks noChangeShapeType="1"/>
            </p:cNvSpPr>
            <p:nvPr/>
          </p:nvSpPr>
          <p:spPr bwMode="auto">
            <a:xfrm>
              <a:off x="4579" y="2259"/>
              <a:ext cx="199" cy="626"/>
            </a:xfrm>
            <a:prstGeom prst="line">
              <a:avLst/>
            </a:prstGeom>
            <a:noFill/>
            <a:ln w="9525">
              <a:solidFill>
                <a:srgbClr val="000000"/>
              </a:solidFill>
              <a:round/>
              <a:headEnd/>
              <a:tailEnd/>
            </a:ln>
          </p:spPr>
          <p:txBody>
            <a:bodyPr/>
            <a:lstStyle/>
            <a:p>
              <a:endParaRPr lang="zh-CN" altLang="en-US"/>
            </a:p>
          </p:txBody>
        </p:sp>
        <p:sp>
          <p:nvSpPr>
            <p:cNvPr id="53296" name="Line 42"/>
            <p:cNvSpPr>
              <a:spLocks noChangeShapeType="1"/>
            </p:cNvSpPr>
            <p:nvPr/>
          </p:nvSpPr>
          <p:spPr bwMode="auto">
            <a:xfrm>
              <a:off x="4468" y="2291"/>
              <a:ext cx="199" cy="635"/>
            </a:xfrm>
            <a:prstGeom prst="line">
              <a:avLst/>
            </a:prstGeom>
            <a:noFill/>
            <a:ln w="9525">
              <a:solidFill>
                <a:srgbClr val="000000"/>
              </a:solidFill>
              <a:round/>
              <a:headEnd/>
              <a:tailEnd/>
            </a:ln>
          </p:spPr>
          <p:txBody>
            <a:bodyPr/>
            <a:lstStyle/>
            <a:p>
              <a:endParaRPr lang="zh-CN" altLang="en-US"/>
            </a:p>
          </p:txBody>
        </p:sp>
        <p:sp>
          <p:nvSpPr>
            <p:cNvPr id="53297" name="Line 43"/>
            <p:cNvSpPr>
              <a:spLocks noChangeShapeType="1"/>
            </p:cNvSpPr>
            <p:nvPr/>
          </p:nvSpPr>
          <p:spPr bwMode="auto">
            <a:xfrm flipV="1">
              <a:off x="4453" y="2893"/>
              <a:ext cx="207" cy="87"/>
            </a:xfrm>
            <a:prstGeom prst="line">
              <a:avLst/>
            </a:prstGeom>
            <a:noFill/>
            <a:ln w="6350">
              <a:solidFill>
                <a:srgbClr val="000000"/>
              </a:solidFill>
              <a:round/>
              <a:headEnd/>
              <a:tailEnd type="stealth" w="sm" len="sm"/>
            </a:ln>
          </p:spPr>
          <p:txBody>
            <a:bodyPr/>
            <a:lstStyle/>
            <a:p>
              <a:endParaRPr lang="zh-CN" altLang="en-US"/>
            </a:p>
          </p:txBody>
        </p:sp>
        <p:sp>
          <p:nvSpPr>
            <p:cNvPr id="53298" name="Line 44"/>
            <p:cNvSpPr>
              <a:spLocks noChangeShapeType="1"/>
            </p:cNvSpPr>
            <p:nvPr/>
          </p:nvSpPr>
          <p:spPr bwMode="auto">
            <a:xfrm flipV="1">
              <a:off x="4763" y="2795"/>
              <a:ext cx="133" cy="57"/>
            </a:xfrm>
            <a:prstGeom prst="line">
              <a:avLst/>
            </a:prstGeom>
            <a:noFill/>
            <a:ln w="6350">
              <a:solidFill>
                <a:srgbClr val="000000"/>
              </a:solidFill>
              <a:round/>
              <a:headEnd type="stealth" w="sm" len="sm"/>
              <a:tailEnd/>
            </a:ln>
          </p:spPr>
          <p:txBody>
            <a:bodyPr/>
            <a:lstStyle/>
            <a:p>
              <a:endParaRPr lang="zh-CN" altLang="en-US"/>
            </a:p>
          </p:txBody>
        </p:sp>
        <p:sp>
          <p:nvSpPr>
            <p:cNvPr id="53299" name="Line 45"/>
            <p:cNvSpPr>
              <a:spLocks noChangeShapeType="1"/>
            </p:cNvSpPr>
            <p:nvPr/>
          </p:nvSpPr>
          <p:spPr bwMode="auto">
            <a:xfrm flipV="1">
              <a:off x="4660" y="2844"/>
              <a:ext cx="118" cy="49"/>
            </a:xfrm>
            <a:prstGeom prst="line">
              <a:avLst/>
            </a:prstGeom>
            <a:noFill/>
            <a:ln w="6350">
              <a:solidFill>
                <a:srgbClr val="000000"/>
              </a:solidFill>
              <a:round/>
              <a:headEnd/>
              <a:tailEnd/>
            </a:ln>
          </p:spPr>
          <p:txBody>
            <a:bodyPr/>
            <a:lstStyle/>
            <a:p>
              <a:endParaRPr lang="zh-CN" altLang="en-US"/>
            </a:p>
          </p:txBody>
        </p:sp>
        <p:sp>
          <p:nvSpPr>
            <p:cNvPr id="53300" name="Line 46"/>
            <p:cNvSpPr>
              <a:spLocks noChangeShapeType="1"/>
            </p:cNvSpPr>
            <p:nvPr/>
          </p:nvSpPr>
          <p:spPr bwMode="auto">
            <a:xfrm>
              <a:off x="5022" y="2698"/>
              <a:ext cx="0" cy="244"/>
            </a:xfrm>
            <a:prstGeom prst="line">
              <a:avLst/>
            </a:prstGeom>
            <a:noFill/>
            <a:ln w="9525">
              <a:solidFill>
                <a:srgbClr val="000000"/>
              </a:solidFill>
              <a:round/>
              <a:headEnd/>
              <a:tailEnd/>
            </a:ln>
          </p:spPr>
          <p:txBody>
            <a:bodyPr/>
            <a:lstStyle/>
            <a:p>
              <a:endParaRPr lang="zh-CN" altLang="en-US"/>
            </a:p>
          </p:txBody>
        </p:sp>
        <p:sp>
          <p:nvSpPr>
            <p:cNvPr id="53301" name="Line 47"/>
            <p:cNvSpPr>
              <a:spLocks noChangeShapeType="1"/>
            </p:cNvSpPr>
            <p:nvPr/>
          </p:nvSpPr>
          <p:spPr bwMode="auto">
            <a:xfrm>
              <a:off x="5126" y="2698"/>
              <a:ext cx="0" cy="228"/>
            </a:xfrm>
            <a:prstGeom prst="line">
              <a:avLst/>
            </a:prstGeom>
            <a:noFill/>
            <a:ln w="9525">
              <a:solidFill>
                <a:srgbClr val="000000"/>
              </a:solidFill>
              <a:round/>
              <a:headEnd/>
              <a:tailEnd/>
            </a:ln>
          </p:spPr>
          <p:txBody>
            <a:bodyPr/>
            <a:lstStyle/>
            <a:p>
              <a:endParaRPr lang="zh-CN" altLang="en-US"/>
            </a:p>
          </p:txBody>
        </p:sp>
        <p:sp>
          <p:nvSpPr>
            <p:cNvPr id="53302" name="Line 48"/>
            <p:cNvSpPr>
              <a:spLocks noChangeShapeType="1"/>
            </p:cNvSpPr>
            <p:nvPr/>
          </p:nvSpPr>
          <p:spPr bwMode="auto">
            <a:xfrm>
              <a:off x="4933" y="2870"/>
              <a:ext cx="89" cy="0"/>
            </a:xfrm>
            <a:prstGeom prst="line">
              <a:avLst/>
            </a:prstGeom>
            <a:noFill/>
            <a:ln w="6350">
              <a:solidFill>
                <a:srgbClr val="000000"/>
              </a:solidFill>
              <a:round/>
              <a:headEnd/>
              <a:tailEnd type="stealth" w="sm" len="sm"/>
            </a:ln>
          </p:spPr>
          <p:txBody>
            <a:bodyPr/>
            <a:lstStyle/>
            <a:p>
              <a:endParaRPr lang="zh-CN" altLang="en-US"/>
            </a:p>
          </p:txBody>
        </p:sp>
        <p:sp>
          <p:nvSpPr>
            <p:cNvPr id="53303" name="Line 49"/>
            <p:cNvSpPr>
              <a:spLocks noChangeShapeType="1"/>
            </p:cNvSpPr>
            <p:nvPr/>
          </p:nvSpPr>
          <p:spPr bwMode="auto">
            <a:xfrm flipV="1">
              <a:off x="5015" y="2877"/>
              <a:ext cx="103" cy="0"/>
            </a:xfrm>
            <a:prstGeom prst="line">
              <a:avLst/>
            </a:prstGeom>
            <a:noFill/>
            <a:ln w="6350">
              <a:solidFill>
                <a:srgbClr val="000000"/>
              </a:solidFill>
              <a:round/>
              <a:headEnd/>
              <a:tailEnd/>
            </a:ln>
          </p:spPr>
          <p:txBody>
            <a:bodyPr/>
            <a:lstStyle/>
            <a:p>
              <a:endParaRPr lang="zh-CN" altLang="en-US"/>
            </a:p>
          </p:txBody>
        </p:sp>
        <p:sp>
          <p:nvSpPr>
            <p:cNvPr id="53304" name="Line 50"/>
            <p:cNvSpPr>
              <a:spLocks noChangeShapeType="1"/>
            </p:cNvSpPr>
            <p:nvPr/>
          </p:nvSpPr>
          <p:spPr bwMode="auto">
            <a:xfrm>
              <a:off x="5126" y="2877"/>
              <a:ext cx="391" cy="0"/>
            </a:xfrm>
            <a:prstGeom prst="line">
              <a:avLst/>
            </a:prstGeom>
            <a:noFill/>
            <a:ln w="6350">
              <a:solidFill>
                <a:srgbClr val="000000"/>
              </a:solidFill>
              <a:round/>
              <a:headEnd type="stealth" w="sm" len="sm"/>
              <a:tailEnd/>
            </a:ln>
          </p:spPr>
          <p:txBody>
            <a:bodyPr/>
            <a:lstStyle/>
            <a:p>
              <a:endParaRPr lang="zh-CN" altLang="en-US"/>
            </a:p>
          </p:txBody>
        </p:sp>
        <p:sp>
          <p:nvSpPr>
            <p:cNvPr id="629811" name="Text Box 51"/>
            <p:cNvSpPr txBox="1">
              <a:spLocks noChangeArrowheads="1"/>
            </p:cNvSpPr>
            <p:nvPr/>
          </p:nvSpPr>
          <p:spPr bwMode="auto">
            <a:xfrm>
              <a:off x="4199" y="3157"/>
              <a:ext cx="1215" cy="262"/>
            </a:xfrm>
            <a:prstGeom prst="rect">
              <a:avLst/>
            </a:prstGeom>
            <a:noFill/>
            <a:ln w="9525">
              <a:noFill/>
              <a:miter lim="800000"/>
              <a:headEnd/>
              <a:tailEnd/>
            </a:ln>
            <a:effectLst/>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坐标变换</a:t>
              </a:r>
            </a:p>
          </p:txBody>
        </p:sp>
        <p:sp>
          <p:nvSpPr>
            <p:cNvPr id="629812" name="Text Box 52"/>
            <p:cNvSpPr txBox="1">
              <a:spLocks noChangeArrowheads="1"/>
            </p:cNvSpPr>
            <p:nvPr/>
          </p:nvSpPr>
          <p:spPr bwMode="auto">
            <a:xfrm>
              <a:off x="4175" y="2735"/>
              <a:ext cx="437" cy="393"/>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u=</a:t>
              </a:r>
              <a:r>
                <a:rPr lang="en-US" altLang="zh-CN" sz="1600" b="1">
                  <a:effectLst>
                    <a:outerShdw blurRad="38100" dist="38100" dir="2700000" algn="tl">
                      <a:srgbClr val="C0C0C0"/>
                    </a:outerShdw>
                  </a:effectLst>
                  <a:latin typeface="Times New Roman" pitchFamily="18" charset="0"/>
                  <a:ea typeface="黑体" pitchFamily="2" charset="-122"/>
                </a:rPr>
                <a:t>1</a:t>
              </a:r>
              <a:r>
                <a:rPr lang="en-US" altLang="zh-CN" sz="1600" b="1" i="1">
                  <a:effectLst>
                    <a:outerShdw blurRad="38100" dist="38100" dir="2700000" algn="tl">
                      <a:srgbClr val="C0C0C0"/>
                    </a:outerShdw>
                  </a:effectLst>
                  <a:latin typeface="Times New Roman" pitchFamily="18" charset="0"/>
                  <a:ea typeface="黑体" pitchFamily="2" charset="-122"/>
                </a:rPr>
                <a:t>/r</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3" name="Text Box 53"/>
            <p:cNvSpPr txBox="1">
              <a:spLocks noChangeArrowheads="1"/>
            </p:cNvSpPr>
            <p:nvPr/>
          </p:nvSpPr>
          <p:spPr bwMode="auto">
            <a:xfrm>
              <a:off x="5343" y="1906"/>
              <a:ext cx="260" cy="208"/>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ψ</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4" name="Text Box 54"/>
            <p:cNvSpPr txBox="1">
              <a:spLocks noChangeArrowheads="1"/>
            </p:cNvSpPr>
            <p:nvPr/>
          </p:nvSpPr>
          <p:spPr bwMode="auto">
            <a:xfrm>
              <a:off x="5399" y="1674"/>
              <a:ext cx="240" cy="188"/>
            </a:xfrm>
            <a:prstGeom prst="rect">
              <a:avLst/>
            </a:prstGeom>
            <a:noFill/>
            <a:ln w="9525">
              <a:noFill/>
              <a:miter lim="800000"/>
              <a:headEnd/>
              <a:tailEnd/>
            </a:ln>
          </p:spPr>
          <p:txBody>
            <a:bodyPr/>
            <a:lstStyle/>
            <a:p>
              <a:pPr algn="just">
                <a:lnSpc>
                  <a:spcPct val="96000"/>
                </a:lnSpc>
                <a:defRPr/>
              </a:pPr>
              <a:r>
                <a:rPr lang="en-US" altLang="zh-CN" sz="1600" b="1" i="1">
                  <a:effectLst>
                    <a:outerShdw blurRad="38100" dist="38100" dir="2700000" algn="tl">
                      <a:srgbClr val="C0C0C0"/>
                    </a:outerShdw>
                  </a:effectLst>
                  <a:latin typeface="Times New Roman" pitchFamily="18" charset="0"/>
                  <a:ea typeface="黑体" pitchFamily="2" charset="-122"/>
                </a:rPr>
                <a:t>u</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5" name="Text Box 55"/>
            <p:cNvSpPr txBox="1">
              <a:spLocks noChangeArrowheads="1"/>
            </p:cNvSpPr>
            <p:nvPr/>
          </p:nvSpPr>
          <p:spPr bwMode="auto">
            <a:xfrm>
              <a:off x="3773" y="2013"/>
              <a:ext cx="571" cy="432"/>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v=</a:t>
              </a:r>
              <a:r>
                <a:rPr lang="en-US" altLang="zh-CN" sz="1600" b="1">
                  <a:effectLst>
                    <a:outerShdw blurRad="38100" dist="38100" dir="2700000" algn="tl">
                      <a:srgbClr val="C0C0C0"/>
                    </a:outerShdw>
                  </a:effectLst>
                  <a:latin typeface="Times New Roman" pitchFamily="18" charset="0"/>
                  <a:ea typeface="黑体" pitchFamily="2" charset="-122"/>
                </a:rPr>
                <a:t>1</a:t>
              </a:r>
              <a:r>
                <a:rPr lang="en-US" altLang="zh-CN" sz="1600" b="1" i="1">
                  <a:effectLst>
                    <a:outerShdw blurRad="38100" dist="38100" dir="2700000" algn="tl">
                      <a:srgbClr val="C0C0C0"/>
                    </a:outerShdw>
                  </a:effectLst>
                  <a:latin typeface="Times New Roman" pitchFamily="18" charset="0"/>
                  <a:ea typeface="黑体" pitchFamily="2" charset="-122"/>
                </a:rPr>
                <a:t>/s</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6" name="Text Box 56"/>
            <p:cNvSpPr txBox="1">
              <a:spLocks noChangeArrowheads="1"/>
            </p:cNvSpPr>
            <p:nvPr/>
          </p:nvSpPr>
          <p:spPr bwMode="auto">
            <a:xfrm>
              <a:off x="4295" y="1376"/>
              <a:ext cx="375" cy="319"/>
            </a:xfrm>
            <a:prstGeom prst="rect">
              <a:avLst/>
            </a:prstGeom>
            <a:noFill/>
            <a:ln w="9525">
              <a:noFill/>
              <a:miter lim="800000"/>
              <a:headEnd/>
              <a:tailEnd/>
            </a:ln>
          </p:spPr>
          <p:txBody>
            <a:bodyPr/>
            <a:lstStyle/>
            <a:p>
              <a:pPr algn="ctr">
                <a:defRPr/>
              </a:pPr>
              <a:r>
                <a:rPr lang="en-US" altLang="zh-CN" sz="1600" b="1" i="1">
                  <a:effectLst>
                    <a:outerShdw blurRad="38100" dist="38100" dir="2700000" algn="tl">
                      <a:srgbClr val="C0C0C0"/>
                    </a:outerShdw>
                  </a:effectLst>
                  <a:latin typeface="Times New Roman" pitchFamily="18" charset="0"/>
                  <a:ea typeface="黑体" pitchFamily="2" charset="-122"/>
                </a:rPr>
                <a:t>v</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7" name="Text Box 57"/>
            <p:cNvSpPr txBox="1">
              <a:spLocks noChangeArrowheads="1"/>
            </p:cNvSpPr>
            <p:nvPr/>
          </p:nvSpPr>
          <p:spPr bwMode="auto">
            <a:xfrm>
              <a:off x="4768" y="1263"/>
              <a:ext cx="414" cy="401"/>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v</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8" name="Text Box 58"/>
            <p:cNvSpPr txBox="1">
              <a:spLocks noChangeArrowheads="1"/>
            </p:cNvSpPr>
            <p:nvPr/>
          </p:nvSpPr>
          <p:spPr bwMode="auto">
            <a:xfrm>
              <a:off x="5261" y="2673"/>
              <a:ext cx="464" cy="253"/>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u=</a:t>
              </a:r>
              <a:r>
                <a:rPr lang="en-US" altLang="zh-CN" sz="1600" b="1">
                  <a:effectLst>
                    <a:outerShdw blurRad="38100" dist="38100" dir="2700000" algn="tl">
                      <a:srgbClr val="C0C0C0"/>
                    </a:outerShdw>
                  </a:effectLst>
                  <a:latin typeface="Times New Roman" pitchFamily="18" charset="0"/>
                  <a:ea typeface="黑体" pitchFamily="2" charset="-122"/>
                </a:rPr>
                <a:t>1</a:t>
              </a:r>
              <a:r>
                <a:rPr lang="en-US" altLang="zh-CN" sz="1600" b="1" i="1">
                  <a:effectLst>
                    <a:outerShdw blurRad="38100" dist="38100" dir="2700000" algn="tl">
                      <a:srgbClr val="C0C0C0"/>
                    </a:outerShdw>
                  </a:effectLst>
                  <a:latin typeface="Times New Roman" pitchFamily="18" charset="0"/>
                  <a:ea typeface="黑体" pitchFamily="2" charset="-122"/>
                </a:rPr>
                <a:t>/r</a:t>
              </a:r>
              <a:r>
                <a:rPr lang="en-US" altLang="zh-CN" sz="1600" b="1" baseline="-25000">
                  <a:effectLst>
                    <a:outerShdw blurRad="38100" dist="38100" dir="2700000" algn="tl">
                      <a:srgbClr val="C0C0C0"/>
                    </a:outerShdw>
                  </a:effectLst>
                  <a:latin typeface="Times New Roman" pitchFamily="18" charset="0"/>
                  <a:ea typeface="黑体" pitchFamily="2" charset="-122"/>
                </a:rPr>
                <a:t>1</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29819" name="Text Box 59"/>
            <p:cNvSpPr txBox="1">
              <a:spLocks noChangeArrowheads="1"/>
            </p:cNvSpPr>
            <p:nvPr/>
          </p:nvSpPr>
          <p:spPr bwMode="auto">
            <a:xfrm>
              <a:off x="5468" y="2142"/>
              <a:ext cx="266" cy="360"/>
            </a:xfrm>
            <a:prstGeom prst="rect">
              <a:avLst/>
            </a:prstGeom>
            <a:noFill/>
            <a:ln w="9525">
              <a:noFill/>
              <a:miter lim="800000"/>
              <a:headEnd/>
              <a:tailEnd/>
            </a:ln>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u</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53314" name="Line 60"/>
            <p:cNvSpPr>
              <a:spLocks noChangeShapeType="1"/>
            </p:cNvSpPr>
            <p:nvPr/>
          </p:nvSpPr>
          <p:spPr bwMode="auto">
            <a:xfrm>
              <a:off x="5330" y="2737"/>
              <a:ext cx="42" cy="0"/>
            </a:xfrm>
            <a:prstGeom prst="line">
              <a:avLst/>
            </a:prstGeom>
            <a:noFill/>
            <a:ln w="9525">
              <a:solidFill>
                <a:schemeClr val="tx1"/>
              </a:solidFill>
              <a:round/>
              <a:headEnd/>
              <a:tailEnd/>
            </a:ln>
          </p:spPr>
          <p:txBody>
            <a:bodyPr/>
            <a:lstStyle/>
            <a:p>
              <a:endParaRPr lang="zh-CN" altLang="en-US"/>
            </a:p>
          </p:txBody>
        </p:sp>
        <p:sp>
          <p:nvSpPr>
            <p:cNvPr id="53315" name="Line 61"/>
            <p:cNvSpPr>
              <a:spLocks noChangeShapeType="1"/>
            </p:cNvSpPr>
            <p:nvPr/>
          </p:nvSpPr>
          <p:spPr bwMode="auto">
            <a:xfrm>
              <a:off x="4809" y="1332"/>
              <a:ext cx="92" cy="0"/>
            </a:xfrm>
            <a:prstGeom prst="line">
              <a:avLst/>
            </a:prstGeom>
            <a:noFill/>
            <a:ln w="9525">
              <a:solidFill>
                <a:schemeClr val="tx1"/>
              </a:solidFill>
              <a:round/>
              <a:headEnd/>
              <a:tailEnd/>
            </a:ln>
          </p:spPr>
          <p:txBody>
            <a:bodyPr/>
            <a:lstStyle/>
            <a:p>
              <a:endParaRPr lang="zh-CN" altLang="en-US"/>
            </a:p>
          </p:txBody>
        </p:sp>
        <p:sp>
          <p:nvSpPr>
            <p:cNvPr id="53316" name="Line 62"/>
            <p:cNvSpPr>
              <a:spLocks noChangeShapeType="1"/>
            </p:cNvSpPr>
            <p:nvPr/>
          </p:nvSpPr>
          <p:spPr bwMode="auto">
            <a:xfrm>
              <a:off x="5525" y="2213"/>
              <a:ext cx="73" cy="0"/>
            </a:xfrm>
            <a:prstGeom prst="line">
              <a:avLst/>
            </a:prstGeom>
            <a:noFill/>
            <a:ln w="9525">
              <a:solidFill>
                <a:schemeClr val="tx1"/>
              </a:solidFill>
              <a:round/>
              <a:headEnd/>
              <a:tailEnd/>
            </a:ln>
          </p:spPr>
          <p:txBody>
            <a:bodyPr/>
            <a:lstStyle/>
            <a:p>
              <a:endParaRPr lang="zh-CN" altLang="en-US"/>
            </a:p>
          </p:txBody>
        </p:sp>
      </p:grpSp>
      <p:sp>
        <p:nvSpPr>
          <p:cNvPr id="53266" name="Rectangle 6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3250" name="Object 64"/>
          <p:cNvGraphicFramePr>
            <a:graphicFrameLocks noChangeAspect="1"/>
          </p:cNvGraphicFramePr>
          <p:nvPr/>
        </p:nvGraphicFramePr>
        <p:xfrm>
          <a:off x="1335088" y="4089400"/>
          <a:ext cx="4330700" cy="493713"/>
        </p:xfrm>
        <a:graphic>
          <a:graphicData uri="http://schemas.openxmlformats.org/presentationml/2006/ole">
            <p:oleObj spid="_x0000_s53250" name="公式" r:id="rId3" imgW="70104317" imgH="7925117" progId="Equation.3">
              <p:embed/>
            </p:oleObj>
          </a:graphicData>
        </a:graphic>
      </p:graphicFrame>
      <p:sp>
        <p:nvSpPr>
          <p:cNvPr id="53267" name="Rectangle 6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3251" name="Object 66"/>
          <p:cNvGraphicFramePr>
            <a:graphicFrameLocks noChangeAspect="1"/>
          </p:cNvGraphicFramePr>
          <p:nvPr/>
        </p:nvGraphicFramePr>
        <p:xfrm>
          <a:off x="2119313" y="4741863"/>
          <a:ext cx="2544762" cy="520700"/>
        </p:xfrm>
        <a:graphic>
          <a:graphicData uri="http://schemas.openxmlformats.org/presentationml/2006/ole">
            <p:oleObj spid="_x0000_s53251" name="公式" r:id="rId4" imgW="39014717" imgH="7925117" progId="Equation.3">
              <p:embed/>
            </p:oleObj>
          </a:graphicData>
        </a:graphic>
      </p:graphicFrame>
      <p:sp>
        <p:nvSpPr>
          <p:cNvPr id="70"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6" name="日期占位符 3"/>
          <p:cNvSpPr>
            <a:spLocks noGrp="1"/>
          </p:cNvSpPr>
          <p:nvPr>
            <p:ph type="dt" sz="quarter" idx="10"/>
          </p:nvPr>
        </p:nvSpPr>
        <p:spPr>
          <a:noFill/>
        </p:spPr>
        <p:txBody>
          <a:bodyPr/>
          <a:lstStyle/>
          <a:p>
            <a:fld id="{87339158-C5C0-4107-A4E4-7EBB0815A94E}" type="datetime1">
              <a:rPr lang="zh-CN" altLang="en-US" smtClean="0"/>
              <a:pPr/>
              <a:t>2018/2/24</a:t>
            </a:fld>
            <a:endParaRPr lang="en-US" altLang="zh-CN" smtClean="0"/>
          </a:p>
        </p:txBody>
      </p:sp>
      <p:sp>
        <p:nvSpPr>
          <p:cNvPr id="54277" name="灯片编号占位符 5"/>
          <p:cNvSpPr>
            <a:spLocks noGrp="1"/>
          </p:cNvSpPr>
          <p:nvPr>
            <p:ph type="sldNum" sz="quarter" idx="12"/>
          </p:nvPr>
        </p:nvSpPr>
        <p:spPr>
          <a:noFill/>
        </p:spPr>
        <p:txBody>
          <a:bodyPr/>
          <a:lstStyle/>
          <a:p>
            <a:fld id="{11A665B8-1B00-423B-B531-C54C349F8D31}" type="slidenum">
              <a:rPr lang="en-US" altLang="zh-CN" smtClean="0"/>
              <a:pPr/>
              <a:t>80</a:t>
            </a:fld>
            <a:endParaRPr lang="en-US" altLang="zh-CN" smtClean="0"/>
          </a:p>
        </p:txBody>
      </p:sp>
      <p:sp>
        <p:nvSpPr>
          <p:cNvPr id="630787" name="Rectangle 3"/>
          <p:cNvSpPr>
            <a:spLocks noGrp="1" noRot="1" noChangeArrowheads="1"/>
          </p:cNvSpPr>
          <p:nvPr>
            <p:ph type="body" idx="1"/>
          </p:nvPr>
        </p:nvSpPr>
        <p:spPr>
          <a:xfrm>
            <a:off x="500063" y="1901825"/>
            <a:ext cx="8128000" cy="4748213"/>
          </a:xfrm>
        </p:spPr>
        <p:txBody>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1.1  </a:t>
            </a:r>
            <a:r>
              <a:rPr lang="zh-CN" altLang="en-US" smtClean="0">
                <a:latin typeface="Times New Roman" pitchFamily="18" charset="0"/>
                <a:ea typeface="黑体" pitchFamily="2" charset="-122"/>
              </a:rPr>
              <a:t>以点扩散函数为基础的定义</a:t>
            </a:r>
          </a:p>
          <a:p>
            <a:pPr marL="449263" indent="-449263" eaLnBrk="1" hangingPunct="1">
              <a:buFont typeface="Wingdings" pitchFamily="2" charset="2"/>
              <a:buNone/>
              <a:defRPr/>
            </a:pPr>
            <a:r>
              <a:rPr lang="en-US" altLang="zh-CN" smtClean="0">
                <a:latin typeface="Times New Roman" pitchFamily="18" charset="0"/>
                <a:ea typeface="黑体" pitchFamily="2" charset="-122"/>
              </a:rPr>
              <a:t>4</a:t>
            </a:r>
            <a:r>
              <a:rPr lang="zh-CN" altLang="en-US" smtClean="0">
                <a:latin typeface="Times New Roman" pitchFamily="18" charset="0"/>
                <a:ea typeface="黑体" pitchFamily="2" charset="-122"/>
              </a:rPr>
              <a:t>）线扩散函数  </a:t>
            </a:r>
          </a:p>
          <a:p>
            <a:pPr marL="449263" indent="-449263" algn="just" eaLnBrk="1" hangingPunct="1">
              <a:defRPr/>
            </a:pPr>
            <a:r>
              <a:rPr lang="zh-CN" altLang="en-US" smtClean="0">
                <a:latin typeface="Times New Roman" pitchFamily="18" charset="0"/>
                <a:ea typeface="黑体" pitchFamily="2" charset="-122"/>
              </a:rPr>
              <a:t>一维光学传递函数可以改写为</a:t>
            </a:r>
          </a:p>
          <a:p>
            <a:pPr marL="449263" indent="-449263" algn="just" eaLnBrk="1" hangingPunct="1">
              <a:defRPr/>
            </a:pPr>
            <a:endParaRPr lang="zh-CN" altLang="en-US" smtClean="0">
              <a:latin typeface="Times New Roman" pitchFamily="18" charset="0"/>
              <a:ea typeface="黑体" pitchFamily="2" charset="-122"/>
            </a:endParaRPr>
          </a:p>
          <a:p>
            <a:pPr marL="449263" indent="-449263" algn="just" eaLnBrk="1" hangingPunct="1">
              <a:defRPr/>
            </a:pPr>
            <a:endParaRPr lang="zh-CN" altLang="en-US" smtClean="0">
              <a:latin typeface="Times New Roman" pitchFamily="18" charset="0"/>
              <a:ea typeface="黑体" pitchFamily="2" charset="-122"/>
            </a:endParaRPr>
          </a:p>
          <a:p>
            <a:pPr marL="449263" indent="-449263" eaLnBrk="1" hangingPunct="1">
              <a:defRPr/>
            </a:pPr>
            <a:r>
              <a:rPr lang="zh-CN" altLang="en-US" smtClean="0">
                <a:latin typeface="Times New Roman" pitchFamily="18" charset="0"/>
                <a:ea typeface="黑体" pitchFamily="2" charset="-122"/>
              </a:rPr>
              <a:t>上式表示光学系统的</a:t>
            </a:r>
            <a:r>
              <a:rPr lang="zh-CN" altLang="en-US" smtClean="0">
                <a:solidFill>
                  <a:srgbClr val="FF0000"/>
                </a:solidFill>
                <a:latin typeface="Times New Roman" pitchFamily="18" charset="0"/>
                <a:ea typeface="黑体" pitchFamily="2" charset="-122"/>
              </a:rPr>
              <a:t>一维光学传递函数是它的线扩散函数的傅里叶变换</a:t>
            </a:r>
            <a:r>
              <a:rPr lang="zh-CN" altLang="en-US" smtClean="0">
                <a:latin typeface="Times New Roman" pitchFamily="18" charset="0"/>
                <a:ea typeface="黑体" pitchFamily="2" charset="-122"/>
              </a:rPr>
              <a:t>。</a:t>
            </a:r>
          </a:p>
          <a:p>
            <a:pPr marL="449263" indent="-449263" eaLnBrk="1" hangingPunct="1">
              <a:defRPr/>
            </a:pPr>
            <a:r>
              <a:rPr lang="zh-CN" altLang="en-US" smtClean="0">
                <a:latin typeface="Times New Roman" pitchFamily="18" charset="0"/>
                <a:ea typeface="黑体" pitchFamily="2" charset="-122"/>
              </a:rPr>
              <a:t>由于</a:t>
            </a:r>
            <a:r>
              <a:rPr lang="en-US" altLang="zh-CN" i="1" smtClean="0">
                <a:latin typeface="Times New Roman" pitchFamily="18" charset="0"/>
                <a:ea typeface="黑体" pitchFamily="2" charset="-122"/>
              </a:rPr>
              <a:t>OTF</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r</a:t>
            </a:r>
            <a:r>
              <a:rPr lang="zh-CN" altLang="en-US" smtClean="0">
                <a:latin typeface="Times New Roman" pitchFamily="18" charset="0"/>
                <a:ea typeface="黑体" pitchFamily="2" charset="-122"/>
              </a:rPr>
              <a:t>）也是复函数，则可用调制传数函数为模量、相位传递函数为辐角来表示为</a:t>
            </a:r>
            <a:r>
              <a:rPr lang="zh-CN" altLang="en-US" i="1" smtClean="0">
                <a:latin typeface="Times New Roman" pitchFamily="18" charset="0"/>
                <a:ea typeface="黑体" pitchFamily="2" charset="-122"/>
              </a:rPr>
              <a:t>  </a:t>
            </a:r>
            <a:r>
              <a:rPr lang="zh-CN" altLang="en-US" smtClean="0">
                <a:latin typeface="Times New Roman" pitchFamily="18" charset="0"/>
                <a:ea typeface="黑体" pitchFamily="2" charset="-122"/>
              </a:rPr>
              <a:t>                       </a:t>
            </a:r>
          </a:p>
        </p:txBody>
      </p:sp>
      <p:sp>
        <p:nvSpPr>
          <p:cNvPr id="54280"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4281"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4282"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4283"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4284"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4285"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4286"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4287"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4288"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4289"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4290"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4291"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4274" name="Object 16"/>
          <p:cNvGraphicFramePr>
            <a:graphicFrameLocks noChangeAspect="1"/>
          </p:cNvGraphicFramePr>
          <p:nvPr/>
        </p:nvGraphicFramePr>
        <p:xfrm>
          <a:off x="2339975" y="3348038"/>
          <a:ext cx="4230688" cy="623887"/>
        </p:xfrm>
        <a:graphic>
          <a:graphicData uri="http://schemas.openxmlformats.org/presentationml/2006/ole">
            <p:oleObj spid="_x0000_s54274" name="公式" r:id="rId3" imgW="54254717" imgH="7925117" progId="Equation.3">
              <p:embed/>
            </p:oleObj>
          </a:graphicData>
        </a:graphic>
      </p:graphicFrame>
      <p:sp>
        <p:nvSpPr>
          <p:cNvPr id="54292" name="Rectangle 17"/>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4275" name="Object 18"/>
          <p:cNvGraphicFramePr>
            <a:graphicFrameLocks noChangeAspect="1"/>
          </p:cNvGraphicFramePr>
          <p:nvPr/>
        </p:nvGraphicFramePr>
        <p:xfrm>
          <a:off x="2308225" y="5875338"/>
          <a:ext cx="4933950" cy="509587"/>
        </p:xfrm>
        <a:graphic>
          <a:graphicData uri="http://schemas.openxmlformats.org/presentationml/2006/ole">
            <p:oleObj spid="_x0000_s54275" name="公式" r:id="rId4" imgW="50901917" imgH="5181917" progId="Equation.3">
              <p:embed/>
            </p:oleObj>
          </a:graphicData>
        </a:graphic>
      </p:graphicFrame>
      <p:sp>
        <p:nvSpPr>
          <p:cNvPr id="22"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日期占位符 3"/>
          <p:cNvSpPr>
            <a:spLocks noGrp="1"/>
          </p:cNvSpPr>
          <p:nvPr>
            <p:ph type="dt" sz="quarter" idx="10"/>
          </p:nvPr>
        </p:nvSpPr>
        <p:spPr>
          <a:noFill/>
        </p:spPr>
        <p:txBody>
          <a:bodyPr/>
          <a:lstStyle/>
          <a:p>
            <a:fld id="{DCEBB27D-7FB8-4C81-B2D1-1A863D589161}" type="datetime1">
              <a:rPr lang="zh-CN" altLang="en-US" smtClean="0"/>
              <a:pPr/>
              <a:t>2018/2/24</a:t>
            </a:fld>
            <a:endParaRPr lang="en-US" altLang="zh-CN" smtClean="0"/>
          </a:p>
        </p:txBody>
      </p:sp>
      <p:sp>
        <p:nvSpPr>
          <p:cNvPr id="56324" name="灯片编号占位符 5"/>
          <p:cNvSpPr>
            <a:spLocks noGrp="1"/>
          </p:cNvSpPr>
          <p:nvPr>
            <p:ph type="sldNum" sz="quarter" idx="12"/>
          </p:nvPr>
        </p:nvSpPr>
        <p:spPr>
          <a:noFill/>
        </p:spPr>
        <p:txBody>
          <a:bodyPr/>
          <a:lstStyle/>
          <a:p>
            <a:fld id="{3448B2E9-3F2F-41E0-94E7-B6340BEBA90A}" type="slidenum">
              <a:rPr lang="en-US" altLang="zh-CN" smtClean="0"/>
              <a:pPr/>
              <a:t>81</a:t>
            </a:fld>
            <a:endParaRPr lang="en-US" altLang="zh-CN" smtClean="0"/>
          </a:p>
        </p:txBody>
      </p:sp>
      <p:sp>
        <p:nvSpPr>
          <p:cNvPr id="632835" name="Rectangle 3"/>
          <p:cNvSpPr>
            <a:spLocks noGrp="1" noRot="1" noChangeArrowheads="1"/>
          </p:cNvSpPr>
          <p:nvPr>
            <p:ph type="body" idx="1"/>
          </p:nvPr>
        </p:nvSpPr>
        <p:spPr>
          <a:xfrm>
            <a:off x="500063" y="1901825"/>
            <a:ext cx="8128000" cy="4748213"/>
          </a:xfrm>
        </p:spPr>
        <p:txBody>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1.2  </a:t>
            </a:r>
            <a:r>
              <a:rPr lang="zh-CN" altLang="en-US" smtClean="0">
                <a:latin typeface="Times New Roman" pitchFamily="18" charset="0"/>
                <a:ea typeface="黑体" pitchFamily="2" charset="-122"/>
              </a:rPr>
              <a:t>以正弦光栅成像为基础的定义</a:t>
            </a:r>
          </a:p>
          <a:p>
            <a:pPr marL="449263" indent="-449263" eaLnBrk="1" hangingPunct="1">
              <a:defRPr/>
            </a:pPr>
            <a:r>
              <a:rPr lang="zh-CN" altLang="en-US" smtClean="0">
                <a:latin typeface="Times New Roman" pitchFamily="18" charset="0"/>
                <a:ea typeface="黑体" pitchFamily="2" charset="-122"/>
              </a:rPr>
              <a:t>正弦光栅的入射光光强分布如图中实线所示，可表示为</a:t>
            </a:r>
          </a:p>
        </p:txBody>
      </p:sp>
      <p:sp>
        <p:nvSpPr>
          <p:cNvPr id="56327"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6328"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29"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6330"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31"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6332"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6333"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6334"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35"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6336"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37"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38"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6339"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6340"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pSp>
        <p:nvGrpSpPr>
          <p:cNvPr id="2" name="Group 18"/>
          <p:cNvGrpSpPr>
            <a:grpSpLocks/>
          </p:cNvGrpSpPr>
          <p:nvPr/>
        </p:nvGrpSpPr>
        <p:grpSpPr bwMode="auto">
          <a:xfrm>
            <a:off x="1828800" y="3330575"/>
            <a:ext cx="5868988" cy="3527425"/>
            <a:chOff x="1125" y="2277"/>
            <a:chExt cx="3697" cy="2222"/>
          </a:xfrm>
        </p:grpSpPr>
        <p:sp>
          <p:nvSpPr>
            <p:cNvPr id="56343" name="Rectangle 19"/>
            <p:cNvSpPr>
              <a:spLocks noChangeArrowheads="1"/>
            </p:cNvSpPr>
            <p:nvPr/>
          </p:nvSpPr>
          <p:spPr bwMode="auto">
            <a:xfrm>
              <a:off x="1125" y="2277"/>
              <a:ext cx="3575" cy="222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6344" name="Line 20"/>
            <p:cNvSpPr>
              <a:spLocks noChangeShapeType="1"/>
            </p:cNvSpPr>
            <p:nvPr/>
          </p:nvSpPr>
          <p:spPr bwMode="auto">
            <a:xfrm>
              <a:off x="1457" y="4006"/>
              <a:ext cx="3130" cy="0"/>
            </a:xfrm>
            <a:prstGeom prst="line">
              <a:avLst/>
            </a:prstGeom>
            <a:noFill/>
            <a:ln w="6350">
              <a:solidFill>
                <a:srgbClr val="000000"/>
              </a:solidFill>
              <a:round/>
              <a:headEnd/>
              <a:tailEnd type="stealth" w="med" len="lg"/>
            </a:ln>
          </p:spPr>
          <p:txBody>
            <a:bodyPr/>
            <a:lstStyle/>
            <a:p>
              <a:endParaRPr lang="zh-CN" altLang="en-US"/>
            </a:p>
          </p:txBody>
        </p:sp>
        <p:sp>
          <p:nvSpPr>
            <p:cNvPr id="56345" name="Line 21"/>
            <p:cNvSpPr>
              <a:spLocks noChangeShapeType="1"/>
            </p:cNvSpPr>
            <p:nvPr/>
          </p:nvSpPr>
          <p:spPr bwMode="auto">
            <a:xfrm>
              <a:off x="1556" y="2718"/>
              <a:ext cx="0" cy="1455"/>
            </a:xfrm>
            <a:prstGeom prst="line">
              <a:avLst/>
            </a:prstGeom>
            <a:noFill/>
            <a:ln w="6350">
              <a:solidFill>
                <a:srgbClr val="000000"/>
              </a:solidFill>
              <a:round/>
              <a:headEnd type="stealth" w="med" len="lg"/>
              <a:tailEnd type="none" w="sm" len="lg"/>
            </a:ln>
          </p:spPr>
          <p:txBody>
            <a:bodyPr/>
            <a:lstStyle/>
            <a:p>
              <a:endParaRPr lang="zh-CN" altLang="en-US"/>
            </a:p>
          </p:txBody>
        </p:sp>
        <p:sp>
          <p:nvSpPr>
            <p:cNvPr id="56346" name="Freeform 22"/>
            <p:cNvSpPr>
              <a:spLocks/>
            </p:cNvSpPr>
            <p:nvPr/>
          </p:nvSpPr>
          <p:spPr bwMode="auto">
            <a:xfrm>
              <a:off x="1551" y="2905"/>
              <a:ext cx="2501" cy="1021"/>
            </a:xfrm>
            <a:custGeom>
              <a:avLst/>
              <a:gdLst>
                <a:gd name="T0" fmla="*/ 0 w 6435"/>
                <a:gd name="T1" fmla="*/ 15 h 2107"/>
                <a:gd name="T2" fmla="*/ 12 w 6435"/>
                <a:gd name="T3" fmla="*/ 35 h 2107"/>
                <a:gd name="T4" fmla="*/ 40 w 6435"/>
                <a:gd name="T5" fmla="*/ 222 h 2107"/>
                <a:gd name="T6" fmla="*/ 77 w 6435"/>
                <a:gd name="T7" fmla="*/ 13 h 2107"/>
                <a:gd name="T8" fmla="*/ 116 w 6435"/>
                <a:gd name="T9" fmla="*/ 221 h 2107"/>
                <a:gd name="T10" fmla="*/ 158 w 6435"/>
                <a:gd name="T11" fmla="*/ 13 h 2107"/>
                <a:gd name="T12" fmla="*/ 198 w 6435"/>
                <a:gd name="T13" fmla="*/ 221 h 2107"/>
                <a:gd name="T14" fmla="*/ 239 w 6435"/>
                <a:gd name="T15" fmla="*/ 15 h 2107"/>
                <a:gd name="T16" fmla="*/ 279 w 6435"/>
                <a:gd name="T17" fmla="*/ 222 h 2107"/>
                <a:gd name="T18" fmla="*/ 321 w 6435"/>
                <a:gd name="T19" fmla="*/ 15 h 2107"/>
                <a:gd name="T20" fmla="*/ 358 w 6435"/>
                <a:gd name="T21" fmla="*/ 222 h 2107"/>
                <a:gd name="T22" fmla="*/ 378 w 6435"/>
                <a:gd name="T23" fmla="*/ 118 h 2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35"/>
                <a:gd name="T37" fmla="*/ 0 h 2107"/>
                <a:gd name="T38" fmla="*/ 6435 w 6435"/>
                <a:gd name="T39" fmla="*/ 2107 h 2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35" h="2107">
                  <a:moveTo>
                    <a:pt x="0" y="125"/>
                  </a:moveTo>
                  <a:cubicBezTo>
                    <a:pt x="32" y="152"/>
                    <a:pt x="82" y="0"/>
                    <a:pt x="195" y="305"/>
                  </a:cubicBezTo>
                  <a:cubicBezTo>
                    <a:pt x="308" y="610"/>
                    <a:pt x="488" y="1987"/>
                    <a:pt x="675" y="1955"/>
                  </a:cubicBezTo>
                  <a:cubicBezTo>
                    <a:pt x="862" y="1923"/>
                    <a:pt x="1103" y="112"/>
                    <a:pt x="1320" y="110"/>
                  </a:cubicBezTo>
                  <a:cubicBezTo>
                    <a:pt x="1537" y="108"/>
                    <a:pt x="1753" y="1940"/>
                    <a:pt x="1980" y="1940"/>
                  </a:cubicBezTo>
                  <a:cubicBezTo>
                    <a:pt x="2207" y="1940"/>
                    <a:pt x="2453" y="110"/>
                    <a:pt x="2685" y="110"/>
                  </a:cubicBezTo>
                  <a:cubicBezTo>
                    <a:pt x="2917" y="110"/>
                    <a:pt x="3145" y="1937"/>
                    <a:pt x="3375" y="1940"/>
                  </a:cubicBezTo>
                  <a:cubicBezTo>
                    <a:pt x="3605" y="1943"/>
                    <a:pt x="3835" y="123"/>
                    <a:pt x="4065" y="125"/>
                  </a:cubicBezTo>
                  <a:cubicBezTo>
                    <a:pt x="4295" y="127"/>
                    <a:pt x="4523" y="1955"/>
                    <a:pt x="4755" y="1955"/>
                  </a:cubicBezTo>
                  <a:cubicBezTo>
                    <a:pt x="4987" y="1955"/>
                    <a:pt x="5238" y="125"/>
                    <a:pt x="5460" y="125"/>
                  </a:cubicBezTo>
                  <a:cubicBezTo>
                    <a:pt x="5682" y="125"/>
                    <a:pt x="5928" y="1803"/>
                    <a:pt x="6090" y="1955"/>
                  </a:cubicBezTo>
                  <a:cubicBezTo>
                    <a:pt x="6252" y="2107"/>
                    <a:pt x="6363" y="1231"/>
                    <a:pt x="6435" y="1040"/>
                  </a:cubicBezTo>
                </a:path>
              </a:pathLst>
            </a:custGeom>
            <a:noFill/>
            <a:ln w="28575">
              <a:solidFill>
                <a:srgbClr val="000000"/>
              </a:solidFill>
              <a:round/>
              <a:headEnd/>
              <a:tailEnd/>
            </a:ln>
          </p:spPr>
          <p:txBody>
            <a:bodyPr/>
            <a:lstStyle/>
            <a:p>
              <a:endParaRPr lang="zh-CN" altLang="en-US"/>
            </a:p>
          </p:txBody>
        </p:sp>
        <p:sp>
          <p:nvSpPr>
            <p:cNvPr id="56347" name="Freeform 23"/>
            <p:cNvSpPr>
              <a:spLocks/>
            </p:cNvSpPr>
            <p:nvPr/>
          </p:nvSpPr>
          <p:spPr bwMode="auto">
            <a:xfrm>
              <a:off x="1567" y="3004"/>
              <a:ext cx="2568" cy="830"/>
            </a:xfrm>
            <a:custGeom>
              <a:avLst/>
              <a:gdLst>
                <a:gd name="T0" fmla="*/ 0 w 3840"/>
                <a:gd name="T1" fmla="*/ 99 h 1181"/>
                <a:gd name="T2" fmla="*/ 54 w 3840"/>
                <a:gd name="T3" fmla="*/ 47 h 1181"/>
                <a:gd name="T4" fmla="*/ 146 w 3840"/>
                <a:gd name="T5" fmla="*/ 384 h 1181"/>
                <a:gd name="T6" fmla="*/ 258 w 3840"/>
                <a:gd name="T7" fmla="*/ 37 h 1181"/>
                <a:gd name="T8" fmla="*/ 372 w 3840"/>
                <a:gd name="T9" fmla="*/ 381 h 1181"/>
                <a:gd name="T10" fmla="*/ 495 w 3840"/>
                <a:gd name="T11" fmla="*/ 37 h 1181"/>
                <a:gd name="T12" fmla="*/ 615 w 3840"/>
                <a:gd name="T13" fmla="*/ 381 h 1181"/>
                <a:gd name="T14" fmla="*/ 735 w 3840"/>
                <a:gd name="T15" fmla="*/ 39 h 1181"/>
                <a:gd name="T16" fmla="*/ 855 w 3840"/>
                <a:gd name="T17" fmla="*/ 384 h 1181"/>
                <a:gd name="T18" fmla="*/ 978 w 3840"/>
                <a:gd name="T19" fmla="*/ 39 h 1181"/>
                <a:gd name="T20" fmla="*/ 1087 w 3840"/>
                <a:gd name="T21" fmla="*/ 384 h 1181"/>
                <a:gd name="T22" fmla="*/ 1148 w 3840"/>
                <a:gd name="T23" fmla="*/ 198 h 1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40"/>
                <a:gd name="T37" fmla="*/ 0 h 1181"/>
                <a:gd name="T38" fmla="*/ 3840 w 3840"/>
                <a:gd name="T39" fmla="*/ 1181 h 1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40" h="1181">
                  <a:moveTo>
                    <a:pt x="0" y="286"/>
                  </a:moveTo>
                  <a:cubicBezTo>
                    <a:pt x="32" y="261"/>
                    <a:pt x="99" y="0"/>
                    <a:pt x="180" y="136"/>
                  </a:cubicBezTo>
                  <a:cubicBezTo>
                    <a:pt x="261" y="272"/>
                    <a:pt x="374" y="1110"/>
                    <a:pt x="488" y="1105"/>
                  </a:cubicBezTo>
                  <a:cubicBezTo>
                    <a:pt x="602" y="1100"/>
                    <a:pt x="736" y="107"/>
                    <a:pt x="863" y="106"/>
                  </a:cubicBezTo>
                  <a:cubicBezTo>
                    <a:pt x="989" y="104"/>
                    <a:pt x="1114" y="1097"/>
                    <a:pt x="1246" y="1097"/>
                  </a:cubicBezTo>
                  <a:cubicBezTo>
                    <a:pt x="1378" y="1097"/>
                    <a:pt x="1521" y="106"/>
                    <a:pt x="1656" y="106"/>
                  </a:cubicBezTo>
                  <a:cubicBezTo>
                    <a:pt x="1791" y="106"/>
                    <a:pt x="1924" y="1095"/>
                    <a:pt x="2058" y="1097"/>
                  </a:cubicBezTo>
                  <a:cubicBezTo>
                    <a:pt x="2191" y="1098"/>
                    <a:pt x="2325" y="113"/>
                    <a:pt x="2459" y="114"/>
                  </a:cubicBezTo>
                  <a:cubicBezTo>
                    <a:pt x="2593" y="115"/>
                    <a:pt x="2725" y="1105"/>
                    <a:pt x="2860" y="1105"/>
                  </a:cubicBezTo>
                  <a:cubicBezTo>
                    <a:pt x="2995" y="1105"/>
                    <a:pt x="3141" y="114"/>
                    <a:pt x="3270" y="114"/>
                  </a:cubicBezTo>
                  <a:cubicBezTo>
                    <a:pt x="3399" y="114"/>
                    <a:pt x="3541" y="1029"/>
                    <a:pt x="3636" y="1105"/>
                  </a:cubicBezTo>
                  <a:cubicBezTo>
                    <a:pt x="3731" y="1181"/>
                    <a:pt x="3798" y="682"/>
                    <a:pt x="3840" y="571"/>
                  </a:cubicBezTo>
                </a:path>
              </a:pathLst>
            </a:custGeom>
            <a:noFill/>
            <a:ln w="28575">
              <a:solidFill>
                <a:srgbClr val="000000"/>
              </a:solidFill>
              <a:prstDash val="dash"/>
              <a:round/>
              <a:headEnd/>
              <a:tailEnd/>
            </a:ln>
          </p:spPr>
          <p:txBody>
            <a:bodyPr/>
            <a:lstStyle/>
            <a:p>
              <a:endParaRPr lang="zh-CN" altLang="en-US"/>
            </a:p>
          </p:txBody>
        </p:sp>
        <p:sp>
          <p:nvSpPr>
            <p:cNvPr id="56348" name="Line 24"/>
            <p:cNvSpPr>
              <a:spLocks noChangeShapeType="1"/>
            </p:cNvSpPr>
            <p:nvPr/>
          </p:nvSpPr>
          <p:spPr bwMode="auto">
            <a:xfrm>
              <a:off x="1430" y="3402"/>
              <a:ext cx="2982" cy="0"/>
            </a:xfrm>
            <a:prstGeom prst="line">
              <a:avLst/>
            </a:prstGeom>
            <a:noFill/>
            <a:ln w="6350">
              <a:solidFill>
                <a:srgbClr val="000000"/>
              </a:solidFill>
              <a:round/>
              <a:headEnd/>
              <a:tailEnd/>
            </a:ln>
          </p:spPr>
          <p:txBody>
            <a:bodyPr/>
            <a:lstStyle/>
            <a:p>
              <a:endParaRPr lang="zh-CN" altLang="en-US"/>
            </a:p>
          </p:txBody>
        </p:sp>
        <p:sp>
          <p:nvSpPr>
            <p:cNvPr id="56349" name="Line 25"/>
            <p:cNvSpPr>
              <a:spLocks noChangeShapeType="1"/>
            </p:cNvSpPr>
            <p:nvPr/>
          </p:nvSpPr>
          <p:spPr bwMode="auto">
            <a:xfrm>
              <a:off x="1563" y="2952"/>
              <a:ext cx="416" cy="0"/>
            </a:xfrm>
            <a:prstGeom prst="line">
              <a:avLst/>
            </a:prstGeom>
            <a:noFill/>
            <a:ln w="6350">
              <a:solidFill>
                <a:srgbClr val="000000"/>
              </a:solidFill>
              <a:round/>
              <a:headEnd/>
              <a:tailEnd/>
            </a:ln>
          </p:spPr>
          <p:txBody>
            <a:bodyPr/>
            <a:lstStyle/>
            <a:p>
              <a:endParaRPr lang="zh-CN" altLang="en-US"/>
            </a:p>
          </p:txBody>
        </p:sp>
        <p:sp>
          <p:nvSpPr>
            <p:cNvPr id="56350" name="Line 26"/>
            <p:cNvSpPr>
              <a:spLocks noChangeShapeType="1"/>
            </p:cNvSpPr>
            <p:nvPr/>
          </p:nvSpPr>
          <p:spPr bwMode="auto">
            <a:xfrm>
              <a:off x="1871" y="2952"/>
              <a:ext cx="0" cy="450"/>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56351" name="Line 27"/>
            <p:cNvSpPr>
              <a:spLocks noChangeShapeType="1"/>
            </p:cNvSpPr>
            <p:nvPr/>
          </p:nvSpPr>
          <p:spPr bwMode="auto">
            <a:xfrm flipV="1">
              <a:off x="2460" y="2643"/>
              <a:ext cx="0" cy="759"/>
            </a:xfrm>
            <a:prstGeom prst="line">
              <a:avLst/>
            </a:prstGeom>
            <a:noFill/>
            <a:ln w="6350">
              <a:solidFill>
                <a:srgbClr val="000000"/>
              </a:solidFill>
              <a:round/>
              <a:headEnd/>
              <a:tailEnd/>
            </a:ln>
          </p:spPr>
          <p:txBody>
            <a:bodyPr/>
            <a:lstStyle/>
            <a:p>
              <a:endParaRPr lang="zh-CN" altLang="en-US"/>
            </a:p>
          </p:txBody>
        </p:sp>
        <p:sp>
          <p:nvSpPr>
            <p:cNvPr id="56352" name="Line 28"/>
            <p:cNvSpPr>
              <a:spLocks noChangeShapeType="1"/>
            </p:cNvSpPr>
            <p:nvPr/>
          </p:nvSpPr>
          <p:spPr bwMode="auto">
            <a:xfrm flipV="1">
              <a:off x="2995" y="2671"/>
              <a:ext cx="0" cy="759"/>
            </a:xfrm>
            <a:prstGeom prst="line">
              <a:avLst/>
            </a:prstGeom>
            <a:noFill/>
            <a:ln w="6350">
              <a:solidFill>
                <a:srgbClr val="000000"/>
              </a:solidFill>
              <a:round/>
              <a:headEnd/>
              <a:tailEnd/>
            </a:ln>
          </p:spPr>
          <p:txBody>
            <a:bodyPr/>
            <a:lstStyle/>
            <a:p>
              <a:endParaRPr lang="zh-CN" altLang="en-US"/>
            </a:p>
          </p:txBody>
        </p:sp>
        <p:sp>
          <p:nvSpPr>
            <p:cNvPr id="56353" name="Line 29"/>
            <p:cNvSpPr>
              <a:spLocks noChangeShapeType="1"/>
            </p:cNvSpPr>
            <p:nvPr/>
          </p:nvSpPr>
          <p:spPr bwMode="auto">
            <a:xfrm>
              <a:off x="2460" y="2797"/>
              <a:ext cx="535" cy="0"/>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56354" name="Line 30"/>
            <p:cNvSpPr>
              <a:spLocks noChangeShapeType="1"/>
            </p:cNvSpPr>
            <p:nvPr/>
          </p:nvSpPr>
          <p:spPr bwMode="auto">
            <a:xfrm>
              <a:off x="3744" y="3092"/>
              <a:ext cx="361" cy="0"/>
            </a:xfrm>
            <a:prstGeom prst="line">
              <a:avLst/>
            </a:prstGeom>
            <a:noFill/>
            <a:ln w="9525">
              <a:solidFill>
                <a:srgbClr val="000000"/>
              </a:solidFill>
              <a:round/>
              <a:headEnd/>
              <a:tailEnd/>
            </a:ln>
          </p:spPr>
          <p:txBody>
            <a:bodyPr/>
            <a:lstStyle/>
            <a:p>
              <a:endParaRPr lang="zh-CN" altLang="en-US"/>
            </a:p>
          </p:txBody>
        </p:sp>
        <p:sp>
          <p:nvSpPr>
            <p:cNvPr id="56355" name="Line 31"/>
            <p:cNvSpPr>
              <a:spLocks noChangeShapeType="1"/>
            </p:cNvSpPr>
            <p:nvPr/>
          </p:nvSpPr>
          <p:spPr bwMode="auto">
            <a:xfrm>
              <a:off x="3971" y="3092"/>
              <a:ext cx="0" cy="31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6356" name="Line 32"/>
            <p:cNvSpPr>
              <a:spLocks noChangeShapeType="1"/>
            </p:cNvSpPr>
            <p:nvPr/>
          </p:nvSpPr>
          <p:spPr bwMode="auto">
            <a:xfrm flipV="1">
              <a:off x="3543" y="2699"/>
              <a:ext cx="0" cy="689"/>
            </a:xfrm>
            <a:prstGeom prst="line">
              <a:avLst/>
            </a:prstGeom>
            <a:noFill/>
            <a:ln w="6350">
              <a:solidFill>
                <a:srgbClr val="000000"/>
              </a:solidFill>
              <a:round/>
              <a:headEnd/>
              <a:tailEnd/>
            </a:ln>
          </p:spPr>
          <p:txBody>
            <a:bodyPr/>
            <a:lstStyle/>
            <a:p>
              <a:endParaRPr lang="zh-CN" altLang="en-US"/>
            </a:p>
          </p:txBody>
        </p:sp>
        <p:sp>
          <p:nvSpPr>
            <p:cNvPr id="56357" name="Line 33"/>
            <p:cNvSpPr>
              <a:spLocks noChangeShapeType="1"/>
            </p:cNvSpPr>
            <p:nvPr/>
          </p:nvSpPr>
          <p:spPr bwMode="auto">
            <a:xfrm flipV="1">
              <a:off x="3623" y="2685"/>
              <a:ext cx="0" cy="717"/>
            </a:xfrm>
            <a:prstGeom prst="line">
              <a:avLst/>
            </a:prstGeom>
            <a:noFill/>
            <a:ln w="6350">
              <a:solidFill>
                <a:srgbClr val="000000"/>
              </a:solidFill>
              <a:round/>
              <a:headEnd/>
              <a:tailEnd/>
            </a:ln>
          </p:spPr>
          <p:txBody>
            <a:bodyPr/>
            <a:lstStyle/>
            <a:p>
              <a:endParaRPr lang="zh-CN" altLang="en-US"/>
            </a:p>
          </p:txBody>
        </p:sp>
        <p:sp>
          <p:nvSpPr>
            <p:cNvPr id="56358" name="Line 34"/>
            <p:cNvSpPr>
              <a:spLocks noChangeShapeType="1"/>
            </p:cNvSpPr>
            <p:nvPr/>
          </p:nvSpPr>
          <p:spPr bwMode="auto">
            <a:xfrm>
              <a:off x="3329" y="2783"/>
              <a:ext cx="227" cy="0"/>
            </a:xfrm>
            <a:prstGeom prst="line">
              <a:avLst/>
            </a:prstGeom>
            <a:noFill/>
            <a:ln w="6350">
              <a:solidFill>
                <a:srgbClr val="000000"/>
              </a:solidFill>
              <a:round/>
              <a:headEnd type="none" w="sm" len="sm"/>
              <a:tailEnd type="stealth" w="med" len="lg"/>
            </a:ln>
          </p:spPr>
          <p:txBody>
            <a:bodyPr/>
            <a:lstStyle/>
            <a:p>
              <a:endParaRPr lang="zh-CN" altLang="en-US"/>
            </a:p>
          </p:txBody>
        </p:sp>
        <p:sp>
          <p:nvSpPr>
            <p:cNvPr id="56359" name="Line 35"/>
            <p:cNvSpPr>
              <a:spLocks noChangeShapeType="1"/>
            </p:cNvSpPr>
            <p:nvPr/>
          </p:nvSpPr>
          <p:spPr bwMode="auto">
            <a:xfrm>
              <a:off x="3610" y="2783"/>
              <a:ext cx="710" cy="0"/>
            </a:xfrm>
            <a:prstGeom prst="line">
              <a:avLst/>
            </a:prstGeom>
            <a:noFill/>
            <a:ln w="6350">
              <a:solidFill>
                <a:srgbClr val="000000"/>
              </a:solidFill>
              <a:round/>
              <a:headEnd type="stealth" w="med" len="lg"/>
              <a:tailEnd/>
            </a:ln>
          </p:spPr>
          <p:txBody>
            <a:bodyPr/>
            <a:lstStyle/>
            <a:p>
              <a:endParaRPr lang="zh-CN" altLang="en-US"/>
            </a:p>
          </p:txBody>
        </p:sp>
        <p:sp>
          <p:nvSpPr>
            <p:cNvPr id="56360" name="Line 36"/>
            <p:cNvSpPr>
              <a:spLocks noChangeShapeType="1"/>
            </p:cNvSpPr>
            <p:nvPr/>
          </p:nvSpPr>
          <p:spPr bwMode="auto">
            <a:xfrm>
              <a:off x="4346" y="3402"/>
              <a:ext cx="0" cy="604"/>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632869" name="Text Box 37"/>
            <p:cNvSpPr txBox="1">
              <a:spLocks noChangeArrowheads="1"/>
            </p:cNvSpPr>
            <p:nvPr/>
          </p:nvSpPr>
          <p:spPr bwMode="auto">
            <a:xfrm>
              <a:off x="3555" y="2488"/>
              <a:ext cx="1267" cy="360"/>
            </a:xfrm>
            <a:prstGeom prst="rect">
              <a:avLst/>
            </a:prstGeom>
            <a:noFill/>
            <a:ln w="9525">
              <a:noFill/>
              <a:miter lim="800000"/>
              <a:headEnd/>
              <a:tailEnd/>
            </a:ln>
            <a:effectLst/>
          </p:spPr>
          <p:txBody>
            <a:bodyPr/>
            <a:lstStyle/>
            <a:p>
              <a:pPr algn="just">
                <a:defRPr/>
              </a:pPr>
              <a:r>
                <a:rPr lang="en-US" altLang="zh-CN" sz="2000" b="1">
                  <a:effectLst>
                    <a:outerShdw blurRad="38100" dist="38100" dir="2700000" algn="tl">
                      <a:srgbClr val="C0C0C0"/>
                    </a:outerShdw>
                  </a:effectLst>
                  <a:latin typeface="Times New Roman" pitchFamily="18" charset="0"/>
                </a:rPr>
                <a:t>Δ</a:t>
              </a:r>
              <a:r>
                <a:rPr lang="en-US" altLang="zh-CN" sz="2000" b="1" i="1">
                  <a:effectLst>
                    <a:outerShdw blurRad="38100" dist="38100" dir="2700000" algn="tl">
                      <a:srgbClr val="C0C0C0"/>
                    </a:outerShdw>
                  </a:effectLst>
                  <a:latin typeface="Times New Roman" pitchFamily="18" charset="0"/>
                </a:rPr>
                <a:t>=PTF</a:t>
              </a:r>
              <a:r>
                <a:rPr lang="en-US" altLang="zh-CN"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r</a:t>
              </a:r>
              <a:r>
                <a:rPr lang="en-US" altLang="zh-CN" sz="2000" b="1">
                  <a:effectLst>
                    <a:outerShdw blurRad="38100" dist="38100" dir="2700000" algn="tl">
                      <a:srgbClr val="C0C0C0"/>
                    </a:outerShdw>
                  </a:effectLst>
                  <a:latin typeface="Times New Roman" pitchFamily="18" charset="0"/>
                </a:rPr>
                <a:t>) </a:t>
              </a:r>
              <a:r>
                <a:rPr lang="en-US" altLang="zh-CN" sz="2000" b="1" i="1">
                  <a:effectLst>
                    <a:outerShdw blurRad="38100" dist="38100" dir="2700000" algn="tl">
                      <a:srgbClr val="C0C0C0"/>
                    </a:outerShdw>
                  </a:effectLst>
                  <a:latin typeface="Times New Roman" pitchFamily="18" charset="0"/>
                </a:rPr>
                <a:t>/ </a:t>
              </a:r>
              <a:r>
                <a:rPr lang="en-US" altLang="zh-CN" sz="2000" b="1">
                  <a:effectLst>
                    <a:outerShdw blurRad="38100" dist="38100" dir="2700000" algn="tl">
                      <a:srgbClr val="C0C0C0"/>
                    </a:outerShdw>
                  </a:effectLst>
                  <a:latin typeface="Times New Roman" pitchFamily="18" charset="0"/>
                </a:rPr>
                <a:t>2π</a:t>
              </a:r>
              <a:endParaRPr lang="en-US" altLang="zh-CN" sz="2000" b="1">
                <a:effectLst>
                  <a:outerShdw blurRad="38100" dist="38100" dir="2700000" algn="tl">
                    <a:srgbClr val="C0C0C0"/>
                  </a:outerShdw>
                </a:effectLst>
              </a:endParaRPr>
            </a:p>
          </p:txBody>
        </p:sp>
        <p:sp>
          <p:nvSpPr>
            <p:cNvPr id="632870" name="Text Box 38"/>
            <p:cNvSpPr txBox="1">
              <a:spLocks noChangeArrowheads="1"/>
            </p:cNvSpPr>
            <p:nvPr/>
          </p:nvSpPr>
          <p:spPr bwMode="auto">
            <a:xfrm>
              <a:off x="1671" y="2955"/>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i="1" baseline="-25000">
                  <a:effectLst>
                    <a:outerShdw blurRad="38100" dist="38100" dir="2700000" algn="tl">
                      <a:srgbClr val="C0C0C0"/>
                    </a:outerShdw>
                  </a:effectLst>
                  <a:latin typeface="Times New Roman" pitchFamily="18" charset="0"/>
                </a:rPr>
                <a:t>a</a:t>
              </a:r>
              <a:endParaRPr lang="en-US" altLang="zh-CN" sz="2000" b="1">
                <a:effectLst>
                  <a:outerShdw blurRad="38100" dist="38100" dir="2700000" algn="tl">
                    <a:srgbClr val="C0C0C0"/>
                  </a:outerShdw>
                </a:effectLst>
              </a:endParaRPr>
            </a:p>
          </p:txBody>
        </p:sp>
        <p:sp>
          <p:nvSpPr>
            <p:cNvPr id="632871" name="Text Box 39"/>
            <p:cNvSpPr txBox="1">
              <a:spLocks noChangeArrowheads="1"/>
            </p:cNvSpPr>
            <p:nvPr/>
          </p:nvSpPr>
          <p:spPr bwMode="auto">
            <a:xfrm>
              <a:off x="2566" y="2513"/>
              <a:ext cx="302" cy="250"/>
            </a:xfrm>
            <a:prstGeom prst="rect">
              <a:avLst/>
            </a:prstGeom>
            <a:noFill/>
            <a:ln w="9525">
              <a:noFill/>
              <a:miter lim="800000"/>
              <a:headEnd/>
              <a:tailEnd/>
            </a:ln>
            <a:effectLst/>
          </p:spPr>
          <p:txBody>
            <a:bodyPr wrap="none">
              <a:spAutoFit/>
            </a:bodyPr>
            <a:lstStyle/>
            <a:p>
              <a:pPr algn="just">
                <a:defRPr/>
              </a:pPr>
              <a:r>
                <a:rPr lang="en-US" altLang="zh-CN" sz="2000" b="1">
                  <a:effectLst>
                    <a:outerShdw blurRad="38100" dist="38100" dir="2700000" algn="tl">
                      <a:srgbClr val="C0C0C0"/>
                    </a:outerShdw>
                  </a:effectLst>
                  <a:latin typeface="Times New Roman" pitchFamily="18" charset="0"/>
                </a:rPr>
                <a:t>1/</a:t>
              </a:r>
              <a:r>
                <a:rPr lang="en-US" altLang="zh-CN" sz="2000" b="1" i="1">
                  <a:effectLst>
                    <a:outerShdw blurRad="38100" dist="38100" dir="2700000" algn="tl">
                      <a:srgbClr val="C0C0C0"/>
                    </a:outerShdw>
                  </a:effectLst>
                  <a:latin typeface="Times New Roman" pitchFamily="18" charset="0"/>
                </a:rPr>
                <a:t>r</a:t>
              </a:r>
              <a:endParaRPr lang="en-US" altLang="zh-CN" sz="2000" b="1">
                <a:effectLst>
                  <a:outerShdw blurRad="38100" dist="38100" dir="2700000" algn="tl">
                    <a:srgbClr val="C0C0C0"/>
                  </a:outerShdw>
                </a:effectLst>
              </a:endParaRPr>
            </a:p>
          </p:txBody>
        </p:sp>
        <p:sp>
          <p:nvSpPr>
            <p:cNvPr id="632872" name="Text Box 40"/>
            <p:cNvSpPr txBox="1">
              <a:spLocks noChangeArrowheads="1"/>
            </p:cNvSpPr>
            <p:nvPr/>
          </p:nvSpPr>
          <p:spPr bwMode="auto">
            <a:xfrm>
              <a:off x="1327" y="2733"/>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endParaRPr lang="en-US" altLang="zh-CN" sz="2000" b="1">
                <a:effectLst>
                  <a:outerShdw blurRad="38100" dist="38100" dir="2700000" algn="tl">
                    <a:srgbClr val="C0C0C0"/>
                  </a:outerShdw>
                </a:effectLst>
              </a:endParaRPr>
            </a:p>
          </p:txBody>
        </p:sp>
        <p:sp>
          <p:nvSpPr>
            <p:cNvPr id="632873" name="Text Box 41"/>
            <p:cNvSpPr txBox="1">
              <a:spLocks noChangeArrowheads="1"/>
            </p:cNvSpPr>
            <p:nvPr/>
          </p:nvSpPr>
          <p:spPr bwMode="auto">
            <a:xfrm>
              <a:off x="1217" y="3176"/>
              <a:ext cx="361" cy="337"/>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baseline="-25000">
                  <a:effectLst>
                    <a:outerShdw blurRad="38100" dist="38100" dir="2700000" algn="tl">
                      <a:srgbClr val="C0C0C0"/>
                    </a:outerShdw>
                  </a:effectLst>
                  <a:latin typeface="Times New Roman" pitchFamily="18" charset="0"/>
                </a:rPr>
                <a:t>0</a:t>
              </a:r>
              <a:endParaRPr lang="en-US" altLang="zh-CN" sz="2000" b="1">
                <a:effectLst>
                  <a:outerShdw blurRad="38100" dist="38100" dir="2700000" algn="tl">
                    <a:srgbClr val="C0C0C0"/>
                  </a:outerShdw>
                </a:effectLst>
              </a:endParaRPr>
            </a:p>
          </p:txBody>
        </p:sp>
        <p:sp>
          <p:nvSpPr>
            <p:cNvPr id="632874" name="Text Box 42"/>
            <p:cNvSpPr txBox="1">
              <a:spLocks noChangeArrowheads="1"/>
            </p:cNvSpPr>
            <p:nvPr/>
          </p:nvSpPr>
          <p:spPr bwMode="auto">
            <a:xfrm>
              <a:off x="4197" y="4034"/>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u</a:t>
              </a:r>
              <a:endParaRPr lang="en-US" altLang="zh-CN" sz="2000" b="1">
                <a:effectLst>
                  <a:outerShdw blurRad="38100" dist="38100" dir="2700000" algn="tl">
                    <a:srgbClr val="C0C0C0"/>
                  </a:outerShdw>
                </a:effectLst>
              </a:endParaRPr>
            </a:p>
          </p:txBody>
        </p:sp>
        <p:sp>
          <p:nvSpPr>
            <p:cNvPr id="632875" name="Text Box 43"/>
            <p:cNvSpPr txBox="1">
              <a:spLocks noChangeArrowheads="1"/>
            </p:cNvSpPr>
            <p:nvPr/>
          </p:nvSpPr>
          <p:spPr bwMode="auto">
            <a:xfrm>
              <a:off x="1934" y="4144"/>
              <a:ext cx="2106" cy="176"/>
            </a:xfrm>
            <a:prstGeom prst="rect">
              <a:avLst/>
            </a:prstGeom>
            <a:noFill/>
            <a:ln w="9525">
              <a:noFill/>
              <a:miter lim="800000"/>
              <a:headEnd/>
              <a:tailEnd/>
            </a:ln>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正弦光栅成像</a:t>
              </a:r>
            </a:p>
            <a:p>
              <a:pPr>
                <a:defRPr/>
              </a:pPr>
              <a:endParaRPr lang="en-US" altLang="zh-CN" sz="2000" b="1">
                <a:effectLst>
                  <a:outerShdw blurRad="38100" dist="38100" dir="2700000" algn="tl">
                    <a:srgbClr val="C0C0C0"/>
                  </a:outerShdw>
                </a:effectLst>
              </a:endParaRPr>
            </a:p>
          </p:txBody>
        </p:sp>
        <p:sp>
          <p:nvSpPr>
            <p:cNvPr id="632876" name="Text Box 44"/>
            <p:cNvSpPr txBox="1">
              <a:spLocks noChangeArrowheads="1"/>
            </p:cNvSpPr>
            <p:nvPr/>
          </p:nvSpPr>
          <p:spPr bwMode="auto">
            <a:xfrm>
              <a:off x="4118" y="3556"/>
              <a:ext cx="503" cy="394"/>
            </a:xfrm>
            <a:prstGeom prst="rect">
              <a:avLst/>
            </a:prstGeom>
            <a:noFill/>
            <a:ln w="9525">
              <a:noFill/>
              <a:miter lim="800000"/>
              <a:headEnd/>
              <a:tailEnd/>
            </a:ln>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baseline="-25000">
                  <a:effectLst>
                    <a:outerShdw blurRad="38100" dist="38100" dir="2700000" algn="tl">
                      <a:srgbClr val="C0C0C0"/>
                    </a:outerShdw>
                  </a:effectLst>
                  <a:latin typeface="Times New Roman" pitchFamily="18" charset="0"/>
                </a:rPr>
                <a:t>0</a:t>
              </a:r>
              <a:endParaRPr lang="en-US" altLang="zh-CN" sz="2000" b="1">
                <a:effectLst>
                  <a:outerShdw blurRad="38100" dist="38100" dir="2700000" algn="tl">
                    <a:srgbClr val="C0C0C0"/>
                  </a:outerShdw>
                </a:effectLst>
              </a:endParaRPr>
            </a:p>
          </p:txBody>
        </p:sp>
        <p:sp>
          <p:nvSpPr>
            <p:cNvPr id="632877" name="Text Box 45"/>
            <p:cNvSpPr txBox="1">
              <a:spLocks noChangeArrowheads="1"/>
            </p:cNvSpPr>
            <p:nvPr/>
          </p:nvSpPr>
          <p:spPr bwMode="auto">
            <a:xfrm>
              <a:off x="3919" y="3064"/>
              <a:ext cx="787" cy="422"/>
            </a:xfrm>
            <a:prstGeom prst="rect">
              <a:avLst/>
            </a:prstGeom>
            <a:noFill/>
            <a:ln w="9525">
              <a:noFill/>
              <a:miter lim="800000"/>
              <a:headEnd/>
              <a:tailEnd/>
            </a:ln>
          </p:spPr>
          <p:txBody>
            <a:bodyPr/>
            <a:lstStyle/>
            <a:p>
              <a:pPr algn="just">
                <a:defRPr/>
              </a:pPr>
              <a:r>
                <a:rPr lang="en-US" altLang="zh-CN" sz="2000" b="1" i="1">
                  <a:effectLst>
                    <a:outerShdw blurRad="38100" dist="38100" dir="2700000" algn="tl">
                      <a:srgbClr val="C0C0C0"/>
                    </a:outerShdw>
                  </a:effectLst>
                  <a:latin typeface="Times New Roman" pitchFamily="18" charset="0"/>
                </a:rPr>
                <a:t>MTF</a:t>
              </a:r>
              <a:r>
                <a:rPr lang="en-US" altLang="zh-CN"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r</a:t>
              </a:r>
              <a:r>
                <a:rPr lang="en-US" altLang="zh-CN"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I</a:t>
              </a:r>
              <a:r>
                <a:rPr lang="en-US" altLang="zh-CN" sz="2000" b="1" i="1" baseline="-25000">
                  <a:effectLst>
                    <a:outerShdw blurRad="38100" dist="38100" dir="2700000" algn="tl">
                      <a:srgbClr val="C0C0C0"/>
                    </a:outerShdw>
                  </a:effectLst>
                  <a:latin typeface="Times New Roman" pitchFamily="18" charset="0"/>
                </a:rPr>
                <a:t>a</a:t>
              </a:r>
              <a:endParaRPr lang="en-US" altLang="zh-CN" sz="2000" b="1" baseline="-25000">
                <a:effectLst>
                  <a:outerShdw blurRad="38100" dist="38100" dir="2700000" algn="tl">
                    <a:srgbClr val="C0C0C0"/>
                  </a:outerShdw>
                </a:effectLst>
              </a:endParaRPr>
            </a:p>
          </p:txBody>
        </p:sp>
      </p:grpSp>
      <p:sp>
        <p:nvSpPr>
          <p:cNvPr id="56342" name="Rectangle 4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6322" name="Object 47"/>
          <p:cNvGraphicFramePr>
            <a:graphicFrameLocks noChangeAspect="1"/>
          </p:cNvGraphicFramePr>
          <p:nvPr/>
        </p:nvGraphicFramePr>
        <p:xfrm>
          <a:off x="2817813" y="2762250"/>
          <a:ext cx="3660775" cy="561975"/>
        </p:xfrm>
        <a:graphic>
          <a:graphicData uri="http://schemas.openxmlformats.org/presentationml/2006/ole">
            <p:oleObj spid="_x0000_s56322" name="公式" r:id="rId3" imgW="35661917" imgH="5486717" progId="Equation.3">
              <p:embed/>
            </p:oleObj>
          </a:graphicData>
        </a:graphic>
      </p:graphicFrame>
      <p:sp>
        <p:nvSpPr>
          <p:cNvPr id="51"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 name="Rectangle 2"/>
          <p:cNvSpPr>
            <a:spLocks noGrp="1" noRot="1" noChangeArrowheads="1"/>
          </p:cNvSpPr>
          <p:nvPr>
            <p:ph type="title"/>
          </p:nvPr>
        </p:nvSpPr>
        <p:spPr>
          <a:xfrm>
            <a:off x="742950" y="4111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4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57348" name="日期占位符 3"/>
          <p:cNvSpPr>
            <a:spLocks noGrp="1"/>
          </p:cNvSpPr>
          <p:nvPr>
            <p:ph type="dt" sz="quarter" idx="10"/>
          </p:nvPr>
        </p:nvSpPr>
        <p:spPr>
          <a:noFill/>
        </p:spPr>
        <p:txBody>
          <a:bodyPr/>
          <a:lstStyle/>
          <a:p>
            <a:fld id="{338FAEE1-F392-4FA5-869D-9AE3421802C1}" type="datetime1">
              <a:rPr lang="zh-CN" altLang="en-US" smtClean="0"/>
              <a:pPr/>
              <a:t>2018/2/24</a:t>
            </a:fld>
            <a:endParaRPr lang="en-US" altLang="zh-CN" smtClean="0"/>
          </a:p>
        </p:txBody>
      </p:sp>
      <p:sp>
        <p:nvSpPr>
          <p:cNvPr id="57349" name="灯片编号占位符 5"/>
          <p:cNvSpPr>
            <a:spLocks noGrp="1"/>
          </p:cNvSpPr>
          <p:nvPr>
            <p:ph type="sldNum" sz="quarter" idx="12"/>
          </p:nvPr>
        </p:nvSpPr>
        <p:spPr>
          <a:noFill/>
        </p:spPr>
        <p:txBody>
          <a:bodyPr/>
          <a:lstStyle/>
          <a:p>
            <a:fld id="{644077A7-D5F8-4ABE-90EE-7AD9BDFCB3BC}" type="slidenum">
              <a:rPr lang="en-US" altLang="zh-CN" smtClean="0"/>
              <a:pPr/>
              <a:t>82</a:t>
            </a:fld>
            <a:endParaRPr lang="en-US" altLang="zh-CN" smtClean="0"/>
          </a:p>
        </p:txBody>
      </p:sp>
      <p:sp>
        <p:nvSpPr>
          <p:cNvPr id="633859" name="Rectangle 3"/>
          <p:cNvSpPr>
            <a:spLocks noGrp="1" noRot="1" noChangeArrowheads="1"/>
          </p:cNvSpPr>
          <p:nvPr>
            <p:ph type="body" idx="1"/>
          </p:nvPr>
        </p:nvSpPr>
        <p:spPr>
          <a:xfrm>
            <a:off x="500063" y="1901825"/>
            <a:ext cx="8128000" cy="4748213"/>
          </a:xfrm>
        </p:spPr>
        <p:txBody>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1.2  </a:t>
            </a:r>
            <a:r>
              <a:rPr lang="zh-CN" altLang="en-US" smtClean="0">
                <a:latin typeface="Times New Roman" pitchFamily="18" charset="0"/>
                <a:ea typeface="黑体" pitchFamily="2" charset="-122"/>
              </a:rPr>
              <a:t>以正弦光栅成像为基础的定义</a:t>
            </a:r>
          </a:p>
          <a:p>
            <a:pPr marL="449263" indent="-449263" eaLnBrk="1" hangingPunct="1">
              <a:defRPr/>
            </a:pPr>
            <a:r>
              <a:rPr lang="zh-CN" altLang="en-US" smtClean="0">
                <a:latin typeface="Times New Roman" pitchFamily="18" charset="0"/>
                <a:ea typeface="黑体" pitchFamily="2" charset="-122"/>
              </a:rPr>
              <a:t>使正弦光栅经过光学系统成像，利用成像公式和归一化式，并将余弦函数展开，然后逐项积分可得 </a:t>
            </a: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r>
              <a:rPr lang="zh-CN" altLang="en-US" smtClean="0">
                <a:latin typeface="Times New Roman" pitchFamily="18" charset="0"/>
                <a:ea typeface="黑体" pitchFamily="2" charset="-122"/>
              </a:rPr>
              <a:t>如虚线所示。</a:t>
            </a:r>
          </a:p>
        </p:txBody>
      </p:sp>
      <p:sp>
        <p:nvSpPr>
          <p:cNvPr id="57352"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7353"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54"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7355"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56"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7357"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7358"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7359"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60"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7361"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62"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63"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64"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7365"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7366"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7367"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7346" name="Object 20"/>
          <p:cNvGraphicFramePr>
            <a:graphicFrameLocks noChangeAspect="1"/>
          </p:cNvGraphicFramePr>
          <p:nvPr/>
        </p:nvGraphicFramePr>
        <p:xfrm>
          <a:off x="1454150" y="3254375"/>
          <a:ext cx="6197600" cy="2655888"/>
        </p:xfrm>
        <a:graphic>
          <a:graphicData uri="http://schemas.openxmlformats.org/presentationml/2006/ole">
            <p:oleObj spid="_x0000_s57346" name="公式" r:id="rId3" imgW="69799517" imgH="29870717" progId="Equation.3">
              <p:embed/>
            </p:oleObj>
          </a:graphicData>
        </a:graphic>
      </p:graphicFrame>
      <p:sp>
        <p:nvSpPr>
          <p:cNvPr id="57368" name="Rectangle 21"/>
          <p:cNvSpPr>
            <a:spLocks noChangeArrowheads="1"/>
          </p:cNvSpPr>
          <p:nvPr/>
        </p:nvSpPr>
        <p:spPr bwMode="auto">
          <a:xfrm>
            <a:off x="0" y="2819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3878" name="Object 22"/>
          <p:cNvGraphicFramePr>
            <a:graphicFrameLocks noChangeAspect="1"/>
          </p:cNvGraphicFramePr>
          <p:nvPr/>
        </p:nvGraphicFramePr>
        <p:xfrm>
          <a:off x="4630737" y="0"/>
          <a:ext cx="4513263" cy="2662238"/>
        </p:xfrm>
        <a:graphic>
          <a:graphicData uri="http://schemas.openxmlformats.org/presentationml/2006/ole">
            <p:oleObj spid="_x0000_s57347" name="公式" r:id="rId4" imgW="49682717" imgH="29261117" progId="Equation.3">
              <p:embed/>
            </p:oleObj>
          </a:graphicData>
        </a:graphic>
      </p:graphicFrame>
      <p:grpSp>
        <p:nvGrpSpPr>
          <p:cNvPr id="2" name="Group 23"/>
          <p:cNvGrpSpPr>
            <a:grpSpLocks/>
          </p:cNvGrpSpPr>
          <p:nvPr/>
        </p:nvGrpSpPr>
        <p:grpSpPr bwMode="auto">
          <a:xfrm>
            <a:off x="0" y="0"/>
            <a:ext cx="5868988" cy="3527425"/>
            <a:chOff x="1125" y="2277"/>
            <a:chExt cx="3697" cy="2222"/>
          </a:xfrm>
        </p:grpSpPr>
        <p:sp>
          <p:nvSpPr>
            <p:cNvPr id="57370" name="Rectangle 24"/>
            <p:cNvSpPr>
              <a:spLocks noChangeArrowheads="1"/>
            </p:cNvSpPr>
            <p:nvPr/>
          </p:nvSpPr>
          <p:spPr bwMode="auto">
            <a:xfrm>
              <a:off x="1125" y="2277"/>
              <a:ext cx="3575" cy="222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57371" name="Line 25"/>
            <p:cNvSpPr>
              <a:spLocks noChangeShapeType="1"/>
            </p:cNvSpPr>
            <p:nvPr/>
          </p:nvSpPr>
          <p:spPr bwMode="auto">
            <a:xfrm>
              <a:off x="1457" y="4006"/>
              <a:ext cx="3130" cy="0"/>
            </a:xfrm>
            <a:prstGeom prst="line">
              <a:avLst/>
            </a:prstGeom>
            <a:noFill/>
            <a:ln w="6350">
              <a:solidFill>
                <a:srgbClr val="000000"/>
              </a:solidFill>
              <a:round/>
              <a:headEnd/>
              <a:tailEnd type="stealth" w="med" len="lg"/>
            </a:ln>
          </p:spPr>
          <p:txBody>
            <a:bodyPr/>
            <a:lstStyle/>
            <a:p>
              <a:endParaRPr lang="zh-CN" altLang="en-US"/>
            </a:p>
          </p:txBody>
        </p:sp>
        <p:sp>
          <p:nvSpPr>
            <p:cNvPr id="57372" name="Line 26"/>
            <p:cNvSpPr>
              <a:spLocks noChangeShapeType="1"/>
            </p:cNvSpPr>
            <p:nvPr/>
          </p:nvSpPr>
          <p:spPr bwMode="auto">
            <a:xfrm>
              <a:off x="1556" y="2718"/>
              <a:ext cx="0" cy="1455"/>
            </a:xfrm>
            <a:prstGeom prst="line">
              <a:avLst/>
            </a:prstGeom>
            <a:noFill/>
            <a:ln w="6350">
              <a:solidFill>
                <a:srgbClr val="000000"/>
              </a:solidFill>
              <a:round/>
              <a:headEnd type="stealth" w="med" len="lg"/>
              <a:tailEnd type="none" w="sm" len="lg"/>
            </a:ln>
          </p:spPr>
          <p:txBody>
            <a:bodyPr/>
            <a:lstStyle/>
            <a:p>
              <a:endParaRPr lang="zh-CN" altLang="en-US"/>
            </a:p>
          </p:txBody>
        </p:sp>
        <p:sp>
          <p:nvSpPr>
            <p:cNvPr id="57373" name="Freeform 27"/>
            <p:cNvSpPr>
              <a:spLocks/>
            </p:cNvSpPr>
            <p:nvPr/>
          </p:nvSpPr>
          <p:spPr bwMode="auto">
            <a:xfrm>
              <a:off x="1551" y="2905"/>
              <a:ext cx="2501" cy="1021"/>
            </a:xfrm>
            <a:custGeom>
              <a:avLst/>
              <a:gdLst>
                <a:gd name="T0" fmla="*/ 0 w 6435"/>
                <a:gd name="T1" fmla="*/ 15 h 2107"/>
                <a:gd name="T2" fmla="*/ 12 w 6435"/>
                <a:gd name="T3" fmla="*/ 35 h 2107"/>
                <a:gd name="T4" fmla="*/ 40 w 6435"/>
                <a:gd name="T5" fmla="*/ 222 h 2107"/>
                <a:gd name="T6" fmla="*/ 77 w 6435"/>
                <a:gd name="T7" fmla="*/ 13 h 2107"/>
                <a:gd name="T8" fmla="*/ 116 w 6435"/>
                <a:gd name="T9" fmla="*/ 221 h 2107"/>
                <a:gd name="T10" fmla="*/ 158 w 6435"/>
                <a:gd name="T11" fmla="*/ 13 h 2107"/>
                <a:gd name="T12" fmla="*/ 198 w 6435"/>
                <a:gd name="T13" fmla="*/ 221 h 2107"/>
                <a:gd name="T14" fmla="*/ 239 w 6435"/>
                <a:gd name="T15" fmla="*/ 15 h 2107"/>
                <a:gd name="T16" fmla="*/ 279 w 6435"/>
                <a:gd name="T17" fmla="*/ 222 h 2107"/>
                <a:gd name="T18" fmla="*/ 321 w 6435"/>
                <a:gd name="T19" fmla="*/ 15 h 2107"/>
                <a:gd name="T20" fmla="*/ 358 w 6435"/>
                <a:gd name="T21" fmla="*/ 222 h 2107"/>
                <a:gd name="T22" fmla="*/ 378 w 6435"/>
                <a:gd name="T23" fmla="*/ 118 h 21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35"/>
                <a:gd name="T37" fmla="*/ 0 h 2107"/>
                <a:gd name="T38" fmla="*/ 6435 w 6435"/>
                <a:gd name="T39" fmla="*/ 2107 h 21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35" h="2107">
                  <a:moveTo>
                    <a:pt x="0" y="125"/>
                  </a:moveTo>
                  <a:cubicBezTo>
                    <a:pt x="32" y="152"/>
                    <a:pt x="82" y="0"/>
                    <a:pt x="195" y="305"/>
                  </a:cubicBezTo>
                  <a:cubicBezTo>
                    <a:pt x="308" y="610"/>
                    <a:pt x="488" y="1987"/>
                    <a:pt x="675" y="1955"/>
                  </a:cubicBezTo>
                  <a:cubicBezTo>
                    <a:pt x="862" y="1923"/>
                    <a:pt x="1103" y="112"/>
                    <a:pt x="1320" y="110"/>
                  </a:cubicBezTo>
                  <a:cubicBezTo>
                    <a:pt x="1537" y="108"/>
                    <a:pt x="1753" y="1940"/>
                    <a:pt x="1980" y="1940"/>
                  </a:cubicBezTo>
                  <a:cubicBezTo>
                    <a:pt x="2207" y="1940"/>
                    <a:pt x="2453" y="110"/>
                    <a:pt x="2685" y="110"/>
                  </a:cubicBezTo>
                  <a:cubicBezTo>
                    <a:pt x="2917" y="110"/>
                    <a:pt x="3145" y="1937"/>
                    <a:pt x="3375" y="1940"/>
                  </a:cubicBezTo>
                  <a:cubicBezTo>
                    <a:pt x="3605" y="1943"/>
                    <a:pt x="3835" y="123"/>
                    <a:pt x="4065" y="125"/>
                  </a:cubicBezTo>
                  <a:cubicBezTo>
                    <a:pt x="4295" y="127"/>
                    <a:pt x="4523" y="1955"/>
                    <a:pt x="4755" y="1955"/>
                  </a:cubicBezTo>
                  <a:cubicBezTo>
                    <a:pt x="4987" y="1955"/>
                    <a:pt x="5238" y="125"/>
                    <a:pt x="5460" y="125"/>
                  </a:cubicBezTo>
                  <a:cubicBezTo>
                    <a:pt x="5682" y="125"/>
                    <a:pt x="5928" y="1803"/>
                    <a:pt x="6090" y="1955"/>
                  </a:cubicBezTo>
                  <a:cubicBezTo>
                    <a:pt x="6252" y="2107"/>
                    <a:pt x="6363" y="1231"/>
                    <a:pt x="6435" y="1040"/>
                  </a:cubicBezTo>
                </a:path>
              </a:pathLst>
            </a:custGeom>
            <a:noFill/>
            <a:ln w="28575">
              <a:solidFill>
                <a:srgbClr val="000000"/>
              </a:solidFill>
              <a:round/>
              <a:headEnd/>
              <a:tailEnd/>
            </a:ln>
          </p:spPr>
          <p:txBody>
            <a:bodyPr/>
            <a:lstStyle/>
            <a:p>
              <a:endParaRPr lang="zh-CN" altLang="en-US"/>
            </a:p>
          </p:txBody>
        </p:sp>
        <p:sp>
          <p:nvSpPr>
            <p:cNvPr id="57374" name="Freeform 28"/>
            <p:cNvSpPr>
              <a:spLocks/>
            </p:cNvSpPr>
            <p:nvPr/>
          </p:nvSpPr>
          <p:spPr bwMode="auto">
            <a:xfrm>
              <a:off x="1567" y="3004"/>
              <a:ext cx="2568" cy="830"/>
            </a:xfrm>
            <a:custGeom>
              <a:avLst/>
              <a:gdLst>
                <a:gd name="T0" fmla="*/ 0 w 3840"/>
                <a:gd name="T1" fmla="*/ 99 h 1181"/>
                <a:gd name="T2" fmla="*/ 54 w 3840"/>
                <a:gd name="T3" fmla="*/ 47 h 1181"/>
                <a:gd name="T4" fmla="*/ 146 w 3840"/>
                <a:gd name="T5" fmla="*/ 384 h 1181"/>
                <a:gd name="T6" fmla="*/ 258 w 3840"/>
                <a:gd name="T7" fmla="*/ 37 h 1181"/>
                <a:gd name="T8" fmla="*/ 372 w 3840"/>
                <a:gd name="T9" fmla="*/ 381 h 1181"/>
                <a:gd name="T10" fmla="*/ 495 w 3840"/>
                <a:gd name="T11" fmla="*/ 37 h 1181"/>
                <a:gd name="T12" fmla="*/ 615 w 3840"/>
                <a:gd name="T13" fmla="*/ 381 h 1181"/>
                <a:gd name="T14" fmla="*/ 735 w 3840"/>
                <a:gd name="T15" fmla="*/ 39 h 1181"/>
                <a:gd name="T16" fmla="*/ 855 w 3840"/>
                <a:gd name="T17" fmla="*/ 384 h 1181"/>
                <a:gd name="T18" fmla="*/ 978 w 3840"/>
                <a:gd name="T19" fmla="*/ 39 h 1181"/>
                <a:gd name="T20" fmla="*/ 1087 w 3840"/>
                <a:gd name="T21" fmla="*/ 384 h 1181"/>
                <a:gd name="T22" fmla="*/ 1148 w 3840"/>
                <a:gd name="T23" fmla="*/ 198 h 1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40"/>
                <a:gd name="T37" fmla="*/ 0 h 1181"/>
                <a:gd name="T38" fmla="*/ 3840 w 3840"/>
                <a:gd name="T39" fmla="*/ 1181 h 1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40" h="1181">
                  <a:moveTo>
                    <a:pt x="0" y="286"/>
                  </a:moveTo>
                  <a:cubicBezTo>
                    <a:pt x="32" y="261"/>
                    <a:pt x="99" y="0"/>
                    <a:pt x="180" y="136"/>
                  </a:cubicBezTo>
                  <a:cubicBezTo>
                    <a:pt x="261" y="272"/>
                    <a:pt x="374" y="1110"/>
                    <a:pt x="488" y="1105"/>
                  </a:cubicBezTo>
                  <a:cubicBezTo>
                    <a:pt x="602" y="1100"/>
                    <a:pt x="736" y="107"/>
                    <a:pt x="863" y="106"/>
                  </a:cubicBezTo>
                  <a:cubicBezTo>
                    <a:pt x="989" y="104"/>
                    <a:pt x="1114" y="1097"/>
                    <a:pt x="1246" y="1097"/>
                  </a:cubicBezTo>
                  <a:cubicBezTo>
                    <a:pt x="1378" y="1097"/>
                    <a:pt x="1521" y="106"/>
                    <a:pt x="1656" y="106"/>
                  </a:cubicBezTo>
                  <a:cubicBezTo>
                    <a:pt x="1791" y="106"/>
                    <a:pt x="1924" y="1095"/>
                    <a:pt x="2058" y="1097"/>
                  </a:cubicBezTo>
                  <a:cubicBezTo>
                    <a:pt x="2191" y="1098"/>
                    <a:pt x="2325" y="113"/>
                    <a:pt x="2459" y="114"/>
                  </a:cubicBezTo>
                  <a:cubicBezTo>
                    <a:pt x="2593" y="115"/>
                    <a:pt x="2725" y="1105"/>
                    <a:pt x="2860" y="1105"/>
                  </a:cubicBezTo>
                  <a:cubicBezTo>
                    <a:pt x="2995" y="1105"/>
                    <a:pt x="3141" y="114"/>
                    <a:pt x="3270" y="114"/>
                  </a:cubicBezTo>
                  <a:cubicBezTo>
                    <a:pt x="3399" y="114"/>
                    <a:pt x="3541" y="1029"/>
                    <a:pt x="3636" y="1105"/>
                  </a:cubicBezTo>
                  <a:cubicBezTo>
                    <a:pt x="3731" y="1181"/>
                    <a:pt x="3798" y="682"/>
                    <a:pt x="3840" y="571"/>
                  </a:cubicBezTo>
                </a:path>
              </a:pathLst>
            </a:custGeom>
            <a:noFill/>
            <a:ln w="28575">
              <a:solidFill>
                <a:srgbClr val="000000"/>
              </a:solidFill>
              <a:prstDash val="dash"/>
              <a:round/>
              <a:headEnd/>
              <a:tailEnd/>
            </a:ln>
          </p:spPr>
          <p:txBody>
            <a:bodyPr/>
            <a:lstStyle/>
            <a:p>
              <a:endParaRPr lang="zh-CN" altLang="en-US"/>
            </a:p>
          </p:txBody>
        </p:sp>
        <p:sp>
          <p:nvSpPr>
            <p:cNvPr id="57375" name="Line 29"/>
            <p:cNvSpPr>
              <a:spLocks noChangeShapeType="1"/>
            </p:cNvSpPr>
            <p:nvPr/>
          </p:nvSpPr>
          <p:spPr bwMode="auto">
            <a:xfrm>
              <a:off x="1430" y="3402"/>
              <a:ext cx="2982" cy="0"/>
            </a:xfrm>
            <a:prstGeom prst="line">
              <a:avLst/>
            </a:prstGeom>
            <a:noFill/>
            <a:ln w="6350">
              <a:solidFill>
                <a:srgbClr val="000000"/>
              </a:solidFill>
              <a:round/>
              <a:headEnd/>
              <a:tailEnd/>
            </a:ln>
          </p:spPr>
          <p:txBody>
            <a:bodyPr/>
            <a:lstStyle/>
            <a:p>
              <a:endParaRPr lang="zh-CN" altLang="en-US"/>
            </a:p>
          </p:txBody>
        </p:sp>
        <p:sp>
          <p:nvSpPr>
            <p:cNvPr id="57376" name="Line 30"/>
            <p:cNvSpPr>
              <a:spLocks noChangeShapeType="1"/>
            </p:cNvSpPr>
            <p:nvPr/>
          </p:nvSpPr>
          <p:spPr bwMode="auto">
            <a:xfrm>
              <a:off x="1563" y="2952"/>
              <a:ext cx="416" cy="0"/>
            </a:xfrm>
            <a:prstGeom prst="line">
              <a:avLst/>
            </a:prstGeom>
            <a:noFill/>
            <a:ln w="6350">
              <a:solidFill>
                <a:srgbClr val="000000"/>
              </a:solidFill>
              <a:round/>
              <a:headEnd/>
              <a:tailEnd/>
            </a:ln>
          </p:spPr>
          <p:txBody>
            <a:bodyPr/>
            <a:lstStyle/>
            <a:p>
              <a:endParaRPr lang="zh-CN" altLang="en-US"/>
            </a:p>
          </p:txBody>
        </p:sp>
        <p:sp>
          <p:nvSpPr>
            <p:cNvPr id="57377" name="Line 31"/>
            <p:cNvSpPr>
              <a:spLocks noChangeShapeType="1"/>
            </p:cNvSpPr>
            <p:nvPr/>
          </p:nvSpPr>
          <p:spPr bwMode="auto">
            <a:xfrm>
              <a:off x="1871" y="2952"/>
              <a:ext cx="0" cy="450"/>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57378" name="Line 32"/>
            <p:cNvSpPr>
              <a:spLocks noChangeShapeType="1"/>
            </p:cNvSpPr>
            <p:nvPr/>
          </p:nvSpPr>
          <p:spPr bwMode="auto">
            <a:xfrm flipV="1">
              <a:off x="2460" y="2643"/>
              <a:ext cx="0" cy="759"/>
            </a:xfrm>
            <a:prstGeom prst="line">
              <a:avLst/>
            </a:prstGeom>
            <a:noFill/>
            <a:ln w="6350">
              <a:solidFill>
                <a:srgbClr val="000000"/>
              </a:solidFill>
              <a:round/>
              <a:headEnd/>
              <a:tailEnd/>
            </a:ln>
          </p:spPr>
          <p:txBody>
            <a:bodyPr/>
            <a:lstStyle/>
            <a:p>
              <a:endParaRPr lang="zh-CN" altLang="en-US"/>
            </a:p>
          </p:txBody>
        </p:sp>
        <p:sp>
          <p:nvSpPr>
            <p:cNvPr id="57379" name="Line 33"/>
            <p:cNvSpPr>
              <a:spLocks noChangeShapeType="1"/>
            </p:cNvSpPr>
            <p:nvPr/>
          </p:nvSpPr>
          <p:spPr bwMode="auto">
            <a:xfrm flipV="1">
              <a:off x="2995" y="2671"/>
              <a:ext cx="0" cy="759"/>
            </a:xfrm>
            <a:prstGeom prst="line">
              <a:avLst/>
            </a:prstGeom>
            <a:noFill/>
            <a:ln w="6350">
              <a:solidFill>
                <a:srgbClr val="000000"/>
              </a:solidFill>
              <a:round/>
              <a:headEnd/>
              <a:tailEnd/>
            </a:ln>
          </p:spPr>
          <p:txBody>
            <a:bodyPr/>
            <a:lstStyle/>
            <a:p>
              <a:endParaRPr lang="zh-CN" altLang="en-US"/>
            </a:p>
          </p:txBody>
        </p:sp>
        <p:sp>
          <p:nvSpPr>
            <p:cNvPr id="57380" name="Line 34"/>
            <p:cNvSpPr>
              <a:spLocks noChangeShapeType="1"/>
            </p:cNvSpPr>
            <p:nvPr/>
          </p:nvSpPr>
          <p:spPr bwMode="auto">
            <a:xfrm>
              <a:off x="2460" y="2797"/>
              <a:ext cx="535" cy="0"/>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57381" name="Line 35"/>
            <p:cNvSpPr>
              <a:spLocks noChangeShapeType="1"/>
            </p:cNvSpPr>
            <p:nvPr/>
          </p:nvSpPr>
          <p:spPr bwMode="auto">
            <a:xfrm>
              <a:off x="3744" y="3092"/>
              <a:ext cx="361" cy="0"/>
            </a:xfrm>
            <a:prstGeom prst="line">
              <a:avLst/>
            </a:prstGeom>
            <a:noFill/>
            <a:ln w="9525">
              <a:solidFill>
                <a:srgbClr val="000000"/>
              </a:solidFill>
              <a:round/>
              <a:headEnd/>
              <a:tailEnd/>
            </a:ln>
          </p:spPr>
          <p:txBody>
            <a:bodyPr/>
            <a:lstStyle/>
            <a:p>
              <a:endParaRPr lang="zh-CN" altLang="en-US"/>
            </a:p>
          </p:txBody>
        </p:sp>
        <p:sp>
          <p:nvSpPr>
            <p:cNvPr id="57382" name="Line 36"/>
            <p:cNvSpPr>
              <a:spLocks noChangeShapeType="1"/>
            </p:cNvSpPr>
            <p:nvPr/>
          </p:nvSpPr>
          <p:spPr bwMode="auto">
            <a:xfrm>
              <a:off x="3971" y="3092"/>
              <a:ext cx="0" cy="310"/>
            </a:xfrm>
            <a:prstGeom prst="line">
              <a:avLst/>
            </a:prstGeom>
            <a:noFill/>
            <a:ln w="6350">
              <a:solidFill>
                <a:srgbClr val="000000"/>
              </a:solidFill>
              <a:round/>
              <a:headEnd type="stealth" w="sm" len="sm"/>
              <a:tailEnd type="stealth" w="sm" len="sm"/>
            </a:ln>
          </p:spPr>
          <p:txBody>
            <a:bodyPr/>
            <a:lstStyle/>
            <a:p>
              <a:endParaRPr lang="zh-CN" altLang="en-US"/>
            </a:p>
          </p:txBody>
        </p:sp>
        <p:sp>
          <p:nvSpPr>
            <p:cNvPr id="57383" name="Line 37"/>
            <p:cNvSpPr>
              <a:spLocks noChangeShapeType="1"/>
            </p:cNvSpPr>
            <p:nvPr/>
          </p:nvSpPr>
          <p:spPr bwMode="auto">
            <a:xfrm flipV="1">
              <a:off x="3543" y="2699"/>
              <a:ext cx="0" cy="689"/>
            </a:xfrm>
            <a:prstGeom prst="line">
              <a:avLst/>
            </a:prstGeom>
            <a:noFill/>
            <a:ln w="6350">
              <a:solidFill>
                <a:srgbClr val="000000"/>
              </a:solidFill>
              <a:round/>
              <a:headEnd/>
              <a:tailEnd/>
            </a:ln>
          </p:spPr>
          <p:txBody>
            <a:bodyPr/>
            <a:lstStyle/>
            <a:p>
              <a:endParaRPr lang="zh-CN" altLang="en-US"/>
            </a:p>
          </p:txBody>
        </p:sp>
        <p:sp>
          <p:nvSpPr>
            <p:cNvPr id="57384" name="Line 38"/>
            <p:cNvSpPr>
              <a:spLocks noChangeShapeType="1"/>
            </p:cNvSpPr>
            <p:nvPr/>
          </p:nvSpPr>
          <p:spPr bwMode="auto">
            <a:xfrm flipV="1">
              <a:off x="3623" y="2685"/>
              <a:ext cx="0" cy="717"/>
            </a:xfrm>
            <a:prstGeom prst="line">
              <a:avLst/>
            </a:prstGeom>
            <a:noFill/>
            <a:ln w="6350">
              <a:solidFill>
                <a:srgbClr val="000000"/>
              </a:solidFill>
              <a:round/>
              <a:headEnd/>
              <a:tailEnd/>
            </a:ln>
          </p:spPr>
          <p:txBody>
            <a:bodyPr/>
            <a:lstStyle/>
            <a:p>
              <a:endParaRPr lang="zh-CN" altLang="en-US"/>
            </a:p>
          </p:txBody>
        </p:sp>
        <p:sp>
          <p:nvSpPr>
            <p:cNvPr id="57385" name="Line 39"/>
            <p:cNvSpPr>
              <a:spLocks noChangeShapeType="1"/>
            </p:cNvSpPr>
            <p:nvPr/>
          </p:nvSpPr>
          <p:spPr bwMode="auto">
            <a:xfrm>
              <a:off x="3329" y="2783"/>
              <a:ext cx="227" cy="0"/>
            </a:xfrm>
            <a:prstGeom prst="line">
              <a:avLst/>
            </a:prstGeom>
            <a:noFill/>
            <a:ln w="6350">
              <a:solidFill>
                <a:srgbClr val="000000"/>
              </a:solidFill>
              <a:round/>
              <a:headEnd type="none" w="sm" len="sm"/>
              <a:tailEnd type="stealth" w="med" len="lg"/>
            </a:ln>
          </p:spPr>
          <p:txBody>
            <a:bodyPr/>
            <a:lstStyle/>
            <a:p>
              <a:endParaRPr lang="zh-CN" altLang="en-US"/>
            </a:p>
          </p:txBody>
        </p:sp>
        <p:sp>
          <p:nvSpPr>
            <p:cNvPr id="57386" name="Line 40"/>
            <p:cNvSpPr>
              <a:spLocks noChangeShapeType="1"/>
            </p:cNvSpPr>
            <p:nvPr/>
          </p:nvSpPr>
          <p:spPr bwMode="auto">
            <a:xfrm>
              <a:off x="3610" y="2783"/>
              <a:ext cx="710" cy="0"/>
            </a:xfrm>
            <a:prstGeom prst="line">
              <a:avLst/>
            </a:prstGeom>
            <a:noFill/>
            <a:ln w="6350">
              <a:solidFill>
                <a:srgbClr val="000000"/>
              </a:solidFill>
              <a:round/>
              <a:headEnd type="stealth" w="med" len="lg"/>
              <a:tailEnd/>
            </a:ln>
          </p:spPr>
          <p:txBody>
            <a:bodyPr/>
            <a:lstStyle/>
            <a:p>
              <a:endParaRPr lang="zh-CN" altLang="en-US"/>
            </a:p>
          </p:txBody>
        </p:sp>
        <p:sp>
          <p:nvSpPr>
            <p:cNvPr id="57387" name="Line 41"/>
            <p:cNvSpPr>
              <a:spLocks noChangeShapeType="1"/>
            </p:cNvSpPr>
            <p:nvPr/>
          </p:nvSpPr>
          <p:spPr bwMode="auto">
            <a:xfrm>
              <a:off x="4346" y="3402"/>
              <a:ext cx="0" cy="604"/>
            </a:xfrm>
            <a:prstGeom prst="line">
              <a:avLst/>
            </a:prstGeom>
            <a:noFill/>
            <a:ln w="6350">
              <a:solidFill>
                <a:srgbClr val="000000"/>
              </a:solidFill>
              <a:round/>
              <a:headEnd type="stealth" w="med" len="lg"/>
              <a:tailEnd type="stealth" w="med" len="lg"/>
            </a:ln>
          </p:spPr>
          <p:txBody>
            <a:bodyPr/>
            <a:lstStyle/>
            <a:p>
              <a:endParaRPr lang="zh-CN" altLang="en-US"/>
            </a:p>
          </p:txBody>
        </p:sp>
        <p:sp>
          <p:nvSpPr>
            <p:cNvPr id="633898" name="Text Box 42"/>
            <p:cNvSpPr txBox="1">
              <a:spLocks noChangeArrowheads="1"/>
            </p:cNvSpPr>
            <p:nvPr/>
          </p:nvSpPr>
          <p:spPr bwMode="auto">
            <a:xfrm>
              <a:off x="3555" y="2488"/>
              <a:ext cx="1267" cy="360"/>
            </a:xfrm>
            <a:prstGeom prst="rect">
              <a:avLst/>
            </a:prstGeom>
            <a:noFill/>
            <a:ln w="9525">
              <a:noFill/>
              <a:miter lim="800000"/>
              <a:headEnd/>
              <a:tailEnd/>
            </a:ln>
            <a:effectLst/>
          </p:spPr>
          <p:txBody>
            <a:bodyPr/>
            <a:lstStyle/>
            <a:p>
              <a:pPr algn="just">
                <a:defRPr/>
              </a:pPr>
              <a:r>
                <a:rPr lang="en-US" altLang="zh-CN" sz="2000" b="1" dirty="0">
                  <a:effectLst>
                    <a:outerShdw blurRad="38100" dist="38100" dir="2700000" algn="tl">
                      <a:srgbClr val="C0C0C0"/>
                    </a:outerShdw>
                  </a:effectLst>
                  <a:latin typeface="Times New Roman" pitchFamily="18" charset="0"/>
                </a:rPr>
                <a:t>Δ</a:t>
              </a:r>
              <a:r>
                <a:rPr lang="en-US" altLang="zh-CN" sz="2000" b="1" i="1" dirty="0">
                  <a:effectLst>
                    <a:outerShdw blurRad="38100" dist="38100" dir="2700000" algn="tl">
                      <a:srgbClr val="C0C0C0"/>
                    </a:outerShdw>
                  </a:effectLst>
                  <a:latin typeface="Times New Roman" pitchFamily="18" charset="0"/>
                </a:rPr>
                <a:t>=PTF</a:t>
              </a:r>
              <a:r>
                <a:rPr lang="en-US" altLang="zh-CN" sz="2000" b="1" dirty="0">
                  <a:effectLst>
                    <a:outerShdw blurRad="38100" dist="38100" dir="2700000" algn="tl">
                      <a:srgbClr val="C0C0C0"/>
                    </a:outerShdw>
                  </a:effectLst>
                  <a:latin typeface="Times New Roman" pitchFamily="18" charset="0"/>
                </a:rPr>
                <a:t>(</a:t>
              </a:r>
              <a:r>
                <a:rPr lang="en-US" altLang="zh-CN" sz="2000" b="1" i="1" dirty="0">
                  <a:effectLst>
                    <a:outerShdw blurRad="38100" dist="38100" dir="2700000" algn="tl">
                      <a:srgbClr val="C0C0C0"/>
                    </a:outerShdw>
                  </a:effectLst>
                  <a:latin typeface="Times New Roman" pitchFamily="18" charset="0"/>
                </a:rPr>
                <a:t>r</a:t>
              </a:r>
              <a:r>
                <a:rPr lang="en-US" altLang="zh-CN" sz="2000" b="1" dirty="0">
                  <a:effectLst>
                    <a:outerShdw blurRad="38100" dist="38100" dir="2700000" algn="tl">
                      <a:srgbClr val="C0C0C0"/>
                    </a:outerShdw>
                  </a:effectLst>
                  <a:latin typeface="Times New Roman" pitchFamily="18" charset="0"/>
                </a:rPr>
                <a:t>) </a:t>
              </a:r>
              <a:r>
                <a:rPr lang="en-US" altLang="zh-CN" sz="2000" b="1" i="1" dirty="0">
                  <a:effectLst>
                    <a:outerShdw blurRad="38100" dist="38100" dir="2700000" algn="tl">
                      <a:srgbClr val="C0C0C0"/>
                    </a:outerShdw>
                  </a:effectLst>
                  <a:latin typeface="Times New Roman" pitchFamily="18" charset="0"/>
                </a:rPr>
                <a:t>/ </a:t>
              </a:r>
              <a:r>
                <a:rPr lang="en-US" altLang="zh-CN" sz="2000" b="1" dirty="0">
                  <a:effectLst>
                    <a:outerShdw blurRad="38100" dist="38100" dir="2700000" algn="tl">
                      <a:srgbClr val="C0C0C0"/>
                    </a:outerShdw>
                  </a:effectLst>
                  <a:latin typeface="Times New Roman" pitchFamily="18" charset="0"/>
                </a:rPr>
                <a:t>2π</a:t>
              </a:r>
              <a:endParaRPr lang="en-US" altLang="zh-CN" sz="2000" b="1" dirty="0">
                <a:effectLst>
                  <a:outerShdw blurRad="38100" dist="38100" dir="2700000" algn="tl">
                    <a:srgbClr val="C0C0C0"/>
                  </a:outerShdw>
                </a:effectLst>
              </a:endParaRPr>
            </a:p>
          </p:txBody>
        </p:sp>
        <p:sp>
          <p:nvSpPr>
            <p:cNvPr id="633899" name="Text Box 43"/>
            <p:cNvSpPr txBox="1">
              <a:spLocks noChangeArrowheads="1"/>
            </p:cNvSpPr>
            <p:nvPr/>
          </p:nvSpPr>
          <p:spPr bwMode="auto">
            <a:xfrm>
              <a:off x="1671" y="2955"/>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i="1" baseline="-25000">
                  <a:effectLst>
                    <a:outerShdw blurRad="38100" dist="38100" dir="2700000" algn="tl">
                      <a:srgbClr val="C0C0C0"/>
                    </a:outerShdw>
                  </a:effectLst>
                  <a:latin typeface="Times New Roman" pitchFamily="18" charset="0"/>
                </a:rPr>
                <a:t>a</a:t>
              </a:r>
              <a:endParaRPr lang="en-US" altLang="zh-CN" sz="2000" b="1">
                <a:effectLst>
                  <a:outerShdw blurRad="38100" dist="38100" dir="2700000" algn="tl">
                    <a:srgbClr val="C0C0C0"/>
                  </a:outerShdw>
                </a:effectLst>
              </a:endParaRPr>
            </a:p>
          </p:txBody>
        </p:sp>
        <p:sp>
          <p:nvSpPr>
            <p:cNvPr id="633900" name="Text Box 44"/>
            <p:cNvSpPr txBox="1">
              <a:spLocks noChangeArrowheads="1"/>
            </p:cNvSpPr>
            <p:nvPr/>
          </p:nvSpPr>
          <p:spPr bwMode="auto">
            <a:xfrm>
              <a:off x="2566" y="2513"/>
              <a:ext cx="302" cy="250"/>
            </a:xfrm>
            <a:prstGeom prst="rect">
              <a:avLst/>
            </a:prstGeom>
            <a:noFill/>
            <a:ln w="9525">
              <a:noFill/>
              <a:miter lim="800000"/>
              <a:headEnd/>
              <a:tailEnd/>
            </a:ln>
            <a:effectLst/>
          </p:spPr>
          <p:txBody>
            <a:bodyPr wrap="none">
              <a:spAutoFit/>
            </a:bodyPr>
            <a:lstStyle/>
            <a:p>
              <a:pPr algn="just">
                <a:defRPr/>
              </a:pPr>
              <a:r>
                <a:rPr lang="en-US" altLang="zh-CN" sz="2000" b="1">
                  <a:effectLst>
                    <a:outerShdw blurRad="38100" dist="38100" dir="2700000" algn="tl">
                      <a:srgbClr val="C0C0C0"/>
                    </a:outerShdw>
                  </a:effectLst>
                  <a:latin typeface="Times New Roman" pitchFamily="18" charset="0"/>
                </a:rPr>
                <a:t>1/</a:t>
              </a:r>
              <a:r>
                <a:rPr lang="en-US" altLang="zh-CN" sz="2000" b="1" i="1">
                  <a:effectLst>
                    <a:outerShdw blurRad="38100" dist="38100" dir="2700000" algn="tl">
                      <a:srgbClr val="C0C0C0"/>
                    </a:outerShdw>
                  </a:effectLst>
                  <a:latin typeface="Times New Roman" pitchFamily="18" charset="0"/>
                </a:rPr>
                <a:t>r</a:t>
              </a:r>
              <a:endParaRPr lang="en-US" altLang="zh-CN" sz="2000" b="1">
                <a:effectLst>
                  <a:outerShdw blurRad="38100" dist="38100" dir="2700000" algn="tl">
                    <a:srgbClr val="C0C0C0"/>
                  </a:outerShdw>
                </a:effectLst>
              </a:endParaRPr>
            </a:p>
          </p:txBody>
        </p:sp>
        <p:sp>
          <p:nvSpPr>
            <p:cNvPr id="633901" name="Text Box 45"/>
            <p:cNvSpPr txBox="1">
              <a:spLocks noChangeArrowheads="1"/>
            </p:cNvSpPr>
            <p:nvPr/>
          </p:nvSpPr>
          <p:spPr bwMode="auto">
            <a:xfrm>
              <a:off x="1327" y="2733"/>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endParaRPr lang="en-US" altLang="zh-CN" sz="2000" b="1">
                <a:effectLst>
                  <a:outerShdw blurRad="38100" dist="38100" dir="2700000" algn="tl">
                    <a:srgbClr val="C0C0C0"/>
                  </a:outerShdw>
                </a:effectLst>
              </a:endParaRPr>
            </a:p>
          </p:txBody>
        </p:sp>
        <p:sp>
          <p:nvSpPr>
            <p:cNvPr id="633902" name="Text Box 46"/>
            <p:cNvSpPr txBox="1">
              <a:spLocks noChangeArrowheads="1"/>
            </p:cNvSpPr>
            <p:nvPr/>
          </p:nvSpPr>
          <p:spPr bwMode="auto">
            <a:xfrm>
              <a:off x="1217" y="3176"/>
              <a:ext cx="361" cy="337"/>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baseline="-25000">
                  <a:effectLst>
                    <a:outerShdw blurRad="38100" dist="38100" dir="2700000" algn="tl">
                      <a:srgbClr val="C0C0C0"/>
                    </a:outerShdw>
                  </a:effectLst>
                  <a:latin typeface="Times New Roman" pitchFamily="18" charset="0"/>
                </a:rPr>
                <a:t>0</a:t>
              </a:r>
              <a:endParaRPr lang="en-US" altLang="zh-CN" sz="2000" b="1">
                <a:effectLst>
                  <a:outerShdw blurRad="38100" dist="38100" dir="2700000" algn="tl">
                    <a:srgbClr val="C0C0C0"/>
                  </a:outerShdw>
                </a:effectLst>
              </a:endParaRPr>
            </a:p>
          </p:txBody>
        </p:sp>
        <p:sp>
          <p:nvSpPr>
            <p:cNvPr id="633903" name="Text Box 47"/>
            <p:cNvSpPr txBox="1">
              <a:spLocks noChangeArrowheads="1"/>
            </p:cNvSpPr>
            <p:nvPr/>
          </p:nvSpPr>
          <p:spPr bwMode="auto">
            <a:xfrm>
              <a:off x="4197" y="4034"/>
              <a:ext cx="361" cy="338"/>
            </a:xfrm>
            <a:prstGeom prst="rect">
              <a:avLst/>
            </a:prstGeom>
            <a:noFill/>
            <a:ln w="9525">
              <a:noFill/>
              <a:miter lim="800000"/>
              <a:headEnd/>
              <a:tailEnd/>
            </a:ln>
            <a:effectLst/>
          </p:spPr>
          <p:txBody>
            <a:bodyPr/>
            <a:lstStyle/>
            <a:p>
              <a:pPr algn="just">
                <a:defRPr/>
              </a:pPr>
              <a:r>
                <a:rPr lang="en-US" altLang="zh-CN" sz="2000" b="1" i="1">
                  <a:effectLst>
                    <a:outerShdw blurRad="38100" dist="38100" dir="2700000" algn="tl">
                      <a:srgbClr val="C0C0C0"/>
                    </a:outerShdw>
                  </a:effectLst>
                  <a:latin typeface="Times New Roman" pitchFamily="18" charset="0"/>
                </a:rPr>
                <a:t>u</a:t>
              </a:r>
              <a:endParaRPr lang="en-US" altLang="zh-CN" sz="2000" b="1">
                <a:effectLst>
                  <a:outerShdw blurRad="38100" dist="38100" dir="2700000" algn="tl">
                    <a:srgbClr val="C0C0C0"/>
                  </a:outerShdw>
                </a:effectLst>
              </a:endParaRPr>
            </a:p>
          </p:txBody>
        </p:sp>
        <p:sp>
          <p:nvSpPr>
            <p:cNvPr id="633904" name="Text Box 48"/>
            <p:cNvSpPr txBox="1">
              <a:spLocks noChangeArrowheads="1"/>
            </p:cNvSpPr>
            <p:nvPr/>
          </p:nvSpPr>
          <p:spPr bwMode="auto">
            <a:xfrm>
              <a:off x="1934" y="4144"/>
              <a:ext cx="2106" cy="176"/>
            </a:xfrm>
            <a:prstGeom prst="rect">
              <a:avLst/>
            </a:prstGeom>
            <a:noFill/>
            <a:ln w="9525">
              <a:noFill/>
              <a:miter lim="800000"/>
              <a:headEnd/>
              <a:tailEnd/>
            </a:ln>
          </p:spPr>
          <p:txBody>
            <a:bodyPr/>
            <a:lstStyle/>
            <a:p>
              <a:pPr algn="ctr">
                <a:defRPr/>
              </a:pPr>
              <a:r>
                <a:rPr lang="zh-CN" altLang="en-US" sz="2000" b="1">
                  <a:effectLst>
                    <a:outerShdw blurRad="38100" dist="38100" dir="2700000" algn="tl">
                      <a:srgbClr val="C0C0C0"/>
                    </a:outerShdw>
                  </a:effectLst>
                  <a:latin typeface="黑体" pitchFamily="2" charset="-122"/>
                  <a:ea typeface="黑体" pitchFamily="2" charset="-122"/>
                </a:rPr>
                <a:t>正弦光栅成像</a:t>
              </a:r>
            </a:p>
            <a:p>
              <a:pPr>
                <a:defRPr/>
              </a:pPr>
              <a:endParaRPr lang="en-US" altLang="zh-CN" sz="2000" b="1">
                <a:effectLst>
                  <a:outerShdw blurRad="38100" dist="38100" dir="2700000" algn="tl">
                    <a:srgbClr val="C0C0C0"/>
                  </a:outerShdw>
                </a:effectLst>
              </a:endParaRPr>
            </a:p>
          </p:txBody>
        </p:sp>
        <p:sp>
          <p:nvSpPr>
            <p:cNvPr id="633905" name="Text Box 49"/>
            <p:cNvSpPr txBox="1">
              <a:spLocks noChangeArrowheads="1"/>
            </p:cNvSpPr>
            <p:nvPr/>
          </p:nvSpPr>
          <p:spPr bwMode="auto">
            <a:xfrm>
              <a:off x="4118" y="3556"/>
              <a:ext cx="503" cy="394"/>
            </a:xfrm>
            <a:prstGeom prst="rect">
              <a:avLst/>
            </a:prstGeom>
            <a:noFill/>
            <a:ln w="9525">
              <a:noFill/>
              <a:miter lim="800000"/>
              <a:headEnd/>
              <a:tailEnd/>
            </a:ln>
          </p:spPr>
          <p:txBody>
            <a:bodyPr/>
            <a:lstStyle/>
            <a:p>
              <a:pPr algn="just">
                <a:defRPr/>
              </a:pPr>
              <a:r>
                <a:rPr lang="en-US" altLang="zh-CN" sz="2000" b="1" i="1">
                  <a:effectLst>
                    <a:outerShdw blurRad="38100" dist="38100" dir="2700000" algn="tl">
                      <a:srgbClr val="C0C0C0"/>
                    </a:outerShdw>
                  </a:effectLst>
                  <a:latin typeface="Times New Roman" pitchFamily="18" charset="0"/>
                </a:rPr>
                <a:t>I</a:t>
              </a:r>
              <a:r>
                <a:rPr lang="en-US" altLang="zh-CN" sz="2000" b="1" baseline="-25000">
                  <a:effectLst>
                    <a:outerShdw blurRad="38100" dist="38100" dir="2700000" algn="tl">
                      <a:srgbClr val="C0C0C0"/>
                    </a:outerShdw>
                  </a:effectLst>
                  <a:latin typeface="Times New Roman" pitchFamily="18" charset="0"/>
                </a:rPr>
                <a:t>0</a:t>
              </a:r>
              <a:endParaRPr lang="en-US" altLang="zh-CN" sz="2000" b="1">
                <a:effectLst>
                  <a:outerShdw blurRad="38100" dist="38100" dir="2700000" algn="tl">
                    <a:srgbClr val="C0C0C0"/>
                  </a:outerShdw>
                </a:effectLst>
              </a:endParaRPr>
            </a:p>
          </p:txBody>
        </p:sp>
        <p:sp>
          <p:nvSpPr>
            <p:cNvPr id="633906" name="Text Box 50"/>
            <p:cNvSpPr txBox="1">
              <a:spLocks noChangeArrowheads="1"/>
            </p:cNvSpPr>
            <p:nvPr/>
          </p:nvSpPr>
          <p:spPr bwMode="auto">
            <a:xfrm>
              <a:off x="3919" y="3064"/>
              <a:ext cx="787" cy="422"/>
            </a:xfrm>
            <a:prstGeom prst="rect">
              <a:avLst/>
            </a:prstGeom>
            <a:noFill/>
            <a:ln w="9525">
              <a:noFill/>
              <a:miter lim="800000"/>
              <a:headEnd/>
              <a:tailEnd/>
            </a:ln>
          </p:spPr>
          <p:txBody>
            <a:bodyPr/>
            <a:lstStyle/>
            <a:p>
              <a:pPr algn="just">
                <a:defRPr/>
              </a:pPr>
              <a:r>
                <a:rPr lang="en-US" altLang="zh-CN" sz="2000" b="1" i="1">
                  <a:effectLst>
                    <a:outerShdw blurRad="38100" dist="38100" dir="2700000" algn="tl">
                      <a:srgbClr val="C0C0C0"/>
                    </a:outerShdw>
                  </a:effectLst>
                  <a:latin typeface="Times New Roman" pitchFamily="18" charset="0"/>
                </a:rPr>
                <a:t>MTF</a:t>
              </a:r>
              <a:r>
                <a:rPr lang="en-US" altLang="zh-CN"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r</a:t>
              </a:r>
              <a:r>
                <a:rPr lang="en-US" altLang="zh-CN"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I</a:t>
              </a:r>
              <a:r>
                <a:rPr lang="en-US" altLang="zh-CN" sz="2000" b="1" i="1" baseline="-25000">
                  <a:effectLst>
                    <a:outerShdw blurRad="38100" dist="38100" dir="2700000" algn="tl">
                      <a:srgbClr val="C0C0C0"/>
                    </a:outerShdw>
                  </a:effectLst>
                  <a:latin typeface="Times New Roman" pitchFamily="18" charset="0"/>
                </a:rPr>
                <a:t>a</a:t>
              </a:r>
              <a:endParaRPr lang="en-US" altLang="zh-CN" sz="2000" b="1" baseline="-25000">
                <a:effectLst>
                  <a:outerShdw blurRad="38100" dist="38100" dir="2700000" algn="tl">
                    <a:srgbClr val="C0C0C0"/>
                  </a:outerShdw>
                </a:effectLst>
              </a:endParaRPr>
            </a:p>
          </p:txBody>
        </p:sp>
      </p:gr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3878"/>
                                        </p:tgtEl>
                                        <p:attrNameLst>
                                          <p:attrName>style.visibility</p:attrName>
                                        </p:attrNameLst>
                                      </p:cBhvr>
                                      <p:to>
                                        <p:strVal val="visible"/>
                                      </p:to>
                                    </p:set>
                                    <p:anim calcmode="lin" valueType="num">
                                      <p:cBhvr additive="base">
                                        <p:cTn id="7" dur="500" fill="hold"/>
                                        <p:tgtEl>
                                          <p:spTgt spid="633878"/>
                                        </p:tgtEl>
                                        <p:attrNameLst>
                                          <p:attrName>ppt_x</p:attrName>
                                        </p:attrNameLst>
                                      </p:cBhvr>
                                      <p:tavLst>
                                        <p:tav tm="0">
                                          <p:val>
                                            <p:strVal val="#ppt_x"/>
                                          </p:val>
                                        </p:tav>
                                        <p:tav tm="100000">
                                          <p:val>
                                            <p:strVal val="#ppt_x"/>
                                          </p:val>
                                        </p:tav>
                                      </p:tavLst>
                                    </p:anim>
                                    <p:anim calcmode="lin" valueType="num">
                                      <p:cBhvr additive="base">
                                        <p:cTn id="8" dur="500" fill="hold"/>
                                        <p:tgtEl>
                                          <p:spTgt spid="6338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2" name="日期占位符 3"/>
          <p:cNvSpPr>
            <a:spLocks noGrp="1"/>
          </p:cNvSpPr>
          <p:nvPr>
            <p:ph type="dt" sz="quarter" idx="10"/>
          </p:nvPr>
        </p:nvSpPr>
        <p:spPr>
          <a:noFill/>
        </p:spPr>
        <p:txBody>
          <a:bodyPr/>
          <a:lstStyle/>
          <a:p>
            <a:fld id="{73995E9C-7026-408D-8576-D32505C9193F}" type="datetime1">
              <a:rPr lang="zh-CN" altLang="en-US" smtClean="0"/>
              <a:pPr/>
              <a:t>2018/2/24</a:t>
            </a:fld>
            <a:endParaRPr lang="en-US" altLang="zh-CN" smtClean="0"/>
          </a:p>
        </p:txBody>
      </p:sp>
      <p:sp>
        <p:nvSpPr>
          <p:cNvPr id="58373" name="灯片编号占位符 5"/>
          <p:cNvSpPr>
            <a:spLocks noGrp="1"/>
          </p:cNvSpPr>
          <p:nvPr>
            <p:ph type="sldNum" sz="quarter" idx="12"/>
          </p:nvPr>
        </p:nvSpPr>
        <p:spPr>
          <a:noFill/>
        </p:spPr>
        <p:txBody>
          <a:bodyPr/>
          <a:lstStyle/>
          <a:p>
            <a:fld id="{A452BB45-C05F-45A2-A9BC-91C41D8DF39C}" type="slidenum">
              <a:rPr lang="en-US" altLang="zh-CN" smtClean="0"/>
              <a:pPr/>
              <a:t>83</a:t>
            </a:fld>
            <a:endParaRPr lang="en-US" altLang="zh-CN" smtClean="0"/>
          </a:p>
        </p:txBody>
      </p:sp>
      <p:sp>
        <p:nvSpPr>
          <p:cNvPr id="634882" name="Rectangle 2"/>
          <p:cNvSpPr>
            <a:spLocks noGrp="1" noRot="1" noChangeArrowheads="1"/>
          </p:cNvSpPr>
          <p:nvPr>
            <p:ph type="title"/>
          </p:nvPr>
        </p:nvSpPr>
        <p:spPr>
          <a:xfrm>
            <a:off x="742950" y="373563"/>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34883" name="Rectangle 3"/>
          <p:cNvSpPr>
            <a:spLocks noGrp="1" noRot="1" noChangeArrowheads="1"/>
          </p:cNvSpPr>
          <p:nvPr>
            <p:ph type="body" idx="1"/>
          </p:nvPr>
        </p:nvSpPr>
        <p:spPr>
          <a:xfrm>
            <a:off x="500063" y="1901825"/>
            <a:ext cx="8128000" cy="4748213"/>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1.2  </a:t>
            </a:r>
            <a:r>
              <a:rPr lang="zh-CN" altLang="en-US" dirty="0" smtClean="0">
                <a:latin typeface="Times New Roman" pitchFamily="18" charset="0"/>
                <a:ea typeface="黑体" pitchFamily="2" charset="-122"/>
              </a:rPr>
              <a:t>以正弦光栅成像为基础的定义</a:t>
            </a:r>
          </a:p>
          <a:p>
            <a:pPr marL="449263" indent="-449263" eaLnBrk="1" hangingPunct="1">
              <a:defRPr/>
            </a:pPr>
            <a:r>
              <a:rPr lang="zh-CN" altLang="en-US" dirty="0" smtClean="0">
                <a:latin typeface="Times New Roman" pitchFamily="18" charset="0"/>
                <a:ea typeface="黑体" pitchFamily="2" charset="-122"/>
              </a:rPr>
              <a:t>几点结论：</a:t>
            </a:r>
          </a:p>
          <a:p>
            <a:pPr marL="908050" lvl="1" indent="-457200" eaLnBrk="1" hangingPunct="1">
              <a:buFont typeface="+mj-ea"/>
              <a:buAutoNum type="circleNumDbPlain"/>
              <a:defRPr/>
            </a:pPr>
            <a:r>
              <a:rPr lang="zh-CN" altLang="en-US" dirty="0" smtClean="0">
                <a:latin typeface="Times New Roman" pitchFamily="18" charset="0"/>
                <a:ea typeface="黑体" pitchFamily="2" charset="-122"/>
              </a:rPr>
              <a:t>正弦光栅所成的像仍是正弦光栅。在不考虑光学系统对光的吸收和反射等损失的情况下，正弦光栅像的平均光强和原来物面上的正弦光栅平均光强</a:t>
            </a:r>
            <a:r>
              <a:rPr lang="en-US" altLang="zh-CN" i="1" dirty="0" smtClean="0">
                <a:latin typeface="Times New Roman" pitchFamily="18" charset="0"/>
                <a:ea typeface="黑体" pitchFamily="2" charset="-122"/>
              </a:rPr>
              <a:t>I</a:t>
            </a:r>
            <a:r>
              <a:rPr lang="en-US" altLang="zh-CN" baseline="-25000" dirty="0" smtClean="0">
                <a:latin typeface="Times New Roman" pitchFamily="18" charset="0"/>
                <a:ea typeface="黑体" pitchFamily="2" charset="-122"/>
              </a:rPr>
              <a:t>0</a:t>
            </a:r>
            <a:r>
              <a:rPr lang="zh-CN" altLang="en-US" dirty="0" smtClean="0">
                <a:latin typeface="Times New Roman" pitchFamily="18" charset="0"/>
                <a:ea typeface="黑体" pitchFamily="2" charset="-122"/>
              </a:rPr>
              <a:t>一样。正弦光栅像的空间频率保持不变，仍为</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a:t>
            </a:r>
          </a:p>
          <a:p>
            <a:pPr marL="908050" lvl="1" indent="-457200" eaLnBrk="1" hangingPunct="1">
              <a:buFont typeface="+mj-ea"/>
              <a:buAutoNum type="circleNumDbPlain"/>
              <a:defRPr/>
            </a:pPr>
            <a:r>
              <a:rPr lang="zh-CN" altLang="en-US" dirty="0" smtClean="0">
                <a:latin typeface="Times New Roman" pitchFamily="18" charset="0"/>
                <a:ea typeface="黑体" pitchFamily="2" charset="-122"/>
              </a:rPr>
              <a:t> </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）值表示光学系统对正弦光栅成像时，像的对比度和物的对比度之比。</a:t>
            </a:r>
            <a:endParaRPr lang="en-US" altLang="zh-CN" dirty="0" smtClean="0">
              <a:latin typeface="Times New Roman" pitchFamily="18" charset="0"/>
              <a:ea typeface="黑体" pitchFamily="2" charset="-122"/>
            </a:endParaRPr>
          </a:p>
          <a:p>
            <a:pPr marL="914400" lvl="1" eaLnBrk="1" hangingPunct="1">
              <a:buNone/>
              <a:defRPr/>
            </a:pPr>
            <a:r>
              <a:rPr lang="zh-CN" altLang="en-US" dirty="0" smtClean="0">
                <a:latin typeface="Times New Roman" pitchFamily="18" charset="0"/>
                <a:ea typeface="黑体" pitchFamily="2" charset="-122"/>
              </a:rPr>
              <a:t>     当把</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）看成是空间频率</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的函数时，则称它为光学系统的调制传递函数</a:t>
            </a:r>
            <a:r>
              <a:rPr lang="en-US" altLang="zh-CN" dirty="0" smtClean="0">
                <a:latin typeface="Times New Roman" pitchFamily="18" charset="0"/>
                <a:ea typeface="黑体" pitchFamily="2" charset="-122"/>
              </a:rPr>
              <a:t>:</a:t>
            </a:r>
          </a:p>
        </p:txBody>
      </p:sp>
      <p:sp>
        <p:nvSpPr>
          <p:cNvPr id="58376"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8377"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78"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8379"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80"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838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8382"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8383"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84"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8385"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86"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87"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88"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8389"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8390"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8391"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58392"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4901" name="Object 21"/>
          <p:cNvGraphicFramePr>
            <a:graphicFrameLocks noChangeAspect="1"/>
          </p:cNvGraphicFramePr>
          <p:nvPr/>
        </p:nvGraphicFramePr>
        <p:xfrm>
          <a:off x="2519116" y="5557445"/>
          <a:ext cx="2114550" cy="849313"/>
        </p:xfrm>
        <a:graphic>
          <a:graphicData uri="http://schemas.openxmlformats.org/presentationml/2006/ole">
            <p:oleObj spid="_x0000_s58370" name="公式" r:id="rId3" imgW="25603517" imgH="10363517" progId="Equation.3">
              <p:embed/>
            </p:oleObj>
          </a:graphicData>
        </a:graphic>
      </p:graphicFrame>
      <p:graphicFrame>
        <p:nvGraphicFramePr>
          <p:cNvPr id="634902" name="Object 22"/>
          <p:cNvGraphicFramePr>
            <a:graphicFrameLocks noChangeAspect="1"/>
          </p:cNvGraphicFramePr>
          <p:nvPr/>
        </p:nvGraphicFramePr>
        <p:xfrm>
          <a:off x="5297096" y="5526644"/>
          <a:ext cx="1838325" cy="849313"/>
        </p:xfrm>
        <a:graphic>
          <a:graphicData uri="http://schemas.openxmlformats.org/presentationml/2006/ole">
            <p:oleObj spid="_x0000_s58371" name="公式" r:id="rId4" imgW="22250717" imgH="10363517" progId="Equation.3">
              <p:embed/>
            </p:oleObj>
          </a:graphicData>
        </a:graphic>
      </p:graphicFrame>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34901"/>
                                        </p:tgtEl>
                                        <p:attrNameLst>
                                          <p:attrName>style.visibility</p:attrName>
                                        </p:attrNameLst>
                                      </p:cBhvr>
                                      <p:to>
                                        <p:strVal val="visible"/>
                                      </p:to>
                                    </p:set>
                                    <p:anim calcmode="lin" valueType="num">
                                      <p:cBhvr additive="base">
                                        <p:cTn id="7" dur="500" fill="hold"/>
                                        <p:tgtEl>
                                          <p:spTgt spid="634901"/>
                                        </p:tgtEl>
                                        <p:attrNameLst>
                                          <p:attrName>ppt_x</p:attrName>
                                        </p:attrNameLst>
                                      </p:cBhvr>
                                      <p:tavLst>
                                        <p:tav tm="0">
                                          <p:val>
                                            <p:strVal val="#ppt_x"/>
                                          </p:val>
                                        </p:tav>
                                        <p:tav tm="100000">
                                          <p:val>
                                            <p:strVal val="#ppt_x"/>
                                          </p:val>
                                        </p:tav>
                                      </p:tavLst>
                                    </p:anim>
                                    <p:anim calcmode="lin" valueType="num">
                                      <p:cBhvr additive="base">
                                        <p:cTn id="8" dur="500" fill="hold"/>
                                        <p:tgtEl>
                                          <p:spTgt spid="63490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02"/>
                                        </p:tgtEl>
                                        <p:attrNameLst>
                                          <p:attrName>style.visibility</p:attrName>
                                        </p:attrNameLst>
                                      </p:cBhvr>
                                      <p:to>
                                        <p:strVal val="visible"/>
                                      </p:to>
                                    </p:set>
                                    <p:anim calcmode="lin" valueType="num">
                                      <p:cBhvr additive="base">
                                        <p:cTn id="11" dur="500" fill="hold"/>
                                        <p:tgtEl>
                                          <p:spTgt spid="634902"/>
                                        </p:tgtEl>
                                        <p:attrNameLst>
                                          <p:attrName>ppt_x</p:attrName>
                                        </p:attrNameLst>
                                      </p:cBhvr>
                                      <p:tavLst>
                                        <p:tav tm="0">
                                          <p:val>
                                            <p:strVal val="#ppt_x"/>
                                          </p:val>
                                        </p:tav>
                                        <p:tav tm="100000">
                                          <p:val>
                                            <p:strVal val="#ppt_x"/>
                                          </p:val>
                                        </p:tav>
                                      </p:tavLst>
                                    </p:anim>
                                    <p:anim calcmode="lin" valueType="num">
                                      <p:cBhvr additive="base">
                                        <p:cTn id="12" dur="500" fill="hold"/>
                                        <p:tgtEl>
                                          <p:spTgt spid="6349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日期占位符 3"/>
          <p:cNvSpPr>
            <a:spLocks noGrp="1"/>
          </p:cNvSpPr>
          <p:nvPr>
            <p:ph type="dt" sz="quarter" idx="10"/>
          </p:nvPr>
        </p:nvSpPr>
        <p:spPr>
          <a:noFill/>
        </p:spPr>
        <p:txBody>
          <a:bodyPr/>
          <a:lstStyle/>
          <a:p>
            <a:fld id="{68DB7F3C-D0D3-45A3-95F8-EE566CBB4A69}" type="datetime1">
              <a:rPr lang="zh-CN" altLang="en-US" smtClean="0"/>
              <a:pPr/>
              <a:t>2018/2/24</a:t>
            </a:fld>
            <a:endParaRPr lang="en-US" altLang="zh-CN" smtClean="0"/>
          </a:p>
        </p:txBody>
      </p:sp>
      <p:sp>
        <p:nvSpPr>
          <p:cNvPr id="59396" name="灯片编号占位符 5"/>
          <p:cNvSpPr>
            <a:spLocks noGrp="1"/>
          </p:cNvSpPr>
          <p:nvPr>
            <p:ph type="sldNum" sz="quarter" idx="12"/>
          </p:nvPr>
        </p:nvSpPr>
        <p:spPr>
          <a:noFill/>
        </p:spPr>
        <p:txBody>
          <a:bodyPr/>
          <a:lstStyle/>
          <a:p>
            <a:fld id="{765E3E0D-E0B2-4BC8-8EE6-CA83BE9027A1}" type="slidenum">
              <a:rPr lang="en-US" altLang="zh-CN" smtClean="0"/>
              <a:pPr/>
              <a:t>84</a:t>
            </a:fld>
            <a:endParaRPr lang="en-US" altLang="zh-CN" smtClean="0"/>
          </a:p>
        </p:txBody>
      </p:sp>
      <p:sp>
        <p:nvSpPr>
          <p:cNvPr id="635906" name="Rectangle 2"/>
          <p:cNvSpPr>
            <a:spLocks noGrp="1" noRot="1" noChangeArrowheads="1"/>
          </p:cNvSpPr>
          <p:nvPr>
            <p:ph type="title"/>
          </p:nvPr>
        </p:nvSpPr>
        <p:spPr>
          <a:xfrm>
            <a:off x="742950" y="314000"/>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35907" name="Rectangle 3"/>
          <p:cNvSpPr>
            <a:spLocks noGrp="1" noRot="1" noChangeArrowheads="1"/>
          </p:cNvSpPr>
          <p:nvPr>
            <p:ph type="body" idx="1"/>
          </p:nvPr>
        </p:nvSpPr>
        <p:spPr>
          <a:xfrm>
            <a:off x="500063" y="1773238"/>
            <a:ext cx="8128000" cy="4748212"/>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1.2  </a:t>
            </a:r>
            <a:r>
              <a:rPr lang="zh-CN" altLang="en-US" dirty="0" smtClean="0">
                <a:latin typeface="Times New Roman" pitchFamily="18" charset="0"/>
                <a:ea typeface="黑体" pitchFamily="2" charset="-122"/>
              </a:rPr>
              <a:t>以正弦光栅成像为基础的定义</a:t>
            </a:r>
          </a:p>
          <a:p>
            <a:pPr marL="908050" lvl="1" indent="-457200" eaLnBrk="1" hangingPunct="1">
              <a:buFont typeface="+mj-ea"/>
              <a:buAutoNum type="circleNumDbPlain" startAt="3"/>
              <a:defRPr/>
            </a:pPr>
            <a:r>
              <a:rPr lang="zh-CN" altLang="en-US" dirty="0" smtClean="0">
                <a:latin typeface="Times New Roman" pitchFamily="18" charset="0"/>
                <a:ea typeface="黑体" pitchFamily="2" charset="-122"/>
              </a:rPr>
              <a:t>正弦光栅像的位置相对于理想位置也发生了横移，用</a:t>
            </a:r>
            <a:r>
              <a:rPr lang="en-US" altLang="zh-CN" i="1" dirty="0" smtClean="0">
                <a:latin typeface="Times New Roman" pitchFamily="18" charset="0"/>
                <a:ea typeface="黑体" pitchFamily="2" charset="-122"/>
              </a:rPr>
              <a:t>PTF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来表示，它表示了光学系统对正弦光栅成像时在相位上的改变。</a:t>
            </a:r>
            <a:endParaRPr lang="en-US" altLang="zh-CN" dirty="0" smtClean="0">
              <a:latin typeface="Times New Roman" pitchFamily="18" charset="0"/>
              <a:ea typeface="黑体" pitchFamily="2" charset="-122"/>
            </a:endParaRPr>
          </a:p>
          <a:p>
            <a:pPr marL="914400" lvl="1" eaLnBrk="1" hangingPunct="1">
              <a:buNone/>
              <a:defRPr/>
            </a:pPr>
            <a:r>
              <a:rPr lang="zh-CN" altLang="en-US" dirty="0" smtClean="0">
                <a:latin typeface="Times New Roman" pitchFamily="18" charset="0"/>
                <a:ea typeface="黑体" pitchFamily="2" charset="-122"/>
              </a:rPr>
              <a:t>     当把</a:t>
            </a:r>
            <a:r>
              <a:rPr lang="en-US" altLang="zh-CN" i="1" dirty="0" smtClean="0">
                <a:latin typeface="Times New Roman" pitchFamily="18" charset="0"/>
                <a:ea typeface="黑体" pitchFamily="2" charset="-122"/>
              </a:rPr>
              <a:t>PTF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）看成是随空间频率</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变化的函数时，则称它为光学系统的</a:t>
            </a:r>
            <a:r>
              <a:rPr lang="zh-CN" altLang="en-US" dirty="0" smtClean="0">
                <a:solidFill>
                  <a:srgbClr val="FF0000"/>
                </a:solidFill>
                <a:latin typeface="Times New Roman" pitchFamily="18" charset="0"/>
                <a:ea typeface="黑体" pitchFamily="2" charset="-122"/>
              </a:rPr>
              <a:t>相位传递函数</a:t>
            </a:r>
            <a:r>
              <a:rPr lang="zh-CN" altLang="en-US" dirty="0" smtClean="0">
                <a:latin typeface="Times New Roman" pitchFamily="18" charset="0"/>
                <a:ea typeface="黑体" pitchFamily="2" charset="-122"/>
              </a:rPr>
              <a:t>。</a:t>
            </a:r>
          </a:p>
          <a:p>
            <a:pPr marL="908050" lvl="1" indent="-457200" eaLnBrk="1" hangingPunct="1">
              <a:buFont typeface="+mj-ea"/>
              <a:buAutoNum type="circleNumDbPlain" startAt="4"/>
              <a:defRPr/>
            </a:pPr>
            <a:r>
              <a:rPr lang="zh-CN" altLang="en-US" dirty="0" smtClean="0">
                <a:latin typeface="Times New Roman" pitchFamily="18" charset="0"/>
                <a:ea typeface="黑体" pitchFamily="2" charset="-122"/>
              </a:rPr>
              <a:t>正弦光栅成像时在幅值和相位上同时发生了变化，所以很容易与数学上一个复函数对正弦函数的作用相联系。于是，光学系统的作用相当于这样一个复函数：</a:t>
            </a:r>
          </a:p>
          <a:p>
            <a:pPr marL="914400" lvl="1" eaLnBrk="1" hangingPunct="1">
              <a:defRPr/>
            </a:pPr>
            <a:endParaRPr lang="zh-CN" altLang="en-US" dirty="0" smtClean="0">
              <a:latin typeface="Times New Roman" pitchFamily="18" charset="0"/>
              <a:ea typeface="黑体" pitchFamily="2" charset="-122"/>
            </a:endParaRPr>
          </a:p>
          <a:p>
            <a:pPr marL="914400" lvl="1" eaLnBrk="1" hangingPunct="1">
              <a:buNone/>
              <a:defRPr/>
            </a:pPr>
            <a:r>
              <a:rPr lang="zh-CN" altLang="en-US" dirty="0" smtClean="0">
                <a:latin typeface="Times New Roman" pitchFamily="18" charset="0"/>
                <a:ea typeface="黑体" pitchFamily="2" charset="-122"/>
              </a:rPr>
              <a:t>     把</a:t>
            </a:r>
            <a:r>
              <a:rPr lang="en-US" altLang="zh-CN" i="1" dirty="0" smtClean="0">
                <a:latin typeface="Times New Roman" pitchFamily="18" charset="0"/>
                <a:ea typeface="黑体" pitchFamily="2" charset="-122"/>
              </a:rPr>
              <a:t>OTF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称为光学系统的光学传递函数。调制传递函数</a:t>
            </a:r>
            <a:r>
              <a:rPr lang="en-US" altLang="zh-CN" i="1" dirty="0" smtClean="0">
                <a:latin typeface="Times New Roman" pitchFamily="18" charset="0"/>
                <a:ea typeface="黑体" pitchFamily="2" charset="-122"/>
              </a:rPr>
              <a:t>MTF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是光学传递函数</a:t>
            </a:r>
            <a:r>
              <a:rPr lang="en-US" altLang="zh-CN" i="1" dirty="0" smtClean="0">
                <a:latin typeface="Times New Roman" pitchFamily="18" charset="0"/>
                <a:ea typeface="黑体" pitchFamily="2" charset="-122"/>
              </a:rPr>
              <a:t>OTF(r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的模量，相位传递函数</a:t>
            </a:r>
            <a:r>
              <a:rPr lang="en-US" altLang="zh-CN" i="1" dirty="0" smtClean="0">
                <a:latin typeface="Times New Roman" pitchFamily="18" charset="0"/>
                <a:ea typeface="黑体" pitchFamily="2" charset="-122"/>
              </a:rPr>
              <a:t>PTF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是光学传递函数</a:t>
            </a:r>
            <a:r>
              <a:rPr lang="en-US" altLang="zh-CN" i="1" dirty="0" smtClean="0">
                <a:latin typeface="Times New Roman" pitchFamily="18" charset="0"/>
                <a:ea typeface="黑体" pitchFamily="2" charset="-122"/>
              </a:rPr>
              <a:t>OTF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的幅角。</a:t>
            </a:r>
          </a:p>
        </p:txBody>
      </p:sp>
      <p:sp>
        <p:nvSpPr>
          <p:cNvPr id="59399"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59400"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01"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9402"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03"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59404"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9405"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59406"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07"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9408"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09"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10"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11"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59412"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59413"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59414"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59415"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5925" name="Object 21"/>
          <p:cNvGraphicFramePr>
            <a:graphicFrameLocks noChangeAspect="1"/>
          </p:cNvGraphicFramePr>
          <p:nvPr/>
        </p:nvGraphicFramePr>
        <p:xfrm>
          <a:off x="3262313" y="4509943"/>
          <a:ext cx="3795712" cy="392113"/>
        </p:xfrm>
        <a:graphic>
          <a:graphicData uri="http://schemas.openxmlformats.org/presentationml/2006/ole">
            <p:oleObj spid="_x0000_s59394" name="公式" r:id="rId3" imgW="50901917" imgH="5181917" progId="Equation.3">
              <p:embed/>
            </p:oleObj>
          </a:graphicData>
        </a:graphic>
      </p:graphicFrame>
    </p:spTree>
  </p:cSld>
  <p:clrMapOvr>
    <a:masterClrMapping/>
  </p:clrMapOvr>
  <p:transition spd="slow">
    <p:circl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日期占位符 3"/>
          <p:cNvSpPr>
            <a:spLocks noGrp="1"/>
          </p:cNvSpPr>
          <p:nvPr>
            <p:ph type="dt" sz="quarter" idx="10"/>
          </p:nvPr>
        </p:nvSpPr>
        <p:spPr>
          <a:noFill/>
        </p:spPr>
        <p:txBody>
          <a:bodyPr/>
          <a:lstStyle/>
          <a:p>
            <a:fld id="{907D89E9-288F-49DE-B31E-192E9BDDA99A}" type="datetime1">
              <a:rPr lang="zh-CN" altLang="en-US" smtClean="0"/>
              <a:pPr/>
              <a:t>2018/2/24</a:t>
            </a:fld>
            <a:endParaRPr lang="en-US" altLang="zh-CN" smtClean="0"/>
          </a:p>
        </p:txBody>
      </p:sp>
      <p:sp>
        <p:nvSpPr>
          <p:cNvPr id="60420" name="灯片编号占位符 5"/>
          <p:cNvSpPr>
            <a:spLocks noGrp="1"/>
          </p:cNvSpPr>
          <p:nvPr>
            <p:ph type="sldNum" sz="quarter" idx="12"/>
          </p:nvPr>
        </p:nvSpPr>
        <p:spPr>
          <a:noFill/>
        </p:spPr>
        <p:txBody>
          <a:bodyPr/>
          <a:lstStyle/>
          <a:p>
            <a:fld id="{05AD474D-AAC4-4CBF-894B-A1835FBED3B7}" type="slidenum">
              <a:rPr lang="en-US" altLang="zh-CN" smtClean="0"/>
              <a:pPr/>
              <a:t>85</a:t>
            </a:fld>
            <a:endParaRPr lang="en-US" altLang="zh-CN" smtClean="0"/>
          </a:p>
        </p:txBody>
      </p:sp>
      <p:sp>
        <p:nvSpPr>
          <p:cNvPr id="676866" name="Rectangle 2"/>
          <p:cNvSpPr>
            <a:spLocks noGrp="1" noRot="1" noChangeArrowheads="1"/>
          </p:cNvSpPr>
          <p:nvPr>
            <p:ph type="title"/>
          </p:nvPr>
        </p:nvSpPr>
        <p:spPr>
          <a:xfrm>
            <a:off x="742950" y="3258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76867" name="Rectangle 3"/>
          <p:cNvSpPr>
            <a:spLocks noGrp="1" noRot="1" noChangeArrowheads="1"/>
          </p:cNvSpPr>
          <p:nvPr>
            <p:ph type="body" idx="1"/>
          </p:nvPr>
        </p:nvSpPr>
        <p:spPr>
          <a:xfrm>
            <a:off x="500063" y="1773238"/>
            <a:ext cx="8128000" cy="4748212"/>
          </a:xfrm>
        </p:spPr>
        <p:txBody>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1.3  </a:t>
            </a:r>
            <a:r>
              <a:rPr lang="zh-CN" altLang="en-US" smtClean="0">
                <a:latin typeface="Times New Roman" pitchFamily="18" charset="0"/>
                <a:ea typeface="黑体" pitchFamily="2" charset="-122"/>
              </a:rPr>
              <a:t>用光瞳函数表示光学传递函数</a:t>
            </a:r>
          </a:p>
          <a:p>
            <a:pPr marL="449263" indent="-449263" eaLnBrk="1" hangingPunct="1">
              <a:defRPr/>
            </a:pPr>
            <a:r>
              <a:rPr lang="zh-CN" altLang="en-US" smtClean="0">
                <a:latin typeface="Times New Roman" pitchFamily="18" charset="0"/>
                <a:ea typeface="黑体" pitchFamily="2" charset="-122"/>
              </a:rPr>
              <a:t>当有像差光学系统对发光物体进行衍射成像时，像平面上光扰动的复振幅相对分布，即振幅扩散函数</a:t>
            </a:r>
            <a:r>
              <a:rPr lang="en-US" altLang="zh-CN" i="1" smtClean="0">
                <a:latin typeface="Times New Roman" pitchFamily="18" charset="0"/>
                <a:ea typeface="黑体" pitchFamily="2" charset="-122"/>
              </a:rPr>
              <a:t>ASF</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v</a:t>
            </a:r>
            <a:r>
              <a:rPr lang="zh-CN" altLang="en-US" smtClean="0">
                <a:latin typeface="Times New Roman" pitchFamily="18" charset="0"/>
                <a:ea typeface="黑体" pitchFamily="2" charset="-122"/>
              </a:rPr>
              <a:t>）与光学系统光瞳函数</a:t>
            </a:r>
            <a:r>
              <a:rPr lang="en-US" altLang="zh-CN" i="1" smtClean="0">
                <a:latin typeface="Times New Roman" pitchFamily="18" charset="0"/>
                <a:ea typeface="黑体" pitchFamily="2" charset="-122"/>
              </a:rPr>
              <a:t>P</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zh-CN" altLang="en-US" smtClean="0">
                <a:latin typeface="Times New Roman" pitchFamily="18" charset="0"/>
                <a:ea typeface="黑体" pitchFamily="2" charset="-122"/>
              </a:rPr>
              <a:t>）间的关系，可用基尔霍夫衍射公式导出，即</a:t>
            </a: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r>
              <a:rPr lang="zh-CN" altLang="en-US" smtClean="0">
                <a:latin typeface="Times New Roman" pitchFamily="18" charset="0"/>
                <a:ea typeface="黑体" pitchFamily="2" charset="-122"/>
              </a:rPr>
              <a:t>式中， </a:t>
            </a:r>
            <a:r>
              <a:rPr lang="en-US" altLang="zh-CN" i="1" smtClean="0">
                <a:latin typeface="Times New Roman" pitchFamily="18" charset="0"/>
                <a:ea typeface="黑体" pitchFamily="2" charset="-122"/>
              </a:rPr>
              <a:t>u</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v</a:t>
            </a:r>
            <a:r>
              <a:rPr lang="zh-CN" altLang="en-US" smtClean="0">
                <a:latin typeface="Times New Roman" pitchFamily="18" charset="0"/>
                <a:ea typeface="黑体" pitchFamily="2" charset="-122"/>
              </a:rPr>
              <a:t>是像面坐标；</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zh-CN" altLang="en-US" smtClean="0">
                <a:latin typeface="Times New Roman" pitchFamily="18" charset="0"/>
                <a:ea typeface="黑体" pitchFamily="2" charset="-122"/>
              </a:rPr>
              <a:t>是光瞳面坐标；</a:t>
            </a:r>
            <a:r>
              <a:rPr lang="en-US" altLang="zh-CN" i="1" smtClean="0">
                <a:latin typeface="Times New Roman" pitchFamily="18" charset="0"/>
                <a:ea typeface="黑体" pitchFamily="2" charset="-122"/>
              </a:rPr>
              <a:t>R</a:t>
            </a:r>
            <a:r>
              <a:rPr lang="zh-CN" altLang="en-US" smtClean="0">
                <a:latin typeface="Times New Roman" pitchFamily="18" charset="0"/>
                <a:ea typeface="黑体" pitchFamily="2" charset="-122"/>
              </a:rPr>
              <a:t>为出瞳面到像平面距离。</a:t>
            </a:r>
          </a:p>
          <a:p>
            <a:pPr marL="449263" indent="-449263" eaLnBrk="1" hangingPunct="1">
              <a:buFont typeface="Wingdings" pitchFamily="2" charset="2"/>
              <a:buNone/>
              <a:defRPr/>
            </a:pPr>
            <a:endParaRPr lang="en-US" altLang="zh-CN" smtClean="0">
              <a:latin typeface="Times New Roman" pitchFamily="18" charset="0"/>
              <a:ea typeface="黑体" pitchFamily="2" charset="-122"/>
            </a:endParaRPr>
          </a:p>
        </p:txBody>
      </p:sp>
      <p:sp>
        <p:nvSpPr>
          <p:cNvPr id="60423"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0424"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25"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0426"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27"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0428"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0429"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0430"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31"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0432"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33"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34"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35"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0436"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0437"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0438"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0439"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0440" name="Rectangle 23"/>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0418" name="Object 22"/>
          <p:cNvGraphicFramePr>
            <a:graphicFrameLocks noChangeAspect="1"/>
          </p:cNvGraphicFramePr>
          <p:nvPr/>
        </p:nvGraphicFramePr>
        <p:xfrm>
          <a:off x="1401763" y="3852863"/>
          <a:ext cx="6575425" cy="936625"/>
        </p:xfrm>
        <a:graphic>
          <a:graphicData uri="http://schemas.openxmlformats.org/presentationml/2006/ole">
            <p:oleObj spid="_x0000_s60418" name="Equation" r:id="rId3" imgW="77114717" imgH="10973117" progId="">
              <p:embed/>
            </p:oleObj>
          </a:graphicData>
        </a:graphic>
      </p:graphicFrame>
    </p:spTree>
  </p:cSld>
  <p:clrMapOvr>
    <a:masterClrMapping/>
  </p:clrMapOvr>
  <p:transition spd="slow">
    <p:circl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日期占位符 3"/>
          <p:cNvSpPr>
            <a:spLocks noGrp="1"/>
          </p:cNvSpPr>
          <p:nvPr>
            <p:ph type="dt" sz="quarter" idx="10"/>
          </p:nvPr>
        </p:nvSpPr>
        <p:spPr>
          <a:noFill/>
        </p:spPr>
        <p:txBody>
          <a:bodyPr/>
          <a:lstStyle/>
          <a:p>
            <a:fld id="{850489D9-B967-4793-8E9A-5FB13A8D0E07}" type="datetime1">
              <a:rPr lang="zh-CN" altLang="en-US" smtClean="0"/>
              <a:pPr/>
              <a:t>2018/2/24</a:t>
            </a:fld>
            <a:endParaRPr lang="en-US" altLang="zh-CN" smtClean="0"/>
          </a:p>
        </p:txBody>
      </p:sp>
      <p:sp>
        <p:nvSpPr>
          <p:cNvPr id="61444" name="灯片编号占位符 5"/>
          <p:cNvSpPr>
            <a:spLocks noGrp="1"/>
          </p:cNvSpPr>
          <p:nvPr>
            <p:ph type="sldNum" sz="quarter" idx="12"/>
          </p:nvPr>
        </p:nvSpPr>
        <p:spPr>
          <a:noFill/>
        </p:spPr>
        <p:txBody>
          <a:bodyPr/>
          <a:lstStyle/>
          <a:p>
            <a:fld id="{22F6B85F-428D-44E4-9113-3EC387B43A6A}" type="slidenum">
              <a:rPr lang="en-US" altLang="zh-CN" smtClean="0"/>
              <a:pPr/>
              <a:t>86</a:t>
            </a:fld>
            <a:endParaRPr lang="en-US" altLang="zh-CN" smtClean="0"/>
          </a:p>
        </p:txBody>
      </p:sp>
      <p:sp>
        <p:nvSpPr>
          <p:cNvPr id="677890" name="Rectangle 2"/>
          <p:cNvSpPr>
            <a:spLocks noGrp="1" noRot="1" noChangeArrowheads="1"/>
          </p:cNvSpPr>
          <p:nvPr>
            <p:ph type="title"/>
          </p:nvPr>
        </p:nvSpPr>
        <p:spPr>
          <a:xfrm>
            <a:off x="742950" y="325875"/>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77891" name="Rectangle 3"/>
          <p:cNvSpPr>
            <a:spLocks noGrp="1" noRot="1" noChangeArrowheads="1"/>
          </p:cNvSpPr>
          <p:nvPr>
            <p:ph type="body" idx="1"/>
          </p:nvPr>
        </p:nvSpPr>
        <p:spPr>
          <a:xfrm>
            <a:off x="500063" y="1773238"/>
            <a:ext cx="8128000" cy="4748212"/>
          </a:xfrm>
        </p:spPr>
        <p:txBody>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1.3  </a:t>
            </a:r>
            <a:r>
              <a:rPr lang="zh-CN" altLang="en-US" smtClean="0">
                <a:latin typeface="Times New Roman" pitchFamily="18" charset="0"/>
                <a:ea typeface="黑体" pitchFamily="2" charset="-122"/>
              </a:rPr>
              <a:t>用光瞳函数表示光学传递函数</a:t>
            </a:r>
          </a:p>
          <a:p>
            <a:pPr marL="449263" indent="-449263" eaLnBrk="1" hangingPunct="1">
              <a:defRPr/>
            </a:pPr>
            <a:r>
              <a:rPr lang="zh-CN" altLang="en-US" smtClean="0">
                <a:latin typeface="Times New Roman" pitchFamily="18" charset="0"/>
                <a:ea typeface="黑体" pitchFamily="2" charset="-122"/>
              </a:rPr>
              <a:t>由于光瞳函数</a:t>
            </a:r>
            <a:r>
              <a:rPr lang="en-US" altLang="zh-CN" i="1" smtClean="0">
                <a:latin typeface="Times New Roman" pitchFamily="18" charset="0"/>
                <a:ea typeface="黑体" pitchFamily="2" charset="-122"/>
              </a:rPr>
              <a:t>P</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描述的是出瞳面处光扰动的振幅与相位分布，即</a:t>
            </a: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r>
              <a:rPr lang="zh-CN" altLang="en-US" smtClean="0">
                <a:latin typeface="Times New Roman" pitchFamily="18" charset="0"/>
                <a:ea typeface="黑体" pitchFamily="2" charset="-122"/>
              </a:rPr>
              <a:t>式中的</a:t>
            </a:r>
            <a:r>
              <a:rPr lang="en-US" altLang="zh-CN" i="1" smtClean="0">
                <a:latin typeface="Times New Roman" pitchFamily="18" charset="0"/>
                <a:ea typeface="黑体" pitchFamily="2" charset="-122"/>
              </a:rPr>
              <a:t>A</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zh-CN" altLang="en-US" smtClean="0">
                <a:latin typeface="Times New Roman" pitchFamily="18" charset="0"/>
                <a:ea typeface="黑体" pitchFamily="2" charset="-122"/>
              </a:rPr>
              <a:t>）是振幅分布，它表示光瞳范围内透射比的均匀与否，通常认为是均匀的，并令其为</a:t>
            </a:r>
            <a:r>
              <a:rPr lang="en-US" altLang="zh-CN" smtClean="0">
                <a:latin typeface="Times New Roman" pitchFamily="18" charset="0"/>
                <a:ea typeface="黑体" pitchFamily="2" charset="-122"/>
              </a:rPr>
              <a:t>1</a:t>
            </a:r>
            <a:r>
              <a:rPr lang="zh-CN" altLang="en-US" smtClean="0">
                <a:latin typeface="Times New Roman" pitchFamily="18" charset="0"/>
                <a:ea typeface="黑体" pitchFamily="2" charset="-122"/>
              </a:rPr>
              <a:t>。此时，光瞳函数仅由出瞳面处的波差函数</a:t>
            </a:r>
            <a:r>
              <a:rPr lang="en-US" altLang="zh-CN" i="1" smtClean="0">
                <a:latin typeface="Times New Roman" pitchFamily="18" charset="0"/>
                <a:ea typeface="黑体" pitchFamily="2" charset="-122"/>
              </a:rPr>
              <a:t>W</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x</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y</a:t>
            </a:r>
            <a:r>
              <a:rPr lang="zh-CN" altLang="en-US" smtClean="0">
                <a:latin typeface="Times New Roman" pitchFamily="18" charset="0"/>
                <a:ea typeface="黑体" pitchFamily="2" charset="-122"/>
              </a:rPr>
              <a:t>）确定，并以此描述出瞳处实际波面的形状。 </a:t>
            </a:r>
          </a:p>
        </p:txBody>
      </p:sp>
      <p:sp>
        <p:nvSpPr>
          <p:cNvPr id="61447"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1448"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49"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1450"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51"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1452"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1453"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1454"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55"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1456"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57"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58"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59"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1460"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1461"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1462"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1463"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1464" name="Rectangle 21"/>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sp>
        <p:nvSpPr>
          <p:cNvPr id="61465" name="Rectangle 24"/>
          <p:cNvSpPr>
            <a:spLocks noChangeArrowheads="1"/>
          </p:cNvSpPr>
          <p:nvPr/>
        </p:nvSpPr>
        <p:spPr bwMode="auto">
          <a:xfrm>
            <a:off x="0" y="30861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42" name="Object 23"/>
          <p:cNvGraphicFramePr>
            <a:graphicFrameLocks noChangeAspect="1"/>
          </p:cNvGraphicFramePr>
          <p:nvPr/>
        </p:nvGraphicFramePr>
        <p:xfrm>
          <a:off x="1363663" y="3173413"/>
          <a:ext cx="6159500" cy="1339850"/>
        </p:xfrm>
        <a:graphic>
          <a:graphicData uri="http://schemas.openxmlformats.org/presentationml/2006/ole">
            <p:oleObj spid="_x0000_s61442" name="Equation" r:id="rId3" imgW="75590717" imgH="16459517" progId="">
              <p:embed/>
            </p:oleObj>
          </a:graphicData>
        </a:graphic>
      </p:graphicFrame>
    </p:spTree>
  </p:cSld>
  <p:clrMapOvr>
    <a:masterClrMapping/>
  </p:clrMapOvr>
  <p:transition spd="slow">
    <p:circl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9" name="日期占位符 3"/>
          <p:cNvSpPr>
            <a:spLocks noGrp="1"/>
          </p:cNvSpPr>
          <p:nvPr>
            <p:ph type="dt" sz="quarter" idx="10"/>
          </p:nvPr>
        </p:nvSpPr>
        <p:spPr>
          <a:noFill/>
        </p:spPr>
        <p:txBody>
          <a:bodyPr/>
          <a:lstStyle/>
          <a:p>
            <a:fld id="{1ADD1A94-7FE8-4415-B7D5-87A3C95ABF19}" type="datetime1">
              <a:rPr lang="zh-CN" altLang="en-US" smtClean="0"/>
              <a:pPr/>
              <a:t>2018/2/24</a:t>
            </a:fld>
            <a:endParaRPr lang="en-US" altLang="zh-CN" smtClean="0"/>
          </a:p>
        </p:txBody>
      </p:sp>
      <p:sp>
        <p:nvSpPr>
          <p:cNvPr id="62470" name="灯片编号占位符 5"/>
          <p:cNvSpPr>
            <a:spLocks noGrp="1"/>
          </p:cNvSpPr>
          <p:nvPr>
            <p:ph type="sldNum" sz="quarter" idx="12"/>
          </p:nvPr>
        </p:nvSpPr>
        <p:spPr>
          <a:noFill/>
        </p:spPr>
        <p:txBody>
          <a:bodyPr/>
          <a:lstStyle/>
          <a:p>
            <a:fld id="{0B8F2728-0798-4E25-952E-C73EFFBD2327}" type="slidenum">
              <a:rPr lang="en-US" altLang="zh-CN" smtClean="0"/>
              <a:pPr/>
              <a:t>87</a:t>
            </a:fld>
            <a:endParaRPr lang="en-US" altLang="zh-CN" smtClean="0"/>
          </a:p>
        </p:txBody>
      </p:sp>
      <p:sp>
        <p:nvSpPr>
          <p:cNvPr id="678914" name="Rectangle 2"/>
          <p:cNvSpPr>
            <a:spLocks noGrp="1" noRot="1" noChangeArrowheads="1"/>
          </p:cNvSpPr>
          <p:nvPr>
            <p:ph type="title"/>
          </p:nvPr>
        </p:nvSpPr>
        <p:spPr>
          <a:xfrm>
            <a:off x="742950" y="456500"/>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1.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光学传递函数测试基础</a:t>
            </a:r>
          </a:p>
        </p:txBody>
      </p:sp>
      <p:sp>
        <p:nvSpPr>
          <p:cNvPr id="678915" name="Rectangle 3"/>
          <p:cNvSpPr>
            <a:spLocks noGrp="1" noRot="1" noChangeArrowheads="1"/>
          </p:cNvSpPr>
          <p:nvPr>
            <p:ph type="body" idx="1"/>
          </p:nvPr>
        </p:nvSpPr>
        <p:spPr>
          <a:xfrm>
            <a:off x="500063" y="1773238"/>
            <a:ext cx="8128000" cy="4748212"/>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1.3  </a:t>
            </a:r>
            <a:r>
              <a:rPr lang="zh-CN" altLang="en-US" dirty="0" smtClean="0">
                <a:latin typeface="Times New Roman" pitchFamily="18" charset="0"/>
                <a:ea typeface="黑体" pitchFamily="2" charset="-122"/>
              </a:rPr>
              <a:t>用光瞳函数表示光学传递函数</a:t>
            </a:r>
          </a:p>
          <a:p>
            <a:pPr marL="449263" indent="-449263" eaLnBrk="1" hangingPunct="1">
              <a:defRPr/>
            </a:pPr>
            <a:r>
              <a:rPr lang="en-US" altLang="zh-CN" i="1" dirty="0" smtClean="0">
                <a:latin typeface="Times New Roman" pitchFamily="18" charset="0"/>
                <a:ea typeface="黑体" pitchFamily="2" charset="-122"/>
              </a:rPr>
              <a:t>ASF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与</a:t>
            </a:r>
            <a:r>
              <a:rPr lang="en-US" altLang="zh-CN" i="1" dirty="0" smtClean="0">
                <a:latin typeface="Times New Roman" pitchFamily="18" charset="0"/>
                <a:ea typeface="黑体" pitchFamily="2" charset="-122"/>
              </a:rPr>
              <a:t>PSF</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u</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v</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的关系为</a:t>
            </a: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r>
              <a:rPr lang="zh-CN" altLang="en-US" dirty="0" smtClean="0">
                <a:latin typeface="Times New Roman" pitchFamily="18" charset="0"/>
                <a:ea typeface="黑体" pitchFamily="2" charset="-122"/>
              </a:rPr>
              <a:t>则</a:t>
            </a:r>
            <a:endParaRPr lang="en-US" altLang="zh-CN" dirty="0" smtClean="0">
              <a:latin typeface="Times New Roman" pitchFamily="18" charset="0"/>
              <a:ea typeface="黑体" pitchFamily="2" charset="-122"/>
            </a:endParaRPr>
          </a:p>
          <a:p>
            <a:pPr marL="449263" indent="-449263" eaLnBrk="1" hangingPunct="1">
              <a:defRPr/>
            </a:pPr>
            <a:endParaRPr lang="en-US" altLang="zh-CN" dirty="0" smtClean="0">
              <a:latin typeface="Times New Roman" pitchFamily="18" charset="0"/>
              <a:ea typeface="黑体" pitchFamily="2" charset="-122"/>
            </a:endParaRPr>
          </a:p>
          <a:p>
            <a:pPr marL="449263" indent="-449263" eaLnBrk="1" hangingPunct="1">
              <a:defRPr/>
            </a:pPr>
            <a:endParaRPr lang="en-US" altLang="zh-CN" dirty="0" smtClean="0">
              <a:latin typeface="Times New Roman" pitchFamily="18" charset="0"/>
              <a:ea typeface="黑体" pitchFamily="2" charset="-122"/>
            </a:endParaRPr>
          </a:p>
          <a:p>
            <a:pPr marL="449263" indent="-449263" eaLnBrk="1" hangingPunct="1">
              <a:defRPr/>
            </a:pPr>
            <a:endParaRPr lang="en-US" altLang="zh-CN" dirty="0" smtClean="0">
              <a:latin typeface="Times New Roman" pitchFamily="18" charset="0"/>
              <a:ea typeface="黑体" pitchFamily="2" charset="-122"/>
            </a:endParaRPr>
          </a:p>
          <a:p>
            <a:pPr marL="449263" indent="-449263" eaLnBrk="1" hangingPunct="1">
              <a:defRPr/>
            </a:pPr>
            <a:endParaRPr lang="en-US" altLang="zh-CN" dirty="0" smtClean="0">
              <a:latin typeface="Times New Roman" pitchFamily="18" charset="0"/>
              <a:ea typeface="黑体" pitchFamily="2" charset="-122"/>
            </a:endParaRPr>
          </a:p>
          <a:p>
            <a:pPr marL="449263" indent="-449263" eaLnBrk="1" hangingPunct="1">
              <a:defRPr/>
            </a:pPr>
            <a:r>
              <a:rPr lang="zh-CN" altLang="en-US" dirty="0" smtClean="0">
                <a:latin typeface="Times New Roman" pitchFamily="18" charset="0"/>
                <a:ea typeface="黑体" pitchFamily="2" charset="-122"/>
              </a:rPr>
              <a:t>上式表明，光学系统的光学传递函数可以</a:t>
            </a:r>
            <a:r>
              <a:rPr lang="zh-CN" altLang="en-US" dirty="0" smtClean="0">
                <a:solidFill>
                  <a:srgbClr val="FF0000"/>
                </a:solidFill>
                <a:latin typeface="Times New Roman" pitchFamily="18" charset="0"/>
                <a:ea typeface="黑体" pitchFamily="2" charset="-122"/>
              </a:rPr>
              <a:t>用光瞳函数的自相关积分</a:t>
            </a:r>
            <a:r>
              <a:rPr lang="zh-CN" altLang="en-US" dirty="0" smtClean="0">
                <a:latin typeface="Times New Roman" pitchFamily="18" charset="0"/>
                <a:ea typeface="黑体" pitchFamily="2" charset="-122"/>
              </a:rPr>
              <a:t>表示。</a:t>
            </a:r>
          </a:p>
          <a:p>
            <a:pPr marL="449263" indent="-449263" eaLnBrk="1" hangingPunct="1">
              <a:defRPr/>
            </a:pPr>
            <a:endParaRPr lang="en-US" altLang="zh-CN"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zh-CN" altLang="en-US" dirty="0" smtClean="0">
              <a:latin typeface="Times New Roman" pitchFamily="18" charset="0"/>
              <a:ea typeface="黑体" pitchFamily="2" charset="-122"/>
            </a:endParaRPr>
          </a:p>
          <a:p>
            <a:pPr marL="449263" indent="-449263" eaLnBrk="1" hangingPunct="1">
              <a:defRPr/>
            </a:pPr>
            <a:endParaRPr lang="en-US" altLang="zh-CN" dirty="0" smtClean="0">
              <a:latin typeface="Times New Roman" pitchFamily="18" charset="0"/>
              <a:ea typeface="黑体" pitchFamily="2" charset="-122"/>
            </a:endParaRPr>
          </a:p>
        </p:txBody>
      </p:sp>
      <p:sp>
        <p:nvSpPr>
          <p:cNvPr id="62473"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2474"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75"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2476"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77"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2478"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2479"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2480"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81"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2482"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83"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84"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85"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2486"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2487"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2488"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2489"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62490" name="Rectangle 21"/>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sp>
        <p:nvSpPr>
          <p:cNvPr id="62491" name="Rectangle 22"/>
          <p:cNvSpPr>
            <a:spLocks noChangeArrowheads="1"/>
          </p:cNvSpPr>
          <p:nvPr/>
        </p:nvSpPr>
        <p:spPr bwMode="auto">
          <a:xfrm>
            <a:off x="0" y="3086100"/>
            <a:ext cx="9144000" cy="0"/>
          </a:xfrm>
          <a:prstGeom prst="rect">
            <a:avLst/>
          </a:prstGeom>
          <a:noFill/>
          <a:ln w="9525">
            <a:noFill/>
            <a:miter lim="800000"/>
            <a:headEnd/>
            <a:tailEnd/>
          </a:ln>
        </p:spPr>
        <p:txBody>
          <a:bodyPr wrap="none" anchor="ctr">
            <a:spAutoFit/>
          </a:bodyPr>
          <a:lstStyle/>
          <a:p>
            <a:endParaRPr lang="zh-CN" altLang="en-US"/>
          </a:p>
        </p:txBody>
      </p:sp>
      <p:sp>
        <p:nvSpPr>
          <p:cNvPr id="62492" name="Rectangle 25"/>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66" name="Object 24"/>
          <p:cNvGraphicFramePr>
            <a:graphicFrameLocks noChangeAspect="1"/>
          </p:cNvGraphicFramePr>
          <p:nvPr/>
        </p:nvGraphicFramePr>
        <p:xfrm>
          <a:off x="2322513" y="2779713"/>
          <a:ext cx="4606925" cy="519112"/>
        </p:xfrm>
        <a:graphic>
          <a:graphicData uri="http://schemas.openxmlformats.org/presentationml/2006/ole">
            <p:oleObj spid="_x0000_s62466" name="Equation" r:id="rId3" imgW="48768317" imgH="5486717" progId="">
              <p:embed/>
            </p:oleObj>
          </a:graphicData>
        </a:graphic>
      </p:graphicFrame>
      <p:sp>
        <p:nvSpPr>
          <p:cNvPr id="62493" name="Rectangle 27"/>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78942" name="Object 30"/>
          <p:cNvGraphicFramePr>
            <a:graphicFrameLocks noChangeAspect="1"/>
          </p:cNvGraphicFramePr>
          <p:nvPr/>
        </p:nvGraphicFramePr>
        <p:xfrm>
          <a:off x="1422400" y="4054988"/>
          <a:ext cx="6792913" cy="1368425"/>
        </p:xfrm>
        <a:graphic>
          <a:graphicData uri="http://schemas.openxmlformats.org/presentationml/2006/ole">
            <p:oleObj spid="_x0000_s62467" name="Equation" r:id="rId4" imgW="76505117" imgH="15240317" progId="">
              <p:embed/>
            </p:oleObj>
          </a:graphicData>
        </a:graphic>
      </p:graphicFrame>
      <p:graphicFrame>
        <p:nvGraphicFramePr>
          <p:cNvPr id="678945" name="Object 33"/>
          <p:cNvGraphicFramePr>
            <a:graphicFrameLocks noChangeAspect="1"/>
          </p:cNvGraphicFramePr>
          <p:nvPr/>
        </p:nvGraphicFramePr>
        <p:xfrm>
          <a:off x="2198688" y="1196975"/>
          <a:ext cx="6575425" cy="936625"/>
        </p:xfrm>
        <a:graphic>
          <a:graphicData uri="http://schemas.openxmlformats.org/presentationml/2006/ole">
            <p:oleObj spid="_x0000_s62468" name="Equation" r:id="rId5" imgW="77114717" imgH="10973117" progId="">
              <p:embed/>
            </p:oleObj>
          </a:graphicData>
        </a:graphic>
      </p:graphicFrame>
      <p:sp>
        <p:nvSpPr>
          <p:cNvPr id="678946" name="AutoShape 34"/>
          <p:cNvSpPr>
            <a:spLocks noChangeArrowheads="1"/>
          </p:cNvSpPr>
          <p:nvPr/>
        </p:nvSpPr>
        <p:spPr bwMode="auto">
          <a:xfrm>
            <a:off x="7242175" y="2105025"/>
            <a:ext cx="1495425" cy="1190625"/>
          </a:xfrm>
          <a:prstGeom prst="curvedLeftArrow">
            <a:avLst>
              <a:gd name="adj1" fmla="val 20000"/>
              <a:gd name="adj2" fmla="val 40000"/>
              <a:gd name="adj3" fmla="val 41867"/>
            </a:avLst>
          </a:prstGeom>
          <a:solidFill>
            <a:schemeClr val="accent1"/>
          </a:solidFill>
          <a:ln w="9525">
            <a:solidFill>
              <a:schemeClr val="tx1"/>
            </a:solidFill>
            <a:miter lim="800000"/>
            <a:headEnd/>
            <a:tailEnd/>
          </a:ln>
        </p:spPr>
        <p:txBody>
          <a:bodyPr wrap="none" anchor="ctr"/>
          <a:lstStyle/>
          <a:p>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8945"/>
                                        </p:tgtEl>
                                        <p:attrNameLst>
                                          <p:attrName>style.visibility</p:attrName>
                                        </p:attrNameLst>
                                      </p:cBhvr>
                                      <p:to>
                                        <p:strVal val="visible"/>
                                      </p:to>
                                    </p:set>
                                    <p:anim calcmode="lin" valueType="num">
                                      <p:cBhvr additive="base">
                                        <p:cTn id="7" dur="500" fill="hold"/>
                                        <p:tgtEl>
                                          <p:spTgt spid="678945"/>
                                        </p:tgtEl>
                                        <p:attrNameLst>
                                          <p:attrName>ppt_x</p:attrName>
                                        </p:attrNameLst>
                                      </p:cBhvr>
                                      <p:tavLst>
                                        <p:tav tm="0">
                                          <p:val>
                                            <p:strVal val="#ppt_x"/>
                                          </p:val>
                                        </p:tav>
                                        <p:tav tm="100000">
                                          <p:val>
                                            <p:strVal val="#ppt_x"/>
                                          </p:val>
                                        </p:tav>
                                      </p:tavLst>
                                    </p:anim>
                                    <p:anim calcmode="lin" valueType="num">
                                      <p:cBhvr additive="base">
                                        <p:cTn id="8" dur="500" fill="hold"/>
                                        <p:tgtEl>
                                          <p:spTgt spid="67894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78946"/>
                                        </p:tgtEl>
                                        <p:attrNameLst>
                                          <p:attrName>style.visibility</p:attrName>
                                        </p:attrNameLst>
                                      </p:cBhvr>
                                      <p:to>
                                        <p:strVal val="visible"/>
                                      </p:to>
                                    </p:set>
                                    <p:anim calcmode="lin" valueType="num">
                                      <p:cBhvr additive="base">
                                        <p:cTn id="11" dur="500" fill="hold"/>
                                        <p:tgtEl>
                                          <p:spTgt spid="678946"/>
                                        </p:tgtEl>
                                        <p:attrNameLst>
                                          <p:attrName>ppt_x</p:attrName>
                                        </p:attrNameLst>
                                      </p:cBhvr>
                                      <p:tavLst>
                                        <p:tav tm="0">
                                          <p:val>
                                            <p:strVal val="#ppt_x"/>
                                          </p:val>
                                        </p:tav>
                                        <p:tav tm="100000">
                                          <p:val>
                                            <p:strVal val="#ppt_x"/>
                                          </p:val>
                                        </p:tav>
                                      </p:tavLst>
                                    </p:anim>
                                    <p:anim calcmode="lin" valueType="num">
                                      <p:cBhvr additive="base">
                                        <p:cTn id="12" dur="500" fill="hold"/>
                                        <p:tgtEl>
                                          <p:spTgt spid="6789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8942"/>
                                        </p:tgtEl>
                                        <p:attrNameLst>
                                          <p:attrName>style.visibility</p:attrName>
                                        </p:attrNameLst>
                                      </p:cBhvr>
                                      <p:to>
                                        <p:strVal val="visible"/>
                                      </p:to>
                                    </p:set>
                                    <p:anim calcmode="lin" valueType="num">
                                      <p:cBhvr additive="base">
                                        <p:cTn id="15" dur="500" fill="hold"/>
                                        <p:tgtEl>
                                          <p:spTgt spid="678942"/>
                                        </p:tgtEl>
                                        <p:attrNameLst>
                                          <p:attrName>ppt_x</p:attrName>
                                        </p:attrNameLst>
                                      </p:cBhvr>
                                      <p:tavLst>
                                        <p:tav tm="0">
                                          <p:val>
                                            <p:strVal val="#ppt_x"/>
                                          </p:val>
                                        </p:tav>
                                        <p:tav tm="100000">
                                          <p:val>
                                            <p:strVal val="#ppt_x"/>
                                          </p:val>
                                        </p:tav>
                                      </p:tavLst>
                                    </p:anim>
                                    <p:anim calcmode="lin" valueType="num">
                                      <p:cBhvr additive="base">
                                        <p:cTn id="16" dur="500" fill="hold"/>
                                        <p:tgtEl>
                                          <p:spTgt spid="67894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78915">
                                            <p:txEl>
                                              <p:pRg st="4" end="4"/>
                                            </p:txEl>
                                          </p:spTgt>
                                        </p:tgtEl>
                                        <p:attrNameLst>
                                          <p:attrName>style.visibility</p:attrName>
                                        </p:attrNameLst>
                                      </p:cBhvr>
                                      <p:to>
                                        <p:strVal val="visible"/>
                                      </p:to>
                                    </p:set>
                                    <p:anim calcmode="lin" valueType="num">
                                      <p:cBhvr additive="base">
                                        <p:cTn id="19" dur="500" fill="hold"/>
                                        <p:tgtEl>
                                          <p:spTgt spid="6789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8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78915">
                                            <p:txEl>
                                              <p:pRg st="9" end="9"/>
                                            </p:txEl>
                                          </p:spTgt>
                                        </p:tgtEl>
                                        <p:attrNameLst>
                                          <p:attrName>style.visibility</p:attrName>
                                        </p:attrNameLst>
                                      </p:cBhvr>
                                      <p:to>
                                        <p:strVal val="visible"/>
                                      </p:to>
                                    </p:set>
                                    <p:anim calcmode="lin" valueType="num">
                                      <p:cBhvr additive="base">
                                        <p:cTn id="25" dur="500" fill="hold"/>
                                        <p:tgtEl>
                                          <p:spTgt spid="678915">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891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5" grpId="0" build="p"/>
      <p:bldP spid="678946"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日期占位符 3"/>
          <p:cNvSpPr>
            <a:spLocks noGrp="1"/>
          </p:cNvSpPr>
          <p:nvPr>
            <p:ph type="dt" sz="quarter" idx="10"/>
          </p:nvPr>
        </p:nvSpPr>
        <p:spPr>
          <a:noFill/>
        </p:spPr>
        <p:txBody>
          <a:bodyPr/>
          <a:lstStyle/>
          <a:p>
            <a:fld id="{D229286B-3C13-4464-B7DF-21A025E36E19}" type="datetime1">
              <a:rPr lang="zh-CN" altLang="en-US" smtClean="0"/>
              <a:pPr/>
              <a:t>2018/2/24</a:t>
            </a:fld>
            <a:endParaRPr lang="en-US" altLang="zh-CN" smtClean="0"/>
          </a:p>
        </p:txBody>
      </p:sp>
      <p:sp>
        <p:nvSpPr>
          <p:cNvPr id="129027" name="灯片编号占位符 5"/>
          <p:cNvSpPr>
            <a:spLocks noGrp="1"/>
          </p:cNvSpPr>
          <p:nvPr>
            <p:ph type="sldNum" sz="quarter" idx="12"/>
          </p:nvPr>
        </p:nvSpPr>
        <p:spPr>
          <a:noFill/>
        </p:spPr>
        <p:txBody>
          <a:bodyPr/>
          <a:lstStyle/>
          <a:p>
            <a:fld id="{4ED4D822-E0F3-419F-99DD-0270076571AC}" type="slidenum">
              <a:rPr lang="en-US" altLang="zh-CN" smtClean="0"/>
              <a:pPr/>
              <a:t>88</a:t>
            </a:fld>
            <a:endParaRPr lang="en-US" altLang="zh-CN" smtClean="0"/>
          </a:p>
        </p:txBody>
      </p:sp>
      <p:sp>
        <p:nvSpPr>
          <p:cNvPr id="636930"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
        <p:nvSpPr>
          <p:cNvPr id="636931" name="Rectangle 3"/>
          <p:cNvSpPr>
            <a:spLocks noGrp="1" noRot="1" noChangeArrowheads="1"/>
          </p:cNvSpPr>
          <p:nvPr>
            <p:ph type="body" idx="1"/>
          </p:nvPr>
        </p:nvSpPr>
        <p:spPr>
          <a:xfrm>
            <a:off x="500063" y="1687513"/>
            <a:ext cx="8128000" cy="5253037"/>
          </a:xfrm>
        </p:spPr>
        <p:txBody>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2.1  </a:t>
            </a:r>
            <a:r>
              <a:rPr lang="zh-CN" altLang="en-US" dirty="0" smtClean="0">
                <a:latin typeface="Times New Roman" pitchFamily="18" charset="0"/>
                <a:ea typeface="黑体" pitchFamily="2" charset="-122"/>
              </a:rPr>
              <a:t>测试方法</a:t>
            </a:r>
          </a:p>
          <a:p>
            <a:pPr marL="449263" indent="-449263" eaLnBrk="1" hangingPunct="1">
              <a:defRPr/>
            </a:pPr>
            <a:r>
              <a:rPr lang="zh-CN" altLang="en-US" dirty="0" smtClean="0">
                <a:latin typeface="Times New Roman" pitchFamily="18" charset="0"/>
                <a:ea typeface="黑体" pitchFamily="2" charset="-122"/>
              </a:rPr>
              <a:t>到目前为止，已经有许多种建立在不同原理基础上的测试方法，可以简单地分成</a:t>
            </a:r>
            <a:r>
              <a:rPr lang="zh-CN" altLang="en-US" dirty="0" smtClean="0">
                <a:solidFill>
                  <a:srgbClr val="FF0000"/>
                </a:solidFill>
                <a:latin typeface="Times New Roman" pitchFamily="18" charset="0"/>
                <a:ea typeface="黑体" pitchFamily="2" charset="-122"/>
              </a:rPr>
              <a:t>扫描法</a:t>
            </a:r>
            <a:r>
              <a:rPr lang="zh-CN" altLang="en-US" dirty="0" smtClean="0">
                <a:latin typeface="Times New Roman" pitchFamily="18" charset="0"/>
                <a:ea typeface="黑体" pitchFamily="2" charset="-122"/>
              </a:rPr>
              <a:t>和</a:t>
            </a:r>
            <a:r>
              <a:rPr lang="zh-CN" altLang="en-US" dirty="0" smtClean="0">
                <a:solidFill>
                  <a:srgbClr val="FF0000"/>
                </a:solidFill>
                <a:latin typeface="Times New Roman" pitchFamily="18" charset="0"/>
                <a:ea typeface="黑体" pitchFamily="2" charset="-122"/>
              </a:rPr>
              <a:t>干涉法</a:t>
            </a:r>
            <a:r>
              <a:rPr lang="zh-CN" altLang="en-US" dirty="0" smtClean="0">
                <a:latin typeface="Times New Roman" pitchFamily="18" charset="0"/>
                <a:ea typeface="黑体" pitchFamily="2" charset="-122"/>
              </a:rPr>
              <a:t>两大类。</a:t>
            </a:r>
          </a:p>
          <a:p>
            <a:pPr marL="449263" indent="-449263"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）扫描法</a:t>
            </a:r>
          </a:p>
          <a:p>
            <a:pPr marL="449263" indent="-449263" eaLnBrk="1" hangingPunct="1">
              <a:lnSpc>
                <a:spcPct val="120000"/>
              </a:lnSpc>
              <a:defRPr/>
            </a:pPr>
            <a:r>
              <a:rPr lang="zh-CN" altLang="en-US" sz="2200" dirty="0" smtClean="0">
                <a:latin typeface="Times New Roman" pitchFamily="18" charset="0"/>
                <a:ea typeface="黑体" pitchFamily="2" charset="-122"/>
              </a:rPr>
              <a:t>根据定义式，只要能对被测光学系统形成的线扩散函数实现傅里叶变换，就可以测量到它在某一方向上的光学传递函数。</a:t>
            </a:r>
          </a:p>
          <a:p>
            <a:pPr marL="449263" indent="-449263" eaLnBrk="1" hangingPunct="1">
              <a:lnSpc>
                <a:spcPct val="120000"/>
              </a:lnSpc>
              <a:defRPr/>
            </a:pPr>
            <a:r>
              <a:rPr lang="zh-CN" altLang="en-US" sz="2200" dirty="0" smtClean="0">
                <a:latin typeface="Times New Roman" pitchFamily="18" charset="0"/>
                <a:ea typeface="黑体" pitchFamily="2" charset="-122"/>
              </a:rPr>
              <a:t>早就有人提出可以用一狭缝作为目标物，在它经被测系统的像（其光强分布为线扩散函数）上用正弦光栅作为扫描屏，就可以模拟上述对线扩散函数的傅里叶变换运算，得到光学传递函数，这种方法通常被称为</a:t>
            </a:r>
            <a:r>
              <a:rPr lang="zh-CN" altLang="en-US" sz="2200" dirty="0" smtClean="0">
                <a:solidFill>
                  <a:srgbClr val="FF0000"/>
                </a:solidFill>
                <a:latin typeface="Times New Roman" pitchFamily="18" charset="0"/>
                <a:ea typeface="黑体" pitchFamily="2" charset="-122"/>
              </a:rPr>
              <a:t>光学傅里叶分析法</a:t>
            </a:r>
            <a:r>
              <a:rPr lang="zh-CN" altLang="en-US" sz="2200" dirty="0" smtClean="0">
                <a:latin typeface="Times New Roman" pitchFamily="18" charset="0"/>
                <a:ea typeface="黑体" pitchFamily="2" charset="-122"/>
              </a:rPr>
              <a:t>。</a:t>
            </a:r>
          </a:p>
        </p:txBody>
      </p:sp>
      <p:sp>
        <p:nvSpPr>
          <p:cNvPr id="129030"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29031"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32"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29033"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34"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29035"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29036"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29037"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38"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29039"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40"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41"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42"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29043"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29044"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29045"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29046"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spd="slow">
    <p:circle/>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日期占位符 3"/>
          <p:cNvSpPr>
            <a:spLocks noGrp="1"/>
          </p:cNvSpPr>
          <p:nvPr>
            <p:ph type="dt" sz="quarter" idx="10"/>
          </p:nvPr>
        </p:nvSpPr>
        <p:spPr>
          <a:noFill/>
        </p:spPr>
        <p:txBody>
          <a:bodyPr/>
          <a:lstStyle/>
          <a:p>
            <a:fld id="{7C57C1DB-FC03-43E9-9F87-3F17F58403D5}" type="datetime1">
              <a:rPr lang="zh-CN" altLang="en-US" smtClean="0"/>
              <a:pPr/>
              <a:t>2018/2/24</a:t>
            </a:fld>
            <a:endParaRPr lang="en-US" altLang="zh-CN" smtClean="0"/>
          </a:p>
        </p:txBody>
      </p:sp>
      <p:sp>
        <p:nvSpPr>
          <p:cNvPr id="130051" name="灯片编号占位符 5"/>
          <p:cNvSpPr>
            <a:spLocks noGrp="1"/>
          </p:cNvSpPr>
          <p:nvPr>
            <p:ph type="sldNum" sz="quarter" idx="12"/>
          </p:nvPr>
        </p:nvSpPr>
        <p:spPr>
          <a:noFill/>
        </p:spPr>
        <p:txBody>
          <a:bodyPr/>
          <a:lstStyle/>
          <a:p>
            <a:fld id="{40BB889B-3010-4F49-8359-3EDFF50F251F}" type="slidenum">
              <a:rPr lang="en-US" altLang="zh-CN" smtClean="0"/>
              <a:pPr/>
              <a:t>89</a:t>
            </a:fld>
            <a:endParaRPr lang="en-US" altLang="zh-CN" smtClean="0"/>
          </a:p>
        </p:txBody>
      </p:sp>
      <p:sp>
        <p:nvSpPr>
          <p:cNvPr id="637955" name="Rectangle 3"/>
          <p:cNvSpPr>
            <a:spLocks noGrp="1" noRot="1" noChangeAspect="1" noChangeArrowheads="1"/>
          </p:cNvSpPr>
          <p:nvPr>
            <p:ph type="body" idx="1"/>
          </p:nvPr>
        </p:nvSpPr>
        <p:spPr>
          <a:xfrm>
            <a:off x="296863" y="1801813"/>
            <a:ext cx="8577262" cy="4184650"/>
          </a:xfrm>
        </p:spPr>
        <p:txBody>
          <a:bodyPr>
            <a:spAutoFit/>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2.1  </a:t>
            </a:r>
            <a:r>
              <a:rPr lang="zh-CN" altLang="en-US" smtClean="0">
                <a:latin typeface="Times New Roman" pitchFamily="18" charset="0"/>
                <a:ea typeface="黑体" pitchFamily="2" charset="-122"/>
              </a:rPr>
              <a:t>测试方法</a:t>
            </a:r>
          </a:p>
          <a:p>
            <a:pPr marL="449263" indent="-449263" eaLnBrk="1" hangingPunct="1">
              <a:buFont typeface="Wingdings" pitchFamily="2" charset="2"/>
              <a:buNone/>
              <a:defRPr/>
            </a:pPr>
            <a:r>
              <a:rPr lang="en-US" altLang="zh-CN" smtClean="0">
                <a:latin typeface="Times New Roman" pitchFamily="18" charset="0"/>
                <a:ea typeface="黑体" pitchFamily="2" charset="-122"/>
              </a:rPr>
              <a:t>1</a:t>
            </a:r>
            <a:r>
              <a:rPr lang="zh-CN" altLang="en-US" smtClean="0">
                <a:latin typeface="Times New Roman" pitchFamily="18" charset="0"/>
                <a:ea typeface="黑体" pitchFamily="2" charset="-122"/>
              </a:rPr>
              <a:t>）扫描法</a:t>
            </a:r>
          </a:p>
          <a:p>
            <a:pPr marL="449263" indent="-449263" eaLnBrk="1" hangingPunct="1">
              <a:defRPr/>
            </a:pPr>
            <a:r>
              <a:rPr lang="zh-CN" altLang="en-US" sz="2000" smtClean="0">
                <a:latin typeface="Times New Roman" pitchFamily="18" charset="0"/>
                <a:ea typeface="黑体" pitchFamily="2" charset="-122"/>
              </a:rPr>
              <a:t>由于正弦光栅较难制作，后来又提出用矩形光栅代替正弦光栅作为扫描屏，通过电学滤波的方法把信号中的高次谐波滤掉同样可实现这种模拟运算，这种用非正弦光栅作扫描屏的方法被称为</a:t>
            </a:r>
            <a:r>
              <a:rPr lang="zh-CN" altLang="en-US" sz="2000" smtClean="0">
                <a:solidFill>
                  <a:srgbClr val="FF0000"/>
                </a:solidFill>
                <a:latin typeface="Times New Roman" pitchFamily="18" charset="0"/>
                <a:ea typeface="黑体" pitchFamily="2" charset="-122"/>
              </a:rPr>
              <a:t>光电傅里叶分析法</a:t>
            </a:r>
            <a:r>
              <a:rPr lang="zh-CN" altLang="en-US" sz="2000" smtClean="0">
                <a:latin typeface="Times New Roman" pitchFamily="18" charset="0"/>
                <a:ea typeface="黑体" pitchFamily="2" charset="-122"/>
              </a:rPr>
              <a:t>。</a:t>
            </a:r>
          </a:p>
          <a:p>
            <a:pPr marL="449263" indent="-449263" eaLnBrk="1" hangingPunct="1">
              <a:defRPr/>
            </a:pPr>
            <a:r>
              <a:rPr lang="zh-CN" altLang="en-US" sz="2000" smtClean="0">
                <a:latin typeface="Times New Roman" pitchFamily="18" charset="0"/>
                <a:ea typeface="黑体" pitchFamily="2" charset="-122"/>
              </a:rPr>
              <a:t>把所得到的形状与扩散函数形状相似的电信号，直接进行频谱分析就可以得到光学传递函数，这种方法被称为</a:t>
            </a:r>
            <a:r>
              <a:rPr lang="zh-CN" altLang="en-US" sz="2000" smtClean="0">
                <a:solidFill>
                  <a:srgbClr val="FF0000"/>
                </a:solidFill>
                <a:latin typeface="Times New Roman" pitchFamily="18" charset="0"/>
                <a:ea typeface="黑体" pitchFamily="2" charset="-122"/>
              </a:rPr>
              <a:t>电学傅里叶分析法</a:t>
            </a:r>
            <a:r>
              <a:rPr lang="zh-CN" altLang="en-US" sz="2000" smtClean="0">
                <a:latin typeface="Times New Roman" pitchFamily="18" charset="0"/>
                <a:ea typeface="黑体" pitchFamily="2" charset="-122"/>
              </a:rPr>
              <a:t>。</a:t>
            </a:r>
          </a:p>
          <a:p>
            <a:pPr marL="449263" indent="-449263" eaLnBrk="1" hangingPunct="1">
              <a:defRPr/>
            </a:pPr>
            <a:r>
              <a:rPr lang="zh-CN" altLang="en-US" sz="2000" smtClean="0">
                <a:latin typeface="Times New Roman" pitchFamily="18" charset="0"/>
                <a:ea typeface="黑体" pitchFamily="2" charset="-122"/>
              </a:rPr>
              <a:t>用狭缝或者刀口屏直接对狭缝像进行线扩散函数抽样，把抽样数据送到计算机进行包括傅里叶变换在内的数学运算，也可以得到光学传递函数，这种方法被称为</a:t>
            </a:r>
            <a:r>
              <a:rPr lang="zh-CN" altLang="en-US" sz="2000" smtClean="0">
                <a:solidFill>
                  <a:srgbClr val="FF0000"/>
                </a:solidFill>
                <a:latin typeface="Times New Roman" pitchFamily="18" charset="0"/>
                <a:ea typeface="黑体" pitchFamily="2" charset="-122"/>
              </a:rPr>
              <a:t>数字傅里叶分析法</a:t>
            </a:r>
            <a:r>
              <a:rPr lang="zh-CN" altLang="en-US" sz="2000" smtClean="0">
                <a:latin typeface="Times New Roman" pitchFamily="18" charset="0"/>
                <a:ea typeface="黑体" pitchFamily="2" charset="-122"/>
              </a:rPr>
              <a:t>。</a:t>
            </a:r>
          </a:p>
          <a:p>
            <a:pPr marL="449263" indent="-449263" eaLnBrk="1" hangingPunct="1">
              <a:defRPr/>
            </a:pPr>
            <a:r>
              <a:rPr lang="zh-CN" altLang="en-US" sz="2000" smtClean="0">
                <a:latin typeface="Times New Roman" pitchFamily="18" charset="0"/>
                <a:ea typeface="黑体" pitchFamily="2" charset="-122"/>
              </a:rPr>
              <a:t>上面这些方法都是通过在像面上扫描来测量的，所以统称为扫描法。扫描法是实际应用得最多的方法。</a:t>
            </a:r>
          </a:p>
        </p:txBody>
      </p:sp>
      <p:sp>
        <p:nvSpPr>
          <p:cNvPr id="130054"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0055"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56"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0057"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58"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0059"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0060"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0061"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62"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0063"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64"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65"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66"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0067"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0068"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0069"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0070"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4"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日期占位符 3"/>
          <p:cNvSpPr>
            <a:spLocks noGrp="1"/>
          </p:cNvSpPr>
          <p:nvPr>
            <p:ph type="dt" sz="quarter" idx="10"/>
          </p:nvPr>
        </p:nvSpPr>
        <p:spPr>
          <a:noFill/>
        </p:spPr>
        <p:txBody>
          <a:bodyPr/>
          <a:lstStyle/>
          <a:p>
            <a:fld id="{D8578E3D-8105-486F-A77F-405467D005D7}" type="datetime1">
              <a:rPr lang="zh-CN" altLang="en-US" smtClean="0"/>
              <a:pPr/>
              <a:t>2018/2/24</a:t>
            </a:fld>
            <a:endParaRPr lang="en-US" altLang="zh-CN" smtClean="0"/>
          </a:p>
        </p:txBody>
      </p:sp>
      <p:sp>
        <p:nvSpPr>
          <p:cNvPr id="131075" name="灯片编号占位符 5"/>
          <p:cNvSpPr>
            <a:spLocks noGrp="1"/>
          </p:cNvSpPr>
          <p:nvPr>
            <p:ph type="sldNum" sz="quarter" idx="12"/>
          </p:nvPr>
        </p:nvSpPr>
        <p:spPr>
          <a:noFill/>
        </p:spPr>
        <p:txBody>
          <a:bodyPr/>
          <a:lstStyle/>
          <a:p>
            <a:fld id="{209EFE60-FC5F-4EA9-AB0D-FD3091B1E521}" type="slidenum">
              <a:rPr lang="en-US" altLang="zh-CN" smtClean="0"/>
              <a:pPr/>
              <a:t>90</a:t>
            </a:fld>
            <a:endParaRPr lang="en-US" altLang="zh-CN" smtClean="0"/>
          </a:p>
        </p:txBody>
      </p:sp>
      <p:sp>
        <p:nvSpPr>
          <p:cNvPr id="638979" name="Rectangle 3"/>
          <p:cNvSpPr>
            <a:spLocks noGrp="1" noRot="1" noChangeAspect="1" noChangeArrowheads="1"/>
          </p:cNvSpPr>
          <p:nvPr>
            <p:ph type="body" idx="1"/>
          </p:nvPr>
        </p:nvSpPr>
        <p:spPr>
          <a:xfrm>
            <a:off x="703263" y="1801813"/>
            <a:ext cx="7677150" cy="3896451"/>
          </a:xfrm>
        </p:spPr>
        <p:txBody>
          <a:bodyPr>
            <a:spAutoFit/>
          </a:bodyPr>
          <a:lstStyle/>
          <a:p>
            <a:pPr marL="449263" indent="-449263" eaLnBrk="1" hangingPunct="1">
              <a:lnSpc>
                <a:spcPct val="110000"/>
              </a:lnSpc>
              <a:buFont typeface="Wingdings" pitchFamily="2" charset="2"/>
              <a:buNone/>
              <a:defRPr/>
            </a:pPr>
            <a:r>
              <a:rPr lang="en-US" altLang="zh-CN" dirty="0" smtClean="0">
                <a:latin typeface="Times New Roman" pitchFamily="18" charset="0"/>
                <a:ea typeface="黑体" pitchFamily="2" charset="-122"/>
              </a:rPr>
              <a:t>2.1  </a:t>
            </a:r>
            <a:r>
              <a:rPr lang="zh-CN" altLang="en-US" dirty="0" smtClean="0">
                <a:latin typeface="Times New Roman" pitchFamily="18" charset="0"/>
                <a:ea typeface="黑体" pitchFamily="2" charset="-122"/>
              </a:rPr>
              <a:t>测试方法</a:t>
            </a:r>
          </a:p>
          <a:p>
            <a:pPr marL="449263" indent="-449263" eaLnBrk="1" hangingPunct="1">
              <a:lnSpc>
                <a:spcPct val="110000"/>
              </a:lnSpc>
              <a:buFont typeface="Wingdings" pitchFamily="2" charset="2"/>
              <a:buNone/>
              <a:defRPr/>
            </a:pPr>
            <a:r>
              <a:rPr lang="en-US" altLang="zh-CN" dirty="0" smtClean="0">
                <a:latin typeface="Times New Roman" pitchFamily="18" charset="0"/>
                <a:ea typeface="黑体" pitchFamily="2" charset="-122"/>
              </a:rPr>
              <a:t>2</a:t>
            </a:r>
            <a:r>
              <a:rPr lang="zh-CN" altLang="en-US" dirty="0" smtClean="0">
                <a:latin typeface="Times New Roman" pitchFamily="18" charset="0"/>
                <a:ea typeface="黑体" pitchFamily="2" charset="-122"/>
              </a:rPr>
              <a:t>）干涉法</a:t>
            </a:r>
          </a:p>
          <a:p>
            <a:pPr marL="449263" indent="-449263" eaLnBrk="1" hangingPunct="1">
              <a:lnSpc>
                <a:spcPct val="110000"/>
              </a:lnSpc>
              <a:defRPr/>
            </a:pPr>
            <a:r>
              <a:rPr lang="zh-CN" altLang="en-US" dirty="0" smtClean="0">
                <a:latin typeface="Times New Roman" pitchFamily="18" charset="0"/>
                <a:ea typeface="黑体" pitchFamily="2" charset="-122"/>
              </a:rPr>
              <a:t>由于</a:t>
            </a:r>
            <a:r>
              <a:rPr lang="zh-CN" altLang="en-US" dirty="0" smtClean="0">
                <a:solidFill>
                  <a:srgbClr val="FF0000"/>
                </a:solidFill>
                <a:latin typeface="Times New Roman" pitchFamily="18" charset="0"/>
                <a:ea typeface="黑体" pitchFamily="2" charset="-122"/>
              </a:rPr>
              <a:t>光学传递函数和光瞳函数之间有确定的转换关系</a:t>
            </a:r>
            <a:r>
              <a:rPr lang="zh-CN" altLang="en-US" dirty="0" smtClean="0">
                <a:latin typeface="Times New Roman" pitchFamily="18" charset="0"/>
                <a:ea typeface="黑体" pitchFamily="2" charset="-122"/>
              </a:rPr>
              <a:t>，所以通过测量得到光瞳函数</a:t>
            </a:r>
            <a:r>
              <a:rPr lang="en-US" altLang="zh-CN" i="1" dirty="0" smtClean="0">
                <a:latin typeface="Times New Roman" pitchFamily="18" charset="0"/>
                <a:ea typeface="黑体" pitchFamily="2" charset="-122"/>
              </a:rPr>
              <a:t>P</a:t>
            </a:r>
            <a:r>
              <a:rPr lang="en-US" altLang="zh-CN"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x</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y</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就可以间接得到光学传递函数。因为光瞳函数是复函数，它主要包含了出射光瞳处波面的相位信息。很显然通过使该波面与一标准参考波面相干涉，或者使该波面本身产生剪切干涉，利用干涉图就可以找到保留相位信息的光瞳函数。</a:t>
            </a:r>
          </a:p>
        </p:txBody>
      </p:sp>
      <p:sp>
        <p:nvSpPr>
          <p:cNvPr id="131078"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1079"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80"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1081"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82"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1083"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1084"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1085"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86"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1087"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88"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89"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90"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1091"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1092"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1093"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1094"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24"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日期占位符 3"/>
          <p:cNvSpPr>
            <a:spLocks noGrp="1"/>
          </p:cNvSpPr>
          <p:nvPr>
            <p:ph type="dt" sz="quarter" idx="10"/>
          </p:nvPr>
        </p:nvSpPr>
        <p:spPr>
          <a:noFill/>
        </p:spPr>
        <p:txBody>
          <a:bodyPr/>
          <a:lstStyle/>
          <a:p>
            <a:fld id="{4B90097E-2436-4E06-9862-C2DFE621136F}" type="datetime1">
              <a:rPr lang="zh-CN" altLang="en-US" smtClean="0"/>
              <a:pPr/>
              <a:t>2018/2/24</a:t>
            </a:fld>
            <a:endParaRPr lang="en-US" altLang="zh-CN" smtClean="0"/>
          </a:p>
        </p:txBody>
      </p:sp>
      <p:sp>
        <p:nvSpPr>
          <p:cNvPr id="132099" name="灯片编号占位符 5"/>
          <p:cNvSpPr>
            <a:spLocks noGrp="1"/>
          </p:cNvSpPr>
          <p:nvPr>
            <p:ph type="sldNum" sz="quarter" idx="12"/>
          </p:nvPr>
        </p:nvSpPr>
        <p:spPr>
          <a:noFill/>
        </p:spPr>
        <p:txBody>
          <a:bodyPr/>
          <a:lstStyle/>
          <a:p>
            <a:fld id="{E4D307E3-679F-4942-AE8F-9081F71C5AF4}" type="slidenum">
              <a:rPr lang="en-US" altLang="zh-CN" smtClean="0"/>
              <a:pPr/>
              <a:t>91</a:t>
            </a:fld>
            <a:endParaRPr lang="en-US" altLang="zh-CN" smtClean="0"/>
          </a:p>
        </p:txBody>
      </p:sp>
      <p:sp>
        <p:nvSpPr>
          <p:cNvPr id="689155" name="Rectangle 3"/>
          <p:cNvSpPr>
            <a:spLocks noGrp="1" noRot="1" noChangeAspect="1" noChangeArrowheads="1"/>
          </p:cNvSpPr>
          <p:nvPr>
            <p:ph type="body" idx="1"/>
          </p:nvPr>
        </p:nvSpPr>
        <p:spPr>
          <a:xfrm>
            <a:off x="703263" y="1801813"/>
            <a:ext cx="7677150" cy="968375"/>
          </a:xfrm>
        </p:spPr>
        <p:txBody>
          <a:bodyPr>
            <a:spAutoFit/>
          </a:bodyPr>
          <a:lstStyle/>
          <a:p>
            <a:pPr marL="449263" indent="-449263" eaLnBrk="1" hangingPunct="1">
              <a:lnSpc>
                <a:spcPct val="110000"/>
              </a:lnSpc>
              <a:buFont typeface="Wingdings" pitchFamily="2" charset="2"/>
              <a:buNone/>
              <a:defRPr/>
            </a:pPr>
            <a:r>
              <a:rPr lang="en-US" altLang="zh-CN" smtClean="0">
                <a:latin typeface="Times New Roman" pitchFamily="18" charset="0"/>
                <a:ea typeface="黑体" pitchFamily="2" charset="-122"/>
              </a:rPr>
              <a:t>2.1  </a:t>
            </a:r>
            <a:r>
              <a:rPr lang="zh-CN" altLang="en-US" smtClean="0">
                <a:latin typeface="Times New Roman" pitchFamily="18" charset="0"/>
                <a:ea typeface="黑体" pitchFamily="2" charset="-122"/>
              </a:rPr>
              <a:t>测试方法</a:t>
            </a:r>
          </a:p>
          <a:p>
            <a:pPr marL="449263" indent="-449263" algn="just" eaLnBrk="1" hangingPunct="1">
              <a:lnSpc>
                <a:spcPct val="110000"/>
              </a:lnSpc>
              <a:defRPr/>
            </a:pPr>
            <a:r>
              <a:rPr lang="zh-CN" altLang="en-US" smtClean="0">
                <a:latin typeface="Times New Roman" pitchFamily="18" charset="0"/>
                <a:ea typeface="黑体" pitchFamily="2" charset="-122"/>
              </a:rPr>
              <a:t>上述两类测试方法之间的关系如图所示。</a:t>
            </a:r>
          </a:p>
        </p:txBody>
      </p:sp>
      <p:sp>
        <p:nvSpPr>
          <p:cNvPr id="132102"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2103"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04"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2105"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06"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2107"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2108"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2109"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10"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2111"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12"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13"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14"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2115"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2116"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2117"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2118"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pSp>
        <p:nvGrpSpPr>
          <p:cNvPr id="132119" name="Group 21"/>
          <p:cNvGrpSpPr>
            <a:grpSpLocks/>
          </p:cNvGrpSpPr>
          <p:nvPr/>
        </p:nvGrpSpPr>
        <p:grpSpPr bwMode="auto">
          <a:xfrm>
            <a:off x="1254125" y="2814638"/>
            <a:ext cx="6391275" cy="4710112"/>
            <a:chOff x="2070" y="3555"/>
            <a:chExt cx="7185" cy="5295"/>
          </a:xfrm>
        </p:grpSpPr>
        <p:sp>
          <p:nvSpPr>
            <p:cNvPr id="689174" name="Rectangle 22"/>
            <p:cNvSpPr>
              <a:spLocks noChangeArrowheads="1"/>
            </p:cNvSpPr>
            <p:nvPr/>
          </p:nvSpPr>
          <p:spPr bwMode="auto">
            <a:xfrm>
              <a:off x="5461" y="3885"/>
              <a:ext cx="1363" cy="450"/>
            </a:xfrm>
            <a:prstGeom prst="rect">
              <a:avLst/>
            </a:prstGeom>
            <a:solidFill>
              <a:srgbClr val="FFFFFF"/>
            </a:solidFill>
            <a:ln w="19050">
              <a:solidFill>
                <a:srgbClr val="000000"/>
              </a:solid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待测镜头</a:t>
              </a:r>
            </a:p>
          </p:txBody>
        </p:sp>
        <p:sp>
          <p:nvSpPr>
            <p:cNvPr id="689175" name="Rectangle 23"/>
            <p:cNvSpPr>
              <a:spLocks noChangeArrowheads="1"/>
            </p:cNvSpPr>
            <p:nvPr/>
          </p:nvSpPr>
          <p:spPr bwMode="auto">
            <a:xfrm>
              <a:off x="5370" y="7199"/>
              <a:ext cx="1440" cy="810"/>
            </a:xfrm>
            <a:prstGeom prst="rect">
              <a:avLst/>
            </a:prstGeom>
            <a:solidFill>
              <a:srgbClr val="FFFFFF"/>
            </a:solidFill>
            <a:ln w="19050">
              <a:solidFill>
                <a:srgbClr val="000000"/>
              </a:solidFill>
              <a:miter lim="800000"/>
              <a:headEnd/>
              <a:tailEnd/>
            </a:ln>
          </p:spPr>
          <p:txBody>
            <a:bodyPr anchor="ctr"/>
            <a:lstStyle/>
            <a:p>
              <a:pPr algn="ctr">
                <a:spcBef>
                  <a:spcPts val="775"/>
                </a:spcBef>
                <a:defRPr/>
              </a:pPr>
              <a:r>
                <a:rPr lang="en-US" altLang="zh-CN" sz="1600" b="1">
                  <a:effectLst>
                    <a:outerShdw blurRad="38100" dist="38100" dir="2700000" algn="tl">
                      <a:srgbClr val="C0C0C0"/>
                    </a:outerShdw>
                  </a:effectLst>
                  <a:latin typeface="Times New Roman" pitchFamily="18" charset="0"/>
                  <a:ea typeface="黑体" pitchFamily="2" charset="-122"/>
                </a:rPr>
                <a:t>OTF</a:t>
              </a:r>
            </a:p>
          </p:txBody>
        </p:sp>
        <p:sp>
          <p:nvSpPr>
            <p:cNvPr id="689176" name="Rectangle 24"/>
            <p:cNvSpPr>
              <a:spLocks noChangeArrowheads="1"/>
            </p:cNvSpPr>
            <p:nvPr/>
          </p:nvSpPr>
          <p:spPr bwMode="auto">
            <a:xfrm>
              <a:off x="4440" y="4726"/>
              <a:ext cx="960" cy="450"/>
            </a:xfrm>
            <a:prstGeom prst="rect">
              <a:avLst/>
            </a:prstGeom>
            <a:solidFill>
              <a:srgbClr val="FFFFFF"/>
            </a:solidFill>
            <a:ln w="19050">
              <a:solidFill>
                <a:srgbClr val="000000"/>
              </a:solid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星点像</a:t>
              </a:r>
            </a:p>
          </p:txBody>
        </p:sp>
        <p:sp>
          <p:nvSpPr>
            <p:cNvPr id="689177" name="Rectangle 25"/>
            <p:cNvSpPr>
              <a:spLocks noChangeArrowheads="1"/>
            </p:cNvSpPr>
            <p:nvPr/>
          </p:nvSpPr>
          <p:spPr bwMode="auto">
            <a:xfrm>
              <a:off x="5611" y="4726"/>
              <a:ext cx="960" cy="450"/>
            </a:xfrm>
            <a:prstGeom prst="rect">
              <a:avLst/>
            </a:prstGeom>
            <a:solidFill>
              <a:srgbClr val="FFFFFF"/>
            </a:solidFill>
            <a:ln w="19050">
              <a:solidFill>
                <a:srgbClr val="000000"/>
              </a:solid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刀口像</a:t>
              </a:r>
            </a:p>
          </p:txBody>
        </p:sp>
        <p:sp>
          <p:nvSpPr>
            <p:cNvPr id="689178" name="Rectangle 26"/>
            <p:cNvSpPr>
              <a:spLocks noChangeArrowheads="1"/>
            </p:cNvSpPr>
            <p:nvPr/>
          </p:nvSpPr>
          <p:spPr bwMode="auto">
            <a:xfrm>
              <a:off x="6780" y="4726"/>
              <a:ext cx="960" cy="450"/>
            </a:xfrm>
            <a:prstGeom prst="rect">
              <a:avLst/>
            </a:prstGeom>
            <a:solidFill>
              <a:srgbClr val="FFFFFF"/>
            </a:solidFill>
            <a:ln w="19050">
              <a:solidFill>
                <a:srgbClr val="000000"/>
              </a:solid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狭缝像</a:t>
              </a:r>
            </a:p>
          </p:txBody>
        </p:sp>
        <p:sp>
          <p:nvSpPr>
            <p:cNvPr id="689179" name="Rectangle 27"/>
            <p:cNvSpPr>
              <a:spLocks noChangeArrowheads="1"/>
            </p:cNvSpPr>
            <p:nvPr/>
          </p:nvSpPr>
          <p:spPr bwMode="auto">
            <a:xfrm>
              <a:off x="5639" y="6269"/>
              <a:ext cx="960" cy="450"/>
            </a:xfrm>
            <a:prstGeom prst="rect">
              <a:avLst/>
            </a:prstGeom>
            <a:solidFill>
              <a:srgbClr val="FFFFFF"/>
            </a:solidFill>
            <a:ln w="19050">
              <a:solidFill>
                <a:srgbClr val="000000"/>
              </a:solidFill>
              <a:miter lim="800000"/>
              <a:headEnd/>
              <a:tailEnd/>
            </a:ln>
          </p:spPr>
          <p:txBody>
            <a:bodyPr/>
            <a:lstStyle/>
            <a:p>
              <a:pPr algn="ctr">
                <a:defRPr/>
              </a:pPr>
              <a:r>
                <a:rPr lang="en-US" altLang="zh-CN" sz="1600" b="1">
                  <a:effectLst>
                    <a:outerShdw blurRad="38100" dist="38100" dir="2700000" algn="tl">
                      <a:srgbClr val="C0C0C0"/>
                    </a:outerShdw>
                  </a:effectLst>
                  <a:latin typeface="Times New Roman" pitchFamily="18" charset="0"/>
                  <a:ea typeface="黑体" pitchFamily="2" charset="-122"/>
                </a:rPr>
                <a:t>LSF</a:t>
              </a:r>
            </a:p>
          </p:txBody>
        </p:sp>
        <p:sp>
          <p:nvSpPr>
            <p:cNvPr id="689180" name="Rectangle 28"/>
            <p:cNvSpPr>
              <a:spLocks noChangeArrowheads="1"/>
            </p:cNvSpPr>
            <p:nvPr/>
          </p:nvSpPr>
          <p:spPr bwMode="auto">
            <a:xfrm>
              <a:off x="3166" y="4471"/>
              <a:ext cx="958" cy="450"/>
            </a:xfrm>
            <a:prstGeom prst="rect">
              <a:avLst/>
            </a:prstGeom>
            <a:solidFill>
              <a:srgbClr val="FFFFFF"/>
            </a:solidFill>
            <a:ln w="19050">
              <a:solidFill>
                <a:srgbClr val="000000"/>
              </a:solidFill>
              <a:miter lim="800000"/>
              <a:headEnd/>
              <a:tailEnd/>
            </a:ln>
          </p:spPr>
          <p:txBody>
            <a:bodyPr/>
            <a:lstStyle/>
            <a:p>
              <a:pPr algn="ctr">
                <a:defRPr/>
              </a:pPr>
              <a:r>
                <a:rPr lang="en-US" altLang="zh-CN" sz="1600" b="1" i="1">
                  <a:effectLst>
                    <a:outerShdw blurRad="38100" dist="38100" dir="2700000" algn="tl">
                      <a:srgbClr val="C0C0C0"/>
                    </a:outerShdw>
                  </a:effectLst>
                  <a:latin typeface="Times New Roman" pitchFamily="18" charset="0"/>
                  <a:ea typeface="黑体" pitchFamily="2" charset="-122"/>
                </a:rPr>
                <a:t>P</a:t>
              </a:r>
              <a:r>
                <a:rPr lang="en-US" altLang="zh-CN" sz="1600" b="1">
                  <a:effectLst>
                    <a:outerShdw blurRad="38100" dist="38100" dir="2700000" algn="tl">
                      <a:srgbClr val="C0C0C0"/>
                    </a:outerShdw>
                  </a:effectLst>
                  <a:latin typeface="Times New Roman" pitchFamily="18" charset="0"/>
                  <a:ea typeface="黑体" pitchFamily="2" charset="-122"/>
                </a:rPr>
                <a:t>(</a:t>
              </a:r>
              <a:r>
                <a:rPr lang="en-US" altLang="zh-CN" sz="1600" b="1" i="1">
                  <a:effectLst>
                    <a:outerShdw blurRad="38100" dist="38100" dir="2700000" algn="tl">
                      <a:srgbClr val="C0C0C0"/>
                    </a:outerShdw>
                  </a:effectLst>
                  <a:latin typeface="Times New Roman" pitchFamily="18" charset="0"/>
                  <a:ea typeface="黑体" pitchFamily="2" charset="-122"/>
                </a:rPr>
                <a:t>x</a:t>
              </a:r>
              <a:r>
                <a:rPr lang="en-US" altLang="zh-CN" sz="1600" b="1">
                  <a:effectLst>
                    <a:outerShdw blurRad="38100" dist="38100" dir="2700000" algn="tl">
                      <a:srgbClr val="C0C0C0"/>
                    </a:outerShdw>
                  </a:effectLst>
                  <a:latin typeface="Times New Roman" pitchFamily="18" charset="0"/>
                  <a:ea typeface="黑体" pitchFamily="2" charset="-122"/>
                </a:rPr>
                <a:t>,</a:t>
              </a:r>
              <a:r>
                <a:rPr lang="en-US" altLang="zh-CN" sz="1600" b="1" i="1">
                  <a:effectLst>
                    <a:outerShdw blurRad="38100" dist="38100" dir="2700000" algn="tl">
                      <a:srgbClr val="C0C0C0"/>
                    </a:outerShdw>
                  </a:effectLst>
                  <a:latin typeface="Times New Roman" pitchFamily="18" charset="0"/>
                  <a:ea typeface="黑体" pitchFamily="2" charset="-122"/>
                </a:rPr>
                <a:t>y</a:t>
              </a:r>
              <a:r>
                <a:rPr lang="en-US" altLang="zh-CN" sz="1600" b="1">
                  <a:effectLst>
                    <a:outerShdw blurRad="38100" dist="38100" dir="2700000" algn="tl">
                      <a:srgbClr val="C0C0C0"/>
                    </a:outerShdw>
                  </a:effectLst>
                  <a:latin typeface="Times New Roman" pitchFamily="18" charset="0"/>
                  <a:ea typeface="黑体" pitchFamily="2" charset="-122"/>
                </a:rPr>
                <a:t>)</a:t>
              </a:r>
            </a:p>
          </p:txBody>
        </p:sp>
        <p:sp>
          <p:nvSpPr>
            <p:cNvPr id="689181" name="Rectangle 29"/>
            <p:cNvSpPr>
              <a:spLocks noChangeArrowheads="1"/>
            </p:cNvSpPr>
            <p:nvPr/>
          </p:nvSpPr>
          <p:spPr bwMode="auto">
            <a:xfrm>
              <a:off x="3166" y="5431"/>
              <a:ext cx="958" cy="450"/>
            </a:xfrm>
            <a:prstGeom prst="rect">
              <a:avLst/>
            </a:prstGeom>
            <a:solidFill>
              <a:srgbClr val="FFFFFF"/>
            </a:solidFill>
            <a:ln w="19050">
              <a:solidFill>
                <a:srgbClr val="000000"/>
              </a:solidFill>
              <a:miter lim="800000"/>
              <a:headEnd/>
              <a:tailEnd/>
            </a:ln>
          </p:spPr>
          <p:txBody>
            <a:bodyPr/>
            <a:lstStyle/>
            <a:p>
              <a:pPr algn="ctr">
                <a:defRPr/>
              </a:pPr>
              <a:r>
                <a:rPr lang="en-US" altLang="zh-CN" sz="1600" b="1" i="1">
                  <a:effectLst>
                    <a:outerShdw blurRad="38100" dist="38100" dir="2700000" algn="tl">
                      <a:srgbClr val="C0C0C0"/>
                    </a:outerShdw>
                  </a:effectLst>
                  <a:latin typeface="Times New Roman" pitchFamily="18" charset="0"/>
                  <a:ea typeface="黑体" pitchFamily="2" charset="-122"/>
                </a:rPr>
                <a:t>ASF</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89182" name="Rectangle 30"/>
            <p:cNvSpPr>
              <a:spLocks noChangeArrowheads="1"/>
            </p:cNvSpPr>
            <p:nvPr/>
          </p:nvSpPr>
          <p:spPr bwMode="auto">
            <a:xfrm>
              <a:off x="3150" y="6391"/>
              <a:ext cx="960" cy="450"/>
            </a:xfrm>
            <a:prstGeom prst="rect">
              <a:avLst/>
            </a:prstGeom>
            <a:solidFill>
              <a:srgbClr val="FFFFFF"/>
            </a:solidFill>
            <a:ln w="19050">
              <a:solidFill>
                <a:srgbClr val="000000"/>
              </a:solidFill>
              <a:miter lim="800000"/>
              <a:headEnd/>
              <a:tailEnd/>
            </a:ln>
          </p:spPr>
          <p:txBody>
            <a:bodyPr/>
            <a:lstStyle/>
            <a:p>
              <a:pPr algn="ctr">
                <a:defRPr/>
              </a:pPr>
              <a:r>
                <a:rPr lang="en-US" altLang="zh-CN" sz="1600" b="1" i="1">
                  <a:effectLst>
                    <a:outerShdw blurRad="38100" dist="38100" dir="2700000" algn="tl">
                      <a:srgbClr val="C0C0C0"/>
                    </a:outerShdw>
                  </a:effectLst>
                  <a:latin typeface="Times New Roman" pitchFamily="18" charset="0"/>
                  <a:ea typeface="黑体" pitchFamily="2" charset="-122"/>
                </a:rPr>
                <a:t>PSF</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132129" name="Freeform 31"/>
            <p:cNvSpPr>
              <a:spLocks/>
            </p:cNvSpPr>
            <p:nvPr/>
          </p:nvSpPr>
          <p:spPr bwMode="auto">
            <a:xfrm>
              <a:off x="6825" y="4035"/>
              <a:ext cx="1890" cy="3840"/>
            </a:xfrm>
            <a:custGeom>
              <a:avLst/>
              <a:gdLst>
                <a:gd name="T0" fmla="*/ 0 w 2055"/>
                <a:gd name="T1" fmla="*/ 0 h 3840"/>
                <a:gd name="T2" fmla="*/ 1598 w 2055"/>
                <a:gd name="T3" fmla="*/ 0 h 3840"/>
                <a:gd name="T4" fmla="*/ 1598 w 2055"/>
                <a:gd name="T5" fmla="*/ 3840 h 3840"/>
                <a:gd name="T6" fmla="*/ 12 w 2055"/>
                <a:gd name="T7" fmla="*/ 3840 h 3840"/>
                <a:gd name="T8" fmla="*/ 0 60000 65536"/>
                <a:gd name="T9" fmla="*/ 0 60000 65536"/>
                <a:gd name="T10" fmla="*/ 0 60000 65536"/>
                <a:gd name="T11" fmla="*/ 0 60000 65536"/>
                <a:gd name="T12" fmla="*/ 0 w 2055"/>
                <a:gd name="T13" fmla="*/ 0 h 3840"/>
                <a:gd name="T14" fmla="*/ 2055 w 2055"/>
                <a:gd name="T15" fmla="*/ 3840 h 3840"/>
              </a:gdLst>
              <a:ahLst/>
              <a:cxnLst>
                <a:cxn ang="T8">
                  <a:pos x="T0" y="T1"/>
                </a:cxn>
                <a:cxn ang="T9">
                  <a:pos x="T2" y="T3"/>
                </a:cxn>
                <a:cxn ang="T10">
                  <a:pos x="T4" y="T5"/>
                </a:cxn>
                <a:cxn ang="T11">
                  <a:pos x="T6" y="T7"/>
                </a:cxn>
              </a:cxnLst>
              <a:rect l="T12" t="T13" r="T14" b="T15"/>
              <a:pathLst>
                <a:path w="2055" h="3840">
                  <a:moveTo>
                    <a:pt x="0" y="0"/>
                  </a:moveTo>
                  <a:lnTo>
                    <a:pt x="2055" y="0"/>
                  </a:lnTo>
                  <a:lnTo>
                    <a:pt x="2055" y="3840"/>
                  </a:lnTo>
                  <a:lnTo>
                    <a:pt x="15" y="3840"/>
                  </a:lnTo>
                </a:path>
              </a:pathLst>
            </a:custGeom>
            <a:noFill/>
            <a:ln w="12700">
              <a:solidFill>
                <a:srgbClr val="000000"/>
              </a:solidFill>
              <a:round/>
              <a:headEnd/>
              <a:tailEnd type="stealth" w="med" len="lg"/>
            </a:ln>
          </p:spPr>
          <p:txBody>
            <a:bodyPr/>
            <a:lstStyle/>
            <a:p>
              <a:endParaRPr lang="zh-CN" altLang="en-US"/>
            </a:p>
          </p:txBody>
        </p:sp>
        <p:sp>
          <p:nvSpPr>
            <p:cNvPr id="689184" name="Text Box 32"/>
            <p:cNvSpPr txBox="1">
              <a:spLocks noChangeArrowheads="1"/>
            </p:cNvSpPr>
            <p:nvPr/>
          </p:nvSpPr>
          <p:spPr bwMode="auto">
            <a:xfrm>
              <a:off x="8550" y="5265"/>
              <a:ext cx="705" cy="2175"/>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剪切干涉相关</a:t>
              </a:r>
            </a:p>
          </p:txBody>
        </p:sp>
        <p:sp>
          <p:nvSpPr>
            <p:cNvPr id="132131" name="Freeform 33"/>
            <p:cNvSpPr>
              <a:spLocks/>
            </p:cNvSpPr>
            <p:nvPr/>
          </p:nvSpPr>
          <p:spPr bwMode="auto">
            <a:xfrm>
              <a:off x="3645" y="4008"/>
              <a:ext cx="1800" cy="435"/>
            </a:xfrm>
            <a:custGeom>
              <a:avLst/>
              <a:gdLst>
                <a:gd name="T0" fmla="*/ 1800 w 1800"/>
                <a:gd name="T1" fmla="*/ 0 h 345"/>
                <a:gd name="T2" fmla="*/ 0 w 1800"/>
                <a:gd name="T3" fmla="*/ 0 h 345"/>
                <a:gd name="T4" fmla="*/ 0 w 1800"/>
                <a:gd name="T5" fmla="*/ 691 h 345"/>
                <a:gd name="T6" fmla="*/ 0 60000 65536"/>
                <a:gd name="T7" fmla="*/ 0 60000 65536"/>
                <a:gd name="T8" fmla="*/ 0 60000 65536"/>
                <a:gd name="T9" fmla="*/ 0 w 1800"/>
                <a:gd name="T10" fmla="*/ 0 h 345"/>
                <a:gd name="T11" fmla="*/ 1800 w 1800"/>
                <a:gd name="T12" fmla="*/ 345 h 345"/>
              </a:gdLst>
              <a:ahLst/>
              <a:cxnLst>
                <a:cxn ang="T6">
                  <a:pos x="T0" y="T1"/>
                </a:cxn>
                <a:cxn ang="T7">
                  <a:pos x="T2" y="T3"/>
                </a:cxn>
                <a:cxn ang="T8">
                  <a:pos x="T4" y="T5"/>
                </a:cxn>
              </a:cxnLst>
              <a:rect l="T9" t="T10" r="T11" b="T12"/>
              <a:pathLst>
                <a:path w="1800" h="345">
                  <a:moveTo>
                    <a:pt x="1800" y="0"/>
                  </a:moveTo>
                  <a:lnTo>
                    <a:pt x="0" y="0"/>
                  </a:lnTo>
                  <a:lnTo>
                    <a:pt x="0" y="345"/>
                  </a:lnTo>
                </a:path>
              </a:pathLst>
            </a:custGeom>
            <a:noFill/>
            <a:ln w="12700">
              <a:solidFill>
                <a:srgbClr val="000000"/>
              </a:solidFill>
              <a:round/>
              <a:headEnd/>
              <a:tailEnd type="stealth" w="med" len="lg"/>
            </a:ln>
          </p:spPr>
          <p:txBody>
            <a:bodyPr/>
            <a:lstStyle/>
            <a:p>
              <a:endParaRPr lang="zh-CN" altLang="en-US"/>
            </a:p>
          </p:txBody>
        </p:sp>
        <p:sp>
          <p:nvSpPr>
            <p:cNvPr id="689186" name="Rectangle 34"/>
            <p:cNvSpPr>
              <a:spLocks noChangeArrowheads="1"/>
            </p:cNvSpPr>
            <p:nvPr/>
          </p:nvSpPr>
          <p:spPr bwMode="auto">
            <a:xfrm>
              <a:off x="3735" y="3555"/>
              <a:ext cx="1424" cy="466"/>
            </a:xfrm>
            <a:prstGeom prst="rect">
              <a:avLst/>
            </a:prstGeom>
            <a:noFill/>
            <a:ln w="19050">
              <a:no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干涉测波差</a:t>
              </a:r>
            </a:p>
          </p:txBody>
        </p:sp>
        <p:sp>
          <p:nvSpPr>
            <p:cNvPr id="132133" name="Freeform 35"/>
            <p:cNvSpPr>
              <a:spLocks/>
            </p:cNvSpPr>
            <p:nvPr/>
          </p:nvSpPr>
          <p:spPr bwMode="auto">
            <a:xfrm>
              <a:off x="2745" y="4680"/>
              <a:ext cx="2580" cy="3105"/>
            </a:xfrm>
            <a:custGeom>
              <a:avLst/>
              <a:gdLst>
                <a:gd name="T0" fmla="*/ 390 w 2580"/>
                <a:gd name="T1" fmla="*/ 0 h 3105"/>
                <a:gd name="T2" fmla="*/ 0 w 2580"/>
                <a:gd name="T3" fmla="*/ 0 h 3105"/>
                <a:gd name="T4" fmla="*/ 0 w 2580"/>
                <a:gd name="T5" fmla="*/ 3105 h 3105"/>
                <a:gd name="T6" fmla="*/ 2580 w 2580"/>
                <a:gd name="T7" fmla="*/ 3105 h 3105"/>
                <a:gd name="T8" fmla="*/ 0 60000 65536"/>
                <a:gd name="T9" fmla="*/ 0 60000 65536"/>
                <a:gd name="T10" fmla="*/ 0 60000 65536"/>
                <a:gd name="T11" fmla="*/ 0 60000 65536"/>
                <a:gd name="T12" fmla="*/ 0 w 2580"/>
                <a:gd name="T13" fmla="*/ 0 h 3105"/>
                <a:gd name="T14" fmla="*/ 2580 w 2580"/>
                <a:gd name="T15" fmla="*/ 3105 h 3105"/>
              </a:gdLst>
              <a:ahLst/>
              <a:cxnLst>
                <a:cxn ang="T8">
                  <a:pos x="T0" y="T1"/>
                </a:cxn>
                <a:cxn ang="T9">
                  <a:pos x="T2" y="T3"/>
                </a:cxn>
                <a:cxn ang="T10">
                  <a:pos x="T4" y="T5"/>
                </a:cxn>
                <a:cxn ang="T11">
                  <a:pos x="T6" y="T7"/>
                </a:cxn>
              </a:cxnLst>
              <a:rect l="T12" t="T13" r="T14" b="T15"/>
              <a:pathLst>
                <a:path w="2580" h="3105">
                  <a:moveTo>
                    <a:pt x="390" y="0"/>
                  </a:moveTo>
                  <a:lnTo>
                    <a:pt x="0" y="0"/>
                  </a:lnTo>
                  <a:lnTo>
                    <a:pt x="0" y="3105"/>
                  </a:lnTo>
                  <a:lnTo>
                    <a:pt x="2580" y="3105"/>
                  </a:lnTo>
                </a:path>
              </a:pathLst>
            </a:custGeom>
            <a:noFill/>
            <a:ln w="12700">
              <a:solidFill>
                <a:srgbClr val="000000"/>
              </a:solidFill>
              <a:round/>
              <a:headEnd/>
              <a:tailEnd type="stealth" w="med" len="lg"/>
            </a:ln>
          </p:spPr>
          <p:txBody>
            <a:bodyPr/>
            <a:lstStyle/>
            <a:p>
              <a:endParaRPr lang="zh-CN" altLang="en-US"/>
            </a:p>
          </p:txBody>
        </p:sp>
        <p:sp>
          <p:nvSpPr>
            <p:cNvPr id="689188" name="Text Box 36"/>
            <p:cNvSpPr txBox="1">
              <a:spLocks noChangeArrowheads="1"/>
            </p:cNvSpPr>
            <p:nvPr/>
          </p:nvSpPr>
          <p:spPr bwMode="auto">
            <a:xfrm>
              <a:off x="2070" y="5670"/>
              <a:ext cx="750" cy="1290"/>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自相关</a:t>
              </a:r>
            </a:p>
          </p:txBody>
        </p:sp>
        <p:sp>
          <p:nvSpPr>
            <p:cNvPr id="132135" name="Line 37"/>
            <p:cNvSpPr>
              <a:spLocks noChangeShapeType="1"/>
            </p:cNvSpPr>
            <p:nvPr/>
          </p:nvSpPr>
          <p:spPr bwMode="auto">
            <a:xfrm>
              <a:off x="3645" y="4920"/>
              <a:ext cx="0" cy="480"/>
            </a:xfrm>
            <a:prstGeom prst="line">
              <a:avLst/>
            </a:prstGeom>
            <a:noFill/>
            <a:ln w="12700">
              <a:solidFill>
                <a:srgbClr val="000000"/>
              </a:solidFill>
              <a:round/>
              <a:headEnd/>
              <a:tailEnd type="stealth" w="med" len="lg"/>
            </a:ln>
          </p:spPr>
          <p:txBody>
            <a:bodyPr/>
            <a:lstStyle/>
            <a:p>
              <a:endParaRPr lang="zh-CN" altLang="en-US"/>
            </a:p>
          </p:txBody>
        </p:sp>
        <p:sp>
          <p:nvSpPr>
            <p:cNvPr id="689190" name="Rectangle 38"/>
            <p:cNvSpPr>
              <a:spLocks noChangeArrowheads="1"/>
            </p:cNvSpPr>
            <p:nvPr/>
          </p:nvSpPr>
          <p:spPr bwMode="auto">
            <a:xfrm>
              <a:off x="3646" y="4920"/>
              <a:ext cx="1424" cy="464"/>
            </a:xfrm>
            <a:prstGeom prst="rect">
              <a:avLst/>
            </a:prstGeom>
            <a:noFill/>
            <a:ln w="19050">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ea typeface="黑体" pitchFamily="2" charset="-122"/>
                </a:rPr>
                <a:t>FT</a:t>
              </a:r>
            </a:p>
          </p:txBody>
        </p:sp>
        <p:sp>
          <p:nvSpPr>
            <p:cNvPr id="132137" name="Line 39"/>
            <p:cNvSpPr>
              <a:spLocks noChangeShapeType="1"/>
            </p:cNvSpPr>
            <p:nvPr/>
          </p:nvSpPr>
          <p:spPr bwMode="auto">
            <a:xfrm>
              <a:off x="3645" y="5895"/>
              <a:ext cx="0" cy="480"/>
            </a:xfrm>
            <a:prstGeom prst="line">
              <a:avLst/>
            </a:prstGeom>
            <a:noFill/>
            <a:ln w="12700">
              <a:solidFill>
                <a:srgbClr val="000000"/>
              </a:solidFill>
              <a:round/>
              <a:headEnd/>
              <a:tailEnd type="stealth" w="med" len="lg"/>
            </a:ln>
          </p:spPr>
          <p:txBody>
            <a:bodyPr/>
            <a:lstStyle/>
            <a:p>
              <a:endParaRPr lang="zh-CN" altLang="en-US"/>
            </a:p>
          </p:txBody>
        </p:sp>
        <p:sp>
          <p:nvSpPr>
            <p:cNvPr id="689192" name="Rectangle 40"/>
            <p:cNvSpPr>
              <a:spLocks noChangeArrowheads="1"/>
            </p:cNvSpPr>
            <p:nvPr/>
          </p:nvSpPr>
          <p:spPr bwMode="auto">
            <a:xfrm>
              <a:off x="2939" y="5911"/>
              <a:ext cx="1426" cy="464"/>
            </a:xfrm>
            <a:prstGeom prst="rect">
              <a:avLst/>
            </a:prstGeom>
            <a:noFill/>
            <a:ln w="19050">
              <a:noFill/>
              <a:miter lim="800000"/>
              <a:headEnd/>
              <a:tailEnd/>
            </a:ln>
          </p:spPr>
          <p:txBody>
            <a:bodyPr/>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平方</a:t>
              </a:r>
            </a:p>
          </p:txBody>
        </p:sp>
        <p:sp>
          <p:nvSpPr>
            <p:cNvPr id="132139" name="Freeform 41"/>
            <p:cNvSpPr>
              <a:spLocks/>
            </p:cNvSpPr>
            <p:nvPr/>
          </p:nvSpPr>
          <p:spPr bwMode="auto">
            <a:xfrm>
              <a:off x="3645" y="6840"/>
              <a:ext cx="1680" cy="720"/>
            </a:xfrm>
            <a:custGeom>
              <a:avLst/>
              <a:gdLst>
                <a:gd name="T0" fmla="*/ 0 w 1680"/>
                <a:gd name="T1" fmla="*/ 0 h 600"/>
                <a:gd name="T2" fmla="*/ 0 w 1680"/>
                <a:gd name="T3" fmla="*/ 1037 h 600"/>
                <a:gd name="T4" fmla="*/ 1680 w 1680"/>
                <a:gd name="T5" fmla="*/ 1037 h 600"/>
                <a:gd name="T6" fmla="*/ 0 60000 65536"/>
                <a:gd name="T7" fmla="*/ 0 60000 65536"/>
                <a:gd name="T8" fmla="*/ 0 60000 65536"/>
                <a:gd name="T9" fmla="*/ 0 w 1680"/>
                <a:gd name="T10" fmla="*/ 0 h 600"/>
                <a:gd name="T11" fmla="*/ 1680 w 1680"/>
                <a:gd name="T12" fmla="*/ 600 h 600"/>
              </a:gdLst>
              <a:ahLst/>
              <a:cxnLst>
                <a:cxn ang="T6">
                  <a:pos x="T0" y="T1"/>
                </a:cxn>
                <a:cxn ang="T7">
                  <a:pos x="T2" y="T3"/>
                </a:cxn>
                <a:cxn ang="T8">
                  <a:pos x="T4" y="T5"/>
                </a:cxn>
              </a:cxnLst>
              <a:rect l="T9" t="T10" r="T11" b="T12"/>
              <a:pathLst>
                <a:path w="1680" h="600">
                  <a:moveTo>
                    <a:pt x="0" y="0"/>
                  </a:moveTo>
                  <a:lnTo>
                    <a:pt x="0" y="600"/>
                  </a:lnTo>
                  <a:lnTo>
                    <a:pt x="1680" y="600"/>
                  </a:lnTo>
                </a:path>
              </a:pathLst>
            </a:custGeom>
            <a:noFill/>
            <a:ln w="12700">
              <a:solidFill>
                <a:srgbClr val="000000"/>
              </a:solidFill>
              <a:round/>
              <a:headEnd/>
              <a:tailEnd type="stealth" w="med" len="lg"/>
            </a:ln>
          </p:spPr>
          <p:txBody>
            <a:bodyPr/>
            <a:lstStyle/>
            <a:p>
              <a:endParaRPr lang="zh-CN" altLang="en-US"/>
            </a:p>
          </p:txBody>
        </p:sp>
        <p:sp>
          <p:nvSpPr>
            <p:cNvPr id="689194" name="Rectangle 42"/>
            <p:cNvSpPr>
              <a:spLocks noChangeArrowheads="1"/>
            </p:cNvSpPr>
            <p:nvPr/>
          </p:nvSpPr>
          <p:spPr bwMode="auto">
            <a:xfrm>
              <a:off x="3630" y="6899"/>
              <a:ext cx="1426" cy="466"/>
            </a:xfrm>
            <a:prstGeom prst="rect">
              <a:avLst/>
            </a:prstGeom>
            <a:noFill/>
            <a:ln w="19050">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ea typeface="黑体" pitchFamily="2" charset="-122"/>
                </a:rPr>
                <a:t>FT</a:t>
              </a:r>
            </a:p>
          </p:txBody>
        </p:sp>
        <p:sp>
          <p:nvSpPr>
            <p:cNvPr id="132141" name="Freeform 43"/>
            <p:cNvSpPr>
              <a:spLocks/>
            </p:cNvSpPr>
            <p:nvPr/>
          </p:nvSpPr>
          <p:spPr bwMode="auto">
            <a:xfrm>
              <a:off x="4887" y="5160"/>
              <a:ext cx="435" cy="2145"/>
            </a:xfrm>
            <a:custGeom>
              <a:avLst/>
              <a:gdLst>
                <a:gd name="T0" fmla="*/ 15 w 435"/>
                <a:gd name="T1" fmla="*/ 0 h 2145"/>
                <a:gd name="T2" fmla="*/ 0 w 435"/>
                <a:gd name="T3" fmla="*/ 2145 h 2145"/>
                <a:gd name="T4" fmla="*/ 435 w 435"/>
                <a:gd name="T5" fmla="*/ 2145 h 2145"/>
                <a:gd name="T6" fmla="*/ 0 60000 65536"/>
                <a:gd name="T7" fmla="*/ 0 60000 65536"/>
                <a:gd name="T8" fmla="*/ 0 60000 65536"/>
                <a:gd name="T9" fmla="*/ 0 w 435"/>
                <a:gd name="T10" fmla="*/ 0 h 2145"/>
                <a:gd name="T11" fmla="*/ 435 w 435"/>
                <a:gd name="T12" fmla="*/ 2145 h 2145"/>
              </a:gdLst>
              <a:ahLst/>
              <a:cxnLst>
                <a:cxn ang="T6">
                  <a:pos x="T0" y="T1"/>
                </a:cxn>
                <a:cxn ang="T7">
                  <a:pos x="T2" y="T3"/>
                </a:cxn>
                <a:cxn ang="T8">
                  <a:pos x="T4" y="T5"/>
                </a:cxn>
              </a:cxnLst>
              <a:rect l="T9" t="T10" r="T11" b="T12"/>
              <a:pathLst>
                <a:path w="435" h="2145">
                  <a:moveTo>
                    <a:pt x="15" y="0"/>
                  </a:moveTo>
                  <a:lnTo>
                    <a:pt x="0" y="2145"/>
                  </a:lnTo>
                  <a:lnTo>
                    <a:pt x="435" y="2145"/>
                  </a:lnTo>
                </a:path>
              </a:pathLst>
            </a:custGeom>
            <a:noFill/>
            <a:ln w="12700">
              <a:solidFill>
                <a:srgbClr val="000000"/>
              </a:solidFill>
              <a:round/>
              <a:headEnd/>
              <a:tailEnd type="stealth" w="med" len="lg"/>
            </a:ln>
          </p:spPr>
          <p:txBody>
            <a:bodyPr/>
            <a:lstStyle/>
            <a:p>
              <a:endParaRPr lang="zh-CN" altLang="en-US"/>
            </a:p>
          </p:txBody>
        </p:sp>
        <p:sp>
          <p:nvSpPr>
            <p:cNvPr id="689196" name="Text Box 44"/>
            <p:cNvSpPr txBox="1">
              <a:spLocks noChangeArrowheads="1"/>
            </p:cNvSpPr>
            <p:nvPr/>
          </p:nvSpPr>
          <p:spPr bwMode="auto">
            <a:xfrm>
              <a:off x="4604" y="5534"/>
              <a:ext cx="785" cy="1892"/>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余弦光栅扫描</a:t>
              </a:r>
            </a:p>
          </p:txBody>
        </p:sp>
        <p:sp>
          <p:nvSpPr>
            <p:cNvPr id="132143" name="Freeform 45"/>
            <p:cNvSpPr>
              <a:spLocks/>
            </p:cNvSpPr>
            <p:nvPr/>
          </p:nvSpPr>
          <p:spPr bwMode="auto">
            <a:xfrm>
              <a:off x="3900" y="5160"/>
              <a:ext cx="690" cy="1200"/>
            </a:xfrm>
            <a:custGeom>
              <a:avLst/>
              <a:gdLst>
                <a:gd name="T0" fmla="*/ 690 w 690"/>
                <a:gd name="T1" fmla="*/ 0 h 1200"/>
                <a:gd name="T2" fmla="*/ 690 w 690"/>
                <a:gd name="T3" fmla="*/ 960 h 1200"/>
                <a:gd name="T4" fmla="*/ 0 w 690"/>
                <a:gd name="T5" fmla="*/ 960 h 1200"/>
                <a:gd name="T6" fmla="*/ 0 w 690"/>
                <a:gd name="T7" fmla="*/ 1200 h 1200"/>
                <a:gd name="T8" fmla="*/ 0 60000 65536"/>
                <a:gd name="T9" fmla="*/ 0 60000 65536"/>
                <a:gd name="T10" fmla="*/ 0 60000 65536"/>
                <a:gd name="T11" fmla="*/ 0 60000 65536"/>
                <a:gd name="T12" fmla="*/ 0 w 690"/>
                <a:gd name="T13" fmla="*/ 0 h 1200"/>
                <a:gd name="T14" fmla="*/ 690 w 690"/>
                <a:gd name="T15" fmla="*/ 1200 h 1200"/>
              </a:gdLst>
              <a:ahLst/>
              <a:cxnLst>
                <a:cxn ang="T8">
                  <a:pos x="T0" y="T1"/>
                </a:cxn>
                <a:cxn ang="T9">
                  <a:pos x="T2" y="T3"/>
                </a:cxn>
                <a:cxn ang="T10">
                  <a:pos x="T4" y="T5"/>
                </a:cxn>
                <a:cxn ang="T11">
                  <a:pos x="T6" y="T7"/>
                </a:cxn>
              </a:cxnLst>
              <a:rect l="T12" t="T13" r="T14" b="T15"/>
              <a:pathLst>
                <a:path w="690" h="1200">
                  <a:moveTo>
                    <a:pt x="690" y="0"/>
                  </a:moveTo>
                  <a:lnTo>
                    <a:pt x="690" y="960"/>
                  </a:lnTo>
                  <a:lnTo>
                    <a:pt x="0" y="960"/>
                  </a:lnTo>
                  <a:lnTo>
                    <a:pt x="0" y="1200"/>
                  </a:lnTo>
                </a:path>
              </a:pathLst>
            </a:custGeom>
            <a:noFill/>
            <a:ln w="12700">
              <a:solidFill>
                <a:srgbClr val="000000"/>
              </a:solidFill>
              <a:round/>
              <a:headEnd/>
              <a:tailEnd type="stealth" w="med" len="lg"/>
            </a:ln>
          </p:spPr>
          <p:txBody>
            <a:bodyPr/>
            <a:lstStyle/>
            <a:p>
              <a:endParaRPr lang="zh-CN" altLang="en-US"/>
            </a:p>
          </p:txBody>
        </p:sp>
        <p:sp>
          <p:nvSpPr>
            <p:cNvPr id="132144" name="Freeform 46"/>
            <p:cNvSpPr>
              <a:spLocks/>
            </p:cNvSpPr>
            <p:nvPr/>
          </p:nvSpPr>
          <p:spPr bwMode="auto">
            <a:xfrm>
              <a:off x="4875" y="4155"/>
              <a:ext cx="570" cy="540"/>
            </a:xfrm>
            <a:custGeom>
              <a:avLst/>
              <a:gdLst>
                <a:gd name="T0" fmla="*/ 570 w 570"/>
                <a:gd name="T1" fmla="*/ 0 h 540"/>
                <a:gd name="T2" fmla="*/ 0 w 570"/>
                <a:gd name="T3" fmla="*/ 0 h 540"/>
                <a:gd name="T4" fmla="*/ 0 w 570"/>
                <a:gd name="T5" fmla="*/ 540 h 540"/>
                <a:gd name="T6" fmla="*/ 0 60000 65536"/>
                <a:gd name="T7" fmla="*/ 0 60000 65536"/>
                <a:gd name="T8" fmla="*/ 0 60000 65536"/>
                <a:gd name="T9" fmla="*/ 0 w 570"/>
                <a:gd name="T10" fmla="*/ 0 h 540"/>
                <a:gd name="T11" fmla="*/ 570 w 570"/>
                <a:gd name="T12" fmla="*/ 540 h 540"/>
              </a:gdLst>
              <a:ahLst/>
              <a:cxnLst>
                <a:cxn ang="T6">
                  <a:pos x="T0" y="T1"/>
                </a:cxn>
                <a:cxn ang="T7">
                  <a:pos x="T2" y="T3"/>
                </a:cxn>
                <a:cxn ang="T8">
                  <a:pos x="T4" y="T5"/>
                </a:cxn>
              </a:cxnLst>
              <a:rect l="T9" t="T10" r="T11" b="T12"/>
              <a:pathLst>
                <a:path w="570" h="540">
                  <a:moveTo>
                    <a:pt x="570" y="0"/>
                  </a:moveTo>
                  <a:lnTo>
                    <a:pt x="0" y="0"/>
                  </a:lnTo>
                  <a:lnTo>
                    <a:pt x="0" y="540"/>
                  </a:lnTo>
                </a:path>
              </a:pathLst>
            </a:custGeom>
            <a:noFill/>
            <a:ln w="12700">
              <a:solidFill>
                <a:srgbClr val="000000"/>
              </a:solidFill>
              <a:round/>
              <a:headEnd/>
              <a:tailEnd type="stealth" w="med" len="lg"/>
            </a:ln>
          </p:spPr>
          <p:txBody>
            <a:bodyPr/>
            <a:lstStyle/>
            <a:p>
              <a:endParaRPr lang="zh-CN" altLang="en-US"/>
            </a:p>
          </p:txBody>
        </p:sp>
        <p:sp>
          <p:nvSpPr>
            <p:cNvPr id="132145" name="Freeform 47"/>
            <p:cNvSpPr>
              <a:spLocks/>
            </p:cNvSpPr>
            <p:nvPr/>
          </p:nvSpPr>
          <p:spPr bwMode="auto">
            <a:xfrm>
              <a:off x="5295" y="5175"/>
              <a:ext cx="315" cy="1275"/>
            </a:xfrm>
            <a:custGeom>
              <a:avLst/>
              <a:gdLst>
                <a:gd name="T0" fmla="*/ 0 w 315"/>
                <a:gd name="T1" fmla="*/ 0 h 1275"/>
                <a:gd name="T2" fmla="*/ 0 w 315"/>
                <a:gd name="T3" fmla="*/ 1275 h 1275"/>
                <a:gd name="T4" fmla="*/ 315 w 315"/>
                <a:gd name="T5" fmla="*/ 1275 h 1275"/>
                <a:gd name="T6" fmla="*/ 0 60000 65536"/>
                <a:gd name="T7" fmla="*/ 0 60000 65536"/>
                <a:gd name="T8" fmla="*/ 0 60000 65536"/>
                <a:gd name="T9" fmla="*/ 0 w 315"/>
                <a:gd name="T10" fmla="*/ 0 h 1275"/>
                <a:gd name="T11" fmla="*/ 315 w 315"/>
                <a:gd name="T12" fmla="*/ 1275 h 1275"/>
              </a:gdLst>
              <a:ahLst/>
              <a:cxnLst>
                <a:cxn ang="T6">
                  <a:pos x="T0" y="T1"/>
                </a:cxn>
                <a:cxn ang="T7">
                  <a:pos x="T2" y="T3"/>
                </a:cxn>
                <a:cxn ang="T8">
                  <a:pos x="T4" y="T5"/>
                </a:cxn>
              </a:cxnLst>
              <a:rect l="T9" t="T10" r="T11" b="T12"/>
              <a:pathLst>
                <a:path w="315" h="1275">
                  <a:moveTo>
                    <a:pt x="0" y="0"/>
                  </a:moveTo>
                  <a:lnTo>
                    <a:pt x="0" y="1275"/>
                  </a:lnTo>
                  <a:lnTo>
                    <a:pt x="315" y="1275"/>
                  </a:lnTo>
                </a:path>
              </a:pathLst>
            </a:custGeom>
            <a:noFill/>
            <a:ln w="12700">
              <a:solidFill>
                <a:srgbClr val="000000"/>
              </a:solidFill>
              <a:round/>
              <a:headEnd/>
              <a:tailEnd type="stealth" w="med" len="lg"/>
            </a:ln>
          </p:spPr>
          <p:txBody>
            <a:bodyPr/>
            <a:lstStyle/>
            <a:p>
              <a:endParaRPr lang="zh-CN" altLang="en-US"/>
            </a:p>
          </p:txBody>
        </p:sp>
        <p:sp>
          <p:nvSpPr>
            <p:cNvPr id="689200" name="Text Box 48"/>
            <p:cNvSpPr txBox="1">
              <a:spLocks noChangeArrowheads="1"/>
            </p:cNvSpPr>
            <p:nvPr/>
          </p:nvSpPr>
          <p:spPr bwMode="auto">
            <a:xfrm>
              <a:off x="5009" y="5295"/>
              <a:ext cx="785" cy="1890"/>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狭缝扫描</a:t>
              </a:r>
            </a:p>
          </p:txBody>
        </p:sp>
        <p:sp>
          <p:nvSpPr>
            <p:cNvPr id="132147" name="Line 49"/>
            <p:cNvSpPr>
              <a:spLocks noChangeShapeType="1"/>
            </p:cNvSpPr>
            <p:nvPr/>
          </p:nvSpPr>
          <p:spPr bwMode="auto">
            <a:xfrm>
              <a:off x="6072" y="4335"/>
              <a:ext cx="0" cy="345"/>
            </a:xfrm>
            <a:prstGeom prst="line">
              <a:avLst/>
            </a:prstGeom>
            <a:noFill/>
            <a:ln w="12700">
              <a:solidFill>
                <a:srgbClr val="000000"/>
              </a:solidFill>
              <a:round/>
              <a:headEnd/>
              <a:tailEnd type="stealth" w="med" len="lg"/>
            </a:ln>
          </p:spPr>
          <p:txBody>
            <a:bodyPr/>
            <a:lstStyle/>
            <a:p>
              <a:endParaRPr lang="zh-CN" altLang="en-US"/>
            </a:p>
          </p:txBody>
        </p:sp>
        <p:sp>
          <p:nvSpPr>
            <p:cNvPr id="132148" name="Line 50"/>
            <p:cNvSpPr>
              <a:spLocks noChangeShapeType="1"/>
            </p:cNvSpPr>
            <p:nvPr/>
          </p:nvSpPr>
          <p:spPr bwMode="auto">
            <a:xfrm>
              <a:off x="6087" y="5160"/>
              <a:ext cx="0" cy="1050"/>
            </a:xfrm>
            <a:prstGeom prst="line">
              <a:avLst/>
            </a:prstGeom>
            <a:noFill/>
            <a:ln w="12700">
              <a:solidFill>
                <a:srgbClr val="000000"/>
              </a:solidFill>
              <a:round/>
              <a:headEnd/>
              <a:tailEnd type="stealth" w="med" len="lg"/>
            </a:ln>
          </p:spPr>
          <p:txBody>
            <a:bodyPr/>
            <a:lstStyle/>
            <a:p>
              <a:endParaRPr lang="zh-CN" altLang="en-US"/>
            </a:p>
          </p:txBody>
        </p:sp>
        <p:sp>
          <p:nvSpPr>
            <p:cNvPr id="689203" name="Text Box 51"/>
            <p:cNvSpPr txBox="1">
              <a:spLocks noChangeArrowheads="1"/>
            </p:cNvSpPr>
            <p:nvPr/>
          </p:nvSpPr>
          <p:spPr bwMode="auto">
            <a:xfrm>
              <a:off x="5745" y="5400"/>
              <a:ext cx="844" cy="930"/>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微分</a:t>
              </a:r>
            </a:p>
          </p:txBody>
        </p:sp>
        <p:sp>
          <p:nvSpPr>
            <p:cNvPr id="132150" name="Line 52"/>
            <p:cNvSpPr>
              <a:spLocks noChangeShapeType="1"/>
            </p:cNvSpPr>
            <p:nvPr/>
          </p:nvSpPr>
          <p:spPr bwMode="auto">
            <a:xfrm>
              <a:off x="6102" y="6720"/>
              <a:ext cx="0" cy="435"/>
            </a:xfrm>
            <a:prstGeom prst="line">
              <a:avLst/>
            </a:prstGeom>
            <a:noFill/>
            <a:ln w="12700">
              <a:solidFill>
                <a:srgbClr val="000000"/>
              </a:solidFill>
              <a:round/>
              <a:headEnd/>
              <a:tailEnd type="stealth" w="med" len="lg"/>
            </a:ln>
          </p:spPr>
          <p:txBody>
            <a:bodyPr/>
            <a:lstStyle/>
            <a:p>
              <a:endParaRPr lang="zh-CN" altLang="en-US"/>
            </a:p>
          </p:txBody>
        </p:sp>
        <p:sp>
          <p:nvSpPr>
            <p:cNvPr id="689205" name="Rectangle 53"/>
            <p:cNvSpPr>
              <a:spLocks noChangeArrowheads="1"/>
            </p:cNvSpPr>
            <p:nvPr/>
          </p:nvSpPr>
          <p:spPr bwMode="auto">
            <a:xfrm>
              <a:off x="6091" y="6691"/>
              <a:ext cx="1424" cy="464"/>
            </a:xfrm>
            <a:prstGeom prst="rect">
              <a:avLst/>
            </a:prstGeom>
            <a:noFill/>
            <a:ln w="19050">
              <a:noFill/>
              <a:miter lim="800000"/>
              <a:headEnd/>
              <a:tailEnd/>
            </a:ln>
          </p:spPr>
          <p:txBody>
            <a:bodyPr/>
            <a:lstStyle/>
            <a:p>
              <a:pPr algn="just">
                <a:defRPr/>
              </a:pPr>
              <a:r>
                <a:rPr lang="en-US" altLang="zh-CN" sz="1600" b="1">
                  <a:effectLst>
                    <a:outerShdw blurRad="38100" dist="38100" dir="2700000" algn="tl">
                      <a:srgbClr val="C0C0C0"/>
                    </a:outerShdw>
                  </a:effectLst>
                  <a:latin typeface="Times New Roman" pitchFamily="18" charset="0"/>
                  <a:ea typeface="黑体" pitchFamily="2" charset="-122"/>
                </a:rPr>
                <a:t>FT</a:t>
              </a:r>
            </a:p>
          </p:txBody>
        </p:sp>
        <p:sp>
          <p:nvSpPr>
            <p:cNvPr id="132152" name="Freeform 54"/>
            <p:cNvSpPr>
              <a:spLocks/>
            </p:cNvSpPr>
            <p:nvPr/>
          </p:nvSpPr>
          <p:spPr bwMode="auto">
            <a:xfrm>
              <a:off x="6825" y="4185"/>
              <a:ext cx="450" cy="510"/>
            </a:xfrm>
            <a:custGeom>
              <a:avLst/>
              <a:gdLst>
                <a:gd name="T0" fmla="*/ 0 w 450"/>
                <a:gd name="T1" fmla="*/ 0 h 510"/>
                <a:gd name="T2" fmla="*/ 450 w 450"/>
                <a:gd name="T3" fmla="*/ 0 h 510"/>
                <a:gd name="T4" fmla="*/ 450 w 450"/>
                <a:gd name="T5" fmla="*/ 510 h 510"/>
                <a:gd name="T6" fmla="*/ 0 60000 65536"/>
                <a:gd name="T7" fmla="*/ 0 60000 65536"/>
                <a:gd name="T8" fmla="*/ 0 60000 65536"/>
                <a:gd name="T9" fmla="*/ 0 w 450"/>
                <a:gd name="T10" fmla="*/ 0 h 510"/>
                <a:gd name="T11" fmla="*/ 450 w 450"/>
                <a:gd name="T12" fmla="*/ 510 h 510"/>
              </a:gdLst>
              <a:ahLst/>
              <a:cxnLst>
                <a:cxn ang="T6">
                  <a:pos x="T0" y="T1"/>
                </a:cxn>
                <a:cxn ang="T7">
                  <a:pos x="T2" y="T3"/>
                </a:cxn>
                <a:cxn ang="T8">
                  <a:pos x="T4" y="T5"/>
                </a:cxn>
              </a:cxnLst>
              <a:rect l="T9" t="T10" r="T11" b="T12"/>
              <a:pathLst>
                <a:path w="450" h="510">
                  <a:moveTo>
                    <a:pt x="0" y="0"/>
                  </a:moveTo>
                  <a:lnTo>
                    <a:pt x="450" y="0"/>
                  </a:lnTo>
                  <a:lnTo>
                    <a:pt x="450" y="510"/>
                  </a:lnTo>
                </a:path>
              </a:pathLst>
            </a:custGeom>
            <a:noFill/>
            <a:ln w="12700">
              <a:solidFill>
                <a:srgbClr val="000000"/>
              </a:solidFill>
              <a:round/>
              <a:headEnd/>
              <a:tailEnd type="stealth" w="med" len="lg"/>
            </a:ln>
          </p:spPr>
          <p:txBody>
            <a:bodyPr/>
            <a:lstStyle/>
            <a:p>
              <a:endParaRPr lang="zh-CN" altLang="en-US"/>
            </a:p>
          </p:txBody>
        </p:sp>
        <p:sp>
          <p:nvSpPr>
            <p:cNvPr id="132153" name="Freeform 55"/>
            <p:cNvSpPr>
              <a:spLocks/>
            </p:cNvSpPr>
            <p:nvPr/>
          </p:nvSpPr>
          <p:spPr bwMode="auto">
            <a:xfrm>
              <a:off x="6600" y="5190"/>
              <a:ext cx="690" cy="1305"/>
            </a:xfrm>
            <a:custGeom>
              <a:avLst/>
              <a:gdLst>
                <a:gd name="T0" fmla="*/ 633 w 720"/>
                <a:gd name="T1" fmla="*/ 0 h 1305"/>
                <a:gd name="T2" fmla="*/ 633 w 720"/>
                <a:gd name="T3" fmla="*/ 1305 h 1305"/>
                <a:gd name="T4" fmla="*/ 0 w 720"/>
                <a:gd name="T5" fmla="*/ 1305 h 1305"/>
                <a:gd name="T6" fmla="*/ 0 60000 65536"/>
                <a:gd name="T7" fmla="*/ 0 60000 65536"/>
                <a:gd name="T8" fmla="*/ 0 60000 65536"/>
                <a:gd name="T9" fmla="*/ 0 w 720"/>
                <a:gd name="T10" fmla="*/ 0 h 1305"/>
                <a:gd name="T11" fmla="*/ 720 w 720"/>
                <a:gd name="T12" fmla="*/ 1305 h 1305"/>
              </a:gdLst>
              <a:ahLst/>
              <a:cxnLst>
                <a:cxn ang="T6">
                  <a:pos x="T0" y="T1"/>
                </a:cxn>
                <a:cxn ang="T7">
                  <a:pos x="T2" y="T3"/>
                </a:cxn>
                <a:cxn ang="T8">
                  <a:pos x="T4" y="T5"/>
                </a:cxn>
              </a:cxnLst>
              <a:rect l="T9" t="T10" r="T11" b="T12"/>
              <a:pathLst>
                <a:path w="720" h="1305">
                  <a:moveTo>
                    <a:pt x="720" y="0"/>
                  </a:moveTo>
                  <a:lnTo>
                    <a:pt x="720" y="1305"/>
                  </a:lnTo>
                  <a:lnTo>
                    <a:pt x="0" y="1305"/>
                  </a:lnTo>
                </a:path>
              </a:pathLst>
            </a:custGeom>
            <a:noFill/>
            <a:ln w="12700">
              <a:solidFill>
                <a:srgbClr val="000000"/>
              </a:solidFill>
              <a:round/>
              <a:headEnd/>
              <a:tailEnd type="stealth" w="med" len="lg"/>
            </a:ln>
          </p:spPr>
          <p:txBody>
            <a:bodyPr/>
            <a:lstStyle/>
            <a:p>
              <a:endParaRPr lang="zh-CN" altLang="en-US"/>
            </a:p>
          </p:txBody>
        </p:sp>
        <p:sp>
          <p:nvSpPr>
            <p:cNvPr id="689208" name="Text Box 56"/>
            <p:cNvSpPr txBox="1">
              <a:spLocks noChangeArrowheads="1"/>
            </p:cNvSpPr>
            <p:nvPr/>
          </p:nvSpPr>
          <p:spPr bwMode="auto">
            <a:xfrm>
              <a:off x="6630" y="5309"/>
              <a:ext cx="783" cy="1890"/>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狭缝扫描</a:t>
              </a:r>
            </a:p>
          </p:txBody>
        </p:sp>
        <p:sp>
          <p:nvSpPr>
            <p:cNvPr id="132155" name="Freeform 57"/>
            <p:cNvSpPr>
              <a:spLocks/>
            </p:cNvSpPr>
            <p:nvPr/>
          </p:nvSpPr>
          <p:spPr bwMode="auto">
            <a:xfrm>
              <a:off x="6840" y="4965"/>
              <a:ext cx="1410" cy="2460"/>
            </a:xfrm>
            <a:custGeom>
              <a:avLst/>
              <a:gdLst>
                <a:gd name="T0" fmla="*/ 1042 w 1350"/>
                <a:gd name="T1" fmla="*/ 0 h 2460"/>
                <a:gd name="T2" fmla="*/ 1538 w 1350"/>
                <a:gd name="T3" fmla="*/ 0 h 2460"/>
                <a:gd name="T4" fmla="*/ 1538 w 1350"/>
                <a:gd name="T5" fmla="*/ 2460 h 2460"/>
                <a:gd name="T6" fmla="*/ 0 w 1350"/>
                <a:gd name="T7" fmla="*/ 2460 h 2460"/>
                <a:gd name="T8" fmla="*/ 0 60000 65536"/>
                <a:gd name="T9" fmla="*/ 0 60000 65536"/>
                <a:gd name="T10" fmla="*/ 0 60000 65536"/>
                <a:gd name="T11" fmla="*/ 0 60000 65536"/>
                <a:gd name="T12" fmla="*/ 0 w 1350"/>
                <a:gd name="T13" fmla="*/ 0 h 2460"/>
                <a:gd name="T14" fmla="*/ 1350 w 1350"/>
                <a:gd name="T15" fmla="*/ 2460 h 2460"/>
              </a:gdLst>
              <a:ahLst/>
              <a:cxnLst>
                <a:cxn ang="T8">
                  <a:pos x="T0" y="T1"/>
                </a:cxn>
                <a:cxn ang="T9">
                  <a:pos x="T2" y="T3"/>
                </a:cxn>
                <a:cxn ang="T10">
                  <a:pos x="T4" y="T5"/>
                </a:cxn>
                <a:cxn ang="T11">
                  <a:pos x="T6" y="T7"/>
                </a:cxn>
              </a:cxnLst>
              <a:rect l="T12" t="T13" r="T14" b="T15"/>
              <a:pathLst>
                <a:path w="1350" h="2460">
                  <a:moveTo>
                    <a:pt x="915" y="0"/>
                  </a:moveTo>
                  <a:lnTo>
                    <a:pt x="1350" y="0"/>
                  </a:lnTo>
                  <a:lnTo>
                    <a:pt x="1350" y="2460"/>
                  </a:lnTo>
                  <a:lnTo>
                    <a:pt x="0" y="2460"/>
                  </a:lnTo>
                </a:path>
              </a:pathLst>
            </a:custGeom>
            <a:noFill/>
            <a:ln w="12700">
              <a:solidFill>
                <a:srgbClr val="000000"/>
              </a:solidFill>
              <a:round/>
              <a:headEnd/>
              <a:tailEnd type="stealth" w="med" len="lg"/>
            </a:ln>
          </p:spPr>
          <p:txBody>
            <a:bodyPr/>
            <a:lstStyle/>
            <a:p>
              <a:endParaRPr lang="zh-CN" altLang="en-US"/>
            </a:p>
          </p:txBody>
        </p:sp>
        <p:sp>
          <p:nvSpPr>
            <p:cNvPr id="689210" name="Text Box 58"/>
            <p:cNvSpPr txBox="1">
              <a:spLocks noChangeArrowheads="1"/>
            </p:cNvSpPr>
            <p:nvPr/>
          </p:nvSpPr>
          <p:spPr bwMode="auto">
            <a:xfrm>
              <a:off x="7620" y="5370"/>
              <a:ext cx="783" cy="1890"/>
            </a:xfrm>
            <a:prstGeom prst="rect">
              <a:avLst/>
            </a:prstGeom>
            <a:noFill/>
            <a:ln w="9525">
              <a:noFill/>
              <a:miter lim="800000"/>
              <a:headEnd/>
              <a:tailEnd/>
            </a:ln>
          </p:spPr>
          <p:txBody>
            <a:bodyPr vert="eaVert"/>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余弦光栅扫描</a:t>
              </a:r>
            </a:p>
          </p:txBody>
        </p:sp>
        <p:sp>
          <p:nvSpPr>
            <p:cNvPr id="689211" name="Rectangle 59"/>
            <p:cNvSpPr>
              <a:spLocks noChangeArrowheads="1"/>
            </p:cNvSpPr>
            <p:nvPr/>
          </p:nvSpPr>
          <p:spPr bwMode="auto">
            <a:xfrm>
              <a:off x="3930" y="8384"/>
              <a:ext cx="4096" cy="466"/>
            </a:xfrm>
            <a:prstGeom prst="rect">
              <a:avLst/>
            </a:prstGeom>
            <a:noFill/>
            <a:ln w="19050">
              <a:noFill/>
              <a:miter lim="800000"/>
              <a:headEnd/>
              <a:tailEnd/>
            </a:ln>
          </p:spPr>
          <p:txBody>
            <a:bodyPr/>
            <a:lstStyle/>
            <a:p>
              <a:pPr algn="ctr">
                <a:defRPr/>
              </a:pPr>
              <a:r>
                <a:rPr lang="zh-CN" altLang="en-US" sz="1600" b="1">
                  <a:effectLst>
                    <a:outerShdw blurRad="38100" dist="38100" dir="2700000" algn="tl">
                      <a:srgbClr val="C0C0C0"/>
                    </a:outerShdw>
                  </a:effectLst>
                  <a:latin typeface="Times New Roman" pitchFamily="18" charset="0"/>
                  <a:ea typeface="黑体" pitchFamily="2" charset="-122"/>
                </a:rPr>
                <a:t>图</a:t>
              </a:r>
              <a:r>
                <a:rPr lang="en-US" altLang="zh-CN" sz="1600" b="1">
                  <a:effectLst>
                    <a:outerShdw blurRad="38100" dist="38100" dir="2700000" algn="tl">
                      <a:srgbClr val="C0C0C0"/>
                    </a:outerShdw>
                  </a:effectLst>
                  <a:latin typeface="Times New Roman" pitchFamily="18" charset="0"/>
                  <a:ea typeface="黑体" pitchFamily="2" charset="-122"/>
                </a:rPr>
                <a:t>1.39  </a:t>
              </a:r>
              <a:r>
                <a:rPr lang="zh-CN" altLang="en-US" sz="1600" b="1">
                  <a:effectLst>
                    <a:outerShdw blurRad="38100" dist="38100" dir="2700000" algn="tl">
                      <a:srgbClr val="C0C0C0"/>
                    </a:outerShdw>
                  </a:effectLst>
                  <a:latin typeface="Times New Roman" pitchFamily="18" charset="0"/>
                  <a:ea typeface="黑体" pitchFamily="2" charset="-122"/>
                </a:rPr>
                <a:t>光学传递函数测试方法的关系</a:t>
              </a:r>
            </a:p>
          </p:txBody>
        </p:sp>
      </p:grpSp>
      <p:sp>
        <p:nvSpPr>
          <p:cNvPr id="63"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日期占位符 3"/>
          <p:cNvSpPr>
            <a:spLocks noGrp="1"/>
          </p:cNvSpPr>
          <p:nvPr>
            <p:ph type="dt" sz="quarter" idx="10"/>
          </p:nvPr>
        </p:nvSpPr>
        <p:spPr>
          <a:noFill/>
        </p:spPr>
        <p:txBody>
          <a:bodyPr/>
          <a:lstStyle/>
          <a:p>
            <a:fld id="{5CDEC516-3A53-4626-AF73-5A7D76CC70C7}" type="datetime1">
              <a:rPr lang="zh-CN" altLang="en-US" smtClean="0"/>
              <a:pPr/>
              <a:t>2018/2/24</a:t>
            </a:fld>
            <a:endParaRPr lang="en-US" altLang="zh-CN" smtClean="0"/>
          </a:p>
        </p:txBody>
      </p:sp>
      <p:sp>
        <p:nvSpPr>
          <p:cNvPr id="66564" name="灯片编号占位符 5"/>
          <p:cNvSpPr>
            <a:spLocks noGrp="1"/>
          </p:cNvSpPr>
          <p:nvPr>
            <p:ph type="sldNum" sz="quarter" idx="12"/>
          </p:nvPr>
        </p:nvSpPr>
        <p:spPr>
          <a:noFill/>
        </p:spPr>
        <p:txBody>
          <a:bodyPr/>
          <a:lstStyle/>
          <a:p>
            <a:fld id="{76BAD843-3BBE-49E2-A864-C0AA5306F5D4}" type="slidenum">
              <a:rPr lang="en-US" altLang="zh-CN" smtClean="0"/>
              <a:pPr/>
              <a:t>92</a:t>
            </a:fld>
            <a:endParaRPr lang="en-US" altLang="zh-CN" smtClean="0"/>
          </a:p>
        </p:txBody>
      </p:sp>
      <p:sp>
        <p:nvSpPr>
          <p:cNvPr id="640003" name="Rectangle 3"/>
          <p:cNvSpPr>
            <a:spLocks noGrp="1" noRot="1" noChangeAspect="1" noChangeArrowheads="1"/>
          </p:cNvSpPr>
          <p:nvPr>
            <p:ph type="body" idx="1"/>
          </p:nvPr>
        </p:nvSpPr>
        <p:spPr>
          <a:xfrm>
            <a:off x="854075" y="1800225"/>
            <a:ext cx="7778750" cy="4108450"/>
          </a:xfrm>
        </p:spPr>
        <p:txBody>
          <a:bodyPr>
            <a:spAutoFit/>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2.2  </a:t>
            </a:r>
            <a:r>
              <a:rPr lang="zh-CN" altLang="en-US" smtClean="0">
                <a:latin typeface="Times New Roman" pitchFamily="18" charset="0"/>
                <a:ea typeface="黑体" pitchFamily="2" charset="-122"/>
              </a:rPr>
              <a:t>测试原理</a:t>
            </a:r>
          </a:p>
          <a:p>
            <a:pPr marL="449263" indent="-449263" eaLnBrk="1" hangingPunct="1">
              <a:defRPr/>
            </a:pPr>
            <a:r>
              <a:rPr lang="zh-CN" altLang="en-US" smtClean="0">
                <a:latin typeface="Times New Roman" pitchFamily="18" charset="0"/>
                <a:ea typeface="黑体" pitchFamily="2" charset="-122"/>
              </a:rPr>
              <a:t>按照线扩散函数和以正弦光栅成像为基础的光学传递函数的定义，一个正弦光栅经过被测光学系统时，其像分布为：</a:t>
            </a: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r>
              <a:rPr lang="zh-CN" altLang="en-US" smtClean="0">
                <a:latin typeface="Times New Roman" pitchFamily="18" charset="0"/>
                <a:ea typeface="黑体" pitchFamily="2" charset="-122"/>
              </a:rPr>
              <a:t>如果在像面上用宽度极小的狭缝扫描正弦光栅的像，那么可以探测到严格的像分布</a:t>
            </a:r>
            <a:r>
              <a:rPr lang="en-US" altLang="zh-CN" i="1" smtClean="0">
                <a:latin typeface="Times New Roman" pitchFamily="18" charset="0"/>
                <a:ea typeface="黑体" pitchFamily="2" charset="-122"/>
              </a:rPr>
              <a:t>i</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en-US" altLang="zh-CN" smtClean="0">
                <a:latin typeface="Times New Roman" pitchFamily="18" charset="0"/>
                <a:ea typeface="黑体" pitchFamily="2" charset="-122"/>
                <a:cs typeface="Times New Roman" pitchFamily="18" charset="0"/>
              </a:rPr>
              <a:t>‘</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，也就可以测量到</a:t>
            </a:r>
            <a:r>
              <a:rPr lang="en-US" altLang="zh-CN" i="1" smtClean="0">
                <a:latin typeface="Times New Roman" pitchFamily="18" charset="0"/>
                <a:ea typeface="黑体" pitchFamily="2" charset="-122"/>
              </a:rPr>
              <a:t>MTF </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r</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和</a:t>
            </a:r>
            <a:r>
              <a:rPr lang="en-US" altLang="zh-CN" i="1" smtClean="0">
                <a:latin typeface="Times New Roman" pitchFamily="18" charset="0"/>
                <a:ea typeface="黑体" pitchFamily="2" charset="-122"/>
              </a:rPr>
              <a:t>PTF </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r</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 </a:t>
            </a:r>
            <a:r>
              <a:rPr lang="zh-CN" altLang="en-US" smtClean="0">
                <a:latin typeface="Times New Roman" pitchFamily="18" charset="0"/>
                <a:ea typeface="黑体" pitchFamily="2" charset="-122"/>
              </a:rPr>
              <a:t>。其中</a:t>
            </a:r>
            <a:r>
              <a:rPr lang="en-US" altLang="zh-CN" i="1" smtClean="0">
                <a:latin typeface="Times New Roman" pitchFamily="18" charset="0"/>
                <a:ea typeface="黑体" pitchFamily="2" charset="-122"/>
              </a:rPr>
              <a:t>r</a:t>
            </a:r>
            <a:r>
              <a:rPr lang="zh-CN" altLang="en-US" smtClean="0">
                <a:latin typeface="Times New Roman" pitchFamily="18" charset="0"/>
                <a:ea typeface="黑体" pitchFamily="2" charset="-122"/>
              </a:rPr>
              <a:t>是光栅的空间频率。</a:t>
            </a:r>
          </a:p>
        </p:txBody>
      </p:sp>
      <p:sp>
        <p:nvSpPr>
          <p:cNvPr id="66567"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6568"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69"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6570"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71"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6572"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6573"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6574"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75"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6576"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77"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78"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79"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6580"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6581"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6582"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6583"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2" name="Object 21"/>
          <p:cNvGraphicFramePr>
            <a:graphicFrameLocks noChangeAspect="1"/>
          </p:cNvGraphicFramePr>
          <p:nvPr/>
        </p:nvGraphicFramePr>
        <p:xfrm>
          <a:off x="2201863" y="3843338"/>
          <a:ext cx="5548312" cy="488950"/>
        </p:xfrm>
        <a:graphic>
          <a:graphicData uri="http://schemas.openxmlformats.org/presentationml/2006/ole">
            <p:oleObj spid="_x0000_s66562" name="公式" r:id="rId3" imgW="62484317" imgH="5486717" progId="Equation.3">
              <p:embed/>
            </p:oleObj>
          </a:graphicData>
        </a:graphic>
      </p:graphicFrame>
      <p:sp>
        <p:nvSpPr>
          <p:cNvPr id="25"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8" name="日期占位符 3"/>
          <p:cNvSpPr>
            <a:spLocks noGrp="1"/>
          </p:cNvSpPr>
          <p:nvPr>
            <p:ph type="dt" sz="quarter" idx="10"/>
          </p:nvPr>
        </p:nvSpPr>
        <p:spPr>
          <a:noFill/>
        </p:spPr>
        <p:txBody>
          <a:bodyPr/>
          <a:lstStyle/>
          <a:p>
            <a:fld id="{3EB7ECAC-338F-4E6F-84FB-529216D4AFFA}" type="datetime1">
              <a:rPr lang="zh-CN" altLang="en-US" smtClean="0"/>
              <a:pPr/>
              <a:t>2018/2/24</a:t>
            </a:fld>
            <a:endParaRPr lang="en-US" altLang="zh-CN" smtClean="0"/>
          </a:p>
        </p:txBody>
      </p:sp>
      <p:sp>
        <p:nvSpPr>
          <p:cNvPr id="67589" name="灯片编号占位符 5"/>
          <p:cNvSpPr>
            <a:spLocks noGrp="1"/>
          </p:cNvSpPr>
          <p:nvPr>
            <p:ph type="sldNum" sz="quarter" idx="12"/>
          </p:nvPr>
        </p:nvSpPr>
        <p:spPr>
          <a:noFill/>
        </p:spPr>
        <p:txBody>
          <a:bodyPr/>
          <a:lstStyle/>
          <a:p>
            <a:fld id="{5074FE3B-287D-47F1-AE34-2BED4C6B9560}" type="slidenum">
              <a:rPr lang="en-US" altLang="zh-CN" smtClean="0"/>
              <a:pPr/>
              <a:t>93</a:t>
            </a:fld>
            <a:endParaRPr lang="en-US" altLang="zh-CN" smtClean="0"/>
          </a:p>
        </p:txBody>
      </p:sp>
      <p:sp>
        <p:nvSpPr>
          <p:cNvPr id="641027" name="Rectangle 3"/>
          <p:cNvSpPr>
            <a:spLocks noGrp="1" noRot="1" noChangeAspect="1" noChangeArrowheads="1"/>
          </p:cNvSpPr>
          <p:nvPr>
            <p:ph type="body" idx="1"/>
          </p:nvPr>
        </p:nvSpPr>
        <p:spPr>
          <a:xfrm>
            <a:off x="703263" y="1801813"/>
            <a:ext cx="7851775" cy="4619625"/>
          </a:xfrm>
        </p:spPr>
        <p:txBody>
          <a:bodyPr>
            <a:spAutoFit/>
          </a:bodyPr>
          <a:lstStyle/>
          <a:p>
            <a:pPr marL="449263" indent="-449263" eaLnBrk="1" hangingPunct="1">
              <a:buFont typeface="Wingdings" pitchFamily="2" charset="2"/>
              <a:buNone/>
              <a:defRPr/>
            </a:pPr>
            <a:r>
              <a:rPr lang="en-US" altLang="zh-CN" smtClean="0">
                <a:latin typeface="Times New Roman" pitchFamily="18" charset="0"/>
                <a:ea typeface="黑体" pitchFamily="2" charset="-122"/>
              </a:rPr>
              <a:t>2.2  </a:t>
            </a:r>
            <a:r>
              <a:rPr lang="zh-CN" altLang="en-US" smtClean="0">
                <a:latin typeface="Times New Roman" pitchFamily="18" charset="0"/>
                <a:ea typeface="黑体" pitchFamily="2" charset="-122"/>
              </a:rPr>
              <a:t>测试原理</a:t>
            </a:r>
          </a:p>
          <a:p>
            <a:pPr marL="449263" indent="-449263" eaLnBrk="1" hangingPunct="1">
              <a:defRPr/>
            </a:pPr>
            <a:r>
              <a:rPr lang="zh-CN" altLang="en-US" smtClean="0">
                <a:solidFill>
                  <a:srgbClr val="FF0000"/>
                </a:solidFill>
                <a:latin typeface="Times New Roman" pitchFamily="18" charset="0"/>
                <a:ea typeface="黑体" pitchFamily="2" charset="-122"/>
              </a:rPr>
              <a:t>狭缝的影响</a:t>
            </a:r>
          </a:p>
          <a:p>
            <a:pPr marL="449263" indent="-449263" eaLnBrk="1" hangingPunct="1">
              <a:defRPr/>
            </a:pPr>
            <a:r>
              <a:rPr lang="zh-CN" altLang="en-US" smtClean="0">
                <a:latin typeface="Times New Roman" pitchFamily="18" charset="0"/>
                <a:ea typeface="黑体" pitchFamily="2" charset="-122"/>
              </a:rPr>
              <a:t>而实际上狭缝总会有一定宽度，用狭缝扫描正弦光栅像时，探测到的信号是像函数与狭缝函数的卷积</a:t>
            </a: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defRPr/>
            </a:pPr>
            <a:endParaRPr lang="zh-CN" altLang="en-US" smtClean="0">
              <a:latin typeface="Times New Roman" pitchFamily="18" charset="0"/>
              <a:ea typeface="黑体" pitchFamily="2" charset="-122"/>
            </a:endParaRPr>
          </a:p>
          <a:p>
            <a:pPr marL="449263" indent="-449263" eaLnBrk="1" hangingPunct="1">
              <a:buFont typeface="Wingdings" pitchFamily="2" charset="2"/>
              <a:buNone/>
              <a:defRPr/>
            </a:pPr>
            <a:r>
              <a:rPr lang="zh-CN" altLang="en-US" smtClean="0">
                <a:latin typeface="Times New Roman" pitchFamily="18" charset="0"/>
                <a:ea typeface="黑体" pitchFamily="2" charset="-122"/>
              </a:rPr>
              <a:t>      其中                                   是狭缝函数</a:t>
            </a:r>
            <a:r>
              <a:rPr lang="en-US" altLang="zh-CN" i="1" smtClean="0">
                <a:latin typeface="Times New Roman" pitchFamily="18" charset="0"/>
                <a:ea typeface="黑体" pitchFamily="2" charset="-122"/>
              </a:rPr>
              <a:t>s</a:t>
            </a:r>
            <a:r>
              <a:rPr lang="en-US" altLang="zh-CN" smtClean="0">
                <a:latin typeface="Times New Roman" pitchFamily="18" charset="0"/>
                <a:ea typeface="黑体" pitchFamily="2" charset="-122"/>
              </a:rPr>
              <a:t>(</a:t>
            </a:r>
            <a:r>
              <a:rPr lang="en-US" altLang="zh-CN" i="1" smtClean="0">
                <a:latin typeface="Times New Roman" pitchFamily="18" charset="0"/>
                <a:ea typeface="黑体" pitchFamily="2" charset="-122"/>
              </a:rPr>
              <a:t>u</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傅立叶变换的模和辐角。</a:t>
            </a:r>
          </a:p>
          <a:p>
            <a:pPr marL="449263" indent="-449263" eaLnBrk="1" hangingPunct="1">
              <a:defRPr/>
            </a:pPr>
            <a:r>
              <a:rPr lang="zh-CN" altLang="en-US" smtClean="0">
                <a:latin typeface="Times New Roman" pitchFamily="18" charset="0"/>
                <a:ea typeface="黑体" pitchFamily="2" charset="-122"/>
              </a:rPr>
              <a:t>而对确定宽度的狭缝的模和辐角是可以计算的，因而很容易修正上述测试数据。</a:t>
            </a:r>
          </a:p>
        </p:txBody>
      </p:sp>
      <p:sp>
        <p:nvSpPr>
          <p:cNvPr id="67592"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7593"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594"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7595"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596"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7597"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7598"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7599"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600"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7601"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602"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603"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604"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7605"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7606"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7607"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7608"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7586" name="Object 21"/>
          <p:cNvGraphicFramePr>
            <a:graphicFrameLocks noChangeAspect="1"/>
          </p:cNvGraphicFramePr>
          <p:nvPr/>
        </p:nvGraphicFramePr>
        <p:xfrm>
          <a:off x="496888" y="3557588"/>
          <a:ext cx="8416925" cy="1195387"/>
        </p:xfrm>
        <a:graphic>
          <a:graphicData uri="http://schemas.openxmlformats.org/presentationml/2006/ole">
            <p:oleObj spid="_x0000_s67586" name="公式" r:id="rId3" imgW="94793117" imgH="13411517" progId="Equation.3">
              <p:embed/>
            </p:oleObj>
          </a:graphicData>
        </a:graphic>
      </p:graphicFrame>
      <p:graphicFrame>
        <p:nvGraphicFramePr>
          <p:cNvPr id="67587" name="Object 22"/>
          <p:cNvGraphicFramePr>
            <a:graphicFrameLocks noChangeAspect="1"/>
          </p:cNvGraphicFramePr>
          <p:nvPr/>
        </p:nvGraphicFramePr>
        <p:xfrm>
          <a:off x="2028825" y="4779963"/>
          <a:ext cx="2409825" cy="461962"/>
        </p:xfrm>
        <a:graphic>
          <a:graphicData uri="http://schemas.openxmlformats.org/presentationml/2006/ole">
            <p:oleObj spid="_x0000_s67587" name="公式" r:id="rId4" imgW="27127517" imgH="5181917" progId="Equation.3">
              <p:embed/>
            </p:oleObj>
          </a:graphicData>
        </a:graphic>
      </p:graphicFrame>
      <p:sp>
        <p:nvSpPr>
          <p:cNvPr id="26"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2" name="日期占位符 3"/>
          <p:cNvSpPr>
            <a:spLocks noGrp="1"/>
          </p:cNvSpPr>
          <p:nvPr>
            <p:ph type="dt" sz="quarter" idx="10"/>
          </p:nvPr>
        </p:nvSpPr>
        <p:spPr>
          <a:noFill/>
        </p:spPr>
        <p:txBody>
          <a:bodyPr/>
          <a:lstStyle/>
          <a:p>
            <a:fld id="{885504DD-AC11-4AFF-9533-43B217BE931E}" type="datetime1">
              <a:rPr lang="zh-CN" altLang="en-US" smtClean="0"/>
              <a:pPr/>
              <a:t>2018/2/24</a:t>
            </a:fld>
            <a:endParaRPr lang="en-US" altLang="zh-CN" smtClean="0"/>
          </a:p>
        </p:txBody>
      </p:sp>
      <p:sp>
        <p:nvSpPr>
          <p:cNvPr id="68613" name="灯片编号占位符 5"/>
          <p:cNvSpPr>
            <a:spLocks noGrp="1"/>
          </p:cNvSpPr>
          <p:nvPr>
            <p:ph type="sldNum" sz="quarter" idx="12"/>
          </p:nvPr>
        </p:nvSpPr>
        <p:spPr>
          <a:noFill/>
        </p:spPr>
        <p:txBody>
          <a:bodyPr/>
          <a:lstStyle/>
          <a:p>
            <a:fld id="{66EEC005-6C3E-478E-96E5-B0F6706F48C0}" type="slidenum">
              <a:rPr lang="en-US" altLang="zh-CN" smtClean="0"/>
              <a:pPr/>
              <a:t>94</a:t>
            </a:fld>
            <a:endParaRPr lang="en-US" altLang="zh-CN" smtClean="0"/>
          </a:p>
        </p:txBody>
      </p:sp>
      <p:sp>
        <p:nvSpPr>
          <p:cNvPr id="642051" name="Rectangle 3"/>
          <p:cNvSpPr>
            <a:spLocks noGrp="1" noRot="1" noChangeAspect="1" noChangeArrowheads="1"/>
          </p:cNvSpPr>
          <p:nvPr>
            <p:ph type="body" idx="1"/>
          </p:nvPr>
        </p:nvSpPr>
        <p:spPr>
          <a:xfrm>
            <a:off x="703263" y="1801813"/>
            <a:ext cx="8010525" cy="5861050"/>
          </a:xfrm>
        </p:spPr>
        <p:txBody>
          <a:bodyPr>
            <a:spAutoFit/>
          </a:bodyPr>
          <a:lstStyle/>
          <a:p>
            <a:pPr marL="449263" indent="-449263" eaLnBrk="1" hangingPunct="1">
              <a:lnSpc>
                <a:spcPct val="120000"/>
              </a:lnSpc>
              <a:buFont typeface="Wingdings" pitchFamily="2" charset="2"/>
              <a:buNone/>
              <a:defRPr/>
            </a:pPr>
            <a:r>
              <a:rPr lang="en-US" altLang="zh-CN" smtClean="0">
                <a:latin typeface="Times New Roman" pitchFamily="18" charset="0"/>
                <a:ea typeface="黑体" pitchFamily="2" charset="-122"/>
              </a:rPr>
              <a:t>2.2  </a:t>
            </a:r>
            <a:r>
              <a:rPr lang="zh-CN" altLang="en-US" smtClean="0">
                <a:latin typeface="Times New Roman" pitchFamily="18" charset="0"/>
                <a:ea typeface="黑体" pitchFamily="2" charset="-122"/>
              </a:rPr>
              <a:t>测试原理</a:t>
            </a:r>
          </a:p>
          <a:p>
            <a:pPr marL="449263" indent="-449263" eaLnBrk="1" hangingPunct="1">
              <a:lnSpc>
                <a:spcPct val="120000"/>
              </a:lnSpc>
              <a:defRPr/>
            </a:pPr>
            <a:r>
              <a:rPr lang="zh-CN" altLang="en-US" smtClean="0">
                <a:solidFill>
                  <a:srgbClr val="FF0000"/>
                </a:solidFill>
                <a:latin typeface="Times New Roman" pitchFamily="18" charset="0"/>
                <a:ea typeface="黑体" pitchFamily="2" charset="-122"/>
              </a:rPr>
              <a:t>扫描方式</a:t>
            </a:r>
          </a:p>
          <a:p>
            <a:pPr marL="449263" indent="-449263" eaLnBrk="1" hangingPunct="1">
              <a:lnSpc>
                <a:spcPct val="120000"/>
              </a:lnSpc>
              <a:defRPr/>
            </a:pPr>
            <a:r>
              <a:rPr lang="zh-CN" altLang="en-US" smtClean="0">
                <a:latin typeface="Times New Roman" pitchFamily="18" charset="0"/>
                <a:ea typeface="黑体" pitchFamily="2" charset="-122"/>
              </a:rPr>
              <a:t>根据卷积的傅立叶变换关系，有</a:t>
            </a:r>
          </a:p>
          <a:p>
            <a:pPr marL="449263" indent="-449263" eaLnBrk="1" hangingPunct="1">
              <a:lnSpc>
                <a:spcPct val="120000"/>
              </a:lnSpc>
              <a:defRPr/>
            </a:pPr>
            <a:endParaRPr lang="zh-CN" altLang="en-US" smtClean="0">
              <a:latin typeface="Times New Roman" pitchFamily="18" charset="0"/>
              <a:ea typeface="黑体" pitchFamily="2" charset="-122"/>
            </a:endParaRPr>
          </a:p>
          <a:p>
            <a:pPr marL="449263" indent="-449263" eaLnBrk="1" hangingPunct="1">
              <a:lnSpc>
                <a:spcPct val="120000"/>
              </a:lnSpc>
              <a:defRPr/>
            </a:pPr>
            <a:r>
              <a:rPr lang="zh-CN" altLang="en-US" smtClean="0">
                <a:latin typeface="Times New Roman" pitchFamily="18" charset="0"/>
                <a:ea typeface="黑体" pitchFamily="2" charset="-122"/>
              </a:rPr>
              <a:t>上式说明，为了得到          ，狭缝和光栅是可以互换位置的，即用光栅扫描狭缝的像与用狭缝扫描光栅的像是等价的。实际测量系统中，总是用光栅扫描狭缝像。</a:t>
            </a:r>
          </a:p>
          <a:p>
            <a:pPr marL="449263" indent="-449263" eaLnBrk="1" hangingPunct="1">
              <a:lnSpc>
                <a:spcPct val="120000"/>
              </a:lnSpc>
              <a:defRPr/>
            </a:pPr>
            <a:r>
              <a:rPr lang="zh-CN" altLang="en-US" smtClean="0">
                <a:latin typeface="Times New Roman" pitchFamily="18" charset="0"/>
                <a:ea typeface="黑体" pitchFamily="2" charset="-122"/>
              </a:rPr>
              <a:t>由于正弦光栅较难制作，可以用矩形光栅代替正弦光栅作为扫描屏，通过电学滤波的方法把信号中的高次谐波滤掉同样可实现这种模拟运算。 </a:t>
            </a:r>
          </a:p>
          <a:p>
            <a:pPr marL="449263" indent="-449263" eaLnBrk="1" hangingPunct="1">
              <a:lnSpc>
                <a:spcPct val="120000"/>
              </a:lnSpc>
              <a:defRPr/>
            </a:pPr>
            <a:endParaRPr lang="zh-CN" altLang="en-US" smtClean="0">
              <a:latin typeface="Times New Roman" pitchFamily="18" charset="0"/>
              <a:ea typeface="黑体" pitchFamily="2" charset="-122"/>
            </a:endParaRPr>
          </a:p>
          <a:p>
            <a:pPr marL="449263" indent="-449263" eaLnBrk="1" hangingPunct="1">
              <a:lnSpc>
                <a:spcPct val="120000"/>
              </a:lnSpc>
              <a:buFont typeface="Wingdings" pitchFamily="2" charset="2"/>
              <a:buNone/>
              <a:defRPr/>
            </a:pPr>
            <a:r>
              <a:rPr lang="zh-CN" altLang="en-US" smtClean="0">
                <a:latin typeface="Times New Roman" pitchFamily="18" charset="0"/>
                <a:ea typeface="黑体" pitchFamily="2" charset="-122"/>
              </a:rPr>
              <a:t>      </a:t>
            </a:r>
          </a:p>
        </p:txBody>
      </p:sp>
      <p:sp>
        <p:nvSpPr>
          <p:cNvPr id="68616"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68617"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18"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8619"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20"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6862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8622"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68623"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24"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8625"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26"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27"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28"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68629"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68630"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68631"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68632"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8610" name="Object 21"/>
          <p:cNvGraphicFramePr>
            <a:graphicFrameLocks noChangeAspect="1"/>
          </p:cNvGraphicFramePr>
          <p:nvPr/>
        </p:nvGraphicFramePr>
        <p:xfrm>
          <a:off x="2987675" y="3381375"/>
          <a:ext cx="3249613" cy="461963"/>
        </p:xfrm>
        <a:graphic>
          <a:graphicData uri="http://schemas.openxmlformats.org/presentationml/2006/ole">
            <p:oleObj spid="_x0000_s68610" name="公式" r:id="rId3" imgW="36576317" imgH="5181917" progId="Equation.3">
              <p:embed/>
            </p:oleObj>
          </a:graphicData>
        </a:graphic>
      </p:graphicFrame>
      <p:graphicFrame>
        <p:nvGraphicFramePr>
          <p:cNvPr id="68611" name="Object 22"/>
          <p:cNvGraphicFramePr>
            <a:graphicFrameLocks noChangeAspect="1"/>
          </p:cNvGraphicFramePr>
          <p:nvPr/>
        </p:nvGraphicFramePr>
        <p:xfrm>
          <a:off x="4087813" y="3932238"/>
          <a:ext cx="566737" cy="373062"/>
        </p:xfrm>
        <a:graphic>
          <a:graphicData uri="http://schemas.openxmlformats.org/presentationml/2006/ole">
            <p:oleObj spid="_x0000_s68611" name="公式" r:id="rId4" imgW="7925117" imgH="5181917" progId="Equation.3">
              <p:embed/>
            </p:oleObj>
          </a:graphicData>
        </a:graphic>
      </p:graphicFrame>
      <p:sp>
        <p:nvSpPr>
          <p:cNvPr id="26"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日期占位符 3"/>
          <p:cNvSpPr>
            <a:spLocks noGrp="1"/>
          </p:cNvSpPr>
          <p:nvPr>
            <p:ph type="dt" sz="quarter" idx="10"/>
          </p:nvPr>
        </p:nvSpPr>
        <p:spPr>
          <a:noFill/>
        </p:spPr>
        <p:txBody>
          <a:bodyPr/>
          <a:lstStyle/>
          <a:p>
            <a:fld id="{8A80287A-1A88-4BC8-B8F1-C49ED3BA7020}" type="datetime1">
              <a:rPr lang="zh-CN" altLang="en-US" smtClean="0"/>
              <a:pPr/>
              <a:t>2018/2/24</a:t>
            </a:fld>
            <a:endParaRPr lang="en-US" altLang="zh-CN" smtClean="0"/>
          </a:p>
        </p:txBody>
      </p:sp>
      <p:sp>
        <p:nvSpPr>
          <p:cNvPr id="133123" name="灯片编号占位符 5"/>
          <p:cNvSpPr>
            <a:spLocks noGrp="1"/>
          </p:cNvSpPr>
          <p:nvPr>
            <p:ph type="sldNum" sz="quarter" idx="12"/>
          </p:nvPr>
        </p:nvSpPr>
        <p:spPr>
          <a:noFill/>
        </p:spPr>
        <p:txBody>
          <a:bodyPr/>
          <a:lstStyle/>
          <a:p>
            <a:fld id="{9B3CBA83-CC98-45E3-A5E6-2A47EA2AF2FE}" type="slidenum">
              <a:rPr lang="en-US" altLang="zh-CN" smtClean="0"/>
              <a:pPr/>
              <a:t>95</a:t>
            </a:fld>
            <a:endParaRPr lang="en-US" altLang="zh-CN" smtClean="0"/>
          </a:p>
        </p:txBody>
      </p:sp>
      <p:sp>
        <p:nvSpPr>
          <p:cNvPr id="646147" name="Rectangle 3"/>
          <p:cNvSpPr>
            <a:spLocks noGrp="1" noRot="1" noChangeAspect="1" noChangeArrowheads="1"/>
          </p:cNvSpPr>
          <p:nvPr>
            <p:ph type="body" idx="1"/>
          </p:nvPr>
        </p:nvSpPr>
        <p:spPr>
          <a:xfrm>
            <a:off x="854075" y="1800225"/>
            <a:ext cx="7605713" cy="1631216"/>
          </a:xfrm>
        </p:spPr>
        <p:txBody>
          <a:bodyPr>
            <a:spAutoFit/>
          </a:bodyPr>
          <a:lstStyle/>
          <a:p>
            <a:pPr marL="449263" indent="-449263" eaLnBrk="1" hangingPunct="1">
              <a:buFont typeface="Wingdings" pitchFamily="2" charset="2"/>
              <a:buNone/>
              <a:defRPr/>
            </a:pPr>
            <a:r>
              <a:rPr lang="en-US" altLang="zh-CN" dirty="0" smtClean="0">
                <a:latin typeface="Times New Roman" pitchFamily="18" charset="0"/>
                <a:ea typeface="黑体" pitchFamily="2" charset="-122"/>
              </a:rPr>
              <a:t>2.3  </a:t>
            </a:r>
            <a:r>
              <a:rPr lang="zh-CN" altLang="en-US" dirty="0" smtClean="0">
                <a:latin typeface="Times New Roman" pitchFamily="18" charset="0"/>
                <a:ea typeface="黑体" pitchFamily="2" charset="-122"/>
              </a:rPr>
              <a:t>测试仪器</a:t>
            </a:r>
            <a:r>
              <a:rPr lang="en-US" altLang="zh-CN" dirty="0" smtClean="0">
                <a:latin typeface="Times New Roman" pitchFamily="18" charset="0"/>
                <a:ea typeface="黑体" pitchFamily="2" charset="-122"/>
              </a:rPr>
              <a:t>——</a:t>
            </a:r>
            <a:r>
              <a:rPr lang="zh-CN" altLang="en-US" dirty="0" smtClean="0">
                <a:latin typeface="Times New Roman" pitchFamily="18" charset="0"/>
                <a:ea typeface="黑体" pitchFamily="2" charset="-122"/>
              </a:rPr>
              <a:t>以</a:t>
            </a:r>
            <a:r>
              <a:rPr lang="en-US" altLang="zh-CN" dirty="0" smtClean="0">
                <a:latin typeface="Times New Roman" pitchFamily="18" charset="0"/>
                <a:ea typeface="黑体" pitchFamily="2" charset="-122"/>
              </a:rPr>
              <a:t>EROS</a:t>
            </a:r>
            <a:r>
              <a:rPr lang="zh-CN" altLang="en-US" dirty="0" smtClean="0">
                <a:latin typeface="Times New Roman" pitchFamily="18" charset="0"/>
                <a:ea typeface="黑体" pitchFamily="2" charset="-122"/>
              </a:rPr>
              <a:t>型光学传递函数测定仪为例</a:t>
            </a:r>
          </a:p>
          <a:p>
            <a:pPr marL="449263" indent="-449263" eaLnBrk="1" hangingPunct="1">
              <a:lnSpc>
                <a:spcPct val="120000"/>
              </a:lnSpc>
              <a:defRPr/>
            </a:pPr>
            <a:r>
              <a:rPr lang="en-US" altLang="zh-CN" sz="2000" dirty="0" smtClean="0">
                <a:latin typeface="Times New Roman" pitchFamily="18" charset="0"/>
                <a:ea typeface="黑体" pitchFamily="2" charset="-122"/>
              </a:rPr>
              <a:t>EROS</a:t>
            </a:r>
            <a:r>
              <a:rPr lang="zh-CN" altLang="en-US" sz="2000" dirty="0" smtClean="0">
                <a:latin typeface="Times New Roman" pitchFamily="18" charset="0"/>
                <a:ea typeface="黑体" pitchFamily="2" charset="-122"/>
              </a:rPr>
              <a:t>型光学传递函数测定仪是国际上应用较为广泛的利用光电傅里叶分析法原理的</a:t>
            </a:r>
            <a:r>
              <a:rPr lang="en-US" altLang="zh-CN" sz="2000" i="1" dirty="0" smtClean="0">
                <a:latin typeface="Times New Roman" pitchFamily="18" charset="0"/>
                <a:ea typeface="黑体" pitchFamily="2" charset="-122"/>
              </a:rPr>
              <a:t>OTF</a:t>
            </a:r>
            <a:r>
              <a:rPr lang="zh-CN" altLang="en-US" sz="2000" dirty="0" smtClean="0">
                <a:latin typeface="Times New Roman" pitchFamily="18" charset="0"/>
                <a:ea typeface="黑体" pitchFamily="2" charset="-122"/>
              </a:rPr>
              <a:t>测量仪器，已形成包括几种型号的一系列产品，以适应各种测量环境和测量准确度的要求。</a:t>
            </a:r>
          </a:p>
        </p:txBody>
      </p:sp>
      <p:sp>
        <p:nvSpPr>
          <p:cNvPr id="133126"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3127"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28"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3129"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30"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313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3132"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3133"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34" name="Rectangle 12"/>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3135"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36"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37"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38" name="Rectangle 16"/>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133139" name="Rectangle 1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3140"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3141" name="Rectangle 19"/>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3142" name="Rectangle 2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pSp>
        <p:nvGrpSpPr>
          <p:cNvPr id="133143" name="Group 21"/>
          <p:cNvGrpSpPr>
            <a:grpSpLocks/>
          </p:cNvGrpSpPr>
          <p:nvPr/>
        </p:nvGrpSpPr>
        <p:grpSpPr bwMode="auto">
          <a:xfrm>
            <a:off x="625475" y="3546475"/>
            <a:ext cx="8115300" cy="2967038"/>
            <a:chOff x="394" y="2300"/>
            <a:chExt cx="5112" cy="1869"/>
          </a:xfrm>
        </p:grpSpPr>
        <p:sp>
          <p:nvSpPr>
            <p:cNvPr id="133144" name="Rectangle 22"/>
            <p:cNvSpPr>
              <a:spLocks noChangeArrowheads="1"/>
            </p:cNvSpPr>
            <p:nvPr/>
          </p:nvSpPr>
          <p:spPr bwMode="auto">
            <a:xfrm>
              <a:off x="394" y="2368"/>
              <a:ext cx="5074" cy="1801"/>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133145" name="Group 23"/>
            <p:cNvGrpSpPr>
              <a:grpSpLocks/>
            </p:cNvGrpSpPr>
            <p:nvPr/>
          </p:nvGrpSpPr>
          <p:grpSpPr bwMode="auto">
            <a:xfrm>
              <a:off x="443" y="2300"/>
              <a:ext cx="5063" cy="1858"/>
              <a:chOff x="2340" y="7737"/>
              <a:chExt cx="7556" cy="2774"/>
            </a:xfrm>
          </p:grpSpPr>
          <p:sp>
            <p:nvSpPr>
              <p:cNvPr id="646168" name="Text Box 24"/>
              <p:cNvSpPr txBox="1">
                <a:spLocks noChangeArrowheads="1"/>
              </p:cNvSpPr>
              <p:nvPr/>
            </p:nvSpPr>
            <p:spPr bwMode="auto">
              <a:xfrm>
                <a:off x="8063" y="7737"/>
                <a:ext cx="513"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11</a:t>
                </a:r>
                <a:endParaRPr lang="en-US" altLang="zh-CN" sz="1600" b="1">
                  <a:effectLst>
                    <a:outerShdw blurRad="38100" dist="38100" dir="2700000" algn="tl">
                      <a:srgbClr val="C0C0C0"/>
                    </a:outerShdw>
                  </a:effectLst>
                </a:endParaRPr>
              </a:p>
            </p:txBody>
          </p:sp>
          <p:sp>
            <p:nvSpPr>
              <p:cNvPr id="133147" name="Oval 25"/>
              <p:cNvSpPr>
                <a:spLocks noChangeArrowheads="1"/>
              </p:cNvSpPr>
              <p:nvPr/>
            </p:nvSpPr>
            <p:spPr bwMode="auto">
              <a:xfrm>
                <a:off x="2426" y="8709"/>
                <a:ext cx="210" cy="223"/>
              </a:xfrm>
              <a:prstGeom prst="ellipse">
                <a:avLst/>
              </a:prstGeom>
              <a:noFill/>
              <a:ln w="9525">
                <a:solidFill>
                  <a:srgbClr val="000000"/>
                </a:solidFill>
                <a:round/>
                <a:headEnd/>
                <a:tailEnd/>
              </a:ln>
            </p:spPr>
            <p:txBody>
              <a:bodyPr/>
              <a:lstStyle/>
              <a:p>
                <a:endParaRPr lang="zh-CN" altLang="en-US"/>
              </a:p>
            </p:txBody>
          </p:sp>
          <p:sp>
            <p:nvSpPr>
              <p:cNvPr id="133148" name="Line 26"/>
              <p:cNvSpPr>
                <a:spLocks noChangeShapeType="1"/>
              </p:cNvSpPr>
              <p:nvPr/>
            </p:nvSpPr>
            <p:spPr bwMode="auto">
              <a:xfrm>
                <a:off x="2467" y="8741"/>
                <a:ext cx="119" cy="156"/>
              </a:xfrm>
              <a:prstGeom prst="line">
                <a:avLst/>
              </a:prstGeom>
              <a:noFill/>
              <a:ln w="9525">
                <a:solidFill>
                  <a:srgbClr val="000000"/>
                </a:solidFill>
                <a:round/>
                <a:headEnd/>
                <a:tailEnd/>
              </a:ln>
            </p:spPr>
            <p:txBody>
              <a:bodyPr/>
              <a:lstStyle/>
              <a:p>
                <a:endParaRPr lang="zh-CN" altLang="en-US"/>
              </a:p>
            </p:txBody>
          </p:sp>
          <p:sp>
            <p:nvSpPr>
              <p:cNvPr id="133149" name="Line 27"/>
              <p:cNvSpPr>
                <a:spLocks noChangeShapeType="1"/>
              </p:cNvSpPr>
              <p:nvPr/>
            </p:nvSpPr>
            <p:spPr bwMode="auto">
              <a:xfrm flipH="1">
                <a:off x="2461" y="8732"/>
                <a:ext cx="129" cy="171"/>
              </a:xfrm>
              <a:prstGeom prst="line">
                <a:avLst/>
              </a:prstGeom>
              <a:noFill/>
              <a:ln w="9525">
                <a:solidFill>
                  <a:srgbClr val="000000"/>
                </a:solidFill>
                <a:round/>
                <a:headEnd/>
                <a:tailEnd/>
              </a:ln>
            </p:spPr>
            <p:txBody>
              <a:bodyPr/>
              <a:lstStyle/>
              <a:p>
                <a:endParaRPr lang="zh-CN" altLang="en-US"/>
              </a:p>
            </p:txBody>
          </p:sp>
          <p:sp>
            <p:nvSpPr>
              <p:cNvPr id="133150" name="Oval 28"/>
              <p:cNvSpPr>
                <a:spLocks noChangeArrowheads="1"/>
              </p:cNvSpPr>
              <p:nvPr/>
            </p:nvSpPr>
            <p:spPr bwMode="auto">
              <a:xfrm>
                <a:off x="2902" y="8562"/>
                <a:ext cx="120" cy="526"/>
              </a:xfrm>
              <a:prstGeom prst="ellipse">
                <a:avLst/>
              </a:prstGeom>
              <a:noFill/>
              <a:ln w="9525">
                <a:solidFill>
                  <a:srgbClr val="000000"/>
                </a:solidFill>
                <a:round/>
                <a:headEnd/>
                <a:tailEnd/>
              </a:ln>
            </p:spPr>
            <p:txBody>
              <a:bodyPr/>
              <a:lstStyle/>
              <a:p>
                <a:endParaRPr lang="zh-CN" altLang="en-US"/>
              </a:p>
            </p:txBody>
          </p:sp>
          <p:sp>
            <p:nvSpPr>
              <p:cNvPr id="133151" name="Rectangle 29"/>
              <p:cNvSpPr>
                <a:spLocks noChangeArrowheads="1"/>
              </p:cNvSpPr>
              <p:nvPr/>
            </p:nvSpPr>
            <p:spPr bwMode="auto">
              <a:xfrm>
                <a:off x="3382" y="8419"/>
                <a:ext cx="104" cy="749"/>
              </a:xfrm>
              <a:prstGeom prst="rect">
                <a:avLst/>
              </a:prstGeom>
              <a:noFill/>
              <a:ln w="9525">
                <a:solidFill>
                  <a:srgbClr val="000000"/>
                </a:solidFill>
                <a:miter lim="800000"/>
                <a:headEnd/>
                <a:tailEnd/>
              </a:ln>
            </p:spPr>
            <p:txBody>
              <a:bodyPr/>
              <a:lstStyle/>
              <a:p>
                <a:endParaRPr lang="zh-CN" altLang="en-US"/>
              </a:p>
            </p:txBody>
          </p:sp>
          <p:sp>
            <p:nvSpPr>
              <p:cNvPr id="133152" name="Line 30"/>
              <p:cNvSpPr>
                <a:spLocks noChangeShapeType="1"/>
              </p:cNvSpPr>
              <p:nvPr/>
            </p:nvSpPr>
            <p:spPr bwMode="auto">
              <a:xfrm>
                <a:off x="3592" y="8419"/>
                <a:ext cx="0" cy="350"/>
              </a:xfrm>
              <a:prstGeom prst="line">
                <a:avLst/>
              </a:prstGeom>
              <a:noFill/>
              <a:ln w="9525">
                <a:solidFill>
                  <a:srgbClr val="000000"/>
                </a:solidFill>
                <a:round/>
                <a:headEnd/>
                <a:tailEnd/>
              </a:ln>
            </p:spPr>
            <p:txBody>
              <a:bodyPr/>
              <a:lstStyle/>
              <a:p>
                <a:endParaRPr lang="zh-CN" altLang="en-US"/>
              </a:p>
            </p:txBody>
          </p:sp>
          <p:sp>
            <p:nvSpPr>
              <p:cNvPr id="133153" name="Line 31"/>
              <p:cNvSpPr>
                <a:spLocks noChangeShapeType="1"/>
              </p:cNvSpPr>
              <p:nvPr/>
            </p:nvSpPr>
            <p:spPr bwMode="auto">
              <a:xfrm>
                <a:off x="3592" y="8875"/>
                <a:ext cx="0" cy="302"/>
              </a:xfrm>
              <a:prstGeom prst="line">
                <a:avLst/>
              </a:prstGeom>
              <a:noFill/>
              <a:ln w="9525">
                <a:solidFill>
                  <a:srgbClr val="000000"/>
                </a:solidFill>
                <a:round/>
                <a:headEnd/>
                <a:tailEnd/>
              </a:ln>
            </p:spPr>
            <p:txBody>
              <a:bodyPr/>
              <a:lstStyle/>
              <a:p>
                <a:endParaRPr lang="zh-CN" altLang="en-US"/>
              </a:p>
            </p:txBody>
          </p:sp>
          <p:sp>
            <p:nvSpPr>
              <p:cNvPr id="133154" name="Oval 32"/>
              <p:cNvSpPr>
                <a:spLocks noChangeArrowheads="1"/>
              </p:cNvSpPr>
              <p:nvPr/>
            </p:nvSpPr>
            <p:spPr bwMode="auto">
              <a:xfrm>
                <a:off x="5534" y="8390"/>
                <a:ext cx="134" cy="797"/>
              </a:xfrm>
              <a:prstGeom prst="ellipse">
                <a:avLst/>
              </a:prstGeom>
              <a:noFill/>
              <a:ln w="9525">
                <a:solidFill>
                  <a:srgbClr val="000000"/>
                </a:solidFill>
                <a:round/>
                <a:headEnd/>
                <a:tailEnd/>
              </a:ln>
            </p:spPr>
            <p:txBody>
              <a:bodyPr/>
              <a:lstStyle/>
              <a:p>
                <a:endParaRPr lang="zh-CN" altLang="en-US"/>
              </a:p>
            </p:txBody>
          </p:sp>
          <p:sp>
            <p:nvSpPr>
              <p:cNvPr id="133155" name="Line 33"/>
              <p:cNvSpPr>
                <a:spLocks noChangeShapeType="1"/>
              </p:cNvSpPr>
              <p:nvPr/>
            </p:nvSpPr>
            <p:spPr bwMode="auto">
              <a:xfrm>
                <a:off x="5394" y="8397"/>
                <a:ext cx="194" cy="0"/>
              </a:xfrm>
              <a:prstGeom prst="line">
                <a:avLst/>
              </a:prstGeom>
              <a:noFill/>
              <a:ln w="9525">
                <a:solidFill>
                  <a:srgbClr val="000000"/>
                </a:solidFill>
                <a:round/>
                <a:headEnd/>
                <a:tailEnd/>
              </a:ln>
            </p:spPr>
            <p:txBody>
              <a:bodyPr/>
              <a:lstStyle/>
              <a:p>
                <a:endParaRPr lang="zh-CN" altLang="en-US"/>
              </a:p>
            </p:txBody>
          </p:sp>
          <p:sp>
            <p:nvSpPr>
              <p:cNvPr id="133156" name="Line 34"/>
              <p:cNvSpPr>
                <a:spLocks noChangeShapeType="1"/>
              </p:cNvSpPr>
              <p:nvPr/>
            </p:nvSpPr>
            <p:spPr bwMode="auto">
              <a:xfrm>
                <a:off x="5399" y="9178"/>
                <a:ext cx="210" cy="0"/>
              </a:xfrm>
              <a:prstGeom prst="line">
                <a:avLst/>
              </a:prstGeom>
              <a:noFill/>
              <a:ln w="9525">
                <a:solidFill>
                  <a:srgbClr val="000000"/>
                </a:solidFill>
                <a:round/>
                <a:headEnd/>
                <a:tailEnd/>
              </a:ln>
            </p:spPr>
            <p:txBody>
              <a:bodyPr/>
              <a:lstStyle/>
              <a:p>
                <a:endParaRPr lang="zh-CN" altLang="en-US"/>
              </a:p>
            </p:txBody>
          </p:sp>
          <p:sp>
            <p:nvSpPr>
              <p:cNvPr id="133157" name="Oval 35"/>
              <p:cNvSpPr>
                <a:spLocks noChangeArrowheads="1"/>
              </p:cNvSpPr>
              <p:nvPr/>
            </p:nvSpPr>
            <p:spPr bwMode="auto">
              <a:xfrm>
                <a:off x="6022" y="8448"/>
                <a:ext cx="164" cy="717"/>
              </a:xfrm>
              <a:prstGeom prst="ellipse">
                <a:avLst/>
              </a:prstGeom>
              <a:noFill/>
              <a:ln w="9525">
                <a:solidFill>
                  <a:srgbClr val="000000"/>
                </a:solidFill>
                <a:round/>
                <a:headEnd/>
                <a:tailEnd/>
              </a:ln>
            </p:spPr>
            <p:txBody>
              <a:bodyPr/>
              <a:lstStyle/>
              <a:p>
                <a:endParaRPr lang="zh-CN" altLang="en-US"/>
              </a:p>
            </p:txBody>
          </p:sp>
          <p:sp>
            <p:nvSpPr>
              <p:cNvPr id="133158" name="Oval 36"/>
              <p:cNvSpPr>
                <a:spLocks noChangeArrowheads="1"/>
              </p:cNvSpPr>
              <p:nvPr/>
            </p:nvSpPr>
            <p:spPr bwMode="auto">
              <a:xfrm>
                <a:off x="7070" y="8568"/>
                <a:ext cx="104" cy="495"/>
              </a:xfrm>
              <a:prstGeom prst="ellipse">
                <a:avLst/>
              </a:prstGeom>
              <a:noFill/>
              <a:ln w="9525">
                <a:solidFill>
                  <a:srgbClr val="000000"/>
                </a:solidFill>
                <a:round/>
                <a:headEnd/>
                <a:tailEnd/>
              </a:ln>
            </p:spPr>
            <p:txBody>
              <a:bodyPr/>
              <a:lstStyle/>
              <a:p>
                <a:endParaRPr lang="zh-CN" altLang="en-US"/>
              </a:p>
            </p:txBody>
          </p:sp>
          <p:sp>
            <p:nvSpPr>
              <p:cNvPr id="133159" name="Line 37"/>
              <p:cNvSpPr>
                <a:spLocks noChangeShapeType="1"/>
              </p:cNvSpPr>
              <p:nvPr/>
            </p:nvSpPr>
            <p:spPr bwMode="auto">
              <a:xfrm flipH="1">
                <a:off x="7250" y="8562"/>
                <a:ext cx="2" cy="495"/>
              </a:xfrm>
              <a:prstGeom prst="line">
                <a:avLst/>
              </a:prstGeom>
              <a:noFill/>
              <a:ln w="9525">
                <a:solidFill>
                  <a:srgbClr val="000000"/>
                </a:solidFill>
                <a:round/>
                <a:headEnd/>
                <a:tailEnd/>
              </a:ln>
            </p:spPr>
            <p:txBody>
              <a:bodyPr/>
              <a:lstStyle/>
              <a:p>
                <a:endParaRPr lang="zh-CN" altLang="en-US"/>
              </a:p>
            </p:txBody>
          </p:sp>
          <p:sp>
            <p:nvSpPr>
              <p:cNvPr id="133160" name="Line 38"/>
              <p:cNvSpPr>
                <a:spLocks noChangeShapeType="1"/>
              </p:cNvSpPr>
              <p:nvPr/>
            </p:nvSpPr>
            <p:spPr bwMode="auto">
              <a:xfrm>
                <a:off x="7132" y="8562"/>
                <a:ext cx="120" cy="0"/>
              </a:xfrm>
              <a:prstGeom prst="line">
                <a:avLst/>
              </a:prstGeom>
              <a:noFill/>
              <a:ln w="9525">
                <a:solidFill>
                  <a:srgbClr val="000000"/>
                </a:solidFill>
                <a:round/>
                <a:headEnd/>
                <a:tailEnd/>
              </a:ln>
            </p:spPr>
            <p:txBody>
              <a:bodyPr/>
              <a:lstStyle/>
              <a:p>
                <a:endParaRPr lang="zh-CN" altLang="en-US"/>
              </a:p>
            </p:txBody>
          </p:sp>
          <p:sp>
            <p:nvSpPr>
              <p:cNvPr id="133161" name="Line 39"/>
              <p:cNvSpPr>
                <a:spLocks noChangeShapeType="1"/>
              </p:cNvSpPr>
              <p:nvPr/>
            </p:nvSpPr>
            <p:spPr bwMode="auto">
              <a:xfrm>
                <a:off x="7141" y="9057"/>
                <a:ext cx="110" cy="0"/>
              </a:xfrm>
              <a:prstGeom prst="line">
                <a:avLst/>
              </a:prstGeom>
              <a:noFill/>
              <a:ln w="9525">
                <a:solidFill>
                  <a:srgbClr val="000000"/>
                </a:solidFill>
                <a:round/>
                <a:headEnd/>
                <a:tailEnd/>
              </a:ln>
            </p:spPr>
            <p:txBody>
              <a:bodyPr/>
              <a:lstStyle/>
              <a:p>
                <a:endParaRPr lang="zh-CN" altLang="en-US"/>
              </a:p>
            </p:txBody>
          </p:sp>
          <p:sp>
            <p:nvSpPr>
              <p:cNvPr id="133162" name="Line 40"/>
              <p:cNvSpPr>
                <a:spLocks noChangeShapeType="1"/>
              </p:cNvSpPr>
              <p:nvPr/>
            </p:nvSpPr>
            <p:spPr bwMode="auto">
              <a:xfrm flipV="1">
                <a:off x="3592" y="8467"/>
                <a:ext cx="1824" cy="354"/>
              </a:xfrm>
              <a:prstGeom prst="line">
                <a:avLst/>
              </a:prstGeom>
              <a:noFill/>
              <a:ln w="9525">
                <a:solidFill>
                  <a:srgbClr val="000000"/>
                </a:solidFill>
                <a:round/>
                <a:headEnd/>
                <a:tailEnd/>
              </a:ln>
            </p:spPr>
            <p:txBody>
              <a:bodyPr/>
              <a:lstStyle/>
              <a:p>
                <a:endParaRPr lang="zh-CN" altLang="en-US"/>
              </a:p>
            </p:txBody>
          </p:sp>
          <p:sp>
            <p:nvSpPr>
              <p:cNvPr id="133163" name="Line 41"/>
              <p:cNvSpPr>
                <a:spLocks noChangeShapeType="1"/>
              </p:cNvSpPr>
              <p:nvPr/>
            </p:nvSpPr>
            <p:spPr bwMode="auto">
              <a:xfrm>
                <a:off x="3603" y="8832"/>
                <a:ext cx="1803" cy="304"/>
              </a:xfrm>
              <a:prstGeom prst="line">
                <a:avLst/>
              </a:prstGeom>
              <a:noFill/>
              <a:ln w="9525">
                <a:solidFill>
                  <a:srgbClr val="000000"/>
                </a:solidFill>
                <a:round/>
                <a:headEnd/>
                <a:tailEnd/>
              </a:ln>
            </p:spPr>
            <p:txBody>
              <a:bodyPr/>
              <a:lstStyle/>
              <a:p>
                <a:endParaRPr lang="zh-CN" altLang="en-US"/>
              </a:p>
            </p:txBody>
          </p:sp>
          <p:sp>
            <p:nvSpPr>
              <p:cNvPr id="133164" name="Line 42"/>
              <p:cNvSpPr>
                <a:spLocks noChangeShapeType="1"/>
              </p:cNvSpPr>
              <p:nvPr/>
            </p:nvSpPr>
            <p:spPr bwMode="auto">
              <a:xfrm>
                <a:off x="5646" y="8467"/>
                <a:ext cx="466" cy="0"/>
              </a:xfrm>
              <a:prstGeom prst="line">
                <a:avLst/>
              </a:prstGeom>
              <a:noFill/>
              <a:ln w="9525">
                <a:solidFill>
                  <a:srgbClr val="000000"/>
                </a:solidFill>
                <a:round/>
                <a:headEnd/>
                <a:tailEnd/>
              </a:ln>
            </p:spPr>
            <p:txBody>
              <a:bodyPr/>
              <a:lstStyle/>
              <a:p>
                <a:endParaRPr lang="zh-CN" altLang="en-US"/>
              </a:p>
            </p:txBody>
          </p:sp>
          <p:sp>
            <p:nvSpPr>
              <p:cNvPr id="133165" name="Line 43"/>
              <p:cNvSpPr>
                <a:spLocks noChangeShapeType="1"/>
              </p:cNvSpPr>
              <p:nvPr/>
            </p:nvSpPr>
            <p:spPr bwMode="auto">
              <a:xfrm>
                <a:off x="5631" y="9161"/>
                <a:ext cx="481" cy="0"/>
              </a:xfrm>
              <a:prstGeom prst="line">
                <a:avLst/>
              </a:prstGeom>
              <a:noFill/>
              <a:ln w="9525">
                <a:solidFill>
                  <a:srgbClr val="000000"/>
                </a:solidFill>
                <a:round/>
                <a:headEnd/>
                <a:tailEnd/>
              </a:ln>
            </p:spPr>
            <p:txBody>
              <a:bodyPr/>
              <a:lstStyle/>
              <a:p>
                <a:endParaRPr lang="zh-CN" altLang="en-US"/>
              </a:p>
            </p:txBody>
          </p:sp>
          <p:sp>
            <p:nvSpPr>
              <p:cNvPr id="133166" name="Line 44"/>
              <p:cNvSpPr>
                <a:spLocks noChangeShapeType="1"/>
              </p:cNvSpPr>
              <p:nvPr/>
            </p:nvSpPr>
            <p:spPr bwMode="auto">
              <a:xfrm>
                <a:off x="6096" y="8462"/>
                <a:ext cx="1095" cy="556"/>
              </a:xfrm>
              <a:prstGeom prst="line">
                <a:avLst/>
              </a:prstGeom>
              <a:noFill/>
              <a:ln w="9525">
                <a:solidFill>
                  <a:srgbClr val="000000"/>
                </a:solidFill>
                <a:round/>
                <a:headEnd/>
                <a:tailEnd/>
              </a:ln>
            </p:spPr>
            <p:txBody>
              <a:bodyPr/>
              <a:lstStyle/>
              <a:p>
                <a:endParaRPr lang="zh-CN" altLang="en-US"/>
              </a:p>
            </p:txBody>
          </p:sp>
          <p:sp>
            <p:nvSpPr>
              <p:cNvPr id="133167" name="Line 45"/>
              <p:cNvSpPr>
                <a:spLocks noChangeShapeType="1"/>
              </p:cNvSpPr>
              <p:nvPr/>
            </p:nvSpPr>
            <p:spPr bwMode="auto">
              <a:xfrm flipV="1">
                <a:off x="6117" y="8613"/>
                <a:ext cx="1070" cy="549"/>
              </a:xfrm>
              <a:prstGeom prst="line">
                <a:avLst/>
              </a:prstGeom>
              <a:noFill/>
              <a:ln w="9525">
                <a:solidFill>
                  <a:srgbClr val="000000"/>
                </a:solidFill>
                <a:round/>
                <a:headEnd/>
                <a:tailEnd/>
              </a:ln>
            </p:spPr>
            <p:txBody>
              <a:bodyPr/>
              <a:lstStyle/>
              <a:p>
                <a:endParaRPr lang="zh-CN" altLang="en-US"/>
              </a:p>
            </p:txBody>
          </p:sp>
          <p:sp>
            <p:nvSpPr>
              <p:cNvPr id="133168" name="Rectangle 46"/>
              <p:cNvSpPr>
                <a:spLocks noChangeArrowheads="1"/>
              </p:cNvSpPr>
              <p:nvPr/>
            </p:nvSpPr>
            <p:spPr bwMode="auto">
              <a:xfrm>
                <a:off x="7732" y="8275"/>
                <a:ext cx="60" cy="1100"/>
              </a:xfrm>
              <a:prstGeom prst="rect">
                <a:avLst/>
              </a:prstGeom>
              <a:noFill/>
              <a:ln w="9525">
                <a:solidFill>
                  <a:srgbClr val="000000"/>
                </a:solidFill>
                <a:miter lim="800000"/>
                <a:headEnd/>
                <a:tailEnd/>
              </a:ln>
            </p:spPr>
            <p:txBody>
              <a:bodyPr/>
              <a:lstStyle/>
              <a:p>
                <a:endParaRPr lang="zh-CN" altLang="en-US"/>
              </a:p>
            </p:txBody>
          </p:sp>
          <p:sp>
            <p:nvSpPr>
              <p:cNvPr id="133169" name="Rectangle 47"/>
              <p:cNvSpPr>
                <a:spLocks noChangeArrowheads="1"/>
              </p:cNvSpPr>
              <p:nvPr/>
            </p:nvSpPr>
            <p:spPr bwMode="auto">
              <a:xfrm>
                <a:off x="7792" y="9168"/>
                <a:ext cx="90" cy="111"/>
              </a:xfrm>
              <a:prstGeom prst="rect">
                <a:avLst/>
              </a:prstGeom>
              <a:noFill/>
              <a:ln w="9525">
                <a:solidFill>
                  <a:srgbClr val="000000"/>
                </a:solidFill>
                <a:miter lim="800000"/>
                <a:headEnd/>
                <a:tailEnd/>
              </a:ln>
            </p:spPr>
            <p:txBody>
              <a:bodyPr/>
              <a:lstStyle/>
              <a:p>
                <a:endParaRPr lang="zh-CN" altLang="en-US"/>
              </a:p>
            </p:txBody>
          </p:sp>
          <p:sp>
            <p:nvSpPr>
              <p:cNvPr id="133170" name="Oval 48"/>
              <p:cNvSpPr>
                <a:spLocks noChangeArrowheads="1"/>
              </p:cNvSpPr>
              <p:nvPr/>
            </p:nvSpPr>
            <p:spPr bwMode="auto">
              <a:xfrm>
                <a:off x="8586" y="8476"/>
                <a:ext cx="166" cy="670"/>
              </a:xfrm>
              <a:prstGeom prst="ellipse">
                <a:avLst/>
              </a:prstGeom>
              <a:noFill/>
              <a:ln w="9525">
                <a:solidFill>
                  <a:srgbClr val="000000"/>
                </a:solidFill>
                <a:round/>
                <a:headEnd/>
                <a:tailEnd/>
              </a:ln>
            </p:spPr>
            <p:txBody>
              <a:bodyPr/>
              <a:lstStyle/>
              <a:p>
                <a:endParaRPr lang="zh-CN" altLang="en-US"/>
              </a:p>
            </p:txBody>
          </p:sp>
          <p:sp>
            <p:nvSpPr>
              <p:cNvPr id="133171" name="Line 49"/>
              <p:cNvSpPr>
                <a:spLocks noChangeShapeType="1"/>
              </p:cNvSpPr>
              <p:nvPr/>
            </p:nvSpPr>
            <p:spPr bwMode="auto">
              <a:xfrm>
                <a:off x="7192" y="8610"/>
                <a:ext cx="1470" cy="526"/>
              </a:xfrm>
              <a:prstGeom prst="line">
                <a:avLst/>
              </a:prstGeom>
              <a:noFill/>
              <a:ln w="9525">
                <a:solidFill>
                  <a:srgbClr val="000000"/>
                </a:solidFill>
                <a:round/>
                <a:headEnd/>
                <a:tailEnd/>
              </a:ln>
            </p:spPr>
            <p:txBody>
              <a:bodyPr/>
              <a:lstStyle/>
              <a:p>
                <a:endParaRPr lang="zh-CN" altLang="en-US"/>
              </a:p>
            </p:txBody>
          </p:sp>
          <p:sp>
            <p:nvSpPr>
              <p:cNvPr id="133172" name="Line 50"/>
              <p:cNvSpPr>
                <a:spLocks noChangeShapeType="1"/>
              </p:cNvSpPr>
              <p:nvPr/>
            </p:nvSpPr>
            <p:spPr bwMode="auto">
              <a:xfrm flipV="1">
                <a:off x="7192" y="8515"/>
                <a:ext cx="1439" cy="493"/>
              </a:xfrm>
              <a:prstGeom prst="line">
                <a:avLst/>
              </a:prstGeom>
              <a:noFill/>
              <a:ln w="9525">
                <a:solidFill>
                  <a:srgbClr val="000000"/>
                </a:solidFill>
                <a:round/>
                <a:headEnd/>
                <a:tailEnd/>
              </a:ln>
            </p:spPr>
            <p:txBody>
              <a:bodyPr/>
              <a:lstStyle/>
              <a:p>
                <a:endParaRPr lang="zh-CN" altLang="en-US"/>
              </a:p>
            </p:txBody>
          </p:sp>
          <p:sp>
            <p:nvSpPr>
              <p:cNvPr id="133173" name="Rectangle 51"/>
              <p:cNvSpPr>
                <a:spLocks noChangeArrowheads="1"/>
              </p:cNvSpPr>
              <p:nvPr/>
            </p:nvSpPr>
            <p:spPr bwMode="auto">
              <a:xfrm>
                <a:off x="9292" y="8498"/>
                <a:ext cx="390" cy="622"/>
              </a:xfrm>
              <a:prstGeom prst="rect">
                <a:avLst/>
              </a:prstGeom>
              <a:noFill/>
              <a:ln w="9525">
                <a:solidFill>
                  <a:srgbClr val="000000"/>
                </a:solidFill>
                <a:miter lim="800000"/>
                <a:headEnd/>
                <a:tailEnd/>
              </a:ln>
            </p:spPr>
            <p:txBody>
              <a:bodyPr/>
              <a:lstStyle/>
              <a:p>
                <a:endParaRPr lang="zh-CN" altLang="en-US"/>
              </a:p>
            </p:txBody>
          </p:sp>
          <p:sp>
            <p:nvSpPr>
              <p:cNvPr id="133174" name="Line 52"/>
              <p:cNvSpPr>
                <a:spLocks noChangeShapeType="1"/>
              </p:cNvSpPr>
              <p:nvPr/>
            </p:nvSpPr>
            <p:spPr bwMode="auto">
              <a:xfrm>
                <a:off x="8707" y="8514"/>
                <a:ext cx="584" cy="294"/>
              </a:xfrm>
              <a:prstGeom prst="line">
                <a:avLst/>
              </a:prstGeom>
              <a:noFill/>
              <a:ln w="9525">
                <a:solidFill>
                  <a:srgbClr val="000000"/>
                </a:solidFill>
                <a:round/>
                <a:headEnd/>
                <a:tailEnd/>
              </a:ln>
            </p:spPr>
            <p:txBody>
              <a:bodyPr/>
              <a:lstStyle/>
              <a:p>
                <a:endParaRPr lang="zh-CN" altLang="en-US"/>
              </a:p>
            </p:txBody>
          </p:sp>
          <p:sp>
            <p:nvSpPr>
              <p:cNvPr id="133175" name="Line 53"/>
              <p:cNvSpPr>
                <a:spLocks noChangeShapeType="1"/>
              </p:cNvSpPr>
              <p:nvPr/>
            </p:nvSpPr>
            <p:spPr bwMode="auto">
              <a:xfrm flipV="1">
                <a:off x="8692" y="8811"/>
                <a:ext cx="605" cy="325"/>
              </a:xfrm>
              <a:prstGeom prst="line">
                <a:avLst/>
              </a:prstGeom>
              <a:noFill/>
              <a:ln w="9525">
                <a:solidFill>
                  <a:srgbClr val="000000"/>
                </a:solidFill>
                <a:round/>
                <a:headEnd/>
                <a:tailEnd/>
              </a:ln>
            </p:spPr>
            <p:txBody>
              <a:bodyPr/>
              <a:lstStyle/>
              <a:p>
                <a:endParaRPr lang="zh-CN" altLang="en-US"/>
              </a:p>
            </p:txBody>
          </p:sp>
          <p:sp>
            <p:nvSpPr>
              <p:cNvPr id="133176" name="Rectangle 54"/>
              <p:cNvSpPr>
                <a:spLocks noChangeArrowheads="1"/>
              </p:cNvSpPr>
              <p:nvPr/>
            </p:nvSpPr>
            <p:spPr bwMode="auto">
              <a:xfrm rot="2944417">
                <a:off x="8097" y="8435"/>
                <a:ext cx="32" cy="666"/>
              </a:xfrm>
              <a:prstGeom prst="rect">
                <a:avLst/>
              </a:prstGeom>
              <a:noFill/>
              <a:ln w="9525">
                <a:solidFill>
                  <a:srgbClr val="000000"/>
                </a:solidFill>
                <a:miter lim="800000"/>
                <a:headEnd/>
                <a:tailEnd/>
              </a:ln>
            </p:spPr>
            <p:txBody>
              <a:bodyPr/>
              <a:lstStyle/>
              <a:p>
                <a:endParaRPr lang="zh-CN" altLang="en-US"/>
              </a:p>
            </p:txBody>
          </p:sp>
          <p:sp>
            <p:nvSpPr>
              <p:cNvPr id="133177" name="Line 55"/>
              <p:cNvSpPr>
                <a:spLocks noChangeShapeType="1"/>
              </p:cNvSpPr>
              <p:nvPr/>
            </p:nvSpPr>
            <p:spPr bwMode="auto">
              <a:xfrm flipV="1">
                <a:off x="8062" y="7845"/>
                <a:ext cx="0" cy="972"/>
              </a:xfrm>
              <a:prstGeom prst="line">
                <a:avLst/>
              </a:prstGeom>
              <a:noFill/>
              <a:ln w="6350">
                <a:solidFill>
                  <a:srgbClr val="000000"/>
                </a:solidFill>
                <a:prstDash val="dash"/>
                <a:round/>
                <a:headEnd/>
                <a:tailEnd/>
              </a:ln>
            </p:spPr>
            <p:txBody>
              <a:bodyPr/>
              <a:lstStyle/>
              <a:p>
                <a:endParaRPr lang="zh-CN" altLang="en-US"/>
              </a:p>
            </p:txBody>
          </p:sp>
          <p:sp>
            <p:nvSpPr>
              <p:cNvPr id="133178" name="Oval 56"/>
              <p:cNvSpPr>
                <a:spLocks noChangeArrowheads="1"/>
              </p:cNvSpPr>
              <p:nvPr/>
            </p:nvSpPr>
            <p:spPr bwMode="auto">
              <a:xfrm>
                <a:off x="7956" y="8132"/>
                <a:ext cx="210" cy="80"/>
              </a:xfrm>
              <a:prstGeom prst="ellipse">
                <a:avLst/>
              </a:prstGeom>
              <a:noFill/>
              <a:ln w="9525">
                <a:solidFill>
                  <a:srgbClr val="000000"/>
                </a:solidFill>
                <a:round/>
                <a:headEnd/>
                <a:tailEnd/>
              </a:ln>
            </p:spPr>
            <p:txBody>
              <a:bodyPr/>
              <a:lstStyle/>
              <a:p>
                <a:endParaRPr lang="zh-CN" altLang="en-US"/>
              </a:p>
            </p:txBody>
          </p:sp>
          <p:sp>
            <p:nvSpPr>
              <p:cNvPr id="133179" name="Oval 57"/>
              <p:cNvSpPr>
                <a:spLocks noChangeArrowheads="1"/>
              </p:cNvSpPr>
              <p:nvPr/>
            </p:nvSpPr>
            <p:spPr bwMode="auto">
              <a:xfrm>
                <a:off x="7964" y="7934"/>
                <a:ext cx="196" cy="80"/>
              </a:xfrm>
              <a:prstGeom prst="ellipse">
                <a:avLst/>
              </a:prstGeom>
              <a:noFill/>
              <a:ln w="9525">
                <a:solidFill>
                  <a:srgbClr val="000000"/>
                </a:solidFill>
                <a:round/>
                <a:headEnd/>
                <a:tailEnd/>
              </a:ln>
            </p:spPr>
            <p:txBody>
              <a:bodyPr/>
              <a:lstStyle/>
              <a:p>
                <a:endParaRPr lang="zh-CN" altLang="en-US"/>
              </a:p>
            </p:txBody>
          </p:sp>
          <p:sp>
            <p:nvSpPr>
              <p:cNvPr id="133180" name="Line 58"/>
              <p:cNvSpPr>
                <a:spLocks noChangeShapeType="1"/>
              </p:cNvSpPr>
              <p:nvPr/>
            </p:nvSpPr>
            <p:spPr bwMode="auto">
              <a:xfrm flipV="1">
                <a:off x="2512" y="8811"/>
                <a:ext cx="6900" cy="16"/>
              </a:xfrm>
              <a:prstGeom prst="line">
                <a:avLst/>
              </a:prstGeom>
              <a:noFill/>
              <a:ln w="6350">
                <a:solidFill>
                  <a:srgbClr val="000000"/>
                </a:solidFill>
                <a:prstDash val="dash"/>
                <a:round/>
                <a:headEnd/>
                <a:tailEnd/>
              </a:ln>
            </p:spPr>
            <p:txBody>
              <a:bodyPr/>
              <a:lstStyle/>
              <a:p>
                <a:endParaRPr lang="zh-CN" altLang="en-US"/>
              </a:p>
            </p:txBody>
          </p:sp>
          <p:sp>
            <p:nvSpPr>
              <p:cNvPr id="133181" name="Line 59"/>
              <p:cNvSpPr>
                <a:spLocks noChangeShapeType="1"/>
              </p:cNvSpPr>
              <p:nvPr/>
            </p:nvSpPr>
            <p:spPr bwMode="auto">
              <a:xfrm>
                <a:off x="6802" y="8546"/>
                <a:ext cx="0" cy="223"/>
              </a:xfrm>
              <a:prstGeom prst="line">
                <a:avLst/>
              </a:prstGeom>
              <a:noFill/>
              <a:ln w="9525">
                <a:solidFill>
                  <a:srgbClr val="000000"/>
                </a:solidFill>
                <a:round/>
                <a:headEnd/>
                <a:tailEnd/>
              </a:ln>
            </p:spPr>
            <p:txBody>
              <a:bodyPr/>
              <a:lstStyle/>
              <a:p>
                <a:endParaRPr lang="zh-CN" altLang="en-US"/>
              </a:p>
            </p:txBody>
          </p:sp>
          <p:sp>
            <p:nvSpPr>
              <p:cNvPr id="133182" name="Line 60"/>
              <p:cNvSpPr>
                <a:spLocks noChangeShapeType="1"/>
              </p:cNvSpPr>
              <p:nvPr/>
            </p:nvSpPr>
            <p:spPr bwMode="auto">
              <a:xfrm>
                <a:off x="6802" y="8865"/>
                <a:ext cx="0" cy="159"/>
              </a:xfrm>
              <a:prstGeom prst="line">
                <a:avLst/>
              </a:prstGeom>
              <a:noFill/>
              <a:ln w="9525">
                <a:solidFill>
                  <a:srgbClr val="000000"/>
                </a:solidFill>
                <a:round/>
                <a:headEnd/>
                <a:tailEnd/>
              </a:ln>
            </p:spPr>
            <p:txBody>
              <a:bodyPr/>
              <a:lstStyle/>
              <a:p>
                <a:endParaRPr lang="zh-CN" altLang="en-US"/>
              </a:p>
            </p:txBody>
          </p:sp>
          <p:sp>
            <p:nvSpPr>
              <p:cNvPr id="646205" name="Text Box 61"/>
              <p:cNvSpPr txBox="1">
                <a:spLocks noChangeArrowheads="1"/>
              </p:cNvSpPr>
              <p:nvPr/>
            </p:nvSpPr>
            <p:spPr bwMode="auto">
              <a:xfrm>
                <a:off x="2340" y="8271"/>
                <a:ext cx="376" cy="445"/>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a:t>
                </a:r>
                <a:endParaRPr lang="en-US" altLang="zh-CN" sz="1600" b="1">
                  <a:effectLst>
                    <a:outerShdw blurRad="38100" dist="38100" dir="2700000" algn="tl">
                      <a:srgbClr val="C0C0C0"/>
                    </a:outerShdw>
                  </a:effectLst>
                </a:endParaRPr>
              </a:p>
            </p:txBody>
          </p:sp>
          <p:sp>
            <p:nvSpPr>
              <p:cNvPr id="646206" name="Text Box 62"/>
              <p:cNvSpPr txBox="1">
                <a:spLocks noChangeArrowheads="1"/>
              </p:cNvSpPr>
              <p:nvPr/>
            </p:nvSpPr>
            <p:spPr bwMode="auto">
              <a:xfrm>
                <a:off x="3512" y="8204"/>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4</a:t>
                </a:r>
                <a:endParaRPr lang="en-US" altLang="zh-CN" sz="1600" b="1">
                  <a:effectLst>
                    <a:outerShdw blurRad="38100" dist="38100" dir="2700000" algn="tl">
                      <a:srgbClr val="C0C0C0"/>
                    </a:outerShdw>
                  </a:effectLst>
                </a:endParaRPr>
              </a:p>
            </p:txBody>
          </p:sp>
          <p:sp>
            <p:nvSpPr>
              <p:cNvPr id="646207" name="Text Box 63"/>
              <p:cNvSpPr txBox="1">
                <a:spLocks noChangeArrowheads="1"/>
              </p:cNvSpPr>
              <p:nvPr/>
            </p:nvSpPr>
            <p:spPr bwMode="auto">
              <a:xfrm>
                <a:off x="2780" y="8183"/>
                <a:ext cx="376" cy="445"/>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2</a:t>
                </a:r>
                <a:endParaRPr lang="en-US" altLang="zh-CN" sz="1600" b="1">
                  <a:effectLst>
                    <a:outerShdw blurRad="38100" dist="38100" dir="2700000" algn="tl">
                      <a:srgbClr val="C0C0C0"/>
                    </a:outerShdw>
                  </a:effectLst>
                </a:endParaRPr>
              </a:p>
            </p:txBody>
          </p:sp>
          <p:sp>
            <p:nvSpPr>
              <p:cNvPr id="646208" name="Text Box 64"/>
              <p:cNvSpPr txBox="1">
                <a:spLocks noChangeArrowheads="1"/>
              </p:cNvSpPr>
              <p:nvPr/>
            </p:nvSpPr>
            <p:spPr bwMode="auto">
              <a:xfrm>
                <a:off x="3240" y="8083"/>
                <a:ext cx="376" cy="445"/>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3</a:t>
                </a:r>
                <a:endParaRPr lang="en-US" altLang="zh-CN" sz="1600" b="1">
                  <a:effectLst>
                    <a:outerShdw blurRad="38100" dist="38100" dir="2700000" algn="tl">
                      <a:srgbClr val="C0C0C0"/>
                    </a:outerShdw>
                  </a:effectLst>
                </a:endParaRPr>
              </a:p>
            </p:txBody>
          </p:sp>
          <p:sp>
            <p:nvSpPr>
              <p:cNvPr id="646209" name="Text Box 65"/>
              <p:cNvSpPr txBox="1">
                <a:spLocks noChangeArrowheads="1"/>
              </p:cNvSpPr>
              <p:nvPr/>
            </p:nvSpPr>
            <p:spPr bwMode="auto">
              <a:xfrm>
                <a:off x="5320" y="7979"/>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5</a:t>
                </a:r>
                <a:endParaRPr lang="en-US" altLang="zh-CN" sz="1600" b="1">
                  <a:effectLst>
                    <a:outerShdw blurRad="38100" dist="38100" dir="2700000" algn="tl">
                      <a:srgbClr val="C0C0C0"/>
                    </a:outerShdw>
                  </a:effectLst>
                </a:endParaRPr>
              </a:p>
            </p:txBody>
          </p:sp>
          <p:sp>
            <p:nvSpPr>
              <p:cNvPr id="646210" name="Text Box 66"/>
              <p:cNvSpPr txBox="1">
                <a:spLocks noChangeArrowheads="1"/>
              </p:cNvSpPr>
              <p:nvPr/>
            </p:nvSpPr>
            <p:spPr bwMode="auto">
              <a:xfrm>
                <a:off x="5920" y="7961"/>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6</a:t>
                </a:r>
                <a:endParaRPr lang="en-US" altLang="zh-CN" sz="1600" b="1">
                  <a:effectLst>
                    <a:outerShdw blurRad="38100" dist="38100" dir="2700000" algn="tl">
                      <a:srgbClr val="C0C0C0"/>
                    </a:outerShdw>
                  </a:effectLst>
                </a:endParaRPr>
              </a:p>
            </p:txBody>
          </p:sp>
          <p:sp>
            <p:nvSpPr>
              <p:cNvPr id="646211" name="Text Box 67"/>
              <p:cNvSpPr txBox="1">
                <a:spLocks noChangeArrowheads="1"/>
              </p:cNvSpPr>
              <p:nvPr/>
            </p:nvSpPr>
            <p:spPr bwMode="auto">
              <a:xfrm>
                <a:off x="6610" y="8204"/>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7</a:t>
                </a:r>
                <a:endParaRPr lang="en-US" altLang="zh-CN" sz="1600" b="1">
                  <a:effectLst>
                    <a:outerShdw blurRad="38100" dist="38100" dir="2700000" algn="tl">
                      <a:srgbClr val="C0C0C0"/>
                    </a:outerShdw>
                  </a:effectLst>
                </a:endParaRPr>
              </a:p>
            </p:txBody>
          </p:sp>
          <p:sp>
            <p:nvSpPr>
              <p:cNvPr id="646212" name="Text Box 68"/>
              <p:cNvSpPr txBox="1">
                <a:spLocks noChangeArrowheads="1"/>
              </p:cNvSpPr>
              <p:nvPr/>
            </p:nvSpPr>
            <p:spPr bwMode="auto">
              <a:xfrm>
                <a:off x="6975" y="8210"/>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8</a:t>
                </a:r>
                <a:endParaRPr lang="en-US" altLang="zh-CN" sz="1600" b="1">
                  <a:effectLst>
                    <a:outerShdw blurRad="38100" dist="38100" dir="2700000" algn="tl">
                      <a:srgbClr val="C0C0C0"/>
                    </a:outerShdw>
                  </a:effectLst>
                </a:endParaRPr>
              </a:p>
            </p:txBody>
          </p:sp>
          <p:sp>
            <p:nvSpPr>
              <p:cNvPr id="646213" name="Text Box 69"/>
              <p:cNvSpPr txBox="1">
                <a:spLocks noChangeArrowheads="1"/>
              </p:cNvSpPr>
              <p:nvPr/>
            </p:nvSpPr>
            <p:spPr bwMode="auto">
              <a:xfrm>
                <a:off x="7445" y="8057"/>
                <a:ext cx="376"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9</a:t>
                </a:r>
                <a:endParaRPr lang="en-US" altLang="zh-CN" sz="1600" b="1">
                  <a:effectLst>
                    <a:outerShdw blurRad="38100" dist="38100" dir="2700000" algn="tl">
                      <a:srgbClr val="C0C0C0"/>
                    </a:outerShdw>
                  </a:effectLst>
                </a:endParaRPr>
              </a:p>
            </p:txBody>
          </p:sp>
          <p:sp>
            <p:nvSpPr>
              <p:cNvPr id="646214" name="Text Box 70"/>
              <p:cNvSpPr txBox="1">
                <a:spLocks noChangeArrowheads="1"/>
              </p:cNvSpPr>
              <p:nvPr/>
            </p:nvSpPr>
            <p:spPr bwMode="auto">
              <a:xfrm>
                <a:off x="7825" y="8779"/>
                <a:ext cx="618"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10</a:t>
                </a:r>
                <a:endParaRPr lang="en-US" altLang="zh-CN" sz="1600" b="1">
                  <a:effectLst>
                    <a:outerShdw blurRad="38100" dist="38100" dir="2700000" algn="tl">
                      <a:srgbClr val="C0C0C0"/>
                    </a:outerShdw>
                  </a:effectLst>
                </a:endParaRPr>
              </a:p>
            </p:txBody>
          </p:sp>
          <p:sp>
            <p:nvSpPr>
              <p:cNvPr id="646215" name="Text Box 71"/>
              <p:cNvSpPr txBox="1">
                <a:spLocks noChangeArrowheads="1"/>
              </p:cNvSpPr>
              <p:nvPr/>
            </p:nvSpPr>
            <p:spPr bwMode="auto">
              <a:xfrm>
                <a:off x="8450" y="8092"/>
                <a:ext cx="598"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12</a:t>
                </a:r>
                <a:endParaRPr lang="en-US" altLang="zh-CN" sz="1600" b="1">
                  <a:effectLst>
                    <a:outerShdw blurRad="38100" dist="38100" dir="2700000" algn="tl">
                      <a:srgbClr val="C0C0C0"/>
                    </a:outerShdw>
                  </a:effectLst>
                </a:endParaRPr>
              </a:p>
            </p:txBody>
          </p:sp>
          <p:sp>
            <p:nvSpPr>
              <p:cNvPr id="646216" name="Text Box 72"/>
              <p:cNvSpPr txBox="1">
                <a:spLocks noChangeArrowheads="1"/>
              </p:cNvSpPr>
              <p:nvPr/>
            </p:nvSpPr>
            <p:spPr bwMode="auto">
              <a:xfrm>
                <a:off x="9266" y="8543"/>
                <a:ext cx="630" cy="4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13</a:t>
                </a:r>
                <a:endParaRPr lang="en-US" altLang="zh-CN" sz="1600" b="1">
                  <a:effectLst>
                    <a:outerShdw blurRad="38100" dist="38100" dir="2700000" algn="tl">
                      <a:srgbClr val="C0C0C0"/>
                    </a:outerShdw>
                  </a:effectLst>
                </a:endParaRPr>
              </a:p>
            </p:txBody>
          </p:sp>
          <p:sp>
            <p:nvSpPr>
              <p:cNvPr id="133195" name="Line 73"/>
              <p:cNvSpPr>
                <a:spLocks noChangeShapeType="1"/>
              </p:cNvSpPr>
              <p:nvPr/>
            </p:nvSpPr>
            <p:spPr bwMode="auto">
              <a:xfrm flipV="1">
                <a:off x="2526" y="8596"/>
                <a:ext cx="429" cy="223"/>
              </a:xfrm>
              <a:prstGeom prst="line">
                <a:avLst/>
              </a:prstGeom>
              <a:noFill/>
              <a:ln w="9525">
                <a:solidFill>
                  <a:srgbClr val="000000"/>
                </a:solidFill>
                <a:round/>
                <a:headEnd/>
                <a:tailEnd/>
              </a:ln>
            </p:spPr>
            <p:txBody>
              <a:bodyPr/>
              <a:lstStyle/>
              <a:p>
                <a:endParaRPr lang="zh-CN" altLang="en-US"/>
              </a:p>
            </p:txBody>
          </p:sp>
          <p:sp>
            <p:nvSpPr>
              <p:cNvPr id="133196" name="Line 74"/>
              <p:cNvSpPr>
                <a:spLocks noChangeShapeType="1"/>
              </p:cNvSpPr>
              <p:nvPr/>
            </p:nvSpPr>
            <p:spPr bwMode="auto">
              <a:xfrm>
                <a:off x="2532" y="8817"/>
                <a:ext cx="426" cy="238"/>
              </a:xfrm>
              <a:prstGeom prst="line">
                <a:avLst/>
              </a:prstGeom>
              <a:noFill/>
              <a:ln w="9525">
                <a:solidFill>
                  <a:srgbClr val="000000"/>
                </a:solidFill>
                <a:round/>
                <a:headEnd/>
                <a:tailEnd/>
              </a:ln>
            </p:spPr>
            <p:txBody>
              <a:bodyPr/>
              <a:lstStyle/>
              <a:p>
                <a:endParaRPr lang="zh-CN" altLang="en-US"/>
              </a:p>
            </p:txBody>
          </p:sp>
          <p:sp>
            <p:nvSpPr>
              <p:cNvPr id="133197" name="Line 75"/>
              <p:cNvSpPr>
                <a:spLocks noChangeShapeType="1"/>
              </p:cNvSpPr>
              <p:nvPr/>
            </p:nvSpPr>
            <p:spPr bwMode="auto">
              <a:xfrm>
                <a:off x="2964" y="8598"/>
                <a:ext cx="621" cy="220"/>
              </a:xfrm>
              <a:prstGeom prst="line">
                <a:avLst/>
              </a:prstGeom>
              <a:noFill/>
              <a:ln w="9525">
                <a:solidFill>
                  <a:srgbClr val="000000"/>
                </a:solidFill>
                <a:round/>
                <a:headEnd/>
                <a:tailEnd/>
              </a:ln>
            </p:spPr>
            <p:txBody>
              <a:bodyPr/>
              <a:lstStyle/>
              <a:p>
                <a:endParaRPr lang="zh-CN" altLang="en-US"/>
              </a:p>
            </p:txBody>
          </p:sp>
          <p:sp>
            <p:nvSpPr>
              <p:cNvPr id="133198" name="Line 76"/>
              <p:cNvSpPr>
                <a:spLocks noChangeShapeType="1"/>
              </p:cNvSpPr>
              <p:nvPr/>
            </p:nvSpPr>
            <p:spPr bwMode="auto">
              <a:xfrm flipV="1">
                <a:off x="2962" y="8823"/>
                <a:ext cx="630" cy="233"/>
              </a:xfrm>
              <a:prstGeom prst="line">
                <a:avLst/>
              </a:prstGeom>
              <a:noFill/>
              <a:ln w="9525">
                <a:solidFill>
                  <a:srgbClr val="000000"/>
                </a:solidFill>
                <a:round/>
                <a:headEnd/>
                <a:tailEnd/>
              </a:ln>
            </p:spPr>
            <p:txBody>
              <a:bodyPr/>
              <a:lstStyle/>
              <a:p>
                <a:endParaRPr lang="zh-CN" altLang="en-US"/>
              </a:p>
            </p:txBody>
          </p:sp>
          <p:sp>
            <p:nvSpPr>
              <p:cNvPr id="646221" name="Text Box 77"/>
              <p:cNvSpPr txBox="1">
                <a:spLocks noChangeArrowheads="1"/>
              </p:cNvSpPr>
              <p:nvPr/>
            </p:nvSpPr>
            <p:spPr bwMode="auto">
              <a:xfrm>
                <a:off x="4486" y="9985"/>
                <a:ext cx="4006" cy="526"/>
              </a:xfrm>
              <a:prstGeom prst="rect">
                <a:avLst/>
              </a:prstGeom>
              <a:noFill/>
              <a:ln w="9525">
                <a:noFill/>
                <a:miter lim="800000"/>
                <a:headEnd/>
                <a:tailEnd/>
              </a:ln>
              <a:effectLst/>
            </p:spPr>
            <p:txBody>
              <a:bodyPr/>
              <a:lstStyle/>
              <a:p>
                <a:pPr algn="ctr">
                  <a:defRPr/>
                </a:pPr>
                <a:r>
                  <a:rPr lang="en-US" altLang="zh-CN" sz="2000" b="1">
                    <a:effectLst>
                      <a:outerShdw blurRad="38100" dist="38100" dir="2700000" algn="tl">
                        <a:srgbClr val="C0C0C0"/>
                      </a:outerShdw>
                    </a:effectLst>
                    <a:latin typeface="Times New Roman" pitchFamily="18" charset="0"/>
                  </a:rPr>
                  <a:t>EROS</a:t>
                </a: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200</a:t>
                </a:r>
                <a:r>
                  <a:rPr lang="zh-CN" altLang="en-US" sz="2000" b="1">
                    <a:effectLst>
                      <a:outerShdw blurRad="38100" dist="38100" dir="2700000" algn="tl">
                        <a:srgbClr val="C0C0C0"/>
                      </a:outerShdw>
                    </a:effectLst>
                    <a:latin typeface="Times New Roman" pitchFamily="18" charset="0"/>
                  </a:rPr>
                  <a:t>型传函仪光学系统</a:t>
                </a:r>
              </a:p>
            </p:txBody>
          </p:sp>
          <p:sp>
            <p:nvSpPr>
              <p:cNvPr id="646222" name="Text Box 78"/>
              <p:cNvSpPr txBox="1">
                <a:spLocks noChangeArrowheads="1"/>
              </p:cNvSpPr>
              <p:nvPr/>
            </p:nvSpPr>
            <p:spPr bwMode="auto">
              <a:xfrm>
                <a:off x="2900" y="9337"/>
                <a:ext cx="6780" cy="763"/>
              </a:xfrm>
              <a:prstGeom prst="rect">
                <a:avLst/>
              </a:prstGeom>
              <a:noFill/>
              <a:ln w="9525">
                <a:noFill/>
                <a:miter lim="800000"/>
                <a:headEnd/>
                <a:tailEnd/>
              </a:ln>
            </p:spPr>
            <p:txBody>
              <a:bodyPr/>
              <a:lstStyle/>
              <a:p>
                <a:pPr algn="ctr">
                  <a:defRPr/>
                </a:pPr>
                <a:r>
                  <a:rPr lang="en-US" altLang="zh-CN" sz="1400" b="1">
                    <a:effectLst>
                      <a:outerShdw blurRad="38100" dist="38100" dir="2700000" algn="tl">
                        <a:srgbClr val="C0C0C0"/>
                      </a:outerShdw>
                    </a:effectLst>
                    <a:latin typeface="Times New Roman" pitchFamily="18" charset="0"/>
                  </a:rPr>
                  <a:t>1-</a:t>
                </a:r>
                <a:r>
                  <a:rPr lang="zh-CN" altLang="en-US" sz="1400" b="1">
                    <a:effectLst>
                      <a:outerShdw blurRad="38100" dist="38100" dir="2700000" algn="tl">
                        <a:srgbClr val="C0C0C0"/>
                      </a:outerShdw>
                    </a:effectLst>
                    <a:latin typeface="Times New Roman" pitchFamily="18" charset="0"/>
                  </a:rPr>
                  <a:t>光源   </a:t>
                </a:r>
                <a:r>
                  <a:rPr lang="en-US" altLang="zh-CN" sz="1400" b="1">
                    <a:effectLst>
                      <a:outerShdw blurRad="38100" dist="38100" dir="2700000" algn="tl">
                        <a:srgbClr val="C0C0C0"/>
                      </a:outerShdw>
                    </a:effectLst>
                    <a:latin typeface="Times New Roman" pitchFamily="18" charset="0"/>
                  </a:rPr>
                  <a:t>2-</a:t>
                </a:r>
                <a:r>
                  <a:rPr lang="zh-CN" altLang="en-US" sz="1400" b="1">
                    <a:effectLst>
                      <a:outerShdw blurRad="38100" dist="38100" dir="2700000" algn="tl">
                        <a:srgbClr val="C0C0C0"/>
                      </a:outerShdw>
                    </a:effectLst>
                    <a:latin typeface="Times New Roman" pitchFamily="18" charset="0"/>
                  </a:rPr>
                  <a:t>聚光镜   </a:t>
                </a:r>
                <a:r>
                  <a:rPr lang="en-US" altLang="zh-CN" sz="1400" b="1">
                    <a:effectLst>
                      <a:outerShdw blurRad="38100" dist="38100" dir="2700000" algn="tl">
                        <a:srgbClr val="C0C0C0"/>
                      </a:outerShdw>
                    </a:effectLst>
                    <a:latin typeface="Times New Roman" pitchFamily="18" charset="0"/>
                  </a:rPr>
                  <a:t>3-</a:t>
                </a:r>
                <a:r>
                  <a:rPr lang="zh-CN" altLang="en-US" sz="1400" b="1">
                    <a:effectLst>
                      <a:outerShdw blurRad="38100" dist="38100" dir="2700000" algn="tl">
                        <a:srgbClr val="C0C0C0"/>
                      </a:outerShdw>
                    </a:effectLst>
                    <a:latin typeface="Times New Roman" pitchFamily="18" charset="0"/>
                  </a:rPr>
                  <a:t>可变滤光片  </a:t>
                </a:r>
                <a:r>
                  <a:rPr lang="en-US" altLang="zh-CN" sz="1400" b="1">
                    <a:effectLst>
                      <a:outerShdw blurRad="38100" dist="38100" dir="2700000" algn="tl">
                        <a:srgbClr val="C0C0C0"/>
                      </a:outerShdw>
                    </a:effectLst>
                    <a:latin typeface="Times New Roman" pitchFamily="18" charset="0"/>
                  </a:rPr>
                  <a:t>4-</a:t>
                </a:r>
                <a:r>
                  <a:rPr lang="zh-CN" altLang="en-US" sz="1400" b="1">
                    <a:effectLst>
                      <a:outerShdw blurRad="38100" dist="38100" dir="2700000" algn="tl">
                        <a:srgbClr val="C0C0C0"/>
                      </a:outerShdw>
                    </a:effectLst>
                    <a:latin typeface="Times New Roman" pitchFamily="18" charset="0"/>
                  </a:rPr>
                  <a:t>可变狭缝  </a:t>
                </a:r>
                <a:r>
                  <a:rPr lang="en-US" altLang="zh-CN" sz="1400" b="1">
                    <a:effectLst>
                      <a:outerShdw blurRad="38100" dist="38100" dir="2700000" algn="tl">
                        <a:srgbClr val="C0C0C0"/>
                      </a:outerShdw>
                    </a:effectLst>
                    <a:latin typeface="Times New Roman" pitchFamily="18" charset="0"/>
                  </a:rPr>
                  <a:t>5-</a:t>
                </a:r>
                <a:r>
                  <a:rPr lang="zh-CN" altLang="en-US" sz="1400" b="1">
                    <a:effectLst>
                      <a:outerShdw blurRad="38100" dist="38100" dir="2700000" algn="tl">
                        <a:srgbClr val="C0C0C0"/>
                      </a:outerShdw>
                    </a:effectLst>
                    <a:latin typeface="Times New Roman" pitchFamily="18" charset="0"/>
                  </a:rPr>
                  <a:t>平行光管物镜 </a:t>
                </a:r>
                <a:r>
                  <a:rPr lang="en-US" altLang="zh-CN" sz="1400" b="1">
                    <a:effectLst>
                      <a:outerShdw blurRad="38100" dist="38100" dir="2700000" algn="tl">
                        <a:srgbClr val="C0C0C0"/>
                      </a:outerShdw>
                    </a:effectLst>
                    <a:latin typeface="Times New Roman" pitchFamily="18" charset="0"/>
                  </a:rPr>
                  <a:t>6-</a:t>
                </a:r>
                <a:r>
                  <a:rPr lang="zh-CN" altLang="en-US" sz="1400" b="1">
                    <a:effectLst>
                      <a:outerShdw blurRad="38100" dist="38100" dir="2700000" algn="tl">
                        <a:srgbClr val="C0C0C0"/>
                      </a:outerShdw>
                    </a:effectLst>
                    <a:latin typeface="Times New Roman" pitchFamily="18" charset="0"/>
                  </a:rPr>
                  <a:t>被测物镜   </a:t>
                </a:r>
                <a:r>
                  <a:rPr lang="en-US" altLang="zh-CN" sz="1400" b="1">
                    <a:effectLst>
                      <a:outerShdw blurRad="38100" dist="38100" dir="2700000" algn="tl">
                        <a:srgbClr val="C0C0C0"/>
                      </a:outerShdw>
                    </a:effectLst>
                    <a:latin typeface="Times New Roman" pitchFamily="18" charset="0"/>
                  </a:rPr>
                  <a:t>7-</a:t>
                </a:r>
                <a:r>
                  <a:rPr lang="zh-CN" altLang="en-US" sz="1400" b="1">
                    <a:effectLst>
                      <a:outerShdw blurRad="38100" dist="38100" dir="2700000" algn="tl">
                        <a:srgbClr val="C0C0C0"/>
                      </a:outerShdw>
                    </a:effectLst>
                    <a:latin typeface="Times New Roman" pitchFamily="18" charset="0"/>
                  </a:rPr>
                  <a:t>空间频率狭缝</a:t>
                </a:r>
              </a:p>
              <a:p>
                <a:pPr algn="ctr">
                  <a:defRPr/>
                </a:pPr>
                <a:r>
                  <a:rPr lang="en-US" altLang="zh-CN" sz="1400" b="1">
                    <a:effectLst>
                      <a:outerShdw blurRad="38100" dist="38100" dir="2700000" algn="tl">
                        <a:srgbClr val="C0C0C0"/>
                      </a:outerShdw>
                    </a:effectLst>
                    <a:latin typeface="Times New Roman" pitchFamily="18" charset="0"/>
                  </a:rPr>
                  <a:t>8-</a:t>
                </a:r>
                <a:r>
                  <a:rPr lang="zh-CN" altLang="en-US" sz="1400" b="1">
                    <a:effectLst>
                      <a:outerShdw blurRad="38100" dist="38100" dir="2700000" algn="tl">
                        <a:srgbClr val="C0C0C0"/>
                      </a:outerShdw>
                    </a:effectLst>
                    <a:latin typeface="Times New Roman" pitchFamily="18" charset="0"/>
                  </a:rPr>
                  <a:t>透镜   </a:t>
                </a:r>
                <a:r>
                  <a:rPr lang="en-US" altLang="zh-CN" sz="1400" b="1">
                    <a:effectLst>
                      <a:outerShdw blurRad="38100" dist="38100" dir="2700000" algn="tl">
                        <a:srgbClr val="C0C0C0"/>
                      </a:outerShdw>
                    </a:effectLst>
                    <a:latin typeface="Times New Roman" pitchFamily="18" charset="0"/>
                  </a:rPr>
                  <a:t>9-</a:t>
                </a:r>
                <a:r>
                  <a:rPr lang="zh-CN" altLang="en-US" sz="1400" b="1">
                    <a:effectLst>
                      <a:outerShdw blurRad="38100" dist="38100" dir="2700000" algn="tl">
                        <a:srgbClr val="C0C0C0"/>
                      </a:outerShdw>
                    </a:effectLst>
                    <a:latin typeface="Times New Roman" pitchFamily="18" charset="0"/>
                  </a:rPr>
                  <a:t>旋转光栅扫描器   </a:t>
                </a:r>
                <a:r>
                  <a:rPr lang="en-US" altLang="zh-CN" sz="1400" b="1">
                    <a:effectLst>
                      <a:outerShdw blurRad="38100" dist="38100" dir="2700000" algn="tl">
                        <a:srgbClr val="C0C0C0"/>
                      </a:outerShdw>
                    </a:effectLst>
                    <a:latin typeface="Times New Roman" pitchFamily="18" charset="0"/>
                  </a:rPr>
                  <a:t>10-</a:t>
                </a:r>
                <a:r>
                  <a:rPr lang="zh-CN" altLang="en-US" sz="1400" b="1">
                    <a:effectLst>
                      <a:outerShdw blurRad="38100" dist="38100" dir="2700000" algn="tl">
                        <a:srgbClr val="C0C0C0"/>
                      </a:outerShdw>
                    </a:effectLst>
                    <a:latin typeface="Times New Roman" pitchFamily="18" charset="0"/>
                  </a:rPr>
                  <a:t>半反半透镜   </a:t>
                </a:r>
                <a:r>
                  <a:rPr lang="en-US" altLang="zh-CN" sz="1400" b="1">
                    <a:effectLst>
                      <a:outerShdw blurRad="38100" dist="38100" dir="2700000" algn="tl">
                        <a:srgbClr val="C0C0C0"/>
                      </a:outerShdw>
                    </a:effectLst>
                    <a:latin typeface="Times New Roman" pitchFamily="18" charset="0"/>
                  </a:rPr>
                  <a:t>11-</a:t>
                </a:r>
                <a:r>
                  <a:rPr lang="zh-CN" altLang="en-US" sz="1400" b="1">
                    <a:effectLst>
                      <a:outerShdw blurRad="38100" dist="38100" dir="2700000" algn="tl">
                        <a:srgbClr val="C0C0C0"/>
                      </a:outerShdw>
                    </a:effectLst>
                    <a:latin typeface="Times New Roman" pitchFamily="18" charset="0"/>
                  </a:rPr>
                  <a:t>目视观察镜   </a:t>
                </a:r>
                <a:r>
                  <a:rPr lang="en-US" altLang="zh-CN" sz="1400" b="1">
                    <a:effectLst>
                      <a:outerShdw blurRad="38100" dist="38100" dir="2700000" algn="tl">
                        <a:srgbClr val="C0C0C0"/>
                      </a:outerShdw>
                    </a:effectLst>
                    <a:latin typeface="Times New Roman" pitchFamily="18" charset="0"/>
                  </a:rPr>
                  <a:t>12-</a:t>
                </a:r>
                <a:r>
                  <a:rPr lang="zh-CN" altLang="en-US" sz="1400" b="1">
                    <a:effectLst>
                      <a:outerShdw blurRad="38100" dist="38100" dir="2700000" algn="tl">
                        <a:srgbClr val="C0C0C0"/>
                      </a:outerShdw>
                    </a:effectLst>
                    <a:latin typeface="Times New Roman" pitchFamily="18" charset="0"/>
                  </a:rPr>
                  <a:t>聚光镜   </a:t>
                </a:r>
                <a:r>
                  <a:rPr lang="en-US" altLang="zh-CN" sz="1400" b="1">
                    <a:effectLst>
                      <a:outerShdw blurRad="38100" dist="38100" dir="2700000" algn="tl">
                        <a:srgbClr val="C0C0C0"/>
                      </a:outerShdw>
                    </a:effectLst>
                    <a:latin typeface="Times New Roman" pitchFamily="18" charset="0"/>
                  </a:rPr>
                  <a:t>13-</a:t>
                </a:r>
                <a:r>
                  <a:rPr lang="zh-CN" altLang="en-US" sz="1400" b="1">
                    <a:effectLst>
                      <a:outerShdw blurRad="38100" dist="38100" dir="2700000" algn="tl">
                        <a:srgbClr val="C0C0C0"/>
                      </a:outerShdw>
                    </a:effectLst>
                    <a:latin typeface="Times New Roman" pitchFamily="18" charset="0"/>
                  </a:rPr>
                  <a:t>光电接收器</a:t>
                </a:r>
                <a:endParaRPr lang="zh-CN" altLang="en-US" sz="1400" b="1">
                  <a:effectLst>
                    <a:outerShdw blurRad="38100" dist="38100" dir="2700000" algn="tl">
                      <a:srgbClr val="C0C0C0"/>
                    </a:outerShdw>
                  </a:effectLst>
                </a:endParaRPr>
              </a:p>
            </p:txBody>
          </p:sp>
          <p:sp>
            <p:nvSpPr>
              <p:cNvPr id="133201" name="Arc 79"/>
              <p:cNvSpPr>
                <a:spLocks/>
              </p:cNvSpPr>
              <p:nvPr/>
            </p:nvSpPr>
            <p:spPr bwMode="auto">
              <a:xfrm>
                <a:off x="5285" y="8402"/>
                <a:ext cx="180" cy="771"/>
              </a:xfrm>
              <a:custGeom>
                <a:avLst/>
                <a:gdLst>
                  <a:gd name="T0" fmla="*/ 0 w 21600"/>
                  <a:gd name="T1" fmla="*/ 0 h 32379"/>
                  <a:gd name="T2" fmla="*/ 0 w 21600"/>
                  <a:gd name="T3" fmla="*/ 0 h 32379"/>
                  <a:gd name="T4" fmla="*/ 0 w 21600"/>
                  <a:gd name="T5" fmla="*/ 0 h 32379"/>
                  <a:gd name="T6" fmla="*/ 0 60000 65536"/>
                  <a:gd name="T7" fmla="*/ 0 60000 65536"/>
                  <a:gd name="T8" fmla="*/ 0 60000 65536"/>
                  <a:gd name="T9" fmla="*/ 0 w 21600"/>
                  <a:gd name="T10" fmla="*/ 0 h 32379"/>
                  <a:gd name="T11" fmla="*/ 21600 w 21600"/>
                  <a:gd name="T12" fmla="*/ 32379 h 32379"/>
                </a:gdLst>
                <a:ahLst/>
                <a:cxnLst>
                  <a:cxn ang="T6">
                    <a:pos x="T0" y="T1"/>
                  </a:cxn>
                  <a:cxn ang="T7">
                    <a:pos x="T2" y="T3"/>
                  </a:cxn>
                  <a:cxn ang="T8">
                    <a:pos x="T4" y="T5"/>
                  </a:cxn>
                </a:cxnLst>
                <a:rect l="T9" t="T10" r="T11" b="T12"/>
                <a:pathLst>
                  <a:path w="21600" h="32379" fill="none" extrusionOk="0">
                    <a:moveTo>
                      <a:pt x="13795" y="-1"/>
                    </a:moveTo>
                    <a:cubicBezTo>
                      <a:pt x="18739" y="4103"/>
                      <a:pt x="21600" y="10195"/>
                      <a:pt x="21600" y="16621"/>
                    </a:cubicBezTo>
                    <a:cubicBezTo>
                      <a:pt x="21600" y="22591"/>
                      <a:pt x="19128" y="28295"/>
                      <a:pt x="14773" y="32378"/>
                    </a:cubicBezTo>
                  </a:path>
                  <a:path w="21600" h="32379" stroke="0" extrusionOk="0">
                    <a:moveTo>
                      <a:pt x="13795" y="-1"/>
                    </a:moveTo>
                    <a:cubicBezTo>
                      <a:pt x="18739" y="4103"/>
                      <a:pt x="21600" y="10195"/>
                      <a:pt x="21600" y="16621"/>
                    </a:cubicBezTo>
                    <a:cubicBezTo>
                      <a:pt x="21600" y="22591"/>
                      <a:pt x="19128" y="28295"/>
                      <a:pt x="14773" y="32378"/>
                    </a:cubicBezTo>
                    <a:lnTo>
                      <a:pt x="0" y="16621"/>
                    </a:lnTo>
                    <a:close/>
                  </a:path>
                </a:pathLst>
              </a:custGeom>
              <a:noFill/>
              <a:ln w="9525">
                <a:solidFill>
                  <a:srgbClr val="000000"/>
                </a:solidFill>
                <a:round/>
                <a:headEnd/>
                <a:tailEnd/>
              </a:ln>
            </p:spPr>
            <p:txBody>
              <a:bodyPr/>
              <a:lstStyle/>
              <a:p>
                <a:endParaRPr lang="zh-CN" altLang="en-US"/>
              </a:p>
            </p:txBody>
          </p:sp>
        </p:grpSp>
      </p:grpSp>
      <p:sp>
        <p:nvSpPr>
          <p:cNvPr id="83"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7" name="日期占位符 3"/>
          <p:cNvSpPr>
            <a:spLocks noGrp="1"/>
          </p:cNvSpPr>
          <p:nvPr>
            <p:ph type="dt" sz="quarter" idx="10"/>
          </p:nvPr>
        </p:nvSpPr>
        <p:spPr>
          <a:noFill/>
        </p:spPr>
        <p:txBody>
          <a:bodyPr/>
          <a:lstStyle/>
          <a:p>
            <a:fld id="{87C7B6EB-0204-45D8-B3C4-1B127F08D4D0}" type="datetime1">
              <a:rPr lang="zh-CN" altLang="en-US" smtClean="0"/>
              <a:pPr/>
              <a:t>2018/2/24</a:t>
            </a:fld>
            <a:endParaRPr lang="en-US" altLang="zh-CN" smtClean="0"/>
          </a:p>
        </p:txBody>
      </p:sp>
      <p:sp>
        <p:nvSpPr>
          <p:cNvPr id="72708" name="灯片编号占位符 5"/>
          <p:cNvSpPr>
            <a:spLocks noGrp="1"/>
          </p:cNvSpPr>
          <p:nvPr>
            <p:ph type="sldNum" sz="quarter" idx="12"/>
          </p:nvPr>
        </p:nvSpPr>
        <p:spPr>
          <a:noFill/>
        </p:spPr>
        <p:txBody>
          <a:bodyPr/>
          <a:lstStyle/>
          <a:p>
            <a:fld id="{627559C8-68E5-4D12-B65C-9974A8978C4F}" type="slidenum">
              <a:rPr lang="en-US" altLang="zh-CN" smtClean="0"/>
              <a:pPr/>
              <a:t>96</a:t>
            </a:fld>
            <a:endParaRPr lang="en-US" altLang="zh-CN" smtClean="0"/>
          </a:p>
        </p:txBody>
      </p:sp>
      <p:sp>
        <p:nvSpPr>
          <p:cNvPr id="647171" name="Rectangle 3"/>
          <p:cNvSpPr>
            <a:spLocks noGrp="1" noRot="1" noChangeAspect="1" noChangeArrowheads="1"/>
          </p:cNvSpPr>
          <p:nvPr>
            <p:ph type="body" idx="1"/>
          </p:nvPr>
        </p:nvSpPr>
        <p:spPr>
          <a:xfrm>
            <a:off x="515938" y="1801813"/>
            <a:ext cx="8343900" cy="4167295"/>
          </a:xfrm>
        </p:spPr>
        <p:txBody>
          <a:bodyPr>
            <a:spAutoFit/>
          </a:bodyPr>
          <a:lstStyle/>
          <a:p>
            <a:pPr marL="261938" indent="-261938" defTabSz="900113" eaLnBrk="1" hangingPunct="1">
              <a:buFont typeface="Wingdings" pitchFamily="2" charset="2"/>
              <a:buNone/>
              <a:defRPr/>
            </a:pPr>
            <a:r>
              <a:rPr lang="en-US" altLang="zh-CN" dirty="0" smtClean="0">
                <a:latin typeface="Times New Roman" pitchFamily="18" charset="0"/>
                <a:ea typeface="黑体" pitchFamily="2" charset="-122"/>
              </a:rPr>
              <a:t>2.3  </a:t>
            </a:r>
            <a:r>
              <a:rPr lang="zh-CN" altLang="en-US" dirty="0" smtClean="0">
                <a:latin typeface="Times New Roman" pitchFamily="18" charset="0"/>
                <a:ea typeface="黑体" pitchFamily="2" charset="-122"/>
              </a:rPr>
              <a:t>测试仪器</a:t>
            </a:r>
          </a:p>
          <a:p>
            <a:pPr marL="261938" indent="-261938" defTabSz="900113" eaLnBrk="1" hangingPunct="1">
              <a:defRPr/>
            </a:pPr>
            <a:r>
              <a:rPr lang="zh-CN" altLang="en-US" dirty="0" smtClean="0">
                <a:latin typeface="Times New Roman" pitchFamily="18" charset="0"/>
                <a:ea typeface="黑体" pitchFamily="2" charset="-122"/>
              </a:rPr>
              <a:t>光学系统可以分为目标发生器和傅里叶分析器两部件。</a:t>
            </a:r>
          </a:p>
          <a:p>
            <a:pPr marL="712788" lvl="1" indent="-271463" defTabSz="900113" eaLnBrk="1" hangingPunct="1">
              <a:defRPr/>
            </a:pPr>
            <a:r>
              <a:rPr lang="zh-CN" altLang="en-US" dirty="0" smtClean="0">
                <a:solidFill>
                  <a:srgbClr val="FF0000"/>
                </a:solidFill>
                <a:latin typeface="Times New Roman" pitchFamily="18" charset="0"/>
                <a:ea typeface="黑体" pitchFamily="2" charset="-122"/>
              </a:rPr>
              <a:t>目标发生器：</a:t>
            </a:r>
            <a:r>
              <a:rPr lang="zh-CN" altLang="en-US" dirty="0" smtClean="0">
                <a:latin typeface="Times New Roman" pitchFamily="18" charset="0"/>
                <a:ea typeface="黑体" pitchFamily="2" charset="-122"/>
              </a:rPr>
              <a:t>由被测物镜将物狭缝成像在旋转光栅上。</a:t>
            </a:r>
          </a:p>
          <a:p>
            <a:pPr marL="712788" lvl="1" indent="-271463" defTabSz="900113" eaLnBrk="1" hangingPunct="1">
              <a:defRPr/>
            </a:pPr>
            <a:r>
              <a:rPr lang="zh-CN" altLang="en-US" dirty="0" smtClean="0">
                <a:solidFill>
                  <a:srgbClr val="FF0000"/>
                </a:solidFill>
                <a:latin typeface="Times New Roman" pitchFamily="18" charset="0"/>
                <a:ea typeface="黑体" pitchFamily="2" charset="-122"/>
              </a:rPr>
              <a:t>傅里叶分析器：</a:t>
            </a:r>
            <a:r>
              <a:rPr lang="zh-CN" altLang="en-US" dirty="0" smtClean="0">
                <a:latin typeface="Times New Roman" pitchFamily="18" charset="0"/>
                <a:ea typeface="黑体" pitchFamily="2" charset="-122"/>
              </a:rPr>
              <a:t>实现物狭缝像和光栅之间相对扫描，有效扫描孔随时间变化的光通量由光电倍增管接收后变成电信号。</a:t>
            </a:r>
          </a:p>
          <a:p>
            <a:pPr marL="261938" indent="-261938" defTabSz="900113" eaLnBrk="1" hangingPunct="1">
              <a:defRPr/>
            </a:pPr>
            <a:r>
              <a:rPr lang="zh-CN" altLang="en-US" dirty="0" smtClean="0">
                <a:latin typeface="Times New Roman" pitchFamily="18" charset="0"/>
                <a:ea typeface="黑体" pitchFamily="2" charset="-122"/>
              </a:rPr>
              <a:t> 变频的实现</a:t>
            </a:r>
          </a:p>
          <a:p>
            <a:pPr marL="261938" indent="-261938" defTabSz="900113" eaLnBrk="1" hangingPunct="1">
              <a:defRPr/>
            </a:pPr>
            <a:endParaRPr lang="zh-CN" altLang="en-US" dirty="0" smtClean="0">
              <a:latin typeface="Times New Roman" pitchFamily="18" charset="0"/>
              <a:ea typeface="黑体" pitchFamily="2" charset="-122"/>
            </a:endParaRPr>
          </a:p>
          <a:p>
            <a:pPr marL="261938" indent="-261938" defTabSz="900113" eaLnBrk="1" hangingPunct="1">
              <a:defRPr/>
            </a:pPr>
            <a:endParaRPr lang="zh-CN" altLang="en-US" dirty="0" smtClean="0">
              <a:latin typeface="Times New Roman" pitchFamily="18" charset="0"/>
              <a:ea typeface="黑体" pitchFamily="2" charset="-122"/>
            </a:endParaRPr>
          </a:p>
          <a:p>
            <a:pPr marL="261938" indent="-261938" defTabSz="900113" eaLnBrk="1" hangingPunct="1">
              <a:buNone/>
              <a:defRPr/>
            </a:pPr>
            <a:r>
              <a:rPr lang="zh-CN" altLang="en-US" dirty="0" smtClean="0">
                <a:latin typeface="Times New Roman" pitchFamily="18" charset="0"/>
                <a:ea typeface="黑体" pitchFamily="2" charset="-122"/>
              </a:rPr>
              <a:t>      自转：变频</a:t>
            </a:r>
          </a:p>
          <a:p>
            <a:pPr marL="261938" indent="-261938" defTabSz="900113" eaLnBrk="1" hangingPunct="1">
              <a:buNone/>
              <a:defRPr/>
            </a:pPr>
            <a:r>
              <a:rPr lang="zh-CN" altLang="en-US" dirty="0" smtClean="0">
                <a:latin typeface="Times New Roman" pitchFamily="18" charset="0"/>
                <a:ea typeface="黑体" pitchFamily="2" charset="-122"/>
              </a:rPr>
              <a:t>      公转：扫描</a:t>
            </a:r>
          </a:p>
        </p:txBody>
      </p:sp>
      <p:sp>
        <p:nvSpPr>
          <p:cNvPr id="72711"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72712"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3"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2714"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5"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72716"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2717"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2718"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9"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72720"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1"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2"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3"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72724" name="Rectangle 17"/>
          <p:cNvSpPr>
            <a:spLocks noChangeArrowheads="1"/>
          </p:cNvSpPr>
          <p:nvPr/>
        </p:nvSpPr>
        <p:spPr bwMode="auto">
          <a:xfrm>
            <a:off x="0" y="3373438"/>
            <a:ext cx="9144000" cy="0"/>
          </a:xfrm>
          <a:prstGeom prst="rect">
            <a:avLst/>
          </a:prstGeom>
          <a:noFill/>
          <a:ln w="9525">
            <a:noFill/>
            <a:miter lim="800000"/>
            <a:headEnd/>
            <a:tailEnd/>
          </a:ln>
        </p:spPr>
        <p:txBody>
          <a:bodyPr wrap="none" anchor="ctr">
            <a:spAutoFit/>
          </a:bodyPr>
          <a:lstStyle/>
          <a:p>
            <a:endParaRPr lang="zh-CN" altLang="en-US"/>
          </a:p>
        </p:txBody>
      </p:sp>
      <p:sp>
        <p:nvSpPr>
          <p:cNvPr id="72725"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2706" name="Object 19"/>
          <p:cNvGraphicFramePr>
            <a:graphicFrameLocks noChangeAspect="1"/>
          </p:cNvGraphicFramePr>
          <p:nvPr/>
        </p:nvGraphicFramePr>
        <p:xfrm>
          <a:off x="958850" y="4284663"/>
          <a:ext cx="1801813" cy="592137"/>
        </p:xfrm>
        <a:graphic>
          <a:graphicData uri="http://schemas.openxmlformats.org/presentationml/2006/ole">
            <p:oleObj spid="_x0000_s72706" name="公式" r:id="rId3" imgW="16764317" imgH="5486717" progId="Equation.3">
              <p:embed/>
            </p:oleObj>
          </a:graphicData>
        </a:graphic>
      </p:graphicFrame>
      <p:grpSp>
        <p:nvGrpSpPr>
          <p:cNvPr id="72726" name="Group 20"/>
          <p:cNvGrpSpPr>
            <a:grpSpLocks/>
          </p:cNvGrpSpPr>
          <p:nvPr/>
        </p:nvGrpSpPr>
        <p:grpSpPr bwMode="auto">
          <a:xfrm>
            <a:off x="3148013" y="3787775"/>
            <a:ext cx="5443537" cy="3070225"/>
            <a:chOff x="1983" y="2386"/>
            <a:chExt cx="3429" cy="1934"/>
          </a:xfrm>
        </p:grpSpPr>
        <p:sp>
          <p:nvSpPr>
            <p:cNvPr id="647189" name="Rectangle 21"/>
            <p:cNvSpPr>
              <a:spLocks noChangeArrowheads="1"/>
            </p:cNvSpPr>
            <p:nvPr/>
          </p:nvSpPr>
          <p:spPr bwMode="auto">
            <a:xfrm>
              <a:off x="1983" y="2386"/>
              <a:ext cx="3429" cy="1934"/>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zh-CN" altLang="zh-CN" b="1">
                <a:effectLst>
                  <a:outerShdw blurRad="38100" dist="38100" dir="2700000" algn="tl">
                    <a:srgbClr val="FFFFFF"/>
                  </a:outerShdw>
                </a:effectLst>
                <a:latin typeface="Times New Roman" pitchFamily="18" charset="0"/>
                <a:ea typeface="黑体" pitchFamily="2" charset="-122"/>
              </a:endParaRPr>
            </a:p>
          </p:txBody>
        </p:sp>
        <p:sp>
          <p:nvSpPr>
            <p:cNvPr id="72728" name="Oval 22"/>
            <p:cNvSpPr>
              <a:spLocks noChangeArrowheads="1"/>
            </p:cNvSpPr>
            <p:nvPr/>
          </p:nvSpPr>
          <p:spPr bwMode="auto">
            <a:xfrm>
              <a:off x="2252" y="2905"/>
              <a:ext cx="1005" cy="1005"/>
            </a:xfrm>
            <a:prstGeom prst="ellipse">
              <a:avLst/>
            </a:prstGeom>
            <a:noFill/>
            <a:ln w="9525">
              <a:solidFill>
                <a:srgbClr val="000000"/>
              </a:solidFill>
              <a:round/>
              <a:headEnd/>
              <a:tailEnd/>
            </a:ln>
          </p:spPr>
          <p:txBody>
            <a:bodyPr/>
            <a:lstStyle/>
            <a:p>
              <a:endParaRPr lang="zh-CN" altLang="en-US"/>
            </a:p>
          </p:txBody>
        </p:sp>
        <p:sp>
          <p:nvSpPr>
            <p:cNvPr id="72729" name="Oval 23"/>
            <p:cNvSpPr>
              <a:spLocks noChangeArrowheads="1"/>
            </p:cNvSpPr>
            <p:nvPr/>
          </p:nvSpPr>
          <p:spPr bwMode="auto">
            <a:xfrm>
              <a:off x="2509" y="2974"/>
              <a:ext cx="692" cy="659"/>
            </a:xfrm>
            <a:prstGeom prst="ellipse">
              <a:avLst/>
            </a:prstGeom>
            <a:noFill/>
            <a:ln w="9525">
              <a:solidFill>
                <a:srgbClr val="000000"/>
              </a:solidFill>
              <a:round/>
              <a:headEnd/>
              <a:tailEnd/>
            </a:ln>
          </p:spPr>
          <p:txBody>
            <a:bodyPr/>
            <a:lstStyle/>
            <a:p>
              <a:endParaRPr lang="zh-CN" altLang="en-US"/>
            </a:p>
          </p:txBody>
        </p:sp>
        <p:sp>
          <p:nvSpPr>
            <p:cNvPr id="72730" name="Rectangle 24"/>
            <p:cNvSpPr>
              <a:spLocks noChangeArrowheads="1"/>
            </p:cNvSpPr>
            <p:nvPr/>
          </p:nvSpPr>
          <p:spPr bwMode="auto">
            <a:xfrm>
              <a:off x="2728" y="3345"/>
              <a:ext cx="40" cy="173"/>
            </a:xfrm>
            <a:prstGeom prst="rect">
              <a:avLst/>
            </a:prstGeom>
            <a:noFill/>
            <a:ln w="9525">
              <a:solidFill>
                <a:srgbClr val="000000"/>
              </a:solidFill>
              <a:miter lim="800000"/>
              <a:headEnd/>
              <a:tailEnd/>
            </a:ln>
          </p:spPr>
          <p:txBody>
            <a:bodyPr/>
            <a:lstStyle/>
            <a:p>
              <a:endParaRPr lang="zh-CN" altLang="en-US"/>
            </a:p>
          </p:txBody>
        </p:sp>
        <p:sp>
          <p:nvSpPr>
            <p:cNvPr id="72731" name="Line 25"/>
            <p:cNvSpPr>
              <a:spLocks noChangeShapeType="1"/>
            </p:cNvSpPr>
            <p:nvPr/>
          </p:nvSpPr>
          <p:spPr bwMode="auto">
            <a:xfrm flipV="1">
              <a:off x="2650" y="3323"/>
              <a:ext cx="125" cy="116"/>
            </a:xfrm>
            <a:prstGeom prst="line">
              <a:avLst/>
            </a:prstGeom>
            <a:noFill/>
            <a:ln w="9525">
              <a:solidFill>
                <a:srgbClr val="000000"/>
              </a:solidFill>
              <a:round/>
              <a:headEnd/>
              <a:tailEnd/>
            </a:ln>
          </p:spPr>
          <p:txBody>
            <a:bodyPr/>
            <a:lstStyle/>
            <a:p>
              <a:endParaRPr lang="zh-CN" altLang="en-US"/>
            </a:p>
          </p:txBody>
        </p:sp>
        <p:sp>
          <p:nvSpPr>
            <p:cNvPr id="72732" name="Line 26"/>
            <p:cNvSpPr>
              <a:spLocks noChangeShapeType="1"/>
            </p:cNvSpPr>
            <p:nvPr/>
          </p:nvSpPr>
          <p:spPr bwMode="auto">
            <a:xfrm flipV="1">
              <a:off x="2656" y="3334"/>
              <a:ext cx="130" cy="128"/>
            </a:xfrm>
            <a:prstGeom prst="line">
              <a:avLst/>
            </a:prstGeom>
            <a:noFill/>
            <a:ln w="9525">
              <a:solidFill>
                <a:srgbClr val="000000"/>
              </a:solidFill>
              <a:round/>
              <a:headEnd/>
              <a:tailEnd/>
            </a:ln>
          </p:spPr>
          <p:txBody>
            <a:bodyPr/>
            <a:lstStyle/>
            <a:p>
              <a:endParaRPr lang="zh-CN" altLang="en-US"/>
            </a:p>
          </p:txBody>
        </p:sp>
        <p:sp>
          <p:nvSpPr>
            <p:cNvPr id="72733" name="Line 27"/>
            <p:cNvSpPr>
              <a:spLocks noChangeShapeType="1"/>
            </p:cNvSpPr>
            <p:nvPr/>
          </p:nvSpPr>
          <p:spPr bwMode="auto">
            <a:xfrm flipV="1">
              <a:off x="2679" y="3350"/>
              <a:ext cx="116" cy="129"/>
            </a:xfrm>
            <a:prstGeom prst="line">
              <a:avLst/>
            </a:prstGeom>
            <a:noFill/>
            <a:ln w="9525">
              <a:solidFill>
                <a:srgbClr val="000000"/>
              </a:solidFill>
              <a:round/>
              <a:headEnd/>
              <a:tailEnd/>
            </a:ln>
          </p:spPr>
          <p:txBody>
            <a:bodyPr/>
            <a:lstStyle/>
            <a:p>
              <a:endParaRPr lang="zh-CN" altLang="en-US"/>
            </a:p>
          </p:txBody>
        </p:sp>
        <p:sp>
          <p:nvSpPr>
            <p:cNvPr id="72734" name="Line 28"/>
            <p:cNvSpPr>
              <a:spLocks noChangeShapeType="1"/>
            </p:cNvSpPr>
            <p:nvPr/>
          </p:nvSpPr>
          <p:spPr bwMode="auto">
            <a:xfrm flipV="1">
              <a:off x="2698" y="3365"/>
              <a:ext cx="108" cy="127"/>
            </a:xfrm>
            <a:prstGeom prst="line">
              <a:avLst/>
            </a:prstGeom>
            <a:noFill/>
            <a:ln w="9525">
              <a:solidFill>
                <a:srgbClr val="000000"/>
              </a:solidFill>
              <a:round/>
              <a:headEnd/>
              <a:tailEnd/>
            </a:ln>
          </p:spPr>
          <p:txBody>
            <a:bodyPr/>
            <a:lstStyle/>
            <a:p>
              <a:endParaRPr lang="zh-CN" altLang="en-US"/>
            </a:p>
          </p:txBody>
        </p:sp>
        <p:sp>
          <p:nvSpPr>
            <p:cNvPr id="72735" name="Line 29"/>
            <p:cNvSpPr>
              <a:spLocks noChangeShapeType="1"/>
            </p:cNvSpPr>
            <p:nvPr/>
          </p:nvSpPr>
          <p:spPr bwMode="auto">
            <a:xfrm flipV="1">
              <a:off x="2709" y="3373"/>
              <a:ext cx="120" cy="147"/>
            </a:xfrm>
            <a:prstGeom prst="line">
              <a:avLst/>
            </a:prstGeom>
            <a:noFill/>
            <a:ln w="9525">
              <a:solidFill>
                <a:srgbClr val="000000"/>
              </a:solidFill>
              <a:round/>
              <a:headEnd/>
              <a:tailEnd/>
            </a:ln>
          </p:spPr>
          <p:txBody>
            <a:bodyPr/>
            <a:lstStyle/>
            <a:p>
              <a:endParaRPr lang="zh-CN" altLang="en-US"/>
            </a:p>
          </p:txBody>
        </p:sp>
        <p:sp>
          <p:nvSpPr>
            <p:cNvPr id="72736" name="Line 30"/>
            <p:cNvSpPr>
              <a:spLocks noChangeShapeType="1"/>
            </p:cNvSpPr>
            <p:nvPr/>
          </p:nvSpPr>
          <p:spPr bwMode="auto">
            <a:xfrm flipV="1">
              <a:off x="2734" y="3395"/>
              <a:ext cx="106" cy="145"/>
            </a:xfrm>
            <a:prstGeom prst="line">
              <a:avLst/>
            </a:prstGeom>
            <a:noFill/>
            <a:ln w="9525">
              <a:solidFill>
                <a:srgbClr val="000000"/>
              </a:solidFill>
              <a:round/>
              <a:headEnd/>
              <a:tailEnd/>
            </a:ln>
          </p:spPr>
          <p:txBody>
            <a:bodyPr/>
            <a:lstStyle/>
            <a:p>
              <a:endParaRPr lang="zh-CN" altLang="en-US"/>
            </a:p>
          </p:txBody>
        </p:sp>
        <p:sp>
          <p:nvSpPr>
            <p:cNvPr id="72737" name="Line 31"/>
            <p:cNvSpPr>
              <a:spLocks noChangeShapeType="1"/>
            </p:cNvSpPr>
            <p:nvPr/>
          </p:nvSpPr>
          <p:spPr bwMode="auto">
            <a:xfrm flipV="1">
              <a:off x="2757" y="3418"/>
              <a:ext cx="100" cy="133"/>
            </a:xfrm>
            <a:prstGeom prst="line">
              <a:avLst/>
            </a:prstGeom>
            <a:noFill/>
            <a:ln w="9525">
              <a:solidFill>
                <a:srgbClr val="000000"/>
              </a:solidFill>
              <a:round/>
              <a:headEnd/>
              <a:tailEnd/>
            </a:ln>
          </p:spPr>
          <p:txBody>
            <a:bodyPr/>
            <a:lstStyle/>
            <a:p>
              <a:endParaRPr lang="zh-CN" altLang="en-US"/>
            </a:p>
          </p:txBody>
        </p:sp>
        <p:sp>
          <p:nvSpPr>
            <p:cNvPr id="72738" name="Line 32"/>
            <p:cNvSpPr>
              <a:spLocks noChangeShapeType="1"/>
            </p:cNvSpPr>
            <p:nvPr/>
          </p:nvSpPr>
          <p:spPr bwMode="auto">
            <a:xfrm flipV="1">
              <a:off x="2639" y="3315"/>
              <a:ext cx="123" cy="106"/>
            </a:xfrm>
            <a:prstGeom prst="line">
              <a:avLst/>
            </a:prstGeom>
            <a:noFill/>
            <a:ln w="9525">
              <a:solidFill>
                <a:srgbClr val="000000"/>
              </a:solidFill>
              <a:round/>
              <a:headEnd/>
              <a:tailEnd/>
            </a:ln>
          </p:spPr>
          <p:txBody>
            <a:bodyPr/>
            <a:lstStyle/>
            <a:p>
              <a:endParaRPr lang="zh-CN" altLang="en-US"/>
            </a:p>
          </p:txBody>
        </p:sp>
        <p:sp>
          <p:nvSpPr>
            <p:cNvPr id="72739" name="Arc 33"/>
            <p:cNvSpPr>
              <a:spLocks/>
            </p:cNvSpPr>
            <p:nvPr/>
          </p:nvSpPr>
          <p:spPr bwMode="auto">
            <a:xfrm rot="10587704" flipH="1" flipV="1">
              <a:off x="2695" y="3043"/>
              <a:ext cx="424" cy="268"/>
            </a:xfrm>
            <a:custGeom>
              <a:avLst/>
              <a:gdLst>
                <a:gd name="T0" fmla="*/ 0 w 34949"/>
                <a:gd name="T1" fmla="*/ 0 h 21600"/>
                <a:gd name="T2" fmla="*/ 0 w 34949"/>
                <a:gd name="T3" fmla="*/ 0 h 21600"/>
                <a:gd name="T4" fmla="*/ 0 w 34949"/>
                <a:gd name="T5" fmla="*/ 0 h 21600"/>
                <a:gd name="T6" fmla="*/ 0 60000 65536"/>
                <a:gd name="T7" fmla="*/ 0 60000 65536"/>
                <a:gd name="T8" fmla="*/ 0 60000 65536"/>
                <a:gd name="T9" fmla="*/ 0 w 34949"/>
                <a:gd name="T10" fmla="*/ 0 h 21600"/>
                <a:gd name="T11" fmla="*/ 34949 w 34949"/>
                <a:gd name="T12" fmla="*/ 21600 h 21600"/>
              </a:gdLst>
              <a:ahLst/>
              <a:cxnLst>
                <a:cxn ang="T6">
                  <a:pos x="T0" y="T1"/>
                </a:cxn>
                <a:cxn ang="T7">
                  <a:pos x="T2" y="T3"/>
                </a:cxn>
                <a:cxn ang="T8">
                  <a:pos x="T4" y="T5"/>
                </a:cxn>
              </a:cxnLst>
              <a:rect l="T9" t="T10" r="T11" b="T12"/>
              <a:pathLst>
                <a:path w="34949" h="21600" fill="none" extrusionOk="0">
                  <a:moveTo>
                    <a:pt x="-1" y="4618"/>
                  </a:moveTo>
                  <a:cubicBezTo>
                    <a:pt x="3806" y="1626"/>
                    <a:pt x="8507" y="-1"/>
                    <a:pt x="13349" y="0"/>
                  </a:cubicBezTo>
                  <a:cubicBezTo>
                    <a:pt x="25278" y="0"/>
                    <a:pt x="34949" y="9670"/>
                    <a:pt x="34949" y="21600"/>
                  </a:cubicBezTo>
                </a:path>
                <a:path w="34949" h="21600" stroke="0" extrusionOk="0">
                  <a:moveTo>
                    <a:pt x="-1" y="4618"/>
                  </a:moveTo>
                  <a:cubicBezTo>
                    <a:pt x="3806" y="1626"/>
                    <a:pt x="8507" y="-1"/>
                    <a:pt x="13349" y="0"/>
                  </a:cubicBezTo>
                  <a:cubicBezTo>
                    <a:pt x="25278" y="0"/>
                    <a:pt x="34949" y="9670"/>
                    <a:pt x="34949" y="21600"/>
                  </a:cubicBezTo>
                  <a:lnTo>
                    <a:pt x="13349" y="21600"/>
                  </a:lnTo>
                  <a:close/>
                </a:path>
              </a:pathLst>
            </a:custGeom>
            <a:noFill/>
            <a:ln w="6350">
              <a:solidFill>
                <a:srgbClr val="000000"/>
              </a:solidFill>
              <a:round/>
              <a:headEnd type="stealth" w="lg" len="lg"/>
              <a:tailEnd/>
            </a:ln>
          </p:spPr>
          <p:txBody>
            <a:bodyPr/>
            <a:lstStyle/>
            <a:p>
              <a:endParaRPr lang="zh-CN" altLang="en-US"/>
            </a:p>
          </p:txBody>
        </p:sp>
        <p:sp>
          <p:nvSpPr>
            <p:cNvPr id="72740" name="Arc 34"/>
            <p:cNvSpPr>
              <a:spLocks/>
            </p:cNvSpPr>
            <p:nvPr/>
          </p:nvSpPr>
          <p:spPr bwMode="auto">
            <a:xfrm rot="12181246" flipV="1">
              <a:off x="2470" y="3232"/>
              <a:ext cx="486" cy="411"/>
            </a:xfrm>
            <a:custGeom>
              <a:avLst/>
              <a:gdLst>
                <a:gd name="T0" fmla="*/ 0 w 36170"/>
                <a:gd name="T1" fmla="*/ 0 h 21600"/>
                <a:gd name="T2" fmla="*/ 0 w 36170"/>
                <a:gd name="T3" fmla="*/ 0 h 21600"/>
                <a:gd name="T4" fmla="*/ 0 w 36170"/>
                <a:gd name="T5" fmla="*/ 0 h 21600"/>
                <a:gd name="T6" fmla="*/ 0 60000 65536"/>
                <a:gd name="T7" fmla="*/ 0 60000 65536"/>
                <a:gd name="T8" fmla="*/ 0 60000 65536"/>
                <a:gd name="T9" fmla="*/ 0 w 36170"/>
                <a:gd name="T10" fmla="*/ 0 h 21600"/>
                <a:gd name="T11" fmla="*/ 36170 w 36170"/>
                <a:gd name="T12" fmla="*/ 21600 h 21600"/>
              </a:gdLst>
              <a:ahLst/>
              <a:cxnLst>
                <a:cxn ang="T6">
                  <a:pos x="T0" y="T1"/>
                </a:cxn>
                <a:cxn ang="T7">
                  <a:pos x="T2" y="T3"/>
                </a:cxn>
                <a:cxn ang="T8">
                  <a:pos x="T4" y="T5"/>
                </a:cxn>
              </a:cxnLst>
              <a:rect l="T9" t="T10" r="T11" b="T12"/>
              <a:pathLst>
                <a:path w="36170" h="21600" fill="none" extrusionOk="0">
                  <a:moveTo>
                    <a:pt x="-1" y="6417"/>
                  </a:moveTo>
                  <a:cubicBezTo>
                    <a:pt x="4057" y="2311"/>
                    <a:pt x="9590" y="-1"/>
                    <a:pt x="15364" y="0"/>
                  </a:cubicBezTo>
                  <a:cubicBezTo>
                    <a:pt x="25058" y="0"/>
                    <a:pt x="33566" y="6459"/>
                    <a:pt x="36170" y="15797"/>
                  </a:cubicBezTo>
                </a:path>
                <a:path w="36170" h="21600" stroke="0" extrusionOk="0">
                  <a:moveTo>
                    <a:pt x="-1" y="6417"/>
                  </a:moveTo>
                  <a:cubicBezTo>
                    <a:pt x="4057" y="2311"/>
                    <a:pt x="9590" y="-1"/>
                    <a:pt x="15364" y="0"/>
                  </a:cubicBezTo>
                  <a:cubicBezTo>
                    <a:pt x="25058" y="0"/>
                    <a:pt x="33566" y="6459"/>
                    <a:pt x="36170" y="15797"/>
                  </a:cubicBezTo>
                  <a:lnTo>
                    <a:pt x="15364" y="21600"/>
                  </a:lnTo>
                  <a:close/>
                </a:path>
              </a:pathLst>
            </a:custGeom>
            <a:noFill/>
            <a:ln w="6350">
              <a:solidFill>
                <a:srgbClr val="000000"/>
              </a:solidFill>
              <a:round/>
              <a:headEnd/>
              <a:tailEnd type="stealth" w="lg" len="lg"/>
            </a:ln>
          </p:spPr>
          <p:txBody>
            <a:bodyPr/>
            <a:lstStyle/>
            <a:p>
              <a:endParaRPr lang="zh-CN" altLang="en-US"/>
            </a:p>
          </p:txBody>
        </p:sp>
        <p:sp>
          <p:nvSpPr>
            <p:cNvPr id="647203" name="Text Box 35"/>
            <p:cNvSpPr txBox="1">
              <a:spLocks noChangeArrowheads="1"/>
            </p:cNvSpPr>
            <p:nvPr/>
          </p:nvSpPr>
          <p:spPr bwMode="auto">
            <a:xfrm>
              <a:off x="2739" y="3064"/>
              <a:ext cx="597" cy="408"/>
            </a:xfrm>
            <a:prstGeom prst="rect">
              <a:avLst/>
            </a:prstGeom>
            <a:noFill/>
            <a:ln w="9525">
              <a:noFill/>
              <a:miter lim="800000"/>
              <a:headEnd/>
              <a:tailEnd/>
            </a:ln>
            <a:effectLst/>
          </p:spPr>
          <p:txBody>
            <a:bodyPr/>
            <a:lstStyle/>
            <a:p>
              <a:pPr algn="just">
                <a:spcBef>
                  <a:spcPct val="55000"/>
                </a:spcBef>
                <a:defRPr/>
              </a:pPr>
              <a:r>
                <a:rPr lang="zh-CN" altLang="en-US" sz="1400" b="1">
                  <a:effectLst>
                    <a:outerShdw blurRad="38100" dist="38100" dir="2700000" algn="tl">
                      <a:srgbClr val="C0C0C0"/>
                    </a:outerShdw>
                  </a:effectLst>
                  <a:latin typeface="Times New Roman" pitchFamily="18" charset="0"/>
                  <a:ea typeface="黑体" pitchFamily="2" charset="-122"/>
                </a:rPr>
                <a:t>自转</a:t>
              </a:r>
            </a:p>
          </p:txBody>
        </p:sp>
        <p:sp>
          <p:nvSpPr>
            <p:cNvPr id="647204" name="Text Box 36"/>
            <p:cNvSpPr txBox="1">
              <a:spLocks noChangeArrowheads="1"/>
            </p:cNvSpPr>
            <p:nvPr/>
          </p:nvSpPr>
          <p:spPr bwMode="auto">
            <a:xfrm>
              <a:off x="2262" y="3423"/>
              <a:ext cx="553" cy="303"/>
            </a:xfrm>
            <a:prstGeom prst="rect">
              <a:avLst/>
            </a:prstGeom>
            <a:noFill/>
            <a:ln w="9525">
              <a:noFill/>
              <a:miter lim="800000"/>
              <a:headEnd/>
              <a:tailEnd/>
            </a:ln>
            <a:effectLst/>
          </p:spPr>
          <p:txBody>
            <a:bodyPr/>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公转</a:t>
              </a:r>
            </a:p>
          </p:txBody>
        </p:sp>
        <p:sp>
          <p:nvSpPr>
            <p:cNvPr id="647205" name="Text Box 37"/>
            <p:cNvSpPr txBox="1">
              <a:spLocks noChangeArrowheads="1"/>
            </p:cNvSpPr>
            <p:nvPr/>
          </p:nvSpPr>
          <p:spPr bwMode="auto">
            <a:xfrm>
              <a:off x="2772" y="3954"/>
              <a:ext cx="1634" cy="269"/>
            </a:xfrm>
            <a:prstGeom prst="rect">
              <a:avLst/>
            </a:prstGeom>
            <a:noFill/>
            <a:ln w="9525">
              <a:noFill/>
              <a:miter lim="800000"/>
              <a:headEnd/>
              <a:tailEnd/>
            </a:ln>
          </p:spPr>
          <p:txBody>
            <a:bodyPr/>
            <a:lstStyle/>
            <a:p>
              <a:pPr algn="ctr">
                <a:defRPr/>
              </a:pPr>
              <a:r>
                <a:rPr lang="zh-CN" altLang="en-US" sz="2000" b="1">
                  <a:effectLst>
                    <a:outerShdw blurRad="38100" dist="38100" dir="2700000" algn="tl">
                      <a:srgbClr val="C0C0C0"/>
                    </a:outerShdw>
                  </a:effectLst>
                  <a:latin typeface="Times New Roman" pitchFamily="18" charset="0"/>
                  <a:ea typeface="黑体" pitchFamily="2" charset="-122"/>
                </a:rPr>
                <a:t>扫描变频原理图</a:t>
              </a:r>
            </a:p>
          </p:txBody>
        </p:sp>
        <p:sp>
          <p:nvSpPr>
            <p:cNvPr id="647206" name="Text Box 38"/>
            <p:cNvSpPr txBox="1">
              <a:spLocks noChangeArrowheads="1"/>
            </p:cNvSpPr>
            <p:nvPr/>
          </p:nvSpPr>
          <p:spPr bwMode="auto">
            <a:xfrm>
              <a:off x="4509" y="3324"/>
              <a:ext cx="744" cy="290"/>
            </a:xfrm>
            <a:prstGeom prst="rect">
              <a:avLst/>
            </a:prstGeom>
            <a:noFill/>
            <a:ln w="9525">
              <a:noFill/>
              <a:miter lim="800000"/>
              <a:headEnd/>
              <a:tailEnd/>
            </a:ln>
            <a:effectLst/>
          </p:spPr>
          <p:txBody>
            <a:bodyPr/>
            <a:lstStyle/>
            <a:p>
              <a:pPr algn="r">
                <a:defRPr/>
              </a:pPr>
              <a:r>
                <a:rPr lang="zh-CN" altLang="en-US" sz="1600" b="1">
                  <a:effectLst>
                    <a:outerShdw blurRad="38100" dist="38100" dir="2700000" algn="tl">
                      <a:srgbClr val="C0C0C0"/>
                    </a:outerShdw>
                  </a:effectLst>
                  <a:latin typeface="Times New Roman" pitchFamily="18" charset="0"/>
                  <a:ea typeface="黑体" pitchFamily="2" charset="-122"/>
                </a:rPr>
                <a:t>物狭缝像</a:t>
              </a:r>
            </a:p>
          </p:txBody>
        </p:sp>
        <p:sp>
          <p:nvSpPr>
            <p:cNvPr id="72745" name="Rectangle 39"/>
            <p:cNvSpPr>
              <a:spLocks noChangeArrowheads="1"/>
            </p:cNvSpPr>
            <p:nvPr/>
          </p:nvSpPr>
          <p:spPr bwMode="auto">
            <a:xfrm rot="-2611707">
              <a:off x="3421" y="3045"/>
              <a:ext cx="838" cy="70"/>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46" name="Rectangle 40"/>
            <p:cNvSpPr>
              <a:spLocks noChangeArrowheads="1"/>
            </p:cNvSpPr>
            <p:nvPr/>
          </p:nvSpPr>
          <p:spPr bwMode="auto">
            <a:xfrm rot="-2611707">
              <a:off x="3510" y="3134"/>
              <a:ext cx="854" cy="62"/>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47" name="Rectangle 41"/>
            <p:cNvSpPr>
              <a:spLocks noChangeArrowheads="1"/>
            </p:cNvSpPr>
            <p:nvPr/>
          </p:nvSpPr>
          <p:spPr bwMode="auto">
            <a:xfrm rot="-2611707">
              <a:off x="3604" y="3226"/>
              <a:ext cx="859" cy="65"/>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48" name="Rectangle 42"/>
            <p:cNvSpPr>
              <a:spLocks noChangeArrowheads="1"/>
            </p:cNvSpPr>
            <p:nvPr/>
          </p:nvSpPr>
          <p:spPr bwMode="auto">
            <a:xfrm rot="-2611707">
              <a:off x="3698" y="3320"/>
              <a:ext cx="859" cy="65"/>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49" name="Rectangle 43"/>
            <p:cNvSpPr>
              <a:spLocks noChangeArrowheads="1"/>
            </p:cNvSpPr>
            <p:nvPr/>
          </p:nvSpPr>
          <p:spPr bwMode="auto">
            <a:xfrm rot="-2611707">
              <a:off x="3792" y="3412"/>
              <a:ext cx="864" cy="70"/>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50" name="Rectangle 44"/>
            <p:cNvSpPr>
              <a:spLocks noChangeArrowheads="1"/>
            </p:cNvSpPr>
            <p:nvPr/>
          </p:nvSpPr>
          <p:spPr bwMode="auto">
            <a:xfrm rot="-2611707">
              <a:off x="3885" y="3512"/>
              <a:ext cx="846" cy="62"/>
            </a:xfrm>
            <a:prstGeom prst="rect">
              <a:avLst/>
            </a:prstGeom>
            <a:solidFill>
              <a:srgbClr val="003300"/>
            </a:solidFill>
            <a:ln w="9525">
              <a:solidFill>
                <a:srgbClr val="000000"/>
              </a:solidFill>
              <a:miter lim="800000"/>
              <a:headEnd/>
              <a:tailEnd/>
            </a:ln>
          </p:spPr>
          <p:txBody>
            <a:bodyPr/>
            <a:lstStyle/>
            <a:p>
              <a:endParaRPr lang="zh-CN" altLang="en-US"/>
            </a:p>
          </p:txBody>
        </p:sp>
        <p:sp>
          <p:nvSpPr>
            <p:cNvPr id="72751" name="Rectangle 45"/>
            <p:cNvSpPr>
              <a:spLocks noChangeArrowheads="1"/>
            </p:cNvSpPr>
            <p:nvPr/>
          </p:nvSpPr>
          <p:spPr bwMode="auto">
            <a:xfrm>
              <a:off x="4023" y="2727"/>
              <a:ext cx="59" cy="1172"/>
            </a:xfrm>
            <a:prstGeom prst="rect">
              <a:avLst/>
            </a:prstGeom>
            <a:noFill/>
            <a:ln w="9525">
              <a:solidFill>
                <a:srgbClr val="000000"/>
              </a:solidFill>
              <a:miter lim="800000"/>
              <a:headEnd/>
              <a:tailEnd/>
            </a:ln>
          </p:spPr>
          <p:txBody>
            <a:bodyPr/>
            <a:lstStyle/>
            <a:p>
              <a:endParaRPr lang="zh-CN" altLang="en-US"/>
            </a:p>
          </p:txBody>
        </p:sp>
        <p:sp>
          <p:nvSpPr>
            <p:cNvPr id="72752" name="Rectangle 46"/>
            <p:cNvSpPr>
              <a:spLocks noChangeArrowheads="1"/>
            </p:cNvSpPr>
            <p:nvPr/>
          </p:nvSpPr>
          <p:spPr bwMode="auto">
            <a:xfrm>
              <a:off x="3508" y="3098"/>
              <a:ext cx="1354" cy="59"/>
            </a:xfrm>
            <a:prstGeom prst="rect">
              <a:avLst/>
            </a:prstGeom>
            <a:noFill/>
            <a:ln w="9525">
              <a:solidFill>
                <a:srgbClr val="000000"/>
              </a:solidFill>
              <a:prstDash val="dash"/>
              <a:miter lim="800000"/>
              <a:headEnd/>
              <a:tailEnd/>
            </a:ln>
          </p:spPr>
          <p:txBody>
            <a:bodyPr/>
            <a:lstStyle/>
            <a:p>
              <a:endParaRPr lang="zh-CN" altLang="en-US"/>
            </a:p>
          </p:txBody>
        </p:sp>
        <p:sp>
          <p:nvSpPr>
            <p:cNvPr id="72753" name="Line 47"/>
            <p:cNvSpPr>
              <a:spLocks noChangeShapeType="1"/>
            </p:cNvSpPr>
            <p:nvPr/>
          </p:nvSpPr>
          <p:spPr bwMode="auto">
            <a:xfrm>
              <a:off x="4087" y="3259"/>
              <a:ext cx="480" cy="480"/>
            </a:xfrm>
            <a:prstGeom prst="line">
              <a:avLst/>
            </a:prstGeom>
            <a:noFill/>
            <a:ln w="6350">
              <a:solidFill>
                <a:srgbClr val="000000"/>
              </a:solidFill>
              <a:round/>
              <a:headEnd/>
              <a:tailEnd type="stealth" w="lg" len="lg"/>
            </a:ln>
          </p:spPr>
          <p:txBody>
            <a:bodyPr/>
            <a:lstStyle/>
            <a:p>
              <a:endParaRPr lang="zh-CN" altLang="en-US"/>
            </a:p>
          </p:txBody>
        </p:sp>
        <p:sp>
          <p:nvSpPr>
            <p:cNvPr id="72754" name="Arc 48"/>
            <p:cNvSpPr>
              <a:spLocks/>
            </p:cNvSpPr>
            <p:nvPr/>
          </p:nvSpPr>
          <p:spPr bwMode="auto">
            <a:xfrm rot="6253226">
              <a:off x="4111" y="3575"/>
              <a:ext cx="299" cy="2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6350">
              <a:solidFill>
                <a:srgbClr val="000000"/>
              </a:solidFill>
              <a:round/>
              <a:headEnd type="stealth" w="lg" len="lg"/>
              <a:tailEnd type="stealth" w="lg" len="lg"/>
            </a:ln>
          </p:spPr>
          <p:txBody>
            <a:bodyPr/>
            <a:lstStyle/>
            <a:p>
              <a:endParaRPr lang="zh-CN" altLang="en-US"/>
            </a:p>
          </p:txBody>
        </p:sp>
        <p:sp>
          <p:nvSpPr>
            <p:cNvPr id="647217" name="Text Box 49"/>
            <p:cNvSpPr txBox="1">
              <a:spLocks noChangeArrowheads="1"/>
            </p:cNvSpPr>
            <p:nvPr/>
          </p:nvSpPr>
          <p:spPr bwMode="auto">
            <a:xfrm>
              <a:off x="4221" y="3665"/>
              <a:ext cx="490" cy="328"/>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 θ</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72756" name="Line 50"/>
            <p:cNvSpPr>
              <a:spLocks noChangeShapeType="1"/>
            </p:cNvSpPr>
            <p:nvPr/>
          </p:nvSpPr>
          <p:spPr bwMode="auto">
            <a:xfrm>
              <a:off x="4786" y="3159"/>
              <a:ext cx="106" cy="203"/>
            </a:xfrm>
            <a:prstGeom prst="line">
              <a:avLst/>
            </a:prstGeom>
            <a:noFill/>
            <a:ln w="6350">
              <a:solidFill>
                <a:srgbClr val="000000"/>
              </a:solidFill>
              <a:round/>
              <a:headEnd/>
              <a:tailEnd/>
            </a:ln>
          </p:spPr>
          <p:txBody>
            <a:bodyPr/>
            <a:lstStyle/>
            <a:p>
              <a:endParaRPr lang="zh-CN" altLang="en-US"/>
            </a:p>
          </p:txBody>
        </p:sp>
        <p:sp>
          <p:nvSpPr>
            <p:cNvPr id="647219" name="Text Box 51"/>
            <p:cNvSpPr txBox="1">
              <a:spLocks noChangeArrowheads="1"/>
            </p:cNvSpPr>
            <p:nvPr/>
          </p:nvSpPr>
          <p:spPr bwMode="auto">
            <a:xfrm>
              <a:off x="4246" y="2576"/>
              <a:ext cx="964" cy="254"/>
            </a:xfrm>
            <a:prstGeom prst="rect">
              <a:avLst/>
            </a:prstGeom>
            <a:noFill/>
            <a:ln w="9525">
              <a:noFill/>
              <a:miter lim="800000"/>
              <a:headEnd/>
              <a:tailEnd/>
            </a:ln>
            <a:effectLst/>
          </p:spPr>
          <p:txBody>
            <a:bodyPr/>
            <a:lstStyle/>
            <a:p>
              <a:pPr algn="just">
                <a:defRPr/>
              </a:pPr>
              <a:r>
                <a:rPr lang="zh-CN" altLang="en-US" sz="1600" b="1">
                  <a:effectLst>
                    <a:outerShdw blurRad="38100" dist="38100" dir="2700000" algn="tl">
                      <a:srgbClr val="C0C0C0"/>
                    </a:outerShdw>
                  </a:effectLst>
                  <a:latin typeface="Times New Roman" pitchFamily="18" charset="0"/>
                  <a:ea typeface="黑体" pitchFamily="2" charset="-122"/>
                </a:rPr>
                <a:t>空间频率狭缝</a:t>
              </a:r>
            </a:p>
          </p:txBody>
        </p:sp>
        <p:sp>
          <p:nvSpPr>
            <p:cNvPr id="72758" name="Line 52"/>
            <p:cNvSpPr>
              <a:spLocks noChangeShapeType="1"/>
            </p:cNvSpPr>
            <p:nvPr/>
          </p:nvSpPr>
          <p:spPr bwMode="auto">
            <a:xfrm flipV="1">
              <a:off x="4089" y="2725"/>
              <a:ext cx="193" cy="23"/>
            </a:xfrm>
            <a:prstGeom prst="line">
              <a:avLst/>
            </a:prstGeom>
            <a:noFill/>
            <a:ln w="6350">
              <a:solidFill>
                <a:srgbClr val="000000"/>
              </a:solidFill>
              <a:round/>
              <a:headEnd/>
              <a:tailEnd/>
            </a:ln>
          </p:spPr>
          <p:txBody>
            <a:bodyPr/>
            <a:lstStyle/>
            <a:p>
              <a:endParaRPr lang="zh-CN" altLang="en-US"/>
            </a:p>
          </p:txBody>
        </p:sp>
        <p:sp>
          <p:nvSpPr>
            <p:cNvPr id="647221" name="Text Box 53"/>
            <p:cNvSpPr txBox="1">
              <a:spLocks noChangeArrowheads="1"/>
            </p:cNvSpPr>
            <p:nvPr/>
          </p:nvSpPr>
          <p:spPr bwMode="auto">
            <a:xfrm>
              <a:off x="4538" y="3571"/>
              <a:ext cx="508" cy="412"/>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ea typeface="黑体" pitchFamily="2" charset="-122"/>
                </a:rPr>
                <a:t>x</a:t>
              </a:r>
              <a:endParaRPr lang="en-US" altLang="zh-CN" sz="1600" b="1">
                <a:effectLst>
                  <a:outerShdw blurRad="38100" dist="38100" dir="2700000" algn="tl">
                    <a:srgbClr val="C0C0C0"/>
                  </a:outerShdw>
                </a:effectLst>
                <a:latin typeface="Times New Roman" pitchFamily="18" charset="0"/>
                <a:ea typeface="黑体" pitchFamily="2" charset="-122"/>
              </a:endParaRPr>
            </a:p>
          </p:txBody>
        </p:sp>
        <p:sp>
          <p:nvSpPr>
            <p:cNvPr id="647222" name="Text Box 54"/>
            <p:cNvSpPr txBox="1">
              <a:spLocks noChangeArrowheads="1"/>
            </p:cNvSpPr>
            <p:nvPr/>
          </p:nvSpPr>
          <p:spPr bwMode="auto">
            <a:xfrm>
              <a:off x="3097" y="2481"/>
              <a:ext cx="761" cy="212"/>
            </a:xfrm>
            <a:prstGeom prst="rect">
              <a:avLst/>
            </a:prstGeom>
            <a:noFill/>
            <a:ln w="9525">
              <a:noFill/>
              <a:miter lim="800000"/>
              <a:headEnd/>
              <a:tailEnd/>
            </a:ln>
            <a:effectLst/>
          </p:spPr>
          <p:txBody>
            <a:bodyPr wrap="none">
              <a:spAutoFit/>
            </a:bodyPr>
            <a:lstStyle/>
            <a:p>
              <a:pPr>
                <a:defRPr/>
              </a:pPr>
              <a:r>
                <a:rPr lang="zh-CN" altLang="en-US" sz="1600" b="1">
                  <a:effectLst>
                    <a:outerShdw blurRad="38100" dist="38100" dir="2700000" algn="tl">
                      <a:srgbClr val="C0C0C0"/>
                    </a:outerShdw>
                  </a:effectLst>
                  <a:latin typeface="Times New Roman" pitchFamily="18" charset="0"/>
                  <a:ea typeface="黑体" pitchFamily="2" charset="-122"/>
                </a:rPr>
                <a:t>有效扫描孔</a:t>
              </a:r>
            </a:p>
          </p:txBody>
        </p:sp>
        <p:sp>
          <p:nvSpPr>
            <p:cNvPr id="72761" name="Line 55"/>
            <p:cNvSpPr>
              <a:spLocks noChangeShapeType="1"/>
            </p:cNvSpPr>
            <p:nvPr/>
          </p:nvSpPr>
          <p:spPr bwMode="auto">
            <a:xfrm>
              <a:off x="3621" y="2697"/>
              <a:ext cx="429" cy="430"/>
            </a:xfrm>
            <a:prstGeom prst="line">
              <a:avLst/>
            </a:prstGeom>
            <a:noFill/>
            <a:ln w="9525">
              <a:solidFill>
                <a:srgbClr val="003300"/>
              </a:solidFill>
              <a:round/>
              <a:headEnd/>
              <a:tailEnd/>
            </a:ln>
          </p:spPr>
          <p:txBody>
            <a:bodyPr/>
            <a:lstStyle/>
            <a:p>
              <a:endParaRPr lang="zh-CN" altLang="en-US"/>
            </a:p>
          </p:txBody>
        </p:sp>
      </p:grpSp>
      <p:sp>
        <p:nvSpPr>
          <p:cNvPr id="59" name="Rectangle 2"/>
          <p:cNvSpPr>
            <a:spLocks noGrp="1" noRot="1" noChangeArrowheads="1"/>
          </p:cNvSpPr>
          <p:nvPr>
            <p:ph type="title"/>
          </p:nvPr>
        </p:nvSpPr>
        <p:spPr>
          <a:xfrm>
            <a:off x="742950" y="3063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6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2.  </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光学传递函数测试原理及方法</a:t>
            </a:r>
          </a:p>
        </p:txBody>
      </p:sp>
    </p:spTree>
  </p:cSld>
  <p:clrMapOvr>
    <a:masterClrMapping/>
  </p:clrMapOvr>
  <p:transition spd="slow">
    <p:circle/>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7" name="日期占位符 3"/>
          <p:cNvSpPr>
            <a:spLocks noGrp="1"/>
          </p:cNvSpPr>
          <p:nvPr>
            <p:ph type="dt" sz="quarter" idx="10"/>
          </p:nvPr>
        </p:nvSpPr>
        <p:spPr>
          <a:noFill/>
        </p:spPr>
        <p:txBody>
          <a:bodyPr/>
          <a:lstStyle/>
          <a:p>
            <a:fld id="{87C7B6EB-0204-45D8-B3C4-1B127F08D4D0}" type="datetime1">
              <a:rPr lang="zh-CN" altLang="en-US" smtClean="0"/>
              <a:pPr/>
              <a:t>2018/2/24</a:t>
            </a:fld>
            <a:endParaRPr lang="en-US" altLang="zh-CN" smtClean="0"/>
          </a:p>
        </p:txBody>
      </p:sp>
      <p:sp>
        <p:nvSpPr>
          <p:cNvPr id="72708" name="灯片编号占位符 5"/>
          <p:cNvSpPr>
            <a:spLocks noGrp="1"/>
          </p:cNvSpPr>
          <p:nvPr>
            <p:ph type="sldNum" sz="quarter" idx="12"/>
          </p:nvPr>
        </p:nvSpPr>
        <p:spPr>
          <a:noFill/>
        </p:spPr>
        <p:txBody>
          <a:bodyPr/>
          <a:lstStyle/>
          <a:p>
            <a:fld id="{627559C8-68E5-4D12-B65C-9974A8978C4F}" type="slidenum">
              <a:rPr lang="en-US" altLang="zh-CN" smtClean="0"/>
              <a:pPr/>
              <a:t>97</a:t>
            </a:fld>
            <a:endParaRPr lang="en-US" altLang="zh-CN" smtClean="0"/>
          </a:p>
        </p:txBody>
      </p:sp>
      <p:sp>
        <p:nvSpPr>
          <p:cNvPr id="72711"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72712"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3"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2714"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5"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72716"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2717"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2718"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19"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72720"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1"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2"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2723"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72724" name="Rectangle 17"/>
          <p:cNvSpPr>
            <a:spLocks noChangeArrowheads="1"/>
          </p:cNvSpPr>
          <p:nvPr/>
        </p:nvSpPr>
        <p:spPr bwMode="auto">
          <a:xfrm>
            <a:off x="0" y="3373438"/>
            <a:ext cx="9144000" cy="0"/>
          </a:xfrm>
          <a:prstGeom prst="rect">
            <a:avLst/>
          </a:prstGeom>
          <a:noFill/>
          <a:ln w="9525">
            <a:noFill/>
            <a:miter lim="800000"/>
            <a:headEnd/>
            <a:tailEnd/>
          </a:ln>
        </p:spPr>
        <p:txBody>
          <a:bodyPr wrap="none" anchor="ctr">
            <a:spAutoFit/>
          </a:bodyPr>
          <a:lstStyle/>
          <a:p>
            <a:endParaRPr lang="zh-CN" altLang="en-US"/>
          </a:p>
        </p:txBody>
      </p:sp>
      <p:sp>
        <p:nvSpPr>
          <p:cNvPr id="72725"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19" name="标题 118"/>
          <p:cNvSpPr>
            <a:spLocks noGrp="1"/>
          </p:cNvSpPr>
          <p:nvPr>
            <p:ph type="title"/>
          </p:nvPr>
        </p:nvSpPr>
        <p:spPr/>
        <p:txBody>
          <a:bodyPr/>
          <a:lstStyle/>
          <a:p>
            <a:endParaRPr lang="zh-CN" altLang="en-US"/>
          </a:p>
        </p:txBody>
      </p:sp>
      <p:grpSp>
        <p:nvGrpSpPr>
          <p:cNvPr id="139" name="组合 138"/>
          <p:cNvGrpSpPr/>
          <p:nvPr/>
        </p:nvGrpSpPr>
        <p:grpSpPr>
          <a:xfrm>
            <a:off x="-2362200" y="-4267200"/>
            <a:ext cx="12934950" cy="15049500"/>
            <a:chOff x="-23839" y="0"/>
            <a:chExt cx="9206942" cy="6858000"/>
          </a:xfrm>
        </p:grpSpPr>
        <p:sp>
          <p:nvSpPr>
            <p:cNvPr id="87" name="Line 244"/>
            <p:cNvSpPr>
              <a:spLocks noChangeShapeType="1"/>
            </p:cNvSpPr>
            <p:nvPr/>
          </p:nvSpPr>
          <p:spPr bwMode="auto">
            <a:xfrm flipH="1">
              <a:off x="-23839" y="0"/>
              <a:ext cx="45719" cy="6858000"/>
            </a:xfrm>
            <a:prstGeom prst="line">
              <a:avLst/>
            </a:prstGeom>
            <a:noFill/>
            <a:ln w="76200">
              <a:solidFill>
                <a:srgbClr val="00FF00"/>
              </a:solidFill>
              <a:round/>
              <a:headEnd/>
              <a:tailEnd/>
            </a:ln>
            <a:effectLst/>
          </p:spPr>
          <p:txBody>
            <a:bodyPr/>
            <a:lstStyle/>
            <a:p>
              <a:endParaRPr lang="zh-CN" altLang="en-US"/>
            </a:p>
          </p:txBody>
        </p:sp>
        <p:sp>
          <p:nvSpPr>
            <p:cNvPr id="88" name="Line 245"/>
            <p:cNvSpPr>
              <a:spLocks noChangeShapeType="1"/>
            </p:cNvSpPr>
            <p:nvPr/>
          </p:nvSpPr>
          <p:spPr bwMode="auto">
            <a:xfrm>
              <a:off x="514610" y="0"/>
              <a:ext cx="0" cy="6389153"/>
            </a:xfrm>
            <a:prstGeom prst="line">
              <a:avLst/>
            </a:prstGeom>
            <a:noFill/>
            <a:ln w="76200">
              <a:solidFill>
                <a:srgbClr val="00FF00"/>
              </a:solidFill>
              <a:round/>
              <a:headEnd/>
              <a:tailEnd/>
            </a:ln>
            <a:effectLst/>
          </p:spPr>
          <p:txBody>
            <a:bodyPr/>
            <a:lstStyle/>
            <a:p>
              <a:endParaRPr lang="zh-CN" altLang="en-US"/>
            </a:p>
          </p:txBody>
        </p:sp>
        <p:sp>
          <p:nvSpPr>
            <p:cNvPr id="89" name="Line 246"/>
            <p:cNvSpPr>
              <a:spLocks noChangeShapeType="1"/>
            </p:cNvSpPr>
            <p:nvPr/>
          </p:nvSpPr>
          <p:spPr bwMode="auto">
            <a:xfrm>
              <a:off x="1007340" y="0"/>
              <a:ext cx="0" cy="6389153"/>
            </a:xfrm>
            <a:prstGeom prst="line">
              <a:avLst/>
            </a:prstGeom>
            <a:noFill/>
            <a:ln w="76200">
              <a:solidFill>
                <a:srgbClr val="00FF00"/>
              </a:solidFill>
              <a:round/>
              <a:headEnd/>
              <a:tailEnd/>
            </a:ln>
            <a:effectLst/>
          </p:spPr>
          <p:txBody>
            <a:bodyPr/>
            <a:lstStyle/>
            <a:p>
              <a:endParaRPr lang="zh-CN" altLang="en-US"/>
            </a:p>
          </p:txBody>
        </p:sp>
        <p:sp>
          <p:nvSpPr>
            <p:cNvPr id="90" name="Line 247"/>
            <p:cNvSpPr>
              <a:spLocks noChangeShapeType="1"/>
            </p:cNvSpPr>
            <p:nvPr/>
          </p:nvSpPr>
          <p:spPr bwMode="auto">
            <a:xfrm>
              <a:off x="1500070" y="0"/>
              <a:ext cx="0" cy="6389153"/>
            </a:xfrm>
            <a:prstGeom prst="line">
              <a:avLst/>
            </a:prstGeom>
            <a:noFill/>
            <a:ln w="76200">
              <a:solidFill>
                <a:srgbClr val="00FF00"/>
              </a:solidFill>
              <a:round/>
              <a:headEnd/>
              <a:tailEnd/>
            </a:ln>
            <a:effectLst/>
          </p:spPr>
          <p:txBody>
            <a:bodyPr/>
            <a:lstStyle/>
            <a:p>
              <a:endParaRPr lang="zh-CN" altLang="en-US"/>
            </a:p>
          </p:txBody>
        </p:sp>
        <p:sp>
          <p:nvSpPr>
            <p:cNvPr id="91" name="Line 248"/>
            <p:cNvSpPr>
              <a:spLocks noChangeShapeType="1"/>
            </p:cNvSpPr>
            <p:nvPr/>
          </p:nvSpPr>
          <p:spPr bwMode="auto">
            <a:xfrm>
              <a:off x="1992800" y="0"/>
              <a:ext cx="0" cy="6389153"/>
            </a:xfrm>
            <a:prstGeom prst="line">
              <a:avLst/>
            </a:prstGeom>
            <a:noFill/>
            <a:ln w="76200">
              <a:solidFill>
                <a:srgbClr val="00FF00"/>
              </a:solidFill>
              <a:round/>
              <a:headEnd/>
              <a:tailEnd/>
            </a:ln>
            <a:effectLst/>
          </p:spPr>
          <p:txBody>
            <a:bodyPr/>
            <a:lstStyle/>
            <a:p>
              <a:endParaRPr lang="zh-CN" altLang="en-US"/>
            </a:p>
          </p:txBody>
        </p:sp>
        <p:sp>
          <p:nvSpPr>
            <p:cNvPr id="92" name="Line 249"/>
            <p:cNvSpPr>
              <a:spLocks noChangeShapeType="1"/>
            </p:cNvSpPr>
            <p:nvPr/>
          </p:nvSpPr>
          <p:spPr bwMode="auto">
            <a:xfrm>
              <a:off x="2485530" y="0"/>
              <a:ext cx="0" cy="6389153"/>
            </a:xfrm>
            <a:prstGeom prst="line">
              <a:avLst/>
            </a:prstGeom>
            <a:noFill/>
            <a:ln w="76200">
              <a:solidFill>
                <a:srgbClr val="00FF00"/>
              </a:solidFill>
              <a:round/>
              <a:headEnd/>
              <a:tailEnd/>
            </a:ln>
            <a:effectLst/>
          </p:spPr>
          <p:txBody>
            <a:bodyPr/>
            <a:lstStyle/>
            <a:p>
              <a:endParaRPr lang="zh-CN" altLang="en-US"/>
            </a:p>
          </p:txBody>
        </p:sp>
        <p:sp>
          <p:nvSpPr>
            <p:cNvPr id="93" name="Line 250"/>
            <p:cNvSpPr>
              <a:spLocks noChangeShapeType="1"/>
            </p:cNvSpPr>
            <p:nvPr/>
          </p:nvSpPr>
          <p:spPr bwMode="auto">
            <a:xfrm>
              <a:off x="2978260" y="0"/>
              <a:ext cx="0" cy="6389153"/>
            </a:xfrm>
            <a:prstGeom prst="line">
              <a:avLst/>
            </a:prstGeom>
            <a:noFill/>
            <a:ln w="76200">
              <a:solidFill>
                <a:srgbClr val="00FF00"/>
              </a:solidFill>
              <a:round/>
              <a:headEnd/>
              <a:tailEnd/>
            </a:ln>
            <a:effectLst/>
          </p:spPr>
          <p:txBody>
            <a:bodyPr/>
            <a:lstStyle/>
            <a:p>
              <a:endParaRPr lang="zh-CN" altLang="en-US"/>
            </a:p>
          </p:txBody>
        </p:sp>
        <p:sp>
          <p:nvSpPr>
            <p:cNvPr id="94" name="Line 251"/>
            <p:cNvSpPr>
              <a:spLocks noChangeShapeType="1"/>
            </p:cNvSpPr>
            <p:nvPr/>
          </p:nvSpPr>
          <p:spPr bwMode="auto">
            <a:xfrm>
              <a:off x="3224625" y="0"/>
              <a:ext cx="0" cy="6389153"/>
            </a:xfrm>
            <a:prstGeom prst="line">
              <a:avLst/>
            </a:prstGeom>
            <a:noFill/>
            <a:ln w="76200">
              <a:solidFill>
                <a:srgbClr val="00FF00"/>
              </a:solidFill>
              <a:round/>
              <a:headEnd/>
              <a:tailEnd/>
            </a:ln>
            <a:effectLst/>
          </p:spPr>
          <p:txBody>
            <a:bodyPr/>
            <a:lstStyle/>
            <a:p>
              <a:endParaRPr lang="zh-CN" altLang="en-US"/>
            </a:p>
          </p:txBody>
        </p:sp>
        <p:sp>
          <p:nvSpPr>
            <p:cNvPr id="95" name="Line 252"/>
            <p:cNvSpPr>
              <a:spLocks noChangeShapeType="1"/>
            </p:cNvSpPr>
            <p:nvPr/>
          </p:nvSpPr>
          <p:spPr bwMode="auto">
            <a:xfrm>
              <a:off x="3470990" y="0"/>
              <a:ext cx="0" cy="6389153"/>
            </a:xfrm>
            <a:prstGeom prst="line">
              <a:avLst/>
            </a:prstGeom>
            <a:noFill/>
            <a:ln w="76200">
              <a:solidFill>
                <a:srgbClr val="00FF00"/>
              </a:solidFill>
              <a:round/>
              <a:headEnd/>
              <a:tailEnd/>
            </a:ln>
            <a:effectLst/>
          </p:spPr>
          <p:txBody>
            <a:bodyPr/>
            <a:lstStyle/>
            <a:p>
              <a:endParaRPr lang="zh-CN" altLang="en-US"/>
            </a:p>
          </p:txBody>
        </p:sp>
        <p:sp>
          <p:nvSpPr>
            <p:cNvPr id="96" name="Line 253"/>
            <p:cNvSpPr>
              <a:spLocks noChangeShapeType="1"/>
            </p:cNvSpPr>
            <p:nvPr/>
          </p:nvSpPr>
          <p:spPr bwMode="auto">
            <a:xfrm>
              <a:off x="3963720" y="0"/>
              <a:ext cx="0" cy="6389153"/>
            </a:xfrm>
            <a:prstGeom prst="line">
              <a:avLst/>
            </a:prstGeom>
            <a:noFill/>
            <a:ln w="76200">
              <a:solidFill>
                <a:srgbClr val="00FF00"/>
              </a:solidFill>
              <a:round/>
              <a:headEnd/>
              <a:tailEnd/>
            </a:ln>
            <a:effectLst/>
          </p:spPr>
          <p:txBody>
            <a:bodyPr/>
            <a:lstStyle/>
            <a:p>
              <a:endParaRPr lang="zh-CN" altLang="en-US"/>
            </a:p>
          </p:txBody>
        </p:sp>
        <p:sp>
          <p:nvSpPr>
            <p:cNvPr id="97" name="Line 254"/>
            <p:cNvSpPr>
              <a:spLocks noChangeShapeType="1"/>
            </p:cNvSpPr>
            <p:nvPr/>
          </p:nvSpPr>
          <p:spPr bwMode="auto">
            <a:xfrm>
              <a:off x="6920100" y="0"/>
              <a:ext cx="0" cy="6389153"/>
            </a:xfrm>
            <a:prstGeom prst="line">
              <a:avLst/>
            </a:prstGeom>
            <a:noFill/>
            <a:ln w="76200">
              <a:solidFill>
                <a:srgbClr val="00FF00"/>
              </a:solidFill>
              <a:round/>
              <a:headEnd/>
              <a:tailEnd/>
            </a:ln>
            <a:effectLst/>
          </p:spPr>
          <p:txBody>
            <a:bodyPr/>
            <a:lstStyle/>
            <a:p>
              <a:endParaRPr lang="zh-CN" altLang="en-US"/>
            </a:p>
          </p:txBody>
        </p:sp>
        <p:sp>
          <p:nvSpPr>
            <p:cNvPr id="98" name="Line 255"/>
            <p:cNvSpPr>
              <a:spLocks noChangeShapeType="1"/>
            </p:cNvSpPr>
            <p:nvPr/>
          </p:nvSpPr>
          <p:spPr bwMode="auto">
            <a:xfrm>
              <a:off x="7659195" y="0"/>
              <a:ext cx="0" cy="6389153"/>
            </a:xfrm>
            <a:prstGeom prst="line">
              <a:avLst/>
            </a:prstGeom>
            <a:noFill/>
            <a:ln w="76200">
              <a:solidFill>
                <a:srgbClr val="00FF00"/>
              </a:solidFill>
              <a:round/>
              <a:headEnd/>
              <a:tailEnd/>
            </a:ln>
            <a:effectLst/>
          </p:spPr>
          <p:txBody>
            <a:bodyPr/>
            <a:lstStyle/>
            <a:p>
              <a:endParaRPr lang="zh-CN" altLang="en-US"/>
            </a:p>
          </p:txBody>
        </p:sp>
        <p:sp>
          <p:nvSpPr>
            <p:cNvPr id="99" name="Line 256"/>
            <p:cNvSpPr>
              <a:spLocks noChangeShapeType="1"/>
            </p:cNvSpPr>
            <p:nvPr/>
          </p:nvSpPr>
          <p:spPr bwMode="auto">
            <a:xfrm>
              <a:off x="8398290" y="0"/>
              <a:ext cx="0" cy="6389153"/>
            </a:xfrm>
            <a:prstGeom prst="line">
              <a:avLst/>
            </a:prstGeom>
            <a:noFill/>
            <a:ln w="76200">
              <a:solidFill>
                <a:srgbClr val="00FF00"/>
              </a:solidFill>
              <a:round/>
              <a:headEnd/>
              <a:tailEnd/>
            </a:ln>
            <a:effectLst/>
          </p:spPr>
          <p:txBody>
            <a:bodyPr/>
            <a:lstStyle/>
            <a:p>
              <a:endParaRPr lang="zh-CN" altLang="en-US"/>
            </a:p>
          </p:txBody>
        </p:sp>
        <p:sp>
          <p:nvSpPr>
            <p:cNvPr id="106" name="Line 253"/>
            <p:cNvSpPr>
              <a:spLocks noChangeShapeType="1"/>
            </p:cNvSpPr>
            <p:nvPr/>
          </p:nvSpPr>
          <p:spPr bwMode="auto">
            <a:xfrm>
              <a:off x="4702815" y="0"/>
              <a:ext cx="0" cy="6389153"/>
            </a:xfrm>
            <a:prstGeom prst="line">
              <a:avLst/>
            </a:prstGeom>
            <a:noFill/>
            <a:ln w="76200">
              <a:solidFill>
                <a:srgbClr val="00FF00"/>
              </a:solidFill>
              <a:round/>
              <a:headEnd/>
              <a:tailEnd/>
            </a:ln>
            <a:effectLst/>
          </p:spPr>
          <p:txBody>
            <a:bodyPr/>
            <a:lstStyle/>
            <a:p>
              <a:endParaRPr lang="zh-CN" altLang="en-US"/>
            </a:p>
          </p:txBody>
        </p:sp>
        <p:sp>
          <p:nvSpPr>
            <p:cNvPr id="107" name="Line 253"/>
            <p:cNvSpPr>
              <a:spLocks noChangeShapeType="1"/>
            </p:cNvSpPr>
            <p:nvPr/>
          </p:nvSpPr>
          <p:spPr bwMode="auto">
            <a:xfrm>
              <a:off x="5441910" y="0"/>
              <a:ext cx="0" cy="6389153"/>
            </a:xfrm>
            <a:prstGeom prst="line">
              <a:avLst/>
            </a:prstGeom>
            <a:noFill/>
            <a:ln w="76200">
              <a:solidFill>
                <a:srgbClr val="00FF00"/>
              </a:solidFill>
              <a:round/>
              <a:headEnd/>
              <a:tailEnd/>
            </a:ln>
            <a:effectLst/>
          </p:spPr>
          <p:txBody>
            <a:bodyPr/>
            <a:lstStyle/>
            <a:p>
              <a:endParaRPr lang="zh-CN" altLang="en-US"/>
            </a:p>
          </p:txBody>
        </p:sp>
        <p:sp>
          <p:nvSpPr>
            <p:cNvPr id="108" name="Line 253"/>
            <p:cNvSpPr>
              <a:spLocks noChangeShapeType="1"/>
            </p:cNvSpPr>
            <p:nvPr/>
          </p:nvSpPr>
          <p:spPr bwMode="auto">
            <a:xfrm>
              <a:off x="6181005" y="0"/>
              <a:ext cx="0" cy="6389153"/>
            </a:xfrm>
            <a:prstGeom prst="line">
              <a:avLst/>
            </a:prstGeom>
            <a:noFill/>
            <a:ln w="76200">
              <a:solidFill>
                <a:srgbClr val="00FF00"/>
              </a:solidFill>
              <a:round/>
              <a:headEnd/>
              <a:tailEnd/>
            </a:ln>
            <a:effectLst/>
          </p:spPr>
          <p:txBody>
            <a:bodyPr/>
            <a:lstStyle/>
            <a:p>
              <a:endParaRPr lang="zh-CN" altLang="en-US"/>
            </a:p>
          </p:txBody>
        </p:sp>
        <p:sp>
          <p:nvSpPr>
            <p:cNvPr id="109" name="Line 244"/>
            <p:cNvSpPr>
              <a:spLocks noChangeShapeType="1"/>
            </p:cNvSpPr>
            <p:nvPr/>
          </p:nvSpPr>
          <p:spPr bwMode="auto">
            <a:xfrm>
              <a:off x="268245" y="0"/>
              <a:ext cx="0" cy="6389153"/>
            </a:xfrm>
            <a:prstGeom prst="line">
              <a:avLst/>
            </a:prstGeom>
            <a:noFill/>
            <a:ln w="76200">
              <a:solidFill>
                <a:srgbClr val="00FF00"/>
              </a:solidFill>
              <a:round/>
              <a:headEnd/>
              <a:tailEnd/>
            </a:ln>
            <a:effectLst/>
          </p:spPr>
          <p:txBody>
            <a:bodyPr/>
            <a:lstStyle/>
            <a:p>
              <a:endParaRPr lang="zh-CN" altLang="en-US"/>
            </a:p>
          </p:txBody>
        </p:sp>
        <p:sp>
          <p:nvSpPr>
            <p:cNvPr id="110" name="Line 245"/>
            <p:cNvSpPr>
              <a:spLocks noChangeShapeType="1"/>
            </p:cNvSpPr>
            <p:nvPr/>
          </p:nvSpPr>
          <p:spPr bwMode="auto">
            <a:xfrm>
              <a:off x="760975" y="0"/>
              <a:ext cx="0" cy="6389153"/>
            </a:xfrm>
            <a:prstGeom prst="line">
              <a:avLst/>
            </a:prstGeom>
            <a:noFill/>
            <a:ln w="76200">
              <a:solidFill>
                <a:srgbClr val="00FF00"/>
              </a:solidFill>
              <a:round/>
              <a:headEnd/>
              <a:tailEnd/>
            </a:ln>
            <a:effectLst/>
          </p:spPr>
          <p:txBody>
            <a:bodyPr/>
            <a:lstStyle/>
            <a:p>
              <a:endParaRPr lang="zh-CN" altLang="en-US"/>
            </a:p>
          </p:txBody>
        </p:sp>
        <p:sp>
          <p:nvSpPr>
            <p:cNvPr id="111" name="Line 246"/>
            <p:cNvSpPr>
              <a:spLocks noChangeShapeType="1"/>
            </p:cNvSpPr>
            <p:nvPr/>
          </p:nvSpPr>
          <p:spPr bwMode="auto">
            <a:xfrm>
              <a:off x="1253705" y="0"/>
              <a:ext cx="0" cy="6389153"/>
            </a:xfrm>
            <a:prstGeom prst="line">
              <a:avLst/>
            </a:prstGeom>
            <a:noFill/>
            <a:ln w="76200">
              <a:solidFill>
                <a:srgbClr val="00FF00"/>
              </a:solidFill>
              <a:round/>
              <a:headEnd/>
              <a:tailEnd/>
            </a:ln>
            <a:effectLst/>
          </p:spPr>
          <p:txBody>
            <a:bodyPr/>
            <a:lstStyle/>
            <a:p>
              <a:endParaRPr lang="zh-CN" altLang="en-US"/>
            </a:p>
          </p:txBody>
        </p:sp>
        <p:sp>
          <p:nvSpPr>
            <p:cNvPr id="112" name="Line 247"/>
            <p:cNvSpPr>
              <a:spLocks noChangeShapeType="1"/>
            </p:cNvSpPr>
            <p:nvPr/>
          </p:nvSpPr>
          <p:spPr bwMode="auto">
            <a:xfrm>
              <a:off x="1746435" y="0"/>
              <a:ext cx="0" cy="6389153"/>
            </a:xfrm>
            <a:prstGeom prst="line">
              <a:avLst/>
            </a:prstGeom>
            <a:noFill/>
            <a:ln w="76200">
              <a:solidFill>
                <a:srgbClr val="00FF00"/>
              </a:solidFill>
              <a:round/>
              <a:headEnd/>
              <a:tailEnd/>
            </a:ln>
            <a:effectLst/>
          </p:spPr>
          <p:txBody>
            <a:bodyPr/>
            <a:lstStyle/>
            <a:p>
              <a:endParaRPr lang="zh-CN" altLang="en-US"/>
            </a:p>
          </p:txBody>
        </p:sp>
        <p:sp>
          <p:nvSpPr>
            <p:cNvPr id="113" name="Line 248"/>
            <p:cNvSpPr>
              <a:spLocks noChangeShapeType="1"/>
            </p:cNvSpPr>
            <p:nvPr/>
          </p:nvSpPr>
          <p:spPr bwMode="auto">
            <a:xfrm>
              <a:off x="2239165" y="0"/>
              <a:ext cx="0" cy="6389153"/>
            </a:xfrm>
            <a:prstGeom prst="line">
              <a:avLst/>
            </a:prstGeom>
            <a:noFill/>
            <a:ln w="76200">
              <a:solidFill>
                <a:srgbClr val="00FF00"/>
              </a:solidFill>
              <a:round/>
              <a:headEnd/>
              <a:tailEnd/>
            </a:ln>
            <a:effectLst/>
          </p:spPr>
          <p:txBody>
            <a:bodyPr/>
            <a:lstStyle/>
            <a:p>
              <a:endParaRPr lang="zh-CN" altLang="en-US"/>
            </a:p>
          </p:txBody>
        </p:sp>
        <p:sp>
          <p:nvSpPr>
            <p:cNvPr id="114" name="Line 249"/>
            <p:cNvSpPr>
              <a:spLocks noChangeShapeType="1"/>
            </p:cNvSpPr>
            <p:nvPr/>
          </p:nvSpPr>
          <p:spPr bwMode="auto">
            <a:xfrm>
              <a:off x="2731895" y="0"/>
              <a:ext cx="0" cy="6389153"/>
            </a:xfrm>
            <a:prstGeom prst="line">
              <a:avLst/>
            </a:prstGeom>
            <a:noFill/>
            <a:ln w="76200">
              <a:solidFill>
                <a:srgbClr val="00FF00"/>
              </a:solidFill>
              <a:round/>
              <a:headEnd/>
              <a:tailEnd/>
            </a:ln>
            <a:effectLst/>
          </p:spPr>
          <p:txBody>
            <a:bodyPr/>
            <a:lstStyle/>
            <a:p>
              <a:endParaRPr lang="zh-CN" altLang="en-US"/>
            </a:p>
          </p:txBody>
        </p:sp>
        <p:sp>
          <p:nvSpPr>
            <p:cNvPr id="123" name="Line 252"/>
            <p:cNvSpPr>
              <a:spLocks noChangeShapeType="1"/>
            </p:cNvSpPr>
            <p:nvPr/>
          </p:nvSpPr>
          <p:spPr bwMode="auto">
            <a:xfrm>
              <a:off x="3717355" y="0"/>
              <a:ext cx="0" cy="6389153"/>
            </a:xfrm>
            <a:prstGeom prst="line">
              <a:avLst/>
            </a:prstGeom>
            <a:noFill/>
            <a:ln w="76200">
              <a:solidFill>
                <a:srgbClr val="00FF00"/>
              </a:solidFill>
              <a:round/>
              <a:headEnd/>
              <a:tailEnd/>
            </a:ln>
            <a:effectLst/>
          </p:spPr>
          <p:txBody>
            <a:bodyPr/>
            <a:lstStyle/>
            <a:p>
              <a:endParaRPr lang="zh-CN" altLang="en-US"/>
            </a:p>
          </p:txBody>
        </p:sp>
        <p:sp>
          <p:nvSpPr>
            <p:cNvPr id="124" name="Line 253"/>
            <p:cNvSpPr>
              <a:spLocks noChangeShapeType="1"/>
            </p:cNvSpPr>
            <p:nvPr/>
          </p:nvSpPr>
          <p:spPr bwMode="auto">
            <a:xfrm>
              <a:off x="4456450" y="0"/>
              <a:ext cx="0" cy="6389153"/>
            </a:xfrm>
            <a:prstGeom prst="line">
              <a:avLst/>
            </a:prstGeom>
            <a:noFill/>
            <a:ln w="76200">
              <a:solidFill>
                <a:srgbClr val="00FF00"/>
              </a:solidFill>
              <a:round/>
              <a:headEnd/>
              <a:tailEnd/>
            </a:ln>
            <a:effectLst/>
          </p:spPr>
          <p:txBody>
            <a:bodyPr/>
            <a:lstStyle/>
            <a:p>
              <a:endParaRPr lang="zh-CN" altLang="en-US"/>
            </a:p>
          </p:txBody>
        </p:sp>
        <p:sp>
          <p:nvSpPr>
            <p:cNvPr id="125" name="Line 254"/>
            <p:cNvSpPr>
              <a:spLocks noChangeShapeType="1"/>
            </p:cNvSpPr>
            <p:nvPr/>
          </p:nvSpPr>
          <p:spPr bwMode="auto">
            <a:xfrm>
              <a:off x="7412830" y="0"/>
              <a:ext cx="0" cy="6389153"/>
            </a:xfrm>
            <a:prstGeom prst="line">
              <a:avLst/>
            </a:prstGeom>
            <a:noFill/>
            <a:ln w="76200">
              <a:solidFill>
                <a:srgbClr val="00FF00"/>
              </a:solidFill>
              <a:round/>
              <a:headEnd/>
              <a:tailEnd/>
            </a:ln>
            <a:effectLst/>
          </p:spPr>
          <p:txBody>
            <a:bodyPr/>
            <a:lstStyle/>
            <a:p>
              <a:endParaRPr lang="zh-CN" altLang="en-US"/>
            </a:p>
          </p:txBody>
        </p:sp>
        <p:sp>
          <p:nvSpPr>
            <p:cNvPr id="126" name="Line 255"/>
            <p:cNvSpPr>
              <a:spLocks noChangeShapeType="1"/>
            </p:cNvSpPr>
            <p:nvPr/>
          </p:nvSpPr>
          <p:spPr bwMode="auto">
            <a:xfrm>
              <a:off x="8151925" y="0"/>
              <a:ext cx="0" cy="6389153"/>
            </a:xfrm>
            <a:prstGeom prst="line">
              <a:avLst/>
            </a:prstGeom>
            <a:noFill/>
            <a:ln w="76200">
              <a:solidFill>
                <a:srgbClr val="00FF00"/>
              </a:solidFill>
              <a:round/>
              <a:headEnd/>
              <a:tailEnd/>
            </a:ln>
            <a:effectLst/>
          </p:spPr>
          <p:txBody>
            <a:bodyPr/>
            <a:lstStyle/>
            <a:p>
              <a:endParaRPr lang="zh-CN" altLang="en-US"/>
            </a:p>
          </p:txBody>
        </p:sp>
        <p:sp>
          <p:nvSpPr>
            <p:cNvPr id="127" name="Line 256"/>
            <p:cNvSpPr>
              <a:spLocks noChangeShapeType="1"/>
            </p:cNvSpPr>
            <p:nvPr/>
          </p:nvSpPr>
          <p:spPr bwMode="auto">
            <a:xfrm>
              <a:off x="8891020" y="0"/>
              <a:ext cx="0" cy="6389153"/>
            </a:xfrm>
            <a:prstGeom prst="line">
              <a:avLst/>
            </a:prstGeom>
            <a:noFill/>
            <a:ln w="76200">
              <a:solidFill>
                <a:srgbClr val="00FF00"/>
              </a:solidFill>
              <a:round/>
              <a:headEnd/>
              <a:tailEnd/>
            </a:ln>
            <a:effectLst/>
          </p:spPr>
          <p:txBody>
            <a:bodyPr/>
            <a:lstStyle/>
            <a:p>
              <a:endParaRPr lang="zh-CN" altLang="en-US"/>
            </a:p>
          </p:txBody>
        </p:sp>
        <p:sp>
          <p:nvSpPr>
            <p:cNvPr id="128" name="Line 253"/>
            <p:cNvSpPr>
              <a:spLocks noChangeShapeType="1"/>
            </p:cNvSpPr>
            <p:nvPr/>
          </p:nvSpPr>
          <p:spPr bwMode="auto">
            <a:xfrm>
              <a:off x="5195545" y="0"/>
              <a:ext cx="0" cy="6389153"/>
            </a:xfrm>
            <a:prstGeom prst="line">
              <a:avLst/>
            </a:prstGeom>
            <a:noFill/>
            <a:ln w="76200">
              <a:solidFill>
                <a:srgbClr val="00FF00"/>
              </a:solidFill>
              <a:round/>
              <a:headEnd/>
              <a:tailEnd/>
            </a:ln>
            <a:effectLst/>
          </p:spPr>
          <p:txBody>
            <a:bodyPr/>
            <a:lstStyle/>
            <a:p>
              <a:endParaRPr lang="zh-CN" altLang="en-US"/>
            </a:p>
          </p:txBody>
        </p:sp>
        <p:sp>
          <p:nvSpPr>
            <p:cNvPr id="129" name="Line 253"/>
            <p:cNvSpPr>
              <a:spLocks noChangeShapeType="1"/>
            </p:cNvSpPr>
            <p:nvPr/>
          </p:nvSpPr>
          <p:spPr bwMode="auto">
            <a:xfrm>
              <a:off x="5934640" y="0"/>
              <a:ext cx="0" cy="6389153"/>
            </a:xfrm>
            <a:prstGeom prst="line">
              <a:avLst/>
            </a:prstGeom>
            <a:noFill/>
            <a:ln w="76200">
              <a:solidFill>
                <a:srgbClr val="00FF00"/>
              </a:solidFill>
              <a:round/>
              <a:headEnd/>
              <a:tailEnd/>
            </a:ln>
            <a:effectLst/>
          </p:spPr>
          <p:txBody>
            <a:bodyPr/>
            <a:lstStyle/>
            <a:p>
              <a:endParaRPr lang="zh-CN" altLang="en-US"/>
            </a:p>
          </p:txBody>
        </p:sp>
        <p:sp>
          <p:nvSpPr>
            <p:cNvPr id="130" name="Line 253"/>
            <p:cNvSpPr>
              <a:spLocks noChangeShapeType="1"/>
            </p:cNvSpPr>
            <p:nvPr/>
          </p:nvSpPr>
          <p:spPr bwMode="auto">
            <a:xfrm>
              <a:off x="6673735" y="0"/>
              <a:ext cx="0" cy="6389153"/>
            </a:xfrm>
            <a:prstGeom prst="line">
              <a:avLst/>
            </a:prstGeom>
            <a:noFill/>
            <a:ln w="76200">
              <a:solidFill>
                <a:srgbClr val="00FF00"/>
              </a:solidFill>
              <a:round/>
              <a:headEnd/>
              <a:tailEnd/>
            </a:ln>
            <a:effectLst/>
          </p:spPr>
          <p:txBody>
            <a:bodyPr/>
            <a:lstStyle/>
            <a:p>
              <a:endParaRPr lang="zh-CN" altLang="en-US"/>
            </a:p>
          </p:txBody>
        </p:sp>
        <p:sp>
          <p:nvSpPr>
            <p:cNvPr id="131" name="Line 252"/>
            <p:cNvSpPr>
              <a:spLocks noChangeShapeType="1"/>
            </p:cNvSpPr>
            <p:nvPr/>
          </p:nvSpPr>
          <p:spPr bwMode="auto">
            <a:xfrm>
              <a:off x="4210085" y="0"/>
              <a:ext cx="0" cy="6389153"/>
            </a:xfrm>
            <a:prstGeom prst="line">
              <a:avLst/>
            </a:prstGeom>
            <a:noFill/>
            <a:ln w="76200">
              <a:solidFill>
                <a:srgbClr val="00FF00"/>
              </a:solidFill>
              <a:round/>
              <a:headEnd/>
              <a:tailEnd/>
            </a:ln>
            <a:effectLst/>
          </p:spPr>
          <p:txBody>
            <a:bodyPr/>
            <a:lstStyle/>
            <a:p>
              <a:endParaRPr lang="zh-CN" altLang="en-US"/>
            </a:p>
          </p:txBody>
        </p:sp>
        <p:sp>
          <p:nvSpPr>
            <p:cNvPr id="132" name="Line 253"/>
            <p:cNvSpPr>
              <a:spLocks noChangeShapeType="1"/>
            </p:cNvSpPr>
            <p:nvPr/>
          </p:nvSpPr>
          <p:spPr bwMode="auto">
            <a:xfrm>
              <a:off x="4949180" y="0"/>
              <a:ext cx="0" cy="6389153"/>
            </a:xfrm>
            <a:prstGeom prst="line">
              <a:avLst/>
            </a:prstGeom>
            <a:noFill/>
            <a:ln w="76200">
              <a:solidFill>
                <a:srgbClr val="00FF00"/>
              </a:solidFill>
              <a:round/>
              <a:headEnd/>
              <a:tailEnd/>
            </a:ln>
            <a:effectLst/>
          </p:spPr>
          <p:txBody>
            <a:bodyPr/>
            <a:lstStyle/>
            <a:p>
              <a:endParaRPr lang="zh-CN" altLang="en-US"/>
            </a:p>
          </p:txBody>
        </p:sp>
        <p:sp>
          <p:nvSpPr>
            <p:cNvPr id="133" name="Line 254"/>
            <p:cNvSpPr>
              <a:spLocks noChangeShapeType="1"/>
            </p:cNvSpPr>
            <p:nvPr/>
          </p:nvSpPr>
          <p:spPr bwMode="auto">
            <a:xfrm>
              <a:off x="7905560" y="0"/>
              <a:ext cx="0" cy="6389153"/>
            </a:xfrm>
            <a:prstGeom prst="line">
              <a:avLst/>
            </a:prstGeom>
            <a:noFill/>
            <a:ln w="76200">
              <a:solidFill>
                <a:srgbClr val="00FF00"/>
              </a:solidFill>
              <a:round/>
              <a:headEnd/>
              <a:tailEnd/>
            </a:ln>
            <a:effectLst/>
          </p:spPr>
          <p:txBody>
            <a:bodyPr/>
            <a:lstStyle/>
            <a:p>
              <a:endParaRPr lang="zh-CN" altLang="en-US"/>
            </a:p>
          </p:txBody>
        </p:sp>
        <p:sp>
          <p:nvSpPr>
            <p:cNvPr id="134" name="Line 255"/>
            <p:cNvSpPr>
              <a:spLocks noChangeShapeType="1"/>
            </p:cNvSpPr>
            <p:nvPr/>
          </p:nvSpPr>
          <p:spPr bwMode="auto">
            <a:xfrm>
              <a:off x="8644655" y="0"/>
              <a:ext cx="0" cy="6389153"/>
            </a:xfrm>
            <a:prstGeom prst="line">
              <a:avLst/>
            </a:prstGeom>
            <a:noFill/>
            <a:ln w="76200">
              <a:solidFill>
                <a:srgbClr val="00FF00"/>
              </a:solidFill>
              <a:round/>
              <a:headEnd/>
              <a:tailEnd/>
            </a:ln>
            <a:effectLst/>
          </p:spPr>
          <p:txBody>
            <a:bodyPr/>
            <a:lstStyle/>
            <a:p>
              <a:endParaRPr lang="zh-CN" altLang="en-US"/>
            </a:p>
          </p:txBody>
        </p:sp>
        <p:sp>
          <p:nvSpPr>
            <p:cNvPr id="135" name="Line 256"/>
            <p:cNvSpPr>
              <a:spLocks noChangeShapeType="1"/>
            </p:cNvSpPr>
            <p:nvPr/>
          </p:nvSpPr>
          <p:spPr bwMode="auto">
            <a:xfrm>
              <a:off x="9137384" y="0"/>
              <a:ext cx="45719" cy="6858000"/>
            </a:xfrm>
            <a:prstGeom prst="line">
              <a:avLst/>
            </a:prstGeom>
            <a:noFill/>
            <a:ln w="76200">
              <a:solidFill>
                <a:srgbClr val="00FF00"/>
              </a:solidFill>
              <a:round/>
              <a:headEnd/>
              <a:tailEnd/>
            </a:ln>
            <a:effectLst/>
          </p:spPr>
          <p:txBody>
            <a:bodyPr/>
            <a:lstStyle/>
            <a:p>
              <a:endParaRPr lang="zh-CN" altLang="en-US"/>
            </a:p>
          </p:txBody>
        </p:sp>
        <p:sp>
          <p:nvSpPr>
            <p:cNvPr id="136" name="Line 253"/>
            <p:cNvSpPr>
              <a:spLocks noChangeShapeType="1"/>
            </p:cNvSpPr>
            <p:nvPr/>
          </p:nvSpPr>
          <p:spPr bwMode="auto">
            <a:xfrm>
              <a:off x="5688275" y="0"/>
              <a:ext cx="0" cy="6389153"/>
            </a:xfrm>
            <a:prstGeom prst="line">
              <a:avLst/>
            </a:prstGeom>
            <a:noFill/>
            <a:ln w="76200">
              <a:solidFill>
                <a:srgbClr val="00FF00"/>
              </a:solidFill>
              <a:round/>
              <a:headEnd/>
              <a:tailEnd/>
            </a:ln>
            <a:effectLst/>
          </p:spPr>
          <p:txBody>
            <a:bodyPr/>
            <a:lstStyle/>
            <a:p>
              <a:endParaRPr lang="zh-CN" altLang="en-US"/>
            </a:p>
          </p:txBody>
        </p:sp>
        <p:sp>
          <p:nvSpPr>
            <p:cNvPr id="137" name="Line 253"/>
            <p:cNvSpPr>
              <a:spLocks noChangeShapeType="1"/>
            </p:cNvSpPr>
            <p:nvPr/>
          </p:nvSpPr>
          <p:spPr bwMode="auto">
            <a:xfrm>
              <a:off x="6427370" y="0"/>
              <a:ext cx="0" cy="6389153"/>
            </a:xfrm>
            <a:prstGeom prst="line">
              <a:avLst/>
            </a:prstGeom>
            <a:noFill/>
            <a:ln w="76200">
              <a:solidFill>
                <a:srgbClr val="00FF00"/>
              </a:solidFill>
              <a:round/>
              <a:headEnd/>
              <a:tailEnd/>
            </a:ln>
            <a:effectLst/>
          </p:spPr>
          <p:txBody>
            <a:bodyPr/>
            <a:lstStyle/>
            <a:p>
              <a:endParaRPr lang="zh-CN" altLang="en-US"/>
            </a:p>
          </p:txBody>
        </p:sp>
        <p:sp>
          <p:nvSpPr>
            <p:cNvPr id="138" name="Line 253"/>
            <p:cNvSpPr>
              <a:spLocks noChangeShapeType="1"/>
            </p:cNvSpPr>
            <p:nvPr/>
          </p:nvSpPr>
          <p:spPr bwMode="auto">
            <a:xfrm>
              <a:off x="7166465" y="0"/>
              <a:ext cx="0" cy="6389153"/>
            </a:xfrm>
            <a:prstGeom prst="line">
              <a:avLst/>
            </a:prstGeom>
            <a:noFill/>
            <a:ln w="76200">
              <a:solidFill>
                <a:srgbClr val="00FF00"/>
              </a:solidFill>
              <a:round/>
              <a:headEnd/>
              <a:tailEnd/>
            </a:ln>
            <a:effectLst/>
          </p:spPr>
          <p:txBody>
            <a:bodyPr/>
            <a:lstStyle/>
            <a:p>
              <a:endParaRPr lang="zh-CN" altLang="en-US"/>
            </a:p>
          </p:txBody>
        </p:sp>
      </p:grpSp>
      <p:grpSp>
        <p:nvGrpSpPr>
          <p:cNvPr id="140" name="组合 139"/>
          <p:cNvGrpSpPr/>
          <p:nvPr/>
        </p:nvGrpSpPr>
        <p:grpSpPr>
          <a:xfrm>
            <a:off x="-2933700" y="-2333626"/>
            <a:ext cx="13906500" cy="10182226"/>
            <a:chOff x="-2971800" y="-2333626"/>
            <a:chExt cx="13906500" cy="10182226"/>
          </a:xfrm>
        </p:grpSpPr>
        <p:sp>
          <p:nvSpPr>
            <p:cNvPr id="118" name="矩形 117"/>
            <p:cNvSpPr/>
            <p:nvPr/>
          </p:nvSpPr>
          <p:spPr>
            <a:xfrm>
              <a:off x="-2971800" y="-2333626"/>
              <a:ext cx="13696950" cy="3533775"/>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2971800" y="1790700"/>
              <a:ext cx="13906500" cy="60579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1" name="组合 140"/>
          <p:cNvGrpSpPr/>
          <p:nvPr/>
        </p:nvGrpSpPr>
        <p:grpSpPr>
          <a:xfrm>
            <a:off x="-1790700" y="-3314700"/>
            <a:ext cx="14173200" cy="11772900"/>
            <a:chOff x="-1790700" y="-3314700"/>
            <a:chExt cx="14173200" cy="11772900"/>
          </a:xfrm>
        </p:grpSpPr>
        <p:sp>
          <p:nvSpPr>
            <p:cNvPr id="121" name="矩形 120"/>
            <p:cNvSpPr/>
            <p:nvPr/>
          </p:nvSpPr>
          <p:spPr>
            <a:xfrm>
              <a:off x="-1790700" y="-3295650"/>
              <a:ext cx="5905500" cy="1175385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p:cNvSpPr/>
            <p:nvPr/>
          </p:nvSpPr>
          <p:spPr>
            <a:xfrm>
              <a:off x="4705350" y="-3314700"/>
              <a:ext cx="7677150" cy="11620500"/>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0" fill="hold"/>
                                        <p:tgtEl>
                                          <p:spTgt spid="139"/>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path" presetSubtype="0" repeatCount="indefinite" accel="50000" decel="50000" fill="hold" nodeType="clickEffect">
                                  <p:stCondLst>
                                    <p:cond delay="0"/>
                                  </p:stCondLst>
                                  <p:endCondLst>
                                    <p:cond evt="onNext" delay="0">
                                      <p:tgtEl>
                                        <p:sldTgt/>
                                      </p:tgtEl>
                                    </p:cond>
                                  </p:endCondLst>
                                  <p:childTnLst>
                                    <p:animMotion origin="layout" path="M 0.03021 -0.175 C 0.11458 -0.175 0.18333 -0.08356 0.18333 0.02917 C 0.18333 0.14167 0.11458 0.23333 0.03021 0.23333 C -0.05434 0.23333 -0.12292 0.14167 -0.12292 0.02917 C -0.12292 -0.08356 -0.05434 -0.175 0.03021 -0.175 Z " pathEditMode="relative" rAng="0" ptsTypes="fffff">
                                      <p:cBhvr>
                                        <p:cTn id="10" dur="5000" fill="hold"/>
                                        <p:tgtEl>
                                          <p:spTgt spid="139"/>
                                        </p:tgtEl>
                                        <p:attrNameLst>
                                          <p:attrName>ppt_x</p:attrName>
                                          <p:attrName>ppt_y</p:attrName>
                                        </p:attrNameLst>
                                      </p:cBhvr>
                                      <p:rCtr x="0" y="204"/>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8" presetClass="emph" presetSubtype="0" repeatCount="indefinite" fill="hold" nodeType="clickEffect">
                                  <p:stCondLst>
                                    <p:cond delay="0"/>
                                  </p:stCondLst>
                                  <p:endCondLst>
                                    <p:cond evt="onNext" delay="0">
                                      <p:tgtEl>
                                        <p:sldTgt/>
                                      </p:tgtEl>
                                    </p:cond>
                                  </p:endCondLst>
                                  <p:childTnLst>
                                    <p:animRot by="21600000">
                                      <p:cBhvr>
                                        <p:cTn id="22" dur="5000" fill="hold"/>
                                        <p:tgtEl>
                                          <p:spTgt spid="139"/>
                                        </p:tgtEl>
                                        <p:attrNameLst>
                                          <p:attrName>r</p:attrName>
                                        </p:attrNameLst>
                                      </p:cBhvr>
                                    </p:animRot>
                                  </p:childTnLst>
                                </p:cTn>
                              </p:par>
                              <p:par>
                                <p:cTn id="23" presetID="1" presetClass="path" presetSubtype="0" repeatCount="indefinite" accel="50000" decel="50000" fill="hold" nodeType="withEffect">
                                  <p:stCondLst>
                                    <p:cond delay="0"/>
                                  </p:stCondLst>
                                  <p:endCondLst>
                                    <p:cond evt="onNext" delay="0">
                                      <p:tgtEl>
                                        <p:sldTgt/>
                                      </p:tgtEl>
                                    </p:cond>
                                  </p:endCondLst>
                                  <p:childTnLst>
                                    <p:animMotion origin="layout" path="M 0.0302 -0.175 C 0.11511 -0.175 0.18438 -0.08287 0.18438 0.03056 C 0.18438 0.14375 0.11511 0.23611 0.0302 0.23611 C -0.05487 0.23611 -0.12396 0.14375 -0.12396 0.03056 C -0.12396 -0.08287 -0.05487 -0.175 0.0302 -0.175 Z " pathEditMode="relative" rAng="0" ptsTypes="fffff">
                                      <p:cBhvr>
                                        <p:cTn id="24" dur="5000" fill="hold"/>
                                        <p:tgtEl>
                                          <p:spTgt spid="139"/>
                                        </p:tgtEl>
                                        <p:attrNameLst>
                                          <p:attrName>ppt_x</p:attrName>
                                          <p:attrName>ppt_y</p:attrName>
                                        </p:attrNameLst>
                                      </p:cBhvr>
                                      <p:rCtr x="0" y="2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日期占位符 3"/>
          <p:cNvSpPr>
            <a:spLocks noGrp="1"/>
          </p:cNvSpPr>
          <p:nvPr>
            <p:ph type="dt" sz="quarter" idx="10"/>
          </p:nvPr>
        </p:nvSpPr>
        <p:spPr>
          <a:noFill/>
        </p:spPr>
        <p:txBody>
          <a:bodyPr/>
          <a:lstStyle/>
          <a:p>
            <a:fld id="{544E92BE-4630-4F05-AF12-DE404381395E}" type="datetime1">
              <a:rPr lang="zh-CN" altLang="en-US" smtClean="0"/>
              <a:pPr/>
              <a:t>2018/2/24</a:t>
            </a:fld>
            <a:endParaRPr lang="en-US" altLang="zh-CN" smtClean="0"/>
          </a:p>
        </p:txBody>
      </p:sp>
      <p:sp>
        <p:nvSpPr>
          <p:cNvPr id="134147" name="灯片编号占位符 5"/>
          <p:cNvSpPr>
            <a:spLocks noGrp="1"/>
          </p:cNvSpPr>
          <p:nvPr>
            <p:ph type="sldNum" sz="quarter" idx="12"/>
          </p:nvPr>
        </p:nvSpPr>
        <p:spPr>
          <a:noFill/>
        </p:spPr>
        <p:txBody>
          <a:bodyPr/>
          <a:lstStyle/>
          <a:p>
            <a:fld id="{7388C818-4AE7-40C6-9316-EC6D81253F2A}" type="slidenum">
              <a:rPr lang="en-US" altLang="zh-CN" smtClean="0"/>
              <a:pPr/>
              <a:t>98</a:t>
            </a:fld>
            <a:endParaRPr lang="en-US" altLang="zh-CN" smtClean="0"/>
          </a:p>
        </p:txBody>
      </p:sp>
      <p:sp>
        <p:nvSpPr>
          <p:cNvPr id="648194"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
        <p:nvSpPr>
          <p:cNvPr id="648195" name="Rectangle 3"/>
          <p:cNvSpPr>
            <a:spLocks noGrp="1" noRot="1" noChangeAspect="1" noChangeArrowheads="1"/>
          </p:cNvSpPr>
          <p:nvPr>
            <p:ph type="body" idx="1"/>
          </p:nvPr>
        </p:nvSpPr>
        <p:spPr>
          <a:xfrm>
            <a:off x="515938" y="1801813"/>
            <a:ext cx="8343900" cy="4228850"/>
          </a:xfrm>
        </p:spPr>
        <p:txBody>
          <a:bodyPr>
            <a:spAutoFit/>
          </a:bodyPr>
          <a:lstStyle/>
          <a:p>
            <a:pPr marL="261938" indent="-261938" defTabSz="900113" eaLnBrk="1" hangingPunct="1">
              <a:defRPr/>
            </a:pPr>
            <a:r>
              <a:rPr lang="zh-CN" altLang="en-US" dirty="0" smtClean="0">
                <a:latin typeface="Times New Roman" pitchFamily="18" charset="0"/>
                <a:ea typeface="黑体" pitchFamily="2" charset="-122"/>
              </a:rPr>
              <a:t>在实际进行像质鉴定和评价时，</a:t>
            </a:r>
            <a:r>
              <a:rPr lang="zh-CN" altLang="en-US" dirty="0" smtClean="0">
                <a:solidFill>
                  <a:srgbClr val="FF0000"/>
                </a:solidFill>
                <a:latin typeface="Times New Roman" pitchFamily="18" charset="0"/>
                <a:ea typeface="黑体" pitchFamily="2" charset="-122"/>
              </a:rPr>
              <a:t>位相传递函数</a:t>
            </a:r>
            <a:r>
              <a:rPr lang="en-US" altLang="zh-CN" i="1" dirty="0" smtClean="0">
                <a:solidFill>
                  <a:srgbClr val="FF0000"/>
                </a:solidFill>
                <a:latin typeface="Times New Roman" pitchFamily="18" charset="0"/>
                <a:ea typeface="黑体" pitchFamily="2" charset="-122"/>
              </a:rPr>
              <a:t>PTF</a:t>
            </a:r>
            <a:r>
              <a:rPr lang="zh-CN" altLang="en-US" dirty="0" smtClean="0">
                <a:solidFill>
                  <a:srgbClr val="FF0000"/>
                </a:solidFill>
                <a:latin typeface="Times New Roman" pitchFamily="18" charset="0"/>
                <a:ea typeface="黑体" pitchFamily="2" charset="-122"/>
              </a:rPr>
              <a:t>（</a:t>
            </a:r>
            <a:r>
              <a:rPr lang="en-US" altLang="zh-CN" i="1" dirty="0" smtClean="0">
                <a:solidFill>
                  <a:srgbClr val="FF0000"/>
                </a:solidFill>
                <a:latin typeface="Times New Roman" pitchFamily="18" charset="0"/>
                <a:ea typeface="黑体" pitchFamily="2" charset="-122"/>
              </a:rPr>
              <a:t>r</a:t>
            </a:r>
            <a:r>
              <a:rPr lang="zh-CN" altLang="en-US" dirty="0" smtClean="0">
                <a:solidFill>
                  <a:srgbClr val="FF0000"/>
                </a:solidFill>
                <a:latin typeface="Times New Roman" pitchFamily="18" charset="0"/>
                <a:ea typeface="黑体" pitchFamily="2" charset="-122"/>
              </a:rPr>
              <a:t>）用得很少</a:t>
            </a:r>
            <a:r>
              <a:rPr lang="zh-CN" altLang="en-US" dirty="0" smtClean="0">
                <a:latin typeface="Times New Roman" pitchFamily="18" charset="0"/>
                <a:ea typeface="黑体" pitchFamily="2" charset="-122"/>
              </a:rPr>
              <a:t>：①成像系统的低频响应对常用的接收器件来说最为重要，而在低频处的</a:t>
            </a:r>
            <a:r>
              <a:rPr lang="en-US" altLang="zh-CN" i="1" dirty="0" smtClean="0">
                <a:latin typeface="Times New Roman" pitchFamily="18" charset="0"/>
                <a:ea typeface="黑体" pitchFamily="2" charset="-122"/>
              </a:rPr>
              <a:t>PTF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）往往很小；②由于</a:t>
            </a:r>
            <a:r>
              <a:rPr lang="en-US" altLang="zh-CN" i="1" dirty="0" smtClean="0">
                <a:latin typeface="Times New Roman" pitchFamily="18" charset="0"/>
                <a:ea typeface="黑体" pitchFamily="2" charset="-122"/>
              </a:rPr>
              <a:t>PTF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）在实质上反映的是成像的不对称性，而这种不对称性除了造成像的位移之外，更灵敏的反映是使</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）明显下降。所以目前一般均以</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）来评价光学系统的像质。</a:t>
            </a:r>
          </a:p>
          <a:p>
            <a:pPr marL="261938" indent="-261938" defTabSz="900113" eaLnBrk="1" hangingPunct="1">
              <a:defRPr/>
            </a:pPr>
            <a:r>
              <a:rPr lang="zh-CN" altLang="en-US" dirty="0" smtClean="0">
                <a:latin typeface="Times New Roman" pitchFamily="18" charset="0"/>
                <a:ea typeface="黑体" pitchFamily="2" charset="-122"/>
              </a:rPr>
              <a:t>调制传递函数</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）是空间频率的函数，但它还受多种参量的影响。这些参量包括像面位置、视场、相对孔径和波长等。它们可以组成各种不同的</a:t>
            </a:r>
            <a:r>
              <a:rPr lang="zh-CN" altLang="en-US" dirty="0" smtClean="0">
                <a:solidFill>
                  <a:srgbClr val="FF0000"/>
                </a:solidFill>
                <a:latin typeface="Times New Roman" pitchFamily="18" charset="0"/>
                <a:ea typeface="黑体" pitchFamily="2" charset="-122"/>
              </a:rPr>
              <a:t>成像状态</a:t>
            </a:r>
            <a:r>
              <a:rPr lang="zh-CN" altLang="en-US" dirty="0" smtClean="0">
                <a:latin typeface="Times New Roman" pitchFamily="18" charset="0"/>
                <a:ea typeface="黑体" pitchFamily="2" charset="-122"/>
              </a:rPr>
              <a:t>。为了做到评价的全面，原则上应在上述各种成像状态下进行测定，这就需要处理并分析大量的</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a:t>
            </a:r>
            <a:r>
              <a:rPr lang="en-US" altLang="zh-CN" i="1" dirty="0" smtClean="0">
                <a:latin typeface="Times New Roman" pitchFamily="18" charset="0"/>
                <a:ea typeface="黑体" pitchFamily="2" charset="-122"/>
              </a:rPr>
              <a:t>r</a:t>
            </a:r>
            <a:r>
              <a:rPr lang="zh-CN" altLang="en-US" dirty="0" smtClean="0">
                <a:latin typeface="Times New Roman" pitchFamily="18" charset="0"/>
                <a:ea typeface="黑体" pitchFamily="2" charset="-122"/>
              </a:rPr>
              <a:t>）曲线。</a:t>
            </a:r>
          </a:p>
        </p:txBody>
      </p:sp>
      <p:sp>
        <p:nvSpPr>
          <p:cNvPr id="134150"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4151"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52"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4153"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54"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4155"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4156"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4157"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58"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4159"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60"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61"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4162"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4163" name="Rectangle 17"/>
          <p:cNvSpPr>
            <a:spLocks noChangeArrowheads="1"/>
          </p:cNvSpPr>
          <p:nvPr/>
        </p:nvSpPr>
        <p:spPr bwMode="auto">
          <a:xfrm>
            <a:off x="0" y="3373438"/>
            <a:ext cx="9144000" cy="0"/>
          </a:xfrm>
          <a:prstGeom prst="rect">
            <a:avLst/>
          </a:prstGeom>
          <a:noFill/>
          <a:ln w="9525">
            <a:noFill/>
            <a:miter lim="800000"/>
            <a:headEnd/>
            <a:tailEnd/>
          </a:ln>
        </p:spPr>
        <p:txBody>
          <a:bodyPr wrap="none" anchor="ctr">
            <a:spAutoFit/>
          </a:bodyPr>
          <a:lstStyle/>
          <a:p>
            <a:endParaRPr lang="zh-CN" altLang="en-US"/>
          </a:p>
        </p:txBody>
      </p:sp>
      <p:sp>
        <p:nvSpPr>
          <p:cNvPr id="134164"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spd="slow">
    <p:circle/>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日期占位符 3"/>
          <p:cNvSpPr>
            <a:spLocks noGrp="1"/>
          </p:cNvSpPr>
          <p:nvPr>
            <p:ph type="dt" sz="quarter" idx="10"/>
          </p:nvPr>
        </p:nvSpPr>
        <p:spPr>
          <a:noFill/>
        </p:spPr>
        <p:txBody>
          <a:bodyPr/>
          <a:lstStyle/>
          <a:p>
            <a:fld id="{81E6BEAC-44B2-4674-9F1F-619CAB8636E4}" type="datetime1">
              <a:rPr lang="zh-CN" altLang="en-US" smtClean="0"/>
              <a:pPr/>
              <a:t>2018/2/24</a:t>
            </a:fld>
            <a:endParaRPr lang="en-US" altLang="zh-CN" smtClean="0"/>
          </a:p>
        </p:txBody>
      </p:sp>
      <p:sp>
        <p:nvSpPr>
          <p:cNvPr id="135171" name="灯片编号占位符 5"/>
          <p:cNvSpPr>
            <a:spLocks noGrp="1"/>
          </p:cNvSpPr>
          <p:nvPr>
            <p:ph type="sldNum" sz="quarter" idx="12"/>
          </p:nvPr>
        </p:nvSpPr>
        <p:spPr>
          <a:noFill/>
        </p:spPr>
        <p:txBody>
          <a:bodyPr/>
          <a:lstStyle/>
          <a:p>
            <a:fld id="{895D18AE-D746-42C5-9DEF-3CC15F25BD54}" type="slidenum">
              <a:rPr lang="en-US" altLang="zh-CN" smtClean="0"/>
              <a:pPr/>
              <a:t>99</a:t>
            </a:fld>
            <a:endParaRPr lang="en-US" altLang="zh-CN" smtClean="0"/>
          </a:p>
        </p:txBody>
      </p:sp>
      <p:sp>
        <p:nvSpPr>
          <p:cNvPr id="649219" name="Rectangle 3"/>
          <p:cNvSpPr>
            <a:spLocks noGrp="1" noRot="1" noChangeAspect="1" noChangeArrowheads="1"/>
          </p:cNvSpPr>
          <p:nvPr>
            <p:ph type="body" idx="1"/>
          </p:nvPr>
        </p:nvSpPr>
        <p:spPr>
          <a:xfrm>
            <a:off x="515938" y="1801813"/>
            <a:ext cx="4367212" cy="4619625"/>
          </a:xfrm>
        </p:spPr>
        <p:txBody>
          <a:bodyPr>
            <a:spAutoFit/>
          </a:bodyPr>
          <a:lstStyle/>
          <a:p>
            <a:pPr marL="261938" indent="-261938" defTabSz="900113" eaLnBrk="1" hangingPunct="1">
              <a:buFont typeface="Wingdings" pitchFamily="2" charset="2"/>
              <a:buNone/>
              <a:defRPr/>
            </a:pPr>
            <a:r>
              <a:rPr lang="en-US" altLang="zh-CN" smtClean="0">
                <a:latin typeface="Times New Roman" pitchFamily="18" charset="0"/>
                <a:ea typeface="黑体" pitchFamily="2" charset="-122"/>
              </a:rPr>
              <a:t>3.1  </a:t>
            </a:r>
            <a:r>
              <a:rPr lang="zh-CN" altLang="en-US" smtClean="0">
                <a:latin typeface="Times New Roman" pitchFamily="18" charset="0"/>
                <a:ea typeface="黑体" pitchFamily="2" charset="-122"/>
              </a:rPr>
              <a:t>光学传递函数的表示方法</a:t>
            </a:r>
          </a:p>
          <a:p>
            <a:pPr marL="261938" indent="-261938" defTabSz="900113" eaLnBrk="1" hangingPunct="1">
              <a:defRPr/>
            </a:pPr>
            <a:r>
              <a:rPr lang="zh-CN" altLang="en-US" smtClean="0">
                <a:latin typeface="Times New Roman" pitchFamily="18" charset="0"/>
                <a:ea typeface="黑体" pitchFamily="2" charset="-122"/>
              </a:rPr>
              <a:t>光学传递函数的常规表示方法如图所示。不言而喻，在所选定的空间频率范围内，</a:t>
            </a:r>
            <a:r>
              <a:rPr lang="en-US" altLang="zh-CN" i="1" smtClean="0">
                <a:solidFill>
                  <a:srgbClr val="FF0000"/>
                </a:solidFill>
                <a:latin typeface="Times New Roman" pitchFamily="18" charset="0"/>
                <a:ea typeface="黑体" pitchFamily="2" charset="-122"/>
              </a:rPr>
              <a:t>MTF</a:t>
            </a:r>
            <a:r>
              <a:rPr lang="zh-CN" altLang="en-US" smtClean="0">
                <a:solidFill>
                  <a:srgbClr val="FF0000"/>
                </a:solidFill>
                <a:latin typeface="Times New Roman" pitchFamily="18" charset="0"/>
                <a:ea typeface="黑体" pitchFamily="2" charset="-122"/>
              </a:rPr>
              <a:t>（</a:t>
            </a:r>
            <a:r>
              <a:rPr lang="en-US" altLang="zh-CN" i="1" smtClean="0">
                <a:solidFill>
                  <a:srgbClr val="FF0000"/>
                </a:solidFill>
                <a:latin typeface="Times New Roman" pitchFamily="18" charset="0"/>
                <a:ea typeface="黑体" pitchFamily="2" charset="-122"/>
              </a:rPr>
              <a:t>r</a:t>
            </a:r>
            <a:r>
              <a:rPr lang="zh-CN" altLang="en-US" smtClean="0">
                <a:solidFill>
                  <a:srgbClr val="FF0000"/>
                </a:solidFill>
                <a:latin typeface="Times New Roman" pitchFamily="18" charset="0"/>
                <a:ea typeface="黑体" pitchFamily="2" charset="-122"/>
              </a:rPr>
              <a:t>）曲线下降得越缓慢越好</a:t>
            </a:r>
            <a:r>
              <a:rPr lang="zh-CN" altLang="en-US" smtClean="0">
                <a:latin typeface="Times New Roman" pitchFamily="18" charset="0"/>
                <a:ea typeface="黑体" pitchFamily="2" charset="-122"/>
              </a:rPr>
              <a:t>，由于这样的曲线是在一定的成像状态下测得的，所以必须在图上或用附表的形式把组成这一成像状态的各种测试参量以及重要的测量条件注明。</a:t>
            </a:r>
          </a:p>
          <a:p>
            <a:pPr marL="261938" indent="-261938" defTabSz="900113" eaLnBrk="1" hangingPunct="1">
              <a:defRPr/>
            </a:pPr>
            <a:endParaRPr lang="en-US" altLang="zh-CN" smtClean="0">
              <a:latin typeface="Times New Roman" pitchFamily="18" charset="0"/>
              <a:ea typeface="黑体" pitchFamily="2" charset="-122"/>
            </a:endParaRPr>
          </a:p>
        </p:txBody>
      </p:sp>
      <p:sp>
        <p:nvSpPr>
          <p:cNvPr id="135174"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5175"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76"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5177"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78"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5179"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5180"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5181"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2"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5183"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4"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5"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6"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5187" name="Rectangle 17"/>
          <p:cNvSpPr>
            <a:spLocks noChangeArrowheads="1"/>
          </p:cNvSpPr>
          <p:nvPr/>
        </p:nvSpPr>
        <p:spPr bwMode="auto">
          <a:xfrm>
            <a:off x="0" y="3373438"/>
            <a:ext cx="9144000" cy="0"/>
          </a:xfrm>
          <a:prstGeom prst="rect">
            <a:avLst/>
          </a:prstGeom>
          <a:noFill/>
          <a:ln w="9525">
            <a:noFill/>
            <a:miter lim="800000"/>
            <a:headEnd/>
            <a:tailEnd/>
          </a:ln>
        </p:spPr>
        <p:txBody>
          <a:bodyPr wrap="none" anchor="ctr">
            <a:spAutoFit/>
          </a:bodyPr>
          <a:lstStyle/>
          <a:p>
            <a:endParaRPr lang="zh-CN" altLang="en-US"/>
          </a:p>
        </p:txBody>
      </p:sp>
      <p:sp>
        <p:nvSpPr>
          <p:cNvPr id="135188"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pSp>
        <p:nvGrpSpPr>
          <p:cNvPr id="135189" name="Group 19"/>
          <p:cNvGrpSpPr>
            <a:grpSpLocks/>
          </p:cNvGrpSpPr>
          <p:nvPr/>
        </p:nvGrpSpPr>
        <p:grpSpPr bwMode="auto">
          <a:xfrm>
            <a:off x="5037138" y="2335213"/>
            <a:ext cx="3759200" cy="3860800"/>
            <a:chOff x="3173" y="1471"/>
            <a:chExt cx="2368" cy="2432"/>
          </a:xfrm>
        </p:grpSpPr>
        <p:sp>
          <p:nvSpPr>
            <p:cNvPr id="135190" name="Rectangle 20"/>
            <p:cNvSpPr>
              <a:spLocks noChangeArrowheads="1"/>
            </p:cNvSpPr>
            <p:nvPr/>
          </p:nvSpPr>
          <p:spPr bwMode="auto">
            <a:xfrm>
              <a:off x="3173" y="1471"/>
              <a:ext cx="2368" cy="243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35191" name="Line 21"/>
            <p:cNvSpPr>
              <a:spLocks noChangeShapeType="1"/>
            </p:cNvSpPr>
            <p:nvPr/>
          </p:nvSpPr>
          <p:spPr bwMode="auto">
            <a:xfrm flipV="1">
              <a:off x="3498" y="3060"/>
              <a:ext cx="1826" cy="0"/>
            </a:xfrm>
            <a:prstGeom prst="line">
              <a:avLst/>
            </a:prstGeom>
            <a:noFill/>
            <a:ln w="6350">
              <a:solidFill>
                <a:srgbClr val="000000"/>
              </a:solidFill>
              <a:round/>
              <a:headEnd/>
              <a:tailEnd type="stealth" w="lg" len="lg"/>
            </a:ln>
          </p:spPr>
          <p:txBody>
            <a:bodyPr/>
            <a:lstStyle/>
            <a:p>
              <a:endParaRPr lang="zh-CN" altLang="en-US"/>
            </a:p>
          </p:txBody>
        </p:sp>
        <p:sp>
          <p:nvSpPr>
            <p:cNvPr id="135192" name="Line 22"/>
            <p:cNvSpPr>
              <a:spLocks noChangeShapeType="1"/>
            </p:cNvSpPr>
            <p:nvPr/>
          </p:nvSpPr>
          <p:spPr bwMode="auto">
            <a:xfrm flipV="1">
              <a:off x="3588" y="1767"/>
              <a:ext cx="0" cy="1400"/>
            </a:xfrm>
            <a:prstGeom prst="line">
              <a:avLst/>
            </a:prstGeom>
            <a:noFill/>
            <a:ln w="6350">
              <a:solidFill>
                <a:srgbClr val="000000"/>
              </a:solidFill>
              <a:round/>
              <a:headEnd/>
              <a:tailEnd type="stealth" w="lg" len="lg"/>
            </a:ln>
          </p:spPr>
          <p:txBody>
            <a:bodyPr/>
            <a:lstStyle/>
            <a:p>
              <a:endParaRPr lang="zh-CN" altLang="en-US"/>
            </a:p>
          </p:txBody>
        </p:sp>
        <p:sp>
          <p:nvSpPr>
            <p:cNvPr id="135193" name="Freeform 23"/>
            <p:cNvSpPr>
              <a:spLocks/>
            </p:cNvSpPr>
            <p:nvPr/>
          </p:nvSpPr>
          <p:spPr bwMode="auto">
            <a:xfrm>
              <a:off x="3598" y="2093"/>
              <a:ext cx="1352" cy="618"/>
            </a:xfrm>
            <a:custGeom>
              <a:avLst/>
              <a:gdLst>
                <a:gd name="T0" fmla="*/ 0 w 2053"/>
                <a:gd name="T1" fmla="*/ 0 h 939"/>
                <a:gd name="T2" fmla="*/ 55 w 2053"/>
                <a:gd name="T3" fmla="*/ 21 h 939"/>
                <a:gd name="T4" fmla="*/ 100 w 2053"/>
                <a:gd name="T5" fmla="*/ 43 h 939"/>
                <a:gd name="T6" fmla="*/ 164 w 2053"/>
                <a:gd name="T7" fmla="*/ 78 h 939"/>
                <a:gd name="T8" fmla="*/ 222 w 2053"/>
                <a:gd name="T9" fmla="*/ 114 h 939"/>
                <a:gd name="T10" fmla="*/ 300 w 2053"/>
                <a:gd name="T11" fmla="*/ 157 h 939"/>
                <a:gd name="T12" fmla="*/ 377 w 2053"/>
                <a:gd name="T13" fmla="*/ 190 h 939"/>
                <a:gd name="T14" fmla="*/ 473 w 2053"/>
                <a:gd name="T15" fmla="*/ 228 h 939"/>
                <a:gd name="T16" fmla="*/ 543 w 2053"/>
                <a:gd name="T17" fmla="*/ 255 h 939"/>
                <a:gd name="T18" fmla="*/ 586 w 2053"/>
                <a:gd name="T19" fmla="*/ 268 h 9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3"/>
                <a:gd name="T31" fmla="*/ 0 h 939"/>
                <a:gd name="T32" fmla="*/ 2053 w 2053"/>
                <a:gd name="T33" fmla="*/ 939 h 93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3" h="939">
                  <a:moveTo>
                    <a:pt x="0" y="0"/>
                  </a:moveTo>
                  <a:cubicBezTo>
                    <a:pt x="66" y="25"/>
                    <a:pt x="133" y="50"/>
                    <a:pt x="191" y="75"/>
                  </a:cubicBezTo>
                  <a:cubicBezTo>
                    <a:pt x="250" y="100"/>
                    <a:pt x="287" y="117"/>
                    <a:pt x="351" y="150"/>
                  </a:cubicBezTo>
                  <a:cubicBezTo>
                    <a:pt x="415" y="183"/>
                    <a:pt x="503" y="234"/>
                    <a:pt x="574" y="275"/>
                  </a:cubicBezTo>
                  <a:cubicBezTo>
                    <a:pt x="645" y="316"/>
                    <a:pt x="698" y="353"/>
                    <a:pt x="778" y="399"/>
                  </a:cubicBezTo>
                  <a:cubicBezTo>
                    <a:pt x="858" y="445"/>
                    <a:pt x="962" y="505"/>
                    <a:pt x="1052" y="550"/>
                  </a:cubicBezTo>
                  <a:cubicBezTo>
                    <a:pt x="1142" y="595"/>
                    <a:pt x="1217" y="624"/>
                    <a:pt x="1318" y="666"/>
                  </a:cubicBezTo>
                  <a:cubicBezTo>
                    <a:pt x="1419" y="708"/>
                    <a:pt x="1560" y="762"/>
                    <a:pt x="1658" y="800"/>
                  </a:cubicBezTo>
                  <a:cubicBezTo>
                    <a:pt x="1756" y="838"/>
                    <a:pt x="1837" y="871"/>
                    <a:pt x="1903" y="894"/>
                  </a:cubicBezTo>
                  <a:cubicBezTo>
                    <a:pt x="1969" y="917"/>
                    <a:pt x="2022" y="930"/>
                    <a:pt x="2053" y="939"/>
                  </a:cubicBezTo>
                </a:path>
              </a:pathLst>
            </a:custGeom>
            <a:noFill/>
            <a:ln w="9525">
              <a:solidFill>
                <a:srgbClr val="000000"/>
              </a:solidFill>
              <a:round/>
              <a:headEnd/>
              <a:tailEnd/>
            </a:ln>
          </p:spPr>
          <p:txBody>
            <a:bodyPr/>
            <a:lstStyle/>
            <a:p>
              <a:endParaRPr lang="zh-CN" altLang="en-US"/>
            </a:p>
          </p:txBody>
        </p:sp>
        <p:sp>
          <p:nvSpPr>
            <p:cNvPr id="649240" name="Text Box 24"/>
            <p:cNvSpPr txBox="1">
              <a:spLocks noChangeArrowheads="1"/>
            </p:cNvSpPr>
            <p:nvPr/>
          </p:nvSpPr>
          <p:spPr bwMode="auto">
            <a:xfrm>
              <a:off x="3243" y="1866"/>
              <a:ext cx="375" cy="267"/>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1.0</a:t>
              </a:r>
              <a:endParaRPr lang="en-US" altLang="zh-CN" sz="1600" b="1">
                <a:effectLst>
                  <a:outerShdw blurRad="38100" dist="38100" dir="2700000" algn="tl">
                    <a:srgbClr val="C0C0C0"/>
                  </a:outerShdw>
                </a:effectLst>
              </a:endParaRPr>
            </a:p>
          </p:txBody>
        </p:sp>
        <p:sp>
          <p:nvSpPr>
            <p:cNvPr id="649241" name="Text Box 25"/>
            <p:cNvSpPr txBox="1">
              <a:spLocks noChangeArrowheads="1"/>
            </p:cNvSpPr>
            <p:nvPr/>
          </p:nvSpPr>
          <p:spPr bwMode="auto">
            <a:xfrm>
              <a:off x="3364" y="3074"/>
              <a:ext cx="276" cy="24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0</a:t>
              </a:r>
              <a:endParaRPr lang="en-US" altLang="zh-CN" sz="1600" b="1">
                <a:effectLst>
                  <a:outerShdw blurRad="38100" dist="38100" dir="2700000" algn="tl">
                    <a:srgbClr val="C0C0C0"/>
                  </a:outerShdw>
                </a:effectLst>
              </a:endParaRPr>
            </a:p>
          </p:txBody>
        </p:sp>
        <p:sp>
          <p:nvSpPr>
            <p:cNvPr id="135196" name="Line 26"/>
            <p:cNvSpPr>
              <a:spLocks noChangeShapeType="1"/>
            </p:cNvSpPr>
            <p:nvPr/>
          </p:nvSpPr>
          <p:spPr bwMode="auto">
            <a:xfrm>
              <a:off x="3559" y="2093"/>
              <a:ext cx="29" cy="0"/>
            </a:xfrm>
            <a:prstGeom prst="line">
              <a:avLst/>
            </a:prstGeom>
            <a:noFill/>
            <a:ln w="9525">
              <a:solidFill>
                <a:srgbClr val="000000"/>
              </a:solidFill>
              <a:round/>
              <a:headEnd/>
              <a:tailEnd/>
            </a:ln>
          </p:spPr>
          <p:txBody>
            <a:bodyPr/>
            <a:lstStyle/>
            <a:p>
              <a:endParaRPr lang="zh-CN" altLang="en-US"/>
            </a:p>
          </p:txBody>
        </p:sp>
        <p:sp>
          <p:nvSpPr>
            <p:cNvPr id="135197" name="Line 27"/>
            <p:cNvSpPr>
              <a:spLocks noChangeShapeType="1"/>
            </p:cNvSpPr>
            <p:nvPr/>
          </p:nvSpPr>
          <p:spPr bwMode="auto">
            <a:xfrm>
              <a:off x="3559" y="2587"/>
              <a:ext cx="29" cy="0"/>
            </a:xfrm>
            <a:prstGeom prst="line">
              <a:avLst/>
            </a:prstGeom>
            <a:noFill/>
            <a:ln w="9525">
              <a:solidFill>
                <a:srgbClr val="000000"/>
              </a:solidFill>
              <a:round/>
              <a:headEnd/>
              <a:tailEnd/>
            </a:ln>
          </p:spPr>
          <p:txBody>
            <a:bodyPr/>
            <a:lstStyle/>
            <a:p>
              <a:endParaRPr lang="zh-CN" altLang="en-US"/>
            </a:p>
          </p:txBody>
        </p:sp>
        <p:sp>
          <p:nvSpPr>
            <p:cNvPr id="649244" name="Text Box 28"/>
            <p:cNvSpPr txBox="1">
              <a:spLocks noChangeArrowheads="1"/>
            </p:cNvSpPr>
            <p:nvPr/>
          </p:nvSpPr>
          <p:spPr bwMode="auto">
            <a:xfrm>
              <a:off x="3232" y="2409"/>
              <a:ext cx="464" cy="27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0.5</a:t>
              </a:r>
              <a:endParaRPr lang="en-US" altLang="zh-CN" sz="1600" b="1">
                <a:effectLst>
                  <a:outerShdw blurRad="38100" dist="38100" dir="2700000" algn="tl">
                    <a:srgbClr val="C0C0C0"/>
                  </a:outerShdw>
                </a:effectLst>
              </a:endParaRPr>
            </a:p>
          </p:txBody>
        </p:sp>
        <p:sp>
          <p:nvSpPr>
            <p:cNvPr id="649245" name="Text Box 29"/>
            <p:cNvSpPr txBox="1">
              <a:spLocks noChangeArrowheads="1"/>
            </p:cNvSpPr>
            <p:nvPr/>
          </p:nvSpPr>
          <p:spPr bwMode="auto">
            <a:xfrm>
              <a:off x="3656" y="1649"/>
              <a:ext cx="731" cy="365"/>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MTF</a:t>
              </a:r>
              <a:r>
                <a:rPr lang="en-US" altLang="zh-CN" sz="1600" b="1">
                  <a:effectLst>
                    <a:outerShdw blurRad="38100" dist="38100" dir="2700000" algn="tl">
                      <a:srgbClr val="C0C0C0"/>
                    </a:outerShdw>
                  </a:effectLst>
                  <a:latin typeface="Times New Roman" pitchFamily="18" charset="0"/>
                </a:rPr>
                <a:t>(</a:t>
              </a:r>
              <a:r>
                <a:rPr lang="en-US" altLang="zh-CN" sz="1600" b="1" i="1">
                  <a:effectLst>
                    <a:outerShdw blurRad="38100" dist="38100" dir="2700000" algn="tl">
                      <a:srgbClr val="C0C0C0"/>
                    </a:outerShdw>
                  </a:effectLst>
                  <a:latin typeface="Times New Roman" pitchFamily="18" charset="0"/>
                </a:rPr>
                <a:t>r</a:t>
              </a:r>
              <a:r>
                <a:rPr lang="en-US" altLang="zh-CN" sz="1600" b="1">
                  <a:effectLst>
                    <a:outerShdw blurRad="38100" dist="38100" dir="2700000" algn="tl">
                      <a:srgbClr val="C0C0C0"/>
                    </a:outerShdw>
                  </a:effectLst>
                  <a:latin typeface="Times New Roman" pitchFamily="18" charset="0"/>
                </a:rPr>
                <a:t>)</a:t>
              </a:r>
              <a:endParaRPr lang="en-US" altLang="zh-CN" sz="1600" b="1">
                <a:effectLst>
                  <a:outerShdw blurRad="38100" dist="38100" dir="2700000" algn="tl">
                    <a:srgbClr val="C0C0C0"/>
                  </a:outerShdw>
                </a:effectLst>
              </a:endParaRPr>
            </a:p>
          </p:txBody>
        </p:sp>
        <p:sp>
          <p:nvSpPr>
            <p:cNvPr id="649246" name="Text Box 30"/>
            <p:cNvSpPr txBox="1">
              <a:spLocks noChangeArrowheads="1"/>
            </p:cNvSpPr>
            <p:nvPr/>
          </p:nvSpPr>
          <p:spPr bwMode="auto">
            <a:xfrm>
              <a:off x="3449" y="3465"/>
              <a:ext cx="1649" cy="306"/>
            </a:xfrm>
            <a:prstGeom prst="rect">
              <a:avLst/>
            </a:prstGeom>
            <a:noFill/>
            <a:ln w="9525">
              <a:noFill/>
              <a:miter lim="800000"/>
              <a:headEnd/>
              <a:tailEnd/>
            </a:ln>
            <a:effectLst/>
          </p:spPr>
          <p:txBody>
            <a:bodyPr/>
            <a:lstStyle/>
            <a:p>
              <a:pPr algn="ctr">
                <a:defRPr/>
              </a:pPr>
              <a:r>
                <a:rPr lang="en-US" altLang="zh-CN" sz="2000" b="1" i="1">
                  <a:effectLst>
                    <a:outerShdw blurRad="38100" dist="38100" dir="2700000" algn="tl">
                      <a:srgbClr val="C0C0C0"/>
                    </a:outerShdw>
                  </a:effectLst>
                  <a:latin typeface="Times New Roman" pitchFamily="18" charset="0"/>
                  <a:ea typeface="黑体" pitchFamily="2" charset="-122"/>
                </a:rPr>
                <a:t>MTF</a:t>
              </a:r>
              <a:r>
                <a:rPr lang="zh-CN" altLang="en-US" sz="2000" b="1">
                  <a:effectLst>
                    <a:outerShdw blurRad="38100" dist="38100" dir="2700000" algn="tl">
                      <a:srgbClr val="C0C0C0"/>
                    </a:outerShdw>
                  </a:effectLst>
                  <a:latin typeface="Times New Roman" pitchFamily="18" charset="0"/>
                  <a:ea typeface="黑体" pitchFamily="2" charset="-122"/>
                </a:rPr>
                <a:t>（</a:t>
              </a:r>
              <a:r>
                <a:rPr lang="en-US" altLang="zh-CN" sz="2000" b="1" i="1">
                  <a:effectLst>
                    <a:outerShdw blurRad="38100" dist="38100" dir="2700000" algn="tl">
                      <a:srgbClr val="C0C0C0"/>
                    </a:outerShdw>
                  </a:effectLst>
                  <a:latin typeface="Times New Roman" pitchFamily="18" charset="0"/>
                  <a:ea typeface="黑体" pitchFamily="2" charset="-122"/>
                </a:rPr>
                <a:t>r</a:t>
              </a:r>
              <a:r>
                <a:rPr lang="zh-CN" altLang="en-US" sz="2000" b="1">
                  <a:effectLst>
                    <a:outerShdw blurRad="38100" dist="38100" dir="2700000" algn="tl">
                      <a:srgbClr val="C0C0C0"/>
                    </a:outerShdw>
                  </a:effectLst>
                  <a:latin typeface="Times New Roman" pitchFamily="18" charset="0"/>
                  <a:ea typeface="黑体" pitchFamily="2" charset="-122"/>
                </a:rPr>
                <a:t>）</a:t>
              </a:r>
              <a:r>
                <a:rPr lang="zh-CN" altLang="en-US" sz="2000" b="1">
                  <a:effectLst>
                    <a:outerShdw blurRad="38100" dist="38100" dir="2700000" algn="tl">
                      <a:srgbClr val="C0C0C0"/>
                    </a:outerShdw>
                  </a:effectLst>
                  <a:latin typeface="黑体" pitchFamily="2" charset="-122"/>
                  <a:ea typeface="黑体" pitchFamily="2" charset="-122"/>
                </a:rPr>
                <a:t>曲线</a:t>
              </a:r>
            </a:p>
            <a:p>
              <a:pPr>
                <a:defRPr/>
              </a:pPr>
              <a:endParaRPr lang="en-US" altLang="zh-CN" sz="2000" b="1">
                <a:effectLst>
                  <a:outerShdw blurRad="38100" dist="38100" dir="2700000" algn="tl">
                    <a:srgbClr val="C0C0C0"/>
                  </a:outerShdw>
                </a:effectLst>
              </a:endParaRPr>
            </a:p>
          </p:txBody>
        </p:sp>
        <p:sp>
          <p:nvSpPr>
            <p:cNvPr id="649247" name="Text Box 31"/>
            <p:cNvSpPr txBox="1">
              <a:spLocks noChangeArrowheads="1"/>
            </p:cNvSpPr>
            <p:nvPr/>
          </p:nvSpPr>
          <p:spPr bwMode="auto">
            <a:xfrm>
              <a:off x="5197" y="3095"/>
              <a:ext cx="327" cy="316"/>
            </a:xfrm>
            <a:prstGeom prst="rect">
              <a:avLst/>
            </a:prstGeom>
            <a:noFill/>
            <a:ln w="9525">
              <a:noFill/>
              <a:miter lim="800000"/>
              <a:headEnd/>
              <a:tailEnd/>
            </a:ln>
            <a:effectLst/>
          </p:spPr>
          <p:txBody>
            <a:bodyPr/>
            <a:lstStyle/>
            <a:p>
              <a:pPr algn="just">
                <a:defRPr/>
              </a:pPr>
              <a:r>
                <a:rPr lang="en-US" altLang="zh-CN" sz="1600" b="1" i="1">
                  <a:effectLst>
                    <a:outerShdw blurRad="38100" dist="38100" dir="2700000" algn="tl">
                      <a:srgbClr val="C0C0C0"/>
                    </a:outerShdw>
                  </a:effectLst>
                  <a:latin typeface="Times New Roman" pitchFamily="18" charset="0"/>
                </a:rPr>
                <a:t>r</a:t>
              </a:r>
              <a:endParaRPr lang="en-US" altLang="zh-CN" sz="1600" b="1">
                <a:effectLst>
                  <a:outerShdw blurRad="38100" dist="38100" dir="2700000" algn="tl">
                    <a:srgbClr val="C0C0C0"/>
                  </a:outerShdw>
                </a:effectLst>
              </a:endParaRPr>
            </a:p>
          </p:txBody>
        </p:sp>
        <p:sp>
          <p:nvSpPr>
            <p:cNvPr id="135202" name="Line 32"/>
            <p:cNvSpPr>
              <a:spLocks noChangeShapeType="1"/>
            </p:cNvSpPr>
            <p:nvPr/>
          </p:nvSpPr>
          <p:spPr bwMode="auto">
            <a:xfrm flipH="1">
              <a:off x="3934" y="3060"/>
              <a:ext cx="0" cy="60"/>
            </a:xfrm>
            <a:prstGeom prst="line">
              <a:avLst/>
            </a:prstGeom>
            <a:noFill/>
            <a:ln w="9525">
              <a:solidFill>
                <a:srgbClr val="000000"/>
              </a:solidFill>
              <a:round/>
              <a:headEnd/>
              <a:tailEnd/>
            </a:ln>
          </p:spPr>
          <p:txBody>
            <a:bodyPr/>
            <a:lstStyle/>
            <a:p>
              <a:endParaRPr lang="zh-CN" altLang="en-US"/>
            </a:p>
          </p:txBody>
        </p:sp>
        <p:sp>
          <p:nvSpPr>
            <p:cNvPr id="135203" name="Line 33"/>
            <p:cNvSpPr>
              <a:spLocks noChangeShapeType="1"/>
            </p:cNvSpPr>
            <p:nvPr/>
          </p:nvSpPr>
          <p:spPr bwMode="auto">
            <a:xfrm flipH="1">
              <a:off x="4289" y="3060"/>
              <a:ext cx="0" cy="60"/>
            </a:xfrm>
            <a:prstGeom prst="line">
              <a:avLst/>
            </a:prstGeom>
            <a:noFill/>
            <a:ln w="9525">
              <a:solidFill>
                <a:srgbClr val="000000"/>
              </a:solidFill>
              <a:round/>
              <a:headEnd/>
              <a:tailEnd/>
            </a:ln>
          </p:spPr>
          <p:txBody>
            <a:bodyPr/>
            <a:lstStyle/>
            <a:p>
              <a:endParaRPr lang="zh-CN" altLang="en-US"/>
            </a:p>
          </p:txBody>
        </p:sp>
        <p:sp>
          <p:nvSpPr>
            <p:cNvPr id="135204" name="Line 34"/>
            <p:cNvSpPr>
              <a:spLocks noChangeShapeType="1"/>
            </p:cNvSpPr>
            <p:nvPr/>
          </p:nvSpPr>
          <p:spPr bwMode="auto">
            <a:xfrm>
              <a:off x="4654" y="3060"/>
              <a:ext cx="0" cy="60"/>
            </a:xfrm>
            <a:prstGeom prst="line">
              <a:avLst/>
            </a:prstGeom>
            <a:noFill/>
            <a:ln w="9525">
              <a:solidFill>
                <a:srgbClr val="000000"/>
              </a:solidFill>
              <a:round/>
              <a:headEnd/>
              <a:tailEnd/>
            </a:ln>
          </p:spPr>
          <p:txBody>
            <a:bodyPr/>
            <a:lstStyle/>
            <a:p>
              <a:endParaRPr lang="zh-CN" altLang="en-US"/>
            </a:p>
          </p:txBody>
        </p:sp>
        <p:sp>
          <p:nvSpPr>
            <p:cNvPr id="649251" name="Text Box 35"/>
            <p:cNvSpPr txBox="1">
              <a:spLocks noChangeArrowheads="1"/>
            </p:cNvSpPr>
            <p:nvPr/>
          </p:nvSpPr>
          <p:spPr bwMode="auto">
            <a:xfrm>
              <a:off x="3756" y="3080"/>
              <a:ext cx="1194" cy="296"/>
            </a:xfrm>
            <a:prstGeom prst="rect">
              <a:avLst/>
            </a:prstGeom>
            <a:noFill/>
            <a:ln w="9525">
              <a:noFill/>
              <a:miter lim="800000"/>
              <a:headEnd/>
              <a:tailEnd/>
            </a:ln>
            <a:effectLst/>
          </p:spPr>
          <p:txBody>
            <a:bodyPr/>
            <a:lstStyle/>
            <a:p>
              <a:pPr algn="just">
                <a:defRPr/>
              </a:pPr>
              <a:r>
                <a:rPr lang="en-US" altLang="zh-CN" sz="1600" b="1">
                  <a:effectLst>
                    <a:outerShdw blurRad="38100" dist="38100" dir="2700000" algn="tl">
                      <a:srgbClr val="C0C0C0"/>
                    </a:outerShdw>
                  </a:effectLst>
                  <a:latin typeface="Times New Roman" pitchFamily="18" charset="0"/>
                </a:rPr>
                <a:t>20          40          60</a:t>
              </a:r>
              <a:endParaRPr lang="en-US" altLang="zh-CN" sz="1600" b="1">
                <a:effectLst>
                  <a:outerShdw blurRad="38100" dist="38100" dir="2700000" algn="tl">
                    <a:srgbClr val="C0C0C0"/>
                  </a:outerShdw>
                </a:effectLst>
              </a:endParaRPr>
            </a:p>
          </p:txBody>
        </p:sp>
      </p:grpSp>
      <p:sp>
        <p:nvSpPr>
          <p:cNvPr id="39"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Tree>
  </p:cSld>
  <p:clrMapOvr>
    <a:masterClrMapping/>
  </p:clrMapOvr>
  <p:transition spd="slow">
    <p:circle/>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日期占位符 3"/>
          <p:cNvSpPr>
            <a:spLocks noGrp="1"/>
          </p:cNvSpPr>
          <p:nvPr>
            <p:ph type="dt" sz="quarter" idx="10"/>
          </p:nvPr>
        </p:nvSpPr>
        <p:spPr>
          <a:noFill/>
        </p:spPr>
        <p:txBody>
          <a:bodyPr/>
          <a:lstStyle/>
          <a:p>
            <a:fld id="{81E6BEAC-44B2-4674-9F1F-619CAB8636E4}" type="datetime1">
              <a:rPr lang="zh-CN" altLang="en-US" smtClean="0"/>
              <a:pPr/>
              <a:t>2018/2/24</a:t>
            </a:fld>
            <a:endParaRPr lang="en-US" altLang="zh-CN" smtClean="0"/>
          </a:p>
        </p:txBody>
      </p:sp>
      <p:sp>
        <p:nvSpPr>
          <p:cNvPr id="135171" name="灯片编号占位符 5"/>
          <p:cNvSpPr>
            <a:spLocks noGrp="1"/>
          </p:cNvSpPr>
          <p:nvPr>
            <p:ph type="sldNum" sz="quarter" idx="12"/>
          </p:nvPr>
        </p:nvSpPr>
        <p:spPr>
          <a:noFill/>
        </p:spPr>
        <p:txBody>
          <a:bodyPr/>
          <a:lstStyle/>
          <a:p>
            <a:fld id="{895D18AE-D746-42C5-9DEF-3CC15F25BD54}" type="slidenum">
              <a:rPr lang="en-US" altLang="zh-CN" smtClean="0"/>
              <a:pPr/>
              <a:t>100</a:t>
            </a:fld>
            <a:endParaRPr lang="en-US" altLang="zh-CN" smtClean="0"/>
          </a:p>
        </p:txBody>
      </p:sp>
      <p:sp>
        <p:nvSpPr>
          <p:cNvPr id="649219" name="Rectangle 3"/>
          <p:cNvSpPr>
            <a:spLocks noGrp="1" noRot="1" noChangeAspect="1" noChangeArrowheads="1"/>
          </p:cNvSpPr>
          <p:nvPr>
            <p:ph type="body" idx="1"/>
          </p:nvPr>
        </p:nvSpPr>
        <p:spPr>
          <a:xfrm>
            <a:off x="515938" y="1801813"/>
            <a:ext cx="4367212" cy="904863"/>
          </a:xfrm>
        </p:spPr>
        <p:txBody>
          <a:bodyPr>
            <a:spAutoFit/>
          </a:bodyPr>
          <a:lstStyle/>
          <a:p>
            <a:pPr marL="261938" indent="-261938" defTabSz="900113" eaLnBrk="1" hangingPunct="1">
              <a:buFont typeface="Wingdings" pitchFamily="2" charset="2"/>
              <a:buNone/>
              <a:defRPr/>
            </a:pPr>
            <a:r>
              <a:rPr lang="en-US" altLang="zh-CN" dirty="0" smtClean="0">
                <a:latin typeface="Times New Roman" pitchFamily="18" charset="0"/>
                <a:ea typeface="黑体" pitchFamily="2" charset="-122"/>
              </a:rPr>
              <a:t>3.1  </a:t>
            </a:r>
            <a:r>
              <a:rPr lang="zh-CN" altLang="en-US" dirty="0" smtClean="0">
                <a:latin typeface="Times New Roman" pitchFamily="18" charset="0"/>
                <a:ea typeface="黑体" pitchFamily="2" charset="-122"/>
              </a:rPr>
              <a:t>光学传递函数的表示方法</a:t>
            </a:r>
          </a:p>
          <a:p>
            <a:pPr marL="261938" indent="-261938" defTabSz="900113" eaLnBrk="1" hangingPunct="1">
              <a:defRPr/>
            </a:pPr>
            <a:endParaRPr lang="en-US" altLang="zh-CN" dirty="0" smtClean="0">
              <a:latin typeface="Times New Roman" pitchFamily="18" charset="0"/>
              <a:ea typeface="黑体" pitchFamily="2" charset="-122"/>
            </a:endParaRPr>
          </a:p>
        </p:txBody>
      </p:sp>
      <p:sp>
        <p:nvSpPr>
          <p:cNvPr id="135174"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5175"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76"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5177"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78"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5179"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5180"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5181"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2"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5183"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4"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5"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5186"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5187" name="Rectangle 17"/>
          <p:cNvSpPr>
            <a:spLocks noChangeArrowheads="1"/>
          </p:cNvSpPr>
          <p:nvPr/>
        </p:nvSpPr>
        <p:spPr bwMode="auto">
          <a:xfrm>
            <a:off x="0" y="3373438"/>
            <a:ext cx="9144000" cy="0"/>
          </a:xfrm>
          <a:prstGeom prst="rect">
            <a:avLst/>
          </a:prstGeom>
          <a:noFill/>
          <a:ln w="9525">
            <a:noFill/>
            <a:miter lim="800000"/>
            <a:headEnd/>
            <a:tailEnd/>
          </a:ln>
        </p:spPr>
        <p:txBody>
          <a:bodyPr wrap="none" anchor="ctr">
            <a:spAutoFit/>
          </a:bodyPr>
          <a:lstStyle/>
          <a:p>
            <a:endParaRPr lang="zh-CN" altLang="en-US"/>
          </a:p>
        </p:txBody>
      </p:sp>
      <p:sp>
        <p:nvSpPr>
          <p:cNvPr id="135188"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39"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
        <p:nvSpPr>
          <p:cNvPr id="40" name="TextBox 39"/>
          <p:cNvSpPr txBox="1"/>
          <p:nvPr/>
        </p:nvSpPr>
        <p:spPr>
          <a:xfrm>
            <a:off x="0" y="6273225"/>
            <a:ext cx="3657599" cy="584775"/>
          </a:xfrm>
          <a:prstGeom prst="rect">
            <a:avLst/>
          </a:prstGeom>
          <a:solidFill>
            <a:schemeClr val="bg1"/>
          </a:solidFill>
        </p:spPr>
        <p:txBody>
          <a:bodyPr wrap="square" rtlCol="0">
            <a:spAutoFit/>
          </a:bodyPr>
          <a:lstStyle/>
          <a:p>
            <a:pPr algn="ctr"/>
            <a:r>
              <a:rPr lang="zh-CN" altLang="en-US"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三片式数码相机物镜</a:t>
            </a:r>
            <a:endParaRPr lang="en-US" altLang="zh-CN"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endParaRPr>
          </a:p>
          <a:p>
            <a:pPr algn="ctr"/>
            <a:r>
              <a:rPr lang="zh-CN" altLang="en-US"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（焦距</a:t>
            </a:r>
            <a:r>
              <a:rPr lang="en-US" altLang="zh-CN"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6mm</a:t>
            </a:r>
            <a:r>
              <a:rPr lang="zh-CN" altLang="en-US"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，视场</a:t>
            </a:r>
            <a:r>
              <a:rPr lang="en-US" altLang="zh-CN"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53</a:t>
            </a:r>
            <a:r>
              <a:rPr lang="zh-CN" altLang="en-US"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度，口径</a:t>
            </a:r>
            <a:r>
              <a:rPr lang="en-US" altLang="zh-CN"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3.5mm</a:t>
            </a:r>
            <a:r>
              <a:rPr lang="zh-CN" altLang="en-US" sz="1600" b="1" dirty="0" smtClean="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rPr>
              <a:t>）</a:t>
            </a:r>
            <a:endParaRPr lang="zh-CN" altLang="en-US" sz="1600" b="1" dirty="0">
              <a:effectLst>
                <a:outerShdw blurRad="38100" dist="38100" dir="2700000" algn="tl">
                  <a:srgbClr val="000000">
                    <a:alpha val="43137"/>
                  </a:srgbClr>
                </a:outerShdw>
              </a:effectLst>
              <a:latin typeface="Times New Roman" pitchFamily="18" charset="0"/>
              <a:ea typeface="黑体" pitchFamily="2" charset="-122"/>
              <a:cs typeface="Times New Roman" pitchFamily="18" charset="0"/>
            </a:endParaRPr>
          </a:p>
        </p:txBody>
      </p:sp>
      <p:pic>
        <p:nvPicPr>
          <p:cNvPr id="137219" name="Picture 3"/>
          <p:cNvPicPr>
            <a:picLocks noChangeAspect="1" noChangeArrowheads="1"/>
          </p:cNvPicPr>
          <p:nvPr/>
        </p:nvPicPr>
        <p:blipFill>
          <a:blip r:embed="rId2"/>
          <a:srcRect/>
          <a:stretch>
            <a:fillRect/>
          </a:stretch>
        </p:blipFill>
        <p:spPr bwMode="auto">
          <a:xfrm>
            <a:off x="213756" y="534392"/>
            <a:ext cx="4905878" cy="3681348"/>
          </a:xfrm>
          <a:prstGeom prst="rect">
            <a:avLst/>
          </a:prstGeom>
          <a:solidFill>
            <a:schemeClr val="bg1"/>
          </a:solidFill>
          <a:ln w="9525">
            <a:noFill/>
            <a:miter lim="800000"/>
            <a:headEnd/>
            <a:tailEnd/>
          </a:ln>
          <a:effectLst/>
        </p:spPr>
      </p:pic>
      <p:pic>
        <p:nvPicPr>
          <p:cNvPr id="137218" name="Picture 2" descr="C:\Documents and Settings\Administrator\桌面\EXPORT1.JPG"/>
          <p:cNvPicPr>
            <a:picLocks noChangeAspect="1" noChangeArrowheads="1"/>
          </p:cNvPicPr>
          <p:nvPr/>
        </p:nvPicPr>
        <p:blipFill>
          <a:blip r:embed="rId3"/>
          <a:srcRect/>
          <a:stretch>
            <a:fillRect/>
          </a:stretch>
        </p:blipFill>
        <p:spPr bwMode="auto">
          <a:xfrm>
            <a:off x="1148813" y="985650"/>
            <a:ext cx="5172158" cy="4001986"/>
          </a:xfrm>
          <a:prstGeom prst="rect">
            <a:avLst/>
          </a:prstGeom>
          <a:noFill/>
        </p:spPr>
      </p:pic>
      <p:pic>
        <p:nvPicPr>
          <p:cNvPr id="137221" name="Picture 5"/>
          <p:cNvPicPr>
            <a:picLocks noChangeAspect="1" noChangeArrowheads="1"/>
          </p:cNvPicPr>
          <p:nvPr/>
        </p:nvPicPr>
        <p:blipFill>
          <a:blip r:embed="rId4"/>
          <a:srcRect/>
          <a:stretch>
            <a:fillRect/>
          </a:stretch>
        </p:blipFill>
        <p:spPr bwMode="auto">
          <a:xfrm>
            <a:off x="2222975" y="1579418"/>
            <a:ext cx="5443945" cy="4085112"/>
          </a:xfrm>
          <a:prstGeom prst="rect">
            <a:avLst/>
          </a:prstGeom>
          <a:solidFill>
            <a:schemeClr val="bg1"/>
          </a:solidFill>
          <a:ln w="9525">
            <a:noFill/>
            <a:miter lim="800000"/>
            <a:headEnd/>
            <a:tailEnd/>
          </a:ln>
          <a:effectLst/>
        </p:spPr>
      </p:pic>
      <p:pic>
        <p:nvPicPr>
          <p:cNvPr id="137224" name="Picture 8"/>
          <p:cNvPicPr>
            <a:picLocks noChangeAspect="1" noChangeArrowheads="1"/>
          </p:cNvPicPr>
          <p:nvPr/>
        </p:nvPicPr>
        <p:blipFill>
          <a:blip r:embed="rId5"/>
          <a:srcRect/>
          <a:stretch>
            <a:fillRect/>
          </a:stretch>
        </p:blipFill>
        <p:spPr bwMode="auto">
          <a:xfrm>
            <a:off x="3386756" y="2466766"/>
            <a:ext cx="4910280" cy="3684651"/>
          </a:xfrm>
          <a:prstGeom prst="rect">
            <a:avLst/>
          </a:prstGeom>
          <a:solidFill>
            <a:schemeClr val="bg1"/>
          </a:solidFill>
          <a:ln w="9525">
            <a:noFill/>
            <a:miter lim="800000"/>
            <a:headEnd/>
            <a:tailEnd/>
          </a:ln>
          <a:effectLst/>
        </p:spPr>
      </p:pic>
      <p:pic>
        <p:nvPicPr>
          <p:cNvPr id="137222" name="Picture 6"/>
          <p:cNvPicPr>
            <a:picLocks noChangeAspect="1" noChangeArrowheads="1"/>
          </p:cNvPicPr>
          <p:nvPr/>
        </p:nvPicPr>
        <p:blipFill>
          <a:blip r:embed="rId6"/>
          <a:srcRect/>
          <a:stretch>
            <a:fillRect/>
          </a:stretch>
        </p:blipFill>
        <p:spPr bwMode="auto">
          <a:xfrm>
            <a:off x="4194278" y="3035053"/>
            <a:ext cx="4485297" cy="3365747"/>
          </a:xfrm>
          <a:prstGeom prst="rect">
            <a:avLst/>
          </a:prstGeom>
          <a:solidFill>
            <a:schemeClr val="bg1"/>
          </a:solidFill>
          <a:ln w="9525">
            <a:noFill/>
            <a:miter lim="800000"/>
            <a:headEnd/>
            <a:tailEnd/>
          </a:ln>
          <a:effectLst/>
        </p:spPr>
      </p:pic>
      <p:pic>
        <p:nvPicPr>
          <p:cNvPr id="137223" name="Picture 7"/>
          <p:cNvPicPr>
            <a:picLocks noChangeAspect="1" noChangeArrowheads="1"/>
          </p:cNvPicPr>
          <p:nvPr/>
        </p:nvPicPr>
        <p:blipFill>
          <a:blip r:embed="rId7"/>
          <a:srcRect/>
          <a:stretch>
            <a:fillRect/>
          </a:stretch>
        </p:blipFill>
        <p:spPr bwMode="auto">
          <a:xfrm>
            <a:off x="4697055" y="3521033"/>
            <a:ext cx="4446945" cy="3336967"/>
          </a:xfrm>
          <a:prstGeom prst="rect">
            <a:avLst/>
          </a:prstGeom>
          <a:solidFill>
            <a:schemeClr val="bg1"/>
          </a:solidFill>
          <a:ln w="9525">
            <a:noFill/>
            <a:miter lim="800000"/>
            <a:headEnd/>
            <a:tailEnd/>
          </a:ln>
          <a:effectLst/>
        </p:spPr>
      </p:pic>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gtEl>
                                        <p:attrNameLst>
                                          <p:attrName>style.visibility</p:attrName>
                                        </p:attrNameLst>
                                      </p:cBhvr>
                                      <p:to>
                                        <p:strVal val="visible"/>
                                      </p:to>
                                    </p:set>
                                    <p:anim calcmode="lin" valueType="num">
                                      <p:cBhvr additive="base">
                                        <p:cTn id="7" dur="500" fill="hold"/>
                                        <p:tgtEl>
                                          <p:spTgt spid="137218"/>
                                        </p:tgtEl>
                                        <p:attrNameLst>
                                          <p:attrName>ppt_x</p:attrName>
                                        </p:attrNameLst>
                                      </p:cBhvr>
                                      <p:tavLst>
                                        <p:tav tm="0">
                                          <p:val>
                                            <p:strVal val="#ppt_x"/>
                                          </p:val>
                                        </p:tav>
                                        <p:tav tm="100000">
                                          <p:val>
                                            <p:strVal val="#ppt_x"/>
                                          </p:val>
                                        </p:tav>
                                      </p:tavLst>
                                    </p:anim>
                                    <p:anim calcmode="lin" valueType="num">
                                      <p:cBhvr additive="base">
                                        <p:cTn id="8" dur="500" fill="hold"/>
                                        <p:tgtEl>
                                          <p:spTgt spid="1372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7221"/>
                                        </p:tgtEl>
                                        <p:attrNameLst>
                                          <p:attrName>style.visibility</p:attrName>
                                        </p:attrNameLst>
                                      </p:cBhvr>
                                      <p:to>
                                        <p:strVal val="visible"/>
                                      </p:to>
                                    </p:set>
                                    <p:anim calcmode="lin" valueType="num">
                                      <p:cBhvr additive="base">
                                        <p:cTn id="13" dur="500" fill="hold"/>
                                        <p:tgtEl>
                                          <p:spTgt spid="137221"/>
                                        </p:tgtEl>
                                        <p:attrNameLst>
                                          <p:attrName>ppt_x</p:attrName>
                                        </p:attrNameLst>
                                      </p:cBhvr>
                                      <p:tavLst>
                                        <p:tav tm="0">
                                          <p:val>
                                            <p:strVal val="#ppt_x"/>
                                          </p:val>
                                        </p:tav>
                                        <p:tav tm="100000">
                                          <p:val>
                                            <p:strVal val="#ppt_x"/>
                                          </p:val>
                                        </p:tav>
                                      </p:tavLst>
                                    </p:anim>
                                    <p:anim calcmode="lin" valueType="num">
                                      <p:cBhvr additive="base">
                                        <p:cTn id="14" dur="500" fill="hold"/>
                                        <p:tgtEl>
                                          <p:spTgt spid="1372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7224"/>
                                        </p:tgtEl>
                                        <p:attrNameLst>
                                          <p:attrName>style.visibility</p:attrName>
                                        </p:attrNameLst>
                                      </p:cBhvr>
                                      <p:to>
                                        <p:strVal val="visible"/>
                                      </p:to>
                                    </p:set>
                                    <p:anim calcmode="lin" valueType="num">
                                      <p:cBhvr additive="base">
                                        <p:cTn id="19" dur="500" fill="hold"/>
                                        <p:tgtEl>
                                          <p:spTgt spid="137224"/>
                                        </p:tgtEl>
                                        <p:attrNameLst>
                                          <p:attrName>ppt_x</p:attrName>
                                        </p:attrNameLst>
                                      </p:cBhvr>
                                      <p:tavLst>
                                        <p:tav tm="0">
                                          <p:val>
                                            <p:strVal val="#ppt_x"/>
                                          </p:val>
                                        </p:tav>
                                        <p:tav tm="100000">
                                          <p:val>
                                            <p:strVal val="#ppt_x"/>
                                          </p:val>
                                        </p:tav>
                                      </p:tavLst>
                                    </p:anim>
                                    <p:anim calcmode="lin" valueType="num">
                                      <p:cBhvr additive="base">
                                        <p:cTn id="20" dur="500" fill="hold"/>
                                        <p:tgtEl>
                                          <p:spTgt spid="1372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7222"/>
                                        </p:tgtEl>
                                        <p:attrNameLst>
                                          <p:attrName>style.visibility</p:attrName>
                                        </p:attrNameLst>
                                      </p:cBhvr>
                                      <p:to>
                                        <p:strVal val="visible"/>
                                      </p:to>
                                    </p:set>
                                    <p:anim calcmode="lin" valueType="num">
                                      <p:cBhvr additive="base">
                                        <p:cTn id="25" dur="500" fill="hold"/>
                                        <p:tgtEl>
                                          <p:spTgt spid="137222"/>
                                        </p:tgtEl>
                                        <p:attrNameLst>
                                          <p:attrName>ppt_x</p:attrName>
                                        </p:attrNameLst>
                                      </p:cBhvr>
                                      <p:tavLst>
                                        <p:tav tm="0">
                                          <p:val>
                                            <p:strVal val="#ppt_x"/>
                                          </p:val>
                                        </p:tav>
                                        <p:tav tm="100000">
                                          <p:val>
                                            <p:strVal val="#ppt_x"/>
                                          </p:val>
                                        </p:tav>
                                      </p:tavLst>
                                    </p:anim>
                                    <p:anim calcmode="lin" valueType="num">
                                      <p:cBhvr additive="base">
                                        <p:cTn id="26" dur="500" fill="hold"/>
                                        <p:tgtEl>
                                          <p:spTgt spid="1372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7223"/>
                                        </p:tgtEl>
                                        <p:attrNameLst>
                                          <p:attrName>style.visibility</p:attrName>
                                        </p:attrNameLst>
                                      </p:cBhvr>
                                      <p:to>
                                        <p:strVal val="visible"/>
                                      </p:to>
                                    </p:set>
                                    <p:anim calcmode="lin" valueType="num">
                                      <p:cBhvr additive="base">
                                        <p:cTn id="31" dur="500" fill="hold"/>
                                        <p:tgtEl>
                                          <p:spTgt spid="137223"/>
                                        </p:tgtEl>
                                        <p:attrNameLst>
                                          <p:attrName>ppt_x</p:attrName>
                                        </p:attrNameLst>
                                      </p:cBhvr>
                                      <p:tavLst>
                                        <p:tav tm="0">
                                          <p:val>
                                            <p:strVal val="#ppt_x"/>
                                          </p:val>
                                        </p:tav>
                                        <p:tav tm="100000">
                                          <p:val>
                                            <p:strVal val="#ppt_x"/>
                                          </p:val>
                                        </p:tav>
                                      </p:tavLst>
                                    </p:anim>
                                    <p:anim calcmode="lin" valueType="num">
                                      <p:cBhvr additive="base">
                                        <p:cTn id="32" dur="500" fill="hold"/>
                                        <p:tgtEl>
                                          <p:spTgt spid="137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日期占位符 3"/>
          <p:cNvSpPr>
            <a:spLocks noGrp="1"/>
          </p:cNvSpPr>
          <p:nvPr>
            <p:ph type="dt" sz="quarter" idx="10"/>
          </p:nvPr>
        </p:nvSpPr>
        <p:spPr>
          <a:noFill/>
        </p:spPr>
        <p:txBody>
          <a:bodyPr/>
          <a:lstStyle/>
          <a:p>
            <a:fld id="{EA08A127-1099-463B-A145-03E012C20342}" type="datetime1">
              <a:rPr lang="zh-CN" altLang="en-US" smtClean="0"/>
              <a:pPr/>
              <a:t>2018/2/24</a:t>
            </a:fld>
            <a:endParaRPr lang="en-US" altLang="zh-CN" smtClean="0"/>
          </a:p>
        </p:txBody>
      </p:sp>
      <p:sp>
        <p:nvSpPr>
          <p:cNvPr id="136195" name="灯片编号占位符 5"/>
          <p:cNvSpPr>
            <a:spLocks noGrp="1"/>
          </p:cNvSpPr>
          <p:nvPr>
            <p:ph type="sldNum" sz="quarter" idx="12"/>
          </p:nvPr>
        </p:nvSpPr>
        <p:spPr>
          <a:noFill/>
        </p:spPr>
        <p:txBody>
          <a:bodyPr/>
          <a:lstStyle/>
          <a:p>
            <a:fld id="{55950A7A-C614-4BC1-B69C-620303642BC8}" type="slidenum">
              <a:rPr lang="en-US" altLang="zh-CN" smtClean="0"/>
              <a:pPr/>
              <a:t>101</a:t>
            </a:fld>
            <a:endParaRPr lang="en-US" altLang="zh-CN" smtClean="0"/>
          </a:p>
        </p:txBody>
      </p:sp>
      <p:sp>
        <p:nvSpPr>
          <p:cNvPr id="650243" name="Rectangle 3"/>
          <p:cNvSpPr>
            <a:spLocks noGrp="1" noRot="1" noChangeAspect="1" noChangeArrowheads="1"/>
          </p:cNvSpPr>
          <p:nvPr>
            <p:ph type="body" idx="1"/>
          </p:nvPr>
        </p:nvSpPr>
        <p:spPr>
          <a:xfrm>
            <a:off x="668338" y="1984375"/>
            <a:ext cx="7950200" cy="3365500"/>
          </a:xfrm>
        </p:spPr>
        <p:txBody>
          <a:bodyPr>
            <a:spAutoFit/>
          </a:bodyPr>
          <a:lstStyle/>
          <a:p>
            <a:pPr marL="261938" indent="-261938" defTabSz="900113" eaLnBrk="1" hangingPunct="1">
              <a:lnSpc>
                <a:spcPct val="125000"/>
              </a:lnSpc>
              <a:buFont typeface="Wingdings" pitchFamily="2" charset="2"/>
              <a:buNone/>
              <a:defRPr/>
            </a:pPr>
            <a:r>
              <a:rPr lang="en-US" altLang="zh-CN" smtClean="0">
                <a:latin typeface="Times New Roman" pitchFamily="18" charset="0"/>
                <a:ea typeface="黑体" pitchFamily="2" charset="-122"/>
              </a:rPr>
              <a:t>3.2  </a:t>
            </a:r>
            <a:r>
              <a:rPr lang="zh-CN" altLang="en-US" smtClean="0">
                <a:latin typeface="Times New Roman" pitchFamily="18" charset="0"/>
                <a:ea typeface="黑体" pitchFamily="2" charset="-122"/>
              </a:rPr>
              <a:t>光学传递函数与其它几种像质检验的关系</a:t>
            </a:r>
          </a:p>
          <a:p>
            <a:pPr marL="261938" indent="-261938" defTabSz="900113" eaLnBrk="1" hangingPunct="1">
              <a:lnSpc>
                <a:spcPct val="125000"/>
              </a:lnSpc>
              <a:defRPr/>
            </a:pPr>
            <a:r>
              <a:rPr lang="zh-CN" altLang="en-US" smtClean="0">
                <a:latin typeface="Times New Roman" pitchFamily="18" charset="0"/>
                <a:ea typeface="黑体" pitchFamily="2" charset="-122"/>
              </a:rPr>
              <a:t>目前光学传递函数已在像质检验方面得到广泛的应用，在像质评价这一技术领域中它的地位也越来越重要。原因在于光学传递函数是</a:t>
            </a:r>
            <a:r>
              <a:rPr lang="zh-CN" altLang="en-US" smtClean="0">
                <a:solidFill>
                  <a:srgbClr val="FF0000"/>
                </a:solidFill>
                <a:latin typeface="Times New Roman" pitchFamily="18" charset="0"/>
                <a:ea typeface="黑体" pitchFamily="2" charset="-122"/>
              </a:rPr>
              <a:t>一种客观、灵敏而又能定量的像质判据和评价手段</a:t>
            </a:r>
            <a:r>
              <a:rPr lang="zh-CN" altLang="en-US" smtClean="0">
                <a:latin typeface="Times New Roman" pitchFamily="18" charset="0"/>
                <a:ea typeface="黑体" pitchFamily="2" charset="-122"/>
              </a:rPr>
              <a:t>；另一方面，光学传递函数的内容非常丰富，其它的像质判据，大多数在本质上只不过是它的某一个方面的内容，或者可以由它派生出来。</a:t>
            </a:r>
          </a:p>
        </p:txBody>
      </p:sp>
      <p:sp>
        <p:nvSpPr>
          <p:cNvPr id="136198"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6199"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00"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6201"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02"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6203"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6204"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6205"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06"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6207"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08"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09"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6210"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6211" name="Rectangle 17"/>
          <p:cNvSpPr>
            <a:spLocks noChangeArrowheads="1"/>
          </p:cNvSpPr>
          <p:nvPr/>
        </p:nvSpPr>
        <p:spPr bwMode="auto">
          <a:xfrm>
            <a:off x="479425" y="3911600"/>
            <a:ext cx="9144000" cy="0"/>
          </a:xfrm>
          <a:prstGeom prst="rect">
            <a:avLst/>
          </a:prstGeom>
          <a:noFill/>
          <a:ln w="9525">
            <a:noFill/>
            <a:miter lim="800000"/>
            <a:headEnd/>
            <a:tailEnd/>
          </a:ln>
        </p:spPr>
        <p:txBody>
          <a:bodyPr wrap="none" anchor="ctr">
            <a:spAutoFit/>
          </a:bodyPr>
          <a:lstStyle/>
          <a:p>
            <a:endParaRPr lang="zh-CN" altLang="en-US"/>
          </a:p>
        </p:txBody>
      </p:sp>
      <p:sp>
        <p:nvSpPr>
          <p:cNvPr id="136212"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22"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Tree>
  </p:cSld>
  <p:clrMapOvr>
    <a:masterClrMapping/>
  </p:clrMapOvr>
  <p:transition spd="slow">
    <p:circle/>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日期占位符 3"/>
          <p:cNvSpPr>
            <a:spLocks noGrp="1"/>
          </p:cNvSpPr>
          <p:nvPr>
            <p:ph type="dt" sz="quarter" idx="10"/>
          </p:nvPr>
        </p:nvSpPr>
        <p:spPr>
          <a:noFill/>
        </p:spPr>
        <p:txBody>
          <a:bodyPr/>
          <a:lstStyle/>
          <a:p>
            <a:fld id="{535A0660-F676-42EE-9D4F-F4E0507269F3}" type="datetime1">
              <a:rPr lang="zh-CN" altLang="en-US" smtClean="0"/>
              <a:pPr/>
              <a:t>2018/2/24</a:t>
            </a:fld>
            <a:endParaRPr lang="en-US" altLang="zh-CN" smtClean="0"/>
          </a:p>
        </p:txBody>
      </p:sp>
      <p:sp>
        <p:nvSpPr>
          <p:cNvPr id="137219" name="灯片编号占位符 5"/>
          <p:cNvSpPr>
            <a:spLocks noGrp="1"/>
          </p:cNvSpPr>
          <p:nvPr>
            <p:ph type="sldNum" sz="quarter" idx="12"/>
          </p:nvPr>
        </p:nvSpPr>
        <p:spPr>
          <a:noFill/>
        </p:spPr>
        <p:txBody>
          <a:bodyPr/>
          <a:lstStyle/>
          <a:p>
            <a:fld id="{12D0B052-A6DB-4193-A919-97611A0095D3}" type="slidenum">
              <a:rPr lang="en-US" altLang="zh-CN" smtClean="0"/>
              <a:pPr/>
              <a:t>102</a:t>
            </a:fld>
            <a:endParaRPr lang="en-US" altLang="zh-CN" smtClean="0"/>
          </a:p>
        </p:txBody>
      </p:sp>
      <p:sp>
        <p:nvSpPr>
          <p:cNvPr id="651267" name="Rectangle 3"/>
          <p:cNvSpPr>
            <a:spLocks noGrp="1" noRot="1" noChangeAspect="1" noChangeArrowheads="1"/>
          </p:cNvSpPr>
          <p:nvPr>
            <p:ph type="body" idx="1"/>
          </p:nvPr>
        </p:nvSpPr>
        <p:spPr>
          <a:xfrm>
            <a:off x="515938" y="1803400"/>
            <a:ext cx="8199437" cy="4351961"/>
          </a:xfrm>
        </p:spPr>
        <p:txBody>
          <a:bodyPr>
            <a:spAutoFit/>
          </a:bodyPr>
          <a:lstStyle/>
          <a:p>
            <a:pPr marL="261938" indent="-261938" defTabSz="900113" eaLnBrk="1" hangingPunct="1">
              <a:buFont typeface="Wingdings" pitchFamily="2" charset="2"/>
              <a:buNone/>
              <a:defRPr/>
            </a:pPr>
            <a:r>
              <a:rPr lang="en-US" altLang="zh-CN" dirty="0" smtClean="0">
                <a:latin typeface="Times New Roman" pitchFamily="18" charset="0"/>
                <a:ea typeface="黑体" pitchFamily="2" charset="-122"/>
              </a:rPr>
              <a:t>3.2  </a:t>
            </a:r>
            <a:r>
              <a:rPr lang="zh-CN" altLang="en-US" dirty="0" smtClean="0">
                <a:latin typeface="Times New Roman" pitchFamily="18" charset="0"/>
                <a:ea typeface="黑体" pitchFamily="2" charset="-122"/>
              </a:rPr>
              <a:t>光学传递函数与其它几种像质检验的关系</a:t>
            </a:r>
          </a:p>
          <a:p>
            <a:pPr marL="261938" indent="-261938" defTabSz="900113" eaLnBrk="1" hangingPunct="1">
              <a:buFont typeface="Wingdings" pitchFamily="2" charset="2"/>
              <a:buNone/>
              <a:defRPr/>
            </a:pPr>
            <a:r>
              <a:rPr lang="en-US" altLang="zh-CN" dirty="0" smtClean="0">
                <a:latin typeface="Times New Roman" pitchFamily="18" charset="0"/>
                <a:ea typeface="黑体" pitchFamily="2" charset="-122"/>
              </a:rPr>
              <a:t>1</a:t>
            </a:r>
            <a:r>
              <a:rPr lang="zh-CN" altLang="en-US" dirty="0" smtClean="0">
                <a:latin typeface="Times New Roman" pitchFamily="18" charset="0"/>
                <a:ea typeface="黑体" pitchFamily="2" charset="-122"/>
              </a:rPr>
              <a:t>）与星点检验的关系</a:t>
            </a:r>
          </a:p>
          <a:p>
            <a:pPr marL="261938" indent="-261938" defTabSz="900113" eaLnBrk="1" hangingPunct="1">
              <a:defRPr/>
            </a:pPr>
            <a:r>
              <a:rPr lang="zh-CN" altLang="en-US" sz="2000" dirty="0" smtClean="0">
                <a:latin typeface="Times New Roman" pitchFamily="18" charset="0"/>
                <a:ea typeface="黑体" pitchFamily="2" charset="-122"/>
              </a:rPr>
              <a:t>星点像的光强分布以点扩散函数</a:t>
            </a:r>
            <a:r>
              <a:rPr lang="en-US" altLang="zh-CN" sz="2000" i="1" dirty="0" smtClean="0">
                <a:latin typeface="Times New Roman" pitchFamily="18" charset="0"/>
                <a:ea typeface="黑体" pitchFamily="2" charset="-122"/>
              </a:rPr>
              <a:t>PSF</a:t>
            </a:r>
            <a:r>
              <a:rPr lang="zh-CN" altLang="en-US" sz="2000" dirty="0" smtClean="0">
                <a:latin typeface="Times New Roman" pitchFamily="18" charset="0"/>
                <a:ea typeface="黑体" pitchFamily="2" charset="-122"/>
              </a:rPr>
              <a:t>（</a:t>
            </a:r>
            <a:r>
              <a:rPr lang="en-US" altLang="zh-CN" sz="2000" i="1" dirty="0" err="1" smtClean="0">
                <a:latin typeface="Times New Roman" pitchFamily="18" charset="0"/>
                <a:ea typeface="黑体" pitchFamily="2" charset="-122"/>
              </a:rPr>
              <a:t>u</a:t>
            </a:r>
            <a:r>
              <a:rPr lang="en-US" altLang="zh-CN" sz="2000" dirty="0" err="1" smtClean="0">
                <a:latin typeface="Times New Roman" pitchFamily="18" charset="0"/>
                <a:ea typeface="黑体" pitchFamily="2" charset="-122"/>
              </a:rPr>
              <a:t>,</a:t>
            </a:r>
            <a:r>
              <a:rPr lang="en-US" altLang="zh-CN" sz="2000" i="1" dirty="0" err="1" smtClean="0">
                <a:latin typeface="Times New Roman" pitchFamily="18" charset="0"/>
                <a:ea typeface="黑体" pitchFamily="2" charset="-122"/>
              </a:rPr>
              <a:t>v</a:t>
            </a:r>
            <a:r>
              <a:rPr lang="zh-CN" altLang="en-US" sz="2000" dirty="0" smtClean="0">
                <a:latin typeface="Times New Roman" pitchFamily="18" charset="0"/>
                <a:ea typeface="黑体" pitchFamily="2" charset="-122"/>
              </a:rPr>
              <a:t>）表示，与光学传递函数构成了一对傅里叶变换的关系，二者包含的信息完全等价，不过分别采用了频率域与空间域的描述方法：</a:t>
            </a:r>
          </a:p>
          <a:p>
            <a:pPr marL="712788" lvl="1" indent="-271463" defTabSz="900113" eaLnBrk="1" hangingPunct="1">
              <a:defRPr/>
            </a:pPr>
            <a:r>
              <a:rPr lang="zh-CN" altLang="en-US" dirty="0" smtClean="0">
                <a:latin typeface="Times New Roman" pitchFamily="18" charset="0"/>
                <a:ea typeface="黑体" pitchFamily="2" charset="-122"/>
              </a:rPr>
              <a:t>小像差系统的像质鉴定非常灵敏；</a:t>
            </a:r>
          </a:p>
          <a:p>
            <a:pPr marL="712788" lvl="1" indent="-271463" defTabSz="900113" eaLnBrk="1" hangingPunct="1">
              <a:defRPr/>
            </a:pPr>
            <a:r>
              <a:rPr lang="en-US" altLang="zh-CN" i="1" dirty="0" smtClean="0">
                <a:latin typeface="Times New Roman" pitchFamily="18" charset="0"/>
                <a:ea typeface="黑体" pitchFamily="2" charset="-122"/>
              </a:rPr>
              <a:t>OTF</a:t>
            </a:r>
            <a:r>
              <a:rPr lang="zh-CN" altLang="en-US" dirty="0" smtClean="0">
                <a:latin typeface="Times New Roman" pitchFamily="18" charset="0"/>
                <a:ea typeface="黑体" pitchFamily="2" charset="-122"/>
              </a:rPr>
              <a:t>测试可以准确定量测定；</a:t>
            </a:r>
          </a:p>
          <a:p>
            <a:pPr marL="712788" lvl="1" indent="-271463" defTabSz="900113" eaLnBrk="1" hangingPunct="1">
              <a:defRPr/>
            </a:pPr>
            <a:r>
              <a:rPr lang="zh-CN" altLang="en-US" dirty="0" smtClean="0">
                <a:latin typeface="Times New Roman" pitchFamily="18" charset="0"/>
                <a:ea typeface="黑体" pitchFamily="2" charset="-122"/>
              </a:rPr>
              <a:t>通过比较</a:t>
            </a:r>
            <a:r>
              <a:rPr lang="en-US" altLang="zh-CN" i="1" dirty="0" smtClean="0">
                <a:latin typeface="Times New Roman" pitchFamily="18" charset="0"/>
                <a:ea typeface="黑体" pitchFamily="2" charset="-122"/>
              </a:rPr>
              <a:t>MTF</a:t>
            </a:r>
            <a:r>
              <a:rPr lang="zh-CN" altLang="en-US" dirty="0" smtClean="0">
                <a:latin typeface="Times New Roman" pitchFamily="18" charset="0"/>
                <a:ea typeface="黑体" pitchFamily="2" charset="-122"/>
              </a:rPr>
              <a:t>的实测值与理论值的差异可以灵敏地鉴别系统的对称性像差；</a:t>
            </a:r>
          </a:p>
          <a:p>
            <a:pPr marL="712788" lvl="1" indent="-271463" defTabSz="900113" eaLnBrk="1" hangingPunct="1">
              <a:defRPr/>
            </a:pPr>
            <a:r>
              <a:rPr lang="en-US" altLang="zh-CN" i="1" dirty="0" smtClean="0">
                <a:latin typeface="Times New Roman" pitchFamily="18" charset="0"/>
                <a:ea typeface="黑体" pitchFamily="2" charset="-122"/>
              </a:rPr>
              <a:t>OTF</a:t>
            </a:r>
            <a:r>
              <a:rPr lang="zh-CN" altLang="en-US" dirty="0" smtClean="0">
                <a:latin typeface="Times New Roman" pitchFamily="18" charset="0"/>
                <a:ea typeface="黑体" pitchFamily="2" charset="-122"/>
              </a:rPr>
              <a:t>测试装置非常复杂，而且不如星点检验那样直观。</a:t>
            </a:r>
          </a:p>
          <a:p>
            <a:pPr marL="261938" indent="-261938" defTabSz="900113" eaLnBrk="1" hangingPunct="1">
              <a:defRPr/>
            </a:pPr>
            <a:r>
              <a:rPr lang="en-US" altLang="zh-CN" sz="2000" i="1" dirty="0" smtClean="0">
                <a:latin typeface="Times New Roman" pitchFamily="18" charset="0"/>
                <a:ea typeface="黑体" pitchFamily="2" charset="-122"/>
              </a:rPr>
              <a:t>OTF</a:t>
            </a:r>
            <a:r>
              <a:rPr lang="zh-CN" altLang="en-US" sz="2000" dirty="0" smtClean="0">
                <a:latin typeface="Times New Roman" pitchFamily="18" charset="0"/>
                <a:ea typeface="黑体" pitchFamily="2" charset="-122"/>
              </a:rPr>
              <a:t>判据将处于越来越重要的地位，而星点检验因其有直观简便的特点，仍不失为检验与诊断系统疵病的一种良好的辅助手段。</a:t>
            </a:r>
          </a:p>
        </p:txBody>
      </p:sp>
      <p:sp>
        <p:nvSpPr>
          <p:cNvPr id="137222"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7223"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24"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7225"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26"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7227"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7228"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7229"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30"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7231"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32"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33"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7234"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7235" name="Rectangle 17"/>
          <p:cNvSpPr>
            <a:spLocks noChangeArrowheads="1"/>
          </p:cNvSpPr>
          <p:nvPr/>
        </p:nvSpPr>
        <p:spPr bwMode="auto">
          <a:xfrm>
            <a:off x="479425" y="3911600"/>
            <a:ext cx="9144000" cy="0"/>
          </a:xfrm>
          <a:prstGeom prst="rect">
            <a:avLst/>
          </a:prstGeom>
          <a:noFill/>
          <a:ln w="9525">
            <a:noFill/>
            <a:miter lim="800000"/>
            <a:headEnd/>
            <a:tailEnd/>
          </a:ln>
        </p:spPr>
        <p:txBody>
          <a:bodyPr wrap="none" anchor="ctr">
            <a:spAutoFit/>
          </a:bodyPr>
          <a:lstStyle/>
          <a:p>
            <a:endParaRPr lang="zh-CN" altLang="en-US"/>
          </a:p>
        </p:txBody>
      </p:sp>
      <p:sp>
        <p:nvSpPr>
          <p:cNvPr id="137236"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22"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Tree>
  </p:cSld>
  <p:clrMapOvr>
    <a:masterClrMapping/>
  </p:clrMapOvr>
  <p:transition spd="slow">
    <p:circle/>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日期占位符 3"/>
          <p:cNvSpPr>
            <a:spLocks noGrp="1"/>
          </p:cNvSpPr>
          <p:nvPr>
            <p:ph type="dt" sz="quarter" idx="10"/>
          </p:nvPr>
        </p:nvSpPr>
        <p:spPr>
          <a:noFill/>
        </p:spPr>
        <p:txBody>
          <a:bodyPr/>
          <a:lstStyle/>
          <a:p>
            <a:fld id="{4FD25FFA-DE62-463E-B4DA-7B52D42C18A8}" type="datetime1">
              <a:rPr lang="zh-CN" altLang="en-US" smtClean="0"/>
              <a:pPr/>
              <a:t>2018/2/24</a:t>
            </a:fld>
            <a:endParaRPr lang="en-US" altLang="zh-CN" smtClean="0"/>
          </a:p>
        </p:txBody>
      </p:sp>
      <p:sp>
        <p:nvSpPr>
          <p:cNvPr id="138243" name="灯片编号占位符 5"/>
          <p:cNvSpPr>
            <a:spLocks noGrp="1"/>
          </p:cNvSpPr>
          <p:nvPr>
            <p:ph type="sldNum" sz="quarter" idx="12"/>
          </p:nvPr>
        </p:nvSpPr>
        <p:spPr>
          <a:noFill/>
        </p:spPr>
        <p:txBody>
          <a:bodyPr/>
          <a:lstStyle/>
          <a:p>
            <a:fld id="{132D33B2-9AF1-409C-94BA-D47441BA45A6}" type="slidenum">
              <a:rPr lang="en-US" altLang="zh-CN" smtClean="0"/>
              <a:pPr/>
              <a:t>103</a:t>
            </a:fld>
            <a:endParaRPr lang="en-US" altLang="zh-CN" smtClean="0"/>
          </a:p>
        </p:txBody>
      </p:sp>
      <p:sp>
        <p:nvSpPr>
          <p:cNvPr id="652291" name="Rectangle 3"/>
          <p:cNvSpPr>
            <a:spLocks noGrp="1" noRot="1" noChangeAspect="1" noChangeArrowheads="1"/>
          </p:cNvSpPr>
          <p:nvPr>
            <p:ph type="body" idx="1"/>
          </p:nvPr>
        </p:nvSpPr>
        <p:spPr>
          <a:xfrm>
            <a:off x="515938" y="1803400"/>
            <a:ext cx="8199437" cy="4683125"/>
          </a:xfrm>
        </p:spPr>
        <p:txBody>
          <a:bodyPr>
            <a:spAutoFit/>
          </a:bodyPr>
          <a:lstStyle/>
          <a:p>
            <a:pPr marL="261938" indent="-261938" defTabSz="900113" eaLnBrk="1" hangingPunct="1">
              <a:buFont typeface="Wingdings" pitchFamily="2" charset="2"/>
              <a:buNone/>
              <a:defRPr/>
            </a:pPr>
            <a:r>
              <a:rPr lang="en-US" altLang="zh-CN" smtClean="0">
                <a:latin typeface="Times New Roman" pitchFamily="18" charset="0"/>
                <a:ea typeface="黑体" pitchFamily="2" charset="-122"/>
              </a:rPr>
              <a:t>3.2  </a:t>
            </a:r>
            <a:r>
              <a:rPr lang="zh-CN" altLang="en-US" smtClean="0">
                <a:latin typeface="Times New Roman" pitchFamily="18" charset="0"/>
                <a:ea typeface="黑体" pitchFamily="2" charset="-122"/>
              </a:rPr>
              <a:t>光学传递函数与其它几种像质检验的关系</a:t>
            </a:r>
          </a:p>
          <a:p>
            <a:pPr marL="261938" indent="-261938" defTabSz="900113" eaLnBrk="1" hangingPunct="1">
              <a:buFont typeface="Wingdings" pitchFamily="2" charset="2"/>
              <a:buNone/>
              <a:defRPr/>
            </a:pPr>
            <a:r>
              <a:rPr lang="en-US" altLang="zh-CN" smtClean="0">
                <a:latin typeface="Times New Roman" pitchFamily="18" charset="0"/>
                <a:ea typeface="黑体" pitchFamily="2" charset="-122"/>
              </a:rPr>
              <a:t>2</a:t>
            </a:r>
            <a:r>
              <a:rPr lang="zh-CN" altLang="en-US" smtClean="0">
                <a:latin typeface="Times New Roman" pitchFamily="18" charset="0"/>
                <a:ea typeface="黑体" pitchFamily="2" charset="-122"/>
              </a:rPr>
              <a:t>）与分辨率检验的关系</a:t>
            </a:r>
          </a:p>
          <a:p>
            <a:pPr marL="261938" indent="-261938" defTabSz="900113" eaLnBrk="1" hangingPunct="1">
              <a:defRPr/>
            </a:pPr>
            <a:r>
              <a:rPr lang="zh-CN" altLang="en-US" smtClean="0">
                <a:latin typeface="Times New Roman" pitchFamily="18" charset="0"/>
                <a:ea typeface="黑体" pitchFamily="2" charset="-122"/>
              </a:rPr>
              <a:t>如果不考虑正弦光栅和矩形光栅成像之间的差别，则</a:t>
            </a:r>
            <a:r>
              <a:rPr lang="en-US" altLang="zh-CN" i="1" smtClean="0">
                <a:latin typeface="Times New Roman" pitchFamily="18" charset="0"/>
                <a:ea typeface="黑体" pitchFamily="2" charset="-122"/>
              </a:rPr>
              <a:t>OTF</a:t>
            </a:r>
            <a:r>
              <a:rPr lang="zh-CN" altLang="en-US" smtClean="0">
                <a:latin typeface="Times New Roman" pitchFamily="18" charset="0"/>
                <a:ea typeface="黑体" pitchFamily="2" charset="-122"/>
              </a:rPr>
              <a:t>和分辨率都以空间频率和调制度来反映光学系统的空间滤波特性。</a:t>
            </a:r>
          </a:p>
          <a:p>
            <a:pPr marL="712788" lvl="1" indent="-271463" defTabSz="900113" eaLnBrk="1" hangingPunct="1">
              <a:defRPr/>
            </a:pPr>
            <a:r>
              <a:rPr lang="zh-CN" altLang="en-US" smtClean="0">
                <a:latin typeface="Times New Roman" pitchFamily="18" charset="0"/>
                <a:ea typeface="黑体" pitchFamily="2" charset="-122"/>
              </a:rPr>
              <a:t>分辨率测量只是反映截止频率附近的像质情况，而丢掉了很重要的低频信息，这正是分辨率测量的一个致命缺点；</a:t>
            </a:r>
          </a:p>
          <a:p>
            <a:pPr marL="712788" lvl="1" indent="-271463" defTabSz="900113" eaLnBrk="1" hangingPunct="1">
              <a:defRPr/>
            </a:pPr>
            <a:r>
              <a:rPr lang="zh-CN" altLang="en-US" smtClean="0">
                <a:latin typeface="Times New Roman" pitchFamily="18" charset="0"/>
                <a:ea typeface="黑体" pitchFamily="2" charset="-122"/>
              </a:rPr>
              <a:t>目视分辨率还带有因人而异的主观性；</a:t>
            </a:r>
          </a:p>
          <a:p>
            <a:pPr marL="712788" lvl="1" indent="-271463" defTabSz="900113" eaLnBrk="1" hangingPunct="1">
              <a:defRPr/>
            </a:pPr>
            <a:r>
              <a:rPr lang="zh-CN" altLang="en-US" smtClean="0">
                <a:latin typeface="Times New Roman" pitchFamily="18" charset="0"/>
                <a:ea typeface="黑体" pitchFamily="2" charset="-122"/>
              </a:rPr>
              <a:t>分辨率测量有直观、简便、定量等好处，加上检验人员的经验也起作用，例如他们不仅注意观测分辨率</a:t>
            </a:r>
            <a:r>
              <a:rPr lang="en-US" altLang="zh-CN" i="1" smtClean="0">
                <a:latin typeface="Times New Roman" pitchFamily="18" charset="0"/>
                <a:ea typeface="黑体" pitchFamily="2" charset="-122"/>
              </a:rPr>
              <a:t>r</a:t>
            </a:r>
            <a:r>
              <a:rPr lang="en-US" altLang="zh-CN" baseline="-25000" smtClean="0">
                <a:latin typeface="Times New Roman" pitchFamily="18" charset="0"/>
                <a:ea typeface="黑体" pitchFamily="2" charset="-122"/>
              </a:rPr>
              <a:t>l</a:t>
            </a:r>
            <a:r>
              <a:rPr lang="zh-CN" altLang="en-US" smtClean="0">
                <a:latin typeface="Times New Roman" pitchFamily="18" charset="0"/>
                <a:ea typeface="黑体" pitchFamily="2" charset="-122"/>
              </a:rPr>
              <a:t>，而且还注意观察尚能清楚分辨的其他较低频率的光栅线条，区分它们的清晰程度，即加入定性分析以便较全面地评价系统的成像质量，所以至今仍在生产部门作为一种产品检验的主要手段使用。</a:t>
            </a:r>
          </a:p>
        </p:txBody>
      </p:sp>
      <p:sp>
        <p:nvSpPr>
          <p:cNvPr id="138246"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138247"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48"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8249"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50"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138251"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8252"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138253"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54"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138255"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56"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57"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138258"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138259" name="Rectangle 17"/>
          <p:cNvSpPr>
            <a:spLocks noChangeArrowheads="1"/>
          </p:cNvSpPr>
          <p:nvPr/>
        </p:nvSpPr>
        <p:spPr bwMode="auto">
          <a:xfrm>
            <a:off x="479425" y="3911600"/>
            <a:ext cx="9144000" cy="0"/>
          </a:xfrm>
          <a:prstGeom prst="rect">
            <a:avLst/>
          </a:prstGeom>
          <a:noFill/>
          <a:ln w="9525">
            <a:noFill/>
            <a:miter lim="800000"/>
            <a:headEnd/>
            <a:tailEnd/>
          </a:ln>
        </p:spPr>
        <p:txBody>
          <a:bodyPr wrap="none" anchor="ctr">
            <a:spAutoFit/>
          </a:bodyPr>
          <a:lstStyle/>
          <a:p>
            <a:endParaRPr lang="zh-CN" altLang="en-US"/>
          </a:p>
        </p:txBody>
      </p:sp>
      <p:sp>
        <p:nvSpPr>
          <p:cNvPr id="138260"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22"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Tree>
  </p:cSld>
  <p:clrMapOvr>
    <a:masterClrMapping/>
  </p:clrMapOvr>
  <p:transition spd="slow">
    <p:circle/>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1" name="日期占位符 3"/>
          <p:cNvSpPr>
            <a:spLocks noGrp="1"/>
          </p:cNvSpPr>
          <p:nvPr>
            <p:ph type="dt" sz="quarter" idx="10"/>
          </p:nvPr>
        </p:nvSpPr>
        <p:spPr>
          <a:noFill/>
        </p:spPr>
        <p:txBody>
          <a:bodyPr/>
          <a:lstStyle/>
          <a:p>
            <a:fld id="{0B2D2755-A043-436D-A795-8B600CF6F9E8}" type="datetime1">
              <a:rPr lang="zh-CN" altLang="en-US" smtClean="0"/>
              <a:pPr/>
              <a:t>2018/2/24</a:t>
            </a:fld>
            <a:endParaRPr lang="en-US" altLang="zh-CN" smtClean="0"/>
          </a:p>
        </p:txBody>
      </p:sp>
      <p:sp>
        <p:nvSpPr>
          <p:cNvPr id="73732" name="灯片编号占位符 5"/>
          <p:cNvSpPr>
            <a:spLocks noGrp="1"/>
          </p:cNvSpPr>
          <p:nvPr>
            <p:ph type="sldNum" sz="quarter" idx="12"/>
          </p:nvPr>
        </p:nvSpPr>
        <p:spPr>
          <a:noFill/>
        </p:spPr>
        <p:txBody>
          <a:bodyPr/>
          <a:lstStyle/>
          <a:p>
            <a:fld id="{21B5721C-99A0-42B9-B837-5D462C122842}" type="slidenum">
              <a:rPr lang="en-US" altLang="zh-CN" smtClean="0"/>
              <a:pPr/>
              <a:t>104</a:t>
            </a:fld>
            <a:endParaRPr lang="en-US" altLang="zh-CN" smtClean="0"/>
          </a:p>
        </p:txBody>
      </p:sp>
      <p:sp>
        <p:nvSpPr>
          <p:cNvPr id="653315" name="Rectangle 3"/>
          <p:cNvSpPr>
            <a:spLocks noGrp="1" noRot="1" noChangeAspect="1" noChangeArrowheads="1"/>
          </p:cNvSpPr>
          <p:nvPr>
            <p:ph type="body" idx="1"/>
          </p:nvPr>
        </p:nvSpPr>
        <p:spPr>
          <a:xfrm>
            <a:off x="515938" y="1803400"/>
            <a:ext cx="7981950" cy="4721225"/>
          </a:xfrm>
        </p:spPr>
        <p:txBody>
          <a:bodyPr>
            <a:spAutoFit/>
          </a:bodyPr>
          <a:lstStyle/>
          <a:p>
            <a:pPr marL="261938" indent="-261938" defTabSz="900113" eaLnBrk="1" hangingPunct="1">
              <a:buFont typeface="Wingdings" pitchFamily="2" charset="2"/>
              <a:buNone/>
              <a:defRPr/>
            </a:pPr>
            <a:r>
              <a:rPr lang="en-US" altLang="zh-CN" sz="2000" smtClean="0">
                <a:latin typeface="Times New Roman" pitchFamily="18" charset="0"/>
                <a:ea typeface="黑体" pitchFamily="2" charset="-122"/>
              </a:rPr>
              <a:t>3.2  </a:t>
            </a:r>
            <a:r>
              <a:rPr lang="zh-CN" altLang="en-US" sz="2000" smtClean="0">
                <a:latin typeface="Times New Roman" pitchFamily="18" charset="0"/>
                <a:ea typeface="黑体" pitchFamily="2" charset="-122"/>
              </a:rPr>
              <a:t>光学传递函数与其它几种像质检验的关系</a:t>
            </a:r>
          </a:p>
          <a:p>
            <a:pPr marL="261938" indent="-261938" defTabSz="900113" eaLnBrk="1" hangingPunct="1">
              <a:buFont typeface="Wingdings" pitchFamily="2" charset="2"/>
              <a:buNone/>
              <a:defRPr/>
            </a:pPr>
            <a:r>
              <a:rPr lang="en-US" altLang="zh-CN" sz="2000" smtClean="0">
                <a:latin typeface="Times New Roman" pitchFamily="18" charset="0"/>
                <a:ea typeface="黑体" pitchFamily="2" charset="-122"/>
              </a:rPr>
              <a:t>3</a:t>
            </a:r>
            <a:r>
              <a:rPr lang="zh-CN" altLang="en-US" sz="2000" smtClean="0">
                <a:latin typeface="Times New Roman" pitchFamily="18" charset="0"/>
                <a:ea typeface="黑体" pitchFamily="2" charset="-122"/>
              </a:rPr>
              <a:t>）与波像差测量的关系</a:t>
            </a:r>
          </a:p>
          <a:p>
            <a:pPr marL="261938" indent="-261938" defTabSz="900113" eaLnBrk="1" hangingPunct="1">
              <a:defRPr/>
            </a:pPr>
            <a:r>
              <a:rPr lang="zh-CN" altLang="en-US" sz="2000" smtClean="0">
                <a:latin typeface="Times New Roman" pitchFamily="18" charset="0"/>
                <a:ea typeface="黑体" pitchFamily="2" charset="-122"/>
              </a:rPr>
              <a:t>光学系统的波像差</a:t>
            </a:r>
            <a:r>
              <a:rPr lang="en-US" altLang="zh-CN" sz="2000" i="1" smtClean="0">
                <a:latin typeface="Times New Roman" pitchFamily="18" charset="0"/>
                <a:ea typeface="黑体" pitchFamily="2" charset="-122"/>
              </a:rPr>
              <a:t>W</a:t>
            </a:r>
            <a:r>
              <a:rPr lang="zh-CN" altLang="en-US" sz="2000" smtClean="0">
                <a:latin typeface="Times New Roman" pitchFamily="18" charset="0"/>
                <a:ea typeface="黑体" pitchFamily="2" charset="-122"/>
              </a:rPr>
              <a:t>（</a:t>
            </a:r>
            <a:r>
              <a:rPr lang="en-US" altLang="zh-CN" sz="2000" i="1" smtClean="0">
                <a:latin typeface="Times New Roman" pitchFamily="18" charset="0"/>
                <a:ea typeface="黑体" pitchFamily="2" charset="-122"/>
              </a:rPr>
              <a:t>x</a:t>
            </a:r>
            <a:r>
              <a:rPr lang="zh-CN" altLang="en-US" sz="2000" i="1" smtClean="0">
                <a:latin typeface="Times New Roman" pitchFamily="18" charset="0"/>
                <a:ea typeface="黑体" pitchFamily="2" charset="-122"/>
              </a:rPr>
              <a:t>，</a:t>
            </a:r>
            <a:r>
              <a:rPr lang="en-US" altLang="zh-CN" sz="2000" i="1" smtClean="0">
                <a:latin typeface="Times New Roman" pitchFamily="18" charset="0"/>
                <a:ea typeface="黑体" pitchFamily="2" charset="-122"/>
              </a:rPr>
              <a:t>y</a:t>
            </a:r>
            <a:r>
              <a:rPr lang="zh-CN" altLang="en-US" sz="2000" smtClean="0">
                <a:latin typeface="Times New Roman" pitchFamily="18" charset="0"/>
                <a:ea typeface="黑体" pitchFamily="2" charset="-122"/>
              </a:rPr>
              <a:t>）在光瞳函数</a:t>
            </a:r>
            <a:r>
              <a:rPr lang="en-US" altLang="zh-CN" sz="2000" i="1" smtClean="0">
                <a:latin typeface="Times New Roman" pitchFamily="18" charset="0"/>
                <a:ea typeface="黑体" pitchFamily="2" charset="-122"/>
              </a:rPr>
              <a:t>P</a:t>
            </a:r>
            <a:r>
              <a:rPr lang="zh-CN" altLang="en-US" sz="2000" smtClean="0">
                <a:latin typeface="Times New Roman" pitchFamily="18" charset="0"/>
                <a:ea typeface="黑体" pitchFamily="2" charset="-122"/>
              </a:rPr>
              <a:t>（</a:t>
            </a:r>
            <a:r>
              <a:rPr lang="en-US" altLang="zh-CN" sz="2000" i="1" smtClean="0">
                <a:latin typeface="Times New Roman" pitchFamily="18" charset="0"/>
                <a:ea typeface="黑体" pitchFamily="2" charset="-122"/>
              </a:rPr>
              <a:t>x</a:t>
            </a:r>
            <a:r>
              <a:rPr lang="zh-CN" altLang="en-US" sz="2000" i="1" smtClean="0">
                <a:latin typeface="Times New Roman" pitchFamily="18" charset="0"/>
                <a:ea typeface="黑体" pitchFamily="2" charset="-122"/>
              </a:rPr>
              <a:t>，</a:t>
            </a:r>
            <a:r>
              <a:rPr lang="en-US" altLang="zh-CN" sz="2000" i="1" smtClean="0">
                <a:latin typeface="Times New Roman" pitchFamily="18" charset="0"/>
                <a:ea typeface="黑体" pitchFamily="2" charset="-122"/>
              </a:rPr>
              <a:t>y</a:t>
            </a:r>
            <a:r>
              <a:rPr lang="zh-CN" altLang="en-US" sz="2000" smtClean="0">
                <a:latin typeface="Times New Roman" pitchFamily="18" charset="0"/>
                <a:ea typeface="黑体" pitchFamily="2" charset="-122"/>
              </a:rPr>
              <a:t>）中是以相位因子出现的，当把光瞳函数的振幅</a:t>
            </a:r>
            <a:r>
              <a:rPr lang="en-US" altLang="zh-CN" sz="2000" i="1" smtClean="0">
                <a:latin typeface="Times New Roman" pitchFamily="18" charset="0"/>
                <a:ea typeface="黑体" pitchFamily="2" charset="-122"/>
              </a:rPr>
              <a:t>A</a:t>
            </a:r>
            <a:r>
              <a:rPr lang="zh-CN" altLang="en-US" sz="2000" smtClean="0">
                <a:latin typeface="Times New Roman" pitchFamily="18" charset="0"/>
                <a:ea typeface="黑体" pitchFamily="2" charset="-122"/>
              </a:rPr>
              <a:t>（</a:t>
            </a:r>
            <a:r>
              <a:rPr lang="en-US" altLang="zh-CN" sz="2000" i="1" smtClean="0">
                <a:latin typeface="Times New Roman" pitchFamily="18" charset="0"/>
                <a:ea typeface="黑体" pitchFamily="2" charset="-122"/>
              </a:rPr>
              <a:t>x</a:t>
            </a:r>
            <a:r>
              <a:rPr lang="zh-CN" altLang="en-US" sz="2000" smtClean="0">
                <a:latin typeface="Times New Roman" pitchFamily="18" charset="0"/>
                <a:ea typeface="黑体" pitchFamily="2" charset="-122"/>
              </a:rPr>
              <a:t>，</a:t>
            </a:r>
            <a:r>
              <a:rPr lang="en-US" altLang="zh-CN" sz="2000" i="1" smtClean="0">
                <a:latin typeface="Times New Roman" pitchFamily="18" charset="0"/>
                <a:ea typeface="黑体" pitchFamily="2" charset="-122"/>
              </a:rPr>
              <a:t>y</a:t>
            </a:r>
            <a:r>
              <a:rPr lang="zh-CN" altLang="en-US" sz="2000" smtClean="0">
                <a:latin typeface="Times New Roman" pitchFamily="18" charset="0"/>
                <a:ea typeface="黑体" pitchFamily="2" charset="-122"/>
              </a:rPr>
              <a:t>）视为常数，并采用归化坐标时，波像差与光学传递函数的关系：</a:t>
            </a:r>
          </a:p>
          <a:p>
            <a:pPr marL="261938" indent="-261938" defTabSz="900113" eaLnBrk="1" hangingPunct="1">
              <a:defRPr/>
            </a:pPr>
            <a:endParaRPr lang="zh-CN" altLang="en-US" sz="2000" smtClean="0">
              <a:latin typeface="Times New Roman" pitchFamily="18" charset="0"/>
              <a:ea typeface="黑体" pitchFamily="2" charset="-122"/>
            </a:endParaRPr>
          </a:p>
          <a:p>
            <a:pPr marL="261938" indent="-261938" defTabSz="900113" eaLnBrk="1" hangingPunct="1">
              <a:defRPr/>
            </a:pPr>
            <a:endParaRPr lang="zh-CN" altLang="en-US" sz="2000" smtClean="0">
              <a:latin typeface="Times New Roman" pitchFamily="18" charset="0"/>
              <a:ea typeface="黑体" pitchFamily="2" charset="-122"/>
            </a:endParaRPr>
          </a:p>
          <a:p>
            <a:pPr marL="261938" indent="-261938" defTabSz="900113" eaLnBrk="1" hangingPunct="1">
              <a:defRPr/>
            </a:pPr>
            <a:r>
              <a:rPr lang="zh-CN" altLang="en-US" sz="2000" smtClean="0">
                <a:latin typeface="Times New Roman" pitchFamily="18" charset="0"/>
                <a:ea typeface="黑体" pitchFamily="2" charset="-122"/>
              </a:rPr>
              <a:t>采用干涉法测得系统的波像差函数数据之后，可以通过两种途径计算得到光学传递函数：其一是作光瞳函数的自相关积分；其二是作两次傅里叶变换，这些可以通过数值计算得到。</a:t>
            </a:r>
          </a:p>
          <a:p>
            <a:pPr marL="261938" indent="-261938" defTabSz="900113" eaLnBrk="1" hangingPunct="1">
              <a:defRPr/>
            </a:pPr>
            <a:r>
              <a:rPr lang="zh-CN" altLang="en-US" sz="2000" smtClean="0">
                <a:solidFill>
                  <a:srgbClr val="FF0000"/>
                </a:solidFill>
                <a:latin typeface="Times New Roman" pitchFamily="18" charset="0"/>
                <a:ea typeface="黑体" pitchFamily="2" charset="-122"/>
              </a:rPr>
              <a:t>由</a:t>
            </a:r>
            <a:r>
              <a:rPr lang="en-US" altLang="zh-CN" sz="2000" i="1" smtClean="0">
                <a:solidFill>
                  <a:srgbClr val="FF0000"/>
                </a:solidFill>
                <a:latin typeface="Times New Roman" pitchFamily="18" charset="0"/>
                <a:ea typeface="黑体" pitchFamily="2" charset="-122"/>
              </a:rPr>
              <a:t>W</a:t>
            </a:r>
            <a:r>
              <a:rPr lang="zh-CN" altLang="en-US" sz="2000" smtClean="0">
                <a:solidFill>
                  <a:srgbClr val="FF0000"/>
                </a:solidFill>
                <a:latin typeface="Times New Roman" pitchFamily="18" charset="0"/>
                <a:ea typeface="黑体" pitchFamily="2" charset="-122"/>
              </a:rPr>
              <a:t>（</a:t>
            </a:r>
            <a:r>
              <a:rPr lang="en-US" altLang="zh-CN" sz="2000" i="1" smtClean="0">
                <a:solidFill>
                  <a:srgbClr val="FF0000"/>
                </a:solidFill>
                <a:latin typeface="Times New Roman" pitchFamily="18" charset="0"/>
                <a:ea typeface="黑体" pitchFamily="2" charset="-122"/>
              </a:rPr>
              <a:t>x</a:t>
            </a:r>
            <a:r>
              <a:rPr lang="zh-CN" altLang="en-US" sz="2000" i="1" smtClean="0">
                <a:solidFill>
                  <a:srgbClr val="FF0000"/>
                </a:solidFill>
                <a:latin typeface="Times New Roman" pitchFamily="18" charset="0"/>
                <a:ea typeface="黑体" pitchFamily="2" charset="-122"/>
              </a:rPr>
              <a:t>，</a:t>
            </a:r>
            <a:r>
              <a:rPr lang="en-US" altLang="zh-CN" sz="2000" i="1" smtClean="0">
                <a:solidFill>
                  <a:srgbClr val="FF0000"/>
                </a:solidFill>
                <a:latin typeface="Times New Roman" pitchFamily="18" charset="0"/>
                <a:ea typeface="黑体" pitchFamily="2" charset="-122"/>
              </a:rPr>
              <a:t>y</a:t>
            </a:r>
            <a:r>
              <a:rPr lang="zh-CN" altLang="en-US" sz="2000" smtClean="0">
                <a:solidFill>
                  <a:srgbClr val="FF0000"/>
                </a:solidFill>
                <a:latin typeface="Times New Roman" pitchFamily="18" charset="0"/>
                <a:ea typeface="黑体" pitchFamily="2" charset="-122"/>
              </a:rPr>
              <a:t>）可唯一确定</a:t>
            </a:r>
            <a:r>
              <a:rPr lang="en-US" altLang="zh-CN" sz="2000" i="1" smtClean="0">
                <a:solidFill>
                  <a:srgbClr val="FF0000"/>
                </a:solidFill>
                <a:latin typeface="Times New Roman" pitchFamily="18" charset="0"/>
                <a:ea typeface="黑体" pitchFamily="2" charset="-122"/>
              </a:rPr>
              <a:t>OTF</a:t>
            </a:r>
            <a:r>
              <a:rPr lang="zh-CN" altLang="en-US" sz="2000" smtClean="0">
                <a:solidFill>
                  <a:srgbClr val="FF0000"/>
                </a:solidFill>
                <a:latin typeface="Times New Roman" pitchFamily="18" charset="0"/>
                <a:ea typeface="黑体" pitchFamily="2" charset="-122"/>
              </a:rPr>
              <a:t>（</a:t>
            </a:r>
            <a:r>
              <a:rPr lang="en-US" altLang="zh-CN" sz="2000" i="1" smtClean="0">
                <a:solidFill>
                  <a:srgbClr val="FF0000"/>
                </a:solidFill>
                <a:latin typeface="Times New Roman" pitchFamily="18" charset="0"/>
                <a:ea typeface="黑体" pitchFamily="2" charset="-122"/>
              </a:rPr>
              <a:t>r</a:t>
            </a:r>
            <a:r>
              <a:rPr lang="zh-CN" altLang="en-US" sz="2000" i="1" smtClean="0">
                <a:solidFill>
                  <a:srgbClr val="FF0000"/>
                </a:solidFill>
                <a:latin typeface="Times New Roman" pitchFamily="18" charset="0"/>
                <a:ea typeface="黑体" pitchFamily="2" charset="-122"/>
              </a:rPr>
              <a:t>，</a:t>
            </a:r>
            <a:r>
              <a:rPr lang="en-US" altLang="zh-CN" sz="2000" i="1" smtClean="0">
                <a:solidFill>
                  <a:srgbClr val="FF0000"/>
                </a:solidFill>
                <a:latin typeface="Times New Roman" pitchFamily="18" charset="0"/>
                <a:ea typeface="黑体" pitchFamily="2" charset="-122"/>
              </a:rPr>
              <a:t>s</a:t>
            </a:r>
            <a:r>
              <a:rPr lang="zh-CN" altLang="en-US" sz="2000" smtClean="0">
                <a:solidFill>
                  <a:srgbClr val="FF0000"/>
                </a:solidFill>
                <a:latin typeface="Times New Roman" pitchFamily="18" charset="0"/>
                <a:ea typeface="黑体" pitchFamily="2" charset="-122"/>
              </a:rPr>
              <a:t>），反之则不然。</a:t>
            </a:r>
            <a:r>
              <a:rPr lang="zh-CN" altLang="en-US" sz="2000" smtClean="0">
                <a:latin typeface="Times New Roman" pitchFamily="18" charset="0"/>
                <a:ea typeface="黑体" pitchFamily="2" charset="-122"/>
              </a:rPr>
              <a:t>因此，就成像而言，由光瞳函数即波像差函数可抽取出更多的有关表征像质的信息，但它毕竟还不是直接表征系统成像清晰程度的判据，在这方面，它取代不了</a:t>
            </a:r>
            <a:r>
              <a:rPr lang="en-US" altLang="zh-CN" sz="2000" i="1" smtClean="0">
                <a:latin typeface="Times New Roman" pitchFamily="18" charset="0"/>
                <a:ea typeface="黑体" pitchFamily="2" charset="-122"/>
              </a:rPr>
              <a:t>OTF</a:t>
            </a:r>
            <a:r>
              <a:rPr lang="zh-CN" altLang="en-US" sz="2000" smtClean="0">
                <a:latin typeface="Times New Roman" pitchFamily="18" charset="0"/>
                <a:ea typeface="黑体" pitchFamily="2" charset="-122"/>
              </a:rPr>
              <a:t>。</a:t>
            </a:r>
          </a:p>
        </p:txBody>
      </p:sp>
      <p:sp>
        <p:nvSpPr>
          <p:cNvPr id="73735" name="Rectangle 4"/>
          <p:cNvSpPr>
            <a:spLocks noChangeArrowheads="1"/>
          </p:cNvSpPr>
          <p:nvPr/>
        </p:nvSpPr>
        <p:spPr bwMode="auto">
          <a:xfrm>
            <a:off x="0" y="3281363"/>
            <a:ext cx="9144000" cy="0"/>
          </a:xfrm>
          <a:prstGeom prst="rect">
            <a:avLst/>
          </a:prstGeom>
          <a:noFill/>
          <a:ln w="9525">
            <a:noFill/>
            <a:miter lim="800000"/>
            <a:headEnd/>
            <a:tailEnd/>
          </a:ln>
        </p:spPr>
        <p:txBody>
          <a:bodyPr wrap="none" anchor="ctr">
            <a:spAutoFit/>
          </a:bodyPr>
          <a:lstStyle/>
          <a:p>
            <a:endParaRPr lang="zh-CN" altLang="en-US"/>
          </a:p>
        </p:txBody>
      </p:sp>
      <p:sp>
        <p:nvSpPr>
          <p:cNvPr id="73736" name="Rectangle 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37" name="Rectangle 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3738" name="Rectangle 7"/>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39" name="Rectangle 8"/>
          <p:cNvSpPr>
            <a:spLocks noChangeArrowheads="1"/>
          </p:cNvSpPr>
          <p:nvPr/>
        </p:nvSpPr>
        <p:spPr bwMode="auto">
          <a:xfrm>
            <a:off x="0" y="3167063"/>
            <a:ext cx="9144000" cy="0"/>
          </a:xfrm>
          <a:prstGeom prst="rect">
            <a:avLst/>
          </a:prstGeom>
          <a:noFill/>
          <a:ln w="9525">
            <a:noFill/>
            <a:miter lim="800000"/>
            <a:headEnd/>
            <a:tailEnd/>
          </a:ln>
        </p:spPr>
        <p:txBody>
          <a:bodyPr wrap="none" anchor="ctr">
            <a:spAutoFit/>
          </a:bodyPr>
          <a:lstStyle/>
          <a:p>
            <a:endParaRPr lang="zh-CN" altLang="en-US"/>
          </a:p>
        </p:txBody>
      </p:sp>
      <p:sp>
        <p:nvSpPr>
          <p:cNvPr id="73740" name="Rectangle 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3741" name="Rectangle 1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sp>
        <p:nvSpPr>
          <p:cNvPr id="73742" name="Rectangle 11"/>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43" name="Rectangle 12"/>
          <p:cNvSpPr>
            <a:spLocks noChangeArrowheads="1"/>
          </p:cNvSpPr>
          <p:nvPr/>
        </p:nvSpPr>
        <p:spPr bwMode="auto">
          <a:xfrm>
            <a:off x="0" y="3522663"/>
            <a:ext cx="9144000" cy="0"/>
          </a:xfrm>
          <a:prstGeom prst="rect">
            <a:avLst/>
          </a:prstGeom>
          <a:noFill/>
          <a:ln w="9525">
            <a:noFill/>
            <a:miter lim="800000"/>
            <a:headEnd/>
            <a:tailEnd/>
          </a:ln>
        </p:spPr>
        <p:txBody>
          <a:bodyPr wrap="none" anchor="ctr">
            <a:spAutoFit/>
          </a:bodyPr>
          <a:lstStyle/>
          <a:p>
            <a:endParaRPr lang="zh-CN" altLang="en-US"/>
          </a:p>
        </p:txBody>
      </p:sp>
      <p:sp>
        <p:nvSpPr>
          <p:cNvPr id="73744" name="Rectangle 13"/>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45" name="Rectangle 14"/>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46" name="Rectangle 15"/>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73747" name="Rectangle 16"/>
          <p:cNvSpPr>
            <a:spLocks noChangeArrowheads="1"/>
          </p:cNvSpPr>
          <p:nvPr/>
        </p:nvSpPr>
        <p:spPr bwMode="auto">
          <a:xfrm>
            <a:off x="0" y="2805113"/>
            <a:ext cx="9144000" cy="0"/>
          </a:xfrm>
          <a:prstGeom prst="rect">
            <a:avLst/>
          </a:prstGeom>
          <a:noFill/>
          <a:ln w="9525">
            <a:noFill/>
            <a:miter lim="800000"/>
            <a:headEnd/>
            <a:tailEnd/>
          </a:ln>
        </p:spPr>
        <p:txBody>
          <a:bodyPr wrap="none" anchor="ctr">
            <a:spAutoFit/>
          </a:bodyPr>
          <a:lstStyle/>
          <a:p>
            <a:endParaRPr lang="zh-CN" altLang="en-US"/>
          </a:p>
        </p:txBody>
      </p:sp>
      <p:sp>
        <p:nvSpPr>
          <p:cNvPr id="73748" name="Rectangle 17"/>
          <p:cNvSpPr>
            <a:spLocks noChangeArrowheads="1"/>
          </p:cNvSpPr>
          <p:nvPr/>
        </p:nvSpPr>
        <p:spPr bwMode="auto">
          <a:xfrm>
            <a:off x="479425" y="3911600"/>
            <a:ext cx="9144000" cy="0"/>
          </a:xfrm>
          <a:prstGeom prst="rect">
            <a:avLst/>
          </a:prstGeom>
          <a:noFill/>
          <a:ln w="9525">
            <a:noFill/>
            <a:miter lim="800000"/>
            <a:headEnd/>
            <a:tailEnd/>
          </a:ln>
        </p:spPr>
        <p:txBody>
          <a:bodyPr wrap="none" anchor="ctr">
            <a:spAutoFit/>
          </a:bodyPr>
          <a:lstStyle/>
          <a:p>
            <a:endParaRPr lang="zh-CN" altLang="en-US"/>
          </a:p>
        </p:txBody>
      </p:sp>
      <p:sp>
        <p:nvSpPr>
          <p:cNvPr id="73749" name="Rectangle 18"/>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3750" name="Rectangle 19"/>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3730" name="Object 20"/>
          <p:cNvGraphicFramePr>
            <a:graphicFrameLocks noChangeAspect="1"/>
          </p:cNvGraphicFramePr>
          <p:nvPr/>
        </p:nvGraphicFramePr>
        <p:xfrm>
          <a:off x="1757363" y="3494088"/>
          <a:ext cx="6064250" cy="776287"/>
        </p:xfrm>
        <a:graphic>
          <a:graphicData uri="http://schemas.openxmlformats.org/presentationml/2006/ole">
            <p:oleObj spid="_x0000_s73730" name="公式" r:id="rId3" imgW="85649117" imgH="10973117" progId="Equation.3">
              <p:embed/>
            </p:oleObj>
          </a:graphicData>
        </a:graphic>
      </p:graphicFrame>
      <p:sp>
        <p:nvSpPr>
          <p:cNvPr id="24" name="Rectangle 2"/>
          <p:cNvSpPr>
            <a:spLocks noGrp="1" noRot="1" noChangeArrowheads="1"/>
          </p:cNvSpPr>
          <p:nvPr>
            <p:ph type="title"/>
          </p:nvPr>
        </p:nvSpPr>
        <p:spPr>
          <a:xfrm>
            <a:off x="742950" y="361688"/>
            <a:ext cx="7500938" cy="1139825"/>
          </a:xfrm>
        </p:spPr>
        <p:txBody>
          <a:bodyPr/>
          <a:lstStyle/>
          <a:p>
            <a:pPr eaLnBrk="1" fontAlgn="b" hangingPunct="1">
              <a:defRPr/>
            </a:pPr>
            <a:r>
              <a:rPr lang="en-US" altLang="zh-CN" sz="4000" b="1" dirty="0" smtClean="0">
                <a:solidFill>
                  <a:schemeClr val="tx1"/>
                </a:solidFill>
                <a:effectLst>
                  <a:outerShdw blurRad="38100" dist="38100" dir="2700000" algn="tl">
                    <a:srgbClr val="C0C0C0"/>
                  </a:outerShdw>
                </a:effectLst>
                <a:latin typeface="Times New Roman" pitchFamily="18" charset="0"/>
                <a:ea typeface="黑体" pitchFamily="2" charset="-122"/>
              </a:rPr>
              <a:t>§2-6  </a:t>
            </a:r>
            <a:r>
              <a:rPr lang="zh-CN" altLang="en-US" sz="40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光学传递函数测试技术</a:t>
            </a: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t/>
            </a:r>
            <a:br>
              <a:rPr lang="zh-CN" altLang="en-US" sz="1800" b="1" dirty="0" smtClean="0">
                <a:solidFill>
                  <a:schemeClr val="tx1"/>
                </a:solidFill>
                <a:effectLst>
                  <a:outerShdw blurRad="38100" dist="38100" dir="2700000" algn="tl">
                    <a:srgbClr val="C0C0C0"/>
                  </a:outerShdw>
                </a:effectLst>
                <a:latin typeface="Times New Roman" pitchFamily="18" charset="0"/>
                <a:ea typeface="黑体" pitchFamily="2" charset="-122"/>
              </a:rPr>
            </a:br>
            <a:r>
              <a:rPr lang="en-US" altLang="zh-CN" sz="3200" b="1" dirty="0" smtClean="0">
                <a:solidFill>
                  <a:schemeClr val="tx1"/>
                </a:solidFill>
                <a:effectLst>
                  <a:outerShdw blurRad="38100" dist="38100" dir="2700000" algn="tl">
                    <a:srgbClr val="C0C0C0"/>
                  </a:outerShdw>
                </a:effectLst>
                <a:latin typeface="Times New Roman" pitchFamily="18" charset="0"/>
                <a:ea typeface="黑体" pitchFamily="2" charset="-122"/>
              </a:rPr>
              <a:t>3.</a:t>
            </a:r>
            <a:r>
              <a:rPr lang="zh-CN" altLang="en-US" sz="3200" b="1" dirty="0" smtClean="0">
                <a:solidFill>
                  <a:schemeClr val="tx1"/>
                </a:solidFill>
                <a:effectLst>
                  <a:outerShdw blurRad="38100" dist="38100" dir="2700000" algn="tl">
                    <a:srgbClr val="C0C0C0"/>
                  </a:outerShdw>
                </a:effectLst>
                <a:latin typeface="Times New Roman" pitchFamily="18" charset="0"/>
                <a:ea typeface="黑体" pitchFamily="2" charset="-122"/>
              </a:rPr>
              <a:t>光学传递函数用于像质评价</a:t>
            </a:r>
          </a:p>
        </p:txBody>
      </p:sp>
    </p:spTree>
  </p:cSld>
  <p:clrMapOvr>
    <a:masterClrMapping/>
  </p:clrMapOvr>
  <p:transition spd="slow">
    <p:circle/>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日期占位符 3"/>
          <p:cNvSpPr>
            <a:spLocks noGrp="1"/>
          </p:cNvSpPr>
          <p:nvPr>
            <p:ph type="dt" sz="quarter" idx="10"/>
          </p:nvPr>
        </p:nvSpPr>
        <p:spPr>
          <a:noFill/>
        </p:spPr>
        <p:txBody>
          <a:bodyPr/>
          <a:lstStyle/>
          <a:p>
            <a:fld id="{271DEB08-90C3-4CAC-BF6C-27AEF3858E8B}" type="datetime1">
              <a:rPr lang="zh-CN" altLang="en-US" smtClean="0"/>
              <a:pPr/>
              <a:t>2018/2/24</a:t>
            </a:fld>
            <a:endParaRPr lang="en-US" altLang="zh-CN" smtClean="0"/>
          </a:p>
        </p:txBody>
      </p:sp>
      <p:sp>
        <p:nvSpPr>
          <p:cNvPr id="139267" name="灯片编号占位符 5"/>
          <p:cNvSpPr>
            <a:spLocks noGrp="1"/>
          </p:cNvSpPr>
          <p:nvPr>
            <p:ph type="sldNum" sz="quarter" idx="12"/>
          </p:nvPr>
        </p:nvSpPr>
        <p:spPr>
          <a:noFill/>
        </p:spPr>
        <p:txBody>
          <a:bodyPr/>
          <a:lstStyle/>
          <a:p>
            <a:fld id="{DB1A6E46-84BA-488F-8E09-4C7B5898C1E4}" type="slidenum">
              <a:rPr lang="en-US" altLang="zh-CN" smtClean="0"/>
              <a:pPr/>
              <a:t>105</a:t>
            </a:fld>
            <a:endParaRPr lang="en-US" altLang="zh-CN" smtClean="0"/>
          </a:p>
        </p:txBody>
      </p:sp>
      <p:sp>
        <p:nvSpPr>
          <p:cNvPr id="139268" name="Rectangle 2"/>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139269"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39270" name="Rectangle 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71" name="Rectangle 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72"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73" name="Rectangle 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4" name="Rectangle 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5"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6"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7"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8"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79"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0"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1"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2"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3"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4"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5"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6"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7"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8"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89"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90"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139291" name="Rectangle 25"/>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9292" name="Rectangle 2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93" name="Rectangle 2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39294" name="Rectangle 28"/>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139295" name="Rectangle 29"/>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96" name="Rectangle 3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139297" name="WordArt 31"/>
          <p:cNvSpPr>
            <a:spLocks noChangeArrowheads="1" noChangeShapeType="1" noTextEdit="1"/>
          </p:cNvSpPr>
          <p:nvPr/>
        </p:nvSpPr>
        <p:spPr bwMode="auto">
          <a:xfrm>
            <a:off x="2257425" y="2163763"/>
            <a:ext cx="4443413" cy="2973387"/>
          </a:xfrm>
          <a:prstGeom prst="rect">
            <a:avLst/>
          </a:prstGeom>
        </p:spPr>
        <p:txBody>
          <a:bodyPr wrap="none" fromWordArt="1">
            <a:prstTxWarp prst="textDeflateBottom">
              <a:avLst>
                <a:gd name="adj" fmla="val 100000"/>
              </a:avLst>
            </a:prstTxWarp>
            <a:scene3d>
              <a:camera prst="legacyPerspectiveFront">
                <a:rot lat="19799993" lon="19439992" rev="0"/>
              </a:camera>
              <a:lightRig rig="legacyNormal2" dir="t"/>
            </a:scene3d>
            <a:sp3d extrusionH="354000" prstMaterial="legacyMatte">
              <a:extrusionClr>
                <a:srgbClr val="939676"/>
              </a:extrusionClr>
            </a:sp3d>
          </a:bodyPr>
          <a:lstStyle/>
          <a:p>
            <a:pPr algn="ctr"/>
            <a:r>
              <a:rPr lang="zh-CN" altLang="en-US" sz="3600" kern="10">
                <a:ln w="9525">
                  <a:round/>
                  <a:headEnd/>
                  <a:tailEnd/>
                </a:ln>
                <a:gradFill rotWithShape="1">
                  <a:gsLst>
                    <a:gs pos="0">
                      <a:srgbClr val="707070"/>
                    </a:gs>
                    <a:gs pos="50000">
                      <a:srgbClr val="FFFFFF"/>
                    </a:gs>
                    <a:gs pos="100000">
                      <a:srgbClr val="707070"/>
                    </a:gs>
                  </a:gsLst>
                  <a:lin ang="2700000" scaled="1"/>
                </a:gradFill>
                <a:latin typeface="宋体"/>
                <a:ea typeface="宋体"/>
              </a:rPr>
              <a:t>结束</a:t>
            </a:r>
          </a:p>
        </p:txBody>
      </p:sp>
      <p:sp>
        <p:nvSpPr>
          <p:cNvPr id="139298" name="Rectangle 32">
            <a:hlinkClick r:id="" action="ppaction://hlinkshowjump?jump=endshow"/>
          </p:cNvPr>
          <p:cNvSpPr>
            <a:spLocks noChangeArrowheads="1"/>
          </p:cNvSpPr>
          <p:nvPr/>
        </p:nvSpPr>
        <p:spPr bwMode="auto">
          <a:xfrm>
            <a:off x="0" y="0"/>
            <a:ext cx="9144000" cy="6858000"/>
          </a:xfrm>
          <a:prstGeom prst="rect">
            <a:avLst/>
          </a:prstGeom>
          <a:solidFill>
            <a:schemeClr val="accent1">
              <a:alpha val="0"/>
            </a:schemeClr>
          </a:solidFill>
          <a:ln w="9525">
            <a:solidFill>
              <a:schemeClr val="tx1"/>
            </a:solidFill>
            <a:miter lim="800000"/>
            <a:headEnd/>
            <a:tailEnd/>
          </a:ln>
        </p:spPr>
        <p:txBody>
          <a:bodyPr wrap="none" anchor="ctr"/>
          <a:lstStyle/>
          <a:p>
            <a:endParaRPr lang="zh-CN" altLang="en-US"/>
          </a:p>
        </p:txBody>
      </p:sp>
    </p:spTree>
  </p:cSld>
  <p:clrMapOvr>
    <a:masterClrMapping/>
  </p:clrMapOvr>
  <p:transition spd="slow"/>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60" name="日期占位符 3"/>
          <p:cNvSpPr>
            <a:spLocks noGrp="1"/>
          </p:cNvSpPr>
          <p:nvPr>
            <p:ph type="dt" sz="quarter" idx="10"/>
          </p:nvPr>
        </p:nvSpPr>
        <p:spPr>
          <a:noFill/>
        </p:spPr>
        <p:txBody>
          <a:bodyPr/>
          <a:lstStyle/>
          <a:p>
            <a:fld id="{70061630-5975-4182-A569-3C6635237F91}" type="datetime1">
              <a:rPr lang="zh-CN" altLang="en-US" smtClean="0"/>
              <a:pPr/>
              <a:t>2018/2/24</a:t>
            </a:fld>
            <a:endParaRPr lang="en-US" altLang="zh-CN" smtClean="0"/>
          </a:p>
        </p:txBody>
      </p:sp>
      <p:sp>
        <p:nvSpPr>
          <p:cNvPr id="74761" name="灯片编号占位符 5"/>
          <p:cNvSpPr>
            <a:spLocks noGrp="1"/>
          </p:cNvSpPr>
          <p:nvPr>
            <p:ph type="sldNum" sz="quarter" idx="12"/>
          </p:nvPr>
        </p:nvSpPr>
        <p:spPr>
          <a:noFill/>
        </p:spPr>
        <p:txBody>
          <a:bodyPr/>
          <a:lstStyle/>
          <a:p>
            <a:fld id="{CC641358-CEBE-4051-A242-657358909888}" type="slidenum">
              <a:rPr lang="en-US" altLang="zh-CN" smtClean="0"/>
              <a:pPr/>
              <a:t>106</a:t>
            </a:fld>
            <a:endParaRPr lang="en-US" altLang="zh-CN" smtClean="0"/>
          </a:p>
        </p:txBody>
      </p:sp>
      <p:sp>
        <p:nvSpPr>
          <p:cNvPr id="74762" name="Rectangle 2"/>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4763"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74764" name="Rectangle 4"/>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4765" name="Rectangle 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4766"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4767"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4768" name="Rectangle 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69"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0"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1"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2"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3"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4"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5"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6"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7"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8"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79"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0"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1"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2"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3"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4"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4785"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grpSp>
        <p:nvGrpSpPr>
          <p:cNvPr id="74786" name="Group 26"/>
          <p:cNvGrpSpPr>
            <a:grpSpLocks/>
          </p:cNvGrpSpPr>
          <p:nvPr/>
        </p:nvGrpSpPr>
        <p:grpSpPr bwMode="auto">
          <a:xfrm>
            <a:off x="4071938" y="384175"/>
            <a:ext cx="5072062" cy="6148388"/>
            <a:chOff x="810" y="215"/>
            <a:chExt cx="3195" cy="3873"/>
          </a:xfrm>
        </p:grpSpPr>
        <p:sp>
          <p:nvSpPr>
            <p:cNvPr id="74799" name="Rectangle 27"/>
            <p:cNvSpPr>
              <a:spLocks noChangeArrowheads="1"/>
            </p:cNvSpPr>
            <p:nvPr/>
          </p:nvSpPr>
          <p:spPr bwMode="auto">
            <a:xfrm>
              <a:off x="810" y="215"/>
              <a:ext cx="3195" cy="3484"/>
            </a:xfrm>
            <a:prstGeom prst="rect">
              <a:avLst/>
            </a:prstGeom>
            <a:solidFill>
              <a:schemeClr val="accent1"/>
            </a:solidFill>
            <a:ln w="9525">
              <a:solidFill>
                <a:schemeClr val="tx1"/>
              </a:solidFill>
              <a:miter lim="800000"/>
              <a:headEnd/>
              <a:tailEnd/>
            </a:ln>
          </p:spPr>
          <p:txBody>
            <a:bodyPr wrap="none" anchor="ctr"/>
            <a:lstStyle/>
            <a:p>
              <a:pPr algn="ctr"/>
              <a:endParaRPr lang="zh-CN" altLang="zh-CN">
                <a:latin typeface="Times New Roman" pitchFamily="18" charset="0"/>
                <a:cs typeface="Times New Roman" pitchFamily="18" charset="0"/>
              </a:endParaRPr>
            </a:p>
          </p:txBody>
        </p:sp>
        <p:sp>
          <p:nvSpPr>
            <p:cNvPr id="74800" name="Text Box 28"/>
            <p:cNvSpPr txBox="1">
              <a:spLocks noChangeArrowheads="1"/>
            </p:cNvSpPr>
            <p:nvPr/>
          </p:nvSpPr>
          <p:spPr bwMode="auto">
            <a:xfrm>
              <a:off x="1093" y="3146"/>
              <a:ext cx="2835" cy="942"/>
            </a:xfrm>
            <a:prstGeom prst="rect">
              <a:avLst/>
            </a:prstGeom>
            <a:noFill/>
            <a:ln w="9525">
              <a:noFill/>
              <a:miter lim="800000"/>
              <a:headEnd/>
              <a:tailEnd/>
            </a:ln>
          </p:spPr>
          <p:txBody>
            <a:bodyPr/>
            <a:lstStyle/>
            <a:p>
              <a:pPr algn="ctr"/>
              <a:r>
                <a:rPr lang="en-US" altLang="zh-CN">
                  <a:latin typeface="黑体" pitchFamily="2" charset="-122"/>
                  <a:ea typeface="黑体" pitchFamily="2" charset="-122"/>
                </a:rPr>
                <a:t> </a:t>
              </a:r>
              <a:r>
                <a:rPr lang="zh-CN" altLang="en-US">
                  <a:latin typeface="黑体" pitchFamily="2" charset="-122"/>
                  <a:ea typeface="黑体" pitchFamily="2" charset="-122"/>
                </a:rPr>
                <a:t>轴外点理论分辨率与轴</a:t>
              </a:r>
            </a:p>
            <a:p>
              <a:pPr algn="ctr"/>
              <a:r>
                <a:rPr lang="zh-CN" altLang="en-US">
                  <a:latin typeface="黑体" pitchFamily="2" charset="-122"/>
                  <a:ea typeface="黑体" pitchFamily="2" charset="-122"/>
                </a:rPr>
                <a:t> 上点理论分辨率的关系</a:t>
              </a:r>
              <a:endParaRPr lang="zh-CN" altLang="en-US"/>
            </a:p>
          </p:txBody>
        </p:sp>
        <p:sp>
          <p:nvSpPr>
            <p:cNvPr id="74801" name="Line 29"/>
            <p:cNvSpPr>
              <a:spLocks noChangeShapeType="1"/>
            </p:cNvSpPr>
            <p:nvPr/>
          </p:nvSpPr>
          <p:spPr bwMode="auto">
            <a:xfrm flipV="1">
              <a:off x="929" y="2229"/>
              <a:ext cx="3021" cy="0"/>
            </a:xfrm>
            <a:prstGeom prst="line">
              <a:avLst/>
            </a:prstGeom>
            <a:noFill/>
            <a:ln w="9525">
              <a:solidFill>
                <a:srgbClr val="000000"/>
              </a:solidFill>
              <a:prstDash val="dashDot"/>
              <a:round/>
              <a:headEnd/>
              <a:tailEnd/>
            </a:ln>
          </p:spPr>
          <p:txBody>
            <a:bodyPr/>
            <a:lstStyle/>
            <a:p>
              <a:endParaRPr lang="zh-CN" altLang="en-US"/>
            </a:p>
          </p:txBody>
        </p:sp>
        <p:sp>
          <p:nvSpPr>
            <p:cNvPr id="74802" name="Arc 30"/>
            <p:cNvSpPr>
              <a:spLocks/>
            </p:cNvSpPr>
            <p:nvPr/>
          </p:nvSpPr>
          <p:spPr bwMode="auto">
            <a:xfrm flipH="1">
              <a:off x="1532" y="1601"/>
              <a:ext cx="302" cy="1258"/>
            </a:xfrm>
            <a:custGeom>
              <a:avLst/>
              <a:gdLst>
                <a:gd name="T0" fmla="*/ 0 w 21600"/>
                <a:gd name="T1" fmla="*/ 0 h 40518"/>
                <a:gd name="T2" fmla="*/ 0 w 21600"/>
                <a:gd name="T3" fmla="*/ 0 h 40518"/>
                <a:gd name="T4" fmla="*/ 0 w 21600"/>
                <a:gd name="T5" fmla="*/ 0 h 40518"/>
                <a:gd name="T6" fmla="*/ 0 60000 65536"/>
                <a:gd name="T7" fmla="*/ 0 60000 65536"/>
                <a:gd name="T8" fmla="*/ 0 60000 65536"/>
                <a:gd name="T9" fmla="*/ 0 w 21600"/>
                <a:gd name="T10" fmla="*/ 0 h 40518"/>
                <a:gd name="T11" fmla="*/ 21600 w 21600"/>
                <a:gd name="T12" fmla="*/ 40518 h 40518"/>
              </a:gdLst>
              <a:ahLst/>
              <a:cxnLst>
                <a:cxn ang="T6">
                  <a:pos x="T0" y="T1"/>
                </a:cxn>
                <a:cxn ang="T7">
                  <a:pos x="T2" y="T3"/>
                </a:cxn>
                <a:cxn ang="T8">
                  <a:pos x="T4" y="T5"/>
                </a:cxn>
              </a:cxnLst>
              <a:rect l="T9" t="T10" r="T11" b="T12"/>
              <a:pathLst>
                <a:path w="21600" h="40518" fill="none" extrusionOk="0">
                  <a:moveTo>
                    <a:pt x="7508" y="-1"/>
                  </a:moveTo>
                  <a:cubicBezTo>
                    <a:pt x="15978" y="3139"/>
                    <a:pt x="21600" y="11219"/>
                    <a:pt x="21600" y="20253"/>
                  </a:cubicBezTo>
                  <a:cubicBezTo>
                    <a:pt x="21600" y="29299"/>
                    <a:pt x="15962" y="37387"/>
                    <a:pt x="7475" y="40518"/>
                  </a:cubicBezTo>
                </a:path>
                <a:path w="21600" h="40518" stroke="0" extrusionOk="0">
                  <a:moveTo>
                    <a:pt x="7508" y="-1"/>
                  </a:moveTo>
                  <a:cubicBezTo>
                    <a:pt x="15978" y="3139"/>
                    <a:pt x="21600" y="11219"/>
                    <a:pt x="21600" y="20253"/>
                  </a:cubicBezTo>
                  <a:cubicBezTo>
                    <a:pt x="21600" y="29299"/>
                    <a:pt x="15962" y="37387"/>
                    <a:pt x="7475" y="40518"/>
                  </a:cubicBezTo>
                  <a:lnTo>
                    <a:pt x="0" y="20253"/>
                  </a:lnTo>
                  <a:close/>
                </a:path>
              </a:pathLst>
            </a:custGeom>
            <a:noFill/>
            <a:ln w="9525">
              <a:solidFill>
                <a:srgbClr val="000000"/>
              </a:solidFill>
              <a:round/>
              <a:headEnd/>
              <a:tailEnd/>
            </a:ln>
          </p:spPr>
          <p:txBody>
            <a:bodyPr/>
            <a:lstStyle/>
            <a:p>
              <a:endParaRPr lang="zh-CN" altLang="en-US"/>
            </a:p>
          </p:txBody>
        </p:sp>
        <p:sp>
          <p:nvSpPr>
            <p:cNvPr id="74803" name="Line 31"/>
            <p:cNvSpPr>
              <a:spLocks noChangeShapeType="1"/>
            </p:cNvSpPr>
            <p:nvPr/>
          </p:nvSpPr>
          <p:spPr bwMode="auto">
            <a:xfrm>
              <a:off x="3132" y="1026"/>
              <a:ext cx="0" cy="2031"/>
            </a:xfrm>
            <a:prstGeom prst="line">
              <a:avLst/>
            </a:prstGeom>
            <a:noFill/>
            <a:ln w="6350">
              <a:solidFill>
                <a:srgbClr val="000000"/>
              </a:solidFill>
              <a:round/>
              <a:headEnd/>
              <a:tailEnd/>
            </a:ln>
          </p:spPr>
          <p:txBody>
            <a:bodyPr/>
            <a:lstStyle/>
            <a:p>
              <a:endParaRPr lang="zh-CN" altLang="en-US"/>
            </a:p>
          </p:txBody>
        </p:sp>
        <p:sp>
          <p:nvSpPr>
            <p:cNvPr id="74804" name="Line 32"/>
            <p:cNvSpPr>
              <a:spLocks noChangeShapeType="1"/>
            </p:cNvSpPr>
            <p:nvPr/>
          </p:nvSpPr>
          <p:spPr bwMode="auto">
            <a:xfrm>
              <a:off x="1723" y="1591"/>
              <a:ext cx="1409" cy="638"/>
            </a:xfrm>
            <a:prstGeom prst="line">
              <a:avLst/>
            </a:prstGeom>
            <a:noFill/>
            <a:ln w="9525">
              <a:solidFill>
                <a:srgbClr val="000000"/>
              </a:solidFill>
              <a:round/>
              <a:headEnd/>
              <a:tailEnd/>
            </a:ln>
          </p:spPr>
          <p:txBody>
            <a:bodyPr/>
            <a:lstStyle/>
            <a:p>
              <a:endParaRPr lang="zh-CN" altLang="en-US"/>
            </a:p>
          </p:txBody>
        </p:sp>
        <p:sp>
          <p:nvSpPr>
            <p:cNvPr id="74805" name="Line 33"/>
            <p:cNvSpPr>
              <a:spLocks noChangeShapeType="1"/>
            </p:cNvSpPr>
            <p:nvPr/>
          </p:nvSpPr>
          <p:spPr bwMode="auto">
            <a:xfrm>
              <a:off x="1733" y="1388"/>
              <a:ext cx="0" cy="1683"/>
            </a:xfrm>
            <a:prstGeom prst="line">
              <a:avLst/>
            </a:prstGeom>
            <a:noFill/>
            <a:ln w="6350">
              <a:solidFill>
                <a:srgbClr val="000000"/>
              </a:solidFill>
              <a:round/>
              <a:headEnd/>
              <a:tailEnd/>
            </a:ln>
          </p:spPr>
          <p:txBody>
            <a:bodyPr/>
            <a:lstStyle/>
            <a:p>
              <a:endParaRPr lang="zh-CN" altLang="en-US"/>
            </a:p>
          </p:txBody>
        </p:sp>
        <p:sp>
          <p:nvSpPr>
            <p:cNvPr id="74806" name="Line 34"/>
            <p:cNvSpPr>
              <a:spLocks noChangeShapeType="1"/>
            </p:cNvSpPr>
            <p:nvPr/>
          </p:nvSpPr>
          <p:spPr bwMode="auto">
            <a:xfrm rot="-619223">
              <a:off x="1177" y="1256"/>
              <a:ext cx="900" cy="1656"/>
            </a:xfrm>
            <a:prstGeom prst="line">
              <a:avLst/>
            </a:prstGeom>
            <a:noFill/>
            <a:ln w="6350">
              <a:solidFill>
                <a:srgbClr val="000000"/>
              </a:solidFill>
              <a:round/>
              <a:headEnd/>
              <a:tailEnd/>
            </a:ln>
          </p:spPr>
          <p:txBody>
            <a:bodyPr/>
            <a:lstStyle/>
            <a:p>
              <a:endParaRPr lang="zh-CN" altLang="en-US"/>
            </a:p>
          </p:txBody>
        </p:sp>
        <p:sp>
          <p:nvSpPr>
            <p:cNvPr id="74807" name="Line 35"/>
            <p:cNvSpPr>
              <a:spLocks noChangeShapeType="1"/>
            </p:cNvSpPr>
            <p:nvPr/>
          </p:nvSpPr>
          <p:spPr bwMode="auto">
            <a:xfrm flipV="1">
              <a:off x="1718" y="1229"/>
              <a:ext cx="1414" cy="1014"/>
            </a:xfrm>
            <a:prstGeom prst="line">
              <a:avLst/>
            </a:prstGeom>
            <a:noFill/>
            <a:ln w="28575">
              <a:solidFill>
                <a:srgbClr val="0000FF"/>
              </a:solidFill>
              <a:prstDash val="dashDot"/>
              <a:round/>
              <a:headEnd/>
              <a:tailEnd/>
            </a:ln>
          </p:spPr>
          <p:txBody>
            <a:bodyPr/>
            <a:lstStyle/>
            <a:p>
              <a:endParaRPr lang="zh-CN" altLang="en-US"/>
            </a:p>
          </p:txBody>
        </p:sp>
        <p:sp>
          <p:nvSpPr>
            <p:cNvPr id="74808" name="Line 36"/>
            <p:cNvSpPr>
              <a:spLocks noChangeShapeType="1"/>
            </p:cNvSpPr>
            <p:nvPr/>
          </p:nvSpPr>
          <p:spPr bwMode="auto">
            <a:xfrm flipV="1">
              <a:off x="1321" y="1229"/>
              <a:ext cx="1811" cy="476"/>
            </a:xfrm>
            <a:prstGeom prst="line">
              <a:avLst/>
            </a:prstGeom>
            <a:noFill/>
            <a:ln w="28575">
              <a:solidFill>
                <a:srgbClr val="0000FF"/>
              </a:solidFill>
              <a:round/>
              <a:headEnd/>
              <a:tailEnd/>
            </a:ln>
          </p:spPr>
          <p:txBody>
            <a:bodyPr/>
            <a:lstStyle/>
            <a:p>
              <a:endParaRPr lang="zh-CN" altLang="en-US"/>
            </a:p>
          </p:txBody>
        </p:sp>
        <p:sp>
          <p:nvSpPr>
            <p:cNvPr id="74809" name="Line 37"/>
            <p:cNvSpPr>
              <a:spLocks noChangeShapeType="1"/>
            </p:cNvSpPr>
            <p:nvPr/>
          </p:nvSpPr>
          <p:spPr bwMode="auto">
            <a:xfrm flipV="1">
              <a:off x="1733" y="1229"/>
              <a:ext cx="1399" cy="1640"/>
            </a:xfrm>
            <a:prstGeom prst="line">
              <a:avLst/>
            </a:prstGeom>
            <a:noFill/>
            <a:ln w="28575">
              <a:solidFill>
                <a:srgbClr val="0000FF"/>
              </a:solidFill>
              <a:round/>
              <a:headEnd/>
              <a:tailEnd/>
            </a:ln>
          </p:spPr>
          <p:txBody>
            <a:bodyPr/>
            <a:lstStyle/>
            <a:p>
              <a:endParaRPr lang="zh-CN" altLang="en-US"/>
            </a:p>
          </p:txBody>
        </p:sp>
        <p:sp>
          <p:nvSpPr>
            <p:cNvPr id="74810" name="Line 38"/>
            <p:cNvSpPr>
              <a:spLocks noChangeShapeType="1"/>
            </p:cNvSpPr>
            <p:nvPr/>
          </p:nvSpPr>
          <p:spPr bwMode="auto">
            <a:xfrm flipV="1">
              <a:off x="1450" y="1026"/>
              <a:ext cx="1682" cy="1451"/>
            </a:xfrm>
            <a:prstGeom prst="line">
              <a:avLst/>
            </a:prstGeom>
            <a:noFill/>
            <a:ln w="28575">
              <a:solidFill>
                <a:srgbClr val="0000FF"/>
              </a:solidFill>
              <a:round/>
              <a:headEnd/>
              <a:tailEnd/>
            </a:ln>
          </p:spPr>
          <p:txBody>
            <a:bodyPr/>
            <a:lstStyle/>
            <a:p>
              <a:endParaRPr lang="zh-CN" altLang="en-US"/>
            </a:p>
          </p:txBody>
        </p:sp>
        <p:sp>
          <p:nvSpPr>
            <p:cNvPr id="74811" name="Line 39"/>
            <p:cNvSpPr>
              <a:spLocks noChangeShapeType="1"/>
            </p:cNvSpPr>
            <p:nvPr/>
          </p:nvSpPr>
          <p:spPr bwMode="auto">
            <a:xfrm rot="608055" flipH="1" flipV="1">
              <a:off x="2333" y="449"/>
              <a:ext cx="865" cy="734"/>
            </a:xfrm>
            <a:prstGeom prst="line">
              <a:avLst/>
            </a:prstGeom>
            <a:noFill/>
            <a:ln w="6350">
              <a:solidFill>
                <a:srgbClr val="000000"/>
              </a:solidFill>
              <a:round/>
              <a:headEnd/>
              <a:tailEnd/>
            </a:ln>
          </p:spPr>
          <p:txBody>
            <a:bodyPr/>
            <a:lstStyle/>
            <a:p>
              <a:endParaRPr lang="zh-CN" altLang="en-US"/>
            </a:p>
          </p:txBody>
        </p:sp>
        <p:sp>
          <p:nvSpPr>
            <p:cNvPr id="74812" name="Line 40"/>
            <p:cNvSpPr>
              <a:spLocks noChangeShapeType="1"/>
            </p:cNvSpPr>
            <p:nvPr/>
          </p:nvSpPr>
          <p:spPr bwMode="auto">
            <a:xfrm flipV="1">
              <a:off x="1167" y="531"/>
              <a:ext cx="1369" cy="1002"/>
            </a:xfrm>
            <a:prstGeom prst="line">
              <a:avLst/>
            </a:prstGeom>
            <a:noFill/>
            <a:ln w="6350">
              <a:solidFill>
                <a:srgbClr val="000000"/>
              </a:solidFill>
              <a:round/>
              <a:headEnd type="stealth" w="lg" len="lg"/>
              <a:tailEnd type="stealth" w="lg" len="lg"/>
            </a:ln>
          </p:spPr>
          <p:txBody>
            <a:bodyPr/>
            <a:lstStyle/>
            <a:p>
              <a:endParaRPr lang="zh-CN" altLang="en-US"/>
            </a:p>
          </p:txBody>
        </p:sp>
        <p:sp>
          <p:nvSpPr>
            <p:cNvPr id="74813" name="Text Box 41"/>
            <p:cNvSpPr txBox="1">
              <a:spLocks noChangeArrowheads="1"/>
            </p:cNvSpPr>
            <p:nvPr/>
          </p:nvSpPr>
          <p:spPr bwMode="auto">
            <a:xfrm>
              <a:off x="2731" y="1042"/>
              <a:ext cx="550" cy="434"/>
            </a:xfrm>
            <a:prstGeom prst="rect">
              <a:avLst/>
            </a:prstGeom>
            <a:noFill/>
            <a:ln w="9525">
              <a:noFill/>
              <a:miter lim="800000"/>
              <a:headEnd/>
              <a:tailEnd/>
            </a:ln>
          </p:spPr>
          <p:txBody>
            <a:bodyPr/>
            <a:lstStyle/>
            <a:p>
              <a:pPr algn="just"/>
              <a:r>
                <a:rPr lang="en-US" altLang="zh-CN" i="1">
                  <a:latin typeface="Times New Roman" pitchFamily="18" charset="0"/>
                </a:rPr>
                <a:t>M</a:t>
              </a:r>
              <a:endParaRPr lang="en-US" altLang="zh-CN"/>
            </a:p>
          </p:txBody>
        </p:sp>
        <p:sp>
          <p:nvSpPr>
            <p:cNvPr id="74814" name="Line 42"/>
            <p:cNvSpPr>
              <a:spLocks noChangeShapeType="1"/>
            </p:cNvSpPr>
            <p:nvPr/>
          </p:nvSpPr>
          <p:spPr bwMode="auto">
            <a:xfrm flipV="1">
              <a:off x="2799" y="1059"/>
              <a:ext cx="119" cy="0"/>
            </a:xfrm>
            <a:prstGeom prst="line">
              <a:avLst/>
            </a:prstGeom>
            <a:noFill/>
            <a:ln w="6350">
              <a:solidFill>
                <a:schemeClr val="tx1"/>
              </a:solidFill>
              <a:round/>
              <a:headEnd/>
              <a:tailEnd/>
            </a:ln>
          </p:spPr>
          <p:txBody>
            <a:bodyPr/>
            <a:lstStyle/>
            <a:p>
              <a:endParaRPr lang="zh-CN" altLang="en-US"/>
            </a:p>
          </p:txBody>
        </p:sp>
        <p:sp>
          <p:nvSpPr>
            <p:cNvPr id="74815" name="Text Box 43"/>
            <p:cNvSpPr txBox="1">
              <a:spLocks noChangeArrowheads="1"/>
            </p:cNvSpPr>
            <p:nvPr/>
          </p:nvSpPr>
          <p:spPr bwMode="auto">
            <a:xfrm>
              <a:off x="3107" y="727"/>
              <a:ext cx="550" cy="434"/>
            </a:xfrm>
            <a:prstGeom prst="rect">
              <a:avLst/>
            </a:prstGeom>
            <a:noFill/>
            <a:ln w="9525">
              <a:noFill/>
              <a:miter lim="800000"/>
              <a:headEnd/>
              <a:tailEnd/>
            </a:ln>
          </p:spPr>
          <p:txBody>
            <a:bodyPr/>
            <a:lstStyle/>
            <a:p>
              <a:pPr algn="just"/>
              <a:r>
                <a:rPr lang="en-US" altLang="zh-CN" sz="2400" i="1">
                  <a:latin typeface="宋体" pitchFamily="2" charset="-122"/>
                </a:rPr>
                <a:t>σ</a:t>
              </a:r>
              <a:r>
                <a:rPr lang="en-US" altLang="zh-CN" sz="2400" baseline="-25000">
                  <a:latin typeface="Times New Roman" pitchFamily="18" charset="0"/>
                </a:rPr>
                <a:t>t</a:t>
              </a:r>
              <a:endParaRPr lang="en-US" altLang="zh-CN" sz="2400"/>
            </a:p>
          </p:txBody>
        </p:sp>
        <p:sp>
          <p:nvSpPr>
            <p:cNvPr id="74816" name="Line 44"/>
            <p:cNvSpPr>
              <a:spLocks noChangeShapeType="1"/>
            </p:cNvSpPr>
            <p:nvPr/>
          </p:nvSpPr>
          <p:spPr bwMode="auto">
            <a:xfrm flipV="1">
              <a:off x="3230" y="813"/>
              <a:ext cx="119" cy="0"/>
            </a:xfrm>
            <a:prstGeom prst="line">
              <a:avLst/>
            </a:prstGeom>
            <a:noFill/>
            <a:ln w="6350">
              <a:solidFill>
                <a:schemeClr val="tx1"/>
              </a:solidFill>
              <a:round/>
              <a:headEnd/>
              <a:tailEnd/>
            </a:ln>
          </p:spPr>
          <p:txBody>
            <a:bodyPr/>
            <a:lstStyle/>
            <a:p>
              <a:endParaRPr lang="zh-CN" altLang="en-US"/>
            </a:p>
          </p:txBody>
        </p:sp>
        <p:sp>
          <p:nvSpPr>
            <p:cNvPr id="74817" name="Text Box 45"/>
            <p:cNvSpPr txBox="1">
              <a:spLocks noChangeArrowheads="1"/>
            </p:cNvSpPr>
            <p:nvPr/>
          </p:nvSpPr>
          <p:spPr bwMode="auto">
            <a:xfrm>
              <a:off x="3147" y="1194"/>
              <a:ext cx="551" cy="435"/>
            </a:xfrm>
            <a:prstGeom prst="rect">
              <a:avLst/>
            </a:prstGeom>
            <a:noFill/>
            <a:ln w="9525">
              <a:noFill/>
              <a:miter lim="800000"/>
              <a:headEnd/>
              <a:tailEnd/>
            </a:ln>
          </p:spPr>
          <p:txBody>
            <a:bodyPr/>
            <a:lstStyle/>
            <a:p>
              <a:pPr algn="just"/>
              <a:r>
                <a:rPr lang="en-US" altLang="zh-CN" i="1">
                  <a:latin typeface="Times New Roman" pitchFamily="18" charset="0"/>
                </a:rPr>
                <a:t>C</a:t>
              </a:r>
              <a:endParaRPr lang="en-US" altLang="zh-CN"/>
            </a:p>
          </p:txBody>
        </p:sp>
        <p:sp>
          <p:nvSpPr>
            <p:cNvPr id="74818" name="Line 46"/>
            <p:cNvSpPr>
              <a:spLocks noChangeShapeType="1"/>
            </p:cNvSpPr>
            <p:nvPr/>
          </p:nvSpPr>
          <p:spPr bwMode="auto">
            <a:xfrm flipV="1">
              <a:off x="3206" y="1229"/>
              <a:ext cx="119" cy="0"/>
            </a:xfrm>
            <a:prstGeom prst="line">
              <a:avLst/>
            </a:prstGeom>
            <a:noFill/>
            <a:ln w="6350">
              <a:solidFill>
                <a:schemeClr val="tx1"/>
              </a:solidFill>
              <a:round/>
              <a:headEnd/>
              <a:tailEnd/>
            </a:ln>
          </p:spPr>
          <p:txBody>
            <a:bodyPr/>
            <a:lstStyle/>
            <a:p>
              <a:endParaRPr lang="zh-CN" altLang="en-US"/>
            </a:p>
          </p:txBody>
        </p:sp>
        <p:sp>
          <p:nvSpPr>
            <p:cNvPr id="74819" name="Text Box 47"/>
            <p:cNvSpPr txBox="1">
              <a:spLocks noChangeArrowheads="1"/>
            </p:cNvSpPr>
            <p:nvPr/>
          </p:nvSpPr>
          <p:spPr bwMode="auto">
            <a:xfrm>
              <a:off x="1094" y="1665"/>
              <a:ext cx="551" cy="435"/>
            </a:xfrm>
            <a:prstGeom prst="rect">
              <a:avLst/>
            </a:prstGeom>
            <a:noFill/>
            <a:ln w="9525">
              <a:noFill/>
              <a:miter lim="800000"/>
              <a:headEnd/>
              <a:tailEnd/>
            </a:ln>
          </p:spPr>
          <p:txBody>
            <a:bodyPr/>
            <a:lstStyle/>
            <a:p>
              <a:pPr algn="just"/>
              <a:r>
                <a:rPr lang="en-US" altLang="zh-CN" i="1">
                  <a:latin typeface="Times New Roman" pitchFamily="18" charset="0"/>
                </a:rPr>
                <a:t>P</a:t>
              </a:r>
              <a:endParaRPr lang="en-US" altLang="zh-CN"/>
            </a:p>
          </p:txBody>
        </p:sp>
        <p:sp>
          <p:nvSpPr>
            <p:cNvPr id="74820" name="Line 48"/>
            <p:cNvSpPr>
              <a:spLocks noChangeShapeType="1"/>
            </p:cNvSpPr>
            <p:nvPr/>
          </p:nvSpPr>
          <p:spPr bwMode="auto">
            <a:xfrm flipV="1">
              <a:off x="1138" y="1682"/>
              <a:ext cx="119" cy="0"/>
            </a:xfrm>
            <a:prstGeom prst="line">
              <a:avLst/>
            </a:prstGeom>
            <a:noFill/>
            <a:ln w="6350">
              <a:solidFill>
                <a:schemeClr val="tx1"/>
              </a:solidFill>
              <a:round/>
              <a:headEnd/>
              <a:tailEnd/>
            </a:ln>
          </p:spPr>
          <p:txBody>
            <a:bodyPr/>
            <a:lstStyle/>
            <a:p>
              <a:endParaRPr lang="zh-CN" altLang="en-US"/>
            </a:p>
          </p:txBody>
        </p:sp>
        <p:sp>
          <p:nvSpPr>
            <p:cNvPr id="74821" name="Text Box 49"/>
            <p:cNvSpPr txBox="1">
              <a:spLocks noChangeArrowheads="1"/>
            </p:cNvSpPr>
            <p:nvPr/>
          </p:nvSpPr>
          <p:spPr bwMode="auto">
            <a:xfrm>
              <a:off x="2048" y="2471"/>
              <a:ext cx="551" cy="435"/>
            </a:xfrm>
            <a:prstGeom prst="rect">
              <a:avLst/>
            </a:prstGeom>
            <a:noFill/>
            <a:ln w="9525">
              <a:noFill/>
              <a:miter lim="800000"/>
              <a:headEnd/>
              <a:tailEnd/>
            </a:ln>
          </p:spPr>
          <p:txBody>
            <a:bodyPr/>
            <a:lstStyle/>
            <a:p>
              <a:pPr algn="just"/>
              <a:r>
                <a:rPr lang="en-US" altLang="zh-CN" i="1">
                  <a:latin typeface="Times New Roman" pitchFamily="18" charset="0"/>
                </a:rPr>
                <a:t>P</a:t>
              </a:r>
              <a:endParaRPr lang="en-US" altLang="zh-CN"/>
            </a:p>
          </p:txBody>
        </p:sp>
        <p:sp>
          <p:nvSpPr>
            <p:cNvPr id="74822" name="Line 50"/>
            <p:cNvSpPr>
              <a:spLocks noChangeShapeType="1"/>
            </p:cNvSpPr>
            <p:nvPr/>
          </p:nvSpPr>
          <p:spPr bwMode="auto">
            <a:xfrm flipV="1">
              <a:off x="2119" y="2506"/>
              <a:ext cx="119" cy="0"/>
            </a:xfrm>
            <a:prstGeom prst="line">
              <a:avLst/>
            </a:prstGeom>
            <a:noFill/>
            <a:ln w="6350">
              <a:solidFill>
                <a:schemeClr val="tx1"/>
              </a:solidFill>
              <a:round/>
              <a:headEnd/>
              <a:tailEnd/>
            </a:ln>
          </p:spPr>
          <p:txBody>
            <a:bodyPr/>
            <a:lstStyle/>
            <a:p>
              <a:endParaRPr lang="zh-CN" altLang="en-US"/>
            </a:p>
          </p:txBody>
        </p:sp>
        <p:sp>
          <p:nvSpPr>
            <p:cNvPr id="74823" name="Freeform 51"/>
            <p:cNvSpPr>
              <a:spLocks/>
            </p:cNvSpPr>
            <p:nvPr/>
          </p:nvSpPr>
          <p:spPr bwMode="auto">
            <a:xfrm>
              <a:off x="2000" y="2055"/>
              <a:ext cx="60" cy="174"/>
            </a:xfrm>
            <a:custGeom>
              <a:avLst/>
              <a:gdLst>
                <a:gd name="T0" fmla="*/ 0 w 60"/>
                <a:gd name="T1" fmla="*/ 0 h 180"/>
                <a:gd name="T2" fmla="*/ 46 w 60"/>
                <a:gd name="T3" fmla="*/ 71 h 180"/>
                <a:gd name="T4" fmla="*/ 60 w 60"/>
                <a:gd name="T5" fmla="*/ 162 h 180"/>
                <a:gd name="T6" fmla="*/ 0 60000 65536"/>
                <a:gd name="T7" fmla="*/ 0 60000 65536"/>
                <a:gd name="T8" fmla="*/ 0 60000 65536"/>
                <a:gd name="T9" fmla="*/ 0 w 60"/>
                <a:gd name="T10" fmla="*/ 0 h 180"/>
                <a:gd name="T11" fmla="*/ 60 w 60"/>
                <a:gd name="T12" fmla="*/ 180 h 180"/>
              </a:gdLst>
              <a:ahLst/>
              <a:cxnLst>
                <a:cxn ang="T6">
                  <a:pos x="T0" y="T1"/>
                </a:cxn>
                <a:cxn ang="T7">
                  <a:pos x="T2" y="T3"/>
                </a:cxn>
                <a:cxn ang="T8">
                  <a:pos x="T4" y="T5"/>
                </a:cxn>
              </a:cxnLst>
              <a:rect l="T9" t="T10" r="T11" b="T12"/>
              <a:pathLst>
                <a:path w="60" h="180">
                  <a:moveTo>
                    <a:pt x="0" y="0"/>
                  </a:moveTo>
                  <a:cubicBezTo>
                    <a:pt x="8" y="13"/>
                    <a:pt x="36" y="48"/>
                    <a:pt x="46" y="78"/>
                  </a:cubicBezTo>
                  <a:cubicBezTo>
                    <a:pt x="56" y="108"/>
                    <a:pt x="57" y="159"/>
                    <a:pt x="60" y="180"/>
                  </a:cubicBezTo>
                </a:path>
              </a:pathLst>
            </a:custGeom>
            <a:noFill/>
            <a:ln w="9525">
              <a:solidFill>
                <a:srgbClr val="000000"/>
              </a:solidFill>
              <a:round/>
              <a:headEnd/>
              <a:tailEnd/>
            </a:ln>
          </p:spPr>
          <p:txBody>
            <a:bodyPr/>
            <a:lstStyle/>
            <a:p>
              <a:endParaRPr lang="zh-CN" altLang="en-US"/>
            </a:p>
          </p:txBody>
        </p:sp>
        <p:sp>
          <p:nvSpPr>
            <p:cNvPr id="74824" name="Text Box 52"/>
            <p:cNvSpPr txBox="1">
              <a:spLocks noChangeArrowheads="1"/>
            </p:cNvSpPr>
            <p:nvPr/>
          </p:nvSpPr>
          <p:spPr bwMode="auto">
            <a:xfrm>
              <a:off x="1956" y="1943"/>
              <a:ext cx="551" cy="434"/>
            </a:xfrm>
            <a:prstGeom prst="rect">
              <a:avLst/>
            </a:prstGeom>
            <a:noFill/>
            <a:ln w="9525">
              <a:noFill/>
              <a:miter lim="800000"/>
              <a:headEnd/>
              <a:tailEnd/>
            </a:ln>
          </p:spPr>
          <p:txBody>
            <a:bodyPr/>
            <a:lstStyle/>
            <a:p>
              <a:pPr algn="just"/>
              <a:r>
                <a:rPr lang="en-US" altLang="zh-CN" sz="2400" i="1">
                  <a:latin typeface="宋体" pitchFamily="2" charset="-122"/>
                </a:rPr>
                <a:t>ω</a:t>
              </a:r>
              <a:endParaRPr lang="en-US" altLang="zh-CN" sz="2400"/>
            </a:p>
          </p:txBody>
        </p:sp>
        <p:sp>
          <p:nvSpPr>
            <p:cNvPr id="74825" name="Freeform 53"/>
            <p:cNvSpPr>
              <a:spLocks/>
            </p:cNvSpPr>
            <p:nvPr/>
          </p:nvSpPr>
          <p:spPr bwMode="auto">
            <a:xfrm>
              <a:off x="2581" y="1388"/>
              <a:ext cx="104" cy="160"/>
            </a:xfrm>
            <a:custGeom>
              <a:avLst/>
              <a:gdLst>
                <a:gd name="T0" fmla="*/ 15 w 105"/>
                <a:gd name="T1" fmla="*/ 0 h 165"/>
                <a:gd name="T2" fmla="*/ 15 w 105"/>
                <a:gd name="T3" fmla="*/ 81 h 165"/>
                <a:gd name="T4" fmla="*/ 102 w 105"/>
                <a:gd name="T5" fmla="*/ 150 h 165"/>
                <a:gd name="T6" fmla="*/ 0 60000 65536"/>
                <a:gd name="T7" fmla="*/ 0 60000 65536"/>
                <a:gd name="T8" fmla="*/ 0 60000 65536"/>
                <a:gd name="T9" fmla="*/ 0 w 105"/>
                <a:gd name="T10" fmla="*/ 0 h 165"/>
                <a:gd name="T11" fmla="*/ 105 w 105"/>
                <a:gd name="T12" fmla="*/ 165 h 165"/>
              </a:gdLst>
              <a:ahLst/>
              <a:cxnLst>
                <a:cxn ang="T6">
                  <a:pos x="T0" y="T1"/>
                </a:cxn>
                <a:cxn ang="T7">
                  <a:pos x="T2" y="T3"/>
                </a:cxn>
                <a:cxn ang="T8">
                  <a:pos x="T4" y="T5"/>
                </a:cxn>
              </a:cxnLst>
              <a:rect l="T9" t="T10" r="T11" b="T12"/>
              <a:pathLst>
                <a:path w="105" h="165">
                  <a:moveTo>
                    <a:pt x="15" y="0"/>
                  </a:moveTo>
                  <a:cubicBezTo>
                    <a:pt x="7" y="31"/>
                    <a:pt x="0" y="63"/>
                    <a:pt x="15" y="90"/>
                  </a:cubicBezTo>
                  <a:cubicBezTo>
                    <a:pt x="30" y="117"/>
                    <a:pt x="67" y="141"/>
                    <a:pt x="105" y="165"/>
                  </a:cubicBezTo>
                </a:path>
              </a:pathLst>
            </a:custGeom>
            <a:noFill/>
            <a:ln w="6350">
              <a:solidFill>
                <a:srgbClr val="000000"/>
              </a:solidFill>
              <a:round/>
              <a:headEnd/>
              <a:tailEnd/>
            </a:ln>
          </p:spPr>
          <p:txBody>
            <a:bodyPr/>
            <a:lstStyle/>
            <a:p>
              <a:endParaRPr lang="zh-CN" altLang="en-US"/>
            </a:p>
          </p:txBody>
        </p:sp>
        <p:sp>
          <p:nvSpPr>
            <p:cNvPr id="74826" name="Text Box 54"/>
            <p:cNvSpPr txBox="1">
              <a:spLocks noChangeArrowheads="1"/>
            </p:cNvSpPr>
            <p:nvPr/>
          </p:nvSpPr>
          <p:spPr bwMode="auto">
            <a:xfrm>
              <a:off x="2147" y="1345"/>
              <a:ext cx="464" cy="391"/>
            </a:xfrm>
            <a:prstGeom prst="rect">
              <a:avLst/>
            </a:prstGeom>
            <a:noFill/>
            <a:ln w="9525">
              <a:noFill/>
              <a:miter lim="800000"/>
              <a:headEnd/>
              <a:tailEnd/>
            </a:ln>
          </p:spPr>
          <p:txBody>
            <a:bodyPr/>
            <a:lstStyle/>
            <a:p>
              <a:endParaRPr lang="zh-CN" altLang="zh-CN"/>
            </a:p>
          </p:txBody>
        </p:sp>
        <p:sp>
          <p:nvSpPr>
            <p:cNvPr id="74827" name="Line 55"/>
            <p:cNvSpPr>
              <a:spLocks noChangeShapeType="1"/>
            </p:cNvSpPr>
            <p:nvPr/>
          </p:nvSpPr>
          <p:spPr bwMode="auto">
            <a:xfrm>
              <a:off x="3027" y="1113"/>
              <a:ext cx="105" cy="130"/>
            </a:xfrm>
            <a:prstGeom prst="line">
              <a:avLst/>
            </a:prstGeom>
            <a:noFill/>
            <a:ln w="28575">
              <a:solidFill>
                <a:srgbClr val="000000"/>
              </a:solidFill>
              <a:round/>
              <a:headEnd/>
              <a:tailEnd/>
            </a:ln>
          </p:spPr>
          <p:txBody>
            <a:bodyPr/>
            <a:lstStyle/>
            <a:p>
              <a:endParaRPr lang="zh-CN" altLang="en-US"/>
            </a:p>
          </p:txBody>
        </p:sp>
        <p:sp>
          <p:nvSpPr>
            <p:cNvPr id="74828" name="Line 56"/>
            <p:cNvSpPr>
              <a:spLocks noChangeShapeType="1"/>
            </p:cNvSpPr>
            <p:nvPr/>
          </p:nvSpPr>
          <p:spPr bwMode="auto">
            <a:xfrm>
              <a:off x="3132" y="2098"/>
              <a:ext cx="0" cy="131"/>
            </a:xfrm>
            <a:prstGeom prst="line">
              <a:avLst/>
            </a:prstGeom>
            <a:noFill/>
            <a:ln w="28575">
              <a:solidFill>
                <a:srgbClr val="FF0000"/>
              </a:solidFill>
              <a:round/>
              <a:headEnd/>
              <a:tailEnd/>
            </a:ln>
          </p:spPr>
          <p:txBody>
            <a:bodyPr/>
            <a:lstStyle/>
            <a:p>
              <a:endParaRPr lang="zh-CN" altLang="en-US"/>
            </a:p>
          </p:txBody>
        </p:sp>
        <p:sp>
          <p:nvSpPr>
            <p:cNvPr id="74829" name="Text Box 57"/>
            <p:cNvSpPr txBox="1">
              <a:spLocks noChangeArrowheads="1"/>
            </p:cNvSpPr>
            <p:nvPr/>
          </p:nvSpPr>
          <p:spPr bwMode="auto">
            <a:xfrm>
              <a:off x="3141" y="1969"/>
              <a:ext cx="625" cy="495"/>
            </a:xfrm>
            <a:prstGeom prst="rect">
              <a:avLst/>
            </a:prstGeom>
            <a:noFill/>
            <a:ln w="9525">
              <a:noFill/>
              <a:miter lim="800000"/>
              <a:headEnd/>
              <a:tailEnd/>
            </a:ln>
          </p:spPr>
          <p:txBody>
            <a:bodyPr/>
            <a:lstStyle/>
            <a:p>
              <a:pPr algn="just"/>
              <a:r>
                <a:rPr lang="en-US" altLang="zh-CN" i="1">
                  <a:latin typeface="Times New Roman" pitchFamily="18" charset="0"/>
                </a:rPr>
                <a:t>M</a:t>
              </a:r>
              <a:endParaRPr lang="en-US" altLang="zh-CN"/>
            </a:p>
          </p:txBody>
        </p:sp>
        <p:sp>
          <p:nvSpPr>
            <p:cNvPr id="74830" name="Text Box 58"/>
            <p:cNvSpPr txBox="1">
              <a:spLocks noChangeArrowheads="1"/>
            </p:cNvSpPr>
            <p:nvPr/>
          </p:nvSpPr>
          <p:spPr bwMode="auto">
            <a:xfrm>
              <a:off x="3141" y="2217"/>
              <a:ext cx="625" cy="495"/>
            </a:xfrm>
            <a:prstGeom prst="rect">
              <a:avLst/>
            </a:prstGeom>
            <a:noFill/>
            <a:ln w="9525">
              <a:noFill/>
              <a:miter lim="800000"/>
              <a:headEnd/>
              <a:tailEnd/>
            </a:ln>
          </p:spPr>
          <p:txBody>
            <a:bodyPr/>
            <a:lstStyle/>
            <a:p>
              <a:pPr algn="just"/>
              <a:r>
                <a:rPr lang="en-US" altLang="zh-CN" i="1">
                  <a:latin typeface="Times New Roman" pitchFamily="18" charset="0"/>
                </a:rPr>
                <a:t>C</a:t>
              </a:r>
              <a:endParaRPr lang="en-US" altLang="zh-CN"/>
            </a:p>
          </p:txBody>
        </p:sp>
        <p:sp>
          <p:nvSpPr>
            <p:cNvPr id="74831" name="Line 59"/>
            <p:cNvSpPr>
              <a:spLocks noChangeShapeType="1"/>
            </p:cNvSpPr>
            <p:nvPr/>
          </p:nvSpPr>
          <p:spPr bwMode="auto">
            <a:xfrm flipV="1">
              <a:off x="3102" y="1070"/>
              <a:ext cx="402" cy="115"/>
            </a:xfrm>
            <a:prstGeom prst="line">
              <a:avLst/>
            </a:prstGeom>
            <a:noFill/>
            <a:ln w="6350">
              <a:solidFill>
                <a:srgbClr val="000000"/>
              </a:solidFill>
              <a:round/>
              <a:headEnd/>
              <a:tailEnd/>
            </a:ln>
          </p:spPr>
          <p:txBody>
            <a:bodyPr/>
            <a:lstStyle/>
            <a:p>
              <a:endParaRPr lang="zh-CN" altLang="en-US"/>
            </a:p>
          </p:txBody>
        </p:sp>
        <p:sp>
          <p:nvSpPr>
            <p:cNvPr id="74832" name="Text Box 60"/>
            <p:cNvSpPr txBox="1">
              <a:spLocks noChangeArrowheads="1"/>
            </p:cNvSpPr>
            <p:nvPr/>
          </p:nvSpPr>
          <p:spPr bwMode="auto">
            <a:xfrm>
              <a:off x="2768" y="1825"/>
              <a:ext cx="536" cy="420"/>
            </a:xfrm>
            <a:prstGeom prst="rect">
              <a:avLst/>
            </a:prstGeom>
            <a:noFill/>
            <a:ln w="9525">
              <a:noFill/>
              <a:miter lim="800000"/>
              <a:headEnd/>
              <a:tailEnd/>
            </a:ln>
          </p:spPr>
          <p:txBody>
            <a:bodyPr/>
            <a:lstStyle/>
            <a:p>
              <a:pPr algn="just"/>
              <a:r>
                <a:rPr lang="en-US" altLang="zh-CN" sz="2400" i="1">
                  <a:latin typeface="宋体" pitchFamily="2" charset="-122"/>
                </a:rPr>
                <a:t>σ</a:t>
              </a:r>
              <a:endParaRPr lang="en-US" altLang="zh-CN" sz="2400"/>
            </a:p>
          </p:txBody>
        </p:sp>
        <p:sp>
          <p:nvSpPr>
            <p:cNvPr id="74833" name="Line 61"/>
            <p:cNvSpPr>
              <a:spLocks noChangeShapeType="1"/>
            </p:cNvSpPr>
            <p:nvPr/>
          </p:nvSpPr>
          <p:spPr bwMode="auto">
            <a:xfrm flipH="1" flipV="1">
              <a:off x="2998" y="2026"/>
              <a:ext cx="134" cy="130"/>
            </a:xfrm>
            <a:prstGeom prst="line">
              <a:avLst/>
            </a:prstGeom>
            <a:noFill/>
            <a:ln w="6350">
              <a:solidFill>
                <a:srgbClr val="000000"/>
              </a:solidFill>
              <a:round/>
              <a:headEnd/>
              <a:tailEnd/>
            </a:ln>
          </p:spPr>
          <p:txBody>
            <a:bodyPr/>
            <a:lstStyle/>
            <a:p>
              <a:endParaRPr lang="zh-CN" altLang="en-US"/>
            </a:p>
          </p:txBody>
        </p:sp>
        <p:sp>
          <p:nvSpPr>
            <p:cNvPr id="74834" name="Text Box 62"/>
            <p:cNvSpPr txBox="1">
              <a:spLocks noChangeArrowheads="1"/>
            </p:cNvSpPr>
            <p:nvPr/>
          </p:nvSpPr>
          <p:spPr bwMode="auto">
            <a:xfrm>
              <a:off x="3372" y="847"/>
              <a:ext cx="536" cy="421"/>
            </a:xfrm>
            <a:prstGeom prst="rect">
              <a:avLst/>
            </a:prstGeom>
            <a:noFill/>
            <a:ln w="9525">
              <a:noFill/>
              <a:miter lim="800000"/>
              <a:headEnd/>
              <a:tailEnd/>
            </a:ln>
          </p:spPr>
          <p:txBody>
            <a:bodyPr/>
            <a:lstStyle/>
            <a:p>
              <a:pPr algn="just"/>
              <a:r>
                <a:rPr lang="en-US" altLang="zh-CN" sz="2400" i="1">
                  <a:latin typeface="宋体" pitchFamily="2" charset="-122"/>
                </a:rPr>
                <a:t>σ</a:t>
              </a:r>
              <a:endParaRPr lang="en-US" altLang="zh-CN" sz="2400"/>
            </a:p>
          </p:txBody>
        </p:sp>
        <p:sp>
          <p:nvSpPr>
            <p:cNvPr id="74835" name="Line 63"/>
            <p:cNvSpPr>
              <a:spLocks noChangeShapeType="1"/>
            </p:cNvSpPr>
            <p:nvPr/>
          </p:nvSpPr>
          <p:spPr bwMode="auto">
            <a:xfrm>
              <a:off x="3508" y="939"/>
              <a:ext cx="89" cy="0"/>
            </a:xfrm>
            <a:prstGeom prst="line">
              <a:avLst/>
            </a:prstGeom>
            <a:noFill/>
            <a:ln w="6350">
              <a:solidFill>
                <a:schemeClr val="tx1"/>
              </a:solidFill>
              <a:round/>
              <a:headEnd/>
              <a:tailEnd/>
            </a:ln>
          </p:spPr>
          <p:txBody>
            <a:bodyPr/>
            <a:lstStyle/>
            <a:p>
              <a:endParaRPr lang="zh-CN" altLang="en-US"/>
            </a:p>
          </p:txBody>
        </p:sp>
        <p:sp>
          <p:nvSpPr>
            <p:cNvPr id="74836" name="Text Box 64"/>
            <p:cNvSpPr txBox="1">
              <a:spLocks noChangeArrowheads="1"/>
            </p:cNvSpPr>
            <p:nvPr/>
          </p:nvSpPr>
          <p:spPr bwMode="auto">
            <a:xfrm>
              <a:off x="1690" y="1953"/>
              <a:ext cx="535" cy="420"/>
            </a:xfrm>
            <a:prstGeom prst="rect">
              <a:avLst/>
            </a:prstGeom>
            <a:noFill/>
            <a:ln w="9525">
              <a:noFill/>
              <a:miter lim="800000"/>
              <a:headEnd/>
              <a:tailEnd/>
            </a:ln>
          </p:spPr>
          <p:txBody>
            <a:bodyPr/>
            <a:lstStyle/>
            <a:p>
              <a:pPr algn="just"/>
              <a:r>
                <a:rPr lang="en-US" altLang="zh-CN" i="1">
                  <a:latin typeface="Times New Roman" pitchFamily="18" charset="0"/>
                </a:rPr>
                <a:t>O</a:t>
              </a:r>
              <a:endParaRPr lang="en-US" altLang="zh-CN">
                <a:latin typeface="Times New Roman" pitchFamily="18" charset="0"/>
              </a:endParaRPr>
            </a:p>
          </p:txBody>
        </p:sp>
        <p:sp>
          <p:nvSpPr>
            <p:cNvPr id="74837" name="Freeform 65"/>
            <p:cNvSpPr>
              <a:spLocks/>
            </p:cNvSpPr>
            <p:nvPr/>
          </p:nvSpPr>
          <p:spPr bwMode="auto">
            <a:xfrm>
              <a:off x="2757" y="2084"/>
              <a:ext cx="37" cy="140"/>
            </a:xfrm>
            <a:custGeom>
              <a:avLst/>
              <a:gdLst>
                <a:gd name="T0" fmla="*/ 39 w 36"/>
                <a:gd name="T1" fmla="*/ 0 h 144"/>
                <a:gd name="T2" fmla="*/ 6 w 36"/>
                <a:gd name="T3" fmla="*/ 54 h 144"/>
                <a:gd name="T4" fmla="*/ 3 w 36"/>
                <a:gd name="T5" fmla="*/ 132 h 144"/>
                <a:gd name="T6" fmla="*/ 0 60000 65536"/>
                <a:gd name="T7" fmla="*/ 0 60000 65536"/>
                <a:gd name="T8" fmla="*/ 0 60000 65536"/>
                <a:gd name="T9" fmla="*/ 0 w 36"/>
                <a:gd name="T10" fmla="*/ 0 h 144"/>
                <a:gd name="T11" fmla="*/ 36 w 36"/>
                <a:gd name="T12" fmla="*/ 144 h 144"/>
              </a:gdLst>
              <a:ahLst/>
              <a:cxnLst>
                <a:cxn ang="T6">
                  <a:pos x="T0" y="T1"/>
                </a:cxn>
                <a:cxn ang="T7">
                  <a:pos x="T2" y="T3"/>
                </a:cxn>
                <a:cxn ang="T8">
                  <a:pos x="T4" y="T5"/>
                </a:cxn>
              </a:cxnLst>
              <a:rect l="T9" t="T10" r="T11" b="T12"/>
              <a:pathLst>
                <a:path w="36" h="144">
                  <a:moveTo>
                    <a:pt x="36" y="0"/>
                  </a:moveTo>
                  <a:cubicBezTo>
                    <a:pt x="31" y="10"/>
                    <a:pt x="12" y="36"/>
                    <a:pt x="6" y="60"/>
                  </a:cubicBezTo>
                  <a:cubicBezTo>
                    <a:pt x="0" y="84"/>
                    <a:pt x="4" y="127"/>
                    <a:pt x="3" y="144"/>
                  </a:cubicBezTo>
                </a:path>
              </a:pathLst>
            </a:custGeom>
            <a:noFill/>
            <a:ln w="6350">
              <a:solidFill>
                <a:srgbClr val="000000"/>
              </a:solidFill>
              <a:round/>
              <a:headEnd/>
              <a:tailEnd/>
            </a:ln>
          </p:spPr>
          <p:txBody>
            <a:bodyPr/>
            <a:lstStyle/>
            <a:p>
              <a:endParaRPr lang="zh-CN" altLang="en-US"/>
            </a:p>
          </p:txBody>
        </p:sp>
        <p:sp>
          <p:nvSpPr>
            <p:cNvPr id="74838" name="Text Box 66"/>
            <p:cNvSpPr txBox="1">
              <a:spLocks noChangeArrowheads="1"/>
            </p:cNvSpPr>
            <p:nvPr/>
          </p:nvSpPr>
          <p:spPr bwMode="auto">
            <a:xfrm>
              <a:off x="2561" y="2014"/>
              <a:ext cx="467" cy="331"/>
            </a:xfrm>
            <a:prstGeom prst="rect">
              <a:avLst/>
            </a:prstGeom>
            <a:noFill/>
            <a:ln w="9525">
              <a:noFill/>
              <a:miter lim="800000"/>
              <a:headEnd/>
              <a:tailEnd/>
            </a:ln>
          </p:spPr>
          <p:txBody>
            <a:bodyPr/>
            <a:lstStyle/>
            <a:p>
              <a:r>
                <a:rPr lang="en-US" altLang="zh-CN" i="1">
                  <a:latin typeface="Times New Roman" pitchFamily="18" charset="0"/>
                </a:rPr>
                <a:t>u</a:t>
              </a:r>
              <a:r>
                <a:rPr lang="en-US" altLang="zh-CN">
                  <a:latin typeface="Times New Roman" pitchFamily="18" charset="0"/>
                </a:rPr>
                <a:t>'</a:t>
              </a:r>
            </a:p>
          </p:txBody>
        </p:sp>
        <p:sp>
          <p:nvSpPr>
            <p:cNvPr id="74839" name="Line 67"/>
            <p:cNvSpPr>
              <a:spLocks noChangeShapeType="1"/>
            </p:cNvSpPr>
            <p:nvPr/>
          </p:nvSpPr>
          <p:spPr bwMode="auto">
            <a:xfrm flipV="1">
              <a:off x="1730" y="2987"/>
              <a:ext cx="1384" cy="0"/>
            </a:xfrm>
            <a:prstGeom prst="line">
              <a:avLst/>
            </a:prstGeom>
            <a:noFill/>
            <a:ln w="6350">
              <a:solidFill>
                <a:srgbClr val="000000"/>
              </a:solidFill>
              <a:round/>
              <a:headEnd type="stealth" w="lg" len="lg"/>
              <a:tailEnd type="stealth" w="lg" len="lg"/>
            </a:ln>
          </p:spPr>
          <p:txBody>
            <a:bodyPr/>
            <a:lstStyle/>
            <a:p>
              <a:endParaRPr lang="zh-CN" altLang="en-US"/>
            </a:p>
          </p:txBody>
        </p:sp>
        <p:sp>
          <p:nvSpPr>
            <p:cNvPr id="74840" name="Text Box 68"/>
            <p:cNvSpPr txBox="1">
              <a:spLocks noChangeArrowheads="1"/>
            </p:cNvSpPr>
            <p:nvPr/>
          </p:nvSpPr>
          <p:spPr bwMode="auto">
            <a:xfrm>
              <a:off x="2315" y="2731"/>
              <a:ext cx="253" cy="212"/>
            </a:xfrm>
            <a:prstGeom prst="rect">
              <a:avLst/>
            </a:prstGeom>
            <a:noFill/>
            <a:ln w="9525">
              <a:noFill/>
              <a:miter lim="800000"/>
              <a:headEnd/>
              <a:tailEnd/>
            </a:ln>
          </p:spPr>
          <p:txBody>
            <a:bodyPr lIns="36000" tIns="0" rIns="0" bIns="0"/>
            <a:lstStyle/>
            <a:p>
              <a:endParaRPr lang="zh-CN" altLang="zh-CN"/>
            </a:p>
          </p:txBody>
        </p:sp>
        <p:sp>
          <p:nvSpPr>
            <p:cNvPr id="74841" name="Arc 69"/>
            <p:cNvSpPr>
              <a:spLocks/>
            </p:cNvSpPr>
            <p:nvPr/>
          </p:nvSpPr>
          <p:spPr bwMode="auto">
            <a:xfrm rot="19295105" flipH="1">
              <a:off x="1522" y="1608"/>
              <a:ext cx="225" cy="1079"/>
            </a:xfrm>
            <a:custGeom>
              <a:avLst/>
              <a:gdLst>
                <a:gd name="T0" fmla="*/ 0 w 21600"/>
                <a:gd name="T1" fmla="*/ 0 h 40518"/>
                <a:gd name="T2" fmla="*/ 0 w 21600"/>
                <a:gd name="T3" fmla="*/ 0 h 40518"/>
                <a:gd name="T4" fmla="*/ 0 w 21600"/>
                <a:gd name="T5" fmla="*/ 0 h 40518"/>
                <a:gd name="T6" fmla="*/ 0 60000 65536"/>
                <a:gd name="T7" fmla="*/ 0 60000 65536"/>
                <a:gd name="T8" fmla="*/ 0 60000 65536"/>
                <a:gd name="T9" fmla="*/ 0 w 21600"/>
                <a:gd name="T10" fmla="*/ 0 h 40518"/>
                <a:gd name="T11" fmla="*/ 21600 w 21600"/>
                <a:gd name="T12" fmla="*/ 40518 h 40518"/>
              </a:gdLst>
              <a:ahLst/>
              <a:cxnLst>
                <a:cxn ang="T6">
                  <a:pos x="T0" y="T1"/>
                </a:cxn>
                <a:cxn ang="T7">
                  <a:pos x="T2" y="T3"/>
                </a:cxn>
                <a:cxn ang="T8">
                  <a:pos x="T4" y="T5"/>
                </a:cxn>
              </a:cxnLst>
              <a:rect l="T9" t="T10" r="T11" b="T12"/>
              <a:pathLst>
                <a:path w="21600" h="40518" fill="none" extrusionOk="0">
                  <a:moveTo>
                    <a:pt x="7508" y="-1"/>
                  </a:moveTo>
                  <a:cubicBezTo>
                    <a:pt x="15978" y="3139"/>
                    <a:pt x="21600" y="11219"/>
                    <a:pt x="21600" y="20253"/>
                  </a:cubicBezTo>
                  <a:cubicBezTo>
                    <a:pt x="21600" y="29299"/>
                    <a:pt x="15962" y="37387"/>
                    <a:pt x="7475" y="40518"/>
                  </a:cubicBezTo>
                </a:path>
                <a:path w="21600" h="40518" stroke="0" extrusionOk="0">
                  <a:moveTo>
                    <a:pt x="7508" y="-1"/>
                  </a:moveTo>
                  <a:cubicBezTo>
                    <a:pt x="15978" y="3139"/>
                    <a:pt x="21600" y="11219"/>
                    <a:pt x="21600" y="20253"/>
                  </a:cubicBezTo>
                  <a:cubicBezTo>
                    <a:pt x="21600" y="29299"/>
                    <a:pt x="15962" y="37387"/>
                    <a:pt x="7475" y="40518"/>
                  </a:cubicBezTo>
                  <a:lnTo>
                    <a:pt x="0" y="20253"/>
                  </a:lnTo>
                  <a:close/>
                </a:path>
              </a:pathLst>
            </a:custGeom>
            <a:noFill/>
            <a:ln w="28575">
              <a:solidFill>
                <a:srgbClr val="0000FF"/>
              </a:solidFill>
              <a:round/>
              <a:headEnd/>
              <a:tailEnd/>
            </a:ln>
          </p:spPr>
          <p:txBody>
            <a:bodyPr/>
            <a:lstStyle/>
            <a:p>
              <a:endParaRPr lang="zh-CN" altLang="en-US"/>
            </a:p>
          </p:txBody>
        </p:sp>
        <p:sp>
          <p:nvSpPr>
            <p:cNvPr id="74842" name="Text Box 70"/>
            <p:cNvSpPr txBox="1">
              <a:spLocks noChangeArrowheads="1"/>
            </p:cNvSpPr>
            <p:nvPr/>
          </p:nvSpPr>
          <p:spPr bwMode="auto">
            <a:xfrm>
              <a:off x="1706" y="2790"/>
              <a:ext cx="550" cy="434"/>
            </a:xfrm>
            <a:prstGeom prst="rect">
              <a:avLst/>
            </a:prstGeom>
            <a:noFill/>
            <a:ln w="9525">
              <a:noFill/>
              <a:miter lim="800000"/>
              <a:headEnd/>
              <a:tailEnd/>
            </a:ln>
          </p:spPr>
          <p:txBody>
            <a:bodyPr/>
            <a:lstStyle/>
            <a:p>
              <a:pPr algn="just"/>
              <a:r>
                <a:rPr lang="en-US" altLang="zh-CN" i="1">
                  <a:latin typeface="Times New Roman" pitchFamily="18" charset="0"/>
                </a:rPr>
                <a:t>P</a:t>
              </a:r>
              <a:endParaRPr lang="en-US" altLang="zh-CN"/>
            </a:p>
          </p:txBody>
        </p:sp>
        <p:sp>
          <p:nvSpPr>
            <p:cNvPr id="74843" name="Text Box 71"/>
            <p:cNvSpPr txBox="1">
              <a:spLocks noChangeArrowheads="1"/>
            </p:cNvSpPr>
            <p:nvPr/>
          </p:nvSpPr>
          <p:spPr bwMode="auto">
            <a:xfrm>
              <a:off x="1701" y="1345"/>
              <a:ext cx="551" cy="435"/>
            </a:xfrm>
            <a:prstGeom prst="rect">
              <a:avLst/>
            </a:prstGeom>
            <a:noFill/>
            <a:ln w="9525">
              <a:noFill/>
              <a:miter lim="800000"/>
              <a:headEnd/>
              <a:tailEnd/>
            </a:ln>
          </p:spPr>
          <p:txBody>
            <a:bodyPr/>
            <a:lstStyle/>
            <a:p>
              <a:pPr algn="just"/>
              <a:r>
                <a:rPr lang="en-US" altLang="zh-CN" i="1">
                  <a:latin typeface="Times New Roman" pitchFamily="18" charset="0"/>
                </a:rPr>
                <a:t>P</a:t>
              </a:r>
              <a:endParaRPr lang="en-US" altLang="zh-CN"/>
            </a:p>
          </p:txBody>
        </p:sp>
        <p:sp>
          <p:nvSpPr>
            <p:cNvPr id="74844" name="Text Box 72"/>
            <p:cNvSpPr txBox="1">
              <a:spLocks noChangeArrowheads="1"/>
            </p:cNvSpPr>
            <p:nvPr/>
          </p:nvSpPr>
          <p:spPr bwMode="auto">
            <a:xfrm>
              <a:off x="1405" y="707"/>
              <a:ext cx="782" cy="474"/>
            </a:xfrm>
            <a:prstGeom prst="rect">
              <a:avLst/>
            </a:prstGeom>
            <a:noFill/>
            <a:ln w="9525">
              <a:noFill/>
              <a:miter lim="800000"/>
              <a:headEnd/>
              <a:tailEnd/>
            </a:ln>
          </p:spPr>
          <p:txBody>
            <a:bodyPr/>
            <a:lstStyle/>
            <a:p>
              <a:endParaRPr lang="zh-CN" altLang="zh-CN"/>
            </a:p>
          </p:txBody>
        </p:sp>
        <p:sp>
          <p:nvSpPr>
            <p:cNvPr id="74845" name="Line 73"/>
            <p:cNvSpPr>
              <a:spLocks noChangeShapeType="1"/>
            </p:cNvSpPr>
            <p:nvPr/>
          </p:nvSpPr>
          <p:spPr bwMode="auto">
            <a:xfrm flipV="1">
              <a:off x="3132" y="987"/>
              <a:ext cx="148" cy="87"/>
            </a:xfrm>
            <a:prstGeom prst="line">
              <a:avLst/>
            </a:prstGeom>
            <a:noFill/>
            <a:ln w="6350">
              <a:solidFill>
                <a:srgbClr val="000000"/>
              </a:solidFill>
              <a:round/>
              <a:headEnd/>
              <a:tailEnd/>
            </a:ln>
          </p:spPr>
          <p:txBody>
            <a:bodyPr/>
            <a:lstStyle/>
            <a:p>
              <a:endParaRPr lang="zh-CN" altLang="en-US"/>
            </a:p>
          </p:txBody>
        </p:sp>
        <p:sp>
          <p:nvSpPr>
            <p:cNvPr id="74846" name="Text Box 74"/>
            <p:cNvSpPr txBox="1">
              <a:spLocks noChangeArrowheads="1"/>
            </p:cNvSpPr>
            <p:nvPr/>
          </p:nvSpPr>
          <p:spPr bwMode="auto">
            <a:xfrm>
              <a:off x="2372" y="1393"/>
              <a:ext cx="467" cy="331"/>
            </a:xfrm>
            <a:prstGeom prst="rect">
              <a:avLst/>
            </a:prstGeom>
            <a:noFill/>
            <a:ln w="9525">
              <a:noFill/>
              <a:miter lim="800000"/>
              <a:headEnd/>
              <a:tailEnd/>
            </a:ln>
          </p:spPr>
          <p:txBody>
            <a:bodyPr/>
            <a:lstStyle/>
            <a:p>
              <a:r>
                <a:rPr lang="en-US" altLang="zh-CN" i="1">
                  <a:latin typeface="Times New Roman" pitchFamily="18" charset="0"/>
                </a:rPr>
                <a:t>u</a:t>
              </a:r>
              <a:r>
                <a:rPr lang="en-US" altLang="zh-CN">
                  <a:latin typeface="Times New Roman" pitchFamily="18" charset="0"/>
                </a:rPr>
                <a:t>'</a:t>
              </a:r>
            </a:p>
          </p:txBody>
        </p:sp>
        <p:sp>
          <p:nvSpPr>
            <p:cNvPr id="74847" name="Line 75"/>
            <p:cNvSpPr>
              <a:spLocks noChangeShapeType="1"/>
            </p:cNvSpPr>
            <p:nvPr/>
          </p:nvSpPr>
          <p:spPr bwMode="auto">
            <a:xfrm flipV="1">
              <a:off x="2420" y="1434"/>
              <a:ext cx="119" cy="0"/>
            </a:xfrm>
            <a:prstGeom prst="line">
              <a:avLst/>
            </a:prstGeom>
            <a:noFill/>
            <a:ln w="6350">
              <a:solidFill>
                <a:schemeClr val="tx1"/>
              </a:solidFill>
              <a:round/>
              <a:headEnd/>
              <a:tailEnd/>
            </a:ln>
          </p:spPr>
          <p:txBody>
            <a:bodyPr/>
            <a:lstStyle/>
            <a:p>
              <a:endParaRPr lang="zh-CN" altLang="en-US"/>
            </a:p>
          </p:txBody>
        </p:sp>
        <p:sp>
          <p:nvSpPr>
            <p:cNvPr id="74848" name="Text Box 76"/>
            <p:cNvSpPr txBox="1">
              <a:spLocks noChangeArrowheads="1"/>
            </p:cNvSpPr>
            <p:nvPr/>
          </p:nvSpPr>
          <p:spPr bwMode="auto">
            <a:xfrm>
              <a:off x="2318" y="2732"/>
              <a:ext cx="231" cy="250"/>
            </a:xfrm>
            <a:prstGeom prst="rect">
              <a:avLst/>
            </a:prstGeom>
            <a:noFill/>
            <a:ln w="9525">
              <a:noFill/>
              <a:miter lim="800000"/>
              <a:headEnd/>
              <a:tailEnd/>
            </a:ln>
          </p:spPr>
          <p:txBody>
            <a:bodyPr wrap="none">
              <a:spAutoFit/>
            </a:bodyPr>
            <a:lstStyle/>
            <a:p>
              <a:r>
                <a:rPr lang="en-US" altLang="zh-CN" sz="2000" i="1">
                  <a:latin typeface="Times New Roman" pitchFamily="18" charset="0"/>
                </a:rPr>
                <a:t>f </a:t>
              </a:r>
              <a:r>
                <a:rPr lang="en-US" altLang="zh-CN" sz="2000"/>
                <a:t>'</a:t>
              </a:r>
            </a:p>
          </p:txBody>
        </p:sp>
        <p:sp>
          <p:nvSpPr>
            <p:cNvPr id="74849" name="Text Box 77"/>
            <p:cNvSpPr txBox="1">
              <a:spLocks noChangeArrowheads="1"/>
            </p:cNvSpPr>
            <p:nvPr/>
          </p:nvSpPr>
          <p:spPr bwMode="auto">
            <a:xfrm>
              <a:off x="1562" y="896"/>
              <a:ext cx="231" cy="250"/>
            </a:xfrm>
            <a:prstGeom prst="rect">
              <a:avLst/>
            </a:prstGeom>
            <a:noFill/>
            <a:ln w="9525">
              <a:noFill/>
              <a:miter lim="800000"/>
              <a:headEnd/>
              <a:tailEnd/>
            </a:ln>
          </p:spPr>
          <p:txBody>
            <a:bodyPr wrap="none">
              <a:spAutoFit/>
            </a:bodyPr>
            <a:lstStyle/>
            <a:p>
              <a:r>
                <a:rPr lang="en-US" altLang="zh-CN" sz="2000" i="1">
                  <a:latin typeface="Times New Roman" pitchFamily="18" charset="0"/>
                </a:rPr>
                <a:t>f </a:t>
              </a:r>
              <a:r>
                <a:rPr lang="en-US" altLang="zh-CN" sz="2000"/>
                <a:t>'</a:t>
              </a:r>
            </a:p>
          </p:txBody>
        </p:sp>
        <p:sp>
          <p:nvSpPr>
            <p:cNvPr id="74850" name="Line 78"/>
            <p:cNvSpPr>
              <a:spLocks noChangeShapeType="1"/>
            </p:cNvSpPr>
            <p:nvPr/>
          </p:nvSpPr>
          <p:spPr bwMode="auto">
            <a:xfrm flipV="1">
              <a:off x="1619" y="903"/>
              <a:ext cx="119" cy="0"/>
            </a:xfrm>
            <a:prstGeom prst="line">
              <a:avLst/>
            </a:prstGeom>
            <a:noFill/>
            <a:ln w="6350">
              <a:solidFill>
                <a:schemeClr val="tx1"/>
              </a:solidFill>
              <a:round/>
              <a:headEnd/>
              <a:tailEnd/>
            </a:ln>
          </p:spPr>
          <p:txBody>
            <a:bodyPr/>
            <a:lstStyle/>
            <a:p>
              <a:endParaRPr lang="zh-CN" altLang="en-US"/>
            </a:p>
          </p:txBody>
        </p:sp>
      </p:grpSp>
      <p:sp>
        <p:nvSpPr>
          <p:cNvPr id="74787" name="Rectangle 79"/>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4754" name="Object 80"/>
          <p:cNvGraphicFramePr>
            <a:graphicFrameLocks noChangeAspect="1"/>
          </p:cNvGraphicFramePr>
          <p:nvPr/>
        </p:nvGraphicFramePr>
        <p:xfrm>
          <a:off x="1520536" y="1950687"/>
          <a:ext cx="1866900" cy="698500"/>
        </p:xfrm>
        <a:graphic>
          <a:graphicData uri="http://schemas.openxmlformats.org/presentationml/2006/ole">
            <p:oleObj spid="_x0000_s74754" name="公式" r:id="rId3" imgW="26213117" imgH="9753917" progId="Equation.3">
              <p:embed/>
            </p:oleObj>
          </a:graphicData>
        </a:graphic>
      </p:graphicFrame>
      <p:sp>
        <p:nvSpPr>
          <p:cNvPr id="74788" name="Rectangle 81"/>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42" name="Object 82"/>
          <p:cNvGraphicFramePr>
            <a:graphicFrameLocks noChangeAspect="1"/>
          </p:cNvGraphicFramePr>
          <p:nvPr/>
        </p:nvGraphicFramePr>
        <p:xfrm>
          <a:off x="1530391" y="818903"/>
          <a:ext cx="2093913" cy="406400"/>
        </p:xfrm>
        <a:graphic>
          <a:graphicData uri="http://schemas.openxmlformats.org/presentationml/2006/ole">
            <p:oleObj spid="_x0000_s74755" name="公式" r:id="rId4" imgW="27127517" imgH="5181917" progId="Equation.3">
              <p:embed/>
            </p:oleObj>
          </a:graphicData>
        </a:graphic>
      </p:graphicFrame>
      <p:sp>
        <p:nvSpPr>
          <p:cNvPr id="74789" name="Rectangle 83"/>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44" name="Object 84"/>
          <p:cNvGraphicFramePr>
            <a:graphicFrameLocks noChangeAspect="1"/>
          </p:cNvGraphicFramePr>
          <p:nvPr/>
        </p:nvGraphicFramePr>
        <p:xfrm>
          <a:off x="1519959" y="1332985"/>
          <a:ext cx="1573213" cy="409575"/>
        </p:xfrm>
        <a:graphic>
          <a:graphicData uri="http://schemas.openxmlformats.org/presentationml/2006/ole">
            <p:oleObj spid="_x0000_s74756" name="公式" r:id="rId5" imgW="21945917" imgH="5791517" progId="Equation.3">
              <p:embed/>
            </p:oleObj>
          </a:graphicData>
        </a:graphic>
      </p:graphicFrame>
      <p:sp>
        <p:nvSpPr>
          <p:cNvPr id="74790" name="Rectangle 85"/>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46" name="Object 86"/>
          <p:cNvGraphicFramePr>
            <a:graphicFrameLocks noChangeAspect="1"/>
          </p:cNvGraphicFramePr>
          <p:nvPr/>
        </p:nvGraphicFramePr>
        <p:xfrm>
          <a:off x="0" y="3035300"/>
          <a:ext cx="4003675" cy="942975"/>
        </p:xfrm>
        <a:graphic>
          <a:graphicData uri="http://schemas.openxmlformats.org/presentationml/2006/ole">
            <p:oleObj spid="_x0000_s74757" name="公式" r:id="rId6" imgW="67056317" imgH="15849917" progId="Equation.3">
              <p:embed/>
            </p:oleObj>
          </a:graphicData>
        </a:graphic>
      </p:graphicFrame>
      <p:sp>
        <p:nvSpPr>
          <p:cNvPr id="74791" name="Rectangle 87"/>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48" name="Object 88"/>
          <p:cNvGraphicFramePr>
            <a:graphicFrameLocks noChangeAspect="1"/>
          </p:cNvGraphicFramePr>
          <p:nvPr/>
        </p:nvGraphicFramePr>
        <p:xfrm>
          <a:off x="957263" y="4330700"/>
          <a:ext cx="2135187" cy="676275"/>
        </p:xfrm>
        <a:graphic>
          <a:graphicData uri="http://schemas.openxmlformats.org/presentationml/2006/ole">
            <p:oleObj spid="_x0000_s74758" name="公式" r:id="rId7" imgW="31699517" imgH="10058717" progId="Equation.3">
              <p:embed/>
            </p:oleObj>
          </a:graphicData>
        </a:graphic>
      </p:graphicFrame>
      <p:sp>
        <p:nvSpPr>
          <p:cNvPr id="74792" name="Rectangle 8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50" name="Object 90"/>
          <p:cNvGraphicFramePr>
            <a:graphicFrameLocks noChangeAspect="1"/>
          </p:cNvGraphicFramePr>
          <p:nvPr/>
        </p:nvGraphicFramePr>
        <p:xfrm>
          <a:off x="557213" y="5276850"/>
          <a:ext cx="3076575" cy="647700"/>
        </p:xfrm>
        <a:graphic>
          <a:graphicData uri="http://schemas.openxmlformats.org/presentationml/2006/ole">
            <p:oleObj spid="_x0000_s74759" name="公式" r:id="rId8" imgW="47853917" imgH="10058717" progId="Equation.3">
              <p:embed/>
            </p:oleObj>
          </a:graphicData>
        </a:graphic>
      </p:graphicFrame>
      <p:sp>
        <p:nvSpPr>
          <p:cNvPr id="74793" name="Rectangle 91"/>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655452" name="Text Box 92"/>
          <p:cNvSpPr txBox="1">
            <a:spLocks noChangeArrowheads="1"/>
          </p:cNvSpPr>
          <p:nvPr/>
        </p:nvSpPr>
        <p:spPr bwMode="auto">
          <a:xfrm>
            <a:off x="0" y="333375"/>
            <a:ext cx="1614488" cy="457200"/>
          </a:xfrm>
          <a:prstGeom prst="rect">
            <a:avLst/>
          </a:prstGeom>
          <a:noFill/>
          <a:ln w="9525">
            <a:noFill/>
            <a:miter lim="800000"/>
            <a:headEnd/>
            <a:tailEnd/>
          </a:ln>
          <a:effectLst/>
        </p:spPr>
        <p:txBody>
          <a:bodyPr>
            <a:spAutoFit/>
          </a:bodyPr>
          <a:lstStyle/>
          <a:p>
            <a:pPr>
              <a:spcBef>
                <a:spcPct val="50000"/>
              </a:spcBef>
              <a:defRPr/>
            </a:pPr>
            <a:r>
              <a:rPr lang="zh-CN" altLang="en-US" sz="2400" b="1">
                <a:effectLst>
                  <a:outerShdw blurRad="38100" dist="38100" dir="2700000" algn="tl">
                    <a:srgbClr val="C0C0C0"/>
                  </a:outerShdw>
                </a:effectLst>
              </a:rPr>
              <a:t>子午面上</a:t>
            </a:r>
          </a:p>
        </p:txBody>
      </p:sp>
      <p:sp>
        <p:nvSpPr>
          <p:cNvPr id="74795" name="Rectangle 9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4796" name="Rectangle 94"/>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sp>
        <p:nvSpPr>
          <p:cNvPr id="74797" name="Line 95"/>
          <p:cNvSpPr>
            <a:spLocks noChangeShapeType="1"/>
          </p:cNvSpPr>
          <p:nvPr/>
        </p:nvSpPr>
        <p:spPr bwMode="auto">
          <a:xfrm flipH="1">
            <a:off x="5530850" y="4098925"/>
            <a:ext cx="427038" cy="501650"/>
          </a:xfrm>
          <a:prstGeom prst="line">
            <a:avLst/>
          </a:prstGeom>
          <a:noFill/>
          <a:ln w="28575">
            <a:solidFill>
              <a:srgbClr val="003300"/>
            </a:solidFill>
            <a:round/>
            <a:headEnd/>
            <a:tailEnd/>
          </a:ln>
        </p:spPr>
        <p:txBody>
          <a:bodyPr/>
          <a:lstStyle/>
          <a:p>
            <a:endParaRPr lang="zh-CN" altLang="en-US"/>
          </a:p>
        </p:txBody>
      </p:sp>
      <p:sp>
        <p:nvSpPr>
          <p:cNvPr id="74798" name="Line 96"/>
          <p:cNvSpPr>
            <a:spLocks noChangeShapeType="1"/>
          </p:cNvSpPr>
          <p:nvPr/>
        </p:nvSpPr>
        <p:spPr bwMode="auto">
          <a:xfrm>
            <a:off x="7764463" y="1668463"/>
            <a:ext cx="0" cy="334962"/>
          </a:xfrm>
          <a:prstGeom prst="line">
            <a:avLst/>
          </a:prstGeom>
          <a:noFill/>
          <a:ln w="28575">
            <a:solidFill>
              <a:srgbClr val="FF0000"/>
            </a:solidFill>
            <a:round/>
            <a:headEnd/>
            <a:tailEnd/>
          </a:ln>
        </p:spPr>
        <p:txBody>
          <a:bodyPr/>
          <a:lstStyle/>
          <a:p>
            <a:endParaRPr lang="zh-CN" altLang="en-US"/>
          </a:p>
        </p:txBody>
      </p:sp>
    </p:spTree>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444"/>
                                        </p:tgtEl>
                                        <p:attrNameLst>
                                          <p:attrName>style.visibility</p:attrName>
                                        </p:attrNameLst>
                                      </p:cBhvr>
                                      <p:to>
                                        <p:strVal val="visible"/>
                                      </p:to>
                                    </p:set>
                                    <p:anim calcmode="lin" valueType="num">
                                      <p:cBhvr additive="base">
                                        <p:cTn id="7" dur="500" fill="hold"/>
                                        <p:tgtEl>
                                          <p:spTgt spid="655444"/>
                                        </p:tgtEl>
                                        <p:attrNameLst>
                                          <p:attrName>ppt_x</p:attrName>
                                        </p:attrNameLst>
                                      </p:cBhvr>
                                      <p:tavLst>
                                        <p:tav tm="0">
                                          <p:val>
                                            <p:strVal val="#ppt_x"/>
                                          </p:val>
                                        </p:tav>
                                        <p:tav tm="100000">
                                          <p:val>
                                            <p:strVal val="#ppt_x"/>
                                          </p:val>
                                        </p:tav>
                                      </p:tavLst>
                                    </p:anim>
                                    <p:anim calcmode="lin" valueType="num">
                                      <p:cBhvr additive="base">
                                        <p:cTn id="8" dur="500" fill="hold"/>
                                        <p:tgtEl>
                                          <p:spTgt spid="6554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54"/>
                                        </p:tgtEl>
                                        <p:attrNameLst>
                                          <p:attrName>style.visibility</p:attrName>
                                        </p:attrNameLst>
                                      </p:cBhvr>
                                      <p:to>
                                        <p:strVal val="visible"/>
                                      </p:to>
                                    </p:set>
                                    <p:anim calcmode="lin" valueType="num">
                                      <p:cBhvr additive="base">
                                        <p:cTn id="13" dur="500" fill="hold"/>
                                        <p:tgtEl>
                                          <p:spTgt spid="74754"/>
                                        </p:tgtEl>
                                        <p:attrNameLst>
                                          <p:attrName>ppt_x</p:attrName>
                                        </p:attrNameLst>
                                      </p:cBhvr>
                                      <p:tavLst>
                                        <p:tav tm="0">
                                          <p:val>
                                            <p:strVal val="#ppt_x"/>
                                          </p:val>
                                        </p:tav>
                                        <p:tav tm="100000">
                                          <p:val>
                                            <p:strVal val="#ppt_x"/>
                                          </p:val>
                                        </p:tav>
                                      </p:tavLst>
                                    </p:anim>
                                    <p:anim calcmode="lin" valueType="num">
                                      <p:cBhvr additive="base">
                                        <p:cTn id="14" dur="500" fill="hold"/>
                                        <p:tgtEl>
                                          <p:spTgt spid="7475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55446"/>
                                        </p:tgtEl>
                                        <p:attrNameLst>
                                          <p:attrName>style.visibility</p:attrName>
                                        </p:attrNameLst>
                                      </p:cBhvr>
                                      <p:to>
                                        <p:strVal val="visible"/>
                                      </p:to>
                                    </p:set>
                                    <p:anim calcmode="lin" valueType="num">
                                      <p:cBhvr additive="base">
                                        <p:cTn id="19" dur="500" fill="hold"/>
                                        <p:tgtEl>
                                          <p:spTgt spid="655446"/>
                                        </p:tgtEl>
                                        <p:attrNameLst>
                                          <p:attrName>ppt_x</p:attrName>
                                        </p:attrNameLst>
                                      </p:cBhvr>
                                      <p:tavLst>
                                        <p:tav tm="0">
                                          <p:val>
                                            <p:strVal val="#ppt_x"/>
                                          </p:val>
                                        </p:tav>
                                        <p:tav tm="100000">
                                          <p:val>
                                            <p:strVal val="#ppt_x"/>
                                          </p:val>
                                        </p:tav>
                                      </p:tavLst>
                                    </p:anim>
                                    <p:anim calcmode="lin" valueType="num">
                                      <p:cBhvr additive="base">
                                        <p:cTn id="20" dur="500" fill="hold"/>
                                        <p:tgtEl>
                                          <p:spTgt spid="6554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55448"/>
                                        </p:tgtEl>
                                        <p:attrNameLst>
                                          <p:attrName>style.visibility</p:attrName>
                                        </p:attrNameLst>
                                      </p:cBhvr>
                                      <p:to>
                                        <p:strVal val="visible"/>
                                      </p:to>
                                    </p:set>
                                    <p:anim calcmode="lin" valueType="num">
                                      <p:cBhvr additive="base">
                                        <p:cTn id="25" dur="500" fill="hold"/>
                                        <p:tgtEl>
                                          <p:spTgt spid="655448"/>
                                        </p:tgtEl>
                                        <p:attrNameLst>
                                          <p:attrName>ppt_x</p:attrName>
                                        </p:attrNameLst>
                                      </p:cBhvr>
                                      <p:tavLst>
                                        <p:tav tm="0">
                                          <p:val>
                                            <p:strVal val="#ppt_x"/>
                                          </p:val>
                                        </p:tav>
                                        <p:tav tm="100000">
                                          <p:val>
                                            <p:strVal val="#ppt_x"/>
                                          </p:val>
                                        </p:tav>
                                      </p:tavLst>
                                    </p:anim>
                                    <p:anim calcmode="lin" valueType="num">
                                      <p:cBhvr additive="base">
                                        <p:cTn id="26" dur="500" fill="hold"/>
                                        <p:tgtEl>
                                          <p:spTgt spid="65544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55450"/>
                                        </p:tgtEl>
                                        <p:attrNameLst>
                                          <p:attrName>style.visibility</p:attrName>
                                        </p:attrNameLst>
                                      </p:cBhvr>
                                      <p:to>
                                        <p:strVal val="visible"/>
                                      </p:to>
                                    </p:set>
                                    <p:anim calcmode="lin" valueType="num">
                                      <p:cBhvr additive="base">
                                        <p:cTn id="31" dur="500" fill="hold"/>
                                        <p:tgtEl>
                                          <p:spTgt spid="655450"/>
                                        </p:tgtEl>
                                        <p:attrNameLst>
                                          <p:attrName>ppt_x</p:attrName>
                                        </p:attrNameLst>
                                      </p:cBhvr>
                                      <p:tavLst>
                                        <p:tav tm="0">
                                          <p:val>
                                            <p:strVal val="#ppt_x"/>
                                          </p:val>
                                        </p:tav>
                                        <p:tav tm="100000">
                                          <p:val>
                                            <p:strVal val="#ppt_x"/>
                                          </p:val>
                                        </p:tav>
                                      </p:tavLst>
                                    </p:anim>
                                    <p:anim calcmode="lin" valueType="num">
                                      <p:cBhvr additive="base">
                                        <p:cTn id="32" dur="500" fill="hold"/>
                                        <p:tgtEl>
                                          <p:spTgt spid="6554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81" name="日期占位符 3"/>
          <p:cNvSpPr>
            <a:spLocks noGrp="1"/>
          </p:cNvSpPr>
          <p:nvPr>
            <p:ph type="dt" sz="quarter" idx="10"/>
          </p:nvPr>
        </p:nvSpPr>
        <p:spPr>
          <a:noFill/>
        </p:spPr>
        <p:txBody>
          <a:bodyPr/>
          <a:lstStyle/>
          <a:p>
            <a:fld id="{7474BC82-8E7C-47E3-8CBE-F2CE43D84DC3}" type="datetime1">
              <a:rPr lang="zh-CN" altLang="en-US" smtClean="0"/>
              <a:pPr/>
              <a:t>2018/2/24</a:t>
            </a:fld>
            <a:endParaRPr lang="en-US" altLang="zh-CN" smtClean="0"/>
          </a:p>
        </p:txBody>
      </p:sp>
      <p:sp>
        <p:nvSpPr>
          <p:cNvPr id="75782" name="灯片编号占位符 5"/>
          <p:cNvSpPr>
            <a:spLocks noGrp="1"/>
          </p:cNvSpPr>
          <p:nvPr>
            <p:ph type="sldNum" sz="quarter" idx="12"/>
          </p:nvPr>
        </p:nvSpPr>
        <p:spPr>
          <a:noFill/>
        </p:spPr>
        <p:txBody>
          <a:bodyPr/>
          <a:lstStyle/>
          <a:p>
            <a:fld id="{313EF667-9D63-4A0D-A259-B03D672C56EE}" type="slidenum">
              <a:rPr lang="en-US" altLang="zh-CN" smtClean="0"/>
              <a:pPr/>
              <a:t>107</a:t>
            </a:fld>
            <a:endParaRPr lang="en-US" altLang="zh-CN" smtClean="0"/>
          </a:p>
        </p:txBody>
      </p:sp>
      <p:sp>
        <p:nvSpPr>
          <p:cNvPr id="75783" name="Rectangle 2"/>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5784"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75785" name="Rectangle 4"/>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75786" name="Rectangle 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5787" name="Rectangle 6"/>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5788" name="Rectangle 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5789" name="Rectangle 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0" name="Rectangle 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1" name="Rectangle 1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2" name="Rectangle 1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3" name="Rectangle 1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4" name="Rectangle 1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5" name="Rectangle 1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6" name="Rectangle 1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7" name="Rectangle 16"/>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8" name="Rectangle 17"/>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799" name="Rectangle 18"/>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0" name="Rectangle 19"/>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1" name="Rectangle 20"/>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2" name="Rectangle 21"/>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3" name="Rectangle 22"/>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4" name="Rectangle 23"/>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5" name="Rectangle 24"/>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6" name="Rectangle 25"/>
          <p:cNvSpPr>
            <a:spLocks noChangeArrowheads="1"/>
          </p:cNvSpPr>
          <p:nvPr/>
        </p:nvSpPr>
        <p:spPr bwMode="auto">
          <a:xfrm>
            <a:off x="1863725" y="2517775"/>
            <a:ext cx="1354138" cy="0"/>
          </a:xfrm>
          <a:prstGeom prst="rect">
            <a:avLst/>
          </a:prstGeom>
          <a:noFill/>
          <a:ln w="9525">
            <a:noFill/>
            <a:miter lim="800000"/>
            <a:headEnd/>
            <a:tailEnd/>
          </a:ln>
        </p:spPr>
        <p:txBody>
          <a:bodyPr wrap="none" anchor="ctr">
            <a:spAutoFit/>
          </a:bodyPr>
          <a:lstStyle/>
          <a:p>
            <a:endParaRPr lang="zh-CN" altLang="en-US"/>
          </a:p>
        </p:txBody>
      </p:sp>
      <p:sp>
        <p:nvSpPr>
          <p:cNvPr id="75807" name="Rectangle 79"/>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75808" name="Rectangle 80"/>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5809" name="Rectangle 81"/>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75810" name="Rectangle 82"/>
          <p:cNvSpPr>
            <a:spLocks noChangeArrowheads="1"/>
          </p:cNvSpPr>
          <p:nvPr/>
        </p:nvSpPr>
        <p:spPr bwMode="auto">
          <a:xfrm>
            <a:off x="0" y="3100388"/>
            <a:ext cx="9144000" cy="0"/>
          </a:xfrm>
          <a:prstGeom prst="rect">
            <a:avLst/>
          </a:prstGeom>
          <a:noFill/>
          <a:ln w="9525">
            <a:noFill/>
            <a:miter lim="800000"/>
            <a:headEnd/>
            <a:tailEnd/>
          </a:ln>
        </p:spPr>
        <p:txBody>
          <a:bodyPr wrap="none" anchor="ctr">
            <a:spAutoFit/>
          </a:bodyPr>
          <a:lstStyle/>
          <a:p>
            <a:endParaRPr lang="zh-CN" altLang="en-US"/>
          </a:p>
        </p:txBody>
      </p:sp>
      <p:sp>
        <p:nvSpPr>
          <p:cNvPr id="75811" name="Rectangle 83"/>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sp>
        <p:nvSpPr>
          <p:cNvPr id="75812" name="Rectangle 84"/>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sp>
        <p:nvSpPr>
          <p:cNvPr id="75813" name="Rectangle 85"/>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5778" name="Object 86"/>
          <p:cNvGraphicFramePr>
            <a:graphicFrameLocks noChangeAspect="1"/>
          </p:cNvGraphicFramePr>
          <p:nvPr/>
        </p:nvGraphicFramePr>
        <p:xfrm>
          <a:off x="4221163" y="2605088"/>
          <a:ext cx="1789112" cy="465137"/>
        </p:xfrm>
        <a:graphic>
          <a:graphicData uri="http://schemas.openxmlformats.org/presentationml/2006/ole">
            <p:oleObj spid="_x0000_s75778" name="公式" r:id="rId3" imgW="21945917" imgH="5791517" progId="Equation.3">
              <p:embed/>
            </p:oleObj>
          </a:graphicData>
        </a:graphic>
      </p:graphicFrame>
      <p:sp>
        <p:nvSpPr>
          <p:cNvPr id="656471" name="Text Box 87"/>
          <p:cNvSpPr txBox="1">
            <a:spLocks noChangeArrowheads="1"/>
          </p:cNvSpPr>
          <p:nvPr/>
        </p:nvSpPr>
        <p:spPr bwMode="auto">
          <a:xfrm>
            <a:off x="304800" y="338138"/>
            <a:ext cx="1614488" cy="457200"/>
          </a:xfrm>
          <a:prstGeom prst="rect">
            <a:avLst/>
          </a:prstGeom>
          <a:noFill/>
          <a:ln w="9525">
            <a:noFill/>
            <a:miter lim="800000"/>
            <a:headEnd/>
            <a:tailEnd/>
          </a:ln>
          <a:effectLst/>
        </p:spPr>
        <p:txBody>
          <a:bodyPr>
            <a:spAutoFit/>
          </a:bodyPr>
          <a:lstStyle/>
          <a:p>
            <a:pPr>
              <a:spcBef>
                <a:spcPct val="50000"/>
              </a:spcBef>
              <a:defRPr/>
            </a:pPr>
            <a:r>
              <a:rPr lang="zh-CN" altLang="en-US" sz="2400" b="1" dirty="0">
                <a:effectLst>
                  <a:outerShdw blurRad="38100" dist="38100" dir="2700000" algn="tl">
                    <a:srgbClr val="C0C0C0"/>
                  </a:outerShdw>
                </a:effectLst>
              </a:rPr>
              <a:t>弧矢面上</a:t>
            </a:r>
          </a:p>
        </p:txBody>
      </p:sp>
      <p:sp>
        <p:nvSpPr>
          <p:cNvPr id="75815" name="Rectangle 88"/>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5779" name="Object 89"/>
          <p:cNvGraphicFramePr>
            <a:graphicFrameLocks noChangeAspect="1"/>
          </p:cNvGraphicFramePr>
          <p:nvPr/>
        </p:nvGraphicFramePr>
        <p:xfrm>
          <a:off x="3756025" y="3190875"/>
          <a:ext cx="2536825" cy="604838"/>
        </p:xfrm>
        <a:graphic>
          <a:graphicData uri="http://schemas.openxmlformats.org/presentationml/2006/ole">
            <p:oleObj spid="_x0000_s75779" name="公式" r:id="rId4" imgW="39319517" imgH="9449117" progId="Equation.3">
              <p:embed/>
            </p:oleObj>
          </a:graphicData>
        </a:graphic>
      </p:graphicFrame>
      <p:sp>
        <p:nvSpPr>
          <p:cNvPr id="75816" name="Rectangle 90"/>
          <p:cNvSpPr>
            <a:spLocks noChangeArrowheads="1"/>
          </p:cNvSpPr>
          <p:nvPr/>
        </p:nvSpPr>
        <p:spPr bwMode="auto">
          <a:xfrm>
            <a:off x="0" y="3205163"/>
            <a:ext cx="9144000" cy="0"/>
          </a:xfrm>
          <a:prstGeom prst="rect">
            <a:avLst/>
          </a:prstGeom>
          <a:solidFill>
            <a:schemeClr val="accent1"/>
          </a:solidFill>
          <a:ln w="9525">
            <a:noFill/>
            <a:miter lim="800000"/>
            <a:headEnd/>
            <a:tailEnd/>
          </a:ln>
        </p:spPr>
        <p:txBody>
          <a:bodyPr wrap="none" anchor="ctr">
            <a:spAutoFit/>
          </a:bodyPr>
          <a:lstStyle/>
          <a:p>
            <a:endParaRPr lang="zh-CN" altLang="en-US"/>
          </a:p>
        </p:txBody>
      </p:sp>
      <p:graphicFrame>
        <p:nvGraphicFramePr>
          <p:cNvPr id="75780" name="Object 91"/>
          <p:cNvGraphicFramePr>
            <a:graphicFrameLocks noChangeAspect="1"/>
          </p:cNvGraphicFramePr>
          <p:nvPr/>
        </p:nvGraphicFramePr>
        <p:xfrm>
          <a:off x="3621088" y="4065588"/>
          <a:ext cx="2879725" cy="690562"/>
        </p:xfrm>
        <a:graphic>
          <a:graphicData uri="http://schemas.openxmlformats.org/presentationml/2006/ole">
            <p:oleObj spid="_x0000_s75780" name="公式" r:id="rId5" imgW="44805917" imgH="10668317" progId="Equation.3">
              <p:embed/>
            </p:oleObj>
          </a:graphicData>
        </a:graphic>
      </p:graphicFrame>
      <p:sp>
        <p:nvSpPr>
          <p:cNvPr id="42" name="Text Box 87">
            <a:hlinkClick r:id="rId6" action="ppaction://hlinksldjump"/>
          </p:cNvPr>
          <p:cNvSpPr txBox="1">
            <a:spLocks noChangeArrowheads="1"/>
          </p:cNvSpPr>
          <p:nvPr/>
        </p:nvSpPr>
        <p:spPr bwMode="auto">
          <a:xfrm>
            <a:off x="5854534" y="5011387"/>
            <a:ext cx="2743201" cy="1569660"/>
          </a:xfrm>
          <a:prstGeom prst="rect">
            <a:avLst/>
          </a:prstGeom>
          <a:noFill/>
          <a:ln w="9525">
            <a:noFill/>
            <a:miter lim="800000"/>
            <a:headEnd/>
            <a:tailEnd/>
          </a:ln>
          <a:effectLst/>
        </p:spPr>
        <p:txBody>
          <a:bodyPr wrap="square">
            <a:spAutoFit/>
          </a:bodyPr>
          <a:lstStyle/>
          <a:p>
            <a:pPr>
              <a:spcBef>
                <a:spcPct val="50000"/>
              </a:spcBef>
              <a:defRPr/>
            </a:pPr>
            <a:r>
              <a:rPr lang="zh-CN" altLang="en-US" sz="9600" b="1" dirty="0" smtClean="0">
                <a:solidFill>
                  <a:schemeClr val="bg1">
                    <a:lumMod val="95000"/>
                  </a:schemeClr>
                </a:solidFill>
                <a:effectLst>
                  <a:outerShdw blurRad="38100" dist="38100" dir="2700000" algn="tl">
                    <a:srgbClr val="C0C0C0"/>
                  </a:outerShdw>
                </a:effectLst>
              </a:rPr>
              <a:t>返回</a:t>
            </a:r>
            <a:endParaRPr lang="zh-CN" altLang="en-US" sz="9600" b="1" dirty="0">
              <a:solidFill>
                <a:schemeClr val="bg1">
                  <a:lumMod val="95000"/>
                </a:schemeClr>
              </a:solidFill>
              <a:effectLst>
                <a:outerShdw blurRad="38100" dist="38100" dir="2700000" algn="tl">
                  <a:srgbClr val="C0C0C0"/>
                </a:outerShdw>
              </a:effectLst>
            </a:endParaRPr>
          </a:p>
        </p:txBody>
      </p:sp>
    </p:spTree>
  </p:cSld>
  <p:clrMapOvr>
    <a:masterClrMapping/>
  </p:clrMapOvr>
  <p:transition spd="slow">
    <p:circle/>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7" name="日期占位符 3"/>
          <p:cNvSpPr>
            <a:spLocks noGrp="1"/>
          </p:cNvSpPr>
          <p:nvPr>
            <p:ph type="dt" sz="quarter" idx="10"/>
          </p:nvPr>
        </p:nvSpPr>
        <p:spPr>
          <a:noFill/>
        </p:spPr>
        <p:txBody>
          <a:bodyPr/>
          <a:lstStyle/>
          <a:p>
            <a:fld id="{5D8E17EB-1AB2-40D5-A7D7-D15FB75BE85D}" type="datetime1">
              <a:rPr lang="zh-CN" altLang="en-US" smtClean="0"/>
              <a:pPr/>
              <a:t>2018/2/24</a:t>
            </a:fld>
            <a:endParaRPr lang="en-US" altLang="zh-CN" smtClean="0"/>
          </a:p>
        </p:txBody>
      </p:sp>
      <p:sp>
        <p:nvSpPr>
          <p:cNvPr id="76808" name="灯片编号占位符 5"/>
          <p:cNvSpPr>
            <a:spLocks noGrp="1"/>
          </p:cNvSpPr>
          <p:nvPr>
            <p:ph type="sldNum" sz="quarter" idx="12"/>
          </p:nvPr>
        </p:nvSpPr>
        <p:spPr>
          <a:noFill/>
        </p:spPr>
        <p:txBody>
          <a:bodyPr/>
          <a:lstStyle/>
          <a:p>
            <a:fld id="{F408D50D-A4C0-499F-B149-207AFB0E678E}" type="slidenum">
              <a:rPr lang="en-US" altLang="zh-CN" smtClean="0"/>
              <a:pPr/>
              <a:t>108</a:t>
            </a:fld>
            <a:endParaRPr lang="en-US" altLang="zh-CN" smtClean="0"/>
          </a:p>
        </p:txBody>
      </p:sp>
      <p:sp>
        <p:nvSpPr>
          <p:cNvPr id="657410" name="Rectangle 2"/>
          <p:cNvSpPr>
            <a:spLocks noGrp="1" noRot="1" noChangeArrowheads="1"/>
          </p:cNvSpPr>
          <p:nvPr>
            <p:ph type="body" idx="1"/>
          </p:nvPr>
        </p:nvSpPr>
        <p:spPr>
          <a:xfrm>
            <a:off x="385763" y="288925"/>
            <a:ext cx="8229600" cy="4805363"/>
          </a:xfrm>
        </p:spPr>
        <p:txBody>
          <a:bodyPr/>
          <a:lstStyle/>
          <a:p>
            <a:pPr eaLnBrk="1" hangingPunct="1">
              <a:buFont typeface="Wingdings" pitchFamily="2" charset="2"/>
              <a:buNone/>
              <a:defRPr/>
            </a:pPr>
            <a:r>
              <a:rPr lang="zh-CN" altLang="en-US" smtClean="0">
                <a:latin typeface="Times New Roman" pitchFamily="18" charset="0"/>
                <a:ea typeface="黑体" pitchFamily="2" charset="-122"/>
              </a:rPr>
              <a:t>显微系统的调焦标准不确定度</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清晰度法（几何焦深） </a:t>
            </a:r>
          </a:p>
          <a:p>
            <a:pPr eaLnBrk="1" hangingPunct="1">
              <a:defRPr/>
            </a:pPr>
            <a:r>
              <a:rPr lang="zh-CN" altLang="en-US" smtClean="0">
                <a:latin typeface="Times New Roman" pitchFamily="18" charset="0"/>
                <a:ea typeface="黑体" pitchFamily="2" charset="-122"/>
              </a:rPr>
              <a:t>将人眼的调焦标准不确定度换算到显微系统物方的简单方法，是把显微系统看作一个放大率较大的放大镜，其等效焦距为</a:t>
            </a:r>
          </a:p>
          <a:p>
            <a:pPr eaLnBrk="1" hangingPunct="1">
              <a:defRPr/>
            </a:pPr>
            <a:endParaRPr lang="zh-CN" altLang="en-US" smtClean="0">
              <a:latin typeface="Times New Roman" pitchFamily="18" charset="0"/>
              <a:ea typeface="黑体" pitchFamily="2" charset="-122"/>
            </a:endParaRPr>
          </a:p>
          <a:p>
            <a:pPr eaLnBrk="1" hangingPunct="1">
              <a:defRPr/>
            </a:pPr>
            <a:r>
              <a:rPr lang="zh-CN" altLang="en-US" smtClean="0">
                <a:latin typeface="Times New Roman" pitchFamily="18" charset="0"/>
                <a:ea typeface="黑体" pitchFamily="2" charset="-122"/>
              </a:rPr>
              <a:t>设显微系统物空间的折射率为</a:t>
            </a:r>
            <a:r>
              <a:rPr lang="en-US" altLang="zh-CN" i="1" smtClean="0">
                <a:latin typeface="Times New Roman" pitchFamily="18" charset="0"/>
                <a:ea typeface="黑体" pitchFamily="2" charset="-122"/>
              </a:rPr>
              <a:t>n</a:t>
            </a:r>
            <a:r>
              <a:rPr lang="zh-CN" altLang="en-US" smtClean="0">
                <a:latin typeface="Times New Roman" pitchFamily="18" charset="0"/>
                <a:ea typeface="黑体" pitchFamily="2" charset="-122"/>
              </a:rPr>
              <a:t>时，设人眼调焦标准不确定度为      ，则</a:t>
            </a:r>
          </a:p>
          <a:p>
            <a:pPr eaLnBrk="1" hangingPunct="1">
              <a:defRPr/>
            </a:pPr>
            <a:endParaRPr lang="zh-CN" altLang="en-US" smtClean="0">
              <a:latin typeface="Times New Roman" pitchFamily="18" charset="0"/>
              <a:ea typeface="黑体" pitchFamily="2" charset="-122"/>
            </a:endParaRPr>
          </a:p>
          <a:p>
            <a:pPr eaLnBrk="1" hangingPunct="1">
              <a:defRPr/>
            </a:pPr>
            <a:endParaRPr lang="zh-CN" altLang="en-US" smtClean="0">
              <a:latin typeface="Times New Roman" pitchFamily="18" charset="0"/>
              <a:ea typeface="黑体" pitchFamily="2" charset="-122"/>
            </a:endParaRPr>
          </a:p>
          <a:p>
            <a:pPr eaLnBrk="1" hangingPunct="1">
              <a:defRPr/>
            </a:pPr>
            <a:endParaRPr lang="zh-CN" altLang="en-US" smtClean="0">
              <a:latin typeface="Times New Roman" pitchFamily="18" charset="0"/>
              <a:ea typeface="黑体" pitchFamily="2" charset="-122"/>
            </a:endParaRPr>
          </a:p>
          <a:p>
            <a:pPr eaLnBrk="1" hangingPunct="1">
              <a:defRPr/>
            </a:pPr>
            <a:r>
              <a:rPr lang="zh-CN" altLang="en-US" smtClean="0">
                <a:latin typeface="Times New Roman" pitchFamily="18" charset="0"/>
                <a:ea typeface="黑体" pitchFamily="2" charset="-122"/>
              </a:rPr>
              <a:t>取</a:t>
            </a:r>
            <a:r>
              <a:rPr lang="en-US" altLang="zh-CN" i="1" smtClean="0">
                <a:latin typeface="Times New Roman" pitchFamily="18" charset="0"/>
                <a:ea typeface="黑体" pitchFamily="2" charset="-122"/>
              </a:rPr>
              <a:t>D</a:t>
            </a:r>
            <a:r>
              <a:rPr lang="en-US" altLang="zh-CN" baseline="-25000" smtClean="0">
                <a:latin typeface="Times New Roman" pitchFamily="18" charset="0"/>
                <a:ea typeface="黑体" pitchFamily="2" charset="-122"/>
              </a:rPr>
              <a:t>e</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D</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较小者，</a:t>
            </a:r>
          </a:p>
        </p:txBody>
      </p:sp>
      <p:sp>
        <p:nvSpPr>
          <p:cNvPr id="76810" name="Rectangle 3"/>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6811"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6812"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6813"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6814"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6815"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6816"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6817" name="Rectangle 1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6818" name="Rectangle 11"/>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76819" name="Rectangle 12"/>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6820"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6821" name="Rectangle 1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6822" name="Rectangle 15"/>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76823" name="Rectangle 16"/>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6824" name="Rectangle 17"/>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grpSp>
        <p:nvGrpSpPr>
          <p:cNvPr id="76825" name="Group 18"/>
          <p:cNvGrpSpPr>
            <a:grpSpLocks/>
          </p:cNvGrpSpPr>
          <p:nvPr/>
        </p:nvGrpSpPr>
        <p:grpSpPr bwMode="auto">
          <a:xfrm>
            <a:off x="3733800" y="1562100"/>
            <a:ext cx="1971675" cy="774700"/>
            <a:chOff x="939" y="975"/>
            <a:chExt cx="1242" cy="488"/>
          </a:xfrm>
        </p:grpSpPr>
        <p:graphicFrame>
          <p:nvGraphicFramePr>
            <p:cNvPr id="76806" name="Object 19"/>
            <p:cNvGraphicFramePr>
              <a:graphicFrameLocks noChangeAspect="1"/>
            </p:cNvGraphicFramePr>
            <p:nvPr/>
          </p:nvGraphicFramePr>
          <p:xfrm>
            <a:off x="939" y="975"/>
            <a:ext cx="846" cy="488"/>
          </p:xfrm>
          <a:graphic>
            <a:graphicData uri="http://schemas.openxmlformats.org/presentationml/2006/ole">
              <p:oleObj spid="_x0000_s76806" name="公式" r:id="rId3" imgW="16154717" imgH="9449117" progId="Equation.3">
                <p:embed/>
              </p:oleObj>
            </a:graphicData>
          </a:graphic>
        </p:graphicFrame>
        <p:sp>
          <p:nvSpPr>
            <p:cNvPr id="76828" name="Rectangle 20"/>
            <p:cNvSpPr>
              <a:spLocks noChangeArrowheads="1"/>
            </p:cNvSpPr>
            <p:nvPr/>
          </p:nvSpPr>
          <p:spPr bwMode="auto">
            <a:xfrm>
              <a:off x="1767" y="1086"/>
              <a:ext cx="414" cy="288"/>
            </a:xfrm>
            <a:prstGeom prst="rect">
              <a:avLst/>
            </a:prstGeom>
            <a:solidFill>
              <a:schemeClr val="accent1"/>
            </a:solidFill>
            <a:ln w="9525">
              <a:noFill/>
              <a:miter lim="800000"/>
              <a:headEnd/>
              <a:tailEnd/>
            </a:ln>
          </p:spPr>
          <p:txBody>
            <a:bodyPr wrap="none" anchor="ctr">
              <a:spAutoFit/>
            </a:bodyPr>
            <a:lstStyle/>
            <a:p>
              <a:r>
                <a:rPr lang="en-US" altLang="zh-CN" sz="2400">
                  <a:solidFill>
                    <a:srgbClr val="003300"/>
                  </a:solidFill>
                  <a:latin typeface="Times New Roman" pitchFamily="18" charset="0"/>
                  <a:cs typeface="Times New Roman" pitchFamily="18" charset="0"/>
                </a:rPr>
                <a:t>mm</a:t>
              </a:r>
              <a:endParaRPr lang="en-US" altLang="zh-CN" sz="2400">
                <a:solidFill>
                  <a:srgbClr val="003300"/>
                </a:solidFill>
              </a:endParaRPr>
            </a:p>
          </p:txBody>
        </p:sp>
      </p:grpSp>
      <p:sp>
        <p:nvSpPr>
          <p:cNvPr id="76826" name="Rectangle 21"/>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6802" name="Object 22"/>
          <p:cNvGraphicFramePr>
            <a:graphicFrameLocks noChangeAspect="1"/>
          </p:cNvGraphicFramePr>
          <p:nvPr/>
        </p:nvGraphicFramePr>
        <p:xfrm>
          <a:off x="1828800" y="2733675"/>
          <a:ext cx="333375" cy="384175"/>
        </p:xfrm>
        <a:graphic>
          <a:graphicData uri="http://schemas.openxmlformats.org/presentationml/2006/ole">
            <p:oleObj spid="_x0000_s76802" name="公式" r:id="rId4" imgW="4572317" imgH="5181917" progId="Equation.3">
              <p:embed/>
            </p:oleObj>
          </a:graphicData>
        </a:graphic>
      </p:graphicFrame>
      <p:sp>
        <p:nvSpPr>
          <p:cNvPr id="76827" name="Rectangle 23"/>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6803" name="Object 24"/>
          <p:cNvGraphicFramePr>
            <a:graphicFrameLocks noChangeAspect="1"/>
          </p:cNvGraphicFramePr>
          <p:nvPr/>
        </p:nvGraphicFramePr>
        <p:xfrm>
          <a:off x="965200" y="3221038"/>
          <a:ext cx="3849688" cy="930275"/>
        </p:xfrm>
        <a:graphic>
          <a:graphicData uri="http://schemas.openxmlformats.org/presentationml/2006/ole">
            <p:oleObj spid="_x0000_s76803" name="公式" r:id="rId5" imgW="44196317" imgH="10668317" progId="Equation.3">
              <p:embed/>
            </p:oleObj>
          </a:graphicData>
        </a:graphic>
      </p:graphicFrame>
      <p:graphicFrame>
        <p:nvGraphicFramePr>
          <p:cNvPr id="76804" name="Object 25"/>
          <p:cNvGraphicFramePr>
            <a:graphicFrameLocks noChangeAspect="1"/>
          </p:cNvGraphicFramePr>
          <p:nvPr/>
        </p:nvGraphicFramePr>
        <p:xfrm>
          <a:off x="4868863" y="3219450"/>
          <a:ext cx="3159125" cy="903288"/>
        </p:xfrm>
        <a:graphic>
          <a:graphicData uri="http://schemas.openxmlformats.org/presentationml/2006/ole">
            <p:oleObj spid="_x0000_s76804" name="公式" r:id="rId6" imgW="36271517" imgH="10363517" progId="Equation.3">
              <p:embed/>
            </p:oleObj>
          </a:graphicData>
        </a:graphic>
      </p:graphicFrame>
      <p:graphicFrame>
        <p:nvGraphicFramePr>
          <p:cNvPr id="76805" name="Object 26"/>
          <p:cNvGraphicFramePr>
            <a:graphicFrameLocks noChangeAspect="1"/>
          </p:cNvGraphicFramePr>
          <p:nvPr/>
        </p:nvGraphicFramePr>
        <p:xfrm>
          <a:off x="933450" y="5022850"/>
          <a:ext cx="7566025" cy="930275"/>
        </p:xfrm>
        <a:graphic>
          <a:graphicData uri="http://schemas.openxmlformats.org/presentationml/2006/ole">
            <p:oleObj spid="_x0000_s76805" name="公式" r:id="rId7" imgW="86868317" imgH="10668317" progId="Equation.3">
              <p:embed/>
            </p:oleObj>
          </a:graphicData>
        </a:graphic>
      </p:graphicFrame>
    </p:spTree>
  </p:cSld>
  <p:clrMapOvr>
    <a:masterClrMapping/>
  </p:clrMapOvr>
  <p:transition>
    <p:circle/>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日期占位符 3"/>
          <p:cNvSpPr>
            <a:spLocks noGrp="1"/>
          </p:cNvSpPr>
          <p:nvPr>
            <p:ph type="dt" sz="quarter" idx="10"/>
          </p:nvPr>
        </p:nvSpPr>
        <p:spPr>
          <a:noFill/>
        </p:spPr>
        <p:txBody>
          <a:bodyPr/>
          <a:lstStyle/>
          <a:p>
            <a:fld id="{2F4972BF-7946-435D-B045-EA8DC34E56F2}" type="datetime1">
              <a:rPr lang="zh-CN" altLang="en-US" smtClean="0"/>
              <a:pPr/>
              <a:t>2018/2/24</a:t>
            </a:fld>
            <a:endParaRPr lang="en-US" altLang="zh-CN" smtClean="0"/>
          </a:p>
        </p:txBody>
      </p:sp>
      <p:sp>
        <p:nvSpPr>
          <p:cNvPr id="77828" name="灯片编号占位符 5"/>
          <p:cNvSpPr>
            <a:spLocks noGrp="1"/>
          </p:cNvSpPr>
          <p:nvPr>
            <p:ph type="sldNum" sz="quarter" idx="12"/>
          </p:nvPr>
        </p:nvSpPr>
        <p:spPr>
          <a:noFill/>
        </p:spPr>
        <p:txBody>
          <a:bodyPr/>
          <a:lstStyle/>
          <a:p>
            <a:fld id="{7FA6669E-A7DD-4AFF-8B19-D6036E831FA2}" type="slidenum">
              <a:rPr lang="en-US" altLang="zh-CN" smtClean="0"/>
              <a:pPr/>
              <a:t>109</a:t>
            </a:fld>
            <a:endParaRPr lang="en-US" altLang="zh-CN" smtClean="0"/>
          </a:p>
        </p:txBody>
      </p:sp>
      <p:sp>
        <p:nvSpPr>
          <p:cNvPr id="658434" name="Rectangle 2"/>
          <p:cNvSpPr>
            <a:spLocks noGrp="1" noRot="1" noChangeArrowheads="1"/>
          </p:cNvSpPr>
          <p:nvPr>
            <p:ph type="body" idx="1"/>
          </p:nvPr>
        </p:nvSpPr>
        <p:spPr>
          <a:xfrm>
            <a:off x="385763" y="560388"/>
            <a:ext cx="8229600" cy="4805362"/>
          </a:xfrm>
        </p:spPr>
        <p:txBody>
          <a:bodyPr/>
          <a:lstStyle/>
          <a:p>
            <a:pPr marL="442913" indent="-442913" eaLnBrk="1" hangingPunct="1">
              <a:lnSpc>
                <a:spcPct val="90000"/>
              </a:lnSpc>
              <a:buFont typeface="Wingdings" pitchFamily="2" charset="2"/>
              <a:buNone/>
              <a:defRPr/>
            </a:pPr>
            <a:r>
              <a:rPr lang="zh-CN" altLang="en-US" smtClean="0">
                <a:latin typeface="Times New Roman" pitchFamily="18" charset="0"/>
                <a:ea typeface="黑体" pitchFamily="2" charset="-122"/>
              </a:rPr>
              <a:t>显微系统的调焦标准不确定度</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清晰度法（物理焦深） </a:t>
            </a:r>
          </a:p>
          <a:p>
            <a:pPr marL="442913" indent="-442913" algn="just" eaLnBrk="1" hangingPunct="1">
              <a:lnSpc>
                <a:spcPct val="90000"/>
              </a:lnSpc>
              <a:defRPr/>
            </a:pPr>
            <a:r>
              <a:rPr lang="zh-CN" altLang="en-US" smtClean="0">
                <a:latin typeface="Times New Roman" pitchFamily="18" charset="0"/>
                <a:ea typeface="黑体" pitchFamily="2" charset="-122"/>
              </a:rPr>
              <a:t>如果</a:t>
            </a:r>
            <a:r>
              <a:rPr lang="en-US" altLang="zh-CN" i="1" smtClean="0">
                <a:latin typeface="Times New Roman" pitchFamily="18" charset="0"/>
                <a:ea typeface="黑体" pitchFamily="2" charset="-122"/>
              </a:rPr>
              <a:t>D</a:t>
            </a:r>
            <a:r>
              <a:rPr lang="en-US" altLang="zh-CN" i="1" baseline="-25000" smtClean="0">
                <a:latin typeface="Times New Roman" pitchFamily="18" charset="0"/>
                <a:ea typeface="黑体" pitchFamily="2" charset="-122"/>
              </a:rPr>
              <a:t>e</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D</a:t>
            </a:r>
            <a:r>
              <a:rPr lang="en-US" altLang="zh-CN" smtClean="0">
                <a:latin typeface="Times New Roman" pitchFamily="18" charset="0"/>
                <a:ea typeface="黑体" pitchFamily="2" charset="-122"/>
              </a:rPr>
              <a:t>′</a:t>
            </a:r>
            <a:r>
              <a:rPr lang="zh-CN" altLang="en-US" smtClean="0">
                <a:latin typeface="Times New Roman" pitchFamily="18" charset="0"/>
                <a:ea typeface="黑体" pitchFamily="2" charset="-122"/>
              </a:rPr>
              <a:t>，则当目标像和标志像发出的光束在显微系统出瞳范围内所截波面之间的波差小于</a:t>
            </a:r>
            <a:r>
              <a:rPr lang="el-GR" altLang="zh-CN" i="1" smtClean="0">
                <a:latin typeface="Times New Roman" pitchFamily="18" charset="0"/>
                <a:ea typeface="黑体" pitchFamily="2" charset="-122"/>
                <a:cs typeface="Times New Roman" pitchFamily="18" charset="0"/>
              </a:rPr>
              <a:t>λ</a:t>
            </a:r>
            <a:r>
              <a:rPr lang="en-US" altLang="zh-CN" smtClean="0">
                <a:latin typeface="Times New Roman" pitchFamily="18" charset="0"/>
                <a:ea typeface="黑体" pitchFamily="2" charset="-122"/>
              </a:rPr>
              <a:t>/6</a:t>
            </a:r>
            <a:r>
              <a:rPr lang="zh-CN" altLang="en-US" smtClean="0">
                <a:latin typeface="Times New Roman" pitchFamily="18" charset="0"/>
                <a:ea typeface="黑体" pitchFamily="2" charset="-122"/>
              </a:rPr>
              <a:t>时，人眼看到二者同样清晰。假定显微镜像质良好，在目标到标志的深度范围内波像差的变化很小。那么，在显微系统物方，目标和标志对入瞳的波差也应小于</a:t>
            </a:r>
            <a:r>
              <a:rPr lang="el-GR" altLang="zh-CN" i="1" smtClean="0">
                <a:latin typeface="Times New Roman" pitchFamily="18" charset="0"/>
                <a:ea typeface="黑体" pitchFamily="2" charset="-122"/>
              </a:rPr>
              <a:t>λ</a:t>
            </a:r>
            <a:r>
              <a:rPr lang="en-US" altLang="zh-CN" smtClean="0">
                <a:latin typeface="Times New Roman" pitchFamily="18" charset="0"/>
                <a:ea typeface="黑体" pitchFamily="2" charset="-122"/>
              </a:rPr>
              <a:t>/6</a:t>
            </a:r>
            <a:r>
              <a:rPr lang="zh-CN" altLang="en-US" smtClean="0">
                <a:latin typeface="Times New Roman" pitchFamily="18" charset="0"/>
                <a:ea typeface="黑体" pitchFamily="2" charset="-122"/>
              </a:rPr>
              <a:t>。</a:t>
            </a:r>
          </a:p>
          <a:p>
            <a:pPr marL="442913" indent="-442913" algn="just" eaLnBrk="1" hangingPunct="1">
              <a:lnSpc>
                <a:spcPct val="90000"/>
              </a:lnSpc>
              <a:defRPr/>
            </a:pPr>
            <a:r>
              <a:rPr lang="zh-CN" altLang="en-US" smtClean="0">
                <a:latin typeface="Times New Roman" pitchFamily="18" charset="0"/>
                <a:ea typeface="黑体" pitchFamily="2" charset="-122"/>
              </a:rPr>
              <a:t>设目标到入瞳的距离为</a:t>
            </a:r>
            <a:r>
              <a:rPr lang="en-US" altLang="zh-CN" i="1" smtClean="0">
                <a:latin typeface="Times New Roman" pitchFamily="18" charset="0"/>
                <a:ea typeface="黑体" pitchFamily="2" charset="-122"/>
              </a:rPr>
              <a:t>R</a:t>
            </a:r>
            <a:r>
              <a:rPr lang="en-US" altLang="zh-CN" baseline="-25000" smtClean="0">
                <a:latin typeface="Times New Roman" pitchFamily="18" charset="0"/>
                <a:ea typeface="黑体" pitchFamily="2" charset="-122"/>
              </a:rPr>
              <a:t>1</a:t>
            </a:r>
            <a:r>
              <a:rPr lang="zh-CN" altLang="en-US" smtClean="0">
                <a:latin typeface="Times New Roman" pitchFamily="18" charset="0"/>
                <a:ea typeface="黑体" pitchFamily="2" charset="-122"/>
              </a:rPr>
              <a:t>，到标志的距离为</a:t>
            </a:r>
            <a:r>
              <a:rPr lang="en-US" altLang="zh-CN" i="1" smtClean="0">
                <a:latin typeface="Times New Roman" pitchFamily="18" charset="0"/>
                <a:ea typeface="黑体" pitchFamily="2" charset="-122"/>
              </a:rPr>
              <a:t>R</a:t>
            </a:r>
            <a:r>
              <a:rPr lang="en-US" altLang="zh-CN" baseline="-25000" smtClean="0">
                <a:latin typeface="Times New Roman" pitchFamily="18" charset="0"/>
                <a:ea typeface="黑体" pitchFamily="2" charset="-122"/>
              </a:rPr>
              <a:t>2</a:t>
            </a:r>
            <a:r>
              <a:rPr lang="zh-CN" altLang="en-US" smtClean="0">
                <a:latin typeface="Times New Roman" pitchFamily="18" charset="0"/>
                <a:ea typeface="黑体" pitchFamily="2" charset="-122"/>
              </a:rPr>
              <a:t>，入瞳直径为</a:t>
            </a:r>
            <a:r>
              <a:rPr lang="en-US" altLang="zh-CN" i="1" smtClean="0">
                <a:latin typeface="Times New Roman" pitchFamily="18" charset="0"/>
                <a:ea typeface="黑体" pitchFamily="2" charset="-122"/>
              </a:rPr>
              <a:t>D</a:t>
            </a:r>
            <a:r>
              <a:rPr lang="zh-CN" altLang="en-US" smtClean="0">
                <a:latin typeface="Times New Roman" pitchFamily="18" charset="0"/>
                <a:ea typeface="黑体" pitchFamily="2" charset="-122"/>
              </a:rPr>
              <a:t>。则二者之间在入瞳处的波差，当</a:t>
            </a:r>
            <a:r>
              <a:rPr lang="en-US" altLang="zh-CN" i="1" smtClean="0">
                <a:latin typeface="Times New Roman" pitchFamily="18" charset="0"/>
                <a:ea typeface="黑体" pitchFamily="2" charset="-122"/>
              </a:rPr>
              <a:t>NA</a:t>
            </a:r>
            <a:r>
              <a:rPr lang="en-US" altLang="zh-CN" smtClean="0">
                <a:latin typeface="Times New Roman" pitchFamily="18" charset="0"/>
                <a:ea typeface="黑体" pitchFamily="2" charset="-122"/>
              </a:rPr>
              <a:t>≤0.50</a:t>
            </a:r>
            <a:r>
              <a:rPr lang="zh-CN" altLang="en-US" smtClean="0">
                <a:latin typeface="Times New Roman" pitchFamily="18" charset="0"/>
                <a:ea typeface="黑体" pitchFamily="2" charset="-122"/>
              </a:rPr>
              <a:t>时，根据波像差理论，可近似得</a:t>
            </a:r>
          </a:p>
          <a:p>
            <a:pPr marL="442913" indent="-442913" algn="just" eaLnBrk="1" hangingPunct="1">
              <a:lnSpc>
                <a:spcPct val="90000"/>
              </a:lnSpc>
              <a:defRPr/>
            </a:pPr>
            <a:endParaRPr lang="zh-CN" altLang="en-US" smtClean="0">
              <a:latin typeface="Times New Roman" pitchFamily="18" charset="0"/>
              <a:ea typeface="黑体" pitchFamily="2" charset="-122"/>
            </a:endParaRPr>
          </a:p>
          <a:p>
            <a:pPr marL="442913" indent="-442913" algn="just" eaLnBrk="1" hangingPunct="1">
              <a:lnSpc>
                <a:spcPct val="90000"/>
              </a:lnSpc>
              <a:defRPr/>
            </a:pPr>
            <a:endParaRPr lang="zh-CN" altLang="en-US" smtClean="0">
              <a:latin typeface="Times New Roman" pitchFamily="18" charset="0"/>
              <a:ea typeface="黑体" pitchFamily="2" charset="-122"/>
            </a:endParaRPr>
          </a:p>
          <a:p>
            <a:pPr marL="442913" indent="-442913" algn="just" eaLnBrk="1" hangingPunct="1">
              <a:lnSpc>
                <a:spcPct val="90000"/>
              </a:lnSpc>
              <a:defRPr/>
            </a:pPr>
            <a:r>
              <a:rPr lang="zh-CN" altLang="en-US" smtClean="0">
                <a:latin typeface="Times New Roman" pitchFamily="18" charset="0"/>
                <a:ea typeface="黑体" pitchFamily="2" charset="-122"/>
              </a:rPr>
              <a:t>假设物空间介质的折射率为</a:t>
            </a:r>
            <a:r>
              <a:rPr lang="en-US" altLang="zh-CN" i="1" smtClean="0">
                <a:latin typeface="Times New Roman" pitchFamily="18" charset="0"/>
                <a:ea typeface="黑体" pitchFamily="2" charset="-122"/>
              </a:rPr>
              <a:t>n</a:t>
            </a:r>
            <a:r>
              <a:rPr lang="zh-CN" altLang="en-US" smtClean="0">
                <a:latin typeface="Times New Roman" pitchFamily="18" charset="0"/>
                <a:ea typeface="黑体" pitchFamily="2" charset="-122"/>
              </a:rPr>
              <a:t>，物方最大孔径角为</a:t>
            </a:r>
            <a:r>
              <a:rPr lang="en-US" altLang="zh-CN" i="1" smtClean="0">
                <a:latin typeface="Times New Roman" pitchFamily="18" charset="0"/>
                <a:ea typeface="黑体" pitchFamily="2" charset="-122"/>
              </a:rPr>
              <a:t>U</a:t>
            </a:r>
            <a:r>
              <a:rPr lang="zh-CN" altLang="en-US" smtClean="0">
                <a:latin typeface="Times New Roman" pitchFamily="18" charset="0"/>
                <a:ea typeface="黑体" pitchFamily="2" charset="-122"/>
              </a:rPr>
              <a:t>，而且差值</a:t>
            </a:r>
            <a:r>
              <a:rPr lang="en-US" altLang="zh-CN" i="1" smtClean="0">
                <a:latin typeface="Times New Roman" pitchFamily="18" charset="0"/>
                <a:ea typeface="黑体" pitchFamily="2" charset="-122"/>
              </a:rPr>
              <a:t>R</a:t>
            </a:r>
            <a:r>
              <a:rPr lang="en-US" altLang="zh-CN" baseline="-25000" smtClean="0">
                <a:latin typeface="Times New Roman" pitchFamily="18" charset="0"/>
                <a:ea typeface="黑体" pitchFamily="2" charset="-122"/>
              </a:rPr>
              <a:t>2</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R</a:t>
            </a:r>
            <a:r>
              <a:rPr lang="en-US" altLang="zh-CN" baseline="-25000" smtClean="0">
                <a:latin typeface="Times New Roman" pitchFamily="18" charset="0"/>
                <a:ea typeface="黑体" pitchFamily="2" charset="-122"/>
              </a:rPr>
              <a:t>1</a:t>
            </a:r>
            <a:r>
              <a:rPr lang="zh-CN" altLang="en-US" smtClean="0">
                <a:latin typeface="Times New Roman" pitchFamily="18" charset="0"/>
                <a:ea typeface="黑体" pitchFamily="2" charset="-122"/>
              </a:rPr>
              <a:t>＝△</a:t>
            </a:r>
            <a:r>
              <a:rPr lang="en-US" altLang="zh-CN" i="1" smtClean="0">
                <a:latin typeface="Times New Roman" pitchFamily="18" charset="0"/>
                <a:ea typeface="黑体" pitchFamily="2" charset="-122"/>
              </a:rPr>
              <a:t>x</a:t>
            </a:r>
            <a:r>
              <a:rPr lang="en-US" altLang="zh-CN" baseline="-25000" smtClean="0">
                <a:latin typeface="Times New Roman" pitchFamily="18" charset="0"/>
                <a:ea typeface="黑体" pitchFamily="2" charset="-122"/>
              </a:rPr>
              <a:t>2</a:t>
            </a:r>
            <a:r>
              <a:rPr lang="zh-CN" altLang="en-US" smtClean="0">
                <a:latin typeface="Times New Roman" pitchFamily="18" charset="0"/>
                <a:ea typeface="黑体" pitchFamily="2" charset="-122"/>
              </a:rPr>
              <a:t>是个很小的数。则有</a:t>
            </a:r>
          </a:p>
        </p:txBody>
      </p:sp>
      <p:sp>
        <p:nvSpPr>
          <p:cNvPr id="77830" name="Rectangle 3"/>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7831"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7832"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7833"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7834"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7835"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7836"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7837" name="Rectangle 1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7838" name="Rectangle 11"/>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77839" name="Rectangle 12"/>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7840"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7841" name="Rectangle 1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7842" name="Rectangle 15"/>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77843" name="Rectangle 16"/>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7844" name="Rectangle 17"/>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77845" name="Rectangle 18"/>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7846" name="Rectangle 1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sp>
        <p:nvSpPr>
          <p:cNvPr id="77847" name="Rectangle 20"/>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7826" name="Object 21"/>
          <p:cNvGraphicFramePr>
            <a:graphicFrameLocks noChangeAspect="1"/>
          </p:cNvGraphicFramePr>
          <p:nvPr/>
        </p:nvGraphicFramePr>
        <p:xfrm>
          <a:off x="5030788" y="3429000"/>
          <a:ext cx="2324100" cy="1082675"/>
        </p:xfrm>
        <a:graphic>
          <a:graphicData uri="http://schemas.openxmlformats.org/presentationml/2006/ole">
            <p:oleObj spid="_x0000_s77826" name="公式" r:id="rId3" imgW="23469917" imgH="10973117" progId="Equation.3">
              <p:embed/>
            </p:oleObj>
          </a:graphicData>
        </a:graphic>
      </p:graphicFrame>
      <p:sp>
        <p:nvSpPr>
          <p:cNvPr id="77848" name="Rectangle 22"/>
          <p:cNvSpPr>
            <a:spLocks noChangeArrowheads="1"/>
          </p:cNvSpPr>
          <p:nvPr/>
        </p:nvSpPr>
        <p:spPr bwMode="auto">
          <a:xfrm>
            <a:off x="0" y="2800350"/>
            <a:ext cx="9144000" cy="0"/>
          </a:xfrm>
          <a:prstGeom prst="rect">
            <a:avLst/>
          </a:prstGeom>
          <a:noFill/>
          <a:ln w="9525">
            <a:noFill/>
            <a:miter lim="800000"/>
            <a:headEnd/>
            <a:tailEnd/>
          </a:ln>
        </p:spPr>
        <p:txBody>
          <a:bodyPr wrap="none" anchor="ctr">
            <a:spAutoFit/>
          </a:bodyPr>
          <a:lstStyle/>
          <a:p>
            <a:endParaRPr lang="zh-CN" altLang="en-US"/>
          </a:p>
        </p:txBody>
      </p:sp>
      <p:sp>
        <p:nvSpPr>
          <p:cNvPr id="77849" name="Rectangle 23"/>
          <p:cNvSpPr>
            <a:spLocks noChangeArrowheads="1"/>
          </p:cNvSpPr>
          <p:nvPr/>
        </p:nvSpPr>
        <p:spPr bwMode="auto">
          <a:xfrm>
            <a:off x="0" y="3209925"/>
            <a:ext cx="9144000" cy="0"/>
          </a:xfrm>
          <a:prstGeom prst="rect">
            <a:avLst/>
          </a:prstGeom>
          <a:noFill/>
          <a:ln w="9525">
            <a:noFill/>
            <a:miter lim="800000"/>
            <a:headEnd/>
            <a:tailEnd/>
          </a:ln>
        </p:spPr>
        <p:txBody>
          <a:bodyPr wrap="none" anchor="ctr">
            <a:spAutoFit/>
          </a:bodyPr>
          <a:lstStyle/>
          <a:p>
            <a:endParaRPr lang="zh-CN" altLang="en-US"/>
          </a:p>
        </p:txBody>
      </p:sp>
      <p:sp>
        <p:nvSpPr>
          <p:cNvPr id="77850" name="Rectangle 24"/>
          <p:cNvSpPr>
            <a:spLocks noChangeArrowheads="1"/>
          </p:cNvSpPr>
          <p:nvPr/>
        </p:nvSpPr>
        <p:spPr bwMode="auto">
          <a:xfrm>
            <a:off x="0" y="3629025"/>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ircle/>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日期占位符 3"/>
          <p:cNvSpPr>
            <a:spLocks noGrp="1"/>
          </p:cNvSpPr>
          <p:nvPr>
            <p:ph type="dt" sz="quarter" idx="10"/>
          </p:nvPr>
        </p:nvSpPr>
        <p:spPr>
          <a:noFill/>
        </p:spPr>
        <p:txBody>
          <a:bodyPr/>
          <a:lstStyle/>
          <a:p>
            <a:fld id="{B19586BD-3138-4860-9AAC-661EEE09883F}" type="datetime1">
              <a:rPr lang="zh-CN" altLang="en-US" smtClean="0"/>
              <a:pPr/>
              <a:t>2018/2/24</a:t>
            </a:fld>
            <a:endParaRPr lang="en-US" altLang="zh-CN" smtClean="0"/>
          </a:p>
        </p:txBody>
      </p:sp>
      <p:sp>
        <p:nvSpPr>
          <p:cNvPr id="78854" name="灯片编号占位符 5"/>
          <p:cNvSpPr>
            <a:spLocks noGrp="1"/>
          </p:cNvSpPr>
          <p:nvPr>
            <p:ph type="sldNum" sz="quarter" idx="12"/>
          </p:nvPr>
        </p:nvSpPr>
        <p:spPr>
          <a:noFill/>
        </p:spPr>
        <p:txBody>
          <a:bodyPr/>
          <a:lstStyle/>
          <a:p>
            <a:fld id="{7C494FAE-57DC-475F-AFA3-AF53346D8EC8}" type="slidenum">
              <a:rPr lang="en-US" altLang="zh-CN" smtClean="0"/>
              <a:pPr/>
              <a:t>110</a:t>
            </a:fld>
            <a:endParaRPr lang="en-US" altLang="zh-CN" smtClean="0"/>
          </a:p>
        </p:txBody>
      </p:sp>
      <p:sp>
        <p:nvSpPr>
          <p:cNvPr id="659458" name="Rectangle 2"/>
          <p:cNvSpPr>
            <a:spLocks noGrp="1" noRot="1" noChangeArrowheads="1"/>
          </p:cNvSpPr>
          <p:nvPr>
            <p:ph type="body" idx="1"/>
          </p:nvPr>
        </p:nvSpPr>
        <p:spPr>
          <a:xfrm>
            <a:off x="385763" y="288925"/>
            <a:ext cx="8229600" cy="4805363"/>
          </a:xfrm>
        </p:spPr>
        <p:txBody>
          <a:bodyPr/>
          <a:lstStyle/>
          <a:p>
            <a:pPr marL="442913" indent="-442913" eaLnBrk="1" hangingPunct="1">
              <a:buFont typeface="Wingdings" pitchFamily="2" charset="2"/>
              <a:buNone/>
              <a:defRPr/>
            </a:pPr>
            <a:endParaRPr lang="zh-CN" altLang="zh-CN" sz="2000" b="0" smtClean="0">
              <a:solidFill>
                <a:srgbClr val="FFFF00"/>
              </a:solidFill>
              <a:latin typeface="Times New Roman" pitchFamily="18" charset="0"/>
            </a:endParaRPr>
          </a:p>
        </p:txBody>
      </p:sp>
      <p:sp>
        <p:nvSpPr>
          <p:cNvPr id="78856" name="Rectangle 3"/>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8857" name="Rectangle 4"/>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8858" name="Rectangle 5"/>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8859" name="Rectangle 6"/>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8860" name="Rectangle 7"/>
          <p:cNvSpPr>
            <a:spLocks noChangeArrowheads="1"/>
          </p:cNvSpPr>
          <p:nvPr/>
        </p:nvSpPr>
        <p:spPr bwMode="auto">
          <a:xfrm>
            <a:off x="985838" y="1733550"/>
            <a:ext cx="1168400" cy="0"/>
          </a:xfrm>
          <a:prstGeom prst="rect">
            <a:avLst/>
          </a:prstGeom>
          <a:noFill/>
          <a:ln w="9525">
            <a:noFill/>
            <a:miter lim="800000"/>
            <a:headEnd/>
            <a:tailEnd/>
          </a:ln>
        </p:spPr>
        <p:txBody>
          <a:bodyPr wrap="none" anchor="ctr">
            <a:spAutoFit/>
          </a:bodyPr>
          <a:lstStyle/>
          <a:p>
            <a:endParaRPr lang="zh-CN" altLang="en-US"/>
          </a:p>
        </p:txBody>
      </p:sp>
      <p:sp>
        <p:nvSpPr>
          <p:cNvPr id="78861" name="Rectangle 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8862" name="Rectangle 9"/>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8863" name="Rectangle 10"/>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8864" name="Rectangle 11"/>
          <p:cNvSpPr>
            <a:spLocks noChangeArrowheads="1"/>
          </p:cNvSpPr>
          <p:nvPr/>
        </p:nvSpPr>
        <p:spPr bwMode="auto">
          <a:xfrm>
            <a:off x="0" y="3128963"/>
            <a:ext cx="9144000" cy="0"/>
          </a:xfrm>
          <a:prstGeom prst="rect">
            <a:avLst/>
          </a:prstGeom>
          <a:noFill/>
          <a:ln w="9525">
            <a:noFill/>
            <a:miter lim="800000"/>
            <a:headEnd/>
            <a:tailEnd/>
          </a:ln>
        </p:spPr>
        <p:txBody>
          <a:bodyPr wrap="none" anchor="ctr">
            <a:spAutoFit/>
          </a:bodyPr>
          <a:lstStyle/>
          <a:p>
            <a:endParaRPr lang="zh-CN" altLang="en-US"/>
          </a:p>
        </p:txBody>
      </p:sp>
      <p:sp>
        <p:nvSpPr>
          <p:cNvPr id="78865" name="Rectangle 12"/>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sp>
        <p:nvSpPr>
          <p:cNvPr id="78866" name="Rectangle 1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8867" name="Rectangle 1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8868" name="Rectangle 15"/>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sp>
        <p:nvSpPr>
          <p:cNvPr id="78869" name="Rectangle 16"/>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
        <p:nvSpPr>
          <p:cNvPr id="78870" name="Rectangle 17"/>
          <p:cNvSpPr>
            <a:spLocks noChangeArrowheads="1"/>
          </p:cNvSpPr>
          <p:nvPr/>
        </p:nvSpPr>
        <p:spPr bwMode="auto">
          <a:xfrm>
            <a:off x="0" y="3111500"/>
            <a:ext cx="9144000" cy="0"/>
          </a:xfrm>
          <a:prstGeom prst="rect">
            <a:avLst/>
          </a:prstGeom>
          <a:noFill/>
          <a:ln w="9525">
            <a:noFill/>
            <a:miter lim="800000"/>
            <a:headEnd/>
            <a:tailEnd/>
          </a:ln>
        </p:spPr>
        <p:txBody>
          <a:bodyPr wrap="none" anchor="ctr">
            <a:spAutoFit/>
          </a:bodyPr>
          <a:lstStyle/>
          <a:p>
            <a:endParaRPr lang="zh-CN" altLang="en-US"/>
          </a:p>
        </p:txBody>
      </p:sp>
      <p:sp>
        <p:nvSpPr>
          <p:cNvPr id="78871" name="Rectangle 18"/>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sp>
        <p:nvSpPr>
          <p:cNvPr id="78872" name="Rectangle 1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sp>
        <p:nvSpPr>
          <p:cNvPr id="78873" name="Rectangle 20"/>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sp>
        <p:nvSpPr>
          <p:cNvPr id="78874" name="Rectangle 21"/>
          <p:cNvSpPr>
            <a:spLocks noChangeArrowheads="1"/>
          </p:cNvSpPr>
          <p:nvPr/>
        </p:nvSpPr>
        <p:spPr bwMode="auto">
          <a:xfrm>
            <a:off x="0" y="28003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8850" name="Object 22"/>
          <p:cNvGraphicFramePr>
            <a:graphicFrameLocks noChangeAspect="1"/>
          </p:cNvGraphicFramePr>
          <p:nvPr/>
        </p:nvGraphicFramePr>
        <p:xfrm>
          <a:off x="2486025" y="2028825"/>
          <a:ext cx="3708400" cy="881063"/>
        </p:xfrm>
        <a:graphic>
          <a:graphicData uri="http://schemas.openxmlformats.org/presentationml/2006/ole">
            <p:oleObj spid="_x0000_s78850" name="公式" r:id="rId3" imgW="41453117" imgH="9753917" progId="Equation.3">
              <p:embed/>
            </p:oleObj>
          </a:graphicData>
        </a:graphic>
      </p:graphicFrame>
      <p:sp>
        <p:nvSpPr>
          <p:cNvPr id="78875" name="Rectangle 23"/>
          <p:cNvSpPr>
            <a:spLocks noChangeArrowheads="1"/>
          </p:cNvSpPr>
          <p:nvPr/>
        </p:nvSpPr>
        <p:spPr bwMode="auto">
          <a:xfrm>
            <a:off x="0" y="32099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8851" name="Object 24"/>
          <p:cNvGraphicFramePr>
            <a:graphicFrameLocks noChangeAspect="1"/>
          </p:cNvGraphicFramePr>
          <p:nvPr/>
        </p:nvGraphicFramePr>
        <p:xfrm>
          <a:off x="2486025" y="3035300"/>
          <a:ext cx="3714750" cy="1111250"/>
        </p:xfrm>
        <a:graphic>
          <a:graphicData uri="http://schemas.openxmlformats.org/presentationml/2006/ole">
            <p:oleObj spid="_x0000_s78851" name="公式" r:id="rId4" imgW="33528317" imgH="10058717" progId="Equation.3">
              <p:embed/>
            </p:oleObj>
          </a:graphicData>
        </a:graphic>
      </p:graphicFrame>
      <p:sp>
        <p:nvSpPr>
          <p:cNvPr id="78876" name="Rectangle 25"/>
          <p:cNvSpPr>
            <a:spLocks noChangeArrowheads="1"/>
          </p:cNvSpPr>
          <p:nvPr/>
        </p:nvSpPr>
        <p:spPr bwMode="auto">
          <a:xfrm>
            <a:off x="0" y="36290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78852" name="Object 26"/>
          <p:cNvGraphicFramePr>
            <a:graphicFrameLocks noChangeAspect="1"/>
          </p:cNvGraphicFramePr>
          <p:nvPr/>
        </p:nvGraphicFramePr>
        <p:xfrm>
          <a:off x="2486025" y="4271963"/>
          <a:ext cx="3743325" cy="957262"/>
        </p:xfrm>
        <a:graphic>
          <a:graphicData uri="http://schemas.openxmlformats.org/presentationml/2006/ole">
            <p:oleObj spid="_x0000_s78852" name="公式" r:id="rId5" imgW="40233917" imgH="10363517" progId="Equation.3">
              <p:embed/>
            </p:oleObj>
          </a:graphicData>
        </a:graphic>
      </p:graphicFrame>
      <p:sp>
        <p:nvSpPr>
          <p:cNvPr id="78877" name="Rectangle 27">
            <a:hlinkClick r:id="rId6" action="ppaction://hlinksldjump"/>
          </p:cNvPr>
          <p:cNvSpPr>
            <a:spLocks noChangeArrowheads="1"/>
          </p:cNvSpPr>
          <p:nvPr/>
        </p:nvSpPr>
        <p:spPr bwMode="auto">
          <a:xfrm>
            <a:off x="0" y="0"/>
            <a:ext cx="9144000" cy="6858000"/>
          </a:xfrm>
          <a:prstGeom prst="rect">
            <a:avLst/>
          </a:prstGeom>
          <a:noFill/>
          <a:ln w="9525">
            <a:solidFill>
              <a:schemeClr val="tx1"/>
            </a:solidFill>
            <a:miter lim="800000"/>
            <a:headEnd/>
            <a:tailEnd/>
          </a:ln>
        </p:spPr>
        <p:txBody>
          <a:bodyPr wrap="none" anchor="ctr"/>
          <a:lstStyle/>
          <a:p>
            <a:endParaRPr lang="zh-CN" altLang="en-US"/>
          </a:p>
        </p:txBody>
      </p:sp>
    </p:spTree>
  </p:cSld>
  <p:clrMapOvr>
    <a:masterClrMapping/>
  </p:clrMapOvr>
  <p:transition>
    <p:circle/>
  </p:transition>
  <p:timing>
    <p:tnLst>
      <p:par>
        <p:cTn id="1" dur="indefinite" restart="never" nodeType="tmRoot"/>
      </p:par>
    </p:tnLst>
  </p:timing>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7477</TotalTime>
  <Words>8905</Words>
  <Application>Microsoft PowerPoint</Application>
  <PresentationFormat>全屏显示(4:3)</PresentationFormat>
  <Paragraphs>1214</Paragraphs>
  <Slides>110</Slides>
  <Notes>1</Notes>
  <HiddenSlides>1</HiddenSlides>
  <MMClips>0</MMClips>
  <ScaleCrop>false</ScaleCrop>
  <HeadingPairs>
    <vt:vector size="6" baseType="variant">
      <vt:variant>
        <vt:lpstr>主题</vt:lpstr>
      </vt:variant>
      <vt:variant>
        <vt:i4>1</vt:i4>
      </vt:variant>
      <vt:variant>
        <vt:lpstr>嵌入 OLE 服务器</vt:lpstr>
      </vt:variant>
      <vt:variant>
        <vt:i4>5</vt:i4>
      </vt:variant>
      <vt:variant>
        <vt:lpstr>幻灯片标题</vt:lpstr>
      </vt:variant>
      <vt:variant>
        <vt:i4>110</vt:i4>
      </vt:variant>
    </vt:vector>
  </HeadingPairs>
  <TitlesOfParts>
    <vt:vector size="116" baseType="lpstr">
      <vt:lpstr>吉祥如意</vt:lpstr>
      <vt:lpstr>Microsoft 公式 3.0</vt:lpstr>
      <vt:lpstr>公式</vt:lpstr>
      <vt:lpstr>AutoCAD Drawing</vt:lpstr>
      <vt:lpstr>位图图像</vt:lpstr>
      <vt:lpstr>Equation</vt:lpstr>
      <vt:lpstr>光电测试技术</vt:lpstr>
      <vt:lpstr>幻灯片 2</vt:lpstr>
      <vt:lpstr>▍ 本章主要内容</vt:lpstr>
      <vt:lpstr>§2-1  对准和调焦技术</vt:lpstr>
      <vt:lpstr>幻灯片 5</vt:lpstr>
      <vt:lpstr>§2-1  对准和调焦技术  </vt:lpstr>
      <vt:lpstr>§2-1  对准和调焦技术  </vt:lpstr>
      <vt:lpstr>§2-1  对准和调焦技术  </vt:lpstr>
      <vt:lpstr>§2-1  对准和调焦技术  </vt:lpstr>
      <vt:lpstr>§2-1  对准和调焦技术  </vt:lpstr>
      <vt:lpstr>§2-1  对准和调焦技术  </vt:lpstr>
      <vt:lpstr>§2-1  对准和调焦技术  </vt:lpstr>
      <vt:lpstr>§2-1  对准和调焦技术  </vt:lpstr>
      <vt:lpstr>§2-1  对准和调焦技术  </vt:lpstr>
      <vt:lpstr>§2-1  对准和调焦技术  2. 目视系统的对准和调焦</vt:lpstr>
      <vt:lpstr>§2-1  对准和调焦技术  2. 目视系统的对准和调焦</vt:lpstr>
      <vt:lpstr>§2-1  对准和调焦技术  2. 目视系统的对准和调焦</vt:lpstr>
      <vt:lpstr>§2-1  对准和调焦技术  2. 目视系统的对准和调焦</vt:lpstr>
      <vt:lpstr>§2-1  对准和调焦技术  3.  光电对准</vt:lpstr>
      <vt:lpstr>§2-1  对准和调焦技术  3.  光电对准</vt:lpstr>
      <vt:lpstr>幻灯片 21</vt:lpstr>
      <vt:lpstr>§2-1  对准和调焦技术   4.  光电调焦 </vt:lpstr>
      <vt:lpstr>§2-1  对准和调焦技术   4.  光电调焦 </vt:lpstr>
      <vt:lpstr>§2-1  对准和调焦技术   4.  光电调焦 </vt:lpstr>
      <vt:lpstr>§2-1  对准和调焦技术   4.  光电调焦 </vt:lpstr>
      <vt:lpstr>§2-2  焦距的测量</vt:lpstr>
      <vt:lpstr>             §2-2  焦距的测量  1.概述</vt:lpstr>
      <vt:lpstr>             §2-2  焦距的测量  1.概述</vt:lpstr>
      <vt:lpstr>            §2-2  焦距的测量  2. 放大率法</vt:lpstr>
      <vt:lpstr>            §2-2  焦距的测量  2. 放大率法</vt:lpstr>
      <vt:lpstr>            §2-2  焦距的测量  2. 放大率法</vt:lpstr>
      <vt:lpstr>            §2-2  焦距的测量  2. 放大率法</vt:lpstr>
      <vt:lpstr>          §2-2  焦距的测量  3.附加透镜法</vt:lpstr>
      <vt:lpstr>               §2-2  焦距的测量 4. 精密测角法</vt:lpstr>
      <vt:lpstr>             §2-2  焦距的测量  4. 精密测角法</vt:lpstr>
      <vt:lpstr>§2-3  星点检验  </vt:lpstr>
      <vt:lpstr>§2-3  星点检验              1. 星点检验的理论基础</vt:lpstr>
      <vt:lpstr>§2-3  星点检验              1. 星点检验的理论基础</vt:lpstr>
      <vt:lpstr>§2-3  星点检验              1. 星点检验的理论基础</vt:lpstr>
      <vt:lpstr>幻灯片 40</vt:lpstr>
      <vt:lpstr>§2-3  星点检验              2．星点检验条件</vt:lpstr>
      <vt:lpstr>幻灯片 42</vt:lpstr>
      <vt:lpstr>§2-3  星点检验              2．星点检验条件</vt:lpstr>
      <vt:lpstr>§2-3  星点检验              2．星点检验条件</vt:lpstr>
      <vt:lpstr>§2-3  星点检验               3. 星点检验图像例</vt:lpstr>
      <vt:lpstr>§2-4  分辨率测试技术</vt:lpstr>
      <vt:lpstr>§2-4  分辨率测试技术</vt:lpstr>
      <vt:lpstr>§2-4  分辨率测试技术              1.衍射受限系统的分辨率</vt:lpstr>
      <vt:lpstr>§2-4  分辨率测试技术              1.衍射受限系统的分辨率</vt:lpstr>
      <vt:lpstr>§2-4  分辨率测试技术              1.衍射受限系统的分辨率</vt:lpstr>
      <vt:lpstr>§2-4  分辨率测试技术              1.衍射受限系统的分辨率</vt:lpstr>
      <vt:lpstr>§2-4  分辨率测试技术              2.分辨率测试方法</vt:lpstr>
      <vt:lpstr>§2-4  分辨率测试技术              2.分辨率测试方法</vt:lpstr>
      <vt:lpstr>§2-4  分辨率测试技术              2.分辨率测试方法</vt:lpstr>
      <vt:lpstr>§2-4  分辨率测试技术              2.分辨率测试方法</vt:lpstr>
      <vt:lpstr>§2-4  分辨率测试技术              2.分辨率测试方法</vt:lpstr>
      <vt:lpstr>§2-4  分辨率测试技术              2.分辨率测试方法</vt:lpstr>
      <vt:lpstr>§2-4  分辨率测试技术              2.分辨率测试方法</vt:lpstr>
      <vt:lpstr>§2-4  分辨率测试技术              2.分辨率测试方法</vt:lpstr>
      <vt:lpstr>§2-5  光学系统透过率测试技术</vt:lpstr>
      <vt:lpstr>§2-5  光学系统透过率测试技术</vt:lpstr>
      <vt:lpstr>§2-5  光学系统透过率测试技术</vt:lpstr>
      <vt:lpstr>§2-5  光学系统透过率测试技术</vt:lpstr>
      <vt:lpstr>§2-5  光学系统透过率测试技术</vt:lpstr>
      <vt:lpstr>§2-5  光学系统透过率测试技术</vt:lpstr>
      <vt:lpstr>§2-5  光学系统透过率测试技术</vt:lpstr>
      <vt:lpstr>§2-5  光学系统透过率测试技术</vt:lpstr>
      <vt:lpstr>§2-5  光学系统透过率测试技术</vt:lpstr>
      <vt:lpstr>§2-5  光学系统透过率测试技术</vt:lpstr>
      <vt:lpstr>§2-6  光学传递函数测试技术</vt:lpstr>
      <vt:lpstr>§2-6  光学传递函数测试技术</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1. 光学传递函数测试基础</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§2-6  光学传递函数测试技术  2.  光学传递函数测试原理及方法</vt:lpstr>
      <vt:lpstr>幻灯片 97</vt:lpstr>
      <vt:lpstr>§2-6  光学传递函数测试技术  3.光学传递函数用于像质评价</vt:lpstr>
      <vt:lpstr>§2-6  光学传递函数测试技术  3.光学传递函数用于像质评价</vt:lpstr>
      <vt:lpstr>§2-6  光学传递函数测试技术  3.光学传递函数用于像质评价</vt:lpstr>
      <vt:lpstr>§2-6  光学传递函数测试技术  3.光学传递函数用于像质评价</vt:lpstr>
      <vt:lpstr>§2-6  光学传递函数测试技术  3.光学传递函数用于像质评价</vt:lpstr>
      <vt:lpstr>§2-6  光学传递函数测试技术  3.光学传递函数用于像质评价</vt:lpstr>
      <vt:lpstr>§2-6  光学传递函数测试技术  3.光学传递函数用于像质评价</vt:lpstr>
      <vt:lpstr>幻灯片 105</vt:lpstr>
      <vt:lpstr>幻灯片 106</vt:lpstr>
      <vt:lpstr>幻灯片 107</vt:lpstr>
      <vt:lpstr>幻灯片 108</vt:lpstr>
      <vt:lpstr>幻灯片 109</vt:lpstr>
      <vt:lpstr>幻灯片 110</vt:lpstr>
    </vt:vector>
  </TitlesOfParts>
  <Company>HIT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光电测试技术  </dc:title>
  <dc:creator>FanZG</dc:creator>
  <cp:lastModifiedBy>fanzhigang</cp:lastModifiedBy>
  <cp:revision>728</cp:revision>
  <dcterms:created xsi:type="dcterms:W3CDTF">2004-07-29T02:45:26Z</dcterms:created>
  <dcterms:modified xsi:type="dcterms:W3CDTF">2018-02-24T07:26:25Z</dcterms:modified>
</cp:coreProperties>
</file>