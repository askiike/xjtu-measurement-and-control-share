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drawings/legacyDiagramText4.bin" ContentType="application/vnd.ms-office.legacyDiagramText"/>
  <Override PartName="/ppt/drawings/legacyDiagramText5.bin" ContentType="application/vnd.ms-office.legacyDiagramText"/>
  <Override PartName="/ppt/legacyDocTextInfo.bin" ContentType="application/vnd.ms-office.legacyDocTextInfo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rawings/legacyDiagramText1.bin" ContentType="application/vnd.ms-office.legacyDiagramText"/>
  <Override PartName="/ppt/drawings/legacyDiagramText2.bin" ContentType="application/vnd.ms-office.legacyDiagramText"/>
  <Override PartName="/ppt/drawings/legacyDiagramText3.bin" ContentType="application/vnd.ms-office.legacyDiagramText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Default Extension="vml" ContentType="application/vnd.openxmlformats-officedocument.vmlDrawi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8" r:id="rId1"/>
  </p:sldMasterIdLst>
  <p:notesMasterIdLst>
    <p:notesMasterId r:id="rId52"/>
  </p:notesMasterIdLst>
  <p:sldIdLst>
    <p:sldId id="520" r:id="rId2"/>
    <p:sldId id="521" r:id="rId3"/>
    <p:sldId id="447" r:id="rId4"/>
    <p:sldId id="522" r:id="rId5"/>
    <p:sldId id="523" r:id="rId6"/>
    <p:sldId id="512" r:id="rId7"/>
    <p:sldId id="524" r:id="rId8"/>
    <p:sldId id="448" r:id="rId9"/>
    <p:sldId id="510" r:id="rId10"/>
    <p:sldId id="500" r:id="rId11"/>
    <p:sldId id="501" r:id="rId12"/>
    <p:sldId id="502" r:id="rId13"/>
    <p:sldId id="452" r:id="rId14"/>
    <p:sldId id="513" r:id="rId15"/>
    <p:sldId id="503" r:id="rId16"/>
    <p:sldId id="453" r:id="rId17"/>
    <p:sldId id="454" r:id="rId18"/>
    <p:sldId id="455" r:id="rId19"/>
    <p:sldId id="456" r:id="rId20"/>
    <p:sldId id="457" r:id="rId21"/>
    <p:sldId id="458" r:id="rId22"/>
    <p:sldId id="459" r:id="rId23"/>
    <p:sldId id="460" r:id="rId24"/>
    <p:sldId id="505" r:id="rId25"/>
    <p:sldId id="461" r:id="rId26"/>
    <p:sldId id="506" r:id="rId27"/>
    <p:sldId id="507" r:id="rId28"/>
    <p:sldId id="462" r:id="rId29"/>
    <p:sldId id="463" r:id="rId30"/>
    <p:sldId id="464" r:id="rId31"/>
    <p:sldId id="465" r:id="rId32"/>
    <p:sldId id="509" r:id="rId33"/>
    <p:sldId id="469" r:id="rId34"/>
    <p:sldId id="470" r:id="rId35"/>
    <p:sldId id="471" r:id="rId36"/>
    <p:sldId id="472" r:id="rId37"/>
    <p:sldId id="473" r:id="rId38"/>
    <p:sldId id="474" r:id="rId39"/>
    <p:sldId id="475" r:id="rId40"/>
    <p:sldId id="476" r:id="rId41"/>
    <p:sldId id="477" r:id="rId42"/>
    <p:sldId id="478" r:id="rId43"/>
    <p:sldId id="479" r:id="rId44"/>
    <p:sldId id="480" r:id="rId45"/>
    <p:sldId id="481" r:id="rId46"/>
    <p:sldId id="482" r:id="rId47"/>
    <p:sldId id="483" r:id="rId48"/>
    <p:sldId id="484" r:id="rId49"/>
    <p:sldId id="485" r:id="rId50"/>
    <p:sldId id="486" r:id="rId51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66CC"/>
    <a:srgbClr val="FF66FF"/>
    <a:srgbClr val="003300"/>
    <a:srgbClr val="FFFF00"/>
    <a:srgbClr val="FF00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>
        <p:scale>
          <a:sx n="90" d="100"/>
          <a:sy n="90" d="100"/>
        </p:scale>
        <p:origin x="-2244" y="-4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06/relationships/legacyDocTextInfo" Target="legacyDocTextInfo.bin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image" Target="../media/image11.wmf"/><Relationship Id="rId7" Type="http://schemas.openxmlformats.org/officeDocument/2006/relationships/image" Target="../media/image15.wmf"/><Relationship Id="rId2" Type="http://schemas.openxmlformats.org/officeDocument/2006/relationships/image" Target="../media/image10.wmf"/><Relationship Id="rId1" Type="http://schemas.openxmlformats.org/officeDocument/2006/relationships/image" Target="../media/image9.wmf"/><Relationship Id="rId6" Type="http://schemas.openxmlformats.org/officeDocument/2006/relationships/image" Target="../media/image14.wmf"/><Relationship Id="rId5" Type="http://schemas.openxmlformats.org/officeDocument/2006/relationships/image" Target="../media/image13.wmf"/><Relationship Id="rId4" Type="http://schemas.openxmlformats.org/officeDocument/2006/relationships/image" Target="../media/image12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17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Relationship Id="rId5" Type="http://schemas.openxmlformats.org/officeDocument/2006/relationships/image" Target="../media/image22.wmf"/><Relationship Id="rId4" Type="http://schemas.openxmlformats.org/officeDocument/2006/relationships/image" Target="../media/image21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Relationship Id="rId5" Type="http://schemas.openxmlformats.org/officeDocument/2006/relationships/image" Target="../media/image36.wmf"/><Relationship Id="rId4" Type="http://schemas.openxmlformats.org/officeDocument/2006/relationships/image" Target="../media/image35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7" Type="http://schemas.openxmlformats.org/officeDocument/2006/relationships/image" Target="../media/image44.wmf"/><Relationship Id="rId2" Type="http://schemas.openxmlformats.org/officeDocument/2006/relationships/image" Target="../media/image40.wmf"/><Relationship Id="rId1" Type="http://schemas.openxmlformats.org/officeDocument/2006/relationships/image" Target="../media/image39.wmf"/><Relationship Id="rId6" Type="http://schemas.openxmlformats.org/officeDocument/2006/relationships/image" Target="../media/image43.wmf"/><Relationship Id="rId5" Type="http://schemas.openxmlformats.org/officeDocument/2006/relationships/image" Target="../media/image42.wmf"/><Relationship Id="rId4" Type="http://schemas.openxmlformats.org/officeDocument/2006/relationships/image" Target="../media/image38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5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7.wmf"/><Relationship Id="rId1" Type="http://schemas.openxmlformats.org/officeDocument/2006/relationships/image" Target="../media/image46.wmf"/></Relationships>
</file>

<file path=ppt/drawings/_rels/vmlDrawing13.vml.rels><?xml version="1.0" encoding="UTF-8" standalone="yes"?>
<Relationships xmlns="http://schemas.openxmlformats.org/package/2006/relationships"><Relationship Id="rId3" Type="http://schemas.microsoft.com/office/2006/relationships/legacyDiagramText" Target="legacyDiagramText3.bin"/><Relationship Id="rId2" Type="http://schemas.microsoft.com/office/2006/relationships/legacyDiagramText" Target="legacyDiagramText2.bin"/><Relationship Id="rId1" Type="http://schemas.microsoft.com/office/2006/relationships/legacyDiagramText" Target="legacyDiagramText1.bin"/><Relationship Id="rId5" Type="http://schemas.microsoft.com/office/2006/relationships/legacyDiagramText" Target="legacyDiagramText5.bin"/><Relationship Id="rId4" Type="http://schemas.microsoft.com/office/2006/relationships/legacyDiagramText" Target="legacyDiagramText4.bin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50.wmf"/><Relationship Id="rId1" Type="http://schemas.openxmlformats.org/officeDocument/2006/relationships/image" Target="../media/image49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1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42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512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8E921202-AF60-4F71-AB04-A639381434B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/>
          <p:cNvSpPr>
            <a:spLocks/>
          </p:cNvSpPr>
          <p:nvPr/>
        </p:nvSpPr>
        <p:spPr bwMode="auto">
          <a:xfrm>
            <a:off x="4760913" y="20638"/>
            <a:ext cx="4438650" cy="4038600"/>
          </a:xfrm>
          <a:custGeom>
            <a:avLst/>
            <a:gdLst/>
            <a:ahLst/>
            <a:cxnLst>
              <a:cxn ang="0">
                <a:pos x="23" y="4"/>
              </a:cxn>
              <a:cxn ang="0">
                <a:pos x="11" y="71"/>
              </a:cxn>
              <a:cxn ang="0">
                <a:pos x="25" y="393"/>
              </a:cxn>
              <a:cxn ang="0">
                <a:pos x="54" y="457"/>
              </a:cxn>
              <a:cxn ang="0">
                <a:pos x="158" y="482"/>
              </a:cxn>
              <a:cxn ang="0">
                <a:pos x="204" y="495"/>
              </a:cxn>
              <a:cxn ang="0">
                <a:pos x="520" y="475"/>
              </a:cxn>
              <a:cxn ang="0">
                <a:pos x="533" y="167"/>
              </a:cxn>
              <a:cxn ang="0">
                <a:pos x="369" y="16"/>
              </a:cxn>
              <a:cxn ang="0">
                <a:pos x="249" y="29"/>
              </a:cxn>
              <a:cxn ang="0">
                <a:pos x="198" y="11"/>
              </a:cxn>
              <a:cxn ang="0">
                <a:pos x="151" y="2"/>
              </a:cxn>
              <a:cxn ang="0">
                <a:pos x="23" y="4"/>
              </a:cxn>
            </a:cxnLst>
            <a:rect l="0" t="0" r="r" b="b"/>
            <a:pathLst>
              <a:path w="546" h="497">
                <a:moveTo>
                  <a:pt x="23" y="4"/>
                </a:moveTo>
                <a:cubicBezTo>
                  <a:pt x="23" y="4"/>
                  <a:pt x="0" y="34"/>
                  <a:pt x="11" y="71"/>
                </a:cubicBezTo>
                <a:cubicBezTo>
                  <a:pt x="19" y="100"/>
                  <a:pt x="25" y="393"/>
                  <a:pt x="25" y="393"/>
                </a:cubicBezTo>
                <a:cubicBezTo>
                  <a:pt x="25" y="393"/>
                  <a:pt x="42" y="452"/>
                  <a:pt x="54" y="457"/>
                </a:cubicBezTo>
                <a:cubicBezTo>
                  <a:pt x="66" y="462"/>
                  <a:pt x="158" y="482"/>
                  <a:pt x="158" y="482"/>
                </a:cubicBezTo>
                <a:cubicBezTo>
                  <a:pt x="158" y="482"/>
                  <a:pt x="191" y="497"/>
                  <a:pt x="204" y="495"/>
                </a:cubicBezTo>
                <a:cubicBezTo>
                  <a:pt x="217" y="494"/>
                  <a:pt x="506" y="487"/>
                  <a:pt x="520" y="475"/>
                </a:cubicBezTo>
                <a:cubicBezTo>
                  <a:pt x="533" y="463"/>
                  <a:pt x="546" y="218"/>
                  <a:pt x="533" y="167"/>
                </a:cubicBezTo>
                <a:cubicBezTo>
                  <a:pt x="520" y="117"/>
                  <a:pt x="404" y="14"/>
                  <a:pt x="369" y="16"/>
                </a:cubicBezTo>
                <a:cubicBezTo>
                  <a:pt x="335" y="17"/>
                  <a:pt x="249" y="29"/>
                  <a:pt x="249" y="29"/>
                </a:cubicBezTo>
                <a:lnTo>
                  <a:pt x="198" y="11"/>
                </a:lnTo>
                <a:lnTo>
                  <a:pt x="151" y="2"/>
                </a:lnTo>
                <a:cubicBezTo>
                  <a:pt x="151" y="2"/>
                  <a:pt x="79" y="0"/>
                  <a:pt x="23" y="4"/>
                </a:cubicBezTo>
                <a:close/>
              </a:path>
            </a:pathLst>
          </a:custGeom>
          <a:solidFill>
            <a:schemeClr val="accent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  <p:grpSp>
        <p:nvGrpSpPr>
          <p:cNvPr id="5" name="Group 3"/>
          <p:cNvGrpSpPr>
            <a:grpSpLocks/>
          </p:cNvGrpSpPr>
          <p:nvPr/>
        </p:nvGrpSpPr>
        <p:grpSpPr bwMode="auto">
          <a:xfrm>
            <a:off x="4572000" y="28575"/>
            <a:ext cx="4756150" cy="4338638"/>
            <a:chOff x="2918" y="18"/>
            <a:chExt cx="2958" cy="2699"/>
          </a:xfrm>
        </p:grpSpPr>
        <p:sp>
          <p:nvSpPr>
            <p:cNvPr id="6" name="Freeform 4"/>
            <p:cNvSpPr>
              <a:spLocks/>
            </p:cNvSpPr>
            <p:nvPr/>
          </p:nvSpPr>
          <p:spPr bwMode="auto">
            <a:xfrm>
              <a:off x="3060" y="18"/>
              <a:ext cx="490" cy="187"/>
            </a:xfrm>
            <a:custGeom>
              <a:avLst/>
              <a:gdLst/>
              <a:ahLst/>
              <a:cxnLst>
                <a:cxn ang="0">
                  <a:pos x="71" y="25"/>
                </a:cxn>
                <a:cxn ang="0">
                  <a:pos x="91" y="20"/>
                </a:cxn>
                <a:cxn ang="0">
                  <a:pos x="92" y="17"/>
                </a:cxn>
                <a:cxn ang="0">
                  <a:pos x="88" y="0"/>
                </a:cxn>
                <a:cxn ang="0">
                  <a:pos x="25" y="0"/>
                </a:cxn>
                <a:cxn ang="0">
                  <a:pos x="10" y="22"/>
                </a:cxn>
                <a:cxn ang="0">
                  <a:pos x="71" y="25"/>
                </a:cxn>
              </a:cxnLst>
              <a:rect l="0" t="0" r="r" b="b"/>
              <a:pathLst>
                <a:path w="97" h="37">
                  <a:moveTo>
                    <a:pt x="71" y="25"/>
                  </a:moveTo>
                  <a:cubicBezTo>
                    <a:pt x="81" y="22"/>
                    <a:pt x="87" y="21"/>
                    <a:pt x="91" y="20"/>
                  </a:cubicBezTo>
                  <a:cubicBezTo>
                    <a:pt x="91" y="19"/>
                    <a:pt x="91" y="19"/>
                    <a:pt x="92" y="17"/>
                  </a:cubicBezTo>
                  <a:cubicBezTo>
                    <a:pt x="97" y="11"/>
                    <a:pt x="95" y="4"/>
                    <a:pt x="88" y="0"/>
                  </a:cubicBezTo>
                  <a:lnTo>
                    <a:pt x="25" y="0"/>
                  </a:lnTo>
                  <a:cubicBezTo>
                    <a:pt x="10" y="3"/>
                    <a:pt x="0" y="10"/>
                    <a:pt x="10" y="22"/>
                  </a:cubicBezTo>
                  <a:cubicBezTo>
                    <a:pt x="10" y="22"/>
                    <a:pt x="28" y="37"/>
                    <a:pt x="71" y="25"/>
                  </a:cubicBez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7" name="Freeform 5"/>
            <p:cNvSpPr>
              <a:spLocks noEditPoints="1"/>
            </p:cNvSpPr>
            <p:nvPr/>
          </p:nvSpPr>
          <p:spPr bwMode="auto">
            <a:xfrm>
              <a:off x="2918" y="18"/>
              <a:ext cx="2958" cy="2699"/>
            </a:xfrm>
            <a:custGeom>
              <a:avLst/>
              <a:gdLst/>
              <a:ahLst/>
              <a:cxnLst>
                <a:cxn ang="0">
                  <a:pos x="504" y="1"/>
                </a:cxn>
                <a:cxn ang="0">
                  <a:pos x="157" y="0"/>
                </a:cxn>
                <a:cxn ang="0">
                  <a:pos x="225" y="21"/>
                </a:cxn>
                <a:cxn ang="0">
                  <a:pos x="174" y="39"/>
                </a:cxn>
                <a:cxn ang="0">
                  <a:pos x="207" y="71"/>
                </a:cxn>
                <a:cxn ang="0">
                  <a:pos x="74" y="60"/>
                </a:cxn>
                <a:cxn ang="0">
                  <a:pos x="26" y="63"/>
                </a:cxn>
                <a:cxn ang="0">
                  <a:pos x="199" y="487"/>
                </a:cxn>
                <a:cxn ang="0">
                  <a:pos x="144" y="341"/>
                </a:cxn>
                <a:cxn ang="0">
                  <a:pos x="105" y="376"/>
                </a:cxn>
                <a:cxn ang="0">
                  <a:pos x="94" y="435"/>
                </a:cxn>
                <a:cxn ang="0">
                  <a:pos x="124" y="265"/>
                </a:cxn>
                <a:cxn ang="0">
                  <a:pos x="153" y="228"/>
                </a:cxn>
                <a:cxn ang="0">
                  <a:pos x="209" y="237"/>
                </a:cxn>
                <a:cxn ang="0">
                  <a:pos x="188" y="306"/>
                </a:cxn>
                <a:cxn ang="0">
                  <a:pos x="192" y="395"/>
                </a:cxn>
                <a:cxn ang="0">
                  <a:pos x="515" y="483"/>
                </a:cxn>
                <a:cxn ang="0">
                  <a:pos x="454" y="427"/>
                </a:cxn>
                <a:cxn ang="0">
                  <a:pos x="425" y="345"/>
                </a:cxn>
                <a:cxn ang="0">
                  <a:pos x="396" y="270"/>
                </a:cxn>
                <a:cxn ang="0">
                  <a:pos x="460" y="256"/>
                </a:cxn>
                <a:cxn ang="0">
                  <a:pos x="407" y="223"/>
                </a:cxn>
                <a:cxn ang="0">
                  <a:pos x="439" y="226"/>
                </a:cxn>
                <a:cxn ang="0">
                  <a:pos x="438" y="209"/>
                </a:cxn>
                <a:cxn ang="0">
                  <a:pos x="376" y="211"/>
                </a:cxn>
                <a:cxn ang="0">
                  <a:pos x="357" y="343"/>
                </a:cxn>
                <a:cxn ang="0">
                  <a:pos x="347" y="230"/>
                </a:cxn>
                <a:cxn ang="0">
                  <a:pos x="331" y="182"/>
                </a:cxn>
                <a:cxn ang="0">
                  <a:pos x="347" y="136"/>
                </a:cxn>
                <a:cxn ang="0">
                  <a:pos x="339" y="99"/>
                </a:cxn>
                <a:cxn ang="0">
                  <a:pos x="331" y="62"/>
                </a:cxn>
                <a:cxn ang="0">
                  <a:pos x="369" y="103"/>
                </a:cxn>
                <a:cxn ang="0">
                  <a:pos x="415" y="47"/>
                </a:cxn>
                <a:cxn ang="0">
                  <a:pos x="409" y="95"/>
                </a:cxn>
                <a:cxn ang="0">
                  <a:pos x="401" y="130"/>
                </a:cxn>
                <a:cxn ang="0">
                  <a:pos x="401" y="181"/>
                </a:cxn>
                <a:cxn ang="0">
                  <a:pos x="558" y="181"/>
                </a:cxn>
                <a:cxn ang="0">
                  <a:pos x="554" y="76"/>
                </a:cxn>
                <a:cxn ang="0">
                  <a:pos x="249" y="69"/>
                </a:cxn>
                <a:cxn ang="0">
                  <a:pos x="293" y="93"/>
                </a:cxn>
                <a:cxn ang="0">
                  <a:pos x="171" y="195"/>
                </a:cxn>
                <a:cxn ang="0">
                  <a:pos x="69" y="98"/>
                </a:cxn>
                <a:cxn ang="0">
                  <a:pos x="191" y="106"/>
                </a:cxn>
                <a:cxn ang="0">
                  <a:pos x="220" y="105"/>
                </a:cxn>
                <a:cxn ang="0">
                  <a:pos x="302" y="121"/>
                </a:cxn>
                <a:cxn ang="0">
                  <a:pos x="276" y="256"/>
                </a:cxn>
                <a:cxn ang="0">
                  <a:pos x="260" y="137"/>
                </a:cxn>
                <a:cxn ang="0">
                  <a:pos x="171" y="195"/>
                </a:cxn>
                <a:cxn ang="0">
                  <a:pos x="223" y="225"/>
                </a:cxn>
                <a:cxn ang="0">
                  <a:pos x="247" y="158"/>
                </a:cxn>
                <a:cxn ang="0">
                  <a:pos x="326" y="292"/>
                </a:cxn>
                <a:cxn ang="0">
                  <a:pos x="215" y="321"/>
                </a:cxn>
                <a:cxn ang="0">
                  <a:pos x="309" y="277"/>
                </a:cxn>
                <a:cxn ang="0">
                  <a:pos x="318" y="133"/>
                </a:cxn>
                <a:cxn ang="0">
                  <a:pos x="313" y="213"/>
                </a:cxn>
                <a:cxn ang="0">
                  <a:pos x="299" y="144"/>
                </a:cxn>
                <a:cxn ang="0">
                  <a:pos x="507" y="179"/>
                </a:cxn>
                <a:cxn ang="0">
                  <a:pos x="461" y="162"/>
                </a:cxn>
              </a:cxnLst>
              <a:rect l="0" t="0" r="r" b="b"/>
              <a:pathLst>
                <a:path w="585" h="534">
                  <a:moveTo>
                    <a:pt x="554" y="76"/>
                  </a:moveTo>
                  <a:cubicBezTo>
                    <a:pt x="551" y="32"/>
                    <a:pt x="543" y="9"/>
                    <a:pt x="504" y="1"/>
                  </a:cubicBezTo>
                  <a:cubicBezTo>
                    <a:pt x="500" y="1"/>
                    <a:pt x="494" y="0"/>
                    <a:pt x="486" y="0"/>
                  </a:cubicBezTo>
                  <a:lnTo>
                    <a:pt x="157" y="0"/>
                  </a:lnTo>
                  <a:cubicBezTo>
                    <a:pt x="156" y="5"/>
                    <a:pt x="153" y="17"/>
                    <a:pt x="158" y="17"/>
                  </a:cubicBezTo>
                  <a:cubicBezTo>
                    <a:pt x="171" y="17"/>
                    <a:pt x="223" y="21"/>
                    <a:pt x="225" y="21"/>
                  </a:cubicBezTo>
                  <a:cubicBezTo>
                    <a:pt x="226" y="21"/>
                    <a:pt x="250" y="16"/>
                    <a:pt x="237" y="28"/>
                  </a:cubicBezTo>
                  <a:cubicBezTo>
                    <a:pt x="223" y="41"/>
                    <a:pt x="192" y="41"/>
                    <a:pt x="174" y="39"/>
                  </a:cubicBezTo>
                  <a:cubicBezTo>
                    <a:pt x="131" y="36"/>
                    <a:pt x="152" y="56"/>
                    <a:pt x="168" y="56"/>
                  </a:cubicBezTo>
                  <a:cubicBezTo>
                    <a:pt x="218" y="56"/>
                    <a:pt x="228" y="68"/>
                    <a:pt x="207" y="71"/>
                  </a:cubicBezTo>
                  <a:cubicBezTo>
                    <a:pt x="186" y="74"/>
                    <a:pt x="182" y="73"/>
                    <a:pt x="162" y="76"/>
                  </a:cubicBezTo>
                  <a:cubicBezTo>
                    <a:pt x="7" y="101"/>
                    <a:pt x="59" y="60"/>
                    <a:pt x="74" y="60"/>
                  </a:cubicBezTo>
                  <a:cubicBezTo>
                    <a:pt x="139" y="59"/>
                    <a:pt x="123" y="37"/>
                    <a:pt x="107" y="42"/>
                  </a:cubicBezTo>
                  <a:cubicBezTo>
                    <a:pt x="91" y="46"/>
                    <a:pt x="34" y="27"/>
                    <a:pt x="26" y="63"/>
                  </a:cubicBezTo>
                  <a:cubicBezTo>
                    <a:pt x="19" y="100"/>
                    <a:pt x="42" y="282"/>
                    <a:pt x="36" y="317"/>
                  </a:cubicBezTo>
                  <a:cubicBezTo>
                    <a:pt x="0" y="534"/>
                    <a:pt x="199" y="487"/>
                    <a:pt x="199" y="487"/>
                  </a:cubicBezTo>
                  <a:cubicBezTo>
                    <a:pt x="156" y="453"/>
                    <a:pt x="174" y="421"/>
                    <a:pt x="171" y="403"/>
                  </a:cubicBezTo>
                  <a:cubicBezTo>
                    <a:pt x="161" y="345"/>
                    <a:pt x="154" y="337"/>
                    <a:pt x="144" y="341"/>
                  </a:cubicBezTo>
                  <a:cubicBezTo>
                    <a:pt x="121" y="352"/>
                    <a:pt x="123" y="358"/>
                    <a:pt x="126" y="367"/>
                  </a:cubicBezTo>
                  <a:cubicBezTo>
                    <a:pt x="142" y="416"/>
                    <a:pt x="105" y="376"/>
                    <a:pt x="105" y="376"/>
                  </a:cubicBezTo>
                  <a:cubicBezTo>
                    <a:pt x="98" y="380"/>
                    <a:pt x="95" y="390"/>
                    <a:pt x="99" y="399"/>
                  </a:cubicBezTo>
                  <a:cubicBezTo>
                    <a:pt x="131" y="463"/>
                    <a:pt x="101" y="446"/>
                    <a:pt x="94" y="435"/>
                  </a:cubicBezTo>
                  <a:cubicBezTo>
                    <a:pt x="61" y="390"/>
                    <a:pt x="92" y="366"/>
                    <a:pt x="88" y="352"/>
                  </a:cubicBezTo>
                  <a:cubicBezTo>
                    <a:pt x="75" y="295"/>
                    <a:pt x="118" y="274"/>
                    <a:pt x="124" y="265"/>
                  </a:cubicBezTo>
                  <a:cubicBezTo>
                    <a:pt x="130" y="256"/>
                    <a:pt x="127" y="253"/>
                    <a:pt x="129" y="234"/>
                  </a:cubicBezTo>
                  <a:cubicBezTo>
                    <a:pt x="136" y="195"/>
                    <a:pt x="155" y="216"/>
                    <a:pt x="153" y="228"/>
                  </a:cubicBezTo>
                  <a:cubicBezTo>
                    <a:pt x="148" y="274"/>
                    <a:pt x="176" y="242"/>
                    <a:pt x="186" y="228"/>
                  </a:cubicBezTo>
                  <a:cubicBezTo>
                    <a:pt x="218" y="186"/>
                    <a:pt x="214" y="229"/>
                    <a:pt x="209" y="237"/>
                  </a:cubicBezTo>
                  <a:cubicBezTo>
                    <a:pt x="203" y="244"/>
                    <a:pt x="198" y="255"/>
                    <a:pt x="200" y="260"/>
                  </a:cubicBezTo>
                  <a:cubicBezTo>
                    <a:pt x="208" y="283"/>
                    <a:pt x="193" y="305"/>
                    <a:pt x="188" y="306"/>
                  </a:cubicBezTo>
                  <a:cubicBezTo>
                    <a:pt x="184" y="308"/>
                    <a:pt x="170" y="314"/>
                    <a:pt x="170" y="332"/>
                  </a:cubicBezTo>
                  <a:cubicBezTo>
                    <a:pt x="171" y="350"/>
                    <a:pt x="192" y="382"/>
                    <a:pt x="192" y="395"/>
                  </a:cubicBezTo>
                  <a:cubicBezTo>
                    <a:pt x="193" y="492"/>
                    <a:pt x="236" y="499"/>
                    <a:pt x="255" y="497"/>
                  </a:cubicBezTo>
                  <a:cubicBezTo>
                    <a:pt x="275" y="496"/>
                    <a:pt x="445" y="490"/>
                    <a:pt x="515" y="483"/>
                  </a:cubicBezTo>
                  <a:cubicBezTo>
                    <a:pt x="585" y="477"/>
                    <a:pt x="538" y="458"/>
                    <a:pt x="518" y="458"/>
                  </a:cubicBezTo>
                  <a:cubicBezTo>
                    <a:pt x="467" y="458"/>
                    <a:pt x="454" y="427"/>
                    <a:pt x="454" y="427"/>
                  </a:cubicBezTo>
                  <a:cubicBezTo>
                    <a:pt x="454" y="427"/>
                    <a:pt x="453" y="405"/>
                    <a:pt x="431" y="400"/>
                  </a:cubicBezTo>
                  <a:cubicBezTo>
                    <a:pt x="376" y="385"/>
                    <a:pt x="411" y="353"/>
                    <a:pt x="425" y="345"/>
                  </a:cubicBezTo>
                  <a:cubicBezTo>
                    <a:pt x="438" y="338"/>
                    <a:pt x="430" y="335"/>
                    <a:pt x="420" y="329"/>
                  </a:cubicBezTo>
                  <a:cubicBezTo>
                    <a:pt x="398" y="316"/>
                    <a:pt x="394" y="300"/>
                    <a:pt x="396" y="270"/>
                  </a:cubicBezTo>
                  <a:cubicBezTo>
                    <a:pt x="397" y="240"/>
                    <a:pt x="416" y="249"/>
                    <a:pt x="416" y="249"/>
                  </a:cubicBezTo>
                  <a:cubicBezTo>
                    <a:pt x="416" y="249"/>
                    <a:pt x="448" y="262"/>
                    <a:pt x="460" y="256"/>
                  </a:cubicBezTo>
                  <a:cubicBezTo>
                    <a:pt x="472" y="250"/>
                    <a:pt x="467" y="239"/>
                    <a:pt x="461" y="244"/>
                  </a:cubicBezTo>
                  <a:cubicBezTo>
                    <a:pt x="455" y="248"/>
                    <a:pt x="412" y="244"/>
                    <a:pt x="407" y="223"/>
                  </a:cubicBezTo>
                  <a:cubicBezTo>
                    <a:pt x="403" y="202"/>
                    <a:pt x="418" y="213"/>
                    <a:pt x="422" y="214"/>
                  </a:cubicBezTo>
                  <a:cubicBezTo>
                    <a:pt x="427" y="216"/>
                    <a:pt x="427" y="220"/>
                    <a:pt x="439" y="226"/>
                  </a:cubicBezTo>
                  <a:cubicBezTo>
                    <a:pt x="468" y="241"/>
                    <a:pt x="454" y="224"/>
                    <a:pt x="454" y="224"/>
                  </a:cubicBezTo>
                  <a:cubicBezTo>
                    <a:pt x="454" y="224"/>
                    <a:pt x="454" y="224"/>
                    <a:pt x="438" y="209"/>
                  </a:cubicBezTo>
                  <a:cubicBezTo>
                    <a:pt x="423" y="194"/>
                    <a:pt x="406" y="199"/>
                    <a:pt x="389" y="199"/>
                  </a:cubicBezTo>
                  <a:cubicBezTo>
                    <a:pt x="373" y="199"/>
                    <a:pt x="376" y="211"/>
                    <a:pt x="376" y="211"/>
                  </a:cubicBezTo>
                  <a:cubicBezTo>
                    <a:pt x="376" y="211"/>
                    <a:pt x="373" y="242"/>
                    <a:pt x="370" y="291"/>
                  </a:cubicBezTo>
                  <a:cubicBezTo>
                    <a:pt x="368" y="341"/>
                    <a:pt x="360" y="347"/>
                    <a:pt x="357" y="343"/>
                  </a:cubicBezTo>
                  <a:cubicBezTo>
                    <a:pt x="354" y="338"/>
                    <a:pt x="350" y="313"/>
                    <a:pt x="350" y="305"/>
                  </a:cubicBezTo>
                  <a:cubicBezTo>
                    <a:pt x="350" y="298"/>
                    <a:pt x="345" y="264"/>
                    <a:pt x="347" y="230"/>
                  </a:cubicBezTo>
                  <a:cubicBezTo>
                    <a:pt x="350" y="195"/>
                    <a:pt x="356" y="210"/>
                    <a:pt x="334" y="201"/>
                  </a:cubicBezTo>
                  <a:cubicBezTo>
                    <a:pt x="311" y="192"/>
                    <a:pt x="323" y="182"/>
                    <a:pt x="331" y="182"/>
                  </a:cubicBezTo>
                  <a:cubicBezTo>
                    <a:pt x="338" y="182"/>
                    <a:pt x="350" y="189"/>
                    <a:pt x="352" y="181"/>
                  </a:cubicBezTo>
                  <a:cubicBezTo>
                    <a:pt x="356" y="160"/>
                    <a:pt x="359" y="141"/>
                    <a:pt x="347" y="136"/>
                  </a:cubicBezTo>
                  <a:cubicBezTo>
                    <a:pt x="322" y="127"/>
                    <a:pt x="332" y="121"/>
                    <a:pt x="341" y="118"/>
                  </a:cubicBezTo>
                  <a:cubicBezTo>
                    <a:pt x="350" y="115"/>
                    <a:pt x="352" y="94"/>
                    <a:pt x="339" y="99"/>
                  </a:cubicBezTo>
                  <a:cubicBezTo>
                    <a:pt x="313" y="107"/>
                    <a:pt x="316" y="85"/>
                    <a:pt x="321" y="82"/>
                  </a:cubicBezTo>
                  <a:cubicBezTo>
                    <a:pt x="325" y="79"/>
                    <a:pt x="334" y="83"/>
                    <a:pt x="331" y="62"/>
                  </a:cubicBezTo>
                  <a:cubicBezTo>
                    <a:pt x="328" y="41"/>
                    <a:pt x="347" y="34"/>
                    <a:pt x="351" y="53"/>
                  </a:cubicBezTo>
                  <a:cubicBezTo>
                    <a:pt x="354" y="73"/>
                    <a:pt x="363" y="112"/>
                    <a:pt x="369" y="103"/>
                  </a:cubicBezTo>
                  <a:cubicBezTo>
                    <a:pt x="375" y="94"/>
                    <a:pt x="385" y="57"/>
                    <a:pt x="395" y="41"/>
                  </a:cubicBezTo>
                  <a:cubicBezTo>
                    <a:pt x="406" y="24"/>
                    <a:pt x="418" y="38"/>
                    <a:pt x="415" y="47"/>
                  </a:cubicBezTo>
                  <a:cubicBezTo>
                    <a:pt x="401" y="88"/>
                    <a:pt x="426" y="90"/>
                    <a:pt x="426" y="90"/>
                  </a:cubicBezTo>
                  <a:cubicBezTo>
                    <a:pt x="426" y="90"/>
                    <a:pt x="423" y="96"/>
                    <a:pt x="409" y="95"/>
                  </a:cubicBezTo>
                  <a:cubicBezTo>
                    <a:pt x="382" y="92"/>
                    <a:pt x="393" y="110"/>
                    <a:pt x="405" y="115"/>
                  </a:cubicBezTo>
                  <a:cubicBezTo>
                    <a:pt x="431" y="124"/>
                    <a:pt x="414" y="130"/>
                    <a:pt x="401" y="130"/>
                  </a:cubicBezTo>
                  <a:cubicBezTo>
                    <a:pt x="387" y="130"/>
                    <a:pt x="381" y="134"/>
                    <a:pt x="378" y="148"/>
                  </a:cubicBezTo>
                  <a:cubicBezTo>
                    <a:pt x="369" y="191"/>
                    <a:pt x="401" y="181"/>
                    <a:pt x="401" y="181"/>
                  </a:cubicBezTo>
                  <a:cubicBezTo>
                    <a:pt x="452" y="195"/>
                    <a:pt x="528" y="188"/>
                    <a:pt x="528" y="188"/>
                  </a:cubicBezTo>
                  <a:cubicBezTo>
                    <a:pt x="543" y="192"/>
                    <a:pt x="552" y="189"/>
                    <a:pt x="558" y="181"/>
                  </a:cubicBezTo>
                  <a:lnTo>
                    <a:pt x="558" y="103"/>
                  </a:lnTo>
                  <a:cubicBezTo>
                    <a:pt x="556" y="93"/>
                    <a:pt x="555" y="84"/>
                    <a:pt x="554" y="76"/>
                  </a:cubicBezTo>
                  <a:close/>
                  <a:moveTo>
                    <a:pt x="231" y="77"/>
                  </a:moveTo>
                  <a:cubicBezTo>
                    <a:pt x="233" y="65"/>
                    <a:pt x="249" y="69"/>
                    <a:pt x="249" y="69"/>
                  </a:cubicBezTo>
                  <a:cubicBezTo>
                    <a:pt x="249" y="69"/>
                    <a:pt x="278" y="79"/>
                    <a:pt x="290" y="78"/>
                  </a:cubicBezTo>
                  <a:cubicBezTo>
                    <a:pt x="301" y="76"/>
                    <a:pt x="318" y="93"/>
                    <a:pt x="293" y="93"/>
                  </a:cubicBezTo>
                  <a:cubicBezTo>
                    <a:pt x="267" y="93"/>
                    <a:pt x="228" y="104"/>
                    <a:pt x="231" y="77"/>
                  </a:cubicBezTo>
                  <a:close/>
                  <a:moveTo>
                    <a:pt x="171" y="195"/>
                  </a:moveTo>
                  <a:cubicBezTo>
                    <a:pt x="153" y="195"/>
                    <a:pt x="46" y="237"/>
                    <a:pt x="45" y="128"/>
                  </a:cubicBezTo>
                  <a:cubicBezTo>
                    <a:pt x="45" y="104"/>
                    <a:pt x="39" y="83"/>
                    <a:pt x="69" y="98"/>
                  </a:cubicBezTo>
                  <a:cubicBezTo>
                    <a:pt x="99" y="112"/>
                    <a:pt x="72" y="111"/>
                    <a:pt x="137" y="108"/>
                  </a:cubicBezTo>
                  <a:cubicBezTo>
                    <a:pt x="137" y="108"/>
                    <a:pt x="184" y="110"/>
                    <a:pt x="191" y="106"/>
                  </a:cubicBezTo>
                  <a:cubicBezTo>
                    <a:pt x="199" y="101"/>
                    <a:pt x="192" y="91"/>
                    <a:pt x="207" y="91"/>
                  </a:cubicBezTo>
                  <a:cubicBezTo>
                    <a:pt x="222" y="90"/>
                    <a:pt x="220" y="105"/>
                    <a:pt x="220" y="105"/>
                  </a:cubicBezTo>
                  <a:cubicBezTo>
                    <a:pt x="220" y="105"/>
                    <a:pt x="207" y="124"/>
                    <a:pt x="305" y="111"/>
                  </a:cubicBezTo>
                  <a:cubicBezTo>
                    <a:pt x="317" y="109"/>
                    <a:pt x="327" y="121"/>
                    <a:pt x="302" y="121"/>
                  </a:cubicBezTo>
                  <a:cubicBezTo>
                    <a:pt x="290" y="122"/>
                    <a:pt x="272" y="128"/>
                    <a:pt x="278" y="143"/>
                  </a:cubicBezTo>
                  <a:cubicBezTo>
                    <a:pt x="284" y="158"/>
                    <a:pt x="276" y="256"/>
                    <a:pt x="276" y="256"/>
                  </a:cubicBezTo>
                  <a:cubicBezTo>
                    <a:pt x="276" y="256"/>
                    <a:pt x="271" y="274"/>
                    <a:pt x="262" y="245"/>
                  </a:cubicBezTo>
                  <a:cubicBezTo>
                    <a:pt x="259" y="235"/>
                    <a:pt x="262" y="144"/>
                    <a:pt x="260" y="137"/>
                  </a:cubicBezTo>
                  <a:cubicBezTo>
                    <a:pt x="259" y="129"/>
                    <a:pt x="217" y="122"/>
                    <a:pt x="215" y="154"/>
                  </a:cubicBezTo>
                  <a:cubicBezTo>
                    <a:pt x="214" y="185"/>
                    <a:pt x="205" y="195"/>
                    <a:pt x="171" y="195"/>
                  </a:cubicBezTo>
                  <a:close/>
                  <a:moveTo>
                    <a:pt x="237" y="231"/>
                  </a:moveTo>
                  <a:cubicBezTo>
                    <a:pt x="230" y="240"/>
                    <a:pt x="219" y="247"/>
                    <a:pt x="223" y="225"/>
                  </a:cubicBezTo>
                  <a:cubicBezTo>
                    <a:pt x="228" y="202"/>
                    <a:pt x="232" y="170"/>
                    <a:pt x="232" y="155"/>
                  </a:cubicBezTo>
                  <a:cubicBezTo>
                    <a:pt x="232" y="155"/>
                    <a:pt x="244" y="135"/>
                    <a:pt x="247" y="158"/>
                  </a:cubicBezTo>
                  <a:cubicBezTo>
                    <a:pt x="250" y="181"/>
                    <a:pt x="244" y="221"/>
                    <a:pt x="237" y="231"/>
                  </a:cubicBezTo>
                  <a:close/>
                  <a:moveTo>
                    <a:pt x="326" y="292"/>
                  </a:moveTo>
                  <a:cubicBezTo>
                    <a:pt x="327" y="320"/>
                    <a:pt x="355" y="400"/>
                    <a:pt x="286" y="399"/>
                  </a:cubicBezTo>
                  <a:cubicBezTo>
                    <a:pt x="217" y="398"/>
                    <a:pt x="214" y="409"/>
                    <a:pt x="215" y="321"/>
                  </a:cubicBezTo>
                  <a:cubicBezTo>
                    <a:pt x="216" y="236"/>
                    <a:pt x="225" y="253"/>
                    <a:pt x="230" y="264"/>
                  </a:cubicBezTo>
                  <a:cubicBezTo>
                    <a:pt x="230" y="264"/>
                    <a:pt x="253" y="318"/>
                    <a:pt x="309" y="277"/>
                  </a:cubicBezTo>
                  <a:cubicBezTo>
                    <a:pt x="319" y="269"/>
                    <a:pt x="324" y="263"/>
                    <a:pt x="326" y="292"/>
                  </a:cubicBezTo>
                  <a:close/>
                  <a:moveTo>
                    <a:pt x="318" y="133"/>
                  </a:moveTo>
                  <a:cubicBezTo>
                    <a:pt x="338" y="148"/>
                    <a:pt x="316" y="165"/>
                    <a:pt x="316" y="165"/>
                  </a:cubicBezTo>
                  <a:cubicBezTo>
                    <a:pt x="316" y="165"/>
                    <a:pt x="302" y="189"/>
                    <a:pt x="313" y="213"/>
                  </a:cubicBezTo>
                  <a:cubicBezTo>
                    <a:pt x="324" y="237"/>
                    <a:pt x="324" y="265"/>
                    <a:pt x="301" y="239"/>
                  </a:cubicBezTo>
                  <a:cubicBezTo>
                    <a:pt x="279" y="214"/>
                    <a:pt x="293" y="156"/>
                    <a:pt x="299" y="144"/>
                  </a:cubicBezTo>
                  <a:cubicBezTo>
                    <a:pt x="299" y="144"/>
                    <a:pt x="299" y="118"/>
                    <a:pt x="318" y="133"/>
                  </a:cubicBezTo>
                  <a:close/>
                  <a:moveTo>
                    <a:pt x="507" y="179"/>
                  </a:moveTo>
                  <a:cubicBezTo>
                    <a:pt x="498" y="185"/>
                    <a:pt x="507" y="179"/>
                    <a:pt x="465" y="177"/>
                  </a:cubicBezTo>
                  <a:cubicBezTo>
                    <a:pt x="423" y="176"/>
                    <a:pt x="461" y="162"/>
                    <a:pt x="461" y="162"/>
                  </a:cubicBezTo>
                  <a:cubicBezTo>
                    <a:pt x="565" y="166"/>
                    <a:pt x="516" y="173"/>
                    <a:pt x="507" y="179"/>
                  </a:cubicBez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8" name="Freeform 6"/>
            <p:cNvSpPr>
              <a:spLocks/>
            </p:cNvSpPr>
            <p:nvPr/>
          </p:nvSpPr>
          <p:spPr bwMode="auto">
            <a:xfrm>
              <a:off x="3621" y="1287"/>
              <a:ext cx="238" cy="283"/>
            </a:xfrm>
            <a:custGeom>
              <a:avLst/>
              <a:gdLst/>
              <a:ahLst/>
              <a:cxnLst>
                <a:cxn ang="0">
                  <a:pos x="40" y="15"/>
                </a:cxn>
                <a:cxn ang="0">
                  <a:pos x="27" y="56"/>
                </a:cxn>
                <a:cxn ang="0">
                  <a:pos x="40" y="15"/>
                </a:cxn>
              </a:cxnLst>
              <a:rect l="0" t="0" r="r" b="b"/>
              <a:pathLst>
                <a:path w="47" h="56">
                  <a:moveTo>
                    <a:pt x="40" y="15"/>
                  </a:moveTo>
                  <a:cubicBezTo>
                    <a:pt x="37" y="0"/>
                    <a:pt x="0" y="23"/>
                    <a:pt x="27" y="56"/>
                  </a:cubicBezTo>
                  <a:cubicBezTo>
                    <a:pt x="27" y="56"/>
                    <a:pt x="47" y="49"/>
                    <a:pt x="40" y="15"/>
                  </a:cubicBez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9" name="Freeform 7"/>
            <p:cNvSpPr>
              <a:spLocks/>
            </p:cNvSpPr>
            <p:nvPr/>
          </p:nvSpPr>
          <p:spPr bwMode="auto">
            <a:xfrm>
              <a:off x="3403" y="1403"/>
              <a:ext cx="208" cy="379"/>
            </a:xfrm>
            <a:custGeom>
              <a:avLst/>
              <a:gdLst/>
              <a:ahLst/>
              <a:cxnLst>
                <a:cxn ang="0">
                  <a:pos x="19" y="27"/>
                </a:cxn>
                <a:cxn ang="0">
                  <a:pos x="12" y="69"/>
                </a:cxn>
                <a:cxn ang="0">
                  <a:pos x="40" y="45"/>
                </a:cxn>
                <a:cxn ang="0">
                  <a:pos x="37" y="24"/>
                </a:cxn>
                <a:cxn ang="0">
                  <a:pos x="19" y="27"/>
                </a:cxn>
              </a:cxnLst>
              <a:rect l="0" t="0" r="r" b="b"/>
              <a:pathLst>
                <a:path w="41" h="75">
                  <a:moveTo>
                    <a:pt x="19" y="27"/>
                  </a:moveTo>
                  <a:cubicBezTo>
                    <a:pt x="0" y="54"/>
                    <a:pt x="6" y="63"/>
                    <a:pt x="12" y="69"/>
                  </a:cubicBezTo>
                  <a:cubicBezTo>
                    <a:pt x="18" y="75"/>
                    <a:pt x="30" y="74"/>
                    <a:pt x="40" y="45"/>
                  </a:cubicBezTo>
                  <a:cubicBezTo>
                    <a:pt x="40" y="45"/>
                    <a:pt x="32" y="31"/>
                    <a:pt x="37" y="24"/>
                  </a:cubicBezTo>
                  <a:cubicBezTo>
                    <a:pt x="41" y="16"/>
                    <a:pt x="38" y="0"/>
                    <a:pt x="19" y="27"/>
                  </a:cubicBez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0" name="Freeform 8"/>
            <p:cNvSpPr>
              <a:spLocks/>
            </p:cNvSpPr>
            <p:nvPr/>
          </p:nvSpPr>
          <p:spPr bwMode="auto">
            <a:xfrm>
              <a:off x="3272" y="645"/>
              <a:ext cx="680" cy="318"/>
            </a:xfrm>
            <a:custGeom>
              <a:avLst/>
              <a:gdLst/>
              <a:ahLst/>
              <a:cxnLst>
                <a:cxn ang="0">
                  <a:pos x="112" y="4"/>
                </a:cxn>
                <a:cxn ang="0">
                  <a:pos x="24" y="4"/>
                </a:cxn>
                <a:cxn ang="0">
                  <a:pos x="2" y="25"/>
                </a:cxn>
                <a:cxn ang="0">
                  <a:pos x="60" y="58"/>
                </a:cxn>
                <a:cxn ang="0">
                  <a:pos x="96" y="54"/>
                </a:cxn>
                <a:cxn ang="0">
                  <a:pos x="113" y="53"/>
                </a:cxn>
                <a:cxn ang="0">
                  <a:pos x="112" y="4"/>
                </a:cxn>
              </a:cxnLst>
              <a:rect l="0" t="0" r="r" b="b"/>
              <a:pathLst>
                <a:path w="135" h="63">
                  <a:moveTo>
                    <a:pt x="112" y="4"/>
                  </a:moveTo>
                  <a:cubicBezTo>
                    <a:pt x="105" y="9"/>
                    <a:pt x="24" y="4"/>
                    <a:pt x="24" y="4"/>
                  </a:cubicBezTo>
                  <a:cubicBezTo>
                    <a:pt x="15" y="4"/>
                    <a:pt x="3" y="1"/>
                    <a:pt x="2" y="25"/>
                  </a:cubicBezTo>
                  <a:cubicBezTo>
                    <a:pt x="0" y="63"/>
                    <a:pt x="48" y="58"/>
                    <a:pt x="60" y="58"/>
                  </a:cubicBezTo>
                  <a:cubicBezTo>
                    <a:pt x="72" y="58"/>
                    <a:pt x="84" y="48"/>
                    <a:pt x="96" y="54"/>
                  </a:cubicBezTo>
                  <a:cubicBezTo>
                    <a:pt x="96" y="54"/>
                    <a:pt x="107" y="63"/>
                    <a:pt x="113" y="53"/>
                  </a:cubicBezTo>
                  <a:cubicBezTo>
                    <a:pt x="135" y="13"/>
                    <a:pt x="120" y="0"/>
                    <a:pt x="112" y="4"/>
                  </a:cubicBez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1" name="Freeform 9"/>
            <p:cNvSpPr>
              <a:spLocks/>
            </p:cNvSpPr>
            <p:nvPr/>
          </p:nvSpPr>
          <p:spPr bwMode="auto">
            <a:xfrm>
              <a:off x="4046" y="1545"/>
              <a:ext cx="493" cy="516"/>
            </a:xfrm>
            <a:custGeom>
              <a:avLst/>
              <a:gdLst/>
              <a:ahLst/>
              <a:cxnLst>
                <a:cxn ang="0">
                  <a:pos x="67" y="5"/>
                </a:cxn>
                <a:cxn ang="0">
                  <a:pos x="31" y="5"/>
                </a:cxn>
                <a:cxn ang="0">
                  <a:pos x="12" y="57"/>
                </a:cxn>
                <a:cxn ang="0">
                  <a:pos x="79" y="62"/>
                </a:cxn>
                <a:cxn ang="0">
                  <a:pos x="67" y="5"/>
                </a:cxn>
              </a:cxnLst>
              <a:rect l="0" t="0" r="r" b="b"/>
              <a:pathLst>
                <a:path w="97" h="102">
                  <a:moveTo>
                    <a:pt x="67" y="5"/>
                  </a:moveTo>
                  <a:cubicBezTo>
                    <a:pt x="55" y="10"/>
                    <a:pt x="31" y="5"/>
                    <a:pt x="31" y="5"/>
                  </a:cubicBezTo>
                  <a:cubicBezTo>
                    <a:pt x="0" y="6"/>
                    <a:pt x="16" y="39"/>
                    <a:pt x="12" y="57"/>
                  </a:cubicBezTo>
                  <a:cubicBezTo>
                    <a:pt x="8" y="76"/>
                    <a:pt x="63" y="102"/>
                    <a:pt x="79" y="62"/>
                  </a:cubicBezTo>
                  <a:cubicBezTo>
                    <a:pt x="97" y="20"/>
                    <a:pt x="79" y="0"/>
                    <a:pt x="67" y="5"/>
                  </a:cubicBez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2" name="Freeform 10"/>
            <p:cNvSpPr>
              <a:spLocks/>
            </p:cNvSpPr>
            <p:nvPr/>
          </p:nvSpPr>
          <p:spPr bwMode="auto">
            <a:xfrm>
              <a:off x="5173" y="1024"/>
              <a:ext cx="501" cy="96"/>
            </a:xfrm>
            <a:custGeom>
              <a:avLst/>
              <a:gdLst/>
              <a:ahLst/>
              <a:cxnLst>
                <a:cxn ang="0">
                  <a:pos x="15" y="0"/>
                </a:cxn>
                <a:cxn ang="0">
                  <a:pos x="40" y="15"/>
                </a:cxn>
                <a:cxn ang="0">
                  <a:pos x="15" y="0"/>
                </a:cxn>
              </a:cxnLst>
              <a:rect l="0" t="0" r="r" b="b"/>
              <a:pathLst>
                <a:path w="99" h="19">
                  <a:moveTo>
                    <a:pt x="15" y="0"/>
                  </a:moveTo>
                  <a:cubicBezTo>
                    <a:pt x="0" y="0"/>
                    <a:pt x="19" y="19"/>
                    <a:pt x="40" y="15"/>
                  </a:cubicBezTo>
                  <a:cubicBezTo>
                    <a:pt x="99" y="1"/>
                    <a:pt x="15" y="0"/>
                    <a:pt x="15" y="0"/>
                  </a:cubicBez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auto">
            <a:xfrm>
              <a:off x="5340" y="1004"/>
              <a:ext cx="385" cy="237"/>
            </a:xfrm>
            <a:custGeom>
              <a:avLst/>
              <a:gdLst/>
              <a:ahLst/>
              <a:cxnLst>
                <a:cxn ang="0">
                  <a:pos x="21" y="37"/>
                </a:cxn>
                <a:cxn ang="0">
                  <a:pos x="70" y="17"/>
                </a:cxn>
                <a:cxn ang="0">
                  <a:pos x="48" y="3"/>
                </a:cxn>
                <a:cxn ang="0">
                  <a:pos x="19" y="32"/>
                </a:cxn>
                <a:cxn ang="0">
                  <a:pos x="21" y="37"/>
                </a:cxn>
              </a:cxnLst>
              <a:rect l="0" t="0" r="r" b="b"/>
              <a:pathLst>
                <a:path w="76" h="47">
                  <a:moveTo>
                    <a:pt x="21" y="37"/>
                  </a:moveTo>
                  <a:cubicBezTo>
                    <a:pt x="21" y="37"/>
                    <a:pt x="50" y="47"/>
                    <a:pt x="70" y="17"/>
                  </a:cubicBezTo>
                  <a:cubicBezTo>
                    <a:pt x="76" y="7"/>
                    <a:pt x="65" y="0"/>
                    <a:pt x="48" y="3"/>
                  </a:cubicBezTo>
                  <a:cubicBezTo>
                    <a:pt x="39" y="5"/>
                    <a:pt x="39" y="32"/>
                    <a:pt x="19" y="32"/>
                  </a:cubicBezTo>
                  <a:cubicBezTo>
                    <a:pt x="0" y="32"/>
                    <a:pt x="21" y="37"/>
                    <a:pt x="21" y="37"/>
                  </a:cubicBez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4" name="Freeform 12"/>
            <p:cNvSpPr>
              <a:spLocks/>
            </p:cNvSpPr>
            <p:nvPr/>
          </p:nvSpPr>
          <p:spPr bwMode="auto">
            <a:xfrm>
              <a:off x="5325" y="1201"/>
              <a:ext cx="415" cy="187"/>
            </a:xfrm>
            <a:custGeom>
              <a:avLst/>
              <a:gdLst/>
              <a:ahLst/>
              <a:cxnLst>
                <a:cxn ang="0">
                  <a:pos x="72" y="6"/>
                </a:cxn>
                <a:cxn ang="0">
                  <a:pos x="24" y="17"/>
                </a:cxn>
                <a:cxn ang="0">
                  <a:pos x="17" y="26"/>
                </a:cxn>
                <a:cxn ang="0">
                  <a:pos x="76" y="23"/>
                </a:cxn>
                <a:cxn ang="0">
                  <a:pos x="82" y="20"/>
                </a:cxn>
                <a:cxn ang="0">
                  <a:pos x="82" y="0"/>
                </a:cxn>
                <a:cxn ang="0">
                  <a:pos x="72" y="6"/>
                </a:cxn>
              </a:cxnLst>
              <a:rect l="0" t="0" r="r" b="b"/>
              <a:pathLst>
                <a:path w="82" h="37">
                  <a:moveTo>
                    <a:pt x="72" y="6"/>
                  </a:moveTo>
                  <a:cubicBezTo>
                    <a:pt x="57" y="23"/>
                    <a:pt x="24" y="17"/>
                    <a:pt x="24" y="17"/>
                  </a:cubicBezTo>
                  <a:cubicBezTo>
                    <a:pt x="24" y="17"/>
                    <a:pt x="0" y="16"/>
                    <a:pt x="17" y="26"/>
                  </a:cubicBezTo>
                  <a:cubicBezTo>
                    <a:pt x="33" y="37"/>
                    <a:pt x="53" y="32"/>
                    <a:pt x="76" y="23"/>
                  </a:cubicBezTo>
                  <a:cubicBezTo>
                    <a:pt x="78" y="22"/>
                    <a:pt x="80" y="21"/>
                    <a:pt x="82" y="20"/>
                  </a:cubicBezTo>
                  <a:lnTo>
                    <a:pt x="82" y="0"/>
                  </a:lnTo>
                  <a:cubicBezTo>
                    <a:pt x="79" y="1"/>
                    <a:pt x="75" y="2"/>
                    <a:pt x="72" y="6"/>
                  </a:cubicBez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5" name="Freeform 13"/>
            <p:cNvSpPr>
              <a:spLocks/>
            </p:cNvSpPr>
            <p:nvPr/>
          </p:nvSpPr>
          <p:spPr bwMode="auto">
            <a:xfrm>
              <a:off x="5001" y="1378"/>
              <a:ext cx="698" cy="167"/>
            </a:xfrm>
            <a:custGeom>
              <a:avLst/>
              <a:gdLst/>
              <a:ahLst/>
              <a:cxnLst>
                <a:cxn ang="0">
                  <a:pos x="21" y="1"/>
                </a:cxn>
                <a:cxn ang="0">
                  <a:pos x="8" y="14"/>
                </a:cxn>
                <a:cxn ang="0">
                  <a:pos x="57" y="22"/>
                </a:cxn>
                <a:cxn ang="0">
                  <a:pos x="117" y="23"/>
                </a:cxn>
                <a:cxn ang="0">
                  <a:pos x="114" y="8"/>
                </a:cxn>
                <a:cxn ang="0">
                  <a:pos x="82" y="3"/>
                </a:cxn>
                <a:cxn ang="0">
                  <a:pos x="21" y="1"/>
                </a:cxn>
              </a:cxnLst>
              <a:rect l="0" t="0" r="r" b="b"/>
              <a:pathLst>
                <a:path w="138" h="33">
                  <a:moveTo>
                    <a:pt x="21" y="1"/>
                  </a:moveTo>
                  <a:cubicBezTo>
                    <a:pt x="21" y="1"/>
                    <a:pt x="0" y="8"/>
                    <a:pt x="8" y="14"/>
                  </a:cubicBezTo>
                  <a:cubicBezTo>
                    <a:pt x="15" y="20"/>
                    <a:pt x="48" y="22"/>
                    <a:pt x="57" y="22"/>
                  </a:cubicBezTo>
                  <a:cubicBezTo>
                    <a:pt x="66" y="22"/>
                    <a:pt x="96" y="33"/>
                    <a:pt x="117" y="23"/>
                  </a:cubicBezTo>
                  <a:cubicBezTo>
                    <a:pt x="138" y="12"/>
                    <a:pt x="123" y="9"/>
                    <a:pt x="114" y="8"/>
                  </a:cubicBezTo>
                  <a:cubicBezTo>
                    <a:pt x="105" y="6"/>
                    <a:pt x="102" y="0"/>
                    <a:pt x="82" y="3"/>
                  </a:cubicBezTo>
                  <a:cubicBezTo>
                    <a:pt x="37" y="11"/>
                    <a:pt x="21" y="1"/>
                    <a:pt x="21" y="1"/>
                  </a:cubicBez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6" name="Freeform 14"/>
            <p:cNvSpPr>
              <a:spLocks/>
            </p:cNvSpPr>
            <p:nvPr/>
          </p:nvSpPr>
          <p:spPr bwMode="auto">
            <a:xfrm>
              <a:off x="5077" y="1540"/>
              <a:ext cx="567" cy="146"/>
            </a:xfrm>
            <a:custGeom>
              <a:avLst/>
              <a:gdLst/>
              <a:ahLst/>
              <a:cxnLst>
                <a:cxn ang="0">
                  <a:pos x="98" y="19"/>
                </a:cxn>
                <a:cxn ang="0">
                  <a:pos x="103" y="4"/>
                </a:cxn>
                <a:cxn ang="0">
                  <a:pos x="74" y="10"/>
                </a:cxn>
                <a:cxn ang="0">
                  <a:pos x="36" y="6"/>
                </a:cxn>
                <a:cxn ang="0">
                  <a:pos x="2" y="4"/>
                </a:cxn>
                <a:cxn ang="0">
                  <a:pos x="98" y="19"/>
                </a:cxn>
              </a:cxnLst>
              <a:rect l="0" t="0" r="r" b="b"/>
              <a:pathLst>
                <a:path w="112" h="29">
                  <a:moveTo>
                    <a:pt x="98" y="19"/>
                  </a:moveTo>
                  <a:cubicBezTo>
                    <a:pt x="112" y="13"/>
                    <a:pt x="111" y="0"/>
                    <a:pt x="103" y="4"/>
                  </a:cubicBezTo>
                  <a:cubicBezTo>
                    <a:pt x="96" y="9"/>
                    <a:pt x="83" y="10"/>
                    <a:pt x="74" y="10"/>
                  </a:cubicBezTo>
                  <a:cubicBezTo>
                    <a:pt x="65" y="11"/>
                    <a:pt x="45" y="3"/>
                    <a:pt x="36" y="6"/>
                  </a:cubicBezTo>
                  <a:cubicBezTo>
                    <a:pt x="27" y="9"/>
                    <a:pt x="2" y="4"/>
                    <a:pt x="2" y="4"/>
                  </a:cubicBezTo>
                  <a:cubicBezTo>
                    <a:pt x="0" y="29"/>
                    <a:pt x="83" y="25"/>
                    <a:pt x="98" y="19"/>
                  </a:cubicBez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auto">
            <a:xfrm>
              <a:off x="5042" y="1656"/>
              <a:ext cx="584" cy="480"/>
            </a:xfrm>
            <a:custGeom>
              <a:avLst/>
              <a:gdLst/>
              <a:ahLst/>
              <a:cxnLst>
                <a:cxn ang="0">
                  <a:pos x="3" y="53"/>
                </a:cxn>
                <a:cxn ang="0">
                  <a:pos x="26" y="54"/>
                </a:cxn>
                <a:cxn ang="0">
                  <a:pos x="50" y="77"/>
                </a:cxn>
                <a:cxn ang="0">
                  <a:pos x="59" y="84"/>
                </a:cxn>
                <a:cxn ang="0">
                  <a:pos x="81" y="52"/>
                </a:cxn>
                <a:cxn ang="0">
                  <a:pos x="111" y="52"/>
                </a:cxn>
                <a:cxn ang="0">
                  <a:pos x="79" y="27"/>
                </a:cxn>
                <a:cxn ang="0">
                  <a:pos x="37" y="16"/>
                </a:cxn>
                <a:cxn ang="0">
                  <a:pos x="12" y="41"/>
                </a:cxn>
                <a:cxn ang="0">
                  <a:pos x="3" y="53"/>
                </a:cxn>
              </a:cxnLst>
              <a:rect l="0" t="0" r="r" b="b"/>
              <a:pathLst>
                <a:path w="115" h="95">
                  <a:moveTo>
                    <a:pt x="3" y="53"/>
                  </a:moveTo>
                  <a:cubicBezTo>
                    <a:pt x="5" y="60"/>
                    <a:pt x="14" y="68"/>
                    <a:pt x="26" y="54"/>
                  </a:cubicBezTo>
                  <a:cubicBezTo>
                    <a:pt x="48" y="29"/>
                    <a:pt x="48" y="72"/>
                    <a:pt x="50" y="77"/>
                  </a:cubicBezTo>
                  <a:cubicBezTo>
                    <a:pt x="51" y="81"/>
                    <a:pt x="54" y="95"/>
                    <a:pt x="59" y="84"/>
                  </a:cubicBezTo>
                  <a:cubicBezTo>
                    <a:pt x="63" y="74"/>
                    <a:pt x="70" y="39"/>
                    <a:pt x="81" y="52"/>
                  </a:cubicBezTo>
                  <a:cubicBezTo>
                    <a:pt x="100" y="76"/>
                    <a:pt x="115" y="54"/>
                    <a:pt x="111" y="52"/>
                  </a:cubicBezTo>
                  <a:cubicBezTo>
                    <a:pt x="106" y="51"/>
                    <a:pt x="79" y="37"/>
                    <a:pt x="79" y="27"/>
                  </a:cubicBezTo>
                  <a:cubicBezTo>
                    <a:pt x="79" y="16"/>
                    <a:pt x="42" y="0"/>
                    <a:pt x="37" y="16"/>
                  </a:cubicBezTo>
                  <a:cubicBezTo>
                    <a:pt x="33" y="33"/>
                    <a:pt x="12" y="41"/>
                    <a:pt x="12" y="41"/>
                  </a:cubicBezTo>
                  <a:cubicBezTo>
                    <a:pt x="0" y="44"/>
                    <a:pt x="2" y="45"/>
                    <a:pt x="3" y="53"/>
                  </a:cubicBez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auto">
            <a:xfrm>
              <a:off x="5421" y="1464"/>
              <a:ext cx="329" cy="854"/>
            </a:xfrm>
            <a:custGeom>
              <a:avLst/>
              <a:gdLst/>
              <a:ahLst/>
              <a:cxnLst>
                <a:cxn ang="0">
                  <a:pos x="51" y="40"/>
                </a:cxn>
                <a:cxn ang="0">
                  <a:pos x="22" y="49"/>
                </a:cxn>
                <a:cxn ang="0">
                  <a:pos x="22" y="59"/>
                </a:cxn>
                <a:cxn ang="0">
                  <a:pos x="50" y="90"/>
                </a:cxn>
                <a:cxn ang="0">
                  <a:pos x="34" y="118"/>
                </a:cxn>
                <a:cxn ang="0">
                  <a:pos x="0" y="148"/>
                </a:cxn>
                <a:cxn ang="0">
                  <a:pos x="17" y="155"/>
                </a:cxn>
                <a:cxn ang="0">
                  <a:pos x="47" y="166"/>
                </a:cxn>
                <a:cxn ang="0">
                  <a:pos x="63" y="162"/>
                </a:cxn>
                <a:cxn ang="0">
                  <a:pos x="65" y="0"/>
                </a:cxn>
                <a:cxn ang="0">
                  <a:pos x="51" y="40"/>
                </a:cxn>
              </a:cxnLst>
              <a:rect l="0" t="0" r="r" b="b"/>
              <a:pathLst>
                <a:path w="65" h="169">
                  <a:moveTo>
                    <a:pt x="51" y="40"/>
                  </a:moveTo>
                  <a:cubicBezTo>
                    <a:pt x="44" y="46"/>
                    <a:pt x="30" y="49"/>
                    <a:pt x="22" y="49"/>
                  </a:cubicBezTo>
                  <a:cubicBezTo>
                    <a:pt x="13" y="48"/>
                    <a:pt x="14" y="56"/>
                    <a:pt x="22" y="59"/>
                  </a:cubicBezTo>
                  <a:cubicBezTo>
                    <a:pt x="30" y="62"/>
                    <a:pt x="49" y="75"/>
                    <a:pt x="50" y="90"/>
                  </a:cubicBezTo>
                  <a:cubicBezTo>
                    <a:pt x="50" y="104"/>
                    <a:pt x="51" y="115"/>
                    <a:pt x="34" y="118"/>
                  </a:cubicBezTo>
                  <a:cubicBezTo>
                    <a:pt x="18" y="122"/>
                    <a:pt x="3" y="124"/>
                    <a:pt x="0" y="148"/>
                  </a:cubicBezTo>
                  <a:cubicBezTo>
                    <a:pt x="0" y="148"/>
                    <a:pt x="10" y="154"/>
                    <a:pt x="17" y="155"/>
                  </a:cubicBezTo>
                  <a:cubicBezTo>
                    <a:pt x="23" y="155"/>
                    <a:pt x="42" y="163"/>
                    <a:pt x="47" y="166"/>
                  </a:cubicBezTo>
                  <a:cubicBezTo>
                    <a:pt x="51" y="169"/>
                    <a:pt x="58" y="167"/>
                    <a:pt x="63" y="162"/>
                  </a:cubicBezTo>
                  <a:lnTo>
                    <a:pt x="65" y="0"/>
                  </a:lnTo>
                  <a:cubicBezTo>
                    <a:pt x="64" y="8"/>
                    <a:pt x="58" y="36"/>
                    <a:pt x="51" y="40"/>
                  </a:cubicBez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</p:grpSp>
      <p:grpSp>
        <p:nvGrpSpPr>
          <p:cNvPr id="19" name="Group 17"/>
          <p:cNvGrpSpPr>
            <a:grpSpLocks/>
          </p:cNvGrpSpPr>
          <p:nvPr/>
        </p:nvGrpSpPr>
        <p:grpSpPr bwMode="auto">
          <a:xfrm>
            <a:off x="554038" y="36513"/>
            <a:ext cx="7891462" cy="6821487"/>
            <a:chOff x="349" y="23"/>
            <a:chExt cx="4971" cy="4297"/>
          </a:xfrm>
        </p:grpSpPr>
        <p:sp>
          <p:nvSpPr>
            <p:cNvPr id="20" name="Rectangle 18"/>
            <p:cNvSpPr>
              <a:spLocks noChangeArrowheads="1"/>
            </p:cNvSpPr>
            <p:nvPr/>
          </p:nvSpPr>
          <p:spPr bwMode="auto">
            <a:xfrm>
              <a:off x="384" y="23"/>
              <a:ext cx="21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21" name="Freeform 19"/>
            <p:cNvSpPr>
              <a:spLocks noEditPoints="1"/>
            </p:cNvSpPr>
            <p:nvPr/>
          </p:nvSpPr>
          <p:spPr bwMode="auto">
            <a:xfrm>
              <a:off x="384" y="225"/>
              <a:ext cx="21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22" name="Freeform 20"/>
            <p:cNvSpPr>
              <a:spLocks noEditPoints="1"/>
            </p:cNvSpPr>
            <p:nvPr/>
          </p:nvSpPr>
          <p:spPr bwMode="auto">
            <a:xfrm>
              <a:off x="384" y="630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23" name="Freeform 21"/>
            <p:cNvSpPr>
              <a:spLocks noEditPoints="1"/>
            </p:cNvSpPr>
            <p:nvPr/>
          </p:nvSpPr>
          <p:spPr bwMode="auto">
            <a:xfrm>
              <a:off x="384" y="1034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24" name="Freeform 22"/>
            <p:cNvSpPr>
              <a:spLocks noEditPoints="1"/>
            </p:cNvSpPr>
            <p:nvPr/>
          </p:nvSpPr>
          <p:spPr bwMode="auto">
            <a:xfrm>
              <a:off x="384" y="1438"/>
              <a:ext cx="21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25" name="Freeform 23"/>
            <p:cNvSpPr>
              <a:spLocks noEditPoints="1"/>
            </p:cNvSpPr>
            <p:nvPr/>
          </p:nvSpPr>
          <p:spPr bwMode="auto">
            <a:xfrm>
              <a:off x="384" y="1843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26" name="Freeform 24"/>
            <p:cNvSpPr>
              <a:spLocks noEditPoints="1"/>
            </p:cNvSpPr>
            <p:nvPr/>
          </p:nvSpPr>
          <p:spPr bwMode="auto">
            <a:xfrm>
              <a:off x="384" y="2247"/>
              <a:ext cx="21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27" name="Freeform 25"/>
            <p:cNvSpPr>
              <a:spLocks noEditPoints="1"/>
            </p:cNvSpPr>
            <p:nvPr/>
          </p:nvSpPr>
          <p:spPr bwMode="auto">
            <a:xfrm>
              <a:off x="384" y="2652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28" name="Freeform 26"/>
            <p:cNvSpPr>
              <a:spLocks noEditPoints="1"/>
            </p:cNvSpPr>
            <p:nvPr/>
          </p:nvSpPr>
          <p:spPr bwMode="auto">
            <a:xfrm>
              <a:off x="384" y="3056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29" name="Freeform 27"/>
            <p:cNvSpPr>
              <a:spLocks noEditPoints="1"/>
            </p:cNvSpPr>
            <p:nvPr/>
          </p:nvSpPr>
          <p:spPr bwMode="auto">
            <a:xfrm>
              <a:off x="384" y="3461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0" name="Freeform 28"/>
            <p:cNvSpPr>
              <a:spLocks noEditPoints="1"/>
            </p:cNvSpPr>
            <p:nvPr/>
          </p:nvSpPr>
          <p:spPr bwMode="auto">
            <a:xfrm>
              <a:off x="384" y="3865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1" name="Rectangle 29"/>
            <p:cNvSpPr>
              <a:spLocks noChangeArrowheads="1"/>
            </p:cNvSpPr>
            <p:nvPr/>
          </p:nvSpPr>
          <p:spPr bwMode="auto">
            <a:xfrm>
              <a:off x="384" y="4269"/>
              <a:ext cx="21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2" name="Rectangle 30"/>
            <p:cNvSpPr>
              <a:spLocks noChangeArrowheads="1"/>
            </p:cNvSpPr>
            <p:nvPr/>
          </p:nvSpPr>
          <p:spPr bwMode="auto">
            <a:xfrm>
              <a:off x="829" y="23"/>
              <a:ext cx="21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3" name="Freeform 31"/>
            <p:cNvSpPr>
              <a:spLocks noEditPoints="1"/>
            </p:cNvSpPr>
            <p:nvPr/>
          </p:nvSpPr>
          <p:spPr bwMode="auto">
            <a:xfrm>
              <a:off x="829" y="225"/>
              <a:ext cx="21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4" name="Freeform 32"/>
            <p:cNvSpPr>
              <a:spLocks noEditPoints="1"/>
            </p:cNvSpPr>
            <p:nvPr/>
          </p:nvSpPr>
          <p:spPr bwMode="auto">
            <a:xfrm>
              <a:off x="829" y="630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5" name="Freeform 33"/>
            <p:cNvSpPr>
              <a:spLocks noEditPoints="1"/>
            </p:cNvSpPr>
            <p:nvPr/>
          </p:nvSpPr>
          <p:spPr bwMode="auto">
            <a:xfrm>
              <a:off x="829" y="1034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6" name="Freeform 34"/>
            <p:cNvSpPr>
              <a:spLocks noEditPoints="1"/>
            </p:cNvSpPr>
            <p:nvPr/>
          </p:nvSpPr>
          <p:spPr bwMode="auto">
            <a:xfrm>
              <a:off x="829" y="1438"/>
              <a:ext cx="21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" name="Freeform 35"/>
            <p:cNvSpPr>
              <a:spLocks noEditPoints="1"/>
            </p:cNvSpPr>
            <p:nvPr/>
          </p:nvSpPr>
          <p:spPr bwMode="auto">
            <a:xfrm>
              <a:off x="829" y="1843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8" name="Freeform 36"/>
            <p:cNvSpPr>
              <a:spLocks noEditPoints="1"/>
            </p:cNvSpPr>
            <p:nvPr/>
          </p:nvSpPr>
          <p:spPr bwMode="auto">
            <a:xfrm>
              <a:off x="829" y="2247"/>
              <a:ext cx="21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9" name="Freeform 37"/>
            <p:cNvSpPr>
              <a:spLocks noEditPoints="1"/>
            </p:cNvSpPr>
            <p:nvPr/>
          </p:nvSpPr>
          <p:spPr bwMode="auto">
            <a:xfrm>
              <a:off x="829" y="2652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40" name="Freeform 38"/>
            <p:cNvSpPr>
              <a:spLocks noEditPoints="1"/>
            </p:cNvSpPr>
            <p:nvPr/>
          </p:nvSpPr>
          <p:spPr bwMode="auto">
            <a:xfrm>
              <a:off x="829" y="3056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41" name="Freeform 39"/>
            <p:cNvSpPr>
              <a:spLocks noEditPoints="1"/>
            </p:cNvSpPr>
            <p:nvPr/>
          </p:nvSpPr>
          <p:spPr bwMode="auto">
            <a:xfrm>
              <a:off x="829" y="3461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42" name="Freeform 40"/>
            <p:cNvSpPr>
              <a:spLocks noEditPoints="1"/>
            </p:cNvSpPr>
            <p:nvPr/>
          </p:nvSpPr>
          <p:spPr bwMode="auto">
            <a:xfrm>
              <a:off x="829" y="3865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43" name="Rectangle 41"/>
            <p:cNvSpPr>
              <a:spLocks noChangeArrowheads="1"/>
            </p:cNvSpPr>
            <p:nvPr/>
          </p:nvSpPr>
          <p:spPr bwMode="auto">
            <a:xfrm>
              <a:off x="829" y="4269"/>
              <a:ext cx="21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44" name="Rectangle 42"/>
            <p:cNvSpPr>
              <a:spLocks noChangeArrowheads="1"/>
            </p:cNvSpPr>
            <p:nvPr/>
          </p:nvSpPr>
          <p:spPr bwMode="auto">
            <a:xfrm>
              <a:off x="1279" y="23"/>
              <a:ext cx="21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45" name="Freeform 43"/>
            <p:cNvSpPr>
              <a:spLocks noEditPoints="1"/>
            </p:cNvSpPr>
            <p:nvPr/>
          </p:nvSpPr>
          <p:spPr bwMode="auto">
            <a:xfrm>
              <a:off x="1279" y="225"/>
              <a:ext cx="21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46" name="Freeform 44"/>
            <p:cNvSpPr>
              <a:spLocks noEditPoints="1"/>
            </p:cNvSpPr>
            <p:nvPr/>
          </p:nvSpPr>
          <p:spPr bwMode="auto">
            <a:xfrm>
              <a:off x="1279" y="630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47" name="Freeform 45"/>
            <p:cNvSpPr>
              <a:spLocks noEditPoints="1"/>
            </p:cNvSpPr>
            <p:nvPr/>
          </p:nvSpPr>
          <p:spPr bwMode="auto">
            <a:xfrm>
              <a:off x="1279" y="1034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48" name="Freeform 46"/>
            <p:cNvSpPr>
              <a:spLocks noEditPoints="1"/>
            </p:cNvSpPr>
            <p:nvPr/>
          </p:nvSpPr>
          <p:spPr bwMode="auto">
            <a:xfrm>
              <a:off x="1279" y="1438"/>
              <a:ext cx="21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49" name="Freeform 47"/>
            <p:cNvSpPr>
              <a:spLocks noEditPoints="1"/>
            </p:cNvSpPr>
            <p:nvPr/>
          </p:nvSpPr>
          <p:spPr bwMode="auto">
            <a:xfrm>
              <a:off x="1279" y="1843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50" name="Freeform 48"/>
            <p:cNvSpPr>
              <a:spLocks noEditPoints="1"/>
            </p:cNvSpPr>
            <p:nvPr/>
          </p:nvSpPr>
          <p:spPr bwMode="auto">
            <a:xfrm>
              <a:off x="1279" y="2247"/>
              <a:ext cx="21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51" name="Freeform 49"/>
            <p:cNvSpPr>
              <a:spLocks noEditPoints="1"/>
            </p:cNvSpPr>
            <p:nvPr/>
          </p:nvSpPr>
          <p:spPr bwMode="auto">
            <a:xfrm>
              <a:off x="1279" y="2652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52" name="Freeform 50"/>
            <p:cNvSpPr>
              <a:spLocks noEditPoints="1"/>
            </p:cNvSpPr>
            <p:nvPr/>
          </p:nvSpPr>
          <p:spPr bwMode="auto">
            <a:xfrm>
              <a:off x="1279" y="3056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53" name="Freeform 51"/>
            <p:cNvSpPr>
              <a:spLocks noEditPoints="1"/>
            </p:cNvSpPr>
            <p:nvPr/>
          </p:nvSpPr>
          <p:spPr bwMode="auto">
            <a:xfrm>
              <a:off x="1279" y="3461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54" name="Freeform 52"/>
            <p:cNvSpPr>
              <a:spLocks noEditPoints="1"/>
            </p:cNvSpPr>
            <p:nvPr/>
          </p:nvSpPr>
          <p:spPr bwMode="auto">
            <a:xfrm>
              <a:off x="1279" y="3865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55" name="Rectangle 53"/>
            <p:cNvSpPr>
              <a:spLocks noChangeArrowheads="1"/>
            </p:cNvSpPr>
            <p:nvPr/>
          </p:nvSpPr>
          <p:spPr bwMode="auto">
            <a:xfrm>
              <a:off x="1279" y="4269"/>
              <a:ext cx="21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56" name="Rectangle 54"/>
            <p:cNvSpPr>
              <a:spLocks noChangeArrowheads="1"/>
            </p:cNvSpPr>
            <p:nvPr/>
          </p:nvSpPr>
          <p:spPr bwMode="auto">
            <a:xfrm>
              <a:off x="1724" y="23"/>
              <a:ext cx="21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57" name="Freeform 55"/>
            <p:cNvSpPr>
              <a:spLocks noEditPoints="1"/>
            </p:cNvSpPr>
            <p:nvPr/>
          </p:nvSpPr>
          <p:spPr bwMode="auto">
            <a:xfrm>
              <a:off x="1724" y="225"/>
              <a:ext cx="21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58" name="Freeform 56"/>
            <p:cNvSpPr>
              <a:spLocks noEditPoints="1"/>
            </p:cNvSpPr>
            <p:nvPr/>
          </p:nvSpPr>
          <p:spPr bwMode="auto">
            <a:xfrm>
              <a:off x="1724" y="630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59" name="Freeform 57"/>
            <p:cNvSpPr>
              <a:spLocks noEditPoints="1"/>
            </p:cNvSpPr>
            <p:nvPr/>
          </p:nvSpPr>
          <p:spPr bwMode="auto">
            <a:xfrm>
              <a:off x="1724" y="1034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60" name="Freeform 58"/>
            <p:cNvSpPr>
              <a:spLocks noEditPoints="1"/>
            </p:cNvSpPr>
            <p:nvPr/>
          </p:nvSpPr>
          <p:spPr bwMode="auto">
            <a:xfrm>
              <a:off x="1724" y="1438"/>
              <a:ext cx="21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61" name="Freeform 59"/>
            <p:cNvSpPr>
              <a:spLocks noEditPoints="1"/>
            </p:cNvSpPr>
            <p:nvPr/>
          </p:nvSpPr>
          <p:spPr bwMode="auto">
            <a:xfrm>
              <a:off x="1724" y="1843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62" name="Freeform 60"/>
            <p:cNvSpPr>
              <a:spLocks noEditPoints="1"/>
            </p:cNvSpPr>
            <p:nvPr/>
          </p:nvSpPr>
          <p:spPr bwMode="auto">
            <a:xfrm>
              <a:off x="1724" y="2247"/>
              <a:ext cx="21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63" name="Freeform 61"/>
            <p:cNvSpPr>
              <a:spLocks noEditPoints="1"/>
            </p:cNvSpPr>
            <p:nvPr/>
          </p:nvSpPr>
          <p:spPr bwMode="auto">
            <a:xfrm>
              <a:off x="1724" y="2652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64" name="Freeform 62"/>
            <p:cNvSpPr>
              <a:spLocks noEditPoints="1"/>
            </p:cNvSpPr>
            <p:nvPr/>
          </p:nvSpPr>
          <p:spPr bwMode="auto">
            <a:xfrm>
              <a:off x="1724" y="3056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65" name="Freeform 63"/>
            <p:cNvSpPr>
              <a:spLocks noEditPoints="1"/>
            </p:cNvSpPr>
            <p:nvPr/>
          </p:nvSpPr>
          <p:spPr bwMode="auto">
            <a:xfrm>
              <a:off x="1724" y="3461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66" name="Freeform 64"/>
            <p:cNvSpPr>
              <a:spLocks noEditPoints="1"/>
            </p:cNvSpPr>
            <p:nvPr/>
          </p:nvSpPr>
          <p:spPr bwMode="auto">
            <a:xfrm>
              <a:off x="1724" y="3865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67" name="Rectangle 65"/>
            <p:cNvSpPr>
              <a:spLocks noChangeArrowheads="1"/>
            </p:cNvSpPr>
            <p:nvPr/>
          </p:nvSpPr>
          <p:spPr bwMode="auto">
            <a:xfrm>
              <a:off x="1724" y="4269"/>
              <a:ext cx="21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68" name="Rectangle 66"/>
            <p:cNvSpPr>
              <a:spLocks noChangeArrowheads="1"/>
            </p:cNvSpPr>
            <p:nvPr/>
          </p:nvSpPr>
          <p:spPr bwMode="auto">
            <a:xfrm>
              <a:off x="2169" y="23"/>
              <a:ext cx="21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69" name="Freeform 67"/>
            <p:cNvSpPr>
              <a:spLocks noEditPoints="1"/>
            </p:cNvSpPr>
            <p:nvPr/>
          </p:nvSpPr>
          <p:spPr bwMode="auto">
            <a:xfrm>
              <a:off x="2169" y="225"/>
              <a:ext cx="21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70" name="Freeform 68"/>
            <p:cNvSpPr>
              <a:spLocks noEditPoints="1"/>
            </p:cNvSpPr>
            <p:nvPr/>
          </p:nvSpPr>
          <p:spPr bwMode="auto">
            <a:xfrm>
              <a:off x="2169" y="630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71" name="Freeform 69"/>
            <p:cNvSpPr>
              <a:spLocks noEditPoints="1"/>
            </p:cNvSpPr>
            <p:nvPr/>
          </p:nvSpPr>
          <p:spPr bwMode="auto">
            <a:xfrm>
              <a:off x="2169" y="1034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72" name="Freeform 70"/>
            <p:cNvSpPr>
              <a:spLocks noEditPoints="1"/>
            </p:cNvSpPr>
            <p:nvPr/>
          </p:nvSpPr>
          <p:spPr bwMode="auto">
            <a:xfrm>
              <a:off x="2169" y="1438"/>
              <a:ext cx="21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73" name="Freeform 71"/>
            <p:cNvSpPr>
              <a:spLocks noEditPoints="1"/>
            </p:cNvSpPr>
            <p:nvPr/>
          </p:nvSpPr>
          <p:spPr bwMode="auto">
            <a:xfrm>
              <a:off x="2169" y="1843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74" name="Freeform 72"/>
            <p:cNvSpPr>
              <a:spLocks noEditPoints="1"/>
            </p:cNvSpPr>
            <p:nvPr/>
          </p:nvSpPr>
          <p:spPr bwMode="auto">
            <a:xfrm>
              <a:off x="2169" y="2247"/>
              <a:ext cx="21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75" name="Freeform 73"/>
            <p:cNvSpPr>
              <a:spLocks noEditPoints="1"/>
            </p:cNvSpPr>
            <p:nvPr/>
          </p:nvSpPr>
          <p:spPr bwMode="auto">
            <a:xfrm>
              <a:off x="2169" y="2652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76" name="Freeform 74"/>
            <p:cNvSpPr>
              <a:spLocks noEditPoints="1"/>
            </p:cNvSpPr>
            <p:nvPr/>
          </p:nvSpPr>
          <p:spPr bwMode="auto">
            <a:xfrm>
              <a:off x="2169" y="3056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77" name="Freeform 75"/>
            <p:cNvSpPr>
              <a:spLocks noEditPoints="1"/>
            </p:cNvSpPr>
            <p:nvPr/>
          </p:nvSpPr>
          <p:spPr bwMode="auto">
            <a:xfrm>
              <a:off x="2169" y="3461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78" name="Freeform 76"/>
            <p:cNvSpPr>
              <a:spLocks noEditPoints="1"/>
            </p:cNvSpPr>
            <p:nvPr/>
          </p:nvSpPr>
          <p:spPr bwMode="auto">
            <a:xfrm>
              <a:off x="2169" y="3865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79" name="Rectangle 77"/>
            <p:cNvSpPr>
              <a:spLocks noChangeArrowheads="1"/>
            </p:cNvSpPr>
            <p:nvPr/>
          </p:nvSpPr>
          <p:spPr bwMode="auto">
            <a:xfrm>
              <a:off x="2169" y="4269"/>
              <a:ext cx="21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80" name="Rectangle 78"/>
            <p:cNvSpPr>
              <a:spLocks noChangeArrowheads="1"/>
            </p:cNvSpPr>
            <p:nvPr/>
          </p:nvSpPr>
          <p:spPr bwMode="auto">
            <a:xfrm>
              <a:off x="2620" y="23"/>
              <a:ext cx="20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81" name="Freeform 79"/>
            <p:cNvSpPr>
              <a:spLocks noEditPoints="1"/>
            </p:cNvSpPr>
            <p:nvPr/>
          </p:nvSpPr>
          <p:spPr bwMode="auto">
            <a:xfrm>
              <a:off x="2620" y="225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82" name="Freeform 80"/>
            <p:cNvSpPr>
              <a:spLocks noEditPoints="1"/>
            </p:cNvSpPr>
            <p:nvPr/>
          </p:nvSpPr>
          <p:spPr bwMode="auto">
            <a:xfrm>
              <a:off x="2620" y="630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83" name="Freeform 81"/>
            <p:cNvSpPr>
              <a:spLocks noEditPoints="1"/>
            </p:cNvSpPr>
            <p:nvPr/>
          </p:nvSpPr>
          <p:spPr bwMode="auto">
            <a:xfrm>
              <a:off x="2620" y="1034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84" name="Freeform 82"/>
            <p:cNvSpPr>
              <a:spLocks noEditPoints="1"/>
            </p:cNvSpPr>
            <p:nvPr/>
          </p:nvSpPr>
          <p:spPr bwMode="auto">
            <a:xfrm>
              <a:off x="2620" y="1438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85" name="Freeform 83"/>
            <p:cNvSpPr>
              <a:spLocks noEditPoints="1"/>
            </p:cNvSpPr>
            <p:nvPr/>
          </p:nvSpPr>
          <p:spPr bwMode="auto">
            <a:xfrm>
              <a:off x="2620" y="1843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86" name="Freeform 84"/>
            <p:cNvSpPr>
              <a:spLocks noEditPoints="1"/>
            </p:cNvSpPr>
            <p:nvPr/>
          </p:nvSpPr>
          <p:spPr bwMode="auto">
            <a:xfrm>
              <a:off x="2620" y="2247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87" name="Freeform 85"/>
            <p:cNvSpPr>
              <a:spLocks noEditPoints="1"/>
            </p:cNvSpPr>
            <p:nvPr/>
          </p:nvSpPr>
          <p:spPr bwMode="auto">
            <a:xfrm>
              <a:off x="2620" y="2652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88" name="Freeform 86"/>
            <p:cNvSpPr>
              <a:spLocks noEditPoints="1"/>
            </p:cNvSpPr>
            <p:nvPr/>
          </p:nvSpPr>
          <p:spPr bwMode="auto">
            <a:xfrm>
              <a:off x="2620" y="3056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89" name="Freeform 87"/>
            <p:cNvSpPr>
              <a:spLocks noEditPoints="1"/>
            </p:cNvSpPr>
            <p:nvPr/>
          </p:nvSpPr>
          <p:spPr bwMode="auto">
            <a:xfrm>
              <a:off x="2620" y="3461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90" name="Freeform 88"/>
            <p:cNvSpPr>
              <a:spLocks noEditPoints="1"/>
            </p:cNvSpPr>
            <p:nvPr/>
          </p:nvSpPr>
          <p:spPr bwMode="auto">
            <a:xfrm>
              <a:off x="2620" y="3865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91" name="Rectangle 89"/>
            <p:cNvSpPr>
              <a:spLocks noChangeArrowheads="1"/>
            </p:cNvSpPr>
            <p:nvPr/>
          </p:nvSpPr>
          <p:spPr bwMode="auto">
            <a:xfrm>
              <a:off x="2620" y="4269"/>
              <a:ext cx="20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92" name="Rectangle 90"/>
            <p:cNvSpPr>
              <a:spLocks noChangeArrowheads="1"/>
            </p:cNvSpPr>
            <p:nvPr/>
          </p:nvSpPr>
          <p:spPr bwMode="auto">
            <a:xfrm>
              <a:off x="3065" y="23"/>
              <a:ext cx="20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93" name="Freeform 91"/>
            <p:cNvSpPr>
              <a:spLocks noEditPoints="1"/>
            </p:cNvSpPr>
            <p:nvPr/>
          </p:nvSpPr>
          <p:spPr bwMode="auto">
            <a:xfrm>
              <a:off x="3065" y="225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94" name="Freeform 92"/>
            <p:cNvSpPr>
              <a:spLocks noEditPoints="1"/>
            </p:cNvSpPr>
            <p:nvPr/>
          </p:nvSpPr>
          <p:spPr bwMode="auto">
            <a:xfrm>
              <a:off x="3065" y="630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95" name="Freeform 93"/>
            <p:cNvSpPr>
              <a:spLocks noEditPoints="1"/>
            </p:cNvSpPr>
            <p:nvPr/>
          </p:nvSpPr>
          <p:spPr bwMode="auto">
            <a:xfrm>
              <a:off x="3065" y="1034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96" name="Freeform 94"/>
            <p:cNvSpPr>
              <a:spLocks noEditPoints="1"/>
            </p:cNvSpPr>
            <p:nvPr/>
          </p:nvSpPr>
          <p:spPr bwMode="auto">
            <a:xfrm>
              <a:off x="3065" y="1438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97" name="Freeform 95"/>
            <p:cNvSpPr>
              <a:spLocks noEditPoints="1"/>
            </p:cNvSpPr>
            <p:nvPr/>
          </p:nvSpPr>
          <p:spPr bwMode="auto">
            <a:xfrm>
              <a:off x="3065" y="1843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98" name="Freeform 96"/>
            <p:cNvSpPr>
              <a:spLocks noEditPoints="1"/>
            </p:cNvSpPr>
            <p:nvPr/>
          </p:nvSpPr>
          <p:spPr bwMode="auto">
            <a:xfrm>
              <a:off x="3065" y="2247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99" name="Freeform 97"/>
            <p:cNvSpPr>
              <a:spLocks noEditPoints="1"/>
            </p:cNvSpPr>
            <p:nvPr/>
          </p:nvSpPr>
          <p:spPr bwMode="auto">
            <a:xfrm>
              <a:off x="3065" y="2652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00" name="Freeform 98"/>
            <p:cNvSpPr>
              <a:spLocks noEditPoints="1"/>
            </p:cNvSpPr>
            <p:nvPr/>
          </p:nvSpPr>
          <p:spPr bwMode="auto">
            <a:xfrm>
              <a:off x="3065" y="3056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01" name="Freeform 99"/>
            <p:cNvSpPr>
              <a:spLocks noEditPoints="1"/>
            </p:cNvSpPr>
            <p:nvPr/>
          </p:nvSpPr>
          <p:spPr bwMode="auto">
            <a:xfrm>
              <a:off x="3065" y="3461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02" name="Freeform 100"/>
            <p:cNvSpPr>
              <a:spLocks noEditPoints="1"/>
            </p:cNvSpPr>
            <p:nvPr/>
          </p:nvSpPr>
          <p:spPr bwMode="auto">
            <a:xfrm>
              <a:off x="3065" y="3865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03" name="Rectangle 101"/>
            <p:cNvSpPr>
              <a:spLocks noChangeArrowheads="1"/>
            </p:cNvSpPr>
            <p:nvPr/>
          </p:nvSpPr>
          <p:spPr bwMode="auto">
            <a:xfrm>
              <a:off x="3065" y="4269"/>
              <a:ext cx="20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04" name="Rectangle 102"/>
            <p:cNvSpPr>
              <a:spLocks noChangeArrowheads="1"/>
            </p:cNvSpPr>
            <p:nvPr/>
          </p:nvSpPr>
          <p:spPr bwMode="auto">
            <a:xfrm>
              <a:off x="3510" y="23"/>
              <a:ext cx="20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05" name="Freeform 103"/>
            <p:cNvSpPr>
              <a:spLocks noEditPoints="1"/>
            </p:cNvSpPr>
            <p:nvPr/>
          </p:nvSpPr>
          <p:spPr bwMode="auto">
            <a:xfrm>
              <a:off x="3510" y="225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06" name="Freeform 104"/>
            <p:cNvSpPr>
              <a:spLocks noEditPoints="1"/>
            </p:cNvSpPr>
            <p:nvPr/>
          </p:nvSpPr>
          <p:spPr bwMode="auto">
            <a:xfrm>
              <a:off x="3510" y="630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07" name="Freeform 105"/>
            <p:cNvSpPr>
              <a:spLocks noEditPoints="1"/>
            </p:cNvSpPr>
            <p:nvPr/>
          </p:nvSpPr>
          <p:spPr bwMode="auto">
            <a:xfrm>
              <a:off x="3510" y="1034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08" name="Freeform 106"/>
            <p:cNvSpPr>
              <a:spLocks noEditPoints="1"/>
            </p:cNvSpPr>
            <p:nvPr/>
          </p:nvSpPr>
          <p:spPr bwMode="auto">
            <a:xfrm>
              <a:off x="3510" y="1438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09" name="Freeform 107"/>
            <p:cNvSpPr>
              <a:spLocks noEditPoints="1"/>
            </p:cNvSpPr>
            <p:nvPr/>
          </p:nvSpPr>
          <p:spPr bwMode="auto">
            <a:xfrm>
              <a:off x="3510" y="1843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10" name="Freeform 108"/>
            <p:cNvSpPr>
              <a:spLocks noEditPoints="1"/>
            </p:cNvSpPr>
            <p:nvPr/>
          </p:nvSpPr>
          <p:spPr bwMode="auto">
            <a:xfrm>
              <a:off x="3510" y="2247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11" name="Freeform 109"/>
            <p:cNvSpPr>
              <a:spLocks noEditPoints="1"/>
            </p:cNvSpPr>
            <p:nvPr/>
          </p:nvSpPr>
          <p:spPr bwMode="auto">
            <a:xfrm>
              <a:off x="3510" y="2652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12" name="Freeform 110"/>
            <p:cNvSpPr>
              <a:spLocks noEditPoints="1"/>
            </p:cNvSpPr>
            <p:nvPr/>
          </p:nvSpPr>
          <p:spPr bwMode="auto">
            <a:xfrm>
              <a:off x="3510" y="3056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13" name="Freeform 111"/>
            <p:cNvSpPr>
              <a:spLocks noEditPoints="1"/>
            </p:cNvSpPr>
            <p:nvPr/>
          </p:nvSpPr>
          <p:spPr bwMode="auto">
            <a:xfrm>
              <a:off x="3510" y="3461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14" name="Freeform 112"/>
            <p:cNvSpPr>
              <a:spLocks noEditPoints="1"/>
            </p:cNvSpPr>
            <p:nvPr/>
          </p:nvSpPr>
          <p:spPr bwMode="auto">
            <a:xfrm>
              <a:off x="3510" y="3865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15" name="Rectangle 113"/>
            <p:cNvSpPr>
              <a:spLocks noChangeArrowheads="1"/>
            </p:cNvSpPr>
            <p:nvPr/>
          </p:nvSpPr>
          <p:spPr bwMode="auto">
            <a:xfrm>
              <a:off x="3510" y="4269"/>
              <a:ext cx="20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16" name="Rectangle 114"/>
            <p:cNvSpPr>
              <a:spLocks noChangeArrowheads="1"/>
            </p:cNvSpPr>
            <p:nvPr/>
          </p:nvSpPr>
          <p:spPr bwMode="auto">
            <a:xfrm>
              <a:off x="3960" y="23"/>
              <a:ext cx="20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17" name="Freeform 115"/>
            <p:cNvSpPr>
              <a:spLocks noEditPoints="1"/>
            </p:cNvSpPr>
            <p:nvPr/>
          </p:nvSpPr>
          <p:spPr bwMode="auto">
            <a:xfrm>
              <a:off x="3960" y="225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18" name="Freeform 116"/>
            <p:cNvSpPr>
              <a:spLocks noEditPoints="1"/>
            </p:cNvSpPr>
            <p:nvPr/>
          </p:nvSpPr>
          <p:spPr bwMode="auto">
            <a:xfrm>
              <a:off x="3960" y="630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19" name="Freeform 117"/>
            <p:cNvSpPr>
              <a:spLocks noEditPoints="1"/>
            </p:cNvSpPr>
            <p:nvPr/>
          </p:nvSpPr>
          <p:spPr bwMode="auto">
            <a:xfrm>
              <a:off x="3960" y="1034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20" name="Freeform 118"/>
            <p:cNvSpPr>
              <a:spLocks noEditPoints="1"/>
            </p:cNvSpPr>
            <p:nvPr/>
          </p:nvSpPr>
          <p:spPr bwMode="auto">
            <a:xfrm>
              <a:off x="3960" y="1438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21" name="Freeform 119"/>
            <p:cNvSpPr>
              <a:spLocks noEditPoints="1"/>
            </p:cNvSpPr>
            <p:nvPr/>
          </p:nvSpPr>
          <p:spPr bwMode="auto">
            <a:xfrm>
              <a:off x="3960" y="1843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22" name="Freeform 120"/>
            <p:cNvSpPr>
              <a:spLocks noEditPoints="1"/>
            </p:cNvSpPr>
            <p:nvPr/>
          </p:nvSpPr>
          <p:spPr bwMode="auto">
            <a:xfrm>
              <a:off x="3960" y="2247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23" name="Freeform 121"/>
            <p:cNvSpPr>
              <a:spLocks noEditPoints="1"/>
            </p:cNvSpPr>
            <p:nvPr/>
          </p:nvSpPr>
          <p:spPr bwMode="auto">
            <a:xfrm>
              <a:off x="3960" y="2652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24" name="Freeform 122"/>
            <p:cNvSpPr>
              <a:spLocks noEditPoints="1"/>
            </p:cNvSpPr>
            <p:nvPr/>
          </p:nvSpPr>
          <p:spPr bwMode="auto">
            <a:xfrm>
              <a:off x="3960" y="3056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25" name="Freeform 123"/>
            <p:cNvSpPr>
              <a:spLocks noEditPoints="1"/>
            </p:cNvSpPr>
            <p:nvPr/>
          </p:nvSpPr>
          <p:spPr bwMode="auto">
            <a:xfrm>
              <a:off x="3960" y="3461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26" name="Freeform 124"/>
            <p:cNvSpPr>
              <a:spLocks noEditPoints="1"/>
            </p:cNvSpPr>
            <p:nvPr/>
          </p:nvSpPr>
          <p:spPr bwMode="auto">
            <a:xfrm>
              <a:off x="3960" y="3865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27" name="Rectangle 125"/>
            <p:cNvSpPr>
              <a:spLocks noChangeArrowheads="1"/>
            </p:cNvSpPr>
            <p:nvPr/>
          </p:nvSpPr>
          <p:spPr bwMode="auto">
            <a:xfrm>
              <a:off x="3960" y="4269"/>
              <a:ext cx="20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28" name="Rectangle 126"/>
            <p:cNvSpPr>
              <a:spLocks noChangeArrowheads="1"/>
            </p:cNvSpPr>
            <p:nvPr/>
          </p:nvSpPr>
          <p:spPr bwMode="auto">
            <a:xfrm>
              <a:off x="4405" y="23"/>
              <a:ext cx="20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29" name="Freeform 127"/>
            <p:cNvSpPr>
              <a:spLocks noEditPoints="1"/>
            </p:cNvSpPr>
            <p:nvPr/>
          </p:nvSpPr>
          <p:spPr bwMode="auto">
            <a:xfrm>
              <a:off x="4405" y="225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30" name="Freeform 128"/>
            <p:cNvSpPr>
              <a:spLocks noEditPoints="1"/>
            </p:cNvSpPr>
            <p:nvPr/>
          </p:nvSpPr>
          <p:spPr bwMode="auto">
            <a:xfrm>
              <a:off x="4405" y="630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31" name="Freeform 129"/>
            <p:cNvSpPr>
              <a:spLocks noEditPoints="1"/>
            </p:cNvSpPr>
            <p:nvPr/>
          </p:nvSpPr>
          <p:spPr bwMode="auto">
            <a:xfrm>
              <a:off x="4405" y="1034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32" name="Freeform 130"/>
            <p:cNvSpPr>
              <a:spLocks noEditPoints="1"/>
            </p:cNvSpPr>
            <p:nvPr/>
          </p:nvSpPr>
          <p:spPr bwMode="auto">
            <a:xfrm>
              <a:off x="4405" y="1438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33" name="Freeform 131"/>
            <p:cNvSpPr>
              <a:spLocks noEditPoints="1"/>
            </p:cNvSpPr>
            <p:nvPr/>
          </p:nvSpPr>
          <p:spPr bwMode="auto">
            <a:xfrm>
              <a:off x="4405" y="1843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34" name="Freeform 132"/>
            <p:cNvSpPr>
              <a:spLocks noEditPoints="1"/>
            </p:cNvSpPr>
            <p:nvPr/>
          </p:nvSpPr>
          <p:spPr bwMode="auto">
            <a:xfrm>
              <a:off x="4405" y="2247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35" name="Freeform 133"/>
            <p:cNvSpPr>
              <a:spLocks noEditPoints="1"/>
            </p:cNvSpPr>
            <p:nvPr/>
          </p:nvSpPr>
          <p:spPr bwMode="auto">
            <a:xfrm>
              <a:off x="4405" y="2652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36" name="Freeform 134"/>
            <p:cNvSpPr>
              <a:spLocks noEditPoints="1"/>
            </p:cNvSpPr>
            <p:nvPr/>
          </p:nvSpPr>
          <p:spPr bwMode="auto">
            <a:xfrm>
              <a:off x="4405" y="3056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37" name="Freeform 135"/>
            <p:cNvSpPr>
              <a:spLocks noEditPoints="1"/>
            </p:cNvSpPr>
            <p:nvPr/>
          </p:nvSpPr>
          <p:spPr bwMode="auto">
            <a:xfrm>
              <a:off x="4405" y="3461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38" name="Freeform 136"/>
            <p:cNvSpPr>
              <a:spLocks noEditPoints="1"/>
            </p:cNvSpPr>
            <p:nvPr/>
          </p:nvSpPr>
          <p:spPr bwMode="auto">
            <a:xfrm>
              <a:off x="4405" y="3865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39" name="Rectangle 137"/>
            <p:cNvSpPr>
              <a:spLocks noChangeArrowheads="1"/>
            </p:cNvSpPr>
            <p:nvPr/>
          </p:nvSpPr>
          <p:spPr bwMode="auto">
            <a:xfrm>
              <a:off x="4405" y="4269"/>
              <a:ext cx="20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40" name="Rectangle 138"/>
            <p:cNvSpPr>
              <a:spLocks noChangeArrowheads="1"/>
            </p:cNvSpPr>
            <p:nvPr/>
          </p:nvSpPr>
          <p:spPr bwMode="auto">
            <a:xfrm>
              <a:off x="4850" y="23"/>
              <a:ext cx="20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41" name="Freeform 139"/>
            <p:cNvSpPr>
              <a:spLocks noEditPoints="1"/>
            </p:cNvSpPr>
            <p:nvPr/>
          </p:nvSpPr>
          <p:spPr bwMode="auto">
            <a:xfrm>
              <a:off x="4850" y="225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42" name="Freeform 140"/>
            <p:cNvSpPr>
              <a:spLocks noEditPoints="1"/>
            </p:cNvSpPr>
            <p:nvPr/>
          </p:nvSpPr>
          <p:spPr bwMode="auto">
            <a:xfrm>
              <a:off x="4850" y="630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43" name="Freeform 141"/>
            <p:cNvSpPr>
              <a:spLocks noEditPoints="1"/>
            </p:cNvSpPr>
            <p:nvPr/>
          </p:nvSpPr>
          <p:spPr bwMode="auto">
            <a:xfrm>
              <a:off x="4850" y="1034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44" name="Freeform 142"/>
            <p:cNvSpPr>
              <a:spLocks noEditPoints="1"/>
            </p:cNvSpPr>
            <p:nvPr/>
          </p:nvSpPr>
          <p:spPr bwMode="auto">
            <a:xfrm>
              <a:off x="4850" y="1438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45" name="Freeform 143"/>
            <p:cNvSpPr>
              <a:spLocks noEditPoints="1"/>
            </p:cNvSpPr>
            <p:nvPr/>
          </p:nvSpPr>
          <p:spPr bwMode="auto">
            <a:xfrm>
              <a:off x="4850" y="1843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46" name="Freeform 144"/>
            <p:cNvSpPr>
              <a:spLocks noEditPoints="1"/>
            </p:cNvSpPr>
            <p:nvPr/>
          </p:nvSpPr>
          <p:spPr bwMode="auto">
            <a:xfrm>
              <a:off x="4850" y="2247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47" name="Freeform 145"/>
            <p:cNvSpPr>
              <a:spLocks noEditPoints="1"/>
            </p:cNvSpPr>
            <p:nvPr/>
          </p:nvSpPr>
          <p:spPr bwMode="auto">
            <a:xfrm>
              <a:off x="4850" y="2652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48" name="Freeform 146"/>
            <p:cNvSpPr>
              <a:spLocks noEditPoints="1"/>
            </p:cNvSpPr>
            <p:nvPr/>
          </p:nvSpPr>
          <p:spPr bwMode="auto">
            <a:xfrm>
              <a:off x="4850" y="3056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49" name="Freeform 147"/>
            <p:cNvSpPr>
              <a:spLocks noEditPoints="1"/>
            </p:cNvSpPr>
            <p:nvPr/>
          </p:nvSpPr>
          <p:spPr bwMode="auto">
            <a:xfrm>
              <a:off x="4850" y="3461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50" name="Freeform 148"/>
            <p:cNvSpPr>
              <a:spLocks noEditPoints="1"/>
            </p:cNvSpPr>
            <p:nvPr/>
          </p:nvSpPr>
          <p:spPr bwMode="auto">
            <a:xfrm>
              <a:off x="4850" y="3865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51" name="Rectangle 149"/>
            <p:cNvSpPr>
              <a:spLocks noChangeArrowheads="1"/>
            </p:cNvSpPr>
            <p:nvPr/>
          </p:nvSpPr>
          <p:spPr bwMode="auto">
            <a:xfrm>
              <a:off x="4850" y="4269"/>
              <a:ext cx="20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52" name="Rectangle 150"/>
            <p:cNvSpPr>
              <a:spLocks noChangeArrowheads="1"/>
            </p:cNvSpPr>
            <p:nvPr/>
          </p:nvSpPr>
          <p:spPr bwMode="auto">
            <a:xfrm>
              <a:off x="5300" y="23"/>
              <a:ext cx="20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53" name="Freeform 151"/>
            <p:cNvSpPr>
              <a:spLocks noEditPoints="1"/>
            </p:cNvSpPr>
            <p:nvPr/>
          </p:nvSpPr>
          <p:spPr bwMode="auto">
            <a:xfrm>
              <a:off x="5300" y="225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54" name="Freeform 152"/>
            <p:cNvSpPr>
              <a:spLocks noEditPoints="1"/>
            </p:cNvSpPr>
            <p:nvPr/>
          </p:nvSpPr>
          <p:spPr bwMode="auto">
            <a:xfrm>
              <a:off x="5300" y="630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55" name="Freeform 153"/>
            <p:cNvSpPr>
              <a:spLocks noEditPoints="1"/>
            </p:cNvSpPr>
            <p:nvPr/>
          </p:nvSpPr>
          <p:spPr bwMode="auto">
            <a:xfrm>
              <a:off x="5300" y="1034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56" name="Freeform 154"/>
            <p:cNvSpPr>
              <a:spLocks noEditPoints="1"/>
            </p:cNvSpPr>
            <p:nvPr/>
          </p:nvSpPr>
          <p:spPr bwMode="auto">
            <a:xfrm>
              <a:off x="5300" y="1438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57" name="Freeform 155"/>
            <p:cNvSpPr>
              <a:spLocks noEditPoints="1"/>
            </p:cNvSpPr>
            <p:nvPr/>
          </p:nvSpPr>
          <p:spPr bwMode="auto">
            <a:xfrm>
              <a:off x="5300" y="1843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58" name="Freeform 156"/>
            <p:cNvSpPr>
              <a:spLocks noEditPoints="1"/>
            </p:cNvSpPr>
            <p:nvPr/>
          </p:nvSpPr>
          <p:spPr bwMode="auto">
            <a:xfrm>
              <a:off x="5300" y="2247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59" name="Freeform 157"/>
            <p:cNvSpPr>
              <a:spLocks noEditPoints="1"/>
            </p:cNvSpPr>
            <p:nvPr/>
          </p:nvSpPr>
          <p:spPr bwMode="auto">
            <a:xfrm>
              <a:off x="5300" y="2652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60" name="Freeform 158"/>
            <p:cNvSpPr>
              <a:spLocks noEditPoints="1"/>
            </p:cNvSpPr>
            <p:nvPr/>
          </p:nvSpPr>
          <p:spPr bwMode="auto">
            <a:xfrm>
              <a:off x="5300" y="3056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61" name="Freeform 159"/>
            <p:cNvSpPr>
              <a:spLocks noEditPoints="1"/>
            </p:cNvSpPr>
            <p:nvPr/>
          </p:nvSpPr>
          <p:spPr bwMode="auto">
            <a:xfrm>
              <a:off x="5300" y="3461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62" name="Freeform 160"/>
            <p:cNvSpPr>
              <a:spLocks noEditPoints="1"/>
            </p:cNvSpPr>
            <p:nvPr/>
          </p:nvSpPr>
          <p:spPr bwMode="auto">
            <a:xfrm>
              <a:off x="5300" y="3865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63" name="Rectangle 161"/>
            <p:cNvSpPr>
              <a:spLocks noChangeArrowheads="1"/>
            </p:cNvSpPr>
            <p:nvPr/>
          </p:nvSpPr>
          <p:spPr bwMode="auto">
            <a:xfrm>
              <a:off x="5300" y="4269"/>
              <a:ext cx="20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64" name="Freeform 162"/>
            <p:cNvSpPr>
              <a:spLocks/>
            </p:cNvSpPr>
            <p:nvPr/>
          </p:nvSpPr>
          <p:spPr bwMode="auto">
            <a:xfrm>
              <a:off x="349" y="3304"/>
              <a:ext cx="20" cy="10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4" h="2">
                  <a:moveTo>
                    <a:pt x="0" y="1"/>
                  </a:moveTo>
                  <a:cubicBezTo>
                    <a:pt x="1" y="2"/>
                    <a:pt x="4" y="0"/>
                    <a:pt x="0" y="1"/>
                  </a:cubicBez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</p:grpSp>
      <p:grpSp>
        <p:nvGrpSpPr>
          <p:cNvPr id="165" name="Group 168"/>
          <p:cNvGrpSpPr>
            <a:grpSpLocks/>
          </p:cNvGrpSpPr>
          <p:nvPr/>
        </p:nvGrpSpPr>
        <p:grpSpPr bwMode="auto">
          <a:xfrm>
            <a:off x="152400" y="4724400"/>
            <a:ext cx="1685925" cy="1557338"/>
            <a:chOff x="96" y="2784"/>
            <a:chExt cx="1062" cy="981"/>
          </a:xfrm>
        </p:grpSpPr>
        <p:sp>
          <p:nvSpPr>
            <p:cNvPr id="166" name="Freeform 169"/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/>
              <a:ahLst/>
              <a:cxnLst>
                <a:cxn ang="0">
                  <a:pos x="30" y="12"/>
                </a:cxn>
                <a:cxn ang="0">
                  <a:pos x="37" y="10"/>
                </a:cxn>
                <a:cxn ang="0">
                  <a:pos x="38" y="9"/>
                </a:cxn>
                <a:cxn ang="0">
                  <a:pos x="31" y="1"/>
                </a:cxn>
                <a:cxn ang="0">
                  <a:pos x="8" y="11"/>
                </a:cxn>
                <a:cxn ang="0">
                  <a:pos x="30" y="12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folHlink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67" name="Freeform 170"/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/>
              <a:ahLst/>
              <a:cxnLst>
                <a:cxn ang="0">
                  <a:pos x="163" y="155"/>
                </a:cxn>
                <a:cxn ang="0">
                  <a:pos x="152" y="125"/>
                </a:cxn>
                <a:cxn ang="0">
                  <a:pos x="142" y="99"/>
                </a:cxn>
                <a:cxn ang="0">
                  <a:pos x="165" y="93"/>
                </a:cxn>
                <a:cxn ang="0">
                  <a:pos x="146" y="82"/>
                </a:cxn>
                <a:cxn ang="0">
                  <a:pos x="157" y="83"/>
                </a:cxn>
                <a:cxn ang="0">
                  <a:pos x="157" y="77"/>
                </a:cxn>
                <a:cxn ang="0">
                  <a:pos x="135" y="78"/>
                </a:cxn>
                <a:cxn ang="0">
                  <a:pos x="128" y="125"/>
                </a:cxn>
                <a:cxn ang="0">
                  <a:pos x="124" y="84"/>
                </a:cxn>
                <a:cxn ang="0">
                  <a:pos x="118" y="67"/>
                </a:cxn>
                <a:cxn ang="0">
                  <a:pos x="124" y="51"/>
                </a:cxn>
                <a:cxn ang="0">
                  <a:pos x="121" y="37"/>
                </a:cxn>
                <a:cxn ang="0">
                  <a:pos x="119" y="24"/>
                </a:cxn>
                <a:cxn ang="0">
                  <a:pos x="132" y="39"/>
                </a:cxn>
                <a:cxn ang="0">
                  <a:pos x="149" y="18"/>
                </a:cxn>
                <a:cxn ang="0">
                  <a:pos x="147" y="36"/>
                </a:cxn>
                <a:cxn ang="0">
                  <a:pos x="143" y="48"/>
                </a:cxn>
                <a:cxn ang="0">
                  <a:pos x="144" y="67"/>
                </a:cxn>
                <a:cxn ang="0">
                  <a:pos x="199" y="29"/>
                </a:cxn>
                <a:cxn ang="0">
                  <a:pos x="90" y="1"/>
                </a:cxn>
                <a:cxn ang="0">
                  <a:pos x="56" y="8"/>
                </a:cxn>
                <a:cxn ang="0">
                  <a:pos x="85" y="12"/>
                </a:cxn>
                <a:cxn ang="0">
                  <a:pos x="60" y="22"/>
                </a:cxn>
                <a:cxn ang="0">
                  <a:pos x="58" y="29"/>
                </a:cxn>
                <a:cxn ang="0">
                  <a:pos x="38" y="17"/>
                </a:cxn>
                <a:cxn ang="0">
                  <a:pos x="13" y="115"/>
                </a:cxn>
                <a:cxn ang="0">
                  <a:pos x="61" y="146"/>
                </a:cxn>
                <a:cxn ang="0">
                  <a:pos x="45" y="133"/>
                </a:cxn>
                <a:cxn ang="0">
                  <a:pos x="35" y="145"/>
                </a:cxn>
                <a:cxn ang="0">
                  <a:pos x="32" y="128"/>
                </a:cxn>
                <a:cxn ang="0">
                  <a:pos x="46" y="86"/>
                </a:cxn>
                <a:cxn ang="0">
                  <a:pos x="67" y="83"/>
                </a:cxn>
                <a:cxn ang="0">
                  <a:pos x="71" y="95"/>
                </a:cxn>
                <a:cxn ang="0">
                  <a:pos x="61" y="121"/>
                </a:cxn>
                <a:cxn ang="0">
                  <a:pos x="91" y="180"/>
                </a:cxn>
                <a:cxn ang="0">
                  <a:pos x="186" y="166"/>
                </a:cxn>
                <a:cxn ang="0">
                  <a:pos x="182" y="66"/>
                </a:cxn>
                <a:cxn ang="0">
                  <a:pos x="165" y="60"/>
                </a:cxn>
                <a:cxn ang="0">
                  <a:pos x="113" y="61"/>
                </a:cxn>
                <a:cxn ang="0">
                  <a:pos x="108" y="87"/>
                </a:cxn>
                <a:cxn ang="0">
                  <a:pos x="114" y="50"/>
                </a:cxn>
                <a:cxn ang="0">
                  <a:pos x="89" y="26"/>
                </a:cxn>
                <a:cxn ang="0">
                  <a:pos x="105" y="35"/>
                </a:cxn>
                <a:cxn ang="0">
                  <a:pos x="61" y="72"/>
                </a:cxn>
                <a:cxn ang="0">
                  <a:pos x="24" y="37"/>
                </a:cxn>
                <a:cxn ang="0">
                  <a:pos x="68" y="40"/>
                </a:cxn>
                <a:cxn ang="0">
                  <a:pos x="79" y="40"/>
                </a:cxn>
                <a:cxn ang="0">
                  <a:pos x="108" y="45"/>
                </a:cxn>
                <a:cxn ang="0">
                  <a:pos x="99" y="93"/>
                </a:cxn>
                <a:cxn ang="0">
                  <a:pos x="93" y="51"/>
                </a:cxn>
                <a:cxn ang="0">
                  <a:pos x="61" y="72"/>
                </a:cxn>
                <a:cxn ang="0">
                  <a:pos x="80" y="82"/>
                </a:cxn>
                <a:cxn ang="0">
                  <a:pos x="88" y="58"/>
                </a:cxn>
                <a:cxn ang="0">
                  <a:pos x="102" y="145"/>
                </a:cxn>
                <a:cxn ang="0">
                  <a:pos x="82" y="96"/>
                </a:cxn>
                <a:cxn ang="0">
                  <a:pos x="117" y="106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folHlink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68" name="Freeform 171"/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/>
              <a:ahLst/>
              <a:cxnLst>
                <a:cxn ang="0">
                  <a:pos x="14" y="5"/>
                </a:cxn>
                <a:cxn ang="0">
                  <a:pos x="9" y="20"/>
                </a:cxn>
                <a:cxn ang="0">
                  <a:pos x="14" y="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folHlink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69" name="Freeform 172"/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/>
              <a:ahLst/>
              <a:cxnLst>
                <a:cxn ang="0">
                  <a:pos x="7" y="10"/>
                </a:cxn>
                <a:cxn ang="0">
                  <a:pos x="4" y="25"/>
                </a:cxn>
                <a:cxn ang="0">
                  <a:pos x="15" y="16"/>
                </a:cxn>
                <a:cxn ang="0">
                  <a:pos x="13" y="8"/>
                </a:cxn>
                <a:cxn ang="0">
                  <a:pos x="7" y="10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folHlink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70" name="Freeform 173"/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/>
              <a:ahLst/>
              <a:cxnLst>
                <a:cxn ang="0">
                  <a:pos x="40" y="2"/>
                </a:cxn>
                <a:cxn ang="0">
                  <a:pos x="9" y="1"/>
                </a:cxn>
                <a:cxn ang="0">
                  <a:pos x="1" y="9"/>
                </a:cxn>
                <a:cxn ang="0">
                  <a:pos x="22" y="21"/>
                </a:cxn>
                <a:cxn ang="0">
                  <a:pos x="34" y="20"/>
                </a:cxn>
                <a:cxn ang="0">
                  <a:pos x="40" y="19"/>
                </a:cxn>
                <a:cxn ang="0">
                  <a:pos x="40" y="2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folHlink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71" name="Freeform 174"/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/>
              <a:ahLst/>
              <a:cxnLst>
                <a:cxn ang="0">
                  <a:pos x="24" y="2"/>
                </a:cxn>
                <a:cxn ang="0">
                  <a:pos x="11" y="2"/>
                </a:cxn>
                <a:cxn ang="0">
                  <a:pos x="4" y="20"/>
                </a:cxn>
                <a:cxn ang="0">
                  <a:pos x="28" y="22"/>
                </a:cxn>
                <a:cxn ang="0">
                  <a:pos x="24" y="2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folHlink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72" name="Freeform 175"/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4" y="5"/>
                </a:cxn>
                <a:cxn ang="0">
                  <a:pos x="5" y="0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folHlink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73" name="Freeform 176"/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/>
              <a:ahLst/>
              <a:cxnLst>
                <a:cxn ang="0">
                  <a:pos x="7" y="13"/>
                </a:cxn>
                <a:cxn ang="0">
                  <a:pos x="25" y="6"/>
                </a:cxn>
                <a:cxn ang="0">
                  <a:pos x="17" y="1"/>
                </a:cxn>
                <a:cxn ang="0">
                  <a:pos x="7" y="11"/>
                </a:cxn>
                <a:cxn ang="0">
                  <a:pos x="7" y="13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folHlink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74" name="Freeform 177"/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/>
              <a:ahLst/>
              <a:cxnLst>
                <a:cxn ang="0">
                  <a:pos x="25" y="6"/>
                </a:cxn>
                <a:cxn ang="0">
                  <a:pos x="8" y="10"/>
                </a:cxn>
                <a:cxn ang="0">
                  <a:pos x="6" y="13"/>
                </a:cxn>
                <a:cxn ang="0">
                  <a:pos x="27" y="12"/>
                </a:cxn>
                <a:cxn ang="0">
                  <a:pos x="25" y="6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folHlink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75" name="Freeform 178"/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/>
              <a:ahLst/>
              <a:cxnLst>
                <a:cxn ang="0">
                  <a:pos x="40" y="3"/>
                </a:cxn>
                <a:cxn ang="0">
                  <a:pos x="29" y="1"/>
                </a:cxn>
                <a:cxn ang="0">
                  <a:pos x="7" y="0"/>
                </a:cxn>
                <a:cxn ang="0">
                  <a:pos x="2" y="5"/>
                </a:cxn>
                <a:cxn ang="0">
                  <a:pos x="20" y="8"/>
                </a:cxn>
                <a:cxn ang="0">
                  <a:pos x="41" y="8"/>
                </a:cxn>
                <a:cxn ang="0">
                  <a:pos x="40" y="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folHlink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76" name="Freeform 179"/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/>
              <a:ahLst/>
              <a:cxnLst>
                <a:cxn ang="0">
                  <a:pos x="37" y="2"/>
                </a:cxn>
                <a:cxn ang="0">
                  <a:pos x="26" y="4"/>
                </a:cxn>
                <a:cxn ang="0">
                  <a:pos x="13" y="3"/>
                </a:cxn>
                <a:cxn ang="0">
                  <a:pos x="1" y="2"/>
                </a:cxn>
                <a:cxn ang="0">
                  <a:pos x="35" y="8"/>
                </a:cxn>
                <a:cxn ang="0">
                  <a:pos x="37" y="2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folHlink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77" name="Freeform 180"/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/>
              <a:ahLst/>
              <a:cxnLst>
                <a:cxn ang="0">
                  <a:pos x="28" y="9"/>
                </a:cxn>
                <a:cxn ang="0">
                  <a:pos x="13" y="6"/>
                </a:cxn>
                <a:cxn ang="0">
                  <a:pos x="4" y="15"/>
                </a:cxn>
                <a:cxn ang="0">
                  <a:pos x="1" y="19"/>
                </a:cxn>
                <a:cxn ang="0">
                  <a:pos x="9" y="19"/>
                </a:cxn>
                <a:cxn ang="0">
                  <a:pos x="17" y="27"/>
                </a:cxn>
                <a:cxn ang="0">
                  <a:pos x="21" y="30"/>
                </a:cxn>
                <a:cxn ang="0">
                  <a:pos x="29" y="19"/>
                </a:cxn>
                <a:cxn ang="0">
                  <a:pos x="39" y="19"/>
                </a:cxn>
                <a:cxn ang="0">
                  <a:pos x="28" y="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folHlink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78" name="Freeform 181"/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/>
              <a:ahLst/>
              <a:cxnLst>
                <a:cxn ang="0">
                  <a:pos x="22" y="2"/>
                </a:cxn>
                <a:cxn ang="0">
                  <a:pos x="18" y="17"/>
                </a:cxn>
                <a:cxn ang="0">
                  <a:pos x="7" y="20"/>
                </a:cxn>
                <a:cxn ang="0">
                  <a:pos x="7" y="23"/>
                </a:cxn>
                <a:cxn ang="0">
                  <a:pos x="17" y="34"/>
                </a:cxn>
                <a:cxn ang="0">
                  <a:pos x="12" y="45"/>
                </a:cxn>
                <a:cxn ang="0">
                  <a:pos x="0" y="55"/>
                </a:cxn>
                <a:cxn ang="0">
                  <a:pos x="5" y="58"/>
                </a:cxn>
                <a:cxn ang="0">
                  <a:pos x="16" y="62"/>
                </a:cxn>
                <a:cxn ang="0">
                  <a:pos x="23" y="57"/>
                </a:cxn>
                <a:cxn ang="0">
                  <a:pos x="25" y="14"/>
                </a:cxn>
                <a:cxn ang="0">
                  <a:pos x="25" y="2"/>
                </a:cxn>
                <a:cxn ang="0">
                  <a:pos x="22" y="2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folHlink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</p:grpSp>
      <p:sp>
        <p:nvSpPr>
          <p:cNvPr id="376995" name="Rectangle 163"/>
          <p:cNvSpPr>
            <a:spLocks noGrp="1" noRot="1" noChangeArrowheads="1"/>
          </p:cNvSpPr>
          <p:nvPr>
            <p:ph type="ctrTitle"/>
          </p:nvPr>
        </p:nvSpPr>
        <p:spPr>
          <a:xfrm>
            <a:off x="685800" y="20574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76999" name="Rectangle 167"/>
          <p:cNvSpPr>
            <a:spLocks noGrp="1" noRot="1" noChangeArrowheads="1"/>
          </p:cNvSpPr>
          <p:nvPr>
            <p:ph type="subTitle" idx="1"/>
          </p:nvPr>
        </p:nvSpPr>
        <p:spPr>
          <a:xfrm>
            <a:off x="1371600" y="3505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79" name="Rectangle 164"/>
          <p:cNvSpPr>
            <a:spLocks noGrp="1" noChangeArrowheads="1"/>
          </p:cNvSpPr>
          <p:nvPr>
            <p:ph type="dt" sz="half" idx="10"/>
          </p:nvPr>
        </p:nvSpPr>
        <p:spPr>
          <a:xfrm>
            <a:off x="301625" y="6248400"/>
            <a:ext cx="2289175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E475B8-F341-47F6-A135-E1AFEDB3B1E7}" type="datetime1">
              <a:rPr lang="zh-CN" altLang="en-US"/>
              <a:pPr>
                <a:defRPr/>
              </a:pPr>
              <a:t>2018/2/24</a:t>
            </a:fld>
            <a:endParaRPr lang="en-US" altLang="zh-CN"/>
          </a:p>
        </p:txBody>
      </p:sp>
      <p:sp>
        <p:nvSpPr>
          <p:cNvPr id="180" name="Rectangle 16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1" name="Rectangle 16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2289175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4C331C-21CA-4D08-9B58-7A66BE4BA75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circl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25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D2E374-1C93-4DE5-B807-2A55492265ED}" type="datetime1">
              <a:rPr lang="zh-CN" altLang="en-US"/>
              <a:pPr>
                <a:defRPr/>
              </a:pPr>
              <a:t>2018/2/24</a:t>
            </a:fld>
            <a:endParaRPr lang="en-US" altLang="zh-CN"/>
          </a:p>
        </p:txBody>
      </p:sp>
      <p:sp>
        <p:nvSpPr>
          <p:cNvPr id="5" name="Rectangle 25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25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83A7B9-7206-4935-A4AA-7CA942B1176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circl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25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71ACA1-EFC6-4BDD-A035-6CEB19EB055E}" type="datetime1">
              <a:rPr lang="zh-CN" altLang="en-US"/>
              <a:pPr>
                <a:defRPr/>
              </a:pPr>
              <a:t>2018/2/24</a:t>
            </a:fld>
            <a:endParaRPr lang="en-US" altLang="zh-CN"/>
          </a:p>
        </p:txBody>
      </p:sp>
      <p:sp>
        <p:nvSpPr>
          <p:cNvPr id="5" name="Rectangle 25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25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3A937D-26F8-4713-BB5A-014CDBEF791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circl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4000500" cy="4498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62500" y="1600200"/>
            <a:ext cx="4000500" cy="4498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25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54A709-8863-49AA-8633-4F1446234F57}" type="datetime1">
              <a:rPr lang="zh-CN" altLang="en-US"/>
              <a:pPr>
                <a:defRPr/>
              </a:pPr>
              <a:t>2018/2/24</a:t>
            </a:fld>
            <a:endParaRPr lang="en-US" altLang="zh-CN"/>
          </a:p>
        </p:txBody>
      </p:sp>
      <p:sp>
        <p:nvSpPr>
          <p:cNvPr id="6" name="Rectangle 25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25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F112FA-7224-4D4C-AE2C-F0260788B21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circl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25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652E1B-E6CA-4B79-8BC9-EA70E58B6115}" type="datetime1">
              <a:rPr lang="zh-CN" altLang="en-US"/>
              <a:pPr>
                <a:defRPr/>
              </a:pPr>
              <a:t>2018/2/24</a:t>
            </a:fld>
            <a:endParaRPr lang="en-US" altLang="zh-CN"/>
          </a:p>
        </p:txBody>
      </p:sp>
      <p:sp>
        <p:nvSpPr>
          <p:cNvPr id="8" name="Rectangle 25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25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7F7210-437F-47C1-A066-7C9C1909604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circl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25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56C6AD-32AD-4CF1-9053-4AF4E62B1306}" type="datetime1">
              <a:rPr lang="zh-CN" altLang="en-US"/>
              <a:pPr>
                <a:defRPr/>
              </a:pPr>
              <a:t>2018/2/24</a:t>
            </a:fld>
            <a:endParaRPr lang="en-US" altLang="zh-CN"/>
          </a:p>
        </p:txBody>
      </p:sp>
      <p:sp>
        <p:nvSpPr>
          <p:cNvPr id="4" name="Rectangle 25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25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65EDA6-95F9-4933-BA2D-F882646EF17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circl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5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8D5527-4237-49AE-996D-F7BF224F1503}" type="datetime1">
              <a:rPr lang="zh-CN" altLang="en-US"/>
              <a:pPr>
                <a:defRPr/>
              </a:pPr>
              <a:t>2018/2/24</a:t>
            </a:fld>
            <a:endParaRPr lang="en-US" altLang="zh-CN"/>
          </a:p>
        </p:txBody>
      </p:sp>
      <p:sp>
        <p:nvSpPr>
          <p:cNvPr id="3" name="Rectangle 25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25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F26C74-70B1-4A86-A223-256411371E2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circl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25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BC9C8D-6E37-4A87-A2E3-35E01C647AF2}" type="datetime1">
              <a:rPr lang="zh-CN" altLang="en-US"/>
              <a:pPr>
                <a:defRPr/>
              </a:pPr>
              <a:t>2018/2/24</a:t>
            </a:fld>
            <a:endParaRPr lang="en-US" altLang="zh-CN"/>
          </a:p>
        </p:txBody>
      </p:sp>
      <p:sp>
        <p:nvSpPr>
          <p:cNvPr id="6" name="Rectangle 25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25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9ABD35-2600-4316-8248-AE5C13711F1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circl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25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422F16-57C6-4C5B-8B52-E03876483021}" type="datetime1">
              <a:rPr lang="zh-CN" altLang="en-US"/>
              <a:pPr>
                <a:defRPr/>
              </a:pPr>
              <a:t>2018/2/24</a:t>
            </a:fld>
            <a:endParaRPr lang="en-US" altLang="zh-CN"/>
          </a:p>
        </p:txBody>
      </p:sp>
      <p:sp>
        <p:nvSpPr>
          <p:cNvPr id="6" name="Rectangle 25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25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C41EBA-BF0B-4771-B7FA-0F75D5412A9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circl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25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96EC4C-7336-4ED6-8F41-A9DA052A8236}" type="datetime1">
              <a:rPr lang="zh-CN" altLang="en-US"/>
              <a:pPr>
                <a:defRPr/>
              </a:pPr>
              <a:t>2018/2/24</a:t>
            </a:fld>
            <a:endParaRPr lang="en-US" altLang="zh-CN"/>
          </a:p>
        </p:txBody>
      </p:sp>
      <p:sp>
        <p:nvSpPr>
          <p:cNvPr id="5" name="Rectangle 25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25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DFE5A1-944B-4605-A6AC-C5D12D038BA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circl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04013" y="228600"/>
            <a:ext cx="2135187" cy="587057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98450" y="228600"/>
            <a:ext cx="6253163" cy="587057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25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9D8B3D-0962-4A5C-ACED-ACEC3D7C4BB6}" type="datetime1">
              <a:rPr lang="zh-CN" altLang="en-US"/>
              <a:pPr>
                <a:defRPr/>
              </a:pPr>
              <a:t>2018/2/24</a:t>
            </a:fld>
            <a:endParaRPr lang="en-US" altLang="zh-CN"/>
          </a:p>
        </p:txBody>
      </p:sp>
      <p:sp>
        <p:nvSpPr>
          <p:cNvPr id="5" name="Rectangle 25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25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A07860-6DC0-4AE1-B10D-8796C9C5D1D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circl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86" name="Group 2"/>
          <p:cNvGrpSpPr>
            <a:grpSpLocks/>
          </p:cNvGrpSpPr>
          <p:nvPr/>
        </p:nvGrpSpPr>
        <p:grpSpPr bwMode="auto">
          <a:xfrm>
            <a:off x="566738" y="0"/>
            <a:ext cx="7891462" cy="6821488"/>
            <a:chOff x="349" y="23"/>
            <a:chExt cx="4971" cy="4297"/>
          </a:xfrm>
        </p:grpSpPr>
        <p:sp>
          <p:nvSpPr>
            <p:cNvPr id="375811" name="Rectangle 3"/>
            <p:cNvSpPr>
              <a:spLocks noChangeArrowheads="1"/>
            </p:cNvSpPr>
            <p:nvPr/>
          </p:nvSpPr>
          <p:spPr bwMode="auto">
            <a:xfrm>
              <a:off x="384" y="23"/>
              <a:ext cx="21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812" name="Freeform 4"/>
            <p:cNvSpPr>
              <a:spLocks noEditPoints="1"/>
            </p:cNvSpPr>
            <p:nvPr/>
          </p:nvSpPr>
          <p:spPr bwMode="auto">
            <a:xfrm>
              <a:off x="384" y="225"/>
              <a:ext cx="21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813" name="Freeform 5"/>
            <p:cNvSpPr>
              <a:spLocks noEditPoints="1"/>
            </p:cNvSpPr>
            <p:nvPr/>
          </p:nvSpPr>
          <p:spPr bwMode="auto">
            <a:xfrm>
              <a:off x="384" y="630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814" name="Freeform 6"/>
            <p:cNvSpPr>
              <a:spLocks noEditPoints="1"/>
            </p:cNvSpPr>
            <p:nvPr/>
          </p:nvSpPr>
          <p:spPr bwMode="auto">
            <a:xfrm>
              <a:off x="384" y="1034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815" name="Freeform 7"/>
            <p:cNvSpPr>
              <a:spLocks noEditPoints="1"/>
            </p:cNvSpPr>
            <p:nvPr/>
          </p:nvSpPr>
          <p:spPr bwMode="auto">
            <a:xfrm>
              <a:off x="384" y="1438"/>
              <a:ext cx="21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816" name="Freeform 8"/>
            <p:cNvSpPr>
              <a:spLocks noEditPoints="1"/>
            </p:cNvSpPr>
            <p:nvPr/>
          </p:nvSpPr>
          <p:spPr bwMode="auto">
            <a:xfrm>
              <a:off x="384" y="1843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817" name="Freeform 9"/>
            <p:cNvSpPr>
              <a:spLocks noEditPoints="1"/>
            </p:cNvSpPr>
            <p:nvPr/>
          </p:nvSpPr>
          <p:spPr bwMode="auto">
            <a:xfrm>
              <a:off x="384" y="2247"/>
              <a:ext cx="21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818" name="Freeform 10"/>
            <p:cNvSpPr>
              <a:spLocks noEditPoints="1"/>
            </p:cNvSpPr>
            <p:nvPr/>
          </p:nvSpPr>
          <p:spPr bwMode="auto">
            <a:xfrm>
              <a:off x="384" y="2652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819" name="Freeform 11"/>
            <p:cNvSpPr>
              <a:spLocks noEditPoints="1"/>
            </p:cNvSpPr>
            <p:nvPr/>
          </p:nvSpPr>
          <p:spPr bwMode="auto">
            <a:xfrm>
              <a:off x="384" y="3056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820" name="Freeform 12"/>
            <p:cNvSpPr>
              <a:spLocks noEditPoints="1"/>
            </p:cNvSpPr>
            <p:nvPr/>
          </p:nvSpPr>
          <p:spPr bwMode="auto">
            <a:xfrm>
              <a:off x="384" y="3461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821" name="Freeform 13"/>
            <p:cNvSpPr>
              <a:spLocks noEditPoints="1"/>
            </p:cNvSpPr>
            <p:nvPr/>
          </p:nvSpPr>
          <p:spPr bwMode="auto">
            <a:xfrm>
              <a:off x="384" y="3865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822" name="Rectangle 14"/>
            <p:cNvSpPr>
              <a:spLocks noChangeArrowheads="1"/>
            </p:cNvSpPr>
            <p:nvPr/>
          </p:nvSpPr>
          <p:spPr bwMode="auto">
            <a:xfrm>
              <a:off x="384" y="4269"/>
              <a:ext cx="21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823" name="Rectangle 15"/>
            <p:cNvSpPr>
              <a:spLocks noChangeArrowheads="1"/>
            </p:cNvSpPr>
            <p:nvPr/>
          </p:nvSpPr>
          <p:spPr bwMode="auto">
            <a:xfrm>
              <a:off x="829" y="23"/>
              <a:ext cx="21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824" name="Freeform 16"/>
            <p:cNvSpPr>
              <a:spLocks noEditPoints="1"/>
            </p:cNvSpPr>
            <p:nvPr/>
          </p:nvSpPr>
          <p:spPr bwMode="auto">
            <a:xfrm>
              <a:off x="829" y="225"/>
              <a:ext cx="21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825" name="Freeform 17"/>
            <p:cNvSpPr>
              <a:spLocks noEditPoints="1"/>
            </p:cNvSpPr>
            <p:nvPr/>
          </p:nvSpPr>
          <p:spPr bwMode="auto">
            <a:xfrm>
              <a:off x="829" y="630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826" name="Freeform 18"/>
            <p:cNvSpPr>
              <a:spLocks noEditPoints="1"/>
            </p:cNvSpPr>
            <p:nvPr/>
          </p:nvSpPr>
          <p:spPr bwMode="auto">
            <a:xfrm>
              <a:off x="829" y="1034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827" name="Freeform 19"/>
            <p:cNvSpPr>
              <a:spLocks noEditPoints="1"/>
            </p:cNvSpPr>
            <p:nvPr/>
          </p:nvSpPr>
          <p:spPr bwMode="auto">
            <a:xfrm>
              <a:off x="829" y="1438"/>
              <a:ext cx="21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828" name="Freeform 20"/>
            <p:cNvSpPr>
              <a:spLocks noEditPoints="1"/>
            </p:cNvSpPr>
            <p:nvPr/>
          </p:nvSpPr>
          <p:spPr bwMode="auto">
            <a:xfrm>
              <a:off x="829" y="1843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829" name="Freeform 21"/>
            <p:cNvSpPr>
              <a:spLocks noEditPoints="1"/>
            </p:cNvSpPr>
            <p:nvPr/>
          </p:nvSpPr>
          <p:spPr bwMode="auto">
            <a:xfrm>
              <a:off x="829" y="2247"/>
              <a:ext cx="21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830" name="Freeform 22"/>
            <p:cNvSpPr>
              <a:spLocks noEditPoints="1"/>
            </p:cNvSpPr>
            <p:nvPr/>
          </p:nvSpPr>
          <p:spPr bwMode="auto">
            <a:xfrm>
              <a:off x="829" y="2652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831" name="Freeform 23"/>
            <p:cNvSpPr>
              <a:spLocks noEditPoints="1"/>
            </p:cNvSpPr>
            <p:nvPr/>
          </p:nvSpPr>
          <p:spPr bwMode="auto">
            <a:xfrm>
              <a:off x="829" y="3056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832" name="Freeform 24"/>
            <p:cNvSpPr>
              <a:spLocks noEditPoints="1"/>
            </p:cNvSpPr>
            <p:nvPr/>
          </p:nvSpPr>
          <p:spPr bwMode="auto">
            <a:xfrm>
              <a:off x="829" y="3461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833" name="Freeform 25"/>
            <p:cNvSpPr>
              <a:spLocks noEditPoints="1"/>
            </p:cNvSpPr>
            <p:nvPr/>
          </p:nvSpPr>
          <p:spPr bwMode="auto">
            <a:xfrm>
              <a:off x="829" y="3865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834" name="Rectangle 26"/>
            <p:cNvSpPr>
              <a:spLocks noChangeArrowheads="1"/>
            </p:cNvSpPr>
            <p:nvPr/>
          </p:nvSpPr>
          <p:spPr bwMode="auto">
            <a:xfrm>
              <a:off x="829" y="4269"/>
              <a:ext cx="21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835" name="Rectangle 27"/>
            <p:cNvSpPr>
              <a:spLocks noChangeArrowheads="1"/>
            </p:cNvSpPr>
            <p:nvPr/>
          </p:nvSpPr>
          <p:spPr bwMode="auto">
            <a:xfrm>
              <a:off x="1279" y="23"/>
              <a:ext cx="21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836" name="Freeform 28"/>
            <p:cNvSpPr>
              <a:spLocks noEditPoints="1"/>
            </p:cNvSpPr>
            <p:nvPr/>
          </p:nvSpPr>
          <p:spPr bwMode="auto">
            <a:xfrm>
              <a:off x="1279" y="225"/>
              <a:ext cx="21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837" name="Freeform 29"/>
            <p:cNvSpPr>
              <a:spLocks noEditPoints="1"/>
            </p:cNvSpPr>
            <p:nvPr/>
          </p:nvSpPr>
          <p:spPr bwMode="auto">
            <a:xfrm>
              <a:off x="1279" y="630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838" name="Freeform 30"/>
            <p:cNvSpPr>
              <a:spLocks noEditPoints="1"/>
            </p:cNvSpPr>
            <p:nvPr/>
          </p:nvSpPr>
          <p:spPr bwMode="auto">
            <a:xfrm>
              <a:off x="1279" y="1034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839" name="Freeform 31"/>
            <p:cNvSpPr>
              <a:spLocks noEditPoints="1"/>
            </p:cNvSpPr>
            <p:nvPr/>
          </p:nvSpPr>
          <p:spPr bwMode="auto">
            <a:xfrm>
              <a:off x="1279" y="1438"/>
              <a:ext cx="21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840" name="Freeform 32"/>
            <p:cNvSpPr>
              <a:spLocks noEditPoints="1"/>
            </p:cNvSpPr>
            <p:nvPr/>
          </p:nvSpPr>
          <p:spPr bwMode="auto">
            <a:xfrm>
              <a:off x="1279" y="1843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841" name="Freeform 33"/>
            <p:cNvSpPr>
              <a:spLocks noEditPoints="1"/>
            </p:cNvSpPr>
            <p:nvPr/>
          </p:nvSpPr>
          <p:spPr bwMode="auto">
            <a:xfrm>
              <a:off x="1279" y="2247"/>
              <a:ext cx="21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842" name="Freeform 34"/>
            <p:cNvSpPr>
              <a:spLocks noEditPoints="1"/>
            </p:cNvSpPr>
            <p:nvPr/>
          </p:nvSpPr>
          <p:spPr bwMode="auto">
            <a:xfrm>
              <a:off x="1279" y="2652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843" name="Freeform 35"/>
            <p:cNvSpPr>
              <a:spLocks noEditPoints="1"/>
            </p:cNvSpPr>
            <p:nvPr/>
          </p:nvSpPr>
          <p:spPr bwMode="auto">
            <a:xfrm>
              <a:off x="1279" y="3056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844" name="Freeform 36"/>
            <p:cNvSpPr>
              <a:spLocks noEditPoints="1"/>
            </p:cNvSpPr>
            <p:nvPr/>
          </p:nvSpPr>
          <p:spPr bwMode="auto">
            <a:xfrm>
              <a:off x="1279" y="3461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845" name="Freeform 37"/>
            <p:cNvSpPr>
              <a:spLocks noEditPoints="1"/>
            </p:cNvSpPr>
            <p:nvPr/>
          </p:nvSpPr>
          <p:spPr bwMode="auto">
            <a:xfrm>
              <a:off x="1279" y="3865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846" name="Rectangle 38"/>
            <p:cNvSpPr>
              <a:spLocks noChangeArrowheads="1"/>
            </p:cNvSpPr>
            <p:nvPr/>
          </p:nvSpPr>
          <p:spPr bwMode="auto">
            <a:xfrm>
              <a:off x="1279" y="4269"/>
              <a:ext cx="21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847" name="Rectangle 39"/>
            <p:cNvSpPr>
              <a:spLocks noChangeArrowheads="1"/>
            </p:cNvSpPr>
            <p:nvPr/>
          </p:nvSpPr>
          <p:spPr bwMode="auto">
            <a:xfrm>
              <a:off x="1724" y="23"/>
              <a:ext cx="21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848" name="Freeform 40"/>
            <p:cNvSpPr>
              <a:spLocks noEditPoints="1"/>
            </p:cNvSpPr>
            <p:nvPr/>
          </p:nvSpPr>
          <p:spPr bwMode="auto">
            <a:xfrm>
              <a:off x="1724" y="225"/>
              <a:ext cx="21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849" name="Freeform 41"/>
            <p:cNvSpPr>
              <a:spLocks noEditPoints="1"/>
            </p:cNvSpPr>
            <p:nvPr/>
          </p:nvSpPr>
          <p:spPr bwMode="auto">
            <a:xfrm>
              <a:off x="1724" y="630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850" name="Freeform 42"/>
            <p:cNvSpPr>
              <a:spLocks noEditPoints="1"/>
            </p:cNvSpPr>
            <p:nvPr/>
          </p:nvSpPr>
          <p:spPr bwMode="auto">
            <a:xfrm>
              <a:off x="1724" y="1034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851" name="Freeform 43"/>
            <p:cNvSpPr>
              <a:spLocks noEditPoints="1"/>
            </p:cNvSpPr>
            <p:nvPr/>
          </p:nvSpPr>
          <p:spPr bwMode="auto">
            <a:xfrm>
              <a:off x="1724" y="1438"/>
              <a:ext cx="21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852" name="Freeform 44"/>
            <p:cNvSpPr>
              <a:spLocks noEditPoints="1"/>
            </p:cNvSpPr>
            <p:nvPr/>
          </p:nvSpPr>
          <p:spPr bwMode="auto">
            <a:xfrm>
              <a:off x="1724" y="1843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853" name="Freeform 45"/>
            <p:cNvSpPr>
              <a:spLocks noEditPoints="1"/>
            </p:cNvSpPr>
            <p:nvPr/>
          </p:nvSpPr>
          <p:spPr bwMode="auto">
            <a:xfrm>
              <a:off x="1724" y="2247"/>
              <a:ext cx="21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854" name="Freeform 46"/>
            <p:cNvSpPr>
              <a:spLocks noEditPoints="1"/>
            </p:cNvSpPr>
            <p:nvPr/>
          </p:nvSpPr>
          <p:spPr bwMode="auto">
            <a:xfrm>
              <a:off x="1724" y="2652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855" name="Freeform 47"/>
            <p:cNvSpPr>
              <a:spLocks noEditPoints="1"/>
            </p:cNvSpPr>
            <p:nvPr/>
          </p:nvSpPr>
          <p:spPr bwMode="auto">
            <a:xfrm>
              <a:off x="1724" y="3056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856" name="Freeform 48"/>
            <p:cNvSpPr>
              <a:spLocks noEditPoints="1"/>
            </p:cNvSpPr>
            <p:nvPr/>
          </p:nvSpPr>
          <p:spPr bwMode="auto">
            <a:xfrm>
              <a:off x="1724" y="3461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857" name="Freeform 49"/>
            <p:cNvSpPr>
              <a:spLocks noEditPoints="1"/>
            </p:cNvSpPr>
            <p:nvPr/>
          </p:nvSpPr>
          <p:spPr bwMode="auto">
            <a:xfrm>
              <a:off x="1724" y="3865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858" name="Rectangle 50"/>
            <p:cNvSpPr>
              <a:spLocks noChangeArrowheads="1"/>
            </p:cNvSpPr>
            <p:nvPr/>
          </p:nvSpPr>
          <p:spPr bwMode="auto">
            <a:xfrm>
              <a:off x="1724" y="4269"/>
              <a:ext cx="21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859" name="Rectangle 51"/>
            <p:cNvSpPr>
              <a:spLocks noChangeArrowheads="1"/>
            </p:cNvSpPr>
            <p:nvPr/>
          </p:nvSpPr>
          <p:spPr bwMode="auto">
            <a:xfrm>
              <a:off x="2169" y="23"/>
              <a:ext cx="21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860" name="Freeform 52"/>
            <p:cNvSpPr>
              <a:spLocks noEditPoints="1"/>
            </p:cNvSpPr>
            <p:nvPr/>
          </p:nvSpPr>
          <p:spPr bwMode="auto">
            <a:xfrm>
              <a:off x="2169" y="225"/>
              <a:ext cx="21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861" name="Freeform 53"/>
            <p:cNvSpPr>
              <a:spLocks noEditPoints="1"/>
            </p:cNvSpPr>
            <p:nvPr/>
          </p:nvSpPr>
          <p:spPr bwMode="auto">
            <a:xfrm>
              <a:off x="2169" y="630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862" name="Freeform 54"/>
            <p:cNvSpPr>
              <a:spLocks noEditPoints="1"/>
            </p:cNvSpPr>
            <p:nvPr/>
          </p:nvSpPr>
          <p:spPr bwMode="auto">
            <a:xfrm>
              <a:off x="2169" y="1034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863" name="Freeform 55"/>
            <p:cNvSpPr>
              <a:spLocks noEditPoints="1"/>
            </p:cNvSpPr>
            <p:nvPr/>
          </p:nvSpPr>
          <p:spPr bwMode="auto">
            <a:xfrm>
              <a:off x="2169" y="1438"/>
              <a:ext cx="21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864" name="Freeform 56"/>
            <p:cNvSpPr>
              <a:spLocks noEditPoints="1"/>
            </p:cNvSpPr>
            <p:nvPr/>
          </p:nvSpPr>
          <p:spPr bwMode="auto">
            <a:xfrm>
              <a:off x="2169" y="1843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865" name="Freeform 57"/>
            <p:cNvSpPr>
              <a:spLocks noEditPoints="1"/>
            </p:cNvSpPr>
            <p:nvPr/>
          </p:nvSpPr>
          <p:spPr bwMode="auto">
            <a:xfrm>
              <a:off x="2169" y="2247"/>
              <a:ext cx="21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866" name="Freeform 58"/>
            <p:cNvSpPr>
              <a:spLocks noEditPoints="1"/>
            </p:cNvSpPr>
            <p:nvPr/>
          </p:nvSpPr>
          <p:spPr bwMode="auto">
            <a:xfrm>
              <a:off x="2169" y="2652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867" name="Freeform 59"/>
            <p:cNvSpPr>
              <a:spLocks noEditPoints="1"/>
            </p:cNvSpPr>
            <p:nvPr/>
          </p:nvSpPr>
          <p:spPr bwMode="auto">
            <a:xfrm>
              <a:off x="2169" y="3056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868" name="Freeform 60"/>
            <p:cNvSpPr>
              <a:spLocks noEditPoints="1"/>
            </p:cNvSpPr>
            <p:nvPr/>
          </p:nvSpPr>
          <p:spPr bwMode="auto">
            <a:xfrm>
              <a:off x="2169" y="3461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869" name="Freeform 61"/>
            <p:cNvSpPr>
              <a:spLocks noEditPoints="1"/>
            </p:cNvSpPr>
            <p:nvPr/>
          </p:nvSpPr>
          <p:spPr bwMode="auto">
            <a:xfrm>
              <a:off x="2169" y="3865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870" name="Rectangle 62"/>
            <p:cNvSpPr>
              <a:spLocks noChangeArrowheads="1"/>
            </p:cNvSpPr>
            <p:nvPr/>
          </p:nvSpPr>
          <p:spPr bwMode="auto">
            <a:xfrm>
              <a:off x="2169" y="4269"/>
              <a:ext cx="21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871" name="Rectangle 63"/>
            <p:cNvSpPr>
              <a:spLocks noChangeArrowheads="1"/>
            </p:cNvSpPr>
            <p:nvPr/>
          </p:nvSpPr>
          <p:spPr bwMode="auto">
            <a:xfrm>
              <a:off x="2620" y="23"/>
              <a:ext cx="20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872" name="Freeform 64"/>
            <p:cNvSpPr>
              <a:spLocks noEditPoints="1"/>
            </p:cNvSpPr>
            <p:nvPr/>
          </p:nvSpPr>
          <p:spPr bwMode="auto">
            <a:xfrm>
              <a:off x="2620" y="225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873" name="Freeform 65"/>
            <p:cNvSpPr>
              <a:spLocks noEditPoints="1"/>
            </p:cNvSpPr>
            <p:nvPr/>
          </p:nvSpPr>
          <p:spPr bwMode="auto">
            <a:xfrm>
              <a:off x="2620" y="630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874" name="Freeform 66"/>
            <p:cNvSpPr>
              <a:spLocks noEditPoints="1"/>
            </p:cNvSpPr>
            <p:nvPr/>
          </p:nvSpPr>
          <p:spPr bwMode="auto">
            <a:xfrm>
              <a:off x="2620" y="1034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875" name="Freeform 67"/>
            <p:cNvSpPr>
              <a:spLocks noEditPoints="1"/>
            </p:cNvSpPr>
            <p:nvPr/>
          </p:nvSpPr>
          <p:spPr bwMode="auto">
            <a:xfrm>
              <a:off x="2620" y="1438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876" name="Freeform 68"/>
            <p:cNvSpPr>
              <a:spLocks noEditPoints="1"/>
            </p:cNvSpPr>
            <p:nvPr/>
          </p:nvSpPr>
          <p:spPr bwMode="auto">
            <a:xfrm>
              <a:off x="2620" y="1843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877" name="Freeform 69"/>
            <p:cNvSpPr>
              <a:spLocks noEditPoints="1"/>
            </p:cNvSpPr>
            <p:nvPr/>
          </p:nvSpPr>
          <p:spPr bwMode="auto">
            <a:xfrm>
              <a:off x="2620" y="2247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878" name="Freeform 70"/>
            <p:cNvSpPr>
              <a:spLocks noEditPoints="1"/>
            </p:cNvSpPr>
            <p:nvPr/>
          </p:nvSpPr>
          <p:spPr bwMode="auto">
            <a:xfrm>
              <a:off x="2620" y="2652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879" name="Freeform 71"/>
            <p:cNvSpPr>
              <a:spLocks noEditPoints="1"/>
            </p:cNvSpPr>
            <p:nvPr/>
          </p:nvSpPr>
          <p:spPr bwMode="auto">
            <a:xfrm>
              <a:off x="2620" y="3056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880" name="Freeform 72"/>
            <p:cNvSpPr>
              <a:spLocks noEditPoints="1"/>
            </p:cNvSpPr>
            <p:nvPr/>
          </p:nvSpPr>
          <p:spPr bwMode="auto">
            <a:xfrm>
              <a:off x="2620" y="3461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881" name="Freeform 73"/>
            <p:cNvSpPr>
              <a:spLocks noEditPoints="1"/>
            </p:cNvSpPr>
            <p:nvPr/>
          </p:nvSpPr>
          <p:spPr bwMode="auto">
            <a:xfrm>
              <a:off x="2620" y="3865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882" name="Rectangle 74"/>
            <p:cNvSpPr>
              <a:spLocks noChangeArrowheads="1"/>
            </p:cNvSpPr>
            <p:nvPr/>
          </p:nvSpPr>
          <p:spPr bwMode="auto">
            <a:xfrm>
              <a:off x="2620" y="4269"/>
              <a:ext cx="20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883" name="Rectangle 75"/>
            <p:cNvSpPr>
              <a:spLocks noChangeArrowheads="1"/>
            </p:cNvSpPr>
            <p:nvPr/>
          </p:nvSpPr>
          <p:spPr bwMode="auto">
            <a:xfrm>
              <a:off x="3065" y="23"/>
              <a:ext cx="20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884" name="Freeform 76"/>
            <p:cNvSpPr>
              <a:spLocks noEditPoints="1"/>
            </p:cNvSpPr>
            <p:nvPr/>
          </p:nvSpPr>
          <p:spPr bwMode="auto">
            <a:xfrm>
              <a:off x="3065" y="225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885" name="Freeform 77"/>
            <p:cNvSpPr>
              <a:spLocks noEditPoints="1"/>
            </p:cNvSpPr>
            <p:nvPr/>
          </p:nvSpPr>
          <p:spPr bwMode="auto">
            <a:xfrm>
              <a:off x="3065" y="630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886" name="Freeform 78"/>
            <p:cNvSpPr>
              <a:spLocks noEditPoints="1"/>
            </p:cNvSpPr>
            <p:nvPr/>
          </p:nvSpPr>
          <p:spPr bwMode="auto">
            <a:xfrm>
              <a:off x="3065" y="1034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887" name="Freeform 79"/>
            <p:cNvSpPr>
              <a:spLocks noEditPoints="1"/>
            </p:cNvSpPr>
            <p:nvPr/>
          </p:nvSpPr>
          <p:spPr bwMode="auto">
            <a:xfrm>
              <a:off x="3065" y="1438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888" name="Freeform 80"/>
            <p:cNvSpPr>
              <a:spLocks noEditPoints="1"/>
            </p:cNvSpPr>
            <p:nvPr/>
          </p:nvSpPr>
          <p:spPr bwMode="auto">
            <a:xfrm>
              <a:off x="3065" y="1843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889" name="Freeform 81"/>
            <p:cNvSpPr>
              <a:spLocks noEditPoints="1"/>
            </p:cNvSpPr>
            <p:nvPr/>
          </p:nvSpPr>
          <p:spPr bwMode="auto">
            <a:xfrm>
              <a:off x="3065" y="2247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890" name="Freeform 82"/>
            <p:cNvSpPr>
              <a:spLocks noEditPoints="1"/>
            </p:cNvSpPr>
            <p:nvPr/>
          </p:nvSpPr>
          <p:spPr bwMode="auto">
            <a:xfrm>
              <a:off x="3065" y="2652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891" name="Freeform 83"/>
            <p:cNvSpPr>
              <a:spLocks noEditPoints="1"/>
            </p:cNvSpPr>
            <p:nvPr/>
          </p:nvSpPr>
          <p:spPr bwMode="auto">
            <a:xfrm>
              <a:off x="3065" y="3056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892" name="Freeform 84"/>
            <p:cNvSpPr>
              <a:spLocks noEditPoints="1"/>
            </p:cNvSpPr>
            <p:nvPr/>
          </p:nvSpPr>
          <p:spPr bwMode="auto">
            <a:xfrm>
              <a:off x="3065" y="3461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893" name="Freeform 85"/>
            <p:cNvSpPr>
              <a:spLocks noEditPoints="1"/>
            </p:cNvSpPr>
            <p:nvPr/>
          </p:nvSpPr>
          <p:spPr bwMode="auto">
            <a:xfrm>
              <a:off x="3065" y="3865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894" name="Rectangle 86"/>
            <p:cNvSpPr>
              <a:spLocks noChangeArrowheads="1"/>
            </p:cNvSpPr>
            <p:nvPr/>
          </p:nvSpPr>
          <p:spPr bwMode="auto">
            <a:xfrm>
              <a:off x="3065" y="4269"/>
              <a:ext cx="20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895" name="Rectangle 87"/>
            <p:cNvSpPr>
              <a:spLocks noChangeArrowheads="1"/>
            </p:cNvSpPr>
            <p:nvPr/>
          </p:nvSpPr>
          <p:spPr bwMode="auto">
            <a:xfrm>
              <a:off x="3510" y="23"/>
              <a:ext cx="20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896" name="Freeform 88"/>
            <p:cNvSpPr>
              <a:spLocks noEditPoints="1"/>
            </p:cNvSpPr>
            <p:nvPr/>
          </p:nvSpPr>
          <p:spPr bwMode="auto">
            <a:xfrm>
              <a:off x="3510" y="225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897" name="Freeform 89"/>
            <p:cNvSpPr>
              <a:spLocks noEditPoints="1"/>
            </p:cNvSpPr>
            <p:nvPr/>
          </p:nvSpPr>
          <p:spPr bwMode="auto">
            <a:xfrm>
              <a:off x="3510" y="630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898" name="Freeform 90"/>
            <p:cNvSpPr>
              <a:spLocks noEditPoints="1"/>
            </p:cNvSpPr>
            <p:nvPr/>
          </p:nvSpPr>
          <p:spPr bwMode="auto">
            <a:xfrm>
              <a:off x="3510" y="1034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899" name="Freeform 91"/>
            <p:cNvSpPr>
              <a:spLocks noEditPoints="1"/>
            </p:cNvSpPr>
            <p:nvPr/>
          </p:nvSpPr>
          <p:spPr bwMode="auto">
            <a:xfrm>
              <a:off x="3510" y="1438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900" name="Freeform 92"/>
            <p:cNvSpPr>
              <a:spLocks noEditPoints="1"/>
            </p:cNvSpPr>
            <p:nvPr/>
          </p:nvSpPr>
          <p:spPr bwMode="auto">
            <a:xfrm>
              <a:off x="3510" y="1843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901" name="Freeform 93"/>
            <p:cNvSpPr>
              <a:spLocks noEditPoints="1"/>
            </p:cNvSpPr>
            <p:nvPr/>
          </p:nvSpPr>
          <p:spPr bwMode="auto">
            <a:xfrm>
              <a:off x="3510" y="2247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902" name="Freeform 94"/>
            <p:cNvSpPr>
              <a:spLocks noEditPoints="1"/>
            </p:cNvSpPr>
            <p:nvPr/>
          </p:nvSpPr>
          <p:spPr bwMode="auto">
            <a:xfrm>
              <a:off x="3510" y="2652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903" name="Freeform 95"/>
            <p:cNvSpPr>
              <a:spLocks noEditPoints="1"/>
            </p:cNvSpPr>
            <p:nvPr/>
          </p:nvSpPr>
          <p:spPr bwMode="auto">
            <a:xfrm>
              <a:off x="3510" y="3056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904" name="Freeform 96"/>
            <p:cNvSpPr>
              <a:spLocks noEditPoints="1"/>
            </p:cNvSpPr>
            <p:nvPr/>
          </p:nvSpPr>
          <p:spPr bwMode="auto">
            <a:xfrm>
              <a:off x="3510" y="3461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905" name="Freeform 97"/>
            <p:cNvSpPr>
              <a:spLocks noEditPoints="1"/>
            </p:cNvSpPr>
            <p:nvPr/>
          </p:nvSpPr>
          <p:spPr bwMode="auto">
            <a:xfrm>
              <a:off x="3510" y="3865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906" name="Rectangle 98"/>
            <p:cNvSpPr>
              <a:spLocks noChangeArrowheads="1"/>
            </p:cNvSpPr>
            <p:nvPr/>
          </p:nvSpPr>
          <p:spPr bwMode="auto">
            <a:xfrm>
              <a:off x="3510" y="4269"/>
              <a:ext cx="20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907" name="Rectangle 99"/>
            <p:cNvSpPr>
              <a:spLocks noChangeArrowheads="1"/>
            </p:cNvSpPr>
            <p:nvPr/>
          </p:nvSpPr>
          <p:spPr bwMode="auto">
            <a:xfrm>
              <a:off x="3960" y="23"/>
              <a:ext cx="20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908" name="Freeform 100"/>
            <p:cNvSpPr>
              <a:spLocks noEditPoints="1"/>
            </p:cNvSpPr>
            <p:nvPr/>
          </p:nvSpPr>
          <p:spPr bwMode="auto">
            <a:xfrm>
              <a:off x="3960" y="225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909" name="Freeform 101"/>
            <p:cNvSpPr>
              <a:spLocks noEditPoints="1"/>
            </p:cNvSpPr>
            <p:nvPr/>
          </p:nvSpPr>
          <p:spPr bwMode="auto">
            <a:xfrm>
              <a:off x="3960" y="630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910" name="Freeform 102"/>
            <p:cNvSpPr>
              <a:spLocks noEditPoints="1"/>
            </p:cNvSpPr>
            <p:nvPr/>
          </p:nvSpPr>
          <p:spPr bwMode="auto">
            <a:xfrm>
              <a:off x="3960" y="1034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911" name="Freeform 103"/>
            <p:cNvSpPr>
              <a:spLocks noEditPoints="1"/>
            </p:cNvSpPr>
            <p:nvPr/>
          </p:nvSpPr>
          <p:spPr bwMode="auto">
            <a:xfrm>
              <a:off x="3960" y="1438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912" name="Freeform 104"/>
            <p:cNvSpPr>
              <a:spLocks noEditPoints="1"/>
            </p:cNvSpPr>
            <p:nvPr/>
          </p:nvSpPr>
          <p:spPr bwMode="auto">
            <a:xfrm>
              <a:off x="3960" y="1843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913" name="Freeform 105"/>
            <p:cNvSpPr>
              <a:spLocks noEditPoints="1"/>
            </p:cNvSpPr>
            <p:nvPr/>
          </p:nvSpPr>
          <p:spPr bwMode="auto">
            <a:xfrm>
              <a:off x="3960" y="2247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914" name="Freeform 106"/>
            <p:cNvSpPr>
              <a:spLocks noEditPoints="1"/>
            </p:cNvSpPr>
            <p:nvPr/>
          </p:nvSpPr>
          <p:spPr bwMode="auto">
            <a:xfrm>
              <a:off x="3960" y="2652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915" name="Freeform 107"/>
            <p:cNvSpPr>
              <a:spLocks noEditPoints="1"/>
            </p:cNvSpPr>
            <p:nvPr/>
          </p:nvSpPr>
          <p:spPr bwMode="auto">
            <a:xfrm>
              <a:off x="3960" y="3056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916" name="Freeform 108"/>
            <p:cNvSpPr>
              <a:spLocks noEditPoints="1"/>
            </p:cNvSpPr>
            <p:nvPr/>
          </p:nvSpPr>
          <p:spPr bwMode="auto">
            <a:xfrm>
              <a:off x="3960" y="3461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917" name="Freeform 109"/>
            <p:cNvSpPr>
              <a:spLocks noEditPoints="1"/>
            </p:cNvSpPr>
            <p:nvPr/>
          </p:nvSpPr>
          <p:spPr bwMode="auto">
            <a:xfrm>
              <a:off x="3960" y="3865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918" name="Rectangle 110"/>
            <p:cNvSpPr>
              <a:spLocks noChangeArrowheads="1"/>
            </p:cNvSpPr>
            <p:nvPr/>
          </p:nvSpPr>
          <p:spPr bwMode="auto">
            <a:xfrm>
              <a:off x="3960" y="4269"/>
              <a:ext cx="20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919" name="Rectangle 111"/>
            <p:cNvSpPr>
              <a:spLocks noChangeArrowheads="1"/>
            </p:cNvSpPr>
            <p:nvPr/>
          </p:nvSpPr>
          <p:spPr bwMode="auto">
            <a:xfrm>
              <a:off x="4405" y="23"/>
              <a:ext cx="20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920" name="Freeform 112"/>
            <p:cNvSpPr>
              <a:spLocks noEditPoints="1"/>
            </p:cNvSpPr>
            <p:nvPr/>
          </p:nvSpPr>
          <p:spPr bwMode="auto">
            <a:xfrm>
              <a:off x="4405" y="225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921" name="Freeform 113"/>
            <p:cNvSpPr>
              <a:spLocks noEditPoints="1"/>
            </p:cNvSpPr>
            <p:nvPr/>
          </p:nvSpPr>
          <p:spPr bwMode="auto">
            <a:xfrm>
              <a:off x="4405" y="630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922" name="Freeform 114"/>
            <p:cNvSpPr>
              <a:spLocks noEditPoints="1"/>
            </p:cNvSpPr>
            <p:nvPr/>
          </p:nvSpPr>
          <p:spPr bwMode="auto">
            <a:xfrm>
              <a:off x="4405" y="1034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923" name="Freeform 115"/>
            <p:cNvSpPr>
              <a:spLocks noEditPoints="1"/>
            </p:cNvSpPr>
            <p:nvPr/>
          </p:nvSpPr>
          <p:spPr bwMode="auto">
            <a:xfrm>
              <a:off x="4405" y="1438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924" name="Freeform 116"/>
            <p:cNvSpPr>
              <a:spLocks noEditPoints="1"/>
            </p:cNvSpPr>
            <p:nvPr/>
          </p:nvSpPr>
          <p:spPr bwMode="auto">
            <a:xfrm>
              <a:off x="4405" y="1843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925" name="Freeform 117"/>
            <p:cNvSpPr>
              <a:spLocks noEditPoints="1"/>
            </p:cNvSpPr>
            <p:nvPr/>
          </p:nvSpPr>
          <p:spPr bwMode="auto">
            <a:xfrm>
              <a:off x="4405" y="2247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926" name="Freeform 118"/>
            <p:cNvSpPr>
              <a:spLocks noEditPoints="1"/>
            </p:cNvSpPr>
            <p:nvPr/>
          </p:nvSpPr>
          <p:spPr bwMode="auto">
            <a:xfrm>
              <a:off x="4405" y="2652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927" name="Freeform 119"/>
            <p:cNvSpPr>
              <a:spLocks noEditPoints="1"/>
            </p:cNvSpPr>
            <p:nvPr/>
          </p:nvSpPr>
          <p:spPr bwMode="auto">
            <a:xfrm>
              <a:off x="4405" y="3056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928" name="Freeform 120"/>
            <p:cNvSpPr>
              <a:spLocks noEditPoints="1"/>
            </p:cNvSpPr>
            <p:nvPr/>
          </p:nvSpPr>
          <p:spPr bwMode="auto">
            <a:xfrm>
              <a:off x="4405" y="3461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929" name="Freeform 121"/>
            <p:cNvSpPr>
              <a:spLocks noEditPoints="1"/>
            </p:cNvSpPr>
            <p:nvPr/>
          </p:nvSpPr>
          <p:spPr bwMode="auto">
            <a:xfrm>
              <a:off x="4405" y="3865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930" name="Rectangle 122"/>
            <p:cNvSpPr>
              <a:spLocks noChangeArrowheads="1"/>
            </p:cNvSpPr>
            <p:nvPr/>
          </p:nvSpPr>
          <p:spPr bwMode="auto">
            <a:xfrm>
              <a:off x="4405" y="4269"/>
              <a:ext cx="20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931" name="Rectangle 123"/>
            <p:cNvSpPr>
              <a:spLocks noChangeArrowheads="1"/>
            </p:cNvSpPr>
            <p:nvPr/>
          </p:nvSpPr>
          <p:spPr bwMode="auto">
            <a:xfrm>
              <a:off x="4850" y="23"/>
              <a:ext cx="20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932" name="Freeform 124"/>
            <p:cNvSpPr>
              <a:spLocks noEditPoints="1"/>
            </p:cNvSpPr>
            <p:nvPr/>
          </p:nvSpPr>
          <p:spPr bwMode="auto">
            <a:xfrm>
              <a:off x="4850" y="225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933" name="Freeform 125"/>
            <p:cNvSpPr>
              <a:spLocks noEditPoints="1"/>
            </p:cNvSpPr>
            <p:nvPr/>
          </p:nvSpPr>
          <p:spPr bwMode="auto">
            <a:xfrm>
              <a:off x="4850" y="630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934" name="Freeform 126"/>
            <p:cNvSpPr>
              <a:spLocks noEditPoints="1"/>
            </p:cNvSpPr>
            <p:nvPr/>
          </p:nvSpPr>
          <p:spPr bwMode="auto">
            <a:xfrm>
              <a:off x="4850" y="1034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935" name="Freeform 127"/>
            <p:cNvSpPr>
              <a:spLocks noEditPoints="1"/>
            </p:cNvSpPr>
            <p:nvPr/>
          </p:nvSpPr>
          <p:spPr bwMode="auto">
            <a:xfrm>
              <a:off x="4850" y="1438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936" name="Freeform 128"/>
            <p:cNvSpPr>
              <a:spLocks noEditPoints="1"/>
            </p:cNvSpPr>
            <p:nvPr/>
          </p:nvSpPr>
          <p:spPr bwMode="auto">
            <a:xfrm>
              <a:off x="4850" y="1843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937" name="Freeform 129"/>
            <p:cNvSpPr>
              <a:spLocks noEditPoints="1"/>
            </p:cNvSpPr>
            <p:nvPr/>
          </p:nvSpPr>
          <p:spPr bwMode="auto">
            <a:xfrm>
              <a:off x="4850" y="2247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938" name="Freeform 130"/>
            <p:cNvSpPr>
              <a:spLocks noEditPoints="1"/>
            </p:cNvSpPr>
            <p:nvPr/>
          </p:nvSpPr>
          <p:spPr bwMode="auto">
            <a:xfrm>
              <a:off x="4850" y="2652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939" name="Freeform 131"/>
            <p:cNvSpPr>
              <a:spLocks noEditPoints="1"/>
            </p:cNvSpPr>
            <p:nvPr/>
          </p:nvSpPr>
          <p:spPr bwMode="auto">
            <a:xfrm>
              <a:off x="4850" y="3056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940" name="Freeform 132"/>
            <p:cNvSpPr>
              <a:spLocks noEditPoints="1"/>
            </p:cNvSpPr>
            <p:nvPr/>
          </p:nvSpPr>
          <p:spPr bwMode="auto">
            <a:xfrm>
              <a:off x="4850" y="3461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941" name="Freeform 133"/>
            <p:cNvSpPr>
              <a:spLocks noEditPoints="1"/>
            </p:cNvSpPr>
            <p:nvPr/>
          </p:nvSpPr>
          <p:spPr bwMode="auto">
            <a:xfrm>
              <a:off x="4850" y="3865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942" name="Rectangle 134"/>
            <p:cNvSpPr>
              <a:spLocks noChangeArrowheads="1"/>
            </p:cNvSpPr>
            <p:nvPr/>
          </p:nvSpPr>
          <p:spPr bwMode="auto">
            <a:xfrm>
              <a:off x="4850" y="4269"/>
              <a:ext cx="20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943" name="Rectangle 135"/>
            <p:cNvSpPr>
              <a:spLocks noChangeArrowheads="1"/>
            </p:cNvSpPr>
            <p:nvPr/>
          </p:nvSpPr>
          <p:spPr bwMode="auto">
            <a:xfrm>
              <a:off x="5300" y="23"/>
              <a:ext cx="20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944" name="Freeform 136"/>
            <p:cNvSpPr>
              <a:spLocks noEditPoints="1"/>
            </p:cNvSpPr>
            <p:nvPr/>
          </p:nvSpPr>
          <p:spPr bwMode="auto">
            <a:xfrm>
              <a:off x="5300" y="225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945" name="Freeform 137"/>
            <p:cNvSpPr>
              <a:spLocks noEditPoints="1"/>
            </p:cNvSpPr>
            <p:nvPr/>
          </p:nvSpPr>
          <p:spPr bwMode="auto">
            <a:xfrm>
              <a:off x="5300" y="630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946" name="Freeform 138"/>
            <p:cNvSpPr>
              <a:spLocks noEditPoints="1"/>
            </p:cNvSpPr>
            <p:nvPr/>
          </p:nvSpPr>
          <p:spPr bwMode="auto">
            <a:xfrm>
              <a:off x="5300" y="1034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947" name="Freeform 139"/>
            <p:cNvSpPr>
              <a:spLocks noEditPoints="1"/>
            </p:cNvSpPr>
            <p:nvPr/>
          </p:nvSpPr>
          <p:spPr bwMode="auto">
            <a:xfrm>
              <a:off x="5300" y="1438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948" name="Freeform 140"/>
            <p:cNvSpPr>
              <a:spLocks noEditPoints="1"/>
            </p:cNvSpPr>
            <p:nvPr/>
          </p:nvSpPr>
          <p:spPr bwMode="auto">
            <a:xfrm>
              <a:off x="5300" y="1843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949" name="Freeform 141"/>
            <p:cNvSpPr>
              <a:spLocks noEditPoints="1"/>
            </p:cNvSpPr>
            <p:nvPr/>
          </p:nvSpPr>
          <p:spPr bwMode="auto">
            <a:xfrm>
              <a:off x="5300" y="2247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950" name="Freeform 142"/>
            <p:cNvSpPr>
              <a:spLocks noEditPoints="1"/>
            </p:cNvSpPr>
            <p:nvPr/>
          </p:nvSpPr>
          <p:spPr bwMode="auto">
            <a:xfrm>
              <a:off x="5300" y="2652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951" name="Freeform 143"/>
            <p:cNvSpPr>
              <a:spLocks noEditPoints="1"/>
            </p:cNvSpPr>
            <p:nvPr/>
          </p:nvSpPr>
          <p:spPr bwMode="auto">
            <a:xfrm>
              <a:off x="5300" y="3056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952" name="Freeform 144"/>
            <p:cNvSpPr>
              <a:spLocks noEditPoints="1"/>
            </p:cNvSpPr>
            <p:nvPr/>
          </p:nvSpPr>
          <p:spPr bwMode="auto">
            <a:xfrm>
              <a:off x="5300" y="3461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953" name="Freeform 145"/>
            <p:cNvSpPr>
              <a:spLocks noEditPoints="1"/>
            </p:cNvSpPr>
            <p:nvPr/>
          </p:nvSpPr>
          <p:spPr bwMode="auto">
            <a:xfrm>
              <a:off x="5300" y="3865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954" name="Rectangle 146"/>
            <p:cNvSpPr>
              <a:spLocks noChangeArrowheads="1"/>
            </p:cNvSpPr>
            <p:nvPr/>
          </p:nvSpPr>
          <p:spPr bwMode="auto">
            <a:xfrm>
              <a:off x="5300" y="4269"/>
              <a:ext cx="20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375955" name="Freeform 147"/>
            <p:cNvSpPr>
              <a:spLocks/>
            </p:cNvSpPr>
            <p:nvPr/>
          </p:nvSpPr>
          <p:spPr bwMode="auto">
            <a:xfrm>
              <a:off x="349" y="3304"/>
              <a:ext cx="20" cy="10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4" h="2">
                  <a:moveTo>
                    <a:pt x="0" y="1"/>
                  </a:moveTo>
                  <a:cubicBezTo>
                    <a:pt x="1" y="2"/>
                    <a:pt x="4" y="0"/>
                    <a:pt x="0" y="1"/>
                  </a:cubicBez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</p:grpSp>
      <p:sp>
        <p:nvSpPr>
          <p:cNvPr id="16387" name="Rectangle 248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298450" y="228600"/>
            <a:ext cx="854075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376057" name="Rectangle 249"/>
          <p:cNvSpPr>
            <a:spLocks noGrp="1" noRot="1" noChangeArrowheads="1"/>
          </p:cNvSpPr>
          <p:nvPr>
            <p:ph type="body" idx="1"/>
          </p:nvPr>
        </p:nvSpPr>
        <p:spPr bwMode="auto">
          <a:xfrm>
            <a:off x="609600" y="1600200"/>
            <a:ext cx="8153400" cy="4498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376058" name="Rectangle 25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98450" y="6245225"/>
            <a:ext cx="22891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宋体" pitchFamily="2" charset="-122"/>
              </a:defRPr>
            </a:lvl1pPr>
          </a:lstStyle>
          <a:p>
            <a:pPr>
              <a:defRPr/>
            </a:pPr>
            <a:fld id="{E939A1CC-A5EC-4A71-B54B-C2C50C4E1CB5}" type="datetime1">
              <a:rPr lang="zh-CN" altLang="en-US"/>
              <a:pPr>
                <a:defRPr/>
              </a:pPr>
              <a:t>2018/2/24</a:t>
            </a:fld>
            <a:endParaRPr lang="en-US" altLang="zh-CN"/>
          </a:p>
        </p:txBody>
      </p:sp>
      <p:sp>
        <p:nvSpPr>
          <p:cNvPr id="376059" name="Rectangle 25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1025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6060" name="Rectangle 25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0025" y="6245225"/>
            <a:ext cx="22891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宋体" pitchFamily="2" charset="-122"/>
              </a:defRPr>
            </a:lvl1pPr>
          </a:lstStyle>
          <a:p>
            <a:pPr>
              <a:defRPr/>
            </a:pPr>
            <a:fld id="{7CB3A8D1-23E7-4AE7-B97E-611B69DB306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376061" name="Rectangle 253"/>
          <p:cNvSpPr>
            <a:spLocks noChangeArrowheads="1"/>
          </p:cNvSpPr>
          <p:nvPr userDrawn="1"/>
        </p:nvSpPr>
        <p:spPr bwMode="auto">
          <a:xfrm>
            <a:off x="0" y="-19050"/>
            <a:ext cx="91440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GungsuhChe" pitchFamily="49" charset="-127"/>
              </a:rPr>
              <a:t>Chapter 4</a:t>
            </a:r>
            <a:r>
              <a:rPr lang="zh-CN" altLang="en-US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GungsuhChe" pitchFamily="49" charset="-127"/>
              </a:rPr>
              <a:t>   </a:t>
            </a:r>
            <a:r>
              <a:rPr lang="en-US" altLang="zh-CN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GungsuhChe" pitchFamily="49" charset="-127"/>
              </a:rPr>
              <a:t>Test Techniques of Chrominance Parameters</a:t>
            </a:r>
            <a:endParaRPr lang="zh-CN" altLang="en-US" sz="1400" b="1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lt"/>
              <a:ea typeface="GungsuhChe" pitchFamily="49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</p:sldLayoutIdLst>
  <p:transition>
    <p:circle/>
  </p:transition>
  <p:timing>
    <p:tnLst>
      <p:par>
        <p:cTn id="1" dur="indefinite" restart="never" nodeType="tmRoot"/>
      </p:par>
    </p:tnLst>
  </p:timing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§"/>
        <a:defRPr sz="24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5000"/>
        <a:buFont typeface="Wingdings" pitchFamily="2" charset="2"/>
        <a:buChar char="Ø"/>
        <a:defRPr sz="2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 2" pitchFamily="18" charset="2"/>
        <a:buChar char="¡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90000"/>
        <a:buFont typeface="Wingdings" pitchFamily="2" charset="2"/>
        <a:buChar char="Ø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 2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 2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 2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 2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 2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file:///C:\Documents%20and%20Settings\s10457\&#26700;&#38754;\&#33394;&#24230;&#23416;\&#33394;&#24230;&#23416;&#36039;&#26009;&#24235;\&#24425;&#33394;&#21407;&#29702;2.files\color3.files\fig3-3.jpg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file:///C:\Documents%20and%20Settings\s10457\&#26700;&#38754;\&#33394;&#24230;&#23416;\&#33394;&#24230;&#23416;&#36039;&#26009;&#24235;\&#24425;&#33394;&#21407;&#29702;2.files\color3.files\fig3-3.jpg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file:///C:\Documents%20and%20Settings\s10457\&#26700;&#38754;\DCS\DSC&#36039;&#26009;&#24235;\&#21407;&#33394;CCD%20&#35036;&#33394;CCD%20&#32048;&#37096;&#32080;&#27083;&#20998;&#26512;&#65281;&#25976;&#20301;&#25885;&#24433;&#35611;&#24231;%20&#31532;11&#35611;.files\id-1000.gif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oleObject" Target="../embeddings/oleObject3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7.bin"/><Relationship Id="rId5" Type="http://schemas.openxmlformats.org/officeDocument/2006/relationships/oleObject" Target="../embeddings/oleObject6.bin"/><Relationship Id="rId10" Type="http://schemas.openxmlformats.org/officeDocument/2006/relationships/oleObject" Target="../embeddings/oleObject11.bin"/><Relationship Id="rId4" Type="http://schemas.openxmlformats.org/officeDocument/2006/relationships/oleObject" Target="../embeddings/oleObject5.bin"/><Relationship Id="rId9" Type="http://schemas.openxmlformats.org/officeDocument/2006/relationships/oleObject" Target="../embeddings/oleObject10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oleObject" Target="../embeddings/oleObject13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7.bin"/><Relationship Id="rId5" Type="http://schemas.openxmlformats.org/officeDocument/2006/relationships/oleObject" Target="../embeddings/oleObject16.bin"/><Relationship Id="rId4" Type="http://schemas.openxmlformats.org/officeDocument/2006/relationships/oleObject" Target="../embeddings/oleObject15.bin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file:///C:\Documents%20and%20Settings\s10457\&#26700;&#38754;\DCS\DSC&#36039;&#26009;&#24235;\&#29305;&#21029;&#20225;&#21123;%20-%20&#24037;&#30740;&#38498;&#20809;&#38651;&#25152;%20-%20&#25976;&#20301;&#23566;&#35261;.files\8-c.gif" TargetMode="External"/><Relationship Id="rId7" Type="http://schemas.openxmlformats.org/officeDocument/2006/relationships/image" Target="file:///C:\Documents%20and%20Settings\s10457\&#26700;&#38754;\DCS\DSC&#36039;&#26009;&#24235;\&#29305;&#21029;&#20225;&#21123;%20-%20&#24037;&#30740;&#38498;&#20809;&#38651;&#25152;%20-%20&#25976;&#20301;&#23566;&#35261;.files\10-c.gif" TargetMode="Externa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file:///C:\Documents%20and%20Settings\s10457\&#26700;&#38754;\DCS\DSC&#36039;&#26009;&#24235;\&#29305;&#21029;&#20225;&#21123;%20-%20&#24037;&#30740;&#38498;&#20809;&#38651;&#25152;%20-%20&#25976;&#20301;&#23566;&#35261;.files\3-c.gif" TargetMode="External"/><Relationship Id="rId4" Type="http://schemas.openxmlformats.org/officeDocument/2006/relationships/image" Target="../media/image29.png"/><Relationship Id="rId9" Type="http://schemas.openxmlformats.org/officeDocument/2006/relationships/image" Target="file:///C:\Documents%20and%20Settings\s10457\&#26700;&#38754;\DCS\DSC&#36039;&#26009;&#24235;\&#29305;&#21029;&#20225;&#21123;%20-%20&#24037;&#30740;&#38498;&#20809;&#38651;&#25152;%20-%20&#25976;&#20301;&#23566;&#35261;.files\5-c.gif" TargetMode="Externa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7" Type="http://schemas.openxmlformats.org/officeDocument/2006/relationships/oleObject" Target="../embeddings/oleObject2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23.bin"/><Relationship Id="rId5" Type="http://schemas.openxmlformats.org/officeDocument/2006/relationships/oleObject" Target="../embeddings/oleObject22.bin"/><Relationship Id="rId4" Type="http://schemas.openxmlformats.org/officeDocument/2006/relationships/oleObject" Target="../embeddings/oleObject21.bin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.bin"/><Relationship Id="rId3" Type="http://schemas.openxmlformats.org/officeDocument/2006/relationships/oleObject" Target="../embeddings/oleObject27.bin"/><Relationship Id="rId7" Type="http://schemas.openxmlformats.org/officeDocument/2006/relationships/oleObject" Target="../embeddings/oleObject3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30.bin"/><Relationship Id="rId5" Type="http://schemas.openxmlformats.org/officeDocument/2006/relationships/oleObject" Target="../embeddings/oleObject29.bin"/><Relationship Id="rId4" Type="http://schemas.openxmlformats.org/officeDocument/2006/relationships/oleObject" Target="../embeddings/oleObject28.bin"/><Relationship Id="rId9" Type="http://schemas.openxmlformats.org/officeDocument/2006/relationships/oleObject" Target="../embeddings/oleObject33.bin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oleObject" Target="../embeddings/oleObject36.bin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4" Type="http://schemas.openxmlformats.org/officeDocument/2006/relationships/oleObject" Target="../embeddings/oleObject38.bin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Rot="1" noChangeArrowheads="1"/>
          </p:cNvSpPr>
          <p:nvPr>
            <p:ph type="ctrTitle" idx="4294967295"/>
          </p:nvPr>
        </p:nvSpPr>
        <p:spPr>
          <a:xfrm>
            <a:off x="2206625" y="2379663"/>
            <a:ext cx="4745038" cy="1046162"/>
          </a:xfrm>
        </p:spPr>
        <p:txBody>
          <a:bodyPr/>
          <a:lstStyle/>
          <a:p>
            <a:pPr algn="l" eaLnBrk="1" hangingPunct="1"/>
            <a:r>
              <a:rPr lang="zh-CN" altLang="en-US" sz="5400" b="1" smtClean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光电测试技术</a:t>
            </a:r>
          </a:p>
        </p:txBody>
      </p:sp>
      <p:sp>
        <p:nvSpPr>
          <p:cNvPr id="6" name="Rectangle 7"/>
          <p:cNvSpPr>
            <a:spLocks noRot="1" noChangeArrowheads="1"/>
          </p:cNvSpPr>
          <p:nvPr/>
        </p:nvSpPr>
        <p:spPr bwMode="auto">
          <a:xfrm>
            <a:off x="2320925" y="4205288"/>
            <a:ext cx="6400800" cy="2106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黑体" pitchFamily="2" charset="-122"/>
              </a:rPr>
              <a:t>范志刚     </a:t>
            </a:r>
          </a:p>
          <a:p>
            <a:pPr algn="ctr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黑体" pitchFamily="2" charset="-122"/>
              </a:rPr>
              <a:t>航天学院 空间光学工程研究中心</a:t>
            </a:r>
          </a:p>
          <a:p>
            <a:pPr algn="ctr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黑体" pitchFamily="2" charset="-122"/>
              </a:rPr>
              <a:t>哈尔滨工业大学</a:t>
            </a:r>
          </a:p>
        </p:txBody>
      </p:sp>
      <p:sp>
        <p:nvSpPr>
          <p:cNvPr id="5" name="Rectangle 2"/>
          <p:cNvSpPr txBox="1">
            <a:spLocks noRot="1" noChangeArrowheads="1"/>
          </p:cNvSpPr>
          <p:nvPr/>
        </p:nvSpPr>
        <p:spPr bwMode="auto">
          <a:xfrm>
            <a:off x="349250" y="595313"/>
            <a:ext cx="8794750" cy="1373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altLang="zh-CN" sz="4400" b="1" kern="0" dirty="0">
                <a:solidFill>
                  <a:srgbClr val="FF0000"/>
                </a:solidFill>
                <a:latin typeface="Britannic Bold" pitchFamily="34" charset="0"/>
                <a:ea typeface="华文新魏" pitchFamily="2" charset="-122"/>
                <a:cs typeface="+mj-cs"/>
              </a:rPr>
              <a:t>Electro-optical Test Technique</a:t>
            </a:r>
            <a:endParaRPr lang="zh-CN" altLang="en-US" sz="4400" b="1" kern="0" dirty="0">
              <a:solidFill>
                <a:srgbClr val="FF0000"/>
              </a:solidFill>
              <a:latin typeface="Britannic Bold" pitchFamily="34" charset="0"/>
              <a:ea typeface="华文新魏" pitchFamily="2" charset="-122"/>
              <a:cs typeface="+mj-cs"/>
            </a:endParaRPr>
          </a:p>
        </p:txBody>
      </p:sp>
    </p:spTree>
  </p:cSld>
  <p:clrMapOvr>
    <a:masterClrMapping/>
  </p:clrMapOvr>
  <p:transition>
    <p:circl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844" name="Text Box 4"/>
          <p:cNvSpPr txBox="1">
            <a:spLocks noChangeArrowheads="1"/>
          </p:cNvSpPr>
          <p:nvPr/>
        </p:nvSpPr>
        <p:spPr bwMode="auto">
          <a:xfrm>
            <a:off x="392113" y="2333625"/>
            <a:ext cx="8520112" cy="1477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  <a:ea typeface="GungsuhChe" pitchFamily="49" charset="-127"/>
              </a:rPr>
              <a:t>Chapter 4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  <a:ea typeface="GungsuhChe" pitchFamily="49" charset="-127"/>
              </a:rPr>
              <a:t>   </a:t>
            </a: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  <a:ea typeface="GungsuhChe" pitchFamily="49" charset="-127"/>
              </a:rPr>
              <a:t>Test Techniques of  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  <a:ea typeface="GungsuhChe" pitchFamily="49" charset="-127"/>
              </a:rPr>
              <a:t>        Chrominance Parameters</a:t>
            </a:r>
            <a:endParaRPr lang="zh-CN" altLang="en-US" sz="3600" b="1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Black" pitchFamily="34" charset="0"/>
              <a:ea typeface="GungsuhChe" pitchFamily="49" charset="-127"/>
            </a:endParaRPr>
          </a:p>
        </p:txBody>
      </p:sp>
    </p:spTree>
  </p:cSld>
  <p:clrMapOvr>
    <a:masterClrMapping/>
  </p:clrMapOvr>
  <p:transition>
    <p:circl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928120DA-16A4-415F-A6F8-34FE3CE616B6}" type="datetime1">
              <a:rPr lang="zh-CN" altLang="en-US" smtClean="0">
                <a:ea typeface="宋体" charset="-122"/>
              </a:rPr>
              <a:pPr/>
              <a:t>2018/2/24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20483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DC38ED8-8DDF-464E-BD57-E60973DFD668}" type="slidenum">
              <a:rPr lang="en-US" altLang="zh-CN" smtClean="0">
                <a:ea typeface="宋体" charset="-122"/>
              </a:rPr>
              <a:pPr/>
              <a:t>3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43622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66713" y="306388"/>
            <a:ext cx="8270875" cy="839787"/>
          </a:xfrm>
        </p:spPr>
        <p:txBody>
          <a:bodyPr/>
          <a:lstStyle/>
          <a:p>
            <a:pPr eaLnBrk="1" fontAlgn="b" hangingPunct="1">
              <a:defRPr/>
            </a:pPr>
            <a:r>
              <a:rPr lang="en-US" altLang="zh-CN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INTRODUCTION</a:t>
            </a:r>
            <a:r>
              <a:rPr lang="zh-CN" altLang="en-US" sz="4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</a:t>
            </a:r>
          </a:p>
        </p:txBody>
      </p:sp>
      <p:sp>
        <p:nvSpPr>
          <p:cNvPr id="436227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752475" y="1798638"/>
            <a:ext cx="7735888" cy="4108450"/>
          </a:xfrm>
        </p:spPr>
        <p:txBody>
          <a:bodyPr/>
          <a:lstStyle/>
          <a:p>
            <a:pPr eaLnBrk="1" hangingPunct="1">
              <a:lnSpc>
                <a:spcPct val="130000"/>
              </a:lnSpc>
              <a:defRPr/>
            </a:pPr>
            <a:r>
              <a:rPr lang="zh-CN" altLang="en-US" dirty="0" smtClean="0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色度学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是研究人的颜色视觉规律、颜色测量理论与技术的学科。颜色感觉与听觉、嗅觉、味觉等一样都是外界刺激使人的感觉器官产生的感觉。 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色度学是研究颜色度量和评价方法的学科，是以</a:t>
            </a:r>
            <a:r>
              <a:rPr lang="zh-CN" altLang="en-US" dirty="0" smtClean="0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光学、视觉生理、视觉心理、心理物理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等学科为基础的综合性科学。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现代色度学，是一门</a:t>
            </a:r>
            <a:r>
              <a:rPr lang="zh-CN" altLang="en-US" dirty="0" smtClean="0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实验性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非常强的学科。 </a:t>
            </a:r>
          </a:p>
        </p:txBody>
      </p:sp>
    </p:spTree>
  </p:cSld>
  <p:clrMapOvr>
    <a:masterClrMapping/>
  </p:clrMapOvr>
  <p:transition>
    <p:circl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CFF1FD18-72DD-4829-9FEF-F21030AEC006}" type="datetime1">
              <a:rPr lang="zh-CN" altLang="en-US" smtClean="0">
                <a:ea typeface="宋体" charset="-122"/>
              </a:rPr>
              <a:pPr/>
              <a:t>2018/2/24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21507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C69E759-74FE-4B3E-8DAD-22C9D7143794}" type="slidenum">
              <a:rPr lang="en-US" altLang="zh-CN" smtClean="0">
                <a:ea typeface="宋体" charset="-122"/>
              </a:rPr>
              <a:pPr/>
              <a:t>4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438275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296863" y="1349375"/>
            <a:ext cx="8550275" cy="4805363"/>
          </a:xfrm>
        </p:spPr>
        <p:txBody>
          <a:bodyPr/>
          <a:lstStyle/>
          <a:p>
            <a:pPr eaLnBrk="1" hangingPunct="1">
              <a:lnSpc>
                <a:spcPct val="105000"/>
              </a:lnSpc>
              <a:defRPr/>
            </a:pP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能刺激人眼而产生明亮感觉的辐射称为可见光，可见光刺激人眼在脑中产生光亮、颜色、形状等印象，从而获得对外界的认识，这就是</a:t>
            </a:r>
            <a:r>
              <a:rPr lang="zh-CN" altLang="en-US" dirty="0" smtClean="0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视觉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。</a:t>
            </a:r>
            <a:endParaRPr lang="en-US" altLang="zh-CN" dirty="0" smtClean="0">
              <a:latin typeface="Times New Roman" pitchFamily="18" charset="0"/>
              <a:ea typeface="黑体" pitchFamily="2" charset="-122"/>
            </a:endParaRPr>
          </a:p>
          <a:p>
            <a:pPr eaLnBrk="1" hangingPunct="1">
              <a:lnSpc>
                <a:spcPct val="105000"/>
              </a:lnSpc>
              <a:defRPr/>
            </a:pP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人眼不仅能从物体各点发出光的强弱来辨别物体的形象，还能对</a:t>
            </a:r>
            <a:r>
              <a:rPr lang="en-US" altLang="zh-CN" dirty="0" smtClean="0">
                <a:latin typeface="Times New Roman" pitchFamily="18" charset="0"/>
                <a:ea typeface="黑体" pitchFamily="2" charset="-122"/>
              </a:rPr>
              <a:t>330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一</a:t>
            </a:r>
            <a:r>
              <a:rPr lang="en-US" altLang="zh-CN" dirty="0" smtClean="0">
                <a:latin typeface="Times New Roman" pitchFamily="18" charset="0"/>
                <a:ea typeface="黑体" pitchFamily="2" charset="-122"/>
              </a:rPr>
              <a:t>780nm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波长范围的光作出选择性反应，这就是</a:t>
            </a:r>
            <a:r>
              <a:rPr lang="zh-CN" altLang="en-US" dirty="0" smtClean="0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颜色视觉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。</a:t>
            </a:r>
          </a:p>
          <a:p>
            <a:pPr eaLnBrk="1" hangingPunct="1">
              <a:lnSpc>
                <a:spcPct val="105000"/>
              </a:lnSpc>
              <a:defRPr/>
            </a:pPr>
            <a:endParaRPr lang="en-US" altLang="zh-CN" dirty="0" smtClean="0">
              <a:latin typeface="Times New Roman" pitchFamily="18" charset="0"/>
              <a:ea typeface="黑体" pitchFamily="2" charset="-122"/>
            </a:endParaRPr>
          </a:p>
        </p:txBody>
      </p:sp>
      <p:pic>
        <p:nvPicPr>
          <p:cNvPr id="21509" name="Picture 9" descr="http://www.menet.com.cn/serverformanage/photos/editor/201406180930183018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81450" y="3751263"/>
            <a:ext cx="4133850" cy="2587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66713" y="306388"/>
            <a:ext cx="8270875" cy="839787"/>
          </a:xfrm>
        </p:spPr>
        <p:txBody>
          <a:bodyPr/>
          <a:lstStyle/>
          <a:p>
            <a:pPr eaLnBrk="1" fontAlgn="b" hangingPunct="1">
              <a:defRPr/>
            </a:pPr>
            <a:r>
              <a:rPr lang="en-US" altLang="zh-CN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INTRODUCTION</a:t>
            </a:r>
            <a:r>
              <a:rPr lang="zh-CN" altLang="en-US" sz="4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</a:t>
            </a:r>
          </a:p>
        </p:txBody>
      </p:sp>
    </p:spTree>
  </p:cSld>
  <p:clrMapOvr>
    <a:masterClrMapping/>
  </p:clrMapOvr>
  <p:transition>
    <p:circl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353F2E3F-1528-4EA4-8D82-3B80390A9940}" type="datetime1">
              <a:rPr lang="zh-CN" altLang="en-US" smtClean="0">
                <a:ea typeface="宋体" charset="-122"/>
              </a:rPr>
              <a:pPr/>
              <a:t>2018/2/24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22531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660003B-1561-4DD2-9317-2D10E28868CE}" type="slidenum">
              <a:rPr lang="en-US" altLang="zh-CN" smtClean="0">
                <a:ea typeface="宋体" charset="-122"/>
              </a:rPr>
              <a:pPr/>
              <a:t>5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438275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296863" y="1349375"/>
            <a:ext cx="8550275" cy="4805363"/>
          </a:xfrm>
        </p:spPr>
        <p:txBody>
          <a:bodyPr/>
          <a:lstStyle/>
          <a:p>
            <a:pPr>
              <a:defRPr/>
            </a:pPr>
            <a:r>
              <a:rPr lang="zh-TW" altLang="en-US" dirty="0" smtClean="0">
                <a:latin typeface="Times New Roman" pitchFamily="18" charset="0"/>
                <a:ea typeface="黑体" pitchFamily="2" charset="-122"/>
              </a:rPr>
              <a:t>人眼基本上可以看成是一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个</a:t>
            </a:r>
            <a:r>
              <a:rPr lang="zh-TW" altLang="en-US" dirty="0" smtClean="0">
                <a:latin typeface="Times New Roman" pitchFamily="18" charset="0"/>
                <a:ea typeface="黑体" pitchFamily="2" charset="-122"/>
              </a:rPr>
              <a:t>包含在</a:t>
            </a:r>
            <a:r>
              <a:rPr lang="zh-CN" altLang="en-US" dirty="0" smtClean="0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巩</a:t>
            </a:r>
            <a:r>
              <a:rPr lang="zh-TW" altLang="en-US" dirty="0" smtClean="0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膜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内</a:t>
            </a:r>
            <a:r>
              <a:rPr lang="zh-TW" altLang="en-US" dirty="0" smtClean="0">
                <a:latin typeface="Times New Roman" pitchFamily="18" charset="0"/>
                <a:ea typeface="黑体" pitchFamily="2" charset="-122"/>
              </a:rPr>
              <a:t>的不透光暗室。</a:t>
            </a:r>
            <a:endParaRPr lang="en-US" altLang="zh-TW" dirty="0" smtClean="0">
              <a:latin typeface="Times New Roman" pitchFamily="18" charset="0"/>
              <a:ea typeface="黑体" pitchFamily="2" charset="-122"/>
            </a:endParaRPr>
          </a:p>
          <a:p>
            <a:pPr>
              <a:defRPr/>
            </a:pPr>
            <a:r>
              <a:rPr lang="zh-TW" altLang="en-US" dirty="0" smtClean="0">
                <a:latin typeface="Times New Roman" pitchFamily="18" charset="0"/>
                <a:ea typeface="黑体" pitchFamily="2" charset="-122"/>
              </a:rPr>
              <a:t>它具有一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个</a:t>
            </a:r>
            <a:r>
              <a:rPr lang="zh-TW" altLang="en-US" dirty="0" smtClean="0">
                <a:latin typeface="Times New Roman" pitchFamily="18" charset="0"/>
                <a:ea typeface="黑体" pitchFamily="2" charset="-122"/>
              </a:rPr>
              <a:t>由</a:t>
            </a:r>
            <a:r>
              <a:rPr lang="zh-TW" altLang="en-US" dirty="0" smtClean="0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角膜</a:t>
            </a:r>
            <a:r>
              <a:rPr lang="en-US" altLang="zh-CN" dirty="0" smtClean="0">
                <a:latin typeface="Times New Roman" pitchFamily="18" charset="0"/>
                <a:ea typeface="黑体" pitchFamily="2" charset="-122"/>
              </a:rPr>
              <a:t>Cornea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、</a:t>
            </a:r>
            <a:r>
              <a:rPr lang="zh-CN" altLang="en-US" dirty="0" smtClean="0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虹膜</a:t>
            </a:r>
            <a:r>
              <a:rPr lang="en-US" altLang="zh-CN" dirty="0" smtClean="0">
                <a:latin typeface="Times New Roman" pitchFamily="18" charset="0"/>
                <a:ea typeface="黑体" pitchFamily="2" charset="-122"/>
              </a:rPr>
              <a:t>Iris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、</a:t>
            </a:r>
            <a:r>
              <a:rPr lang="zh-TW" altLang="en-US" dirty="0" smtClean="0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晶</a:t>
            </a:r>
            <a:r>
              <a:rPr lang="zh-CN" altLang="en-US" dirty="0" smtClean="0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状体</a:t>
            </a:r>
            <a:r>
              <a:rPr lang="en-US" altLang="zh-CN" dirty="0" smtClean="0">
                <a:latin typeface="Times New Roman" pitchFamily="18" charset="0"/>
                <a:ea typeface="黑体" pitchFamily="2" charset="-122"/>
              </a:rPr>
              <a:t>Lens</a:t>
            </a:r>
            <a:r>
              <a:rPr lang="zh-TW" altLang="en-US" dirty="0" smtClean="0">
                <a:latin typeface="Times New Roman" pitchFamily="18" charset="0"/>
                <a:ea typeface="黑体" pitchFamily="2" charset="-122"/>
              </a:rPr>
              <a:t>和</a:t>
            </a:r>
            <a:r>
              <a:rPr lang="zh-TW" altLang="en-US" dirty="0" smtClean="0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玻璃</a:t>
            </a:r>
            <a:r>
              <a:rPr lang="zh-CN" altLang="en-US" dirty="0" smtClean="0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体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组成</a:t>
            </a:r>
            <a:r>
              <a:rPr lang="zh-TW" altLang="en-US" dirty="0" smtClean="0">
                <a:latin typeface="Times New Roman" pitchFamily="18" charset="0"/>
                <a:ea typeface="黑体" pitchFamily="2" charset="-122"/>
              </a:rPr>
              <a:t>的折射光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学系统，</a:t>
            </a:r>
            <a:r>
              <a:rPr lang="zh-TW" altLang="en-US" dirty="0" smtClean="0">
                <a:latin typeface="Times New Roman" pitchFamily="18" charset="0"/>
                <a:ea typeface="黑体" pitchFamily="2" charset="-122"/>
              </a:rPr>
              <a:t>它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们将</a:t>
            </a:r>
            <a:r>
              <a:rPr lang="zh-TW" altLang="en-US" dirty="0" smtClean="0">
                <a:latin typeface="Times New Roman" pitchFamily="18" charset="0"/>
                <a:ea typeface="黑体" pitchFamily="2" charset="-122"/>
              </a:rPr>
              <a:t>入射光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线聚焦</a:t>
            </a:r>
            <a:r>
              <a:rPr lang="zh-TW" altLang="en-US" dirty="0" smtClean="0">
                <a:latin typeface="Times New Roman" pitchFamily="18" charset="0"/>
                <a:ea typeface="黑体" pitchFamily="2" charset="-122"/>
              </a:rPr>
              <a:t>在眼球后面的</a:t>
            </a:r>
            <a:r>
              <a:rPr lang="zh-CN" altLang="en-US" dirty="0" smtClean="0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视网</a:t>
            </a:r>
            <a:r>
              <a:rPr lang="zh-TW" altLang="en-US" dirty="0" smtClean="0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膜</a:t>
            </a:r>
            <a:r>
              <a:rPr lang="zh-TW" altLang="en-US" dirty="0" smtClean="0">
                <a:latin typeface="Times New Roman" pitchFamily="18" charset="0"/>
                <a:ea typeface="黑体" pitchFamily="2" charset="-122"/>
              </a:rPr>
              <a:t>上形成一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个</a:t>
            </a:r>
            <a:r>
              <a:rPr lang="zh-TW" altLang="en-US" dirty="0" smtClean="0">
                <a:latin typeface="Times New Roman" pitchFamily="18" charset="0"/>
                <a:ea typeface="黑体" pitchFamily="2" charset="-122"/>
              </a:rPr>
              <a:t>倒像。</a:t>
            </a:r>
            <a:endParaRPr lang="zh-CN" altLang="en-US" dirty="0" smtClean="0">
              <a:latin typeface="Times New Roman" pitchFamily="18" charset="0"/>
              <a:ea typeface="黑体" pitchFamily="2" charset="-122"/>
            </a:endParaRPr>
          </a:p>
          <a:p>
            <a:pPr eaLnBrk="1" hangingPunct="1">
              <a:lnSpc>
                <a:spcPct val="105000"/>
              </a:lnSpc>
              <a:defRPr/>
            </a:pPr>
            <a:endParaRPr lang="en-US" altLang="zh-CN" dirty="0" smtClean="0">
              <a:latin typeface="Times New Roman" pitchFamily="18" charset="0"/>
              <a:ea typeface="黑体" pitchFamily="2" charset="-122"/>
            </a:endParaRPr>
          </a:p>
        </p:txBody>
      </p:sp>
      <p:grpSp>
        <p:nvGrpSpPr>
          <p:cNvPr id="22533" name="组合 7"/>
          <p:cNvGrpSpPr>
            <a:grpSpLocks/>
          </p:cNvGrpSpPr>
          <p:nvPr/>
        </p:nvGrpSpPr>
        <p:grpSpPr bwMode="auto">
          <a:xfrm>
            <a:off x="1108075" y="3133725"/>
            <a:ext cx="6924675" cy="3267075"/>
            <a:chOff x="1108075" y="3133724"/>
            <a:chExt cx="6925082" cy="3267075"/>
          </a:xfrm>
        </p:grpSpPr>
        <p:pic>
          <p:nvPicPr>
            <p:cNvPr id="22535" name="Picture 6" descr="http://a2.att.hudong.com/33/71/01300001376413131674718526121.jp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108075" y="3133724"/>
              <a:ext cx="6925082" cy="32670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" name="矩形 6"/>
            <p:cNvSpPr/>
            <p:nvPr/>
          </p:nvSpPr>
          <p:spPr>
            <a:xfrm>
              <a:off x="5358063" y="5454649"/>
              <a:ext cx="2159127" cy="6477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11" name="Rectangle 2"/>
          <p:cNvSpPr txBox="1">
            <a:spLocks noRot="1" noChangeArrowheads="1"/>
          </p:cNvSpPr>
          <p:nvPr/>
        </p:nvSpPr>
        <p:spPr bwMode="auto">
          <a:xfrm>
            <a:off x="366713" y="306388"/>
            <a:ext cx="8270875" cy="839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fontAlgn="b">
              <a:defRPr/>
            </a:pPr>
            <a:r>
              <a:rPr lang="en-US" altLang="zh-CN" sz="4400" ker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INTRODUCTION</a:t>
            </a:r>
            <a:r>
              <a:rPr lang="zh-CN" altLang="en-US" sz="4800" ker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</a:t>
            </a:r>
            <a:endParaRPr lang="zh-CN" altLang="en-US" sz="4800" kern="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黑体" pitchFamily="2" charset="-122"/>
              <a:cs typeface="Times New Roman" pitchFamily="18" charset="0"/>
            </a:endParaRPr>
          </a:p>
        </p:txBody>
      </p:sp>
    </p:spTree>
  </p:cSld>
  <p:clrMapOvr>
    <a:masterClrMapping/>
  </p:clrMapOvr>
  <p:transition>
    <p:circl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B22FE248-053A-4C82-8A0B-11DF1E0276A6}" type="datetime1">
              <a:rPr lang="zh-CN" altLang="en-US" smtClean="0">
                <a:ea typeface="宋体" charset="-122"/>
              </a:rPr>
              <a:pPr/>
              <a:t>2018/2/24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23555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A09F79F-D32C-49B8-819C-50881E5A5C7F}" type="slidenum">
              <a:rPr lang="en-US" altLang="zh-CN" smtClean="0">
                <a:ea typeface="宋体" charset="-122"/>
              </a:rPr>
              <a:pPr/>
              <a:t>6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503811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296863" y="1349375"/>
            <a:ext cx="8550275" cy="4805363"/>
          </a:xfrm>
        </p:spPr>
        <p:txBody>
          <a:bodyPr/>
          <a:lstStyle/>
          <a:p>
            <a:pPr eaLnBrk="1" hangingPunct="1">
              <a:lnSpc>
                <a:spcPct val="125000"/>
              </a:lnSpc>
              <a:defRPr/>
            </a:pP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人眼视网膜的中央窝部位和边缘部位结构不同，中央视觉主要是</a:t>
            </a:r>
            <a:r>
              <a:rPr lang="zh-CN" altLang="en-US" smtClean="0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锥体细胞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起作用，边缘视觉主要是</a:t>
            </a:r>
            <a:r>
              <a:rPr lang="zh-CN" altLang="en-US" smtClean="0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杆体细胞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起作用。</a:t>
            </a:r>
          </a:p>
          <a:p>
            <a:pPr eaLnBrk="1" hangingPunct="1">
              <a:lnSpc>
                <a:spcPct val="125000"/>
              </a:lnSpc>
              <a:defRPr/>
            </a:pP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具有正常颜色视觉的人，视网膜中央窝能分辨各种颜色，但它的感光灵敏度较低；杆体细胞不能分辨颜色但能感受极微弱的光。</a:t>
            </a:r>
          </a:p>
          <a:p>
            <a:pPr eaLnBrk="1" hangingPunct="1">
              <a:lnSpc>
                <a:spcPct val="125000"/>
              </a:lnSpc>
              <a:defRPr/>
            </a:pP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中央窝周围不同区域的颜色感受性也不同，由中央窝向外，首先丧失红、绿色的感受性，更外围则黄蓝色的感受性也丧失而成为全色盲区。这时对应的视角约</a:t>
            </a:r>
            <a:r>
              <a:rPr lang="en-US" altLang="zh-CN" smtClean="0">
                <a:latin typeface="Times New Roman" pitchFamily="18" charset="0"/>
                <a:ea typeface="黑体" pitchFamily="2" charset="-122"/>
              </a:rPr>
              <a:t>20°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，全色感觉范围对应的视角大约为</a:t>
            </a:r>
            <a:r>
              <a:rPr lang="en-US" altLang="zh-CN" smtClean="0">
                <a:latin typeface="Times New Roman" pitchFamily="18" charset="0"/>
                <a:ea typeface="黑体" pitchFamily="2" charset="-122"/>
              </a:rPr>
              <a:t>4°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。</a:t>
            </a:r>
          </a:p>
        </p:txBody>
      </p:sp>
      <p:sp>
        <p:nvSpPr>
          <p:cNvPr id="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66713" y="306388"/>
            <a:ext cx="8270875" cy="839787"/>
          </a:xfrm>
        </p:spPr>
        <p:txBody>
          <a:bodyPr/>
          <a:lstStyle/>
          <a:p>
            <a:pPr eaLnBrk="1" fontAlgn="b" hangingPunct="1">
              <a:defRPr/>
            </a:pPr>
            <a:r>
              <a:rPr lang="en-US" altLang="zh-CN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INTRODUCTION</a:t>
            </a:r>
            <a:r>
              <a:rPr lang="zh-CN" altLang="en-US" sz="4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</a:t>
            </a:r>
          </a:p>
        </p:txBody>
      </p:sp>
    </p:spTree>
  </p:cSld>
  <p:clrMapOvr>
    <a:masterClrMapping/>
  </p:clrMapOvr>
  <p:transition>
    <p:circl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1"/>
          <p:cNvSpPr>
            <a:spLocks noGrp="1"/>
          </p:cNvSpPr>
          <p:nvPr>
            <p:ph type="title" idx="4294967295"/>
          </p:nvPr>
        </p:nvSpPr>
        <p:spPr>
          <a:xfrm>
            <a:off x="571500" y="684213"/>
            <a:ext cx="8358188" cy="706437"/>
          </a:xfrm>
        </p:spPr>
        <p:txBody>
          <a:bodyPr/>
          <a:lstStyle/>
          <a:p>
            <a:pPr algn="l"/>
            <a:r>
              <a:rPr lang="zh-CN" altLang="en-US" sz="200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▍ 本章主要内容</a:t>
            </a:r>
          </a:p>
        </p:txBody>
      </p:sp>
      <p:grpSp>
        <p:nvGrpSpPr>
          <p:cNvPr id="24579" name="组合 96"/>
          <p:cNvGrpSpPr>
            <a:grpSpLocks/>
          </p:cNvGrpSpPr>
          <p:nvPr/>
        </p:nvGrpSpPr>
        <p:grpSpPr bwMode="auto">
          <a:xfrm>
            <a:off x="803275" y="1881188"/>
            <a:ext cx="7715250" cy="666750"/>
            <a:chOff x="785786" y="1285866"/>
            <a:chExt cx="7715304" cy="571504"/>
          </a:xfrm>
        </p:grpSpPr>
        <p:sp>
          <p:nvSpPr>
            <p:cNvPr id="84" name="燕尾形 83"/>
            <p:cNvSpPr/>
            <p:nvPr/>
          </p:nvSpPr>
          <p:spPr>
            <a:xfrm>
              <a:off x="785786" y="1285866"/>
              <a:ext cx="7715304" cy="571504"/>
            </a:xfrm>
            <a:prstGeom prst="chevron">
              <a:avLst>
                <a:gd name="adj" fmla="val 0"/>
              </a:avLst>
            </a:prstGeom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81" name="TextBox 24"/>
            <p:cNvSpPr txBox="1">
              <a:spLocks noChangeArrowheads="1"/>
            </p:cNvSpPr>
            <p:nvPr/>
          </p:nvSpPr>
          <p:spPr bwMode="auto">
            <a:xfrm>
              <a:off x="1071538" y="1399464"/>
              <a:ext cx="6981356" cy="342954"/>
            </a:xfrm>
            <a:prstGeom prst="rect">
              <a:avLst/>
            </a:prstGeom>
            <a:noFill/>
            <a:ln>
              <a:noFill/>
              <a:headEnd/>
              <a:tailEnd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>
              <a:spAutoFit/>
            </a:bodyPr>
            <a:lstStyle/>
            <a:p>
              <a:pPr>
                <a:buFont typeface="Wingdings" pitchFamily="2" charset="2"/>
                <a:buChar char="Ø"/>
                <a:defRPr/>
              </a:pPr>
              <a:r>
                <a:rPr lang="zh-CN" altLang="en-US" sz="2000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rPr>
                <a:t> </a:t>
              </a:r>
              <a:r>
                <a:rPr lang="zh-CN" altLang="en-US" sz="20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色度学的基本概念和实验定律</a:t>
              </a:r>
            </a:p>
          </p:txBody>
        </p:sp>
      </p:grpSp>
      <p:grpSp>
        <p:nvGrpSpPr>
          <p:cNvPr id="24580" name="组合 96"/>
          <p:cNvGrpSpPr>
            <a:grpSpLocks/>
          </p:cNvGrpSpPr>
          <p:nvPr/>
        </p:nvGrpSpPr>
        <p:grpSpPr bwMode="auto">
          <a:xfrm>
            <a:off x="803275" y="2989263"/>
            <a:ext cx="7715250" cy="666750"/>
            <a:chOff x="785786" y="1285866"/>
            <a:chExt cx="7715304" cy="571504"/>
          </a:xfrm>
        </p:grpSpPr>
        <p:sp>
          <p:nvSpPr>
            <p:cNvPr id="23" name="燕尾形 22"/>
            <p:cNvSpPr/>
            <p:nvPr/>
          </p:nvSpPr>
          <p:spPr>
            <a:xfrm>
              <a:off x="785786" y="1285866"/>
              <a:ext cx="7715304" cy="571504"/>
            </a:xfrm>
            <a:prstGeom prst="chevron">
              <a:avLst>
                <a:gd name="adj" fmla="val 0"/>
              </a:avLst>
            </a:prstGeom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4" name="TextBox 24"/>
            <p:cNvSpPr txBox="1">
              <a:spLocks noChangeArrowheads="1"/>
            </p:cNvSpPr>
            <p:nvPr/>
          </p:nvSpPr>
          <p:spPr bwMode="auto">
            <a:xfrm>
              <a:off x="1071538" y="1399464"/>
              <a:ext cx="6981356" cy="342951"/>
            </a:xfrm>
            <a:prstGeom prst="rect">
              <a:avLst/>
            </a:prstGeom>
            <a:noFill/>
            <a:ln>
              <a:noFill/>
              <a:headEnd/>
              <a:tailEnd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>
              <a:spAutoFit/>
            </a:bodyPr>
            <a:lstStyle/>
            <a:p>
              <a:pPr>
                <a:buFont typeface="Wingdings" pitchFamily="2" charset="2"/>
                <a:buChar char="Ø"/>
                <a:defRPr/>
              </a:pPr>
              <a:r>
                <a:rPr lang="zh-CN" altLang="en-US" sz="20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lang="en-US" altLang="zh-CN" sz="20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CIE</a:t>
              </a:r>
              <a:r>
                <a:rPr lang="zh-CN" altLang="en-US" sz="20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色度计算方法</a:t>
              </a:r>
            </a:p>
          </p:txBody>
        </p:sp>
      </p:grpSp>
      <p:grpSp>
        <p:nvGrpSpPr>
          <p:cNvPr id="24581" name="组合 96"/>
          <p:cNvGrpSpPr>
            <a:grpSpLocks/>
          </p:cNvGrpSpPr>
          <p:nvPr/>
        </p:nvGrpSpPr>
        <p:grpSpPr bwMode="auto">
          <a:xfrm>
            <a:off x="803275" y="4097338"/>
            <a:ext cx="7715250" cy="666750"/>
            <a:chOff x="785786" y="1285866"/>
            <a:chExt cx="7715304" cy="571504"/>
          </a:xfrm>
        </p:grpSpPr>
        <p:sp>
          <p:nvSpPr>
            <p:cNvPr id="26" name="燕尾形 25"/>
            <p:cNvSpPr/>
            <p:nvPr/>
          </p:nvSpPr>
          <p:spPr>
            <a:xfrm>
              <a:off x="785786" y="1285866"/>
              <a:ext cx="7715304" cy="571504"/>
            </a:xfrm>
            <a:prstGeom prst="chevron">
              <a:avLst>
                <a:gd name="adj" fmla="val 0"/>
              </a:avLst>
            </a:prstGeom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7" name="TextBox 24"/>
            <p:cNvSpPr txBox="1">
              <a:spLocks noChangeArrowheads="1"/>
            </p:cNvSpPr>
            <p:nvPr/>
          </p:nvSpPr>
          <p:spPr bwMode="auto">
            <a:xfrm>
              <a:off x="1071538" y="1399465"/>
              <a:ext cx="6981356" cy="342954"/>
            </a:xfrm>
            <a:prstGeom prst="rect">
              <a:avLst/>
            </a:prstGeom>
            <a:noFill/>
            <a:ln>
              <a:noFill/>
              <a:headEnd/>
              <a:tailEnd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>
              <a:spAutoFit/>
            </a:bodyPr>
            <a:lstStyle/>
            <a:p>
              <a:pPr>
                <a:buFont typeface="Wingdings" pitchFamily="2" charset="2"/>
                <a:buChar char="Ø"/>
                <a:defRPr/>
              </a:pPr>
              <a:r>
                <a:rPr lang="zh-CN" altLang="en-US" sz="20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 色度的测试方法和应用</a:t>
              </a:r>
            </a:p>
          </p:txBody>
        </p:sp>
      </p:grpSp>
    </p:spTree>
  </p:cSld>
  <p:clrMapOvr>
    <a:masterClrMapping/>
  </p:clrMapOvr>
  <p:transition spd="slow" advTm="30076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7DD4063B-DC8E-486B-AF7B-92FECB8E908B}" type="datetime1">
              <a:rPr lang="zh-CN" altLang="en-US" smtClean="0">
                <a:ea typeface="宋体" charset="-122"/>
              </a:rPr>
              <a:pPr/>
              <a:t>2018/2/24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25603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C3DEEE5-F610-4517-AEA9-C2CF08ECA16D}" type="slidenum">
              <a:rPr lang="en-US" altLang="zh-CN" smtClean="0">
                <a:ea typeface="宋体" charset="-122"/>
              </a:rPr>
              <a:pPr/>
              <a:t>8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43725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96888" y="2962275"/>
            <a:ext cx="8270875" cy="839788"/>
          </a:xfrm>
        </p:spPr>
        <p:txBody>
          <a:bodyPr/>
          <a:lstStyle/>
          <a:p>
            <a:pPr eaLnBrk="1" fontAlgn="b" hangingPunct="1">
              <a:defRPr/>
            </a:pPr>
            <a:r>
              <a:rPr lang="en-US" altLang="zh-CN" sz="40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§4-1 </a:t>
            </a:r>
            <a:r>
              <a:rPr lang="zh-CN" altLang="en-US" sz="40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色度学的基本概念和实验定律</a:t>
            </a:r>
            <a:r>
              <a:rPr lang="zh-CN" altLang="en-US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 </a:t>
            </a:r>
          </a:p>
        </p:txBody>
      </p:sp>
    </p:spTree>
  </p:cSld>
  <p:clrMapOvr>
    <a:masterClrMapping/>
  </p:clrMapOvr>
  <p:transition>
    <p:circl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CA2D9234-3538-4C34-88CC-B4DAC886CA63}" type="datetime1">
              <a:rPr lang="zh-CN" altLang="en-US" smtClean="0">
                <a:ea typeface="宋体" charset="-122"/>
              </a:rPr>
              <a:pPr/>
              <a:t>2018/2/24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26627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02236E1-657A-4F48-939A-5137FC7A2EEE}" type="slidenum">
              <a:rPr lang="en-US" altLang="zh-CN" smtClean="0">
                <a:ea typeface="宋体" charset="-122"/>
              </a:rPr>
              <a:pPr/>
              <a:t>9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50176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66713" y="306388"/>
            <a:ext cx="8270875" cy="839787"/>
          </a:xfrm>
        </p:spPr>
        <p:txBody>
          <a:bodyPr/>
          <a:lstStyle/>
          <a:p>
            <a:pPr eaLnBrk="1" fontAlgn="b" hangingPunct="1">
              <a:defRPr/>
            </a:pPr>
            <a:r>
              <a:rPr lang="en-US" altLang="zh-CN" sz="40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§4-1 </a:t>
            </a:r>
            <a:r>
              <a:rPr lang="zh-CN" altLang="en-US" sz="40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色度学的基本概念和实验定律</a:t>
            </a:r>
            <a:r>
              <a:rPr lang="zh-CN" altLang="en-US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 </a:t>
            </a:r>
          </a:p>
        </p:txBody>
      </p:sp>
      <p:sp>
        <p:nvSpPr>
          <p:cNvPr id="501763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296863" y="1349375"/>
            <a:ext cx="8550275" cy="4805363"/>
          </a:xfrm>
        </p:spPr>
        <p:txBody>
          <a:bodyPr/>
          <a:lstStyle/>
          <a:p>
            <a:pPr marL="363538" indent="-363538" eaLnBrk="1" hangingPunct="1">
              <a:lnSpc>
                <a:spcPct val="115000"/>
              </a:lnSpc>
              <a:buFont typeface="Wingdings" pitchFamily="2" charset="2"/>
              <a:buNone/>
              <a:defRPr/>
            </a:pPr>
            <a:r>
              <a:rPr lang="en-US" altLang="zh-CN" dirty="0" smtClean="0">
                <a:latin typeface="Times New Roman" pitchFamily="18" charset="0"/>
                <a:ea typeface="黑体" pitchFamily="2" charset="-122"/>
              </a:rPr>
              <a:t>1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．颜色混合定律</a:t>
            </a:r>
            <a:r>
              <a:rPr lang="en-US" altLang="zh-CN" dirty="0" smtClean="0">
                <a:latin typeface="Times New Roman" pitchFamily="18" charset="0"/>
                <a:ea typeface="黑体" pitchFamily="2" charset="-122"/>
              </a:rPr>
              <a:t>—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格拉斯曼</a:t>
            </a:r>
            <a:r>
              <a:rPr lang="en-US" altLang="zh-CN" dirty="0" smtClean="0">
                <a:latin typeface="Times New Roman" pitchFamily="18" charset="0"/>
                <a:ea typeface="黑体" pitchFamily="2" charset="-122"/>
              </a:rPr>
              <a:t>(</a:t>
            </a:r>
            <a:r>
              <a:rPr lang="en-US" altLang="zh-CN" dirty="0" err="1" smtClean="0">
                <a:latin typeface="Times New Roman" pitchFamily="18" charset="0"/>
                <a:ea typeface="黑体" pitchFamily="2" charset="-122"/>
              </a:rPr>
              <a:t>H.Grassman</a:t>
            </a:r>
            <a:r>
              <a:rPr lang="en-US" altLang="zh-CN" dirty="0" smtClean="0">
                <a:latin typeface="Times New Roman" pitchFamily="18" charset="0"/>
                <a:ea typeface="黑体" pitchFamily="2" charset="-122"/>
              </a:rPr>
              <a:t>)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颜色混合定律</a:t>
            </a:r>
            <a:endParaRPr lang="en-US" altLang="zh-CN" dirty="0" smtClean="0">
              <a:latin typeface="Times New Roman" pitchFamily="18" charset="0"/>
              <a:ea typeface="黑体" pitchFamily="2" charset="-122"/>
            </a:endParaRPr>
          </a:p>
          <a:p>
            <a:pPr marL="363538" indent="-363538" eaLnBrk="1" hangingPunct="1">
              <a:defRPr/>
            </a:pP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格拉斯曼在总结以往颜色混合实验现象的基础上，于</a:t>
            </a:r>
            <a:r>
              <a:rPr lang="en-US" altLang="zh-CN" dirty="0" smtClean="0">
                <a:latin typeface="Times New Roman" pitchFamily="18" charset="0"/>
                <a:ea typeface="黑体" pitchFamily="2" charset="-122"/>
              </a:rPr>
              <a:t>1854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年归纳总结出几条</a:t>
            </a:r>
            <a:r>
              <a:rPr lang="zh-CN" altLang="en-US" dirty="0" smtClean="0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实验规律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，它是建立现代色度学的基础。</a:t>
            </a:r>
          </a:p>
          <a:p>
            <a:pPr marL="363538" indent="-363538" eaLnBrk="1" hangingPunct="1">
              <a:buFont typeface="Wingdings" pitchFamily="2" charset="2"/>
              <a:buNone/>
              <a:defRPr/>
            </a:pPr>
            <a:r>
              <a:rPr lang="en-US" altLang="zh-CN" dirty="0" smtClean="0">
                <a:latin typeface="Times New Roman" pitchFamily="18" charset="0"/>
                <a:ea typeface="黑体" pitchFamily="2" charset="-122"/>
              </a:rPr>
              <a:t>(1) 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颜色的属性</a:t>
            </a:r>
          </a:p>
          <a:p>
            <a:pPr marL="363538" indent="-363538" eaLnBrk="1" hangingPunct="1">
              <a:defRPr/>
            </a:pPr>
            <a:r>
              <a:rPr lang="zh-CN" altLang="en-US" dirty="0" smtClean="0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明度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是指人眼对物体的明暗感觉。</a:t>
            </a:r>
          </a:p>
          <a:p>
            <a:pPr marL="363538" indent="-363538" eaLnBrk="1" hangingPunct="1">
              <a:buFont typeface="Wingdings" pitchFamily="2" charset="2"/>
              <a:buNone/>
              <a:defRPr/>
            </a:pPr>
            <a:r>
              <a:rPr lang="zh-TW" altLang="en-US" dirty="0" smtClean="0">
                <a:latin typeface="黑体" pitchFamily="2" charset="-122"/>
                <a:ea typeface="黑体" pitchFamily="2" charset="-122"/>
              </a:rPr>
              <a:t> </a:t>
            </a:r>
            <a:endParaRPr lang="zh-TW" altLang="zh-CN" dirty="0" smtClean="0">
              <a:latin typeface="黑体" pitchFamily="2" charset="-122"/>
              <a:ea typeface="黑体" pitchFamily="2" charset="-122"/>
            </a:endParaRPr>
          </a:p>
          <a:p>
            <a:pPr marL="363538" indent="-363538" eaLnBrk="1" hangingPunct="1">
              <a:buFont typeface="Wingdings" pitchFamily="2" charset="2"/>
              <a:buNone/>
              <a:defRPr/>
            </a:pPr>
            <a:endParaRPr lang="zh-TW" altLang="en-US" dirty="0" smtClean="0">
              <a:latin typeface="黑体" pitchFamily="2" charset="-122"/>
              <a:ea typeface="黑体" pitchFamily="2" charset="-122"/>
            </a:endParaRPr>
          </a:p>
          <a:p>
            <a:pPr marL="363538" indent="-363538" eaLnBrk="1" hangingPunct="1">
              <a:buFont typeface="Wingdings" pitchFamily="2" charset="2"/>
              <a:buNone/>
              <a:defRPr/>
            </a:pPr>
            <a:endParaRPr lang="zh-TW" altLang="en-US" dirty="0" smtClean="0">
              <a:latin typeface="黑体" pitchFamily="2" charset="-122"/>
              <a:ea typeface="黑体" pitchFamily="2" charset="-122"/>
            </a:endParaRPr>
          </a:p>
        </p:txBody>
      </p:sp>
      <p:pic>
        <p:nvPicPr>
          <p:cNvPr id="26630" name="Picture 40" descr="C:\Documents and Settings\s10457\桌面\色度學\色度學資料庫\彩色原理2.files\color3.files\fig3-3.jpg"/>
          <p:cNvPicPr>
            <a:picLocks noChangeAspect="1" noChangeArrowheads="1"/>
          </p:cNvPicPr>
          <p:nvPr/>
        </p:nvPicPr>
        <p:blipFill>
          <a:blip r:embed="rId2" r:link="rId3">
            <a:lum bright="60000"/>
          </a:blip>
          <a:srcRect/>
          <a:stretch>
            <a:fillRect/>
          </a:stretch>
        </p:blipFill>
        <p:spPr bwMode="auto">
          <a:xfrm>
            <a:off x="1144588" y="4065588"/>
            <a:ext cx="6335712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631" name="Picture 43" descr="C:\Documents and Settings\s10457\桌面\色度學\色度學資料庫\彩色原理2.files\color3.files\fig3-3.jpg"/>
          <p:cNvPicPr>
            <a:picLocks noChangeAspect="1" noChangeArrowheads="1"/>
          </p:cNvPicPr>
          <p:nvPr/>
        </p:nvPicPr>
        <p:blipFill>
          <a:blip r:embed="rId2" r:link="rId3"/>
          <a:srcRect/>
          <a:stretch>
            <a:fillRect/>
          </a:stretch>
        </p:blipFill>
        <p:spPr bwMode="auto">
          <a:xfrm>
            <a:off x="1144588" y="4500563"/>
            <a:ext cx="6335712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632" name="Picture 44" descr="C:\Documents and Settings\s10457\桌面\色度學\色度學資料庫\彩色原理2.files\color3.files\fig3-3.jpg"/>
          <p:cNvPicPr>
            <a:picLocks noChangeAspect="1" noChangeArrowheads="1"/>
          </p:cNvPicPr>
          <p:nvPr/>
        </p:nvPicPr>
        <p:blipFill>
          <a:blip r:embed="rId2" r:link="rId3">
            <a:lum bright="-60000"/>
          </a:blip>
          <a:srcRect/>
          <a:stretch>
            <a:fillRect/>
          </a:stretch>
        </p:blipFill>
        <p:spPr bwMode="auto">
          <a:xfrm>
            <a:off x="1144588" y="4964113"/>
            <a:ext cx="6335712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 Box 45"/>
          <p:cNvSpPr txBox="1">
            <a:spLocks noChangeArrowheads="1"/>
          </p:cNvSpPr>
          <p:nvPr/>
        </p:nvSpPr>
        <p:spPr bwMode="auto">
          <a:xfrm>
            <a:off x="7635875" y="4070350"/>
            <a:ext cx="857250" cy="1192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80%</a:t>
            </a:r>
          </a:p>
          <a:p>
            <a:pPr>
              <a:spcBef>
                <a:spcPct val="50000"/>
              </a:spcBef>
              <a:defRPr/>
            </a:pPr>
            <a:r>
              <a:rPr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50%</a:t>
            </a:r>
          </a:p>
          <a:p>
            <a:pPr>
              <a:spcBef>
                <a:spcPct val="50000"/>
              </a:spcBef>
              <a:defRPr/>
            </a:pPr>
            <a:r>
              <a:rPr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20%</a:t>
            </a:r>
          </a:p>
        </p:txBody>
      </p:sp>
    </p:spTree>
  </p:cSld>
  <p:clrMapOvr>
    <a:masterClrMapping/>
  </p:clrMapOvr>
  <p:transition>
    <p:circl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CA836E94-14B7-4889-9B61-0CCF1A66391C}" type="datetime1">
              <a:rPr lang="zh-CN" altLang="en-US" smtClean="0">
                <a:ea typeface="宋体" charset="-122"/>
              </a:rPr>
              <a:pPr/>
              <a:t>2018/2/24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27651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B16D4A3-C0DF-4B2C-A822-FA4C77F74589}" type="slidenum">
              <a:rPr lang="en-US" altLang="zh-CN" smtClean="0">
                <a:ea typeface="宋体" charset="-122"/>
              </a:rPr>
              <a:pPr/>
              <a:t>10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49152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66713" y="306388"/>
            <a:ext cx="8270875" cy="839787"/>
          </a:xfrm>
        </p:spPr>
        <p:txBody>
          <a:bodyPr/>
          <a:lstStyle/>
          <a:p>
            <a:pPr eaLnBrk="1" fontAlgn="b" hangingPunct="1">
              <a:defRPr/>
            </a:pPr>
            <a:r>
              <a:rPr lang="en-US" altLang="zh-CN" sz="40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§4-1 </a:t>
            </a:r>
            <a:r>
              <a:rPr lang="zh-CN" altLang="en-US" sz="40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色度学的基本概念和实验定律</a:t>
            </a:r>
            <a:r>
              <a:rPr lang="zh-CN" altLang="en-US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 </a:t>
            </a:r>
          </a:p>
        </p:txBody>
      </p:sp>
      <p:sp>
        <p:nvSpPr>
          <p:cNvPr id="491523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296863" y="1349375"/>
            <a:ext cx="8550275" cy="4805363"/>
          </a:xfrm>
        </p:spPr>
        <p:txBody>
          <a:bodyPr/>
          <a:lstStyle/>
          <a:p>
            <a:pPr marL="363538" indent="-363538" eaLnBrk="1" hangingPunct="1">
              <a:lnSpc>
                <a:spcPct val="115000"/>
              </a:lnSpc>
              <a:buFont typeface="Wingdings" pitchFamily="2" charset="2"/>
              <a:buNone/>
              <a:defRPr/>
            </a:pPr>
            <a:r>
              <a:rPr lang="en-US" altLang="zh-CN" dirty="0" smtClean="0">
                <a:latin typeface="Times New Roman" pitchFamily="18" charset="0"/>
                <a:ea typeface="黑体" pitchFamily="2" charset="-122"/>
              </a:rPr>
              <a:t>1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．颜色混合定律</a:t>
            </a:r>
            <a:r>
              <a:rPr lang="en-US" altLang="zh-CN" dirty="0" smtClean="0">
                <a:latin typeface="Times New Roman" pitchFamily="18" charset="0"/>
                <a:ea typeface="黑体" pitchFamily="2" charset="-122"/>
              </a:rPr>
              <a:t>—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格拉斯曼</a:t>
            </a:r>
            <a:r>
              <a:rPr lang="en-US" altLang="zh-CN" dirty="0" smtClean="0">
                <a:latin typeface="Times New Roman" pitchFamily="18" charset="0"/>
                <a:ea typeface="黑体" pitchFamily="2" charset="-122"/>
              </a:rPr>
              <a:t>(</a:t>
            </a:r>
            <a:r>
              <a:rPr lang="en-US" altLang="zh-CN" dirty="0" err="1" smtClean="0">
                <a:latin typeface="Times New Roman" pitchFamily="18" charset="0"/>
                <a:ea typeface="黑体" pitchFamily="2" charset="-122"/>
              </a:rPr>
              <a:t>H.Grassman</a:t>
            </a:r>
            <a:r>
              <a:rPr lang="en-US" altLang="zh-CN" dirty="0" smtClean="0">
                <a:latin typeface="Times New Roman" pitchFamily="18" charset="0"/>
                <a:ea typeface="黑体" pitchFamily="2" charset="-122"/>
              </a:rPr>
              <a:t>)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颜色混合定律</a:t>
            </a:r>
            <a:endParaRPr lang="en-US" altLang="zh-CN" dirty="0" smtClean="0">
              <a:latin typeface="Times New Roman" pitchFamily="18" charset="0"/>
              <a:ea typeface="黑体" pitchFamily="2" charset="-122"/>
            </a:endParaRPr>
          </a:p>
          <a:p>
            <a:pPr marL="363538" indent="-363538" eaLnBrk="1" hangingPunct="1">
              <a:defRPr/>
            </a:pPr>
            <a:r>
              <a:rPr lang="en-US" altLang="zh-CN" dirty="0" smtClean="0">
                <a:latin typeface="Times New Roman" pitchFamily="18" charset="0"/>
                <a:ea typeface="黑体" pitchFamily="2" charset="-122"/>
              </a:rPr>
              <a:t>(1) 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颜色的属性</a:t>
            </a:r>
          </a:p>
          <a:p>
            <a:pPr marL="363538" indent="-363538" eaLnBrk="1" hangingPunct="1">
              <a:defRPr/>
            </a:pPr>
            <a:r>
              <a:rPr lang="zh-CN" altLang="en-US" dirty="0" smtClean="0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色调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是指彩色彼此相互区分的特性。可见光谱中不同波长的辐射在视觉上表现为各种色调，如红、橙、黄、绿、青、蓝、紫等。</a:t>
            </a:r>
          </a:p>
          <a:p>
            <a:pPr marL="363538" indent="-363538" eaLnBrk="1" hangingPunct="1">
              <a:defRPr/>
            </a:pPr>
            <a:endParaRPr lang="en-US" altLang="zh-CN" dirty="0" smtClean="0">
              <a:latin typeface="Times New Roman" pitchFamily="18" charset="0"/>
              <a:ea typeface="黑体" pitchFamily="2" charset="-122"/>
            </a:endParaRPr>
          </a:p>
          <a:p>
            <a:pPr marL="363538" indent="-363538" eaLnBrk="1" hangingPunct="1">
              <a:defRPr/>
            </a:pPr>
            <a:endParaRPr lang="en-US" altLang="zh-CN" dirty="0" smtClean="0">
              <a:solidFill>
                <a:srgbClr val="FF0000"/>
              </a:solidFill>
              <a:latin typeface="Times New Roman" pitchFamily="18" charset="0"/>
              <a:ea typeface="黑体" pitchFamily="2" charset="-122"/>
            </a:endParaRPr>
          </a:p>
          <a:p>
            <a:pPr marL="363538" indent="-363538" eaLnBrk="1" hangingPunct="1">
              <a:defRPr/>
            </a:pPr>
            <a:r>
              <a:rPr lang="zh-CN" altLang="en-US" dirty="0" smtClean="0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彩度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表示物体颜色的浓淡程度或颜色的纯洁性，又称</a:t>
            </a:r>
            <a:r>
              <a:rPr lang="zh-CN" altLang="en-US" dirty="0" smtClean="0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饱和度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。物体色的彩度决定于物体表面反射光谱辐射的选择性程度。</a:t>
            </a:r>
          </a:p>
          <a:p>
            <a:pPr marL="363538" indent="-363538" eaLnBrk="1" hangingPunct="1">
              <a:defRPr/>
            </a:pPr>
            <a:endParaRPr lang="en-US" altLang="zh-CN" dirty="0" smtClean="0">
              <a:latin typeface="Times New Roman" pitchFamily="18" charset="0"/>
              <a:ea typeface="黑体" pitchFamily="2" charset="-122"/>
            </a:endParaRPr>
          </a:p>
        </p:txBody>
      </p:sp>
      <p:pic>
        <p:nvPicPr>
          <p:cNvPr id="27654" name="Picture 41" descr="C:\Documents and Settings\s10457\桌面\色度學\色度學資料庫\彩色原理2.files\color3.files\fig3-3.jpg"/>
          <p:cNvPicPr>
            <a:picLocks noChangeAspect="1" noChangeArrowheads="1"/>
          </p:cNvPicPr>
          <p:nvPr/>
        </p:nvPicPr>
        <p:blipFill>
          <a:blip r:embed="rId2" r:link="rId3"/>
          <a:srcRect/>
          <a:stretch>
            <a:fillRect/>
          </a:stretch>
        </p:blipFill>
        <p:spPr bwMode="auto">
          <a:xfrm>
            <a:off x="1133475" y="3613150"/>
            <a:ext cx="71628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655" name="Rectangle 7"/>
          <p:cNvSpPr>
            <a:spLocks noChangeArrowheads="1"/>
          </p:cNvSpPr>
          <p:nvPr/>
        </p:nvSpPr>
        <p:spPr bwMode="auto">
          <a:xfrm>
            <a:off x="1539875" y="5340350"/>
            <a:ext cx="6778625" cy="465138"/>
          </a:xfrm>
          <a:prstGeom prst="rect">
            <a:avLst/>
          </a:prstGeom>
          <a:gradFill rotWithShape="1">
            <a:gsLst>
              <a:gs pos="0">
                <a:srgbClr val="FF0000"/>
              </a:gs>
              <a:gs pos="100000">
                <a:schemeClr val="bg1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1550988" y="5916613"/>
            <a:ext cx="6778625" cy="465137"/>
          </a:xfrm>
          <a:prstGeom prst="rect">
            <a:avLst/>
          </a:prstGeom>
          <a:gradFill flip="none" rotWithShape="1">
            <a:gsLst>
              <a:gs pos="36000">
                <a:srgbClr val="00FF00"/>
              </a:gs>
              <a:gs pos="0">
                <a:schemeClr val="bg1"/>
              </a:gs>
              <a:gs pos="100000">
                <a:srgbClr val="00FF00"/>
              </a:gs>
            </a:gsLst>
            <a:lin ang="0" scaled="0"/>
            <a:tileRect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</p:spTree>
  </p:cSld>
  <p:clrMapOvr>
    <a:masterClrMapping/>
  </p:clrMapOvr>
  <p:transition>
    <p:circl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3D2AF299-226F-4ED8-A441-968B4C812D12}" type="datetime1">
              <a:rPr lang="zh-CN" altLang="en-US" smtClean="0">
                <a:ea typeface="宋体" charset="-122"/>
              </a:rPr>
              <a:pPr/>
              <a:t>2018/2/24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28675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B73DF32-177E-43E2-8B61-F40BEE621601}" type="slidenum">
              <a:rPr lang="en-US" altLang="zh-CN" smtClean="0">
                <a:ea typeface="宋体" charset="-122"/>
              </a:rPr>
              <a:pPr/>
              <a:t>11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49254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66713" y="306388"/>
            <a:ext cx="8270875" cy="839787"/>
          </a:xfrm>
        </p:spPr>
        <p:txBody>
          <a:bodyPr/>
          <a:lstStyle/>
          <a:p>
            <a:pPr eaLnBrk="1" fontAlgn="b" hangingPunct="1">
              <a:defRPr/>
            </a:pPr>
            <a:r>
              <a:rPr lang="en-US" altLang="zh-CN" sz="40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§4-1 </a:t>
            </a:r>
            <a:r>
              <a:rPr lang="zh-CN" altLang="en-US" sz="40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色度学的基本概念和实验定律</a:t>
            </a:r>
            <a:r>
              <a:rPr lang="zh-CN" altLang="en-US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 </a:t>
            </a:r>
          </a:p>
        </p:txBody>
      </p:sp>
      <p:sp>
        <p:nvSpPr>
          <p:cNvPr id="492547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296863" y="1349375"/>
            <a:ext cx="8550275" cy="4805363"/>
          </a:xfrm>
        </p:spPr>
        <p:txBody>
          <a:bodyPr/>
          <a:lstStyle/>
          <a:p>
            <a:pPr marL="363538" indent="-363538" eaLnBrk="1" hangingPunct="1">
              <a:lnSpc>
                <a:spcPct val="115000"/>
              </a:lnSpc>
              <a:buFont typeface="Wingdings" pitchFamily="2" charset="2"/>
              <a:buNone/>
              <a:defRPr/>
            </a:pPr>
            <a:r>
              <a:rPr lang="en-US" altLang="zh-CN" dirty="0" smtClean="0">
                <a:latin typeface="Times New Roman" pitchFamily="18" charset="0"/>
                <a:ea typeface="黑体" pitchFamily="2" charset="-122"/>
              </a:rPr>
              <a:t>1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．颜色混合定律</a:t>
            </a:r>
            <a:r>
              <a:rPr lang="en-US" altLang="zh-CN" dirty="0" smtClean="0">
                <a:latin typeface="Times New Roman" pitchFamily="18" charset="0"/>
                <a:ea typeface="黑体" pitchFamily="2" charset="-122"/>
              </a:rPr>
              <a:t>—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格拉斯曼</a:t>
            </a:r>
            <a:r>
              <a:rPr lang="en-US" altLang="zh-CN" dirty="0" smtClean="0">
                <a:latin typeface="Times New Roman" pitchFamily="18" charset="0"/>
                <a:ea typeface="黑体" pitchFamily="2" charset="-122"/>
              </a:rPr>
              <a:t>(</a:t>
            </a:r>
            <a:r>
              <a:rPr lang="en-US" altLang="zh-CN" dirty="0" err="1" smtClean="0">
                <a:latin typeface="Times New Roman" pitchFamily="18" charset="0"/>
                <a:ea typeface="黑体" pitchFamily="2" charset="-122"/>
              </a:rPr>
              <a:t>H.Grassman</a:t>
            </a:r>
            <a:r>
              <a:rPr lang="en-US" altLang="zh-CN" dirty="0" smtClean="0">
                <a:latin typeface="Times New Roman" pitchFamily="18" charset="0"/>
                <a:ea typeface="黑体" pitchFamily="2" charset="-122"/>
              </a:rPr>
              <a:t>)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颜色混合定律</a:t>
            </a:r>
            <a:endParaRPr lang="en-US" altLang="zh-CN" dirty="0" smtClean="0">
              <a:latin typeface="Times New Roman" pitchFamily="18" charset="0"/>
              <a:ea typeface="黑体" pitchFamily="2" charset="-122"/>
            </a:endParaRPr>
          </a:p>
          <a:p>
            <a:pPr marL="363538" indent="-363538" eaLnBrk="1" hangingPunct="1">
              <a:buFont typeface="Wingdings" pitchFamily="2" charset="2"/>
              <a:buNone/>
              <a:defRPr/>
            </a:pPr>
            <a:endParaRPr lang="en-US" altLang="zh-CN" dirty="0" smtClean="0">
              <a:latin typeface="Times New Roman" pitchFamily="18" charset="0"/>
              <a:ea typeface="黑体" pitchFamily="2" charset="-122"/>
            </a:endParaRPr>
          </a:p>
          <a:p>
            <a:pPr marL="363538" indent="-363538" eaLnBrk="1" hangingPunct="1">
              <a:buFont typeface="Wingdings" pitchFamily="2" charset="2"/>
              <a:buNone/>
              <a:defRPr/>
            </a:pPr>
            <a:r>
              <a:rPr lang="en-US" altLang="zh-CN" dirty="0" smtClean="0">
                <a:latin typeface="Times New Roman" pitchFamily="18" charset="0"/>
                <a:ea typeface="黑体" pitchFamily="2" charset="-122"/>
              </a:rPr>
              <a:t>(2)  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补色律和中间色律  </a:t>
            </a:r>
          </a:p>
          <a:p>
            <a:pPr marL="363538" indent="-363538" eaLnBrk="1" hangingPunct="1">
              <a:defRPr/>
            </a:pP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在由两个成分组成的混合色中，如果一个成分连续变化，混合色的外貌也连续地变化。由此导出两个定律：补色律和中间色律。</a:t>
            </a:r>
          </a:p>
          <a:p>
            <a:pPr marL="363538" indent="-363538" eaLnBrk="1" hangingPunct="1">
              <a:defRPr/>
            </a:pPr>
            <a:r>
              <a:rPr lang="zh-CN" altLang="en-US" dirty="0" smtClean="0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补色律：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每种颜色都有一个相应的补色；某一颜色与其补色以适当比例混合，便产生白色或灰色；以其它比例混合，便产生近似比重大的颜色成分的中间色。</a:t>
            </a:r>
          </a:p>
          <a:p>
            <a:pPr marL="363538" indent="-363538" eaLnBrk="1" hangingPunct="1">
              <a:defRPr/>
            </a:pPr>
            <a:r>
              <a:rPr lang="zh-CN" altLang="en-US" dirty="0" smtClean="0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中间色律：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任何两个非补色混合，便产生中间色，其色调决定于两个颜色的相对数量，其彩度主要决定于两者在色调顺序上的远近。 </a:t>
            </a:r>
          </a:p>
        </p:txBody>
      </p:sp>
    </p:spTree>
  </p:cSld>
  <p:clrMapOvr>
    <a:masterClrMapping/>
  </p:clrMapOvr>
  <p:transition>
    <p:circl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668AC274-F294-4C95-8610-C22C59EE6B7F}" type="datetime1">
              <a:rPr lang="zh-CN" altLang="en-US" smtClean="0">
                <a:ea typeface="宋体" charset="-122"/>
              </a:rPr>
              <a:pPr/>
              <a:t>2018/2/24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29699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8EB770F-61F5-432D-8182-CA32D188F845}" type="slidenum">
              <a:rPr lang="en-US" altLang="zh-CN" smtClean="0">
                <a:ea typeface="宋体" charset="-122"/>
              </a:rPr>
              <a:pPr/>
              <a:t>12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49357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66713" y="306388"/>
            <a:ext cx="8270875" cy="839787"/>
          </a:xfrm>
        </p:spPr>
        <p:txBody>
          <a:bodyPr/>
          <a:lstStyle/>
          <a:p>
            <a:pPr eaLnBrk="1" fontAlgn="b" hangingPunct="1">
              <a:defRPr/>
            </a:pPr>
            <a:r>
              <a:rPr lang="en-US" altLang="zh-CN" sz="40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§4-1 </a:t>
            </a:r>
            <a:r>
              <a:rPr lang="zh-CN" altLang="en-US" sz="40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色度学的基本概念和实验定律</a:t>
            </a:r>
            <a:r>
              <a:rPr lang="zh-CN" altLang="en-US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 </a:t>
            </a:r>
          </a:p>
        </p:txBody>
      </p:sp>
      <p:sp>
        <p:nvSpPr>
          <p:cNvPr id="493571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296863" y="1349375"/>
            <a:ext cx="8550275" cy="4805363"/>
          </a:xfrm>
        </p:spPr>
        <p:txBody>
          <a:bodyPr/>
          <a:lstStyle/>
          <a:p>
            <a:pPr marL="363538" indent="-363538" eaLnBrk="1" hangingPunct="1">
              <a:lnSpc>
                <a:spcPct val="115000"/>
              </a:lnSpc>
              <a:buFont typeface="Wingdings" pitchFamily="2" charset="2"/>
              <a:buNone/>
              <a:defRPr/>
            </a:pPr>
            <a:r>
              <a:rPr lang="en-US" altLang="zh-CN" dirty="0" smtClean="0">
                <a:latin typeface="Times New Roman" pitchFamily="18" charset="0"/>
                <a:ea typeface="黑体" pitchFamily="2" charset="-122"/>
              </a:rPr>
              <a:t>1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．颜色混合定律</a:t>
            </a:r>
            <a:r>
              <a:rPr lang="en-US" altLang="zh-CN" dirty="0" smtClean="0">
                <a:latin typeface="Times New Roman" pitchFamily="18" charset="0"/>
                <a:ea typeface="黑体" pitchFamily="2" charset="-122"/>
              </a:rPr>
              <a:t>—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格拉斯曼</a:t>
            </a:r>
            <a:r>
              <a:rPr lang="en-US" altLang="zh-CN" dirty="0" smtClean="0">
                <a:latin typeface="Times New Roman" pitchFamily="18" charset="0"/>
                <a:ea typeface="黑体" pitchFamily="2" charset="-122"/>
              </a:rPr>
              <a:t>(</a:t>
            </a:r>
            <a:r>
              <a:rPr lang="en-US" altLang="zh-CN" dirty="0" err="1" smtClean="0">
                <a:latin typeface="Times New Roman" pitchFamily="18" charset="0"/>
                <a:ea typeface="黑体" pitchFamily="2" charset="-122"/>
              </a:rPr>
              <a:t>H.Grassman</a:t>
            </a:r>
            <a:r>
              <a:rPr lang="en-US" altLang="zh-CN" dirty="0" smtClean="0">
                <a:latin typeface="Times New Roman" pitchFamily="18" charset="0"/>
                <a:ea typeface="黑体" pitchFamily="2" charset="-122"/>
              </a:rPr>
              <a:t>)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颜色混合定律</a:t>
            </a:r>
            <a:endParaRPr lang="en-US" altLang="zh-CN" dirty="0" smtClean="0">
              <a:latin typeface="Times New Roman" pitchFamily="18" charset="0"/>
              <a:ea typeface="黑体" pitchFamily="2" charset="-122"/>
            </a:endParaRPr>
          </a:p>
          <a:p>
            <a:pPr marL="363538" indent="-363538" eaLnBrk="1" hangingPunct="1">
              <a:lnSpc>
                <a:spcPct val="115000"/>
              </a:lnSpc>
              <a:buFont typeface="Wingdings" pitchFamily="2" charset="2"/>
              <a:buNone/>
              <a:defRPr/>
            </a:pPr>
            <a:r>
              <a:rPr lang="en-US" altLang="zh-CN" dirty="0" smtClean="0">
                <a:latin typeface="Times New Roman" pitchFamily="18" charset="0"/>
                <a:ea typeface="黑体" pitchFamily="2" charset="-122"/>
              </a:rPr>
              <a:t> </a:t>
            </a:r>
            <a:endParaRPr lang="zh-CN" altLang="en-US" dirty="0" smtClean="0">
              <a:latin typeface="Times New Roman" pitchFamily="18" charset="0"/>
              <a:ea typeface="黑体" pitchFamily="2" charset="-122"/>
            </a:endParaRPr>
          </a:p>
          <a:p>
            <a:pPr marL="363538" indent="-363538" eaLnBrk="1" hangingPunct="1">
              <a:buFont typeface="Wingdings" pitchFamily="2" charset="2"/>
              <a:buNone/>
              <a:defRPr/>
            </a:pPr>
            <a:r>
              <a:rPr lang="en-US" altLang="zh-CN" dirty="0" smtClean="0">
                <a:latin typeface="Times New Roman" pitchFamily="18" charset="0"/>
                <a:ea typeface="黑体" pitchFamily="2" charset="-122"/>
              </a:rPr>
              <a:t>(3)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代替律</a:t>
            </a:r>
          </a:p>
          <a:p>
            <a:pPr marL="363538" indent="-363538" eaLnBrk="1" hangingPunct="1">
              <a:defRPr/>
            </a:pPr>
            <a:r>
              <a:rPr lang="zh-CN" altLang="en-US" dirty="0" smtClean="0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代替律：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相似色（即外貌相同的颜色）混合后仍相似。</a:t>
            </a:r>
          </a:p>
          <a:p>
            <a:pPr marL="363538" indent="-363538" eaLnBrk="1" hangingPunct="1">
              <a:defRPr/>
            </a:pP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如果颜色</a:t>
            </a:r>
            <a:r>
              <a:rPr lang="en-US" altLang="zh-CN" i="1" dirty="0" smtClean="0">
                <a:latin typeface="Times New Roman" pitchFamily="18" charset="0"/>
                <a:ea typeface="黑体" pitchFamily="2" charset="-122"/>
              </a:rPr>
              <a:t>A</a:t>
            </a:r>
            <a:r>
              <a:rPr lang="en-US" altLang="zh-CN" dirty="0" smtClean="0">
                <a:latin typeface="Times New Roman" pitchFamily="18" charset="0"/>
                <a:ea typeface="黑体" pitchFamily="2" charset="-122"/>
              </a:rPr>
              <a:t>=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颜色</a:t>
            </a:r>
            <a:r>
              <a:rPr lang="en-US" altLang="zh-CN" i="1" dirty="0" smtClean="0">
                <a:latin typeface="Times New Roman" pitchFamily="18" charset="0"/>
                <a:ea typeface="黑体" pitchFamily="2" charset="-122"/>
              </a:rPr>
              <a:t>B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，颜色</a:t>
            </a:r>
            <a:r>
              <a:rPr lang="en-US" altLang="zh-CN" i="1" dirty="0" smtClean="0">
                <a:latin typeface="Times New Roman" pitchFamily="18" charset="0"/>
                <a:ea typeface="黑体" pitchFamily="2" charset="-122"/>
              </a:rPr>
              <a:t>C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＝颜色</a:t>
            </a:r>
            <a:r>
              <a:rPr lang="en-US" altLang="zh-CN" i="1" dirty="0" smtClean="0">
                <a:latin typeface="Times New Roman" pitchFamily="18" charset="0"/>
                <a:ea typeface="黑体" pitchFamily="2" charset="-122"/>
              </a:rPr>
              <a:t>D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，那么</a:t>
            </a:r>
          </a:p>
          <a:p>
            <a:pPr marL="363538" indent="-363538" algn="ctr" eaLnBrk="1" hangingPunct="1">
              <a:buFont typeface="Wingdings" pitchFamily="2" charset="2"/>
              <a:buNone/>
              <a:defRPr/>
            </a:pP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颜色</a:t>
            </a:r>
            <a:r>
              <a:rPr lang="en-US" altLang="zh-CN" i="1" dirty="0" smtClean="0">
                <a:latin typeface="Times New Roman" pitchFamily="18" charset="0"/>
                <a:ea typeface="黑体" pitchFamily="2" charset="-122"/>
              </a:rPr>
              <a:t>A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＋颜色</a:t>
            </a:r>
            <a:r>
              <a:rPr lang="en-US" altLang="zh-CN" i="1" dirty="0" smtClean="0">
                <a:latin typeface="Times New Roman" pitchFamily="18" charset="0"/>
                <a:ea typeface="黑体" pitchFamily="2" charset="-122"/>
              </a:rPr>
              <a:t>C </a:t>
            </a:r>
            <a:r>
              <a:rPr lang="en-US" altLang="zh-CN" dirty="0" smtClean="0">
                <a:latin typeface="Times New Roman" pitchFamily="18" charset="0"/>
                <a:ea typeface="黑体" pitchFamily="2" charset="-122"/>
              </a:rPr>
              <a:t>= 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颜色</a:t>
            </a:r>
            <a:r>
              <a:rPr lang="en-US" altLang="zh-CN" i="1" dirty="0" smtClean="0">
                <a:latin typeface="Times New Roman" pitchFamily="18" charset="0"/>
                <a:ea typeface="黑体" pitchFamily="2" charset="-122"/>
              </a:rPr>
              <a:t>B</a:t>
            </a:r>
            <a:r>
              <a:rPr lang="en-US" altLang="zh-CN" dirty="0" smtClean="0">
                <a:latin typeface="Times New Roman" pitchFamily="18" charset="0"/>
                <a:ea typeface="黑体" pitchFamily="2" charset="-122"/>
              </a:rPr>
              <a:t>+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颜色</a:t>
            </a:r>
            <a:r>
              <a:rPr lang="en-US" altLang="zh-CN" i="1" dirty="0" smtClean="0">
                <a:latin typeface="Times New Roman" pitchFamily="18" charset="0"/>
                <a:ea typeface="黑体" pitchFamily="2" charset="-122"/>
              </a:rPr>
              <a:t>D</a:t>
            </a:r>
            <a:endParaRPr lang="en-US" altLang="zh-CN" dirty="0" smtClean="0">
              <a:latin typeface="Times New Roman" pitchFamily="18" charset="0"/>
              <a:ea typeface="黑体" pitchFamily="2" charset="-122"/>
            </a:endParaRPr>
          </a:p>
          <a:p>
            <a:pPr marL="363538" indent="-363538" eaLnBrk="1" hangingPunct="1">
              <a:defRPr/>
            </a:pP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根据代替律，可以利用颜色混合的方法来产生或代替所需要的各种颜色。它是一条非常重要的定律。</a:t>
            </a:r>
          </a:p>
          <a:p>
            <a:pPr marL="363538" indent="-363538" eaLnBrk="1" hangingPunct="1">
              <a:buFont typeface="Wingdings" pitchFamily="2" charset="2"/>
              <a:buNone/>
              <a:defRPr/>
            </a:pPr>
            <a:r>
              <a:rPr lang="en-US" altLang="zh-CN" dirty="0" smtClean="0">
                <a:latin typeface="Times New Roman" pitchFamily="18" charset="0"/>
                <a:ea typeface="黑体" pitchFamily="2" charset="-122"/>
              </a:rPr>
              <a:t>(4)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亮度相加律</a:t>
            </a:r>
          </a:p>
          <a:p>
            <a:pPr marL="363538" indent="-363538" eaLnBrk="1" hangingPunct="1">
              <a:defRPr/>
            </a:pPr>
            <a:r>
              <a:rPr lang="zh-CN" altLang="en-US" dirty="0" smtClean="0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亮度相加律：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混合色的总亮度等于组成混合色的各颜色光亮度的总和。</a:t>
            </a:r>
          </a:p>
        </p:txBody>
      </p:sp>
      <p:sp>
        <p:nvSpPr>
          <p:cNvPr id="493577" name="AutoShape 9"/>
          <p:cNvSpPr>
            <a:spLocks noChangeArrowheads="1"/>
          </p:cNvSpPr>
          <p:nvPr/>
        </p:nvSpPr>
        <p:spPr bwMode="auto">
          <a:xfrm>
            <a:off x="1249363" y="304800"/>
            <a:ext cx="6318250" cy="6319838"/>
          </a:xfrm>
          <a:prstGeom prst="star8">
            <a:avLst>
              <a:gd name="adj" fmla="val 3825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zh-CN" altLang="en-US" sz="2400" b="1">
                <a:effectLst>
                  <a:outerShdw blurRad="38100" dist="38100" dir="2700000" algn="tl">
                    <a:srgbClr val="FFFFFF"/>
                  </a:outerShdw>
                </a:effectLst>
                <a:ea typeface="黑体" pitchFamily="2" charset="-122"/>
              </a:rPr>
              <a:t>以上所说的格拉斯曼颜色混合</a:t>
            </a:r>
          </a:p>
          <a:p>
            <a:pPr algn="ctr">
              <a:defRPr/>
            </a:pPr>
            <a:r>
              <a:rPr lang="zh-CN" altLang="en-US" sz="2400" b="1">
                <a:effectLst>
                  <a:outerShdw blurRad="38100" dist="38100" dir="2700000" algn="tl">
                    <a:srgbClr val="FFFFFF"/>
                  </a:outerShdw>
                </a:effectLst>
                <a:ea typeface="黑体" pitchFamily="2" charset="-122"/>
              </a:rPr>
              <a:t>定律是色度学的</a:t>
            </a:r>
            <a:r>
              <a:rPr lang="zh-CN" altLang="en-US"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itchFamily="2" charset="-122"/>
              </a:rPr>
              <a:t>一般规律</a:t>
            </a:r>
            <a:r>
              <a:rPr lang="zh-CN" altLang="en-US" sz="2400" b="1">
                <a:effectLst>
                  <a:outerShdw blurRad="38100" dist="38100" dir="2700000" algn="tl">
                    <a:srgbClr val="FFFFFF"/>
                  </a:outerShdw>
                </a:effectLst>
                <a:ea typeface="黑体" pitchFamily="2" charset="-122"/>
              </a:rPr>
              <a:t>，适</a:t>
            </a:r>
          </a:p>
          <a:p>
            <a:pPr algn="ctr">
              <a:defRPr/>
            </a:pPr>
            <a:r>
              <a:rPr lang="zh-CN" altLang="en-US" sz="2400" b="1">
                <a:effectLst>
                  <a:outerShdw blurRad="38100" dist="38100" dir="2700000" algn="tl">
                    <a:srgbClr val="FFFFFF"/>
                  </a:outerShdw>
                </a:effectLst>
                <a:ea typeface="黑体" pitchFamily="2" charset="-122"/>
              </a:rPr>
              <a:t>用于各种</a:t>
            </a:r>
            <a:r>
              <a:rPr lang="zh-CN" altLang="en-US"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itchFamily="2" charset="-122"/>
              </a:rPr>
              <a:t>颜色光</a:t>
            </a:r>
            <a:r>
              <a:rPr lang="zh-CN" altLang="en-US" sz="2400" b="1">
                <a:effectLst>
                  <a:outerShdw blurRad="38100" dist="38100" dir="2700000" algn="tl">
                    <a:srgbClr val="FFFFFF"/>
                  </a:outerShdw>
                </a:effectLst>
                <a:ea typeface="黑体" pitchFamily="2" charset="-122"/>
              </a:rPr>
              <a:t>的相加混合，但</a:t>
            </a:r>
          </a:p>
          <a:p>
            <a:pPr algn="ctr">
              <a:defRPr/>
            </a:pPr>
            <a:r>
              <a:rPr lang="zh-CN" altLang="en-US" sz="2400" b="1">
                <a:effectLst>
                  <a:outerShdw blurRad="38100" dist="38100" dir="2700000" algn="tl">
                    <a:srgbClr val="FFFFFF"/>
                  </a:outerShdw>
                </a:effectLst>
                <a:ea typeface="黑体" pitchFamily="2" charset="-122"/>
              </a:rPr>
              <a:t>是这些规律不适用于</a:t>
            </a:r>
            <a:r>
              <a:rPr lang="zh-CN" altLang="en-US"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itchFamily="2" charset="-122"/>
              </a:rPr>
              <a:t>染料或涂</a:t>
            </a:r>
          </a:p>
          <a:p>
            <a:pPr algn="ctr">
              <a:defRPr/>
            </a:pPr>
            <a:r>
              <a:rPr lang="zh-CN" altLang="en-US"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itchFamily="2" charset="-122"/>
              </a:rPr>
              <a:t>料</a:t>
            </a:r>
            <a:r>
              <a:rPr lang="zh-CN" altLang="en-US" sz="2400" b="1">
                <a:effectLst>
                  <a:outerShdw blurRad="38100" dist="38100" dir="2700000" algn="tl">
                    <a:srgbClr val="FFFFFF"/>
                  </a:outerShdw>
                </a:effectLst>
                <a:ea typeface="黑体" pitchFamily="2" charset="-122"/>
              </a:rPr>
              <a:t>的混合，因为染料和涂料的</a:t>
            </a:r>
          </a:p>
          <a:p>
            <a:pPr algn="ctr">
              <a:defRPr/>
            </a:pPr>
            <a:r>
              <a:rPr lang="zh-CN" altLang="en-US" sz="2400" b="1">
                <a:effectLst>
                  <a:outerShdw blurRad="38100" dist="38100" dir="2700000" algn="tl">
                    <a:srgbClr val="FFFFFF"/>
                  </a:outerShdw>
                </a:effectLst>
                <a:ea typeface="黑体" pitchFamily="2" charset="-122"/>
              </a:rPr>
              <a:t>混合是颜色光的相减过程。</a:t>
            </a:r>
          </a:p>
          <a:p>
            <a:pPr algn="ctr">
              <a:defRPr/>
            </a:pPr>
            <a:endParaRPr lang="en-US" altLang="zh-CN" sz="2400" b="1">
              <a:effectLst>
                <a:outerShdw blurRad="38100" dist="38100" dir="2700000" algn="tl">
                  <a:srgbClr val="FFFFFF"/>
                </a:outerShdw>
              </a:effectLst>
              <a:ea typeface="黑体" pitchFamily="2" charset="-122"/>
            </a:endParaRPr>
          </a:p>
        </p:txBody>
      </p:sp>
      <p:pic>
        <p:nvPicPr>
          <p:cNvPr id="493575" name="Picture 7" descr="colmix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17775" y="4464050"/>
            <a:ext cx="1670050" cy="1150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93576" name="Picture 8" descr="C:\Documents and Settings\s10457\桌面\DCS\DSC資料庫\原色CCD 補色CCD 細部結構分析！數位攝影講座 第11講.files\id-1000.gif"/>
          <p:cNvPicPr>
            <a:picLocks noChangeAspect="1" noChangeArrowheads="1"/>
          </p:cNvPicPr>
          <p:nvPr/>
        </p:nvPicPr>
        <p:blipFill>
          <a:blip r:embed="rId3" r:link="rId4"/>
          <a:srcRect/>
          <a:stretch>
            <a:fillRect/>
          </a:stretch>
        </p:blipFill>
        <p:spPr bwMode="auto">
          <a:xfrm>
            <a:off x="4449763" y="4471988"/>
            <a:ext cx="1506537" cy="1154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35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35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935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935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935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935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357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131F9170-4A58-41FD-B7B1-46B7AC24F6BE}" type="datetime1">
              <a:rPr lang="zh-CN" altLang="en-US" smtClean="0">
                <a:ea typeface="宋体" charset="-122"/>
              </a:rPr>
              <a:pPr/>
              <a:t>2018/2/24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30723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3454A07-971E-48BD-859A-ECDA8811480D}" type="slidenum">
              <a:rPr lang="en-US" altLang="zh-CN" smtClean="0">
                <a:ea typeface="宋体" charset="-122"/>
              </a:rPr>
              <a:pPr/>
              <a:t>13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44134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66713" y="306388"/>
            <a:ext cx="8270875" cy="839787"/>
          </a:xfrm>
        </p:spPr>
        <p:txBody>
          <a:bodyPr/>
          <a:lstStyle/>
          <a:p>
            <a:pPr eaLnBrk="1" fontAlgn="b" hangingPunct="1">
              <a:defRPr/>
            </a:pPr>
            <a:r>
              <a:rPr lang="en-US" altLang="zh-CN" sz="40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§4-1 </a:t>
            </a:r>
            <a:r>
              <a:rPr lang="zh-CN" altLang="en-US" sz="40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色度学的基本概念和实验定律</a:t>
            </a:r>
            <a:r>
              <a:rPr lang="zh-CN" altLang="en-US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 </a:t>
            </a:r>
          </a:p>
        </p:txBody>
      </p:sp>
      <p:sp>
        <p:nvSpPr>
          <p:cNvPr id="441347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311150" y="1262063"/>
            <a:ext cx="8550275" cy="4805362"/>
          </a:xfrm>
        </p:spPr>
        <p:txBody>
          <a:bodyPr/>
          <a:lstStyle/>
          <a:p>
            <a:pPr eaLnBrk="1" hangingPunct="1">
              <a:lnSpc>
                <a:spcPct val="105000"/>
              </a:lnSpc>
              <a:buFont typeface="Wingdings" pitchFamily="2" charset="2"/>
              <a:buNone/>
              <a:defRPr/>
            </a:pPr>
            <a:r>
              <a:rPr lang="en-US" altLang="zh-CN" dirty="0" smtClean="0">
                <a:latin typeface="Times New Roman" pitchFamily="18" charset="0"/>
                <a:ea typeface="黑体" pitchFamily="2" charset="-122"/>
              </a:rPr>
              <a:t>2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．色度学中的基本概念</a:t>
            </a:r>
          </a:p>
          <a:p>
            <a:pPr eaLnBrk="1" hangingPunct="1">
              <a:lnSpc>
                <a:spcPct val="105000"/>
              </a:lnSpc>
              <a:buFont typeface="Wingdings" pitchFamily="2" charset="2"/>
              <a:buNone/>
              <a:defRPr/>
            </a:pPr>
            <a:r>
              <a:rPr lang="en-US" altLang="zh-CN" dirty="0" smtClean="0">
                <a:latin typeface="Times New Roman" pitchFamily="18" charset="0"/>
                <a:ea typeface="黑体" pitchFamily="2" charset="-122"/>
              </a:rPr>
              <a:t>1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）三原色</a:t>
            </a:r>
          </a:p>
          <a:p>
            <a:pPr eaLnBrk="1" hangingPunct="1">
              <a:lnSpc>
                <a:spcPct val="105000"/>
              </a:lnSpc>
              <a:defRPr/>
            </a:pP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把两个颜色调节到视觉上相同或相等的方法叫</a:t>
            </a:r>
            <a:r>
              <a:rPr lang="zh-CN" altLang="en-US" dirty="0" smtClean="0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颜色匹配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。</a:t>
            </a:r>
          </a:p>
        </p:txBody>
      </p:sp>
      <p:grpSp>
        <p:nvGrpSpPr>
          <p:cNvPr id="30726" name="Group 4"/>
          <p:cNvGrpSpPr>
            <a:grpSpLocks/>
          </p:cNvGrpSpPr>
          <p:nvPr/>
        </p:nvGrpSpPr>
        <p:grpSpPr bwMode="auto">
          <a:xfrm>
            <a:off x="1851025" y="2781300"/>
            <a:ext cx="4587875" cy="4332288"/>
            <a:chOff x="6345" y="3135"/>
            <a:chExt cx="4926" cy="4650"/>
          </a:xfrm>
        </p:grpSpPr>
        <p:sp>
          <p:nvSpPr>
            <p:cNvPr id="441349" name="Text Box 5"/>
            <p:cNvSpPr txBox="1">
              <a:spLocks noChangeArrowheads="1"/>
            </p:cNvSpPr>
            <p:nvPr/>
          </p:nvSpPr>
          <p:spPr bwMode="auto">
            <a:xfrm>
              <a:off x="7380" y="7230"/>
              <a:ext cx="3256" cy="5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zh-CN" altLang="zh-CN" sz="16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endParaRPr>
            </a:p>
          </p:txBody>
        </p:sp>
        <p:grpSp>
          <p:nvGrpSpPr>
            <p:cNvPr id="30728" name="Group 6"/>
            <p:cNvGrpSpPr>
              <a:grpSpLocks/>
            </p:cNvGrpSpPr>
            <p:nvPr/>
          </p:nvGrpSpPr>
          <p:grpSpPr bwMode="auto">
            <a:xfrm>
              <a:off x="6345" y="3135"/>
              <a:ext cx="4926" cy="3945"/>
              <a:chOff x="6345" y="3135"/>
              <a:chExt cx="4926" cy="3945"/>
            </a:xfrm>
          </p:grpSpPr>
          <p:grpSp>
            <p:nvGrpSpPr>
              <p:cNvPr id="30729" name="Group 7"/>
              <p:cNvGrpSpPr>
                <a:grpSpLocks/>
              </p:cNvGrpSpPr>
              <p:nvPr/>
            </p:nvGrpSpPr>
            <p:grpSpPr bwMode="auto">
              <a:xfrm>
                <a:off x="6748" y="3366"/>
                <a:ext cx="4523" cy="3452"/>
                <a:chOff x="2608" y="4911"/>
                <a:chExt cx="4523" cy="3452"/>
              </a:xfrm>
            </p:grpSpPr>
            <p:grpSp>
              <p:nvGrpSpPr>
                <p:cNvPr id="30742" name="Group 8"/>
                <p:cNvGrpSpPr>
                  <a:grpSpLocks/>
                </p:cNvGrpSpPr>
                <p:nvPr/>
              </p:nvGrpSpPr>
              <p:grpSpPr bwMode="auto">
                <a:xfrm rot="-2721326">
                  <a:off x="3792" y="5151"/>
                  <a:ext cx="690" cy="412"/>
                  <a:chOff x="6270" y="5738"/>
                  <a:chExt cx="690" cy="412"/>
                </a:xfrm>
              </p:grpSpPr>
              <p:sp>
                <p:nvSpPr>
                  <p:cNvPr id="30804" name="Oval 9"/>
                  <p:cNvSpPr>
                    <a:spLocks noChangeArrowheads="1"/>
                  </p:cNvSpPr>
                  <p:nvPr/>
                </p:nvSpPr>
                <p:spPr bwMode="auto">
                  <a:xfrm>
                    <a:off x="6270" y="5761"/>
                    <a:ext cx="98" cy="367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0805" name="Rectangle 10"/>
                  <p:cNvSpPr>
                    <a:spLocks noChangeArrowheads="1"/>
                  </p:cNvSpPr>
                  <p:nvPr/>
                </p:nvSpPr>
                <p:spPr bwMode="auto">
                  <a:xfrm>
                    <a:off x="6397" y="5738"/>
                    <a:ext cx="75" cy="412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30806" name="Group 11"/>
                  <p:cNvGrpSpPr>
                    <a:grpSpLocks/>
                  </p:cNvGrpSpPr>
                  <p:nvPr/>
                </p:nvGrpSpPr>
                <p:grpSpPr bwMode="auto">
                  <a:xfrm>
                    <a:off x="6817" y="5872"/>
                    <a:ext cx="143" cy="143"/>
                    <a:chOff x="6817" y="5865"/>
                    <a:chExt cx="143" cy="143"/>
                  </a:xfrm>
                </p:grpSpPr>
                <p:sp>
                  <p:nvSpPr>
                    <p:cNvPr id="30807" name="Oval 1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817" y="5865"/>
                      <a:ext cx="143" cy="143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0808" name="Line 13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6841" y="5888"/>
                      <a:ext cx="97" cy="97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0809" name="Line 1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841" y="5888"/>
                      <a:ext cx="97" cy="97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  <p:sp>
              <p:nvSpPr>
                <p:cNvPr id="30743" name="Line 15"/>
                <p:cNvSpPr>
                  <a:spLocks noChangeShapeType="1"/>
                </p:cNvSpPr>
                <p:nvPr/>
              </p:nvSpPr>
              <p:spPr bwMode="auto">
                <a:xfrm rot="-2721326">
                  <a:off x="3778" y="5247"/>
                  <a:ext cx="503" cy="15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44" name="Line 16"/>
                <p:cNvSpPr>
                  <a:spLocks noChangeShapeType="1"/>
                </p:cNvSpPr>
                <p:nvPr/>
              </p:nvSpPr>
              <p:spPr bwMode="auto">
                <a:xfrm rot="18878674" flipV="1">
                  <a:off x="3926" y="5406"/>
                  <a:ext cx="496" cy="12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45" name="Line 17"/>
                <p:cNvSpPr>
                  <a:spLocks noChangeShapeType="1"/>
                </p:cNvSpPr>
                <p:nvPr/>
              </p:nvSpPr>
              <p:spPr bwMode="auto">
                <a:xfrm rot="18878674" flipH="1">
                  <a:off x="2442" y="5982"/>
                  <a:ext cx="2142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46" name="Line 18"/>
                <p:cNvSpPr>
                  <a:spLocks noChangeShapeType="1"/>
                </p:cNvSpPr>
                <p:nvPr/>
              </p:nvSpPr>
              <p:spPr bwMode="auto">
                <a:xfrm rot="-2721326">
                  <a:off x="2536" y="5984"/>
                  <a:ext cx="1475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47" name="Line 19"/>
                <p:cNvSpPr>
                  <a:spLocks noChangeShapeType="1"/>
                </p:cNvSpPr>
                <p:nvPr/>
              </p:nvSpPr>
              <p:spPr bwMode="auto">
                <a:xfrm rot="18878674" flipH="1">
                  <a:off x="3453" y="5657"/>
                  <a:ext cx="285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sm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48" name="Line 20"/>
                <p:cNvSpPr>
                  <a:spLocks noChangeShapeType="1"/>
                </p:cNvSpPr>
                <p:nvPr/>
              </p:nvSpPr>
              <p:spPr bwMode="auto">
                <a:xfrm rot="-1633405">
                  <a:off x="4330" y="5587"/>
                  <a:ext cx="503" cy="15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30749" name="Group 21"/>
                <p:cNvGrpSpPr>
                  <a:grpSpLocks/>
                </p:cNvGrpSpPr>
                <p:nvPr/>
              </p:nvGrpSpPr>
              <p:grpSpPr bwMode="auto">
                <a:xfrm>
                  <a:off x="2608" y="5424"/>
                  <a:ext cx="2409" cy="1759"/>
                  <a:chOff x="2608" y="5424"/>
                  <a:chExt cx="2409" cy="1759"/>
                </a:xfrm>
              </p:grpSpPr>
              <p:sp>
                <p:nvSpPr>
                  <p:cNvPr id="30787" name="Line 22"/>
                  <p:cNvSpPr>
                    <a:spLocks noChangeShapeType="1"/>
                  </p:cNvSpPr>
                  <p:nvPr/>
                </p:nvSpPr>
                <p:spPr bwMode="auto">
                  <a:xfrm rot="-2721326">
                    <a:off x="2526" y="6272"/>
                    <a:ext cx="1759" cy="64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0788" name="Line 23"/>
                  <p:cNvSpPr>
                    <a:spLocks noChangeShapeType="1"/>
                  </p:cNvSpPr>
                  <p:nvPr/>
                </p:nvSpPr>
                <p:spPr bwMode="auto">
                  <a:xfrm rot="18878674" flipH="1">
                    <a:off x="3587" y="5768"/>
                    <a:ext cx="285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triangle" w="sm" len="lg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0789" name="Line 24"/>
                  <p:cNvSpPr>
                    <a:spLocks noChangeShapeType="1"/>
                  </p:cNvSpPr>
                  <p:nvPr/>
                </p:nvSpPr>
                <p:spPr bwMode="auto">
                  <a:xfrm rot="18878674" flipH="1">
                    <a:off x="3704" y="5888"/>
                    <a:ext cx="285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triangle" w="sm" len="lg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30790" name="Group 25"/>
                  <p:cNvGrpSpPr>
                    <a:grpSpLocks/>
                  </p:cNvGrpSpPr>
                  <p:nvPr/>
                </p:nvGrpSpPr>
                <p:grpSpPr bwMode="auto">
                  <a:xfrm rot="-1633405">
                    <a:off x="4327" y="5523"/>
                    <a:ext cx="690" cy="412"/>
                    <a:chOff x="6270" y="5738"/>
                    <a:chExt cx="690" cy="412"/>
                  </a:xfrm>
                </p:grpSpPr>
                <p:sp>
                  <p:nvSpPr>
                    <p:cNvPr id="30798" name="Oval 2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70" y="5761"/>
                      <a:ext cx="98" cy="367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0799" name="Rectangle 2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397" y="5738"/>
                      <a:ext cx="75" cy="412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grpSp>
                  <p:nvGrpSpPr>
                    <p:cNvPr id="30800" name="Group 28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817" y="5872"/>
                      <a:ext cx="143" cy="143"/>
                      <a:chOff x="6817" y="5865"/>
                      <a:chExt cx="143" cy="143"/>
                    </a:xfrm>
                  </p:grpSpPr>
                  <p:sp>
                    <p:nvSpPr>
                      <p:cNvPr id="30801" name="Oval 2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817" y="5865"/>
                        <a:ext cx="143" cy="143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0802" name="Line 30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6841" y="5888"/>
                        <a:ext cx="97" cy="97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0803" name="Line 31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6841" y="5888"/>
                        <a:ext cx="97" cy="97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</p:grpSp>
              </p:grpSp>
              <p:sp>
                <p:nvSpPr>
                  <p:cNvPr id="30791" name="Line 32"/>
                  <p:cNvSpPr>
                    <a:spLocks noChangeShapeType="1"/>
                  </p:cNvSpPr>
                  <p:nvPr/>
                </p:nvSpPr>
                <p:spPr bwMode="auto">
                  <a:xfrm rot="19966595" flipV="1">
                    <a:off x="4424" y="5784"/>
                    <a:ext cx="496" cy="128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0792" name="Line 33"/>
                  <p:cNvSpPr>
                    <a:spLocks noChangeShapeType="1"/>
                  </p:cNvSpPr>
                  <p:nvPr/>
                </p:nvSpPr>
                <p:spPr bwMode="auto">
                  <a:xfrm rot="19966595" flipH="1">
                    <a:off x="2608" y="6177"/>
                    <a:ext cx="2365" cy="23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0793" name="Line 34"/>
                  <p:cNvSpPr>
                    <a:spLocks noChangeShapeType="1"/>
                  </p:cNvSpPr>
                  <p:nvPr/>
                </p:nvSpPr>
                <p:spPr bwMode="auto">
                  <a:xfrm rot="-1633405">
                    <a:off x="2652" y="6120"/>
                    <a:ext cx="1757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0794" name="Line 35"/>
                  <p:cNvSpPr>
                    <a:spLocks noChangeShapeType="1"/>
                  </p:cNvSpPr>
                  <p:nvPr/>
                </p:nvSpPr>
                <p:spPr bwMode="auto">
                  <a:xfrm rot="-1633405">
                    <a:off x="2650" y="6471"/>
                    <a:ext cx="1938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0795" name="Line 36"/>
                  <p:cNvSpPr>
                    <a:spLocks noChangeShapeType="1"/>
                  </p:cNvSpPr>
                  <p:nvPr/>
                </p:nvSpPr>
                <p:spPr bwMode="auto">
                  <a:xfrm rot="19966595" flipH="1">
                    <a:off x="3913" y="5857"/>
                    <a:ext cx="285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triangle" w="sm" len="lg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0796" name="Line 37"/>
                  <p:cNvSpPr>
                    <a:spLocks noChangeShapeType="1"/>
                  </p:cNvSpPr>
                  <p:nvPr/>
                </p:nvSpPr>
                <p:spPr bwMode="auto">
                  <a:xfrm rot="19966595" flipH="1">
                    <a:off x="4005" y="6004"/>
                    <a:ext cx="285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triangle" w="sm" len="lg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0797" name="Line 38"/>
                  <p:cNvSpPr>
                    <a:spLocks noChangeShapeType="1"/>
                  </p:cNvSpPr>
                  <p:nvPr/>
                </p:nvSpPr>
                <p:spPr bwMode="auto">
                  <a:xfrm rot="19966595" flipH="1">
                    <a:off x="4095" y="6159"/>
                    <a:ext cx="285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triangle" w="sm" len="lg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0750" name="Group 39"/>
                <p:cNvGrpSpPr>
                  <a:grpSpLocks/>
                </p:cNvGrpSpPr>
                <p:nvPr/>
              </p:nvGrpSpPr>
              <p:grpSpPr bwMode="auto">
                <a:xfrm rot="-731201">
                  <a:off x="4515" y="6039"/>
                  <a:ext cx="690" cy="412"/>
                  <a:chOff x="6270" y="5738"/>
                  <a:chExt cx="690" cy="412"/>
                </a:xfrm>
              </p:grpSpPr>
              <p:sp>
                <p:nvSpPr>
                  <p:cNvPr id="30781" name="Oval 40"/>
                  <p:cNvSpPr>
                    <a:spLocks noChangeArrowheads="1"/>
                  </p:cNvSpPr>
                  <p:nvPr/>
                </p:nvSpPr>
                <p:spPr bwMode="auto">
                  <a:xfrm>
                    <a:off x="6270" y="5761"/>
                    <a:ext cx="98" cy="367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0782" name="Rectangle 41"/>
                  <p:cNvSpPr>
                    <a:spLocks noChangeArrowheads="1"/>
                  </p:cNvSpPr>
                  <p:nvPr/>
                </p:nvSpPr>
                <p:spPr bwMode="auto">
                  <a:xfrm>
                    <a:off x="6397" y="5738"/>
                    <a:ext cx="75" cy="412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30783" name="Group 42"/>
                  <p:cNvGrpSpPr>
                    <a:grpSpLocks/>
                  </p:cNvGrpSpPr>
                  <p:nvPr/>
                </p:nvGrpSpPr>
                <p:grpSpPr bwMode="auto">
                  <a:xfrm>
                    <a:off x="6817" y="5872"/>
                    <a:ext cx="143" cy="143"/>
                    <a:chOff x="6817" y="5865"/>
                    <a:chExt cx="143" cy="143"/>
                  </a:xfrm>
                </p:grpSpPr>
                <p:sp>
                  <p:nvSpPr>
                    <p:cNvPr id="30784" name="Oval 4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817" y="5865"/>
                      <a:ext cx="143" cy="143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0785" name="Line 44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6841" y="5888"/>
                      <a:ext cx="97" cy="97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0786" name="Line 4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841" y="5888"/>
                      <a:ext cx="97" cy="97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  <p:sp>
              <p:nvSpPr>
                <p:cNvPr id="30751" name="Line 46"/>
                <p:cNvSpPr>
                  <a:spLocks noChangeShapeType="1"/>
                </p:cNvSpPr>
                <p:nvPr/>
              </p:nvSpPr>
              <p:spPr bwMode="auto">
                <a:xfrm rot="20868799" flipV="1">
                  <a:off x="4581" y="6295"/>
                  <a:ext cx="496" cy="12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52" name="Line 47"/>
                <p:cNvSpPr>
                  <a:spLocks noChangeShapeType="1"/>
                </p:cNvSpPr>
                <p:nvPr/>
              </p:nvSpPr>
              <p:spPr bwMode="auto">
                <a:xfrm rot="20868799" flipH="1">
                  <a:off x="2748" y="6443"/>
                  <a:ext cx="2322" cy="23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53" name="Line 48"/>
                <p:cNvSpPr>
                  <a:spLocks noChangeShapeType="1"/>
                </p:cNvSpPr>
                <p:nvPr/>
              </p:nvSpPr>
              <p:spPr bwMode="auto">
                <a:xfrm rot="-731201">
                  <a:off x="2730" y="6331"/>
                  <a:ext cx="1804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54" name="Line 49"/>
                <p:cNvSpPr>
                  <a:spLocks noChangeShapeType="1"/>
                </p:cNvSpPr>
                <p:nvPr/>
              </p:nvSpPr>
              <p:spPr bwMode="auto">
                <a:xfrm rot="20868799" flipV="1">
                  <a:off x="2729" y="6681"/>
                  <a:ext cx="1893" cy="39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55" name="Line 50"/>
                <p:cNvSpPr>
                  <a:spLocks noChangeShapeType="1"/>
                </p:cNvSpPr>
                <p:nvPr/>
              </p:nvSpPr>
              <p:spPr bwMode="auto">
                <a:xfrm rot="20868799" flipH="1">
                  <a:off x="4254" y="6173"/>
                  <a:ext cx="285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sm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56" name="Line 51"/>
                <p:cNvSpPr>
                  <a:spLocks noChangeShapeType="1"/>
                </p:cNvSpPr>
                <p:nvPr/>
              </p:nvSpPr>
              <p:spPr bwMode="auto">
                <a:xfrm rot="20868799" flipH="1">
                  <a:off x="4264" y="6339"/>
                  <a:ext cx="285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sm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57" name="Line 52"/>
                <p:cNvSpPr>
                  <a:spLocks noChangeShapeType="1"/>
                </p:cNvSpPr>
                <p:nvPr/>
              </p:nvSpPr>
              <p:spPr bwMode="auto">
                <a:xfrm rot="20868799" flipH="1">
                  <a:off x="4311" y="6512"/>
                  <a:ext cx="285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sm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58" name="Line 53"/>
                <p:cNvSpPr>
                  <a:spLocks noChangeShapeType="1"/>
                </p:cNvSpPr>
                <p:nvPr/>
              </p:nvSpPr>
              <p:spPr bwMode="auto">
                <a:xfrm rot="-731201">
                  <a:off x="4553" y="6071"/>
                  <a:ext cx="481" cy="129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59" name="Line 54"/>
                <p:cNvSpPr>
                  <a:spLocks noChangeShapeType="1"/>
                </p:cNvSpPr>
                <p:nvPr/>
              </p:nvSpPr>
              <p:spPr bwMode="auto">
                <a:xfrm>
                  <a:off x="2753" y="5619"/>
                  <a:ext cx="0" cy="2498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60" name="Line 55"/>
                <p:cNvSpPr>
                  <a:spLocks noChangeShapeType="1"/>
                </p:cNvSpPr>
                <p:nvPr/>
              </p:nvSpPr>
              <p:spPr bwMode="auto">
                <a:xfrm>
                  <a:off x="2738" y="6893"/>
                  <a:ext cx="660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61" name="Oval 56"/>
                <p:cNvSpPr>
                  <a:spLocks noChangeArrowheads="1"/>
                </p:cNvSpPr>
                <p:nvPr/>
              </p:nvSpPr>
              <p:spPr bwMode="auto">
                <a:xfrm rot="973161">
                  <a:off x="4429" y="7405"/>
                  <a:ext cx="98" cy="367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30762" name="Group 57"/>
                <p:cNvGrpSpPr>
                  <a:grpSpLocks/>
                </p:cNvGrpSpPr>
                <p:nvPr/>
              </p:nvGrpSpPr>
              <p:grpSpPr bwMode="auto">
                <a:xfrm rot="973161">
                  <a:off x="4954" y="7676"/>
                  <a:ext cx="143" cy="143"/>
                  <a:chOff x="6817" y="5865"/>
                  <a:chExt cx="143" cy="143"/>
                </a:xfrm>
              </p:grpSpPr>
              <p:sp>
                <p:nvSpPr>
                  <p:cNvPr id="30778" name="Oval 58"/>
                  <p:cNvSpPr>
                    <a:spLocks noChangeArrowheads="1"/>
                  </p:cNvSpPr>
                  <p:nvPr/>
                </p:nvSpPr>
                <p:spPr bwMode="auto">
                  <a:xfrm>
                    <a:off x="6817" y="5865"/>
                    <a:ext cx="143" cy="143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0779" name="Line 59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6841" y="5888"/>
                    <a:ext cx="97" cy="97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0780" name="Line 60"/>
                  <p:cNvSpPr>
                    <a:spLocks noChangeShapeType="1"/>
                  </p:cNvSpPr>
                  <p:nvPr/>
                </p:nvSpPr>
                <p:spPr bwMode="auto">
                  <a:xfrm>
                    <a:off x="6841" y="5888"/>
                    <a:ext cx="97" cy="97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0763" name="Line 61"/>
                <p:cNvSpPr>
                  <a:spLocks noChangeShapeType="1"/>
                </p:cNvSpPr>
                <p:nvPr/>
              </p:nvSpPr>
              <p:spPr bwMode="auto">
                <a:xfrm rot="973161" flipH="1">
                  <a:off x="2701" y="7397"/>
                  <a:ext cx="2287" cy="1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64" name="Line 62"/>
                <p:cNvSpPr>
                  <a:spLocks noChangeShapeType="1"/>
                </p:cNvSpPr>
                <p:nvPr/>
              </p:nvSpPr>
              <p:spPr bwMode="auto">
                <a:xfrm rot="973161">
                  <a:off x="2740" y="7163"/>
                  <a:ext cx="1804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65" name="Line 63"/>
                <p:cNvSpPr>
                  <a:spLocks noChangeShapeType="1"/>
                </p:cNvSpPr>
                <p:nvPr/>
              </p:nvSpPr>
              <p:spPr bwMode="auto">
                <a:xfrm rot="973161" flipV="1">
                  <a:off x="2749" y="7517"/>
                  <a:ext cx="1698" cy="3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66" name="Line 64"/>
                <p:cNvSpPr>
                  <a:spLocks noChangeShapeType="1"/>
                </p:cNvSpPr>
                <p:nvPr/>
              </p:nvSpPr>
              <p:spPr bwMode="auto">
                <a:xfrm rot="973161" flipH="1">
                  <a:off x="4247" y="7388"/>
                  <a:ext cx="285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sm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67" name="Line 65"/>
                <p:cNvSpPr>
                  <a:spLocks noChangeShapeType="1"/>
                </p:cNvSpPr>
                <p:nvPr/>
              </p:nvSpPr>
              <p:spPr bwMode="auto">
                <a:xfrm rot="973161" flipH="1">
                  <a:off x="4177" y="7539"/>
                  <a:ext cx="285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sm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68" name="Line 66"/>
                <p:cNvSpPr>
                  <a:spLocks noChangeShapeType="1"/>
                </p:cNvSpPr>
                <p:nvPr/>
              </p:nvSpPr>
              <p:spPr bwMode="auto">
                <a:xfrm rot="973161" flipH="1">
                  <a:off x="4136" y="7714"/>
                  <a:ext cx="285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sm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69" name="Line 67"/>
                <p:cNvSpPr>
                  <a:spLocks noChangeShapeType="1"/>
                </p:cNvSpPr>
                <p:nvPr/>
              </p:nvSpPr>
              <p:spPr bwMode="auto">
                <a:xfrm rot="973161">
                  <a:off x="4516" y="7480"/>
                  <a:ext cx="481" cy="129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70" name="Line 68"/>
                <p:cNvSpPr>
                  <a:spLocks noChangeShapeType="1"/>
                </p:cNvSpPr>
                <p:nvPr/>
              </p:nvSpPr>
              <p:spPr bwMode="auto">
                <a:xfrm rot="973161" flipV="1">
                  <a:off x="4470" y="7705"/>
                  <a:ext cx="496" cy="12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71" name="Line 69"/>
                <p:cNvSpPr>
                  <a:spLocks noChangeShapeType="1"/>
                </p:cNvSpPr>
                <p:nvPr/>
              </p:nvSpPr>
              <p:spPr bwMode="auto">
                <a:xfrm>
                  <a:off x="2768" y="6473"/>
                  <a:ext cx="4012" cy="41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72" name="Line 70"/>
                <p:cNvSpPr>
                  <a:spLocks noChangeShapeType="1"/>
                </p:cNvSpPr>
                <p:nvPr/>
              </p:nvSpPr>
              <p:spPr bwMode="auto">
                <a:xfrm flipV="1">
                  <a:off x="2776" y="6907"/>
                  <a:ext cx="3997" cy="383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73" name="Line 71"/>
                <p:cNvSpPr>
                  <a:spLocks noChangeShapeType="1"/>
                </p:cNvSpPr>
                <p:nvPr/>
              </p:nvSpPr>
              <p:spPr bwMode="auto">
                <a:xfrm>
                  <a:off x="5393" y="4980"/>
                  <a:ext cx="0" cy="1733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74" name="Line 72"/>
                <p:cNvSpPr>
                  <a:spLocks noChangeShapeType="1"/>
                </p:cNvSpPr>
                <p:nvPr/>
              </p:nvSpPr>
              <p:spPr bwMode="auto">
                <a:xfrm>
                  <a:off x="5385" y="7043"/>
                  <a:ext cx="0" cy="132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75" name="Freeform 73"/>
                <p:cNvSpPr>
                  <a:spLocks/>
                </p:cNvSpPr>
                <p:nvPr/>
              </p:nvSpPr>
              <p:spPr bwMode="auto">
                <a:xfrm>
                  <a:off x="6720" y="6780"/>
                  <a:ext cx="411" cy="132"/>
                </a:xfrm>
                <a:custGeom>
                  <a:avLst/>
                  <a:gdLst>
                    <a:gd name="T0" fmla="*/ 0 w 411"/>
                    <a:gd name="T1" fmla="*/ 0 h 132"/>
                    <a:gd name="T2" fmla="*/ 96 w 411"/>
                    <a:gd name="T3" fmla="*/ 69 h 132"/>
                    <a:gd name="T4" fmla="*/ 195 w 411"/>
                    <a:gd name="T5" fmla="*/ 69 h 132"/>
                    <a:gd name="T6" fmla="*/ 411 w 411"/>
                    <a:gd name="T7" fmla="*/ 132 h 13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11"/>
                    <a:gd name="T13" fmla="*/ 0 h 132"/>
                    <a:gd name="T14" fmla="*/ 411 w 411"/>
                    <a:gd name="T15" fmla="*/ 132 h 13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11" h="132">
                      <a:moveTo>
                        <a:pt x="0" y="0"/>
                      </a:moveTo>
                      <a:cubicBezTo>
                        <a:pt x="32" y="29"/>
                        <a:pt x="64" y="58"/>
                        <a:pt x="96" y="69"/>
                      </a:cubicBezTo>
                      <a:cubicBezTo>
                        <a:pt x="128" y="80"/>
                        <a:pt x="143" y="59"/>
                        <a:pt x="195" y="69"/>
                      </a:cubicBezTo>
                      <a:cubicBezTo>
                        <a:pt x="247" y="79"/>
                        <a:pt x="375" y="122"/>
                        <a:pt x="411" y="132"/>
                      </a:cubicBez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76" name="Freeform 74"/>
                <p:cNvSpPr>
                  <a:spLocks/>
                </p:cNvSpPr>
                <p:nvPr/>
              </p:nvSpPr>
              <p:spPr bwMode="auto">
                <a:xfrm>
                  <a:off x="6795" y="6900"/>
                  <a:ext cx="285" cy="125"/>
                </a:xfrm>
                <a:custGeom>
                  <a:avLst/>
                  <a:gdLst>
                    <a:gd name="T0" fmla="*/ 0 w 285"/>
                    <a:gd name="T1" fmla="*/ 69 h 125"/>
                    <a:gd name="T2" fmla="*/ 63 w 285"/>
                    <a:gd name="T3" fmla="*/ 120 h 125"/>
                    <a:gd name="T4" fmla="*/ 186 w 285"/>
                    <a:gd name="T5" fmla="*/ 102 h 125"/>
                    <a:gd name="T6" fmla="*/ 285 w 285"/>
                    <a:gd name="T7" fmla="*/ 0 h 12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5"/>
                    <a:gd name="T13" fmla="*/ 0 h 125"/>
                    <a:gd name="T14" fmla="*/ 285 w 285"/>
                    <a:gd name="T15" fmla="*/ 125 h 12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5" h="125">
                      <a:moveTo>
                        <a:pt x="0" y="69"/>
                      </a:moveTo>
                      <a:cubicBezTo>
                        <a:pt x="16" y="92"/>
                        <a:pt x="32" y="115"/>
                        <a:pt x="63" y="120"/>
                      </a:cubicBezTo>
                      <a:cubicBezTo>
                        <a:pt x="94" y="125"/>
                        <a:pt x="149" y="122"/>
                        <a:pt x="186" y="102"/>
                      </a:cubicBezTo>
                      <a:cubicBezTo>
                        <a:pt x="223" y="82"/>
                        <a:pt x="254" y="41"/>
                        <a:pt x="285" y="0"/>
                      </a:cubicBez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77" name="Oval 75"/>
                <p:cNvSpPr>
                  <a:spLocks noChangeArrowheads="1"/>
                </p:cNvSpPr>
                <p:nvPr/>
              </p:nvSpPr>
              <p:spPr bwMode="auto">
                <a:xfrm>
                  <a:off x="6783" y="6864"/>
                  <a:ext cx="71" cy="95"/>
                </a:xfrm>
                <a:prstGeom prst="ellipse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41420" name="Text Box 76"/>
              <p:cNvSpPr txBox="1">
                <a:spLocks noChangeArrowheads="1"/>
              </p:cNvSpPr>
              <p:nvPr/>
            </p:nvSpPr>
            <p:spPr bwMode="auto">
              <a:xfrm>
                <a:off x="9435" y="3554"/>
                <a:ext cx="615" cy="148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r>
                  <a:rPr lang="zh-CN" altLang="en-US" sz="16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itchFamily="2" charset="-122"/>
                    <a:ea typeface="黑体" pitchFamily="2" charset="-122"/>
                  </a:rPr>
                  <a:t>黑</a:t>
                </a:r>
              </a:p>
              <a:p>
                <a:pPr algn="ctr">
                  <a:defRPr/>
                </a:pPr>
                <a:r>
                  <a:rPr lang="zh-CN" altLang="en-US" sz="16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itchFamily="2" charset="-122"/>
                    <a:ea typeface="黑体" pitchFamily="2" charset="-122"/>
                  </a:rPr>
                  <a:t>挡</a:t>
                </a:r>
              </a:p>
              <a:p>
                <a:pPr algn="ctr">
                  <a:defRPr/>
                </a:pPr>
                <a:r>
                  <a:rPr lang="zh-CN" altLang="en-US" sz="16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itchFamily="2" charset="-122"/>
                    <a:ea typeface="黑体" pitchFamily="2" charset="-122"/>
                  </a:rPr>
                  <a:t>屏</a:t>
                </a:r>
              </a:p>
            </p:txBody>
          </p:sp>
          <p:sp>
            <p:nvSpPr>
              <p:cNvPr id="441421" name="Text Box 77"/>
              <p:cNvSpPr txBox="1">
                <a:spLocks noChangeArrowheads="1"/>
              </p:cNvSpPr>
              <p:nvPr/>
            </p:nvSpPr>
            <p:spPr bwMode="auto">
              <a:xfrm>
                <a:off x="6345" y="4694"/>
                <a:ext cx="615" cy="148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r>
                  <a:rPr lang="zh-CN" altLang="en-US" sz="16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itchFamily="2" charset="-122"/>
                    <a:ea typeface="黑体" pitchFamily="2" charset="-122"/>
                  </a:rPr>
                  <a:t>白屏幕</a:t>
                </a:r>
              </a:p>
            </p:txBody>
          </p:sp>
          <p:sp>
            <p:nvSpPr>
              <p:cNvPr id="441422" name="Text Box 78"/>
              <p:cNvSpPr txBox="1">
                <a:spLocks noChangeArrowheads="1"/>
              </p:cNvSpPr>
              <p:nvPr/>
            </p:nvSpPr>
            <p:spPr bwMode="auto">
              <a:xfrm>
                <a:off x="7439" y="5130"/>
                <a:ext cx="1921" cy="4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>
                  <a:defRPr/>
                </a:pPr>
                <a:r>
                  <a:rPr lang="zh-CN" altLang="en-US" sz="16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itchFamily="2" charset="-122"/>
                    <a:ea typeface="黑体" pitchFamily="2" charset="-122"/>
                  </a:rPr>
                  <a:t>黑挡屏</a:t>
                </a:r>
              </a:p>
            </p:txBody>
          </p:sp>
          <p:sp>
            <p:nvSpPr>
              <p:cNvPr id="441423" name="Text Box 79"/>
              <p:cNvSpPr txBox="1">
                <a:spLocks noChangeArrowheads="1"/>
              </p:cNvSpPr>
              <p:nvPr/>
            </p:nvSpPr>
            <p:spPr bwMode="auto">
              <a:xfrm>
                <a:off x="8339" y="3135"/>
                <a:ext cx="931" cy="4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>
                  <a:defRPr/>
                </a:pPr>
                <a:r>
                  <a:rPr lang="zh-CN" altLang="en-US" sz="16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itchFamily="2" charset="-122"/>
                    <a:ea typeface="黑体" pitchFamily="2" charset="-122"/>
                  </a:rPr>
                  <a:t>红</a:t>
                </a:r>
              </a:p>
            </p:txBody>
          </p:sp>
          <p:sp>
            <p:nvSpPr>
              <p:cNvPr id="441424" name="Text Box 80"/>
              <p:cNvSpPr txBox="1">
                <a:spLocks noChangeArrowheads="1"/>
              </p:cNvSpPr>
              <p:nvPr/>
            </p:nvSpPr>
            <p:spPr bwMode="auto">
              <a:xfrm>
                <a:off x="8714" y="3616"/>
                <a:ext cx="931" cy="4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>
                  <a:defRPr/>
                </a:pPr>
                <a:r>
                  <a:rPr lang="zh-CN" altLang="en-US" sz="16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itchFamily="2" charset="-122"/>
                    <a:ea typeface="黑体" pitchFamily="2" charset="-122"/>
                  </a:rPr>
                  <a:t>绿</a:t>
                </a:r>
              </a:p>
            </p:txBody>
          </p:sp>
          <p:sp>
            <p:nvSpPr>
              <p:cNvPr id="441425" name="Text Box 81"/>
              <p:cNvSpPr txBox="1">
                <a:spLocks noChangeArrowheads="1"/>
              </p:cNvSpPr>
              <p:nvPr/>
            </p:nvSpPr>
            <p:spPr bwMode="auto">
              <a:xfrm>
                <a:off x="9030" y="4680"/>
                <a:ext cx="931" cy="4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>
                  <a:defRPr/>
                </a:pPr>
                <a:r>
                  <a:rPr lang="zh-CN" altLang="en-US" sz="16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itchFamily="2" charset="-122"/>
                    <a:ea typeface="黑体" pitchFamily="2" charset="-122"/>
                  </a:rPr>
                  <a:t>蓝</a:t>
                </a:r>
              </a:p>
            </p:txBody>
          </p:sp>
          <p:sp>
            <p:nvSpPr>
              <p:cNvPr id="441426" name="Text Box 82"/>
              <p:cNvSpPr txBox="1">
                <a:spLocks noChangeArrowheads="1"/>
              </p:cNvSpPr>
              <p:nvPr/>
            </p:nvSpPr>
            <p:spPr bwMode="auto">
              <a:xfrm>
                <a:off x="8714" y="6315"/>
                <a:ext cx="1215" cy="4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>
                  <a:defRPr/>
                </a:pPr>
                <a:r>
                  <a:rPr lang="zh-CN" altLang="en-US" sz="16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itchFamily="2" charset="-122"/>
                    <a:ea typeface="黑体" pitchFamily="2" charset="-122"/>
                  </a:rPr>
                  <a:t>白炽灯</a:t>
                </a:r>
              </a:p>
            </p:txBody>
          </p:sp>
          <p:grpSp>
            <p:nvGrpSpPr>
              <p:cNvPr id="30737" name="Group 83"/>
              <p:cNvGrpSpPr>
                <a:grpSpLocks/>
              </p:cNvGrpSpPr>
              <p:nvPr/>
            </p:nvGrpSpPr>
            <p:grpSpPr bwMode="auto">
              <a:xfrm>
                <a:off x="10095" y="5640"/>
                <a:ext cx="975" cy="975"/>
                <a:chOff x="10170" y="5805"/>
                <a:chExt cx="975" cy="975"/>
              </a:xfrm>
            </p:grpSpPr>
            <p:sp>
              <p:nvSpPr>
                <p:cNvPr id="30739" name="Oval 84" descr="深色下对角线"/>
                <p:cNvSpPr>
                  <a:spLocks noChangeArrowheads="1"/>
                </p:cNvSpPr>
                <p:nvPr/>
              </p:nvSpPr>
              <p:spPr bwMode="auto">
                <a:xfrm>
                  <a:off x="10170" y="5805"/>
                  <a:ext cx="975" cy="975"/>
                </a:xfrm>
                <a:prstGeom prst="ellipse">
                  <a:avLst/>
                </a:prstGeom>
                <a:pattFill prst="dkDnDiag">
                  <a:fgClr>
                    <a:srgbClr val="000000"/>
                  </a:fgClr>
                  <a:bgClr>
                    <a:srgbClr val="FFFFFF"/>
                  </a:bgClr>
                </a:patt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40" name="Oval 85"/>
                <p:cNvSpPr>
                  <a:spLocks noChangeArrowheads="1"/>
                </p:cNvSpPr>
                <p:nvPr/>
              </p:nvSpPr>
              <p:spPr bwMode="auto">
                <a:xfrm>
                  <a:off x="10523" y="6157"/>
                  <a:ext cx="270" cy="270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41" name="Line 86"/>
                <p:cNvSpPr>
                  <a:spLocks noChangeShapeType="1"/>
                </p:cNvSpPr>
                <p:nvPr/>
              </p:nvSpPr>
              <p:spPr bwMode="auto">
                <a:xfrm>
                  <a:off x="10658" y="6158"/>
                  <a:ext cx="0" cy="27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41431" name="Text Box 87"/>
              <p:cNvSpPr txBox="1">
                <a:spLocks noChangeArrowheads="1"/>
              </p:cNvSpPr>
              <p:nvPr/>
            </p:nvSpPr>
            <p:spPr bwMode="auto">
              <a:xfrm>
                <a:off x="10230" y="6630"/>
                <a:ext cx="781" cy="4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>
                  <a:defRPr/>
                </a:pPr>
                <a:r>
                  <a:rPr lang="zh-CN" altLang="en-US" sz="16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itchFamily="2" charset="-122"/>
                    <a:ea typeface="黑体" pitchFamily="2" charset="-122"/>
                  </a:rPr>
                  <a:t>视场</a:t>
                </a:r>
              </a:p>
            </p:txBody>
          </p:sp>
        </p:grpSp>
      </p:grpSp>
    </p:spTree>
  </p:cSld>
  <p:clrMapOvr>
    <a:masterClrMapping/>
  </p:clrMapOvr>
  <p:transition>
    <p:circl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29331CA6-7854-4D92-836E-56E5EB0923B8}" type="datetime1">
              <a:rPr lang="zh-CN" altLang="en-US" smtClean="0">
                <a:ea typeface="宋体" charset="-122"/>
              </a:rPr>
              <a:pPr/>
              <a:t>2018/2/24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31747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F079B6C-69EF-4020-B49E-5F7BF085592E}" type="slidenum">
              <a:rPr lang="en-US" altLang="zh-CN" smtClean="0">
                <a:ea typeface="宋体" charset="-122"/>
              </a:rPr>
              <a:pPr/>
              <a:t>14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50483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66713" y="306388"/>
            <a:ext cx="8270875" cy="839787"/>
          </a:xfrm>
        </p:spPr>
        <p:txBody>
          <a:bodyPr/>
          <a:lstStyle/>
          <a:p>
            <a:pPr eaLnBrk="1" fontAlgn="b" hangingPunct="1">
              <a:defRPr/>
            </a:pPr>
            <a:r>
              <a:rPr lang="en-US" altLang="zh-CN" sz="40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§4-1 </a:t>
            </a:r>
            <a:r>
              <a:rPr lang="zh-CN" altLang="en-US" sz="40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色度学的基本概念和实验定律</a:t>
            </a:r>
            <a:r>
              <a:rPr lang="zh-CN" altLang="en-US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 </a:t>
            </a:r>
          </a:p>
        </p:txBody>
      </p:sp>
      <p:sp>
        <p:nvSpPr>
          <p:cNvPr id="504835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311150" y="1262063"/>
            <a:ext cx="8550275" cy="4805362"/>
          </a:xfrm>
        </p:spPr>
        <p:txBody>
          <a:bodyPr/>
          <a:lstStyle/>
          <a:p>
            <a:pPr eaLnBrk="1" hangingPunct="1">
              <a:lnSpc>
                <a:spcPct val="105000"/>
              </a:lnSpc>
              <a:buFont typeface="Wingdings" pitchFamily="2" charset="2"/>
              <a:buNone/>
              <a:defRPr/>
            </a:pPr>
            <a:r>
              <a:rPr lang="en-US" altLang="zh-CN" smtClean="0">
                <a:latin typeface="Times New Roman" pitchFamily="18" charset="0"/>
                <a:ea typeface="黑体" pitchFamily="2" charset="-122"/>
              </a:rPr>
              <a:t>2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．色度学中的基本概念</a:t>
            </a:r>
          </a:p>
          <a:p>
            <a:pPr eaLnBrk="1" hangingPunct="1">
              <a:lnSpc>
                <a:spcPct val="105000"/>
              </a:lnSpc>
              <a:buFont typeface="Wingdings" pitchFamily="2" charset="2"/>
              <a:buNone/>
              <a:defRPr/>
            </a:pPr>
            <a:r>
              <a:rPr lang="en-US" altLang="zh-CN" smtClean="0">
                <a:latin typeface="Times New Roman" pitchFamily="18" charset="0"/>
                <a:ea typeface="黑体" pitchFamily="2" charset="-122"/>
              </a:rPr>
              <a:t>1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）三原色</a:t>
            </a:r>
          </a:p>
          <a:p>
            <a:pPr eaLnBrk="1" hangingPunct="1">
              <a:defRPr/>
            </a:pPr>
            <a:r>
              <a:rPr lang="zh-TW" altLang="en-US" smtClean="0">
                <a:latin typeface="Times New Roman" pitchFamily="18" charset="0"/>
                <a:ea typeface="黑体" pitchFamily="2" charset="-122"/>
              </a:rPr>
              <a:t>还可以利用人眼的某些视觉特性实现相加混色。</a:t>
            </a:r>
          </a:p>
          <a:p>
            <a:pPr lvl="1" eaLnBrk="1" hangingPunct="1">
              <a:defRPr/>
            </a:pPr>
            <a:r>
              <a:rPr lang="en-US" altLang="zh-TW" smtClean="0">
                <a:latin typeface="Times New Roman" pitchFamily="18" charset="0"/>
                <a:ea typeface="黑体" pitchFamily="2" charset="-122"/>
              </a:rPr>
              <a:t> </a:t>
            </a:r>
            <a:r>
              <a:rPr lang="zh-CN" altLang="en-US" smtClean="0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时间混色法：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将三种不同的基色以足够快的速度轮流投射到某一平面，因为人眼的视觉惰性，分辨不出三种基色，而只能看到它们的混合色。时间混色法是顺序制彩色电视的基础。</a:t>
            </a:r>
            <a:endParaRPr lang="zh-TW" altLang="en-US" smtClean="0">
              <a:latin typeface="Times New Roman" pitchFamily="18" charset="0"/>
              <a:ea typeface="黑体" pitchFamily="2" charset="-122"/>
            </a:endParaRPr>
          </a:p>
          <a:p>
            <a:pPr lvl="1" eaLnBrk="1" hangingPunct="1">
              <a:defRPr/>
            </a:pPr>
            <a:r>
              <a:rPr lang="zh-CN" altLang="en-US" smtClean="0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空间混色法：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将三种基色分别投射到同一表面上相邻的三点，只要这些点足够近，由于人眼分辨力的有限性，不能分辨这三种基色，而只能感觉到它们的混合色，是同时制彩色电视的基础。</a:t>
            </a:r>
            <a:endParaRPr lang="zh-TW" altLang="en-US" smtClean="0">
              <a:latin typeface="Times New Roman" pitchFamily="18" charset="0"/>
              <a:ea typeface="黑体" pitchFamily="2" charset="-122"/>
            </a:endParaRPr>
          </a:p>
          <a:p>
            <a:pPr lvl="1" eaLnBrk="1" hangingPunct="1">
              <a:defRPr/>
            </a:pPr>
            <a:r>
              <a:rPr lang="zh-CN" altLang="en-US" smtClean="0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生理混色法：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当两只眼睛同时分别观看不同的颜色，也会产生混色效应。例如，两只眼睛分别戴上红、绿滤波眼镜，当两眼分别单独观看时，只能看到红光或绿光；当两眼同时观看时，正好是黄色，这就是生理混色法。</a:t>
            </a:r>
          </a:p>
        </p:txBody>
      </p:sp>
    </p:spTree>
  </p:cSld>
  <p:clrMapOvr>
    <a:masterClrMapping/>
  </p:clrMapOvr>
  <p:transition>
    <p:circl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136D3F27-46DB-4EA0-94A8-85ED1A3C78A2}" type="datetime1">
              <a:rPr lang="zh-CN" altLang="en-US" smtClean="0">
                <a:ea typeface="宋体" charset="-122"/>
              </a:rPr>
              <a:pPr/>
              <a:t>2018/2/24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32771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BA89B39-773A-4C41-AC9B-33246AA48DAB}" type="slidenum">
              <a:rPr lang="en-US" altLang="zh-CN" smtClean="0">
                <a:ea typeface="宋体" charset="-122"/>
              </a:rPr>
              <a:pPr/>
              <a:t>15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49459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66713" y="306388"/>
            <a:ext cx="8270875" cy="839787"/>
          </a:xfrm>
        </p:spPr>
        <p:txBody>
          <a:bodyPr/>
          <a:lstStyle/>
          <a:p>
            <a:pPr eaLnBrk="1" fontAlgn="b" hangingPunct="1">
              <a:defRPr/>
            </a:pPr>
            <a:r>
              <a:rPr lang="en-US" altLang="zh-CN" sz="40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§4-1 </a:t>
            </a:r>
            <a:r>
              <a:rPr lang="zh-CN" altLang="en-US" sz="40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色度学的基本概念和实验定律</a:t>
            </a:r>
            <a:r>
              <a:rPr lang="zh-CN" altLang="en-US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 </a:t>
            </a:r>
          </a:p>
        </p:txBody>
      </p:sp>
      <p:sp>
        <p:nvSpPr>
          <p:cNvPr id="494595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311150" y="1262063"/>
            <a:ext cx="8550275" cy="4805362"/>
          </a:xfrm>
        </p:spPr>
        <p:txBody>
          <a:bodyPr/>
          <a:lstStyle/>
          <a:p>
            <a:pPr eaLnBrk="1" hangingPunct="1">
              <a:lnSpc>
                <a:spcPct val="105000"/>
              </a:lnSpc>
              <a:buFont typeface="Wingdings" pitchFamily="2" charset="2"/>
              <a:buNone/>
              <a:defRPr/>
            </a:pPr>
            <a:r>
              <a:rPr lang="en-US" altLang="zh-CN" smtClean="0">
                <a:latin typeface="Times New Roman" pitchFamily="18" charset="0"/>
                <a:ea typeface="黑体" pitchFamily="2" charset="-122"/>
              </a:rPr>
              <a:t>2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．色度学中的基本概念</a:t>
            </a:r>
          </a:p>
          <a:p>
            <a:pPr eaLnBrk="1" hangingPunct="1">
              <a:lnSpc>
                <a:spcPct val="105000"/>
              </a:lnSpc>
              <a:buFont typeface="Wingdings" pitchFamily="2" charset="2"/>
              <a:buNone/>
              <a:defRPr/>
            </a:pPr>
            <a:r>
              <a:rPr lang="en-US" altLang="zh-CN" smtClean="0">
                <a:latin typeface="Times New Roman" pitchFamily="18" charset="0"/>
                <a:ea typeface="黑体" pitchFamily="2" charset="-122"/>
              </a:rPr>
              <a:t>1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）三原色</a:t>
            </a:r>
          </a:p>
          <a:p>
            <a:pPr eaLnBrk="1" hangingPunct="1">
              <a:lnSpc>
                <a:spcPct val="105000"/>
              </a:lnSpc>
              <a:defRPr/>
            </a:pP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在颜色匹配实验中，为匹配得到某一种颜色，一般需要三种颜色就可以达到匹配目的。通常称在颜色匹配实验中选取的三种颜色为</a:t>
            </a:r>
            <a:r>
              <a:rPr lang="zh-CN" altLang="en-US" smtClean="0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三原色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。</a:t>
            </a:r>
          </a:p>
          <a:p>
            <a:pPr lvl="1" eaLnBrk="1" hangingPunct="1">
              <a:lnSpc>
                <a:spcPct val="105000"/>
              </a:lnSpc>
              <a:defRPr/>
            </a:pP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三原色可以任意选定；</a:t>
            </a:r>
          </a:p>
          <a:p>
            <a:pPr lvl="1" eaLnBrk="1" hangingPunct="1">
              <a:lnSpc>
                <a:spcPct val="105000"/>
              </a:lnSpc>
              <a:defRPr/>
            </a:pP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但是三原色中任何一种原色不能由另外两种原色相加混合得到；</a:t>
            </a:r>
          </a:p>
          <a:p>
            <a:pPr lvl="1" eaLnBrk="1" hangingPunct="1">
              <a:lnSpc>
                <a:spcPct val="105000"/>
              </a:lnSpc>
              <a:defRPr/>
            </a:pP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最常用的是红、绿、蓝三原色。</a:t>
            </a:r>
          </a:p>
          <a:p>
            <a:pPr eaLnBrk="1" hangingPunct="1">
              <a:lnSpc>
                <a:spcPct val="105000"/>
              </a:lnSpc>
              <a:defRPr/>
            </a:pP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由三原色混合而成的新的颜色只表示了被匹配颜色的外貌，而不能表示它的光谱组成。例如，由红、绿、蓝三色光混合而成的白光与连续光谱的白光在视觉上一样，但是它们的光谱组成成分却不一样，这种情况称之为</a:t>
            </a:r>
            <a:r>
              <a:rPr lang="zh-CN" altLang="en-US" smtClean="0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同色异谱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。</a:t>
            </a:r>
          </a:p>
        </p:txBody>
      </p:sp>
    </p:spTree>
  </p:cSld>
  <p:clrMapOvr>
    <a:masterClrMapping/>
  </p:clrMapOvr>
  <p:transition>
    <p:circl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457FD522-520D-4B0A-A532-B4C50D9440DA}" type="datetime1">
              <a:rPr lang="zh-CN" altLang="en-US" smtClean="0">
                <a:ea typeface="宋体" charset="-122"/>
              </a:rPr>
              <a:pPr/>
              <a:t>2018/2/24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33795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94E8A8E-0E80-4AC3-BFBF-761E2597AD62}" type="slidenum">
              <a:rPr lang="en-US" altLang="zh-CN" smtClean="0">
                <a:ea typeface="宋体" charset="-122"/>
              </a:rPr>
              <a:pPr/>
              <a:t>16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44237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66713" y="306388"/>
            <a:ext cx="8270875" cy="839787"/>
          </a:xfrm>
        </p:spPr>
        <p:txBody>
          <a:bodyPr/>
          <a:lstStyle/>
          <a:p>
            <a:pPr eaLnBrk="1" fontAlgn="b" hangingPunct="1">
              <a:defRPr/>
            </a:pPr>
            <a:r>
              <a:rPr lang="en-US" altLang="zh-CN" sz="40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§4-1 </a:t>
            </a:r>
            <a:r>
              <a:rPr lang="zh-CN" altLang="en-US" sz="40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色度学的基本概念和实验定律</a:t>
            </a:r>
            <a:r>
              <a:rPr lang="zh-CN" altLang="en-US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 </a:t>
            </a:r>
          </a:p>
        </p:txBody>
      </p:sp>
      <p:sp>
        <p:nvSpPr>
          <p:cNvPr id="442371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296863" y="1349375"/>
            <a:ext cx="8550275" cy="4805363"/>
          </a:xfrm>
        </p:spPr>
        <p:txBody>
          <a:bodyPr/>
          <a:lstStyle/>
          <a:p>
            <a:pPr eaLnBrk="1" hangingPunct="1">
              <a:lnSpc>
                <a:spcPct val="130000"/>
              </a:lnSpc>
              <a:buFont typeface="Wingdings" pitchFamily="2" charset="2"/>
              <a:buNone/>
              <a:defRPr/>
            </a:pPr>
            <a:r>
              <a:rPr lang="en-US" altLang="zh-CN" smtClean="0">
                <a:latin typeface="Times New Roman" pitchFamily="18" charset="0"/>
                <a:ea typeface="黑体" pitchFamily="2" charset="-122"/>
              </a:rPr>
              <a:t>2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．色度学中的基本概念</a:t>
            </a:r>
          </a:p>
          <a:p>
            <a:pPr eaLnBrk="1" hangingPunct="1">
              <a:lnSpc>
                <a:spcPct val="130000"/>
              </a:lnSpc>
              <a:buFont typeface="Wingdings" pitchFamily="2" charset="2"/>
              <a:buNone/>
              <a:defRPr/>
            </a:pPr>
            <a:r>
              <a:rPr lang="en-US" altLang="zh-CN" smtClean="0">
                <a:latin typeface="Times New Roman" pitchFamily="18" charset="0"/>
                <a:ea typeface="黑体" pitchFamily="2" charset="-122"/>
              </a:rPr>
              <a:t>2)  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三刺激值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色度学中是用三原色来表示颜色的。匹配某种颜色所需的三原色的量，称为颜色的</a:t>
            </a:r>
            <a:r>
              <a:rPr lang="zh-CN" altLang="en-US" smtClean="0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三刺激值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。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三刺激值不是用物理</a:t>
            </a:r>
            <a:r>
              <a:rPr lang="zh-CN" altLang="en-US" smtClean="0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单位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来量度的，而是用色度学的单位来量度。具体规定为：在</a:t>
            </a:r>
            <a:r>
              <a:rPr lang="en-US" altLang="zh-CN" smtClean="0">
                <a:latin typeface="Times New Roman" pitchFamily="18" charset="0"/>
                <a:ea typeface="黑体" pitchFamily="2" charset="-122"/>
              </a:rPr>
              <a:t>380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～</a:t>
            </a:r>
            <a:r>
              <a:rPr lang="en-US" altLang="zh-CN" smtClean="0">
                <a:latin typeface="Times New Roman" pitchFamily="18" charset="0"/>
                <a:ea typeface="黑体" pitchFamily="2" charset="-122"/>
              </a:rPr>
              <a:t>780nm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的可见光波长范围内，各种波长的辐射能量均相等时，称为</a:t>
            </a:r>
            <a:r>
              <a:rPr lang="zh-CN" altLang="en-US" smtClean="0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等能光谱色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。由其构成的白光称</a:t>
            </a:r>
            <a:r>
              <a:rPr lang="zh-CN" altLang="en-US" smtClean="0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等能白光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，简称</a:t>
            </a:r>
            <a:r>
              <a:rPr lang="en-US" altLang="zh-CN" i="1" smtClean="0">
                <a:latin typeface="Times New Roman" pitchFamily="18" charset="0"/>
                <a:ea typeface="黑体" pitchFamily="2" charset="-122"/>
              </a:rPr>
              <a:t>E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光源。等能白光的三刺激值是相等的，且均定为一个单位。</a:t>
            </a:r>
          </a:p>
        </p:txBody>
      </p:sp>
      <p:sp>
        <p:nvSpPr>
          <p:cNvPr id="3379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3799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3800" name="Rectangle 6"/>
          <p:cNvSpPr>
            <a:spLocks noChangeArrowheads="1"/>
          </p:cNvSpPr>
          <p:nvPr/>
        </p:nvSpPr>
        <p:spPr bwMode="auto">
          <a:xfrm>
            <a:off x="0" y="320516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>
    <p:circl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74378175-5193-4EF0-A623-E9C3BCCD23E2}" type="datetime1">
              <a:rPr lang="zh-CN" altLang="en-US" smtClean="0">
                <a:ea typeface="宋体" charset="-122"/>
              </a:rPr>
              <a:pPr/>
              <a:t>2018/2/24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102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EDC89E4-9CBE-405C-A489-F7E455EFBFF1}" type="slidenum">
              <a:rPr lang="en-US" altLang="zh-CN" smtClean="0">
                <a:ea typeface="宋体" charset="-122"/>
              </a:rPr>
              <a:pPr/>
              <a:t>17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44339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66713" y="306388"/>
            <a:ext cx="8270875" cy="839787"/>
          </a:xfrm>
        </p:spPr>
        <p:txBody>
          <a:bodyPr/>
          <a:lstStyle/>
          <a:p>
            <a:pPr eaLnBrk="1" fontAlgn="b" hangingPunct="1">
              <a:defRPr/>
            </a:pPr>
            <a:r>
              <a:rPr lang="en-US" altLang="zh-CN" sz="40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§4-1 </a:t>
            </a:r>
            <a:r>
              <a:rPr lang="zh-CN" altLang="en-US" sz="40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色度学的基本概念和实验定律</a:t>
            </a:r>
            <a:r>
              <a:rPr lang="zh-CN" altLang="en-US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 </a:t>
            </a:r>
          </a:p>
        </p:txBody>
      </p:sp>
      <p:sp>
        <p:nvSpPr>
          <p:cNvPr id="443395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296863" y="1349375"/>
            <a:ext cx="8550275" cy="4805363"/>
          </a:xfrm>
        </p:spPr>
        <p:txBody>
          <a:bodyPr/>
          <a:lstStyle/>
          <a:p>
            <a:pPr eaLnBrk="1" hangingPunct="1">
              <a:lnSpc>
                <a:spcPct val="105000"/>
              </a:lnSpc>
              <a:buFont typeface="Wingdings" pitchFamily="2" charset="2"/>
              <a:buNone/>
              <a:defRPr/>
            </a:pPr>
            <a:r>
              <a:rPr lang="en-US" altLang="zh-CN" dirty="0" smtClean="0">
                <a:latin typeface="Times New Roman" pitchFamily="18" charset="0"/>
                <a:ea typeface="黑体" pitchFamily="2" charset="-122"/>
              </a:rPr>
              <a:t>2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．色度学中的基本概念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dirty="0" smtClean="0">
                <a:latin typeface="Times New Roman" pitchFamily="18" charset="0"/>
                <a:ea typeface="黑体" pitchFamily="2" charset="-122"/>
              </a:rPr>
              <a:t>3)  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光谱三刺激值或颜色匹配函数</a:t>
            </a:r>
          </a:p>
          <a:p>
            <a:pPr eaLnBrk="1" hangingPunct="1">
              <a:defRPr/>
            </a:pP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用三刺激值可以表示各种颜色，对于各种波长的光谱色也不例外。匹配等能光谱色所需三原色的量叫作</a:t>
            </a:r>
            <a:r>
              <a:rPr lang="zh-CN" altLang="en-US" dirty="0" smtClean="0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光谱三刺激值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，也叫作</a:t>
            </a:r>
            <a:r>
              <a:rPr lang="zh-CN" altLang="en-US" dirty="0" smtClean="0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颜色的匹配函数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。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对于不同波长的光谱色，其三刺激值显然是波长的函数。用红、绿、蓝作为三原色时， 光谱三刺激值或颜色匹配函数用                    来  表示。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由于任何颜色的光都可以看成是由不同单色光混合而成，所以光谱三刺激值是颜色色度计算的基础。</a:t>
            </a:r>
          </a:p>
        </p:txBody>
      </p:sp>
      <p:sp>
        <p:nvSpPr>
          <p:cNvPr id="1031" name="Rectangle 4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026" name="Object 5"/>
          <p:cNvGraphicFramePr>
            <a:graphicFrameLocks noChangeAspect="1"/>
          </p:cNvGraphicFramePr>
          <p:nvPr/>
        </p:nvGraphicFramePr>
        <p:xfrm>
          <a:off x="1155700" y="4257675"/>
          <a:ext cx="1751013" cy="388938"/>
        </p:xfrm>
        <a:graphic>
          <a:graphicData uri="http://schemas.openxmlformats.org/presentationml/2006/ole">
            <p:oleObj spid="_x0000_s1026" name="公式" r:id="rId3" imgW="1028700" imgH="228600" progId="Equation.3">
              <p:embed/>
            </p:oleObj>
          </a:graphicData>
        </a:graphic>
      </p:graphicFrame>
    </p:spTree>
  </p:cSld>
  <p:clrMapOvr>
    <a:masterClrMapping/>
  </p:clrMapOvr>
  <p:transition>
    <p:circl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0A1782C2-FB24-4D91-88DF-BFBC66909602}" type="datetime1">
              <a:rPr lang="zh-CN" altLang="en-US" smtClean="0">
                <a:ea typeface="宋体" charset="-122"/>
              </a:rPr>
              <a:pPr/>
              <a:t>2018/2/24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2053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0DD08C0-E8D9-40BB-BA0B-8AA3E19C6E8C}" type="slidenum">
              <a:rPr lang="en-US" altLang="zh-CN" smtClean="0">
                <a:ea typeface="宋体" charset="-122"/>
              </a:rPr>
              <a:pPr/>
              <a:t>18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44441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66713" y="306388"/>
            <a:ext cx="8270875" cy="839787"/>
          </a:xfrm>
        </p:spPr>
        <p:txBody>
          <a:bodyPr/>
          <a:lstStyle/>
          <a:p>
            <a:pPr eaLnBrk="1" fontAlgn="b" hangingPunct="1">
              <a:defRPr/>
            </a:pPr>
            <a:r>
              <a:rPr lang="en-US" altLang="zh-CN" sz="40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§4-1 </a:t>
            </a:r>
            <a:r>
              <a:rPr lang="zh-CN" altLang="en-US" sz="40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色度学的基本概念和实验定律</a:t>
            </a:r>
            <a:r>
              <a:rPr lang="zh-CN" altLang="en-US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 </a:t>
            </a:r>
          </a:p>
        </p:txBody>
      </p:sp>
      <p:sp>
        <p:nvSpPr>
          <p:cNvPr id="444419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296863" y="1349375"/>
            <a:ext cx="8550275" cy="4805363"/>
          </a:xfrm>
        </p:spPr>
        <p:txBody>
          <a:bodyPr/>
          <a:lstStyle/>
          <a:p>
            <a:pPr eaLnBrk="1" hangingPunct="1">
              <a:lnSpc>
                <a:spcPct val="105000"/>
              </a:lnSpc>
              <a:buFont typeface="Wingdings" pitchFamily="2" charset="2"/>
              <a:buNone/>
              <a:defRPr/>
            </a:pPr>
            <a:r>
              <a:rPr lang="en-US" altLang="zh-CN" smtClean="0">
                <a:latin typeface="Times New Roman" pitchFamily="18" charset="0"/>
                <a:ea typeface="黑体" pitchFamily="2" charset="-122"/>
              </a:rPr>
              <a:t>2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．色度学中的基本概念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mtClean="0">
                <a:latin typeface="Times New Roman" pitchFamily="18" charset="0"/>
                <a:ea typeface="黑体" pitchFamily="2" charset="-122"/>
              </a:rPr>
              <a:t>4)   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色品坐标</a:t>
            </a:r>
          </a:p>
          <a:p>
            <a:pPr eaLnBrk="1" hangingPunct="1">
              <a:defRPr/>
            </a:pP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三原色确定后，一种颜色的三刺激值是唯一的，因此，可以用三刺激值表示颜色。</a:t>
            </a:r>
          </a:p>
          <a:p>
            <a:pPr eaLnBrk="1" hangingPunct="1">
              <a:defRPr/>
            </a:pP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但是，由于准确测量三刺激值存在着技术上的困难，而且用三刺激值表示颜色很不直观，因而一般不直接用其表示颜色，而是用其在三刺激值总和中所占的比例来表示颜色。这三个比例值叫作</a:t>
            </a:r>
            <a:r>
              <a:rPr lang="zh-CN" altLang="en-US" smtClean="0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色品坐标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。假定某颜色的三刺激值分别为</a:t>
            </a:r>
            <a:r>
              <a:rPr lang="en-US" altLang="zh-CN" i="1" smtClean="0">
                <a:latin typeface="Times New Roman" pitchFamily="18" charset="0"/>
                <a:ea typeface="黑体" pitchFamily="2" charset="-122"/>
              </a:rPr>
              <a:t>R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、</a:t>
            </a:r>
            <a:r>
              <a:rPr lang="en-US" altLang="zh-CN" i="1" smtClean="0">
                <a:latin typeface="Times New Roman" pitchFamily="18" charset="0"/>
                <a:ea typeface="黑体" pitchFamily="2" charset="-122"/>
              </a:rPr>
              <a:t>G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、</a:t>
            </a:r>
            <a:r>
              <a:rPr lang="en-US" altLang="zh-CN" i="1" smtClean="0">
                <a:latin typeface="Times New Roman" pitchFamily="18" charset="0"/>
                <a:ea typeface="黑体" pitchFamily="2" charset="-122"/>
              </a:rPr>
              <a:t>B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，色品坐标为</a:t>
            </a:r>
            <a:r>
              <a:rPr lang="en-US" altLang="zh-CN" i="1" smtClean="0">
                <a:latin typeface="Times New Roman" pitchFamily="18" charset="0"/>
                <a:ea typeface="黑体" pitchFamily="2" charset="-122"/>
              </a:rPr>
              <a:t>r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、</a:t>
            </a:r>
            <a:r>
              <a:rPr lang="en-US" altLang="zh-CN" i="1" smtClean="0">
                <a:latin typeface="Times New Roman" pitchFamily="18" charset="0"/>
                <a:ea typeface="黑体" pitchFamily="2" charset="-122"/>
              </a:rPr>
              <a:t>g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、</a:t>
            </a:r>
            <a:r>
              <a:rPr lang="en-US" altLang="zh-CN" i="1" smtClean="0">
                <a:latin typeface="Times New Roman" pitchFamily="18" charset="0"/>
                <a:ea typeface="黑体" pitchFamily="2" charset="-122"/>
              </a:rPr>
              <a:t>b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，则有</a:t>
            </a:r>
          </a:p>
          <a:p>
            <a:pPr eaLnBrk="1" hangingPunct="1">
              <a:defRPr/>
            </a:pPr>
            <a:endParaRPr lang="zh-CN" altLang="en-US" smtClean="0">
              <a:latin typeface="Times New Roman" pitchFamily="18" charset="0"/>
              <a:ea typeface="黑体" pitchFamily="2" charset="-122"/>
            </a:endParaRPr>
          </a:p>
          <a:p>
            <a:pPr eaLnBrk="1" hangingPunct="1">
              <a:defRPr/>
            </a:pPr>
            <a:endParaRPr lang="zh-CN" altLang="en-US" smtClean="0">
              <a:latin typeface="Times New Roman" pitchFamily="18" charset="0"/>
              <a:ea typeface="黑体" pitchFamily="2" charset="-122"/>
            </a:endParaRPr>
          </a:p>
          <a:p>
            <a:pPr eaLnBrk="1" hangingPunct="1">
              <a:defRPr/>
            </a:pP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显然因此，有</a:t>
            </a:r>
          </a:p>
        </p:txBody>
      </p:sp>
      <p:sp>
        <p:nvSpPr>
          <p:cNvPr id="2056" name="Rectangle 4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057" name="Rectangle 5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050" name="Object 6"/>
          <p:cNvGraphicFramePr>
            <a:graphicFrameLocks noChangeAspect="1"/>
          </p:cNvGraphicFramePr>
          <p:nvPr/>
        </p:nvGraphicFramePr>
        <p:xfrm>
          <a:off x="1538288" y="4960938"/>
          <a:ext cx="6156325" cy="855662"/>
        </p:xfrm>
        <a:graphic>
          <a:graphicData uri="http://schemas.openxmlformats.org/presentationml/2006/ole">
            <p:oleObj spid="_x0000_s2050" name="公式" r:id="rId3" imgW="2806700" imgH="393700" progId="Equation.3">
              <p:embed/>
            </p:oleObj>
          </a:graphicData>
        </a:graphic>
      </p:graphicFrame>
      <p:sp>
        <p:nvSpPr>
          <p:cNvPr id="2058" name="Rectangle 7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051" name="Object 8"/>
          <p:cNvGraphicFramePr>
            <a:graphicFrameLocks noChangeAspect="1"/>
          </p:cNvGraphicFramePr>
          <p:nvPr/>
        </p:nvGraphicFramePr>
        <p:xfrm>
          <a:off x="3654425" y="6029325"/>
          <a:ext cx="2173288" cy="563563"/>
        </p:xfrm>
        <a:graphic>
          <a:graphicData uri="http://schemas.openxmlformats.org/presentationml/2006/ole">
            <p:oleObj spid="_x0000_s2051" name="公式" r:id="rId4" imgW="774364" imgH="203112" progId="Equation.3">
              <p:embed/>
            </p:oleObj>
          </a:graphicData>
        </a:graphic>
      </p:graphicFrame>
    </p:spTree>
  </p:cSld>
  <p:clrMapOvr>
    <a:masterClrMapping/>
  </p:clrMapOvr>
  <p:transition>
    <p:circl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986A737C-6343-4042-BC59-59D021BC2E7C}" type="datetime1">
              <a:rPr lang="zh-CN" altLang="en-US" smtClean="0">
                <a:ea typeface="宋体" charset="-122"/>
              </a:rPr>
              <a:pPr/>
              <a:t>2018/2/24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3083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E79269E-21AE-48B2-9899-A9642271D3CC}" type="slidenum">
              <a:rPr lang="en-US" altLang="zh-CN" smtClean="0">
                <a:ea typeface="宋体" charset="-122"/>
              </a:rPr>
              <a:pPr/>
              <a:t>19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4454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66713" y="306388"/>
            <a:ext cx="8270875" cy="839787"/>
          </a:xfrm>
        </p:spPr>
        <p:txBody>
          <a:bodyPr/>
          <a:lstStyle/>
          <a:p>
            <a:pPr eaLnBrk="1" fontAlgn="b" hangingPunct="1">
              <a:defRPr/>
            </a:pPr>
            <a:r>
              <a:rPr lang="en-US" altLang="zh-CN" sz="40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§4-1 </a:t>
            </a:r>
            <a:r>
              <a:rPr lang="zh-CN" altLang="en-US" sz="40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色度学的基本概念和实验定律</a:t>
            </a:r>
            <a:r>
              <a:rPr lang="zh-CN" altLang="en-US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 </a:t>
            </a:r>
          </a:p>
        </p:txBody>
      </p:sp>
      <p:sp>
        <p:nvSpPr>
          <p:cNvPr id="445443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296863" y="1349375"/>
            <a:ext cx="8550275" cy="4805363"/>
          </a:xfrm>
        </p:spPr>
        <p:txBody>
          <a:bodyPr/>
          <a:lstStyle/>
          <a:p>
            <a:pPr eaLnBrk="1" hangingPunct="1">
              <a:lnSpc>
                <a:spcPct val="105000"/>
              </a:lnSpc>
              <a:buFont typeface="Wingdings" pitchFamily="2" charset="2"/>
              <a:buNone/>
              <a:defRPr/>
            </a:pPr>
            <a:r>
              <a:rPr lang="en-US" altLang="zh-CN" dirty="0" smtClean="0">
                <a:latin typeface="Times New Roman" pitchFamily="18" charset="0"/>
                <a:ea typeface="黑体" pitchFamily="2" charset="-122"/>
              </a:rPr>
              <a:t>2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．色度学中的基本概念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dirty="0" smtClean="0">
                <a:latin typeface="Times New Roman" pitchFamily="18" charset="0"/>
                <a:ea typeface="黑体" pitchFamily="2" charset="-122"/>
              </a:rPr>
              <a:t>5)  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光源色和物体色的三刺激值</a:t>
            </a:r>
          </a:p>
          <a:p>
            <a:pPr eaLnBrk="1" hangingPunct="1">
              <a:defRPr/>
            </a:pPr>
            <a:r>
              <a:rPr lang="zh-CN" altLang="en-US" dirty="0" smtClean="0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颜色刺激函数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表示某颜色刺激与波长的关系函数，以表示。</a:t>
            </a:r>
          </a:p>
          <a:p>
            <a:pPr eaLnBrk="1" hangingPunct="1">
              <a:defRPr/>
            </a:pPr>
            <a:endParaRPr lang="en-US" altLang="zh-CN" dirty="0" smtClean="0">
              <a:latin typeface="Times New Roman" pitchFamily="18" charset="0"/>
              <a:ea typeface="黑体" pitchFamily="2" charset="-122"/>
            </a:endParaRPr>
          </a:p>
          <a:p>
            <a:pPr eaLnBrk="1" hangingPunct="1">
              <a:defRPr/>
            </a:pP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对于波长为</a:t>
            </a:r>
            <a:r>
              <a:rPr lang="el-GR" altLang="zh-CN" i="1" dirty="0" smtClean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λ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的光谱色，其三刺激值</a:t>
            </a:r>
            <a:r>
              <a:rPr lang="en-US" altLang="zh-CN" i="1" dirty="0" smtClean="0">
                <a:latin typeface="Times New Roman" pitchFamily="18" charset="0"/>
                <a:ea typeface="黑体" pitchFamily="2" charset="-122"/>
              </a:rPr>
              <a:t>R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、</a:t>
            </a:r>
            <a:r>
              <a:rPr lang="en-US" altLang="zh-CN" i="1" dirty="0" smtClean="0">
                <a:latin typeface="Times New Roman" pitchFamily="18" charset="0"/>
                <a:ea typeface="黑体" pitchFamily="2" charset="-122"/>
              </a:rPr>
              <a:t>G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和</a:t>
            </a:r>
            <a:r>
              <a:rPr lang="en-US" altLang="zh-CN" i="1" dirty="0" smtClean="0">
                <a:latin typeface="Times New Roman" pitchFamily="18" charset="0"/>
                <a:ea typeface="黑体" pitchFamily="2" charset="-122"/>
              </a:rPr>
              <a:t>B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应分别和其光谱三刺激值                         以及颜色刺激函数成正比。故有</a:t>
            </a:r>
          </a:p>
          <a:p>
            <a:pPr eaLnBrk="1" hangingPunct="1">
              <a:defRPr/>
            </a:pPr>
            <a:endParaRPr lang="zh-CN" altLang="en-US" dirty="0" smtClean="0">
              <a:latin typeface="Times New Roman" pitchFamily="18" charset="0"/>
              <a:ea typeface="黑体" pitchFamily="2" charset="-122"/>
            </a:endParaRPr>
          </a:p>
          <a:p>
            <a:pPr eaLnBrk="1" hangingPunct="1">
              <a:defRPr/>
            </a:pPr>
            <a:r>
              <a:rPr lang="zh-CN" altLang="en-US" sz="1800" dirty="0" smtClean="0">
                <a:latin typeface="Times New Roman" pitchFamily="18" charset="0"/>
                <a:ea typeface="黑体" pitchFamily="2" charset="-122"/>
              </a:rPr>
              <a:t>式中，</a:t>
            </a:r>
            <a:r>
              <a:rPr lang="en-US" altLang="zh-CN" sz="1800" i="1" dirty="0" smtClean="0">
                <a:latin typeface="Times New Roman" pitchFamily="18" charset="0"/>
                <a:ea typeface="黑体" pitchFamily="2" charset="-122"/>
              </a:rPr>
              <a:t>k</a:t>
            </a:r>
            <a:r>
              <a:rPr lang="zh-CN" altLang="en-US" sz="1800" dirty="0" smtClean="0">
                <a:latin typeface="Times New Roman" pitchFamily="18" charset="0"/>
                <a:ea typeface="黑体" pitchFamily="2" charset="-122"/>
              </a:rPr>
              <a:t>为常数，称为颜色调节因子。</a:t>
            </a:r>
            <a:endParaRPr lang="en-US" altLang="zh-CN" sz="1800" dirty="0" smtClean="0">
              <a:latin typeface="Times New Roman" pitchFamily="18" charset="0"/>
              <a:ea typeface="黑体" pitchFamily="2" charset="-122"/>
            </a:endParaRPr>
          </a:p>
          <a:p>
            <a:pPr eaLnBrk="1" hangingPunct="1">
              <a:defRPr/>
            </a:pP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当波长范围趋向于无限小时，光谱色的三刺激值为</a:t>
            </a:r>
          </a:p>
          <a:p>
            <a:pPr eaLnBrk="1" hangingPunct="1">
              <a:defRPr/>
            </a:pPr>
            <a:endParaRPr lang="zh-CN" altLang="en-US" dirty="0" smtClean="0">
              <a:latin typeface="Times New Roman" pitchFamily="18" charset="0"/>
              <a:ea typeface="黑体" pitchFamily="2" charset="-122"/>
            </a:endParaRPr>
          </a:p>
        </p:txBody>
      </p:sp>
      <p:sp>
        <p:nvSpPr>
          <p:cNvPr id="3086" name="Rectangle 4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087" name="Rectangle 5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3088" name="Group 6"/>
          <p:cNvGrpSpPr>
            <a:grpSpLocks/>
          </p:cNvGrpSpPr>
          <p:nvPr/>
        </p:nvGrpSpPr>
        <p:grpSpPr bwMode="auto">
          <a:xfrm>
            <a:off x="7794625" y="1335088"/>
            <a:ext cx="1349375" cy="739775"/>
            <a:chOff x="4910" y="841"/>
            <a:chExt cx="850" cy="466"/>
          </a:xfrm>
        </p:grpSpPr>
        <p:sp>
          <p:nvSpPr>
            <p:cNvPr id="3092" name="AutoShape 7"/>
            <p:cNvSpPr>
              <a:spLocks noChangeArrowheads="1"/>
            </p:cNvSpPr>
            <p:nvPr/>
          </p:nvSpPr>
          <p:spPr bwMode="auto">
            <a:xfrm>
              <a:off x="4910" y="841"/>
              <a:ext cx="850" cy="466"/>
            </a:xfrm>
            <a:prstGeom prst="wedgeEllipseCallout">
              <a:avLst>
                <a:gd name="adj1" fmla="val -47870"/>
                <a:gd name="adj2" fmla="val 9494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endParaRPr lang="zh-CN" altLang="zh-CN"/>
            </a:p>
          </p:txBody>
        </p:sp>
        <p:graphicFrame>
          <p:nvGraphicFramePr>
            <p:cNvPr id="3078" name="Object 8"/>
            <p:cNvGraphicFramePr>
              <a:graphicFrameLocks noChangeAspect="1"/>
            </p:cNvGraphicFramePr>
            <p:nvPr/>
          </p:nvGraphicFramePr>
          <p:xfrm>
            <a:off x="5065" y="945"/>
            <a:ext cx="482" cy="281"/>
          </p:xfrm>
          <a:graphic>
            <a:graphicData uri="http://schemas.openxmlformats.org/presentationml/2006/ole">
              <p:oleObj spid="_x0000_s3078" name="公式" r:id="rId3" imgW="342751" imgH="203112" progId="Equation.3">
                <p:embed/>
              </p:oleObj>
            </a:graphicData>
          </a:graphic>
        </p:graphicFrame>
      </p:grpSp>
      <p:sp>
        <p:nvSpPr>
          <p:cNvPr id="3089" name="Rectangle 9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074" name="Object 10"/>
          <p:cNvGraphicFramePr>
            <a:graphicFrameLocks noChangeAspect="1"/>
          </p:cNvGraphicFramePr>
          <p:nvPr/>
        </p:nvGraphicFramePr>
        <p:xfrm>
          <a:off x="2416175" y="3543300"/>
          <a:ext cx="1593850" cy="354013"/>
        </p:xfrm>
        <a:graphic>
          <a:graphicData uri="http://schemas.openxmlformats.org/presentationml/2006/ole">
            <p:oleObj spid="_x0000_s3074" name="公式" r:id="rId4" imgW="1028700" imgH="228600" progId="Equation.3">
              <p:embed/>
            </p:oleObj>
          </a:graphicData>
        </a:graphic>
      </p:graphicFrame>
      <p:sp>
        <p:nvSpPr>
          <p:cNvPr id="3090" name="Rectangle 11"/>
          <p:cNvSpPr>
            <a:spLocks noChangeArrowheads="1"/>
          </p:cNvSpPr>
          <p:nvPr/>
        </p:nvSpPr>
        <p:spPr bwMode="auto">
          <a:xfrm>
            <a:off x="0" y="27336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075" name="Object 12"/>
          <p:cNvGraphicFramePr>
            <a:graphicFrameLocks noChangeAspect="1"/>
          </p:cNvGraphicFramePr>
          <p:nvPr/>
        </p:nvGraphicFramePr>
        <p:xfrm>
          <a:off x="1263650" y="4024313"/>
          <a:ext cx="2278063" cy="388937"/>
        </p:xfrm>
        <a:graphic>
          <a:graphicData uri="http://schemas.openxmlformats.org/presentationml/2006/ole">
            <p:oleObj spid="_x0000_s3075" name="公式" r:id="rId5" imgW="1167893" imgH="203112" progId="Equation.3">
              <p:embed/>
            </p:oleObj>
          </a:graphicData>
        </a:graphic>
      </p:graphicFrame>
      <p:graphicFrame>
        <p:nvGraphicFramePr>
          <p:cNvPr id="3076" name="Object 14"/>
          <p:cNvGraphicFramePr>
            <a:graphicFrameLocks noChangeAspect="1"/>
          </p:cNvGraphicFramePr>
          <p:nvPr/>
        </p:nvGraphicFramePr>
        <p:xfrm>
          <a:off x="3732213" y="4002088"/>
          <a:ext cx="2305050" cy="387350"/>
        </p:xfrm>
        <a:graphic>
          <a:graphicData uri="http://schemas.openxmlformats.org/presentationml/2006/ole">
            <p:oleObj spid="_x0000_s3076" name="公式" r:id="rId6" imgW="1193800" imgH="203200" progId="Equation.3">
              <p:embed/>
            </p:oleObj>
          </a:graphicData>
        </a:graphic>
      </p:graphicFrame>
      <p:sp>
        <p:nvSpPr>
          <p:cNvPr id="3091" name="Rectangle 15"/>
          <p:cNvSpPr>
            <a:spLocks noChangeArrowheads="1"/>
          </p:cNvSpPr>
          <p:nvPr/>
        </p:nvSpPr>
        <p:spPr bwMode="auto">
          <a:xfrm>
            <a:off x="4416425" y="3652838"/>
            <a:ext cx="3111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1000" u="sng">
                <a:latin typeface="Times New Roman" pitchFamily="18" charset="0"/>
                <a:cs typeface="Times New Roman" pitchFamily="18" charset="0"/>
              </a:rPr>
              <a:t>，</a:t>
            </a:r>
            <a:endParaRPr lang="zh-CN" altLang="en-US"/>
          </a:p>
        </p:txBody>
      </p:sp>
      <p:graphicFrame>
        <p:nvGraphicFramePr>
          <p:cNvPr id="3077" name="Object 16"/>
          <p:cNvGraphicFramePr>
            <a:graphicFrameLocks noChangeAspect="1"/>
          </p:cNvGraphicFramePr>
          <p:nvPr/>
        </p:nvGraphicFramePr>
        <p:xfrm>
          <a:off x="6215063" y="3946525"/>
          <a:ext cx="2157412" cy="417513"/>
        </p:xfrm>
        <a:graphic>
          <a:graphicData uri="http://schemas.openxmlformats.org/presentationml/2006/ole">
            <p:oleObj spid="_x0000_s3077" name="公式" r:id="rId7" imgW="1181100" imgH="228600" progId="Equation.3">
              <p:embed/>
            </p:oleObj>
          </a:graphicData>
        </a:graphic>
      </p:graphicFrame>
      <p:graphicFrame>
        <p:nvGraphicFramePr>
          <p:cNvPr id="3079" name="Object 9"/>
          <p:cNvGraphicFramePr>
            <a:graphicFrameLocks noChangeAspect="1"/>
          </p:cNvGraphicFramePr>
          <p:nvPr/>
        </p:nvGraphicFramePr>
        <p:xfrm>
          <a:off x="882650" y="5391150"/>
          <a:ext cx="2484438" cy="352425"/>
        </p:xfrm>
        <a:graphic>
          <a:graphicData uri="http://schemas.openxmlformats.org/presentationml/2006/ole">
            <p:oleObj spid="_x0000_s3079" name="公式" r:id="rId8" imgW="1409088" imgH="203112" progId="Equation.3">
              <p:embed/>
            </p:oleObj>
          </a:graphicData>
        </a:graphic>
      </p:graphicFrame>
      <p:graphicFrame>
        <p:nvGraphicFramePr>
          <p:cNvPr id="3080" name="Object 8"/>
          <p:cNvGraphicFramePr>
            <a:graphicFrameLocks noChangeAspect="1"/>
          </p:cNvGraphicFramePr>
          <p:nvPr/>
        </p:nvGraphicFramePr>
        <p:xfrm>
          <a:off x="3440113" y="5399088"/>
          <a:ext cx="2551112" cy="352425"/>
        </p:xfrm>
        <a:graphic>
          <a:graphicData uri="http://schemas.openxmlformats.org/presentationml/2006/ole">
            <p:oleObj spid="_x0000_s3080" name="公式" r:id="rId9" imgW="1447172" imgH="203112" progId="Equation.3">
              <p:embed/>
            </p:oleObj>
          </a:graphicData>
        </a:graphic>
      </p:graphicFrame>
      <p:graphicFrame>
        <p:nvGraphicFramePr>
          <p:cNvPr id="3081" name="Object 11"/>
          <p:cNvGraphicFramePr>
            <a:graphicFrameLocks noChangeAspect="1"/>
          </p:cNvGraphicFramePr>
          <p:nvPr/>
        </p:nvGraphicFramePr>
        <p:xfrm>
          <a:off x="6049963" y="5378450"/>
          <a:ext cx="2503487" cy="403225"/>
        </p:xfrm>
        <a:graphic>
          <a:graphicData uri="http://schemas.openxmlformats.org/presentationml/2006/ole">
            <p:oleObj spid="_x0000_s3081" name="公式" r:id="rId10" imgW="1422400" imgH="228600" progId="Equation.3">
              <p:embed/>
            </p:oleObj>
          </a:graphicData>
        </a:graphic>
      </p:graphicFrame>
    </p:spTree>
  </p:cSld>
  <p:clrMapOvr>
    <a:masterClrMapping/>
  </p:clrMapOvr>
  <p:transition>
    <p:circl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D8539279-F942-4544-B836-C3FB8D3430AA}" type="datetime1">
              <a:rPr lang="zh-CN" altLang="en-US" smtClean="0">
                <a:ea typeface="宋体" charset="-122"/>
              </a:rPr>
              <a:pPr/>
              <a:t>2018/2/24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4101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34D193E-B3C1-42AC-8B51-30BCB573A109}" type="slidenum">
              <a:rPr lang="en-US" altLang="zh-CN" smtClean="0">
                <a:ea typeface="宋体" charset="-122"/>
              </a:rPr>
              <a:pPr/>
              <a:t>20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44646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66713" y="306388"/>
            <a:ext cx="8270875" cy="839787"/>
          </a:xfrm>
        </p:spPr>
        <p:txBody>
          <a:bodyPr/>
          <a:lstStyle/>
          <a:p>
            <a:pPr eaLnBrk="1" fontAlgn="b" hangingPunct="1">
              <a:defRPr/>
            </a:pPr>
            <a:r>
              <a:rPr lang="en-US" altLang="zh-CN" sz="40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§4-1 </a:t>
            </a:r>
            <a:r>
              <a:rPr lang="zh-CN" altLang="en-US" sz="40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色度学的基本概念和实验定律</a:t>
            </a:r>
            <a:r>
              <a:rPr lang="zh-CN" altLang="en-US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 </a:t>
            </a:r>
          </a:p>
        </p:txBody>
      </p:sp>
      <p:sp>
        <p:nvSpPr>
          <p:cNvPr id="446467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296863" y="1349375"/>
            <a:ext cx="8550275" cy="4805363"/>
          </a:xfrm>
        </p:spPr>
        <p:txBody>
          <a:bodyPr/>
          <a:lstStyle/>
          <a:p>
            <a:pPr eaLnBrk="1" hangingPunct="1">
              <a:lnSpc>
                <a:spcPct val="105000"/>
              </a:lnSpc>
              <a:buFont typeface="Wingdings" pitchFamily="2" charset="2"/>
              <a:buNone/>
              <a:defRPr/>
            </a:pPr>
            <a:r>
              <a:rPr lang="en-US" altLang="zh-CN" dirty="0" smtClean="0">
                <a:latin typeface="Times New Roman" pitchFamily="18" charset="0"/>
                <a:ea typeface="黑体" pitchFamily="2" charset="-122"/>
              </a:rPr>
              <a:t>2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．色度学中的基本概念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dirty="0" smtClean="0">
                <a:latin typeface="Times New Roman" pitchFamily="18" charset="0"/>
                <a:ea typeface="黑体" pitchFamily="2" charset="-122"/>
              </a:rPr>
              <a:t>5)  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光源色和物体色的三刺激值</a:t>
            </a:r>
          </a:p>
          <a:p>
            <a:pPr eaLnBrk="1" hangingPunct="1">
              <a:defRPr/>
            </a:pP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无论光源色或物体色可看成是波长范围在</a:t>
            </a:r>
            <a:r>
              <a:rPr lang="en-US" altLang="zh-CN" dirty="0" smtClean="0">
                <a:latin typeface="Times New Roman" pitchFamily="18" charset="0"/>
                <a:ea typeface="黑体" pitchFamily="2" charset="-122"/>
              </a:rPr>
              <a:t>380~780nm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内的各光谱色以不同的比例混合的产物。</a:t>
            </a:r>
          </a:p>
          <a:p>
            <a:pPr eaLnBrk="1" hangingPunct="1">
              <a:defRPr/>
            </a:pPr>
            <a:r>
              <a:rPr lang="en-US" altLang="zh-CN" dirty="0" smtClean="0">
                <a:latin typeface="Times New Roman" pitchFamily="18" charset="0"/>
                <a:ea typeface="黑体" pitchFamily="2" charset="-122"/>
              </a:rPr>
              <a:t>380~780nm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内所有光谱色对应的三刺激值总和就是颜色刺激函数为           的颜色的三刺激值，即                                       </a:t>
            </a:r>
          </a:p>
          <a:p>
            <a:pPr eaLnBrk="1" hangingPunct="1">
              <a:defRPr/>
            </a:pPr>
            <a:endParaRPr lang="zh-CN" altLang="en-US" dirty="0" smtClean="0">
              <a:latin typeface="Times New Roman" pitchFamily="18" charset="0"/>
              <a:ea typeface="黑体" pitchFamily="2" charset="-122"/>
            </a:endParaRPr>
          </a:p>
          <a:p>
            <a:pPr eaLnBrk="1" hangingPunct="1">
              <a:defRPr/>
            </a:pPr>
            <a:endParaRPr lang="zh-CN" altLang="en-US" dirty="0" smtClean="0">
              <a:latin typeface="Times New Roman" pitchFamily="18" charset="0"/>
              <a:ea typeface="黑体" pitchFamily="2" charset="-122"/>
            </a:endParaRPr>
          </a:p>
          <a:p>
            <a:pPr eaLnBrk="1" hangingPunct="1">
              <a:defRPr/>
            </a:pPr>
            <a:endParaRPr lang="zh-CN" altLang="en-US" dirty="0" smtClean="0">
              <a:latin typeface="Times New Roman" pitchFamily="18" charset="0"/>
              <a:ea typeface="黑体" pitchFamily="2" charset="-122"/>
            </a:endParaRPr>
          </a:p>
          <a:p>
            <a:pPr eaLnBrk="1" hangingPunct="1">
              <a:defRPr/>
            </a:pPr>
            <a:endParaRPr lang="zh-CN" altLang="en-US" dirty="0" smtClean="0">
              <a:latin typeface="Times New Roman" pitchFamily="18" charset="0"/>
              <a:ea typeface="黑体" pitchFamily="2" charset="-122"/>
            </a:endParaRPr>
          </a:p>
          <a:p>
            <a:pPr eaLnBrk="1" hangingPunct="1">
              <a:defRPr/>
            </a:pPr>
            <a:endParaRPr lang="zh-CN" altLang="en-US" dirty="0" smtClean="0">
              <a:latin typeface="Times New Roman" pitchFamily="18" charset="0"/>
              <a:ea typeface="黑体" pitchFamily="2" charset="-122"/>
            </a:endParaRPr>
          </a:p>
          <a:p>
            <a:pPr eaLnBrk="1" hangingPunct="1">
              <a:defRPr/>
            </a:pPr>
            <a:endParaRPr lang="en-US" altLang="zh-CN" dirty="0" smtClean="0">
              <a:latin typeface="Times New Roman" pitchFamily="18" charset="0"/>
              <a:ea typeface="黑体" pitchFamily="2" charset="-122"/>
            </a:endParaRPr>
          </a:p>
        </p:txBody>
      </p:sp>
      <p:sp>
        <p:nvSpPr>
          <p:cNvPr id="4104" name="Rectangle 4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105" name="Rectangle 5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106" name="Rectangle 6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107" name="Rectangle 7"/>
          <p:cNvSpPr>
            <a:spLocks noChangeArrowheads="1"/>
          </p:cNvSpPr>
          <p:nvPr/>
        </p:nvSpPr>
        <p:spPr bwMode="auto">
          <a:xfrm>
            <a:off x="0" y="27336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108" name="Rectangle 12"/>
          <p:cNvSpPr>
            <a:spLocks noChangeArrowheads="1"/>
          </p:cNvSpPr>
          <p:nvPr/>
        </p:nvSpPr>
        <p:spPr bwMode="auto">
          <a:xfrm>
            <a:off x="0" y="28956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4098" name="Object 13"/>
          <p:cNvGraphicFramePr>
            <a:graphicFrameLocks noChangeAspect="1"/>
          </p:cNvGraphicFramePr>
          <p:nvPr/>
        </p:nvGraphicFramePr>
        <p:xfrm>
          <a:off x="3135313" y="4098925"/>
          <a:ext cx="2801937" cy="2024063"/>
        </p:xfrm>
        <a:graphic>
          <a:graphicData uri="http://schemas.openxmlformats.org/presentationml/2006/ole">
            <p:oleObj spid="_x0000_s4098" name="公式" r:id="rId3" imgW="1473200" imgH="1066800" progId="Equation.3">
              <p:embed/>
            </p:oleObj>
          </a:graphicData>
        </a:graphic>
      </p:graphicFrame>
      <p:graphicFrame>
        <p:nvGraphicFramePr>
          <p:cNvPr id="4099" name="Object 8"/>
          <p:cNvGraphicFramePr>
            <a:graphicFrameLocks noChangeAspect="1"/>
          </p:cNvGraphicFramePr>
          <p:nvPr/>
        </p:nvGraphicFramePr>
        <p:xfrm>
          <a:off x="1660525" y="3467100"/>
          <a:ext cx="765175" cy="446088"/>
        </p:xfrm>
        <a:graphic>
          <a:graphicData uri="http://schemas.openxmlformats.org/presentationml/2006/ole">
            <p:oleObj spid="_x0000_s4099" name="公式" r:id="rId4" imgW="342751" imgH="203112" progId="Equation.3">
              <p:embed/>
            </p:oleObj>
          </a:graphicData>
        </a:graphic>
      </p:graphicFrame>
    </p:spTree>
  </p:cSld>
  <p:clrMapOvr>
    <a:masterClrMapping/>
  </p:clrMapOvr>
  <p:transition>
    <p:circl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7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232B05DE-C245-47DE-8A24-499C65FB5F4B}" type="datetime1">
              <a:rPr lang="zh-CN" altLang="en-US" smtClean="0">
                <a:ea typeface="宋体" charset="-122"/>
              </a:rPr>
              <a:pPr/>
              <a:t>2018/2/24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512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C2F68DD-2667-47CF-B7A2-F8E33290467F}" type="slidenum">
              <a:rPr lang="en-US" altLang="zh-CN" smtClean="0">
                <a:ea typeface="宋体" charset="-122"/>
              </a:rPr>
              <a:pPr/>
              <a:t>21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44749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66713" y="306388"/>
            <a:ext cx="8270875" cy="839787"/>
          </a:xfrm>
        </p:spPr>
        <p:txBody>
          <a:bodyPr/>
          <a:lstStyle/>
          <a:p>
            <a:pPr eaLnBrk="1" fontAlgn="b" hangingPunct="1">
              <a:defRPr/>
            </a:pPr>
            <a:r>
              <a:rPr lang="en-US" altLang="zh-CN" sz="40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§4-1 </a:t>
            </a:r>
            <a:r>
              <a:rPr lang="zh-CN" altLang="en-US" sz="40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色度学的基本概念和实验定律</a:t>
            </a:r>
            <a:r>
              <a:rPr lang="zh-CN" altLang="en-US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 </a:t>
            </a:r>
          </a:p>
        </p:txBody>
      </p:sp>
      <p:sp>
        <p:nvSpPr>
          <p:cNvPr id="447491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296863" y="1349375"/>
            <a:ext cx="8550275" cy="4805363"/>
          </a:xfrm>
        </p:spPr>
        <p:txBody>
          <a:bodyPr/>
          <a:lstStyle/>
          <a:p>
            <a:pPr eaLnBrk="1" hangingPunct="1">
              <a:lnSpc>
                <a:spcPct val="105000"/>
              </a:lnSpc>
              <a:buFont typeface="Wingdings" pitchFamily="2" charset="2"/>
              <a:buNone/>
              <a:defRPr/>
            </a:pPr>
            <a:r>
              <a:rPr lang="en-US" altLang="zh-CN" smtClean="0">
                <a:latin typeface="Times New Roman" pitchFamily="18" charset="0"/>
                <a:ea typeface="黑体" pitchFamily="2" charset="-122"/>
              </a:rPr>
              <a:t>2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．色度学中的基本概念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mtClean="0">
                <a:latin typeface="Times New Roman" pitchFamily="18" charset="0"/>
                <a:ea typeface="黑体" pitchFamily="2" charset="-122"/>
              </a:rPr>
              <a:t>5)  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光源色和物体色的三刺激值</a:t>
            </a:r>
          </a:p>
          <a:p>
            <a:pPr eaLnBrk="1" hangingPunct="1">
              <a:defRPr/>
            </a:pP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对于光源色，颜色刺激函数         就是光源的光谱功率分布，即                 故有</a:t>
            </a:r>
          </a:p>
          <a:p>
            <a:pPr eaLnBrk="1" hangingPunct="1">
              <a:defRPr/>
            </a:pPr>
            <a:endParaRPr lang="zh-CN" altLang="en-US" smtClean="0">
              <a:latin typeface="Times New Roman" pitchFamily="18" charset="0"/>
              <a:ea typeface="黑体" pitchFamily="2" charset="-122"/>
            </a:endParaRPr>
          </a:p>
          <a:p>
            <a:pPr eaLnBrk="1" hangingPunct="1">
              <a:defRPr/>
            </a:pP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                                           </a:t>
            </a:r>
          </a:p>
          <a:p>
            <a:pPr eaLnBrk="1" hangingPunct="1">
              <a:defRPr/>
            </a:pPr>
            <a:endParaRPr lang="zh-CN" altLang="en-US" smtClean="0">
              <a:latin typeface="Times New Roman" pitchFamily="18" charset="0"/>
              <a:ea typeface="黑体" pitchFamily="2" charset="-122"/>
            </a:endParaRPr>
          </a:p>
          <a:p>
            <a:pPr eaLnBrk="1" hangingPunct="1">
              <a:defRPr/>
            </a:pPr>
            <a:endParaRPr lang="zh-CN" altLang="en-US" smtClean="0">
              <a:latin typeface="Times New Roman" pitchFamily="18" charset="0"/>
              <a:ea typeface="黑体" pitchFamily="2" charset="-122"/>
            </a:endParaRPr>
          </a:p>
          <a:p>
            <a:pPr eaLnBrk="1" hangingPunct="1">
              <a:defRPr/>
            </a:pPr>
            <a:endParaRPr lang="zh-CN" altLang="en-US" smtClean="0">
              <a:latin typeface="Times New Roman" pitchFamily="18" charset="0"/>
              <a:ea typeface="黑体" pitchFamily="2" charset="-122"/>
            </a:endParaRPr>
          </a:p>
          <a:p>
            <a:pPr eaLnBrk="1" hangingPunct="1">
              <a:defRPr/>
            </a:pPr>
            <a:endParaRPr lang="en-US" altLang="zh-CN" smtClean="0">
              <a:latin typeface="Times New Roman" pitchFamily="18" charset="0"/>
              <a:ea typeface="黑体" pitchFamily="2" charset="-122"/>
            </a:endParaRPr>
          </a:p>
        </p:txBody>
      </p:sp>
      <p:sp>
        <p:nvSpPr>
          <p:cNvPr id="5131" name="Rectangle 4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132" name="Rectangle 5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133" name="Rectangle 6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134" name="Rectangle 7"/>
          <p:cNvSpPr>
            <a:spLocks noChangeArrowheads="1"/>
          </p:cNvSpPr>
          <p:nvPr/>
        </p:nvSpPr>
        <p:spPr bwMode="auto">
          <a:xfrm>
            <a:off x="0" y="27336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135" name="Rectangle 8"/>
          <p:cNvSpPr>
            <a:spLocks noChangeArrowheads="1"/>
          </p:cNvSpPr>
          <p:nvPr/>
        </p:nvSpPr>
        <p:spPr bwMode="auto">
          <a:xfrm>
            <a:off x="0" y="28956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136" name="Rectangle 9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5122" name="Object 10"/>
          <p:cNvGraphicFramePr>
            <a:graphicFrameLocks noChangeAspect="1"/>
          </p:cNvGraphicFramePr>
          <p:nvPr/>
        </p:nvGraphicFramePr>
        <p:xfrm>
          <a:off x="4484688" y="2325688"/>
          <a:ext cx="541337" cy="315912"/>
        </p:xfrm>
        <a:graphic>
          <a:graphicData uri="http://schemas.openxmlformats.org/presentationml/2006/ole">
            <p:oleObj spid="_x0000_s5122" name="公式" r:id="rId3" imgW="342751" imgH="203112" progId="Equation.3">
              <p:embed/>
            </p:oleObj>
          </a:graphicData>
        </a:graphic>
      </p:graphicFrame>
      <p:sp>
        <p:nvSpPr>
          <p:cNvPr id="5137" name="Rectangle 11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5123" name="Object 12"/>
          <p:cNvGraphicFramePr>
            <a:graphicFrameLocks noChangeAspect="1"/>
          </p:cNvGraphicFramePr>
          <p:nvPr/>
        </p:nvGraphicFramePr>
        <p:xfrm>
          <a:off x="1711325" y="2705100"/>
          <a:ext cx="1223963" cy="317500"/>
        </p:xfrm>
        <a:graphic>
          <a:graphicData uri="http://schemas.openxmlformats.org/presentationml/2006/ole">
            <p:oleObj spid="_x0000_s5123" name="公式" r:id="rId4" imgW="774364" imgH="203112" progId="Equation.3">
              <p:embed/>
            </p:oleObj>
          </a:graphicData>
        </a:graphic>
      </p:graphicFrame>
      <p:sp>
        <p:nvSpPr>
          <p:cNvPr id="5138" name="Rectangle 13"/>
          <p:cNvSpPr>
            <a:spLocks noChangeArrowheads="1"/>
          </p:cNvSpPr>
          <p:nvPr/>
        </p:nvSpPr>
        <p:spPr bwMode="auto">
          <a:xfrm>
            <a:off x="-230188" y="3667125"/>
            <a:ext cx="9144001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5124" name="Object 14"/>
          <p:cNvGraphicFramePr>
            <a:graphicFrameLocks noChangeAspect="1"/>
          </p:cNvGraphicFramePr>
          <p:nvPr/>
        </p:nvGraphicFramePr>
        <p:xfrm>
          <a:off x="2932113" y="3417888"/>
          <a:ext cx="2890837" cy="2144712"/>
        </p:xfrm>
        <a:graphic>
          <a:graphicData uri="http://schemas.openxmlformats.org/presentationml/2006/ole">
            <p:oleObj spid="_x0000_s5124" name="公式" r:id="rId5" imgW="1435100" imgH="1066800" progId="Equation.3">
              <p:embed/>
            </p:oleObj>
          </a:graphicData>
        </a:graphic>
      </p:graphicFrame>
      <p:sp>
        <p:nvSpPr>
          <p:cNvPr id="5139" name="Rectangle 15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140" name="Rectangle 1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839788" y="1276350"/>
            <a:ext cx="7804150" cy="4824413"/>
            <a:chOff x="201" y="219"/>
            <a:chExt cx="5404" cy="4101"/>
          </a:xfrm>
        </p:grpSpPr>
        <p:sp>
          <p:nvSpPr>
            <p:cNvPr id="447506" name="AutoShape 18"/>
            <p:cNvSpPr>
              <a:spLocks noChangeArrowheads="1"/>
            </p:cNvSpPr>
            <p:nvPr/>
          </p:nvSpPr>
          <p:spPr bwMode="auto">
            <a:xfrm>
              <a:off x="201" y="219"/>
              <a:ext cx="5404" cy="4101"/>
            </a:xfrm>
            <a:prstGeom prst="star24">
              <a:avLst>
                <a:gd name="adj" fmla="val 47952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r>
                <a:rPr lang="zh-CN" altLang="en-US" sz="24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黑体" pitchFamily="2" charset="-122"/>
                </a:rPr>
                <a:t>物体色</a:t>
              </a:r>
              <a:r>
                <a:rPr lang="zh-CN" altLang="en-US" sz="24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  <a:ea typeface="黑体" pitchFamily="2" charset="-122"/>
                </a:rPr>
                <a:t>既和照明光源的光谱功率分</a:t>
              </a:r>
            </a:p>
            <a:p>
              <a:pPr>
                <a:defRPr/>
              </a:pPr>
              <a:r>
                <a:rPr lang="zh-CN" altLang="en-US" sz="24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  <a:ea typeface="黑体" pitchFamily="2" charset="-122"/>
                </a:rPr>
                <a:t>布有关，也和物体的光学性质有关。</a:t>
              </a:r>
            </a:p>
            <a:p>
              <a:pPr>
                <a:defRPr/>
              </a:pPr>
              <a:r>
                <a:rPr lang="zh-CN" altLang="en-US" sz="24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  <a:ea typeface="黑体" pitchFamily="2" charset="-122"/>
                </a:rPr>
                <a:t>对于透射物体</a:t>
              </a:r>
            </a:p>
            <a:p>
              <a:pPr>
                <a:defRPr/>
              </a:pPr>
              <a:endParaRPr lang="zh-CN" altLang="en-US" sz="24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黑体" pitchFamily="2" charset="-122"/>
              </a:endParaRPr>
            </a:p>
            <a:p>
              <a:pPr>
                <a:defRPr/>
              </a:pPr>
              <a:r>
                <a:rPr lang="zh-CN" altLang="en-US" sz="24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  <a:ea typeface="黑体" pitchFamily="2" charset="-122"/>
                </a:rPr>
                <a:t>对于反射物体</a:t>
              </a:r>
            </a:p>
          </p:txBody>
        </p:sp>
        <p:graphicFrame>
          <p:nvGraphicFramePr>
            <p:cNvPr id="5125" name="Object 19"/>
            <p:cNvGraphicFramePr>
              <a:graphicFrameLocks noChangeAspect="1"/>
            </p:cNvGraphicFramePr>
            <p:nvPr/>
          </p:nvGraphicFramePr>
          <p:xfrm>
            <a:off x="2588" y="2361"/>
            <a:ext cx="1744" cy="336"/>
          </p:xfrm>
          <a:graphic>
            <a:graphicData uri="http://schemas.openxmlformats.org/presentationml/2006/ole">
              <p:oleObj spid="_x0000_s5125" name="公式" r:id="rId6" imgW="1040948" imgH="203112" progId="Equation.3">
                <p:embed/>
              </p:oleObj>
            </a:graphicData>
          </a:graphic>
        </p:graphicFrame>
        <p:graphicFrame>
          <p:nvGraphicFramePr>
            <p:cNvPr id="5126" name="Object 20"/>
            <p:cNvGraphicFramePr>
              <a:graphicFrameLocks noChangeAspect="1"/>
            </p:cNvGraphicFramePr>
            <p:nvPr/>
          </p:nvGraphicFramePr>
          <p:xfrm>
            <a:off x="2570" y="3063"/>
            <a:ext cx="1808" cy="336"/>
          </p:xfrm>
          <a:graphic>
            <a:graphicData uri="http://schemas.openxmlformats.org/presentationml/2006/ole">
              <p:oleObj spid="_x0000_s5126" name="公式" r:id="rId7" imgW="1079032" imgH="203112" progId="Equation.3">
                <p:embed/>
              </p:oleObj>
            </a:graphicData>
          </a:graphic>
        </p:graphicFrame>
      </p:grpSp>
    </p:spTree>
  </p:cSld>
  <p:clrMapOvr>
    <a:masterClrMapping/>
  </p:clrMapOvr>
  <p:transition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F07DFFE5-C778-4085-926C-A77285ECD6FC}" type="datetime1">
              <a:rPr lang="zh-CN" altLang="en-US" smtClean="0">
                <a:ea typeface="宋体" charset="-122"/>
              </a:rPr>
              <a:pPr/>
              <a:t>2018/2/24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34819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17B8899-A19D-4E20-A9C2-D39912753C6C}" type="slidenum">
              <a:rPr lang="en-US" altLang="zh-CN" smtClean="0">
                <a:ea typeface="宋体" charset="-122"/>
              </a:rPr>
              <a:pPr/>
              <a:t>22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44851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66713" y="306388"/>
            <a:ext cx="8270875" cy="839787"/>
          </a:xfrm>
        </p:spPr>
        <p:txBody>
          <a:bodyPr/>
          <a:lstStyle/>
          <a:p>
            <a:pPr eaLnBrk="1" fontAlgn="b" hangingPunct="1">
              <a:defRPr/>
            </a:pPr>
            <a:r>
              <a:rPr lang="en-US" altLang="zh-CN" sz="40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§4-1 </a:t>
            </a:r>
            <a:r>
              <a:rPr lang="zh-CN" altLang="en-US" sz="40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色度学的基本概念和实验定律</a:t>
            </a:r>
            <a:r>
              <a:rPr lang="zh-CN" altLang="en-US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 </a:t>
            </a:r>
          </a:p>
        </p:txBody>
      </p:sp>
      <p:sp>
        <p:nvSpPr>
          <p:cNvPr id="448515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296863" y="1349375"/>
            <a:ext cx="8550275" cy="4805363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dirty="0" smtClean="0">
                <a:latin typeface="Times New Roman" pitchFamily="18" charset="0"/>
                <a:ea typeface="黑体" pitchFamily="2" charset="-122"/>
              </a:rPr>
              <a:t>3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．</a:t>
            </a:r>
            <a:r>
              <a:rPr lang="en-US" altLang="zh-CN" dirty="0" smtClean="0">
                <a:latin typeface="Times New Roman" pitchFamily="18" charset="0"/>
                <a:ea typeface="黑体" pitchFamily="2" charset="-122"/>
              </a:rPr>
              <a:t>CIE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标准色度系统</a:t>
            </a:r>
          </a:p>
          <a:p>
            <a:pPr eaLnBrk="1" hangingPunct="1">
              <a:defRPr/>
            </a:pP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国际照明委员会（英文缩写</a:t>
            </a:r>
            <a:r>
              <a:rPr lang="en-US" altLang="zh-CN" dirty="0" smtClean="0">
                <a:latin typeface="Times New Roman" pitchFamily="18" charset="0"/>
                <a:ea typeface="黑体" pitchFamily="2" charset="-122"/>
              </a:rPr>
              <a:t>CIE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）曾推荐了几种色度学系统，以统一颜色的表示方法和测量条件。</a:t>
            </a:r>
          </a:p>
          <a:p>
            <a:pPr eaLnBrk="1" hangingPunct="1">
              <a:defRPr/>
            </a:pP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国际照明委员会在</a:t>
            </a:r>
            <a:r>
              <a:rPr lang="en-US" altLang="zh-CN" dirty="0" smtClean="0">
                <a:latin typeface="Times New Roman" pitchFamily="18" charset="0"/>
                <a:ea typeface="黑体" pitchFamily="2" charset="-122"/>
              </a:rPr>
              <a:t>1931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年同时推荐了两套色度学系统：</a:t>
            </a:r>
            <a:r>
              <a:rPr lang="en-US" altLang="zh-CN" dirty="0" smtClean="0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1931CIE-RGB</a:t>
            </a:r>
            <a:r>
              <a:rPr lang="zh-CN" altLang="en-US" dirty="0" smtClean="0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系统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和</a:t>
            </a:r>
            <a:r>
              <a:rPr lang="en-US" altLang="zh-CN" dirty="0" smtClean="0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1931CIE-XYZ</a:t>
            </a:r>
            <a:r>
              <a:rPr lang="zh-CN" altLang="en-US" dirty="0" smtClean="0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系统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，</a:t>
            </a:r>
            <a:r>
              <a:rPr lang="en-US" altLang="zh-CN" dirty="0" smtClean="0">
                <a:latin typeface="Times New Roman" pitchFamily="18" charset="0"/>
                <a:ea typeface="黑体" pitchFamily="2" charset="-122"/>
              </a:rPr>
              <a:t>1964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年又推荐了</a:t>
            </a:r>
            <a:r>
              <a:rPr lang="en-US" altLang="zh-CN" dirty="0" smtClean="0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CIE1964</a:t>
            </a:r>
            <a:r>
              <a:rPr lang="zh-CN" altLang="en-US" dirty="0" smtClean="0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补充标准色度学系统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。</a:t>
            </a:r>
          </a:p>
          <a:p>
            <a:pPr eaLnBrk="1" hangingPunct="1">
              <a:defRPr/>
            </a:pP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表色系统一般包括：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sz="2400" dirty="0" smtClean="0">
                <a:latin typeface="Times New Roman" pitchFamily="18" charset="0"/>
                <a:ea typeface="黑体" pitchFamily="2" charset="-122"/>
              </a:rPr>
              <a:t>三原色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sz="2400" dirty="0" smtClean="0">
                <a:latin typeface="Times New Roman" pitchFamily="18" charset="0"/>
                <a:ea typeface="黑体" pitchFamily="2" charset="-122"/>
              </a:rPr>
              <a:t>三原色的单位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sz="2400" dirty="0" smtClean="0">
                <a:latin typeface="Times New Roman" pitchFamily="18" charset="0"/>
                <a:ea typeface="黑体" pitchFamily="2" charset="-122"/>
              </a:rPr>
              <a:t>光谱三刺激值等</a:t>
            </a:r>
          </a:p>
        </p:txBody>
      </p:sp>
      <p:sp>
        <p:nvSpPr>
          <p:cNvPr id="34822" name="Rectangle 4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4823" name="Rectangle 5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4824" name="Rectangle 6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4825" name="Rectangle 7"/>
          <p:cNvSpPr>
            <a:spLocks noChangeArrowheads="1"/>
          </p:cNvSpPr>
          <p:nvPr/>
        </p:nvSpPr>
        <p:spPr bwMode="auto">
          <a:xfrm>
            <a:off x="0" y="27336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4826" name="Rectangle 8"/>
          <p:cNvSpPr>
            <a:spLocks noChangeArrowheads="1"/>
          </p:cNvSpPr>
          <p:nvPr/>
        </p:nvSpPr>
        <p:spPr bwMode="auto">
          <a:xfrm>
            <a:off x="0" y="28956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>
    <p:circl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B2AE4B01-6629-48F8-BB67-1C788A7E686E}" type="datetime1">
              <a:rPr lang="zh-CN" altLang="en-US" smtClean="0">
                <a:ea typeface="宋体" charset="-122"/>
              </a:rPr>
              <a:pPr/>
              <a:t>2018/2/24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35843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1820AAC-E926-4A17-99E8-A7C65A79FBF2}" type="slidenum">
              <a:rPr lang="en-US" altLang="zh-CN" smtClean="0">
                <a:ea typeface="宋体" charset="-122"/>
              </a:rPr>
              <a:pPr/>
              <a:t>23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44953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66713" y="306388"/>
            <a:ext cx="8270875" cy="839787"/>
          </a:xfrm>
        </p:spPr>
        <p:txBody>
          <a:bodyPr/>
          <a:lstStyle/>
          <a:p>
            <a:pPr eaLnBrk="1" fontAlgn="b" hangingPunct="1">
              <a:defRPr/>
            </a:pPr>
            <a:r>
              <a:rPr lang="en-US" altLang="zh-CN" sz="40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§4-1 </a:t>
            </a:r>
            <a:r>
              <a:rPr lang="zh-CN" altLang="en-US" sz="40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色度学的基本概念和实验定律</a:t>
            </a:r>
            <a:r>
              <a:rPr lang="zh-CN" altLang="en-US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 </a:t>
            </a:r>
          </a:p>
        </p:txBody>
      </p:sp>
      <p:sp>
        <p:nvSpPr>
          <p:cNvPr id="449539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296863" y="1349375"/>
            <a:ext cx="8550275" cy="4805363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mtClean="0">
                <a:latin typeface="Times New Roman" pitchFamily="18" charset="0"/>
                <a:ea typeface="黑体" pitchFamily="2" charset="-122"/>
              </a:rPr>
              <a:t>3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．</a:t>
            </a:r>
            <a:r>
              <a:rPr lang="en-US" altLang="zh-CN" smtClean="0">
                <a:latin typeface="Times New Roman" pitchFamily="18" charset="0"/>
                <a:ea typeface="黑体" pitchFamily="2" charset="-122"/>
              </a:rPr>
              <a:t>CIE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标准表色度系统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mtClean="0">
                <a:latin typeface="Times New Roman" pitchFamily="18" charset="0"/>
                <a:ea typeface="黑体" pitchFamily="2" charset="-122"/>
              </a:rPr>
              <a:t>1)   1931CIE-RGB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系统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三原色：</a:t>
            </a:r>
          </a:p>
          <a:p>
            <a:pPr lvl="1" eaLnBrk="1" hangingPunct="1">
              <a:lnSpc>
                <a:spcPct val="130000"/>
              </a:lnSpc>
              <a:defRPr/>
            </a:pP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红</a:t>
            </a:r>
            <a:r>
              <a:rPr lang="en-US" altLang="zh-CN" smtClean="0">
                <a:latin typeface="Times New Roman" pitchFamily="18" charset="0"/>
                <a:ea typeface="黑体" pitchFamily="2" charset="-122"/>
              </a:rPr>
              <a:t>(R)(</a:t>
            </a:r>
            <a:r>
              <a:rPr lang="el-GR" altLang="zh-CN" i="1" smtClean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λ</a:t>
            </a:r>
            <a:r>
              <a:rPr lang="zh-CN" altLang="en-US" smtClean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＝</a:t>
            </a:r>
            <a:r>
              <a:rPr lang="en-US" altLang="zh-CN" smtClean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700nm</a:t>
            </a:r>
            <a:r>
              <a:rPr lang="en-US" altLang="zh-CN" smtClean="0">
                <a:latin typeface="Times New Roman" pitchFamily="18" charset="0"/>
                <a:ea typeface="黑体" pitchFamily="2" charset="-122"/>
              </a:rPr>
              <a:t>)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、绿</a:t>
            </a:r>
            <a:r>
              <a:rPr lang="en-US" altLang="zh-CN" smtClean="0">
                <a:latin typeface="Times New Roman" pitchFamily="18" charset="0"/>
                <a:ea typeface="黑体" pitchFamily="2" charset="-122"/>
              </a:rPr>
              <a:t>(G)(</a:t>
            </a:r>
            <a:r>
              <a:rPr lang="el-GR" altLang="zh-CN" i="1" smtClean="0">
                <a:latin typeface="Times New Roman" pitchFamily="18" charset="0"/>
                <a:ea typeface="黑体" pitchFamily="2" charset="-122"/>
              </a:rPr>
              <a:t>λ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＝</a:t>
            </a:r>
            <a:r>
              <a:rPr lang="en-US" altLang="zh-CN" smtClean="0">
                <a:latin typeface="Times New Roman" pitchFamily="18" charset="0"/>
                <a:ea typeface="黑体" pitchFamily="2" charset="-122"/>
              </a:rPr>
              <a:t>546.1nm)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、蓝</a:t>
            </a:r>
            <a:r>
              <a:rPr lang="en-US" altLang="zh-CN" smtClean="0">
                <a:latin typeface="Times New Roman" pitchFamily="18" charset="0"/>
                <a:ea typeface="黑体" pitchFamily="2" charset="-122"/>
              </a:rPr>
              <a:t>(B)(</a:t>
            </a:r>
            <a:r>
              <a:rPr lang="el-GR" altLang="zh-CN" i="1" smtClean="0">
                <a:latin typeface="Times New Roman" pitchFamily="18" charset="0"/>
                <a:ea typeface="黑体" pitchFamily="2" charset="-122"/>
              </a:rPr>
              <a:t>λ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＝</a:t>
            </a:r>
            <a:r>
              <a:rPr lang="en-US" altLang="zh-CN" smtClean="0">
                <a:latin typeface="Times New Roman" pitchFamily="18" charset="0"/>
                <a:ea typeface="黑体" pitchFamily="2" charset="-122"/>
              </a:rPr>
              <a:t>435.8nm)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三原色单位：</a:t>
            </a:r>
          </a:p>
          <a:p>
            <a:pPr lvl="1" eaLnBrk="1" hangingPunct="1">
              <a:lnSpc>
                <a:spcPct val="130000"/>
              </a:lnSpc>
              <a:defRPr/>
            </a:pP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三原色光（</a:t>
            </a:r>
            <a:r>
              <a:rPr lang="en-US" altLang="zh-CN" i="1" smtClean="0">
                <a:latin typeface="Times New Roman" pitchFamily="18" charset="0"/>
                <a:ea typeface="黑体" pitchFamily="2" charset="-122"/>
              </a:rPr>
              <a:t>R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）、（</a:t>
            </a:r>
            <a:r>
              <a:rPr lang="en-US" altLang="zh-CN" i="1" smtClean="0">
                <a:latin typeface="Times New Roman" pitchFamily="18" charset="0"/>
                <a:ea typeface="黑体" pitchFamily="2" charset="-122"/>
              </a:rPr>
              <a:t>G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）、（</a:t>
            </a:r>
            <a:r>
              <a:rPr lang="en-US" altLang="zh-CN" i="1" smtClean="0">
                <a:latin typeface="Times New Roman" pitchFamily="18" charset="0"/>
                <a:ea typeface="黑体" pitchFamily="2" charset="-122"/>
              </a:rPr>
              <a:t>B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）单位刺激值的光亮度比为</a:t>
            </a:r>
            <a:r>
              <a:rPr lang="en-US" altLang="zh-CN" smtClean="0">
                <a:latin typeface="Times New Roman" pitchFamily="18" charset="0"/>
                <a:ea typeface="黑体" pitchFamily="2" charset="-122"/>
              </a:rPr>
              <a:t>1.0000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：</a:t>
            </a:r>
            <a:r>
              <a:rPr lang="en-US" altLang="zh-CN" smtClean="0">
                <a:latin typeface="Times New Roman" pitchFamily="18" charset="0"/>
                <a:ea typeface="黑体" pitchFamily="2" charset="-122"/>
              </a:rPr>
              <a:t>4.5907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：</a:t>
            </a:r>
            <a:r>
              <a:rPr lang="en-US" altLang="zh-CN" smtClean="0">
                <a:latin typeface="Times New Roman" pitchFamily="18" charset="0"/>
                <a:ea typeface="黑体" pitchFamily="2" charset="-122"/>
              </a:rPr>
              <a:t>0.0601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；辐亮度比为</a:t>
            </a:r>
            <a:r>
              <a:rPr lang="en-US" altLang="zh-CN" smtClean="0">
                <a:latin typeface="Times New Roman" pitchFamily="18" charset="0"/>
                <a:ea typeface="黑体" pitchFamily="2" charset="-122"/>
              </a:rPr>
              <a:t>72.0962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：</a:t>
            </a:r>
            <a:r>
              <a:rPr lang="en-US" altLang="zh-CN" smtClean="0">
                <a:latin typeface="Times New Roman" pitchFamily="18" charset="0"/>
                <a:ea typeface="黑体" pitchFamily="2" charset="-122"/>
              </a:rPr>
              <a:t>1.3791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：</a:t>
            </a:r>
            <a:r>
              <a:rPr lang="en-US" altLang="zh-CN" smtClean="0">
                <a:latin typeface="Times New Roman" pitchFamily="18" charset="0"/>
                <a:ea typeface="黑体" pitchFamily="2" charset="-122"/>
              </a:rPr>
              <a:t>1.0000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。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光谱三刺激值：</a:t>
            </a:r>
          </a:p>
        </p:txBody>
      </p:sp>
      <p:sp>
        <p:nvSpPr>
          <p:cNvPr id="35846" name="Rectangle 4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5847" name="Rectangle 5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5848" name="Rectangle 6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5849" name="Rectangle 7"/>
          <p:cNvSpPr>
            <a:spLocks noChangeArrowheads="1"/>
          </p:cNvSpPr>
          <p:nvPr/>
        </p:nvSpPr>
        <p:spPr bwMode="auto">
          <a:xfrm>
            <a:off x="0" y="27336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5850" name="Rectangle 8"/>
          <p:cNvSpPr>
            <a:spLocks noChangeArrowheads="1"/>
          </p:cNvSpPr>
          <p:nvPr/>
        </p:nvSpPr>
        <p:spPr bwMode="auto">
          <a:xfrm>
            <a:off x="0" y="28956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>
    <p:circl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C715035D-536E-4BB9-BC29-FE7BDF4D1ABE}" type="datetime1">
              <a:rPr lang="zh-CN" altLang="en-US" smtClean="0">
                <a:ea typeface="宋体" charset="-122"/>
              </a:rPr>
              <a:pPr/>
              <a:t>2018/2/24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36867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525EFF9-FCA6-47AB-86E9-C7E4741325E1}" type="slidenum">
              <a:rPr lang="en-US" altLang="zh-CN" smtClean="0">
                <a:ea typeface="宋体" charset="-122"/>
              </a:rPr>
              <a:pPr/>
              <a:t>24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4966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66713" y="306388"/>
            <a:ext cx="8270875" cy="839787"/>
          </a:xfrm>
        </p:spPr>
        <p:txBody>
          <a:bodyPr/>
          <a:lstStyle/>
          <a:p>
            <a:pPr eaLnBrk="1" fontAlgn="b" hangingPunct="1">
              <a:defRPr/>
            </a:pPr>
            <a:r>
              <a:rPr lang="en-US" altLang="zh-CN" sz="40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§4-1 </a:t>
            </a:r>
            <a:r>
              <a:rPr lang="zh-CN" altLang="en-US" sz="40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色度学的基本概念和实验定律</a:t>
            </a:r>
            <a:r>
              <a:rPr lang="zh-CN" altLang="en-US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 </a:t>
            </a:r>
          </a:p>
        </p:txBody>
      </p:sp>
      <p:sp>
        <p:nvSpPr>
          <p:cNvPr id="36869" name="Rectangle 4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6870" name="Rectangle 5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6871" name="Rectangle 6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6872" name="Rectangle 7"/>
          <p:cNvSpPr>
            <a:spLocks noChangeArrowheads="1"/>
          </p:cNvSpPr>
          <p:nvPr/>
        </p:nvSpPr>
        <p:spPr bwMode="auto">
          <a:xfrm>
            <a:off x="0" y="27336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6873" name="Rectangle 8"/>
          <p:cNvSpPr>
            <a:spLocks noChangeArrowheads="1"/>
          </p:cNvSpPr>
          <p:nvPr/>
        </p:nvSpPr>
        <p:spPr bwMode="auto">
          <a:xfrm>
            <a:off x="0" y="28956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36874" name="Group 9"/>
          <p:cNvGrpSpPr>
            <a:grpSpLocks/>
          </p:cNvGrpSpPr>
          <p:nvPr/>
        </p:nvGrpSpPr>
        <p:grpSpPr bwMode="auto">
          <a:xfrm>
            <a:off x="601663" y="382588"/>
            <a:ext cx="8542337" cy="5702300"/>
            <a:chOff x="226" y="343"/>
            <a:chExt cx="5381" cy="3592"/>
          </a:xfrm>
        </p:grpSpPr>
        <p:pic>
          <p:nvPicPr>
            <p:cNvPr id="36875" name="Picture 10" descr="26"/>
            <p:cNvPicPr>
              <a:picLocks noChangeAspect="1" noChangeArrowheads="1"/>
            </p:cNvPicPr>
            <p:nvPr/>
          </p:nvPicPr>
          <p:blipFill>
            <a:blip r:embed="rId2"/>
            <a:srcRect t="15703" r="25337"/>
            <a:stretch>
              <a:fillRect/>
            </a:stretch>
          </p:blipFill>
          <p:spPr bwMode="auto">
            <a:xfrm>
              <a:off x="226" y="343"/>
              <a:ext cx="5381" cy="32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96651" name="Text Box 11"/>
            <p:cNvSpPr txBox="1">
              <a:spLocks noChangeArrowheads="1"/>
            </p:cNvSpPr>
            <p:nvPr/>
          </p:nvSpPr>
          <p:spPr bwMode="auto">
            <a:xfrm>
              <a:off x="252" y="3656"/>
              <a:ext cx="2469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r>
                <a:rPr lang="en-US" altLang="zh-CN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rPr>
                <a:t>1931CIE-RGB</a:t>
              </a:r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rPr>
                <a:t>系统标准色度观察者光谱三刺激值波长变化曲线</a:t>
              </a:r>
            </a:p>
          </p:txBody>
        </p:sp>
        <p:sp>
          <p:nvSpPr>
            <p:cNvPr id="496652" name="Text Box 12"/>
            <p:cNvSpPr txBox="1">
              <a:spLocks noChangeArrowheads="1"/>
            </p:cNvSpPr>
            <p:nvPr/>
          </p:nvSpPr>
          <p:spPr bwMode="auto">
            <a:xfrm>
              <a:off x="2733" y="3650"/>
              <a:ext cx="2521" cy="2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r>
                <a:rPr lang="en-US" altLang="zh-CN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rPr>
                <a:t>1931CIE-RGB</a:t>
              </a:r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rPr>
                <a:t>系统色品图</a:t>
              </a:r>
            </a:p>
          </p:txBody>
        </p:sp>
      </p:grpSp>
    </p:spTree>
  </p:cSld>
  <p:clrMapOvr>
    <a:masterClrMapping/>
  </p:clrMapOvr>
  <p:transition>
    <p:circl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7A1EACB8-614A-4173-AB78-4E3835D5E065}" type="datetime1">
              <a:rPr lang="zh-CN" altLang="en-US" smtClean="0">
                <a:ea typeface="宋体" charset="-122"/>
              </a:rPr>
              <a:pPr/>
              <a:t>2018/2/24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614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3DA4F8E-FDA9-40C5-9B39-C0586713B5CC}" type="slidenum">
              <a:rPr lang="en-US" altLang="zh-CN" smtClean="0">
                <a:ea typeface="宋体" charset="-122"/>
              </a:rPr>
              <a:pPr/>
              <a:t>25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45056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66713" y="306388"/>
            <a:ext cx="8270875" cy="839787"/>
          </a:xfrm>
        </p:spPr>
        <p:txBody>
          <a:bodyPr/>
          <a:lstStyle/>
          <a:p>
            <a:pPr eaLnBrk="1" fontAlgn="b" hangingPunct="1">
              <a:defRPr/>
            </a:pPr>
            <a:r>
              <a:rPr lang="en-US" altLang="zh-CN" sz="40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§4-1 </a:t>
            </a:r>
            <a:r>
              <a:rPr lang="zh-CN" altLang="en-US" sz="40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色度学的基本概念和实验定律</a:t>
            </a:r>
            <a:r>
              <a:rPr lang="zh-CN" altLang="en-US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 </a:t>
            </a:r>
          </a:p>
        </p:txBody>
      </p:sp>
      <p:sp>
        <p:nvSpPr>
          <p:cNvPr id="450563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296863" y="1349375"/>
            <a:ext cx="8550275" cy="4805363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dirty="0" smtClean="0">
                <a:latin typeface="Times New Roman" pitchFamily="18" charset="0"/>
                <a:ea typeface="黑体" pitchFamily="2" charset="-122"/>
              </a:rPr>
              <a:t>3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．</a:t>
            </a:r>
            <a:r>
              <a:rPr lang="en-US" altLang="zh-CN" dirty="0" smtClean="0">
                <a:latin typeface="Times New Roman" pitchFamily="18" charset="0"/>
                <a:ea typeface="黑体" pitchFamily="2" charset="-122"/>
              </a:rPr>
              <a:t>CIE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标准表色度系统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dirty="0" smtClean="0">
                <a:latin typeface="Times New Roman" pitchFamily="18" charset="0"/>
                <a:ea typeface="黑体" pitchFamily="2" charset="-122"/>
              </a:rPr>
              <a:t>2)   1931CIE-XYZ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系统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三原色：</a:t>
            </a:r>
          </a:p>
          <a:p>
            <a:pPr lvl="1" eaLnBrk="1" hangingPunct="1">
              <a:lnSpc>
                <a:spcPct val="105000"/>
              </a:lnSpc>
              <a:defRPr/>
            </a:pPr>
            <a:r>
              <a:rPr lang="en-US" altLang="zh-CN" dirty="0" smtClean="0">
                <a:latin typeface="Times New Roman" pitchFamily="18" charset="0"/>
                <a:ea typeface="黑体" pitchFamily="2" charset="-122"/>
              </a:rPr>
              <a:t>1931CIE-XYZ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系统的三原色选择的要求是：</a:t>
            </a:r>
            <a:endParaRPr lang="en-US" altLang="zh-CN" dirty="0" smtClean="0">
              <a:latin typeface="Times New Roman" pitchFamily="18" charset="0"/>
              <a:ea typeface="黑体" pitchFamily="2" charset="-122"/>
            </a:endParaRPr>
          </a:p>
          <a:p>
            <a:pPr lvl="1" eaLnBrk="1" hangingPunct="1">
              <a:lnSpc>
                <a:spcPct val="105000"/>
              </a:lnSpc>
              <a:buClr>
                <a:srgbClr val="0066CC"/>
              </a:buClr>
              <a:buFont typeface="Wingdings" pitchFamily="2" charset="2"/>
              <a:buChar char="ü"/>
              <a:defRPr/>
            </a:pPr>
            <a:r>
              <a:rPr lang="en-US" altLang="zh-CN" dirty="0" smtClean="0">
                <a:latin typeface="Times New Roman" pitchFamily="18" charset="0"/>
                <a:ea typeface="黑体" pitchFamily="2" charset="-122"/>
              </a:rPr>
              <a:t>1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）用三原色匹配等能的光谱色时，三刺激值均为正；</a:t>
            </a:r>
            <a:endParaRPr lang="en-US" altLang="zh-CN" dirty="0" smtClean="0">
              <a:latin typeface="Times New Roman" pitchFamily="18" charset="0"/>
              <a:ea typeface="黑体" pitchFamily="2" charset="-122"/>
            </a:endParaRPr>
          </a:p>
          <a:p>
            <a:pPr lvl="1" eaLnBrk="1" hangingPunct="1">
              <a:lnSpc>
                <a:spcPct val="105000"/>
              </a:lnSpc>
              <a:buClr>
                <a:srgbClr val="0066CC"/>
              </a:buClr>
              <a:buFont typeface="Wingdings" pitchFamily="2" charset="2"/>
              <a:buChar char="ü"/>
              <a:defRPr/>
            </a:pPr>
            <a:r>
              <a:rPr lang="en-US" altLang="zh-CN" dirty="0" smtClean="0">
                <a:latin typeface="Times New Roman" pitchFamily="18" charset="0"/>
                <a:ea typeface="黑体" pitchFamily="2" charset="-122"/>
              </a:rPr>
              <a:t>2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）色品图上表示的实际不存在的颜色所占的面积尽量小；</a:t>
            </a:r>
            <a:endParaRPr lang="en-US" altLang="zh-CN" dirty="0" smtClean="0">
              <a:latin typeface="Times New Roman" pitchFamily="18" charset="0"/>
              <a:ea typeface="黑体" pitchFamily="2" charset="-122"/>
            </a:endParaRPr>
          </a:p>
          <a:p>
            <a:pPr lvl="1" eaLnBrk="1" hangingPunct="1">
              <a:lnSpc>
                <a:spcPct val="105000"/>
              </a:lnSpc>
              <a:buClr>
                <a:srgbClr val="0066CC"/>
              </a:buClr>
              <a:buFont typeface="Wingdings" pitchFamily="2" charset="2"/>
              <a:buChar char="ü"/>
              <a:defRPr/>
            </a:pPr>
            <a:r>
              <a:rPr lang="en-US" altLang="zh-CN" dirty="0" smtClean="0">
                <a:latin typeface="Times New Roman" pitchFamily="18" charset="0"/>
                <a:ea typeface="黑体" pitchFamily="2" charset="-122"/>
              </a:rPr>
              <a:t>3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）用</a:t>
            </a:r>
            <a:r>
              <a:rPr lang="en-US" altLang="zh-CN" i="1" dirty="0" smtClean="0">
                <a:latin typeface="Times New Roman" pitchFamily="18" charset="0"/>
                <a:ea typeface="黑体" pitchFamily="2" charset="-122"/>
              </a:rPr>
              <a:t>Y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刺激值表示颜色的亮度。</a:t>
            </a:r>
          </a:p>
          <a:p>
            <a:pPr lvl="1" eaLnBrk="1" hangingPunct="1">
              <a:lnSpc>
                <a:spcPct val="105000"/>
              </a:lnSpc>
              <a:defRPr/>
            </a:pP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（</a:t>
            </a:r>
            <a:r>
              <a:rPr lang="en-US" altLang="zh-CN" i="1" dirty="0" smtClean="0">
                <a:latin typeface="Times New Roman" pitchFamily="18" charset="0"/>
                <a:ea typeface="黑体" pitchFamily="2" charset="-122"/>
              </a:rPr>
              <a:t>X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）、（</a:t>
            </a:r>
            <a:r>
              <a:rPr lang="en-US" altLang="zh-CN" i="1" dirty="0" smtClean="0">
                <a:latin typeface="Times New Roman" pitchFamily="18" charset="0"/>
                <a:ea typeface="黑体" pitchFamily="2" charset="-122"/>
              </a:rPr>
              <a:t>Y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）、（</a:t>
            </a:r>
            <a:r>
              <a:rPr lang="en-US" altLang="zh-CN" i="1" dirty="0" smtClean="0">
                <a:latin typeface="Times New Roman" pitchFamily="18" charset="0"/>
                <a:ea typeface="黑体" pitchFamily="2" charset="-122"/>
              </a:rPr>
              <a:t>Z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）作为色度学系统的三原色是有意义的，但实际上并不存在这三种颜色。</a:t>
            </a:r>
            <a:r>
              <a:rPr lang="en-US" altLang="zh-CN" dirty="0" smtClean="0">
                <a:latin typeface="Times New Roman" pitchFamily="18" charset="0"/>
                <a:ea typeface="黑体" pitchFamily="2" charset="-122"/>
              </a:rPr>
              <a:t>XYZ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系统的光谱三刺激值也无法通过颜色匹配实验直接得到，而是以</a:t>
            </a:r>
            <a:r>
              <a:rPr lang="en-US" altLang="zh-CN" dirty="0" smtClean="0">
                <a:latin typeface="Times New Roman" pitchFamily="18" charset="0"/>
                <a:ea typeface="黑体" pitchFamily="2" charset="-122"/>
              </a:rPr>
              <a:t>1931CIE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－</a:t>
            </a:r>
            <a:r>
              <a:rPr lang="en-US" altLang="zh-CN" dirty="0" smtClean="0">
                <a:latin typeface="Times New Roman" pitchFamily="18" charset="0"/>
                <a:ea typeface="黑体" pitchFamily="2" charset="-122"/>
              </a:rPr>
              <a:t>RGB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系统光谱色品坐标值换算求得。 </a:t>
            </a:r>
          </a:p>
          <a:p>
            <a:pPr eaLnBrk="1" hangingPunct="1">
              <a:lnSpc>
                <a:spcPct val="80000"/>
              </a:lnSpc>
              <a:defRPr/>
            </a:pPr>
            <a:endParaRPr lang="zh-CN" altLang="en-US" sz="2000" dirty="0" smtClean="0">
              <a:latin typeface="Times New Roman" pitchFamily="18" charset="0"/>
              <a:ea typeface="黑体" pitchFamily="2" charset="-122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光谱三刺激值：</a:t>
            </a:r>
          </a:p>
        </p:txBody>
      </p:sp>
      <p:sp>
        <p:nvSpPr>
          <p:cNvPr id="6151" name="Rectangle 4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152" name="Rectangle 5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153" name="Rectangle 6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154" name="Rectangle 7"/>
          <p:cNvSpPr>
            <a:spLocks noChangeArrowheads="1"/>
          </p:cNvSpPr>
          <p:nvPr/>
        </p:nvSpPr>
        <p:spPr bwMode="auto">
          <a:xfrm>
            <a:off x="0" y="27336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155" name="Rectangle 8"/>
          <p:cNvSpPr>
            <a:spLocks noChangeArrowheads="1"/>
          </p:cNvSpPr>
          <p:nvPr/>
        </p:nvSpPr>
        <p:spPr bwMode="auto">
          <a:xfrm>
            <a:off x="0" y="28956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156" name="Rectangle 9"/>
          <p:cNvSpPr>
            <a:spLocks noChangeArrowheads="1"/>
          </p:cNvSpPr>
          <p:nvPr/>
        </p:nvSpPr>
        <p:spPr bwMode="auto">
          <a:xfrm>
            <a:off x="0" y="30718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450570" name="Object 10"/>
          <p:cNvGraphicFramePr>
            <a:graphicFrameLocks noChangeAspect="1"/>
          </p:cNvGraphicFramePr>
          <p:nvPr/>
        </p:nvGraphicFramePr>
        <p:xfrm>
          <a:off x="3187700" y="5159375"/>
          <a:ext cx="4621213" cy="1468438"/>
        </p:xfrm>
        <a:graphic>
          <a:graphicData uri="http://schemas.openxmlformats.org/presentationml/2006/ole">
            <p:oleObj spid="_x0000_s6146" name="公式" r:id="rId3" imgW="2247900" imgH="711200" progId="Equation.3">
              <p:embed/>
            </p:oleObj>
          </a:graphicData>
        </a:graphic>
      </p:graphicFrame>
      <p:sp>
        <p:nvSpPr>
          <p:cNvPr id="6157" name="Rectangle 11"/>
          <p:cNvSpPr>
            <a:spLocks noChangeArrowheads="1"/>
          </p:cNvSpPr>
          <p:nvPr/>
        </p:nvSpPr>
        <p:spPr bwMode="auto">
          <a:xfrm>
            <a:off x="0" y="37861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158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505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505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BAB1175F-7D1E-401B-895B-2331294FC105}" type="datetime1">
              <a:rPr lang="zh-CN" altLang="en-US" smtClean="0">
                <a:ea typeface="宋体" charset="-122"/>
              </a:rPr>
              <a:pPr/>
              <a:t>2018/2/24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37891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8C1E775-87C9-4E1A-B717-7B59458539D0}" type="slidenum">
              <a:rPr lang="en-US" altLang="zh-CN" smtClean="0">
                <a:ea typeface="宋体" charset="-122"/>
              </a:rPr>
              <a:pPr/>
              <a:t>26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7893" name="Rectangle 5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7894" name="Rectangle 6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7895" name="Rectangle 7"/>
          <p:cNvSpPr>
            <a:spLocks noChangeArrowheads="1"/>
          </p:cNvSpPr>
          <p:nvPr/>
        </p:nvSpPr>
        <p:spPr bwMode="auto">
          <a:xfrm>
            <a:off x="0" y="27336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7896" name="Rectangle 8"/>
          <p:cNvSpPr>
            <a:spLocks noChangeArrowheads="1"/>
          </p:cNvSpPr>
          <p:nvPr/>
        </p:nvSpPr>
        <p:spPr bwMode="auto">
          <a:xfrm>
            <a:off x="0" y="28956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7897" name="Rectangle 9"/>
          <p:cNvSpPr>
            <a:spLocks noChangeArrowheads="1"/>
          </p:cNvSpPr>
          <p:nvPr/>
        </p:nvSpPr>
        <p:spPr bwMode="auto">
          <a:xfrm>
            <a:off x="0" y="30718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7898" name="Rectangle 11"/>
          <p:cNvSpPr>
            <a:spLocks noChangeArrowheads="1"/>
          </p:cNvSpPr>
          <p:nvPr/>
        </p:nvSpPr>
        <p:spPr bwMode="auto">
          <a:xfrm>
            <a:off x="0" y="37861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7899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37900" name="Group 13"/>
          <p:cNvGrpSpPr>
            <a:grpSpLocks/>
          </p:cNvGrpSpPr>
          <p:nvPr/>
        </p:nvGrpSpPr>
        <p:grpSpPr bwMode="auto">
          <a:xfrm>
            <a:off x="442913" y="565150"/>
            <a:ext cx="8367712" cy="6335713"/>
            <a:chOff x="218" y="512"/>
            <a:chExt cx="5271" cy="3991"/>
          </a:xfrm>
        </p:grpSpPr>
        <p:pic>
          <p:nvPicPr>
            <p:cNvPr id="37902" name="Picture 14" descr="27"/>
            <p:cNvPicPr>
              <a:picLocks noChangeAspect="1" noChangeArrowheads="1"/>
            </p:cNvPicPr>
            <p:nvPr/>
          </p:nvPicPr>
          <p:blipFill>
            <a:blip r:embed="rId2"/>
            <a:srcRect l="4573" t="24162" r="9496" b="9549"/>
            <a:stretch>
              <a:fillRect/>
            </a:stretch>
          </p:blipFill>
          <p:spPr bwMode="auto">
            <a:xfrm>
              <a:off x="218" y="512"/>
              <a:ext cx="5271" cy="32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97679" name="Text Box 15"/>
            <p:cNvSpPr txBox="1">
              <a:spLocks noChangeArrowheads="1"/>
            </p:cNvSpPr>
            <p:nvPr/>
          </p:nvSpPr>
          <p:spPr bwMode="auto">
            <a:xfrm>
              <a:off x="481" y="3912"/>
              <a:ext cx="2206" cy="5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r>
                <a:rPr lang="en-US" altLang="zh-CN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rPr>
                <a:t>CIE1931</a:t>
              </a:r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rPr>
                <a:t>标准色度观察者光谱三刺激值曲线</a:t>
              </a:r>
            </a:p>
          </p:txBody>
        </p:sp>
        <p:sp>
          <p:nvSpPr>
            <p:cNvPr id="497680" name="Text Box 16"/>
            <p:cNvSpPr txBox="1">
              <a:spLocks noChangeArrowheads="1"/>
            </p:cNvSpPr>
            <p:nvPr/>
          </p:nvSpPr>
          <p:spPr bwMode="auto">
            <a:xfrm>
              <a:off x="2981" y="3925"/>
              <a:ext cx="2249" cy="39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r>
                <a:rPr lang="en-US" altLang="zh-CN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rPr>
                <a:t>1931CIE</a:t>
              </a:r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rPr>
                <a:t>－</a:t>
              </a:r>
              <a:r>
                <a:rPr lang="en-US" altLang="zh-CN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rPr>
                <a:t>XYZ</a:t>
              </a:r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rPr>
                <a:t>系统色品图</a:t>
              </a:r>
            </a:p>
            <a:p>
              <a:pPr algn="just">
                <a:defRPr/>
              </a:pPr>
              <a:endParaRPr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endParaRPr>
            </a:p>
          </p:txBody>
        </p:sp>
      </p:grpSp>
      <p:sp>
        <p:nvSpPr>
          <p:cNvPr id="497681" name="AutoShape 17"/>
          <p:cNvSpPr>
            <a:spLocks noChangeArrowheads="1"/>
          </p:cNvSpPr>
          <p:nvPr/>
        </p:nvSpPr>
        <p:spPr bwMode="auto">
          <a:xfrm>
            <a:off x="2992438" y="1903413"/>
            <a:ext cx="3873500" cy="2727325"/>
          </a:xfrm>
          <a:prstGeom prst="wedgeEllipseCallout">
            <a:avLst>
              <a:gd name="adj1" fmla="val 48852"/>
              <a:gd name="adj2" fmla="val 4982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 altLang="zh-CN" b="1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ea typeface="宋体" pitchFamily="2" charset="-122"/>
            </a:endParaRPr>
          </a:p>
          <a:p>
            <a:pPr>
              <a:defRPr/>
            </a:pPr>
            <a:r>
              <a:rPr lang="zh-CN" altLang="en-US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黑体" pitchFamily="2" charset="-122"/>
              </a:rPr>
              <a:t>这段不是光谱色，而是</a:t>
            </a:r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黑体" pitchFamily="2" charset="-122"/>
              </a:rPr>
              <a:t>770nm</a:t>
            </a:r>
            <a:r>
              <a:rPr lang="zh-CN" altLang="en-US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黑体" pitchFamily="2" charset="-122"/>
              </a:rPr>
              <a:t>（红）和</a:t>
            </a:r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黑体" pitchFamily="2" charset="-122"/>
              </a:rPr>
              <a:t>380nm</a:t>
            </a:r>
            <a:r>
              <a:rPr lang="zh-CN" altLang="en-US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黑体" pitchFamily="2" charset="-122"/>
              </a:rPr>
              <a:t>（紫）两光谱色混合色的色品轨迹。 </a:t>
            </a:r>
          </a:p>
          <a:p>
            <a:pPr algn="ctr">
              <a:defRPr/>
            </a:pPr>
            <a:endParaRPr lang="en-US" altLang="zh-CN" b="1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  <a:ea typeface="黑体" pitchFamily="2" charset="-122"/>
            </a:endParaRPr>
          </a:p>
        </p:txBody>
      </p:sp>
    </p:spTree>
  </p:cSld>
  <p:clrMapOvr>
    <a:masterClrMapping/>
  </p:clrMapOvr>
  <p:transition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497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768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D5FA2BBE-9E65-4F34-A7AC-07C7D2D83D38}" type="datetime1">
              <a:rPr lang="zh-CN" altLang="en-US" smtClean="0">
                <a:ea typeface="宋体" charset="-122"/>
              </a:rPr>
              <a:pPr/>
              <a:t>2018/2/24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38915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5E630A3-E15F-4F46-AEEC-0DBFB3C74603}" type="slidenum">
              <a:rPr lang="en-US" altLang="zh-CN" smtClean="0">
                <a:ea typeface="宋体" charset="-122"/>
              </a:rPr>
              <a:pPr/>
              <a:t>27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38916" name="Rectangle 2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8917" name="Rectangle 3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8918" name="Rectangle 4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8919" name="Rectangle 5"/>
          <p:cNvSpPr>
            <a:spLocks noChangeArrowheads="1"/>
          </p:cNvSpPr>
          <p:nvPr/>
        </p:nvSpPr>
        <p:spPr bwMode="auto">
          <a:xfrm>
            <a:off x="0" y="27336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8920" name="Rectangle 6"/>
          <p:cNvSpPr>
            <a:spLocks noChangeArrowheads="1"/>
          </p:cNvSpPr>
          <p:nvPr/>
        </p:nvSpPr>
        <p:spPr bwMode="auto">
          <a:xfrm>
            <a:off x="0" y="28956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8921" name="Rectangle 7"/>
          <p:cNvSpPr>
            <a:spLocks noChangeArrowheads="1"/>
          </p:cNvSpPr>
          <p:nvPr/>
        </p:nvSpPr>
        <p:spPr bwMode="auto">
          <a:xfrm>
            <a:off x="0" y="30718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8922" name="Rectangle 8"/>
          <p:cNvSpPr>
            <a:spLocks noChangeArrowheads="1"/>
          </p:cNvSpPr>
          <p:nvPr/>
        </p:nvSpPr>
        <p:spPr bwMode="auto">
          <a:xfrm>
            <a:off x="0" y="37861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8923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8924" name="AutoShape 14" descr="http://img5.imgtn.bdimg.com/it/u=661952569,1366088884&amp;fm=21&amp;gp=0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925" name="AutoShape 16" descr="http://img5.imgtn.bdimg.com/it/u=661952569,1366088884&amp;fm=21&amp;gp=0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8926" name="Picture 18" descr="http://h.hiphotos.baidu.com/zhidao/pic/item/4e4a20a4462309f7675dda15710e0cf3d7cad68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7175" y="266700"/>
            <a:ext cx="5715000" cy="6448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circl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28896214-8A6E-412E-8D3F-DA3F1BB7B78F}" type="datetime1">
              <a:rPr lang="zh-CN" altLang="en-US" smtClean="0">
                <a:ea typeface="宋体" charset="-122"/>
              </a:rPr>
              <a:pPr/>
              <a:t>2018/2/24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39939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C3445EA-27D1-48EF-B23C-4BCC16E6F520}" type="slidenum">
              <a:rPr lang="en-US" altLang="zh-CN" smtClean="0">
                <a:ea typeface="宋体" charset="-122"/>
              </a:rPr>
              <a:pPr/>
              <a:t>28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45158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66713" y="306388"/>
            <a:ext cx="8270875" cy="839787"/>
          </a:xfrm>
        </p:spPr>
        <p:txBody>
          <a:bodyPr/>
          <a:lstStyle/>
          <a:p>
            <a:pPr eaLnBrk="1" fontAlgn="b" hangingPunct="1">
              <a:defRPr/>
            </a:pPr>
            <a:r>
              <a:rPr lang="en-US" altLang="zh-CN" sz="40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§4-1 </a:t>
            </a:r>
            <a:r>
              <a:rPr lang="zh-CN" altLang="en-US" sz="40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色度学的基本概念和实验定律</a:t>
            </a:r>
            <a:r>
              <a:rPr lang="zh-CN" altLang="en-US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 </a:t>
            </a:r>
          </a:p>
        </p:txBody>
      </p:sp>
      <p:sp>
        <p:nvSpPr>
          <p:cNvPr id="451587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296863" y="1349375"/>
            <a:ext cx="8550275" cy="5126038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dirty="0" smtClean="0">
                <a:latin typeface="Times New Roman" pitchFamily="18" charset="0"/>
                <a:ea typeface="黑体" pitchFamily="2" charset="-122"/>
              </a:rPr>
              <a:t>3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．</a:t>
            </a:r>
            <a:r>
              <a:rPr lang="en-US" altLang="zh-CN" dirty="0" smtClean="0">
                <a:latin typeface="Times New Roman" pitchFamily="18" charset="0"/>
                <a:ea typeface="黑体" pitchFamily="2" charset="-122"/>
              </a:rPr>
              <a:t>CIE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标准表色度系统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dirty="0" smtClean="0">
                <a:latin typeface="Times New Roman" pitchFamily="18" charset="0"/>
                <a:ea typeface="黑体" pitchFamily="2" charset="-122"/>
              </a:rPr>
              <a:t>3)   CIE1964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补充标准色度学系统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为适应大视场情况下颜色的测量和标定，</a:t>
            </a:r>
            <a:r>
              <a:rPr lang="en-US" altLang="zh-CN" dirty="0" smtClean="0">
                <a:latin typeface="Times New Roman" pitchFamily="18" charset="0"/>
                <a:ea typeface="黑体" pitchFamily="2" charset="-122"/>
              </a:rPr>
              <a:t>CIE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在</a:t>
            </a:r>
            <a:r>
              <a:rPr lang="en-US" altLang="zh-CN" dirty="0" smtClean="0">
                <a:latin typeface="Times New Roman" pitchFamily="18" charset="0"/>
                <a:ea typeface="黑体" pitchFamily="2" charset="-122"/>
              </a:rPr>
              <a:t>1964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公布了</a:t>
            </a:r>
            <a:r>
              <a:rPr lang="en-US" altLang="zh-CN" dirty="0" smtClean="0">
                <a:latin typeface="Times New Roman" pitchFamily="18" charset="0"/>
                <a:ea typeface="黑体" pitchFamily="2" charset="-122"/>
              </a:rPr>
              <a:t>CIE1964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补充色度学系统。它规定了适合于</a:t>
            </a:r>
            <a:r>
              <a:rPr lang="en-US" altLang="zh-CN" dirty="0" smtClean="0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10°</a:t>
            </a:r>
            <a:r>
              <a:rPr lang="zh-CN" altLang="en-US" dirty="0" smtClean="0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视场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使用的</a:t>
            </a:r>
            <a:r>
              <a:rPr lang="en-US" altLang="zh-CN" dirty="0" smtClean="0">
                <a:latin typeface="Times New Roman" pitchFamily="18" charset="0"/>
                <a:ea typeface="黑体" pitchFamily="2" charset="-122"/>
              </a:rPr>
              <a:t>CIE1964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补充色度观察者光谱三刺激值和色品图。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其计算方法与</a:t>
            </a:r>
            <a:r>
              <a:rPr lang="en-US" altLang="zh-CN" dirty="0" smtClean="0">
                <a:latin typeface="Times New Roman" pitchFamily="18" charset="0"/>
                <a:ea typeface="黑体" pitchFamily="2" charset="-122"/>
              </a:rPr>
              <a:t>1931CIE-XYZ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系统的三刺激值和色品坐标的计算方法完全相同，只不过要用本系统所规定的基本数据。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为了与</a:t>
            </a:r>
            <a:r>
              <a:rPr lang="en-US" altLang="zh-CN" dirty="0" smtClean="0">
                <a:latin typeface="Times New Roman" pitchFamily="18" charset="0"/>
                <a:ea typeface="黑体" pitchFamily="2" charset="-122"/>
              </a:rPr>
              <a:t>1931CIE-XYZ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系统相区别，所用的符号要加下标“</a:t>
            </a:r>
            <a:r>
              <a:rPr lang="en-US" altLang="zh-CN" dirty="0" smtClean="0">
                <a:latin typeface="Times New Roman" pitchFamily="18" charset="0"/>
                <a:ea typeface="黑体" pitchFamily="2" charset="-122"/>
              </a:rPr>
              <a:t>10”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。例如，三刺激值表示为</a:t>
            </a:r>
            <a:r>
              <a:rPr lang="en-US" altLang="zh-CN" i="1" dirty="0" smtClean="0">
                <a:latin typeface="Times New Roman" pitchFamily="18" charset="0"/>
                <a:ea typeface="黑体" pitchFamily="2" charset="-122"/>
              </a:rPr>
              <a:t>X</a:t>
            </a:r>
            <a:r>
              <a:rPr lang="en-US" altLang="zh-CN" baseline="-25000" dirty="0" smtClean="0">
                <a:latin typeface="Times New Roman" pitchFamily="18" charset="0"/>
                <a:ea typeface="黑体" pitchFamily="2" charset="-122"/>
              </a:rPr>
              <a:t>10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、</a:t>
            </a:r>
            <a:r>
              <a:rPr lang="en-US" altLang="zh-CN" i="1" dirty="0" smtClean="0">
                <a:latin typeface="Times New Roman" pitchFamily="18" charset="0"/>
                <a:ea typeface="黑体" pitchFamily="2" charset="-122"/>
              </a:rPr>
              <a:t>Y</a:t>
            </a:r>
            <a:r>
              <a:rPr lang="en-US" altLang="zh-CN" baseline="-25000" dirty="0" smtClean="0">
                <a:latin typeface="Times New Roman" pitchFamily="18" charset="0"/>
                <a:ea typeface="黑体" pitchFamily="2" charset="-122"/>
              </a:rPr>
              <a:t>10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、</a:t>
            </a:r>
            <a:r>
              <a:rPr lang="en-US" altLang="zh-CN" i="1" dirty="0" smtClean="0">
                <a:latin typeface="Times New Roman" pitchFamily="18" charset="0"/>
                <a:ea typeface="黑体" pitchFamily="2" charset="-122"/>
              </a:rPr>
              <a:t>Z</a:t>
            </a:r>
            <a:r>
              <a:rPr lang="en-US" altLang="zh-CN" baseline="-25000" dirty="0" smtClean="0">
                <a:latin typeface="Times New Roman" pitchFamily="18" charset="0"/>
                <a:ea typeface="黑体" pitchFamily="2" charset="-122"/>
              </a:rPr>
              <a:t>10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等。</a:t>
            </a:r>
          </a:p>
        </p:txBody>
      </p:sp>
      <p:sp>
        <p:nvSpPr>
          <p:cNvPr id="39942" name="Rectangle 4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9943" name="Rectangle 5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9944" name="Rectangle 6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9945" name="Rectangle 7"/>
          <p:cNvSpPr>
            <a:spLocks noChangeArrowheads="1"/>
          </p:cNvSpPr>
          <p:nvPr/>
        </p:nvSpPr>
        <p:spPr bwMode="auto">
          <a:xfrm>
            <a:off x="0" y="27336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9946" name="Rectangle 8"/>
          <p:cNvSpPr>
            <a:spLocks noChangeArrowheads="1"/>
          </p:cNvSpPr>
          <p:nvPr/>
        </p:nvSpPr>
        <p:spPr bwMode="auto">
          <a:xfrm>
            <a:off x="0" y="28956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>
    <p:circl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754A2985-9704-4501-8BFB-E6B5EDF077F4}" type="datetime1">
              <a:rPr lang="zh-CN" altLang="en-US" smtClean="0">
                <a:ea typeface="宋体" charset="-122"/>
              </a:rPr>
              <a:pPr/>
              <a:t>2018/2/24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40963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9CD566E-75CE-412E-B439-44501CB1F050}" type="slidenum">
              <a:rPr lang="en-US" altLang="zh-CN" smtClean="0">
                <a:ea typeface="宋体" charset="-122"/>
              </a:rPr>
              <a:pPr/>
              <a:t>29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45261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66713" y="306388"/>
            <a:ext cx="8270875" cy="839787"/>
          </a:xfrm>
        </p:spPr>
        <p:txBody>
          <a:bodyPr/>
          <a:lstStyle/>
          <a:p>
            <a:pPr eaLnBrk="1" fontAlgn="b" hangingPunct="1">
              <a:defRPr/>
            </a:pPr>
            <a:r>
              <a:rPr lang="en-US" altLang="zh-CN" sz="40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§4-1 </a:t>
            </a:r>
            <a:r>
              <a:rPr lang="zh-CN" altLang="en-US" sz="40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色度学的基本概念和实验定律</a:t>
            </a:r>
            <a:r>
              <a:rPr lang="zh-CN" altLang="en-US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 </a:t>
            </a:r>
          </a:p>
        </p:txBody>
      </p:sp>
      <p:sp>
        <p:nvSpPr>
          <p:cNvPr id="452611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296863" y="1349375"/>
            <a:ext cx="8550275" cy="5126038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mtClean="0">
                <a:latin typeface="Times New Roman" pitchFamily="18" charset="0"/>
                <a:ea typeface="黑体" pitchFamily="2" charset="-122"/>
              </a:rPr>
              <a:t>3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．</a:t>
            </a:r>
            <a:r>
              <a:rPr lang="en-US" altLang="zh-CN" smtClean="0">
                <a:latin typeface="Times New Roman" pitchFamily="18" charset="0"/>
                <a:ea typeface="黑体" pitchFamily="2" charset="-122"/>
              </a:rPr>
              <a:t>CIE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标准表色度系统</a:t>
            </a:r>
          </a:p>
          <a:p>
            <a:pPr eaLnBrk="1" hangingPunct="1">
              <a:defRPr/>
            </a:pP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总结起来，用该色度学系统表示颜色的方法有以下两种：</a:t>
            </a:r>
          </a:p>
          <a:p>
            <a:pPr eaLnBrk="1" hangingPunct="1">
              <a:defRPr/>
            </a:pPr>
            <a:r>
              <a:rPr lang="en-US" altLang="zh-CN" smtClean="0">
                <a:latin typeface="Times New Roman" pitchFamily="18" charset="0"/>
                <a:ea typeface="黑体" pitchFamily="2" charset="-122"/>
              </a:rPr>
              <a:t>1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）三刺激值表示颜色。  </a:t>
            </a:r>
          </a:p>
          <a:p>
            <a:pPr lvl="1" eaLnBrk="1" hangingPunct="1">
              <a:defRPr/>
            </a:pPr>
            <a:r>
              <a:rPr lang="zh-CN" altLang="en-US" sz="2400" smtClean="0">
                <a:latin typeface="Times New Roman" pitchFamily="18" charset="0"/>
                <a:ea typeface="黑体" pitchFamily="2" charset="-122"/>
              </a:rPr>
              <a:t>最常用的是</a:t>
            </a:r>
            <a:r>
              <a:rPr lang="en-US" altLang="zh-CN" sz="2400" smtClean="0">
                <a:latin typeface="Times New Roman" pitchFamily="18" charset="0"/>
                <a:ea typeface="黑体" pitchFamily="2" charset="-122"/>
              </a:rPr>
              <a:t>1931CIE-XYZ</a:t>
            </a:r>
            <a:r>
              <a:rPr lang="zh-CN" altLang="en-US" sz="2400" smtClean="0">
                <a:latin typeface="Times New Roman" pitchFamily="18" charset="0"/>
                <a:ea typeface="黑体" pitchFamily="2" charset="-122"/>
              </a:rPr>
              <a:t>标准色度学系统中所规定的三刺激值</a:t>
            </a:r>
            <a:r>
              <a:rPr lang="en-US" altLang="zh-CN" sz="2400" i="1" smtClean="0">
                <a:latin typeface="Times New Roman" pitchFamily="18" charset="0"/>
                <a:ea typeface="黑体" pitchFamily="2" charset="-122"/>
              </a:rPr>
              <a:t>X</a:t>
            </a:r>
            <a:r>
              <a:rPr lang="zh-CN" altLang="en-US" sz="2400" smtClean="0">
                <a:latin typeface="Times New Roman" pitchFamily="18" charset="0"/>
                <a:ea typeface="黑体" pitchFamily="2" charset="-122"/>
              </a:rPr>
              <a:t>、</a:t>
            </a:r>
            <a:r>
              <a:rPr lang="en-US" altLang="zh-CN" sz="2400" i="1" smtClean="0">
                <a:latin typeface="Times New Roman" pitchFamily="18" charset="0"/>
                <a:ea typeface="黑体" pitchFamily="2" charset="-122"/>
              </a:rPr>
              <a:t>Y</a:t>
            </a:r>
            <a:r>
              <a:rPr lang="zh-CN" altLang="en-US" sz="2400" smtClean="0">
                <a:latin typeface="Times New Roman" pitchFamily="18" charset="0"/>
                <a:ea typeface="黑体" pitchFamily="2" charset="-122"/>
              </a:rPr>
              <a:t>、</a:t>
            </a:r>
            <a:r>
              <a:rPr lang="en-US" altLang="zh-CN" sz="2400" i="1" smtClean="0">
                <a:latin typeface="Times New Roman" pitchFamily="18" charset="0"/>
                <a:ea typeface="黑体" pitchFamily="2" charset="-122"/>
              </a:rPr>
              <a:t>Z</a:t>
            </a:r>
            <a:r>
              <a:rPr lang="zh-CN" altLang="en-US" sz="2400" smtClean="0">
                <a:latin typeface="Times New Roman" pitchFamily="18" charset="0"/>
                <a:ea typeface="黑体" pitchFamily="2" charset="-122"/>
              </a:rPr>
              <a:t>。</a:t>
            </a:r>
          </a:p>
          <a:p>
            <a:pPr lvl="1" eaLnBrk="1" hangingPunct="1">
              <a:defRPr/>
            </a:pPr>
            <a:r>
              <a:rPr lang="zh-CN" altLang="en-US" sz="2400" smtClean="0">
                <a:latin typeface="Times New Roman" pitchFamily="18" charset="0"/>
                <a:ea typeface="黑体" pitchFamily="2" charset="-122"/>
              </a:rPr>
              <a:t>该方法表示颜色的困难是三刺激值由于难于定标而难于准确测量。</a:t>
            </a:r>
          </a:p>
          <a:p>
            <a:pPr eaLnBrk="1" hangingPunct="1">
              <a:defRPr/>
            </a:pPr>
            <a:r>
              <a:rPr lang="en-US" altLang="zh-CN" smtClean="0">
                <a:latin typeface="Times New Roman" pitchFamily="18" charset="0"/>
                <a:ea typeface="黑体" pitchFamily="2" charset="-122"/>
              </a:rPr>
              <a:t>2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）色品坐标</a:t>
            </a:r>
            <a:r>
              <a:rPr lang="en-US" altLang="zh-CN" i="1" smtClean="0">
                <a:latin typeface="Times New Roman" pitchFamily="18" charset="0"/>
                <a:ea typeface="黑体" pitchFamily="2" charset="-122"/>
              </a:rPr>
              <a:t>x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、</a:t>
            </a:r>
            <a:r>
              <a:rPr lang="en-US" altLang="zh-CN" i="1" smtClean="0">
                <a:latin typeface="Times New Roman" pitchFamily="18" charset="0"/>
                <a:ea typeface="黑体" pitchFamily="2" charset="-122"/>
              </a:rPr>
              <a:t>y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以及</a:t>
            </a:r>
            <a:r>
              <a:rPr lang="en-US" altLang="zh-CN" i="1" smtClean="0">
                <a:latin typeface="Times New Roman" pitchFamily="18" charset="0"/>
                <a:ea typeface="黑体" pitchFamily="2" charset="-122"/>
              </a:rPr>
              <a:t>Y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刺激值表示颜色 。 </a:t>
            </a:r>
          </a:p>
          <a:p>
            <a:pPr lvl="1" eaLnBrk="1" hangingPunct="1">
              <a:defRPr/>
            </a:pPr>
            <a:r>
              <a:rPr lang="zh-CN" altLang="en-US" sz="2400" smtClean="0">
                <a:latin typeface="Times New Roman" pitchFamily="18" charset="0"/>
                <a:ea typeface="黑体" pitchFamily="2" charset="-122"/>
              </a:rPr>
              <a:t>用</a:t>
            </a:r>
            <a:r>
              <a:rPr lang="en-US" altLang="zh-CN" sz="2400" i="1" smtClean="0">
                <a:latin typeface="Times New Roman" pitchFamily="18" charset="0"/>
                <a:ea typeface="黑体" pitchFamily="2" charset="-122"/>
              </a:rPr>
              <a:t>x</a:t>
            </a:r>
            <a:r>
              <a:rPr lang="zh-CN" altLang="en-US" sz="2400" smtClean="0">
                <a:latin typeface="Times New Roman" pitchFamily="18" charset="0"/>
                <a:ea typeface="黑体" pitchFamily="2" charset="-122"/>
              </a:rPr>
              <a:t>、</a:t>
            </a:r>
            <a:r>
              <a:rPr lang="en-US" altLang="zh-CN" sz="2400" i="1" smtClean="0">
                <a:latin typeface="Times New Roman" pitchFamily="18" charset="0"/>
                <a:ea typeface="黑体" pitchFamily="2" charset="-122"/>
              </a:rPr>
              <a:t>y</a:t>
            </a:r>
            <a:r>
              <a:rPr lang="zh-CN" altLang="en-US" sz="2400" smtClean="0">
                <a:latin typeface="Times New Roman" pitchFamily="18" charset="0"/>
                <a:ea typeface="黑体" pitchFamily="2" charset="-122"/>
              </a:rPr>
              <a:t>和</a:t>
            </a:r>
            <a:r>
              <a:rPr lang="en-US" altLang="zh-CN" sz="2400" i="1" smtClean="0">
                <a:latin typeface="Times New Roman" pitchFamily="18" charset="0"/>
                <a:ea typeface="黑体" pitchFamily="2" charset="-122"/>
              </a:rPr>
              <a:t>Y</a:t>
            </a:r>
            <a:r>
              <a:rPr lang="zh-CN" altLang="en-US" sz="2400" smtClean="0">
                <a:latin typeface="Times New Roman" pitchFamily="18" charset="0"/>
                <a:ea typeface="黑体" pitchFamily="2" charset="-122"/>
              </a:rPr>
              <a:t>表示颜色是常用的方法。</a:t>
            </a:r>
          </a:p>
        </p:txBody>
      </p:sp>
      <p:sp>
        <p:nvSpPr>
          <p:cNvPr id="40966" name="Rectangle 4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0967" name="Rectangle 5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0968" name="Rectangle 6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0969" name="Rectangle 7"/>
          <p:cNvSpPr>
            <a:spLocks noChangeArrowheads="1"/>
          </p:cNvSpPr>
          <p:nvPr/>
        </p:nvSpPr>
        <p:spPr bwMode="auto">
          <a:xfrm>
            <a:off x="0" y="27336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0970" name="Rectangle 8"/>
          <p:cNvSpPr>
            <a:spLocks noChangeArrowheads="1"/>
          </p:cNvSpPr>
          <p:nvPr/>
        </p:nvSpPr>
        <p:spPr bwMode="auto">
          <a:xfrm>
            <a:off x="0" y="28956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>
    <p:circle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1A06BCE2-6C01-4A7F-978F-BFC079B7120F}" type="datetime1">
              <a:rPr lang="zh-CN" altLang="en-US" smtClean="0">
                <a:ea typeface="宋体" charset="-122"/>
              </a:rPr>
              <a:pPr/>
              <a:t>2018/2/24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41987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C90960A-A2D9-45DE-B441-301AD4C0BDD3}" type="slidenum">
              <a:rPr lang="en-US" altLang="zh-CN" smtClean="0">
                <a:ea typeface="宋体" charset="-122"/>
              </a:rPr>
              <a:pPr/>
              <a:t>30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45363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66713" y="306388"/>
            <a:ext cx="8270875" cy="839787"/>
          </a:xfrm>
        </p:spPr>
        <p:txBody>
          <a:bodyPr/>
          <a:lstStyle/>
          <a:p>
            <a:pPr eaLnBrk="1" fontAlgn="b" hangingPunct="1">
              <a:defRPr/>
            </a:pPr>
            <a:r>
              <a:rPr lang="en-US" altLang="zh-CN" sz="40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§4-1 </a:t>
            </a:r>
            <a:r>
              <a:rPr lang="zh-CN" altLang="en-US" sz="40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色度学的基本概念和实验定律</a:t>
            </a:r>
            <a:r>
              <a:rPr lang="zh-CN" altLang="en-US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 </a:t>
            </a:r>
          </a:p>
        </p:txBody>
      </p:sp>
      <p:sp>
        <p:nvSpPr>
          <p:cNvPr id="453635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296863" y="1349375"/>
            <a:ext cx="8550275" cy="5126038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mtClean="0">
                <a:latin typeface="Times New Roman" pitchFamily="18" charset="0"/>
                <a:ea typeface="黑体" pitchFamily="2" charset="-122"/>
              </a:rPr>
              <a:t>4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．</a:t>
            </a:r>
            <a:r>
              <a:rPr lang="en-US" altLang="zh-CN" smtClean="0">
                <a:latin typeface="Times New Roman" pitchFamily="18" charset="0"/>
                <a:ea typeface="黑体" pitchFamily="2" charset="-122"/>
              </a:rPr>
              <a:t>CIE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标准照明体和标准光源</a:t>
            </a:r>
          </a:p>
          <a:p>
            <a:pPr eaLnBrk="1" hangingPunct="1">
              <a:defRPr/>
            </a:pP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在测量光学系统的光度和色度性能时，必须在统一规定的照明光源下，测量结果才可以互相比较。</a:t>
            </a:r>
          </a:p>
          <a:p>
            <a:pPr eaLnBrk="1" hangingPunct="1">
              <a:defRPr/>
            </a:pP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为了统一测量标准，国际照明委员会（</a:t>
            </a:r>
            <a:r>
              <a:rPr lang="en-US" altLang="zh-CN" smtClean="0">
                <a:latin typeface="Times New Roman" pitchFamily="18" charset="0"/>
                <a:ea typeface="黑体" pitchFamily="2" charset="-122"/>
              </a:rPr>
              <a:t>CIE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）规定了标准照明体和标准光源。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mtClean="0">
                <a:latin typeface="Times New Roman" pitchFamily="18" charset="0"/>
                <a:ea typeface="黑体" pitchFamily="2" charset="-122"/>
              </a:rPr>
              <a:t>1)  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色温和相关色温</a:t>
            </a:r>
          </a:p>
          <a:p>
            <a:pPr eaLnBrk="1" hangingPunct="1">
              <a:defRPr/>
            </a:pP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当某种光源的色品与某一温度下的黑体色品相同时，则将黑体的温度称为光源的颜色温度，简称</a:t>
            </a:r>
            <a:r>
              <a:rPr lang="zh-CN" altLang="en-US" smtClean="0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色温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。 </a:t>
            </a:r>
          </a:p>
          <a:p>
            <a:pPr eaLnBrk="1" hangingPunct="1">
              <a:defRPr/>
            </a:pP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相关色温 </a:t>
            </a:r>
          </a:p>
        </p:txBody>
      </p:sp>
      <p:sp>
        <p:nvSpPr>
          <p:cNvPr id="41990" name="Rectangle 4"/>
          <p:cNvSpPr>
            <a:spLocks noChangeArrowheads="1"/>
          </p:cNvSpPr>
          <p:nvPr/>
        </p:nvSpPr>
        <p:spPr bwMode="auto">
          <a:xfrm>
            <a:off x="0" y="27336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1991" name="Rectangle 5"/>
          <p:cNvSpPr>
            <a:spLocks noChangeArrowheads="1"/>
          </p:cNvSpPr>
          <p:nvPr/>
        </p:nvSpPr>
        <p:spPr bwMode="auto">
          <a:xfrm>
            <a:off x="0" y="28956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2" name="组合 85"/>
          <p:cNvGrpSpPr>
            <a:grpSpLocks/>
          </p:cNvGrpSpPr>
          <p:nvPr/>
        </p:nvGrpSpPr>
        <p:grpSpPr bwMode="auto">
          <a:xfrm>
            <a:off x="3408363" y="1450975"/>
            <a:ext cx="4762500" cy="5108575"/>
            <a:chOff x="3409137" y="1450494"/>
            <a:chExt cx="4762500" cy="5109794"/>
          </a:xfrm>
        </p:grpSpPr>
        <p:pic>
          <p:nvPicPr>
            <p:cNvPr id="41993" name="Picture 85" descr="http://www.isa.ac.cn/kxcb/kpzw/201408/W020140825592997237569.jp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3409137" y="1450494"/>
              <a:ext cx="4762500" cy="46196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5" name="Text Box 56"/>
            <p:cNvSpPr txBox="1">
              <a:spLocks noChangeArrowheads="1"/>
            </p:cNvSpPr>
            <p:nvPr/>
          </p:nvSpPr>
          <p:spPr bwMode="auto">
            <a:xfrm>
              <a:off x="3645674" y="6163318"/>
              <a:ext cx="4356100" cy="3969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r>
                <a:rPr lang="en-US" altLang="zh-CN" sz="16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itchFamily="2" charset="-122"/>
                  <a:ea typeface="黑体" pitchFamily="2" charset="-122"/>
                </a:rPr>
                <a:t>CIE1931-XYZ</a:t>
              </a:r>
              <a:r>
                <a:rPr lang="zh-CN" altLang="en-US" sz="16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itchFamily="2" charset="-122"/>
                  <a:ea typeface="黑体" pitchFamily="2" charset="-122"/>
                </a:rPr>
                <a:t>色品图上的黑体轨迹</a:t>
              </a:r>
              <a:endParaRPr lang="zh-CN" altLang="en-US" sz="1600" b="1" dirty="0"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endParaRPr>
            </a:p>
          </p:txBody>
        </p:sp>
      </p:grpSp>
    </p:spTree>
  </p:cSld>
  <p:clrMapOvr>
    <a:masterClrMapping/>
  </p:clrMapOvr>
  <p:transition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51D2032D-81A3-47E7-A042-8CA4BD5D3709}" type="datetime1">
              <a:rPr lang="zh-CN" altLang="en-US" smtClean="0">
                <a:ea typeface="宋体" charset="-122"/>
              </a:rPr>
              <a:pPr/>
              <a:t>2018/2/24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43011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684BF32-BC90-47A5-94EC-2E64FC6FB524}" type="slidenum">
              <a:rPr lang="en-US" altLang="zh-CN" smtClean="0">
                <a:ea typeface="宋体" charset="-122"/>
              </a:rPr>
              <a:pPr/>
              <a:t>31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45465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66713" y="306388"/>
            <a:ext cx="8270875" cy="839787"/>
          </a:xfrm>
        </p:spPr>
        <p:txBody>
          <a:bodyPr/>
          <a:lstStyle/>
          <a:p>
            <a:pPr eaLnBrk="1" fontAlgn="b" hangingPunct="1">
              <a:defRPr/>
            </a:pPr>
            <a:r>
              <a:rPr lang="en-US" altLang="zh-CN" sz="40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§4-1 </a:t>
            </a:r>
            <a:r>
              <a:rPr lang="zh-CN" altLang="en-US" sz="40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色度学的基本概念和实验定律</a:t>
            </a:r>
            <a:r>
              <a:rPr lang="zh-CN" altLang="en-US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 </a:t>
            </a:r>
          </a:p>
        </p:txBody>
      </p:sp>
      <p:sp>
        <p:nvSpPr>
          <p:cNvPr id="454659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296863" y="1349375"/>
            <a:ext cx="8550275" cy="5126038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dirty="0" smtClean="0">
                <a:latin typeface="Times New Roman" pitchFamily="18" charset="0"/>
                <a:ea typeface="黑体" pitchFamily="2" charset="-122"/>
              </a:rPr>
              <a:t>4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．</a:t>
            </a:r>
            <a:r>
              <a:rPr lang="en-US" altLang="zh-CN" dirty="0" smtClean="0">
                <a:latin typeface="Times New Roman" pitchFamily="18" charset="0"/>
                <a:ea typeface="黑体" pitchFamily="2" charset="-122"/>
              </a:rPr>
              <a:t>CIE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标准照明体和标准光源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dirty="0" smtClean="0">
                <a:latin typeface="Times New Roman" pitchFamily="18" charset="0"/>
                <a:ea typeface="黑体" pitchFamily="2" charset="-122"/>
              </a:rPr>
              <a:t>2)  CIE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标准照明体和标准光源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sz="2200" dirty="0" smtClean="0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照明体：</a:t>
            </a:r>
            <a:r>
              <a:rPr lang="zh-CN" altLang="en-US" sz="2200" dirty="0" smtClean="0">
                <a:latin typeface="Times New Roman" pitchFamily="18" charset="0"/>
                <a:ea typeface="黑体" pitchFamily="2" charset="-122"/>
              </a:rPr>
              <a:t>是指特定的相对光谱功率分布，这种相对光谱功率分布不一定能用一个具体的光源来实现，而是以数据表格给出。</a:t>
            </a:r>
            <a:endParaRPr lang="en-US" altLang="zh-CN" sz="2200" dirty="0" smtClean="0">
              <a:latin typeface="Times New Roman" pitchFamily="18" charset="0"/>
              <a:ea typeface="黑体" pitchFamily="2" charset="-122"/>
            </a:endParaRPr>
          </a:p>
          <a:p>
            <a:pPr lvl="1" eaLnBrk="1" hangingPunct="1">
              <a:lnSpc>
                <a:spcPct val="120000"/>
              </a:lnSpc>
              <a:buFont typeface="Wingdings" pitchFamily="2" charset="2"/>
              <a:buChar char="ü"/>
              <a:defRPr/>
            </a:pPr>
            <a:r>
              <a:rPr lang="en-US" altLang="zh-CN" dirty="0" smtClean="0">
                <a:latin typeface="Times New Roman" pitchFamily="18" charset="0"/>
                <a:ea typeface="黑体" pitchFamily="2" charset="-122"/>
              </a:rPr>
              <a:t>CIE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标准照明体</a:t>
            </a:r>
            <a:r>
              <a:rPr lang="en-US" altLang="zh-CN" i="1" dirty="0" smtClean="0">
                <a:latin typeface="Times New Roman" pitchFamily="18" charset="0"/>
                <a:ea typeface="黑体" pitchFamily="2" charset="-122"/>
              </a:rPr>
              <a:t>A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、</a:t>
            </a:r>
            <a:r>
              <a:rPr lang="en-US" altLang="zh-CN" i="1" dirty="0" smtClean="0">
                <a:latin typeface="Times New Roman" pitchFamily="18" charset="0"/>
                <a:ea typeface="黑体" pitchFamily="2" charset="-122"/>
              </a:rPr>
              <a:t>B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、</a:t>
            </a:r>
            <a:r>
              <a:rPr lang="en-US" altLang="zh-CN" i="1" dirty="0" smtClean="0">
                <a:latin typeface="Times New Roman" pitchFamily="18" charset="0"/>
                <a:ea typeface="黑体" pitchFamily="2" charset="-122"/>
              </a:rPr>
              <a:t>C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、</a:t>
            </a:r>
            <a:r>
              <a:rPr lang="en-US" altLang="zh-CN" i="1" dirty="0" smtClean="0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E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、</a:t>
            </a:r>
            <a:r>
              <a:rPr lang="en-US" altLang="zh-CN" i="1" dirty="0" smtClean="0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D</a:t>
            </a:r>
          </a:p>
          <a:p>
            <a:pPr lvl="1" eaLnBrk="1" hangingPunct="1">
              <a:lnSpc>
                <a:spcPct val="120000"/>
              </a:lnSpc>
              <a:buFont typeface="Wingdings" pitchFamily="2" charset="2"/>
              <a:buChar char="ü"/>
              <a:defRPr/>
            </a:pPr>
            <a:r>
              <a:rPr lang="zh-CN" altLang="en-US" dirty="0" smtClean="0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标准照明体</a:t>
            </a:r>
            <a:r>
              <a:rPr lang="en-US" altLang="zh-CN" i="1" dirty="0" smtClean="0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E</a:t>
            </a:r>
            <a:r>
              <a:rPr lang="zh-CN" altLang="en-US" dirty="0" smtClean="0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，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在可见光波段内的相对光谱功率为恒定值的照明体。又称为等能光谱或</a:t>
            </a:r>
            <a:r>
              <a:rPr lang="zh-CN" altLang="en-US" dirty="0" smtClean="0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等能白光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。这是一种人为规定的相对光谱功率分布，实际中是不存在的。</a:t>
            </a:r>
          </a:p>
          <a:p>
            <a:pPr lvl="1" eaLnBrk="1" hangingPunct="1">
              <a:lnSpc>
                <a:spcPct val="120000"/>
              </a:lnSpc>
              <a:buFont typeface="Wingdings" pitchFamily="2" charset="2"/>
              <a:buChar char="ü"/>
              <a:defRPr/>
            </a:pPr>
            <a:r>
              <a:rPr lang="zh-CN" altLang="en-US" dirty="0" smtClean="0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标准照明体</a:t>
            </a:r>
            <a:r>
              <a:rPr lang="en-US" altLang="zh-CN" i="1" dirty="0" smtClean="0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D</a:t>
            </a:r>
            <a:r>
              <a:rPr lang="zh-CN" altLang="en-US" dirty="0" smtClean="0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，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代表各时相（不同时间、季节和气候条件）日光的相对光谱功率分布，这种光也叫</a:t>
            </a:r>
            <a:r>
              <a:rPr lang="zh-CN" altLang="en-US" dirty="0" smtClean="0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典型日光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或重组日光，是一组公式。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sz="2200" dirty="0" smtClean="0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光源：</a:t>
            </a:r>
            <a:r>
              <a:rPr lang="zh-CN" altLang="en-US" sz="2200" dirty="0" smtClean="0">
                <a:latin typeface="Times New Roman" pitchFamily="18" charset="0"/>
                <a:ea typeface="黑体" pitchFamily="2" charset="-122"/>
              </a:rPr>
              <a:t>是指能发光的物理辐射体，如灯、太阳等。</a:t>
            </a:r>
          </a:p>
          <a:p>
            <a:pPr lvl="1" eaLnBrk="1" hangingPunct="1">
              <a:lnSpc>
                <a:spcPct val="120000"/>
              </a:lnSpc>
              <a:buFont typeface="Wingdings" pitchFamily="2" charset="2"/>
              <a:buChar char="ü"/>
              <a:defRPr/>
            </a:pPr>
            <a:r>
              <a:rPr lang="en-US" altLang="zh-CN" dirty="0" smtClean="0">
                <a:latin typeface="Times New Roman" pitchFamily="18" charset="0"/>
                <a:ea typeface="黑体" pitchFamily="2" charset="-122"/>
              </a:rPr>
              <a:t>CIE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标准光源</a:t>
            </a:r>
            <a:r>
              <a:rPr lang="en-US" altLang="zh-CN" i="1" dirty="0" smtClean="0">
                <a:latin typeface="Times New Roman" pitchFamily="18" charset="0"/>
                <a:ea typeface="黑体" pitchFamily="2" charset="-122"/>
              </a:rPr>
              <a:t>A</a:t>
            </a:r>
            <a:r>
              <a:rPr lang="zh-CN" altLang="en-US" i="1" dirty="0" smtClean="0">
                <a:latin typeface="Times New Roman" pitchFamily="18" charset="0"/>
                <a:ea typeface="黑体" pitchFamily="2" charset="-122"/>
              </a:rPr>
              <a:t>、</a:t>
            </a:r>
            <a:r>
              <a:rPr lang="en-US" altLang="zh-CN" i="1" dirty="0" smtClean="0">
                <a:latin typeface="Times New Roman" pitchFamily="18" charset="0"/>
                <a:ea typeface="黑体" pitchFamily="2" charset="-122"/>
              </a:rPr>
              <a:t>B</a:t>
            </a:r>
            <a:r>
              <a:rPr lang="zh-CN" altLang="en-US" i="1" dirty="0" smtClean="0">
                <a:latin typeface="Times New Roman" pitchFamily="18" charset="0"/>
                <a:ea typeface="黑体" pitchFamily="2" charset="-122"/>
              </a:rPr>
              <a:t>、</a:t>
            </a:r>
            <a:r>
              <a:rPr lang="en-US" altLang="zh-CN" i="1" dirty="0" smtClean="0">
                <a:latin typeface="Times New Roman" pitchFamily="18" charset="0"/>
                <a:ea typeface="黑体" pitchFamily="2" charset="-122"/>
              </a:rPr>
              <a:t>C</a:t>
            </a:r>
            <a:r>
              <a:rPr lang="zh-CN" altLang="en-US" i="1" dirty="0" smtClean="0">
                <a:latin typeface="Times New Roman" pitchFamily="18" charset="0"/>
                <a:ea typeface="黑体" pitchFamily="2" charset="-122"/>
              </a:rPr>
              <a:t>、</a:t>
            </a:r>
            <a:r>
              <a:rPr lang="en-US" altLang="zh-CN" i="1" dirty="0" smtClean="0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D</a:t>
            </a:r>
            <a:r>
              <a:rPr lang="en-US" altLang="zh-CN" baseline="-25000" dirty="0" smtClean="0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65</a:t>
            </a:r>
            <a:endParaRPr lang="zh-CN" altLang="en-US" dirty="0" smtClean="0">
              <a:latin typeface="Times New Roman" pitchFamily="18" charset="0"/>
              <a:ea typeface="黑体" pitchFamily="2" charset="-122"/>
            </a:endParaRPr>
          </a:p>
        </p:txBody>
      </p:sp>
      <p:sp>
        <p:nvSpPr>
          <p:cNvPr id="43014" name="Rectangle 4"/>
          <p:cNvSpPr>
            <a:spLocks noChangeArrowheads="1"/>
          </p:cNvSpPr>
          <p:nvPr/>
        </p:nvSpPr>
        <p:spPr bwMode="auto">
          <a:xfrm>
            <a:off x="0" y="27336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3015" name="Rectangle 5"/>
          <p:cNvSpPr>
            <a:spLocks noChangeArrowheads="1"/>
          </p:cNvSpPr>
          <p:nvPr/>
        </p:nvSpPr>
        <p:spPr bwMode="auto">
          <a:xfrm>
            <a:off x="0" y="28956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>
    <p:circle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8EDD6E4F-65DF-422E-90A1-7413C5E68617}" type="datetime1">
              <a:rPr lang="zh-CN" altLang="en-US" smtClean="0">
                <a:ea typeface="宋体" charset="-122"/>
              </a:rPr>
              <a:pPr/>
              <a:t>2018/2/24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44035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47FB8AE-7B03-498E-AC7A-82BC659DE4AE}" type="slidenum">
              <a:rPr lang="en-US" altLang="zh-CN" smtClean="0">
                <a:ea typeface="宋体" charset="-122"/>
              </a:rPr>
              <a:pPr/>
              <a:t>32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500740" name="Rectangle 4"/>
          <p:cNvSpPr>
            <a:spLocks noGrp="1" noChangeArrowheads="1"/>
          </p:cNvSpPr>
          <p:nvPr>
            <p:ph type="title"/>
          </p:nvPr>
        </p:nvSpPr>
        <p:spPr>
          <a:xfrm>
            <a:off x="581025" y="581025"/>
            <a:ext cx="7772400" cy="838200"/>
          </a:xfrm>
        </p:spPr>
        <p:txBody>
          <a:bodyPr anchor="b"/>
          <a:lstStyle/>
          <a:p>
            <a:pPr eaLnBrk="1" hangingPunct="1">
              <a:defRPr/>
            </a:pPr>
            <a:r>
              <a:rPr lang="zh-TW" altLang="en-US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itchFamily="2" charset="-122"/>
              </a:rPr>
              <a:t>色盲</a:t>
            </a:r>
            <a:r>
              <a:rPr lang="zh-CN" altLang="en-US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itchFamily="2" charset="-122"/>
              </a:rPr>
              <a:t>测试</a:t>
            </a:r>
            <a:endParaRPr lang="zh-TW" altLang="en-US" b="1" smtClean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itchFamily="2" charset="-122"/>
            </a:endParaRPr>
          </a:p>
        </p:txBody>
      </p:sp>
      <p:pic>
        <p:nvPicPr>
          <p:cNvPr id="44037" name="Picture 5" descr="C:\Documents and Settings\s10457\桌面\DCS\DSC資料庫\特別企劃 - 工研院光電所 - 數位導覽.files\8-c.gif"/>
          <p:cNvPicPr>
            <a:picLocks noChangeAspect="1" noChangeArrowheads="1"/>
          </p:cNvPicPr>
          <p:nvPr/>
        </p:nvPicPr>
        <p:blipFill>
          <a:blip r:embed="rId2" r:link="rId3"/>
          <a:srcRect/>
          <a:stretch>
            <a:fillRect/>
          </a:stretch>
        </p:blipFill>
        <p:spPr bwMode="auto">
          <a:xfrm>
            <a:off x="657225" y="1876425"/>
            <a:ext cx="190500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4038" name="Picture 6" descr="C:\Documents and Settings\s10457\桌面\DCS\DSC資料庫\特別企劃 - 工研院光電所 - 數位導覽.files\3-c.gif"/>
          <p:cNvPicPr>
            <a:picLocks noChangeAspect="1" noChangeArrowheads="1"/>
          </p:cNvPicPr>
          <p:nvPr/>
        </p:nvPicPr>
        <p:blipFill>
          <a:blip r:embed="rId4" r:link="rId5"/>
          <a:srcRect/>
          <a:stretch>
            <a:fillRect/>
          </a:stretch>
        </p:blipFill>
        <p:spPr bwMode="auto">
          <a:xfrm>
            <a:off x="2714625" y="1876425"/>
            <a:ext cx="190500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4039" name="Picture 7" descr="C:\Documents and Settings\s10457\桌面\DCS\DSC資料庫\特別企劃 - 工研院光電所 - 數位導覽.files\10-c.gif"/>
          <p:cNvPicPr>
            <a:picLocks noChangeAspect="1" noChangeArrowheads="1"/>
          </p:cNvPicPr>
          <p:nvPr/>
        </p:nvPicPr>
        <p:blipFill>
          <a:blip r:embed="rId6" r:link="rId7"/>
          <a:srcRect/>
          <a:stretch>
            <a:fillRect/>
          </a:stretch>
        </p:blipFill>
        <p:spPr bwMode="auto">
          <a:xfrm>
            <a:off x="4772025" y="1876425"/>
            <a:ext cx="198120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4040" name="Picture 8" descr="C:\Documents and Settings\s10457\桌面\DCS\DSC資料庫\特別企劃 - 工研院光電所 - 數位導覽.files\5-c.gif"/>
          <p:cNvPicPr>
            <a:picLocks noChangeAspect="1" noChangeArrowheads="1"/>
          </p:cNvPicPr>
          <p:nvPr/>
        </p:nvPicPr>
        <p:blipFill>
          <a:blip r:embed="rId8" r:link="rId9"/>
          <a:srcRect/>
          <a:stretch>
            <a:fillRect/>
          </a:stretch>
        </p:blipFill>
        <p:spPr bwMode="auto">
          <a:xfrm>
            <a:off x="6829425" y="1952625"/>
            <a:ext cx="198120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00745" name="Rectangle 9"/>
          <p:cNvSpPr>
            <a:spLocks noChangeArrowheads="1"/>
          </p:cNvSpPr>
          <p:nvPr/>
        </p:nvSpPr>
        <p:spPr bwMode="auto">
          <a:xfrm>
            <a:off x="657225" y="4391025"/>
            <a:ext cx="63246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r">
              <a:defRPr/>
            </a:pPr>
            <a:r>
              <a:rPr kumimoji="1" lang="zh-TW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/>
            </a:r>
            <a:br>
              <a:rPr kumimoji="1" lang="zh-TW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</a:br>
            <a:r>
              <a:rPr kumimoji="1" lang="en-US" altLang="zh-TW" sz="24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(</a:t>
            </a:r>
            <a:r>
              <a:rPr kumimoji="1" lang="zh-TW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由左至右的</a:t>
            </a:r>
            <a:r>
              <a:rPr kumimoji="1"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数字</a:t>
            </a:r>
            <a:r>
              <a:rPr kumimoji="1" lang="zh-TW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分別是</a:t>
            </a:r>
            <a:r>
              <a:rPr kumimoji="1" lang="en-US" altLang="zh-TW" sz="24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8,3,10,5)</a:t>
            </a:r>
          </a:p>
        </p:txBody>
      </p:sp>
    </p:spTree>
  </p:cSld>
  <p:clrMapOvr>
    <a:masterClrMapping/>
  </p:clrMapOvr>
  <p:transition>
    <p:circle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AFC3543C-60C4-4DA2-A5C2-3C6C9BF94588}" type="datetime1">
              <a:rPr lang="zh-CN" altLang="en-US" smtClean="0">
                <a:ea typeface="宋体" charset="-122"/>
              </a:rPr>
              <a:pPr/>
              <a:t>2018/2/24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45059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43E20B0-127B-46EB-9C9B-AAF03B297652}" type="slidenum">
              <a:rPr lang="en-US" altLang="zh-CN" smtClean="0">
                <a:ea typeface="宋体" charset="-122"/>
              </a:rPr>
              <a:pPr/>
              <a:t>33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45875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47675" y="2881313"/>
            <a:ext cx="8270875" cy="839787"/>
          </a:xfrm>
        </p:spPr>
        <p:txBody>
          <a:bodyPr/>
          <a:lstStyle/>
          <a:p>
            <a:pPr eaLnBrk="1" fontAlgn="b" hangingPunct="1">
              <a:defRPr/>
            </a:pPr>
            <a:r>
              <a:rPr lang="en-US" altLang="zh-CN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§4-2   CIE</a:t>
            </a:r>
            <a:r>
              <a:rPr lang="zh-CN" altLang="en-US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色度计算方法</a:t>
            </a:r>
          </a:p>
        </p:txBody>
      </p:sp>
    </p:spTree>
  </p:cSld>
  <p:clrMapOvr>
    <a:masterClrMapping/>
  </p:clrMapOvr>
  <p:transition>
    <p:circle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B928FDA3-77BC-42BF-9DFB-8F9AADC8D154}" type="datetime1">
              <a:rPr lang="zh-CN" altLang="en-US" smtClean="0">
                <a:ea typeface="宋体" charset="-122"/>
              </a:rPr>
              <a:pPr/>
              <a:t>2018/2/24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46083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473E311-DEDE-4788-8AB0-FEDF2FD3EE3B}" type="slidenum">
              <a:rPr lang="en-US" altLang="zh-CN" smtClean="0">
                <a:ea typeface="宋体" charset="-122"/>
              </a:rPr>
              <a:pPr/>
              <a:t>34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45977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66713" y="306388"/>
            <a:ext cx="8270875" cy="839787"/>
          </a:xfrm>
        </p:spPr>
        <p:txBody>
          <a:bodyPr/>
          <a:lstStyle/>
          <a:p>
            <a:pPr eaLnBrk="1" fontAlgn="b" hangingPunct="1">
              <a:defRPr/>
            </a:pPr>
            <a:r>
              <a:rPr lang="en-US" altLang="zh-CN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§4-2   CIE</a:t>
            </a:r>
            <a:r>
              <a:rPr lang="zh-CN" altLang="en-US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色度计算方法</a:t>
            </a:r>
          </a:p>
        </p:txBody>
      </p:sp>
      <p:sp>
        <p:nvSpPr>
          <p:cNvPr id="459779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296863" y="1349375"/>
            <a:ext cx="8550275" cy="4805363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mtClean="0">
                <a:latin typeface="Times New Roman" pitchFamily="18" charset="0"/>
                <a:ea typeface="黑体" pitchFamily="2" charset="-122"/>
              </a:rPr>
              <a:t>CIE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除了推荐标准色度系统外，还推荐了一系列的计算方法。如：</a:t>
            </a:r>
          </a:p>
          <a:p>
            <a:pPr lvl="1" eaLnBrk="1" hangingPunct="1">
              <a:defRPr/>
            </a:pPr>
            <a:r>
              <a:rPr lang="zh-CN" altLang="en-US" sz="2400" smtClean="0">
                <a:latin typeface="Times New Roman" pitchFamily="18" charset="0"/>
                <a:ea typeface="黑体" pitchFamily="2" charset="-122"/>
              </a:rPr>
              <a:t>色品坐标的计算</a:t>
            </a:r>
          </a:p>
          <a:p>
            <a:pPr lvl="1" eaLnBrk="1" hangingPunct="1">
              <a:defRPr/>
            </a:pPr>
            <a:r>
              <a:rPr lang="zh-CN" altLang="en-US" sz="2400" smtClean="0">
                <a:latin typeface="Times New Roman" pitchFamily="18" charset="0"/>
                <a:ea typeface="黑体" pitchFamily="2" charset="-122"/>
              </a:rPr>
              <a:t>颜色相加计算</a:t>
            </a:r>
          </a:p>
          <a:p>
            <a:pPr lvl="1" eaLnBrk="1" hangingPunct="1">
              <a:defRPr/>
            </a:pPr>
            <a:r>
              <a:rPr lang="zh-CN" altLang="en-US" sz="2400" smtClean="0">
                <a:latin typeface="Times New Roman" pitchFamily="18" charset="0"/>
                <a:ea typeface="黑体" pitchFamily="2" charset="-122"/>
              </a:rPr>
              <a:t>主波长和色纯度计算</a:t>
            </a:r>
          </a:p>
          <a:p>
            <a:pPr lvl="1" eaLnBrk="1" hangingPunct="1">
              <a:defRPr/>
            </a:pPr>
            <a:r>
              <a:rPr lang="zh-CN" altLang="en-US" sz="2400" smtClean="0">
                <a:latin typeface="Times New Roman" pitchFamily="18" charset="0"/>
                <a:ea typeface="黑体" pitchFamily="2" charset="-122"/>
              </a:rPr>
              <a:t>色差计算</a:t>
            </a:r>
          </a:p>
          <a:p>
            <a:pPr lvl="1" eaLnBrk="1" hangingPunct="1">
              <a:defRPr/>
            </a:pPr>
            <a:r>
              <a:rPr lang="zh-CN" altLang="en-US" sz="2400" smtClean="0">
                <a:latin typeface="Times New Roman" pitchFamily="18" charset="0"/>
                <a:ea typeface="黑体" pitchFamily="2" charset="-122"/>
              </a:rPr>
              <a:t>同色异谱程度的计算等</a:t>
            </a:r>
          </a:p>
        </p:txBody>
      </p:sp>
    </p:spTree>
  </p:cSld>
  <p:clrMapOvr>
    <a:masterClrMapping/>
  </p:clrMapOvr>
  <p:transition>
    <p:circle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5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18A660F8-BC54-4D89-A32B-C3A0F10E3C1A}" type="datetime1">
              <a:rPr lang="zh-CN" altLang="en-US" smtClean="0">
                <a:ea typeface="宋体" charset="-122"/>
              </a:rPr>
              <a:pPr/>
              <a:t>2018/2/24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717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8534C63-913F-459F-A4E5-F2F9F434A5D9}" type="slidenum">
              <a:rPr lang="en-US" altLang="zh-CN" smtClean="0">
                <a:ea typeface="宋体" charset="-122"/>
              </a:rPr>
              <a:pPr/>
              <a:t>35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46080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66713" y="306388"/>
            <a:ext cx="8270875" cy="839787"/>
          </a:xfrm>
        </p:spPr>
        <p:txBody>
          <a:bodyPr/>
          <a:lstStyle/>
          <a:p>
            <a:pPr eaLnBrk="1" fontAlgn="b" hangingPunct="1">
              <a:defRPr/>
            </a:pPr>
            <a:r>
              <a:rPr lang="en-US" altLang="zh-CN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§4-2   CIE</a:t>
            </a:r>
            <a:r>
              <a:rPr lang="zh-CN" altLang="en-US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色度计算方法</a:t>
            </a:r>
          </a:p>
        </p:txBody>
      </p:sp>
      <p:sp>
        <p:nvSpPr>
          <p:cNvPr id="460803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296863" y="1349375"/>
            <a:ext cx="8550275" cy="4805363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mtClean="0">
                <a:latin typeface="Times New Roman" pitchFamily="18" charset="0"/>
                <a:ea typeface="黑体" pitchFamily="2" charset="-122"/>
              </a:rPr>
              <a:t>1  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色品坐标计算</a:t>
            </a:r>
          </a:p>
          <a:p>
            <a:pPr eaLnBrk="1" hangingPunct="1">
              <a:defRPr/>
            </a:pP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已知某颜色的刺激函数         ，要计算颜色的色品坐标，必须先求得颜色的三刺激值。计算公式为：</a:t>
            </a:r>
          </a:p>
        </p:txBody>
      </p:sp>
      <p:sp>
        <p:nvSpPr>
          <p:cNvPr id="7179" name="Rectangle 4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7170" name="Object 5"/>
          <p:cNvGraphicFramePr>
            <a:graphicFrameLocks noChangeAspect="1"/>
          </p:cNvGraphicFramePr>
          <p:nvPr/>
        </p:nvGraphicFramePr>
        <p:xfrm>
          <a:off x="3860800" y="1863725"/>
          <a:ext cx="568325" cy="331788"/>
        </p:xfrm>
        <a:graphic>
          <a:graphicData uri="http://schemas.openxmlformats.org/presentationml/2006/ole">
            <p:oleObj spid="_x0000_s7170" name="公式" r:id="rId3" imgW="342751" imgH="203112" progId="Equation.3">
              <p:embed/>
            </p:oleObj>
          </a:graphicData>
        </a:graphic>
      </p:graphicFrame>
      <p:sp>
        <p:nvSpPr>
          <p:cNvPr id="7180" name="Rectangle 6"/>
          <p:cNvSpPr>
            <a:spLocks noChangeArrowheads="1"/>
          </p:cNvSpPr>
          <p:nvPr/>
        </p:nvSpPr>
        <p:spPr bwMode="auto">
          <a:xfrm>
            <a:off x="0" y="28432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460807" name="Object 7"/>
          <p:cNvGraphicFramePr>
            <a:graphicFrameLocks noChangeAspect="1"/>
          </p:cNvGraphicFramePr>
          <p:nvPr/>
        </p:nvGraphicFramePr>
        <p:xfrm>
          <a:off x="3309938" y="2698750"/>
          <a:ext cx="2667000" cy="2159000"/>
        </p:xfrm>
        <a:graphic>
          <a:graphicData uri="http://schemas.openxmlformats.org/presentationml/2006/ole">
            <p:oleObj spid="_x0000_s7171" name="公式" r:id="rId4" imgW="1447800" imgH="1168400" progId="Equation.3">
              <p:embed/>
            </p:oleObj>
          </a:graphicData>
        </a:graphic>
      </p:graphicFrame>
      <p:sp>
        <p:nvSpPr>
          <p:cNvPr id="460808" name="AutoShape 8"/>
          <p:cNvSpPr>
            <a:spLocks noChangeArrowheads="1"/>
          </p:cNvSpPr>
          <p:nvPr/>
        </p:nvSpPr>
        <p:spPr bwMode="auto">
          <a:xfrm>
            <a:off x="290513" y="1174750"/>
            <a:ext cx="3179762" cy="2046288"/>
          </a:xfrm>
          <a:prstGeom prst="wedgeEllipseCallout">
            <a:avLst>
              <a:gd name="adj1" fmla="val 66824"/>
              <a:gd name="adj2" fmla="val 3975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r>
              <a:rPr lang="en-US" altLang="zh-CN" sz="2000" b="1" i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黑体" pitchFamily="2" charset="-122"/>
              </a:rPr>
              <a:t>k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黑体" pitchFamily="2" charset="-122"/>
              </a:rPr>
              <a:t>叫做</a:t>
            </a:r>
            <a:r>
              <a:rPr lang="zh-CN" altLang="en-US" sz="20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黑体" pitchFamily="2" charset="-122"/>
              </a:rPr>
              <a:t>归化系数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黑体" pitchFamily="2" charset="-122"/>
              </a:rPr>
              <a:t>，它是将照明物体（或光源）的</a:t>
            </a:r>
            <a:r>
              <a:rPr lang="en-US" altLang="zh-CN" sz="2000" b="1" i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黑体" pitchFamily="2" charset="-122"/>
              </a:rPr>
              <a:t>Y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黑体" pitchFamily="2" charset="-122"/>
              </a:rPr>
              <a:t>值归一化为</a:t>
            </a: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黑体" pitchFamily="2" charset="-122"/>
              </a:rPr>
              <a:t>100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黑体" pitchFamily="2" charset="-122"/>
              </a:rPr>
              <a:t>时得出的 </a:t>
            </a:r>
          </a:p>
        </p:txBody>
      </p:sp>
      <p:sp>
        <p:nvSpPr>
          <p:cNvPr id="460809" name="AutoShape 9"/>
          <p:cNvSpPr>
            <a:spLocks noChangeArrowheads="1"/>
          </p:cNvSpPr>
          <p:nvPr/>
        </p:nvSpPr>
        <p:spPr bwMode="auto">
          <a:xfrm>
            <a:off x="5006975" y="1262063"/>
            <a:ext cx="2076450" cy="1219200"/>
          </a:xfrm>
          <a:prstGeom prst="wedgeRoundRectCallout">
            <a:avLst>
              <a:gd name="adj1" fmla="val -41361"/>
              <a:gd name="adj2" fmla="val 89972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ea typeface="黑体" pitchFamily="2" charset="-122"/>
              </a:rPr>
              <a:t>为波长</a:t>
            </a:r>
            <a:r>
              <a:rPr lang="el-GR" altLang="zh-CN" sz="2000" b="1" i="1">
                <a:effectLst>
                  <a:outerShdw blurRad="38100" dist="38100" dir="2700000" algn="tl">
                    <a:srgbClr val="FFFFFF"/>
                  </a:outerShdw>
                </a:effectLst>
                <a:ea typeface="黑体" pitchFamily="2" charset="-122"/>
                <a:cs typeface="Times New Roman" pitchFamily="18" charset="0"/>
              </a:rPr>
              <a:t>λ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ea typeface="黑体" pitchFamily="2" charset="-122"/>
                <a:cs typeface="Times New Roman" pitchFamily="18" charset="0"/>
              </a:rPr>
              <a:t>的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ea typeface="黑体" pitchFamily="2" charset="-122"/>
              </a:rPr>
              <a:t>光谱三刺激值</a:t>
            </a:r>
          </a:p>
        </p:txBody>
      </p:sp>
      <p:sp>
        <p:nvSpPr>
          <p:cNvPr id="7183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184" name="Rectangle 11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185" name="Rectangle 12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1027113" y="4983163"/>
            <a:ext cx="3905250" cy="1671637"/>
            <a:chOff x="546" y="3128"/>
            <a:chExt cx="2460" cy="1053"/>
          </a:xfrm>
        </p:grpSpPr>
        <p:sp>
          <p:nvSpPr>
            <p:cNvPr id="460814" name="AutoShape 14"/>
            <p:cNvSpPr>
              <a:spLocks/>
            </p:cNvSpPr>
            <p:nvPr/>
          </p:nvSpPr>
          <p:spPr bwMode="auto">
            <a:xfrm>
              <a:off x="546" y="3128"/>
              <a:ext cx="2460" cy="1053"/>
            </a:xfrm>
            <a:prstGeom prst="borderCallout1">
              <a:avLst>
                <a:gd name="adj1" fmla="val 6838"/>
                <a:gd name="adj2" fmla="val 90773"/>
                <a:gd name="adj3" fmla="val -18231"/>
                <a:gd name="adj4" fmla="val 90773"/>
              </a:avLst>
            </a:prstGeom>
            <a:solidFill>
              <a:schemeClr val="accent1"/>
            </a:solidFill>
            <a:ln w="3810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r>
                <a:rPr lang="zh-CN" altLang="en-US" sz="20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黑体" pitchFamily="2" charset="-122"/>
                  <a:ea typeface="黑体" pitchFamily="2" charset="-122"/>
                </a:rPr>
                <a:t>自发光物体色：</a:t>
              </a:r>
            </a:p>
            <a:p>
              <a:pPr>
                <a:defRPr/>
              </a:pPr>
              <a:endPara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itchFamily="2" charset="-122"/>
                <a:ea typeface="黑体" pitchFamily="2" charset="-122"/>
              </a:endParaRPr>
            </a:p>
            <a:p>
              <a:pPr>
                <a:defRPr/>
              </a:pPr>
              <a:r>
                <a:rPr lang="zh-CN" altLang="en-US" sz="20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黑体" pitchFamily="2" charset="-122"/>
                  <a:ea typeface="黑体" pitchFamily="2" charset="-122"/>
                </a:rPr>
                <a:t>透射物体色：</a:t>
              </a:r>
            </a:p>
            <a:p>
              <a:pPr>
                <a:defRPr/>
              </a:pPr>
              <a:endPara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itchFamily="2" charset="-122"/>
                <a:ea typeface="黑体" pitchFamily="2" charset="-122"/>
              </a:endParaRPr>
            </a:p>
            <a:p>
              <a:pPr>
                <a:defRPr/>
              </a:pPr>
              <a:r>
                <a:rPr lang="zh-CN" altLang="en-US" sz="20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黑体" pitchFamily="2" charset="-122"/>
                  <a:ea typeface="黑体" pitchFamily="2" charset="-122"/>
                </a:rPr>
                <a:t>反射物体色：</a:t>
              </a:r>
              <a:r>
                <a:rPr lang="zh-CN" altLang="en-US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黑体" pitchFamily="2" charset="-122"/>
                  <a:ea typeface="黑体" pitchFamily="2" charset="-122"/>
                </a:rPr>
                <a:t> </a:t>
              </a:r>
            </a:p>
          </p:txBody>
        </p:sp>
        <p:graphicFrame>
          <p:nvGraphicFramePr>
            <p:cNvPr id="7172" name="Object 15"/>
            <p:cNvGraphicFramePr>
              <a:graphicFrameLocks noChangeAspect="1"/>
            </p:cNvGraphicFramePr>
            <p:nvPr/>
          </p:nvGraphicFramePr>
          <p:xfrm>
            <a:off x="1710" y="3191"/>
            <a:ext cx="875" cy="227"/>
          </p:xfrm>
          <a:graphic>
            <a:graphicData uri="http://schemas.openxmlformats.org/presentationml/2006/ole">
              <p:oleObj spid="_x0000_s7172" name="公式" r:id="rId5" imgW="774364" imgH="203112" progId="Equation.3">
                <p:embed/>
              </p:oleObj>
            </a:graphicData>
          </a:graphic>
        </p:graphicFrame>
        <p:graphicFrame>
          <p:nvGraphicFramePr>
            <p:cNvPr id="7173" name="Object 16"/>
            <p:cNvGraphicFramePr>
              <a:graphicFrameLocks noChangeAspect="1"/>
            </p:cNvGraphicFramePr>
            <p:nvPr/>
          </p:nvGraphicFramePr>
          <p:xfrm>
            <a:off x="1564" y="3568"/>
            <a:ext cx="1324" cy="226"/>
          </p:xfrm>
          <a:graphic>
            <a:graphicData uri="http://schemas.openxmlformats.org/presentationml/2006/ole">
              <p:oleObj spid="_x0000_s7173" name="公式" r:id="rId6" imgW="1066337" imgH="203112" progId="Equation.3">
                <p:embed/>
              </p:oleObj>
            </a:graphicData>
          </a:graphic>
        </p:graphicFrame>
        <p:graphicFrame>
          <p:nvGraphicFramePr>
            <p:cNvPr id="7174" name="Object 17"/>
            <p:cNvGraphicFramePr>
              <a:graphicFrameLocks noChangeAspect="1"/>
            </p:cNvGraphicFramePr>
            <p:nvPr/>
          </p:nvGraphicFramePr>
          <p:xfrm>
            <a:off x="1590" y="3881"/>
            <a:ext cx="1248" cy="226"/>
          </p:xfrm>
          <a:graphic>
            <a:graphicData uri="http://schemas.openxmlformats.org/presentationml/2006/ole">
              <p:oleObj spid="_x0000_s7174" name="公式" r:id="rId7" imgW="1104900" imgH="203200" progId="Equation.3">
                <p:embed/>
              </p:oleObj>
            </a:graphicData>
          </a:graphic>
        </p:graphicFrame>
      </p:grpSp>
    </p:spTree>
  </p:cSld>
  <p:clrMapOvr>
    <a:masterClrMapping/>
  </p:clrMapOvr>
  <p:transition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08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08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60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460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08" grpId="0" animBg="1"/>
      <p:bldP spid="46080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20D93F1C-5BFC-4B5E-83CA-50E3C18E9017}" type="datetime1">
              <a:rPr lang="zh-CN" altLang="en-US" smtClean="0">
                <a:ea typeface="宋体" charset="-122"/>
              </a:rPr>
              <a:pPr/>
              <a:t>2018/2/24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819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57C0479-7E0F-4F20-919D-0C12EDC2417B}" type="slidenum">
              <a:rPr lang="en-US" altLang="zh-CN" smtClean="0">
                <a:ea typeface="宋体" charset="-122"/>
              </a:rPr>
              <a:pPr/>
              <a:t>36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46182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66713" y="306388"/>
            <a:ext cx="8270875" cy="839787"/>
          </a:xfrm>
        </p:spPr>
        <p:txBody>
          <a:bodyPr/>
          <a:lstStyle/>
          <a:p>
            <a:pPr eaLnBrk="1" fontAlgn="b" hangingPunct="1">
              <a:defRPr/>
            </a:pPr>
            <a:r>
              <a:rPr lang="en-US" altLang="zh-CN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§4-2   CIE</a:t>
            </a:r>
            <a:r>
              <a:rPr lang="zh-CN" altLang="en-US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色度计算方法</a:t>
            </a:r>
          </a:p>
        </p:txBody>
      </p:sp>
      <p:sp>
        <p:nvSpPr>
          <p:cNvPr id="461827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296863" y="1349375"/>
            <a:ext cx="8550275" cy="989013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mtClean="0">
                <a:latin typeface="Times New Roman" pitchFamily="18" charset="0"/>
                <a:ea typeface="黑体" pitchFamily="2" charset="-122"/>
              </a:rPr>
              <a:t>1  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色品坐标计算</a:t>
            </a:r>
          </a:p>
          <a:p>
            <a:pPr eaLnBrk="1" hangingPunct="1">
              <a:defRPr/>
            </a:pP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计算出物体的三刺激值后，由下式计算其色品度坐标</a:t>
            </a:r>
          </a:p>
        </p:txBody>
      </p:sp>
      <p:sp>
        <p:nvSpPr>
          <p:cNvPr id="8199" name="Rectangle 4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200" name="Rectangle 5"/>
          <p:cNvSpPr>
            <a:spLocks noChangeArrowheads="1"/>
          </p:cNvSpPr>
          <p:nvPr/>
        </p:nvSpPr>
        <p:spPr bwMode="auto">
          <a:xfrm>
            <a:off x="0" y="28432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201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202" name="Rectangle 7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203" name="Rectangle 8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204" name="Rectangle 9"/>
          <p:cNvSpPr>
            <a:spLocks noChangeArrowheads="1"/>
          </p:cNvSpPr>
          <p:nvPr/>
        </p:nvSpPr>
        <p:spPr bwMode="auto">
          <a:xfrm>
            <a:off x="0" y="28051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8194" name="Object 10"/>
          <p:cNvGraphicFramePr>
            <a:graphicFrameLocks noChangeAspect="1"/>
          </p:cNvGraphicFramePr>
          <p:nvPr/>
        </p:nvGraphicFramePr>
        <p:xfrm>
          <a:off x="3600450" y="2514600"/>
          <a:ext cx="2014538" cy="2466975"/>
        </p:xfrm>
        <a:graphic>
          <a:graphicData uri="http://schemas.openxmlformats.org/presentationml/2006/ole">
            <p:oleObj spid="_x0000_s8194" name="公式" r:id="rId3" imgW="1016000" imgH="1244600" progId="Equation.3">
              <p:embed/>
            </p:oleObj>
          </a:graphicData>
        </a:graphic>
      </p:graphicFrame>
      <p:sp>
        <p:nvSpPr>
          <p:cNvPr id="461835" name="AutoShape 11"/>
          <p:cNvSpPr>
            <a:spLocks noChangeArrowheads="1"/>
          </p:cNvSpPr>
          <p:nvPr/>
        </p:nvSpPr>
        <p:spPr bwMode="auto">
          <a:xfrm>
            <a:off x="958850" y="2262188"/>
            <a:ext cx="6427788" cy="4217987"/>
          </a:xfrm>
          <a:prstGeom prst="star24">
            <a:avLst>
              <a:gd name="adj" fmla="val 37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zh-CN" altLang="en-US" sz="36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注意</a:t>
            </a:r>
            <a:endParaRPr lang="zh-CN" altLang="en-US" sz="2800" b="1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ea typeface="宋体" pitchFamily="2" charset="-122"/>
            </a:endParaRPr>
          </a:p>
          <a:p>
            <a:pPr algn="ctr">
              <a:defRPr/>
            </a:pPr>
            <a:endParaRPr lang="zh-CN" altLang="en-US" sz="2800" b="1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ea typeface="宋体" pitchFamily="2" charset="-122"/>
            </a:endParaRPr>
          </a:p>
          <a:p>
            <a:pPr algn="ctr">
              <a:defRPr/>
            </a:pPr>
            <a:r>
              <a:rPr lang="zh-CN" altLang="en-US" sz="28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黑体" pitchFamily="2" charset="-122"/>
              </a:rPr>
              <a:t>式中的</a:t>
            </a:r>
            <a:r>
              <a:rPr lang="en-US" altLang="zh-CN" sz="2800" b="1" i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黑体" pitchFamily="2" charset="-122"/>
              </a:rPr>
              <a:t>Y</a:t>
            </a:r>
            <a:r>
              <a:rPr lang="zh-CN" altLang="en-US" sz="28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黑体" pitchFamily="2" charset="-122"/>
              </a:rPr>
              <a:t>是被测色的光通量 </a:t>
            </a:r>
          </a:p>
        </p:txBody>
      </p:sp>
    </p:spTree>
  </p:cSld>
  <p:clrMapOvr>
    <a:masterClrMapping/>
  </p:clrMapOvr>
  <p:transition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18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18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183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7CD82E7C-186C-4965-AEFD-E698247272C9}" type="datetime1">
              <a:rPr lang="zh-CN" altLang="en-US" smtClean="0">
                <a:ea typeface="宋体" charset="-122"/>
              </a:rPr>
              <a:pPr/>
              <a:t>2018/2/24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922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E6F8739-149A-4464-9934-DE5FD4B09146}" type="slidenum">
              <a:rPr lang="en-US" altLang="zh-CN" smtClean="0">
                <a:ea typeface="宋体" charset="-122"/>
              </a:rPr>
              <a:pPr/>
              <a:t>37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46285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66713" y="306388"/>
            <a:ext cx="8270875" cy="839787"/>
          </a:xfrm>
        </p:spPr>
        <p:txBody>
          <a:bodyPr/>
          <a:lstStyle/>
          <a:p>
            <a:pPr eaLnBrk="1" fontAlgn="b" hangingPunct="1">
              <a:defRPr/>
            </a:pPr>
            <a:r>
              <a:rPr lang="en-US" altLang="zh-CN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§4-2   CIE</a:t>
            </a:r>
            <a:r>
              <a:rPr lang="zh-CN" altLang="en-US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色度计算方法</a:t>
            </a:r>
          </a:p>
        </p:txBody>
      </p:sp>
      <p:sp>
        <p:nvSpPr>
          <p:cNvPr id="462851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296863" y="1349375"/>
            <a:ext cx="8550275" cy="1931988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mtClean="0">
                <a:latin typeface="Times New Roman" pitchFamily="18" charset="0"/>
                <a:ea typeface="黑体" pitchFamily="2" charset="-122"/>
              </a:rPr>
              <a:t>2  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颜色相加计算</a:t>
            </a:r>
          </a:p>
          <a:p>
            <a:pPr eaLnBrk="1" hangingPunct="1">
              <a:defRPr/>
            </a:pP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已知两种颜色各自的色品度坐标计算</a:t>
            </a:r>
            <a:r>
              <a:rPr lang="en-US" altLang="zh-CN" i="1" smtClean="0">
                <a:latin typeface="Times New Roman" pitchFamily="18" charset="0"/>
                <a:ea typeface="黑体" pitchFamily="2" charset="-122"/>
              </a:rPr>
              <a:t>x</a:t>
            </a:r>
            <a:r>
              <a:rPr lang="en-US" altLang="zh-CN" baseline="-25000" smtClean="0">
                <a:latin typeface="Times New Roman" pitchFamily="18" charset="0"/>
                <a:ea typeface="黑体" pitchFamily="2" charset="-122"/>
              </a:rPr>
              <a:t>1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、</a:t>
            </a:r>
            <a:r>
              <a:rPr lang="en-US" altLang="zh-CN" i="1" smtClean="0">
                <a:latin typeface="Times New Roman" pitchFamily="18" charset="0"/>
                <a:ea typeface="黑体" pitchFamily="2" charset="-122"/>
              </a:rPr>
              <a:t>y</a:t>
            </a:r>
            <a:r>
              <a:rPr lang="en-US" altLang="zh-CN" baseline="-25000" smtClean="0">
                <a:latin typeface="Times New Roman" pitchFamily="18" charset="0"/>
                <a:ea typeface="黑体" pitchFamily="2" charset="-122"/>
              </a:rPr>
              <a:t>1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、亮度</a:t>
            </a:r>
            <a:r>
              <a:rPr lang="en-US" altLang="zh-CN" i="1" smtClean="0">
                <a:latin typeface="Times New Roman" pitchFamily="18" charset="0"/>
                <a:ea typeface="黑体" pitchFamily="2" charset="-122"/>
              </a:rPr>
              <a:t>Y</a:t>
            </a:r>
            <a:r>
              <a:rPr lang="en-US" altLang="zh-CN" baseline="-25000" smtClean="0">
                <a:latin typeface="Times New Roman" pitchFamily="18" charset="0"/>
                <a:ea typeface="黑体" pitchFamily="2" charset="-122"/>
              </a:rPr>
              <a:t>1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， </a:t>
            </a:r>
            <a:r>
              <a:rPr lang="en-US" altLang="zh-CN" i="1" smtClean="0">
                <a:latin typeface="Times New Roman" pitchFamily="18" charset="0"/>
                <a:ea typeface="黑体" pitchFamily="2" charset="-122"/>
              </a:rPr>
              <a:t>x</a:t>
            </a:r>
            <a:r>
              <a:rPr lang="en-US" altLang="zh-CN" baseline="-25000" smtClean="0">
                <a:latin typeface="Times New Roman" pitchFamily="18" charset="0"/>
                <a:ea typeface="黑体" pitchFamily="2" charset="-122"/>
              </a:rPr>
              <a:t>2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、</a:t>
            </a:r>
            <a:r>
              <a:rPr lang="en-US" altLang="zh-CN" i="1" smtClean="0">
                <a:latin typeface="Times New Roman" pitchFamily="18" charset="0"/>
                <a:ea typeface="黑体" pitchFamily="2" charset="-122"/>
              </a:rPr>
              <a:t>y</a:t>
            </a:r>
            <a:r>
              <a:rPr lang="en-US" altLang="zh-CN" baseline="-25000" smtClean="0">
                <a:latin typeface="Times New Roman" pitchFamily="18" charset="0"/>
                <a:ea typeface="黑体" pitchFamily="2" charset="-122"/>
              </a:rPr>
              <a:t>2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、亮度</a:t>
            </a:r>
            <a:r>
              <a:rPr lang="en-US" altLang="zh-CN" i="1" smtClean="0">
                <a:latin typeface="Times New Roman" pitchFamily="18" charset="0"/>
                <a:ea typeface="黑体" pitchFamily="2" charset="-122"/>
              </a:rPr>
              <a:t>Y</a:t>
            </a:r>
            <a:r>
              <a:rPr lang="en-US" altLang="zh-CN" baseline="-25000" smtClean="0">
                <a:latin typeface="Times New Roman" pitchFamily="18" charset="0"/>
                <a:ea typeface="黑体" pitchFamily="2" charset="-122"/>
              </a:rPr>
              <a:t>2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。</a:t>
            </a:r>
          </a:p>
          <a:p>
            <a:pPr eaLnBrk="1" hangingPunct="1">
              <a:defRPr/>
            </a:pP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①计算法</a:t>
            </a:r>
          </a:p>
          <a:p>
            <a:pPr eaLnBrk="1" hangingPunct="1">
              <a:defRPr/>
            </a:pP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原则：混合色的三刺激值为各个混合色的三刺激值的和；可   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                 以推广到更多种颜色相加混合。可以表示为</a:t>
            </a:r>
          </a:p>
        </p:txBody>
      </p:sp>
      <p:sp>
        <p:nvSpPr>
          <p:cNvPr id="9223" name="Rectangle 4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224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225" name="Rectangle 6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226" name="Rectangle 7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227" name="Rectangle 8"/>
          <p:cNvSpPr>
            <a:spLocks noChangeArrowheads="1"/>
          </p:cNvSpPr>
          <p:nvPr/>
        </p:nvSpPr>
        <p:spPr bwMode="auto">
          <a:xfrm>
            <a:off x="0" y="30718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462857" name="Object 9"/>
          <p:cNvGraphicFramePr>
            <a:graphicFrameLocks noChangeAspect="1"/>
          </p:cNvGraphicFramePr>
          <p:nvPr/>
        </p:nvGraphicFramePr>
        <p:xfrm>
          <a:off x="3162300" y="4175125"/>
          <a:ext cx="2513013" cy="1903413"/>
        </p:xfrm>
        <a:graphic>
          <a:graphicData uri="http://schemas.openxmlformats.org/presentationml/2006/ole">
            <p:oleObj spid="_x0000_s9218" name="公式" r:id="rId3" imgW="939392" imgH="710891" progId="Equation.3">
              <p:embed/>
            </p:oleObj>
          </a:graphicData>
        </a:graphic>
      </p:graphicFrame>
    </p:spTree>
  </p:cSld>
  <p:clrMapOvr>
    <a:masterClrMapping/>
  </p:clrMapOvr>
  <p:transition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28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28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9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2F99D3A4-D4AC-456B-AF34-B7E80409D657}" type="datetime1">
              <a:rPr lang="zh-CN" altLang="en-US" smtClean="0">
                <a:ea typeface="宋体" charset="-122"/>
              </a:rPr>
              <a:pPr/>
              <a:t>2018/2/24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1025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61992C6-E295-45DD-96C4-6F8AAB7E56AF}" type="slidenum">
              <a:rPr lang="en-US" altLang="zh-CN" smtClean="0">
                <a:ea typeface="宋体" charset="-122"/>
              </a:rPr>
              <a:pPr/>
              <a:t>38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46387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66713" y="306388"/>
            <a:ext cx="8270875" cy="839787"/>
          </a:xfrm>
        </p:spPr>
        <p:txBody>
          <a:bodyPr/>
          <a:lstStyle/>
          <a:p>
            <a:pPr eaLnBrk="1" fontAlgn="b" hangingPunct="1">
              <a:defRPr/>
            </a:pPr>
            <a:r>
              <a:rPr lang="en-US" altLang="zh-CN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§4-2   CIE</a:t>
            </a:r>
            <a:r>
              <a:rPr lang="zh-CN" altLang="en-US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色度计算方法</a:t>
            </a:r>
          </a:p>
        </p:txBody>
      </p:sp>
      <p:sp>
        <p:nvSpPr>
          <p:cNvPr id="463875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296863" y="1349375"/>
            <a:ext cx="8550275" cy="989013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mtClean="0">
                <a:latin typeface="Times New Roman" pitchFamily="18" charset="0"/>
                <a:ea typeface="黑体" pitchFamily="2" charset="-122"/>
              </a:rPr>
              <a:t>2  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颜色相加计算</a:t>
            </a:r>
          </a:p>
          <a:p>
            <a:pPr eaLnBrk="1" hangingPunct="1">
              <a:defRPr/>
            </a:pP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计算步骤：</a:t>
            </a:r>
          </a:p>
          <a:p>
            <a:pPr eaLnBrk="1" hangingPunct="1">
              <a:defRPr/>
            </a:pPr>
            <a:endParaRPr lang="zh-CN" altLang="en-US" smtClean="0">
              <a:latin typeface="Times New Roman" pitchFamily="18" charset="0"/>
              <a:ea typeface="黑体" pitchFamily="2" charset="-122"/>
            </a:endParaRPr>
          </a:p>
          <a:p>
            <a:pPr eaLnBrk="1" hangingPunct="1">
              <a:defRPr/>
            </a:pPr>
            <a:endParaRPr lang="zh-CN" altLang="en-US" smtClean="0">
              <a:latin typeface="Times New Roman" pitchFamily="18" charset="0"/>
              <a:ea typeface="黑体" pitchFamily="2" charset="-122"/>
            </a:endParaRPr>
          </a:p>
          <a:p>
            <a:pPr eaLnBrk="1" hangingPunct="1">
              <a:defRPr/>
            </a:pPr>
            <a:endParaRPr lang="zh-CN" altLang="en-US" smtClean="0">
              <a:latin typeface="Times New Roman" pitchFamily="18" charset="0"/>
              <a:ea typeface="黑体" pitchFamily="2" charset="-122"/>
            </a:endParaRPr>
          </a:p>
          <a:p>
            <a:pPr eaLnBrk="1" hangingPunct="1">
              <a:defRPr/>
            </a:pPr>
            <a:endParaRPr lang="zh-CN" altLang="en-US" smtClean="0">
              <a:latin typeface="Times New Roman" pitchFamily="18" charset="0"/>
              <a:ea typeface="黑体" pitchFamily="2" charset="-122"/>
            </a:endParaRPr>
          </a:p>
          <a:p>
            <a:pPr eaLnBrk="1" hangingPunct="1">
              <a:defRPr/>
            </a:pPr>
            <a:endParaRPr lang="zh-CN" altLang="en-US" smtClean="0">
              <a:latin typeface="Times New Roman" pitchFamily="18" charset="0"/>
              <a:ea typeface="黑体" pitchFamily="2" charset="-122"/>
            </a:endParaRPr>
          </a:p>
          <a:p>
            <a:pPr eaLnBrk="1" hangingPunct="1">
              <a:defRPr/>
            </a:pPr>
            <a:endParaRPr lang="zh-CN" altLang="en-US" smtClean="0">
              <a:latin typeface="Times New Roman" pitchFamily="18" charset="0"/>
              <a:ea typeface="黑体" pitchFamily="2" charset="-122"/>
            </a:endParaRPr>
          </a:p>
          <a:p>
            <a:pPr eaLnBrk="1" hangingPunct="1">
              <a:defRPr/>
            </a:pPr>
            <a:endParaRPr lang="zh-CN" altLang="en-US" smtClean="0">
              <a:latin typeface="Times New Roman" pitchFamily="18" charset="0"/>
              <a:ea typeface="黑体" pitchFamily="2" charset="-122"/>
            </a:endParaRPr>
          </a:p>
          <a:p>
            <a:pPr eaLnBrk="1" hangingPunct="1">
              <a:defRPr/>
            </a:pPr>
            <a:endParaRPr lang="zh-CN" altLang="en-US" smtClean="0">
              <a:latin typeface="Times New Roman" pitchFamily="18" charset="0"/>
              <a:ea typeface="黑体" pitchFamily="2" charset="-122"/>
            </a:endParaRPr>
          </a:p>
          <a:p>
            <a:pPr eaLnBrk="1" hangingPunct="1">
              <a:defRPr/>
            </a:pPr>
            <a:endParaRPr lang="en-US" altLang="zh-CN" smtClean="0">
              <a:latin typeface="Times New Roman" pitchFamily="18" charset="0"/>
              <a:ea typeface="黑体" pitchFamily="2" charset="-122"/>
            </a:endParaRPr>
          </a:p>
        </p:txBody>
      </p:sp>
      <p:sp>
        <p:nvSpPr>
          <p:cNvPr id="10253" name="Rectangle 4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254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255" name="Rectangle 6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256" name="Rectangle 7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257" name="Rectangle 8"/>
          <p:cNvSpPr>
            <a:spLocks noChangeArrowheads="1"/>
          </p:cNvSpPr>
          <p:nvPr/>
        </p:nvSpPr>
        <p:spPr bwMode="auto">
          <a:xfrm>
            <a:off x="0" y="30718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258" name="Rectangle 9"/>
          <p:cNvSpPr>
            <a:spLocks noChangeArrowheads="1"/>
          </p:cNvSpPr>
          <p:nvPr/>
        </p:nvSpPr>
        <p:spPr bwMode="auto">
          <a:xfrm>
            <a:off x="0" y="32194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259" name="Rectangle 10"/>
          <p:cNvSpPr>
            <a:spLocks noChangeArrowheads="1"/>
          </p:cNvSpPr>
          <p:nvPr/>
        </p:nvSpPr>
        <p:spPr bwMode="auto">
          <a:xfrm>
            <a:off x="0" y="32194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501650" y="2538413"/>
            <a:ext cx="3408363" cy="773112"/>
            <a:chOff x="1514" y="1535"/>
            <a:chExt cx="2147" cy="487"/>
          </a:xfrm>
        </p:grpSpPr>
        <p:graphicFrame>
          <p:nvGraphicFramePr>
            <p:cNvPr id="10248" name="Object 12"/>
            <p:cNvGraphicFramePr>
              <a:graphicFrameLocks noChangeAspect="1"/>
            </p:cNvGraphicFramePr>
            <p:nvPr/>
          </p:nvGraphicFramePr>
          <p:xfrm>
            <a:off x="1847" y="1535"/>
            <a:ext cx="1814" cy="487"/>
          </p:xfrm>
          <a:graphic>
            <a:graphicData uri="http://schemas.openxmlformats.org/presentationml/2006/ole">
              <p:oleObj spid="_x0000_s10248" name="公式" r:id="rId3" imgW="1562100" imgH="419100" progId="Equation.3">
                <p:embed/>
              </p:oleObj>
            </a:graphicData>
          </a:graphic>
        </p:graphicFrame>
        <p:sp>
          <p:nvSpPr>
            <p:cNvPr id="463885" name="Text Box 13"/>
            <p:cNvSpPr txBox="1">
              <a:spLocks noChangeArrowheads="1"/>
            </p:cNvSpPr>
            <p:nvPr/>
          </p:nvSpPr>
          <p:spPr bwMode="auto">
            <a:xfrm>
              <a:off x="1514" y="1643"/>
              <a:ext cx="27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2000" b="1">
                  <a:effectLst>
                    <a:outerShdw blurRad="38100" dist="38100" dir="2700000" algn="tl">
                      <a:srgbClr val="C0C0C0"/>
                    </a:outerShdw>
                  </a:effectLst>
                  <a:ea typeface="黑体" pitchFamily="2" charset="-122"/>
                </a:rPr>
                <a:t>由</a:t>
              </a:r>
            </a:p>
          </p:txBody>
        </p:sp>
      </p:grpSp>
      <p:grpSp>
        <p:nvGrpSpPr>
          <p:cNvPr id="3" name="Group 14"/>
          <p:cNvGrpSpPr>
            <a:grpSpLocks/>
          </p:cNvGrpSpPr>
          <p:nvPr/>
        </p:nvGrpSpPr>
        <p:grpSpPr bwMode="auto">
          <a:xfrm>
            <a:off x="184150" y="3632200"/>
            <a:ext cx="3913188" cy="2157413"/>
            <a:chOff x="2329" y="1319"/>
            <a:chExt cx="2465" cy="1359"/>
          </a:xfrm>
        </p:grpSpPr>
        <p:graphicFrame>
          <p:nvGraphicFramePr>
            <p:cNvPr id="10246" name="Object 15"/>
            <p:cNvGraphicFramePr>
              <a:graphicFrameLocks noChangeAspect="1"/>
            </p:cNvGraphicFramePr>
            <p:nvPr/>
          </p:nvGraphicFramePr>
          <p:xfrm>
            <a:off x="2898" y="1319"/>
            <a:ext cx="870" cy="1350"/>
          </p:xfrm>
          <a:graphic>
            <a:graphicData uri="http://schemas.openxmlformats.org/presentationml/2006/ole">
              <p:oleObj spid="_x0000_s10246" name="公式" r:id="rId4" imgW="736560" imgH="1143000" progId="Equation.3">
                <p:embed/>
              </p:oleObj>
            </a:graphicData>
          </a:graphic>
        </p:graphicFrame>
        <p:graphicFrame>
          <p:nvGraphicFramePr>
            <p:cNvPr id="10247" name="Object 16"/>
            <p:cNvGraphicFramePr>
              <a:graphicFrameLocks noChangeAspect="1"/>
            </p:cNvGraphicFramePr>
            <p:nvPr/>
          </p:nvGraphicFramePr>
          <p:xfrm>
            <a:off x="3864" y="1328"/>
            <a:ext cx="930" cy="1350"/>
          </p:xfrm>
          <a:graphic>
            <a:graphicData uri="http://schemas.openxmlformats.org/presentationml/2006/ole">
              <p:oleObj spid="_x0000_s10247" name="公式" r:id="rId5" imgW="787320" imgH="1143000" progId="Equation.3">
                <p:embed/>
              </p:oleObj>
            </a:graphicData>
          </a:graphic>
        </p:graphicFrame>
        <p:sp>
          <p:nvSpPr>
            <p:cNvPr id="463889" name="Text Box 17"/>
            <p:cNvSpPr txBox="1">
              <a:spLocks noChangeArrowheads="1"/>
            </p:cNvSpPr>
            <p:nvPr/>
          </p:nvSpPr>
          <p:spPr bwMode="auto">
            <a:xfrm>
              <a:off x="2329" y="1333"/>
              <a:ext cx="43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2000" b="1">
                  <a:effectLst>
                    <a:outerShdw blurRad="38100" dist="38100" dir="2700000" algn="tl">
                      <a:srgbClr val="C0C0C0"/>
                    </a:outerShdw>
                  </a:effectLst>
                  <a:ea typeface="黑体" pitchFamily="2" charset="-122"/>
                </a:rPr>
                <a:t>可得</a:t>
              </a:r>
            </a:p>
          </p:txBody>
        </p:sp>
      </p:grpSp>
      <p:grpSp>
        <p:nvGrpSpPr>
          <p:cNvPr id="4" name="Group 18"/>
          <p:cNvGrpSpPr>
            <a:grpSpLocks/>
          </p:cNvGrpSpPr>
          <p:nvPr/>
        </p:nvGrpSpPr>
        <p:grpSpPr bwMode="auto">
          <a:xfrm>
            <a:off x="4638675" y="1346200"/>
            <a:ext cx="3489325" cy="1903413"/>
            <a:chOff x="2291" y="2767"/>
            <a:chExt cx="2198" cy="1199"/>
          </a:xfrm>
        </p:grpSpPr>
        <p:graphicFrame>
          <p:nvGraphicFramePr>
            <p:cNvPr id="10245" name="Object 19"/>
            <p:cNvGraphicFramePr>
              <a:graphicFrameLocks noChangeAspect="1"/>
            </p:cNvGraphicFramePr>
            <p:nvPr/>
          </p:nvGraphicFramePr>
          <p:xfrm>
            <a:off x="2906" y="2767"/>
            <a:ext cx="1583" cy="1199"/>
          </p:xfrm>
          <a:graphic>
            <a:graphicData uri="http://schemas.openxmlformats.org/presentationml/2006/ole">
              <p:oleObj spid="_x0000_s10245" name="公式" r:id="rId6" imgW="939392" imgH="710891" progId="Equation.3">
                <p:embed/>
              </p:oleObj>
            </a:graphicData>
          </a:graphic>
        </p:graphicFrame>
        <p:sp>
          <p:nvSpPr>
            <p:cNvPr id="463892" name="Text Box 20"/>
            <p:cNvSpPr txBox="1">
              <a:spLocks noChangeArrowheads="1"/>
            </p:cNvSpPr>
            <p:nvPr/>
          </p:nvSpPr>
          <p:spPr bwMode="auto">
            <a:xfrm>
              <a:off x="2291" y="2851"/>
              <a:ext cx="43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2000" b="1">
                  <a:effectLst>
                    <a:outerShdw blurRad="38100" dist="38100" dir="2700000" algn="tl">
                      <a:srgbClr val="C0C0C0"/>
                    </a:outerShdw>
                  </a:effectLst>
                  <a:ea typeface="黑体" pitchFamily="2" charset="-122"/>
                </a:rPr>
                <a:t>于是</a:t>
              </a:r>
            </a:p>
          </p:txBody>
        </p:sp>
      </p:grpSp>
      <p:sp>
        <p:nvSpPr>
          <p:cNvPr id="10263" name="Rectangle 21"/>
          <p:cNvSpPr>
            <a:spLocks noChangeArrowheads="1"/>
          </p:cNvSpPr>
          <p:nvPr/>
        </p:nvSpPr>
        <p:spPr bwMode="auto">
          <a:xfrm>
            <a:off x="4400550" y="3170238"/>
            <a:ext cx="3429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1000" u="sng">
                <a:latin typeface="Times New Roman" pitchFamily="18" charset="0"/>
                <a:cs typeface="Times New Roman" pitchFamily="18" charset="0"/>
              </a:rPr>
              <a:t>     </a:t>
            </a:r>
            <a:endParaRPr lang="en-US" altLang="zh-CN" sz="1100"/>
          </a:p>
          <a:p>
            <a:pPr eaLnBrk="0" hangingPunct="0"/>
            <a:endParaRPr lang="en-US" altLang="zh-CN"/>
          </a:p>
        </p:txBody>
      </p:sp>
      <p:grpSp>
        <p:nvGrpSpPr>
          <p:cNvPr id="5" name="Group 22"/>
          <p:cNvGrpSpPr>
            <a:grpSpLocks/>
          </p:cNvGrpSpPr>
          <p:nvPr/>
        </p:nvGrpSpPr>
        <p:grpSpPr bwMode="auto">
          <a:xfrm>
            <a:off x="4683125" y="3586163"/>
            <a:ext cx="3976688" cy="2333625"/>
            <a:chOff x="2977" y="2113"/>
            <a:chExt cx="2505" cy="1470"/>
          </a:xfrm>
        </p:grpSpPr>
        <p:sp>
          <p:nvSpPr>
            <p:cNvPr id="463895" name="Text Box 23"/>
            <p:cNvSpPr txBox="1">
              <a:spLocks noChangeArrowheads="1"/>
            </p:cNvSpPr>
            <p:nvPr/>
          </p:nvSpPr>
          <p:spPr bwMode="auto">
            <a:xfrm>
              <a:off x="2977" y="2113"/>
              <a:ext cx="2505" cy="288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2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itchFamily="2" charset="-122"/>
                  <a:ea typeface="黑体" pitchFamily="2" charset="-122"/>
                </a:rPr>
                <a:t>混合色的色品坐标和亮度为</a:t>
              </a:r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itchFamily="2" charset="-122"/>
                  <a:ea typeface="黑体" pitchFamily="2" charset="-122"/>
                </a:rPr>
                <a:t> </a:t>
              </a:r>
            </a:p>
          </p:txBody>
        </p:sp>
        <p:graphicFrame>
          <p:nvGraphicFramePr>
            <p:cNvPr id="10242" name="Object 24"/>
            <p:cNvGraphicFramePr>
              <a:graphicFrameLocks noChangeAspect="1"/>
            </p:cNvGraphicFramePr>
            <p:nvPr/>
          </p:nvGraphicFramePr>
          <p:xfrm>
            <a:off x="3410" y="2484"/>
            <a:ext cx="971" cy="402"/>
          </p:xfrm>
          <a:graphic>
            <a:graphicData uri="http://schemas.openxmlformats.org/presentationml/2006/ole">
              <p:oleObj spid="_x0000_s10242" name="公式" r:id="rId7" imgW="939392" imgH="393529" progId="Equation.3">
                <p:embed/>
              </p:oleObj>
            </a:graphicData>
          </a:graphic>
        </p:graphicFrame>
        <p:graphicFrame>
          <p:nvGraphicFramePr>
            <p:cNvPr id="10243" name="Object 25"/>
            <p:cNvGraphicFramePr>
              <a:graphicFrameLocks noChangeAspect="1"/>
            </p:cNvGraphicFramePr>
            <p:nvPr/>
          </p:nvGraphicFramePr>
          <p:xfrm>
            <a:off x="3411" y="2930"/>
            <a:ext cx="949" cy="393"/>
          </p:xfrm>
          <a:graphic>
            <a:graphicData uri="http://schemas.openxmlformats.org/presentationml/2006/ole">
              <p:oleObj spid="_x0000_s10243" name="公式" r:id="rId8" imgW="939392" imgH="393529" progId="Equation.3">
                <p:embed/>
              </p:oleObj>
            </a:graphicData>
          </a:graphic>
        </p:graphicFrame>
        <p:graphicFrame>
          <p:nvGraphicFramePr>
            <p:cNvPr id="10244" name="Object 26"/>
            <p:cNvGraphicFramePr>
              <a:graphicFrameLocks noChangeAspect="1"/>
            </p:cNvGraphicFramePr>
            <p:nvPr/>
          </p:nvGraphicFramePr>
          <p:xfrm>
            <a:off x="3421" y="3381"/>
            <a:ext cx="480" cy="202"/>
          </p:xfrm>
          <a:graphic>
            <a:graphicData uri="http://schemas.openxmlformats.org/presentationml/2006/ole">
              <p:oleObj spid="_x0000_s10244" name="公式" r:id="rId9" imgW="393480" imgH="164880" progId="Equation.3">
                <p:embed/>
              </p:oleObj>
            </a:graphicData>
          </a:graphic>
        </p:graphicFrame>
      </p:grpSp>
    </p:spTree>
  </p:cSld>
  <p:clrMapOvr>
    <a:masterClrMapping/>
  </p:clrMapOvr>
  <p:transition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DB0474FD-883E-4650-865A-7895493F0F28}" type="datetime1">
              <a:rPr lang="zh-CN" altLang="en-US" smtClean="0">
                <a:ea typeface="宋体" charset="-122"/>
              </a:rPr>
              <a:pPr/>
              <a:t>2018/2/24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1126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9F552E6-1CCA-43D1-9097-A372C4F985C4}" type="slidenum">
              <a:rPr lang="en-US" altLang="zh-CN" smtClean="0">
                <a:ea typeface="宋体" charset="-122"/>
              </a:rPr>
              <a:pPr/>
              <a:t>39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46489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66713" y="306388"/>
            <a:ext cx="8270875" cy="839787"/>
          </a:xfrm>
        </p:spPr>
        <p:txBody>
          <a:bodyPr/>
          <a:lstStyle/>
          <a:p>
            <a:pPr eaLnBrk="1" fontAlgn="b" hangingPunct="1">
              <a:defRPr/>
            </a:pPr>
            <a:r>
              <a:rPr lang="en-US" altLang="zh-CN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§4-2   CIE</a:t>
            </a:r>
            <a:r>
              <a:rPr lang="zh-CN" altLang="en-US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色度计算方法</a:t>
            </a:r>
          </a:p>
        </p:txBody>
      </p:sp>
      <p:sp>
        <p:nvSpPr>
          <p:cNvPr id="464899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296863" y="1349375"/>
            <a:ext cx="8550275" cy="989013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mtClean="0">
                <a:latin typeface="Times New Roman" pitchFamily="18" charset="0"/>
                <a:ea typeface="黑体" pitchFamily="2" charset="-122"/>
              </a:rPr>
              <a:t>2  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颜色相加计算</a:t>
            </a:r>
          </a:p>
          <a:p>
            <a:pPr eaLnBrk="1" hangingPunct="1">
              <a:defRPr/>
            </a:pP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②作图法</a:t>
            </a:r>
          </a:p>
          <a:p>
            <a:pPr eaLnBrk="1" hangingPunct="1">
              <a:defRPr/>
            </a:pP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在</a:t>
            </a:r>
            <a:r>
              <a:rPr lang="en-US" altLang="zh-CN" smtClean="0">
                <a:latin typeface="Times New Roman" pitchFamily="18" charset="0"/>
                <a:ea typeface="黑体" pitchFamily="2" charset="-122"/>
              </a:rPr>
              <a:t>CIE1931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色品图上应用重力中心定律的原理用作图法求出混合色的色品点。</a:t>
            </a:r>
          </a:p>
        </p:txBody>
      </p:sp>
      <p:sp>
        <p:nvSpPr>
          <p:cNvPr id="11271" name="Rectangle 4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272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273" name="Rectangle 6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274" name="Rectangle 7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275" name="Rectangle 8"/>
          <p:cNvSpPr>
            <a:spLocks noChangeArrowheads="1"/>
          </p:cNvSpPr>
          <p:nvPr/>
        </p:nvSpPr>
        <p:spPr bwMode="auto">
          <a:xfrm>
            <a:off x="0" y="30718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276" name="Rectangle 9"/>
          <p:cNvSpPr>
            <a:spLocks noChangeArrowheads="1"/>
          </p:cNvSpPr>
          <p:nvPr/>
        </p:nvSpPr>
        <p:spPr bwMode="auto">
          <a:xfrm>
            <a:off x="0" y="32194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277" name="Rectangle 10"/>
          <p:cNvSpPr>
            <a:spLocks noChangeArrowheads="1"/>
          </p:cNvSpPr>
          <p:nvPr/>
        </p:nvSpPr>
        <p:spPr bwMode="auto">
          <a:xfrm>
            <a:off x="0" y="32194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278" name="Rectangle 11"/>
          <p:cNvSpPr>
            <a:spLocks noChangeArrowheads="1"/>
          </p:cNvSpPr>
          <p:nvPr/>
        </p:nvSpPr>
        <p:spPr bwMode="auto">
          <a:xfrm>
            <a:off x="4400550" y="3170238"/>
            <a:ext cx="3429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1000" u="sng">
                <a:latin typeface="Times New Roman" pitchFamily="18" charset="0"/>
                <a:cs typeface="Times New Roman" pitchFamily="18" charset="0"/>
              </a:rPr>
              <a:t>     </a:t>
            </a:r>
            <a:endParaRPr lang="en-US" altLang="zh-CN" sz="1100"/>
          </a:p>
          <a:p>
            <a:pPr eaLnBrk="0" hangingPunct="0"/>
            <a:endParaRPr lang="en-US" altLang="zh-CN"/>
          </a:p>
        </p:txBody>
      </p:sp>
      <p:sp>
        <p:nvSpPr>
          <p:cNvPr id="11279" name="Rectangle 12"/>
          <p:cNvSpPr>
            <a:spLocks noChangeArrowheads="1"/>
          </p:cNvSpPr>
          <p:nvPr/>
        </p:nvSpPr>
        <p:spPr bwMode="auto">
          <a:xfrm>
            <a:off x="0" y="320516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1266" name="Object 13"/>
          <p:cNvGraphicFramePr>
            <a:graphicFrameLocks noChangeAspect="1"/>
          </p:cNvGraphicFramePr>
          <p:nvPr/>
        </p:nvGraphicFramePr>
        <p:xfrm>
          <a:off x="639763" y="3451225"/>
          <a:ext cx="2801937" cy="752475"/>
        </p:xfrm>
        <a:graphic>
          <a:graphicData uri="http://schemas.openxmlformats.org/presentationml/2006/ole">
            <p:oleObj spid="_x0000_s11266" name="公式" r:id="rId3" imgW="1663700" imgH="444500" progId="Equation.3">
              <p:embed/>
            </p:oleObj>
          </a:graphicData>
        </a:graphic>
      </p:graphicFrame>
      <p:grpSp>
        <p:nvGrpSpPr>
          <p:cNvPr id="11280" name="Group 14"/>
          <p:cNvGrpSpPr>
            <a:grpSpLocks/>
          </p:cNvGrpSpPr>
          <p:nvPr/>
        </p:nvGrpSpPr>
        <p:grpSpPr bwMode="auto">
          <a:xfrm>
            <a:off x="3787775" y="2655888"/>
            <a:ext cx="4673600" cy="4202112"/>
            <a:chOff x="2386" y="1673"/>
            <a:chExt cx="2944" cy="2647"/>
          </a:xfrm>
        </p:grpSpPr>
        <p:sp>
          <p:nvSpPr>
            <p:cNvPr id="11281" name="Rectangle 15"/>
            <p:cNvSpPr>
              <a:spLocks noChangeArrowheads="1"/>
            </p:cNvSpPr>
            <p:nvPr/>
          </p:nvSpPr>
          <p:spPr bwMode="auto">
            <a:xfrm>
              <a:off x="2386" y="1673"/>
              <a:ext cx="2944" cy="264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1282" name="Group 16"/>
            <p:cNvGrpSpPr>
              <a:grpSpLocks/>
            </p:cNvGrpSpPr>
            <p:nvPr/>
          </p:nvGrpSpPr>
          <p:grpSpPr bwMode="auto">
            <a:xfrm>
              <a:off x="2457" y="1824"/>
              <a:ext cx="2778" cy="2496"/>
              <a:chOff x="3464" y="10419"/>
              <a:chExt cx="5070" cy="4556"/>
            </a:xfrm>
          </p:grpSpPr>
          <p:sp>
            <p:nvSpPr>
              <p:cNvPr id="11283" name="Rectangle 17"/>
              <p:cNvSpPr>
                <a:spLocks noChangeArrowheads="1"/>
              </p:cNvSpPr>
              <p:nvPr/>
            </p:nvSpPr>
            <p:spPr bwMode="auto">
              <a:xfrm>
                <a:off x="4004" y="10419"/>
                <a:ext cx="4365" cy="348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1284" name="Group 18"/>
              <p:cNvGrpSpPr>
                <a:grpSpLocks/>
              </p:cNvGrpSpPr>
              <p:nvPr/>
            </p:nvGrpSpPr>
            <p:grpSpPr bwMode="auto">
              <a:xfrm>
                <a:off x="4004" y="10689"/>
                <a:ext cx="71" cy="2340"/>
                <a:chOff x="4004" y="10689"/>
                <a:chExt cx="180" cy="2340"/>
              </a:xfrm>
            </p:grpSpPr>
            <p:sp>
              <p:nvSpPr>
                <p:cNvPr id="11355" name="Line 19"/>
                <p:cNvSpPr>
                  <a:spLocks noChangeShapeType="1"/>
                </p:cNvSpPr>
                <p:nvPr/>
              </p:nvSpPr>
              <p:spPr bwMode="auto">
                <a:xfrm>
                  <a:off x="4019" y="13029"/>
                  <a:ext cx="165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356" name="Line 20"/>
                <p:cNvSpPr>
                  <a:spLocks noChangeShapeType="1"/>
                </p:cNvSpPr>
                <p:nvPr/>
              </p:nvSpPr>
              <p:spPr bwMode="auto">
                <a:xfrm>
                  <a:off x="4019" y="12204"/>
                  <a:ext cx="165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357" name="Line 21"/>
                <p:cNvSpPr>
                  <a:spLocks noChangeShapeType="1"/>
                </p:cNvSpPr>
                <p:nvPr/>
              </p:nvSpPr>
              <p:spPr bwMode="auto">
                <a:xfrm>
                  <a:off x="4004" y="10689"/>
                  <a:ext cx="165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358" name="Line 22"/>
                <p:cNvSpPr>
                  <a:spLocks noChangeShapeType="1"/>
                </p:cNvSpPr>
                <p:nvPr/>
              </p:nvSpPr>
              <p:spPr bwMode="auto">
                <a:xfrm>
                  <a:off x="4004" y="11424"/>
                  <a:ext cx="165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285" name="Group 23"/>
              <p:cNvGrpSpPr>
                <a:grpSpLocks/>
              </p:cNvGrpSpPr>
              <p:nvPr/>
            </p:nvGrpSpPr>
            <p:grpSpPr bwMode="auto">
              <a:xfrm>
                <a:off x="8303" y="10689"/>
                <a:ext cx="71" cy="2340"/>
                <a:chOff x="8204" y="10689"/>
                <a:chExt cx="180" cy="2340"/>
              </a:xfrm>
            </p:grpSpPr>
            <p:sp>
              <p:nvSpPr>
                <p:cNvPr id="11351" name="Line 24"/>
                <p:cNvSpPr>
                  <a:spLocks noChangeShapeType="1"/>
                </p:cNvSpPr>
                <p:nvPr/>
              </p:nvSpPr>
              <p:spPr bwMode="auto">
                <a:xfrm>
                  <a:off x="8204" y="10689"/>
                  <a:ext cx="165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352" name="Line 25"/>
                <p:cNvSpPr>
                  <a:spLocks noChangeShapeType="1"/>
                </p:cNvSpPr>
                <p:nvPr/>
              </p:nvSpPr>
              <p:spPr bwMode="auto">
                <a:xfrm>
                  <a:off x="8204" y="12204"/>
                  <a:ext cx="165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353" name="Line 26"/>
                <p:cNvSpPr>
                  <a:spLocks noChangeShapeType="1"/>
                </p:cNvSpPr>
                <p:nvPr/>
              </p:nvSpPr>
              <p:spPr bwMode="auto">
                <a:xfrm>
                  <a:off x="8219" y="11424"/>
                  <a:ext cx="165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354" name="Line 27"/>
                <p:cNvSpPr>
                  <a:spLocks noChangeShapeType="1"/>
                </p:cNvSpPr>
                <p:nvPr/>
              </p:nvSpPr>
              <p:spPr bwMode="auto">
                <a:xfrm>
                  <a:off x="8204" y="13029"/>
                  <a:ext cx="165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286" name="Group 28"/>
              <p:cNvGrpSpPr>
                <a:grpSpLocks/>
              </p:cNvGrpSpPr>
              <p:nvPr/>
            </p:nvGrpSpPr>
            <p:grpSpPr bwMode="auto">
              <a:xfrm>
                <a:off x="5039" y="10419"/>
                <a:ext cx="3015" cy="80"/>
                <a:chOff x="5039" y="10419"/>
                <a:chExt cx="3015" cy="240"/>
              </a:xfrm>
            </p:grpSpPr>
            <p:sp>
              <p:nvSpPr>
                <p:cNvPr id="11347" name="Line 29"/>
                <p:cNvSpPr>
                  <a:spLocks noChangeShapeType="1"/>
                </p:cNvSpPr>
                <p:nvPr/>
              </p:nvSpPr>
              <p:spPr bwMode="auto">
                <a:xfrm>
                  <a:off x="7124" y="10419"/>
                  <a:ext cx="0" cy="225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348" name="Line 30"/>
                <p:cNvSpPr>
                  <a:spLocks noChangeShapeType="1"/>
                </p:cNvSpPr>
                <p:nvPr/>
              </p:nvSpPr>
              <p:spPr bwMode="auto">
                <a:xfrm>
                  <a:off x="6074" y="10419"/>
                  <a:ext cx="0" cy="225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349" name="Line 31"/>
                <p:cNvSpPr>
                  <a:spLocks noChangeShapeType="1"/>
                </p:cNvSpPr>
                <p:nvPr/>
              </p:nvSpPr>
              <p:spPr bwMode="auto">
                <a:xfrm>
                  <a:off x="5039" y="10419"/>
                  <a:ext cx="0" cy="225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350" name="Line 32"/>
                <p:cNvSpPr>
                  <a:spLocks noChangeShapeType="1"/>
                </p:cNvSpPr>
                <p:nvPr/>
              </p:nvSpPr>
              <p:spPr bwMode="auto">
                <a:xfrm>
                  <a:off x="8054" y="10434"/>
                  <a:ext cx="0" cy="225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287" name="Group 33"/>
              <p:cNvGrpSpPr>
                <a:grpSpLocks/>
              </p:cNvGrpSpPr>
              <p:nvPr/>
            </p:nvGrpSpPr>
            <p:grpSpPr bwMode="auto">
              <a:xfrm>
                <a:off x="5024" y="13824"/>
                <a:ext cx="3015" cy="80"/>
                <a:chOff x="5024" y="13674"/>
                <a:chExt cx="3015" cy="240"/>
              </a:xfrm>
            </p:grpSpPr>
            <p:sp>
              <p:nvSpPr>
                <p:cNvPr id="11343" name="Line 34"/>
                <p:cNvSpPr>
                  <a:spLocks noChangeShapeType="1"/>
                </p:cNvSpPr>
                <p:nvPr/>
              </p:nvSpPr>
              <p:spPr bwMode="auto">
                <a:xfrm>
                  <a:off x="5024" y="13689"/>
                  <a:ext cx="0" cy="225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344" name="Line 35"/>
                <p:cNvSpPr>
                  <a:spLocks noChangeShapeType="1"/>
                </p:cNvSpPr>
                <p:nvPr/>
              </p:nvSpPr>
              <p:spPr bwMode="auto">
                <a:xfrm>
                  <a:off x="7124" y="13689"/>
                  <a:ext cx="0" cy="225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345" name="Line 36"/>
                <p:cNvSpPr>
                  <a:spLocks noChangeShapeType="1"/>
                </p:cNvSpPr>
                <p:nvPr/>
              </p:nvSpPr>
              <p:spPr bwMode="auto">
                <a:xfrm>
                  <a:off x="8039" y="13674"/>
                  <a:ext cx="0" cy="225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346" name="Line 37"/>
                <p:cNvSpPr>
                  <a:spLocks noChangeShapeType="1"/>
                </p:cNvSpPr>
                <p:nvPr/>
              </p:nvSpPr>
              <p:spPr bwMode="auto">
                <a:xfrm>
                  <a:off x="6074" y="13689"/>
                  <a:ext cx="0" cy="225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1288" name="Line 38"/>
              <p:cNvSpPr>
                <a:spLocks noChangeShapeType="1"/>
              </p:cNvSpPr>
              <p:nvPr/>
            </p:nvSpPr>
            <p:spPr bwMode="auto">
              <a:xfrm flipV="1">
                <a:off x="4829" y="12786"/>
                <a:ext cx="2970" cy="103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9" name="Freeform 39"/>
              <p:cNvSpPr>
                <a:spLocks/>
              </p:cNvSpPr>
              <p:nvPr/>
            </p:nvSpPr>
            <p:spPr bwMode="auto">
              <a:xfrm>
                <a:off x="5429" y="11151"/>
                <a:ext cx="2356" cy="1635"/>
              </a:xfrm>
              <a:custGeom>
                <a:avLst/>
                <a:gdLst>
                  <a:gd name="T0" fmla="*/ 2356 w 2356"/>
                  <a:gd name="T1" fmla="*/ 1635 h 1635"/>
                  <a:gd name="T2" fmla="*/ 0 w 2356"/>
                  <a:gd name="T3" fmla="*/ 0 h 1635"/>
                  <a:gd name="T4" fmla="*/ 0 60000 65536"/>
                  <a:gd name="T5" fmla="*/ 0 60000 65536"/>
                  <a:gd name="T6" fmla="*/ 0 w 2356"/>
                  <a:gd name="T7" fmla="*/ 0 h 1635"/>
                  <a:gd name="T8" fmla="*/ 2356 w 2356"/>
                  <a:gd name="T9" fmla="*/ 1635 h 163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356" h="1635">
                    <a:moveTo>
                      <a:pt x="2356" y="1635"/>
                    </a:move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90" name="Freeform 40"/>
              <p:cNvSpPr>
                <a:spLocks/>
              </p:cNvSpPr>
              <p:nvPr/>
            </p:nvSpPr>
            <p:spPr bwMode="auto">
              <a:xfrm>
                <a:off x="4044" y="10486"/>
                <a:ext cx="1400" cy="3335"/>
              </a:xfrm>
              <a:custGeom>
                <a:avLst/>
                <a:gdLst>
                  <a:gd name="T0" fmla="*/ 800 w 1400"/>
                  <a:gd name="T1" fmla="*/ 3335 h 3335"/>
                  <a:gd name="T2" fmla="*/ 605 w 1400"/>
                  <a:gd name="T3" fmla="*/ 3110 h 3335"/>
                  <a:gd name="T4" fmla="*/ 485 w 1400"/>
                  <a:gd name="T5" fmla="*/ 2840 h 3335"/>
                  <a:gd name="T6" fmla="*/ 380 w 1400"/>
                  <a:gd name="T7" fmla="*/ 2555 h 3335"/>
                  <a:gd name="T8" fmla="*/ 275 w 1400"/>
                  <a:gd name="T9" fmla="*/ 2210 h 3335"/>
                  <a:gd name="T10" fmla="*/ 110 w 1400"/>
                  <a:gd name="T11" fmla="*/ 1580 h 3335"/>
                  <a:gd name="T12" fmla="*/ 50 w 1400"/>
                  <a:gd name="T13" fmla="*/ 1325 h 3335"/>
                  <a:gd name="T14" fmla="*/ 20 w 1400"/>
                  <a:gd name="T15" fmla="*/ 1145 h 3335"/>
                  <a:gd name="T16" fmla="*/ 20 w 1400"/>
                  <a:gd name="T17" fmla="*/ 1070 h 3335"/>
                  <a:gd name="T18" fmla="*/ 5 w 1400"/>
                  <a:gd name="T19" fmla="*/ 980 h 3335"/>
                  <a:gd name="T20" fmla="*/ 5 w 1400"/>
                  <a:gd name="T21" fmla="*/ 860 h 3335"/>
                  <a:gd name="T22" fmla="*/ 35 w 1400"/>
                  <a:gd name="T23" fmla="*/ 500 h 3335"/>
                  <a:gd name="T24" fmla="*/ 80 w 1400"/>
                  <a:gd name="T25" fmla="*/ 320 h 3335"/>
                  <a:gd name="T26" fmla="*/ 215 w 1400"/>
                  <a:gd name="T27" fmla="*/ 95 h 3335"/>
                  <a:gd name="T28" fmla="*/ 410 w 1400"/>
                  <a:gd name="T29" fmla="*/ 5 h 3335"/>
                  <a:gd name="T30" fmla="*/ 575 w 1400"/>
                  <a:gd name="T31" fmla="*/ 65 h 3335"/>
                  <a:gd name="T32" fmla="*/ 785 w 1400"/>
                  <a:gd name="T33" fmla="*/ 215 h 3335"/>
                  <a:gd name="T34" fmla="*/ 1025 w 1400"/>
                  <a:gd name="T35" fmla="*/ 380 h 3335"/>
                  <a:gd name="T36" fmla="*/ 1400 w 1400"/>
                  <a:gd name="T37" fmla="*/ 680 h 3335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400"/>
                  <a:gd name="T58" fmla="*/ 0 h 3335"/>
                  <a:gd name="T59" fmla="*/ 1400 w 1400"/>
                  <a:gd name="T60" fmla="*/ 3335 h 3335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400" h="3335">
                    <a:moveTo>
                      <a:pt x="800" y="3335"/>
                    </a:moveTo>
                    <a:cubicBezTo>
                      <a:pt x="728" y="3263"/>
                      <a:pt x="657" y="3192"/>
                      <a:pt x="605" y="3110"/>
                    </a:cubicBezTo>
                    <a:cubicBezTo>
                      <a:pt x="553" y="3028"/>
                      <a:pt x="522" y="2932"/>
                      <a:pt x="485" y="2840"/>
                    </a:cubicBezTo>
                    <a:cubicBezTo>
                      <a:pt x="448" y="2748"/>
                      <a:pt x="415" y="2660"/>
                      <a:pt x="380" y="2555"/>
                    </a:cubicBezTo>
                    <a:cubicBezTo>
                      <a:pt x="345" y="2450"/>
                      <a:pt x="320" y="2372"/>
                      <a:pt x="275" y="2210"/>
                    </a:cubicBezTo>
                    <a:cubicBezTo>
                      <a:pt x="230" y="2048"/>
                      <a:pt x="147" y="1727"/>
                      <a:pt x="110" y="1580"/>
                    </a:cubicBezTo>
                    <a:cubicBezTo>
                      <a:pt x="73" y="1433"/>
                      <a:pt x="65" y="1397"/>
                      <a:pt x="50" y="1325"/>
                    </a:cubicBezTo>
                    <a:cubicBezTo>
                      <a:pt x="35" y="1253"/>
                      <a:pt x="25" y="1187"/>
                      <a:pt x="20" y="1145"/>
                    </a:cubicBezTo>
                    <a:cubicBezTo>
                      <a:pt x="15" y="1103"/>
                      <a:pt x="22" y="1097"/>
                      <a:pt x="20" y="1070"/>
                    </a:cubicBezTo>
                    <a:cubicBezTo>
                      <a:pt x="18" y="1043"/>
                      <a:pt x="7" y="1015"/>
                      <a:pt x="5" y="980"/>
                    </a:cubicBezTo>
                    <a:cubicBezTo>
                      <a:pt x="3" y="945"/>
                      <a:pt x="0" y="940"/>
                      <a:pt x="5" y="860"/>
                    </a:cubicBezTo>
                    <a:cubicBezTo>
                      <a:pt x="10" y="780"/>
                      <a:pt x="23" y="590"/>
                      <a:pt x="35" y="500"/>
                    </a:cubicBezTo>
                    <a:cubicBezTo>
                      <a:pt x="47" y="410"/>
                      <a:pt x="50" y="387"/>
                      <a:pt x="80" y="320"/>
                    </a:cubicBezTo>
                    <a:cubicBezTo>
                      <a:pt x="110" y="253"/>
                      <a:pt x="160" y="147"/>
                      <a:pt x="215" y="95"/>
                    </a:cubicBezTo>
                    <a:cubicBezTo>
                      <a:pt x="270" y="43"/>
                      <a:pt x="350" y="10"/>
                      <a:pt x="410" y="5"/>
                    </a:cubicBezTo>
                    <a:cubicBezTo>
                      <a:pt x="470" y="0"/>
                      <a:pt x="513" y="30"/>
                      <a:pt x="575" y="65"/>
                    </a:cubicBezTo>
                    <a:cubicBezTo>
                      <a:pt x="637" y="100"/>
                      <a:pt x="710" y="163"/>
                      <a:pt x="785" y="215"/>
                    </a:cubicBezTo>
                    <a:cubicBezTo>
                      <a:pt x="860" y="267"/>
                      <a:pt x="922" y="302"/>
                      <a:pt x="1025" y="380"/>
                    </a:cubicBezTo>
                    <a:cubicBezTo>
                      <a:pt x="1128" y="458"/>
                      <a:pt x="1338" y="630"/>
                      <a:pt x="1400" y="680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91" name="Line 41"/>
              <p:cNvSpPr>
                <a:spLocks noChangeShapeType="1"/>
              </p:cNvSpPr>
              <p:nvPr/>
            </p:nvSpPr>
            <p:spPr bwMode="auto">
              <a:xfrm flipV="1">
                <a:off x="5039" y="11000"/>
                <a:ext cx="2310" cy="40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92" name="Line 42"/>
              <p:cNvSpPr>
                <a:spLocks noChangeShapeType="1"/>
              </p:cNvSpPr>
              <p:nvPr/>
            </p:nvSpPr>
            <p:spPr bwMode="auto">
              <a:xfrm>
                <a:off x="5054" y="11405"/>
                <a:ext cx="525" cy="192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93" name="Line 43"/>
              <p:cNvSpPr>
                <a:spLocks noChangeShapeType="1"/>
              </p:cNvSpPr>
              <p:nvPr/>
            </p:nvSpPr>
            <p:spPr bwMode="auto">
              <a:xfrm flipH="1">
                <a:off x="4604" y="13325"/>
                <a:ext cx="975" cy="18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94" name="Line 44"/>
              <p:cNvSpPr>
                <a:spLocks noChangeShapeType="1"/>
              </p:cNvSpPr>
              <p:nvPr/>
            </p:nvSpPr>
            <p:spPr bwMode="auto">
              <a:xfrm flipV="1">
                <a:off x="4604" y="11000"/>
                <a:ext cx="2760" cy="250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95" name="Oval 45"/>
              <p:cNvSpPr>
                <a:spLocks noChangeArrowheads="1"/>
              </p:cNvSpPr>
              <p:nvPr/>
            </p:nvSpPr>
            <p:spPr bwMode="auto">
              <a:xfrm>
                <a:off x="5024" y="11389"/>
                <a:ext cx="71" cy="76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96" name="Oval 46"/>
              <p:cNvSpPr>
                <a:spLocks noChangeArrowheads="1"/>
              </p:cNvSpPr>
              <p:nvPr/>
            </p:nvSpPr>
            <p:spPr bwMode="auto">
              <a:xfrm>
                <a:off x="5699" y="11329"/>
                <a:ext cx="71" cy="76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97" name="Oval 47"/>
              <p:cNvSpPr>
                <a:spLocks noChangeArrowheads="1"/>
              </p:cNvSpPr>
              <p:nvPr/>
            </p:nvSpPr>
            <p:spPr bwMode="auto">
              <a:xfrm>
                <a:off x="7289" y="10984"/>
                <a:ext cx="71" cy="76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98" name="Oval 48"/>
              <p:cNvSpPr>
                <a:spLocks noChangeArrowheads="1"/>
              </p:cNvSpPr>
              <p:nvPr/>
            </p:nvSpPr>
            <p:spPr bwMode="auto">
              <a:xfrm>
                <a:off x="7709" y="12739"/>
                <a:ext cx="71" cy="76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99" name="Oval 49"/>
              <p:cNvSpPr>
                <a:spLocks noChangeArrowheads="1"/>
              </p:cNvSpPr>
              <p:nvPr/>
            </p:nvSpPr>
            <p:spPr bwMode="auto">
              <a:xfrm>
                <a:off x="4799" y="13774"/>
                <a:ext cx="71" cy="76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00" name="Oval 50"/>
              <p:cNvSpPr>
                <a:spLocks noChangeArrowheads="1"/>
              </p:cNvSpPr>
              <p:nvPr/>
            </p:nvSpPr>
            <p:spPr bwMode="auto">
              <a:xfrm>
                <a:off x="4244" y="12544"/>
                <a:ext cx="71" cy="76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01" name="Oval 51"/>
              <p:cNvSpPr>
                <a:spLocks noChangeArrowheads="1"/>
              </p:cNvSpPr>
              <p:nvPr/>
            </p:nvSpPr>
            <p:spPr bwMode="auto">
              <a:xfrm>
                <a:off x="5549" y="13264"/>
                <a:ext cx="71" cy="76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02" name="Oval 52"/>
              <p:cNvSpPr>
                <a:spLocks noChangeArrowheads="1"/>
              </p:cNvSpPr>
              <p:nvPr/>
            </p:nvSpPr>
            <p:spPr bwMode="auto">
              <a:xfrm>
                <a:off x="4334" y="10474"/>
                <a:ext cx="71" cy="76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03" name="Oval 53"/>
              <p:cNvSpPr>
                <a:spLocks noChangeArrowheads="1"/>
              </p:cNvSpPr>
              <p:nvPr/>
            </p:nvSpPr>
            <p:spPr bwMode="auto">
              <a:xfrm>
                <a:off x="5384" y="12724"/>
                <a:ext cx="71" cy="76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04" name="Oval 54"/>
              <p:cNvSpPr>
                <a:spLocks noChangeArrowheads="1"/>
              </p:cNvSpPr>
              <p:nvPr/>
            </p:nvSpPr>
            <p:spPr bwMode="auto">
              <a:xfrm>
                <a:off x="4034" y="11599"/>
                <a:ext cx="71" cy="76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05" name="Oval 55"/>
              <p:cNvSpPr>
                <a:spLocks noChangeArrowheads="1"/>
              </p:cNvSpPr>
              <p:nvPr/>
            </p:nvSpPr>
            <p:spPr bwMode="auto">
              <a:xfrm>
                <a:off x="5339" y="11074"/>
                <a:ext cx="71" cy="76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06" name="Oval 56"/>
              <p:cNvSpPr>
                <a:spLocks noChangeArrowheads="1"/>
              </p:cNvSpPr>
              <p:nvPr/>
            </p:nvSpPr>
            <p:spPr bwMode="auto">
              <a:xfrm>
                <a:off x="7034" y="12259"/>
                <a:ext cx="71" cy="76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07" name="Oval 57"/>
              <p:cNvSpPr>
                <a:spLocks noChangeArrowheads="1"/>
              </p:cNvSpPr>
              <p:nvPr/>
            </p:nvSpPr>
            <p:spPr bwMode="auto">
              <a:xfrm>
                <a:off x="6449" y="11854"/>
                <a:ext cx="71" cy="76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4954" name="Text Box 58"/>
              <p:cNvSpPr txBox="1">
                <a:spLocks noChangeArrowheads="1"/>
              </p:cNvSpPr>
              <p:nvPr/>
            </p:nvSpPr>
            <p:spPr bwMode="auto">
              <a:xfrm>
                <a:off x="7574" y="12365"/>
                <a:ext cx="960" cy="57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>
                  <a:defRPr/>
                </a:pPr>
                <a:r>
                  <a:rPr lang="en-US" altLang="zh-CN" sz="12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700nm</a:t>
                </a:r>
              </a:p>
            </p:txBody>
          </p:sp>
          <p:sp>
            <p:nvSpPr>
              <p:cNvPr id="464955" name="Text Box 59"/>
              <p:cNvSpPr txBox="1">
                <a:spLocks noChangeArrowheads="1"/>
              </p:cNvSpPr>
              <p:nvPr/>
            </p:nvSpPr>
            <p:spPr bwMode="auto">
              <a:xfrm>
                <a:off x="4229" y="12350"/>
                <a:ext cx="960" cy="57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>
                  <a:defRPr/>
                </a:pPr>
                <a:r>
                  <a:rPr lang="en-US" altLang="zh-CN" sz="12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490</a:t>
                </a:r>
              </a:p>
            </p:txBody>
          </p:sp>
          <p:sp>
            <p:nvSpPr>
              <p:cNvPr id="464956" name="Text Box 60"/>
              <p:cNvSpPr txBox="1">
                <a:spLocks noChangeArrowheads="1"/>
              </p:cNvSpPr>
              <p:nvPr/>
            </p:nvSpPr>
            <p:spPr bwMode="auto">
              <a:xfrm>
                <a:off x="4019" y="11419"/>
                <a:ext cx="960" cy="5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>
                  <a:defRPr/>
                </a:pPr>
                <a:r>
                  <a:rPr lang="en-US" altLang="zh-CN" sz="12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500</a:t>
                </a:r>
              </a:p>
            </p:txBody>
          </p:sp>
          <p:sp>
            <p:nvSpPr>
              <p:cNvPr id="464957" name="Text Box 61"/>
              <p:cNvSpPr txBox="1">
                <a:spLocks noChangeArrowheads="1"/>
              </p:cNvSpPr>
              <p:nvPr/>
            </p:nvSpPr>
            <p:spPr bwMode="auto">
              <a:xfrm>
                <a:off x="4904" y="13566"/>
                <a:ext cx="960" cy="57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>
                  <a:defRPr/>
                </a:pPr>
                <a:r>
                  <a:rPr lang="en-US" altLang="zh-CN" sz="12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400nm</a:t>
                </a:r>
              </a:p>
            </p:txBody>
          </p:sp>
          <p:sp>
            <p:nvSpPr>
              <p:cNvPr id="464958" name="Text Box 62"/>
              <p:cNvSpPr txBox="1">
                <a:spLocks noChangeArrowheads="1"/>
              </p:cNvSpPr>
              <p:nvPr/>
            </p:nvSpPr>
            <p:spPr bwMode="auto">
              <a:xfrm>
                <a:off x="5355" y="10850"/>
                <a:ext cx="960" cy="57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>
                  <a:defRPr/>
                </a:pPr>
                <a:r>
                  <a:rPr lang="en-US" altLang="zh-CN" sz="12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550</a:t>
                </a:r>
              </a:p>
            </p:txBody>
          </p:sp>
          <p:sp>
            <p:nvSpPr>
              <p:cNvPr id="464959" name="Text Box 63"/>
              <p:cNvSpPr txBox="1">
                <a:spLocks noChangeArrowheads="1"/>
              </p:cNvSpPr>
              <p:nvPr/>
            </p:nvSpPr>
            <p:spPr bwMode="auto">
              <a:xfrm>
                <a:off x="6450" y="11629"/>
                <a:ext cx="960" cy="5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>
                  <a:defRPr/>
                </a:pPr>
                <a:r>
                  <a:rPr lang="en-US" altLang="zh-CN" sz="12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580</a:t>
                </a:r>
              </a:p>
            </p:txBody>
          </p:sp>
          <p:sp>
            <p:nvSpPr>
              <p:cNvPr id="464960" name="Text Box 64"/>
              <p:cNvSpPr txBox="1">
                <a:spLocks noChangeArrowheads="1"/>
              </p:cNvSpPr>
              <p:nvPr/>
            </p:nvSpPr>
            <p:spPr bwMode="auto">
              <a:xfrm>
                <a:off x="7019" y="12005"/>
                <a:ext cx="960" cy="57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>
                  <a:defRPr/>
                </a:pPr>
                <a:r>
                  <a:rPr lang="en-US" altLang="zh-CN" sz="12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600</a:t>
                </a:r>
              </a:p>
            </p:txBody>
          </p:sp>
          <p:sp>
            <p:nvSpPr>
              <p:cNvPr id="464961" name="Text Box 65"/>
              <p:cNvSpPr txBox="1">
                <a:spLocks noChangeArrowheads="1"/>
              </p:cNvSpPr>
              <p:nvPr/>
            </p:nvSpPr>
            <p:spPr bwMode="auto">
              <a:xfrm>
                <a:off x="4139" y="10430"/>
                <a:ext cx="735" cy="50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>
                  <a:defRPr/>
                </a:pPr>
                <a:r>
                  <a:rPr lang="en-US" altLang="zh-CN" sz="12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520</a:t>
                </a:r>
              </a:p>
            </p:txBody>
          </p:sp>
          <p:sp>
            <p:nvSpPr>
              <p:cNvPr id="464962" name="Text Box 66"/>
              <p:cNvSpPr txBox="1">
                <a:spLocks noChangeArrowheads="1"/>
              </p:cNvSpPr>
              <p:nvPr/>
            </p:nvSpPr>
            <p:spPr bwMode="auto">
              <a:xfrm>
                <a:off x="4453" y="12995"/>
                <a:ext cx="646" cy="5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>
                  <a:defRPr/>
                </a:pPr>
                <a:r>
                  <a:rPr lang="en-US" altLang="zh-CN" sz="12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480</a:t>
                </a:r>
              </a:p>
            </p:txBody>
          </p:sp>
          <p:sp>
            <p:nvSpPr>
              <p:cNvPr id="11317" name="Oval 67"/>
              <p:cNvSpPr>
                <a:spLocks noChangeArrowheads="1"/>
              </p:cNvSpPr>
              <p:nvPr/>
            </p:nvSpPr>
            <p:spPr bwMode="auto">
              <a:xfrm>
                <a:off x="4469" y="13219"/>
                <a:ext cx="71" cy="76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18" name="Line 68"/>
              <p:cNvSpPr>
                <a:spLocks noChangeShapeType="1"/>
              </p:cNvSpPr>
              <p:nvPr/>
            </p:nvSpPr>
            <p:spPr bwMode="auto">
              <a:xfrm flipV="1">
                <a:off x="5069" y="10925"/>
                <a:ext cx="2160" cy="360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 type="stealth" w="sm" len="sm"/>
                <a:tailEnd type="stealth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4965" name="Text Box 69"/>
              <p:cNvSpPr txBox="1">
                <a:spLocks noChangeArrowheads="1"/>
              </p:cNvSpPr>
              <p:nvPr/>
            </p:nvSpPr>
            <p:spPr bwMode="auto">
              <a:xfrm>
                <a:off x="5953" y="10713"/>
                <a:ext cx="600" cy="46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>
                  <a:defRPr/>
                </a:pPr>
                <a:r>
                  <a:rPr lang="en-US" altLang="zh-CN" sz="1200" b="1" i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KC</a:t>
                </a:r>
                <a:r>
                  <a:rPr lang="en-US" altLang="zh-CN" sz="1200" b="1" baseline="-2500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2</a:t>
                </a:r>
                <a:endParaRPr lang="en-US" altLang="zh-CN" sz="12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endParaRPr>
              </a:p>
            </p:txBody>
          </p:sp>
          <p:sp>
            <p:nvSpPr>
              <p:cNvPr id="464966" name="Text Box 70"/>
              <p:cNvSpPr txBox="1">
                <a:spLocks noChangeArrowheads="1"/>
              </p:cNvSpPr>
              <p:nvPr/>
            </p:nvSpPr>
            <p:spPr bwMode="auto">
              <a:xfrm>
                <a:off x="4875" y="13352"/>
                <a:ext cx="599" cy="4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>
                  <a:defRPr/>
                </a:pPr>
                <a:r>
                  <a:rPr lang="en-US" altLang="zh-CN" sz="1200" b="1" i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KC</a:t>
                </a:r>
                <a:r>
                  <a:rPr lang="en-US" altLang="zh-CN" sz="1200" b="1" baseline="-2500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1</a:t>
                </a:r>
                <a:endParaRPr lang="en-US" altLang="zh-CN" sz="12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endParaRPr>
              </a:p>
            </p:txBody>
          </p:sp>
          <p:sp>
            <p:nvSpPr>
              <p:cNvPr id="464967" name="Text Box 71"/>
              <p:cNvSpPr txBox="1">
                <a:spLocks noChangeArrowheads="1"/>
              </p:cNvSpPr>
              <p:nvPr/>
            </p:nvSpPr>
            <p:spPr bwMode="auto">
              <a:xfrm>
                <a:off x="5399" y="12542"/>
                <a:ext cx="975" cy="4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>
                  <a:defRPr/>
                </a:pPr>
                <a:r>
                  <a:rPr lang="en-US" altLang="zh-CN" sz="1200" b="1" i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M</a:t>
                </a:r>
                <a:r>
                  <a:rPr lang="en-US" altLang="zh-CN" sz="12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(</a:t>
                </a:r>
                <a:r>
                  <a:rPr lang="en-US" altLang="zh-CN" sz="1200" b="1" i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P</a:t>
                </a:r>
                <a:r>
                  <a:rPr lang="en-US" altLang="zh-CN" sz="12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+</a:t>
                </a:r>
                <a:r>
                  <a:rPr lang="en-US" altLang="zh-CN" sz="1200" b="1" i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Q</a:t>
                </a:r>
                <a:r>
                  <a:rPr lang="en-US" altLang="zh-CN" sz="12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)</a:t>
                </a:r>
              </a:p>
            </p:txBody>
          </p:sp>
          <p:sp>
            <p:nvSpPr>
              <p:cNvPr id="464968" name="Text Box 72"/>
              <p:cNvSpPr txBox="1">
                <a:spLocks noChangeArrowheads="1"/>
              </p:cNvSpPr>
              <p:nvPr/>
            </p:nvSpPr>
            <p:spPr bwMode="auto">
              <a:xfrm>
                <a:off x="5504" y="12901"/>
                <a:ext cx="675" cy="4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>
                  <a:defRPr/>
                </a:pPr>
                <a:r>
                  <a:rPr lang="en-US" altLang="zh-CN" sz="1200" b="1" i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Q</a:t>
                </a:r>
                <a:r>
                  <a:rPr lang="en-US" altLang="zh-CN" sz="12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(</a:t>
                </a:r>
                <a:r>
                  <a:rPr lang="en-US" altLang="zh-CN" sz="1200" b="1" i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C</a:t>
                </a:r>
                <a:r>
                  <a:rPr lang="en-US" altLang="zh-CN" sz="1200" b="1" baseline="-2500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2</a:t>
                </a:r>
                <a:r>
                  <a:rPr lang="en-US" altLang="zh-CN" sz="12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)</a:t>
                </a:r>
              </a:p>
            </p:txBody>
          </p:sp>
          <p:sp>
            <p:nvSpPr>
              <p:cNvPr id="464969" name="Text Box 73"/>
              <p:cNvSpPr txBox="1">
                <a:spLocks noChangeArrowheads="1"/>
              </p:cNvSpPr>
              <p:nvPr/>
            </p:nvSpPr>
            <p:spPr bwMode="auto">
              <a:xfrm>
                <a:off x="4634" y="11222"/>
                <a:ext cx="511" cy="4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just">
                  <a:defRPr/>
                </a:pPr>
                <a:r>
                  <a:rPr lang="en-US" altLang="zh-CN" sz="1200" b="1" i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P</a:t>
                </a:r>
                <a:r>
                  <a:rPr lang="en-US" altLang="zh-CN" sz="12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(</a:t>
                </a:r>
                <a:r>
                  <a:rPr lang="en-US" altLang="zh-CN" sz="1200" b="1" i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C</a:t>
                </a:r>
                <a:r>
                  <a:rPr lang="en-US" altLang="zh-CN" sz="1200" b="1" baseline="-2500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1</a:t>
                </a:r>
                <a:r>
                  <a:rPr lang="en-US" altLang="zh-CN" sz="12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)</a:t>
                </a:r>
              </a:p>
              <a:p>
                <a:pPr>
                  <a:defRPr/>
                </a:pPr>
                <a:endParaRPr lang="en-US" altLang="zh-CN" sz="12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endParaRPr>
              </a:p>
            </p:txBody>
          </p:sp>
          <p:sp>
            <p:nvSpPr>
              <p:cNvPr id="11324" name="Line 74"/>
              <p:cNvSpPr>
                <a:spLocks noChangeShapeType="1"/>
              </p:cNvSpPr>
              <p:nvPr/>
            </p:nvSpPr>
            <p:spPr bwMode="auto">
              <a:xfrm flipV="1">
                <a:off x="4739" y="13430"/>
                <a:ext cx="795" cy="150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 type="stealth" w="sm" len="sm"/>
                <a:tailEnd type="stealth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4971" name="Text Box 75"/>
              <p:cNvSpPr txBox="1">
                <a:spLocks noChangeArrowheads="1"/>
              </p:cNvSpPr>
              <p:nvPr/>
            </p:nvSpPr>
            <p:spPr bwMode="auto">
              <a:xfrm>
                <a:off x="4484" y="11344"/>
                <a:ext cx="825" cy="5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>
                  <a:defRPr/>
                </a:pPr>
                <a:r>
                  <a:rPr lang="en-US" altLang="zh-CN" sz="12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(</a:t>
                </a:r>
                <a:r>
                  <a:rPr lang="en-US" altLang="zh-CN" sz="1200" b="1" i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x</a:t>
                </a:r>
                <a:r>
                  <a:rPr lang="en-US" altLang="zh-CN" sz="1200" b="1" baseline="-2500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1</a:t>
                </a:r>
                <a:r>
                  <a:rPr lang="en-US" altLang="zh-CN" sz="1200" b="1" i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y</a:t>
                </a:r>
                <a:r>
                  <a:rPr lang="en-US" altLang="zh-CN" sz="1200" b="1" baseline="-2500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1</a:t>
                </a:r>
                <a:r>
                  <a:rPr lang="en-US" altLang="zh-CN" sz="12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)</a:t>
                </a:r>
              </a:p>
            </p:txBody>
          </p:sp>
          <p:sp>
            <p:nvSpPr>
              <p:cNvPr id="464972" name="Text Box 76"/>
              <p:cNvSpPr txBox="1">
                <a:spLocks noChangeArrowheads="1"/>
              </p:cNvSpPr>
              <p:nvPr/>
            </p:nvSpPr>
            <p:spPr bwMode="auto">
              <a:xfrm>
                <a:off x="5534" y="13069"/>
                <a:ext cx="825" cy="5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>
                  <a:defRPr/>
                </a:pPr>
                <a:r>
                  <a:rPr lang="en-US" altLang="zh-CN" sz="12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(</a:t>
                </a:r>
                <a:r>
                  <a:rPr lang="en-US" altLang="zh-CN" sz="1200" b="1" i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x</a:t>
                </a:r>
                <a:r>
                  <a:rPr lang="en-US" altLang="zh-CN" sz="1200" b="1" baseline="-2500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2</a:t>
                </a:r>
                <a:r>
                  <a:rPr lang="en-US" altLang="zh-CN" sz="1200" b="1" i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y</a:t>
                </a:r>
                <a:r>
                  <a:rPr lang="en-US" altLang="zh-CN" sz="1200" b="1" baseline="-2500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2</a:t>
                </a:r>
                <a:r>
                  <a:rPr lang="en-US" altLang="zh-CN" sz="12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)</a:t>
                </a:r>
              </a:p>
            </p:txBody>
          </p:sp>
          <p:sp>
            <p:nvSpPr>
              <p:cNvPr id="11327" name="Line 77"/>
              <p:cNvSpPr>
                <a:spLocks noChangeShapeType="1"/>
              </p:cNvSpPr>
              <p:nvPr/>
            </p:nvSpPr>
            <p:spPr bwMode="auto">
              <a:xfrm>
                <a:off x="5204" y="11390"/>
                <a:ext cx="30" cy="13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28" name="Line 78"/>
              <p:cNvSpPr>
                <a:spLocks noChangeShapeType="1"/>
              </p:cNvSpPr>
              <p:nvPr/>
            </p:nvSpPr>
            <p:spPr bwMode="auto">
              <a:xfrm flipH="1">
                <a:off x="5084" y="11510"/>
                <a:ext cx="150" cy="4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29" name="Line 79"/>
              <p:cNvSpPr>
                <a:spLocks noChangeShapeType="1"/>
              </p:cNvSpPr>
              <p:nvPr/>
            </p:nvSpPr>
            <p:spPr bwMode="auto">
              <a:xfrm flipH="1">
                <a:off x="5399" y="13145"/>
                <a:ext cx="135" cy="4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30" name="Line 80"/>
              <p:cNvSpPr>
                <a:spLocks noChangeShapeType="1"/>
              </p:cNvSpPr>
              <p:nvPr/>
            </p:nvSpPr>
            <p:spPr bwMode="auto">
              <a:xfrm>
                <a:off x="5399" y="13190"/>
                <a:ext cx="45" cy="15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4977" name="Text Box 81"/>
              <p:cNvSpPr txBox="1">
                <a:spLocks noChangeArrowheads="1"/>
              </p:cNvSpPr>
              <p:nvPr/>
            </p:nvSpPr>
            <p:spPr bwMode="auto">
              <a:xfrm>
                <a:off x="7813" y="13790"/>
                <a:ext cx="615" cy="50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>
                  <a:defRPr/>
                </a:pPr>
                <a:r>
                  <a:rPr lang="en-US" altLang="zh-CN" sz="12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0.8</a:t>
                </a:r>
              </a:p>
            </p:txBody>
          </p:sp>
          <p:sp>
            <p:nvSpPr>
              <p:cNvPr id="464978" name="Text Box 82"/>
              <p:cNvSpPr txBox="1">
                <a:spLocks noChangeArrowheads="1"/>
              </p:cNvSpPr>
              <p:nvPr/>
            </p:nvSpPr>
            <p:spPr bwMode="auto">
              <a:xfrm>
                <a:off x="6884" y="13805"/>
                <a:ext cx="615" cy="50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>
                  <a:defRPr/>
                </a:pPr>
                <a:r>
                  <a:rPr lang="en-US" altLang="zh-CN" sz="12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0.6</a:t>
                </a:r>
              </a:p>
            </p:txBody>
          </p:sp>
          <p:sp>
            <p:nvSpPr>
              <p:cNvPr id="464979" name="Text Box 83"/>
              <p:cNvSpPr txBox="1">
                <a:spLocks noChangeArrowheads="1"/>
              </p:cNvSpPr>
              <p:nvPr/>
            </p:nvSpPr>
            <p:spPr bwMode="auto">
              <a:xfrm>
                <a:off x="5835" y="13820"/>
                <a:ext cx="615" cy="5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>
                  <a:defRPr/>
                </a:pPr>
                <a:r>
                  <a:rPr lang="en-US" altLang="zh-CN" sz="12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0.4</a:t>
                </a:r>
              </a:p>
            </p:txBody>
          </p:sp>
          <p:sp>
            <p:nvSpPr>
              <p:cNvPr id="464980" name="Text Box 84"/>
              <p:cNvSpPr txBox="1">
                <a:spLocks noChangeArrowheads="1"/>
              </p:cNvSpPr>
              <p:nvPr/>
            </p:nvSpPr>
            <p:spPr bwMode="auto">
              <a:xfrm>
                <a:off x="4784" y="13834"/>
                <a:ext cx="615" cy="5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>
                  <a:defRPr/>
                </a:pPr>
                <a:r>
                  <a:rPr lang="en-US" altLang="zh-CN" sz="12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0.2</a:t>
                </a:r>
              </a:p>
            </p:txBody>
          </p:sp>
          <p:sp>
            <p:nvSpPr>
              <p:cNvPr id="464981" name="Text Box 85"/>
              <p:cNvSpPr txBox="1">
                <a:spLocks noChangeArrowheads="1"/>
              </p:cNvSpPr>
              <p:nvPr/>
            </p:nvSpPr>
            <p:spPr bwMode="auto">
              <a:xfrm>
                <a:off x="3720" y="13670"/>
                <a:ext cx="615" cy="50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>
                  <a:defRPr/>
                </a:pPr>
                <a:r>
                  <a:rPr lang="en-US" altLang="zh-CN" sz="12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0</a:t>
                </a:r>
              </a:p>
            </p:txBody>
          </p:sp>
          <p:sp>
            <p:nvSpPr>
              <p:cNvPr id="464982" name="Text Box 86"/>
              <p:cNvSpPr txBox="1">
                <a:spLocks noChangeArrowheads="1"/>
              </p:cNvSpPr>
              <p:nvPr/>
            </p:nvSpPr>
            <p:spPr bwMode="auto">
              <a:xfrm>
                <a:off x="3628" y="12770"/>
                <a:ext cx="615" cy="50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>
                  <a:defRPr/>
                </a:pPr>
                <a:r>
                  <a:rPr lang="en-US" altLang="zh-CN" sz="12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0.2</a:t>
                </a:r>
              </a:p>
            </p:txBody>
          </p:sp>
          <p:sp>
            <p:nvSpPr>
              <p:cNvPr id="464983" name="Text Box 87"/>
              <p:cNvSpPr txBox="1">
                <a:spLocks noChangeArrowheads="1"/>
              </p:cNvSpPr>
              <p:nvPr/>
            </p:nvSpPr>
            <p:spPr bwMode="auto">
              <a:xfrm>
                <a:off x="3628" y="11945"/>
                <a:ext cx="615" cy="50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>
                  <a:defRPr/>
                </a:pPr>
                <a:r>
                  <a:rPr lang="en-US" altLang="zh-CN" sz="12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0.4</a:t>
                </a:r>
              </a:p>
            </p:txBody>
          </p:sp>
          <p:sp>
            <p:nvSpPr>
              <p:cNvPr id="464984" name="Text Box 88"/>
              <p:cNvSpPr txBox="1">
                <a:spLocks noChangeArrowheads="1"/>
              </p:cNvSpPr>
              <p:nvPr/>
            </p:nvSpPr>
            <p:spPr bwMode="auto">
              <a:xfrm>
                <a:off x="3628" y="11166"/>
                <a:ext cx="615" cy="50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>
                  <a:defRPr/>
                </a:pPr>
                <a:r>
                  <a:rPr lang="en-US" altLang="zh-CN" sz="12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0.6</a:t>
                </a:r>
              </a:p>
            </p:txBody>
          </p:sp>
          <p:sp>
            <p:nvSpPr>
              <p:cNvPr id="464985" name="Text Box 89"/>
              <p:cNvSpPr txBox="1">
                <a:spLocks noChangeArrowheads="1"/>
              </p:cNvSpPr>
              <p:nvPr/>
            </p:nvSpPr>
            <p:spPr bwMode="auto">
              <a:xfrm>
                <a:off x="3614" y="10430"/>
                <a:ext cx="615" cy="50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>
                  <a:defRPr/>
                </a:pPr>
                <a:r>
                  <a:rPr lang="en-US" altLang="zh-CN" sz="12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0.8</a:t>
                </a:r>
              </a:p>
            </p:txBody>
          </p:sp>
          <p:sp>
            <p:nvSpPr>
              <p:cNvPr id="464986" name="Text Box 90"/>
              <p:cNvSpPr txBox="1">
                <a:spLocks noChangeArrowheads="1"/>
              </p:cNvSpPr>
              <p:nvPr/>
            </p:nvSpPr>
            <p:spPr bwMode="auto">
              <a:xfrm>
                <a:off x="6419" y="13925"/>
                <a:ext cx="615" cy="50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>
                  <a:defRPr/>
                </a:pPr>
                <a:r>
                  <a:rPr lang="en-US" altLang="zh-CN" sz="1200" b="1" i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x</a:t>
                </a:r>
                <a:endParaRPr lang="en-US" altLang="zh-CN" sz="12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endParaRPr>
              </a:p>
            </p:txBody>
          </p:sp>
          <p:sp>
            <p:nvSpPr>
              <p:cNvPr id="464987" name="Text Box 91"/>
              <p:cNvSpPr txBox="1">
                <a:spLocks noChangeArrowheads="1"/>
              </p:cNvSpPr>
              <p:nvPr/>
            </p:nvSpPr>
            <p:spPr bwMode="auto">
              <a:xfrm>
                <a:off x="3464" y="11540"/>
                <a:ext cx="615" cy="5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>
                  <a:defRPr/>
                </a:pPr>
                <a:r>
                  <a:rPr lang="en-US" altLang="zh-CN" sz="1200" b="1" i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y</a:t>
                </a:r>
                <a:endParaRPr lang="en-US" altLang="zh-CN" sz="12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endParaRPr>
              </a:p>
            </p:txBody>
          </p:sp>
          <p:sp>
            <p:nvSpPr>
              <p:cNvPr id="464988" name="Text Box 92"/>
              <p:cNvSpPr txBox="1">
                <a:spLocks noChangeArrowheads="1"/>
              </p:cNvSpPr>
              <p:nvPr/>
            </p:nvSpPr>
            <p:spPr bwMode="auto">
              <a:xfrm>
                <a:off x="4544" y="14406"/>
                <a:ext cx="3210" cy="5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r>
                  <a:rPr lang="zh-CN" altLang="en-US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颜色相加作图法图示</a:t>
                </a:r>
              </a:p>
            </p:txBody>
          </p:sp>
        </p:grpSp>
      </p:grpSp>
    </p:spTree>
  </p:cSld>
  <p:clrMapOvr>
    <a:masterClrMapping/>
  </p:clrMapOvr>
  <p:transition>
    <p:circle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96F99593-A405-4844-879D-855CE93F1FF6}" type="datetime1">
              <a:rPr lang="zh-CN" altLang="en-US" smtClean="0">
                <a:ea typeface="宋体" charset="-122"/>
              </a:rPr>
              <a:pPr/>
              <a:t>2018/2/24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47107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B1237DB-16F5-4792-AA7C-7A8359FA4B03}" type="slidenum">
              <a:rPr lang="en-US" altLang="zh-CN" smtClean="0">
                <a:ea typeface="宋体" charset="-122"/>
              </a:rPr>
              <a:pPr/>
              <a:t>40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46592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66713" y="306388"/>
            <a:ext cx="8270875" cy="839787"/>
          </a:xfrm>
        </p:spPr>
        <p:txBody>
          <a:bodyPr/>
          <a:lstStyle/>
          <a:p>
            <a:pPr eaLnBrk="1" fontAlgn="b" hangingPunct="1">
              <a:defRPr/>
            </a:pPr>
            <a:r>
              <a:rPr lang="en-US" altLang="zh-CN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§4-2   CIE</a:t>
            </a:r>
            <a:r>
              <a:rPr lang="zh-CN" altLang="en-US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色度计算方法</a:t>
            </a:r>
          </a:p>
        </p:txBody>
      </p:sp>
      <p:sp>
        <p:nvSpPr>
          <p:cNvPr id="465923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296863" y="1349375"/>
            <a:ext cx="8550275" cy="989013"/>
          </a:xfrm>
        </p:spPr>
        <p:txBody>
          <a:bodyPr/>
          <a:lstStyle/>
          <a:p>
            <a:pPr algn="just" eaLnBrk="1" hangingPunct="1">
              <a:buFont typeface="Wingdings" pitchFamily="2" charset="2"/>
              <a:buNone/>
              <a:defRPr/>
            </a:pPr>
            <a:r>
              <a:rPr lang="en-US" altLang="zh-CN" smtClean="0">
                <a:latin typeface="Times New Roman" pitchFamily="18" charset="0"/>
                <a:ea typeface="黑体" pitchFamily="2" charset="-122"/>
              </a:rPr>
              <a:t>3  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主波长和色纯度计算</a:t>
            </a:r>
          </a:p>
          <a:p>
            <a:pPr algn="just" eaLnBrk="1" hangingPunct="1">
              <a:buFont typeface="Wingdings" pitchFamily="2" charset="2"/>
              <a:buNone/>
              <a:defRPr/>
            </a:pP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①主波长</a:t>
            </a:r>
          </a:p>
          <a:p>
            <a:pPr algn="just" eaLnBrk="1" hangingPunct="1">
              <a:defRPr/>
            </a:pP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用某一光谱色按照一定比例与一特定的参照光源（如等能白光</a:t>
            </a:r>
            <a:r>
              <a:rPr lang="en-US" altLang="zh-CN" i="1" smtClean="0">
                <a:latin typeface="Times New Roman" pitchFamily="18" charset="0"/>
                <a:ea typeface="黑体" pitchFamily="2" charset="-122"/>
              </a:rPr>
              <a:t>E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，</a:t>
            </a:r>
            <a:r>
              <a:rPr lang="en-US" altLang="zh-CN" smtClean="0">
                <a:latin typeface="Times New Roman" pitchFamily="18" charset="0"/>
                <a:ea typeface="黑体" pitchFamily="2" charset="-122"/>
              </a:rPr>
              <a:t>CIE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标准光源</a:t>
            </a:r>
            <a:r>
              <a:rPr lang="en-US" altLang="zh-CN" i="1" smtClean="0">
                <a:latin typeface="Times New Roman" pitchFamily="18" charset="0"/>
                <a:ea typeface="黑体" pitchFamily="2" charset="-122"/>
              </a:rPr>
              <a:t>A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、</a:t>
            </a:r>
            <a:r>
              <a:rPr lang="en-US" altLang="zh-CN" i="1" smtClean="0">
                <a:latin typeface="Times New Roman" pitchFamily="18" charset="0"/>
                <a:ea typeface="黑体" pitchFamily="2" charset="-122"/>
              </a:rPr>
              <a:t>C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，标准照明体</a:t>
            </a:r>
            <a:r>
              <a:rPr lang="en-US" altLang="zh-CN" i="1" smtClean="0">
                <a:latin typeface="Times New Roman" pitchFamily="18" charset="0"/>
                <a:ea typeface="黑体" pitchFamily="2" charset="-122"/>
              </a:rPr>
              <a:t>D</a:t>
            </a:r>
            <a:r>
              <a:rPr lang="en-US" altLang="zh-CN" baseline="-25000" smtClean="0">
                <a:latin typeface="Times New Roman" pitchFamily="18" charset="0"/>
                <a:ea typeface="黑体" pitchFamily="2" charset="-122"/>
              </a:rPr>
              <a:t>65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）相混合匹配出某种颜色，则该光谱色的波长就是该颜色的</a:t>
            </a:r>
            <a:r>
              <a:rPr lang="zh-CN" altLang="en-US" smtClean="0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主波长</a:t>
            </a:r>
            <a:r>
              <a:rPr lang="el-GR" altLang="zh-CN" i="1" smtClean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λ</a:t>
            </a:r>
            <a:r>
              <a:rPr lang="en-US" altLang="zh-CN" baseline="-25000" smtClean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d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。</a:t>
            </a:r>
          </a:p>
          <a:p>
            <a:pPr algn="just" eaLnBrk="1" hangingPunct="1">
              <a:defRPr/>
            </a:pP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但是，在色品图上光谱轨迹两端（</a:t>
            </a:r>
            <a:r>
              <a:rPr lang="en-US" altLang="zh-CN" smtClean="0">
                <a:latin typeface="Times New Roman" pitchFamily="18" charset="0"/>
                <a:ea typeface="黑体" pitchFamily="2" charset="-122"/>
              </a:rPr>
              <a:t>400nm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和</a:t>
            </a:r>
            <a:r>
              <a:rPr lang="en-US" altLang="zh-CN" smtClean="0">
                <a:latin typeface="Times New Roman" pitchFamily="18" charset="0"/>
                <a:ea typeface="黑体" pitchFamily="2" charset="-122"/>
              </a:rPr>
              <a:t>700nm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）与参照光源的色品点组成的三角区域内的颜色没有主波长，因而引入</a:t>
            </a:r>
            <a:r>
              <a:rPr lang="zh-CN" altLang="en-US" smtClean="0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补色波长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概念，用</a:t>
            </a:r>
            <a:r>
              <a:rPr lang="en-US" altLang="zh-CN" smtClean="0">
                <a:latin typeface="Times New Roman" pitchFamily="18" charset="0"/>
                <a:ea typeface="黑体" pitchFamily="2" charset="-122"/>
              </a:rPr>
              <a:t>-</a:t>
            </a:r>
            <a:r>
              <a:rPr lang="el-GR" altLang="zh-CN" i="1" smtClean="0">
                <a:latin typeface="Times New Roman" pitchFamily="18" charset="0"/>
                <a:ea typeface="黑体" pitchFamily="2" charset="-122"/>
              </a:rPr>
              <a:t>λ</a:t>
            </a:r>
            <a:r>
              <a:rPr lang="en-US" altLang="zh-CN" baseline="-25000" smtClean="0">
                <a:latin typeface="Times New Roman" pitchFamily="18" charset="0"/>
                <a:ea typeface="黑体" pitchFamily="2" charset="-122"/>
              </a:rPr>
              <a:t>d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表示。 </a:t>
            </a:r>
          </a:p>
          <a:p>
            <a:pPr algn="just" eaLnBrk="1" hangingPunct="1">
              <a:defRPr/>
            </a:pP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已知某颜色的色品坐标（</a:t>
            </a:r>
            <a:r>
              <a:rPr lang="en-US" altLang="zh-CN" i="1" smtClean="0">
                <a:latin typeface="Times New Roman" pitchFamily="18" charset="0"/>
                <a:ea typeface="黑体" pitchFamily="2" charset="-122"/>
              </a:rPr>
              <a:t>x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，</a:t>
            </a:r>
            <a:r>
              <a:rPr lang="en-US" altLang="zh-CN" i="1" smtClean="0">
                <a:latin typeface="Times New Roman" pitchFamily="18" charset="0"/>
                <a:ea typeface="黑体" pitchFamily="2" charset="-122"/>
              </a:rPr>
              <a:t>y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）和参照光源的坐标（</a:t>
            </a:r>
            <a:r>
              <a:rPr lang="en-US" altLang="zh-CN" i="1" smtClean="0">
                <a:latin typeface="Times New Roman" pitchFamily="18" charset="0"/>
                <a:ea typeface="黑体" pitchFamily="2" charset="-122"/>
              </a:rPr>
              <a:t>x</a:t>
            </a:r>
            <a:r>
              <a:rPr lang="en-US" altLang="zh-CN" baseline="-25000" smtClean="0">
                <a:latin typeface="Times New Roman" pitchFamily="18" charset="0"/>
                <a:ea typeface="黑体" pitchFamily="2" charset="-122"/>
              </a:rPr>
              <a:t>0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，</a:t>
            </a:r>
            <a:r>
              <a:rPr lang="en-US" altLang="zh-CN" i="1" smtClean="0">
                <a:latin typeface="Times New Roman" pitchFamily="18" charset="0"/>
                <a:ea typeface="黑体" pitchFamily="2" charset="-122"/>
              </a:rPr>
              <a:t>y</a:t>
            </a:r>
            <a:r>
              <a:rPr lang="en-US" altLang="zh-CN" baseline="-25000" smtClean="0">
                <a:latin typeface="Times New Roman" pitchFamily="18" charset="0"/>
                <a:ea typeface="黑体" pitchFamily="2" charset="-122"/>
              </a:rPr>
              <a:t>0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），可以方便地用作图法确定某颜色的主波长或补色波长。 </a:t>
            </a:r>
          </a:p>
        </p:txBody>
      </p:sp>
      <p:sp>
        <p:nvSpPr>
          <p:cNvPr id="47110" name="Rectangle 4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7111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7112" name="Rectangle 6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7113" name="Rectangle 7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7114" name="Rectangle 8"/>
          <p:cNvSpPr>
            <a:spLocks noChangeArrowheads="1"/>
          </p:cNvSpPr>
          <p:nvPr/>
        </p:nvSpPr>
        <p:spPr bwMode="auto">
          <a:xfrm>
            <a:off x="0" y="30718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7115" name="Rectangle 9"/>
          <p:cNvSpPr>
            <a:spLocks noChangeArrowheads="1"/>
          </p:cNvSpPr>
          <p:nvPr/>
        </p:nvSpPr>
        <p:spPr bwMode="auto">
          <a:xfrm>
            <a:off x="0" y="32194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7116" name="Rectangle 10"/>
          <p:cNvSpPr>
            <a:spLocks noChangeArrowheads="1"/>
          </p:cNvSpPr>
          <p:nvPr/>
        </p:nvSpPr>
        <p:spPr bwMode="auto">
          <a:xfrm>
            <a:off x="4400550" y="3170238"/>
            <a:ext cx="3429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1000" u="sng">
                <a:latin typeface="Times New Roman" pitchFamily="18" charset="0"/>
                <a:cs typeface="Times New Roman" pitchFamily="18" charset="0"/>
              </a:rPr>
              <a:t>     </a:t>
            </a:r>
            <a:endParaRPr lang="en-US" altLang="zh-CN" sz="1100"/>
          </a:p>
          <a:p>
            <a:pPr eaLnBrk="0" hangingPunct="0"/>
            <a:endParaRPr lang="en-US" altLang="zh-CN"/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1320800" y="906463"/>
            <a:ext cx="6473825" cy="5951537"/>
            <a:chOff x="1005" y="658"/>
            <a:chExt cx="4078" cy="3749"/>
          </a:xfrm>
        </p:grpSpPr>
        <p:sp>
          <p:nvSpPr>
            <p:cNvPr id="47118" name="Rectangle 12"/>
            <p:cNvSpPr>
              <a:spLocks noChangeArrowheads="1"/>
            </p:cNvSpPr>
            <p:nvPr/>
          </p:nvSpPr>
          <p:spPr bwMode="auto">
            <a:xfrm>
              <a:off x="1005" y="658"/>
              <a:ext cx="4078" cy="353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7119" name="Group 13"/>
            <p:cNvGrpSpPr>
              <a:grpSpLocks/>
            </p:cNvGrpSpPr>
            <p:nvPr/>
          </p:nvGrpSpPr>
          <p:grpSpPr bwMode="auto">
            <a:xfrm>
              <a:off x="1144" y="673"/>
              <a:ext cx="3868" cy="3734"/>
              <a:chOff x="4961" y="9308"/>
              <a:chExt cx="5190" cy="5010"/>
            </a:xfrm>
          </p:grpSpPr>
          <p:sp>
            <p:nvSpPr>
              <p:cNvPr id="47120" name="Rectangle 14"/>
              <p:cNvSpPr>
                <a:spLocks noChangeArrowheads="1"/>
              </p:cNvSpPr>
              <p:nvPr/>
            </p:nvSpPr>
            <p:spPr bwMode="auto">
              <a:xfrm>
                <a:off x="5501" y="9762"/>
                <a:ext cx="4365" cy="348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21" name="Line 15"/>
              <p:cNvSpPr>
                <a:spLocks noChangeShapeType="1"/>
              </p:cNvSpPr>
              <p:nvPr/>
            </p:nvSpPr>
            <p:spPr bwMode="auto">
              <a:xfrm>
                <a:off x="5516" y="12372"/>
                <a:ext cx="16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22" name="Line 16"/>
              <p:cNvSpPr>
                <a:spLocks noChangeShapeType="1"/>
              </p:cNvSpPr>
              <p:nvPr/>
            </p:nvSpPr>
            <p:spPr bwMode="auto">
              <a:xfrm>
                <a:off x="5516" y="11547"/>
                <a:ext cx="16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23" name="Line 17"/>
              <p:cNvSpPr>
                <a:spLocks noChangeShapeType="1"/>
              </p:cNvSpPr>
              <p:nvPr/>
            </p:nvSpPr>
            <p:spPr bwMode="auto">
              <a:xfrm>
                <a:off x="5501" y="10032"/>
                <a:ext cx="16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24" name="Line 18"/>
              <p:cNvSpPr>
                <a:spLocks noChangeShapeType="1"/>
              </p:cNvSpPr>
              <p:nvPr/>
            </p:nvSpPr>
            <p:spPr bwMode="auto">
              <a:xfrm>
                <a:off x="5501" y="10767"/>
                <a:ext cx="16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25" name="Line 19"/>
              <p:cNvSpPr>
                <a:spLocks noChangeShapeType="1"/>
              </p:cNvSpPr>
              <p:nvPr/>
            </p:nvSpPr>
            <p:spPr bwMode="auto">
              <a:xfrm>
                <a:off x="9701" y="10032"/>
                <a:ext cx="16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26" name="Line 20"/>
              <p:cNvSpPr>
                <a:spLocks noChangeShapeType="1"/>
              </p:cNvSpPr>
              <p:nvPr/>
            </p:nvSpPr>
            <p:spPr bwMode="auto">
              <a:xfrm>
                <a:off x="9701" y="11547"/>
                <a:ext cx="16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27" name="Line 21"/>
              <p:cNvSpPr>
                <a:spLocks noChangeShapeType="1"/>
              </p:cNvSpPr>
              <p:nvPr/>
            </p:nvSpPr>
            <p:spPr bwMode="auto">
              <a:xfrm>
                <a:off x="9716" y="10767"/>
                <a:ext cx="16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28" name="Line 22"/>
              <p:cNvSpPr>
                <a:spLocks noChangeShapeType="1"/>
              </p:cNvSpPr>
              <p:nvPr/>
            </p:nvSpPr>
            <p:spPr bwMode="auto">
              <a:xfrm>
                <a:off x="9701" y="12372"/>
                <a:ext cx="16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29" name="Line 23"/>
              <p:cNvSpPr>
                <a:spLocks noChangeShapeType="1"/>
              </p:cNvSpPr>
              <p:nvPr/>
            </p:nvSpPr>
            <p:spPr bwMode="auto">
              <a:xfrm>
                <a:off x="6521" y="13032"/>
                <a:ext cx="0" cy="22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30" name="Line 24"/>
              <p:cNvSpPr>
                <a:spLocks noChangeShapeType="1"/>
              </p:cNvSpPr>
              <p:nvPr/>
            </p:nvSpPr>
            <p:spPr bwMode="auto">
              <a:xfrm>
                <a:off x="8621" y="9762"/>
                <a:ext cx="0" cy="22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31" name="Line 25"/>
              <p:cNvSpPr>
                <a:spLocks noChangeShapeType="1"/>
              </p:cNvSpPr>
              <p:nvPr/>
            </p:nvSpPr>
            <p:spPr bwMode="auto">
              <a:xfrm>
                <a:off x="7571" y="9762"/>
                <a:ext cx="0" cy="22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32" name="Line 26"/>
              <p:cNvSpPr>
                <a:spLocks noChangeShapeType="1"/>
              </p:cNvSpPr>
              <p:nvPr/>
            </p:nvSpPr>
            <p:spPr bwMode="auto">
              <a:xfrm>
                <a:off x="6536" y="9762"/>
                <a:ext cx="0" cy="22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33" name="Line 27"/>
              <p:cNvSpPr>
                <a:spLocks noChangeShapeType="1"/>
              </p:cNvSpPr>
              <p:nvPr/>
            </p:nvSpPr>
            <p:spPr bwMode="auto">
              <a:xfrm>
                <a:off x="8621" y="13032"/>
                <a:ext cx="0" cy="22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34" name="Line 28"/>
              <p:cNvSpPr>
                <a:spLocks noChangeShapeType="1"/>
              </p:cNvSpPr>
              <p:nvPr/>
            </p:nvSpPr>
            <p:spPr bwMode="auto">
              <a:xfrm>
                <a:off x="9536" y="13017"/>
                <a:ext cx="0" cy="22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35" name="Line 29"/>
              <p:cNvSpPr>
                <a:spLocks noChangeShapeType="1"/>
              </p:cNvSpPr>
              <p:nvPr/>
            </p:nvSpPr>
            <p:spPr bwMode="auto">
              <a:xfrm>
                <a:off x="9551" y="9777"/>
                <a:ext cx="0" cy="22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36" name="Line 30"/>
              <p:cNvSpPr>
                <a:spLocks noChangeShapeType="1"/>
              </p:cNvSpPr>
              <p:nvPr/>
            </p:nvSpPr>
            <p:spPr bwMode="auto">
              <a:xfrm>
                <a:off x="7571" y="13032"/>
                <a:ext cx="0" cy="22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37" name="Line 31"/>
              <p:cNvSpPr>
                <a:spLocks noChangeShapeType="1"/>
              </p:cNvSpPr>
              <p:nvPr/>
            </p:nvSpPr>
            <p:spPr bwMode="auto">
              <a:xfrm flipV="1">
                <a:off x="6326" y="12129"/>
                <a:ext cx="2970" cy="103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38" name="Freeform 32"/>
              <p:cNvSpPr>
                <a:spLocks/>
              </p:cNvSpPr>
              <p:nvPr/>
            </p:nvSpPr>
            <p:spPr bwMode="auto">
              <a:xfrm>
                <a:off x="6926" y="10494"/>
                <a:ext cx="2356" cy="1635"/>
              </a:xfrm>
              <a:custGeom>
                <a:avLst/>
                <a:gdLst>
                  <a:gd name="T0" fmla="*/ 2356 w 2356"/>
                  <a:gd name="T1" fmla="*/ 1635 h 1635"/>
                  <a:gd name="T2" fmla="*/ 0 w 2356"/>
                  <a:gd name="T3" fmla="*/ 0 h 1635"/>
                  <a:gd name="T4" fmla="*/ 0 60000 65536"/>
                  <a:gd name="T5" fmla="*/ 0 60000 65536"/>
                  <a:gd name="T6" fmla="*/ 0 w 2356"/>
                  <a:gd name="T7" fmla="*/ 0 h 1635"/>
                  <a:gd name="T8" fmla="*/ 2356 w 2356"/>
                  <a:gd name="T9" fmla="*/ 1635 h 163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356" h="1635">
                    <a:moveTo>
                      <a:pt x="2356" y="1635"/>
                    </a:move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39" name="Freeform 33"/>
              <p:cNvSpPr>
                <a:spLocks/>
              </p:cNvSpPr>
              <p:nvPr/>
            </p:nvSpPr>
            <p:spPr bwMode="auto">
              <a:xfrm>
                <a:off x="5541" y="9829"/>
                <a:ext cx="1400" cy="3335"/>
              </a:xfrm>
              <a:custGeom>
                <a:avLst/>
                <a:gdLst>
                  <a:gd name="T0" fmla="*/ 800 w 1400"/>
                  <a:gd name="T1" fmla="*/ 3335 h 3335"/>
                  <a:gd name="T2" fmla="*/ 605 w 1400"/>
                  <a:gd name="T3" fmla="*/ 3110 h 3335"/>
                  <a:gd name="T4" fmla="*/ 485 w 1400"/>
                  <a:gd name="T5" fmla="*/ 2840 h 3335"/>
                  <a:gd name="T6" fmla="*/ 380 w 1400"/>
                  <a:gd name="T7" fmla="*/ 2555 h 3335"/>
                  <a:gd name="T8" fmla="*/ 275 w 1400"/>
                  <a:gd name="T9" fmla="*/ 2210 h 3335"/>
                  <a:gd name="T10" fmla="*/ 110 w 1400"/>
                  <a:gd name="T11" fmla="*/ 1580 h 3335"/>
                  <a:gd name="T12" fmla="*/ 50 w 1400"/>
                  <a:gd name="T13" fmla="*/ 1325 h 3335"/>
                  <a:gd name="T14" fmla="*/ 20 w 1400"/>
                  <a:gd name="T15" fmla="*/ 1145 h 3335"/>
                  <a:gd name="T16" fmla="*/ 20 w 1400"/>
                  <a:gd name="T17" fmla="*/ 1070 h 3335"/>
                  <a:gd name="T18" fmla="*/ 5 w 1400"/>
                  <a:gd name="T19" fmla="*/ 980 h 3335"/>
                  <a:gd name="T20" fmla="*/ 5 w 1400"/>
                  <a:gd name="T21" fmla="*/ 860 h 3335"/>
                  <a:gd name="T22" fmla="*/ 35 w 1400"/>
                  <a:gd name="T23" fmla="*/ 500 h 3335"/>
                  <a:gd name="T24" fmla="*/ 80 w 1400"/>
                  <a:gd name="T25" fmla="*/ 320 h 3335"/>
                  <a:gd name="T26" fmla="*/ 215 w 1400"/>
                  <a:gd name="T27" fmla="*/ 95 h 3335"/>
                  <a:gd name="T28" fmla="*/ 410 w 1400"/>
                  <a:gd name="T29" fmla="*/ 5 h 3335"/>
                  <a:gd name="T30" fmla="*/ 575 w 1400"/>
                  <a:gd name="T31" fmla="*/ 65 h 3335"/>
                  <a:gd name="T32" fmla="*/ 785 w 1400"/>
                  <a:gd name="T33" fmla="*/ 215 h 3335"/>
                  <a:gd name="T34" fmla="*/ 1025 w 1400"/>
                  <a:gd name="T35" fmla="*/ 380 h 3335"/>
                  <a:gd name="T36" fmla="*/ 1400 w 1400"/>
                  <a:gd name="T37" fmla="*/ 680 h 3335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400"/>
                  <a:gd name="T58" fmla="*/ 0 h 3335"/>
                  <a:gd name="T59" fmla="*/ 1400 w 1400"/>
                  <a:gd name="T60" fmla="*/ 3335 h 3335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400" h="3335">
                    <a:moveTo>
                      <a:pt x="800" y="3335"/>
                    </a:moveTo>
                    <a:cubicBezTo>
                      <a:pt x="728" y="3263"/>
                      <a:pt x="657" y="3192"/>
                      <a:pt x="605" y="3110"/>
                    </a:cubicBezTo>
                    <a:cubicBezTo>
                      <a:pt x="553" y="3028"/>
                      <a:pt x="522" y="2932"/>
                      <a:pt x="485" y="2840"/>
                    </a:cubicBezTo>
                    <a:cubicBezTo>
                      <a:pt x="448" y="2748"/>
                      <a:pt x="415" y="2660"/>
                      <a:pt x="380" y="2555"/>
                    </a:cubicBezTo>
                    <a:cubicBezTo>
                      <a:pt x="345" y="2450"/>
                      <a:pt x="320" y="2372"/>
                      <a:pt x="275" y="2210"/>
                    </a:cubicBezTo>
                    <a:cubicBezTo>
                      <a:pt x="230" y="2048"/>
                      <a:pt x="147" y="1727"/>
                      <a:pt x="110" y="1580"/>
                    </a:cubicBezTo>
                    <a:cubicBezTo>
                      <a:pt x="73" y="1433"/>
                      <a:pt x="65" y="1397"/>
                      <a:pt x="50" y="1325"/>
                    </a:cubicBezTo>
                    <a:cubicBezTo>
                      <a:pt x="35" y="1253"/>
                      <a:pt x="25" y="1187"/>
                      <a:pt x="20" y="1145"/>
                    </a:cubicBezTo>
                    <a:cubicBezTo>
                      <a:pt x="15" y="1103"/>
                      <a:pt x="22" y="1097"/>
                      <a:pt x="20" y="1070"/>
                    </a:cubicBezTo>
                    <a:cubicBezTo>
                      <a:pt x="18" y="1043"/>
                      <a:pt x="7" y="1015"/>
                      <a:pt x="5" y="980"/>
                    </a:cubicBezTo>
                    <a:cubicBezTo>
                      <a:pt x="3" y="945"/>
                      <a:pt x="0" y="940"/>
                      <a:pt x="5" y="860"/>
                    </a:cubicBezTo>
                    <a:cubicBezTo>
                      <a:pt x="10" y="780"/>
                      <a:pt x="23" y="590"/>
                      <a:pt x="35" y="500"/>
                    </a:cubicBezTo>
                    <a:cubicBezTo>
                      <a:pt x="47" y="410"/>
                      <a:pt x="50" y="387"/>
                      <a:pt x="80" y="320"/>
                    </a:cubicBezTo>
                    <a:cubicBezTo>
                      <a:pt x="110" y="253"/>
                      <a:pt x="160" y="147"/>
                      <a:pt x="215" y="95"/>
                    </a:cubicBezTo>
                    <a:cubicBezTo>
                      <a:pt x="270" y="43"/>
                      <a:pt x="350" y="10"/>
                      <a:pt x="410" y="5"/>
                    </a:cubicBezTo>
                    <a:cubicBezTo>
                      <a:pt x="470" y="0"/>
                      <a:pt x="513" y="30"/>
                      <a:pt x="575" y="65"/>
                    </a:cubicBezTo>
                    <a:cubicBezTo>
                      <a:pt x="637" y="100"/>
                      <a:pt x="710" y="163"/>
                      <a:pt x="785" y="215"/>
                    </a:cubicBezTo>
                    <a:cubicBezTo>
                      <a:pt x="860" y="267"/>
                      <a:pt x="922" y="302"/>
                      <a:pt x="1025" y="380"/>
                    </a:cubicBezTo>
                    <a:cubicBezTo>
                      <a:pt x="1128" y="458"/>
                      <a:pt x="1338" y="630"/>
                      <a:pt x="1400" y="680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40" name="Line 34"/>
              <p:cNvSpPr>
                <a:spLocks noChangeShapeType="1"/>
              </p:cNvSpPr>
              <p:nvPr/>
            </p:nvSpPr>
            <p:spPr bwMode="auto">
              <a:xfrm>
                <a:off x="5791" y="9878"/>
                <a:ext cx="1305" cy="205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41" name="Oval 35"/>
              <p:cNvSpPr>
                <a:spLocks noChangeArrowheads="1"/>
              </p:cNvSpPr>
              <p:nvPr/>
            </p:nvSpPr>
            <p:spPr bwMode="auto">
              <a:xfrm>
                <a:off x="6661" y="11222"/>
                <a:ext cx="71" cy="76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42" name="Oval 36"/>
              <p:cNvSpPr>
                <a:spLocks noChangeArrowheads="1"/>
              </p:cNvSpPr>
              <p:nvPr/>
            </p:nvSpPr>
            <p:spPr bwMode="auto">
              <a:xfrm>
                <a:off x="7196" y="10672"/>
                <a:ext cx="71" cy="76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43" name="Oval 37"/>
              <p:cNvSpPr>
                <a:spLocks noChangeArrowheads="1"/>
              </p:cNvSpPr>
              <p:nvPr/>
            </p:nvSpPr>
            <p:spPr bwMode="auto">
              <a:xfrm>
                <a:off x="9236" y="12082"/>
                <a:ext cx="71" cy="76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44" name="Oval 38"/>
              <p:cNvSpPr>
                <a:spLocks noChangeArrowheads="1"/>
              </p:cNvSpPr>
              <p:nvPr/>
            </p:nvSpPr>
            <p:spPr bwMode="auto">
              <a:xfrm>
                <a:off x="6296" y="13117"/>
                <a:ext cx="71" cy="76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45" name="Oval 39"/>
              <p:cNvSpPr>
                <a:spLocks noChangeArrowheads="1"/>
              </p:cNvSpPr>
              <p:nvPr/>
            </p:nvSpPr>
            <p:spPr bwMode="auto">
              <a:xfrm>
                <a:off x="5741" y="11887"/>
                <a:ext cx="71" cy="76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46" name="Oval 40"/>
              <p:cNvSpPr>
                <a:spLocks noChangeArrowheads="1"/>
              </p:cNvSpPr>
              <p:nvPr/>
            </p:nvSpPr>
            <p:spPr bwMode="auto">
              <a:xfrm>
                <a:off x="5831" y="9817"/>
                <a:ext cx="71" cy="76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47" name="Oval 41"/>
              <p:cNvSpPr>
                <a:spLocks noChangeArrowheads="1"/>
              </p:cNvSpPr>
              <p:nvPr/>
            </p:nvSpPr>
            <p:spPr bwMode="auto">
              <a:xfrm>
                <a:off x="5531" y="10942"/>
                <a:ext cx="71" cy="76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48" name="Oval 42"/>
              <p:cNvSpPr>
                <a:spLocks noChangeArrowheads="1"/>
              </p:cNvSpPr>
              <p:nvPr/>
            </p:nvSpPr>
            <p:spPr bwMode="auto">
              <a:xfrm>
                <a:off x="6836" y="10417"/>
                <a:ext cx="71" cy="76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49" name="Oval 43"/>
              <p:cNvSpPr>
                <a:spLocks noChangeArrowheads="1"/>
              </p:cNvSpPr>
              <p:nvPr/>
            </p:nvSpPr>
            <p:spPr bwMode="auto">
              <a:xfrm>
                <a:off x="8531" y="11602"/>
                <a:ext cx="71" cy="76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50" name="Oval 44"/>
              <p:cNvSpPr>
                <a:spLocks noChangeArrowheads="1"/>
              </p:cNvSpPr>
              <p:nvPr/>
            </p:nvSpPr>
            <p:spPr bwMode="auto">
              <a:xfrm>
                <a:off x="7946" y="11197"/>
                <a:ext cx="71" cy="76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5965" name="Text Box 45"/>
              <p:cNvSpPr txBox="1">
                <a:spLocks noChangeArrowheads="1"/>
              </p:cNvSpPr>
              <p:nvPr/>
            </p:nvSpPr>
            <p:spPr bwMode="auto">
              <a:xfrm>
                <a:off x="9192" y="11783"/>
                <a:ext cx="959" cy="56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>
                  <a:defRPr/>
                </a:pPr>
                <a:r>
                  <a:rPr lang="en-US" altLang="zh-CN" sz="16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700nm</a:t>
                </a:r>
              </a:p>
            </p:txBody>
          </p:sp>
          <p:sp>
            <p:nvSpPr>
              <p:cNvPr id="465966" name="Text Box 46"/>
              <p:cNvSpPr txBox="1">
                <a:spLocks noChangeArrowheads="1"/>
              </p:cNvSpPr>
              <p:nvPr/>
            </p:nvSpPr>
            <p:spPr bwMode="auto">
              <a:xfrm>
                <a:off x="5726" y="11694"/>
                <a:ext cx="961" cy="56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>
                  <a:defRPr/>
                </a:pPr>
                <a:r>
                  <a:rPr lang="en-US" altLang="zh-CN" sz="16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490</a:t>
                </a:r>
              </a:p>
            </p:txBody>
          </p:sp>
          <p:sp>
            <p:nvSpPr>
              <p:cNvPr id="465967" name="Text Box 47"/>
              <p:cNvSpPr txBox="1">
                <a:spLocks noChangeArrowheads="1"/>
              </p:cNvSpPr>
              <p:nvPr/>
            </p:nvSpPr>
            <p:spPr bwMode="auto">
              <a:xfrm>
                <a:off x="5516" y="10762"/>
                <a:ext cx="958" cy="57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>
                  <a:defRPr/>
                </a:pPr>
                <a:r>
                  <a:rPr lang="en-US" altLang="zh-CN" sz="16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500</a:t>
                </a:r>
              </a:p>
            </p:txBody>
          </p:sp>
          <p:sp>
            <p:nvSpPr>
              <p:cNvPr id="465968" name="Text Box 48"/>
              <p:cNvSpPr txBox="1">
                <a:spLocks noChangeArrowheads="1"/>
              </p:cNvSpPr>
              <p:nvPr/>
            </p:nvSpPr>
            <p:spPr bwMode="auto">
              <a:xfrm>
                <a:off x="6401" y="12908"/>
                <a:ext cx="961" cy="57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>
                  <a:defRPr/>
                </a:pPr>
                <a:r>
                  <a:rPr lang="en-US" altLang="zh-CN" sz="16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400nm</a:t>
                </a:r>
              </a:p>
            </p:txBody>
          </p:sp>
          <p:sp>
            <p:nvSpPr>
              <p:cNvPr id="465969" name="Text Box 49"/>
              <p:cNvSpPr txBox="1">
                <a:spLocks noChangeArrowheads="1"/>
              </p:cNvSpPr>
              <p:nvPr/>
            </p:nvSpPr>
            <p:spPr bwMode="auto">
              <a:xfrm>
                <a:off x="6852" y="10194"/>
                <a:ext cx="959" cy="56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>
                  <a:defRPr/>
                </a:pPr>
                <a:r>
                  <a:rPr lang="en-US" altLang="zh-CN" sz="16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550</a:t>
                </a:r>
              </a:p>
            </p:txBody>
          </p:sp>
          <p:sp>
            <p:nvSpPr>
              <p:cNvPr id="465970" name="Text Box 50"/>
              <p:cNvSpPr txBox="1">
                <a:spLocks noChangeArrowheads="1"/>
              </p:cNvSpPr>
              <p:nvPr/>
            </p:nvSpPr>
            <p:spPr bwMode="auto">
              <a:xfrm>
                <a:off x="7946" y="10973"/>
                <a:ext cx="958" cy="57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>
                  <a:defRPr/>
                </a:pPr>
                <a:r>
                  <a:rPr lang="en-US" altLang="zh-CN" sz="16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580</a:t>
                </a:r>
              </a:p>
            </p:txBody>
          </p:sp>
          <p:sp>
            <p:nvSpPr>
              <p:cNvPr id="465971" name="Text Box 51"/>
              <p:cNvSpPr txBox="1">
                <a:spLocks noChangeArrowheads="1"/>
              </p:cNvSpPr>
              <p:nvPr/>
            </p:nvSpPr>
            <p:spPr bwMode="auto">
              <a:xfrm>
                <a:off x="8515" y="11347"/>
                <a:ext cx="961" cy="57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>
                  <a:defRPr/>
                </a:pPr>
                <a:r>
                  <a:rPr lang="en-US" altLang="zh-CN" sz="16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600</a:t>
                </a:r>
              </a:p>
            </p:txBody>
          </p:sp>
          <p:sp>
            <p:nvSpPr>
              <p:cNvPr id="465972" name="Text Box 52"/>
              <p:cNvSpPr txBox="1">
                <a:spLocks noChangeArrowheads="1"/>
              </p:cNvSpPr>
              <p:nvPr/>
            </p:nvSpPr>
            <p:spPr bwMode="auto">
              <a:xfrm>
                <a:off x="5755" y="9733"/>
                <a:ext cx="735" cy="5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>
                  <a:defRPr/>
                </a:pPr>
                <a:endParaRPr lang="en-US" altLang="zh-CN" sz="16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endParaRPr>
              </a:p>
              <a:p>
                <a:pPr algn="just">
                  <a:defRPr/>
                </a:pPr>
                <a:r>
                  <a:rPr lang="en-US" altLang="zh-CN" sz="16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520</a:t>
                </a:r>
              </a:p>
            </p:txBody>
          </p:sp>
          <p:sp>
            <p:nvSpPr>
              <p:cNvPr id="465973" name="Text Box 53"/>
              <p:cNvSpPr txBox="1">
                <a:spLocks noChangeArrowheads="1"/>
              </p:cNvSpPr>
              <p:nvPr/>
            </p:nvSpPr>
            <p:spPr bwMode="auto">
              <a:xfrm>
                <a:off x="5951" y="12338"/>
                <a:ext cx="645" cy="5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>
                  <a:defRPr/>
                </a:pPr>
                <a:r>
                  <a:rPr lang="en-US" altLang="zh-CN" sz="16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480</a:t>
                </a:r>
              </a:p>
            </p:txBody>
          </p:sp>
          <p:sp>
            <p:nvSpPr>
              <p:cNvPr id="47160" name="Oval 54"/>
              <p:cNvSpPr>
                <a:spLocks noChangeArrowheads="1"/>
              </p:cNvSpPr>
              <p:nvPr/>
            </p:nvSpPr>
            <p:spPr bwMode="auto">
              <a:xfrm>
                <a:off x="5966" y="12562"/>
                <a:ext cx="71" cy="76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5975" name="Text Box 55"/>
              <p:cNvSpPr txBox="1">
                <a:spLocks noChangeArrowheads="1"/>
              </p:cNvSpPr>
              <p:nvPr/>
            </p:nvSpPr>
            <p:spPr bwMode="auto">
              <a:xfrm>
                <a:off x="6896" y="11885"/>
                <a:ext cx="796" cy="4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>
                  <a:defRPr/>
                </a:pPr>
                <a:r>
                  <a:rPr lang="en-US" altLang="zh-CN" sz="1600" b="1" i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O</a:t>
                </a:r>
                <a:r>
                  <a:rPr lang="en-US" altLang="zh-CN" sz="16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(</a:t>
                </a:r>
                <a:r>
                  <a:rPr lang="en-US" altLang="zh-CN" sz="1600" b="1" i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x</a:t>
                </a:r>
                <a:r>
                  <a:rPr lang="en-US" altLang="zh-CN" sz="1600" b="1" baseline="-2500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0</a:t>
                </a:r>
                <a:r>
                  <a:rPr lang="en-US" altLang="zh-CN" sz="16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, </a:t>
                </a:r>
                <a:r>
                  <a:rPr lang="en-US" altLang="zh-CN" sz="1600" b="1" i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y</a:t>
                </a:r>
                <a:r>
                  <a:rPr lang="en-US" altLang="zh-CN" sz="1600" b="1" baseline="-2500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0</a:t>
                </a:r>
                <a:r>
                  <a:rPr lang="en-US" altLang="zh-CN" sz="16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)</a:t>
                </a:r>
              </a:p>
            </p:txBody>
          </p:sp>
          <p:sp>
            <p:nvSpPr>
              <p:cNvPr id="465976" name="Text Box 56"/>
              <p:cNvSpPr txBox="1">
                <a:spLocks noChangeArrowheads="1"/>
              </p:cNvSpPr>
              <p:nvPr/>
            </p:nvSpPr>
            <p:spPr bwMode="auto">
              <a:xfrm>
                <a:off x="5471" y="9308"/>
                <a:ext cx="825" cy="5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>
                  <a:defRPr/>
                </a:pPr>
                <a:r>
                  <a:rPr lang="en-US" altLang="zh-CN" sz="1600" b="1" i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L</a:t>
                </a:r>
                <a:r>
                  <a:rPr lang="en-US" altLang="zh-CN" sz="16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(</a:t>
                </a:r>
                <a:r>
                  <a:rPr lang="en-US" altLang="zh-CN" sz="1600" b="1" i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x</a:t>
                </a:r>
                <a:r>
                  <a:rPr lang="en-US" altLang="zh-CN" sz="1600" b="1" baseline="-2500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, </a:t>
                </a:r>
                <a:r>
                  <a:rPr lang="en-US" altLang="zh-CN" sz="1600" b="1" i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y</a:t>
                </a:r>
                <a:r>
                  <a:rPr lang="en-US" altLang="zh-CN" sz="16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)</a:t>
                </a:r>
              </a:p>
            </p:txBody>
          </p:sp>
          <p:sp>
            <p:nvSpPr>
              <p:cNvPr id="465977" name="Text Box 57"/>
              <p:cNvSpPr txBox="1">
                <a:spLocks noChangeArrowheads="1"/>
              </p:cNvSpPr>
              <p:nvPr/>
            </p:nvSpPr>
            <p:spPr bwMode="auto">
              <a:xfrm>
                <a:off x="9311" y="13133"/>
                <a:ext cx="615" cy="5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>
                  <a:defRPr/>
                </a:pPr>
                <a:endParaRPr lang="en-US" altLang="zh-CN" sz="16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endParaRPr>
              </a:p>
              <a:p>
                <a:pPr algn="just">
                  <a:defRPr/>
                </a:pPr>
                <a:r>
                  <a:rPr lang="en-US" altLang="zh-CN" sz="16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  0.8</a:t>
                </a:r>
              </a:p>
            </p:txBody>
          </p:sp>
          <p:sp>
            <p:nvSpPr>
              <p:cNvPr id="465978" name="Text Box 58"/>
              <p:cNvSpPr txBox="1">
                <a:spLocks noChangeArrowheads="1"/>
              </p:cNvSpPr>
              <p:nvPr/>
            </p:nvSpPr>
            <p:spPr bwMode="auto">
              <a:xfrm>
                <a:off x="8381" y="13148"/>
                <a:ext cx="615" cy="5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>
                  <a:defRPr/>
                </a:pPr>
                <a:endParaRPr lang="en-US" altLang="zh-CN" sz="16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endParaRPr>
              </a:p>
              <a:p>
                <a:pPr algn="just">
                  <a:defRPr/>
                </a:pPr>
                <a:r>
                  <a:rPr lang="en-US" altLang="zh-CN" sz="16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  0.6</a:t>
                </a:r>
              </a:p>
            </p:txBody>
          </p:sp>
          <p:sp>
            <p:nvSpPr>
              <p:cNvPr id="465979" name="Text Box 59"/>
              <p:cNvSpPr txBox="1">
                <a:spLocks noChangeArrowheads="1"/>
              </p:cNvSpPr>
              <p:nvPr/>
            </p:nvSpPr>
            <p:spPr bwMode="auto">
              <a:xfrm>
                <a:off x="7331" y="13163"/>
                <a:ext cx="616" cy="5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>
                  <a:defRPr/>
                </a:pPr>
                <a:endParaRPr lang="en-US" altLang="zh-CN" sz="16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endParaRPr>
              </a:p>
              <a:p>
                <a:pPr algn="just">
                  <a:defRPr/>
                </a:pPr>
                <a:r>
                  <a:rPr lang="en-US" altLang="zh-CN" sz="16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0.4</a:t>
                </a:r>
              </a:p>
            </p:txBody>
          </p:sp>
          <p:sp>
            <p:nvSpPr>
              <p:cNvPr id="465980" name="Text Box 60"/>
              <p:cNvSpPr txBox="1">
                <a:spLocks noChangeArrowheads="1"/>
              </p:cNvSpPr>
              <p:nvPr/>
            </p:nvSpPr>
            <p:spPr bwMode="auto">
              <a:xfrm>
                <a:off x="6281" y="13178"/>
                <a:ext cx="615" cy="5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>
                  <a:defRPr/>
                </a:pPr>
                <a:endParaRPr lang="en-US" altLang="zh-CN" sz="16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endParaRPr>
              </a:p>
              <a:p>
                <a:pPr algn="just">
                  <a:defRPr/>
                </a:pPr>
                <a:r>
                  <a:rPr lang="en-US" altLang="zh-CN" sz="16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0.2</a:t>
                </a:r>
              </a:p>
            </p:txBody>
          </p:sp>
          <p:sp>
            <p:nvSpPr>
              <p:cNvPr id="465981" name="Text Box 61"/>
              <p:cNvSpPr txBox="1">
                <a:spLocks noChangeArrowheads="1"/>
              </p:cNvSpPr>
              <p:nvPr/>
            </p:nvSpPr>
            <p:spPr bwMode="auto">
              <a:xfrm>
                <a:off x="5216" y="13013"/>
                <a:ext cx="615" cy="5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>
                  <a:defRPr/>
                </a:pPr>
                <a:r>
                  <a:rPr lang="en-US" altLang="zh-CN" sz="16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0</a:t>
                </a:r>
              </a:p>
            </p:txBody>
          </p:sp>
          <p:sp>
            <p:nvSpPr>
              <p:cNvPr id="465982" name="Text Box 62"/>
              <p:cNvSpPr txBox="1">
                <a:spLocks noChangeArrowheads="1"/>
              </p:cNvSpPr>
              <p:nvPr/>
            </p:nvSpPr>
            <p:spPr bwMode="auto">
              <a:xfrm>
                <a:off x="5126" y="12114"/>
                <a:ext cx="615" cy="5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>
                  <a:defRPr/>
                </a:pPr>
                <a:endParaRPr lang="en-US" altLang="zh-CN" sz="16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endParaRPr>
              </a:p>
              <a:p>
                <a:pPr algn="just">
                  <a:defRPr/>
                </a:pPr>
                <a:r>
                  <a:rPr lang="en-US" altLang="zh-CN" sz="16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0.2</a:t>
                </a:r>
              </a:p>
            </p:txBody>
          </p:sp>
          <p:sp>
            <p:nvSpPr>
              <p:cNvPr id="465983" name="Text Box 63"/>
              <p:cNvSpPr txBox="1">
                <a:spLocks noChangeArrowheads="1"/>
              </p:cNvSpPr>
              <p:nvPr/>
            </p:nvSpPr>
            <p:spPr bwMode="auto">
              <a:xfrm>
                <a:off x="5126" y="11288"/>
                <a:ext cx="615" cy="5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>
                  <a:defRPr/>
                </a:pPr>
                <a:endParaRPr lang="en-US" altLang="zh-CN" sz="16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endParaRPr>
              </a:p>
              <a:p>
                <a:pPr algn="just">
                  <a:defRPr/>
                </a:pPr>
                <a:r>
                  <a:rPr lang="en-US" altLang="zh-CN" sz="16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0.4</a:t>
                </a:r>
              </a:p>
            </p:txBody>
          </p:sp>
          <p:sp>
            <p:nvSpPr>
              <p:cNvPr id="465984" name="Text Box 64"/>
              <p:cNvSpPr txBox="1">
                <a:spLocks noChangeArrowheads="1"/>
              </p:cNvSpPr>
              <p:nvPr/>
            </p:nvSpPr>
            <p:spPr bwMode="auto">
              <a:xfrm>
                <a:off x="5126" y="10508"/>
                <a:ext cx="615" cy="5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>
                  <a:defRPr/>
                </a:pPr>
                <a:endParaRPr lang="en-US" altLang="zh-CN" sz="16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endParaRPr>
              </a:p>
              <a:p>
                <a:pPr algn="just">
                  <a:defRPr/>
                </a:pPr>
                <a:r>
                  <a:rPr lang="en-US" altLang="zh-CN" sz="16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0.6</a:t>
                </a:r>
              </a:p>
            </p:txBody>
          </p:sp>
          <p:sp>
            <p:nvSpPr>
              <p:cNvPr id="465985" name="Text Box 65"/>
              <p:cNvSpPr txBox="1">
                <a:spLocks noChangeArrowheads="1"/>
              </p:cNvSpPr>
              <p:nvPr/>
            </p:nvSpPr>
            <p:spPr bwMode="auto">
              <a:xfrm>
                <a:off x="5111" y="9774"/>
                <a:ext cx="615" cy="5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>
                  <a:defRPr/>
                </a:pPr>
                <a:endParaRPr lang="en-US" altLang="zh-CN" sz="16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endParaRPr>
              </a:p>
              <a:p>
                <a:pPr algn="just">
                  <a:defRPr/>
                </a:pPr>
                <a:r>
                  <a:rPr lang="en-US" altLang="zh-CN" sz="16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0.8</a:t>
                </a:r>
              </a:p>
            </p:txBody>
          </p:sp>
          <p:sp>
            <p:nvSpPr>
              <p:cNvPr id="465986" name="Text Box 66"/>
              <p:cNvSpPr txBox="1">
                <a:spLocks noChangeArrowheads="1"/>
              </p:cNvSpPr>
              <p:nvPr/>
            </p:nvSpPr>
            <p:spPr bwMode="auto">
              <a:xfrm>
                <a:off x="7916" y="13267"/>
                <a:ext cx="616" cy="5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>
                  <a:defRPr/>
                </a:pPr>
                <a:r>
                  <a:rPr lang="en-US" altLang="zh-CN" sz="1600" b="1" i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x</a:t>
                </a:r>
                <a:endParaRPr lang="en-US" altLang="zh-CN" sz="16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endParaRPr>
              </a:p>
            </p:txBody>
          </p:sp>
          <p:sp>
            <p:nvSpPr>
              <p:cNvPr id="465987" name="Text Box 67"/>
              <p:cNvSpPr txBox="1">
                <a:spLocks noChangeArrowheads="1"/>
              </p:cNvSpPr>
              <p:nvPr/>
            </p:nvSpPr>
            <p:spPr bwMode="auto">
              <a:xfrm>
                <a:off x="4961" y="10883"/>
                <a:ext cx="615" cy="5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>
                  <a:defRPr/>
                </a:pPr>
                <a:r>
                  <a:rPr lang="en-US" altLang="zh-CN" sz="1600" b="1" i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y</a:t>
                </a:r>
                <a:endParaRPr lang="en-US" altLang="zh-CN" sz="16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endParaRPr>
              </a:p>
            </p:txBody>
          </p:sp>
          <p:sp>
            <p:nvSpPr>
              <p:cNvPr id="465988" name="Text Box 68"/>
              <p:cNvSpPr txBox="1">
                <a:spLocks noChangeArrowheads="1"/>
              </p:cNvSpPr>
              <p:nvPr/>
            </p:nvSpPr>
            <p:spPr bwMode="auto">
              <a:xfrm>
                <a:off x="6041" y="13748"/>
                <a:ext cx="3210" cy="57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r>
                  <a:rPr lang="zh-CN" altLang="en-US" sz="20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确定颜色的主波长和补色波长</a:t>
                </a:r>
              </a:p>
            </p:txBody>
          </p:sp>
          <p:sp>
            <p:nvSpPr>
              <p:cNvPr id="47175" name="Line 69"/>
              <p:cNvSpPr>
                <a:spLocks noChangeShapeType="1"/>
              </p:cNvSpPr>
              <p:nvPr/>
            </p:nvSpPr>
            <p:spPr bwMode="auto">
              <a:xfrm>
                <a:off x="5647" y="11420"/>
                <a:ext cx="2880" cy="98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5990" name="Text Box 70"/>
              <p:cNvSpPr txBox="1">
                <a:spLocks noChangeArrowheads="1"/>
              </p:cNvSpPr>
              <p:nvPr/>
            </p:nvSpPr>
            <p:spPr bwMode="auto">
              <a:xfrm>
                <a:off x="6641" y="10999"/>
                <a:ext cx="825" cy="5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>
                  <a:defRPr/>
                </a:pPr>
                <a:r>
                  <a:rPr lang="en-US" altLang="zh-CN" sz="1600" b="1" i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M</a:t>
                </a:r>
                <a:r>
                  <a:rPr lang="en-US" altLang="zh-CN" sz="16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(</a:t>
                </a:r>
                <a:r>
                  <a:rPr lang="en-US" altLang="zh-CN" sz="1600" b="1" i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x</a:t>
                </a:r>
                <a:r>
                  <a:rPr lang="en-US" altLang="zh-CN" sz="16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, </a:t>
                </a:r>
                <a:r>
                  <a:rPr lang="en-US" altLang="zh-CN" sz="1600" b="1" i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y</a:t>
                </a:r>
                <a:r>
                  <a:rPr lang="en-US" altLang="zh-CN" sz="16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)</a:t>
                </a:r>
              </a:p>
            </p:txBody>
          </p:sp>
          <p:sp>
            <p:nvSpPr>
              <p:cNvPr id="47177" name="Oval 71"/>
              <p:cNvSpPr>
                <a:spLocks noChangeArrowheads="1"/>
              </p:cNvSpPr>
              <p:nvPr/>
            </p:nvSpPr>
            <p:spPr bwMode="auto">
              <a:xfrm>
                <a:off x="7051" y="11877"/>
                <a:ext cx="71" cy="76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78" name="Oval 72"/>
              <p:cNvSpPr>
                <a:spLocks noChangeArrowheads="1"/>
              </p:cNvSpPr>
              <p:nvPr/>
            </p:nvSpPr>
            <p:spPr bwMode="auto">
              <a:xfrm>
                <a:off x="7776" y="12117"/>
                <a:ext cx="71" cy="76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5993" name="Text Box 73"/>
              <p:cNvSpPr txBox="1">
                <a:spLocks noChangeArrowheads="1"/>
              </p:cNvSpPr>
              <p:nvPr/>
            </p:nvSpPr>
            <p:spPr bwMode="auto">
              <a:xfrm>
                <a:off x="7730" y="11788"/>
                <a:ext cx="825" cy="5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>
                  <a:defRPr/>
                </a:pPr>
                <a:r>
                  <a:rPr lang="en-US" altLang="zh-CN" sz="1600" b="1" i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N</a:t>
                </a:r>
                <a:r>
                  <a:rPr lang="en-US" altLang="zh-CN" sz="16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(</a:t>
                </a:r>
                <a:r>
                  <a:rPr lang="en-US" altLang="zh-CN" sz="1600" b="1" i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x</a:t>
                </a:r>
                <a:r>
                  <a:rPr lang="en-US" altLang="zh-CN" sz="16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, </a:t>
                </a:r>
                <a:r>
                  <a:rPr lang="en-US" altLang="zh-CN" sz="1600" b="1" i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y</a:t>
                </a:r>
                <a:r>
                  <a:rPr lang="en-US" altLang="zh-CN" sz="16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)</a:t>
                </a:r>
              </a:p>
            </p:txBody>
          </p:sp>
          <p:sp>
            <p:nvSpPr>
              <p:cNvPr id="47180" name="Line 74"/>
              <p:cNvSpPr>
                <a:spLocks noChangeShapeType="1"/>
              </p:cNvSpPr>
              <p:nvPr/>
            </p:nvSpPr>
            <p:spPr bwMode="auto">
              <a:xfrm>
                <a:off x="5777" y="9620"/>
                <a:ext cx="30" cy="280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5995" name="Text Box 75"/>
              <p:cNvSpPr txBox="1">
                <a:spLocks noChangeArrowheads="1"/>
              </p:cNvSpPr>
              <p:nvPr/>
            </p:nvSpPr>
            <p:spPr bwMode="auto">
              <a:xfrm>
                <a:off x="5555" y="11153"/>
                <a:ext cx="961" cy="57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>
                  <a:defRPr/>
                </a:pPr>
                <a:r>
                  <a:rPr lang="en-US" altLang="zh-CN" sz="16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495.4</a:t>
                </a:r>
              </a:p>
            </p:txBody>
          </p:sp>
          <p:sp>
            <p:nvSpPr>
              <p:cNvPr id="465996" name="Text Box 76"/>
              <p:cNvSpPr txBox="1">
                <a:spLocks noChangeArrowheads="1"/>
              </p:cNvSpPr>
              <p:nvPr/>
            </p:nvSpPr>
            <p:spPr bwMode="auto">
              <a:xfrm>
                <a:off x="5676" y="9453"/>
                <a:ext cx="959" cy="57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>
                  <a:defRPr/>
                </a:pPr>
                <a:r>
                  <a:rPr lang="en-US" altLang="zh-CN" sz="16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519.4</a:t>
                </a:r>
              </a:p>
            </p:txBody>
          </p:sp>
        </p:grpSp>
      </p:grpSp>
    </p:spTree>
  </p:cSld>
  <p:clrMapOvr>
    <a:masterClrMapping/>
  </p:clrMapOvr>
  <p:transition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2E3FC284-F65D-4839-8CD5-3537481B5E8B}" type="datetime1">
              <a:rPr lang="zh-CN" altLang="en-US" smtClean="0">
                <a:ea typeface="宋体" charset="-122"/>
              </a:rPr>
              <a:pPr/>
              <a:t>2018/2/24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12293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3863A06-701C-4AFC-8983-88AD5D3EC2C3}" type="slidenum">
              <a:rPr lang="en-US" altLang="zh-CN" smtClean="0">
                <a:ea typeface="宋体" charset="-122"/>
              </a:rPr>
              <a:pPr/>
              <a:t>41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46694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66713" y="306388"/>
            <a:ext cx="8270875" cy="839787"/>
          </a:xfrm>
        </p:spPr>
        <p:txBody>
          <a:bodyPr/>
          <a:lstStyle/>
          <a:p>
            <a:pPr eaLnBrk="1" fontAlgn="b" hangingPunct="1">
              <a:defRPr/>
            </a:pPr>
            <a:r>
              <a:rPr lang="en-US" altLang="zh-CN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§4-2   CIE</a:t>
            </a:r>
            <a:r>
              <a:rPr lang="zh-CN" altLang="en-US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色度计算方法</a:t>
            </a:r>
          </a:p>
        </p:txBody>
      </p:sp>
      <p:sp>
        <p:nvSpPr>
          <p:cNvPr id="466947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296863" y="1349375"/>
            <a:ext cx="8550275" cy="989013"/>
          </a:xfrm>
        </p:spPr>
        <p:txBody>
          <a:bodyPr/>
          <a:lstStyle/>
          <a:p>
            <a:pPr algn="just" eaLnBrk="1" hangingPunct="1">
              <a:buFont typeface="Wingdings" pitchFamily="2" charset="2"/>
              <a:buNone/>
              <a:defRPr/>
            </a:pPr>
            <a:r>
              <a:rPr lang="en-US" altLang="zh-CN" smtClean="0">
                <a:latin typeface="Times New Roman" pitchFamily="18" charset="0"/>
                <a:ea typeface="黑体" pitchFamily="2" charset="-122"/>
              </a:rPr>
              <a:t>3  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主波长和色纯度计算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②色纯度</a:t>
            </a:r>
          </a:p>
          <a:p>
            <a:pPr eaLnBrk="1" hangingPunct="1">
              <a:defRPr/>
            </a:pP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色纯度是指样品颜色同主波长光谱色接近的程度，色纯度有兴奋纯度和亮度纯度两种。</a:t>
            </a:r>
          </a:p>
        </p:txBody>
      </p:sp>
      <p:sp>
        <p:nvSpPr>
          <p:cNvPr id="12296" name="Rectangle 4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2297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2298" name="Rectangle 6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2299" name="Rectangle 7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2300" name="Rectangle 8"/>
          <p:cNvSpPr>
            <a:spLocks noChangeArrowheads="1"/>
          </p:cNvSpPr>
          <p:nvPr/>
        </p:nvSpPr>
        <p:spPr bwMode="auto">
          <a:xfrm>
            <a:off x="0" y="30718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2301" name="Rectangle 9"/>
          <p:cNvSpPr>
            <a:spLocks noChangeArrowheads="1"/>
          </p:cNvSpPr>
          <p:nvPr/>
        </p:nvSpPr>
        <p:spPr bwMode="auto">
          <a:xfrm>
            <a:off x="0" y="32194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2302" name="Rectangle 10"/>
          <p:cNvSpPr>
            <a:spLocks noChangeArrowheads="1"/>
          </p:cNvSpPr>
          <p:nvPr/>
        </p:nvSpPr>
        <p:spPr bwMode="auto">
          <a:xfrm>
            <a:off x="4400550" y="3170238"/>
            <a:ext cx="3429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1000" u="sng">
                <a:latin typeface="Times New Roman" pitchFamily="18" charset="0"/>
                <a:cs typeface="Times New Roman" pitchFamily="18" charset="0"/>
              </a:rPr>
              <a:t>     </a:t>
            </a:r>
            <a:endParaRPr lang="en-US" altLang="zh-CN" sz="1100"/>
          </a:p>
          <a:p>
            <a:pPr eaLnBrk="0" hangingPunct="0"/>
            <a:endParaRPr lang="en-US" altLang="zh-CN"/>
          </a:p>
        </p:txBody>
      </p:sp>
      <p:sp>
        <p:nvSpPr>
          <p:cNvPr id="12303" name="Rectangle 11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873125" y="3214688"/>
            <a:ext cx="4956175" cy="688975"/>
            <a:chOff x="550" y="2025"/>
            <a:chExt cx="3122" cy="434"/>
          </a:xfrm>
        </p:grpSpPr>
        <p:sp>
          <p:nvSpPr>
            <p:cNvPr id="466957" name="Rectangle 13"/>
            <p:cNvSpPr>
              <a:spLocks noChangeArrowheads="1"/>
            </p:cNvSpPr>
            <p:nvPr/>
          </p:nvSpPr>
          <p:spPr bwMode="auto">
            <a:xfrm>
              <a:off x="550" y="2070"/>
              <a:ext cx="88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>
                <a:buFont typeface="Wingdings" pitchFamily="2" charset="2"/>
                <a:buNone/>
                <a:defRPr/>
              </a:pPr>
              <a:r>
                <a:rPr lang="zh-CN" altLang="en-US" sz="24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Verdana" pitchFamily="34" charset="0"/>
                  <a:ea typeface="黑体" pitchFamily="2" charset="-122"/>
                </a:rPr>
                <a:t>兴奋纯度</a:t>
              </a:r>
            </a:p>
          </p:txBody>
        </p:sp>
        <p:graphicFrame>
          <p:nvGraphicFramePr>
            <p:cNvPr id="12291" name="Object 14"/>
            <p:cNvGraphicFramePr>
              <a:graphicFrameLocks noChangeAspect="1"/>
            </p:cNvGraphicFramePr>
            <p:nvPr/>
          </p:nvGraphicFramePr>
          <p:xfrm>
            <a:off x="1820" y="2025"/>
            <a:ext cx="1852" cy="434"/>
          </p:xfrm>
          <a:graphic>
            <a:graphicData uri="http://schemas.openxmlformats.org/presentationml/2006/ole">
              <p:oleObj spid="_x0000_s12291" name="公式" r:id="rId3" imgW="1828800" imgH="431800" progId="Equation.3">
                <p:embed/>
              </p:oleObj>
            </a:graphicData>
          </a:graphic>
        </p:graphicFrame>
      </p:grpSp>
      <p:sp>
        <p:nvSpPr>
          <p:cNvPr id="466959" name="AutoShape 15"/>
          <p:cNvSpPr>
            <a:spLocks noChangeArrowheads="1"/>
          </p:cNvSpPr>
          <p:nvPr/>
        </p:nvSpPr>
        <p:spPr bwMode="auto">
          <a:xfrm>
            <a:off x="5676900" y="1568450"/>
            <a:ext cx="3178175" cy="1712913"/>
          </a:xfrm>
          <a:prstGeom prst="wedgeEllipseCallout">
            <a:avLst>
              <a:gd name="adj1" fmla="val -44306"/>
              <a:gd name="adj2" fmla="val 6640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 sz="2400" b="1">
                <a:latin typeface="Times New Roman" pitchFamily="18" charset="0"/>
                <a:ea typeface="黑体" pitchFamily="2" charset="-122"/>
              </a:rPr>
              <a:t>兴奋纯度与前述的</a:t>
            </a:r>
            <a:r>
              <a:rPr lang="zh-CN" altLang="en-US" sz="2400" b="1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彩度</a:t>
            </a:r>
            <a:r>
              <a:rPr lang="zh-CN" altLang="en-US" sz="2400" b="1">
                <a:latin typeface="Times New Roman" pitchFamily="18" charset="0"/>
                <a:ea typeface="黑体" pitchFamily="2" charset="-122"/>
              </a:rPr>
              <a:t>含义相同。</a:t>
            </a:r>
            <a:r>
              <a:rPr lang="zh-CN" altLang="en-US" b="1">
                <a:latin typeface="Times New Roman" pitchFamily="18" charset="0"/>
                <a:ea typeface="黑体" pitchFamily="2" charset="-122"/>
              </a:rPr>
              <a:t> </a:t>
            </a:r>
          </a:p>
        </p:txBody>
      </p:sp>
      <p:sp>
        <p:nvSpPr>
          <p:cNvPr id="466960" name="AutoShape 16"/>
          <p:cNvSpPr>
            <a:spLocks noChangeArrowheads="1"/>
          </p:cNvSpPr>
          <p:nvPr/>
        </p:nvSpPr>
        <p:spPr bwMode="auto">
          <a:xfrm>
            <a:off x="5892800" y="4165600"/>
            <a:ext cx="3005138" cy="2308225"/>
          </a:xfrm>
          <a:prstGeom prst="wedgeEllipseCallout">
            <a:avLst>
              <a:gd name="adj1" fmla="val -88194"/>
              <a:gd name="adj2" fmla="val -3246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r>
              <a:rPr lang="zh-CN" altLang="en-US" sz="2400" b="1">
                <a:effectLst>
                  <a:outerShdw blurRad="38100" dist="38100" dir="2700000" algn="tl">
                    <a:srgbClr val="FFFFFF"/>
                  </a:outerShdw>
                </a:effectLst>
                <a:ea typeface="黑体" pitchFamily="2" charset="-122"/>
              </a:rPr>
              <a:t>它表明主波长的光谱色在样品颜色中所占亮度比重</a:t>
            </a:r>
          </a:p>
          <a:p>
            <a:pPr algn="ctr">
              <a:defRPr/>
            </a:pPr>
            <a:endParaRPr lang="en-US" altLang="zh-CN" sz="2400" b="1">
              <a:effectLst>
                <a:outerShdw blurRad="38100" dist="38100" dir="2700000" algn="tl">
                  <a:srgbClr val="FFFFFF"/>
                </a:outerShdw>
              </a:effectLst>
              <a:ea typeface="黑体" pitchFamily="2" charset="-122"/>
            </a:endParaRPr>
          </a:p>
        </p:txBody>
      </p:sp>
      <p:sp>
        <p:nvSpPr>
          <p:cNvPr id="12307" name="Rectangle 17"/>
          <p:cNvSpPr>
            <a:spLocks noChangeArrowheads="1"/>
          </p:cNvSpPr>
          <p:nvPr/>
        </p:nvSpPr>
        <p:spPr bwMode="auto">
          <a:xfrm>
            <a:off x="0" y="32194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3" name="Group 18"/>
          <p:cNvGrpSpPr>
            <a:grpSpLocks/>
          </p:cNvGrpSpPr>
          <p:nvPr/>
        </p:nvGrpSpPr>
        <p:grpSpPr bwMode="auto">
          <a:xfrm>
            <a:off x="552450" y="4324350"/>
            <a:ext cx="4762500" cy="754063"/>
            <a:chOff x="716" y="2704"/>
            <a:chExt cx="3000" cy="475"/>
          </a:xfrm>
        </p:grpSpPr>
        <p:sp>
          <p:nvSpPr>
            <p:cNvPr id="466963" name="Rectangle 19"/>
            <p:cNvSpPr>
              <a:spLocks noChangeArrowheads="1"/>
            </p:cNvSpPr>
            <p:nvPr/>
          </p:nvSpPr>
          <p:spPr bwMode="auto">
            <a:xfrm>
              <a:off x="716" y="2739"/>
              <a:ext cx="105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indent="258763">
                <a:defRPr/>
              </a:pPr>
              <a:r>
                <a:rPr lang="zh-CN" altLang="en-US" sz="24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Verdana" pitchFamily="34" charset="0"/>
                  <a:ea typeface="黑体" pitchFamily="2" charset="-122"/>
                </a:rPr>
                <a:t>亮度纯度</a:t>
              </a:r>
            </a:p>
          </p:txBody>
        </p:sp>
        <p:graphicFrame>
          <p:nvGraphicFramePr>
            <p:cNvPr id="12290" name="Object 20"/>
            <p:cNvGraphicFramePr>
              <a:graphicFrameLocks noChangeAspect="1"/>
            </p:cNvGraphicFramePr>
            <p:nvPr/>
          </p:nvGraphicFramePr>
          <p:xfrm>
            <a:off x="2625" y="2704"/>
            <a:ext cx="1091" cy="475"/>
          </p:xfrm>
          <a:graphic>
            <a:graphicData uri="http://schemas.openxmlformats.org/presentationml/2006/ole">
              <p:oleObj spid="_x0000_s12290" name="公式" r:id="rId4" imgW="965200" imgH="419100" progId="Equation.3">
                <p:embed/>
              </p:oleObj>
            </a:graphicData>
          </a:graphic>
        </p:graphicFrame>
      </p:grpSp>
    </p:spTree>
  </p:cSld>
  <p:clrMapOvr>
    <a:masterClrMapping/>
  </p:clrMapOvr>
  <p:transition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669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669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669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669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6959" grpId="0" animBg="1"/>
      <p:bldP spid="466960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A48202D8-06F7-4170-B985-D7C9B0AB9BE7}" type="datetime1">
              <a:rPr lang="zh-CN" altLang="en-US" smtClean="0">
                <a:ea typeface="宋体" charset="-122"/>
              </a:rPr>
              <a:pPr/>
              <a:t>2018/2/24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48131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FB2C3C9-ABD8-423D-A8B9-01ECE9B8689E}" type="slidenum">
              <a:rPr lang="en-US" altLang="zh-CN" smtClean="0">
                <a:ea typeface="宋体" charset="-122"/>
              </a:rPr>
              <a:pPr/>
              <a:t>42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46797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84188" y="3136900"/>
            <a:ext cx="8270875" cy="839788"/>
          </a:xfrm>
        </p:spPr>
        <p:txBody>
          <a:bodyPr/>
          <a:lstStyle/>
          <a:p>
            <a:pPr eaLnBrk="1" fontAlgn="b" hangingPunct="1">
              <a:defRPr/>
            </a:pPr>
            <a:r>
              <a:rPr lang="en-US" altLang="zh-CN" sz="40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§4-3  </a:t>
            </a:r>
            <a:r>
              <a:rPr lang="zh-CN" altLang="en-US" sz="40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色度的测试方法和应用</a:t>
            </a:r>
          </a:p>
        </p:txBody>
      </p:sp>
    </p:spTree>
  </p:cSld>
  <p:clrMapOvr>
    <a:masterClrMapping/>
  </p:clrMapOvr>
  <p:transition>
    <p:circle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042881EB-8C91-4E26-AC82-D33AB7D90BD8}" type="datetime1">
              <a:rPr lang="zh-CN" altLang="en-US" smtClean="0">
                <a:ea typeface="宋体" charset="-122"/>
              </a:rPr>
              <a:pPr/>
              <a:t>2018/2/24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49155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46D9B79-C653-496C-B284-9B1C9FCD161F}" type="slidenum">
              <a:rPr lang="en-US" altLang="zh-CN" smtClean="0">
                <a:ea typeface="宋体" charset="-122"/>
              </a:rPr>
              <a:pPr/>
              <a:t>43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46899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66713" y="306388"/>
            <a:ext cx="8270875" cy="839787"/>
          </a:xfrm>
        </p:spPr>
        <p:txBody>
          <a:bodyPr/>
          <a:lstStyle/>
          <a:p>
            <a:pPr eaLnBrk="1" fontAlgn="b" hangingPunct="1">
              <a:defRPr/>
            </a:pPr>
            <a:r>
              <a:rPr lang="en-US" altLang="zh-CN" sz="40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§4-3  </a:t>
            </a:r>
            <a:r>
              <a:rPr lang="zh-CN" altLang="en-US" sz="40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色度的测试方法和应用</a:t>
            </a:r>
          </a:p>
        </p:txBody>
      </p:sp>
      <p:sp>
        <p:nvSpPr>
          <p:cNvPr id="468995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296863" y="1349375"/>
            <a:ext cx="8550275" cy="519747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mtClean="0">
                <a:latin typeface="Times New Roman" pitchFamily="18" charset="0"/>
                <a:ea typeface="黑体" pitchFamily="2" charset="-122"/>
              </a:rPr>
              <a:t>1  </a:t>
            </a:r>
            <a:r>
              <a:rPr lang="zh-CN" altLang="en-US" smtClean="0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积分球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及其应用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在色度与光度测量装置中广泛使用积分球部件。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结构特点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积分球是一个中空的金属球体；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球壁上开有一个或几个窗孔，用于进光和放置光接收器件；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球内壁上应涂以理想的漫反射材料，也就是漫反射系数接近</a:t>
            </a:r>
            <a:r>
              <a:rPr lang="en-US" altLang="zh-CN" smtClean="0">
                <a:latin typeface="Times New Roman" pitchFamily="18" charset="0"/>
                <a:ea typeface="黑体" pitchFamily="2" charset="-122"/>
              </a:rPr>
              <a:t>1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的材料。常用的材料是氧化镁（或硫酸钡）。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性能特点与要求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smtClean="0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可以证明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，进入积分球的光经过吸收很小的内壁涂层的多次反射，最后可达到内壁上具有均匀分布的照度。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该照度较入射光通量除以球内壁面积的照度值大得多（可提高信噪比）。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积分球上的总开孔面积应尽可能小，把积分球的直径做得比较大。</a:t>
            </a:r>
          </a:p>
        </p:txBody>
      </p:sp>
      <p:pic>
        <p:nvPicPr>
          <p:cNvPr id="63497" name="Picture 9" descr="http://www.dghenghe.com/upload/other/20110620102138120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96988" y="606425"/>
            <a:ext cx="6381750" cy="5862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4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F5611349-B050-4606-A238-0E1AD7BF2F03}" type="datetime1">
              <a:rPr lang="zh-CN" altLang="en-US" smtClean="0">
                <a:ea typeface="宋体" charset="-122"/>
              </a:rPr>
              <a:pPr/>
              <a:t>2018/2/24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50179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C187CA2-EC7B-43E7-8D2F-AF3BD6598338}" type="slidenum">
              <a:rPr lang="en-US" altLang="zh-CN" smtClean="0">
                <a:ea typeface="宋体" charset="-122"/>
              </a:rPr>
              <a:pPr/>
              <a:t>44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47001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66713" y="306388"/>
            <a:ext cx="8270875" cy="839787"/>
          </a:xfrm>
        </p:spPr>
        <p:txBody>
          <a:bodyPr/>
          <a:lstStyle/>
          <a:p>
            <a:pPr eaLnBrk="1" fontAlgn="b" hangingPunct="1">
              <a:defRPr/>
            </a:pPr>
            <a:r>
              <a:rPr lang="en-US" altLang="zh-CN" sz="40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§4-3  </a:t>
            </a:r>
            <a:r>
              <a:rPr lang="zh-CN" altLang="en-US" sz="40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色度的测试方法和应用</a:t>
            </a:r>
          </a:p>
        </p:txBody>
      </p:sp>
      <p:sp>
        <p:nvSpPr>
          <p:cNvPr id="470019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296863" y="1349375"/>
            <a:ext cx="8550275" cy="4805363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mtClean="0">
                <a:latin typeface="Times New Roman" pitchFamily="18" charset="0"/>
                <a:ea typeface="黑体" pitchFamily="2" charset="-122"/>
              </a:rPr>
              <a:t>1  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积分球及其应用</a:t>
            </a:r>
          </a:p>
          <a:p>
            <a:pPr eaLnBrk="1" hangingPunct="1">
              <a:defRPr/>
            </a:pPr>
            <a:r>
              <a:rPr lang="zh-CN" altLang="en-US" smtClean="0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用途：</a:t>
            </a:r>
          </a:p>
        </p:txBody>
      </p:sp>
      <p:sp>
        <p:nvSpPr>
          <p:cNvPr id="50182" name="Rectangle 4"/>
          <p:cNvSpPr>
            <a:spLocks noChangeArrowheads="1"/>
          </p:cNvSpPr>
          <p:nvPr/>
        </p:nvSpPr>
        <p:spPr bwMode="auto">
          <a:xfrm>
            <a:off x="638175" y="2424113"/>
            <a:ext cx="7983538" cy="39036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50183" name="Oval 5"/>
          <p:cNvSpPr>
            <a:spLocks noChangeArrowheads="1"/>
          </p:cNvSpPr>
          <p:nvPr/>
        </p:nvSpPr>
        <p:spPr bwMode="auto">
          <a:xfrm>
            <a:off x="1166813" y="3109913"/>
            <a:ext cx="1255712" cy="1255712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184" name="Rectangle 6"/>
          <p:cNvSpPr>
            <a:spLocks noChangeArrowheads="1"/>
          </p:cNvSpPr>
          <p:nvPr/>
        </p:nvSpPr>
        <p:spPr bwMode="auto">
          <a:xfrm>
            <a:off x="1066800" y="3735388"/>
            <a:ext cx="358775" cy="15240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185" name="Line 7"/>
          <p:cNvSpPr>
            <a:spLocks noChangeShapeType="1"/>
          </p:cNvSpPr>
          <p:nvPr/>
        </p:nvSpPr>
        <p:spPr bwMode="auto">
          <a:xfrm>
            <a:off x="1047750" y="3735388"/>
            <a:ext cx="1587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186" name="Line 8"/>
          <p:cNvSpPr>
            <a:spLocks noChangeShapeType="1"/>
          </p:cNvSpPr>
          <p:nvPr/>
        </p:nvSpPr>
        <p:spPr bwMode="auto">
          <a:xfrm>
            <a:off x="1047750" y="3875088"/>
            <a:ext cx="1587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187" name="Line 9"/>
          <p:cNvSpPr>
            <a:spLocks noChangeShapeType="1"/>
          </p:cNvSpPr>
          <p:nvPr/>
        </p:nvSpPr>
        <p:spPr bwMode="auto">
          <a:xfrm flipH="1" flipV="1">
            <a:off x="2243138" y="3656013"/>
            <a:ext cx="160337" cy="1397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stealth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188" name="Line 10"/>
          <p:cNvSpPr>
            <a:spLocks noChangeShapeType="1"/>
          </p:cNvSpPr>
          <p:nvPr/>
        </p:nvSpPr>
        <p:spPr bwMode="auto">
          <a:xfrm flipH="1">
            <a:off x="2206625" y="3838575"/>
            <a:ext cx="219075" cy="1206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stealth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189" name="Rectangle 11"/>
          <p:cNvSpPr>
            <a:spLocks noChangeArrowheads="1"/>
          </p:cNvSpPr>
          <p:nvPr/>
        </p:nvSpPr>
        <p:spPr bwMode="auto">
          <a:xfrm rot="-2664354">
            <a:off x="1227138" y="3233738"/>
            <a:ext cx="258762" cy="603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190" name="Line 12"/>
          <p:cNvSpPr>
            <a:spLocks noChangeShapeType="1"/>
          </p:cNvSpPr>
          <p:nvPr/>
        </p:nvSpPr>
        <p:spPr bwMode="auto">
          <a:xfrm flipH="1" flipV="1">
            <a:off x="1266825" y="3094038"/>
            <a:ext cx="100013" cy="1000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191" name="Line 13"/>
          <p:cNvSpPr>
            <a:spLocks noChangeShapeType="1"/>
          </p:cNvSpPr>
          <p:nvPr/>
        </p:nvSpPr>
        <p:spPr bwMode="auto">
          <a:xfrm flipH="1" flipV="1">
            <a:off x="1206500" y="3194050"/>
            <a:ext cx="100013" cy="587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192" name="Text Box 14"/>
          <p:cNvSpPr txBox="1">
            <a:spLocks noChangeArrowheads="1"/>
          </p:cNvSpPr>
          <p:nvPr/>
        </p:nvSpPr>
        <p:spPr bwMode="auto">
          <a:xfrm>
            <a:off x="1485900" y="2695575"/>
            <a:ext cx="528638" cy="468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lnSpc>
                <a:spcPct val="56000"/>
              </a:lnSpc>
              <a:spcBef>
                <a:spcPts val="500"/>
              </a:spcBef>
            </a:pPr>
            <a:r>
              <a:rPr lang="en-US" altLang="zh-CN" sz="2000">
                <a:latin typeface="Times New Roman" pitchFamily="18" charset="0"/>
              </a:rPr>
              <a:t>1</a:t>
            </a:r>
            <a:endParaRPr lang="en-US" altLang="zh-CN" sz="2000"/>
          </a:p>
        </p:txBody>
      </p:sp>
      <p:sp>
        <p:nvSpPr>
          <p:cNvPr id="50193" name="Line 15"/>
          <p:cNvSpPr>
            <a:spLocks noChangeShapeType="1"/>
          </p:cNvSpPr>
          <p:nvPr/>
        </p:nvSpPr>
        <p:spPr bwMode="auto">
          <a:xfrm flipV="1">
            <a:off x="1406525" y="2974975"/>
            <a:ext cx="179388" cy="258763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194" name="Oval 16"/>
          <p:cNvSpPr>
            <a:spLocks noChangeArrowheads="1"/>
          </p:cNvSpPr>
          <p:nvPr/>
        </p:nvSpPr>
        <p:spPr bwMode="auto">
          <a:xfrm>
            <a:off x="3300413" y="3186113"/>
            <a:ext cx="1255712" cy="1255712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195" name="Rectangle 17"/>
          <p:cNvSpPr>
            <a:spLocks noChangeArrowheads="1"/>
          </p:cNvSpPr>
          <p:nvPr/>
        </p:nvSpPr>
        <p:spPr bwMode="auto">
          <a:xfrm rot="-2674723">
            <a:off x="4256088" y="3149600"/>
            <a:ext cx="358775" cy="2000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196" name="Rectangle 18"/>
          <p:cNvSpPr>
            <a:spLocks noChangeArrowheads="1"/>
          </p:cNvSpPr>
          <p:nvPr/>
        </p:nvSpPr>
        <p:spPr bwMode="auto">
          <a:xfrm rot="2270184">
            <a:off x="4337050" y="4146550"/>
            <a:ext cx="358775" cy="2000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197" name="Rectangle 19"/>
          <p:cNvSpPr>
            <a:spLocks noChangeArrowheads="1"/>
          </p:cNvSpPr>
          <p:nvPr/>
        </p:nvSpPr>
        <p:spPr bwMode="auto">
          <a:xfrm rot="-3115800">
            <a:off x="4206876" y="3298825"/>
            <a:ext cx="139700" cy="20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198" name="Rectangle 20"/>
          <p:cNvSpPr>
            <a:spLocks noChangeArrowheads="1"/>
          </p:cNvSpPr>
          <p:nvPr/>
        </p:nvSpPr>
        <p:spPr bwMode="auto">
          <a:xfrm rot="-8331980">
            <a:off x="4295775" y="4027488"/>
            <a:ext cx="139700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199" name="Oval 21"/>
          <p:cNvSpPr>
            <a:spLocks noChangeArrowheads="1"/>
          </p:cNvSpPr>
          <p:nvPr/>
        </p:nvSpPr>
        <p:spPr bwMode="auto">
          <a:xfrm>
            <a:off x="4435475" y="3149600"/>
            <a:ext cx="100013" cy="100013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200" name="Oval 22"/>
          <p:cNvSpPr>
            <a:spLocks noChangeArrowheads="1"/>
          </p:cNvSpPr>
          <p:nvPr/>
        </p:nvSpPr>
        <p:spPr bwMode="auto">
          <a:xfrm>
            <a:off x="4516438" y="4225925"/>
            <a:ext cx="98425" cy="100013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201" name="Freeform 23"/>
          <p:cNvSpPr>
            <a:spLocks/>
          </p:cNvSpPr>
          <p:nvPr/>
        </p:nvSpPr>
        <p:spPr bwMode="auto">
          <a:xfrm>
            <a:off x="4495800" y="2968625"/>
            <a:ext cx="376238" cy="225425"/>
          </a:xfrm>
          <a:custGeom>
            <a:avLst/>
            <a:gdLst>
              <a:gd name="T0" fmla="*/ 0 w 377"/>
              <a:gd name="T1" fmla="*/ 223860930 h 227"/>
              <a:gd name="T2" fmla="*/ 149394443 w 377"/>
              <a:gd name="T3" fmla="*/ 179483002 h 227"/>
              <a:gd name="T4" fmla="*/ 375477543 w 377"/>
              <a:gd name="T5" fmla="*/ 0 h 227"/>
              <a:gd name="T6" fmla="*/ 0 60000 65536"/>
              <a:gd name="T7" fmla="*/ 0 60000 65536"/>
              <a:gd name="T8" fmla="*/ 0 60000 65536"/>
              <a:gd name="T9" fmla="*/ 0 w 377"/>
              <a:gd name="T10" fmla="*/ 0 h 227"/>
              <a:gd name="T11" fmla="*/ 377 w 377"/>
              <a:gd name="T12" fmla="*/ 227 h 22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77" h="227">
                <a:moveTo>
                  <a:pt x="0" y="227"/>
                </a:moveTo>
                <a:cubicBezTo>
                  <a:pt x="110" y="190"/>
                  <a:pt x="59" y="205"/>
                  <a:pt x="150" y="182"/>
                </a:cubicBezTo>
                <a:cubicBezTo>
                  <a:pt x="213" y="144"/>
                  <a:pt x="339" y="30"/>
                  <a:pt x="377" y="0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202" name="Freeform 24"/>
          <p:cNvSpPr>
            <a:spLocks/>
          </p:cNvSpPr>
          <p:nvPr/>
        </p:nvSpPr>
        <p:spPr bwMode="auto">
          <a:xfrm>
            <a:off x="4510088" y="2895600"/>
            <a:ext cx="330200" cy="284163"/>
          </a:xfrm>
          <a:custGeom>
            <a:avLst/>
            <a:gdLst>
              <a:gd name="T0" fmla="*/ 0 w 330"/>
              <a:gd name="T1" fmla="*/ 283328461 h 285"/>
              <a:gd name="T2" fmla="*/ 15018095 w 330"/>
              <a:gd name="T3" fmla="*/ 238592188 h 285"/>
              <a:gd name="T4" fmla="*/ 330400124 w 330"/>
              <a:gd name="T5" fmla="*/ 0 h 285"/>
              <a:gd name="T6" fmla="*/ 0 60000 65536"/>
              <a:gd name="T7" fmla="*/ 0 60000 65536"/>
              <a:gd name="T8" fmla="*/ 0 60000 65536"/>
              <a:gd name="T9" fmla="*/ 0 w 330"/>
              <a:gd name="T10" fmla="*/ 0 h 285"/>
              <a:gd name="T11" fmla="*/ 330 w 330"/>
              <a:gd name="T12" fmla="*/ 285 h 28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30" h="285">
                <a:moveTo>
                  <a:pt x="0" y="285"/>
                </a:moveTo>
                <a:cubicBezTo>
                  <a:pt x="5" y="270"/>
                  <a:pt x="4" y="251"/>
                  <a:pt x="15" y="240"/>
                </a:cubicBezTo>
                <a:cubicBezTo>
                  <a:pt x="70" y="193"/>
                  <a:pt x="278" y="40"/>
                  <a:pt x="330" y="0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203" name="Freeform 25"/>
          <p:cNvSpPr>
            <a:spLocks/>
          </p:cNvSpPr>
          <p:nvPr/>
        </p:nvSpPr>
        <p:spPr bwMode="auto">
          <a:xfrm>
            <a:off x="4570413" y="4271963"/>
            <a:ext cx="250825" cy="211137"/>
          </a:xfrm>
          <a:custGeom>
            <a:avLst/>
            <a:gdLst>
              <a:gd name="T0" fmla="*/ 0 w 252"/>
              <a:gd name="T1" fmla="*/ 0 h 213"/>
              <a:gd name="T2" fmla="*/ 91144041 w 252"/>
              <a:gd name="T3" fmla="*/ 130683915 h 213"/>
              <a:gd name="T4" fmla="*/ 249655480 w 252"/>
              <a:gd name="T5" fmla="*/ 209290297 h 213"/>
              <a:gd name="T6" fmla="*/ 0 60000 65536"/>
              <a:gd name="T7" fmla="*/ 0 60000 65536"/>
              <a:gd name="T8" fmla="*/ 0 60000 65536"/>
              <a:gd name="T9" fmla="*/ 0 w 252"/>
              <a:gd name="T10" fmla="*/ 0 h 213"/>
              <a:gd name="T11" fmla="*/ 252 w 252"/>
              <a:gd name="T12" fmla="*/ 213 h 21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52" h="213">
                <a:moveTo>
                  <a:pt x="0" y="0"/>
                </a:moveTo>
                <a:cubicBezTo>
                  <a:pt x="5" y="30"/>
                  <a:pt x="72" y="110"/>
                  <a:pt x="92" y="133"/>
                </a:cubicBezTo>
                <a:cubicBezTo>
                  <a:pt x="120" y="171"/>
                  <a:pt x="212" y="183"/>
                  <a:pt x="252" y="213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204" name="Freeform 26"/>
          <p:cNvSpPr>
            <a:spLocks/>
          </p:cNvSpPr>
          <p:nvPr/>
        </p:nvSpPr>
        <p:spPr bwMode="auto">
          <a:xfrm>
            <a:off x="4570413" y="4271963"/>
            <a:ext cx="301625" cy="163512"/>
          </a:xfrm>
          <a:custGeom>
            <a:avLst/>
            <a:gdLst>
              <a:gd name="T0" fmla="*/ 0 w 302"/>
              <a:gd name="T1" fmla="*/ 0 h 165"/>
              <a:gd name="T2" fmla="*/ 164590366 w 302"/>
              <a:gd name="T3" fmla="*/ 103114624 h 165"/>
              <a:gd name="T4" fmla="*/ 301250469 w 302"/>
              <a:gd name="T5" fmla="*/ 160073296 h 165"/>
              <a:gd name="T6" fmla="*/ 0 60000 65536"/>
              <a:gd name="T7" fmla="*/ 0 60000 65536"/>
              <a:gd name="T8" fmla="*/ 0 60000 65536"/>
              <a:gd name="T9" fmla="*/ 0 w 302"/>
              <a:gd name="T10" fmla="*/ 0 h 165"/>
              <a:gd name="T11" fmla="*/ 302 w 302"/>
              <a:gd name="T12" fmla="*/ 165 h 16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02" h="165">
                <a:moveTo>
                  <a:pt x="0" y="0"/>
                </a:moveTo>
                <a:cubicBezTo>
                  <a:pt x="28" y="17"/>
                  <a:pt x="123" y="68"/>
                  <a:pt x="165" y="105"/>
                </a:cubicBezTo>
                <a:cubicBezTo>
                  <a:pt x="222" y="121"/>
                  <a:pt x="265" y="165"/>
                  <a:pt x="302" y="163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205" name="Rectangle 27"/>
          <p:cNvSpPr>
            <a:spLocks noChangeArrowheads="1"/>
          </p:cNvSpPr>
          <p:nvPr/>
        </p:nvSpPr>
        <p:spPr bwMode="auto">
          <a:xfrm>
            <a:off x="4475163" y="3744913"/>
            <a:ext cx="239712" cy="160337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206" name="Line 28"/>
          <p:cNvSpPr>
            <a:spLocks noChangeShapeType="1"/>
          </p:cNvSpPr>
          <p:nvPr/>
        </p:nvSpPr>
        <p:spPr bwMode="auto">
          <a:xfrm>
            <a:off x="4556125" y="3732213"/>
            <a:ext cx="793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207" name="Line 29"/>
          <p:cNvSpPr>
            <a:spLocks noChangeShapeType="1"/>
          </p:cNvSpPr>
          <p:nvPr/>
        </p:nvSpPr>
        <p:spPr bwMode="auto">
          <a:xfrm>
            <a:off x="4556125" y="3890963"/>
            <a:ext cx="793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208" name="Text Box 30"/>
          <p:cNvSpPr txBox="1">
            <a:spLocks noChangeArrowheads="1"/>
          </p:cNvSpPr>
          <p:nvPr/>
        </p:nvSpPr>
        <p:spPr bwMode="auto">
          <a:xfrm>
            <a:off x="3957638" y="2455863"/>
            <a:ext cx="379412" cy="4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/>
            <a:r>
              <a:rPr lang="en-US" altLang="zh-CN" sz="2000">
                <a:latin typeface="Times New Roman" pitchFamily="18" charset="0"/>
              </a:rPr>
              <a:t>2</a:t>
            </a:r>
            <a:endParaRPr lang="en-US" altLang="zh-CN" sz="2000"/>
          </a:p>
        </p:txBody>
      </p:sp>
      <p:sp>
        <p:nvSpPr>
          <p:cNvPr id="50209" name="Line 31"/>
          <p:cNvSpPr>
            <a:spLocks noChangeShapeType="1"/>
          </p:cNvSpPr>
          <p:nvPr/>
        </p:nvSpPr>
        <p:spPr bwMode="auto">
          <a:xfrm flipH="1" flipV="1">
            <a:off x="4216400" y="2774950"/>
            <a:ext cx="239713" cy="358775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210" name="Oval 32"/>
          <p:cNvSpPr>
            <a:spLocks noChangeArrowheads="1"/>
          </p:cNvSpPr>
          <p:nvPr/>
        </p:nvSpPr>
        <p:spPr bwMode="auto">
          <a:xfrm>
            <a:off x="5911850" y="3684588"/>
            <a:ext cx="1016000" cy="1076325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211" name="Oval 33"/>
          <p:cNvSpPr>
            <a:spLocks noChangeArrowheads="1"/>
          </p:cNvSpPr>
          <p:nvPr/>
        </p:nvSpPr>
        <p:spPr bwMode="auto">
          <a:xfrm>
            <a:off x="5832475" y="3843338"/>
            <a:ext cx="1016000" cy="877887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212" name="Line 34"/>
          <p:cNvSpPr>
            <a:spLocks noChangeShapeType="1"/>
          </p:cNvSpPr>
          <p:nvPr/>
        </p:nvSpPr>
        <p:spPr bwMode="auto">
          <a:xfrm>
            <a:off x="6350000" y="3684588"/>
            <a:ext cx="0" cy="1587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213" name="Rectangle 35"/>
          <p:cNvSpPr>
            <a:spLocks noChangeArrowheads="1"/>
          </p:cNvSpPr>
          <p:nvPr/>
        </p:nvSpPr>
        <p:spPr bwMode="auto">
          <a:xfrm>
            <a:off x="6370638" y="3524250"/>
            <a:ext cx="657225" cy="141605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214" name="Rectangle 36"/>
          <p:cNvSpPr>
            <a:spLocks noChangeArrowheads="1"/>
          </p:cNvSpPr>
          <p:nvPr/>
        </p:nvSpPr>
        <p:spPr bwMode="auto">
          <a:xfrm>
            <a:off x="5632450" y="4003675"/>
            <a:ext cx="936625" cy="776288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215" name="Rectangle 37"/>
          <p:cNvSpPr>
            <a:spLocks noChangeArrowheads="1"/>
          </p:cNvSpPr>
          <p:nvPr/>
        </p:nvSpPr>
        <p:spPr bwMode="auto">
          <a:xfrm>
            <a:off x="6450013" y="3643313"/>
            <a:ext cx="79375" cy="2397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216" name="Rectangle 38"/>
          <p:cNvSpPr>
            <a:spLocks noChangeArrowheads="1"/>
          </p:cNvSpPr>
          <p:nvPr/>
        </p:nvSpPr>
        <p:spPr bwMode="auto">
          <a:xfrm>
            <a:off x="6350000" y="3663950"/>
            <a:ext cx="100013" cy="2000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217" name="Oval 39"/>
          <p:cNvSpPr>
            <a:spLocks noChangeArrowheads="1"/>
          </p:cNvSpPr>
          <p:nvPr/>
        </p:nvSpPr>
        <p:spPr bwMode="auto">
          <a:xfrm>
            <a:off x="6529388" y="3130550"/>
            <a:ext cx="1255712" cy="1255713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218" name="Rectangle 40"/>
          <p:cNvSpPr>
            <a:spLocks noChangeArrowheads="1"/>
          </p:cNvSpPr>
          <p:nvPr/>
        </p:nvSpPr>
        <p:spPr bwMode="auto">
          <a:xfrm rot="-2127843">
            <a:off x="7624763" y="3273425"/>
            <a:ext cx="339725" cy="1603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219" name="Rectangle 41"/>
          <p:cNvSpPr>
            <a:spLocks noChangeArrowheads="1"/>
          </p:cNvSpPr>
          <p:nvPr/>
        </p:nvSpPr>
        <p:spPr bwMode="auto">
          <a:xfrm rot="2267680">
            <a:off x="7605713" y="4111625"/>
            <a:ext cx="338137" cy="158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220" name="Rectangle 42"/>
          <p:cNvSpPr>
            <a:spLocks noChangeArrowheads="1"/>
          </p:cNvSpPr>
          <p:nvPr/>
        </p:nvSpPr>
        <p:spPr bwMode="auto">
          <a:xfrm rot="2108350">
            <a:off x="7572375" y="3983038"/>
            <a:ext cx="100013" cy="179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221" name="Rectangle 43"/>
          <p:cNvSpPr>
            <a:spLocks noChangeArrowheads="1"/>
          </p:cNvSpPr>
          <p:nvPr/>
        </p:nvSpPr>
        <p:spPr bwMode="auto">
          <a:xfrm rot="-2066786">
            <a:off x="7596188" y="3357563"/>
            <a:ext cx="79375" cy="179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222" name="Oval 44"/>
          <p:cNvSpPr>
            <a:spLocks noChangeArrowheads="1"/>
          </p:cNvSpPr>
          <p:nvPr/>
        </p:nvSpPr>
        <p:spPr bwMode="auto">
          <a:xfrm>
            <a:off x="7785100" y="3273425"/>
            <a:ext cx="98425" cy="100013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223" name="Oval 45"/>
          <p:cNvSpPr>
            <a:spLocks noChangeArrowheads="1"/>
          </p:cNvSpPr>
          <p:nvPr/>
        </p:nvSpPr>
        <p:spPr bwMode="auto">
          <a:xfrm>
            <a:off x="7764463" y="4170363"/>
            <a:ext cx="100012" cy="100012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224" name="Freeform 46"/>
          <p:cNvSpPr>
            <a:spLocks/>
          </p:cNvSpPr>
          <p:nvPr/>
        </p:nvSpPr>
        <p:spPr bwMode="auto">
          <a:xfrm>
            <a:off x="7831138" y="3121025"/>
            <a:ext cx="352425" cy="200025"/>
          </a:xfrm>
          <a:custGeom>
            <a:avLst/>
            <a:gdLst>
              <a:gd name="T0" fmla="*/ 0 w 354"/>
              <a:gd name="T1" fmla="*/ 199054731 h 201"/>
              <a:gd name="T2" fmla="*/ 154615029 w 354"/>
              <a:gd name="T3" fmla="*/ 95070591 h 201"/>
              <a:gd name="T4" fmla="*/ 288416083 w 354"/>
              <a:gd name="T5" fmla="*/ 44564776 h 201"/>
              <a:gd name="T6" fmla="*/ 350857011 w 354"/>
              <a:gd name="T7" fmla="*/ 0 h 201"/>
              <a:gd name="T8" fmla="*/ 0 60000 65536"/>
              <a:gd name="T9" fmla="*/ 0 60000 65536"/>
              <a:gd name="T10" fmla="*/ 0 60000 65536"/>
              <a:gd name="T11" fmla="*/ 0 60000 65536"/>
              <a:gd name="T12" fmla="*/ 0 w 354"/>
              <a:gd name="T13" fmla="*/ 0 h 201"/>
              <a:gd name="T14" fmla="*/ 354 w 354"/>
              <a:gd name="T15" fmla="*/ 201 h 20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54" h="201">
                <a:moveTo>
                  <a:pt x="0" y="201"/>
                </a:moveTo>
                <a:cubicBezTo>
                  <a:pt x="28" y="184"/>
                  <a:pt x="108" y="122"/>
                  <a:pt x="156" y="96"/>
                </a:cubicBezTo>
                <a:cubicBezTo>
                  <a:pt x="203" y="81"/>
                  <a:pt x="244" y="55"/>
                  <a:pt x="291" y="45"/>
                </a:cubicBezTo>
                <a:cubicBezTo>
                  <a:pt x="336" y="35"/>
                  <a:pt x="344" y="7"/>
                  <a:pt x="354" y="0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225" name="Freeform 47"/>
          <p:cNvSpPr>
            <a:spLocks/>
          </p:cNvSpPr>
          <p:nvPr/>
        </p:nvSpPr>
        <p:spPr bwMode="auto">
          <a:xfrm>
            <a:off x="7834313" y="3192463"/>
            <a:ext cx="361950" cy="130175"/>
          </a:xfrm>
          <a:custGeom>
            <a:avLst/>
            <a:gdLst>
              <a:gd name="T0" fmla="*/ 0 w 363"/>
              <a:gd name="T1" fmla="*/ 129355166 h 131"/>
              <a:gd name="T2" fmla="*/ 104393156 w 363"/>
              <a:gd name="T3" fmla="*/ 100719661 h 131"/>
              <a:gd name="T4" fmla="*/ 268440302 w 363"/>
              <a:gd name="T5" fmla="*/ 25673288 h 131"/>
              <a:gd name="T6" fmla="*/ 360903040 w 363"/>
              <a:gd name="T7" fmla="*/ 0 h 131"/>
              <a:gd name="T8" fmla="*/ 0 60000 65536"/>
              <a:gd name="T9" fmla="*/ 0 60000 65536"/>
              <a:gd name="T10" fmla="*/ 0 60000 65536"/>
              <a:gd name="T11" fmla="*/ 0 60000 65536"/>
              <a:gd name="T12" fmla="*/ 0 w 363"/>
              <a:gd name="T13" fmla="*/ 0 h 131"/>
              <a:gd name="T14" fmla="*/ 363 w 363"/>
              <a:gd name="T15" fmla="*/ 131 h 13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63" h="131">
                <a:moveTo>
                  <a:pt x="0" y="131"/>
                </a:moveTo>
                <a:cubicBezTo>
                  <a:pt x="17" y="119"/>
                  <a:pt x="60" y="119"/>
                  <a:pt x="105" y="102"/>
                </a:cubicBezTo>
                <a:cubicBezTo>
                  <a:pt x="168" y="87"/>
                  <a:pt x="213" y="64"/>
                  <a:pt x="270" y="26"/>
                </a:cubicBezTo>
                <a:cubicBezTo>
                  <a:pt x="315" y="3"/>
                  <a:pt x="346" y="17"/>
                  <a:pt x="363" y="0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226" name="Freeform 48"/>
          <p:cNvSpPr>
            <a:spLocks/>
          </p:cNvSpPr>
          <p:nvPr/>
        </p:nvSpPr>
        <p:spPr bwMode="auto">
          <a:xfrm>
            <a:off x="7808913" y="4217988"/>
            <a:ext cx="309562" cy="301625"/>
          </a:xfrm>
          <a:custGeom>
            <a:avLst/>
            <a:gdLst>
              <a:gd name="T0" fmla="*/ 0 w 310"/>
              <a:gd name="T1" fmla="*/ 0 h 303"/>
              <a:gd name="T2" fmla="*/ 309124622 w 310"/>
              <a:gd name="T3" fmla="*/ 300256243 h 303"/>
              <a:gd name="T4" fmla="*/ 0 60000 65536"/>
              <a:gd name="T5" fmla="*/ 0 60000 65536"/>
              <a:gd name="T6" fmla="*/ 0 w 310"/>
              <a:gd name="T7" fmla="*/ 0 h 303"/>
              <a:gd name="T8" fmla="*/ 310 w 310"/>
              <a:gd name="T9" fmla="*/ 303 h 30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10" h="303">
                <a:moveTo>
                  <a:pt x="0" y="0"/>
                </a:moveTo>
                <a:cubicBezTo>
                  <a:pt x="52" y="51"/>
                  <a:pt x="258" y="253"/>
                  <a:pt x="310" y="303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227" name="Freeform 49"/>
          <p:cNvSpPr>
            <a:spLocks/>
          </p:cNvSpPr>
          <p:nvPr/>
        </p:nvSpPr>
        <p:spPr bwMode="auto">
          <a:xfrm>
            <a:off x="7804150" y="4205288"/>
            <a:ext cx="406400" cy="249237"/>
          </a:xfrm>
          <a:custGeom>
            <a:avLst/>
            <a:gdLst>
              <a:gd name="T0" fmla="*/ 0 w 407"/>
              <a:gd name="T1" fmla="*/ 0 h 249"/>
              <a:gd name="T2" fmla="*/ 216360568 w 407"/>
              <a:gd name="T3" fmla="*/ 109207850 h 249"/>
              <a:gd name="T4" fmla="*/ 405800888 w 407"/>
              <a:gd name="T5" fmla="*/ 249474227 h 249"/>
              <a:gd name="T6" fmla="*/ 0 60000 65536"/>
              <a:gd name="T7" fmla="*/ 0 60000 65536"/>
              <a:gd name="T8" fmla="*/ 0 60000 65536"/>
              <a:gd name="T9" fmla="*/ 0 w 407"/>
              <a:gd name="T10" fmla="*/ 0 h 249"/>
              <a:gd name="T11" fmla="*/ 407 w 407"/>
              <a:gd name="T12" fmla="*/ 249 h 24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07" h="249">
                <a:moveTo>
                  <a:pt x="0" y="0"/>
                </a:moveTo>
                <a:cubicBezTo>
                  <a:pt x="42" y="63"/>
                  <a:pt x="147" y="86"/>
                  <a:pt x="217" y="109"/>
                </a:cubicBezTo>
                <a:cubicBezTo>
                  <a:pt x="269" y="156"/>
                  <a:pt x="382" y="222"/>
                  <a:pt x="407" y="249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228" name="Oval 50"/>
          <p:cNvSpPr>
            <a:spLocks noChangeArrowheads="1"/>
          </p:cNvSpPr>
          <p:nvPr/>
        </p:nvSpPr>
        <p:spPr bwMode="auto">
          <a:xfrm>
            <a:off x="7664450" y="3632200"/>
            <a:ext cx="179388" cy="274638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229" name="Oval 51"/>
          <p:cNvSpPr>
            <a:spLocks noChangeArrowheads="1"/>
          </p:cNvSpPr>
          <p:nvPr/>
        </p:nvSpPr>
        <p:spPr bwMode="auto">
          <a:xfrm>
            <a:off x="7743825" y="3632200"/>
            <a:ext cx="120650" cy="279400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230" name="Line 52"/>
          <p:cNvSpPr>
            <a:spLocks noChangeShapeType="1"/>
          </p:cNvSpPr>
          <p:nvPr/>
        </p:nvSpPr>
        <p:spPr bwMode="auto">
          <a:xfrm>
            <a:off x="7739063" y="3635375"/>
            <a:ext cx="7778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231" name="Freeform 53"/>
          <p:cNvSpPr>
            <a:spLocks/>
          </p:cNvSpPr>
          <p:nvPr/>
        </p:nvSpPr>
        <p:spPr bwMode="auto">
          <a:xfrm>
            <a:off x="7745413" y="3906838"/>
            <a:ext cx="71437" cy="3175"/>
          </a:xfrm>
          <a:custGeom>
            <a:avLst/>
            <a:gdLst>
              <a:gd name="T0" fmla="*/ 70878403 w 72"/>
              <a:gd name="T1" fmla="*/ 3360208 h 3"/>
              <a:gd name="T2" fmla="*/ 0 w 72"/>
              <a:gd name="T3" fmla="*/ 0 h 3"/>
              <a:gd name="T4" fmla="*/ 0 60000 65536"/>
              <a:gd name="T5" fmla="*/ 0 60000 65536"/>
              <a:gd name="T6" fmla="*/ 0 w 72"/>
              <a:gd name="T7" fmla="*/ 0 h 3"/>
              <a:gd name="T8" fmla="*/ 72 w 72"/>
              <a:gd name="T9" fmla="*/ 3 h 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72" h="3">
                <a:moveTo>
                  <a:pt x="72" y="3"/>
                </a:moveTo>
                <a:lnTo>
                  <a:pt x="0" y="0"/>
                </a:lnTo>
              </a:path>
            </a:pathLst>
          </a:custGeom>
          <a:solidFill>
            <a:srgbClr val="FF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232" name="Text Box 54"/>
          <p:cNvSpPr txBox="1">
            <a:spLocks noChangeArrowheads="1"/>
          </p:cNvSpPr>
          <p:nvPr/>
        </p:nvSpPr>
        <p:spPr bwMode="auto">
          <a:xfrm>
            <a:off x="5951538" y="3033713"/>
            <a:ext cx="4572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/>
            <a:r>
              <a:rPr lang="en-US" altLang="zh-CN" sz="2000">
                <a:latin typeface="Times New Roman" pitchFamily="18" charset="0"/>
              </a:rPr>
              <a:t>3</a:t>
            </a:r>
            <a:endParaRPr lang="en-US" altLang="zh-CN" sz="2000"/>
          </a:p>
        </p:txBody>
      </p:sp>
      <p:sp>
        <p:nvSpPr>
          <p:cNvPr id="50233" name="Text Box 55"/>
          <p:cNvSpPr txBox="1">
            <a:spLocks noChangeArrowheads="1"/>
          </p:cNvSpPr>
          <p:nvPr/>
        </p:nvSpPr>
        <p:spPr bwMode="auto">
          <a:xfrm>
            <a:off x="6269038" y="4270375"/>
            <a:ext cx="479425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/>
            <a:r>
              <a:rPr lang="en-US" altLang="zh-CN" sz="2000">
                <a:latin typeface="Times New Roman" pitchFamily="18" charset="0"/>
              </a:rPr>
              <a:t>4</a:t>
            </a:r>
            <a:endParaRPr lang="en-US" altLang="zh-CN" sz="2000"/>
          </a:p>
        </p:txBody>
      </p:sp>
      <p:sp>
        <p:nvSpPr>
          <p:cNvPr id="50234" name="Text Box 56"/>
          <p:cNvSpPr txBox="1">
            <a:spLocks noChangeArrowheads="1"/>
          </p:cNvSpPr>
          <p:nvPr/>
        </p:nvSpPr>
        <p:spPr bwMode="auto">
          <a:xfrm>
            <a:off x="8023225" y="3851275"/>
            <a:ext cx="59848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/>
            <a:r>
              <a:rPr lang="en-US" altLang="zh-CN" sz="2000">
                <a:latin typeface="Times New Roman" pitchFamily="18" charset="0"/>
              </a:rPr>
              <a:t>5</a:t>
            </a:r>
            <a:endParaRPr lang="en-US" altLang="zh-CN" sz="2000"/>
          </a:p>
        </p:txBody>
      </p:sp>
      <p:sp>
        <p:nvSpPr>
          <p:cNvPr id="50235" name="Line 57"/>
          <p:cNvSpPr>
            <a:spLocks noChangeShapeType="1"/>
          </p:cNvSpPr>
          <p:nvPr/>
        </p:nvSpPr>
        <p:spPr bwMode="auto">
          <a:xfrm>
            <a:off x="7764463" y="3771900"/>
            <a:ext cx="339725" cy="239713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236" name="Line 58"/>
          <p:cNvSpPr>
            <a:spLocks noChangeShapeType="1"/>
          </p:cNvSpPr>
          <p:nvPr/>
        </p:nvSpPr>
        <p:spPr bwMode="auto">
          <a:xfrm flipH="1" flipV="1">
            <a:off x="6249988" y="3352800"/>
            <a:ext cx="239712" cy="419100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237" name="Line 59"/>
          <p:cNvSpPr>
            <a:spLocks noChangeShapeType="1"/>
          </p:cNvSpPr>
          <p:nvPr/>
        </p:nvSpPr>
        <p:spPr bwMode="auto">
          <a:xfrm>
            <a:off x="6249988" y="3751263"/>
            <a:ext cx="179387" cy="598487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238" name="Line 60"/>
          <p:cNvSpPr>
            <a:spLocks noChangeShapeType="1"/>
          </p:cNvSpPr>
          <p:nvPr/>
        </p:nvSpPr>
        <p:spPr bwMode="auto">
          <a:xfrm>
            <a:off x="728663" y="3811588"/>
            <a:ext cx="2152650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lgDashDot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239" name="Line 61"/>
          <p:cNvSpPr>
            <a:spLocks noChangeShapeType="1"/>
          </p:cNvSpPr>
          <p:nvPr/>
        </p:nvSpPr>
        <p:spPr bwMode="auto">
          <a:xfrm>
            <a:off x="3021013" y="3816350"/>
            <a:ext cx="1973262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lgDashDot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240" name="Line 62"/>
          <p:cNvSpPr>
            <a:spLocks noChangeShapeType="1"/>
          </p:cNvSpPr>
          <p:nvPr/>
        </p:nvSpPr>
        <p:spPr bwMode="auto">
          <a:xfrm>
            <a:off x="5830888" y="3760788"/>
            <a:ext cx="2371725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lgDashDot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0079" name="Text Box 63"/>
          <p:cNvSpPr txBox="1">
            <a:spLocks noChangeArrowheads="1"/>
          </p:cNvSpPr>
          <p:nvPr/>
        </p:nvSpPr>
        <p:spPr bwMode="auto">
          <a:xfrm>
            <a:off x="987425" y="4829175"/>
            <a:ext cx="729615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a</a:t>
            </a:r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）光接收器                 </a:t>
            </a:r>
            <a:r>
              <a:rPr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b</a:t>
            </a:r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）均匀亮物面                     </a:t>
            </a:r>
            <a:r>
              <a:rPr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c</a:t>
            </a:r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）球形平行光管</a:t>
            </a:r>
          </a:p>
          <a:p>
            <a:pPr>
              <a:defRPr/>
            </a:pPr>
            <a:endParaRPr lang="zh-CN" altLang="en-US" b="1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黑体" pitchFamily="2" charset="-122"/>
            </a:endParaRPr>
          </a:p>
          <a:p>
            <a:pPr algn="ctr">
              <a:defRPr/>
            </a:pPr>
            <a:r>
              <a:rPr lang="en-US" altLang="zh-CN" sz="16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1-</a:t>
            </a:r>
            <a:r>
              <a:rPr lang="zh-CN" altLang="en-US" sz="16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硒光电池    </a:t>
            </a:r>
            <a:r>
              <a:rPr lang="en-US" altLang="zh-CN" sz="16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2-</a:t>
            </a:r>
            <a:r>
              <a:rPr lang="zh-CN" altLang="en-US" sz="16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光源    </a:t>
            </a:r>
            <a:r>
              <a:rPr lang="en-US" altLang="zh-CN" sz="16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3-</a:t>
            </a:r>
            <a:r>
              <a:rPr lang="zh-CN" altLang="en-US" sz="16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开孔塞子    </a:t>
            </a:r>
            <a:r>
              <a:rPr lang="en-US" altLang="zh-CN" sz="16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4-</a:t>
            </a:r>
            <a:r>
              <a:rPr lang="zh-CN" altLang="en-US" sz="16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牛角形消光管    </a:t>
            </a:r>
            <a:r>
              <a:rPr lang="en-US" altLang="zh-CN" sz="16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5-</a:t>
            </a:r>
            <a:r>
              <a:rPr lang="zh-CN" altLang="en-US" sz="16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准直物镜</a:t>
            </a:r>
          </a:p>
          <a:p>
            <a:pPr algn="ctr">
              <a:defRPr/>
            </a:pPr>
            <a:endParaRPr lang="zh-CN" altLang="en-US" sz="1600" b="1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黑体" pitchFamily="2" charset="-122"/>
            </a:endParaRPr>
          </a:p>
          <a:p>
            <a:pPr>
              <a:defRPr/>
            </a:pPr>
            <a:endParaRPr lang="en-US" altLang="zh-CN" sz="2000" b="1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黑体" pitchFamily="2" charset="-122"/>
            </a:endParaRPr>
          </a:p>
        </p:txBody>
      </p:sp>
      <p:sp>
        <p:nvSpPr>
          <p:cNvPr id="470080" name="AutoShape 64"/>
          <p:cNvSpPr>
            <a:spLocks noChangeArrowheads="1"/>
          </p:cNvSpPr>
          <p:nvPr/>
        </p:nvSpPr>
        <p:spPr bwMode="auto">
          <a:xfrm>
            <a:off x="3336925" y="857250"/>
            <a:ext cx="3382963" cy="1770063"/>
          </a:xfrm>
          <a:prstGeom prst="cloudCallout">
            <a:avLst>
              <a:gd name="adj1" fmla="val 63514"/>
              <a:gd name="adj2" fmla="val 93676"/>
            </a:avLst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黑体" pitchFamily="2" charset="-122"/>
              </a:rPr>
              <a:t>带有准直物镜、灯泡和黑、白塞子的积分球体称为球形平行光管 </a:t>
            </a:r>
          </a:p>
        </p:txBody>
      </p:sp>
    </p:spTree>
  </p:cSld>
  <p:clrMapOvr>
    <a:masterClrMapping/>
  </p:clrMapOvr>
  <p:transition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00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00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0080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5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D7C03E15-5EFE-4729-802B-955FDC222FF9}" type="datetime1">
              <a:rPr lang="zh-CN" altLang="en-US" smtClean="0">
                <a:ea typeface="宋体" charset="-122"/>
              </a:rPr>
              <a:pPr/>
              <a:t>2018/2/24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1332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CEB6CAA-8AF5-41FF-BE79-9A3A61AB3C87}" type="slidenum">
              <a:rPr lang="en-US" altLang="zh-CN" smtClean="0">
                <a:ea typeface="宋体" charset="-122"/>
              </a:rPr>
              <a:pPr/>
              <a:t>45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4710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66713" y="306388"/>
            <a:ext cx="8270875" cy="839787"/>
          </a:xfrm>
        </p:spPr>
        <p:txBody>
          <a:bodyPr/>
          <a:lstStyle/>
          <a:p>
            <a:pPr eaLnBrk="1" fontAlgn="b" hangingPunct="1">
              <a:defRPr/>
            </a:pPr>
            <a:r>
              <a:rPr lang="en-US" altLang="zh-CN" sz="40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§4-3  </a:t>
            </a:r>
            <a:r>
              <a:rPr lang="zh-CN" altLang="en-US" sz="40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色度的测试方法和应用</a:t>
            </a:r>
          </a:p>
        </p:txBody>
      </p:sp>
      <p:sp>
        <p:nvSpPr>
          <p:cNvPr id="471043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296863" y="1349375"/>
            <a:ext cx="8550275" cy="4805363"/>
          </a:xfrm>
        </p:spPr>
        <p:txBody>
          <a:bodyPr/>
          <a:lstStyle/>
          <a:p>
            <a:pPr algn="just" eaLnBrk="1" hangingPunct="1">
              <a:buFont typeface="Wingdings" pitchFamily="2" charset="2"/>
              <a:buNone/>
              <a:defRPr/>
            </a:pPr>
            <a:r>
              <a:rPr lang="en-US" altLang="zh-CN" smtClean="0">
                <a:latin typeface="Times New Roman" pitchFamily="18" charset="0"/>
                <a:ea typeface="黑体" pitchFamily="2" charset="-122"/>
              </a:rPr>
              <a:t>2  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颜色的测量方法和仪器</a:t>
            </a:r>
          </a:p>
          <a:p>
            <a:pPr eaLnBrk="1" hangingPunct="1">
              <a:defRPr/>
            </a:pPr>
            <a:r>
              <a:rPr lang="zh-CN" altLang="en-US" smtClean="0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**颜色的测量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必须建立在现代色度学的基础之上。任何测色仪器只要能给出与</a:t>
            </a:r>
            <a:r>
              <a:rPr lang="en-US" altLang="zh-CN" smtClean="0">
                <a:latin typeface="Times New Roman" pitchFamily="18" charset="0"/>
                <a:ea typeface="黑体" pitchFamily="2" charset="-122"/>
              </a:rPr>
              <a:t>CIE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推荐的标准完全一致的三刺激值，该仪器就认为是准确的，而不论它是否能真正给出物体呈现在观察者眼里的色刺激外貌。</a:t>
            </a:r>
          </a:p>
          <a:p>
            <a:pPr eaLnBrk="1" hangingPunct="1">
              <a:defRPr/>
            </a:pP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测色的方法分类：</a:t>
            </a:r>
          </a:p>
        </p:txBody>
      </p:sp>
      <p:graphicFrame>
        <p:nvGraphicFramePr>
          <p:cNvPr id="13314" name="Organization Chart 4"/>
          <p:cNvGraphicFramePr>
            <a:graphicFrameLocks/>
          </p:cNvGraphicFramePr>
          <p:nvPr/>
        </p:nvGraphicFramePr>
        <p:xfrm>
          <a:off x="2271713" y="2928938"/>
          <a:ext cx="6872287" cy="3536950"/>
        </p:xfrm>
        <a:graphic>
          <a:graphicData uri="http://schemas.openxmlformats.org/drawingml/2006/compatibility">
            <com:legacyDrawing xmlns:com="http://schemas.openxmlformats.org/drawingml/2006/compatibility" spid="_x0000_s13314"/>
          </a:graphicData>
        </a:graphic>
      </p:graphicFrame>
    </p:spTree>
  </p:cSld>
  <p:clrMapOvr>
    <a:masterClrMapping/>
  </p:clrMapOvr>
  <p:transition>
    <p:circle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BEAB034B-F298-45FF-9EBC-017E418ECD5E}" type="datetime1">
              <a:rPr lang="zh-CN" altLang="en-US" smtClean="0">
                <a:ea typeface="宋体" charset="-122"/>
              </a:rPr>
              <a:pPr/>
              <a:t>2018/2/24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14341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C47E21C-43E0-4F35-87A7-E1DE34C2879E}" type="slidenum">
              <a:rPr lang="en-US" altLang="zh-CN" smtClean="0">
                <a:ea typeface="宋体" charset="-122"/>
              </a:rPr>
              <a:pPr/>
              <a:t>46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47206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66713" y="306388"/>
            <a:ext cx="8270875" cy="839787"/>
          </a:xfrm>
        </p:spPr>
        <p:txBody>
          <a:bodyPr/>
          <a:lstStyle/>
          <a:p>
            <a:pPr eaLnBrk="1" fontAlgn="b" hangingPunct="1">
              <a:defRPr/>
            </a:pPr>
            <a:r>
              <a:rPr lang="en-US" altLang="zh-CN" sz="40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§4-3  </a:t>
            </a:r>
            <a:r>
              <a:rPr lang="zh-CN" altLang="en-US" sz="40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色度的测试方法和应用</a:t>
            </a:r>
          </a:p>
        </p:txBody>
      </p:sp>
      <p:sp>
        <p:nvSpPr>
          <p:cNvPr id="472067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296863" y="1349375"/>
            <a:ext cx="8550275" cy="2322513"/>
          </a:xfrm>
        </p:spPr>
        <p:txBody>
          <a:bodyPr/>
          <a:lstStyle/>
          <a:p>
            <a:pPr algn="just" eaLnBrk="1" hangingPunct="1">
              <a:buFont typeface="Wingdings" pitchFamily="2" charset="2"/>
              <a:buNone/>
              <a:defRPr/>
            </a:pPr>
            <a:r>
              <a:rPr lang="en-US" altLang="zh-CN" smtClean="0">
                <a:latin typeface="Times New Roman" pitchFamily="18" charset="0"/>
                <a:ea typeface="黑体" pitchFamily="2" charset="-122"/>
              </a:rPr>
              <a:t>2  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颜色的测量方法和仪器</a:t>
            </a:r>
          </a:p>
          <a:p>
            <a:pPr eaLnBrk="1" hangingPunct="1">
              <a:defRPr/>
            </a:pP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①色度计</a:t>
            </a:r>
          </a:p>
          <a:p>
            <a:pPr eaLnBrk="1" hangingPunct="1">
              <a:defRPr/>
            </a:pP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光电色度计可以由仪器的响应值直接得到颜色的三刺激值。</a:t>
            </a:r>
          </a:p>
          <a:p>
            <a:pPr eaLnBrk="1" hangingPunct="1">
              <a:defRPr/>
            </a:pP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光电色度计由照明光源、校正滤光器、探测器组成。关键问题是设计修正照明光源和探测器光谱特性的校正滤光器。</a:t>
            </a:r>
          </a:p>
        </p:txBody>
      </p:sp>
      <p:sp>
        <p:nvSpPr>
          <p:cNvPr id="472068" name="Rectangle 4"/>
          <p:cNvSpPr>
            <a:spLocks noChangeArrowheads="1"/>
          </p:cNvSpPr>
          <p:nvPr/>
        </p:nvSpPr>
        <p:spPr bwMode="auto">
          <a:xfrm>
            <a:off x="300038" y="3403600"/>
            <a:ext cx="8370887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63538" indent="-363538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Ø"/>
              <a:defRPr/>
            </a:pPr>
            <a:r>
              <a:rPr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为了模拟标准观测者在标准照明体下观察物体颜色特性，色度仪器的总光谱灵敏度必须符合卢瑟条件。卢瑟条件是校正滤光器设计的基础，以公式表示如下</a:t>
            </a:r>
          </a:p>
        </p:txBody>
      </p:sp>
      <p:sp>
        <p:nvSpPr>
          <p:cNvPr id="14345" name="Rectangle 5"/>
          <p:cNvSpPr>
            <a:spLocks noChangeArrowheads="1"/>
          </p:cNvSpPr>
          <p:nvPr/>
        </p:nvSpPr>
        <p:spPr bwMode="auto">
          <a:xfrm>
            <a:off x="0" y="30480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472070" name="Object 6"/>
          <p:cNvGraphicFramePr>
            <a:graphicFrameLocks noChangeAspect="1"/>
          </p:cNvGraphicFramePr>
          <p:nvPr/>
        </p:nvGraphicFramePr>
        <p:xfrm>
          <a:off x="2605088" y="4702175"/>
          <a:ext cx="3976687" cy="1531938"/>
        </p:xfrm>
        <a:graphic>
          <a:graphicData uri="http://schemas.openxmlformats.org/presentationml/2006/ole">
            <p:oleObj spid="_x0000_s14338" name="公式" r:id="rId3" imgW="1981080" imgH="761760" progId="Equation.3">
              <p:embed/>
            </p:oleObj>
          </a:graphicData>
        </a:graphic>
      </p:graphicFrame>
      <p:sp>
        <p:nvSpPr>
          <p:cNvPr id="472071" name="AutoShape 7"/>
          <p:cNvSpPr>
            <a:spLocks/>
          </p:cNvSpPr>
          <p:nvPr/>
        </p:nvSpPr>
        <p:spPr bwMode="auto">
          <a:xfrm>
            <a:off x="315913" y="5867400"/>
            <a:ext cx="2017712" cy="768350"/>
          </a:xfrm>
          <a:prstGeom prst="borderCallout1">
            <a:avLst>
              <a:gd name="adj1" fmla="val 14875"/>
              <a:gd name="adj2" fmla="val 103778"/>
              <a:gd name="adj3" fmla="val -96903"/>
              <a:gd name="adj4" fmla="val 139731"/>
            </a:avLst>
          </a:prstGeom>
          <a:solidFill>
            <a:srgbClr val="FF66FF"/>
          </a:solidFill>
          <a:ln w="38100">
            <a:solidFill>
              <a:srgbClr val="FF66FF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ea typeface="黑体" pitchFamily="2" charset="-122"/>
              </a:rPr>
              <a:t>仪器内部光源的光谱功率分布</a:t>
            </a:r>
          </a:p>
        </p:txBody>
      </p:sp>
      <p:sp>
        <p:nvSpPr>
          <p:cNvPr id="472072" name="AutoShape 8"/>
          <p:cNvSpPr>
            <a:spLocks noChangeArrowheads="1"/>
          </p:cNvSpPr>
          <p:nvPr/>
        </p:nvSpPr>
        <p:spPr bwMode="auto">
          <a:xfrm>
            <a:off x="276225" y="4021138"/>
            <a:ext cx="1871663" cy="493712"/>
          </a:xfrm>
          <a:prstGeom prst="wedgeRoundRectCallout">
            <a:avLst>
              <a:gd name="adj1" fmla="val 82653"/>
              <a:gd name="adj2" fmla="val 141639"/>
              <a:gd name="adj3" fmla="val 16667"/>
            </a:avLst>
          </a:prstGeom>
          <a:solidFill>
            <a:srgbClr val="FF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ea typeface="黑体" pitchFamily="2" charset="-122"/>
              </a:rPr>
              <a:t>为比例常数</a:t>
            </a:r>
          </a:p>
        </p:txBody>
      </p:sp>
      <p:sp>
        <p:nvSpPr>
          <p:cNvPr id="472073" name="AutoShape 9"/>
          <p:cNvSpPr>
            <a:spLocks noChangeArrowheads="1"/>
          </p:cNvSpPr>
          <p:nvPr/>
        </p:nvSpPr>
        <p:spPr bwMode="auto">
          <a:xfrm>
            <a:off x="1725613" y="2990850"/>
            <a:ext cx="2525712" cy="898525"/>
          </a:xfrm>
          <a:prstGeom prst="wedgeEllipseCallout">
            <a:avLst>
              <a:gd name="adj1" fmla="val 38875"/>
              <a:gd name="adj2" fmla="val 163958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ea typeface="黑体" pitchFamily="2" charset="-122"/>
              </a:rPr>
              <a:t>校正滤光器的光谱透射比</a:t>
            </a:r>
          </a:p>
        </p:txBody>
      </p:sp>
      <p:sp>
        <p:nvSpPr>
          <p:cNvPr id="472074" name="AutoShape 10"/>
          <p:cNvSpPr>
            <a:spLocks/>
          </p:cNvSpPr>
          <p:nvPr/>
        </p:nvSpPr>
        <p:spPr bwMode="auto">
          <a:xfrm>
            <a:off x="5751513" y="1379538"/>
            <a:ext cx="1524000" cy="754062"/>
          </a:xfrm>
          <a:prstGeom prst="borderCallout2">
            <a:avLst>
              <a:gd name="adj1" fmla="val 15157"/>
              <a:gd name="adj2" fmla="val -5000"/>
              <a:gd name="adj3" fmla="val 15157"/>
              <a:gd name="adj4" fmla="val -37815"/>
              <a:gd name="adj5" fmla="val 454106"/>
              <a:gd name="adj6" fmla="val -71667"/>
            </a:avLst>
          </a:prstGeom>
          <a:solidFill>
            <a:srgbClr val="FF66FF"/>
          </a:solidFill>
          <a:ln w="38100">
            <a:solidFill>
              <a:srgbClr val="FF66FF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ea typeface="黑体" pitchFamily="2" charset="-122"/>
              </a:rPr>
              <a:t>探测器的光谱灵敏度</a:t>
            </a:r>
          </a:p>
        </p:txBody>
      </p:sp>
      <p:sp>
        <p:nvSpPr>
          <p:cNvPr id="472075" name="AutoShape 11"/>
          <p:cNvSpPr>
            <a:spLocks noChangeArrowheads="1"/>
          </p:cNvSpPr>
          <p:nvPr/>
        </p:nvSpPr>
        <p:spPr bwMode="auto">
          <a:xfrm>
            <a:off x="5662613" y="2757488"/>
            <a:ext cx="1958975" cy="1103312"/>
          </a:xfrm>
          <a:prstGeom prst="wedgeRectCallout">
            <a:avLst>
              <a:gd name="adj1" fmla="val -57861"/>
              <a:gd name="adj2" fmla="val 13719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 sz="2000" b="1">
                <a:solidFill>
                  <a:srgbClr val="003300"/>
                </a:solidFill>
              </a:rPr>
              <a:t>选定</a:t>
            </a:r>
            <a:r>
              <a:rPr lang="en-US" altLang="zh-CN" sz="2000" b="1">
                <a:solidFill>
                  <a:srgbClr val="003300"/>
                </a:solidFill>
              </a:rPr>
              <a:t>CIE</a:t>
            </a:r>
            <a:r>
              <a:rPr lang="zh-CN" altLang="en-US" sz="2000" b="1">
                <a:solidFill>
                  <a:srgbClr val="003300"/>
                </a:solidFill>
              </a:rPr>
              <a:t>推荐的标准照明体的光谱功率分布</a:t>
            </a:r>
          </a:p>
        </p:txBody>
      </p:sp>
      <p:sp>
        <p:nvSpPr>
          <p:cNvPr id="472076" name="AutoShape 12"/>
          <p:cNvSpPr>
            <a:spLocks noChangeArrowheads="1"/>
          </p:cNvSpPr>
          <p:nvPr/>
        </p:nvSpPr>
        <p:spPr bwMode="auto">
          <a:xfrm>
            <a:off x="6543675" y="5168900"/>
            <a:ext cx="2393950" cy="1393825"/>
          </a:xfrm>
          <a:prstGeom prst="cloudCallout">
            <a:avLst>
              <a:gd name="adj1" fmla="val -60940"/>
              <a:gd name="adj2" fmla="val -59338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ea typeface="黑体" pitchFamily="2" charset="-122"/>
              </a:rPr>
              <a:t>标准色度观察者的光谱三刺激值</a:t>
            </a:r>
          </a:p>
        </p:txBody>
      </p:sp>
      <p:sp>
        <p:nvSpPr>
          <p:cNvPr id="14352" name="Rectangle 13"/>
          <p:cNvSpPr>
            <a:spLocks noChangeArrowheads="1"/>
          </p:cNvSpPr>
          <p:nvPr/>
        </p:nvSpPr>
        <p:spPr bwMode="auto">
          <a:xfrm>
            <a:off x="0" y="28432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353" name="Rectangle 14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354" name="Rectangle 15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912813" y="457200"/>
            <a:ext cx="7691437" cy="5326063"/>
            <a:chOff x="0" y="0"/>
            <a:chExt cx="4845" cy="3355"/>
          </a:xfrm>
        </p:grpSpPr>
        <p:sp>
          <p:nvSpPr>
            <p:cNvPr id="472081" name="AutoShape 17"/>
            <p:cNvSpPr>
              <a:spLocks noChangeArrowheads="1"/>
            </p:cNvSpPr>
            <p:nvPr/>
          </p:nvSpPr>
          <p:spPr bwMode="auto">
            <a:xfrm>
              <a:off x="0" y="0"/>
              <a:ext cx="4845" cy="3355"/>
            </a:xfrm>
            <a:prstGeom prst="star16">
              <a:avLst>
                <a:gd name="adj" fmla="val 37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r>
                <a:rPr lang="zh-CN" altLang="en-US" sz="2000" b="1">
                  <a:effectLst>
                    <a:outerShdw blurRad="38100" dist="38100" dir="2700000" algn="tl">
                      <a:srgbClr val="FFFFFF"/>
                    </a:outerShdw>
                  </a:effectLst>
                  <a:ea typeface="黑体" pitchFamily="2" charset="-122"/>
                </a:rPr>
                <a:t>比对下式：</a:t>
              </a:r>
            </a:p>
            <a:p>
              <a:pPr>
                <a:defRPr/>
              </a:pPr>
              <a:endPara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ea typeface="黑体" pitchFamily="2" charset="-122"/>
              </a:endParaRPr>
            </a:p>
            <a:p>
              <a:pPr>
                <a:defRPr/>
              </a:pPr>
              <a:endPara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ea typeface="黑体" pitchFamily="2" charset="-122"/>
              </a:endParaRPr>
            </a:p>
            <a:p>
              <a:pPr>
                <a:defRPr/>
              </a:pPr>
              <a:endPara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ea typeface="黑体" pitchFamily="2" charset="-122"/>
              </a:endParaRPr>
            </a:p>
            <a:p>
              <a:pPr>
                <a:defRPr/>
              </a:pPr>
              <a:endPara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ea typeface="黑体" pitchFamily="2" charset="-122"/>
              </a:endParaRPr>
            </a:p>
            <a:p>
              <a:pPr>
                <a:defRPr/>
              </a:pPr>
              <a:endPara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ea typeface="黑体" pitchFamily="2" charset="-122"/>
              </a:endParaRPr>
            </a:p>
            <a:p>
              <a:pPr>
                <a:defRPr/>
              </a:pPr>
              <a:endPara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ea typeface="黑体" pitchFamily="2" charset="-122"/>
              </a:endParaRPr>
            </a:p>
            <a:p>
              <a:pPr>
                <a:defRPr/>
              </a:pPr>
              <a:endPara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ea typeface="黑体" pitchFamily="2" charset="-122"/>
              </a:endParaRPr>
            </a:p>
            <a:p>
              <a:pPr>
                <a:defRPr/>
              </a:pPr>
              <a:r>
                <a:rPr lang="zh-CN" altLang="en-US" sz="2000" b="1">
                  <a:effectLst>
                    <a:outerShdw blurRad="38100" dist="38100" dir="2700000" algn="tl">
                      <a:srgbClr val="FFFFFF"/>
                    </a:outerShdw>
                  </a:effectLst>
                  <a:ea typeface="黑体" pitchFamily="2" charset="-122"/>
                </a:rPr>
                <a:t>知道：仪器的各个探测器所测得的电信号</a:t>
              </a:r>
            </a:p>
            <a:p>
              <a:pPr>
                <a:defRPr/>
              </a:pPr>
              <a:r>
                <a:rPr lang="zh-CN" altLang="en-US" sz="2000" b="1">
                  <a:effectLst>
                    <a:outerShdw blurRad="38100" dist="38100" dir="2700000" algn="tl">
                      <a:srgbClr val="FFFFFF"/>
                    </a:outerShdw>
                  </a:effectLst>
                  <a:ea typeface="黑体" pitchFamily="2" charset="-122"/>
                </a:rPr>
                <a:t>值正比例于物体颜色的三刺激值。</a:t>
              </a:r>
            </a:p>
            <a:p>
              <a:pPr>
                <a:defRPr/>
              </a:pPr>
              <a:endParaRPr lang="en-US" altLang="zh-CN" sz="20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endParaRPr>
            </a:p>
          </p:txBody>
        </p:sp>
        <p:sp>
          <p:nvSpPr>
            <p:cNvPr id="14358" name="Rectangle 18"/>
            <p:cNvSpPr>
              <a:spLocks noChangeArrowheads="1"/>
            </p:cNvSpPr>
            <p:nvPr/>
          </p:nvSpPr>
          <p:spPr bwMode="auto">
            <a:xfrm>
              <a:off x="2002" y="865"/>
              <a:ext cx="906" cy="504"/>
            </a:xfrm>
            <a:prstGeom prst="rect">
              <a:avLst/>
            </a:prstGeom>
            <a:solidFill>
              <a:srgbClr val="FF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59" name="Rectangle 19"/>
            <p:cNvSpPr>
              <a:spLocks noChangeArrowheads="1"/>
            </p:cNvSpPr>
            <p:nvPr/>
          </p:nvSpPr>
          <p:spPr bwMode="auto">
            <a:xfrm>
              <a:off x="2386" y="1450"/>
              <a:ext cx="970" cy="513"/>
            </a:xfrm>
            <a:prstGeom prst="rect">
              <a:avLst/>
            </a:prstGeom>
            <a:solidFill>
              <a:srgbClr val="FF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60" name="Rectangle 20"/>
            <p:cNvSpPr>
              <a:spLocks noChangeArrowheads="1"/>
            </p:cNvSpPr>
            <p:nvPr/>
          </p:nvSpPr>
          <p:spPr bwMode="auto">
            <a:xfrm>
              <a:off x="1957" y="1463"/>
              <a:ext cx="448" cy="475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4339" name="Object 21"/>
            <p:cNvGraphicFramePr>
              <a:graphicFrameLocks noChangeAspect="1"/>
            </p:cNvGraphicFramePr>
            <p:nvPr/>
          </p:nvGraphicFramePr>
          <p:xfrm>
            <a:off x="1157" y="917"/>
            <a:ext cx="2477" cy="1158"/>
          </p:xfrm>
          <a:graphic>
            <a:graphicData uri="http://schemas.openxmlformats.org/presentationml/2006/ole">
              <p:oleObj spid="_x0000_s14339" name="公式" r:id="rId4" imgW="1688760" imgH="685800" progId="Equation.3">
                <p:embed/>
              </p:oleObj>
            </a:graphicData>
          </a:graphic>
        </p:graphicFrame>
      </p:grpSp>
      <p:sp>
        <p:nvSpPr>
          <p:cNvPr id="472086" name="AutoShape 22"/>
          <p:cNvSpPr>
            <a:spLocks noChangeArrowheads="1"/>
          </p:cNvSpPr>
          <p:nvPr/>
        </p:nvSpPr>
        <p:spPr bwMode="auto">
          <a:xfrm>
            <a:off x="1741488" y="1646238"/>
            <a:ext cx="6167437" cy="4151312"/>
          </a:xfrm>
          <a:prstGeom prst="star16">
            <a:avLst>
              <a:gd name="adj" fmla="val 37500"/>
            </a:avLst>
          </a:prstGeom>
          <a:solidFill>
            <a:srgbClr val="FF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zh-CN" altLang="en-US" sz="3200" b="1">
                <a:effectLst>
                  <a:outerShdw blurRad="38100" dist="38100" dir="2700000" algn="tl">
                    <a:srgbClr val="FFFFFF"/>
                  </a:outerShdw>
                </a:effectLst>
                <a:ea typeface="黑体" pitchFamily="2" charset="-122"/>
              </a:rPr>
              <a:t>核心问题：</a:t>
            </a:r>
          </a:p>
          <a:p>
            <a:pPr algn="ctr">
              <a:defRPr/>
            </a:pPr>
            <a:r>
              <a:rPr lang="zh-CN" altLang="en-US" sz="3200" b="1">
                <a:effectLst>
                  <a:outerShdw blurRad="38100" dist="38100" dir="2700000" algn="tl">
                    <a:srgbClr val="FFFFFF"/>
                  </a:outerShdw>
                </a:effectLst>
                <a:ea typeface="黑体" pitchFamily="2" charset="-122"/>
              </a:rPr>
              <a:t>滤光器的设计</a:t>
            </a:r>
          </a:p>
        </p:txBody>
      </p:sp>
    </p:spTree>
  </p:cSld>
  <p:clrMapOvr>
    <a:masterClrMapping/>
  </p:clrMapOvr>
  <p:transition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20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20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720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720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720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720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720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720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720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720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72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72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72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72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72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72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720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720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2068" grpId="0"/>
      <p:bldP spid="472071" grpId="0" animBg="1"/>
      <p:bldP spid="472071" grpId="1" animBg="1"/>
      <p:bldP spid="472072" grpId="0" animBg="1"/>
      <p:bldP spid="472072" grpId="1" animBg="1"/>
      <p:bldP spid="472073" grpId="0" animBg="1"/>
      <p:bldP spid="472073" grpId="1" animBg="1"/>
      <p:bldP spid="472074" grpId="0" animBg="1"/>
      <p:bldP spid="472074" grpId="1" animBg="1"/>
      <p:bldP spid="472075" grpId="0" animBg="1"/>
      <p:bldP spid="472075" grpId="1" animBg="1"/>
      <p:bldP spid="472076" grpId="0" animBg="1"/>
      <p:bldP spid="472076" grpId="1" animBg="1"/>
      <p:bldP spid="472086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2E5AD91D-6EAD-4C1A-B3BF-67F316FB82F6}" type="datetime1">
              <a:rPr lang="zh-CN" altLang="en-US" smtClean="0">
                <a:ea typeface="宋体" charset="-122"/>
              </a:rPr>
              <a:pPr/>
              <a:t>2018/2/24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1536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430A13C-07F8-4D49-9014-4E91C447C012}" type="slidenum">
              <a:rPr lang="en-US" altLang="zh-CN" smtClean="0">
                <a:ea typeface="宋体" charset="-122"/>
              </a:rPr>
              <a:pPr/>
              <a:t>47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47309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66713" y="306388"/>
            <a:ext cx="8270875" cy="839787"/>
          </a:xfrm>
        </p:spPr>
        <p:txBody>
          <a:bodyPr/>
          <a:lstStyle/>
          <a:p>
            <a:pPr eaLnBrk="1" fontAlgn="b" hangingPunct="1">
              <a:defRPr/>
            </a:pPr>
            <a:r>
              <a:rPr lang="en-US" altLang="zh-CN" sz="40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§4-3  </a:t>
            </a:r>
            <a:r>
              <a:rPr lang="zh-CN" altLang="en-US" sz="40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色度的测试方法和应用</a:t>
            </a:r>
          </a:p>
        </p:txBody>
      </p:sp>
      <p:sp>
        <p:nvSpPr>
          <p:cNvPr id="473091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296863" y="1349375"/>
            <a:ext cx="8550275" cy="2322513"/>
          </a:xfrm>
        </p:spPr>
        <p:txBody>
          <a:bodyPr/>
          <a:lstStyle/>
          <a:p>
            <a:pPr algn="just" eaLnBrk="1" hangingPunct="1">
              <a:buFont typeface="Wingdings" pitchFamily="2" charset="2"/>
              <a:buNone/>
              <a:defRPr/>
            </a:pPr>
            <a:r>
              <a:rPr lang="en-US" altLang="zh-CN" smtClean="0">
                <a:latin typeface="Times New Roman" pitchFamily="18" charset="0"/>
                <a:ea typeface="黑体" pitchFamily="2" charset="-122"/>
              </a:rPr>
              <a:t>2  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颜色的测量方法和仪器</a:t>
            </a:r>
          </a:p>
          <a:p>
            <a:pPr eaLnBrk="1" hangingPunct="1">
              <a:defRPr/>
            </a:pP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①色度计</a:t>
            </a:r>
          </a:p>
          <a:p>
            <a:pPr eaLnBrk="1" hangingPunct="1">
              <a:defRPr/>
            </a:pP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光电色度计有四个探测</a:t>
            </a:r>
          </a:p>
          <a:p>
            <a:pPr eaLnBrk="1" hangingPunct="1">
              <a:defRPr/>
            </a:pP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器和三个探测器之分。</a:t>
            </a:r>
          </a:p>
        </p:txBody>
      </p:sp>
      <p:sp>
        <p:nvSpPr>
          <p:cNvPr id="15367" name="Rectangle 4"/>
          <p:cNvSpPr>
            <a:spLocks noChangeArrowheads="1"/>
          </p:cNvSpPr>
          <p:nvPr/>
        </p:nvSpPr>
        <p:spPr bwMode="auto">
          <a:xfrm>
            <a:off x="0" y="30480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368" name="Rectangle 5"/>
          <p:cNvSpPr>
            <a:spLocks noChangeArrowheads="1"/>
          </p:cNvSpPr>
          <p:nvPr/>
        </p:nvSpPr>
        <p:spPr bwMode="auto">
          <a:xfrm>
            <a:off x="0" y="28432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369" name="Rectangle 6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370" name="Rectangle 7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4543425" y="1346200"/>
            <a:ext cx="4124325" cy="4926013"/>
            <a:chOff x="0" y="847"/>
            <a:chExt cx="2598" cy="3103"/>
          </a:xfrm>
        </p:grpSpPr>
        <p:sp>
          <p:nvSpPr>
            <p:cNvPr id="15372" name="Text Box 9"/>
            <p:cNvSpPr txBox="1">
              <a:spLocks noChangeArrowheads="1"/>
            </p:cNvSpPr>
            <p:nvPr/>
          </p:nvSpPr>
          <p:spPr bwMode="auto">
            <a:xfrm>
              <a:off x="184" y="3667"/>
              <a:ext cx="2277" cy="2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en-US" altLang="zh-CN" sz="2000">
                  <a:latin typeface="Times New Roman" pitchFamily="18" charset="0"/>
                  <a:ea typeface="黑体" pitchFamily="2" charset="-122"/>
                </a:rPr>
                <a:t> CIE1931</a:t>
              </a:r>
              <a:r>
                <a:rPr lang="zh-CN" altLang="en-US" sz="2000">
                  <a:latin typeface="Times New Roman" pitchFamily="18" charset="0"/>
                  <a:ea typeface="黑体" pitchFamily="2" charset="-122"/>
                </a:rPr>
                <a:t>标准色度观察者</a:t>
              </a:r>
            </a:p>
            <a:p>
              <a:pPr algn="ctr"/>
              <a:r>
                <a:rPr lang="zh-CN" altLang="en-US" sz="2000">
                  <a:latin typeface="Times New Roman" pitchFamily="18" charset="0"/>
                  <a:ea typeface="黑体" pitchFamily="2" charset="-122"/>
                </a:rPr>
                <a:t>光谱三刺激值曲线</a:t>
              </a:r>
              <a:endParaRPr lang="zh-CN" altLang="en-US" sz="2000">
                <a:latin typeface="Times New Roman" pitchFamily="18" charset="0"/>
              </a:endParaRPr>
            </a:p>
          </p:txBody>
        </p:sp>
        <p:graphicFrame>
          <p:nvGraphicFramePr>
            <p:cNvPr id="15362" name="Object 10"/>
            <p:cNvGraphicFramePr>
              <a:graphicFrameLocks noChangeAspect="1"/>
            </p:cNvGraphicFramePr>
            <p:nvPr/>
          </p:nvGraphicFramePr>
          <p:xfrm>
            <a:off x="0" y="847"/>
            <a:ext cx="2598" cy="2808"/>
          </p:xfrm>
          <a:graphic>
            <a:graphicData uri="http://schemas.openxmlformats.org/presentationml/2006/ole">
              <p:oleObj spid="_x0000_s15362" name="位图图像" r:id="rId3" imgW="4123810" imgH="4458322" progId="PBrush">
                <p:embed/>
              </p:oleObj>
            </a:graphicData>
          </a:graphic>
        </p:graphicFrame>
      </p:grpSp>
    </p:spTree>
  </p:cSld>
  <p:clrMapOvr>
    <a:masterClrMapping/>
  </p:clrMapOvr>
  <p:transition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9DCC8712-0C9B-4684-9CFF-03E55CA893EF}" type="datetime1">
              <a:rPr lang="zh-CN" altLang="en-US" smtClean="0">
                <a:ea typeface="宋体" charset="-122"/>
              </a:rPr>
              <a:pPr/>
              <a:t>2018/2/24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51203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5032C70-F2B0-4624-B205-EE107DC5F036}" type="slidenum">
              <a:rPr lang="en-US" altLang="zh-CN" smtClean="0">
                <a:ea typeface="宋体" charset="-122"/>
              </a:rPr>
              <a:pPr/>
              <a:t>48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47411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66713" y="306388"/>
            <a:ext cx="8270875" cy="839787"/>
          </a:xfrm>
        </p:spPr>
        <p:txBody>
          <a:bodyPr/>
          <a:lstStyle/>
          <a:p>
            <a:pPr eaLnBrk="1" fontAlgn="b" hangingPunct="1">
              <a:defRPr/>
            </a:pPr>
            <a:r>
              <a:rPr lang="en-US" altLang="zh-CN" sz="40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§4-3  </a:t>
            </a:r>
            <a:r>
              <a:rPr lang="zh-CN" altLang="en-US" sz="40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色度的测试方法和应用</a:t>
            </a:r>
          </a:p>
        </p:txBody>
      </p:sp>
      <p:sp>
        <p:nvSpPr>
          <p:cNvPr id="474115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296863" y="1349375"/>
            <a:ext cx="8550275" cy="2322513"/>
          </a:xfrm>
        </p:spPr>
        <p:txBody>
          <a:bodyPr/>
          <a:lstStyle/>
          <a:p>
            <a:pPr algn="just" eaLnBrk="1" hangingPunct="1">
              <a:buFont typeface="Wingdings" pitchFamily="2" charset="2"/>
              <a:buNone/>
              <a:defRPr/>
            </a:pPr>
            <a:r>
              <a:rPr lang="en-US" altLang="zh-CN" smtClean="0">
                <a:latin typeface="Times New Roman" pitchFamily="18" charset="0"/>
                <a:ea typeface="黑体" pitchFamily="2" charset="-122"/>
              </a:rPr>
              <a:t>2  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颜色的测量方法和仪器</a:t>
            </a:r>
          </a:p>
          <a:p>
            <a:pPr eaLnBrk="1" hangingPunct="1">
              <a:defRPr/>
            </a:pP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①色度计</a:t>
            </a:r>
          </a:p>
          <a:p>
            <a:pPr eaLnBrk="1" hangingPunct="1">
              <a:defRPr/>
            </a:pP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基本结构：</a:t>
            </a:r>
          </a:p>
          <a:p>
            <a:pPr eaLnBrk="1" hangingPunct="1">
              <a:defRPr/>
            </a:pPr>
            <a:endParaRPr lang="zh-CN" altLang="en-US" smtClean="0">
              <a:latin typeface="Times New Roman" pitchFamily="18" charset="0"/>
              <a:ea typeface="黑体" pitchFamily="2" charset="-122"/>
            </a:endParaRPr>
          </a:p>
          <a:p>
            <a:pPr eaLnBrk="1" hangingPunct="1">
              <a:defRPr/>
            </a:pP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特点：</a:t>
            </a:r>
          </a:p>
          <a:p>
            <a:pPr lvl="1" eaLnBrk="1" hangingPunct="1">
              <a:defRPr/>
            </a:pPr>
            <a:r>
              <a:rPr lang="zh-CN" altLang="en-US" sz="2400" smtClean="0">
                <a:latin typeface="Times New Roman" pitchFamily="18" charset="0"/>
                <a:ea typeface="黑体" pitchFamily="2" charset="-122"/>
              </a:rPr>
              <a:t>方便</a:t>
            </a:r>
          </a:p>
          <a:p>
            <a:pPr lvl="1" eaLnBrk="1" hangingPunct="1">
              <a:defRPr/>
            </a:pPr>
            <a:r>
              <a:rPr lang="zh-CN" altLang="en-US" sz="2400" smtClean="0">
                <a:latin typeface="Times New Roman" pitchFamily="18" charset="0"/>
                <a:ea typeface="黑体" pitchFamily="2" charset="-122"/>
              </a:rPr>
              <a:t>现场使用</a:t>
            </a:r>
          </a:p>
          <a:p>
            <a:pPr lvl="1" eaLnBrk="1" hangingPunct="1">
              <a:defRPr/>
            </a:pPr>
            <a:r>
              <a:rPr lang="zh-CN" altLang="en-US" sz="2400" smtClean="0">
                <a:latin typeface="Times New Roman" pitchFamily="18" charset="0"/>
                <a:ea typeface="黑体" pitchFamily="2" charset="-122"/>
              </a:rPr>
              <a:t>准确度不高</a:t>
            </a:r>
          </a:p>
          <a:p>
            <a:pPr lvl="1" eaLnBrk="1" hangingPunct="1">
              <a:defRPr/>
            </a:pPr>
            <a:r>
              <a:rPr lang="zh-CN" altLang="en-US" sz="2400" smtClean="0">
                <a:latin typeface="Times New Roman" pitchFamily="18" charset="0"/>
                <a:ea typeface="黑体" pitchFamily="2" charset="-122"/>
              </a:rPr>
              <a:t>常用于比较两种颜色</a:t>
            </a:r>
          </a:p>
        </p:txBody>
      </p:sp>
      <p:sp>
        <p:nvSpPr>
          <p:cNvPr id="51206" name="Rectangle 4"/>
          <p:cNvSpPr>
            <a:spLocks noChangeArrowheads="1"/>
          </p:cNvSpPr>
          <p:nvPr/>
        </p:nvSpPr>
        <p:spPr bwMode="auto">
          <a:xfrm>
            <a:off x="0" y="30480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1207" name="Rectangle 5"/>
          <p:cNvSpPr>
            <a:spLocks noChangeArrowheads="1"/>
          </p:cNvSpPr>
          <p:nvPr/>
        </p:nvSpPr>
        <p:spPr bwMode="auto">
          <a:xfrm>
            <a:off x="0" y="28432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1208" name="Rectangle 6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1209" name="Rectangle 7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1210" name="Rectangle 9"/>
          <p:cNvSpPr>
            <a:spLocks noChangeArrowheads="1"/>
          </p:cNvSpPr>
          <p:nvPr/>
        </p:nvSpPr>
        <p:spPr bwMode="auto">
          <a:xfrm>
            <a:off x="4427538" y="1058863"/>
            <a:ext cx="4441825" cy="57991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11" name="Line 12"/>
          <p:cNvSpPr>
            <a:spLocks noChangeShapeType="1"/>
          </p:cNvSpPr>
          <p:nvPr/>
        </p:nvSpPr>
        <p:spPr bwMode="auto">
          <a:xfrm>
            <a:off x="6240463" y="1360488"/>
            <a:ext cx="0" cy="9794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212" name="Rectangle 13"/>
          <p:cNvSpPr>
            <a:spLocks noChangeArrowheads="1"/>
          </p:cNvSpPr>
          <p:nvPr/>
        </p:nvSpPr>
        <p:spPr bwMode="auto">
          <a:xfrm>
            <a:off x="6402388" y="1917700"/>
            <a:ext cx="336550" cy="113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213" name="Freeform 14"/>
          <p:cNvSpPr>
            <a:spLocks/>
          </p:cNvSpPr>
          <p:nvPr/>
        </p:nvSpPr>
        <p:spPr bwMode="auto">
          <a:xfrm>
            <a:off x="5757863" y="1855788"/>
            <a:ext cx="482600" cy="484187"/>
          </a:xfrm>
          <a:custGeom>
            <a:avLst/>
            <a:gdLst>
              <a:gd name="T0" fmla="*/ 132557061 w 1757"/>
              <a:gd name="T1" fmla="*/ 165914388 h 1413"/>
              <a:gd name="T2" fmla="*/ 120712077 w 1757"/>
              <a:gd name="T3" fmla="*/ 117067715 h 1413"/>
              <a:gd name="T4" fmla="*/ 99964677 w 1757"/>
              <a:gd name="T5" fmla="*/ 73739654 h 1413"/>
              <a:gd name="T6" fmla="*/ 71748362 w 1757"/>
              <a:gd name="T7" fmla="*/ 38396403 h 1413"/>
              <a:gd name="T8" fmla="*/ 37647201 w 1757"/>
              <a:gd name="T9" fmla="*/ 13268369 h 1413"/>
              <a:gd name="T10" fmla="*/ 0 w 1757"/>
              <a:gd name="T11" fmla="*/ 0 h 141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757"/>
              <a:gd name="T19" fmla="*/ 0 h 1413"/>
              <a:gd name="T20" fmla="*/ 1757 w 1757"/>
              <a:gd name="T21" fmla="*/ 1413 h 141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757" h="1413">
                <a:moveTo>
                  <a:pt x="1757" y="1413"/>
                </a:moveTo>
                <a:lnTo>
                  <a:pt x="1600" y="997"/>
                </a:lnTo>
                <a:lnTo>
                  <a:pt x="1325" y="628"/>
                </a:lnTo>
                <a:lnTo>
                  <a:pt x="951" y="327"/>
                </a:lnTo>
                <a:lnTo>
                  <a:pt x="499" y="113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214" name="Rectangle 15"/>
          <p:cNvSpPr>
            <a:spLocks noChangeArrowheads="1"/>
          </p:cNvSpPr>
          <p:nvPr/>
        </p:nvSpPr>
        <p:spPr bwMode="auto">
          <a:xfrm>
            <a:off x="7720013" y="1360488"/>
            <a:ext cx="658812" cy="23796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51215" name="Group 16"/>
          <p:cNvGrpSpPr>
            <a:grpSpLocks/>
          </p:cNvGrpSpPr>
          <p:nvPr/>
        </p:nvGrpSpPr>
        <p:grpSpPr bwMode="auto">
          <a:xfrm>
            <a:off x="5565775" y="3057525"/>
            <a:ext cx="207963" cy="180975"/>
            <a:chOff x="5141" y="8313"/>
            <a:chExt cx="189" cy="176"/>
          </a:xfrm>
        </p:grpSpPr>
        <p:sp>
          <p:nvSpPr>
            <p:cNvPr id="51289" name="Rectangle 17"/>
            <p:cNvSpPr>
              <a:spLocks noChangeArrowheads="1"/>
            </p:cNvSpPr>
            <p:nvPr/>
          </p:nvSpPr>
          <p:spPr bwMode="auto">
            <a:xfrm>
              <a:off x="5141" y="8313"/>
              <a:ext cx="189" cy="132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90" name="Line 18"/>
            <p:cNvSpPr>
              <a:spLocks noChangeShapeType="1"/>
            </p:cNvSpPr>
            <p:nvPr/>
          </p:nvSpPr>
          <p:spPr bwMode="auto">
            <a:xfrm>
              <a:off x="5141" y="8379"/>
              <a:ext cx="189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91" name="Line 19"/>
            <p:cNvSpPr>
              <a:spLocks noChangeShapeType="1"/>
            </p:cNvSpPr>
            <p:nvPr/>
          </p:nvSpPr>
          <p:spPr bwMode="auto">
            <a:xfrm>
              <a:off x="5199" y="8444"/>
              <a:ext cx="1" cy="4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92" name="Line 20"/>
            <p:cNvSpPr>
              <a:spLocks noChangeShapeType="1"/>
            </p:cNvSpPr>
            <p:nvPr/>
          </p:nvSpPr>
          <p:spPr bwMode="auto">
            <a:xfrm>
              <a:off x="5270" y="8444"/>
              <a:ext cx="1" cy="4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1216" name="Line 21"/>
          <p:cNvSpPr>
            <a:spLocks noChangeShapeType="1"/>
          </p:cNvSpPr>
          <p:nvPr/>
        </p:nvSpPr>
        <p:spPr bwMode="auto">
          <a:xfrm>
            <a:off x="6240463" y="2557463"/>
            <a:ext cx="0" cy="11826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51217" name="Group 22"/>
          <p:cNvGrpSpPr>
            <a:grpSpLocks/>
          </p:cNvGrpSpPr>
          <p:nvPr/>
        </p:nvGrpSpPr>
        <p:grpSpPr bwMode="auto">
          <a:xfrm>
            <a:off x="5553075" y="1655763"/>
            <a:ext cx="204788" cy="182562"/>
            <a:chOff x="5118" y="6888"/>
            <a:chExt cx="188" cy="177"/>
          </a:xfrm>
        </p:grpSpPr>
        <p:sp>
          <p:nvSpPr>
            <p:cNvPr id="51285" name="Line 23"/>
            <p:cNvSpPr>
              <a:spLocks noChangeShapeType="1"/>
            </p:cNvSpPr>
            <p:nvPr/>
          </p:nvSpPr>
          <p:spPr bwMode="auto">
            <a:xfrm flipH="1">
              <a:off x="5118" y="6999"/>
              <a:ext cx="188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86" name="Rectangle 24"/>
            <p:cNvSpPr>
              <a:spLocks noChangeArrowheads="1"/>
            </p:cNvSpPr>
            <p:nvPr/>
          </p:nvSpPr>
          <p:spPr bwMode="auto">
            <a:xfrm>
              <a:off x="5118" y="6933"/>
              <a:ext cx="188" cy="132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87" name="Line 25"/>
            <p:cNvSpPr>
              <a:spLocks noChangeShapeType="1"/>
            </p:cNvSpPr>
            <p:nvPr/>
          </p:nvSpPr>
          <p:spPr bwMode="auto">
            <a:xfrm flipV="1">
              <a:off x="5177" y="6888"/>
              <a:ext cx="1" cy="4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88" name="Line 26"/>
            <p:cNvSpPr>
              <a:spLocks noChangeShapeType="1"/>
            </p:cNvSpPr>
            <p:nvPr/>
          </p:nvSpPr>
          <p:spPr bwMode="auto">
            <a:xfrm flipV="1">
              <a:off x="5249" y="6888"/>
              <a:ext cx="1" cy="4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1218" name="Group 27"/>
          <p:cNvGrpSpPr>
            <a:grpSpLocks/>
          </p:cNvGrpSpPr>
          <p:nvPr/>
        </p:nvGrpSpPr>
        <p:grpSpPr bwMode="auto">
          <a:xfrm>
            <a:off x="4924425" y="2325688"/>
            <a:ext cx="171450" cy="217487"/>
            <a:chOff x="4494" y="7570"/>
            <a:chExt cx="157" cy="212"/>
          </a:xfrm>
        </p:grpSpPr>
        <p:sp>
          <p:nvSpPr>
            <p:cNvPr id="51281" name="Line 28"/>
            <p:cNvSpPr>
              <a:spLocks noChangeShapeType="1"/>
            </p:cNvSpPr>
            <p:nvPr/>
          </p:nvSpPr>
          <p:spPr bwMode="auto">
            <a:xfrm>
              <a:off x="4593" y="7570"/>
              <a:ext cx="1" cy="2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82" name="Rectangle 29"/>
            <p:cNvSpPr>
              <a:spLocks noChangeArrowheads="1"/>
            </p:cNvSpPr>
            <p:nvPr/>
          </p:nvSpPr>
          <p:spPr bwMode="auto">
            <a:xfrm>
              <a:off x="4533" y="7570"/>
              <a:ext cx="118" cy="212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83" name="Line 30"/>
            <p:cNvSpPr>
              <a:spLocks noChangeShapeType="1"/>
            </p:cNvSpPr>
            <p:nvPr/>
          </p:nvSpPr>
          <p:spPr bwMode="auto">
            <a:xfrm flipH="1">
              <a:off x="4494" y="7715"/>
              <a:ext cx="4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84" name="Line 31"/>
            <p:cNvSpPr>
              <a:spLocks noChangeShapeType="1"/>
            </p:cNvSpPr>
            <p:nvPr/>
          </p:nvSpPr>
          <p:spPr bwMode="auto">
            <a:xfrm flipH="1">
              <a:off x="4494" y="7636"/>
              <a:ext cx="4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1219" name="Line 32"/>
          <p:cNvSpPr>
            <a:spLocks noChangeShapeType="1"/>
          </p:cNvSpPr>
          <p:nvPr/>
        </p:nvSpPr>
        <p:spPr bwMode="auto">
          <a:xfrm>
            <a:off x="5675313" y="2339975"/>
            <a:ext cx="565150" cy="15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220" name="Line 33"/>
          <p:cNvSpPr>
            <a:spLocks noChangeShapeType="1"/>
          </p:cNvSpPr>
          <p:nvPr/>
        </p:nvSpPr>
        <p:spPr bwMode="auto">
          <a:xfrm>
            <a:off x="5675313" y="2557463"/>
            <a:ext cx="565150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221" name="Freeform 34"/>
          <p:cNvSpPr>
            <a:spLocks/>
          </p:cNvSpPr>
          <p:nvPr/>
        </p:nvSpPr>
        <p:spPr bwMode="auto">
          <a:xfrm>
            <a:off x="5572125" y="2339975"/>
            <a:ext cx="103188" cy="217488"/>
          </a:xfrm>
          <a:custGeom>
            <a:avLst/>
            <a:gdLst>
              <a:gd name="T0" fmla="*/ 28243404 w 377"/>
              <a:gd name="T1" fmla="*/ 0 h 636"/>
              <a:gd name="T2" fmla="*/ 14084204 w 377"/>
              <a:gd name="T3" fmla="*/ 5028213 h 636"/>
              <a:gd name="T4" fmla="*/ 3820693 w 377"/>
              <a:gd name="T5" fmla="*/ 18593170 h 636"/>
              <a:gd name="T6" fmla="*/ 0 w 377"/>
              <a:gd name="T7" fmla="*/ 37186341 h 636"/>
              <a:gd name="T8" fmla="*/ 3820693 w 377"/>
              <a:gd name="T9" fmla="*/ 55779517 h 636"/>
              <a:gd name="T10" fmla="*/ 14084204 w 377"/>
              <a:gd name="T11" fmla="*/ 69344471 h 636"/>
              <a:gd name="T12" fmla="*/ 28243404 w 377"/>
              <a:gd name="T13" fmla="*/ 74372682 h 63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77"/>
              <a:gd name="T22" fmla="*/ 0 h 636"/>
              <a:gd name="T23" fmla="*/ 377 w 377"/>
              <a:gd name="T24" fmla="*/ 636 h 6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77" h="636">
                <a:moveTo>
                  <a:pt x="377" y="0"/>
                </a:moveTo>
                <a:lnTo>
                  <a:pt x="188" y="43"/>
                </a:lnTo>
                <a:lnTo>
                  <a:pt x="51" y="159"/>
                </a:lnTo>
                <a:lnTo>
                  <a:pt x="0" y="318"/>
                </a:lnTo>
                <a:lnTo>
                  <a:pt x="51" y="477"/>
                </a:lnTo>
                <a:lnTo>
                  <a:pt x="188" y="593"/>
                </a:lnTo>
                <a:lnTo>
                  <a:pt x="377" y="636"/>
                </a:ln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222" name="Line 35"/>
          <p:cNvSpPr>
            <a:spLocks noChangeShapeType="1"/>
          </p:cNvSpPr>
          <p:nvPr/>
        </p:nvSpPr>
        <p:spPr bwMode="auto">
          <a:xfrm>
            <a:off x="7935913" y="3224213"/>
            <a:ext cx="20796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223" name="Rectangle 36"/>
          <p:cNvSpPr>
            <a:spLocks noChangeArrowheads="1"/>
          </p:cNvSpPr>
          <p:nvPr/>
        </p:nvSpPr>
        <p:spPr bwMode="auto">
          <a:xfrm>
            <a:off x="7935913" y="3155950"/>
            <a:ext cx="207962" cy="1349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224" name="Line 37"/>
          <p:cNvSpPr>
            <a:spLocks noChangeShapeType="1"/>
          </p:cNvSpPr>
          <p:nvPr/>
        </p:nvSpPr>
        <p:spPr bwMode="auto">
          <a:xfrm>
            <a:off x="8077200" y="3290888"/>
            <a:ext cx="1588" cy="476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225" name="Line 38"/>
          <p:cNvSpPr>
            <a:spLocks noChangeShapeType="1"/>
          </p:cNvSpPr>
          <p:nvPr/>
        </p:nvSpPr>
        <p:spPr bwMode="auto">
          <a:xfrm>
            <a:off x="7999413" y="3290888"/>
            <a:ext cx="1587" cy="476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226" name="Line 39"/>
          <p:cNvSpPr>
            <a:spLocks noChangeShapeType="1"/>
          </p:cNvSpPr>
          <p:nvPr/>
        </p:nvSpPr>
        <p:spPr bwMode="auto">
          <a:xfrm>
            <a:off x="7720013" y="2719388"/>
            <a:ext cx="227012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227" name="Line 40"/>
          <p:cNvSpPr>
            <a:spLocks noChangeShapeType="1"/>
          </p:cNvSpPr>
          <p:nvPr/>
        </p:nvSpPr>
        <p:spPr bwMode="auto">
          <a:xfrm>
            <a:off x="7720013" y="2754313"/>
            <a:ext cx="22701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228" name="Freeform 41"/>
          <p:cNvSpPr>
            <a:spLocks/>
          </p:cNvSpPr>
          <p:nvPr/>
        </p:nvSpPr>
        <p:spPr bwMode="auto">
          <a:xfrm>
            <a:off x="8005763" y="2409825"/>
            <a:ext cx="69850" cy="76200"/>
          </a:xfrm>
          <a:custGeom>
            <a:avLst/>
            <a:gdLst>
              <a:gd name="T0" fmla="*/ 18837924 w 259"/>
              <a:gd name="T1" fmla="*/ 13317525 h 218"/>
              <a:gd name="T2" fmla="*/ 16146674 w 259"/>
              <a:gd name="T3" fmla="*/ 3909620 h 218"/>
              <a:gd name="T4" fmla="*/ 9455370 w 259"/>
              <a:gd name="T5" fmla="*/ 0 h 218"/>
              <a:gd name="T6" fmla="*/ 2763794 w 259"/>
              <a:gd name="T7" fmla="*/ 3909620 h 218"/>
              <a:gd name="T8" fmla="*/ 0 w 259"/>
              <a:gd name="T9" fmla="*/ 13317525 h 218"/>
              <a:gd name="T10" fmla="*/ 2763794 w 259"/>
              <a:gd name="T11" fmla="*/ 22725426 h 218"/>
              <a:gd name="T12" fmla="*/ 9455370 w 259"/>
              <a:gd name="T13" fmla="*/ 26635049 h 218"/>
              <a:gd name="T14" fmla="*/ 16146674 w 259"/>
              <a:gd name="T15" fmla="*/ 22725426 h 218"/>
              <a:gd name="T16" fmla="*/ 18837924 w 259"/>
              <a:gd name="T17" fmla="*/ 13317525 h 218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59"/>
              <a:gd name="T28" fmla="*/ 0 h 218"/>
              <a:gd name="T29" fmla="*/ 259 w 259"/>
              <a:gd name="T30" fmla="*/ 218 h 218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59" h="218">
                <a:moveTo>
                  <a:pt x="259" y="109"/>
                </a:moveTo>
                <a:lnTo>
                  <a:pt x="222" y="32"/>
                </a:lnTo>
                <a:lnTo>
                  <a:pt x="130" y="0"/>
                </a:lnTo>
                <a:lnTo>
                  <a:pt x="38" y="32"/>
                </a:lnTo>
                <a:lnTo>
                  <a:pt x="0" y="109"/>
                </a:lnTo>
                <a:lnTo>
                  <a:pt x="38" y="186"/>
                </a:lnTo>
                <a:lnTo>
                  <a:pt x="130" y="218"/>
                </a:lnTo>
                <a:lnTo>
                  <a:pt x="222" y="186"/>
                </a:lnTo>
                <a:lnTo>
                  <a:pt x="259" y="109"/>
                </a:ln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229" name="Freeform 42"/>
          <p:cNvSpPr>
            <a:spLocks/>
          </p:cNvSpPr>
          <p:nvPr/>
        </p:nvSpPr>
        <p:spPr bwMode="auto">
          <a:xfrm>
            <a:off x="7818438" y="2363788"/>
            <a:ext cx="88900" cy="168275"/>
          </a:xfrm>
          <a:custGeom>
            <a:avLst/>
            <a:gdLst>
              <a:gd name="T0" fmla="*/ 12196311 w 324"/>
              <a:gd name="T1" fmla="*/ 0 h 491"/>
              <a:gd name="T2" fmla="*/ 9862413 w 324"/>
              <a:gd name="T3" fmla="*/ 587420 h 491"/>
              <a:gd name="T4" fmla="*/ 7679148 w 324"/>
              <a:gd name="T5" fmla="*/ 2114233 h 491"/>
              <a:gd name="T6" fmla="*/ 5571067 w 324"/>
              <a:gd name="T7" fmla="*/ 4580782 h 491"/>
              <a:gd name="T8" fmla="*/ 3764256 w 324"/>
              <a:gd name="T9" fmla="*/ 7987066 h 491"/>
              <a:gd name="T10" fmla="*/ 2183263 w 324"/>
              <a:gd name="T11" fmla="*/ 12215534 h 491"/>
              <a:gd name="T12" fmla="*/ 1053904 w 324"/>
              <a:gd name="T13" fmla="*/ 16913866 h 491"/>
              <a:gd name="T14" fmla="*/ 301272 w 324"/>
              <a:gd name="T15" fmla="*/ 22081724 h 491"/>
              <a:gd name="T16" fmla="*/ 0 w 324"/>
              <a:gd name="T17" fmla="*/ 27602245 h 491"/>
              <a:gd name="T18" fmla="*/ 150636 w 324"/>
              <a:gd name="T19" fmla="*/ 33122760 h 491"/>
              <a:gd name="T20" fmla="*/ 677451 w 324"/>
              <a:gd name="T21" fmla="*/ 38290618 h 491"/>
              <a:gd name="T22" fmla="*/ 1656174 w 324"/>
              <a:gd name="T23" fmla="*/ 43341265 h 491"/>
              <a:gd name="T24" fmla="*/ 3011350 w 324"/>
              <a:gd name="T25" fmla="*/ 47804846 h 491"/>
              <a:gd name="T26" fmla="*/ 4592344 w 324"/>
              <a:gd name="T27" fmla="*/ 51563444 h 491"/>
              <a:gd name="T28" fmla="*/ 6625245 w 324"/>
              <a:gd name="T29" fmla="*/ 54617069 h 491"/>
              <a:gd name="T30" fmla="*/ 8808507 w 324"/>
              <a:gd name="T31" fmla="*/ 56614092 h 491"/>
              <a:gd name="T32" fmla="*/ 11066953 w 324"/>
              <a:gd name="T33" fmla="*/ 57671037 h 491"/>
              <a:gd name="T34" fmla="*/ 13325670 w 324"/>
              <a:gd name="T35" fmla="*/ 57671037 h 491"/>
              <a:gd name="T36" fmla="*/ 15659569 w 324"/>
              <a:gd name="T37" fmla="*/ 56614092 h 491"/>
              <a:gd name="T38" fmla="*/ 17842831 w 324"/>
              <a:gd name="T39" fmla="*/ 54617069 h 491"/>
              <a:gd name="T40" fmla="*/ 19724826 w 324"/>
              <a:gd name="T41" fmla="*/ 51563444 h 491"/>
              <a:gd name="T42" fmla="*/ 21456455 w 324"/>
              <a:gd name="T43" fmla="*/ 47804846 h 491"/>
              <a:gd name="T44" fmla="*/ 22811630 w 324"/>
              <a:gd name="T45" fmla="*/ 43341265 h 491"/>
              <a:gd name="T46" fmla="*/ 23715172 w 324"/>
              <a:gd name="T47" fmla="*/ 38290618 h 491"/>
              <a:gd name="T48" fmla="*/ 24317442 w 324"/>
              <a:gd name="T49" fmla="*/ 33122760 h 491"/>
              <a:gd name="T50" fmla="*/ 24392623 w 324"/>
              <a:gd name="T51" fmla="*/ 27602245 h 491"/>
              <a:gd name="T52" fmla="*/ 24016170 w 324"/>
              <a:gd name="T53" fmla="*/ 22081724 h 491"/>
              <a:gd name="T54" fmla="*/ 23263264 w 324"/>
              <a:gd name="T55" fmla="*/ 16913866 h 491"/>
              <a:gd name="T56" fmla="*/ 22134180 w 324"/>
              <a:gd name="T57" fmla="*/ 12215534 h 491"/>
              <a:gd name="T58" fmla="*/ 20628368 w 324"/>
              <a:gd name="T59" fmla="*/ 7987066 h 491"/>
              <a:gd name="T60" fmla="*/ 18821558 w 324"/>
              <a:gd name="T61" fmla="*/ 4580782 h 491"/>
              <a:gd name="T62" fmla="*/ 16713472 w 324"/>
              <a:gd name="T63" fmla="*/ 2114233 h 491"/>
              <a:gd name="T64" fmla="*/ 14530210 w 324"/>
              <a:gd name="T65" fmla="*/ 587420 h 491"/>
              <a:gd name="T66" fmla="*/ 12196311 w 324"/>
              <a:gd name="T67" fmla="*/ 0 h 491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324"/>
              <a:gd name="T103" fmla="*/ 0 h 491"/>
              <a:gd name="T104" fmla="*/ 324 w 324"/>
              <a:gd name="T105" fmla="*/ 491 h 491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324" h="491">
                <a:moveTo>
                  <a:pt x="162" y="0"/>
                </a:moveTo>
                <a:lnTo>
                  <a:pt x="131" y="5"/>
                </a:lnTo>
                <a:lnTo>
                  <a:pt x="102" y="18"/>
                </a:lnTo>
                <a:lnTo>
                  <a:pt x="74" y="39"/>
                </a:lnTo>
                <a:lnTo>
                  <a:pt x="50" y="68"/>
                </a:lnTo>
                <a:lnTo>
                  <a:pt x="29" y="104"/>
                </a:lnTo>
                <a:lnTo>
                  <a:pt x="14" y="144"/>
                </a:lnTo>
                <a:lnTo>
                  <a:pt x="4" y="188"/>
                </a:lnTo>
                <a:lnTo>
                  <a:pt x="0" y="235"/>
                </a:lnTo>
                <a:lnTo>
                  <a:pt x="2" y="282"/>
                </a:lnTo>
                <a:lnTo>
                  <a:pt x="9" y="326"/>
                </a:lnTo>
                <a:lnTo>
                  <a:pt x="22" y="369"/>
                </a:lnTo>
                <a:lnTo>
                  <a:pt x="40" y="407"/>
                </a:lnTo>
                <a:lnTo>
                  <a:pt x="61" y="439"/>
                </a:lnTo>
                <a:lnTo>
                  <a:pt x="88" y="465"/>
                </a:lnTo>
                <a:lnTo>
                  <a:pt x="117" y="482"/>
                </a:lnTo>
                <a:lnTo>
                  <a:pt x="147" y="491"/>
                </a:lnTo>
                <a:lnTo>
                  <a:pt x="177" y="491"/>
                </a:lnTo>
                <a:lnTo>
                  <a:pt x="208" y="482"/>
                </a:lnTo>
                <a:lnTo>
                  <a:pt x="237" y="465"/>
                </a:lnTo>
                <a:lnTo>
                  <a:pt x="262" y="439"/>
                </a:lnTo>
                <a:lnTo>
                  <a:pt x="285" y="407"/>
                </a:lnTo>
                <a:lnTo>
                  <a:pt x="303" y="369"/>
                </a:lnTo>
                <a:lnTo>
                  <a:pt x="315" y="326"/>
                </a:lnTo>
                <a:lnTo>
                  <a:pt x="323" y="282"/>
                </a:lnTo>
                <a:lnTo>
                  <a:pt x="324" y="235"/>
                </a:lnTo>
                <a:lnTo>
                  <a:pt x="319" y="188"/>
                </a:lnTo>
                <a:lnTo>
                  <a:pt x="309" y="144"/>
                </a:lnTo>
                <a:lnTo>
                  <a:pt x="294" y="104"/>
                </a:lnTo>
                <a:lnTo>
                  <a:pt x="274" y="68"/>
                </a:lnTo>
                <a:lnTo>
                  <a:pt x="250" y="39"/>
                </a:lnTo>
                <a:lnTo>
                  <a:pt x="222" y="18"/>
                </a:lnTo>
                <a:lnTo>
                  <a:pt x="193" y="5"/>
                </a:lnTo>
                <a:lnTo>
                  <a:pt x="162" y="0"/>
                </a:ln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230" name="Freeform 43"/>
          <p:cNvSpPr>
            <a:spLocks/>
          </p:cNvSpPr>
          <p:nvPr/>
        </p:nvSpPr>
        <p:spPr bwMode="auto">
          <a:xfrm>
            <a:off x="4814888" y="1362075"/>
            <a:ext cx="2855912" cy="2378075"/>
          </a:xfrm>
          <a:custGeom>
            <a:avLst/>
            <a:gdLst>
              <a:gd name="T0" fmla="*/ 781922457 w 10431"/>
              <a:gd name="T1" fmla="*/ 335033488 h 6942"/>
              <a:gd name="T2" fmla="*/ 781922457 w 10431"/>
              <a:gd name="T3" fmla="*/ 0 h 6942"/>
              <a:gd name="T4" fmla="*/ 0 w 10431"/>
              <a:gd name="T5" fmla="*/ 0 h 6942"/>
              <a:gd name="T6" fmla="*/ 0 w 10431"/>
              <a:gd name="T7" fmla="*/ 814641186 h 6942"/>
              <a:gd name="T8" fmla="*/ 781922457 w 10431"/>
              <a:gd name="T9" fmla="*/ 814641186 h 6942"/>
              <a:gd name="T10" fmla="*/ 781922457 w 10431"/>
              <a:gd name="T11" fmla="*/ 409667837 h 694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431"/>
              <a:gd name="T19" fmla="*/ 0 h 6942"/>
              <a:gd name="T20" fmla="*/ 10431 w 10431"/>
              <a:gd name="T21" fmla="*/ 6942 h 694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431" h="6942">
                <a:moveTo>
                  <a:pt x="10431" y="2855"/>
                </a:moveTo>
                <a:lnTo>
                  <a:pt x="10431" y="0"/>
                </a:lnTo>
                <a:lnTo>
                  <a:pt x="0" y="0"/>
                </a:lnTo>
                <a:lnTo>
                  <a:pt x="0" y="6942"/>
                </a:lnTo>
                <a:lnTo>
                  <a:pt x="10431" y="6942"/>
                </a:lnTo>
                <a:lnTo>
                  <a:pt x="10431" y="3491"/>
                </a:ln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231" name="Line 44"/>
          <p:cNvSpPr>
            <a:spLocks noChangeShapeType="1"/>
          </p:cNvSpPr>
          <p:nvPr/>
        </p:nvSpPr>
        <p:spPr bwMode="auto">
          <a:xfrm>
            <a:off x="8115300" y="2719388"/>
            <a:ext cx="263525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232" name="Line 45"/>
          <p:cNvSpPr>
            <a:spLocks noChangeShapeType="1"/>
          </p:cNvSpPr>
          <p:nvPr/>
        </p:nvSpPr>
        <p:spPr bwMode="auto">
          <a:xfrm>
            <a:off x="8115300" y="2754313"/>
            <a:ext cx="2635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233" name="Freeform 46"/>
          <p:cNvSpPr>
            <a:spLocks/>
          </p:cNvSpPr>
          <p:nvPr/>
        </p:nvSpPr>
        <p:spPr bwMode="auto">
          <a:xfrm>
            <a:off x="5784850" y="2557463"/>
            <a:ext cx="455613" cy="479425"/>
          </a:xfrm>
          <a:custGeom>
            <a:avLst/>
            <a:gdLst>
              <a:gd name="T0" fmla="*/ 0 w 1663"/>
              <a:gd name="T1" fmla="*/ 164177365 h 1400"/>
              <a:gd name="T2" fmla="*/ 35728496 w 1663"/>
              <a:gd name="T3" fmla="*/ 149518608 h 1400"/>
              <a:gd name="T4" fmla="*/ 67703870 w 1663"/>
              <a:gd name="T5" fmla="*/ 123836504 h 1400"/>
              <a:gd name="T6" fmla="*/ 94200118 w 1663"/>
              <a:gd name="T7" fmla="*/ 89007639 h 1400"/>
              <a:gd name="T8" fmla="*/ 113565445 w 1663"/>
              <a:gd name="T9" fmla="*/ 47025091 h 1400"/>
              <a:gd name="T10" fmla="*/ 124824535 w 1663"/>
              <a:gd name="T11" fmla="*/ 0 h 14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663"/>
              <a:gd name="T19" fmla="*/ 0 h 1400"/>
              <a:gd name="T20" fmla="*/ 1663 w 1663"/>
              <a:gd name="T21" fmla="*/ 1400 h 14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663" h="1400">
                <a:moveTo>
                  <a:pt x="0" y="1400"/>
                </a:moveTo>
                <a:lnTo>
                  <a:pt x="476" y="1275"/>
                </a:lnTo>
                <a:lnTo>
                  <a:pt x="902" y="1056"/>
                </a:lnTo>
                <a:lnTo>
                  <a:pt x="1255" y="759"/>
                </a:lnTo>
                <a:lnTo>
                  <a:pt x="1513" y="401"/>
                </a:lnTo>
                <a:lnTo>
                  <a:pt x="1663" y="0"/>
                </a:ln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234" name="Freeform 47"/>
          <p:cNvSpPr>
            <a:spLocks/>
          </p:cNvSpPr>
          <p:nvPr/>
        </p:nvSpPr>
        <p:spPr bwMode="auto">
          <a:xfrm>
            <a:off x="5124450" y="1866900"/>
            <a:ext cx="428625" cy="458788"/>
          </a:xfrm>
          <a:custGeom>
            <a:avLst/>
            <a:gdLst>
              <a:gd name="T0" fmla="*/ 117920017 w 1558"/>
              <a:gd name="T1" fmla="*/ 0 h 1343"/>
              <a:gd name="T2" fmla="*/ 76595133 w 1558"/>
              <a:gd name="T3" fmla="*/ 20889370 h 1343"/>
              <a:gd name="T4" fmla="*/ 41324901 w 1558"/>
              <a:gd name="T5" fmla="*/ 56016205 h 1343"/>
              <a:gd name="T6" fmla="*/ 15137230 w 1558"/>
              <a:gd name="T7" fmla="*/ 102579605 h 1343"/>
              <a:gd name="T8" fmla="*/ 0 w 1558"/>
              <a:gd name="T9" fmla="*/ 156728526 h 134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58"/>
              <a:gd name="T16" fmla="*/ 0 h 1343"/>
              <a:gd name="T17" fmla="*/ 1558 w 1558"/>
              <a:gd name="T18" fmla="*/ 1343 h 134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58" h="1343">
                <a:moveTo>
                  <a:pt x="1558" y="0"/>
                </a:moveTo>
                <a:lnTo>
                  <a:pt x="1012" y="179"/>
                </a:lnTo>
                <a:lnTo>
                  <a:pt x="546" y="480"/>
                </a:lnTo>
                <a:lnTo>
                  <a:pt x="200" y="879"/>
                </a:lnTo>
                <a:lnTo>
                  <a:pt x="0" y="1343"/>
                </a:ln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235" name="Freeform 48"/>
          <p:cNvSpPr>
            <a:spLocks/>
          </p:cNvSpPr>
          <p:nvPr/>
        </p:nvSpPr>
        <p:spPr bwMode="auto">
          <a:xfrm>
            <a:off x="5121275" y="2543175"/>
            <a:ext cx="455613" cy="493713"/>
          </a:xfrm>
          <a:custGeom>
            <a:avLst/>
            <a:gdLst>
              <a:gd name="T0" fmla="*/ 0 w 1671"/>
              <a:gd name="T1" fmla="*/ 0 h 1440"/>
              <a:gd name="T2" fmla="*/ 10556808 w 1671"/>
              <a:gd name="T3" fmla="*/ 48313251 h 1440"/>
              <a:gd name="T4" fmla="*/ 29662833 w 1671"/>
              <a:gd name="T5" fmla="*/ 91689373 h 1440"/>
              <a:gd name="T6" fmla="*/ 55980142 w 1671"/>
              <a:gd name="T7" fmla="*/ 127777381 h 1440"/>
              <a:gd name="T8" fmla="*/ 88244966 w 1671"/>
              <a:gd name="T9" fmla="*/ 154108732 h 1440"/>
              <a:gd name="T10" fmla="*/ 124226931 w 1671"/>
              <a:gd name="T11" fmla="*/ 169272573 h 144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671"/>
              <a:gd name="T19" fmla="*/ 0 h 1440"/>
              <a:gd name="T20" fmla="*/ 1671 w 1671"/>
              <a:gd name="T21" fmla="*/ 1440 h 144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671" h="1440">
                <a:moveTo>
                  <a:pt x="0" y="0"/>
                </a:moveTo>
                <a:lnTo>
                  <a:pt x="142" y="411"/>
                </a:lnTo>
                <a:lnTo>
                  <a:pt x="399" y="780"/>
                </a:lnTo>
                <a:lnTo>
                  <a:pt x="753" y="1087"/>
                </a:lnTo>
                <a:lnTo>
                  <a:pt x="1187" y="1311"/>
                </a:lnTo>
                <a:lnTo>
                  <a:pt x="1671" y="1440"/>
                </a:ln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236" name="Freeform 49"/>
          <p:cNvSpPr>
            <a:spLocks/>
          </p:cNvSpPr>
          <p:nvPr/>
        </p:nvSpPr>
        <p:spPr bwMode="auto">
          <a:xfrm>
            <a:off x="5403850" y="5065713"/>
            <a:ext cx="1347788" cy="633412"/>
          </a:xfrm>
          <a:custGeom>
            <a:avLst/>
            <a:gdLst>
              <a:gd name="T0" fmla="*/ 0 w 4931"/>
              <a:gd name="T1" fmla="*/ 0 h 1851"/>
              <a:gd name="T2" fmla="*/ 13447539 w 4931"/>
              <a:gd name="T3" fmla="*/ 65576454 h 1851"/>
              <a:gd name="T4" fmla="*/ 39820016 w 4931"/>
              <a:gd name="T5" fmla="*/ 124126861 h 1851"/>
              <a:gd name="T6" fmla="*/ 77249220 w 4931"/>
              <a:gd name="T7" fmla="*/ 170967170 h 1851"/>
              <a:gd name="T8" fmla="*/ 122821711 w 4931"/>
              <a:gd name="T9" fmla="*/ 202584421 h 1851"/>
              <a:gd name="T10" fmla="*/ 173250207 w 4931"/>
              <a:gd name="T11" fmla="*/ 216753546 h 1851"/>
              <a:gd name="T12" fmla="*/ 224650081 w 4931"/>
              <a:gd name="T13" fmla="*/ 212420955 h 1851"/>
              <a:gd name="T14" fmla="*/ 273210883 w 4931"/>
              <a:gd name="T15" fmla="*/ 189820369 h 1851"/>
              <a:gd name="T16" fmla="*/ 315421490 w 4931"/>
              <a:gd name="T17" fmla="*/ 150591567 h 1851"/>
              <a:gd name="T18" fmla="*/ 347994706 w 4931"/>
              <a:gd name="T19" fmla="*/ 97896220 h 1851"/>
              <a:gd name="T20" fmla="*/ 368390275 w 4931"/>
              <a:gd name="T21" fmla="*/ 35481682 h 1851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4931"/>
              <a:gd name="T34" fmla="*/ 0 h 1851"/>
              <a:gd name="T35" fmla="*/ 4931 w 4931"/>
              <a:gd name="T36" fmla="*/ 1851 h 1851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4931" h="1851">
                <a:moveTo>
                  <a:pt x="0" y="0"/>
                </a:moveTo>
                <a:lnTo>
                  <a:pt x="180" y="560"/>
                </a:lnTo>
                <a:lnTo>
                  <a:pt x="533" y="1060"/>
                </a:lnTo>
                <a:lnTo>
                  <a:pt x="1034" y="1460"/>
                </a:lnTo>
                <a:lnTo>
                  <a:pt x="1644" y="1730"/>
                </a:lnTo>
                <a:lnTo>
                  <a:pt x="2319" y="1851"/>
                </a:lnTo>
                <a:lnTo>
                  <a:pt x="3007" y="1814"/>
                </a:lnTo>
                <a:lnTo>
                  <a:pt x="3657" y="1621"/>
                </a:lnTo>
                <a:lnTo>
                  <a:pt x="4222" y="1286"/>
                </a:lnTo>
                <a:lnTo>
                  <a:pt x="4658" y="836"/>
                </a:lnTo>
                <a:lnTo>
                  <a:pt x="4931" y="303"/>
                </a:ln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237" name="Rectangle 50"/>
          <p:cNvSpPr>
            <a:spLocks noChangeArrowheads="1"/>
          </p:cNvSpPr>
          <p:nvPr/>
        </p:nvSpPr>
        <p:spPr bwMode="auto">
          <a:xfrm>
            <a:off x="5002213" y="4637088"/>
            <a:ext cx="333375" cy="609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238" name="Line 51"/>
          <p:cNvSpPr>
            <a:spLocks noChangeShapeType="1"/>
          </p:cNvSpPr>
          <p:nvPr/>
        </p:nvSpPr>
        <p:spPr bwMode="auto">
          <a:xfrm>
            <a:off x="5284788" y="4649788"/>
            <a:ext cx="1587" cy="5969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239" name="Line 52"/>
          <p:cNvSpPr>
            <a:spLocks noChangeShapeType="1"/>
          </p:cNvSpPr>
          <p:nvPr/>
        </p:nvSpPr>
        <p:spPr bwMode="auto">
          <a:xfrm flipH="1">
            <a:off x="4878388" y="4818063"/>
            <a:ext cx="123825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240" name="Line 53"/>
          <p:cNvSpPr>
            <a:spLocks noChangeShapeType="1"/>
          </p:cNvSpPr>
          <p:nvPr/>
        </p:nvSpPr>
        <p:spPr bwMode="auto">
          <a:xfrm flipH="1">
            <a:off x="4878388" y="5078413"/>
            <a:ext cx="123825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241" name="Line 54"/>
          <p:cNvSpPr>
            <a:spLocks noChangeShapeType="1"/>
          </p:cNvSpPr>
          <p:nvPr/>
        </p:nvSpPr>
        <p:spPr bwMode="auto">
          <a:xfrm flipH="1" flipV="1">
            <a:off x="5915025" y="4792663"/>
            <a:ext cx="173038" cy="1809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242" name="Line 55"/>
          <p:cNvSpPr>
            <a:spLocks noChangeShapeType="1"/>
          </p:cNvSpPr>
          <p:nvPr/>
        </p:nvSpPr>
        <p:spPr bwMode="auto">
          <a:xfrm>
            <a:off x="5915025" y="4792663"/>
            <a:ext cx="357188" cy="3762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243" name="Line 56"/>
          <p:cNvSpPr>
            <a:spLocks noChangeShapeType="1"/>
          </p:cNvSpPr>
          <p:nvPr/>
        </p:nvSpPr>
        <p:spPr bwMode="auto">
          <a:xfrm flipV="1">
            <a:off x="5915025" y="4557713"/>
            <a:ext cx="1588" cy="2349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244" name="Line 57"/>
          <p:cNvSpPr>
            <a:spLocks noChangeShapeType="1"/>
          </p:cNvSpPr>
          <p:nvPr/>
        </p:nvSpPr>
        <p:spPr bwMode="auto">
          <a:xfrm>
            <a:off x="6272213" y="5168900"/>
            <a:ext cx="479425" cy="15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245" name="Line 58"/>
          <p:cNvSpPr>
            <a:spLocks noChangeShapeType="1"/>
          </p:cNvSpPr>
          <p:nvPr/>
        </p:nvSpPr>
        <p:spPr bwMode="auto">
          <a:xfrm flipV="1">
            <a:off x="6088063" y="4025900"/>
            <a:ext cx="0" cy="9477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246" name="Line 59"/>
          <p:cNvSpPr>
            <a:spLocks noChangeShapeType="1"/>
          </p:cNvSpPr>
          <p:nvPr/>
        </p:nvSpPr>
        <p:spPr bwMode="auto">
          <a:xfrm>
            <a:off x="6088063" y="4973638"/>
            <a:ext cx="2328862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247" name="Line 60"/>
          <p:cNvSpPr>
            <a:spLocks noChangeShapeType="1"/>
          </p:cNvSpPr>
          <p:nvPr/>
        </p:nvSpPr>
        <p:spPr bwMode="auto">
          <a:xfrm flipV="1">
            <a:off x="6284913" y="4557713"/>
            <a:ext cx="1587" cy="2222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248" name="Line 61"/>
          <p:cNvSpPr>
            <a:spLocks noChangeShapeType="1"/>
          </p:cNvSpPr>
          <p:nvPr/>
        </p:nvSpPr>
        <p:spPr bwMode="auto">
          <a:xfrm>
            <a:off x="6284913" y="4779963"/>
            <a:ext cx="4667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249" name="Line 62"/>
          <p:cNvSpPr>
            <a:spLocks noChangeShapeType="1"/>
          </p:cNvSpPr>
          <p:nvPr/>
        </p:nvSpPr>
        <p:spPr bwMode="auto">
          <a:xfrm>
            <a:off x="4818063" y="5702300"/>
            <a:ext cx="30861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250" name="Rectangle 63"/>
          <p:cNvSpPr>
            <a:spLocks noChangeArrowheads="1"/>
          </p:cNvSpPr>
          <p:nvPr/>
        </p:nvSpPr>
        <p:spPr bwMode="auto">
          <a:xfrm>
            <a:off x="7346950" y="5403850"/>
            <a:ext cx="209550" cy="298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251" name="Line 64"/>
          <p:cNvSpPr>
            <a:spLocks noChangeShapeType="1"/>
          </p:cNvSpPr>
          <p:nvPr/>
        </p:nvSpPr>
        <p:spPr bwMode="auto">
          <a:xfrm flipV="1">
            <a:off x="6751638" y="4325938"/>
            <a:ext cx="1587" cy="4540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252" name="Line 65"/>
          <p:cNvSpPr>
            <a:spLocks noChangeShapeType="1"/>
          </p:cNvSpPr>
          <p:nvPr/>
        </p:nvSpPr>
        <p:spPr bwMode="auto">
          <a:xfrm>
            <a:off x="6751638" y="5168900"/>
            <a:ext cx="1587" cy="533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253" name="Line 66"/>
          <p:cNvSpPr>
            <a:spLocks noChangeShapeType="1"/>
          </p:cNvSpPr>
          <p:nvPr/>
        </p:nvSpPr>
        <p:spPr bwMode="auto">
          <a:xfrm>
            <a:off x="5348288" y="4779963"/>
            <a:ext cx="7461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254" name="Line 67"/>
          <p:cNvSpPr>
            <a:spLocks noChangeShapeType="1"/>
          </p:cNvSpPr>
          <p:nvPr/>
        </p:nvSpPr>
        <p:spPr bwMode="auto">
          <a:xfrm>
            <a:off x="5335588" y="5065713"/>
            <a:ext cx="6826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255" name="Line 68"/>
          <p:cNvSpPr>
            <a:spLocks noChangeShapeType="1"/>
          </p:cNvSpPr>
          <p:nvPr/>
        </p:nvSpPr>
        <p:spPr bwMode="auto">
          <a:xfrm>
            <a:off x="5422900" y="4779963"/>
            <a:ext cx="158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256" name="Freeform 69"/>
          <p:cNvSpPr>
            <a:spLocks/>
          </p:cNvSpPr>
          <p:nvPr/>
        </p:nvSpPr>
        <p:spPr bwMode="auto">
          <a:xfrm>
            <a:off x="6402388" y="4325938"/>
            <a:ext cx="349250" cy="454025"/>
          </a:xfrm>
          <a:custGeom>
            <a:avLst/>
            <a:gdLst>
              <a:gd name="T0" fmla="*/ 95144742 w 1282"/>
              <a:gd name="T1" fmla="*/ 155929411 h 1322"/>
              <a:gd name="T2" fmla="*/ 74735419 w 1282"/>
              <a:gd name="T3" fmla="*/ 92708342 h 1322"/>
              <a:gd name="T4" fmla="*/ 42154639 w 1282"/>
              <a:gd name="T5" fmla="*/ 39395079 h 1322"/>
              <a:gd name="T6" fmla="*/ 0 w 1282"/>
              <a:gd name="T7" fmla="*/ 0 h 1322"/>
              <a:gd name="T8" fmla="*/ 0 60000 65536"/>
              <a:gd name="T9" fmla="*/ 0 60000 65536"/>
              <a:gd name="T10" fmla="*/ 0 60000 65536"/>
              <a:gd name="T11" fmla="*/ 0 60000 65536"/>
              <a:gd name="T12" fmla="*/ 0 w 1282"/>
              <a:gd name="T13" fmla="*/ 0 h 1322"/>
              <a:gd name="T14" fmla="*/ 1282 w 1282"/>
              <a:gd name="T15" fmla="*/ 1322 h 132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82" h="1322">
                <a:moveTo>
                  <a:pt x="1282" y="1322"/>
                </a:moveTo>
                <a:lnTo>
                  <a:pt x="1007" y="786"/>
                </a:lnTo>
                <a:lnTo>
                  <a:pt x="568" y="334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257" name="Line 70"/>
          <p:cNvSpPr>
            <a:spLocks noChangeShapeType="1"/>
          </p:cNvSpPr>
          <p:nvPr/>
        </p:nvSpPr>
        <p:spPr bwMode="auto">
          <a:xfrm flipV="1">
            <a:off x="5946775" y="3948113"/>
            <a:ext cx="4763" cy="47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258" name="Line 71"/>
          <p:cNvSpPr>
            <a:spLocks noChangeShapeType="1"/>
          </p:cNvSpPr>
          <p:nvPr/>
        </p:nvSpPr>
        <p:spPr bwMode="auto">
          <a:xfrm flipV="1">
            <a:off x="5988050" y="3948113"/>
            <a:ext cx="61913" cy="650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259" name="Line 72"/>
          <p:cNvSpPr>
            <a:spLocks noChangeShapeType="1"/>
          </p:cNvSpPr>
          <p:nvPr/>
        </p:nvSpPr>
        <p:spPr bwMode="auto">
          <a:xfrm flipV="1">
            <a:off x="6086475" y="3948113"/>
            <a:ext cx="61913" cy="650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260" name="Line 73"/>
          <p:cNvSpPr>
            <a:spLocks noChangeShapeType="1"/>
          </p:cNvSpPr>
          <p:nvPr/>
        </p:nvSpPr>
        <p:spPr bwMode="auto">
          <a:xfrm flipV="1">
            <a:off x="6186488" y="3967163"/>
            <a:ext cx="42862" cy="460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261" name="Line 74"/>
          <p:cNvSpPr>
            <a:spLocks noChangeShapeType="1"/>
          </p:cNvSpPr>
          <p:nvPr/>
        </p:nvSpPr>
        <p:spPr bwMode="auto">
          <a:xfrm>
            <a:off x="5957888" y="4013200"/>
            <a:ext cx="285750" cy="15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262" name="Freeform 75"/>
          <p:cNvSpPr>
            <a:spLocks/>
          </p:cNvSpPr>
          <p:nvPr/>
        </p:nvSpPr>
        <p:spPr bwMode="auto">
          <a:xfrm>
            <a:off x="6402388" y="4325938"/>
            <a:ext cx="1501775" cy="454025"/>
          </a:xfrm>
          <a:custGeom>
            <a:avLst/>
            <a:gdLst>
              <a:gd name="T0" fmla="*/ 0 w 5487"/>
              <a:gd name="T1" fmla="*/ 0 h 1322"/>
              <a:gd name="T2" fmla="*/ 411031183 w 5487"/>
              <a:gd name="T3" fmla="*/ 0 h 1322"/>
              <a:gd name="T4" fmla="*/ 411031183 w 5487"/>
              <a:gd name="T5" fmla="*/ 155929411 h 1322"/>
              <a:gd name="T6" fmla="*/ 0 60000 65536"/>
              <a:gd name="T7" fmla="*/ 0 60000 65536"/>
              <a:gd name="T8" fmla="*/ 0 60000 65536"/>
              <a:gd name="T9" fmla="*/ 0 w 5487"/>
              <a:gd name="T10" fmla="*/ 0 h 1322"/>
              <a:gd name="T11" fmla="*/ 5487 w 5487"/>
              <a:gd name="T12" fmla="*/ 1322 h 132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487" h="1322">
                <a:moveTo>
                  <a:pt x="0" y="0"/>
                </a:moveTo>
                <a:lnTo>
                  <a:pt x="5487" y="0"/>
                </a:lnTo>
                <a:lnTo>
                  <a:pt x="5487" y="1322"/>
                </a:ln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263" name="Freeform 76"/>
          <p:cNvSpPr>
            <a:spLocks/>
          </p:cNvSpPr>
          <p:nvPr/>
        </p:nvSpPr>
        <p:spPr bwMode="auto">
          <a:xfrm>
            <a:off x="5422900" y="4325938"/>
            <a:ext cx="352425" cy="454025"/>
          </a:xfrm>
          <a:custGeom>
            <a:avLst/>
            <a:gdLst>
              <a:gd name="T0" fmla="*/ 96806997 w 1283"/>
              <a:gd name="T1" fmla="*/ 0 h 1322"/>
              <a:gd name="T2" fmla="*/ 53873775 w 1283"/>
              <a:gd name="T3" fmla="*/ 39395079 h 1322"/>
              <a:gd name="T4" fmla="*/ 20900753 w 1283"/>
              <a:gd name="T5" fmla="*/ 92708342 h 1322"/>
              <a:gd name="T6" fmla="*/ 0 w 1283"/>
              <a:gd name="T7" fmla="*/ 155929411 h 1322"/>
              <a:gd name="T8" fmla="*/ 0 60000 65536"/>
              <a:gd name="T9" fmla="*/ 0 60000 65536"/>
              <a:gd name="T10" fmla="*/ 0 60000 65536"/>
              <a:gd name="T11" fmla="*/ 0 60000 65536"/>
              <a:gd name="T12" fmla="*/ 0 w 1283"/>
              <a:gd name="T13" fmla="*/ 0 h 1322"/>
              <a:gd name="T14" fmla="*/ 1283 w 1283"/>
              <a:gd name="T15" fmla="*/ 1322 h 132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83" h="1322">
                <a:moveTo>
                  <a:pt x="1283" y="0"/>
                </a:moveTo>
                <a:lnTo>
                  <a:pt x="714" y="334"/>
                </a:lnTo>
                <a:lnTo>
                  <a:pt x="277" y="786"/>
                </a:lnTo>
                <a:lnTo>
                  <a:pt x="0" y="1322"/>
                </a:ln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264" name="Freeform 77"/>
          <p:cNvSpPr>
            <a:spLocks/>
          </p:cNvSpPr>
          <p:nvPr/>
        </p:nvSpPr>
        <p:spPr bwMode="auto">
          <a:xfrm>
            <a:off x="7988300" y="4325938"/>
            <a:ext cx="542925" cy="1770062"/>
          </a:xfrm>
          <a:custGeom>
            <a:avLst/>
            <a:gdLst>
              <a:gd name="T0" fmla="*/ 0 w 1991"/>
              <a:gd name="T1" fmla="*/ 155202830 h 5166"/>
              <a:gd name="T2" fmla="*/ 0 w 1991"/>
              <a:gd name="T3" fmla="*/ 0 h 5166"/>
              <a:gd name="T4" fmla="*/ 148050035 w 1991"/>
              <a:gd name="T5" fmla="*/ 0 h 5166"/>
              <a:gd name="T6" fmla="*/ 148050035 w 1991"/>
              <a:gd name="T7" fmla="*/ 606488421 h 5166"/>
              <a:gd name="T8" fmla="*/ 0 w 1991"/>
              <a:gd name="T9" fmla="*/ 606488421 h 5166"/>
              <a:gd name="T10" fmla="*/ 0 w 1991"/>
              <a:gd name="T11" fmla="*/ 288804128 h 516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991"/>
              <a:gd name="T19" fmla="*/ 0 h 5166"/>
              <a:gd name="T20" fmla="*/ 1991 w 1991"/>
              <a:gd name="T21" fmla="*/ 5166 h 516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991" h="5166">
                <a:moveTo>
                  <a:pt x="0" y="1322"/>
                </a:moveTo>
                <a:lnTo>
                  <a:pt x="0" y="0"/>
                </a:lnTo>
                <a:lnTo>
                  <a:pt x="1991" y="0"/>
                </a:lnTo>
                <a:lnTo>
                  <a:pt x="1991" y="5166"/>
                </a:lnTo>
                <a:lnTo>
                  <a:pt x="0" y="5166"/>
                </a:lnTo>
                <a:lnTo>
                  <a:pt x="0" y="2460"/>
                </a:ln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265" name="Freeform 78"/>
          <p:cNvSpPr>
            <a:spLocks/>
          </p:cNvSpPr>
          <p:nvPr/>
        </p:nvSpPr>
        <p:spPr bwMode="auto">
          <a:xfrm>
            <a:off x="8277225" y="4900613"/>
            <a:ext cx="139700" cy="146050"/>
          </a:xfrm>
          <a:custGeom>
            <a:avLst/>
            <a:gdLst>
              <a:gd name="T0" fmla="*/ 38493282 w 507"/>
              <a:gd name="T1" fmla="*/ 25153516 h 426"/>
              <a:gd name="T2" fmla="*/ 32874965 w 507"/>
              <a:gd name="T3" fmla="*/ 7287416 h 426"/>
              <a:gd name="T4" fmla="*/ 19208616 w 507"/>
              <a:gd name="T5" fmla="*/ 0 h 426"/>
              <a:gd name="T6" fmla="*/ 5542536 w 507"/>
              <a:gd name="T7" fmla="*/ 7287416 h 426"/>
              <a:gd name="T8" fmla="*/ 0 w 507"/>
              <a:gd name="T9" fmla="*/ 25153516 h 426"/>
              <a:gd name="T10" fmla="*/ 5542536 w 507"/>
              <a:gd name="T11" fmla="*/ 42902015 h 426"/>
              <a:gd name="T12" fmla="*/ 19208616 w 507"/>
              <a:gd name="T13" fmla="*/ 50071844 h 426"/>
              <a:gd name="T14" fmla="*/ 32874965 w 507"/>
              <a:gd name="T15" fmla="*/ 42902015 h 426"/>
              <a:gd name="T16" fmla="*/ 38493282 w 507"/>
              <a:gd name="T17" fmla="*/ 25153516 h 42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507"/>
              <a:gd name="T28" fmla="*/ 0 h 426"/>
              <a:gd name="T29" fmla="*/ 507 w 507"/>
              <a:gd name="T30" fmla="*/ 426 h 42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507" h="426">
                <a:moveTo>
                  <a:pt x="507" y="214"/>
                </a:moveTo>
                <a:lnTo>
                  <a:pt x="433" y="62"/>
                </a:lnTo>
                <a:lnTo>
                  <a:pt x="253" y="0"/>
                </a:lnTo>
                <a:lnTo>
                  <a:pt x="73" y="62"/>
                </a:lnTo>
                <a:lnTo>
                  <a:pt x="0" y="214"/>
                </a:lnTo>
                <a:lnTo>
                  <a:pt x="73" y="365"/>
                </a:lnTo>
                <a:lnTo>
                  <a:pt x="253" y="426"/>
                </a:lnTo>
                <a:lnTo>
                  <a:pt x="433" y="365"/>
                </a:lnTo>
                <a:lnTo>
                  <a:pt x="507" y="214"/>
                </a:ln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266" name="Freeform 79"/>
          <p:cNvSpPr>
            <a:spLocks/>
          </p:cNvSpPr>
          <p:nvPr/>
        </p:nvSpPr>
        <p:spPr bwMode="auto">
          <a:xfrm>
            <a:off x="8045450" y="4851400"/>
            <a:ext cx="139700" cy="242888"/>
          </a:xfrm>
          <a:custGeom>
            <a:avLst/>
            <a:gdLst>
              <a:gd name="T0" fmla="*/ 19133129 w 508"/>
              <a:gd name="T1" fmla="*/ 0 h 711"/>
              <a:gd name="T2" fmla="*/ 15503126 w 508"/>
              <a:gd name="T3" fmla="*/ 700310 h 711"/>
              <a:gd name="T4" fmla="*/ 12100001 w 508"/>
              <a:gd name="T5" fmla="*/ 3034221 h 711"/>
              <a:gd name="T6" fmla="*/ 8848125 w 508"/>
              <a:gd name="T7" fmla="*/ 6535088 h 711"/>
              <a:gd name="T8" fmla="*/ 5974376 w 508"/>
              <a:gd name="T9" fmla="*/ 11436576 h 711"/>
              <a:gd name="T10" fmla="*/ 3554375 w 508"/>
              <a:gd name="T11" fmla="*/ 17388526 h 711"/>
              <a:gd name="T12" fmla="*/ 1739375 w 508"/>
              <a:gd name="T13" fmla="*/ 24273771 h 711"/>
              <a:gd name="T14" fmla="*/ 529375 w 508"/>
              <a:gd name="T15" fmla="*/ 31742489 h 711"/>
              <a:gd name="T16" fmla="*/ 0 w 508"/>
              <a:gd name="T17" fmla="*/ 39561362 h 711"/>
              <a:gd name="T18" fmla="*/ 226875 w 508"/>
              <a:gd name="T19" fmla="*/ 47497078 h 711"/>
              <a:gd name="T20" fmla="*/ 1058750 w 508"/>
              <a:gd name="T21" fmla="*/ 55199460 h 711"/>
              <a:gd name="T22" fmla="*/ 2646875 w 508"/>
              <a:gd name="T23" fmla="*/ 62318023 h 711"/>
              <a:gd name="T24" fmla="*/ 4688751 w 508"/>
              <a:gd name="T25" fmla="*/ 68853451 h 711"/>
              <a:gd name="T26" fmla="*/ 7335625 w 508"/>
              <a:gd name="T27" fmla="*/ 74221581 h 711"/>
              <a:gd name="T28" fmla="*/ 10360627 w 508"/>
              <a:gd name="T29" fmla="*/ 78539588 h 711"/>
              <a:gd name="T30" fmla="*/ 13839376 w 508"/>
              <a:gd name="T31" fmla="*/ 81456976 h 711"/>
              <a:gd name="T32" fmla="*/ 17318125 w 508"/>
              <a:gd name="T33" fmla="*/ 82974086 h 711"/>
              <a:gd name="T34" fmla="*/ 21099379 w 508"/>
              <a:gd name="T35" fmla="*/ 82974086 h 711"/>
              <a:gd name="T36" fmla="*/ 24578128 w 508"/>
              <a:gd name="T37" fmla="*/ 81456976 h 711"/>
              <a:gd name="T38" fmla="*/ 27981252 w 508"/>
              <a:gd name="T39" fmla="*/ 78539588 h 711"/>
              <a:gd name="T40" fmla="*/ 31006251 w 508"/>
              <a:gd name="T41" fmla="*/ 74221581 h 711"/>
              <a:gd name="T42" fmla="*/ 33728750 w 508"/>
              <a:gd name="T43" fmla="*/ 68853451 h 711"/>
              <a:gd name="T44" fmla="*/ 35770625 w 508"/>
              <a:gd name="T45" fmla="*/ 62318023 h 711"/>
              <a:gd name="T46" fmla="*/ 37358758 w 508"/>
              <a:gd name="T47" fmla="*/ 55199460 h 711"/>
              <a:gd name="T48" fmla="*/ 38190633 w 508"/>
              <a:gd name="T49" fmla="*/ 47497078 h 711"/>
              <a:gd name="T50" fmla="*/ 38417508 w 508"/>
              <a:gd name="T51" fmla="*/ 39561362 h 711"/>
              <a:gd name="T52" fmla="*/ 37812508 w 508"/>
              <a:gd name="T53" fmla="*/ 31742489 h 711"/>
              <a:gd name="T54" fmla="*/ 36678133 w 508"/>
              <a:gd name="T55" fmla="*/ 24273771 h 711"/>
              <a:gd name="T56" fmla="*/ 34863125 w 508"/>
              <a:gd name="T57" fmla="*/ 17388526 h 711"/>
              <a:gd name="T58" fmla="*/ 32443126 w 508"/>
              <a:gd name="T59" fmla="*/ 11436576 h 711"/>
              <a:gd name="T60" fmla="*/ 29569376 w 508"/>
              <a:gd name="T61" fmla="*/ 6535088 h 711"/>
              <a:gd name="T62" fmla="*/ 26317502 w 508"/>
              <a:gd name="T63" fmla="*/ 3034221 h 711"/>
              <a:gd name="T64" fmla="*/ 22763128 w 508"/>
              <a:gd name="T65" fmla="*/ 700310 h 711"/>
              <a:gd name="T66" fmla="*/ 19133129 w 508"/>
              <a:gd name="T67" fmla="*/ 0 h 711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508"/>
              <a:gd name="T103" fmla="*/ 0 h 711"/>
              <a:gd name="T104" fmla="*/ 508 w 508"/>
              <a:gd name="T105" fmla="*/ 711 h 711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508" h="711">
                <a:moveTo>
                  <a:pt x="253" y="0"/>
                </a:moveTo>
                <a:lnTo>
                  <a:pt x="205" y="6"/>
                </a:lnTo>
                <a:lnTo>
                  <a:pt x="160" y="26"/>
                </a:lnTo>
                <a:lnTo>
                  <a:pt x="117" y="56"/>
                </a:lnTo>
                <a:lnTo>
                  <a:pt x="79" y="98"/>
                </a:lnTo>
                <a:lnTo>
                  <a:pt x="47" y="149"/>
                </a:lnTo>
                <a:lnTo>
                  <a:pt x="23" y="208"/>
                </a:lnTo>
                <a:lnTo>
                  <a:pt x="7" y="272"/>
                </a:lnTo>
                <a:lnTo>
                  <a:pt x="0" y="339"/>
                </a:lnTo>
                <a:lnTo>
                  <a:pt x="3" y="407"/>
                </a:lnTo>
                <a:lnTo>
                  <a:pt x="14" y="473"/>
                </a:lnTo>
                <a:lnTo>
                  <a:pt x="35" y="534"/>
                </a:lnTo>
                <a:lnTo>
                  <a:pt x="62" y="590"/>
                </a:lnTo>
                <a:lnTo>
                  <a:pt x="97" y="636"/>
                </a:lnTo>
                <a:lnTo>
                  <a:pt x="137" y="673"/>
                </a:lnTo>
                <a:lnTo>
                  <a:pt x="183" y="698"/>
                </a:lnTo>
                <a:lnTo>
                  <a:pt x="229" y="711"/>
                </a:lnTo>
                <a:lnTo>
                  <a:pt x="279" y="711"/>
                </a:lnTo>
                <a:lnTo>
                  <a:pt x="325" y="698"/>
                </a:lnTo>
                <a:lnTo>
                  <a:pt x="370" y="673"/>
                </a:lnTo>
                <a:lnTo>
                  <a:pt x="410" y="636"/>
                </a:lnTo>
                <a:lnTo>
                  <a:pt x="446" y="590"/>
                </a:lnTo>
                <a:lnTo>
                  <a:pt x="473" y="534"/>
                </a:lnTo>
                <a:lnTo>
                  <a:pt x="494" y="473"/>
                </a:lnTo>
                <a:lnTo>
                  <a:pt x="505" y="407"/>
                </a:lnTo>
                <a:lnTo>
                  <a:pt x="508" y="339"/>
                </a:lnTo>
                <a:lnTo>
                  <a:pt x="500" y="272"/>
                </a:lnTo>
                <a:lnTo>
                  <a:pt x="485" y="208"/>
                </a:lnTo>
                <a:lnTo>
                  <a:pt x="461" y="149"/>
                </a:lnTo>
                <a:lnTo>
                  <a:pt x="429" y="98"/>
                </a:lnTo>
                <a:lnTo>
                  <a:pt x="391" y="56"/>
                </a:lnTo>
                <a:lnTo>
                  <a:pt x="348" y="26"/>
                </a:lnTo>
                <a:lnTo>
                  <a:pt x="301" y="6"/>
                </a:lnTo>
                <a:lnTo>
                  <a:pt x="253" y="0"/>
                </a:ln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267" name="Freeform 80"/>
          <p:cNvSpPr>
            <a:spLocks/>
          </p:cNvSpPr>
          <p:nvPr/>
        </p:nvSpPr>
        <p:spPr bwMode="auto">
          <a:xfrm>
            <a:off x="4818063" y="4325938"/>
            <a:ext cx="3086100" cy="1770062"/>
          </a:xfrm>
          <a:custGeom>
            <a:avLst/>
            <a:gdLst>
              <a:gd name="T0" fmla="*/ 845076575 w 11270"/>
              <a:gd name="T1" fmla="*/ 288804128 h 5166"/>
              <a:gd name="T2" fmla="*/ 845076575 w 11270"/>
              <a:gd name="T3" fmla="*/ 606488421 h 5166"/>
              <a:gd name="T4" fmla="*/ 0 w 11270"/>
              <a:gd name="T5" fmla="*/ 606488421 h 5166"/>
              <a:gd name="T6" fmla="*/ 0 w 11270"/>
              <a:gd name="T7" fmla="*/ 0 h 5166"/>
              <a:gd name="T8" fmla="*/ 261696329 w 11270"/>
              <a:gd name="T9" fmla="*/ 0 h 516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270"/>
              <a:gd name="T16" fmla="*/ 0 h 5166"/>
              <a:gd name="T17" fmla="*/ 11270 w 11270"/>
              <a:gd name="T18" fmla="*/ 5166 h 516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270" h="5166">
                <a:moveTo>
                  <a:pt x="11270" y="2460"/>
                </a:moveTo>
                <a:lnTo>
                  <a:pt x="11270" y="5166"/>
                </a:lnTo>
                <a:lnTo>
                  <a:pt x="0" y="5166"/>
                </a:lnTo>
                <a:lnTo>
                  <a:pt x="0" y="0"/>
                </a:lnTo>
                <a:lnTo>
                  <a:pt x="3490" y="0"/>
                </a:ln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51268" name="Group 97"/>
          <p:cNvGrpSpPr>
            <a:grpSpLocks/>
          </p:cNvGrpSpPr>
          <p:nvPr/>
        </p:nvGrpSpPr>
        <p:grpSpPr bwMode="auto">
          <a:xfrm>
            <a:off x="4738688" y="1285875"/>
            <a:ext cx="4090987" cy="3390900"/>
            <a:chOff x="2985" y="810"/>
            <a:chExt cx="2577" cy="2136"/>
          </a:xfrm>
        </p:grpSpPr>
        <p:sp>
          <p:nvSpPr>
            <p:cNvPr id="474194" name="Text Box 82"/>
            <p:cNvSpPr txBox="1">
              <a:spLocks noChangeArrowheads="1"/>
            </p:cNvSpPr>
            <p:nvPr/>
          </p:nvSpPr>
          <p:spPr bwMode="auto">
            <a:xfrm>
              <a:off x="3313" y="1232"/>
              <a:ext cx="623" cy="3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>
                <a:defRPr/>
              </a:pPr>
              <a:r>
                <a:rPr lang="zh-CN" altLang="en-US" sz="16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itchFamily="2" charset="-122"/>
                  <a:ea typeface="黑体" pitchFamily="2" charset="-122"/>
                </a:rPr>
                <a:t>积分球</a:t>
              </a:r>
            </a:p>
          </p:txBody>
        </p:sp>
        <p:sp>
          <p:nvSpPr>
            <p:cNvPr id="474195" name="Text Box 83"/>
            <p:cNvSpPr txBox="1">
              <a:spLocks noChangeArrowheads="1"/>
            </p:cNvSpPr>
            <p:nvPr/>
          </p:nvSpPr>
          <p:spPr bwMode="auto">
            <a:xfrm>
              <a:off x="3494" y="1995"/>
              <a:ext cx="373" cy="35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just">
                <a:defRPr/>
              </a:pPr>
              <a:r>
                <a:rPr lang="en-US" altLang="zh-CN" sz="1600" b="1" i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rPr>
                <a:t>X</a:t>
              </a:r>
              <a:endParaRPr lang="en-US" altLang="zh-CN" sz="16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endParaRPr>
            </a:p>
          </p:txBody>
        </p:sp>
        <p:sp>
          <p:nvSpPr>
            <p:cNvPr id="474196" name="Text Box 84"/>
            <p:cNvSpPr txBox="1">
              <a:spLocks noChangeArrowheads="1"/>
            </p:cNvSpPr>
            <p:nvPr/>
          </p:nvSpPr>
          <p:spPr bwMode="auto">
            <a:xfrm>
              <a:off x="3028" y="1218"/>
              <a:ext cx="382" cy="32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just">
                <a:defRPr/>
              </a:pPr>
              <a:r>
                <a:rPr lang="en-US" altLang="zh-CN" sz="1600" b="1" i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rPr>
                <a:t>Y</a:t>
              </a:r>
              <a:endParaRPr lang="en-US" altLang="zh-CN" sz="16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endParaRPr>
            </a:p>
          </p:txBody>
        </p:sp>
        <p:sp>
          <p:nvSpPr>
            <p:cNvPr id="474197" name="Text Box 85"/>
            <p:cNvSpPr txBox="1">
              <a:spLocks noChangeArrowheads="1"/>
            </p:cNvSpPr>
            <p:nvPr/>
          </p:nvSpPr>
          <p:spPr bwMode="auto">
            <a:xfrm>
              <a:off x="3473" y="810"/>
              <a:ext cx="373" cy="3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just">
                <a:defRPr/>
              </a:pPr>
              <a:r>
                <a:rPr lang="en-US" altLang="zh-CN" sz="1600" b="1" i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rPr>
                <a:t>Z</a:t>
              </a:r>
              <a:endParaRPr lang="en-US" altLang="zh-CN" sz="16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endParaRPr>
            </a:p>
          </p:txBody>
        </p:sp>
        <p:sp>
          <p:nvSpPr>
            <p:cNvPr id="474198" name="Text Box 86"/>
            <p:cNvSpPr txBox="1">
              <a:spLocks noChangeArrowheads="1"/>
            </p:cNvSpPr>
            <p:nvPr/>
          </p:nvSpPr>
          <p:spPr bwMode="auto">
            <a:xfrm>
              <a:off x="3898" y="1946"/>
              <a:ext cx="662" cy="28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just">
                <a:defRPr/>
              </a:pPr>
              <a:r>
                <a:rPr lang="zh-CN" altLang="en-US" sz="16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itchFamily="2" charset="-122"/>
                  <a:ea typeface="黑体" pitchFamily="2" charset="-122"/>
                </a:rPr>
                <a:t>透射样品</a:t>
              </a:r>
            </a:p>
          </p:txBody>
        </p:sp>
        <p:sp>
          <p:nvSpPr>
            <p:cNvPr id="474199" name="Text Box 87"/>
            <p:cNvSpPr txBox="1">
              <a:spLocks noChangeArrowheads="1"/>
            </p:cNvSpPr>
            <p:nvPr/>
          </p:nvSpPr>
          <p:spPr bwMode="auto">
            <a:xfrm>
              <a:off x="4725" y="2345"/>
              <a:ext cx="837" cy="31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just">
                <a:defRPr/>
              </a:pPr>
              <a:r>
                <a:rPr lang="zh-CN" altLang="en-US" sz="1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itchFamily="2" charset="-122"/>
                  <a:ea typeface="黑体" pitchFamily="2" charset="-122"/>
                </a:rPr>
                <a:t>平衡用光电管</a:t>
              </a:r>
            </a:p>
          </p:txBody>
        </p:sp>
        <p:sp>
          <p:nvSpPr>
            <p:cNvPr id="474200" name="Text Box 88"/>
            <p:cNvSpPr txBox="1">
              <a:spLocks noChangeArrowheads="1"/>
            </p:cNvSpPr>
            <p:nvPr/>
          </p:nvSpPr>
          <p:spPr bwMode="auto">
            <a:xfrm>
              <a:off x="3556" y="2312"/>
              <a:ext cx="683" cy="43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just">
                <a:defRPr/>
              </a:pPr>
              <a:r>
                <a:rPr lang="zh-CN" altLang="en-US" sz="16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itchFamily="2" charset="-122"/>
                  <a:ea typeface="黑体" pitchFamily="2" charset="-122"/>
                </a:rPr>
                <a:t>反射样品</a:t>
              </a:r>
            </a:p>
          </p:txBody>
        </p:sp>
        <p:sp>
          <p:nvSpPr>
            <p:cNvPr id="474201" name="Text Box 89"/>
            <p:cNvSpPr txBox="1">
              <a:spLocks noChangeArrowheads="1"/>
            </p:cNvSpPr>
            <p:nvPr/>
          </p:nvSpPr>
          <p:spPr bwMode="auto">
            <a:xfrm>
              <a:off x="2985" y="2675"/>
              <a:ext cx="310" cy="27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just">
                <a:defRPr/>
              </a:pPr>
              <a:r>
                <a:rPr lang="en-US" altLang="zh-CN" sz="1600" b="1" i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rPr>
                <a:t>Y</a:t>
              </a:r>
              <a:endParaRPr lang="en-US" altLang="zh-CN" sz="16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endParaRPr>
            </a:p>
          </p:txBody>
        </p:sp>
        <p:sp>
          <p:nvSpPr>
            <p:cNvPr id="474202" name="Text Box 90"/>
            <p:cNvSpPr txBox="1">
              <a:spLocks noChangeArrowheads="1"/>
            </p:cNvSpPr>
            <p:nvPr/>
          </p:nvSpPr>
          <p:spPr bwMode="auto">
            <a:xfrm>
              <a:off x="4859" y="1113"/>
              <a:ext cx="444" cy="27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just">
                <a:defRPr/>
              </a:pPr>
              <a:r>
                <a:rPr lang="zh-CN" altLang="en-US" sz="16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itchFamily="2" charset="-122"/>
                  <a:ea typeface="黑体" pitchFamily="2" charset="-122"/>
                </a:rPr>
                <a:t>光源</a:t>
              </a:r>
            </a:p>
          </p:txBody>
        </p:sp>
      </p:grpSp>
      <p:sp>
        <p:nvSpPr>
          <p:cNvPr id="51269" name="Line 91"/>
          <p:cNvSpPr>
            <a:spLocks noChangeShapeType="1"/>
          </p:cNvSpPr>
          <p:nvPr/>
        </p:nvSpPr>
        <p:spPr bwMode="auto">
          <a:xfrm>
            <a:off x="8040688" y="2451100"/>
            <a:ext cx="0" cy="6572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stealth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270" name="Line 92"/>
          <p:cNvSpPr>
            <a:spLocks noChangeShapeType="1"/>
          </p:cNvSpPr>
          <p:nvPr/>
        </p:nvSpPr>
        <p:spPr bwMode="auto">
          <a:xfrm flipH="1">
            <a:off x="5916613" y="2451100"/>
            <a:ext cx="21240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stealth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4205" name="Text Box 93"/>
          <p:cNvSpPr txBox="1">
            <a:spLocks noChangeArrowheads="1"/>
          </p:cNvSpPr>
          <p:nvPr/>
        </p:nvSpPr>
        <p:spPr bwMode="auto">
          <a:xfrm>
            <a:off x="4765675" y="6265863"/>
            <a:ext cx="3794125" cy="59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zh-CN" altLang="en-US" sz="16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光电色度计的光学系统图</a:t>
            </a:r>
          </a:p>
        </p:txBody>
      </p:sp>
    </p:spTree>
  </p:cSld>
  <p:clrMapOvr>
    <a:masterClrMapping/>
  </p:clrMapOvr>
  <p:transition>
    <p:circle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CABD1394-735A-49FE-85D4-2E5A3963D727}" type="datetime1">
              <a:rPr lang="zh-CN" altLang="en-US" smtClean="0">
                <a:ea typeface="宋体" charset="-122"/>
              </a:rPr>
              <a:pPr/>
              <a:t>2018/2/24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52227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B4F3313-71B5-47AB-B966-66606BD82F6A}" type="slidenum">
              <a:rPr lang="en-US" altLang="zh-CN" smtClean="0">
                <a:ea typeface="宋体" charset="-122"/>
              </a:rPr>
              <a:pPr/>
              <a:t>49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47513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66713" y="306388"/>
            <a:ext cx="8270875" cy="839787"/>
          </a:xfrm>
        </p:spPr>
        <p:txBody>
          <a:bodyPr/>
          <a:lstStyle/>
          <a:p>
            <a:pPr eaLnBrk="1" fontAlgn="b" hangingPunct="1">
              <a:defRPr/>
            </a:pPr>
            <a:r>
              <a:rPr lang="en-US" altLang="zh-CN" sz="40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§4-3  </a:t>
            </a:r>
            <a:r>
              <a:rPr lang="zh-CN" altLang="en-US" sz="40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色度的测试方法和应用</a:t>
            </a:r>
          </a:p>
        </p:txBody>
      </p:sp>
      <p:sp>
        <p:nvSpPr>
          <p:cNvPr id="475139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296863" y="1349375"/>
            <a:ext cx="8550275" cy="5195888"/>
          </a:xfrm>
        </p:spPr>
        <p:txBody>
          <a:bodyPr/>
          <a:lstStyle/>
          <a:p>
            <a:pPr algn="just" eaLnBrk="1" hangingPunct="1">
              <a:buFont typeface="Wingdings" pitchFamily="2" charset="2"/>
              <a:buNone/>
              <a:defRPr/>
            </a:pPr>
            <a:r>
              <a:rPr lang="en-US" altLang="zh-CN" smtClean="0">
                <a:latin typeface="Times New Roman" pitchFamily="18" charset="0"/>
                <a:ea typeface="黑体" pitchFamily="2" charset="-122"/>
              </a:rPr>
              <a:t>2  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颜色的测量方法和仪器</a:t>
            </a:r>
          </a:p>
          <a:p>
            <a:pPr eaLnBrk="1" hangingPunct="1">
              <a:defRPr/>
            </a:pP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②测色分光光度计</a:t>
            </a:r>
          </a:p>
          <a:p>
            <a:pPr eaLnBrk="1" hangingPunct="1">
              <a:defRPr/>
            </a:pP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利用测色分光光度计可以测量物体的透射色和反射色。</a:t>
            </a:r>
          </a:p>
          <a:p>
            <a:pPr eaLnBrk="1" hangingPunct="1">
              <a:defRPr/>
            </a:pP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原理：这类仪器不是直接测量颜色的三刺激值，而是测量物体的光谱反射率或光谱透射特性，再用前述的</a:t>
            </a:r>
            <a:r>
              <a:rPr lang="en-US" altLang="zh-CN" smtClean="0">
                <a:latin typeface="Times New Roman" pitchFamily="18" charset="0"/>
                <a:ea typeface="黑体" pitchFamily="2" charset="-122"/>
              </a:rPr>
              <a:t>CIE</a:t>
            </a: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推荐的标准照明体和标准色度观察者的光谱三刺激值，利用公式计算求得被测颜色的三刺激值。</a:t>
            </a:r>
          </a:p>
          <a:p>
            <a:pPr eaLnBrk="1" hangingPunct="1">
              <a:defRPr/>
            </a:pPr>
            <a:r>
              <a:rPr lang="zh-CN" altLang="en-US" smtClean="0">
                <a:latin typeface="Times New Roman" pitchFamily="18" charset="0"/>
                <a:ea typeface="黑体" pitchFamily="2" charset="-122"/>
              </a:rPr>
              <a:t>与色度计方式测色比较，其特点：</a:t>
            </a:r>
          </a:p>
          <a:p>
            <a:pPr lvl="1" eaLnBrk="1" hangingPunct="1">
              <a:defRPr/>
            </a:pPr>
            <a:r>
              <a:rPr lang="zh-CN" altLang="en-US" sz="2400" smtClean="0">
                <a:latin typeface="Times New Roman" pitchFamily="18" charset="0"/>
                <a:ea typeface="黑体" pitchFamily="2" charset="-122"/>
              </a:rPr>
              <a:t>测量准确度高，</a:t>
            </a:r>
          </a:p>
          <a:p>
            <a:pPr lvl="1" eaLnBrk="1" hangingPunct="1">
              <a:defRPr/>
            </a:pPr>
            <a:r>
              <a:rPr lang="zh-CN" altLang="en-US" sz="2400" smtClean="0">
                <a:latin typeface="Times New Roman" pitchFamily="18" charset="0"/>
                <a:ea typeface="黑体" pitchFamily="2" charset="-122"/>
              </a:rPr>
              <a:t>仪器复杂和昂贵，</a:t>
            </a:r>
          </a:p>
          <a:p>
            <a:pPr lvl="1" eaLnBrk="1" hangingPunct="1">
              <a:defRPr/>
            </a:pPr>
            <a:r>
              <a:rPr lang="zh-CN" altLang="en-US" sz="2400" smtClean="0">
                <a:latin typeface="Times New Roman" pitchFamily="18" charset="0"/>
                <a:ea typeface="黑体" pitchFamily="2" charset="-122"/>
              </a:rPr>
              <a:t>数据处理也较复杂 </a:t>
            </a:r>
          </a:p>
        </p:txBody>
      </p:sp>
      <p:sp>
        <p:nvSpPr>
          <p:cNvPr id="52230" name="Rectangle 4"/>
          <p:cNvSpPr>
            <a:spLocks noChangeArrowheads="1"/>
          </p:cNvSpPr>
          <p:nvPr/>
        </p:nvSpPr>
        <p:spPr bwMode="auto">
          <a:xfrm>
            <a:off x="0" y="30480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2231" name="Rectangle 5"/>
          <p:cNvSpPr>
            <a:spLocks noChangeArrowheads="1"/>
          </p:cNvSpPr>
          <p:nvPr/>
        </p:nvSpPr>
        <p:spPr bwMode="auto">
          <a:xfrm>
            <a:off x="0" y="28432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2232" name="Rectangle 6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2233" name="Rectangle 7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>
    <p:circle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E85375AF-7AF1-4EF6-BECE-E3A44CE1E264}" type="datetime1">
              <a:rPr lang="zh-CN" altLang="en-US" smtClean="0">
                <a:ea typeface="宋体" charset="-122"/>
              </a:rPr>
              <a:pPr/>
              <a:t>2018/2/24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53251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0D7B038-9360-4CA8-9D6C-AE0E5893D348}" type="slidenum">
              <a:rPr lang="en-US" altLang="zh-CN" smtClean="0">
                <a:ea typeface="宋体" charset="-122"/>
              </a:rPr>
              <a:pPr/>
              <a:t>50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53252" name="Rectangle 2"/>
          <p:cNvSpPr>
            <a:spLocks noChangeArrowheads="1"/>
          </p:cNvSpPr>
          <p:nvPr/>
        </p:nvSpPr>
        <p:spPr bwMode="auto">
          <a:xfrm>
            <a:off x="333375" y="1117600"/>
            <a:ext cx="8505825" cy="52403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zh-CN">
              <a:latin typeface="Times New Roman" pitchFamily="18" charset="0"/>
              <a:ea typeface="黑体" pitchFamily="2" charset="-122"/>
            </a:endParaRPr>
          </a:p>
        </p:txBody>
      </p:sp>
      <p:sp>
        <p:nvSpPr>
          <p:cNvPr id="476163" name="Rectangle 3"/>
          <p:cNvSpPr>
            <a:spLocks noGrp="1" noRot="1" noChangeArrowheads="1"/>
          </p:cNvSpPr>
          <p:nvPr>
            <p:ph type="title"/>
          </p:nvPr>
        </p:nvSpPr>
        <p:spPr>
          <a:xfrm>
            <a:off x="366713" y="306388"/>
            <a:ext cx="8270875" cy="839787"/>
          </a:xfrm>
        </p:spPr>
        <p:txBody>
          <a:bodyPr/>
          <a:lstStyle/>
          <a:p>
            <a:pPr eaLnBrk="1" fontAlgn="b" hangingPunct="1">
              <a:defRPr/>
            </a:pPr>
            <a:r>
              <a:rPr lang="en-US" altLang="zh-CN" sz="40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§4-3  </a:t>
            </a:r>
            <a:r>
              <a:rPr lang="zh-CN" altLang="en-US" sz="40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色度的测试方法和应用</a:t>
            </a:r>
          </a:p>
        </p:txBody>
      </p:sp>
      <p:sp>
        <p:nvSpPr>
          <p:cNvPr id="53254" name="Rectangle 4"/>
          <p:cNvSpPr>
            <a:spLocks noChangeArrowheads="1"/>
          </p:cNvSpPr>
          <p:nvPr/>
        </p:nvSpPr>
        <p:spPr bwMode="auto">
          <a:xfrm>
            <a:off x="0" y="30480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3255" name="Rectangle 5"/>
          <p:cNvSpPr>
            <a:spLocks noChangeArrowheads="1"/>
          </p:cNvSpPr>
          <p:nvPr/>
        </p:nvSpPr>
        <p:spPr bwMode="auto">
          <a:xfrm>
            <a:off x="0" y="28432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3256" name="Rectangle 6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3257" name="Rectangle 7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53258" name="Group 8"/>
          <p:cNvGrpSpPr>
            <a:grpSpLocks/>
          </p:cNvGrpSpPr>
          <p:nvPr/>
        </p:nvGrpSpPr>
        <p:grpSpPr bwMode="auto">
          <a:xfrm>
            <a:off x="414338" y="1217613"/>
            <a:ext cx="8032750" cy="4748212"/>
            <a:chOff x="1795" y="10495"/>
            <a:chExt cx="8286" cy="4898"/>
          </a:xfrm>
        </p:grpSpPr>
        <p:grpSp>
          <p:nvGrpSpPr>
            <p:cNvPr id="53259" name="Group 9"/>
            <p:cNvGrpSpPr>
              <a:grpSpLocks/>
            </p:cNvGrpSpPr>
            <p:nvPr/>
          </p:nvGrpSpPr>
          <p:grpSpPr bwMode="auto">
            <a:xfrm>
              <a:off x="1795" y="10495"/>
              <a:ext cx="8286" cy="4898"/>
              <a:chOff x="1795" y="10510"/>
              <a:chExt cx="8286" cy="4898"/>
            </a:xfrm>
          </p:grpSpPr>
          <p:sp>
            <p:nvSpPr>
              <p:cNvPr id="476170" name="Text Box 10"/>
              <p:cNvSpPr txBox="1">
                <a:spLocks noChangeArrowheads="1"/>
              </p:cNvSpPr>
              <p:nvPr/>
            </p:nvSpPr>
            <p:spPr bwMode="auto">
              <a:xfrm>
                <a:off x="4485" y="10510"/>
                <a:ext cx="609" cy="40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just">
                  <a:defRPr/>
                </a:pPr>
                <a:r>
                  <a:rPr lang="en-US" altLang="zh-CN" sz="1400" b="1" i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M</a:t>
                </a:r>
                <a:r>
                  <a:rPr lang="en-US" altLang="zh-CN" sz="1400" b="1" baseline="-2500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6</a:t>
                </a:r>
                <a:endParaRPr lang="en-US" altLang="zh-CN" sz="1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endParaRPr>
              </a:p>
            </p:txBody>
          </p:sp>
          <p:sp>
            <p:nvSpPr>
              <p:cNvPr id="53262" name="Line 11"/>
              <p:cNvSpPr>
                <a:spLocks noChangeShapeType="1"/>
              </p:cNvSpPr>
              <p:nvPr/>
            </p:nvSpPr>
            <p:spPr bwMode="auto">
              <a:xfrm>
                <a:off x="2364" y="13320"/>
                <a:ext cx="1609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63" name="Freeform 12"/>
              <p:cNvSpPr>
                <a:spLocks/>
              </p:cNvSpPr>
              <p:nvPr/>
            </p:nvSpPr>
            <p:spPr bwMode="auto">
              <a:xfrm>
                <a:off x="2182" y="13168"/>
                <a:ext cx="177" cy="275"/>
              </a:xfrm>
              <a:custGeom>
                <a:avLst/>
                <a:gdLst>
                  <a:gd name="T0" fmla="*/ 27 w 707"/>
                  <a:gd name="T1" fmla="*/ 0 h 826"/>
                  <a:gd name="T2" fmla="*/ 44 w 707"/>
                  <a:gd name="T3" fmla="*/ 12 h 826"/>
                  <a:gd name="T4" fmla="*/ 17 w 707"/>
                  <a:gd name="T5" fmla="*/ 92 h 826"/>
                  <a:gd name="T6" fmla="*/ 0 w 707"/>
                  <a:gd name="T7" fmla="*/ 79 h 826"/>
                  <a:gd name="T8" fmla="*/ 27 w 707"/>
                  <a:gd name="T9" fmla="*/ 0 h 8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7"/>
                  <a:gd name="T16" fmla="*/ 0 h 826"/>
                  <a:gd name="T17" fmla="*/ 707 w 707"/>
                  <a:gd name="T18" fmla="*/ 826 h 8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7" h="826">
                    <a:moveTo>
                      <a:pt x="433" y="0"/>
                    </a:moveTo>
                    <a:lnTo>
                      <a:pt x="707" y="112"/>
                    </a:lnTo>
                    <a:lnTo>
                      <a:pt x="274" y="826"/>
                    </a:lnTo>
                    <a:lnTo>
                      <a:pt x="0" y="714"/>
                    </a:lnTo>
                    <a:lnTo>
                      <a:pt x="433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64" name="Line 13"/>
              <p:cNvSpPr>
                <a:spLocks noChangeShapeType="1"/>
              </p:cNvSpPr>
              <p:nvPr/>
            </p:nvSpPr>
            <p:spPr bwMode="auto">
              <a:xfrm flipV="1">
                <a:off x="2319" y="13068"/>
                <a:ext cx="313" cy="25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65" name="Freeform 14"/>
              <p:cNvSpPr>
                <a:spLocks/>
              </p:cNvSpPr>
              <p:nvPr/>
            </p:nvSpPr>
            <p:spPr bwMode="auto">
              <a:xfrm>
                <a:off x="2529" y="12956"/>
                <a:ext cx="205" cy="225"/>
              </a:xfrm>
              <a:custGeom>
                <a:avLst/>
                <a:gdLst>
                  <a:gd name="T0" fmla="*/ 51 w 819"/>
                  <a:gd name="T1" fmla="*/ 38 h 676"/>
                  <a:gd name="T2" fmla="*/ 48 w 819"/>
                  <a:gd name="T3" fmla="*/ 19 h 676"/>
                  <a:gd name="T4" fmla="*/ 39 w 819"/>
                  <a:gd name="T5" fmla="*/ 5 h 676"/>
                  <a:gd name="T6" fmla="*/ 26 w 819"/>
                  <a:gd name="T7" fmla="*/ 0 h 676"/>
                  <a:gd name="T8" fmla="*/ 13 w 819"/>
                  <a:gd name="T9" fmla="*/ 5 h 676"/>
                  <a:gd name="T10" fmla="*/ 4 w 819"/>
                  <a:gd name="T11" fmla="*/ 19 h 676"/>
                  <a:gd name="T12" fmla="*/ 0 w 819"/>
                  <a:gd name="T13" fmla="*/ 38 h 676"/>
                  <a:gd name="T14" fmla="*/ 4 w 819"/>
                  <a:gd name="T15" fmla="*/ 56 h 676"/>
                  <a:gd name="T16" fmla="*/ 13 w 819"/>
                  <a:gd name="T17" fmla="*/ 70 h 676"/>
                  <a:gd name="T18" fmla="*/ 26 w 819"/>
                  <a:gd name="T19" fmla="*/ 75 h 676"/>
                  <a:gd name="T20" fmla="*/ 39 w 819"/>
                  <a:gd name="T21" fmla="*/ 70 h 676"/>
                  <a:gd name="T22" fmla="*/ 48 w 819"/>
                  <a:gd name="T23" fmla="*/ 56 h 676"/>
                  <a:gd name="T24" fmla="*/ 51 w 819"/>
                  <a:gd name="T25" fmla="*/ 38 h 67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819"/>
                  <a:gd name="T40" fmla="*/ 0 h 676"/>
                  <a:gd name="T41" fmla="*/ 819 w 819"/>
                  <a:gd name="T42" fmla="*/ 676 h 67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819" h="676">
                    <a:moveTo>
                      <a:pt x="819" y="338"/>
                    </a:moveTo>
                    <a:lnTo>
                      <a:pt x="765" y="170"/>
                    </a:lnTo>
                    <a:lnTo>
                      <a:pt x="615" y="45"/>
                    </a:lnTo>
                    <a:lnTo>
                      <a:pt x="409" y="0"/>
                    </a:lnTo>
                    <a:lnTo>
                      <a:pt x="205" y="45"/>
                    </a:lnTo>
                    <a:lnTo>
                      <a:pt x="55" y="170"/>
                    </a:lnTo>
                    <a:lnTo>
                      <a:pt x="0" y="338"/>
                    </a:lnTo>
                    <a:lnTo>
                      <a:pt x="55" y="507"/>
                    </a:lnTo>
                    <a:lnTo>
                      <a:pt x="205" y="630"/>
                    </a:lnTo>
                    <a:lnTo>
                      <a:pt x="409" y="676"/>
                    </a:lnTo>
                    <a:lnTo>
                      <a:pt x="615" y="630"/>
                    </a:lnTo>
                    <a:lnTo>
                      <a:pt x="765" y="507"/>
                    </a:lnTo>
                    <a:lnTo>
                      <a:pt x="819" y="338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66" name="Line 15"/>
              <p:cNvSpPr>
                <a:spLocks noChangeShapeType="1"/>
              </p:cNvSpPr>
              <p:nvPr/>
            </p:nvSpPr>
            <p:spPr bwMode="auto">
              <a:xfrm>
                <a:off x="2319" y="13320"/>
                <a:ext cx="300" cy="37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67" name="Freeform 16"/>
              <p:cNvSpPr>
                <a:spLocks/>
              </p:cNvSpPr>
              <p:nvPr/>
            </p:nvSpPr>
            <p:spPr bwMode="auto">
              <a:xfrm>
                <a:off x="2572" y="13641"/>
                <a:ext cx="94" cy="103"/>
              </a:xfrm>
              <a:custGeom>
                <a:avLst/>
                <a:gdLst>
                  <a:gd name="T0" fmla="*/ 24 w 375"/>
                  <a:gd name="T1" fmla="*/ 17 h 309"/>
                  <a:gd name="T2" fmla="*/ 20 w 375"/>
                  <a:gd name="T3" fmla="*/ 5 h 309"/>
                  <a:gd name="T4" fmla="*/ 12 w 375"/>
                  <a:gd name="T5" fmla="*/ 0 h 309"/>
                  <a:gd name="T6" fmla="*/ 4 w 375"/>
                  <a:gd name="T7" fmla="*/ 5 h 309"/>
                  <a:gd name="T8" fmla="*/ 0 w 375"/>
                  <a:gd name="T9" fmla="*/ 17 h 309"/>
                  <a:gd name="T10" fmla="*/ 4 w 375"/>
                  <a:gd name="T11" fmla="*/ 29 h 309"/>
                  <a:gd name="T12" fmla="*/ 12 w 375"/>
                  <a:gd name="T13" fmla="*/ 34 h 309"/>
                  <a:gd name="T14" fmla="*/ 20 w 375"/>
                  <a:gd name="T15" fmla="*/ 29 h 309"/>
                  <a:gd name="T16" fmla="*/ 24 w 375"/>
                  <a:gd name="T17" fmla="*/ 17 h 309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375"/>
                  <a:gd name="T28" fmla="*/ 0 h 309"/>
                  <a:gd name="T29" fmla="*/ 375 w 375"/>
                  <a:gd name="T30" fmla="*/ 309 h 309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375" h="309">
                    <a:moveTo>
                      <a:pt x="375" y="154"/>
                    </a:moveTo>
                    <a:lnTo>
                      <a:pt x="320" y="45"/>
                    </a:lnTo>
                    <a:lnTo>
                      <a:pt x="188" y="0"/>
                    </a:lnTo>
                    <a:lnTo>
                      <a:pt x="55" y="45"/>
                    </a:lnTo>
                    <a:lnTo>
                      <a:pt x="0" y="154"/>
                    </a:lnTo>
                    <a:lnTo>
                      <a:pt x="55" y="264"/>
                    </a:lnTo>
                    <a:lnTo>
                      <a:pt x="188" y="309"/>
                    </a:lnTo>
                    <a:lnTo>
                      <a:pt x="320" y="264"/>
                    </a:lnTo>
                    <a:lnTo>
                      <a:pt x="375" y="154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68" name="Line 17"/>
              <p:cNvSpPr>
                <a:spLocks noChangeShapeType="1"/>
              </p:cNvSpPr>
              <p:nvPr/>
            </p:nvSpPr>
            <p:spPr bwMode="auto">
              <a:xfrm flipH="1">
                <a:off x="3114" y="12813"/>
                <a:ext cx="2" cy="88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69" name="Line 18"/>
              <p:cNvSpPr>
                <a:spLocks noChangeShapeType="1"/>
              </p:cNvSpPr>
              <p:nvPr/>
            </p:nvSpPr>
            <p:spPr bwMode="auto">
              <a:xfrm flipV="1">
                <a:off x="3974" y="11374"/>
                <a:ext cx="1" cy="194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70" name="Line 19"/>
              <p:cNvSpPr>
                <a:spLocks noChangeShapeType="1"/>
              </p:cNvSpPr>
              <p:nvPr/>
            </p:nvSpPr>
            <p:spPr bwMode="auto">
              <a:xfrm flipV="1">
                <a:off x="4183" y="11407"/>
                <a:ext cx="1" cy="191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71" name="Freeform 20"/>
              <p:cNvSpPr>
                <a:spLocks/>
              </p:cNvSpPr>
              <p:nvPr/>
            </p:nvSpPr>
            <p:spPr bwMode="auto">
              <a:xfrm>
                <a:off x="3946" y="11278"/>
                <a:ext cx="269" cy="132"/>
              </a:xfrm>
              <a:custGeom>
                <a:avLst/>
                <a:gdLst>
                  <a:gd name="T0" fmla="*/ 3 w 1076"/>
                  <a:gd name="T1" fmla="*/ 0 h 396"/>
                  <a:gd name="T2" fmla="*/ 67 w 1076"/>
                  <a:gd name="T3" fmla="*/ 13 h 396"/>
                  <a:gd name="T4" fmla="*/ 64 w 1076"/>
                  <a:gd name="T5" fmla="*/ 44 h 396"/>
                  <a:gd name="T6" fmla="*/ 0 w 1076"/>
                  <a:gd name="T7" fmla="*/ 31 h 396"/>
                  <a:gd name="T8" fmla="*/ 3 w 1076"/>
                  <a:gd name="T9" fmla="*/ 0 h 39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76"/>
                  <a:gd name="T16" fmla="*/ 0 h 396"/>
                  <a:gd name="T17" fmla="*/ 1076 w 1076"/>
                  <a:gd name="T18" fmla="*/ 396 h 39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76" h="396">
                    <a:moveTo>
                      <a:pt x="48" y="0"/>
                    </a:moveTo>
                    <a:lnTo>
                      <a:pt x="1076" y="121"/>
                    </a:lnTo>
                    <a:lnTo>
                      <a:pt x="1028" y="396"/>
                    </a:lnTo>
                    <a:lnTo>
                      <a:pt x="0" y="276"/>
                    </a:lnTo>
                    <a:lnTo>
                      <a:pt x="48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72" name="Line 21"/>
              <p:cNvSpPr>
                <a:spLocks noChangeShapeType="1"/>
              </p:cNvSpPr>
              <p:nvPr/>
            </p:nvSpPr>
            <p:spPr bwMode="auto">
              <a:xfrm flipV="1">
                <a:off x="4506" y="11006"/>
                <a:ext cx="1" cy="231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73" name="Line 22"/>
              <p:cNvSpPr>
                <a:spLocks noChangeShapeType="1"/>
              </p:cNvSpPr>
              <p:nvPr/>
            </p:nvSpPr>
            <p:spPr bwMode="auto">
              <a:xfrm flipV="1">
                <a:off x="4716" y="10986"/>
                <a:ext cx="1" cy="233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74" name="Line 23"/>
              <p:cNvSpPr>
                <a:spLocks noChangeShapeType="1"/>
              </p:cNvSpPr>
              <p:nvPr/>
            </p:nvSpPr>
            <p:spPr bwMode="auto">
              <a:xfrm>
                <a:off x="4379" y="12950"/>
                <a:ext cx="74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75" name="Freeform 24"/>
              <p:cNvSpPr>
                <a:spLocks/>
              </p:cNvSpPr>
              <p:nvPr/>
            </p:nvSpPr>
            <p:spPr bwMode="auto">
              <a:xfrm>
                <a:off x="4441" y="10885"/>
                <a:ext cx="310" cy="125"/>
              </a:xfrm>
              <a:custGeom>
                <a:avLst/>
                <a:gdLst>
                  <a:gd name="T0" fmla="*/ 0 w 1239"/>
                  <a:gd name="T1" fmla="*/ 9 h 373"/>
                  <a:gd name="T2" fmla="*/ 76 w 1239"/>
                  <a:gd name="T3" fmla="*/ 0 h 373"/>
                  <a:gd name="T4" fmla="*/ 78 w 1239"/>
                  <a:gd name="T5" fmla="*/ 33 h 373"/>
                  <a:gd name="T6" fmla="*/ 2 w 1239"/>
                  <a:gd name="T7" fmla="*/ 42 h 373"/>
                  <a:gd name="T8" fmla="*/ 0 w 1239"/>
                  <a:gd name="T9" fmla="*/ 9 h 37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39"/>
                  <a:gd name="T16" fmla="*/ 0 h 373"/>
                  <a:gd name="T17" fmla="*/ 1239 w 1239"/>
                  <a:gd name="T18" fmla="*/ 373 h 37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39" h="373">
                    <a:moveTo>
                      <a:pt x="0" y="79"/>
                    </a:moveTo>
                    <a:lnTo>
                      <a:pt x="1212" y="0"/>
                    </a:lnTo>
                    <a:lnTo>
                      <a:pt x="1239" y="294"/>
                    </a:lnTo>
                    <a:lnTo>
                      <a:pt x="27" y="373"/>
                    </a:lnTo>
                    <a:lnTo>
                      <a:pt x="0" y="79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76" name="Line 25"/>
              <p:cNvSpPr>
                <a:spLocks noChangeShapeType="1"/>
              </p:cNvSpPr>
              <p:nvPr/>
            </p:nvSpPr>
            <p:spPr bwMode="auto">
              <a:xfrm>
                <a:off x="4506" y="11012"/>
                <a:ext cx="580" cy="111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77" name="Line 26"/>
              <p:cNvSpPr>
                <a:spLocks noChangeShapeType="1"/>
              </p:cNvSpPr>
              <p:nvPr/>
            </p:nvSpPr>
            <p:spPr bwMode="auto">
              <a:xfrm flipH="1" flipV="1">
                <a:off x="4716" y="10986"/>
                <a:ext cx="370" cy="114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78" name="Freeform 27"/>
              <p:cNvSpPr>
                <a:spLocks/>
              </p:cNvSpPr>
              <p:nvPr/>
            </p:nvSpPr>
            <p:spPr bwMode="auto">
              <a:xfrm>
                <a:off x="5020" y="12091"/>
                <a:ext cx="156" cy="150"/>
              </a:xfrm>
              <a:custGeom>
                <a:avLst/>
                <a:gdLst>
                  <a:gd name="T0" fmla="*/ 0 w 625"/>
                  <a:gd name="T1" fmla="*/ 34 h 451"/>
                  <a:gd name="T2" fmla="*/ 30 w 625"/>
                  <a:gd name="T3" fmla="*/ 0 h 451"/>
                  <a:gd name="T4" fmla="*/ 39 w 625"/>
                  <a:gd name="T5" fmla="*/ 17 h 451"/>
                  <a:gd name="T6" fmla="*/ 8 w 625"/>
                  <a:gd name="T7" fmla="*/ 50 h 451"/>
                  <a:gd name="T8" fmla="*/ 0 w 625"/>
                  <a:gd name="T9" fmla="*/ 34 h 45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25"/>
                  <a:gd name="T16" fmla="*/ 0 h 451"/>
                  <a:gd name="T17" fmla="*/ 625 w 625"/>
                  <a:gd name="T18" fmla="*/ 451 h 45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25" h="451">
                    <a:moveTo>
                      <a:pt x="0" y="303"/>
                    </a:moveTo>
                    <a:lnTo>
                      <a:pt x="489" y="0"/>
                    </a:lnTo>
                    <a:lnTo>
                      <a:pt x="625" y="149"/>
                    </a:lnTo>
                    <a:lnTo>
                      <a:pt x="135" y="451"/>
                    </a:lnTo>
                    <a:lnTo>
                      <a:pt x="0" y="303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79" name="Freeform 28"/>
              <p:cNvSpPr>
                <a:spLocks/>
              </p:cNvSpPr>
              <p:nvPr/>
            </p:nvSpPr>
            <p:spPr bwMode="auto">
              <a:xfrm>
                <a:off x="5092" y="12188"/>
                <a:ext cx="156" cy="150"/>
              </a:xfrm>
              <a:custGeom>
                <a:avLst/>
                <a:gdLst>
                  <a:gd name="T0" fmla="*/ 0 w 624"/>
                  <a:gd name="T1" fmla="*/ 34 h 451"/>
                  <a:gd name="T2" fmla="*/ 30 w 624"/>
                  <a:gd name="T3" fmla="*/ 0 h 451"/>
                  <a:gd name="T4" fmla="*/ 39 w 624"/>
                  <a:gd name="T5" fmla="*/ 17 h 451"/>
                  <a:gd name="T6" fmla="*/ 9 w 624"/>
                  <a:gd name="T7" fmla="*/ 50 h 451"/>
                  <a:gd name="T8" fmla="*/ 0 w 624"/>
                  <a:gd name="T9" fmla="*/ 34 h 45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24"/>
                  <a:gd name="T16" fmla="*/ 0 h 451"/>
                  <a:gd name="T17" fmla="*/ 624 w 624"/>
                  <a:gd name="T18" fmla="*/ 451 h 45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24" h="451">
                    <a:moveTo>
                      <a:pt x="0" y="303"/>
                    </a:moveTo>
                    <a:lnTo>
                      <a:pt x="490" y="0"/>
                    </a:lnTo>
                    <a:lnTo>
                      <a:pt x="624" y="149"/>
                    </a:lnTo>
                    <a:lnTo>
                      <a:pt x="135" y="451"/>
                    </a:lnTo>
                    <a:lnTo>
                      <a:pt x="0" y="303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80" name="Line 29"/>
              <p:cNvSpPr>
                <a:spLocks noChangeShapeType="1"/>
              </p:cNvSpPr>
              <p:nvPr/>
            </p:nvSpPr>
            <p:spPr bwMode="auto">
              <a:xfrm flipH="1">
                <a:off x="3483" y="11383"/>
                <a:ext cx="492" cy="125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81" name="Line 30"/>
              <p:cNvSpPr>
                <a:spLocks noChangeShapeType="1"/>
              </p:cNvSpPr>
              <p:nvPr/>
            </p:nvSpPr>
            <p:spPr bwMode="auto">
              <a:xfrm flipV="1">
                <a:off x="3483" y="11410"/>
                <a:ext cx="701" cy="122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82" name="Freeform 31"/>
              <p:cNvSpPr>
                <a:spLocks/>
              </p:cNvSpPr>
              <p:nvPr/>
            </p:nvSpPr>
            <p:spPr bwMode="auto">
              <a:xfrm>
                <a:off x="3348" y="12625"/>
                <a:ext cx="208" cy="136"/>
              </a:xfrm>
              <a:custGeom>
                <a:avLst/>
                <a:gdLst>
                  <a:gd name="T0" fmla="*/ 0 w 833"/>
                  <a:gd name="T1" fmla="*/ 0 h 408"/>
                  <a:gd name="T2" fmla="*/ 52 w 833"/>
                  <a:gd name="T3" fmla="*/ 7 h 408"/>
                  <a:gd name="T4" fmla="*/ 37 w 833"/>
                  <a:gd name="T5" fmla="*/ 45 h 408"/>
                  <a:gd name="T6" fmla="*/ 0 w 833"/>
                  <a:gd name="T7" fmla="*/ 0 h 40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833"/>
                  <a:gd name="T13" fmla="*/ 0 h 408"/>
                  <a:gd name="T14" fmla="*/ 833 w 833"/>
                  <a:gd name="T15" fmla="*/ 408 h 40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833" h="408">
                    <a:moveTo>
                      <a:pt x="0" y="0"/>
                    </a:moveTo>
                    <a:lnTo>
                      <a:pt x="833" y="59"/>
                    </a:lnTo>
                    <a:lnTo>
                      <a:pt x="598" y="408"/>
                    </a:ln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83" name="Freeform 32"/>
              <p:cNvSpPr>
                <a:spLocks/>
              </p:cNvSpPr>
              <p:nvPr/>
            </p:nvSpPr>
            <p:spPr bwMode="auto">
              <a:xfrm>
                <a:off x="5198" y="12955"/>
                <a:ext cx="614" cy="675"/>
              </a:xfrm>
              <a:custGeom>
                <a:avLst/>
                <a:gdLst>
                  <a:gd name="T0" fmla="*/ 9 w 2456"/>
                  <a:gd name="T1" fmla="*/ 0 h 2026"/>
                  <a:gd name="T2" fmla="*/ 154 w 2456"/>
                  <a:gd name="T3" fmla="*/ 212 h 2026"/>
                  <a:gd name="T4" fmla="*/ 145 w 2456"/>
                  <a:gd name="T5" fmla="*/ 225 h 2026"/>
                  <a:gd name="T6" fmla="*/ 0 w 2456"/>
                  <a:gd name="T7" fmla="*/ 13 h 2026"/>
                  <a:gd name="T8" fmla="*/ 9 w 2456"/>
                  <a:gd name="T9" fmla="*/ 0 h 20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56"/>
                  <a:gd name="T16" fmla="*/ 0 h 2026"/>
                  <a:gd name="T17" fmla="*/ 2456 w 2456"/>
                  <a:gd name="T18" fmla="*/ 2026 h 20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56" h="2026">
                    <a:moveTo>
                      <a:pt x="138" y="0"/>
                    </a:moveTo>
                    <a:lnTo>
                      <a:pt x="2456" y="1911"/>
                    </a:lnTo>
                    <a:lnTo>
                      <a:pt x="2318" y="2026"/>
                    </a:lnTo>
                    <a:lnTo>
                      <a:pt x="0" y="114"/>
                    </a:lnTo>
                    <a:lnTo>
                      <a:pt x="138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84" name="Freeform 33"/>
              <p:cNvSpPr>
                <a:spLocks/>
              </p:cNvSpPr>
              <p:nvPr/>
            </p:nvSpPr>
            <p:spPr bwMode="auto">
              <a:xfrm>
                <a:off x="5882" y="13210"/>
                <a:ext cx="250" cy="276"/>
              </a:xfrm>
              <a:custGeom>
                <a:avLst/>
                <a:gdLst>
                  <a:gd name="T0" fmla="*/ 0 w 1003"/>
                  <a:gd name="T1" fmla="*/ 70 h 827"/>
                  <a:gd name="T2" fmla="*/ 47 w 1003"/>
                  <a:gd name="T3" fmla="*/ 0 h 827"/>
                  <a:gd name="T4" fmla="*/ 62 w 1003"/>
                  <a:gd name="T5" fmla="*/ 22 h 827"/>
                  <a:gd name="T6" fmla="*/ 15 w 1003"/>
                  <a:gd name="T7" fmla="*/ 92 h 827"/>
                  <a:gd name="T8" fmla="*/ 0 w 1003"/>
                  <a:gd name="T9" fmla="*/ 70 h 8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03"/>
                  <a:gd name="T16" fmla="*/ 0 h 827"/>
                  <a:gd name="T17" fmla="*/ 1003 w 1003"/>
                  <a:gd name="T18" fmla="*/ 827 h 8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03" h="827">
                    <a:moveTo>
                      <a:pt x="0" y="628"/>
                    </a:moveTo>
                    <a:lnTo>
                      <a:pt x="761" y="0"/>
                    </a:lnTo>
                    <a:lnTo>
                      <a:pt x="1003" y="200"/>
                    </a:lnTo>
                    <a:lnTo>
                      <a:pt x="242" y="827"/>
                    </a:lnTo>
                    <a:lnTo>
                      <a:pt x="0" y="628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85" name="Freeform 34"/>
              <p:cNvSpPr>
                <a:spLocks/>
              </p:cNvSpPr>
              <p:nvPr/>
            </p:nvSpPr>
            <p:spPr bwMode="auto">
              <a:xfrm>
                <a:off x="5808" y="12526"/>
                <a:ext cx="251" cy="275"/>
              </a:xfrm>
              <a:custGeom>
                <a:avLst/>
                <a:gdLst>
                  <a:gd name="T0" fmla="*/ 0 w 1002"/>
                  <a:gd name="T1" fmla="*/ 70 h 826"/>
                  <a:gd name="T2" fmla="*/ 48 w 1002"/>
                  <a:gd name="T3" fmla="*/ 0 h 826"/>
                  <a:gd name="T4" fmla="*/ 63 w 1002"/>
                  <a:gd name="T5" fmla="*/ 22 h 826"/>
                  <a:gd name="T6" fmla="*/ 15 w 1002"/>
                  <a:gd name="T7" fmla="*/ 92 h 826"/>
                  <a:gd name="T8" fmla="*/ 0 w 1002"/>
                  <a:gd name="T9" fmla="*/ 70 h 8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02"/>
                  <a:gd name="T16" fmla="*/ 0 h 826"/>
                  <a:gd name="T17" fmla="*/ 1002 w 1002"/>
                  <a:gd name="T18" fmla="*/ 826 h 8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02" h="826">
                    <a:moveTo>
                      <a:pt x="0" y="627"/>
                    </a:moveTo>
                    <a:lnTo>
                      <a:pt x="761" y="0"/>
                    </a:lnTo>
                    <a:lnTo>
                      <a:pt x="1002" y="200"/>
                    </a:lnTo>
                    <a:lnTo>
                      <a:pt x="241" y="826"/>
                    </a:lnTo>
                    <a:lnTo>
                      <a:pt x="0" y="627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86" name="Freeform 35"/>
              <p:cNvSpPr>
                <a:spLocks/>
              </p:cNvSpPr>
              <p:nvPr/>
            </p:nvSpPr>
            <p:spPr bwMode="auto">
              <a:xfrm>
                <a:off x="5352" y="13771"/>
                <a:ext cx="251" cy="275"/>
              </a:xfrm>
              <a:custGeom>
                <a:avLst/>
                <a:gdLst>
                  <a:gd name="T0" fmla="*/ 15 w 1004"/>
                  <a:gd name="T1" fmla="*/ 0 h 826"/>
                  <a:gd name="T2" fmla="*/ 63 w 1004"/>
                  <a:gd name="T3" fmla="*/ 69 h 826"/>
                  <a:gd name="T4" fmla="*/ 48 w 1004"/>
                  <a:gd name="T5" fmla="*/ 92 h 826"/>
                  <a:gd name="T6" fmla="*/ 0 w 1004"/>
                  <a:gd name="T7" fmla="*/ 22 h 826"/>
                  <a:gd name="T8" fmla="*/ 15 w 1004"/>
                  <a:gd name="T9" fmla="*/ 0 h 8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04"/>
                  <a:gd name="T16" fmla="*/ 0 h 826"/>
                  <a:gd name="T17" fmla="*/ 1004 w 1004"/>
                  <a:gd name="T18" fmla="*/ 826 h 8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04" h="826">
                    <a:moveTo>
                      <a:pt x="242" y="0"/>
                    </a:moveTo>
                    <a:lnTo>
                      <a:pt x="1004" y="626"/>
                    </a:lnTo>
                    <a:lnTo>
                      <a:pt x="761" y="826"/>
                    </a:lnTo>
                    <a:lnTo>
                      <a:pt x="0" y="199"/>
                    </a:lnTo>
                    <a:lnTo>
                      <a:pt x="242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87" name="Line 36"/>
              <p:cNvSpPr>
                <a:spLocks noChangeShapeType="1"/>
              </p:cNvSpPr>
              <p:nvPr/>
            </p:nvSpPr>
            <p:spPr bwMode="auto">
              <a:xfrm flipV="1">
                <a:off x="5972" y="12688"/>
                <a:ext cx="1" cy="63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88" name="Line 37"/>
              <p:cNvSpPr>
                <a:spLocks noChangeShapeType="1"/>
              </p:cNvSpPr>
              <p:nvPr/>
            </p:nvSpPr>
            <p:spPr bwMode="auto">
              <a:xfrm>
                <a:off x="5972" y="12688"/>
                <a:ext cx="1977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89" name="Line 38"/>
              <p:cNvSpPr>
                <a:spLocks noChangeShapeType="1"/>
              </p:cNvSpPr>
              <p:nvPr/>
            </p:nvSpPr>
            <p:spPr bwMode="auto">
              <a:xfrm>
                <a:off x="5495" y="13320"/>
                <a:ext cx="1" cy="54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90" name="Freeform 39"/>
              <p:cNvSpPr>
                <a:spLocks/>
              </p:cNvSpPr>
              <p:nvPr/>
            </p:nvSpPr>
            <p:spPr bwMode="auto">
              <a:xfrm>
                <a:off x="7853" y="12527"/>
                <a:ext cx="251" cy="276"/>
              </a:xfrm>
              <a:custGeom>
                <a:avLst/>
                <a:gdLst>
                  <a:gd name="T0" fmla="*/ 15 w 1003"/>
                  <a:gd name="T1" fmla="*/ 0 h 827"/>
                  <a:gd name="T2" fmla="*/ 63 w 1003"/>
                  <a:gd name="T3" fmla="*/ 70 h 827"/>
                  <a:gd name="T4" fmla="*/ 48 w 1003"/>
                  <a:gd name="T5" fmla="*/ 92 h 827"/>
                  <a:gd name="T6" fmla="*/ 0 w 1003"/>
                  <a:gd name="T7" fmla="*/ 22 h 827"/>
                  <a:gd name="T8" fmla="*/ 15 w 1003"/>
                  <a:gd name="T9" fmla="*/ 0 h 8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03"/>
                  <a:gd name="T16" fmla="*/ 0 h 827"/>
                  <a:gd name="T17" fmla="*/ 1003 w 1003"/>
                  <a:gd name="T18" fmla="*/ 827 h 8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03" h="827">
                    <a:moveTo>
                      <a:pt x="242" y="0"/>
                    </a:moveTo>
                    <a:lnTo>
                      <a:pt x="1003" y="628"/>
                    </a:lnTo>
                    <a:lnTo>
                      <a:pt x="761" y="827"/>
                    </a:lnTo>
                    <a:lnTo>
                      <a:pt x="0" y="200"/>
                    </a:lnTo>
                    <a:lnTo>
                      <a:pt x="242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91" name="Line 40"/>
              <p:cNvSpPr>
                <a:spLocks noChangeShapeType="1"/>
              </p:cNvSpPr>
              <p:nvPr/>
            </p:nvSpPr>
            <p:spPr bwMode="auto">
              <a:xfrm>
                <a:off x="7939" y="12688"/>
                <a:ext cx="1" cy="117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92" name="Freeform 41"/>
              <p:cNvSpPr>
                <a:spLocks/>
              </p:cNvSpPr>
              <p:nvPr/>
            </p:nvSpPr>
            <p:spPr bwMode="auto">
              <a:xfrm>
                <a:off x="7341" y="12804"/>
                <a:ext cx="251" cy="276"/>
              </a:xfrm>
              <a:custGeom>
                <a:avLst/>
                <a:gdLst>
                  <a:gd name="T0" fmla="*/ 15 w 1002"/>
                  <a:gd name="T1" fmla="*/ 0 h 827"/>
                  <a:gd name="T2" fmla="*/ 63 w 1002"/>
                  <a:gd name="T3" fmla="*/ 70 h 827"/>
                  <a:gd name="T4" fmla="*/ 48 w 1002"/>
                  <a:gd name="T5" fmla="*/ 92 h 827"/>
                  <a:gd name="T6" fmla="*/ 0 w 1002"/>
                  <a:gd name="T7" fmla="*/ 22 h 827"/>
                  <a:gd name="T8" fmla="*/ 15 w 1002"/>
                  <a:gd name="T9" fmla="*/ 0 h 8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02"/>
                  <a:gd name="T16" fmla="*/ 0 h 827"/>
                  <a:gd name="T17" fmla="*/ 1002 w 1002"/>
                  <a:gd name="T18" fmla="*/ 827 h 8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02" h="827">
                    <a:moveTo>
                      <a:pt x="241" y="0"/>
                    </a:moveTo>
                    <a:lnTo>
                      <a:pt x="1002" y="628"/>
                    </a:lnTo>
                    <a:lnTo>
                      <a:pt x="761" y="827"/>
                    </a:lnTo>
                    <a:lnTo>
                      <a:pt x="0" y="200"/>
                    </a:lnTo>
                    <a:lnTo>
                      <a:pt x="241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93" name="Line 42"/>
              <p:cNvSpPr>
                <a:spLocks noChangeShapeType="1"/>
              </p:cNvSpPr>
              <p:nvPr/>
            </p:nvSpPr>
            <p:spPr bwMode="auto">
              <a:xfrm flipH="1">
                <a:off x="7500" y="12688"/>
                <a:ext cx="439" cy="22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94" name="Line 43"/>
              <p:cNvSpPr>
                <a:spLocks noChangeShapeType="1"/>
              </p:cNvSpPr>
              <p:nvPr/>
            </p:nvSpPr>
            <p:spPr bwMode="auto">
              <a:xfrm>
                <a:off x="7502" y="12914"/>
                <a:ext cx="2300" cy="36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95" name="Line 44"/>
              <p:cNvSpPr>
                <a:spLocks noChangeShapeType="1"/>
              </p:cNvSpPr>
              <p:nvPr/>
            </p:nvSpPr>
            <p:spPr bwMode="auto">
              <a:xfrm flipV="1">
                <a:off x="7505" y="13276"/>
                <a:ext cx="2298" cy="36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96" name="Freeform 45"/>
              <p:cNvSpPr>
                <a:spLocks/>
              </p:cNvSpPr>
              <p:nvPr/>
            </p:nvSpPr>
            <p:spPr bwMode="auto">
              <a:xfrm>
                <a:off x="7344" y="13476"/>
                <a:ext cx="250" cy="277"/>
              </a:xfrm>
              <a:custGeom>
                <a:avLst/>
                <a:gdLst>
                  <a:gd name="T0" fmla="*/ 15 w 999"/>
                  <a:gd name="T1" fmla="*/ 92 h 830"/>
                  <a:gd name="T2" fmla="*/ 63 w 999"/>
                  <a:gd name="T3" fmla="*/ 22 h 830"/>
                  <a:gd name="T4" fmla="*/ 47 w 999"/>
                  <a:gd name="T5" fmla="*/ 0 h 830"/>
                  <a:gd name="T6" fmla="*/ 0 w 999"/>
                  <a:gd name="T7" fmla="*/ 70 h 830"/>
                  <a:gd name="T8" fmla="*/ 15 w 999"/>
                  <a:gd name="T9" fmla="*/ 92 h 83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9"/>
                  <a:gd name="T16" fmla="*/ 0 h 830"/>
                  <a:gd name="T17" fmla="*/ 999 w 999"/>
                  <a:gd name="T18" fmla="*/ 830 h 83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9" h="830">
                    <a:moveTo>
                      <a:pt x="244" y="830"/>
                    </a:moveTo>
                    <a:lnTo>
                      <a:pt x="999" y="198"/>
                    </a:lnTo>
                    <a:lnTo>
                      <a:pt x="755" y="0"/>
                    </a:lnTo>
                    <a:lnTo>
                      <a:pt x="0" y="633"/>
                    </a:lnTo>
                    <a:lnTo>
                      <a:pt x="244" y="83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97" name="Line 46"/>
              <p:cNvSpPr>
                <a:spLocks noChangeShapeType="1"/>
              </p:cNvSpPr>
              <p:nvPr/>
            </p:nvSpPr>
            <p:spPr bwMode="auto">
              <a:xfrm flipH="1" flipV="1">
                <a:off x="7502" y="13641"/>
                <a:ext cx="441" cy="22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98" name="Freeform 47"/>
              <p:cNvSpPr>
                <a:spLocks/>
              </p:cNvSpPr>
              <p:nvPr/>
            </p:nvSpPr>
            <p:spPr bwMode="auto">
              <a:xfrm>
                <a:off x="7858" y="13749"/>
                <a:ext cx="250" cy="277"/>
              </a:xfrm>
              <a:custGeom>
                <a:avLst/>
                <a:gdLst>
                  <a:gd name="T0" fmla="*/ 15 w 999"/>
                  <a:gd name="T1" fmla="*/ 92 h 830"/>
                  <a:gd name="T2" fmla="*/ 63 w 999"/>
                  <a:gd name="T3" fmla="*/ 22 h 830"/>
                  <a:gd name="T4" fmla="*/ 47 w 999"/>
                  <a:gd name="T5" fmla="*/ 0 h 830"/>
                  <a:gd name="T6" fmla="*/ 0 w 999"/>
                  <a:gd name="T7" fmla="*/ 70 h 830"/>
                  <a:gd name="T8" fmla="*/ 15 w 999"/>
                  <a:gd name="T9" fmla="*/ 92 h 83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9"/>
                  <a:gd name="T16" fmla="*/ 0 h 830"/>
                  <a:gd name="T17" fmla="*/ 999 w 999"/>
                  <a:gd name="T18" fmla="*/ 830 h 83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9" h="830">
                    <a:moveTo>
                      <a:pt x="245" y="830"/>
                    </a:moveTo>
                    <a:lnTo>
                      <a:pt x="999" y="198"/>
                    </a:lnTo>
                    <a:lnTo>
                      <a:pt x="756" y="0"/>
                    </a:lnTo>
                    <a:lnTo>
                      <a:pt x="0" y="632"/>
                    </a:lnTo>
                    <a:lnTo>
                      <a:pt x="245" y="83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99" name="Line 48"/>
              <p:cNvSpPr>
                <a:spLocks noChangeShapeType="1"/>
              </p:cNvSpPr>
              <p:nvPr/>
            </p:nvSpPr>
            <p:spPr bwMode="auto">
              <a:xfrm flipH="1">
                <a:off x="5495" y="13863"/>
                <a:ext cx="2444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00" name="Freeform 49"/>
              <p:cNvSpPr>
                <a:spLocks/>
              </p:cNvSpPr>
              <p:nvPr/>
            </p:nvSpPr>
            <p:spPr bwMode="auto">
              <a:xfrm>
                <a:off x="9652" y="13113"/>
                <a:ext cx="297" cy="327"/>
              </a:xfrm>
              <a:custGeom>
                <a:avLst/>
                <a:gdLst>
                  <a:gd name="T0" fmla="*/ 74 w 1188"/>
                  <a:gd name="T1" fmla="*/ 55 h 980"/>
                  <a:gd name="T2" fmla="*/ 70 w 1188"/>
                  <a:gd name="T3" fmla="*/ 27 h 980"/>
                  <a:gd name="T4" fmla="*/ 56 w 1188"/>
                  <a:gd name="T5" fmla="*/ 7 h 980"/>
                  <a:gd name="T6" fmla="*/ 37 w 1188"/>
                  <a:gd name="T7" fmla="*/ 0 h 980"/>
                  <a:gd name="T8" fmla="*/ 19 w 1188"/>
                  <a:gd name="T9" fmla="*/ 7 h 980"/>
                  <a:gd name="T10" fmla="*/ 5 w 1188"/>
                  <a:gd name="T11" fmla="*/ 27 h 980"/>
                  <a:gd name="T12" fmla="*/ 0 w 1188"/>
                  <a:gd name="T13" fmla="*/ 55 h 980"/>
                  <a:gd name="T14" fmla="*/ 5 w 1188"/>
                  <a:gd name="T15" fmla="*/ 82 h 980"/>
                  <a:gd name="T16" fmla="*/ 19 w 1188"/>
                  <a:gd name="T17" fmla="*/ 102 h 980"/>
                  <a:gd name="T18" fmla="*/ 37 w 1188"/>
                  <a:gd name="T19" fmla="*/ 109 h 980"/>
                  <a:gd name="T20" fmla="*/ 56 w 1188"/>
                  <a:gd name="T21" fmla="*/ 102 h 980"/>
                  <a:gd name="T22" fmla="*/ 70 w 1188"/>
                  <a:gd name="T23" fmla="*/ 82 h 980"/>
                  <a:gd name="T24" fmla="*/ 74 w 1188"/>
                  <a:gd name="T25" fmla="*/ 55 h 980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188"/>
                  <a:gd name="T40" fmla="*/ 0 h 980"/>
                  <a:gd name="T41" fmla="*/ 1188 w 1188"/>
                  <a:gd name="T42" fmla="*/ 980 h 980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188" h="980">
                    <a:moveTo>
                      <a:pt x="1188" y="490"/>
                    </a:moveTo>
                    <a:lnTo>
                      <a:pt x="1110" y="244"/>
                    </a:lnTo>
                    <a:lnTo>
                      <a:pt x="891" y="66"/>
                    </a:lnTo>
                    <a:lnTo>
                      <a:pt x="594" y="0"/>
                    </a:lnTo>
                    <a:lnTo>
                      <a:pt x="297" y="66"/>
                    </a:lnTo>
                    <a:lnTo>
                      <a:pt x="80" y="244"/>
                    </a:lnTo>
                    <a:lnTo>
                      <a:pt x="0" y="490"/>
                    </a:lnTo>
                    <a:lnTo>
                      <a:pt x="80" y="735"/>
                    </a:lnTo>
                    <a:lnTo>
                      <a:pt x="297" y="914"/>
                    </a:lnTo>
                    <a:lnTo>
                      <a:pt x="594" y="980"/>
                    </a:lnTo>
                    <a:lnTo>
                      <a:pt x="891" y="914"/>
                    </a:lnTo>
                    <a:lnTo>
                      <a:pt x="1110" y="735"/>
                    </a:lnTo>
                    <a:lnTo>
                      <a:pt x="1188" y="49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01" name="Freeform 50"/>
              <p:cNvSpPr>
                <a:spLocks/>
              </p:cNvSpPr>
              <p:nvPr/>
            </p:nvSpPr>
            <p:spPr bwMode="auto">
              <a:xfrm>
                <a:off x="8424" y="12972"/>
                <a:ext cx="262" cy="590"/>
              </a:xfrm>
              <a:custGeom>
                <a:avLst/>
                <a:gdLst>
                  <a:gd name="T0" fmla="*/ 0 w 1049"/>
                  <a:gd name="T1" fmla="*/ 1 h 1770"/>
                  <a:gd name="T2" fmla="*/ 0 w 1049"/>
                  <a:gd name="T3" fmla="*/ 0 h 1770"/>
                  <a:gd name="T4" fmla="*/ 65 w 1049"/>
                  <a:gd name="T5" fmla="*/ 0 h 1770"/>
                  <a:gd name="T6" fmla="*/ 65 w 1049"/>
                  <a:gd name="T7" fmla="*/ 197 h 1770"/>
                  <a:gd name="T8" fmla="*/ 0 w 1049"/>
                  <a:gd name="T9" fmla="*/ 197 h 177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49"/>
                  <a:gd name="T16" fmla="*/ 0 h 1770"/>
                  <a:gd name="T17" fmla="*/ 1049 w 1049"/>
                  <a:gd name="T18" fmla="*/ 1770 h 177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49" h="1770">
                    <a:moveTo>
                      <a:pt x="0" y="13"/>
                    </a:moveTo>
                    <a:lnTo>
                      <a:pt x="0" y="0"/>
                    </a:lnTo>
                    <a:lnTo>
                      <a:pt x="1049" y="0"/>
                    </a:lnTo>
                    <a:lnTo>
                      <a:pt x="1049" y="1770"/>
                    </a:lnTo>
                    <a:lnTo>
                      <a:pt x="0" y="177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02" name="Freeform 51"/>
              <p:cNvSpPr>
                <a:spLocks/>
              </p:cNvSpPr>
              <p:nvPr/>
            </p:nvSpPr>
            <p:spPr bwMode="auto">
              <a:xfrm>
                <a:off x="8424" y="12977"/>
                <a:ext cx="82" cy="585"/>
              </a:xfrm>
              <a:custGeom>
                <a:avLst/>
                <a:gdLst>
                  <a:gd name="T0" fmla="*/ 1 w 330"/>
                  <a:gd name="T1" fmla="*/ 195 h 1757"/>
                  <a:gd name="T2" fmla="*/ 16 w 330"/>
                  <a:gd name="T3" fmla="*/ 148 h 1757"/>
                  <a:gd name="T4" fmla="*/ 20 w 330"/>
                  <a:gd name="T5" fmla="*/ 97 h 1757"/>
                  <a:gd name="T6" fmla="*/ 15 w 330"/>
                  <a:gd name="T7" fmla="*/ 46 h 1757"/>
                  <a:gd name="T8" fmla="*/ 0 w 330"/>
                  <a:gd name="T9" fmla="*/ 0 h 175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30"/>
                  <a:gd name="T16" fmla="*/ 0 h 1757"/>
                  <a:gd name="T17" fmla="*/ 330 w 330"/>
                  <a:gd name="T18" fmla="*/ 1757 h 175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30" h="1757">
                    <a:moveTo>
                      <a:pt x="22" y="1757"/>
                    </a:moveTo>
                    <a:lnTo>
                      <a:pt x="254" y="1336"/>
                    </a:lnTo>
                    <a:lnTo>
                      <a:pt x="330" y="876"/>
                    </a:lnTo>
                    <a:lnTo>
                      <a:pt x="243" y="418"/>
                    </a:ln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03" name="Line 52"/>
              <p:cNvSpPr>
                <a:spLocks noChangeShapeType="1"/>
              </p:cNvSpPr>
              <p:nvPr/>
            </p:nvSpPr>
            <p:spPr bwMode="auto">
              <a:xfrm>
                <a:off x="4553" y="12950"/>
                <a:ext cx="113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04" name="Line 53"/>
              <p:cNvSpPr>
                <a:spLocks noChangeShapeType="1"/>
              </p:cNvSpPr>
              <p:nvPr/>
            </p:nvSpPr>
            <p:spPr bwMode="auto">
              <a:xfrm>
                <a:off x="4765" y="12950"/>
                <a:ext cx="94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05" name="Freeform 54"/>
              <p:cNvSpPr>
                <a:spLocks/>
              </p:cNvSpPr>
              <p:nvPr/>
            </p:nvSpPr>
            <p:spPr bwMode="auto">
              <a:xfrm>
                <a:off x="8047" y="13219"/>
                <a:ext cx="100" cy="110"/>
              </a:xfrm>
              <a:custGeom>
                <a:avLst/>
                <a:gdLst>
                  <a:gd name="T0" fmla="*/ 25 w 399"/>
                  <a:gd name="T1" fmla="*/ 18 h 330"/>
                  <a:gd name="T2" fmla="*/ 21 w 399"/>
                  <a:gd name="T3" fmla="*/ 5 h 330"/>
                  <a:gd name="T4" fmla="*/ 13 w 399"/>
                  <a:gd name="T5" fmla="*/ 0 h 330"/>
                  <a:gd name="T6" fmla="*/ 4 w 399"/>
                  <a:gd name="T7" fmla="*/ 5 h 330"/>
                  <a:gd name="T8" fmla="*/ 0 w 399"/>
                  <a:gd name="T9" fmla="*/ 18 h 330"/>
                  <a:gd name="T10" fmla="*/ 4 w 399"/>
                  <a:gd name="T11" fmla="*/ 31 h 330"/>
                  <a:gd name="T12" fmla="*/ 13 w 399"/>
                  <a:gd name="T13" fmla="*/ 37 h 330"/>
                  <a:gd name="T14" fmla="*/ 21 w 399"/>
                  <a:gd name="T15" fmla="*/ 31 h 330"/>
                  <a:gd name="T16" fmla="*/ 25 w 399"/>
                  <a:gd name="T17" fmla="*/ 18 h 33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399"/>
                  <a:gd name="T28" fmla="*/ 0 h 330"/>
                  <a:gd name="T29" fmla="*/ 399 w 399"/>
                  <a:gd name="T30" fmla="*/ 330 h 330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399" h="330">
                    <a:moveTo>
                      <a:pt x="399" y="165"/>
                    </a:moveTo>
                    <a:lnTo>
                      <a:pt x="341" y="48"/>
                    </a:lnTo>
                    <a:lnTo>
                      <a:pt x="199" y="0"/>
                    </a:lnTo>
                    <a:lnTo>
                      <a:pt x="58" y="48"/>
                    </a:lnTo>
                    <a:lnTo>
                      <a:pt x="0" y="165"/>
                    </a:lnTo>
                    <a:lnTo>
                      <a:pt x="58" y="282"/>
                    </a:lnTo>
                    <a:lnTo>
                      <a:pt x="199" y="330"/>
                    </a:lnTo>
                    <a:lnTo>
                      <a:pt x="341" y="282"/>
                    </a:lnTo>
                    <a:lnTo>
                      <a:pt x="399" y="165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06" name="Line 55"/>
              <p:cNvSpPr>
                <a:spLocks noChangeShapeType="1"/>
              </p:cNvSpPr>
              <p:nvPr/>
            </p:nvSpPr>
            <p:spPr bwMode="auto">
              <a:xfrm flipH="1">
                <a:off x="8303" y="13065"/>
                <a:ext cx="164" cy="9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07" name="Line 56"/>
              <p:cNvSpPr>
                <a:spLocks noChangeShapeType="1"/>
              </p:cNvSpPr>
              <p:nvPr/>
            </p:nvSpPr>
            <p:spPr bwMode="auto">
              <a:xfrm flipH="1">
                <a:off x="8097" y="13182"/>
                <a:ext cx="164" cy="9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08" name="Line 57"/>
              <p:cNvSpPr>
                <a:spLocks noChangeShapeType="1"/>
              </p:cNvSpPr>
              <p:nvPr/>
            </p:nvSpPr>
            <p:spPr bwMode="auto">
              <a:xfrm>
                <a:off x="8097" y="13274"/>
                <a:ext cx="163" cy="9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09" name="Line 58"/>
              <p:cNvSpPr>
                <a:spLocks noChangeShapeType="1"/>
              </p:cNvSpPr>
              <p:nvPr/>
            </p:nvSpPr>
            <p:spPr bwMode="auto">
              <a:xfrm>
                <a:off x="8302" y="13394"/>
                <a:ext cx="163" cy="9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10" name="Line 59"/>
              <p:cNvSpPr>
                <a:spLocks noChangeShapeType="1"/>
              </p:cNvSpPr>
              <p:nvPr/>
            </p:nvSpPr>
            <p:spPr bwMode="auto">
              <a:xfrm>
                <a:off x="3458" y="13069"/>
                <a:ext cx="1" cy="16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11" name="Line 60"/>
              <p:cNvSpPr>
                <a:spLocks noChangeShapeType="1"/>
              </p:cNvSpPr>
              <p:nvPr/>
            </p:nvSpPr>
            <p:spPr bwMode="auto">
              <a:xfrm>
                <a:off x="3458" y="13412"/>
                <a:ext cx="1" cy="16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12" name="Line 61"/>
              <p:cNvSpPr>
                <a:spLocks noChangeShapeType="1"/>
              </p:cNvSpPr>
              <p:nvPr/>
            </p:nvSpPr>
            <p:spPr bwMode="auto">
              <a:xfrm flipH="1">
                <a:off x="5390" y="13250"/>
                <a:ext cx="170" cy="18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13" name="Line 62"/>
              <p:cNvSpPr>
                <a:spLocks noChangeShapeType="1"/>
              </p:cNvSpPr>
              <p:nvPr/>
            </p:nvSpPr>
            <p:spPr bwMode="auto">
              <a:xfrm>
                <a:off x="5356" y="13471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14" name="Line 63"/>
              <p:cNvSpPr>
                <a:spLocks noChangeShapeType="1"/>
              </p:cNvSpPr>
              <p:nvPr/>
            </p:nvSpPr>
            <p:spPr bwMode="auto">
              <a:xfrm flipH="1">
                <a:off x="5053" y="13508"/>
                <a:ext cx="269" cy="29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15" name="Line 64"/>
              <p:cNvSpPr>
                <a:spLocks noChangeShapeType="1"/>
              </p:cNvSpPr>
              <p:nvPr/>
            </p:nvSpPr>
            <p:spPr bwMode="auto">
              <a:xfrm>
                <a:off x="5020" y="13835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16" name="Line 65"/>
              <p:cNvSpPr>
                <a:spLocks noChangeShapeType="1"/>
              </p:cNvSpPr>
              <p:nvPr/>
            </p:nvSpPr>
            <p:spPr bwMode="auto">
              <a:xfrm flipH="1">
                <a:off x="4815" y="13872"/>
                <a:ext cx="171" cy="18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17" name="Line 66"/>
              <p:cNvSpPr>
                <a:spLocks noChangeShapeType="1"/>
              </p:cNvSpPr>
              <p:nvPr/>
            </p:nvSpPr>
            <p:spPr bwMode="auto">
              <a:xfrm>
                <a:off x="3114" y="13768"/>
                <a:ext cx="1" cy="13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18" name="Line 67"/>
              <p:cNvSpPr>
                <a:spLocks noChangeShapeType="1"/>
              </p:cNvSpPr>
              <p:nvPr/>
            </p:nvSpPr>
            <p:spPr bwMode="auto">
              <a:xfrm>
                <a:off x="3114" y="14001"/>
                <a:ext cx="1" cy="11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19" name="Line 68"/>
              <p:cNvSpPr>
                <a:spLocks noChangeShapeType="1"/>
              </p:cNvSpPr>
              <p:nvPr/>
            </p:nvSpPr>
            <p:spPr bwMode="auto">
              <a:xfrm>
                <a:off x="3319" y="13949"/>
                <a:ext cx="217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20" name="Freeform 69"/>
              <p:cNvSpPr>
                <a:spLocks/>
              </p:cNvSpPr>
              <p:nvPr/>
            </p:nvSpPr>
            <p:spPr bwMode="auto">
              <a:xfrm>
                <a:off x="3940" y="13279"/>
                <a:ext cx="98" cy="108"/>
              </a:xfrm>
              <a:custGeom>
                <a:avLst/>
                <a:gdLst>
                  <a:gd name="T0" fmla="*/ 0 w 393"/>
                  <a:gd name="T1" fmla="*/ 26 h 324"/>
                  <a:gd name="T2" fmla="*/ 18 w 393"/>
                  <a:gd name="T3" fmla="*/ 0 h 324"/>
                  <a:gd name="T4" fmla="*/ 24 w 393"/>
                  <a:gd name="T5" fmla="*/ 10 h 324"/>
                  <a:gd name="T6" fmla="*/ 7 w 393"/>
                  <a:gd name="T7" fmla="*/ 36 h 324"/>
                  <a:gd name="T8" fmla="*/ 0 w 393"/>
                  <a:gd name="T9" fmla="*/ 26 h 32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93"/>
                  <a:gd name="T16" fmla="*/ 0 h 324"/>
                  <a:gd name="T17" fmla="*/ 393 w 393"/>
                  <a:gd name="T18" fmla="*/ 324 h 32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93" h="324">
                    <a:moveTo>
                      <a:pt x="0" y="234"/>
                    </a:moveTo>
                    <a:lnTo>
                      <a:pt x="283" y="0"/>
                    </a:lnTo>
                    <a:lnTo>
                      <a:pt x="393" y="90"/>
                    </a:lnTo>
                    <a:lnTo>
                      <a:pt x="108" y="324"/>
                    </a:lnTo>
                    <a:lnTo>
                      <a:pt x="0" y="234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21" name="Freeform 70"/>
              <p:cNvSpPr>
                <a:spLocks/>
              </p:cNvSpPr>
              <p:nvPr/>
            </p:nvSpPr>
            <p:spPr bwMode="auto">
              <a:xfrm>
                <a:off x="4124" y="13285"/>
                <a:ext cx="98" cy="108"/>
              </a:xfrm>
              <a:custGeom>
                <a:avLst/>
                <a:gdLst>
                  <a:gd name="T0" fmla="*/ 7 w 393"/>
                  <a:gd name="T1" fmla="*/ 0 h 323"/>
                  <a:gd name="T2" fmla="*/ 24 w 393"/>
                  <a:gd name="T3" fmla="*/ 26 h 323"/>
                  <a:gd name="T4" fmla="*/ 18 w 393"/>
                  <a:gd name="T5" fmla="*/ 36 h 323"/>
                  <a:gd name="T6" fmla="*/ 0 w 393"/>
                  <a:gd name="T7" fmla="*/ 10 h 323"/>
                  <a:gd name="T8" fmla="*/ 7 w 393"/>
                  <a:gd name="T9" fmla="*/ 0 h 32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93"/>
                  <a:gd name="T16" fmla="*/ 0 h 323"/>
                  <a:gd name="T17" fmla="*/ 393 w 393"/>
                  <a:gd name="T18" fmla="*/ 323 h 32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93" h="323">
                    <a:moveTo>
                      <a:pt x="110" y="0"/>
                    </a:moveTo>
                    <a:lnTo>
                      <a:pt x="393" y="234"/>
                    </a:lnTo>
                    <a:lnTo>
                      <a:pt x="284" y="323"/>
                    </a:lnTo>
                    <a:lnTo>
                      <a:pt x="0" y="90"/>
                    </a:lnTo>
                    <a:lnTo>
                      <a:pt x="110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22" name="Line 71"/>
              <p:cNvSpPr>
                <a:spLocks noChangeShapeType="1"/>
              </p:cNvSpPr>
              <p:nvPr/>
            </p:nvSpPr>
            <p:spPr bwMode="auto">
              <a:xfrm>
                <a:off x="4183" y="13320"/>
                <a:ext cx="327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23" name="Freeform 72"/>
              <p:cNvSpPr>
                <a:spLocks/>
              </p:cNvSpPr>
              <p:nvPr/>
            </p:nvSpPr>
            <p:spPr bwMode="auto">
              <a:xfrm>
                <a:off x="4472" y="13280"/>
                <a:ext cx="99" cy="107"/>
              </a:xfrm>
              <a:custGeom>
                <a:avLst/>
                <a:gdLst>
                  <a:gd name="T0" fmla="*/ 0 w 393"/>
                  <a:gd name="T1" fmla="*/ 26 h 323"/>
                  <a:gd name="T2" fmla="*/ 18 w 393"/>
                  <a:gd name="T3" fmla="*/ 0 h 323"/>
                  <a:gd name="T4" fmla="*/ 25 w 393"/>
                  <a:gd name="T5" fmla="*/ 10 h 323"/>
                  <a:gd name="T6" fmla="*/ 7 w 393"/>
                  <a:gd name="T7" fmla="*/ 35 h 323"/>
                  <a:gd name="T8" fmla="*/ 0 w 393"/>
                  <a:gd name="T9" fmla="*/ 26 h 32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93"/>
                  <a:gd name="T16" fmla="*/ 0 h 323"/>
                  <a:gd name="T17" fmla="*/ 393 w 393"/>
                  <a:gd name="T18" fmla="*/ 323 h 32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93" h="323">
                    <a:moveTo>
                      <a:pt x="0" y="234"/>
                    </a:moveTo>
                    <a:lnTo>
                      <a:pt x="284" y="0"/>
                    </a:lnTo>
                    <a:lnTo>
                      <a:pt x="393" y="90"/>
                    </a:lnTo>
                    <a:lnTo>
                      <a:pt x="110" y="323"/>
                    </a:lnTo>
                    <a:lnTo>
                      <a:pt x="0" y="234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24" name="Freeform 73"/>
              <p:cNvSpPr>
                <a:spLocks/>
              </p:cNvSpPr>
              <p:nvPr/>
            </p:nvSpPr>
            <p:spPr bwMode="auto">
              <a:xfrm>
                <a:off x="4656" y="13285"/>
                <a:ext cx="98" cy="108"/>
              </a:xfrm>
              <a:custGeom>
                <a:avLst/>
                <a:gdLst>
                  <a:gd name="T0" fmla="*/ 7 w 392"/>
                  <a:gd name="T1" fmla="*/ 0 h 323"/>
                  <a:gd name="T2" fmla="*/ 25 w 392"/>
                  <a:gd name="T3" fmla="*/ 26 h 323"/>
                  <a:gd name="T4" fmla="*/ 18 w 392"/>
                  <a:gd name="T5" fmla="*/ 36 h 323"/>
                  <a:gd name="T6" fmla="*/ 0 w 392"/>
                  <a:gd name="T7" fmla="*/ 10 h 323"/>
                  <a:gd name="T8" fmla="*/ 7 w 392"/>
                  <a:gd name="T9" fmla="*/ 0 h 32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92"/>
                  <a:gd name="T16" fmla="*/ 0 h 323"/>
                  <a:gd name="T17" fmla="*/ 392 w 392"/>
                  <a:gd name="T18" fmla="*/ 323 h 32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92" h="323">
                    <a:moveTo>
                      <a:pt x="109" y="0"/>
                    </a:moveTo>
                    <a:lnTo>
                      <a:pt x="392" y="234"/>
                    </a:lnTo>
                    <a:lnTo>
                      <a:pt x="284" y="323"/>
                    </a:lnTo>
                    <a:lnTo>
                      <a:pt x="0" y="90"/>
                    </a:lnTo>
                    <a:lnTo>
                      <a:pt x="109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6234" name="Text Box 74"/>
              <p:cNvSpPr txBox="1">
                <a:spLocks noChangeArrowheads="1"/>
              </p:cNvSpPr>
              <p:nvPr/>
            </p:nvSpPr>
            <p:spPr bwMode="auto">
              <a:xfrm>
                <a:off x="1795" y="13071"/>
                <a:ext cx="498" cy="46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>
                  <a:defRPr/>
                </a:pPr>
                <a:r>
                  <a:rPr lang="en-US" altLang="zh-CN" sz="1400" b="1" i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M</a:t>
                </a:r>
                <a:r>
                  <a:rPr lang="en-US" altLang="zh-CN" sz="1400" b="1" i="1" baseline="-2500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1</a:t>
                </a:r>
                <a:endParaRPr lang="en-US" altLang="zh-CN" sz="1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endParaRPr>
              </a:p>
            </p:txBody>
          </p:sp>
          <p:sp>
            <p:nvSpPr>
              <p:cNvPr id="476235" name="Text Box 75"/>
              <p:cNvSpPr txBox="1">
                <a:spLocks noChangeArrowheads="1"/>
              </p:cNvSpPr>
              <p:nvPr/>
            </p:nvSpPr>
            <p:spPr bwMode="auto">
              <a:xfrm>
                <a:off x="2416" y="12570"/>
                <a:ext cx="442" cy="419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just">
                  <a:defRPr/>
                </a:pPr>
                <a:r>
                  <a:rPr lang="en-US" altLang="zh-CN" sz="1400" b="1" i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D</a:t>
                </a:r>
                <a:r>
                  <a:rPr lang="en-US" altLang="zh-CN" sz="1400" b="1" baseline="-2500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2</a:t>
                </a:r>
                <a:endParaRPr lang="en-US" altLang="zh-CN" sz="1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endParaRPr>
              </a:p>
            </p:txBody>
          </p:sp>
          <p:sp>
            <p:nvSpPr>
              <p:cNvPr id="476236" name="Text Box 76"/>
              <p:cNvSpPr txBox="1">
                <a:spLocks noChangeArrowheads="1"/>
              </p:cNvSpPr>
              <p:nvPr/>
            </p:nvSpPr>
            <p:spPr bwMode="auto">
              <a:xfrm>
                <a:off x="2262" y="13635"/>
                <a:ext cx="485" cy="40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just">
                  <a:defRPr/>
                </a:pPr>
                <a:r>
                  <a:rPr lang="en-US" altLang="zh-CN" sz="1400" b="1" i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W</a:t>
                </a:r>
                <a:r>
                  <a:rPr lang="en-US" altLang="zh-CN" sz="1400" b="1" baseline="-2500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I</a:t>
                </a:r>
                <a:endParaRPr lang="en-US" altLang="zh-CN" sz="1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endParaRPr>
              </a:p>
            </p:txBody>
          </p:sp>
          <p:sp>
            <p:nvSpPr>
              <p:cNvPr id="476237" name="Text Box 77"/>
              <p:cNvSpPr txBox="1">
                <a:spLocks noChangeArrowheads="1"/>
              </p:cNvSpPr>
              <p:nvPr/>
            </p:nvSpPr>
            <p:spPr bwMode="auto">
              <a:xfrm>
                <a:off x="2830" y="12419"/>
                <a:ext cx="689" cy="403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just">
                  <a:defRPr/>
                </a:pPr>
                <a:r>
                  <a:rPr lang="en-US" altLang="zh-CN" sz="14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CH</a:t>
                </a:r>
              </a:p>
            </p:txBody>
          </p:sp>
          <p:sp>
            <p:nvSpPr>
              <p:cNvPr id="476238" name="Text Box 78"/>
              <p:cNvSpPr txBox="1">
                <a:spLocks noChangeArrowheads="1"/>
              </p:cNvSpPr>
              <p:nvPr/>
            </p:nvSpPr>
            <p:spPr bwMode="auto">
              <a:xfrm>
                <a:off x="3146" y="12930"/>
                <a:ext cx="427" cy="509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just">
                  <a:defRPr/>
                </a:pPr>
                <a:r>
                  <a:rPr lang="en-US" altLang="zh-CN" sz="1400" b="1" i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S</a:t>
                </a:r>
                <a:r>
                  <a:rPr lang="en-US" altLang="zh-CN" sz="1400" b="1" baseline="-2500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1</a:t>
                </a:r>
                <a:endParaRPr lang="en-US" altLang="zh-CN" sz="1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endParaRPr>
              </a:p>
            </p:txBody>
          </p:sp>
          <p:sp>
            <p:nvSpPr>
              <p:cNvPr id="476239" name="Text Box 79"/>
              <p:cNvSpPr txBox="1">
                <a:spLocks noChangeArrowheads="1"/>
              </p:cNvSpPr>
              <p:nvPr/>
            </p:nvSpPr>
            <p:spPr bwMode="auto">
              <a:xfrm>
                <a:off x="3840" y="10951"/>
                <a:ext cx="609" cy="403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just">
                  <a:defRPr/>
                </a:pPr>
                <a:r>
                  <a:rPr lang="en-US" altLang="zh-CN" sz="1400" b="1" i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M</a:t>
                </a:r>
                <a:r>
                  <a:rPr lang="en-US" altLang="zh-CN" sz="1400" b="1" baseline="-2500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3</a:t>
                </a:r>
                <a:endParaRPr lang="en-US" altLang="zh-CN" sz="1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endParaRPr>
              </a:p>
            </p:txBody>
          </p:sp>
          <p:sp>
            <p:nvSpPr>
              <p:cNvPr id="476240" name="Text Box 80"/>
              <p:cNvSpPr txBox="1">
                <a:spLocks noChangeArrowheads="1"/>
              </p:cNvSpPr>
              <p:nvPr/>
            </p:nvSpPr>
            <p:spPr bwMode="auto">
              <a:xfrm>
                <a:off x="5072" y="11835"/>
                <a:ext cx="540" cy="51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just">
                  <a:defRPr/>
                </a:pPr>
                <a:r>
                  <a:rPr lang="en-US" altLang="zh-CN" sz="1400" b="1" i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G</a:t>
                </a:r>
                <a:r>
                  <a:rPr lang="en-US" altLang="zh-CN" sz="1400" b="1" baseline="-2500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1</a:t>
                </a:r>
                <a:endParaRPr lang="en-US" altLang="zh-CN" sz="1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endParaRPr>
              </a:p>
            </p:txBody>
          </p:sp>
          <p:sp>
            <p:nvSpPr>
              <p:cNvPr id="476241" name="Text Box 81"/>
              <p:cNvSpPr txBox="1">
                <a:spLocks noChangeArrowheads="1"/>
              </p:cNvSpPr>
              <p:nvPr/>
            </p:nvSpPr>
            <p:spPr bwMode="auto">
              <a:xfrm>
                <a:off x="5180" y="12000"/>
                <a:ext cx="540" cy="509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just">
                  <a:defRPr/>
                </a:pPr>
                <a:r>
                  <a:rPr lang="en-US" altLang="zh-CN" sz="1400" b="1" i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G</a:t>
                </a:r>
                <a:r>
                  <a:rPr lang="en-US" altLang="zh-CN" sz="1400" b="1" baseline="-2500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2</a:t>
                </a:r>
                <a:endParaRPr lang="en-US" altLang="zh-CN" sz="1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endParaRPr>
              </a:p>
            </p:txBody>
          </p:sp>
          <p:sp>
            <p:nvSpPr>
              <p:cNvPr id="476242" name="Text Box 82"/>
              <p:cNvSpPr txBox="1">
                <a:spLocks noChangeArrowheads="1"/>
              </p:cNvSpPr>
              <p:nvPr/>
            </p:nvSpPr>
            <p:spPr bwMode="auto">
              <a:xfrm>
                <a:off x="3660" y="13251"/>
                <a:ext cx="608" cy="40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just">
                  <a:defRPr/>
                </a:pPr>
                <a:r>
                  <a:rPr lang="en-US" altLang="zh-CN" sz="1400" b="1" i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M</a:t>
                </a:r>
                <a:r>
                  <a:rPr lang="en-US" altLang="zh-CN" sz="1400" b="1" baseline="-2500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2</a:t>
                </a:r>
                <a:endParaRPr lang="en-US" altLang="zh-CN" sz="1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endParaRPr>
              </a:p>
            </p:txBody>
          </p:sp>
          <p:sp>
            <p:nvSpPr>
              <p:cNvPr id="476243" name="Text Box 83"/>
              <p:cNvSpPr txBox="1">
                <a:spLocks noChangeArrowheads="1"/>
              </p:cNvSpPr>
              <p:nvPr/>
            </p:nvSpPr>
            <p:spPr bwMode="auto">
              <a:xfrm>
                <a:off x="3971" y="13255"/>
                <a:ext cx="609" cy="403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just">
                  <a:defRPr/>
                </a:pPr>
                <a:r>
                  <a:rPr lang="en-US" altLang="zh-CN" sz="1400" b="1" i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M</a:t>
                </a:r>
                <a:r>
                  <a:rPr lang="en-US" altLang="zh-CN" sz="1400" b="1" baseline="-2500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4</a:t>
                </a:r>
                <a:endParaRPr lang="en-US" altLang="zh-CN" sz="1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endParaRPr>
              </a:p>
            </p:txBody>
          </p:sp>
          <p:sp>
            <p:nvSpPr>
              <p:cNvPr id="476244" name="Text Box 84"/>
              <p:cNvSpPr txBox="1">
                <a:spLocks noChangeArrowheads="1"/>
              </p:cNvSpPr>
              <p:nvPr/>
            </p:nvSpPr>
            <p:spPr bwMode="auto">
              <a:xfrm>
                <a:off x="4243" y="13245"/>
                <a:ext cx="609" cy="40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just">
                  <a:defRPr/>
                </a:pPr>
                <a:r>
                  <a:rPr lang="en-US" altLang="zh-CN" sz="1400" b="1" i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M</a:t>
                </a:r>
                <a:r>
                  <a:rPr lang="en-US" altLang="zh-CN" sz="1400" b="1" baseline="-2500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5</a:t>
                </a:r>
                <a:endParaRPr lang="en-US" altLang="zh-CN" sz="1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endParaRPr>
              </a:p>
            </p:txBody>
          </p:sp>
          <p:sp>
            <p:nvSpPr>
              <p:cNvPr id="476245" name="Text Box 85"/>
              <p:cNvSpPr txBox="1">
                <a:spLocks noChangeArrowheads="1"/>
              </p:cNvSpPr>
              <p:nvPr/>
            </p:nvSpPr>
            <p:spPr bwMode="auto">
              <a:xfrm>
                <a:off x="4476" y="13274"/>
                <a:ext cx="608" cy="40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just">
                  <a:defRPr/>
                </a:pPr>
                <a:r>
                  <a:rPr lang="en-US" altLang="zh-CN" sz="1400" b="1" i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M</a:t>
                </a:r>
                <a:r>
                  <a:rPr lang="en-US" altLang="zh-CN" sz="1400" b="1" baseline="-2500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7</a:t>
                </a:r>
                <a:endParaRPr lang="en-US" altLang="zh-CN" sz="1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endParaRPr>
              </a:p>
            </p:txBody>
          </p:sp>
          <p:sp>
            <p:nvSpPr>
              <p:cNvPr id="476246" name="Text Box 86"/>
              <p:cNvSpPr txBox="1">
                <a:spLocks noChangeArrowheads="1"/>
              </p:cNvSpPr>
              <p:nvPr/>
            </p:nvSpPr>
            <p:spPr bwMode="auto">
              <a:xfrm>
                <a:off x="4975" y="12570"/>
                <a:ext cx="609" cy="40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just">
                  <a:defRPr/>
                </a:pPr>
                <a:r>
                  <a:rPr lang="en-US" altLang="zh-CN" sz="1400" b="1" i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M</a:t>
                </a:r>
                <a:r>
                  <a:rPr lang="en-US" altLang="zh-CN" sz="1400" b="1" baseline="-2500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8</a:t>
                </a:r>
                <a:endParaRPr lang="en-US" altLang="zh-CN" sz="1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endParaRPr>
              </a:p>
            </p:txBody>
          </p:sp>
          <p:sp>
            <p:nvSpPr>
              <p:cNvPr id="476247" name="Text Box 87"/>
              <p:cNvSpPr txBox="1">
                <a:spLocks noChangeArrowheads="1"/>
              </p:cNvSpPr>
              <p:nvPr/>
            </p:nvSpPr>
            <p:spPr bwMode="auto">
              <a:xfrm>
                <a:off x="5971" y="12270"/>
                <a:ext cx="609" cy="403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just">
                  <a:defRPr/>
                </a:pPr>
                <a:r>
                  <a:rPr lang="en-US" altLang="zh-CN" sz="1400" b="1" i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M</a:t>
                </a:r>
                <a:r>
                  <a:rPr lang="en-US" altLang="zh-CN" sz="1400" b="1" baseline="-2500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10</a:t>
                </a:r>
                <a:endParaRPr lang="en-US" altLang="zh-CN" sz="1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endParaRPr>
              </a:p>
            </p:txBody>
          </p:sp>
          <p:sp>
            <p:nvSpPr>
              <p:cNvPr id="476248" name="Text Box 88"/>
              <p:cNvSpPr txBox="1">
                <a:spLocks noChangeArrowheads="1"/>
              </p:cNvSpPr>
              <p:nvPr/>
            </p:nvSpPr>
            <p:spPr bwMode="auto">
              <a:xfrm>
                <a:off x="5999" y="12945"/>
                <a:ext cx="609" cy="40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just">
                  <a:defRPr/>
                </a:pPr>
                <a:r>
                  <a:rPr lang="en-US" altLang="zh-CN" sz="1400" b="1" i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M</a:t>
                </a:r>
                <a:r>
                  <a:rPr lang="en-US" altLang="zh-CN" sz="1400" b="1" baseline="-2500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9</a:t>
                </a:r>
                <a:endParaRPr lang="en-US" altLang="zh-CN" sz="1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endParaRPr>
              </a:p>
            </p:txBody>
          </p:sp>
          <p:sp>
            <p:nvSpPr>
              <p:cNvPr id="476249" name="Text Box 89"/>
              <p:cNvSpPr txBox="1">
                <a:spLocks noChangeArrowheads="1"/>
              </p:cNvSpPr>
              <p:nvPr/>
            </p:nvSpPr>
            <p:spPr bwMode="auto">
              <a:xfrm>
                <a:off x="5556" y="13829"/>
                <a:ext cx="609" cy="403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just">
                  <a:defRPr/>
                </a:pPr>
                <a:r>
                  <a:rPr lang="en-US" altLang="zh-CN" sz="1400" b="1" i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M</a:t>
                </a:r>
                <a:r>
                  <a:rPr lang="en-US" altLang="zh-CN" sz="1400" b="1" baseline="-2500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11</a:t>
                </a:r>
                <a:endParaRPr lang="en-US" altLang="zh-CN" sz="1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endParaRPr>
              </a:p>
            </p:txBody>
          </p:sp>
          <p:sp>
            <p:nvSpPr>
              <p:cNvPr id="476250" name="Text Box 90"/>
              <p:cNvSpPr txBox="1">
                <a:spLocks noChangeArrowheads="1"/>
              </p:cNvSpPr>
              <p:nvPr/>
            </p:nvSpPr>
            <p:spPr bwMode="auto">
              <a:xfrm>
                <a:off x="7635" y="12195"/>
                <a:ext cx="609" cy="40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just">
                  <a:defRPr/>
                </a:pPr>
                <a:r>
                  <a:rPr lang="en-US" altLang="zh-CN" sz="1400" b="1" i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M</a:t>
                </a:r>
                <a:r>
                  <a:rPr lang="en-US" altLang="zh-CN" sz="1400" b="1" baseline="-2500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12</a:t>
                </a:r>
                <a:endParaRPr lang="en-US" altLang="zh-CN" sz="1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endParaRPr>
              </a:p>
            </p:txBody>
          </p:sp>
          <p:sp>
            <p:nvSpPr>
              <p:cNvPr id="476251" name="Text Box 91"/>
              <p:cNvSpPr txBox="1">
                <a:spLocks noChangeArrowheads="1"/>
              </p:cNvSpPr>
              <p:nvPr/>
            </p:nvSpPr>
            <p:spPr bwMode="auto">
              <a:xfrm>
                <a:off x="7993" y="13739"/>
                <a:ext cx="608" cy="40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just">
                  <a:defRPr/>
                </a:pPr>
                <a:r>
                  <a:rPr lang="en-US" altLang="zh-CN" sz="1400" b="1" i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M</a:t>
                </a:r>
                <a:r>
                  <a:rPr lang="en-US" altLang="zh-CN" sz="1400" b="1" baseline="-2500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13</a:t>
                </a:r>
                <a:endParaRPr lang="en-US" altLang="zh-CN" sz="1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endParaRPr>
              </a:p>
            </p:txBody>
          </p:sp>
          <p:sp>
            <p:nvSpPr>
              <p:cNvPr id="476252" name="Text Box 92"/>
              <p:cNvSpPr txBox="1">
                <a:spLocks noChangeArrowheads="1"/>
              </p:cNvSpPr>
              <p:nvPr/>
            </p:nvSpPr>
            <p:spPr bwMode="auto">
              <a:xfrm>
                <a:off x="7024" y="13296"/>
                <a:ext cx="609" cy="403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just">
                  <a:defRPr/>
                </a:pPr>
                <a:r>
                  <a:rPr lang="en-US" altLang="zh-CN" sz="1400" b="1" i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M</a:t>
                </a:r>
                <a:r>
                  <a:rPr lang="en-US" altLang="zh-CN" sz="1400" b="1" baseline="-2500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15</a:t>
                </a:r>
                <a:endParaRPr lang="en-US" altLang="zh-CN" sz="1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endParaRPr>
              </a:p>
            </p:txBody>
          </p:sp>
          <p:sp>
            <p:nvSpPr>
              <p:cNvPr id="476253" name="Text Box 93"/>
              <p:cNvSpPr txBox="1">
                <a:spLocks noChangeArrowheads="1"/>
              </p:cNvSpPr>
              <p:nvPr/>
            </p:nvSpPr>
            <p:spPr bwMode="auto">
              <a:xfrm>
                <a:off x="7052" y="12780"/>
                <a:ext cx="609" cy="40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just">
                  <a:defRPr/>
                </a:pPr>
                <a:r>
                  <a:rPr lang="en-US" altLang="zh-CN" sz="1400" b="1" i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M</a:t>
                </a:r>
                <a:r>
                  <a:rPr lang="en-US" altLang="zh-CN" sz="1400" b="1" baseline="-2500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14</a:t>
                </a:r>
                <a:endParaRPr lang="en-US" altLang="zh-CN" sz="1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endParaRPr>
              </a:p>
            </p:txBody>
          </p:sp>
          <p:sp>
            <p:nvSpPr>
              <p:cNvPr id="476254" name="Text Box 94"/>
              <p:cNvSpPr txBox="1">
                <a:spLocks noChangeArrowheads="1"/>
              </p:cNvSpPr>
              <p:nvPr/>
            </p:nvSpPr>
            <p:spPr bwMode="auto">
              <a:xfrm>
                <a:off x="8352" y="12614"/>
                <a:ext cx="609" cy="40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just">
                  <a:defRPr/>
                </a:pPr>
                <a:r>
                  <a:rPr lang="en-US" altLang="zh-CN" sz="1400" b="1" i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M</a:t>
                </a:r>
                <a:r>
                  <a:rPr lang="en-US" altLang="zh-CN" sz="1400" b="1" baseline="-2500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16</a:t>
                </a:r>
                <a:endParaRPr lang="en-US" altLang="zh-CN" sz="1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endParaRPr>
              </a:p>
            </p:txBody>
          </p:sp>
          <p:sp>
            <p:nvSpPr>
              <p:cNvPr id="476255" name="Text Box 95"/>
              <p:cNvSpPr txBox="1">
                <a:spLocks noChangeArrowheads="1"/>
              </p:cNvSpPr>
              <p:nvPr/>
            </p:nvSpPr>
            <p:spPr bwMode="auto">
              <a:xfrm>
                <a:off x="7818" y="13191"/>
                <a:ext cx="783" cy="508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just">
                  <a:defRPr/>
                </a:pPr>
                <a:r>
                  <a:rPr lang="en-US" altLang="zh-CN" sz="14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PbS</a:t>
                </a:r>
              </a:p>
            </p:txBody>
          </p:sp>
          <p:sp>
            <p:nvSpPr>
              <p:cNvPr id="476256" name="Text Box 96"/>
              <p:cNvSpPr txBox="1">
                <a:spLocks noChangeArrowheads="1"/>
              </p:cNvSpPr>
              <p:nvPr/>
            </p:nvSpPr>
            <p:spPr bwMode="auto">
              <a:xfrm>
                <a:off x="9328" y="13381"/>
                <a:ext cx="753" cy="463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just">
                  <a:defRPr/>
                </a:pPr>
                <a:r>
                  <a:rPr lang="en-US" altLang="zh-CN" sz="14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PMT</a:t>
                </a:r>
              </a:p>
            </p:txBody>
          </p:sp>
          <p:sp>
            <p:nvSpPr>
              <p:cNvPr id="476257" name="Text Box 97"/>
              <p:cNvSpPr txBox="1">
                <a:spLocks noChangeArrowheads="1"/>
              </p:cNvSpPr>
              <p:nvPr/>
            </p:nvSpPr>
            <p:spPr bwMode="auto">
              <a:xfrm>
                <a:off x="6493" y="12735"/>
                <a:ext cx="563" cy="123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r>
                  <a:rPr lang="zh-CN" altLang="en-US" sz="14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试</a:t>
                </a:r>
              </a:p>
              <a:p>
                <a:pPr>
                  <a:defRPr/>
                </a:pPr>
                <a:r>
                  <a:rPr lang="zh-CN" altLang="en-US" sz="14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样</a:t>
                </a:r>
              </a:p>
              <a:p>
                <a:pPr>
                  <a:defRPr/>
                </a:pPr>
                <a:r>
                  <a:rPr lang="zh-CN" altLang="en-US" sz="14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室</a:t>
                </a:r>
              </a:p>
            </p:txBody>
          </p:sp>
          <p:sp>
            <p:nvSpPr>
              <p:cNvPr id="53349" name="Line 98"/>
              <p:cNvSpPr>
                <a:spLocks noChangeShapeType="1"/>
              </p:cNvSpPr>
              <p:nvPr/>
            </p:nvSpPr>
            <p:spPr bwMode="auto">
              <a:xfrm>
                <a:off x="4713" y="13323"/>
                <a:ext cx="1267" cy="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6259" name="Text Box 99"/>
              <p:cNvSpPr txBox="1">
                <a:spLocks noChangeArrowheads="1"/>
              </p:cNvSpPr>
              <p:nvPr/>
            </p:nvSpPr>
            <p:spPr bwMode="auto">
              <a:xfrm>
                <a:off x="2732" y="14882"/>
                <a:ext cx="7020" cy="5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en-US" altLang="zh-CN" sz="1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endParaRPr>
              </a:p>
              <a:p>
                <a:pPr algn="ctr">
                  <a:defRPr/>
                </a:pPr>
                <a:r>
                  <a:rPr lang="en-US" altLang="zh-CN" sz="20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U-3400</a:t>
                </a:r>
                <a:r>
                  <a:rPr lang="zh-CN" altLang="en-US" sz="20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型分光光度计的光学系统原理图</a:t>
                </a:r>
              </a:p>
            </p:txBody>
          </p:sp>
          <p:sp>
            <p:nvSpPr>
              <p:cNvPr id="53351" name="Arc 100"/>
              <p:cNvSpPr>
                <a:spLocks/>
              </p:cNvSpPr>
              <p:nvPr/>
            </p:nvSpPr>
            <p:spPr bwMode="auto">
              <a:xfrm flipH="1">
                <a:off x="3404" y="13804"/>
                <a:ext cx="98" cy="296"/>
              </a:xfrm>
              <a:custGeom>
                <a:avLst/>
                <a:gdLst>
                  <a:gd name="T0" fmla="*/ 0 w 41445"/>
                  <a:gd name="T1" fmla="*/ 0 h 43200"/>
                  <a:gd name="T2" fmla="*/ 0 w 41445"/>
                  <a:gd name="T3" fmla="*/ 0 h 43200"/>
                  <a:gd name="T4" fmla="*/ 0 w 41445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41445"/>
                  <a:gd name="T10" fmla="*/ 0 h 43200"/>
                  <a:gd name="T11" fmla="*/ 41445 w 41445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1445" h="43200" fill="none" extrusionOk="0">
                    <a:moveTo>
                      <a:pt x="0" y="13071"/>
                    </a:moveTo>
                    <a:cubicBezTo>
                      <a:pt x="3408" y="5139"/>
                      <a:pt x="11212" y="-1"/>
                      <a:pt x="19845" y="0"/>
                    </a:cubicBezTo>
                    <a:cubicBezTo>
                      <a:pt x="31774" y="0"/>
                      <a:pt x="41445" y="9670"/>
                      <a:pt x="41445" y="21600"/>
                    </a:cubicBezTo>
                    <a:cubicBezTo>
                      <a:pt x="41445" y="33529"/>
                      <a:pt x="31774" y="43200"/>
                      <a:pt x="19845" y="43200"/>
                    </a:cubicBezTo>
                    <a:cubicBezTo>
                      <a:pt x="12945" y="43200"/>
                      <a:pt x="6461" y="39903"/>
                      <a:pt x="2394" y="34330"/>
                    </a:cubicBezTo>
                  </a:path>
                  <a:path w="41445" h="43200" stroke="0" extrusionOk="0">
                    <a:moveTo>
                      <a:pt x="0" y="13071"/>
                    </a:moveTo>
                    <a:cubicBezTo>
                      <a:pt x="3408" y="5139"/>
                      <a:pt x="11212" y="-1"/>
                      <a:pt x="19845" y="0"/>
                    </a:cubicBezTo>
                    <a:cubicBezTo>
                      <a:pt x="31774" y="0"/>
                      <a:pt x="41445" y="9670"/>
                      <a:pt x="41445" y="21600"/>
                    </a:cubicBezTo>
                    <a:cubicBezTo>
                      <a:pt x="41445" y="33529"/>
                      <a:pt x="31774" y="43200"/>
                      <a:pt x="19845" y="43200"/>
                    </a:cubicBezTo>
                    <a:cubicBezTo>
                      <a:pt x="12945" y="43200"/>
                      <a:pt x="6461" y="39903"/>
                      <a:pt x="2394" y="34330"/>
                    </a:cubicBezTo>
                    <a:lnTo>
                      <a:pt x="19845" y="21600"/>
                    </a:lnTo>
                    <a:close/>
                  </a:path>
                </a:pathLst>
              </a:custGeom>
              <a:noFill/>
              <a:ln w="6350">
                <a:solidFill>
                  <a:srgbClr val="000000"/>
                </a:solidFill>
                <a:round/>
                <a:headEnd type="stealth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52" name="Line 101"/>
              <p:cNvSpPr>
                <a:spLocks noChangeShapeType="1"/>
              </p:cNvSpPr>
              <p:nvPr/>
            </p:nvSpPr>
            <p:spPr bwMode="auto">
              <a:xfrm>
                <a:off x="3005" y="13953"/>
                <a:ext cx="293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53" name="Arc 102"/>
              <p:cNvSpPr>
                <a:spLocks/>
              </p:cNvSpPr>
              <p:nvPr/>
            </p:nvSpPr>
            <p:spPr bwMode="auto">
              <a:xfrm rot="19248520" flipH="1">
                <a:off x="4944" y="13734"/>
                <a:ext cx="98" cy="296"/>
              </a:xfrm>
              <a:custGeom>
                <a:avLst/>
                <a:gdLst>
                  <a:gd name="T0" fmla="*/ 0 w 41445"/>
                  <a:gd name="T1" fmla="*/ 0 h 43200"/>
                  <a:gd name="T2" fmla="*/ 0 w 41445"/>
                  <a:gd name="T3" fmla="*/ 0 h 43200"/>
                  <a:gd name="T4" fmla="*/ 0 w 41445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41445"/>
                  <a:gd name="T10" fmla="*/ 0 h 43200"/>
                  <a:gd name="T11" fmla="*/ 41445 w 41445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1445" h="43200" fill="none" extrusionOk="0">
                    <a:moveTo>
                      <a:pt x="0" y="13071"/>
                    </a:moveTo>
                    <a:cubicBezTo>
                      <a:pt x="3408" y="5139"/>
                      <a:pt x="11212" y="-1"/>
                      <a:pt x="19845" y="0"/>
                    </a:cubicBezTo>
                    <a:cubicBezTo>
                      <a:pt x="31774" y="0"/>
                      <a:pt x="41445" y="9670"/>
                      <a:pt x="41445" y="21600"/>
                    </a:cubicBezTo>
                    <a:cubicBezTo>
                      <a:pt x="41445" y="33529"/>
                      <a:pt x="31774" y="43200"/>
                      <a:pt x="19845" y="43200"/>
                    </a:cubicBezTo>
                    <a:cubicBezTo>
                      <a:pt x="12945" y="43200"/>
                      <a:pt x="6461" y="39903"/>
                      <a:pt x="2394" y="34330"/>
                    </a:cubicBezTo>
                  </a:path>
                  <a:path w="41445" h="43200" stroke="0" extrusionOk="0">
                    <a:moveTo>
                      <a:pt x="0" y="13071"/>
                    </a:moveTo>
                    <a:cubicBezTo>
                      <a:pt x="3408" y="5139"/>
                      <a:pt x="11212" y="-1"/>
                      <a:pt x="19845" y="0"/>
                    </a:cubicBezTo>
                    <a:cubicBezTo>
                      <a:pt x="31774" y="0"/>
                      <a:pt x="41445" y="9670"/>
                      <a:pt x="41445" y="21600"/>
                    </a:cubicBezTo>
                    <a:cubicBezTo>
                      <a:pt x="41445" y="33529"/>
                      <a:pt x="31774" y="43200"/>
                      <a:pt x="19845" y="43200"/>
                    </a:cubicBezTo>
                    <a:cubicBezTo>
                      <a:pt x="12945" y="43200"/>
                      <a:pt x="6461" y="39903"/>
                      <a:pt x="2394" y="34330"/>
                    </a:cubicBezTo>
                    <a:lnTo>
                      <a:pt x="19845" y="21600"/>
                    </a:lnTo>
                    <a:close/>
                  </a:path>
                </a:pathLst>
              </a:custGeom>
              <a:noFill/>
              <a:ln w="6350">
                <a:solidFill>
                  <a:srgbClr val="000000"/>
                </a:solidFill>
                <a:round/>
                <a:headEnd type="stealth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6263" name="Text Box 103"/>
              <p:cNvSpPr txBox="1">
                <a:spLocks noChangeArrowheads="1"/>
              </p:cNvSpPr>
              <p:nvPr/>
            </p:nvSpPr>
            <p:spPr bwMode="auto">
              <a:xfrm>
                <a:off x="2507" y="14254"/>
                <a:ext cx="7320" cy="7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just">
                  <a:defRPr/>
                </a:pPr>
                <a:r>
                  <a:rPr lang="en-US" altLang="zh-CN" sz="1400" b="1" i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A</a:t>
                </a:r>
                <a:endParaRPr lang="en-US" altLang="zh-CN" sz="1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endParaRPr>
              </a:p>
            </p:txBody>
          </p:sp>
          <p:sp>
            <p:nvSpPr>
              <p:cNvPr id="53355" name="Rectangle 104"/>
              <p:cNvSpPr>
                <a:spLocks noChangeArrowheads="1"/>
              </p:cNvSpPr>
              <p:nvPr/>
            </p:nvSpPr>
            <p:spPr bwMode="auto">
              <a:xfrm>
                <a:off x="6535" y="12605"/>
                <a:ext cx="380" cy="133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prstDash val="lgDashDot"/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6265" name="Text Box 105"/>
              <p:cNvSpPr txBox="1">
                <a:spLocks noChangeArrowheads="1"/>
              </p:cNvSpPr>
              <p:nvPr/>
            </p:nvSpPr>
            <p:spPr bwMode="auto">
              <a:xfrm>
                <a:off x="4166" y="12570"/>
                <a:ext cx="627" cy="558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just">
                  <a:defRPr/>
                </a:pPr>
                <a:r>
                  <a:rPr lang="en-US" altLang="zh-CN" sz="1400" b="1" i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S</a:t>
                </a:r>
                <a:r>
                  <a:rPr lang="en-US" altLang="zh-CN" sz="1400" b="1" baseline="-2500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2</a:t>
                </a:r>
                <a:endParaRPr lang="en-US" altLang="zh-CN" sz="1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endParaRPr>
              </a:p>
            </p:txBody>
          </p:sp>
          <p:sp>
            <p:nvSpPr>
              <p:cNvPr id="476266" name="Text Box 106"/>
              <p:cNvSpPr txBox="1">
                <a:spLocks noChangeArrowheads="1"/>
              </p:cNvSpPr>
              <p:nvPr/>
            </p:nvSpPr>
            <p:spPr bwMode="auto">
              <a:xfrm>
                <a:off x="4646" y="12580"/>
                <a:ext cx="629" cy="558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just">
                  <a:defRPr/>
                </a:pPr>
                <a:r>
                  <a:rPr lang="en-US" altLang="zh-CN" sz="1400" b="1" i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S</a:t>
                </a:r>
                <a:r>
                  <a:rPr lang="en-US" altLang="zh-CN" sz="1400" b="1" baseline="-2500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3</a:t>
                </a:r>
                <a:endParaRPr lang="en-US" altLang="zh-CN" sz="1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endParaRPr>
              </a:p>
            </p:txBody>
          </p:sp>
          <p:sp>
            <p:nvSpPr>
              <p:cNvPr id="476267" name="Text Box 107"/>
              <p:cNvSpPr txBox="1">
                <a:spLocks noChangeArrowheads="1"/>
              </p:cNvSpPr>
              <p:nvPr/>
            </p:nvSpPr>
            <p:spPr bwMode="auto">
              <a:xfrm>
                <a:off x="3146" y="12261"/>
                <a:ext cx="629" cy="558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just">
                  <a:defRPr/>
                </a:pPr>
                <a:r>
                  <a:rPr lang="en-US" altLang="zh-CN" sz="1400" b="1" i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  <a:ea typeface="黑体" pitchFamily="2" charset="-122"/>
                  </a:rPr>
                  <a:t>P</a:t>
                </a:r>
                <a:endParaRPr lang="en-US" altLang="zh-CN" sz="1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endParaRPr>
              </a:p>
            </p:txBody>
          </p:sp>
        </p:grpSp>
        <p:sp>
          <p:nvSpPr>
            <p:cNvPr id="476268" name="Text Box 108"/>
            <p:cNvSpPr txBox="1">
              <a:spLocks noChangeArrowheads="1"/>
            </p:cNvSpPr>
            <p:nvPr/>
          </p:nvSpPr>
          <p:spPr bwMode="auto">
            <a:xfrm>
              <a:off x="3072" y="14144"/>
              <a:ext cx="6260" cy="9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>
                <a:defRPr/>
              </a:pPr>
              <a:endParaRPr lang="en-US" altLang="zh-CN" sz="1400" b="1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endParaRPr>
            </a:p>
            <a:p>
              <a:pPr algn="just">
                <a:defRPr/>
              </a:pPr>
              <a:r>
                <a:rPr lang="en-US" altLang="zh-CN" sz="1400" b="1" i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rPr>
                <a:t>W</a:t>
              </a:r>
              <a:r>
                <a:rPr lang="en-US" altLang="zh-CN" sz="14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rPr>
                <a:t>I</a:t>
              </a:r>
              <a:r>
                <a:rPr lang="en-US" altLang="zh-CN" sz="1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rPr>
                <a:t>-</a:t>
              </a:r>
              <a:r>
                <a:rPr lang="zh-CN" altLang="en-US" sz="1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rPr>
                <a:t>碘钨灯  </a:t>
              </a:r>
              <a:r>
                <a:rPr lang="en-US" altLang="zh-CN" sz="1400" b="1" i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rPr>
                <a:t>D</a:t>
              </a:r>
              <a:r>
                <a:rPr lang="en-US" altLang="zh-CN" sz="14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rPr>
                <a:t>2</a:t>
              </a:r>
              <a:r>
                <a:rPr lang="zh-CN" altLang="en-US" sz="1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rPr>
                <a:t>－重氢灯  </a:t>
              </a:r>
              <a:r>
                <a:rPr lang="en-US" altLang="zh-CN" sz="1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rPr>
                <a:t>CH</a:t>
              </a:r>
              <a:r>
                <a:rPr lang="zh-CN" altLang="en-US" sz="1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rPr>
                <a:t>－机械遮光器    </a:t>
              </a:r>
              <a:r>
                <a:rPr lang="en-US" altLang="zh-CN" sz="1400" b="1" i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rPr>
                <a:t>S</a:t>
              </a:r>
              <a:r>
                <a:rPr lang="en-US" altLang="zh-CN" sz="14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rPr>
                <a:t>1</a:t>
              </a:r>
              <a:r>
                <a:rPr lang="en-US" altLang="zh-CN" sz="1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rPr>
                <a:t>, </a:t>
              </a:r>
              <a:r>
                <a:rPr lang="en-US" altLang="zh-CN" sz="1400" b="1" i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rPr>
                <a:t>S</a:t>
              </a:r>
              <a:r>
                <a:rPr lang="en-US" altLang="zh-CN" sz="14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rPr>
                <a:t>2</a:t>
              </a:r>
              <a:r>
                <a:rPr lang="en-US" altLang="zh-CN" sz="1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rPr>
                <a:t>, </a:t>
              </a:r>
              <a:r>
                <a:rPr lang="en-US" altLang="zh-CN" sz="1400" b="1" i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rPr>
                <a:t>S</a:t>
              </a:r>
              <a:r>
                <a:rPr lang="en-US" altLang="zh-CN" sz="14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rPr>
                <a:t>3</a:t>
              </a:r>
              <a:r>
                <a:rPr lang="en-US" altLang="zh-CN" sz="1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rPr>
                <a:t>-</a:t>
              </a:r>
              <a:r>
                <a:rPr lang="zh-CN" altLang="en-US" sz="1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rPr>
                <a:t>狭缝  </a:t>
              </a:r>
              <a:r>
                <a:rPr lang="en-US" altLang="zh-CN" sz="1400" b="1" i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rPr>
                <a:t>M</a:t>
              </a:r>
              <a:r>
                <a:rPr lang="zh-CN" altLang="en-US" sz="1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rPr>
                <a:t>－反射镜（</a:t>
              </a:r>
              <a:r>
                <a:rPr lang="en-US" altLang="zh-CN" sz="1400" b="1" i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rPr>
                <a:t>M</a:t>
              </a:r>
              <a:r>
                <a:rPr lang="en-US" altLang="zh-CN" sz="14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rPr>
                <a:t>7</a:t>
              </a:r>
              <a:r>
                <a:rPr lang="en-US" altLang="zh-CN" sz="1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rPr>
                <a:t>, </a:t>
              </a:r>
              <a:r>
                <a:rPr lang="en-US" altLang="zh-CN" sz="1400" b="1" i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rPr>
                <a:t>M</a:t>
              </a:r>
              <a:r>
                <a:rPr lang="en-US" altLang="zh-CN" sz="14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rPr>
                <a:t>9</a:t>
              </a:r>
              <a:r>
                <a:rPr lang="zh-CN" altLang="en-US" sz="1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rPr>
                <a:t>－柱面镜，</a:t>
              </a:r>
              <a:r>
                <a:rPr lang="en-US" altLang="zh-CN" sz="1400" b="1" i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rPr>
                <a:t>M</a:t>
              </a:r>
              <a:r>
                <a:rPr lang="en-US" altLang="zh-CN" sz="14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rPr>
                <a:t>8</a:t>
              </a:r>
              <a:r>
                <a:rPr lang="zh-CN" altLang="en-US" sz="1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rPr>
                <a:t>－玻璃调制盘）  </a:t>
              </a:r>
              <a:r>
                <a:rPr lang="en-US" altLang="zh-CN" sz="1400" b="1" i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rPr>
                <a:t>P</a:t>
              </a:r>
              <a:r>
                <a:rPr lang="zh-CN" altLang="en-US" sz="1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rPr>
                <a:t>－色散棱镜    </a:t>
              </a:r>
              <a:r>
                <a:rPr lang="en-US" altLang="zh-CN" sz="1400" b="1" i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rPr>
                <a:t>G</a:t>
              </a:r>
              <a:r>
                <a:rPr lang="en-US" altLang="zh-CN" sz="14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rPr>
                <a:t>1</a:t>
              </a:r>
              <a:r>
                <a:rPr lang="en-US" altLang="zh-CN" sz="1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rPr>
                <a:t>, </a:t>
              </a:r>
              <a:r>
                <a:rPr lang="en-US" altLang="zh-CN" sz="1400" b="1" i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rPr>
                <a:t>G</a:t>
              </a:r>
              <a:r>
                <a:rPr lang="en-US" altLang="zh-CN" sz="14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rPr>
                <a:t>2</a:t>
              </a:r>
              <a:r>
                <a:rPr lang="zh-CN" altLang="en-US" sz="1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rPr>
                <a:t>－光栅   </a:t>
              </a:r>
              <a:r>
                <a:rPr lang="en-US" altLang="zh-CN" sz="1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rPr>
                <a:t>PbS</a:t>
              </a:r>
              <a:r>
                <a:rPr lang="zh-CN" altLang="en-US" sz="1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rPr>
                <a:t>－硫化铅探测器    </a:t>
              </a:r>
              <a:r>
                <a:rPr lang="en-US" altLang="zh-CN" sz="1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rPr>
                <a:t>PMT</a:t>
              </a:r>
              <a:r>
                <a:rPr lang="zh-CN" altLang="en-US" sz="1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黑体" pitchFamily="2" charset="-122"/>
                </a:rPr>
                <a:t>－光电倍增管</a:t>
              </a:r>
            </a:p>
          </p:txBody>
        </p:sp>
      </p:grpSp>
    </p:spTree>
  </p:cSld>
  <p:clrMapOvr>
    <a:masterClrMapping/>
  </p:clrMapOvr>
  <p:transition>
    <p:circl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吉祥如意">
  <a:themeElements>
    <a:clrScheme name="吉祥如意 1">
      <a:dk1>
        <a:srgbClr val="000000"/>
      </a:dk1>
      <a:lt1>
        <a:srgbClr val="FFFFFF"/>
      </a:lt1>
      <a:dk2>
        <a:srgbClr val="E40000"/>
      </a:dk2>
      <a:lt2>
        <a:srgbClr val="DDDDDD"/>
      </a:lt2>
      <a:accent1>
        <a:srgbClr val="E1F4FF"/>
      </a:accent1>
      <a:accent2>
        <a:srgbClr val="FFE2C5"/>
      </a:accent2>
      <a:accent3>
        <a:srgbClr val="FFFFFF"/>
      </a:accent3>
      <a:accent4>
        <a:srgbClr val="000000"/>
      </a:accent4>
      <a:accent5>
        <a:srgbClr val="EEF8FF"/>
      </a:accent5>
      <a:accent6>
        <a:srgbClr val="E7CDB2"/>
      </a:accent6>
      <a:hlink>
        <a:srgbClr val="0066CC"/>
      </a:hlink>
      <a:folHlink>
        <a:srgbClr val="9F9FBF"/>
      </a:folHlink>
    </a:clrScheme>
    <a:fontScheme name="吉祥如意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吉祥如意 1">
        <a:dk1>
          <a:srgbClr val="000000"/>
        </a:dk1>
        <a:lt1>
          <a:srgbClr val="FFFFFF"/>
        </a:lt1>
        <a:dk2>
          <a:srgbClr val="E40000"/>
        </a:dk2>
        <a:lt2>
          <a:srgbClr val="DDDDDD"/>
        </a:lt2>
        <a:accent1>
          <a:srgbClr val="E1F4FF"/>
        </a:accent1>
        <a:accent2>
          <a:srgbClr val="FFE2C5"/>
        </a:accent2>
        <a:accent3>
          <a:srgbClr val="FFFFFF"/>
        </a:accent3>
        <a:accent4>
          <a:srgbClr val="000000"/>
        </a:accent4>
        <a:accent5>
          <a:srgbClr val="EEF8FF"/>
        </a:accent5>
        <a:accent6>
          <a:srgbClr val="E7CDB2"/>
        </a:accent6>
        <a:hlink>
          <a:srgbClr val="0066CC"/>
        </a:hlink>
        <a:folHlink>
          <a:srgbClr val="9F9FB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2">
        <a:dk1>
          <a:srgbClr val="59582D"/>
        </a:dk1>
        <a:lt1>
          <a:srgbClr val="EAEAEA"/>
        </a:lt1>
        <a:dk2>
          <a:srgbClr val="666699"/>
        </a:dk2>
        <a:lt2>
          <a:srgbClr val="D9D9D9"/>
        </a:lt2>
        <a:accent1>
          <a:srgbClr val="CCECFF"/>
        </a:accent1>
        <a:accent2>
          <a:srgbClr val="B2D2C7"/>
        </a:accent2>
        <a:accent3>
          <a:srgbClr val="F3F3F3"/>
        </a:accent3>
        <a:accent4>
          <a:srgbClr val="4B4A25"/>
        </a:accent4>
        <a:accent5>
          <a:srgbClr val="E2F4FF"/>
        </a:accent5>
        <a:accent6>
          <a:srgbClr val="A1BEB4"/>
        </a:accent6>
        <a:hlink>
          <a:srgbClr val="993366"/>
        </a:hlink>
        <a:folHlink>
          <a:srgbClr val="92B9E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3">
        <a:dk1>
          <a:srgbClr val="000099"/>
        </a:dk1>
        <a:lt1>
          <a:srgbClr val="FFFFCC"/>
        </a:lt1>
        <a:dk2>
          <a:srgbClr val="004000"/>
        </a:dk2>
        <a:lt2>
          <a:srgbClr val="FFD9B3"/>
        </a:lt2>
        <a:accent1>
          <a:srgbClr val="FFD9D9"/>
        </a:accent1>
        <a:accent2>
          <a:srgbClr val="DDDDDD"/>
        </a:accent2>
        <a:accent3>
          <a:srgbClr val="FFFFE2"/>
        </a:accent3>
        <a:accent4>
          <a:srgbClr val="000082"/>
        </a:accent4>
        <a:accent5>
          <a:srgbClr val="FFE9E9"/>
        </a:accent5>
        <a:accent6>
          <a:srgbClr val="C8C8C8"/>
        </a:accent6>
        <a:hlink>
          <a:srgbClr val="FF0000"/>
        </a:hlink>
        <a:folHlink>
          <a:srgbClr val="FFAB5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4">
        <a:dk1>
          <a:srgbClr val="000000"/>
        </a:dk1>
        <a:lt1>
          <a:srgbClr val="DCE8E2"/>
        </a:lt1>
        <a:dk2>
          <a:srgbClr val="0033CC"/>
        </a:dk2>
        <a:lt2>
          <a:srgbClr val="C4C4D8"/>
        </a:lt2>
        <a:accent1>
          <a:srgbClr val="FFFFFF"/>
        </a:accent1>
        <a:accent2>
          <a:srgbClr val="A9CFB1"/>
        </a:accent2>
        <a:accent3>
          <a:srgbClr val="EBF2EE"/>
        </a:accent3>
        <a:accent4>
          <a:srgbClr val="000000"/>
        </a:accent4>
        <a:accent5>
          <a:srgbClr val="FFFFFF"/>
        </a:accent5>
        <a:accent6>
          <a:srgbClr val="99BBA0"/>
        </a:accent6>
        <a:hlink>
          <a:srgbClr val="CC33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5">
        <a:dk1>
          <a:srgbClr val="606090"/>
        </a:dk1>
        <a:lt1>
          <a:srgbClr val="E5FFFF"/>
        </a:lt1>
        <a:dk2>
          <a:srgbClr val="0000CC"/>
        </a:dk2>
        <a:lt2>
          <a:srgbClr val="91DAFF"/>
        </a:lt2>
        <a:accent1>
          <a:srgbClr val="EAEAEA"/>
        </a:accent1>
        <a:accent2>
          <a:srgbClr val="FFE2C5"/>
        </a:accent2>
        <a:accent3>
          <a:srgbClr val="F0FFFF"/>
        </a:accent3>
        <a:accent4>
          <a:srgbClr val="51517A"/>
        </a:accent4>
        <a:accent5>
          <a:srgbClr val="F3F3F3"/>
        </a:accent5>
        <a:accent6>
          <a:srgbClr val="E7CDB2"/>
        </a:accent6>
        <a:hlink>
          <a:srgbClr val="000000"/>
        </a:hlink>
        <a:folHlink>
          <a:srgbClr val="3DB77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6">
        <a:dk1>
          <a:srgbClr val="CC0066"/>
        </a:dk1>
        <a:lt1>
          <a:srgbClr val="FFDDBB"/>
        </a:lt1>
        <a:dk2>
          <a:srgbClr val="000000"/>
        </a:dk2>
        <a:lt2>
          <a:srgbClr val="C0C0C0"/>
        </a:lt2>
        <a:accent1>
          <a:srgbClr val="FFFFCC"/>
        </a:accent1>
        <a:accent2>
          <a:srgbClr val="FFFFFF"/>
        </a:accent2>
        <a:accent3>
          <a:srgbClr val="FFEBDA"/>
        </a:accent3>
        <a:accent4>
          <a:srgbClr val="AE0056"/>
        </a:accent4>
        <a:accent5>
          <a:srgbClr val="FFFFE2"/>
        </a:accent5>
        <a:accent6>
          <a:srgbClr val="E7E7E7"/>
        </a:accent6>
        <a:hlink>
          <a:srgbClr val="0066CC"/>
        </a:hlink>
        <a:folHlink>
          <a:srgbClr val="8EB3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7">
        <a:dk1>
          <a:srgbClr val="B60000"/>
        </a:dk1>
        <a:lt1>
          <a:srgbClr val="FFFF99"/>
        </a:lt1>
        <a:dk2>
          <a:srgbClr val="800000"/>
        </a:dk2>
        <a:lt2>
          <a:srgbClr val="FFFFFF"/>
        </a:lt2>
        <a:accent1>
          <a:srgbClr val="9888A4"/>
        </a:accent1>
        <a:accent2>
          <a:srgbClr val="A9335D"/>
        </a:accent2>
        <a:accent3>
          <a:srgbClr val="C0AAAA"/>
        </a:accent3>
        <a:accent4>
          <a:srgbClr val="DADA82"/>
        </a:accent4>
        <a:accent5>
          <a:srgbClr val="CAC3CF"/>
        </a:accent5>
        <a:accent6>
          <a:srgbClr val="992D53"/>
        </a:accent6>
        <a:hlink>
          <a:srgbClr val="CCECFF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吉祥如意 8">
        <a:dk1>
          <a:srgbClr val="808080"/>
        </a:dk1>
        <a:lt1>
          <a:srgbClr val="FFFFFF"/>
        </a:lt1>
        <a:dk2>
          <a:srgbClr val="1C1C1C"/>
        </a:dk2>
        <a:lt2>
          <a:srgbClr val="FFFF66"/>
        </a:lt2>
        <a:accent1>
          <a:srgbClr val="9898BA"/>
        </a:accent1>
        <a:accent2>
          <a:srgbClr val="777777"/>
        </a:accent2>
        <a:accent3>
          <a:srgbClr val="ABABAB"/>
        </a:accent3>
        <a:accent4>
          <a:srgbClr val="DADADA"/>
        </a:accent4>
        <a:accent5>
          <a:srgbClr val="CACAD9"/>
        </a:accent5>
        <a:accent6>
          <a:srgbClr val="6B6B6B"/>
        </a:accent6>
        <a:hlink>
          <a:srgbClr val="CCFF99"/>
        </a:hlink>
        <a:folHlink>
          <a:srgbClr val="E436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6783</TotalTime>
  <Words>4187</Words>
  <Application>Microsoft PowerPoint</Application>
  <PresentationFormat>全屏显示(4:3)</PresentationFormat>
  <Paragraphs>567</Paragraphs>
  <Slides>50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50</vt:i4>
      </vt:variant>
    </vt:vector>
  </HeadingPairs>
  <TitlesOfParts>
    <vt:vector size="65" baseType="lpstr">
      <vt:lpstr>Arial</vt:lpstr>
      <vt:lpstr>宋体</vt:lpstr>
      <vt:lpstr>Wingdings</vt:lpstr>
      <vt:lpstr>Wingdings 2</vt:lpstr>
      <vt:lpstr>GungsuhChe</vt:lpstr>
      <vt:lpstr>华文新魏</vt:lpstr>
      <vt:lpstr>黑体</vt:lpstr>
      <vt:lpstr>Britannic Bold</vt:lpstr>
      <vt:lpstr>Arial Black</vt:lpstr>
      <vt:lpstr>Times New Roman</vt:lpstr>
      <vt:lpstr>微软雅黑</vt:lpstr>
      <vt:lpstr>Verdana</vt:lpstr>
      <vt:lpstr>吉祥如意</vt:lpstr>
      <vt:lpstr>公式</vt:lpstr>
      <vt:lpstr>位图图像</vt:lpstr>
      <vt:lpstr>光电测试技术</vt:lpstr>
      <vt:lpstr>幻灯片 2</vt:lpstr>
      <vt:lpstr>INTRODUCTION </vt:lpstr>
      <vt:lpstr>INTRODUCTION </vt:lpstr>
      <vt:lpstr>幻灯片 5</vt:lpstr>
      <vt:lpstr>INTRODUCTION </vt:lpstr>
      <vt:lpstr>▍ 本章主要内容</vt:lpstr>
      <vt:lpstr>§4-1 色度学的基本概念和实验定律 </vt:lpstr>
      <vt:lpstr>§4-1 色度学的基本概念和实验定律 </vt:lpstr>
      <vt:lpstr>§4-1 色度学的基本概念和实验定律 </vt:lpstr>
      <vt:lpstr>§4-1 色度学的基本概念和实验定律 </vt:lpstr>
      <vt:lpstr>§4-1 色度学的基本概念和实验定律 </vt:lpstr>
      <vt:lpstr>§4-1 色度学的基本概念和实验定律 </vt:lpstr>
      <vt:lpstr>§4-1 色度学的基本概念和实验定律 </vt:lpstr>
      <vt:lpstr>§4-1 色度学的基本概念和实验定律 </vt:lpstr>
      <vt:lpstr>§4-1 色度学的基本概念和实验定律 </vt:lpstr>
      <vt:lpstr>§4-1 色度学的基本概念和实验定律 </vt:lpstr>
      <vt:lpstr>§4-1 色度学的基本概念和实验定律 </vt:lpstr>
      <vt:lpstr>§4-1 色度学的基本概念和实验定律 </vt:lpstr>
      <vt:lpstr>§4-1 色度学的基本概念和实验定律 </vt:lpstr>
      <vt:lpstr>§4-1 色度学的基本概念和实验定律 </vt:lpstr>
      <vt:lpstr>§4-1 色度学的基本概念和实验定律 </vt:lpstr>
      <vt:lpstr>§4-1 色度学的基本概念和实验定律 </vt:lpstr>
      <vt:lpstr>§4-1 色度学的基本概念和实验定律 </vt:lpstr>
      <vt:lpstr>§4-1 色度学的基本概念和实验定律 </vt:lpstr>
      <vt:lpstr>幻灯片 26</vt:lpstr>
      <vt:lpstr>幻灯片 27</vt:lpstr>
      <vt:lpstr>§4-1 色度学的基本概念和实验定律 </vt:lpstr>
      <vt:lpstr>§4-1 色度学的基本概念和实验定律 </vt:lpstr>
      <vt:lpstr>§4-1 色度学的基本概念和实验定律 </vt:lpstr>
      <vt:lpstr>§4-1 色度学的基本概念和实验定律 </vt:lpstr>
      <vt:lpstr>色盲测试</vt:lpstr>
      <vt:lpstr>§4-2   CIE色度计算方法</vt:lpstr>
      <vt:lpstr>§4-2   CIE色度计算方法</vt:lpstr>
      <vt:lpstr>§4-2   CIE色度计算方法</vt:lpstr>
      <vt:lpstr>§4-2   CIE色度计算方法</vt:lpstr>
      <vt:lpstr>§4-2   CIE色度计算方法</vt:lpstr>
      <vt:lpstr>§4-2   CIE色度计算方法</vt:lpstr>
      <vt:lpstr>§4-2   CIE色度计算方法</vt:lpstr>
      <vt:lpstr>§4-2   CIE色度计算方法</vt:lpstr>
      <vt:lpstr>§4-2   CIE色度计算方法</vt:lpstr>
      <vt:lpstr>§4-3  色度的测试方法和应用</vt:lpstr>
      <vt:lpstr>§4-3  色度的测试方法和应用</vt:lpstr>
      <vt:lpstr>§4-3  色度的测试方法和应用</vt:lpstr>
      <vt:lpstr>§4-3  色度的测试方法和应用</vt:lpstr>
      <vt:lpstr>§4-3  色度的测试方法和应用</vt:lpstr>
      <vt:lpstr>§4-3  色度的测试方法和应用</vt:lpstr>
      <vt:lpstr>§4-3  色度的测试方法和应用</vt:lpstr>
      <vt:lpstr>§4-3  色度的测试方法和应用</vt:lpstr>
      <vt:lpstr>§4-3  色度的测试方法和应用</vt:lpstr>
    </vt:vector>
  </TitlesOfParts>
  <Company>HIT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光电测试技术</dc:title>
  <dc:creator>FanZG</dc:creator>
  <cp:lastModifiedBy>fanzhigang</cp:lastModifiedBy>
  <cp:revision>593</cp:revision>
  <dcterms:created xsi:type="dcterms:W3CDTF">2004-07-29T02:45:26Z</dcterms:created>
  <dcterms:modified xsi:type="dcterms:W3CDTF">2018-02-24T07:25:59Z</dcterms:modified>
</cp:coreProperties>
</file>